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63" r:id="rId2"/>
    <p:sldId id="265" r:id="rId3"/>
    <p:sldId id="264" r:id="rId4"/>
    <p:sldId id="256" r:id="rId5"/>
    <p:sldId id="257" r:id="rId6"/>
    <p:sldId id="258" r:id="rId7"/>
    <p:sldId id="267" r:id="rId8"/>
    <p:sldId id="268" r:id="rId9"/>
    <p:sldId id="283" r:id="rId10"/>
    <p:sldId id="269" r:id="rId11"/>
    <p:sldId id="270" r:id="rId12"/>
    <p:sldId id="271" r:id="rId13"/>
    <p:sldId id="272" r:id="rId14"/>
    <p:sldId id="281" r:id="rId15"/>
    <p:sldId id="278" r:id="rId16"/>
    <p:sldId id="295" r:id="rId17"/>
    <p:sldId id="275" r:id="rId18"/>
    <p:sldId id="296" r:id="rId19"/>
    <p:sldId id="292" r:id="rId20"/>
    <p:sldId id="293" r:id="rId21"/>
    <p:sldId id="294" r:id="rId22"/>
    <p:sldId id="302" r:id="rId23"/>
    <p:sldId id="303" r:id="rId24"/>
    <p:sldId id="282" r:id="rId25"/>
    <p:sldId id="301" r:id="rId26"/>
    <p:sldId id="297" r:id="rId27"/>
    <p:sldId id="298" r:id="rId28"/>
    <p:sldId id="299" r:id="rId29"/>
    <p:sldId id="300" r:id="rId30"/>
    <p:sldId id="304" r:id="rId31"/>
    <p:sldId id="305" r:id="rId32"/>
    <p:sldId id="284" r:id="rId33"/>
    <p:sldId id="285" r:id="rId34"/>
    <p:sldId id="286" r:id="rId35"/>
    <p:sldId id="287" r:id="rId36"/>
    <p:sldId id="288" r:id="rId37"/>
    <p:sldId id="289" r:id="rId38"/>
    <p:sldId id="290" r:id="rId39"/>
    <p:sldId id="28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100" d="100"/>
          <a:sy n="100" d="100"/>
        </p:scale>
        <p:origin x="-954" y="-28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Basavaraj Kudachimath" userId="cb84a6794fdd4dd6" providerId="LiveId" clId="{EAC65969-CC37-4FF6-B0C1-43872AF70CB9}"/>
    <pc:docChg chg="custSel addSld delSld modSld">
      <pc:chgData name="Dr. Basavaraj Kudachimath" userId="cb84a6794fdd4dd6" providerId="LiveId" clId="{EAC65969-CC37-4FF6-B0C1-43872AF70CB9}" dt="2025-05-17T11:29:54.427" v="10" actId="47"/>
      <pc:docMkLst>
        <pc:docMk/>
      </pc:docMkLst>
      <pc:sldChg chg="addSp delSp modSp mod">
        <pc:chgData name="Dr. Basavaraj Kudachimath" userId="cb84a6794fdd4dd6" providerId="LiveId" clId="{EAC65969-CC37-4FF6-B0C1-43872AF70CB9}" dt="2025-05-17T11:21:55.444" v="5" actId="14100"/>
        <pc:sldMkLst>
          <pc:docMk/>
          <pc:sldMk cId="1810387946" sldId="278"/>
        </pc:sldMkLst>
        <pc:picChg chg="del">
          <ac:chgData name="Dr. Basavaraj Kudachimath" userId="cb84a6794fdd4dd6" providerId="LiveId" clId="{EAC65969-CC37-4FF6-B0C1-43872AF70CB9}" dt="2025-05-17T11:21:36.977" v="0" actId="478"/>
          <ac:picMkLst>
            <pc:docMk/>
            <pc:sldMk cId="1810387946" sldId="278"/>
            <ac:picMk id="4" creationId="{00000000-0000-0000-0000-000000000000}"/>
          </ac:picMkLst>
        </pc:picChg>
        <pc:picChg chg="add mod">
          <ac:chgData name="Dr. Basavaraj Kudachimath" userId="cb84a6794fdd4dd6" providerId="LiveId" clId="{EAC65969-CC37-4FF6-B0C1-43872AF70CB9}" dt="2025-05-17T11:21:55.444" v="5" actId="14100"/>
          <ac:picMkLst>
            <pc:docMk/>
            <pc:sldMk cId="1810387946" sldId="278"/>
            <ac:picMk id="1026" creationId="{F61FA267-8336-22BC-363F-B1E9D6F01E10}"/>
          </ac:picMkLst>
        </pc:picChg>
      </pc:sldChg>
      <pc:sldChg chg="addSp delSp new del mod">
        <pc:chgData name="Dr. Basavaraj Kudachimath" userId="cb84a6794fdd4dd6" providerId="LiveId" clId="{EAC65969-CC37-4FF6-B0C1-43872AF70CB9}" dt="2025-05-17T11:29:54.427" v="10" actId="47"/>
        <pc:sldMkLst>
          <pc:docMk/>
          <pc:sldMk cId="2236783631" sldId="281"/>
        </pc:sldMkLst>
        <pc:spChg chg="del">
          <ac:chgData name="Dr. Basavaraj Kudachimath" userId="cb84a6794fdd4dd6" providerId="LiveId" clId="{EAC65969-CC37-4FF6-B0C1-43872AF70CB9}" dt="2025-05-17T11:29:18.490" v="8" actId="478"/>
          <ac:spMkLst>
            <pc:docMk/>
            <pc:sldMk cId="2236783631" sldId="281"/>
            <ac:spMk id="2" creationId="{55163844-0F67-6F65-69F1-61B53A2218A9}"/>
          </ac:spMkLst>
        </pc:spChg>
        <pc:spChg chg="del">
          <ac:chgData name="Dr. Basavaraj Kudachimath" userId="cb84a6794fdd4dd6" providerId="LiveId" clId="{EAC65969-CC37-4FF6-B0C1-43872AF70CB9}" dt="2025-05-17T11:29:14.112" v="7" actId="478"/>
          <ac:spMkLst>
            <pc:docMk/>
            <pc:sldMk cId="2236783631" sldId="281"/>
            <ac:spMk id="3" creationId="{DC2670C5-2D1A-1D49-4211-4D2CFFCD6C89}"/>
          </ac:spMkLst>
        </pc:spChg>
        <pc:picChg chg="add">
          <ac:chgData name="Dr. Basavaraj Kudachimath" userId="cb84a6794fdd4dd6" providerId="LiveId" clId="{EAC65969-CC37-4FF6-B0C1-43872AF70CB9}" dt="2025-05-17T11:29:34.704" v="9"/>
          <ac:picMkLst>
            <pc:docMk/>
            <pc:sldMk cId="2236783631" sldId="281"/>
            <ac:picMk id="4" creationId="{14D55FCA-5860-39A5-F09F-E3AFC5B676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EBFA56-E131-430C-9F0F-7E536EF9032A}" type="datetimeFigureOut">
              <a:rPr lang="en-US" smtClean="0"/>
              <a:pPr/>
              <a:t>5/5/2026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8C371E-13A5-4CCA-902C-B3AAC74A141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38</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BE876A-0CB0-69FA-9916-AACF0F34D2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EFDA6DF-93F1-E7B5-9976-70476FF486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23E2EED-E367-252A-7917-833F09C9254E}"/>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E4C53CEE-CED1-6C21-2187-BB646F6849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07190E5-A1EF-1A9C-90D8-095C0EC7537B}"/>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3313219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1F2C74-3595-ECBB-1BE8-B81F69AA45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C7B9BDF-3C41-1D03-8334-E7F53A9FF4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F135458-A42C-8748-2D35-B206DB22F336}"/>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E8514A2F-1C34-6D39-02C6-651D27698F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141C7FE-7394-10C5-6970-ED18513434F2}"/>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398844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1916EE-A021-FF2F-9186-746E251525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94C3319-2791-2999-7A33-CFCE7C0835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0CFC536-333D-4444-6DFF-5D856CECD169}"/>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6CFAB671-783A-DBAD-FF43-8BE06DB3B5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E9FFF90-D928-9888-3EFB-37362831A5BE}"/>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2216629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CCF908-C79B-0059-9AE9-D67B572944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0F2CCD1-8C3B-295E-1C11-14BBE4E387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3070832-CA47-A292-081F-362B25C01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4397812-7323-ED27-93BD-45C6537791B7}"/>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6" name="Footer Placeholder 5">
            <a:extLst>
              <a:ext uri="{FF2B5EF4-FFF2-40B4-BE49-F238E27FC236}">
                <a16:creationId xmlns:a16="http://schemas.microsoft.com/office/drawing/2014/main" xmlns="" id="{89B70B93-F45A-B013-BDE2-4F314C3C1E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9B6A6AE-AD27-4BD2-4CE5-77BA8DBAF47C}"/>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770540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BC85EA-7C7C-3DE0-B016-531C519B2C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CBE6B56-295A-8C1E-6093-96832663F8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2A54F98-A23E-0A80-2296-ED3170E4C5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9D65F416-73DE-994D-606F-18C9DAC028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785CD4C-B3D8-7F3F-E26F-63A00C9B46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06BCA42-49E8-2F57-619B-AEAE767CAD7F}"/>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8" name="Footer Placeholder 7">
            <a:extLst>
              <a:ext uri="{FF2B5EF4-FFF2-40B4-BE49-F238E27FC236}">
                <a16:creationId xmlns:a16="http://schemas.microsoft.com/office/drawing/2014/main" xmlns="" id="{CC0E236D-ACA1-6986-E477-33F96E1111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FD797C7F-6932-53CD-5400-FD3966B9C350}"/>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197408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590A92-E9B2-5A65-5594-FCA0D865D9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E55A69E-07BB-9D3A-114B-41886122AF72}"/>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4" name="Footer Placeholder 3">
            <a:extLst>
              <a:ext uri="{FF2B5EF4-FFF2-40B4-BE49-F238E27FC236}">
                <a16:creationId xmlns:a16="http://schemas.microsoft.com/office/drawing/2014/main" xmlns="" id="{E4A7528F-0C2D-AE71-F36A-D9C345BEB0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BB41C78-FF59-9610-4AC3-E821651AC40B}"/>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1497921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1113B59-9E34-3981-FA7D-D025A38AE3EB}"/>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3" name="Footer Placeholder 2">
            <a:extLst>
              <a:ext uri="{FF2B5EF4-FFF2-40B4-BE49-F238E27FC236}">
                <a16:creationId xmlns:a16="http://schemas.microsoft.com/office/drawing/2014/main" xmlns="" id="{2DAD4B16-0E2C-C83D-2D68-CD64767D60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BEB13EB4-1DA2-7692-8E8F-B1F595A48DD1}"/>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1326700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82DF9A-641C-AC32-0148-74563D1F8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294AFB7-15F5-1EC6-9594-F58297F60F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637E753-EFFC-B396-A4F4-3DFE0B2D7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C129B72-6F76-A718-8CC0-C7219A7A5BE8}"/>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6" name="Footer Placeholder 5">
            <a:extLst>
              <a:ext uri="{FF2B5EF4-FFF2-40B4-BE49-F238E27FC236}">
                <a16:creationId xmlns:a16="http://schemas.microsoft.com/office/drawing/2014/main" xmlns="" id="{814A3CBF-CD8F-8046-36A4-FE64ADA4BD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3CF055D-08C8-DDE2-2682-5198D60D705A}"/>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17918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53CDD7-AD58-11E6-A798-673E383B88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463DE75-0FF3-DE2B-73A1-7F15E750FD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09B7377A-C4BE-D0A7-F261-920ECBF85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2F0889E-0985-C89B-C498-4FB174438CB0}"/>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6" name="Footer Placeholder 5">
            <a:extLst>
              <a:ext uri="{FF2B5EF4-FFF2-40B4-BE49-F238E27FC236}">
                <a16:creationId xmlns:a16="http://schemas.microsoft.com/office/drawing/2014/main" xmlns="" id="{27630984-3FD8-431F-20AC-B01112839B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E500421-24FA-8539-406A-CCFC04ACB7CB}"/>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46528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2669E0-A3CD-B07B-CA18-59783790F9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0549862-4B63-B78C-F36E-D7A1743C2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2136A5F-E25F-D529-7193-2CFCC271A184}"/>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45B2EFF1-4F42-D82E-28D1-E817845C07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8CAAB4C-BC2E-982D-2245-232D5532935A}"/>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1995957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C058064-B2E0-E2CE-2D54-C192D36B74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C6ED0BD-B301-2FA5-4930-1F4E27CF04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F52E5D3-C863-F66C-68C1-972387FEBA87}"/>
              </a:ext>
            </a:extLst>
          </p:cNvPr>
          <p:cNvSpPr>
            <a:spLocks noGrp="1"/>
          </p:cNvSpPr>
          <p:nvPr>
            <p:ph type="dt" sz="half" idx="10"/>
          </p:nvPr>
        </p:nvSpPr>
        <p:spPr/>
        <p:txBody>
          <a:body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65339647-5D7C-F97F-4917-12436163F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F67DC7C-7055-257F-C5BB-A8850AEB95CD}"/>
              </a:ext>
            </a:extLst>
          </p:cNvPr>
          <p:cNvSpPr>
            <a:spLocks noGrp="1"/>
          </p:cNvSpPr>
          <p:nvPr>
            <p:ph type="sldNum" sz="quarter" idx="12"/>
          </p:nvPr>
        </p:nvSpPr>
        <p:spPr/>
        <p:txBody>
          <a:body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3226113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FA42D3E-1A18-A7C5-0035-258590DAB6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AB06B83-170A-7BE7-BC27-4B62DFF32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F6ACE1B-984C-AA17-DB70-60B3B340EF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ADBBC6-59AB-4FD3-B4D8-C5C561F97DE6}" type="datetimeFigureOut">
              <a:rPr lang="en-IN" smtClean="0"/>
              <a:pPr/>
              <a:t>05-05-2026</a:t>
            </a:fld>
            <a:endParaRPr lang="en-IN"/>
          </a:p>
        </p:txBody>
      </p:sp>
      <p:sp>
        <p:nvSpPr>
          <p:cNvPr id="5" name="Footer Placeholder 4">
            <a:extLst>
              <a:ext uri="{FF2B5EF4-FFF2-40B4-BE49-F238E27FC236}">
                <a16:creationId xmlns:a16="http://schemas.microsoft.com/office/drawing/2014/main" xmlns="" id="{D53A4646-0D0E-3648-8446-087736FB3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52BA1BA-95EF-9A58-605A-8324E3A64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081C2-5202-4D81-90B5-D6C983E87DEC}" type="slidenum">
              <a:rPr lang="en-IN" smtClean="0"/>
              <a:pPr/>
              <a:t>‹#›</a:t>
            </a:fld>
            <a:endParaRPr lang="en-IN"/>
          </a:p>
        </p:txBody>
      </p:sp>
    </p:spTree>
    <p:extLst>
      <p:ext uri="{BB962C8B-B14F-4D97-AF65-F5344CB8AC3E}">
        <p14:creationId xmlns:p14="http://schemas.microsoft.com/office/powerpoint/2010/main" xmlns="" val="3243558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3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Research Methodology and IPR</a:t>
            </a:r>
          </a:p>
        </p:txBody>
      </p:sp>
      <p:sp>
        <p:nvSpPr>
          <p:cNvPr id="3" name="Subtitle 2"/>
          <p:cNvSpPr>
            <a:spLocks noGrp="1"/>
          </p:cNvSpPr>
          <p:nvPr>
            <p:ph type="subTitle" idx="1"/>
          </p:nvPr>
        </p:nvSpPr>
        <p:spPr/>
        <p:txBody>
          <a:bodyPr/>
          <a:lstStyle/>
          <a:p>
            <a:r>
              <a:rPr lang="en-IN" dirty="0"/>
              <a:t>Course Teacher</a:t>
            </a:r>
          </a:p>
          <a:p>
            <a:r>
              <a:rPr lang="en-IN" dirty="0" err="1"/>
              <a:t>Dr.</a:t>
            </a:r>
            <a:r>
              <a:rPr lang="en-IN" dirty="0"/>
              <a:t> </a:t>
            </a:r>
            <a:r>
              <a:rPr lang="en-IN" dirty="0" err="1"/>
              <a:t>Basavaraj</a:t>
            </a:r>
            <a:r>
              <a:rPr lang="en-IN" dirty="0"/>
              <a:t> </a:t>
            </a:r>
            <a:r>
              <a:rPr lang="en-IN" dirty="0" err="1"/>
              <a:t>S.Kudachimath</a:t>
            </a:r>
            <a:endParaRPr lang="en-IN" dirty="0"/>
          </a:p>
        </p:txBody>
      </p:sp>
    </p:spTree>
    <p:extLst>
      <p:ext uri="{BB962C8B-B14F-4D97-AF65-F5344CB8AC3E}">
        <p14:creationId xmlns:p14="http://schemas.microsoft.com/office/powerpoint/2010/main" xmlns="" val="212688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7949"/>
          </a:xfrm>
        </p:spPr>
        <p:txBody>
          <a:bodyPr/>
          <a:lstStyle/>
          <a:p>
            <a:r>
              <a:rPr lang="en-IN" dirty="0"/>
              <a:t>Course Outline</a:t>
            </a:r>
          </a:p>
        </p:txBody>
      </p:sp>
      <p:pic>
        <p:nvPicPr>
          <p:cNvPr id="4" name="Picture 3"/>
          <p:cNvPicPr>
            <a:picLocks noChangeAspect="1"/>
          </p:cNvPicPr>
          <p:nvPr/>
        </p:nvPicPr>
        <p:blipFill>
          <a:blip r:embed="rId2"/>
          <a:stretch>
            <a:fillRect/>
          </a:stretch>
        </p:blipFill>
        <p:spPr>
          <a:xfrm>
            <a:off x="217714" y="1322387"/>
            <a:ext cx="11834949" cy="2158000"/>
          </a:xfrm>
          <a:prstGeom prst="rect">
            <a:avLst/>
          </a:prstGeom>
        </p:spPr>
      </p:pic>
    </p:spTree>
    <p:extLst>
      <p:ext uri="{BB962C8B-B14F-4D97-AF65-F5344CB8AC3E}">
        <p14:creationId xmlns:p14="http://schemas.microsoft.com/office/powerpoint/2010/main" xmlns="" val="736927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Learning objectives:</a:t>
            </a:r>
            <a:endParaRPr lang="en-IN"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 To understand the basic components of research design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 To Gain an insight into the applications of research methods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 To equip students with various research analytical tools used in business research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 To provide the insights of IPR and IPR system in India </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07501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349A64-9CE2-9FF5-4A03-0BA28FEBF358}"/>
              </a:ext>
            </a:extLst>
          </p:cNvPr>
          <p:cNvSpPr>
            <a:spLocks noGrp="1"/>
          </p:cNvSpPr>
          <p:nvPr>
            <p:ph type="ctrTitle"/>
          </p:nvPr>
        </p:nvSpPr>
        <p:spPr>
          <a:xfrm>
            <a:off x="589934" y="1122363"/>
            <a:ext cx="6607277" cy="2387600"/>
          </a:xfrm>
        </p:spPr>
        <p:txBody>
          <a:bodyPr>
            <a:normAutofit fontScale="90000"/>
          </a:bodyPr>
          <a:lstStyle/>
          <a:p>
            <a:r>
              <a:rPr lang="en-US" dirty="0">
                <a:latin typeface="Arial" panose="020B0604020202020204" pitchFamily="34" charset="0"/>
                <a:cs typeface="Arial" panose="020B0604020202020204" pitchFamily="34" charset="0"/>
              </a:rPr>
              <a:t>Unit-1</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Introduction to Business Research:</a:t>
            </a: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xmlns="" id="{EC9D8018-BEE6-E756-82BE-975BD19E3D94}"/>
              </a:ext>
            </a:extLst>
          </p:cNvPr>
          <p:cNvSpPr>
            <a:spLocks noGrp="1"/>
          </p:cNvSpPr>
          <p:nvPr>
            <p:ph type="subTitle" idx="1"/>
          </p:nvPr>
        </p:nvSpPr>
        <p:spPr>
          <a:xfrm>
            <a:off x="589934" y="3602038"/>
            <a:ext cx="6607277" cy="1655762"/>
          </a:xfrm>
        </p:spPr>
        <p:txBody>
          <a:bodyPr/>
          <a:lstStyle/>
          <a:p>
            <a:r>
              <a:rPr lang="en-US" dirty="0"/>
              <a:t>Presentation by</a:t>
            </a:r>
          </a:p>
          <a:p>
            <a:r>
              <a:rPr lang="en-US" dirty="0"/>
              <a:t>Dr. Basavaraj </a:t>
            </a:r>
            <a:r>
              <a:rPr lang="en-US" dirty="0" err="1"/>
              <a:t>S.Kudachimath</a:t>
            </a:r>
            <a:endParaRPr lang="en-IN" dirty="0"/>
          </a:p>
        </p:txBody>
      </p:sp>
      <p:pic>
        <p:nvPicPr>
          <p:cNvPr id="1026" name="Picture 2">
            <a:extLst>
              <a:ext uri="{FF2B5EF4-FFF2-40B4-BE49-F238E27FC236}">
                <a16:creationId xmlns:a16="http://schemas.microsoft.com/office/drawing/2014/main" xmlns="" id="{6FB24B8A-D230-254E-8553-00C346217A31}"/>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089059" y="812851"/>
            <a:ext cx="4810434" cy="52322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74358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9EB23B-08D1-1C16-C6C3-59208DD8016F}"/>
              </a:ext>
            </a:extLst>
          </p:cNvPr>
          <p:cNvSpPr>
            <a:spLocks noGrp="1"/>
          </p:cNvSpPr>
          <p:nvPr>
            <p:ph type="title"/>
          </p:nvPr>
        </p:nvSpPr>
        <p:spPr>
          <a:xfrm>
            <a:off x="838200" y="365126"/>
            <a:ext cx="10515600" cy="677094"/>
          </a:xfrm>
        </p:spPr>
        <p:txBody>
          <a:bodyPr>
            <a:normAutofit fontScale="90000"/>
          </a:bodyPr>
          <a:lstStyle/>
          <a:p>
            <a:r>
              <a:rPr lang="en-US" dirty="0"/>
              <a:t>Discussion Points</a:t>
            </a:r>
            <a:endParaRPr lang="en-IN" dirty="0"/>
          </a:p>
        </p:txBody>
      </p:sp>
      <p:sp>
        <p:nvSpPr>
          <p:cNvPr id="3" name="Content Placeholder 2">
            <a:extLst>
              <a:ext uri="{FF2B5EF4-FFF2-40B4-BE49-F238E27FC236}">
                <a16:creationId xmlns:a16="http://schemas.microsoft.com/office/drawing/2014/main" xmlns="" id="{FBBBBAEA-8EC3-7EC9-5D11-08CCBE44F72A}"/>
              </a:ext>
            </a:extLst>
          </p:cNvPr>
          <p:cNvSpPr>
            <a:spLocks noGrp="1"/>
          </p:cNvSpPr>
          <p:nvPr>
            <p:ph idx="1"/>
          </p:nvPr>
        </p:nvSpPr>
        <p:spPr>
          <a:xfrm>
            <a:off x="838200" y="1042220"/>
            <a:ext cx="10515600" cy="5134743"/>
          </a:xfrm>
        </p:spPr>
        <p:txBody>
          <a:bodyPr>
            <a:normAutofit fontScale="92500" lnSpcReduction="10000"/>
          </a:bodyPr>
          <a:lstStyle/>
          <a:p>
            <a:r>
              <a:rPr lang="en-US" dirty="0">
                <a:latin typeface="Times New Roman" pitchFamily="18" charset="0"/>
                <a:cs typeface="Times New Roman" pitchFamily="18" charset="0"/>
              </a:rPr>
              <a:t>Meaning of Business Research</a:t>
            </a:r>
          </a:p>
          <a:p>
            <a:r>
              <a:rPr lang="en-US" dirty="0">
                <a:latin typeface="Times New Roman" pitchFamily="18" charset="0"/>
                <a:cs typeface="Times New Roman" pitchFamily="18" charset="0"/>
              </a:rPr>
              <a:t>Types of Business Research</a:t>
            </a:r>
          </a:p>
          <a:p>
            <a:r>
              <a:rPr lang="en-US" dirty="0">
                <a:latin typeface="Times New Roman" pitchFamily="18" charset="0"/>
                <a:cs typeface="Times New Roman" pitchFamily="18" charset="0"/>
              </a:rPr>
              <a:t>Process of research- </a:t>
            </a:r>
            <a:endParaRPr lang="en-US" dirty="0" smtClean="0">
              <a:latin typeface="Times New Roman" pitchFamily="18" charset="0"/>
              <a:cs typeface="Times New Roman" pitchFamily="18" charset="0"/>
            </a:endParaRPr>
          </a:p>
          <a:p>
            <a:pPr lvl="1">
              <a:buFont typeface="Wingdings" pitchFamily="2" charset="2"/>
              <a:buChar char="Ø"/>
            </a:pPr>
            <a:r>
              <a:rPr lang="en-US" sz="2000" dirty="0" smtClean="0"/>
              <a:t>Defining </a:t>
            </a:r>
            <a:r>
              <a:rPr lang="en-US" sz="2000" dirty="0"/>
              <a:t>the research problem, </a:t>
            </a:r>
            <a:endParaRPr lang="en-US" sz="2000" dirty="0" smtClean="0"/>
          </a:p>
          <a:p>
            <a:pPr lvl="1">
              <a:buFont typeface="Wingdings" pitchFamily="2" charset="2"/>
              <a:buChar char="Ø"/>
            </a:pPr>
            <a:r>
              <a:rPr lang="en-US" sz="2000" dirty="0" smtClean="0"/>
              <a:t>Formulating </a:t>
            </a:r>
            <a:r>
              <a:rPr lang="en-US" sz="2000" dirty="0"/>
              <a:t>the research Hypothesis, </a:t>
            </a:r>
            <a:endParaRPr lang="en-US" sz="2000" dirty="0" smtClean="0"/>
          </a:p>
          <a:p>
            <a:pPr lvl="1">
              <a:buFont typeface="Wingdings" pitchFamily="2" charset="2"/>
              <a:buChar char="Ø"/>
            </a:pPr>
            <a:r>
              <a:rPr lang="en-US" sz="2000" dirty="0" smtClean="0"/>
              <a:t>Developing </a:t>
            </a:r>
            <a:r>
              <a:rPr lang="en-US" sz="2000" dirty="0"/>
              <a:t>the research proposals</a:t>
            </a:r>
            <a:r>
              <a:rPr lang="en-US" sz="2000" dirty="0" smtClean="0"/>
              <a:t>,</a:t>
            </a:r>
          </a:p>
          <a:p>
            <a:pPr lvl="1">
              <a:buFont typeface="Wingdings" pitchFamily="2" charset="2"/>
              <a:buChar char="Ø"/>
            </a:pPr>
            <a:r>
              <a:rPr lang="en-US" sz="2000" dirty="0" smtClean="0"/>
              <a:t>Research </a:t>
            </a:r>
            <a:r>
              <a:rPr lang="en-US" sz="2000" dirty="0"/>
              <a:t>design formulation, </a:t>
            </a:r>
            <a:endParaRPr lang="en-US" sz="2000" dirty="0" smtClean="0"/>
          </a:p>
          <a:p>
            <a:pPr lvl="1">
              <a:buFont typeface="Wingdings" pitchFamily="2" charset="2"/>
              <a:buChar char="Ø"/>
            </a:pPr>
            <a:r>
              <a:rPr lang="en-US" sz="2000" dirty="0" smtClean="0"/>
              <a:t>Management problem, </a:t>
            </a:r>
          </a:p>
          <a:p>
            <a:pPr lvl="1">
              <a:buFont typeface="Wingdings" pitchFamily="2" charset="2"/>
              <a:buChar char="Ø"/>
            </a:pPr>
            <a:r>
              <a:rPr lang="en-US" sz="2000" dirty="0" smtClean="0"/>
              <a:t>Sampling </a:t>
            </a:r>
            <a:r>
              <a:rPr lang="en-US" sz="2000" dirty="0"/>
              <a:t>design</a:t>
            </a:r>
            <a:r>
              <a:rPr lang="en-US" sz="2000" dirty="0" smtClean="0"/>
              <a:t>,</a:t>
            </a:r>
          </a:p>
          <a:p>
            <a:pPr lvl="1">
              <a:buFont typeface="Wingdings" pitchFamily="2" charset="2"/>
              <a:buChar char="Ø"/>
            </a:pPr>
            <a:r>
              <a:rPr lang="en-US" sz="2000" dirty="0" smtClean="0"/>
              <a:t>Planning </a:t>
            </a:r>
            <a:r>
              <a:rPr lang="en-US" sz="2000" dirty="0"/>
              <a:t>and collecting the data for research, </a:t>
            </a:r>
            <a:endParaRPr lang="en-US" sz="2000" dirty="0" smtClean="0"/>
          </a:p>
          <a:p>
            <a:pPr lvl="1">
              <a:buFont typeface="Wingdings" pitchFamily="2" charset="2"/>
              <a:buChar char="Ø"/>
            </a:pPr>
            <a:r>
              <a:rPr lang="en-US" sz="2000" dirty="0" smtClean="0"/>
              <a:t>Data </a:t>
            </a:r>
            <a:r>
              <a:rPr lang="en-US" sz="2000" dirty="0"/>
              <a:t>analysis and interpretation. </a:t>
            </a:r>
            <a:endParaRPr lang="en-US" sz="2000" dirty="0" smtClean="0"/>
          </a:p>
          <a:p>
            <a:r>
              <a:rPr lang="en-US" dirty="0" smtClean="0">
                <a:latin typeface="Times New Roman" pitchFamily="18" charset="0"/>
                <a:cs typeface="Times New Roman" pitchFamily="18" charset="0"/>
              </a:rPr>
              <a:t>Research </a:t>
            </a:r>
            <a:r>
              <a:rPr lang="en-US" dirty="0">
                <a:latin typeface="Times New Roman" pitchFamily="18" charset="0"/>
                <a:cs typeface="Times New Roman" pitchFamily="18" charset="0"/>
              </a:rPr>
              <a:t>Application in business decisions, </a:t>
            </a:r>
          </a:p>
          <a:p>
            <a:r>
              <a:rPr lang="en-US" dirty="0">
                <a:latin typeface="Times New Roman" pitchFamily="18" charset="0"/>
                <a:cs typeface="Times New Roman" pitchFamily="18" charset="0"/>
              </a:rPr>
              <a:t>Ethical issues in business research</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Features </a:t>
            </a:r>
            <a:r>
              <a:rPr lang="en-US" dirty="0">
                <a:latin typeface="Times New Roman" pitchFamily="18" charset="0"/>
                <a:cs typeface="Times New Roman" pitchFamily="18" charset="0"/>
              </a:rPr>
              <a:t>of a good research study.</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57033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5A4E60-7359-047F-A624-7278BE322228}"/>
              </a:ext>
            </a:extLst>
          </p:cNvPr>
          <p:cNvSpPr>
            <a:spLocks noGrp="1"/>
          </p:cNvSpPr>
          <p:nvPr>
            <p:ph type="title"/>
          </p:nvPr>
        </p:nvSpPr>
        <p:spPr>
          <a:xfrm>
            <a:off x="838200" y="365126"/>
            <a:ext cx="4736690" cy="827948"/>
          </a:xfrm>
        </p:spPr>
        <p:txBody>
          <a:bodyPr/>
          <a:lstStyle/>
          <a:p>
            <a:r>
              <a:rPr lang="en-US" dirty="0">
                <a:latin typeface="Times New Roman" pitchFamily="18" charset="0"/>
                <a:cs typeface="Times New Roman" pitchFamily="18" charset="0"/>
              </a:rPr>
              <a:t>What is research?</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9004EF3B-C5FF-0B69-D058-837CA8A70EA9}"/>
              </a:ext>
            </a:extLst>
          </p:cNvPr>
          <p:cNvSpPr>
            <a:spLocks noGrp="1"/>
          </p:cNvSpPr>
          <p:nvPr>
            <p:ph idx="1"/>
          </p:nvPr>
        </p:nvSpPr>
        <p:spPr>
          <a:xfrm>
            <a:off x="838200" y="1455174"/>
            <a:ext cx="6250858" cy="4721789"/>
          </a:xfrm>
        </p:spPr>
        <p:txBody>
          <a:bodyPr>
            <a:normAutofit lnSpcReduction="10000"/>
          </a:bodyPr>
          <a:lstStyle/>
          <a:p>
            <a:pPr marL="0" indent="0" algn="just">
              <a:buNone/>
            </a:pPr>
            <a:r>
              <a:rPr lang="en-US" b="0" i="0" dirty="0">
                <a:solidFill>
                  <a:srgbClr val="000000"/>
                </a:solidFill>
                <a:effectLst/>
                <a:latin typeface="Times New Roman" pitchFamily="18" charset="0"/>
                <a:cs typeface="Times New Roman" pitchFamily="18" charset="0"/>
              </a:rPr>
              <a:t>Research is a process of investigation. An examination of a subject from different points of view. It’s not just a trip to the library to pick up a stack of materials, or picking the first five hits from a computer search. </a:t>
            </a:r>
            <a:r>
              <a:rPr lang="en-US" b="0" i="0" dirty="0" smtClean="0">
                <a:solidFill>
                  <a:srgbClr val="000000"/>
                </a:solidFill>
                <a:effectLst/>
                <a:latin typeface="Times New Roman" pitchFamily="18" charset="0"/>
                <a:cs typeface="Times New Roman" pitchFamily="18" charset="0"/>
              </a:rPr>
              <a:t>	</a:t>
            </a:r>
          </a:p>
          <a:p>
            <a:pPr marL="0" indent="0" algn="just">
              <a:buNone/>
            </a:pPr>
            <a:r>
              <a:rPr lang="en-US" b="0" i="0" dirty="0" smtClean="0">
                <a:solidFill>
                  <a:srgbClr val="000000"/>
                </a:solidFill>
                <a:effectLst/>
                <a:latin typeface="Times New Roman" pitchFamily="18" charset="0"/>
                <a:cs typeface="Times New Roman" pitchFamily="18" charset="0"/>
              </a:rPr>
              <a:t>Research </a:t>
            </a:r>
            <a:r>
              <a:rPr lang="en-US" b="0" i="0" dirty="0">
                <a:solidFill>
                  <a:srgbClr val="000000"/>
                </a:solidFill>
                <a:effectLst/>
                <a:latin typeface="Times New Roman" pitchFamily="18" charset="0"/>
                <a:cs typeface="Times New Roman" pitchFamily="18" charset="0"/>
              </a:rPr>
              <a:t>is a hunt for the truth. It is getting to know a subject by reading up on it, reflecting, playing with the ideas, choosing the areas that interest you and following up on them. </a:t>
            </a:r>
            <a:endParaRPr lang="en-US" b="0" i="0" dirty="0" smtClean="0">
              <a:solidFill>
                <a:srgbClr val="000000"/>
              </a:solidFill>
              <a:effectLst/>
              <a:latin typeface="Times New Roman" pitchFamily="18" charset="0"/>
              <a:cs typeface="Times New Roman" pitchFamily="18" charset="0"/>
            </a:endParaRPr>
          </a:p>
          <a:p>
            <a:pPr marL="0" indent="0" algn="just">
              <a:buNone/>
            </a:pPr>
            <a:r>
              <a:rPr lang="en-US" b="0" i="0" dirty="0" smtClean="0">
                <a:solidFill>
                  <a:srgbClr val="000000"/>
                </a:solidFill>
                <a:effectLst/>
                <a:latin typeface="Times New Roman" pitchFamily="18" charset="0"/>
                <a:cs typeface="Times New Roman" pitchFamily="18" charset="0"/>
              </a:rPr>
              <a:t>Research </a:t>
            </a:r>
            <a:r>
              <a:rPr lang="en-US" b="0" i="0" dirty="0">
                <a:solidFill>
                  <a:srgbClr val="000000"/>
                </a:solidFill>
                <a:effectLst/>
                <a:latin typeface="Times New Roman" pitchFamily="18" charset="0"/>
                <a:cs typeface="Times New Roman" pitchFamily="18" charset="0"/>
              </a:rPr>
              <a:t>is the way you educate yourself.</a:t>
            </a:r>
            <a:endParaRPr lang="en-IN"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xmlns="" id="{F0992DAA-9A7F-F7E4-435D-2FCBF17D32C7}"/>
              </a:ext>
            </a:extLst>
          </p:cNvPr>
          <p:cNvPicPr>
            <a:picLocks noChangeAspect="1"/>
          </p:cNvPicPr>
          <p:nvPr/>
        </p:nvPicPr>
        <p:blipFill>
          <a:blip r:embed="rId2"/>
          <a:stretch>
            <a:fillRect/>
          </a:stretch>
        </p:blipFill>
        <p:spPr>
          <a:xfrm>
            <a:off x="7530594" y="1402632"/>
            <a:ext cx="4447562" cy="4447562"/>
          </a:xfrm>
          <a:prstGeom prst="rect">
            <a:avLst/>
          </a:prstGeom>
        </p:spPr>
      </p:pic>
    </p:spTree>
    <p:extLst>
      <p:ext uri="{BB962C8B-B14F-4D97-AF65-F5344CB8AC3E}">
        <p14:creationId xmlns:p14="http://schemas.microsoft.com/office/powerpoint/2010/main" xmlns="" val="2118267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846" y="161424"/>
            <a:ext cx="8229600" cy="715962"/>
          </a:xfrm>
        </p:spPr>
        <p:txBody>
          <a:bodyPr>
            <a:normAutofit/>
          </a:bodyPr>
          <a:lstStyle/>
          <a:p>
            <a:pPr algn="l"/>
            <a:r>
              <a:rPr lang="en-US" sz="2400" dirty="0">
                <a:latin typeface="Times New Roman" panose="02020603050405020304" pitchFamily="18" charset="0"/>
                <a:cs typeface="Times New Roman" panose="02020603050405020304" pitchFamily="18" charset="0"/>
              </a:rPr>
              <a:t>What is Research?</a:t>
            </a:r>
          </a:p>
        </p:txBody>
      </p:sp>
      <p:sp>
        <p:nvSpPr>
          <p:cNvPr id="3" name="Content Placeholder 2"/>
          <p:cNvSpPr>
            <a:spLocks noGrp="1"/>
          </p:cNvSpPr>
          <p:nvPr>
            <p:ph idx="1"/>
          </p:nvPr>
        </p:nvSpPr>
        <p:spPr>
          <a:xfrm>
            <a:off x="1188716" y="914401"/>
            <a:ext cx="6770914" cy="5211763"/>
          </a:xfrm>
        </p:spPr>
        <p:txBody>
          <a:bodyPr>
            <a:normAutofit fontScale="85000" lnSpcReduction="20000"/>
          </a:bodyPr>
          <a:lstStyle/>
          <a:p>
            <a:pPr marL="0" indent="0" algn="just">
              <a:buNone/>
            </a:pPr>
            <a:r>
              <a:rPr lang="en-US" dirty="0">
                <a:solidFill>
                  <a:srgbClr val="FF0000"/>
                </a:solidFill>
                <a:latin typeface="Times New Roman" pitchFamily="18" charset="0"/>
                <a:cs typeface="Times New Roman" pitchFamily="18" charset="0"/>
              </a:rPr>
              <a:t>Webster's New International Dictionary </a:t>
            </a:r>
            <a:r>
              <a:rPr lang="en-US" dirty="0">
                <a:latin typeface="Times New Roman" pitchFamily="18" charset="0"/>
                <a:cs typeface="Times New Roman" pitchFamily="18" charset="0"/>
              </a:rPr>
              <a:t>defined research as, ‘careful or critical inquiry or examination in seeking facts or principles; diligent investigation in order to ascertain something.‘</a:t>
            </a:r>
          </a:p>
          <a:p>
            <a:pPr marL="0" indent="0" algn="just">
              <a:buNone/>
            </a:pPr>
            <a:r>
              <a:rPr lang="en-US" dirty="0">
                <a:solidFill>
                  <a:srgbClr val="FF0000"/>
                </a:solidFill>
                <a:latin typeface="Times New Roman" pitchFamily="18" charset="0"/>
                <a:cs typeface="Times New Roman" pitchFamily="18" charset="0"/>
              </a:rPr>
              <a:t>According to Clifford Woody</a:t>
            </a:r>
            <a:r>
              <a:rPr lang="en-US" dirty="0">
                <a:latin typeface="Times New Roman" pitchFamily="18" charset="0"/>
                <a:cs typeface="Times New Roman" pitchFamily="18" charset="0"/>
              </a:rPr>
              <a:t> ‘Research comprises defining and redefining problems, formulating hypothesis or suggested solutions; collecting, </a:t>
            </a:r>
            <a:r>
              <a:rPr lang="en-US" dirty="0" err="1">
                <a:latin typeface="Times New Roman" pitchFamily="18" charset="0"/>
                <a:cs typeface="Times New Roman" pitchFamily="18" charset="0"/>
              </a:rPr>
              <a:t>organising</a:t>
            </a:r>
            <a:r>
              <a:rPr lang="en-US" dirty="0">
                <a:latin typeface="Times New Roman" pitchFamily="18" charset="0"/>
                <a:cs typeface="Times New Roman" pitchFamily="18" charset="0"/>
              </a:rPr>
              <a:t> and evaluating data; making deductions and reaching conclusions; and at last carefully testing the conclusions to determine whether they fit the formulating hypothesis. </a:t>
            </a:r>
          </a:p>
          <a:p>
            <a:pPr marL="0" indent="0" algn="just">
              <a:buNone/>
            </a:pPr>
            <a:r>
              <a:rPr lang="en-US" dirty="0">
                <a:solidFill>
                  <a:srgbClr val="FF0000"/>
                </a:solidFill>
                <a:latin typeface="Times New Roman" pitchFamily="18" charset="0"/>
                <a:cs typeface="Times New Roman" pitchFamily="18" charset="0"/>
              </a:rPr>
              <a:t>D. </a:t>
            </a:r>
            <a:r>
              <a:rPr lang="en-US" dirty="0" err="1">
                <a:solidFill>
                  <a:srgbClr val="FF0000"/>
                </a:solidFill>
                <a:latin typeface="Times New Roman" pitchFamily="18" charset="0"/>
                <a:cs typeface="Times New Roman" pitchFamily="18" charset="0"/>
              </a:rPr>
              <a:t>Slessinger</a:t>
            </a:r>
            <a:r>
              <a:rPr lang="en-US" dirty="0">
                <a:solidFill>
                  <a:srgbClr val="FF0000"/>
                </a:solidFill>
                <a:latin typeface="Times New Roman" pitchFamily="18" charset="0"/>
                <a:cs typeface="Times New Roman" pitchFamily="18" charset="0"/>
              </a:rPr>
              <a:t> and M. Stephenson </a:t>
            </a:r>
            <a:r>
              <a:rPr lang="en-US" dirty="0">
                <a:latin typeface="Times New Roman" pitchFamily="18" charset="0"/>
                <a:cs typeface="Times New Roman" pitchFamily="18" charset="0"/>
              </a:rPr>
              <a:t>in the Encyclopedia of Social Sciences define research as ' the manipulation of things, concepts or symbols for the purpose of </a:t>
            </a:r>
            <a:r>
              <a:rPr lang="en-US" dirty="0" smtClean="0">
                <a:latin typeface="Times New Roman" pitchFamily="18" charset="0"/>
                <a:cs typeface="Times New Roman" pitchFamily="18" charset="0"/>
              </a:rPr>
              <a:t>generalizing </a:t>
            </a:r>
            <a:r>
              <a:rPr lang="en-US" dirty="0">
                <a:latin typeface="Times New Roman" pitchFamily="18" charset="0"/>
                <a:cs typeface="Times New Roman" pitchFamily="18" charset="0"/>
              </a:rPr>
              <a:t>to extend, correct or verify knowledge, whether that knowledge aids in construction of theory or in the practice of an art.</a:t>
            </a:r>
          </a:p>
          <a:p>
            <a:pPr marL="0" indent="0" algn="just">
              <a:buNone/>
            </a:pP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7959630" y="1001486"/>
            <a:ext cx="3884027" cy="4380411"/>
          </a:xfrm>
          <a:prstGeom prst="rect">
            <a:avLst/>
          </a:prstGeom>
        </p:spPr>
      </p:pic>
    </p:spTree>
    <p:extLst>
      <p:ext uri="{BB962C8B-B14F-4D97-AF65-F5344CB8AC3E}">
        <p14:creationId xmlns:p14="http://schemas.microsoft.com/office/powerpoint/2010/main" xmlns="" val="25067488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2970" y="533400"/>
            <a:ext cx="8207829" cy="2523309"/>
          </a:xfrm>
        </p:spPr>
        <p:txBody>
          <a:bodyPr/>
          <a:lstStyle/>
          <a:p>
            <a:pPr marL="0" indent="0" algn="just">
              <a:buNone/>
            </a:pPr>
            <a:r>
              <a:rPr lang="en-US" dirty="0">
                <a:latin typeface="Times New Roman" pitchFamily="18" charset="0"/>
                <a:cs typeface="Times New Roman" pitchFamily="18" charset="0"/>
              </a:rPr>
              <a:t>Therefore, research could be understood as an </a:t>
            </a:r>
            <a:r>
              <a:rPr lang="en-US" dirty="0" smtClean="0">
                <a:latin typeface="Times New Roman" pitchFamily="18" charset="0"/>
                <a:cs typeface="Times New Roman" pitchFamily="18" charset="0"/>
              </a:rPr>
              <a:t>organized </a:t>
            </a:r>
            <a:r>
              <a:rPr lang="en-US" dirty="0">
                <a:latin typeface="Times New Roman" pitchFamily="18" charset="0"/>
                <a:cs typeface="Times New Roman" pitchFamily="18" charset="0"/>
              </a:rPr>
              <a:t>activity with specific focus [objectives] on a problem or issue supported by compilation of related data and facts, involving application of relevant tools of analysis and deriving logically sound inferences based on originality.</a:t>
            </a:r>
          </a:p>
          <a:p>
            <a:pPr>
              <a:buNone/>
            </a:pPr>
            <a:endParaRPr lang="en-US" dirty="0">
              <a:latin typeface="Times New Roman" pitchFamily="18" charset="0"/>
              <a:cs typeface="Times New Roman" pitchFamily="18" charset="0"/>
            </a:endParaRPr>
          </a:p>
        </p:txBody>
      </p:sp>
      <p:pic>
        <p:nvPicPr>
          <p:cNvPr id="12290" name="Picture 2" descr="Characteristics of Research Methodology"/>
          <p:cNvPicPr>
            <a:picLocks noChangeAspect="1" noChangeArrowheads="1"/>
          </p:cNvPicPr>
          <p:nvPr/>
        </p:nvPicPr>
        <p:blipFill>
          <a:blip r:embed="rId2"/>
          <a:srcRect/>
          <a:stretch>
            <a:fillRect/>
          </a:stretch>
        </p:blipFill>
        <p:spPr bwMode="auto">
          <a:xfrm>
            <a:off x="660546" y="3413783"/>
            <a:ext cx="3127557" cy="2885803"/>
          </a:xfrm>
          <a:prstGeom prst="rect">
            <a:avLst/>
          </a:prstGeom>
          <a:noFill/>
        </p:spPr>
      </p:pic>
      <p:sp>
        <p:nvSpPr>
          <p:cNvPr id="4" name="Rectangle 3"/>
          <p:cNvSpPr/>
          <p:nvPr/>
        </p:nvSpPr>
        <p:spPr>
          <a:xfrm>
            <a:off x="4302096" y="3105835"/>
            <a:ext cx="6096000" cy="2062103"/>
          </a:xfrm>
          <a:prstGeom prst="rect">
            <a:avLst/>
          </a:prstGeom>
        </p:spPr>
        <p:txBody>
          <a:bodyPr>
            <a:spAutoFit/>
          </a:bodyPr>
          <a:lstStyle/>
          <a:p>
            <a:pPr algn="just"/>
            <a:r>
              <a:rPr lang="en-US" sz="3200" dirty="0" smtClean="0">
                <a:latin typeface="Times New Roman" pitchFamily="18" charset="0"/>
                <a:cs typeface="Times New Roman" pitchFamily="18" charset="0"/>
              </a:rPr>
              <a:t>Research, at its core, is a systematic and careful investigation into a subject of study to discover new facts or information.</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xmlns="" val="3028843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C363C9-4604-0DDC-3CA8-F70083C8EDFC}"/>
              </a:ext>
            </a:extLst>
          </p:cNvPr>
          <p:cNvSpPr>
            <a:spLocks noGrp="1"/>
          </p:cNvSpPr>
          <p:nvPr>
            <p:ph type="title"/>
          </p:nvPr>
        </p:nvSpPr>
        <p:spPr/>
        <p:txBody>
          <a:bodyPr/>
          <a:lstStyle/>
          <a:p>
            <a:r>
              <a:rPr lang="en-US" dirty="0"/>
              <a:t>How Business Research defined?</a:t>
            </a:r>
            <a:endParaRPr lang="en-IN" dirty="0"/>
          </a:p>
        </p:txBody>
      </p:sp>
      <p:sp>
        <p:nvSpPr>
          <p:cNvPr id="3" name="Content Placeholder 2">
            <a:extLst>
              <a:ext uri="{FF2B5EF4-FFF2-40B4-BE49-F238E27FC236}">
                <a16:creationId xmlns:a16="http://schemas.microsoft.com/office/drawing/2014/main" xmlns="" id="{51568BE3-7044-D264-8661-0293B6FCC010}"/>
              </a:ext>
            </a:extLst>
          </p:cNvPr>
          <p:cNvSpPr>
            <a:spLocks noGrp="1"/>
          </p:cNvSpPr>
          <p:nvPr>
            <p:ph idx="1"/>
          </p:nvPr>
        </p:nvSpPr>
        <p:spPr>
          <a:xfrm>
            <a:off x="838200" y="1825625"/>
            <a:ext cx="5592097" cy="4351338"/>
          </a:xfrm>
        </p:spPr>
        <p:txBody>
          <a:bodyPr>
            <a:normAutofit fontScale="70000" lnSpcReduction="20000"/>
          </a:bodyPr>
          <a:lstStyle/>
          <a:p>
            <a:pPr algn="l" fontAlgn="base"/>
            <a:r>
              <a:rPr lang="en-US" sz="3000" b="1" i="1" u="none" strike="noStrike" dirty="0">
                <a:solidFill>
                  <a:srgbClr val="656565"/>
                </a:solidFill>
                <a:effectLst/>
                <a:latin typeface="Times New Roman" panose="02020603050405020304" pitchFamily="18" charset="0"/>
                <a:cs typeface="Times New Roman" panose="02020603050405020304" pitchFamily="18" charset="0"/>
              </a:rPr>
              <a:t>According to McDaniel and Gates :</a:t>
            </a:r>
            <a:endParaRPr lang="en-US" sz="3000" b="0" i="0" u="none" strike="noStrike" dirty="0">
              <a:solidFill>
                <a:srgbClr val="656565"/>
              </a:solidFill>
              <a:effectLst/>
              <a:latin typeface="Times New Roman" panose="02020603050405020304" pitchFamily="18" charset="0"/>
              <a:cs typeface="Times New Roman" panose="02020603050405020304" pitchFamily="18" charset="0"/>
            </a:endParaRPr>
          </a:p>
          <a:p>
            <a:pPr algn="just" fontAlgn="base"/>
            <a:r>
              <a:rPr lang="en-US" sz="3000" b="0" i="0" u="none" strike="noStrike" dirty="0">
                <a:solidFill>
                  <a:srgbClr val="656565"/>
                </a:solidFill>
                <a:effectLst/>
                <a:latin typeface="Times New Roman" panose="02020603050405020304" pitchFamily="18" charset="0"/>
                <a:cs typeface="Times New Roman" panose="02020603050405020304" pitchFamily="18" charset="0"/>
              </a:rPr>
              <a:t>"Business research is the planning, collection and analysis of data relevant to business decision-making and the communication of the results of this analysis to management".</a:t>
            </a:r>
          </a:p>
          <a:p>
            <a:pPr algn="just" fontAlgn="base"/>
            <a:endParaRPr lang="en-US" sz="3000" b="0" i="0" u="none" strike="noStrike" dirty="0">
              <a:solidFill>
                <a:srgbClr val="656565"/>
              </a:solidFill>
              <a:effectLst/>
              <a:latin typeface="Times New Roman" panose="02020603050405020304" pitchFamily="18" charset="0"/>
              <a:cs typeface="Times New Roman" panose="02020603050405020304" pitchFamily="18" charset="0"/>
            </a:endParaRPr>
          </a:p>
          <a:p>
            <a:pPr algn="l" fontAlgn="base"/>
            <a:r>
              <a:rPr lang="en-US" sz="3000" b="1" i="1" u="none" strike="noStrike" dirty="0">
                <a:solidFill>
                  <a:srgbClr val="656565"/>
                </a:solidFill>
                <a:effectLst/>
                <a:latin typeface="Times New Roman" panose="02020603050405020304" pitchFamily="18" charset="0"/>
                <a:cs typeface="Times New Roman" panose="02020603050405020304" pitchFamily="18" charset="0"/>
              </a:rPr>
              <a:t>According to Zikmund :</a:t>
            </a:r>
            <a:endParaRPr lang="en-US" sz="3000" b="0" i="0" u="none" strike="noStrike" dirty="0">
              <a:solidFill>
                <a:srgbClr val="656565"/>
              </a:solidFill>
              <a:effectLst/>
              <a:latin typeface="Times New Roman" panose="02020603050405020304" pitchFamily="18" charset="0"/>
              <a:cs typeface="Times New Roman" panose="02020603050405020304" pitchFamily="18" charset="0"/>
            </a:endParaRPr>
          </a:p>
          <a:p>
            <a:pPr algn="just" fontAlgn="base"/>
            <a:r>
              <a:rPr lang="en-US" sz="3000" b="0" i="0" u="none" strike="noStrike" dirty="0">
                <a:solidFill>
                  <a:srgbClr val="656565"/>
                </a:solidFill>
                <a:effectLst/>
                <a:latin typeface="Times New Roman" panose="02020603050405020304" pitchFamily="18" charset="0"/>
                <a:cs typeface="Times New Roman" panose="02020603050405020304" pitchFamily="18" charset="0"/>
              </a:rPr>
              <a:t>"Business research is a management tool that companies use to reduce uncertainty. It is a manager's source of information about organizational and environmental conditions and covers topics ranging from long range </a:t>
            </a:r>
            <a:r>
              <a:rPr lang="en-US" sz="3000" i="0" u="none" strike="noStrike" dirty="0">
                <a:solidFill>
                  <a:schemeClr val="tx1">
                    <a:lumMod val="75000"/>
                    <a:lumOff val="25000"/>
                  </a:schemeClr>
                </a:solidFill>
                <a:effectLst/>
                <a:latin typeface="Times New Roman" panose="02020603050405020304" pitchFamily="18" charset="0"/>
                <a:cs typeface="Times New Roman" panose="02020603050405020304" pitchFamily="18" charset="0"/>
              </a:rPr>
              <a:t>planning </a:t>
            </a:r>
            <a:r>
              <a:rPr lang="en-US" sz="3000" i="0" u="none" strike="noStrike" dirty="0">
                <a:solidFill>
                  <a:srgbClr val="656565"/>
                </a:solidFill>
                <a:effectLst/>
                <a:latin typeface="Times New Roman" panose="02020603050405020304" pitchFamily="18" charset="0"/>
                <a:cs typeface="Times New Roman" panose="02020603050405020304" pitchFamily="18" charset="0"/>
              </a:rPr>
              <a:t> </a:t>
            </a:r>
            <a:r>
              <a:rPr lang="en-US" sz="3000" b="0" i="0" u="none" strike="noStrike" dirty="0">
                <a:solidFill>
                  <a:srgbClr val="656565"/>
                </a:solidFill>
                <a:effectLst/>
                <a:latin typeface="Times New Roman" panose="02020603050405020304" pitchFamily="18" charset="0"/>
                <a:cs typeface="Times New Roman" panose="02020603050405020304" pitchFamily="18" charset="0"/>
              </a:rPr>
              <a:t>to the most ephemeral tactical decisions".</a:t>
            </a:r>
          </a:p>
          <a:p>
            <a:r>
              <a:rPr lang="en-US" dirty="0"/>
              <a:t/>
            </a:r>
            <a:br>
              <a:rPr lang="en-US" dirty="0"/>
            </a:br>
            <a:endParaRPr lang="en-IN" dirty="0"/>
          </a:p>
        </p:txBody>
      </p:sp>
      <p:pic>
        <p:nvPicPr>
          <p:cNvPr id="4" name="Picture 3">
            <a:extLst>
              <a:ext uri="{FF2B5EF4-FFF2-40B4-BE49-F238E27FC236}">
                <a16:creationId xmlns:a16="http://schemas.microsoft.com/office/drawing/2014/main" xmlns="" id="{10DA29A6-3102-657E-1D10-91DCCF05C79E}"/>
              </a:ext>
            </a:extLst>
          </p:cNvPr>
          <p:cNvPicPr>
            <a:picLocks noChangeAspect="1"/>
          </p:cNvPicPr>
          <p:nvPr/>
        </p:nvPicPr>
        <p:blipFill>
          <a:blip r:embed="rId2"/>
          <a:stretch>
            <a:fillRect/>
          </a:stretch>
        </p:blipFill>
        <p:spPr>
          <a:xfrm>
            <a:off x="7148052" y="1304512"/>
            <a:ext cx="4662947" cy="4803775"/>
          </a:xfrm>
          <a:prstGeom prst="rect">
            <a:avLst/>
          </a:prstGeom>
        </p:spPr>
      </p:pic>
    </p:spTree>
    <p:extLst>
      <p:ext uri="{BB962C8B-B14F-4D97-AF65-F5344CB8AC3E}">
        <p14:creationId xmlns:p14="http://schemas.microsoft.com/office/powerpoint/2010/main" xmlns="" val="28704071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Objectives of Business Research | PPTX"/>
          <p:cNvPicPr>
            <a:picLocks noChangeAspect="1" noChangeArrowheads="1"/>
          </p:cNvPicPr>
          <p:nvPr/>
        </p:nvPicPr>
        <p:blipFill>
          <a:blip r:embed="rId2"/>
          <a:srcRect/>
          <a:stretch>
            <a:fillRect/>
          </a:stretch>
        </p:blipFill>
        <p:spPr bwMode="auto">
          <a:xfrm>
            <a:off x="451666" y="165463"/>
            <a:ext cx="11043647" cy="6365965"/>
          </a:xfrm>
          <a:prstGeom prst="rect">
            <a:avLst/>
          </a:prstGeom>
          <a:noFill/>
        </p:spPr>
      </p:pic>
    </p:spTree>
    <p:extLst>
      <p:ext uri="{BB962C8B-B14F-4D97-AF65-F5344CB8AC3E}">
        <p14:creationId xmlns:p14="http://schemas.microsoft.com/office/powerpoint/2010/main" xmlns="" val="172447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dirty="0">
                <a:solidFill>
                  <a:srgbClr val="7030A0"/>
                </a:solidFill>
              </a:rPr>
              <a:t>Motivation in </a:t>
            </a:r>
            <a:r>
              <a:rPr lang="en-US" dirty="0" smtClean="0">
                <a:solidFill>
                  <a:srgbClr val="7030A0"/>
                </a:solidFill>
              </a:rPr>
              <a:t>Research</a:t>
            </a:r>
            <a:endParaRPr lang="en-US" dirty="0"/>
          </a:p>
        </p:txBody>
      </p:sp>
      <p:sp>
        <p:nvSpPr>
          <p:cNvPr id="3" name="Content Placeholder 2"/>
          <p:cNvSpPr>
            <a:spLocks noGrp="1"/>
          </p:cNvSpPr>
          <p:nvPr>
            <p:ph idx="1"/>
          </p:nvPr>
        </p:nvSpPr>
        <p:spPr>
          <a:xfrm>
            <a:off x="853439" y="1066800"/>
            <a:ext cx="10711543" cy="5334000"/>
          </a:xfrm>
        </p:spPr>
        <p:txBody>
          <a:bodyPr/>
          <a:lstStyle/>
          <a:p>
            <a:pPr marL="514350" indent="-514350">
              <a:buAutoNum type="arabicPeriod"/>
            </a:pPr>
            <a:r>
              <a:rPr lang="en-US" dirty="0"/>
              <a:t>Desire to get research degree along with its simultaneous benefits.</a:t>
            </a:r>
          </a:p>
          <a:p>
            <a:pPr marL="514350" indent="-514350">
              <a:buAutoNum type="arabicPeriod"/>
            </a:pPr>
            <a:r>
              <a:rPr lang="en-US" dirty="0"/>
              <a:t>Desire to solve the challenging </a:t>
            </a:r>
            <a:r>
              <a:rPr lang="en-US" dirty="0" smtClean="0"/>
              <a:t>and </a:t>
            </a:r>
            <a:r>
              <a:rPr lang="en-US" dirty="0"/>
              <a:t>unsolved problems.</a:t>
            </a:r>
          </a:p>
          <a:p>
            <a:pPr marL="514350" indent="-514350">
              <a:buAutoNum type="arabicPeriod"/>
            </a:pPr>
            <a:r>
              <a:rPr lang="en-US" dirty="0"/>
              <a:t>Joy of doing some creative work.</a:t>
            </a:r>
          </a:p>
          <a:p>
            <a:pPr marL="514350" indent="-514350">
              <a:buAutoNum type="arabicPeriod"/>
            </a:pPr>
            <a:r>
              <a:rPr lang="en-US" dirty="0"/>
              <a:t>Desire to give service to society.</a:t>
            </a:r>
          </a:p>
          <a:p>
            <a:pPr marL="514350" indent="-514350">
              <a:buAutoNum type="arabicPeriod"/>
            </a:pPr>
            <a:r>
              <a:rPr lang="en-US" dirty="0"/>
              <a:t>Desire to get respectability.</a:t>
            </a:r>
          </a:p>
          <a:p>
            <a:pPr marL="514350" indent="-514350">
              <a:buNone/>
            </a:pPr>
            <a:endParaRPr lang="en-US" dirty="0"/>
          </a:p>
        </p:txBody>
      </p:sp>
    </p:spTree>
    <p:extLst>
      <p:ext uri="{BB962C8B-B14F-4D97-AF65-F5344CB8AC3E}">
        <p14:creationId xmlns:p14="http://schemas.microsoft.com/office/powerpoint/2010/main" xmlns="" val="3390408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a:solidFill>
                  <a:srgbClr val="7030A0"/>
                </a:solidFill>
              </a:rPr>
              <a:t>Importance of Business Research</a:t>
            </a:r>
            <a:endParaRPr lang="en-US" dirty="0"/>
          </a:p>
        </p:txBody>
      </p:sp>
      <p:sp>
        <p:nvSpPr>
          <p:cNvPr id="3" name="Content Placeholder 2"/>
          <p:cNvSpPr>
            <a:spLocks noGrp="1"/>
          </p:cNvSpPr>
          <p:nvPr>
            <p:ph idx="1"/>
          </p:nvPr>
        </p:nvSpPr>
        <p:spPr>
          <a:xfrm>
            <a:off x="827315" y="914401"/>
            <a:ext cx="10319656" cy="5211763"/>
          </a:xfrm>
        </p:spPr>
        <p:txBody>
          <a:bodyPr>
            <a:normAutofit/>
          </a:bodyPr>
          <a:lstStyle/>
          <a:p>
            <a:pPr marL="514350" indent="-514350">
              <a:buAutoNum type="arabicPeriod"/>
            </a:pPr>
            <a:r>
              <a:rPr lang="en-US" dirty="0">
                <a:latin typeface="Times New Roman" pitchFamily="18" charset="0"/>
                <a:cs typeface="Times New Roman" pitchFamily="18" charset="0"/>
              </a:rPr>
              <a:t>Business Research helps to solve the Business problem</a:t>
            </a:r>
          </a:p>
          <a:p>
            <a:pPr marL="514350" indent="-514350">
              <a:buAutoNum type="arabicPeriod"/>
            </a:pPr>
            <a:r>
              <a:rPr lang="en-US" dirty="0">
                <a:latin typeface="Times New Roman" pitchFamily="18" charset="0"/>
                <a:cs typeface="Times New Roman" pitchFamily="18" charset="0"/>
              </a:rPr>
              <a:t>Business Research provides various data for Business decision making</a:t>
            </a:r>
          </a:p>
          <a:p>
            <a:pPr marL="514350" indent="-514350">
              <a:buAutoNum type="arabicPeriod"/>
            </a:pPr>
            <a:r>
              <a:rPr lang="en-US" dirty="0">
                <a:latin typeface="Times New Roman" pitchFamily="18" charset="0"/>
                <a:cs typeface="Times New Roman" pitchFamily="18" charset="0"/>
              </a:rPr>
              <a:t>Helps to study the business phenomena</a:t>
            </a:r>
          </a:p>
          <a:p>
            <a:pPr marL="514350" indent="-514350">
              <a:buAutoNum type="arabicPeriod"/>
            </a:pPr>
            <a:r>
              <a:rPr lang="en-US" dirty="0">
                <a:latin typeface="Times New Roman" pitchFamily="18" charset="0"/>
                <a:cs typeface="Times New Roman" pitchFamily="18" charset="0"/>
              </a:rPr>
              <a:t>Govt. needs research reports for planning and execution</a:t>
            </a:r>
          </a:p>
          <a:p>
            <a:pPr marL="514350" indent="-514350">
              <a:buAutoNum type="arabicPeriod"/>
            </a:pPr>
            <a:r>
              <a:rPr lang="en-US" dirty="0">
                <a:latin typeface="Times New Roman" pitchFamily="18" charset="0"/>
                <a:cs typeface="Times New Roman" pitchFamily="18" charset="0"/>
              </a:rPr>
              <a:t>Research is needed to develop the existing body of knowledge.</a:t>
            </a:r>
          </a:p>
          <a:p>
            <a:pPr marL="514350" indent="-514350">
              <a:buAutoNum type="arabicPeriod"/>
            </a:pPr>
            <a:r>
              <a:rPr lang="en-US" dirty="0">
                <a:latin typeface="Times New Roman" pitchFamily="18" charset="0"/>
                <a:cs typeface="Times New Roman" pitchFamily="18" charset="0"/>
              </a:rPr>
              <a:t>Research is needed for developing the society in general.</a:t>
            </a:r>
          </a:p>
          <a:p>
            <a:pPr marL="514350" indent="-514350">
              <a:buAutoNum type="arabicPeriod"/>
            </a:pPr>
            <a:endParaRPr lang="en-US" dirty="0">
              <a:latin typeface="Times New Roman" pitchFamily="18" charset="0"/>
              <a:cs typeface="Times New Roman" pitchFamily="18" charset="0"/>
            </a:endParaRP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34155255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a:solidFill>
                  <a:srgbClr val="7030A0"/>
                </a:solidFill>
                <a:latin typeface="Times New Roman" pitchFamily="18" charset="0"/>
                <a:cs typeface="Times New Roman" pitchFamily="18" charset="0"/>
              </a:rPr>
              <a:t>Types of Business Research</a:t>
            </a:r>
          </a:p>
        </p:txBody>
      </p:sp>
      <p:sp>
        <p:nvSpPr>
          <p:cNvPr id="3" name="Content Placeholder 2"/>
          <p:cNvSpPr>
            <a:spLocks noGrp="1"/>
          </p:cNvSpPr>
          <p:nvPr>
            <p:ph idx="1"/>
          </p:nvPr>
        </p:nvSpPr>
        <p:spPr>
          <a:xfrm>
            <a:off x="566057" y="990600"/>
            <a:ext cx="11329851" cy="5486400"/>
          </a:xfrm>
        </p:spPr>
        <p:txBody>
          <a:bodyPr>
            <a:normAutofit/>
          </a:bodyPr>
          <a:lstStyle/>
          <a:p>
            <a:pPr marL="514350" indent="-514350">
              <a:buNone/>
            </a:pPr>
            <a:r>
              <a:rPr lang="en-US" dirty="0" smtClean="0">
                <a:latin typeface="Times New Roman" pitchFamily="18" charset="0"/>
                <a:cs typeface="Times New Roman" pitchFamily="18" charset="0"/>
              </a:rPr>
              <a:t>1.Descriptive </a:t>
            </a:r>
            <a:r>
              <a:rPr lang="en-US" dirty="0">
                <a:latin typeface="Times New Roman" pitchFamily="18" charset="0"/>
                <a:cs typeface="Times New Roman" pitchFamily="18" charset="0"/>
              </a:rPr>
              <a:t>Research. </a:t>
            </a:r>
            <a:r>
              <a:rPr lang="en-US" sz="2400" dirty="0">
                <a:latin typeface="Times New Roman" pitchFamily="18" charset="0"/>
                <a:cs typeface="Times New Roman" pitchFamily="18" charset="0"/>
              </a:rPr>
              <a:t>( A research which describes the </a:t>
            </a:r>
            <a:r>
              <a:rPr lang="en-US" sz="2400" dirty="0" smtClean="0">
                <a:latin typeface="Times New Roman" pitchFamily="18" charset="0"/>
                <a:cs typeface="Times New Roman" pitchFamily="18" charset="0"/>
              </a:rPr>
              <a:t>problem. What? and How?)</a:t>
            </a:r>
          </a:p>
          <a:p>
            <a:pPr marL="514350" indent="-514350">
              <a:buNone/>
            </a:pPr>
            <a:r>
              <a:rPr lang="en-US" dirty="0" smtClean="0">
                <a:latin typeface="Times New Roman" pitchFamily="18" charset="0"/>
                <a:cs typeface="Times New Roman" pitchFamily="18" charset="0"/>
              </a:rPr>
              <a:t>2.Applied </a:t>
            </a:r>
            <a:r>
              <a:rPr lang="en-US" dirty="0">
                <a:latin typeface="Times New Roman" pitchFamily="18" charset="0"/>
                <a:cs typeface="Times New Roman" pitchFamily="18" charset="0"/>
              </a:rPr>
              <a:t>Research</a:t>
            </a:r>
            <a:r>
              <a:rPr lang="en-US"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 research conducted in </a:t>
            </a:r>
            <a:r>
              <a:rPr lang="en-US" sz="2400" dirty="0" smtClean="0">
                <a:latin typeface="Times New Roman" pitchFamily="18" charset="0"/>
                <a:cs typeface="Times New Roman" pitchFamily="18" charset="0"/>
              </a:rPr>
              <a:t>an   organization to find </a:t>
            </a:r>
            <a:r>
              <a:rPr lang="en-US" sz="2400" dirty="0">
                <a:latin typeface="Times New Roman" pitchFamily="18" charset="0"/>
                <a:cs typeface="Times New Roman" pitchFamily="18" charset="0"/>
              </a:rPr>
              <a:t>the solution </a:t>
            </a:r>
            <a:r>
              <a:rPr lang="en-US" sz="2400" dirty="0" smtClean="0">
                <a:latin typeface="Times New Roman" pitchFamily="18" charset="0"/>
                <a:cs typeface="Times New Roman" pitchFamily="18" charset="0"/>
              </a:rPr>
              <a:t>	       	                        for </a:t>
            </a:r>
            <a:r>
              <a:rPr lang="en-US" sz="2400" dirty="0">
                <a:latin typeface="Times New Roman" pitchFamily="18" charset="0"/>
                <a:cs typeface="Times New Roman" pitchFamily="18" charset="0"/>
              </a:rPr>
              <a:t>the </a:t>
            </a:r>
            <a:r>
              <a:rPr lang="en-US" sz="2400" dirty="0" smtClean="0">
                <a:latin typeface="Times New Roman" pitchFamily="18" charset="0"/>
                <a:cs typeface="Times New Roman" pitchFamily="18" charset="0"/>
              </a:rPr>
              <a:t>problem. (How to solve problem))</a:t>
            </a:r>
            <a:endParaRPr lang="en-US" sz="2400" dirty="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3. Fundamental </a:t>
            </a:r>
            <a:r>
              <a:rPr lang="en-US" dirty="0">
                <a:latin typeface="Times New Roman" pitchFamily="18" charset="0"/>
                <a:cs typeface="Times New Roman" pitchFamily="18" charset="0"/>
              </a:rPr>
              <a:t>Research. </a:t>
            </a:r>
            <a:r>
              <a:rPr lang="en-US" sz="2400" dirty="0">
                <a:latin typeface="Times New Roman" pitchFamily="18" charset="0"/>
                <a:cs typeface="Times New Roman" pitchFamily="18" charset="0"/>
              </a:rPr>
              <a:t>( Research conducted to generalize the </a:t>
            </a:r>
            <a:r>
              <a:rPr lang="en-US" sz="2400" dirty="0" smtClean="0">
                <a:latin typeface="Times New Roman" pitchFamily="18" charset="0"/>
                <a:cs typeface="Times New Roman" pitchFamily="18" charset="0"/>
              </a:rPr>
              <a:t>phenomena </a:t>
            </a:r>
            <a:r>
              <a:rPr lang="en-US" sz="2400" dirty="0">
                <a:latin typeface="Times New Roman" pitchFamily="18" charset="0"/>
                <a:cs typeface="Times New Roman" pitchFamily="18" charset="0"/>
              </a:rPr>
              <a:t>or the </a:t>
            </a:r>
            <a:r>
              <a:rPr lang="en-US" sz="2400" dirty="0" smtClean="0">
                <a:latin typeface="Times New Roman" pitchFamily="18" charset="0"/>
                <a:cs typeface="Times New Roman" pitchFamily="18" charset="0"/>
              </a:rPr>
              <a:t>	                                          	                                        tendency (Is it applicable everywhere?)</a:t>
            </a:r>
            <a:endParaRPr lang="en-US" sz="2400" dirty="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4. Quantitative </a:t>
            </a:r>
            <a:r>
              <a:rPr lang="en-US" dirty="0">
                <a:latin typeface="Times New Roman" pitchFamily="18" charset="0"/>
                <a:cs typeface="Times New Roman" pitchFamily="18" charset="0"/>
              </a:rPr>
              <a:t>research. </a:t>
            </a:r>
            <a:r>
              <a:rPr lang="en-US" sz="2400" dirty="0">
                <a:latin typeface="Times New Roman" pitchFamily="18" charset="0"/>
                <a:cs typeface="Times New Roman" pitchFamily="18" charset="0"/>
              </a:rPr>
              <a:t>( Research conducted for </a:t>
            </a:r>
            <a:r>
              <a:rPr lang="en-US" sz="2400" dirty="0" smtClean="0">
                <a:latin typeface="Times New Roman" pitchFamily="18" charset="0"/>
                <a:cs typeface="Times New Roman" pitchFamily="18" charset="0"/>
              </a:rPr>
              <a:t>variables expressed </a:t>
            </a:r>
            <a:r>
              <a:rPr lang="en-US" sz="2400" dirty="0">
                <a:latin typeface="Times New Roman" pitchFamily="18" charset="0"/>
                <a:cs typeface="Times New Roman" pitchFamily="18" charset="0"/>
              </a:rPr>
              <a:t>in terms of </a:t>
            </a:r>
            <a:r>
              <a:rPr lang="en-US" sz="2400" dirty="0" smtClean="0">
                <a:latin typeface="Times New Roman" pitchFamily="18" charset="0"/>
                <a:cs typeface="Times New Roman" pitchFamily="18" charset="0"/>
              </a:rPr>
              <a:t>	    			                quantity)</a:t>
            </a:r>
          </a:p>
          <a:p>
            <a:pPr marL="514350" indent="-514350">
              <a:buNone/>
            </a:pPr>
            <a:r>
              <a:rPr lang="en-IN" sz="2400" dirty="0" smtClean="0">
                <a:latin typeface="Times New Roman" pitchFamily="18" charset="0"/>
                <a:cs typeface="Times New Roman" pitchFamily="18" charset="0"/>
              </a:rPr>
              <a:t>5. </a:t>
            </a:r>
            <a:r>
              <a:rPr lang="en-US" dirty="0" smtClean="0">
                <a:latin typeface="Times New Roman" pitchFamily="18" charset="0"/>
                <a:cs typeface="Times New Roman" pitchFamily="18" charset="0"/>
              </a:rPr>
              <a:t>Qualitative research. </a:t>
            </a:r>
            <a:r>
              <a:rPr lang="en-US" sz="2400" dirty="0" smtClean="0">
                <a:latin typeface="Times New Roman" pitchFamily="18" charset="0"/>
                <a:cs typeface="Times New Roman" pitchFamily="18" charset="0"/>
              </a:rPr>
              <a:t>( Research conducted for variables expressed in terms of 	   	                                  quality. (How many?)</a:t>
            </a:r>
          </a:p>
          <a:p>
            <a:pPr marL="514350" indent="-514350">
              <a:buNone/>
            </a:pPr>
            <a:r>
              <a:rPr lang="en-IN" sz="2400" dirty="0" smtClean="0">
                <a:latin typeface="Times New Roman" pitchFamily="18" charset="0"/>
                <a:cs typeface="Times New Roman" pitchFamily="18" charset="0"/>
              </a:rPr>
              <a:t>6. </a:t>
            </a:r>
            <a:r>
              <a:rPr lang="en-US" dirty="0" smtClean="0">
                <a:latin typeface="Times New Roman" pitchFamily="18" charset="0"/>
                <a:cs typeface="Times New Roman" pitchFamily="18" charset="0"/>
              </a:rPr>
              <a:t>Conceptual Research</a:t>
            </a:r>
            <a:r>
              <a:rPr lang="en-US" sz="2400" dirty="0" smtClean="0">
                <a:latin typeface="Times New Roman" pitchFamily="18" charset="0"/>
                <a:cs typeface="Times New Roman" pitchFamily="18" charset="0"/>
              </a:rPr>
              <a:t>. ( Research conducted on certain theory or concept)</a:t>
            </a:r>
            <a:endParaRPr lang="en-US" sz="2400" dirty="0">
              <a:latin typeface="Times New Roman" pitchFamily="18" charset="0"/>
              <a:cs typeface="Times New Roman" pitchFamily="18" charset="0"/>
            </a:endParaRP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21511542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1824"/>
          </a:xfrm>
        </p:spPr>
        <p:txBody>
          <a:bodyPr/>
          <a:lstStyle/>
          <a:p>
            <a:r>
              <a:rPr lang="en-IN" dirty="0" smtClean="0">
                <a:latin typeface="Times New Roman" pitchFamily="18" charset="0"/>
                <a:cs typeface="Times New Roman" pitchFamily="18" charset="0"/>
              </a:rPr>
              <a:t>Types of Research continued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05989"/>
            <a:ext cx="10515600" cy="5070974"/>
          </a:xfrm>
        </p:spPr>
        <p:txBody>
          <a:bodyPr/>
          <a:lstStyle/>
          <a:p>
            <a:pPr marL="514350" indent="-514350">
              <a:buNone/>
            </a:pPr>
            <a:r>
              <a:rPr lang="en-US" dirty="0" smtClean="0">
                <a:latin typeface="Times New Roman" pitchFamily="18" charset="0"/>
                <a:cs typeface="Times New Roman" pitchFamily="18" charset="0"/>
              </a:rPr>
              <a:t>7. Empirical Research. </a:t>
            </a:r>
            <a:r>
              <a:rPr lang="en-US" sz="2400" dirty="0" smtClean="0">
                <a:latin typeface="Times New Roman" pitchFamily="18" charset="0"/>
                <a:cs typeface="Times New Roman" pitchFamily="18" charset="0"/>
              </a:rPr>
              <a:t>( Research conducted on experiments)</a:t>
            </a:r>
            <a:endParaRPr lang="en-US" dirty="0" smtClean="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8. Historical Research. </a:t>
            </a:r>
            <a:r>
              <a:rPr lang="en-US" sz="21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Research conducted on historical or past data</a:t>
            </a:r>
            <a:r>
              <a:rPr lang="en-US" sz="2100"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9. Case study research. </a:t>
            </a:r>
            <a:r>
              <a:rPr lang="en-US" sz="2400" dirty="0" smtClean="0">
                <a:latin typeface="Times New Roman" pitchFamily="18" charset="0"/>
                <a:cs typeface="Times New Roman" pitchFamily="18" charset="0"/>
              </a:rPr>
              <a:t>( Research conducted on a single unit)</a:t>
            </a:r>
          </a:p>
          <a:p>
            <a:pPr marL="514350" indent="-514350">
              <a:buNone/>
            </a:pPr>
            <a:r>
              <a:rPr lang="en-US" dirty="0" smtClean="0">
                <a:latin typeface="Times New Roman" pitchFamily="18" charset="0"/>
                <a:cs typeface="Times New Roman" pitchFamily="18" charset="0"/>
              </a:rPr>
              <a:t>10. Scientific Research.  </a:t>
            </a:r>
            <a:r>
              <a:rPr lang="en-US" sz="2400" dirty="0" smtClean="0">
                <a:latin typeface="Times New Roman" pitchFamily="18" charset="0"/>
                <a:cs typeface="Times New Roman" pitchFamily="18" charset="0"/>
              </a:rPr>
              <a:t>( Research conducted in the field of science)</a:t>
            </a:r>
            <a:endParaRPr lang="en-US" dirty="0" smtClean="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11. Social Research.     </a:t>
            </a:r>
            <a:r>
              <a:rPr lang="en-US" sz="21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Research conducted in the field of social behaviors</a:t>
            </a:r>
            <a:r>
              <a:rPr lang="en-US" sz="2100"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233" y="365125"/>
            <a:ext cx="10515600" cy="706029"/>
          </a:xfrm>
        </p:spPr>
        <p:txBody>
          <a:bodyPr/>
          <a:lstStyle/>
          <a:p>
            <a:r>
              <a:rPr lang="en-US" dirty="0"/>
              <a:t>Research Process</a:t>
            </a:r>
            <a:endParaRPr lang="en-IN" dirty="0"/>
          </a:p>
        </p:txBody>
      </p:sp>
      <p:pic>
        <p:nvPicPr>
          <p:cNvPr id="1026" name="Picture 2" descr="Business Research Methods: Definition, Types, and Examples">
            <a:extLst>
              <a:ext uri="{FF2B5EF4-FFF2-40B4-BE49-F238E27FC236}">
                <a16:creationId xmlns:a16="http://schemas.microsoft.com/office/drawing/2014/main" xmlns="" id="{F61FA267-8336-22BC-363F-B1E9D6F01E10}"/>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57301" y="1071154"/>
            <a:ext cx="11606520" cy="514283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10387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9606"/>
          </a:xfrm>
        </p:spPr>
        <p:txBody>
          <a:bodyPr>
            <a:normAutofit fontScale="90000"/>
          </a:bodyPr>
          <a:lstStyle/>
          <a:p>
            <a:r>
              <a:rPr lang="en-IN" dirty="0"/>
              <a:t>Management </a:t>
            </a:r>
            <a:r>
              <a:rPr lang="en-IN" dirty="0" err="1"/>
              <a:t>Vs</a:t>
            </a:r>
            <a:r>
              <a:rPr lang="en-IN" dirty="0"/>
              <a:t> Research Problem</a:t>
            </a:r>
          </a:p>
        </p:txBody>
      </p:sp>
      <p:pic>
        <p:nvPicPr>
          <p:cNvPr id="5" name="Picture 4"/>
          <p:cNvPicPr>
            <a:picLocks noChangeAspect="1"/>
          </p:cNvPicPr>
          <p:nvPr/>
        </p:nvPicPr>
        <p:blipFill>
          <a:blip r:embed="rId2"/>
          <a:stretch>
            <a:fillRect/>
          </a:stretch>
        </p:blipFill>
        <p:spPr>
          <a:xfrm>
            <a:off x="609601" y="1132114"/>
            <a:ext cx="10760022" cy="5390606"/>
          </a:xfrm>
          <a:prstGeom prst="rect">
            <a:avLst/>
          </a:prstGeom>
        </p:spPr>
      </p:pic>
    </p:spTree>
    <p:extLst>
      <p:ext uri="{BB962C8B-B14F-4D97-AF65-F5344CB8AC3E}">
        <p14:creationId xmlns:p14="http://schemas.microsoft.com/office/powerpoint/2010/main" xmlns="" val="332005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0FE203-71BD-C9B5-C215-6F133BC5D3E2}"/>
              </a:ext>
            </a:extLst>
          </p:cNvPr>
          <p:cNvSpPr>
            <a:spLocks noGrp="1"/>
          </p:cNvSpPr>
          <p:nvPr>
            <p:ph type="title"/>
          </p:nvPr>
        </p:nvSpPr>
        <p:spPr>
          <a:xfrm>
            <a:off x="838200" y="365125"/>
            <a:ext cx="10515600" cy="637765"/>
          </a:xfrm>
        </p:spPr>
        <p:txBody>
          <a:bodyPr>
            <a:normAutofit fontScale="90000"/>
          </a:bodyPr>
          <a:lstStyle/>
          <a:p>
            <a:r>
              <a:rPr lang="en-US" dirty="0" smtClean="0">
                <a:latin typeface="Times New Roman" pitchFamily="18" charset="0"/>
                <a:cs typeface="Times New Roman" pitchFamily="18" charset="0"/>
              </a:rPr>
              <a:t>1. Defining </a:t>
            </a:r>
            <a:r>
              <a:rPr lang="en-US" dirty="0">
                <a:latin typeface="Times New Roman" pitchFamily="18" charset="0"/>
                <a:cs typeface="Times New Roman" pitchFamily="18" charset="0"/>
              </a:rPr>
              <a:t>the Problem</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1D6A0CC5-D859-AD0E-CF46-815104B57B3B}"/>
              </a:ext>
            </a:extLst>
          </p:cNvPr>
          <p:cNvSpPr>
            <a:spLocks noGrp="1"/>
          </p:cNvSpPr>
          <p:nvPr>
            <p:ph idx="1"/>
          </p:nvPr>
        </p:nvSpPr>
        <p:spPr>
          <a:xfrm>
            <a:off x="838200" y="1278194"/>
            <a:ext cx="10515600" cy="4898769"/>
          </a:xfrm>
        </p:spPr>
        <p:txBody>
          <a:bodyPr/>
          <a:lstStyle/>
          <a:p>
            <a:pPr marL="0" indent="0" algn="just">
              <a:buNone/>
            </a:pPr>
            <a:r>
              <a:rPr lang="en-IN" dirty="0">
                <a:latin typeface="Times New Roman" pitchFamily="18" charset="0"/>
                <a:cs typeface="Times New Roman" pitchFamily="18" charset="0"/>
              </a:rPr>
              <a:t>Defining the problem refers to expressing an exact problem statement. In business, management problem has to be redefined as research problem which helps to frame the research work.</a:t>
            </a:r>
          </a:p>
          <a:p>
            <a:pPr marL="0" indent="0" algn="just">
              <a:buNone/>
            </a:pPr>
            <a:r>
              <a:rPr lang="en-IN" dirty="0">
                <a:latin typeface="Times New Roman" pitchFamily="18" charset="0"/>
                <a:cs typeface="Times New Roman" pitchFamily="18" charset="0"/>
              </a:rPr>
              <a:t>Example: Management Problem: Increasing the sales of the company.</a:t>
            </a:r>
          </a:p>
          <a:p>
            <a:pPr marL="0" indent="0" algn="just">
              <a:buNone/>
            </a:pPr>
            <a:r>
              <a:rPr lang="en-IN" dirty="0">
                <a:latin typeface="Times New Roman" pitchFamily="18" charset="0"/>
                <a:cs typeface="Times New Roman" pitchFamily="18" charset="0"/>
              </a:rPr>
              <a:t>Research problem is : Analysing the consumers buying behaviour towards the product in the market.</a:t>
            </a:r>
          </a:p>
        </p:txBody>
      </p:sp>
    </p:spTree>
    <p:extLst>
      <p:ext uri="{BB962C8B-B14F-4D97-AF65-F5344CB8AC3E}">
        <p14:creationId xmlns:p14="http://schemas.microsoft.com/office/powerpoint/2010/main" xmlns="" val="35113363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2. Review of Literature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416302"/>
            <a:ext cx="10515600" cy="2241278"/>
          </a:xfrm>
        </p:spPr>
        <p:txBody>
          <a:bodyPr/>
          <a:lstStyle/>
          <a:p>
            <a:pPr algn="just">
              <a:buNone/>
            </a:pPr>
            <a:r>
              <a:rPr lang="en-US" dirty="0" smtClean="0"/>
              <a:t>	</a:t>
            </a:r>
            <a:r>
              <a:rPr lang="en-US" sz="2400" dirty="0" smtClean="0">
                <a:latin typeface="Times New Roman" pitchFamily="18" charset="0"/>
                <a:cs typeface="Times New Roman" pitchFamily="18" charset="0"/>
              </a:rPr>
              <a:t>A literature review is a comprehensive survey, synthesis, and critical evaluation of existing scholarly research on a specific topic. It maps out current knowledge, identifies key researchers, highlights gaps or contradictions in studies, and provides a theoretical foundation for new research</a:t>
            </a:r>
            <a:endParaRPr lang="en-US" sz="2400" dirty="0">
              <a:latin typeface="Times New Roman" pitchFamily="18" charset="0"/>
              <a:cs typeface="Times New Roman" pitchFamily="18" charset="0"/>
            </a:endParaRPr>
          </a:p>
        </p:txBody>
      </p:sp>
      <p:sp>
        <p:nvSpPr>
          <p:cNvPr id="1025" name="Rectangle 1"/>
          <p:cNvSpPr>
            <a:spLocks noChangeArrowheads="1"/>
          </p:cNvSpPr>
          <p:nvPr/>
        </p:nvSpPr>
        <p:spPr bwMode="auto">
          <a:xfrm>
            <a:off x="1018953" y="2961060"/>
            <a:ext cx="10702822" cy="3529107"/>
          </a:xfrm>
          <a:prstGeom prst="rect">
            <a:avLst/>
          </a:prstGeom>
          <a:solidFill>
            <a:schemeClr val="bg1"/>
          </a:solidFill>
          <a:ln w="9525">
            <a:noFill/>
            <a:miter lim="800000"/>
            <a:headEnd/>
            <a:tailEnd/>
          </a:ln>
          <a:effectLst/>
        </p:spPr>
        <p:txBody>
          <a:bodyPr vert="horz" wrap="square" lIns="0" tIns="101568" rIns="0" bIns="101568"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effectLst/>
                <a:latin typeface="Times New Roman" pitchFamily="18" charset="0"/>
                <a:cs typeface="Times New Roman" pitchFamily="18" charset="0"/>
              </a:rPr>
              <a:t>Key Aspects of a Literature Review:</a:t>
            </a:r>
            <a:endParaRPr kumimoji="0" lang="en-US" sz="2400" b="0" i="0" u="none" strike="noStrike" cap="none" normalizeH="0" baseline="0" dirty="0" smtClean="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effectLst/>
                <a:latin typeface="Times New Roman" pitchFamily="18" charset="0"/>
                <a:cs typeface="Times New Roman" pitchFamily="18" charset="0"/>
              </a:rPr>
              <a:t>Content:</a:t>
            </a:r>
            <a:r>
              <a:rPr kumimoji="0" lang="en-US" sz="2400" b="0" i="0" u="none" strike="noStrike" cap="none" normalizeH="0" baseline="0" dirty="0" smtClean="0">
                <a:ln>
                  <a:noFill/>
                </a:ln>
                <a:effectLst/>
                <a:latin typeface="Times New Roman" pitchFamily="18" charset="0"/>
                <a:cs typeface="Times New Roman" pitchFamily="18" charset="0"/>
              </a:rPr>
              <a:t> It covers scholarly articles, books, dissertations, and relevant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effectLst/>
                <a:latin typeface="Times New Roman" pitchFamily="18" charset="0"/>
                <a:cs typeface="Times New Roman" pitchFamily="18" charset="0"/>
              </a:rPr>
              <a:t>Structure:</a:t>
            </a:r>
            <a:r>
              <a:rPr kumimoji="0" lang="en-US" sz="2400" b="0" i="0" u="none" strike="noStrike" cap="none" normalizeH="0" baseline="0" dirty="0" smtClean="0">
                <a:ln>
                  <a:noFill/>
                </a:ln>
                <a:effectLst/>
                <a:latin typeface="Times New Roman" pitchFamily="18" charset="0"/>
                <a:cs typeface="Times New Roman" pitchFamily="18" charset="0"/>
              </a:rPr>
              <a:t> It is organized by themes, trends, or methodologies rather than just a chronological list of summaries.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effectLst/>
                <a:latin typeface="Times New Roman" pitchFamily="18" charset="0"/>
                <a:cs typeface="Times New Roman" pitchFamily="18" charset="0"/>
              </a:rPr>
              <a:t>Critical Analysis:</a:t>
            </a:r>
            <a:r>
              <a:rPr kumimoji="0" lang="en-US" sz="2400" b="0" i="0" u="none" strike="noStrike" cap="none" normalizeH="0" baseline="0" dirty="0" smtClean="0">
                <a:ln>
                  <a:noFill/>
                </a:ln>
                <a:effectLst/>
                <a:latin typeface="Times New Roman" pitchFamily="18" charset="0"/>
                <a:cs typeface="Times New Roman" pitchFamily="18" charset="0"/>
              </a:rPr>
              <a:t> It does not just summarize; it evaluates and compares sources to explain how they relate to the research topic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effectLst/>
                <a:latin typeface="Times New Roman" pitchFamily="18" charset="0"/>
                <a:cs typeface="Times New Roman" pitchFamily="18" charset="0"/>
              </a:rPr>
              <a:t>Purpose:</a:t>
            </a:r>
            <a:r>
              <a:rPr kumimoji="0" lang="en-US" sz="2400" b="0" i="0" u="none" strike="noStrike" cap="none" normalizeH="0" baseline="0" dirty="0" smtClean="0">
                <a:ln>
                  <a:noFill/>
                </a:ln>
                <a:effectLst/>
                <a:latin typeface="Times New Roman" pitchFamily="18" charset="0"/>
                <a:cs typeface="Times New Roman" pitchFamily="18" charset="0"/>
              </a:rPr>
              <a:t> To demonstrate familiarity with the field, establish credibility, avoid duplicating previous work, and justify your research question.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r>
              <a:rPr lang="en-US" b="1" dirty="0" smtClean="0">
                <a:latin typeface="Times New Roman" pitchFamily="18" charset="0"/>
                <a:cs typeface="Times New Roman" pitchFamily="18" charset="0"/>
              </a:rPr>
              <a:t>Steps to Conduct a Literature Review:</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Search</a:t>
            </a:r>
            <a:r>
              <a:rPr lang="en-US" dirty="0" smtClean="0">
                <a:latin typeface="Times New Roman" pitchFamily="18" charset="0"/>
                <a:cs typeface="Times New Roman" pitchFamily="18" charset="0"/>
              </a:rPr>
              <a:t> for relevant literature.</a:t>
            </a:r>
          </a:p>
          <a:p>
            <a:r>
              <a:rPr lang="en-US" b="1" dirty="0" smtClean="0">
                <a:latin typeface="Times New Roman" pitchFamily="18" charset="0"/>
                <a:cs typeface="Times New Roman" pitchFamily="18" charset="0"/>
              </a:rPr>
              <a:t>Evaluate</a:t>
            </a:r>
            <a:r>
              <a:rPr lang="en-US" dirty="0" smtClean="0">
                <a:latin typeface="Times New Roman" pitchFamily="18" charset="0"/>
                <a:cs typeface="Times New Roman" pitchFamily="18" charset="0"/>
              </a:rPr>
              <a:t> and select relevant sources.</a:t>
            </a:r>
          </a:p>
          <a:p>
            <a:r>
              <a:rPr lang="en-US" b="1" dirty="0" smtClean="0">
                <a:latin typeface="Times New Roman" pitchFamily="18" charset="0"/>
                <a:cs typeface="Times New Roman" pitchFamily="18" charset="0"/>
              </a:rPr>
              <a:t>Identify</a:t>
            </a:r>
            <a:r>
              <a:rPr lang="en-US" dirty="0" smtClean="0">
                <a:latin typeface="Times New Roman" pitchFamily="18" charset="0"/>
                <a:cs typeface="Times New Roman" pitchFamily="18" charset="0"/>
              </a:rPr>
              <a:t> themes, debates, and gaps.</a:t>
            </a:r>
          </a:p>
          <a:p>
            <a:r>
              <a:rPr lang="en-US" b="1" dirty="0" smtClean="0">
                <a:latin typeface="Times New Roman" pitchFamily="18" charset="0"/>
                <a:cs typeface="Times New Roman" pitchFamily="18" charset="0"/>
              </a:rPr>
              <a:t>Outline</a:t>
            </a:r>
            <a:r>
              <a:rPr lang="en-US" dirty="0" smtClean="0">
                <a:latin typeface="Times New Roman" pitchFamily="18" charset="0"/>
                <a:cs typeface="Times New Roman" pitchFamily="18" charset="0"/>
              </a:rPr>
              <a:t> the structure of your review.</a:t>
            </a:r>
          </a:p>
          <a:p>
            <a:r>
              <a:rPr lang="en-US" b="1" dirty="0" smtClean="0">
                <a:latin typeface="Times New Roman" pitchFamily="18" charset="0"/>
                <a:cs typeface="Times New Roman" pitchFamily="18" charset="0"/>
              </a:rPr>
              <a:t>Write</a:t>
            </a:r>
            <a:r>
              <a:rPr lang="en-US" dirty="0" smtClean="0">
                <a:latin typeface="Times New Roman" pitchFamily="18" charset="0"/>
                <a:cs typeface="Times New Roman" pitchFamily="18" charset="0"/>
              </a:rPr>
              <a:t> the review, synthesizing the information</a:t>
            </a:r>
          </a:p>
          <a:p>
            <a:pPr>
              <a:buNone/>
            </a:pPr>
            <a:endParaRPr lang="en-US"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3. Select Appropriate Research Methodology</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583474" y="1837538"/>
            <a:ext cx="10770326" cy="3021874"/>
          </a:xfrm>
        </p:spPr>
        <p:txBody>
          <a:bodyPr>
            <a:normAutofit/>
          </a:bodyPr>
          <a:lstStyle/>
          <a:p>
            <a:pPr algn="just"/>
            <a:r>
              <a:rPr lang="en-US" dirty="0" smtClean="0">
                <a:latin typeface="Times New Roman" pitchFamily="18" charset="0"/>
                <a:cs typeface="Times New Roman" pitchFamily="18" charset="0"/>
              </a:rPr>
              <a:t>Research methods are systematic techniques used to collect and analyze data, generally categorized into quantitative (numerical), qualitative (descriptive), and mixed-methods. Key techniques include surveys for broad data, interviews and focus groups for in-depth insights, observations, and experiments for cause-and-effect relationships.</a:t>
            </a:r>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4. Collecting the data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2563495"/>
          </a:xfrm>
        </p:spPr>
        <p:txBody>
          <a:bodyPr/>
          <a:lstStyle/>
          <a:p>
            <a:pPr algn="just">
              <a:buNone/>
            </a:pPr>
            <a:r>
              <a:rPr lang="en-US" dirty="0" smtClean="0">
                <a:latin typeface="Times New Roman" pitchFamily="18" charset="0"/>
                <a:cs typeface="Times New Roman" pitchFamily="18" charset="0"/>
              </a:rPr>
              <a:t>	A data gathering procedure is a systematic, step-by-step plan for collecting accurate, relevant information to answer research questions. It involves defining research objectives, selecting appropriate qualitative or quantitative methods (e.g., surveys, interviews, observations), creating instruments, sampling, gathering data ethically, and organizing data for analysis</a:t>
            </a: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7400"/>
          </a:xfrm>
        </p:spPr>
        <p:txBody>
          <a:bodyPr/>
          <a:lstStyle/>
          <a:p>
            <a:r>
              <a:rPr lang="en-IN" dirty="0" smtClean="0"/>
              <a:t>5. Interpreting the Data</a:t>
            </a:r>
            <a:endParaRPr lang="en-US" dirty="0"/>
          </a:p>
        </p:txBody>
      </p:sp>
      <p:sp>
        <p:nvSpPr>
          <p:cNvPr id="3" name="Content Placeholder 2"/>
          <p:cNvSpPr>
            <a:spLocks noGrp="1"/>
          </p:cNvSpPr>
          <p:nvPr>
            <p:ph idx="1"/>
          </p:nvPr>
        </p:nvSpPr>
        <p:spPr>
          <a:xfrm>
            <a:off x="838200" y="1171575"/>
            <a:ext cx="10515600" cy="5005388"/>
          </a:xfrm>
        </p:spPr>
        <p:txBody>
          <a:bodyPr/>
          <a:lstStyle/>
          <a:p>
            <a:pPr algn="just">
              <a:buNone/>
            </a:pPr>
            <a:r>
              <a:rPr lang="en-US" dirty="0" smtClean="0">
                <a:latin typeface="Times New Roman" pitchFamily="18" charset="0"/>
                <a:cs typeface="Times New Roman" pitchFamily="18" charset="0"/>
              </a:rPr>
              <a:t>	Data interpretation in research is the process of reviewing, analyzing, and assigning meaning to collected information (qualitative or quantitative) to draw conclusions, identify patterns, and answer research questions. It transforms raw data into actionable insights, bridging the gap between findings and informed, evidence-based decisions or theories.</a:t>
            </a:r>
            <a:endParaRPr lang="en-US"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2650"/>
          </a:xfrm>
        </p:spPr>
        <p:txBody>
          <a:bodyPr/>
          <a:lstStyle/>
          <a:p>
            <a:r>
              <a:rPr lang="en-IN" dirty="0" smtClean="0">
                <a:latin typeface="Times New Roman" pitchFamily="18" charset="0"/>
                <a:cs typeface="Times New Roman" pitchFamily="18" charset="0"/>
              </a:rPr>
              <a:t>6. Formulating conclusions.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85825" y="1511300"/>
            <a:ext cx="10515600" cy="4351338"/>
          </a:xfrm>
        </p:spPr>
        <p:txBody>
          <a:bodyPr/>
          <a:lstStyle/>
          <a:p>
            <a:pPr algn="just">
              <a:buNone/>
            </a:pPr>
            <a:r>
              <a:rPr lang="en-IN" dirty="0" smtClean="0">
                <a:latin typeface="Times New Roman" pitchFamily="18" charset="0"/>
                <a:cs typeface="Times New Roman" pitchFamily="18" charset="0"/>
              </a:rPr>
              <a:t>	Based on the analysis the researcher come to a </a:t>
            </a:r>
            <a:r>
              <a:rPr lang="en-IN" dirty="0" err="1" smtClean="0">
                <a:latin typeface="Times New Roman" pitchFamily="18" charset="0"/>
                <a:cs typeface="Times New Roman" pitchFamily="18" charset="0"/>
              </a:rPr>
              <a:t>conlusion</a:t>
            </a:r>
            <a:r>
              <a:rPr lang="en-IN" dirty="0" smtClean="0">
                <a:latin typeface="Times New Roman" pitchFamily="18" charset="0"/>
                <a:cs typeface="Times New Roman" pitchFamily="18" charset="0"/>
              </a:rPr>
              <a:t> and either re form his research or arrive at the decision</a:t>
            </a:r>
            <a:endParaRPr lang="en-US"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360799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9507"/>
            <a:ext cx="6215743" cy="1325563"/>
          </a:xfrm>
        </p:spPr>
        <p:txBody>
          <a:bodyPr/>
          <a:lstStyle/>
          <a:p>
            <a:r>
              <a:rPr lang="en-IN" dirty="0" smtClean="0">
                <a:latin typeface="Times New Roman" pitchFamily="18" charset="0"/>
                <a:cs typeface="Times New Roman" pitchFamily="18" charset="0"/>
              </a:rPr>
              <a:t>Hypothesis in Research</a:t>
            </a:r>
            <a:endParaRPr lang="en-US" dirty="0">
              <a:latin typeface="Times New Roman" pitchFamily="18" charset="0"/>
              <a:cs typeface="Times New Roman" pitchFamily="18" charset="0"/>
            </a:endParaRPr>
          </a:p>
        </p:txBody>
      </p:sp>
      <p:pic>
        <p:nvPicPr>
          <p:cNvPr id="1030" name="Picture 6" descr="Hypotheses | What Is A Hypothesis?, Null &amp; Alternative Hypotheses"/>
          <p:cNvPicPr>
            <a:picLocks noChangeAspect="1" noChangeArrowheads="1"/>
          </p:cNvPicPr>
          <p:nvPr/>
        </p:nvPicPr>
        <p:blipFill>
          <a:blip r:embed="rId2"/>
          <a:srcRect/>
          <a:stretch>
            <a:fillRect/>
          </a:stretch>
        </p:blipFill>
        <p:spPr bwMode="auto">
          <a:xfrm>
            <a:off x="6743701" y="633941"/>
            <a:ext cx="5448300" cy="4738159"/>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63562"/>
          </a:xfrm>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1. Meaning of Hypothesis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09600" y="1189037"/>
            <a:ext cx="10972800" cy="4525963"/>
          </a:xfrm>
        </p:spPr>
        <p:txBody>
          <a:bodyPr>
            <a:normAutofit/>
          </a:bodyPr>
          <a:lstStyle/>
          <a:p>
            <a:pPr algn="just"/>
            <a:r>
              <a:rPr lang="en-US" dirty="0" smtClean="0">
                <a:latin typeface="Times New Roman" pitchFamily="18" charset="0"/>
                <a:cs typeface="Times New Roman" pitchFamily="18" charset="0"/>
              </a:rPr>
              <a:t>A </a:t>
            </a:r>
            <a:r>
              <a:rPr lang="en-US" b="1" dirty="0" smtClean="0">
                <a:latin typeface="Times New Roman" pitchFamily="18" charset="0"/>
                <a:cs typeface="Times New Roman" pitchFamily="18" charset="0"/>
              </a:rPr>
              <a:t>hypothesis</a:t>
            </a:r>
            <a:r>
              <a:rPr lang="en-US" dirty="0" smtClean="0">
                <a:latin typeface="Times New Roman" pitchFamily="18" charset="0"/>
                <a:cs typeface="Times New Roman" pitchFamily="18" charset="0"/>
              </a:rPr>
              <a:t> is a tentative statement predicting the relationship between two or more variables.</a:t>
            </a:r>
          </a:p>
          <a:p>
            <a:r>
              <a:rPr lang="en-US" dirty="0" smtClean="0">
                <a:latin typeface="Times New Roman" pitchFamily="18" charset="0"/>
                <a:cs typeface="Times New Roman" pitchFamily="18" charset="0"/>
              </a:rPr>
              <a:t>Example: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“Higher customer trust increases digital loan adoption.”</a:t>
            </a:r>
          </a:p>
          <a:p>
            <a:pPr algn="just"/>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87362"/>
          </a:xfrm>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Types of Hypothesis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09600" y="990600"/>
            <a:ext cx="10972800" cy="5135563"/>
          </a:xfrm>
        </p:spPr>
        <p:txBody>
          <a:bodyPr>
            <a:noAutofit/>
          </a:bodyPr>
          <a:lstStyle/>
          <a:p>
            <a:pPr>
              <a:buNone/>
            </a:pPr>
            <a:r>
              <a:rPr lang="en-US" sz="2400" b="1" dirty="0" smtClean="0">
                <a:latin typeface="Times New Roman" pitchFamily="18" charset="0"/>
                <a:cs typeface="Times New Roman" pitchFamily="18" charset="0"/>
              </a:rPr>
              <a:t>A. Null Hypothesis (H₀): </a:t>
            </a:r>
            <a:r>
              <a:rPr lang="en-US" sz="2400" dirty="0" smtClean="0">
                <a:latin typeface="Times New Roman" pitchFamily="18" charset="0"/>
                <a:cs typeface="Times New Roman" pitchFamily="18" charset="0"/>
              </a:rPr>
              <a:t>No relationship/effect exists.</a:t>
            </a:r>
          </a:p>
          <a:p>
            <a:pPr>
              <a:buNone/>
            </a:pPr>
            <a:r>
              <a:rPr lang="en-US" sz="2400" dirty="0" smtClean="0">
                <a:latin typeface="Times New Roman" pitchFamily="18" charset="0"/>
                <a:cs typeface="Times New Roman" pitchFamily="18" charset="0"/>
              </a:rPr>
              <a:t>     Example: Interest rate does not affect demand.</a:t>
            </a:r>
          </a:p>
          <a:p>
            <a:pPr>
              <a:buNone/>
            </a:pPr>
            <a:r>
              <a:rPr lang="en-US" sz="2400" b="1" dirty="0" smtClean="0">
                <a:latin typeface="Times New Roman" pitchFamily="18" charset="0"/>
                <a:cs typeface="Times New Roman" pitchFamily="18" charset="0"/>
              </a:rPr>
              <a:t>B. Alternative Hypothesis (H₁) </a:t>
            </a:r>
            <a:r>
              <a:rPr lang="en-US" sz="2400" dirty="0" smtClean="0">
                <a:latin typeface="Times New Roman" pitchFamily="18" charset="0"/>
                <a:cs typeface="Times New Roman" pitchFamily="18" charset="0"/>
              </a:rPr>
              <a:t>Relationship/effect exists.</a:t>
            </a:r>
          </a:p>
          <a:p>
            <a:pPr>
              <a:buNone/>
            </a:pPr>
            <a:r>
              <a:rPr lang="en-US" sz="2400" dirty="0" smtClean="0">
                <a:latin typeface="Times New Roman" pitchFamily="18" charset="0"/>
                <a:cs typeface="Times New Roman" pitchFamily="18" charset="0"/>
              </a:rPr>
              <a:t>     Example: Interest rate affects demand.</a:t>
            </a:r>
          </a:p>
          <a:p>
            <a:pPr>
              <a:buNone/>
            </a:pPr>
            <a:r>
              <a:rPr lang="en-US" sz="2400" b="1" dirty="0" smtClean="0">
                <a:latin typeface="Times New Roman" pitchFamily="18" charset="0"/>
                <a:cs typeface="Times New Roman" pitchFamily="18" charset="0"/>
              </a:rPr>
              <a:t>C. Simple Hypothesis: </a:t>
            </a:r>
            <a:r>
              <a:rPr lang="en-US" sz="2400" dirty="0" smtClean="0">
                <a:latin typeface="Times New Roman" pitchFamily="18" charset="0"/>
                <a:cs typeface="Times New Roman" pitchFamily="18" charset="0"/>
              </a:rPr>
              <a:t>One independent and one dependent variable.</a:t>
            </a:r>
          </a:p>
          <a:p>
            <a:pPr>
              <a:buNone/>
            </a:pPr>
            <a:r>
              <a:rPr lang="en-US" sz="2400" dirty="0" smtClean="0">
                <a:latin typeface="Times New Roman" pitchFamily="18" charset="0"/>
                <a:cs typeface="Times New Roman" pitchFamily="18" charset="0"/>
              </a:rPr>
              <a:t>	Example: Price affects sales.</a:t>
            </a:r>
          </a:p>
          <a:p>
            <a:pPr>
              <a:buNone/>
            </a:pPr>
            <a:r>
              <a:rPr lang="en-US" sz="2400" b="1" dirty="0" smtClean="0">
                <a:latin typeface="Times New Roman" pitchFamily="18" charset="0"/>
                <a:cs typeface="Times New Roman" pitchFamily="18" charset="0"/>
              </a:rPr>
              <a:t>D. Complex Hypothesis: </a:t>
            </a:r>
            <a:r>
              <a:rPr lang="en-US" sz="2400" dirty="0" smtClean="0">
                <a:latin typeface="Times New Roman" pitchFamily="18" charset="0"/>
                <a:cs typeface="Times New Roman" pitchFamily="18" charset="0"/>
              </a:rPr>
              <a:t>Multiple variables involved.</a:t>
            </a:r>
          </a:p>
          <a:p>
            <a:pPr>
              <a:buNone/>
            </a:pPr>
            <a:r>
              <a:rPr lang="en-US" sz="2400" dirty="0" smtClean="0">
                <a:latin typeface="Times New Roman" pitchFamily="18" charset="0"/>
                <a:cs typeface="Times New Roman" pitchFamily="18" charset="0"/>
              </a:rPr>
              <a:t>	Example: Price, quality, and promotion affect sales.</a:t>
            </a:r>
          </a:p>
          <a:p>
            <a:pPr>
              <a:buNone/>
            </a:pPr>
            <a:r>
              <a:rPr lang="en-US" sz="2400" b="1" dirty="0" smtClean="0">
                <a:latin typeface="Times New Roman" pitchFamily="18" charset="0"/>
                <a:cs typeface="Times New Roman" pitchFamily="18" charset="0"/>
              </a:rPr>
              <a:t>E. Directional Hypothesis: </a:t>
            </a:r>
            <a:r>
              <a:rPr lang="en-US" sz="2400" dirty="0" smtClean="0">
                <a:latin typeface="Times New Roman" pitchFamily="18" charset="0"/>
                <a:cs typeface="Times New Roman" pitchFamily="18" charset="0"/>
              </a:rPr>
              <a:t>Specifies direction.</a:t>
            </a:r>
          </a:p>
          <a:p>
            <a:pPr>
              <a:buNone/>
            </a:pPr>
            <a:r>
              <a:rPr lang="en-US" sz="2400" dirty="0" smtClean="0">
                <a:latin typeface="Times New Roman" pitchFamily="18" charset="0"/>
                <a:cs typeface="Times New Roman" pitchFamily="18" charset="0"/>
              </a:rPr>
              <a:t>	Example: Lower price increases demand.</a:t>
            </a:r>
          </a:p>
          <a:p>
            <a:pPr>
              <a:buNone/>
            </a:pPr>
            <a:r>
              <a:rPr lang="en-US" sz="2400" b="1" dirty="0" smtClean="0">
                <a:latin typeface="Times New Roman" pitchFamily="18" charset="0"/>
                <a:cs typeface="Times New Roman" pitchFamily="18" charset="0"/>
              </a:rPr>
              <a:t>F. Non-directional Hypothesis: </a:t>
            </a:r>
            <a:r>
              <a:rPr lang="en-US" sz="2400" dirty="0" smtClean="0">
                <a:latin typeface="Times New Roman" pitchFamily="18" charset="0"/>
                <a:cs typeface="Times New Roman" pitchFamily="18" charset="0"/>
              </a:rPr>
              <a:t>Only states relationship exists.</a:t>
            </a:r>
          </a:p>
          <a:p>
            <a:pPr>
              <a:buNone/>
            </a:pPr>
            <a:r>
              <a:rPr lang="en-US" sz="2400" dirty="0" smtClean="0">
                <a:latin typeface="Times New Roman" pitchFamily="18" charset="0"/>
                <a:cs typeface="Times New Roman" pitchFamily="18" charset="0"/>
              </a:rPr>
              <a:t>	Example: Price is related to demand.</a:t>
            </a: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5962"/>
          </a:xfrm>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Steps to Form a Good Hypothesis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514350" lvl="0" indent="-514350">
              <a:buFont typeface="+mj-lt"/>
              <a:buAutoNum type="arabicPeriod"/>
            </a:pPr>
            <a:r>
              <a:rPr lang="en-US" dirty="0" smtClean="0">
                <a:latin typeface="Times New Roman" pitchFamily="18" charset="0"/>
                <a:cs typeface="Times New Roman" pitchFamily="18" charset="0"/>
              </a:rPr>
              <a:t>Identify research problem</a:t>
            </a:r>
          </a:p>
          <a:p>
            <a:pPr marL="514350" lvl="0" indent="-514350">
              <a:buFont typeface="+mj-lt"/>
              <a:buAutoNum type="arabicPeriod"/>
            </a:pPr>
            <a:r>
              <a:rPr lang="en-US" dirty="0" smtClean="0">
                <a:latin typeface="Times New Roman" pitchFamily="18" charset="0"/>
                <a:cs typeface="Times New Roman" pitchFamily="18" charset="0"/>
              </a:rPr>
              <a:t>Review literature</a:t>
            </a:r>
          </a:p>
          <a:p>
            <a:pPr marL="514350" lvl="0" indent="-514350">
              <a:buFont typeface="+mj-lt"/>
              <a:buAutoNum type="arabicPeriod"/>
            </a:pPr>
            <a:r>
              <a:rPr lang="en-US" dirty="0" smtClean="0">
                <a:latin typeface="Times New Roman" pitchFamily="18" charset="0"/>
                <a:cs typeface="Times New Roman" pitchFamily="18" charset="0"/>
              </a:rPr>
              <a:t>Identify variables</a:t>
            </a:r>
          </a:p>
          <a:p>
            <a:pPr marL="514350" lvl="0" indent="-514350">
              <a:buFont typeface="+mj-lt"/>
              <a:buAutoNum type="arabicPeriod"/>
            </a:pPr>
            <a:r>
              <a:rPr lang="en-US" dirty="0" smtClean="0">
                <a:latin typeface="Times New Roman" pitchFamily="18" charset="0"/>
                <a:cs typeface="Times New Roman" pitchFamily="18" charset="0"/>
              </a:rPr>
              <a:t>Establish expected relationship</a:t>
            </a:r>
          </a:p>
          <a:p>
            <a:pPr marL="514350" lvl="0" indent="-514350">
              <a:buFont typeface="+mj-lt"/>
              <a:buAutoNum type="arabicPeriod"/>
            </a:pPr>
            <a:r>
              <a:rPr lang="en-US" dirty="0" smtClean="0">
                <a:latin typeface="Times New Roman" pitchFamily="18" charset="0"/>
                <a:cs typeface="Times New Roman" pitchFamily="18" charset="0"/>
              </a:rPr>
              <a:t>Make clear and testable statement</a:t>
            </a:r>
          </a:p>
          <a:p>
            <a:pPr marL="514350" lvl="0" indent="-514350">
              <a:buFont typeface="+mj-lt"/>
              <a:buAutoNum type="arabicPeriod"/>
            </a:pPr>
            <a:r>
              <a:rPr lang="en-US" dirty="0" smtClean="0">
                <a:latin typeface="Times New Roman" pitchFamily="18" charset="0"/>
                <a:cs typeface="Times New Roman" pitchFamily="18" charset="0"/>
              </a:rPr>
              <a:t>Ensure measurable data availability</a:t>
            </a:r>
          </a:p>
          <a:p>
            <a:pPr marL="514350" indent="-514350">
              <a:buFont typeface="+mj-lt"/>
              <a:buAutoNum type="arabicPeriod"/>
            </a:pPr>
            <a:endParaRPr lang="en-US"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Characteristics of Good Hypothesis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514350" lvl="0" indent="-514350">
              <a:buFont typeface="+mj-lt"/>
              <a:buAutoNum type="arabicPeriod"/>
            </a:pPr>
            <a:r>
              <a:rPr lang="en-US" dirty="0" smtClean="0">
                <a:latin typeface="Times New Roman" pitchFamily="18" charset="0"/>
                <a:cs typeface="Times New Roman" pitchFamily="18" charset="0"/>
              </a:rPr>
              <a:t>Clear</a:t>
            </a:r>
          </a:p>
          <a:p>
            <a:pPr marL="514350" lvl="0" indent="-514350">
              <a:buFont typeface="+mj-lt"/>
              <a:buAutoNum type="arabicPeriod"/>
            </a:pPr>
            <a:r>
              <a:rPr lang="en-US" dirty="0" smtClean="0">
                <a:latin typeface="Times New Roman" pitchFamily="18" charset="0"/>
                <a:cs typeface="Times New Roman" pitchFamily="18" charset="0"/>
              </a:rPr>
              <a:t>Specific</a:t>
            </a:r>
          </a:p>
          <a:p>
            <a:pPr marL="514350" lvl="0" indent="-514350">
              <a:buFont typeface="+mj-lt"/>
              <a:buAutoNum type="arabicPeriod"/>
            </a:pPr>
            <a:r>
              <a:rPr lang="en-US" dirty="0" smtClean="0">
                <a:latin typeface="Times New Roman" pitchFamily="18" charset="0"/>
                <a:cs typeface="Times New Roman" pitchFamily="18" charset="0"/>
              </a:rPr>
              <a:t>Testable</a:t>
            </a:r>
          </a:p>
          <a:p>
            <a:pPr marL="514350" lvl="0" indent="-514350">
              <a:buFont typeface="+mj-lt"/>
              <a:buAutoNum type="arabicPeriod"/>
            </a:pPr>
            <a:r>
              <a:rPr lang="en-US" dirty="0" smtClean="0">
                <a:latin typeface="Times New Roman" pitchFamily="18" charset="0"/>
                <a:cs typeface="Times New Roman" pitchFamily="18" charset="0"/>
              </a:rPr>
              <a:t>Logical</a:t>
            </a:r>
          </a:p>
          <a:p>
            <a:pPr marL="514350" lvl="0" indent="-514350">
              <a:buFont typeface="+mj-lt"/>
              <a:buAutoNum type="arabicPeriod"/>
            </a:pPr>
            <a:r>
              <a:rPr lang="en-US" dirty="0" smtClean="0">
                <a:latin typeface="Times New Roman" pitchFamily="18" charset="0"/>
                <a:cs typeface="Times New Roman" pitchFamily="18" charset="0"/>
              </a:rPr>
              <a:t>Based on theory</a:t>
            </a:r>
          </a:p>
          <a:p>
            <a:pPr marL="514350" lvl="0" indent="-514350">
              <a:buFont typeface="+mj-lt"/>
              <a:buAutoNum type="arabicPeriod"/>
            </a:pPr>
            <a:r>
              <a:rPr lang="en-US" dirty="0" smtClean="0">
                <a:latin typeface="Times New Roman" pitchFamily="18" charset="0"/>
                <a:cs typeface="Times New Roman" pitchFamily="18" charset="0"/>
              </a:rPr>
              <a:t>Relevant to objectives</a:t>
            </a:r>
          </a:p>
          <a:p>
            <a:pPr>
              <a:buNone/>
            </a:pPr>
            <a:endParaRPr lang="en-US"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51125"/>
            <a:ext cx="7315200" cy="1325563"/>
          </a:xfrm>
        </p:spPr>
        <p:txBody>
          <a:bodyPr/>
          <a:lstStyle/>
          <a:p>
            <a:r>
              <a:rPr lang="en-IN" dirty="0" smtClean="0">
                <a:latin typeface="Times New Roman" pitchFamily="18" charset="0"/>
                <a:cs typeface="Times New Roman" pitchFamily="18" charset="0"/>
              </a:rPr>
              <a:t>Ethical Issues in Research</a:t>
            </a:r>
            <a:endParaRPr lang="en-US"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150"/>
          </a:xfrm>
        </p:spPr>
        <p:txBody>
          <a:bodyPr>
            <a:normAutofit fontScale="90000"/>
          </a:bodyPr>
          <a:lstStyle/>
          <a:p>
            <a:r>
              <a:rPr lang="en-IN" dirty="0" smtClean="0">
                <a:latin typeface="Times New Roman" pitchFamily="18" charset="0"/>
                <a:cs typeface="Times New Roman" pitchFamily="18" charset="0"/>
              </a:rPr>
              <a:t>What is ethics?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38225"/>
            <a:ext cx="10515600" cy="2305050"/>
          </a:xfrm>
        </p:spPr>
        <p:txBody>
          <a:bodyPr>
            <a:normAutofit/>
          </a:bodyPr>
          <a:lstStyle/>
          <a:p>
            <a:pPr algn="just">
              <a:buNone/>
            </a:pPr>
            <a:r>
              <a:rPr lang="en-US" dirty="0" smtClean="0"/>
              <a:t>	</a:t>
            </a:r>
            <a:r>
              <a:rPr lang="en-US" dirty="0" smtClean="0">
                <a:latin typeface="Times New Roman" pitchFamily="18" charset="0"/>
                <a:cs typeface="Times New Roman" pitchFamily="18" charset="0"/>
              </a:rPr>
              <a:t>Ethics refers to the philosophical study of moral principles—concepts of right/wrong, good/bad, and virtue—that guide human conduct. It goes beyond law or personal feelings to provide justified, consistent standards (e.g., honesty, fairness, non-</a:t>
            </a:r>
            <a:r>
              <a:rPr lang="en-US" dirty="0" err="1" smtClean="0">
                <a:latin typeface="Times New Roman" pitchFamily="18" charset="0"/>
                <a:cs typeface="Times New Roman" pitchFamily="18" charset="0"/>
              </a:rPr>
              <a:t>maleficence</a:t>
            </a:r>
            <a:r>
              <a:rPr lang="en-US" dirty="0" smtClean="0">
                <a:latin typeface="Times New Roman" pitchFamily="18" charset="0"/>
                <a:cs typeface="Times New Roman" pitchFamily="18" charset="0"/>
              </a:rPr>
              <a:t>) used to make principled decisions.</a:t>
            </a:r>
          </a:p>
          <a:p>
            <a:pPr algn="just">
              <a:buNone/>
            </a:pPr>
            <a:endParaRPr lang="en-US" dirty="0">
              <a:latin typeface="Times New Roman" pitchFamily="18" charset="0"/>
              <a:cs typeface="Times New Roman" pitchFamily="18" charset="0"/>
            </a:endParaRPr>
          </a:p>
        </p:txBody>
      </p:sp>
      <p:sp>
        <p:nvSpPr>
          <p:cNvPr id="4" name="Rectangle 3"/>
          <p:cNvSpPr/>
          <p:nvPr/>
        </p:nvSpPr>
        <p:spPr>
          <a:xfrm>
            <a:off x="847725" y="3326964"/>
            <a:ext cx="6096000" cy="2585323"/>
          </a:xfrm>
          <a:prstGeom prst="rect">
            <a:avLst/>
          </a:prstGeom>
        </p:spPr>
        <p:txBody>
          <a:bodyPr>
            <a:spAutoFit/>
          </a:bodyPr>
          <a:lstStyle/>
          <a:p>
            <a:pPr algn="just"/>
            <a:r>
              <a:rPr lang="en-US" b="1" dirty="0" smtClean="0">
                <a:latin typeface="Times New Roman" pitchFamily="18" charset="0"/>
                <a:cs typeface="Times New Roman" pitchFamily="18" charset="0"/>
              </a:rPr>
              <a:t>Key Aspects of Ethics</a:t>
            </a:r>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Rational Framework:</a:t>
            </a:r>
            <a:r>
              <a:rPr lang="en-US" dirty="0" smtClean="0">
                <a:latin typeface="Times New Roman" pitchFamily="18" charset="0"/>
                <a:cs typeface="Times New Roman" pitchFamily="18" charset="0"/>
              </a:rPr>
              <a:t> Ethics is not just following rules blindly; it is using reasoning to evaluate </a:t>
            </a:r>
            <a:r>
              <a:rPr lang="en-US" i="1" dirty="0" smtClean="0">
                <a:latin typeface="Times New Roman" pitchFamily="18" charset="0"/>
                <a:cs typeface="Times New Roman" pitchFamily="18" charset="0"/>
              </a:rPr>
              <a:t>why</a:t>
            </a:r>
            <a:r>
              <a:rPr lang="en-US" dirty="0" smtClean="0">
                <a:latin typeface="Times New Roman" pitchFamily="18" charset="0"/>
                <a:cs typeface="Times New Roman" pitchFamily="18" charset="0"/>
              </a:rPr>
              <a:t> an action is right or wrong.</a:t>
            </a:r>
          </a:p>
          <a:p>
            <a:pPr algn="just"/>
            <a:r>
              <a:rPr lang="en-US" b="1" dirty="0" smtClean="0">
                <a:latin typeface="Times New Roman" pitchFamily="18" charset="0"/>
                <a:cs typeface="Times New Roman" pitchFamily="18" charset="0"/>
              </a:rPr>
              <a:t>Subject Matter:</a:t>
            </a:r>
            <a:r>
              <a:rPr lang="en-US" dirty="0" smtClean="0">
                <a:latin typeface="Times New Roman" pitchFamily="18" charset="0"/>
                <a:cs typeface="Times New Roman" pitchFamily="18" charset="0"/>
              </a:rPr>
              <a:t> It focuses on voluntary human actions (choices) that have moral implications, not involuntary behaviors (e.g., sneezing).</a:t>
            </a:r>
          </a:p>
          <a:p>
            <a:pPr algn="just"/>
            <a:r>
              <a:rPr lang="en-US" b="1" dirty="0" smtClean="0">
                <a:latin typeface="Times New Roman" pitchFamily="18" charset="0"/>
                <a:cs typeface="Times New Roman" pitchFamily="18" charset="0"/>
              </a:rPr>
              <a:t>Components:</a:t>
            </a:r>
            <a:r>
              <a:rPr lang="en-US" dirty="0" smtClean="0">
                <a:latin typeface="Times New Roman" pitchFamily="18" charset="0"/>
                <a:cs typeface="Times New Roman" pitchFamily="18" charset="0"/>
              </a:rPr>
              <a:t> Ethics includes core virtues like compassion, loyalty, and integrity</a:t>
            </a:r>
          </a:p>
        </p:txBody>
      </p:sp>
      <p:pic>
        <p:nvPicPr>
          <p:cNvPr id="1026" name="Picture 2" descr="Helping a Lady Across the River – A Zen Story"/>
          <p:cNvPicPr>
            <a:picLocks noChangeAspect="1" noChangeArrowheads="1"/>
          </p:cNvPicPr>
          <p:nvPr/>
        </p:nvPicPr>
        <p:blipFill>
          <a:blip r:embed="rId2"/>
          <a:srcRect/>
          <a:stretch>
            <a:fillRect/>
          </a:stretch>
        </p:blipFill>
        <p:spPr bwMode="auto">
          <a:xfrm>
            <a:off x="7385050" y="2790824"/>
            <a:ext cx="4330700" cy="325755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 calcmode="lin" valueType="num">
                                      <p:cBhvr additive="base">
                                        <p:cTn id="16"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 calcmode="lin" valueType="num">
                                      <p:cBhvr additive="base">
                                        <p:cTn id="20"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 calcmode="lin" valueType="num">
                                      <p:cBhvr additive="base">
                                        <p:cTn id="24"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26"/>
                                        </p:tgtEl>
                                        <p:attrNameLst>
                                          <p:attrName>style.visibility</p:attrName>
                                        </p:attrNameLst>
                                      </p:cBhvr>
                                      <p:to>
                                        <p:strVal val="visible"/>
                                      </p:to>
                                    </p:set>
                                    <p:anim calcmode="lin" valueType="num">
                                      <p:cBhvr additive="base">
                                        <p:cTn id="30" dur="500" fill="hold"/>
                                        <p:tgtEl>
                                          <p:spTgt spid="1026"/>
                                        </p:tgtEl>
                                        <p:attrNameLst>
                                          <p:attrName>ppt_x</p:attrName>
                                        </p:attrNameLst>
                                      </p:cBhvr>
                                      <p:tavLst>
                                        <p:tav tm="0">
                                          <p:val>
                                            <p:strVal val="#ppt_x"/>
                                          </p:val>
                                        </p:tav>
                                        <p:tav tm="100000">
                                          <p:val>
                                            <p:strVal val="#ppt_x"/>
                                          </p:val>
                                        </p:tav>
                                      </p:tavLst>
                                    </p:anim>
                                    <p:anim calcmode="lin" valueType="num">
                                      <p:cBhvr additive="base">
                                        <p:cTn id="31"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9885"/>
          </a:xfrm>
          <a:prstGeom prst="rect">
            <a:avLst/>
          </a:prstGeom>
        </p:spPr>
      </p:pic>
      <p:sp>
        <p:nvSpPr>
          <p:cNvPr id="3" name="Text 0"/>
          <p:cNvSpPr/>
          <p:nvPr/>
        </p:nvSpPr>
        <p:spPr>
          <a:xfrm>
            <a:off x="5220891" y="509885"/>
            <a:ext cx="6322219" cy="1738313"/>
          </a:xfrm>
          <a:prstGeom prst="rect">
            <a:avLst/>
          </a:prstGeom>
          <a:noFill/>
          <a:ln/>
        </p:spPr>
        <p:txBody>
          <a:bodyPr wrap="square" lIns="0" tIns="0" rIns="0" bIns="0" rtlCol="0" anchor="t"/>
          <a:lstStyle/>
          <a:p>
            <a:pPr>
              <a:lnSpc>
                <a:spcPts val="4541"/>
              </a:lnSpc>
            </a:pPr>
            <a:r>
              <a:rPr lang="en-US" sz="3600" b="1" dirty="0">
                <a:solidFill>
                  <a:srgbClr val="333F70"/>
                </a:solidFill>
                <a:latin typeface="Unbounded Bold" pitchFamily="34" charset="0"/>
                <a:ea typeface="Unbounded Bold" pitchFamily="34" charset="-122"/>
                <a:cs typeface="Unbounded Bold" pitchFamily="34" charset="-120"/>
              </a:rPr>
              <a:t>What Are Ethical Issues in Business Research?</a:t>
            </a:r>
            <a:endParaRPr lang="en-US" sz="3600" dirty="0"/>
          </a:p>
        </p:txBody>
      </p:sp>
      <p:sp>
        <p:nvSpPr>
          <p:cNvPr id="4" name="Shape 1"/>
          <p:cNvSpPr/>
          <p:nvPr/>
        </p:nvSpPr>
        <p:spPr>
          <a:xfrm>
            <a:off x="5220891" y="2526308"/>
            <a:ext cx="3068439" cy="2260699"/>
          </a:xfrm>
          <a:prstGeom prst="roundRect">
            <a:avLst>
              <a:gd name="adj" fmla="val 3445"/>
            </a:avLst>
          </a:prstGeom>
          <a:solidFill>
            <a:srgbClr val="D6F5EE"/>
          </a:solidFill>
          <a:ln w="7620">
            <a:solidFill>
              <a:srgbClr val="BCDBD4"/>
            </a:solidFill>
            <a:prstDash val="solid"/>
          </a:ln>
        </p:spPr>
      </p:sp>
      <p:sp>
        <p:nvSpPr>
          <p:cNvPr id="5" name="Text 2"/>
          <p:cNvSpPr/>
          <p:nvPr/>
        </p:nvSpPr>
        <p:spPr>
          <a:xfrm>
            <a:off x="5412582" y="2717999"/>
            <a:ext cx="2317651" cy="289719"/>
          </a:xfrm>
          <a:prstGeom prst="rect">
            <a:avLst/>
          </a:prstGeom>
          <a:noFill/>
          <a:ln/>
        </p:spPr>
        <p:txBody>
          <a:bodyPr wrap="none" lIns="0" tIns="0" rIns="0" bIns="0" rtlCol="0" anchor="t"/>
          <a:lstStyle/>
          <a:p>
            <a:pPr>
              <a:lnSpc>
                <a:spcPts val="2250"/>
              </a:lnSpc>
            </a:pPr>
            <a:r>
              <a:rPr lang="en-US" b="1" dirty="0">
                <a:solidFill>
                  <a:srgbClr val="333F70"/>
                </a:solidFill>
                <a:latin typeface="Unbounded Bold" pitchFamily="34" charset="0"/>
                <a:ea typeface="Unbounded Bold" pitchFamily="34" charset="-122"/>
                <a:cs typeface="Unbounded Bold" pitchFamily="34" charset="-120"/>
              </a:rPr>
              <a:t>Moral Conflicts</a:t>
            </a:r>
            <a:endParaRPr lang="en-US" dirty="0"/>
          </a:p>
        </p:txBody>
      </p:sp>
      <p:sp>
        <p:nvSpPr>
          <p:cNvPr id="6" name="Text 3"/>
          <p:cNvSpPr/>
          <p:nvPr/>
        </p:nvSpPr>
        <p:spPr>
          <a:xfrm>
            <a:off x="5412582" y="3118942"/>
            <a:ext cx="2685058" cy="1186657"/>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Situations where research actions contradict established moral principles or societal values.</a:t>
            </a:r>
            <a:endParaRPr lang="en-US" sz="1500" dirty="0"/>
          </a:p>
        </p:txBody>
      </p:sp>
      <p:sp>
        <p:nvSpPr>
          <p:cNvPr id="7" name="Shape 4"/>
          <p:cNvSpPr/>
          <p:nvPr/>
        </p:nvSpPr>
        <p:spPr>
          <a:xfrm>
            <a:off x="8474671" y="2526308"/>
            <a:ext cx="3068439" cy="2260699"/>
          </a:xfrm>
          <a:prstGeom prst="roundRect">
            <a:avLst>
              <a:gd name="adj" fmla="val 3445"/>
            </a:avLst>
          </a:prstGeom>
          <a:solidFill>
            <a:srgbClr val="D6F5EE"/>
          </a:solidFill>
          <a:ln w="7620">
            <a:solidFill>
              <a:srgbClr val="BCDBD4"/>
            </a:solidFill>
            <a:prstDash val="solid"/>
          </a:ln>
        </p:spPr>
      </p:sp>
      <p:sp>
        <p:nvSpPr>
          <p:cNvPr id="8" name="Text 5"/>
          <p:cNvSpPr/>
          <p:nvPr/>
        </p:nvSpPr>
        <p:spPr>
          <a:xfrm>
            <a:off x="8666361" y="2717999"/>
            <a:ext cx="2685058" cy="579438"/>
          </a:xfrm>
          <a:prstGeom prst="rect">
            <a:avLst/>
          </a:prstGeom>
          <a:noFill/>
          <a:ln/>
        </p:spPr>
        <p:txBody>
          <a:bodyPr wrap="square" lIns="0" tIns="0" rIns="0" bIns="0" rtlCol="0" anchor="t"/>
          <a:lstStyle/>
          <a:p>
            <a:pPr>
              <a:lnSpc>
                <a:spcPts val="2250"/>
              </a:lnSpc>
            </a:pPr>
            <a:r>
              <a:rPr lang="en-US" b="1" dirty="0">
                <a:solidFill>
                  <a:srgbClr val="333F70"/>
                </a:solidFill>
                <a:latin typeface="Unbounded Bold" pitchFamily="34" charset="0"/>
                <a:ea typeface="Unbounded Bold" pitchFamily="34" charset="-122"/>
                <a:cs typeface="Unbounded Bold" pitchFamily="34" charset="-120"/>
              </a:rPr>
              <a:t>Dual Responsibility</a:t>
            </a:r>
            <a:endParaRPr lang="en-US" dirty="0"/>
          </a:p>
        </p:txBody>
      </p:sp>
      <p:sp>
        <p:nvSpPr>
          <p:cNvPr id="9" name="Text 6"/>
          <p:cNvSpPr/>
          <p:nvPr/>
        </p:nvSpPr>
        <p:spPr>
          <a:xfrm>
            <a:off x="8666361" y="3408660"/>
            <a:ext cx="2685058" cy="1186657"/>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Both individuals and organizations bear ethical obligations in research conduct.</a:t>
            </a:r>
            <a:endParaRPr lang="en-US" sz="1500" dirty="0"/>
          </a:p>
        </p:txBody>
      </p:sp>
      <p:sp>
        <p:nvSpPr>
          <p:cNvPr id="10" name="Shape 7"/>
          <p:cNvSpPr/>
          <p:nvPr/>
        </p:nvSpPr>
        <p:spPr>
          <a:xfrm>
            <a:off x="5220891" y="4972348"/>
            <a:ext cx="6322219" cy="1377653"/>
          </a:xfrm>
          <a:prstGeom prst="roundRect">
            <a:avLst>
              <a:gd name="adj" fmla="val 5653"/>
            </a:avLst>
          </a:prstGeom>
          <a:solidFill>
            <a:srgbClr val="D6F5EE"/>
          </a:solidFill>
          <a:ln w="7620">
            <a:solidFill>
              <a:srgbClr val="BCDBD4"/>
            </a:solidFill>
            <a:prstDash val="solid"/>
          </a:ln>
        </p:spPr>
      </p:sp>
      <p:sp>
        <p:nvSpPr>
          <p:cNvPr id="11" name="Text 8"/>
          <p:cNvSpPr/>
          <p:nvPr/>
        </p:nvSpPr>
        <p:spPr>
          <a:xfrm>
            <a:off x="5412582" y="5164039"/>
            <a:ext cx="3551634" cy="289719"/>
          </a:xfrm>
          <a:prstGeom prst="rect">
            <a:avLst/>
          </a:prstGeom>
          <a:noFill/>
          <a:ln/>
        </p:spPr>
        <p:txBody>
          <a:bodyPr wrap="none" lIns="0" tIns="0" rIns="0" bIns="0" rtlCol="0" anchor="t"/>
          <a:lstStyle/>
          <a:p>
            <a:pPr>
              <a:lnSpc>
                <a:spcPts val="2250"/>
              </a:lnSpc>
            </a:pPr>
            <a:r>
              <a:rPr lang="en-US" b="1" dirty="0">
                <a:solidFill>
                  <a:srgbClr val="333F70"/>
                </a:solidFill>
                <a:latin typeface="Unbounded Bold" pitchFamily="34" charset="0"/>
                <a:ea typeface="Unbounded Bold" pitchFamily="34" charset="-122"/>
                <a:cs typeface="Unbounded Bold" pitchFamily="34" charset="-120"/>
              </a:rPr>
              <a:t>Potential Consequences</a:t>
            </a:r>
            <a:endParaRPr lang="en-US" dirty="0"/>
          </a:p>
        </p:txBody>
      </p:sp>
      <p:sp>
        <p:nvSpPr>
          <p:cNvPr id="12" name="Text 9"/>
          <p:cNvSpPr/>
          <p:nvPr/>
        </p:nvSpPr>
        <p:spPr>
          <a:xfrm>
            <a:off x="5412582" y="5564982"/>
            <a:ext cx="5938838" cy="593328"/>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Regulatory penalties, damaged reputation, and stakeholder backlash from ethical breaches.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9069" y="503337"/>
            <a:ext cx="10913864" cy="1141214"/>
          </a:xfrm>
          <a:prstGeom prst="rect">
            <a:avLst/>
          </a:prstGeom>
          <a:noFill/>
          <a:ln/>
        </p:spPr>
        <p:txBody>
          <a:bodyPr wrap="square" lIns="0" tIns="0" rIns="0" bIns="0" rtlCol="0" anchor="t"/>
          <a:lstStyle/>
          <a:p>
            <a:pPr>
              <a:lnSpc>
                <a:spcPts val="4458"/>
              </a:lnSpc>
            </a:pPr>
            <a:r>
              <a:rPr lang="en-US" sz="3600" b="1" dirty="0">
                <a:solidFill>
                  <a:srgbClr val="333F70"/>
                </a:solidFill>
                <a:latin typeface="Unbounded Bold" pitchFamily="34" charset="0"/>
                <a:ea typeface="Unbounded Bold" pitchFamily="34" charset="-122"/>
                <a:cs typeface="Unbounded Bold" pitchFamily="34" charset="-120"/>
              </a:rPr>
              <a:t>Key Ethical Principles in Business Research</a:t>
            </a:r>
            <a:endParaRPr lang="en-US" sz="3600" dirty="0"/>
          </a:p>
        </p:txBody>
      </p:sp>
      <p:pic>
        <p:nvPicPr>
          <p:cNvPr id="3" name="Image 0" descr="preencoded.png"/>
          <p:cNvPicPr>
            <a:picLocks noChangeAspect="1"/>
          </p:cNvPicPr>
          <p:nvPr/>
        </p:nvPicPr>
        <p:blipFill>
          <a:blip r:embed="rId3"/>
          <a:stretch>
            <a:fillRect/>
          </a:stretch>
        </p:blipFill>
        <p:spPr>
          <a:xfrm>
            <a:off x="2692202" y="2009676"/>
            <a:ext cx="1350566" cy="1052017"/>
          </a:xfrm>
          <a:prstGeom prst="rect">
            <a:avLst/>
          </a:prstGeom>
        </p:spPr>
      </p:pic>
      <p:pic>
        <p:nvPicPr>
          <p:cNvPr id="4" name="Image 1" descr="preencoded.png"/>
          <p:cNvPicPr>
            <a:picLocks noChangeAspect="1"/>
          </p:cNvPicPr>
          <p:nvPr/>
        </p:nvPicPr>
        <p:blipFill>
          <a:blip r:embed="rId4"/>
          <a:stretch>
            <a:fillRect/>
          </a:stretch>
        </p:blipFill>
        <p:spPr>
          <a:xfrm>
            <a:off x="3239095" y="2505571"/>
            <a:ext cx="256778" cy="320973"/>
          </a:xfrm>
          <a:prstGeom prst="rect">
            <a:avLst/>
          </a:prstGeom>
        </p:spPr>
      </p:pic>
      <p:sp>
        <p:nvSpPr>
          <p:cNvPr id="5" name="Text 1"/>
          <p:cNvSpPr/>
          <p:nvPr/>
        </p:nvSpPr>
        <p:spPr>
          <a:xfrm>
            <a:off x="4225331" y="2192239"/>
            <a:ext cx="2607469" cy="285254"/>
          </a:xfrm>
          <a:prstGeom prst="rect">
            <a:avLst/>
          </a:prstGeom>
          <a:noFill/>
          <a:ln/>
        </p:spPr>
        <p:txBody>
          <a:bodyPr wrap="none" lIns="0" tIns="0" rIns="0" bIns="0" rtlCol="0" anchor="t"/>
          <a:lstStyle/>
          <a:p>
            <a:pPr>
              <a:lnSpc>
                <a:spcPts val="2208"/>
              </a:lnSpc>
            </a:pPr>
            <a:r>
              <a:rPr lang="en-US" b="1" dirty="0">
                <a:solidFill>
                  <a:srgbClr val="333F70"/>
                </a:solidFill>
                <a:latin typeface="Unbounded Bold" pitchFamily="34" charset="0"/>
                <a:ea typeface="Unbounded Bold" pitchFamily="34" charset="-122"/>
                <a:cs typeface="Unbounded Bold" pitchFamily="34" charset="-120"/>
              </a:rPr>
              <a:t>Informed Consent</a:t>
            </a:r>
            <a:endParaRPr lang="en-US" dirty="0"/>
          </a:p>
        </p:txBody>
      </p:sp>
      <p:sp>
        <p:nvSpPr>
          <p:cNvPr id="6" name="Text 2"/>
          <p:cNvSpPr/>
          <p:nvPr/>
        </p:nvSpPr>
        <p:spPr>
          <a:xfrm>
            <a:off x="4225330" y="2587030"/>
            <a:ext cx="3559572" cy="292100"/>
          </a:xfrm>
          <a:prstGeom prst="rect">
            <a:avLst/>
          </a:prstGeom>
          <a:noFill/>
          <a:ln/>
        </p:spPr>
        <p:txBody>
          <a:bodyPr wrap="none" lIns="0" tIns="0" rIns="0" bIns="0" rtlCol="0" anchor="t"/>
          <a:lstStyle/>
          <a:p>
            <a:pPr>
              <a:lnSpc>
                <a:spcPts val="2292"/>
              </a:lnSpc>
            </a:pPr>
            <a:r>
              <a:rPr lang="en-US" sz="1400" dirty="0">
                <a:solidFill>
                  <a:srgbClr val="333F70"/>
                </a:solidFill>
                <a:latin typeface="Open Sans" pitchFamily="34" charset="0"/>
                <a:ea typeface="Open Sans" pitchFamily="34" charset="-122"/>
                <a:cs typeface="Open Sans" pitchFamily="34" charset="-120"/>
              </a:rPr>
              <a:t>Full disclosure and voluntary participation</a:t>
            </a:r>
            <a:endParaRPr lang="en-US" sz="1400" dirty="0"/>
          </a:p>
        </p:txBody>
      </p:sp>
      <p:sp>
        <p:nvSpPr>
          <p:cNvPr id="7" name="Shape 3"/>
          <p:cNvSpPr/>
          <p:nvPr/>
        </p:nvSpPr>
        <p:spPr>
          <a:xfrm>
            <a:off x="4088408" y="3071813"/>
            <a:ext cx="7418883" cy="12700"/>
          </a:xfrm>
          <a:prstGeom prst="roundRect">
            <a:avLst>
              <a:gd name="adj" fmla="val 603870"/>
            </a:avLst>
          </a:prstGeom>
          <a:solidFill>
            <a:srgbClr val="BCDBD4"/>
          </a:solidFill>
          <a:ln/>
        </p:spPr>
      </p:sp>
      <p:pic>
        <p:nvPicPr>
          <p:cNvPr id="8" name="Image 2" descr="preencoded.png"/>
          <p:cNvPicPr>
            <a:picLocks noChangeAspect="1"/>
          </p:cNvPicPr>
          <p:nvPr/>
        </p:nvPicPr>
        <p:blipFill>
          <a:blip r:embed="rId5"/>
          <a:stretch>
            <a:fillRect/>
          </a:stretch>
        </p:blipFill>
        <p:spPr>
          <a:xfrm>
            <a:off x="2016919" y="3107332"/>
            <a:ext cx="2701132" cy="1052017"/>
          </a:xfrm>
          <a:prstGeom prst="rect">
            <a:avLst/>
          </a:prstGeom>
        </p:spPr>
      </p:pic>
      <p:pic>
        <p:nvPicPr>
          <p:cNvPr id="9" name="Image 3" descr="preencoded.png"/>
          <p:cNvPicPr>
            <a:picLocks noChangeAspect="1"/>
          </p:cNvPicPr>
          <p:nvPr/>
        </p:nvPicPr>
        <p:blipFill>
          <a:blip r:embed="rId6"/>
          <a:stretch>
            <a:fillRect/>
          </a:stretch>
        </p:blipFill>
        <p:spPr>
          <a:xfrm>
            <a:off x="3239095" y="3472855"/>
            <a:ext cx="256778" cy="320973"/>
          </a:xfrm>
          <a:prstGeom prst="rect">
            <a:avLst/>
          </a:prstGeom>
        </p:spPr>
      </p:pic>
      <p:sp>
        <p:nvSpPr>
          <p:cNvPr id="10" name="Text 4"/>
          <p:cNvSpPr/>
          <p:nvPr/>
        </p:nvSpPr>
        <p:spPr>
          <a:xfrm>
            <a:off x="4900613" y="3289896"/>
            <a:ext cx="3562548" cy="285254"/>
          </a:xfrm>
          <a:prstGeom prst="rect">
            <a:avLst/>
          </a:prstGeom>
          <a:noFill/>
          <a:ln/>
        </p:spPr>
        <p:txBody>
          <a:bodyPr wrap="none" lIns="0" tIns="0" rIns="0" bIns="0" rtlCol="0" anchor="t"/>
          <a:lstStyle/>
          <a:p>
            <a:pPr>
              <a:lnSpc>
                <a:spcPts val="2208"/>
              </a:lnSpc>
            </a:pPr>
            <a:r>
              <a:rPr lang="en-US" b="1" dirty="0">
                <a:solidFill>
                  <a:srgbClr val="333F70"/>
                </a:solidFill>
                <a:latin typeface="Unbounded Bold" pitchFamily="34" charset="0"/>
                <a:ea typeface="Unbounded Bold" pitchFamily="34" charset="-122"/>
                <a:cs typeface="Unbounded Bold" pitchFamily="34" charset="-120"/>
              </a:rPr>
              <a:t>Privacy &amp; Confidentiality</a:t>
            </a:r>
            <a:endParaRPr lang="en-US" dirty="0"/>
          </a:p>
        </p:txBody>
      </p:sp>
      <p:sp>
        <p:nvSpPr>
          <p:cNvPr id="11" name="Text 5"/>
          <p:cNvSpPr/>
          <p:nvPr/>
        </p:nvSpPr>
        <p:spPr>
          <a:xfrm>
            <a:off x="4900613" y="3684687"/>
            <a:ext cx="3562548" cy="292100"/>
          </a:xfrm>
          <a:prstGeom prst="rect">
            <a:avLst/>
          </a:prstGeom>
          <a:noFill/>
          <a:ln/>
        </p:spPr>
        <p:txBody>
          <a:bodyPr wrap="none" lIns="0" tIns="0" rIns="0" bIns="0" rtlCol="0" anchor="t"/>
          <a:lstStyle/>
          <a:p>
            <a:pPr>
              <a:lnSpc>
                <a:spcPts val="2292"/>
              </a:lnSpc>
            </a:pPr>
            <a:r>
              <a:rPr lang="en-US" sz="1400" dirty="0">
                <a:solidFill>
                  <a:srgbClr val="333F70"/>
                </a:solidFill>
                <a:latin typeface="Open Sans" pitchFamily="34" charset="0"/>
                <a:ea typeface="Open Sans" pitchFamily="34" charset="-122"/>
                <a:cs typeface="Open Sans" pitchFamily="34" charset="-120"/>
              </a:rPr>
              <a:t>Protecting participant data and identities</a:t>
            </a:r>
            <a:endParaRPr lang="en-US" sz="1400" dirty="0"/>
          </a:p>
        </p:txBody>
      </p:sp>
      <p:sp>
        <p:nvSpPr>
          <p:cNvPr id="12" name="Shape 6"/>
          <p:cNvSpPr/>
          <p:nvPr/>
        </p:nvSpPr>
        <p:spPr>
          <a:xfrm>
            <a:off x="4763691" y="4169469"/>
            <a:ext cx="6743601" cy="12700"/>
          </a:xfrm>
          <a:prstGeom prst="roundRect">
            <a:avLst>
              <a:gd name="adj" fmla="val 603870"/>
            </a:avLst>
          </a:prstGeom>
          <a:solidFill>
            <a:srgbClr val="BCDBD4"/>
          </a:solidFill>
          <a:ln/>
        </p:spPr>
      </p:sp>
      <p:pic>
        <p:nvPicPr>
          <p:cNvPr id="13" name="Image 4" descr="preencoded.png"/>
          <p:cNvPicPr>
            <a:picLocks noChangeAspect="1"/>
          </p:cNvPicPr>
          <p:nvPr/>
        </p:nvPicPr>
        <p:blipFill>
          <a:blip r:embed="rId7"/>
          <a:stretch>
            <a:fillRect/>
          </a:stretch>
        </p:blipFill>
        <p:spPr>
          <a:xfrm>
            <a:off x="1341636" y="4204990"/>
            <a:ext cx="4051697" cy="1052017"/>
          </a:xfrm>
          <a:prstGeom prst="rect">
            <a:avLst/>
          </a:prstGeom>
        </p:spPr>
      </p:pic>
      <p:pic>
        <p:nvPicPr>
          <p:cNvPr id="14" name="Image 5" descr="preencoded.png"/>
          <p:cNvPicPr>
            <a:picLocks noChangeAspect="1"/>
          </p:cNvPicPr>
          <p:nvPr/>
        </p:nvPicPr>
        <p:blipFill>
          <a:blip r:embed="rId8"/>
          <a:stretch>
            <a:fillRect/>
          </a:stretch>
        </p:blipFill>
        <p:spPr>
          <a:xfrm>
            <a:off x="3238996" y="4570512"/>
            <a:ext cx="256778" cy="320973"/>
          </a:xfrm>
          <a:prstGeom prst="rect">
            <a:avLst/>
          </a:prstGeom>
        </p:spPr>
      </p:pic>
      <p:sp>
        <p:nvSpPr>
          <p:cNvPr id="15" name="Text 7"/>
          <p:cNvSpPr/>
          <p:nvPr/>
        </p:nvSpPr>
        <p:spPr>
          <a:xfrm>
            <a:off x="5575895" y="4387553"/>
            <a:ext cx="2282428" cy="285254"/>
          </a:xfrm>
          <a:prstGeom prst="rect">
            <a:avLst/>
          </a:prstGeom>
          <a:noFill/>
          <a:ln/>
        </p:spPr>
        <p:txBody>
          <a:bodyPr wrap="none" lIns="0" tIns="0" rIns="0" bIns="0" rtlCol="0" anchor="t"/>
          <a:lstStyle/>
          <a:p>
            <a:pPr>
              <a:lnSpc>
                <a:spcPts val="2208"/>
              </a:lnSpc>
            </a:pPr>
            <a:r>
              <a:rPr lang="en-US" b="1" dirty="0">
                <a:solidFill>
                  <a:srgbClr val="333F70"/>
                </a:solidFill>
                <a:latin typeface="Unbounded Bold" pitchFamily="34" charset="0"/>
                <a:ea typeface="Unbounded Bold" pitchFamily="34" charset="-122"/>
                <a:cs typeface="Unbounded Bold" pitchFamily="34" charset="-120"/>
              </a:rPr>
              <a:t>Truthfulness</a:t>
            </a:r>
            <a:endParaRPr lang="en-US" dirty="0"/>
          </a:p>
        </p:txBody>
      </p:sp>
      <p:sp>
        <p:nvSpPr>
          <p:cNvPr id="16" name="Text 8"/>
          <p:cNvSpPr/>
          <p:nvPr/>
        </p:nvSpPr>
        <p:spPr>
          <a:xfrm>
            <a:off x="5575896" y="4782344"/>
            <a:ext cx="4043759" cy="292100"/>
          </a:xfrm>
          <a:prstGeom prst="rect">
            <a:avLst/>
          </a:prstGeom>
          <a:noFill/>
          <a:ln/>
        </p:spPr>
        <p:txBody>
          <a:bodyPr wrap="none" lIns="0" tIns="0" rIns="0" bIns="0" rtlCol="0" anchor="t"/>
          <a:lstStyle/>
          <a:p>
            <a:pPr>
              <a:lnSpc>
                <a:spcPts val="2292"/>
              </a:lnSpc>
            </a:pPr>
            <a:r>
              <a:rPr lang="en-US" sz="1400" dirty="0">
                <a:solidFill>
                  <a:srgbClr val="333F70"/>
                </a:solidFill>
                <a:latin typeface="Open Sans" pitchFamily="34" charset="0"/>
                <a:ea typeface="Open Sans" pitchFamily="34" charset="-122"/>
                <a:cs typeface="Open Sans" pitchFamily="34" charset="-120"/>
              </a:rPr>
              <a:t>Honest representation of methods and findings</a:t>
            </a:r>
            <a:endParaRPr lang="en-US" sz="1400" dirty="0"/>
          </a:p>
        </p:txBody>
      </p:sp>
      <p:sp>
        <p:nvSpPr>
          <p:cNvPr id="17" name="Shape 9"/>
          <p:cNvSpPr/>
          <p:nvPr/>
        </p:nvSpPr>
        <p:spPr>
          <a:xfrm>
            <a:off x="5438974" y="5267127"/>
            <a:ext cx="6068318" cy="12700"/>
          </a:xfrm>
          <a:prstGeom prst="roundRect">
            <a:avLst>
              <a:gd name="adj" fmla="val 603870"/>
            </a:avLst>
          </a:prstGeom>
          <a:solidFill>
            <a:srgbClr val="BCDBD4"/>
          </a:solidFill>
          <a:ln/>
        </p:spPr>
      </p:sp>
      <p:pic>
        <p:nvPicPr>
          <p:cNvPr id="18" name="Image 6" descr="preencoded.png"/>
          <p:cNvPicPr>
            <a:picLocks noChangeAspect="1"/>
          </p:cNvPicPr>
          <p:nvPr/>
        </p:nvPicPr>
        <p:blipFill>
          <a:blip r:embed="rId9"/>
          <a:stretch>
            <a:fillRect/>
          </a:stretch>
        </p:blipFill>
        <p:spPr>
          <a:xfrm>
            <a:off x="666254" y="5302647"/>
            <a:ext cx="5402362" cy="1052017"/>
          </a:xfrm>
          <a:prstGeom prst="rect">
            <a:avLst/>
          </a:prstGeom>
        </p:spPr>
      </p:pic>
      <p:pic>
        <p:nvPicPr>
          <p:cNvPr id="19" name="Image 7" descr="preencoded.png"/>
          <p:cNvPicPr>
            <a:picLocks noChangeAspect="1"/>
          </p:cNvPicPr>
          <p:nvPr/>
        </p:nvPicPr>
        <p:blipFill>
          <a:blip r:embed="rId10"/>
          <a:stretch>
            <a:fillRect/>
          </a:stretch>
        </p:blipFill>
        <p:spPr>
          <a:xfrm>
            <a:off x="3238996" y="5668169"/>
            <a:ext cx="256778" cy="320973"/>
          </a:xfrm>
          <a:prstGeom prst="rect">
            <a:avLst/>
          </a:prstGeom>
        </p:spPr>
      </p:pic>
      <p:sp>
        <p:nvSpPr>
          <p:cNvPr id="20" name="Text 10"/>
          <p:cNvSpPr/>
          <p:nvPr/>
        </p:nvSpPr>
        <p:spPr>
          <a:xfrm>
            <a:off x="6251178" y="5485210"/>
            <a:ext cx="2435225" cy="285254"/>
          </a:xfrm>
          <a:prstGeom prst="rect">
            <a:avLst/>
          </a:prstGeom>
          <a:noFill/>
          <a:ln/>
        </p:spPr>
        <p:txBody>
          <a:bodyPr wrap="none" lIns="0" tIns="0" rIns="0" bIns="0" rtlCol="0" anchor="t"/>
          <a:lstStyle/>
          <a:p>
            <a:pPr>
              <a:lnSpc>
                <a:spcPts val="2208"/>
              </a:lnSpc>
            </a:pPr>
            <a:r>
              <a:rPr lang="en-US" b="1" dirty="0">
                <a:solidFill>
                  <a:srgbClr val="333F70"/>
                </a:solidFill>
                <a:latin typeface="Unbounded Bold" pitchFamily="34" charset="0"/>
                <a:ea typeface="Unbounded Bold" pitchFamily="34" charset="-122"/>
                <a:cs typeface="Unbounded Bold" pitchFamily="34" charset="-120"/>
              </a:rPr>
              <a:t>Non-maleficence</a:t>
            </a:r>
            <a:endParaRPr lang="en-US" dirty="0"/>
          </a:p>
        </p:txBody>
      </p:sp>
      <p:sp>
        <p:nvSpPr>
          <p:cNvPr id="21" name="Text 11"/>
          <p:cNvSpPr/>
          <p:nvPr/>
        </p:nvSpPr>
        <p:spPr>
          <a:xfrm>
            <a:off x="6251178" y="5880001"/>
            <a:ext cx="2698750" cy="292100"/>
          </a:xfrm>
          <a:prstGeom prst="rect">
            <a:avLst/>
          </a:prstGeom>
          <a:noFill/>
          <a:ln/>
        </p:spPr>
        <p:txBody>
          <a:bodyPr wrap="none" lIns="0" tIns="0" rIns="0" bIns="0" rtlCol="0" anchor="t"/>
          <a:lstStyle/>
          <a:p>
            <a:pPr>
              <a:lnSpc>
                <a:spcPts val="2292"/>
              </a:lnSpc>
            </a:pPr>
            <a:r>
              <a:rPr lang="en-US" sz="1400" dirty="0">
                <a:solidFill>
                  <a:srgbClr val="333F70"/>
                </a:solidFill>
                <a:latin typeface="Open Sans" pitchFamily="34" charset="0"/>
                <a:ea typeface="Open Sans" pitchFamily="34" charset="-122"/>
                <a:cs typeface="Open Sans" pitchFamily="34" charset="-120"/>
              </a:rPr>
              <a:t>Preventing harm to participants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42591"/>
            <a:ext cx="8904387" cy="590649"/>
          </a:xfrm>
          <a:prstGeom prst="rect">
            <a:avLst/>
          </a:prstGeom>
          <a:noFill/>
          <a:ln/>
        </p:spPr>
        <p:txBody>
          <a:bodyPr wrap="none" lIns="0" tIns="0" rIns="0" bIns="0" rtlCol="0" anchor="t"/>
          <a:lstStyle/>
          <a:p>
            <a:pPr>
              <a:lnSpc>
                <a:spcPts val="4625"/>
              </a:lnSpc>
            </a:pPr>
            <a:r>
              <a:rPr lang="en-US" sz="3700" b="1" dirty="0">
                <a:solidFill>
                  <a:srgbClr val="333F70"/>
                </a:solidFill>
                <a:latin typeface="Unbounded Bold" pitchFamily="34" charset="0"/>
                <a:ea typeface="Unbounded Bold" pitchFamily="34" charset="-122"/>
                <a:cs typeface="Unbounded Bold" pitchFamily="34" charset="-120"/>
              </a:rPr>
              <a:t>Stakeholders and Their Rights</a:t>
            </a:r>
            <a:endParaRPr lang="en-US" sz="3700" dirty="0"/>
          </a:p>
        </p:txBody>
      </p:sp>
      <p:sp>
        <p:nvSpPr>
          <p:cNvPr id="3" name="Text 1"/>
          <p:cNvSpPr/>
          <p:nvPr/>
        </p:nvSpPr>
        <p:spPr>
          <a:xfrm>
            <a:off x="1547714" y="2167334"/>
            <a:ext cx="2362696" cy="295275"/>
          </a:xfrm>
          <a:prstGeom prst="rect">
            <a:avLst/>
          </a:prstGeom>
          <a:noFill/>
          <a:ln/>
        </p:spPr>
        <p:txBody>
          <a:bodyPr wrap="none" lIns="0" tIns="0" rIns="0" bIns="0" rtlCol="0" anchor="t"/>
          <a:lstStyle/>
          <a:p>
            <a:pPr algn="r">
              <a:lnSpc>
                <a:spcPts val="2292"/>
              </a:lnSpc>
            </a:pPr>
            <a:r>
              <a:rPr lang="en-US" b="1" dirty="0">
                <a:solidFill>
                  <a:srgbClr val="333F70"/>
                </a:solidFill>
                <a:latin typeface="Unbounded Bold" pitchFamily="34" charset="0"/>
                <a:ea typeface="Unbounded Bold" pitchFamily="34" charset="-122"/>
                <a:cs typeface="Unbounded Bold" pitchFamily="34" charset="-120"/>
              </a:rPr>
              <a:t>Respondents</a:t>
            </a:r>
            <a:endParaRPr lang="en-US" dirty="0"/>
          </a:p>
        </p:txBody>
      </p:sp>
      <p:sp>
        <p:nvSpPr>
          <p:cNvPr id="4" name="Text 2"/>
          <p:cNvSpPr/>
          <p:nvPr/>
        </p:nvSpPr>
        <p:spPr>
          <a:xfrm>
            <a:off x="661492" y="2576017"/>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Data privacy protection</a:t>
            </a:r>
            <a:endParaRPr lang="en-US" sz="1500" dirty="0"/>
          </a:p>
        </p:txBody>
      </p:sp>
      <p:sp>
        <p:nvSpPr>
          <p:cNvPr id="5" name="Text 3"/>
          <p:cNvSpPr/>
          <p:nvPr/>
        </p:nvSpPr>
        <p:spPr>
          <a:xfrm>
            <a:off x="661492" y="2944516"/>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Accurate study information</a:t>
            </a:r>
            <a:endParaRPr lang="en-US" sz="1500" dirty="0"/>
          </a:p>
        </p:txBody>
      </p:sp>
      <p:sp>
        <p:nvSpPr>
          <p:cNvPr id="6" name="Text 4"/>
          <p:cNvSpPr/>
          <p:nvPr/>
        </p:nvSpPr>
        <p:spPr>
          <a:xfrm>
            <a:off x="661492" y="3313014"/>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Right to withdraw</a:t>
            </a:r>
            <a:endParaRPr lang="en-US" sz="1500" dirty="0"/>
          </a:p>
        </p:txBody>
      </p:sp>
      <p:pic>
        <p:nvPicPr>
          <p:cNvPr id="7" name="Image 0" descr="preencoded.png"/>
          <p:cNvPicPr>
            <a:picLocks noChangeAspect="1"/>
          </p:cNvPicPr>
          <p:nvPr/>
        </p:nvPicPr>
        <p:blipFill>
          <a:blip r:embed="rId3"/>
          <a:stretch>
            <a:fillRect/>
          </a:stretch>
        </p:blipFill>
        <p:spPr>
          <a:xfrm>
            <a:off x="4193878" y="2011264"/>
            <a:ext cx="3804146" cy="3804146"/>
          </a:xfrm>
          <a:prstGeom prst="rect">
            <a:avLst/>
          </a:prstGeom>
        </p:spPr>
      </p:pic>
      <p:pic>
        <p:nvPicPr>
          <p:cNvPr id="8" name="Image 1" descr="preencoded.png"/>
          <p:cNvPicPr>
            <a:picLocks noChangeAspect="1"/>
          </p:cNvPicPr>
          <p:nvPr/>
        </p:nvPicPr>
        <p:blipFill>
          <a:blip r:embed="rId4"/>
          <a:stretch>
            <a:fillRect/>
          </a:stretch>
        </p:blipFill>
        <p:spPr>
          <a:xfrm>
            <a:off x="5013028" y="2794992"/>
            <a:ext cx="282773" cy="353517"/>
          </a:xfrm>
          <a:prstGeom prst="rect">
            <a:avLst/>
          </a:prstGeom>
        </p:spPr>
      </p:pic>
      <p:sp>
        <p:nvSpPr>
          <p:cNvPr id="9" name="Text 5"/>
          <p:cNvSpPr/>
          <p:nvPr/>
        </p:nvSpPr>
        <p:spPr>
          <a:xfrm>
            <a:off x="8281492" y="2167334"/>
            <a:ext cx="2362696" cy="295275"/>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Researchers</a:t>
            </a:r>
            <a:endParaRPr lang="en-US" dirty="0"/>
          </a:p>
        </p:txBody>
      </p:sp>
      <p:sp>
        <p:nvSpPr>
          <p:cNvPr id="10" name="Text 6"/>
          <p:cNvSpPr/>
          <p:nvPr/>
        </p:nvSpPr>
        <p:spPr>
          <a:xfrm>
            <a:off x="8281492" y="2576017"/>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Professional standards</a:t>
            </a:r>
            <a:endParaRPr lang="en-US" sz="1500" dirty="0"/>
          </a:p>
        </p:txBody>
      </p:sp>
      <p:sp>
        <p:nvSpPr>
          <p:cNvPr id="11" name="Text 7"/>
          <p:cNvSpPr/>
          <p:nvPr/>
        </p:nvSpPr>
        <p:spPr>
          <a:xfrm>
            <a:off x="8281492" y="2944516"/>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Methodological integrity</a:t>
            </a:r>
            <a:endParaRPr lang="en-US" sz="1500" dirty="0"/>
          </a:p>
        </p:txBody>
      </p:sp>
      <p:sp>
        <p:nvSpPr>
          <p:cNvPr id="12" name="Text 8"/>
          <p:cNvSpPr/>
          <p:nvPr/>
        </p:nvSpPr>
        <p:spPr>
          <a:xfrm>
            <a:off x="8281492" y="3313014"/>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Objective analysis</a:t>
            </a:r>
            <a:endParaRPr lang="en-US" sz="1500" dirty="0"/>
          </a:p>
        </p:txBody>
      </p:sp>
      <p:pic>
        <p:nvPicPr>
          <p:cNvPr id="13" name="Image 2" descr="preencoded.png"/>
          <p:cNvPicPr>
            <a:picLocks noChangeAspect="1"/>
          </p:cNvPicPr>
          <p:nvPr/>
        </p:nvPicPr>
        <p:blipFill>
          <a:blip r:embed="rId5"/>
          <a:stretch>
            <a:fillRect/>
          </a:stretch>
        </p:blipFill>
        <p:spPr>
          <a:xfrm>
            <a:off x="4193878" y="2011264"/>
            <a:ext cx="3804146" cy="3804146"/>
          </a:xfrm>
          <a:prstGeom prst="rect">
            <a:avLst/>
          </a:prstGeom>
        </p:spPr>
      </p:pic>
      <p:pic>
        <p:nvPicPr>
          <p:cNvPr id="14" name="Image 3" descr="preencoded.png"/>
          <p:cNvPicPr>
            <a:picLocks noChangeAspect="1"/>
          </p:cNvPicPr>
          <p:nvPr/>
        </p:nvPicPr>
        <p:blipFill>
          <a:blip r:embed="rId6"/>
          <a:stretch>
            <a:fillRect/>
          </a:stretch>
        </p:blipFill>
        <p:spPr>
          <a:xfrm>
            <a:off x="6896001" y="2794992"/>
            <a:ext cx="282773" cy="353517"/>
          </a:xfrm>
          <a:prstGeom prst="rect">
            <a:avLst/>
          </a:prstGeom>
        </p:spPr>
      </p:pic>
      <p:sp>
        <p:nvSpPr>
          <p:cNvPr id="15" name="Text 9"/>
          <p:cNvSpPr/>
          <p:nvPr/>
        </p:nvSpPr>
        <p:spPr>
          <a:xfrm>
            <a:off x="8281492" y="4211142"/>
            <a:ext cx="2571651" cy="295275"/>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Sponsors/Clients</a:t>
            </a:r>
            <a:endParaRPr lang="en-US" dirty="0"/>
          </a:p>
        </p:txBody>
      </p:sp>
      <p:sp>
        <p:nvSpPr>
          <p:cNvPr id="16" name="Text 10"/>
          <p:cNvSpPr/>
          <p:nvPr/>
        </p:nvSpPr>
        <p:spPr>
          <a:xfrm>
            <a:off x="8281492" y="4619824"/>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Unbiased findings</a:t>
            </a:r>
            <a:endParaRPr lang="en-US" sz="1500" dirty="0"/>
          </a:p>
        </p:txBody>
      </p:sp>
      <p:sp>
        <p:nvSpPr>
          <p:cNvPr id="17" name="Text 11"/>
          <p:cNvSpPr/>
          <p:nvPr/>
        </p:nvSpPr>
        <p:spPr>
          <a:xfrm>
            <a:off x="8281492" y="4988322"/>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Resource accountability</a:t>
            </a:r>
            <a:endParaRPr lang="en-US" sz="1500" dirty="0"/>
          </a:p>
        </p:txBody>
      </p:sp>
      <p:sp>
        <p:nvSpPr>
          <p:cNvPr id="18" name="Text 12"/>
          <p:cNvSpPr/>
          <p:nvPr/>
        </p:nvSpPr>
        <p:spPr>
          <a:xfrm>
            <a:off x="8281492" y="5356821"/>
            <a:ext cx="32490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Contractual transparency</a:t>
            </a:r>
            <a:endParaRPr lang="en-US" sz="1500" dirty="0"/>
          </a:p>
        </p:txBody>
      </p:sp>
      <p:pic>
        <p:nvPicPr>
          <p:cNvPr id="19" name="Image 4" descr="preencoded.png"/>
          <p:cNvPicPr>
            <a:picLocks noChangeAspect="1"/>
          </p:cNvPicPr>
          <p:nvPr/>
        </p:nvPicPr>
        <p:blipFill>
          <a:blip r:embed="rId7"/>
          <a:stretch>
            <a:fillRect/>
          </a:stretch>
        </p:blipFill>
        <p:spPr>
          <a:xfrm>
            <a:off x="4193878" y="2011264"/>
            <a:ext cx="3804146" cy="3804146"/>
          </a:xfrm>
          <a:prstGeom prst="rect">
            <a:avLst/>
          </a:prstGeom>
        </p:spPr>
      </p:pic>
      <p:pic>
        <p:nvPicPr>
          <p:cNvPr id="20" name="Image 5" descr="preencoded.png"/>
          <p:cNvPicPr>
            <a:picLocks noChangeAspect="1"/>
          </p:cNvPicPr>
          <p:nvPr/>
        </p:nvPicPr>
        <p:blipFill>
          <a:blip r:embed="rId8"/>
          <a:stretch>
            <a:fillRect/>
          </a:stretch>
        </p:blipFill>
        <p:spPr>
          <a:xfrm>
            <a:off x="6896001" y="4677966"/>
            <a:ext cx="282773" cy="353517"/>
          </a:xfrm>
          <a:prstGeom prst="rect">
            <a:avLst/>
          </a:prstGeom>
        </p:spPr>
      </p:pic>
      <p:sp>
        <p:nvSpPr>
          <p:cNvPr id="21" name="Text 13"/>
          <p:cNvSpPr/>
          <p:nvPr/>
        </p:nvSpPr>
        <p:spPr>
          <a:xfrm>
            <a:off x="1547714" y="4211142"/>
            <a:ext cx="2362696" cy="295275"/>
          </a:xfrm>
          <a:prstGeom prst="rect">
            <a:avLst/>
          </a:prstGeom>
          <a:noFill/>
          <a:ln/>
        </p:spPr>
        <p:txBody>
          <a:bodyPr wrap="none" lIns="0" tIns="0" rIns="0" bIns="0" rtlCol="0" anchor="t"/>
          <a:lstStyle/>
          <a:p>
            <a:pPr algn="r">
              <a:lnSpc>
                <a:spcPts val="2292"/>
              </a:lnSpc>
            </a:pPr>
            <a:r>
              <a:rPr lang="en-US" b="1" dirty="0">
                <a:solidFill>
                  <a:srgbClr val="333F70"/>
                </a:solidFill>
                <a:latin typeface="Unbounded Bold" pitchFamily="34" charset="0"/>
                <a:ea typeface="Unbounded Bold" pitchFamily="34" charset="-122"/>
                <a:cs typeface="Unbounded Bold" pitchFamily="34" charset="-120"/>
              </a:rPr>
              <a:t>Society</a:t>
            </a:r>
            <a:endParaRPr lang="en-US" dirty="0"/>
          </a:p>
        </p:txBody>
      </p:sp>
      <p:sp>
        <p:nvSpPr>
          <p:cNvPr id="22" name="Text 14"/>
          <p:cNvSpPr/>
          <p:nvPr/>
        </p:nvSpPr>
        <p:spPr>
          <a:xfrm>
            <a:off x="661492" y="4619824"/>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Beneficial outcomes</a:t>
            </a:r>
            <a:endParaRPr lang="en-US" sz="1500" dirty="0"/>
          </a:p>
        </p:txBody>
      </p:sp>
      <p:sp>
        <p:nvSpPr>
          <p:cNvPr id="23" name="Text 15"/>
          <p:cNvSpPr/>
          <p:nvPr/>
        </p:nvSpPr>
        <p:spPr>
          <a:xfrm>
            <a:off x="661492" y="4988322"/>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Truth in reporting</a:t>
            </a:r>
            <a:endParaRPr lang="en-US" sz="1500" dirty="0"/>
          </a:p>
        </p:txBody>
      </p:sp>
      <p:sp>
        <p:nvSpPr>
          <p:cNvPr id="24" name="Text 16"/>
          <p:cNvSpPr/>
          <p:nvPr/>
        </p:nvSpPr>
        <p:spPr>
          <a:xfrm>
            <a:off x="661492" y="5356821"/>
            <a:ext cx="3248918" cy="302419"/>
          </a:xfrm>
          <a:prstGeom prst="rect">
            <a:avLst/>
          </a:prstGeom>
          <a:noFill/>
          <a:ln/>
        </p:spPr>
        <p:txBody>
          <a:bodyPr wrap="none" lIns="0" tIns="0" rIns="0" bIns="0" rtlCol="0" anchor="t"/>
          <a:lstStyle/>
          <a:p>
            <a:pPr marL="285739" indent="-285739">
              <a:lnSpc>
                <a:spcPts val="2375"/>
              </a:lnSpc>
              <a:buSzPct val="100000"/>
              <a:buChar char="•"/>
            </a:pPr>
            <a:r>
              <a:rPr lang="en-US" sz="1500" dirty="0">
                <a:solidFill>
                  <a:srgbClr val="333F70"/>
                </a:solidFill>
                <a:latin typeface="Open Sans" pitchFamily="34" charset="0"/>
                <a:ea typeface="Open Sans" pitchFamily="34" charset="-122"/>
                <a:cs typeface="Open Sans" pitchFamily="34" charset="-120"/>
              </a:rPr>
              <a:t>Responsible innovation</a:t>
            </a:r>
            <a:endParaRPr lang="en-US" sz="1500" dirty="0"/>
          </a:p>
        </p:txBody>
      </p:sp>
      <p:pic>
        <p:nvPicPr>
          <p:cNvPr id="25" name="Image 6" descr="preencoded.png"/>
          <p:cNvPicPr>
            <a:picLocks noChangeAspect="1"/>
          </p:cNvPicPr>
          <p:nvPr/>
        </p:nvPicPr>
        <p:blipFill>
          <a:blip r:embed="rId9"/>
          <a:stretch>
            <a:fillRect/>
          </a:stretch>
        </p:blipFill>
        <p:spPr>
          <a:xfrm>
            <a:off x="4193878" y="2011264"/>
            <a:ext cx="3804146" cy="3804146"/>
          </a:xfrm>
          <a:prstGeom prst="rect">
            <a:avLst/>
          </a:prstGeom>
        </p:spPr>
      </p:pic>
      <p:pic>
        <p:nvPicPr>
          <p:cNvPr id="26" name="Image 7" descr="preencoded.png"/>
          <p:cNvPicPr>
            <a:picLocks noChangeAspect="1"/>
          </p:cNvPicPr>
          <p:nvPr/>
        </p:nvPicPr>
        <p:blipFill>
          <a:blip r:embed="rId10"/>
          <a:stretch>
            <a:fillRect/>
          </a:stretch>
        </p:blipFill>
        <p:spPr>
          <a:xfrm>
            <a:off x="5013028" y="4677966"/>
            <a:ext cx="282773" cy="35351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142309" y="449659"/>
            <a:ext cx="6479382" cy="1018382"/>
          </a:xfrm>
          <a:prstGeom prst="rect">
            <a:avLst/>
          </a:prstGeom>
          <a:noFill/>
          <a:ln/>
        </p:spPr>
        <p:txBody>
          <a:bodyPr wrap="square" lIns="0" tIns="0" rIns="0" bIns="0" rtlCol="0" anchor="t"/>
          <a:lstStyle/>
          <a:p>
            <a:pPr>
              <a:lnSpc>
                <a:spcPts val="4000"/>
              </a:lnSpc>
            </a:pPr>
            <a:r>
              <a:rPr lang="en-US" sz="3200" b="1" dirty="0">
                <a:solidFill>
                  <a:srgbClr val="333F70"/>
                </a:solidFill>
                <a:latin typeface="Unbounded Bold" pitchFamily="34" charset="0"/>
                <a:ea typeface="Unbounded Bold" pitchFamily="34" charset="-122"/>
                <a:cs typeface="Unbounded Bold" pitchFamily="34" charset="-120"/>
              </a:rPr>
              <a:t>Common Unethical Practices</a:t>
            </a:r>
            <a:endParaRPr lang="en-US" sz="3200" dirty="0"/>
          </a:p>
        </p:txBody>
      </p:sp>
      <p:sp>
        <p:nvSpPr>
          <p:cNvPr id="4" name="Shape 1"/>
          <p:cNvSpPr/>
          <p:nvPr/>
        </p:nvSpPr>
        <p:spPr>
          <a:xfrm>
            <a:off x="5325567" y="1712417"/>
            <a:ext cx="19050" cy="4695825"/>
          </a:xfrm>
          <a:prstGeom prst="roundRect">
            <a:avLst>
              <a:gd name="adj" fmla="val 359281"/>
            </a:avLst>
          </a:prstGeom>
          <a:solidFill>
            <a:srgbClr val="BCDBD4"/>
          </a:solidFill>
          <a:ln/>
        </p:spPr>
      </p:sp>
      <p:sp>
        <p:nvSpPr>
          <p:cNvPr id="5" name="Shape 2"/>
          <p:cNvSpPr/>
          <p:nvPr/>
        </p:nvSpPr>
        <p:spPr>
          <a:xfrm>
            <a:off x="5489824" y="1886148"/>
            <a:ext cx="488851" cy="19050"/>
          </a:xfrm>
          <a:prstGeom prst="roundRect">
            <a:avLst>
              <a:gd name="adj" fmla="val 359281"/>
            </a:avLst>
          </a:prstGeom>
          <a:solidFill>
            <a:srgbClr val="BCDBD4"/>
          </a:solidFill>
          <a:ln/>
        </p:spPr>
      </p:sp>
      <p:sp>
        <p:nvSpPr>
          <p:cNvPr id="6" name="Shape 3"/>
          <p:cNvSpPr/>
          <p:nvPr/>
        </p:nvSpPr>
        <p:spPr>
          <a:xfrm>
            <a:off x="5142260" y="1712417"/>
            <a:ext cx="366613" cy="366613"/>
          </a:xfrm>
          <a:prstGeom prst="roundRect">
            <a:avLst>
              <a:gd name="adj" fmla="val 18669"/>
            </a:avLst>
          </a:prstGeom>
          <a:solidFill>
            <a:srgbClr val="D6F5EE"/>
          </a:solidFill>
          <a:ln w="7620">
            <a:solidFill>
              <a:srgbClr val="BCDBD4"/>
            </a:solidFill>
            <a:prstDash val="solid"/>
          </a:ln>
        </p:spPr>
      </p:sp>
      <p:pic>
        <p:nvPicPr>
          <p:cNvPr id="7" name="Image 1" descr="preencoded.png"/>
          <p:cNvPicPr>
            <a:picLocks noChangeAspect="1"/>
          </p:cNvPicPr>
          <p:nvPr/>
        </p:nvPicPr>
        <p:blipFill>
          <a:blip r:embed="rId4"/>
          <a:stretch>
            <a:fillRect/>
          </a:stretch>
        </p:blipFill>
        <p:spPr>
          <a:xfrm>
            <a:off x="5203330" y="1742926"/>
            <a:ext cx="244376" cy="305494"/>
          </a:xfrm>
          <a:prstGeom prst="rect">
            <a:avLst/>
          </a:prstGeom>
        </p:spPr>
      </p:pic>
      <p:sp>
        <p:nvSpPr>
          <p:cNvPr id="8" name="Text 4"/>
          <p:cNvSpPr/>
          <p:nvPr/>
        </p:nvSpPr>
        <p:spPr>
          <a:xfrm>
            <a:off x="6140351" y="1768376"/>
            <a:ext cx="3197919" cy="254595"/>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Confidentiality Breaches</a:t>
            </a:r>
            <a:endParaRPr lang="en-US" sz="1600" dirty="0"/>
          </a:p>
        </p:txBody>
      </p:sp>
      <p:sp>
        <p:nvSpPr>
          <p:cNvPr id="9" name="Text 5"/>
          <p:cNvSpPr/>
          <p:nvPr/>
        </p:nvSpPr>
        <p:spPr>
          <a:xfrm>
            <a:off x="6140351" y="2120702"/>
            <a:ext cx="5481340" cy="521295"/>
          </a:xfrm>
          <a:prstGeom prst="rect">
            <a:avLst/>
          </a:prstGeom>
          <a:noFill/>
          <a:ln/>
        </p:spPr>
        <p:txBody>
          <a:bodyPr wrap="square" lIns="0" tIns="0" rIns="0" bIns="0" rtlCol="0" anchor="t"/>
          <a:lstStyle/>
          <a:p>
            <a:pPr>
              <a:lnSpc>
                <a:spcPts val="2042"/>
              </a:lnSpc>
            </a:pPr>
            <a:r>
              <a:rPr lang="en-US" sz="1200" dirty="0">
                <a:solidFill>
                  <a:srgbClr val="333F70"/>
                </a:solidFill>
                <a:latin typeface="Open Sans" pitchFamily="34" charset="0"/>
                <a:ea typeface="Open Sans" pitchFamily="34" charset="-122"/>
                <a:cs typeface="Open Sans" pitchFamily="34" charset="-120"/>
              </a:rPr>
              <a:t>Sharing identifiable participant data without permission or proper anonymization.</a:t>
            </a:r>
            <a:endParaRPr lang="en-US" sz="1200" dirty="0"/>
          </a:p>
        </p:txBody>
      </p:sp>
      <p:sp>
        <p:nvSpPr>
          <p:cNvPr id="10" name="Shape 6"/>
          <p:cNvSpPr/>
          <p:nvPr/>
        </p:nvSpPr>
        <p:spPr>
          <a:xfrm>
            <a:off x="5489824" y="3141563"/>
            <a:ext cx="488851" cy="19050"/>
          </a:xfrm>
          <a:prstGeom prst="roundRect">
            <a:avLst>
              <a:gd name="adj" fmla="val 359281"/>
            </a:avLst>
          </a:prstGeom>
          <a:solidFill>
            <a:srgbClr val="BCDBD4"/>
          </a:solidFill>
          <a:ln/>
        </p:spPr>
      </p:sp>
      <p:sp>
        <p:nvSpPr>
          <p:cNvPr id="11" name="Shape 7"/>
          <p:cNvSpPr/>
          <p:nvPr/>
        </p:nvSpPr>
        <p:spPr>
          <a:xfrm>
            <a:off x="5142260" y="2967832"/>
            <a:ext cx="366613" cy="366613"/>
          </a:xfrm>
          <a:prstGeom prst="roundRect">
            <a:avLst>
              <a:gd name="adj" fmla="val 18669"/>
            </a:avLst>
          </a:prstGeom>
          <a:solidFill>
            <a:srgbClr val="D6F5EE"/>
          </a:solidFill>
          <a:ln w="7620">
            <a:solidFill>
              <a:srgbClr val="BCDBD4"/>
            </a:solidFill>
            <a:prstDash val="solid"/>
          </a:ln>
        </p:spPr>
      </p:sp>
      <p:pic>
        <p:nvPicPr>
          <p:cNvPr id="12" name="Image 2" descr="preencoded.png"/>
          <p:cNvPicPr>
            <a:picLocks noChangeAspect="1"/>
          </p:cNvPicPr>
          <p:nvPr/>
        </p:nvPicPr>
        <p:blipFill>
          <a:blip r:embed="rId5"/>
          <a:stretch>
            <a:fillRect/>
          </a:stretch>
        </p:blipFill>
        <p:spPr>
          <a:xfrm>
            <a:off x="5203330" y="2998341"/>
            <a:ext cx="244376" cy="305494"/>
          </a:xfrm>
          <a:prstGeom prst="rect">
            <a:avLst/>
          </a:prstGeom>
        </p:spPr>
      </p:pic>
      <p:sp>
        <p:nvSpPr>
          <p:cNvPr id="13" name="Text 8"/>
          <p:cNvSpPr/>
          <p:nvPr/>
        </p:nvSpPr>
        <p:spPr>
          <a:xfrm>
            <a:off x="6140351" y="3023791"/>
            <a:ext cx="2314377" cy="254595"/>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Data Falsification</a:t>
            </a:r>
            <a:endParaRPr lang="en-US" sz="1600" dirty="0"/>
          </a:p>
        </p:txBody>
      </p:sp>
      <p:sp>
        <p:nvSpPr>
          <p:cNvPr id="14" name="Text 9"/>
          <p:cNvSpPr/>
          <p:nvPr/>
        </p:nvSpPr>
        <p:spPr>
          <a:xfrm>
            <a:off x="6140351" y="3376117"/>
            <a:ext cx="5481340" cy="521295"/>
          </a:xfrm>
          <a:prstGeom prst="rect">
            <a:avLst/>
          </a:prstGeom>
          <a:noFill/>
          <a:ln/>
        </p:spPr>
        <p:txBody>
          <a:bodyPr wrap="square" lIns="0" tIns="0" rIns="0" bIns="0" rtlCol="0" anchor="t"/>
          <a:lstStyle/>
          <a:p>
            <a:pPr>
              <a:lnSpc>
                <a:spcPts val="2042"/>
              </a:lnSpc>
            </a:pPr>
            <a:r>
              <a:rPr lang="en-US" sz="1200" dirty="0">
                <a:solidFill>
                  <a:srgbClr val="333F70"/>
                </a:solidFill>
                <a:latin typeface="Open Sans" pitchFamily="34" charset="0"/>
                <a:ea typeface="Open Sans" pitchFamily="34" charset="-122"/>
                <a:cs typeface="Open Sans" pitchFamily="34" charset="-120"/>
              </a:rPr>
              <a:t>Inventing, altering, or selectively reporting research findings to support desired outcomes.</a:t>
            </a:r>
            <a:endParaRPr lang="en-US" sz="1200" dirty="0"/>
          </a:p>
        </p:txBody>
      </p:sp>
      <p:sp>
        <p:nvSpPr>
          <p:cNvPr id="15" name="Shape 10"/>
          <p:cNvSpPr/>
          <p:nvPr/>
        </p:nvSpPr>
        <p:spPr>
          <a:xfrm>
            <a:off x="5489824" y="4396978"/>
            <a:ext cx="488851" cy="19050"/>
          </a:xfrm>
          <a:prstGeom prst="roundRect">
            <a:avLst>
              <a:gd name="adj" fmla="val 359281"/>
            </a:avLst>
          </a:prstGeom>
          <a:solidFill>
            <a:srgbClr val="BCDBD4"/>
          </a:solidFill>
          <a:ln/>
        </p:spPr>
      </p:sp>
      <p:sp>
        <p:nvSpPr>
          <p:cNvPr id="16" name="Shape 11"/>
          <p:cNvSpPr/>
          <p:nvPr/>
        </p:nvSpPr>
        <p:spPr>
          <a:xfrm>
            <a:off x="5142260" y="4223246"/>
            <a:ext cx="366613" cy="366613"/>
          </a:xfrm>
          <a:prstGeom prst="roundRect">
            <a:avLst>
              <a:gd name="adj" fmla="val 18669"/>
            </a:avLst>
          </a:prstGeom>
          <a:solidFill>
            <a:srgbClr val="D6F5EE"/>
          </a:solidFill>
          <a:ln w="7620">
            <a:solidFill>
              <a:srgbClr val="BCDBD4"/>
            </a:solidFill>
            <a:prstDash val="solid"/>
          </a:ln>
        </p:spPr>
      </p:sp>
      <p:pic>
        <p:nvPicPr>
          <p:cNvPr id="17" name="Image 3" descr="preencoded.png"/>
          <p:cNvPicPr>
            <a:picLocks noChangeAspect="1"/>
          </p:cNvPicPr>
          <p:nvPr/>
        </p:nvPicPr>
        <p:blipFill>
          <a:blip r:embed="rId6"/>
          <a:stretch>
            <a:fillRect/>
          </a:stretch>
        </p:blipFill>
        <p:spPr>
          <a:xfrm>
            <a:off x="5203330" y="4253756"/>
            <a:ext cx="244376" cy="305494"/>
          </a:xfrm>
          <a:prstGeom prst="rect">
            <a:avLst/>
          </a:prstGeom>
        </p:spPr>
      </p:pic>
      <p:sp>
        <p:nvSpPr>
          <p:cNvPr id="18" name="Text 12"/>
          <p:cNvSpPr/>
          <p:nvPr/>
        </p:nvSpPr>
        <p:spPr>
          <a:xfrm>
            <a:off x="6140351" y="4279206"/>
            <a:ext cx="2407543" cy="254595"/>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Misrepresentation</a:t>
            </a:r>
            <a:endParaRPr lang="en-US" sz="1600" dirty="0"/>
          </a:p>
        </p:txBody>
      </p:sp>
      <p:sp>
        <p:nvSpPr>
          <p:cNvPr id="19" name="Text 13"/>
          <p:cNvSpPr/>
          <p:nvPr/>
        </p:nvSpPr>
        <p:spPr>
          <a:xfrm>
            <a:off x="6140351" y="4631532"/>
            <a:ext cx="5481340" cy="521295"/>
          </a:xfrm>
          <a:prstGeom prst="rect">
            <a:avLst/>
          </a:prstGeom>
          <a:noFill/>
          <a:ln/>
        </p:spPr>
        <p:txBody>
          <a:bodyPr wrap="square" lIns="0" tIns="0" rIns="0" bIns="0" rtlCol="0" anchor="t"/>
          <a:lstStyle/>
          <a:p>
            <a:pPr>
              <a:lnSpc>
                <a:spcPts val="2042"/>
              </a:lnSpc>
            </a:pPr>
            <a:r>
              <a:rPr lang="en-US" sz="1200" dirty="0">
                <a:solidFill>
                  <a:srgbClr val="333F70"/>
                </a:solidFill>
                <a:latin typeface="Open Sans" pitchFamily="34" charset="0"/>
                <a:ea typeface="Open Sans" pitchFamily="34" charset="-122"/>
                <a:cs typeface="Open Sans" pitchFamily="34" charset="-120"/>
              </a:rPr>
              <a:t>Distorting research conclusions to satisfy corporate agendas or personal interests.</a:t>
            </a:r>
            <a:endParaRPr lang="en-US" sz="1200" dirty="0"/>
          </a:p>
        </p:txBody>
      </p:sp>
      <p:sp>
        <p:nvSpPr>
          <p:cNvPr id="20" name="Shape 14"/>
          <p:cNvSpPr/>
          <p:nvPr/>
        </p:nvSpPr>
        <p:spPr>
          <a:xfrm>
            <a:off x="5489824" y="5652393"/>
            <a:ext cx="488851" cy="19050"/>
          </a:xfrm>
          <a:prstGeom prst="roundRect">
            <a:avLst>
              <a:gd name="adj" fmla="val 359281"/>
            </a:avLst>
          </a:prstGeom>
          <a:solidFill>
            <a:srgbClr val="BCDBD4"/>
          </a:solidFill>
          <a:ln/>
        </p:spPr>
      </p:sp>
      <p:sp>
        <p:nvSpPr>
          <p:cNvPr id="21" name="Shape 15"/>
          <p:cNvSpPr/>
          <p:nvPr/>
        </p:nvSpPr>
        <p:spPr>
          <a:xfrm>
            <a:off x="5142260" y="5478661"/>
            <a:ext cx="366613" cy="366613"/>
          </a:xfrm>
          <a:prstGeom prst="roundRect">
            <a:avLst>
              <a:gd name="adj" fmla="val 18669"/>
            </a:avLst>
          </a:prstGeom>
          <a:solidFill>
            <a:srgbClr val="D6F5EE"/>
          </a:solidFill>
          <a:ln w="7620">
            <a:solidFill>
              <a:srgbClr val="BCDBD4"/>
            </a:solidFill>
            <a:prstDash val="solid"/>
          </a:ln>
        </p:spPr>
      </p:sp>
      <p:pic>
        <p:nvPicPr>
          <p:cNvPr id="22" name="Image 4" descr="preencoded.png"/>
          <p:cNvPicPr>
            <a:picLocks noChangeAspect="1"/>
          </p:cNvPicPr>
          <p:nvPr/>
        </p:nvPicPr>
        <p:blipFill>
          <a:blip r:embed="rId7"/>
          <a:stretch>
            <a:fillRect/>
          </a:stretch>
        </p:blipFill>
        <p:spPr>
          <a:xfrm>
            <a:off x="5203330" y="5509171"/>
            <a:ext cx="244376" cy="305494"/>
          </a:xfrm>
          <a:prstGeom prst="rect">
            <a:avLst/>
          </a:prstGeom>
        </p:spPr>
      </p:pic>
      <p:sp>
        <p:nvSpPr>
          <p:cNvPr id="23" name="Text 16"/>
          <p:cNvSpPr/>
          <p:nvPr/>
        </p:nvSpPr>
        <p:spPr>
          <a:xfrm>
            <a:off x="6140351" y="5534620"/>
            <a:ext cx="2763044" cy="254595"/>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Procedural Violations</a:t>
            </a:r>
            <a:endParaRPr lang="en-US" sz="1600" dirty="0"/>
          </a:p>
        </p:txBody>
      </p:sp>
      <p:sp>
        <p:nvSpPr>
          <p:cNvPr id="24" name="Text 17"/>
          <p:cNvSpPr/>
          <p:nvPr/>
        </p:nvSpPr>
        <p:spPr>
          <a:xfrm>
            <a:off x="6140351" y="5886946"/>
            <a:ext cx="5481340" cy="521295"/>
          </a:xfrm>
          <a:prstGeom prst="rect">
            <a:avLst/>
          </a:prstGeom>
          <a:noFill/>
          <a:ln/>
        </p:spPr>
        <p:txBody>
          <a:bodyPr wrap="square" lIns="0" tIns="0" rIns="0" bIns="0" rtlCol="0" anchor="t"/>
          <a:lstStyle/>
          <a:p>
            <a:pPr>
              <a:lnSpc>
                <a:spcPts val="2042"/>
              </a:lnSpc>
            </a:pPr>
            <a:r>
              <a:rPr lang="en-US" sz="1200" dirty="0">
                <a:solidFill>
                  <a:srgbClr val="333F70"/>
                </a:solidFill>
                <a:latin typeface="Open Sans" pitchFamily="34" charset="0"/>
                <a:ea typeface="Open Sans" pitchFamily="34" charset="-122"/>
                <a:cs typeface="Open Sans" pitchFamily="34" charset="-120"/>
              </a:rPr>
              <a:t>Bypassing required ethical reviews or conducting research without proper approvals.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515" y="517327"/>
            <a:ext cx="10874970" cy="1175941"/>
          </a:xfrm>
          <a:prstGeom prst="rect">
            <a:avLst/>
          </a:prstGeom>
          <a:noFill/>
          <a:ln/>
        </p:spPr>
        <p:txBody>
          <a:bodyPr wrap="square" lIns="0" tIns="0" rIns="0" bIns="0" rtlCol="0" anchor="t"/>
          <a:lstStyle/>
          <a:p>
            <a:pPr>
              <a:lnSpc>
                <a:spcPts val="4625"/>
              </a:lnSpc>
            </a:pPr>
            <a:r>
              <a:rPr lang="en-US" sz="3700" b="1" dirty="0">
                <a:solidFill>
                  <a:srgbClr val="333F70"/>
                </a:solidFill>
                <a:latin typeface="Unbounded Bold" pitchFamily="34" charset="0"/>
                <a:ea typeface="Unbounded Bold" pitchFamily="34" charset="-122"/>
                <a:cs typeface="Unbounded Bold" pitchFamily="34" charset="-120"/>
              </a:rPr>
              <a:t>Real-World Examples of Ethical Dilemmas</a:t>
            </a:r>
            <a:endParaRPr lang="en-US" sz="3700" dirty="0"/>
          </a:p>
        </p:txBody>
      </p:sp>
      <p:pic>
        <p:nvPicPr>
          <p:cNvPr id="3" name="Image 0" descr="preencoded.png"/>
          <p:cNvPicPr>
            <a:picLocks noChangeAspect="1"/>
          </p:cNvPicPr>
          <p:nvPr/>
        </p:nvPicPr>
        <p:blipFill>
          <a:blip r:embed="rId3"/>
          <a:stretch>
            <a:fillRect/>
          </a:stretch>
        </p:blipFill>
        <p:spPr>
          <a:xfrm>
            <a:off x="658515" y="2069505"/>
            <a:ext cx="3468192" cy="2143423"/>
          </a:xfrm>
          <a:prstGeom prst="rect">
            <a:avLst/>
          </a:prstGeom>
        </p:spPr>
      </p:pic>
      <p:sp>
        <p:nvSpPr>
          <p:cNvPr id="4" name="Text 1"/>
          <p:cNvSpPr/>
          <p:nvPr/>
        </p:nvSpPr>
        <p:spPr>
          <a:xfrm>
            <a:off x="658515" y="4448076"/>
            <a:ext cx="3410347" cy="293886"/>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Customer Data Misuse</a:t>
            </a:r>
            <a:endParaRPr lang="en-US" dirty="0"/>
          </a:p>
        </p:txBody>
      </p:sp>
      <p:sp>
        <p:nvSpPr>
          <p:cNvPr id="5" name="Text 2"/>
          <p:cNvSpPr/>
          <p:nvPr/>
        </p:nvSpPr>
        <p:spPr>
          <a:xfrm>
            <a:off x="658515" y="4854773"/>
            <a:ext cx="3468192" cy="1203722"/>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Market research firm repurposed confidential customer survey responses for secondary analysis without consent.</a:t>
            </a:r>
            <a:endParaRPr lang="en-US" sz="1500" dirty="0"/>
          </a:p>
        </p:txBody>
      </p:sp>
      <p:pic>
        <p:nvPicPr>
          <p:cNvPr id="6" name="Image 1" descr="preencoded.png"/>
          <p:cNvPicPr>
            <a:picLocks noChangeAspect="1"/>
          </p:cNvPicPr>
          <p:nvPr/>
        </p:nvPicPr>
        <p:blipFill>
          <a:blip r:embed="rId4"/>
          <a:stretch>
            <a:fillRect/>
          </a:stretch>
        </p:blipFill>
        <p:spPr>
          <a:xfrm>
            <a:off x="4361855" y="2069505"/>
            <a:ext cx="3468192" cy="2143423"/>
          </a:xfrm>
          <a:prstGeom prst="rect">
            <a:avLst/>
          </a:prstGeom>
        </p:spPr>
      </p:pic>
      <p:sp>
        <p:nvSpPr>
          <p:cNvPr id="7" name="Text 3"/>
          <p:cNvSpPr/>
          <p:nvPr/>
        </p:nvSpPr>
        <p:spPr>
          <a:xfrm>
            <a:off x="4361855" y="4448076"/>
            <a:ext cx="3468192" cy="587772"/>
          </a:xfrm>
          <a:prstGeom prst="rect">
            <a:avLst/>
          </a:prstGeom>
          <a:noFill/>
          <a:ln/>
        </p:spPr>
        <p:txBody>
          <a:bodyPr wrap="squar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Volkswagen Emissions Scandal</a:t>
            </a:r>
            <a:endParaRPr lang="en-US" dirty="0"/>
          </a:p>
        </p:txBody>
      </p:sp>
      <p:sp>
        <p:nvSpPr>
          <p:cNvPr id="8" name="Text 4"/>
          <p:cNvSpPr/>
          <p:nvPr/>
        </p:nvSpPr>
        <p:spPr>
          <a:xfrm>
            <a:off x="4361855" y="5148659"/>
            <a:ext cx="3468192" cy="1203722"/>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Researchers deliberately falsified emissions test data to show compliance with environmental regulations.</a:t>
            </a:r>
            <a:endParaRPr lang="en-US" sz="1500" dirty="0"/>
          </a:p>
        </p:txBody>
      </p:sp>
      <p:pic>
        <p:nvPicPr>
          <p:cNvPr id="9" name="Image 2" descr="preencoded.png"/>
          <p:cNvPicPr>
            <a:picLocks noChangeAspect="1"/>
          </p:cNvPicPr>
          <p:nvPr/>
        </p:nvPicPr>
        <p:blipFill>
          <a:blip r:embed="rId5"/>
          <a:stretch>
            <a:fillRect/>
          </a:stretch>
        </p:blipFill>
        <p:spPr>
          <a:xfrm>
            <a:off x="8065195" y="2069505"/>
            <a:ext cx="3468291" cy="2143522"/>
          </a:xfrm>
          <a:prstGeom prst="rect">
            <a:avLst/>
          </a:prstGeom>
        </p:spPr>
      </p:pic>
      <p:sp>
        <p:nvSpPr>
          <p:cNvPr id="10" name="Text 5"/>
          <p:cNvSpPr/>
          <p:nvPr/>
        </p:nvSpPr>
        <p:spPr>
          <a:xfrm>
            <a:off x="8065195" y="4448175"/>
            <a:ext cx="2671366" cy="293886"/>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Privacy Violations</a:t>
            </a:r>
            <a:endParaRPr lang="en-US" dirty="0"/>
          </a:p>
        </p:txBody>
      </p:sp>
      <p:sp>
        <p:nvSpPr>
          <p:cNvPr id="11" name="Text 6"/>
          <p:cNvSpPr/>
          <p:nvPr/>
        </p:nvSpPr>
        <p:spPr>
          <a:xfrm>
            <a:off x="8065195" y="4854872"/>
            <a:ext cx="3468291" cy="902792"/>
          </a:xfrm>
          <a:prstGeom prst="rect">
            <a:avLst/>
          </a:prstGeom>
          <a:noFill/>
          <a:ln/>
        </p:spPr>
        <p:txBody>
          <a:bodyPr wrap="square" lIns="0" tIns="0" rIns="0" bIns="0" rtlCol="0" anchor="t"/>
          <a:lstStyle/>
          <a:p>
            <a:pPr>
              <a:lnSpc>
                <a:spcPts val="2333"/>
              </a:lnSpc>
            </a:pPr>
            <a:r>
              <a:rPr lang="en-US" sz="1500" dirty="0">
                <a:solidFill>
                  <a:srgbClr val="333F70"/>
                </a:solidFill>
                <a:latin typeface="Open Sans" pitchFamily="34" charset="0"/>
                <a:ea typeface="Open Sans" pitchFamily="34" charset="-122"/>
                <a:cs typeface="Open Sans" pitchFamily="34" charset="-120"/>
              </a:rPr>
              <a:t>Consumer research company failed to anonymize sensitive participant data before sharing with third parties.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694"/>
          </a:xfrm>
          <a:prstGeom prst="rect">
            <a:avLst/>
          </a:prstGeom>
        </p:spPr>
      </p:pic>
      <p:sp>
        <p:nvSpPr>
          <p:cNvPr id="3" name="Text 0"/>
          <p:cNvSpPr/>
          <p:nvPr/>
        </p:nvSpPr>
        <p:spPr>
          <a:xfrm>
            <a:off x="575171" y="451942"/>
            <a:ext cx="6469658" cy="1540669"/>
          </a:xfrm>
          <a:prstGeom prst="rect">
            <a:avLst/>
          </a:prstGeom>
          <a:noFill/>
          <a:ln/>
        </p:spPr>
        <p:txBody>
          <a:bodyPr wrap="square" lIns="0" tIns="0" rIns="0" bIns="0" rtlCol="0" anchor="t"/>
          <a:lstStyle/>
          <a:p>
            <a:pPr>
              <a:lnSpc>
                <a:spcPts val="4042"/>
              </a:lnSpc>
            </a:pPr>
            <a:r>
              <a:rPr lang="en-US" sz="3200" b="1" dirty="0">
                <a:solidFill>
                  <a:srgbClr val="333F70"/>
                </a:solidFill>
                <a:latin typeface="Unbounded Bold" pitchFamily="34" charset="0"/>
                <a:ea typeface="Unbounded Bold" pitchFamily="34" charset="-122"/>
                <a:cs typeface="Unbounded Bold" pitchFamily="34" charset="-120"/>
              </a:rPr>
              <a:t>Managing and Preventing Ethical Issues</a:t>
            </a:r>
            <a:endParaRPr lang="en-US" sz="3200" dirty="0"/>
          </a:p>
        </p:txBody>
      </p:sp>
      <p:pic>
        <p:nvPicPr>
          <p:cNvPr id="4" name="Image 1" descr="preencoded.png"/>
          <p:cNvPicPr>
            <a:picLocks noChangeAspect="1"/>
          </p:cNvPicPr>
          <p:nvPr/>
        </p:nvPicPr>
        <p:blipFill>
          <a:blip r:embed="rId4"/>
          <a:stretch>
            <a:fillRect/>
          </a:stretch>
        </p:blipFill>
        <p:spPr>
          <a:xfrm>
            <a:off x="575171" y="2239070"/>
            <a:ext cx="821730" cy="1209576"/>
          </a:xfrm>
          <a:prstGeom prst="rect">
            <a:avLst/>
          </a:prstGeom>
        </p:spPr>
      </p:pic>
      <p:sp>
        <p:nvSpPr>
          <p:cNvPr id="5" name="Text 1"/>
          <p:cNvSpPr/>
          <p:nvPr/>
        </p:nvSpPr>
        <p:spPr>
          <a:xfrm>
            <a:off x="1643360" y="2403376"/>
            <a:ext cx="2054423" cy="256778"/>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Ethics Policies</a:t>
            </a:r>
            <a:endParaRPr lang="en-US" sz="1600" dirty="0"/>
          </a:p>
        </p:txBody>
      </p:sp>
      <p:sp>
        <p:nvSpPr>
          <p:cNvPr id="6" name="Text 2"/>
          <p:cNvSpPr/>
          <p:nvPr/>
        </p:nvSpPr>
        <p:spPr>
          <a:xfrm>
            <a:off x="1643360" y="2758679"/>
            <a:ext cx="5401468" cy="525661"/>
          </a:xfrm>
          <a:prstGeom prst="rect">
            <a:avLst/>
          </a:prstGeom>
          <a:noFill/>
          <a:ln/>
        </p:spPr>
        <p:txBody>
          <a:bodyPr wrap="square" lIns="0" tIns="0" rIns="0" bIns="0" rtlCol="0" anchor="t"/>
          <a:lstStyle/>
          <a:p>
            <a:pPr>
              <a:lnSpc>
                <a:spcPts val="2042"/>
              </a:lnSpc>
            </a:pPr>
            <a:r>
              <a:rPr lang="en-US" sz="1300" dirty="0">
                <a:solidFill>
                  <a:srgbClr val="333F70"/>
                </a:solidFill>
                <a:latin typeface="Open Sans" pitchFamily="34" charset="0"/>
                <a:ea typeface="Open Sans" pitchFamily="34" charset="-122"/>
                <a:cs typeface="Open Sans" pitchFamily="34" charset="-120"/>
              </a:rPr>
              <a:t>Develop clear organizational codes and guidelines for research conduct.</a:t>
            </a:r>
            <a:endParaRPr lang="en-US" sz="1300" dirty="0"/>
          </a:p>
        </p:txBody>
      </p:sp>
      <p:pic>
        <p:nvPicPr>
          <p:cNvPr id="7" name="Image 2" descr="preencoded.png"/>
          <p:cNvPicPr>
            <a:picLocks noChangeAspect="1"/>
          </p:cNvPicPr>
          <p:nvPr/>
        </p:nvPicPr>
        <p:blipFill>
          <a:blip r:embed="rId5"/>
          <a:stretch>
            <a:fillRect/>
          </a:stretch>
        </p:blipFill>
        <p:spPr>
          <a:xfrm>
            <a:off x="575171" y="3448645"/>
            <a:ext cx="821730" cy="986036"/>
          </a:xfrm>
          <a:prstGeom prst="rect">
            <a:avLst/>
          </a:prstGeom>
        </p:spPr>
      </p:pic>
      <p:sp>
        <p:nvSpPr>
          <p:cNvPr id="8" name="Text 3"/>
          <p:cNvSpPr/>
          <p:nvPr/>
        </p:nvSpPr>
        <p:spPr>
          <a:xfrm>
            <a:off x="1643360" y="3612952"/>
            <a:ext cx="2054423" cy="256778"/>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Training</a:t>
            </a:r>
            <a:endParaRPr lang="en-US" sz="1600" dirty="0"/>
          </a:p>
        </p:txBody>
      </p:sp>
      <p:sp>
        <p:nvSpPr>
          <p:cNvPr id="9" name="Text 4"/>
          <p:cNvSpPr/>
          <p:nvPr/>
        </p:nvSpPr>
        <p:spPr>
          <a:xfrm>
            <a:off x="1643360" y="3968255"/>
            <a:ext cx="5401468" cy="262831"/>
          </a:xfrm>
          <a:prstGeom prst="rect">
            <a:avLst/>
          </a:prstGeom>
          <a:noFill/>
          <a:ln/>
        </p:spPr>
        <p:txBody>
          <a:bodyPr wrap="none" lIns="0" tIns="0" rIns="0" bIns="0" rtlCol="0" anchor="t"/>
          <a:lstStyle/>
          <a:p>
            <a:pPr>
              <a:lnSpc>
                <a:spcPts val="2042"/>
              </a:lnSpc>
            </a:pPr>
            <a:r>
              <a:rPr lang="en-US" sz="1300" dirty="0">
                <a:solidFill>
                  <a:srgbClr val="333F70"/>
                </a:solidFill>
                <a:latin typeface="Open Sans" pitchFamily="34" charset="0"/>
                <a:ea typeface="Open Sans" pitchFamily="34" charset="-122"/>
                <a:cs typeface="Open Sans" pitchFamily="34" charset="-120"/>
              </a:rPr>
              <a:t>Educate researchers on ethical principles and real-world application.</a:t>
            </a:r>
            <a:endParaRPr lang="en-US" sz="1300" dirty="0"/>
          </a:p>
        </p:txBody>
      </p:sp>
      <p:pic>
        <p:nvPicPr>
          <p:cNvPr id="10" name="Image 3" descr="preencoded.png"/>
          <p:cNvPicPr>
            <a:picLocks noChangeAspect="1"/>
          </p:cNvPicPr>
          <p:nvPr/>
        </p:nvPicPr>
        <p:blipFill>
          <a:blip r:embed="rId6"/>
          <a:stretch>
            <a:fillRect/>
          </a:stretch>
        </p:blipFill>
        <p:spPr>
          <a:xfrm>
            <a:off x="575171" y="4434681"/>
            <a:ext cx="821730" cy="986036"/>
          </a:xfrm>
          <a:prstGeom prst="rect">
            <a:avLst/>
          </a:prstGeom>
        </p:spPr>
      </p:pic>
      <p:sp>
        <p:nvSpPr>
          <p:cNvPr id="11" name="Text 5"/>
          <p:cNvSpPr/>
          <p:nvPr/>
        </p:nvSpPr>
        <p:spPr>
          <a:xfrm>
            <a:off x="1643360" y="4598988"/>
            <a:ext cx="2054423" cy="256778"/>
          </a:xfrm>
          <a:prstGeom prst="rect">
            <a:avLst/>
          </a:prstGeom>
          <a:noFill/>
          <a:ln/>
        </p:spPr>
        <p:txBody>
          <a:bodyPr wrap="none" lIns="0" tIns="0" rIns="0" bIns="0" rtlCol="0" anchor="t"/>
          <a:lstStyle/>
          <a:p>
            <a:pPr>
              <a:lnSpc>
                <a:spcPts val="2000"/>
              </a:lnSpc>
            </a:pPr>
            <a:r>
              <a:rPr lang="en-US" sz="1600" b="1" dirty="0" smtClean="0">
                <a:solidFill>
                  <a:srgbClr val="333F70"/>
                </a:solidFill>
                <a:latin typeface="Unbounded Bold" pitchFamily="34" charset="0"/>
                <a:ea typeface="Unbounded Bold" pitchFamily="34" charset="-122"/>
                <a:cs typeface="Unbounded Bold" pitchFamily="34" charset="-120"/>
              </a:rPr>
              <a:t>Monitoring</a:t>
            </a:r>
            <a:endParaRPr lang="en-US" sz="1600" dirty="0"/>
          </a:p>
        </p:txBody>
      </p:sp>
      <p:sp>
        <p:nvSpPr>
          <p:cNvPr id="12" name="Text 6"/>
          <p:cNvSpPr/>
          <p:nvPr/>
        </p:nvSpPr>
        <p:spPr>
          <a:xfrm>
            <a:off x="1643360" y="4954290"/>
            <a:ext cx="5401468" cy="262831"/>
          </a:xfrm>
          <a:prstGeom prst="rect">
            <a:avLst/>
          </a:prstGeom>
          <a:noFill/>
          <a:ln/>
        </p:spPr>
        <p:txBody>
          <a:bodyPr wrap="none" lIns="0" tIns="0" rIns="0" bIns="0" rtlCol="0" anchor="t"/>
          <a:lstStyle/>
          <a:p>
            <a:pPr>
              <a:lnSpc>
                <a:spcPts val="2042"/>
              </a:lnSpc>
            </a:pPr>
            <a:r>
              <a:rPr lang="en-US" sz="1300" dirty="0">
                <a:solidFill>
                  <a:srgbClr val="333F70"/>
                </a:solidFill>
                <a:latin typeface="Open Sans" pitchFamily="34" charset="0"/>
                <a:ea typeface="Open Sans" pitchFamily="34" charset="-122"/>
                <a:cs typeface="Open Sans" pitchFamily="34" charset="-120"/>
              </a:rPr>
              <a:t>Implement review boards and regular compliance audits.</a:t>
            </a:r>
            <a:endParaRPr lang="en-US" sz="1300" dirty="0"/>
          </a:p>
        </p:txBody>
      </p:sp>
      <p:pic>
        <p:nvPicPr>
          <p:cNvPr id="13" name="Image 4" descr="preencoded.png"/>
          <p:cNvPicPr>
            <a:picLocks noChangeAspect="1"/>
          </p:cNvPicPr>
          <p:nvPr/>
        </p:nvPicPr>
        <p:blipFill>
          <a:blip r:embed="rId7"/>
          <a:stretch>
            <a:fillRect/>
          </a:stretch>
        </p:blipFill>
        <p:spPr>
          <a:xfrm>
            <a:off x="575171" y="5420718"/>
            <a:ext cx="821730" cy="986036"/>
          </a:xfrm>
          <a:prstGeom prst="rect">
            <a:avLst/>
          </a:prstGeom>
        </p:spPr>
      </p:pic>
      <p:sp>
        <p:nvSpPr>
          <p:cNvPr id="14" name="Text 7"/>
          <p:cNvSpPr/>
          <p:nvPr/>
        </p:nvSpPr>
        <p:spPr>
          <a:xfrm>
            <a:off x="1643360" y="5585024"/>
            <a:ext cx="2478583" cy="256778"/>
          </a:xfrm>
          <a:prstGeom prst="rect">
            <a:avLst/>
          </a:prstGeom>
          <a:noFill/>
          <a:ln/>
        </p:spPr>
        <p:txBody>
          <a:bodyPr wrap="none" lIns="0" tIns="0" rIns="0" bIns="0" rtlCol="0" anchor="t"/>
          <a:lstStyle/>
          <a:p>
            <a:pPr>
              <a:lnSpc>
                <a:spcPts val="2000"/>
              </a:lnSpc>
            </a:pPr>
            <a:r>
              <a:rPr lang="en-US" sz="1600" b="1" dirty="0">
                <a:solidFill>
                  <a:srgbClr val="333F70"/>
                </a:solidFill>
                <a:latin typeface="Unbounded Bold" pitchFamily="34" charset="0"/>
                <a:ea typeface="Unbounded Bold" pitchFamily="34" charset="-122"/>
                <a:cs typeface="Unbounded Bold" pitchFamily="34" charset="-120"/>
              </a:rPr>
              <a:t>Reporting Systems</a:t>
            </a:r>
            <a:endParaRPr lang="en-US" sz="1600" dirty="0"/>
          </a:p>
        </p:txBody>
      </p:sp>
      <p:sp>
        <p:nvSpPr>
          <p:cNvPr id="15" name="Text 8"/>
          <p:cNvSpPr/>
          <p:nvPr/>
        </p:nvSpPr>
        <p:spPr>
          <a:xfrm>
            <a:off x="1643360" y="5940326"/>
            <a:ext cx="5401468" cy="262831"/>
          </a:xfrm>
          <a:prstGeom prst="rect">
            <a:avLst/>
          </a:prstGeom>
          <a:noFill/>
          <a:ln/>
        </p:spPr>
        <p:txBody>
          <a:bodyPr wrap="none" lIns="0" tIns="0" rIns="0" bIns="0" rtlCol="0" anchor="t"/>
          <a:lstStyle/>
          <a:p>
            <a:pPr>
              <a:lnSpc>
                <a:spcPts val="2042"/>
              </a:lnSpc>
            </a:pPr>
            <a:r>
              <a:rPr lang="en-US" sz="1300" dirty="0">
                <a:solidFill>
                  <a:srgbClr val="333F70"/>
                </a:solidFill>
                <a:latin typeface="Open Sans" pitchFamily="34" charset="0"/>
                <a:ea typeface="Open Sans" pitchFamily="34" charset="-122"/>
                <a:cs typeface="Open Sans" pitchFamily="34" charset="-120"/>
              </a:rPr>
              <a:t>Create safe channels for reporting ethical concerns without fear.</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233492" y="892770"/>
            <a:ext cx="6297018" cy="1181298"/>
          </a:xfrm>
          <a:prstGeom prst="rect">
            <a:avLst/>
          </a:prstGeom>
          <a:noFill/>
          <a:ln/>
        </p:spPr>
        <p:txBody>
          <a:bodyPr wrap="square" lIns="0" tIns="0" rIns="0" bIns="0" rtlCol="0" anchor="t"/>
          <a:lstStyle/>
          <a:p>
            <a:pPr>
              <a:lnSpc>
                <a:spcPts val="4625"/>
              </a:lnSpc>
            </a:pPr>
            <a:r>
              <a:rPr lang="en-US" sz="3700" b="1" dirty="0">
                <a:solidFill>
                  <a:srgbClr val="333F70"/>
                </a:solidFill>
                <a:latin typeface="Unbounded Bold" pitchFamily="34" charset="0"/>
                <a:ea typeface="Unbounded Bold" pitchFamily="34" charset="-122"/>
                <a:cs typeface="Unbounded Bold" pitchFamily="34" charset="-120"/>
              </a:rPr>
              <a:t>Conclusion: The Path Forward</a:t>
            </a:r>
            <a:endParaRPr lang="en-US" sz="3700" dirty="0"/>
          </a:p>
        </p:txBody>
      </p:sp>
      <p:sp>
        <p:nvSpPr>
          <p:cNvPr id="4" name="Shape 1"/>
          <p:cNvSpPr/>
          <p:nvPr/>
        </p:nvSpPr>
        <p:spPr>
          <a:xfrm>
            <a:off x="5233492" y="2357537"/>
            <a:ext cx="141684" cy="1013519"/>
          </a:xfrm>
          <a:prstGeom prst="roundRect">
            <a:avLst>
              <a:gd name="adj" fmla="val 56033"/>
            </a:avLst>
          </a:prstGeom>
          <a:solidFill>
            <a:srgbClr val="D6F5EE"/>
          </a:solidFill>
          <a:ln w="7620">
            <a:solidFill>
              <a:srgbClr val="BCDBD4"/>
            </a:solidFill>
            <a:prstDash val="solid"/>
          </a:ln>
        </p:spPr>
      </p:sp>
      <p:sp>
        <p:nvSpPr>
          <p:cNvPr id="5" name="Text 2"/>
          <p:cNvSpPr/>
          <p:nvPr/>
        </p:nvSpPr>
        <p:spPr>
          <a:xfrm>
            <a:off x="5658644" y="2357537"/>
            <a:ext cx="4496197" cy="295275"/>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Reinforce Ethics as Core Value</a:t>
            </a:r>
            <a:endParaRPr lang="en-US" dirty="0"/>
          </a:p>
        </p:txBody>
      </p:sp>
      <p:sp>
        <p:nvSpPr>
          <p:cNvPr id="6" name="Text 3"/>
          <p:cNvSpPr/>
          <p:nvPr/>
        </p:nvSpPr>
        <p:spPr>
          <a:xfrm>
            <a:off x="5658644" y="2766219"/>
            <a:ext cx="5871865" cy="604838"/>
          </a:xfrm>
          <a:prstGeom prst="rect">
            <a:avLst/>
          </a:prstGeom>
          <a:noFill/>
          <a:ln/>
        </p:spPr>
        <p:txBody>
          <a:bodyPr wrap="square" lIns="0" tIns="0" rIns="0" bIns="0" rtlCol="0" anchor="t"/>
          <a:lstStyle/>
          <a:p>
            <a:pPr>
              <a:lnSpc>
                <a:spcPts val="2375"/>
              </a:lnSpc>
            </a:pPr>
            <a:r>
              <a:rPr lang="en-US" sz="1500" dirty="0">
                <a:solidFill>
                  <a:srgbClr val="333F70"/>
                </a:solidFill>
                <a:latin typeface="Open Sans" pitchFamily="34" charset="0"/>
                <a:ea typeface="Open Sans" pitchFamily="34" charset="-122"/>
                <a:cs typeface="Open Sans" pitchFamily="34" charset="-120"/>
              </a:rPr>
              <a:t>Prioritize integrity over expedience. Ethical research builds lasting credibility and trust.</a:t>
            </a:r>
            <a:endParaRPr lang="en-US" sz="1500" dirty="0"/>
          </a:p>
        </p:txBody>
      </p:sp>
      <p:sp>
        <p:nvSpPr>
          <p:cNvPr id="7" name="Shape 4"/>
          <p:cNvSpPr/>
          <p:nvPr/>
        </p:nvSpPr>
        <p:spPr>
          <a:xfrm>
            <a:off x="5516960" y="3560069"/>
            <a:ext cx="141684" cy="1013519"/>
          </a:xfrm>
          <a:prstGeom prst="roundRect">
            <a:avLst>
              <a:gd name="adj" fmla="val 56033"/>
            </a:avLst>
          </a:prstGeom>
          <a:solidFill>
            <a:srgbClr val="D6F5EE"/>
          </a:solidFill>
          <a:ln w="7620">
            <a:solidFill>
              <a:srgbClr val="BCDBD4"/>
            </a:solidFill>
            <a:prstDash val="solid"/>
          </a:ln>
        </p:spPr>
      </p:sp>
      <p:sp>
        <p:nvSpPr>
          <p:cNvPr id="8" name="Text 5"/>
          <p:cNvSpPr/>
          <p:nvPr/>
        </p:nvSpPr>
        <p:spPr>
          <a:xfrm>
            <a:off x="5942112" y="3560068"/>
            <a:ext cx="3728443" cy="295275"/>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Commit Organizationally</a:t>
            </a:r>
            <a:endParaRPr lang="en-US" dirty="0"/>
          </a:p>
        </p:txBody>
      </p:sp>
      <p:sp>
        <p:nvSpPr>
          <p:cNvPr id="9" name="Text 6"/>
          <p:cNvSpPr/>
          <p:nvPr/>
        </p:nvSpPr>
        <p:spPr>
          <a:xfrm>
            <a:off x="5942112" y="3968750"/>
            <a:ext cx="5588397" cy="604838"/>
          </a:xfrm>
          <a:prstGeom prst="rect">
            <a:avLst/>
          </a:prstGeom>
          <a:noFill/>
          <a:ln/>
        </p:spPr>
        <p:txBody>
          <a:bodyPr wrap="square" lIns="0" tIns="0" rIns="0" bIns="0" rtlCol="0" anchor="t"/>
          <a:lstStyle/>
          <a:p>
            <a:pPr>
              <a:lnSpc>
                <a:spcPts val="2375"/>
              </a:lnSpc>
            </a:pPr>
            <a:r>
              <a:rPr lang="en-US" sz="1500" dirty="0">
                <a:solidFill>
                  <a:srgbClr val="333F70"/>
                </a:solidFill>
                <a:latin typeface="Open Sans" pitchFamily="34" charset="0"/>
                <a:ea typeface="Open Sans" pitchFamily="34" charset="-122"/>
                <a:cs typeface="Open Sans" pitchFamily="34" charset="-120"/>
              </a:rPr>
              <a:t>Dedicate resources to ethical oversight. Make ethical standards part of performance evaluation.</a:t>
            </a:r>
            <a:endParaRPr lang="en-US" sz="1500" dirty="0"/>
          </a:p>
        </p:txBody>
      </p:sp>
      <p:sp>
        <p:nvSpPr>
          <p:cNvPr id="10" name="Shape 7"/>
          <p:cNvSpPr/>
          <p:nvPr/>
        </p:nvSpPr>
        <p:spPr>
          <a:xfrm>
            <a:off x="5800527" y="4762600"/>
            <a:ext cx="141684" cy="1013519"/>
          </a:xfrm>
          <a:prstGeom prst="roundRect">
            <a:avLst>
              <a:gd name="adj" fmla="val 56033"/>
            </a:avLst>
          </a:prstGeom>
          <a:solidFill>
            <a:srgbClr val="D6F5EE"/>
          </a:solidFill>
          <a:ln w="7620">
            <a:solidFill>
              <a:srgbClr val="BCDBD4"/>
            </a:solidFill>
            <a:prstDash val="solid"/>
          </a:ln>
        </p:spPr>
      </p:sp>
      <p:sp>
        <p:nvSpPr>
          <p:cNvPr id="11" name="Text 8"/>
          <p:cNvSpPr/>
          <p:nvPr/>
        </p:nvSpPr>
        <p:spPr>
          <a:xfrm>
            <a:off x="6225679" y="4762599"/>
            <a:ext cx="3233043" cy="295275"/>
          </a:xfrm>
          <a:prstGeom prst="rect">
            <a:avLst/>
          </a:prstGeom>
          <a:noFill/>
          <a:ln/>
        </p:spPr>
        <p:txBody>
          <a:bodyPr wrap="none" lIns="0" tIns="0" rIns="0" bIns="0" rtlCol="0" anchor="t"/>
          <a:lstStyle/>
          <a:p>
            <a:pPr>
              <a:lnSpc>
                <a:spcPts val="2292"/>
              </a:lnSpc>
            </a:pPr>
            <a:r>
              <a:rPr lang="en-US" b="1" dirty="0">
                <a:solidFill>
                  <a:srgbClr val="333F70"/>
                </a:solidFill>
                <a:latin typeface="Unbounded Bold" pitchFamily="34" charset="0"/>
                <a:ea typeface="Unbounded Bold" pitchFamily="34" charset="-122"/>
                <a:cs typeface="Unbounded Bold" pitchFamily="34" charset="-120"/>
              </a:rPr>
              <a:t>Foster Ethical Culture</a:t>
            </a:r>
            <a:endParaRPr lang="en-US" dirty="0"/>
          </a:p>
        </p:txBody>
      </p:sp>
      <p:sp>
        <p:nvSpPr>
          <p:cNvPr id="12" name="Text 9"/>
          <p:cNvSpPr/>
          <p:nvPr/>
        </p:nvSpPr>
        <p:spPr>
          <a:xfrm>
            <a:off x="6225679" y="5171282"/>
            <a:ext cx="5304830" cy="604838"/>
          </a:xfrm>
          <a:prstGeom prst="rect">
            <a:avLst/>
          </a:prstGeom>
          <a:noFill/>
          <a:ln/>
        </p:spPr>
        <p:txBody>
          <a:bodyPr wrap="square" lIns="0" tIns="0" rIns="0" bIns="0" rtlCol="0" anchor="t"/>
          <a:lstStyle/>
          <a:p>
            <a:pPr>
              <a:lnSpc>
                <a:spcPts val="2375"/>
              </a:lnSpc>
            </a:pPr>
            <a:r>
              <a:rPr lang="en-US" sz="1500" dirty="0">
                <a:solidFill>
                  <a:srgbClr val="333F70"/>
                </a:solidFill>
                <a:latin typeface="Open Sans" pitchFamily="34" charset="0"/>
                <a:ea typeface="Open Sans" pitchFamily="34" charset="-122"/>
                <a:cs typeface="Open Sans" pitchFamily="34" charset="-120"/>
              </a:rPr>
              <a:t>Celebrate ethical choices. Create environments where integrity is rewarded over shortcuts.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7438"/>
            <a:ext cx="10515600" cy="1325563"/>
          </a:xfrm>
        </p:spPr>
        <p:txBody>
          <a:bodyPr/>
          <a:lstStyle/>
          <a:p>
            <a:pPr algn="ctr"/>
            <a:r>
              <a:rPr lang="en-IN" dirty="0">
                <a:latin typeface="Algerian" panose="04020705040A02060702" pitchFamily="82" charset="0"/>
              </a:rPr>
              <a:t>THANK YOU</a:t>
            </a:r>
          </a:p>
        </p:txBody>
      </p:sp>
    </p:spTree>
    <p:extLst>
      <p:ext uri="{BB962C8B-B14F-4D97-AF65-F5344CB8AC3E}">
        <p14:creationId xmlns:p14="http://schemas.microsoft.com/office/powerpoint/2010/main" xmlns="" val="2340906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3714</TotalTime>
  <Words>1290</Words>
  <Application>Microsoft Office PowerPoint</Application>
  <PresentationFormat>Custom</PresentationFormat>
  <Paragraphs>208</Paragraphs>
  <Slides>39</Slides>
  <Notes>7</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Research Methodology and IPR</vt:lpstr>
      <vt:lpstr>Course Outline</vt:lpstr>
      <vt:lpstr>Course Learning objectives:</vt:lpstr>
      <vt:lpstr>Unit-1 Introduction to Business Research:</vt:lpstr>
      <vt:lpstr>Discussion Points</vt:lpstr>
      <vt:lpstr>What is research?</vt:lpstr>
      <vt:lpstr>What is Research?</vt:lpstr>
      <vt:lpstr>Slide 8</vt:lpstr>
      <vt:lpstr>How Business Research defined?</vt:lpstr>
      <vt:lpstr>Slide 10</vt:lpstr>
      <vt:lpstr>Motivation in Research</vt:lpstr>
      <vt:lpstr>Importance of Business Research</vt:lpstr>
      <vt:lpstr>Types of Business Research</vt:lpstr>
      <vt:lpstr>Types of Research continued</vt:lpstr>
      <vt:lpstr>Research Process</vt:lpstr>
      <vt:lpstr>Management Vs Research Problem</vt:lpstr>
      <vt:lpstr>1. Defining the Problem</vt:lpstr>
      <vt:lpstr>2. Review of Literature</vt:lpstr>
      <vt:lpstr>Steps to Conduct a Literature Review:</vt:lpstr>
      <vt:lpstr>3. Select Appropriate Research Methodology</vt:lpstr>
      <vt:lpstr>4. Collecting the data</vt:lpstr>
      <vt:lpstr>5. Interpreting the Data</vt:lpstr>
      <vt:lpstr>6. Formulating conclusions.</vt:lpstr>
      <vt:lpstr>Slide 24</vt:lpstr>
      <vt:lpstr>Hypothesis in Research</vt:lpstr>
      <vt:lpstr> 1. Meaning of Hypothesis </vt:lpstr>
      <vt:lpstr> Types of Hypothesis </vt:lpstr>
      <vt:lpstr> Steps to Form a Good Hypothesis </vt:lpstr>
      <vt:lpstr> Characteristics of Good Hypothesis </vt:lpstr>
      <vt:lpstr>Ethical Issues in Research</vt:lpstr>
      <vt:lpstr>What is ethics?</vt:lpstr>
      <vt:lpstr>Slide 32</vt:lpstr>
      <vt:lpstr>Slide 33</vt:lpstr>
      <vt:lpstr>Slide 34</vt:lpstr>
      <vt:lpstr>Slide 35</vt:lpstr>
      <vt:lpstr>Slide 36</vt:lpstr>
      <vt:lpstr>Slide 37</vt:lpstr>
      <vt:lpstr>Slide 38</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Introduction to Business Research:</dc:title>
  <dc:creator>Dr. Basavaraj Kudachimath</dc:creator>
  <cp:lastModifiedBy>HP</cp:lastModifiedBy>
  <cp:revision>50</cp:revision>
  <dcterms:created xsi:type="dcterms:W3CDTF">2023-06-25T15:55:30Z</dcterms:created>
  <dcterms:modified xsi:type="dcterms:W3CDTF">2026-05-05T09:38:50Z</dcterms:modified>
</cp:coreProperties>
</file>