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57" r:id="rId3"/>
    <p:sldId id="295" r:id="rId4"/>
    <p:sldId id="268" r:id="rId5"/>
    <p:sldId id="296" r:id="rId6"/>
    <p:sldId id="334" r:id="rId7"/>
    <p:sldId id="259" r:id="rId8"/>
    <p:sldId id="260" r:id="rId9"/>
    <p:sldId id="261" r:id="rId10"/>
    <p:sldId id="262" r:id="rId11"/>
    <p:sldId id="276" r:id="rId12"/>
    <p:sldId id="278" r:id="rId13"/>
    <p:sldId id="279" r:id="rId14"/>
    <p:sldId id="327" r:id="rId15"/>
    <p:sldId id="328" r:id="rId16"/>
    <p:sldId id="329" r:id="rId17"/>
    <p:sldId id="330" r:id="rId18"/>
    <p:sldId id="336" r:id="rId19"/>
    <p:sldId id="280" r:id="rId20"/>
    <p:sldId id="282" r:id="rId21"/>
    <p:sldId id="283" r:id="rId22"/>
    <p:sldId id="335" r:id="rId23"/>
    <p:sldId id="284" r:id="rId24"/>
    <p:sldId id="285" r:id="rId25"/>
    <p:sldId id="286" r:id="rId26"/>
    <p:sldId id="331" r:id="rId27"/>
    <p:sldId id="332" r:id="rId28"/>
    <p:sldId id="333" r:id="rId29"/>
    <p:sldId id="287" r:id="rId30"/>
    <p:sldId id="288" r:id="rId31"/>
    <p:sldId id="289" r:id="rId32"/>
    <p:sldId id="290" r:id="rId33"/>
    <p:sldId id="291" r:id="rId34"/>
    <p:sldId id="292" r:id="rId35"/>
    <p:sldId id="293" r:id="rId36"/>
    <p:sldId id="269" r:id="rId37"/>
    <p:sldId id="270" r:id="rId38"/>
    <p:sldId id="271" r:id="rId39"/>
    <p:sldId id="272" r:id="rId40"/>
    <p:sldId id="273" r:id="rId41"/>
    <p:sldId id="274" r:id="rId42"/>
    <p:sldId id="275" r:id="rId43"/>
    <p:sldId id="263" r:id="rId44"/>
    <p:sldId id="264" r:id="rId45"/>
    <p:sldId id="265" r:id="rId46"/>
    <p:sldId id="266" r:id="rId47"/>
    <p:sldId id="302" r:id="rId48"/>
    <p:sldId id="303" r:id="rId49"/>
    <p:sldId id="304" r:id="rId50"/>
    <p:sldId id="305" r:id="rId51"/>
    <p:sldId id="267" r:id="rId52"/>
    <p:sldId id="258" r:id="rId53"/>
    <p:sldId id="297" r:id="rId54"/>
    <p:sldId id="306" r:id="rId55"/>
    <p:sldId id="298" r:id="rId56"/>
    <p:sldId id="299" r:id="rId57"/>
    <p:sldId id="300" r:id="rId58"/>
    <p:sldId id="301" r:id="rId59"/>
    <p:sldId id="337" r:id="rId60"/>
    <p:sldId id="338" r:id="rId61"/>
    <p:sldId id="339" r:id="rId62"/>
    <p:sldId id="307" r:id="rId63"/>
    <p:sldId id="340" r:id="rId64"/>
    <p:sldId id="308" r:id="rId65"/>
    <p:sldId id="309" r:id="rId66"/>
    <p:sldId id="310" r:id="rId67"/>
    <p:sldId id="311" r:id="rId68"/>
    <p:sldId id="313" r:id="rId69"/>
    <p:sldId id="312" r:id="rId70"/>
    <p:sldId id="314" r:id="rId71"/>
    <p:sldId id="315" r:id="rId72"/>
    <p:sldId id="316" r:id="rId73"/>
    <p:sldId id="317" r:id="rId74"/>
    <p:sldId id="318" r:id="rId75"/>
    <p:sldId id="319" r:id="rId76"/>
    <p:sldId id="320" r:id="rId77"/>
    <p:sldId id="321" r:id="rId78"/>
    <p:sldId id="322" r:id="rId79"/>
    <p:sldId id="323" r:id="rId80"/>
    <p:sldId id="324" r:id="rId81"/>
    <p:sldId id="341" r:id="rId82"/>
    <p:sldId id="343" r:id="rId83"/>
    <p:sldId id="342" r:id="rId84"/>
    <p:sldId id="344" r:id="rId85"/>
    <p:sldId id="325" r:id="rId86"/>
    <p:sldId id="326"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6400" autoAdjust="0"/>
  </p:normalViewPr>
  <p:slideViewPr>
    <p:cSldViewPr snapToGrid="0">
      <p:cViewPr varScale="1">
        <p:scale>
          <a:sx n="82" d="100"/>
          <a:sy n="82" d="100"/>
        </p:scale>
        <p:origin x="614"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1F362-16B0-4F5F-994B-BAE0A948988C}" type="datetimeFigureOut">
              <a:rPr lang="en-IN" smtClean="0"/>
              <a:pPr/>
              <a:t>28-06-2026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0599E9-3A02-4593-9538-2FBC811CB10E}" type="slidenum">
              <a:rPr lang="en-IN" smtClean="0"/>
              <a:pPr/>
              <a:t>‹#›</a:t>
            </a:fld>
            <a:endParaRPr lang="en-IN"/>
          </a:p>
        </p:txBody>
      </p:sp>
    </p:spTree>
    <p:extLst>
      <p:ext uri="{BB962C8B-B14F-4D97-AF65-F5344CB8AC3E}">
        <p14:creationId xmlns:p14="http://schemas.microsoft.com/office/powerpoint/2010/main" val="9809972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80599E9-3A02-4593-9538-2FBC811CB10E}" type="slidenum">
              <a:rPr lang="en-IN" smtClean="0"/>
              <a:pPr/>
              <a:t>50</a:t>
            </a:fld>
            <a:endParaRPr lang="en-IN"/>
          </a:p>
        </p:txBody>
      </p:sp>
    </p:spTree>
    <p:extLst>
      <p:ext uri="{BB962C8B-B14F-4D97-AF65-F5344CB8AC3E}">
        <p14:creationId xmlns:p14="http://schemas.microsoft.com/office/powerpoint/2010/main" val="22938229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3806384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25684147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33591704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30983168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1726268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997869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66447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14979928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299416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38925059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BC0C51-B5DA-4B75-B67F-47624321F338}" type="datetimeFigureOut">
              <a:rPr lang="en-IN" smtClean="0"/>
              <a:pPr/>
              <a:t>28-06-2026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8203431-9184-40D1-B70C-A27343301FCE}" type="slidenum">
              <a:rPr lang="en-IN" smtClean="0"/>
              <a:pPr/>
              <a:t>‹#›</a:t>
            </a:fld>
            <a:endParaRPr lang="en-IN"/>
          </a:p>
        </p:txBody>
      </p:sp>
    </p:spTree>
    <p:extLst>
      <p:ext uri="{BB962C8B-B14F-4D97-AF65-F5344CB8AC3E}">
        <p14:creationId xmlns:p14="http://schemas.microsoft.com/office/powerpoint/2010/main" val="14250887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BC0C51-B5DA-4B75-B67F-47624321F338}" type="datetimeFigureOut">
              <a:rPr lang="en-IN" smtClean="0"/>
              <a:pPr/>
              <a:t>28-06-2026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203431-9184-40D1-B70C-A27343301FCE}" type="slidenum">
              <a:rPr lang="en-IN" smtClean="0"/>
              <a:pPr/>
              <a:t>‹#›</a:t>
            </a:fld>
            <a:endParaRPr lang="en-IN"/>
          </a:p>
        </p:txBody>
      </p:sp>
    </p:spTree>
    <p:extLst>
      <p:ext uri="{BB962C8B-B14F-4D97-AF65-F5344CB8AC3E}">
        <p14:creationId xmlns:p14="http://schemas.microsoft.com/office/powerpoint/2010/main" val="832606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23.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IN" dirty="0"/>
            </a:br>
            <a:r>
              <a:rPr lang="en-IN" dirty="0">
                <a:latin typeface="Times New Roman" panose="02020603050405020304" pitchFamily="18" charset="0"/>
                <a:cs typeface="Times New Roman" panose="02020603050405020304" pitchFamily="18" charset="0"/>
              </a:rPr>
              <a:t>Unit-4</a:t>
            </a:r>
            <a:br>
              <a:rPr lang="en-IN"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Data Collection</a:t>
            </a:r>
            <a:endParaRPr lang="en-IN"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IN" dirty="0"/>
              <a:t>Presentation by</a:t>
            </a:r>
          </a:p>
          <a:p>
            <a:r>
              <a:rPr lang="en-IN" dirty="0" err="1"/>
              <a:t>Dr.</a:t>
            </a:r>
            <a:r>
              <a:rPr lang="en-IN" dirty="0"/>
              <a:t> </a:t>
            </a:r>
            <a:r>
              <a:rPr lang="en-IN" dirty="0" err="1"/>
              <a:t>Basavaraj</a:t>
            </a:r>
            <a:r>
              <a:rPr lang="en-IN" dirty="0"/>
              <a:t> S. </a:t>
            </a:r>
            <a:r>
              <a:rPr lang="en-IN" dirty="0" err="1"/>
              <a:t>Kudachimath</a:t>
            </a:r>
            <a:endParaRPr lang="en-IN" dirty="0"/>
          </a:p>
        </p:txBody>
      </p:sp>
    </p:spTree>
    <p:extLst>
      <p:ext uri="{BB962C8B-B14F-4D97-AF65-F5344CB8AC3E}">
        <p14:creationId xmlns:p14="http://schemas.microsoft.com/office/powerpoint/2010/main" val="2321520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40566"/>
          </a:xfrm>
        </p:spPr>
        <p:txBody>
          <a:bodyPr>
            <a:normAutofit fontScale="90000"/>
          </a:bodyPr>
          <a:lstStyle/>
          <a:p>
            <a:pPr algn="just"/>
            <a:r>
              <a:rPr lang="en-IN" dirty="0">
                <a:latin typeface="Times New Roman" pitchFamily="18" charset="0"/>
                <a:cs typeface="Times New Roman" pitchFamily="18" charset="0"/>
              </a:rPr>
              <a:t>Discussion Points</a:t>
            </a:r>
          </a:p>
        </p:txBody>
      </p:sp>
      <p:sp>
        <p:nvSpPr>
          <p:cNvPr id="3" name="Content Placeholder 2"/>
          <p:cNvSpPr>
            <a:spLocks noGrp="1"/>
          </p:cNvSpPr>
          <p:nvPr>
            <p:ph idx="1"/>
          </p:nvPr>
        </p:nvSpPr>
        <p:spPr>
          <a:xfrm>
            <a:off x="838200" y="1027611"/>
            <a:ext cx="10515600" cy="5149352"/>
          </a:xfrm>
        </p:spPr>
        <p:txBody>
          <a:bodyPr/>
          <a:lstStyle/>
          <a:p>
            <a:pPr algn="just"/>
            <a:r>
              <a:rPr lang="en-US" b="1" dirty="0">
                <a:latin typeface="Times New Roman" pitchFamily="18" charset="0"/>
                <a:cs typeface="Times New Roman" pitchFamily="18" charset="0"/>
              </a:rPr>
              <a:t>Data Collection: </a:t>
            </a:r>
            <a:r>
              <a:rPr lang="en-US" dirty="0">
                <a:latin typeface="Times New Roman" pitchFamily="18" charset="0"/>
                <a:cs typeface="Times New Roman" pitchFamily="18" charset="0"/>
              </a:rPr>
              <a:t>Meaning, types, </a:t>
            </a:r>
            <a:r>
              <a:rPr lang="en-US" b="1" dirty="0">
                <a:latin typeface="Times New Roman" pitchFamily="18" charset="0"/>
                <a:cs typeface="Times New Roman" pitchFamily="18" charset="0"/>
              </a:rPr>
              <a:t>Data collection methods</a:t>
            </a:r>
            <a:r>
              <a:rPr lang="en-US" dirty="0">
                <a:latin typeface="Times New Roman" pitchFamily="18" charset="0"/>
                <a:cs typeface="Times New Roman" pitchFamily="18" charset="0"/>
              </a:rPr>
              <a:t>: Observations, survey and interview </a:t>
            </a:r>
            <a:r>
              <a:rPr lang="fr-FR" dirty="0">
                <a:latin typeface="Times New Roman" pitchFamily="18" charset="0"/>
                <a:cs typeface="Times New Roman" pitchFamily="18" charset="0"/>
              </a:rPr>
              <a:t>techniques, </a:t>
            </a:r>
          </a:p>
          <a:p>
            <a:pPr algn="just"/>
            <a:r>
              <a:rPr lang="fr-FR" b="1" dirty="0">
                <a:latin typeface="Times New Roman" pitchFamily="18" charset="0"/>
                <a:cs typeface="Times New Roman" pitchFamily="18" charset="0"/>
              </a:rPr>
              <a:t>Questionnaire design</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Meaning</a:t>
            </a:r>
            <a:r>
              <a:rPr lang="fr-FR" dirty="0">
                <a:latin typeface="Times New Roman" pitchFamily="18" charset="0"/>
                <a:cs typeface="Times New Roman" pitchFamily="18" charset="0"/>
              </a:rPr>
              <a:t>, </a:t>
            </a:r>
            <a:r>
              <a:rPr lang="fr-FR" dirty="0" err="1">
                <a:latin typeface="Times New Roman" pitchFamily="18" charset="0"/>
                <a:cs typeface="Times New Roman" pitchFamily="18" charset="0"/>
              </a:rPr>
              <a:t>process</a:t>
            </a:r>
            <a:r>
              <a:rPr lang="fr-FR" dirty="0">
                <a:latin typeface="Times New Roman" pitchFamily="18" charset="0"/>
                <a:cs typeface="Times New Roman" pitchFamily="18" charset="0"/>
              </a:rPr>
              <a:t> of </a:t>
            </a:r>
            <a:r>
              <a:rPr lang="fr-FR" dirty="0" err="1">
                <a:latin typeface="Times New Roman" pitchFamily="18" charset="0"/>
                <a:cs typeface="Times New Roman" pitchFamily="18" charset="0"/>
              </a:rPr>
              <a:t>designing</a:t>
            </a:r>
            <a:r>
              <a:rPr lang="fr-FR" dirty="0">
                <a:latin typeface="Times New Roman" pitchFamily="18" charset="0"/>
                <a:cs typeface="Times New Roman" pitchFamily="18" charset="0"/>
              </a:rPr>
              <a:t> questionnaire. Qualitative</a:t>
            </a:r>
            <a:r>
              <a:rPr lang="en-US" dirty="0">
                <a:latin typeface="Times New Roman" pitchFamily="18" charset="0"/>
                <a:cs typeface="Times New Roman" pitchFamily="18" charset="0"/>
              </a:rPr>
              <a:t>Techniques of data collection Secondary data Sources: advantages and disadvantages.</a:t>
            </a:r>
          </a:p>
          <a:p>
            <a:pPr algn="just"/>
            <a:r>
              <a:rPr lang="en-US" b="1" dirty="0">
                <a:latin typeface="Times New Roman" pitchFamily="18" charset="0"/>
                <a:cs typeface="Times New Roman" pitchFamily="18" charset="0"/>
              </a:rPr>
              <a:t>Measurement and Scaling Techniques: </a:t>
            </a:r>
            <a:r>
              <a:rPr lang="en-US" dirty="0">
                <a:latin typeface="Times New Roman" pitchFamily="18" charset="0"/>
                <a:cs typeface="Times New Roman" pitchFamily="18" charset="0"/>
              </a:rPr>
              <a:t>Basic measurement scales-Nominal scale, Ordinal scale, Interval </a:t>
            </a:r>
            <a:r>
              <a:rPr lang="en-IN" dirty="0">
                <a:latin typeface="Times New Roman" pitchFamily="18" charset="0"/>
                <a:cs typeface="Times New Roman" pitchFamily="18" charset="0"/>
              </a:rPr>
              <a:t>scale, Ratio scale. Attitude measurement scale - </a:t>
            </a:r>
            <a:r>
              <a:rPr lang="en-IN" dirty="0" err="1">
                <a:latin typeface="Times New Roman" pitchFamily="18" charset="0"/>
                <a:cs typeface="Times New Roman" pitchFamily="18" charset="0"/>
              </a:rPr>
              <a:t>Likert</a:t>
            </a:r>
            <a:r>
              <a:rPr lang="en-IN" dirty="0">
                <a:latin typeface="Times New Roman" pitchFamily="18" charset="0"/>
                <a:cs typeface="Times New Roman" pitchFamily="18" charset="0"/>
              </a:rPr>
              <a:t> Scale, Semantic Differential Scale, Thurston scale,</a:t>
            </a:r>
          </a:p>
          <a:p>
            <a:pPr algn="just"/>
            <a:r>
              <a:rPr lang="en-IN" b="1" dirty="0">
                <a:latin typeface="Times New Roman" pitchFamily="18" charset="0"/>
                <a:cs typeface="Times New Roman" pitchFamily="18" charset="0"/>
              </a:rPr>
              <a:t>Multi-Dimensional Scaling: </a:t>
            </a:r>
            <a:r>
              <a:rPr lang="en-IN" dirty="0">
                <a:latin typeface="Times New Roman" pitchFamily="18" charset="0"/>
                <a:cs typeface="Times New Roman" pitchFamily="18" charset="0"/>
              </a:rPr>
              <a:t>Non comparative scaling techniques</a:t>
            </a:r>
          </a:p>
        </p:txBody>
      </p:sp>
    </p:spTree>
    <p:extLst>
      <p:ext uri="{BB962C8B-B14F-4D97-AF65-F5344CB8AC3E}">
        <p14:creationId xmlns:p14="http://schemas.microsoft.com/office/powerpoint/2010/main" val="2384995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8039"/>
            <a:ext cx="10515600" cy="444772"/>
          </a:xfrm>
        </p:spPr>
        <p:txBody>
          <a:bodyPr>
            <a:normAutofit fontScale="90000"/>
          </a:bodyPr>
          <a:lstStyle/>
          <a:p>
            <a:r>
              <a:rPr lang="en-IN" dirty="0">
                <a:latin typeface="Times New Roman" pitchFamily="18" charset="0"/>
                <a:cs typeface="Times New Roman" pitchFamily="18" charset="0"/>
              </a:rPr>
              <a:t>What is Data</a:t>
            </a:r>
          </a:p>
        </p:txBody>
      </p:sp>
      <p:sp>
        <p:nvSpPr>
          <p:cNvPr id="3" name="Content Placeholder 2"/>
          <p:cNvSpPr>
            <a:spLocks noGrp="1"/>
          </p:cNvSpPr>
          <p:nvPr>
            <p:ph idx="1"/>
          </p:nvPr>
        </p:nvSpPr>
        <p:spPr>
          <a:xfrm>
            <a:off x="838200" y="949234"/>
            <a:ext cx="10515600" cy="5227729"/>
          </a:xfrm>
        </p:spPr>
        <p:txBody>
          <a:bodyPr>
            <a:normAutofit fontScale="77500" lnSpcReduction="20000"/>
          </a:bodyPr>
          <a:lstStyle/>
          <a:p>
            <a:pPr algn="just">
              <a:lnSpc>
                <a:spcPct val="120000"/>
              </a:lnSpc>
            </a:pPr>
            <a:r>
              <a:rPr lang="en-US" dirty="0">
                <a:latin typeface="Times New Roman" pitchFamily="18" charset="0"/>
                <a:cs typeface="Times New Roman" pitchFamily="18" charset="0"/>
              </a:rPr>
              <a:t>Data is defined as a collection of individual facts or statistics. (While “datum” is technically the singular form of “data,” it’s not commonly used in everyday language.)</a:t>
            </a:r>
            <a:endParaRPr lang="en-IN" dirty="0">
              <a:latin typeface="Times New Roman" pitchFamily="18" charset="0"/>
              <a:cs typeface="Times New Roman" pitchFamily="18" charset="0"/>
            </a:endParaRPr>
          </a:p>
          <a:p>
            <a:pPr algn="just">
              <a:lnSpc>
                <a:spcPct val="120000"/>
              </a:lnSpc>
            </a:pPr>
            <a:r>
              <a:rPr lang="en-IN" dirty="0">
                <a:latin typeface="Times New Roman" pitchFamily="18" charset="0"/>
                <a:cs typeface="Times New Roman" pitchFamily="18" charset="0"/>
              </a:rPr>
              <a:t>Data are </a:t>
            </a:r>
            <a:r>
              <a:rPr lang="en-IN" b="1" dirty="0">
                <a:latin typeface="Times New Roman" pitchFamily="18" charset="0"/>
                <a:cs typeface="Times New Roman" pitchFamily="18" charset="0"/>
              </a:rPr>
              <a:t>facts</a:t>
            </a:r>
            <a:r>
              <a:rPr lang="en-IN" dirty="0">
                <a:latin typeface="Times New Roman" pitchFamily="18" charset="0"/>
                <a:cs typeface="Times New Roman" pitchFamily="18" charset="0"/>
              </a:rPr>
              <a:t> </a:t>
            </a:r>
            <a:r>
              <a:rPr lang="en-IN" b="1" dirty="0">
                <a:latin typeface="Times New Roman" pitchFamily="18" charset="0"/>
                <a:cs typeface="Times New Roman" pitchFamily="18" charset="0"/>
              </a:rPr>
              <a:t>such as figures or  numbers, pictures, signs, colours etc  used to analyze something or make decisions</a:t>
            </a:r>
            <a:r>
              <a:rPr lang="en-IN" dirty="0">
                <a:latin typeface="Times New Roman" pitchFamily="18" charset="0"/>
                <a:cs typeface="Times New Roman" pitchFamily="18" charset="0"/>
              </a:rPr>
              <a:t>.</a:t>
            </a:r>
          </a:p>
          <a:p>
            <a:pPr algn="just">
              <a:lnSpc>
                <a:spcPct val="120000"/>
              </a:lnSpc>
            </a:pPr>
            <a:r>
              <a:rPr lang="en-IN" dirty="0">
                <a:latin typeface="Times New Roman" pitchFamily="18" charset="0"/>
                <a:cs typeface="Times New Roman" pitchFamily="18" charset="0"/>
              </a:rPr>
              <a:t>Data can come in the form of </a:t>
            </a:r>
            <a:r>
              <a:rPr lang="en-IN" b="1" dirty="0">
                <a:latin typeface="Times New Roman" pitchFamily="18" charset="0"/>
                <a:cs typeface="Times New Roman" pitchFamily="18" charset="0"/>
              </a:rPr>
              <a:t>text, observations, figures, images, numbers, graphs, or symbols</a:t>
            </a:r>
            <a:r>
              <a:rPr lang="en-IN" dirty="0">
                <a:latin typeface="Times New Roman" pitchFamily="18" charset="0"/>
                <a:cs typeface="Times New Roman" pitchFamily="18" charset="0"/>
              </a:rPr>
              <a:t>. For example, data might include individual prices, weights, addresses, ages, names, temperatures, dates, or distances. Data is a raw form of knowledge and, on its own, doesn't carry any significance or purpose.</a:t>
            </a:r>
          </a:p>
          <a:p>
            <a:pPr marL="0" indent="0" algn="just">
              <a:buNone/>
            </a:pPr>
            <a:r>
              <a:rPr lang="en-US" dirty="0">
                <a:latin typeface="Times New Roman" pitchFamily="18" charset="0"/>
                <a:cs typeface="Times New Roman" pitchFamily="18" charset="0"/>
              </a:rPr>
              <a:t>There are two main types of data:</a:t>
            </a:r>
          </a:p>
          <a:p>
            <a:pPr marL="514350" indent="-514350" algn="just">
              <a:buFont typeface="+mj-lt"/>
              <a:buAutoNum type="arabicPeriod"/>
            </a:pPr>
            <a:r>
              <a:rPr lang="en-US" b="1" dirty="0">
                <a:latin typeface="Times New Roman" pitchFamily="18" charset="0"/>
                <a:cs typeface="Times New Roman" pitchFamily="18" charset="0"/>
              </a:rPr>
              <a:t>Quantitative data</a:t>
            </a:r>
            <a:r>
              <a:rPr lang="en-US" dirty="0">
                <a:latin typeface="Times New Roman" pitchFamily="18" charset="0"/>
                <a:cs typeface="Times New Roman" pitchFamily="18" charset="0"/>
              </a:rPr>
              <a:t> is provided in numerical form, like the weight, volume, or cost of an item.</a:t>
            </a:r>
          </a:p>
          <a:p>
            <a:pPr marL="514350" indent="-514350" algn="just">
              <a:buFont typeface="+mj-lt"/>
              <a:buAutoNum type="arabicPeriod"/>
            </a:pPr>
            <a:r>
              <a:rPr lang="en-US" b="1" dirty="0">
                <a:latin typeface="Times New Roman" pitchFamily="18" charset="0"/>
                <a:cs typeface="Times New Roman" pitchFamily="18" charset="0"/>
              </a:rPr>
              <a:t>Qualitative data</a:t>
            </a:r>
            <a:r>
              <a:rPr lang="en-US" dirty="0">
                <a:latin typeface="Times New Roman" pitchFamily="18" charset="0"/>
                <a:cs typeface="Times New Roman" pitchFamily="18" charset="0"/>
              </a:rPr>
              <a:t> is descriptive, but non-numerical, like the name, sex, or eye color of a person.</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2733907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lstStyle/>
          <a:p>
            <a:r>
              <a:rPr lang="en-IN" dirty="0"/>
              <a:t>Information</a:t>
            </a:r>
          </a:p>
        </p:txBody>
      </p:sp>
      <p:sp>
        <p:nvSpPr>
          <p:cNvPr id="3" name="Content Placeholder 2"/>
          <p:cNvSpPr>
            <a:spLocks noGrp="1"/>
          </p:cNvSpPr>
          <p:nvPr>
            <p:ph idx="1"/>
          </p:nvPr>
        </p:nvSpPr>
        <p:spPr>
          <a:xfrm>
            <a:off x="838200" y="1071154"/>
            <a:ext cx="10515600" cy="5105809"/>
          </a:xfrm>
        </p:spPr>
        <p:txBody>
          <a:bodyPr>
            <a:normAutofit fontScale="92500" lnSpcReduction="10000"/>
          </a:bodyPr>
          <a:lstStyle/>
          <a:p>
            <a:r>
              <a:rPr lang="en-US" b="1" dirty="0">
                <a:latin typeface="Times New Roman" pitchFamily="18" charset="0"/>
                <a:cs typeface="Times New Roman" pitchFamily="18" charset="0"/>
              </a:rPr>
              <a:t>What Is Information?</a:t>
            </a:r>
          </a:p>
          <a:p>
            <a:pPr algn="just">
              <a:lnSpc>
                <a:spcPct val="110000"/>
              </a:lnSpc>
            </a:pPr>
            <a:r>
              <a:rPr lang="en-US" dirty="0">
                <a:latin typeface="Times New Roman" pitchFamily="18" charset="0"/>
                <a:cs typeface="Times New Roman" pitchFamily="18" charset="0"/>
              </a:rPr>
              <a:t>Information is defined as knowledge gained through study, communication, research, or instruction. Essentially, information is the result of analyzing and interpreting pieces of data. Whereas data is the individual figures, numbers, or graphs, information is the perception of those pieces of knowledge.</a:t>
            </a:r>
          </a:p>
          <a:p>
            <a:pPr algn="just">
              <a:lnSpc>
                <a:spcPct val="110000"/>
              </a:lnSpc>
            </a:pPr>
            <a:r>
              <a:rPr lang="en-US" dirty="0">
                <a:latin typeface="Times New Roman" pitchFamily="18" charset="0"/>
                <a:cs typeface="Times New Roman" pitchFamily="18" charset="0"/>
              </a:rPr>
              <a:t>For example, a set of data could include temperature readings in a location over several years. Without any additional context, those temperatures have no meaning. However, when you analyze and organize that information, you could determine seasonal temperature patterns or even broader climate trends. Only when the data is organized and compiled in a useful way can it provide information that is beneficial to others.   </a:t>
            </a:r>
          </a:p>
          <a:p>
            <a:pPr marL="0" indent="0">
              <a:buNone/>
            </a:pP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385945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6029"/>
          </a:xfrm>
        </p:spPr>
        <p:txBody>
          <a:bodyPr>
            <a:normAutofit/>
          </a:bodyPr>
          <a:lstStyle/>
          <a:p>
            <a:r>
              <a:rPr lang="en-IN" dirty="0"/>
              <a:t>Differences between Data and Information</a:t>
            </a:r>
          </a:p>
        </p:txBody>
      </p:sp>
      <p:pic>
        <p:nvPicPr>
          <p:cNvPr id="4" name="Picture 3"/>
          <p:cNvPicPr>
            <a:picLocks noChangeAspect="1"/>
          </p:cNvPicPr>
          <p:nvPr/>
        </p:nvPicPr>
        <p:blipFill>
          <a:blip r:embed="rId2"/>
          <a:stretch>
            <a:fillRect/>
          </a:stretch>
        </p:blipFill>
        <p:spPr>
          <a:xfrm>
            <a:off x="766354" y="1262743"/>
            <a:ext cx="10587446" cy="5225143"/>
          </a:xfrm>
          <a:prstGeom prst="rect">
            <a:avLst/>
          </a:prstGeom>
        </p:spPr>
      </p:pic>
    </p:spTree>
    <p:extLst>
      <p:ext uri="{BB962C8B-B14F-4D97-AF65-F5344CB8AC3E}">
        <p14:creationId xmlns:p14="http://schemas.microsoft.com/office/powerpoint/2010/main" val="3736077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49027"/>
          </a:xfrm>
        </p:spPr>
        <p:txBody>
          <a:bodyPr>
            <a:normAutofit fontScale="90000"/>
          </a:bodyPr>
          <a:lstStyle/>
          <a:p>
            <a:r>
              <a:rPr lang="en-IN" b="1" dirty="0">
                <a:latin typeface="Times New Roman" pitchFamily="18" charset="0"/>
                <a:cs typeface="Times New Roman" pitchFamily="18" charset="0"/>
              </a:rPr>
              <a:t>Types of data</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05593"/>
            <a:ext cx="10515600" cy="5071370"/>
          </a:xfrm>
        </p:spPr>
        <p:txBody>
          <a:bodyPr/>
          <a:lstStyle/>
          <a:p>
            <a:pPr marL="514350" indent="-514350">
              <a:buAutoNum type="arabicPeriod"/>
            </a:pPr>
            <a:r>
              <a:rPr lang="en-IN" dirty="0">
                <a:latin typeface="Times New Roman" pitchFamily="18" charset="0"/>
                <a:cs typeface="Times New Roman" pitchFamily="18" charset="0"/>
              </a:rPr>
              <a:t>Primary Data: It may be</a:t>
            </a:r>
          </a:p>
          <a:p>
            <a:pPr marL="514350" indent="-514350">
              <a:buNone/>
            </a:pP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qualitative data or </a:t>
            </a:r>
          </a:p>
          <a:p>
            <a:pPr marL="514350" indent="-514350">
              <a:buNone/>
            </a:pPr>
            <a:r>
              <a:rPr lang="en-IN" dirty="0">
                <a:latin typeface="Times New Roman" pitchFamily="18" charset="0"/>
                <a:cs typeface="Times New Roman" pitchFamily="18" charset="0"/>
              </a:rPr>
              <a:t>ii)  quantitative data</a:t>
            </a:r>
          </a:p>
          <a:p>
            <a:pPr marL="514350" indent="-514350">
              <a:buAutoNum type="arabicPeriod"/>
            </a:pPr>
            <a:r>
              <a:rPr lang="en-IN" dirty="0">
                <a:latin typeface="Times New Roman" pitchFamily="18" charset="0"/>
                <a:cs typeface="Times New Roman" pitchFamily="18" charset="0"/>
              </a:rPr>
              <a:t>Secondary data: It may be</a:t>
            </a:r>
          </a:p>
          <a:p>
            <a:pPr marL="514350" indent="-514350">
              <a:buNone/>
            </a:pP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qualitative data or</a:t>
            </a:r>
          </a:p>
          <a:p>
            <a:pPr marL="514350" indent="-514350">
              <a:buNone/>
            </a:pPr>
            <a:r>
              <a:rPr lang="en-IN" dirty="0">
                <a:latin typeface="Times New Roman" pitchFamily="18" charset="0"/>
                <a:cs typeface="Times New Roman" pitchFamily="18" charset="0"/>
              </a:rPr>
              <a:t> ii)  quantitative data</a:t>
            </a:r>
            <a:endParaRPr lang="en-US"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152" y="274638"/>
            <a:ext cx="8229600" cy="639762"/>
          </a:xfrm>
        </p:spPr>
        <p:txBody>
          <a:bodyPr>
            <a:normAutofit fontScale="90000"/>
          </a:bodyPr>
          <a:lstStyle/>
          <a:p>
            <a:r>
              <a:rPr lang="en-US" b="1" dirty="0">
                <a:latin typeface="Times New Roman" pitchFamily="18" charset="0"/>
                <a:cs typeface="Times New Roman" pitchFamily="18" charset="0"/>
              </a:rPr>
              <a:t>Primary Data</a:t>
            </a:r>
          </a:p>
        </p:txBody>
      </p:sp>
      <p:sp>
        <p:nvSpPr>
          <p:cNvPr id="3" name="Content Placeholder 2"/>
          <p:cNvSpPr>
            <a:spLocks noGrp="1"/>
          </p:cNvSpPr>
          <p:nvPr>
            <p:ph idx="1"/>
          </p:nvPr>
        </p:nvSpPr>
        <p:spPr>
          <a:xfrm>
            <a:off x="792480" y="935176"/>
            <a:ext cx="10580914" cy="4983163"/>
          </a:xfrm>
        </p:spPr>
        <p:txBody>
          <a:bodyPr>
            <a:noAutofit/>
          </a:bodyPr>
          <a:lstStyle/>
          <a:p>
            <a:pPr algn="just">
              <a:lnSpc>
                <a:spcPct val="100000"/>
              </a:lnSpc>
              <a:buNone/>
            </a:pPr>
            <a:r>
              <a:rPr lang="en-US" sz="1800" dirty="0">
                <a:latin typeface="Times New Roman" pitchFamily="18" charset="0"/>
                <a:cs typeface="Times New Roman" pitchFamily="18" charset="0"/>
              </a:rPr>
              <a:t>	</a:t>
            </a:r>
            <a:r>
              <a:rPr lang="en-US" sz="2400" dirty="0">
                <a:latin typeface="Times New Roman" pitchFamily="18" charset="0"/>
                <a:cs typeface="Times New Roman" pitchFamily="18" charset="0"/>
              </a:rPr>
              <a:t>Primary data is known as the data collected for the first time through field survey. Such data are collected with specific set of objectives to assess the current status of any variable studied. </a:t>
            </a:r>
          </a:p>
          <a:p>
            <a:pPr algn="just">
              <a:lnSpc>
                <a:spcPct val="100000"/>
              </a:lnSpc>
              <a:buNone/>
            </a:pPr>
            <a:r>
              <a:rPr lang="en-US" sz="2400" dirty="0">
                <a:latin typeface="Times New Roman" pitchFamily="18" charset="0"/>
                <a:cs typeface="Times New Roman" pitchFamily="18" charset="0"/>
              </a:rPr>
              <a:t>	Primary data always reveal the cross section picture of any thing studied. This is needed in research to study the effect or impact of any policy. </a:t>
            </a:r>
          </a:p>
          <a:p>
            <a:pPr algn="just">
              <a:lnSpc>
                <a:spcPct val="100000"/>
              </a:lnSpc>
              <a:buNone/>
            </a:pPr>
            <a:r>
              <a:rPr lang="en-US" sz="2400" dirty="0">
                <a:latin typeface="Times New Roman" pitchFamily="18" charset="0"/>
                <a:cs typeface="Times New Roman" pitchFamily="18" charset="0"/>
              </a:rPr>
              <a:t>	For example, suppose the Transport department wants to study whether introduction of one way regulation in a main road has helped to release the traffic congestion. This can be studied only by collecting information on the spot for a few days from the common public, vehicle using population, shop keepers, policemen on duty and others who are directly affected by such a one way regulation. Such an information is called primary date.</a:t>
            </a:r>
          </a:p>
        </p:txBody>
      </p:sp>
    </p:spTree>
    <p:extLst>
      <p:ext uri="{BB962C8B-B14F-4D97-AF65-F5344CB8AC3E}">
        <p14:creationId xmlns:p14="http://schemas.microsoft.com/office/powerpoint/2010/main" val="1985136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64417"/>
          </a:xfrm>
        </p:spPr>
        <p:txBody>
          <a:bodyPr/>
          <a:lstStyle/>
          <a:p>
            <a:r>
              <a:rPr lang="en-US" dirty="0">
                <a:latin typeface="Times New Roman" pitchFamily="18" charset="0"/>
                <a:cs typeface="Times New Roman" pitchFamily="18" charset="0"/>
              </a:rPr>
              <a:t>Advantages of Primary data</a:t>
            </a:r>
          </a:p>
        </p:txBody>
      </p:sp>
      <p:sp>
        <p:nvSpPr>
          <p:cNvPr id="3" name="Content Placeholder 2"/>
          <p:cNvSpPr>
            <a:spLocks noGrp="1"/>
          </p:cNvSpPr>
          <p:nvPr>
            <p:ph idx="1"/>
          </p:nvPr>
        </p:nvSpPr>
        <p:spPr>
          <a:xfrm>
            <a:off x="817380" y="1528165"/>
            <a:ext cx="8229600" cy="4830763"/>
          </a:xfrm>
        </p:spPr>
        <p:txBody>
          <a:bodyPr/>
          <a:lstStyle/>
          <a:p>
            <a:pPr marL="514350" indent="-514350">
              <a:buAutoNum type="arabicPeriod"/>
            </a:pPr>
            <a:r>
              <a:rPr lang="en-US" dirty="0">
                <a:latin typeface="Times New Roman" pitchFamily="18" charset="0"/>
                <a:cs typeface="Times New Roman" pitchFamily="18" charset="0"/>
              </a:rPr>
              <a:t>Gives more accuracy of research.</a:t>
            </a:r>
          </a:p>
          <a:p>
            <a:pPr marL="514350" indent="-514350">
              <a:buAutoNum type="arabicPeriod"/>
            </a:pPr>
            <a:r>
              <a:rPr lang="en-US" dirty="0">
                <a:latin typeface="Times New Roman" pitchFamily="18" charset="0"/>
                <a:cs typeface="Times New Roman" pitchFamily="18" charset="0"/>
              </a:rPr>
              <a:t>Gives live input for decision making.</a:t>
            </a:r>
          </a:p>
          <a:p>
            <a:pPr marL="514350" indent="-514350">
              <a:buAutoNum type="arabicPeriod"/>
            </a:pPr>
            <a:r>
              <a:rPr lang="en-US" dirty="0">
                <a:latin typeface="Times New Roman" pitchFamily="18" charset="0"/>
                <a:cs typeface="Times New Roman" pitchFamily="18" charset="0"/>
              </a:rPr>
              <a:t>Easy to settle queries.</a:t>
            </a:r>
          </a:p>
          <a:p>
            <a:pPr marL="514350" indent="-514350">
              <a:buAutoNum type="arabicPeriod"/>
            </a:pPr>
            <a:r>
              <a:rPr lang="en-US" dirty="0">
                <a:latin typeface="Times New Roman" pitchFamily="18" charset="0"/>
                <a:cs typeface="Times New Roman" pitchFamily="18" charset="0"/>
              </a:rPr>
              <a:t>Latest data makes research more reliable.</a:t>
            </a:r>
          </a:p>
        </p:txBody>
      </p:sp>
    </p:spTree>
    <p:extLst>
      <p:ext uri="{BB962C8B-B14F-4D97-AF65-F5344CB8AC3E}">
        <p14:creationId xmlns:p14="http://schemas.microsoft.com/office/powerpoint/2010/main" val="8648781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3224"/>
          </a:xfrm>
        </p:spPr>
        <p:txBody>
          <a:bodyPr/>
          <a:lstStyle/>
          <a:p>
            <a:r>
              <a:rPr lang="en-US" dirty="0">
                <a:latin typeface="Times New Roman" pitchFamily="18" charset="0"/>
                <a:cs typeface="Times New Roman" pitchFamily="18" charset="0"/>
              </a:rPr>
              <a:t>Disadvantages</a:t>
            </a:r>
          </a:p>
        </p:txBody>
      </p:sp>
      <p:sp>
        <p:nvSpPr>
          <p:cNvPr id="3" name="Content Placeholder 2"/>
          <p:cNvSpPr>
            <a:spLocks noGrp="1"/>
          </p:cNvSpPr>
          <p:nvPr>
            <p:ph idx="1"/>
          </p:nvPr>
        </p:nvSpPr>
        <p:spPr>
          <a:xfrm>
            <a:off x="857793" y="1412969"/>
            <a:ext cx="9100853" cy="2153192"/>
          </a:xfrm>
        </p:spPr>
        <p:txBody>
          <a:bodyPr/>
          <a:lstStyle/>
          <a:p>
            <a:pPr marL="514350" indent="-514350">
              <a:buAutoNum type="arabicPeriod"/>
            </a:pPr>
            <a:r>
              <a:rPr lang="en-US" dirty="0">
                <a:latin typeface="Times New Roman" pitchFamily="18" charset="0"/>
                <a:cs typeface="Times New Roman" pitchFamily="18" charset="0"/>
              </a:rPr>
              <a:t>Not suitable for all types of research.</a:t>
            </a:r>
          </a:p>
          <a:p>
            <a:pPr marL="514350" indent="-514350">
              <a:buAutoNum type="arabicPeriod"/>
            </a:pPr>
            <a:r>
              <a:rPr lang="en-US" dirty="0">
                <a:latin typeface="Times New Roman" pitchFamily="18" charset="0"/>
                <a:cs typeface="Times New Roman" pitchFamily="18" charset="0"/>
              </a:rPr>
              <a:t>Difficult to check accuracy of research.</a:t>
            </a:r>
          </a:p>
          <a:p>
            <a:pPr marL="514350" indent="-514350">
              <a:buAutoNum type="arabicPeriod"/>
            </a:pPr>
            <a:r>
              <a:rPr lang="en-US" dirty="0">
                <a:latin typeface="Times New Roman" pitchFamily="18" charset="0"/>
                <a:cs typeface="Times New Roman" pitchFamily="18" charset="0"/>
              </a:rPr>
              <a:t>Researcher should be efficient enough to collect the data</a:t>
            </a: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93471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a:latin typeface="Times New Roman" pitchFamily="18" charset="0"/>
                <a:cs typeface="Times New Roman" pitchFamily="18" charset="0"/>
              </a:rPr>
              <a:t>Sources of Primary Data</a:t>
            </a:r>
          </a:p>
        </p:txBody>
      </p:sp>
      <p:sp>
        <p:nvSpPr>
          <p:cNvPr id="3" name="Content Placeholder 2"/>
          <p:cNvSpPr>
            <a:spLocks noGrp="1"/>
          </p:cNvSpPr>
          <p:nvPr>
            <p:ph idx="1"/>
          </p:nvPr>
        </p:nvSpPr>
        <p:spPr>
          <a:xfrm>
            <a:off x="1864818" y="1094521"/>
            <a:ext cx="8229600" cy="5364163"/>
          </a:xfrm>
        </p:spPr>
        <p:txBody>
          <a:bodyPr/>
          <a:lstStyle/>
          <a:p>
            <a:pPr marL="514350" indent="-514350">
              <a:buAutoNum type="arabicPeriod"/>
            </a:pPr>
            <a:r>
              <a:rPr lang="en-US" dirty="0">
                <a:latin typeface="Times New Roman" pitchFamily="18" charset="0"/>
                <a:cs typeface="Times New Roman" pitchFamily="18" charset="0"/>
              </a:rPr>
              <a:t>Schedule or Questionnaire (Survey method)</a:t>
            </a:r>
          </a:p>
          <a:p>
            <a:pPr marL="514350" indent="-514350">
              <a:buAutoNum type="arabicPeriod"/>
            </a:pPr>
            <a:r>
              <a:rPr lang="en-US" dirty="0">
                <a:latin typeface="Times New Roman" pitchFamily="18" charset="0"/>
                <a:cs typeface="Times New Roman" pitchFamily="18" charset="0"/>
              </a:rPr>
              <a:t>Interview</a:t>
            </a:r>
          </a:p>
          <a:p>
            <a:pPr marL="514350" indent="-514350">
              <a:buAutoNum type="arabicPeriod"/>
            </a:pPr>
            <a:r>
              <a:rPr lang="en-US" dirty="0">
                <a:latin typeface="Times New Roman" pitchFamily="18" charset="0"/>
                <a:cs typeface="Times New Roman" pitchFamily="18" charset="0"/>
              </a:rPr>
              <a:t>Observation</a:t>
            </a:r>
          </a:p>
          <a:p>
            <a:pPr marL="514350" indent="-514350">
              <a:buAutoNum type="arabicPeriod"/>
            </a:pPr>
            <a:r>
              <a:rPr lang="en-US" dirty="0">
                <a:latin typeface="Times New Roman" pitchFamily="18" charset="0"/>
                <a:cs typeface="Times New Roman" pitchFamily="18" charset="0"/>
              </a:rPr>
              <a:t>Feedback Form</a:t>
            </a:r>
          </a:p>
          <a:p>
            <a:pPr marL="514350" indent="-514350">
              <a:buAutoNum type="arabicPeriod"/>
            </a:pPr>
            <a:r>
              <a:rPr lang="en-US" dirty="0">
                <a:latin typeface="Times New Roman" pitchFamily="18" charset="0"/>
                <a:cs typeface="Times New Roman" pitchFamily="18" charset="0"/>
              </a:rPr>
              <a:t>Sales force Opinion</a:t>
            </a:r>
          </a:p>
          <a:p>
            <a:pPr marL="514350" indent="-514350">
              <a:buAutoNum type="arabicPeriod"/>
            </a:pPr>
            <a:r>
              <a:rPr lang="en-US" dirty="0">
                <a:latin typeface="Times New Roman" pitchFamily="18" charset="0"/>
                <a:cs typeface="Times New Roman" pitchFamily="18" charset="0"/>
              </a:rPr>
              <a:t>Pantry Audit.</a:t>
            </a:r>
          </a:p>
          <a:p>
            <a:pPr marL="514350" indent="-514350">
              <a:buAutoNum type="arabicPeriod"/>
            </a:pPr>
            <a:r>
              <a:rPr lang="en-US" dirty="0">
                <a:latin typeface="Times New Roman" pitchFamily="18" charset="0"/>
                <a:cs typeface="Times New Roman" pitchFamily="18" charset="0"/>
              </a:rPr>
              <a:t>Consumer Panel</a:t>
            </a:r>
          </a:p>
          <a:p>
            <a:pPr marL="514350" indent="-514350">
              <a:buAutoNum type="arabicPeriod"/>
            </a:pPr>
            <a:r>
              <a:rPr lang="en-US" dirty="0">
                <a:latin typeface="Times New Roman" pitchFamily="18" charset="0"/>
                <a:cs typeface="Times New Roman" pitchFamily="18" charset="0"/>
              </a:rPr>
              <a:t>Collection through mechanical device.</a:t>
            </a:r>
          </a:p>
          <a:p>
            <a:pPr marL="514350" indent="-514350">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1343835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altLang="ja-JP" b="1" dirty="0">
                <a:effectLst>
                  <a:outerShdw blurRad="50800" dist="38100" algn="tr" rotWithShape="0">
                    <a:prstClr val="black">
                      <a:alpha val="40000"/>
                    </a:prstClr>
                  </a:outerShdw>
                </a:effectLst>
              </a:rPr>
              <a:t>Survey method tools</a:t>
            </a:r>
            <a:br>
              <a:rPr lang="en-US" altLang="ja-JP" b="1" dirty="0">
                <a:effectLst>
                  <a:outerShdw blurRad="50800" dist="38100" algn="tr" rotWithShape="0">
                    <a:prstClr val="black">
                      <a:alpha val="40000"/>
                    </a:prstClr>
                  </a:outerShdw>
                </a:effectLst>
              </a:rPr>
            </a:br>
            <a:r>
              <a:rPr lang="en-US" altLang="ja-JP" b="1" dirty="0">
                <a:effectLst>
                  <a:outerShdw blurRad="50800" dist="38100" algn="tr" rotWithShape="0">
                    <a:prstClr val="black">
                      <a:alpha val="40000"/>
                    </a:prstClr>
                  </a:outerShdw>
                </a:effectLst>
              </a:rPr>
              <a:t>Schedule &amp; questionnaire</a:t>
            </a:r>
            <a:br>
              <a:rPr lang="en-US" b="1" dirty="0">
                <a:effectLst>
                  <a:outerShdw blurRad="50800" dist="38100" algn="tr" rotWithShape="0">
                    <a:prstClr val="black">
                      <a:alpha val="40000"/>
                    </a:prstClr>
                  </a:outerShdw>
                </a:effectLst>
              </a:rPr>
            </a:br>
            <a:endParaRPr lang="en-US" dirty="0"/>
          </a:p>
        </p:txBody>
      </p:sp>
      <p:sp>
        <p:nvSpPr>
          <p:cNvPr id="3" name="Subtitle 2"/>
          <p:cNvSpPr>
            <a:spLocks noGrp="1"/>
          </p:cNvSpPr>
          <p:nvPr>
            <p:ph type="subTitle" idx="1"/>
          </p:nvPr>
        </p:nvSpPr>
        <p:spPr/>
        <p:txBody>
          <a:bodyPr/>
          <a:lstStyle/>
          <a:p>
            <a:pPr algn="just"/>
            <a:r>
              <a:rPr lang="en-US" dirty="0">
                <a:latin typeface="Times New Roman" pitchFamily="18" charset="0"/>
                <a:cs typeface="Times New Roman" pitchFamily="18" charset="0"/>
              </a:rPr>
              <a:t>The survey method is a primary data collection technique that gathers information from a targeted group of respondents using structured schedules  or questionnaire.</a:t>
            </a:r>
          </a:p>
        </p:txBody>
      </p:sp>
    </p:spTree>
    <p:extLst>
      <p:ext uri="{BB962C8B-B14F-4D97-AF65-F5344CB8AC3E}">
        <p14:creationId xmlns:p14="http://schemas.microsoft.com/office/powerpoint/2010/main" val="33481152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450" y="304800"/>
            <a:ext cx="8229600" cy="639762"/>
          </a:xfrm>
        </p:spPr>
        <p:txBody>
          <a:bodyPr>
            <a:normAutofit fontScale="90000"/>
          </a:bodyPr>
          <a:lstStyle/>
          <a:p>
            <a:br>
              <a:rPr lang="en-US" b="1" dirty="0">
                <a:latin typeface="Times New Roman" pitchFamily="18" charset="0"/>
                <a:cs typeface="Times New Roman" pitchFamily="18" charset="0"/>
              </a:rPr>
            </a:br>
            <a:r>
              <a:rPr lang="en-US" b="1" dirty="0">
                <a:latin typeface="Times New Roman" pitchFamily="18" charset="0"/>
                <a:cs typeface="Times New Roman" pitchFamily="18" charset="0"/>
              </a:rPr>
              <a:t>Meaning &amp;Types of schedule</a:t>
            </a:r>
            <a:br>
              <a:rPr lang="en-US" b="1" dirty="0">
                <a:latin typeface="Times New Roman" pitchFamily="18" charset="0"/>
                <a:cs typeface="Times New Roman" pitchFamily="18" charset="0"/>
              </a:rPr>
            </a:b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a:xfrm>
            <a:off x="548641" y="1066801"/>
            <a:ext cx="10939548" cy="5059363"/>
          </a:xfrm>
        </p:spPr>
        <p:txBody>
          <a:bodyPr>
            <a:normAutofit/>
          </a:bodyPr>
          <a:lstStyle/>
          <a:p>
            <a:pPr algn="just">
              <a:lnSpc>
                <a:spcPct val="100000"/>
              </a:lnSpc>
              <a:buNone/>
            </a:pPr>
            <a:r>
              <a:rPr lang="en-US" dirty="0">
                <a:latin typeface="Times New Roman" pitchFamily="18" charset="0"/>
                <a:cs typeface="Times New Roman" pitchFamily="18" charset="0"/>
              </a:rPr>
              <a:t>   Schedule is a sheet of paper containing questions relating to certain specific aspect, about which the scholar is collecting data. But the schedule is not sent to the informant. It is taken by the researcher, used by him while eliciting information. The reply is recorded by the researcher himself against each question. Hence, the schedules are different from questionnaires only in respect of usage.</a:t>
            </a:r>
          </a:p>
        </p:txBody>
      </p:sp>
    </p:spTree>
    <p:extLst>
      <p:ext uri="{BB962C8B-B14F-4D97-AF65-F5344CB8AC3E}">
        <p14:creationId xmlns:p14="http://schemas.microsoft.com/office/powerpoint/2010/main" val="330694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dirty="0">
                <a:latin typeface="Times New Roman" pitchFamily="18" charset="0"/>
                <a:cs typeface="Times New Roman" pitchFamily="18" charset="0"/>
              </a:rPr>
              <a:t>Types of Schedules</a:t>
            </a:r>
          </a:p>
        </p:txBody>
      </p:sp>
      <p:sp>
        <p:nvSpPr>
          <p:cNvPr id="5" name="Rectangle 4"/>
          <p:cNvSpPr/>
          <p:nvPr/>
        </p:nvSpPr>
        <p:spPr>
          <a:xfrm>
            <a:off x="362901" y="1119331"/>
            <a:ext cx="6096000" cy="1569660"/>
          </a:xfrm>
          <a:prstGeom prst="rect">
            <a:avLst/>
          </a:prstGeom>
        </p:spPr>
        <p:txBody>
          <a:bodyPr>
            <a:spAutoFit/>
          </a:bodyPr>
          <a:lstStyle/>
          <a:p>
            <a:pPr algn="just"/>
            <a:r>
              <a:rPr lang="en-US" sz="1600" b="1" dirty="0">
                <a:latin typeface="Times New Roman" pitchFamily="18" charset="0"/>
                <a:cs typeface="Times New Roman" pitchFamily="18" charset="0"/>
              </a:rPr>
              <a:t>1. Interview Schedule</a:t>
            </a:r>
          </a:p>
          <a:p>
            <a:pPr algn="just"/>
            <a:r>
              <a:rPr lang="en-US" sz="1600" dirty="0">
                <a:latin typeface="Times New Roman" pitchFamily="18" charset="0"/>
                <a:cs typeface="Times New Roman" pitchFamily="18" charset="0"/>
              </a:rPr>
              <a:t>Used in face-to-face or remote interactions, where the enumerator asks the questions exactly as written and records the respondent's answers.</a:t>
            </a:r>
          </a:p>
          <a:p>
            <a:pPr algn="just"/>
            <a:r>
              <a:rPr lang="en-US" sz="1600" b="1" dirty="0">
                <a:latin typeface="Times New Roman" pitchFamily="18" charset="0"/>
                <a:cs typeface="Times New Roman" pitchFamily="18" charset="0"/>
              </a:rPr>
              <a:t>Structured:</a:t>
            </a:r>
            <a:r>
              <a:rPr lang="en-US" sz="1600" dirty="0">
                <a:latin typeface="Times New Roman" pitchFamily="18" charset="0"/>
                <a:cs typeface="Times New Roman" pitchFamily="18" charset="0"/>
              </a:rPr>
              <a:t> Features predetermined questions in a strict order.</a:t>
            </a:r>
          </a:p>
          <a:p>
            <a:pPr algn="just"/>
            <a:r>
              <a:rPr lang="en-US" sz="1600" b="1" dirty="0">
                <a:latin typeface="Times New Roman" pitchFamily="18" charset="0"/>
                <a:cs typeface="Times New Roman" pitchFamily="18" charset="0"/>
              </a:rPr>
              <a:t>Unstructured / In-depth:</a:t>
            </a:r>
            <a:r>
              <a:rPr lang="en-US" sz="1600" dirty="0">
                <a:latin typeface="Times New Roman" pitchFamily="18" charset="0"/>
                <a:cs typeface="Times New Roman" pitchFamily="18" charset="0"/>
              </a:rPr>
              <a:t> Provides a framework of topics to guide a conversation, allowing for flexible follow-up questions. </a:t>
            </a:r>
          </a:p>
        </p:txBody>
      </p:sp>
      <p:sp>
        <p:nvSpPr>
          <p:cNvPr id="6" name="Rectangle 5"/>
          <p:cNvSpPr/>
          <p:nvPr/>
        </p:nvSpPr>
        <p:spPr>
          <a:xfrm>
            <a:off x="6481269" y="1122001"/>
            <a:ext cx="5322804" cy="1815882"/>
          </a:xfrm>
          <a:prstGeom prst="rect">
            <a:avLst/>
          </a:prstGeom>
        </p:spPr>
        <p:txBody>
          <a:bodyPr wrap="square">
            <a:spAutoFit/>
          </a:bodyPr>
          <a:lstStyle/>
          <a:p>
            <a:pPr algn="just"/>
            <a:r>
              <a:rPr lang="en-US" sz="1600" b="1" dirty="0">
                <a:latin typeface="Times New Roman" pitchFamily="18" charset="0"/>
                <a:cs typeface="Times New Roman" pitchFamily="18" charset="0"/>
              </a:rPr>
              <a:t>2. Observation Schedule</a:t>
            </a:r>
          </a:p>
          <a:p>
            <a:pPr algn="just"/>
            <a:r>
              <a:rPr lang="en-US" sz="1600" dirty="0">
                <a:latin typeface="Times New Roman" pitchFamily="18" charset="0"/>
                <a:cs typeface="Times New Roman" pitchFamily="18" charset="0"/>
              </a:rPr>
              <a:t>Utilized when the researcher's primary method is observing behaviors, activities, or conditions rather than directly asking questions. </a:t>
            </a:r>
          </a:p>
          <a:p>
            <a:pPr algn="just"/>
            <a:r>
              <a:rPr lang="en-US" sz="1600" dirty="0">
                <a:latin typeface="Times New Roman" pitchFamily="18" charset="0"/>
                <a:cs typeface="Times New Roman" pitchFamily="18" charset="0"/>
              </a:rPr>
              <a:t>The observer watches a subject (e.g., in a classroom, clinic, or community) and records specific actions on a standardized form</a:t>
            </a:r>
          </a:p>
        </p:txBody>
      </p:sp>
      <p:sp>
        <p:nvSpPr>
          <p:cNvPr id="7" name="Rectangle 6"/>
          <p:cNvSpPr/>
          <p:nvPr/>
        </p:nvSpPr>
        <p:spPr>
          <a:xfrm>
            <a:off x="304710" y="2878866"/>
            <a:ext cx="6096000" cy="1569660"/>
          </a:xfrm>
          <a:prstGeom prst="rect">
            <a:avLst/>
          </a:prstGeom>
        </p:spPr>
        <p:txBody>
          <a:bodyPr>
            <a:spAutoFit/>
          </a:bodyPr>
          <a:lstStyle/>
          <a:p>
            <a:pPr algn="just"/>
            <a:r>
              <a:rPr lang="en-US" sz="1600" b="1" dirty="0">
                <a:latin typeface="Times New Roman" pitchFamily="18" charset="0"/>
                <a:cs typeface="Times New Roman" pitchFamily="18" charset="0"/>
              </a:rPr>
              <a:t>3. Rating Schedule</a:t>
            </a:r>
          </a:p>
          <a:p>
            <a:pPr algn="just"/>
            <a:r>
              <a:rPr lang="en-US" sz="1600" dirty="0">
                <a:latin typeface="Times New Roman" pitchFamily="18" charset="0"/>
                <a:cs typeface="Times New Roman" pitchFamily="18" charset="0"/>
              </a:rPr>
              <a:t>Designed to measure the trend, value, or intensity of qualitative elements such as attitudes, opinions, preferences, or inhibitions.</a:t>
            </a:r>
          </a:p>
          <a:p>
            <a:pPr algn="just"/>
            <a:r>
              <a:rPr lang="en-US" sz="1600" dirty="0">
                <a:latin typeface="Times New Roman" pitchFamily="18" charset="0"/>
                <a:cs typeface="Times New Roman" pitchFamily="18" charset="0"/>
              </a:rPr>
              <a:t>These are heavily utilized in psychology and business to quantify subjective traits (e.g., measuring satisfaction levels using numerical scales or scoring). </a:t>
            </a:r>
          </a:p>
        </p:txBody>
      </p:sp>
      <p:sp>
        <p:nvSpPr>
          <p:cNvPr id="8" name="Rectangle 7"/>
          <p:cNvSpPr/>
          <p:nvPr/>
        </p:nvSpPr>
        <p:spPr>
          <a:xfrm>
            <a:off x="6448017" y="2942548"/>
            <a:ext cx="5547250" cy="1323439"/>
          </a:xfrm>
          <a:prstGeom prst="rect">
            <a:avLst/>
          </a:prstGeom>
        </p:spPr>
        <p:txBody>
          <a:bodyPr wrap="square">
            <a:spAutoFit/>
          </a:bodyPr>
          <a:lstStyle/>
          <a:p>
            <a:pPr algn="just"/>
            <a:r>
              <a:rPr lang="en-US" sz="1600" b="1" dirty="0">
                <a:latin typeface="Times New Roman" pitchFamily="18" charset="0"/>
                <a:cs typeface="Times New Roman" pitchFamily="18" charset="0"/>
              </a:rPr>
              <a:t>4. Document Schedule</a:t>
            </a:r>
          </a:p>
          <a:p>
            <a:pPr algn="just"/>
            <a:r>
              <a:rPr lang="en-US" sz="1600" dirty="0">
                <a:latin typeface="Times New Roman" pitchFamily="18" charset="0"/>
                <a:cs typeface="Times New Roman" pitchFamily="18" charset="0"/>
              </a:rPr>
              <a:t>Used to extract specific information from historical records, written evidence, archives, and case histories. Rather than asking people, the enumerator gathers data by tracking how often specific terms or functional issues occur in existing documents. </a:t>
            </a:r>
          </a:p>
        </p:txBody>
      </p:sp>
      <p:sp>
        <p:nvSpPr>
          <p:cNvPr id="9" name="Rectangle 8"/>
          <p:cNvSpPr/>
          <p:nvPr/>
        </p:nvSpPr>
        <p:spPr>
          <a:xfrm>
            <a:off x="288084" y="4533512"/>
            <a:ext cx="6096000" cy="1477328"/>
          </a:xfrm>
          <a:prstGeom prst="rect">
            <a:avLst/>
          </a:prstGeom>
        </p:spPr>
        <p:txBody>
          <a:bodyPr>
            <a:spAutoFit/>
          </a:bodyPr>
          <a:lstStyle/>
          <a:p>
            <a:pPr algn="just"/>
            <a:r>
              <a:rPr lang="en-US" b="1" dirty="0">
                <a:latin typeface="Times New Roman" pitchFamily="18" charset="0"/>
                <a:cs typeface="Times New Roman" pitchFamily="18" charset="0"/>
              </a:rPr>
              <a:t>5. Institutional or Evaluation Schedule</a:t>
            </a:r>
          </a:p>
          <a:p>
            <a:pPr algn="just"/>
            <a:r>
              <a:rPr lang="en-US" dirty="0">
                <a:latin typeface="Times New Roman" pitchFamily="18" charset="0"/>
                <a:cs typeface="Times New Roman" pitchFamily="18" charset="0"/>
              </a:rPr>
              <a:t>Used to gather in-depth data about specialized organizations, agencies, or institutions. </a:t>
            </a:r>
          </a:p>
          <a:p>
            <a:pPr algn="just"/>
            <a:r>
              <a:rPr lang="en-US" dirty="0">
                <a:latin typeface="Times New Roman" pitchFamily="18" charset="0"/>
                <a:cs typeface="Times New Roman" pitchFamily="18" charset="0"/>
              </a:rPr>
              <a:t>The size and complexity of this schedule scale with the nature and complexity of the institution being evaluated</a:t>
            </a:r>
          </a:p>
        </p:txBody>
      </p:sp>
      <p:sp>
        <p:nvSpPr>
          <p:cNvPr id="10" name="Rectangle 9"/>
          <p:cNvSpPr/>
          <p:nvPr/>
        </p:nvSpPr>
        <p:spPr>
          <a:xfrm>
            <a:off x="6498357" y="4602838"/>
            <a:ext cx="5422710" cy="1754326"/>
          </a:xfrm>
          <a:prstGeom prst="rect">
            <a:avLst/>
          </a:prstGeom>
        </p:spPr>
        <p:txBody>
          <a:bodyPr wrap="square">
            <a:spAutoFit/>
          </a:bodyPr>
          <a:lstStyle/>
          <a:p>
            <a:pPr algn="just"/>
            <a:r>
              <a:rPr lang="en-US" b="1" dirty="0">
                <a:latin typeface="Times New Roman" pitchFamily="18" charset="0"/>
                <a:cs typeface="Times New Roman" pitchFamily="18" charset="0"/>
              </a:rPr>
              <a:t>6. Demographic/Household Schedule</a:t>
            </a:r>
          </a:p>
          <a:p>
            <a:pPr algn="just"/>
            <a:r>
              <a:rPr lang="en-US" dirty="0">
                <a:latin typeface="Times New Roman" pitchFamily="18" charset="0"/>
                <a:cs typeface="Times New Roman" pitchFamily="18" charset="0"/>
              </a:rPr>
              <a:t>Commonly used in large-scale social surveys and census research to collect general information about a community or family unit.</a:t>
            </a:r>
          </a:p>
          <a:p>
            <a:pPr algn="just"/>
            <a:r>
              <a:rPr lang="en-US" dirty="0">
                <a:latin typeface="Times New Roman" pitchFamily="18" charset="0"/>
                <a:cs typeface="Times New Roman" pitchFamily="18" charset="0"/>
              </a:rPr>
              <a:t>Gathers full demographic details including age, sex, occupation, education, and family relations. </a:t>
            </a:r>
          </a:p>
        </p:txBody>
      </p:sp>
    </p:spTree>
    <p:extLst>
      <p:ext uri="{BB962C8B-B14F-4D97-AF65-F5344CB8AC3E}">
        <p14:creationId xmlns:p14="http://schemas.microsoft.com/office/powerpoint/2010/main" val="27575389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0674"/>
            <a:ext cx="10515600" cy="823595"/>
          </a:xfrm>
        </p:spPr>
        <p:txBody>
          <a:bodyPr>
            <a:normAutofit fontScale="90000"/>
          </a:bodyPr>
          <a:lstStyle/>
          <a:p>
            <a:br>
              <a:rPr lang="en-US" dirty="0"/>
            </a:br>
            <a:r>
              <a:rPr lang="en-US" sz="3600" dirty="0">
                <a:latin typeface="Times New Roman" pitchFamily="18" charset="0"/>
                <a:cs typeface="Times New Roman" pitchFamily="18" charset="0"/>
              </a:rPr>
              <a:t>Dr </a:t>
            </a:r>
            <a:r>
              <a:rPr lang="en-US" sz="3600" dirty="0" err="1">
                <a:latin typeface="Times New Roman" pitchFamily="18" charset="0"/>
                <a:cs typeface="Times New Roman" pitchFamily="18" charset="0"/>
              </a:rPr>
              <a:t>Bhatras</a:t>
            </a:r>
            <a:r>
              <a:rPr lang="en-US" sz="3600" dirty="0">
                <a:latin typeface="Times New Roman" pitchFamily="18" charset="0"/>
                <a:cs typeface="Times New Roman" pitchFamily="18" charset="0"/>
              </a:rPr>
              <a:t> </a:t>
            </a:r>
            <a:r>
              <a:rPr lang="en-US" sz="3600" b="1" dirty="0">
                <a:latin typeface="Times New Roman" pitchFamily="18" charset="0"/>
                <a:cs typeface="Times New Roman" pitchFamily="18" charset="0"/>
              </a:rPr>
              <a:t>schedule for investigating alopecia in patients</a:t>
            </a:r>
            <a:br>
              <a:rPr lang="en-US" sz="3600"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881136"/>
            <a:ext cx="10515600" cy="5744107"/>
          </a:xfrm>
        </p:spPr>
        <p:txBody>
          <a:bodyPr>
            <a:noAutofit/>
          </a:bodyPr>
          <a:lstStyle/>
          <a:p>
            <a:r>
              <a:rPr lang="en-US" sz="1800" dirty="0">
                <a:latin typeface="Times New Roman" pitchFamily="18" charset="0"/>
                <a:cs typeface="Times New Roman" pitchFamily="18" charset="0"/>
              </a:rPr>
              <a:t>To be filled by primary investigator ( Enumerator). Name:                    Date___________</a:t>
            </a:r>
          </a:p>
          <a:p>
            <a:r>
              <a:rPr lang="en-US" sz="1800" b="1" dirty="0" err="1">
                <a:latin typeface="Times New Roman" pitchFamily="18" charset="0"/>
                <a:cs typeface="Times New Roman" pitchFamily="18" charset="0"/>
              </a:rPr>
              <a:t>Proforma</a:t>
            </a:r>
            <a:r>
              <a:rPr lang="en-US" sz="1800" b="1" dirty="0">
                <a:latin typeface="Times New Roman" pitchFamily="18" charset="0"/>
                <a:cs typeface="Times New Roman" pitchFamily="18" charset="0"/>
              </a:rPr>
              <a:t> for Investigating Alopecia</a:t>
            </a:r>
            <a:endParaRPr lang="en-US" sz="1800" dirty="0">
              <a:latin typeface="Times New Roman" pitchFamily="18" charset="0"/>
              <a:cs typeface="Times New Roman" pitchFamily="18" charset="0"/>
            </a:endParaRPr>
          </a:p>
          <a:p>
            <a:pPr>
              <a:buNone/>
            </a:pPr>
            <a:r>
              <a:rPr lang="en-US" sz="1800" b="1" dirty="0">
                <a:latin typeface="Times New Roman" pitchFamily="18" charset="0"/>
                <a:cs typeface="Times New Roman" pitchFamily="18" charset="0"/>
              </a:rPr>
              <a:t>1. Patient History</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Onset and duration</a:t>
            </a:r>
            <a:r>
              <a:rPr lang="en-US" sz="1800" dirty="0">
                <a:latin typeface="Times New Roman" pitchFamily="18" charset="0"/>
                <a:cs typeface="Times New Roman" pitchFamily="18" charset="0"/>
              </a:rPr>
              <a:t> of hair loss (acute, chronic, sudden, gradual)</a:t>
            </a: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_______________________</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Pattern</a:t>
            </a:r>
            <a:r>
              <a:rPr lang="en-US" sz="1800" dirty="0">
                <a:latin typeface="Times New Roman" pitchFamily="18" charset="0"/>
                <a:cs typeface="Times New Roman" pitchFamily="18" charset="0"/>
              </a:rPr>
              <a:t> of hair loss (diffuse, patchy, focal, patterned)</a:t>
            </a: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Associated symptoms</a:t>
            </a:r>
            <a:r>
              <a:rPr lang="en-US" sz="1800" dirty="0">
                <a:latin typeface="Times New Roman" pitchFamily="18" charset="0"/>
                <a:cs typeface="Times New Roman" pitchFamily="18" charset="0"/>
              </a:rPr>
              <a:t>: itching, pain, burning, scaling, </a:t>
            </a:r>
            <a:r>
              <a:rPr lang="en-US" sz="1800" dirty="0" err="1">
                <a:latin typeface="Times New Roman" pitchFamily="18" charset="0"/>
                <a:cs typeface="Times New Roman" pitchFamily="18" charset="0"/>
              </a:rPr>
              <a:t>erythema</a:t>
            </a:r>
            <a:endParaRPr lang="en-US" sz="1800" dirty="0">
              <a:latin typeface="Times New Roman" pitchFamily="18" charset="0"/>
              <a:cs typeface="Times New Roman" pitchFamily="18" charset="0"/>
            </a:endParaRP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________________________</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Personal and family history</a:t>
            </a:r>
            <a:r>
              <a:rPr lang="en-US" sz="1800" dirty="0">
                <a:latin typeface="Times New Roman" pitchFamily="18" charset="0"/>
                <a:cs typeface="Times New Roman" pitchFamily="18" charset="0"/>
              </a:rPr>
              <a:t> of hair disorders or autoimmune diseases</a:t>
            </a: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___________________</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Recent illnesses, stress, or major life events.</a:t>
            </a:r>
            <a:endParaRPr lang="en-US" sz="1800" dirty="0">
              <a:latin typeface="Times New Roman" pitchFamily="18" charset="0"/>
              <a:cs typeface="Times New Roman" pitchFamily="18" charset="0"/>
            </a:endParaRP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___________________</a:t>
            </a:r>
            <a:endParaRPr lang="en-US" sz="1800" dirty="0">
              <a:latin typeface="Times New Roman" pitchFamily="18" charset="0"/>
              <a:cs typeface="Times New Roman" pitchFamily="18" charset="0"/>
            </a:endParaRPr>
          </a:p>
          <a:p>
            <a:pPr marL="342900" lvl="0" indent="-342900">
              <a:buFont typeface="+mj-lt"/>
              <a:buAutoNum type="alphaUcPeriod"/>
            </a:pPr>
            <a:r>
              <a:rPr lang="en-US" sz="1800" b="1" dirty="0">
                <a:latin typeface="Times New Roman" pitchFamily="18" charset="0"/>
                <a:cs typeface="Times New Roman" pitchFamily="18" charset="0"/>
              </a:rPr>
              <a:t>Medications</a:t>
            </a:r>
            <a:r>
              <a:rPr lang="en-US" sz="1800" dirty="0">
                <a:latin typeface="Times New Roman" pitchFamily="18" charset="0"/>
                <a:cs typeface="Times New Roman" pitchFamily="18" charset="0"/>
              </a:rPr>
              <a:t> (including recent changes)</a:t>
            </a:r>
          </a:p>
          <a:p>
            <a:pPr marL="800100" lvl="1" indent="-342900">
              <a:buFont typeface="+mj-lt"/>
              <a:buAutoNum type="alphaUcPeriod"/>
            </a:pPr>
            <a:r>
              <a:rPr lang="en-US" sz="1800" b="1" dirty="0" err="1">
                <a:latin typeface="Times New Roman" pitchFamily="18" charset="0"/>
                <a:cs typeface="Times New Roman" pitchFamily="18" charset="0"/>
              </a:rPr>
              <a:t>Ans</a:t>
            </a:r>
            <a:r>
              <a:rPr lang="en-US" sz="1800" b="1" dirty="0">
                <a:latin typeface="Times New Roman" pitchFamily="18" charset="0"/>
                <a:cs typeface="Times New Roman" pitchFamily="18" charset="0"/>
              </a:rPr>
              <a:t>_________________________</a:t>
            </a:r>
            <a:endParaRPr lang="en-US" sz="1800" dirty="0">
              <a:latin typeface="Times New Roman" pitchFamily="18" charset="0"/>
              <a:cs typeface="Times New Roman" pitchFamily="18" charset="0"/>
            </a:endParaRPr>
          </a:p>
          <a:p>
            <a:pPr>
              <a:buNone/>
            </a:pPr>
            <a:endParaRPr lang="en-US" sz="1800" dirty="0">
              <a:latin typeface="Times New Roman" pitchFamily="18" charset="0"/>
              <a:cs typeface="Times New Roman"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9258"/>
            <a:ext cx="10515600" cy="5877705"/>
          </a:xfrm>
        </p:spPr>
        <p:txBody>
          <a:bodyPr>
            <a:normAutofit lnSpcReduction="10000"/>
          </a:bodyPr>
          <a:lstStyle/>
          <a:p>
            <a:r>
              <a:rPr lang="en-US" b="1" dirty="0"/>
              <a:t>2</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Physical Examination (Densitometry test)</a:t>
            </a:r>
          </a:p>
          <a:p>
            <a:pPr marL="514350" indent="-514350"/>
            <a:r>
              <a:rPr lang="en-US" dirty="0">
                <a:latin typeface="Times New Roman" pitchFamily="18" charset="0"/>
                <a:cs typeface="Times New Roman" pitchFamily="18" charset="0"/>
              </a:rPr>
              <a:t>Densitometry scalp and hair inspection: distribution, pattern, and extent of hair loss; presence of scarring, scaling, </a:t>
            </a:r>
            <a:r>
              <a:rPr lang="en-US" dirty="0" err="1">
                <a:latin typeface="Times New Roman" pitchFamily="18" charset="0"/>
                <a:cs typeface="Times New Roman" pitchFamily="18" charset="0"/>
              </a:rPr>
              <a:t>erythema</a:t>
            </a:r>
            <a:r>
              <a:rPr lang="en-US" dirty="0">
                <a:latin typeface="Times New Roman" pitchFamily="18" charset="0"/>
                <a:cs typeface="Times New Roman" pitchFamily="18" charset="0"/>
              </a:rPr>
              <a:t>, pustules, or atrophy.</a:t>
            </a:r>
          </a:p>
          <a:p>
            <a:pPr marL="514350" indent="-514350">
              <a:buNone/>
            </a:pPr>
            <a:r>
              <a:rPr lang="en-US" dirty="0">
                <a:latin typeface="Times New Roman" pitchFamily="18" charset="0"/>
                <a:cs typeface="Times New Roman" pitchFamily="18" charset="0"/>
              </a:rPr>
              <a:t>       Report result________________________________</a:t>
            </a:r>
          </a:p>
          <a:p>
            <a:pPr marL="514350" indent="-514350"/>
            <a:r>
              <a:rPr lang="en-US" dirty="0">
                <a:latin typeface="Times New Roman" pitchFamily="18" charset="0"/>
                <a:cs typeface="Times New Roman" pitchFamily="18" charset="0"/>
              </a:rPr>
              <a:t>Examination of other hair-bearing areas: eyebrows, eyelashes, beard, body hair</a:t>
            </a:r>
          </a:p>
          <a:p>
            <a:pPr marL="514350" indent="-51435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Ans</a:t>
            </a:r>
            <a:r>
              <a:rPr lang="en-US" dirty="0">
                <a:latin typeface="Times New Roman" pitchFamily="18" charset="0"/>
                <a:cs typeface="Times New Roman" pitchFamily="18" charset="0"/>
              </a:rPr>
              <a:t>_____________________________</a:t>
            </a:r>
          </a:p>
          <a:p>
            <a:pPr marL="514350" indent="-514350"/>
            <a:r>
              <a:rPr lang="en-US" dirty="0">
                <a:latin typeface="Times New Roman" pitchFamily="18" charset="0"/>
                <a:cs typeface="Times New Roman" pitchFamily="18" charset="0"/>
              </a:rPr>
              <a:t>Nail examination: pitting, ridging, other abnormalities</a:t>
            </a:r>
          </a:p>
          <a:p>
            <a:pPr marL="514350" indent="-514350">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Ans</a:t>
            </a:r>
            <a:r>
              <a:rPr lang="en-US" dirty="0">
                <a:latin typeface="Times New Roman" pitchFamily="18" charset="0"/>
                <a:cs typeface="Times New Roman" pitchFamily="18" charset="0"/>
              </a:rPr>
              <a:t>________________</a:t>
            </a:r>
          </a:p>
          <a:p>
            <a:pPr marL="514350" indent="-514350"/>
            <a:r>
              <a:rPr lang="en-US" dirty="0">
                <a:latin typeface="Times New Roman" pitchFamily="18" charset="0"/>
                <a:cs typeface="Times New Roman" pitchFamily="18" charset="0"/>
              </a:rPr>
              <a:t>Skin examination: look for signs of systemic disease (e.g., lupus, lichen </a:t>
            </a:r>
            <a:r>
              <a:rPr lang="en-US" dirty="0" err="1">
                <a:latin typeface="Times New Roman" pitchFamily="18" charset="0"/>
                <a:cs typeface="Times New Roman" pitchFamily="18" charset="0"/>
              </a:rPr>
              <a:t>planus</a:t>
            </a:r>
            <a:r>
              <a:rPr lang="en-US" dirty="0">
                <a:latin typeface="Times New Roman" pitchFamily="18" charset="0"/>
                <a:cs typeface="Times New Roman" pitchFamily="18" charset="0"/>
              </a:rPr>
              <a:t>) etc</a:t>
            </a:r>
          </a:p>
          <a:p>
            <a:pPr>
              <a:buNone/>
            </a:pP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Ans</a:t>
            </a:r>
            <a:r>
              <a:rPr lang="en-US" dirty="0">
                <a:latin typeface="Times New Roman" pitchFamily="18" charset="0"/>
                <a:cs typeface="Times New Roman" pitchFamily="18" charset="0"/>
              </a:rPr>
              <a:t>____________________</a:t>
            </a:r>
          </a:p>
          <a:p>
            <a:pPr>
              <a:buNone/>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65760"/>
            <a:ext cx="10515600" cy="5811203"/>
          </a:xfrm>
        </p:spPr>
        <p:txBody>
          <a:bodyPr>
            <a:normAutofit fontScale="77500" lnSpcReduction="20000"/>
          </a:bodyPr>
          <a:lstStyle/>
          <a:p>
            <a:pPr>
              <a:buNone/>
            </a:pPr>
            <a:r>
              <a:rPr lang="en-US" b="1" dirty="0">
                <a:latin typeface="Times New Roman" pitchFamily="18" charset="0"/>
                <a:cs typeface="Times New Roman" pitchFamily="18" charset="0"/>
              </a:rPr>
              <a:t>3. Diagnostic Tests</a:t>
            </a:r>
            <a:endParaRPr lang="en-US" sz="24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Hair pull test</a:t>
            </a:r>
            <a:r>
              <a:rPr lang="en-US" dirty="0">
                <a:latin typeface="Times New Roman" pitchFamily="18" charset="0"/>
                <a:cs typeface="Times New Roman" pitchFamily="18" charset="0"/>
              </a:rPr>
              <a:t>: Gently pull 20–60 hairs; &gt;10% release suggests active shedding</a:t>
            </a:r>
            <a:endParaRPr lang="en-US" sz="2400" dirty="0">
              <a:latin typeface="Times New Roman" pitchFamily="18" charset="0"/>
              <a:cs typeface="Times New Roman" pitchFamily="18" charset="0"/>
            </a:endParaRPr>
          </a:p>
          <a:p>
            <a:pPr lvl="1"/>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____________________</a:t>
            </a:r>
            <a:endParaRPr lang="en-US" sz="20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Hair tug test</a:t>
            </a:r>
            <a:r>
              <a:rPr lang="en-US" dirty="0">
                <a:latin typeface="Times New Roman" pitchFamily="18" charset="0"/>
                <a:cs typeface="Times New Roman" pitchFamily="18" charset="0"/>
              </a:rPr>
              <a:t>: Assesses hair shaft fragility</a:t>
            </a:r>
            <a:endParaRPr lang="en-US" sz="2400" dirty="0">
              <a:latin typeface="Times New Roman" pitchFamily="18" charset="0"/>
              <a:cs typeface="Times New Roman" pitchFamily="18" charset="0"/>
            </a:endParaRPr>
          </a:p>
          <a:p>
            <a:pPr lvl="1"/>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a:t>
            </a:r>
            <a:endParaRPr lang="en-US" sz="2000" dirty="0">
              <a:latin typeface="Times New Roman" pitchFamily="18" charset="0"/>
              <a:cs typeface="Times New Roman" pitchFamily="18" charset="0"/>
            </a:endParaRPr>
          </a:p>
          <a:p>
            <a:pPr lvl="0"/>
            <a:r>
              <a:rPr lang="en-US" b="1" dirty="0" err="1">
                <a:latin typeface="Times New Roman" pitchFamily="18" charset="0"/>
                <a:cs typeface="Times New Roman" pitchFamily="18" charset="0"/>
              </a:rPr>
              <a:t>Trichoscopy</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dermatoscopy</a:t>
            </a:r>
            <a:r>
              <a:rPr lang="en-US" b="1" dirty="0">
                <a:latin typeface="Times New Roman" pitchFamily="18" charset="0"/>
                <a:cs typeface="Times New Roman" pitchFamily="18" charset="0"/>
              </a:rPr>
              <a:t>)</a:t>
            </a:r>
            <a:r>
              <a:rPr lang="en-US" dirty="0">
                <a:latin typeface="Times New Roman" pitchFamily="18" charset="0"/>
                <a:cs typeface="Times New Roman" pitchFamily="18" charset="0"/>
              </a:rPr>
              <a:t>: Non-invasive visualization of hair and scalp for characteristic features (e.g., yellow dots, exclamation mark hairs, follicular </a:t>
            </a:r>
            <a:r>
              <a:rPr lang="en-US" dirty="0" err="1">
                <a:latin typeface="Times New Roman" pitchFamily="18" charset="0"/>
                <a:cs typeface="Times New Roman" pitchFamily="18" charset="0"/>
              </a:rPr>
              <a:t>ostia</a:t>
            </a:r>
            <a:r>
              <a:rPr lang="en-US" dirty="0">
                <a:latin typeface="Times New Roman" pitchFamily="18" charset="0"/>
                <a:cs typeface="Times New Roman" pitchFamily="18" charset="0"/>
              </a:rPr>
              <a:t>)</a:t>
            </a:r>
            <a:r>
              <a:rPr lang="en-US" b="1" dirty="0">
                <a:latin typeface="Times New Roman" pitchFamily="18" charset="0"/>
                <a:cs typeface="Times New Roman" pitchFamily="18" charset="0"/>
              </a:rPr>
              <a:t> Card test</a:t>
            </a:r>
            <a:r>
              <a:rPr lang="en-US" dirty="0">
                <a:latin typeface="Times New Roman" pitchFamily="18" charset="0"/>
                <a:cs typeface="Times New Roman" pitchFamily="18" charset="0"/>
              </a:rPr>
              <a:t>: Assesses new hair growth and shaft abnormalities.</a:t>
            </a:r>
            <a:endParaRPr lang="en-US" sz="2400" dirty="0">
              <a:latin typeface="Times New Roman" pitchFamily="18" charset="0"/>
              <a:cs typeface="Times New Roman" pitchFamily="18" charset="0"/>
            </a:endParaRPr>
          </a:p>
          <a:p>
            <a:pPr lvl="1"/>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____________________</a:t>
            </a:r>
            <a:endParaRPr lang="en-US" sz="2000" dirty="0">
              <a:latin typeface="Times New Roman" pitchFamily="18" charset="0"/>
              <a:cs typeface="Times New Roman" pitchFamily="18" charset="0"/>
            </a:endParaRPr>
          </a:p>
          <a:p>
            <a:pPr>
              <a:buNone/>
            </a:pPr>
            <a:r>
              <a:rPr lang="en-US" b="1" dirty="0">
                <a:latin typeface="Times New Roman" pitchFamily="18" charset="0"/>
                <a:cs typeface="Times New Roman" pitchFamily="18" charset="0"/>
              </a:rPr>
              <a:t>4. Laboratory Investigations</a:t>
            </a:r>
            <a:endParaRPr lang="en-US" sz="24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Complete blood count (CBC)</a:t>
            </a:r>
            <a:endParaRPr lang="en-US" sz="2400" dirty="0">
              <a:latin typeface="Times New Roman" pitchFamily="18" charset="0"/>
              <a:cs typeface="Times New Roman" pitchFamily="18" charset="0"/>
            </a:endParaRPr>
          </a:p>
          <a:p>
            <a:pPr lvl="1"/>
            <a:r>
              <a:rPr lang="en-US" b="1" dirty="0">
                <a:latin typeface="Times New Roman" pitchFamily="18" charset="0"/>
                <a:cs typeface="Times New Roman" pitchFamily="18" charset="0"/>
              </a:rPr>
              <a:t>Test Results__________________</a:t>
            </a:r>
            <a:endParaRPr lang="en-US" sz="20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Thyroid function tests</a:t>
            </a:r>
            <a:r>
              <a:rPr lang="en-US" dirty="0">
                <a:latin typeface="Times New Roman" pitchFamily="18" charset="0"/>
                <a:cs typeface="Times New Roman" pitchFamily="18" charset="0"/>
              </a:rPr>
              <a:t> (TSH, free T4)</a:t>
            </a:r>
            <a:endParaRPr lang="en-US" sz="2400" dirty="0">
              <a:latin typeface="Times New Roman" pitchFamily="18" charset="0"/>
              <a:cs typeface="Times New Roman" pitchFamily="18" charset="0"/>
            </a:endParaRPr>
          </a:p>
          <a:p>
            <a:pPr lvl="1"/>
            <a:r>
              <a:rPr lang="en-US" b="1" dirty="0">
                <a:latin typeface="Times New Roman" pitchFamily="18" charset="0"/>
                <a:cs typeface="Times New Roman" pitchFamily="18" charset="0"/>
              </a:rPr>
              <a:t>Test Result_______________</a:t>
            </a:r>
            <a:endParaRPr lang="en-US" sz="20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Serum </a:t>
            </a:r>
            <a:r>
              <a:rPr lang="en-US" b="1" dirty="0" err="1">
                <a:latin typeface="Times New Roman" pitchFamily="18" charset="0"/>
                <a:cs typeface="Times New Roman" pitchFamily="18" charset="0"/>
              </a:rPr>
              <a:t>ferritin</a:t>
            </a:r>
            <a:r>
              <a:rPr lang="en-US" dirty="0">
                <a:latin typeface="Times New Roman" pitchFamily="18" charset="0"/>
                <a:cs typeface="Times New Roman" pitchFamily="18" charset="0"/>
              </a:rPr>
              <a:t> (iron stores)</a:t>
            </a:r>
            <a:endParaRPr lang="en-US" sz="2400" dirty="0">
              <a:latin typeface="Times New Roman" pitchFamily="18" charset="0"/>
              <a:cs typeface="Times New Roman" pitchFamily="18" charset="0"/>
            </a:endParaRPr>
          </a:p>
          <a:p>
            <a:pPr lvl="1"/>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a:t>
            </a:r>
            <a:endParaRPr lang="en-US" sz="2000"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Vitamin D levels</a:t>
            </a:r>
            <a:endParaRPr lang="en-US" sz="2400" dirty="0">
              <a:latin typeface="Times New Roman" pitchFamily="18" charset="0"/>
              <a:cs typeface="Times New Roman" pitchFamily="18" charset="0"/>
            </a:endParaRPr>
          </a:p>
          <a:p>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___________________</a:t>
            </a:r>
            <a:endParaRPr lang="en-US" dirty="0">
              <a:latin typeface="Times New Roman" pitchFamily="18" charset="0"/>
              <a:cs typeface="Times New Roman"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49382"/>
            <a:ext cx="11007436" cy="5927581"/>
          </a:xfrm>
        </p:spPr>
        <p:txBody>
          <a:bodyPr/>
          <a:lstStyle/>
          <a:p>
            <a:pPr>
              <a:buNone/>
            </a:pPr>
            <a:r>
              <a:rPr lang="en-US" b="1" dirty="0">
                <a:latin typeface="Times New Roman" pitchFamily="18" charset="0"/>
                <a:cs typeface="Times New Roman" pitchFamily="18" charset="0"/>
              </a:rPr>
              <a:t>5. Additional Diagnostic Procedures</a:t>
            </a:r>
            <a:endParaRPr lang="en-US"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Scalp biopsy</a:t>
            </a:r>
            <a:r>
              <a:rPr lang="en-US" dirty="0">
                <a:latin typeface="Times New Roman" pitchFamily="18" charset="0"/>
                <a:cs typeface="Times New Roman" pitchFamily="18" charset="0"/>
              </a:rPr>
              <a:t>: If diagnosis is unclear or scarring alopecia is suspected (usually a 4-mm punch biopsy from the active margin)</a:t>
            </a:r>
          </a:p>
          <a:p>
            <a:pPr>
              <a:buNone/>
            </a:pPr>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___________________</a:t>
            </a:r>
            <a:r>
              <a:rPr lang="en-US" dirty="0">
                <a:latin typeface="Times New Roman" pitchFamily="18" charset="0"/>
                <a:cs typeface="Times New Roman" pitchFamily="18" charset="0"/>
              </a:rPr>
              <a:t> </a:t>
            </a:r>
          </a:p>
          <a:p>
            <a:pPr lvl="0"/>
            <a:r>
              <a:rPr lang="en-US" b="1" dirty="0">
                <a:latin typeface="Times New Roman" pitchFamily="18" charset="0"/>
                <a:cs typeface="Times New Roman" pitchFamily="18" charset="0"/>
              </a:rPr>
              <a:t>Fungal studies</a:t>
            </a:r>
            <a:r>
              <a:rPr lang="en-US" dirty="0">
                <a:latin typeface="Times New Roman" pitchFamily="18" charset="0"/>
                <a:cs typeface="Times New Roman" pitchFamily="18" charset="0"/>
              </a:rPr>
              <a:t>: KOH preparation and/or fungal culture if </a:t>
            </a:r>
            <a:r>
              <a:rPr lang="en-US" dirty="0" err="1">
                <a:latin typeface="Times New Roman" pitchFamily="18" charset="0"/>
                <a:cs typeface="Times New Roman" pitchFamily="18" charset="0"/>
              </a:rPr>
              <a:t>tinea</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capitis</a:t>
            </a:r>
            <a:r>
              <a:rPr lang="en-US" dirty="0">
                <a:latin typeface="Times New Roman" pitchFamily="18" charset="0"/>
                <a:cs typeface="Times New Roman" pitchFamily="18" charset="0"/>
              </a:rPr>
              <a:t> is suspected</a:t>
            </a:r>
          </a:p>
          <a:p>
            <a:pPr>
              <a:buNone/>
            </a:pPr>
            <a:r>
              <a:rPr lang="en-US" b="1" dirty="0" err="1">
                <a:latin typeface="Times New Roman" pitchFamily="18" charset="0"/>
                <a:cs typeface="Times New Roman" pitchFamily="18" charset="0"/>
              </a:rPr>
              <a:t>Ans</a:t>
            </a:r>
            <a:r>
              <a:rPr lang="en-US" b="1" dirty="0">
                <a:latin typeface="Times New Roman" pitchFamily="18" charset="0"/>
                <a:cs typeface="Times New Roman" pitchFamily="18" charset="0"/>
              </a:rPr>
              <a:t>___________________</a:t>
            </a:r>
            <a:endParaRPr lang="en-US" dirty="0">
              <a:latin typeface="Times New Roman" pitchFamily="18" charset="0"/>
              <a:cs typeface="Times New Roman" pitchFamily="18" charset="0"/>
            </a:endParaRPr>
          </a:p>
          <a:p>
            <a:pPr lvl="0"/>
            <a:r>
              <a:rPr lang="en-US" b="1" dirty="0">
                <a:latin typeface="Times New Roman" pitchFamily="18" charset="0"/>
                <a:cs typeface="Times New Roman" pitchFamily="18" charset="0"/>
              </a:rPr>
              <a:t>Microscopy of hair roots</a:t>
            </a:r>
            <a:r>
              <a:rPr lang="en-US" dirty="0">
                <a:latin typeface="Times New Roman" pitchFamily="18" charset="0"/>
                <a:cs typeface="Times New Roman" pitchFamily="18" charset="0"/>
              </a:rPr>
              <a:t>: To distinguish between </a:t>
            </a:r>
            <a:r>
              <a:rPr lang="en-US" dirty="0" err="1">
                <a:latin typeface="Times New Roman" pitchFamily="18" charset="0"/>
                <a:cs typeface="Times New Roman" pitchFamily="18" charset="0"/>
              </a:rPr>
              <a:t>anagen</a:t>
            </a:r>
            <a:r>
              <a:rPr lang="en-US" dirty="0">
                <a:latin typeface="Times New Roman" pitchFamily="18" charset="0"/>
                <a:cs typeface="Times New Roman" pitchFamily="18" charset="0"/>
              </a:rPr>
              <a:t> and </a:t>
            </a:r>
            <a:r>
              <a:rPr lang="en-US" dirty="0" err="1">
                <a:latin typeface="Times New Roman" pitchFamily="18" charset="0"/>
                <a:cs typeface="Times New Roman" pitchFamily="18" charset="0"/>
              </a:rPr>
              <a:t>telogen</a:t>
            </a:r>
            <a:r>
              <a:rPr lang="en-US" dirty="0">
                <a:latin typeface="Times New Roman" pitchFamily="18" charset="0"/>
                <a:cs typeface="Times New Roman" pitchFamily="18" charset="0"/>
              </a:rPr>
              <a:t> hairs, or identify shaft abnormalities.</a:t>
            </a:r>
          </a:p>
          <a:p>
            <a:pPr>
              <a:buNone/>
            </a:pPr>
            <a:r>
              <a:rPr lang="en-US" dirty="0">
                <a:latin typeface="Times New Roman" pitchFamily="18" charset="0"/>
                <a:cs typeface="Times New Roman" pitchFamily="18" charset="0"/>
              </a:rPr>
              <a:t>  Test results________________________</a:t>
            </a:r>
          </a:p>
          <a:p>
            <a:pPr>
              <a:buNone/>
            </a:pP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48393" y="340882"/>
            <a:ext cx="11072552" cy="2862322"/>
          </a:xfrm>
          <a:prstGeom prst="rect">
            <a:avLst/>
          </a:prstGeom>
        </p:spPr>
        <p:txBody>
          <a:bodyPr wrap="square">
            <a:spAutoFit/>
          </a:bodyPr>
          <a:lstStyle/>
          <a:p>
            <a:pPr algn="just"/>
            <a:r>
              <a:rPr lang="en-US" b="1" dirty="0">
                <a:latin typeface="Times New Roman" pitchFamily="18" charset="0"/>
                <a:cs typeface="Times New Roman" pitchFamily="18" charset="0"/>
              </a:rPr>
              <a:t>Advantages of Schedules</a:t>
            </a:r>
          </a:p>
          <a:p>
            <a:pPr algn="just"/>
            <a:endParaRPr lang="en-US" b="1" dirty="0">
              <a:latin typeface="Times New Roman" pitchFamily="18" charset="0"/>
              <a:cs typeface="Times New Roman" pitchFamily="18" charset="0"/>
            </a:endParaRPr>
          </a:p>
          <a:p>
            <a:pPr marL="342900" indent="-342900" algn="just">
              <a:buFont typeface="+mj-lt"/>
              <a:buAutoNum type="arabicPeriod"/>
            </a:pPr>
            <a:r>
              <a:rPr lang="en-US" b="1" dirty="0">
                <a:latin typeface="Times New Roman" pitchFamily="18" charset="0"/>
                <a:cs typeface="Times New Roman" pitchFamily="18" charset="0"/>
              </a:rPr>
              <a:t>Suitable for the illiterate:</a:t>
            </a:r>
            <a:r>
              <a:rPr lang="en-US" dirty="0">
                <a:latin typeface="Times New Roman" pitchFamily="18" charset="0"/>
                <a:cs typeface="Times New Roman" pitchFamily="18" charset="0"/>
              </a:rPr>
              <a:t> Because an enumerator reads the questions and records the answers, this method can easily gather data from respondents who cannot read or write. </a:t>
            </a:r>
          </a:p>
          <a:p>
            <a:pPr marL="342900" indent="-342900" algn="just">
              <a:buFont typeface="+mj-lt"/>
              <a:buAutoNum type="arabicPeriod"/>
            </a:pPr>
            <a:r>
              <a:rPr lang="en-US" b="1" dirty="0">
                <a:latin typeface="Times New Roman" pitchFamily="18" charset="0"/>
                <a:cs typeface="Times New Roman" pitchFamily="18" charset="0"/>
              </a:rPr>
              <a:t>High response rates:</a:t>
            </a:r>
            <a:r>
              <a:rPr lang="en-US" dirty="0">
                <a:latin typeface="Times New Roman" pitchFamily="18" charset="0"/>
                <a:cs typeface="Times New Roman" pitchFamily="18" charset="0"/>
              </a:rPr>
              <a:t> Direct, face-to-face interaction virtually eliminates the problem of non-response since the enumerator is present to prompt answers to all questions. </a:t>
            </a:r>
          </a:p>
          <a:p>
            <a:pPr marL="342900" indent="-342900" algn="just">
              <a:buFont typeface="+mj-lt"/>
              <a:buAutoNum type="arabicPeriod"/>
            </a:pPr>
            <a:r>
              <a:rPr lang="en-US" b="1" dirty="0">
                <a:latin typeface="Times New Roman" pitchFamily="18" charset="0"/>
                <a:cs typeface="Times New Roman" pitchFamily="18" charset="0"/>
              </a:rPr>
              <a:t>Fewer misunderstandings:</a:t>
            </a:r>
            <a:r>
              <a:rPr lang="en-US" dirty="0">
                <a:latin typeface="Times New Roman" pitchFamily="18" charset="0"/>
                <a:cs typeface="Times New Roman" pitchFamily="18" charset="0"/>
              </a:rPr>
              <a:t> If a respondent misinterprets a question, the enumerator can clarify the context immediately, ensuring more accurate data. </a:t>
            </a:r>
          </a:p>
          <a:p>
            <a:pPr marL="342900" indent="-342900" algn="just">
              <a:buFont typeface="+mj-lt"/>
              <a:buAutoNum type="arabicPeriod"/>
            </a:pPr>
            <a:r>
              <a:rPr lang="en-US" b="1" dirty="0">
                <a:latin typeface="Times New Roman" pitchFamily="18" charset="0"/>
                <a:cs typeface="Times New Roman" pitchFamily="18" charset="0"/>
              </a:rPr>
              <a:t>Complete information:</a:t>
            </a:r>
            <a:r>
              <a:rPr lang="en-US" dirty="0">
                <a:latin typeface="Times New Roman" pitchFamily="18" charset="0"/>
                <a:cs typeface="Times New Roman" pitchFamily="18" charset="0"/>
              </a:rPr>
              <a:t> Enumerators ensure that no questions are skipped and the gathered data is comprehensive. </a:t>
            </a:r>
          </a:p>
        </p:txBody>
      </p:sp>
      <p:sp>
        <p:nvSpPr>
          <p:cNvPr id="5" name="Rectangle 4"/>
          <p:cNvSpPr/>
          <p:nvPr/>
        </p:nvSpPr>
        <p:spPr>
          <a:xfrm>
            <a:off x="637229" y="3291997"/>
            <a:ext cx="11033839" cy="2862322"/>
          </a:xfrm>
          <a:prstGeom prst="rect">
            <a:avLst/>
          </a:prstGeom>
        </p:spPr>
        <p:txBody>
          <a:bodyPr wrap="square">
            <a:spAutoFit/>
          </a:bodyPr>
          <a:lstStyle/>
          <a:p>
            <a:pPr algn="just"/>
            <a:r>
              <a:rPr lang="en-US" b="1" dirty="0">
                <a:latin typeface="Times New Roman" pitchFamily="18" charset="0"/>
                <a:cs typeface="Times New Roman" pitchFamily="18" charset="0"/>
              </a:rPr>
              <a:t>Disadvantages of Schedules</a:t>
            </a:r>
          </a:p>
          <a:p>
            <a:pPr algn="just"/>
            <a:endParaRPr lang="en-US" b="1" dirty="0">
              <a:latin typeface="Times New Roman" pitchFamily="18" charset="0"/>
              <a:cs typeface="Times New Roman" pitchFamily="18" charset="0"/>
            </a:endParaRPr>
          </a:p>
          <a:p>
            <a:pPr marL="342900" indent="-342900" algn="just">
              <a:buFont typeface="+mj-lt"/>
              <a:buAutoNum type="arabicPeriod"/>
            </a:pPr>
            <a:r>
              <a:rPr lang="en-US" b="1" dirty="0">
                <a:latin typeface="Times New Roman" pitchFamily="18" charset="0"/>
                <a:cs typeface="Times New Roman" pitchFamily="18" charset="0"/>
              </a:rPr>
              <a:t>Costly:</a:t>
            </a:r>
            <a:r>
              <a:rPr lang="en-US" dirty="0">
                <a:latin typeface="Times New Roman" pitchFamily="18" charset="0"/>
                <a:cs typeface="Times New Roman" pitchFamily="18" charset="0"/>
              </a:rPr>
              <a:t> Hiring, training, and deploying a team of enumerators to the field requires significant financial investment. </a:t>
            </a:r>
          </a:p>
          <a:p>
            <a:pPr marL="342900" indent="-342900" algn="just">
              <a:buFont typeface="+mj-lt"/>
              <a:buAutoNum type="arabicPeriod"/>
            </a:pPr>
            <a:r>
              <a:rPr lang="en-US" b="1" dirty="0">
                <a:latin typeface="Times New Roman" pitchFamily="18" charset="0"/>
                <a:cs typeface="Times New Roman" pitchFamily="18" charset="0"/>
              </a:rPr>
              <a:t>Time-consuming:</a:t>
            </a:r>
            <a:r>
              <a:rPr lang="en-US" dirty="0">
                <a:latin typeface="Times New Roman" pitchFamily="18" charset="0"/>
                <a:cs typeface="Times New Roman" pitchFamily="18" charset="0"/>
              </a:rPr>
              <a:t> Collecting data face-to-face over large geographic areas or sample sizes is considerably slower than sending out mass mail questionnaires. </a:t>
            </a:r>
          </a:p>
          <a:p>
            <a:pPr marL="342900" indent="-342900" algn="just">
              <a:buFont typeface="+mj-lt"/>
              <a:buAutoNum type="arabicPeriod"/>
            </a:pPr>
            <a:r>
              <a:rPr lang="en-US" b="1" dirty="0">
                <a:latin typeface="Times New Roman" pitchFamily="18" charset="0"/>
                <a:cs typeface="Times New Roman" pitchFamily="18" charset="0"/>
              </a:rPr>
              <a:t>Interviewer bias:</a:t>
            </a:r>
            <a:r>
              <a:rPr lang="en-US" dirty="0">
                <a:latin typeface="Times New Roman" pitchFamily="18" charset="0"/>
                <a:cs typeface="Times New Roman" pitchFamily="18" charset="0"/>
              </a:rPr>
              <a:t> The presence and demeanor of the enumerator, or their potential misinterpretation of responses, can consciously or unconsciously influence the data. </a:t>
            </a:r>
          </a:p>
          <a:p>
            <a:pPr marL="342900" indent="-342900" algn="just">
              <a:buFont typeface="+mj-lt"/>
              <a:buAutoNum type="arabicPeriod"/>
            </a:pPr>
            <a:r>
              <a:rPr lang="en-US" b="1" dirty="0">
                <a:latin typeface="Times New Roman" pitchFamily="18" charset="0"/>
                <a:cs typeface="Times New Roman" pitchFamily="18" charset="0"/>
              </a:rPr>
              <a:t>Requires highly trained staff:</a:t>
            </a:r>
            <a:r>
              <a:rPr lang="en-US" dirty="0">
                <a:latin typeface="Times New Roman" pitchFamily="18" charset="0"/>
                <a:cs typeface="Times New Roman" pitchFamily="18" charset="0"/>
              </a:rPr>
              <a:t> The reliability of the data depends entirely on the honesty, dedication, and competence of the field enumerators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486" y="598845"/>
            <a:ext cx="8229600" cy="563562"/>
          </a:xfrm>
        </p:spPr>
        <p:txBody>
          <a:bodyPr>
            <a:normAutofit fontScale="90000"/>
          </a:bodyPr>
          <a:lstStyle/>
          <a:p>
            <a:r>
              <a:rPr lang="en-US" b="1" dirty="0">
                <a:latin typeface="Times New Roman" pitchFamily="18" charset="0"/>
                <a:cs typeface="Times New Roman" pitchFamily="18" charset="0"/>
              </a:rPr>
              <a:t>Questionnaire</a:t>
            </a:r>
          </a:p>
        </p:txBody>
      </p:sp>
      <p:sp>
        <p:nvSpPr>
          <p:cNvPr id="3" name="Content Placeholder 2"/>
          <p:cNvSpPr>
            <a:spLocks noGrp="1"/>
          </p:cNvSpPr>
          <p:nvPr>
            <p:ph idx="1"/>
          </p:nvPr>
        </p:nvSpPr>
        <p:spPr>
          <a:xfrm>
            <a:off x="468234" y="1436738"/>
            <a:ext cx="10620944" cy="2977334"/>
          </a:xfrm>
        </p:spPr>
        <p:txBody>
          <a:bodyPr/>
          <a:lstStyle/>
          <a:p>
            <a:pPr algn="just">
              <a:lnSpc>
                <a:spcPct val="100000"/>
              </a:lnSpc>
              <a:buNone/>
            </a:pPr>
            <a:r>
              <a:rPr lang="en-US" dirty="0">
                <a:latin typeface="Times New Roman" pitchFamily="18" charset="0"/>
                <a:cs typeface="Times New Roman" pitchFamily="18" charset="0"/>
              </a:rPr>
              <a:t>    A questionnaire is a sheet [s] of paper containing questions relating to certain specific aspect, regarding which the researcher collects the data. The questionnaire is given to the informant or respondent to be filled up. Sometimes questionnaire is also in the form of files generated through computer. This is usually called soft copy of questionnaire.</a:t>
            </a:r>
          </a:p>
        </p:txBody>
      </p:sp>
    </p:spTree>
    <p:extLst>
      <p:ext uri="{BB962C8B-B14F-4D97-AF65-F5344CB8AC3E}">
        <p14:creationId xmlns:p14="http://schemas.microsoft.com/office/powerpoint/2010/main" val="10653023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a:latin typeface="Times New Roman" pitchFamily="18" charset="0"/>
                <a:cs typeface="Times New Roman" pitchFamily="18" charset="0"/>
              </a:rPr>
              <a:t>Advantages of Questionnaire Method</a:t>
            </a:r>
          </a:p>
        </p:txBody>
      </p:sp>
      <p:sp>
        <p:nvSpPr>
          <p:cNvPr id="3" name="Content Placeholder 2"/>
          <p:cNvSpPr>
            <a:spLocks noGrp="1"/>
          </p:cNvSpPr>
          <p:nvPr>
            <p:ph idx="1"/>
          </p:nvPr>
        </p:nvSpPr>
        <p:spPr>
          <a:xfrm>
            <a:off x="955964" y="953200"/>
            <a:ext cx="10806545" cy="5364163"/>
          </a:xfrm>
        </p:spPr>
        <p:txBody>
          <a:bodyPr>
            <a:normAutofit fontScale="92500"/>
          </a:bodyPr>
          <a:lstStyle/>
          <a:p>
            <a:pPr algn="just">
              <a:buNone/>
            </a:pPr>
            <a:r>
              <a:rPr lang="en-US" dirty="0">
                <a:latin typeface="Times New Roman" pitchFamily="18" charset="0"/>
                <a:cs typeface="Times New Roman" pitchFamily="18" charset="0"/>
              </a:rPr>
              <a:t>1. It involves lesser cost as questionnaire could be sent by post to a wide area</a:t>
            </a:r>
          </a:p>
          <a:p>
            <a:pPr algn="just">
              <a:buNone/>
            </a:pPr>
            <a:r>
              <a:rPr lang="en-US" dirty="0">
                <a:latin typeface="Times New Roman" pitchFamily="18" charset="0"/>
                <a:cs typeface="Times New Roman" pitchFamily="18" charset="0"/>
              </a:rPr>
              <a:t>2. It does not interfere with the respondent while answering the question</a:t>
            </a:r>
          </a:p>
          <a:p>
            <a:pPr algn="just">
              <a:buNone/>
            </a:pPr>
            <a:r>
              <a:rPr lang="en-US" dirty="0">
                <a:latin typeface="Times New Roman" pitchFamily="18" charset="0"/>
                <a:cs typeface="Times New Roman" pitchFamily="18" charset="0"/>
              </a:rPr>
              <a:t>3. The bias of the investigator is completely eliminated.</a:t>
            </a:r>
          </a:p>
          <a:p>
            <a:pPr algn="just">
              <a:buNone/>
            </a:pPr>
            <a:r>
              <a:rPr lang="en-US" dirty="0">
                <a:latin typeface="Times New Roman" pitchFamily="18" charset="0"/>
                <a:cs typeface="Times New Roman" pitchFamily="18" charset="0"/>
              </a:rPr>
              <a:t>4. Respondents are given sufficient time to fill up the questionnaire.</a:t>
            </a:r>
          </a:p>
          <a:p>
            <a:pPr algn="just">
              <a:buNone/>
            </a:pPr>
            <a:r>
              <a:rPr lang="en-US" dirty="0">
                <a:latin typeface="Times New Roman" pitchFamily="18" charset="0"/>
                <a:cs typeface="Times New Roman" pitchFamily="18" charset="0"/>
              </a:rPr>
              <a:t>5. If respondents cannot be reached personally, questionnaire is the alternative method available.</a:t>
            </a:r>
          </a:p>
          <a:p>
            <a:pPr algn="just">
              <a:buNone/>
            </a:pPr>
            <a:r>
              <a:rPr lang="en-US" dirty="0">
                <a:latin typeface="Times New Roman" pitchFamily="18" charset="0"/>
                <a:cs typeface="Times New Roman" pitchFamily="18" charset="0"/>
              </a:rPr>
              <a:t>6. This method is useful when the sample size is very large</a:t>
            </a:r>
          </a:p>
          <a:p>
            <a:pPr algn="just">
              <a:buNone/>
            </a:pPr>
            <a:r>
              <a:rPr lang="en-US" dirty="0">
                <a:latin typeface="Times New Roman" pitchFamily="18" charset="0"/>
                <a:cs typeface="Times New Roman" pitchFamily="18" charset="0"/>
              </a:rPr>
              <a:t>7. If the questionnaire is designed properly with instructions, then the time and cost of recruiting, training, supervising and controlling the investigators is saved.</a:t>
            </a:r>
          </a:p>
          <a:p>
            <a:pPr algn="just">
              <a:buNone/>
            </a:pPr>
            <a:r>
              <a:rPr lang="en-US" dirty="0">
                <a:latin typeface="Times New Roman" pitchFamily="18" charset="0"/>
                <a:cs typeface="Times New Roman" pitchFamily="18" charset="0"/>
              </a:rPr>
              <a:t>8. Confidentiality is ensured as the respondents directly send the filled up questionnaire to the researcher.</a:t>
            </a:r>
          </a:p>
        </p:txBody>
      </p:sp>
    </p:spTree>
    <p:extLst>
      <p:ext uri="{BB962C8B-B14F-4D97-AF65-F5344CB8AC3E}">
        <p14:creationId xmlns:p14="http://schemas.microsoft.com/office/powerpoint/2010/main" val="11220512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a:latin typeface="Times New Roman" pitchFamily="18" charset="0"/>
                <a:cs typeface="Times New Roman" pitchFamily="18" charset="0"/>
              </a:rPr>
              <a:t>Limitations of Questionnaire Method</a:t>
            </a:r>
          </a:p>
        </p:txBody>
      </p:sp>
      <p:sp>
        <p:nvSpPr>
          <p:cNvPr id="3" name="Content Placeholder 2"/>
          <p:cNvSpPr>
            <a:spLocks noGrp="1"/>
          </p:cNvSpPr>
          <p:nvPr>
            <p:ph idx="1"/>
          </p:nvPr>
        </p:nvSpPr>
        <p:spPr>
          <a:xfrm>
            <a:off x="980901" y="914401"/>
            <a:ext cx="10257905" cy="5211763"/>
          </a:xfrm>
        </p:spPr>
        <p:txBody>
          <a:bodyPr>
            <a:normAutofit fontScale="92500" lnSpcReduction="10000"/>
          </a:bodyPr>
          <a:lstStyle/>
          <a:p>
            <a:pPr algn="just">
              <a:buNone/>
            </a:pPr>
            <a:r>
              <a:rPr lang="en-US" dirty="0">
                <a:latin typeface="Times New Roman" pitchFamily="18" charset="0"/>
                <a:cs typeface="Times New Roman" pitchFamily="18" charset="0"/>
              </a:rPr>
              <a:t>1. It is always found that the response rate in questionnaire is very poor compared to using schedules.</a:t>
            </a:r>
          </a:p>
          <a:p>
            <a:pPr algn="just">
              <a:buNone/>
            </a:pPr>
            <a:r>
              <a:rPr lang="en-US" dirty="0">
                <a:latin typeface="Times New Roman" pitchFamily="18" charset="0"/>
                <a:cs typeface="Times New Roman" pitchFamily="18" charset="0"/>
              </a:rPr>
              <a:t>2. Bias of the respondent cannot be determined easily.</a:t>
            </a:r>
          </a:p>
          <a:p>
            <a:pPr algn="just">
              <a:buNone/>
            </a:pPr>
            <a:r>
              <a:rPr lang="en-US" dirty="0">
                <a:latin typeface="Times New Roman" pitchFamily="18" charset="0"/>
                <a:cs typeface="Times New Roman" pitchFamily="18" charset="0"/>
              </a:rPr>
              <a:t>3. Only if the respondents are educated, questionnaire could be used for collecting information</a:t>
            </a:r>
          </a:p>
          <a:p>
            <a:pPr algn="just">
              <a:buNone/>
            </a:pPr>
            <a:r>
              <a:rPr lang="en-US" dirty="0">
                <a:latin typeface="Times New Roman" pitchFamily="18" charset="0"/>
                <a:cs typeface="Times New Roman" pitchFamily="18" charset="0"/>
              </a:rPr>
              <a:t>4. Follow up of non - response or unfilled questionnaire only adds to the cost and time.</a:t>
            </a:r>
          </a:p>
          <a:p>
            <a:pPr algn="just">
              <a:buNone/>
            </a:pPr>
            <a:r>
              <a:rPr lang="en-US" dirty="0">
                <a:latin typeface="Times New Roman" pitchFamily="18" charset="0"/>
                <a:cs typeface="Times New Roman" pitchFamily="18" charset="0"/>
              </a:rPr>
              <a:t>5. There is no scope for giving any clarification to the respondents in case of need.</a:t>
            </a:r>
          </a:p>
          <a:p>
            <a:pPr algn="just">
              <a:buNone/>
            </a:pPr>
            <a:r>
              <a:rPr lang="en-US" dirty="0">
                <a:latin typeface="Times New Roman" pitchFamily="18" charset="0"/>
                <a:cs typeface="Times New Roman" pitchFamily="18" charset="0"/>
              </a:rPr>
              <a:t>6. Accuracy of response cannot be ensured.</a:t>
            </a:r>
          </a:p>
          <a:p>
            <a:pPr algn="just">
              <a:buNone/>
            </a:pPr>
            <a:r>
              <a:rPr lang="en-US" dirty="0">
                <a:latin typeface="Times New Roman" pitchFamily="18" charset="0"/>
                <a:cs typeface="Times New Roman" pitchFamily="18" charset="0"/>
              </a:rPr>
              <a:t>7. A lot of care is required to design and structure a questionnaire. Hence, unless a scholar is good at drafting a questionnaire, this method cannot be adopted for data collection.</a:t>
            </a:r>
          </a:p>
          <a:p>
            <a:pPr>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0107133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Autofit/>
          </a:bodyPr>
          <a:lstStyle/>
          <a:p>
            <a:pPr algn="just"/>
            <a:r>
              <a:rPr lang="en-US" sz="2800" dirty="0">
                <a:latin typeface="Times New Roman" pitchFamily="18" charset="0"/>
                <a:cs typeface="Times New Roman" pitchFamily="18" charset="0"/>
              </a:rPr>
              <a:t>Differences between Questionnaire and Schedule</a:t>
            </a:r>
          </a:p>
        </p:txBody>
      </p:sp>
      <p:graphicFrame>
        <p:nvGraphicFramePr>
          <p:cNvPr id="5" name="Table 4"/>
          <p:cNvGraphicFramePr>
            <a:graphicFrameLocks noGrp="1"/>
          </p:cNvGraphicFramePr>
          <p:nvPr/>
        </p:nvGraphicFramePr>
        <p:xfrm>
          <a:off x="606829" y="894080"/>
          <a:ext cx="11163992" cy="4754880"/>
        </p:xfrm>
        <a:graphic>
          <a:graphicData uri="http://schemas.openxmlformats.org/drawingml/2006/table">
            <a:tbl>
              <a:tblPr firstRow="1" bandRow="1">
                <a:tableStyleId>{5C22544A-7EE6-4342-B048-85BDC9FD1C3A}</a:tableStyleId>
              </a:tblPr>
              <a:tblGrid>
                <a:gridCol w="1449518">
                  <a:extLst>
                    <a:ext uri="{9D8B030D-6E8A-4147-A177-3AD203B41FA5}">
                      <a16:colId xmlns:a16="http://schemas.microsoft.com/office/drawing/2014/main" val="20000"/>
                    </a:ext>
                  </a:extLst>
                </a:gridCol>
                <a:gridCol w="4906755">
                  <a:extLst>
                    <a:ext uri="{9D8B030D-6E8A-4147-A177-3AD203B41FA5}">
                      <a16:colId xmlns:a16="http://schemas.microsoft.com/office/drawing/2014/main" val="20001"/>
                    </a:ext>
                  </a:extLst>
                </a:gridCol>
                <a:gridCol w="4807719">
                  <a:extLst>
                    <a:ext uri="{9D8B030D-6E8A-4147-A177-3AD203B41FA5}">
                      <a16:colId xmlns:a16="http://schemas.microsoft.com/office/drawing/2014/main" val="20002"/>
                    </a:ext>
                  </a:extLst>
                </a:gridCol>
              </a:tblGrid>
              <a:tr h="370840">
                <a:tc>
                  <a:txBody>
                    <a:bodyPr/>
                    <a:lstStyle/>
                    <a:p>
                      <a:pPr algn="l"/>
                      <a:r>
                        <a:rPr lang="en-US" sz="1200" b="1" baseline="0" dirty="0">
                          <a:latin typeface="Times New Roman" pitchFamily="18" charset="0"/>
                          <a:cs typeface="Times New Roman" pitchFamily="18" charset="0"/>
                        </a:rPr>
                        <a:t>BASIS OF</a:t>
                      </a:r>
                    </a:p>
                    <a:p>
                      <a:pPr algn="l"/>
                      <a:r>
                        <a:rPr lang="en-US" sz="1200" b="1" baseline="0" dirty="0">
                          <a:latin typeface="Times New Roman" pitchFamily="18" charset="0"/>
                          <a:cs typeface="Times New Roman" pitchFamily="18" charset="0"/>
                        </a:rPr>
                        <a:t>DIFFERENCE</a:t>
                      </a:r>
                    </a:p>
                  </a:txBody>
                  <a:tcPr/>
                </a:tc>
                <a:tc>
                  <a:txBody>
                    <a:bodyPr/>
                    <a:lstStyle/>
                    <a:p>
                      <a:pPr algn="l"/>
                      <a:r>
                        <a:rPr lang="en-US" sz="1800" b="1" baseline="0" dirty="0">
                          <a:latin typeface="Times New Roman" pitchFamily="18" charset="0"/>
                          <a:cs typeface="Times New Roman" pitchFamily="18" charset="0"/>
                        </a:rPr>
                        <a:t>QUESTIONNAIRE </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baseline="0" dirty="0">
                          <a:latin typeface="Times New Roman" pitchFamily="18" charset="0"/>
                          <a:cs typeface="Times New Roman" pitchFamily="18" charset="0"/>
                        </a:rPr>
                        <a:t>SCHEDULE</a:t>
                      </a:r>
                      <a:endParaRPr lang="en-US" dirty="0">
                        <a:latin typeface="Times New Roman" pitchFamily="18" charset="0"/>
                        <a:cs typeface="Times New Roman" pitchFamily="18" charset="0"/>
                      </a:endParaRPr>
                    </a:p>
                    <a:p>
                      <a:pPr algn="l"/>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0"/>
                  </a:ext>
                </a:extLst>
              </a:tr>
              <a:tr h="370840">
                <a:tc>
                  <a:txBody>
                    <a:bodyPr/>
                    <a:lstStyle/>
                    <a:p>
                      <a:r>
                        <a:rPr lang="en-US" dirty="0">
                          <a:latin typeface="Times New Roman" pitchFamily="18" charset="0"/>
                          <a:cs typeface="Times New Roman" pitchFamily="18" charset="0"/>
                        </a:rPr>
                        <a:t>Usage</a:t>
                      </a: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Respondent himself records the answers obtained</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Researcher or his trained representative records the answers</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1"/>
                  </a:ext>
                </a:extLst>
              </a:tr>
              <a:tr h="370840">
                <a:tc>
                  <a:txBody>
                    <a:bodyPr/>
                    <a:lstStyle/>
                    <a:p>
                      <a:r>
                        <a:rPr lang="en-US" dirty="0">
                          <a:latin typeface="Times New Roman" pitchFamily="18" charset="0"/>
                          <a:cs typeface="Times New Roman" pitchFamily="18" charset="0"/>
                        </a:rPr>
                        <a:t>Cost</a:t>
                      </a: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Relatively cheaper as it is sent by mail to the targeted respondents</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Relatively costly as it is recorded with personal presence</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2"/>
                  </a:ext>
                </a:extLst>
              </a:tr>
              <a:tr h="370840">
                <a:tc>
                  <a:txBody>
                    <a:bodyPr/>
                    <a:lstStyle/>
                    <a:p>
                      <a:r>
                        <a:rPr lang="en-US" dirty="0">
                          <a:latin typeface="Times New Roman" pitchFamily="18" charset="0"/>
                          <a:cs typeface="Times New Roman" pitchFamily="18" charset="0"/>
                        </a:rPr>
                        <a:t>Coverage</a:t>
                      </a: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Wide coverage possible, as it can be sent to any place by post</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Very expansive for wide coverage</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3"/>
                  </a:ext>
                </a:extLst>
              </a:tr>
              <a:tr h="370840">
                <a:tc>
                  <a:txBody>
                    <a:bodyPr/>
                    <a:lstStyle/>
                    <a:p>
                      <a:r>
                        <a:rPr lang="en-US" sz="1800" kern="1200" baseline="0" dirty="0">
                          <a:solidFill>
                            <a:schemeClr val="dk1"/>
                          </a:solidFill>
                          <a:latin typeface="Times New Roman" pitchFamily="18" charset="0"/>
                          <a:ea typeface="+mn-ea"/>
                          <a:cs typeface="Times New Roman" pitchFamily="18" charset="0"/>
                        </a:rPr>
                        <a:t>Degree of</a:t>
                      </a:r>
                    </a:p>
                    <a:p>
                      <a:r>
                        <a:rPr lang="en-US" sz="1800" kern="1200" baseline="0" dirty="0">
                          <a:solidFill>
                            <a:schemeClr val="dk1"/>
                          </a:solidFill>
                          <a:latin typeface="Times New Roman" pitchFamily="18" charset="0"/>
                          <a:ea typeface="+mn-ea"/>
                          <a:cs typeface="Times New Roman" pitchFamily="18" charset="0"/>
                        </a:rPr>
                        <a:t>Response</a:t>
                      </a:r>
                      <a:endParaRPr lang="en-US" dirty="0">
                        <a:latin typeface="Times New Roman" pitchFamily="18" charset="0"/>
                        <a:cs typeface="Times New Roman" pitchFamily="18" charset="0"/>
                      </a:endParaRP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Degree of response is low</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Degree of response is high</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4"/>
                  </a:ext>
                </a:extLst>
              </a:tr>
              <a:tr h="370840">
                <a:tc>
                  <a:txBody>
                    <a:bodyPr/>
                    <a:lstStyle/>
                    <a:p>
                      <a:r>
                        <a:rPr lang="en-US" sz="1800" kern="1200" baseline="0" dirty="0">
                          <a:solidFill>
                            <a:schemeClr val="dk1"/>
                          </a:solidFill>
                          <a:latin typeface="Times New Roman" pitchFamily="18" charset="0"/>
                          <a:ea typeface="+mn-ea"/>
                          <a:cs typeface="Times New Roman" pitchFamily="18" charset="0"/>
                        </a:rPr>
                        <a:t>Quality of</a:t>
                      </a:r>
                    </a:p>
                    <a:p>
                      <a:r>
                        <a:rPr lang="en-US" sz="1800" kern="1200" baseline="0" dirty="0">
                          <a:solidFill>
                            <a:schemeClr val="dk1"/>
                          </a:solidFill>
                          <a:latin typeface="Times New Roman" pitchFamily="18" charset="0"/>
                          <a:ea typeface="+mn-ea"/>
                          <a:cs typeface="Times New Roman" pitchFamily="18" charset="0"/>
                        </a:rPr>
                        <a:t>Response</a:t>
                      </a:r>
                      <a:endParaRPr lang="en-US" dirty="0">
                        <a:latin typeface="Times New Roman" pitchFamily="18" charset="0"/>
                        <a:cs typeface="Times New Roman" pitchFamily="18" charset="0"/>
                      </a:endParaRP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Not good, as the respondent answers the questions the way it is understood</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Skill of researcher persuades the respondent to respond effectively</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5"/>
                  </a:ext>
                </a:extLst>
              </a:tr>
              <a:tr h="370840">
                <a:tc>
                  <a:txBody>
                    <a:bodyPr/>
                    <a:lstStyle/>
                    <a:p>
                      <a:r>
                        <a:rPr lang="en-US" sz="1800" kern="1200" baseline="0" dirty="0">
                          <a:solidFill>
                            <a:schemeClr val="dk1"/>
                          </a:solidFill>
                          <a:latin typeface="Times New Roman" pitchFamily="18" charset="0"/>
                          <a:ea typeface="+mn-ea"/>
                          <a:cs typeface="Times New Roman" pitchFamily="18" charset="0"/>
                        </a:rPr>
                        <a:t>Identification of </a:t>
                      </a:r>
                    </a:p>
                    <a:p>
                      <a:r>
                        <a:rPr lang="en-US" sz="1800" kern="1200" baseline="0" dirty="0">
                          <a:solidFill>
                            <a:schemeClr val="dk1"/>
                          </a:solidFill>
                          <a:latin typeface="Times New Roman" pitchFamily="18" charset="0"/>
                          <a:ea typeface="+mn-ea"/>
                          <a:cs typeface="Times New Roman" pitchFamily="18" charset="0"/>
                        </a:rPr>
                        <a:t>Respondent</a:t>
                      </a:r>
                      <a:endParaRPr lang="en-US" dirty="0">
                        <a:latin typeface="Times New Roman" pitchFamily="18" charset="0"/>
                        <a:cs typeface="Times New Roman" pitchFamily="18" charset="0"/>
                      </a:endParaRPr>
                    </a:p>
                  </a:txBody>
                  <a:tcPr/>
                </a:tc>
                <a:tc>
                  <a:txBody>
                    <a:bodyPr/>
                    <a:lstStyle/>
                    <a:p>
                      <a:pPr algn="just"/>
                      <a:r>
                        <a:rPr lang="en-US" sz="1800" kern="1200" baseline="0" dirty="0">
                          <a:solidFill>
                            <a:schemeClr val="dk1"/>
                          </a:solidFill>
                          <a:latin typeface="Times New Roman" pitchFamily="18" charset="0"/>
                          <a:ea typeface="+mn-ea"/>
                          <a:cs typeface="Times New Roman" pitchFamily="18" charset="0"/>
                        </a:rPr>
                        <a:t>It is not known clearly who answered the questionnaire and this in turn might affect accuracy of information obtained</a:t>
                      </a:r>
                      <a:endParaRPr lang="en-US" dirty="0">
                        <a:latin typeface="Times New Roman" pitchFamily="18" charset="0"/>
                        <a:cs typeface="Times New Roman" pitchFamily="18" charset="0"/>
                      </a:endParaRPr>
                    </a:p>
                  </a:txBody>
                  <a:tcPr/>
                </a:tc>
                <a:tc>
                  <a:txBody>
                    <a:bodyPr/>
                    <a:lstStyle/>
                    <a:p>
                      <a:pPr algn="just"/>
                      <a:r>
                        <a:rPr lang="en-IN" dirty="0">
                          <a:latin typeface="Times New Roman" pitchFamily="18" charset="0"/>
                          <a:cs typeface="Times New Roman" pitchFamily="18" charset="0"/>
                        </a:rPr>
                        <a:t>More accurate information can be sought</a:t>
                      </a:r>
                      <a:endParaRPr lang="en-US" dirty="0">
                        <a:latin typeface="Times New Roman" pitchFamily="18" charset="0"/>
                        <a:cs typeface="Times New Roman" pitchFamily="18" charset="0"/>
                      </a:endParaRP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8376374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6993" y="83439"/>
            <a:ext cx="8229600" cy="715962"/>
          </a:xfrm>
        </p:spPr>
        <p:txBody>
          <a:bodyPr>
            <a:normAutofit/>
          </a:bodyPr>
          <a:lstStyle/>
          <a:p>
            <a:r>
              <a:rPr lang="en-US" sz="4000" b="1" dirty="0">
                <a:latin typeface="Times New Roman" pitchFamily="18" charset="0"/>
                <a:cs typeface="Times New Roman" pitchFamily="18" charset="0"/>
              </a:rPr>
              <a:t>Prerequisites of  Questionnaire</a:t>
            </a:r>
          </a:p>
        </p:txBody>
      </p:sp>
      <p:sp>
        <p:nvSpPr>
          <p:cNvPr id="3" name="Content Placeholder 2"/>
          <p:cNvSpPr>
            <a:spLocks noGrp="1"/>
          </p:cNvSpPr>
          <p:nvPr>
            <p:ph idx="1"/>
          </p:nvPr>
        </p:nvSpPr>
        <p:spPr>
          <a:xfrm>
            <a:off x="723207" y="773080"/>
            <a:ext cx="10889673" cy="5211763"/>
          </a:xfrm>
        </p:spPr>
        <p:txBody>
          <a:bodyPr>
            <a:noAutofit/>
          </a:bodyPr>
          <a:lstStyle/>
          <a:p>
            <a:pPr indent="-107950" algn="just">
              <a:lnSpc>
                <a:spcPct val="120000"/>
              </a:lnSpc>
              <a:buNone/>
            </a:pPr>
            <a:r>
              <a:rPr lang="en-US" sz="2200" dirty="0">
                <a:latin typeface="Times New Roman" pitchFamily="18" charset="0"/>
                <a:cs typeface="Times New Roman" pitchFamily="18" charset="0"/>
              </a:rPr>
              <a:t>1. The scope of the survey should be clearly determined in advance. This will help to determine the segment of informants or respondents from whom the information should be collected</a:t>
            </a:r>
          </a:p>
          <a:p>
            <a:pPr indent="-107950" algn="just">
              <a:lnSpc>
                <a:spcPct val="120000"/>
              </a:lnSpc>
              <a:buNone/>
            </a:pPr>
            <a:r>
              <a:rPr lang="en-US" sz="2200" dirty="0">
                <a:latin typeface="Times New Roman" pitchFamily="18" charset="0"/>
                <a:cs typeface="Times New Roman" pitchFamily="18" charset="0"/>
              </a:rPr>
              <a:t>2. The purpose of the survey must be established and stated in the questionnaire</a:t>
            </a:r>
          </a:p>
          <a:p>
            <a:pPr indent="-107950" algn="just">
              <a:lnSpc>
                <a:spcPct val="120000"/>
              </a:lnSpc>
              <a:buNone/>
            </a:pPr>
            <a:r>
              <a:rPr lang="en-US" sz="2200" dirty="0">
                <a:latin typeface="Times New Roman" pitchFamily="18" charset="0"/>
                <a:cs typeface="Times New Roman" pitchFamily="18" charset="0"/>
              </a:rPr>
              <a:t>3. The researcher should prepare the draft questionnaire and revise it until it is fit for the purpose of enquiry.</a:t>
            </a:r>
          </a:p>
          <a:p>
            <a:pPr indent="-107950" algn="just">
              <a:lnSpc>
                <a:spcPct val="120000"/>
              </a:lnSpc>
              <a:buNone/>
            </a:pPr>
            <a:r>
              <a:rPr lang="en-US" sz="2200" dirty="0">
                <a:latin typeface="Times New Roman" pitchFamily="18" charset="0"/>
                <a:cs typeface="Times New Roman" pitchFamily="18" charset="0"/>
              </a:rPr>
              <a:t>4. Follow up arrangement after dispatching the questionnaire should be planned in advance.</a:t>
            </a:r>
          </a:p>
          <a:p>
            <a:pPr indent="-107950" algn="just">
              <a:lnSpc>
                <a:spcPct val="120000"/>
              </a:lnSpc>
              <a:buNone/>
            </a:pPr>
            <a:r>
              <a:rPr lang="en-US" sz="2200" dirty="0">
                <a:latin typeface="Times New Roman" pitchFamily="18" charset="0"/>
                <a:cs typeface="Times New Roman" pitchFamily="18" charset="0"/>
              </a:rPr>
              <a:t>5. Maintenance of list of respondents, to whom the questionnaire is sent, is necessary.</a:t>
            </a:r>
          </a:p>
          <a:p>
            <a:pPr indent="-107950" algn="just">
              <a:lnSpc>
                <a:spcPct val="120000"/>
              </a:lnSpc>
              <a:buNone/>
            </a:pPr>
            <a:r>
              <a:rPr lang="en-US" sz="2200" dirty="0">
                <a:latin typeface="Times New Roman" pitchFamily="18" charset="0"/>
                <a:cs typeface="Times New Roman" pitchFamily="18" charset="0"/>
              </a:rPr>
              <a:t>6. Whether to use structured or unstructured questionnaire is an important decision to be taken.</a:t>
            </a:r>
          </a:p>
          <a:p>
            <a:pPr indent="-107950" algn="just">
              <a:lnSpc>
                <a:spcPct val="120000"/>
              </a:lnSpc>
              <a:buNone/>
            </a:pPr>
            <a:r>
              <a:rPr lang="en-US" sz="2200" dirty="0">
                <a:latin typeface="Times New Roman" pitchFamily="18" charset="0"/>
                <a:cs typeface="Times New Roman" pitchFamily="18" charset="0"/>
              </a:rPr>
              <a:t>7. Time frame for different activities connected with the questionnaire like, preparation of questionnaire, its </a:t>
            </a:r>
            <a:r>
              <a:rPr lang="en-US" sz="2200" dirty="0" err="1">
                <a:latin typeface="Times New Roman" pitchFamily="18" charset="0"/>
                <a:cs typeface="Times New Roman" pitchFamily="18" charset="0"/>
              </a:rPr>
              <a:t>finalisation</a:t>
            </a:r>
            <a:r>
              <a:rPr lang="en-US" sz="2200" dirty="0">
                <a:latin typeface="Times New Roman" pitchFamily="18" charset="0"/>
                <a:cs typeface="Times New Roman" pitchFamily="18" charset="0"/>
              </a:rPr>
              <a:t>, printing, collecting list of respondents and their addresses, </a:t>
            </a:r>
            <a:r>
              <a:rPr lang="en-US" sz="2200" dirty="0" err="1">
                <a:latin typeface="Times New Roman" pitchFamily="18" charset="0"/>
                <a:cs typeface="Times New Roman" pitchFamily="18" charset="0"/>
              </a:rPr>
              <a:t>despatch</a:t>
            </a:r>
            <a:r>
              <a:rPr lang="en-US" sz="2200" dirty="0">
                <a:latin typeface="Times New Roman" pitchFamily="18" charset="0"/>
                <a:cs typeface="Times New Roman" pitchFamily="18" charset="0"/>
              </a:rPr>
              <a:t> and follow up, etc.</a:t>
            </a:r>
          </a:p>
        </p:txBody>
      </p:sp>
    </p:spTree>
    <p:extLst>
      <p:ext uri="{BB962C8B-B14F-4D97-AF65-F5344CB8AC3E}">
        <p14:creationId xmlns:p14="http://schemas.microsoft.com/office/powerpoint/2010/main" val="6825742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199821"/>
            <a:ext cx="8229600" cy="563562"/>
          </a:xfrm>
        </p:spPr>
        <p:txBody>
          <a:bodyPr>
            <a:normAutofit fontScale="90000"/>
          </a:bodyPr>
          <a:lstStyle/>
          <a:p>
            <a:r>
              <a:rPr lang="en-US" dirty="0">
                <a:latin typeface="Times New Roman" pitchFamily="18" charset="0"/>
                <a:cs typeface="Times New Roman" pitchFamily="18" charset="0"/>
              </a:rPr>
              <a:t>Constructing Questionnaire</a:t>
            </a:r>
          </a:p>
        </p:txBody>
      </p:sp>
      <p:sp>
        <p:nvSpPr>
          <p:cNvPr id="3" name="Content Placeholder 2"/>
          <p:cNvSpPr>
            <a:spLocks noGrp="1"/>
          </p:cNvSpPr>
          <p:nvPr>
            <p:ph idx="1"/>
          </p:nvPr>
        </p:nvSpPr>
        <p:spPr>
          <a:xfrm>
            <a:off x="789709" y="838200"/>
            <a:ext cx="10740044" cy="5562600"/>
          </a:xfrm>
        </p:spPr>
        <p:txBody>
          <a:bodyPr>
            <a:normAutofit fontScale="77500" lnSpcReduction="20000"/>
          </a:bodyPr>
          <a:lstStyle/>
          <a:p>
            <a:pPr algn="just">
              <a:buNone/>
            </a:pPr>
            <a:r>
              <a:rPr lang="en-US" dirty="0">
                <a:latin typeface="Times New Roman" pitchFamily="18" charset="0"/>
                <a:cs typeface="Times New Roman" pitchFamily="18" charset="0"/>
              </a:rPr>
              <a:t>1.  Questionnaire should be printed / cyclostyled / </a:t>
            </a:r>
            <a:r>
              <a:rPr lang="en-US" dirty="0" err="1">
                <a:latin typeface="Times New Roman" pitchFamily="18" charset="0"/>
                <a:cs typeface="Times New Roman" pitchFamily="18" charset="0"/>
              </a:rPr>
              <a:t>xeroxed</a:t>
            </a:r>
            <a:endParaRPr lang="en-US" dirty="0">
              <a:latin typeface="Times New Roman" pitchFamily="18" charset="0"/>
              <a:cs typeface="Times New Roman" pitchFamily="18" charset="0"/>
            </a:endParaRPr>
          </a:p>
          <a:p>
            <a:pPr algn="just">
              <a:buNone/>
            </a:pPr>
            <a:r>
              <a:rPr lang="en-US" dirty="0">
                <a:latin typeface="Times New Roman" pitchFamily="18" charset="0"/>
                <a:cs typeface="Times New Roman" pitchFamily="18" charset="0"/>
              </a:rPr>
              <a:t>2. The first part of the questionnaire should specify the object or purpose for which the information is required.</a:t>
            </a:r>
          </a:p>
          <a:p>
            <a:pPr algn="just">
              <a:buNone/>
            </a:pPr>
            <a:r>
              <a:rPr lang="en-US" dirty="0">
                <a:latin typeface="Times New Roman" pitchFamily="18" charset="0"/>
                <a:cs typeface="Times New Roman" pitchFamily="18" charset="0"/>
              </a:rPr>
              <a:t>3. An assurance to the respondent that the information furnished would be kept confidentially must be given.</a:t>
            </a:r>
          </a:p>
          <a:p>
            <a:pPr algn="just">
              <a:buNone/>
            </a:pPr>
            <a:r>
              <a:rPr lang="en-US" dirty="0">
                <a:latin typeface="Times New Roman" pitchFamily="18" charset="0"/>
                <a:cs typeface="Times New Roman" pitchFamily="18" charset="0"/>
              </a:rPr>
              <a:t>4. Some introduction about the person / </a:t>
            </a:r>
            <a:r>
              <a:rPr lang="en-US" dirty="0" err="1">
                <a:latin typeface="Times New Roman" pitchFamily="18" charset="0"/>
                <a:cs typeface="Times New Roman" pitchFamily="18" charset="0"/>
              </a:rPr>
              <a:t>organisation</a:t>
            </a:r>
            <a:r>
              <a:rPr lang="en-US" dirty="0">
                <a:latin typeface="Times New Roman" pitchFamily="18" charset="0"/>
                <a:cs typeface="Times New Roman" pitchFamily="18" charset="0"/>
              </a:rPr>
              <a:t> who is collecting the information is to be given. Sometimes, this is given as a letter enclosed with the questionnaire.</a:t>
            </a:r>
          </a:p>
          <a:p>
            <a:pPr algn="just">
              <a:buNone/>
            </a:pPr>
            <a:r>
              <a:rPr lang="en-US" dirty="0">
                <a:latin typeface="Times New Roman" pitchFamily="18" charset="0"/>
                <a:cs typeface="Times New Roman" pitchFamily="18" charset="0"/>
              </a:rPr>
              <a:t>5. Questions should be constructed using simple language and technical jargons, terms, concepts should all be avoided.</a:t>
            </a:r>
          </a:p>
          <a:p>
            <a:pPr algn="just">
              <a:buNone/>
            </a:pPr>
            <a:r>
              <a:rPr lang="en-US" dirty="0">
                <a:latin typeface="Times New Roman" pitchFamily="18" charset="0"/>
                <a:cs typeface="Times New Roman" pitchFamily="18" charset="0"/>
              </a:rPr>
              <a:t>6. Questions should never be lengthy. It is wiser not to combine a number of questions in one question itself.</a:t>
            </a:r>
          </a:p>
          <a:p>
            <a:pPr algn="just">
              <a:buNone/>
            </a:pPr>
            <a:r>
              <a:rPr lang="en-US" dirty="0">
                <a:latin typeface="Times New Roman" pitchFamily="18" charset="0"/>
                <a:cs typeface="Times New Roman" pitchFamily="18" charset="0"/>
              </a:rPr>
              <a:t>7. Each question should be specific and clear.</a:t>
            </a:r>
          </a:p>
          <a:p>
            <a:pPr algn="just">
              <a:buNone/>
            </a:pPr>
            <a:r>
              <a:rPr lang="en-US" dirty="0">
                <a:latin typeface="Times New Roman" pitchFamily="18" charset="0"/>
                <a:cs typeface="Times New Roman" pitchFamily="18" charset="0"/>
              </a:rPr>
              <a:t>8. Personal questions on wealth, habits, etc., could be avoided.</a:t>
            </a:r>
          </a:p>
          <a:p>
            <a:pPr algn="just">
              <a:buNone/>
            </a:pPr>
            <a:r>
              <a:rPr lang="en-US" dirty="0">
                <a:latin typeface="Times New Roman" pitchFamily="18" charset="0"/>
                <a:cs typeface="Times New Roman" pitchFamily="18" charset="0"/>
              </a:rPr>
              <a:t>9. Questions should be given in a sequence. [For example, Question relating to marital status should precede the question about the number of children]</a:t>
            </a:r>
          </a:p>
          <a:p>
            <a:pPr algn="just">
              <a:buNone/>
            </a:pPr>
            <a:r>
              <a:rPr lang="en-US" dirty="0">
                <a:latin typeface="Times New Roman" pitchFamily="18" charset="0"/>
                <a:cs typeface="Times New Roman" pitchFamily="18" charset="0"/>
              </a:rPr>
              <a:t>10. Questions should not require any referencing before replying.</a:t>
            </a:r>
          </a:p>
          <a:p>
            <a:pPr algn="just">
              <a:buNone/>
            </a:pPr>
            <a:r>
              <a:rPr lang="en-US" dirty="0">
                <a:latin typeface="Times New Roman" pitchFamily="18" charset="0"/>
                <a:cs typeface="Times New Roman" pitchFamily="18" charset="0"/>
              </a:rPr>
              <a:t>11. Questions should not force the respondent to recall from his memory anything to answer.</a:t>
            </a:r>
          </a:p>
        </p:txBody>
      </p:sp>
    </p:spTree>
    <p:extLst>
      <p:ext uri="{BB962C8B-B14F-4D97-AF65-F5344CB8AC3E}">
        <p14:creationId xmlns:p14="http://schemas.microsoft.com/office/powerpoint/2010/main" val="2488926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8843" y="381000"/>
            <a:ext cx="10025149" cy="6172200"/>
          </a:xfrm>
        </p:spPr>
        <p:txBody>
          <a:bodyPr>
            <a:normAutofit fontScale="85000" lnSpcReduction="20000"/>
          </a:bodyPr>
          <a:lstStyle/>
          <a:p>
            <a:pPr algn="just">
              <a:buNone/>
            </a:pPr>
            <a:r>
              <a:rPr lang="en-US" dirty="0">
                <a:latin typeface="Times New Roman" pitchFamily="18" charset="0"/>
                <a:cs typeface="Times New Roman" pitchFamily="18" charset="0"/>
              </a:rPr>
              <a:t>12. Questions needing computation / calculation / consultation should be avoided.</a:t>
            </a:r>
          </a:p>
          <a:p>
            <a:pPr algn="just">
              <a:buNone/>
            </a:pPr>
            <a:r>
              <a:rPr lang="en-US" dirty="0">
                <a:latin typeface="Times New Roman" pitchFamily="18" charset="0"/>
                <a:cs typeface="Times New Roman" pitchFamily="18" charset="0"/>
              </a:rPr>
              <a:t>13. Questions on sentiments / belief / faith should be avoided.</a:t>
            </a:r>
          </a:p>
          <a:p>
            <a:pPr algn="just">
              <a:buNone/>
            </a:pPr>
            <a:r>
              <a:rPr lang="en-US" dirty="0">
                <a:latin typeface="Times New Roman" pitchFamily="18" charset="0"/>
                <a:cs typeface="Times New Roman" pitchFamily="18" charset="0"/>
              </a:rPr>
              <a:t>14. Repetition of question should be eliminated.</a:t>
            </a:r>
          </a:p>
          <a:p>
            <a:pPr algn="just">
              <a:buNone/>
            </a:pPr>
            <a:r>
              <a:rPr lang="en-US" dirty="0">
                <a:latin typeface="Times New Roman" pitchFamily="18" charset="0"/>
                <a:cs typeface="Times New Roman" pitchFamily="18" charset="0"/>
              </a:rPr>
              <a:t>15.In case of any instruction is required for filling up the questionnaire, such instructions should be given separately specifying the question number and the related instructions. For example, the Application form for University Examination, is given with instructions sheet regarding fees to be paid, mode of payment, subject code, etc.</a:t>
            </a:r>
          </a:p>
          <a:p>
            <a:pPr algn="just">
              <a:buNone/>
            </a:pPr>
            <a:r>
              <a:rPr lang="en-US" dirty="0">
                <a:latin typeface="Times New Roman" pitchFamily="18" charset="0"/>
                <a:cs typeface="Times New Roman" pitchFamily="18" charset="0"/>
              </a:rPr>
              <a:t>16. Sufficient space should be given for answering questions</a:t>
            </a:r>
          </a:p>
          <a:p>
            <a:pPr algn="just">
              <a:buNone/>
            </a:pPr>
            <a:r>
              <a:rPr lang="en-US" dirty="0">
                <a:latin typeface="Times New Roman" pitchFamily="18" charset="0"/>
                <a:cs typeface="Times New Roman" pitchFamily="18" charset="0"/>
              </a:rPr>
              <a:t>17. The questionnaire should be made attractive, as otherwise, the respondents may not be motivated to answer.</a:t>
            </a:r>
          </a:p>
          <a:p>
            <a:pPr algn="just">
              <a:buNone/>
            </a:pPr>
            <a:r>
              <a:rPr lang="en-US" dirty="0">
                <a:latin typeface="Times New Roman" pitchFamily="18" charset="0"/>
                <a:cs typeface="Times New Roman" pitchFamily="18" charset="0"/>
              </a:rPr>
              <a:t>18. If any </a:t>
            </a:r>
            <a:r>
              <a:rPr lang="en-US" dirty="0" err="1">
                <a:latin typeface="Times New Roman" pitchFamily="18" charset="0"/>
                <a:cs typeface="Times New Roman" pitchFamily="18" charset="0"/>
              </a:rPr>
              <a:t>diagramme</a:t>
            </a:r>
            <a:r>
              <a:rPr lang="en-US" dirty="0">
                <a:latin typeface="Times New Roman" pitchFamily="18" charset="0"/>
                <a:cs typeface="Times New Roman" pitchFamily="18" charset="0"/>
              </a:rPr>
              <a:t> or map is used, then it should be printed clearly.</a:t>
            </a:r>
          </a:p>
          <a:p>
            <a:pPr algn="just">
              <a:buNone/>
            </a:pPr>
            <a:r>
              <a:rPr lang="en-US" dirty="0">
                <a:latin typeface="Times New Roman" pitchFamily="18" charset="0"/>
                <a:cs typeface="Times New Roman" pitchFamily="18" charset="0"/>
              </a:rPr>
              <a:t>19. Questions, which, cross check the response, could be built in to the questionnaire.</a:t>
            </a:r>
          </a:p>
          <a:p>
            <a:pPr algn="just">
              <a:buNone/>
            </a:pPr>
            <a:r>
              <a:rPr lang="en-US" dirty="0">
                <a:latin typeface="Times New Roman" pitchFamily="18" charset="0"/>
                <a:cs typeface="Times New Roman" pitchFamily="18" charset="0"/>
              </a:rPr>
              <a:t>20. Instructions regarding how to return the filled up questionnaire must be given. It is desirable that a self-addressed sufficiently stamped envelope is sent along with the questionnaire to enable the respondents to send the filled up questionnaire.</a:t>
            </a:r>
          </a:p>
          <a:p>
            <a:pPr>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823397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5653"/>
          </a:xfrm>
        </p:spPr>
        <p:txBody>
          <a:bodyPr>
            <a:normAutofit fontScale="90000"/>
          </a:bodyPr>
          <a:lstStyle/>
          <a:p>
            <a:r>
              <a:rPr lang="en-IN" dirty="0">
                <a:latin typeface="Times New Roman" pitchFamily="18" charset="0"/>
                <a:cs typeface="Times New Roman" pitchFamily="18" charset="0"/>
              </a:rPr>
              <a:t>Steps involved in preparing questionnaire</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180407"/>
            <a:ext cx="10515600" cy="4996556"/>
          </a:xfrm>
        </p:spPr>
        <p:txBody>
          <a:bodyPr>
            <a:normAutofit fontScale="92500" lnSpcReduction="10000"/>
          </a:bodyPr>
          <a:lstStyle/>
          <a:p>
            <a:pPr lvl="0">
              <a:buNone/>
            </a:pPr>
            <a:r>
              <a:rPr lang="en-US" b="1" dirty="0">
                <a:latin typeface="Times New Roman" pitchFamily="18" charset="0"/>
                <a:cs typeface="Times New Roman" pitchFamily="18" charset="0"/>
              </a:rPr>
              <a:t>1. Define the Purpose and Objectives</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Clearly identify what information you need to collect and why. This involves reviewing your research objectives or project goals to ensure each question serves a specific purpose</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2. Identify the Target Audience</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Determine who will be answering the questionnaire. Understanding the demographics, language proficiency, and characteristics of your respondents helps tailor the questions appropriately.</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3. Choose the Method of Distribution</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Decide how you will reach your respondents (e.g., online, face-to-face, telephone, mail), as this can influence question format and length.</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4. Draft a Comprehensive List of Questions</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List all potential questions that could help achieve your objectives. At this stage, focus on content rather than wording or order.</a:t>
            </a:r>
            <a:endParaRPr lang="en-US" sz="20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57447"/>
            <a:ext cx="10515600" cy="5819516"/>
          </a:xfrm>
        </p:spPr>
        <p:txBody>
          <a:bodyPr>
            <a:normAutofit fontScale="92500"/>
          </a:bodyPr>
          <a:lstStyle/>
          <a:p>
            <a:pPr lvl="0">
              <a:buNone/>
            </a:pPr>
            <a:r>
              <a:rPr lang="en-US" b="1" dirty="0">
                <a:latin typeface="Times New Roman" pitchFamily="18" charset="0"/>
                <a:cs typeface="Times New Roman" pitchFamily="18" charset="0"/>
              </a:rPr>
              <a:t>5. Refine Question Wording and Format</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Develop clear, concise, and unbiased questions. Choose between open-ended and closed-ended formats as appropriate. Ensure questions are easy to understand and avoid ambiguity, leading, or sensitive questions unless necessary.</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6. Organize Questions in a Logical Sequence</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Arrange questions to create a natural flow, typically starting with simple or general questions and progressing to more complex or sensitive ones. This helps keep respondents engaged and improves data quality.</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7. Decide on Response Formats</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For each question, determine the type of response required (e.g., multiple choice, </a:t>
            </a:r>
            <a:r>
              <a:rPr lang="en-US" dirty="0" err="1">
                <a:latin typeface="Times New Roman" pitchFamily="18" charset="0"/>
                <a:cs typeface="Times New Roman" pitchFamily="18" charset="0"/>
              </a:rPr>
              <a:t>Likert</a:t>
            </a:r>
            <a:r>
              <a:rPr lang="en-US" dirty="0">
                <a:latin typeface="Times New Roman" pitchFamily="18" charset="0"/>
                <a:cs typeface="Times New Roman" pitchFamily="18" charset="0"/>
              </a:rPr>
              <a:t> scale, short answer) and ensure response options are exhaustive and mutually exclusive where applicable.</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8. Check Questionnaire Length and Layout</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Ensure the questionnaire is not too long, as this can reduce response rates. Format the questionnaire for clarity, with clear instructions and an appealing, easy-to-follow layout.</a:t>
            </a:r>
            <a:endParaRPr lang="en-US" sz="20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2509"/>
            <a:ext cx="10515600" cy="5844454"/>
          </a:xfrm>
        </p:spPr>
        <p:txBody>
          <a:bodyPr/>
          <a:lstStyle/>
          <a:p>
            <a:pPr lvl="0">
              <a:buNone/>
            </a:pPr>
            <a:r>
              <a:rPr lang="en-US" b="1" dirty="0">
                <a:latin typeface="Times New Roman" pitchFamily="18" charset="0"/>
                <a:cs typeface="Times New Roman" pitchFamily="18" charset="0"/>
              </a:rPr>
              <a:t>9. Pretest (Pilot) the Questionnaire</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Test the questionnaire on a small sample from your target audience to identify confusing questions, layout issues, or other problems. Use feedback to make necessary revisions.</a:t>
            </a:r>
            <a:endParaRPr lang="en-US" sz="2000" dirty="0">
              <a:latin typeface="Times New Roman" pitchFamily="18" charset="0"/>
              <a:cs typeface="Times New Roman" pitchFamily="18" charset="0"/>
            </a:endParaRPr>
          </a:p>
          <a:p>
            <a:pPr lvl="0">
              <a:buNone/>
            </a:pPr>
            <a:r>
              <a:rPr lang="en-US" b="1" dirty="0">
                <a:latin typeface="Times New Roman" pitchFamily="18" charset="0"/>
                <a:cs typeface="Times New Roman" pitchFamily="18" charset="0"/>
              </a:rPr>
              <a:t>10. Finalize and Distribute</a:t>
            </a:r>
            <a:endParaRPr lang="en-US" sz="2400" dirty="0">
              <a:latin typeface="Times New Roman" pitchFamily="18" charset="0"/>
              <a:cs typeface="Times New Roman" pitchFamily="18" charset="0"/>
            </a:endParaRPr>
          </a:p>
          <a:p>
            <a:pPr lvl="1"/>
            <a:r>
              <a:rPr lang="en-US" dirty="0">
                <a:latin typeface="Times New Roman" pitchFamily="18" charset="0"/>
                <a:cs typeface="Times New Roman" pitchFamily="18" charset="0"/>
              </a:rPr>
              <a:t>Make final adjustments based on pilot feedback. Ensure the questionnaire is ready for distribution and then administer it to your target population.</a:t>
            </a:r>
            <a:endParaRPr lang="en-US" sz="2000" dirty="0">
              <a:latin typeface="Times New Roman" pitchFamily="18" charset="0"/>
              <a:cs typeface="Times New Roman" pitchFamily="18" charset="0"/>
            </a:endParaRPr>
          </a:p>
          <a:p>
            <a:pPr>
              <a:buNone/>
            </a:pPr>
            <a:endParaRPr lang="en-US" dirty="0">
              <a:latin typeface="Times New Roman" pitchFamily="18" charset="0"/>
              <a:cs typeface="Times New Roman"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186237"/>
            <a:ext cx="9144000" cy="1041083"/>
          </a:xfrm>
        </p:spPr>
        <p:txBody>
          <a:bodyPr/>
          <a:lstStyle/>
          <a:p>
            <a:r>
              <a:rPr lang="en-US" dirty="0">
                <a:latin typeface="Times New Roman" pitchFamily="18" charset="0"/>
                <a:cs typeface="Times New Roman" pitchFamily="18" charset="0"/>
              </a:rPr>
              <a:t>Interview Techniques</a:t>
            </a:r>
          </a:p>
        </p:txBody>
      </p:sp>
    </p:spTree>
    <p:extLst>
      <p:ext uri="{BB962C8B-B14F-4D97-AF65-F5344CB8AC3E}">
        <p14:creationId xmlns:p14="http://schemas.microsoft.com/office/powerpoint/2010/main" val="16827805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Points</a:t>
            </a:r>
          </a:p>
        </p:txBody>
      </p:sp>
      <p:sp>
        <p:nvSpPr>
          <p:cNvPr id="3" name="Content Placeholder 2"/>
          <p:cNvSpPr>
            <a:spLocks noGrp="1"/>
          </p:cNvSpPr>
          <p:nvPr>
            <p:ph idx="1"/>
          </p:nvPr>
        </p:nvSpPr>
        <p:spPr/>
        <p:txBody>
          <a:bodyPr/>
          <a:lstStyle/>
          <a:p>
            <a:pPr marL="514350" indent="-514350">
              <a:buAutoNum type="arabicPeriod"/>
            </a:pPr>
            <a:r>
              <a:rPr lang="en-US" dirty="0"/>
              <a:t>Meaning&amp; role,</a:t>
            </a:r>
          </a:p>
          <a:p>
            <a:pPr marL="514350" indent="-514350">
              <a:buAutoNum type="arabicPeriod"/>
            </a:pPr>
            <a:r>
              <a:rPr lang="en-US" dirty="0"/>
              <a:t> Objectives ,</a:t>
            </a:r>
          </a:p>
          <a:p>
            <a:pPr marL="514350" indent="-514350">
              <a:buAutoNum type="arabicPeriod"/>
            </a:pPr>
            <a:r>
              <a:rPr lang="en-US" dirty="0"/>
              <a:t>Types, </a:t>
            </a:r>
          </a:p>
          <a:p>
            <a:pPr marL="514350" indent="-514350">
              <a:buAutoNum type="arabicPeriod"/>
            </a:pPr>
            <a:r>
              <a:rPr lang="en-US" dirty="0"/>
              <a:t>The process,</a:t>
            </a:r>
          </a:p>
          <a:p>
            <a:pPr marL="514350" indent="-514350">
              <a:buAutoNum type="arabicPeriod"/>
            </a:pPr>
            <a:r>
              <a:rPr lang="en-US" dirty="0"/>
              <a:t> Advantages and Disadvantages</a:t>
            </a:r>
          </a:p>
          <a:p>
            <a:pPr>
              <a:buNone/>
            </a:pPr>
            <a:endParaRPr lang="en-US" dirty="0"/>
          </a:p>
        </p:txBody>
      </p:sp>
    </p:spTree>
    <p:extLst>
      <p:ext uri="{BB962C8B-B14F-4D97-AF65-F5344CB8AC3E}">
        <p14:creationId xmlns:p14="http://schemas.microsoft.com/office/powerpoint/2010/main" val="3157537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0901" y="274638"/>
            <a:ext cx="10548851" cy="715962"/>
          </a:xfrm>
        </p:spPr>
        <p:txBody>
          <a:bodyPr>
            <a:normAutofit/>
          </a:bodyPr>
          <a:lstStyle/>
          <a:p>
            <a:r>
              <a:rPr lang="en-US" dirty="0">
                <a:latin typeface="Times New Roman" pitchFamily="18" charset="0"/>
                <a:cs typeface="Times New Roman" pitchFamily="18" charset="0"/>
              </a:rPr>
              <a:t>Meaning of Interview</a:t>
            </a:r>
          </a:p>
        </p:txBody>
      </p:sp>
      <p:sp>
        <p:nvSpPr>
          <p:cNvPr id="3" name="Content Placeholder 2"/>
          <p:cNvSpPr>
            <a:spLocks noGrp="1"/>
          </p:cNvSpPr>
          <p:nvPr>
            <p:ph idx="1"/>
          </p:nvPr>
        </p:nvSpPr>
        <p:spPr>
          <a:xfrm>
            <a:off x="980901" y="990600"/>
            <a:ext cx="10548851" cy="5334000"/>
          </a:xfrm>
        </p:spPr>
        <p:txBody>
          <a:bodyPr>
            <a:normAutofit/>
          </a:bodyPr>
          <a:lstStyle/>
          <a:p>
            <a:pPr algn="just">
              <a:buNone/>
            </a:pPr>
            <a:r>
              <a:rPr lang="en-US" dirty="0">
                <a:latin typeface="Times New Roman" pitchFamily="18" charset="0"/>
                <a:cs typeface="Times New Roman" pitchFamily="18" charset="0"/>
              </a:rPr>
              <a:t>    One of the very old methods of compiling data [facts] is the interview method. Interview method involves direct or indirect meeting of the respondent by the researcher. The researcher determines the questions to be raised at the time of interview and then elicit the response for them. The reply given is either written down in a note - book or recorded in audio or video cassette. This method has to be necessarily adopted whenever details regarding any confidential matter are to be collected or when authentic information about any thing is to be obtained or the research requires data collection directly from the respondents or there is no other way of collecting data.</a:t>
            </a:r>
          </a:p>
        </p:txBody>
      </p:sp>
    </p:spTree>
    <p:extLst>
      <p:ext uri="{BB962C8B-B14F-4D97-AF65-F5344CB8AC3E}">
        <p14:creationId xmlns:p14="http://schemas.microsoft.com/office/powerpoint/2010/main" val="38586490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5" name="Picture 3"/>
          <p:cNvPicPr>
            <a:picLocks noChangeAspect="1" noChangeArrowheads="1"/>
          </p:cNvPicPr>
          <p:nvPr/>
        </p:nvPicPr>
        <p:blipFill>
          <a:blip r:embed="rId2"/>
          <a:srcRect/>
          <a:stretch>
            <a:fillRect/>
          </a:stretch>
        </p:blipFill>
        <p:spPr bwMode="auto">
          <a:xfrm>
            <a:off x="381000" y="731499"/>
            <a:ext cx="11431588" cy="5469796"/>
          </a:xfrm>
          <a:prstGeom prst="rect">
            <a:avLst/>
          </a:prstGeom>
          <a:noFill/>
          <a:ln w="9525">
            <a:noFill/>
            <a:miter lim="800000"/>
            <a:headEnd/>
            <a:tailEnd/>
          </a:ln>
          <a:effectLst/>
        </p:spPr>
      </p:pic>
    </p:spTree>
    <p:extLst>
      <p:ext uri="{BB962C8B-B14F-4D97-AF65-F5344CB8AC3E}">
        <p14:creationId xmlns:p14="http://schemas.microsoft.com/office/powerpoint/2010/main" val="32244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Types of Interviews</a:t>
            </a:r>
          </a:p>
        </p:txBody>
      </p:sp>
      <p:sp>
        <p:nvSpPr>
          <p:cNvPr id="3" name="Content Placeholder 2"/>
          <p:cNvSpPr>
            <a:spLocks noGrp="1"/>
          </p:cNvSpPr>
          <p:nvPr>
            <p:ph idx="1"/>
          </p:nvPr>
        </p:nvSpPr>
        <p:spPr>
          <a:xfrm>
            <a:off x="781396" y="1561016"/>
            <a:ext cx="10922924" cy="4983163"/>
          </a:xfrm>
        </p:spPr>
        <p:txBody>
          <a:bodyPr>
            <a:normAutofit fontScale="85000" lnSpcReduction="20000"/>
          </a:bodyPr>
          <a:lstStyle/>
          <a:p>
            <a:pPr marL="0" indent="0" algn="just">
              <a:lnSpc>
                <a:spcPct val="110000"/>
              </a:lnSpc>
              <a:buNone/>
            </a:pPr>
            <a:r>
              <a:rPr lang="en-US" sz="2400" dirty="0">
                <a:latin typeface="Times New Roman" pitchFamily="18" charset="0"/>
                <a:cs typeface="Times New Roman" pitchFamily="18" charset="0"/>
              </a:rPr>
              <a:t>1. </a:t>
            </a:r>
            <a:r>
              <a:rPr lang="en-US" sz="2400" b="1" dirty="0">
                <a:latin typeface="Times New Roman" pitchFamily="18" charset="0"/>
                <a:cs typeface="Times New Roman" pitchFamily="18" charset="0"/>
              </a:rPr>
              <a:t>Direct interviews </a:t>
            </a:r>
            <a:r>
              <a:rPr lang="en-US" sz="2400" dirty="0">
                <a:latin typeface="Times New Roman" pitchFamily="18" charset="0"/>
                <a:cs typeface="Times New Roman" pitchFamily="18" charset="0"/>
              </a:rPr>
              <a:t>: The </a:t>
            </a:r>
            <a:r>
              <a:rPr lang="en-US" sz="2400" b="1" dirty="0">
                <a:latin typeface="Times New Roman" pitchFamily="18" charset="0"/>
                <a:cs typeface="Times New Roman" pitchFamily="18" charset="0"/>
              </a:rPr>
              <a:t>direct interview method</a:t>
            </a:r>
            <a:r>
              <a:rPr lang="en-US" sz="2400" dirty="0">
                <a:latin typeface="Times New Roman" pitchFamily="18" charset="0"/>
                <a:cs typeface="Times New Roman" pitchFamily="18" charset="0"/>
              </a:rPr>
              <a:t> is a real-time, face-to-face (or synchronous virtual) conversation where an interviewer asks questions directly to a subject or candidate. It is widely used in </a:t>
            </a:r>
            <a:r>
              <a:rPr lang="en-US" sz="2400" b="1" dirty="0">
                <a:latin typeface="Times New Roman" pitchFamily="18" charset="0"/>
                <a:cs typeface="Times New Roman" pitchFamily="18" charset="0"/>
              </a:rPr>
              <a:t>qualitative research</a:t>
            </a:r>
            <a:r>
              <a:rPr lang="en-US" sz="2400" dirty="0">
                <a:latin typeface="Times New Roman" pitchFamily="18" charset="0"/>
                <a:cs typeface="Times New Roman" pitchFamily="18" charset="0"/>
              </a:rPr>
              <a:t>, </a:t>
            </a:r>
            <a:r>
              <a:rPr lang="en-US" sz="2400" b="1" dirty="0">
                <a:latin typeface="Times New Roman" pitchFamily="18" charset="0"/>
                <a:cs typeface="Times New Roman" pitchFamily="18" charset="0"/>
              </a:rPr>
              <a:t>journalism</a:t>
            </a:r>
            <a:r>
              <a:rPr lang="en-US" sz="2400" dirty="0">
                <a:latin typeface="Times New Roman" pitchFamily="18" charset="0"/>
                <a:cs typeface="Times New Roman" pitchFamily="18" charset="0"/>
              </a:rPr>
              <a:t>, and </a:t>
            </a:r>
            <a:r>
              <a:rPr lang="en-US" sz="2400" b="1" dirty="0">
                <a:latin typeface="Times New Roman" pitchFamily="18" charset="0"/>
                <a:cs typeface="Times New Roman" pitchFamily="18" charset="0"/>
              </a:rPr>
              <a:t>job recruitment</a:t>
            </a:r>
            <a:r>
              <a:rPr lang="en-US" sz="2400" dirty="0">
                <a:latin typeface="Times New Roman" pitchFamily="18" charset="0"/>
                <a:cs typeface="Times New Roman" pitchFamily="18" charset="0"/>
              </a:rPr>
              <a:t> to gather first-hand insights, attitudes, and behavior</a:t>
            </a:r>
          </a:p>
          <a:p>
            <a:pPr marL="514350" indent="-514350" algn="just">
              <a:lnSpc>
                <a:spcPct val="120000"/>
              </a:lnSpc>
              <a:buNone/>
            </a:pPr>
            <a:r>
              <a:rPr lang="en-US" sz="2400" dirty="0">
                <a:latin typeface="Times New Roman" pitchFamily="18" charset="0"/>
                <a:cs typeface="Times New Roman" pitchFamily="18" charset="0"/>
              </a:rPr>
              <a:t>       a.  </a:t>
            </a:r>
            <a:r>
              <a:rPr lang="en-US" sz="2400" b="1" dirty="0">
                <a:latin typeface="Times New Roman" pitchFamily="18" charset="0"/>
                <a:cs typeface="Times New Roman" pitchFamily="18" charset="0"/>
              </a:rPr>
              <a:t>Structured Interview</a:t>
            </a:r>
            <a:r>
              <a:rPr lang="en-US" sz="2400" dirty="0">
                <a:latin typeface="Times New Roman" pitchFamily="18" charset="0"/>
                <a:cs typeface="Times New Roman" pitchFamily="18" charset="0"/>
              </a:rPr>
              <a:t>: It</a:t>
            </a:r>
            <a:r>
              <a:rPr lang="en-US" sz="2400" b="1" dirty="0">
                <a:latin typeface="Times New Roman" pitchFamily="18" charset="0"/>
                <a:cs typeface="Times New Roman" pitchFamily="18" charset="0"/>
              </a:rPr>
              <a:t> </a:t>
            </a:r>
            <a:r>
              <a:rPr lang="en-US" sz="2400" dirty="0">
                <a:latin typeface="Times New Roman" pitchFamily="18" charset="0"/>
                <a:cs typeface="Times New Roman" pitchFamily="18" charset="0"/>
              </a:rPr>
              <a:t>uses a fixed set of standardized questions asked in the            exact same order for every candidate.</a:t>
            </a:r>
          </a:p>
          <a:p>
            <a:pPr marL="514350" indent="-514350" algn="just">
              <a:buNone/>
            </a:pPr>
            <a:r>
              <a:rPr lang="en-US" sz="2400" dirty="0">
                <a:latin typeface="Times New Roman" pitchFamily="18" charset="0"/>
                <a:cs typeface="Times New Roman" pitchFamily="18" charset="0"/>
              </a:rPr>
              <a:t>	 b. </a:t>
            </a:r>
            <a:r>
              <a:rPr lang="en-US" sz="2400" b="1" dirty="0">
                <a:latin typeface="Times New Roman" pitchFamily="18" charset="0"/>
                <a:cs typeface="Times New Roman" pitchFamily="18" charset="0"/>
              </a:rPr>
              <a:t>Unstructured Interview</a:t>
            </a:r>
            <a:r>
              <a:rPr lang="en-US" sz="2400" dirty="0">
                <a:latin typeface="Times New Roman" pitchFamily="18" charset="0"/>
                <a:cs typeface="Times New Roman" pitchFamily="18" charset="0"/>
              </a:rPr>
              <a:t>: Unstructured interviews are informal and exploratory. There are no set questions, and the direction of the interview is driven by the candidate’s previous answers and the natural flow of the conversation</a:t>
            </a:r>
          </a:p>
          <a:p>
            <a:pPr marL="514350" indent="-514350">
              <a:buNone/>
            </a:pPr>
            <a:r>
              <a:rPr lang="en-US" sz="2400" dirty="0">
                <a:latin typeface="Times New Roman" pitchFamily="18" charset="0"/>
                <a:cs typeface="Times New Roman" pitchFamily="18" charset="0"/>
              </a:rPr>
              <a:t>	</a:t>
            </a:r>
          </a:p>
          <a:p>
            <a:pPr marL="0" indent="0" algn="just">
              <a:lnSpc>
                <a:spcPct val="120000"/>
              </a:lnSpc>
              <a:buNone/>
            </a:pPr>
            <a:r>
              <a:rPr lang="en-US" sz="2400" dirty="0">
                <a:latin typeface="Times New Roman" pitchFamily="18" charset="0"/>
                <a:cs typeface="Times New Roman" pitchFamily="18" charset="0"/>
              </a:rPr>
              <a:t>2. </a:t>
            </a:r>
            <a:r>
              <a:rPr lang="en-US" sz="2400" b="1" dirty="0">
                <a:latin typeface="Times New Roman" pitchFamily="18" charset="0"/>
                <a:cs typeface="Times New Roman" pitchFamily="18" charset="0"/>
              </a:rPr>
              <a:t>Indirect interviews</a:t>
            </a:r>
            <a:r>
              <a:rPr lang="en-US" sz="2400" dirty="0">
                <a:latin typeface="Times New Roman" pitchFamily="18" charset="0"/>
                <a:cs typeface="Times New Roman" pitchFamily="18" charset="0"/>
              </a:rPr>
              <a:t>: The indirect interview method (often called </a:t>
            </a:r>
            <a:r>
              <a:rPr lang="en-US" sz="2400" b="1" dirty="0">
                <a:latin typeface="Times New Roman" pitchFamily="18" charset="0"/>
                <a:cs typeface="Times New Roman" pitchFamily="18" charset="0"/>
              </a:rPr>
              <a:t>indirect oral investigation</a:t>
            </a:r>
            <a:r>
              <a:rPr lang="en-US" sz="2400" dirty="0">
                <a:latin typeface="Times New Roman" pitchFamily="18" charset="0"/>
                <a:cs typeface="Times New Roman" pitchFamily="18" charset="0"/>
              </a:rPr>
              <a:t>) is a technique where an investigator collects information by questioning third parties rather than the primary subject. It is primarily used when the main subject is unreachable, hesitant, or likely to provide biased or inaccurate information</a:t>
            </a:r>
          </a:p>
          <a:p>
            <a:pPr marL="514350" indent="-514350">
              <a:buNone/>
            </a:pPr>
            <a:r>
              <a:rPr lang="en-US" sz="2400" dirty="0">
                <a:latin typeface="Times New Roman" pitchFamily="18" charset="0"/>
                <a:cs typeface="Times New Roman" pitchFamily="18" charset="0"/>
              </a:rPr>
              <a:t>		</a:t>
            </a:r>
          </a:p>
        </p:txBody>
      </p:sp>
    </p:spTree>
    <p:extLst>
      <p:ext uri="{BB962C8B-B14F-4D97-AF65-F5344CB8AC3E}">
        <p14:creationId xmlns:p14="http://schemas.microsoft.com/office/powerpoint/2010/main" val="1045361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639762"/>
          </a:xfrm>
        </p:spPr>
        <p:txBody>
          <a:bodyPr>
            <a:normAutofit fontScale="90000"/>
          </a:bodyPr>
          <a:lstStyle/>
          <a:p>
            <a:r>
              <a:rPr lang="en-US" dirty="0"/>
              <a:t>Merits of Interview method</a:t>
            </a:r>
          </a:p>
        </p:txBody>
      </p:sp>
      <p:sp>
        <p:nvSpPr>
          <p:cNvPr id="3" name="Content Placeholder 2"/>
          <p:cNvSpPr>
            <a:spLocks noGrp="1"/>
          </p:cNvSpPr>
          <p:nvPr>
            <p:ph idx="1"/>
          </p:nvPr>
        </p:nvSpPr>
        <p:spPr>
          <a:xfrm>
            <a:off x="798022" y="1046025"/>
            <a:ext cx="10656916" cy="5715000"/>
          </a:xfrm>
        </p:spPr>
        <p:txBody>
          <a:bodyPr>
            <a:normAutofit fontScale="77500" lnSpcReduction="20000"/>
          </a:bodyPr>
          <a:lstStyle/>
          <a:p>
            <a:pPr algn="just">
              <a:buNone/>
            </a:pPr>
            <a:r>
              <a:rPr lang="en-US" dirty="0"/>
              <a:t>	</a:t>
            </a:r>
            <a:r>
              <a:rPr lang="en-US" dirty="0">
                <a:latin typeface="Times New Roman" panose="02020603050405020304" pitchFamily="18" charset="0"/>
                <a:cs typeface="Times New Roman" panose="02020603050405020304" pitchFamily="18" charset="0"/>
              </a:rPr>
              <a:t>1. Interview enables personal contact with which factual information could be obtained.</a:t>
            </a:r>
          </a:p>
          <a:p>
            <a:pPr algn="just">
              <a:buNone/>
            </a:pPr>
            <a:r>
              <a:rPr lang="en-US" dirty="0">
                <a:latin typeface="Times New Roman" panose="02020603050405020304" pitchFamily="18" charset="0"/>
                <a:cs typeface="Times New Roman" panose="02020603050405020304" pitchFamily="18" charset="0"/>
              </a:rPr>
              <a:t>	2. The interviewer can guide the respondents to understand the questions and suitably rephrase or modify the questions.</a:t>
            </a:r>
          </a:p>
          <a:p>
            <a:pPr algn="just">
              <a:buNone/>
            </a:pPr>
            <a:r>
              <a:rPr lang="en-US" dirty="0">
                <a:latin typeface="Times New Roman" panose="02020603050405020304" pitchFamily="18" charset="0"/>
                <a:cs typeface="Times New Roman" panose="02020603050405020304" pitchFamily="18" charset="0"/>
              </a:rPr>
              <a:t>	3. The non-response in this category of data collection is low.</a:t>
            </a:r>
          </a:p>
          <a:p>
            <a:pPr algn="just">
              <a:buNone/>
            </a:pPr>
            <a:r>
              <a:rPr lang="en-US" dirty="0">
                <a:latin typeface="Times New Roman" panose="02020603050405020304" pitchFamily="18" charset="0"/>
                <a:cs typeface="Times New Roman" panose="02020603050405020304" pitchFamily="18" charset="0"/>
              </a:rPr>
              <a:t>	4. Spontaneous reply of the respondents can be obtained which would truly reflect their opinion.</a:t>
            </a:r>
          </a:p>
          <a:p>
            <a:pPr algn="just">
              <a:buNone/>
            </a:pPr>
            <a:r>
              <a:rPr lang="en-US" dirty="0">
                <a:latin typeface="Times New Roman" panose="02020603050405020304" pitchFamily="18" charset="0"/>
                <a:cs typeface="Times New Roman" panose="02020603050405020304" pitchFamily="18" charset="0"/>
              </a:rPr>
              <a:t>	5. Interviewer has the flexibility to handle the interview to collect relevant information.</a:t>
            </a:r>
          </a:p>
          <a:p>
            <a:pPr algn="just">
              <a:buNone/>
            </a:pPr>
            <a:r>
              <a:rPr lang="en-US" dirty="0">
                <a:latin typeface="Times New Roman" panose="02020603050405020304" pitchFamily="18" charset="0"/>
                <a:cs typeface="Times New Roman" panose="02020603050405020304" pitchFamily="18" charset="0"/>
              </a:rPr>
              <a:t>	6. The interviewer can combine observation with interview so that a lot of additional information about the environment, nature, </a:t>
            </a:r>
            <a:r>
              <a:rPr lang="en-US" dirty="0" err="1">
                <a:latin typeface="Times New Roman" panose="02020603050405020304" pitchFamily="18" charset="0"/>
                <a:cs typeface="Times New Roman" panose="02020603050405020304" pitchFamily="18" charset="0"/>
              </a:rPr>
              <a:t>behaviour</a:t>
            </a:r>
            <a:r>
              <a:rPr lang="en-US" dirty="0">
                <a:latin typeface="Times New Roman" panose="02020603050405020304" pitchFamily="18" charset="0"/>
                <a:cs typeface="Times New Roman" panose="02020603050405020304" pitchFamily="18" charset="0"/>
              </a:rPr>
              <a:t> and attitude of the respondent could also be noted.</a:t>
            </a:r>
          </a:p>
          <a:p>
            <a:pPr algn="just">
              <a:buNone/>
            </a:pPr>
            <a:r>
              <a:rPr lang="en-US" dirty="0">
                <a:latin typeface="Times New Roman" panose="02020603050405020304" pitchFamily="18" charset="0"/>
                <a:cs typeface="Times New Roman" panose="02020603050405020304" pitchFamily="18" charset="0"/>
              </a:rPr>
              <a:t>	7. The interviewer can be persuasive to obtain the response of the respondent while this may not be possible in the case of questionnaire method of data collection.</a:t>
            </a:r>
          </a:p>
          <a:p>
            <a:pPr algn="just">
              <a:buNone/>
            </a:pPr>
            <a:r>
              <a:rPr lang="en-US" dirty="0">
                <a:latin typeface="Times New Roman" panose="02020603050405020304" pitchFamily="18" charset="0"/>
                <a:cs typeface="Times New Roman" panose="02020603050405020304" pitchFamily="18" charset="0"/>
              </a:rPr>
              <a:t>	8. The interviewer can adopt himself better by using the language with which he can reach the respondents better and the educational level of the respondent.</a:t>
            </a:r>
          </a:p>
          <a:p>
            <a:pPr algn="just">
              <a:buNone/>
            </a:pPr>
            <a:r>
              <a:rPr lang="en-US" dirty="0">
                <a:latin typeface="Times New Roman" panose="02020603050405020304" pitchFamily="18" charset="0"/>
                <a:cs typeface="Times New Roman" panose="02020603050405020304" pitchFamily="18" charset="0"/>
              </a:rPr>
              <a:t>	9. It is also possible to obtain personal information which will not be revealed through questionnaire.</a:t>
            </a:r>
          </a:p>
        </p:txBody>
      </p:sp>
    </p:spTree>
    <p:extLst>
      <p:ext uri="{BB962C8B-B14F-4D97-AF65-F5344CB8AC3E}">
        <p14:creationId xmlns:p14="http://schemas.microsoft.com/office/powerpoint/2010/main" val="24939318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a:t>Demerits of Interview Method</a:t>
            </a:r>
          </a:p>
        </p:txBody>
      </p:sp>
      <p:sp>
        <p:nvSpPr>
          <p:cNvPr id="3" name="Content Placeholder 2"/>
          <p:cNvSpPr>
            <a:spLocks noGrp="1"/>
          </p:cNvSpPr>
          <p:nvPr>
            <p:ph idx="1"/>
          </p:nvPr>
        </p:nvSpPr>
        <p:spPr>
          <a:xfrm>
            <a:off x="739833" y="838200"/>
            <a:ext cx="10823171" cy="5715000"/>
          </a:xfrm>
        </p:spPr>
        <p:txBody>
          <a:bodyPr>
            <a:normAutofit fontScale="92500" lnSpcReduction="20000"/>
          </a:bodyPr>
          <a:lstStyle/>
          <a:p>
            <a:pPr algn="just">
              <a:buNone/>
            </a:pPr>
            <a:r>
              <a:rPr lang="en-US" dirty="0">
                <a:latin typeface="Times New Roman" panose="02020603050405020304" pitchFamily="18" charset="0"/>
                <a:cs typeface="Times New Roman" panose="02020603050405020304" pitchFamily="18" charset="0"/>
              </a:rPr>
              <a:t>1. This method presupposes the existence of rapport between the respondent and the interviewer. In case there is no rapport, the interview cannot be held at all.</a:t>
            </a:r>
          </a:p>
          <a:p>
            <a:pPr algn="just">
              <a:buNone/>
            </a:pPr>
            <a:r>
              <a:rPr lang="en-US" dirty="0">
                <a:latin typeface="Times New Roman" panose="02020603050405020304" pitchFamily="18" charset="0"/>
                <a:cs typeface="Times New Roman" panose="02020603050405020304" pitchFamily="18" charset="0"/>
              </a:rPr>
              <a:t>2. It is a costly method of data collection, as the interviewers should be trained, oriented and supported.</a:t>
            </a:r>
          </a:p>
          <a:p>
            <a:pPr algn="just">
              <a:buNone/>
            </a:pPr>
            <a:r>
              <a:rPr lang="en-US" dirty="0">
                <a:latin typeface="Times New Roman" panose="02020603050405020304" pitchFamily="18" charset="0"/>
                <a:cs typeface="Times New Roman" panose="02020603050405020304" pitchFamily="18" charset="0"/>
              </a:rPr>
              <a:t>3. The time taken for covering a large sample of respondents is more than what it is under questionnaire method.</a:t>
            </a:r>
          </a:p>
          <a:p>
            <a:pPr algn="just">
              <a:buNone/>
            </a:pPr>
            <a:r>
              <a:rPr lang="en-US" dirty="0">
                <a:latin typeface="Times New Roman" panose="02020603050405020304" pitchFamily="18" charset="0"/>
                <a:cs typeface="Times New Roman" panose="02020603050405020304" pitchFamily="18" charset="0"/>
              </a:rPr>
              <a:t>4. It is possible for a respondent to conceal his real opinion or views and so genuine data may not be available.</a:t>
            </a:r>
          </a:p>
          <a:p>
            <a:pPr algn="just">
              <a:buNone/>
            </a:pPr>
            <a:r>
              <a:rPr lang="en-US" dirty="0">
                <a:latin typeface="Times New Roman" panose="02020603050405020304" pitchFamily="18" charset="0"/>
                <a:cs typeface="Times New Roman" panose="02020603050405020304" pitchFamily="18" charset="0"/>
              </a:rPr>
              <a:t>5. The interviewer may also be biased and thereby his bias may influence the interview outcome.</a:t>
            </a:r>
          </a:p>
          <a:p>
            <a:pPr algn="just">
              <a:buNone/>
            </a:pPr>
            <a:r>
              <a:rPr lang="en-US" dirty="0">
                <a:latin typeface="Times New Roman" panose="02020603050405020304" pitchFamily="18" charset="0"/>
                <a:cs typeface="Times New Roman" panose="02020603050405020304" pitchFamily="18" charset="0"/>
              </a:rPr>
              <a:t>6. Interview method requires an elaborate </a:t>
            </a:r>
            <a:r>
              <a:rPr lang="en-US" dirty="0" err="1">
                <a:latin typeface="Times New Roman" panose="02020603050405020304" pitchFamily="18" charset="0"/>
                <a:cs typeface="Times New Roman" panose="02020603050405020304" pitchFamily="18" charset="0"/>
              </a:rPr>
              <a:t>organisational</a:t>
            </a:r>
            <a:r>
              <a:rPr lang="en-US" dirty="0">
                <a:latin typeface="Times New Roman" panose="02020603050405020304" pitchFamily="18" charset="0"/>
                <a:cs typeface="Times New Roman" panose="02020603050405020304" pitchFamily="18" charset="0"/>
              </a:rPr>
              <a:t> arrangement.</a:t>
            </a:r>
          </a:p>
          <a:p>
            <a:pPr algn="just">
              <a:buNone/>
            </a:pPr>
            <a:r>
              <a:rPr lang="en-US" dirty="0">
                <a:latin typeface="Times New Roman" panose="02020603050405020304" pitchFamily="18" charset="0"/>
                <a:cs typeface="Times New Roman" panose="02020603050405020304" pitchFamily="18" charset="0"/>
              </a:rPr>
              <a:t>7. Sometimes this method cannot be followed as it would require fixing up appointment, specifying the questions that are to be answered, duration of interview, the person interviewing, the organizational background, the purpose of interview, etc., </a:t>
            </a:r>
            <a:r>
              <a:rPr lang="en-US" dirty="0" err="1">
                <a:latin typeface="Times New Roman" panose="02020603050405020304" pitchFamily="18" charset="0"/>
                <a:cs typeface="Times New Roman" panose="02020603050405020304" pitchFamily="18" charset="0"/>
              </a:rPr>
              <a:t>Inspite</a:t>
            </a:r>
            <a:r>
              <a:rPr lang="en-US" dirty="0">
                <a:latin typeface="Times New Roman" panose="02020603050405020304" pitchFamily="18" charset="0"/>
                <a:cs typeface="Times New Roman" panose="02020603050405020304" pitchFamily="18" charset="0"/>
              </a:rPr>
              <a:t> of providing all these information, it may not be possible to get an appointment to conduct the interview.</a:t>
            </a:r>
          </a:p>
        </p:txBody>
      </p:sp>
    </p:spTree>
    <p:extLst>
      <p:ext uri="{BB962C8B-B14F-4D97-AF65-F5344CB8AC3E}">
        <p14:creationId xmlns:p14="http://schemas.microsoft.com/office/powerpoint/2010/main" val="35058451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Observation</a:t>
            </a:r>
            <a:endParaRPr lang="en-US" dirty="0"/>
          </a:p>
        </p:txBody>
      </p:sp>
      <p:sp>
        <p:nvSpPr>
          <p:cNvPr id="3" name="Subtitle 2"/>
          <p:cNvSpPr>
            <a:spLocks noGrp="1"/>
          </p:cNvSpPr>
          <p:nvPr>
            <p:ph type="subTitle" idx="1"/>
          </p:nvPr>
        </p:nvSpPr>
        <p:spPr/>
        <p:txBody>
          <a:bodyPr/>
          <a:lstStyle/>
          <a:p>
            <a:r>
              <a:rPr lang="en-US" dirty="0"/>
              <a:t>Presentation by,</a:t>
            </a:r>
          </a:p>
          <a:p>
            <a:r>
              <a:rPr lang="en-US" dirty="0"/>
              <a:t>Prof. </a:t>
            </a:r>
            <a:r>
              <a:rPr lang="en-US" dirty="0" err="1"/>
              <a:t>Basavaraj</a:t>
            </a:r>
            <a:r>
              <a:rPr lang="en-US" dirty="0"/>
              <a:t> S.K</a:t>
            </a:r>
          </a:p>
        </p:txBody>
      </p:sp>
    </p:spTree>
    <p:extLst>
      <p:ext uri="{BB962C8B-B14F-4D97-AF65-F5344CB8AC3E}">
        <p14:creationId xmlns:p14="http://schemas.microsoft.com/office/powerpoint/2010/main" val="39009467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Discussion points</a:t>
            </a:r>
          </a:p>
        </p:txBody>
      </p:sp>
      <p:sp>
        <p:nvSpPr>
          <p:cNvPr id="3" name="Content Placeholder 2"/>
          <p:cNvSpPr>
            <a:spLocks noGrp="1"/>
          </p:cNvSpPr>
          <p:nvPr>
            <p:ph idx="1"/>
          </p:nvPr>
        </p:nvSpPr>
        <p:spPr/>
        <p:txBody>
          <a:bodyPr/>
          <a:lstStyle/>
          <a:p>
            <a:r>
              <a:rPr lang="en-US" dirty="0"/>
              <a:t>Meaning &amp; characteristics,</a:t>
            </a:r>
          </a:p>
          <a:p>
            <a:r>
              <a:rPr lang="en-US" dirty="0"/>
              <a:t>Types, </a:t>
            </a:r>
          </a:p>
          <a:p>
            <a:r>
              <a:rPr lang="en-US" dirty="0"/>
              <a:t>Advantages &amp; disadvantages</a:t>
            </a:r>
          </a:p>
          <a:p>
            <a:pPr>
              <a:buNone/>
            </a:pPr>
            <a:endParaRPr lang="en-US" dirty="0"/>
          </a:p>
        </p:txBody>
      </p:sp>
    </p:spTree>
    <p:extLst>
      <p:ext uri="{BB962C8B-B14F-4D97-AF65-F5344CB8AC3E}">
        <p14:creationId xmlns:p14="http://schemas.microsoft.com/office/powerpoint/2010/main" val="23161667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15962"/>
          </a:xfrm>
        </p:spPr>
        <p:txBody>
          <a:bodyPr>
            <a:normAutofit/>
          </a:bodyPr>
          <a:lstStyle/>
          <a:p>
            <a:r>
              <a:rPr lang="en-US" dirty="0"/>
              <a:t>Meaning</a:t>
            </a:r>
          </a:p>
        </p:txBody>
      </p:sp>
      <p:sp>
        <p:nvSpPr>
          <p:cNvPr id="3" name="Content Placeholder 2"/>
          <p:cNvSpPr>
            <a:spLocks noGrp="1"/>
          </p:cNvSpPr>
          <p:nvPr>
            <p:ph idx="1"/>
          </p:nvPr>
        </p:nvSpPr>
        <p:spPr>
          <a:xfrm>
            <a:off x="640080" y="990601"/>
            <a:ext cx="11197244" cy="5135563"/>
          </a:xfrm>
        </p:spPr>
        <p:txBody>
          <a:bodyPr>
            <a:normAutofit/>
          </a:bodyPr>
          <a:lstStyle/>
          <a:p>
            <a:pPr algn="just">
              <a:buNone/>
            </a:pPr>
            <a:r>
              <a:rPr lang="en-US" dirty="0">
                <a:latin typeface="Times New Roman" pitchFamily="18" charset="0"/>
                <a:cs typeface="Times New Roman" pitchFamily="18" charset="0"/>
              </a:rPr>
              <a:t>	Observation may be defined as, "sensible application of sense organs in understanding less explained or unexplained phenomena." Using the sense organs, one could see and understand things. One could listen to what is being explained to understand anything. One may also understand things using the power to smell or feeling of touch. It is also possible by interacting with people to understand anything. Whenever a researcher is unable to compile information through any other method, then he has to effectively apply his sense organs to observe and explain. So it may be said that observation involves recording of 	information applying visual understanding backed by alert sense organs.</a:t>
            </a:r>
          </a:p>
        </p:txBody>
      </p:sp>
    </p:spTree>
    <p:extLst>
      <p:ext uri="{BB962C8B-B14F-4D97-AF65-F5344CB8AC3E}">
        <p14:creationId xmlns:p14="http://schemas.microsoft.com/office/powerpoint/2010/main" val="26428004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563562"/>
          </a:xfrm>
        </p:spPr>
        <p:txBody>
          <a:bodyPr>
            <a:normAutofit fontScale="90000"/>
          </a:bodyPr>
          <a:lstStyle/>
          <a:p>
            <a:r>
              <a:rPr lang="en-US" dirty="0"/>
              <a:t>Types of observations</a:t>
            </a:r>
          </a:p>
        </p:txBody>
      </p:sp>
      <p:sp>
        <p:nvSpPr>
          <p:cNvPr id="3" name="Content Placeholder 2"/>
          <p:cNvSpPr>
            <a:spLocks noGrp="1"/>
          </p:cNvSpPr>
          <p:nvPr>
            <p:ph idx="1"/>
          </p:nvPr>
        </p:nvSpPr>
        <p:spPr>
          <a:xfrm>
            <a:off x="698269" y="1066801"/>
            <a:ext cx="10897986" cy="5135563"/>
          </a:xfrm>
        </p:spPr>
        <p:txBody>
          <a:bodyPr>
            <a:normAutofit fontScale="92500" lnSpcReduction="10000"/>
          </a:bodyPr>
          <a:lstStyle/>
          <a:p>
            <a:pPr marL="514350" indent="-514350">
              <a:buAutoNum type="arabicPeriod"/>
            </a:pPr>
            <a:r>
              <a:rPr lang="en-US" dirty="0">
                <a:latin typeface="Times New Roman" pitchFamily="18" charset="0"/>
                <a:cs typeface="Times New Roman" pitchFamily="18" charset="0"/>
              </a:rPr>
              <a:t>Structured observation : When observation takes place strictly in accordance with a plan or a design prepared in advance, it is called structured observation.</a:t>
            </a:r>
          </a:p>
          <a:p>
            <a:pPr>
              <a:buNone/>
            </a:pPr>
            <a:r>
              <a:rPr lang="en-US" dirty="0">
                <a:latin typeface="Times New Roman" pitchFamily="18" charset="0"/>
                <a:cs typeface="Times New Roman" pitchFamily="18" charset="0"/>
              </a:rPr>
              <a:t>2. Unstructured observation : In this type of observation, there is no advance designing of what, how, when , who, etc., of observation. The observer is given the freedom to decide on the spot, to observe everything that is relevant.</a:t>
            </a:r>
          </a:p>
          <a:p>
            <a:pPr>
              <a:buNone/>
            </a:pPr>
            <a:r>
              <a:rPr lang="en-US" dirty="0">
                <a:latin typeface="Times New Roman" pitchFamily="18" charset="0"/>
                <a:cs typeface="Times New Roman" pitchFamily="18" charset="0"/>
              </a:rPr>
              <a:t>3. Participant observation : In this method, the observer is very much present in the midst of what is observed. For example, suppose a researcher is studying the life style of a hill tribe, then he might understand the life style of the tribe better only when he stays with them.</a:t>
            </a:r>
          </a:p>
          <a:p>
            <a:pPr>
              <a:buNone/>
            </a:pPr>
            <a:r>
              <a:rPr lang="en-US" dirty="0">
                <a:latin typeface="Times New Roman" pitchFamily="18" charset="0"/>
                <a:cs typeface="Times New Roman" pitchFamily="18" charset="0"/>
              </a:rPr>
              <a:t>4. Non-participant observation : This is a method in which the observer remain detached from whatever is happening around and does not involve himself in any activities taking place. He is present only to observe and not to take part in the activities.</a:t>
            </a: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3267412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9585" y="381001"/>
            <a:ext cx="10690168" cy="5745163"/>
          </a:xfrm>
        </p:spPr>
        <p:txBody>
          <a:bodyPr>
            <a:normAutofit/>
          </a:bodyPr>
          <a:lstStyle/>
          <a:p>
            <a:pPr algn="just">
              <a:buNone/>
            </a:pPr>
            <a:r>
              <a:rPr lang="en-US" dirty="0">
                <a:latin typeface="Times New Roman" pitchFamily="18" charset="0"/>
                <a:cs typeface="Times New Roman" pitchFamily="18" charset="0"/>
              </a:rPr>
              <a:t>5. Controlled observation : This is a slightly modified version of structured observation. In this case, the observer performs his work in an environment or situation, which is very much planned or designed or set. For example, sometimes to test the effectiveness and alertness of air port security system,  mock event [like hijacking or fire accident] is carried out.</a:t>
            </a:r>
          </a:p>
          <a:p>
            <a:pPr algn="just">
              <a:buNone/>
            </a:pPr>
            <a:r>
              <a:rPr lang="en-US" dirty="0">
                <a:latin typeface="Times New Roman" pitchFamily="18" charset="0"/>
                <a:cs typeface="Times New Roman" pitchFamily="18" charset="0"/>
              </a:rPr>
              <a:t>6. Uncontrolled observation : This method is a modified version of unstructured observation. No attempt is made to intervene the naturalness of the environment or situation. The observer is at freedom to observe whatever is taking place around him in the natural set up. For example, an animal lover may like to watch the conduct and behavior of the animals in their natural habitat.</a:t>
            </a:r>
          </a:p>
        </p:txBody>
      </p:sp>
    </p:spTree>
    <p:extLst>
      <p:ext uri="{BB962C8B-B14F-4D97-AF65-F5344CB8AC3E}">
        <p14:creationId xmlns:p14="http://schemas.microsoft.com/office/powerpoint/2010/main" val="25583836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0882745" cy="873471"/>
          </a:xfrm>
        </p:spPr>
        <p:txBody>
          <a:bodyPr>
            <a:noAutofit/>
          </a:bodyPr>
          <a:lstStyle/>
          <a:p>
            <a:pPr algn="l"/>
            <a:r>
              <a:rPr lang="en-US" sz="3200" b="1" dirty="0">
                <a:latin typeface="Times New Roman" pitchFamily="18" charset="0"/>
                <a:cs typeface="Times New Roman" pitchFamily="18" charset="0"/>
              </a:rPr>
              <a:t>Merits of observation method of data collection( Advantages)</a:t>
            </a:r>
            <a:endParaRPr lang="en-US" sz="3200" dirty="0">
              <a:latin typeface="Times New Roman" pitchFamily="18" charset="0"/>
              <a:cs typeface="Times New Roman" pitchFamily="18" charset="0"/>
            </a:endParaRPr>
          </a:p>
        </p:txBody>
      </p:sp>
      <p:sp>
        <p:nvSpPr>
          <p:cNvPr id="3" name="Content Placeholder 2"/>
          <p:cNvSpPr>
            <a:spLocks noGrp="1"/>
          </p:cNvSpPr>
          <p:nvPr>
            <p:ph idx="1"/>
          </p:nvPr>
        </p:nvSpPr>
        <p:spPr>
          <a:xfrm>
            <a:off x="1163781" y="1579418"/>
            <a:ext cx="10000211" cy="4546746"/>
          </a:xfrm>
        </p:spPr>
        <p:txBody>
          <a:bodyPr>
            <a:normAutofit fontScale="92500" lnSpcReduction="10000"/>
          </a:bodyPr>
          <a:lstStyle/>
          <a:p>
            <a:pPr>
              <a:buNone/>
            </a:pPr>
            <a:r>
              <a:rPr lang="en-US" dirty="0">
                <a:latin typeface="Times New Roman" pitchFamily="18" charset="0"/>
                <a:cs typeface="Times New Roman" pitchFamily="18" charset="0"/>
              </a:rPr>
              <a:t>1. If observation is done correctly, the scope for bias is very much minimized.</a:t>
            </a:r>
          </a:p>
          <a:p>
            <a:pPr>
              <a:buNone/>
            </a:pPr>
            <a:r>
              <a:rPr lang="en-US" dirty="0">
                <a:latin typeface="Times New Roman" pitchFamily="18" charset="0"/>
                <a:cs typeface="Times New Roman" pitchFamily="18" charset="0"/>
              </a:rPr>
              <a:t>2. Through observation, the current scenario in which anything is happening is noticed and explained. There is no interpretation of how things would have happened in the past or will happen in future, etc.</a:t>
            </a:r>
          </a:p>
          <a:p>
            <a:pPr>
              <a:buNone/>
            </a:pPr>
            <a:r>
              <a:rPr lang="en-US" dirty="0">
                <a:latin typeface="Times New Roman" pitchFamily="18" charset="0"/>
                <a:cs typeface="Times New Roman" pitchFamily="18" charset="0"/>
              </a:rPr>
              <a:t>3. As there is no need to get any reply or details from the respondents, observation does not require any cooperation of the respondents.</a:t>
            </a:r>
          </a:p>
          <a:p>
            <a:pPr>
              <a:buNone/>
            </a:pPr>
            <a:r>
              <a:rPr lang="en-US" dirty="0">
                <a:latin typeface="Times New Roman" pitchFamily="18" charset="0"/>
                <a:cs typeface="Times New Roman" pitchFamily="18" charset="0"/>
              </a:rPr>
              <a:t>4. This is a fairly reliable method, provided the observer is well experienced,  trained and sincere.</a:t>
            </a:r>
          </a:p>
          <a:p>
            <a:pPr>
              <a:buNone/>
            </a:pPr>
            <a:r>
              <a:rPr lang="en-US" dirty="0">
                <a:latin typeface="Times New Roman" pitchFamily="18" charset="0"/>
                <a:cs typeface="Times New Roman" pitchFamily="18" charset="0"/>
              </a:rPr>
              <a:t>5. Whenever respondents are illiterate or incapable of answering any question, [due to language barrier or cultural background, etc], observation is the only method of data collection available.</a:t>
            </a:r>
          </a:p>
        </p:txBody>
      </p:sp>
    </p:spTree>
    <p:extLst>
      <p:ext uri="{BB962C8B-B14F-4D97-AF65-F5344CB8AC3E}">
        <p14:creationId xmlns:p14="http://schemas.microsoft.com/office/powerpoint/2010/main" val="109302441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487362"/>
          </a:xfrm>
        </p:spPr>
        <p:txBody>
          <a:bodyPr>
            <a:normAutofit fontScale="90000"/>
          </a:bodyPr>
          <a:lstStyle/>
          <a:p>
            <a:r>
              <a:rPr lang="en-US" dirty="0">
                <a:latin typeface="Times New Roman" pitchFamily="18" charset="0"/>
                <a:cs typeface="Times New Roman" pitchFamily="18" charset="0"/>
              </a:rPr>
              <a:t>Limitations ( Disadvantages)</a:t>
            </a:r>
          </a:p>
        </p:txBody>
      </p:sp>
      <p:sp>
        <p:nvSpPr>
          <p:cNvPr id="3" name="Content Placeholder 2"/>
          <p:cNvSpPr>
            <a:spLocks noGrp="1"/>
          </p:cNvSpPr>
          <p:nvPr>
            <p:ph idx="1"/>
          </p:nvPr>
        </p:nvSpPr>
        <p:spPr>
          <a:xfrm>
            <a:off x="1005840" y="914401"/>
            <a:ext cx="10449098" cy="5211763"/>
          </a:xfrm>
        </p:spPr>
        <p:txBody>
          <a:bodyPr>
            <a:normAutofit fontScale="85000" lnSpcReduction="20000"/>
          </a:bodyPr>
          <a:lstStyle/>
          <a:p>
            <a:pPr algn="just">
              <a:buNone/>
            </a:pPr>
            <a:r>
              <a:rPr lang="en-US" dirty="0">
                <a:latin typeface="Times New Roman" pitchFamily="18" charset="0"/>
                <a:cs typeface="Times New Roman" pitchFamily="18" charset="0"/>
              </a:rPr>
              <a:t>1. This is a relatively costly method of data collection, because the observer has to be present on the spot to observe whatever is happening. Further training an observer is the additional cost to be incurred.</a:t>
            </a:r>
          </a:p>
          <a:p>
            <a:pPr algn="just">
              <a:buNone/>
            </a:pPr>
            <a:r>
              <a:rPr lang="en-US" dirty="0">
                <a:latin typeface="Times New Roman" pitchFamily="18" charset="0"/>
                <a:cs typeface="Times New Roman" pitchFamily="18" charset="0"/>
              </a:rPr>
              <a:t> 2. The scope for the bias of the observer interfering in what is observed and understood is high.</a:t>
            </a:r>
          </a:p>
          <a:p>
            <a:pPr>
              <a:buNone/>
            </a:pPr>
            <a:r>
              <a:rPr lang="en-US" dirty="0">
                <a:latin typeface="Times New Roman" pitchFamily="18" charset="0"/>
                <a:cs typeface="Times New Roman" pitchFamily="18" charset="0"/>
              </a:rPr>
              <a:t>3. It could be noticed that what is observed may bring out only part of the facts, while data collected through questionnaire or interview ensure better coverage.</a:t>
            </a:r>
          </a:p>
          <a:p>
            <a:pPr>
              <a:buNone/>
            </a:pPr>
            <a:r>
              <a:rPr lang="en-US" dirty="0">
                <a:latin typeface="Times New Roman" pitchFamily="18" charset="0"/>
                <a:cs typeface="Times New Roman" pitchFamily="18" charset="0"/>
              </a:rPr>
              <a:t>4. Sometimes, it may not be possible to observe what is targeted. This may be due to the difficulty in reaching such people or spot.</a:t>
            </a:r>
          </a:p>
          <a:p>
            <a:pPr>
              <a:buNone/>
            </a:pPr>
            <a:r>
              <a:rPr lang="en-US" dirty="0">
                <a:latin typeface="Times New Roman" pitchFamily="18" charset="0"/>
                <a:cs typeface="Times New Roman" pitchFamily="18" charset="0"/>
              </a:rPr>
              <a:t>5. There is a lot of scope for the observer to get distracted or influenced by</a:t>
            </a:r>
          </a:p>
          <a:p>
            <a:pPr>
              <a:buNone/>
            </a:pPr>
            <a:r>
              <a:rPr lang="en-US" dirty="0">
                <a:latin typeface="Times New Roman" pitchFamily="18" charset="0"/>
                <a:cs typeface="Times New Roman" pitchFamily="18" charset="0"/>
              </a:rPr>
              <a:t>  unexpected factors which would affect the accuracy of information collected.</a:t>
            </a:r>
          </a:p>
          <a:p>
            <a:pPr>
              <a:buNone/>
            </a:pPr>
            <a:r>
              <a:rPr lang="en-US" dirty="0">
                <a:latin typeface="Times New Roman" pitchFamily="18" charset="0"/>
                <a:cs typeface="Times New Roman" pitchFamily="18" charset="0"/>
              </a:rPr>
              <a:t> 6. A very important limitation is that only the observer can effectively establish link among whatever he has observed to give a meaningful interpretation. Based on his report nobody else can give satisfactory interpretation. Therefore, the ability to relate things and interpret them intelligently is a quality expected of an observer.</a:t>
            </a:r>
          </a:p>
        </p:txBody>
      </p:sp>
    </p:spTree>
    <p:extLst>
      <p:ext uri="{BB962C8B-B14F-4D97-AF65-F5344CB8AC3E}">
        <p14:creationId xmlns:p14="http://schemas.microsoft.com/office/powerpoint/2010/main" val="1786446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Secondary Data</a:t>
            </a:r>
          </a:p>
        </p:txBody>
      </p:sp>
      <p:sp>
        <p:nvSpPr>
          <p:cNvPr id="3" name="Content Placeholder 2"/>
          <p:cNvSpPr>
            <a:spLocks noGrp="1"/>
          </p:cNvSpPr>
          <p:nvPr>
            <p:ph idx="1"/>
          </p:nvPr>
        </p:nvSpPr>
        <p:spPr/>
        <p:txBody>
          <a:bodyPr>
            <a:normAutofit/>
          </a:bodyPr>
          <a:lstStyle/>
          <a:p>
            <a:pPr algn="just">
              <a:buNone/>
            </a:pPr>
            <a:r>
              <a:rPr lang="en-US" dirty="0">
                <a:latin typeface="Times New Roman" pitchFamily="18" charset="0"/>
                <a:cs typeface="Times New Roman" pitchFamily="18" charset="0"/>
              </a:rPr>
              <a:t>	Secondary data refers to the information or facts already collected. Such data are collected with the objective of understanding the past status of any variable. Or the data collected and reported by some source is accessed and used for the objective of a study. Normally in research, the scholars collect published data, </a:t>
            </a:r>
            <a:r>
              <a:rPr lang="en-US" dirty="0" err="1">
                <a:latin typeface="Times New Roman" pitchFamily="18" charset="0"/>
                <a:cs typeface="Times New Roman" pitchFamily="18" charset="0"/>
              </a:rPr>
              <a:t>analyse</a:t>
            </a:r>
            <a:r>
              <a:rPr lang="en-US" dirty="0">
                <a:latin typeface="Times New Roman" pitchFamily="18" charset="0"/>
                <a:cs typeface="Times New Roman" pitchFamily="18" charset="0"/>
              </a:rPr>
              <a:t> them, to explain the relationship between variables, which may not have been studied or the relationship might be explained in a new way. For example, data relating to production and productivity of rice in Tamil Nadu may be </a:t>
            </a:r>
            <a:r>
              <a:rPr lang="en-US" dirty="0" err="1">
                <a:latin typeface="Times New Roman" pitchFamily="18" charset="0"/>
                <a:cs typeface="Times New Roman" pitchFamily="18" charset="0"/>
              </a:rPr>
              <a:t>analysed</a:t>
            </a:r>
            <a:r>
              <a:rPr lang="en-US" dirty="0">
                <a:latin typeface="Times New Roman" pitchFamily="18" charset="0"/>
                <a:cs typeface="Times New Roman" pitchFamily="18" charset="0"/>
              </a:rPr>
              <a:t> by different scholars for different purposes.</a:t>
            </a:r>
          </a:p>
        </p:txBody>
      </p:sp>
    </p:spTree>
    <p:extLst>
      <p:ext uri="{BB962C8B-B14F-4D97-AF65-F5344CB8AC3E}">
        <p14:creationId xmlns:p14="http://schemas.microsoft.com/office/powerpoint/2010/main" val="16374476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Advantages</a:t>
            </a:r>
          </a:p>
        </p:txBody>
      </p:sp>
      <p:sp>
        <p:nvSpPr>
          <p:cNvPr id="3" name="Content Placeholder 2"/>
          <p:cNvSpPr>
            <a:spLocks noGrp="1"/>
          </p:cNvSpPr>
          <p:nvPr>
            <p:ph idx="1"/>
          </p:nvPr>
        </p:nvSpPr>
        <p:spPr/>
        <p:txBody>
          <a:bodyPr/>
          <a:lstStyle/>
          <a:p>
            <a:pPr marL="514350" indent="-514350">
              <a:buAutoNum type="arabicPeriod"/>
            </a:pPr>
            <a:r>
              <a:rPr lang="en-US" dirty="0">
                <a:latin typeface="Times New Roman" pitchFamily="18" charset="0"/>
                <a:cs typeface="Times New Roman" pitchFamily="18" charset="0"/>
              </a:rPr>
              <a:t>Research is more accurate.</a:t>
            </a:r>
          </a:p>
          <a:p>
            <a:pPr marL="514350" indent="-514350">
              <a:buAutoNum type="arabicPeriod"/>
            </a:pPr>
            <a:r>
              <a:rPr lang="en-US" dirty="0">
                <a:latin typeface="Times New Roman" pitchFamily="18" charset="0"/>
                <a:cs typeface="Times New Roman" pitchFamily="18" charset="0"/>
              </a:rPr>
              <a:t>Past data is having record.</a:t>
            </a:r>
          </a:p>
          <a:p>
            <a:pPr marL="514350" indent="-514350">
              <a:buAutoNum type="arabicPeriod"/>
            </a:pPr>
            <a:r>
              <a:rPr lang="en-US" dirty="0">
                <a:latin typeface="Times New Roman" pitchFamily="18" charset="0"/>
                <a:cs typeface="Times New Roman" pitchFamily="18" charset="0"/>
              </a:rPr>
              <a:t>Third party can test the accuracy of research.</a:t>
            </a:r>
          </a:p>
          <a:p>
            <a:pPr marL="514350" indent="-514350">
              <a:buAutoNum type="arabicPeriod"/>
            </a:pPr>
            <a:r>
              <a:rPr lang="en-US" dirty="0">
                <a:latin typeface="Times New Roman" pitchFamily="18" charset="0"/>
                <a:cs typeface="Times New Roman" pitchFamily="18" charset="0"/>
              </a:rPr>
              <a:t>Evidences prove the research hypothesis.</a:t>
            </a: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205064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Disadvantages</a:t>
            </a:r>
          </a:p>
        </p:txBody>
      </p:sp>
      <p:sp>
        <p:nvSpPr>
          <p:cNvPr id="3" name="Content Placeholder 2"/>
          <p:cNvSpPr>
            <a:spLocks noGrp="1"/>
          </p:cNvSpPr>
          <p:nvPr>
            <p:ph idx="1"/>
          </p:nvPr>
        </p:nvSpPr>
        <p:spPr>
          <a:xfrm>
            <a:off x="1981200" y="1564434"/>
            <a:ext cx="8229600" cy="2559697"/>
          </a:xfrm>
        </p:spPr>
        <p:txBody>
          <a:bodyPr/>
          <a:lstStyle/>
          <a:p>
            <a:pPr marL="514350" indent="-514350">
              <a:buAutoNum type="arabicPeriod"/>
            </a:pPr>
            <a:r>
              <a:rPr lang="en-US" dirty="0">
                <a:latin typeface="Times New Roman" pitchFamily="18" charset="0"/>
                <a:cs typeface="Times New Roman" pitchFamily="18" charset="0"/>
              </a:rPr>
              <a:t>Not suitable for all types of researches.</a:t>
            </a:r>
          </a:p>
          <a:p>
            <a:pPr marL="514350" indent="-514350">
              <a:buAutoNum type="arabicPeriod"/>
            </a:pPr>
            <a:r>
              <a:rPr lang="en-US" dirty="0">
                <a:latin typeface="Times New Roman" pitchFamily="18" charset="0"/>
                <a:cs typeface="Times New Roman" pitchFamily="18" charset="0"/>
              </a:rPr>
              <a:t>Requires authentic sources.</a:t>
            </a:r>
          </a:p>
          <a:p>
            <a:pPr marL="514350" indent="-514350">
              <a:buAutoNum type="arabicPeriod"/>
            </a:pPr>
            <a:r>
              <a:rPr lang="en-US" dirty="0">
                <a:latin typeface="Times New Roman" pitchFamily="18" charset="0"/>
                <a:cs typeface="Times New Roman" pitchFamily="18" charset="0"/>
              </a:rPr>
              <a:t>No personal </a:t>
            </a:r>
            <a:r>
              <a:rPr lang="en-US" dirty="0" err="1">
                <a:latin typeface="Times New Roman" pitchFamily="18" charset="0"/>
                <a:cs typeface="Times New Roman" pitchFamily="18" charset="0"/>
              </a:rPr>
              <a:t>inqiry</a:t>
            </a:r>
            <a:r>
              <a:rPr lang="en-US" dirty="0">
                <a:latin typeface="Times New Roman" pitchFamily="18" charset="0"/>
                <a:cs typeface="Times New Roman" pitchFamily="18" charset="0"/>
              </a:rPr>
              <a:t> is possible.</a:t>
            </a:r>
          </a:p>
        </p:txBody>
      </p:sp>
    </p:spTree>
    <p:extLst>
      <p:ext uri="{BB962C8B-B14F-4D97-AF65-F5344CB8AC3E}">
        <p14:creationId xmlns:p14="http://schemas.microsoft.com/office/powerpoint/2010/main" val="2838087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itchFamily="18" charset="0"/>
                <a:cs typeface="Times New Roman" pitchFamily="18" charset="0"/>
              </a:rPr>
              <a:t>Sources of Secondary Data</a:t>
            </a:r>
          </a:p>
        </p:txBody>
      </p:sp>
      <p:sp>
        <p:nvSpPr>
          <p:cNvPr id="3" name="Content Placeholder 2"/>
          <p:cNvSpPr>
            <a:spLocks noGrp="1"/>
          </p:cNvSpPr>
          <p:nvPr>
            <p:ph idx="1"/>
          </p:nvPr>
        </p:nvSpPr>
        <p:spPr>
          <a:xfrm>
            <a:off x="1981200" y="1510156"/>
            <a:ext cx="8229600" cy="3926377"/>
          </a:xfrm>
        </p:spPr>
        <p:txBody>
          <a:bodyPr/>
          <a:lstStyle/>
          <a:p>
            <a:pPr marL="514350" indent="-514350">
              <a:buAutoNum type="arabicPeriod"/>
            </a:pPr>
            <a:r>
              <a:rPr lang="en-US" dirty="0">
                <a:latin typeface="Times New Roman" pitchFamily="18" charset="0"/>
                <a:cs typeface="Times New Roman" pitchFamily="18" charset="0"/>
              </a:rPr>
              <a:t>Books.</a:t>
            </a:r>
          </a:p>
          <a:p>
            <a:pPr marL="514350" indent="-514350">
              <a:buAutoNum type="arabicPeriod"/>
            </a:pPr>
            <a:r>
              <a:rPr lang="en-US" dirty="0">
                <a:latin typeface="Times New Roman" pitchFamily="18" charset="0"/>
                <a:cs typeface="Times New Roman" pitchFamily="18" charset="0"/>
              </a:rPr>
              <a:t>Periodicals.</a:t>
            </a:r>
          </a:p>
          <a:p>
            <a:pPr marL="514350" indent="-514350">
              <a:buAutoNum type="arabicPeriod"/>
            </a:pPr>
            <a:r>
              <a:rPr lang="en-US" dirty="0">
                <a:latin typeface="Times New Roman" pitchFamily="18" charset="0"/>
                <a:cs typeface="Times New Roman" pitchFamily="18" charset="0"/>
              </a:rPr>
              <a:t>Research thesis and dissertation.</a:t>
            </a:r>
          </a:p>
          <a:p>
            <a:pPr marL="514350" indent="-514350">
              <a:buAutoNum type="arabicPeriod"/>
            </a:pPr>
            <a:r>
              <a:rPr lang="en-US" dirty="0">
                <a:latin typeface="Times New Roman" pitchFamily="18" charset="0"/>
                <a:cs typeface="Times New Roman" pitchFamily="18" charset="0"/>
              </a:rPr>
              <a:t>Bibliographies.</a:t>
            </a:r>
          </a:p>
          <a:p>
            <a:pPr marL="514350" indent="-514350">
              <a:buAutoNum type="arabicPeriod"/>
            </a:pPr>
            <a:r>
              <a:rPr lang="en-US" dirty="0">
                <a:latin typeface="Times New Roman" pitchFamily="18" charset="0"/>
                <a:cs typeface="Times New Roman" pitchFamily="18" charset="0"/>
              </a:rPr>
              <a:t>Encyclopedia.</a:t>
            </a:r>
          </a:p>
          <a:p>
            <a:pPr marL="514350" indent="-514350">
              <a:buAutoNum type="arabicPeriod"/>
            </a:pPr>
            <a:r>
              <a:rPr lang="en-US" dirty="0">
                <a:latin typeface="Times New Roman" pitchFamily="18" charset="0"/>
                <a:cs typeface="Times New Roman" pitchFamily="18" charset="0"/>
              </a:rPr>
              <a:t>Statistical data source.</a:t>
            </a:r>
          </a:p>
          <a:p>
            <a:pPr marL="514350" indent="-514350">
              <a:buAutoNum type="arabicPeriod"/>
            </a:pPr>
            <a:r>
              <a:rPr lang="en-US" dirty="0">
                <a:latin typeface="Times New Roman" pitchFamily="18" charset="0"/>
                <a:cs typeface="Times New Roman" pitchFamily="18" charset="0"/>
              </a:rPr>
              <a:t>Directories and year book.</a:t>
            </a:r>
          </a:p>
          <a:p>
            <a:pPr marL="514350" indent="-514350">
              <a:buNone/>
            </a:pPr>
            <a:endParaRPr lang="en-US" dirty="0">
              <a:latin typeface="Times New Roman" pitchFamily="18" charset="0"/>
              <a:cs typeface="Times New Roman" pitchFamily="18" charset="0"/>
            </a:endParaRPr>
          </a:p>
          <a:p>
            <a:pPr marL="514350" indent="-514350">
              <a:buAutoNum type="arabicPeriod"/>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681243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1920"/>
            <a:ext cx="10515600" cy="653144"/>
          </a:xfrm>
        </p:spPr>
        <p:txBody>
          <a:bodyPr>
            <a:normAutofit fontScale="90000"/>
          </a:bodyPr>
          <a:lstStyle/>
          <a:p>
            <a:r>
              <a:rPr lang="en-IN" dirty="0"/>
              <a:t>How to give citations</a:t>
            </a:r>
          </a:p>
        </p:txBody>
      </p:sp>
      <p:sp>
        <p:nvSpPr>
          <p:cNvPr id="3" name="Content Placeholder 2"/>
          <p:cNvSpPr>
            <a:spLocks noGrp="1"/>
          </p:cNvSpPr>
          <p:nvPr>
            <p:ph idx="1"/>
          </p:nvPr>
        </p:nvSpPr>
        <p:spPr>
          <a:xfrm>
            <a:off x="771525" y="696684"/>
            <a:ext cx="10582275" cy="3656241"/>
          </a:xfrm>
        </p:spPr>
        <p:txBody>
          <a:bodyPr/>
          <a:lstStyle/>
          <a:p>
            <a:pPr marL="514350" indent="-514350">
              <a:buAutoNum type="arabicPeriod"/>
            </a:pPr>
            <a:r>
              <a:rPr lang="en-IN" dirty="0"/>
              <a:t>Referencing a book</a:t>
            </a:r>
          </a:p>
          <a:p>
            <a:r>
              <a:rPr lang="en-US" b="1" dirty="0"/>
              <a:t>Basic format to reference a book</a:t>
            </a:r>
            <a:endParaRPr lang="en-US" dirty="0"/>
          </a:p>
          <a:p>
            <a:r>
              <a:rPr lang="en-US" dirty="0"/>
              <a:t>Author or authors. The surname is followed by first initials.</a:t>
            </a:r>
          </a:p>
          <a:p>
            <a:r>
              <a:rPr lang="en-US" dirty="0"/>
              <a:t>Year of publication of the book (in round brackets).</a:t>
            </a:r>
          </a:p>
          <a:p>
            <a:r>
              <a:rPr lang="en-US" dirty="0"/>
              <a:t>Book title (in italics).</a:t>
            </a:r>
          </a:p>
          <a:p>
            <a:r>
              <a:rPr lang="en-US" dirty="0"/>
              <a:t>Edition (in round brackets), if other than first.</a:t>
            </a:r>
          </a:p>
          <a:p>
            <a:r>
              <a:rPr lang="en-US" dirty="0"/>
              <a:t>Publisher.</a:t>
            </a:r>
          </a:p>
          <a:p>
            <a:pPr marL="0" indent="0">
              <a:buNone/>
            </a:pPr>
            <a:endParaRPr lang="en-IN" dirty="0"/>
          </a:p>
        </p:txBody>
      </p:sp>
      <p:pic>
        <p:nvPicPr>
          <p:cNvPr id="5" name="Picture 4"/>
          <p:cNvPicPr>
            <a:picLocks noChangeAspect="1"/>
          </p:cNvPicPr>
          <p:nvPr/>
        </p:nvPicPr>
        <p:blipFill>
          <a:blip r:embed="rId2"/>
          <a:stretch>
            <a:fillRect/>
          </a:stretch>
        </p:blipFill>
        <p:spPr>
          <a:xfrm>
            <a:off x="771525" y="4436669"/>
            <a:ext cx="10934700" cy="1564081"/>
          </a:xfrm>
          <a:prstGeom prst="rect">
            <a:avLst/>
          </a:prstGeom>
        </p:spPr>
      </p:pic>
    </p:spTree>
    <p:extLst>
      <p:ext uri="{BB962C8B-B14F-4D97-AF65-F5344CB8AC3E}">
        <p14:creationId xmlns:p14="http://schemas.microsoft.com/office/powerpoint/2010/main" val="236109301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150"/>
          </a:xfrm>
        </p:spPr>
        <p:txBody>
          <a:bodyPr>
            <a:normAutofit fontScale="90000"/>
          </a:bodyPr>
          <a:lstStyle/>
          <a:p>
            <a:r>
              <a:rPr lang="en-IN" dirty="0"/>
              <a:t>2. Periodical referencing</a:t>
            </a:r>
          </a:p>
        </p:txBody>
      </p:sp>
      <p:pic>
        <p:nvPicPr>
          <p:cNvPr id="4" name="Picture 3"/>
          <p:cNvPicPr>
            <a:picLocks noChangeAspect="1"/>
          </p:cNvPicPr>
          <p:nvPr/>
        </p:nvPicPr>
        <p:blipFill>
          <a:blip r:embed="rId2"/>
          <a:stretch>
            <a:fillRect/>
          </a:stretch>
        </p:blipFill>
        <p:spPr>
          <a:xfrm>
            <a:off x="838201" y="1666875"/>
            <a:ext cx="10391774" cy="3524250"/>
          </a:xfrm>
          <a:prstGeom prst="rect">
            <a:avLst/>
          </a:prstGeom>
        </p:spPr>
      </p:pic>
    </p:spTree>
    <p:extLst>
      <p:ext uri="{BB962C8B-B14F-4D97-AF65-F5344CB8AC3E}">
        <p14:creationId xmlns:p14="http://schemas.microsoft.com/office/powerpoint/2010/main" val="6663527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1871"/>
          </a:xfrm>
        </p:spPr>
        <p:txBody>
          <a:bodyPr/>
          <a:lstStyle/>
          <a:p>
            <a:r>
              <a:rPr lang="en-IN" dirty="0"/>
              <a:t>Referencing Research thesis / </a:t>
            </a:r>
            <a:r>
              <a:rPr lang="en-IN" dirty="0" err="1"/>
              <a:t>dessertation</a:t>
            </a:r>
            <a:endParaRPr lang="en-IN" dirty="0"/>
          </a:p>
        </p:txBody>
      </p:sp>
      <p:pic>
        <p:nvPicPr>
          <p:cNvPr id="4" name="Picture 3"/>
          <p:cNvPicPr>
            <a:picLocks noChangeAspect="1"/>
          </p:cNvPicPr>
          <p:nvPr/>
        </p:nvPicPr>
        <p:blipFill>
          <a:blip r:embed="rId2"/>
          <a:stretch>
            <a:fillRect/>
          </a:stretch>
        </p:blipFill>
        <p:spPr>
          <a:xfrm>
            <a:off x="838199" y="1399592"/>
            <a:ext cx="10722429" cy="3284375"/>
          </a:xfrm>
          <a:prstGeom prst="rect">
            <a:avLst/>
          </a:prstGeom>
        </p:spPr>
      </p:pic>
    </p:spTree>
    <p:extLst>
      <p:ext uri="{BB962C8B-B14F-4D97-AF65-F5344CB8AC3E}">
        <p14:creationId xmlns:p14="http://schemas.microsoft.com/office/powerpoint/2010/main" val="102271824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39944"/>
          </a:xfrm>
        </p:spPr>
        <p:txBody>
          <a:bodyPr>
            <a:normAutofit fontScale="90000"/>
          </a:bodyPr>
          <a:lstStyle/>
          <a:p>
            <a:br>
              <a:rPr lang="en-IN" dirty="0"/>
            </a:br>
            <a:r>
              <a:rPr lang="en-IN" dirty="0"/>
              <a:t>Referencing </a:t>
            </a:r>
            <a:r>
              <a:rPr lang="en-US" dirty="0"/>
              <a:t>Encyclopedia.</a:t>
            </a:r>
            <a:br>
              <a:rPr lang="en-US" dirty="0"/>
            </a:br>
            <a:endParaRPr lang="en-IN" dirty="0"/>
          </a:p>
        </p:txBody>
      </p:sp>
      <p:pic>
        <p:nvPicPr>
          <p:cNvPr id="4" name="Picture 3"/>
          <p:cNvPicPr>
            <a:picLocks noChangeAspect="1"/>
          </p:cNvPicPr>
          <p:nvPr/>
        </p:nvPicPr>
        <p:blipFill>
          <a:blip r:embed="rId3"/>
          <a:stretch>
            <a:fillRect/>
          </a:stretch>
        </p:blipFill>
        <p:spPr>
          <a:xfrm>
            <a:off x="693867" y="1122393"/>
            <a:ext cx="10659933" cy="1924050"/>
          </a:xfrm>
          <a:prstGeom prst="rect">
            <a:avLst/>
          </a:prstGeom>
        </p:spPr>
      </p:pic>
      <p:sp>
        <p:nvSpPr>
          <p:cNvPr id="5" name="Content Placeholder 4"/>
          <p:cNvSpPr>
            <a:spLocks noGrp="1"/>
          </p:cNvSpPr>
          <p:nvPr>
            <p:ph idx="1"/>
          </p:nvPr>
        </p:nvSpPr>
        <p:spPr>
          <a:xfrm>
            <a:off x="838200" y="3051110"/>
            <a:ext cx="10515599" cy="681135"/>
          </a:xfrm>
        </p:spPr>
        <p:txBody>
          <a:bodyPr>
            <a:normAutofit/>
          </a:bodyPr>
          <a:lstStyle/>
          <a:p>
            <a:pPr marL="0" indent="0">
              <a:buNone/>
            </a:pPr>
            <a:r>
              <a:rPr lang="en-IN" sz="4000" dirty="0"/>
              <a:t>Referencing websites</a:t>
            </a:r>
          </a:p>
        </p:txBody>
      </p:sp>
      <p:pic>
        <p:nvPicPr>
          <p:cNvPr id="6" name="Picture 5"/>
          <p:cNvPicPr>
            <a:picLocks noChangeAspect="1"/>
          </p:cNvPicPr>
          <p:nvPr/>
        </p:nvPicPr>
        <p:blipFill>
          <a:blip r:embed="rId4"/>
          <a:stretch>
            <a:fillRect/>
          </a:stretch>
        </p:blipFill>
        <p:spPr>
          <a:xfrm>
            <a:off x="496076" y="3732245"/>
            <a:ext cx="11199845" cy="2381250"/>
          </a:xfrm>
          <a:prstGeom prst="rect">
            <a:avLst/>
          </a:prstGeom>
        </p:spPr>
      </p:pic>
    </p:spTree>
    <p:extLst>
      <p:ext uri="{BB962C8B-B14F-4D97-AF65-F5344CB8AC3E}">
        <p14:creationId xmlns:p14="http://schemas.microsoft.com/office/powerpoint/2010/main" val="5200261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1020762"/>
          </a:xfrm>
        </p:spPr>
        <p:txBody>
          <a:bodyPr>
            <a:normAutofit fontScale="90000"/>
          </a:bodyPr>
          <a:lstStyle/>
          <a:p>
            <a:r>
              <a:rPr lang="en-US" b="1" dirty="0">
                <a:latin typeface="Times New Roman" pitchFamily="18" charset="0"/>
                <a:cs typeface="Times New Roman" pitchFamily="18" charset="0"/>
              </a:rPr>
              <a:t>Selection of Appropriate Method of Data Collection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1981200" y="1447801"/>
            <a:ext cx="8229600" cy="4678363"/>
          </a:xfrm>
        </p:spPr>
        <p:txBody>
          <a:bodyPr/>
          <a:lstStyle/>
          <a:p>
            <a:pPr marL="514350" indent="-514350">
              <a:buAutoNum type="arabicPeriod"/>
            </a:pPr>
            <a:r>
              <a:rPr lang="en-US" dirty="0">
                <a:latin typeface="Times New Roman" pitchFamily="18" charset="0"/>
                <a:cs typeface="Times New Roman" pitchFamily="18" charset="0"/>
              </a:rPr>
              <a:t>Nature and scope and objective of the research.</a:t>
            </a:r>
          </a:p>
          <a:p>
            <a:pPr marL="514350" indent="-514350">
              <a:buAutoNum type="arabicPeriod"/>
            </a:pPr>
            <a:r>
              <a:rPr lang="en-US" dirty="0">
                <a:latin typeface="Times New Roman" pitchFamily="18" charset="0"/>
                <a:cs typeface="Times New Roman" pitchFamily="18" charset="0"/>
              </a:rPr>
              <a:t>Budget Constrain.</a:t>
            </a:r>
          </a:p>
          <a:p>
            <a:pPr marL="514350" indent="-514350">
              <a:buAutoNum type="arabicPeriod"/>
            </a:pPr>
            <a:r>
              <a:rPr lang="en-US" dirty="0">
                <a:latin typeface="Times New Roman" pitchFamily="18" charset="0"/>
                <a:cs typeface="Times New Roman" pitchFamily="18" charset="0"/>
              </a:rPr>
              <a:t>Availability of Time.</a:t>
            </a:r>
          </a:p>
          <a:p>
            <a:pPr marL="514350" indent="-514350">
              <a:buAutoNum type="arabicPeriod"/>
            </a:pPr>
            <a:r>
              <a:rPr lang="en-US" dirty="0">
                <a:latin typeface="Times New Roman" pitchFamily="18" charset="0"/>
                <a:cs typeface="Times New Roman" pitchFamily="18" charset="0"/>
              </a:rPr>
              <a:t>Degree of Accuracy required.</a:t>
            </a:r>
          </a:p>
          <a:p>
            <a:pPr marL="514350" indent="-514350">
              <a:buAutoNum type="arabicPeriod"/>
            </a:pPr>
            <a:r>
              <a:rPr lang="en-US" dirty="0">
                <a:latin typeface="Times New Roman" pitchFamily="18" charset="0"/>
                <a:cs typeface="Times New Roman" pitchFamily="18" charset="0"/>
              </a:rPr>
              <a:t>Period of study.</a:t>
            </a:r>
          </a:p>
        </p:txBody>
      </p:sp>
    </p:spTree>
    <p:extLst>
      <p:ext uri="{BB962C8B-B14F-4D97-AF65-F5344CB8AC3E}">
        <p14:creationId xmlns:p14="http://schemas.microsoft.com/office/powerpoint/2010/main" val="47654218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0000"/>
            <a:ext cx="10515600" cy="5716000"/>
          </a:xfrm>
        </p:spPr>
        <p:txBody>
          <a:bodyPr/>
          <a:lstStyle/>
          <a:p>
            <a:r>
              <a:rPr lang="en-US" b="1" dirty="0">
                <a:latin typeface="Times New Roman" pitchFamily="18" charset="0"/>
                <a:cs typeface="Times New Roman" pitchFamily="18" charset="0"/>
              </a:rPr>
              <a:t>Measurement</a:t>
            </a:r>
            <a:r>
              <a:rPr lang="en-US" b="1" dirty="0"/>
              <a:t> and Scaling Techniques:  </a:t>
            </a:r>
          </a:p>
          <a:p>
            <a:pPr marL="0" indent="0">
              <a:buNone/>
            </a:pPr>
            <a:r>
              <a:rPr lang="en-US" b="1" dirty="0"/>
              <a:t>Discussion Points.</a:t>
            </a:r>
          </a:p>
          <a:p>
            <a:pPr marL="0" indent="0">
              <a:buNone/>
            </a:pPr>
            <a:r>
              <a:rPr lang="en-US" dirty="0"/>
              <a:t>A. Basic measurement scales-</a:t>
            </a:r>
          </a:p>
          <a:p>
            <a:pPr marL="514350" indent="-514350">
              <a:buAutoNum type="arabicPeriod"/>
            </a:pPr>
            <a:r>
              <a:rPr lang="en-US" dirty="0"/>
              <a:t>Nominal scale, </a:t>
            </a:r>
          </a:p>
          <a:p>
            <a:pPr marL="514350" indent="-514350">
              <a:buAutoNum type="arabicPeriod"/>
            </a:pPr>
            <a:r>
              <a:rPr lang="en-US" dirty="0"/>
              <a:t>Ordinal scale, </a:t>
            </a:r>
          </a:p>
          <a:p>
            <a:pPr marL="514350" indent="-514350">
              <a:buAutoNum type="arabicPeriod"/>
            </a:pPr>
            <a:r>
              <a:rPr lang="en-US" dirty="0"/>
              <a:t>Interval </a:t>
            </a:r>
            <a:r>
              <a:rPr lang="en-IN" dirty="0"/>
              <a:t>scale, </a:t>
            </a:r>
          </a:p>
          <a:p>
            <a:pPr marL="514350" indent="-514350">
              <a:buAutoNum type="arabicPeriod"/>
            </a:pPr>
            <a:r>
              <a:rPr lang="en-IN" dirty="0"/>
              <a:t>Ratio scale. </a:t>
            </a:r>
          </a:p>
          <a:p>
            <a:pPr marL="0" indent="0">
              <a:buNone/>
            </a:pPr>
            <a:r>
              <a:rPr lang="en-IN" dirty="0"/>
              <a:t>B. Attitude measurement scale – </a:t>
            </a:r>
          </a:p>
          <a:p>
            <a:pPr marL="514350" indent="-514350">
              <a:buAutoNum type="arabicPeriod"/>
            </a:pPr>
            <a:r>
              <a:rPr lang="en-IN" dirty="0" err="1"/>
              <a:t>Likert</a:t>
            </a:r>
            <a:r>
              <a:rPr lang="en-IN" dirty="0"/>
              <a:t> Scale, </a:t>
            </a:r>
          </a:p>
          <a:p>
            <a:pPr marL="514350" indent="-514350">
              <a:buAutoNum type="arabicPeriod"/>
            </a:pPr>
            <a:r>
              <a:rPr lang="en-IN" dirty="0"/>
              <a:t>Semantic Differential Scale, </a:t>
            </a:r>
          </a:p>
          <a:p>
            <a:pPr marL="514350" indent="-514350">
              <a:buAutoNum type="arabicPeriod"/>
            </a:pPr>
            <a:r>
              <a:rPr lang="en-IN" dirty="0"/>
              <a:t>Thurston scale,</a:t>
            </a:r>
          </a:p>
          <a:p>
            <a:endParaRPr lang="en-IN" dirty="0"/>
          </a:p>
        </p:txBody>
      </p:sp>
    </p:spTree>
    <p:extLst>
      <p:ext uri="{BB962C8B-B14F-4D97-AF65-F5344CB8AC3E}">
        <p14:creationId xmlns:p14="http://schemas.microsoft.com/office/powerpoint/2010/main" val="12951752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62784"/>
          </a:xfrm>
        </p:spPr>
        <p:txBody>
          <a:bodyPr/>
          <a:lstStyle/>
          <a:p>
            <a:r>
              <a:rPr lang="en-IN" dirty="0"/>
              <a:t>Scales of Measurement</a:t>
            </a:r>
          </a:p>
        </p:txBody>
      </p:sp>
      <p:sp>
        <p:nvSpPr>
          <p:cNvPr id="3" name="Content Placeholder 2"/>
          <p:cNvSpPr>
            <a:spLocks noGrp="1"/>
          </p:cNvSpPr>
          <p:nvPr>
            <p:ph idx="1"/>
          </p:nvPr>
        </p:nvSpPr>
        <p:spPr>
          <a:xfrm>
            <a:off x="907869" y="1227910"/>
            <a:ext cx="10515600" cy="4351338"/>
          </a:xfrm>
        </p:spPr>
        <p:txBody>
          <a:bodyPr/>
          <a:lstStyle/>
          <a:p>
            <a:pPr marL="0" indent="0" algn="just">
              <a:buNone/>
            </a:pPr>
            <a:r>
              <a:rPr lang="en-US" sz="4000" dirty="0">
                <a:latin typeface="Times New Roman" panose="02020603050405020304" pitchFamily="18" charset="0"/>
                <a:cs typeface="Times New Roman" panose="02020603050405020304" pitchFamily="18" charset="0"/>
              </a:rPr>
              <a:t>The process of assigning numbers to objects in such a way that specific properties of the objects are faithfully represented by specific properties of the numbers. Such ways of assigning numbers do not attempt to measure the total phenomenon, but only a specific set of attributes.</a:t>
            </a:r>
          </a:p>
          <a:p>
            <a:pPr marL="0" indent="0" algn="just">
              <a:buNone/>
            </a:pPr>
            <a:br>
              <a:rPr lang="en-US" dirty="0"/>
            </a:br>
            <a:endParaRPr lang="en-IN" dirty="0"/>
          </a:p>
        </p:txBody>
      </p:sp>
    </p:spTree>
    <p:extLst>
      <p:ext uri="{BB962C8B-B14F-4D97-AF65-F5344CB8AC3E}">
        <p14:creationId xmlns:p14="http://schemas.microsoft.com/office/powerpoint/2010/main" val="14737690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 Basic measurement scales:</a:t>
            </a:r>
          </a:p>
        </p:txBody>
      </p:sp>
      <p:sp>
        <p:nvSpPr>
          <p:cNvPr id="3" name="Content Placeholder 2"/>
          <p:cNvSpPr>
            <a:spLocks noGrp="1"/>
          </p:cNvSpPr>
          <p:nvPr>
            <p:ph idx="1"/>
          </p:nvPr>
        </p:nvSpPr>
        <p:spPr/>
        <p:txBody>
          <a:bodyPr/>
          <a:lstStyle/>
          <a:p>
            <a:pPr marL="514350" indent="-514350">
              <a:buAutoNum type="arabicPeriod"/>
            </a:pPr>
            <a:r>
              <a:rPr lang="en-IN" dirty="0"/>
              <a:t>Nominal scales</a:t>
            </a:r>
          </a:p>
          <a:p>
            <a:pPr marL="514350" indent="-514350">
              <a:buAutoNum type="arabicPeriod"/>
            </a:pPr>
            <a:r>
              <a:rPr lang="en-IN" dirty="0"/>
              <a:t>Ordinal scales</a:t>
            </a:r>
          </a:p>
          <a:p>
            <a:pPr marL="514350" indent="-514350">
              <a:buAutoNum type="arabicPeriod"/>
            </a:pPr>
            <a:r>
              <a:rPr lang="en-IN" dirty="0"/>
              <a:t>Interval scales</a:t>
            </a:r>
          </a:p>
          <a:p>
            <a:pPr marL="514350" indent="-514350">
              <a:buAutoNum type="arabicPeriod"/>
            </a:pPr>
            <a:r>
              <a:rPr lang="en-IN" dirty="0"/>
              <a:t>Ratio scales</a:t>
            </a:r>
          </a:p>
        </p:txBody>
      </p:sp>
      <p:pic>
        <p:nvPicPr>
          <p:cNvPr id="4" name="Picture 3"/>
          <p:cNvPicPr>
            <a:picLocks noChangeAspect="1"/>
          </p:cNvPicPr>
          <p:nvPr/>
        </p:nvPicPr>
        <p:blipFill>
          <a:blip r:embed="rId2"/>
          <a:stretch>
            <a:fillRect/>
          </a:stretch>
        </p:blipFill>
        <p:spPr>
          <a:xfrm>
            <a:off x="4312133" y="1446849"/>
            <a:ext cx="6091500" cy="4083741"/>
          </a:xfrm>
          <a:prstGeom prst="rect">
            <a:avLst/>
          </a:prstGeom>
        </p:spPr>
      </p:pic>
    </p:spTree>
    <p:extLst>
      <p:ext uri="{BB962C8B-B14F-4D97-AF65-F5344CB8AC3E}">
        <p14:creationId xmlns:p14="http://schemas.microsoft.com/office/powerpoint/2010/main" val="38623340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406"/>
          </a:xfrm>
        </p:spPr>
        <p:txBody>
          <a:bodyPr/>
          <a:lstStyle/>
          <a:p>
            <a:r>
              <a:rPr lang="en-US" dirty="0"/>
              <a:t>1. Nominal Scale:</a:t>
            </a:r>
            <a:endParaRPr lang="en-IN" dirty="0"/>
          </a:p>
        </p:txBody>
      </p:sp>
      <p:sp>
        <p:nvSpPr>
          <p:cNvPr id="3" name="Content Placeholder 2"/>
          <p:cNvSpPr>
            <a:spLocks noGrp="1"/>
          </p:cNvSpPr>
          <p:nvPr>
            <p:ph idx="1"/>
          </p:nvPr>
        </p:nvSpPr>
        <p:spPr>
          <a:xfrm>
            <a:off x="337853" y="1085394"/>
            <a:ext cx="6769530" cy="5289279"/>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A nominal scale of measurement deals with variables that are non-numeric or where the numbers have no value. The lowest measurement level you can use, from a statistical point of view, is a nominal scale. A nominal scale, as the name implies, is simply some placing of data into categories, without any order or structure. </a:t>
            </a:r>
          </a:p>
          <a:p>
            <a:pPr marL="0" indent="0" algn="just">
              <a:buNone/>
            </a:pPr>
            <a:r>
              <a:rPr lang="en-US" dirty="0">
                <a:latin typeface="Times New Roman" panose="02020603050405020304" pitchFamily="18" charset="0"/>
                <a:cs typeface="Times New Roman" panose="02020603050405020304" pitchFamily="18" charset="0"/>
              </a:rPr>
              <a:t>A physical example of a nominal scale is the terms we use for colors. The underlying spectrum is ordered but the names are nominal. In research activities a YES/NO scale is nominal. It has no order and there is no distance between YES and NO. </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232073" y="857392"/>
            <a:ext cx="4959927" cy="4963885"/>
          </a:xfrm>
          <a:prstGeom prst="rect">
            <a:avLst/>
          </a:prstGeom>
        </p:spPr>
      </p:pic>
    </p:spTree>
    <p:extLst>
      <p:ext uri="{BB962C8B-B14F-4D97-AF65-F5344CB8AC3E}">
        <p14:creationId xmlns:p14="http://schemas.microsoft.com/office/powerpoint/2010/main" val="14980181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49275"/>
          </a:xfrm>
        </p:spPr>
        <p:txBody>
          <a:bodyPr>
            <a:normAutofit fontScale="90000"/>
          </a:bodyPr>
          <a:lstStyle/>
          <a:p>
            <a:r>
              <a:rPr lang="en-US" dirty="0"/>
              <a:t>2. Ordinal Scale:</a:t>
            </a:r>
            <a:endParaRPr lang="en-IN" dirty="0"/>
          </a:p>
        </p:txBody>
      </p:sp>
      <p:sp>
        <p:nvSpPr>
          <p:cNvPr id="3" name="Content Placeholder 2"/>
          <p:cNvSpPr>
            <a:spLocks noGrp="1"/>
          </p:cNvSpPr>
          <p:nvPr>
            <p:ph idx="1"/>
          </p:nvPr>
        </p:nvSpPr>
        <p:spPr>
          <a:xfrm>
            <a:off x="838201" y="966647"/>
            <a:ext cx="7286896" cy="5294811"/>
          </a:xfrm>
        </p:spPr>
        <p:txBody>
          <a:bodyPr>
            <a:normAutofit fontScale="85000" lnSpcReduction="20000"/>
          </a:bodyPr>
          <a:lstStyle/>
          <a:p>
            <a:pPr marL="0" indent="0" algn="just">
              <a:buNone/>
            </a:pPr>
            <a:r>
              <a:rPr lang="en-US" dirty="0">
                <a:latin typeface="Times New Roman" panose="02020603050405020304" pitchFamily="18" charset="0"/>
                <a:cs typeface="Times New Roman" panose="02020603050405020304" pitchFamily="18" charset="0"/>
              </a:rPr>
              <a:t>The ordinal type allows for rank order (1st, 2nd, 3rd, etc.) by which data can be sorted, but still does not allow for relative degree of difference between them. </a:t>
            </a:r>
          </a:p>
          <a:p>
            <a:pPr marL="0" indent="0" algn="just">
              <a:buNone/>
            </a:pPr>
            <a:r>
              <a:rPr lang="en-US" dirty="0">
                <a:latin typeface="Times New Roman" panose="02020603050405020304" pitchFamily="18" charset="0"/>
                <a:cs typeface="Times New Roman" panose="02020603050405020304" pitchFamily="18" charset="0"/>
              </a:rPr>
              <a:t>An ordinal scale of measurement looks at variables where the order matters but the differences do not matter. When you think of 'ordinal,' think of the word 'order.' In the case of letter grades, we don't really know how much better an A is than a D. We know that A is better than B, which is better than C, and so on. But is A four times better than D? Is it two times better? </a:t>
            </a:r>
          </a:p>
          <a:p>
            <a:pPr marL="0" indent="0" algn="just">
              <a:buNone/>
            </a:pPr>
            <a:r>
              <a:rPr lang="en-US" dirty="0">
                <a:latin typeface="Times New Roman" panose="02020603050405020304" pitchFamily="18" charset="0"/>
                <a:cs typeface="Times New Roman" panose="02020603050405020304" pitchFamily="18" charset="0"/>
              </a:rPr>
              <a:t>In this case, the order is important but not the differences. Examples include, on one hand, dichotomous data with dichotomous (or dichotomized) values such as 'sick' vs. 'healthy' when measuring health, 'guilty' vs. 'innocent' when making judgments in courts, 'wrong/false' vs. 'right/true' when measuring truth value, and, on the other hand, non-dichotomous data consisting of a spectrum of values, such as 'completely agree', 'mostly agree', 'mostly disagree', 'completely disagree' when measuring opinion.</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8125097" y="1105988"/>
            <a:ext cx="3811906" cy="3918857"/>
          </a:xfrm>
          <a:prstGeom prst="rect">
            <a:avLst/>
          </a:prstGeom>
        </p:spPr>
      </p:pic>
    </p:spTree>
    <p:extLst>
      <p:ext uri="{BB962C8B-B14F-4D97-AF65-F5344CB8AC3E}">
        <p14:creationId xmlns:p14="http://schemas.microsoft.com/office/powerpoint/2010/main" val="7800684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66692"/>
          </a:xfrm>
        </p:spPr>
        <p:txBody>
          <a:bodyPr>
            <a:normAutofit fontScale="90000"/>
          </a:bodyPr>
          <a:lstStyle/>
          <a:p>
            <a:r>
              <a:rPr lang="en-US" dirty="0"/>
              <a:t>3. Interval Scale:</a:t>
            </a:r>
            <a:endParaRPr lang="en-IN" dirty="0"/>
          </a:p>
        </p:txBody>
      </p:sp>
      <p:sp>
        <p:nvSpPr>
          <p:cNvPr id="3" name="Content Placeholder 2"/>
          <p:cNvSpPr>
            <a:spLocks noGrp="1"/>
          </p:cNvSpPr>
          <p:nvPr>
            <p:ph idx="1"/>
          </p:nvPr>
        </p:nvSpPr>
        <p:spPr>
          <a:xfrm>
            <a:off x="838200" y="957941"/>
            <a:ext cx="6259286" cy="4975180"/>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Interval scales are numeric scales in which we know not only the order, but also the exact differences between the values. </a:t>
            </a:r>
          </a:p>
          <a:p>
            <a:pPr marL="0" indent="0" algn="just">
              <a:buNone/>
            </a:pPr>
            <a:r>
              <a:rPr lang="en-US" dirty="0">
                <a:latin typeface="Times New Roman" panose="02020603050405020304" pitchFamily="18" charset="0"/>
                <a:cs typeface="Times New Roman" panose="02020603050405020304" pitchFamily="18" charset="0"/>
              </a:rPr>
              <a:t>The classic example of an interval scale is Celsius temperature because the difference between each value is the same. For example, the difference between 60 and 50 degrees is a measurable 10 degrees, as is the difference between 80 and 70 degrees. Time is another good example of an interval scale in which the increments are known, consistent, and measurable</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7380514" y="648471"/>
            <a:ext cx="4628606" cy="4071575"/>
          </a:xfrm>
          <a:prstGeom prst="rect">
            <a:avLst/>
          </a:prstGeom>
        </p:spPr>
      </p:pic>
    </p:spTree>
    <p:extLst>
      <p:ext uri="{BB962C8B-B14F-4D97-AF65-F5344CB8AC3E}">
        <p14:creationId xmlns:p14="http://schemas.microsoft.com/office/powerpoint/2010/main" val="23532226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32117"/>
            <a:ext cx="10515600" cy="575401"/>
          </a:xfrm>
        </p:spPr>
        <p:txBody>
          <a:bodyPr>
            <a:normAutofit fontScale="90000"/>
          </a:bodyPr>
          <a:lstStyle/>
          <a:p>
            <a:r>
              <a:rPr lang="en-IN" dirty="0"/>
              <a:t>4.</a:t>
            </a:r>
            <a:r>
              <a:rPr lang="en-US" dirty="0"/>
              <a:t> The ratio scale </a:t>
            </a:r>
            <a:endParaRPr lang="en-IN" dirty="0"/>
          </a:p>
        </p:txBody>
      </p:sp>
      <p:sp>
        <p:nvSpPr>
          <p:cNvPr id="3" name="Content Placeholder 2"/>
          <p:cNvSpPr>
            <a:spLocks noGrp="1"/>
          </p:cNvSpPr>
          <p:nvPr>
            <p:ph idx="1"/>
          </p:nvPr>
        </p:nvSpPr>
        <p:spPr>
          <a:xfrm>
            <a:off x="838200" y="784155"/>
            <a:ext cx="10816243" cy="5001306"/>
          </a:xfrm>
        </p:spPr>
        <p:txBody>
          <a:bodyPr>
            <a:noAutofit/>
          </a:bodyPr>
          <a:lstStyle/>
          <a:p>
            <a:pPr marL="0" indent="0" algn="just">
              <a:lnSpc>
                <a:spcPct val="120000"/>
              </a:lnSpc>
              <a:buNone/>
            </a:pPr>
            <a:r>
              <a:rPr lang="en-US" sz="1800" dirty="0">
                <a:latin typeface="Times New Roman" panose="02020603050405020304" pitchFamily="18" charset="0"/>
                <a:cs typeface="Times New Roman" panose="02020603050405020304" pitchFamily="18" charset="0"/>
              </a:rPr>
              <a:t>The ratio scale of measurement is the most informative scale. It is an interval scale with the additional property that its zero position indicates the absence of the quantity being measured. You can think of a ratio scale as the three earlier scales rolled up in one. Like a nominal scale, it provides a name or category for each object (the numbers serve as labels). Like an ordinal scale, the objects are ordered (in terms of the ordering of the numbers). Like an interval scale, the same difference at two places on the scale has the same meaning. And in addition, the same ratio at two places on the scale also carries the same meaning. </a:t>
            </a:r>
          </a:p>
          <a:p>
            <a:pPr marL="0" indent="0" algn="just">
              <a:lnSpc>
                <a:spcPct val="120000"/>
              </a:lnSpc>
              <a:buNone/>
            </a:pPr>
            <a:r>
              <a:rPr lang="en-US" sz="1800" dirty="0">
                <a:latin typeface="Times New Roman" panose="02020603050405020304" pitchFamily="18" charset="0"/>
                <a:cs typeface="Times New Roman" panose="02020603050405020304" pitchFamily="18" charset="0"/>
              </a:rPr>
              <a:t>Ratio scales are the ultimate nirvana when it comes to measurement scales because they tell us about the order, they tell us the exact value between units and they also have an absolute zero–which allows for a wide range of both descriptive and inferential statistics to be applied. Everything above about interval data applies to ratio scales i.e. ratio scales have a clear definition of zero.</a:t>
            </a:r>
          </a:p>
          <a:p>
            <a:pPr marL="0" indent="0" algn="just">
              <a:lnSpc>
                <a:spcPct val="120000"/>
              </a:lnSpc>
              <a:buNone/>
            </a:pPr>
            <a:r>
              <a:rPr lang="en-US" sz="1800" dirty="0">
                <a:latin typeface="Times New Roman" panose="02020603050405020304" pitchFamily="18" charset="0"/>
                <a:cs typeface="Times New Roman" panose="02020603050405020304" pitchFamily="18" charset="0"/>
              </a:rPr>
              <a:t> Good examples of ratio variables include height and weight. Ratio scales provide a wealth of possibilities when it comes to statistical analysis. These variables can be meaningfully added, subtracted, multiplied, divided (ratios). Central tendency can be measured by mode, median, or mean; measures of dispersion, such as standard deviation and coefficient of variation can also be calculated from ratio scales.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54810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74025" y="498764"/>
            <a:ext cx="10248403" cy="5935287"/>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F58C4BC-10ED-82BC-7CC1-B14F7381EFE7}"/>
              </a:ext>
            </a:extLst>
          </p:cNvPr>
          <p:cNvGraphicFramePr>
            <a:graphicFrameLocks noGrp="1"/>
          </p:cNvGraphicFramePr>
          <p:nvPr>
            <p:extLst>
              <p:ext uri="{D42A27DB-BD31-4B8C-83A1-F6EECF244321}">
                <p14:modId xmlns:p14="http://schemas.microsoft.com/office/powerpoint/2010/main" val="1213476258"/>
              </p:ext>
            </p:extLst>
          </p:nvPr>
        </p:nvGraphicFramePr>
        <p:xfrm>
          <a:off x="483638" y="183507"/>
          <a:ext cx="11224724" cy="6517538"/>
        </p:xfrm>
        <a:graphic>
          <a:graphicData uri="http://schemas.openxmlformats.org/drawingml/2006/table">
            <a:tbl>
              <a:tblPr firstRow="1" firstCol="1" bandRow="1"/>
              <a:tblGrid>
                <a:gridCol w="2962730">
                  <a:extLst>
                    <a:ext uri="{9D8B030D-6E8A-4147-A177-3AD203B41FA5}">
                      <a16:colId xmlns:a16="http://schemas.microsoft.com/office/drawing/2014/main" val="2689590947"/>
                    </a:ext>
                  </a:extLst>
                </a:gridCol>
                <a:gridCol w="2649632">
                  <a:extLst>
                    <a:ext uri="{9D8B030D-6E8A-4147-A177-3AD203B41FA5}">
                      <a16:colId xmlns:a16="http://schemas.microsoft.com/office/drawing/2014/main" val="4090754132"/>
                    </a:ext>
                  </a:extLst>
                </a:gridCol>
                <a:gridCol w="2806181">
                  <a:extLst>
                    <a:ext uri="{9D8B030D-6E8A-4147-A177-3AD203B41FA5}">
                      <a16:colId xmlns:a16="http://schemas.microsoft.com/office/drawing/2014/main" val="1378693050"/>
                    </a:ext>
                  </a:extLst>
                </a:gridCol>
                <a:gridCol w="2806181">
                  <a:extLst>
                    <a:ext uri="{9D8B030D-6E8A-4147-A177-3AD203B41FA5}">
                      <a16:colId xmlns:a16="http://schemas.microsoft.com/office/drawing/2014/main" val="513280406"/>
                    </a:ext>
                  </a:extLst>
                </a:gridCol>
              </a:tblGrid>
              <a:tr h="464317">
                <a:tc>
                  <a:txBody>
                    <a:bodyPr/>
                    <a:lstStyle/>
                    <a:p>
                      <a:pPr algn="ctr">
                        <a:lnSpc>
                          <a:spcPct val="107000"/>
                        </a:lnSpc>
                        <a:spcAft>
                          <a:spcPts val="800"/>
                        </a:spcAft>
                        <a:buNone/>
                      </a:pPr>
                      <a:r>
                        <a:rPr lang="en-IN" sz="1600" b="1" kern="0" dirty="0">
                          <a:effectLst/>
                          <a:latin typeface="Times New Roman" panose="02020603050405020304" pitchFamily="18" charset="0"/>
                          <a:ea typeface="Times New Roman" panose="02020603050405020304" pitchFamily="18" charset="0"/>
                          <a:cs typeface="Tunga" panose="020B0502040204020203" pitchFamily="34" charset="0"/>
                        </a:rPr>
                        <a:t>Scale</a:t>
                      </a:r>
                      <a:endParaRPr lang="en-IN" sz="1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gn="ctr">
                        <a:lnSpc>
                          <a:spcPct val="107000"/>
                        </a:lnSpc>
                        <a:spcAft>
                          <a:spcPts val="800"/>
                        </a:spcAft>
                        <a:buNone/>
                      </a:pPr>
                      <a:r>
                        <a:rPr lang="en-IN" sz="1600" b="1" kern="0" dirty="0">
                          <a:effectLst/>
                          <a:latin typeface="Times New Roman" panose="02020603050405020304" pitchFamily="18" charset="0"/>
                          <a:ea typeface="Times New Roman" panose="02020603050405020304" pitchFamily="18" charset="0"/>
                          <a:cs typeface="Tunga" panose="020B0502040204020203" pitchFamily="34" charset="0"/>
                        </a:rPr>
                        <a:t>Meaning</a:t>
                      </a:r>
                      <a:endParaRPr lang="en-IN" sz="1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gn="ctr">
                        <a:lnSpc>
                          <a:spcPct val="107000"/>
                        </a:lnSpc>
                        <a:spcAft>
                          <a:spcPts val="800"/>
                        </a:spcAft>
                        <a:buNone/>
                      </a:pPr>
                      <a:r>
                        <a:rPr lang="en-IN" sz="1600" b="1" kern="0" dirty="0">
                          <a:effectLst/>
                          <a:latin typeface="Times New Roman" panose="02020603050405020304" pitchFamily="18" charset="0"/>
                          <a:ea typeface="Times New Roman" panose="02020603050405020304" pitchFamily="18" charset="0"/>
                          <a:cs typeface="Tunga" panose="020B0502040204020203" pitchFamily="34" charset="0"/>
                        </a:rPr>
                        <a:t>Characteristics</a:t>
                      </a:r>
                      <a:endParaRPr lang="en-IN" sz="1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gn="ctr">
                        <a:lnSpc>
                          <a:spcPct val="107000"/>
                        </a:lnSpc>
                        <a:spcAft>
                          <a:spcPts val="800"/>
                        </a:spcAft>
                        <a:buNone/>
                      </a:pPr>
                      <a:r>
                        <a:rPr lang="en-IN" sz="1600" b="1" kern="0" dirty="0">
                          <a:effectLst/>
                          <a:latin typeface="Times New Roman" panose="02020603050405020304" pitchFamily="18" charset="0"/>
                          <a:ea typeface="Times New Roman" panose="02020603050405020304" pitchFamily="18" charset="0"/>
                          <a:cs typeface="Tunga" panose="020B0502040204020203" pitchFamily="34" charset="0"/>
                        </a:rPr>
                        <a:t>Management Examples</a:t>
                      </a:r>
                      <a:endParaRPr lang="en-IN" sz="1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1913856417"/>
                  </a:ext>
                </a:extLst>
              </a:tr>
              <a:tr h="938380">
                <a:tc>
                  <a:txBody>
                    <a:bodyPr/>
                    <a:lstStyle/>
                    <a:p>
                      <a:pPr>
                        <a:lnSpc>
                          <a:spcPct val="107000"/>
                        </a:lnSpc>
                        <a:spcAft>
                          <a:spcPts val="800"/>
                        </a:spcAft>
                        <a:buNone/>
                      </a:pPr>
                      <a:r>
                        <a:rPr lang="en-IN" sz="1600" b="1" kern="0" dirty="0">
                          <a:solidFill>
                            <a:srgbClr val="FF0000"/>
                          </a:solidFill>
                          <a:effectLst/>
                          <a:latin typeface="Times New Roman" panose="02020603050405020304" pitchFamily="18" charset="0"/>
                          <a:ea typeface="Times New Roman" panose="02020603050405020304" pitchFamily="18" charset="0"/>
                          <a:cs typeface="Tunga" panose="020B0502040204020203" pitchFamily="34" charset="0"/>
                        </a:rPr>
                        <a:t>Nominal Scale</a:t>
                      </a:r>
                      <a:endParaRPr lang="en-IN" sz="1600" b="1" kern="100" dirty="0">
                        <a:solidFill>
                          <a:srgbClr val="FF0000"/>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rgbClr val="FF0000"/>
                          </a:solidFill>
                          <a:effectLst/>
                          <a:latin typeface="Times New Roman" panose="02020603050405020304" pitchFamily="18" charset="0"/>
                          <a:ea typeface="Times New Roman" panose="02020603050405020304" pitchFamily="18" charset="0"/>
                          <a:cs typeface="Tunga" panose="020B0502040204020203" pitchFamily="34" charset="0"/>
                        </a:rPr>
                        <a:t>Used for naming or categorizing</a:t>
                      </a:r>
                      <a:endParaRPr lang="en-IN" sz="1600" b="1" kern="100" dirty="0">
                        <a:solidFill>
                          <a:srgbClr val="FF0000"/>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rgbClr val="FF0000"/>
                          </a:solidFill>
                          <a:effectLst/>
                          <a:latin typeface="Times New Roman" panose="02020603050405020304" pitchFamily="18" charset="0"/>
                          <a:ea typeface="Times New Roman" panose="02020603050405020304" pitchFamily="18" charset="0"/>
                          <a:cs typeface="Tunga" panose="020B0502040204020203" pitchFamily="34" charset="0"/>
                        </a:rPr>
                        <a:t>No order, no ranking</a:t>
                      </a:r>
                      <a:endParaRPr lang="en-IN" sz="1600" b="1" kern="100" dirty="0">
                        <a:solidFill>
                          <a:srgbClr val="FF0000"/>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rgbClr val="FF0000"/>
                          </a:solidFill>
                          <a:effectLst/>
                          <a:latin typeface="Times New Roman" panose="02020603050405020304" pitchFamily="18" charset="0"/>
                          <a:ea typeface="Times New Roman" panose="02020603050405020304" pitchFamily="18" charset="0"/>
                          <a:cs typeface="Tunga" panose="020B0502040204020203" pitchFamily="34" charset="0"/>
                        </a:rPr>
                        <a:t>Gender (Male/Female), Department (HR, Finance, Marketing), Marital Status, Type of Bank Account, Brand Preference (Samsung, Apple, Vivo)</a:t>
                      </a:r>
                      <a:endParaRPr lang="en-IN" sz="1600" b="1" kern="100" dirty="0">
                        <a:solidFill>
                          <a:srgbClr val="FF0000"/>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328351547"/>
                  </a:ext>
                </a:extLst>
              </a:tr>
              <a:tr h="1296955">
                <a:tc>
                  <a:txBody>
                    <a:bodyPr/>
                    <a:lstStyle/>
                    <a:p>
                      <a:pPr>
                        <a:lnSpc>
                          <a:spcPct val="107000"/>
                        </a:lnSpc>
                        <a:spcAft>
                          <a:spcPts val="800"/>
                        </a:spcAft>
                        <a:buNone/>
                      </a:pPr>
                      <a:r>
                        <a:rPr lang="en-IN" sz="1600" b="1" kern="0" dirty="0">
                          <a:solidFill>
                            <a:schemeClr val="tx1"/>
                          </a:solidFill>
                          <a:effectLst/>
                          <a:latin typeface="Times New Roman" panose="02020603050405020304" pitchFamily="18" charset="0"/>
                          <a:ea typeface="Times New Roman" panose="02020603050405020304" pitchFamily="18" charset="0"/>
                          <a:cs typeface="Tunga" panose="020B0502040204020203" pitchFamily="34" charset="0"/>
                        </a:rPr>
                        <a:t>Ordinal Scale</a:t>
                      </a:r>
                      <a:endParaRPr lang="en-IN" sz="1600" b="1" kern="100" dirty="0">
                        <a:solidFill>
                          <a:schemeClr val="tx1"/>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tx1"/>
                          </a:solidFill>
                          <a:effectLst/>
                          <a:latin typeface="Times New Roman" panose="02020603050405020304" pitchFamily="18" charset="0"/>
                          <a:ea typeface="Times New Roman" panose="02020603050405020304" pitchFamily="18" charset="0"/>
                          <a:cs typeface="Tunga" panose="020B0502040204020203" pitchFamily="34" charset="0"/>
                        </a:rPr>
                        <a:t>Used for ranking or ordering</a:t>
                      </a:r>
                      <a:endParaRPr lang="en-IN" sz="1600" b="1" kern="100" dirty="0">
                        <a:solidFill>
                          <a:schemeClr val="tx1"/>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tx1"/>
                          </a:solidFill>
                          <a:effectLst/>
                          <a:latin typeface="Times New Roman" panose="02020603050405020304" pitchFamily="18" charset="0"/>
                          <a:ea typeface="Times New Roman" panose="02020603050405020304" pitchFamily="18" charset="0"/>
                          <a:cs typeface="Tunga" panose="020B0502040204020203" pitchFamily="34" charset="0"/>
                        </a:rPr>
                        <a:t>Order exists, but differences are not equal</a:t>
                      </a:r>
                      <a:endParaRPr lang="en-IN" sz="1600" b="1" kern="100" dirty="0">
                        <a:solidFill>
                          <a:schemeClr val="tx1"/>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tx1"/>
                          </a:solidFill>
                          <a:effectLst/>
                          <a:latin typeface="Times New Roman" panose="02020603050405020304" pitchFamily="18" charset="0"/>
                          <a:ea typeface="Times New Roman" panose="02020603050405020304" pitchFamily="18" charset="0"/>
                          <a:cs typeface="Tunga" panose="020B0502040204020203" pitchFamily="34" charset="0"/>
                        </a:rPr>
                        <a:t>Customer Satisfaction (Very Dissatisfied to Very Satisfied), Employee Performance Rating (Poor, Average, Good, Excellent), Class Rank, Socio-economic Status (Low, Middle, High)</a:t>
                      </a:r>
                      <a:endParaRPr lang="en-IN" sz="1600" b="1" kern="100" dirty="0">
                        <a:solidFill>
                          <a:schemeClr val="tx1"/>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402127645"/>
                  </a:ext>
                </a:extLst>
              </a:tr>
              <a:tr h="951723">
                <a:tc>
                  <a:txBody>
                    <a:bodyPr/>
                    <a:lstStyle/>
                    <a:p>
                      <a:pPr>
                        <a:lnSpc>
                          <a:spcPct val="107000"/>
                        </a:lnSpc>
                        <a:spcAft>
                          <a:spcPts val="800"/>
                        </a:spcAft>
                        <a:buNone/>
                      </a:pPr>
                      <a:r>
                        <a:rPr lang="en-IN" sz="1600" b="1" kern="0" dirty="0">
                          <a:solidFill>
                            <a:schemeClr val="accent5"/>
                          </a:solidFill>
                          <a:effectLst/>
                          <a:latin typeface="Times New Roman" panose="02020603050405020304" pitchFamily="18" charset="0"/>
                          <a:ea typeface="Times New Roman" panose="02020603050405020304" pitchFamily="18" charset="0"/>
                          <a:cs typeface="Tunga" panose="020B0502040204020203" pitchFamily="34" charset="0"/>
                        </a:rPr>
                        <a:t>Interval Scale</a:t>
                      </a:r>
                      <a:endParaRPr lang="en-IN" sz="1600" b="1" kern="100" dirty="0">
                        <a:solidFill>
                          <a:schemeClr val="accent5"/>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5"/>
                          </a:solidFill>
                          <a:effectLst/>
                          <a:latin typeface="Times New Roman" panose="02020603050405020304" pitchFamily="18" charset="0"/>
                          <a:ea typeface="Times New Roman" panose="02020603050405020304" pitchFamily="18" charset="0"/>
                          <a:cs typeface="Tunga" panose="020B0502040204020203" pitchFamily="34" charset="0"/>
                        </a:rPr>
                        <a:t>Ordered with equal intervals, but no true zero</a:t>
                      </a:r>
                      <a:endParaRPr lang="en-IN" sz="1600" b="1" kern="100" dirty="0">
                        <a:solidFill>
                          <a:schemeClr val="accent5"/>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5"/>
                          </a:solidFill>
                          <a:effectLst/>
                          <a:latin typeface="Times New Roman" panose="02020603050405020304" pitchFamily="18" charset="0"/>
                          <a:ea typeface="Times New Roman" panose="02020603050405020304" pitchFamily="18" charset="0"/>
                          <a:cs typeface="Tunga" panose="020B0502040204020203" pitchFamily="34" charset="0"/>
                        </a:rPr>
                        <a:t>Addition and subtraction possible</a:t>
                      </a:r>
                      <a:endParaRPr lang="en-IN" sz="1600" b="1" kern="100" dirty="0">
                        <a:solidFill>
                          <a:schemeClr val="accent5"/>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5"/>
                          </a:solidFill>
                          <a:effectLst/>
                          <a:latin typeface="Times New Roman" panose="02020603050405020304" pitchFamily="18" charset="0"/>
                          <a:ea typeface="Times New Roman" panose="02020603050405020304" pitchFamily="18" charset="0"/>
                          <a:cs typeface="Tunga" panose="020B0502040204020203" pitchFamily="34" charset="0"/>
                        </a:rPr>
                        <a:t>Temperature (°C, °F), IQ Score, Calendar Years (2023, 2024, 2025), Employee Attitude Scores from standardized scales</a:t>
                      </a:r>
                      <a:endParaRPr lang="en-IN" sz="1600" b="1" kern="100" dirty="0">
                        <a:solidFill>
                          <a:schemeClr val="accent5"/>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1731999045"/>
                  </a:ext>
                </a:extLst>
              </a:tr>
              <a:tr h="1599076">
                <a:tc>
                  <a:txBody>
                    <a:bodyPr/>
                    <a:lstStyle/>
                    <a:p>
                      <a:pPr>
                        <a:lnSpc>
                          <a:spcPct val="107000"/>
                        </a:lnSpc>
                        <a:spcAft>
                          <a:spcPts val="800"/>
                        </a:spcAft>
                        <a:buNone/>
                      </a:pPr>
                      <a:r>
                        <a:rPr lang="en-IN" sz="1600" b="1" kern="0" dirty="0">
                          <a:solidFill>
                            <a:schemeClr val="accent6"/>
                          </a:solidFill>
                          <a:effectLst/>
                          <a:latin typeface="Times New Roman" panose="02020603050405020304" pitchFamily="18" charset="0"/>
                          <a:ea typeface="Times New Roman" panose="02020603050405020304" pitchFamily="18" charset="0"/>
                          <a:cs typeface="Tunga" panose="020B0502040204020203" pitchFamily="34" charset="0"/>
                        </a:rPr>
                        <a:t>Ratio Scale</a:t>
                      </a:r>
                      <a:endParaRPr lang="en-IN" sz="1600" b="1" kern="100" dirty="0">
                        <a:solidFill>
                          <a:schemeClr val="accent6"/>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6"/>
                          </a:solidFill>
                          <a:effectLst/>
                          <a:latin typeface="Times New Roman" panose="02020603050405020304" pitchFamily="18" charset="0"/>
                          <a:ea typeface="Times New Roman" panose="02020603050405020304" pitchFamily="18" charset="0"/>
                          <a:cs typeface="Tunga" panose="020B0502040204020203" pitchFamily="34" charset="0"/>
                        </a:rPr>
                        <a:t>Ordered with equal intervals and a true zero</a:t>
                      </a:r>
                      <a:endParaRPr lang="en-IN" sz="1600" b="1" kern="100" dirty="0">
                        <a:solidFill>
                          <a:schemeClr val="accent6"/>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6"/>
                          </a:solidFill>
                          <a:effectLst/>
                          <a:latin typeface="Times New Roman" panose="02020603050405020304" pitchFamily="18" charset="0"/>
                          <a:ea typeface="Times New Roman" panose="02020603050405020304" pitchFamily="18" charset="0"/>
                          <a:cs typeface="Tunga" panose="020B0502040204020203" pitchFamily="34" charset="0"/>
                        </a:rPr>
                        <a:t>    All mathematical operations possible</a:t>
                      </a:r>
                      <a:endParaRPr lang="en-IN" sz="1600" b="1" kern="100" dirty="0">
                        <a:solidFill>
                          <a:schemeClr val="accent6"/>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tc>
                  <a:txBody>
                    <a:bodyPr/>
                    <a:lstStyle/>
                    <a:p>
                      <a:pPr>
                        <a:lnSpc>
                          <a:spcPct val="107000"/>
                        </a:lnSpc>
                        <a:spcAft>
                          <a:spcPts val="800"/>
                        </a:spcAft>
                        <a:buNone/>
                      </a:pPr>
                      <a:r>
                        <a:rPr lang="en-IN" sz="1600" b="1" kern="0" dirty="0">
                          <a:solidFill>
                            <a:schemeClr val="accent6"/>
                          </a:solidFill>
                          <a:effectLst/>
                          <a:latin typeface="Times New Roman" panose="02020603050405020304" pitchFamily="18" charset="0"/>
                          <a:ea typeface="Times New Roman" panose="02020603050405020304" pitchFamily="18" charset="0"/>
                          <a:cs typeface="Tunga" panose="020B0502040204020203" pitchFamily="34" charset="0"/>
                        </a:rPr>
                        <a:t>Salary, Sales Revenue, Profit, Number of Employees, Age, Working Hours, Production Units, Market Share (%)</a:t>
                      </a:r>
                      <a:endParaRPr lang="en-IN" sz="1600" b="1" kern="100" dirty="0">
                        <a:solidFill>
                          <a:schemeClr val="accent6"/>
                        </a:solidFill>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lnL>
                      <a:noFill/>
                    </a:lnL>
                    <a:lnR>
                      <a:noFill/>
                    </a:lnR>
                    <a:lnT>
                      <a:noFill/>
                    </a:lnT>
                    <a:lnB>
                      <a:noFill/>
                    </a:lnB>
                    <a:noFill/>
                  </a:tcPr>
                </a:tc>
                <a:extLst>
                  <a:ext uri="{0D108BD9-81ED-4DB2-BD59-A6C34878D82A}">
                    <a16:rowId xmlns:a16="http://schemas.microsoft.com/office/drawing/2014/main" val="3561598083"/>
                  </a:ext>
                </a:extLst>
              </a:tr>
            </a:tbl>
          </a:graphicData>
        </a:graphic>
      </p:graphicFrame>
    </p:spTree>
    <p:extLst>
      <p:ext uri="{BB962C8B-B14F-4D97-AF65-F5344CB8AC3E}">
        <p14:creationId xmlns:p14="http://schemas.microsoft.com/office/powerpoint/2010/main" val="11181225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C3ED1F-8ED3-7073-282C-373730E122E1}"/>
              </a:ext>
            </a:extLst>
          </p:cNvPr>
          <p:cNvSpPr>
            <a:spLocks noGrp="1"/>
          </p:cNvSpPr>
          <p:nvPr>
            <p:ph type="title"/>
          </p:nvPr>
        </p:nvSpPr>
        <p:spPr>
          <a:xfrm>
            <a:off x="838200" y="103867"/>
            <a:ext cx="10515600" cy="707895"/>
          </a:xfrm>
        </p:spPr>
        <p:txBody>
          <a:bodyPr/>
          <a:lstStyle/>
          <a:p>
            <a:r>
              <a:rPr lang="en-US" dirty="0"/>
              <a:t>Questionnaire based on scales</a:t>
            </a:r>
            <a:endParaRPr lang="en-IN" dirty="0"/>
          </a:p>
        </p:txBody>
      </p:sp>
      <p:sp>
        <p:nvSpPr>
          <p:cNvPr id="5" name="TextBox 4">
            <a:extLst>
              <a:ext uri="{FF2B5EF4-FFF2-40B4-BE49-F238E27FC236}">
                <a16:creationId xmlns:a16="http://schemas.microsoft.com/office/drawing/2014/main" id="{B14F6384-ED70-AD6B-D2B2-DA0D492A7300}"/>
              </a:ext>
            </a:extLst>
          </p:cNvPr>
          <p:cNvSpPr txBox="1"/>
          <p:nvPr/>
        </p:nvSpPr>
        <p:spPr>
          <a:xfrm>
            <a:off x="363894" y="901777"/>
            <a:ext cx="5122506" cy="2677656"/>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1. </a:t>
            </a:r>
            <a:r>
              <a:rPr lang="en-US" sz="2400" b="1" dirty="0">
                <a:solidFill>
                  <a:srgbClr val="FF0000"/>
                </a:solidFill>
                <a:latin typeface="Times New Roman" panose="02020603050405020304" pitchFamily="18" charset="0"/>
                <a:cs typeface="Times New Roman" panose="02020603050405020304" pitchFamily="18" charset="0"/>
              </a:rPr>
              <a:t>Nominal Scale Question:</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Which specialization have you chosen?</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Finance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Marketing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HR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Operations </a:t>
            </a:r>
          </a:p>
          <a:p>
            <a:pPr>
              <a:buNone/>
            </a:pPr>
            <a:r>
              <a:rPr lang="en-US" sz="2400" dirty="0">
                <a:latin typeface="Times New Roman" panose="02020603050405020304" pitchFamily="18" charset="0"/>
                <a:cs typeface="Times New Roman" panose="02020603050405020304" pitchFamily="18" charset="0"/>
              </a:rPr>
              <a:t>👉 Only classification; no ranking.</a:t>
            </a:r>
          </a:p>
        </p:txBody>
      </p:sp>
      <p:sp>
        <p:nvSpPr>
          <p:cNvPr id="7" name="TextBox 6">
            <a:extLst>
              <a:ext uri="{FF2B5EF4-FFF2-40B4-BE49-F238E27FC236}">
                <a16:creationId xmlns:a16="http://schemas.microsoft.com/office/drawing/2014/main" id="{C8F3486E-B5C0-873C-48A3-428C319C16E2}"/>
              </a:ext>
            </a:extLst>
          </p:cNvPr>
          <p:cNvSpPr txBox="1"/>
          <p:nvPr/>
        </p:nvSpPr>
        <p:spPr>
          <a:xfrm>
            <a:off x="5866624" y="858044"/>
            <a:ext cx="6097554" cy="3416320"/>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2. Ordinal Scale Question:</a:t>
            </a:r>
            <a:endParaRPr lang="en-US" sz="2400" dirty="0">
              <a:latin typeface="Times New Roman" panose="02020603050405020304" pitchFamily="18" charset="0"/>
              <a:cs typeface="Times New Roman" panose="02020603050405020304" pitchFamily="18" charset="0"/>
            </a:endParaRPr>
          </a:p>
          <a:p>
            <a:pPr>
              <a:buNone/>
            </a:pPr>
            <a:r>
              <a:rPr lang="en-US" sz="2400" dirty="0">
                <a:latin typeface="Times New Roman" panose="02020603050405020304" pitchFamily="18" charset="0"/>
                <a:cs typeface="Times New Roman" panose="02020603050405020304" pitchFamily="18" charset="0"/>
              </a:rPr>
              <a:t> Rate the quality of college facilities.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Poor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Fair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Good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Very Good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Excellent </a:t>
            </a:r>
          </a:p>
          <a:p>
            <a:pPr>
              <a:buNone/>
            </a:pPr>
            <a:r>
              <a:rPr lang="en-US" sz="2400" dirty="0">
                <a:latin typeface="Times New Roman" panose="02020603050405020304" pitchFamily="18" charset="0"/>
                <a:cs typeface="Times New Roman" panose="02020603050405020304" pitchFamily="18" charset="0"/>
              </a:rPr>
              <a:t>👉 Rankings exist, but the gap between Good and Very Good is not exactly measurable.</a:t>
            </a:r>
          </a:p>
        </p:txBody>
      </p:sp>
      <p:sp>
        <p:nvSpPr>
          <p:cNvPr id="9" name="TextBox 8">
            <a:extLst>
              <a:ext uri="{FF2B5EF4-FFF2-40B4-BE49-F238E27FC236}">
                <a16:creationId xmlns:a16="http://schemas.microsoft.com/office/drawing/2014/main" id="{BA1AE56E-CC14-E408-BC80-295703A22BA1}"/>
              </a:ext>
            </a:extLst>
          </p:cNvPr>
          <p:cNvSpPr txBox="1"/>
          <p:nvPr/>
        </p:nvSpPr>
        <p:spPr>
          <a:xfrm>
            <a:off x="227822" y="3878242"/>
            <a:ext cx="5753103" cy="3046988"/>
          </a:xfrm>
          <a:prstGeom prst="rect">
            <a:avLst/>
          </a:prstGeom>
          <a:noFill/>
        </p:spPr>
        <p:txBody>
          <a:bodyPr wrap="square">
            <a:spAutoFit/>
          </a:bodyPr>
          <a:lstStyle/>
          <a:p>
            <a:pPr>
              <a:buNone/>
            </a:pPr>
            <a:r>
              <a:rPr lang="en-US" sz="2400" b="1" dirty="0">
                <a:solidFill>
                  <a:schemeClr val="accent5"/>
                </a:solidFill>
                <a:latin typeface="Times New Roman" panose="02020603050405020304" pitchFamily="18" charset="0"/>
                <a:cs typeface="Times New Roman" panose="02020603050405020304" pitchFamily="18" charset="0"/>
              </a:rPr>
              <a:t>3</a:t>
            </a:r>
            <a:r>
              <a:rPr lang="en-US" sz="2400" b="1" dirty="0">
                <a:solidFill>
                  <a:srgbClr val="002060"/>
                </a:solidFill>
                <a:latin typeface="Times New Roman" panose="02020603050405020304" pitchFamily="18" charset="0"/>
                <a:cs typeface="Times New Roman" panose="02020603050405020304" pitchFamily="18" charset="0"/>
              </a:rPr>
              <a:t>. Interval Scale Question:</a:t>
            </a:r>
          </a:p>
          <a:p>
            <a:pPr>
              <a:buNone/>
            </a:pPr>
            <a:r>
              <a:rPr lang="en-US" sz="2400" dirty="0">
                <a:latin typeface="Times New Roman" panose="02020603050405020304" pitchFamily="18" charset="0"/>
                <a:cs typeface="Times New Roman" panose="02020603050405020304" pitchFamily="18" charset="0"/>
              </a:rPr>
              <a:t> Office temperature today:</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20°C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25°C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30°C </a:t>
            </a:r>
          </a:p>
          <a:p>
            <a:pPr>
              <a:buNone/>
            </a:pPr>
            <a:r>
              <a:rPr lang="en-US" sz="2400" dirty="0">
                <a:latin typeface="Times New Roman" panose="02020603050405020304" pitchFamily="18" charset="0"/>
                <a:cs typeface="Times New Roman" panose="02020603050405020304" pitchFamily="18" charset="0"/>
              </a:rPr>
              <a:t>👉 Difference between 20°C and 25°C is same as between 25°C and 30°C, but 0°C does not mean "no temperature."</a:t>
            </a:r>
          </a:p>
        </p:txBody>
      </p:sp>
      <p:sp>
        <p:nvSpPr>
          <p:cNvPr id="11" name="TextBox 10">
            <a:extLst>
              <a:ext uri="{FF2B5EF4-FFF2-40B4-BE49-F238E27FC236}">
                <a16:creationId xmlns:a16="http://schemas.microsoft.com/office/drawing/2014/main" id="{9AD3392A-38B1-EF52-A3FC-39DF002870BF}"/>
              </a:ext>
            </a:extLst>
          </p:cNvPr>
          <p:cNvSpPr txBox="1"/>
          <p:nvPr/>
        </p:nvSpPr>
        <p:spPr>
          <a:xfrm>
            <a:off x="5980926" y="4189444"/>
            <a:ext cx="6011246" cy="2677656"/>
          </a:xfrm>
          <a:prstGeom prst="rect">
            <a:avLst/>
          </a:prstGeom>
          <a:noFill/>
        </p:spPr>
        <p:txBody>
          <a:bodyPr wrap="square">
            <a:spAutoFit/>
          </a:bodyPr>
          <a:lstStyle/>
          <a:p>
            <a:pPr>
              <a:buNone/>
            </a:pPr>
            <a:r>
              <a:rPr lang="en-US" sz="2400" b="1" dirty="0">
                <a:solidFill>
                  <a:schemeClr val="accent6">
                    <a:lumMod val="50000"/>
                  </a:schemeClr>
                </a:solidFill>
                <a:latin typeface="Times New Roman" panose="02020603050405020304" pitchFamily="18" charset="0"/>
                <a:cs typeface="Times New Roman" panose="02020603050405020304" pitchFamily="18" charset="0"/>
              </a:rPr>
              <a:t>4. </a:t>
            </a:r>
            <a:r>
              <a:rPr lang="en-US" sz="2400" b="1" dirty="0">
                <a:solidFill>
                  <a:srgbClr val="00B050"/>
                </a:solidFill>
                <a:latin typeface="Times New Roman" panose="02020603050405020304" pitchFamily="18" charset="0"/>
                <a:cs typeface="Times New Roman" panose="02020603050405020304" pitchFamily="18" charset="0"/>
              </a:rPr>
              <a:t>Ratio Scale Question:</a:t>
            </a:r>
          </a:p>
          <a:p>
            <a:pPr>
              <a:buNone/>
            </a:pPr>
            <a:r>
              <a:rPr lang="en-US" sz="2400" dirty="0">
                <a:latin typeface="Times New Roman" panose="02020603050405020304" pitchFamily="18" charset="0"/>
                <a:cs typeface="Times New Roman" panose="02020603050405020304" pitchFamily="18" charset="0"/>
              </a:rPr>
              <a:t> Monthly salary of employees.</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₹20,000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₹40,000 </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₹60,000 </a:t>
            </a:r>
          </a:p>
          <a:p>
            <a:pPr>
              <a:buNone/>
            </a:pPr>
            <a:r>
              <a:rPr lang="en-US" sz="2400" dirty="0">
                <a:latin typeface="Times New Roman" panose="02020603050405020304" pitchFamily="18" charset="0"/>
                <a:cs typeface="Times New Roman" panose="02020603050405020304" pitchFamily="18" charset="0"/>
              </a:rPr>
              <a:t>👉 ₹40,000 is exactly twice ₹20,000, and ₹0 means no salary.</a:t>
            </a:r>
          </a:p>
        </p:txBody>
      </p:sp>
    </p:spTree>
    <p:extLst>
      <p:ext uri="{BB962C8B-B14F-4D97-AF65-F5344CB8AC3E}">
        <p14:creationId xmlns:p14="http://schemas.microsoft.com/office/powerpoint/2010/main" val="31731280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  Attitude Measurement scales.</a:t>
            </a:r>
          </a:p>
        </p:txBody>
      </p:sp>
      <p:sp>
        <p:nvSpPr>
          <p:cNvPr id="3" name="Content Placeholder 2"/>
          <p:cNvSpPr>
            <a:spLocks noGrp="1"/>
          </p:cNvSpPr>
          <p:nvPr>
            <p:ph idx="1"/>
          </p:nvPr>
        </p:nvSpPr>
        <p:spPr/>
        <p:txBody>
          <a:bodyPr/>
          <a:lstStyle/>
          <a:p>
            <a:pPr marL="0" indent="0">
              <a:buNone/>
            </a:pPr>
            <a:r>
              <a:rPr lang="en-IN" dirty="0"/>
              <a:t>Attitude measurement scale – </a:t>
            </a:r>
          </a:p>
          <a:p>
            <a:pPr marL="514350" indent="-514350">
              <a:buAutoNum type="arabicPeriod"/>
            </a:pPr>
            <a:r>
              <a:rPr lang="en-IN" dirty="0" err="1"/>
              <a:t>Likert’s</a:t>
            </a:r>
            <a:r>
              <a:rPr lang="en-IN" dirty="0"/>
              <a:t> Scale</a:t>
            </a:r>
          </a:p>
          <a:p>
            <a:pPr marL="514350" indent="-514350">
              <a:buAutoNum type="arabicPeriod"/>
            </a:pPr>
            <a:r>
              <a:rPr lang="en-IN" dirty="0"/>
              <a:t>Semantic Differential Scale</a:t>
            </a:r>
          </a:p>
          <a:p>
            <a:pPr marL="514350" indent="-514350">
              <a:buAutoNum type="arabicPeriod"/>
            </a:pPr>
            <a:r>
              <a:rPr lang="en-IN" dirty="0"/>
              <a:t>Thurston scale,</a:t>
            </a:r>
          </a:p>
          <a:p>
            <a:pPr marL="0" indent="0">
              <a:buNone/>
            </a:pPr>
            <a:endParaRPr lang="en-IN" dirty="0"/>
          </a:p>
        </p:txBody>
      </p:sp>
    </p:spTree>
    <p:extLst>
      <p:ext uri="{BB962C8B-B14F-4D97-AF65-F5344CB8AC3E}">
        <p14:creationId xmlns:p14="http://schemas.microsoft.com/office/powerpoint/2010/main" val="121769694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2B728-5FD3-1E34-D9C4-36EFA50FB99D}"/>
              </a:ext>
            </a:extLst>
          </p:cNvPr>
          <p:cNvSpPr>
            <a:spLocks noGrp="1"/>
          </p:cNvSpPr>
          <p:nvPr>
            <p:ph type="title"/>
          </p:nvPr>
        </p:nvSpPr>
        <p:spPr>
          <a:xfrm>
            <a:off x="838200" y="365125"/>
            <a:ext cx="10515600" cy="847855"/>
          </a:xfrm>
        </p:spPr>
        <p:txBody>
          <a:bodyPr/>
          <a:lstStyle/>
          <a:p>
            <a:r>
              <a:rPr lang="en-US" dirty="0">
                <a:latin typeface="Times New Roman" panose="02020603050405020304" pitchFamily="18" charset="0"/>
                <a:cs typeface="Times New Roman" panose="02020603050405020304" pitchFamily="18" charset="0"/>
              </a:rPr>
              <a:t>What is Likert scale?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EA8A90E-2E11-0394-01BC-74128A73EC20}"/>
              </a:ext>
            </a:extLst>
          </p:cNvPr>
          <p:cNvSpPr>
            <a:spLocks noGrp="1"/>
          </p:cNvSpPr>
          <p:nvPr>
            <p:ph idx="1"/>
          </p:nvPr>
        </p:nvSpPr>
        <p:spPr>
          <a:xfrm>
            <a:off x="838200" y="1212980"/>
            <a:ext cx="7058705" cy="4963983"/>
          </a:xfrm>
        </p:spPr>
        <p:txBody>
          <a:bodyPr>
            <a:normAutofit fontScale="85000" lnSpcReduction="10000"/>
          </a:bodyPr>
          <a:lstStyle/>
          <a:p>
            <a:pPr algn="just">
              <a:lnSpc>
                <a:spcPct val="110000"/>
              </a:lnSpc>
            </a:pPr>
            <a:r>
              <a:rPr lang="en-US" sz="3000" dirty="0">
                <a:latin typeface="Times New Roman" panose="02020603050405020304" pitchFamily="18" charset="0"/>
                <a:cs typeface="Times New Roman" panose="02020603050405020304" pitchFamily="18" charset="0"/>
              </a:rPr>
              <a:t>The Likert scale was invented by American social psychologist </a:t>
            </a:r>
            <a:r>
              <a:rPr lang="en-US" sz="3000" b="1" dirty="0" err="1">
                <a:latin typeface="Times New Roman" panose="02020603050405020304" pitchFamily="18" charset="0"/>
                <a:cs typeface="Times New Roman" panose="02020603050405020304" pitchFamily="18" charset="0"/>
              </a:rPr>
              <a:t>Rensis</a:t>
            </a:r>
            <a:r>
              <a:rPr lang="en-US" sz="3000" b="1" dirty="0">
                <a:latin typeface="Times New Roman" panose="02020603050405020304" pitchFamily="18" charset="0"/>
                <a:cs typeface="Times New Roman" panose="02020603050405020304" pitchFamily="18" charset="0"/>
              </a:rPr>
              <a:t> Likert</a:t>
            </a:r>
            <a:r>
              <a:rPr lang="en-US" sz="3000" dirty="0">
                <a:latin typeface="Times New Roman" panose="02020603050405020304" pitchFamily="18" charset="0"/>
                <a:cs typeface="Times New Roman" panose="02020603050405020304" pitchFamily="18" charset="0"/>
              </a:rPr>
              <a:t>. He developed the psychometric scale in 1932 as part of his doctoral dissertation at Columbia University. </a:t>
            </a:r>
          </a:p>
          <a:p>
            <a:pPr algn="just">
              <a:lnSpc>
                <a:spcPct val="110000"/>
              </a:lnSpc>
            </a:pPr>
            <a:r>
              <a:rPr lang="en-US" sz="3000" dirty="0">
                <a:latin typeface="Times New Roman" panose="02020603050405020304" pitchFamily="18" charset="0"/>
                <a:cs typeface="Times New Roman" panose="02020603050405020304" pitchFamily="18" charset="0"/>
              </a:rPr>
              <a:t>A </a:t>
            </a:r>
            <a:r>
              <a:rPr lang="en-US" sz="3000" b="1" dirty="0">
                <a:latin typeface="Times New Roman" panose="02020603050405020304" pitchFamily="18" charset="0"/>
                <a:cs typeface="Times New Roman" panose="02020603050405020304" pitchFamily="18" charset="0"/>
              </a:rPr>
              <a:t>Likert scale</a:t>
            </a:r>
            <a:r>
              <a:rPr lang="en-US" sz="3000" dirty="0">
                <a:latin typeface="Times New Roman" panose="02020603050405020304" pitchFamily="18" charset="0"/>
                <a:cs typeface="Times New Roman" panose="02020603050405020304" pitchFamily="18" charset="0"/>
              </a:rPr>
              <a:t> is a psychometric rating scale commonly used in surveys to measure people's attitudes, opinions, or behaviors. Instead of a simple "yes" or "no," respondents choose from a graduated range of options (e.g., from "strongly disagree" to "strongly agree") to indicate the intensity of their feelings. </a:t>
            </a:r>
            <a:endParaRPr lang="en-US" sz="3000" b="1" dirty="0">
              <a:latin typeface="Times New Roman" panose="02020603050405020304" pitchFamily="18" charset="0"/>
              <a:cs typeface="Times New Roman" panose="02020603050405020304" pitchFamily="18" charset="0"/>
            </a:endParaRPr>
          </a:p>
          <a:p>
            <a:pPr algn="just"/>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7158C75-E26D-5DED-AAED-76C8822755BA}"/>
              </a:ext>
            </a:extLst>
          </p:cNvPr>
          <p:cNvPicPr>
            <a:picLocks noChangeAspect="1"/>
          </p:cNvPicPr>
          <p:nvPr/>
        </p:nvPicPr>
        <p:blipFill>
          <a:blip r:embed="rId2"/>
          <a:stretch>
            <a:fillRect/>
          </a:stretch>
        </p:blipFill>
        <p:spPr>
          <a:xfrm>
            <a:off x="8309007" y="789052"/>
            <a:ext cx="3456895" cy="3503400"/>
          </a:xfrm>
          <a:prstGeom prst="rect">
            <a:avLst/>
          </a:prstGeom>
        </p:spPr>
      </p:pic>
      <p:sp>
        <p:nvSpPr>
          <p:cNvPr id="10" name="TextBox 9">
            <a:extLst>
              <a:ext uri="{FF2B5EF4-FFF2-40B4-BE49-F238E27FC236}">
                <a16:creationId xmlns:a16="http://schemas.microsoft.com/office/drawing/2014/main" id="{7D383D84-5ABE-E049-DB4A-0D7EFECF158F}"/>
              </a:ext>
            </a:extLst>
          </p:cNvPr>
          <p:cNvSpPr txBox="1"/>
          <p:nvPr/>
        </p:nvSpPr>
        <p:spPr>
          <a:xfrm>
            <a:off x="8432543" y="4373337"/>
            <a:ext cx="1364603" cy="369332"/>
          </a:xfrm>
          <a:prstGeom prst="rect">
            <a:avLst/>
          </a:prstGeom>
          <a:noFill/>
        </p:spPr>
        <p:txBody>
          <a:bodyPr wrap="square">
            <a:spAutoFit/>
          </a:bodyPr>
          <a:lstStyle/>
          <a:p>
            <a:r>
              <a:rPr lang="en-IN" dirty="0" err="1"/>
              <a:t>Rensis</a:t>
            </a:r>
            <a:r>
              <a:rPr lang="en-IN" dirty="0"/>
              <a:t> Likert</a:t>
            </a:r>
          </a:p>
        </p:txBody>
      </p:sp>
      <p:sp>
        <p:nvSpPr>
          <p:cNvPr id="12" name="TextBox 11">
            <a:extLst>
              <a:ext uri="{FF2B5EF4-FFF2-40B4-BE49-F238E27FC236}">
                <a16:creationId xmlns:a16="http://schemas.microsoft.com/office/drawing/2014/main" id="{89A3C2D3-0662-2211-35E2-78273C730234}"/>
              </a:ext>
            </a:extLst>
          </p:cNvPr>
          <p:cNvSpPr txBox="1"/>
          <p:nvPr/>
        </p:nvSpPr>
        <p:spPr>
          <a:xfrm>
            <a:off x="9794809" y="4382665"/>
            <a:ext cx="1276059" cy="369332"/>
          </a:xfrm>
          <a:prstGeom prst="rect">
            <a:avLst/>
          </a:prstGeom>
          <a:noFill/>
        </p:spPr>
        <p:txBody>
          <a:bodyPr wrap="square">
            <a:spAutoFit/>
          </a:bodyPr>
          <a:lstStyle/>
          <a:p>
            <a:r>
              <a:rPr lang="en-IN" dirty="0"/>
              <a:t>1903-1981</a:t>
            </a:r>
          </a:p>
        </p:txBody>
      </p:sp>
    </p:spTree>
    <p:extLst>
      <p:ext uri="{BB962C8B-B14F-4D97-AF65-F5344CB8AC3E}">
        <p14:creationId xmlns:p14="http://schemas.microsoft.com/office/powerpoint/2010/main" val="31235081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a:t>
            </a:r>
            <a:r>
              <a:rPr lang="en-IN" dirty="0" err="1"/>
              <a:t>Likert’s</a:t>
            </a:r>
            <a:r>
              <a:rPr lang="en-IN" dirty="0"/>
              <a:t> scale</a:t>
            </a:r>
          </a:p>
        </p:txBody>
      </p:sp>
      <p:sp>
        <p:nvSpPr>
          <p:cNvPr id="3" name="Content Placeholder 2"/>
          <p:cNvSpPr>
            <a:spLocks noGrp="1"/>
          </p:cNvSpPr>
          <p:nvPr>
            <p:ph idx="1"/>
          </p:nvPr>
        </p:nvSpPr>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A Likert scale is a unidimensional scale that researchers use to collect respondents’ attitudes and opinions. Researchers often use this psychometric scale to understand the views and perspectives towards a brand, product, or target market.</a:t>
            </a:r>
          </a:p>
          <a:p>
            <a:r>
              <a:rPr lang="en-US" b="1" dirty="0"/>
              <a:t>Types of Likert Scales</a:t>
            </a:r>
            <a:endParaRPr lang="en-US" dirty="0"/>
          </a:p>
          <a:p>
            <a:r>
              <a:rPr lang="en-US" dirty="0"/>
              <a:t>The </a:t>
            </a:r>
            <a:r>
              <a:rPr lang="en-US" b="1" dirty="0"/>
              <a:t>Likert Scale</a:t>
            </a:r>
            <a:r>
              <a:rPr lang="en-US" dirty="0"/>
              <a:t> has become a favorite among researchers to collect opinions about customer satisfaction or employee experience. You can divide this scale primarily into two major types:</a:t>
            </a:r>
          </a:p>
          <a:p>
            <a:r>
              <a:rPr lang="en-US" dirty="0"/>
              <a:t>Even Likert Scale.</a:t>
            </a:r>
          </a:p>
          <a:p>
            <a:r>
              <a:rPr lang="en-US" dirty="0"/>
              <a:t>Odd Likert Scale.</a:t>
            </a:r>
          </a:p>
          <a:p>
            <a:pPr marL="0" indent="0" algn="just">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6724727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777"/>
          </a:xfrm>
        </p:spPr>
        <p:txBody>
          <a:bodyPr>
            <a:normAutofit fontScale="90000"/>
          </a:bodyPr>
          <a:lstStyle/>
          <a:p>
            <a:r>
              <a:rPr lang="en-IN" dirty="0"/>
              <a:t>a. Even </a:t>
            </a:r>
            <a:r>
              <a:rPr lang="en-IN" dirty="0" err="1"/>
              <a:t>Likert</a:t>
            </a:r>
            <a:r>
              <a:rPr lang="en-IN" dirty="0"/>
              <a:t> Scale</a:t>
            </a:r>
          </a:p>
        </p:txBody>
      </p:sp>
      <p:sp>
        <p:nvSpPr>
          <p:cNvPr id="3" name="Content Placeholder 2"/>
          <p:cNvSpPr>
            <a:spLocks noGrp="1"/>
          </p:cNvSpPr>
          <p:nvPr>
            <p:ph idx="1"/>
          </p:nvPr>
        </p:nvSpPr>
        <p:spPr>
          <a:xfrm>
            <a:off x="838200" y="980902"/>
            <a:ext cx="10515600" cy="5196061"/>
          </a:xfrm>
        </p:spPr>
        <p:txBody>
          <a:bodyPr/>
          <a:lstStyle/>
          <a:p>
            <a:pPr marL="0" indent="0">
              <a:buNone/>
            </a:pPr>
            <a:r>
              <a:rPr lang="en-US" dirty="0"/>
              <a:t>Researchers use even </a:t>
            </a:r>
            <a:r>
              <a:rPr lang="en-US" dirty="0" err="1"/>
              <a:t>Likert</a:t>
            </a:r>
            <a:r>
              <a:rPr lang="en-US" dirty="0"/>
              <a:t> scales to collect extreme feedback without providing a neutral option.</a:t>
            </a:r>
          </a:p>
          <a:p>
            <a:pPr marL="0" indent="0">
              <a:buNone/>
            </a:pPr>
            <a:r>
              <a:rPr lang="en-US" dirty="0"/>
              <a:t>4-Point </a:t>
            </a:r>
            <a:r>
              <a:rPr lang="en-US" dirty="0" err="1"/>
              <a:t>Likert</a:t>
            </a:r>
            <a:r>
              <a:rPr lang="en-US" dirty="0"/>
              <a:t> Scale for importance: This type of </a:t>
            </a:r>
            <a:r>
              <a:rPr lang="en-US" dirty="0" err="1"/>
              <a:t>Likert</a:t>
            </a:r>
            <a:r>
              <a:rPr lang="en-US" dirty="0"/>
              <a:t> scale allows researchers to include four extreme options without a neutral choice. Here the various degrees of importance are represented in a 4-Point </a:t>
            </a:r>
            <a:r>
              <a:rPr lang="en-US" dirty="0" err="1"/>
              <a:t>Likert</a:t>
            </a:r>
            <a:r>
              <a:rPr lang="en-US" dirty="0"/>
              <a:t> Scale.</a:t>
            </a:r>
          </a:p>
          <a:p>
            <a:pPr marL="0" indent="0">
              <a:buNone/>
            </a:pPr>
            <a:r>
              <a:rPr lang="en-US" dirty="0"/>
              <a:t>8-Point Likelihood of recommendation: This is a variation of the previously explained 4-point </a:t>
            </a:r>
            <a:r>
              <a:rPr lang="en-US" dirty="0" err="1"/>
              <a:t>Likert</a:t>
            </a:r>
            <a:r>
              <a:rPr lang="en-US" dirty="0"/>
              <a:t> scale, the only difference being, this scale has eight options to collect feedback about the likelihood of a recommendation.</a:t>
            </a:r>
            <a:endParaRPr lang="en-IN" dirty="0"/>
          </a:p>
        </p:txBody>
      </p:sp>
    </p:spTree>
    <p:extLst>
      <p:ext uri="{BB962C8B-B14F-4D97-AF65-F5344CB8AC3E}">
        <p14:creationId xmlns:p14="http://schemas.microsoft.com/office/powerpoint/2010/main" val="191857413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4 Point Scale</a:t>
            </a:r>
          </a:p>
        </p:txBody>
      </p:sp>
      <p:sp>
        <p:nvSpPr>
          <p:cNvPr id="4" name="Rectangle 3"/>
          <p:cNvSpPr/>
          <p:nvPr/>
        </p:nvSpPr>
        <p:spPr>
          <a:xfrm>
            <a:off x="626528" y="1437268"/>
            <a:ext cx="4487339" cy="1754326"/>
          </a:xfrm>
          <a:prstGeom prst="rect">
            <a:avLst/>
          </a:prstGeom>
        </p:spPr>
        <p:txBody>
          <a:bodyPr wrap="square">
            <a:spAutoFit/>
          </a:bodyPr>
          <a:lstStyle/>
          <a:p>
            <a:r>
              <a:rPr lang="en-US" dirty="0"/>
              <a:t>Four-point </a:t>
            </a:r>
            <a:r>
              <a:rPr lang="en-US" dirty="0" err="1"/>
              <a:t>Likert</a:t>
            </a:r>
            <a:r>
              <a:rPr lang="en-US" dirty="0"/>
              <a:t> scale example for agreement </a:t>
            </a:r>
          </a:p>
          <a:p>
            <a:r>
              <a:rPr lang="en-US" dirty="0"/>
              <a:t>The ambiance of the hotel is most attractive.</a:t>
            </a:r>
          </a:p>
          <a:p>
            <a:pPr marL="285750" indent="-285750">
              <a:buFont typeface="Wingdings" panose="05000000000000000000" pitchFamily="2" charset="2"/>
              <a:buChar char="§"/>
            </a:pPr>
            <a:r>
              <a:rPr lang="en-US" dirty="0"/>
              <a:t>Strongly agree</a:t>
            </a:r>
          </a:p>
          <a:p>
            <a:pPr marL="285750" indent="-285750">
              <a:buFont typeface="Wingdings" panose="05000000000000000000" pitchFamily="2" charset="2"/>
              <a:buChar char="§"/>
            </a:pPr>
            <a:r>
              <a:rPr lang="en-US" dirty="0"/>
              <a:t>Agree</a:t>
            </a:r>
          </a:p>
          <a:p>
            <a:pPr marL="285750" indent="-285750">
              <a:buFont typeface="Wingdings" panose="05000000000000000000" pitchFamily="2" charset="2"/>
              <a:buChar char="§"/>
            </a:pPr>
            <a:r>
              <a:rPr lang="en-US" dirty="0"/>
              <a:t>Disagree</a:t>
            </a:r>
          </a:p>
          <a:p>
            <a:pPr marL="285750" indent="-285750">
              <a:buFont typeface="Wingdings" panose="05000000000000000000" pitchFamily="2" charset="2"/>
              <a:buChar char="§"/>
            </a:pPr>
            <a:r>
              <a:rPr lang="en-US" dirty="0"/>
              <a:t>Strongly disagree</a:t>
            </a:r>
            <a:endParaRPr lang="en-IN" dirty="0"/>
          </a:p>
        </p:txBody>
      </p:sp>
      <p:sp>
        <p:nvSpPr>
          <p:cNvPr id="5" name="Rectangle 4"/>
          <p:cNvSpPr/>
          <p:nvPr/>
        </p:nvSpPr>
        <p:spPr>
          <a:xfrm>
            <a:off x="634993" y="3130603"/>
            <a:ext cx="6096000" cy="1754326"/>
          </a:xfrm>
          <a:prstGeom prst="rect">
            <a:avLst/>
          </a:prstGeom>
        </p:spPr>
        <p:txBody>
          <a:bodyPr>
            <a:spAutoFit/>
          </a:bodyPr>
          <a:lstStyle/>
          <a:p>
            <a:r>
              <a:rPr lang="en-US" dirty="0"/>
              <a:t>For Satisfaction</a:t>
            </a:r>
          </a:p>
          <a:p>
            <a:r>
              <a:rPr lang="en-US" dirty="0"/>
              <a:t>How are satisfied with the hotel food quality?</a:t>
            </a:r>
          </a:p>
          <a:p>
            <a:pPr marL="285750" indent="-285750">
              <a:buFont typeface="Wingdings" panose="05000000000000000000" pitchFamily="2" charset="2"/>
              <a:buChar char="§"/>
            </a:pPr>
            <a:r>
              <a:rPr lang="en-US" dirty="0"/>
              <a:t>Very satisfied</a:t>
            </a:r>
          </a:p>
          <a:p>
            <a:pPr marL="285750" indent="-285750">
              <a:buFont typeface="Wingdings" panose="05000000000000000000" pitchFamily="2" charset="2"/>
              <a:buChar char="§"/>
            </a:pPr>
            <a:r>
              <a:rPr lang="en-US" dirty="0"/>
              <a:t>Satisfied</a:t>
            </a:r>
          </a:p>
          <a:p>
            <a:pPr marL="285750" indent="-285750">
              <a:buFont typeface="Wingdings" panose="05000000000000000000" pitchFamily="2" charset="2"/>
              <a:buChar char="§"/>
            </a:pPr>
            <a:r>
              <a:rPr lang="en-US" dirty="0"/>
              <a:t>Dissatisfied</a:t>
            </a:r>
          </a:p>
          <a:p>
            <a:pPr marL="285750" indent="-285750">
              <a:buFont typeface="Wingdings" panose="05000000000000000000" pitchFamily="2" charset="2"/>
              <a:buChar char="§"/>
            </a:pPr>
            <a:r>
              <a:rPr lang="en-US" dirty="0"/>
              <a:t>Very dissatisfied</a:t>
            </a:r>
            <a:endParaRPr lang="en-IN" dirty="0"/>
          </a:p>
        </p:txBody>
      </p:sp>
      <p:sp>
        <p:nvSpPr>
          <p:cNvPr id="6" name="Rectangle 5"/>
          <p:cNvSpPr/>
          <p:nvPr/>
        </p:nvSpPr>
        <p:spPr>
          <a:xfrm>
            <a:off x="5156205" y="3206804"/>
            <a:ext cx="4682073" cy="1754326"/>
          </a:xfrm>
          <a:prstGeom prst="rect">
            <a:avLst/>
          </a:prstGeom>
        </p:spPr>
        <p:txBody>
          <a:bodyPr wrap="square">
            <a:spAutoFit/>
          </a:bodyPr>
          <a:lstStyle/>
          <a:p>
            <a:r>
              <a:rPr lang="en-US" dirty="0"/>
              <a:t>For Frequency</a:t>
            </a:r>
          </a:p>
          <a:p>
            <a:r>
              <a:rPr lang="en-US" dirty="0"/>
              <a:t>How frequently do you visit our hotel?</a:t>
            </a:r>
          </a:p>
          <a:p>
            <a:pPr marL="285750" indent="-285750">
              <a:buFont typeface="Wingdings" panose="05000000000000000000" pitchFamily="2" charset="2"/>
              <a:buChar char="§"/>
            </a:pPr>
            <a:r>
              <a:rPr lang="en-US" dirty="0"/>
              <a:t>Never</a:t>
            </a:r>
          </a:p>
          <a:p>
            <a:pPr marL="285750" indent="-285750">
              <a:buFont typeface="Wingdings" panose="05000000000000000000" pitchFamily="2" charset="2"/>
              <a:buChar char="§"/>
            </a:pPr>
            <a:r>
              <a:rPr lang="en-US" dirty="0"/>
              <a:t>Rarely </a:t>
            </a:r>
          </a:p>
          <a:p>
            <a:pPr marL="285750" indent="-285750">
              <a:buFont typeface="Wingdings" panose="05000000000000000000" pitchFamily="2" charset="2"/>
              <a:buChar char="§"/>
            </a:pPr>
            <a:r>
              <a:rPr lang="en-US" dirty="0"/>
              <a:t>Often</a:t>
            </a:r>
          </a:p>
          <a:p>
            <a:pPr marL="285750" indent="-285750">
              <a:buFont typeface="Wingdings" panose="05000000000000000000" pitchFamily="2" charset="2"/>
              <a:buChar char="§"/>
            </a:pPr>
            <a:r>
              <a:rPr lang="en-US" dirty="0"/>
              <a:t>Every Time</a:t>
            </a:r>
            <a:endParaRPr lang="en-IN" dirty="0"/>
          </a:p>
        </p:txBody>
      </p:sp>
      <p:sp>
        <p:nvSpPr>
          <p:cNvPr id="7" name="Rectangle 6"/>
          <p:cNvSpPr/>
          <p:nvPr/>
        </p:nvSpPr>
        <p:spPr>
          <a:xfrm>
            <a:off x="5156205" y="1428803"/>
            <a:ext cx="4682073" cy="1754326"/>
          </a:xfrm>
          <a:prstGeom prst="rect">
            <a:avLst/>
          </a:prstGeom>
        </p:spPr>
        <p:txBody>
          <a:bodyPr wrap="square">
            <a:spAutoFit/>
          </a:bodyPr>
          <a:lstStyle/>
          <a:p>
            <a:r>
              <a:rPr lang="en-US" dirty="0"/>
              <a:t>For Likelihood</a:t>
            </a:r>
          </a:p>
          <a:p>
            <a:r>
              <a:rPr lang="en-US" dirty="0"/>
              <a:t>How likely are you to recommend this hotel?</a:t>
            </a:r>
          </a:p>
          <a:p>
            <a:pPr marL="285750" indent="-285750">
              <a:buFont typeface="Wingdings" panose="05000000000000000000" pitchFamily="2" charset="2"/>
              <a:buChar char="§"/>
            </a:pPr>
            <a:r>
              <a:rPr lang="en-US" dirty="0"/>
              <a:t>Very unlikely </a:t>
            </a:r>
          </a:p>
          <a:p>
            <a:pPr marL="285750" indent="-285750">
              <a:buFont typeface="Wingdings" panose="05000000000000000000" pitchFamily="2" charset="2"/>
              <a:buChar char="§"/>
            </a:pPr>
            <a:r>
              <a:rPr lang="en-US" dirty="0"/>
              <a:t>Unlikely</a:t>
            </a:r>
          </a:p>
          <a:p>
            <a:pPr marL="285750" indent="-285750">
              <a:buFont typeface="Wingdings" panose="05000000000000000000" pitchFamily="2" charset="2"/>
              <a:buChar char="§"/>
            </a:pPr>
            <a:r>
              <a:rPr lang="en-US" dirty="0"/>
              <a:t>Likely </a:t>
            </a:r>
          </a:p>
          <a:p>
            <a:pPr marL="285750" indent="-285750">
              <a:buFont typeface="Wingdings" panose="05000000000000000000" pitchFamily="2" charset="2"/>
              <a:buChar char="§"/>
            </a:pPr>
            <a:r>
              <a:rPr lang="en-US" dirty="0"/>
              <a:t>Very likely</a:t>
            </a:r>
            <a:endParaRPr lang="en-IN" dirty="0"/>
          </a:p>
        </p:txBody>
      </p:sp>
      <p:sp>
        <p:nvSpPr>
          <p:cNvPr id="9" name="Rectangle 8"/>
          <p:cNvSpPr/>
          <p:nvPr/>
        </p:nvSpPr>
        <p:spPr>
          <a:xfrm>
            <a:off x="694261" y="4976344"/>
            <a:ext cx="4487339" cy="1754326"/>
          </a:xfrm>
          <a:prstGeom prst="rect">
            <a:avLst/>
          </a:prstGeom>
        </p:spPr>
        <p:txBody>
          <a:bodyPr wrap="square">
            <a:spAutoFit/>
          </a:bodyPr>
          <a:lstStyle/>
          <a:p>
            <a:r>
              <a:rPr lang="en-US" dirty="0"/>
              <a:t>For Rating</a:t>
            </a:r>
          </a:p>
          <a:p>
            <a:r>
              <a:rPr lang="en-US" dirty="0"/>
              <a:t>How would you rate the staff friendliness?</a:t>
            </a:r>
          </a:p>
          <a:p>
            <a:pPr marL="285750" indent="-285750">
              <a:buFont typeface="Wingdings" panose="05000000000000000000" pitchFamily="2" charset="2"/>
              <a:buChar char="§"/>
            </a:pPr>
            <a:r>
              <a:rPr lang="en-US" dirty="0"/>
              <a:t>Excellent</a:t>
            </a:r>
          </a:p>
          <a:p>
            <a:pPr marL="285750" indent="-285750">
              <a:buFont typeface="Wingdings" panose="05000000000000000000" pitchFamily="2" charset="2"/>
              <a:buChar char="§"/>
            </a:pPr>
            <a:r>
              <a:rPr lang="en-US" dirty="0"/>
              <a:t>Good</a:t>
            </a:r>
          </a:p>
          <a:p>
            <a:pPr marL="285750" indent="-285750">
              <a:buFont typeface="Wingdings" panose="05000000000000000000" pitchFamily="2" charset="2"/>
              <a:buChar char="§"/>
            </a:pPr>
            <a:r>
              <a:rPr lang="en-US" dirty="0"/>
              <a:t>Better</a:t>
            </a:r>
          </a:p>
          <a:p>
            <a:pPr marL="285750" indent="-285750">
              <a:buFont typeface="Wingdings" panose="05000000000000000000" pitchFamily="2" charset="2"/>
              <a:buChar char="§"/>
            </a:pPr>
            <a:r>
              <a:rPr lang="en-US" dirty="0"/>
              <a:t>Poor</a:t>
            </a:r>
            <a:endParaRPr lang="en-IN" dirty="0"/>
          </a:p>
        </p:txBody>
      </p:sp>
    </p:spTree>
    <p:extLst>
      <p:ext uri="{BB962C8B-B14F-4D97-AF65-F5344CB8AC3E}">
        <p14:creationId xmlns:p14="http://schemas.microsoft.com/office/powerpoint/2010/main" val="2432269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 Odd </a:t>
            </a:r>
            <a:r>
              <a:rPr lang="en-IN" dirty="0" err="1"/>
              <a:t>Likert</a:t>
            </a:r>
            <a:r>
              <a:rPr lang="en-IN" dirty="0"/>
              <a:t> Scales</a:t>
            </a:r>
          </a:p>
        </p:txBody>
      </p:sp>
      <p:sp>
        <p:nvSpPr>
          <p:cNvPr id="3" name="Content Placeholder 2"/>
          <p:cNvSpPr>
            <a:spLocks noGrp="1"/>
          </p:cNvSpPr>
          <p:nvPr>
            <p:ph idx="1"/>
          </p:nvPr>
        </p:nvSpPr>
        <p:spPr>
          <a:xfrm>
            <a:off x="838200" y="1421476"/>
            <a:ext cx="10515600" cy="5020888"/>
          </a:xfrm>
        </p:spPr>
        <p:txBody>
          <a:bodyPr>
            <a:normAutofit lnSpcReduction="10000"/>
          </a:bodyPr>
          <a:lstStyle/>
          <a:p>
            <a:pPr marL="0" indent="0" algn="just">
              <a:buNone/>
            </a:pPr>
            <a:r>
              <a:rPr lang="en-US" dirty="0"/>
              <a:t>Odd </a:t>
            </a:r>
            <a:r>
              <a:rPr lang="en-US" dirty="0" err="1"/>
              <a:t>Likert</a:t>
            </a:r>
            <a:r>
              <a:rPr lang="en-US" dirty="0"/>
              <a:t> Scale</a:t>
            </a:r>
          </a:p>
          <a:p>
            <a:pPr marL="0" indent="0" algn="just">
              <a:buNone/>
            </a:pPr>
            <a:r>
              <a:rPr lang="en-US" dirty="0"/>
              <a:t>Researchers use the odd </a:t>
            </a:r>
            <a:r>
              <a:rPr lang="en-US" dirty="0" err="1"/>
              <a:t>Likert</a:t>
            </a:r>
            <a:r>
              <a:rPr lang="en-US" dirty="0"/>
              <a:t> scale to give the respondents the choice of responding neutrally.</a:t>
            </a:r>
          </a:p>
          <a:p>
            <a:pPr marL="0" indent="0" algn="just">
              <a:buNone/>
            </a:pPr>
            <a:r>
              <a:rPr lang="en-US" dirty="0"/>
              <a:t>5-point </a:t>
            </a:r>
            <a:r>
              <a:rPr lang="en-US" dirty="0" err="1"/>
              <a:t>Likert</a:t>
            </a:r>
            <a:r>
              <a:rPr lang="en-US" dirty="0"/>
              <a:t> scale: With five answer options, researchers use this odd </a:t>
            </a:r>
            <a:r>
              <a:rPr lang="en-US" dirty="0" err="1"/>
              <a:t>Likert</a:t>
            </a:r>
            <a:r>
              <a:rPr lang="en-US" dirty="0"/>
              <a:t> scale question to gather information about a topic by including a neutral answer option for respondents to select if they don’t wish to answer from the extreme choices in their research design. </a:t>
            </a:r>
          </a:p>
          <a:p>
            <a:pPr marL="0" indent="0" algn="just">
              <a:buNone/>
            </a:pPr>
            <a:r>
              <a:rPr lang="en-US" dirty="0"/>
              <a:t>7-point </a:t>
            </a:r>
            <a:r>
              <a:rPr lang="en-US" dirty="0" err="1"/>
              <a:t>Likert</a:t>
            </a:r>
            <a:r>
              <a:rPr lang="en-US" dirty="0"/>
              <a:t> scale: The 7-point </a:t>
            </a:r>
            <a:r>
              <a:rPr lang="en-US" dirty="0" err="1"/>
              <a:t>Likert</a:t>
            </a:r>
            <a:r>
              <a:rPr lang="en-US" dirty="0"/>
              <a:t> scale adds two more answer options at extreme ends of a 5-point </a:t>
            </a:r>
            <a:r>
              <a:rPr lang="en-US" dirty="0" err="1"/>
              <a:t>Likert</a:t>
            </a:r>
            <a:r>
              <a:rPr lang="en-US" dirty="0"/>
              <a:t> scale question.</a:t>
            </a:r>
          </a:p>
          <a:p>
            <a:pPr marL="0" indent="0" algn="just">
              <a:buNone/>
            </a:pPr>
            <a:r>
              <a:rPr lang="en-US" dirty="0"/>
              <a:t>9-point </a:t>
            </a:r>
            <a:r>
              <a:rPr lang="en-US" dirty="0" err="1"/>
              <a:t>Likert</a:t>
            </a:r>
            <a:r>
              <a:rPr lang="en-US" dirty="0"/>
              <a:t> scale: A 9-point </a:t>
            </a:r>
            <a:r>
              <a:rPr lang="en-US" dirty="0" err="1"/>
              <a:t>Likert</a:t>
            </a:r>
            <a:r>
              <a:rPr lang="en-US" dirty="0"/>
              <a:t> scale is quite uncommon, but you can use it by adding two more answer options to the 7-point </a:t>
            </a:r>
            <a:r>
              <a:rPr lang="en-US" dirty="0" err="1"/>
              <a:t>Likert</a:t>
            </a:r>
            <a:r>
              <a:rPr lang="en-US" dirty="0"/>
              <a:t> scale question.</a:t>
            </a:r>
            <a:endParaRPr lang="en-IN" dirty="0"/>
          </a:p>
        </p:txBody>
      </p:sp>
    </p:spTree>
    <p:extLst>
      <p:ext uri="{BB962C8B-B14F-4D97-AF65-F5344CB8AC3E}">
        <p14:creationId xmlns:p14="http://schemas.microsoft.com/office/powerpoint/2010/main" val="403427187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1125"/>
            <a:ext cx="10515600" cy="540808"/>
          </a:xfrm>
        </p:spPr>
        <p:txBody>
          <a:bodyPr>
            <a:normAutofit fontScale="90000"/>
          </a:bodyPr>
          <a:lstStyle/>
          <a:p>
            <a:r>
              <a:rPr lang="en-IN" dirty="0"/>
              <a:t>5 Point Scales</a:t>
            </a:r>
          </a:p>
        </p:txBody>
      </p:sp>
      <p:pic>
        <p:nvPicPr>
          <p:cNvPr id="6" name="Picture 5"/>
          <p:cNvPicPr>
            <a:picLocks noChangeAspect="1"/>
          </p:cNvPicPr>
          <p:nvPr/>
        </p:nvPicPr>
        <p:blipFill>
          <a:blip r:embed="rId2"/>
          <a:stretch>
            <a:fillRect/>
          </a:stretch>
        </p:blipFill>
        <p:spPr>
          <a:xfrm>
            <a:off x="1190171" y="719667"/>
            <a:ext cx="10566400" cy="5470653"/>
          </a:xfrm>
          <a:prstGeom prst="rect">
            <a:avLst/>
          </a:prstGeom>
        </p:spPr>
      </p:pic>
    </p:spTree>
    <p:extLst>
      <p:ext uri="{BB962C8B-B14F-4D97-AF65-F5344CB8AC3E}">
        <p14:creationId xmlns:p14="http://schemas.microsoft.com/office/powerpoint/2010/main" val="180761375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7340"/>
          </a:xfrm>
        </p:spPr>
        <p:txBody>
          <a:bodyPr>
            <a:normAutofit fontScale="90000"/>
          </a:bodyPr>
          <a:lstStyle/>
          <a:p>
            <a:r>
              <a:rPr lang="en-IN" dirty="0"/>
              <a:t>7 Points </a:t>
            </a:r>
            <a:r>
              <a:rPr lang="en-IN" dirty="0" err="1"/>
              <a:t>Likerts</a:t>
            </a:r>
            <a:r>
              <a:rPr lang="en-IN" dirty="0"/>
              <a:t> Scales</a:t>
            </a:r>
          </a:p>
        </p:txBody>
      </p:sp>
      <p:pic>
        <p:nvPicPr>
          <p:cNvPr id="4" name="Picture 3"/>
          <p:cNvPicPr>
            <a:picLocks noChangeAspect="1"/>
          </p:cNvPicPr>
          <p:nvPr/>
        </p:nvPicPr>
        <p:blipFill>
          <a:blip r:embed="rId2"/>
          <a:stretch>
            <a:fillRect/>
          </a:stretch>
        </p:blipFill>
        <p:spPr>
          <a:xfrm>
            <a:off x="748145" y="958128"/>
            <a:ext cx="7323513" cy="5525799"/>
          </a:xfrm>
          <a:prstGeom prst="rect">
            <a:avLst/>
          </a:prstGeom>
        </p:spPr>
      </p:pic>
    </p:spTree>
    <p:extLst>
      <p:ext uri="{BB962C8B-B14F-4D97-AF65-F5344CB8AC3E}">
        <p14:creationId xmlns:p14="http://schemas.microsoft.com/office/powerpoint/2010/main" val="70555531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14788"/>
          </a:xfrm>
        </p:spPr>
        <p:txBody>
          <a:bodyPr/>
          <a:lstStyle/>
          <a:p>
            <a:r>
              <a:rPr lang="en-US" dirty="0">
                <a:latin typeface="Times New Roman" panose="02020603050405020304" pitchFamily="18" charset="0"/>
                <a:cs typeface="Times New Roman" panose="02020603050405020304" pitchFamily="18" charset="0"/>
              </a:rPr>
              <a:t>2. The semantic differential scale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5379720" cy="4192789"/>
          </a:xfrm>
        </p:spPr>
        <p:txBody>
          <a:bodyPr/>
          <a:lstStyle/>
          <a:p>
            <a:pPr marL="0" indent="0" algn="just">
              <a:buNone/>
            </a:pPr>
            <a:r>
              <a:rPr lang="en-US" dirty="0">
                <a:latin typeface="Times New Roman" panose="02020603050405020304" pitchFamily="18" charset="0"/>
                <a:cs typeface="Times New Roman" panose="02020603050405020304" pitchFamily="18" charset="0"/>
              </a:rPr>
              <a:t>The semantic differential scale is used for measuring the meaning of things and concepts (Snider &amp; Osgood, 1969). Participants indicate where they feel a product or experience lies on a 7-point scale between polar adjectives (e.g., strong-weak, good-bad).</a:t>
            </a:r>
            <a:endParaRPr lang="en-IN"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6409113" y="1853737"/>
            <a:ext cx="5523674" cy="4164677"/>
          </a:xfrm>
          <a:prstGeom prst="rect">
            <a:avLst/>
          </a:prstGeom>
        </p:spPr>
      </p:pic>
    </p:spTree>
    <p:extLst>
      <p:ext uri="{BB962C8B-B14F-4D97-AF65-F5344CB8AC3E}">
        <p14:creationId xmlns:p14="http://schemas.microsoft.com/office/powerpoint/2010/main" val="327098357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8870"/>
            <a:ext cx="10515600" cy="1325563"/>
          </a:xfrm>
        </p:spPr>
        <p:txBody>
          <a:bodyPr/>
          <a:lstStyle/>
          <a:p>
            <a:r>
              <a:rPr lang="en-US" dirty="0"/>
              <a:t>Example of Semantic Differential Scale</a:t>
            </a:r>
            <a:endParaRPr lang="en-IN" dirty="0"/>
          </a:p>
        </p:txBody>
      </p:sp>
      <p:pic>
        <p:nvPicPr>
          <p:cNvPr id="5" name="Picture 4"/>
          <p:cNvPicPr>
            <a:picLocks noChangeAspect="1"/>
          </p:cNvPicPr>
          <p:nvPr/>
        </p:nvPicPr>
        <p:blipFill>
          <a:blip r:embed="rId2"/>
          <a:stretch>
            <a:fillRect/>
          </a:stretch>
        </p:blipFill>
        <p:spPr>
          <a:xfrm>
            <a:off x="6095983" y="3428991"/>
            <a:ext cx="34" cy="18"/>
          </a:xfrm>
          <a:prstGeom prst="rect">
            <a:avLst/>
          </a:prstGeom>
        </p:spPr>
      </p:pic>
      <p:pic>
        <p:nvPicPr>
          <p:cNvPr id="6" name="Picture 5"/>
          <p:cNvPicPr>
            <a:picLocks noChangeAspect="1"/>
          </p:cNvPicPr>
          <p:nvPr/>
        </p:nvPicPr>
        <p:blipFill>
          <a:blip r:embed="rId3"/>
          <a:stretch>
            <a:fillRect/>
          </a:stretch>
        </p:blipFill>
        <p:spPr>
          <a:xfrm>
            <a:off x="568302" y="1402577"/>
            <a:ext cx="9708732" cy="5200001"/>
          </a:xfrm>
          <a:prstGeom prst="rect">
            <a:avLst/>
          </a:prstGeom>
        </p:spPr>
      </p:pic>
    </p:spTree>
    <p:extLst>
      <p:ext uri="{BB962C8B-B14F-4D97-AF65-F5344CB8AC3E}">
        <p14:creationId xmlns:p14="http://schemas.microsoft.com/office/powerpoint/2010/main" val="20041077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F40C-F776-3118-17A0-D79033BC4C06}"/>
              </a:ext>
            </a:extLst>
          </p:cNvPr>
          <p:cNvSpPr>
            <a:spLocks noGrp="1"/>
          </p:cNvSpPr>
          <p:nvPr>
            <p:ph type="title"/>
          </p:nvPr>
        </p:nvSpPr>
        <p:spPr/>
        <p:txBody>
          <a:bodyPr/>
          <a:lstStyle/>
          <a:p>
            <a:r>
              <a:rPr lang="en-US" dirty="0"/>
              <a:t>Thurstone Scale</a:t>
            </a:r>
            <a:endParaRPr lang="en-IN" dirty="0"/>
          </a:p>
        </p:txBody>
      </p:sp>
      <p:sp>
        <p:nvSpPr>
          <p:cNvPr id="3" name="Content Placeholder 2">
            <a:extLst>
              <a:ext uri="{FF2B5EF4-FFF2-40B4-BE49-F238E27FC236}">
                <a16:creationId xmlns:a16="http://schemas.microsoft.com/office/drawing/2014/main" id="{9F889FD6-C2BA-8A52-DCCE-04FCFC6E8888}"/>
              </a:ext>
            </a:extLst>
          </p:cNvPr>
          <p:cNvSpPr>
            <a:spLocks noGrp="1"/>
          </p:cNvSpPr>
          <p:nvPr>
            <p:ph idx="1"/>
          </p:nvPr>
        </p:nvSpPr>
        <p:spPr>
          <a:xfrm>
            <a:off x="838200" y="1459345"/>
            <a:ext cx="10515600" cy="4717618"/>
          </a:xfrm>
        </p:spPr>
        <p:txBody>
          <a:bodyPr>
            <a:normAutofit/>
          </a:bodyPr>
          <a:lstStyle/>
          <a:p>
            <a:pPr algn="just" fontAlgn="base"/>
            <a:r>
              <a:rPr lang="en-US" b="0" i="0" dirty="0">
                <a:solidFill>
                  <a:srgbClr val="000000"/>
                </a:solidFill>
                <a:effectLst/>
                <a:latin typeface="Times New Roman" panose="02020603050405020304" pitchFamily="18" charset="0"/>
                <a:cs typeface="Times New Roman" panose="02020603050405020304" pitchFamily="18" charset="0"/>
              </a:rPr>
              <a:t>The Thurstone scale is a psychometric measurement tool developed by</a:t>
            </a:r>
            <a:r>
              <a:rPr lang="en-US" b="0" i="0" u="none" strike="noStrike" dirty="0">
                <a:solidFill>
                  <a:srgbClr val="000000"/>
                </a:solidFill>
                <a:effectLst/>
                <a:latin typeface="Times New Roman" panose="02020603050405020304" pitchFamily="18" charset="0"/>
                <a:cs typeface="Times New Roman" panose="02020603050405020304" pitchFamily="18" charset="0"/>
              </a:rPr>
              <a:t> Louis Leon Thurstone</a:t>
            </a:r>
            <a:r>
              <a:rPr lang="en-US" b="0" i="0" dirty="0">
                <a:solidFill>
                  <a:srgbClr val="000000"/>
                </a:solidFill>
                <a:effectLst/>
                <a:latin typeface="Times New Roman" panose="02020603050405020304" pitchFamily="18" charset="0"/>
                <a:cs typeface="Times New Roman" panose="02020603050405020304" pitchFamily="18" charset="0"/>
              </a:rPr>
              <a:t> in 1928. It’s sometimes seen as a </a:t>
            </a:r>
            <a:r>
              <a:rPr lang="en-US" b="0" i="0" u="none" strike="noStrike" dirty="0">
                <a:solidFill>
                  <a:srgbClr val="000000"/>
                </a:solidFill>
                <a:effectLst/>
                <a:latin typeface="Times New Roman" panose="02020603050405020304" pitchFamily="18" charset="0"/>
                <a:cs typeface="Times New Roman" panose="02020603050405020304" pitchFamily="18" charset="0"/>
              </a:rPr>
              <a:t>forerunner </a:t>
            </a:r>
            <a:r>
              <a:rPr lang="en-US" b="0" i="0" dirty="0">
                <a:solidFill>
                  <a:srgbClr val="000000"/>
                </a:solidFill>
                <a:effectLst/>
                <a:latin typeface="Times New Roman" panose="02020603050405020304" pitchFamily="18" charset="0"/>
                <a:cs typeface="Times New Roman" panose="02020603050405020304" pitchFamily="18" charset="0"/>
              </a:rPr>
              <a:t>to the</a:t>
            </a:r>
            <a:r>
              <a:rPr lang="en-US" b="0" i="0" u="none" strike="noStrike" dirty="0">
                <a:solidFill>
                  <a:srgbClr val="000000"/>
                </a:solidFill>
                <a:effectLst/>
                <a:latin typeface="Times New Roman" panose="02020603050405020304" pitchFamily="18" charset="0"/>
                <a:cs typeface="Times New Roman" panose="02020603050405020304" pitchFamily="18" charset="0"/>
              </a:rPr>
              <a:t> Likert scales</a:t>
            </a:r>
            <a:r>
              <a:rPr lang="en-US" b="0" i="0" dirty="0">
                <a:solidFill>
                  <a:srgbClr val="000000"/>
                </a:solidFill>
                <a:effectLst/>
                <a:latin typeface="Times New Roman" panose="02020603050405020304" pitchFamily="18" charset="0"/>
                <a:cs typeface="Times New Roman" panose="02020603050405020304" pitchFamily="18" charset="0"/>
              </a:rPr>
              <a:t> as both of them are made of statements about a topic.</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But in the Thurstone scale, respondents reply to a list of related agree-disagree-neutral statements of varying weights. The respondent’s attitude is calculated as the sum total of the statements they agree with.</a:t>
            </a:r>
          </a:p>
          <a:p>
            <a:pPr algn="just" fontAlgn="base"/>
            <a:r>
              <a:rPr lang="en-US" b="0" i="0" dirty="0">
                <a:solidFill>
                  <a:srgbClr val="000000"/>
                </a:solidFill>
                <a:effectLst/>
                <a:latin typeface="Times New Roman" panose="02020603050405020304" pitchFamily="18" charset="0"/>
                <a:cs typeface="Times New Roman" panose="02020603050405020304" pitchFamily="18" charset="0"/>
              </a:rPr>
              <a:t>Unlike Likert scales which only allow respondents to provide one answer per question, Thurston scales allow them to give multiple answers by assigning each item on the list a score (usually 1-11). This allows researchers to get more detailed results from their surveys.</a:t>
            </a:r>
          </a:p>
          <a:p>
            <a:pPr marL="0" indent="0">
              <a:buNone/>
            </a:pPr>
            <a:endParaRPr lang="en-IN" dirty="0"/>
          </a:p>
        </p:txBody>
      </p:sp>
    </p:spTree>
    <p:extLst>
      <p:ext uri="{BB962C8B-B14F-4D97-AF65-F5344CB8AC3E}">
        <p14:creationId xmlns:p14="http://schemas.microsoft.com/office/powerpoint/2010/main" val="37003866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F9F07-19CD-7DBA-6345-8472DDA1E82B}"/>
              </a:ext>
            </a:extLst>
          </p:cNvPr>
          <p:cNvSpPr>
            <a:spLocks noGrp="1"/>
          </p:cNvSpPr>
          <p:nvPr>
            <p:ph type="title"/>
          </p:nvPr>
        </p:nvSpPr>
        <p:spPr>
          <a:xfrm>
            <a:off x="838200" y="365126"/>
            <a:ext cx="10515600" cy="826366"/>
          </a:xfrm>
        </p:spPr>
        <p:txBody>
          <a:bodyPr>
            <a:normAutofit/>
          </a:bodyPr>
          <a:lstStyle/>
          <a:p>
            <a:r>
              <a:rPr lang="en-US" sz="3600" b="1" dirty="0">
                <a:latin typeface="Times New Roman" panose="02020603050405020304" pitchFamily="18" charset="0"/>
                <a:cs typeface="Times New Roman" panose="02020603050405020304" pitchFamily="18" charset="0"/>
              </a:rPr>
              <a:t>Steps involved in developing the Thurstone Scale.</a:t>
            </a:r>
            <a:endParaRPr lang="en-IN" sz="36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55F956BF-5333-3FBC-2BEC-6DC64B8ABF2F}"/>
              </a:ext>
            </a:extLst>
          </p:cNvPr>
          <p:cNvSpPr>
            <a:spLocks noGrp="1"/>
          </p:cNvSpPr>
          <p:nvPr>
            <p:ph idx="1"/>
          </p:nvPr>
        </p:nvSpPr>
        <p:spPr>
          <a:xfrm>
            <a:off x="838200" y="1099127"/>
            <a:ext cx="10515600" cy="5077836"/>
          </a:xfrm>
        </p:spPr>
        <p:txBody>
          <a:bodyPr>
            <a:normAutofit fontScale="85000" lnSpcReduction="20000"/>
          </a:bodyPr>
          <a:lstStyle/>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1:</a:t>
            </a:r>
            <a:r>
              <a:rPr lang="en-US" b="0" i="0" dirty="0">
                <a:solidFill>
                  <a:srgbClr val="000000"/>
                </a:solidFill>
                <a:effectLst/>
                <a:latin typeface="Times New Roman" panose="02020603050405020304" pitchFamily="18" charset="0"/>
                <a:cs typeface="Times New Roman" panose="02020603050405020304" pitchFamily="18" charset="0"/>
              </a:rPr>
              <a:t> Pin down your research question. It should be related to attitude, and should focus on a single topic, like “end-of-life care” or “performance related pay”.</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2:</a:t>
            </a:r>
            <a:r>
              <a:rPr lang="en-US" b="0" i="0" dirty="0">
                <a:solidFill>
                  <a:srgbClr val="000000"/>
                </a:solidFill>
                <a:effectLst/>
                <a:latin typeface="Times New Roman" panose="02020603050405020304" pitchFamily="18" charset="0"/>
                <a:cs typeface="Times New Roman" panose="02020603050405020304" pitchFamily="18" charset="0"/>
              </a:rPr>
              <a:t> Create a list of statements that agree, disagree with or are neutral about the topic to varying degrees. The more statements you come up with, the more useful your data will be.</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3:</a:t>
            </a:r>
            <a:r>
              <a:rPr lang="en-US" b="0" i="0" dirty="0">
                <a:solidFill>
                  <a:srgbClr val="000000"/>
                </a:solidFill>
                <a:effectLst/>
                <a:latin typeface="Times New Roman" panose="02020603050405020304" pitchFamily="18" charset="0"/>
                <a:cs typeface="Times New Roman" panose="02020603050405020304" pitchFamily="18" charset="0"/>
              </a:rPr>
              <a:t> Assign a score to each statement from 1-11 based on how supportive you believe the statement is. A higher score equals a more supportive stance while a lower score equals a more unfavorable stance. The scores are usually assigned in consensus with a panel of experts to reduce bias.</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4:</a:t>
            </a:r>
            <a:r>
              <a:rPr lang="en-US" b="0" i="0" dirty="0">
                <a:solidFill>
                  <a:srgbClr val="000000"/>
                </a:solidFill>
                <a:effectLst/>
                <a:latin typeface="Times New Roman" panose="02020603050405020304" pitchFamily="18" charset="0"/>
                <a:cs typeface="Times New Roman" panose="02020603050405020304" pitchFamily="18" charset="0"/>
              </a:rPr>
              <a:t> Each member of the panel should assign an individual score to each statement. Based on the mean of these scores, each statement is assigned an overall score and sorted in ascending order.</a:t>
            </a:r>
          </a:p>
          <a:p>
            <a:pPr algn="just" fontAlgn="base"/>
            <a:r>
              <a:rPr lang="en-US" b="1" i="0" dirty="0">
                <a:solidFill>
                  <a:srgbClr val="000000"/>
                </a:solidFill>
                <a:effectLst/>
                <a:latin typeface="Times New Roman" panose="02020603050405020304" pitchFamily="18" charset="0"/>
                <a:cs typeface="Times New Roman" panose="02020603050405020304" pitchFamily="18" charset="0"/>
              </a:rPr>
              <a:t>Step 5:</a:t>
            </a:r>
            <a:r>
              <a:rPr lang="en-US" b="0" i="0" dirty="0">
                <a:solidFill>
                  <a:srgbClr val="000000"/>
                </a:solidFill>
                <a:effectLst/>
                <a:latin typeface="Times New Roman" panose="02020603050405020304" pitchFamily="18" charset="0"/>
                <a:cs typeface="Times New Roman" panose="02020603050405020304" pitchFamily="18" charset="0"/>
              </a:rPr>
              <a:t> Once all of your questions have been created, you will then need to conduct pilot interviews with potential respondents. This helps determine whether or not your questions are clear and easy enough for them to understand.</a:t>
            </a:r>
          </a:p>
          <a:p>
            <a:pPr algn="just" fontAlgn="base"/>
            <a:endParaRPr lang="en-US" b="0" i="0" dirty="0">
              <a:solidFill>
                <a:srgbClr val="000000"/>
              </a:solidFill>
              <a:effectLst/>
              <a:latin typeface="Times New Roman" panose="02020603050405020304" pitchFamily="18" charset="0"/>
              <a:cs typeface="Times New Roman" panose="02020603050405020304" pitchFamily="18" charset="0"/>
            </a:endParaRPr>
          </a:p>
          <a:p>
            <a:pPr algn="just" fontAlgn="base"/>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634828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D75D4-456E-BD01-D4B9-B73B9D7B8683}"/>
              </a:ext>
            </a:extLst>
          </p:cNvPr>
          <p:cNvSpPr>
            <a:spLocks noGrp="1"/>
          </p:cNvSpPr>
          <p:nvPr>
            <p:ph type="title"/>
          </p:nvPr>
        </p:nvSpPr>
        <p:spPr>
          <a:xfrm>
            <a:off x="838200" y="365126"/>
            <a:ext cx="10515600" cy="817130"/>
          </a:xfrm>
        </p:spPr>
        <p:txBody>
          <a:bodyPr/>
          <a:lstStyle/>
          <a:p>
            <a:r>
              <a:rPr lang="en-US" dirty="0"/>
              <a:t>Example of developing Thurstone scale</a:t>
            </a:r>
            <a:endParaRPr lang="en-IN" dirty="0"/>
          </a:p>
        </p:txBody>
      </p:sp>
      <p:sp>
        <p:nvSpPr>
          <p:cNvPr id="3" name="Content Placeholder 2">
            <a:extLst>
              <a:ext uri="{FF2B5EF4-FFF2-40B4-BE49-F238E27FC236}">
                <a16:creationId xmlns:a16="http://schemas.microsoft.com/office/drawing/2014/main" id="{F8FEC6B0-6597-3725-7673-75B6B85F081F}"/>
              </a:ext>
            </a:extLst>
          </p:cNvPr>
          <p:cNvSpPr>
            <a:spLocks noGrp="1"/>
          </p:cNvSpPr>
          <p:nvPr>
            <p:ph idx="1"/>
          </p:nvPr>
        </p:nvSpPr>
        <p:spPr>
          <a:xfrm>
            <a:off x="838200" y="1182256"/>
            <a:ext cx="10180782" cy="4994707"/>
          </a:xfrm>
        </p:spPr>
        <p:txBody>
          <a:bodyPr>
            <a:normAutofit/>
          </a:bodyPr>
          <a:lstStyle/>
          <a:p>
            <a:pPr algn="l" fontAlgn="base"/>
            <a:r>
              <a:rPr lang="en-US" b="0" i="0" dirty="0">
                <a:solidFill>
                  <a:srgbClr val="000000"/>
                </a:solidFill>
                <a:effectLst/>
                <a:latin typeface="Times New Roman" panose="02020603050405020304" pitchFamily="18" charset="0"/>
                <a:cs typeface="Times New Roman" panose="02020603050405020304" pitchFamily="18" charset="0"/>
              </a:rPr>
              <a:t>For example, you are creating a Thurston questionnaire on employee attitudes toward performance-related pay (PRP). Your statements may include:</a:t>
            </a:r>
          </a:p>
          <a:p>
            <a:pPr algn="l" fontAlgn="base">
              <a:buFont typeface="+mj-lt"/>
              <a:buAutoNum type="arabicPeriod"/>
            </a:pPr>
            <a:r>
              <a:rPr lang="en-US" b="0" i="0" dirty="0">
                <a:solidFill>
                  <a:srgbClr val="19B885"/>
                </a:solidFill>
                <a:effectLst/>
                <a:latin typeface="Times New Roman" panose="02020603050405020304" pitchFamily="18" charset="0"/>
                <a:cs typeface="Times New Roman" panose="02020603050405020304" pitchFamily="18" charset="0"/>
              </a:rPr>
              <a:t>PRP gives an incentive to go above and beyond job expectations.</a:t>
            </a:r>
            <a:endParaRPr lang="en-US" b="0" i="0" dirty="0">
              <a:solidFill>
                <a:srgbClr val="000000"/>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b="0" i="0" dirty="0">
                <a:solidFill>
                  <a:srgbClr val="19B885"/>
                </a:solidFill>
                <a:effectLst/>
                <a:latin typeface="Times New Roman" panose="02020603050405020304" pitchFamily="18" charset="0"/>
                <a:cs typeface="Times New Roman" panose="02020603050405020304" pitchFamily="18" charset="0"/>
              </a:rPr>
              <a:t>Good performers are rewarded fast due to PRP.</a:t>
            </a:r>
            <a:endParaRPr lang="en-US" b="0" i="0" dirty="0">
              <a:solidFill>
                <a:srgbClr val="000000"/>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b="0" i="0" dirty="0">
                <a:solidFill>
                  <a:srgbClr val="19B885"/>
                </a:solidFill>
                <a:effectLst/>
                <a:latin typeface="Times New Roman" panose="02020603050405020304" pitchFamily="18" charset="0"/>
                <a:cs typeface="Times New Roman" panose="02020603050405020304" pitchFamily="18" charset="0"/>
              </a:rPr>
              <a:t>PRP makes team members less willing to help out. </a:t>
            </a:r>
            <a:endParaRPr lang="en-US" b="0" i="0" dirty="0">
              <a:solidFill>
                <a:srgbClr val="000000"/>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b="0" i="0" dirty="0">
                <a:solidFill>
                  <a:srgbClr val="19B885"/>
                </a:solidFill>
                <a:effectLst/>
                <a:latin typeface="Times New Roman" panose="02020603050405020304" pitchFamily="18" charset="0"/>
                <a:cs typeface="Times New Roman" panose="02020603050405020304" pitchFamily="18" charset="0"/>
              </a:rPr>
              <a:t>PRP increases the quality of the work. </a:t>
            </a:r>
            <a:endParaRPr lang="en-US" b="0" i="0" dirty="0">
              <a:solidFill>
                <a:srgbClr val="000000"/>
              </a:solidFill>
              <a:effectLst/>
              <a:latin typeface="Times New Roman" panose="02020603050405020304" pitchFamily="18" charset="0"/>
              <a:cs typeface="Times New Roman" panose="02020603050405020304" pitchFamily="18" charset="0"/>
            </a:endParaRPr>
          </a:p>
          <a:p>
            <a:pPr algn="l" fontAlgn="base">
              <a:buFont typeface="+mj-lt"/>
              <a:buAutoNum type="arabicPeriod"/>
            </a:pPr>
            <a:r>
              <a:rPr lang="en-US" b="0" i="0" dirty="0">
                <a:solidFill>
                  <a:srgbClr val="19B885"/>
                </a:solidFill>
                <a:effectLst/>
                <a:latin typeface="Times New Roman" panose="02020603050405020304" pitchFamily="18" charset="0"/>
                <a:cs typeface="Times New Roman" panose="02020603050405020304" pitchFamily="18" charset="0"/>
              </a:rPr>
              <a:t>Management uses PRP to unjustly reward favorites.</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55214601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0740EF-684D-9504-51FB-F675A2177147}"/>
              </a:ext>
            </a:extLst>
          </p:cNvPr>
          <p:cNvSpPr>
            <a:spLocks noGrp="1"/>
          </p:cNvSpPr>
          <p:nvPr>
            <p:ph type="title"/>
          </p:nvPr>
        </p:nvSpPr>
        <p:spPr/>
        <p:txBody>
          <a:bodyPr/>
          <a:lstStyle/>
          <a:p>
            <a:r>
              <a:rPr lang="en-US" dirty="0"/>
              <a:t>Suppose there are 10 judges giving their opinions  </a:t>
            </a:r>
            <a:endParaRPr lang="en-IN" dirty="0"/>
          </a:p>
        </p:txBody>
      </p:sp>
      <p:graphicFrame>
        <p:nvGraphicFramePr>
          <p:cNvPr id="4" name="Table 4">
            <a:extLst>
              <a:ext uri="{FF2B5EF4-FFF2-40B4-BE49-F238E27FC236}">
                <a16:creationId xmlns:a16="http://schemas.microsoft.com/office/drawing/2014/main" id="{358B09D5-1F43-F8FE-167D-D8AF2CB6C8A4}"/>
              </a:ext>
            </a:extLst>
          </p:cNvPr>
          <p:cNvGraphicFramePr>
            <a:graphicFrameLocks noGrp="1"/>
          </p:cNvGraphicFramePr>
          <p:nvPr>
            <p:extLst>
              <p:ext uri="{D42A27DB-BD31-4B8C-83A1-F6EECF244321}">
                <p14:modId xmlns:p14="http://schemas.microsoft.com/office/powerpoint/2010/main" val="2232542518"/>
              </p:ext>
            </p:extLst>
          </p:nvPr>
        </p:nvGraphicFramePr>
        <p:xfrm>
          <a:off x="858983" y="1681016"/>
          <a:ext cx="10243128" cy="5047440"/>
        </p:xfrm>
        <a:graphic>
          <a:graphicData uri="http://schemas.openxmlformats.org/drawingml/2006/table">
            <a:tbl>
              <a:tblPr firstRow="1" bandRow="1">
                <a:tableStyleId>{5C22544A-7EE6-4342-B048-85BDC9FD1C3A}</a:tableStyleId>
              </a:tblPr>
              <a:tblGrid>
                <a:gridCol w="1707188">
                  <a:extLst>
                    <a:ext uri="{9D8B030D-6E8A-4147-A177-3AD203B41FA5}">
                      <a16:colId xmlns:a16="http://schemas.microsoft.com/office/drawing/2014/main" val="1371497133"/>
                    </a:ext>
                  </a:extLst>
                </a:gridCol>
                <a:gridCol w="1707188">
                  <a:extLst>
                    <a:ext uri="{9D8B030D-6E8A-4147-A177-3AD203B41FA5}">
                      <a16:colId xmlns:a16="http://schemas.microsoft.com/office/drawing/2014/main" val="3487384413"/>
                    </a:ext>
                  </a:extLst>
                </a:gridCol>
                <a:gridCol w="1707188">
                  <a:extLst>
                    <a:ext uri="{9D8B030D-6E8A-4147-A177-3AD203B41FA5}">
                      <a16:colId xmlns:a16="http://schemas.microsoft.com/office/drawing/2014/main" val="1742847227"/>
                    </a:ext>
                  </a:extLst>
                </a:gridCol>
                <a:gridCol w="1707188">
                  <a:extLst>
                    <a:ext uri="{9D8B030D-6E8A-4147-A177-3AD203B41FA5}">
                      <a16:colId xmlns:a16="http://schemas.microsoft.com/office/drawing/2014/main" val="2890938133"/>
                    </a:ext>
                  </a:extLst>
                </a:gridCol>
                <a:gridCol w="1707188">
                  <a:extLst>
                    <a:ext uri="{9D8B030D-6E8A-4147-A177-3AD203B41FA5}">
                      <a16:colId xmlns:a16="http://schemas.microsoft.com/office/drawing/2014/main" val="3386436165"/>
                    </a:ext>
                  </a:extLst>
                </a:gridCol>
                <a:gridCol w="1707188">
                  <a:extLst>
                    <a:ext uri="{9D8B030D-6E8A-4147-A177-3AD203B41FA5}">
                      <a16:colId xmlns:a16="http://schemas.microsoft.com/office/drawing/2014/main" val="1995284303"/>
                    </a:ext>
                  </a:extLst>
                </a:gridCol>
              </a:tblGrid>
              <a:tr h="367280">
                <a:tc>
                  <a:txBody>
                    <a:bodyPr/>
                    <a:lstStyle/>
                    <a:p>
                      <a:r>
                        <a:rPr lang="en-US" dirty="0"/>
                        <a:t>Questions/ Options</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3</a:t>
                      </a:r>
                      <a:endParaRPr lang="en-IN" dirty="0"/>
                    </a:p>
                  </a:txBody>
                  <a:tcPr/>
                </a:tc>
                <a:tc>
                  <a:txBody>
                    <a:bodyPr/>
                    <a:lstStyle/>
                    <a:p>
                      <a:r>
                        <a:rPr lang="en-US" dirty="0"/>
                        <a:t>4</a:t>
                      </a:r>
                      <a:endParaRPr lang="en-IN" dirty="0"/>
                    </a:p>
                  </a:txBody>
                  <a:tcPr/>
                </a:tc>
                <a:tc>
                  <a:txBody>
                    <a:bodyPr/>
                    <a:lstStyle/>
                    <a:p>
                      <a:r>
                        <a:rPr lang="en-US" dirty="0"/>
                        <a:t>5</a:t>
                      </a:r>
                      <a:endParaRPr lang="en-IN" dirty="0"/>
                    </a:p>
                  </a:txBody>
                  <a:tcPr/>
                </a:tc>
                <a:extLst>
                  <a:ext uri="{0D108BD9-81ED-4DB2-BD59-A6C34878D82A}">
                    <a16:rowId xmlns:a16="http://schemas.microsoft.com/office/drawing/2014/main" val="1253966000"/>
                  </a:ext>
                </a:extLst>
              </a:tr>
              <a:tr h="367280">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326961555"/>
                  </a:ext>
                </a:extLst>
              </a:tr>
              <a:tr h="367280">
                <a:tc>
                  <a:txBody>
                    <a:bodyPr/>
                    <a:lstStyle/>
                    <a:p>
                      <a:r>
                        <a:rPr lang="en-US" dirty="0"/>
                        <a:t>2</a:t>
                      </a:r>
                      <a:endParaRPr lang="en-IN" dirty="0"/>
                    </a:p>
                  </a:txBody>
                  <a:tcPr/>
                </a:tc>
                <a:tc>
                  <a:txBody>
                    <a:bodyPr/>
                    <a:lstStyle/>
                    <a:p>
                      <a:r>
                        <a:rPr lang="en-US" dirty="0"/>
                        <a:t>1</a:t>
                      </a:r>
                      <a:endParaRPr lang="en-IN" dirty="0"/>
                    </a:p>
                  </a:txBody>
                  <a:tcPr/>
                </a:tc>
                <a:tc>
                  <a:txBody>
                    <a:bodyPr/>
                    <a:lstStyle/>
                    <a:p>
                      <a:r>
                        <a:rPr lang="en-US" dirty="0"/>
                        <a:t>1</a:t>
                      </a:r>
                      <a:endParaRPr lang="en-IN" dirty="0"/>
                    </a:p>
                  </a:txBody>
                  <a:tcPr/>
                </a:tc>
                <a:tc>
                  <a:txBody>
                    <a:bodyPr/>
                    <a:lstStyle/>
                    <a:p>
                      <a:r>
                        <a:rPr lang="en-US" dirty="0"/>
                        <a:t>5</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extLst>
                  <a:ext uri="{0D108BD9-81ED-4DB2-BD59-A6C34878D82A}">
                    <a16:rowId xmlns:a16="http://schemas.microsoft.com/office/drawing/2014/main" val="213876395"/>
                  </a:ext>
                </a:extLst>
              </a:tr>
              <a:tr h="367280">
                <a:tc>
                  <a:txBody>
                    <a:bodyPr/>
                    <a:lstStyle/>
                    <a:p>
                      <a:r>
                        <a:rPr lang="en-US" dirty="0"/>
                        <a:t>3  </a:t>
                      </a:r>
                      <a:r>
                        <a:rPr lang="en-US" dirty="0" err="1"/>
                        <a:t>Ist</a:t>
                      </a:r>
                      <a:r>
                        <a:rPr lang="en-US" dirty="0"/>
                        <a:t> </a:t>
                      </a:r>
                      <a:r>
                        <a:rPr lang="en-US" dirty="0" err="1"/>
                        <a:t>Quortile</a:t>
                      </a:r>
                      <a:endParaRPr lang="en-IN" dirty="0"/>
                    </a:p>
                  </a:txBody>
                  <a:tcPr/>
                </a:tc>
                <a:tc>
                  <a:txBody>
                    <a:bodyPr/>
                    <a:lstStyle/>
                    <a:p>
                      <a:r>
                        <a:rPr lang="en-US" dirty="0"/>
                        <a:t>6   (Mean= 2)</a:t>
                      </a:r>
                      <a:endParaRPr lang="en-IN" dirty="0"/>
                    </a:p>
                  </a:txBody>
                  <a:tcPr/>
                </a:tc>
                <a:tc>
                  <a:txBody>
                    <a:bodyPr/>
                    <a:lstStyle/>
                    <a:p>
                      <a:r>
                        <a:rPr lang="en-US" dirty="0"/>
                        <a:t>5 (Mean=2)</a:t>
                      </a:r>
                      <a:endParaRPr lang="en-IN" dirty="0"/>
                    </a:p>
                  </a:txBody>
                  <a:tcPr/>
                </a:tc>
                <a:tc>
                  <a:txBody>
                    <a:bodyPr/>
                    <a:lstStyle/>
                    <a:p>
                      <a:r>
                        <a:rPr lang="en-US" dirty="0"/>
                        <a:t>1 (Mean =2)</a:t>
                      </a:r>
                      <a:endParaRPr lang="en-IN" dirty="0"/>
                    </a:p>
                  </a:txBody>
                  <a:tcPr/>
                </a:tc>
                <a:tc>
                  <a:txBody>
                    <a:bodyPr/>
                    <a:lstStyle/>
                    <a:p>
                      <a:r>
                        <a:rPr lang="en-US" dirty="0"/>
                        <a:t>0 (Mean= 0.4)</a:t>
                      </a:r>
                      <a:endParaRPr lang="en-IN" dirty="0"/>
                    </a:p>
                  </a:txBody>
                  <a:tcPr/>
                </a:tc>
                <a:tc>
                  <a:txBody>
                    <a:bodyPr/>
                    <a:lstStyle/>
                    <a:p>
                      <a:r>
                        <a:rPr lang="en-US" dirty="0"/>
                        <a:t>2 (Mean=1.4)</a:t>
                      </a:r>
                      <a:endParaRPr lang="en-IN" dirty="0"/>
                    </a:p>
                  </a:txBody>
                  <a:tcPr/>
                </a:tc>
                <a:extLst>
                  <a:ext uri="{0D108BD9-81ED-4DB2-BD59-A6C34878D82A}">
                    <a16:rowId xmlns:a16="http://schemas.microsoft.com/office/drawing/2014/main" val="439973334"/>
                  </a:ext>
                </a:extLst>
              </a:tr>
              <a:tr h="367280">
                <a:tc>
                  <a:txBody>
                    <a:bodyPr/>
                    <a:lstStyle/>
                    <a:p>
                      <a:r>
                        <a:rPr lang="en-US" dirty="0"/>
                        <a:t>4</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tc>
                  <a:txBody>
                    <a:bodyPr/>
                    <a:lstStyle/>
                    <a:p>
                      <a:r>
                        <a:rPr lang="en-US" dirty="0"/>
                        <a:t>2</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700788340"/>
                  </a:ext>
                </a:extLst>
              </a:tr>
              <a:tr h="367280">
                <a:tc>
                  <a:txBody>
                    <a:bodyPr/>
                    <a:lstStyle/>
                    <a:p>
                      <a:r>
                        <a:rPr lang="en-US" dirty="0"/>
                        <a:t>5</a:t>
                      </a:r>
                      <a:endParaRPr lang="en-IN" dirty="0"/>
                    </a:p>
                  </a:txBody>
                  <a:tcPr/>
                </a:tc>
                <a:tc>
                  <a:txBody>
                    <a:bodyPr/>
                    <a:lstStyle/>
                    <a:p>
                      <a:r>
                        <a:rPr lang="en-US" dirty="0"/>
                        <a:t>2</a:t>
                      </a:r>
                      <a:endParaRPr lang="en-IN" dirty="0"/>
                    </a:p>
                  </a:txBody>
                  <a:tcPr/>
                </a:tc>
                <a:tc>
                  <a:txBody>
                    <a:bodyPr/>
                    <a:lstStyle/>
                    <a:p>
                      <a:r>
                        <a:rPr lang="en-US" dirty="0"/>
                        <a:t>2</a:t>
                      </a:r>
                      <a:endParaRPr lang="en-IN" dirty="0"/>
                    </a:p>
                  </a:txBody>
                  <a:tcPr/>
                </a:tc>
                <a:tc>
                  <a:txBody>
                    <a:bodyPr/>
                    <a:lstStyle/>
                    <a:p>
                      <a:r>
                        <a:rPr lang="en-US" dirty="0"/>
                        <a:t>1</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57290867"/>
                  </a:ext>
                </a:extLst>
              </a:tr>
              <a:tr h="367280">
                <a:tc>
                  <a:txBody>
                    <a:bodyPr/>
                    <a:lstStyle/>
                    <a:p>
                      <a:r>
                        <a:rPr lang="en-US" dirty="0"/>
                        <a:t>6 ( Median</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685588162"/>
                  </a:ext>
                </a:extLst>
              </a:tr>
              <a:tr h="367280">
                <a:tc>
                  <a:txBody>
                    <a:bodyPr/>
                    <a:lstStyle/>
                    <a:p>
                      <a:r>
                        <a:rPr lang="en-US" dirty="0"/>
                        <a:t>7</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2336794751"/>
                  </a:ext>
                </a:extLst>
              </a:tr>
              <a:tr h="367280">
                <a:tc>
                  <a:txBody>
                    <a:bodyPr/>
                    <a:lstStyle/>
                    <a:p>
                      <a:r>
                        <a:rPr lang="en-US" dirty="0"/>
                        <a:t>8</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6</a:t>
                      </a:r>
                      <a:endParaRPr lang="en-IN" dirty="0"/>
                    </a:p>
                  </a:txBody>
                  <a:tcPr/>
                </a:tc>
                <a:tc>
                  <a:txBody>
                    <a:bodyPr/>
                    <a:lstStyle/>
                    <a:p>
                      <a:r>
                        <a:rPr lang="en-US" dirty="0"/>
                        <a:t>1</a:t>
                      </a:r>
                      <a:endParaRPr lang="en-IN" dirty="0"/>
                    </a:p>
                  </a:txBody>
                  <a:tcPr/>
                </a:tc>
                <a:extLst>
                  <a:ext uri="{0D108BD9-81ED-4DB2-BD59-A6C34878D82A}">
                    <a16:rowId xmlns:a16="http://schemas.microsoft.com/office/drawing/2014/main" val="3076527114"/>
                  </a:ext>
                </a:extLst>
              </a:tr>
              <a:tr h="367280">
                <a:tc>
                  <a:txBody>
                    <a:bodyPr/>
                    <a:lstStyle/>
                    <a:p>
                      <a:r>
                        <a:rPr lang="en-US" dirty="0"/>
                        <a:t>9 3</a:t>
                      </a:r>
                      <a:r>
                        <a:rPr lang="en-US" baseline="30000" dirty="0"/>
                        <a:t>rd</a:t>
                      </a:r>
                      <a:r>
                        <a:rPr lang="en-US" dirty="0"/>
                        <a:t> </a:t>
                      </a:r>
                      <a:r>
                        <a:rPr lang="en-US" dirty="0" err="1"/>
                        <a:t>quortile</a:t>
                      </a:r>
                      <a:endParaRPr lang="en-IN" dirty="0"/>
                    </a:p>
                  </a:txBody>
                  <a:tcPr/>
                </a:tc>
                <a:tc>
                  <a:txBody>
                    <a:bodyPr/>
                    <a:lstStyle/>
                    <a:p>
                      <a:r>
                        <a:rPr lang="en-US" dirty="0"/>
                        <a:t>0      (Mean=0)</a:t>
                      </a:r>
                      <a:endParaRPr lang="en-IN" dirty="0"/>
                    </a:p>
                  </a:txBody>
                  <a:tcPr/>
                </a:tc>
                <a:tc>
                  <a:txBody>
                    <a:bodyPr/>
                    <a:lstStyle/>
                    <a:p>
                      <a:r>
                        <a:rPr lang="en-US" dirty="0"/>
                        <a:t>0 (Mean=0)</a:t>
                      </a:r>
                      <a:endParaRPr lang="en-IN" dirty="0"/>
                    </a:p>
                  </a:txBody>
                  <a:tcPr/>
                </a:tc>
                <a:tc>
                  <a:txBody>
                    <a:bodyPr/>
                    <a:lstStyle/>
                    <a:p>
                      <a:r>
                        <a:rPr lang="en-US" dirty="0"/>
                        <a:t>0 (Mean=0)</a:t>
                      </a:r>
                      <a:endParaRPr lang="en-IN" dirty="0"/>
                    </a:p>
                  </a:txBody>
                  <a:tcPr/>
                </a:tc>
                <a:tc>
                  <a:txBody>
                    <a:bodyPr/>
                    <a:lstStyle/>
                    <a:p>
                      <a:r>
                        <a:rPr lang="en-US" dirty="0">
                          <a:solidFill>
                            <a:srgbClr val="FF0000"/>
                          </a:solidFill>
                        </a:rPr>
                        <a:t>2 (Mean=2)</a:t>
                      </a:r>
                      <a:endParaRPr lang="en-IN" dirty="0">
                        <a:solidFill>
                          <a:srgbClr val="FF0000"/>
                        </a:solidFill>
                      </a:endParaRPr>
                    </a:p>
                  </a:txBody>
                  <a:tcPr/>
                </a:tc>
                <a:tc>
                  <a:txBody>
                    <a:bodyPr/>
                    <a:lstStyle/>
                    <a:p>
                      <a:r>
                        <a:rPr lang="en-US" dirty="0"/>
                        <a:t>1 (Mean= 0.6)</a:t>
                      </a:r>
                      <a:endParaRPr lang="en-IN" dirty="0"/>
                    </a:p>
                  </a:txBody>
                  <a:tcPr/>
                </a:tc>
                <a:extLst>
                  <a:ext uri="{0D108BD9-81ED-4DB2-BD59-A6C34878D82A}">
                    <a16:rowId xmlns:a16="http://schemas.microsoft.com/office/drawing/2014/main" val="1310158399"/>
                  </a:ext>
                </a:extLst>
              </a:tr>
              <a:tr h="367280">
                <a:tc>
                  <a:txBody>
                    <a:bodyPr/>
                    <a:lstStyle/>
                    <a:p>
                      <a:r>
                        <a:rPr lang="en-US" dirty="0"/>
                        <a:t>10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2</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2180647519"/>
                  </a:ext>
                </a:extLst>
              </a:tr>
              <a:tr h="367280">
                <a:tc>
                  <a:txBody>
                    <a:bodyPr/>
                    <a:lstStyle/>
                    <a:p>
                      <a:r>
                        <a:rPr lang="en-US" dirty="0"/>
                        <a:t>11</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tc>
                  <a:txBody>
                    <a:bodyPr/>
                    <a:lstStyle/>
                    <a:p>
                      <a:r>
                        <a:rPr lang="en-US" dirty="0"/>
                        <a:t>0</a:t>
                      </a:r>
                      <a:endParaRPr lang="en-IN" dirty="0"/>
                    </a:p>
                  </a:txBody>
                  <a:tcPr/>
                </a:tc>
                <a:extLst>
                  <a:ext uri="{0D108BD9-81ED-4DB2-BD59-A6C34878D82A}">
                    <a16:rowId xmlns:a16="http://schemas.microsoft.com/office/drawing/2014/main" val="3722032625"/>
                  </a:ext>
                </a:extLst>
              </a:tr>
              <a:tr h="367280">
                <a:tc>
                  <a:txBody>
                    <a:bodyPr/>
                    <a:lstStyle/>
                    <a:p>
                      <a:r>
                        <a:rPr lang="en-US" dirty="0"/>
                        <a:t>Total</a:t>
                      </a:r>
                      <a:endParaRPr lang="en-IN" dirty="0"/>
                    </a:p>
                  </a:txBody>
                  <a:tcPr/>
                </a:tc>
                <a:tc>
                  <a:txBody>
                    <a:bodyPr/>
                    <a:lstStyle/>
                    <a:p>
                      <a:r>
                        <a:rPr lang="en-US" dirty="0"/>
                        <a:t>10</a:t>
                      </a:r>
                      <a:endParaRPr lang="en-IN" dirty="0"/>
                    </a:p>
                  </a:txBody>
                  <a:tcPr/>
                </a:tc>
                <a:tc>
                  <a:txBody>
                    <a:bodyPr/>
                    <a:lstStyle/>
                    <a:p>
                      <a:r>
                        <a:rPr lang="en-US" dirty="0"/>
                        <a:t>10</a:t>
                      </a:r>
                      <a:endParaRPr lang="en-IN" dirty="0"/>
                    </a:p>
                  </a:txBody>
                  <a:tcPr/>
                </a:tc>
                <a:tc>
                  <a:txBody>
                    <a:bodyPr/>
                    <a:lstStyle/>
                    <a:p>
                      <a:r>
                        <a:rPr lang="en-US" dirty="0"/>
                        <a:t>10</a:t>
                      </a:r>
                      <a:endParaRPr lang="en-IN" dirty="0"/>
                    </a:p>
                  </a:txBody>
                  <a:tcPr/>
                </a:tc>
                <a:tc>
                  <a:txBody>
                    <a:bodyPr/>
                    <a:lstStyle/>
                    <a:p>
                      <a:r>
                        <a:rPr lang="en-US" dirty="0"/>
                        <a:t>10</a:t>
                      </a:r>
                      <a:endParaRPr lang="en-IN" dirty="0"/>
                    </a:p>
                  </a:txBody>
                  <a:tcPr/>
                </a:tc>
                <a:tc>
                  <a:txBody>
                    <a:bodyPr/>
                    <a:lstStyle/>
                    <a:p>
                      <a:r>
                        <a:rPr lang="en-US" dirty="0"/>
                        <a:t>10</a:t>
                      </a:r>
                      <a:endParaRPr lang="en-IN" dirty="0"/>
                    </a:p>
                  </a:txBody>
                  <a:tcPr/>
                </a:tc>
                <a:extLst>
                  <a:ext uri="{0D108BD9-81ED-4DB2-BD59-A6C34878D82A}">
                    <a16:rowId xmlns:a16="http://schemas.microsoft.com/office/drawing/2014/main" val="1325442902"/>
                  </a:ext>
                </a:extLst>
              </a:tr>
            </a:tbl>
          </a:graphicData>
        </a:graphic>
      </p:graphicFrame>
    </p:spTree>
    <p:extLst>
      <p:ext uri="{BB962C8B-B14F-4D97-AF65-F5344CB8AC3E}">
        <p14:creationId xmlns:p14="http://schemas.microsoft.com/office/powerpoint/2010/main" val="136472234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8E0D7-22A4-25BF-E0C8-0FEC0272DB36}"/>
              </a:ext>
            </a:extLst>
          </p:cNvPr>
          <p:cNvSpPr>
            <a:spLocks noGrp="1"/>
          </p:cNvSpPr>
          <p:nvPr>
            <p:ph type="title"/>
          </p:nvPr>
        </p:nvSpPr>
        <p:spPr/>
        <p:txBody>
          <a:bodyPr/>
          <a:lstStyle/>
          <a:p>
            <a:r>
              <a:rPr lang="en-US" dirty="0"/>
              <a:t>Advantages </a:t>
            </a:r>
            <a:endParaRPr lang="en-IN" dirty="0"/>
          </a:p>
        </p:txBody>
      </p:sp>
      <p:sp>
        <p:nvSpPr>
          <p:cNvPr id="3" name="Content Placeholder 2">
            <a:extLst>
              <a:ext uri="{FF2B5EF4-FFF2-40B4-BE49-F238E27FC236}">
                <a16:creationId xmlns:a16="http://schemas.microsoft.com/office/drawing/2014/main" id="{582CE983-4C5B-7882-FEBD-11F3B71144FB}"/>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000000"/>
                </a:solidFill>
                <a:effectLst/>
                <a:latin typeface="Inter"/>
              </a:rPr>
              <a:t>You can write as many statements as you want in the Thurston scale questionnaire. In fact, the more statements you have, the richer your data will be.</a:t>
            </a:r>
          </a:p>
          <a:p>
            <a:pPr algn="l" fontAlgn="base">
              <a:buFont typeface="Arial" panose="020B0604020202020204" pitchFamily="34" charset="0"/>
              <a:buChar char="•"/>
            </a:pPr>
            <a:r>
              <a:rPr lang="en-US" b="0" i="0" dirty="0">
                <a:solidFill>
                  <a:srgbClr val="000000"/>
                </a:solidFill>
                <a:effectLst/>
                <a:latin typeface="Inter"/>
              </a:rPr>
              <a:t>The Thurston scale is more reliable because it’s designed by experts.</a:t>
            </a:r>
          </a:p>
          <a:p>
            <a:pPr algn="l" fontAlgn="base">
              <a:buFont typeface="Arial" panose="020B0604020202020204" pitchFamily="34" charset="0"/>
              <a:buChar char="•"/>
            </a:pPr>
            <a:r>
              <a:rPr lang="en-US" b="0" i="0" dirty="0">
                <a:solidFill>
                  <a:srgbClr val="000000"/>
                </a:solidFill>
                <a:effectLst/>
                <a:latin typeface="Inter"/>
              </a:rPr>
              <a:t>The Thurston scale lets you assign an average score for each respondent. This lets you compare the results of different respondents and make predictions.</a:t>
            </a:r>
          </a:p>
          <a:p>
            <a:endParaRPr lang="en-IN" dirty="0"/>
          </a:p>
        </p:txBody>
      </p:sp>
    </p:spTree>
    <p:extLst>
      <p:ext uri="{BB962C8B-B14F-4D97-AF65-F5344CB8AC3E}">
        <p14:creationId xmlns:p14="http://schemas.microsoft.com/office/powerpoint/2010/main" val="34073665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398EC-FDEE-05AD-B312-A3989A4A21BF}"/>
              </a:ext>
            </a:extLst>
          </p:cNvPr>
          <p:cNvSpPr>
            <a:spLocks noGrp="1"/>
          </p:cNvSpPr>
          <p:nvPr>
            <p:ph type="title"/>
          </p:nvPr>
        </p:nvSpPr>
        <p:spPr/>
        <p:txBody>
          <a:bodyPr/>
          <a:lstStyle/>
          <a:p>
            <a:r>
              <a:rPr lang="en-US" dirty="0"/>
              <a:t>Disadvantages</a:t>
            </a:r>
            <a:endParaRPr lang="en-IN" dirty="0"/>
          </a:p>
        </p:txBody>
      </p:sp>
      <p:sp>
        <p:nvSpPr>
          <p:cNvPr id="3" name="Content Placeholder 2">
            <a:extLst>
              <a:ext uri="{FF2B5EF4-FFF2-40B4-BE49-F238E27FC236}">
                <a16:creationId xmlns:a16="http://schemas.microsoft.com/office/drawing/2014/main" id="{26ED92B8-3252-A598-1595-65C37A0F1F82}"/>
              </a:ext>
            </a:extLst>
          </p:cNvPr>
          <p:cNvSpPr>
            <a:spLocks noGrp="1"/>
          </p:cNvSpPr>
          <p:nvPr>
            <p:ph idx="1"/>
          </p:nvPr>
        </p:nvSpPr>
        <p:spPr/>
        <p:txBody>
          <a:bodyPr/>
          <a:lstStyle/>
          <a:p>
            <a:pPr algn="l" fontAlgn="base">
              <a:buFont typeface="Arial" panose="020B0604020202020204" pitchFamily="34" charset="0"/>
              <a:buChar char="•"/>
            </a:pPr>
            <a:r>
              <a:rPr lang="en-US" b="0" i="0" dirty="0">
                <a:solidFill>
                  <a:srgbClr val="000000"/>
                </a:solidFill>
                <a:effectLst/>
                <a:latin typeface="Inter"/>
              </a:rPr>
              <a:t>The Thurston scale can be time consuming, in terms of both designing the surveys and analyzing the results.</a:t>
            </a:r>
          </a:p>
          <a:p>
            <a:pPr algn="l" fontAlgn="base">
              <a:buFont typeface="Arial" panose="020B0604020202020204" pitchFamily="34" charset="0"/>
              <a:buChar char="•"/>
            </a:pPr>
            <a:r>
              <a:rPr lang="en-US" b="0" i="0" dirty="0">
                <a:solidFill>
                  <a:srgbClr val="000000"/>
                </a:solidFill>
                <a:effectLst/>
                <a:latin typeface="Inter"/>
              </a:rPr>
              <a:t>Thurstone scales are complex to execute and will require you to do some mathematical calculations. If you just want to quickly create some questions and share the survey, this might not be the right tool for you.</a:t>
            </a:r>
          </a:p>
          <a:p>
            <a:endParaRPr lang="en-IN" dirty="0"/>
          </a:p>
        </p:txBody>
      </p:sp>
    </p:spTree>
    <p:extLst>
      <p:ext uri="{BB962C8B-B14F-4D97-AF65-F5344CB8AC3E}">
        <p14:creationId xmlns:p14="http://schemas.microsoft.com/office/powerpoint/2010/main" val="2653584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51802-2474-45FF-64A8-B0116CAD3CB7}"/>
              </a:ext>
            </a:extLst>
          </p:cNvPr>
          <p:cNvSpPr>
            <a:spLocks noGrp="1"/>
          </p:cNvSpPr>
          <p:nvPr>
            <p:ph type="title"/>
          </p:nvPr>
        </p:nvSpPr>
        <p:spPr>
          <a:xfrm>
            <a:off x="838200" y="107431"/>
            <a:ext cx="10515600" cy="865159"/>
          </a:xfrm>
        </p:spPr>
        <p:txBody>
          <a:bodyPr/>
          <a:lstStyle/>
          <a:p>
            <a:r>
              <a:rPr lang="en-US" dirty="0">
                <a:latin typeface="Times New Roman" panose="02020603050405020304" pitchFamily="18" charset="0"/>
                <a:cs typeface="Times New Roman" panose="02020603050405020304" pitchFamily="18" charset="0"/>
              </a:rPr>
              <a:t>Multidimensional Scaling Techniques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DF3D53-1C24-811A-11F3-1FEA8DDFE105}"/>
              </a:ext>
            </a:extLst>
          </p:cNvPr>
          <p:cNvSpPr>
            <a:spLocks noGrp="1"/>
          </p:cNvSpPr>
          <p:nvPr>
            <p:ph idx="1"/>
          </p:nvPr>
        </p:nvSpPr>
        <p:spPr>
          <a:xfrm>
            <a:off x="838200" y="889462"/>
            <a:ext cx="10515600" cy="5287501"/>
          </a:xfrm>
        </p:spPr>
        <p:txBody>
          <a:bodyPr/>
          <a:lstStyle/>
          <a:p>
            <a:pPr marL="0" indent="0" algn="just">
              <a:buNone/>
            </a:pPr>
            <a:r>
              <a:rPr lang="en-US" dirty="0">
                <a:latin typeface="Times New Roman" panose="02020603050405020304" pitchFamily="18" charset="0"/>
                <a:cs typeface="Times New Roman" panose="02020603050405020304" pitchFamily="18" charset="0"/>
              </a:rPr>
              <a:t>Multidimensional Scaling (MDS) is a class of procedures for representing perception and preferences of respondents spatially by means of a visual display. Perceived or psychological relationships among points in a multidimensional space. These geometric representations are often called spatial maps. The axes of the spatial map are assumed to denote the psychological bases or underlying dimensions respondents use to form perceptions and preferences for stimuli. MDS has been used in marketing to identify:</a:t>
            </a:r>
          </a:p>
          <a:p>
            <a:pPr marL="0" indent="0" algn="just">
              <a:buNone/>
            </a:pPr>
            <a:r>
              <a:rPr lang="en-US" dirty="0">
                <a:latin typeface="Times New Roman" panose="02020603050405020304" pitchFamily="18" charset="0"/>
                <a:cs typeface="Times New Roman" panose="02020603050405020304" pitchFamily="18" charset="0"/>
              </a:rPr>
              <a:t> 1. The number and nature of dimensions consumers use to perceive     </a:t>
            </a:r>
          </a:p>
          <a:p>
            <a:pPr marL="0" indent="0" algn="just">
              <a:buNone/>
            </a:pPr>
            <a:r>
              <a:rPr lang="en-US" dirty="0">
                <a:latin typeface="Times New Roman" panose="02020603050405020304" pitchFamily="18" charset="0"/>
                <a:cs typeface="Times New Roman" panose="02020603050405020304" pitchFamily="18" charset="0"/>
              </a:rPr>
              <a:t>      different brands in the marketplace </a:t>
            </a:r>
          </a:p>
          <a:p>
            <a:pPr marL="0" indent="0" algn="just">
              <a:buNone/>
            </a:pPr>
            <a:r>
              <a:rPr lang="en-US" dirty="0">
                <a:latin typeface="Times New Roman" panose="02020603050405020304" pitchFamily="18" charset="0"/>
                <a:cs typeface="Times New Roman" panose="02020603050405020304" pitchFamily="18" charset="0"/>
              </a:rPr>
              <a:t>2. The positioning of current brands on these dimensions </a:t>
            </a:r>
          </a:p>
          <a:p>
            <a:pPr marL="0" indent="0" algn="just">
              <a:buNone/>
            </a:pPr>
            <a:r>
              <a:rPr lang="en-US" dirty="0">
                <a:latin typeface="Times New Roman" panose="02020603050405020304" pitchFamily="18" charset="0"/>
                <a:cs typeface="Times New Roman" panose="02020603050405020304" pitchFamily="18" charset="0"/>
              </a:rPr>
              <a:t>3. The positioning of consumers ideal brand on these dimensions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894152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Multi Dimensional scaling</a:t>
            </a:r>
            <a:endParaRPr lang="en-IN" dirty="0"/>
          </a:p>
        </p:txBody>
      </p:sp>
      <p:sp>
        <p:nvSpPr>
          <p:cNvPr id="3" name="Content Placeholder 2"/>
          <p:cNvSpPr>
            <a:spLocks noGrp="1"/>
          </p:cNvSpPr>
          <p:nvPr>
            <p:ph idx="1"/>
          </p:nvPr>
        </p:nvSpPr>
        <p:spPr/>
        <p:txBody>
          <a:bodyPr>
            <a:normAutofit fontScale="70000" lnSpcReduction="20000"/>
          </a:bodyPr>
          <a:lstStyle/>
          <a:p>
            <a:pPr algn="just"/>
            <a:r>
              <a:rPr lang="en-US" dirty="0">
                <a:latin typeface="Times New Roman" panose="02020603050405020304" pitchFamily="18" charset="0"/>
                <a:cs typeface="Times New Roman" panose="02020603050405020304" pitchFamily="18" charset="0"/>
              </a:rPr>
              <a:t>Image measurement. Compare the customers’ and noncustomers’ perceptions of the firm with the firm’s perceptions of itself and thus identify perceptual gaps.</a:t>
            </a:r>
          </a:p>
          <a:p>
            <a:pPr algn="just"/>
            <a:r>
              <a:rPr lang="en-US" dirty="0">
                <a:latin typeface="Times New Roman" panose="02020603050405020304" pitchFamily="18" charset="0"/>
                <a:cs typeface="Times New Roman" panose="02020603050405020304" pitchFamily="18" charset="0"/>
              </a:rPr>
              <a:t>Market segmentation. Position brands and consumers in the same space and thus identify groups of consumers with relatively homogeneous perceptions.</a:t>
            </a:r>
          </a:p>
          <a:p>
            <a:pPr algn="just"/>
            <a:r>
              <a:rPr lang="en-US" dirty="0">
                <a:latin typeface="Times New Roman" panose="02020603050405020304" pitchFamily="18" charset="0"/>
                <a:cs typeface="Times New Roman" panose="02020603050405020304" pitchFamily="18" charset="0"/>
              </a:rPr>
              <a:t>New product development. To look for gaps in the spatial map, which indicate potential opportunities for positioning new products. Also, to evaluate new product concepts and existing brands on attest basis to determine how consumers perceive the new concepts. The proportion of preferences for each new product is one indicator of its success.</a:t>
            </a:r>
          </a:p>
          <a:p>
            <a:pPr algn="just"/>
            <a:r>
              <a:rPr lang="en-US" dirty="0">
                <a:latin typeface="Times New Roman" panose="02020603050405020304" pitchFamily="18" charset="0"/>
                <a:cs typeface="Times New Roman" panose="02020603050405020304" pitchFamily="18" charset="0"/>
              </a:rPr>
              <a:t>Assessing advertising effectiveness. Spatial maps can be used to determine whether advertising has been successful in achieving the desired brand positioning. </a:t>
            </a:r>
          </a:p>
          <a:p>
            <a:pPr algn="just"/>
            <a:r>
              <a:rPr lang="en-US" dirty="0">
                <a:latin typeface="Times New Roman" panose="02020603050405020304" pitchFamily="18" charset="0"/>
                <a:cs typeface="Times New Roman" panose="02020603050405020304" pitchFamily="18" charset="0"/>
              </a:rPr>
              <a:t>Pricing analysis. Spatial maps developed with and without pricing information can be compared to determine the impact of pricing.  Channel decisions. Judgments on compatibility of brands with different retail outlets could lead to spatial maps useful for making channel decisions. </a:t>
            </a:r>
          </a:p>
          <a:p>
            <a:pPr algn="just"/>
            <a:r>
              <a:rPr lang="en-US" dirty="0">
                <a:latin typeface="Times New Roman" panose="02020603050405020304" pitchFamily="18" charset="0"/>
                <a:cs typeface="Times New Roman" panose="02020603050405020304" pitchFamily="18" charset="0"/>
              </a:rPr>
              <a:t>Attitude scale construction. MDS techniques can be used to develop the appropriate dimensionality and configuration of the attitude space.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285171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78511"/>
            <a:ext cx="10515600" cy="913171"/>
          </a:xfrm>
        </p:spPr>
        <p:txBody>
          <a:bodyPr/>
          <a:lstStyle/>
          <a:p>
            <a:r>
              <a:rPr lang="en-US" dirty="0"/>
              <a:t>Example of multi dimensional Scaling </a:t>
            </a:r>
            <a:endParaRPr lang="en-IN" dirty="0"/>
          </a:p>
        </p:txBody>
      </p:sp>
      <p:pic>
        <p:nvPicPr>
          <p:cNvPr id="4" name="Picture 3"/>
          <p:cNvPicPr>
            <a:picLocks noChangeAspect="1"/>
          </p:cNvPicPr>
          <p:nvPr/>
        </p:nvPicPr>
        <p:blipFill>
          <a:blip r:embed="rId2"/>
          <a:stretch>
            <a:fillRect/>
          </a:stretch>
        </p:blipFill>
        <p:spPr>
          <a:xfrm>
            <a:off x="344943" y="1325563"/>
            <a:ext cx="4712249" cy="5224865"/>
          </a:xfrm>
          <a:prstGeom prst="rect">
            <a:avLst/>
          </a:prstGeom>
        </p:spPr>
      </p:pic>
      <p:pic>
        <p:nvPicPr>
          <p:cNvPr id="1028" name="Picture 4" descr="The BCG Matrix: How to Strategically Improve Your Product Portfolio">
            <a:extLst>
              <a:ext uri="{FF2B5EF4-FFF2-40B4-BE49-F238E27FC236}">
                <a16:creationId xmlns:a16="http://schemas.microsoft.com/office/drawing/2014/main" id="{3867D1E6-DFB1-501F-96D2-045DAE19A2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6086" y="1325563"/>
            <a:ext cx="6710641" cy="5532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93744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90F5D-BB01-A668-B4E5-DBC29D6BED8C}"/>
              </a:ext>
            </a:extLst>
          </p:cNvPr>
          <p:cNvSpPr>
            <a:spLocks noGrp="1"/>
          </p:cNvSpPr>
          <p:nvPr>
            <p:ph type="title"/>
          </p:nvPr>
        </p:nvSpPr>
        <p:spPr>
          <a:xfrm>
            <a:off x="838200" y="365126"/>
            <a:ext cx="10515600" cy="801202"/>
          </a:xfrm>
        </p:spPr>
        <p:txBody>
          <a:bodyPr/>
          <a:lstStyle/>
          <a:p>
            <a:r>
              <a:rPr lang="en-US" dirty="0"/>
              <a:t>Practical example</a:t>
            </a:r>
            <a:endParaRPr lang="en-IN" dirty="0"/>
          </a:p>
        </p:txBody>
      </p:sp>
      <p:sp>
        <p:nvSpPr>
          <p:cNvPr id="3" name="Content Placeholder 2">
            <a:extLst>
              <a:ext uri="{FF2B5EF4-FFF2-40B4-BE49-F238E27FC236}">
                <a16:creationId xmlns:a16="http://schemas.microsoft.com/office/drawing/2014/main" id="{367A74BD-937C-FAD2-93CF-EE4C1816A370}"/>
              </a:ext>
            </a:extLst>
          </p:cNvPr>
          <p:cNvSpPr>
            <a:spLocks noGrp="1"/>
          </p:cNvSpPr>
          <p:nvPr>
            <p:ph idx="1"/>
          </p:nvPr>
        </p:nvSpPr>
        <p:spPr>
          <a:xfrm>
            <a:off x="838200" y="1259633"/>
            <a:ext cx="10515600" cy="4917330"/>
          </a:xfrm>
        </p:spPr>
        <p:txBody>
          <a:bodyPr/>
          <a:lstStyle/>
          <a:p>
            <a:r>
              <a:rPr lang="en-IN" b="1" dirty="0"/>
              <a:t>Research Problem</a:t>
            </a:r>
            <a:endParaRPr lang="en-IN" dirty="0"/>
          </a:p>
          <a:p>
            <a:r>
              <a:rPr lang="en-IN" dirty="0"/>
              <a:t>A smartphone company wants to know how customers perceive different smartphone brands.</a:t>
            </a:r>
          </a:p>
          <a:p>
            <a:r>
              <a:rPr lang="en-IN" dirty="0"/>
              <a:t>Suppose five brands are selected:</a:t>
            </a:r>
          </a:p>
          <a:p>
            <a:pPr lvl="0"/>
            <a:r>
              <a:rPr lang="en-IN" dirty="0"/>
              <a:t>Samsung</a:t>
            </a:r>
          </a:p>
          <a:p>
            <a:pPr lvl="0"/>
            <a:r>
              <a:rPr lang="en-IN" dirty="0"/>
              <a:t>Apple</a:t>
            </a:r>
          </a:p>
          <a:p>
            <a:pPr lvl="0"/>
            <a:r>
              <a:rPr lang="en-IN" dirty="0"/>
              <a:t>OnePlus</a:t>
            </a:r>
          </a:p>
          <a:p>
            <a:pPr lvl="0"/>
            <a:r>
              <a:rPr lang="en-IN" dirty="0"/>
              <a:t>Vivo</a:t>
            </a:r>
          </a:p>
          <a:p>
            <a:pPr lvl="0"/>
            <a:r>
              <a:rPr lang="en-IN" dirty="0"/>
              <a:t>Redmi</a:t>
            </a:r>
          </a:p>
          <a:p>
            <a:pPr marL="0" indent="0">
              <a:buNone/>
            </a:pPr>
            <a:endParaRPr lang="en-IN" dirty="0"/>
          </a:p>
        </p:txBody>
      </p:sp>
    </p:spTree>
    <p:extLst>
      <p:ext uri="{BB962C8B-B14F-4D97-AF65-F5344CB8AC3E}">
        <p14:creationId xmlns:p14="http://schemas.microsoft.com/office/powerpoint/2010/main" val="134842186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251E1F-3666-09FE-E93F-48FA480B1DA2}"/>
              </a:ext>
            </a:extLst>
          </p:cNvPr>
          <p:cNvSpPr>
            <a:spLocks noGrp="1"/>
          </p:cNvSpPr>
          <p:nvPr>
            <p:ph idx="1"/>
          </p:nvPr>
        </p:nvSpPr>
        <p:spPr>
          <a:xfrm>
            <a:off x="838200" y="513184"/>
            <a:ext cx="10515600" cy="5663779"/>
          </a:xfrm>
        </p:spPr>
        <p:txBody>
          <a:bodyPr/>
          <a:lstStyle/>
          <a:p>
            <a:pPr marL="0" indent="0">
              <a:buNone/>
            </a:pPr>
            <a:endParaRPr lang="en-IN" dirty="0"/>
          </a:p>
          <a:p>
            <a:r>
              <a:rPr lang="en-IN" dirty="0"/>
              <a:t>Assume 50 respondents rated the similarity between every pair of brands on a scale of</a:t>
            </a:r>
          </a:p>
          <a:p>
            <a:r>
              <a:rPr lang="en-IN" b="1" dirty="0"/>
              <a:t>1 = Very Similar</a:t>
            </a:r>
            <a:endParaRPr lang="en-IN" dirty="0"/>
          </a:p>
          <a:p>
            <a:r>
              <a:rPr lang="en-IN" b="1" dirty="0"/>
              <a:t>10 = Very Different</a:t>
            </a:r>
            <a:endParaRPr lang="en-IN" dirty="0"/>
          </a:p>
          <a:p>
            <a:r>
              <a:rPr lang="en-IN" dirty="0"/>
              <a:t>The average ratings are shown below.</a:t>
            </a:r>
          </a:p>
          <a:p>
            <a:pPr marL="0" indent="0">
              <a:buNone/>
            </a:pPr>
            <a:endParaRPr lang="en-IN" dirty="0"/>
          </a:p>
        </p:txBody>
      </p:sp>
    </p:spTree>
    <p:extLst>
      <p:ext uri="{BB962C8B-B14F-4D97-AF65-F5344CB8AC3E}">
        <p14:creationId xmlns:p14="http://schemas.microsoft.com/office/powerpoint/2010/main" val="2463444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526EC-5156-2206-CC1A-3D1BCE2451C0}"/>
              </a:ext>
            </a:extLst>
          </p:cNvPr>
          <p:cNvSpPr>
            <a:spLocks noGrp="1"/>
          </p:cNvSpPr>
          <p:nvPr>
            <p:ph type="title"/>
          </p:nvPr>
        </p:nvSpPr>
        <p:spPr>
          <a:xfrm>
            <a:off x="838200" y="365125"/>
            <a:ext cx="10515600" cy="791871"/>
          </a:xfrm>
        </p:spPr>
        <p:txBody>
          <a:bodyPr/>
          <a:lstStyle/>
          <a:p>
            <a:r>
              <a:rPr lang="en-US" dirty="0"/>
              <a:t>Survey result</a:t>
            </a:r>
            <a:endParaRPr lang="en-IN" dirty="0"/>
          </a:p>
        </p:txBody>
      </p:sp>
      <p:graphicFrame>
        <p:nvGraphicFramePr>
          <p:cNvPr id="4" name="Table 3">
            <a:extLst>
              <a:ext uri="{FF2B5EF4-FFF2-40B4-BE49-F238E27FC236}">
                <a16:creationId xmlns:a16="http://schemas.microsoft.com/office/drawing/2014/main" id="{B5DD445B-8E77-6D5F-0635-71DF85A2929A}"/>
              </a:ext>
            </a:extLst>
          </p:cNvPr>
          <p:cNvGraphicFramePr>
            <a:graphicFrameLocks noGrp="1"/>
          </p:cNvGraphicFramePr>
          <p:nvPr>
            <p:extLst>
              <p:ext uri="{D42A27DB-BD31-4B8C-83A1-F6EECF244321}">
                <p14:modId xmlns:p14="http://schemas.microsoft.com/office/powerpoint/2010/main" val="1445822050"/>
              </p:ext>
            </p:extLst>
          </p:nvPr>
        </p:nvGraphicFramePr>
        <p:xfrm>
          <a:off x="688911" y="1222310"/>
          <a:ext cx="10515600" cy="5477070"/>
        </p:xfrm>
        <a:graphic>
          <a:graphicData uri="http://schemas.openxmlformats.org/drawingml/2006/table">
            <a:tbl>
              <a:tblPr firstRow="1" firstCol="1" bandRow="1">
                <a:tableStyleId>{5C22544A-7EE6-4342-B048-85BDC9FD1C3A}</a:tableStyleId>
              </a:tblPr>
              <a:tblGrid>
                <a:gridCol w="1752600">
                  <a:extLst>
                    <a:ext uri="{9D8B030D-6E8A-4147-A177-3AD203B41FA5}">
                      <a16:colId xmlns:a16="http://schemas.microsoft.com/office/drawing/2014/main" val="2451132546"/>
                    </a:ext>
                  </a:extLst>
                </a:gridCol>
                <a:gridCol w="1752600">
                  <a:extLst>
                    <a:ext uri="{9D8B030D-6E8A-4147-A177-3AD203B41FA5}">
                      <a16:colId xmlns:a16="http://schemas.microsoft.com/office/drawing/2014/main" val="3350393538"/>
                    </a:ext>
                  </a:extLst>
                </a:gridCol>
                <a:gridCol w="1752600">
                  <a:extLst>
                    <a:ext uri="{9D8B030D-6E8A-4147-A177-3AD203B41FA5}">
                      <a16:colId xmlns:a16="http://schemas.microsoft.com/office/drawing/2014/main" val="1059677921"/>
                    </a:ext>
                  </a:extLst>
                </a:gridCol>
                <a:gridCol w="1752600">
                  <a:extLst>
                    <a:ext uri="{9D8B030D-6E8A-4147-A177-3AD203B41FA5}">
                      <a16:colId xmlns:a16="http://schemas.microsoft.com/office/drawing/2014/main" val="2839029504"/>
                    </a:ext>
                  </a:extLst>
                </a:gridCol>
                <a:gridCol w="1752600">
                  <a:extLst>
                    <a:ext uri="{9D8B030D-6E8A-4147-A177-3AD203B41FA5}">
                      <a16:colId xmlns:a16="http://schemas.microsoft.com/office/drawing/2014/main" val="1639527330"/>
                    </a:ext>
                  </a:extLst>
                </a:gridCol>
                <a:gridCol w="1752600">
                  <a:extLst>
                    <a:ext uri="{9D8B030D-6E8A-4147-A177-3AD203B41FA5}">
                      <a16:colId xmlns:a16="http://schemas.microsoft.com/office/drawing/2014/main" val="3465886658"/>
                    </a:ext>
                  </a:extLst>
                </a:gridCol>
              </a:tblGrid>
              <a:tr h="912845">
                <a:tc>
                  <a:txBody>
                    <a:bodyPr/>
                    <a:lstStyle/>
                    <a:p>
                      <a:pPr>
                        <a:lnSpc>
                          <a:spcPct val="107000"/>
                        </a:lnSpc>
                        <a:spcAft>
                          <a:spcPts val="800"/>
                        </a:spcAft>
                        <a:buNone/>
                      </a:pPr>
                      <a:r>
                        <a:rPr lang="en-IN" sz="3600" kern="100" dirty="0">
                          <a:effectLst/>
                        </a:rPr>
                        <a:t>Brand</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Samsung</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Apple</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OnePlus</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Vivo</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Redmi</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3047305427"/>
                  </a:ext>
                </a:extLst>
              </a:tr>
              <a:tr h="912845">
                <a:tc>
                  <a:txBody>
                    <a:bodyPr/>
                    <a:lstStyle/>
                    <a:p>
                      <a:pPr>
                        <a:lnSpc>
                          <a:spcPct val="107000"/>
                        </a:lnSpc>
                        <a:spcAft>
                          <a:spcPts val="800"/>
                        </a:spcAft>
                        <a:buNone/>
                      </a:pPr>
                      <a:r>
                        <a:rPr lang="en-IN" sz="3600" kern="100" dirty="0">
                          <a:effectLst/>
                        </a:rPr>
                        <a:t>Samsung</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0</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6</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3</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5</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4</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1410908325"/>
                  </a:ext>
                </a:extLst>
              </a:tr>
              <a:tr h="912845">
                <a:tc>
                  <a:txBody>
                    <a:bodyPr/>
                    <a:lstStyle/>
                    <a:p>
                      <a:pPr>
                        <a:lnSpc>
                          <a:spcPct val="107000"/>
                        </a:lnSpc>
                        <a:spcAft>
                          <a:spcPts val="800"/>
                        </a:spcAft>
                        <a:buNone/>
                      </a:pPr>
                      <a:r>
                        <a:rPr lang="en-IN" sz="3600" kern="100" dirty="0">
                          <a:effectLst/>
                        </a:rPr>
                        <a:t>Apple</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6</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0</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5</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8</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9</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1119034957"/>
                  </a:ext>
                </a:extLst>
              </a:tr>
              <a:tr h="912845">
                <a:tc>
                  <a:txBody>
                    <a:bodyPr/>
                    <a:lstStyle/>
                    <a:p>
                      <a:pPr>
                        <a:lnSpc>
                          <a:spcPct val="107000"/>
                        </a:lnSpc>
                        <a:spcAft>
                          <a:spcPts val="800"/>
                        </a:spcAft>
                        <a:buNone/>
                      </a:pPr>
                      <a:r>
                        <a:rPr lang="en-IN" sz="3600" kern="100" dirty="0">
                          <a:effectLst/>
                        </a:rPr>
                        <a:t>OnePlus</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3</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5</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0</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4</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5</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2955766744"/>
                  </a:ext>
                </a:extLst>
              </a:tr>
              <a:tr h="912845">
                <a:tc>
                  <a:txBody>
                    <a:bodyPr/>
                    <a:lstStyle/>
                    <a:p>
                      <a:pPr>
                        <a:lnSpc>
                          <a:spcPct val="107000"/>
                        </a:lnSpc>
                        <a:spcAft>
                          <a:spcPts val="800"/>
                        </a:spcAft>
                        <a:buNone/>
                      </a:pPr>
                      <a:r>
                        <a:rPr lang="en-IN" sz="3600" kern="100" dirty="0">
                          <a:effectLst/>
                        </a:rPr>
                        <a:t>Vivo</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5</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8</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4</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a:effectLst/>
                        </a:rPr>
                        <a:t>0</a:t>
                      </a:r>
                      <a:endParaRPr lang="en-IN" sz="3600" kern="10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2</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1595402479"/>
                  </a:ext>
                </a:extLst>
              </a:tr>
              <a:tr h="912845">
                <a:tc>
                  <a:txBody>
                    <a:bodyPr/>
                    <a:lstStyle/>
                    <a:p>
                      <a:pPr>
                        <a:lnSpc>
                          <a:spcPct val="107000"/>
                        </a:lnSpc>
                        <a:spcAft>
                          <a:spcPts val="800"/>
                        </a:spcAft>
                        <a:buNone/>
                      </a:pPr>
                      <a:r>
                        <a:rPr lang="en-IN" sz="3600" kern="100" dirty="0">
                          <a:effectLst/>
                        </a:rPr>
                        <a:t>Redmi</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4</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9</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5</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2</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tc>
                  <a:txBody>
                    <a:bodyPr/>
                    <a:lstStyle/>
                    <a:p>
                      <a:pPr>
                        <a:lnSpc>
                          <a:spcPct val="107000"/>
                        </a:lnSpc>
                        <a:spcAft>
                          <a:spcPts val="800"/>
                        </a:spcAft>
                        <a:buNone/>
                      </a:pPr>
                      <a:r>
                        <a:rPr lang="en-IN" sz="3600" kern="100" dirty="0">
                          <a:effectLst/>
                        </a:rPr>
                        <a:t>0</a:t>
                      </a:r>
                      <a:endParaRPr lang="en-IN" sz="3600" kern="100" dirty="0">
                        <a:effectLst/>
                        <a:latin typeface="Calibri" panose="020F0502020204030204" pitchFamily="34" charset="0"/>
                        <a:ea typeface="Calibri" panose="020F0502020204030204" pitchFamily="34" charset="0"/>
                        <a:cs typeface="Tunga" panose="020B0502040204020203" pitchFamily="34" charset="0"/>
                      </a:endParaRPr>
                    </a:p>
                  </a:txBody>
                  <a:tcPr marL="9525" marR="9525" marT="9525" marB="9525" anchor="ctr"/>
                </a:tc>
                <a:extLst>
                  <a:ext uri="{0D108BD9-81ED-4DB2-BD59-A6C34878D82A}">
                    <a16:rowId xmlns:a16="http://schemas.microsoft.com/office/drawing/2014/main" val="2780058510"/>
                  </a:ext>
                </a:extLst>
              </a:tr>
            </a:tbl>
          </a:graphicData>
        </a:graphic>
      </p:graphicFrame>
    </p:spTree>
    <p:extLst>
      <p:ext uri="{BB962C8B-B14F-4D97-AF65-F5344CB8AC3E}">
        <p14:creationId xmlns:p14="http://schemas.microsoft.com/office/powerpoint/2010/main" val="140932874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4" descr="Generated image: MDS perceptual map of smartphone brands">
            <a:extLst>
              <a:ext uri="{FF2B5EF4-FFF2-40B4-BE49-F238E27FC236}">
                <a16:creationId xmlns:a16="http://schemas.microsoft.com/office/drawing/2014/main" id="{323EC0AC-0FBC-D149-A09F-8E285A4480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6" name="Picture 5">
            <a:extLst>
              <a:ext uri="{FF2B5EF4-FFF2-40B4-BE49-F238E27FC236}">
                <a16:creationId xmlns:a16="http://schemas.microsoft.com/office/drawing/2014/main" id="{E80E7C7C-C1F4-FE16-0D69-33550D2F7445}"/>
              </a:ext>
            </a:extLst>
          </p:cNvPr>
          <p:cNvPicPr>
            <a:picLocks noChangeAspect="1"/>
          </p:cNvPicPr>
          <p:nvPr/>
        </p:nvPicPr>
        <p:blipFill>
          <a:blip r:embed="rId2"/>
          <a:stretch>
            <a:fillRect/>
          </a:stretch>
        </p:blipFill>
        <p:spPr>
          <a:xfrm>
            <a:off x="279917" y="0"/>
            <a:ext cx="10795519" cy="6858000"/>
          </a:xfrm>
          <a:prstGeom prst="rect">
            <a:avLst/>
          </a:prstGeom>
        </p:spPr>
      </p:pic>
    </p:spTree>
    <p:extLst>
      <p:ext uri="{BB962C8B-B14F-4D97-AF65-F5344CB8AC3E}">
        <p14:creationId xmlns:p14="http://schemas.microsoft.com/office/powerpoint/2010/main" val="121654301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753687" y="458219"/>
            <a:ext cx="10643061" cy="6143106"/>
          </a:xfrm>
          <a:prstGeom prst="rect">
            <a:avLst/>
          </a:prstGeom>
        </p:spPr>
      </p:pic>
    </p:spTree>
    <p:extLst>
      <p:ext uri="{BB962C8B-B14F-4D97-AF65-F5344CB8AC3E}">
        <p14:creationId xmlns:p14="http://schemas.microsoft.com/office/powerpoint/2010/main" val="27813839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40715"/>
          </a:xfrm>
        </p:spPr>
        <p:txBody>
          <a:bodyPr>
            <a:normAutofit fontScale="90000"/>
          </a:bodyPr>
          <a:lstStyle/>
          <a:p>
            <a:r>
              <a:rPr lang="en-US" dirty="0"/>
              <a:t>Limitations of MDS</a:t>
            </a:r>
            <a:endParaRPr lang="en-IN" dirty="0"/>
          </a:p>
        </p:txBody>
      </p:sp>
      <p:pic>
        <p:nvPicPr>
          <p:cNvPr id="4" name="Picture 3"/>
          <p:cNvPicPr>
            <a:picLocks noChangeAspect="1"/>
          </p:cNvPicPr>
          <p:nvPr/>
        </p:nvPicPr>
        <p:blipFill>
          <a:blip r:embed="rId2"/>
          <a:stretch>
            <a:fillRect/>
          </a:stretch>
        </p:blipFill>
        <p:spPr>
          <a:xfrm>
            <a:off x="1163781" y="1064028"/>
            <a:ext cx="10775009" cy="5378335"/>
          </a:xfrm>
          <a:prstGeom prst="rect">
            <a:avLst/>
          </a:prstGeom>
        </p:spPr>
      </p:pic>
    </p:spTree>
    <p:extLst>
      <p:ext uri="{BB962C8B-B14F-4D97-AF65-F5344CB8AC3E}">
        <p14:creationId xmlns:p14="http://schemas.microsoft.com/office/powerpoint/2010/main" val="37984353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1829</TotalTime>
  <Words>7730</Words>
  <Application>Microsoft Office PowerPoint</Application>
  <PresentationFormat>Widescreen</PresentationFormat>
  <Paragraphs>641</Paragraphs>
  <Slides>86</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Calibri</vt:lpstr>
      <vt:lpstr>Calibri Light</vt:lpstr>
      <vt:lpstr>Inter</vt:lpstr>
      <vt:lpstr>Times New Roman</vt:lpstr>
      <vt:lpstr>Wingdings</vt:lpstr>
      <vt:lpstr>Office Theme</vt:lpstr>
      <vt:lpstr> Unit-4 Data Collection</vt:lpstr>
      <vt:lpstr>Discussion Points</vt:lpstr>
      <vt:lpstr>What is Data</vt:lpstr>
      <vt:lpstr>Information</vt:lpstr>
      <vt:lpstr>Differences between Data and Information</vt:lpstr>
      <vt:lpstr>Types of data</vt:lpstr>
      <vt:lpstr>Primary Data</vt:lpstr>
      <vt:lpstr>Advantages of Primary data</vt:lpstr>
      <vt:lpstr>Disadvantages</vt:lpstr>
      <vt:lpstr>Sources of Primary Data</vt:lpstr>
      <vt:lpstr>Survey method tools Schedule &amp; questionnaire </vt:lpstr>
      <vt:lpstr> Meaning &amp;Types of schedule </vt:lpstr>
      <vt:lpstr>Types of Schedules</vt:lpstr>
      <vt:lpstr> Dr Bhatras schedule for investigating alopecia in patients </vt:lpstr>
      <vt:lpstr>PowerPoint Presentation</vt:lpstr>
      <vt:lpstr>PowerPoint Presentation</vt:lpstr>
      <vt:lpstr>PowerPoint Presentation</vt:lpstr>
      <vt:lpstr>PowerPoint Presentation</vt:lpstr>
      <vt:lpstr>Questionnaire</vt:lpstr>
      <vt:lpstr>Advantages of Questionnaire Method</vt:lpstr>
      <vt:lpstr>Limitations of Questionnaire Method</vt:lpstr>
      <vt:lpstr>Differences between Questionnaire and Schedule</vt:lpstr>
      <vt:lpstr>Prerequisites of  Questionnaire</vt:lpstr>
      <vt:lpstr>Constructing Questionnaire</vt:lpstr>
      <vt:lpstr>PowerPoint Presentation</vt:lpstr>
      <vt:lpstr>Steps involved in preparing questionnaire</vt:lpstr>
      <vt:lpstr>PowerPoint Presentation</vt:lpstr>
      <vt:lpstr>PowerPoint Presentation</vt:lpstr>
      <vt:lpstr>Interview Techniques</vt:lpstr>
      <vt:lpstr>Discussion Points</vt:lpstr>
      <vt:lpstr>Meaning of Interview</vt:lpstr>
      <vt:lpstr>PowerPoint Presentation</vt:lpstr>
      <vt:lpstr>Types of Interviews</vt:lpstr>
      <vt:lpstr>Merits of Interview method</vt:lpstr>
      <vt:lpstr>Demerits of Interview Method</vt:lpstr>
      <vt:lpstr>Observation</vt:lpstr>
      <vt:lpstr>Discussion points</vt:lpstr>
      <vt:lpstr>Meaning</vt:lpstr>
      <vt:lpstr>Types of observations</vt:lpstr>
      <vt:lpstr>PowerPoint Presentation</vt:lpstr>
      <vt:lpstr>Merits of observation method of data collection( Advantages)</vt:lpstr>
      <vt:lpstr>Limitations ( Disadvantages)</vt:lpstr>
      <vt:lpstr>Secondary Data</vt:lpstr>
      <vt:lpstr>Advantages</vt:lpstr>
      <vt:lpstr>Disadvantages</vt:lpstr>
      <vt:lpstr>Sources of Secondary Data</vt:lpstr>
      <vt:lpstr>How to give citations</vt:lpstr>
      <vt:lpstr>2. Periodical referencing</vt:lpstr>
      <vt:lpstr>Referencing Research thesis / dessertation</vt:lpstr>
      <vt:lpstr> Referencing Encyclopedia. </vt:lpstr>
      <vt:lpstr>Selection of Appropriate Method of Data Collection</vt:lpstr>
      <vt:lpstr>PowerPoint Presentation</vt:lpstr>
      <vt:lpstr>Scales of Measurement</vt:lpstr>
      <vt:lpstr>A. Basic measurement scales:</vt:lpstr>
      <vt:lpstr>1. Nominal Scale:</vt:lpstr>
      <vt:lpstr>2. Ordinal Scale:</vt:lpstr>
      <vt:lpstr>3. Interval Scale:</vt:lpstr>
      <vt:lpstr>4. The ratio scale </vt:lpstr>
      <vt:lpstr>PowerPoint Presentation</vt:lpstr>
      <vt:lpstr>PowerPoint Presentation</vt:lpstr>
      <vt:lpstr>Questionnaire based on scales</vt:lpstr>
      <vt:lpstr>B.  Attitude Measurement scales.</vt:lpstr>
      <vt:lpstr>What is Likert scale?</vt:lpstr>
      <vt:lpstr>1. Likert’s scale</vt:lpstr>
      <vt:lpstr>a. Even Likert Scale</vt:lpstr>
      <vt:lpstr>4 Point Scale</vt:lpstr>
      <vt:lpstr>b. Odd Likert Scales</vt:lpstr>
      <vt:lpstr>5 Point Scales</vt:lpstr>
      <vt:lpstr>7 Points Likerts Scales</vt:lpstr>
      <vt:lpstr>2. The semantic differential scale</vt:lpstr>
      <vt:lpstr>Example of Semantic Differential Scale</vt:lpstr>
      <vt:lpstr>Thurstone Scale</vt:lpstr>
      <vt:lpstr>Steps involved in developing the Thurstone Scale.</vt:lpstr>
      <vt:lpstr>Example of developing Thurstone scale</vt:lpstr>
      <vt:lpstr>Suppose there are 10 judges giving their opinions  </vt:lpstr>
      <vt:lpstr>Advantages </vt:lpstr>
      <vt:lpstr>Disadvantages</vt:lpstr>
      <vt:lpstr>Multidimensional Scaling Techniques </vt:lpstr>
      <vt:lpstr>Application of Multi Dimensional scaling</vt:lpstr>
      <vt:lpstr>Example of multi dimensional Scaling </vt:lpstr>
      <vt:lpstr>Practical example</vt:lpstr>
      <vt:lpstr>PowerPoint Presentation</vt:lpstr>
      <vt:lpstr>Survey result</vt:lpstr>
      <vt:lpstr>PowerPoint Presentation</vt:lpstr>
      <vt:lpstr>PowerPoint Presentation</vt:lpstr>
      <vt:lpstr>Limitations of MDS</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Unit-4 Data Collection</dc:title>
  <dc:creator>HP</dc:creator>
  <cp:lastModifiedBy>Dr. Basavaraj Kudachimath</cp:lastModifiedBy>
  <cp:revision>89</cp:revision>
  <dcterms:created xsi:type="dcterms:W3CDTF">2023-07-18T08:17:01Z</dcterms:created>
  <dcterms:modified xsi:type="dcterms:W3CDTF">2026-06-28T16:12:20Z</dcterms:modified>
</cp:coreProperties>
</file>