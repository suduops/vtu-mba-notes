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2" r:id="rId7"/>
    <p:sldId id="263" r:id="rId8"/>
    <p:sldId id="270" r:id="rId9"/>
    <p:sldId id="271" r:id="rId10"/>
    <p:sldId id="272" r:id="rId11"/>
    <p:sldId id="273" r:id="rId12"/>
    <p:sldId id="274" r:id="rId13"/>
    <p:sldId id="278" r:id="rId14"/>
    <p:sldId id="275" r:id="rId15"/>
    <p:sldId id="265" r:id="rId16"/>
    <p:sldId id="266" r:id="rId17"/>
    <p:sldId id="276" r:id="rId18"/>
    <p:sldId id="279" r:id="rId19"/>
    <p:sldId id="277" r:id="rId20"/>
    <p:sldId id="280" r:id="rId21"/>
    <p:sldId id="267" r:id="rId22"/>
    <p:sldId id="268" r:id="rId23"/>
    <p:sldId id="261" r:id="rId24"/>
    <p:sldId id="26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28306" autoAdjust="0"/>
  </p:normalViewPr>
  <p:slideViewPr>
    <p:cSldViewPr snapToGrid="0">
      <p:cViewPr varScale="1">
        <p:scale>
          <a:sx n="115" d="100"/>
          <a:sy n="115" d="100"/>
        </p:scale>
        <p:origin x="-396" y="-11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Basavaraj Kudachimath" userId="cb84a6794fdd4dd6" providerId="LiveId" clId="{5765AD6E-9F31-456D-90CD-1E36ED189798}"/>
    <pc:docChg chg="undo custSel addSld delSld modSld">
      <pc:chgData name="Dr. Basavaraj Kudachimath" userId="cb84a6794fdd4dd6" providerId="LiveId" clId="{5765AD6E-9F31-456D-90CD-1E36ED189798}" dt="2023-07-12T01:43:43.800" v="1564"/>
      <pc:docMkLst>
        <pc:docMk/>
      </pc:docMkLst>
      <pc:sldChg chg="modSp mod">
        <pc:chgData name="Dr. Basavaraj Kudachimath" userId="cb84a6794fdd4dd6" providerId="LiveId" clId="{5765AD6E-9F31-456D-90CD-1E36ED189798}" dt="2023-07-12T00:28:46.232" v="319" actId="20577"/>
        <pc:sldMkLst>
          <pc:docMk/>
          <pc:sldMk cId="580659486" sldId="263"/>
        </pc:sldMkLst>
        <pc:spChg chg="mod">
          <ac:chgData name="Dr. Basavaraj Kudachimath" userId="cb84a6794fdd4dd6" providerId="LiveId" clId="{5765AD6E-9F31-456D-90CD-1E36ED189798}" dt="2023-07-12T00:28:46.232" v="319" actId="20577"/>
          <ac:spMkLst>
            <pc:docMk/>
            <pc:sldMk cId="580659486" sldId="263"/>
            <ac:spMk id="3" creationId="{00000000-0000-0000-0000-000000000000}"/>
          </ac:spMkLst>
        </pc:spChg>
      </pc:sldChg>
      <pc:sldChg chg="modSp del mod">
        <pc:chgData name="Dr. Basavaraj Kudachimath" userId="cb84a6794fdd4dd6" providerId="LiveId" clId="{5765AD6E-9F31-456D-90CD-1E36ED189798}" dt="2023-07-12T01:36:49.839" v="1552" actId="47"/>
        <pc:sldMkLst>
          <pc:docMk/>
          <pc:sldMk cId="3677549465" sldId="264"/>
        </pc:sldMkLst>
        <pc:spChg chg="mod">
          <ac:chgData name="Dr. Basavaraj Kudachimath" userId="cb84a6794fdd4dd6" providerId="LiveId" clId="{5765AD6E-9F31-456D-90CD-1E36ED189798}" dt="2023-07-12T01:16:45.126" v="992" actId="27636"/>
          <ac:spMkLst>
            <pc:docMk/>
            <pc:sldMk cId="3677549465" sldId="264"/>
            <ac:spMk id="3" creationId="{00000000-0000-0000-0000-000000000000}"/>
          </ac:spMkLst>
        </pc:spChg>
      </pc:sldChg>
      <pc:sldChg chg="modSp mod">
        <pc:chgData name="Dr. Basavaraj Kudachimath" userId="cb84a6794fdd4dd6" providerId="LiveId" clId="{5765AD6E-9F31-456D-90CD-1E36ED189798}" dt="2023-07-12T01:37:06.794" v="1555" actId="27636"/>
        <pc:sldMkLst>
          <pc:docMk/>
          <pc:sldMk cId="315865226" sldId="265"/>
        </pc:sldMkLst>
        <pc:spChg chg="mod">
          <ac:chgData name="Dr. Basavaraj Kudachimath" userId="cb84a6794fdd4dd6" providerId="LiveId" clId="{5765AD6E-9F31-456D-90CD-1E36ED189798}" dt="2023-07-12T01:37:06.794" v="1555" actId="27636"/>
          <ac:spMkLst>
            <pc:docMk/>
            <pc:sldMk cId="315865226" sldId="265"/>
            <ac:spMk id="3" creationId="{00000000-0000-0000-0000-000000000000}"/>
          </ac:spMkLst>
        </pc:spChg>
      </pc:sldChg>
      <pc:sldChg chg="modSp new mod">
        <pc:chgData name="Dr. Basavaraj Kudachimath" userId="cb84a6794fdd4dd6" providerId="LiveId" clId="{5765AD6E-9F31-456D-90CD-1E36ED189798}" dt="2023-07-12T00:41:16.665" v="686" actId="20577"/>
        <pc:sldMkLst>
          <pc:docMk/>
          <pc:sldMk cId="1829171935" sldId="270"/>
        </pc:sldMkLst>
        <pc:spChg chg="mod">
          <ac:chgData name="Dr. Basavaraj Kudachimath" userId="cb84a6794fdd4dd6" providerId="LiveId" clId="{5765AD6E-9F31-456D-90CD-1E36ED189798}" dt="2023-07-12T00:31:24.435" v="359" actId="27636"/>
          <ac:spMkLst>
            <pc:docMk/>
            <pc:sldMk cId="1829171935" sldId="270"/>
            <ac:spMk id="2" creationId="{B2F4BB89-A0B6-88EB-EA57-A466942432DB}"/>
          </ac:spMkLst>
        </pc:spChg>
        <pc:spChg chg="mod">
          <ac:chgData name="Dr. Basavaraj Kudachimath" userId="cb84a6794fdd4dd6" providerId="LiveId" clId="{5765AD6E-9F31-456D-90CD-1E36ED189798}" dt="2023-07-12T00:41:16.665" v="686" actId="20577"/>
          <ac:spMkLst>
            <pc:docMk/>
            <pc:sldMk cId="1829171935" sldId="270"/>
            <ac:spMk id="3" creationId="{15F45358-6ED3-CAF4-DD84-5989BDB6A4DC}"/>
          </ac:spMkLst>
        </pc:spChg>
      </pc:sldChg>
      <pc:sldChg chg="modSp new mod">
        <pc:chgData name="Dr. Basavaraj Kudachimath" userId="cb84a6794fdd4dd6" providerId="LiveId" clId="{5765AD6E-9F31-456D-90CD-1E36ED189798}" dt="2023-07-12T00:56:47.313" v="913" actId="20577"/>
        <pc:sldMkLst>
          <pc:docMk/>
          <pc:sldMk cId="1802376682" sldId="271"/>
        </pc:sldMkLst>
        <pc:spChg chg="mod">
          <ac:chgData name="Dr. Basavaraj Kudachimath" userId="cb84a6794fdd4dd6" providerId="LiveId" clId="{5765AD6E-9F31-456D-90CD-1E36ED189798}" dt="2023-07-12T00:52:00.042" v="722" actId="20577"/>
          <ac:spMkLst>
            <pc:docMk/>
            <pc:sldMk cId="1802376682" sldId="271"/>
            <ac:spMk id="2" creationId="{43DAD004-F1CA-745B-F577-41F7FB360497}"/>
          </ac:spMkLst>
        </pc:spChg>
        <pc:spChg chg="mod">
          <ac:chgData name="Dr. Basavaraj Kudachimath" userId="cb84a6794fdd4dd6" providerId="LiveId" clId="{5765AD6E-9F31-456D-90CD-1E36ED189798}" dt="2023-07-12T00:56:47.313" v="913" actId="20577"/>
          <ac:spMkLst>
            <pc:docMk/>
            <pc:sldMk cId="1802376682" sldId="271"/>
            <ac:spMk id="3" creationId="{48A0650F-B3AB-92EB-5CFD-F514F462F6AC}"/>
          </ac:spMkLst>
        </pc:spChg>
      </pc:sldChg>
      <pc:sldChg chg="modSp new mod">
        <pc:chgData name="Dr. Basavaraj Kudachimath" userId="cb84a6794fdd4dd6" providerId="LiveId" clId="{5765AD6E-9F31-456D-90CD-1E36ED189798}" dt="2023-07-12T01:20:48.693" v="1092" actId="20577"/>
        <pc:sldMkLst>
          <pc:docMk/>
          <pc:sldMk cId="605672918" sldId="272"/>
        </pc:sldMkLst>
        <pc:spChg chg="mod">
          <ac:chgData name="Dr. Basavaraj Kudachimath" userId="cb84a6794fdd4dd6" providerId="LiveId" clId="{5765AD6E-9F31-456D-90CD-1E36ED189798}" dt="2023-07-12T01:15:19.453" v="985" actId="20577"/>
          <ac:spMkLst>
            <pc:docMk/>
            <pc:sldMk cId="605672918" sldId="272"/>
            <ac:spMk id="2" creationId="{F2D4CFA7-8148-7CDB-7224-74CA75ED829D}"/>
          </ac:spMkLst>
        </pc:spChg>
        <pc:spChg chg="mod">
          <ac:chgData name="Dr. Basavaraj Kudachimath" userId="cb84a6794fdd4dd6" providerId="LiveId" clId="{5765AD6E-9F31-456D-90CD-1E36ED189798}" dt="2023-07-12T01:20:48.693" v="1092" actId="20577"/>
          <ac:spMkLst>
            <pc:docMk/>
            <pc:sldMk cId="605672918" sldId="272"/>
            <ac:spMk id="3" creationId="{07F6D1B5-0BB4-7C36-9F4D-7B6EE6D524FB}"/>
          </ac:spMkLst>
        </pc:spChg>
      </pc:sldChg>
      <pc:sldChg chg="modSp new mod">
        <pc:chgData name="Dr. Basavaraj Kudachimath" userId="cb84a6794fdd4dd6" providerId="LiveId" clId="{5765AD6E-9F31-456D-90CD-1E36ED189798}" dt="2023-07-12T01:36:32.446" v="1551" actId="20577"/>
        <pc:sldMkLst>
          <pc:docMk/>
          <pc:sldMk cId="2957626245" sldId="273"/>
        </pc:sldMkLst>
        <pc:spChg chg="mod">
          <ac:chgData name="Dr. Basavaraj Kudachimath" userId="cb84a6794fdd4dd6" providerId="LiveId" clId="{5765AD6E-9F31-456D-90CD-1E36ED189798}" dt="2023-07-12T01:24:32.715" v="1129" actId="20577"/>
          <ac:spMkLst>
            <pc:docMk/>
            <pc:sldMk cId="2957626245" sldId="273"/>
            <ac:spMk id="2" creationId="{07BFAC0C-7052-E7D1-61BA-B5C4F435EE34}"/>
          </ac:spMkLst>
        </pc:spChg>
        <pc:spChg chg="mod">
          <ac:chgData name="Dr. Basavaraj Kudachimath" userId="cb84a6794fdd4dd6" providerId="LiveId" clId="{5765AD6E-9F31-456D-90CD-1E36ED189798}" dt="2023-07-12T01:36:32.446" v="1551" actId="20577"/>
          <ac:spMkLst>
            <pc:docMk/>
            <pc:sldMk cId="2957626245" sldId="273"/>
            <ac:spMk id="3" creationId="{DBABF4F5-7565-A1C6-18ED-61127935DC1B}"/>
          </ac:spMkLst>
        </pc:spChg>
      </pc:sldChg>
      <pc:sldChg chg="modSp new mod">
        <pc:chgData name="Dr. Basavaraj Kudachimath" userId="cb84a6794fdd4dd6" providerId="LiveId" clId="{5765AD6E-9F31-456D-90CD-1E36ED189798}" dt="2023-07-12T01:33:46.050" v="1522" actId="313"/>
        <pc:sldMkLst>
          <pc:docMk/>
          <pc:sldMk cId="310126985" sldId="274"/>
        </pc:sldMkLst>
        <pc:spChg chg="mod">
          <ac:chgData name="Dr. Basavaraj Kudachimath" userId="cb84a6794fdd4dd6" providerId="LiveId" clId="{5765AD6E-9F31-456D-90CD-1E36ED189798}" dt="2023-07-12T01:31:01.947" v="1389" actId="20577"/>
          <ac:spMkLst>
            <pc:docMk/>
            <pc:sldMk cId="310126985" sldId="274"/>
            <ac:spMk id="2" creationId="{596DBDF5-596E-A732-9C0E-3E5383068F03}"/>
          </ac:spMkLst>
        </pc:spChg>
        <pc:spChg chg="mod">
          <ac:chgData name="Dr. Basavaraj Kudachimath" userId="cb84a6794fdd4dd6" providerId="LiveId" clId="{5765AD6E-9F31-456D-90CD-1E36ED189798}" dt="2023-07-12T01:33:46.050" v="1522" actId="313"/>
          <ac:spMkLst>
            <pc:docMk/>
            <pc:sldMk cId="310126985" sldId="274"/>
            <ac:spMk id="3" creationId="{B56FF504-6F74-32E5-6072-AC5BC769C92F}"/>
          </ac:spMkLst>
        </pc:spChg>
      </pc:sldChg>
      <pc:sldChg chg="modSp new mod">
        <pc:chgData name="Dr. Basavaraj Kudachimath" userId="cb84a6794fdd4dd6" providerId="LiveId" clId="{5765AD6E-9F31-456D-90CD-1E36ED189798}" dt="2023-07-12T01:43:43.800" v="1564"/>
        <pc:sldMkLst>
          <pc:docMk/>
          <pc:sldMk cId="2690572439" sldId="275"/>
        </pc:sldMkLst>
        <pc:spChg chg="mod">
          <ac:chgData name="Dr. Basavaraj Kudachimath" userId="cb84a6794fdd4dd6" providerId="LiveId" clId="{5765AD6E-9F31-456D-90CD-1E36ED189798}" dt="2023-07-12T01:37:22.452" v="1562" actId="20577"/>
          <ac:spMkLst>
            <pc:docMk/>
            <pc:sldMk cId="2690572439" sldId="275"/>
            <ac:spMk id="2" creationId="{27C497DF-92FF-2901-5784-B802628081D8}"/>
          </ac:spMkLst>
        </pc:spChg>
        <pc:spChg chg="mod">
          <ac:chgData name="Dr. Basavaraj Kudachimath" userId="cb84a6794fdd4dd6" providerId="LiveId" clId="{5765AD6E-9F31-456D-90CD-1E36ED189798}" dt="2023-07-12T01:43:43.800" v="1564"/>
          <ac:spMkLst>
            <pc:docMk/>
            <pc:sldMk cId="2690572439" sldId="275"/>
            <ac:spMk id="3" creationId="{9D01B261-09E8-88C3-F4FD-F09609249EF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9504F6-4FA0-40E2-9ADB-048DE9FB794F}" type="datetimeFigureOut">
              <a:rPr lang="en-IN" smtClean="0"/>
              <a:pPr/>
              <a:t>12-05-2026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EE7C9-D776-4A54-9341-EC63FD0BB0A9}" type="slidenum">
              <a:rPr lang="en-IN" smtClean="0"/>
              <a:pPr/>
              <a:t>‹#›</a:t>
            </a:fld>
            <a:endParaRPr lang="en-IN"/>
          </a:p>
        </p:txBody>
      </p:sp>
    </p:spTree>
    <p:extLst>
      <p:ext uri="{BB962C8B-B14F-4D97-AF65-F5344CB8AC3E}">
        <p14:creationId xmlns="" xmlns:p14="http://schemas.microsoft.com/office/powerpoint/2010/main" val="2799459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ERRORS I N RESEARCH DESI GN</a:t>
            </a:r>
            <a:endParaRPr lang="en-IN"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useful   way   of   looking   at    the m </a:t>
            </a:r>
            <a:r>
              <a:rPr lang="en-US" sz="1200" kern="1200" dirty="0" err="1">
                <a:solidFill>
                  <a:schemeClr val="tx1"/>
                </a:solidFill>
                <a:effectLst/>
                <a:latin typeface="+mn-lt"/>
                <a:ea typeface="+mn-ea"/>
                <a:cs typeface="+mn-cs"/>
              </a:rPr>
              <a:t>arketing</a:t>
            </a:r>
            <a:r>
              <a:rPr lang="en-US" sz="1200" kern="1200" dirty="0">
                <a:solidFill>
                  <a:schemeClr val="tx1"/>
                </a:solidFill>
                <a:effectLst/>
                <a:latin typeface="+mn-lt"/>
                <a:ea typeface="+mn-ea"/>
                <a:cs typeface="+mn-cs"/>
              </a:rPr>
              <a:t> research process is that involves the  m </a:t>
            </a:r>
            <a:r>
              <a:rPr lang="en-US" sz="1200" kern="1200" dirty="0" err="1">
                <a:solidFill>
                  <a:schemeClr val="tx1"/>
                </a:solidFill>
                <a:effectLst/>
                <a:latin typeface="+mn-lt"/>
                <a:ea typeface="+mn-ea"/>
                <a:cs typeface="+mn-cs"/>
              </a:rPr>
              <a:t>anagement</a:t>
            </a:r>
            <a:r>
              <a:rPr lang="en-US" sz="1200" kern="1200" dirty="0">
                <a:solidFill>
                  <a:schemeClr val="tx1"/>
                </a:solidFill>
                <a:effectLst/>
                <a:latin typeface="+mn-lt"/>
                <a:ea typeface="+mn-ea"/>
                <a:cs typeface="+mn-cs"/>
              </a:rPr>
              <a:t> of </a:t>
            </a:r>
            <a:r>
              <a:rPr lang="en-US" sz="1200" kern="1200" dirty="0" err="1">
                <a:solidFill>
                  <a:schemeClr val="tx1"/>
                </a:solidFill>
                <a:effectLst/>
                <a:latin typeface="+mn-lt"/>
                <a:ea typeface="+mn-ea"/>
                <a:cs typeface="+mn-cs"/>
              </a:rPr>
              <a:t>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rors</a:t>
            </a:r>
            <a:r>
              <a:rPr lang="en-US" sz="1200" kern="1200" dirty="0">
                <a:solidFill>
                  <a:schemeClr val="tx1"/>
                </a:solidFill>
                <a:effectLst/>
                <a:latin typeface="+mn-lt"/>
                <a:ea typeface="+mn-ea"/>
                <a:cs typeface="+mn-cs"/>
              </a:rPr>
              <a:t>. At all stages, from   problem form </a:t>
            </a:r>
            <a:r>
              <a:rPr lang="en-US" sz="1200" kern="1200" dirty="0" err="1">
                <a:solidFill>
                  <a:schemeClr val="tx1"/>
                </a:solidFill>
                <a:effectLst/>
                <a:latin typeface="+mn-lt"/>
                <a:ea typeface="+mn-ea"/>
                <a:cs typeface="+mn-cs"/>
              </a:rPr>
              <a:t>ulation</a:t>
            </a:r>
            <a:r>
              <a:rPr lang="en-US" sz="1200" kern="1200" dirty="0">
                <a:solidFill>
                  <a:schemeClr val="tx1"/>
                </a:solidFill>
                <a:effectLst/>
                <a:latin typeface="+mn-lt"/>
                <a:ea typeface="+mn-ea"/>
                <a:cs typeface="+mn-cs"/>
              </a:rPr>
              <a:t> to report presentation</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errors can arise. I t is rare that a research project will be error free. Consequently the  research   de- signer m </a:t>
            </a:r>
            <a:r>
              <a:rPr lang="en-US" sz="1200" kern="1200" dirty="0" err="1">
                <a:solidFill>
                  <a:schemeClr val="tx1"/>
                </a:solidFill>
                <a:effectLst/>
                <a:latin typeface="+mn-lt"/>
                <a:ea typeface="+mn-ea"/>
                <a:cs typeface="+mn-cs"/>
              </a:rPr>
              <a:t>ust</a:t>
            </a:r>
            <a:r>
              <a:rPr lang="en-US" sz="1200" kern="1200" dirty="0">
                <a:solidFill>
                  <a:schemeClr val="tx1"/>
                </a:solidFill>
                <a:effectLst/>
                <a:latin typeface="+mn-lt"/>
                <a:ea typeface="+mn-ea"/>
                <a:cs typeface="+mn-cs"/>
              </a:rPr>
              <a:t>   adopt   a strategy  for m </a:t>
            </a:r>
            <a:r>
              <a:rPr lang="en-US" sz="1200" kern="1200" dirty="0" err="1">
                <a:solidFill>
                  <a:schemeClr val="tx1"/>
                </a:solidFill>
                <a:effectLst/>
                <a:latin typeface="+mn-lt"/>
                <a:ea typeface="+mn-ea"/>
                <a:cs typeface="+mn-cs"/>
              </a:rPr>
              <a:t>anaging</a:t>
            </a:r>
            <a:r>
              <a:rPr lang="en-US" sz="1200" kern="1200" dirty="0">
                <a:solidFill>
                  <a:schemeClr val="tx1"/>
                </a:solidFill>
                <a:effectLst/>
                <a:latin typeface="+mn-lt"/>
                <a:ea typeface="+mn-ea"/>
                <a:cs typeface="+mn-cs"/>
              </a:rPr>
              <a:t> and m </a:t>
            </a:r>
            <a:r>
              <a:rPr lang="en-US" sz="1200" kern="1200" dirty="0" err="1">
                <a:solidFill>
                  <a:schemeClr val="tx1"/>
                </a:solidFill>
                <a:effectLst/>
                <a:latin typeface="+mn-lt"/>
                <a:ea typeface="+mn-ea"/>
                <a:cs typeface="+mn-cs"/>
              </a:rPr>
              <a:t>aintaining</a:t>
            </a:r>
            <a:r>
              <a:rPr lang="en-US" sz="1200" kern="1200" dirty="0">
                <a:solidFill>
                  <a:schemeClr val="tx1"/>
                </a:solidFill>
                <a:effectLst/>
                <a:latin typeface="+mn-lt"/>
                <a:ea typeface="+mn-ea"/>
                <a:cs typeface="+mn-cs"/>
              </a:rPr>
              <a:t> the error.  We shall first look at   the com </a:t>
            </a:r>
            <a:r>
              <a:rPr lang="en-US" sz="1200" kern="1200" dirty="0" err="1">
                <a:solidFill>
                  <a:schemeClr val="tx1"/>
                </a:solidFill>
                <a:effectLst/>
                <a:latin typeface="+mn-lt"/>
                <a:ea typeface="+mn-ea"/>
                <a:cs typeface="+mn-cs"/>
              </a:rPr>
              <a:t>ponent</a:t>
            </a:r>
            <a:r>
              <a:rPr lang="en-US" sz="1200" kern="1200" dirty="0">
                <a:solidFill>
                  <a:schemeClr val="tx1"/>
                </a:solidFill>
                <a:effectLst/>
                <a:latin typeface="+mn-lt"/>
                <a:ea typeface="+mn-ea"/>
                <a:cs typeface="+mn-cs"/>
              </a:rPr>
              <a:t> of errors and then the type of errors.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COMPON EN TS OF ERRORS</a:t>
            </a:r>
            <a:endParaRPr lang="en-IN"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objective underlying any re- search project   is to provide  </a:t>
            </a:r>
            <a:r>
              <a:rPr lang="en-US" sz="1200" kern="1200" dirty="0" err="1">
                <a:solidFill>
                  <a:schemeClr val="tx1"/>
                </a:solidFill>
                <a:effectLst/>
                <a:latin typeface="+mn-lt"/>
                <a:ea typeface="+mn-ea"/>
                <a:cs typeface="+mn-cs"/>
              </a:rPr>
              <a:t>infor</a:t>
            </a:r>
            <a:r>
              <a:rPr lang="en-US" sz="1200" kern="1200" dirty="0">
                <a:solidFill>
                  <a:schemeClr val="tx1"/>
                </a:solidFill>
                <a:effectLst/>
                <a:latin typeface="+mn-lt"/>
                <a:ea typeface="+mn-ea"/>
                <a:cs typeface="+mn-cs"/>
              </a:rPr>
              <a:t>- m </a:t>
            </a:r>
            <a:r>
              <a:rPr lang="en-US" sz="1200" kern="1200" dirty="0" err="1">
                <a:solidFill>
                  <a:schemeClr val="tx1"/>
                </a:solidFill>
                <a:effectLst/>
                <a:latin typeface="+mn-lt"/>
                <a:ea typeface="+mn-ea"/>
                <a:cs typeface="+mn-cs"/>
              </a:rPr>
              <a:t>ation</a:t>
            </a:r>
            <a:r>
              <a:rPr lang="en-US" sz="1200" kern="1200" dirty="0">
                <a:solidFill>
                  <a:schemeClr val="tx1"/>
                </a:solidFill>
                <a:effectLst/>
                <a:latin typeface="+mn-lt"/>
                <a:ea typeface="+mn-ea"/>
                <a:cs typeface="+mn-cs"/>
              </a:rPr>
              <a:t> that is to be accurate and error free as possible. </a:t>
            </a:r>
            <a:r>
              <a:rPr lang="en-US" sz="1200" kern="1200" dirty="0" err="1">
                <a:solidFill>
                  <a:schemeClr val="tx1"/>
                </a:solidFill>
                <a:effectLst/>
                <a:latin typeface="+mn-lt"/>
                <a:ea typeface="+mn-ea"/>
                <a:cs typeface="+mn-cs"/>
              </a:rPr>
              <a:t>Maximising</a:t>
            </a:r>
            <a:r>
              <a:rPr lang="en-US" sz="1200" kern="1200" dirty="0">
                <a:solidFill>
                  <a:schemeClr val="tx1"/>
                </a:solidFill>
                <a:effectLst/>
                <a:latin typeface="+mn-lt"/>
                <a:ea typeface="+mn-ea"/>
                <a:cs typeface="+mn-cs"/>
              </a:rPr>
              <a:t> accuracy requires that “ total   </a:t>
            </a:r>
            <a:r>
              <a:rPr lang="en-US" sz="1200" kern="1200" dirty="0" err="1">
                <a:solidFill>
                  <a:schemeClr val="tx1"/>
                </a:solidFill>
                <a:effectLst/>
                <a:latin typeface="+mn-lt"/>
                <a:ea typeface="+mn-ea"/>
                <a:cs typeface="+mn-cs"/>
              </a:rPr>
              <a:t>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ror</a:t>
            </a:r>
            <a:r>
              <a:rPr lang="en-US" sz="1200" kern="1200" dirty="0">
                <a:solidFill>
                  <a:schemeClr val="tx1"/>
                </a:solidFill>
                <a:effectLst/>
                <a:latin typeface="+mn-lt"/>
                <a:ea typeface="+mn-ea"/>
                <a:cs typeface="+mn-cs"/>
              </a:rPr>
              <a:t>” be m </a:t>
            </a:r>
            <a:r>
              <a:rPr lang="en-US" sz="1200" kern="1200" dirty="0" err="1">
                <a:solidFill>
                  <a:schemeClr val="tx1"/>
                </a:solidFill>
                <a:effectLst/>
                <a:latin typeface="+mn-lt"/>
                <a:ea typeface="+mn-ea"/>
                <a:cs typeface="+mn-cs"/>
              </a:rPr>
              <a:t>inim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ised</a:t>
            </a:r>
            <a:r>
              <a:rPr lang="en-US" sz="1200" kern="1200" dirty="0">
                <a:solidFill>
                  <a:schemeClr val="tx1"/>
                </a:solidFill>
                <a:effectLst/>
                <a:latin typeface="+mn-lt"/>
                <a:ea typeface="+mn-ea"/>
                <a:cs typeface="+mn-cs"/>
              </a:rPr>
              <a:t>. Total error has two distinct components: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Total Error = Sampling Error + Non Sampling </a:t>
            </a:r>
            <a:r>
              <a:rPr lang="en-US" sz="1200" i="1" kern="1200" dirty="0" err="1">
                <a:solidFill>
                  <a:schemeClr val="tx1"/>
                </a:solidFill>
                <a:effectLst/>
                <a:latin typeface="+mn-lt"/>
                <a:ea typeface="+mn-ea"/>
                <a:cs typeface="+mn-cs"/>
              </a:rPr>
              <a:t>Er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ror</a:t>
            </a:r>
            <a:endParaRPr lang="en-IN"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Total error is usually m </a:t>
            </a:r>
            <a:r>
              <a:rPr lang="en-US" sz="1200" kern="1200" dirty="0" err="1">
                <a:solidFill>
                  <a:schemeClr val="tx1"/>
                </a:solidFill>
                <a:effectLst/>
                <a:latin typeface="+mn-lt"/>
                <a:ea typeface="+mn-ea"/>
                <a:cs typeface="+mn-cs"/>
              </a:rPr>
              <a:t>easured</a:t>
            </a:r>
            <a:r>
              <a:rPr lang="en-US" sz="1200" kern="1200" dirty="0">
                <a:solidFill>
                  <a:schemeClr val="tx1"/>
                </a:solidFill>
                <a:effectLst/>
                <a:latin typeface="+mn-lt"/>
                <a:ea typeface="+mn-ea"/>
                <a:cs typeface="+mn-cs"/>
              </a:rPr>
              <a:t> as total error variance – also know as the m </a:t>
            </a:r>
            <a:r>
              <a:rPr lang="en-US" sz="1200" kern="1200" dirty="0" err="1">
                <a:solidFill>
                  <a:schemeClr val="tx1"/>
                </a:solidFill>
                <a:effectLst/>
                <a:latin typeface="+mn-lt"/>
                <a:ea typeface="+mn-ea"/>
                <a:cs typeface="+mn-cs"/>
              </a:rPr>
              <a:t>ean</a:t>
            </a:r>
            <a:r>
              <a:rPr lang="en-US" sz="1200" kern="1200" dirty="0">
                <a:solidFill>
                  <a:schemeClr val="tx1"/>
                </a:solidFill>
                <a:effectLst/>
                <a:latin typeface="+mn-lt"/>
                <a:ea typeface="+mn-ea"/>
                <a:cs typeface="+mn-cs"/>
              </a:rPr>
              <a:t> squared error:</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Total Error) </a:t>
            </a:r>
            <a:r>
              <a:rPr lang="en-US" sz="1200" i="1" kern="1200" baseline="30000" dirty="0">
                <a:solidFill>
                  <a:schemeClr val="tx1"/>
                </a:solidFill>
                <a:effectLst/>
                <a:latin typeface="+mn-lt"/>
                <a:ea typeface="+mn-ea"/>
                <a:cs typeface="+mn-cs"/>
              </a:rPr>
              <a:t>2</a:t>
            </a:r>
            <a:r>
              <a:rPr lang="en-US" sz="1200" i="1" kern="1200" dirty="0">
                <a:solidFill>
                  <a:schemeClr val="tx1"/>
                </a:solidFill>
                <a:effectLst/>
                <a:latin typeface="+mn-lt"/>
                <a:ea typeface="+mn-ea"/>
                <a:cs typeface="+mn-cs"/>
              </a:rPr>
              <a:t> =   ( Sampling Error) </a:t>
            </a:r>
            <a:r>
              <a:rPr lang="en-US" sz="1200" i="1" kern="1200" baseline="30000" dirty="0">
                <a:solidFill>
                  <a:schemeClr val="tx1"/>
                </a:solidFill>
                <a:effectLst/>
                <a:latin typeface="+mn-lt"/>
                <a:ea typeface="+mn-ea"/>
                <a:cs typeface="+mn-cs"/>
              </a:rPr>
              <a:t>2</a:t>
            </a:r>
            <a:endParaRPr lang="en-IN"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 Non Sampling Error) </a:t>
            </a:r>
            <a:r>
              <a:rPr lang="en-US" sz="1200" i="1" kern="1200" baseline="30000" dirty="0">
                <a:solidFill>
                  <a:schemeClr val="tx1"/>
                </a:solidFill>
                <a:effectLst/>
                <a:latin typeface="+mn-lt"/>
                <a:ea typeface="+mn-ea"/>
                <a:cs typeface="+mn-cs"/>
              </a:rPr>
              <a:t>2</a:t>
            </a:r>
            <a:endParaRPr lang="en-IN"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Sam </a:t>
            </a:r>
            <a:r>
              <a:rPr lang="en-US" sz="1200" b="1" kern="1200" dirty="0" err="1">
                <a:solidFill>
                  <a:schemeClr val="tx1"/>
                </a:solidFill>
                <a:effectLst/>
                <a:latin typeface="+mn-lt"/>
                <a:ea typeface="+mn-ea"/>
                <a:cs typeface="+mn-cs"/>
              </a:rPr>
              <a:t>pling</a:t>
            </a:r>
            <a:r>
              <a:rPr lang="en-US" sz="1200" b="1" kern="1200" dirty="0">
                <a:solidFill>
                  <a:schemeClr val="tx1"/>
                </a:solidFill>
                <a:effectLst/>
                <a:latin typeface="+mn-lt"/>
                <a:ea typeface="+mn-ea"/>
                <a:cs typeface="+mn-cs"/>
              </a:rPr>
              <a:t> Error </a:t>
            </a:r>
            <a:r>
              <a:rPr lang="en-US" sz="1200" kern="1200" dirty="0">
                <a:solidFill>
                  <a:schemeClr val="tx1"/>
                </a:solidFill>
                <a:effectLst/>
                <a:latin typeface="+mn-lt"/>
                <a:ea typeface="+mn-ea"/>
                <a:cs typeface="+mn-cs"/>
              </a:rPr>
              <a:t>refers to the variable   error    resulting    from chance selection of </a:t>
            </a:r>
            <a:r>
              <a:rPr lang="en-US" sz="1200" kern="1200" dirty="0" err="1">
                <a:solidFill>
                  <a:schemeClr val="tx1"/>
                </a:solidFill>
                <a:effectLst/>
                <a:latin typeface="+mn-lt"/>
                <a:ea typeface="+mn-ea"/>
                <a:cs typeface="+mn-cs"/>
              </a:rPr>
              <a:t>elem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ents</a:t>
            </a:r>
            <a:r>
              <a:rPr lang="en-US" sz="1200" kern="1200" dirty="0">
                <a:solidFill>
                  <a:schemeClr val="tx1"/>
                </a:solidFill>
                <a:effectLst/>
                <a:latin typeface="+mn-lt"/>
                <a:ea typeface="+mn-ea"/>
                <a:cs typeface="+mn-cs"/>
              </a:rPr>
              <a:t> from population as per   the   sampling plan. Since it introduces random variability into the  precision with which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statistics are </a:t>
            </a:r>
            <a:r>
              <a:rPr lang="en-US" sz="1200" kern="1200" dirty="0" err="1">
                <a:solidFill>
                  <a:schemeClr val="tx1"/>
                </a:solidFill>
                <a:effectLst/>
                <a:latin typeface="+mn-lt"/>
                <a:ea typeface="+mn-ea"/>
                <a:cs typeface="+mn-cs"/>
              </a:rPr>
              <a:t>calcu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lated</a:t>
            </a:r>
            <a:r>
              <a:rPr lang="en-US" sz="1200" kern="1200" dirty="0">
                <a:solidFill>
                  <a:schemeClr val="tx1"/>
                </a:solidFill>
                <a:effectLst/>
                <a:latin typeface="+mn-lt"/>
                <a:ea typeface="+mn-ea"/>
                <a:cs typeface="+mn-cs"/>
              </a:rPr>
              <a:t> it is also called random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error. </a:t>
            </a:r>
            <a:r>
              <a:rPr lang="en-US" sz="1200" b="1" kern="1200" dirty="0">
                <a:solidFill>
                  <a:schemeClr val="tx1"/>
                </a:solidFill>
                <a:effectLst/>
                <a:latin typeface="+mn-lt"/>
                <a:ea typeface="+mn-ea"/>
                <a:cs typeface="+mn-cs"/>
              </a:rPr>
              <a:t>N on Sam </a:t>
            </a:r>
            <a:r>
              <a:rPr lang="en-US" sz="1200" b="1" kern="1200" dirty="0" err="1">
                <a:solidFill>
                  <a:schemeClr val="tx1"/>
                </a:solidFill>
                <a:effectLst/>
                <a:latin typeface="+mn-lt"/>
                <a:ea typeface="+mn-ea"/>
                <a:cs typeface="+mn-cs"/>
              </a:rPr>
              <a:t>pling</a:t>
            </a:r>
            <a:r>
              <a:rPr lang="en-US" sz="1200" b="1" kern="1200" dirty="0">
                <a:solidFill>
                  <a:schemeClr val="tx1"/>
                </a:solidFill>
                <a:effectLst/>
                <a:latin typeface="+mn-lt"/>
                <a:ea typeface="+mn-ea"/>
                <a:cs typeface="+mn-cs"/>
              </a:rPr>
              <a:t> Error </a:t>
            </a:r>
            <a:r>
              <a:rPr lang="en-US" sz="1200" kern="1200" dirty="0">
                <a:solidFill>
                  <a:schemeClr val="tx1"/>
                </a:solidFill>
                <a:effectLst/>
                <a:latin typeface="+mn-lt"/>
                <a:ea typeface="+mn-ea"/>
                <a:cs typeface="+mn-cs"/>
              </a:rPr>
              <a:t>consists of all other error </a:t>
            </a:r>
            <a:r>
              <a:rPr lang="en-US" sz="1200" kern="1200" dirty="0" err="1">
                <a:solidFill>
                  <a:schemeClr val="tx1"/>
                </a:solidFill>
                <a:effectLst/>
                <a:latin typeface="+mn-lt"/>
                <a:ea typeface="+mn-ea"/>
                <a:cs typeface="+mn-cs"/>
              </a:rPr>
              <a:t>associ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ated</a:t>
            </a:r>
            <a:r>
              <a:rPr lang="en-US" sz="1200" kern="1200" dirty="0">
                <a:solidFill>
                  <a:schemeClr val="tx1"/>
                </a:solidFill>
                <a:effectLst/>
                <a:latin typeface="+mn-lt"/>
                <a:ea typeface="+mn-ea"/>
                <a:cs typeface="+mn-cs"/>
              </a:rPr>
              <a:t> with  the  research project. Such errors are diverse in nature. They are often thought of as </a:t>
            </a:r>
            <a:r>
              <a:rPr lang="en-US" sz="1200" i="1" kern="1200" dirty="0">
                <a:solidFill>
                  <a:schemeClr val="tx1"/>
                </a:solidFill>
                <a:effectLst/>
                <a:latin typeface="+mn-lt"/>
                <a:ea typeface="+mn-ea"/>
                <a:cs typeface="+mn-cs"/>
              </a:rPr>
              <a:t>bias</a:t>
            </a:r>
            <a:r>
              <a:rPr lang="en-US" sz="1200" kern="1200" dirty="0">
                <a:solidFill>
                  <a:schemeClr val="tx1"/>
                </a:solidFill>
                <a:effectLst/>
                <a:latin typeface="+mn-lt"/>
                <a:ea typeface="+mn-ea"/>
                <a:cs typeface="+mn-cs"/>
              </a:rPr>
              <a:t>. However bias is a type of system - </a:t>
            </a:r>
            <a:r>
              <a:rPr lang="en-US" sz="1200" kern="1200" dirty="0" err="1">
                <a:solidFill>
                  <a:schemeClr val="tx1"/>
                </a:solidFill>
                <a:effectLst/>
                <a:latin typeface="+mn-lt"/>
                <a:ea typeface="+mn-ea"/>
                <a:cs typeface="+mn-cs"/>
              </a:rPr>
              <a:t>atic</a:t>
            </a:r>
            <a:r>
              <a:rPr lang="en-US" sz="1200" kern="1200" dirty="0">
                <a:solidFill>
                  <a:schemeClr val="tx1"/>
                </a:solidFill>
                <a:effectLst/>
                <a:latin typeface="+mn-lt"/>
                <a:ea typeface="+mn-ea"/>
                <a:cs typeface="+mn-cs"/>
              </a:rPr>
              <a:t> error which enters into the process because of un- calibrated </a:t>
            </a:r>
            <a:r>
              <a:rPr lang="en-US" sz="1200" kern="1200" dirty="0" err="1">
                <a:solidFill>
                  <a:schemeClr val="tx1"/>
                </a:solidFill>
                <a:effectLst/>
                <a:latin typeface="+mn-lt"/>
                <a:ea typeface="+mn-ea"/>
                <a:cs typeface="+mn-cs"/>
              </a:rPr>
              <a:t>instrum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ents</a:t>
            </a:r>
            <a:r>
              <a:rPr lang="en-US" sz="1200" kern="1200" dirty="0">
                <a:solidFill>
                  <a:schemeClr val="tx1"/>
                </a:solidFill>
                <a:effectLst/>
                <a:latin typeface="+mn-lt"/>
                <a:ea typeface="+mn-ea"/>
                <a:cs typeface="+mn-cs"/>
              </a:rPr>
              <a:t> or prejudices of the researcher. There can be com - </a:t>
            </a:r>
            <a:r>
              <a:rPr lang="en-US" sz="1200" kern="1200" dirty="0" err="1">
                <a:solidFill>
                  <a:schemeClr val="tx1"/>
                </a:solidFill>
                <a:effectLst/>
                <a:latin typeface="+mn-lt"/>
                <a:ea typeface="+mn-ea"/>
                <a:cs typeface="+mn-cs"/>
              </a:rPr>
              <a:t>pletely</a:t>
            </a:r>
            <a:r>
              <a:rPr lang="en-US" sz="1200" kern="1200" dirty="0">
                <a:solidFill>
                  <a:schemeClr val="tx1"/>
                </a:solidFill>
                <a:effectLst/>
                <a:latin typeface="+mn-lt"/>
                <a:ea typeface="+mn-ea"/>
                <a:cs typeface="+mn-cs"/>
              </a:rPr>
              <a:t>   random   components   of non-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error. For example a m </a:t>
            </a:r>
            <a:r>
              <a:rPr lang="en-US" sz="1200" kern="1200" dirty="0" err="1">
                <a:solidFill>
                  <a:schemeClr val="tx1"/>
                </a:solidFill>
                <a:effectLst/>
                <a:latin typeface="+mn-lt"/>
                <a:ea typeface="+mn-ea"/>
                <a:cs typeface="+mn-cs"/>
              </a:rPr>
              <a:t>isrecording</a:t>
            </a:r>
            <a:r>
              <a:rPr lang="en-US" sz="1200" kern="1200" dirty="0">
                <a:solidFill>
                  <a:schemeClr val="tx1"/>
                </a:solidFill>
                <a:effectLst/>
                <a:latin typeface="+mn-lt"/>
                <a:ea typeface="+mn-ea"/>
                <a:cs typeface="+mn-cs"/>
              </a:rPr>
              <a:t> of a response during data collection represents   a   ran- </a:t>
            </a:r>
            <a:r>
              <a:rPr lang="en-US" sz="1200" kern="1200" dirty="0" err="1">
                <a:solidFill>
                  <a:schemeClr val="tx1"/>
                </a:solidFill>
                <a:effectLst/>
                <a:latin typeface="+mn-lt"/>
                <a:ea typeface="+mn-ea"/>
                <a:cs typeface="+mn-cs"/>
              </a:rPr>
              <a:t>dom</a:t>
            </a:r>
            <a:r>
              <a:rPr lang="en-US" sz="1200" kern="1200" dirty="0">
                <a:solidFill>
                  <a:schemeClr val="tx1"/>
                </a:solidFill>
                <a:effectLst/>
                <a:latin typeface="+mn-lt"/>
                <a:ea typeface="+mn-ea"/>
                <a:cs typeface="+mn-cs"/>
              </a:rPr>
              <a:t> non-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error. However using   deliberate   “ loaded”   question to   get   desired   response   –   which m </a:t>
            </a:r>
            <a:r>
              <a:rPr lang="en-US" sz="1200" kern="1200" dirty="0" err="1">
                <a:solidFill>
                  <a:schemeClr val="tx1"/>
                </a:solidFill>
                <a:effectLst/>
                <a:latin typeface="+mn-lt"/>
                <a:ea typeface="+mn-ea"/>
                <a:cs typeface="+mn-cs"/>
              </a:rPr>
              <a:t>aintaining</a:t>
            </a:r>
            <a:r>
              <a:rPr lang="en-US" sz="1200" kern="1200" dirty="0">
                <a:solidFill>
                  <a:schemeClr val="tx1"/>
                </a:solidFill>
                <a:effectLst/>
                <a:latin typeface="+mn-lt"/>
                <a:ea typeface="+mn-ea"/>
                <a:cs typeface="+mn-cs"/>
              </a:rPr>
              <a:t> the status quo of ran- </a:t>
            </a:r>
            <a:r>
              <a:rPr lang="en-US" sz="1200" kern="1200" dirty="0" err="1">
                <a:solidFill>
                  <a:schemeClr val="tx1"/>
                </a:solidFill>
                <a:effectLst/>
                <a:latin typeface="+mn-lt"/>
                <a:ea typeface="+mn-ea"/>
                <a:cs typeface="+mn-cs"/>
              </a:rPr>
              <a:t>dom</a:t>
            </a:r>
            <a:r>
              <a:rPr lang="en-US" sz="1200" kern="1200" dirty="0">
                <a:solidFill>
                  <a:schemeClr val="tx1"/>
                </a:solidFill>
                <a:effectLst/>
                <a:latin typeface="+mn-lt"/>
                <a:ea typeface="+mn-ea"/>
                <a:cs typeface="+mn-cs"/>
              </a:rPr>
              <a:t> ness – is called   bias.   Thus non-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errors   can   arise from    various    sources    –    but    in m </a:t>
            </a:r>
            <a:r>
              <a:rPr lang="en-US" sz="1200" kern="1200" dirty="0" err="1">
                <a:solidFill>
                  <a:schemeClr val="tx1"/>
                </a:solidFill>
                <a:effectLst/>
                <a:latin typeface="+mn-lt"/>
                <a:ea typeface="+mn-ea"/>
                <a:cs typeface="+mn-cs"/>
              </a:rPr>
              <a:t>arketing</a:t>
            </a:r>
            <a:r>
              <a:rPr lang="en-US" sz="1200" kern="1200" dirty="0">
                <a:solidFill>
                  <a:schemeClr val="tx1"/>
                </a:solidFill>
                <a:effectLst/>
                <a:latin typeface="+mn-lt"/>
                <a:ea typeface="+mn-ea"/>
                <a:cs typeface="+mn-cs"/>
              </a:rPr>
              <a:t> research project they arise m </a:t>
            </a:r>
            <a:r>
              <a:rPr lang="en-US" sz="1200" kern="1200" dirty="0" err="1">
                <a:solidFill>
                  <a:schemeClr val="tx1"/>
                </a:solidFill>
                <a:effectLst/>
                <a:latin typeface="+mn-lt"/>
                <a:ea typeface="+mn-ea"/>
                <a:cs typeface="+mn-cs"/>
              </a:rPr>
              <a:t>ainly</a:t>
            </a:r>
            <a:r>
              <a:rPr lang="en-US" sz="1200" kern="1200" dirty="0">
                <a:solidFill>
                  <a:schemeClr val="tx1"/>
                </a:solidFill>
                <a:effectLst/>
                <a:latin typeface="+mn-lt"/>
                <a:ea typeface="+mn-ea"/>
                <a:cs typeface="+mn-cs"/>
              </a:rPr>
              <a:t> from response   and non- response.</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To a large extent the  m </a:t>
            </a:r>
            <a:r>
              <a:rPr lang="en-US" sz="1200" kern="1200" dirty="0" err="1">
                <a:solidFill>
                  <a:schemeClr val="tx1"/>
                </a:solidFill>
                <a:effectLst/>
                <a:latin typeface="+mn-lt"/>
                <a:ea typeface="+mn-ea"/>
                <a:cs typeface="+mn-cs"/>
              </a:rPr>
              <a:t>ajor</a:t>
            </a:r>
            <a:r>
              <a:rPr lang="en-US" sz="1200" kern="1200" dirty="0">
                <a:solidFill>
                  <a:schemeClr val="tx1"/>
                </a:solidFill>
                <a:effectLst/>
                <a:latin typeface="+mn-lt"/>
                <a:ea typeface="+mn-ea"/>
                <a:cs typeface="+mn-cs"/>
              </a:rPr>
              <a:t> error com </a:t>
            </a:r>
            <a:r>
              <a:rPr lang="en-US" sz="1200" kern="1200" dirty="0" err="1">
                <a:solidFill>
                  <a:schemeClr val="tx1"/>
                </a:solidFill>
                <a:effectLst/>
                <a:latin typeface="+mn-lt"/>
                <a:ea typeface="+mn-ea"/>
                <a:cs typeface="+mn-cs"/>
              </a:rPr>
              <a:t>ponents</a:t>
            </a:r>
            <a:r>
              <a:rPr lang="en-US" sz="1200" kern="1200" dirty="0">
                <a:solidFill>
                  <a:schemeClr val="tx1"/>
                </a:solidFill>
                <a:effectLst/>
                <a:latin typeface="+mn-lt"/>
                <a:ea typeface="+mn-ea"/>
                <a:cs typeface="+mn-cs"/>
              </a:rPr>
              <a:t> are related to each other in an inverse m </a:t>
            </a:r>
            <a:r>
              <a:rPr lang="en-US" sz="1200" kern="1200" dirty="0" err="1">
                <a:solidFill>
                  <a:schemeClr val="tx1"/>
                </a:solidFill>
                <a:effectLst/>
                <a:latin typeface="+mn-lt"/>
                <a:ea typeface="+mn-ea"/>
                <a:cs typeface="+mn-cs"/>
              </a:rPr>
              <a:t>anner</a:t>
            </a:r>
            <a:r>
              <a:rPr lang="en-US" sz="1200" kern="1200" dirty="0">
                <a:solidFill>
                  <a:schemeClr val="tx1"/>
                </a:solidFill>
                <a:effectLst/>
                <a:latin typeface="+mn-lt"/>
                <a:ea typeface="+mn-ea"/>
                <a:cs typeface="+mn-cs"/>
              </a:rPr>
              <a:t>. I n- creasing the sample size to reduce the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error can lead to an increase in non-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error.  I n m </a:t>
            </a:r>
            <a:r>
              <a:rPr lang="en-US" sz="1200" kern="1200" dirty="0" err="1">
                <a:solidFill>
                  <a:schemeClr val="tx1"/>
                </a:solidFill>
                <a:effectLst/>
                <a:latin typeface="+mn-lt"/>
                <a:ea typeface="+mn-ea"/>
                <a:cs typeface="+mn-cs"/>
              </a:rPr>
              <a:t>ost</a:t>
            </a:r>
            <a:r>
              <a:rPr lang="en-US" sz="1200" kern="1200" dirty="0">
                <a:solidFill>
                  <a:schemeClr val="tx1"/>
                </a:solidFill>
                <a:effectLst/>
                <a:latin typeface="+mn-lt"/>
                <a:ea typeface="+mn-ea"/>
                <a:cs typeface="+mn-cs"/>
              </a:rPr>
              <a:t> statistical projects  – the </a:t>
            </a:r>
            <a:r>
              <a:rPr lang="en-US" sz="1200" kern="1200" dirty="0" err="1">
                <a:solidFill>
                  <a:schemeClr val="tx1"/>
                </a:solidFill>
                <a:effectLst/>
                <a:latin typeface="+mn-lt"/>
                <a:ea typeface="+mn-ea"/>
                <a:cs typeface="+mn-cs"/>
              </a:rPr>
              <a:t>ef</a:t>
            </a:r>
            <a:r>
              <a:rPr lang="en-US" sz="1200" kern="1200" dirty="0">
                <a:solidFill>
                  <a:schemeClr val="tx1"/>
                </a:solidFill>
                <a:effectLst/>
                <a:latin typeface="+mn-lt"/>
                <a:ea typeface="+mn-ea"/>
                <a:cs typeface="+mn-cs"/>
              </a:rPr>
              <a:t>- fort is to </a:t>
            </a:r>
            <a:r>
              <a:rPr lang="en-US" sz="1200" kern="1200" dirty="0" err="1">
                <a:solidFill>
                  <a:schemeClr val="tx1"/>
                </a:solidFill>
                <a:effectLst/>
                <a:latin typeface="+mn-lt"/>
                <a:ea typeface="+mn-ea"/>
                <a:cs typeface="+mn-cs"/>
              </a:rPr>
              <a:t>minimise</a:t>
            </a:r>
            <a:r>
              <a:rPr lang="en-US" sz="1200" kern="1200" dirty="0">
                <a:solidFill>
                  <a:schemeClr val="tx1"/>
                </a:solidFill>
                <a:effectLst/>
                <a:latin typeface="+mn-lt"/>
                <a:ea typeface="+mn-ea"/>
                <a:cs typeface="+mn-cs"/>
              </a:rPr>
              <a:t>  the  total  error by m </a:t>
            </a:r>
            <a:r>
              <a:rPr lang="en-US" sz="1200" kern="1200" dirty="0" err="1">
                <a:solidFill>
                  <a:schemeClr val="tx1"/>
                </a:solidFill>
                <a:effectLst/>
                <a:latin typeface="+mn-lt"/>
                <a:ea typeface="+mn-ea"/>
                <a:cs typeface="+mn-cs"/>
              </a:rPr>
              <a:t>inim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ising</a:t>
            </a:r>
            <a:r>
              <a:rPr lang="en-US" sz="1200" kern="1200" dirty="0">
                <a:solidFill>
                  <a:schemeClr val="tx1"/>
                </a:solidFill>
                <a:effectLst/>
                <a:latin typeface="+mn-lt"/>
                <a:ea typeface="+mn-ea"/>
                <a:cs typeface="+mn-cs"/>
              </a:rPr>
              <a:t> the  sampling error and </a:t>
            </a:r>
            <a:r>
              <a:rPr lang="en-US" sz="1200" kern="1200" dirty="0" err="1">
                <a:solidFill>
                  <a:schemeClr val="tx1"/>
                </a:solidFill>
                <a:effectLst/>
                <a:latin typeface="+mn-lt"/>
                <a:ea typeface="+mn-ea"/>
                <a:cs typeface="+mn-cs"/>
              </a:rPr>
              <a:t>assum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ing</a:t>
            </a:r>
            <a:r>
              <a:rPr lang="en-US" sz="1200" kern="1200" dirty="0">
                <a:solidFill>
                  <a:schemeClr val="tx1"/>
                </a:solidFill>
                <a:effectLst/>
                <a:latin typeface="+mn-lt"/>
                <a:ea typeface="+mn-ea"/>
                <a:cs typeface="+mn-cs"/>
              </a:rPr>
              <a:t>   that   good   training of the investigators will reduce the non-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error.   However    in m </a:t>
            </a:r>
            <a:r>
              <a:rPr lang="en-US" sz="1200" kern="1200" dirty="0" err="1">
                <a:solidFill>
                  <a:schemeClr val="tx1"/>
                </a:solidFill>
                <a:effectLst/>
                <a:latin typeface="+mn-lt"/>
                <a:ea typeface="+mn-ea"/>
                <a:cs typeface="+mn-cs"/>
              </a:rPr>
              <a:t>arket</a:t>
            </a:r>
            <a:r>
              <a:rPr lang="en-US" sz="1200" kern="1200" dirty="0">
                <a:solidFill>
                  <a:schemeClr val="tx1"/>
                </a:solidFill>
                <a:effectLst/>
                <a:latin typeface="+mn-lt"/>
                <a:ea typeface="+mn-ea"/>
                <a:cs typeface="+mn-cs"/>
              </a:rPr>
              <a:t> research that m ay not be the possible as the t </a:t>
            </a:r>
            <a:r>
              <a:rPr lang="en-US" sz="1200" kern="1200" dirty="0" err="1">
                <a:solidFill>
                  <a:schemeClr val="tx1"/>
                </a:solidFill>
                <a:effectLst/>
                <a:latin typeface="+mn-lt"/>
                <a:ea typeface="+mn-ea"/>
                <a:cs typeface="+mn-cs"/>
              </a:rPr>
              <a:t>im</a:t>
            </a:r>
            <a:r>
              <a:rPr lang="en-US" sz="1200" kern="1200" dirty="0">
                <a:solidFill>
                  <a:schemeClr val="tx1"/>
                </a:solidFill>
                <a:effectLst/>
                <a:latin typeface="+mn-lt"/>
                <a:ea typeface="+mn-ea"/>
                <a:cs typeface="+mn-cs"/>
              </a:rPr>
              <a:t> e and cost constraints  m ay   prevent   choosing a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size which   will allow   us to be confident that the  sampling error ( and hence total error)  has been m </a:t>
            </a:r>
            <a:r>
              <a:rPr lang="en-US" sz="1200" kern="1200" dirty="0" err="1">
                <a:solidFill>
                  <a:schemeClr val="tx1"/>
                </a:solidFill>
                <a:effectLst/>
                <a:latin typeface="+mn-lt"/>
                <a:ea typeface="+mn-ea"/>
                <a:cs typeface="+mn-cs"/>
              </a:rPr>
              <a:t>inim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ised</a:t>
            </a:r>
            <a:r>
              <a:rPr lang="en-US" sz="1200" kern="1200" dirty="0">
                <a:solidFill>
                  <a:schemeClr val="tx1"/>
                </a:solidFill>
                <a:effectLst/>
                <a:latin typeface="+mn-lt"/>
                <a:ea typeface="+mn-ea"/>
                <a:cs typeface="+mn-cs"/>
              </a:rPr>
              <a:t>. I </a:t>
            </a:r>
            <a:r>
              <a:rPr lang="en-US" sz="1200" kern="1200" dirty="0" err="1">
                <a:solidFill>
                  <a:schemeClr val="tx1"/>
                </a:solidFill>
                <a:effectLst/>
                <a:latin typeface="+mn-lt"/>
                <a:ea typeface="+mn-ea"/>
                <a:cs typeface="+mn-cs"/>
              </a:rPr>
              <a:t>deally</a:t>
            </a:r>
            <a:r>
              <a:rPr lang="en-US" sz="1200" kern="1200" dirty="0">
                <a:solidFill>
                  <a:schemeClr val="tx1"/>
                </a:solidFill>
                <a:effectLst/>
                <a:latin typeface="+mn-lt"/>
                <a:ea typeface="+mn-ea"/>
                <a:cs typeface="+mn-cs"/>
              </a:rPr>
              <a:t> a market researcher   should   strive  to   m </a:t>
            </a:r>
            <a:r>
              <a:rPr lang="en-US" sz="1200" kern="1200" dirty="0" err="1">
                <a:solidFill>
                  <a:schemeClr val="tx1"/>
                </a:solidFill>
                <a:effectLst/>
                <a:latin typeface="+mn-lt"/>
                <a:ea typeface="+mn-ea"/>
                <a:cs typeface="+mn-cs"/>
              </a:rPr>
              <a:t>ini</a:t>
            </a:r>
            <a:r>
              <a:rPr lang="en-US" sz="1200" kern="1200" dirty="0">
                <a:solidFill>
                  <a:schemeClr val="tx1"/>
                </a:solidFill>
                <a:effectLst/>
                <a:latin typeface="+mn-lt"/>
                <a:ea typeface="+mn-ea"/>
                <a:cs typeface="+mn-cs"/>
              </a:rPr>
              <a:t>- m </a:t>
            </a:r>
            <a:r>
              <a:rPr lang="en-US" sz="1200" kern="1200" dirty="0" err="1">
                <a:solidFill>
                  <a:schemeClr val="tx1"/>
                </a:solidFill>
                <a:effectLst/>
                <a:latin typeface="+mn-lt"/>
                <a:ea typeface="+mn-ea"/>
                <a:cs typeface="+mn-cs"/>
              </a:rPr>
              <a:t>ise</a:t>
            </a:r>
            <a:r>
              <a:rPr lang="en-US" sz="1200" kern="1200" dirty="0">
                <a:solidFill>
                  <a:schemeClr val="tx1"/>
                </a:solidFill>
                <a:effectLst/>
                <a:latin typeface="+mn-lt"/>
                <a:ea typeface="+mn-ea"/>
                <a:cs typeface="+mn-cs"/>
              </a:rPr>
              <a:t> both the types of error. Con- </a:t>
            </a:r>
            <a:r>
              <a:rPr lang="en-US" sz="1200" kern="1200" dirty="0" err="1">
                <a:solidFill>
                  <a:schemeClr val="tx1"/>
                </a:solidFill>
                <a:effectLst/>
                <a:latin typeface="+mn-lt"/>
                <a:ea typeface="+mn-ea"/>
                <a:cs typeface="+mn-cs"/>
              </a:rPr>
              <a:t>sidering</a:t>
            </a:r>
            <a:r>
              <a:rPr lang="en-US" sz="1200" kern="1200" dirty="0">
                <a:solidFill>
                  <a:schemeClr val="tx1"/>
                </a:solidFill>
                <a:effectLst/>
                <a:latin typeface="+mn-lt"/>
                <a:ea typeface="+mn-ea"/>
                <a:cs typeface="+mn-cs"/>
              </a:rPr>
              <a:t>   the  </a:t>
            </a:r>
            <a:r>
              <a:rPr lang="en-US" sz="1200" kern="1200" dirty="0" err="1">
                <a:solidFill>
                  <a:schemeClr val="tx1"/>
                </a:solidFill>
                <a:effectLst/>
                <a:latin typeface="+mn-lt"/>
                <a:ea typeface="+mn-ea"/>
                <a:cs typeface="+mn-cs"/>
              </a:rPr>
              <a:t>tim</a:t>
            </a:r>
            <a:r>
              <a:rPr lang="en-US" sz="1200" kern="1200" dirty="0">
                <a:solidFill>
                  <a:schemeClr val="tx1"/>
                </a:solidFill>
                <a:effectLst/>
                <a:latin typeface="+mn-lt"/>
                <a:ea typeface="+mn-ea"/>
                <a:cs typeface="+mn-cs"/>
              </a:rPr>
              <a:t> e and   cost   </a:t>
            </a:r>
            <a:r>
              <a:rPr lang="en-US" sz="1200" kern="1200" dirty="0" err="1">
                <a:solidFill>
                  <a:schemeClr val="tx1"/>
                </a:solidFill>
                <a:effectLst/>
                <a:latin typeface="+mn-lt"/>
                <a:ea typeface="+mn-ea"/>
                <a:cs typeface="+mn-cs"/>
              </a:rPr>
              <a:t>lim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ita</a:t>
            </a:r>
            <a:r>
              <a:rPr lang="en-US" sz="1200" kern="1200" dirty="0">
                <a:solidFill>
                  <a:schemeClr val="tx1"/>
                </a:solidFill>
                <a:effectLst/>
                <a:latin typeface="+mn-lt"/>
                <a:ea typeface="+mn-ea"/>
                <a:cs typeface="+mn-cs"/>
              </a:rPr>
              <a:t>- t ions this can rarely   be done. The m </a:t>
            </a:r>
            <a:r>
              <a:rPr lang="en-US" sz="1200" kern="1200" dirty="0" err="1">
                <a:solidFill>
                  <a:schemeClr val="tx1"/>
                </a:solidFill>
                <a:effectLst/>
                <a:latin typeface="+mn-lt"/>
                <a:ea typeface="+mn-ea"/>
                <a:cs typeface="+mn-cs"/>
              </a:rPr>
              <a:t>arket</a:t>
            </a:r>
            <a:r>
              <a:rPr lang="en-US" sz="1200" kern="1200" dirty="0">
                <a:solidFill>
                  <a:schemeClr val="tx1"/>
                </a:solidFill>
                <a:effectLst/>
                <a:latin typeface="+mn-lt"/>
                <a:ea typeface="+mn-ea"/>
                <a:cs typeface="+mn-cs"/>
              </a:rPr>
              <a:t> researcher m </a:t>
            </a:r>
            <a:r>
              <a:rPr lang="en-US" sz="1200" kern="1200" dirty="0" err="1">
                <a:solidFill>
                  <a:schemeClr val="tx1"/>
                </a:solidFill>
                <a:effectLst/>
                <a:latin typeface="+mn-lt"/>
                <a:ea typeface="+mn-ea"/>
                <a:cs typeface="+mn-cs"/>
              </a:rPr>
              <a:t>ust</a:t>
            </a:r>
            <a:r>
              <a:rPr lang="en-US" sz="1200" kern="1200" dirty="0">
                <a:solidFill>
                  <a:schemeClr val="tx1"/>
                </a:solidFill>
                <a:effectLst/>
                <a:latin typeface="+mn-lt"/>
                <a:ea typeface="+mn-ea"/>
                <a:cs typeface="+mn-cs"/>
              </a:rPr>
              <a:t> m </a:t>
            </a:r>
            <a:r>
              <a:rPr lang="en-US" sz="1200" kern="1200" dirty="0" err="1">
                <a:solidFill>
                  <a:schemeClr val="tx1"/>
                </a:solidFill>
                <a:effectLst/>
                <a:latin typeface="+mn-lt"/>
                <a:ea typeface="+mn-ea"/>
                <a:cs typeface="+mn-cs"/>
              </a:rPr>
              <a:t>ake</a:t>
            </a:r>
            <a:r>
              <a:rPr lang="en-US" sz="1200" kern="1200" dirty="0">
                <a:solidFill>
                  <a:schemeClr val="tx1"/>
                </a:solidFill>
                <a:effectLst/>
                <a:latin typeface="+mn-lt"/>
                <a:ea typeface="+mn-ea"/>
                <a:cs typeface="+mn-cs"/>
              </a:rPr>
              <a:t> a decision that involves a t </a:t>
            </a:r>
            <a:r>
              <a:rPr lang="en-US" sz="1200" kern="1200" dirty="0" err="1">
                <a:solidFill>
                  <a:schemeClr val="tx1"/>
                </a:solidFill>
                <a:effectLst/>
                <a:latin typeface="+mn-lt"/>
                <a:ea typeface="+mn-ea"/>
                <a:cs typeface="+mn-cs"/>
              </a:rPr>
              <a:t>rade</a:t>
            </a:r>
            <a:r>
              <a:rPr lang="en-US" sz="1200" kern="1200" dirty="0">
                <a:solidFill>
                  <a:schemeClr val="tx1"/>
                </a:solidFill>
                <a:effectLst/>
                <a:latin typeface="+mn-lt"/>
                <a:ea typeface="+mn-ea"/>
                <a:cs typeface="+mn-cs"/>
              </a:rPr>
              <a:t> off between     sampling     and     non-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errors.    Unfortunately very lit t le is known about the </a:t>
            </a:r>
            <a:r>
              <a:rPr lang="en-US" sz="1200" kern="1200" dirty="0" err="1">
                <a:solidFill>
                  <a:schemeClr val="tx1"/>
                </a:solidFill>
                <a:effectLst/>
                <a:latin typeface="+mn-lt"/>
                <a:ea typeface="+mn-ea"/>
                <a:cs typeface="+mn-cs"/>
              </a:rPr>
              <a:t>rela</a:t>
            </a:r>
            <a:r>
              <a:rPr lang="en-US" sz="1200" kern="1200" dirty="0">
                <a:solidFill>
                  <a:schemeClr val="tx1"/>
                </a:solidFill>
                <a:effectLst/>
                <a:latin typeface="+mn-lt"/>
                <a:ea typeface="+mn-ea"/>
                <a:cs typeface="+mn-cs"/>
              </a:rPr>
              <a:t>- t </a:t>
            </a:r>
            <a:r>
              <a:rPr lang="en-US" sz="1200" kern="1200" dirty="0" err="1">
                <a:solidFill>
                  <a:schemeClr val="tx1"/>
                </a:solidFill>
                <a:effectLst/>
                <a:latin typeface="+mn-lt"/>
                <a:ea typeface="+mn-ea"/>
                <a:cs typeface="+mn-cs"/>
              </a:rPr>
              <a:t>ive</a:t>
            </a:r>
            <a:r>
              <a:rPr lang="en-US" sz="1200" kern="1200" dirty="0">
                <a:solidFill>
                  <a:schemeClr val="tx1"/>
                </a:solidFill>
                <a:effectLst/>
                <a:latin typeface="+mn-lt"/>
                <a:ea typeface="+mn-ea"/>
                <a:cs typeface="+mn-cs"/>
              </a:rPr>
              <a:t> size of two error components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although    </a:t>
            </a:r>
            <a:r>
              <a:rPr lang="en-US" sz="1200" kern="1200" dirty="0" err="1">
                <a:solidFill>
                  <a:schemeClr val="tx1"/>
                </a:solidFill>
                <a:effectLst/>
                <a:latin typeface="+mn-lt"/>
                <a:ea typeface="+mn-ea"/>
                <a:cs typeface="+mn-cs"/>
              </a:rPr>
              <a:t>som</a:t>
            </a:r>
            <a:r>
              <a:rPr lang="en-US" sz="1200" kern="1200" dirty="0">
                <a:solidFill>
                  <a:schemeClr val="tx1"/>
                </a:solidFill>
                <a:effectLst/>
                <a:latin typeface="+mn-lt"/>
                <a:ea typeface="+mn-ea"/>
                <a:cs typeface="+mn-cs"/>
              </a:rPr>
              <a:t> e    empirical    </a:t>
            </a:r>
            <a:r>
              <a:rPr lang="en-US" sz="1200" kern="1200" dirty="0" err="1">
                <a:solidFill>
                  <a:schemeClr val="tx1"/>
                </a:solidFill>
                <a:effectLst/>
                <a:latin typeface="+mn-lt"/>
                <a:ea typeface="+mn-ea"/>
                <a:cs typeface="+mn-cs"/>
              </a:rPr>
              <a:t>evi</a:t>
            </a:r>
            <a:r>
              <a:rPr lang="en-US" sz="1200" kern="1200" dirty="0">
                <a:solidFill>
                  <a:schemeClr val="tx1"/>
                </a:solidFill>
                <a:effectLst/>
                <a:latin typeface="+mn-lt"/>
                <a:ea typeface="+mn-ea"/>
                <a:cs typeface="+mn-cs"/>
              </a:rPr>
              <a:t>-</a:t>
            </a:r>
            <a:endParaRPr lang="en-IN"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dence</a:t>
            </a:r>
            <a:r>
              <a:rPr lang="en-US" sz="1200" kern="1200" dirty="0">
                <a:solidFill>
                  <a:schemeClr val="tx1"/>
                </a:solidFill>
                <a:effectLst/>
                <a:latin typeface="+mn-lt"/>
                <a:ea typeface="+mn-ea"/>
                <a:cs typeface="+mn-cs"/>
              </a:rPr>
              <a:t> suggests that non- sampling errors tend to be larger of the two com </a:t>
            </a:r>
            <a:r>
              <a:rPr lang="en-US" sz="1200" kern="1200" dirty="0" err="1">
                <a:solidFill>
                  <a:schemeClr val="tx1"/>
                </a:solidFill>
                <a:effectLst/>
                <a:latin typeface="+mn-lt"/>
                <a:ea typeface="+mn-ea"/>
                <a:cs typeface="+mn-cs"/>
              </a:rPr>
              <a:t>ponents</a:t>
            </a:r>
            <a:r>
              <a:rPr lang="en-US" sz="1200" kern="1200" dirty="0">
                <a:solidFill>
                  <a:schemeClr val="tx1"/>
                </a:solidFill>
                <a:effectLst/>
                <a:latin typeface="+mn-lt"/>
                <a:ea typeface="+mn-ea"/>
                <a:cs typeface="+mn-cs"/>
              </a:rPr>
              <a:t>.   Sampling   errors  can to   a   large   extent   be   reduced and/ or controlled by following statistical procedures, but such a check is generally not possible on non-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errors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TYPES OF ERRORS:</a:t>
            </a:r>
            <a:endParaRPr lang="en-IN"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pPr lvl="0"/>
            <a:r>
              <a:rPr lang="en-US" sz="1200" b="1" kern="1200" dirty="0" err="1">
                <a:solidFill>
                  <a:schemeClr val="tx1"/>
                </a:solidFill>
                <a:effectLst/>
                <a:latin typeface="+mn-lt"/>
                <a:ea typeface="+mn-ea"/>
                <a:cs typeface="+mn-cs"/>
              </a:rPr>
              <a:t>Populat</a:t>
            </a:r>
            <a:r>
              <a:rPr lang="en-US" sz="1200" b="1" kern="1200" dirty="0">
                <a:solidFill>
                  <a:schemeClr val="tx1"/>
                </a:solidFill>
                <a:effectLst/>
                <a:latin typeface="+mn-lt"/>
                <a:ea typeface="+mn-ea"/>
                <a:cs typeface="+mn-cs"/>
              </a:rPr>
              <a:t> ion </a:t>
            </a:r>
            <a:r>
              <a:rPr lang="en-US" sz="1200" b="1" kern="1200" dirty="0" err="1">
                <a:solidFill>
                  <a:schemeClr val="tx1"/>
                </a:solidFill>
                <a:effectLst/>
                <a:latin typeface="+mn-lt"/>
                <a:ea typeface="+mn-ea"/>
                <a:cs typeface="+mn-cs"/>
              </a:rPr>
              <a:t>Specificat</a:t>
            </a:r>
            <a:r>
              <a:rPr lang="en-US" sz="1200" b="1" kern="1200" dirty="0">
                <a:solidFill>
                  <a:schemeClr val="tx1"/>
                </a:solidFill>
                <a:effectLst/>
                <a:latin typeface="+mn-lt"/>
                <a:ea typeface="+mn-ea"/>
                <a:cs typeface="+mn-cs"/>
              </a:rPr>
              <a:t> ion Error:   </a:t>
            </a:r>
            <a:r>
              <a:rPr lang="en-US" sz="1200" kern="1200" dirty="0">
                <a:solidFill>
                  <a:schemeClr val="tx1"/>
                </a:solidFill>
                <a:effectLst/>
                <a:latin typeface="+mn-lt"/>
                <a:ea typeface="+mn-ea"/>
                <a:cs typeface="+mn-cs"/>
              </a:rPr>
              <a:t>I t    is   defined   as   the “ non correspondence of the required population to the population selected by the in- </a:t>
            </a:r>
            <a:r>
              <a:rPr lang="en-US" sz="1200" kern="1200" dirty="0" err="1">
                <a:solidFill>
                  <a:schemeClr val="tx1"/>
                </a:solidFill>
                <a:effectLst/>
                <a:latin typeface="+mn-lt"/>
                <a:ea typeface="+mn-ea"/>
                <a:cs typeface="+mn-cs"/>
              </a:rPr>
              <a:t>vestigator</a:t>
            </a:r>
            <a:r>
              <a:rPr lang="en-US" sz="1200" kern="1200" dirty="0">
                <a:solidFill>
                  <a:schemeClr val="tx1"/>
                </a:solidFill>
                <a:effectLst/>
                <a:latin typeface="+mn-lt"/>
                <a:ea typeface="+mn-ea"/>
                <a:cs typeface="+mn-cs"/>
              </a:rPr>
              <a:t>” . I t occurs when a researcher selects an </a:t>
            </a:r>
            <a:r>
              <a:rPr lang="en-US" sz="1200" kern="1200" dirty="0" err="1">
                <a:solidFill>
                  <a:schemeClr val="tx1"/>
                </a:solidFill>
                <a:effectLst/>
                <a:latin typeface="+mn-lt"/>
                <a:ea typeface="+mn-ea"/>
                <a:cs typeface="+mn-cs"/>
              </a:rPr>
              <a:t>inap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propriate</a:t>
            </a:r>
            <a:r>
              <a:rPr lang="en-US" sz="1200" kern="1200" dirty="0">
                <a:solidFill>
                  <a:schemeClr val="tx1"/>
                </a:solidFill>
                <a:effectLst/>
                <a:latin typeface="+mn-lt"/>
                <a:ea typeface="+mn-ea"/>
                <a:cs typeface="+mn-cs"/>
              </a:rPr>
              <a:t>   population   from which to obtain data. </a:t>
            </a:r>
            <a:r>
              <a:rPr lang="en-US" sz="1200" kern="1200">
                <a:solidFill>
                  <a:schemeClr val="tx1"/>
                </a:solidFill>
                <a:effectLst/>
                <a:latin typeface="+mn-lt"/>
                <a:ea typeface="+mn-ea"/>
                <a:cs typeface="+mn-cs"/>
              </a:rPr>
              <a:t>For </a:t>
            </a:r>
            <a:r>
              <a:rPr lang="en-US" sz="1200" kern="1200" smtClean="0">
                <a:solidFill>
                  <a:schemeClr val="tx1"/>
                </a:solidFill>
                <a:effectLst/>
                <a:latin typeface="+mn-lt"/>
                <a:ea typeface="+mn-ea"/>
                <a:cs typeface="+mn-cs"/>
              </a:rPr>
              <a:t>example </a:t>
            </a:r>
            <a:r>
              <a:rPr lang="en-US" sz="1200" kern="1200" dirty="0">
                <a:solidFill>
                  <a:schemeClr val="tx1"/>
                </a:solidFill>
                <a:effectLst/>
                <a:latin typeface="+mn-lt"/>
                <a:ea typeface="+mn-ea"/>
                <a:cs typeface="+mn-cs"/>
              </a:rPr>
              <a:t>m any t </a:t>
            </a:r>
            <a:r>
              <a:rPr lang="en-US" sz="1200" kern="1200" dirty="0" err="1">
                <a:solidFill>
                  <a:schemeClr val="tx1"/>
                </a:solidFill>
                <a:effectLst/>
                <a:latin typeface="+mn-lt"/>
                <a:ea typeface="+mn-ea"/>
                <a:cs typeface="+mn-cs"/>
              </a:rPr>
              <a:t>im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es</a:t>
            </a:r>
            <a:r>
              <a:rPr lang="en-US" sz="1200" kern="1200" dirty="0">
                <a:solidFill>
                  <a:schemeClr val="tx1"/>
                </a:solidFill>
                <a:effectLst/>
                <a:latin typeface="+mn-lt"/>
                <a:ea typeface="+mn-ea"/>
                <a:cs typeface="+mn-cs"/>
              </a:rPr>
              <a:t> package goods m </a:t>
            </a:r>
            <a:r>
              <a:rPr lang="en-US" sz="1200" kern="1200" dirty="0" err="1">
                <a:solidFill>
                  <a:schemeClr val="tx1"/>
                </a:solidFill>
                <a:effectLst/>
                <a:latin typeface="+mn-lt"/>
                <a:ea typeface="+mn-ea"/>
                <a:cs typeface="+mn-cs"/>
              </a:rPr>
              <a:t>anufacturers</a:t>
            </a:r>
            <a:r>
              <a:rPr lang="en-US" sz="1200" kern="1200" dirty="0">
                <a:solidFill>
                  <a:schemeClr val="tx1"/>
                </a:solidFill>
                <a:effectLst/>
                <a:latin typeface="+mn-lt"/>
                <a:ea typeface="+mn-ea"/>
                <a:cs typeface="+mn-cs"/>
              </a:rPr>
              <a:t> conduct surveys am </a:t>
            </a:r>
            <a:r>
              <a:rPr lang="en-US" sz="1200" kern="1200" dirty="0" err="1">
                <a:solidFill>
                  <a:schemeClr val="tx1"/>
                </a:solidFill>
                <a:effectLst/>
                <a:latin typeface="+mn-lt"/>
                <a:ea typeface="+mn-ea"/>
                <a:cs typeface="+mn-cs"/>
              </a:rPr>
              <a:t>ongst</a:t>
            </a:r>
            <a:r>
              <a:rPr lang="en-US" sz="1200" kern="1200" dirty="0">
                <a:solidFill>
                  <a:schemeClr val="tx1"/>
                </a:solidFill>
                <a:effectLst/>
                <a:latin typeface="+mn-lt"/>
                <a:ea typeface="+mn-ea"/>
                <a:cs typeface="+mn-cs"/>
              </a:rPr>
              <a:t> housewives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because they are easy to contact and because it is as- sum </a:t>
            </a:r>
            <a:r>
              <a:rPr lang="en-US" sz="1200" kern="1200" dirty="0" err="1">
                <a:solidFill>
                  <a:schemeClr val="tx1"/>
                </a:solidFill>
                <a:effectLst/>
                <a:latin typeface="+mn-lt"/>
                <a:ea typeface="+mn-ea"/>
                <a:cs typeface="+mn-cs"/>
              </a:rPr>
              <a:t>ed</a:t>
            </a:r>
            <a:r>
              <a:rPr lang="en-US" sz="1200" kern="1200" dirty="0">
                <a:solidFill>
                  <a:schemeClr val="tx1"/>
                </a:solidFill>
                <a:effectLst/>
                <a:latin typeface="+mn-lt"/>
                <a:ea typeface="+mn-ea"/>
                <a:cs typeface="+mn-cs"/>
              </a:rPr>
              <a:t> that as they are   the end users they m </a:t>
            </a:r>
            <a:r>
              <a:rPr lang="en-US" sz="1200" kern="1200" dirty="0" err="1">
                <a:solidFill>
                  <a:schemeClr val="tx1"/>
                </a:solidFill>
                <a:effectLst/>
                <a:latin typeface="+mn-lt"/>
                <a:ea typeface="+mn-ea"/>
                <a:cs typeface="+mn-cs"/>
              </a:rPr>
              <a:t>ake</a:t>
            </a:r>
            <a:r>
              <a:rPr lang="en-US" sz="1200" kern="1200" dirty="0">
                <a:solidFill>
                  <a:schemeClr val="tx1"/>
                </a:solidFill>
                <a:effectLst/>
                <a:latin typeface="+mn-lt"/>
                <a:ea typeface="+mn-ea"/>
                <a:cs typeface="+mn-cs"/>
              </a:rPr>
              <a:t> the </a:t>
            </a:r>
            <a:r>
              <a:rPr lang="en-US" sz="1200" kern="1200" dirty="0" err="1">
                <a:solidFill>
                  <a:schemeClr val="tx1"/>
                </a:solidFill>
                <a:effectLst/>
                <a:latin typeface="+mn-lt"/>
                <a:ea typeface="+mn-ea"/>
                <a:cs typeface="+mn-cs"/>
              </a:rPr>
              <a:t>pur</a:t>
            </a:r>
            <a:r>
              <a:rPr lang="en-US" sz="1200" kern="1200" dirty="0">
                <a:solidFill>
                  <a:schemeClr val="tx1"/>
                </a:solidFill>
                <a:effectLst/>
                <a:latin typeface="+mn-lt"/>
                <a:ea typeface="+mn-ea"/>
                <a:cs typeface="+mn-cs"/>
              </a:rPr>
              <a:t>- chase   decisions.   This </a:t>
            </a:r>
            <a:r>
              <a:rPr lang="en-US" sz="1200" kern="1200" dirty="0" err="1">
                <a:solidFill>
                  <a:schemeClr val="tx1"/>
                </a:solidFill>
                <a:effectLst/>
                <a:latin typeface="+mn-lt"/>
                <a:ea typeface="+mn-ea"/>
                <a:cs typeface="+mn-cs"/>
              </a:rPr>
              <a:t>assum</a:t>
            </a:r>
            <a:r>
              <a:rPr lang="en-US" sz="1200" kern="1200" dirty="0">
                <a:solidFill>
                  <a:schemeClr val="tx1"/>
                </a:solidFill>
                <a:effectLst/>
                <a:latin typeface="+mn-lt"/>
                <a:ea typeface="+mn-ea"/>
                <a:cs typeface="+mn-cs"/>
              </a:rPr>
              <a:t> p- t ion m ay not be always valid since   husbands   and    children m ay significantly influence the buying decisions.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Sam </a:t>
            </a:r>
            <a:r>
              <a:rPr lang="en-US" sz="1200" b="1" kern="1200" dirty="0" err="1">
                <a:solidFill>
                  <a:schemeClr val="tx1"/>
                </a:solidFill>
                <a:effectLst/>
                <a:latin typeface="+mn-lt"/>
                <a:ea typeface="+mn-ea"/>
                <a:cs typeface="+mn-cs"/>
              </a:rPr>
              <a:t>pling</a:t>
            </a:r>
            <a:r>
              <a:rPr lang="en-US" sz="1200" b="1" kern="1200" dirty="0">
                <a:solidFill>
                  <a:schemeClr val="tx1"/>
                </a:solidFill>
                <a:effectLst/>
                <a:latin typeface="+mn-lt"/>
                <a:ea typeface="+mn-ea"/>
                <a:cs typeface="+mn-cs"/>
              </a:rPr>
              <a:t> Error: </a:t>
            </a:r>
            <a:r>
              <a:rPr lang="en-US" sz="1200" kern="1200" dirty="0">
                <a:solidFill>
                  <a:schemeClr val="tx1"/>
                </a:solidFill>
                <a:effectLst/>
                <a:latin typeface="+mn-lt"/>
                <a:ea typeface="+mn-ea"/>
                <a:cs typeface="+mn-cs"/>
              </a:rPr>
              <a:t>I t is defined as   the   “ non   correspondence of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selected by </a:t>
            </a:r>
            <a:r>
              <a:rPr lang="en-US" sz="1200" kern="1200" dirty="0" err="1">
                <a:solidFill>
                  <a:schemeClr val="tx1"/>
                </a:solidFill>
                <a:effectLst/>
                <a:latin typeface="+mn-lt"/>
                <a:ea typeface="+mn-ea"/>
                <a:cs typeface="+mn-cs"/>
              </a:rPr>
              <a:t>prob</a:t>
            </a:r>
            <a:r>
              <a:rPr lang="en-US" sz="1200" kern="1200" dirty="0">
                <a:solidFill>
                  <a:schemeClr val="tx1"/>
                </a:solidFill>
                <a:effectLst/>
                <a:latin typeface="+mn-lt"/>
                <a:ea typeface="+mn-ea"/>
                <a:cs typeface="+mn-cs"/>
              </a:rPr>
              <a:t>- ability m </a:t>
            </a:r>
            <a:r>
              <a:rPr lang="en-US" sz="1200" kern="1200" dirty="0" err="1">
                <a:solidFill>
                  <a:schemeClr val="tx1"/>
                </a:solidFill>
                <a:effectLst/>
                <a:latin typeface="+mn-lt"/>
                <a:ea typeface="+mn-ea"/>
                <a:cs typeface="+mn-cs"/>
              </a:rPr>
              <a:t>eans</a:t>
            </a:r>
            <a:r>
              <a:rPr lang="en-US" sz="1200" kern="1200" dirty="0">
                <a:solidFill>
                  <a:schemeClr val="tx1"/>
                </a:solidFill>
                <a:effectLst/>
                <a:latin typeface="+mn-lt"/>
                <a:ea typeface="+mn-ea"/>
                <a:cs typeface="+mn-cs"/>
              </a:rPr>
              <a:t> and the </a:t>
            </a:r>
            <a:r>
              <a:rPr lang="en-US" sz="1200" kern="1200" dirty="0" err="1">
                <a:solidFill>
                  <a:schemeClr val="tx1"/>
                </a:solidFill>
                <a:effectLst/>
                <a:latin typeface="+mn-lt"/>
                <a:ea typeface="+mn-ea"/>
                <a:cs typeface="+mn-cs"/>
              </a:rPr>
              <a:t>repre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sentative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selected by the  researcher” . I t   occurs when   a   probability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m </a:t>
            </a:r>
            <a:r>
              <a:rPr lang="en-US" sz="1200" kern="1200" dirty="0" err="1">
                <a:solidFill>
                  <a:schemeClr val="tx1"/>
                </a:solidFill>
                <a:effectLst/>
                <a:latin typeface="+mn-lt"/>
                <a:ea typeface="+mn-ea"/>
                <a:cs typeface="+mn-cs"/>
              </a:rPr>
              <a:t>ethod</a:t>
            </a:r>
            <a:r>
              <a:rPr lang="en-US" sz="1200" kern="1200" dirty="0">
                <a:solidFill>
                  <a:schemeClr val="tx1"/>
                </a:solidFill>
                <a:effectLst/>
                <a:latin typeface="+mn-lt"/>
                <a:ea typeface="+mn-ea"/>
                <a:cs typeface="+mn-cs"/>
              </a:rPr>
              <a:t> is used to select a</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r>
            <a:br>
              <a:rPr lang="en-US" sz="1200" kern="1200" dirty="0">
                <a:solidFill>
                  <a:schemeClr val="tx1"/>
                </a:solidFill>
                <a:effectLst/>
                <a:latin typeface="+mn-lt"/>
                <a:ea typeface="+mn-ea"/>
                <a:cs typeface="+mn-cs"/>
              </a:rPr>
            </a:b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and this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is not representative  of the  </a:t>
            </a:r>
            <a:r>
              <a:rPr lang="en-US" sz="1200" kern="1200" dirty="0" err="1">
                <a:solidFill>
                  <a:schemeClr val="tx1"/>
                </a:solidFill>
                <a:effectLst/>
                <a:latin typeface="+mn-lt"/>
                <a:ea typeface="+mn-ea"/>
                <a:cs typeface="+mn-cs"/>
              </a:rPr>
              <a:t>popula</a:t>
            </a:r>
            <a:r>
              <a:rPr lang="en-US" sz="1200" kern="1200" dirty="0">
                <a:solidFill>
                  <a:schemeClr val="tx1"/>
                </a:solidFill>
                <a:effectLst/>
                <a:latin typeface="+mn-lt"/>
                <a:ea typeface="+mn-ea"/>
                <a:cs typeface="+mn-cs"/>
              </a:rPr>
              <a:t>- t ion concerned.   For   exam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a random sample of 500 </a:t>
            </a:r>
            <a:r>
              <a:rPr lang="en-US" sz="1200" kern="1200" dirty="0" err="1">
                <a:solidFill>
                  <a:schemeClr val="tx1"/>
                </a:solidFill>
                <a:effectLst/>
                <a:latin typeface="+mn-lt"/>
                <a:ea typeface="+mn-ea"/>
                <a:cs typeface="+mn-cs"/>
              </a:rPr>
              <a:t>peo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composed only of people between 35- 50   years   of   age m ay not be representative of adult   population.    Sam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error is affected by the </a:t>
            </a:r>
            <a:r>
              <a:rPr lang="en-US" sz="1200" kern="1200" dirty="0" err="1">
                <a:solidFill>
                  <a:schemeClr val="tx1"/>
                </a:solidFill>
                <a:effectLst/>
                <a:latin typeface="+mn-lt"/>
                <a:ea typeface="+mn-ea"/>
                <a:cs typeface="+mn-cs"/>
              </a:rPr>
              <a:t>hom</a:t>
            </a:r>
            <a:r>
              <a:rPr lang="en-US" sz="1200" kern="1200" dirty="0">
                <a:solidFill>
                  <a:schemeClr val="tx1"/>
                </a:solidFill>
                <a:effectLst/>
                <a:latin typeface="+mn-lt"/>
                <a:ea typeface="+mn-ea"/>
                <a:cs typeface="+mn-cs"/>
              </a:rPr>
              <a:t> o- </a:t>
            </a:r>
            <a:r>
              <a:rPr lang="en-US" sz="1200" kern="1200" dirty="0" err="1">
                <a:solidFill>
                  <a:schemeClr val="tx1"/>
                </a:solidFill>
                <a:effectLst/>
                <a:latin typeface="+mn-lt"/>
                <a:ea typeface="+mn-ea"/>
                <a:cs typeface="+mn-cs"/>
              </a:rPr>
              <a:t>geneity</a:t>
            </a:r>
            <a:r>
              <a:rPr lang="en-US" sz="1200" kern="1200" dirty="0">
                <a:solidFill>
                  <a:schemeClr val="tx1"/>
                </a:solidFill>
                <a:effectLst/>
                <a:latin typeface="+mn-lt"/>
                <a:ea typeface="+mn-ea"/>
                <a:cs typeface="+mn-cs"/>
              </a:rPr>
              <a:t> of the  population un- der study. I n general – m ore </a:t>
            </a:r>
            <a:r>
              <a:rPr lang="en-US" sz="1200" kern="1200" dirty="0" err="1">
                <a:solidFill>
                  <a:schemeClr val="tx1"/>
                </a:solidFill>
                <a:effectLst/>
                <a:latin typeface="+mn-lt"/>
                <a:ea typeface="+mn-ea"/>
                <a:cs typeface="+mn-cs"/>
              </a:rPr>
              <a:t>hom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ogenous</a:t>
            </a:r>
            <a:r>
              <a:rPr lang="en-US" sz="1200" kern="1200" dirty="0">
                <a:solidFill>
                  <a:schemeClr val="tx1"/>
                </a:solidFill>
                <a:effectLst/>
                <a:latin typeface="+mn-lt"/>
                <a:ea typeface="+mn-ea"/>
                <a:cs typeface="+mn-cs"/>
              </a:rPr>
              <a:t> the  population; the </a:t>
            </a:r>
            <a:r>
              <a:rPr lang="en-US" sz="1200" kern="1200" dirty="0" err="1">
                <a:solidFill>
                  <a:schemeClr val="tx1"/>
                </a:solidFill>
                <a:effectLst/>
                <a:latin typeface="+mn-lt"/>
                <a:ea typeface="+mn-ea"/>
                <a:cs typeface="+mn-cs"/>
              </a:rPr>
              <a:t>sm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aller</a:t>
            </a:r>
            <a:r>
              <a:rPr lang="en-US" sz="1200" kern="1200" dirty="0">
                <a:solidFill>
                  <a:schemeClr val="tx1"/>
                </a:solidFill>
                <a:effectLst/>
                <a:latin typeface="+mn-lt"/>
                <a:ea typeface="+mn-ea"/>
                <a:cs typeface="+mn-cs"/>
              </a:rPr>
              <a:t> the  sampling </a:t>
            </a:r>
            <a:r>
              <a:rPr lang="en-US" sz="1200" kern="1200" dirty="0" err="1">
                <a:solidFill>
                  <a:schemeClr val="tx1"/>
                </a:solidFill>
                <a:effectLst/>
                <a:latin typeface="+mn-lt"/>
                <a:ea typeface="+mn-ea"/>
                <a:cs typeface="+mn-cs"/>
              </a:rPr>
              <a:t>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ror</a:t>
            </a:r>
            <a:r>
              <a:rPr lang="en-US" sz="1200" kern="1200" dirty="0">
                <a:solidFill>
                  <a:schemeClr val="tx1"/>
                </a:solidFill>
                <a:effectLst/>
                <a:latin typeface="+mn-lt"/>
                <a:ea typeface="+mn-ea"/>
                <a:cs typeface="+mn-cs"/>
              </a:rPr>
              <a:t>.  Sampling error   falls   to zero in case of a census.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Select ion Error </a:t>
            </a:r>
            <a:r>
              <a:rPr lang="en-US" sz="1200" kern="1200" dirty="0">
                <a:solidFill>
                  <a:schemeClr val="tx1"/>
                </a:solidFill>
                <a:effectLst/>
                <a:latin typeface="+mn-lt"/>
                <a:ea typeface="+mn-ea"/>
                <a:cs typeface="+mn-cs"/>
              </a:rPr>
              <a:t>: I t is defined as the   “ Non   correspondence of sample selected by non probability m </a:t>
            </a:r>
            <a:r>
              <a:rPr lang="en-US" sz="1200" kern="1200" dirty="0" err="1">
                <a:solidFill>
                  <a:schemeClr val="tx1"/>
                </a:solidFill>
                <a:effectLst/>
                <a:latin typeface="+mn-lt"/>
                <a:ea typeface="+mn-ea"/>
                <a:cs typeface="+mn-cs"/>
              </a:rPr>
              <a:t>eans</a:t>
            </a:r>
            <a:r>
              <a:rPr lang="en-US" sz="1200" kern="1200" dirty="0">
                <a:solidFill>
                  <a:schemeClr val="tx1"/>
                </a:solidFill>
                <a:effectLst/>
                <a:latin typeface="+mn-lt"/>
                <a:ea typeface="+mn-ea"/>
                <a:cs typeface="+mn-cs"/>
              </a:rPr>
              <a:t> and the representative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sought by the researcher.” I n other words – it is a sampling error for the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selected   by non-   probability	m </a:t>
            </a:r>
            <a:r>
              <a:rPr lang="en-US" sz="1200" kern="1200" dirty="0" err="1">
                <a:solidFill>
                  <a:schemeClr val="tx1"/>
                </a:solidFill>
                <a:effectLst/>
                <a:latin typeface="+mn-lt"/>
                <a:ea typeface="+mn-ea"/>
                <a:cs typeface="+mn-cs"/>
              </a:rPr>
              <a:t>ethods</a:t>
            </a:r>
            <a:r>
              <a:rPr lang="en-US" sz="1200" kern="1200" dirty="0">
                <a:solidFill>
                  <a:schemeClr val="tx1"/>
                </a:solidFill>
                <a:effectLst/>
                <a:latin typeface="+mn-lt"/>
                <a:ea typeface="+mn-ea"/>
                <a:cs typeface="+mn-cs"/>
              </a:rPr>
              <a:t>. There is   a   natural  tendency for the investigator to select those    respondents    who    are m </a:t>
            </a:r>
            <a:r>
              <a:rPr lang="en-US" sz="1200" kern="1200" dirty="0" err="1">
                <a:solidFill>
                  <a:schemeClr val="tx1"/>
                </a:solidFill>
                <a:effectLst/>
                <a:latin typeface="+mn-lt"/>
                <a:ea typeface="+mn-ea"/>
                <a:cs typeface="+mn-cs"/>
              </a:rPr>
              <a:t>ost</a:t>
            </a:r>
            <a:r>
              <a:rPr lang="en-US" sz="1200" kern="1200" dirty="0">
                <a:solidFill>
                  <a:schemeClr val="tx1"/>
                </a:solidFill>
                <a:effectLst/>
                <a:latin typeface="+mn-lt"/>
                <a:ea typeface="+mn-ea"/>
                <a:cs typeface="+mn-cs"/>
              </a:rPr>
              <a:t> accessible and agree- able. Such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ples</a:t>
            </a:r>
            <a:r>
              <a:rPr lang="en-US" sz="1200" kern="1200" dirty="0">
                <a:solidFill>
                  <a:schemeClr val="tx1"/>
                </a:solidFill>
                <a:effectLst/>
                <a:latin typeface="+mn-lt"/>
                <a:ea typeface="+mn-ea"/>
                <a:cs typeface="+mn-cs"/>
              </a:rPr>
              <a:t> are often com </a:t>
            </a:r>
            <a:r>
              <a:rPr lang="en-US" sz="1200" kern="1200" dirty="0" err="1">
                <a:solidFill>
                  <a:schemeClr val="tx1"/>
                </a:solidFill>
                <a:effectLst/>
                <a:latin typeface="+mn-lt"/>
                <a:ea typeface="+mn-ea"/>
                <a:cs typeface="+mn-cs"/>
              </a:rPr>
              <a:t>prised</a:t>
            </a:r>
            <a:r>
              <a:rPr lang="en-US" sz="1200" kern="1200" dirty="0">
                <a:solidFill>
                  <a:schemeClr val="tx1"/>
                </a:solidFill>
                <a:effectLst/>
                <a:latin typeface="+mn-lt"/>
                <a:ea typeface="+mn-ea"/>
                <a:cs typeface="+mn-cs"/>
              </a:rPr>
              <a:t> of </a:t>
            </a:r>
            <a:r>
              <a:rPr lang="en-US" sz="1200" kern="1200" dirty="0" err="1">
                <a:solidFill>
                  <a:schemeClr val="tx1"/>
                </a:solidFill>
                <a:effectLst/>
                <a:latin typeface="+mn-lt"/>
                <a:ea typeface="+mn-ea"/>
                <a:cs typeface="+mn-cs"/>
              </a:rPr>
              <a:t>fr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iends</a:t>
            </a:r>
            <a:r>
              <a:rPr lang="en-US" sz="1200" kern="1200" dirty="0">
                <a:solidFill>
                  <a:schemeClr val="tx1"/>
                </a:solidFill>
                <a:effectLst/>
                <a:latin typeface="+mn-lt"/>
                <a:ea typeface="+mn-ea"/>
                <a:cs typeface="+mn-cs"/>
              </a:rPr>
              <a:t> and as- </a:t>
            </a:r>
            <a:r>
              <a:rPr lang="en-US" sz="1200" kern="1200" dirty="0" err="1">
                <a:solidFill>
                  <a:schemeClr val="tx1"/>
                </a:solidFill>
                <a:effectLst/>
                <a:latin typeface="+mn-lt"/>
                <a:ea typeface="+mn-ea"/>
                <a:cs typeface="+mn-cs"/>
              </a:rPr>
              <a:t>sociates</a:t>
            </a:r>
            <a:r>
              <a:rPr lang="en-US" sz="1200" kern="1200" dirty="0">
                <a:solidFill>
                  <a:schemeClr val="tx1"/>
                </a:solidFill>
                <a:effectLst/>
                <a:latin typeface="+mn-lt"/>
                <a:ea typeface="+mn-ea"/>
                <a:cs typeface="+mn-cs"/>
              </a:rPr>
              <a:t> who more or less represent the desired </a:t>
            </a:r>
            <a:r>
              <a:rPr lang="en-US" sz="1200" kern="1200" dirty="0" err="1">
                <a:solidFill>
                  <a:schemeClr val="tx1"/>
                </a:solidFill>
                <a:effectLst/>
                <a:latin typeface="+mn-lt"/>
                <a:ea typeface="+mn-ea"/>
                <a:cs typeface="+mn-cs"/>
              </a:rPr>
              <a:t>popula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tion</a:t>
            </a:r>
            <a:r>
              <a:rPr lang="en-US" sz="1200" kern="1200" dirty="0">
                <a:solidFill>
                  <a:schemeClr val="tx1"/>
                </a:solidFill>
                <a:effectLst/>
                <a:latin typeface="+mn-lt"/>
                <a:ea typeface="+mn-ea"/>
                <a:cs typeface="+mn-cs"/>
              </a:rPr>
              <a:t>.   Sam </a:t>
            </a:r>
            <a:r>
              <a:rPr lang="en-US" sz="1200" kern="1200" dirty="0" err="1">
                <a:solidFill>
                  <a:schemeClr val="tx1"/>
                </a:solidFill>
                <a:effectLst/>
                <a:latin typeface="+mn-lt"/>
                <a:ea typeface="+mn-ea"/>
                <a:cs typeface="+mn-cs"/>
              </a:rPr>
              <a:t>ples</a:t>
            </a:r>
            <a:r>
              <a:rPr lang="en-US" sz="1200" kern="1200" dirty="0">
                <a:solidFill>
                  <a:schemeClr val="tx1"/>
                </a:solidFill>
                <a:effectLst/>
                <a:latin typeface="+mn-lt"/>
                <a:ea typeface="+mn-ea"/>
                <a:cs typeface="+mn-cs"/>
              </a:rPr>
              <a:t>    of    this    type m ay not be representative of the  population but are </a:t>
            </a:r>
            <a:r>
              <a:rPr lang="en-US" sz="1200" kern="1200" dirty="0" err="1">
                <a:solidFill>
                  <a:schemeClr val="tx1"/>
                </a:solidFill>
                <a:effectLst/>
                <a:latin typeface="+mn-lt"/>
                <a:ea typeface="+mn-ea"/>
                <a:cs typeface="+mn-cs"/>
              </a:rPr>
              <a:t>cer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tainly</a:t>
            </a:r>
            <a:r>
              <a:rPr lang="en-US" sz="1200" kern="1200" dirty="0">
                <a:solidFill>
                  <a:schemeClr val="tx1"/>
                </a:solidFill>
                <a:effectLst/>
                <a:latin typeface="+mn-lt"/>
                <a:ea typeface="+mn-ea"/>
                <a:cs typeface="+mn-cs"/>
              </a:rPr>
              <a:t> not selected random </a:t>
            </a:r>
            <a:r>
              <a:rPr lang="en-US" sz="1200" kern="1200" dirty="0" err="1">
                <a:solidFill>
                  <a:schemeClr val="tx1"/>
                </a:solidFill>
                <a:effectLst/>
                <a:latin typeface="+mn-lt"/>
                <a:ea typeface="+mn-ea"/>
                <a:cs typeface="+mn-cs"/>
              </a:rPr>
              <a:t>ly</a:t>
            </a:r>
            <a:r>
              <a:rPr lang="en-US" sz="1200" kern="1200" dirty="0">
                <a:solidFill>
                  <a:schemeClr val="tx1"/>
                </a:solidFill>
                <a:effectLst/>
                <a:latin typeface="+mn-lt"/>
                <a:ea typeface="+mn-ea"/>
                <a:cs typeface="+mn-cs"/>
              </a:rPr>
              <a:t> – leading   to statistical problems in </a:t>
            </a:r>
            <a:r>
              <a:rPr lang="en-US" sz="1200" kern="1200" dirty="0" err="1">
                <a:solidFill>
                  <a:schemeClr val="tx1"/>
                </a:solidFill>
                <a:effectLst/>
                <a:latin typeface="+mn-lt"/>
                <a:ea typeface="+mn-ea"/>
                <a:cs typeface="+mn-cs"/>
              </a:rPr>
              <a:t>inferencing</a:t>
            </a:r>
            <a:r>
              <a:rPr lang="en-US" sz="1200" kern="1200" dirty="0">
                <a:solidFill>
                  <a:schemeClr val="tx1"/>
                </a:solidFill>
                <a:effectLst/>
                <a:latin typeface="+mn-lt"/>
                <a:ea typeface="+mn-ea"/>
                <a:cs typeface="+mn-cs"/>
              </a:rPr>
              <a:t>.</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pPr lvl="0"/>
            <a:r>
              <a:rPr lang="en-US" sz="1200" b="1" kern="1200" dirty="0" err="1">
                <a:solidFill>
                  <a:schemeClr val="tx1"/>
                </a:solidFill>
                <a:effectLst/>
                <a:latin typeface="+mn-lt"/>
                <a:ea typeface="+mn-ea"/>
                <a:cs typeface="+mn-cs"/>
              </a:rPr>
              <a:t>Fram</a:t>
            </a:r>
            <a:r>
              <a:rPr lang="en-US" sz="1200" b="1" kern="1200" dirty="0">
                <a:solidFill>
                  <a:schemeClr val="tx1"/>
                </a:solidFill>
                <a:effectLst/>
                <a:latin typeface="+mn-lt"/>
                <a:ea typeface="+mn-ea"/>
                <a:cs typeface="+mn-cs"/>
              </a:rPr>
              <a:t> e Error: </a:t>
            </a:r>
            <a:r>
              <a:rPr lang="en-US" sz="1200" kern="1200" dirty="0">
                <a:solidFill>
                  <a:schemeClr val="tx1"/>
                </a:solidFill>
                <a:effectLst/>
                <a:latin typeface="+mn-lt"/>
                <a:ea typeface="+mn-ea"/>
                <a:cs typeface="+mn-cs"/>
              </a:rPr>
              <a:t>I t is defined as the   non- correspondence    of the sought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with the required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A </a:t>
            </a:r>
            <a:r>
              <a:rPr lang="en-US" sz="1200" i="1" kern="1200" dirty="0">
                <a:solidFill>
                  <a:schemeClr val="tx1"/>
                </a:solidFill>
                <a:effectLst/>
                <a:latin typeface="+mn-lt"/>
                <a:ea typeface="+mn-ea"/>
                <a:cs typeface="+mn-cs"/>
              </a:rPr>
              <a:t>sampling frame </a:t>
            </a:r>
            <a:r>
              <a:rPr lang="en-US" sz="1200" kern="1200" dirty="0">
                <a:solidFill>
                  <a:schemeClr val="tx1"/>
                </a:solidFill>
                <a:effectLst/>
                <a:latin typeface="+mn-lt"/>
                <a:ea typeface="+mn-ea"/>
                <a:cs typeface="+mn-cs"/>
              </a:rPr>
              <a:t>is a m </a:t>
            </a:r>
            <a:r>
              <a:rPr lang="en-US" sz="1200" kern="1200" dirty="0" err="1">
                <a:solidFill>
                  <a:schemeClr val="tx1"/>
                </a:solidFill>
                <a:effectLst/>
                <a:latin typeface="+mn-lt"/>
                <a:ea typeface="+mn-ea"/>
                <a:cs typeface="+mn-cs"/>
              </a:rPr>
              <a:t>eans</a:t>
            </a:r>
            <a:r>
              <a:rPr lang="en-US" sz="1200" kern="1200" dirty="0">
                <a:solidFill>
                  <a:schemeClr val="tx1"/>
                </a:solidFill>
                <a:effectLst/>
                <a:latin typeface="+mn-lt"/>
                <a:ea typeface="+mn-ea"/>
                <a:cs typeface="+mn-cs"/>
              </a:rPr>
              <a:t> of account- </a:t>
            </a:r>
            <a:r>
              <a:rPr lang="en-US" sz="1200" kern="1200" dirty="0" err="1">
                <a:solidFill>
                  <a:schemeClr val="tx1"/>
                </a:solidFill>
                <a:effectLst/>
                <a:latin typeface="+mn-lt"/>
                <a:ea typeface="+mn-ea"/>
                <a:cs typeface="+mn-cs"/>
              </a:rPr>
              <a:t>ing</a:t>
            </a:r>
            <a:r>
              <a:rPr lang="en-US" sz="1200" kern="1200" dirty="0">
                <a:solidFill>
                  <a:schemeClr val="tx1"/>
                </a:solidFill>
                <a:effectLst/>
                <a:latin typeface="+mn-lt"/>
                <a:ea typeface="+mn-ea"/>
                <a:cs typeface="+mn-cs"/>
              </a:rPr>
              <a:t> for all the </a:t>
            </a:r>
            <a:r>
              <a:rPr lang="en-US" sz="1200" kern="1200" dirty="0" err="1">
                <a:solidFill>
                  <a:schemeClr val="tx1"/>
                </a:solidFill>
                <a:effectLst/>
                <a:latin typeface="+mn-lt"/>
                <a:ea typeface="+mn-ea"/>
                <a:cs typeface="+mn-cs"/>
              </a:rPr>
              <a:t>elem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ents</a:t>
            </a:r>
            <a:r>
              <a:rPr lang="en-US" sz="1200" kern="1200" dirty="0">
                <a:solidFill>
                  <a:schemeClr val="tx1"/>
                </a:solidFill>
                <a:effectLst/>
                <a:latin typeface="+mn-lt"/>
                <a:ea typeface="+mn-ea"/>
                <a:cs typeface="+mn-cs"/>
              </a:rPr>
              <a:t> of the population. I t is usually a list - </a:t>
            </a:r>
            <a:r>
              <a:rPr lang="en-US" sz="1200" kern="1200" dirty="0" err="1">
                <a:solidFill>
                  <a:schemeClr val="tx1"/>
                </a:solidFill>
                <a:effectLst/>
                <a:latin typeface="+mn-lt"/>
                <a:ea typeface="+mn-ea"/>
                <a:cs typeface="+mn-cs"/>
              </a:rPr>
              <a:t>ing</a:t>
            </a:r>
            <a:r>
              <a:rPr lang="en-US" sz="1200" kern="1200" dirty="0">
                <a:solidFill>
                  <a:schemeClr val="tx1"/>
                </a:solidFill>
                <a:effectLst/>
                <a:latin typeface="+mn-lt"/>
                <a:ea typeface="+mn-ea"/>
                <a:cs typeface="+mn-cs"/>
              </a:rPr>
              <a:t> of all the  elements that identify a population.   A   per- </a:t>
            </a:r>
            <a:r>
              <a:rPr lang="en-US" sz="1200" kern="1200" dirty="0" err="1">
                <a:solidFill>
                  <a:schemeClr val="tx1"/>
                </a:solidFill>
                <a:effectLst/>
                <a:latin typeface="+mn-lt"/>
                <a:ea typeface="+mn-ea"/>
                <a:cs typeface="+mn-cs"/>
              </a:rPr>
              <a:t>fect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fram</a:t>
            </a:r>
            <a:r>
              <a:rPr lang="en-US" sz="1200" kern="1200" dirty="0">
                <a:solidFill>
                  <a:schemeClr val="tx1"/>
                </a:solidFill>
                <a:effectLst/>
                <a:latin typeface="+mn-lt"/>
                <a:ea typeface="+mn-ea"/>
                <a:cs typeface="+mn-cs"/>
              </a:rPr>
              <a:t> e identifies each population only once and does not include </a:t>
            </a:r>
            <a:r>
              <a:rPr lang="en-US" sz="1200" kern="1200" dirty="0" err="1">
                <a:solidFill>
                  <a:schemeClr val="tx1"/>
                </a:solidFill>
                <a:effectLst/>
                <a:latin typeface="+mn-lt"/>
                <a:ea typeface="+mn-ea"/>
                <a:cs typeface="+mn-cs"/>
              </a:rPr>
              <a:t>elem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ents</a:t>
            </a:r>
            <a:r>
              <a:rPr lang="en-US" sz="1200" kern="1200" dirty="0">
                <a:solidFill>
                  <a:schemeClr val="tx1"/>
                </a:solidFill>
                <a:effectLst/>
                <a:latin typeface="+mn-lt"/>
                <a:ea typeface="+mn-ea"/>
                <a:cs typeface="+mn-cs"/>
              </a:rPr>
              <a:t> of other population, which m ay lead to overlap. For example a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fram</a:t>
            </a:r>
            <a:r>
              <a:rPr lang="en-US" sz="1200" kern="1200" dirty="0">
                <a:solidFill>
                  <a:schemeClr val="tx1"/>
                </a:solidFill>
                <a:effectLst/>
                <a:latin typeface="+mn-lt"/>
                <a:ea typeface="+mn-ea"/>
                <a:cs typeface="+mn-cs"/>
              </a:rPr>
              <a:t> e that specifies the population as all adults using oral care products – m ay well leave out people who prefer using </a:t>
            </a:r>
            <a:r>
              <a:rPr lang="en-US" sz="1200" i="1" kern="1200" dirty="0" err="1">
                <a:solidFill>
                  <a:schemeClr val="tx1"/>
                </a:solidFill>
                <a:effectLst/>
                <a:latin typeface="+mn-lt"/>
                <a:ea typeface="+mn-ea"/>
                <a:cs typeface="+mn-cs"/>
              </a:rPr>
              <a:t>neem</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and </a:t>
            </a:r>
            <a:r>
              <a:rPr lang="en-US" sz="1200" i="1" kern="1200" dirty="0" err="1">
                <a:solidFill>
                  <a:schemeClr val="tx1"/>
                </a:solidFill>
                <a:effectLst/>
                <a:latin typeface="+mn-lt"/>
                <a:ea typeface="+mn-ea"/>
                <a:cs typeface="+mn-cs"/>
              </a:rPr>
              <a:t>babool</a:t>
            </a:r>
            <a:r>
              <a:rPr lang="en-US" sz="1200" i="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icks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ade</a:t>
            </a:r>
            <a:r>
              <a:rPr lang="en-US" sz="1200" kern="1200" dirty="0">
                <a:solidFill>
                  <a:schemeClr val="tx1"/>
                </a:solidFill>
                <a:effectLst/>
                <a:latin typeface="+mn-lt"/>
                <a:ea typeface="+mn-ea"/>
                <a:cs typeface="+mn-cs"/>
              </a:rPr>
              <a:t> toothpaste and powders – leading to a frame error in defining the  </a:t>
            </a:r>
            <a:r>
              <a:rPr lang="en-US" sz="1200" kern="1200" dirty="0" err="1">
                <a:solidFill>
                  <a:schemeClr val="tx1"/>
                </a:solidFill>
                <a:effectLst/>
                <a:latin typeface="+mn-lt"/>
                <a:ea typeface="+mn-ea"/>
                <a:cs typeface="+mn-cs"/>
              </a:rPr>
              <a:t>popula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tion</a:t>
            </a:r>
            <a:r>
              <a:rPr lang="en-US" sz="1200" kern="1200" dirty="0">
                <a:solidFill>
                  <a:schemeClr val="tx1"/>
                </a:solidFill>
                <a:effectLst/>
                <a:latin typeface="+mn-lt"/>
                <a:ea typeface="+mn-ea"/>
                <a:cs typeface="+mn-cs"/>
              </a:rPr>
              <a:t>.</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5 . N on Response Error: </a:t>
            </a:r>
            <a:r>
              <a:rPr lang="en-US" sz="1200" kern="1200" dirty="0">
                <a:solidFill>
                  <a:schemeClr val="tx1"/>
                </a:solidFill>
                <a:effectLst/>
                <a:latin typeface="+mn-lt"/>
                <a:ea typeface="+mn-ea"/>
                <a:cs typeface="+mn-cs"/>
              </a:rPr>
              <a:t>A non- response error   occurs,   when the  obtained sample   differs from   the    original    selected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Non response can </a:t>
            </a:r>
            <a:r>
              <a:rPr lang="en-US" sz="1200" kern="1200" dirty="0" err="1">
                <a:solidFill>
                  <a:schemeClr val="tx1"/>
                </a:solidFill>
                <a:effectLst/>
                <a:latin typeface="+mn-lt"/>
                <a:ea typeface="+mn-ea"/>
                <a:cs typeface="+mn-cs"/>
              </a:rPr>
              <a:t>oc</a:t>
            </a:r>
            <a:r>
              <a:rPr lang="en-US" sz="1200" kern="1200" dirty="0">
                <a:solidFill>
                  <a:schemeClr val="tx1"/>
                </a:solidFill>
                <a:effectLst/>
                <a:latin typeface="+mn-lt"/>
                <a:ea typeface="+mn-ea"/>
                <a:cs typeface="+mn-cs"/>
              </a:rPr>
              <a:t>- cur in two ways – ( a) Non- Contact i.e. the inability to</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contact all the  m </a:t>
            </a:r>
            <a:r>
              <a:rPr lang="en-US" sz="1200" kern="1200" dirty="0" err="1">
                <a:solidFill>
                  <a:schemeClr val="tx1"/>
                </a:solidFill>
                <a:effectLst/>
                <a:latin typeface="+mn-lt"/>
                <a:ea typeface="+mn-ea"/>
                <a:cs typeface="+mn-cs"/>
              </a:rPr>
              <a:t>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bers</a:t>
            </a:r>
            <a:r>
              <a:rPr lang="en-US" sz="1200" kern="1200" dirty="0">
                <a:solidFill>
                  <a:schemeClr val="tx1"/>
                </a:solidFill>
                <a:effectLst/>
                <a:latin typeface="+mn-lt"/>
                <a:ea typeface="+mn-ea"/>
                <a:cs typeface="+mn-cs"/>
              </a:rPr>
              <a:t>   of the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and ( b) Refusal</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i.e. the  non- response of some or all the item s of the m </a:t>
            </a:r>
            <a:r>
              <a:rPr lang="en-US" sz="1200" kern="1200" dirty="0" err="1">
                <a:solidFill>
                  <a:schemeClr val="tx1"/>
                </a:solidFill>
                <a:effectLst/>
                <a:latin typeface="+mn-lt"/>
                <a:ea typeface="+mn-ea"/>
                <a:cs typeface="+mn-cs"/>
              </a:rPr>
              <a:t>eas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urem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instrum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ent</a:t>
            </a:r>
            <a:r>
              <a:rPr lang="en-US" sz="1200" kern="1200" dirty="0">
                <a:solidFill>
                  <a:schemeClr val="tx1"/>
                </a:solidFill>
                <a:effectLst/>
                <a:latin typeface="+mn-lt"/>
                <a:ea typeface="+mn-ea"/>
                <a:cs typeface="+mn-cs"/>
              </a:rPr>
              <a:t>.</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Non- contact   errors  </a:t>
            </a:r>
            <a:r>
              <a:rPr lang="en-US" sz="1200" kern="1200" dirty="0">
                <a:solidFill>
                  <a:schemeClr val="tx1"/>
                </a:solidFill>
                <a:effectLst/>
                <a:latin typeface="+mn-lt"/>
                <a:ea typeface="+mn-ea"/>
                <a:cs typeface="+mn-cs"/>
              </a:rPr>
              <a:t>arise   due to the inability to reach the respondent. This m ay be </a:t>
            </a:r>
            <a:r>
              <a:rPr lang="en-US" sz="1200" kern="1200" dirty="0" err="1">
                <a:solidFill>
                  <a:schemeClr val="tx1"/>
                </a:solidFill>
                <a:effectLst/>
                <a:latin typeface="+mn-lt"/>
                <a:ea typeface="+mn-ea"/>
                <a:cs typeface="+mn-cs"/>
              </a:rPr>
              <a:t>be</a:t>
            </a:r>
            <a:r>
              <a:rPr lang="en-US" sz="1200" kern="1200" dirty="0">
                <a:solidFill>
                  <a:schemeClr val="tx1"/>
                </a:solidFill>
                <a:effectLst/>
                <a:latin typeface="+mn-lt"/>
                <a:ea typeface="+mn-ea"/>
                <a:cs typeface="+mn-cs"/>
              </a:rPr>
              <a:t>- cause   the  respondent   is   NAH ( Not at Home) on   the  initial call ( or call backups) or m ay have m </a:t>
            </a:r>
            <a:r>
              <a:rPr lang="en-US" sz="1200" kern="1200" dirty="0" err="1">
                <a:solidFill>
                  <a:schemeClr val="tx1"/>
                </a:solidFill>
                <a:effectLst/>
                <a:latin typeface="+mn-lt"/>
                <a:ea typeface="+mn-ea"/>
                <a:cs typeface="+mn-cs"/>
              </a:rPr>
              <a:t>oved</a:t>
            </a:r>
            <a:r>
              <a:rPr lang="en-US" sz="1200" kern="1200" dirty="0">
                <a:solidFill>
                  <a:schemeClr val="tx1"/>
                </a:solidFill>
                <a:effectLst/>
                <a:latin typeface="+mn-lt"/>
                <a:ea typeface="+mn-ea"/>
                <a:cs typeface="+mn-cs"/>
              </a:rPr>
              <a:t> away from the area either perm </a:t>
            </a:r>
            <a:r>
              <a:rPr lang="en-US" sz="1200" kern="1200" dirty="0" err="1">
                <a:solidFill>
                  <a:schemeClr val="tx1"/>
                </a:solidFill>
                <a:effectLst/>
                <a:latin typeface="+mn-lt"/>
                <a:ea typeface="+mn-ea"/>
                <a:cs typeface="+mn-cs"/>
              </a:rPr>
              <a:t>anently</a:t>
            </a:r>
            <a:r>
              <a:rPr lang="en-US" sz="1200" kern="1200" dirty="0">
                <a:solidFill>
                  <a:schemeClr val="tx1"/>
                </a:solidFill>
                <a:effectLst/>
                <a:latin typeface="+mn-lt"/>
                <a:ea typeface="+mn-ea"/>
                <a:cs typeface="+mn-cs"/>
              </a:rPr>
              <a:t> or for the period of the survey. Non Contact errors can be reduced by careful analysis of the se- </a:t>
            </a:r>
            <a:r>
              <a:rPr lang="en-US" sz="1200" kern="1200" dirty="0" err="1">
                <a:solidFill>
                  <a:schemeClr val="tx1"/>
                </a:solidFill>
                <a:effectLst/>
                <a:latin typeface="+mn-lt"/>
                <a:ea typeface="+mn-ea"/>
                <a:cs typeface="+mn-cs"/>
              </a:rPr>
              <a:t>lected</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Refusal </a:t>
            </a:r>
            <a:r>
              <a:rPr lang="en-US" sz="1200" kern="1200" dirty="0">
                <a:solidFill>
                  <a:schemeClr val="tx1"/>
                </a:solidFill>
                <a:effectLst/>
                <a:latin typeface="+mn-lt"/>
                <a:ea typeface="+mn-ea"/>
                <a:cs typeface="+mn-cs"/>
              </a:rPr>
              <a:t>arises when the re- </a:t>
            </a:r>
            <a:r>
              <a:rPr lang="en-US" sz="1200" kern="1200" dirty="0" err="1">
                <a:solidFill>
                  <a:schemeClr val="tx1"/>
                </a:solidFill>
                <a:effectLst/>
                <a:latin typeface="+mn-lt"/>
                <a:ea typeface="+mn-ea"/>
                <a:cs typeface="+mn-cs"/>
              </a:rPr>
              <a:t>spondent</a:t>
            </a:r>
            <a:r>
              <a:rPr lang="en-US" sz="1200" kern="1200" dirty="0">
                <a:solidFill>
                  <a:schemeClr val="tx1"/>
                </a:solidFill>
                <a:effectLst/>
                <a:latin typeface="+mn-lt"/>
                <a:ea typeface="+mn-ea"/>
                <a:cs typeface="+mn-cs"/>
              </a:rPr>
              <a:t>   does not   respond to a particular item or   to m </a:t>
            </a:r>
            <a:r>
              <a:rPr lang="en-US" sz="1200" kern="1200" dirty="0" err="1">
                <a:solidFill>
                  <a:schemeClr val="tx1"/>
                </a:solidFill>
                <a:effectLst/>
                <a:latin typeface="+mn-lt"/>
                <a:ea typeface="+mn-ea"/>
                <a:cs typeface="+mn-cs"/>
              </a:rPr>
              <a:t>ulti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item s of the  question- </a:t>
            </a:r>
            <a:r>
              <a:rPr lang="en-US" sz="1200" kern="1200" dirty="0" err="1">
                <a:solidFill>
                  <a:schemeClr val="tx1"/>
                </a:solidFill>
                <a:effectLst/>
                <a:latin typeface="+mn-lt"/>
                <a:ea typeface="+mn-ea"/>
                <a:cs typeface="+mn-cs"/>
              </a:rPr>
              <a:t>naire</a:t>
            </a:r>
            <a:r>
              <a:rPr lang="en-US" sz="1200" kern="1200" dirty="0">
                <a:solidFill>
                  <a:schemeClr val="tx1"/>
                </a:solidFill>
                <a:effectLst/>
                <a:latin typeface="+mn-lt"/>
                <a:ea typeface="+mn-ea"/>
                <a:cs typeface="+mn-cs"/>
              </a:rPr>
              <a:t>. Monthly Household I n- com e, Religion,   Sex   and </a:t>
            </a:r>
            <a:r>
              <a:rPr lang="en-US" sz="1200" kern="1200" dirty="0" err="1">
                <a:solidFill>
                  <a:schemeClr val="tx1"/>
                </a:solidFill>
                <a:effectLst/>
                <a:latin typeface="+mn-lt"/>
                <a:ea typeface="+mn-ea"/>
                <a:cs typeface="+mn-cs"/>
              </a:rPr>
              <a:t>Poli</a:t>
            </a:r>
            <a:r>
              <a:rPr lang="en-US" sz="1200" kern="1200" dirty="0">
                <a:solidFill>
                  <a:schemeClr val="tx1"/>
                </a:solidFill>
                <a:effectLst/>
                <a:latin typeface="+mn-lt"/>
                <a:ea typeface="+mn-ea"/>
                <a:cs typeface="+mn-cs"/>
              </a:rPr>
              <a:t>- t </a:t>
            </a:r>
            <a:r>
              <a:rPr lang="en-US" sz="1200" kern="1200" dirty="0" err="1">
                <a:solidFill>
                  <a:schemeClr val="tx1"/>
                </a:solidFill>
                <a:effectLst/>
                <a:latin typeface="+mn-lt"/>
                <a:ea typeface="+mn-ea"/>
                <a:cs typeface="+mn-cs"/>
              </a:rPr>
              <a:t>ics</a:t>
            </a:r>
            <a:r>
              <a:rPr lang="en-US" sz="1200" kern="1200" dirty="0">
                <a:solidFill>
                  <a:schemeClr val="tx1"/>
                </a:solidFill>
                <a:effectLst/>
                <a:latin typeface="+mn-lt"/>
                <a:ea typeface="+mn-ea"/>
                <a:cs typeface="+mn-cs"/>
              </a:rPr>
              <a:t> are topics that m ay elicit item refusal – norm ally </a:t>
            </a:r>
            <a:r>
              <a:rPr lang="en-US" sz="1200" kern="1200" dirty="0" err="1">
                <a:solidFill>
                  <a:schemeClr val="tx1"/>
                </a:solidFill>
                <a:effectLst/>
                <a:latin typeface="+mn-lt"/>
                <a:ea typeface="+mn-ea"/>
                <a:cs typeface="+mn-cs"/>
              </a:rPr>
              <a:t>cate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gorised</a:t>
            </a:r>
            <a:r>
              <a:rPr lang="en-US" sz="1200" kern="1200" dirty="0">
                <a:solidFill>
                  <a:schemeClr val="tx1"/>
                </a:solidFill>
                <a:effectLst/>
                <a:latin typeface="+mn-lt"/>
                <a:ea typeface="+mn-ea"/>
                <a:cs typeface="+mn-cs"/>
              </a:rPr>
              <a:t>   as   </a:t>
            </a:r>
            <a:r>
              <a:rPr lang="en-US" sz="1200" u="sng" kern="1200" dirty="0">
                <a:solidFill>
                  <a:schemeClr val="tx1"/>
                </a:solidFill>
                <a:effectLst/>
                <a:latin typeface="+mn-lt"/>
                <a:ea typeface="+mn-ea"/>
                <a:cs typeface="+mn-cs"/>
              </a:rPr>
              <a:t>refused</a:t>
            </a:r>
            <a:r>
              <a:rPr lang="en-US" sz="1200" kern="1200" dirty="0">
                <a:solidFill>
                  <a:schemeClr val="tx1"/>
                </a:solidFill>
                <a:effectLst/>
                <a:latin typeface="+mn-lt"/>
                <a:ea typeface="+mn-ea"/>
                <a:cs typeface="+mn-cs"/>
              </a:rPr>
              <a:t>.    </a:t>
            </a:r>
            <a:r>
              <a:rPr lang="en-US" sz="1200" u="sng" kern="1200" dirty="0">
                <a:solidFill>
                  <a:schemeClr val="tx1"/>
                </a:solidFill>
                <a:effectLst/>
                <a:latin typeface="+mn-lt"/>
                <a:ea typeface="+mn-ea"/>
                <a:cs typeface="+mn-cs"/>
              </a:rPr>
              <a:t>Don’t</a:t>
            </a:r>
            <a:r>
              <a:rPr lang="en-US" sz="1200" kern="1200" dirty="0">
                <a:solidFill>
                  <a:schemeClr val="tx1"/>
                </a:solidFill>
                <a:effectLst/>
                <a:latin typeface="+mn-lt"/>
                <a:ea typeface="+mn-ea"/>
                <a:cs typeface="+mn-cs"/>
              </a:rPr>
              <a:t> </a:t>
            </a:r>
            <a:r>
              <a:rPr lang="en-US" sz="1200" u="sng" kern="1200" dirty="0">
                <a:solidFill>
                  <a:schemeClr val="tx1"/>
                </a:solidFill>
                <a:effectLst/>
                <a:latin typeface="+mn-lt"/>
                <a:ea typeface="+mn-ea"/>
                <a:cs typeface="+mn-cs"/>
              </a:rPr>
              <a:t>Know / Can’t Say</a:t>
            </a:r>
            <a:r>
              <a:rPr lang="en-US" sz="1200" kern="1200" dirty="0">
                <a:solidFill>
                  <a:schemeClr val="tx1"/>
                </a:solidFill>
                <a:effectLst/>
                <a:latin typeface="+mn-lt"/>
                <a:ea typeface="+mn-ea"/>
                <a:cs typeface="+mn-cs"/>
              </a:rPr>
              <a:t> ( DKCS) re- </a:t>
            </a:r>
            <a:r>
              <a:rPr lang="en-US" sz="1200" kern="1200" dirty="0" err="1">
                <a:solidFill>
                  <a:schemeClr val="tx1"/>
                </a:solidFill>
                <a:effectLst/>
                <a:latin typeface="+mn-lt"/>
                <a:ea typeface="+mn-ea"/>
                <a:cs typeface="+mn-cs"/>
              </a:rPr>
              <a:t>fusals</a:t>
            </a:r>
            <a:r>
              <a:rPr lang="en-US" sz="1200" kern="1200" dirty="0">
                <a:solidFill>
                  <a:schemeClr val="tx1"/>
                </a:solidFill>
                <a:effectLst/>
                <a:latin typeface="+mn-lt"/>
                <a:ea typeface="+mn-ea"/>
                <a:cs typeface="+mn-cs"/>
              </a:rPr>
              <a:t> arise when the  </a:t>
            </a:r>
            <a:r>
              <a:rPr lang="en-US" sz="1200" kern="1200" dirty="0" err="1">
                <a:solidFill>
                  <a:schemeClr val="tx1"/>
                </a:solidFill>
                <a:effectLst/>
                <a:latin typeface="+mn-lt"/>
                <a:ea typeface="+mn-ea"/>
                <a:cs typeface="+mn-cs"/>
              </a:rPr>
              <a:t>respon</a:t>
            </a:r>
            <a:r>
              <a:rPr lang="en-US" sz="1200" kern="1200" dirty="0">
                <a:solidFill>
                  <a:schemeClr val="tx1"/>
                </a:solidFill>
                <a:effectLst/>
                <a:latin typeface="+mn-lt"/>
                <a:ea typeface="+mn-ea"/>
                <a:cs typeface="+mn-cs"/>
              </a:rPr>
              <a:t>- dent is aware of the  item but is unable to provide an </a:t>
            </a:r>
            <a:r>
              <a:rPr lang="en-US" sz="1200" kern="1200" dirty="0" err="1">
                <a:solidFill>
                  <a:schemeClr val="tx1"/>
                </a:solidFill>
                <a:effectLst/>
                <a:latin typeface="+mn-lt"/>
                <a:ea typeface="+mn-ea"/>
                <a:cs typeface="+mn-cs"/>
              </a:rPr>
              <a:t>ade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quate</a:t>
            </a:r>
            <a:r>
              <a:rPr lang="en-US" sz="1200" kern="1200" dirty="0">
                <a:solidFill>
                  <a:schemeClr val="tx1"/>
                </a:solidFill>
                <a:effectLst/>
                <a:latin typeface="+mn-lt"/>
                <a:ea typeface="+mn-ea"/>
                <a:cs typeface="+mn-cs"/>
              </a:rPr>
              <a:t> answer to the item . Constraints of t </a:t>
            </a:r>
            <a:r>
              <a:rPr lang="en-US" sz="1200" kern="1200" dirty="0" err="1">
                <a:solidFill>
                  <a:schemeClr val="tx1"/>
                </a:solidFill>
                <a:effectLst/>
                <a:latin typeface="+mn-lt"/>
                <a:ea typeface="+mn-ea"/>
                <a:cs typeface="+mn-cs"/>
              </a:rPr>
              <a:t>im</a:t>
            </a:r>
            <a:r>
              <a:rPr lang="en-US" sz="1200" kern="1200" dirty="0">
                <a:solidFill>
                  <a:schemeClr val="tx1"/>
                </a:solidFill>
                <a:effectLst/>
                <a:latin typeface="+mn-lt"/>
                <a:ea typeface="+mn-ea"/>
                <a:cs typeface="+mn-cs"/>
              </a:rPr>
              <a:t> e   on   the part of the respondent, a bad experience with  </a:t>
            </a:r>
            <a:r>
              <a:rPr lang="en-US" sz="1200" kern="1200" dirty="0" err="1">
                <a:solidFill>
                  <a:schemeClr val="tx1"/>
                </a:solidFill>
                <a:effectLst/>
                <a:latin typeface="+mn-lt"/>
                <a:ea typeface="+mn-ea"/>
                <a:cs typeface="+mn-cs"/>
              </a:rPr>
              <a:t>som</a:t>
            </a:r>
            <a:r>
              <a:rPr lang="en-US" sz="1200" kern="1200" dirty="0">
                <a:solidFill>
                  <a:schemeClr val="tx1"/>
                </a:solidFill>
                <a:effectLst/>
                <a:latin typeface="+mn-lt"/>
                <a:ea typeface="+mn-ea"/>
                <a:cs typeface="+mn-cs"/>
              </a:rPr>
              <a:t> e </a:t>
            </a:r>
            <a:r>
              <a:rPr lang="en-US" sz="1200" kern="1200" dirty="0" err="1">
                <a:solidFill>
                  <a:schemeClr val="tx1"/>
                </a:solidFill>
                <a:effectLst/>
                <a:latin typeface="+mn-lt"/>
                <a:ea typeface="+mn-ea"/>
                <a:cs typeface="+mn-cs"/>
              </a:rPr>
              <a:t>previ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ous</a:t>
            </a:r>
            <a:r>
              <a:rPr lang="en-US" sz="1200" kern="1200" dirty="0">
                <a:solidFill>
                  <a:schemeClr val="tx1"/>
                </a:solidFill>
                <a:effectLst/>
                <a:latin typeface="+mn-lt"/>
                <a:ea typeface="+mn-ea"/>
                <a:cs typeface="+mn-cs"/>
              </a:rPr>
              <a:t> interviewer,  ill health etc. m ay be other reason for re- </a:t>
            </a:r>
            <a:r>
              <a:rPr lang="en-US" sz="1200" kern="1200" dirty="0" err="1">
                <a:solidFill>
                  <a:schemeClr val="tx1"/>
                </a:solidFill>
                <a:effectLst/>
                <a:latin typeface="+mn-lt"/>
                <a:ea typeface="+mn-ea"/>
                <a:cs typeface="+mn-cs"/>
              </a:rPr>
              <a:t>fusal</a:t>
            </a:r>
            <a:r>
              <a:rPr lang="en-US" sz="1200" kern="1200" dirty="0">
                <a:solidFill>
                  <a:schemeClr val="tx1"/>
                </a:solidFill>
                <a:effectLst/>
                <a:latin typeface="+mn-lt"/>
                <a:ea typeface="+mn-ea"/>
                <a:cs typeface="+mn-cs"/>
              </a:rPr>
              <a:t>. Refusal rates could be brought down to m </a:t>
            </a:r>
            <a:r>
              <a:rPr lang="en-US" sz="1200" kern="1200" dirty="0" err="1">
                <a:solidFill>
                  <a:schemeClr val="tx1"/>
                </a:solidFill>
                <a:effectLst/>
                <a:latin typeface="+mn-lt"/>
                <a:ea typeface="+mn-ea"/>
                <a:cs typeface="+mn-cs"/>
              </a:rPr>
              <a:t>anageable</a:t>
            </a:r>
            <a:r>
              <a:rPr lang="en-US" sz="1200" kern="1200" dirty="0">
                <a:solidFill>
                  <a:schemeClr val="tx1"/>
                </a:solidFill>
                <a:effectLst/>
                <a:latin typeface="+mn-lt"/>
                <a:ea typeface="+mn-ea"/>
                <a:cs typeface="+mn-cs"/>
              </a:rPr>
              <a:t> levels by giving t raining to the interviewers  and continuously m </a:t>
            </a:r>
            <a:r>
              <a:rPr lang="en-US" sz="1200" kern="1200" dirty="0" err="1">
                <a:solidFill>
                  <a:schemeClr val="tx1"/>
                </a:solidFill>
                <a:effectLst/>
                <a:latin typeface="+mn-lt"/>
                <a:ea typeface="+mn-ea"/>
                <a:cs typeface="+mn-cs"/>
              </a:rPr>
              <a:t>onitoring</a:t>
            </a:r>
            <a:r>
              <a:rPr lang="en-US" sz="1200" kern="1200" dirty="0">
                <a:solidFill>
                  <a:schemeClr val="tx1"/>
                </a:solidFill>
                <a:effectLst/>
                <a:latin typeface="+mn-lt"/>
                <a:ea typeface="+mn-ea"/>
                <a:cs typeface="+mn-cs"/>
              </a:rPr>
              <a:t> the investigation process.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pPr lvl="0"/>
            <a:r>
              <a:rPr lang="en-US" sz="1200" b="1" kern="1200" dirty="0" err="1">
                <a:solidFill>
                  <a:schemeClr val="tx1"/>
                </a:solidFill>
                <a:effectLst/>
                <a:latin typeface="+mn-lt"/>
                <a:ea typeface="+mn-ea"/>
                <a:cs typeface="+mn-cs"/>
              </a:rPr>
              <a:t>Surrogat</a:t>
            </a:r>
            <a:r>
              <a:rPr lang="en-US" sz="1200" b="1" kern="1200" dirty="0">
                <a:solidFill>
                  <a:schemeClr val="tx1"/>
                </a:solidFill>
                <a:effectLst/>
                <a:latin typeface="+mn-lt"/>
                <a:ea typeface="+mn-ea"/>
                <a:cs typeface="+mn-cs"/>
              </a:rPr>
              <a:t> e I </a:t>
            </a:r>
            <a:r>
              <a:rPr lang="en-US" sz="1200" b="1" kern="1200" dirty="0" err="1">
                <a:solidFill>
                  <a:schemeClr val="tx1"/>
                </a:solidFill>
                <a:effectLst/>
                <a:latin typeface="+mn-lt"/>
                <a:ea typeface="+mn-ea"/>
                <a:cs typeface="+mn-cs"/>
              </a:rPr>
              <a:t>nform</a:t>
            </a:r>
            <a:r>
              <a:rPr lang="en-US" sz="1200" b="1" kern="1200" dirty="0">
                <a:solidFill>
                  <a:schemeClr val="tx1"/>
                </a:solidFill>
                <a:effectLst/>
                <a:latin typeface="+mn-lt"/>
                <a:ea typeface="+mn-ea"/>
                <a:cs typeface="+mn-cs"/>
              </a:rPr>
              <a:t> at ion </a:t>
            </a:r>
            <a:r>
              <a:rPr lang="en-US" sz="1200" b="1" kern="1200" dirty="0" err="1">
                <a:solidFill>
                  <a:schemeClr val="tx1"/>
                </a:solidFill>
                <a:effectLst/>
                <a:latin typeface="+mn-lt"/>
                <a:ea typeface="+mn-ea"/>
                <a:cs typeface="+mn-cs"/>
              </a:rPr>
              <a:t>Er</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ror</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This is defined as the non- correspondence of the in- form </a:t>
            </a:r>
            <a:r>
              <a:rPr lang="en-US" sz="1200" kern="1200" dirty="0" err="1">
                <a:solidFill>
                  <a:schemeClr val="tx1"/>
                </a:solidFill>
                <a:effectLst/>
                <a:latin typeface="+mn-lt"/>
                <a:ea typeface="+mn-ea"/>
                <a:cs typeface="+mn-cs"/>
              </a:rPr>
              <a:t>ation</a:t>
            </a:r>
            <a:r>
              <a:rPr lang="en-US" sz="1200" kern="1200" dirty="0">
                <a:solidFill>
                  <a:schemeClr val="tx1"/>
                </a:solidFill>
                <a:effectLst/>
                <a:latin typeface="+mn-lt"/>
                <a:ea typeface="+mn-ea"/>
                <a:cs typeface="+mn-cs"/>
              </a:rPr>
              <a:t> being sought by the researcher and that   is   re- </a:t>
            </a:r>
            <a:r>
              <a:rPr lang="en-US" sz="1200" kern="1200" dirty="0" err="1">
                <a:solidFill>
                  <a:schemeClr val="tx1"/>
                </a:solidFill>
                <a:effectLst/>
                <a:latin typeface="+mn-lt"/>
                <a:ea typeface="+mn-ea"/>
                <a:cs typeface="+mn-cs"/>
              </a:rPr>
              <a:t>quired</a:t>
            </a:r>
            <a:r>
              <a:rPr lang="en-US" sz="1200" kern="1200" dirty="0">
                <a:solidFill>
                  <a:schemeClr val="tx1"/>
                </a:solidFill>
                <a:effectLst/>
                <a:latin typeface="+mn-lt"/>
                <a:ea typeface="+mn-ea"/>
                <a:cs typeface="+mn-cs"/>
              </a:rPr>
              <a:t> to solve   the  problem. Or   in other words, inform </a:t>
            </a:r>
            <a:r>
              <a:rPr lang="en-US" sz="1200" kern="1200" dirty="0" err="1">
                <a:solidFill>
                  <a:schemeClr val="tx1"/>
                </a:solidFill>
                <a:effectLst/>
                <a:latin typeface="+mn-lt"/>
                <a:ea typeface="+mn-ea"/>
                <a:cs typeface="+mn-cs"/>
              </a:rPr>
              <a:t>ation</a:t>
            </a:r>
            <a:r>
              <a:rPr lang="en-US" sz="1200" kern="1200" dirty="0">
                <a:solidFill>
                  <a:schemeClr val="tx1"/>
                </a:solidFill>
                <a:effectLst/>
                <a:latin typeface="+mn-lt"/>
                <a:ea typeface="+mn-ea"/>
                <a:cs typeface="+mn-cs"/>
              </a:rPr>
              <a:t> is obtained from substitutes rather  than original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The necessity to accept </a:t>
            </a:r>
            <a:r>
              <a:rPr lang="en-US" sz="1200" kern="1200" dirty="0" err="1">
                <a:solidFill>
                  <a:schemeClr val="tx1"/>
                </a:solidFill>
                <a:effectLst/>
                <a:latin typeface="+mn-lt"/>
                <a:ea typeface="+mn-ea"/>
                <a:cs typeface="+mn-cs"/>
              </a:rPr>
              <a:t>sur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rogate</a:t>
            </a:r>
            <a:r>
              <a:rPr lang="en-US" sz="1200" kern="1200" dirty="0">
                <a:solidFill>
                  <a:schemeClr val="tx1"/>
                </a:solidFill>
                <a:effectLst/>
                <a:latin typeface="+mn-lt"/>
                <a:ea typeface="+mn-ea"/>
                <a:cs typeface="+mn-cs"/>
              </a:rPr>
              <a:t>    inform </a:t>
            </a:r>
            <a:r>
              <a:rPr lang="en-US" sz="1200" kern="1200" dirty="0" err="1">
                <a:solidFill>
                  <a:schemeClr val="tx1"/>
                </a:solidFill>
                <a:effectLst/>
                <a:latin typeface="+mn-lt"/>
                <a:ea typeface="+mn-ea"/>
                <a:cs typeface="+mn-cs"/>
              </a:rPr>
              <a:t>ation</a:t>
            </a:r>
            <a:r>
              <a:rPr lang="en-US" sz="1200" kern="1200" dirty="0">
                <a:solidFill>
                  <a:schemeClr val="tx1"/>
                </a:solidFill>
                <a:effectLst/>
                <a:latin typeface="+mn-lt"/>
                <a:ea typeface="+mn-ea"/>
                <a:cs typeface="+mn-cs"/>
              </a:rPr>
              <a:t>    arises from either the inability or the unwillingness of the  </a:t>
            </a:r>
            <a:r>
              <a:rPr lang="en-US" sz="1200" kern="1200" dirty="0" err="1">
                <a:solidFill>
                  <a:schemeClr val="tx1"/>
                </a:solidFill>
                <a:effectLst/>
                <a:latin typeface="+mn-lt"/>
                <a:ea typeface="+mn-ea"/>
                <a:cs typeface="+mn-cs"/>
              </a:rPr>
              <a:t>respon</a:t>
            </a:r>
            <a:r>
              <a:rPr lang="en-US" sz="1200" kern="1200" dirty="0">
                <a:solidFill>
                  <a:schemeClr val="tx1"/>
                </a:solidFill>
                <a:effectLst/>
                <a:latin typeface="+mn-lt"/>
                <a:ea typeface="+mn-ea"/>
                <a:cs typeface="+mn-cs"/>
              </a:rPr>
              <a:t>- dent to provide the needed inform </a:t>
            </a:r>
            <a:r>
              <a:rPr lang="en-US" sz="1200" kern="1200" dirty="0" err="1">
                <a:solidFill>
                  <a:schemeClr val="tx1"/>
                </a:solidFill>
                <a:effectLst/>
                <a:latin typeface="+mn-lt"/>
                <a:ea typeface="+mn-ea"/>
                <a:cs typeface="+mn-cs"/>
              </a:rPr>
              <a:t>ation</a:t>
            </a:r>
            <a:r>
              <a:rPr lang="en-US" sz="1200" kern="1200" dirty="0">
                <a:solidFill>
                  <a:schemeClr val="tx1"/>
                </a:solidFill>
                <a:effectLst/>
                <a:latin typeface="+mn-lt"/>
                <a:ea typeface="+mn-ea"/>
                <a:cs typeface="+mn-cs"/>
              </a:rPr>
              <a:t>.</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Decisional   oriented   </a:t>
            </a:r>
            <a:r>
              <a:rPr lang="en-US" sz="1200" kern="1200" dirty="0" err="1">
                <a:solidFill>
                  <a:schemeClr val="tx1"/>
                </a:solidFill>
                <a:effectLst/>
                <a:latin typeface="+mn-lt"/>
                <a:ea typeface="+mn-ea"/>
                <a:cs typeface="+mn-cs"/>
              </a:rPr>
              <a:t>behav</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ioural</a:t>
            </a:r>
            <a:r>
              <a:rPr lang="en-US" sz="1200" kern="1200" dirty="0">
                <a:solidFill>
                  <a:schemeClr val="tx1"/>
                </a:solidFill>
                <a:effectLst/>
                <a:latin typeface="+mn-lt"/>
                <a:ea typeface="+mn-ea"/>
                <a:cs typeface="+mn-cs"/>
              </a:rPr>
              <a:t> research is always con- </a:t>
            </a:r>
            <a:r>
              <a:rPr lang="en-US" sz="1200" kern="1200" dirty="0" err="1">
                <a:solidFill>
                  <a:schemeClr val="tx1"/>
                </a:solidFill>
                <a:effectLst/>
                <a:latin typeface="+mn-lt"/>
                <a:ea typeface="+mn-ea"/>
                <a:cs typeface="+mn-cs"/>
              </a:rPr>
              <a:t>centrated</a:t>
            </a:r>
            <a:r>
              <a:rPr lang="en-US" sz="1200" kern="1200" dirty="0">
                <a:solidFill>
                  <a:schemeClr val="tx1"/>
                </a:solidFill>
                <a:effectLst/>
                <a:latin typeface="+mn-lt"/>
                <a:ea typeface="+mn-ea"/>
                <a:cs typeface="+mn-cs"/>
              </a:rPr>
              <a:t> with prediction of </a:t>
            </a:r>
            <a:r>
              <a:rPr lang="en-US" sz="1200" kern="1200" dirty="0" err="1">
                <a:solidFill>
                  <a:schemeClr val="tx1"/>
                </a:solidFill>
                <a:effectLst/>
                <a:latin typeface="+mn-lt"/>
                <a:ea typeface="+mn-ea"/>
                <a:cs typeface="+mn-cs"/>
              </a:rPr>
              <a:t>behaviour</a:t>
            </a:r>
            <a:r>
              <a:rPr lang="en-US" sz="1200" kern="1200" dirty="0">
                <a:solidFill>
                  <a:schemeClr val="tx1"/>
                </a:solidFill>
                <a:effectLst/>
                <a:latin typeface="+mn-lt"/>
                <a:ea typeface="+mn-ea"/>
                <a:cs typeface="+mn-cs"/>
              </a:rPr>
              <a:t> usually non- verbal. This </a:t>
            </a:r>
            <a:r>
              <a:rPr lang="en-US" sz="1200" kern="1200" dirty="0" err="1">
                <a:solidFill>
                  <a:schemeClr val="tx1"/>
                </a:solidFill>
                <a:effectLst/>
                <a:latin typeface="+mn-lt"/>
                <a:ea typeface="+mn-ea"/>
                <a:cs typeface="+mn-cs"/>
              </a:rPr>
              <a:t>lim</a:t>
            </a:r>
            <a:r>
              <a:rPr lang="en-US" sz="1200" kern="1200" dirty="0">
                <a:solidFill>
                  <a:schemeClr val="tx1"/>
                </a:solidFill>
                <a:effectLst/>
                <a:latin typeface="+mn-lt"/>
                <a:ea typeface="+mn-ea"/>
                <a:cs typeface="+mn-cs"/>
              </a:rPr>
              <a:t> its m </a:t>
            </a:r>
            <a:r>
              <a:rPr lang="en-US" sz="1200" kern="1200" dirty="0" err="1">
                <a:solidFill>
                  <a:schemeClr val="tx1"/>
                </a:solidFill>
                <a:effectLst/>
                <a:latin typeface="+mn-lt"/>
                <a:ea typeface="+mn-ea"/>
                <a:cs typeface="+mn-cs"/>
              </a:rPr>
              <a:t>ost</a:t>
            </a:r>
            <a:r>
              <a:rPr lang="en-US" sz="1200" kern="1200" dirty="0">
                <a:solidFill>
                  <a:schemeClr val="tx1"/>
                </a:solidFill>
                <a:effectLst/>
                <a:latin typeface="+mn-lt"/>
                <a:ea typeface="+mn-ea"/>
                <a:cs typeface="+mn-cs"/>
              </a:rPr>
              <a:t> m </a:t>
            </a:r>
            <a:r>
              <a:rPr lang="en-US" sz="1200" kern="1200" dirty="0" err="1">
                <a:solidFill>
                  <a:schemeClr val="tx1"/>
                </a:solidFill>
                <a:effectLst/>
                <a:latin typeface="+mn-lt"/>
                <a:ea typeface="+mn-ea"/>
                <a:cs typeface="+mn-cs"/>
              </a:rPr>
              <a:t>arketing</a:t>
            </a:r>
            <a:r>
              <a:rPr lang="en-US" sz="1200" kern="1200" dirty="0">
                <a:solidFill>
                  <a:schemeClr val="tx1"/>
                </a:solidFill>
                <a:effectLst/>
                <a:latin typeface="+mn-lt"/>
                <a:ea typeface="+mn-ea"/>
                <a:cs typeface="+mn-cs"/>
              </a:rPr>
              <a:t> re- search projects to use proxy inform </a:t>
            </a:r>
            <a:r>
              <a:rPr lang="en-US" sz="1200" kern="1200" dirty="0" err="1">
                <a:solidFill>
                  <a:schemeClr val="tx1"/>
                </a:solidFill>
                <a:effectLst/>
                <a:latin typeface="+mn-lt"/>
                <a:ea typeface="+mn-ea"/>
                <a:cs typeface="+mn-cs"/>
              </a:rPr>
              <a:t>ation</a:t>
            </a:r>
            <a:r>
              <a:rPr lang="en-US" sz="1200" kern="1200" dirty="0">
                <a:solidFill>
                  <a:schemeClr val="tx1"/>
                </a:solidFill>
                <a:effectLst/>
                <a:latin typeface="+mn-lt"/>
                <a:ea typeface="+mn-ea"/>
                <a:cs typeface="+mn-cs"/>
              </a:rPr>
              <a:t> – data from past </a:t>
            </a:r>
            <a:r>
              <a:rPr lang="en-US" sz="1200" kern="1200" dirty="0" err="1">
                <a:solidFill>
                  <a:schemeClr val="tx1"/>
                </a:solidFill>
                <a:effectLst/>
                <a:latin typeface="+mn-lt"/>
                <a:ea typeface="+mn-ea"/>
                <a:cs typeface="+mn-cs"/>
              </a:rPr>
              <a:t>behaviour</a:t>
            </a:r>
            <a:r>
              <a:rPr lang="en-US" sz="1200" kern="1200" dirty="0">
                <a:solidFill>
                  <a:schemeClr val="tx1"/>
                </a:solidFill>
                <a:effectLst/>
                <a:latin typeface="+mn-lt"/>
                <a:ea typeface="+mn-ea"/>
                <a:cs typeface="+mn-cs"/>
              </a:rPr>
              <a:t>. Attitudes,   beliefs and SEC classification are all exam </a:t>
            </a:r>
            <a:r>
              <a:rPr lang="en-US" sz="1200" kern="1200" dirty="0" err="1">
                <a:solidFill>
                  <a:schemeClr val="tx1"/>
                </a:solidFill>
                <a:effectLst/>
                <a:latin typeface="+mn-lt"/>
                <a:ea typeface="+mn-ea"/>
                <a:cs typeface="+mn-cs"/>
              </a:rPr>
              <a:t>ples</a:t>
            </a:r>
            <a:r>
              <a:rPr lang="en-US" sz="1200" kern="1200" dirty="0">
                <a:solidFill>
                  <a:schemeClr val="tx1"/>
                </a:solidFill>
                <a:effectLst/>
                <a:latin typeface="+mn-lt"/>
                <a:ea typeface="+mn-ea"/>
                <a:cs typeface="+mn-cs"/>
              </a:rPr>
              <a:t> of surrogate </a:t>
            </a:r>
            <a:r>
              <a:rPr lang="en-US" sz="1200" kern="1200" dirty="0" err="1">
                <a:solidFill>
                  <a:schemeClr val="tx1"/>
                </a:solidFill>
                <a:effectLst/>
                <a:latin typeface="+mn-lt"/>
                <a:ea typeface="+mn-ea"/>
                <a:cs typeface="+mn-cs"/>
              </a:rPr>
              <a:t>infor</a:t>
            </a:r>
            <a:r>
              <a:rPr lang="en-US" sz="1200" kern="1200" dirty="0">
                <a:solidFill>
                  <a:schemeClr val="tx1"/>
                </a:solidFill>
                <a:effectLst/>
                <a:latin typeface="+mn-lt"/>
                <a:ea typeface="+mn-ea"/>
                <a:cs typeface="+mn-cs"/>
              </a:rPr>
              <a:t>-</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 </a:t>
            </a:r>
            <a:r>
              <a:rPr lang="en-US" sz="1200" kern="1200" dirty="0" err="1">
                <a:solidFill>
                  <a:schemeClr val="tx1"/>
                </a:solidFill>
                <a:effectLst/>
                <a:latin typeface="+mn-lt"/>
                <a:ea typeface="+mn-ea"/>
                <a:cs typeface="+mn-cs"/>
              </a:rPr>
              <a:t>ation</a:t>
            </a:r>
            <a:r>
              <a:rPr lang="en-US" sz="1200" kern="1200" dirty="0">
                <a:solidFill>
                  <a:schemeClr val="tx1"/>
                </a:solidFill>
                <a:effectLst/>
                <a:latin typeface="+mn-lt"/>
                <a:ea typeface="+mn-ea"/>
                <a:cs typeface="+mn-cs"/>
              </a:rPr>
              <a:t> because   based   on these inform </a:t>
            </a:r>
            <a:r>
              <a:rPr lang="en-US" sz="1200" kern="1200" dirty="0" err="1">
                <a:solidFill>
                  <a:schemeClr val="tx1"/>
                </a:solidFill>
                <a:effectLst/>
                <a:latin typeface="+mn-lt"/>
                <a:ea typeface="+mn-ea"/>
                <a:cs typeface="+mn-cs"/>
              </a:rPr>
              <a:t>ation</a:t>
            </a:r>
            <a:r>
              <a:rPr lang="en-US" sz="1200" kern="1200" dirty="0">
                <a:solidFill>
                  <a:schemeClr val="tx1"/>
                </a:solidFill>
                <a:effectLst/>
                <a:latin typeface="+mn-lt"/>
                <a:ea typeface="+mn-ea"/>
                <a:cs typeface="+mn-cs"/>
              </a:rPr>
              <a:t> we try to predict the   future  </a:t>
            </a:r>
            <a:r>
              <a:rPr lang="en-US" sz="1200" kern="1200" dirty="0" err="1">
                <a:solidFill>
                  <a:schemeClr val="tx1"/>
                </a:solidFill>
                <a:effectLst/>
                <a:latin typeface="+mn-lt"/>
                <a:ea typeface="+mn-ea"/>
                <a:cs typeface="+mn-cs"/>
              </a:rPr>
              <a:t>behaviour</a:t>
            </a:r>
            <a:r>
              <a:rPr lang="en-US" sz="1200" kern="1200" dirty="0">
                <a:solidFill>
                  <a:schemeClr val="tx1"/>
                </a:solidFill>
                <a:effectLst/>
                <a:latin typeface="+mn-lt"/>
                <a:ea typeface="+mn-ea"/>
                <a:cs typeface="+mn-cs"/>
              </a:rPr>
              <a:t> of the  respondents.   </a:t>
            </a:r>
            <a:r>
              <a:rPr lang="en-US" sz="1200" kern="1200" dirty="0" err="1">
                <a:solidFill>
                  <a:schemeClr val="tx1"/>
                </a:solidFill>
                <a:effectLst/>
                <a:latin typeface="+mn-lt"/>
                <a:ea typeface="+mn-ea"/>
                <a:cs typeface="+mn-cs"/>
              </a:rPr>
              <a:t>Secon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dary</a:t>
            </a:r>
            <a:r>
              <a:rPr lang="en-US" sz="1200" kern="1200" dirty="0">
                <a:solidFill>
                  <a:schemeClr val="tx1"/>
                </a:solidFill>
                <a:effectLst/>
                <a:latin typeface="+mn-lt"/>
                <a:ea typeface="+mn-ea"/>
                <a:cs typeface="+mn-cs"/>
              </a:rPr>
              <a:t> sources of data are an- other source of surrogate  in- form </a:t>
            </a:r>
            <a:r>
              <a:rPr lang="en-US" sz="1200" kern="1200" dirty="0" err="1">
                <a:solidFill>
                  <a:schemeClr val="tx1"/>
                </a:solidFill>
                <a:effectLst/>
                <a:latin typeface="+mn-lt"/>
                <a:ea typeface="+mn-ea"/>
                <a:cs typeface="+mn-cs"/>
              </a:rPr>
              <a:t>ation</a:t>
            </a:r>
            <a:r>
              <a:rPr lang="en-US" sz="1200" kern="1200" dirty="0">
                <a:solidFill>
                  <a:schemeClr val="tx1"/>
                </a:solidFill>
                <a:effectLst/>
                <a:latin typeface="+mn-lt"/>
                <a:ea typeface="+mn-ea"/>
                <a:cs typeface="+mn-cs"/>
              </a:rPr>
              <a:t>.   Surrogate  inform a- t ion error can be   m </a:t>
            </a:r>
            <a:r>
              <a:rPr lang="en-US" sz="1200" kern="1200" dirty="0" err="1">
                <a:solidFill>
                  <a:schemeClr val="tx1"/>
                </a:solidFill>
                <a:effectLst/>
                <a:latin typeface="+mn-lt"/>
                <a:ea typeface="+mn-ea"/>
                <a:cs typeface="+mn-cs"/>
              </a:rPr>
              <a:t>inim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ised</a:t>
            </a:r>
            <a:r>
              <a:rPr lang="en-US" sz="1200" kern="1200" dirty="0">
                <a:solidFill>
                  <a:schemeClr val="tx1"/>
                </a:solidFill>
                <a:effectLst/>
                <a:latin typeface="+mn-lt"/>
                <a:ea typeface="+mn-ea"/>
                <a:cs typeface="+mn-cs"/>
              </a:rPr>
              <a:t> by   ensuring   that   the  inform a- t ion used is highly correlated with the actual inform </a:t>
            </a:r>
            <a:r>
              <a:rPr lang="en-US" sz="1200" kern="1200" dirty="0" err="1">
                <a:solidFill>
                  <a:schemeClr val="tx1"/>
                </a:solidFill>
                <a:effectLst/>
                <a:latin typeface="+mn-lt"/>
                <a:ea typeface="+mn-ea"/>
                <a:cs typeface="+mn-cs"/>
              </a:rPr>
              <a:t>ation</a:t>
            </a:r>
            <a:r>
              <a:rPr lang="en-US" sz="1200" kern="1200" dirty="0">
                <a:solidFill>
                  <a:schemeClr val="tx1"/>
                </a:solidFill>
                <a:effectLst/>
                <a:latin typeface="+mn-lt"/>
                <a:ea typeface="+mn-ea"/>
                <a:cs typeface="+mn-cs"/>
              </a:rPr>
              <a:t> obtained.</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pPr lvl="0"/>
            <a:r>
              <a:rPr lang="en-US" sz="1200" b="1" kern="1200" dirty="0" err="1">
                <a:solidFill>
                  <a:schemeClr val="tx1"/>
                </a:solidFill>
                <a:effectLst/>
                <a:latin typeface="+mn-lt"/>
                <a:ea typeface="+mn-ea"/>
                <a:cs typeface="+mn-cs"/>
              </a:rPr>
              <a:t>Measurem</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ent</a:t>
            </a:r>
            <a:r>
              <a:rPr lang="en-US" sz="1200" b="1" kern="1200" dirty="0">
                <a:solidFill>
                  <a:schemeClr val="tx1"/>
                </a:solidFill>
                <a:effectLst/>
                <a:latin typeface="+mn-lt"/>
                <a:ea typeface="+mn-ea"/>
                <a:cs typeface="+mn-cs"/>
              </a:rPr>
              <a:t>  Error:    </a:t>
            </a:r>
            <a:r>
              <a:rPr lang="en-US" sz="1200" kern="1200" dirty="0">
                <a:solidFill>
                  <a:schemeClr val="tx1"/>
                </a:solidFill>
                <a:effectLst/>
                <a:latin typeface="+mn-lt"/>
                <a:ea typeface="+mn-ea"/>
                <a:cs typeface="+mn-cs"/>
              </a:rPr>
              <a:t>This m ay be defined as the non- correspondence      of      inform a- t ion    obtained    by     measure- m </a:t>
            </a:r>
            <a:r>
              <a:rPr lang="en-US" sz="1200" kern="1200" dirty="0" err="1">
                <a:solidFill>
                  <a:schemeClr val="tx1"/>
                </a:solidFill>
                <a:effectLst/>
                <a:latin typeface="+mn-lt"/>
                <a:ea typeface="+mn-ea"/>
                <a:cs typeface="+mn-cs"/>
              </a:rPr>
              <a:t>ent</a:t>
            </a:r>
            <a:r>
              <a:rPr lang="en-US" sz="1200" kern="1200" dirty="0">
                <a:solidFill>
                  <a:schemeClr val="tx1"/>
                </a:solidFill>
                <a:effectLst/>
                <a:latin typeface="+mn-lt"/>
                <a:ea typeface="+mn-ea"/>
                <a:cs typeface="+mn-cs"/>
              </a:rPr>
              <a:t>   process   and   the  </a:t>
            </a:r>
            <a:r>
              <a:rPr lang="en-US" sz="1200" kern="1200" dirty="0" err="1">
                <a:solidFill>
                  <a:schemeClr val="tx1"/>
                </a:solidFill>
                <a:effectLst/>
                <a:latin typeface="+mn-lt"/>
                <a:ea typeface="+mn-ea"/>
                <a:cs typeface="+mn-cs"/>
              </a:rPr>
              <a:t>infor</a:t>
            </a:r>
            <a:r>
              <a:rPr lang="en-US" sz="1200" kern="1200" dirty="0">
                <a:solidFill>
                  <a:schemeClr val="tx1"/>
                </a:solidFill>
                <a:effectLst/>
                <a:latin typeface="+mn-lt"/>
                <a:ea typeface="+mn-ea"/>
                <a:cs typeface="+mn-cs"/>
              </a:rPr>
              <a:t>- m </a:t>
            </a:r>
            <a:r>
              <a:rPr lang="en-US" sz="1200" kern="1200" dirty="0" err="1">
                <a:solidFill>
                  <a:schemeClr val="tx1"/>
                </a:solidFill>
                <a:effectLst/>
                <a:latin typeface="+mn-lt"/>
                <a:ea typeface="+mn-ea"/>
                <a:cs typeface="+mn-cs"/>
              </a:rPr>
              <a:t>ation</a:t>
            </a:r>
            <a:r>
              <a:rPr lang="en-US" sz="1200" kern="1200" dirty="0">
                <a:solidFill>
                  <a:schemeClr val="tx1"/>
                </a:solidFill>
                <a:effectLst/>
                <a:latin typeface="+mn-lt"/>
                <a:ea typeface="+mn-ea"/>
                <a:cs typeface="+mn-cs"/>
              </a:rPr>
              <a:t> sought by the re- searcher. I t is   generated   by the m </a:t>
            </a:r>
            <a:r>
              <a:rPr lang="en-US" sz="1200" kern="1200" dirty="0" err="1">
                <a:solidFill>
                  <a:schemeClr val="tx1"/>
                </a:solidFill>
                <a:effectLst/>
                <a:latin typeface="+mn-lt"/>
                <a:ea typeface="+mn-ea"/>
                <a:cs typeface="+mn-cs"/>
              </a:rPr>
              <a:t>easurem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ent</a:t>
            </a:r>
            <a:r>
              <a:rPr lang="en-US" sz="1200" kern="1200" dirty="0">
                <a:solidFill>
                  <a:schemeClr val="tx1"/>
                </a:solidFill>
                <a:effectLst/>
                <a:latin typeface="+mn-lt"/>
                <a:ea typeface="+mn-ea"/>
                <a:cs typeface="+mn-cs"/>
              </a:rPr>
              <a:t> process it - self and represents the differ- </a:t>
            </a:r>
            <a:r>
              <a:rPr lang="en-US" sz="1200" kern="1200" dirty="0" err="1">
                <a:solidFill>
                  <a:schemeClr val="tx1"/>
                </a:solidFill>
                <a:effectLst/>
                <a:latin typeface="+mn-lt"/>
                <a:ea typeface="+mn-ea"/>
                <a:cs typeface="+mn-cs"/>
              </a:rPr>
              <a:t>ence</a:t>
            </a:r>
            <a:r>
              <a:rPr lang="en-US" sz="1200" kern="1200" dirty="0">
                <a:solidFill>
                  <a:schemeClr val="tx1"/>
                </a:solidFill>
                <a:effectLst/>
                <a:latin typeface="+mn-lt"/>
                <a:ea typeface="+mn-ea"/>
                <a:cs typeface="+mn-cs"/>
              </a:rPr>
              <a:t> between inform </a:t>
            </a:r>
            <a:r>
              <a:rPr lang="en-US" sz="1200" kern="1200" dirty="0" err="1">
                <a:solidFill>
                  <a:schemeClr val="tx1"/>
                </a:solidFill>
                <a:effectLst/>
                <a:latin typeface="+mn-lt"/>
                <a:ea typeface="+mn-ea"/>
                <a:cs typeface="+mn-cs"/>
              </a:rPr>
              <a:t>ation</a:t>
            </a:r>
            <a:r>
              <a:rPr lang="en-US" sz="1200" kern="1200" dirty="0">
                <a:solidFill>
                  <a:schemeClr val="tx1"/>
                </a:solidFill>
                <a:effectLst/>
                <a:latin typeface="+mn-lt"/>
                <a:ea typeface="+mn-ea"/>
                <a:cs typeface="+mn-cs"/>
              </a:rPr>
              <a:t> generated and inform </a:t>
            </a:r>
            <a:r>
              <a:rPr lang="en-US" sz="1200" kern="1200" dirty="0" err="1">
                <a:solidFill>
                  <a:schemeClr val="tx1"/>
                </a:solidFill>
                <a:effectLst/>
                <a:latin typeface="+mn-lt"/>
                <a:ea typeface="+mn-ea"/>
                <a:cs typeface="+mn-cs"/>
              </a:rPr>
              <a:t>ation</a:t>
            </a:r>
            <a:r>
              <a:rPr lang="en-US" sz="1200" kern="1200" dirty="0">
                <a:solidFill>
                  <a:schemeClr val="tx1"/>
                </a:solidFill>
                <a:effectLst/>
                <a:latin typeface="+mn-lt"/>
                <a:ea typeface="+mn-ea"/>
                <a:cs typeface="+mn-cs"/>
              </a:rPr>
              <a:t> wanted  by the  researcher. Such errors  can   potentially arise   at    any    stage    of    the m </a:t>
            </a:r>
            <a:r>
              <a:rPr lang="en-US" sz="1200" kern="1200" dirty="0" err="1">
                <a:solidFill>
                  <a:schemeClr val="tx1"/>
                </a:solidFill>
                <a:effectLst/>
                <a:latin typeface="+mn-lt"/>
                <a:ea typeface="+mn-ea"/>
                <a:cs typeface="+mn-cs"/>
              </a:rPr>
              <a:t>easurement</a:t>
            </a:r>
            <a:r>
              <a:rPr lang="en-US" sz="1200" kern="1200" dirty="0">
                <a:solidFill>
                  <a:schemeClr val="tx1"/>
                </a:solidFill>
                <a:effectLst/>
                <a:latin typeface="+mn-lt"/>
                <a:ea typeface="+mn-ea"/>
                <a:cs typeface="+mn-cs"/>
              </a:rPr>
              <a:t> process – from the development of the  in- strum </a:t>
            </a:r>
            <a:r>
              <a:rPr lang="en-US" sz="1200" kern="1200" dirty="0" err="1">
                <a:solidFill>
                  <a:schemeClr val="tx1"/>
                </a:solidFill>
                <a:effectLst/>
                <a:latin typeface="+mn-lt"/>
                <a:ea typeface="+mn-ea"/>
                <a:cs typeface="+mn-cs"/>
              </a:rPr>
              <a:t>ent</a:t>
            </a:r>
            <a:r>
              <a:rPr lang="en-US" sz="1200" kern="1200" dirty="0">
                <a:solidFill>
                  <a:schemeClr val="tx1"/>
                </a:solidFill>
                <a:effectLst/>
                <a:latin typeface="+mn-lt"/>
                <a:ea typeface="+mn-ea"/>
                <a:cs typeface="+mn-cs"/>
              </a:rPr>
              <a:t> t ill the analysis of findings.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error can also occur at </a:t>
            </a:r>
            <a:r>
              <a:rPr lang="en-US" sz="1200" kern="1200" dirty="0" err="1">
                <a:solidFill>
                  <a:schemeClr val="tx1"/>
                </a:solidFill>
                <a:effectLst/>
                <a:latin typeface="+mn-lt"/>
                <a:ea typeface="+mn-ea"/>
                <a:cs typeface="+mn-cs"/>
              </a:rPr>
              <a:t>transm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ittal</a:t>
            </a:r>
            <a:r>
              <a:rPr lang="en-US" sz="1200" kern="1200" dirty="0">
                <a:solidFill>
                  <a:schemeClr val="tx1"/>
                </a:solidFill>
                <a:effectLst/>
                <a:latin typeface="+mn-lt"/>
                <a:ea typeface="+mn-ea"/>
                <a:cs typeface="+mn-cs"/>
              </a:rPr>
              <a:t> stage - when the interviewer is questioning the respondent. Faulty wording of question, non- preparation of non- verbal clues, </a:t>
            </a:r>
            <a:r>
              <a:rPr lang="en-US" sz="1200" kern="1200" dirty="0" err="1">
                <a:solidFill>
                  <a:schemeClr val="tx1"/>
                </a:solidFill>
                <a:effectLst/>
                <a:latin typeface="+mn-lt"/>
                <a:ea typeface="+mn-ea"/>
                <a:cs typeface="+mn-cs"/>
              </a:rPr>
              <a:t>behaviour</a:t>
            </a:r>
            <a:r>
              <a:rPr lang="en-US" sz="1200" kern="1200" dirty="0">
                <a:solidFill>
                  <a:schemeClr val="tx1"/>
                </a:solidFill>
                <a:effectLst/>
                <a:latin typeface="+mn-lt"/>
                <a:ea typeface="+mn-ea"/>
                <a:cs typeface="+mn-cs"/>
              </a:rPr>
              <a:t> of the interviewer </a:t>
            </a:r>
            <a:r>
              <a:rPr lang="en-US" sz="1200" kern="1200" dirty="0" err="1">
                <a:solidFill>
                  <a:schemeClr val="tx1"/>
                </a:solidFill>
                <a:effectLst/>
                <a:latin typeface="+mn-lt"/>
                <a:ea typeface="+mn-ea"/>
                <a:cs typeface="+mn-cs"/>
              </a:rPr>
              <a:t>etc</a:t>
            </a:r>
            <a:r>
              <a:rPr lang="en-US" sz="1200" kern="1200" dirty="0">
                <a:solidFill>
                  <a:schemeClr val="tx1"/>
                </a:solidFill>
                <a:effectLst/>
                <a:latin typeface="+mn-lt"/>
                <a:ea typeface="+mn-ea"/>
                <a:cs typeface="+mn-cs"/>
              </a:rPr>
              <a:t> m ay all contribute to how the </a:t>
            </a:r>
            <a:r>
              <a:rPr lang="en-US" sz="1200" kern="1200" dirty="0" err="1">
                <a:solidFill>
                  <a:schemeClr val="tx1"/>
                </a:solidFill>
                <a:effectLst/>
                <a:latin typeface="+mn-lt"/>
                <a:ea typeface="+mn-ea"/>
                <a:cs typeface="+mn-cs"/>
              </a:rPr>
              <a:t>respon</a:t>
            </a:r>
            <a:r>
              <a:rPr lang="en-US" sz="1200" kern="1200" dirty="0">
                <a:solidFill>
                  <a:schemeClr val="tx1"/>
                </a:solidFill>
                <a:effectLst/>
                <a:latin typeface="+mn-lt"/>
                <a:ea typeface="+mn-ea"/>
                <a:cs typeface="+mn-cs"/>
              </a:rPr>
              <a:t>- dent interprets the question.</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n the response phase – when the respondent is replying  – error m ay occur because the respondent gave a wrong an- </a:t>
            </a:r>
            <a:r>
              <a:rPr lang="en-US" sz="1200" kern="1200" dirty="0" err="1">
                <a:solidFill>
                  <a:schemeClr val="tx1"/>
                </a:solidFill>
                <a:effectLst/>
                <a:latin typeface="+mn-lt"/>
                <a:ea typeface="+mn-ea"/>
                <a:cs typeface="+mn-cs"/>
              </a:rPr>
              <a:t>swer</a:t>
            </a:r>
            <a:r>
              <a:rPr lang="en-US" sz="1200" kern="1200" dirty="0">
                <a:solidFill>
                  <a:schemeClr val="tx1"/>
                </a:solidFill>
                <a:effectLst/>
                <a:latin typeface="+mn-lt"/>
                <a:ea typeface="+mn-ea"/>
                <a:cs typeface="+mn-cs"/>
              </a:rPr>
              <a:t> or the   correct   answer was wrongly interpreted and recorded. I n the   analysis phase, errors  of incorrect editing, coding   and/ or descriptive       sum m </a:t>
            </a:r>
            <a:r>
              <a:rPr lang="en-US" sz="1200" kern="1200" dirty="0" err="1">
                <a:solidFill>
                  <a:schemeClr val="tx1"/>
                </a:solidFill>
                <a:effectLst/>
                <a:latin typeface="+mn-lt"/>
                <a:ea typeface="+mn-ea"/>
                <a:cs typeface="+mn-cs"/>
              </a:rPr>
              <a:t>arisation</a:t>
            </a:r>
            <a:r>
              <a:rPr lang="en-US" sz="1200" kern="1200" dirty="0">
                <a:solidFill>
                  <a:schemeClr val="tx1"/>
                </a:solidFill>
                <a:effectLst/>
                <a:latin typeface="+mn-lt"/>
                <a:ea typeface="+mn-ea"/>
                <a:cs typeface="+mn-cs"/>
              </a:rPr>
              <a:t> and inferences can contribute substantially to m </a:t>
            </a:r>
            <a:r>
              <a:rPr lang="en-US" sz="1200" kern="1200" dirty="0" err="1">
                <a:solidFill>
                  <a:schemeClr val="tx1"/>
                </a:solidFill>
                <a:effectLst/>
                <a:latin typeface="+mn-lt"/>
                <a:ea typeface="+mn-ea"/>
                <a:cs typeface="+mn-cs"/>
              </a:rPr>
              <a:t>easurement</a:t>
            </a:r>
            <a:r>
              <a:rPr lang="en-US" sz="1200" kern="1200" dirty="0">
                <a:solidFill>
                  <a:schemeClr val="tx1"/>
                </a:solidFill>
                <a:effectLst/>
                <a:latin typeface="+mn-lt"/>
                <a:ea typeface="+mn-ea"/>
                <a:cs typeface="+mn-cs"/>
              </a:rPr>
              <a:t> error.</a:t>
            </a:r>
            <a:endParaRPr lang="en-IN" sz="1200" kern="1200" dirty="0">
              <a:solidFill>
                <a:schemeClr val="tx1"/>
              </a:solidFill>
              <a:effectLst/>
              <a:latin typeface="+mn-lt"/>
              <a:ea typeface="+mn-ea"/>
              <a:cs typeface="+mn-cs"/>
            </a:endParaRPr>
          </a:p>
          <a:p>
            <a:pPr lvl="0"/>
            <a:r>
              <a:rPr lang="en-US" sz="1200" b="1" kern="1200" dirty="0" err="1">
                <a:solidFill>
                  <a:schemeClr val="tx1"/>
                </a:solidFill>
                <a:effectLst/>
                <a:latin typeface="+mn-lt"/>
                <a:ea typeface="+mn-ea"/>
                <a:cs typeface="+mn-cs"/>
              </a:rPr>
              <a:t>Experim</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ental</a:t>
            </a:r>
            <a:r>
              <a:rPr lang="en-US" sz="1200" b="1" kern="1200" dirty="0">
                <a:solidFill>
                  <a:schemeClr val="tx1"/>
                </a:solidFill>
                <a:effectLst/>
                <a:latin typeface="+mn-lt"/>
                <a:ea typeface="+mn-ea"/>
                <a:cs typeface="+mn-cs"/>
              </a:rPr>
              <a:t> Error: </a:t>
            </a:r>
            <a:r>
              <a:rPr lang="en-US" sz="1200" kern="1200" dirty="0">
                <a:solidFill>
                  <a:schemeClr val="tx1"/>
                </a:solidFill>
                <a:effectLst/>
                <a:latin typeface="+mn-lt"/>
                <a:ea typeface="+mn-ea"/>
                <a:cs typeface="+mn-cs"/>
              </a:rPr>
              <a:t>It  can be defined as the non- correspondence of the   “ t rue </a:t>
            </a:r>
            <a:r>
              <a:rPr lang="en-US" sz="1200" kern="1200" dirty="0" err="1">
                <a:solidFill>
                  <a:schemeClr val="tx1"/>
                </a:solidFill>
                <a:effectLst/>
                <a:latin typeface="+mn-lt"/>
                <a:ea typeface="+mn-ea"/>
                <a:cs typeface="+mn-cs"/>
              </a:rPr>
              <a:t>im</a:t>
            </a:r>
            <a:r>
              <a:rPr lang="en-US" sz="1200" kern="1200" dirty="0">
                <a:solidFill>
                  <a:schemeClr val="tx1"/>
                </a:solidFill>
                <a:effectLst/>
                <a:latin typeface="+mn-lt"/>
                <a:ea typeface="+mn-ea"/>
                <a:cs typeface="+mn-cs"/>
              </a:rPr>
              <a:t> pact of” and the  “ impact at- t r </a:t>
            </a:r>
            <a:r>
              <a:rPr lang="en-US" sz="1200" kern="1200" dirty="0" err="1">
                <a:solidFill>
                  <a:schemeClr val="tx1"/>
                </a:solidFill>
                <a:effectLst/>
                <a:latin typeface="+mn-lt"/>
                <a:ea typeface="+mn-ea"/>
                <a:cs typeface="+mn-cs"/>
              </a:rPr>
              <a:t>ibuted</a:t>
            </a:r>
            <a:r>
              <a:rPr lang="en-US" sz="1200" kern="1200" dirty="0">
                <a:solidFill>
                  <a:schemeClr val="tx1"/>
                </a:solidFill>
                <a:effectLst/>
                <a:latin typeface="+mn-lt"/>
                <a:ea typeface="+mn-ea"/>
                <a:cs typeface="+mn-cs"/>
              </a:rPr>
              <a:t> to” the independent variable. When an experiment is conducted, the researcher </a:t>
            </a:r>
            <a:r>
              <a:rPr lang="en-US" sz="1200" kern="1200" dirty="0" err="1">
                <a:solidFill>
                  <a:schemeClr val="tx1"/>
                </a:solidFill>
                <a:effectLst/>
                <a:latin typeface="+mn-lt"/>
                <a:ea typeface="+mn-ea"/>
                <a:cs typeface="+mn-cs"/>
              </a:rPr>
              <a:t>attem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pts</a:t>
            </a:r>
            <a:r>
              <a:rPr lang="en-US" sz="1200" kern="1200" dirty="0">
                <a:solidFill>
                  <a:schemeClr val="tx1"/>
                </a:solidFill>
                <a:effectLst/>
                <a:latin typeface="+mn-lt"/>
                <a:ea typeface="+mn-ea"/>
                <a:cs typeface="+mn-cs"/>
              </a:rPr>
              <a:t> to m </a:t>
            </a:r>
            <a:r>
              <a:rPr lang="en-US" sz="1200" kern="1200" dirty="0" err="1">
                <a:solidFill>
                  <a:schemeClr val="tx1"/>
                </a:solidFill>
                <a:effectLst/>
                <a:latin typeface="+mn-lt"/>
                <a:ea typeface="+mn-ea"/>
                <a:cs typeface="+mn-cs"/>
              </a:rPr>
              <a:t>easure</a:t>
            </a:r>
            <a:r>
              <a:rPr lang="en-US" sz="1200" kern="1200" dirty="0">
                <a:solidFill>
                  <a:schemeClr val="tx1"/>
                </a:solidFill>
                <a:effectLst/>
                <a:latin typeface="+mn-lt"/>
                <a:ea typeface="+mn-ea"/>
                <a:cs typeface="+mn-cs"/>
              </a:rPr>
              <a:t> the </a:t>
            </a:r>
            <a:r>
              <a:rPr lang="en-US" sz="1200" kern="1200" dirty="0" err="1">
                <a:solidFill>
                  <a:schemeClr val="tx1"/>
                </a:solidFill>
                <a:effectLst/>
                <a:latin typeface="+mn-lt"/>
                <a:ea typeface="+mn-ea"/>
                <a:cs typeface="+mn-cs"/>
              </a:rPr>
              <a:t>im</a:t>
            </a:r>
            <a:r>
              <a:rPr lang="en-US" sz="1200" kern="1200" dirty="0">
                <a:solidFill>
                  <a:schemeClr val="tx1"/>
                </a:solidFill>
                <a:effectLst/>
                <a:latin typeface="+mn-lt"/>
                <a:ea typeface="+mn-ea"/>
                <a:cs typeface="+mn-cs"/>
              </a:rPr>
              <a:t> - pact of one or m ore m </a:t>
            </a:r>
            <a:r>
              <a:rPr lang="en-US" sz="1200" kern="1200" dirty="0" err="1">
                <a:solidFill>
                  <a:schemeClr val="tx1"/>
                </a:solidFill>
                <a:effectLst/>
                <a:latin typeface="+mn-lt"/>
                <a:ea typeface="+mn-ea"/>
                <a:cs typeface="+mn-cs"/>
              </a:rPr>
              <a:t>anipu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lated</a:t>
            </a:r>
            <a:r>
              <a:rPr lang="en-US" sz="1200" kern="1200" dirty="0">
                <a:solidFill>
                  <a:schemeClr val="tx1"/>
                </a:solidFill>
                <a:effectLst/>
                <a:latin typeface="+mn-lt"/>
                <a:ea typeface="+mn-ea"/>
                <a:cs typeface="+mn-cs"/>
              </a:rPr>
              <a:t> independent variable on </a:t>
            </a:r>
            <a:r>
              <a:rPr lang="en-US" sz="1200" kern="1200" dirty="0" err="1">
                <a:solidFill>
                  <a:schemeClr val="tx1"/>
                </a:solidFill>
                <a:effectLst/>
                <a:latin typeface="+mn-lt"/>
                <a:ea typeface="+mn-ea"/>
                <a:cs typeface="+mn-cs"/>
              </a:rPr>
              <a:t>som</a:t>
            </a:r>
            <a:r>
              <a:rPr lang="en-US" sz="1200" kern="1200" dirty="0">
                <a:solidFill>
                  <a:schemeClr val="tx1"/>
                </a:solidFill>
                <a:effectLst/>
                <a:latin typeface="+mn-lt"/>
                <a:ea typeface="+mn-ea"/>
                <a:cs typeface="+mn-cs"/>
              </a:rPr>
              <a:t> e dependent variable – while controlling the </a:t>
            </a:r>
            <a:r>
              <a:rPr lang="en-US" sz="1200" kern="1200" dirty="0" err="1">
                <a:solidFill>
                  <a:schemeClr val="tx1"/>
                </a:solidFill>
                <a:effectLst/>
                <a:latin typeface="+mn-lt"/>
                <a:ea typeface="+mn-ea"/>
                <a:cs typeface="+mn-cs"/>
              </a:rPr>
              <a:t>im</a:t>
            </a:r>
            <a:r>
              <a:rPr lang="en-US" sz="1200" kern="1200" dirty="0">
                <a:solidFill>
                  <a:schemeClr val="tx1"/>
                </a:solidFill>
                <a:effectLst/>
                <a:latin typeface="+mn-lt"/>
                <a:ea typeface="+mn-ea"/>
                <a:cs typeface="+mn-cs"/>
              </a:rPr>
              <a:t> pact of exogenous variable. </a:t>
            </a:r>
            <a:r>
              <a:rPr lang="en-US" sz="1200" kern="1200" dirty="0" err="1">
                <a:solidFill>
                  <a:schemeClr val="tx1"/>
                </a:solidFill>
                <a:effectLst/>
                <a:latin typeface="+mn-lt"/>
                <a:ea typeface="+mn-ea"/>
                <a:cs typeface="+mn-cs"/>
              </a:rPr>
              <a:t>Unfortu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nately</a:t>
            </a:r>
            <a:r>
              <a:rPr lang="en-US" sz="1200" kern="1200" dirty="0">
                <a:solidFill>
                  <a:schemeClr val="tx1"/>
                </a:solidFill>
                <a:effectLst/>
                <a:latin typeface="+mn-lt"/>
                <a:ea typeface="+mn-ea"/>
                <a:cs typeface="+mn-cs"/>
              </a:rPr>
              <a:t> control over all the ex- </a:t>
            </a:r>
            <a:r>
              <a:rPr lang="en-US" sz="1200" kern="1200" dirty="0" err="1">
                <a:solidFill>
                  <a:schemeClr val="tx1"/>
                </a:solidFill>
                <a:effectLst/>
                <a:latin typeface="+mn-lt"/>
                <a:ea typeface="+mn-ea"/>
                <a:cs typeface="+mn-cs"/>
              </a:rPr>
              <a:t>ogenous</a:t>
            </a:r>
            <a:r>
              <a:rPr lang="en-US" sz="1200" kern="1200" dirty="0">
                <a:solidFill>
                  <a:schemeClr val="tx1"/>
                </a:solidFill>
                <a:effectLst/>
                <a:latin typeface="+mn-lt"/>
                <a:ea typeface="+mn-ea"/>
                <a:cs typeface="+mn-cs"/>
              </a:rPr>
              <a:t> variable is   not   al- ways possible – which m ay</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lead to an inclusion of bias in the experiments.  For exam </a:t>
            </a:r>
            <a:r>
              <a:rPr lang="en-US" sz="1200" kern="1200" dirty="0" err="1">
                <a:solidFill>
                  <a:schemeClr val="tx1"/>
                </a:solidFill>
                <a:effectLst/>
                <a:latin typeface="+mn-lt"/>
                <a:ea typeface="+mn-ea"/>
                <a:cs typeface="+mn-cs"/>
              </a:rPr>
              <a:t>ple</a:t>
            </a:r>
            <a:r>
              <a:rPr lang="en-US" sz="1200" kern="1200" dirty="0">
                <a:solidFill>
                  <a:schemeClr val="tx1"/>
                </a:solidFill>
                <a:effectLst/>
                <a:latin typeface="+mn-lt"/>
                <a:ea typeface="+mn-ea"/>
                <a:cs typeface="+mn-cs"/>
              </a:rPr>
              <a:t> a study – t </a:t>
            </a:r>
            <a:r>
              <a:rPr lang="en-US" sz="1200" kern="1200" dirty="0" err="1">
                <a:solidFill>
                  <a:schemeClr val="tx1"/>
                </a:solidFill>
                <a:effectLst/>
                <a:latin typeface="+mn-lt"/>
                <a:ea typeface="+mn-ea"/>
                <a:cs typeface="+mn-cs"/>
              </a:rPr>
              <a:t>rying</a:t>
            </a:r>
            <a:r>
              <a:rPr lang="en-US" sz="1200" kern="1200" dirty="0">
                <a:solidFill>
                  <a:schemeClr val="tx1"/>
                </a:solidFill>
                <a:effectLst/>
                <a:latin typeface="+mn-lt"/>
                <a:ea typeface="+mn-ea"/>
                <a:cs typeface="+mn-cs"/>
              </a:rPr>
              <a:t> to find out reasons for cancer m ay con- </a:t>
            </a:r>
            <a:r>
              <a:rPr lang="en-US" sz="1200" kern="1200" dirty="0" err="1">
                <a:solidFill>
                  <a:schemeClr val="tx1"/>
                </a:solidFill>
                <a:effectLst/>
                <a:latin typeface="+mn-lt"/>
                <a:ea typeface="+mn-ea"/>
                <a:cs typeface="+mn-cs"/>
              </a:rPr>
              <a:t>clude</a:t>
            </a:r>
            <a:r>
              <a:rPr lang="en-US" sz="1200" kern="1200" dirty="0">
                <a:solidFill>
                  <a:schemeClr val="tx1"/>
                </a:solidFill>
                <a:effectLst/>
                <a:latin typeface="+mn-lt"/>
                <a:ea typeface="+mn-ea"/>
                <a:cs typeface="+mn-cs"/>
              </a:rPr>
              <a:t> that as all the patients under observation used to eat bread   therefore  eating   bread is the cause of cancer.</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CON CLUSI ON</a:t>
            </a:r>
            <a:endParaRPr lang="en-IN"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any research   project, </a:t>
            </a:r>
            <a:r>
              <a:rPr lang="en-US" sz="1200" kern="1200" dirty="0" err="1">
                <a:solidFill>
                  <a:schemeClr val="tx1"/>
                </a:solidFill>
                <a:effectLst/>
                <a:latin typeface="+mn-lt"/>
                <a:ea typeface="+mn-ea"/>
                <a:cs typeface="+mn-cs"/>
              </a:rPr>
              <a:t>recognising</a:t>
            </a:r>
            <a:r>
              <a:rPr lang="en-US" sz="1200" kern="1200" dirty="0">
                <a:solidFill>
                  <a:schemeClr val="tx1"/>
                </a:solidFill>
                <a:effectLst/>
                <a:latin typeface="+mn-lt"/>
                <a:ea typeface="+mn-ea"/>
                <a:cs typeface="+mn-cs"/>
              </a:rPr>
              <a:t> that potential   error exists is one thing  –   but   doing </a:t>
            </a:r>
            <a:r>
              <a:rPr lang="en-US" sz="1200" kern="1200" dirty="0" err="1">
                <a:solidFill>
                  <a:schemeClr val="tx1"/>
                </a:solidFill>
                <a:effectLst/>
                <a:latin typeface="+mn-lt"/>
                <a:ea typeface="+mn-ea"/>
                <a:cs typeface="+mn-cs"/>
              </a:rPr>
              <a:t>som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ething</a:t>
            </a:r>
            <a:r>
              <a:rPr lang="en-US" sz="1200" kern="1200" dirty="0">
                <a:solidFill>
                  <a:schemeClr val="tx1"/>
                </a:solidFill>
                <a:effectLst/>
                <a:latin typeface="+mn-lt"/>
                <a:ea typeface="+mn-ea"/>
                <a:cs typeface="+mn-cs"/>
              </a:rPr>
              <a:t>   about   it   quite  another m </a:t>
            </a:r>
            <a:r>
              <a:rPr lang="en-US" sz="1200" kern="1200" dirty="0" err="1">
                <a:solidFill>
                  <a:schemeClr val="tx1"/>
                </a:solidFill>
                <a:effectLst/>
                <a:latin typeface="+mn-lt"/>
                <a:ea typeface="+mn-ea"/>
                <a:cs typeface="+mn-cs"/>
              </a:rPr>
              <a:t>atter</a:t>
            </a:r>
            <a:r>
              <a:rPr lang="en-US" sz="1200" kern="1200" dirty="0">
                <a:solidFill>
                  <a:schemeClr val="tx1"/>
                </a:solidFill>
                <a:effectLst/>
                <a:latin typeface="+mn-lt"/>
                <a:ea typeface="+mn-ea"/>
                <a:cs typeface="+mn-cs"/>
              </a:rPr>
              <a:t>.</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There are   two   basic   approaches for reducing errors.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first is to </a:t>
            </a:r>
            <a:r>
              <a:rPr lang="en-US" sz="1200" u="sng" kern="1200" dirty="0">
                <a:solidFill>
                  <a:schemeClr val="tx1"/>
                </a:solidFill>
                <a:effectLst/>
                <a:latin typeface="+mn-lt"/>
                <a:ea typeface="+mn-ea"/>
                <a:cs typeface="+mn-cs"/>
              </a:rPr>
              <a:t>m </a:t>
            </a:r>
            <a:r>
              <a:rPr lang="en-US" sz="1200" u="sng" kern="1200" dirty="0" err="1">
                <a:solidFill>
                  <a:schemeClr val="tx1"/>
                </a:solidFill>
                <a:effectLst/>
                <a:latin typeface="+mn-lt"/>
                <a:ea typeface="+mn-ea"/>
                <a:cs typeface="+mn-cs"/>
              </a:rPr>
              <a:t>inim</a:t>
            </a:r>
            <a:r>
              <a:rPr lang="en-US" sz="1200" u="sng" kern="1200" dirty="0">
                <a:solidFill>
                  <a:schemeClr val="tx1"/>
                </a:solidFill>
                <a:effectLst/>
                <a:latin typeface="+mn-lt"/>
                <a:ea typeface="+mn-ea"/>
                <a:cs typeface="+mn-cs"/>
              </a:rPr>
              <a:t> </a:t>
            </a:r>
            <a:r>
              <a:rPr lang="en-US" sz="1200" u="sng" kern="1200" dirty="0" err="1">
                <a:solidFill>
                  <a:schemeClr val="tx1"/>
                </a:solidFill>
                <a:effectLst/>
                <a:latin typeface="+mn-lt"/>
                <a:ea typeface="+mn-ea"/>
                <a:cs typeface="+mn-cs"/>
              </a:rPr>
              <a:t>ise</a:t>
            </a:r>
            <a:r>
              <a:rPr lang="en-US" sz="1200" u="sng" kern="1200" dirty="0">
                <a:solidFill>
                  <a:schemeClr val="tx1"/>
                </a:solidFill>
                <a:effectLst/>
                <a:latin typeface="+mn-lt"/>
                <a:ea typeface="+mn-ea"/>
                <a:cs typeface="+mn-cs"/>
              </a:rPr>
              <a:t> errors</a:t>
            </a:r>
            <a:r>
              <a:rPr lang="en-US" sz="1200" kern="1200" dirty="0">
                <a:solidFill>
                  <a:schemeClr val="tx1"/>
                </a:solidFill>
                <a:effectLst/>
                <a:latin typeface="+mn-lt"/>
                <a:ea typeface="+mn-ea"/>
                <a:cs typeface="+mn-cs"/>
              </a:rPr>
              <a:t> through research design. In this process   effective   use   of   research m </a:t>
            </a:r>
            <a:r>
              <a:rPr lang="en-US" sz="1200" kern="1200" dirty="0" err="1">
                <a:solidFill>
                  <a:schemeClr val="tx1"/>
                </a:solidFill>
                <a:effectLst/>
                <a:latin typeface="+mn-lt"/>
                <a:ea typeface="+mn-ea"/>
                <a:cs typeface="+mn-cs"/>
              </a:rPr>
              <a:t>ethods</a:t>
            </a:r>
            <a:r>
              <a:rPr lang="en-US" sz="1200" kern="1200" dirty="0">
                <a:solidFill>
                  <a:schemeClr val="tx1"/>
                </a:solidFill>
                <a:effectLst/>
                <a:latin typeface="+mn-lt"/>
                <a:ea typeface="+mn-ea"/>
                <a:cs typeface="+mn-cs"/>
              </a:rPr>
              <a:t> and techniques are </a:t>
            </a:r>
            <a:r>
              <a:rPr lang="en-US" sz="1200" kern="1200" dirty="0" err="1">
                <a:solidFill>
                  <a:schemeClr val="tx1"/>
                </a:solidFill>
                <a:effectLst/>
                <a:latin typeface="+mn-lt"/>
                <a:ea typeface="+mn-ea"/>
                <a:cs typeface="+mn-cs"/>
              </a:rPr>
              <a:t>util</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ised</a:t>
            </a:r>
            <a:r>
              <a:rPr lang="en-US" sz="1200" kern="1200" dirty="0">
                <a:solidFill>
                  <a:schemeClr val="tx1"/>
                </a:solidFill>
                <a:effectLst/>
                <a:latin typeface="+mn-lt"/>
                <a:ea typeface="+mn-ea"/>
                <a:cs typeface="+mn-cs"/>
              </a:rPr>
              <a:t> to lessen the  </a:t>
            </a:r>
            <a:r>
              <a:rPr lang="en-US" sz="1200" kern="1200" dirty="0" err="1">
                <a:solidFill>
                  <a:schemeClr val="tx1"/>
                </a:solidFill>
                <a:effectLst/>
                <a:latin typeface="+mn-lt"/>
                <a:ea typeface="+mn-ea"/>
                <a:cs typeface="+mn-cs"/>
              </a:rPr>
              <a:t>im</a:t>
            </a:r>
            <a:r>
              <a:rPr lang="en-US" sz="1200" kern="1200" dirty="0">
                <a:solidFill>
                  <a:schemeClr val="tx1"/>
                </a:solidFill>
                <a:effectLst/>
                <a:latin typeface="+mn-lt"/>
                <a:ea typeface="+mn-ea"/>
                <a:cs typeface="+mn-cs"/>
              </a:rPr>
              <a:t> pact of both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and non-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rors</a:t>
            </a:r>
            <a:r>
              <a:rPr lang="en-US" sz="1200" kern="1200" dirty="0">
                <a:solidFill>
                  <a:schemeClr val="tx1"/>
                </a:solidFill>
                <a:effectLst/>
                <a:latin typeface="+mn-lt"/>
                <a:ea typeface="+mn-ea"/>
                <a:cs typeface="+mn-cs"/>
              </a:rPr>
              <a:t>.   However,   cost    constraints, and at t </a:t>
            </a:r>
            <a:r>
              <a:rPr lang="en-US" sz="1200" kern="1200" dirty="0" err="1">
                <a:solidFill>
                  <a:schemeClr val="tx1"/>
                </a:solidFill>
                <a:effectLst/>
                <a:latin typeface="+mn-lt"/>
                <a:ea typeface="+mn-ea"/>
                <a:cs typeface="+mn-cs"/>
              </a:rPr>
              <a:t>im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es</a:t>
            </a:r>
            <a:r>
              <a:rPr lang="en-US" sz="1200" kern="1200" dirty="0">
                <a:solidFill>
                  <a:schemeClr val="tx1"/>
                </a:solidFill>
                <a:effectLst/>
                <a:latin typeface="+mn-lt"/>
                <a:ea typeface="+mn-ea"/>
                <a:cs typeface="+mn-cs"/>
              </a:rPr>
              <a:t> the peculiar nature of error      they       prevent       complete m </a:t>
            </a:r>
            <a:r>
              <a:rPr lang="en-US" sz="1200" kern="1200" dirty="0" err="1">
                <a:solidFill>
                  <a:schemeClr val="tx1"/>
                </a:solidFill>
                <a:effectLst/>
                <a:latin typeface="+mn-lt"/>
                <a:ea typeface="+mn-ea"/>
                <a:cs typeface="+mn-cs"/>
              </a:rPr>
              <a:t>inim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isation</a:t>
            </a:r>
            <a:r>
              <a:rPr lang="en-US" sz="1200" kern="1200" dirty="0">
                <a:solidFill>
                  <a:schemeClr val="tx1"/>
                </a:solidFill>
                <a:effectLst/>
                <a:latin typeface="+mn-lt"/>
                <a:ea typeface="+mn-ea"/>
                <a:cs typeface="+mn-cs"/>
              </a:rPr>
              <a:t> of error through this method.</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second    is   to   </a:t>
            </a:r>
            <a:r>
              <a:rPr lang="en-US" sz="1200" u="sng" kern="1200" dirty="0" err="1">
                <a:solidFill>
                  <a:schemeClr val="tx1"/>
                </a:solidFill>
                <a:effectLst/>
                <a:latin typeface="+mn-lt"/>
                <a:ea typeface="+mn-ea"/>
                <a:cs typeface="+mn-cs"/>
              </a:rPr>
              <a:t>est</a:t>
            </a:r>
            <a:r>
              <a:rPr lang="en-US" sz="1200" u="sng" kern="1200" dirty="0">
                <a:solidFill>
                  <a:schemeClr val="tx1"/>
                </a:solidFill>
                <a:effectLst/>
                <a:latin typeface="+mn-lt"/>
                <a:ea typeface="+mn-ea"/>
                <a:cs typeface="+mn-cs"/>
              </a:rPr>
              <a:t> </a:t>
            </a:r>
            <a:r>
              <a:rPr lang="en-US" sz="1200" u="sng" kern="1200" dirty="0" err="1">
                <a:solidFill>
                  <a:schemeClr val="tx1"/>
                </a:solidFill>
                <a:effectLst/>
                <a:latin typeface="+mn-lt"/>
                <a:ea typeface="+mn-ea"/>
                <a:cs typeface="+mn-cs"/>
              </a:rPr>
              <a:t>im</a:t>
            </a:r>
            <a:r>
              <a:rPr lang="en-US" sz="1200" u="sng" kern="1200" dirty="0">
                <a:solidFill>
                  <a:schemeClr val="tx1"/>
                </a:solidFill>
                <a:effectLst/>
                <a:latin typeface="+mn-lt"/>
                <a:ea typeface="+mn-ea"/>
                <a:cs typeface="+mn-cs"/>
              </a:rPr>
              <a:t> ate   and</a:t>
            </a:r>
            <a:r>
              <a:rPr lang="en-US" sz="1200" kern="1200" dirty="0">
                <a:solidFill>
                  <a:schemeClr val="tx1"/>
                </a:solidFill>
                <a:effectLst/>
                <a:latin typeface="+mn-lt"/>
                <a:ea typeface="+mn-ea"/>
                <a:cs typeface="+mn-cs"/>
              </a:rPr>
              <a:t> </a:t>
            </a:r>
            <a:r>
              <a:rPr lang="en-US" sz="1200" u="sng" kern="1200" dirty="0">
                <a:solidFill>
                  <a:schemeClr val="tx1"/>
                </a:solidFill>
                <a:effectLst/>
                <a:latin typeface="+mn-lt"/>
                <a:ea typeface="+mn-ea"/>
                <a:cs typeface="+mn-cs"/>
              </a:rPr>
              <a:t>m </a:t>
            </a:r>
            <a:r>
              <a:rPr lang="en-US" sz="1200" u="sng" kern="1200" dirty="0" err="1">
                <a:solidFill>
                  <a:schemeClr val="tx1"/>
                </a:solidFill>
                <a:effectLst/>
                <a:latin typeface="+mn-lt"/>
                <a:ea typeface="+mn-ea"/>
                <a:cs typeface="+mn-cs"/>
              </a:rPr>
              <a:t>easure</a:t>
            </a:r>
            <a:r>
              <a:rPr lang="en-US" sz="1200" u="sng" kern="1200" dirty="0">
                <a:solidFill>
                  <a:schemeClr val="tx1"/>
                </a:solidFill>
                <a:effectLst/>
                <a:latin typeface="+mn-lt"/>
                <a:ea typeface="+mn-ea"/>
                <a:cs typeface="+mn-cs"/>
              </a:rPr>
              <a:t> error</a:t>
            </a:r>
            <a:r>
              <a:rPr lang="en-US" sz="1200" kern="1200" dirty="0">
                <a:solidFill>
                  <a:schemeClr val="tx1"/>
                </a:solidFill>
                <a:effectLst/>
                <a:latin typeface="+mn-lt"/>
                <a:ea typeface="+mn-ea"/>
                <a:cs typeface="+mn-cs"/>
              </a:rPr>
              <a:t>. I n spite of all the precautions undertaken,  not all errors – especially those related to fieldwork    –    would    be   </a:t>
            </a:r>
            <a:r>
              <a:rPr lang="en-US" sz="1200" kern="1200" dirty="0" err="1">
                <a:solidFill>
                  <a:schemeClr val="tx1"/>
                </a:solidFill>
                <a:effectLst/>
                <a:latin typeface="+mn-lt"/>
                <a:ea typeface="+mn-ea"/>
                <a:cs typeface="+mn-cs"/>
              </a:rPr>
              <a:t>elim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inated</a:t>
            </a:r>
            <a:r>
              <a:rPr lang="en-US" sz="1200" kern="1200" dirty="0">
                <a:solidFill>
                  <a:schemeClr val="tx1"/>
                </a:solidFill>
                <a:effectLst/>
                <a:latin typeface="+mn-lt"/>
                <a:ea typeface="+mn-ea"/>
                <a:cs typeface="+mn-cs"/>
              </a:rPr>
              <a:t>. I n such a situation if we can have an </a:t>
            </a:r>
            <a:r>
              <a:rPr lang="en-US" sz="1200" kern="1200" dirty="0" err="1">
                <a:solidFill>
                  <a:schemeClr val="tx1"/>
                </a:solidFill>
                <a:effectLst/>
                <a:latin typeface="+mn-lt"/>
                <a:ea typeface="+mn-ea"/>
                <a:cs typeface="+mn-cs"/>
              </a:rPr>
              <a:t>estim</a:t>
            </a:r>
            <a:r>
              <a:rPr lang="en-US" sz="1200" kern="1200" dirty="0">
                <a:solidFill>
                  <a:schemeClr val="tx1"/>
                </a:solidFill>
                <a:effectLst/>
                <a:latin typeface="+mn-lt"/>
                <a:ea typeface="+mn-ea"/>
                <a:cs typeface="+mn-cs"/>
              </a:rPr>
              <a:t> ate of error we can say how accurate the  research design was. However only   sampling   </a:t>
            </a:r>
            <a:r>
              <a:rPr lang="en-US" sz="1200" kern="1200" dirty="0" err="1">
                <a:solidFill>
                  <a:schemeClr val="tx1"/>
                </a:solidFill>
                <a:effectLst/>
                <a:latin typeface="+mn-lt"/>
                <a:ea typeface="+mn-ea"/>
                <a:cs typeface="+mn-cs"/>
              </a:rPr>
              <a:t>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rors</a:t>
            </a:r>
            <a:r>
              <a:rPr lang="en-US" sz="1200" kern="1200" dirty="0">
                <a:solidFill>
                  <a:schemeClr val="tx1"/>
                </a:solidFill>
                <a:effectLst/>
                <a:latin typeface="+mn-lt"/>
                <a:ea typeface="+mn-ea"/>
                <a:cs typeface="+mn-cs"/>
              </a:rPr>
              <a:t> are measurable with </a:t>
            </a:r>
            <a:r>
              <a:rPr lang="en-US" sz="1200" kern="1200" dirty="0" err="1">
                <a:solidFill>
                  <a:schemeClr val="tx1"/>
                </a:solidFill>
                <a:effectLst/>
                <a:latin typeface="+mn-lt"/>
                <a:ea typeface="+mn-ea"/>
                <a:cs typeface="+mn-cs"/>
              </a:rPr>
              <a:t>som</a:t>
            </a:r>
            <a:r>
              <a:rPr lang="en-US" sz="1200" kern="1200" dirty="0">
                <a:solidFill>
                  <a:schemeClr val="tx1"/>
                </a:solidFill>
                <a:effectLst/>
                <a:latin typeface="+mn-lt"/>
                <a:ea typeface="+mn-ea"/>
                <a:cs typeface="+mn-cs"/>
              </a:rPr>
              <a:t> e degree of confidence.</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Either way, </a:t>
            </a:r>
            <a:r>
              <a:rPr lang="en-US" sz="1200" kern="1200" dirty="0" err="1">
                <a:solidFill>
                  <a:schemeClr val="tx1"/>
                </a:solidFill>
                <a:effectLst/>
                <a:latin typeface="+mn-lt"/>
                <a:ea typeface="+mn-ea"/>
                <a:cs typeface="+mn-cs"/>
              </a:rPr>
              <a:t>estim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ating</a:t>
            </a:r>
            <a:r>
              <a:rPr lang="en-US" sz="1200" kern="1200" dirty="0">
                <a:solidFill>
                  <a:schemeClr val="tx1"/>
                </a:solidFill>
                <a:effectLst/>
                <a:latin typeface="+mn-lt"/>
                <a:ea typeface="+mn-ea"/>
                <a:cs typeface="+mn-cs"/>
              </a:rPr>
              <a:t> is not an easy task due to the  peculiar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ture</a:t>
            </a:r>
            <a:r>
              <a:rPr lang="en-US" sz="1200" kern="1200" dirty="0">
                <a:solidFill>
                  <a:schemeClr val="tx1"/>
                </a:solidFill>
                <a:effectLst/>
                <a:latin typeface="+mn-lt"/>
                <a:ea typeface="+mn-ea"/>
                <a:cs typeface="+mn-cs"/>
              </a:rPr>
              <a:t>  of   the  errors.   Statistics help us to reduce the  sampling error   to a   large    degree    but    for    non- </a:t>
            </a:r>
            <a:r>
              <a:rPr lang="en-US" sz="1200" kern="1200" dirty="0" err="1">
                <a:solidFill>
                  <a:schemeClr val="tx1"/>
                </a:solidFill>
                <a:effectLst/>
                <a:latin typeface="+mn-lt"/>
                <a:ea typeface="+mn-ea"/>
                <a:cs typeface="+mn-cs"/>
              </a:rPr>
              <a:t>sam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pling</a:t>
            </a:r>
            <a:r>
              <a:rPr lang="en-US" sz="1200" kern="1200" dirty="0">
                <a:solidFill>
                  <a:schemeClr val="tx1"/>
                </a:solidFill>
                <a:effectLst/>
                <a:latin typeface="+mn-lt"/>
                <a:ea typeface="+mn-ea"/>
                <a:cs typeface="+mn-cs"/>
              </a:rPr>
              <a:t> error   researchers   </a:t>
            </a:r>
            <a:r>
              <a:rPr lang="en-US" sz="1200" kern="1200" dirty="0" err="1">
                <a:solidFill>
                  <a:schemeClr val="tx1"/>
                </a:solidFill>
                <a:effectLst/>
                <a:latin typeface="+mn-lt"/>
                <a:ea typeface="+mn-ea"/>
                <a:cs typeface="+mn-cs"/>
              </a:rPr>
              <a:t>st</a:t>
            </a:r>
            <a:r>
              <a:rPr lang="en-US" sz="1200" kern="1200" dirty="0">
                <a:solidFill>
                  <a:schemeClr val="tx1"/>
                </a:solidFill>
                <a:effectLst/>
                <a:latin typeface="+mn-lt"/>
                <a:ea typeface="+mn-ea"/>
                <a:cs typeface="+mn-cs"/>
              </a:rPr>
              <a:t> ill have to rely on their intuition.</a:t>
            </a: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10"/>
          </p:nvPr>
        </p:nvSpPr>
        <p:spPr/>
        <p:txBody>
          <a:bodyPr/>
          <a:lstStyle/>
          <a:p>
            <a:fld id="{9E3EE7C9-D776-4A54-9341-EC63FD0BB0A9}" type="slidenum">
              <a:rPr lang="en-IN" smtClean="0"/>
              <a:pPr/>
              <a:t>23</a:t>
            </a:fld>
            <a:endParaRPr lang="en-IN"/>
          </a:p>
        </p:txBody>
      </p:sp>
    </p:spTree>
    <p:extLst>
      <p:ext uri="{BB962C8B-B14F-4D97-AF65-F5344CB8AC3E}">
        <p14:creationId xmlns="" xmlns:p14="http://schemas.microsoft.com/office/powerpoint/2010/main" val="2754654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9BDEE2F-C63E-45EA-B428-60EA60FA8747}" type="datetimeFigureOut">
              <a:rPr lang="en-IN" smtClean="0"/>
              <a:pPr/>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341823-9971-4243-BEA4-32502885A47F}" type="slidenum">
              <a:rPr lang="en-IN" smtClean="0"/>
              <a:pPr/>
              <a:t>‹#›</a:t>
            </a:fld>
            <a:endParaRPr lang="en-IN"/>
          </a:p>
        </p:txBody>
      </p:sp>
    </p:spTree>
    <p:extLst>
      <p:ext uri="{BB962C8B-B14F-4D97-AF65-F5344CB8AC3E}">
        <p14:creationId xmlns="" xmlns:p14="http://schemas.microsoft.com/office/powerpoint/2010/main" val="109843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9BDEE2F-C63E-45EA-B428-60EA60FA8747}" type="datetimeFigureOut">
              <a:rPr lang="en-IN" smtClean="0"/>
              <a:pPr/>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341823-9971-4243-BEA4-32502885A47F}" type="slidenum">
              <a:rPr lang="en-IN" smtClean="0"/>
              <a:pPr/>
              <a:t>‹#›</a:t>
            </a:fld>
            <a:endParaRPr lang="en-IN"/>
          </a:p>
        </p:txBody>
      </p:sp>
    </p:spTree>
    <p:extLst>
      <p:ext uri="{BB962C8B-B14F-4D97-AF65-F5344CB8AC3E}">
        <p14:creationId xmlns="" xmlns:p14="http://schemas.microsoft.com/office/powerpoint/2010/main" val="4030731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BDEE2F-C63E-45EA-B428-60EA60FA8747}" type="datetimeFigureOut">
              <a:rPr lang="en-IN" smtClean="0"/>
              <a:pPr/>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341823-9971-4243-BEA4-32502885A47F}" type="slidenum">
              <a:rPr lang="en-IN" smtClean="0"/>
              <a:pPr/>
              <a:t>‹#›</a:t>
            </a:fld>
            <a:endParaRPr lang="en-IN"/>
          </a:p>
        </p:txBody>
      </p:sp>
    </p:spTree>
    <p:extLst>
      <p:ext uri="{BB962C8B-B14F-4D97-AF65-F5344CB8AC3E}">
        <p14:creationId xmlns="" xmlns:p14="http://schemas.microsoft.com/office/powerpoint/2010/main" val="3931231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9BDEE2F-C63E-45EA-B428-60EA60FA8747}" type="datetimeFigureOut">
              <a:rPr lang="en-IN" smtClean="0"/>
              <a:pPr/>
              <a:t>12-05-2026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341823-9971-4243-BEA4-32502885A47F}" type="slidenum">
              <a:rPr lang="en-IN" smtClean="0"/>
              <a:pPr/>
              <a:t>‹#›</a:t>
            </a:fld>
            <a:endParaRPr lang="en-IN"/>
          </a:p>
        </p:txBody>
      </p:sp>
    </p:spTree>
    <p:extLst>
      <p:ext uri="{BB962C8B-B14F-4D97-AF65-F5344CB8AC3E}">
        <p14:creationId xmlns="" xmlns:p14="http://schemas.microsoft.com/office/powerpoint/2010/main" val="1590561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9BDEE2F-C63E-45EA-B428-60EA60FA8747}" type="datetimeFigureOut">
              <a:rPr lang="en-IN" smtClean="0"/>
              <a:pPr/>
              <a:t>12-05-2026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5341823-9971-4243-BEA4-32502885A47F}" type="slidenum">
              <a:rPr lang="en-IN" smtClean="0"/>
              <a:pPr/>
              <a:t>‹#›</a:t>
            </a:fld>
            <a:endParaRPr lang="en-IN"/>
          </a:p>
        </p:txBody>
      </p:sp>
    </p:spTree>
    <p:extLst>
      <p:ext uri="{BB962C8B-B14F-4D97-AF65-F5344CB8AC3E}">
        <p14:creationId xmlns="" xmlns:p14="http://schemas.microsoft.com/office/powerpoint/2010/main" val="3500060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9BDEE2F-C63E-45EA-B428-60EA60FA8747}" type="datetimeFigureOut">
              <a:rPr lang="en-IN" smtClean="0"/>
              <a:pPr/>
              <a:t>12-05-2026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5341823-9971-4243-BEA4-32502885A47F}" type="slidenum">
              <a:rPr lang="en-IN" smtClean="0"/>
              <a:pPr/>
              <a:t>‹#›</a:t>
            </a:fld>
            <a:endParaRPr lang="en-IN"/>
          </a:p>
        </p:txBody>
      </p:sp>
    </p:spTree>
    <p:extLst>
      <p:ext uri="{BB962C8B-B14F-4D97-AF65-F5344CB8AC3E}">
        <p14:creationId xmlns="" xmlns:p14="http://schemas.microsoft.com/office/powerpoint/2010/main" val="2378355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BDEE2F-C63E-45EA-B428-60EA60FA8747}" type="datetimeFigureOut">
              <a:rPr lang="en-IN" smtClean="0"/>
              <a:pPr/>
              <a:t>12-05-2026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5341823-9971-4243-BEA4-32502885A47F}" type="slidenum">
              <a:rPr lang="en-IN" smtClean="0"/>
              <a:pPr/>
              <a:t>‹#›</a:t>
            </a:fld>
            <a:endParaRPr lang="en-IN"/>
          </a:p>
        </p:txBody>
      </p:sp>
    </p:spTree>
    <p:extLst>
      <p:ext uri="{BB962C8B-B14F-4D97-AF65-F5344CB8AC3E}">
        <p14:creationId xmlns="" xmlns:p14="http://schemas.microsoft.com/office/powerpoint/2010/main" val="2569210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BDEE2F-C63E-45EA-B428-60EA60FA8747}" type="datetimeFigureOut">
              <a:rPr lang="en-IN" smtClean="0"/>
              <a:pPr/>
              <a:t>12-05-2026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341823-9971-4243-BEA4-32502885A47F}" type="slidenum">
              <a:rPr lang="en-IN" smtClean="0"/>
              <a:pPr/>
              <a:t>‹#›</a:t>
            </a:fld>
            <a:endParaRPr lang="en-IN"/>
          </a:p>
        </p:txBody>
      </p:sp>
    </p:spTree>
    <p:extLst>
      <p:ext uri="{BB962C8B-B14F-4D97-AF65-F5344CB8AC3E}">
        <p14:creationId xmlns="" xmlns:p14="http://schemas.microsoft.com/office/powerpoint/2010/main" val="3658129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BDEE2F-C63E-45EA-B428-60EA60FA8747}" type="datetimeFigureOut">
              <a:rPr lang="en-IN" smtClean="0"/>
              <a:pPr/>
              <a:t>12-05-2026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341823-9971-4243-BEA4-32502885A47F}" type="slidenum">
              <a:rPr lang="en-IN" smtClean="0"/>
              <a:pPr/>
              <a:t>‹#›</a:t>
            </a:fld>
            <a:endParaRPr lang="en-IN"/>
          </a:p>
        </p:txBody>
      </p:sp>
    </p:spTree>
    <p:extLst>
      <p:ext uri="{BB962C8B-B14F-4D97-AF65-F5344CB8AC3E}">
        <p14:creationId xmlns="" xmlns:p14="http://schemas.microsoft.com/office/powerpoint/2010/main" val="4130646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9BDEE2F-C63E-45EA-B428-60EA60FA8747}" type="datetimeFigureOut">
              <a:rPr lang="en-IN" smtClean="0"/>
              <a:pPr/>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341823-9971-4243-BEA4-32502885A47F}" type="slidenum">
              <a:rPr lang="en-IN" smtClean="0"/>
              <a:pPr/>
              <a:t>‹#›</a:t>
            </a:fld>
            <a:endParaRPr lang="en-IN"/>
          </a:p>
        </p:txBody>
      </p:sp>
    </p:spTree>
    <p:extLst>
      <p:ext uri="{BB962C8B-B14F-4D97-AF65-F5344CB8AC3E}">
        <p14:creationId xmlns="" xmlns:p14="http://schemas.microsoft.com/office/powerpoint/2010/main" val="505649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9BDEE2F-C63E-45EA-B428-60EA60FA8747}" type="datetimeFigureOut">
              <a:rPr lang="en-IN" smtClean="0"/>
              <a:pPr/>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341823-9971-4243-BEA4-32502885A47F}" type="slidenum">
              <a:rPr lang="en-IN" smtClean="0"/>
              <a:pPr/>
              <a:t>‹#›</a:t>
            </a:fld>
            <a:endParaRPr lang="en-IN"/>
          </a:p>
        </p:txBody>
      </p:sp>
    </p:spTree>
    <p:extLst>
      <p:ext uri="{BB962C8B-B14F-4D97-AF65-F5344CB8AC3E}">
        <p14:creationId xmlns="" xmlns:p14="http://schemas.microsoft.com/office/powerpoint/2010/main" val="1501339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BDEE2F-C63E-45EA-B428-60EA60FA8747}" type="datetimeFigureOut">
              <a:rPr lang="en-IN" smtClean="0"/>
              <a:pPr/>
              <a:t>12-05-2026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341823-9971-4243-BEA4-32502885A47F}" type="slidenum">
              <a:rPr lang="en-IN" smtClean="0"/>
              <a:pPr/>
              <a:t>‹#›</a:t>
            </a:fld>
            <a:endParaRPr lang="en-IN"/>
          </a:p>
        </p:txBody>
      </p:sp>
    </p:spTree>
    <p:extLst>
      <p:ext uri="{BB962C8B-B14F-4D97-AF65-F5344CB8AC3E}">
        <p14:creationId xmlns="" xmlns:p14="http://schemas.microsoft.com/office/powerpoint/2010/main" val="635162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Module-2</a:t>
            </a:r>
            <a:br>
              <a:rPr lang="en-IN" dirty="0"/>
            </a:br>
            <a:r>
              <a:rPr lang="en-US" b="1" dirty="0"/>
              <a:t>Business Research Design</a:t>
            </a:r>
            <a:endParaRPr lang="en-IN" dirty="0"/>
          </a:p>
        </p:txBody>
      </p:sp>
      <p:sp>
        <p:nvSpPr>
          <p:cNvPr id="3" name="Subtitle 2"/>
          <p:cNvSpPr>
            <a:spLocks noGrp="1"/>
          </p:cNvSpPr>
          <p:nvPr>
            <p:ph type="subTitle" idx="1"/>
          </p:nvPr>
        </p:nvSpPr>
        <p:spPr/>
        <p:txBody>
          <a:bodyPr/>
          <a:lstStyle/>
          <a:p>
            <a:r>
              <a:rPr lang="en-IN" dirty="0"/>
              <a:t>Presentation by </a:t>
            </a:r>
          </a:p>
          <a:p>
            <a:r>
              <a:rPr lang="en-IN" dirty="0" err="1"/>
              <a:t>Dr.</a:t>
            </a:r>
            <a:r>
              <a:rPr lang="en-IN" dirty="0"/>
              <a:t> </a:t>
            </a:r>
            <a:r>
              <a:rPr lang="en-IN" dirty="0" err="1"/>
              <a:t>Basavaraj</a:t>
            </a:r>
            <a:r>
              <a:rPr lang="en-IN" dirty="0"/>
              <a:t> </a:t>
            </a:r>
            <a:r>
              <a:rPr lang="en-IN" dirty="0" err="1"/>
              <a:t>S.Kudachimath</a:t>
            </a:r>
            <a:endParaRPr lang="en-IN" dirty="0"/>
          </a:p>
        </p:txBody>
      </p:sp>
    </p:spTree>
    <p:extLst>
      <p:ext uri="{BB962C8B-B14F-4D97-AF65-F5344CB8AC3E}">
        <p14:creationId xmlns="" xmlns:p14="http://schemas.microsoft.com/office/powerpoint/2010/main" val="1744387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Discussion Points.</a:t>
            </a:r>
          </a:p>
        </p:txBody>
      </p:sp>
      <p:sp>
        <p:nvSpPr>
          <p:cNvPr id="3" name="Content Placeholder 2"/>
          <p:cNvSpPr>
            <a:spLocks noGrp="1"/>
          </p:cNvSpPr>
          <p:nvPr>
            <p:ph idx="1"/>
          </p:nvPr>
        </p:nvSpPr>
        <p:spPr/>
        <p:txBody>
          <a:bodyPr>
            <a:normAutofit fontScale="92500" lnSpcReduction="10000"/>
          </a:bodyPr>
          <a:lstStyle/>
          <a:p>
            <a:r>
              <a:rPr lang="en-US" b="1" dirty="0"/>
              <a:t>Business Research Design: </a:t>
            </a:r>
            <a:r>
              <a:rPr lang="en-US" dirty="0"/>
              <a:t>Meaning, types and significance of research design, errors affecting </a:t>
            </a:r>
            <a:r>
              <a:rPr lang="en-IN" dirty="0"/>
              <a:t>research design.</a:t>
            </a:r>
          </a:p>
          <a:p>
            <a:r>
              <a:rPr lang="en-US" b="1" dirty="0"/>
              <a:t>Exploratory Research: </a:t>
            </a:r>
            <a:r>
              <a:rPr lang="en-US" dirty="0"/>
              <a:t>Meaning, purpose, methods, Literature search, experience survey, focus</a:t>
            </a:r>
          </a:p>
          <a:p>
            <a:r>
              <a:rPr lang="en-US" dirty="0"/>
              <a:t>groups and comprehensive case methods.</a:t>
            </a:r>
          </a:p>
          <a:p>
            <a:r>
              <a:rPr lang="en-US" b="1" dirty="0"/>
              <a:t>Conclusive Research Design</a:t>
            </a:r>
            <a:r>
              <a:rPr lang="en-US" dirty="0"/>
              <a:t>: Descriptive Research, Meaning, Types, Cross sectional studies and</a:t>
            </a:r>
          </a:p>
          <a:p>
            <a:pPr marL="0" indent="0">
              <a:buNone/>
            </a:pPr>
            <a:r>
              <a:rPr lang="en-IN" dirty="0"/>
              <a:t>    longitudinal studies.</a:t>
            </a:r>
          </a:p>
          <a:p>
            <a:r>
              <a:rPr lang="en-US" b="1" dirty="0"/>
              <a:t>Experimental Research Design</a:t>
            </a:r>
            <a:r>
              <a:rPr lang="en-US" dirty="0"/>
              <a:t>: Meaning and classification of experimental designs, formal and </a:t>
            </a:r>
            <a:r>
              <a:rPr lang="en-IN" dirty="0"/>
              <a:t> informal, Pre experimental design, True experimental design, Quasi-experimental design,  Statistical experimental design.</a:t>
            </a:r>
          </a:p>
        </p:txBody>
      </p:sp>
    </p:spTree>
    <p:extLst>
      <p:ext uri="{BB962C8B-B14F-4D97-AF65-F5344CB8AC3E}">
        <p14:creationId xmlns="" xmlns:p14="http://schemas.microsoft.com/office/powerpoint/2010/main" val="561012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Research design?</a:t>
            </a:r>
          </a:p>
        </p:txBody>
      </p:sp>
      <p:sp>
        <p:nvSpPr>
          <p:cNvPr id="3" name="Content Placeholder 2"/>
          <p:cNvSpPr>
            <a:spLocks noGrp="1"/>
          </p:cNvSpPr>
          <p:nvPr>
            <p:ph idx="1"/>
          </p:nvPr>
        </p:nvSpPr>
        <p:spPr/>
        <p:txBody>
          <a:bodyPr/>
          <a:lstStyle/>
          <a:p>
            <a:pPr marL="0" indent="0" algn="just">
              <a:buNone/>
            </a:pPr>
            <a:r>
              <a:rPr lang="en-US" dirty="0"/>
              <a:t>Research design could be defined as the blue print specifying every stage of action in the course of research.  Such a design would indicate whether the course of action planned will minimize the use of resources and maximize the outcome.  Research design is the arrangement of conditions for collection and analysis of data  in a manner that aims to combine relevance to the research purpose with economy in procedure.</a:t>
            </a:r>
          </a:p>
          <a:p>
            <a:pPr marL="0" indent="0">
              <a:buNone/>
            </a:pPr>
            <a:endParaRPr lang="en-IN" dirty="0"/>
          </a:p>
        </p:txBody>
      </p:sp>
    </p:spTree>
    <p:extLst>
      <p:ext uri="{BB962C8B-B14F-4D97-AF65-F5344CB8AC3E}">
        <p14:creationId xmlns="" xmlns:p14="http://schemas.microsoft.com/office/powerpoint/2010/main" val="520050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 design would answer the following questions  :</a:t>
            </a:r>
            <a:endParaRPr lang="en-IN" dirty="0"/>
          </a:p>
        </p:txBody>
      </p:sp>
      <p:sp>
        <p:nvSpPr>
          <p:cNvPr id="3" name="Content Placeholder 2"/>
          <p:cNvSpPr>
            <a:spLocks noGrp="1"/>
          </p:cNvSpPr>
          <p:nvPr>
            <p:ph idx="1"/>
          </p:nvPr>
        </p:nvSpPr>
        <p:spPr/>
        <p:txBody>
          <a:bodyPr/>
          <a:lstStyle/>
          <a:p>
            <a:pPr lvl="0"/>
            <a:r>
              <a:rPr lang="en-US" dirty="0"/>
              <a:t>What is the study about ?  </a:t>
            </a:r>
          </a:p>
          <a:p>
            <a:pPr lvl="0"/>
            <a:r>
              <a:rPr lang="en-US" dirty="0"/>
              <a:t>Why is the study being made?  </a:t>
            </a:r>
          </a:p>
          <a:p>
            <a:pPr lvl="0"/>
            <a:r>
              <a:rPr lang="en-US" dirty="0"/>
              <a:t>Where will be study be carried out? </a:t>
            </a:r>
          </a:p>
          <a:p>
            <a:pPr lvl="0"/>
            <a:r>
              <a:rPr lang="en-US" dirty="0"/>
              <a:t>What type of data and where it would be collected ?  </a:t>
            </a:r>
          </a:p>
          <a:p>
            <a:pPr lvl="0"/>
            <a:r>
              <a:rPr lang="en-US" dirty="0"/>
              <a:t>What is the period of study ?  </a:t>
            </a:r>
          </a:p>
          <a:p>
            <a:pPr lvl="0"/>
            <a:r>
              <a:rPr lang="en-US" dirty="0"/>
              <a:t>Whether any sample would be used and if so, what type of sample will be used ?</a:t>
            </a:r>
          </a:p>
          <a:p>
            <a:pPr lvl="0"/>
            <a:r>
              <a:rPr lang="en-US" dirty="0"/>
              <a:t>What type of analytical tools will be used ?  </a:t>
            </a:r>
          </a:p>
          <a:p>
            <a:endParaRPr lang="en-IN" dirty="0"/>
          </a:p>
        </p:txBody>
      </p:sp>
    </p:spTree>
    <p:extLst>
      <p:ext uri="{BB962C8B-B14F-4D97-AF65-F5344CB8AC3E}">
        <p14:creationId xmlns="" xmlns:p14="http://schemas.microsoft.com/office/powerpoint/2010/main" val="533053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199" y="274637"/>
            <a:ext cx="10524309" cy="888595"/>
          </a:xfrm>
        </p:spPr>
        <p:txBody>
          <a:bodyPr/>
          <a:lstStyle/>
          <a:p>
            <a:r>
              <a:rPr lang="en-US" dirty="0"/>
              <a:t>Parts of  of Research </a:t>
            </a:r>
            <a:r>
              <a:rPr lang="en-US" dirty="0" smtClean="0"/>
              <a:t>Design:</a:t>
            </a:r>
            <a:endParaRPr lang="en-US" dirty="0"/>
          </a:p>
        </p:txBody>
      </p:sp>
      <p:sp>
        <p:nvSpPr>
          <p:cNvPr id="5" name="Content Placeholder 2"/>
          <p:cNvSpPr>
            <a:spLocks noGrp="1"/>
          </p:cNvSpPr>
          <p:nvPr>
            <p:ph idx="1"/>
          </p:nvPr>
        </p:nvSpPr>
        <p:spPr>
          <a:xfrm>
            <a:off x="457199" y="1066800"/>
            <a:ext cx="10524309" cy="5177246"/>
          </a:xfrm>
        </p:spPr>
        <p:txBody>
          <a:bodyPr>
            <a:normAutofit lnSpcReduction="10000"/>
          </a:bodyPr>
          <a:lstStyle/>
          <a:p>
            <a:pPr marL="514350" lvl="0" indent="-514350" algn="just">
              <a:buFont typeface="+mj-lt"/>
              <a:buAutoNum type="arabicPeriod"/>
            </a:pPr>
            <a:r>
              <a:rPr lang="en-IN" dirty="0" smtClean="0"/>
              <a:t>Objectives and hypothesis design</a:t>
            </a:r>
            <a:endParaRPr lang="en-US" dirty="0" smtClean="0"/>
          </a:p>
          <a:p>
            <a:pPr marL="514350" lvl="0" indent="-514350" algn="just">
              <a:buFont typeface="+mj-lt"/>
              <a:buAutoNum type="arabicPeriod"/>
            </a:pPr>
            <a:r>
              <a:rPr lang="en-US" dirty="0" smtClean="0"/>
              <a:t>Sampling </a:t>
            </a:r>
            <a:r>
              <a:rPr lang="en-US" dirty="0"/>
              <a:t>design – all the details connected with the sampling process, from the determination of sample size down to the collection of data, would be spelt out.</a:t>
            </a:r>
          </a:p>
          <a:p>
            <a:pPr marL="514350" lvl="0" indent="-514350" algn="just">
              <a:buFont typeface="+mj-lt"/>
              <a:buAutoNum type="arabicPeriod"/>
            </a:pPr>
            <a:r>
              <a:rPr lang="en-US" dirty="0"/>
              <a:t>Observational design – if the study makes use of observational technique, then what type of observation technique would be used, conditions under which the observation will be made, would be indicated.</a:t>
            </a:r>
          </a:p>
          <a:p>
            <a:pPr marL="514350" lvl="0" indent="-514350" algn="just">
              <a:buFont typeface="+mj-lt"/>
              <a:buAutoNum type="arabicPeriod"/>
            </a:pPr>
            <a:r>
              <a:rPr lang="en-US" dirty="0"/>
              <a:t>Statistical design  -  this part of the research design would spell out the type of analysis that would be carried out.</a:t>
            </a:r>
          </a:p>
          <a:p>
            <a:pPr marL="514350" lvl="0" indent="-514350" algn="just">
              <a:buFont typeface="+mj-lt"/>
              <a:buAutoNum type="arabicPeriod"/>
            </a:pPr>
            <a:r>
              <a:rPr lang="en-US" dirty="0"/>
              <a:t>Operational design – this design would lay down the steps that would be taken at each stage as the design is executed.</a:t>
            </a:r>
          </a:p>
          <a:p>
            <a:endParaRPr lang="en-US" dirty="0"/>
          </a:p>
        </p:txBody>
      </p:sp>
    </p:spTree>
    <p:extLst>
      <p:ext uri="{BB962C8B-B14F-4D97-AF65-F5344CB8AC3E}">
        <p14:creationId xmlns="" xmlns:p14="http://schemas.microsoft.com/office/powerpoint/2010/main" val="2335625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Criteria of Good Research Design</a:t>
            </a:r>
          </a:p>
        </p:txBody>
      </p:sp>
      <p:sp>
        <p:nvSpPr>
          <p:cNvPr id="3" name="Content Placeholder 2"/>
          <p:cNvSpPr>
            <a:spLocks noGrp="1"/>
          </p:cNvSpPr>
          <p:nvPr>
            <p:ph idx="1"/>
          </p:nvPr>
        </p:nvSpPr>
        <p:spPr>
          <a:xfrm>
            <a:off x="866500" y="1595848"/>
            <a:ext cx="10487299" cy="4983163"/>
          </a:xfrm>
        </p:spPr>
        <p:txBody>
          <a:bodyPr>
            <a:normAutofit/>
          </a:bodyPr>
          <a:lstStyle/>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It is flexible.  As and when it is called for the research design should be amenable for accommodating any change.</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It should help to minimize bias at every stage.</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It should facilitate collection and analysis of maximum information.</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The design should be closely linked with the objectives of the study.</a:t>
            </a:r>
          </a:p>
          <a:p>
            <a:pPr>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217019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a:bodyPr>
          <a:lstStyle/>
          <a:p>
            <a:r>
              <a:rPr lang="en-US" sz="3600" dirty="0"/>
              <a:t>Types of Research Design</a:t>
            </a:r>
          </a:p>
        </p:txBody>
      </p:sp>
      <p:sp>
        <p:nvSpPr>
          <p:cNvPr id="3" name="Content Placeholder 2"/>
          <p:cNvSpPr>
            <a:spLocks noGrp="1"/>
          </p:cNvSpPr>
          <p:nvPr>
            <p:ph idx="1"/>
          </p:nvPr>
        </p:nvSpPr>
        <p:spPr>
          <a:xfrm>
            <a:off x="839586" y="1021084"/>
            <a:ext cx="11072552" cy="5287963"/>
          </a:xfrm>
        </p:spPr>
        <p:txBody>
          <a:bodyPr>
            <a:normAutofit/>
          </a:bodyPr>
          <a:lstStyle/>
          <a:p>
            <a:pPr lvl="0" algn="just">
              <a:buNone/>
            </a:pPr>
            <a:r>
              <a:rPr lang="en-US" b="1" dirty="0">
                <a:latin typeface="Times New Roman" pitchFamily="18" charset="0"/>
                <a:cs typeface="Times New Roman" pitchFamily="18" charset="0"/>
              </a:rPr>
              <a:t>1.Exploratory  2. Descriptive 3.  Experimental</a:t>
            </a:r>
          </a:p>
          <a:p>
            <a:pPr marL="514350" lvl="0" indent="-514350" algn="just">
              <a:buAutoNum type="arabicPeriod"/>
            </a:pPr>
            <a:r>
              <a:rPr lang="en-US" b="1" dirty="0">
                <a:latin typeface="Times New Roman" pitchFamily="18" charset="0"/>
                <a:cs typeface="Times New Roman" pitchFamily="18" charset="0"/>
              </a:rPr>
              <a:t>Exploratory Research Design (Formulative Research Design) : </a:t>
            </a:r>
            <a:r>
              <a:rPr lang="en-US" dirty="0">
                <a:latin typeface="Times New Roman" pitchFamily="18" charset="0"/>
                <a:cs typeface="Times New Roman" pitchFamily="18" charset="0"/>
              </a:rPr>
              <a:t>A design for exploratory research work is called Exploratory Research Design. Exploratory Research is done to discover new insights or ideas in the existing body of knowledge. It is conducted when available information in literature is not sufficient to address the </a:t>
            </a:r>
            <a:r>
              <a:rPr lang="en-US" dirty="0" smtClean="0">
                <a:latin typeface="Times New Roman" pitchFamily="18" charset="0"/>
                <a:cs typeface="Times New Roman" pitchFamily="18" charset="0"/>
              </a:rPr>
              <a:t>problem. </a:t>
            </a:r>
          </a:p>
          <a:p>
            <a:pPr marL="514350" lvl="0" indent="-514350" algn="just">
              <a:buNone/>
            </a:pPr>
            <a:r>
              <a:rPr lang="en-US" dirty="0" smtClean="0">
                <a:latin typeface="Times New Roman" pitchFamily="18" charset="0"/>
                <a:cs typeface="Times New Roman" pitchFamily="18" charset="0"/>
              </a:rPr>
              <a:t>	Exploratory research answers "what," "how," and "why" questions regarding poorly understood or new topics</a:t>
            </a:r>
            <a:endParaRPr lang="en-US" dirty="0">
              <a:latin typeface="Times New Roman" pitchFamily="18" charset="0"/>
              <a:cs typeface="Times New Roman" pitchFamily="18" charset="0"/>
            </a:endParaRPr>
          </a:p>
          <a:p>
            <a:pPr marL="0" lvl="0" indent="0" algn="just">
              <a:buNone/>
            </a:pPr>
            <a:r>
              <a:rPr lang="en-US" dirty="0" smtClean="0">
                <a:latin typeface="Times New Roman" pitchFamily="18" charset="0"/>
                <a:cs typeface="Times New Roman" pitchFamily="18" charset="0"/>
              </a:rPr>
              <a:t>Ex.1. </a:t>
            </a:r>
            <a:r>
              <a:rPr lang="en-US" dirty="0">
                <a:latin typeface="Times New Roman" pitchFamily="18" charset="0"/>
                <a:cs typeface="Times New Roman" pitchFamily="18" charset="0"/>
              </a:rPr>
              <a:t>Juice owner wanted to know the demand for introducing new juice. He does not know the consumer demand</a:t>
            </a:r>
            <a:r>
              <a:rPr lang="en-US" dirty="0" smtClean="0">
                <a:latin typeface="Times New Roman" pitchFamily="18" charset="0"/>
                <a:cs typeface="Times New Roman" pitchFamily="18" charset="0"/>
              </a:rPr>
              <a:t>.</a:t>
            </a:r>
          </a:p>
          <a:p>
            <a:pPr marL="0" lvl="0" indent="0" algn="just">
              <a:buNone/>
            </a:pPr>
            <a:r>
              <a:rPr lang="en-IN" dirty="0" smtClean="0">
                <a:latin typeface="Times New Roman" pitchFamily="18" charset="0"/>
                <a:cs typeface="Times New Roman" pitchFamily="18" charset="0"/>
              </a:rPr>
              <a:t>2. A </a:t>
            </a:r>
            <a:r>
              <a:rPr lang="en-IN" dirty="0" err="1" smtClean="0">
                <a:latin typeface="Times New Roman" pitchFamily="18" charset="0"/>
                <a:cs typeface="Times New Roman" pitchFamily="18" charset="0"/>
              </a:rPr>
              <a:t>resaerch</a:t>
            </a:r>
            <a:r>
              <a:rPr lang="en-IN" dirty="0" smtClean="0">
                <a:latin typeface="Times New Roman" pitchFamily="18" charset="0"/>
                <a:cs typeface="Times New Roman" pitchFamily="18" charset="0"/>
              </a:rPr>
              <a:t> on terror attack in </a:t>
            </a:r>
            <a:r>
              <a:rPr lang="en-IN" dirty="0" err="1" smtClean="0">
                <a:latin typeface="Times New Roman" pitchFamily="18" charset="0"/>
                <a:cs typeface="Times New Roman" pitchFamily="18" charset="0"/>
              </a:rPr>
              <a:t>Phulvama</a:t>
            </a:r>
            <a:r>
              <a:rPr lang="en-IN"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marL="0" lvl="0" indent="0" algn="just">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580659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F4BB89-A0B6-88EB-EA57-A466942432DB}"/>
              </a:ext>
            </a:extLst>
          </p:cNvPr>
          <p:cNvSpPr>
            <a:spLocks noGrp="1"/>
          </p:cNvSpPr>
          <p:nvPr>
            <p:ph type="title"/>
          </p:nvPr>
        </p:nvSpPr>
        <p:spPr>
          <a:xfrm>
            <a:off x="838200" y="365126"/>
            <a:ext cx="10515600" cy="687820"/>
          </a:xfrm>
        </p:spPr>
        <p:txBody>
          <a:bodyPr>
            <a:normAutofit fontScale="90000"/>
          </a:bodyPr>
          <a:lstStyle/>
          <a:p>
            <a:r>
              <a:rPr lang="en-US" dirty="0"/>
              <a:t>Types of exploratory research design</a:t>
            </a:r>
            <a:endParaRPr lang="en-IN" dirty="0"/>
          </a:p>
        </p:txBody>
      </p:sp>
      <p:sp>
        <p:nvSpPr>
          <p:cNvPr id="3" name="Content Placeholder 2">
            <a:extLst>
              <a:ext uri="{FF2B5EF4-FFF2-40B4-BE49-F238E27FC236}">
                <a16:creationId xmlns="" xmlns:a16="http://schemas.microsoft.com/office/drawing/2014/main" id="{15F45358-6ED3-CAF4-DD84-5989BDB6A4DC}"/>
              </a:ext>
            </a:extLst>
          </p:cNvPr>
          <p:cNvSpPr>
            <a:spLocks noGrp="1"/>
          </p:cNvSpPr>
          <p:nvPr>
            <p:ph idx="1"/>
          </p:nvPr>
        </p:nvSpPr>
        <p:spPr>
          <a:xfrm>
            <a:off x="838200" y="1126836"/>
            <a:ext cx="10515600" cy="5050127"/>
          </a:xfrm>
        </p:spPr>
        <p:txBody>
          <a:bodyPr>
            <a:normAutofit fontScale="70000" lnSpcReduction="20000"/>
          </a:bodyPr>
          <a:lstStyle/>
          <a:p>
            <a:pPr marL="514350" lvl="0" indent="-514350" algn="just">
              <a:buAutoNum type="arabicPeriod"/>
            </a:pPr>
            <a:r>
              <a:rPr lang="en-US" dirty="0">
                <a:latin typeface="Times New Roman" pitchFamily="18" charset="0"/>
                <a:cs typeface="Times New Roman" pitchFamily="18" charset="0"/>
              </a:rPr>
              <a:t>Primary Research Methods of collecting data: (More of qualitative in nature)</a:t>
            </a:r>
          </a:p>
          <a:p>
            <a:pPr marL="514350" lvl="0" indent="-514350" algn="just">
              <a:buAutoNum type="alphaLcPeriod"/>
            </a:pPr>
            <a:r>
              <a:rPr lang="en-US" dirty="0">
                <a:latin typeface="Times New Roman" pitchFamily="18" charset="0"/>
                <a:cs typeface="Times New Roman" pitchFamily="18" charset="0"/>
              </a:rPr>
              <a:t>Projective Technique ( </a:t>
            </a:r>
            <a:r>
              <a:rPr lang="en-US" dirty="0" smtClean="0">
                <a:latin typeface="Times New Roman" pitchFamily="18" charset="0"/>
                <a:cs typeface="Times New Roman" pitchFamily="18" charset="0"/>
              </a:rPr>
              <a:t>Individual </a:t>
            </a:r>
            <a:r>
              <a:rPr lang="en-US" dirty="0">
                <a:latin typeface="Times New Roman" pitchFamily="18" charset="0"/>
                <a:cs typeface="Times New Roman" pitchFamily="18" charset="0"/>
              </a:rPr>
              <a:t>are asked to express opinion or feelings)</a:t>
            </a:r>
          </a:p>
          <a:p>
            <a:pPr marL="514350" lvl="0" indent="-514350" algn="just">
              <a:buAutoNum type="alphaLcPeriod"/>
            </a:pPr>
            <a:r>
              <a:rPr lang="en-US" dirty="0">
                <a:latin typeface="Times New Roman" pitchFamily="18" charset="0"/>
                <a:cs typeface="Times New Roman" pitchFamily="18" charset="0"/>
              </a:rPr>
              <a:t>Depth Interview</a:t>
            </a:r>
          </a:p>
          <a:p>
            <a:pPr marL="514350" lvl="0" indent="-514350" algn="just">
              <a:buAutoNum type="alphaLcPeriod"/>
            </a:pPr>
            <a:r>
              <a:rPr lang="en-US" dirty="0">
                <a:latin typeface="Times New Roman" pitchFamily="18" charset="0"/>
                <a:cs typeface="Times New Roman" pitchFamily="18" charset="0"/>
              </a:rPr>
              <a:t>Experience survey  </a:t>
            </a:r>
          </a:p>
          <a:p>
            <a:pPr marL="514350" lvl="0" indent="-514350" algn="just">
              <a:buAutoNum type="alphaLcPeriod"/>
            </a:pPr>
            <a:r>
              <a:rPr lang="en-US" dirty="0">
                <a:latin typeface="Times New Roman" pitchFamily="18" charset="0"/>
                <a:cs typeface="Times New Roman" pitchFamily="18" charset="0"/>
              </a:rPr>
              <a:t>Focus group</a:t>
            </a:r>
          </a:p>
          <a:p>
            <a:pPr marL="514350" lvl="0" indent="-514350" algn="just">
              <a:buAutoNum type="alphaLcPeriod"/>
            </a:pPr>
            <a:r>
              <a:rPr lang="en-US" dirty="0">
                <a:latin typeface="Times New Roman" pitchFamily="18" charset="0"/>
                <a:cs typeface="Times New Roman" pitchFamily="18" charset="0"/>
              </a:rPr>
              <a:t>Observation techniques</a:t>
            </a:r>
          </a:p>
          <a:p>
            <a:pPr marL="0" lvl="0" indent="0" algn="just">
              <a:buNone/>
            </a:pPr>
            <a:r>
              <a:rPr lang="en-US" dirty="0">
                <a:latin typeface="Times New Roman" pitchFamily="18" charset="0"/>
                <a:cs typeface="Times New Roman" pitchFamily="18" charset="0"/>
              </a:rPr>
              <a:t>2. Secondary Research Method of Collecting data</a:t>
            </a:r>
          </a:p>
          <a:p>
            <a:pPr marL="514350" lvl="0" indent="-514350" algn="just">
              <a:buAutoNum type="alphaLcPeriod"/>
            </a:pPr>
            <a:r>
              <a:rPr lang="en-US" dirty="0">
                <a:latin typeface="Times New Roman" pitchFamily="18" charset="0"/>
                <a:cs typeface="Times New Roman" pitchFamily="18" charset="0"/>
              </a:rPr>
              <a:t>Survey of related literature -  </a:t>
            </a:r>
          </a:p>
          <a:p>
            <a:pPr marL="514350" lvl="0" indent="-514350" algn="just">
              <a:lnSpc>
                <a:spcPct val="120000"/>
              </a:lnSpc>
              <a:buAutoNum type="alphaLcPeriod"/>
            </a:pPr>
            <a:r>
              <a:rPr lang="en-US" dirty="0">
                <a:latin typeface="Times New Roman" pitchFamily="18" charset="0"/>
                <a:cs typeface="Times New Roman" pitchFamily="18" charset="0"/>
              </a:rPr>
              <a:t>Conducting experience survey -  this refers to undertaking collection of </a:t>
            </a:r>
            <a:r>
              <a:rPr lang="en-US" dirty="0" smtClean="0">
                <a:latin typeface="Times New Roman" pitchFamily="18" charset="0"/>
                <a:cs typeface="Times New Roman" pitchFamily="18" charset="0"/>
              </a:rPr>
              <a:t>details </a:t>
            </a:r>
            <a:r>
              <a:rPr lang="en-US" dirty="0">
                <a:latin typeface="Times New Roman" pitchFamily="18" charset="0"/>
                <a:cs typeface="Times New Roman" pitchFamily="18" charset="0"/>
              </a:rPr>
              <a:t>and discussion  with the experienced people in the chosen field </a:t>
            </a:r>
            <a:r>
              <a:rPr lang="en-US" dirty="0" smtClean="0">
                <a:latin typeface="Times New Roman" pitchFamily="18" charset="0"/>
                <a:cs typeface="Times New Roman" pitchFamily="18" charset="0"/>
              </a:rPr>
              <a:t>of </a:t>
            </a:r>
            <a:r>
              <a:rPr lang="en-US" dirty="0">
                <a:latin typeface="Times New Roman" pitchFamily="18" charset="0"/>
                <a:cs typeface="Times New Roman" pitchFamily="18" charset="0"/>
              </a:rPr>
              <a:t>research.  This would help the researcher  to determine the extent to </a:t>
            </a:r>
            <a:r>
              <a:rPr lang="en-US" dirty="0" smtClean="0">
                <a:latin typeface="Times New Roman" pitchFamily="18" charset="0"/>
                <a:cs typeface="Times New Roman" pitchFamily="18" charset="0"/>
              </a:rPr>
              <a:t>which he </a:t>
            </a:r>
            <a:r>
              <a:rPr lang="en-US" dirty="0">
                <a:latin typeface="Times New Roman" pitchFamily="18" charset="0"/>
                <a:cs typeface="Times New Roman" pitchFamily="18" charset="0"/>
              </a:rPr>
              <a:t>is original and can avoid duplication.</a:t>
            </a:r>
          </a:p>
          <a:p>
            <a:pPr lvl="0" algn="just">
              <a:lnSpc>
                <a:spcPct val="120000"/>
              </a:lnSpc>
            </a:pPr>
            <a:r>
              <a:rPr lang="en-US" dirty="0">
                <a:latin typeface="Times New Roman" pitchFamily="18" charset="0"/>
                <a:cs typeface="Times New Roman" pitchFamily="18" charset="0"/>
              </a:rPr>
              <a:t>Analysis of insight-stimulating examples is yet another method, in which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depending upon the study on hand.  In this method, the experience of </a:t>
            </a:r>
            <a:r>
              <a:rPr lang="en-US" dirty="0" smtClean="0">
                <a:latin typeface="Times New Roman" pitchFamily="18" charset="0"/>
                <a:cs typeface="Times New Roman" pitchFamily="18" charset="0"/>
              </a:rPr>
              <a:t>people </a:t>
            </a:r>
            <a:r>
              <a:rPr lang="en-US" dirty="0">
                <a:latin typeface="Times New Roman" pitchFamily="18" charset="0"/>
                <a:cs typeface="Times New Roman" pitchFamily="18" charset="0"/>
              </a:rPr>
              <a:t>would be used as a guide to develop  or formulate a hypothesis.</a:t>
            </a:r>
          </a:p>
          <a:p>
            <a:endParaRPr lang="en-IN" dirty="0"/>
          </a:p>
        </p:txBody>
      </p:sp>
    </p:spTree>
    <p:extLst>
      <p:ext uri="{BB962C8B-B14F-4D97-AF65-F5344CB8AC3E}">
        <p14:creationId xmlns="" xmlns:p14="http://schemas.microsoft.com/office/powerpoint/2010/main" val="1829171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DAD004-F1CA-745B-F577-41F7FB360497}"/>
              </a:ext>
            </a:extLst>
          </p:cNvPr>
          <p:cNvSpPr>
            <a:spLocks noGrp="1"/>
          </p:cNvSpPr>
          <p:nvPr>
            <p:ph type="title"/>
          </p:nvPr>
        </p:nvSpPr>
        <p:spPr/>
        <p:txBody>
          <a:bodyPr/>
          <a:lstStyle/>
          <a:p>
            <a:r>
              <a:rPr lang="en-US" dirty="0"/>
              <a:t>Uses of Exploratory Research design</a:t>
            </a:r>
            <a:endParaRPr lang="en-IN" dirty="0"/>
          </a:p>
        </p:txBody>
      </p:sp>
      <p:sp>
        <p:nvSpPr>
          <p:cNvPr id="3" name="Content Placeholder 2">
            <a:extLst>
              <a:ext uri="{FF2B5EF4-FFF2-40B4-BE49-F238E27FC236}">
                <a16:creationId xmlns="" xmlns:a16="http://schemas.microsoft.com/office/drawing/2014/main" id="{48A0650F-B3AB-92EB-5CFD-F514F462F6AC}"/>
              </a:ext>
            </a:extLst>
          </p:cNvPr>
          <p:cNvSpPr>
            <a:spLocks noGrp="1"/>
          </p:cNvSpPr>
          <p:nvPr>
            <p:ph idx="1"/>
          </p:nvPr>
        </p:nvSpPr>
        <p:spPr>
          <a:xfrm>
            <a:off x="838200" y="1511591"/>
            <a:ext cx="10515600" cy="4351338"/>
          </a:xfrm>
        </p:spPr>
        <p:txBody>
          <a:bodyPr/>
          <a:lstStyle/>
          <a:p>
            <a:pPr marL="514350" indent="-514350">
              <a:buAutoNum type="arabicPeriod"/>
            </a:pPr>
            <a:r>
              <a:rPr lang="en-US" dirty="0"/>
              <a:t>Most useful in investigating for new things.</a:t>
            </a:r>
          </a:p>
          <a:p>
            <a:pPr marL="514350" indent="-514350">
              <a:buAutoNum type="arabicPeriod"/>
            </a:pPr>
            <a:r>
              <a:rPr lang="en-US" dirty="0"/>
              <a:t>Gaining information in detail.</a:t>
            </a:r>
          </a:p>
          <a:p>
            <a:pPr marL="514350" indent="-514350">
              <a:buAutoNum type="arabicPeriod"/>
            </a:pPr>
            <a:r>
              <a:rPr lang="en-IN" dirty="0"/>
              <a:t>Clarification of doubts.</a:t>
            </a:r>
          </a:p>
          <a:p>
            <a:pPr marL="514350" indent="-514350">
              <a:buAutoNum type="arabicPeriod"/>
            </a:pPr>
            <a:r>
              <a:rPr lang="en-IN" dirty="0"/>
              <a:t>Analysing the market trends.</a:t>
            </a:r>
          </a:p>
          <a:p>
            <a:pPr marL="514350" indent="-514350">
              <a:buAutoNum type="arabicPeriod"/>
            </a:pPr>
            <a:r>
              <a:rPr lang="en-IN" dirty="0"/>
              <a:t>Exploring new approaches</a:t>
            </a:r>
          </a:p>
        </p:txBody>
      </p:sp>
    </p:spTree>
    <p:extLst>
      <p:ext uri="{BB962C8B-B14F-4D97-AF65-F5344CB8AC3E}">
        <p14:creationId xmlns="" xmlns:p14="http://schemas.microsoft.com/office/powerpoint/2010/main" val="1802376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2D4CFA7-8148-7CDB-7224-74CA75ED829D}"/>
              </a:ext>
            </a:extLst>
          </p:cNvPr>
          <p:cNvSpPr>
            <a:spLocks noGrp="1"/>
          </p:cNvSpPr>
          <p:nvPr>
            <p:ph type="title"/>
          </p:nvPr>
        </p:nvSpPr>
        <p:spPr>
          <a:xfrm>
            <a:off x="838200" y="365126"/>
            <a:ext cx="10515600" cy="582526"/>
          </a:xfrm>
        </p:spPr>
        <p:txBody>
          <a:bodyPr>
            <a:normAutofit fontScale="90000"/>
          </a:bodyPr>
          <a:lstStyle/>
          <a:p>
            <a:r>
              <a:rPr lang="en-US" sz="3600" b="1" dirty="0"/>
              <a:t>2. Descriptive Research Design (Diagnostic/ Conclusive )</a:t>
            </a:r>
            <a:endParaRPr lang="en-IN" sz="3600" b="1" dirty="0"/>
          </a:p>
        </p:txBody>
      </p:sp>
      <p:sp>
        <p:nvSpPr>
          <p:cNvPr id="3" name="Content Placeholder 2">
            <a:extLst>
              <a:ext uri="{FF2B5EF4-FFF2-40B4-BE49-F238E27FC236}">
                <a16:creationId xmlns="" xmlns:a16="http://schemas.microsoft.com/office/drawing/2014/main" id="{07F6D1B5-0BB4-7C36-9F4D-7B6EE6D524FB}"/>
              </a:ext>
            </a:extLst>
          </p:cNvPr>
          <p:cNvSpPr>
            <a:spLocks noGrp="1"/>
          </p:cNvSpPr>
          <p:nvPr>
            <p:ph idx="1"/>
          </p:nvPr>
        </p:nvSpPr>
        <p:spPr>
          <a:xfrm>
            <a:off x="838200" y="1330036"/>
            <a:ext cx="10515600" cy="4846927"/>
          </a:xfrm>
        </p:spPr>
        <p:txBody>
          <a:bodyPr/>
          <a:lstStyle/>
          <a:p>
            <a:pPr marL="0" indent="0" algn="just">
              <a:buNone/>
            </a:pPr>
            <a:r>
              <a:rPr lang="en-US" dirty="0">
                <a:latin typeface="Times New Roman" pitchFamily="18" charset="0"/>
                <a:cs typeface="Times New Roman" pitchFamily="18" charset="0"/>
              </a:rPr>
              <a:t>Descriptive research design is concerned with the research studies with a focus on the portrayal of the characteristics of a group or individual or a situation.  The main objective of such studies is to acquire knowledge.  </a:t>
            </a:r>
          </a:p>
          <a:p>
            <a:pPr marL="0" indent="0" algn="just">
              <a:buNone/>
            </a:pPr>
            <a:r>
              <a:rPr lang="en-US" dirty="0">
                <a:latin typeface="Times New Roman" pitchFamily="18" charset="0"/>
                <a:cs typeface="Times New Roman" pitchFamily="18" charset="0"/>
              </a:rPr>
              <a:t> For example, to identify the use of a product to various groups, a research study may be undertaken to question whether the use varies with income, age, </a:t>
            </a:r>
            <a:r>
              <a:rPr lang="en-US" dirty="0" smtClean="0">
                <a:latin typeface="Times New Roman" pitchFamily="18" charset="0"/>
                <a:cs typeface="Times New Roman" pitchFamily="18" charset="0"/>
              </a:rPr>
              <a:t>gender </a:t>
            </a:r>
            <a:r>
              <a:rPr lang="en-US" dirty="0">
                <a:latin typeface="Times New Roman" pitchFamily="18" charset="0"/>
                <a:cs typeface="Times New Roman" pitchFamily="18" charset="0"/>
              </a:rPr>
              <a:t>or any other characteristics of population. Similarly such studies are used to examine the characteristics of the corporate sector or consumer behavior etc.,</a:t>
            </a:r>
          </a:p>
          <a:p>
            <a:pPr marL="0" indent="0" algn="just">
              <a:buNone/>
            </a:pPr>
            <a:r>
              <a:rPr lang="en-US" dirty="0">
                <a:latin typeface="Times New Roman" pitchFamily="18" charset="0"/>
                <a:cs typeface="Times New Roman" pitchFamily="18" charset="0"/>
              </a:rPr>
              <a:t>This research helps to answer the questions What? How? When? Where? But does not answer Why?</a:t>
            </a:r>
            <a:endParaRPr lang="en-IN" dirty="0">
              <a:latin typeface="Times New Roman" pitchFamily="18" charset="0"/>
              <a:cs typeface="Times New Roman" pitchFamily="18" charset="0"/>
            </a:endParaRPr>
          </a:p>
        </p:txBody>
      </p:sp>
    </p:spTree>
    <p:extLst>
      <p:ext uri="{BB962C8B-B14F-4D97-AF65-F5344CB8AC3E}">
        <p14:creationId xmlns="" xmlns:p14="http://schemas.microsoft.com/office/powerpoint/2010/main" val="605672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7BFAC0C-7052-E7D1-61BA-B5C4F435EE34}"/>
              </a:ext>
            </a:extLst>
          </p:cNvPr>
          <p:cNvSpPr>
            <a:spLocks noGrp="1"/>
          </p:cNvSpPr>
          <p:nvPr>
            <p:ph type="title"/>
          </p:nvPr>
        </p:nvSpPr>
        <p:spPr>
          <a:xfrm>
            <a:off x="838200" y="265361"/>
            <a:ext cx="10515600" cy="615777"/>
          </a:xfrm>
        </p:spPr>
        <p:txBody>
          <a:bodyPr>
            <a:normAutofit fontScale="90000"/>
          </a:bodyPr>
          <a:lstStyle/>
          <a:p>
            <a:r>
              <a:rPr lang="en-US" dirty="0"/>
              <a:t>Types of Descriptive Research Design</a:t>
            </a:r>
            <a:endParaRPr lang="en-IN" dirty="0"/>
          </a:p>
        </p:txBody>
      </p:sp>
      <p:sp>
        <p:nvSpPr>
          <p:cNvPr id="3" name="Content Placeholder 2">
            <a:extLst>
              <a:ext uri="{FF2B5EF4-FFF2-40B4-BE49-F238E27FC236}">
                <a16:creationId xmlns="" xmlns:a16="http://schemas.microsoft.com/office/drawing/2014/main" id="{DBABF4F5-7565-A1C6-18ED-61127935DC1B}"/>
              </a:ext>
            </a:extLst>
          </p:cNvPr>
          <p:cNvSpPr>
            <a:spLocks noGrp="1"/>
          </p:cNvSpPr>
          <p:nvPr>
            <p:ph idx="1"/>
          </p:nvPr>
        </p:nvSpPr>
        <p:spPr>
          <a:xfrm>
            <a:off x="838200" y="980902"/>
            <a:ext cx="10915996" cy="5445443"/>
          </a:xfrm>
        </p:spPr>
        <p:txBody>
          <a:bodyPr>
            <a:normAutofit fontScale="70000" lnSpcReduction="20000"/>
          </a:bodyPr>
          <a:lstStyle/>
          <a:p>
            <a:pPr marL="514350" indent="-514350">
              <a:buAutoNum type="arabicPeriod"/>
            </a:pPr>
            <a:r>
              <a:rPr lang="en-US" dirty="0">
                <a:solidFill>
                  <a:srgbClr val="FF0000"/>
                </a:solidFill>
                <a:latin typeface="Times New Roman" pitchFamily="18" charset="0"/>
                <a:cs typeface="Times New Roman" pitchFamily="18" charset="0"/>
              </a:rPr>
              <a:t>Cross Sectional Research</a:t>
            </a:r>
            <a:r>
              <a:rPr lang="en-US" dirty="0">
                <a:latin typeface="Times New Roman" pitchFamily="18" charset="0"/>
                <a:cs typeface="Times New Roman" pitchFamily="18" charset="0"/>
              </a:rPr>
              <a:t>: Data is collected from population at a specific point of time from different samples</a:t>
            </a:r>
            <a:r>
              <a:rPr lang="en-US" dirty="0" smtClean="0">
                <a:latin typeface="Times New Roman" pitchFamily="18" charset="0"/>
                <a:cs typeface="Times New Roman" pitchFamily="18" charset="0"/>
              </a:rPr>
              <a:t>.</a:t>
            </a:r>
          </a:p>
          <a:p>
            <a:r>
              <a:rPr lang="en-US" b="1" dirty="0" smtClean="0">
                <a:latin typeface="Times New Roman" pitchFamily="18" charset="0"/>
                <a:cs typeface="Times New Roman" pitchFamily="18" charset="0"/>
              </a:rPr>
              <a:t>Examples:</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 survey conducted in 2025 to compare </a:t>
            </a:r>
            <a:r>
              <a:rPr lang="en-US" b="1" dirty="0" smtClean="0">
                <a:latin typeface="Times New Roman" pitchFamily="18" charset="0"/>
                <a:cs typeface="Times New Roman" pitchFamily="18" charset="0"/>
              </a:rPr>
              <a:t>stress levels of college students in different cities</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Studying </a:t>
            </a:r>
            <a:r>
              <a:rPr lang="en-US" b="1" dirty="0" smtClean="0">
                <a:latin typeface="Times New Roman" pitchFamily="18" charset="0"/>
                <a:cs typeface="Times New Roman" pitchFamily="18" charset="0"/>
              </a:rPr>
              <a:t>customer satisfaction</a:t>
            </a:r>
            <a:r>
              <a:rPr lang="en-US" dirty="0" smtClean="0">
                <a:latin typeface="Times New Roman" pitchFamily="18" charset="0"/>
                <a:cs typeface="Times New Roman" pitchFamily="18" charset="0"/>
              </a:rPr>
              <a:t> of various brands by collecting responses from different customers at the same time. </a:t>
            </a:r>
          </a:p>
          <a:p>
            <a:r>
              <a:rPr lang="en-US" dirty="0" smtClean="0">
                <a:latin typeface="Times New Roman" pitchFamily="18" charset="0"/>
                <a:cs typeface="Times New Roman" pitchFamily="18" charset="0"/>
              </a:rPr>
              <a:t>Measuring </a:t>
            </a:r>
            <a:r>
              <a:rPr lang="en-US" b="1" dirty="0" smtClean="0">
                <a:latin typeface="Times New Roman" pitchFamily="18" charset="0"/>
                <a:cs typeface="Times New Roman" pitchFamily="18" charset="0"/>
              </a:rPr>
              <a:t>health conditions (e.g., obesity rates)</a:t>
            </a:r>
            <a:r>
              <a:rPr lang="en-US" dirty="0" smtClean="0">
                <a:latin typeface="Times New Roman" pitchFamily="18" charset="0"/>
                <a:cs typeface="Times New Roman" pitchFamily="18" charset="0"/>
              </a:rPr>
              <a:t> across different age groups in a population during one specific year. </a:t>
            </a:r>
          </a:p>
          <a:p>
            <a:r>
              <a:rPr lang="en-US" dirty="0" smtClean="0">
                <a:latin typeface="Times New Roman" pitchFamily="18" charset="0"/>
                <a:cs typeface="Times New Roman" pitchFamily="18" charset="0"/>
              </a:rPr>
              <a:t>A company analyzing </a:t>
            </a:r>
            <a:r>
              <a:rPr lang="en-US" b="1" dirty="0" smtClean="0">
                <a:latin typeface="Times New Roman" pitchFamily="18" charset="0"/>
                <a:cs typeface="Times New Roman" pitchFamily="18" charset="0"/>
              </a:rPr>
              <a:t>employee job satisfaction across departments</a:t>
            </a:r>
            <a:r>
              <a:rPr lang="en-US" dirty="0" smtClean="0">
                <a:latin typeface="Times New Roman" pitchFamily="18" charset="0"/>
                <a:cs typeface="Times New Roman" pitchFamily="18" charset="0"/>
              </a:rPr>
              <a:t> at one point in time.</a:t>
            </a:r>
          </a:p>
          <a:p>
            <a:pPr marL="514350" indent="-514350">
              <a:buNone/>
            </a:pPr>
            <a:endParaRPr lang="en-US" dirty="0">
              <a:latin typeface="Times New Roman" pitchFamily="18" charset="0"/>
              <a:cs typeface="Times New Roman" pitchFamily="18" charset="0"/>
            </a:endParaRPr>
          </a:p>
          <a:p>
            <a:pPr marL="514350" indent="-514350">
              <a:buNone/>
            </a:pPr>
            <a:r>
              <a:rPr lang="en-US" dirty="0" smtClean="0">
                <a:latin typeface="Times New Roman" pitchFamily="18" charset="0"/>
                <a:cs typeface="Times New Roman" pitchFamily="18" charset="0"/>
              </a:rPr>
              <a:t>2. </a:t>
            </a:r>
            <a:r>
              <a:rPr lang="en-US" dirty="0" smtClean="0">
                <a:solidFill>
                  <a:srgbClr val="FF0000"/>
                </a:solidFill>
                <a:latin typeface="Times New Roman" pitchFamily="18" charset="0"/>
                <a:cs typeface="Times New Roman" pitchFamily="18" charset="0"/>
              </a:rPr>
              <a:t>Longitudinal </a:t>
            </a:r>
            <a:r>
              <a:rPr lang="en-US" dirty="0">
                <a:solidFill>
                  <a:srgbClr val="FF0000"/>
                </a:solidFill>
                <a:latin typeface="Times New Roman" pitchFamily="18" charset="0"/>
                <a:cs typeface="Times New Roman" pitchFamily="18" charset="0"/>
              </a:rPr>
              <a:t>Research</a:t>
            </a:r>
            <a:r>
              <a:rPr lang="en-US" dirty="0">
                <a:latin typeface="Times New Roman" pitchFamily="18" charset="0"/>
                <a:cs typeface="Times New Roman" pitchFamily="18" charset="0"/>
              </a:rPr>
              <a:t>: When the data is collected from the same sample population different data for different time interval</a:t>
            </a:r>
            <a:r>
              <a:rPr lang="en-US" dirty="0" smtClean="0">
                <a:latin typeface="Times New Roman" pitchFamily="18" charset="0"/>
                <a:cs typeface="Times New Roman" pitchFamily="18" charset="0"/>
              </a:rPr>
              <a:t>.</a:t>
            </a:r>
          </a:p>
          <a:p>
            <a:r>
              <a:rPr lang="en-US" b="1" dirty="0" smtClean="0">
                <a:latin typeface="Times New Roman" pitchFamily="18" charset="0"/>
                <a:cs typeface="Times New Roman" pitchFamily="18" charset="0"/>
              </a:rPr>
              <a:t>Examples:</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Tracking the </a:t>
            </a:r>
            <a:r>
              <a:rPr lang="en-US" b="1" dirty="0" smtClean="0">
                <a:latin typeface="Times New Roman" pitchFamily="18" charset="0"/>
                <a:cs typeface="Times New Roman" pitchFamily="18" charset="0"/>
              </a:rPr>
              <a:t>same group of students' academic performance</a:t>
            </a:r>
            <a:r>
              <a:rPr lang="en-US" dirty="0" smtClean="0">
                <a:latin typeface="Times New Roman" pitchFamily="18" charset="0"/>
                <a:cs typeface="Times New Roman" pitchFamily="18" charset="0"/>
              </a:rPr>
              <a:t> from 1st year to final year. </a:t>
            </a:r>
          </a:p>
          <a:p>
            <a:r>
              <a:rPr lang="en-US" dirty="0" smtClean="0">
                <a:latin typeface="Times New Roman" pitchFamily="18" charset="0"/>
                <a:cs typeface="Times New Roman" pitchFamily="18" charset="0"/>
              </a:rPr>
              <a:t>Studying </a:t>
            </a:r>
            <a:r>
              <a:rPr lang="en-US" b="1" dirty="0" smtClean="0">
                <a:latin typeface="Times New Roman" pitchFamily="18" charset="0"/>
                <a:cs typeface="Times New Roman" pitchFamily="18" charset="0"/>
              </a:rPr>
              <a:t>weight loss progress</a:t>
            </a:r>
            <a:r>
              <a:rPr lang="en-US" dirty="0" smtClean="0">
                <a:latin typeface="Times New Roman" pitchFamily="18" charset="0"/>
                <a:cs typeface="Times New Roman" pitchFamily="18" charset="0"/>
              </a:rPr>
              <a:t> of individuals over 6 months after starting a diet program. </a:t>
            </a:r>
          </a:p>
          <a:p>
            <a:r>
              <a:rPr lang="en-US" dirty="0" smtClean="0">
                <a:latin typeface="Times New Roman" pitchFamily="18" charset="0"/>
                <a:cs typeface="Times New Roman" pitchFamily="18" charset="0"/>
              </a:rPr>
              <a:t>Observing </a:t>
            </a:r>
            <a:r>
              <a:rPr lang="en-US" b="1" dirty="0" smtClean="0">
                <a:latin typeface="Times New Roman" pitchFamily="18" charset="0"/>
                <a:cs typeface="Times New Roman" pitchFamily="18" charset="0"/>
              </a:rPr>
              <a:t>customer loyalty behavior</a:t>
            </a:r>
            <a:r>
              <a:rPr lang="en-US" dirty="0" smtClean="0">
                <a:latin typeface="Times New Roman" pitchFamily="18" charset="0"/>
                <a:cs typeface="Times New Roman" pitchFamily="18" charset="0"/>
              </a:rPr>
              <a:t> of the same customers over several years. </a:t>
            </a:r>
          </a:p>
          <a:p>
            <a:r>
              <a:rPr lang="en-US" dirty="0" smtClean="0">
                <a:latin typeface="Times New Roman" pitchFamily="18" charset="0"/>
                <a:cs typeface="Times New Roman" pitchFamily="18" charset="0"/>
              </a:rPr>
              <a:t>Monitoring </a:t>
            </a:r>
            <a:r>
              <a:rPr lang="en-US" b="1" dirty="0" smtClean="0">
                <a:latin typeface="Times New Roman" pitchFamily="18" charset="0"/>
                <a:cs typeface="Times New Roman" pitchFamily="18" charset="0"/>
              </a:rPr>
              <a:t>impact of a new drug</a:t>
            </a:r>
            <a:r>
              <a:rPr lang="en-US" dirty="0" smtClean="0">
                <a:latin typeface="Times New Roman" pitchFamily="18" charset="0"/>
                <a:cs typeface="Times New Roman" pitchFamily="18" charset="0"/>
              </a:rPr>
              <a:t> on the same patients at monthly intervals.</a:t>
            </a:r>
          </a:p>
          <a:p>
            <a:pPr marL="514350" indent="-514350">
              <a:buNone/>
            </a:pPr>
            <a:endParaRPr lang="en-US" dirty="0" smtClean="0">
              <a:latin typeface="Times New Roman" pitchFamily="18" charset="0"/>
              <a:cs typeface="Times New Roman" pitchFamily="18" charset="0"/>
            </a:endParaRPr>
          </a:p>
          <a:p>
            <a:pPr marL="514350" indent="-514350">
              <a:buNone/>
            </a:pPr>
            <a:endParaRPr lang="en-IN" dirty="0">
              <a:latin typeface="Times New Roman" pitchFamily="18" charset="0"/>
              <a:cs typeface="Times New Roman" pitchFamily="18" charset="0"/>
            </a:endParaRPr>
          </a:p>
        </p:txBody>
      </p:sp>
    </p:spTree>
    <p:extLst>
      <p:ext uri="{BB962C8B-B14F-4D97-AF65-F5344CB8AC3E}">
        <p14:creationId xmlns="" xmlns:p14="http://schemas.microsoft.com/office/powerpoint/2010/main" val="2957626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6DBDF5-596E-A732-9C0E-3E5383068F03}"/>
              </a:ext>
            </a:extLst>
          </p:cNvPr>
          <p:cNvSpPr>
            <a:spLocks noGrp="1"/>
          </p:cNvSpPr>
          <p:nvPr>
            <p:ph type="title"/>
          </p:nvPr>
        </p:nvSpPr>
        <p:spPr/>
        <p:txBody>
          <a:bodyPr/>
          <a:lstStyle/>
          <a:p>
            <a:r>
              <a:rPr lang="en-US" dirty="0"/>
              <a:t>Uses of Descriptive Research</a:t>
            </a:r>
            <a:endParaRPr lang="en-IN" dirty="0"/>
          </a:p>
        </p:txBody>
      </p:sp>
      <p:sp>
        <p:nvSpPr>
          <p:cNvPr id="3" name="Content Placeholder 2">
            <a:extLst>
              <a:ext uri="{FF2B5EF4-FFF2-40B4-BE49-F238E27FC236}">
                <a16:creationId xmlns="" xmlns:a16="http://schemas.microsoft.com/office/drawing/2014/main" id="{B56FF504-6F74-32E5-6072-AC5BC769C92F}"/>
              </a:ext>
            </a:extLst>
          </p:cNvPr>
          <p:cNvSpPr>
            <a:spLocks noGrp="1"/>
          </p:cNvSpPr>
          <p:nvPr>
            <p:ph idx="1"/>
          </p:nvPr>
        </p:nvSpPr>
        <p:spPr/>
        <p:txBody>
          <a:bodyPr/>
          <a:lstStyle/>
          <a:p>
            <a:pPr marL="514350" indent="-514350">
              <a:buAutoNum type="arabicPeriod"/>
            </a:pPr>
            <a:r>
              <a:rPr lang="en-US" dirty="0"/>
              <a:t>Highlight the social problem</a:t>
            </a:r>
          </a:p>
          <a:p>
            <a:pPr marL="514350" indent="-514350">
              <a:buAutoNum type="arabicPeriod"/>
            </a:pPr>
            <a:r>
              <a:rPr lang="en-US" dirty="0"/>
              <a:t>Describe the real life situation.</a:t>
            </a:r>
          </a:p>
          <a:p>
            <a:pPr marL="514350" indent="-514350">
              <a:buAutoNum type="arabicPeriod"/>
            </a:pPr>
            <a:r>
              <a:rPr lang="en-US" dirty="0"/>
              <a:t>Helps to gain knowledge about existing phenomena.</a:t>
            </a:r>
            <a:endParaRPr lang="en-IN" dirty="0"/>
          </a:p>
        </p:txBody>
      </p:sp>
    </p:spTree>
    <p:extLst>
      <p:ext uri="{BB962C8B-B14F-4D97-AF65-F5344CB8AC3E}">
        <p14:creationId xmlns="" xmlns:p14="http://schemas.microsoft.com/office/powerpoint/2010/main" val="310126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What is the difference between exploratory and descriptive research How do  you choose the right one for your research question #research #exploratory # descriptive #structure #phd #thesis #writing #AcademicTwitter #Academia  #phdfriend #epitwitter ..."/>
          <p:cNvPicPr>
            <a:picLocks noChangeAspect="1" noChangeArrowheads="1"/>
          </p:cNvPicPr>
          <p:nvPr/>
        </p:nvPicPr>
        <p:blipFill>
          <a:blip r:embed="rId2"/>
          <a:srcRect/>
          <a:stretch>
            <a:fillRect/>
          </a:stretch>
        </p:blipFill>
        <p:spPr bwMode="auto">
          <a:xfrm>
            <a:off x="141316" y="33252"/>
            <a:ext cx="12050684" cy="6772276"/>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C497DF-92FF-2901-5784-B802628081D8}"/>
              </a:ext>
            </a:extLst>
          </p:cNvPr>
          <p:cNvSpPr>
            <a:spLocks noGrp="1"/>
          </p:cNvSpPr>
          <p:nvPr>
            <p:ph type="title"/>
          </p:nvPr>
        </p:nvSpPr>
        <p:spPr>
          <a:xfrm>
            <a:off x="838200" y="365126"/>
            <a:ext cx="10515600" cy="623166"/>
          </a:xfrm>
        </p:spPr>
        <p:txBody>
          <a:bodyPr>
            <a:normAutofit fontScale="90000"/>
          </a:bodyPr>
          <a:lstStyle/>
          <a:p>
            <a:r>
              <a:rPr lang="en-US" b="1" dirty="0"/>
              <a:t/>
            </a:r>
            <a:br>
              <a:rPr lang="en-US" b="1" dirty="0"/>
            </a:br>
            <a:r>
              <a:rPr lang="en-US" b="1" dirty="0"/>
              <a:t>3. Experimental Research Design</a:t>
            </a:r>
            <a:r>
              <a:rPr lang="en-US" dirty="0"/>
              <a:t/>
            </a:r>
            <a:br>
              <a:rPr lang="en-US" dirty="0"/>
            </a:br>
            <a:endParaRPr lang="en-IN" dirty="0"/>
          </a:p>
        </p:txBody>
      </p:sp>
      <p:sp>
        <p:nvSpPr>
          <p:cNvPr id="3" name="Content Placeholder 2">
            <a:extLst>
              <a:ext uri="{FF2B5EF4-FFF2-40B4-BE49-F238E27FC236}">
                <a16:creationId xmlns="" xmlns:a16="http://schemas.microsoft.com/office/drawing/2014/main" id="{9D01B261-09E8-88C3-F4FD-F09609249EFC}"/>
              </a:ext>
            </a:extLst>
          </p:cNvPr>
          <p:cNvSpPr>
            <a:spLocks noGrp="1"/>
          </p:cNvSpPr>
          <p:nvPr>
            <p:ph idx="1"/>
          </p:nvPr>
        </p:nvSpPr>
        <p:spPr>
          <a:xfrm>
            <a:off x="838200" y="1173018"/>
            <a:ext cx="10515600" cy="2866967"/>
          </a:xfrm>
        </p:spPr>
        <p:txBody>
          <a:bodyPr>
            <a:normAutofit fontScale="77500" lnSpcReduction="20000"/>
          </a:bodyPr>
          <a:lstStyle/>
          <a:p>
            <a:pPr marL="0" indent="0" algn="just">
              <a:lnSpc>
                <a:spcPct val="120000"/>
              </a:lnSpc>
              <a:buNone/>
            </a:pPr>
            <a:r>
              <a:rPr lang="en-IN" dirty="0">
                <a:latin typeface="Times New Roman" pitchFamily="18" charset="0"/>
                <a:cs typeface="Times New Roman" pitchFamily="18" charset="0"/>
              </a:rPr>
              <a:t>Research method in which conditions are controlled so that one or more independent variables can be manipulated to test the hypothesis about dependent variables.</a:t>
            </a:r>
          </a:p>
          <a:p>
            <a:pPr marL="0" indent="0" algn="just">
              <a:lnSpc>
                <a:spcPct val="120000"/>
              </a:lnSpc>
              <a:buNone/>
            </a:pPr>
            <a:r>
              <a:rPr lang="en-IN" dirty="0">
                <a:latin typeface="Times New Roman" pitchFamily="18" charset="0"/>
                <a:cs typeface="Times New Roman" pitchFamily="18" charset="0"/>
              </a:rPr>
              <a:t>Allows evaluation of causal relationships among variables while other variables are eliminated or controlled.</a:t>
            </a:r>
          </a:p>
          <a:p>
            <a:pPr marL="0" indent="0" algn="just">
              <a:lnSpc>
                <a:spcPct val="120000"/>
              </a:lnSpc>
              <a:buNone/>
            </a:pPr>
            <a:r>
              <a:rPr lang="en-IN" dirty="0">
                <a:latin typeface="Times New Roman" pitchFamily="18" charset="0"/>
                <a:cs typeface="Times New Roman" pitchFamily="18" charset="0"/>
              </a:rPr>
              <a:t>Example: If you provide discount on the price what is its effect on sales.</a:t>
            </a:r>
          </a:p>
          <a:p>
            <a:pPr marL="0" indent="0">
              <a:buNone/>
            </a:pPr>
            <a:endParaRPr lang="en-IN" dirty="0">
              <a:latin typeface="Times New Roman" pitchFamily="18" charset="0"/>
              <a:cs typeface="Times New Roman" pitchFamily="18" charset="0"/>
            </a:endParaRPr>
          </a:p>
          <a:p>
            <a:pPr marL="0" indent="0">
              <a:buNone/>
            </a:pPr>
            <a:r>
              <a:rPr lang="en-IN" dirty="0">
                <a:solidFill>
                  <a:srgbClr val="FF0000"/>
                </a:solidFill>
                <a:latin typeface="Times New Roman" pitchFamily="18" charset="0"/>
                <a:cs typeface="Times New Roman" pitchFamily="18" charset="0"/>
              </a:rPr>
              <a:t>Defining Experimental Research</a:t>
            </a:r>
          </a:p>
        </p:txBody>
      </p:sp>
      <p:pic>
        <p:nvPicPr>
          <p:cNvPr id="5" name="Picture 4"/>
          <p:cNvPicPr>
            <a:picLocks noChangeAspect="1"/>
          </p:cNvPicPr>
          <p:nvPr/>
        </p:nvPicPr>
        <p:blipFill>
          <a:blip r:embed="rId2"/>
          <a:stretch>
            <a:fillRect/>
          </a:stretch>
        </p:blipFill>
        <p:spPr>
          <a:xfrm>
            <a:off x="768581" y="4039985"/>
            <a:ext cx="10172700" cy="1809750"/>
          </a:xfrm>
          <a:prstGeom prst="rect">
            <a:avLst/>
          </a:prstGeom>
        </p:spPr>
      </p:pic>
    </p:spTree>
    <p:extLst>
      <p:ext uri="{BB962C8B-B14F-4D97-AF65-F5344CB8AC3E}">
        <p14:creationId xmlns="" xmlns:p14="http://schemas.microsoft.com/office/powerpoint/2010/main" val="2690572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0081" y="381001"/>
            <a:ext cx="11213868" cy="5745163"/>
          </a:xfrm>
        </p:spPr>
        <p:txBody>
          <a:bodyPr>
            <a:normAutofit/>
          </a:bodyPr>
          <a:lstStyle/>
          <a:p>
            <a:pPr marL="234950" indent="-234950" algn="just">
              <a:buNone/>
            </a:pPr>
            <a:r>
              <a:rPr lang="en-US" dirty="0">
                <a:latin typeface="Times New Roman" pitchFamily="18" charset="0"/>
                <a:cs typeface="Times New Roman" pitchFamily="18" charset="0"/>
              </a:rPr>
              <a:t>	The experimental research studies are mainly focused on finding out the cause and effect relationship of the phenomenon under study.  </a:t>
            </a:r>
            <a:endParaRPr lang="en-US" dirty="0" smtClean="0">
              <a:latin typeface="Times New Roman" pitchFamily="18" charset="0"/>
              <a:cs typeface="Times New Roman" pitchFamily="18" charset="0"/>
            </a:endParaRPr>
          </a:p>
          <a:p>
            <a:pPr marL="234950" indent="-234950" algn="just">
              <a:buNone/>
            </a:pPr>
            <a:r>
              <a:rPr lang="en-US" dirty="0" smtClean="0">
                <a:latin typeface="Times New Roman" pitchFamily="18" charset="0"/>
                <a:cs typeface="Times New Roman" pitchFamily="18" charset="0"/>
              </a:rPr>
              <a:t>	Actually</a:t>
            </a:r>
            <a:r>
              <a:rPr lang="en-US" dirty="0">
                <a:latin typeface="Times New Roman" pitchFamily="18" charset="0"/>
                <a:cs typeface="Times New Roman" pitchFamily="18" charset="0"/>
              </a:rPr>
              <a:t>, when observation is arranged and controlled, it becomes experimental study.    </a:t>
            </a:r>
            <a:endParaRPr lang="en-US" dirty="0" smtClean="0">
              <a:latin typeface="Times New Roman" pitchFamily="18" charset="0"/>
              <a:cs typeface="Times New Roman" pitchFamily="18" charset="0"/>
            </a:endParaRPr>
          </a:p>
          <a:p>
            <a:pPr marL="234950" indent="-234950" algn="just">
              <a:buNone/>
            </a:pPr>
            <a:r>
              <a:rPr lang="en-US" dirty="0" smtClean="0">
                <a:latin typeface="Times New Roman" pitchFamily="18" charset="0"/>
                <a:cs typeface="Times New Roman" pitchFamily="18" charset="0"/>
              </a:rPr>
              <a:t>	An </a:t>
            </a:r>
            <a:r>
              <a:rPr lang="en-US" dirty="0">
                <a:latin typeface="Times New Roman" pitchFamily="18" charset="0"/>
                <a:cs typeface="Times New Roman" pitchFamily="18" charset="0"/>
              </a:rPr>
              <a:t>experiment is  a test or trial or an act or operation for the purpose of discovering something unknown or of testing a principle, supposition, etc.  It is a process in which one or more variables are manipulated under conditions that permit the collection of data that show the effects of any of such variables is a unconfused fashion.  </a:t>
            </a:r>
            <a:endParaRPr lang="en-US" dirty="0" smtClean="0">
              <a:latin typeface="Times New Roman" pitchFamily="18" charset="0"/>
              <a:cs typeface="Times New Roman" pitchFamily="18" charset="0"/>
            </a:endParaRPr>
          </a:p>
          <a:p>
            <a:pPr marL="234950" indent="-234950" algn="just">
              <a:buNone/>
            </a:pPr>
            <a:r>
              <a:rPr lang="en-US" dirty="0" smtClean="0">
                <a:latin typeface="Times New Roman" pitchFamily="18" charset="0"/>
                <a:cs typeface="Times New Roman" pitchFamily="18" charset="0"/>
              </a:rPr>
              <a:t>	There </a:t>
            </a:r>
            <a:r>
              <a:rPr lang="en-US" dirty="0">
                <a:latin typeface="Times New Roman" pitchFamily="18" charset="0"/>
                <a:cs typeface="Times New Roman" pitchFamily="18" charset="0"/>
              </a:rPr>
              <a:t>are different types of experiments, such as : methodological, pilot study, heuristic, fact finding, boundary, simulation, theoretical, illustrative, etc.</a:t>
            </a:r>
          </a:p>
          <a:p>
            <a:pPr algn="just">
              <a:buNone/>
            </a:pPr>
            <a:r>
              <a:rPr lang="en-US" dirty="0">
                <a:latin typeface="Times New Roman" pitchFamily="18" charset="0"/>
                <a:cs typeface="Times New Roman" pitchFamily="18" charset="0"/>
              </a:rPr>
              <a:t>  	</a:t>
            </a:r>
          </a:p>
        </p:txBody>
      </p:sp>
    </p:spTree>
    <p:extLst>
      <p:ext uri="{BB962C8B-B14F-4D97-AF65-F5344CB8AC3E}">
        <p14:creationId xmlns="" xmlns:p14="http://schemas.microsoft.com/office/powerpoint/2010/main" val="315865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579" y="274638"/>
            <a:ext cx="11006050" cy="563562"/>
          </a:xfrm>
        </p:spPr>
        <p:txBody>
          <a:bodyPr>
            <a:normAutofit fontScale="90000"/>
          </a:bodyPr>
          <a:lstStyle/>
          <a:p>
            <a:r>
              <a:rPr lang="en-US" dirty="0">
                <a:latin typeface="Times New Roman" pitchFamily="18" charset="0"/>
                <a:cs typeface="Times New Roman" pitchFamily="18" charset="0"/>
              </a:rPr>
              <a:t>Concepts relating to </a:t>
            </a:r>
            <a:r>
              <a:rPr lang="en-US" dirty="0" smtClean="0">
                <a:latin typeface="Times New Roman" pitchFamily="18" charset="0"/>
                <a:cs typeface="Times New Roman" pitchFamily="18" charset="0"/>
              </a:rPr>
              <a:t>Experimental Research </a:t>
            </a:r>
            <a:r>
              <a:rPr lang="en-US" dirty="0">
                <a:latin typeface="Times New Roman" pitchFamily="18" charset="0"/>
                <a:cs typeface="Times New Roman" pitchFamily="18" charset="0"/>
              </a:rPr>
              <a:t>Design</a:t>
            </a:r>
          </a:p>
        </p:txBody>
      </p:sp>
      <p:sp>
        <p:nvSpPr>
          <p:cNvPr id="3" name="Content Placeholder 2"/>
          <p:cNvSpPr>
            <a:spLocks noGrp="1"/>
          </p:cNvSpPr>
          <p:nvPr>
            <p:ph idx="1"/>
          </p:nvPr>
        </p:nvSpPr>
        <p:spPr>
          <a:xfrm>
            <a:off x="798021" y="1154096"/>
            <a:ext cx="10781607" cy="3201774"/>
          </a:xfrm>
        </p:spPr>
        <p:txBody>
          <a:bodyPr>
            <a:normAutofit fontScale="92500"/>
          </a:bodyPr>
          <a:lstStyle/>
          <a:p>
            <a:pPr algn="just">
              <a:buNone/>
            </a:pPr>
            <a:r>
              <a:rPr lang="en-US" dirty="0">
                <a:latin typeface="Times New Roman" pitchFamily="18" charset="0"/>
                <a:cs typeface="Times New Roman" pitchFamily="18" charset="0"/>
              </a:rPr>
              <a:t>1. Dependent and Independent variable.</a:t>
            </a:r>
          </a:p>
          <a:p>
            <a:pPr algn="just">
              <a:buNone/>
            </a:pPr>
            <a:r>
              <a:rPr lang="en-US" dirty="0">
                <a:latin typeface="Times New Roman" pitchFamily="18" charset="0"/>
                <a:cs typeface="Times New Roman" pitchFamily="18" charset="0"/>
              </a:rPr>
              <a:t>2. Extraneous Variable: </a:t>
            </a:r>
            <a:r>
              <a:rPr lang="en-US" dirty="0" smtClean="0">
                <a:latin typeface="Times New Roman" pitchFamily="18" charset="0"/>
                <a:cs typeface="Times New Roman" pitchFamily="18" charset="0"/>
              </a:rPr>
              <a:t>Independent </a:t>
            </a:r>
            <a:r>
              <a:rPr lang="en-US" dirty="0">
                <a:latin typeface="Times New Roman" pitchFamily="18" charset="0"/>
                <a:cs typeface="Times New Roman" pitchFamily="18" charset="0"/>
              </a:rPr>
              <a:t>variables that are not related to the purpose of the study but may affect the dependent variable. It leads to error in study.</a:t>
            </a:r>
          </a:p>
          <a:p>
            <a:pPr algn="just">
              <a:buNone/>
            </a:pPr>
            <a:r>
              <a:rPr lang="en-US" dirty="0">
                <a:latin typeface="Times New Roman" pitchFamily="18" charset="0"/>
                <a:cs typeface="Times New Roman" pitchFamily="18" charset="0"/>
              </a:rPr>
              <a:t>3. Control: Minimize the influence of Extraneous variable on the study.</a:t>
            </a:r>
          </a:p>
          <a:p>
            <a:pPr algn="just">
              <a:buNone/>
            </a:pPr>
            <a:r>
              <a:rPr lang="en-US" dirty="0">
                <a:latin typeface="Times New Roman" pitchFamily="18" charset="0"/>
                <a:cs typeface="Times New Roman" pitchFamily="18" charset="0"/>
              </a:rPr>
              <a:t>4. Confounded relationship: When the dependent variable is not free from Extraneous variable</a:t>
            </a:r>
            <a:r>
              <a:rPr lang="en-US" dirty="0" smtClean="0">
                <a:latin typeface="Times New Roman" pitchFamily="18" charset="0"/>
                <a:cs typeface="Times New Roman" pitchFamily="18" charset="0"/>
              </a:rPr>
              <a:t>.</a:t>
            </a:r>
          </a:p>
          <a:p>
            <a:pPr algn="just">
              <a:buNone/>
            </a:pPr>
            <a:r>
              <a:rPr lang="en-IN" dirty="0" smtClean="0">
                <a:latin typeface="Times New Roman" pitchFamily="18" charset="0"/>
                <a:cs typeface="Times New Roman" pitchFamily="18" charset="0"/>
              </a:rPr>
              <a:t>Types of Experimental Design:</a:t>
            </a:r>
          </a:p>
        </p:txBody>
      </p:sp>
      <p:sp>
        <p:nvSpPr>
          <p:cNvPr id="4" name="Rectangle 3"/>
          <p:cNvSpPr/>
          <p:nvPr/>
        </p:nvSpPr>
        <p:spPr>
          <a:xfrm>
            <a:off x="820116" y="4555118"/>
            <a:ext cx="6096000" cy="1569660"/>
          </a:xfrm>
          <a:prstGeom prst="rect">
            <a:avLst/>
          </a:prstGeom>
        </p:spPr>
        <p:txBody>
          <a:bodyPr>
            <a:spAutoFit/>
          </a:bodyPr>
          <a:lstStyle/>
          <a:p>
            <a:pPr marL="514350" indent="-514350" algn="just"/>
            <a:r>
              <a:rPr lang="en-IN" sz="2400" b="1" dirty="0" smtClean="0">
                <a:latin typeface="Times New Roman" pitchFamily="18" charset="0"/>
                <a:cs typeface="Times New Roman" pitchFamily="18" charset="0"/>
              </a:rPr>
              <a:t>Types of experimental Research Designs</a:t>
            </a:r>
          </a:p>
          <a:p>
            <a:pPr marL="514350" indent="-514350" algn="just">
              <a:buAutoNum type="arabicPeriod"/>
            </a:pPr>
            <a:r>
              <a:rPr lang="en-IN" sz="2400" dirty="0" smtClean="0">
                <a:latin typeface="Times New Roman" pitchFamily="18" charset="0"/>
                <a:cs typeface="Times New Roman" pitchFamily="18" charset="0"/>
              </a:rPr>
              <a:t>Pre-Experimental Research Design</a:t>
            </a:r>
          </a:p>
          <a:p>
            <a:pPr marL="514350" indent="-514350" algn="just">
              <a:buAutoNum type="arabicPeriod"/>
            </a:pPr>
            <a:r>
              <a:rPr lang="en-IN" sz="2400" dirty="0" smtClean="0">
                <a:latin typeface="Times New Roman" pitchFamily="18" charset="0"/>
                <a:cs typeface="Times New Roman" pitchFamily="18" charset="0"/>
              </a:rPr>
              <a:t>True- Experimental Research Design</a:t>
            </a:r>
          </a:p>
          <a:p>
            <a:pPr marL="514350" indent="-514350" algn="just">
              <a:buAutoNum type="arabicPeriod"/>
            </a:pPr>
            <a:r>
              <a:rPr lang="en-IN" sz="2400" dirty="0" smtClean="0">
                <a:latin typeface="Times New Roman" pitchFamily="18" charset="0"/>
                <a:cs typeface="Times New Roman" pitchFamily="18" charset="0"/>
              </a:rPr>
              <a:t>Quasi Experimental Research Design</a:t>
            </a:r>
            <a:endParaRPr lang="en-US" sz="2400" dirty="0">
              <a:latin typeface="Times New Roman" pitchFamily="18" charset="0"/>
              <a:cs typeface="Times New Roman" pitchFamily="18" charset="0"/>
            </a:endParaRPr>
          </a:p>
        </p:txBody>
      </p:sp>
    </p:spTree>
    <p:extLst>
      <p:ext uri="{BB962C8B-B14F-4D97-AF65-F5344CB8AC3E}">
        <p14:creationId xmlns="" xmlns:p14="http://schemas.microsoft.com/office/powerpoint/2010/main" val="1729440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7545"/>
            <a:ext cx="10515600" cy="998172"/>
          </a:xfrm>
        </p:spPr>
        <p:txBody>
          <a:bodyPr/>
          <a:lstStyle/>
          <a:p>
            <a:r>
              <a:rPr lang="en-IN" dirty="0">
                <a:latin typeface="Times New Roman" pitchFamily="18" charset="0"/>
                <a:cs typeface="Times New Roman" pitchFamily="18" charset="0"/>
              </a:rPr>
              <a:t>Types of Experimental Research Designs</a:t>
            </a:r>
          </a:p>
        </p:txBody>
      </p:sp>
      <p:sp>
        <p:nvSpPr>
          <p:cNvPr id="4" name="Rectangle 3"/>
          <p:cNvSpPr/>
          <p:nvPr/>
        </p:nvSpPr>
        <p:spPr>
          <a:xfrm>
            <a:off x="897775" y="1047487"/>
            <a:ext cx="10623665" cy="2419124"/>
          </a:xfrm>
          <a:prstGeom prst="rect">
            <a:avLst/>
          </a:prstGeom>
        </p:spPr>
        <p:txBody>
          <a:bodyPr wrap="square">
            <a:spAutoFit/>
          </a:bodyPr>
          <a:lstStyle/>
          <a:p>
            <a:pPr marL="514350" indent="-514350" algn="just">
              <a:lnSpc>
                <a:spcPct val="120000"/>
              </a:lnSpc>
              <a:buNone/>
            </a:pPr>
            <a:r>
              <a:rPr lang="en-US" b="1" dirty="0" smtClean="0">
                <a:latin typeface="Times New Roman" pitchFamily="18" charset="0"/>
                <a:cs typeface="Times New Roman" pitchFamily="18" charset="0"/>
              </a:rPr>
              <a:t>1. Pre-experimental Research Design: </a:t>
            </a:r>
            <a:r>
              <a:rPr lang="en-US" dirty="0" smtClean="0">
                <a:latin typeface="Times New Roman" pitchFamily="18" charset="0"/>
                <a:cs typeface="Times New Roman" pitchFamily="18" charset="0"/>
              </a:rPr>
              <a:t>A research study could conduct pre-experimental research design when a group or many groups are under observation after implementing factors of cause and effect of the research. The pre-experimental design will help researchers understand whether further investigation is necessary for the groups under observation.</a:t>
            </a:r>
          </a:p>
          <a:p>
            <a:pPr marL="514350" indent="-514350" algn="just">
              <a:lnSpc>
                <a:spcPct val="120000"/>
              </a:lnSpc>
              <a:buNone/>
            </a:pPr>
            <a:r>
              <a:rPr lang="en-US" b="1" dirty="0" smtClean="0"/>
              <a:t>Example:</a:t>
            </a:r>
            <a:r>
              <a:rPr lang="en-US" dirty="0" smtClean="0"/>
              <a:t/>
            </a:r>
            <a:br>
              <a:rPr lang="en-US" dirty="0" smtClean="0"/>
            </a:br>
            <a:r>
              <a:rPr lang="en-US" dirty="0" smtClean="0">
                <a:latin typeface="Times New Roman" pitchFamily="18" charset="0"/>
                <a:cs typeface="Times New Roman" pitchFamily="18" charset="0"/>
              </a:rPr>
              <a:t>A teacher introduces a new teaching method to one class and observes students’ performance after one month.</a:t>
            </a:r>
            <a:endParaRPr lang="en-US" dirty="0">
              <a:latin typeface="Times New Roman" pitchFamily="18" charset="0"/>
              <a:cs typeface="Times New Roman" pitchFamily="18" charset="0"/>
            </a:endParaRPr>
          </a:p>
        </p:txBody>
      </p:sp>
      <p:sp>
        <p:nvSpPr>
          <p:cNvPr id="5" name="Rectangle 4"/>
          <p:cNvSpPr/>
          <p:nvPr/>
        </p:nvSpPr>
        <p:spPr>
          <a:xfrm>
            <a:off x="881158" y="3757647"/>
            <a:ext cx="10781607" cy="3014736"/>
          </a:xfrm>
          <a:prstGeom prst="rect">
            <a:avLst/>
          </a:prstGeom>
        </p:spPr>
        <p:txBody>
          <a:bodyPr wrap="square">
            <a:spAutoFit/>
          </a:bodyPr>
          <a:lstStyle/>
          <a:p>
            <a:pPr marL="514350" indent="-514350" algn="just">
              <a:lnSpc>
                <a:spcPct val="120000"/>
              </a:lnSpc>
              <a:buNone/>
            </a:pPr>
            <a:r>
              <a:rPr lang="en-US" sz="2000" b="1" dirty="0" smtClean="0">
                <a:latin typeface="Times New Roman" pitchFamily="18" charset="0"/>
                <a:cs typeface="Times New Roman" pitchFamily="18" charset="0"/>
              </a:rPr>
              <a:t>2. True Experimental Research Design: </a:t>
            </a:r>
            <a:r>
              <a:rPr lang="en-US" sz="2000" dirty="0" smtClean="0">
                <a:latin typeface="Times New Roman" pitchFamily="18" charset="0"/>
                <a:cs typeface="Times New Roman" pitchFamily="18" charset="0"/>
              </a:rPr>
              <a:t>A true experimental research design relies on statistical analysis to prove or disprove a researcher’s hypothesis. It is one of the most accurate forms of research because it provides specific scientific evidence. Furthermore, out of all the types of experimental designs, only a true experimental design can establish a cause-effect relationship within a group.</a:t>
            </a:r>
          </a:p>
          <a:p>
            <a:pPr marL="514350" indent="-514350" algn="just">
              <a:lnSpc>
                <a:spcPct val="120000"/>
              </a:lnSpc>
              <a:buNone/>
            </a:pPr>
            <a:r>
              <a:rPr lang="en-US" sz="2000" b="1" dirty="0" smtClean="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A pharmaceutical company randomly divides patients into two groups: one receives a new medicine, while the other receives a placebo to measure the medicine’s effectiveness.</a:t>
            </a:r>
            <a:endParaRPr lang="en-US" sz="2000" dirty="0">
              <a:latin typeface="Times New Roman" pitchFamily="18" charset="0"/>
              <a:cs typeface="Times New Roman" pitchFamily="18" charset="0"/>
            </a:endParaRPr>
          </a:p>
        </p:txBody>
      </p:sp>
    </p:spTree>
    <p:extLst>
      <p:ext uri="{BB962C8B-B14F-4D97-AF65-F5344CB8AC3E}">
        <p14:creationId xmlns="" xmlns:p14="http://schemas.microsoft.com/office/powerpoint/2010/main" val="14814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 calcmode="lin" valueType="num">
                                      <p:cBhvr additive="base">
                                        <p:cTn id="1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 calcmode="lin" valueType="num">
                                      <p:cBhvr additive="base">
                                        <p:cTn id="2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615142" y="1022355"/>
            <a:ext cx="10738658" cy="2145309"/>
          </a:xfrm>
        </p:spPr>
        <p:txBody>
          <a:bodyPr>
            <a:noAutofit/>
          </a:bodyPr>
          <a:lstStyle/>
          <a:p>
            <a:pPr marL="514350" indent="-514350" algn="just">
              <a:lnSpc>
                <a:spcPct val="120000"/>
              </a:lnSpc>
              <a:buNone/>
            </a:pPr>
            <a:r>
              <a:rPr lang="en-US" sz="2000" b="1" dirty="0" smtClean="0">
                <a:latin typeface="Times New Roman" pitchFamily="18" charset="0"/>
                <a:cs typeface="Times New Roman" pitchFamily="18" charset="0"/>
              </a:rPr>
              <a:t>3. Quasi-experimental </a:t>
            </a:r>
            <a:r>
              <a:rPr lang="en-US" sz="2000" b="1" dirty="0">
                <a:latin typeface="Times New Roman" pitchFamily="18" charset="0"/>
                <a:cs typeface="Times New Roman" pitchFamily="18" charset="0"/>
              </a:rPr>
              <a:t>Research Design: </a:t>
            </a:r>
            <a:r>
              <a:rPr lang="en-US" sz="2000" dirty="0">
                <a:latin typeface="Times New Roman" pitchFamily="18" charset="0"/>
                <a:cs typeface="Times New Roman" pitchFamily="18" charset="0"/>
              </a:rPr>
              <a:t>The word “Quasi” means similarity. A quasi-experimental design is similar to a true experimental design. However, the difference between the two is the assignment of the control group. In this research design, an independent variable is manipulated, but the participants of a group are not randomly assigned. This type of research design is used in field settings where random assignment is either irrelevant or not required</a:t>
            </a:r>
            <a:r>
              <a:rPr lang="en-US" sz="2000" dirty="0" smtClean="0">
                <a:latin typeface="Times New Roman" pitchFamily="18" charset="0"/>
                <a:cs typeface="Times New Roman" pitchFamily="18" charset="0"/>
              </a:rPr>
              <a:t>.</a:t>
            </a:r>
          </a:p>
          <a:p>
            <a:pPr marL="514350" indent="-514350" algn="just">
              <a:lnSpc>
                <a:spcPct val="120000"/>
              </a:lnSpc>
              <a:buNone/>
            </a:pPr>
            <a:r>
              <a:rPr lang="en-US" sz="2000" b="1" dirty="0" smtClean="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A school compares the academic performance of two existing classes where one class uses smart boards and the other follows traditional teaching methods.</a:t>
            </a:r>
          </a:p>
          <a:p>
            <a:pPr marL="514350" indent="-514350" algn="just">
              <a:lnSpc>
                <a:spcPct val="120000"/>
              </a:lnSpc>
              <a:buNone/>
            </a:pPr>
            <a:endParaRPr lang="en-US" sz="2000" dirty="0" smtClean="0">
              <a:latin typeface="Times New Roman" pitchFamily="18" charset="0"/>
              <a:cs typeface="Times New Roman" pitchFamily="18" charset="0"/>
            </a:endParaRPr>
          </a:p>
          <a:p>
            <a:pPr marL="514350" indent="-514350" algn="just">
              <a:lnSpc>
                <a:spcPct val="120000"/>
              </a:lnSpc>
              <a:buNone/>
            </a:pPr>
            <a:endParaRPr lang="en-US" sz="2000" b="1"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pPr marL="514350" indent="-514350" algn="just">
              <a:buAutoNum type="arabicPeriod"/>
            </a:pPr>
            <a:endParaRPr lang="en-IN" sz="2000" dirty="0" smtClean="0">
              <a:latin typeface="Times New Roman" pitchFamily="18" charset="0"/>
              <a:cs typeface="Times New Roman" pitchFamily="18" charset="0"/>
            </a:endParaRPr>
          </a:p>
          <a:p>
            <a:pPr marL="514350" indent="-514350" algn="just">
              <a:buAutoNum type="arabicPeriod"/>
            </a:pPr>
            <a:endParaRPr lang="en-US" sz="2000" dirty="0">
              <a:latin typeface="Times New Roman"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0591"/>
          </a:xfrm>
        </p:spPr>
        <p:txBody>
          <a:bodyPr>
            <a:normAutofit fontScale="90000"/>
          </a:bodyPr>
          <a:lstStyle/>
          <a:p>
            <a:r>
              <a:rPr lang="en-IN" dirty="0"/>
              <a:t>Advantages of ERD</a:t>
            </a:r>
          </a:p>
        </p:txBody>
      </p:sp>
      <p:sp>
        <p:nvSpPr>
          <p:cNvPr id="3" name="Content Placeholder 2"/>
          <p:cNvSpPr>
            <a:spLocks noGrp="1"/>
          </p:cNvSpPr>
          <p:nvPr>
            <p:ph idx="1"/>
          </p:nvPr>
        </p:nvSpPr>
        <p:spPr>
          <a:xfrm>
            <a:off x="838200" y="1055716"/>
            <a:ext cx="10515600" cy="5121247"/>
          </a:xfrm>
        </p:spPr>
        <p:txBody>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Researchers have firm control over variables to obtain results.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subject does not impact the effectiveness of experimental research. Anyone can implement it for research purposes.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results are specific.</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Post results analysis, research findings from the same dataset can be repurposed for similar research ideas.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Researchers can identify the cause and effect of the hypothesis and further analyze this relationship to determine in-depth ideas.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Experimental research makes an ideal starting point. The collected data could be used as a foundation to build new research ideas for further studies.</a:t>
            </a:r>
          </a:p>
          <a:p>
            <a:pPr marL="0" indent="0">
              <a:buNone/>
            </a:pPr>
            <a:endParaRPr lang="en-IN" dirty="0"/>
          </a:p>
        </p:txBody>
      </p:sp>
    </p:spTree>
    <p:extLst>
      <p:ext uri="{BB962C8B-B14F-4D97-AF65-F5344CB8AC3E}">
        <p14:creationId xmlns="" xmlns:p14="http://schemas.microsoft.com/office/powerpoint/2010/main" val="1627048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1451" y="365126"/>
            <a:ext cx="10515600" cy="657340"/>
          </a:xfrm>
        </p:spPr>
        <p:txBody>
          <a:bodyPr>
            <a:normAutofit fontScale="90000"/>
          </a:bodyPr>
          <a:lstStyle/>
          <a:p>
            <a:r>
              <a:rPr lang="en-IN" dirty="0" smtClean="0">
                <a:latin typeface="Times New Roman" pitchFamily="18" charset="0"/>
                <a:cs typeface="Times New Roman" pitchFamily="18" charset="0"/>
              </a:rPr>
              <a:t>Class preparation: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71451" y="1030778"/>
            <a:ext cx="10515600" cy="5146185"/>
          </a:xfrm>
        </p:spPr>
        <p:txBody>
          <a:bodyPr/>
          <a:lstStyle/>
          <a:p>
            <a:pPr algn="just">
              <a:buNone/>
            </a:pPr>
            <a:r>
              <a:rPr lang="en-IN" dirty="0" smtClean="0">
                <a:latin typeface="Times New Roman" pitchFamily="18" charset="0"/>
                <a:cs typeface="Times New Roman" pitchFamily="18" charset="0"/>
              </a:rPr>
              <a:t>	Which of the research design is applicable for the following topics. Explain with reasons and also draft a research design for each of the following.</a:t>
            </a:r>
          </a:p>
          <a:p>
            <a:pPr marL="514350" indent="-514350" algn="just">
              <a:buAutoNum type="arabicPeriod"/>
            </a:pPr>
            <a:r>
              <a:rPr lang="en-US" dirty="0" smtClean="0">
                <a:latin typeface="Times New Roman" pitchFamily="18" charset="0"/>
                <a:cs typeface="Times New Roman" pitchFamily="18" charset="0"/>
              </a:rPr>
              <a:t>Exploring the Impact of Artificial Intelligence Tools on College    </a:t>
            </a:r>
          </a:p>
          <a:p>
            <a:pPr marL="514350" indent="-514350" algn="just">
              <a:buNone/>
            </a:pPr>
            <a:r>
              <a:rPr lang="en-US" dirty="0" smtClean="0">
                <a:latin typeface="Times New Roman" pitchFamily="18" charset="0"/>
                <a:cs typeface="Times New Roman" pitchFamily="18" charset="0"/>
              </a:rPr>
              <a:t>      Students’ Learning Habits.</a:t>
            </a:r>
          </a:p>
          <a:p>
            <a:pPr marL="514350" indent="-514350" algn="just">
              <a:buNone/>
            </a:pPr>
            <a:r>
              <a:rPr lang="en-IN" dirty="0" smtClean="0">
                <a:latin typeface="Times New Roman" pitchFamily="18" charset="0"/>
                <a:cs typeface="Times New Roman" pitchFamily="18" charset="0"/>
              </a:rPr>
              <a:t>2. </a:t>
            </a:r>
            <a:r>
              <a:rPr lang="en-US" dirty="0" smtClean="0">
                <a:latin typeface="Times New Roman" pitchFamily="18" charset="0"/>
                <a:cs typeface="Times New Roman" pitchFamily="18" charset="0"/>
              </a:rPr>
              <a:t>A Study on Customer Satisfaction Towards Online Food Delivery Services.</a:t>
            </a:r>
          </a:p>
          <a:p>
            <a:pPr marL="514350" indent="-514350" algn="just">
              <a:buNone/>
            </a:pPr>
            <a:r>
              <a:rPr lang="en-IN" dirty="0" smtClean="0">
                <a:latin typeface="Times New Roman" pitchFamily="18" charset="0"/>
                <a:cs typeface="Times New Roman" pitchFamily="18" charset="0"/>
              </a:rPr>
              <a:t>3. </a:t>
            </a:r>
            <a:r>
              <a:rPr lang="en-US" dirty="0" smtClean="0">
                <a:latin typeface="Times New Roman" pitchFamily="18" charset="0"/>
                <a:cs typeface="Times New Roman" pitchFamily="18" charset="0"/>
              </a:rPr>
              <a:t>Impact of Artificial Intelligence (AI)-Based Recruitment Tools on the Hiring Efficiency of Organizations.</a:t>
            </a:r>
          </a:p>
          <a:p>
            <a:pPr marL="514350" indent="-514350" algn="just">
              <a:buNone/>
            </a:pPr>
            <a:endParaRPr lang="en-US" dirty="0" smtClean="0">
              <a:latin typeface="Times New Roman" pitchFamily="18" charset="0"/>
              <a:cs typeface="Times New Roman" pitchFamily="18" charset="0"/>
            </a:endParaRPr>
          </a:p>
          <a:p>
            <a:pPr algn="just">
              <a:buNone/>
            </a:pPr>
            <a:endParaRPr lang="en-US"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1195"/>
          </a:xfrm>
        </p:spPr>
        <p:txBody>
          <a:bodyPr>
            <a:normAutofit fontScale="90000"/>
          </a:bodyPr>
          <a:lstStyle/>
          <a:p>
            <a:r>
              <a:rPr lang="en-US" dirty="0"/>
              <a:t>Errors in Research Design</a:t>
            </a:r>
            <a:endParaRPr lang="en-IN" dirty="0"/>
          </a:p>
        </p:txBody>
      </p:sp>
      <p:sp>
        <p:nvSpPr>
          <p:cNvPr id="3" name="Content Placeholder 2"/>
          <p:cNvSpPr>
            <a:spLocks noGrp="1"/>
          </p:cNvSpPr>
          <p:nvPr>
            <p:ph idx="1"/>
          </p:nvPr>
        </p:nvSpPr>
        <p:spPr>
          <a:xfrm>
            <a:off x="838200" y="1036320"/>
            <a:ext cx="10515600" cy="5140643"/>
          </a:xfrm>
        </p:spPr>
        <p:txBody>
          <a:bodyPr>
            <a:normAutofit/>
          </a:bodyPr>
          <a:lstStyle/>
          <a:p>
            <a:pPr marL="0" indent="0" algn="just">
              <a:buNone/>
            </a:pPr>
            <a:r>
              <a:rPr lang="en-US" sz="3200" dirty="0">
                <a:latin typeface="Times New Roman" panose="02020603050405020304" pitchFamily="18" charset="0"/>
                <a:cs typeface="Times New Roman" panose="02020603050405020304" pitchFamily="18" charset="0"/>
              </a:rPr>
              <a:t>A useful way of looking at the research process is that involves the management of errors. At all stages, from problem formulation to report presentation errors can arise. It is rare that a research project will be error free. Consequently the research designer must adopt a strategy for managing and maintaining the error. We shall first look at the component of errors and then the type of errors.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940612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6989"/>
          </a:xfrm>
        </p:spPr>
        <p:txBody>
          <a:bodyPr/>
          <a:lstStyle/>
          <a:p>
            <a:r>
              <a:rPr lang="en-US" dirty="0"/>
              <a:t>Components of Errors in </a:t>
            </a:r>
            <a:r>
              <a:rPr lang="en-US" dirty="0" smtClean="0"/>
              <a:t>Research</a:t>
            </a:r>
            <a:endParaRPr lang="en-IN" dirty="0"/>
          </a:p>
        </p:txBody>
      </p:sp>
      <p:sp>
        <p:nvSpPr>
          <p:cNvPr id="3" name="Content Placeholder 2"/>
          <p:cNvSpPr>
            <a:spLocks noGrp="1"/>
          </p:cNvSpPr>
          <p:nvPr>
            <p:ph idx="1"/>
          </p:nvPr>
        </p:nvSpPr>
        <p:spPr>
          <a:xfrm>
            <a:off x="838200" y="1132114"/>
            <a:ext cx="10515600" cy="5044849"/>
          </a:xfrm>
        </p:spPr>
        <p:txBody>
          <a:bodyPr>
            <a:normAutofit/>
          </a:bodyPr>
          <a:lstStyle/>
          <a:p>
            <a:pPr marL="514350" indent="-514350" algn="just">
              <a:buAutoNum type="arabicPeriod"/>
            </a:pPr>
            <a:r>
              <a:rPr lang="en-US" dirty="0">
                <a:latin typeface="Times New Roman" panose="02020603050405020304" pitchFamily="18" charset="0"/>
                <a:cs typeface="Times New Roman" panose="02020603050405020304" pitchFamily="18" charset="0"/>
              </a:rPr>
              <a:t>Sampling Error: refers to the variable error resulting from chance selection of elements from population as per the sampling plan. Since it introduces random variability into the precision with which sample statistics are calculated it is also called random sampling error.</a:t>
            </a:r>
          </a:p>
          <a:p>
            <a:pPr marL="514350" indent="-514350" algn="just">
              <a:buAutoNum type="arabicPeriod"/>
            </a:pPr>
            <a:r>
              <a:rPr lang="en-US" dirty="0">
                <a:latin typeface="Times New Roman" panose="02020603050405020304" pitchFamily="18" charset="0"/>
                <a:cs typeface="Times New Roman" panose="02020603050405020304" pitchFamily="18" charset="0"/>
              </a:rPr>
              <a:t>Non Sampling error.: consist s of all other error associated with the research project .Such errors are diverse in nature. They are oft en thought of as bias. However bias is a type of systematic error which enters into the process because of un- calibrated instruments or prejudices of the researcher.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863409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5697"/>
          </a:xfrm>
        </p:spPr>
        <p:txBody>
          <a:bodyPr/>
          <a:lstStyle/>
          <a:p>
            <a:r>
              <a:rPr lang="en-US" dirty="0"/>
              <a:t>Types of Errors in research </a:t>
            </a:r>
            <a:endParaRPr lang="en-IN" dirty="0"/>
          </a:p>
        </p:txBody>
      </p:sp>
      <p:sp>
        <p:nvSpPr>
          <p:cNvPr id="3" name="Content Placeholder 2"/>
          <p:cNvSpPr>
            <a:spLocks noGrp="1"/>
          </p:cNvSpPr>
          <p:nvPr>
            <p:ph idx="1"/>
          </p:nvPr>
        </p:nvSpPr>
        <p:spPr>
          <a:xfrm>
            <a:off x="838200" y="1271451"/>
            <a:ext cx="10515600" cy="4905512"/>
          </a:xfrm>
        </p:spPr>
        <p:txBody>
          <a:bodyPr>
            <a:normAutofit lnSpcReduction="10000"/>
          </a:bodyPr>
          <a:lstStyle/>
          <a:p>
            <a:pPr marL="0" indent="0">
              <a:buNone/>
            </a:pPr>
            <a:r>
              <a:rPr lang="en-US" dirty="0"/>
              <a:t>A. Sampling error</a:t>
            </a:r>
          </a:p>
          <a:p>
            <a:pPr marL="514350" indent="-514350">
              <a:buAutoNum type="arabicPeriod"/>
            </a:pPr>
            <a:r>
              <a:rPr lang="en-US" dirty="0"/>
              <a:t>Population specification error.</a:t>
            </a:r>
          </a:p>
          <a:p>
            <a:pPr marL="514350" indent="-514350">
              <a:buAutoNum type="arabicPeriod"/>
            </a:pPr>
            <a:r>
              <a:rPr lang="en-US" dirty="0"/>
              <a:t>Sampling Selection error</a:t>
            </a:r>
          </a:p>
          <a:p>
            <a:pPr marL="514350" indent="-514350">
              <a:buAutoNum type="arabicPeriod"/>
            </a:pPr>
            <a:r>
              <a:rPr lang="en-US" dirty="0"/>
              <a:t>Sampling frame error</a:t>
            </a:r>
          </a:p>
          <a:p>
            <a:pPr marL="514350" indent="-514350">
              <a:buAutoNum type="arabicPeriod"/>
            </a:pPr>
            <a:r>
              <a:rPr lang="en-US" dirty="0"/>
              <a:t>Non Response error.</a:t>
            </a:r>
          </a:p>
          <a:p>
            <a:pPr marL="514350" indent="-514350">
              <a:buAutoNum type="arabicPeriod"/>
            </a:pPr>
            <a:r>
              <a:rPr lang="en-US" dirty="0"/>
              <a:t>Surrogate Information Error.</a:t>
            </a:r>
          </a:p>
          <a:p>
            <a:pPr marL="0" indent="0">
              <a:buNone/>
            </a:pPr>
            <a:r>
              <a:rPr lang="en-US" dirty="0"/>
              <a:t>B . Non Sampling Error.</a:t>
            </a:r>
          </a:p>
          <a:p>
            <a:pPr marL="514350" indent="-514350">
              <a:buAutoNum type="arabicPeriod"/>
            </a:pPr>
            <a:r>
              <a:rPr lang="en-US" dirty="0"/>
              <a:t>Measurement error</a:t>
            </a:r>
          </a:p>
          <a:p>
            <a:pPr marL="514350" indent="-514350">
              <a:buAutoNum type="arabicPeriod"/>
            </a:pPr>
            <a:r>
              <a:rPr lang="en-US" dirty="0"/>
              <a:t>Experimental Error</a:t>
            </a:r>
          </a:p>
          <a:p>
            <a:pPr algn="ctr"/>
            <a:r>
              <a:rPr lang="en-US" dirty="0">
                <a:solidFill>
                  <a:srgbClr val="FF0000"/>
                </a:solidFill>
              </a:rPr>
              <a:t>Notes below</a:t>
            </a:r>
          </a:p>
          <a:p>
            <a:pPr marL="514350" indent="-514350">
              <a:buAutoNum type="arabicPeriod"/>
            </a:pPr>
            <a:endParaRPr lang="en-US" dirty="0"/>
          </a:p>
          <a:p>
            <a:pPr marL="514350" indent="-514350">
              <a:buAutoNum type="arabicPeriod"/>
            </a:pPr>
            <a:endParaRPr lang="en-IN" dirty="0"/>
          </a:p>
        </p:txBody>
      </p:sp>
    </p:spTree>
    <p:extLst>
      <p:ext uri="{BB962C8B-B14F-4D97-AF65-F5344CB8AC3E}">
        <p14:creationId xmlns="" xmlns:p14="http://schemas.microsoft.com/office/powerpoint/2010/main" val="1559988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46509"/>
            <a:ext cx="10515600" cy="1325563"/>
          </a:xfrm>
        </p:spPr>
        <p:txBody>
          <a:bodyPr/>
          <a:lstStyle/>
          <a:p>
            <a:pPr algn="ctr"/>
            <a:r>
              <a:rPr lang="en-US" dirty="0"/>
              <a:t>Thank You</a:t>
            </a:r>
            <a:endParaRPr lang="en-IN" dirty="0"/>
          </a:p>
        </p:txBody>
      </p:sp>
    </p:spTree>
    <p:extLst>
      <p:ext uri="{BB962C8B-B14F-4D97-AF65-F5344CB8AC3E}">
        <p14:creationId xmlns="" xmlns:p14="http://schemas.microsoft.com/office/powerpoint/2010/main" val="3371287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1572</TotalTime>
  <Words>1769</Words>
  <Application>Microsoft Office PowerPoint</Application>
  <PresentationFormat>Custom</PresentationFormat>
  <Paragraphs>202</Paragraphs>
  <Slides>24</Slides>
  <Notes>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Module-2 Business Research Design</vt:lpstr>
      <vt:lpstr>Discussion Points.</vt:lpstr>
      <vt:lpstr>What is Research design?</vt:lpstr>
      <vt:lpstr>Research design would answer the following questions  :</vt:lpstr>
      <vt:lpstr>Parts of  of Research Design:</vt:lpstr>
      <vt:lpstr>Criteria of Good Research Design</vt:lpstr>
      <vt:lpstr>Types of Research Design</vt:lpstr>
      <vt:lpstr>Types of exploratory research design</vt:lpstr>
      <vt:lpstr>Uses of Exploratory Research design</vt:lpstr>
      <vt:lpstr>2. Descriptive Research Design (Diagnostic/ Conclusive )</vt:lpstr>
      <vt:lpstr>Types of Descriptive Research Design</vt:lpstr>
      <vt:lpstr>Uses of Descriptive Research</vt:lpstr>
      <vt:lpstr>Slide 13</vt:lpstr>
      <vt:lpstr> 3. Experimental Research Design </vt:lpstr>
      <vt:lpstr>Slide 15</vt:lpstr>
      <vt:lpstr>Concepts relating to Experimental Research Design</vt:lpstr>
      <vt:lpstr>Types of Experimental Research Designs</vt:lpstr>
      <vt:lpstr>Slide 18</vt:lpstr>
      <vt:lpstr>Advantages of ERD</vt:lpstr>
      <vt:lpstr>Class preparation:</vt:lpstr>
      <vt:lpstr>Errors in Research Design</vt:lpstr>
      <vt:lpstr>Components of Errors in Research</vt:lpstr>
      <vt:lpstr>Types of Errors in research </vt:lpstr>
      <vt:lpstr>Thank You</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Module-2 Business Research Design</dc:title>
  <dc:creator>HP</dc:creator>
  <cp:lastModifiedBy>HP</cp:lastModifiedBy>
  <cp:revision>32</cp:revision>
  <dcterms:created xsi:type="dcterms:W3CDTF">2023-07-06T09:08:08Z</dcterms:created>
  <dcterms:modified xsi:type="dcterms:W3CDTF">2026-05-12T06:30:06Z</dcterms:modified>
</cp:coreProperties>
</file>