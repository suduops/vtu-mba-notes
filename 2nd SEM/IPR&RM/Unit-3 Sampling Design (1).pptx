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13" r:id="rId3"/>
    <p:sldId id="257" r:id="rId4"/>
    <p:sldId id="259" r:id="rId5"/>
    <p:sldId id="260" r:id="rId6"/>
    <p:sldId id="263" r:id="rId7"/>
    <p:sldId id="266" r:id="rId8"/>
    <p:sldId id="267" r:id="rId9"/>
    <p:sldId id="272" r:id="rId10"/>
    <p:sldId id="273" r:id="rId11"/>
    <p:sldId id="274" r:id="rId12"/>
    <p:sldId id="275" r:id="rId13"/>
    <p:sldId id="314" r:id="rId14"/>
    <p:sldId id="276" r:id="rId15"/>
    <p:sldId id="279" r:id="rId16"/>
    <p:sldId id="282" r:id="rId17"/>
    <p:sldId id="287" r:id="rId18"/>
    <p:sldId id="293" r:id="rId19"/>
    <p:sldId id="315" r:id="rId20"/>
    <p:sldId id="298" r:id="rId21"/>
    <p:sldId id="297" r:id="rId22"/>
    <p:sldId id="300" r:id="rId23"/>
    <p:sldId id="311" r:id="rId24"/>
    <p:sldId id="302" r:id="rId25"/>
    <p:sldId id="303" r:id="rId26"/>
    <p:sldId id="316" r:id="rId27"/>
    <p:sldId id="317" r:id="rId28"/>
    <p:sldId id="318" r:id="rId29"/>
    <p:sldId id="319" r:id="rId30"/>
    <p:sldId id="320" r:id="rId31"/>
    <p:sldId id="321" r:id="rId32"/>
    <p:sldId id="312"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5852" autoAdjust="0"/>
  </p:normalViewPr>
  <p:slideViewPr>
    <p:cSldViewPr>
      <p:cViewPr varScale="1">
        <p:scale>
          <a:sx n="115" d="100"/>
          <a:sy n="115" d="100"/>
        </p:scale>
        <p:origin x="-1524"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29C4CC-E585-4474-B3C1-2F9CC27EFA4E}" type="datetimeFigureOut">
              <a:rPr lang="en-US" smtClean="0"/>
              <a:pPr/>
              <a:t>5/13/2026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2D5913-3556-4C36-951A-AABA39447C42}" type="slidenum">
              <a:rPr lang="en-US" smtClean="0"/>
              <a:pPr/>
              <a:t>‹#›</a:t>
            </a:fld>
            <a:endParaRPr lang="en-US"/>
          </a:p>
        </p:txBody>
      </p:sp>
    </p:spTree>
    <p:extLst>
      <p:ext uri="{BB962C8B-B14F-4D97-AF65-F5344CB8AC3E}">
        <p14:creationId xmlns:p14="http://schemas.microsoft.com/office/powerpoint/2010/main" xmlns="" val="277839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 xmlns:a16="http://schemas.microsoft.com/office/drawing/2014/main" id="{7A0BCB90-49D2-4F23-B692-ED1753BCD0E1}"/>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ED1593-4BC5-48E3-B453-9678B7EDF296}" type="slidenum">
              <a:rPr lang="en-US" altLang="en-US"/>
              <a:pPr eaLnBrk="1" hangingPunct="1"/>
              <a:t>8</a:t>
            </a:fld>
            <a:endParaRPr lang="en-US" altLang="en-US"/>
          </a:p>
        </p:txBody>
      </p:sp>
      <p:sp>
        <p:nvSpPr>
          <p:cNvPr id="63491" name="Rectangle 2">
            <a:extLst>
              <a:ext uri="{FF2B5EF4-FFF2-40B4-BE49-F238E27FC236}">
                <a16:creationId xmlns="" xmlns:a16="http://schemas.microsoft.com/office/drawing/2014/main" id="{9D7F9795-039C-49C3-BEE9-83B84801F1CA}"/>
              </a:ext>
            </a:extLst>
          </p:cNvPr>
          <p:cNvSpPr>
            <a:spLocks noGrp="1" noRot="1" noChangeAspect="1" noChangeArrowheads="1" noTextEdit="1"/>
          </p:cNvSpPr>
          <p:nvPr>
            <p:ph type="sldImg"/>
          </p:nvPr>
        </p:nvSpPr>
        <p:spPr>
          <a:ln/>
        </p:spPr>
      </p:sp>
      <p:sp>
        <p:nvSpPr>
          <p:cNvPr id="63492" name="Rectangle 3">
            <a:extLst>
              <a:ext uri="{FF2B5EF4-FFF2-40B4-BE49-F238E27FC236}">
                <a16:creationId xmlns="" xmlns:a16="http://schemas.microsoft.com/office/drawing/2014/main" id="{6BC67166-12E0-43AE-A00C-47D36EEBF02C}"/>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Two general approaches to sampling are used in social science research. With </a:t>
            </a:r>
            <a:r>
              <a:rPr lang="en-US" altLang="en-US" i="1">
                <a:latin typeface="Arial" panose="020B0604020202020204" pitchFamily="34" charset="0"/>
              </a:rPr>
              <a:t>probability sampling</a:t>
            </a:r>
            <a:r>
              <a:rPr lang="en-US" altLang="en-US">
                <a:latin typeface="Arial" panose="020B0604020202020204" pitchFamily="34" charset="0"/>
              </a:rPr>
              <a:t>, all elements (e.g., persons, households) in the population have some opportunity of being included in the sample, and the mathematical probability that any one of them will be selected can be calculated. With </a:t>
            </a:r>
            <a:r>
              <a:rPr lang="en-US" altLang="en-US" i="1">
                <a:latin typeface="Arial" panose="020B0604020202020204" pitchFamily="34" charset="0"/>
              </a:rPr>
              <a:t>nonprobability sampling</a:t>
            </a:r>
            <a:r>
              <a:rPr lang="en-US" altLang="en-US">
                <a:latin typeface="Arial" panose="020B0604020202020204" pitchFamily="34" charset="0"/>
              </a:rPr>
              <a:t>, in contrast, population elements are selected on the basis of their availability (e.g., because they volunteered) or because of the researcher's personal judgment that they are representative. The consequence is that an unknown portion of the population is excluded (e.g., those who did not volunteer). One of the most common types of nonprobability sample is called a </a:t>
            </a:r>
            <a:r>
              <a:rPr lang="en-US" altLang="en-US" i="1">
                <a:latin typeface="Arial" panose="020B0604020202020204" pitchFamily="34" charset="0"/>
              </a:rPr>
              <a:t>convenience</a:t>
            </a:r>
            <a:r>
              <a:rPr lang="en-US" altLang="en-US">
                <a:latin typeface="Arial" panose="020B0604020202020204" pitchFamily="34" charset="0"/>
              </a:rPr>
              <a:t> sample – not because such samples are necessarily easy to recruit, but because the researcher uses whatever individuals are available rather than selecting from the entire population. </a:t>
            </a: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Because some members of the population have no chance of being sampled, the extent to which a convenience sample – regardless of its size – actually represents the entire population cannot be known</a:t>
            </a:r>
          </a:p>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xmlns="" val="10690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29</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30</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31</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AFAFA">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AFAFA">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AFAFA">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AFAFA">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AFAFA">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stretch>
            <a:fillRect/>
          </a:stretch>
        </p:blipFill>
        <p:spPr>
          <a:xfrm>
            <a:off x="0" y="0"/>
            <a:ext cx="9144000" cy="6858000"/>
          </a:xfrm>
          <a:prstGeom prst="rect">
            <a:avLst/>
          </a:prstGeom>
        </p:spPr>
      </p:pic>
      <p:sp>
        <p:nvSpPr>
          <p:cNvPr id="3" name="Shape 0"/>
          <p:cNvSpPr/>
          <p:nvPr/>
        </p:nvSpPr>
        <p:spPr>
          <a:xfrm>
            <a:off x="0" y="0"/>
            <a:ext cx="9144000" cy="6858000"/>
          </a:xfrm>
          <a:prstGeom prst="rect">
            <a:avLst/>
          </a:prstGeom>
          <a:solidFill>
            <a:srgbClr val="FAFAF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en.wikipedia.org/wiki/Systematic_sampl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7.sv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5-5.svg"/><Relationship Id="rId5" Type="http://schemas.openxmlformats.org/officeDocument/2006/relationships/image" Target="../media/image-5-3.sv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696200" cy="1066799"/>
          </a:xfrm>
        </p:spPr>
        <p:txBody>
          <a:bodyPr>
            <a:normAutofit fontScale="90000"/>
          </a:bodyPr>
          <a:lstStyle/>
          <a:p>
            <a:r>
              <a:rPr lang="en-GB" dirty="0" smtClean="0">
                <a:latin typeface="Times New Roman" panose="02020603050405020304" pitchFamily="18" charset="0"/>
                <a:cs typeface="Times New Roman" panose="02020603050405020304" pitchFamily="18" charset="0"/>
              </a:rPr>
              <a:t>UNIT-3</a:t>
            </a:r>
            <a:br>
              <a:rPr lang="en-GB" dirty="0" smtClean="0">
                <a:latin typeface="Times New Roman" panose="02020603050405020304" pitchFamily="18" charset="0"/>
                <a:cs typeface="Times New Roman" panose="02020603050405020304" pitchFamily="18" charset="0"/>
              </a:rPr>
            </a:br>
            <a:r>
              <a:rPr lang="en-GB" dirty="0" smtClean="0">
                <a:latin typeface="Times New Roman" panose="02020603050405020304" pitchFamily="18" charset="0"/>
                <a:cs typeface="Times New Roman" panose="02020603050405020304" pitchFamily="18" charset="0"/>
              </a:rPr>
              <a:t>SAMPLING </a:t>
            </a:r>
            <a:r>
              <a:rPr lang="en-GB" dirty="0">
                <a:latin typeface="Times New Roman" panose="02020603050405020304" pitchFamily="18" charset="0"/>
                <a:cs typeface="Times New Roman" panose="02020603050405020304" pitchFamily="18" charset="0"/>
              </a:rPr>
              <a:t>TECHNIQUES</a:t>
            </a:r>
          </a:p>
        </p:txBody>
      </p:sp>
      <p:sp>
        <p:nvSpPr>
          <p:cNvPr id="3" name="Subtitle 2"/>
          <p:cNvSpPr>
            <a:spLocks noGrp="1"/>
          </p:cNvSpPr>
          <p:nvPr>
            <p:ph type="subTitle" idx="1"/>
          </p:nvPr>
        </p:nvSpPr>
        <p:spPr>
          <a:xfrm>
            <a:off x="1371600" y="4724400"/>
            <a:ext cx="6400800" cy="1752600"/>
          </a:xfrm>
        </p:spPr>
        <p:txBody>
          <a:bodyPr>
            <a:normAutofit fontScale="92500" lnSpcReduction="20000"/>
          </a:bodyPr>
          <a:lstStyle/>
          <a:p>
            <a:r>
              <a:rPr lang="en-GB" dirty="0"/>
              <a:t>Dr. Basavaraj </a:t>
            </a:r>
            <a:r>
              <a:rPr lang="en-GB" dirty="0" err="1"/>
              <a:t>S.Kudachimath</a:t>
            </a:r>
            <a:endParaRPr lang="en-GB" dirty="0"/>
          </a:p>
          <a:p>
            <a:r>
              <a:rPr lang="en-GB" dirty="0" smtClean="0"/>
              <a:t>Management </a:t>
            </a:r>
            <a:r>
              <a:rPr lang="en-GB" dirty="0"/>
              <a:t>Studies</a:t>
            </a:r>
          </a:p>
          <a:p>
            <a:r>
              <a:rPr lang="en-GB" dirty="0"/>
              <a:t>Visvesvaraya Technological University Belagavi</a:t>
            </a:r>
          </a:p>
        </p:txBody>
      </p:sp>
      <p:pic>
        <p:nvPicPr>
          <p:cNvPr id="1026" name="Picture 2" descr="Purposive Sampling Definition and Types">
            <a:extLst>
              <a:ext uri="{FF2B5EF4-FFF2-40B4-BE49-F238E27FC236}">
                <a16:creationId xmlns="" xmlns:a16="http://schemas.microsoft.com/office/drawing/2014/main" id="{C357BBC5-ED06-4B6C-B9D6-E4A449CB3992}"/>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47800" y="1447800"/>
            <a:ext cx="6096000" cy="30480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Discussion Points</a:t>
            </a:r>
            <a:endParaRPr lang="en-IN" dirty="0"/>
          </a:p>
        </p:txBody>
      </p:sp>
      <p:sp>
        <p:nvSpPr>
          <p:cNvPr id="3" name="Content Placeholder 2"/>
          <p:cNvSpPr>
            <a:spLocks noGrp="1"/>
          </p:cNvSpPr>
          <p:nvPr>
            <p:ph idx="1"/>
          </p:nvPr>
        </p:nvSpPr>
        <p:spPr/>
        <p:txBody>
          <a:bodyPr>
            <a:normAutofit fontScale="92500" lnSpcReduction="10000"/>
          </a:bodyPr>
          <a:lstStyle/>
          <a:p>
            <a:r>
              <a:rPr lang="en-US" dirty="0">
                <a:latin typeface="Times New Roman" pitchFamily="18" charset="0"/>
                <a:cs typeface="Times New Roman" pitchFamily="18" charset="0"/>
              </a:rPr>
              <a:t>Sampling: Concepts,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Types </a:t>
            </a:r>
            <a:r>
              <a:rPr lang="en-US" dirty="0">
                <a:latin typeface="Times New Roman" pitchFamily="18" charset="0"/>
                <a:cs typeface="Times New Roman" pitchFamily="18" charset="0"/>
              </a:rPr>
              <a:t>of Sampling, </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Probability </a:t>
            </a:r>
            <a:r>
              <a:rPr lang="en-US" b="1" dirty="0">
                <a:latin typeface="Times New Roman" pitchFamily="18" charset="0"/>
                <a:cs typeface="Times New Roman" pitchFamily="18" charset="0"/>
              </a:rPr>
              <a:t>Sampling</a:t>
            </a:r>
            <a:r>
              <a:rPr lang="en-US" dirty="0">
                <a:latin typeface="Times New Roman" pitchFamily="18" charset="0"/>
                <a:cs typeface="Times New Roman" pitchFamily="18" charset="0"/>
              </a:rPr>
              <a:t>: simple random sampling,</a:t>
            </a:r>
          </a:p>
          <a:p>
            <a:r>
              <a:rPr lang="en-IN" dirty="0">
                <a:latin typeface="Times New Roman" pitchFamily="18" charset="0"/>
                <a:cs typeface="Times New Roman" pitchFamily="18" charset="0"/>
              </a:rPr>
              <a:t>systematic sampling, stratified random sampling, cluster sampling,</a:t>
            </a:r>
          </a:p>
          <a:p>
            <a:r>
              <a:rPr lang="en-IN" b="1" dirty="0">
                <a:latin typeface="Times New Roman" pitchFamily="18" charset="0"/>
                <a:cs typeface="Times New Roman" pitchFamily="18" charset="0"/>
              </a:rPr>
              <a:t>Non Probability Sampling: </a:t>
            </a:r>
            <a:r>
              <a:rPr lang="en-IN" dirty="0">
                <a:latin typeface="Times New Roman" pitchFamily="18" charset="0"/>
                <a:cs typeface="Times New Roman" pitchFamily="18" charset="0"/>
              </a:rPr>
              <a:t>convenience sampling- judgmental sampling, snowball sampling, quota</a:t>
            </a:r>
          </a:p>
          <a:p>
            <a:r>
              <a:rPr lang="en-IN" dirty="0">
                <a:latin typeface="Times New Roman" pitchFamily="18" charset="0"/>
                <a:cs typeface="Times New Roman" pitchFamily="18" charset="0"/>
              </a:rPr>
              <a:t>sampling, Errors in sampling.</a:t>
            </a:r>
          </a:p>
        </p:txBody>
      </p:sp>
    </p:spTree>
    <p:extLst>
      <p:ext uri="{BB962C8B-B14F-4D97-AF65-F5344CB8AC3E}">
        <p14:creationId xmlns:p14="http://schemas.microsoft.com/office/powerpoint/2010/main" xmlns="" val="646556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Samling?</a:t>
            </a:r>
          </a:p>
        </p:txBody>
      </p:sp>
      <p:sp>
        <p:nvSpPr>
          <p:cNvPr id="3" name="Content Placeholder 2"/>
          <p:cNvSpPr>
            <a:spLocks noGrp="1"/>
          </p:cNvSpPr>
          <p:nvPr>
            <p:ph idx="1"/>
          </p:nvPr>
        </p:nvSpPr>
        <p:spPr>
          <a:xfrm>
            <a:off x="457200" y="1600200"/>
            <a:ext cx="3657600" cy="4525963"/>
          </a:xfrm>
        </p:spPr>
        <p:txBody>
          <a:bodyPr/>
          <a:lstStyle/>
          <a:p>
            <a:pPr algn="just">
              <a:buNone/>
            </a:pPr>
            <a:r>
              <a:rPr lang="en-GB" dirty="0"/>
              <a:t>	Procedure by which some members of a given population are selected as representatives of the entire population.</a:t>
            </a:r>
          </a:p>
        </p:txBody>
      </p:sp>
      <p:pic>
        <p:nvPicPr>
          <p:cNvPr id="2050" name="Picture 2" descr="What is Random Sampling? - Displayr">
            <a:extLst>
              <a:ext uri="{FF2B5EF4-FFF2-40B4-BE49-F238E27FC236}">
                <a16:creationId xmlns="" xmlns:a16="http://schemas.microsoft.com/office/drawing/2014/main" id="{3605A332-9B10-4DC3-BD15-4247A98B57EF}"/>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876800" y="1752600"/>
            <a:ext cx="3886200" cy="39624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PURPOSE OF SAMPLING</a:t>
            </a:r>
          </a:p>
        </p:txBody>
      </p:sp>
      <p:sp>
        <p:nvSpPr>
          <p:cNvPr id="3" name="Content Placeholder 2"/>
          <p:cNvSpPr>
            <a:spLocks noGrp="1"/>
          </p:cNvSpPr>
          <p:nvPr>
            <p:ph idx="1"/>
          </p:nvPr>
        </p:nvSpPr>
        <p:spPr>
          <a:xfrm>
            <a:off x="457200" y="1600200"/>
            <a:ext cx="4876800" cy="4525963"/>
          </a:xfrm>
        </p:spPr>
        <p:txBody>
          <a:bodyPr/>
          <a:lstStyle/>
          <a:p>
            <a:pPr>
              <a:buNone/>
            </a:pPr>
            <a:r>
              <a:rPr lang="en-GB" dirty="0"/>
              <a:t>	 </a:t>
            </a:r>
            <a:r>
              <a:rPr lang="en-GB" dirty="0">
                <a:latin typeface="Times New Roman" panose="02020603050405020304" pitchFamily="18" charset="0"/>
                <a:cs typeface="Times New Roman" panose="02020603050405020304" pitchFamily="18" charset="0"/>
              </a:rPr>
              <a:t>To gather data about the population in order to make an inference that can be generalized to the population. </a:t>
            </a:r>
          </a:p>
          <a:p>
            <a:pPr>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    </a:t>
            </a:r>
            <a:r>
              <a:rPr lang="en-GB" dirty="0">
                <a:solidFill>
                  <a:srgbClr val="FF0000"/>
                </a:solidFill>
                <a:latin typeface="Times New Roman" panose="02020603050405020304" pitchFamily="18" charset="0"/>
                <a:cs typeface="Times New Roman" panose="02020603050405020304" pitchFamily="18" charset="0"/>
              </a:rPr>
              <a:t>POPULATION </a:t>
            </a:r>
          </a:p>
          <a:p>
            <a:pPr>
              <a:buFont typeface="Wingdings" panose="05000000000000000000" pitchFamily="2" charset="2"/>
              <a:buChar char="§"/>
            </a:pPr>
            <a:r>
              <a:rPr lang="en-GB" dirty="0">
                <a:solidFill>
                  <a:srgbClr val="FF0000"/>
                </a:solidFill>
                <a:latin typeface="Times New Roman" panose="02020603050405020304" pitchFamily="18" charset="0"/>
                <a:cs typeface="Times New Roman" panose="02020603050405020304" pitchFamily="18" charset="0"/>
              </a:rPr>
              <a:t>    INFERENCE </a:t>
            </a:r>
          </a:p>
          <a:p>
            <a:pPr>
              <a:buFont typeface="Wingdings" panose="05000000000000000000" pitchFamily="2" charset="2"/>
              <a:buChar char="§"/>
            </a:pPr>
            <a:r>
              <a:rPr lang="en-GB" dirty="0">
                <a:solidFill>
                  <a:srgbClr val="FF0000"/>
                </a:solidFill>
                <a:latin typeface="Times New Roman" panose="02020603050405020304" pitchFamily="18" charset="0"/>
                <a:cs typeface="Times New Roman" panose="02020603050405020304" pitchFamily="18" charset="0"/>
              </a:rPr>
              <a:t>    SAMPLE</a:t>
            </a:r>
          </a:p>
        </p:txBody>
      </p:sp>
      <p:pic>
        <p:nvPicPr>
          <p:cNvPr id="3074" name="Picture 2" descr="A complete guide to sampling techniques – HotCubator | Learn| Grow| Catalyse">
            <a:extLst>
              <a:ext uri="{FF2B5EF4-FFF2-40B4-BE49-F238E27FC236}">
                <a16:creationId xmlns="" xmlns:a16="http://schemas.microsoft.com/office/drawing/2014/main" id="{D9388E4C-DC81-4E40-B2E2-EB11CF007DC2}"/>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288692" y="1390650"/>
            <a:ext cx="3398108" cy="40767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GB" b="1" dirty="0"/>
              <a:t>Process Of Sampling</a:t>
            </a:r>
            <a:endParaRPr lang="en-GB" dirty="0"/>
          </a:p>
        </p:txBody>
      </p:sp>
      <p:sp>
        <p:nvSpPr>
          <p:cNvPr id="3" name="Content Placeholder 2"/>
          <p:cNvSpPr>
            <a:spLocks noGrp="1"/>
          </p:cNvSpPr>
          <p:nvPr>
            <p:ph idx="1"/>
          </p:nvPr>
        </p:nvSpPr>
        <p:spPr>
          <a:xfrm>
            <a:off x="457200" y="1600201"/>
            <a:ext cx="4724400" cy="4191000"/>
          </a:xfrm>
        </p:spPr>
        <p:txBody>
          <a:bodyPr>
            <a:normAutofit lnSpcReduction="10000"/>
          </a:bodyPr>
          <a:lstStyle/>
          <a:p>
            <a:pPr marL="514350" indent="-514350">
              <a:buFont typeface="+mj-lt"/>
              <a:buAutoNum type="arabicPeriod"/>
            </a:pPr>
            <a:r>
              <a:rPr lang="en-GB" dirty="0">
                <a:latin typeface="Times New Roman" panose="02020603050405020304" pitchFamily="18" charset="0"/>
                <a:cs typeface="Times New Roman" panose="02020603050405020304" pitchFamily="18" charset="0"/>
              </a:rPr>
              <a:t>Define the Population </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Develop Sampling Frame</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Select a Sampling Method</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Determine Sample Size</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Execute the Sampling Process</a:t>
            </a:r>
          </a:p>
        </p:txBody>
      </p:sp>
      <p:pic>
        <p:nvPicPr>
          <p:cNvPr id="4098" name="Picture 2" descr="PROCESS GIF | Gfycat">
            <a:extLst>
              <a:ext uri="{FF2B5EF4-FFF2-40B4-BE49-F238E27FC236}">
                <a16:creationId xmlns="" xmlns:a16="http://schemas.microsoft.com/office/drawing/2014/main" id="{74036EDB-74A3-42BB-A96A-55F2578A5C95}"/>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105400" y="2119313"/>
            <a:ext cx="3581400" cy="2909887"/>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mpterm">
            <a:extLst>
              <a:ext uri="{FF2B5EF4-FFF2-40B4-BE49-F238E27FC236}">
                <a16:creationId xmlns="" xmlns:a16="http://schemas.microsoft.com/office/drawing/2014/main" id="{25B92E64-BFCE-4EB1-8CF1-84AC0FDECC5E}"/>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95300" y="533400"/>
            <a:ext cx="8153400" cy="579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 xmlns:a16="http://schemas.microsoft.com/office/drawing/2014/main" id="{BECF8CFC-1AD8-42B8-ADEE-8089C7593C81}"/>
              </a:ext>
            </a:extLst>
          </p:cNvPr>
          <p:cNvSpPr>
            <a:spLocks noGrp="1" noChangeArrowheads="1"/>
          </p:cNvSpPr>
          <p:nvPr>
            <p:ph type="title"/>
          </p:nvPr>
        </p:nvSpPr>
        <p:spPr>
          <a:xfrm>
            <a:off x="469900" y="173038"/>
            <a:ext cx="7531100" cy="823912"/>
          </a:xfrm>
        </p:spPr>
        <p:txBody>
          <a:bodyPr/>
          <a:lstStyle/>
          <a:p>
            <a:pPr eaLnBrk="1" hangingPunct="1"/>
            <a:r>
              <a:rPr lang="en-US" altLang="en-US" sz="3000">
                <a:latin typeface="Comic Sans MS" panose="030F0702030302020204" pitchFamily="66" charset="0"/>
              </a:rPr>
              <a:t>SAMPLING</a:t>
            </a:r>
            <a:r>
              <a:rPr lang="en-US" altLang="en-US"/>
              <a:t>…….</a:t>
            </a:r>
          </a:p>
        </p:txBody>
      </p:sp>
      <p:sp>
        <p:nvSpPr>
          <p:cNvPr id="11266" name="Slide Number Placeholder 5">
            <a:extLst>
              <a:ext uri="{FF2B5EF4-FFF2-40B4-BE49-F238E27FC236}">
                <a16:creationId xmlns="" xmlns:a16="http://schemas.microsoft.com/office/drawing/2014/main" id="{96E7C322-62BE-433F-99CA-FBA451C3C50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028D19-4D64-48C0-ABE8-F77B57B4A6C8}" type="slidenum">
              <a:rPr lang="en-US" altLang="en-US">
                <a:solidFill>
                  <a:srgbClr val="FFFFFF"/>
                </a:solidFill>
                <a:latin typeface="Franklin Gothic Book" panose="020B0503020102020204" pitchFamily="34" charset="0"/>
              </a:rPr>
              <a:pPr eaLnBrk="1" hangingPunct="1"/>
              <a:t>7</a:t>
            </a:fld>
            <a:endParaRPr lang="en-US" altLang="en-US">
              <a:solidFill>
                <a:srgbClr val="FFFFFF"/>
              </a:solidFill>
              <a:latin typeface="Franklin Gothic Book" panose="020B0503020102020204" pitchFamily="34" charset="0"/>
            </a:endParaRPr>
          </a:p>
        </p:txBody>
      </p:sp>
      <p:sp>
        <p:nvSpPr>
          <p:cNvPr id="14340" name="Oval 4">
            <a:extLst>
              <a:ext uri="{FF2B5EF4-FFF2-40B4-BE49-F238E27FC236}">
                <a16:creationId xmlns="" xmlns:a16="http://schemas.microsoft.com/office/drawing/2014/main" id="{ACB06AAF-54F7-4BF8-9C76-5692140C7B4D}"/>
              </a:ext>
            </a:extLst>
          </p:cNvPr>
          <p:cNvSpPr>
            <a:spLocks noChangeArrowheads="1"/>
          </p:cNvSpPr>
          <p:nvPr/>
        </p:nvSpPr>
        <p:spPr bwMode="auto">
          <a:xfrm>
            <a:off x="1905000" y="1905000"/>
            <a:ext cx="3657600" cy="3581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000">
              <a:cs typeface="Arial" panose="020B0604020202020204" pitchFamily="34" charset="0"/>
            </a:endParaRPr>
          </a:p>
        </p:txBody>
      </p:sp>
      <p:sp>
        <p:nvSpPr>
          <p:cNvPr id="14341" name="Oval 5">
            <a:extLst>
              <a:ext uri="{FF2B5EF4-FFF2-40B4-BE49-F238E27FC236}">
                <a16:creationId xmlns="" xmlns:a16="http://schemas.microsoft.com/office/drawing/2014/main" id="{EC856166-37CA-4E5C-8E89-604FDCCCDC9D}"/>
              </a:ext>
            </a:extLst>
          </p:cNvPr>
          <p:cNvSpPr>
            <a:spLocks noChangeArrowheads="1"/>
          </p:cNvSpPr>
          <p:nvPr/>
        </p:nvSpPr>
        <p:spPr bwMode="auto">
          <a:xfrm>
            <a:off x="2819400" y="2362200"/>
            <a:ext cx="2590800" cy="24384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bg1"/>
              </a:solidFill>
            </a:endParaRPr>
          </a:p>
        </p:txBody>
      </p:sp>
      <p:sp>
        <p:nvSpPr>
          <p:cNvPr id="14342" name="Oval 6">
            <a:extLst>
              <a:ext uri="{FF2B5EF4-FFF2-40B4-BE49-F238E27FC236}">
                <a16:creationId xmlns="" xmlns:a16="http://schemas.microsoft.com/office/drawing/2014/main" id="{15665987-0626-4DA0-91DD-C660636FEE91}"/>
              </a:ext>
            </a:extLst>
          </p:cNvPr>
          <p:cNvSpPr>
            <a:spLocks noChangeArrowheads="1"/>
          </p:cNvSpPr>
          <p:nvPr/>
        </p:nvSpPr>
        <p:spPr bwMode="auto">
          <a:xfrm>
            <a:off x="4038600" y="3200400"/>
            <a:ext cx="1219200" cy="11430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343" name="Rectangle 7">
            <a:extLst>
              <a:ext uri="{FF2B5EF4-FFF2-40B4-BE49-F238E27FC236}">
                <a16:creationId xmlns="" xmlns:a16="http://schemas.microsoft.com/office/drawing/2014/main" id="{1D131DA9-470C-404A-8A8B-5B88FEC1BD1D}"/>
              </a:ext>
            </a:extLst>
          </p:cNvPr>
          <p:cNvSpPr>
            <a:spLocks noChangeArrowheads="1"/>
          </p:cNvSpPr>
          <p:nvPr/>
        </p:nvSpPr>
        <p:spPr bwMode="auto">
          <a:xfrm>
            <a:off x="5181600" y="4953000"/>
            <a:ext cx="35052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dirty="0">
                <a:solidFill>
                  <a:schemeClr val="bg1"/>
                </a:solidFill>
                <a:latin typeface="Comic Sans MS" panose="030F0702030302020204" pitchFamily="66" charset="0"/>
                <a:cs typeface="Arial" panose="020B0604020202020204" pitchFamily="34" charset="0"/>
              </a:rPr>
              <a:t>TARGET</a:t>
            </a:r>
            <a:r>
              <a:rPr lang="en-US" altLang="en-US" sz="2000" dirty="0">
                <a:latin typeface="Comic Sans MS" panose="030F0702030302020204" pitchFamily="66" charset="0"/>
                <a:cs typeface="Arial" panose="020B0604020202020204" pitchFamily="34" charset="0"/>
              </a:rPr>
              <a:t> </a:t>
            </a:r>
            <a:r>
              <a:rPr lang="en-US" altLang="en-US" sz="2000" dirty="0">
                <a:solidFill>
                  <a:schemeClr val="bg1"/>
                </a:solidFill>
                <a:latin typeface="Comic Sans MS" panose="030F0702030302020204" pitchFamily="66" charset="0"/>
                <a:cs typeface="Arial" panose="020B0604020202020204" pitchFamily="34" charset="0"/>
              </a:rPr>
              <a:t>POPULATION</a:t>
            </a:r>
          </a:p>
        </p:txBody>
      </p:sp>
      <p:sp>
        <p:nvSpPr>
          <p:cNvPr id="14344" name="Rectangle 8">
            <a:extLst>
              <a:ext uri="{FF2B5EF4-FFF2-40B4-BE49-F238E27FC236}">
                <a16:creationId xmlns="" xmlns:a16="http://schemas.microsoft.com/office/drawing/2014/main" id="{5F6A6528-E943-422F-A8BA-675B821EE7F1}"/>
              </a:ext>
            </a:extLst>
          </p:cNvPr>
          <p:cNvSpPr>
            <a:spLocks noChangeArrowheads="1"/>
          </p:cNvSpPr>
          <p:nvPr/>
        </p:nvSpPr>
        <p:spPr bwMode="auto">
          <a:xfrm>
            <a:off x="5105400" y="1600200"/>
            <a:ext cx="3810000" cy="457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a:solidFill>
                  <a:schemeClr val="bg1"/>
                </a:solidFill>
                <a:latin typeface="Comic Sans MS" panose="030F0702030302020204" pitchFamily="66" charset="0"/>
                <a:cs typeface="Arial" panose="020B0604020202020204" pitchFamily="34" charset="0"/>
              </a:rPr>
              <a:t>STUDY POPULATION</a:t>
            </a:r>
          </a:p>
        </p:txBody>
      </p:sp>
      <p:sp>
        <p:nvSpPr>
          <p:cNvPr id="14345" name="Rectangle 9">
            <a:extLst>
              <a:ext uri="{FF2B5EF4-FFF2-40B4-BE49-F238E27FC236}">
                <a16:creationId xmlns="" xmlns:a16="http://schemas.microsoft.com/office/drawing/2014/main" id="{84ED1F7F-0213-4AF6-B56A-ACC64E1A1E96}"/>
              </a:ext>
            </a:extLst>
          </p:cNvPr>
          <p:cNvSpPr>
            <a:spLocks noChangeArrowheads="1"/>
          </p:cNvSpPr>
          <p:nvPr/>
        </p:nvSpPr>
        <p:spPr bwMode="auto">
          <a:xfrm>
            <a:off x="4114800" y="3581400"/>
            <a:ext cx="1066800" cy="228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solidFill>
                  <a:schemeClr val="bg1"/>
                </a:solidFill>
                <a:latin typeface="Comic Sans MS" panose="030F0702030302020204" pitchFamily="66" charset="0"/>
                <a:cs typeface="Arial" panose="020B0604020202020204" pitchFamily="34" charset="0"/>
              </a:rPr>
              <a:t>SAMPLE</a:t>
            </a:r>
          </a:p>
        </p:txBody>
      </p:sp>
      <p:sp>
        <p:nvSpPr>
          <p:cNvPr id="14346" name="Line 10">
            <a:extLst>
              <a:ext uri="{FF2B5EF4-FFF2-40B4-BE49-F238E27FC236}">
                <a16:creationId xmlns="" xmlns:a16="http://schemas.microsoft.com/office/drawing/2014/main" id="{E6A33557-D0BC-422A-BAD4-E8BD052E54EC}"/>
              </a:ext>
            </a:extLst>
          </p:cNvPr>
          <p:cNvSpPr>
            <a:spLocks noChangeShapeType="1"/>
          </p:cNvSpPr>
          <p:nvPr/>
        </p:nvSpPr>
        <p:spPr bwMode="auto">
          <a:xfrm flipV="1">
            <a:off x="4572000" y="1905000"/>
            <a:ext cx="4572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14347" name="Line 11">
            <a:extLst>
              <a:ext uri="{FF2B5EF4-FFF2-40B4-BE49-F238E27FC236}">
                <a16:creationId xmlns="" xmlns:a16="http://schemas.microsoft.com/office/drawing/2014/main" id="{18E0DD6C-CD58-4024-A8E0-38B7701313F6}"/>
              </a:ext>
            </a:extLst>
          </p:cNvPr>
          <p:cNvSpPr>
            <a:spLocks noChangeShapeType="1"/>
          </p:cNvSpPr>
          <p:nvPr/>
        </p:nvSpPr>
        <p:spPr bwMode="auto">
          <a:xfrm>
            <a:off x="4572000" y="5105400"/>
            <a:ext cx="6096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Tree>
  </p:cSld>
  <p:clrMapOvr>
    <a:masterClrMapping/>
  </p:clrMapOvr>
  <p:transition advTm="468"/>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 xmlns:a16="http://schemas.microsoft.com/office/drawing/2014/main" id="{99279CAF-EECE-4737-8D47-356A2C624F46}"/>
              </a:ext>
            </a:extLst>
          </p:cNvPr>
          <p:cNvSpPr>
            <a:spLocks noGrp="1" noChangeArrowheads="1"/>
          </p:cNvSpPr>
          <p:nvPr>
            <p:ph type="title"/>
          </p:nvPr>
        </p:nvSpPr>
        <p:spPr>
          <a:xfrm>
            <a:off x="419100" y="122238"/>
            <a:ext cx="7543800" cy="638175"/>
          </a:xfrm>
        </p:spPr>
        <p:txBody>
          <a:bodyPr>
            <a:normAutofit/>
          </a:bodyPr>
          <a:lstStyle/>
          <a:p>
            <a:pPr eaLnBrk="1" fontAlgn="auto" hangingPunct="1">
              <a:spcAft>
                <a:spcPts val="0"/>
              </a:spcAft>
              <a:defRPr/>
            </a:pPr>
            <a:r>
              <a:rPr lang="en-US" sz="3500" dirty="0">
                <a:solidFill>
                  <a:srgbClr val="008000"/>
                </a:solidFill>
                <a:latin typeface="Times New Roman" panose="02020603050405020304" pitchFamily="18" charset="0"/>
                <a:cs typeface="Times New Roman" panose="02020603050405020304" pitchFamily="18" charset="0"/>
              </a:rPr>
              <a:t>Types of Samples</a:t>
            </a:r>
          </a:p>
        </p:txBody>
      </p:sp>
      <p:sp>
        <p:nvSpPr>
          <p:cNvPr id="12290" name="Slide Number Placeholder 5">
            <a:extLst>
              <a:ext uri="{FF2B5EF4-FFF2-40B4-BE49-F238E27FC236}">
                <a16:creationId xmlns="" xmlns:a16="http://schemas.microsoft.com/office/drawing/2014/main" id="{9FDA008D-9B05-4602-B693-5BC0CC2D312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DA0070-5B38-44F6-9407-28E64D593390}" type="slidenum">
              <a:rPr lang="en-US" altLang="en-US">
                <a:solidFill>
                  <a:srgbClr val="FFFFFF"/>
                </a:solidFill>
                <a:latin typeface="Franklin Gothic Book" panose="020B0503020102020204" pitchFamily="34" charset="0"/>
              </a:rPr>
              <a:pPr eaLnBrk="1" hangingPunct="1"/>
              <a:t>8</a:t>
            </a:fld>
            <a:endParaRPr lang="en-US" altLang="en-US">
              <a:solidFill>
                <a:srgbClr val="FFFFFF"/>
              </a:solidFill>
              <a:latin typeface="Franklin Gothic Book" panose="020B0503020102020204" pitchFamily="34" charset="0"/>
            </a:endParaRPr>
          </a:p>
        </p:txBody>
      </p:sp>
      <p:sp>
        <p:nvSpPr>
          <p:cNvPr id="15364" name="Rectangle 3">
            <a:extLst>
              <a:ext uri="{FF2B5EF4-FFF2-40B4-BE49-F238E27FC236}">
                <a16:creationId xmlns="" xmlns:a16="http://schemas.microsoft.com/office/drawing/2014/main" id="{811145E1-2D1E-4931-AAB4-7E621D61300E}"/>
              </a:ext>
            </a:extLst>
          </p:cNvPr>
          <p:cNvSpPr>
            <a:spLocks noGrp="1" noChangeArrowheads="1"/>
          </p:cNvSpPr>
          <p:nvPr>
            <p:ph sz="quarter" idx="1"/>
          </p:nvPr>
        </p:nvSpPr>
        <p:spPr>
          <a:xfrm>
            <a:off x="266700" y="838200"/>
            <a:ext cx="8610600" cy="5562600"/>
          </a:xfrm>
        </p:spPr>
        <p:txBody>
          <a:bodyPr>
            <a:normAutofit lnSpcReduction="10000"/>
          </a:bodyPr>
          <a:lstStyle/>
          <a:p>
            <a:pPr marL="0" indent="0" eaLnBrk="1" hangingPunct="1">
              <a:buNone/>
            </a:pPr>
            <a:r>
              <a:rPr lang="en-US" altLang="en-US" dirty="0">
                <a:solidFill>
                  <a:srgbClr val="0091DA"/>
                </a:solidFill>
                <a:latin typeface="Times New Roman" panose="02020603050405020304" pitchFamily="18" charset="0"/>
                <a:cs typeface="Times New Roman" panose="02020603050405020304" pitchFamily="18" charset="0"/>
              </a:rPr>
              <a:t>    I. Probability Samples</a:t>
            </a:r>
            <a:endParaRPr lang="en-US" altLang="en-US" dirty="0">
              <a:solidFill>
                <a:srgbClr val="0091DA"/>
              </a:solidFill>
              <a:latin typeface="Times New Roman" panose="02020603050405020304" pitchFamily="18" charset="0"/>
              <a:cs typeface="Times New Roman" panose="02020603050405020304" pitchFamily="18" charset="0"/>
              <a:sym typeface="Wingdings" panose="05000000000000000000" pitchFamily="2" charset="2"/>
            </a:endParaRPr>
          </a:p>
          <a:p>
            <a:pPr marL="0" indent="0" eaLnBrk="1" hangingPunct="1">
              <a:buNone/>
            </a:pPr>
            <a:r>
              <a:rPr lang="en-US" altLang="en-US" sz="2400" dirty="0">
                <a:latin typeface="Times New Roman" panose="02020603050405020304" pitchFamily="18" charset="0"/>
                <a:cs typeface="Times New Roman" panose="02020603050405020304" pitchFamily="18" charset="0"/>
              </a:rPr>
              <a:t>       Simple random sample</a:t>
            </a:r>
          </a:p>
          <a:p>
            <a:pPr marL="457200" lvl="1" indent="0" eaLnBrk="1" hangingPunct="1">
              <a:buNone/>
            </a:pPr>
            <a:r>
              <a:rPr lang="en-US" altLang="en-US" dirty="0">
                <a:latin typeface="Times New Roman" panose="02020603050405020304" pitchFamily="18" charset="0"/>
                <a:cs typeface="Times New Roman" panose="02020603050405020304" pitchFamily="18" charset="0"/>
              </a:rPr>
              <a:t>  Systematic random sample</a:t>
            </a:r>
          </a:p>
          <a:p>
            <a:pPr marL="457200" lvl="1" indent="0" eaLnBrk="1" hangingPunct="1">
              <a:buNone/>
            </a:pPr>
            <a:r>
              <a:rPr lang="en-US" altLang="en-US" dirty="0">
                <a:latin typeface="Times New Roman" panose="02020603050405020304" pitchFamily="18" charset="0"/>
                <a:cs typeface="Times New Roman" panose="02020603050405020304" pitchFamily="18" charset="0"/>
              </a:rPr>
              <a:t>  Stratified random sample</a:t>
            </a:r>
          </a:p>
          <a:p>
            <a:pPr marL="457200" lvl="1" indent="0" eaLnBrk="1" hangingPunct="1">
              <a:buNone/>
            </a:pPr>
            <a:r>
              <a:rPr lang="en-US" altLang="en-US" dirty="0">
                <a:latin typeface="Times New Roman" panose="02020603050405020304" pitchFamily="18" charset="0"/>
                <a:cs typeface="Times New Roman" panose="02020603050405020304" pitchFamily="18" charset="0"/>
              </a:rPr>
              <a:t> Cluster sample</a:t>
            </a:r>
          </a:p>
          <a:p>
            <a:pPr marL="457200" lvl="1" indent="0" eaLnBrk="1" hangingPunct="1">
              <a:buNone/>
            </a:pPr>
            <a:r>
              <a:rPr lang="en-US" altLang="en-US" dirty="0">
                <a:latin typeface="Times New Roman" panose="02020603050405020304" pitchFamily="18" charset="0"/>
                <a:cs typeface="Times New Roman" panose="02020603050405020304" pitchFamily="18" charset="0"/>
              </a:rPr>
              <a:t> Multistage sample</a:t>
            </a:r>
          </a:p>
          <a:p>
            <a:pPr marL="457200" lvl="1" indent="0" eaLnBrk="1" hangingPunct="1">
              <a:buNone/>
            </a:pPr>
            <a:r>
              <a:rPr lang="en-US" altLang="en-US" dirty="0">
                <a:solidFill>
                  <a:srgbClr val="0091DA"/>
                </a:solidFill>
                <a:latin typeface="Times New Roman" panose="02020603050405020304" pitchFamily="18" charset="0"/>
                <a:cs typeface="Times New Roman" panose="02020603050405020304" pitchFamily="18" charset="0"/>
              </a:rPr>
              <a:t>II. Non-Probability Samples</a:t>
            </a:r>
          </a:p>
          <a:p>
            <a:pPr lvl="1" eaLnBrk="1" hangingPunct="1"/>
            <a:r>
              <a:rPr lang="en-US" altLang="en-US" dirty="0">
                <a:latin typeface="Times New Roman" panose="02020603050405020304" pitchFamily="18" charset="0"/>
                <a:cs typeface="Times New Roman" panose="02020603050405020304" pitchFamily="18" charset="0"/>
              </a:rPr>
              <a:t>Convenience sample</a:t>
            </a:r>
          </a:p>
          <a:p>
            <a:pPr lvl="1" eaLnBrk="1" hangingPunct="1"/>
            <a:r>
              <a:rPr lang="en-US" altLang="en-US" dirty="0">
                <a:latin typeface="Times New Roman" panose="02020603050405020304" pitchFamily="18" charset="0"/>
                <a:cs typeface="Times New Roman" panose="02020603050405020304" pitchFamily="18" charset="0"/>
              </a:rPr>
              <a:t>Purposive sample</a:t>
            </a:r>
          </a:p>
          <a:p>
            <a:pPr lvl="1" eaLnBrk="1" hangingPunct="1"/>
            <a:r>
              <a:rPr lang="en-US" altLang="en-US" dirty="0">
                <a:latin typeface="Times New Roman" panose="02020603050405020304" pitchFamily="18" charset="0"/>
                <a:cs typeface="Times New Roman" panose="02020603050405020304" pitchFamily="18" charset="0"/>
              </a:rPr>
              <a:t>Quota</a:t>
            </a:r>
          </a:p>
          <a:p>
            <a:pPr lvl="1" eaLnBrk="1" hangingPunct="1"/>
            <a:r>
              <a:rPr lang="en-US" altLang="en-US" dirty="0">
                <a:latin typeface="Times New Roman" panose="02020603050405020304" pitchFamily="18" charset="0"/>
                <a:cs typeface="Times New Roman" panose="02020603050405020304" pitchFamily="18" charset="0"/>
              </a:rPr>
              <a:t>Snow ball sampling</a:t>
            </a:r>
          </a:p>
        </p:txBody>
      </p:sp>
    </p:spTree>
  </p:cSld>
  <p:clrMapOvr>
    <a:masterClrMapping/>
  </p:clrMapOvr>
  <p:transition advTm="624"/>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 xmlns:a16="http://schemas.microsoft.com/office/drawing/2014/main" id="{0085589A-68C3-48EC-9253-A3D51234D66A}"/>
              </a:ext>
            </a:extLst>
          </p:cNvPr>
          <p:cNvSpPr>
            <a:spLocks noGrp="1" noChangeArrowheads="1"/>
          </p:cNvSpPr>
          <p:nvPr>
            <p:ph type="title"/>
          </p:nvPr>
        </p:nvSpPr>
        <p:spPr>
          <a:xfrm>
            <a:off x="457200" y="533400"/>
            <a:ext cx="8229600" cy="914400"/>
          </a:xfrm>
        </p:spPr>
        <p:txBody>
          <a:bodyPr/>
          <a:lstStyle/>
          <a:p>
            <a:pPr eaLnBrk="1" hangingPunct="1"/>
            <a:r>
              <a:rPr lang="en-US" altLang="en-US" dirty="0">
                <a:solidFill>
                  <a:srgbClr val="008000"/>
                </a:solidFill>
                <a:latin typeface="Comic Sans MS" panose="030F0702030302020204" pitchFamily="66" charset="0"/>
              </a:rPr>
              <a:t>PROBABILITY SAMPLING</a:t>
            </a:r>
          </a:p>
        </p:txBody>
      </p:sp>
      <p:sp>
        <p:nvSpPr>
          <p:cNvPr id="17410" name="Slide Number Placeholder 5">
            <a:extLst>
              <a:ext uri="{FF2B5EF4-FFF2-40B4-BE49-F238E27FC236}">
                <a16:creationId xmlns="" xmlns:a16="http://schemas.microsoft.com/office/drawing/2014/main" id="{F59943D2-374C-481F-B597-753B7D63EB7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42D113-EAC9-4461-AB00-49128FE19F45}" type="slidenum">
              <a:rPr lang="en-US" altLang="en-US">
                <a:solidFill>
                  <a:srgbClr val="FFFFFF"/>
                </a:solidFill>
                <a:latin typeface="Franklin Gothic Book" panose="020B0503020102020204" pitchFamily="34" charset="0"/>
              </a:rPr>
              <a:pPr eaLnBrk="1" hangingPunct="1"/>
              <a:t>9</a:t>
            </a:fld>
            <a:endParaRPr lang="en-US" altLang="en-US">
              <a:solidFill>
                <a:srgbClr val="FFFFFF"/>
              </a:solidFill>
              <a:latin typeface="Franklin Gothic Book" panose="020B0503020102020204" pitchFamily="34" charset="0"/>
            </a:endParaRPr>
          </a:p>
        </p:txBody>
      </p:sp>
      <p:sp>
        <p:nvSpPr>
          <p:cNvPr id="20484" name="Rectangle 3">
            <a:extLst>
              <a:ext uri="{FF2B5EF4-FFF2-40B4-BE49-F238E27FC236}">
                <a16:creationId xmlns="" xmlns:a16="http://schemas.microsoft.com/office/drawing/2014/main" id="{DBB8D8AA-E117-4319-819B-4A82C1F29C37}"/>
              </a:ext>
            </a:extLst>
          </p:cNvPr>
          <p:cNvSpPr>
            <a:spLocks noGrp="1" noChangeArrowheads="1"/>
          </p:cNvSpPr>
          <p:nvPr>
            <p:ph sz="quarter" idx="1"/>
          </p:nvPr>
        </p:nvSpPr>
        <p:spPr>
          <a:xfrm>
            <a:off x="457200" y="990600"/>
            <a:ext cx="4953000" cy="5562600"/>
          </a:xfrm>
        </p:spPr>
        <p:txBody>
          <a:bodyPr/>
          <a:lstStyle/>
          <a:p>
            <a:pPr eaLnBrk="1" hangingPunct="1">
              <a:buFont typeface="Wingdings" panose="05000000000000000000" pitchFamily="2" charset="2"/>
              <a:buNone/>
            </a:pPr>
            <a:endParaRPr lang="en-US" altLang="en-US" b="1" dirty="0"/>
          </a:p>
          <a:p>
            <a:pPr marL="0" indent="0" algn="just" eaLnBrk="1" hangingPunct="1">
              <a:buNone/>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probability sampling</a:t>
            </a:r>
            <a:r>
              <a:rPr lang="en-US" altLang="en-US" sz="2400" dirty="0">
                <a:latin typeface="Times New Roman" panose="02020603050405020304" pitchFamily="18" charset="0"/>
                <a:cs typeface="Times New Roman" panose="02020603050405020304" pitchFamily="18" charset="0"/>
              </a:rPr>
              <a:t> scheme is one in which every unit in the population has a chance (greater than zero) of being selected in the sample, and this probability can be accurately determined. </a:t>
            </a:r>
          </a:p>
          <a:p>
            <a:pPr eaLnBrk="1" hangingPunct="1">
              <a:buFont typeface="Wingdings" panose="05000000000000000000" pitchFamily="2" charset="2"/>
              <a:buNone/>
            </a:pPr>
            <a:endParaRPr lang="en-US" altLang="en-US" sz="2400" dirty="0">
              <a:latin typeface="Comic Sans MS" panose="030F0702030302020204" pitchFamily="66" charset="0"/>
            </a:endParaRPr>
          </a:p>
          <a:p>
            <a:pPr marL="0" indent="0" eaLnBrk="1" hangingPunct="1">
              <a:buNone/>
            </a:pPr>
            <a:endParaRPr lang="en-US" altLang="en-US" sz="2800" dirty="0">
              <a:latin typeface="Comic Sans MS" panose="030F0702030302020204" pitchFamily="66" charset="0"/>
            </a:endParaRPr>
          </a:p>
        </p:txBody>
      </p:sp>
      <p:pic>
        <p:nvPicPr>
          <p:cNvPr id="1026" name="Picture 2" descr="Sampling - Social science">
            <a:extLst>
              <a:ext uri="{FF2B5EF4-FFF2-40B4-BE49-F238E27FC236}">
                <a16:creationId xmlns="" xmlns:a16="http://schemas.microsoft.com/office/drawing/2014/main" id="{55817660-7169-42CA-A70F-AE0AB82C64DA}"/>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791201" y="1752601"/>
            <a:ext cx="2819400" cy="254793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562"/>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 xmlns:a16="http://schemas.microsoft.com/office/drawing/2014/main" id="{80684776-5ECD-488D-A205-00DEEDC1EEFD}"/>
              </a:ext>
            </a:extLst>
          </p:cNvPr>
          <p:cNvSpPr>
            <a:spLocks noGrp="1" noChangeArrowheads="1"/>
          </p:cNvSpPr>
          <p:nvPr>
            <p:ph type="title"/>
          </p:nvPr>
        </p:nvSpPr>
        <p:spPr>
          <a:xfrm>
            <a:off x="457200" y="122238"/>
            <a:ext cx="7543800" cy="898525"/>
          </a:xfrm>
        </p:spPr>
        <p:txBody>
          <a:bodyPr/>
          <a:lstStyle/>
          <a:p>
            <a:pPr eaLnBrk="1" hangingPunct="1"/>
            <a:r>
              <a:rPr lang="en-US" altLang="en-US" sz="3000">
                <a:solidFill>
                  <a:srgbClr val="008000"/>
                </a:solidFill>
                <a:latin typeface="Comic Sans MS" panose="030F0702030302020204" pitchFamily="66" charset="0"/>
              </a:rPr>
              <a:t>PROBABILITY SAMPLING…….</a:t>
            </a:r>
          </a:p>
        </p:txBody>
      </p:sp>
      <p:sp>
        <p:nvSpPr>
          <p:cNvPr id="18434" name="Slide Number Placeholder 5">
            <a:extLst>
              <a:ext uri="{FF2B5EF4-FFF2-40B4-BE49-F238E27FC236}">
                <a16:creationId xmlns="" xmlns:a16="http://schemas.microsoft.com/office/drawing/2014/main" id="{AEA8EF11-3730-45DC-AD0E-4C1B5CCD24D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1542E5-F190-4566-A94D-B2C526F194A5}" type="slidenum">
              <a:rPr lang="en-US" altLang="en-US">
                <a:solidFill>
                  <a:srgbClr val="FFFFFF"/>
                </a:solidFill>
                <a:latin typeface="Franklin Gothic Book" panose="020B0503020102020204" pitchFamily="34" charset="0"/>
              </a:rPr>
              <a:pPr eaLnBrk="1" hangingPunct="1"/>
              <a:t>10</a:t>
            </a:fld>
            <a:endParaRPr lang="en-US" altLang="en-US">
              <a:solidFill>
                <a:srgbClr val="FFFFFF"/>
              </a:solidFill>
              <a:latin typeface="Franklin Gothic Book" panose="020B0503020102020204" pitchFamily="34" charset="0"/>
            </a:endParaRPr>
          </a:p>
        </p:txBody>
      </p:sp>
      <p:sp>
        <p:nvSpPr>
          <p:cNvPr id="21508" name="Rectangle 3">
            <a:extLst>
              <a:ext uri="{FF2B5EF4-FFF2-40B4-BE49-F238E27FC236}">
                <a16:creationId xmlns="" xmlns:a16="http://schemas.microsoft.com/office/drawing/2014/main" id="{550E6715-725C-4D7C-B4BB-F30548A60E7C}"/>
              </a:ext>
            </a:extLst>
          </p:cNvPr>
          <p:cNvSpPr>
            <a:spLocks noGrp="1" noChangeArrowheads="1"/>
          </p:cNvSpPr>
          <p:nvPr>
            <p:ph sz="quarter" idx="1"/>
          </p:nvPr>
        </p:nvSpPr>
        <p:spPr>
          <a:xfrm>
            <a:off x="457200" y="1143000"/>
            <a:ext cx="8229600" cy="5410200"/>
          </a:xfrm>
        </p:spPr>
        <p:txBody>
          <a:bodyPr/>
          <a:lstStyle/>
          <a:p>
            <a:pPr marL="0" indent="0" eaLnBrk="1" hangingPunct="1">
              <a:buNone/>
            </a:pPr>
            <a:r>
              <a:rPr lang="en-US" altLang="en-US" dirty="0"/>
              <a:t>Types:</a:t>
            </a:r>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Simple Random Sampling, </a:t>
            </a:r>
          </a:p>
          <a:p>
            <a:pPr eaLnBrk="1" hangingPunct="1"/>
            <a:r>
              <a:rPr lang="en-US" altLang="en-US" dirty="0">
                <a:latin typeface="Times New Roman" panose="02020603050405020304" pitchFamily="18" charset="0"/>
                <a:cs typeface="Times New Roman" panose="02020603050405020304" pitchFamily="18" charset="0"/>
              </a:rPr>
              <a:t>Systematic Sampling,</a:t>
            </a:r>
          </a:p>
          <a:p>
            <a:pPr eaLnBrk="1" hangingPunct="1"/>
            <a:r>
              <a:rPr lang="en-US" altLang="en-US" dirty="0">
                <a:latin typeface="Times New Roman" panose="02020603050405020304" pitchFamily="18" charset="0"/>
                <a:cs typeface="Times New Roman" panose="02020603050405020304" pitchFamily="18" charset="0"/>
              </a:rPr>
              <a:t>Stratified Random Sampling, </a:t>
            </a:r>
          </a:p>
          <a:p>
            <a:pPr eaLnBrk="1" hangingPunct="1"/>
            <a:r>
              <a:rPr lang="en-US" altLang="en-US" dirty="0">
                <a:latin typeface="Times New Roman" panose="02020603050405020304" pitchFamily="18" charset="0"/>
                <a:cs typeface="Times New Roman" panose="02020603050405020304" pitchFamily="18" charset="0"/>
              </a:rPr>
              <a:t>Cluster Sampling</a:t>
            </a:r>
          </a:p>
          <a:p>
            <a:pPr eaLnBrk="1" hangingPunct="1"/>
            <a:r>
              <a:rPr lang="en-US" altLang="en-US" dirty="0">
                <a:latin typeface="Times New Roman" panose="02020603050405020304" pitchFamily="18" charset="0"/>
                <a:cs typeface="Times New Roman" panose="02020603050405020304" pitchFamily="18" charset="0"/>
              </a:rPr>
              <a:t>Multistage Sampling. </a:t>
            </a:r>
          </a:p>
          <a:p>
            <a:pPr eaLnBrk="1" hangingPunct="1"/>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ransition advTm="359"/>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 xmlns:a16="http://schemas.microsoft.com/office/drawing/2014/main" id="{9896902B-B6E9-4D8C-A31B-2A1C876F3DD6}"/>
              </a:ext>
            </a:extLst>
          </p:cNvPr>
          <p:cNvSpPr>
            <a:spLocks noGrp="1" noChangeArrowheads="1"/>
          </p:cNvSpPr>
          <p:nvPr>
            <p:ph type="title"/>
          </p:nvPr>
        </p:nvSpPr>
        <p:spPr>
          <a:xfrm>
            <a:off x="152400" y="609600"/>
            <a:ext cx="8839200" cy="762000"/>
          </a:xfrm>
        </p:spPr>
        <p:txBody>
          <a:bodyPr/>
          <a:lstStyle/>
          <a:p>
            <a:pPr eaLnBrk="1" hangingPunct="1"/>
            <a:r>
              <a:rPr lang="en-US" altLang="en-US" sz="3000" dirty="0">
                <a:solidFill>
                  <a:srgbClr val="008000"/>
                </a:solidFill>
                <a:latin typeface="Comic Sans MS" panose="030F0702030302020204" pitchFamily="66" charset="0"/>
              </a:rPr>
              <a:t>NON PROBABILITY SAMPLING</a:t>
            </a:r>
          </a:p>
        </p:txBody>
      </p:sp>
      <p:sp>
        <p:nvSpPr>
          <p:cNvPr id="19458" name="Slide Number Placeholder 5">
            <a:extLst>
              <a:ext uri="{FF2B5EF4-FFF2-40B4-BE49-F238E27FC236}">
                <a16:creationId xmlns="" xmlns:a16="http://schemas.microsoft.com/office/drawing/2014/main" id="{280E0287-E192-41E8-9E92-B409A39AA4B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D63B58-13E1-449D-9717-8ACC82AFEDAA}" type="slidenum">
              <a:rPr lang="en-US" altLang="en-US">
                <a:solidFill>
                  <a:srgbClr val="FFFFFF"/>
                </a:solidFill>
                <a:latin typeface="Franklin Gothic Book" panose="020B0503020102020204" pitchFamily="34" charset="0"/>
              </a:rPr>
              <a:pPr eaLnBrk="1" hangingPunct="1"/>
              <a:t>11</a:t>
            </a:fld>
            <a:endParaRPr lang="en-US" altLang="en-US">
              <a:solidFill>
                <a:srgbClr val="FFFFFF"/>
              </a:solidFill>
              <a:latin typeface="Franklin Gothic Book" panose="020B0503020102020204" pitchFamily="34" charset="0"/>
            </a:endParaRPr>
          </a:p>
        </p:txBody>
      </p:sp>
      <p:sp>
        <p:nvSpPr>
          <p:cNvPr id="22532" name="Rectangle 3">
            <a:extLst>
              <a:ext uri="{FF2B5EF4-FFF2-40B4-BE49-F238E27FC236}">
                <a16:creationId xmlns="" xmlns:a16="http://schemas.microsoft.com/office/drawing/2014/main" id="{5D2E77BE-CCEE-44C4-B85E-E3E619F941B3}"/>
              </a:ext>
            </a:extLst>
          </p:cNvPr>
          <p:cNvSpPr>
            <a:spLocks noGrp="1" noChangeArrowheads="1"/>
          </p:cNvSpPr>
          <p:nvPr>
            <p:ph sz="quarter" idx="1"/>
          </p:nvPr>
        </p:nvSpPr>
        <p:spPr>
          <a:xfrm>
            <a:off x="533400" y="1447800"/>
            <a:ext cx="4191000" cy="5181600"/>
          </a:xfrm>
        </p:spPr>
        <p:txBody>
          <a:bodyPr/>
          <a:lstStyle/>
          <a:p>
            <a:pPr algn="just" eaLnBrk="1" hangingPunct="1">
              <a:lnSpc>
                <a:spcPct val="80000"/>
              </a:lnSpc>
            </a:pPr>
            <a:endParaRPr lang="en-US" altLang="en-US" sz="2000" dirty="0">
              <a:latin typeface="Times New Roman" panose="02020603050405020304" pitchFamily="18" charset="0"/>
              <a:cs typeface="Times New Roman" panose="02020603050405020304" pitchFamily="18" charset="0"/>
            </a:endParaRPr>
          </a:p>
          <a:p>
            <a:pPr algn="just" eaLnBrk="1" hangingPunct="1">
              <a:lnSpc>
                <a:spcPct val="80000"/>
              </a:lnSpc>
            </a:pPr>
            <a:endParaRPr lang="en-US" altLang="en-US" sz="2000" dirty="0">
              <a:latin typeface="Times New Roman" panose="02020603050405020304" pitchFamily="18" charset="0"/>
              <a:cs typeface="Times New Roman" panose="02020603050405020304" pitchFamily="18" charset="0"/>
            </a:endParaRPr>
          </a:p>
          <a:p>
            <a:pPr algn="just" eaLnBrk="1" hangingPunct="1">
              <a:lnSpc>
                <a:spcPct val="80000"/>
              </a:lnSpc>
            </a:pPr>
            <a:r>
              <a:rPr lang="en-US" altLang="en-US" sz="2000" dirty="0">
                <a:latin typeface="Times New Roman" panose="02020603050405020304" pitchFamily="18" charset="0"/>
                <a:cs typeface="Times New Roman" panose="02020603050405020304" pitchFamily="18" charset="0"/>
              </a:rPr>
              <a:t>Any sampling method where some elements of population have </a:t>
            </a:r>
            <a:r>
              <a:rPr lang="en-US" altLang="en-US" sz="2000" i="1" dirty="0">
                <a:latin typeface="Times New Roman" panose="02020603050405020304" pitchFamily="18" charset="0"/>
                <a:cs typeface="Times New Roman" panose="02020603050405020304" pitchFamily="18" charset="0"/>
              </a:rPr>
              <a:t>no</a:t>
            </a:r>
            <a:r>
              <a:rPr lang="en-US" altLang="en-US" sz="2000" dirty="0">
                <a:latin typeface="Times New Roman" panose="02020603050405020304" pitchFamily="18" charset="0"/>
                <a:cs typeface="Times New Roman" panose="02020603050405020304" pitchFamily="18" charset="0"/>
              </a:rPr>
              <a:t> chance of selection (these are sometimes referred to as 'out of coverage'/'</a:t>
            </a:r>
            <a:r>
              <a:rPr lang="en-US" altLang="en-US" sz="2000" dirty="0" err="1">
                <a:latin typeface="Times New Roman" panose="02020603050405020304" pitchFamily="18" charset="0"/>
                <a:cs typeface="Times New Roman" panose="02020603050405020304" pitchFamily="18" charset="0"/>
              </a:rPr>
              <a:t>undercovered</a:t>
            </a:r>
            <a:r>
              <a:rPr lang="en-US" altLang="en-US" sz="2000" dirty="0">
                <a:latin typeface="Times New Roman" panose="02020603050405020304" pitchFamily="18" charset="0"/>
                <a:cs typeface="Times New Roman" panose="02020603050405020304" pitchFamily="18" charset="0"/>
              </a:rPr>
              <a:t>'), or where the probability of selection can't be accurately determined. It involves the selection of elements based on assumptions regarding the population of interest, which forms the criteria for selection. Hence, because the selection of elements is nonrandom, nonprobability sampling not allows the estimation of sampling errors..</a:t>
            </a:r>
          </a:p>
          <a:p>
            <a:pPr eaLnBrk="1" hangingPunct="1">
              <a:lnSpc>
                <a:spcPct val="80000"/>
              </a:lnSpc>
            </a:pPr>
            <a:endParaRPr lang="en-US" altLang="en-US" sz="2000" i="1" dirty="0">
              <a:latin typeface="Times New Roman" panose="02020603050405020304" pitchFamily="18" charset="0"/>
              <a:cs typeface="Times New Roman" panose="02020603050405020304" pitchFamily="18" charset="0"/>
            </a:endParaRPr>
          </a:p>
        </p:txBody>
      </p:sp>
      <p:pic>
        <p:nvPicPr>
          <p:cNvPr id="2050" name="Picture 2" descr="Fish Sea GIF - Fish Sea Ocean - Discover &amp;amp; Share GIFs">
            <a:extLst>
              <a:ext uri="{FF2B5EF4-FFF2-40B4-BE49-F238E27FC236}">
                <a16:creationId xmlns="" xmlns:a16="http://schemas.microsoft.com/office/drawing/2014/main" id="{98FBEBC7-D012-4603-B944-ABF1C59CDB94}"/>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876800" y="1724024"/>
            <a:ext cx="4038600" cy="3762375"/>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343"/>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 xmlns:a16="http://schemas.microsoft.com/office/drawing/2014/main" id="{AC772224-1B0E-4F5C-83FB-BFD9D5667FAE}"/>
              </a:ext>
            </a:extLst>
          </p:cNvPr>
          <p:cNvSpPr>
            <a:spLocks noGrp="1" noChangeArrowheads="1"/>
          </p:cNvSpPr>
          <p:nvPr>
            <p:ph type="title"/>
          </p:nvPr>
        </p:nvSpPr>
        <p:spPr>
          <a:xfrm>
            <a:off x="457200" y="685800"/>
            <a:ext cx="8229600" cy="1143000"/>
          </a:xfrm>
        </p:spPr>
        <p:txBody>
          <a:bodyPr rtlCol="0">
            <a:normAutofit/>
          </a:bodyPr>
          <a:lstStyle/>
          <a:p>
            <a:pPr eaLnBrk="1" fontAlgn="auto" hangingPunct="1">
              <a:spcAft>
                <a:spcPts val="0"/>
              </a:spcAft>
              <a:defRPr/>
            </a:pPr>
            <a:r>
              <a:rPr lang="en-US" dirty="0">
                <a:solidFill>
                  <a:srgbClr val="008000"/>
                </a:solidFill>
                <a:latin typeface="Times New Roman" panose="02020603050405020304" pitchFamily="18" charset="0"/>
                <a:cs typeface="Times New Roman" panose="02020603050405020304" pitchFamily="18" charset="0"/>
              </a:rPr>
              <a:t>NONPROBABILITY SAMPLING</a:t>
            </a:r>
          </a:p>
        </p:txBody>
      </p:sp>
      <p:sp>
        <p:nvSpPr>
          <p:cNvPr id="20482" name="Slide Number Placeholder 5">
            <a:extLst>
              <a:ext uri="{FF2B5EF4-FFF2-40B4-BE49-F238E27FC236}">
                <a16:creationId xmlns="" xmlns:a16="http://schemas.microsoft.com/office/drawing/2014/main" id="{1AA80595-F34C-4BAE-A1B6-59BF2BB1E9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CC4C1D-F1B9-4854-9109-A8EA56AACBBB}" type="slidenum">
              <a:rPr lang="en-US" altLang="en-US">
                <a:solidFill>
                  <a:srgbClr val="FFFFFF"/>
                </a:solidFill>
                <a:latin typeface="Franklin Gothic Book" panose="020B0503020102020204" pitchFamily="34" charset="0"/>
              </a:rPr>
              <a:pPr eaLnBrk="1" hangingPunct="1"/>
              <a:t>12</a:t>
            </a:fld>
            <a:endParaRPr lang="en-US" altLang="en-US">
              <a:solidFill>
                <a:srgbClr val="FFFFFF"/>
              </a:solidFill>
              <a:latin typeface="Franklin Gothic Book" panose="020B0503020102020204" pitchFamily="34" charset="0"/>
            </a:endParaRPr>
          </a:p>
        </p:txBody>
      </p:sp>
      <p:sp>
        <p:nvSpPr>
          <p:cNvPr id="23556" name="Rectangle 3">
            <a:extLst>
              <a:ext uri="{FF2B5EF4-FFF2-40B4-BE49-F238E27FC236}">
                <a16:creationId xmlns="" xmlns:a16="http://schemas.microsoft.com/office/drawing/2014/main" id="{30B4BFC3-BA31-46C7-B0A5-A501333598E8}"/>
              </a:ext>
            </a:extLst>
          </p:cNvPr>
          <p:cNvSpPr>
            <a:spLocks noGrp="1" noChangeArrowheads="1"/>
          </p:cNvSpPr>
          <p:nvPr>
            <p:ph sz="quarter" idx="1"/>
          </p:nvPr>
        </p:nvSpPr>
        <p:spPr>
          <a:xfrm>
            <a:off x="457200" y="1951037"/>
            <a:ext cx="8229600" cy="4525963"/>
          </a:xfrm>
        </p:spPr>
        <p:txBody>
          <a:bodyPr>
            <a:normAutofit/>
          </a:bodyPr>
          <a:lstStyle/>
          <a:p>
            <a:pPr marL="0" indent="0" eaLnBrk="1" hangingPunct="1">
              <a:buNone/>
            </a:pPr>
            <a:r>
              <a:rPr lang="en-US" altLang="en-US" dirty="0">
                <a:latin typeface="Times New Roman" panose="02020603050405020304" pitchFamily="18" charset="0"/>
                <a:cs typeface="Times New Roman" panose="02020603050405020304" pitchFamily="18" charset="0"/>
              </a:rPr>
              <a:t> Nonprobability Sampling includes: </a:t>
            </a:r>
          </a:p>
          <a:p>
            <a:pPr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Convenience Sampling, </a:t>
            </a:r>
          </a:p>
          <a:p>
            <a:pPr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Quota Sampling </a:t>
            </a:r>
          </a:p>
          <a:p>
            <a:pPr eaLnBrk="1" hangingPunct="1">
              <a:buFont typeface="Arial" panose="020B0604020202020204" pitchFamily="34" charset="0"/>
              <a:buChar char="•"/>
            </a:pPr>
            <a:r>
              <a:rPr lang="en-US" altLang="en-US" dirty="0" err="1">
                <a:latin typeface="Times New Roman" panose="02020603050405020304" pitchFamily="18" charset="0"/>
                <a:cs typeface="Times New Roman" panose="02020603050405020304" pitchFamily="18" charset="0"/>
              </a:rPr>
              <a:t>Judgemental</a:t>
            </a:r>
            <a:r>
              <a:rPr lang="en-US" altLang="en-US" dirty="0">
                <a:latin typeface="Times New Roman" panose="02020603050405020304" pitchFamily="18" charset="0"/>
                <a:cs typeface="Times New Roman" panose="02020603050405020304" pitchFamily="18" charset="0"/>
              </a:rPr>
              <a:t> Purposive Sampling. </a:t>
            </a:r>
          </a:p>
          <a:p>
            <a:pPr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Snow ball Samling</a:t>
            </a:r>
            <a:endParaRPr lang="en-US" altLang="en-US" dirty="0">
              <a:solidFill>
                <a:schemeClr val="accent2"/>
              </a:solidFill>
              <a:latin typeface="Comic Sans MS" panose="030F0702030302020204" pitchFamily="66" charset="0"/>
            </a:endParaRPr>
          </a:p>
        </p:txBody>
      </p:sp>
    </p:spTree>
  </p:cSld>
  <p:clrMapOvr>
    <a:masterClrMapping/>
  </p:clrMapOvr>
  <p:transition advTm="702"/>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 xmlns:a16="http://schemas.microsoft.com/office/drawing/2014/main" id="{80684776-5ECD-488D-A205-00DEEDC1EEFD}"/>
              </a:ext>
            </a:extLst>
          </p:cNvPr>
          <p:cNvSpPr>
            <a:spLocks noGrp="1" noChangeArrowheads="1"/>
          </p:cNvSpPr>
          <p:nvPr>
            <p:ph type="title"/>
          </p:nvPr>
        </p:nvSpPr>
        <p:spPr>
          <a:xfrm>
            <a:off x="457200" y="122238"/>
            <a:ext cx="7543800" cy="898525"/>
          </a:xfrm>
        </p:spPr>
        <p:txBody>
          <a:bodyPr>
            <a:normAutofit fontScale="90000"/>
          </a:bodyPr>
          <a:lstStyle/>
          <a:p>
            <a:pPr eaLnBrk="1" hangingPunct="1"/>
            <a:r>
              <a:rPr lang="en-US" altLang="en-US" sz="3000" dirty="0" smtClean="0">
                <a:solidFill>
                  <a:srgbClr val="008000"/>
                </a:solidFill>
                <a:latin typeface="Comic Sans MS" panose="030F0702030302020204" pitchFamily="66" charset="0"/>
              </a:rPr>
              <a:t>TYPES OF PROBABILITY </a:t>
            </a:r>
            <a:r>
              <a:rPr lang="en-US" altLang="en-US" sz="3000" dirty="0">
                <a:solidFill>
                  <a:srgbClr val="008000"/>
                </a:solidFill>
                <a:latin typeface="Comic Sans MS" panose="030F0702030302020204" pitchFamily="66" charset="0"/>
              </a:rPr>
              <a:t>SAMPLING…….</a:t>
            </a:r>
          </a:p>
        </p:txBody>
      </p:sp>
      <p:sp>
        <p:nvSpPr>
          <p:cNvPr id="18434" name="Slide Number Placeholder 5">
            <a:extLst>
              <a:ext uri="{FF2B5EF4-FFF2-40B4-BE49-F238E27FC236}">
                <a16:creationId xmlns="" xmlns:a16="http://schemas.microsoft.com/office/drawing/2014/main" id="{AEA8EF11-3730-45DC-AD0E-4C1B5CCD24D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1542E5-F190-4566-A94D-B2C526F194A5}" type="slidenum">
              <a:rPr lang="en-US" altLang="en-US">
                <a:solidFill>
                  <a:srgbClr val="FFFFFF"/>
                </a:solidFill>
                <a:latin typeface="Franklin Gothic Book" panose="020B0503020102020204" pitchFamily="34" charset="0"/>
              </a:rPr>
              <a:pPr eaLnBrk="1" hangingPunct="1"/>
              <a:t>13</a:t>
            </a:fld>
            <a:endParaRPr lang="en-US" altLang="en-US">
              <a:solidFill>
                <a:srgbClr val="FFFFFF"/>
              </a:solidFill>
              <a:latin typeface="Franklin Gothic Book" panose="020B0503020102020204" pitchFamily="34" charset="0"/>
            </a:endParaRPr>
          </a:p>
        </p:txBody>
      </p:sp>
      <p:sp>
        <p:nvSpPr>
          <p:cNvPr id="21508" name="Rectangle 3">
            <a:extLst>
              <a:ext uri="{FF2B5EF4-FFF2-40B4-BE49-F238E27FC236}">
                <a16:creationId xmlns="" xmlns:a16="http://schemas.microsoft.com/office/drawing/2014/main" id="{550E6715-725C-4D7C-B4BB-F30548A60E7C}"/>
              </a:ext>
            </a:extLst>
          </p:cNvPr>
          <p:cNvSpPr>
            <a:spLocks noGrp="1" noChangeArrowheads="1"/>
          </p:cNvSpPr>
          <p:nvPr>
            <p:ph sz="quarter" idx="1"/>
          </p:nvPr>
        </p:nvSpPr>
        <p:spPr>
          <a:xfrm>
            <a:off x="457200" y="1143000"/>
            <a:ext cx="8229600" cy="5410200"/>
          </a:xfrm>
        </p:spPr>
        <p:txBody>
          <a:bodyPr/>
          <a:lstStyle/>
          <a:p>
            <a:pPr marL="514350" indent="-514350" eaLnBrk="1" hangingPunct="1">
              <a:buFont typeface="+mj-lt"/>
              <a:buAutoNum type="arabicPeriod"/>
            </a:pPr>
            <a:r>
              <a:rPr lang="en-US" altLang="en-US" dirty="0" smtClean="0">
                <a:latin typeface="Times New Roman" panose="02020603050405020304" pitchFamily="18" charset="0"/>
                <a:cs typeface="Times New Roman" panose="02020603050405020304" pitchFamily="18" charset="0"/>
              </a:rPr>
              <a:t>Simple </a:t>
            </a:r>
            <a:r>
              <a:rPr lang="en-US" altLang="en-US" dirty="0">
                <a:latin typeface="Times New Roman" panose="02020603050405020304" pitchFamily="18" charset="0"/>
                <a:cs typeface="Times New Roman" panose="02020603050405020304" pitchFamily="18" charset="0"/>
              </a:rPr>
              <a:t>Random Sampling, </a:t>
            </a:r>
          </a:p>
          <a:p>
            <a:pPr marL="514350" indent="-51435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Systematic Sampling,</a:t>
            </a:r>
          </a:p>
          <a:p>
            <a:pPr marL="514350" indent="-51435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Stratified Random Sampling, </a:t>
            </a:r>
          </a:p>
          <a:p>
            <a:pPr marL="514350" indent="-51435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Cluster Sampling</a:t>
            </a:r>
          </a:p>
          <a:p>
            <a:pPr marL="514350" indent="-51435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Multistage Sampling. </a:t>
            </a:r>
          </a:p>
          <a:p>
            <a:pPr eaLnBrk="1" hangingPunct="1"/>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ransition advTm="359"/>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 xmlns:a16="http://schemas.microsoft.com/office/drawing/2014/main" id="{F3B7613B-CA12-4375-A461-6F4283865BA6}"/>
              </a:ext>
            </a:extLst>
          </p:cNvPr>
          <p:cNvSpPr>
            <a:spLocks noGrp="1" noChangeArrowheads="1"/>
          </p:cNvSpPr>
          <p:nvPr>
            <p:ph type="title"/>
          </p:nvPr>
        </p:nvSpPr>
        <p:spPr>
          <a:xfrm>
            <a:off x="457200" y="122238"/>
            <a:ext cx="7543800" cy="868362"/>
          </a:xfrm>
        </p:spPr>
        <p:txBody>
          <a:bodyPr/>
          <a:lstStyle/>
          <a:p>
            <a:pPr eaLnBrk="1" hangingPunct="1"/>
            <a:r>
              <a:rPr lang="en-US" altLang="en-US" sz="3000" dirty="0">
                <a:latin typeface="Times New Roman" panose="02020603050405020304" pitchFamily="18" charset="0"/>
                <a:cs typeface="Times New Roman" panose="02020603050405020304" pitchFamily="18" charset="0"/>
              </a:rPr>
              <a:t>1. SIMPLE RANDOM SAMPLING</a:t>
            </a:r>
          </a:p>
        </p:txBody>
      </p:sp>
      <p:sp>
        <p:nvSpPr>
          <p:cNvPr id="21506" name="Slide Number Placeholder 5">
            <a:extLst>
              <a:ext uri="{FF2B5EF4-FFF2-40B4-BE49-F238E27FC236}">
                <a16:creationId xmlns="" xmlns:a16="http://schemas.microsoft.com/office/drawing/2014/main" id="{B3EE9F86-3AB0-435E-B711-6C84980C9EB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1C6EA02-6D94-4C7E-BA4C-3565A3723767}" type="slidenum">
              <a:rPr lang="en-US" altLang="en-US">
                <a:solidFill>
                  <a:srgbClr val="FFFFFF"/>
                </a:solidFill>
                <a:latin typeface="Franklin Gothic Book" panose="020B0503020102020204" pitchFamily="34" charset="0"/>
              </a:rPr>
              <a:pPr eaLnBrk="1" hangingPunct="1"/>
              <a:t>14</a:t>
            </a:fld>
            <a:endParaRPr lang="en-US" altLang="en-US">
              <a:solidFill>
                <a:srgbClr val="FFFFFF"/>
              </a:solidFill>
              <a:latin typeface="Franklin Gothic Book" panose="020B0503020102020204" pitchFamily="34" charset="0"/>
            </a:endParaRPr>
          </a:p>
        </p:txBody>
      </p:sp>
      <p:sp>
        <p:nvSpPr>
          <p:cNvPr id="24580" name="Rectangle 3">
            <a:extLst>
              <a:ext uri="{FF2B5EF4-FFF2-40B4-BE49-F238E27FC236}">
                <a16:creationId xmlns="" xmlns:a16="http://schemas.microsoft.com/office/drawing/2014/main" id="{8808B87C-9791-4823-925D-3FA2E1738B30}"/>
              </a:ext>
            </a:extLst>
          </p:cNvPr>
          <p:cNvSpPr>
            <a:spLocks noGrp="1" noChangeArrowheads="1"/>
          </p:cNvSpPr>
          <p:nvPr>
            <p:ph sz="quarter" idx="1"/>
          </p:nvPr>
        </p:nvSpPr>
        <p:spPr>
          <a:xfrm>
            <a:off x="304800" y="1447800"/>
            <a:ext cx="5791200" cy="4419600"/>
          </a:xfrm>
        </p:spPr>
        <p:txBody>
          <a:bodyPr>
            <a:normAutofit fontScale="77500" lnSpcReduction="20000"/>
          </a:bodyPr>
          <a:lstStyle/>
          <a:p>
            <a:pPr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Applicable when population is small, homogeneous &amp; readily available</a:t>
            </a:r>
          </a:p>
          <a:p>
            <a:pPr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All subsets of the frame are given an equal probability. Each element of the frame thus has an equal probability of selection.</a:t>
            </a:r>
          </a:p>
          <a:p>
            <a:pPr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It provides for greatest number of possible samples. This is done by assigning a number to each unit in the sampling frame.</a:t>
            </a:r>
          </a:p>
          <a:p>
            <a:pPr eaLnBrk="1" hangingPunct="1">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 table of random number or lottery system is used to determine which units are to be selected.</a:t>
            </a:r>
          </a:p>
        </p:txBody>
      </p:sp>
      <p:pic>
        <p:nvPicPr>
          <p:cNvPr id="3074" name="Picture 2" descr="Woman&amp;#39;s hands with bright manicure picking up a colorful candy Stock Photo  by ©therpsihora 51537607">
            <a:extLst>
              <a:ext uri="{FF2B5EF4-FFF2-40B4-BE49-F238E27FC236}">
                <a16:creationId xmlns="" xmlns:a16="http://schemas.microsoft.com/office/drawing/2014/main" id="{357B6377-716B-49AF-B84A-419722B59634}"/>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898584" y="1524000"/>
            <a:ext cx="3043343" cy="42672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35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 xmlns:a16="http://schemas.microsoft.com/office/drawing/2014/main" id="{636098F4-6736-4344-8F12-451EAF3C3604}"/>
              </a:ext>
            </a:extLst>
          </p:cNvPr>
          <p:cNvSpPr>
            <a:spLocks noGrp="1" noChangeArrowheads="1"/>
          </p:cNvSpPr>
          <p:nvPr>
            <p:ph type="title"/>
          </p:nvPr>
        </p:nvSpPr>
        <p:spPr>
          <a:xfrm>
            <a:off x="685800" y="639762"/>
            <a:ext cx="7543800" cy="884238"/>
          </a:xfrm>
        </p:spPr>
        <p:txBody>
          <a:bodyPr/>
          <a:lstStyle/>
          <a:p>
            <a:pPr eaLnBrk="1" hangingPunct="1"/>
            <a:r>
              <a:rPr lang="en-US" altLang="en-US" dirty="0">
                <a:latin typeface="Times New Roman" panose="02020603050405020304" pitchFamily="18" charset="0"/>
                <a:cs typeface="Times New Roman" panose="02020603050405020304" pitchFamily="18" charset="0"/>
              </a:rPr>
              <a:t>2. SYSTEMATIC SAMPLING</a:t>
            </a:r>
          </a:p>
        </p:txBody>
      </p:sp>
      <p:sp>
        <p:nvSpPr>
          <p:cNvPr id="24578" name="Slide Number Placeholder 5">
            <a:extLst>
              <a:ext uri="{FF2B5EF4-FFF2-40B4-BE49-F238E27FC236}">
                <a16:creationId xmlns="" xmlns:a16="http://schemas.microsoft.com/office/drawing/2014/main" id="{65CA5929-4E7A-41A4-BC74-AC054225027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9370FD-D76A-4479-84C6-06D07C034FF3}" type="slidenum">
              <a:rPr lang="en-US" altLang="en-US">
                <a:solidFill>
                  <a:srgbClr val="FFFFFF"/>
                </a:solidFill>
                <a:latin typeface="Franklin Gothic Book" panose="020B0503020102020204" pitchFamily="34" charset="0"/>
              </a:rPr>
              <a:pPr eaLnBrk="1" hangingPunct="1"/>
              <a:t>15</a:t>
            </a:fld>
            <a:endParaRPr lang="en-US" altLang="en-US">
              <a:solidFill>
                <a:srgbClr val="FFFFFF"/>
              </a:solidFill>
              <a:latin typeface="Franklin Gothic Book" panose="020B0503020102020204" pitchFamily="34" charset="0"/>
            </a:endParaRPr>
          </a:p>
        </p:txBody>
      </p:sp>
      <p:sp>
        <p:nvSpPr>
          <p:cNvPr id="27652" name="Rectangle 3">
            <a:extLst>
              <a:ext uri="{FF2B5EF4-FFF2-40B4-BE49-F238E27FC236}">
                <a16:creationId xmlns="" xmlns:a16="http://schemas.microsoft.com/office/drawing/2014/main" id="{0EE08602-23D2-4992-9BBC-F8F30F0B1624}"/>
              </a:ext>
            </a:extLst>
          </p:cNvPr>
          <p:cNvSpPr>
            <a:spLocks noGrp="1" noChangeArrowheads="1"/>
          </p:cNvSpPr>
          <p:nvPr>
            <p:ph sz="quarter" idx="1"/>
          </p:nvPr>
        </p:nvSpPr>
        <p:spPr>
          <a:xfrm>
            <a:off x="381000" y="1371600"/>
            <a:ext cx="8382000" cy="2362200"/>
          </a:xfrm>
        </p:spPr>
        <p:txBody>
          <a:bodyPr>
            <a:normAutofit/>
          </a:bodyPr>
          <a:lstStyle/>
          <a:p>
            <a:pPr eaLnBrk="1" hangingPunct="1">
              <a:lnSpc>
                <a:spcPct val="80000"/>
              </a:lnSpc>
            </a:pPr>
            <a:endParaRPr lang="en-US" altLang="en-US" b="1" dirty="0">
              <a:latin typeface="Times New Roman" panose="02020603050405020304" pitchFamily="18" charset="0"/>
              <a:cs typeface="Times New Roman" panose="02020603050405020304" pitchFamily="18" charset="0"/>
            </a:endParaRPr>
          </a:p>
          <a:p>
            <a:pPr algn="just" eaLnBrk="1" hangingPunct="1">
              <a:lnSpc>
                <a:spcPct val="80000"/>
              </a:lnSpc>
            </a:pPr>
            <a:r>
              <a:rPr lang="en-US" altLang="en-US" sz="2400" b="1" dirty="0">
                <a:latin typeface="Times New Roman" panose="02020603050405020304" pitchFamily="18" charset="0"/>
                <a:cs typeface="Times New Roman" panose="02020603050405020304" pitchFamily="18" charset="0"/>
                <a:hlinkClick r:id="rId2" tooltip="Systematic sampling">
                  <a:extLst>
                    <a:ext uri="{A12FA001-AC4F-418D-AE19-62706E023703}">
                      <ahyp:hlinkClr xmlns="" xmlns:ahyp="http://schemas.microsoft.com/office/drawing/2018/hyperlinkcolor" val="tx"/>
                    </a:ext>
                  </a:extLst>
                </a:hlinkClick>
              </a:rPr>
              <a:t>Systematic sampling</a:t>
            </a:r>
            <a:r>
              <a:rPr lang="en-US" altLang="en-US" sz="2400" dirty="0">
                <a:latin typeface="Times New Roman" panose="02020603050405020304" pitchFamily="18" charset="0"/>
                <a:cs typeface="Times New Roman" panose="02020603050405020304" pitchFamily="18" charset="0"/>
              </a:rPr>
              <a:t> relies on arranging the target population according to some ordering scheme and then selecting elements at regular intervals through that ordered list. </a:t>
            </a:r>
          </a:p>
        </p:txBody>
      </p:sp>
      <p:pic>
        <p:nvPicPr>
          <p:cNvPr id="5" name="Picture 47" descr="1_Sys">
            <a:extLst>
              <a:ext uri="{FF2B5EF4-FFF2-40B4-BE49-F238E27FC236}">
                <a16:creationId xmlns="" xmlns:a16="http://schemas.microsoft.com/office/drawing/2014/main" id="{A93DCF51-FCA9-4BE8-AFED-2365741EBD33}"/>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57200" y="3962400"/>
            <a:ext cx="7696200" cy="22209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advTm="546"/>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 xmlns:a16="http://schemas.microsoft.com/office/drawing/2014/main" id="{AD6605D0-3508-45C5-B18B-E142A0241E46}"/>
              </a:ext>
            </a:extLst>
          </p:cNvPr>
          <p:cNvSpPr>
            <a:spLocks noGrp="1" noChangeArrowheads="1"/>
          </p:cNvSpPr>
          <p:nvPr>
            <p:ph type="title"/>
          </p:nvPr>
        </p:nvSpPr>
        <p:spPr>
          <a:xfrm>
            <a:off x="457200" y="333214"/>
            <a:ext cx="8229600" cy="885986"/>
          </a:xfrm>
        </p:spPr>
        <p:txBody>
          <a:bodyPr/>
          <a:lstStyle/>
          <a:p>
            <a:pPr eaLnBrk="1" hangingPunct="1"/>
            <a:r>
              <a:rPr lang="en-US" altLang="en-US" sz="3000" dirty="0">
                <a:latin typeface="Times New Roman" panose="02020603050405020304" pitchFamily="18" charset="0"/>
                <a:cs typeface="Times New Roman" panose="02020603050405020304" pitchFamily="18" charset="0"/>
              </a:rPr>
              <a:t>3. STRATIFIED SAMPLING</a:t>
            </a:r>
          </a:p>
        </p:txBody>
      </p:sp>
      <p:sp>
        <p:nvSpPr>
          <p:cNvPr id="27650" name="Slide Number Placeholder 5">
            <a:extLst>
              <a:ext uri="{FF2B5EF4-FFF2-40B4-BE49-F238E27FC236}">
                <a16:creationId xmlns="" xmlns:a16="http://schemas.microsoft.com/office/drawing/2014/main" id="{3EC46051-32EE-47AF-A63D-CFF2F6EB98B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33D5EE-721B-42EA-AEE1-8B1B1FC56821}" type="slidenum">
              <a:rPr lang="en-US" altLang="en-US">
                <a:solidFill>
                  <a:srgbClr val="FFFFFF"/>
                </a:solidFill>
                <a:latin typeface="Franklin Gothic Book" panose="020B0503020102020204" pitchFamily="34" charset="0"/>
              </a:rPr>
              <a:pPr eaLnBrk="1" hangingPunct="1"/>
              <a:t>16</a:t>
            </a:fld>
            <a:endParaRPr lang="en-US" altLang="en-US">
              <a:solidFill>
                <a:srgbClr val="FFFFFF"/>
              </a:solidFill>
              <a:latin typeface="Franklin Gothic Book" panose="020B0503020102020204" pitchFamily="34" charset="0"/>
            </a:endParaRPr>
          </a:p>
        </p:txBody>
      </p:sp>
      <p:sp>
        <p:nvSpPr>
          <p:cNvPr id="30724" name="Rectangle 3">
            <a:extLst>
              <a:ext uri="{FF2B5EF4-FFF2-40B4-BE49-F238E27FC236}">
                <a16:creationId xmlns="" xmlns:a16="http://schemas.microsoft.com/office/drawing/2014/main" id="{4509A582-BD0A-47CA-9B09-9A3B680513A8}"/>
              </a:ext>
            </a:extLst>
          </p:cNvPr>
          <p:cNvSpPr>
            <a:spLocks noGrp="1" noChangeArrowheads="1"/>
          </p:cNvSpPr>
          <p:nvPr>
            <p:ph sz="quarter" idx="1"/>
          </p:nvPr>
        </p:nvSpPr>
        <p:spPr>
          <a:xfrm>
            <a:off x="228600" y="1375016"/>
            <a:ext cx="5105400" cy="5135563"/>
          </a:xfrm>
        </p:spPr>
        <p:txBody>
          <a:bodyPr>
            <a:normAutofit fontScale="70000" lnSpcReduction="20000"/>
          </a:bodyPr>
          <a:lstStyle/>
          <a:p>
            <a:pPr eaLnBrk="1" hangingPunct="1">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Where population embraces a number of distinct categories, the frame can be organized into separate "strata." Each stratum is then sampled as an independent sub-population, out of which individual elements can be randomly selected. </a:t>
            </a:r>
          </a:p>
          <a:p>
            <a:pPr eaLnBrk="1" hangingPunct="1"/>
            <a:r>
              <a:rPr lang="en-US" altLang="en-US" dirty="0">
                <a:latin typeface="Times New Roman" panose="02020603050405020304" pitchFamily="18" charset="0"/>
                <a:cs typeface="Times New Roman" panose="02020603050405020304" pitchFamily="18" charset="0"/>
              </a:rPr>
              <a:t>Every unit in a stratum has same chance of being selected.</a:t>
            </a:r>
          </a:p>
          <a:p>
            <a:pPr eaLnBrk="1" hangingPunct="1"/>
            <a:r>
              <a:rPr lang="en-US" altLang="en-US" dirty="0">
                <a:latin typeface="Times New Roman" panose="02020603050405020304" pitchFamily="18" charset="0"/>
                <a:cs typeface="Times New Roman" panose="02020603050405020304" pitchFamily="18" charset="0"/>
              </a:rPr>
              <a:t>Using same sampling fraction for all strata ensures proportionate representation in the sample.</a:t>
            </a:r>
          </a:p>
          <a:p>
            <a:pPr eaLnBrk="1" hangingPunct="1"/>
            <a:r>
              <a:rPr lang="en-US" altLang="en-US" dirty="0">
                <a:latin typeface="Times New Roman" panose="02020603050405020304" pitchFamily="18" charset="0"/>
                <a:cs typeface="Times New Roman" panose="02020603050405020304" pitchFamily="18" charset="0"/>
              </a:rPr>
              <a:t>Adequate representation of minority subgroups of interest can be ensured by stratification &amp; varying sampling fraction between strata as required.</a:t>
            </a:r>
          </a:p>
          <a:p>
            <a:pPr eaLnBrk="1" hangingPunct="1"/>
            <a:endParaRPr lang="en-US" altLang="en-US" dirty="0">
              <a:latin typeface="Times New Roman" panose="02020603050405020304" pitchFamily="18" charset="0"/>
              <a:cs typeface="Times New Roman" panose="02020603050405020304" pitchFamily="18" charset="0"/>
            </a:endParaRPr>
          </a:p>
        </p:txBody>
      </p:sp>
      <p:pic>
        <p:nvPicPr>
          <p:cNvPr id="4098" name="Picture 2" descr="Four Types of Random Sampling Techniques Explained with Visuals | by  Terence Shin | Towards Data Science">
            <a:extLst>
              <a:ext uri="{FF2B5EF4-FFF2-40B4-BE49-F238E27FC236}">
                <a16:creationId xmlns="" xmlns:a16="http://schemas.microsoft.com/office/drawing/2014/main" id="{FE5352F6-E6B6-4ABA-81C0-4501D8256D5E}"/>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410200" y="1566862"/>
            <a:ext cx="3505200" cy="414813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51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 xmlns:a16="http://schemas.microsoft.com/office/drawing/2014/main" id="{0D4B8B6A-7FE9-4D54-AD32-10BEA8D9D892}"/>
              </a:ext>
            </a:extLst>
          </p:cNvPr>
          <p:cNvSpPr>
            <a:spLocks noGrp="1" noChangeArrowheads="1"/>
          </p:cNvSpPr>
          <p:nvPr>
            <p:ph type="title"/>
          </p:nvPr>
        </p:nvSpPr>
        <p:spPr>
          <a:xfrm>
            <a:off x="381000" y="381000"/>
            <a:ext cx="8229600" cy="838200"/>
          </a:xfrm>
        </p:spPr>
        <p:txBody>
          <a:bodyPr/>
          <a:lstStyle/>
          <a:p>
            <a:pPr eaLnBrk="1" hangingPunct="1"/>
            <a:r>
              <a:rPr lang="en-US" altLang="en-US" sz="3000" dirty="0" smtClean="0">
                <a:latin typeface="Times New Roman" panose="02020603050405020304" pitchFamily="18" charset="0"/>
                <a:cs typeface="Times New Roman" panose="02020603050405020304" pitchFamily="18" charset="0"/>
              </a:rPr>
              <a:t>4. CLUSTER </a:t>
            </a:r>
            <a:r>
              <a:rPr lang="en-US" altLang="en-US" sz="3000" dirty="0">
                <a:latin typeface="Times New Roman" panose="02020603050405020304" pitchFamily="18" charset="0"/>
                <a:cs typeface="Times New Roman" panose="02020603050405020304" pitchFamily="18" charset="0"/>
              </a:rPr>
              <a:t>SAMPLING</a:t>
            </a:r>
          </a:p>
        </p:txBody>
      </p:sp>
      <p:sp>
        <p:nvSpPr>
          <p:cNvPr id="32770" name="Slide Number Placeholder 5">
            <a:extLst>
              <a:ext uri="{FF2B5EF4-FFF2-40B4-BE49-F238E27FC236}">
                <a16:creationId xmlns="" xmlns:a16="http://schemas.microsoft.com/office/drawing/2014/main" id="{CAFBB44C-6982-484B-87B8-66A9778BDA6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2C3A3F-1229-4831-9D2A-FED1BA2FBE21}" type="slidenum">
              <a:rPr lang="en-US" altLang="en-US">
                <a:solidFill>
                  <a:srgbClr val="FFFFFF"/>
                </a:solidFill>
                <a:latin typeface="Franklin Gothic Book" panose="020B0503020102020204" pitchFamily="34" charset="0"/>
              </a:rPr>
              <a:pPr eaLnBrk="1" hangingPunct="1"/>
              <a:t>17</a:t>
            </a:fld>
            <a:endParaRPr lang="en-US" altLang="en-US">
              <a:solidFill>
                <a:srgbClr val="FFFFFF"/>
              </a:solidFill>
              <a:latin typeface="Franklin Gothic Book" panose="020B0503020102020204" pitchFamily="34" charset="0"/>
            </a:endParaRPr>
          </a:p>
        </p:txBody>
      </p:sp>
      <p:sp>
        <p:nvSpPr>
          <p:cNvPr id="35844" name="Rectangle 3">
            <a:extLst>
              <a:ext uri="{FF2B5EF4-FFF2-40B4-BE49-F238E27FC236}">
                <a16:creationId xmlns="" xmlns:a16="http://schemas.microsoft.com/office/drawing/2014/main" id="{DBB4E45B-3C0D-446C-BE9E-9BB1EEFDADE8}"/>
              </a:ext>
            </a:extLst>
          </p:cNvPr>
          <p:cNvSpPr>
            <a:spLocks noGrp="1" noChangeArrowheads="1"/>
          </p:cNvSpPr>
          <p:nvPr>
            <p:ph sz="quarter" idx="1"/>
          </p:nvPr>
        </p:nvSpPr>
        <p:spPr>
          <a:xfrm>
            <a:off x="152400" y="1447800"/>
            <a:ext cx="4882356" cy="4572000"/>
          </a:xfrm>
        </p:spPr>
        <p:txBody>
          <a:bodyPr>
            <a:normAutofit fontScale="85000" lnSpcReduction="20000"/>
          </a:bodyPr>
          <a:lstStyle/>
          <a:p>
            <a:pPr eaLnBrk="1" hangingPunct="1"/>
            <a:r>
              <a:rPr lang="en-US" altLang="en-US" sz="2800" dirty="0">
                <a:latin typeface="Times New Roman" panose="02020603050405020304" pitchFamily="18" charset="0"/>
                <a:cs typeface="Times New Roman" panose="02020603050405020304" pitchFamily="18" charset="0"/>
              </a:rPr>
              <a:t>First stage a sample of areas is chosen;</a:t>
            </a:r>
          </a:p>
          <a:p>
            <a:pPr eaLnBrk="1" hangingPunct="1"/>
            <a:r>
              <a:rPr lang="en-US" altLang="en-US" sz="2800" dirty="0">
                <a:latin typeface="Times New Roman" panose="02020603050405020304" pitchFamily="18" charset="0"/>
                <a:cs typeface="Times New Roman" panose="02020603050405020304" pitchFamily="18" charset="0"/>
              </a:rPr>
              <a:t> Second stage a sample of respondents </a:t>
            </a:r>
            <a:r>
              <a:rPr lang="en-US" altLang="en-US" sz="2800" i="1" dirty="0">
                <a:latin typeface="Times New Roman" panose="02020603050405020304" pitchFamily="18" charset="0"/>
                <a:cs typeface="Times New Roman" panose="02020603050405020304" pitchFamily="18" charset="0"/>
              </a:rPr>
              <a:t>within</a:t>
            </a:r>
            <a:r>
              <a:rPr lang="en-US" altLang="en-US" sz="2800" dirty="0">
                <a:latin typeface="Times New Roman" panose="02020603050405020304" pitchFamily="18" charset="0"/>
                <a:cs typeface="Times New Roman" panose="02020603050405020304" pitchFamily="18" charset="0"/>
              </a:rPr>
              <a:t> those areas is selected.</a:t>
            </a:r>
          </a:p>
          <a:p>
            <a:pPr eaLnBrk="1" hangingPunct="1"/>
            <a:r>
              <a:rPr lang="en-US" altLang="en-US" sz="2800" dirty="0">
                <a:latin typeface="Times New Roman" panose="02020603050405020304" pitchFamily="18" charset="0"/>
                <a:cs typeface="Times New Roman" panose="02020603050405020304" pitchFamily="18" charset="0"/>
              </a:rPr>
              <a:t> Population divided into clusters of homogeneous units, usually based on geographical contiguity.</a:t>
            </a:r>
          </a:p>
          <a:p>
            <a:pPr eaLnBrk="1" hangingPunct="1"/>
            <a:r>
              <a:rPr lang="en-US" altLang="en-US" sz="2800" dirty="0">
                <a:latin typeface="Times New Roman" panose="02020603050405020304" pitchFamily="18" charset="0"/>
                <a:cs typeface="Times New Roman" panose="02020603050405020304" pitchFamily="18" charset="0"/>
              </a:rPr>
              <a:t>Sampling units are groups rather than individuals.</a:t>
            </a:r>
          </a:p>
          <a:p>
            <a:pPr eaLnBrk="1" hangingPunct="1"/>
            <a:r>
              <a:rPr lang="en-US" altLang="en-US" sz="2800" dirty="0">
                <a:latin typeface="Times New Roman" panose="02020603050405020304" pitchFamily="18" charset="0"/>
                <a:cs typeface="Times New Roman" panose="02020603050405020304" pitchFamily="18" charset="0"/>
              </a:rPr>
              <a:t>A sample of such clusters is then selected.</a:t>
            </a:r>
          </a:p>
          <a:p>
            <a:pPr eaLnBrk="1" hangingPunct="1"/>
            <a:r>
              <a:rPr lang="en-US" altLang="en-US" sz="2800" dirty="0">
                <a:latin typeface="Times New Roman" panose="02020603050405020304" pitchFamily="18" charset="0"/>
                <a:cs typeface="Times New Roman" panose="02020603050405020304" pitchFamily="18" charset="0"/>
              </a:rPr>
              <a:t>All units from the selected clusters are studied.</a:t>
            </a:r>
          </a:p>
          <a:p>
            <a:pPr eaLnBrk="1" hangingPunct="1"/>
            <a:endParaRPr lang="en-US" altLang="en-US" sz="2800" dirty="0">
              <a:latin typeface="Times New Roman" panose="02020603050405020304" pitchFamily="18" charset="0"/>
              <a:cs typeface="Times New Roman" panose="02020603050405020304" pitchFamily="18" charset="0"/>
            </a:endParaRPr>
          </a:p>
        </p:txBody>
      </p:sp>
      <p:pic>
        <p:nvPicPr>
          <p:cNvPr id="5122" name="Picture 2" descr="Cluster Sampling vs. Stratified Sampling: What&amp;#39;s the Difference?">
            <a:extLst>
              <a:ext uri="{FF2B5EF4-FFF2-40B4-BE49-F238E27FC236}">
                <a16:creationId xmlns="" xmlns:a16="http://schemas.microsoft.com/office/drawing/2014/main" id="{E2F36C1E-4446-4085-A6E6-B105B8167652}"/>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034756" y="1524000"/>
            <a:ext cx="3652044" cy="41910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702"/>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 xmlns:a16="http://schemas.microsoft.com/office/drawing/2014/main" id="{B0F769B0-C837-4362-A123-C2E8313AF286}"/>
              </a:ext>
            </a:extLst>
          </p:cNvPr>
          <p:cNvSpPr>
            <a:spLocks noGrp="1" noChangeArrowheads="1"/>
          </p:cNvSpPr>
          <p:nvPr>
            <p:ph type="title"/>
          </p:nvPr>
        </p:nvSpPr>
        <p:spPr>
          <a:xfrm>
            <a:off x="457200" y="415925"/>
            <a:ext cx="7772399" cy="652532"/>
          </a:xfrm>
        </p:spPr>
        <p:txBody>
          <a:bodyPr/>
          <a:lstStyle/>
          <a:p>
            <a:pPr eaLnBrk="1" hangingPunct="1"/>
            <a:r>
              <a:rPr lang="en-US" altLang="en-US" sz="3000" dirty="0" smtClean="0">
                <a:latin typeface="Times New Roman" panose="02020603050405020304" pitchFamily="18" charset="0"/>
                <a:cs typeface="Times New Roman" panose="02020603050405020304" pitchFamily="18" charset="0"/>
              </a:rPr>
              <a:t>5. MULTISTAGE </a:t>
            </a:r>
            <a:r>
              <a:rPr lang="en-US" altLang="en-US" sz="3000" dirty="0">
                <a:latin typeface="Times New Roman" panose="02020603050405020304" pitchFamily="18" charset="0"/>
                <a:cs typeface="Times New Roman" panose="02020603050405020304" pitchFamily="18" charset="0"/>
              </a:rPr>
              <a:t>SAMPLING</a:t>
            </a:r>
          </a:p>
        </p:txBody>
      </p:sp>
      <p:sp>
        <p:nvSpPr>
          <p:cNvPr id="38914" name="Slide Number Placeholder 5">
            <a:extLst>
              <a:ext uri="{FF2B5EF4-FFF2-40B4-BE49-F238E27FC236}">
                <a16:creationId xmlns="" xmlns:a16="http://schemas.microsoft.com/office/drawing/2014/main" id="{DAE023EE-51CC-44CD-BB2F-E0400FA0D06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4CBB83-43E6-4281-9A36-B12A19760656}" type="slidenum">
              <a:rPr lang="en-US" altLang="en-US">
                <a:solidFill>
                  <a:srgbClr val="FFFFFF"/>
                </a:solidFill>
                <a:latin typeface="Franklin Gothic Book" panose="020B0503020102020204" pitchFamily="34" charset="0"/>
              </a:rPr>
              <a:pPr eaLnBrk="1" hangingPunct="1"/>
              <a:t>18</a:t>
            </a:fld>
            <a:endParaRPr lang="en-US" altLang="en-US">
              <a:solidFill>
                <a:srgbClr val="FFFFFF"/>
              </a:solidFill>
              <a:latin typeface="Franklin Gothic Book" panose="020B0503020102020204" pitchFamily="34" charset="0"/>
            </a:endParaRPr>
          </a:p>
        </p:txBody>
      </p:sp>
      <p:sp>
        <p:nvSpPr>
          <p:cNvPr id="41988" name="Rectangle 3">
            <a:extLst>
              <a:ext uri="{FF2B5EF4-FFF2-40B4-BE49-F238E27FC236}">
                <a16:creationId xmlns="" xmlns:a16="http://schemas.microsoft.com/office/drawing/2014/main" id="{376675AC-32D8-4A1A-ADB2-50BA60CEBB71}"/>
              </a:ext>
            </a:extLst>
          </p:cNvPr>
          <p:cNvSpPr>
            <a:spLocks noGrp="1" noChangeArrowheads="1"/>
          </p:cNvSpPr>
          <p:nvPr>
            <p:ph sz="quarter" idx="1"/>
          </p:nvPr>
        </p:nvSpPr>
        <p:spPr>
          <a:xfrm>
            <a:off x="457200" y="1068457"/>
            <a:ext cx="7543800" cy="2741543"/>
          </a:xfrm>
        </p:spPr>
        <p:txBody>
          <a:bodyPr>
            <a:normAutofit fontScale="85000" lnSpcReduction="20000"/>
          </a:bodyPr>
          <a:lstStyle/>
          <a:p>
            <a:pPr eaLnBrk="1" hangingPunct="1">
              <a:lnSpc>
                <a:spcPct val="80000"/>
              </a:lnSpc>
            </a:pPr>
            <a:r>
              <a:rPr lang="en-US" altLang="en-US" sz="2100" dirty="0">
                <a:latin typeface="Times New Roman" panose="02020603050405020304" pitchFamily="18" charset="0"/>
                <a:cs typeface="Times New Roman" panose="02020603050405020304" pitchFamily="18" charset="0"/>
              </a:rPr>
              <a:t> Complex form of cluster sampling in which two or more levels of units </a:t>
            </a:r>
          </a:p>
          <a:p>
            <a:pPr marL="0" indent="0" eaLnBrk="1" hangingPunct="1">
              <a:lnSpc>
                <a:spcPct val="80000"/>
              </a:lnSpc>
              <a:buNone/>
            </a:pPr>
            <a:r>
              <a:rPr lang="en-US" altLang="en-US" sz="2100" dirty="0">
                <a:latin typeface="Times New Roman" panose="02020603050405020304" pitchFamily="18" charset="0"/>
                <a:cs typeface="Times New Roman" panose="02020603050405020304" pitchFamily="18" charset="0"/>
              </a:rPr>
              <a:t>       are embedded one in the other.</a:t>
            </a:r>
          </a:p>
          <a:p>
            <a:pPr eaLnBrk="1" hangingPunct="1">
              <a:lnSpc>
                <a:spcPct val="80000"/>
              </a:lnSpc>
            </a:pPr>
            <a:endParaRPr lang="en-US" altLang="en-US" sz="2100" dirty="0">
              <a:latin typeface="Times New Roman" panose="02020603050405020304" pitchFamily="18" charset="0"/>
              <a:cs typeface="Times New Roman" panose="02020603050405020304" pitchFamily="18" charset="0"/>
            </a:endParaRP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 First stage, random number of districts chosen in all</a:t>
            </a:r>
          </a:p>
          <a:p>
            <a:pPr eaLnBrk="1" hangingPunct="1">
              <a:lnSpc>
                <a:spcPct val="80000"/>
              </a:lnSpc>
              <a:buFont typeface="Wingdings" panose="05000000000000000000" pitchFamily="2" charset="2"/>
              <a:buNone/>
            </a:pPr>
            <a:r>
              <a:rPr lang="en-US" altLang="en-US" sz="2100" dirty="0">
                <a:latin typeface="Times New Roman" panose="02020603050405020304" pitchFamily="18" charset="0"/>
                <a:cs typeface="Times New Roman" panose="02020603050405020304" pitchFamily="18" charset="0"/>
              </a:rPr>
              <a:t>        states.</a:t>
            </a:r>
          </a:p>
          <a:p>
            <a:pPr eaLnBrk="1" hangingPunct="1">
              <a:lnSpc>
                <a:spcPct val="80000"/>
              </a:lnSpc>
              <a:buFont typeface="Wingdings" panose="05000000000000000000" pitchFamily="2" charset="2"/>
              <a:buNone/>
            </a:pPr>
            <a:endParaRPr lang="en-US" altLang="en-US" sz="2100" dirty="0">
              <a:latin typeface="Times New Roman" panose="02020603050405020304" pitchFamily="18" charset="0"/>
              <a:cs typeface="Times New Roman" panose="02020603050405020304" pitchFamily="18" charset="0"/>
            </a:endParaRP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 Followed by random number of talukas, villages.</a:t>
            </a:r>
          </a:p>
          <a:p>
            <a:pPr eaLnBrk="1" hangingPunct="1">
              <a:lnSpc>
                <a:spcPct val="80000"/>
              </a:lnSpc>
              <a:buFont typeface="Wingdings" panose="05000000000000000000" pitchFamily="2" charset="2"/>
              <a:buNone/>
            </a:pPr>
            <a:r>
              <a:rPr lang="en-US" altLang="en-US" sz="2100" dirty="0">
                <a:latin typeface="Times New Roman" panose="02020603050405020304" pitchFamily="18" charset="0"/>
                <a:cs typeface="Times New Roman" panose="02020603050405020304" pitchFamily="18" charset="0"/>
              </a:rPr>
              <a:t> </a:t>
            </a: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Then third stage units will be houses. </a:t>
            </a:r>
          </a:p>
          <a:p>
            <a:pPr eaLnBrk="1" hangingPunct="1">
              <a:lnSpc>
                <a:spcPct val="80000"/>
              </a:lnSpc>
              <a:buFont typeface="Wingdings" panose="05000000000000000000" pitchFamily="2" charset="2"/>
              <a:buNone/>
            </a:pPr>
            <a:r>
              <a:rPr lang="en-US" altLang="en-US" sz="2100" dirty="0">
                <a:latin typeface="Times New Roman" panose="02020603050405020304" pitchFamily="18" charset="0"/>
                <a:cs typeface="Times New Roman" panose="02020603050405020304" pitchFamily="18" charset="0"/>
              </a:rPr>
              <a:t>     </a:t>
            </a: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 All ultimate units  (houses, for instance) selected at last step are surveyed.</a:t>
            </a:r>
          </a:p>
        </p:txBody>
      </p:sp>
      <p:pic>
        <p:nvPicPr>
          <p:cNvPr id="6146" name="Picture 2" descr="Multistage Sampling | Cluster vs. Multistage Sampling| Probability Sampling  (Part-5) | NTA-UGC NET - YouTube">
            <a:extLst>
              <a:ext uri="{FF2B5EF4-FFF2-40B4-BE49-F238E27FC236}">
                <a16:creationId xmlns="" xmlns:a16="http://schemas.microsoft.com/office/drawing/2014/main" id="{E2FB8EEB-5DB8-47D2-A364-59F079E749C4}"/>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4800" y="4083050"/>
            <a:ext cx="8839200" cy="254635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406"/>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 xmlns:a16="http://schemas.microsoft.com/office/drawing/2014/main" id="{AC772224-1B0E-4F5C-83FB-BFD9D5667FAE}"/>
              </a:ext>
            </a:extLst>
          </p:cNvPr>
          <p:cNvSpPr>
            <a:spLocks noGrp="1" noChangeArrowheads="1"/>
          </p:cNvSpPr>
          <p:nvPr>
            <p:ph type="title"/>
          </p:nvPr>
        </p:nvSpPr>
        <p:spPr>
          <a:xfrm>
            <a:off x="457200" y="685800"/>
            <a:ext cx="8229600" cy="1143000"/>
          </a:xfrm>
        </p:spPr>
        <p:txBody>
          <a:bodyPr rtlCol="0">
            <a:normAutofit fontScale="90000"/>
          </a:bodyPr>
          <a:lstStyle/>
          <a:p>
            <a:pPr eaLnBrk="1" fontAlgn="auto" hangingPunct="1">
              <a:spcAft>
                <a:spcPts val="0"/>
              </a:spcAft>
              <a:defRPr/>
            </a:pPr>
            <a:r>
              <a:rPr lang="en-US" sz="3600" dirty="0" smtClean="0">
                <a:solidFill>
                  <a:srgbClr val="008000"/>
                </a:solidFill>
                <a:latin typeface="Times New Roman" panose="02020603050405020304" pitchFamily="18" charset="0"/>
                <a:cs typeface="Times New Roman" panose="02020603050405020304" pitchFamily="18" charset="0"/>
              </a:rPr>
              <a:t>TYPES OF NONPROBABILITY </a:t>
            </a:r>
            <a:r>
              <a:rPr lang="en-US" sz="3600" dirty="0">
                <a:solidFill>
                  <a:srgbClr val="008000"/>
                </a:solidFill>
                <a:latin typeface="Times New Roman" panose="02020603050405020304" pitchFamily="18" charset="0"/>
                <a:cs typeface="Times New Roman" panose="02020603050405020304" pitchFamily="18" charset="0"/>
              </a:rPr>
              <a:t>SAMPLING</a:t>
            </a:r>
          </a:p>
        </p:txBody>
      </p:sp>
      <p:sp>
        <p:nvSpPr>
          <p:cNvPr id="20482" name="Slide Number Placeholder 5">
            <a:extLst>
              <a:ext uri="{FF2B5EF4-FFF2-40B4-BE49-F238E27FC236}">
                <a16:creationId xmlns="" xmlns:a16="http://schemas.microsoft.com/office/drawing/2014/main" id="{1AA80595-F34C-4BAE-A1B6-59BF2BB1E9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CC4C1D-F1B9-4854-9109-A8EA56AACBBB}" type="slidenum">
              <a:rPr lang="en-US" altLang="en-US">
                <a:solidFill>
                  <a:srgbClr val="FFFFFF"/>
                </a:solidFill>
                <a:latin typeface="Franklin Gothic Book" panose="020B0503020102020204" pitchFamily="34" charset="0"/>
              </a:rPr>
              <a:pPr eaLnBrk="1" hangingPunct="1"/>
              <a:t>19</a:t>
            </a:fld>
            <a:endParaRPr lang="en-US" altLang="en-US">
              <a:solidFill>
                <a:srgbClr val="FFFFFF"/>
              </a:solidFill>
              <a:latin typeface="Franklin Gothic Book" panose="020B0503020102020204" pitchFamily="34" charset="0"/>
            </a:endParaRPr>
          </a:p>
        </p:txBody>
      </p:sp>
      <p:sp>
        <p:nvSpPr>
          <p:cNvPr id="23556" name="Rectangle 3">
            <a:extLst>
              <a:ext uri="{FF2B5EF4-FFF2-40B4-BE49-F238E27FC236}">
                <a16:creationId xmlns="" xmlns:a16="http://schemas.microsoft.com/office/drawing/2014/main" id="{30B4BFC3-BA31-46C7-B0A5-A501333598E8}"/>
              </a:ext>
            </a:extLst>
          </p:cNvPr>
          <p:cNvSpPr>
            <a:spLocks noGrp="1" noChangeArrowheads="1"/>
          </p:cNvSpPr>
          <p:nvPr>
            <p:ph sz="quarter" idx="1"/>
          </p:nvPr>
        </p:nvSpPr>
        <p:spPr>
          <a:xfrm>
            <a:off x="457200" y="1951037"/>
            <a:ext cx="8229600" cy="4525963"/>
          </a:xfrm>
        </p:spPr>
        <p:txBody>
          <a:bodyPr>
            <a:normAutofit/>
          </a:bodyPr>
          <a:lstStyle/>
          <a:p>
            <a:pPr marL="514350" indent="-51435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 </a:t>
            </a:r>
            <a:r>
              <a:rPr lang="en-US" altLang="en-US" dirty="0" smtClean="0">
                <a:latin typeface="Times New Roman" panose="02020603050405020304" pitchFamily="18" charset="0"/>
                <a:cs typeface="Times New Roman" panose="02020603050405020304" pitchFamily="18" charset="0"/>
              </a:rPr>
              <a:t>Convenience Sampling, </a:t>
            </a:r>
          </a:p>
          <a:p>
            <a:pPr marL="514350" indent="-514350" eaLnBrk="1" hangingPunct="1">
              <a:buFont typeface="+mj-lt"/>
              <a:buAutoNum type="arabicPeriod"/>
            </a:pPr>
            <a:r>
              <a:rPr lang="en-US" altLang="en-US" dirty="0" smtClean="0">
                <a:latin typeface="Times New Roman" panose="02020603050405020304" pitchFamily="18" charset="0"/>
                <a:cs typeface="Times New Roman" panose="02020603050405020304" pitchFamily="18" charset="0"/>
              </a:rPr>
              <a:t>Quota </a:t>
            </a:r>
            <a:r>
              <a:rPr lang="en-US" altLang="en-US" dirty="0">
                <a:latin typeface="Times New Roman" panose="02020603050405020304" pitchFamily="18" charset="0"/>
                <a:cs typeface="Times New Roman" panose="02020603050405020304" pitchFamily="18" charset="0"/>
              </a:rPr>
              <a:t>Sampling </a:t>
            </a:r>
          </a:p>
          <a:p>
            <a:pPr marL="514350" indent="-514350" eaLnBrk="1" hangingPunct="1">
              <a:buFont typeface="+mj-lt"/>
              <a:buAutoNum type="arabicPeriod"/>
            </a:pPr>
            <a:r>
              <a:rPr lang="en-US" altLang="en-US" dirty="0" err="1">
                <a:latin typeface="Times New Roman" panose="02020603050405020304" pitchFamily="18" charset="0"/>
                <a:cs typeface="Times New Roman" panose="02020603050405020304" pitchFamily="18" charset="0"/>
              </a:rPr>
              <a:t>Judgemental</a:t>
            </a:r>
            <a:r>
              <a:rPr lang="en-US" altLang="en-US" dirty="0">
                <a:latin typeface="Times New Roman" panose="02020603050405020304" pitchFamily="18" charset="0"/>
                <a:cs typeface="Times New Roman" panose="02020603050405020304" pitchFamily="18" charset="0"/>
              </a:rPr>
              <a:t> </a:t>
            </a:r>
            <a:r>
              <a:rPr lang="en-US" altLang="en-US" dirty="0" smtClean="0">
                <a:latin typeface="Times New Roman" panose="02020603050405020304" pitchFamily="18" charset="0"/>
                <a:cs typeface="Times New Roman" panose="02020603050405020304" pitchFamily="18" charset="0"/>
              </a:rPr>
              <a:t>/Purposive </a:t>
            </a:r>
            <a:r>
              <a:rPr lang="en-US" altLang="en-US" dirty="0">
                <a:latin typeface="Times New Roman" panose="02020603050405020304" pitchFamily="18" charset="0"/>
                <a:cs typeface="Times New Roman" panose="02020603050405020304" pitchFamily="18" charset="0"/>
              </a:rPr>
              <a:t>Sampling. </a:t>
            </a:r>
          </a:p>
          <a:p>
            <a:pPr marL="514350" indent="-514350" eaLnBrk="1" hangingPunct="1">
              <a:buFont typeface="+mj-lt"/>
              <a:buAutoNum type="arabicPeriod"/>
            </a:pPr>
            <a:r>
              <a:rPr lang="en-US" altLang="en-US" dirty="0">
                <a:latin typeface="Times New Roman" panose="02020603050405020304" pitchFamily="18" charset="0"/>
                <a:cs typeface="Times New Roman" panose="02020603050405020304" pitchFamily="18" charset="0"/>
              </a:rPr>
              <a:t>Snow ball Samling</a:t>
            </a:r>
            <a:endParaRPr lang="en-US" altLang="en-US" dirty="0">
              <a:solidFill>
                <a:schemeClr val="accent2"/>
              </a:solidFill>
              <a:latin typeface="Comic Sans MS" panose="030F0702030302020204" pitchFamily="66" charset="0"/>
            </a:endParaRPr>
          </a:p>
        </p:txBody>
      </p:sp>
    </p:spTree>
  </p:cSld>
  <p:clrMapOvr>
    <a:masterClrMapping/>
  </p:clrMapOvr>
  <p:transition advTm="702"/>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a:extLst>
              <a:ext uri="{FF2B5EF4-FFF2-40B4-BE49-F238E27FC236}">
                <a16:creationId xmlns="" xmlns:a16="http://schemas.microsoft.com/office/drawing/2014/main" id="{0EECA034-05F1-4E51-AA03-9E250EB601B5}"/>
              </a:ext>
            </a:extLst>
          </p:cNvPr>
          <p:cNvSpPr>
            <a:spLocks noGrp="1" noChangeArrowheads="1"/>
          </p:cNvSpPr>
          <p:nvPr>
            <p:ph type="title"/>
          </p:nvPr>
        </p:nvSpPr>
        <p:spPr>
          <a:xfrm>
            <a:off x="469900" y="173038"/>
            <a:ext cx="7531100" cy="598487"/>
          </a:xfrm>
        </p:spPr>
        <p:txBody>
          <a:bodyPr rtlCol="0">
            <a:normAutofit fontScale="90000"/>
          </a:bodyPr>
          <a:lstStyle/>
          <a:p>
            <a:pPr eaLnBrk="1" fontAlgn="auto" hangingPunct="1">
              <a:spcAft>
                <a:spcPts val="0"/>
              </a:spcAft>
              <a:defRPr/>
            </a:pPr>
            <a:r>
              <a:rPr lang="en-US" sz="3500" dirty="0" smtClean="0">
                <a:latin typeface="Times New Roman" panose="02020603050405020304" pitchFamily="18" charset="0"/>
                <a:cs typeface="Times New Roman" panose="02020603050405020304" pitchFamily="18" charset="0"/>
              </a:rPr>
              <a:t>5. CONVENIENCE </a:t>
            </a:r>
            <a:r>
              <a:rPr lang="en-US" sz="3500" dirty="0">
                <a:latin typeface="Times New Roman" panose="02020603050405020304" pitchFamily="18" charset="0"/>
                <a:cs typeface="Times New Roman" panose="02020603050405020304" pitchFamily="18" charset="0"/>
              </a:rPr>
              <a:t>SAMPLING</a:t>
            </a:r>
          </a:p>
        </p:txBody>
      </p:sp>
      <p:sp>
        <p:nvSpPr>
          <p:cNvPr id="44034" name="Slide Number Placeholder 5">
            <a:extLst>
              <a:ext uri="{FF2B5EF4-FFF2-40B4-BE49-F238E27FC236}">
                <a16:creationId xmlns="" xmlns:a16="http://schemas.microsoft.com/office/drawing/2014/main" id="{2D215EDC-1DAE-4AE5-96AA-76E8D98C959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E663D3-3810-4CE2-A3AD-D701CE3B31D6}" type="slidenum">
              <a:rPr lang="en-US" altLang="en-US">
                <a:solidFill>
                  <a:srgbClr val="FFFFFF"/>
                </a:solidFill>
                <a:latin typeface="Franklin Gothic Book" panose="020B0503020102020204" pitchFamily="34" charset="0"/>
              </a:rPr>
              <a:pPr eaLnBrk="1" hangingPunct="1"/>
              <a:t>20</a:t>
            </a:fld>
            <a:endParaRPr lang="en-US" altLang="en-US">
              <a:solidFill>
                <a:srgbClr val="FFFFFF"/>
              </a:solidFill>
              <a:latin typeface="Franklin Gothic Book" panose="020B0503020102020204" pitchFamily="34" charset="0"/>
            </a:endParaRPr>
          </a:p>
        </p:txBody>
      </p:sp>
      <p:sp>
        <p:nvSpPr>
          <p:cNvPr id="47108" name="Rectangle 3">
            <a:extLst>
              <a:ext uri="{FF2B5EF4-FFF2-40B4-BE49-F238E27FC236}">
                <a16:creationId xmlns="" xmlns:a16="http://schemas.microsoft.com/office/drawing/2014/main" id="{4E48D02A-7BF0-496A-9C94-BEE6BBA8ADFF}"/>
              </a:ext>
            </a:extLst>
          </p:cNvPr>
          <p:cNvSpPr>
            <a:spLocks noGrp="1" noChangeArrowheads="1"/>
          </p:cNvSpPr>
          <p:nvPr>
            <p:ph sz="quarter" idx="1"/>
          </p:nvPr>
        </p:nvSpPr>
        <p:spPr>
          <a:xfrm>
            <a:off x="152400" y="762000"/>
            <a:ext cx="8534400" cy="3505200"/>
          </a:xfrm>
        </p:spPr>
        <p:txBody>
          <a:bodyPr>
            <a:normAutofit/>
          </a:bodyPr>
          <a:lstStyle/>
          <a:p>
            <a:pPr eaLnBrk="1" hangingPunct="1">
              <a:lnSpc>
                <a:spcPct val="80000"/>
              </a:lnSpc>
            </a:pPr>
            <a:endParaRPr lang="en-US" altLang="en-US" sz="1500" b="1" dirty="0">
              <a:latin typeface="Times New Roman" panose="02020603050405020304" pitchFamily="18" charset="0"/>
              <a:cs typeface="Times New Roman" panose="02020603050405020304" pitchFamily="18" charset="0"/>
            </a:endParaRP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Sometimes known as </a:t>
            </a:r>
            <a:r>
              <a:rPr lang="en-US" altLang="en-US" sz="2100" b="1" dirty="0">
                <a:latin typeface="Times New Roman" panose="02020603050405020304" pitchFamily="18" charset="0"/>
                <a:cs typeface="Times New Roman" panose="02020603050405020304" pitchFamily="18" charset="0"/>
              </a:rPr>
              <a:t>grab</a:t>
            </a:r>
            <a:r>
              <a:rPr lang="en-US" altLang="en-US" sz="2100" dirty="0">
                <a:latin typeface="Times New Roman" panose="02020603050405020304" pitchFamily="18" charset="0"/>
                <a:cs typeface="Times New Roman" panose="02020603050405020304" pitchFamily="18" charset="0"/>
              </a:rPr>
              <a:t> or </a:t>
            </a:r>
            <a:r>
              <a:rPr lang="en-US" altLang="en-US" sz="2100" b="1" dirty="0">
                <a:latin typeface="Times New Roman" panose="02020603050405020304" pitchFamily="18" charset="0"/>
                <a:cs typeface="Times New Roman" panose="02020603050405020304" pitchFamily="18" charset="0"/>
              </a:rPr>
              <a:t>opportunity sampling or accidental or haphazard sampling.</a:t>
            </a:r>
            <a:r>
              <a:rPr lang="en-US" altLang="en-US" sz="2100" dirty="0">
                <a:latin typeface="Times New Roman" panose="02020603050405020304" pitchFamily="18" charset="0"/>
                <a:cs typeface="Times New Roman" panose="02020603050405020304" pitchFamily="18" charset="0"/>
              </a:rPr>
              <a:t> </a:t>
            </a: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A type of nonprobability sampling which involves the sample being drawn from that part of the population which is close to hand. That is, readily available and convenient. </a:t>
            </a: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The researcher using such a sample cannot scientifically make generalizations about the total population from this sample because it would not be representative enough.</a:t>
            </a:r>
          </a:p>
          <a:p>
            <a:pPr marL="0" indent="0" eaLnBrk="1" hangingPunct="1">
              <a:lnSpc>
                <a:spcPct val="80000"/>
              </a:lnSpc>
              <a:buNone/>
            </a:pPr>
            <a:endParaRPr lang="en-US" altLang="en-US" sz="2100" dirty="0">
              <a:latin typeface="Times New Roman" panose="02020603050405020304" pitchFamily="18" charset="0"/>
              <a:cs typeface="Times New Roman" panose="02020603050405020304" pitchFamily="18" charset="0"/>
            </a:endParaRPr>
          </a:p>
        </p:txBody>
      </p:sp>
      <p:pic>
        <p:nvPicPr>
          <p:cNvPr id="7170" name="Picture 2">
            <a:extLst>
              <a:ext uri="{FF2B5EF4-FFF2-40B4-BE49-F238E27FC236}">
                <a16:creationId xmlns="" xmlns:a16="http://schemas.microsoft.com/office/drawing/2014/main" id="{0C2E787E-E0EF-437F-B80C-266BB879DACE}"/>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54050" y="3342640"/>
            <a:ext cx="7880350" cy="350520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421"/>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 xmlns:a16="http://schemas.microsoft.com/office/drawing/2014/main" id="{3CF6FC05-3A90-4B93-B902-7A460007379F}"/>
              </a:ext>
            </a:extLst>
          </p:cNvPr>
          <p:cNvSpPr>
            <a:spLocks noGrp="1" noChangeArrowheads="1"/>
          </p:cNvSpPr>
          <p:nvPr>
            <p:ph type="title"/>
          </p:nvPr>
        </p:nvSpPr>
        <p:spPr>
          <a:xfrm>
            <a:off x="469900" y="133804"/>
            <a:ext cx="7531100" cy="898525"/>
          </a:xfrm>
        </p:spPr>
        <p:txBody>
          <a:bodyPr/>
          <a:lstStyle/>
          <a:p>
            <a:pPr eaLnBrk="1" hangingPunct="1"/>
            <a:r>
              <a:rPr lang="en-US" altLang="en-US" sz="3000" dirty="0" smtClean="0">
                <a:latin typeface="Times New Roman" panose="02020603050405020304" pitchFamily="18" charset="0"/>
                <a:cs typeface="Times New Roman" panose="02020603050405020304" pitchFamily="18" charset="0"/>
              </a:rPr>
              <a:t>2. QUOTA </a:t>
            </a:r>
            <a:r>
              <a:rPr lang="en-US" altLang="en-US" sz="3000" dirty="0">
                <a:latin typeface="Times New Roman" panose="02020603050405020304" pitchFamily="18" charset="0"/>
                <a:cs typeface="Times New Roman" panose="02020603050405020304" pitchFamily="18" charset="0"/>
              </a:rPr>
              <a:t>SAMPLING</a:t>
            </a:r>
          </a:p>
        </p:txBody>
      </p:sp>
      <p:sp>
        <p:nvSpPr>
          <p:cNvPr id="43010" name="Slide Number Placeholder 5">
            <a:extLst>
              <a:ext uri="{FF2B5EF4-FFF2-40B4-BE49-F238E27FC236}">
                <a16:creationId xmlns="" xmlns:a16="http://schemas.microsoft.com/office/drawing/2014/main" id="{7DD1220A-A756-4744-8909-7C858B837EC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E76138-8C84-40BE-B726-394DA1A3A244}" type="slidenum">
              <a:rPr lang="en-US" altLang="en-US">
                <a:solidFill>
                  <a:srgbClr val="FFFFFF"/>
                </a:solidFill>
                <a:latin typeface="Franklin Gothic Book" panose="020B0503020102020204" pitchFamily="34" charset="0"/>
              </a:rPr>
              <a:pPr eaLnBrk="1" hangingPunct="1"/>
              <a:t>21</a:t>
            </a:fld>
            <a:endParaRPr lang="en-US" altLang="en-US">
              <a:solidFill>
                <a:srgbClr val="FFFFFF"/>
              </a:solidFill>
              <a:latin typeface="Franklin Gothic Book" panose="020B0503020102020204" pitchFamily="34" charset="0"/>
            </a:endParaRPr>
          </a:p>
        </p:txBody>
      </p:sp>
      <p:sp>
        <p:nvSpPr>
          <p:cNvPr id="46084" name="Rectangle 3">
            <a:extLst>
              <a:ext uri="{FF2B5EF4-FFF2-40B4-BE49-F238E27FC236}">
                <a16:creationId xmlns="" xmlns:a16="http://schemas.microsoft.com/office/drawing/2014/main" id="{6DCE0576-244B-442A-84C3-ED5D3CD55D50}"/>
              </a:ext>
            </a:extLst>
          </p:cNvPr>
          <p:cNvSpPr>
            <a:spLocks noGrp="1" noChangeArrowheads="1"/>
          </p:cNvSpPr>
          <p:nvPr>
            <p:ph sz="quarter" idx="1"/>
          </p:nvPr>
        </p:nvSpPr>
        <p:spPr>
          <a:xfrm>
            <a:off x="228600" y="875166"/>
            <a:ext cx="8458200" cy="2706234"/>
          </a:xfrm>
        </p:spPr>
        <p:txBody>
          <a:bodyPr>
            <a:normAutofit/>
          </a:bodyPr>
          <a:lstStyle/>
          <a:p>
            <a:pPr eaLnBrk="1" hangingPunct="1">
              <a:lnSpc>
                <a:spcPct val="80000"/>
              </a:lnSpc>
            </a:pPr>
            <a:endParaRPr lang="en-US" altLang="en-US" b="1" dirty="0">
              <a:latin typeface="Times New Roman" panose="02020603050405020304" pitchFamily="18" charset="0"/>
              <a:cs typeface="Times New Roman" panose="02020603050405020304" pitchFamily="18" charset="0"/>
            </a:endParaRPr>
          </a:p>
          <a:p>
            <a:pPr eaLnBrk="1" hangingPunct="1">
              <a:lnSpc>
                <a:spcPct val="80000"/>
              </a:lnSpc>
            </a:pPr>
            <a:r>
              <a:rPr lang="en-US" altLang="en-US"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The population is first segmented into mutually exclusive sub-groups, just as in stratified sampling. </a:t>
            </a:r>
          </a:p>
          <a:p>
            <a:pPr eaLnBrk="1" hangingPunct="1">
              <a:lnSpc>
                <a:spcPct val="80000"/>
              </a:lnSpc>
            </a:pPr>
            <a:r>
              <a:rPr lang="en-US" altLang="en-US" sz="2400" dirty="0">
                <a:latin typeface="Times New Roman" panose="02020603050405020304" pitchFamily="18" charset="0"/>
                <a:cs typeface="Times New Roman" panose="02020603050405020304" pitchFamily="18" charset="0"/>
              </a:rPr>
              <a:t>Then judgment used to select  subjects or units from each segment based on a specified proportion. </a:t>
            </a:r>
          </a:p>
        </p:txBody>
      </p:sp>
      <p:pic>
        <p:nvPicPr>
          <p:cNvPr id="8204" name="Picture 12" descr="quota sampling diagram">
            <a:extLst>
              <a:ext uri="{FF2B5EF4-FFF2-40B4-BE49-F238E27FC236}">
                <a16:creationId xmlns="" xmlns:a16="http://schemas.microsoft.com/office/drawing/2014/main" id="{502307EB-8E0D-41E7-8CC8-F2BED78BA86B}"/>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09600" y="2990850"/>
            <a:ext cx="7772400" cy="35623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036495625"/>
      </p:ext>
    </p:extLst>
  </p:cSld>
  <p:clrMapOvr>
    <a:masterClrMapping/>
  </p:clrMapOvr>
  <p:transition advTm="28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a:extLst>
              <a:ext uri="{FF2B5EF4-FFF2-40B4-BE49-F238E27FC236}">
                <a16:creationId xmlns="" xmlns:a16="http://schemas.microsoft.com/office/drawing/2014/main" id="{A8DB0B49-832D-46E5-AC8C-9FD82AC9056E}"/>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US" dirty="0" smtClean="0">
                <a:latin typeface="Times New Roman" panose="02020603050405020304" pitchFamily="18" charset="0"/>
                <a:cs typeface="Times New Roman" panose="02020603050405020304" pitchFamily="18" charset="0"/>
              </a:rPr>
              <a:t>3. Judgmental </a:t>
            </a:r>
            <a:r>
              <a:rPr lang="en-US" dirty="0">
                <a:latin typeface="Times New Roman" panose="02020603050405020304" pitchFamily="18" charset="0"/>
                <a:cs typeface="Times New Roman" panose="02020603050405020304" pitchFamily="18" charset="0"/>
              </a:rPr>
              <a:t>sampling or Purposive sampling</a:t>
            </a:r>
          </a:p>
        </p:txBody>
      </p:sp>
      <p:sp>
        <p:nvSpPr>
          <p:cNvPr id="46082" name="Slide Number Placeholder 5">
            <a:extLst>
              <a:ext uri="{FF2B5EF4-FFF2-40B4-BE49-F238E27FC236}">
                <a16:creationId xmlns="" xmlns:a16="http://schemas.microsoft.com/office/drawing/2014/main" id="{EEC16FEC-5223-43AB-951E-7730CF16F84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46EE6F-0136-451D-8DB9-5F7FE1DEB4D9}" type="slidenum">
              <a:rPr lang="en-US" altLang="en-US">
                <a:solidFill>
                  <a:srgbClr val="FFFFFF"/>
                </a:solidFill>
                <a:latin typeface="Franklin Gothic Book" panose="020B0503020102020204" pitchFamily="34" charset="0"/>
              </a:rPr>
              <a:pPr eaLnBrk="1" hangingPunct="1"/>
              <a:t>22</a:t>
            </a:fld>
            <a:endParaRPr lang="en-US" altLang="en-US">
              <a:solidFill>
                <a:srgbClr val="FFFFFF"/>
              </a:solidFill>
              <a:latin typeface="Franklin Gothic Book" panose="020B0503020102020204" pitchFamily="34" charset="0"/>
            </a:endParaRPr>
          </a:p>
        </p:txBody>
      </p:sp>
      <p:sp>
        <p:nvSpPr>
          <p:cNvPr id="49156" name="Rectangle 3">
            <a:extLst>
              <a:ext uri="{FF2B5EF4-FFF2-40B4-BE49-F238E27FC236}">
                <a16:creationId xmlns="" xmlns:a16="http://schemas.microsoft.com/office/drawing/2014/main" id="{7AA8BC0D-EF04-4769-A43D-0E5736D1D48A}"/>
              </a:ext>
            </a:extLst>
          </p:cNvPr>
          <p:cNvSpPr>
            <a:spLocks noGrp="1" noChangeArrowheads="1"/>
          </p:cNvSpPr>
          <p:nvPr>
            <p:ph sz="quarter" idx="1"/>
          </p:nvPr>
        </p:nvSpPr>
        <p:spPr>
          <a:xfrm>
            <a:off x="457200" y="1371600"/>
            <a:ext cx="8229600" cy="2590800"/>
          </a:xfrm>
        </p:spPr>
        <p:txBody>
          <a:bodyPr/>
          <a:lstStyle/>
          <a:p>
            <a:pPr marL="0" indent="0" eaLnBrk="1" hangingPunct="1">
              <a:buNone/>
            </a:pPr>
            <a:r>
              <a:rPr lang="en-US" altLang="en-US" dirty="0">
                <a:latin typeface="Times New Roman" panose="02020603050405020304" pitchFamily="18" charset="0"/>
                <a:cs typeface="Times New Roman" panose="02020603050405020304" pitchFamily="18" charset="0"/>
              </a:rPr>
              <a:t>The researcher chooses the sample based on who they think would be appropriate for the study. This is used primarily when there is a limited number of people that have expertise in the area being researched </a:t>
            </a:r>
          </a:p>
        </p:txBody>
      </p:sp>
      <p:pic>
        <p:nvPicPr>
          <p:cNvPr id="9218" name="Picture 2" descr="Sampling Methods:. Sampling is the process of selecting… | by Vaidehi  Bharti | Medium">
            <a:extLst>
              <a:ext uri="{FF2B5EF4-FFF2-40B4-BE49-F238E27FC236}">
                <a16:creationId xmlns="" xmlns:a16="http://schemas.microsoft.com/office/drawing/2014/main" id="{BB3B8E41-996F-4D9D-9021-FD632660F67B}"/>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4191001"/>
            <a:ext cx="9144000" cy="2438399"/>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advTm="234"/>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DF645B-AA89-471D-AA75-EFAE2136402A}"/>
              </a:ext>
            </a:extLst>
          </p:cNvPr>
          <p:cNvSpPr>
            <a:spLocks noGrp="1"/>
          </p:cNvSpPr>
          <p:nvPr>
            <p:ph type="title"/>
          </p:nvPr>
        </p:nvSpPr>
        <p:spPr>
          <a:xfrm>
            <a:off x="457200" y="228600"/>
            <a:ext cx="8229600" cy="1143000"/>
          </a:xfrm>
        </p:spPr>
        <p:txBody>
          <a:bodyPr/>
          <a:lstStyle/>
          <a:p>
            <a:r>
              <a:rPr lang="en-US" dirty="0" smtClean="0"/>
              <a:t>4. Snowball </a:t>
            </a:r>
            <a:r>
              <a:rPr lang="en-US" dirty="0"/>
              <a:t>sampling</a:t>
            </a:r>
          </a:p>
        </p:txBody>
      </p:sp>
      <p:sp>
        <p:nvSpPr>
          <p:cNvPr id="3" name="Content Placeholder 2">
            <a:extLst>
              <a:ext uri="{FF2B5EF4-FFF2-40B4-BE49-F238E27FC236}">
                <a16:creationId xmlns="" xmlns:a16="http://schemas.microsoft.com/office/drawing/2014/main" id="{DB9C983C-7EAD-4ABE-8EC3-B741BA930B8E}"/>
              </a:ext>
            </a:extLst>
          </p:cNvPr>
          <p:cNvSpPr>
            <a:spLocks noGrp="1"/>
          </p:cNvSpPr>
          <p:nvPr>
            <p:ph idx="1"/>
          </p:nvPr>
        </p:nvSpPr>
        <p:spPr>
          <a:xfrm>
            <a:off x="457200" y="1295400"/>
            <a:ext cx="4343400" cy="4343400"/>
          </a:xfrm>
        </p:spPr>
        <p:txBody>
          <a:bodyPr>
            <a:normAutofit fontScale="85000" lnSpcReduction="10000"/>
          </a:bodyPr>
          <a:lstStyle/>
          <a:p>
            <a:pPr marL="0" indent="0" algn="just">
              <a:buNone/>
            </a:pPr>
            <a:r>
              <a:rPr lang="en-US" i="0" dirty="0">
                <a:solidFill>
                  <a:srgbClr val="202124"/>
                </a:solidFill>
                <a:effectLst/>
                <a:latin typeface="Times New Roman" panose="02020603050405020304" pitchFamily="18" charset="0"/>
                <a:cs typeface="Times New Roman" panose="02020603050405020304" pitchFamily="18" charset="0"/>
              </a:rPr>
              <a:t>Snowball sampling is finding the large samples with the help of small sample. It is used where potential participants are hard to find. It's called snowball sampling because (in theory) once you have the ball rolling, it picks up more “snow” along the way and becomes larger and larger.</a:t>
            </a:r>
            <a:endParaRPr lang="en-US" dirty="0">
              <a:latin typeface="Times New Roman" panose="02020603050405020304" pitchFamily="18" charset="0"/>
              <a:cs typeface="Times New Roman" panose="02020603050405020304" pitchFamily="18" charset="0"/>
            </a:endParaRPr>
          </a:p>
        </p:txBody>
      </p:sp>
      <p:pic>
        <p:nvPicPr>
          <p:cNvPr id="10242" name="Picture 2" descr="HOMECOMING - A-Spiritual-Re-Awakening">
            <a:extLst>
              <a:ext uri="{FF2B5EF4-FFF2-40B4-BE49-F238E27FC236}">
                <a16:creationId xmlns="" xmlns:a16="http://schemas.microsoft.com/office/drawing/2014/main" id="{C97E775E-5227-4E93-A27B-0F277D37BEF3}"/>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953000" y="1219200"/>
            <a:ext cx="4038600" cy="4038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188993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 xmlns:a16="http://schemas.microsoft.com/office/drawing/2014/main" id="{D33A7C27-F8DE-4EAC-A4F2-471D04746383}"/>
              </a:ext>
            </a:extLst>
          </p:cNvPr>
          <p:cNvSpPr>
            <a:spLocks noGrp="1" noChangeArrowheads="1"/>
          </p:cNvSpPr>
          <p:nvPr>
            <p:ph type="title"/>
          </p:nvPr>
        </p:nvSpPr>
        <p:spPr>
          <a:xfrm>
            <a:off x="1524000" y="1219200"/>
            <a:ext cx="7391400" cy="944563"/>
          </a:xfrm>
        </p:spPr>
        <p:txBody>
          <a:bodyPr/>
          <a:lstStyle/>
          <a:p>
            <a:pPr eaLnBrk="1" hangingPunct="1"/>
            <a:r>
              <a:rPr lang="en-US" altLang="en-US" sz="5200"/>
              <a:t>Questions???</a:t>
            </a:r>
          </a:p>
        </p:txBody>
      </p:sp>
      <p:sp>
        <p:nvSpPr>
          <p:cNvPr id="48130" name="Slide Number Placeholder 5">
            <a:extLst>
              <a:ext uri="{FF2B5EF4-FFF2-40B4-BE49-F238E27FC236}">
                <a16:creationId xmlns="" xmlns:a16="http://schemas.microsoft.com/office/drawing/2014/main" id="{46B25425-9463-4E6D-995E-34A3C98B578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A8870B-8F4D-4083-B7A8-A8E3606B1069}" type="slidenum">
              <a:rPr lang="en-US" altLang="en-US">
                <a:solidFill>
                  <a:srgbClr val="FFFFFF"/>
                </a:solidFill>
                <a:latin typeface="Franklin Gothic Book" panose="020B0503020102020204" pitchFamily="34" charset="0"/>
              </a:rPr>
              <a:pPr eaLnBrk="1" hangingPunct="1"/>
              <a:t>24</a:t>
            </a:fld>
            <a:endParaRPr lang="en-US" altLang="en-US">
              <a:solidFill>
                <a:srgbClr val="FFFFFF"/>
              </a:solidFill>
              <a:latin typeface="Franklin Gothic Book" panose="020B0503020102020204" pitchFamily="34" charset="0"/>
            </a:endParaRPr>
          </a:p>
        </p:txBody>
      </p:sp>
      <p:pic>
        <p:nvPicPr>
          <p:cNvPr id="51204" name="Picture 3" descr="MCj02403570000[1]">
            <a:extLst>
              <a:ext uri="{FF2B5EF4-FFF2-40B4-BE49-F238E27FC236}">
                <a16:creationId xmlns="" xmlns:a16="http://schemas.microsoft.com/office/drawing/2014/main" id="{981B8A96-FB3D-48CD-9471-35CC8818209B}"/>
              </a:ext>
            </a:extLst>
          </p:cNvPr>
          <p:cNvPicPr>
            <a:picLocks noGrp="1" noChangeAspect="1" noChangeArrowheads="1"/>
          </p:cNvPicPr>
          <p:nvPr>
            <p:ph sz="quarter" idx="1"/>
          </p:nvPr>
        </p:nvPicPr>
        <p:blipFill>
          <a:blip r:embed="rId2" cstate="print">
            <a:extLst>
              <a:ext uri="{28A0092B-C50C-407E-A947-70E740481C1C}">
                <a14:useLocalDpi xmlns:a14="http://schemas.microsoft.com/office/drawing/2010/main" xmlns="" val="0"/>
              </a:ext>
            </a:extLst>
          </a:blip>
          <a:srcRect/>
          <a:stretch>
            <a:fillRect/>
          </a:stretch>
        </p:blipFill>
        <p:spPr>
          <a:xfrm>
            <a:off x="4097338" y="2817813"/>
            <a:ext cx="1406525" cy="1831975"/>
          </a:xfrm>
          <a:noFill/>
        </p:spPr>
      </p:pic>
    </p:spTree>
  </p:cSld>
  <p:clrMapOvr>
    <a:masterClrMapping/>
  </p:clrMapOvr>
  <p:transition advTm="374"/>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 xmlns:a16="http://schemas.microsoft.com/office/drawing/2014/main" id="{14AA0FAA-DE59-4097-8BC6-79B48E2C68D4}"/>
              </a:ext>
            </a:extLst>
          </p:cNvPr>
          <p:cNvSpPr>
            <a:spLocks noGrp="1" noChangeArrowheads="1"/>
          </p:cNvSpPr>
          <p:nvPr>
            <p:ph type="title"/>
          </p:nvPr>
        </p:nvSpPr>
        <p:spPr>
          <a:xfrm>
            <a:off x="0" y="152400"/>
            <a:ext cx="8763000" cy="704832"/>
          </a:xfrm>
        </p:spPr>
        <p:txBody>
          <a:bodyPr>
            <a:normAutofit fontScale="90000"/>
          </a:bodyPr>
          <a:lstStyle/>
          <a:p>
            <a:pPr eaLnBrk="1" fontAlgn="auto" hangingPunct="1">
              <a:spcAft>
                <a:spcPts val="0"/>
              </a:spcAft>
              <a:defRPr/>
            </a:pPr>
            <a:r>
              <a:rPr lang="en-US" sz="3100" dirty="0" smtClean="0">
                <a:latin typeface="Times New Roman" panose="02020603050405020304" pitchFamily="18" charset="0"/>
                <a:cs typeface="Times New Roman" panose="02020603050405020304" pitchFamily="18" charset="0"/>
              </a:rPr>
              <a:t/>
            </a:r>
            <a:br>
              <a:rPr lang="en-US" sz="3100" dirty="0" smtClean="0">
                <a:latin typeface="Times New Roman" panose="02020603050405020304" pitchFamily="18" charset="0"/>
                <a:cs typeface="Times New Roman" panose="02020603050405020304" pitchFamily="18" charset="0"/>
              </a:rPr>
            </a:br>
            <a:r>
              <a:rPr lang="en-US" sz="3100" dirty="0" smtClean="0">
                <a:latin typeface="Times New Roman" panose="02020603050405020304" pitchFamily="18" charset="0"/>
                <a:cs typeface="Times New Roman" panose="02020603050405020304" pitchFamily="18" charset="0"/>
              </a:rPr>
              <a:t>What </a:t>
            </a:r>
            <a:r>
              <a:rPr lang="en-US" sz="3100" dirty="0">
                <a:latin typeface="Times New Roman" panose="02020603050405020304" pitchFamily="18" charset="0"/>
                <a:cs typeface="Times New Roman" panose="02020603050405020304" pitchFamily="18" charset="0"/>
              </a:rPr>
              <a:t>sampling method </a:t>
            </a:r>
            <a:r>
              <a:rPr lang="en-US" sz="3100" dirty="0" smtClean="0">
                <a:latin typeface="Times New Roman" panose="02020603050405020304" pitchFamily="18" charset="0"/>
                <a:cs typeface="Times New Roman" panose="02020603050405020304" pitchFamily="18" charset="0"/>
              </a:rPr>
              <a:t>do you </a:t>
            </a:r>
            <a:r>
              <a:rPr lang="en-US" sz="3100" dirty="0">
                <a:latin typeface="Times New Roman" panose="02020603050405020304" pitchFamily="18" charset="0"/>
                <a:cs typeface="Times New Roman" panose="02020603050405020304" pitchFamily="18" charset="0"/>
              </a:rPr>
              <a:t>recommend?</a:t>
            </a:r>
            <a:br>
              <a:rPr lang="en-US" sz="3100" dirty="0">
                <a:latin typeface="Times New Roman" panose="02020603050405020304" pitchFamily="18" charset="0"/>
                <a:cs typeface="Times New Roman" panose="02020603050405020304" pitchFamily="18" charset="0"/>
              </a:rPr>
            </a:br>
            <a:endParaRPr lang="en-US" sz="3100" dirty="0">
              <a:latin typeface="Times New Roman" panose="02020603050405020304" pitchFamily="18" charset="0"/>
              <a:cs typeface="Times New Roman" panose="02020603050405020304" pitchFamily="18" charset="0"/>
            </a:endParaRPr>
          </a:p>
        </p:txBody>
      </p:sp>
      <p:sp>
        <p:nvSpPr>
          <p:cNvPr id="49154" name="Slide Number Placeholder 5">
            <a:extLst>
              <a:ext uri="{FF2B5EF4-FFF2-40B4-BE49-F238E27FC236}">
                <a16:creationId xmlns="" xmlns:a16="http://schemas.microsoft.com/office/drawing/2014/main" id="{3B5958E4-1CE7-4B64-A544-73D7502D3D5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6DA55A-5A40-4750-B3EB-71A6FC46860A}" type="slidenum">
              <a:rPr lang="en-US" altLang="en-US">
                <a:solidFill>
                  <a:srgbClr val="FFFFFF"/>
                </a:solidFill>
                <a:latin typeface="Franklin Gothic Book" panose="020B0503020102020204" pitchFamily="34" charset="0"/>
              </a:rPr>
              <a:pPr eaLnBrk="1" hangingPunct="1"/>
              <a:t>25</a:t>
            </a:fld>
            <a:endParaRPr lang="en-US" altLang="en-US">
              <a:solidFill>
                <a:srgbClr val="FFFFFF"/>
              </a:solidFill>
              <a:latin typeface="Franklin Gothic Book" panose="020B0503020102020204" pitchFamily="34" charset="0"/>
            </a:endParaRPr>
          </a:p>
        </p:txBody>
      </p:sp>
      <p:sp>
        <p:nvSpPr>
          <p:cNvPr id="52228" name="Rectangle 3">
            <a:extLst>
              <a:ext uri="{FF2B5EF4-FFF2-40B4-BE49-F238E27FC236}">
                <a16:creationId xmlns="" xmlns:a16="http://schemas.microsoft.com/office/drawing/2014/main" id="{3D2BF60F-FE13-4B91-BBE8-9505373C3E13}"/>
              </a:ext>
            </a:extLst>
          </p:cNvPr>
          <p:cNvSpPr>
            <a:spLocks noGrp="1" noChangeArrowheads="1"/>
          </p:cNvSpPr>
          <p:nvPr>
            <p:ph sz="quarter" idx="1"/>
          </p:nvPr>
        </p:nvSpPr>
        <p:spPr>
          <a:xfrm>
            <a:off x="228600" y="914400"/>
            <a:ext cx="8915400" cy="5638800"/>
          </a:xfrm>
        </p:spPr>
        <p:txBody>
          <a:bodyPr>
            <a:normAutofit/>
          </a:bodyPr>
          <a:lstStyle/>
          <a:p>
            <a:pPr eaLnBrk="1" hangingPunct="1"/>
            <a:r>
              <a:rPr lang="en-US" altLang="en-US" dirty="0">
                <a:latin typeface="Times New Roman" panose="02020603050405020304" pitchFamily="18" charset="0"/>
                <a:cs typeface="Times New Roman" panose="02020603050405020304" pitchFamily="18" charset="0"/>
              </a:rPr>
              <a:t>A study on  undernourished five year old children in  </a:t>
            </a:r>
            <a:r>
              <a:rPr lang="en-US" altLang="en-US" dirty="0" err="1">
                <a:latin typeface="Times New Roman" panose="02020603050405020304" pitchFamily="18" charset="0"/>
                <a:cs typeface="Times New Roman" panose="02020603050405020304" pitchFamily="18" charset="0"/>
              </a:rPr>
              <a:t>Jamboti</a:t>
            </a:r>
            <a:r>
              <a:rPr lang="en-US" altLang="en-US" dirty="0">
                <a:latin typeface="Times New Roman" panose="02020603050405020304" pitchFamily="18" charset="0"/>
                <a:cs typeface="Times New Roman" panose="02020603050405020304" pitchFamily="18" charset="0"/>
              </a:rPr>
              <a:t> Village in Belgaum district.</a:t>
            </a:r>
          </a:p>
          <a:p>
            <a:pPr eaLnBrk="1" hangingPunct="1"/>
            <a:r>
              <a:rPr lang="en-US" altLang="en-US" dirty="0">
                <a:latin typeface="Times New Roman" panose="02020603050405020304" pitchFamily="18" charset="0"/>
                <a:cs typeface="Times New Roman" panose="02020603050405020304" pitchFamily="18" charset="0"/>
              </a:rPr>
              <a:t>Investigating nutritional status of preschool children in Karnataka state.</a:t>
            </a:r>
          </a:p>
          <a:p>
            <a:pPr eaLnBrk="1" hangingPunct="1"/>
            <a:r>
              <a:rPr lang="en-US" altLang="en-US" dirty="0">
                <a:latin typeface="Times New Roman" panose="02020603050405020304" pitchFamily="18" charset="0"/>
                <a:cs typeface="Times New Roman" panose="02020603050405020304" pitchFamily="18" charset="0"/>
              </a:rPr>
              <a:t>Selecting maternity records for the study of previous abortions or duration of postnatal stay.</a:t>
            </a:r>
          </a:p>
          <a:p>
            <a:pPr eaLnBrk="1" hangingPunct="1"/>
            <a:r>
              <a:rPr lang="en-US" altLang="en-US" dirty="0">
                <a:latin typeface="Times New Roman" panose="02020603050405020304" pitchFamily="18" charset="0"/>
                <a:cs typeface="Times New Roman" panose="02020603050405020304" pitchFamily="18" charset="0"/>
              </a:rPr>
              <a:t>A study on impact of </a:t>
            </a:r>
            <a:r>
              <a:rPr lang="en-US" altLang="en-US" dirty="0" err="1">
                <a:latin typeface="Times New Roman" panose="02020603050405020304" pitchFamily="18" charset="0"/>
                <a:cs typeface="Times New Roman" panose="02020603050405020304" pitchFamily="18" charset="0"/>
              </a:rPr>
              <a:t>Covaccine</a:t>
            </a:r>
            <a:r>
              <a:rPr lang="en-US" altLang="en-US" dirty="0">
                <a:latin typeface="Times New Roman" panose="02020603050405020304" pitchFamily="18" charset="0"/>
                <a:cs typeface="Times New Roman" panose="02020603050405020304" pitchFamily="18" charset="0"/>
              </a:rPr>
              <a:t> protection against Covid-19 disease  </a:t>
            </a:r>
          </a:p>
          <a:p>
            <a:pPr eaLnBrk="1" hangingPunct="1"/>
            <a:r>
              <a:rPr lang="en-US" altLang="en-US" dirty="0">
                <a:latin typeface="Times New Roman" panose="02020603050405020304" pitchFamily="18" charset="0"/>
                <a:cs typeface="Times New Roman" panose="02020603050405020304" pitchFamily="18" charset="0"/>
              </a:rPr>
              <a:t>Study of consumer behavior towards Big Bazaar in Belgaum.</a:t>
            </a:r>
          </a:p>
        </p:txBody>
      </p:sp>
    </p:spTree>
  </p:cSld>
  <p:clrMapOvr>
    <a:masterClrMapping/>
  </p:clrMapOvr>
  <p:transition advTm="670"/>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print"/>
          <a:stretch>
            <a:fillRect/>
          </a:stretch>
        </p:blipFill>
        <p:spPr>
          <a:xfrm>
            <a:off x="0" y="0"/>
            <a:ext cx="3429000" cy="6858000"/>
          </a:xfrm>
          <a:prstGeom prst="rect">
            <a:avLst/>
          </a:prstGeom>
        </p:spPr>
      </p:pic>
      <p:sp>
        <p:nvSpPr>
          <p:cNvPr id="3" name="Text 0"/>
          <p:cNvSpPr/>
          <p:nvPr/>
        </p:nvSpPr>
        <p:spPr>
          <a:xfrm>
            <a:off x="3925120" y="2394148"/>
            <a:ext cx="4722763" cy="1181299"/>
          </a:xfrm>
          <a:prstGeom prst="rect">
            <a:avLst/>
          </a:prstGeom>
          <a:noFill/>
          <a:ln/>
        </p:spPr>
        <p:txBody>
          <a:bodyPr wrap="square" lIns="0" tIns="0" rIns="0" bIns="0" rtlCol="0" anchor="t"/>
          <a:lstStyle/>
          <a:p>
            <a:pPr marL="0" indent="0" algn="l">
              <a:lnSpc>
                <a:spcPts val="3450"/>
              </a:lnSpc>
              <a:buNone/>
            </a:pPr>
            <a:r>
              <a:rPr lang="en-US" sz="2750" b="1" dirty="0">
                <a:solidFill>
                  <a:srgbClr val="231971"/>
                </a:solidFill>
                <a:latin typeface="Outfit Extra Bold" pitchFamily="34" charset="0"/>
                <a:ea typeface="Outfit Extra Bold" pitchFamily="34" charset="-122"/>
                <a:cs typeface="Outfit Extra Bold" pitchFamily="34" charset="-120"/>
              </a:rPr>
              <a:t>Understanding Sampling Errors</a:t>
            </a:r>
            <a:endParaRPr lang="en-US" sz="2750" dirty="0"/>
          </a:p>
        </p:txBody>
      </p:sp>
      <p:sp>
        <p:nvSpPr>
          <p:cNvPr id="4" name="Text 1"/>
          <p:cNvSpPr/>
          <p:nvPr/>
        </p:nvSpPr>
        <p:spPr>
          <a:xfrm>
            <a:off x="3925120" y="3858915"/>
            <a:ext cx="4722763" cy="604837"/>
          </a:xfrm>
          <a:prstGeom prst="rect">
            <a:avLst/>
          </a:prstGeom>
          <a:noFill/>
          <a:ln/>
        </p:spPr>
        <p:txBody>
          <a:bodyPr wrap="square" lIns="0" tIns="0" rIns="0" bIns="0" rtlCol="0" anchor="t"/>
          <a:lstStyle/>
          <a:p>
            <a:pPr marL="0" indent="0" algn="l">
              <a:lnSpc>
                <a:spcPts val="1750"/>
              </a:lnSpc>
              <a:buNone/>
            </a:pPr>
            <a:r>
              <a:rPr lang="en-US" sz="1100" dirty="0">
                <a:solidFill>
                  <a:srgbClr val="2A2742"/>
                </a:solidFill>
                <a:latin typeface="Arimo" pitchFamily="34" charset="0"/>
                <a:ea typeface="Arimo" pitchFamily="34" charset="-122"/>
                <a:cs typeface="Arimo" pitchFamily="34" charset="-120"/>
              </a:rPr>
              <a:t>Bridging the gap between </a:t>
            </a:r>
            <a:r>
              <a:rPr lang="en-US" sz="1100" b="1" dirty="0">
                <a:solidFill>
                  <a:srgbClr val="5E4CE6"/>
                </a:solidFill>
                <a:latin typeface="Arimo" pitchFamily="34" charset="0"/>
                <a:ea typeface="Arimo" pitchFamily="34" charset="-122"/>
                <a:cs typeface="Arimo" pitchFamily="34" charset="-120"/>
              </a:rPr>
              <a:t>sample</a:t>
            </a:r>
            <a:r>
              <a:rPr lang="en-US" sz="1100" dirty="0">
                <a:solidFill>
                  <a:srgbClr val="2A2742"/>
                </a:solidFill>
                <a:latin typeface="Arimo" pitchFamily="34" charset="0"/>
                <a:ea typeface="Arimo" pitchFamily="34" charset="-122"/>
                <a:cs typeface="Arimo" pitchFamily="34" charset="-120"/>
              </a:rPr>
              <a:t> and </a:t>
            </a:r>
            <a:r>
              <a:rPr lang="en-US" sz="1100" b="1" dirty="0">
                <a:solidFill>
                  <a:srgbClr val="5E4CE6"/>
                </a:solidFill>
                <a:latin typeface="Arimo" pitchFamily="34" charset="0"/>
                <a:ea typeface="Arimo" pitchFamily="34" charset="-122"/>
                <a:cs typeface="Arimo" pitchFamily="34" charset="-120"/>
              </a:rPr>
              <a:t>population</a:t>
            </a:r>
            <a:r>
              <a:rPr lang="en-US" sz="1100" dirty="0">
                <a:solidFill>
                  <a:srgbClr val="2A2742"/>
                </a:solidFill>
                <a:latin typeface="Arimo" pitchFamily="34" charset="0"/>
                <a:ea typeface="Arimo" pitchFamily="34" charset="-122"/>
                <a:cs typeface="Arimo" pitchFamily="34" charset="-120"/>
              </a:rPr>
              <a:t> — why the data we collect rarely tells the whole story.</a:t>
            </a:r>
            <a:endParaRPr lang="en-US" sz="11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4559644" y="1085453"/>
            <a:ext cx="4123882" cy="1107480"/>
          </a:xfrm>
          <a:prstGeom prst="rect">
            <a:avLst/>
          </a:prstGeom>
          <a:noFill/>
          <a:ln/>
        </p:spPr>
        <p:txBody>
          <a:bodyPr wrap="square" lIns="0" tIns="0" rIns="0" bIns="0" rtlCol="0" anchor="t"/>
          <a:lstStyle/>
          <a:p>
            <a:pPr marL="0" indent="0" algn="l">
              <a:lnSpc>
                <a:spcPts val="3250"/>
              </a:lnSpc>
              <a:buNone/>
            </a:pPr>
            <a:r>
              <a:rPr lang="en-US" sz="2600" b="1" dirty="0">
                <a:solidFill>
                  <a:srgbClr val="231971"/>
                </a:solidFill>
                <a:latin typeface="Outfit Extra Bold" pitchFamily="34" charset="0"/>
                <a:ea typeface="Outfit Extra Bold" pitchFamily="34" charset="-122"/>
                <a:cs typeface="Outfit Extra Bold" pitchFamily="34" charset="-120"/>
              </a:rPr>
              <a:t>What is a Sampling Error?</a:t>
            </a:r>
            <a:endParaRPr lang="en-US" sz="2600" dirty="0"/>
          </a:p>
        </p:txBody>
      </p:sp>
      <p:sp>
        <p:nvSpPr>
          <p:cNvPr id="6" name="Text 3"/>
          <p:cNvSpPr/>
          <p:nvPr/>
        </p:nvSpPr>
        <p:spPr>
          <a:xfrm>
            <a:off x="4454612" y="1960606"/>
            <a:ext cx="4228914" cy="1222332"/>
          </a:xfrm>
          <a:prstGeom prst="rect">
            <a:avLst/>
          </a:prstGeom>
          <a:noFill/>
          <a:ln/>
        </p:spPr>
        <p:txBody>
          <a:bodyPr wrap="square" lIns="0" tIns="0" rIns="0" bIns="0" rtlCol="0" anchor="t"/>
          <a:lstStyle/>
          <a:p>
            <a:pPr marL="0" indent="0" algn="l">
              <a:buNone/>
            </a:pPr>
            <a:r>
              <a:rPr lang="en-US" sz="2000" dirty="0">
                <a:solidFill>
                  <a:srgbClr val="2A2742"/>
                </a:solidFill>
                <a:latin typeface="Times New Roman" pitchFamily="18" charset="0"/>
                <a:ea typeface="Arimo" pitchFamily="34" charset="-122"/>
                <a:cs typeface="Times New Roman" pitchFamily="18" charset="0"/>
              </a:rPr>
              <a:t>A sampling error is the </a:t>
            </a:r>
            <a:r>
              <a:rPr lang="en-US" sz="2000" b="1" dirty="0">
                <a:solidFill>
                  <a:srgbClr val="5E4CE6"/>
                </a:solidFill>
                <a:latin typeface="Times New Roman" pitchFamily="18" charset="0"/>
                <a:ea typeface="Arimo" pitchFamily="34" charset="-122"/>
                <a:cs typeface="Times New Roman" pitchFamily="18" charset="0"/>
              </a:rPr>
              <a:t>gap between what your sample tells you and what is actually true</a:t>
            </a:r>
            <a:r>
              <a:rPr lang="en-US" sz="2000" dirty="0">
                <a:solidFill>
                  <a:srgbClr val="2A2742"/>
                </a:solidFill>
                <a:latin typeface="Times New Roman" pitchFamily="18" charset="0"/>
                <a:ea typeface="Arimo" pitchFamily="34" charset="-122"/>
                <a:cs typeface="Times New Roman" pitchFamily="18" charset="0"/>
              </a:rPr>
              <a:t> about the entire population.</a:t>
            </a:r>
            <a:endParaRPr lang="en-US" sz="2000" dirty="0">
              <a:latin typeface="Times New Roman" pitchFamily="18" charset="0"/>
              <a:cs typeface="Times New Roman" pitchFamily="18" charset="0"/>
            </a:endParaRPr>
          </a:p>
        </p:txBody>
      </p:sp>
      <p:sp>
        <p:nvSpPr>
          <p:cNvPr id="7" name="Shape 4"/>
          <p:cNvSpPr/>
          <p:nvPr/>
        </p:nvSpPr>
        <p:spPr>
          <a:xfrm>
            <a:off x="4454612" y="3369767"/>
            <a:ext cx="4228914" cy="1546920"/>
          </a:xfrm>
          <a:prstGeom prst="roundRect">
            <a:avLst>
              <a:gd name="adj" fmla="val 4811"/>
            </a:avLst>
          </a:prstGeom>
          <a:solidFill>
            <a:srgbClr val="B6D6FC"/>
          </a:solidFill>
          <a:ln/>
        </p:spPr>
      </p:sp>
      <p:sp>
        <p:nvSpPr>
          <p:cNvPr id="9" name="Text 5"/>
          <p:cNvSpPr/>
          <p:nvPr/>
        </p:nvSpPr>
        <p:spPr>
          <a:xfrm>
            <a:off x="4559645" y="3423602"/>
            <a:ext cx="3990979" cy="1098551"/>
          </a:xfrm>
          <a:prstGeom prst="rect">
            <a:avLst/>
          </a:prstGeom>
          <a:noFill/>
          <a:ln/>
        </p:spPr>
        <p:txBody>
          <a:bodyPr wrap="square" lIns="0" tIns="0" rIns="0" bIns="0" rtlCol="0" anchor="t"/>
          <a:lstStyle/>
          <a:p>
            <a:pPr marL="0" indent="0" algn="l">
              <a:buNone/>
            </a:pPr>
            <a:r>
              <a:rPr lang="en-US" dirty="0">
                <a:solidFill>
                  <a:srgbClr val="000000"/>
                </a:solidFill>
                <a:latin typeface="Times New Roman" pitchFamily="18" charset="0"/>
                <a:ea typeface="Arimo" pitchFamily="34" charset="-122"/>
                <a:cs typeface="Times New Roman" pitchFamily="18" charset="0"/>
              </a:rPr>
              <a:t>It is the difference between a </a:t>
            </a:r>
            <a:r>
              <a:rPr lang="en-US" b="1" dirty="0">
                <a:solidFill>
                  <a:srgbClr val="000000"/>
                </a:solidFill>
                <a:latin typeface="Times New Roman" pitchFamily="18" charset="0"/>
                <a:ea typeface="Arimo" pitchFamily="34" charset="-122"/>
                <a:cs typeface="Times New Roman" pitchFamily="18" charset="0"/>
              </a:rPr>
              <a:t>sample statistic</a:t>
            </a:r>
            <a:r>
              <a:rPr lang="en-US" dirty="0">
                <a:solidFill>
                  <a:srgbClr val="000000"/>
                </a:solidFill>
                <a:latin typeface="Times New Roman" pitchFamily="18" charset="0"/>
                <a:ea typeface="Arimo" pitchFamily="34" charset="-122"/>
                <a:cs typeface="Times New Roman" pitchFamily="18" charset="0"/>
              </a:rPr>
              <a:t> (e.g., sample mean) and the true </a:t>
            </a:r>
            <a:r>
              <a:rPr lang="en-US" b="1" dirty="0">
                <a:solidFill>
                  <a:srgbClr val="000000"/>
                </a:solidFill>
                <a:latin typeface="Times New Roman" pitchFamily="18" charset="0"/>
                <a:ea typeface="Arimo" pitchFamily="34" charset="-122"/>
                <a:cs typeface="Times New Roman" pitchFamily="18" charset="0"/>
              </a:rPr>
              <a:t>population parameter</a:t>
            </a:r>
            <a:r>
              <a:rPr lang="en-US" dirty="0">
                <a:solidFill>
                  <a:srgbClr val="000000"/>
                </a:solidFill>
                <a:latin typeface="Times New Roman" pitchFamily="18" charset="0"/>
                <a:ea typeface="Arimo" pitchFamily="34" charset="-122"/>
                <a:cs typeface="Times New Roman" pitchFamily="18" charset="0"/>
              </a:rPr>
              <a:t> (e.g., population mean).</a:t>
            </a:r>
            <a:endParaRPr lang="en-US" dirty="0">
              <a:latin typeface="Times New Roman" pitchFamily="18" charset="0"/>
              <a:cs typeface="Times New Roman" pitchFamily="18" charset="0"/>
            </a:endParaRPr>
          </a:p>
        </p:txBody>
      </p:sp>
      <p:sp>
        <p:nvSpPr>
          <p:cNvPr id="10" name="Text 6"/>
          <p:cNvSpPr/>
          <p:nvPr/>
        </p:nvSpPr>
        <p:spPr>
          <a:xfrm>
            <a:off x="4454613" y="5103515"/>
            <a:ext cx="4228913" cy="1098551"/>
          </a:xfrm>
          <a:prstGeom prst="rect">
            <a:avLst/>
          </a:prstGeom>
          <a:noFill/>
          <a:ln/>
        </p:spPr>
        <p:txBody>
          <a:bodyPr wrap="square" lIns="0" tIns="0" rIns="0" bIns="0" rtlCol="0" anchor="t"/>
          <a:lstStyle/>
          <a:p>
            <a:pPr marL="0" indent="0" algn="just">
              <a:buNone/>
            </a:pPr>
            <a:r>
              <a:rPr lang="en-US" dirty="0">
                <a:solidFill>
                  <a:srgbClr val="2A2742"/>
                </a:solidFill>
                <a:latin typeface="Times New Roman" pitchFamily="18" charset="0"/>
                <a:ea typeface="Arimo" pitchFamily="34" charset="-122"/>
                <a:cs typeface="Times New Roman" pitchFamily="18" charset="0"/>
              </a:rPr>
              <a:t>These errors are inherent in any study that uses a sample instead of a complete census — making them impossible to eliminate entirely, but possible to minimise.</a:t>
            </a:r>
            <a:endParaRPr lang="en-US"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3"/>
          <a:srcRect/>
          <a:stretch>
            <a:fillRect/>
          </a:stretch>
        </p:blipFill>
        <p:spPr bwMode="auto">
          <a:xfrm>
            <a:off x="92892" y="690067"/>
            <a:ext cx="4269044" cy="53594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additive="base">
                                        <p:cTn id="7" dur="500" fill="hold"/>
                                        <p:tgtEl>
                                          <p:spTgt spid="10243"/>
                                        </p:tgtEl>
                                        <p:attrNameLst>
                                          <p:attrName>ppt_x</p:attrName>
                                        </p:attrNameLst>
                                      </p:cBhvr>
                                      <p:tavLst>
                                        <p:tav tm="0">
                                          <p:val>
                                            <p:strVal val="#ppt_x"/>
                                          </p:val>
                                        </p:tav>
                                        <p:tav tm="100000">
                                          <p:val>
                                            <p:strVal val="#ppt_x"/>
                                          </p:val>
                                        </p:tav>
                                      </p:tavLst>
                                    </p:anim>
                                    <p:anim calcmode="lin" valueType="num">
                                      <p:cBhvr additive="base">
                                        <p:cTn id="8"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bg/>
                                          </p:spTgt>
                                        </p:tgtEl>
                                        <p:attrNameLst>
                                          <p:attrName>style.visibility</p:attrName>
                                        </p:attrNameLst>
                                      </p:cBhvr>
                                      <p:to>
                                        <p:strVal val="visible"/>
                                      </p:to>
                                    </p:set>
                                    <p:animEffect transition="in" filter="fade">
                                      <p:cBhvr>
                                        <p:cTn id="23" dur="2000"/>
                                        <p:tgtEl>
                                          <p:spTgt spid="6">
                                            <p:bg/>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2000"/>
                                        <p:tgtEl>
                                          <p:spTgt spid="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bg/>
                                          </p:spTgt>
                                        </p:tgtEl>
                                        <p:attrNameLst>
                                          <p:attrName>style.visibility</p:attrName>
                                        </p:attrNameLst>
                                      </p:cBhvr>
                                      <p:to>
                                        <p:strVal val="visible"/>
                                      </p:to>
                                    </p:set>
                                    <p:animEffect transition="in" filter="fade">
                                      <p:cBhvr>
                                        <p:cTn id="31" dur="2000"/>
                                        <p:tgtEl>
                                          <p:spTgt spid="10">
                                            <p:bg/>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xEl>
                                              <p:pRg st="0" end="0"/>
                                            </p:txEl>
                                          </p:spTgt>
                                        </p:tgtEl>
                                        <p:attrNameLst>
                                          <p:attrName>style.visibility</p:attrName>
                                        </p:attrNameLst>
                                      </p:cBhvr>
                                      <p:to>
                                        <p:strVal val="visible"/>
                                      </p:to>
                                    </p:set>
                                    <p:animEffect transition="in" filter="fade">
                                      <p:cBhvr>
                                        <p:cTn id="34"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animBg="1"/>
      <p:bldP spid="9" grpId="0" animBg="1"/>
      <p:bldP spid="10" grpId="0"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print"/>
          <a:stretch>
            <a:fillRect/>
          </a:stretch>
        </p:blipFill>
        <p:spPr>
          <a:xfrm>
            <a:off x="5715000" y="0"/>
            <a:ext cx="3429000" cy="6858000"/>
          </a:xfrm>
          <a:prstGeom prst="rect">
            <a:avLst/>
          </a:prstGeom>
        </p:spPr>
      </p:pic>
      <p:sp>
        <p:nvSpPr>
          <p:cNvPr id="3" name="Text 0"/>
          <p:cNvSpPr/>
          <p:nvPr/>
        </p:nvSpPr>
        <p:spPr>
          <a:xfrm>
            <a:off x="434133" y="476052"/>
            <a:ext cx="3612207" cy="516731"/>
          </a:xfrm>
          <a:prstGeom prst="rect">
            <a:avLst/>
          </a:prstGeom>
          <a:noFill/>
          <a:ln/>
        </p:spPr>
        <p:txBody>
          <a:bodyPr wrap="none" lIns="0" tIns="0" rIns="0" bIns="0" rtlCol="0" anchor="t"/>
          <a:lstStyle/>
          <a:p>
            <a:pPr marL="0" indent="0" algn="l">
              <a:lnSpc>
                <a:spcPts val="3050"/>
              </a:lnSpc>
              <a:buNone/>
            </a:pPr>
            <a:r>
              <a:rPr lang="en-US" sz="2400" b="1" dirty="0">
                <a:solidFill>
                  <a:srgbClr val="231971"/>
                </a:solidFill>
                <a:latin typeface="Times New Roman" pitchFamily="18" charset="0"/>
                <a:ea typeface="Outfit Extra Bold" pitchFamily="34" charset="-122"/>
                <a:cs typeface="Times New Roman" pitchFamily="18" charset="0"/>
              </a:rPr>
              <a:t>Types of Sampling Errors</a:t>
            </a:r>
            <a:endParaRPr lang="en-US" sz="2400" dirty="0">
              <a:latin typeface="Times New Roman" pitchFamily="18" charset="0"/>
              <a:cs typeface="Times New Roman" pitchFamily="18" charset="0"/>
            </a:endParaRPr>
          </a:p>
        </p:txBody>
      </p:sp>
      <p:sp>
        <p:nvSpPr>
          <p:cNvPr id="4" name="Shape 1"/>
          <p:cNvSpPr/>
          <p:nvPr/>
        </p:nvSpPr>
        <p:spPr>
          <a:xfrm>
            <a:off x="434133" y="1209775"/>
            <a:ext cx="4846737" cy="1792983"/>
          </a:xfrm>
          <a:prstGeom prst="roundRect">
            <a:avLst>
              <a:gd name="adj" fmla="val 5100"/>
            </a:avLst>
          </a:prstGeom>
          <a:solidFill>
            <a:srgbClr val="FAFAFA">
              <a:alpha val="95000"/>
            </a:srgbClr>
          </a:solidFill>
          <a:ln w="14288">
            <a:solidFill>
              <a:srgbClr val="BDB8DF"/>
            </a:solidFill>
            <a:prstDash val="solid"/>
          </a:ln>
        </p:spPr>
      </p:sp>
      <p:sp>
        <p:nvSpPr>
          <p:cNvPr id="5" name="Shape 2"/>
          <p:cNvSpPr/>
          <p:nvPr/>
        </p:nvSpPr>
        <p:spPr>
          <a:xfrm>
            <a:off x="419844" y="1209775"/>
            <a:ext cx="57150" cy="1792983"/>
          </a:xfrm>
          <a:prstGeom prst="roundRect">
            <a:avLst>
              <a:gd name="adj" fmla="val 91163"/>
            </a:avLst>
          </a:prstGeom>
          <a:solidFill>
            <a:srgbClr val="5E4CE6"/>
          </a:solidFill>
          <a:ln/>
        </p:spPr>
      </p:sp>
      <p:sp>
        <p:nvSpPr>
          <p:cNvPr id="6" name="Text 3"/>
          <p:cNvSpPr/>
          <p:nvPr/>
        </p:nvSpPr>
        <p:spPr>
          <a:xfrm>
            <a:off x="615255" y="1394124"/>
            <a:ext cx="1550566" cy="258465"/>
          </a:xfrm>
          <a:prstGeom prst="rect">
            <a:avLst/>
          </a:prstGeom>
          <a:noFill/>
          <a:ln/>
        </p:spPr>
        <p:txBody>
          <a:bodyPr wrap="none" lIns="0" tIns="0" rIns="0" bIns="0" rtlCol="0" anchor="t"/>
          <a:lstStyle/>
          <a:p>
            <a:pPr marL="0" indent="0" algn="l">
              <a:lnSpc>
                <a:spcPts val="1500"/>
              </a:lnSpc>
              <a:buNone/>
            </a:pPr>
            <a:r>
              <a:rPr lang="en-US" sz="1600" b="1" dirty="0">
                <a:solidFill>
                  <a:srgbClr val="2A2742"/>
                </a:solidFill>
                <a:latin typeface="Times New Roman" pitchFamily="18" charset="0"/>
                <a:ea typeface="Outfit Extra Bold" pitchFamily="34" charset="-122"/>
                <a:cs typeface="Times New Roman" pitchFamily="18" charset="0"/>
              </a:rPr>
              <a:t>Selection Bias</a:t>
            </a:r>
            <a:endParaRPr lang="en-US" sz="1600" dirty="0">
              <a:latin typeface="Times New Roman" pitchFamily="18" charset="0"/>
              <a:cs typeface="Times New Roman" pitchFamily="18" charset="0"/>
            </a:endParaRPr>
          </a:p>
        </p:txBody>
      </p:sp>
      <p:sp>
        <p:nvSpPr>
          <p:cNvPr id="7" name="Text 4"/>
          <p:cNvSpPr/>
          <p:nvPr/>
        </p:nvSpPr>
        <p:spPr>
          <a:xfrm>
            <a:off x="615255" y="1739404"/>
            <a:ext cx="4527352" cy="496093"/>
          </a:xfrm>
          <a:prstGeom prst="rect">
            <a:avLst/>
          </a:prstGeom>
          <a:noFill/>
          <a:ln/>
        </p:spPr>
        <p:txBody>
          <a:bodyPr wrap="square" lIns="0" tIns="0" rIns="0" bIns="0" rtlCol="0" anchor="t"/>
          <a:lstStyle/>
          <a:p>
            <a:pPr marL="0" indent="0" algn="l">
              <a:lnSpc>
                <a:spcPts val="1450"/>
              </a:lnSpc>
              <a:buNone/>
            </a:pPr>
            <a:r>
              <a:rPr lang="en-US" sz="1600" dirty="0">
                <a:solidFill>
                  <a:srgbClr val="2A2742"/>
                </a:solidFill>
                <a:latin typeface="Times New Roman" pitchFamily="18" charset="0"/>
                <a:ea typeface="Arimo" pitchFamily="34" charset="-122"/>
                <a:cs typeface="Times New Roman" pitchFamily="18" charset="0"/>
              </a:rPr>
              <a:t>When the sampling method is not random, the sample </a:t>
            </a:r>
            <a:r>
              <a:rPr lang="en-US" sz="1600" b="1" dirty="0">
                <a:solidFill>
                  <a:srgbClr val="2A2742"/>
                </a:solidFill>
                <a:latin typeface="Times New Roman" pitchFamily="18" charset="0"/>
                <a:ea typeface="Arimo" pitchFamily="34" charset="-122"/>
                <a:cs typeface="Times New Roman" pitchFamily="18" charset="0"/>
              </a:rPr>
              <a:t>systematically differs</a:t>
            </a:r>
            <a:r>
              <a:rPr lang="en-US" sz="1600" dirty="0">
                <a:solidFill>
                  <a:srgbClr val="2A2742"/>
                </a:solidFill>
                <a:latin typeface="Times New Roman" pitchFamily="18" charset="0"/>
                <a:ea typeface="Arimo" pitchFamily="34" charset="-122"/>
                <a:cs typeface="Times New Roman" pitchFamily="18" charset="0"/>
              </a:rPr>
              <a:t> from the population.</a:t>
            </a:r>
            <a:endParaRPr lang="en-US" sz="1600" dirty="0">
              <a:latin typeface="Times New Roman" pitchFamily="18" charset="0"/>
              <a:cs typeface="Times New Roman" pitchFamily="18" charset="0"/>
            </a:endParaRPr>
          </a:p>
        </p:txBody>
      </p:sp>
      <p:sp>
        <p:nvSpPr>
          <p:cNvPr id="8" name="Text 5"/>
          <p:cNvSpPr/>
          <p:nvPr/>
        </p:nvSpPr>
        <p:spPr>
          <a:xfrm>
            <a:off x="615255" y="2322315"/>
            <a:ext cx="4527352" cy="496093"/>
          </a:xfrm>
          <a:prstGeom prst="rect">
            <a:avLst/>
          </a:prstGeom>
          <a:noFill/>
          <a:ln/>
        </p:spPr>
        <p:txBody>
          <a:bodyPr wrap="square" lIns="0" tIns="0" rIns="0" bIns="0" rtlCol="0" anchor="t"/>
          <a:lstStyle/>
          <a:p>
            <a:pPr marL="0" indent="0" algn="l">
              <a:lnSpc>
                <a:spcPts val="1450"/>
              </a:lnSpc>
              <a:buNone/>
            </a:pPr>
            <a:r>
              <a:rPr lang="en-US" sz="1200" i="1" dirty="0">
                <a:solidFill>
                  <a:srgbClr val="2A2742"/>
                </a:solidFill>
                <a:latin typeface="Times New Roman" pitchFamily="18" charset="0"/>
                <a:ea typeface="Arimo" pitchFamily="34" charset="-122"/>
                <a:cs typeface="Times New Roman" pitchFamily="18" charset="0"/>
              </a:rPr>
              <a:t>Example:</a:t>
            </a:r>
            <a:r>
              <a:rPr lang="en-US" sz="1200" dirty="0">
                <a:solidFill>
                  <a:srgbClr val="2A2742"/>
                </a:solidFill>
                <a:latin typeface="Times New Roman" pitchFamily="18" charset="0"/>
                <a:ea typeface="Arimo" pitchFamily="34" charset="-122"/>
                <a:cs typeface="Times New Roman" pitchFamily="18" charset="0"/>
              </a:rPr>
              <a:t> Surveying only smartphone users to understand general internet usage — excluding those without smartphones.</a:t>
            </a:r>
            <a:endParaRPr lang="en-US" sz="1200" dirty="0">
              <a:latin typeface="Times New Roman" pitchFamily="18" charset="0"/>
              <a:cs typeface="Times New Roman" pitchFamily="18" charset="0"/>
            </a:endParaRPr>
          </a:p>
        </p:txBody>
      </p:sp>
      <p:sp>
        <p:nvSpPr>
          <p:cNvPr id="9" name="Shape 6"/>
          <p:cNvSpPr/>
          <p:nvPr/>
        </p:nvSpPr>
        <p:spPr>
          <a:xfrm>
            <a:off x="434132" y="3147417"/>
            <a:ext cx="5052268" cy="1296888"/>
          </a:xfrm>
          <a:prstGeom prst="roundRect">
            <a:avLst>
              <a:gd name="adj" fmla="val 7051"/>
            </a:avLst>
          </a:prstGeom>
          <a:solidFill>
            <a:srgbClr val="FAFAFA">
              <a:alpha val="95000"/>
            </a:srgbClr>
          </a:solidFill>
          <a:ln w="14288">
            <a:solidFill>
              <a:srgbClr val="BDB8DF"/>
            </a:solidFill>
            <a:prstDash val="solid"/>
          </a:ln>
        </p:spPr>
      </p:sp>
      <p:sp>
        <p:nvSpPr>
          <p:cNvPr id="10" name="Shape 7"/>
          <p:cNvSpPr/>
          <p:nvPr/>
        </p:nvSpPr>
        <p:spPr>
          <a:xfrm>
            <a:off x="419844" y="3147417"/>
            <a:ext cx="57150" cy="1296888"/>
          </a:xfrm>
          <a:prstGeom prst="roundRect">
            <a:avLst>
              <a:gd name="adj" fmla="val 91163"/>
            </a:avLst>
          </a:prstGeom>
          <a:solidFill>
            <a:srgbClr val="5E4CE6"/>
          </a:solidFill>
          <a:ln/>
        </p:spPr>
      </p:sp>
      <p:sp>
        <p:nvSpPr>
          <p:cNvPr id="11" name="Text 8"/>
          <p:cNvSpPr/>
          <p:nvPr/>
        </p:nvSpPr>
        <p:spPr>
          <a:xfrm>
            <a:off x="615256" y="3331766"/>
            <a:ext cx="1594693" cy="258465"/>
          </a:xfrm>
          <a:prstGeom prst="rect">
            <a:avLst/>
          </a:prstGeom>
          <a:noFill/>
          <a:ln/>
        </p:spPr>
        <p:txBody>
          <a:bodyPr wrap="none" lIns="0" tIns="0" rIns="0" bIns="0" rtlCol="0" anchor="t"/>
          <a:lstStyle/>
          <a:p>
            <a:pPr marL="0" indent="0" algn="l">
              <a:lnSpc>
                <a:spcPts val="1500"/>
              </a:lnSpc>
              <a:buNone/>
            </a:pPr>
            <a:r>
              <a:rPr lang="en-US" sz="1600" b="1" dirty="0">
                <a:solidFill>
                  <a:srgbClr val="2A2742"/>
                </a:solidFill>
                <a:latin typeface="Times New Roman" pitchFamily="18" charset="0"/>
                <a:ea typeface="Outfit Extra Bold" pitchFamily="34" charset="-122"/>
                <a:cs typeface="Times New Roman" pitchFamily="18" charset="0"/>
              </a:rPr>
              <a:t>Sample Size Too Small</a:t>
            </a:r>
            <a:endParaRPr lang="en-US" sz="1600" dirty="0">
              <a:latin typeface="Times New Roman" pitchFamily="18" charset="0"/>
              <a:cs typeface="Times New Roman" pitchFamily="18" charset="0"/>
            </a:endParaRPr>
          </a:p>
        </p:txBody>
      </p:sp>
      <p:sp>
        <p:nvSpPr>
          <p:cNvPr id="12" name="Text 9"/>
          <p:cNvSpPr/>
          <p:nvPr/>
        </p:nvSpPr>
        <p:spPr>
          <a:xfrm>
            <a:off x="544714" y="3538143"/>
            <a:ext cx="4527352" cy="248047"/>
          </a:xfrm>
          <a:prstGeom prst="rect">
            <a:avLst/>
          </a:prstGeom>
          <a:noFill/>
          <a:ln/>
        </p:spPr>
        <p:txBody>
          <a:bodyPr wrap="none" lIns="0" tIns="0" rIns="0" bIns="0" rtlCol="0" anchor="t"/>
          <a:lstStyle/>
          <a:p>
            <a:pPr marL="0" indent="0" algn="l">
              <a:buNone/>
            </a:pPr>
            <a:r>
              <a:rPr lang="en-US" sz="1600" dirty="0">
                <a:solidFill>
                  <a:srgbClr val="2A2742"/>
                </a:solidFill>
                <a:latin typeface="Times New Roman" pitchFamily="18" charset="0"/>
                <a:ea typeface="Arimo" pitchFamily="34" charset="-122"/>
                <a:cs typeface="Times New Roman" pitchFamily="18" charset="0"/>
              </a:rPr>
              <a:t>A sample that is too small may </a:t>
            </a:r>
            <a:r>
              <a:rPr lang="en-US" sz="1600" b="1" dirty="0">
                <a:solidFill>
                  <a:srgbClr val="2A2742"/>
                </a:solidFill>
                <a:latin typeface="Times New Roman" pitchFamily="18" charset="0"/>
                <a:ea typeface="Arimo" pitchFamily="34" charset="-122"/>
                <a:cs typeface="Times New Roman" pitchFamily="18" charset="0"/>
              </a:rPr>
              <a:t>fail to capture the diversity</a:t>
            </a:r>
            <a:r>
              <a:rPr lang="en-US" sz="1600" dirty="0">
                <a:solidFill>
                  <a:srgbClr val="2A2742"/>
                </a:solidFill>
                <a:latin typeface="Times New Roman" pitchFamily="18" charset="0"/>
                <a:ea typeface="Arimo" pitchFamily="34" charset="-122"/>
                <a:cs typeface="Times New Roman" pitchFamily="18" charset="0"/>
              </a:rPr>
              <a:t> </a:t>
            </a:r>
            <a:endParaRPr lang="en-US" sz="1600" dirty="0" smtClean="0">
              <a:solidFill>
                <a:srgbClr val="2A2742"/>
              </a:solidFill>
              <a:latin typeface="Times New Roman" pitchFamily="18" charset="0"/>
              <a:ea typeface="Arimo" pitchFamily="34" charset="-122"/>
              <a:cs typeface="Times New Roman" pitchFamily="18" charset="0"/>
            </a:endParaRPr>
          </a:p>
          <a:p>
            <a:pPr marL="0" indent="0" algn="l">
              <a:lnSpc>
                <a:spcPts val="1450"/>
              </a:lnSpc>
              <a:buNone/>
            </a:pPr>
            <a:r>
              <a:rPr lang="en-US" sz="1600" dirty="0" smtClean="0">
                <a:solidFill>
                  <a:srgbClr val="2A2742"/>
                </a:solidFill>
                <a:latin typeface="Times New Roman" pitchFamily="18" charset="0"/>
                <a:ea typeface="Arimo" pitchFamily="34" charset="-122"/>
                <a:cs typeface="Times New Roman" pitchFamily="18" charset="0"/>
              </a:rPr>
              <a:t>of </a:t>
            </a:r>
            <a:r>
              <a:rPr lang="en-US" sz="1600" dirty="0">
                <a:solidFill>
                  <a:srgbClr val="2A2742"/>
                </a:solidFill>
                <a:latin typeface="Times New Roman" pitchFamily="18" charset="0"/>
                <a:ea typeface="Arimo" pitchFamily="34" charset="-122"/>
                <a:cs typeface="Times New Roman" pitchFamily="18" charset="0"/>
              </a:rPr>
              <a:t>the population.</a:t>
            </a:r>
            <a:endParaRPr lang="en-US" sz="1600" dirty="0">
              <a:latin typeface="Times New Roman" pitchFamily="18" charset="0"/>
              <a:cs typeface="Times New Roman" pitchFamily="18" charset="0"/>
            </a:endParaRPr>
          </a:p>
        </p:txBody>
      </p:sp>
      <p:sp>
        <p:nvSpPr>
          <p:cNvPr id="13" name="Text 10"/>
          <p:cNvSpPr/>
          <p:nvPr/>
        </p:nvSpPr>
        <p:spPr>
          <a:xfrm>
            <a:off x="615255" y="4143380"/>
            <a:ext cx="4527352" cy="248047"/>
          </a:xfrm>
          <a:prstGeom prst="rect">
            <a:avLst/>
          </a:prstGeom>
          <a:noFill/>
          <a:ln/>
        </p:spPr>
        <p:txBody>
          <a:bodyPr wrap="none" lIns="0" tIns="0" rIns="0" bIns="0" rtlCol="0" anchor="t"/>
          <a:lstStyle/>
          <a:p>
            <a:pPr marL="0" indent="0" algn="l">
              <a:lnSpc>
                <a:spcPts val="1450"/>
              </a:lnSpc>
              <a:buNone/>
            </a:pPr>
            <a:r>
              <a:rPr lang="en-US" sz="1200" i="1" dirty="0">
                <a:solidFill>
                  <a:srgbClr val="2A2742"/>
                </a:solidFill>
                <a:latin typeface="Times New Roman" pitchFamily="18" charset="0"/>
                <a:ea typeface="Arimo" pitchFamily="34" charset="-122"/>
                <a:cs typeface="Times New Roman" pitchFamily="18" charset="0"/>
              </a:rPr>
              <a:t>Example:</a:t>
            </a:r>
            <a:r>
              <a:rPr lang="en-US" sz="1200" dirty="0">
                <a:solidFill>
                  <a:srgbClr val="2A2742"/>
                </a:solidFill>
                <a:latin typeface="Times New Roman" pitchFamily="18" charset="0"/>
                <a:ea typeface="Arimo" pitchFamily="34" charset="-122"/>
                <a:cs typeface="Times New Roman" pitchFamily="18" charset="0"/>
              </a:rPr>
              <a:t> Estimating average city height by measuring only 10 people.</a:t>
            </a:r>
            <a:endParaRPr lang="en-US" sz="1200" dirty="0">
              <a:latin typeface="Times New Roman" pitchFamily="18" charset="0"/>
              <a:cs typeface="Times New Roman" pitchFamily="18" charset="0"/>
            </a:endParaRPr>
          </a:p>
        </p:txBody>
      </p:sp>
      <p:sp>
        <p:nvSpPr>
          <p:cNvPr id="14" name="Shape 11"/>
          <p:cNvSpPr/>
          <p:nvPr/>
        </p:nvSpPr>
        <p:spPr>
          <a:xfrm>
            <a:off x="434133" y="4588967"/>
            <a:ext cx="4846737" cy="1792983"/>
          </a:xfrm>
          <a:prstGeom prst="roundRect">
            <a:avLst>
              <a:gd name="adj" fmla="val 5100"/>
            </a:avLst>
          </a:prstGeom>
          <a:solidFill>
            <a:srgbClr val="FAFAFA">
              <a:alpha val="95000"/>
            </a:srgbClr>
          </a:solidFill>
          <a:ln w="14288">
            <a:solidFill>
              <a:srgbClr val="BDB8DF"/>
            </a:solidFill>
            <a:prstDash val="solid"/>
          </a:ln>
        </p:spPr>
      </p:sp>
      <p:sp>
        <p:nvSpPr>
          <p:cNvPr id="15" name="Shape 12"/>
          <p:cNvSpPr/>
          <p:nvPr/>
        </p:nvSpPr>
        <p:spPr>
          <a:xfrm>
            <a:off x="419844" y="4588967"/>
            <a:ext cx="57150" cy="1792983"/>
          </a:xfrm>
          <a:prstGeom prst="roundRect">
            <a:avLst>
              <a:gd name="adj" fmla="val 91163"/>
            </a:avLst>
          </a:prstGeom>
          <a:solidFill>
            <a:srgbClr val="5E4CE6"/>
          </a:solidFill>
          <a:ln/>
        </p:spPr>
      </p:sp>
      <p:sp>
        <p:nvSpPr>
          <p:cNvPr id="16" name="Text 13"/>
          <p:cNvSpPr/>
          <p:nvPr/>
        </p:nvSpPr>
        <p:spPr>
          <a:xfrm>
            <a:off x="615255" y="4773316"/>
            <a:ext cx="2412802" cy="258465"/>
          </a:xfrm>
          <a:prstGeom prst="rect">
            <a:avLst/>
          </a:prstGeom>
          <a:noFill/>
          <a:ln/>
        </p:spPr>
        <p:txBody>
          <a:bodyPr wrap="none" lIns="0" tIns="0" rIns="0" bIns="0" rtlCol="0" anchor="t"/>
          <a:lstStyle/>
          <a:p>
            <a:pPr marL="0" indent="0" algn="l">
              <a:lnSpc>
                <a:spcPts val="1500"/>
              </a:lnSpc>
              <a:buNone/>
            </a:pPr>
            <a:r>
              <a:rPr lang="en-US" sz="1600" b="1" dirty="0">
                <a:solidFill>
                  <a:srgbClr val="2A2742"/>
                </a:solidFill>
                <a:latin typeface="Times New Roman" pitchFamily="18" charset="0"/>
                <a:ea typeface="Outfit Extra Bold" pitchFamily="34" charset="-122"/>
                <a:cs typeface="Times New Roman" pitchFamily="18" charset="0"/>
              </a:rPr>
              <a:t>Disproportionate Representation</a:t>
            </a:r>
            <a:endParaRPr lang="en-US" sz="1600" dirty="0">
              <a:latin typeface="Times New Roman" pitchFamily="18" charset="0"/>
              <a:cs typeface="Times New Roman" pitchFamily="18" charset="0"/>
            </a:endParaRPr>
          </a:p>
        </p:txBody>
      </p:sp>
      <p:sp>
        <p:nvSpPr>
          <p:cNvPr id="17" name="Text 14"/>
          <p:cNvSpPr/>
          <p:nvPr/>
        </p:nvSpPr>
        <p:spPr>
          <a:xfrm>
            <a:off x="615255" y="5118596"/>
            <a:ext cx="4527352" cy="496093"/>
          </a:xfrm>
          <a:prstGeom prst="rect">
            <a:avLst/>
          </a:prstGeom>
          <a:noFill/>
          <a:ln/>
        </p:spPr>
        <p:txBody>
          <a:bodyPr wrap="square" lIns="0" tIns="0" rIns="0" bIns="0" rtlCol="0" anchor="t"/>
          <a:lstStyle/>
          <a:p>
            <a:pPr marL="0" indent="0" algn="l">
              <a:lnSpc>
                <a:spcPts val="1450"/>
              </a:lnSpc>
              <a:buNone/>
            </a:pPr>
            <a:r>
              <a:rPr lang="en-US" sz="1600" dirty="0">
                <a:solidFill>
                  <a:srgbClr val="2A2742"/>
                </a:solidFill>
                <a:latin typeface="Times New Roman" pitchFamily="18" charset="0"/>
                <a:ea typeface="Arimo" pitchFamily="34" charset="-122"/>
                <a:cs typeface="Times New Roman" pitchFamily="18" charset="0"/>
              </a:rPr>
              <a:t>The sample's proportions of certain characteristics </a:t>
            </a:r>
            <a:r>
              <a:rPr lang="en-US" sz="1600" b="1" dirty="0">
                <a:solidFill>
                  <a:srgbClr val="2A2742"/>
                </a:solidFill>
                <a:latin typeface="Times New Roman" pitchFamily="18" charset="0"/>
                <a:ea typeface="Arimo" pitchFamily="34" charset="-122"/>
                <a:cs typeface="Times New Roman" pitchFamily="18" charset="0"/>
              </a:rPr>
              <a:t>do not match</a:t>
            </a:r>
            <a:r>
              <a:rPr lang="en-US" sz="1600" dirty="0">
                <a:solidFill>
                  <a:srgbClr val="2A2742"/>
                </a:solidFill>
                <a:latin typeface="Times New Roman" pitchFamily="18" charset="0"/>
                <a:ea typeface="Arimo" pitchFamily="34" charset="-122"/>
                <a:cs typeface="Times New Roman" pitchFamily="18" charset="0"/>
              </a:rPr>
              <a:t> the population's proportions.</a:t>
            </a:r>
            <a:endParaRPr lang="en-US" sz="1600" dirty="0">
              <a:latin typeface="Times New Roman" pitchFamily="18" charset="0"/>
              <a:cs typeface="Times New Roman" pitchFamily="18" charset="0"/>
            </a:endParaRPr>
          </a:p>
        </p:txBody>
      </p:sp>
      <p:sp>
        <p:nvSpPr>
          <p:cNvPr id="18" name="Text 15"/>
          <p:cNvSpPr/>
          <p:nvPr/>
        </p:nvSpPr>
        <p:spPr>
          <a:xfrm>
            <a:off x="615255" y="5701507"/>
            <a:ext cx="4527352" cy="496093"/>
          </a:xfrm>
          <a:prstGeom prst="rect">
            <a:avLst/>
          </a:prstGeom>
          <a:noFill/>
          <a:ln/>
        </p:spPr>
        <p:txBody>
          <a:bodyPr wrap="square" lIns="0" tIns="0" rIns="0" bIns="0" rtlCol="0" anchor="t"/>
          <a:lstStyle/>
          <a:p>
            <a:pPr marL="0" indent="0" algn="l">
              <a:lnSpc>
                <a:spcPts val="1450"/>
              </a:lnSpc>
              <a:buNone/>
            </a:pPr>
            <a:r>
              <a:rPr lang="en-US" sz="1200" i="1" dirty="0">
                <a:solidFill>
                  <a:srgbClr val="2A2742"/>
                </a:solidFill>
                <a:latin typeface="Times New Roman" pitchFamily="18" charset="0"/>
                <a:ea typeface="Arimo" pitchFamily="34" charset="-122"/>
                <a:cs typeface="Times New Roman" pitchFamily="18" charset="0"/>
              </a:rPr>
              <a:t>Example:</a:t>
            </a:r>
            <a:r>
              <a:rPr lang="en-US" sz="1200" dirty="0">
                <a:solidFill>
                  <a:srgbClr val="2A2742"/>
                </a:solidFill>
                <a:latin typeface="Times New Roman" pitchFamily="18" charset="0"/>
                <a:ea typeface="Arimo" pitchFamily="34" charset="-122"/>
                <a:cs typeface="Times New Roman" pitchFamily="18" charset="0"/>
              </a:rPr>
              <a:t> A consumer survey skewed heavily towards young adults when they are a minority in the real population.</a:t>
            </a: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4490" y="248189"/>
            <a:ext cx="3466207" cy="470595"/>
          </a:xfrm>
          <a:prstGeom prst="rect">
            <a:avLst/>
          </a:prstGeom>
          <a:noFill/>
          <a:ln/>
        </p:spPr>
        <p:txBody>
          <a:bodyPr wrap="none" lIns="0" tIns="0" rIns="0" bIns="0" rtlCol="0" anchor="t"/>
          <a:lstStyle/>
          <a:p>
            <a:pPr marL="0" indent="0" algn="l">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Causes of Sampling Errors</a:t>
            </a:r>
            <a:endParaRPr lang="en-US" sz="2200" dirty="0"/>
          </a:p>
        </p:txBody>
      </p:sp>
      <p:pic>
        <p:nvPicPr>
          <p:cNvPr id="3" name="Image 0" descr="preencoded.png"/>
          <p:cNvPicPr>
            <a:picLocks noChangeAspect="1"/>
          </p:cNvPicPr>
          <p:nvPr/>
        </p:nvPicPr>
        <p:blipFill>
          <a:blip r:embed="rId3" cstate="print"/>
          <a:stretch>
            <a:fillRect/>
          </a:stretch>
        </p:blipFill>
        <p:spPr>
          <a:xfrm>
            <a:off x="568412" y="848498"/>
            <a:ext cx="6289589" cy="5791199"/>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print"/>
          <a:stretch>
            <a:fillRect/>
          </a:stretch>
        </p:blipFill>
        <p:spPr>
          <a:xfrm>
            <a:off x="5715000" y="0"/>
            <a:ext cx="3429000" cy="6858000"/>
          </a:xfrm>
          <a:prstGeom prst="rect">
            <a:avLst/>
          </a:prstGeom>
        </p:spPr>
      </p:pic>
      <p:sp>
        <p:nvSpPr>
          <p:cNvPr id="3" name="Text 0"/>
          <p:cNvSpPr/>
          <p:nvPr/>
        </p:nvSpPr>
        <p:spPr>
          <a:xfrm>
            <a:off x="480641" y="532408"/>
            <a:ext cx="4753719" cy="1144389"/>
          </a:xfrm>
          <a:prstGeom prst="rect">
            <a:avLst/>
          </a:prstGeom>
          <a:noFill/>
          <a:ln/>
        </p:spPr>
        <p:txBody>
          <a:bodyPr wrap="square" lIns="0" tIns="0" rIns="0" bIns="0" rtlCol="0" anchor="t"/>
          <a:lstStyle/>
          <a:p>
            <a:pPr marL="0" indent="0" algn="l">
              <a:lnSpc>
                <a:spcPts val="3350"/>
              </a:lnSpc>
              <a:buNone/>
            </a:pPr>
            <a:r>
              <a:rPr lang="en-US" sz="2700" b="1" dirty="0">
                <a:solidFill>
                  <a:srgbClr val="231971"/>
                </a:solidFill>
                <a:latin typeface="Times New Roman" pitchFamily="18" charset="0"/>
                <a:ea typeface="Outfit Extra Bold" pitchFamily="34" charset="-122"/>
                <a:cs typeface="Times New Roman" pitchFamily="18" charset="0"/>
              </a:rPr>
              <a:t>Real-World Examples of Sampling Errors</a:t>
            </a:r>
            <a:endParaRPr lang="en-US" sz="2700" dirty="0">
              <a:latin typeface="Times New Roman" pitchFamily="18" charset="0"/>
              <a:cs typeface="Times New Roman" pitchFamily="18" charset="0"/>
            </a:endParaRPr>
          </a:p>
        </p:txBody>
      </p:sp>
      <p:pic>
        <p:nvPicPr>
          <p:cNvPr id="4" name="Image 1" descr="preencoded.png"/>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480640" y="1942803"/>
            <a:ext cx="274662" cy="366216"/>
          </a:xfrm>
          <a:prstGeom prst="rect">
            <a:avLst/>
          </a:prstGeom>
        </p:spPr>
      </p:pic>
      <p:sp>
        <p:nvSpPr>
          <p:cNvPr id="5" name="Text 1"/>
          <p:cNvSpPr/>
          <p:nvPr/>
        </p:nvSpPr>
        <p:spPr>
          <a:xfrm>
            <a:off x="921544" y="2005707"/>
            <a:ext cx="1716658" cy="286048"/>
          </a:xfrm>
          <a:prstGeom prst="rect">
            <a:avLst/>
          </a:prstGeom>
          <a:noFill/>
          <a:ln/>
        </p:spPr>
        <p:txBody>
          <a:bodyPr wrap="none" lIns="0" tIns="0" rIns="0" bIns="0" rtlCol="0" anchor="t"/>
          <a:lstStyle/>
          <a:p>
            <a:pPr marL="0" indent="0" algn="l">
              <a:lnSpc>
                <a:spcPts val="1650"/>
              </a:lnSpc>
              <a:buNone/>
            </a:pPr>
            <a:r>
              <a:rPr lang="en-US" sz="1600" b="1" dirty="0">
                <a:solidFill>
                  <a:srgbClr val="2A2742"/>
                </a:solidFill>
                <a:latin typeface="Times New Roman" pitchFamily="18" charset="0"/>
                <a:ea typeface="Outfit Extra Bold" pitchFamily="34" charset="-122"/>
                <a:cs typeface="Times New Roman" pitchFamily="18" charset="0"/>
              </a:rPr>
              <a:t>Political Polling</a:t>
            </a:r>
            <a:endParaRPr lang="en-US" sz="1600" dirty="0">
              <a:latin typeface="Times New Roman" pitchFamily="18" charset="0"/>
              <a:cs typeface="Times New Roman" pitchFamily="18" charset="0"/>
            </a:endParaRPr>
          </a:p>
        </p:txBody>
      </p:sp>
      <p:sp>
        <p:nvSpPr>
          <p:cNvPr id="6" name="Text 2"/>
          <p:cNvSpPr/>
          <p:nvPr/>
        </p:nvSpPr>
        <p:spPr>
          <a:xfrm>
            <a:off x="921544" y="2398118"/>
            <a:ext cx="4312816" cy="865287"/>
          </a:xfrm>
          <a:prstGeom prst="rect">
            <a:avLst/>
          </a:prstGeom>
          <a:noFill/>
          <a:ln/>
        </p:spPr>
        <p:txBody>
          <a:bodyPr wrap="square" lIns="0" tIns="0" rIns="0" bIns="0" rtlCol="0" anchor="t"/>
          <a:lstStyle/>
          <a:p>
            <a:pPr marL="0" indent="0" algn="just">
              <a:buNone/>
            </a:pPr>
            <a:r>
              <a:rPr lang="en-US" sz="1600" dirty="0">
                <a:solidFill>
                  <a:srgbClr val="2A2742"/>
                </a:solidFill>
                <a:latin typeface="Times New Roman" pitchFamily="18" charset="0"/>
                <a:ea typeface="Arimo" pitchFamily="34" charset="-122"/>
                <a:cs typeface="Times New Roman" pitchFamily="18" charset="0"/>
              </a:rPr>
              <a:t>A pre-election poll that </a:t>
            </a:r>
            <a:r>
              <a:rPr lang="en-US" sz="1600" b="1" dirty="0">
                <a:solidFill>
                  <a:srgbClr val="2A2742"/>
                </a:solidFill>
                <a:latin typeface="Times New Roman" pitchFamily="18" charset="0"/>
                <a:ea typeface="Arimo" pitchFamily="34" charset="-122"/>
                <a:cs typeface="Times New Roman" pitchFamily="18" charset="0"/>
              </a:rPr>
              <a:t>over-samples a particular demographic</a:t>
            </a:r>
            <a:r>
              <a:rPr lang="en-US" sz="1600" dirty="0">
                <a:solidFill>
                  <a:srgbClr val="2A2742"/>
                </a:solidFill>
                <a:latin typeface="Times New Roman" pitchFamily="18" charset="0"/>
                <a:ea typeface="Arimo" pitchFamily="34" charset="-122"/>
                <a:cs typeface="Times New Roman" pitchFamily="18" charset="0"/>
              </a:rPr>
              <a:t> can inaccurately predict the election outcome — as seen in several high-profile electoral upsets.</a:t>
            </a:r>
            <a:endParaRPr lang="en-US" sz="1600" dirty="0">
              <a:latin typeface="Times New Roman" pitchFamily="18" charset="0"/>
              <a:cs typeface="Times New Roman" pitchFamily="18" charset="0"/>
            </a:endParaRPr>
          </a:p>
        </p:txBody>
      </p:sp>
      <p:pic>
        <p:nvPicPr>
          <p:cNvPr id="7" name="Image 2" descr="preencoded.png"/>
          <p:cNvPicPr>
            <a:picLocks noChangeAspect="1"/>
          </p:cNvPicPr>
          <p:nvPr/>
        </p:nvPicPr>
        <p:blipFill>
          <a:blip r:embed="rId4">
            <a:extLst>
              <a:ext uri="{96DAC541-7B7A-43D3-8B79-37D633B846F1}">
                <asvg:svgBlip xmlns="" xmlns:asvg="http://schemas.microsoft.com/office/drawing/2016/SVG/main" r:embed="rId6"/>
              </a:ext>
            </a:extLst>
          </a:blip>
          <a:stretch>
            <a:fillRect/>
          </a:stretch>
        </p:blipFill>
        <p:spPr>
          <a:xfrm>
            <a:off x="480640" y="3618111"/>
            <a:ext cx="274662" cy="366216"/>
          </a:xfrm>
          <a:prstGeom prst="rect">
            <a:avLst/>
          </a:prstGeom>
        </p:spPr>
      </p:pic>
      <p:sp>
        <p:nvSpPr>
          <p:cNvPr id="8" name="Text 3"/>
          <p:cNvSpPr/>
          <p:nvPr/>
        </p:nvSpPr>
        <p:spPr>
          <a:xfrm>
            <a:off x="921544" y="3681016"/>
            <a:ext cx="1716658" cy="286048"/>
          </a:xfrm>
          <a:prstGeom prst="rect">
            <a:avLst/>
          </a:prstGeom>
          <a:noFill/>
          <a:ln/>
        </p:spPr>
        <p:txBody>
          <a:bodyPr wrap="none" lIns="0" tIns="0" rIns="0" bIns="0" rtlCol="0" anchor="t"/>
          <a:lstStyle/>
          <a:p>
            <a:pPr marL="0" indent="0" algn="l">
              <a:lnSpc>
                <a:spcPts val="1650"/>
              </a:lnSpc>
              <a:buNone/>
            </a:pPr>
            <a:r>
              <a:rPr lang="en-US" sz="1600" b="1" dirty="0">
                <a:solidFill>
                  <a:srgbClr val="2A2742"/>
                </a:solidFill>
                <a:latin typeface="Times New Roman" pitchFamily="18" charset="0"/>
                <a:ea typeface="Outfit Extra Bold" pitchFamily="34" charset="-122"/>
                <a:cs typeface="Times New Roman" pitchFamily="18" charset="0"/>
              </a:rPr>
              <a:t>Market Research</a:t>
            </a:r>
            <a:endParaRPr lang="en-US" sz="1600" dirty="0">
              <a:latin typeface="Times New Roman" pitchFamily="18" charset="0"/>
              <a:cs typeface="Times New Roman" pitchFamily="18" charset="0"/>
            </a:endParaRPr>
          </a:p>
        </p:txBody>
      </p:sp>
      <p:sp>
        <p:nvSpPr>
          <p:cNvPr id="9" name="Text 4"/>
          <p:cNvSpPr/>
          <p:nvPr/>
        </p:nvSpPr>
        <p:spPr>
          <a:xfrm>
            <a:off x="921544" y="4073426"/>
            <a:ext cx="4312816" cy="576857"/>
          </a:xfrm>
          <a:prstGeom prst="rect">
            <a:avLst/>
          </a:prstGeom>
          <a:noFill/>
          <a:ln/>
        </p:spPr>
        <p:txBody>
          <a:bodyPr wrap="square" lIns="0" tIns="0" rIns="0" bIns="0" rtlCol="0" anchor="t"/>
          <a:lstStyle/>
          <a:p>
            <a:pPr marL="0" indent="0" algn="just">
              <a:buNone/>
            </a:pPr>
            <a:r>
              <a:rPr lang="en-US" sz="1600" dirty="0">
                <a:solidFill>
                  <a:srgbClr val="2A2742"/>
                </a:solidFill>
                <a:latin typeface="Times New Roman" pitchFamily="18" charset="0"/>
                <a:ea typeface="Arimo" pitchFamily="34" charset="-122"/>
                <a:cs typeface="Times New Roman" pitchFamily="18" charset="0"/>
              </a:rPr>
              <a:t>Surveying only </a:t>
            </a:r>
            <a:r>
              <a:rPr lang="en-US" sz="1600" b="1" dirty="0">
                <a:solidFill>
                  <a:srgbClr val="2A2742"/>
                </a:solidFill>
                <a:latin typeface="Times New Roman" pitchFamily="18" charset="0"/>
                <a:ea typeface="Arimo" pitchFamily="34" charset="-122"/>
                <a:cs typeface="Times New Roman" pitchFamily="18" charset="0"/>
              </a:rPr>
              <a:t>existing customers</a:t>
            </a:r>
            <a:r>
              <a:rPr lang="en-US" sz="1600" dirty="0">
                <a:solidFill>
                  <a:srgbClr val="2A2742"/>
                </a:solidFill>
                <a:latin typeface="Times New Roman" pitchFamily="18" charset="0"/>
                <a:ea typeface="Arimo" pitchFamily="34" charset="-122"/>
                <a:cs typeface="Times New Roman" pitchFamily="18" charset="0"/>
              </a:rPr>
              <a:t> to gauge interest in a new product misses the perspectives of potential new customer segments entirely.</a:t>
            </a:r>
            <a:endParaRPr lang="en-US" sz="1600" dirty="0">
              <a:latin typeface="Times New Roman" pitchFamily="18" charset="0"/>
              <a:cs typeface="Times New Roman" pitchFamily="18" charset="0"/>
            </a:endParaRPr>
          </a:p>
        </p:txBody>
      </p:sp>
      <p:pic>
        <p:nvPicPr>
          <p:cNvPr id="10" name="Image 3" descr="preencoded.png"/>
          <p:cNvPicPr>
            <a:picLocks noChangeAspect="1"/>
          </p:cNvPicPr>
          <p:nvPr/>
        </p:nvPicPr>
        <p:blipFill>
          <a:blip r:embed="rId4">
            <a:extLst>
              <a:ext uri="{96DAC541-7B7A-43D3-8B79-37D633B846F1}">
                <asvg:svgBlip xmlns="" xmlns:asvg="http://schemas.microsoft.com/office/drawing/2016/SVG/main" r:embed="rId7"/>
              </a:ext>
            </a:extLst>
          </a:blip>
          <a:stretch>
            <a:fillRect/>
          </a:stretch>
        </p:blipFill>
        <p:spPr>
          <a:xfrm>
            <a:off x="480640" y="5004991"/>
            <a:ext cx="274662" cy="366216"/>
          </a:xfrm>
          <a:prstGeom prst="rect">
            <a:avLst/>
          </a:prstGeom>
        </p:spPr>
      </p:pic>
      <p:sp>
        <p:nvSpPr>
          <p:cNvPr id="11" name="Text 5"/>
          <p:cNvSpPr/>
          <p:nvPr/>
        </p:nvSpPr>
        <p:spPr>
          <a:xfrm>
            <a:off x="921544" y="5067895"/>
            <a:ext cx="1716658" cy="286048"/>
          </a:xfrm>
          <a:prstGeom prst="rect">
            <a:avLst/>
          </a:prstGeom>
          <a:noFill/>
          <a:ln/>
        </p:spPr>
        <p:txBody>
          <a:bodyPr wrap="none" lIns="0" tIns="0" rIns="0" bIns="0" rtlCol="0" anchor="t"/>
          <a:lstStyle/>
          <a:p>
            <a:pPr marL="0" indent="0" algn="l">
              <a:lnSpc>
                <a:spcPts val="1650"/>
              </a:lnSpc>
              <a:buNone/>
            </a:pPr>
            <a:r>
              <a:rPr lang="en-US" sz="1600" b="1" dirty="0">
                <a:solidFill>
                  <a:srgbClr val="2A2742"/>
                </a:solidFill>
                <a:latin typeface="Times New Roman" pitchFamily="18" charset="0"/>
                <a:ea typeface="Outfit Extra Bold" pitchFamily="34" charset="-122"/>
                <a:cs typeface="Times New Roman" pitchFamily="18" charset="0"/>
              </a:rPr>
              <a:t>Health Studies</a:t>
            </a:r>
            <a:endParaRPr lang="en-US" sz="1600" dirty="0">
              <a:latin typeface="Times New Roman" pitchFamily="18" charset="0"/>
              <a:cs typeface="Times New Roman" pitchFamily="18" charset="0"/>
            </a:endParaRPr>
          </a:p>
        </p:txBody>
      </p:sp>
      <p:sp>
        <p:nvSpPr>
          <p:cNvPr id="12" name="Text 6"/>
          <p:cNvSpPr/>
          <p:nvPr/>
        </p:nvSpPr>
        <p:spPr>
          <a:xfrm>
            <a:off x="921544" y="5460306"/>
            <a:ext cx="4312816" cy="865287"/>
          </a:xfrm>
          <a:prstGeom prst="rect">
            <a:avLst/>
          </a:prstGeom>
          <a:noFill/>
          <a:ln/>
        </p:spPr>
        <p:txBody>
          <a:bodyPr wrap="square" lIns="0" tIns="0" rIns="0" bIns="0" rtlCol="0" anchor="t"/>
          <a:lstStyle/>
          <a:p>
            <a:pPr marL="0" indent="0" algn="just">
              <a:buNone/>
            </a:pPr>
            <a:r>
              <a:rPr lang="en-US" sz="1600" dirty="0">
                <a:solidFill>
                  <a:srgbClr val="2A2742"/>
                </a:solidFill>
                <a:latin typeface="Times New Roman" pitchFamily="18" charset="0"/>
                <a:ea typeface="Arimo" pitchFamily="34" charset="-122"/>
                <a:cs typeface="Times New Roman" pitchFamily="18" charset="0"/>
              </a:rPr>
              <a:t>A drug efficacy trial limited to one </a:t>
            </a:r>
            <a:r>
              <a:rPr lang="en-US" sz="1600" b="1" dirty="0">
                <a:solidFill>
                  <a:srgbClr val="2A2742"/>
                </a:solidFill>
                <a:latin typeface="Times New Roman" pitchFamily="18" charset="0"/>
                <a:ea typeface="Arimo" pitchFamily="34" charset="-122"/>
                <a:cs typeface="Times New Roman" pitchFamily="18" charset="0"/>
              </a:rPr>
              <a:t>geographic region</a:t>
            </a:r>
            <a:r>
              <a:rPr lang="en-US" sz="1600" dirty="0">
                <a:solidFill>
                  <a:srgbClr val="2A2742"/>
                </a:solidFill>
                <a:latin typeface="Times New Roman" pitchFamily="18" charset="0"/>
                <a:ea typeface="Arimo" pitchFamily="34" charset="-122"/>
                <a:cs typeface="Times New Roman" pitchFamily="18" charset="0"/>
              </a:rPr>
              <a:t> may not reflect how the treatment performs across diverse populations with different genetic or environmental profiles.</a:t>
            </a: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45220" y="995859"/>
            <a:ext cx="3827487" cy="498376"/>
          </a:xfrm>
          <a:prstGeom prst="rect">
            <a:avLst/>
          </a:prstGeom>
          <a:noFill/>
          <a:ln/>
        </p:spPr>
        <p:txBody>
          <a:bodyPr wrap="none" lIns="0" tIns="0" rIns="0" bIns="0" rtlCol="0" anchor="t"/>
          <a:lstStyle/>
          <a:p>
            <a:pPr marL="0" indent="0" algn="l">
              <a:lnSpc>
                <a:spcPts val="2900"/>
              </a:lnSpc>
              <a:buNone/>
            </a:pPr>
            <a:r>
              <a:rPr lang="en-US" sz="2350" b="1" dirty="0">
                <a:solidFill>
                  <a:srgbClr val="231971"/>
                </a:solidFill>
                <a:latin typeface="Outfit Extra Bold" pitchFamily="34" charset="0"/>
                <a:ea typeface="Outfit Extra Bold" pitchFamily="34" charset="-122"/>
                <a:cs typeface="Outfit Extra Bold" pitchFamily="34" charset="-120"/>
              </a:rPr>
              <a:t>Minimising Sampling Errors</a:t>
            </a:r>
            <a:endParaRPr lang="en-US" sz="2350" dirty="0"/>
          </a:p>
        </p:txBody>
      </p:sp>
      <p:sp>
        <p:nvSpPr>
          <p:cNvPr id="5" name="Text 3"/>
          <p:cNvSpPr/>
          <p:nvPr/>
        </p:nvSpPr>
        <p:spPr>
          <a:xfrm>
            <a:off x="445219" y="1628776"/>
            <a:ext cx="3980780" cy="470297"/>
          </a:xfrm>
          <a:prstGeom prst="rect">
            <a:avLst/>
          </a:prstGeom>
          <a:noFill/>
          <a:ln/>
        </p:spPr>
        <p:txBody>
          <a:bodyPr wrap="square" lIns="0" tIns="0" rIns="0" bIns="0" rtlCol="0" anchor="t"/>
          <a:lstStyle/>
          <a:p>
            <a:pPr marL="0" indent="0" algn="just">
              <a:buNone/>
            </a:pPr>
            <a:r>
              <a:rPr lang="en-US" sz="2000" dirty="0">
                <a:solidFill>
                  <a:srgbClr val="2A2742"/>
                </a:solidFill>
                <a:latin typeface="Times New Roman" pitchFamily="18" charset="0"/>
                <a:ea typeface="Arimo" pitchFamily="34" charset="-122"/>
                <a:cs typeface="Times New Roman" pitchFamily="18" charset="0"/>
              </a:rPr>
              <a:t>While sampling errors can never be fully eliminated, following these principles drives your research </a:t>
            </a:r>
            <a:r>
              <a:rPr lang="en-US" sz="2000" b="1" dirty="0">
                <a:solidFill>
                  <a:srgbClr val="5E4CE6"/>
                </a:solidFill>
                <a:latin typeface="Times New Roman" pitchFamily="18" charset="0"/>
                <a:ea typeface="Arimo" pitchFamily="34" charset="-122"/>
                <a:cs typeface="Times New Roman" pitchFamily="18" charset="0"/>
              </a:rPr>
              <a:t>towards greater accuracy and reliability</a:t>
            </a:r>
            <a:r>
              <a:rPr lang="en-US" sz="2000" dirty="0">
                <a:solidFill>
                  <a:srgbClr val="2A2742"/>
                </a:solidFill>
                <a:latin typeface="Times New Roman" pitchFamily="18" charset="0"/>
                <a:ea typeface="Arimo" pitchFamily="34" charset="-122"/>
                <a:cs typeface="Times New Roman" pitchFamily="18" charset="0"/>
              </a:rPr>
              <a:t>.</a:t>
            </a:r>
            <a:endParaRPr lang="en-US" sz="2000" dirty="0">
              <a:latin typeface="Times New Roman" pitchFamily="18" charset="0"/>
              <a:cs typeface="Times New Roman" pitchFamily="18" charset="0"/>
            </a:endParaRPr>
          </a:p>
        </p:txBody>
      </p:sp>
      <p:sp>
        <p:nvSpPr>
          <p:cNvPr id="9" name="Text 6"/>
          <p:cNvSpPr/>
          <p:nvPr/>
        </p:nvSpPr>
        <p:spPr>
          <a:xfrm>
            <a:off x="4722615" y="658316"/>
            <a:ext cx="239167" cy="199331"/>
          </a:xfrm>
          <a:prstGeom prst="rect">
            <a:avLst/>
          </a:prstGeom>
          <a:noFill/>
          <a:ln/>
        </p:spPr>
        <p:txBody>
          <a:bodyPr wrap="none" lIns="0" tIns="0" rIns="0" bIns="0" rtlCol="0" anchor="ctr"/>
          <a:lstStyle/>
          <a:p>
            <a:pPr marL="0" indent="0" algn="l">
              <a:lnSpc>
                <a:spcPct val="100000"/>
              </a:lnSpc>
              <a:buNone/>
            </a:pPr>
            <a:r>
              <a:rPr lang="en-US" dirty="0">
                <a:solidFill>
                  <a:srgbClr val="2A2742"/>
                </a:solidFill>
                <a:latin typeface="Times New Roman" pitchFamily="18" charset="0"/>
                <a:ea typeface="Outfit Light" pitchFamily="34" charset="-122"/>
                <a:cs typeface="Times New Roman" pitchFamily="18" charset="0"/>
              </a:rPr>
              <a:t>01</a:t>
            </a:r>
            <a:endParaRPr lang="en-US" dirty="0">
              <a:latin typeface="Times New Roman" pitchFamily="18" charset="0"/>
              <a:cs typeface="Times New Roman" pitchFamily="18" charset="0"/>
            </a:endParaRPr>
          </a:p>
        </p:txBody>
      </p:sp>
      <p:sp>
        <p:nvSpPr>
          <p:cNvPr id="10" name="Shape 7"/>
          <p:cNvSpPr/>
          <p:nvPr/>
        </p:nvSpPr>
        <p:spPr>
          <a:xfrm>
            <a:off x="4722614" y="910233"/>
            <a:ext cx="3980780" cy="19051"/>
          </a:xfrm>
          <a:prstGeom prst="rect">
            <a:avLst/>
          </a:prstGeom>
          <a:solidFill>
            <a:srgbClr val="5E4CE6"/>
          </a:solidFill>
          <a:ln/>
        </p:spPr>
      </p:sp>
      <p:sp>
        <p:nvSpPr>
          <p:cNvPr id="11" name="Text 8"/>
          <p:cNvSpPr/>
          <p:nvPr/>
        </p:nvSpPr>
        <p:spPr>
          <a:xfrm>
            <a:off x="4722614" y="1028005"/>
            <a:ext cx="1495202" cy="249139"/>
          </a:xfrm>
          <a:prstGeom prst="rect">
            <a:avLst/>
          </a:prstGeom>
          <a:noFill/>
          <a:ln/>
        </p:spPr>
        <p:txBody>
          <a:bodyPr wrap="none" lIns="0" tIns="0" rIns="0" bIns="0" rtlCol="0" anchor="t"/>
          <a:lstStyle/>
          <a:p>
            <a:pPr marL="0" indent="0" algn="l">
              <a:lnSpc>
                <a:spcPts val="1450"/>
              </a:lnSpc>
              <a:buNone/>
            </a:pPr>
            <a:r>
              <a:rPr lang="en-US" b="1" dirty="0">
                <a:solidFill>
                  <a:srgbClr val="2A2742"/>
                </a:solidFill>
                <a:latin typeface="Times New Roman" pitchFamily="18" charset="0"/>
                <a:ea typeface="Outfit Extra Bold" pitchFamily="34" charset="-122"/>
                <a:cs typeface="Times New Roman" pitchFamily="18" charset="0"/>
              </a:rPr>
              <a:t>Increase Sample Size</a:t>
            </a:r>
            <a:endParaRPr lang="en-US" dirty="0">
              <a:latin typeface="Times New Roman" pitchFamily="18" charset="0"/>
              <a:cs typeface="Times New Roman" pitchFamily="18" charset="0"/>
            </a:endParaRPr>
          </a:p>
        </p:txBody>
      </p:sp>
      <p:sp>
        <p:nvSpPr>
          <p:cNvPr id="12" name="Text 9"/>
          <p:cNvSpPr/>
          <p:nvPr/>
        </p:nvSpPr>
        <p:spPr>
          <a:xfrm>
            <a:off x="4722614" y="1357298"/>
            <a:ext cx="3980780" cy="470297"/>
          </a:xfrm>
          <a:prstGeom prst="rect">
            <a:avLst/>
          </a:prstGeom>
          <a:noFill/>
          <a:ln/>
        </p:spPr>
        <p:txBody>
          <a:bodyPr wrap="square" lIns="0" tIns="0" rIns="0" bIns="0" rtlCol="0" anchor="t"/>
          <a:lstStyle/>
          <a:p>
            <a:pPr marL="0" indent="0" algn="l">
              <a:buNone/>
            </a:pPr>
            <a:r>
              <a:rPr lang="en-US" dirty="0">
                <a:solidFill>
                  <a:srgbClr val="2A2742"/>
                </a:solidFill>
                <a:latin typeface="Times New Roman" pitchFamily="18" charset="0"/>
                <a:ea typeface="Arimo" pitchFamily="34" charset="-122"/>
                <a:cs typeface="Times New Roman" pitchFamily="18" charset="0"/>
              </a:rPr>
              <a:t>Larger samples reduce sampling error and better reflect population variability.</a:t>
            </a:r>
            <a:endParaRPr lang="en-US" dirty="0">
              <a:latin typeface="Times New Roman" pitchFamily="18" charset="0"/>
              <a:cs typeface="Times New Roman" pitchFamily="18" charset="0"/>
            </a:endParaRPr>
          </a:p>
        </p:txBody>
      </p:sp>
      <p:sp>
        <p:nvSpPr>
          <p:cNvPr id="13" name="Text 10"/>
          <p:cNvSpPr/>
          <p:nvPr/>
        </p:nvSpPr>
        <p:spPr>
          <a:xfrm>
            <a:off x="4722615" y="2136080"/>
            <a:ext cx="239167" cy="199331"/>
          </a:xfrm>
          <a:prstGeom prst="rect">
            <a:avLst/>
          </a:prstGeom>
          <a:noFill/>
          <a:ln/>
        </p:spPr>
        <p:txBody>
          <a:bodyPr wrap="none" lIns="0" tIns="0" rIns="0" bIns="0" rtlCol="0" anchor="ctr"/>
          <a:lstStyle/>
          <a:p>
            <a:pPr marL="0" indent="0" algn="l">
              <a:lnSpc>
                <a:spcPct val="100000"/>
              </a:lnSpc>
              <a:buNone/>
            </a:pPr>
            <a:r>
              <a:rPr lang="en-US" dirty="0">
                <a:solidFill>
                  <a:srgbClr val="2A2742"/>
                </a:solidFill>
                <a:latin typeface="Times New Roman" pitchFamily="18" charset="0"/>
                <a:ea typeface="Outfit Light" pitchFamily="34" charset="-122"/>
                <a:cs typeface="Times New Roman" pitchFamily="18" charset="0"/>
              </a:rPr>
              <a:t>02</a:t>
            </a:r>
            <a:endParaRPr lang="en-US" dirty="0">
              <a:latin typeface="Times New Roman" pitchFamily="18" charset="0"/>
              <a:cs typeface="Times New Roman" pitchFamily="18" charset="0"/>
            </a:endParaRPr>
          </a:p>
        </p:txBody>
      </p:sp>
      <p:sp>
        <p:nvSpPr>
          <p:cNvPr id="14" name="Shape 11"/>
          <p:cNvSpPr/>
          <p:nvPr/>
        </p:nvSpPr>
        <p:spPr>
          <a:xfrm>
            <a:off x="4722614" y="2387997"/>
            <a:ext cx="3980780" cy="19051"/>
          </a:xfrm>
          <a:prstGeom prst="rect">
            <a:avLst/>
          </a:prstGeom>
          <a:solidFill>
            <a:srgbClr val="5E4CE6"/>
          </a:solidFill>
          <a:ln/>
        </p:spPr>
      </p:sp>
      <p:sp>
        <p:nvSpPr>
          <p:cNvPr id="15" name="Text 12"/>
          <p:cNvSpPr/>
          <p:nvPr/>
        </p:nvSpPr>
        <p:spPr>
          <a:xfrm>
            <a:off x="4722614" y="2505769"/>
            <a:ext cx="2356842" cy="249139"/>
          </a:xfrm>
          <a:prstGeom prst="rect">
            <a:avLst/>
          </a:prstGeom>
          <a:noFill/>
          <a:ln/>
        </p:spPr>
        <p:txBody>
          <a:bodyPr wrap="none" lIns="0" tIns="0" rIns="0" bIns="0" rtlCol="0" anchor="t"/>
          <a:lstStyle/>
          <a:p>
            <a:pPr marL="0" indent="0" algn="l">
              <a:lnSpc>
                <a:spcPts val="1450"/>
              </a:lnSpc>
              <a:buNone/>
            </a:pPr>
            <a:r>
              <a:rPr lang="en-US" b="1" dirty="0">
                <a:solidFill>
                  <a:srgbClr val="2A2742"/>
                </a:solidFill>
                <a:latin typeface="Times New Roman" pitchFamily="18" charset="0"/>
                <a:ea typeface="Outfit Extra Bold" pitchFamily="34" charset="-122"/>
                <a:cs typeface="Times New Roman" pitchFamily="18" charset="0"/>
              </a:rPr>
              <a:t>Use Random Sampling Techniques</a:t>
            </a:r>
            <a:endParaRPr lang="en-US" dirty="0">
              <a:latin typeface="Times New Roman" pitchFamily="18" charset="0"/>
              <a:cs typeface="Times New Roman" pitchFamily="18" charset="0"/>
            </a:endParaRPr>
          </a:p>
        </p:txBody>
      </p:sp>
      <p:sp>
        <p:nvSpPr>
          <p:cNvPr id="16" name="Text 13"/>
          <p:cNvSpPr/>
          <p:nvPr/>
        </p:nvSpPr>
        <p:spPr>
          <a:xfrm>
            <a:off x="4722614" y="2786058"/>
            <a:ext cx="3980780" cy="235148"/>
          </a:xfrm>
          <a:prstGeom prst="rect">
            <a:avLst/>
          </a:prstGeom>
          <a:noFill/>
          <a:ln/>
        </p:spPr>
        <p:txBody>
          <a:bodyPr wrap="none" lIns="0" tIns="0" rIns="0" bIns="0" rtlCol="0" anchor="t"/>
          <a:lstStyle/>
          <a:p>
            <a:pPr marL="0" indent="0" algn="l">
              <a:buNone/>
            </a:pPr>
            <a:r>
              <a:rPr lang="en-US" dirty="0">
                <a:solidFill>
                  <a:srgbClr val="2A2742"/>
                </a:solidFill>
                <a:latin typeface="Times New Roman" pitchFamily="18" charset="0"/>
                <a:ea typeface="Arimo" pitchFamily="34" charset="-122"/>
                <a:cs typeface="Times New Roman" pitchFamily="18" charset="0"/>
              </a:rPr>
              <a:t>Apply simple random, stratified, or </a:t>
            </a:r>
            <a:r>
              <a:rPr lang="en-US" dirty="0" smtClean="0">
                <a:solidFill>
                  <a:srgbClr val="2A2742"/>
                </a:solidFill>
                <a:latin typeface="Times New Roman" pitchFamily="18" charset="0"/>
                <a:ea typeface="Arimo" pitchFamily="34" charset="-122"/>
                <a:cs typeface="Times New Roman" pitchFamily="18" charset="0"/>
              </a:rPr>
              <a:t>cluster</a:t>
            </a:r>
          </a:p>
          <a:p>
            <a:pPr marL="0" indent="0" algn="l">
              <a:buNone/>
            </a:pPr>
            <a:r>
              <a:rPr lang="en-US" dirty="0" smtClean="0">
                <a:solidFill>
                  <a:srgbClr val="2A2742"/>
                </a:solidFill>
                <a:latin typeface="Times New Roman" pitchFamily="18" charset="0"/>
                <a:ea typeface="Arimo" pitchFamily="34" charset="-122"/>
                <a:cs typeface="Times New Roman" pitchFamily="18" charset="0"/>
              </a:rPr>
              <a:t> </a:t>
            </a:r>
            <a:r>
              <a:rPr lang="en-US" dirty="0">
                <a:solidFill>
                  <a:srgbClr val="2A2742"/>
                </a:solidFill>
                <a:latin typeface="Times New Roman" pitchFamily="18" charset="0"/>
                <a:ea typeface="Arimo" pitchFamily="34" charset="-122"/>
                <a:cs typeface="Times New Roman" pitchFamily="18" charset="0"/>
              </a:rPr>
              <a:t>sampling to minimise bias.</a:t>
            </a:r>
            <a:endParaRPr lang="en-US" dirty="0">
              <a:latin typeface="Times New Roman" pitchFamily="18" charset="0"/>
              <a:cs typeface="Times New Roman" pitchFamily="18" charset="0"/>
            </a:endParaRPr>
          </a:p>
        </p:txBody>
      </p:sp>
      <p:sp>
        <p:nvSpPr>
          <p:cNvPr id="17" name="Text 14"/>
          <p:cNvSpPr/>
          <p:nvPr/>
        </p:nvSpPr>
        <p:spPr>
          <a:xfrm>
            <a:off x="4722615" y="3378696"/>
            <a:ext cx="239167" cy="199331"/>
          </a:xfrm>
          <a:prstGeom prst="rect">
            <a:avLst/>
          </a:prstGeom>
          <a:noFill/>
          <a:ln/>
        </p:spPr>
        <p:txBody>
          <a:bodyPr wrap="none" lIns="0" tIns="0" rIns="0" bIns="0" rtlCol="0" anchor="ctr"/>
          <a:lstStyle/>
          <a:p>
            <a:pPr marL="0" indent="0" algn="l">
              <a:lnSpc>
                <a:spcPct val="100000"/>
              </a:lnSpc>
              <a:buNone/>
            </a:pPr>
            <a:r>
              <a:rPr lang="en-US" dirty="0">
                <a:solidFill>
                  <a:srgbClr val="2A2742"/>
                </a:solidFill>
                <a:latin typeface="Times New Roman" pitchFamily="18" charset="0"/>
                <a:ea typeface="Outfit Light" pitchFamily="34" charset="-122"/>
                <a:cs typeface="Times New Roman" pitchFamily="18" charset="0"/>
              </a:rPr>
              <a:t>03</a:t>
            </a:r>
            <a:endParaRPr lang="en-US" dirty="0">
              <a:latin typeface="Times New Roman" pitchFamily="18" charset="0"/>
              <a:cs typeface="Times New Roman" pitchFamily="18" charset="0"/>
            </a:endParaRPr>
          </a:p>
        </p:txBody>
      </p:sp>
      <p:sp>
        <p:nvSpPr>
          <p:cNvPr id="18" name="Shape 15"/>
          <p:cNvSpPr/>
          <p:nvPr/>
        </p:nvSpPr>
        <p:spPr>
          <a:xfrm>
            <a:off x="4722614" y="3630612"/>
            <a:ext cx="3980780" cy="19051"/>
          </a:xfrm>
          <a:prstGeom prst="rect">
            <a:avLst/>
          </a:prstGeom>
          <a:solidFill>
            <a:srgbClr val="5E4CE6"/>
          </a:solidFill>
          <a:ln/>
        </p:spPr>
      </p:sp>
      <p:sp>
        <p:nvSpPr>
          <p:cNvPr id="19" name="Text 16"/>
          <p:cNvSpPr/>
          <p:nvPr/>
        </p:nvSpPr>
        <p:spPr>
          <a:xfrm>
            <a:off x="4722614" y="3748385"/>
            <a:ext cx="2511698" cy="249139"/>
          </a:xfrm>
          <a:prstGeom prst="rect">
            <a:avLst/>
          </a:prstGeom>
          <a:noFill/>
          <a:ln/>
        </p:spPr>
        <p:txBody>
          <a:bodyPr wrap="none" lIns="0" tIns="0" rIns="0" bIns="0" rtlCol="0" anchor="t"/>
          <a:lstStyle/>
          <a:p>
            <a:pPr marL="0" indent="0" algn="l">
              <a:lnSpc>
                <a:spcPts val="1450"/>
              </a:lnSpc>
              <a:buNone/>
            </a:pPr>
            <a:r>
              <a:rPr lang="en-US" b="1" dirty="0">
                <a:solidFill>
                  <a:srgbClr val="2A2742"/>
                </a:solidFill>
                <a:latin typeface="Times New Roman" pitchFamily="18" charset="0"/>
                <a:ea typeface="Outfit Extra Bold" pitchFamily="34" charset="-122"/>
                <a:cs typeface="Times New Roman" pitchFamily="18" charset="0"/>
              </a:rPr>
              <a:t>Ensure Proportional Representation</a:t>
            </a:r>
            <a:endParaRPr lang="en-US" dirty="0">
              <a:latin typeface="Times New Roman" pitchFamily="18" charset="0"/>
              <a:cs typeface="Times New Roman" pitchFamily="18" charset="0"/>
            </a:endParaRPr>
          </a:p>
        </p:txBody>
      </p:sp>
      <p:sp>
        <p:nvSpPr>
          <p:cNvPr id="20" name="Text 17"/>
          <p:cNvSpPr/>
          <p:nvPr/>
        </p:nvSpPr>
        <p:spPr>
          <a:xfrm>
            <a:off x="4722614" y="4000504"/>
            <a:ext cx="3980780" cy="470297"/>
          </a:xfrm>
          <a:prstGeom prst="rect">
            <a:avLst/>
          </a:prstGeom>
          <a:noFill/>
          <a:ln/>
        </p:spPr>
        <p:txBody>
          <a:bodyPr wrap="square" lIns="0" tIns="0" rIns="0" bIns="0" rtlCol="0" anchor="t"/>
          <a:lstStyle/>
          <a:p>
            <a:pPr marL="0" indent="0" algn="just">
              <a:buNone/>
            </a:pPr>
            <a:r>
              <a:rPr lang="en-US" dirty="0">
                <a:solidFill>
                  <a:srgbClr val="2A2742"/>
                </a:solidFill>
                <a:latin typeface="Times New Roman" pitchFamily="18" charset="0"/>
                <a:ea typeface="Arimo" pitchFamily="34" charset="-122"/>
                <a:cs typeface="Times New Roman" pitchFamily="18" charset="0"/>
              </a:rPr>
              <a:t>Mirror the population's key demographic and characteristic proportions in your sample design.</a:t>
            </a:r>
            <a:endParaRPr lang="en-US" dirty="0">
              <a:latin typeface="Times New Roman" pitchFamily="18" charset="0"/>
              <a:cs typeface="Times New Roman" pitchFamily="18" charset="0"/>
            </a:endParaRPr>
          </a:p>
        </p:txBody>
      </p:sp>
      <p:sp>
        <p:nvSpPr>
          <p:cNvPr id="21" name="Text 18"/>
          <p:cNvSpPr/>
          <p:nvPr/>
        </p:nvSpPr>
        <p:spPr>
          <a:xfrm>
            <a:off x="4722615" y="4856460"/>
            <a:ext cx="239167" cy="199331"/>
          </a:xfrm>
          <a:prstGeom prst="rect">
            <a:avLst/>
          </a:prstGeom>
          <a:noFill/>
          <a:ln/>
        </p:spPr>
        <p:txBody>
          <a:bodyPr wrap="none" lIns="0" tIns="0" rIns="0" bIns="0" rtlCol="0" anchor="ctr"/>
          <a:lstStyle/>
          <a:p>
            <a:pPr marL="0" indent="0" algn="l">
              <a:lnSpc>
                <a:spcPct val="100000"/>
              </a:lnSpc>
              <a:buNone/>
            </a:pPr>
            <a:r>
              <a:rPr lang="en-US" dirty="0">
                <a:solidFill>
                  <a:srgbClr val="2A2742"/>
                </a:solidFill>
                <a:latin typeface="Times New Roman" pitchFamily="18" charset="0"/>
                <a:ea typeface="Outfit Light" pitchFamily="34" charset="-122"/>
                <a:cs typeface="Times New Roman" pitchFamily="18" charset="0"/>
              </a:rPr>
              <a:t>04</a:t>
            </a:r>
            <a:endParaRPr lang="en-US" dirty="0">
              <a:latin typeface="Times New Roman" pitchFamily="18" charset="0"/>
              <a:cs typeface="Times New Roman" pitchFamily="18" charset="0"/>
            </a:endParaRPr>
          </a:p>
        </p:txBody>
      </p:sp>
      <p:sp>
        <p:nvSpPr>
          <p:cNvPr id="22" name="Shape 19"/>
          <p:cNvSpPr/>
          <p:nvPr/>
        </p:nvSpPr>
        <p:spPr>
          <a:xfrm>
            <a:off x="4722614" y="5108376"/>
            <a:ext cx="3980780" cy="19051"/>
          </a:xfrm>
          <a:prstGeom prst="rect">
            <a:avLst/>
          </a:prstGeom>
          <a:solidFill>
            <a:srgbClr val="5E4CE6"/>
          </a:solidFill>
          <a:ln/>
        </p:spPr>
      </p:sp>
      <p:sp>
        <p:nvSpPr>
          <p:cNvPr id="23" name="Text 20"/>
          <p:cNvSpPr/>
          <p:nvPr/>
        </p:nvSpPr>
        <p:spPr>
          <a:xfrm>
            <a:off x="4722615" y="5226149"/>
            <a:ext cx="2541687" cy="249139"/>
          </a:xfrm>
          <a:prstGeom prst="rect">
            <a:avLst/>
          </a:prstGeom>
          <a:noFill/>
          <a:ln/>
        </p:spPr>
        <p:txBody>
          <a:bodyPr wrap="none" lIns="0" tIns="0" rIns="0" bIns="0" rtlCol="0" anchor="t"/>
          <a:lstStyle/>
          <a:p>
            <a:pPr marL="0" indent="0" algn="l">
              <a:lnSpc>
                <a:spcPts val="1450"/>
              </a:lnSpc>
              <a:buNone/>
            </a:pPr>
            <a:r>
              <a:rPr lang="en-US" b="1" dirty="0">
                <a:solidFill>
                  <a:srgbClr val="2A2742"/>
                </a:solidFill>
                <a:latin typeface="Times New Roman" pitchFamily="18" charset="0"/>
                <a:ea typeface="Outfit Extra Bold" pitchFamily="34" charset="-122"/>
                <a:cs typeface="Times New Roman" pitchFamily="18" charset="0"/>
              </a:rPr>
              <a:t>Define the Target Population Clearly</a:t>
            </a:r>
            <a:endParaRPr lang="en-US" dirty="0">
              <a:latin typeface="Times New Roman" pitchFamily="18" charset="0"/>
              <a:cs typeface="Times New Roman" pitchFamily="18" charset="0"/>
            </a:endParaRPr>
          </a:p>
        </p:txBody>
      </p:sp>
      <p:sp>
        <p:nvSpPr>
          <p:cNvPr id="24" name="Text 21"/>
          <p:cNvSpPr/>
          <p:nvPr/>
        </p:nvSpPr>
        <p:spPr>
          <a:xfrm>
            <a:off x="4722614" y="5609829"/>
            <a:ext cx="3980780" cy="470297"/>
          </a:xfrm>
          <a:prstGeom prst="rect">
            <a:avLst/>
          </a:prstGeom>
          <a:noFill/>
          <a:ln/>
        </p:spPr>
        <p:txBody>
          <a:bodyPr wrap="square" lIns="0" tIns="0" rIns="0" bIns="0" rtlCol="0" anchor="t"/>
          <a:lstStyle/>
          <a:p>
            <a:pPr marL="0" indent="0" algn="just">
              <a:buNone/>
            </a:pPr>
            <a:r>
              <a:rPr lang="en-US" dirty="0">
                <a:solidFill>
                  <a:srgbClr val="2A2742"/>
                </a:solidFill>
                <a:latin typeface="Times New Roman" pitchFamily="18" charset="0"/>
                <a:ea typeface="Arimo" pitchFamily="34" charset="-122"/>
                <a:cs typeface="Times New Roman" pitchFamily="18" charset="0"/>
              </a:rPr>
              <a:t>Precisely identify who you are studying before selecting a single respondent.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par>
                                <p:cTn id="20" presetID="22" presetClass="entr" presetSubtype="4"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par>
                                <p:cTn id="32" presetID="22" presetClass="entr" presetSubtype="4"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down)">
                                      <p:cBhvr>
                                        <p:cTn id="40" dur="500"/>
                                        <p:tgtEl>
                                          <p:spTgt spid="20"/>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down)">
                                      <p:cBhvr>
                                        <p:cTn id="43" dur="500"/>
                                        <p:tgtEl>
                                          <p:spTgt spid="21"/>
                                        </p:tgtEl>
                                      </p:cBhvr>
                                    </p:animEffect>
                                  </p:childTnLst>
                                </p:cTn>
                              </p:par>
                              <p:par>
                                <p:cTn id="44" presetID="22" presetClass="entr" presetSubtype="4"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down)">
                                      <p:cBhvr>
                                        <p:cTn id="46" dur="500"/>
                                        <p:tgtEl>
                                          <p:spTgt spid="2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down)">
                                      <p:cBhvr>
                                        <p:cTn id="49" dur="500"/>
                                        <p:tgtEl>
                                          <p:spTgt spid="2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down)">
                                      <p:cBhvr>
                                        <p:cTn id="5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ᐅ Top 70+ Thank You GIF, Thanks GIF, Cartoon GIF &amp;amp; Images.">
            <a:extLst>
              <a:ext uri="{FF2B5EF4-FFF2-40B4-BE49-F238E27FC236}">
                <a16:creationId xmlns="" xmlns:a16="http://schemas.microsoft.com/office/drawing/2014/main" id="{BA30E227-2F34-476F-8750-3278EAE0D6F9}"/>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71600" y="1524000"/>
            <a:ext cx="7010399" cy="4038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049181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2043</TotalTime>
  <Words>1498</Words>
  <Application>Microsoft Office PowerPoint</Application>
  <PresentationFormat>On-screen Show (4:3)</PresentationFormat>
  <Paragraphs>191</Paragraphs>
  <Slides>32</Slides>
  <Notes>7</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UNIT-3 SAMPLING TECHNIQUES</vt:lpstr>
      <vt:lpstr>Discussion Points</vt:lpstr>
      <vt:lpstr>What is Samling?</vt:lpstr>
      <vt:lpstr>PURPOSE OF SAMPLING</vt:lpstr>
      <vt:lpstr>Process Of Sampling</vt:lpstr>
      <vt:lpstr>Slide 6</vt:lpstr>
      <vt:lpstr>SAMPLING…….</vt:lpstr>
      <vt:lpstr>Types of Samples</vt:lpstr>
      <vt:lpstr>PROBABILITY SAMPLING</vt:lpstr>
      <vt:lpstr>PROBABILITY SAMPLING…….</vt:lpstr>
      <vt:lpstr>NON PROBABILITY SAMPLING</vt:lpstr>
      <vt:lpstr>NONPROBABILITY SAMPLING</vt:lpstr>
      <vt:lpstr>TYPES OF PROBABILITY SAMPLING…….</vt:lpstr>
      <vt:lpstr>1. SIMPLE RANDOM SAMPLING</vt:lpstr>
      <vt:lpstr>2. SYSTEMATIC SAMPLING</vt:lpstr>
      <vt:lpstr>3. STRATIFIED SAMPLING</vt:lpstr>
      <vt:lpstr>4. CLUSTER SAMPLING</vt:lpstr>
      <vt:lpstr>5. MULTISTAGE SAMPLING</vt:lpstr>
      <vt:lpstr>TYPES OF NONPROBABILITY SAMPLING</vt:lpstr>
      <vt:lpstr>5. CONVENIENCE SAMPLING</vt:lpstr>
      <vt:lpstr>2. QUOTA SAMPLING</vt:lpstr>
      <vt:lpstr>3. Judgmental sampling or Purposive sampling</vt:lpstr>
      <vt:lpstr>4. Snowball sampling</vt:lpstr>
      <vt:lpstr>Questions???</vt:lpstr>
      <vt:lpstr> What sampling method do you recommend? </vt:lpstr>
      <vt:lpstr>Slide 26</vt:lpstr>
      <vt:lpstr>Slide 27</vt:lpstr>
      <vt:lpstr>Slide 28</vt:lpstr>
      <vt:lpstr>Slide 29</vt:lpstr>
      <vt:lpstr>Slide 30</vt:lpstr>
      <vt:lpstr>Slide 31</vt:lpstr>
      <vt:lpstr>Slide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SAMLING TECHNIQUES</dc:title>
  <dc:creator>NAAC</dc:creator>
  <cp:lastModifiedBy>HP</cp:lastModifiedBy>
  <cp:revision>69</cp:revision>
  <dcterms:created xsi:type="dcterms:W3CDTF">2006-08-16T00:00:00Z</dcterms:created>
  <dcterms:modified xsi:type="dcterms:W3CDTF">2026-05-13T10:56:38Z</dcterms:modified>
</cp:coreProperties>
</file>