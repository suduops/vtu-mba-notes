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55" r:id="rId3"/>
    <p:sldId id="356" r:id="rId4"/>
    <p:sldId id="285" r:id="rId5"/>
    <p:sldId id="286" r:id="rId6"/>
    <p:sldId id="287" r:id="rId7"/>
    <p:sldId id="289" r:id="rId8"/>
    <p:sldId id="288" r:id="rId9"/>
    <p:sldId id="293" r:id="rId10"/>
    <p:sldId id="294" r:id="rId11"/>
    <p:sldId id="295" r:id="rId12"/>
    <p:sldId id="326" r:id="rId13"/>
    <p:sldId id="296" r:id="rId14"/>
    <p:sldId id="297" r:id="rId15"/>
    <p:sldId id="298" r:id="rId16"/>
    <p:sldId id="299" r:id="rId17"/>
    <p:sldId id="300" r:id="rId18"/>
    <p:sldId id="301" r:id="rId19"/>
    <p:sldId id="302" r:id="rId20"/>
    <p:sldId id="303" r:id="rId21"/>
    <p:sldId id="305" r:id="rId22"/>
    <p:sldId id="306" r:id="rId23"/>
    <p:sldId id="307" r:id="rId24"/>
    <p:sldId id="308" r:id="rId25"/>
    <p:sldId id="309" r:id="rId26"/>
    <p:sldId id="310" r:id="rId27"/>
    <p:sldId id="313" r:id="rId28"/>
    <p:sldId id="311" r:id="rId29"/>
    <p:sldId id="325" r:id="rId30"/>
    <p:sldId id="314" r:id="rId31"/>
    <p:sldId id="315" r:id="rId32"/>
    <p:sldId id="316" r:id="rId33"/>
    <p:sldId id="317" r:id="rId34"/>
    <p:sldId id="319" r:id="rId35"/>
    <p:sldId id="318" r:id="rId36"/>
    <p:sldId id="320" r:id="rId37"/>
    <p:sldId id="321" r:id="rId38"/>
    <p:sldId id="323" r:id="rId39"/>
    <p:sldId id="322" r:id="rId40"/>
    <p:sldId id="328" r:id="rId41"/>
    <p:sldId id="329"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342" r:id="rId55"/>
    <p:sldId id="343" r:id="rId56"/>
    <p:sldId id="344" r:id="rId57"/>
    <p:sldId id="345" r:id="rId58"/>
    <p:sldId id="346" r:id="rId59"/>
    <p:sldId id="347" r:id="rId60"/>
    <p:sldId id="348" r:id="rId61"/>
    <p:sldId id="349" r:id="rId62"/>
    <p:sldId id="350" r:id="rId63"/>
    <p:sldId id="351" r:id="rId64"/>
    <p:sldId id="352" r:id="rId65"/>
    <p:sldId id="354"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p:cViewPr varScale="1">
        <p:scale>
          <a:sx n="80" d="100"/>
          <a:sy n="80" d="100"/>
        </p:scale>
        <p:origin x="1430"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FE3708-F2D3-4222-B4D0-5459949D933E}"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IN"/>
        </a:p>
      </dgm:t>
    </dgm:pt>
    <dgm:pt modelId="{DB31230E-BD1D-43A3-8B33-F00348A0DDBE}">
      <dgm:prSet phldrT="[Text]" custT="1"/>
      <dgm:spPr/>
      <dgm:t>
        <a:bodyPr/>
        <a:lstStyle/>
        <a:p>
          <a:r>
            <a:rPr lang="en-IN" sz="2400" dirty="0" smtClean="0"/>
            <a:t>Deal origination </a:t>
          </a:r>
          <a:endParaRPr lang="en-IN" sz="2400" dirty="0"/>
        </a:p>
      </dgm:t>
    </dgm:pt>
    <dgm:pt modelId="{2DD569E1-67D2-4316-8CD7-552AE5A8986C}" type="parTrans" cxnId="{83D9A8FC-E384-45A2-ACED-95FE6325D95E}">
      <dgm:prSet/>
      <dgm:spPr/>
      <dgm:t>
        <a:bodyPr/>
        <a:lstStyle/>
        <a:p>
          <a:endParaRPr lang="en-IN"/>
        </a:p>
      </dgm:t>
    </dgm:pt>
    <dgm:pt modelId="{DEAB6794-7972-4FB8-9F57-DBB51A0A4F11}" type="sibTrans" cxnId="{83D9A8FC-E384-45A2-ACED-95FE6325D95E}">
      <dgm:prSet/>
      <dgm:spPr/>
      <dgm:t>
        <a:bodyPr/>
        <a:lstStyle/>
        <a:p>
          <a:endParaRPr lang="en-IN"/>
        </a:p>
      </dgm:t>
    </dgm:pt>
    <dgm:pt modelId="{92FAC2A0-2AE5-440E-A3F3-0103B2CB8FA9}">
      <dgm:prSet phldrT="[Text]" custT="1"/>
      <dgm:spPr/>
      <dgm:t>
        <a:bodyPr/>
        <a:lstStyle/>
        <a:p>
          <a:r>
            <a:rPr lang="en-IN" sz="2400" dirty="0" smtClean="0"/>
            <a:t>Evaluation </a:t>
          </a:r>
          <a:endParaRPr lang="en-IN" sz="2400" dirty="0"/>
        </a:p>
      </dgm:t>
    </dgm:pt>
    <dgm:pt modelId="{DBC24E61-DA23-4277-A821-A4F44421D185}" type="parTrans" cxnId="{556542DA-C982-410A-A63C-E84F3D528C01}">
      <dgm:prSet/>
      <dgm:spPr/>
      <dgm:t>
        <a:bodyPr/>
        <a:lstStyle/>
        <a:p>
          <a:endParaRPr lang="en-IN"/>
        </a:p>
      </dgm:t>
    </dgm:pt>
    <dgm:pt modelId="{461A636E-ECCC-41C9-B68B-94AD67B12C81}" type="sibTrans" cxnId="{556542DA-C982-410A-A63C-E84F3D528C01}">
      <dgm:prSet/>
      <dgm:spPr/>
      <dgm:t>
        <a:bodyPr/>
        <a:lstStyle/>
        <a:p>
          <a:endParaRPr lang="en-IN"/>
        </a:p>
      </dgm:t>
    </dgm:pt>
    <dgm:pt modelId="{056E6AD5-3EC2-468F-85D0-48FB6BED8660}">
      <dgm:prSet phldrT="[Text]" custT="1"/>
      <dgm:spPr/>
      <dgm:t>
        <a:bodyPr/>
        <a:lstStyle/>
        <a:p>
          <a:r>
            <a:rPr lang="en-IN" sz="2400" dirty="0" smtClean="0"/>
            <a:t>Exit </a:t>
          </a:r>
          <a:endParaRPr lang="en-IN" sz="2400" dirty="0"/>
        </a:p>
      </dgm:t>
    </dgm:pt>
    <dgm:pt modelId="{77134248-5F55-4681-83EA-DAB41C8C7613}" type="parTrans" cxnId="{3DBCB80A-4D1F-4775-9BA2-ADAAC74F9F75}">
      <dgm:prSet/>
      <dgm:spPr/>
      <dgm:t>
        <a:bodyPr/>
        <a:lstStyle/>
        <a:p>
          <a:endParaRPr lang="en-IN"/>
        </a:p>
      </dgm:t>
    </dgm:pt>
    <dgm:pt modelId="{C79D04FA-B941-4A40-96B8-BAA1F9B85FDD}" type="sibTrans" cxnId="{3DBCB80A-4D1F-4775-9BA2-ADAAC74F9F75}">
      <dgm:prSet/>
      <dgm:spPr/>
      <dgm:t>
        <a:bodyPr/>
        <a:lstStyle/>
        <a:p>
          <a:endParaRPr lang="en-IN"/>
        </a:p>
      </dgm:t>
    </dgm:pt>
    <dgm:pt modelId="{AF6A3B09-32E2-4651-AF9E-C309972C2568}">
      <dgm:prSet phldrT="[Text]" custT="1"/>
      <dgm:spPr/>
      <dgm:t>
        <a:bodyPr/>
        <a:lstStyle/>
        <a:p>
          <a:r>
            <a:rPr lang="en-IN" sz="1400" dirty="0" smtClean="0"/>
            <a:t>IPO</a:t>
          </a:r>
          <a:endParaRPr lang="en-IN" sz="1400" dirty="0"/>
        </a:p>
      </dgm:t>
    </dgm:pt>
    <dgm:pt modelId="{6C5885A6-5ECD-4263-8DE3-AC89EB0F413B}" type="parTrans" cxnId="{9B7DC03D-E566-49DB-8F8B-122E4F3372F8}">
      <dgm:prSet/>
      <dgm:spPr/>
      <dgm:t>
        <a:bodyPr/>
        <a:lstStyle/>
        <a:p>
          <a:endParaRPr lang="en-IN"/>
        </a:p>
      </dgm:t>
    </dgm:pt>
    <dgm:pt modelId="{2897E292-951C-469D-96E8-98C731A610D4}" type="sibTrans" cxnId="{9B7DC03D-E566-49DB-8F8B-122E4F3372F8}">
      <dgm:prSet/>
      <dgm:spPr/>
      <dgm:t>
        <a:bodyPr/>
        <a:lstStyle/>
        <a:p>
          <a:endParaRPr lang="en-IN"/>
        </a:p>
      </dgm:t>
    </dgm:pt>
    <dgm:pt modelId="{85777889-3A0C-4640-8C0A-8FFF72F64AA1}">
      <dgm:prSet phldrT="[Text]" custT="1"/>
      <dgm:spPr/>
      <dgm:t>
        <a:bodyPr/>
        <a:lstStyle/>
        <a:p>
          <a:r>
            <a:rPr lang="en-IN" sz="1400" dirty="0" smtClean="0"/>
            <a:t>Promoters buyback</a:t>
          </a:r>
          <a:endParaRPr lang="en-IN" sz="1400" dirty="0"/>
        </a:p>
      </dgm:t>
    </dgm:pt>
    <dgm:pt modelId="{0CE4D9D2-31A5-4177-8FA8-11D54C7E0768}" type="parTrans" cxnId="{F7817BD2-E4EF-4B05-8C2F-82904A9A3CCD}">
      <dgm:prSet/>
      <dgm:spPr/>
      <dgm:t>
        <a:bodyPr/>
        <a:lstStyle/>
        <a:p>
          <a:endParaRPr lang="en-IN"/>
        </a:p>
      </dgm:t>
    </dgm:pt>
    <dgm:pt modelId="{0B27B0ED-E0DE-44C3-966F-D004C783EE8A}" type="sibTrans" cxnId="{F7817BD2-E4EF-4B05-8C2F-82904A9A3CCD}">
      <dgm:prSet/>
      <dgm:spPr/>
      <dgm:t>
        <a:bodyPr/>
        <a:lstStyle/>
        <a:p>
          <a:endParaRPr lang="en-IN"/>
        </a:p>
      </dgm:t>
    </dgm:pt>
    <dgm:pt modelId="{33651A11-00AB-4B6F-894A-C9BB6492E7F2}">
      <dgm:prSet custT="1"/>
      <dgm:spPr/>
      <dgm:t>
        <a:bodyPr/>
        <a:lstStyle/>
        <a:p>
          <a:r>
            <a:rPr lang="en-IN" sz="2400" dirty="0" smtClean="0"/>
            <a:t>Deal structuring </a:t>
          </a:r>
          <a:endParaRPr lang="en-IN" sz="2400" dirty="0"/>
        </a:p>
      </dgm:t>
    </dgm:pt>
    <dgm:pt modelId="{366DF06F-786B-45BA-BEBB-24056200592F}" type="parTrans" cxnId="{44D7F226-E680-4313-ABD2-E1EFBCF2597C}">
      <dgm:prSet/>
      <dgm:spPr/>
      <dgm:t>
        <a:bodyPr/>
        <a:lstStyle/>
        <a:p>
          <a:endParaRPr lang="en-IN"/>
        </a:p>
      </dgm:t>
    </dgm:pt>
    <dgm:pt modelId="{FBAD52D1-F395-4500-AFBE-6D1BF0A36DA7}" type="sibTrans" cxnId="{44D7F226-E680-4313-ABD2-E1EFBCF2597C}">
      <dgm:prSet/>
      <dgm:spPr/>
      <dgm:t>
        <a:bodyPr/>
        <a:lstStyle/>
        <a:p>
          <a:endParaRPr lang="en-IN"/>
        </a:p>
      </dgm:t>
    </dgm:pt>
    <dgm:pt modelId="{9BD80049-5193-49C3-9E2E-42F6EB707CB0}">
      <dgm:prSet custT="1"/>
      <dgm:spPr/>
      <dgm:t>
        <a:bodyPr/>
        <a:lstStyle/>
        <a:p>
          <a:r>
            <a:rPr lang="en-IN" sz="2400" dirty="0" smtClean="0"/>
            <a:t>Post investment activities </a:t>
          </a:r>
          <a:endParaRPr lang="en-IN" sz="2400" dirty="0"/>
        </a:p>
      </dgm:t>
    </dgm:pt>
    <dgm:pt modelId="{1FEC1E8B-B445-4350-BDB4-671E03E9C2AF}" type="parTrans" cxnId="{A57588EC-29C7-433D-A6DB-AE7483ED2958}">
      <dgm:prSet/>
      <dgm:spPr/>
      <dgm:t>
        <a:bodyPr/>
        <a:lstStyle/>
        <a:p>
          <a:endParaRPr lang="en-IN"/>
        </a:p>
      </dgm:t>
    </dgm:pt>
    <dgm:pt modelId="{31F75C59-6966-44D6-8DE7-3EA07A4255AF}" type="sibTrans" cxnId="{A57588EC-29C7-433D-A6DB-AE7483ED2958}">
      <dgm:prSet/>
      <dgm:spPr/>
      <dgm:t>
        <a:bodyPr/>
        <a:lstStyle/>
        <a:p>
          <a:endParaRPr lang="en-IN"/>
        </a:p>
      </dgm:t>
    </dgm:pt>
    <dgm:pt modelId="{44823761-63C3-4D66-9061-82976B0F0051}">
      <dgm:prSet custT="1"/>
      <dgm:spPr/>
      <dgm:t>
        <a:bodyPr/>
        <a:lstStyle/>
        <a:p>
          <a:r>
            <a:rPr lang="en-IN" sz="2400" dirty="0" smtClean="0"/>
            <a:t>Screening </a:t>
          </a:r>
          <a:endParaRPr lang="en-IN" sz="2400" dirty="0"/>
        </a:p>
      </dgm:t>
    </dgm:pt>
    <dgm:pt modelId="{0EAB849A-FE53-4E92-BD83-B1718BE6B4EA}" type="parTrans" cxnId="{0A46143F-602D-47C2-AE4D-8D98B127B27C}">
      <dgm:prSet/>
      <dgm:spPr/>
      <dgm:t>
        <a:bodyPr/>
        <a:lstStyle/>
        <a:p>
          <a:endParaRPr lang="en-IN"/>
        </a:p>
      </dgm:t>
    </dgm:pt>
    <dgm:pt modelId="{EF409086-96FF-4E21-B02F-20F5D7E4E83A}" type="sibTrans" cxnId="{0A46143F-602D-47C2-AE4D-8D98B127B27C}">
      <dgm:prSet/>
      <dgm:spPr/>
      <dgm:t>
        <a:bodyPr/>
        <a:lstStyle/>
        <a:p>
          <a:endParaRPr lang="en-IN"/>
        </a:p>
      </dgm:t>
    </dgm:pt>
    <dgm:pt modelId="{D9A28DBA-1874-455A-AF95-EF2E24B1E023}">
      <dgm:prSet custT="1"/>
      <dgm:spPr/>
      <dgm:t>
        <a:bodyPr/>
        <a:lstStyle/>
        <a:p>
          <a:r>
            <a:rPr lang="en-IN" sz="1400" dirty="0" smtClean="0"/>
            <a:t>Trade sale</a:t>
          </a:r>
          <a:endParaRPr lang="en-IN" sz="1400" dirty="0"/>
        </a:p>
      </dgm:t>
    </dgm:pt>
    <dgm:pt modelId="{7A1E85EC-98C8-4428-B60C-276168A7713F}" type="parTrans" cxnId="{BD2213E1-2D5A-4F6C-BDE4-1A31082C3B90}">
      <dgm:prSet/>
      <dgm:spPr/>
      <dgm:t>
        <a:bodyPr/>
        <a:lstStyle/>
        <a:p>
          <a:endParaRPr lang="en-IN"/>
        </a:p>
      </dgm:t>
    </dgm:pt>
    <dgm:pt modelId="{D815AA51-68EA-4D33-B805-D25D885FB67F}" type="sibTrans" cxnId="{BD2213E1-2D5A-4F6C-BDE4-1A31082C3B90}">
      <dgm:prSet/>
      <dgm:spPr/>
      <dgm:t>
        <a:bodyPr/>
        <a:lstStyle/>
        <a:p>
          <a:endParaRPr lang="en-IN"/>
        </a:p>
      </dgm:t>
    </dgm:pt>
    <dgm:pt modelId="{3341851F-72C7-4011-9B45-711D37DA569C}">
      <dgm:prSet custT="1"/>
      <dgm:spPr/>
      <dgm:t>
        <a:bodyPr/>
        <a:lstStyle/>
        <a:p>
          <a:r>
            <a:rPr lang="en-IN" sz="1400" dirty="0" smtClean="0"/>
            <a:t>Buy back of equity by company</a:t>
          </a:r>
          <a:endParaRPr lang="en-IN" sz="1400" dirty="0"/>
        </a:p>
      </dgm:t>
    </dgm:pt>
    <dgm:pt modelId="{0E7EAFA4-D044-4120-A8EC-D6A5928B7362}" type="parTrans" cxnId="{9CA4DF6C-C118-454D-B240-5E42A6C36E7E}">
      <dgm:prSet/>
      <dgm:spPr/>
      <dgm:t>
        <a:bodyPr/>
        <a:lstStyle/>
        <a:p>
          <a:endParaRPr lang="en-IN"/>
        </a:p>
      </dgm:t>
    </dgm:pt>
    <dgm:pt modelId="{673C127D-678E-45DB-BC84-E3E38AEB736C}" type="sibTrans" cxnId="{9CA4DF6C-C118-454D-B240-5E42A6C36E7E}">
      <dgm:prSet/>
      <dgm:spPr/>
      <dgm:t>
        <a:bodyPr/>
        <a:lstStyle/>
        <a:p>
          <a:endParaRPr lang="en-IN"/>
        </a:p>
      </dgm:t>
    </dgm:pt>
    <dgm:pt modelId="{E70E7701-D8AF-43B1-A2CB-94DA43C4A4E9}" type="pres">
      <dgm:prSet presAssocID="{4AFE3708-F2D3-4222-B4D0-5459949D933E}" presName="Name0" presStyleCnt="0">
        <dgm:presLayoutVars>
          <dgm:dir/>
          <dgm:animLvl val="lvl"/>
          <dgm:resizeHandles val="exact"/>
        </dgm:presLayoutVars>
      </dgm:prSet>
      <dgm:spPr/>
      <dgm:t>
        <a:bodyPr/>
        <a:lstStyle/>
        <a:p>
          <a:endParaRPr lang="en-IN"/>
        </a:p>
      </dgm:t>
    </dgm:pt>
    <dgm:pt modelId="{B6EA5943-F1B3-454A-8C6E-142319592FDD}" type="pres">
      <dgm:prSet presAssocID="{056E6AD5-3EC2-468F-85D0-48FB6BED8660}" presName="boxAndChildren" presStyleCnt="0"/>
      <dgm:spPr/>
    </dgm:pt>
    <dgm:pt modelId="{3B77B052-A47C-4899-A5F8-33D3CE137810}" type="pres">
      <dgm:prSet presAssocID="{056E6AD5-3EC2-468F-85D0-48FB6BED8660}" presName="parentTextBox" presStyleLbl="node1" presStyleIdx="0" presStyleCnt="6"/>
      <dgm:spPr/>
      <dgm:t>
        <a:bodyPr/>
        <a:lstStyle/>
        <a:p>
          <a:endParaRPr lang="en-IN"/>
        </a:p>
      </dgm:t>
    </dgm:pt>
    <dgm:pt modelId="{B7E1855B-24FD-4E6C-8A8B-751130DDF689}" type="pres">
      <dgm:prSet presAssocID="{056E6AD5-3EC2-468F-85D0-48FB6BED8660}" presName="entireBox" presStyleLbl="node1" presStyleIdx="0" presStyleCnt="6"/>
      <dgm:spPr/>
      <dgm:t>
        <a:bodyPr/>
        <a:lstStyle/>
        <a:p>
          <a:endParaRPr lang="en-IN"/>
        </a:p>
      </dgm:t>
    </dgm:pt>
    <dgm:pt modelId="{D44A5CDE-B176-414C-9F9A-C7A6353DA247}" type="pres">
      <dgm:prSet presAssocID="{056E6AD5-3EC2-468F-85D0-48FB6BED8660}" presName="descendantBox" presStyleCnt="0"/>
      <dgm:spPr/>
    </dgm:pt>
    <dgm:pt modelId="{425677F8-DCC3-4882-85DC-F9D84E09F99A}" type="pres">
      <dgm:prSet presAssocID="{AF6A3B09-32E2-4651-AF9E-C309972C2568}" presName="childTextBox" presStyleLbl="fgAccFollowNode1" presStyleIdx="0" presStyleCnt="4">
        <dgm:presLayoutVars>
          <dgm:bulletEnabled val="1"/>
        </dgm:presLayoutVars>
      </dgm:prSet>
      <dgm:spPr/>
      <dgm:t>
        <a:bodyPr/>
        <a:lstStyle/>
        <a:p>
          <a:endParaRPr lang="en-IN"/>
        </a:p>
      </dgm:t>
    </dgm:pt>
    <dgm:pt modelId="{3009B76F-C334-4266-B89D-72F1D44FCA3D}" type="pres">
      <dgm:prSet presAssocID="{85777889-3A0C-4640-8C0A-8FFF72F64AA1}" presName="childTextBox" presStyleLbl="fgAccFollowNode1" presStyleIdx="1" presStyleCnt="4">
        <dgm:presLayoutVars>
          <dgm:bulletEnabled val="1"/>
        </dgm:presLayoutVars>
      </dgm:prSet>
      <dgm:spPr/>
      <dgm:t>
        <a:bodyPr/>
        <a:lstStyle/>
        <a:p>
          <a:endParaRPr lang="en-IN"/>
        </a:p>
      </dgm:t>
    </dgm:pt>
    <dgm:pt modelId="{46A692CC-B3CC-4AF2-9213-54FC7945197C}" type="pres">
      <dgm:prSet presAssocID="{D9A28DBA-1874-455A-AF95-EF2E24B1E023}" presName="childTextBox" presStyleLbl="fgAccFollowNode1" presStyleIdx="2" presStyleCnt="4">
        <dgm:presLayoutVars>
          <dgm:bulletEnabled val="1"/>
        </dgm:presLayoutVars>
      </dgm:prSet>
      <dgm:spPr/>
      <dgm:t>
        <a:bodyPr/>
        <a:lstStyle/>
        <a:p>
          <a:endParaRPr lang="en-IN"/>
        </a:p>
      </dgm:t>
    </dgm:pt>
    <dgm:pt modelId="{E76EFC53-EA10-44FC-9F8B-88D62B8B12D6}" type="pres">
      <dgm:prSet presAssocID="{3341851F-72C7-4011-9B45-711D37DA569C}" presName="childTextBox" presStyleLbl="fgAccFollowNode1" presStyleIdx="3" presStyleCnt="4">
        <dgm:presLayoutVars>
          <dgm:bulletEnabled val="1"/>
        </dgm:presLayoutVars>
      </dgm:prSet>
      <dgm:spPr/>
      <dgm:t>
        <a:bodyPr/>
        <a:lstStyle/>
        <a:p>
          <a:endParaRPr lang="en-IN"/>
        </a:p>
      </dgm:t>
    </dgm:pt>
    <dgm:pt modelId="{F5629134-66EB-41F5-8E02-2CCCCB1D8C80}" type="pres">
      <dgm:prSet presAssocID="{31F75C59-6966-44D6-8DE7-3EA07A4255AF}" presName="sp" presStyleCnt="0"/>
      <dgm:spPr/>
    </dgm:pt>
    <dgm:pt modelId="{FAA2DFC5-88D8-4410-B11C-297B078320C3}" type="pres">
      <dgm:prSet presAssocID="{9BD80049-5193-49C3-9E2E-42F6EB707CB0}" presName="arrowAndChildren" presStyleCnt="0"/>
      <dgm:spPr/>
    </dgm:pt>
    <dgm:pt modelId="{DBEA9E9F-5C43-473F-8D0E-1F0A4D599076}" type="pres">
      <dgm:prSet presAssocID="{9BD80049-5193-49C3-9E2E-42F6EB707CB0}" presName="parentTextArrow" presStyleLbl="node1" presStyleIdx="1" presStyleCnt="6"/>
      <dgm:spPr/>
      <dgm:t>
        <a:bodyPr/>
        <a:lstStyle/>
        <a:p>
          <a:endParaRPr lang="en-IN"/>
        </a:p>
      </dgm:t>
    </dgm:pt>
    <dgm:pt modelId="{E841974D-E1A1-4614-9B54-574D08A1F6EC}" type="pres">
      <dgm:prSet presAssocID="{FBAD52D1-F395-4500-AFBE-6D1BF0A36DA7}" presName="sp" presStyleCnt="0"/>
      <dgm:spPr/>
    </dgm:pt>
    <dgm:pt modelId="{2877CDAC-6DB2-4171-8C0D-CDA0233D7629}" type="pres">
      <dgm:prSet presAssocID="{33651A11-00AB-4B6F-894A-C9BB6492E7F2}" presName="arrowAndChildren" presStyleCnt="0"/>
      <dgm:spPr/>
    </dgm:pt>
    <dgm:pt modelId="{DF74213E-9759-45CE-B92A-90483C6D3FEF}" type="pres">
      <dgm:prSet presAssocID="{33651A11-00AB-4B6F-894A-C9BB6492E7F2}" presName="parentTextArrow" presStyleLbl="node1" presStyleIdx="2" presStyleCnt="6"/>
      <dgm:spPr/>
      <dgm:t>
        <a:bodyPr/>
        <a:lstStyle/>
        <a:p>
          <a:endParaRPr lang="en-IN"/>
        </a:p>
      </dgm:t>
    </dgm:pt>
    <dgm:pt modelId="{7C0AC4DD-5DAD-4802-BB62-FE87D871B8C2}" type="pres">
      <dgm:prSet presAssocID="{461A636E-ECCC-41C9-B68B-94AD67B12C81}" presName="sp" presStyleCnt="0"/>
      <dgm:spPr/>
    </dgm:pt>
    <dgm:pt modelId="{EB3C6C34-EEDB-47B9-92E9-7F7EB4B48819}" type="pres">
      <dgm:prSet presAssocID="{92FAC2A0-2AE5-440E-A3F3-0103B2CB8FA9}" presName="arrowAndChildren" presStyleCnt="0"/>
      <dgm:spPr/>
    </dgm:pt>
    <dgm:pt modelId="{BC34066C-A2DC-465C-ACF4-C0B2A47774BB}" type="pres">
      <dgm:prSet presAssocID="{92FAC2A0-2AE5-440E-A3F3-0103B2CB8FA9}" presName="parentTextArrow" presStyleLbl="node1" presStyleIdx="3" presStyleCnt="6"/>
      <dgm:spPr/>
      <dgm:t>
        <a:bodyPr/>
        <a:lstStyle/>
        <a:p>
          <a:endParaRPr lang="en-IN"/>
        </a:p>
      </dgm:t>
    </dgm:pt>
    <dgm:pt modelId="{321E7847-7D1D-41A1-8AE6-B5CC29344CF5}" type="pres">
      <dgm:prSet presAssocID="{EF409086-96FF-4E21-B02F-20F5D7E4E83A}" presName="sp" presStyleCnt="0"/>
      <dgm:spPr/>
    </dgm:pt>
    <dgm:pt modelId="{A89FD0CF-72D4-48A8-B620-161E03EF09EE}" type="pres">
      <dgm:prSet presAssocID="{44823761-63C3-4D66-9061-82976B0F0051}" presName="arrowAndChildren" presStyleCnt="0"/>
      <dgm:spPr/>
    </dgm:pt>
    <dgm:pt modelId="{F72181FD-C4E0-4025-985A-30BBE56B6FAE}" type="pres">
      <dgm:prSet presAssocID="{44823761-63C3-4D66-9061-82976B0F0051}" presName="parentTextArrow" presStyleLbl="node1" presStyleIdx="4" presStyleCnt="6"/>
      <dgm:spPr/>
      <dgm:t>
        <a:bodyPr/>
        <a:lstStyle/>
        <a:p>
          <a:endParaRPr lang="en-IN"/>
        </a:p>
      </dgm:t>
    </dgm:pt>
    <dgm:pt modelId="{EB6DA771-B17A-4BB5-A5C7-72283B7AFAAB}" type="pres">
      <dgm:prSet presAssocID="{DEAB6794-7972-4FB8-9F57-DBB51A0A4F11}" presName="sp" presStyleCnt="0"/>
      <dgm:spPr/>
    </dgm:pt>
    <dgm:pt modelId="{DFB09E36-83AB-4E79-AA5C-BAD655C49228}" type="pres">
      <dgm:prSet presAssocID="{DB31230E-BD1D-43A3-8B33-F00348A0DDBE}" presName="arrowAndChildren" presStyleCnt="0"/>
      <dgm:spPr/>
    </dgm:pt>
    <dgm:pt modelId="{F9F9C290-E674-43EA-9540-D6D6C5464266}" type="pres">
      <dgm:prSet presAssocID="{DB31230E-BD1D-43A3-8B33-F00348A0DDBE}" presName="parentTextArrow" presStyleLbl="node1" presStyleIdx="5" presStyleCnt="6"/>
      <dgm:spPr/>
      <dgm:t>
        <a:bodyPr/>
        <a:lstStyle/>
        <a:p>
          <a:endParaRPr lang="en-IN"/>
        </a:p>
      </dgm:t>
    </dgm:pt>
  </dgm:ptLst>
  <dgm:cxnLst>
    <dgm:cxn modelId="{9B7DC03D-E566-49DB-8F8B-122E4F3372F8}" srcId="{056E6AD5-3EC2-468F-85D0-48FB6BED8660}" destId="{AF6A3B09-32E2-4651-AF9E-C309972C2568}" srcOrd="0" destOrd="0" parTransId="{6C5885A6-5ECD-4263-8DE3-AC89EB0F413B}" sibTransId="{2897E292-951C-469D-96E8-98C731A610D4}"/>
    <dgm:cxn modelId="{0A46143F-602D-47C2-AE4D-8D98B127B27C}" srcId="{4AFE3708-F2D3-4222-B4D0-5459949D933E}" destId="{44823761-63C3-4D66-9061-82976B0F0051}" srcOrd="1" destOrd="0" parTransId="{0EAB849A-FE53-4E92-BD83-B1718BE6B4EA}" sibTransId="{EF409086-96FF-4E21-B02F-20F5D7E4E83A}"/>
    <dgm:cxn modelId="{13D6B478-6BD2-4E3D-B7A9-DF975E5CCC38}" type="presOf" srcId="{D9A28DBA-1874-455A-AF95-EF2E24B1E023}" destId="{46A692CC-B3CC-4AF2-9213-54FC7945197C}" srcOrd="0" destOrd="0" presId="urn:microsoft.com/office/officeart/2005/8/layout/process4"/>
    <dgm:cxn modelId="{3DBCB80A-4D1F-4775-9BA2-ADAAC74F9F75}" srcId="{4AFE3708-F2D3-4222-B4D0-5459949D933E}" destId="{056E6AD5-3EC2-468F-85D0-48FB6BED8660}" srcOrd="5" destOrd="0" parTransId="{77134248-5F55-4681-83EA-DAB41C8C7613}" sibTransId="{C79D04FA-B941-4A40-96B8-BAA1F9B85FDD}"/>
    <dgm:cxn modelId="{6C35B633-9683-4DA9-B1D0-1EE0399CEDAD}" type="presOf" srcId="{3341851F-72C7-4011-9B45-711D37DA569C}" destId="{E76EFC53-EA10-44FC-9F8B-88D62B8B12D6}" srcOrd="0" destOrd="0" presId="urn:microsoft.com/office/officeart/2005/8/layout/process4"/>
    <dgm:cxn modelId="{09C51EFE-61FA-470E-958C-4B5224E7C508}" type="presOf" srcId="{44823761-63C3-4D66-9061-82976B0F0051}" destId="{F72181FD-C4E0-4025-985A-30BBE56B6FAE}" srcOrd="0" destOrd="0" presId="urn:microsoft.com/office/officeart/2005/8/layout/process4"/>
    <dgm:cxn modelId="{A57588EC-29C7-433D-A6DB-AE7483ED2958}" srcId="{4AFE3708-F2D3-4222-B4D0-5459949D933E}" destId="{9BD80049-5193-49C3-9E2E-42F6EB707CB0}" srcOrd="4" destOrd="0" parTransId="{1FEC1E8B-B445-4350-BDB4-671E03E9C2AF}" sibTransId="{31F75C59-6966-44D6-8DE7-3EA07A4255AF}"/>
    <dgm:cxn modelId="{00DBABBD-61E3-4DBE-ADF0-6CF91CB0AB7E}" type="presOf" srcId="{056E6AD5-3EC2-468F-85D0-48FB6BED8660}" destId="{B7E1855B-24FD-4E6C-8A8B-751130DDF689}" srcOrd="1" destOrd="0" presId="urn:microsoft.com/office/officeart/2005/8/layout/process4"/>
    <dgm:cxn modelId="{83D9A8FC-E384-45A2-ACED-95FE6325D95E}" srcId="{4AFE3708-F2D3-4222-B4D0-5459949D933E}" destId="{DB31230E-BD1D-43A3-8B33-F00348A0DDBE}" srcOrd="0" destOrd="0" parTransId="{2DD569E1-67D2-4316-8CD7-552AE5A8986C}" sibTransId="{DEAB6794-7972-4FB8-9F57-DBB51A0A4F11}"/>
    <dgm:cxn modelId="{BD2213E1-2D5A-4F6C-BDE4-1A31082C3B90}" srcId="{056E6AD5-3EC2-468F-85D0-48FB6BED8660}" destId="{D9A28DBA-1874-455A-AF95-EF2E24B1E023}" srcOrd="2" destOrd="0" parTransId="{7A1E85EC-98C8-4428-B60C-276168A7713F}" sibTransId="{D815AA51-68EA-4D33-B805-D25D885FB67F}"/>
    <dgm:cxn modelId="{4F560DAF-CC0D-4577-AEEF-D4531D16F31A}" type="presOf" srcId="{9BD80049-5193-49C3-9E2E-42F6EB707CB0}" destId="{DBEA9E9F-5C43-473F-8D0E-1F0A4D599076}" srcOrd="0" destOrd="0" presId="urn:microsoft.com/office/officeart/2005/8/layout/process4"/>
    <dgm:cxn modelId="{0F870959-1438-43E2-84F5-D2259E0A1BDE}" type="presOf" srcId="{AF6A3B09-32E2-4651-AF9E-C309972C2568}" destId="{425677F8-DCC3-4882-85DC-F9D84E09F99A}" srcOrd="0" destOrd="0" presId="urn:microsoft.com/office/officeart/2005/8/layout/process4"/>
    <dgm:cxn modelId="{F7817BD2-E4EF-4B05-8C2F-82904A9A3CCD}" srcId="{056E6AD5-3EC2-468F-85D0-48FB6BED8660}" destId="{85777889-3A0C-4640-8C0A-8FFF72F64AA1}" srcOrd="1" destOrd="0" parTransId="{0CE4D9D2-31A5-4177-8FA8-11D54C7E0768}" sibTransId="{0B27B0ED-E0DE-44C3-966F-D004C783EE8A}"/>
    <dgm:cxn modelId="{AC99C32F-5273-400E-898B-634C598FB894}" type="presOf" srcId="{33651A11-00AB-4B6F-894A-C9BB6492E7F2}" destId="{DF74213E-9759-45CE-B92A-90483C6D3FEF}" srcOrd="0" destOrd="0" presId="urn:microsoft.com/office/officeart/2005/8/layout/process4"/>
    <dgm:cxn modelId="{44D7F226-E680-4313-ABD2-E1EFBCF2597C}" srcId="{4AFE3708-F2D3-4222-B4D0-5459949D933E}" destId="{33651A11-00AB-4B6F-894A-C9BB6492E7F2}" srcOrd="3" destOrd="0" parTransId="{366DF06F-786B-45BA-BEBB-24056200592F}" sibTransId="{FBAD52D1-F395-4500-AFBE-6D1BF0A36DA7}"/>
    <dgm:cxn modelId="{175BD098-0B01-444D-A189-7DA719E8BB47}" type="presOf" srcId="{DB31230E-BD1D-43A3-8B33-F00348A0DDBE}" destId="{F9F9C290-E674-43EA-9540-D6D6C5464266}" srcOrd="0" destOrd="0" presId="urn:microsoft.com/office/officeart/2005/8/layout/process4"/>
    <dgm:cxn modelId="{556542DA-C982-410A-A63C-E84F3D528C01}" srcId="{4AFE3708-F2D3-4222-B4D0-5459949D933E}" destId="{92FAC2A0-2AE5-440E-A3F3-0103B2CB8FA9}" srcOrd="2" destOrd="0" parTransId="{DBC24E61-DA23-4277-A821-A4F44421D185}" sibTransId="{461A636E-ECCC-41C9-B68B-94AD67B12C81}"/>
    <dgm:cxn modelId="{6BF5DA93-393D-464D-B60F-4FFB7141383F}" type="presOf" srcId="{92FAC2A0-2AE5-440E-A3F3-0103B2CB8FA9}" destId="{BC34066C-A2DC-465C-ACF4-C0B2A47774BB}" srcOrd="0" destOrd="0" presId="urn:microsoft.com/office/officeart/2005/8/layout/process4"/>
    <dgm:cxn modelId="{1DAA2C1B-B11C-4E6D-B868-A2C48FA5D738}" type="presOf" srcId="{85777889-3A0C-4640-8C0A-8FFF72F64AA1}" destId="{3009B76F-C334-4266-B89D-72F1D44FCA3D}" srcOrd="0" destOrd="0" presId="urn:microsoft.com/office/officeart/2005/8/layout/process4"/>
    <dgm:cxn modelId="{9CA4DF6C-C118-454D-B240-5E42A6C36E7E}" srcId="{056E6AD5-3EC2-468F-85D0-48FB6BED8660}" destId="{3341851F-72C7-4011-9B45-711D37DA569C}" srcOrd="3" destOrd="0" parTransId="{0E7EAFA4-D044-4120-A8EC-D6A5928B7362}" sibTransId="{673C127D-678E-45DB-BC84-E3E38AEB736C}"/>
    <dgm:cxn modelId="{97ED0E95-4EB7-4EEE-BA6E-D44A55977A24}" type="presOf" srcId="{4AFE3708-F2D3-4222-B4D0-5459949D933E}" destId="{E70E7701-D8AF-43B1-A2CB-94DA43C4A4E9}" srcOrd="0" destOrd="0" presId="urn:microsoft.com/office/officeart/2005/8/layout/process4"/>
    <dgm:cxn modelId="{18849F6B-BC76-4163-A5B1-6E23474D448D}" type="presOf" srcId="{056E6AD5-3EC2-468F-85D0-48FB6BED8660}" destId="{3B77B052-A47C-4899-A5F8-33D3CE137810}" srcOrd="0" destOrd="0" presId="urn:microsoft.com/office/officeart/2005/8/layout/process4"/>
    <dgm:cxn modelId="{B300F189-EF0F-4034-A0C9-939E8A078AC6}" type="presParOf" srcId="{E70E7701-D8AF-43B1-A2CB-94DA43C4A4E9}" destId="{B6EA5943-F1B3-454A-8C6E-142319592FDD}" srcOrd="0" destOrd="0" presId="urn:microsoft.com/office/officeart/2005/8/layout/process4"/>
    <dgm:cxn modelId="{662D6C01-6B11-438F-B640-6906246F3234}" type="presParOf" srcId="{B6EA5943-F1B3-454A-8C6E-142319592FDD}" destId="{3B77B052-A47C-4899-A5F8-33D3CE137810}" srcOrd="0" destOrd="0" presId="urn:microsoft.com/office/officeart/2005/8/layout/process4"/>
    <dgm:cxn modelId="{545881C2-CB8B-4E90-986C-CECB3FD7AB01}" type="presParOf" srcId="{B6EA5943-F1B3-454A-8C6E-142319592FDD}" destId="{B7E1855B-24FD-4E6C-8A8B-751130DDF689}" srcOrd="1" destOrd="0" presId="urn:microsoft.com/office/officeart/2005/8/layout/process4"/>
    <dgm:cxn modelId="{70815D3A-F7C6-4116-A37E-B13C935382A3}" type="presParOf" srcId="{B6EA5943-F1B3-454A-8C6E-142319592FDD}" destId="{D44A5CDE-B176-414C-9F9A-C7A6353DA247}" srcOrd="2" destOrd="0" presId="urn:microsoft.com/office/officeart/2005/8/layout/process4"/>
    <dgm:cxn modelId="{580D3E51-FD25-45EF-AF21-D47E3874FE4A}" type="presParOf" srcId="{D44A5CDE-B176-414C-9F9A-C7A6353DA247}" destId="{425677F8-DCC3-4882-85DC-F9D84E09F99A}" srcOrd="0" destOrd="0" presId="urn:microsoft.com/office/officeart/2005/8/layout/process4"/>
    <dgm:cxn modelId="{AA6E17D4-159F-4222-9DAA-08BFFA436D38}" type="presParOf" srcId="{D44A5CDE-B176-414C-9F9A-C7A6353DA247}" destId="{3009B76F-C334-4266-B89D-72F1D44FCA3D}" srcOrd="1" destOrd="0" presId="urn:microsoft.com/office/officeart/2005/8/layout/process4"/>
    <dgm:cxn modelId="{0CD8AAF9-0C11-4204-BE98-CE78CFA8AD4C}" type="presParOf" srcId="{D44A5CDE-B176-414C-9F9A-C7A6353DA247}" destId="{46A692CC-B3CC-4AF2-9213-54FC7945197C}" srcOrd="2" destOrd="0" presId="urn:microsoft.com/office/officeart/2005/8/layout/process4"/>
    <dgm:cxn modelId="{A2C6CF65-6DE1-4E28-972E-404C6595314D}" type="presParOf" srcId="{D44A5CDE-B176-414C-9F9A-C7A6353DA247}" destId="{E76EFC53-EA10-44FC-9F8B-88D62B8B12D6}" srcOrd="3" destOrd="0" presId="urn:microsoft.com/office/officeart/2005/8/layout/process4"/>
    <dgm:cxn modelId="{1F6428AC-2B52-43C0-B090-32E6705EACAB}" type="presParOf" srcId="{E70E7701-D8AF-43B1-A2CB-94DA43C4A4E9}" destId="{F5629134-66EB-41F5-8E02-2CCCCB1D8C80}" srcOrd="1" destOrd="0" presId="urn:microsoft.com/office/officeart/2005/8/layout/process4"/>
    <dgm:cxn modelId="{3E3D9693-5D96-4941-8638-26169A1B34BA}" type="presParOf" srcId="{E70E7701-D8AF-43B1-A2CB-94DA43C4A4E9}" destId="{FAA2DFC5-88D8-4410-B11C-297B078320C3}" srcOrd="2" destOrd="0" presId="urn:microsoft.com/office/officeart/2005/8/layout/process4"/>
    <dgm:cxn modelId="{C0567847-6404-46A3-9716-71D9097B1646}" type="presParOf" srcId="{FAA2DFC5-88D8-4410-B11C-297B078320C3}" destId="{DBEA9E9F-5C43-473F-8D0E-1F0A4D599076}" srcOrd="0" destOrd="0" presId="urn:microsoft.com/office/officeart/2005/8/layout/process4"/>
    <dgm:cxn modelId="{F42DF1A8-62D8-42E7-9614-85B85DE419EA}" type="presParOf" srcId="{E70E7701-D8AF-43B1-A2CB-94DA43C4A4E9}" destId="{E841974D-E1A1-4614-9B54-574D08A1F6EC}" srcOrd="3" destOrd="0" presId="urn:microsoft.com/office/officeart/2005/8/layout/process4"/>
    <dgm:cxn modelId="{52853091-E649-4548-ADFB-BC834BAECECB}" type="presParOf" srcId="{E70E7701-D8AF-43B1-A2CB-94DA43C4A4E9}" destId="{2877CDAC-6DB2-4171-8C0D-CDA0233D7629}" srcOrd="4" destOrd="0" presId="urn:microsoft.com/office/officeart/2005/8/layout/process4"/>
    <dgm:cxn modelId="{61BC2695-2F74-48BF-B42D-CAEEA64D28AF}" type="presParOf" srcId="{2877CDAC-6DB2-4171-8C0D-CDA0233D7629}" destId="{DF74213E-9759-45CE-B92A-90483C6D3FEF}" srcOrd="0" destOrd="0" presId="urn:microsoft.com/office/officeart/2005/8/layout/process4"/>
    <dgm:cxn modelId="{93A2DD66-98EA-4053-8BA3-367ABEDBFA1B}" type="presParOf" srcId="{E70E7701-D8AF-43B1-A2CB-94DA43C4A4E9}" destId="{7C0AC4DD-5DAD-4802-BB62-FE87D871B8C2}" srcOrd="5" destOrd="0" presId="urn:microsoft.com/office/officeart/2005/8/layout/process4"/>
    <dgm:cxn modelId="{83587AAF-C0FA-407C-8EA3-FA1FF4C6355B}" type="presParOf" srcId="{E70E7701-D8AF-43B1-A2CB-94DA43C4A4E9}" destId="{EB3C6C34-EEDB-47B9-92E9-7F7EB4B48819}" srcOrd="6" destOrd="0" presId="urn:microsoft.com/office/officeart/2005/8/layout/process4"/>
    <dgm:cxn modelId="{5A22471D-6E69-46B6-BE18-242435BDE0AA}" type="presParOf" srcId="{EB3C6C34-EEDB-47B9-92E9-7F7EB4B48819}" destId="{BC34066C-A2DC-465C-ACF4-C0B2A47774BB}" srcOrd="0" destOrd="0" presId="urn:microsoft.com/office/officeart/2005/8/layout/process4"/>
    <dgm:cxn modelId="{6F8810F6-FB01-4CA1-B8C1-CA68A7AA1DC9}" type="presParOf" srcId="{E70E7701-D8AF-43B1-A2CB-94DA43C4A4E9}" destId="{321E7847-7D1D-41A1-8AE6-B5CC29344CF5}" srcOrd="7" destOrd="0" presId="urn:microsoft.com/office/officeart/2005/8/layout/process4"/>
    <dgm:cxn modelId="{422FE973-62CA-41F8-A8D6-52E6B38167E9}" type="presParOf" srcId="{E70E7701-D8AF-43B1-A2CB-94DA43C4A4E9}" destId="{A89FD0CF-72D4-48A8-B620-161E03EF09EE}" srcOrd="8" destOrd="0" presId="urn:microsoft.com/office/officeart/2005/8/layout/process4"/>
    <dgm:cxn modelId="{282A01CA-EDB1-4E9E-B237-4374C75423C7}" type="presParOf" srcId="{A89FD0CF-72D4-48A8-B620-161E03EF09EE}" destId="{F72181FD-C4E0-4025-985A-30BBE56B6FAE}" srcOrd="0" destOrd="0" presId="urn:microsoft.com/office/officeart/2005/8/layout/process4"/>
    <dgm:cxn modelId="{6642B922-97C1-4490-868F-93D9624DA05A}" type="presParOf" srcId="{E70E7701-D8AF-43B1-A2CB-94DA43C4A4E9}" destId="{EB6DA771-B17A-4BB5-A5C7-72283B7AFAAB}" srcOrd="9" destOrd="0" presId="urn:microsoft.com/office/officeart/2005/8/layout/process4"/>
    <dgm:cxn modelId="{7C1A1818-EB54-4549-9A45-61CF99F49566}" type="presParOf" srcId="{E70E7701-D8AF-43B1-A2CB-94DA43C4A4E9}" destId="{DFB09E36-83AB-4E79-AA5C-BAD655C49228}" srcOrd="10" destOrd="0" presId="urn:microsoft.com/office/officeart/2005/8/layout/process4"/>
    <dgm:cxn modelId="{0904CEDE-704F-4FAE-A6AE-A01134BF0049}" type="presParOf" srcId="{DFB09E36-83AB-4E79-AA5C-BAD655C49228}" destId="{F9F9C290-E674-43EA-9540-D6D6C546426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E1855B-24FD-4E6C-8A8B-751130DDF689}">
      <dsp:nvSpPr>
        <dsp:cNvPr id="0" name=""/>
        <dsp:cNvSpPr/>
      </dsp:nvSpPr>
      <dsp:spPr>
        <a:xfrm>
          <a:off x="0" y="4771755"/>
          <a:ext cx="8712968" cy="6262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IN" sz="2400" kern="1200" dirty="0" smtClean="0"/>
            <a:t>Exit </a:t>
          </a:r>
          <a:endParaRPr lang="en-IN" sz="2400" kern="1200" dirty="0"/>
        </a:p>
      </dsp:txBody>
      <dsp:txXfrm>
        <a:off x="0" y="4771755"/>
        <a:ext cx="8712968" cy="338196"/>
      </dsp:txXfrm>
    </dsp:sp>
    <dsp:sp modelId="{425677F8-DCC3-4882-85DC-F9D84E09F99A}">
      <dsp:nvSpPr>
        <dsp:cNvPr id="0" name=""/>
        <dsp:cNvSpPr/>
      </dsp:nvSpPr>
      <dsp:spPr>
        <a:xfrm>
          <a:off x="0" y="5097426"/>
          <a:ext cx="2178241" cy="28809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n-IN" sz="1400" kern="1200" dirty="0" smtClean="0"/>
            <a:t>IPO</a:t>
          </a:r>
          <a:endParaRPr lang="en-IN" sz="1400" kern="1200" dirty="0"/>
        </a:p>
      </dsp:txBody>
      <dsp:txXfrm>
        <a:off x="0" y="5097426"/>
        <a:ext cx="2178241" cy="288093"/>
      </dsp:txXfrm>
    </dsp:sp>
    <dsp:sp modelId="{3009B76F-C334-4266-B89D-72F1D44FCA3D}">
      <dsp:nvSpPr>
        <dsp:cNvPr id="0" name=""/>
        <dsp:cNvSpPr/>
      </dsp:nvSpPr>
      <dsp:spPr>
        <a:xfrm>
          <a:off x="2178242" y="5097426"/>
          <a:ext cx="2178241" cy="28809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n-IN" sz="1400" kern="1200" dirty="0" smtClean="0"/>
            <a:t>Promoters buyback</a:t>
          </a:r>
          <a:endParaRPr lang="en-IN" sz="1400" kern="1200" dirty="0"/>
        </a:p>
      </dsp:txBody>
      <dsp:txXfrm>
        <a:off x="2178242" y="5097426"/>
        <a:ext cx="2178241" cy="288093"/>
      </dsp:txXfrm>
    </dsp:sp>
    <dsp:sp modelId="{46A692CC-B3CC-4AF2-9213-54FC7945197C}">
      <dsp:nvSpPr>
        <dsp:cNvPr id="0" name=""/>
        <dsp:cNvSpPr/>
      </dsp:nvSpPr>
      <dsp:spPr>
        <a:xfrm>
          <a:off x="4356484" y="5097426"/>
          <a:ext cx="2178241" cy="28809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n-IN" sz="1400" kern="1200" dirty="0" smtClean="0"/>
            <a:t>Trade sale</a:t>
          </a:r>
          <a:endParaRPr lang="en-IN" sz="1400" kern="1200" dirty="0"/>
        </a:p>
      </dsp:txBody>
      <dsp:txXfrm>
        <a:off x="4356484" y="5097426"/>
        <a:ext cx="2178241" cy="288093"/>
      </dsp:txXfrm>
    </dsp:sp>
    <dsp:sp modelId="{E76EFC53-EA10-44FC-9F8B-88D62B8B12D6}">
      <dsp:nvSpPr>
        <dsp:cNvPr id="0" name=""/>
        <dsp:cNvSpPr/>
      </dsp:nvSpPr>
      <dsp:spPr>
        <a:xfrm>
          <a:off x="6534726" y="5097426"/>
          <a:ext cx="2178241" cy="28809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lvl="0" algn="ctr" defTabSz="622300">
            <a:lnSpc>
              <a:spcPct val="90000"/>
            </a:lnSpc>
            <a:spcBef>
              <a:spcPct val="0"/>
            </a:spcBef>
            <a:spcAft>
              <a:spcPct val="35000"/>
            </a:spcAft>
          </a:pPr>
          <a:r>
            <a:rPr lang="en-IN" sz="1400" kern="1200" dirty="0" smtClean="0"/>
            <a:t>Buy back of equity by company</a:t>
          </a:r>
          <a:endParaRPr lang="en-IN" sz="1400" kern="1200" dirty="0"/>
        </a:p>
      </dsp:txBody>
      <dsp:txXfrm>
        <a:off x="6534726" y="5097426"/>
        <a:ext cx="2178241" cy="288093"/>
      </dsp:txXfrm>
    </dsp:sp>
    <dsp:sp modelId="{DBEA9E9F-5C43-473F-8D0E-1F0A4D599076}">
      <dsp:nvSpPr>
        <dsp:cNvPr id="0" name=""/>
        <dsp:cNvSpPr/>
      </dsp:nvSpPr>
      <dsp:spPr>
        <a:xfrm rot="10800000">
          <a:off x="0" y="3817915"/>
          <a:ext cx="8712968" cy="963234"/>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IN" sz="2400" kern="1200" dirty="0" smtClean="0"/>
            <a:t>Post investment activities </a:t>
          </a:r>
          <a:endParaRPr lang="en-IN" sz="2400" kern="1200" dirty="0"/>
        </a:p>
      </dsp:txBody>
      <dsp:txXfrm rot="10800000">
        <a:off x="0" y="3817915"/>
        <a:ext cx="8712968" cy="625881"/>
      </dsp:txXfrm>
    </dsp:sp>
    <dsp:sp modelId="{DF74213E-9759-45CE-B92A-90483C6D3FEF}">
      <dsp:nvSpPr>
        <dsp:cNvPr id="0" name=""/>
        <dsp:cNvSpPr/>
      </dsp:nvSpPr>
      <dsp:spPr>
        <a:xfrm rot="10800000">
          <a:off x="0" y="2864074"/>
          <a:ext cx="8712968" cy="963234"/>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IN" sz="2400" kern="1200" dirty="0" smtClean="0"/>
            <a:t>Deal structuring </a:t>
          </a:r>
          <a:endParaRPr lang="en-IN" sz="2400" kern="1200" dirty="0"/>
        </a:p>
      </dsp:txBody>
      <dsp:txXfrm rot="10800000">
        <a:off x="0" y="2864074"/>
        <a:ext cx="8712968" cy="625881"/>
      </dsp:txXfrm>
    </dsp:sp>
    <dsp:sp modelId="{BC34066C-A2DC-465C-ACF4-C0B2A47774BB}">
      <dsp:nvSpPr>
        <dsp:cNvPr id="0" name=""/>
        <dsp:cNvSpPr/>
      </dsp:nvSpPr>
      <dsp:spPr>
        <a:xfrm rot="10800000">
          <a:off x="0" y="1910234"/>
          <a:ext cx="8712968" cy="963234"/>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IN" sz="2400" kern="1200" dirty="0" smtClean="0"/>
            <a:t>Evaluation </a:t>
          </a:r>
          <a:endParaRPr lang="en-IN" sz="2400" kern="1200" dirty="0"/>
        </a:p>
      </dsp:txBody>
      <dsp:txXfrm rot="10800000">
        <a:off x="0" y="1910234"/>
        <a:ext cx="8712968" cy="625881"/>
      </dsp:txXfrm>
    </dsp:sp>
    <dsp:sp modelId="{F72181FD-C4E0-4025-985A-30BBE56B6FAE}">
      <dsp:nvSpPr>
        <dsp:cNvPr id="0" name=""/>
        <dsp:cNvSpPr/>
      </dsp:nvSpPr>
      <dsp:spPr>
        <a:xfrm rot="10800000">
          <a:off x="0" y="956394"/>
          <a:ext cx="8712968" cy="963234"/>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IN" sz="2400" kern="1200" dirty="0" smtClean="0"/>
            <a:t>Screening </a:t>
          </a:r>
          <a:endParaRPr lang="en-IN" sz="2400" kern="1200" dirty="0"/>
        </a:p>
      </dsp:txBody>
      <dsp:txXfrm rot="10800000">
        <a:off x="0" y="956394"/>
        <a:ext cx="8712968" cy="625881"/>
      </dsp:txXfrm>
    </dsp:sp>
    <dsp:sp modelId="{F9F9C290-E674-43EA-9540-D6D6C5464266}">
      <dsp:nvSpPr>
        <dsp:cNvPr id="0" name=""/>
        <dsp:cNvSpPr/>
      </dsp:nvSpPr>
      <dsp:spPr>
        <a:xfrm rot="10800000">
          <a:off x="0" y="2554"/>
          <a:ext cx="8712968" cy="963234"/>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IN" sz="2400" kern="1200" dirty="0" smtClean="0"/>
            <a:t>Deal origination </a:t>
          </a:r>
          <a:endParaRPr lang="en-IN" sz="2400" kern="1200" dirty="0"/>
        </a:p>
      </dsp:txBody>
      <dsp:txXfrm rot="10800000">
        <a:off x="0" y="2554"/>
        <a:ext cx="8712968" cy="6258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F86D46E-35AD-45DF-830A-EA14DD4D5D25}" type="datetimeFigureOut">
              <a:rPr lang="en-US" smtClean="0"/>
              <a:pPr/>
              <a:t>6/2/2026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F86D46E-35AD-45DF-830A-EA14DD4D5D25}" type="datetimeFigureOut">
              <a:rPr lang="en-US" smtClean="0"/>
              <a:pPr/>
              <a:t>6/2/2026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86D46E-35AD-45DF-830A-EA14DD4D5D25}" type="datetimeFigureOut">
              <a:rPr lang="en-US" smtClean="0"/>
              <a:pPr/>
              <a:t>6/2/2026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F86D46E-35AD-45DF-830A-EA14DD4D5D25}" type="datetimeFigureOut">
              <a:rPr lang="en-US" smtClean="0"/>
              <a:pPr/>
              <a:t>6/2/2026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F86D46E-35AD-45DF-830A-EA14DD4D5D25}" type="datetimeFigureOut">
              <a:rPr lang="en-US" smtClean="0"/>
              <a:pPr/>
              <a:t>6/2/2026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F86D46E-35AD-45DF-830A-EA14DD4D5D25}" type="datetimeFigureOut">
              <a:rPr lang="en-US" smtClean="0"/>
              <a:pPr/>
              <a:t>6/2/2026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86D46E-35AD-45DF-830A-EA14DD4D5D25}" type="datetimeFigureOut">
              <a:rPr lang="en-US" smtClean="0"/>
              <a:pPr/>
              <a:t>6/2/2026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86D46E-35AD-45DF-830A-EA14DD4D5D25}" type="datetimeFigureOut">
              <a:rPr lang="en-US" smtClean="0"/>
              <a:pPr/>
              <a:t>6/2/2026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86D46E-35AD-45DF-830A-EA14DD4D5D25}" type="datetimeFigureOut">
              <a:rPr lang="en-US" smtClean="0"/>
              <a:pPr/>
              <a:t>6/2/2026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F86D46E-35AD-45DF-830A-EA14DD4D5D25}" type="datetimeFigureOut">
              <a:rPr lang="en-US" smtClean="0"/>
              <a:pPr/>
              <a:t>6/2/2026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F86D46E-35AD-45DF-830A-EA14DD4D5D25}" type="datetimeFigureOut">
              <a:rPr lang="en-US" smtClean="0"/>
              <a:pPr/>
              <a:t>6/2/2026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44894A-9911-467B-8DD6-5AE6AC3BEB60}"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27676524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3910061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667698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2590396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1996692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965228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1514633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smtClean="0"/>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1960896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11692100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4031003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r>
              <a:rPr lang="en-US" sz="6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r>
              <a:rPr lang="en-US" sz="6000" dirty="0">
                <a:ln w="3175" cmpd="sng">
                  <a:noFill/>
                </a:ln>
                <a:solidFill>
                  <a:srgbClr val="90C226">
                    <a:lumMod val="60000"/>
                    <a:lumOff val="40000"/>
                  </a:srgbClr>
                </a:solidFill>
                <a:latin typeface="Arial"/>
              </a:rPr>
              <a:t>”</a:t>
            </a:r>
            <a:endParaRPr lang="en-US" sz="1350" dirty="0">
              <a:solidFill>
                <a:srgbClr val="90C226">
                  <a:lumMod val="60000"/>
                  <a:lumOff val="40000"/>
                </a:srgbClr>
              </a:solidFill>
              <a:latin typeface="Arial"/>
            </a:endParaRPr>
          </a:p>
        </p:txBody>
      </p:sp>
    </p:spTree>
    <p:extLst>
      <p:ext uri="{BB962C8B-B14F-4D97-AF65-F5344CB8AC3E}">
        <p14:creationId xmlns:p14="http://schemas.microsoft.com/office/powerpoint/2010/main" val="72778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36875908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r>
              <a:rPr lang="en-US" sz="6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r>
              <a:rPr lang="en-US" sz="6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41349183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19117821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23533016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1638435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6D46E-35AD-45DF-830A-EA14DD4D5D25}" type="datetimeFigureOut">
              <a:rPr lang="en-US" smtClean="0"/>
              <a:pPr/>
              <a:t>6/2/2026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44894A-9911-467B-8DD6-5AE6AC3BEB6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6AF18252-4742-4E57-AFB3-E75310A64957}" type="datetimeFigureOut">
              <a:rPr lang="en-IN" smtClean="0">
                <a:solidFill>
                  <a:prstClr val="black">
                    <a:tint val="75000"/>
                  </a:prstClr>
                </a:solidFill>
              </a:rPr>
              <a:pPr/>
              <a:t>02-06-2026</a:t>
            </a:fld>
            <a:endParaRPr lang="en-IN">
              <a:solidFill>
                <a:prstClr val="black">
                  <a:tint val="75000"/>
                </a:prstClr>
              </a:solidFill>
            </a:endParaRPr>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fld id="{AC5C3182-97D8-4C44-A3E0-5284264753DF}" type="slidenum">
              <a:rPr lang="en-IN" smtClean="0">
                <a:solidFill>
                  <a:srgbClr val="90C226"/>
                </a:solidFill>
              </a:rPr>
              <a:pPr/>
              <a:t>‹#›</a:t>
            </a:fld>
            <a:endParaRPr lang="en-IN">
              <a:solidFill>
                <a:srgbClr val="90C226"/>
              </a:solidFill>
            </a:endParaRPr>
          </a:p>
        </p:txBody>
      </p:sp>
    </p:spTree>
    <p:extLst>
      <p:ext uri="{BB962C8B-B14F-4D97-AF65-F5344CB8AC3E}">
        <p14:creationId xmlns:p14="http://schemas.microsoft.com/office/powerpoint/2010/main" val="3999484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2804664"/>
            <a:ext cx="9144000" cy="3196087"/>
          </a:xfrm>
          <a:prstGeom prst="rect">
            <a:avLst/>
          </a:prstGeom>
        </p:spPr>
      </p:pic>
      <p:sp>
        <p:nvSpPr>
          <p:cNvPr id="2" name="Title 1"/>
          <p:cNvSpPr>
            <a:spLocks noGrp="1"/>
          </p:cNvSpPr>
          <p:nvPr>
            <p:ph type="ctrTitle"/>
          </p:nvPr>
        </p:nvSpPr>
        <p:spPr>
          <a:xfrm>
            <a:off x="899592" y="1569937"/>
            <a:ext cx="7776863" cy="1234727"/>
          </a:xfrm>
        </p:spPr>
        <p:txBody>
          <a:bodyPr>
            <a:noAutofit/>
          </a:bodyPr>
          <a:lstStyle/>
          <a:p>
            <a:pPr algn="ctr"/>
            <a:r>
              <a:rPr lang="en-US" b="1" dirty="0">
                <a:solidFill>
                  <a:srgbClr val="00B050"/>
                </a:solidFill>
                <a:latin typeface="Arial Rounded MT Bold" panose="020F0704030504030204" pitchFamily="34" charset="0"/>
              </a:rPr>
              <a:t>Managing and Growing New Venture </a:t>
            </a:r>
            <a:br>
              <a:rPr lang="en-US" b="1" dirty="0">
                <a:solidFill>
                  <a:srgbClr val="00B050"/>
                </a:solidFill>
                <a:latin typeface="Arial Rounded MT Bold" panose="020F0704030504030204" pitchFamily="34" charset="0"/>
              </a:rPr>
            </a:br>
            <a:endParaRPr lang="en-IN" b="1" dirty="0">
              <a:solidFill>
                <a:srgbClr val="00B050"/>
              </a:solidFill>
              <a:latin typeface="Arial Rounded MT Bold" panose="020F0704030504030204" pitchFamily="34" charset="0"/>
            </a:endParaRPr>
          </a:p>
        </p:txBody>
      </p:sp>
      <p:sp>
        <p:nvSpPr>
          <p:cNvPr id="4" name="Rectangle 3"/>
          <p:cNvSpPr/>
          <p:nvPr/>
        </p:nvSpPr>
        <p:spPr>
          <a:xfrm>
            <a:off x="323528" y="260648"/>
            <a:ext cx="2941502" cy="553998"/>
          </a:xfrm>
          <a:prstGeom prst="rect">
            <a:avLst/>
          </a:prstGeom>
        </p:spPr>
        <p:txBody>
          <a:bodyPr wrap="square">
            <a:spAutoFit/>
          </a:bodyPr>
          <a:lstStyle/>
          <a:p>
            <a:r>
              <a:rPr lang="en-US" altLang="en-US" sz="3000" b="1" dirty="0">
                <a:latin typeface="Times New Roman" pitchFamily="18" charset="0"/>
                <a:cs typeface="Times New Roman" pitchFamily="18" charset="0"/>
              </a:rPr>
              <a:t>MODULE 3</a:t>
            </a:r>
            <a:endParaRPr lang="en-IN" sz="3000" b="1" dirty="0"/>
          </a:p>
        </p:txBody>
      </p:sp>
    </p:spTree>
    <p:extLst>
      <p:ext uri="{BB962C8B-B14F-4D97-AF65-F5344CB8AC3E}">
        <p14:creationId xmlns:p14="http://schemas.microsoft.com/office/powerpoint/2010/main" val="274426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Autofit/>
          </a:bodyPr>
          <a:lstStyle/>
          <a:p>
            <a:pPr algn="ctr" defTabSz="914400"/>
            <a:r>
              <a:rPr lang="en-IN" sz="4400" b="1" dirty="0">
                <a:solidFill>
                  <a:srgbClr val="00B050"/>
                </a:solidFill>
                <a:latin typeface="Arial Rounded MT Bold" panose="020F0704030504030204" pitchFamily="34" charset="0"/>
              </a:rPr>
              <a:t>Roadmap</a:t>
            </a:r>
          </a:p>
        </p:txBody>
      </p:sp>
      <p:sp>
        <p:nvSpPr>
          <p:cNvPr id="3" name="Content Placeholder 2"/>
          <p:cNvSpPr>
            <a:spLocks noGrp="1"/>
          </p:cNvSpPr>
          <p:nvPr>
            <p:ph idx="1"/>
          </p:nvPr>
        </p:nvSpPr>
        <p:spPr>
          <a:xfrm>
            <a:off x="107505" y="1809750"/>
            <a:ext cx="7200800" cy="4283546"/>
          </a:xfrm>
        </p:spPr>
        <p:txBody>
          <a:bodyPr>
            <a:noAutofit/>
          </a:bodyPr>
          <a:lstStyle/>
          <a:p>
            <a:pPr algn="just"/>
            <a:r>
              <a:rPr lang="en-US" sz="1800" b="1" dirty="0">
                <a:latin typeface="Times New Roman" pitchFamily="18" charset="0"/>
                <a:cs typeface="Times New Roman" pitchFamily="18" charset="0"/>
              </a:rPr>
              <a:t>Preparing for the new venture launch: </a:t>
            </a:r>
            <a:r>
              <a:rPr lang="en-US" sz="1800" dirty="0">
                <a:latin typeface="Times New Roman" pitchFamily="18" charset="0"/>
                <a:cs typeface="Times New Roman" pitchFamily="18" charset="0"/>
              </a:rPr>
              <a:t>Early management decisions, Managing early growth of the new venture- new venture expansion strategies and issues. </a:t>
            </a:r>
          </a:p>
          <a:p>
            <a:pPr algn="just"/>
            <a:r>
              <a:rPr lang="en-US" sz="1800" b="1" dirty="0">
                <a:latin typeface="Times New Roman" pitchFamily="18" charset="0"/>
                <a:cs typeface="Times New Roman" pitchFamily="18" charset="0"/>
              </a:rPr>
              <a:t>Getting Financing or Funding for the New Venture</a:t>
            </a:r>
            <a:r>
              <a:rPr lang="en-US" sz="1800" dirty="0">
                <a:latin typeface="Times New Roman" pitchFamily="18" charset="0"/>
                <a:cs typeface="Times New Roman" pitchFamily="18" charset="0"/>
              </a:rPr>
              <a:t>: Estimating the financial needs of a new venture and preparation of a financial plan, Sources of Personal Financing, Preparing to Raise Debt or Equity Financing, Business Angels, Venture Capital, Initial Public Offering, Commercial Banks, Other Sources of Debt Financing, Leasing. </a:t>
            </a:r>
          </a:p>
          <a:p>
            <a:pPr algn="just"/>
            <a:r>
              <a:rPr lang="en-US" sz="1800" b="1" dirty="0">
                <a:latin typeface="Times New Roman" pitchFamily="18" charset="0"/>
                <a:cs typeface="Times New Roman" pitchFamily="18" charset="0"/>
              </a:rPr>
              <a:t>Forms of business organization: </a:t>
            </a:r>
            <a:r>
              <a:rPr lang="en-US" sz="1800" dirty="0">
                <a:latin typeface="Times New Roman" pitchFamily="18" charset="0"/>
                <a:cs typeface="Times New Roman" pitchFamily="18" charset="0"/>
              </a:rPr>
              <a:t>Sole Proprietorship , Partnership , Limited liability partnership - Joint Stock Companies and Cooperatives. </a:t>
            </a:r>
            <a:endParaRPr lang="en-US" sz="1800" b="1" dirty="0">
              <a:latin typeface="Times New Roman" pitchFamily="18" charset="0"/>
              <a:cs typeface="Times New Roman" pitchFamily="18" charset="0"/>
            </a:endParaRPr>
          </a:p>
          <a:p>
            <a:endParaRPr lang="en-IN" sz="1800" dirty="0"/>
          </a:p>
        </p:txBody>
      </p:sp>
    </p:spTree>
    <p:extLst>
      <p:ext uri="{BB962C8B-B14F-4D97-AF65-F5344CB8AC3E}">
        <p14:creationId xmlns:p14="http://schemas.microsoft.com/office/powerpoint/2010/main" val="4202433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style>
          <a:lnRef idx="1">
            <a:schemeClr val="accent3"/>
          </a:lnRef>
          <a:fillRef idx="2">
            <a:schemeClr val="accent3"/>
          </a:fillRef>
          <a:effectRef idx="1">
            <a:schemeClr val="accent3"/>
          </a:effectRef>
          <a:fontRef idx="minor">
            <a:schemeClr val="dk1"/>
          </a:fontRef>
        </p:style>
        <p:txBody>
          <a:bodyPr anchor="t">
            <a:normAutofit fontScale="90000"/>
          </a:bodyPr>
          <a:lstStyle/>
          <a:p>
            <a:r>
              <a:rPr lang="en-US" sz="3600" b="1" dirty="0" smtClean="0"/>
              <a:t>Launching An Entrepreneurial Venture</a:t>
            </a:r>
            <a:r>
              <a:rPr lang="en-IN" dirty="0" smtClean="0"/>
              <a:t/>
            </a:r>
            <a:br>
              <a:rPr lang="en-IN" dirty="0" smtClean="0"/>
            </a:br>
            <a:r>
              <a:rPr lang="en-US" b="1" dirty="0" smtClean="0"/>
              <a:t> </a:t>
            </a:r>
            <a:r>
              <a:rPr lang="en-IN" dirty="0" smtClean="0"/>
              <a:t/>
            </a:r>
            <a:br>
              <a:rPr lang="en-IN" dirty="0" smtClean="0"/>
            </a:br>
            <a:endParaRPr lang="en-IN" dirty="0"/>
          </a:p>
        </p:txBody>
      </p:sp>
      <p:sp>
        <p:nvSpPr>
          <p:cNvPr id="3" name="Content Placeholder 2"/>
          <p:cNvSpPr>
            <a:spLocks noGrp="1"/>
          </p:cNvSpPr>
          <p:nvPr>
            <p:ph idx="1"/>
          </p:nvPr>
        </p:nvSpPr>
        <p:spPr/>
        <p:txBody>
          <a:bodyPr/>
          <a:lstStyle/>
          <a:p>
            <a:r>
              <a:rPr lang="en-IN" dirty="0" smtClean="0"/>
              <a:t>New ventures, or entrepreneurial ventures, are broadly defined as:</a:t>
            </a:r>
          </a:p>
          <a:p>
            <a:pPr lvl="1"/>
            <a:r>
              <a:rPr lang="en-IN" dirty="0" smtClean="0"/>
              <a:t>those firms that are in their early stages of development and growth. </a:t>
            </a:r>
          </a:p>
          <a:p>
            <a:pPr lvl="1"/>
            <a:r>
              <a:rPr lang="en-IN" dirty="0" smtClean="0"/>
              <a:t>Often they are in the process of bringing their initial products or services to the market and of developing their customer base.</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r>
              <a:rPr lang="en-US" dirty="0" smtClean="0"/>
              <a:t>Early management Decisions</a:t>
            </a:r>
            <a:endParaRPr lang="en-IN" dirty="0"/>
          </a:p>
        </p:txBody>
      </p:sp>
      <p:sp>
        <p:nvSpPr>
          <p:cNvPr id="3" name="Content Placeholder 2"/>
          <p:cNvSpPr>
            <a:spLocks noGrp="1"/>
          </p:cNvSpPr>
          <p:nvPr>
            <p:ph idx="1"/>
          </p:nvPr>
        </p:nvSpPr>
        <p:spPr/>
        <p:txBody>
          <a:bodyPr>
            <a:normAutofit/>
          </a:bodyPr>
          <a:lstStyle/>
          <a:p>
            <a:pPr marL="0" indent="0" algn="just">
              <a:buNone/>
            </a:pPr>
            <a:r>
              <a:rPr lang="en-IN" dirty="0" smtClean="0"/>
              <a:t>The key to the success of an entrepreneurial team is to ensure that the </a:t>
            </a:r>
            <a:r>
              <a:rPr lang="en-IN" b="1" dirty="0" smtClean="0"/>
              <a:t>right decisions </a:t>
            </a:r>
            <a:r>
              <a:rPr lang="en-IN" dirty="0" smtClean="0"/>
              <a:t>are made initially on the composition of the team, and then on the </a:t>
            </a:r>
            <a:r>
              <a:rPr lang="en-IN" b="1" dirty="0" smtClean="0"/>
              <a:t>composition of management</a:t>
            </a:r>
            <a:r>
              <a:rPr lang="en-IN" dirty="0" smtClean="0"/>
              <a:t>, and later on </a:t>
            </a:r>
            <a:r>
              <a:rPr lang="en-IN" b="1" dirty="0" smtClean="0"/>
              <a:t>monitoring of the team’s </a:t>
            </a:r>
            <a:r>
              <a:rPr lang="en-IN" dirty="0" smtClean="0"/>
              <a:t>performance and contribution to the specific new venture goals and objectives.. </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r>
              <a:rPr lang="en-US" dirty="0" smtClean="0"/>
              <a:t>Early management decisions</a:t>
            </a:r>
            <a:endParaRPr lang="en-IN" dirty="0"/>
          </a:p>
        </p:txBody>
      </p:sp>
      <p:sp>
        <p:nvSpPr>
          <p:cNvPr id="3" name="Content Placeholder 2"/>
          <p:cNvSpPr>
            <a:spLocks noGrp="1"/>
          </p:cNvSpPr>
          <p:nvPr>
            <p:ph idx="1"/>
          </p:nvPr>
        </p:nvSpPr>
        <p:spPr/>
        <p:txBody>
          <a:bodyPr>
            <a:normAutofit fontScale="85000" lnSpcReduction="10000"/>
          </a:bodyPr>
          <a:lstStyle/>
          <a:p>
            <a:pPr marL="0" indent="0">
              <a:buNone/>
            </a:pPr>
            <a:r>
              <a:rPr lang="en-IN" b="1" dirty="0" smtClean="0"/>
              <a:t>The composition of the team involves decisions on: </a:t>
            </a:r>
          </a:p>
          <a:p>
            <a:pPr>
              <a:buFont typeface="Wingdings" panose="05000000000000000000" pitchFamily="2" charset="2"/>
              <a:buChar char="ü"/>
            </a:pPr>
            <a:r>
              <a:rPr lang="en-IN" dirty="0" smtClean="0"/>
              <a:t>How many people are needed for the team</a:t>
            </a:r>
          </a:p>
          <a:p>
            <a:pPr>
              <a:buFont typeface="Wingdings" panose="05000000000000000000" pitchFamily="2" charset="2"/>
              <a:buChar char="ü"/>
            </a:pPr>
            <a:r>
              <a:rPr lang="en-IN" dirty="0" smtClean="0"/>
              <a:t>Where to source potential team members </a:t>
            </a:r>
          </a:p>
          <a:p>
            <a:pPr>
              <a:buFont typeface="Wingdings" panose="05000000000000000000" pitchFamily="2" charset="2"/>
              <a:buChar char="ü"/>
            </a:pPr>
            <a:r>
              <a:rPr lang="en-IN" dirty="0" smtClean="0"/>
              <a:t>What factors should be considered both on a professional and personal manner when finally choosing team members</a:t>
            </a:r>
          </a:p>
          <a:p>
            <a:pPr>
              <a:buFont typeface="Wingdings" panose="05000000000000000000" pitchFamily="2" charset="2"/>
              <a:buChar char="ü"/>
            </a:pPr>
            <a:r>
              <a:rPr lang="en-IN" dirty="0" smtClean="0"/>
              <a:t>The roles and duties of each team member </a:t>
            </a:r>
          </a:p>
          <a:p>
            <a:pPr>
              <a:buFont typeface="Wingdings" panose="05000000000000000000" pitchFamily="2" charset="2"/>
              <a:buChar char="ü"/>
            </a:pPr>
            <a:r>
              <a:rPr lang="en-IN" dirty="0" smtClean="0"/>
              <a:t>Their level of participation in the operational activities of the business</a:t>
            </a:r>
          </a:p>
          <a:p>
            <a:pPr>
              <a:buFont typeface="Wingdings" panose="05000000000000000000" pitchFamily="2" charset="2"/>
              <a:buChar char="ü"/>
            </a:pPr>
            <a:r>
              <a:rPr lang="en-IN" dirty="0" smtClean="0"/>
              <a:t> Exit mechanisms and procedures for team members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fontScale="90000"/>
          </a:bodyPr>
          <a:lstStyle/>
          <a:p>
            <a:r>
              <a:rPr lang="en-US" dirty="0" smtClean="0"/>
              <a:t>Sources of Funding for the New Venture</a:t>
            </a:r>
            <a:endParaRPr lang="en-IN" dirty="0"/>
          </a:p>
        </p:txBody>
      </p:sp>
      <p:sp>
        <p:nvSpPr>
          <p:cNvPr id="3" name="Content Placeholder 2"/>
          <p:cNvSpPr>
            <a:spLocks noGrp="1"/>
          </p:cNvSpPr>
          <p:nvPr>
            <p:ph idx="1"/>
          </p:nvPr>
        </p:nvSpPr>
        <p:spPr/>
        <p:txBody>
          <a:bodyPr>
            <a:normAutofit lnSpcReduction="10000"/>
          </a:bodyPr>
          <a:lstStyle/>
          <a:p>
            <a:r>
              <a:rPr lang="en-IN" dirty="0" smtClean="0"/>
              <a:t>Own Finance</a:t>
            </a:r>
          </a:p>
          <a:p>
            <a:r>
              <a:rPr lang="en-US" dirty="0" smtClean="0"/>
              <a:t>Debt or Equity Financing</a:t>
            </a:r>
          </a:p>
          <a:p>
            <a:r>
              <a:rPr lang="en-IN" dirty="0" smtClean="0"/>
              <a:t> </a:t>
            </a:r>
            <a:r>
              <a:rPr lang="en-US" dirty="0" smtClean="0"/>
              <a:t>Business Angels</a:t>
            </a:r>
          </a:p>
          <a:p>
            <a:r>
              <a:rPr lang="en-US" dirty="0" smtClean="0"/>
              <a:t> Venture Capital</a:t>
            </a:r>
          </a:p>
          <a:p>
            <a:r>
              <a:rPr lang="en-US" dirty="0" smtClean="0"/>
              <a:t>Initial Public Offering</a:t>
            </a:r>
          </a:p>
          <a:p>
            <a:r>
              <a:rPr lang="en-US" dirty="0" smtClean="0"/>
              <a:t>Commercial Banks</a:t>
            </a:r>
          </a:p>
          <a:p>
            <a:r>
              <a:rPr lang="en-US" dirty="0" smtClean="0"/>
              <a:t> Other Sources of Debt Financing</a:t>
            </a:r>
          </a:p>
          <a:p>
            <a:r>
              <a:rPr lang="en-US" dirty="0" smtClean="0"/>
              <a:t> Leasing</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lstStyle/>
          <a:p>
            <a:r>
              <a:rPr lang="en-IN" dirty="0" smtClean="0"/>
              <a:t>Own Finance</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IN" dirty="0" smtClean="0"/>
              <a:t>Own Finance refers to capital invested in a business by its owners/investors. Being permanent, it creates no obligation by entrepreneurs to repay investors, but raising equity dilutes ownership. </a:t>
            </a:r>
          </a:p>
          <a:p>
            <a:pPr algn="just"/>
            <a:r>
              <a:rPr lang="en-IN" dirty="0" smtClean="0"/>
              <a:t>Entrepreneurs must first look for individual resources for start up capital. </a:t>
            </a:r>
          </a:p>
          <a:p>
            <a:pPr algn="just"/>
            <a:r>
              <a:rPr lang="en-IN" dirty="0" smtClean="0"/>
              <a:t>These include </a:t>
            </a:r>
            <a:r>
              <a:rPr lang="en-IN" b="1" dirty="0" smtClean="0"/>
              <a:t>cash</a:t>
            </a:r>
            <a:r>
              <a:rPr lang="en-IN" dirty="0" smtClean="0"/>
              <a:t> and any </a:t>
            </a:r>
            <a:r>
              <a:rPr lang="en-IN" b="1" dirty="0" smtClean="0"/>
              <a:t>personal assets</a:t>
            </a:r>
            <a:r>
              <a:rPr lang="en-IN" dirty="0" smtClean="0"/>
              <a:t> convertible into cash or simply converted to business use, for example, personal vehicles. This also includes cash from family/friends – love money</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04664"/>
            <a:ext cx="8682168" cy="5843736"/>
          </a:xfrm>
        </p:spPr>
        <p:txBody>
          <a:bodyPr>
            <a:normAutofit/>
          </a:bodyPr>
          <a:lstStyle/>
          <a:p>
            <a:pPr algn="ctr">
              <a:buNone/>
            </a:pPr>
            <a:r>
              <a:rPr lang="en-IN" b="1" dirty="0" smtClean="0"/>
              <a:t>FINANCING THE BUSINESS</a:t>
            </a:r>
            <a:endParaRPr lang="en-IN" dirty="0" smtClean="0"/>
          </a:p>
          <a:p>
            <a:pPr algn="just">
              <a:buFont typeface="Wingdings" pitchFamily="2" charset="2"/>
              <a:buChar char="ü"/>
            </a:pPr>
            <a:r>
              <a:rPr lang="en-IN" b="1" dirty="0" smtClean="0"/>
              <a:t>Early stage financing </a:t>
            </a:r>
            <a:r>
              <a:rPr lang="en-IN" dirty="0" smtClean="0"/>
              <a:t>: refers to financial assistance required by the business during beginning  of business operations. Two types of financing are available during this stage they are </a:t>
            </a:r>
            <a:r>
              <a:rPr lang="en-IN" b="1" dirty="0" smtClean="0"/>
              <a:t>seed capital </a:t>
            </a:r>
            <a:r>
              <a:rPr lang="en-IN" dirty="0" smtClean="0"/>
              <a:t>and </a:t>
            </a:r>
            <a:r>
              <a:rPr lang="en-IN" b="1" dirty="0" smtClean="0"/>
              <a:t>start up capital</a:t>
            </a:r>
            <a:r>
              <a:rPr lang="en-IN" dirty="0" smtClean="0"/>
              <a:t>. </a:t>
            </a:r>
          </a:p>
          <a:p>
            <a:pPr algn="just">
              <a:buFont typeface="Wingdings" pitchFamily="2" charset="2"/>
              <a:buChar char="ü"/>
            </a:pPr>
            <a:r>
              <a:rPr lang="en-IN" b="1" dirty="0" smtClean="0"/>
              <a:t>Development financing </a:t>
            </a:r>
            <a:r>
              <a:rPr lang="en-IN" dirty="0" smtClean="0"/>
              <a:t>: refers to an established business which is used for the purpose of </a:t>
            </a:r>
            <a:r>
              <a:rPr lang="en-IN" b="1" dirty="0" smtClean="0"/>
              <a:t>expansion of business</a:t>
            </a:r>
            <a:r>
              <a:rPr lang="en-IN" dirty="0" smtClean="0"/>
              <a:t>. Finance required at this stage is know as development or expansion financing.   </a:t>
            </a:r>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404664"/>
            <a:ext cx="8538152" cy="5843736"/>
          </a:xfrm>
        </p:spPr>
        <p:txBody>
          <a:bodyPr>
            <a:normAutofit lnSpcReduction="10000"/>
          </a:bodyPr>
          <a:lstStyle/>
          <a:p>
            <a:pPr algn="just">
              <a:buFont typeface="Wingdings" pitchFamily="2" charset="2"/>
              <a:buChar char="ü"/>
            </a:pPr>
            <a:r>
              <a:rPr lang="en-IN" b="1" dirty="0" smtClean="0"/>
              <a:t>Acquisition financing </a:t>
            </a:r>
            <a:r>
              <a:rPr lang="en-IN" dirty="0" smtClean="0"/>
              <a:t>: it refers to finance required by the company for the purpose of acquiring other organizations. </a:t>
            </a:r>
          </a:p>
          <a:p>
            <a:pPr algn="just">
              <a:buFont typeface="Wingdings" pitchFamily="2" charset="2"/>
              <a:buChar char="ü"/>
            </a:pPr>
            <a:r>
              <a:rPr lang="en-IN" b="1" dirty="0" smtClean="0"/>
              <a:t>Risk capital market: </a:t>
            </a:r>
            <a:r>
              <a:rPr lang="en-IN" dirty="0" smtClean="0"/>
              <a:t>refers to market providing debt  and equity to non secure financing institution.</a:t>
            </a:r>
          </a:p>
          <a:p>
            <a:pPr algn="just">
              <a:buFont typeface="Wingdings" pitchFamily="2" charset="2"/>
              <a:buChar char="ü"/>
            </a:pPr>
            <a:r>
              <a:rPr lang="en-IN" b="1" dirty="0" smtClean="0"/>
              <a:t>Informal risk capital: </a:t>
            </a:r>
            <a:r>
              <a:rPr lang="en-IN" dirty="0" smtClean="0"/>
              <a:t>markets consist of virtually invisible group of wealthy investors called as business angels.</a:t>
            </a:r>
          </a:p>
          <a:p>
            <a:pPr algn="just">
              <a:buFont typeface="Wingdings" pitchFamily="2" charset="2"/>
              <a:buChar char="ü"/>
            </a:pPr>
            <a:r>
              <a:rPr lang="en-IN" b="1" dirty="0" smtClean="0"/>
              <a:t>Public equity market </a:t>
            </a:r>
            <a:r>
              <a:rPr lang="en-IN" dirty="0" smtClean="0"/>
              <a:t>: risk capital market consisting of publically owned stock of companies.</a:t>
            </a:r>
          </a:p>
          <a:p>
            <a:pPr algn="just">
              <a:buFont typeface="Wingdings" pitchFamily="2" charset="2"/>
              <a:buChar char="ü"/>
            </a:pPr>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404664"/>
            <a:ext cx="8538152" cy="5843736"/>
          </a:xfrm>
        </p:spPr>
        <p:txBody>
          <a:bodyPr/>
          <a:lstStyle/>
          <a:p>
            <a:pPr algn="ctr">
              <a:buNone/>
            </a:pPr>
            <a:r>
              <a:rPr lang="en-IN" b="1" dirty="0" smtClean="0">
                <a:solidFill>
                  <a:srgbClr val="FF0000"/>
                </a:solidFill>
              </a:rPr>
              <a:t>ANGEL INVESTORS </a:t>
            </a:r>
          </a:p>
          <a:p>
            <a:pPr algn="just">
              <a:buFont typeface="Wingdings" pitchFamily="2" charset="2"/>
              <a:buChar char="ü"/>
            </a:pPr>
            <a:r>
              <a:rPr lang="en-IN" dirty="0" smtClean="0"/>
              <a:t>Angles are early stage investors to business. Angle investors provide capital and valuable guidance to entrepreneurs. These investors along with financial capitals also provide intellectual capital to entrepreneurs. </a:t>
            </a:r>
            <a:endParaRPr lang="en-I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IN" sz="3600" b="1" dirty="0" smtClean="0">
                <a:solidFill>
                  <a:srgbClr val="FF0000"/>
                </a:solidFill>
              </a:rPr>
              <a:t>Angel Investors in India Example</a:t>
            </a:r>
            <a:r>
              <a:rPr lang="en-IN" b="1" dirty="0" smtClean="0">
                <a:solidFill>
                  <a:srgbClr val="FF0000"/>
                </a:solidFill>
              </a:rPr>
              <a:t/>
            </a:r>
            <a:br>
              <a:rPr lang="en-IN" b="1" dirty="0" smtClean="0">
                <a:solidFill>
                  <a:srgbClr val="FF0000"/>
                </a:solidFill>
              </a:rPr>
            </a:br>
            <a:endParaRPr lang="en-IN" dirty="0"/>
          </a:p>
        </p:txBody>
      </p:sp>
      <p:sp>
        <p:nvSpPr>
          <p:cNvPr id="10" name="Content Placeholder 9"/>
          <p:cNvSpPr>
            <a:spLocks noGrp="1"/>
          </p:cNvSpPr>
          <p:nvPr>
            <p:ph idx="1"/>
          </p:nvPr>
        </p:nvSpPr>
        <p:spPr>
          <a:xfrm>
            <a:off x="457200" y="928670"/>
            <a:ext cx="8229600" cy="5197493"/>
          </a:xfrm>
        </p:spPr>
        <p:txBody>
          <a:bodyPr>
            <a:normAutofit lnSpcReduction="10000"/>
          </a:bodyPr>
          <a:lstStyle/>
          <a:p>
            <a:pPr algn="just"/>
            <a:r>
              <a:rPr lang="en-IN" sz="3000" b="1" dirty="0" err="1" smtClean="0"/>
              <a:t>Ramakant</a:t>
            </a:r>
            <a:r>
              <a:rPr lang="en-IN" sz="3000" b="1" dirty="0" smtClean="0"/>
              <a:t> Sharma </a:t>
            </a:r>
            <a:r>
              <a:rPr lang="en-IN" sz="3000" dirty="0" smtClean="0"/>
              <a:t>is an Active Angel Investor and Co-Founder of </a:t>
            </a:r>
            <a:r>
              <a:rPr lang="en-IN" sz="3000" dirty="0" err="1" smtClean="0"/>
              <a:t>Livspace</a:t>
            </a:r>
            <a:r>
              <a:rPr lang="en-IN" sz="3000" dirty="0" smtClean="0"/>
              <a:t>; he graduated from IIT Kanpur and held an MBA from the Indian School of Business, Hyderabad. Before starting </a:t>
            </a:r>
            <a:r>
              <a:rPr lang="en-IN" sz="3000" dirty="0" err="1" smtClean="0"/>
              <a:t>Livspace</a:t>
            </a:r>
            <a:r>
              <a:rPr lang="en-IN" sz="3000" dirty="0" smtClean="0"/>
              <a:t>, </a:t>
            </a:r>
            <a:r>
              <a:rPr lang="en-IN" sz="3000" dirty="0" err="1" smtClean="0"/>
              <a:t>Ramakant</a:t>
            </a:r>
            <a:r>
              <a:rPr lang="en-IN" sz="3000" dirty="0" smtClean="0"/>
              <a:t> was a core team member and Vice President of Engineering at </a:t>
            </a:r>
            <a:r>
              <a:rPr lang="en-IN" sz="3000" dirty="0" err="1" smtClean="0"/>
              <a:t>Myntra</a:t>
            </a:r>
            <a:r>
              <a:rPr lang="en-IN" sz="3000" dirty="0" smtClean="0"/>
              <a:t>, a leading fashion </a:t>
            </a:r>
            <a:r>
              <a:rPr lang="en-IN" sz="3000" dirty="0" err="1" smtClean="0"/>
              <a:t>eCommerce</a:t>
            </a:r>
            <a:r>
              <a:rPr lang="en-IN" sz="3000" dirty="0" smtClean="0"/>
              <a:t> </a:t>
            </a:r>
            <a:r>
              <a:rPr lang="en-IN" sz="3000" dirty="0" err="1" smtClean="0"/>
              <a:t>startup</a:t>
            </a:r>
            <a:r>
              <a:rPr lang="en-IN" sz="3000" dirty="0" smtClean="0"/>
              <a:t> in India.‍ </a:t>
            </a:r>
          </a:p>
          <a:p>
            <a:pPr algn="just"/>
            <a:r>
              <a:rPr lang="en-IN" sz="3000" b="1" dirty="0" smtClean="0"/>
              <a:t>Total Number of Investments</a:t>
            </a:r>
            <a:r>
              <a:rPr lang="en-IN" sz="3000" dirty="0" smtClean="0"/>
              <a:t>: 76</a:t>
            </a:r>
          </a:p>
          <a:p>
            <a:r>
              <a:rPr lang="en-IN" sz="3000" dirty="0" smtClean="0"/>
              <a:t>‍</a:t>
            </a:r>
            <a:r>
              <a:rPr lang="en-IN" sz="3000" b="1" dirty="0" smtClean="0"/>
              <a:t>Notable investments</a:t>
            </a:r>
            <a:r>
              <a:rPr lang="en-IN" sz="3000" dirty="0" smtClean="0"/>
              <a:t>: </a:t>
            </a:r>
            <a:r>
              <a:rPr lang="en-IN" sz="3000" dirty="0" err="1" smtClean="0"/>
              <a:t>PharmEasy</a:t>
            </a:r>
            <a:r>
              <a:rPr lang="en-IN" sz="3000" dirty="0" smtClean="0"/>
              <a:t>, BYJU'S, </a:t>
            </a:r>
            <a:r>
              <a:rPr lang="en-IN" sz="3000" dirty="0" err="1" smtClean="0"/>
              <a:t>Trell</a:t>
            </a:r>
            <a:r>
              <a:rPr lang="en-IN" sz="3000" dirty="0" smtClean="0"/>
              <a:t>, </a:t>
            </a:r>
            <a:r>
              <a:rPr lang="en-IN" sz="3000" dirty="0" err="1" smtClean="0"/>
              <a:t>Fynd</a:t>
            </a:r>
            <a:r>
              <a:rPr lang="en-IN" sz="3000" dirty="0" smtClean="0"/>
              <a:t>, </a:t>
            </a:r>
            <a:r>
              <a:rPr lang="en-IN" sz="3000" dirty="0" err="1" smtClean="0"/>
              <a:t>Toothsi</a:t>
            </a:r>
            <a:r>
              <a:rPr lang="en-IN" dirty="0" smtClean="0"/>
              <a:t>.</a:t>
            </a:r>
          </a:p>
          <a:p>
            <a:endParaRPr lang="en-IN" dirty="0" smtClean="0"/>
          </a:p>
          <a:p>
            <a:endParaRPr lang="en-IN" dirty="0"/>
          </a:p>
        </p:txBody>
      </p:sp>
      <p:pic>
        <p:nvPicPr>
          <p:cNvPr id="1026" name="Picture 2" descr="Ramakant Sharma"/>
          <p:cNvPicPr>
            <a:picLocks noChangeAspect="1" noChangeArrowheads="1"/>
          </p:cNvPicPr>
          <p:nvPr/>
        </p:nvPicPr>
        <p:blipFill>
          <a:blip r:embed="rId2"/>
          <a:srcRect/>
          <a:stretch>
            <a:fillRect/>
          </a:stretch>
        </p:blipFill>
        <p:spPr bwMode="auto">
          <a:xfrm>
            <a:off x="6143636" y="5286388"/>
            <a:ext cx="1643074" cy="128586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04664"/>
            <a:ext cx="8466144" cy="5843736"/>
          </a:xfrm>
        </p:spPr>
        <p:txBody>
          <a:bodyPr>
            <a:normAutofit/>
          </a:bodyPr>
          <a:lstStyle/>
          <a:p>
            <a:pPr algn="ctr">
              <a:buNone/>
            </a:pPr>
            <a:r>
              <a:rPr lang="en-IN" b="1" dirty="0" smtClean="0"/>
              <a:t>FEATURES OF ANGEL INVESTOR </a:t>
            </a:r>
          </a:p>
          <a:p>
            <a:pPr algn="just">
              <a:buFont typeface="Wingdings" pitchFamily="2" charset="2"/>
              <a:buChar char="ü"/>
            </a:pPr>
            <a:r>
              <a:rPr lang="en-IN" dirty="0"/>
              <a:t>U</a:t>
            </a:r>
            <a:r>
              <a:rPr lang="en-IN" dirty="0" smtClean="0"/>
              <a:t>nderstand the </a:t>
            </a:r>
            <a:r>
              <a:rPr lang="en-IN" b="1" dirty="0" smtClean="0">
                <a:solidFill>
                  <a:srgbClr val="FF0000"/>
                </a:solidFill>
              </a:rPr>
              <a:t>needs of business </a:t>
            </a:r>
            <a:r>
              <a:rPr lang="en-IN" dirty="0" smtClean="0"/>
              <a:t>and are they able to provide useful expertise and assistance.</a:t>
            </a:r>
          </a:p>
          <a:p>
            <a:pPr algn="just">
              <a:buFont typeface="Wingdings" pitchFamily="2" charset="2"/>
              <a:buChar char="ü"/>
            </a:pPr>
            <a:r>
              <a:rPr lang="en-IN" dirty="0" smtClean="0"/>
              <a:t>An angel investor is generally an </a:t>
            </a:r>
            <a:r>
              <a:rPr lang="en-IN" b="1" dirty="0" smtClean="0">
                <a:solidFill>
                  <a:srgbClr val="FF0000"/>
                </a:solidFill>
              </a:rPr>
              <a:t>independent wealthy person </a:t>
            </a:r>
            <a:r>
              <a:rPr lang="en-IN" dirty="0" smtClean="0"/>
              <a:t>who takes risk on investment.</a:t>
            </a:r>
          </a:p>
          <a:p>
            <a:pPr algn="just">
              <a:buFont typeface="Wingdings" pitchFamily="2" charset="2"/>
              <a:buChar char="ü"/>
            </a:pPr>
            <a:r>
              <a:rPr lang="en-IN" dirty="0" smtClean="0"/>
              <a:t>Angels take </a:t>
            </a:r>
            <a:r>
              <a:rPr lang="en-IN" b="1" dirty="0" smtClean="0">
                <a:solidFill>
                  <a:srgbClr val="FF0000"/>
                </a:solidFill>
              </a:rPr>
              <a:t>vested interest </a:t>
            </a:r>
            <a:r>
              <a:rPr lang="en-IN" dirty="0" smtClean="0"/>
              <a:t>in the business start up in which they invest and become actively involved in the company to assist in other than financial aspects of business.</a:t>
            </a:r>
          </a:p>
          <a:p>
            <a:pPr algn="just">
              <a:buFont typeface="Wingdings" pitchFamily="2" charset="2"/>
              <a:buChar char="ü"/>
            </a:pPr>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548680"/>
            <a:ext cx="8538152" cy="5699720"/>
          </a:xfrm>
        </p:spPr>
        <p:txBody>
          <a:bodyPr/>
          <a:lstStyle/>
          <a:p>
            <a:pPr algn="just">
              <a:buFont typeface="Wingdings" pitchFamily="2" charset="2"/>
              <a:buChar char="ü"/>
            </a:pPr>
            <a:r>
              <a:rPr lang="en-IN" dirty="0" smtClean="0"/>
              <a:t>Angel investors help entrepreneurs create their business by </a:t>
            </a:r>
            <a:r>
              <a:rPr lang="en-IN" b="1" dirty="0" smtClean="0">
                <a:solidFill>
                  <a:srgbClr val="FF0000"/>
                </a:solidFill>
              </a:rPr>
              <a:t>assisting in funding, office infrastructure, sufficing management with required expertise </a:t>
            </a:r>
            <a:r>
              <a:rPr lang="en-IN" dirty="0" smtClean="0"/>
              <a:t>to assist entrepreneurs in running the business.</a:t>
            </a:r>
          </a:p>
          <a:p>
            <a:pPr algn="just">
              <a:buNone/>
            </a:pPr>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lstStyle/>
          <a:p>
            <a:r>
              <a:rPr lang="en-US" b="1" dirty="0" smtClean="0"/>
              <a:t>Venture capital</a:t>
            </a:r>
            <a:endParaRPr lang="en-US" dirty="0"/>
          </a:p>
        </p:txBody>
      </p:sp>
      <p:sp>
        <p:nvSpPr>
          <p:cNvPr id="3" name="Content Placeholder 2"/>
          <p:cNvSpPr>
            <a:spLocks noGrp="1"/>
          </p:cNvSpPr>
          <p:nvPr>
            <p:ph idx="1"/>
          </p:nvPr>
        </p:nvSpPr>
        <p:spPr>
          <a:xfrm>
            <a:off x="457200" y="1600200"/>
            <a:ext cx="8229600" cy="4525963"/>
          </a:xfrm>
        </p:spPr>
        <p:txBody>
          <a:bodyPr>
            <a:normAutofit/>
          </a:bodyPr>
          <a:lstStyle/>
          <a:p>
            <a:pPr algn="just"/>
            <a:r>
              <a:rPr lang="en-US" dirty="0"/>
              <a:t>F</a:t>
            </a:r>
            <a:r>
              <a:rPr lang="en-US" dirty="0" smtClean="0"/>
              <a:t>unds invested in companies in exchange for equity, which usually have a novel technology or business model in high technology industries, such as biotechnology and IT.</a:t>
            </a:r>
          </a:p>
          <a:p>
            <a:pPr marL="0" indent="0" algn="ctr">
              <a:buNone/>
            </a:pPr>
            <a:r>
              <a:rPr lang="en-US" dirty="0" smtClean="0"/>
              <a:t>Or</a:t>
            </a:r>
          </a:p>
          <a:p>
            <a:pPr algn="just"/>
            <a:r>
              <a:rPr lang="en-US" b="1" dirty="0" smtClean="0"/>
              <a:t>Venture capital</a:t>
            </a:r>
            <a:r>
              <a:rPr lang="en-US" dirty="0" smtClean="0"/>
              <a:t> is money provided by investors to startup firms and small businesses with perceived long-term growth potential.</a:t>
            </a:r>
            <a:endParaRPr lang="en-US" dirty="0"/>
          </a:p>
        </p:txBody>
      </p:sp>
      <p:sp>
        <p:nvSpPr>
          <p:cNvPr id="8194" name="AutoShape 2" descr="https://tctechcrunch2011.files.wordpress.com/2014/02/telegram-rise2-2.gif?w=40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196" name="AutoShape 4" descr="https://tctechcrunch2011.files.wordpress.com/2014/02/telegram-rise2-2.gif?w=40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198" name="AutoShape 6" descr="https://tctechcrunch2011.files.wordpress.com/2014/02/telegram-rise2-2.gif?w=40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200" name="AutoShape 8" descr="https://tctechcrunch2011.files.wordpress.com/2014/02/telegram-rise2-2.gif?w=40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style>
          <a:lnRef idx="1">
            <a:schemeClr val="accent2"/>
          </a:lnRef>
          <a:fillRef idx="2">
            <a:schemeClr val="accent2"/>
          </a:fillRef>
          <a:effectRef idx="1">
            <a:schemeClr val="accent2"/>
          </a:effectRef>
          <a:fontRef idx="minor">
            <a:schemeClr val="dk1"/>
          </a:fontRef>
        </p:style>
        <p:txBody>
          <a:bodyPr/>
          <a:lstStyle/>
          <a:p>
            <a:r>
              <a:rPr lang="en-IN" dirty="0" smtClean="0"/>
              <a:t>Intel capital</a:t>
            </a:r>
            <a:endParaRPr lang="en-IN" dirty="0"/>
          </a:p>
        </p:txBody>
      </p:sp>
      <p:sp>
        <p:nvSpPr>
          <p:cNvPr id="3" name="Content Placeholder 2"/>
          <p:cNvSpPr>
            <a:spLocks noGrp="1"/>
          </p:cNvSpPr>
          <p:nvPr>
            <p:ph idx="1"/>
          </p:nvPr>
        </p:nvSpPr>
        <p:spPr/>
        <p:txBody>
          <a:bodyPr>
            <a:normAutofit fontScale="85000" lnSpcReduction="20000"/>
          </a:bodyPr>
          <a:lstStyle/>
          <a:p>
            <a:pPr algn="just" fontAlgn="base"/>
            <a:r>
              <a:rPr lang="en-IN" dirty="0" smtClean="0">
                <a:latin typeface="Times New Roman" pitchFamily="18" charset="0"/>
                <a:cs typeface="Times New Roman" pitchFamily="18" charset="0"/>
              </a:rPr>
              <a:t>The firm focuses on mergers, acquisitions, and equity investments related to tech </a:t>
            </a:r>
            <a:r>
              <a:rPr lang="en-IN" dirty="0" err="1" smtClean="0">
                <a:latin typeface="Times New Roman" pitchFamily="18" charset="0"/>
                <a:cs typeface="Times New Roman" pitchFamily="18" charset="0"/>
              </a:rPr>
              <a:t>startups</a:t>
            </a:r>
            <a:r>
              <a:rPr lang="en-IN" dirty="0" smtClean="0">
                <a:latin typeface="Times New Roman" pitchFamily="18" charset="0"/>
                <a:cs typeface="Times New Roman" pitchFamily="18" charset="0"/>
              </a:rPr>
              <a:t>. Till date, it has invested $10.7bn in over 1,250 companies in 52 countries.</a:t>
            </a:r>
          </a:p>
          <a:p>
            <a:pPr algn="just" fontAlgn="base"/>
            <a:r>
              <a:rPr lang="en-IN" b="1" dirty="0" smtClean="0">
                <a:latin typeface="Times New Roman" pitchFamily="18" charset="0"/>
                <a:cs typeface="Times New Roman" pitchFamily="18" charset="0"/>
              </a:rPr>
              <a:t>People You Should Know:</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Pradeep</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Tagare</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Bhavanipratap</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Rana</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Amit</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Behl</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Sudheer</a:t>
            </a:r>
            <a:r>
              <a:rPr lang="en-IN" dirty="0" smtClean="0">
                <a:latin typeface="Times New Roman" pitchFamily="18" charset="0"/>
                <a:cs typeface="Times New Roman" pitchFamily="18" charset="0"/>
              </a:rPr>
              <a:t> K </a:t>
            </a:r>
            <a:r>
              <a:rPr lang="en-IN" dirty="0" err="1" smtClean="0">
                <a:latin typeface="Times New Roman" pitchFamily="18" charset="0"/>
                <a:cs typeface="Times New Roman" pitchFamily="18" charset="0"/>
              </a:rPr>
              <a:t>Kuppam</a:t>
            </a:r>
            <a:r>
              <a:rPr lang="en-IN" dirty="0" smtClean="0">
                <a:latin typeface="Times New Roman" pitchFamily="18" charset="0"/>
                <a:cs typeface="Times New Roman" pitchFamily="18" charset="0"/>
              </a:rPr>
              <a:t>.</a:t>
            </a:r>
          </a:p>
          <a:p>
            <a:pPr algn="just" fontAlgn="base"/>
            <a:r>
              <a:rPr lang="en-IN" b="1" dirty="0" smtClean="0">
                <a:latin typeface="Times New Roman" pitchFamily="18" charset="0"/>
                <a:cs typeface="Times New Roman" pitchFamily="18" charset="0"/>
              </a:rPr>
              <a:t>Investment Structure:</a:t>
            </a:r>
            <a:r>
              <a:rPr lang="en-IN" dirty="0" smtClean="0">
                <a:latin typeface="Times New Roman" pitchFamily="18" charset="0"/>
                <a:cs typeface="Times New Roman" pitchFamily="18" charset="0"/>
              </a:rPr>
              <a:t> Invest between $300mn and $500mn per year.</a:t>
            </a:r>
          </a:p>
          <a:p>
            <a:pPr algn="just" fontAlgn="base"/>
            <a:r>
              <a:rPr lang="en-IN" b="1" dirty="0" smtClean="0">
                <a:latin typeface="Times New Roman" pitchFamily="18" charset="0"/>
                <a:cs typeface="Times New Roman" pitchFamily="18" charset="0"/>
              </a:rPr>
              <a:t>Industries:</a:t>
            </a:r>
            <a:r>
              <a:rPr lang="en-IN" dirty="0" smtClean="0">
                <a:latin typeface="Times New Roman" pitchFamily="18" charset="0"/>
                <a:cs typeface="Times New Roman" pitchFamily="18" charset="0"/>
              </a:rPr>
              <a:t> Internet-Digital Media, Manufacturing-Labs, Security, Smart Phones-Tablets, software and Services, </a:t>
            </a:r>
            <a:r>
              <a:rPr lang="en-IN" dirty="0" err="1" smtClean="0">
                <a:latin typeface="Times New Roman" pitchFamily="18" charset="0"/>
                <a:cs typeface="Times New Roman" pitchFamily="18" charset="0"/>
              </a:rPr>
              <a:t>Ultrabook</a:t>
            </a:r>
            <a:r>
              <a:rPr lang="en-IN" dirty="0" smtClean="0">
                <a:latin typeface="Times New Roman" pitchFamily="18" charset="0"/>
                <a:cs typeface="Times New Roman" pitchFamily="18" charset="0"/>
              </a:rPr>
              <a:t>-Perceptual Computing, </a:t>
            </a:r>
            <a:r>
              <a:rPr lang="en-IN" dirty="0" err="1" smtClean="0">
                <a:latin typeface="Times New Roman" pitchFamily="18" charset="0"/>
                <a:cs typeface="Times New Roman" pitchFamily="18" charset="0"/>
              </a:rPr>
              <a:t>Wearables</a:t>
            </a:r>
            <a:endParaRPr lang="en-IN" dirty="0" smtClean="0">
              <a:latin typeface="Times New Roman" pitchFamily="18" charset="0"/>
              <a:cs typeface="Times New Roman" pitchFamily="18" charset="0"/>
            </a:endParaRPr>
          </a:p>
          <a:p>
            <a:pPr algn="just" fontAlgn="base"/>
            <a:r>
              <a:rPr lang="en-IN" b="1" dirty="0" err="1" smtClean="0">
                <a:latin typeface="Times New Roman" pitchFamily="18" charset="0"/>
                <a:cs typeface="Times New Roman" pitchFamily="18" charset="0"/>
              </a:rPr>
              <a:t>Startups</a:t>
            </a:r>
            <a:r>
              <a:rPr lang="en-IN" b="1" dirty="0" smtClean="0">
                <a:latin typeface="Times New Roman" pitchFamily="18" charset="0"/>
                <a:cs typeface="Times New Roman" pitchFamily="18" charset="0"/>
              </a:rPr>
              <a:t> Funded: </a:t>
            </a:r>
            <a:r>
              <a:rPr lang="en-IN" dirty="0" err="1" smtClean="0">
                <a:latin typeface="Times New Roman" pitchFamily="18" charset="0"/>
                <a:cs typeface="Times New Roman" pitchFamily="18" charset="0"/>
              </a:rPr>
              <a:t>Gigya</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Hungama</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Snapdeal</a:t>
            </a:r>
            <a:endParaRPr lang="en-IN" dirty="0" smtClean="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normAutofit/>
          </a:bodyPr>
          <a:lstStyle/>
          <a:p>
            <a:pPr algn="ctr">
              <a:buNone/>
            </a:pPr>
            <a:r>
              <a:rPr lang="en-IN" b="1" dirty="0" smtClean="0"/>
              <a:t>Venture capital </a:t>
            </a:r>
          </a:p>
          <a:p>
            <a:pPr algn="just">
              <a:buFont typeface="Wingdings" pitchFamily="2" charset="2"/>
              <a:buChar char="ü"/>
            </a:pPr>
            <a:r>
              <a:rPr lang="en-IN" dirty="0" smtClean="0"/>
              <a:t>Venture capital is early stage financing of new and young enterprises seeking to grow rapidly. Venture capitalist finances high and new technology based enterprises where the banks or financial institution generally support proven technology with established markets.</a:t>
            </a:r>
          </a:p>
          <a:p>
            <a:pPr algn="just">
              <a:buFont typeface="Wingdings" pitchFamily="2" charset="2"/>
              <a:buChar char="ü"/>
            </a:pPr>
            <a:r>
              <a:rPr lang="en-IN" dirty="0" smtClean="0"/>
              <a:t>Venture capital is also described as unsecured risk financing. Venture capitalist directly purchase equity shares of entrepreneur and participates in the management of entrepreneur business.  </a:t>
            </a:r>
            <a:endParaRPr lang="en-IN"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normAutofit lnSpcReduction="10000"/>
          </a:bodyPr>
          <a:lstStyle/>
          <a:p>
            <a:pPr algn="ctr">
              <a:buNone/>
            </a:pPr>
            <a:r>
              <a:rPr lang="en-IN" b="1" dirty="0" smtClean="0"/>
              <a:t>FEATURES OF VENTURE CAPITAL</a:t>
            </a:r>
          </a:p>
          <a:p>
            <a:pPr algn="just">
              <a:buFont typeface="Wingdings" pitchFamily="2" charset="2"/>
              <a:buChar char="ü"/>
            </a:pPr>
            <a:r>
              <a:rPr lang="en-IN" dirty="0" smtClean="0"/>
              <a:t>Investment by venture capital firms are made in </a:t>
            </a:r>
            <a:r>
              <a:rPr lang="en-IN" b="1" dirty="0" smtClean="0">
                <a:solidFill>
                  <a:srgbClr val="FF0000"/>
                </a:solidFill>
              </a:rPr>
              <a:t>high tech areas using new technology or producing innovative goods </a:t>
            </a:r>
            <a:r>
              <a:rPr lang="en-IN" dirty="0" smtClean="0"/>
              <a:t>by using new technology.</a:t>
            </a:r>
          </a:p>
          <a:p>
            <a:pPr algn="just">
              <a:buFont typeface="Wingdings" pitchFamily="2" charset="2"/>
              <a:buChar char="ü"/>
            </a:pPr>
            <a:r>
              <a:rPr lang="en-IN" dirty="0" smtClean="0"/>
              <a:t>Venture capitalist invest in </a:t>
            </a:r>
            <a:r>
              <a:rPr lang="en-IN" b="1" dirty="0" smtClean="0">
                <a:solidFill>
                  <a:srgbClr val="FF0000"/>
                </a:solidFill>
              </a:rPr>
              <a:t>long term start up costs </a:t>
            </a:r>
            <a:r>
              <a:rPr lang="en-IN" dirty="0" smtClean="0"/>
              <a:t>at high risk, high reward project. </a:t>
            </a:r>
          </a:p>
          <a:p>
            <a:pPr algn="just">
              <a:buFont typeface="Wingdings" pitchFamily="2" charset="2"/>
              <a:buChar char="ü"/>
            </a:pPr>
            <a:r>
              <a:rPr lang="en-IN" b="1" dirty="0" smtClean="0">
                <a:solidFill>
                  <a:srgbClr val="FF0000"/>
                </a:solidFill>
              </a:rPr>
              <a:t>Return period </a:t>
            </a:r>
            <a:r>
              <a:rPr lang="en-IN" dirty="0" smtClean="0"/>
              <a:t>may vary from </a:t>
            </a:r>
            <a:r>
              <a:rPr lang="en-IN" b="1" dirty="0" smtClean="0">
                <a:solidFill>
                  <a:srgbClr val="FF0000"/>
                </a:solidFill>
              </a:rPr>
              <a:t>seven to ten years</a:t>
            </a:r>
            <a:r>
              <a:rPr lang="en-IN" dirty="0" smtClean="0"/>
              <a:t>. Investment of venture capitalist is neither repayable, return is possible only when share of company is sold at market price. </a:t>
            </a:r>
          </a:p>
          <a:p>
            <a:pPr algn="ctr">
              <a:buNone/>
            </a:pPr>
            <a:r>
              <a:rPr lang="en-IN" dirty="0" smtClean="0"/>
              <a:t>  </a:t>
            </a:r>
            <a:endParaRPr lang="en-I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normAutofit/>
          </a:bodyPr>
          <a:lstStyle/>
          <a:p>
            <a:pPr algn="just">
              <a:buFont typeface="Wingdings" pitchFamily="2" charset="2"/>
              <a:buChar char="ü"/>
            </a:pPr>
            <a:r>
              <a:rPr lang="en-IN" dirty="0" smtClean="0"/>
              <a:t>Venture capitalist not only invest in equity shares of company but also p</a:t>
            </a:r>
            <a:r>
              <a:rPr lang="en-IN" b="1" dirty="0" smtClean="0">
                <a:solidFill>
                  <a:srgbClr val="FF0000"/>
                </a:solidFill>
              </a:rPr>
              <a:t>articipate in management affairs </a:t>
            </a:r>
            <a:r>
              <a:rPr lang="en-IN" dirty="0" smtClean="0"/>
              <a:t>of business. </a:t>
            </a:r>
          </a:p>
          <a:p>
            <a:pPr algn="just">
              <a:buFont typeface="Wingdings" pitchFamily="2" charset="2"/>
              <a:buChar char="ü"/>
            </a:pPr>
            <a:r>
              <a:rPr lang="en-IN" dirty="0" smtClean="0"/>
              <a:t>Venture capitalist use their </a:t>
            </a:r>
            <a:r>
              <a:rPr lang="en-IN" b="1" dirty="0" smtClean="0">
                <a:solidFill>
                  <a:srgbClr val="FF0000"/>
                </a:solidFill>
              </a:rPr>
              <a:t>wide contact with the experts in technology and management </a:t>
            </a:r>
            <a:r>
              <a:rPr lang="en-IN" dirty="0" smtClean="0"/>
              <a:t>areas and </a:t>
            </a:r>
            <a:r>
              <a:rPr lang="en-IN" b="1" dirty="0" smtClean="0">
                <a:solidFill>
                  <a:srgbClr val="FF0000"/>
                </a:solidFill>
              </a:rPr>
              <a:t>provide strategic input </a:t>
            </a:r>
            <a:r>
              <a:rPr lang="en-IN" dirty="0" smtClean="0"/>
              <a:t>to entrepreneurial team in order to reduce uncertainties.</a:t>
            </a:r>
          </a:p>
          <a:p>
            <a:pPr algn="just">
              <a:buFont typeface="Wingdings" pitchFamily="2" charset="2"/>
              <a:buChar char="ü"/>
            </a:pPr>
            <a:r>
              <a:rPr lang="en-IN" dirty="0" smtClean="0"/>
              <a:t>Venture capitalist firm </a:t>
            </a:r>
            <a:r>
              <a:rPr lang="en-IN" b="1" dirty="0" smtClean="0">
                <a:solidFill>
                  <a:srgbClr val="FF0000"/>
                </a:solidFill>
              </a:rPr>
              <a:t>encourage, nurture and help the entrepreneur grow </a:t>
            </a:r>
            <a:r>
              <a:rPr lang="en-IN" dirty="0" smtClean="0"/>
              <a:t>because they have limited resources, high level of risk. </a:t>
            </a:r>
            <a:endParaRPr lang="en-I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lstStyle/>
          <a:p>
            <a:pPr algn="just">
              <a:buFont typeface="Wingdings" pitchFamily="2" charset="2"/>
              <a:buChar char="ü"/>
            </a:pPr>
            <a:r>
              <a:rPr lang="en-IN" dirty="0" smtClean="0"/>
              <a:t>Investment by VCF are predominantly made in equity as shares because the dividends can be delayed till the company starts making profit.</a:t>
            </a:r>
          </a:p>
          <a:p>
            <a:pPr algn="just">
              <a:buFont typeface="Wingdings" pitchFamily="2" charset="2"/>
              <a:buChar char="ü"/>
            </a:pPr>
            <a:r>
              <a:rPr lang="en-IN" dirty="0" smtClean="0"/>
              <a:t>VCF act as </a:t>
            </a:r>
            <a:r>
              <a:rPr lang="en-IN" b="1" dirty="0" smtClean="0">
                <a:solidFill>
                  <a:srgbClr val="FF0000"/>
                </a:solidFill>
              </a:rPr>
              <a:t>co partner in in entrepreneur business</a:t>
            </a:r>
            <a:r>
              <a:rPr lang="en-IN" dirty="0" smtClean="0"/>
              <a:t>, share success and failure proportionate to equity investment by venture capitalist. </a:t>
            </a:r>
            <a:endParaRPr lang="en-I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lstStyle/>
          <a:p>
            <a:pPr algn="ctr">
              <a:buNone/>
            </a:pPr>
            <a:r>
              <a:rPr lang="en-IN" b="1" dirty="0" smtClean="0"/>
              <a:t>VENTURE CAPITAL PROCESS</a:t>
            </a:r>
          </a:p>
          <a:p>
            <a:pPr algn="ctr">
              <a:buNone/>
            </a:pPr>
            <a:endParaRPr lang="en-IN" b="1" dirty="0"/>
          </a:p>
        </p:txBody>
      </p:sp>
      <p:graphicFrame>
        <p:nvGraphicFramePr>
          <p:cNvPr id="4" name="Diagram 3"/>
          <p:cNvGraphicFramePr/>
          <p:nvPr/>
        </p:nvGraphicFramePr>
        <p:xfrm>
          <a:off x="251520" y="980728"/>
          <a:ext cx="8712968" cy="54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normAutofit fontScale="92500" lnSpcReduction="10000"/>
          </a:bodyPr>
          <a:lstStyle/>
          <a:p>
            <a:pPr algn="ctr">
              <a:buNone/>
            </a:pPr>
            <a:r>
              <a:rPr lang="en-IN" b="1" dirty="0" smtClean="0"/>
              <a:t>VENTURE CAPITAL PROCESS</a:t>
            </a:r>
          </a:p>
          <a:p>
            <a:pPr algn="just">
              <a:buFont typeface="Wingdings" pitchFamily="2" charset="2"/>
              <a:buChar char="ü"/>
            </a:pPr>
            <a:r>
              <a:rPr lang="en-IN" b="1" dirty="0" smtClean="0"/>
              <a:t>Deal origination </a:t>
            </a:r>
            <a:r>
              <a:rPr lang="en-IN" dirty="0" smtClean="0"/>
              <a:t>: there are various VCF which have originated from India as well as foreign countries. It is essential for venture capital firm to have continuous source of deals in order to survive and grow in market. </a:t>
            </a:r>
          </a:p>
          <a:p>
            <a:pPr algn="just">
              <a:buFont typeface="Wingdings" pitchFamily="2" charset="2"/>
              <a:buChar char="ü"/>
            </a:pPr>
            <a:r>
              <a:rPr lang="en-IN" b="1" dirty="0" smtClean="0"/>
              <a:t>Screening</a:t>
            </a:r>
            <a:r>
              <a:rPr lang="en-IN" dirty="0" smtClean="0"/>
              <a:t> : VC firm carry out initial screening of all the project on the basis of some broad  criteria. VCF usually prefer investing in technology related industry which involves development at large scale. E.g. </a:t>
            </a:r>
            <a:r>
              <a:rPr lang="en-IN" b="1" dirty="0" smtClean="0">
                <a:solidFill>
                  <a:srgbClr val="FF0000"/>
                </a:solidFill>
              </a:rPr>
              <a:t>Software industry, information technology, pharmaceuticals, </a:t>
            </a:r>
            <a:r>
              <a:rPr lang="en-IN" dirty="0" smtClean="0"/>
              <a:t>bio technology, agriculture and allied industries. They ensure success rate of project before investing on the same.   </a:t>
            </a:r>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normAutofit/>
          </a:bodyPr>
          <a:lstStyle/>
          <a:p>
            <a:pPr algn="just">
              <a:buFont typeface="Wingdings" pitchFamily="2" charset="2"/>
              <a:buChar char="ü"/>
            </a:pPr>
            <a:r>
              <a:rPr lang="en-IN" b="1" dirty="0" smtClean="0"/>
              <a:t>Evaluation</a:t>
            </a:r>
            <a:r>
              <a:rPr lang="en-IN" dirty="0" smtClean="0"/>
              <a:t> : as VCF investment is of </a:t>
            </a:r>
            <a:r>
              <a:rPr lang="en-IN" b="1" dirty="0" smtClean="0">
                <a:solidFill>
                  <a:srgbClr val="FF0000"/>
                </a:solidFill>
              </a:rPr>
              <a:t>huge amount </a:t>
            </a:r>
            <a:r>
              <a:rPr lang="en-IN" dirty="0" smtClean="0"/>
              <a:t>and </a:t>
            </a:r>
            <a:r>
              <a:rPr lang="en-IN" b="1" dirty="0" smtClean="0">
                <a:solidFill>
                  <a:srgbClr val="FF0000"/>
                </a:solidFill>
              </a:rPr>
              <a:t>bare high risk</a:t>
            </a:r>
            <a:r>
              <a:rPr lang="en-IN" dirty="0" smtClean="0"/>
              <a:t>, venture capitalist go in for </a:t>
            </a:r>
            <a:r>
              <a:rPr lang="en-IN" b="1" dirty="0" smtClean="0">
                <a:solidFill>
                  <a:srgbClr val="FF0000"/>
                </a:solidFill>
              </a:rPr>
              <a:t>detailed evaluation </a:t>
            </a:r>
            <a:r>
              <a:rPr lang="en-IN" dirty="0" smtClean="0"/>
              <a:t>of business.</a:t>
            </a:r>
          </a:p>
          <a:p>
            <a:pPr algn="just">
              <a:buFont typeface="Wingdings" pitchFamily="2" charset="2"/>
              <a:buChar char="ü"/>
            </a:pPr>
            <a:r>
              <a:rPr lang="en-IN" b="1" dirty="0" smtClean="0"/>
              <a:t>Deal structuring </a:t>
            </a:r>
            <a:r>
              <a:rPr lang="en-IN" dirty="0" smtClean="0"/>
              <a:t>: once the venture capitalist has evaluated the proposal and found it to be viable, then VC and entrepreneur enter  into </a:t>
            </a:r>
            <a:r>
              <a:rPr lang="en-IN" b="1" dirty="0" smtClean="0">
                <a:solidFill>
                  <a:srgbClr val="FF0000"/>
                </a:solidFill>
              </a:rPr>
              <a:t>contract</a:t>
            </a:r>
            <a:r>
              <a:rPr lang="en-IN" dirty="0" smtClean="0"/>
              <a:t> which is known as deal structuring. Which includes details relating to a) VC right to control business b) board members c) right to replace management in case of poor performance d) buyback agreement and acquisition etc.</a:t>
            </a:r>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normAutofit/>
          </a:bodyPr>
          <a:lstStyle/>
          <a:p>
            <a:pPr algn="just">
              <a:buFont typeface="Wingdings" pitchFamily="2" charset="2"/>
              <a:buChar char="ü"/>
            </a:pPr>
            <a:r>
              <a:rPr lang="en-IN" b="1" dirty="0" smtClean="0"/>
              <a:t>Post investment activities </a:t>
            </a:r>
            <a:r>
              <a:rPr lang="en-IN" dirty="0" smtClean="0"/>
              <a:t>: success of VC activity depends on envisaging efficient mechanism from investment and successful </a:t>
            </a:r>
            <a:r>
              <a:rPr lang="en-IN" b="1" dirty="0" smtClean="0"/>
              <a:t>implementation</a:t>
            </a:r>
            <a:r>
              <a:rPr lang="en-IN" dirty="0" smtClean="0"/>
              <a:t> of disinvestment. </a:t>
            </a:r>
          </a:p>
          <a:p>
            <a:pPr algn="just">
              <a:buFont typeface="Arial" pitchFamily="34" charset="0"/>
              <a:buChar char="•"/>
            </a:pPr>
            <a:r>
              <a:rPr lang="en-IN" b="1" dirty="0" smtClean="0"/>
              <a:t>Initial public offer </a:t>
            </a:r>
            <a:r>
              <a:rPr lang="en-IN" dirty="0" smtClean="0"/>
              <a:t>: benefits of disinvestment through IPO results in improved marketability, improved liquidity, better prospectus for capital gains and widely known status of the VC as well as market control through public share participation.</a:t>
            </a:r>
            <a:endParaRPr lang="en-I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lstStyle/>
          <a:p>
            <a:pPr algn="just">
              <a:buFont typeface="Arial" pitchFamily="34" charset="0"/>
              <a:buChar char="•"/>
            </a:pPr>
            <a:r>
              <a:rPr lang="en-IN" b="1" dirty="0" smtClean="0"/>
              <a:t>Promoters buy back </a:t>
            </a:r>
            <a:r>
              <a:rPr lang="en-IN" dirty="0" smtClean="0"/>
              <a:t>: the promoters buy back VC stake at predetermined price and keep the ownership control with him. VC consider it as an exit option only when promoters are in position to mobilise funds for buy back of equity held by the venture investors.</a:t>
            </a:r>
          </a:p>
          <a:p>
            <a:pPr algn="just">
              <a:buFont typeface="Arial" pitchFamily="34" charset="0"/>
              <a:buChar char="•"/>
            </a:pPr>
            <a:r>
              <a:rPr lang="en-IN" b="1" dirty="0" smtClean="0"/>
              <a:t>Trade sale </a:t>
            </a:r>
            <a:r>
              <a:rPr lang="en-IN" dirty="0" smtClean="0"/>
              <a:t>: VC may also disinvest his holdings through offer for sale to public. In this trade sale VC sells his stake to the strategic buyer who already owns a business or has plans to enter target industry.</a:t>
            </a:r>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682168" cy="6059760"/>
          </a:xfrm>
        </p:spPr>
        <p:txBody>
          <a:bodyPr/>
          <a:lstStyle/>
          <a:p>
            <a:pPr algn="just">
              <a:buFont typeface="Wingdings" pitchFamily="2" charset="2"/>
              <a:buChar char="ü"/>
            </a:pPr>
            <a:r>
              <a:rPr lang="en-IN" b="1" dirty="0" smtClean="0"/>
              <a:t>Buy back of equity by company </a:t>
            </a:r>
            <a:r>
              <a:rPr lang="en-IN" dirty="0" smtClean="0"/>
              <a:t>: as per the companies amendment act companies have been allowed to buy back their own equity shares. Even though the VC may not intent to exit through this route, he may consider as the venture has been failed to achieve high growth , below average performance of company. </a:t>
            </a:r>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Venture Capital firms</a:t>
            </a:r>
            <a:endParaRPr lang="en-IN" dirty="0"/>
          </a:p>
        </p:txBody>
      </p:sp>
      <p:sp>
        <p:nvSpPr>
          <p:cNvPr id="3" name="Content Placeholder 2"/>
          <p:cNvSpPr>
            <a:spLocks noGrp="1"/>
          </p:cNvSpPr>
          <p:nvPr>
            <p:ph idx="1"/>
          </p:nvPr>
        </p:nvSpPr>
        <p:spPr/>
        <p:txBody>
          <a:bodyPr/>
          <a:lstStyle/>
          <a:p>
            <a:r>
              <a:rPr lang="en-IN" dirty="0" smtClean="0"/>
              <a:t>The venture capital industry may consist of:  Wealthy individuals. </a:t>
            </a:r>
          </a:p>
          <a:p>
            <a:r>
              <a:rPr lang="en-IN" dirty="0" smtClean="0"/>
              <a:t>Foreign investors. </a:t>
            </a:r>
          </a:p>
          <a:p>
            <a:r>
              <a:rPr lang="en-IN" dirty="0" smtClean="0"/>
              <a:t>Private investment funds</a:t>
            </a:r>
          </a:p>
          <a:p>
            <a:r>
              <a:rPr lang="en-IN" dirty="0" smtClean="0"/>
              <a:t>Pension funds</a:t>
            </a:r>
          </a:p>
          <a:p>
            <a:r>
              <a:rPr lang="en-IN" dirty="0" smtClean="0"/>
              <a:t>Major corporations, e.g. Xerox</a:t>
            </a:r>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62000"/>
          </a:xfrm>
        </p:spPr>
        <p:txBody>
          <a:bodyPr>
            <a:normAutofit/>
          </a:bodyPr>
          <a:lstStyle/>
          <a:p>
            <a:r>
              <a:rPr lang="en-US" sz="3600" b="1" dirty="0" smtClean="0">
                <a:solidFill>
                  <a:srgbClr val="FF0000"/>
                </a:solidFill>
              </a:rPr>
              <a:t>Types of Venture Capital firms</a:t>
            </a:r>
            <a:endParaRPr lang="en-US" sz="3600" dirty="0">
              <a:solidFill>
                <a:srgbClr val="FF0000"/>
              </a:solidFill>
            </a:endParaRPr>
          </a:p>
        </p:txBody>
      </p:sp>
      <p:sp>
        <p:nvSpPr>
          <p:cNvPr id="3" name="Content Placeholder 2"/>
          <p:cNvSpPr>
            <a:spLocks noGrp="1"/>
          </p:cNvSpPr>
          <p:nvPr>
            <p:ph idx="1"/>
          </p:nvPr>
        </p:nvSpPr>
        <p:spPr>
          <a:xfrm>
            <a:off x="228600" y="838200"/>
            <a:ext cx="8686800" cy="6019800"/>
          </a:xfrm>
        </p:spPr>
        <p:txBody>
          <a:bodyPr>
            <a:normAutofit fontScale="92500" lnSpcReduction="10000"/>
          </a:bodyPr>
          <a:lstStyle/>
          <a:p>
            <a:pPr algn="just">
              <a:buNone/>
            </a:pPr>
            <a:r>
              <a:rPr lang="en-US" dirty="0" smtClean="0"/>
              <a:t>I</a:t>
            </a:r>
            <a:r>
              <a:rPr lang="en-US" sz="3000" dirty="0" smtClean="0"/>
              <a:t>. </a:t>
            </a:r>
            <a:r>
              <a:rPr lang="en-US" sz="3000" b="1" dirty="0" smtClean="0"/>
              <a:t>Private Venture Capital firms</a:t>
            </a:r>
            <a:r>
              <a:rPr lang="en-US" sz="3000" dirty="0" smtClean="0"/>
              <a:t>- A type of venture-capital firm having general and limited partners. </a:t>
            </a:r>
          </a:p>
          <a:p>
            <a:pPr algn="just">
              <a:buNone/>
            </a:pPr>
            <a:r>
              <a:rPr lang="en-US" sz="3000" dirty="0" smtClean="0"/>
              <a:t>II. </a:t>
            </a:r>
            <a:r>
              <a:rPr lang="en-US" sz="3000" b="1" dirty="0" smtClean="0"/>
              <a:t>SBIC Firms</a:t>
            </a:r>
            <a:r>
              <a:rPr lang="en-US" sz="3000" dirty="0" smtClean="0"/>
              <a:t>- Small companies with some government money that invest in other companies. </a:t>
            </a:r>
          </a:p>
          <a:p>
            <a:pPr algn="just">
              <a:buNone/>
            </a:pPr>
            <a:r>
              <a:rPr lang="en-US" sz="3000" dirty="0" smtClean="0"/>
              <a:t>III. </a:t>
            </a:r>
            <a:r>
              <a:rPr lang="en-US" sz="3000" b="1" dirty="0" smtClean="0"/>
              <a:t>Industry Sponsored Venture Capital Divisions</a:t>
            </a:r>
            <a:r>
              <a:rPr lang="en-US" sz="3000" dirty="0" smtClean="0"/>
              <a:t>- The Venture Capital divisions of major corporations usually associated with banks and insurance companies. </a:t>
            </a:r>
          </a:p>
          <a:p>
            <a:pPr algn="just">
              <a:buNone/>
            </a:pPr>
            <a:r>
              <a:rPr lang="en-US" sz="3000" dirty="0" smtClean="0"/>
              <a:t>IV. State sponsored venture capital fund- A fund containing state government money that invests primarily in companies in the state.</a:t>
            </a:r>
          </a:p>
          <a:p>
            <a:pPr algn="just">
              <a:buNone/>
            </a:pPr>
            <a:r>
              <a:rPr lang="en-US" sz="3000" dirty="0" smtClean="0"/>
              <a:t>V. </a:t>
            </a:r>
            <a:r>
              <a:rPr lang="en-US" sz="3000" b="1" dirty="0" smtClean="0"/>
              <a:t>University sponsored venture-capital fund</a:t>
            </a:r>
            <a:r>
              <a:rPr lang="en-US" sz="3000" dirty="0" smtClean="0"/>
              <a:t>-There are now university sponsored venture capital funds. These funds are usually managed as separate entities, invest in the technology of the particular industry.</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fontScale="90000"/>
          </a:bodyPr>
          <a:lstStyle/>
          <a:p>
            <a:r>
              <a:rPr lang="en-US" dirty="0" smtClean="0"/>
              <a:t>Sources of Funding for the New Venture</a:t>
            </a:r>
            <a:endParaRPr lang="en-IN" dirty="0"/>
          </a:p>
        </p:txBody>
      </p:sp>
      <p:sp>
        <p:nvSpPr>
          <p:cNvPr id="3" name="Content Placeholder 2"/>
          <p:cNvSpPr>
            <a:spLocks noGrp="1"/>
          </p:cNvSpPr>
          <p:nvPr>
            <p:ph idx="1"/>
          </p:nvPr>
        </p:nvSpPr>
        <p:spPr/>
        <p:txBody>
          <a:bodyPr>
            <a:normAutofit lnSpcReduction="10000"/>
          </a:bodyPr>
          <a:lstStyle/>
          <a:p>
            <a:r>
              <a:rPr lang="en-IN" dirty="0" smtClean="0"/>
              <a:t>Own Finance</a:t>
            </a:r>
          </a:p>
          <a:p>
            <a:r>
              <a:rPr lang="en-US" dirty="0" smtClean="0"/>
              <a:t>Debt or Equity Financing,</a:t>
            </a:r>
          </a:p>
          <a:p>
            <a:r>
              <a:rPr lang="en-IN" dirty="0" smtClean="0"/>
              <a:t> </a:t>
            </a:r>
            <a:r>
              <a:rPr lang="en-US" dirty="0" smtClean="0"/>
              <a:t>Business Angels,</a:t>
            </a:r>
          </a:p>
          <a:p>
            <a:r>
              <a:rPr lang="en-US" dirty="0" smtClean="0"/>
              <a:t> Venture Capital, </a:t>
            </a:r>
          </a:p>
          <a:p>
            <a:r>
              <a:rPr lang="en-US" dirty="0" smtClean="0"/>
              <a:t>Initial Public Offering, </a:t>
            </a:r>
          </a:p>
          <a:p>
            <a:r>
              <a:rPr lang="en-US" dirty="0" smtClean="0"/>
              <a:t>Commercial Banks,</a:t>
            </a:r>
          </a:p>
          <a:p>
            <a:r>
              <a:rPr lang="en-US" dirty="0" smtClean="0"/>
              <a:t> Other Sources of Debt Financing,</a:t>
            </a:r>
          </a:p>
          <a:p>
            <a:r>
              <a:rPr lang="en-US" dirty="0" smtClean="0"/>
              <a:t> Leasing.</a:t>
            </a:r>
            <a:endParaRPr lang="en-I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Initial Public Offering (IPO</a:t>
            </a:r>
            <a:endParaRPr lang="en-IN" dirty="0"/>
          </a:p>
        </p:txBody>
      </p:sp>
      <p:sp>
        <p:nvSpPr>
          <p:cNvPr id="3" name="Content Placeholder 2"/>
          <p:cNvSpPr>
            <a:spLocks noGrp="1"/>
          </p:cNvSpPr>
          <p:nvPr>
            <p:ph idx="1"/>
          </p:nvPr>
        </p:nvSpPr>
        <p:spPr/>
        <p:txBody>
          <a:bodyPr/>
          <a:lstStyle/>
          <a:p>
            <a:pPr algn="just"/>
            <a:r>
              <a:rPr lang="en-IN" dirty="0" smtClean="0"/>
              <a:t>An initial public offering (IPO) refers to the process of offering shares of a private corporation to the public in a new stock issuance for the first time. </a:t>
            </a:r>
          </a:p>
          <a:p>
            <a:pPr algn="just"/>
            <a:r>
              <a:rPr lang="en-IN" dirty="0" smtClean="0"/>
              <a:t>An IPO allows a company to raise equity capital from public investors.</a:t>
            </a:r>
            <a:endParaRPr lang="en-I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style>
          <a:lnRef idx="1">
            <a:schemeClr val="accent3"/>
          </a:lnRef>
          <a:fillRef idx="2">
            <a:schemeClr val="accent3"/>
          </a:fillRef>
          <a:effectRef idx="1">
            <a:schemeClr val="accent3"/>
          </a:effectRef>
          <a:fontRef idx="minor">
            <a:schemeClr val="dk1"/>
          </a:fontRef>
        </p:style>
        <p:txBody>
          <a:bodyPr anchor="t">
            <a:normAutofit fontScale="90000"/>
          </a:bodyPr>
          <a:lstStyle/>
          <a:p>
            <a:r>
              <a:rPr lang="en-IN" b="1" dirty="0" smtClean="0"/>
              <a:t>IPO Process</a:t>
            </a:r>
            <a:br>
              <a:rPr lang="en-IN" b="1" dirty="0" smtClean="0"/>
            </a:br>
            <a:endParaRPr lang="en-IN" dirty="0"/>
          </a:p>
        </p:txBody>
      </p:sp>
      <p:sp>
        <p:nvSpPr>
          <p:cNvPr id="3" name="Content Placeholder 2"/>
          <p:cNvSpPr>
            <a:spLocks noGrp="1"/>
          </p:cNvSpPr>
          <p:nvPr>
            <p:ph idx="1"/>
          </p:nvPr>
        </p:nvSpPr>
        <p:spPr/>
        <p:txBody>
          <a:bodyPr>
            <a:normAutofit/>
          </a:bodyPr>
          <a:lstStyle/>
          <a:p>
            <a:r>
              <a:rPr lang="en-IN" dirty="0"/>
              <a:t>E</a:t>
            </a:r>
            <a:r>
              <a:rPr lang="en-IN" dirty="0" smtClean="0"/>
              <a:t>ssentially consists of two parts. </a:t>
            </a:r>
          </a:p>
          <a:p>
            <a:r>
              <a:rPr lang="en-IN" dirty="0" smtClean="0"/>
              <a:t>The first is the pre-marketing phase of the offering, </a:t>
            </a:r>
          </a:p>
          <a:p>
            <a:r>
              <a:rPr lang="en-IN" dirty="0" smtClean="0"/>
              <a:t> Second is the initial public offering itself. </a:t>
            </a:r>
          </a:p>
          <a:p>
            <a:r>
              <a:rPr lang="en-IN" dirty="0" smtClean="0"/>
              <a:t>When a company is interested in an IPO, it will advertise to underwriters by soliciting private bids or it can also make a public statement to generate interest.</a:t>
            </a:r>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lstStyle/>
          <a:p>
            <a:r>
              <a:rPr lang="en-IN" b="1" dirty="0" smtClean="0"/>
              <a:t>IPO Process</a:t>
            </a:r>
            <a:endParaRPr lang="en-IN" dirty="0"/>
          </a:p>
        </p:txBody>
      </p:sp>
      <p:sp>
        <p:nvSpPr>
          <p:cNvPr id="3" name="Content Placeholder 2"/>
          <p:cNvSpPr>
            <a:spLocks noGrp="1"/>
          </p:cNvSpPr>
          <p:nvPr>
            <p:ph idx="1"/>
          </p:nvPr>
        </p:nvSpPr>
        <p:spPr/>
        <p:txBody>
          <a:bodyPr>
            <a:normAutofit fontScale="85000" lnSpcReduction="20000"/>
          </a:bodyPr>
          <a:lstStyle/>
          <a:p>
            <a:pPr lvl="0" algn="just"/>
            <a:r>
              <a:rPr lang="en-IN" b="1" dirty="0" smtClean="0"/>
              <a:t>Proposals. </a:t>
            </a:r>
            <a:r>
              <a:rPr lang="en-IN" dirty="0" smtClean="0"/>
              <a:t>Underwriters present proposals and valuations discussing their services, the best type of security to issue, offering price, amount of shares, and estimated time frame for the market offering.</a:t>
            </a:r>
          </a:p>
          <a:p>
            <a:pPr lvl="0" algn="just"/>
            <a:r>
              <a:rPr lang="en-IN" b="1" dirty="0" smtClean="0"/>
              <a:t>Underwriter. </a:t>
            </a:r>
            <a:r>
              <a:rPr lang="en-IN" dirty="0" smtClean="0"/>
              <a:t>The company chooses its underwriters and formally agrees to underwrite terms through an underwriting agreement.</a:t>
            </a:r>
          </a:p>
          <a:p>
            <a:pPr lvl="0" algn="just"/>
            <a:r>
              <a:rPr lang="en-IN" b="1" dirty="0" smtClean="0"/>
              <a:t>Team. </a:t>
            </a:r>
            <a:r>
              <a:rPr lang="en-IN" dirty="0" smtClean="0"/>
              <a:t>IPO teams are formed comprising of underwriters, lawyers, certified public accountants (CPAs), and Securities and Exchange Commission (SEC) experts.</a:t>
            </a:r>
          </a:p>
          <a:p>
            <a:pPr algn="just"/>
            <a:endParaRPr lang="en-I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582594"/>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IN" b="1" dirty="0" smtClean="0"/>
              <a:t>IPO Process</a:t>
            </a:r>
            <a:endParaRPr lang="en-IN" dirty="0"/>
          </a:p>
        </p:txBody>
      </p:sp>
      <p:sp>
        <p:nvSpPr>
          <p:cNvPr id="3" name="Content Placeholder 2"/>
          <p:cNvSpPr>
            <a:spLocks noGrp="1"/>
          </p:cNvSpPr>
          <p:nvPr>
            <p:ph idx="1"/>
          </p:nvPr>
        </p:nvSpPr>
        <p:spPr>
          <a:xfrm>
            <a:off x="457200" y="928670"/>
            <a:ext cx="8229600" cy="5715040"/>
          </a:xfrm>
        </p:spPr>
        <p:txBody>
          <a:bodyPr>
            <a:normAutofit/>
          </a:bodyPr>
          <a:lstStyle/>
          <a:p>
            <a:pPr algn="just"/>
            <a:r>
              <a:rPr lang="en-IN" b="1" dirty="0" smtClean="0"/>
              <a:t>Documentation. </a:t>
            </a:r>
            <a:r>
              <a:rPr lang="en-IN" dirty="0" smtClean="0"/>
              <a:t>Information regarding the company is compiled for required IPO documentation. The S-1 Registration Statement is the primary IPO filing document. </a:t>
            </a:r>
          </a:p>
          <a:p>
            <a:pPr algn="just"/>
            <a:r>
              <a:rPr lang="en-IN" dirty="0" smtClean="0"/>
              <a:t>It has two parts—the prospectus and the privately held filing information.1 The S-1 includes preliminary information about the expected date of the filing.2 It will be revised often throughout the pre-IPO process. The included prospectus is also revised continuously.</a:t>
            </a:r>
          </a:p>
          <a:p>
            <a:endParaRPr lang="en-IN"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IPO Process</a:t>
            </a:r>
            <a:endParaRPr lang="en-IN" dirty="0"/>
          </a:p>
        </p:txBody>
      </p:sp>
      <p:sp>
        <p:nvSpPr>
          <p:cNvPr id="3" name="Content Placeholder 2"/>
          <p:cNvSpPr>
            <a:spLocks noGrp="1"/>
          </p:cNvSpPr>
          <p:nvPr>
            <p:ph idx="1"/>
          </p:nvPr>
        </p:nvSpPr>
        <p:spPr/>
        <p:txBody>
          <a:bodyPr>
            <a:normAutofit fontScale="85000" lnSpcReduction="20000"/>
          </a:bodyPr>
          <a:lstStyle/>
          <a:p>
            <a:pPr lvl="0" algn="just"/>
            <a:r>
              <a:rPr lang="en-IN" b="1" dirty="0" smtClean="0"/>
              <a:t>Marketing &amp; Updates. </a:t>
            </a:r>
            <a:r>
              <a:rPr lang="en-IN" dirty="0" smtClean="0"/>
              <a:t>Marketing materials are created for pre-marketing of the new stock issuance. </a:t>
            </a:r>
          </a:p>
          <a:p>
            <a:pPr lvl="0" algn="just"/>
            <a:r>
              <a:rPr lang="en-IN" dirty="0" smtClean="0"/>
              <a:t>Underwriters and executives market the share issuance to estimate demand and establish a final offering price. </a:t>
            </a:r>
          </a:p>
          <a:p>
            <a:pPr lvl="0" algn="just"/>
            <a:r>
              <a:rPr lang="en-IN" dirty="0" smtClean="0"/>
              <a:t>Underwriters can make revisions to their financial analysis throughout the marketing process. </a:t>
            </a:r>
          </a:p>
          <a:p>
            <a:pPr lvl="0" algn="just"/>
            <a:r>
              <a:rPr lang="en-IN" dirty="0" smtClean="0"/>
              <a:t>This can include changing the IPO price or issuance date as they see fit. Companies take the necessary steps to meet specific public share offering requirements. Companies must adhere to both exchange listing requirements and SEC requirements for public companies.</a:t>
            </a:r>
          </a:p>
          <a:p>
            <a:endParaRPr lang="en-I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725470"/>
          </a:xfrm>
        </p:spPr>
        <p:txBody>
          <a:bodyPr>
            <a:normAutofit fontScale="90000"/>
          </a:bodyPr>
          <a:lstStyle/>
          <a:p>
            <a:r>
              <a:rPr lang="en-IN" b="1" dirty="0" smtClean="0"/>
              <a:t>IPO Process</a:t>
            </a:r>
            <a:endParaRPr lang="en-IN" dirty="0"/>
          </a:p>
        </p:txBody>
      </p:sp>
      <p:sp>
        <p:nvSpPr>
          <p:cNvPr id="3" name="Content Placeholder 2"/>
          <p:cNvSpPr>
            <a:spLocks noGrp="1"/>
          </p:cNvSpPr>
          <p:nvPr>
            <p:ph idx="1"/>
          </p:nvPr>
        </p:nvSpPr>
        <p:spPr>
          <a:xfrm>
            <a:off x="457200" y="1071546"/>
            <a:ext cx="8229600" cy="5572164"/>
          </a:xfrm>
        </p:spPr>
        <p:txBody>
          <a:bodyPr>
            <a:normAutofit fontScale="85000" lnSpcReduction="20000"/>
          </a:bodyPr>
          <a:lstStyle/>
          <a:p>
            <a:pPr lvl="0" algn="just"/>
            <a:r>
              <a:rPr lang="en-IN" b="1" dirty="0" smtClean="0"/>
              <a:t>Board &amp; Processes. </a:t>
            </a:r>
            <a:r>
              <a:rPr lang="en-IN" dirty="0" smtClean="0"/>
              <a:t>Form a board of directors and ensure processes for reporting auditable financial and accounting information every quarter.</a:t>
            </a:r>
          </a:p>
          <a:p>
            <a:pPr lvl="0" algn="just"/>
            <a:r>
              <a:rPr lang="en-IN" b="1" dirty="0" smtClean="0"/>
              <a:t>Shares Issued. </a:t>
            </a:r>
            <a:r>
              <a:rPr lang="en-IN" dirty="0" smtClean="0"/>
              <a:t>The company issues its shares on an IPO date. Capital from the primary issuance to shareholders is received as cash and recorded as stockholders' equity on the balance sheet. Subsequently, the balance sheet share value becomes dependent on the company’s stockholders' equity per share valuation comprehensively.</a:t>
            </a:r>
          </a:p>
          <a:p>
            <a:pPr lvl="0" algn="just"/>
            <a:r>
              <a:rPr lang="en-IN" b="1" dirty="0" smtClean="0"/>
              <a:t>Post IPO. </a:t>
            </a:r>
            <a:r>
              <a:rPr lang="en-IN" dirty="0" smtClean="0"/>
              <a:t>Some post-IPO provisions may be instituted. Underwriters may have a specified time frame to buy an additional amount of shares after the initial public offering (IPO) date. Meanwhile, certain investors may be subject to quiet periods.</a:t>
            </a:r>
          </a:p>
          <a:p>
            <a:endParaRPr lang="en-I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r>
              <a:rPr lang="en-US" dirty="0" smtClean="0"/>
              <a:t>Leasing</a:t>
            </a:r>
            <a:endParaRPr lang="en-IN" dirty="0"/>
          </a:p>
        </p:txBody>
      </p:sp>
      <p:sp>
        <p:nvSpPr>
          <p:cNvPr id="3" name="Content Placeholder 2"/>
          <p:cNvSpPr>
            <a:spLocks noGrp="1"/>
          </p:cNvSpPr>
          <p:nvPr>
            <p:ph idx="1"/>
          </p:nvPr>
        </p:nvSpPr>
        <p:spPr/>
        <p:txBody>
          <a:bodyPr>
            <a:normAutofit/>
          </a:bodyPr>
          <a:lstStyle/>
          <a:p>
            <a:pPr algn="just"/>
            <a:r>
              <a:rPr lang="en-IN" dirty="0" smtClean="0"/>
              <a:t>A lease is a contract outlining the terms under which one party agrees to rent an asset—in this case, property—owned by another party. </a:t>
            </a:r>
            <a:endParaRPr lang="en-IN" smtClean="0"/>
          </a:p>
          <a:p>
            <a:pPr algn="just"/>
            <a:r>
              <a:rPr lang="en-IN" smtClean="0"/>
              <a:t>It </a:t>
            </a:r>
            <a:r>
              <a:rPr lang="en-IN" dirty="0" smtClean="0"/>
              <a:t>guarantees the lessee, also known as the tenant, use of the property and guarantees the </a:t>
            </a:r>
            <a:r>
              <a:rPr lang="en-IN" dirty="0" err="1" smtClean="0"/>
              <a:t>lessor</a:t>
            </a:r>
            <a:r>
              <a:rPr lang="en-IN" dirty="0" smtClean="0"/>
              <a:t> (the property owner or landlord) regular payments for a specified period in exchange. </a:t>
            </a:r>
            <a:endParaRPr lang="en-I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style>
          <a:lnRef idx="1">
            <a:schemeClr val="accent3"/>
          </a:lnRef>
          <a:fillRef idx="2">
            <a:schemeClr val="accent3"/>
          </a:fillRef>
          <a:effectRef idx="1">
            <a:schemeClr val="accent3"/>
          </a:effectRef>
          <a:fontRef idx="minor">
            <a:schemeClr val="dk1"/>
          </a:fontRef>
        </p:style>
        <p:txBody>
          <a:bodyPr/>
          <a:lstStyle/>
          <a:p>
            <a:r>
              <a:rPr lang="en-US" dirty="0" smtClean="0"/>
              <a:t>Leasing</a:t>
            </a:r>
            <a:endParaRPr lang="en-IN" dirty="0"/>
          </a:p>
        </p:txBody>
      </p:sp>
      <p:sp>
        <p:nvSpPr>
          <p:cNvPr id="3" name="Content Placeholder 2"/>
          <p:cNvSpPr>
            <a:spLocks noGrp="1"/>
          </p:cNvSpPr>
          <p:nvPr>
            <p:ph idx="1"/>
          </p:nvPr>
        </p:nvSpPr>
        <p:spPr>
          <a:xfrm>
            <a:off x="457200" y="1285860"/>
            <a:ext cx="8229600" cy="5572140"/>
          </a:xfrm>
        </p:spPr>
        <p:txBody>
          <a:bodyPr>
            <a:normAutofit/>
          </a:bodyPr>
          <a:lstStyle/>
          <a:p>
            <a:pPr algn="just"/>
            <a:r>
              <a:rPr lang="en-IN" sz="2800" dirty="0" smtClean="0"/>
              <a:t>A lease is a legal, binding contract outlining the terms under which one party agrees to rent property owned by another party.</a:t>
            </a:r>
          </a:p>
          <a:p>
            <a:pPr algn="just"/>
            <a:r>
              <a:rPr lang="en-IN" sz="2800" dirty="0" smtClean="0"/>
              <a:t>It guarantees the tenant or lessee use of the property and guarantees the property owner or landlord regular payments for a specified period in exchange. </a:t>
            </a:r>
          </a:p>
          <a:p>
            <a:pPr algn="just"/>
            <a:r>
              <a:rPr lang="en-IN" sz="2800" dirty="0" smtClean="0"/>
              <a:t>Residential leases tend to be the same for all tenants, but there are several different types of commercial leases.</a:t>
            </a:r>
            <a:endParaRPr lang="en-IN"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Both the lessee and the </a:t>
            </a:r>
            <a:r>
              <a:rPr lang="en-IN" dirty="0" err="1" smtClean="0"/>
              <a:t>lessor</a:t>
            </a:r>
            <a:r>
              <a:rPr lang="en-IN" dirty="0" smtClean="0"/>
              <a:t> face consequences if they fail to uphold the terms of the contract. A lease is a form of incorporeal right.</a:t>
            </a: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lstStyle/>
          <a:p>
            <a:r>
              <a:rPr lang="en-US" dirty="0" smtClean="0"/>
              <a:t>Leasing</a:t>
            </a:r>
            <a:endParaRPr lang="en-IN" dirty="0"/>
          </a:p>
        </p:txBody>
      </p:sp>
      <p:sp>
        <p:nvSpPr>
          <p:cNvPr id="3" name="Content Placeholder 2"/>
          <p:cNvSpPr>
            <a:spLocks noGrp="1"/>
          </p:cNvSpPr>
          <p:nvPr>
            <p:ph idx="1"/>
          </p:nvPr>
        </p:nvSpPr>
        <p:spPr/>
        <p:txBody>
          <a:bodyPr/>
          <a:lstStyle/>
          <a:p>
            <a:pPr algn="just"/>
            <a:r>
              <a:rPr lang="en-IN" dirty="0" smtClean="0"/>
              <a:t>Consequences for breaking leases range from mild to damaging, depending on the circumstances under which they are broken.</a:t>
            </a:r>
          </a:p>
          <a:p>
            <a:pPr algn="just"/>
            <a:r>
              <a:rPr lang="en-IN" dirty="0" smtClean="0"/>
              <a:t>Certain protected groups are able to vacate their leases without any consequences, for which some form of proof is usually required.</a:t>
            </a:r>
          </a:p>
          <a:p>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52600" y="1144115"/>
            <a:ext cx="5401056" cy="3141372"/>
          </a:xfrm>
          <a:prstGeom prst="rect">
            <a:avLst/>
          </a:prstGeom>
        </p:spPr>
      </p:pic>
      <p:sp>
        <p:nvSpPr>
          <p:cNvPr id="3" name="object 3"/>
          <p:cNvSpPr txBox="1">
            <a:spLocks noGrp="1"/>
          </p:cNvSpPr>
          <p:nvPr>
            <p:ph type="title"/>
          </p:nvPr>
        </p:nvSpPr>
        <p:spPr>
          <a:xfrm>
            <a:off x="144881" y="186944"/>
            <a:ext cx="8850630" cy="696595"/>
          </a:xfrm>
          <a:prstGeom prst="rect">
            <a:avLst/>
          </a:prstGeom>
        </p:spPr>
        <p:txBody>
          <a:bodyPr vert="horz" wrap="square" lIns="0" tIns="12700" rIns="0" bIns="0" rtlCol="0">
            <a:spAutoFit/>
          </a:bodyPr>
          <a:lstStyle/>
          <a:p>
            <a:pPr marL="12700">
              <a:lnSpc>
                <a:spcPct val="100000"/>
              </a:lnSpc>
              <a:spcBef>
                <a:spcPts val="100"/>
              </a:spcBef>
            </a:pPr>
            <a:r>
              <a:rPr spc="-90" dirty="0"/>
              <a:t>WHAT</a:t>
            </a:r>
            <a:r>
              <a:rPr spc="-45" dirty="0"/>
              <a:t> </a:t>
            </a:r>
            <a:r>
              <a:rPr dirty="0"/>
              <a:t>IS</a:t>
            </a:r>
            <a:r>
              <a:rPr spc="-10" dirty="0"/>
              <a:t> </a:t>
            </a:r>
            <a:r>
              <a:rPr dirty="0"/>
              <a:t>A</a:t>
            </a:r>
            <a:r>
              <a:rPr spc="-10" dirty="0"/>
              <a:t> </a:t>
            </a:r>
            <a:r>
              <a:rPr spc="-5" dirty="0"/>
              <a:t>BUSINESS</a:t>
            </a:r>
            <a:r>
              <a:rPr spc="-25" dirty="0"/>
              <a:t> </a:t>
            </a:r>
            <a:r>
              <a:rPr spc="-40" dirty="0"/>
              <a:t>ORGANISATION?</a:t>
            </a:r>
          </a:p>
        </p:txBody>
      </p:sp>
      <p:sp>
        <p:nvSpPr>
          <p:cNvPr id="4" name="object 4"/>
          <p:cNvSpPr txBox="1"/>
          <p:nvPr/>
        </p:nvSpPr>
        <p:spPr>
          <a:xfrm>
            <a:off x="657859" y="4427601"/>
            <a:ext cx="8267700" cy="2075180"/>
          </a:xfrm>
          <a:prstGeom prst="rect">
            <a:avLst/>
          </a:prstGeom>
        </p:spPr>
        <p:txBody>
          <a:bodyPr vert="horz" wrap="square" lIns="0" tIns="12700" rIns="0" bIns="0" rtlCol="0">
            <a:spAutoFit/>
          </a:bodyPr>
          <a:lstStyle/>
          <a:p>
            <a:pPr marL="81280" marR="5080" indent="-68580">
              <a:lnSpc>
                <a:spcPct val="100000"/>
              </a:lnSpc>
              <a:spcBef>
                <a:spcPts val="100"/>
              </a:spcBef>
            </a:pPr>
            <a:r>
              <a:rPr sz="3200" b="1" spc="-5" dirty="0">
                <a:latin typeface="Calibri"/>
                <a:cs typeface="Calibri"/>
              </a:rPr>
              <a:t>The </a:t>
            </a:r>
            <a:r>
              <a:rPr sz="3200" b="1" spc="-10" dirty="0">
                <a:latin typeface="Calibri"/>
                <a:cs typeface="Calibri"/>
              </a:rPr>
              <a:t>term </a:t>
            </a:r>
            <a:r>
              <a:rPr sz="3200" b="1" spc="-5" dirty="0">
                <a:latin typeface="Calibri"/>
                <a:cs typeface="Calibri"/>
              </a:rPr>
              <a:t>"business </a:t>
            </a:r>
            <a:r>
              <a:rPr sz="3200" b="1" spc="-10" dirty="0">
                <a:latin typeface="Calibri"/>
                <a:cs typeface="Calibri"/>
              </a:rPr>
              <a:t>organization" </a:t>
            </a:r>
            <a:r>
              <a:rPr sz="3200" b="1" spc="-30" dirty="0">
                <a:latin typeface="Calibri"/>
                <a:cs typeface="Calibri"/>
              </a:rPr>
              <a:t>refers </a:t>
            </a:r>
            <a:r>
              <a:rPr sz="3200" b="1" spc="-20" dirty="0">
                <a:latin typeface="Calibri"/>
                <a:cs typeface="Calibri"/>
              </a:rPr>
              <a:t>to </a:t>
            </a:r>
            <a:r>
              <a:rPr sz="3200" b="1" spc="-5" dirty="0">
                <a:latin typeface="Calibri"/>
                <a:cs typeface="Calibri"/>
              </a:rPr>
              <a:t>how </a:t>
            </a:r>
            <a:r>
              <a:rPr sz="3200" b="1" dirty="0">
                <a:latin typeface="Calibri"/>
                <a:cs typeface="Calibri"/>
              </a:rPr>
              <a:t>a </a:t>
            </a:r>
            <a:r>
              <a:rPr sz="3200" b="1" spc="-710" dirty="0">
                <a:latin typeface="Calibri"/>
                <a:cs typeface="Calibri"/>
              </a:rPr>
              <a:t> </a:t>
            </a:r>
            <a:r>
              <a:rPr sz="3200" b="1" dirty="0">
                <a:latin typeface="Calibri"/>
                <a:cs typeface="Calibri"/>
              </a:rPr>
              <a:t>business</a:t>
            </a:r>
            <a:r>
              <a:rPr sz="3200" b="1" spc="-50" dirty="0">
                <a:latin typeface="Calibri"/>
                <a:cs typeface="Calibri"/>
              </a:rPr>
              <a:t> </a:t>
            </a:r>
            <a:r>
              <a:rPr sz="3200" b="1" dirty="0">
                <a:latin typeface="Calibri"/>
                <a:cs typeface="Calibri"/>
              </a:rPr>
              <a:t>is </a:t>
            </a:r>
            <a:r>
              <a:rPr sz="3200" b="1" spc="-10" dirty="0">
                <a:latin typeface="Calibri"/>
                <a:cs typeface="Calibri"/>
              </a:rPr>
              <a:t>structured.</a:t>
            </a:r>
            <a:endParaRPr sz="3200">
              <a:latin typeface="Calibri"/>
              <a:cs typeface="Calibri"/>
            </a:endParaRPr>
          </a:p>
          <a:p>
            <a:pPr marL="81280" marR="82550" indent="24130">
              <a:lnSpc>
                <a:spcPct val="100000"/>
              </a:lnSpc>
              <a:spcBef>
                <a:spcPts val="775"/>
              </a:spcBef>
            </a:pPr>
            <a:r>
              <a:rPr sz="3200" b="1" dirty="0">
                <a:latin typeface="Calibri"/>
                <a:cs typeface="Calibri"/>
              </a:rPr>
              <a:t>It </a:t>
            </a:r>
            <a:r>
              <a:rPr sz="3200" b="1" spc="-30" dirty="0">
                <a:latin typeface="Calibri"/>
                <a:cs typeface="Calibri"/>
              </a:rPr>
              <a:t>refers </a:t>
            </a:r>
            <a:r>
              <a:rPr sz="3200" b="1" spc="-15" dirty="0">
                <a:latin typeface="Calibri"/>
                <a:cs typeface="Calibri"/>
              </a:rPr>
              <a:t>to </a:t>
            </a:r>
            <a:r>
              <a:rPr sz="3200" b="1" dirty="0">
                <a:latin typeface="Calibri"/>
                <a:cs typeface="Calibri"/>
              </a:rPr>
              <a:t>a </a:t>
            </a:r>
            <a:r>
              <a:rPr sz="3200" b="1" spc="-10" dirty="0">
                <a:latin typeface="Calibri"/>
                <a:cs typeface="Calibri"/>
              </a:rPr>
              <a:t>commercial </a:t>
            </a:r>
            <a:r>
              <a:rPr sz="3200" b="1" dirty="0">
                <a:latin typeface="Calibri"/>
                <a:cs typeface="Calibri"/>
              </a:rPr>
              <a:t>or </a:t>
            </a:r>
            <a:r>
              <a:rPr sz="3200" b="1" spc="-5" dirty="0">
                <a:latin typeface="Calibri"/>
                <a:cs typeface="Calibri"/>
              </a:rPr>
              <a:t>industrial </a:t>
            </a:r>
            <a:r>
              <a:rPr sz="3200" b="1" spc="-10" dirty="0">
                <a:latin typeface="Calibri"/>
                <a:cs typeface="Calibri"/>
              </a:rPr>
              <a:t>enterprise </a:t>
            </a:r>
            <a:r>
              <a:rPr sz="3200" b="1" spc="-710" dirty="0">
                <a:latin typeface="Calibri"/>
                <a:cs typeface="Calibri"/>
              </a:rPr>
              <a:t> </a:t>
            </a:r>
            <a:r>
              <a:rPr sz="3200" b="1" dirty="0">
                <a:latin typeface="Calibri"/>
                <a:cs typeface="Calibri"/>
              </a:rPr>
              <a:t>and</a:t>
            </a:r>
            <a:r>
              <a:rPr sz="3200" b="1" spc="-40" dirty="0">
                <a:latin typeface="Calibri"/>
                <a:cs typeface="Calibri"/>
              </a:rPr>
              <a:t> </a:t>
            </a:r>
            <a:r>
              <a:rPr sz="3200" b="1" dirty="0">
                <a:latin typeface="Calibri"/>
                <a:cs typeface="Calibri"/>
              </a:rPr>
              <a:t>the </a:t>
            </a:r>
            <a:r>
              <a:rPr sz="3200" b="1" spc="-5" dirty="0">
                <a:latin typeface="Calibri"/>
                <a:cs typeface="Calibri"/>
              </a:rPr>
              <a:t>people who</a:t>
            </a:r>
            <a:r>
              <a:rPr sz="3200" b="1" dirty="0">
                <a:latin typeface="Calibri"/>
                <a:cs typeface="Calibri"/>
              </a:rPr>
              <a:t> </a:t>
            </a:r>
            <a:r>
              <a:rPr sz="3200" b="1" spc="-10" dirty="0">
                <a:latin typeface="Calibri"/>
                <a:cs typeface="Calibri"/>
              </a:rPr>
              <a:t>constitute</a:t>
            </a:r>
            <a:r>
              <a:rPr sz="3200" b="1" spc="-30" dirty="0">
                <a:latin typeface="Calibri"/>
                <a:cs typeface="Calibri"/>
              </a:rPr>
              <a:t> </a:t>
            </a:r>
            <a:r>
              <a:rPr sz="3200" b="1" spc="5" dirty="0">
                <a:latin typeface="Calibri"/>
                <a:cs typeface="Calibri"/>
              </a:rPr>
              <a:t>it.</a:t>
            </a:r>
            <a:endParaRPr sz="3200">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4638"/>
            <a:ext cx="8472518" cy="566822"/>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12700" rIns="0" bIns="0" rtlCol="0">
            <a:spAutoFit/>
          </a:bodyPr>
          <a:lstStyle/>
          <a:p>
            <a:pPr marL="2345690" marR="5080" indent="-353695" algn="l">
              <a:lnSpc>
                <a:spcPct val="100000"/>
              </a:lnSpc>
              <a:spcBef>
                <a:spcPts val="100"/>
              </a:spcBef>
            </a:pPr>
            <a:r>
              <a:rPr lang="en-IN" sz="3600" spc="-15" dirty="0" smtClean="0">
                <a:latin typeface="Times New Roman" pitchFamily="18" charset="0"/>
                <a:cs typeface="Times New Roman" pitchFamily="18" charset="0"/>
              </a:rPr>
              <a:t>Types</a:t>
            </a:r>
            <a:r>
              <a:rPr lang="en-IN" sz="3600" spc="-40" dirty="0" smtClean="0">
                <a:latin typeface="Times New Roman" pitchFamily="18" charset="0"/>
                <a:cs typeface="Times New Roman" pitchFamily="18" charset="0"/>
              </a:rPr>
              <a:t> </a:t>
            </a:r>
            <a:r>
              <a:rPr lang="en-IN" sz="3600" spc="-5" dirty="0" smtClean="0">
                <a:latin typeface="Times New Roman" pitchFamily="18" charset="0"/>
                <a:cs typeface="Times New Roman" pitchFamily="18" charset="0"/>
              </a:rPr>
              <a:t>Of</a:t>
            </a:r>
            <a:r>
              <a:rPr lang="en-IN" sz="3600" spc="-40" dirty="0" smtClean="0">
                <a:latin typeface="Times New Roman" pitchFamily="18" charset="0"/>
                <a:cs typeface="Times New Roman" pitchFamily="18" charset="0"/>
              </a:rPr>
              <a:t> </a:t>
            </a:r>
            <a:r>
              <a:rPr lang="en-IN" sz="3600" spc="-10" dirty="0" smtClean="0">
                <a:latin typeface="Times New Roman" pitchFamily="18" charset="0"/>
                <a:cs typeface="Times New Roman" pitchFamily="18" charset="0"/>
              </a:rPr>
              <a:t>Business </a:t>
            </a:r>
            <a:r>
              <a:rPr lang="en-IN" sz="3600" spc="-1070" dirty="0" smtClean="0">
                <a:latin typeface="Times New Roman" pitchFamily="18" charset="0"/>
                <a:cs typeface="Times New Roman" pitchFamily="18" charset="0"/>
              </a:rPr>
              <a:t> </a:t>
            </a:r>
            <a:r>
              <a:rPr lang="en-IN" sz="3600" spc="-45" dirty="0" smtClean="0">
                <a:latin typeface="Times New Roman" pitchFamily="18" charset="0"/>
                <a:cs typeface="Times New Roman" pitchFamily="18" charset="0"/>
              </a:rPr>
              <a:t>Organisations</a:t>
            </a:r>
            <a:endParaRPr lang="en-IN" sz="3600" dirty="0">
              <a:latin typeface="Times New Roman" pitchFamily="18" charset="0"/>
              <a:cs typeface="Times New Roman" pitchFamily="18" charset="0"/>
            </a:endParaRPr>
          </a:p>
        </p:txBody>
      </p:sp>
      <p:sp>
        <p:nvSpPr>
          <p:cNvPr id="3" name="object 3"/>
          <p:cNvSpPr txBox="1">
            <a:spLocks noGrp="1"/>
          </p:cNvSpPr>
          <p:nvPr>
            <p:ph type="body" idx="1"/>
          </p:nvPr>
        </p:nvSpPr>
        <p:spPr>
          <a:xfrm>
            <a:off x="357158" y="1142984"/>
            <a:ext cx="8229600" cy="3720121"/>
          </a:xfrm>
          <a:prstGeom prst="rect">
            <a:avLst/>
          </a:prstGeom>
        </p:spPr>
        <p:txBody>
          <a:bodyPr vert="horz" wrap="square" lIns="0" tIns="122555" rIns="0" bIns="0" rtlCol="0">
            <a:spAutoFit/>
          </a:bodyPr>
          <a:lstStyle/>
          <a:p>
            <a:pPr marL="355600" indent="-342900">
              <a:lnSpc>
                <a:spcPct val="100000"/>
              </a:lnSpc>
              <a:spcBef>
                <a:spcPts val="965"/>
              </a:spcBef>
              <a:buFont typeface="Arial MT"/>
              <a:buChar char="•"/>
              <a:tabLst>
                <a:tab pos="355600" algn="l"/>
              </a:tabLst>
            </a:pPr>
            <a:r>
              <a:rPr dirty="0"/>
              <a:t>S</a:t>
            </a:r>
            <a:r>
              <a:rPr dirty="0">
                <a:latin typeface="Times New Roman" pitchFamily="18" charset="0"/>
                <a:cs typeface="Times New Roman" pitchFamily="18" charset="0"/>
              </a:rPr>
              <a:t>ole</a:t>
            </a:r>
            <a:r>
              <a:rPr spc="-25" dirty="0">
                <a:latin typeface="Times New Roman" pitchFamily="18" charset="0"/>
                <a:cs typeface="Times New Roman" pitchFamily="18" charset="0"/>
              </a:rPr>
              <a:t> </a:t>
            </a:r>
            <a:r>
              <a:rPr spc="-15" dirty="0">
                <a:latin typeface="Times New Roman" pitchFamily="18" charset="0"/>
                <a:cs typeface="Times New Roman" pitchFamily="18" charset="0"/>
              </a:rPr>
              <a:t>Proprietorship</a:t>
            </a:r>
          </a:p>
          <a:p>
            <a:pPr marL="355600" indent="-342900">
              <a:lnSpc>
                <a:spcPct val="100000"/>
              </a:lnSpc>
              <a:spcBef>
                <a:spcPts val="865"/>
              </a:spcBef>
              <a:buFont typeface="Arial MT"/>
              <a:buChar char="•"/>
              <a:tabLst>
                <a:tab pos="355600" algn="l"/>
              </a:tabLst>
            </a:pPr>
            <a:r>
              <a:rPr spc="-15" dirty="0">
                <a:latin typeface="Times New Roman" pitchFamily="18" charset="0"/>
                <a:cs typeface="Times New Roman" pitchFamily="18" charset="0"/>
              </a:rPr>
              <a:t>Joint</a:t>
            </a:r>
            <a:r>
              <a:rPr spc="-25" dirty="0">
                <a:latin typeface="Times New Roman" pitchFamily="18" charset="0"/>
                <a:cs typeface="Times New Roman" pitchFamily="18" charset="0"/>
              </a:rPr>
              <a:t> </a:t>
            </a:r>
            <a:r>
              <a:rPr dirty="0">
                <a:latin typeface="Times New Roman" pitchFamily="18" charset="0"/>
                <a:cs typeface="Times New Roman" pitchFamily="18" charset="0"/>
              </a:rPr>
              <a:t>Hindu</a:t>
            </a:r>
            <a:r>
              <a:rPr spc="-10" dirty="0">
                <a:latin typeface="Times New Roman" pitchFamily="18" charset="0"/>
                <a:cs typeface="Times New Roman" pitchFamily="18" charset="0"/>
              </a:rPr>
              <a:t> </a:t>
            </a:r>
            <a:r>
              <a:rPr spc="-15" dirty="0">
                <a:latin typeface="Times New Roman" pitchFamily="18" charset="0"/>
                <a:cs typeface="Times New Roman" pitchFamily="18" charset="0"/>
              </a:rPr>
              <a:t>Family</a:t>
            </a:r>
            <a:r>
              <a:rPr spc="-45" dirty="0">
                <a:latin typeface="Times New Roman" pitchFamily="18" charset="0"/>
                <a:cs typeface="Times New Roman" pitchFamily="18" charset="0"/>
              </a:rPr>
              <a:t> </a:t>
            </a:r>
            <a:r>
              <a:rPr dirty="0">
                <a:latin typeface="Times New Roman" pitchFamily="18" charset="0"/>
                <a:cs typeface="Times New Roman" pitchFamily="18" charset="0"/>
              </a:rPr>
              <a:t>Business</a:t>
            </a:r>
          </a:p>
          <a:p>
            <a:pPr marL="355600" indent="-342900">
              <a:lnSpc>
                <a:spcPct val="100000"/>
              </a:lnSpc>
              <a:spcBef>
                <a:spcPts val="865"/>
              </a:spcBef>
              <a:buFont typeface="Arial MT"/>
              <a:buChar char="•"/>
              <a:tabLst>
                <a:tab pos="355600" algn="l"/>
              </a:tabLst>
            </a:pPr>
            <a:r>
              <a:rPr spc="-10" dirty="0">
                <a:latin typeface="Times New Roman" pitchFamily="18" charset="0"/>
                <a:cs typeface="Times New Roman" pitchFamily="18" charset="0"/>
              </a:rPr>
              <a:t>Partnership</a:t>
            </a:r>
            <a:r>
              <a:rPr spc="-60" dirty="0">
                <a:latin typeface="Times New Roman" pitchFamily="18" charset="0"/>
                <a:cs typeface="Times New Roman" pitchFamily="18" charset="0"/>
              </a:rPr>
              <a:t> </a:t>
            </a:r>
            <a:r>
              <a:rPr dirty="0">
                <a:latin typeface="Times New Roman" pitchFamily="18" charset="0"/>
                <a:cs typeface="Times New Roman" pitchFamily="18" charset="0"/>
              </a:rPr>
              <a:t>Firm</a:t>
            </a:r>
          </a:p>
          <a:p>
            <a:pPr marL="355600" marR="1310640" indent="-355600">
              <a:lnSpc>
                <a:spcPct val="120000"/>
              </a:lnSpc>
              <a:buFont typeface="Arial MT"/>
              <a:buChar char="•"/>
              <a:tabLst>
                <a:tab pos="355600" algn="l"/>
              </a:tabLst>
            </a:pPr>
            <a:r>
              <a:rPr spc="-15" dirty="0">
                <a:latin typeface="Times New Roman" pitchFamily="18" charset="0"/>
                <a:cs typeface="Times New Roman" pitchFamily="18" charset="0"/>
              </a:rPr>
              <a:t>Joint </a:t>
            </a:r>
            <a:r>
              <a:rPr spc="-10" dirty="0">
                <a:latin typeface="Times New Roman" pitchFamily="18" charset="0"/>
                <a:cs typeface="Times New Roman" pitchFamily="18" charset="0"/>
              </a:rPr>
              <a:t>Stock </a:t>
            </a:r>
            <a:r>
              <a:rPr spc="-15" dirty="0">
                <a:latin typeface="Times New Roman" pitchFamily="18" charset="0"/>
                <a:cs typeface="Times New Roman" pitchFamily="18" charset="0"/>
              </a:rPr>
              <a:t>Company </a:t>
            </a:r>
            <a:r>
              <a:rPr spc="-800" dirty="0">
                <a:latin typeface="Times New Roman" pitchFamily="18" charset="0"/>
                <a:cs typeface="Times New Roman" pitchFamily="18" charset="0"/>
              </a:rPr>
              <a:t> </a:t>
            </a:r>
            <a:r>
              <a:rPr dirty="0">
                <a:latin typeface="Times New Roman" pitchFamily="18" charset="0"/>
                <a:cs typeface="Times New Roman" pitchFamily="18" charset="0"/>
              </a:rPr>
              <a:t>1.) </a:t>
            </a:r>
            <a:r>
              <a:rPr spc="-20" dirty="0">
                <a:latin typeface="Times New Roman" pitchFamily="18" charset="0"/>
                <a:cs typeface="Times New Roman" pitchFamily="18" charset="0"/>
              </a:rPr>
              <a:t>Private </a:t>
            </a:r>
            <a:r>
              <a:rPr spc="-10" dirty="0">
                <a:latin typeface="Times New Roman" pitchFamily="18" charset="0"/>
                <a:cs typeface="Times New Roman" pitchFamily="18" charset="0"/>
              </a:rPr>
              <a:t>Limited </a:t>
            </a:r>
            <a:r>
              <a:rPr spc="-5" dirty="0">
                <a:latin typeface="Times New Roman" pitchFamily="18" charset="0"/>
                <a:cs typeface="Times New Roman" pitchFamily="18" charset="0"/>
              </a:rPr>
              <a:t> </a:t>
            </a:r>
            <a:r>
              <a:rPr dirty="0">
                <a:latin typeface="Times New Roman" pitchFamily="18" charset="0"/>
                <a:cs typeface="Times New Roman" pitchFamily="18" charset="0"/>
              </a:rPr>
              <a:t>2.)</a:t>
            </a:r>
            <a:r>
              <a:rPr spc="-10" dirty="0">
                <a:latin typeface="Times New Roman" pitchFamily="18" charset="0"/>
                <a:cs typeface="Times New Roman" pitchFamily="18" charset="0"/>
              </a:rPr>
              <a:t> </a:t>
            </a:r>
            <a:r>
              <a:rPr spc="-5" dirty="0">
                <a:latin typeface="Times New Roman" pitchFamily="18" charset="0"/>
                <a:cs typeface="Times New Roman" pitchFamily="18" charset="0"/>
              </a:rPr>
              <a:t>Public</a:t>
            </a:r>
            <a:r>
              <a:rPr spc="-15" dirty="0">
                <a:latin typeface="Times New Roman" pitchFamily="18" charset="0"/>
                <a:cs typeface="Times New Roman" pitchFamily="18" charset="0"/>
              </a:rPr>
              <a:t> </a:t>
            </a:r>
            <a:r>
              <a:rPr spc="-10" dirty="0">
                <a:latin typeface="Times New Roman" pitchFamily="18" charset="0"/>
                <a:cs typeface="Times New Roman" pitchFamily="18" charset="0"/>
              </a:rPr>
              <a:t>Limited</a:t>
            </a:r>
          </a:p>
          <a:p>
            <a:pPr marL="355600" indent="-342900">
              <a:lnSpc>
                <a:spcPct val="100000"/>
              </a:lnSpc>
              <a:spcBef>
                <a:spcPts val="865"/>
              </a:spcBef>
              <a:buFont typeface="Arial MT"/>
              <a:buChar char="•"/>
              <a:tabLst>
                <a:tab pos="355600" algn="l"/>
              </a:tabLst>
            </a:pPr>
            <a:r>
              <a:rPr spc="-15" dirty="0">
                <a:latin typeface="Times New Roman" pitchFamily="18" charset="0"/>
                <a:cs typeface="Times New Roman" pitchFamily="18" charset="0"/>
              </a:rPr>
              <a:t>Co-operative</a:t>
            </a:r>
            <a:r>
              <a:rPr spc="-30" dirty="0">
                <a:latin typeface="Times New Roman" pitchFamily="18" charset="0"/>
                <a:cs typeface="Times New Roman" pitchFamily="18" charset="0"/>
              </a:rPr>
              <a:t> </a:t>
            </a:r>
            <a:r>
              <a:rPr spc="-10" dirty="0">
                <a:latin typeface="Times New Roman" pitchFamily="18" charset="0"/>
                <a:cs typeface="Times New Roman" pitchFamily="18" charset="0"/>
              </a:rPr>
              <a:t>Society</a:t>
            </a:r>
          </a:p>
        </p:txBody>
      </p:sp>
      <p:pic>
        <p:nvPicPr>
          <p:cNvPr id="4" name="object 4"/>
          <p:cNvPicPr/>
          <p:nvPr/>
        </p:nvPicPr>
        <p:blipFill>
          <a:blip r:embed="rId2" cstate="print"/>
          <a:stretch>
            <a:fillRect/>
          </a:stretch>
        </p:blipFill>
        <p:spPr>
          <a:xfrm>
            <a:off x="5072066" y="4214818"/>
            <a:ext cx="3720084" cy="24860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49500" y="1765300"/>
            <a:ext cx="6794499" cy="5092697"/>
          </a:xfrm>
          <a:prstGeom prst="rect">
            <a:avLst/>
          </a:prstGeom>
        </p:spPr>
      </p:pic>
      <p:sp>
        <p:nvSpPr>
          <p:cNvPr id="3" name="object 3"/>
          <p:cNvSpPr txBox="1">
            <a:spLocks noGrp="1"/>
          </p:cNvSpPr>
          <p:nvPr>
            <p:ph type="title"/>
          </p:nvPr>
        </p:nvSpPr>
        <p:spPr>
          <a:xfrm>
            <a:off x="163169" y="107696"/>
            <a:ext cx="8815705" cy="63500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12065" rIns="0" bIns="0" rtlCol="0">
            <a:spAutoFit/>
          </a:bodyPr>
          <a:lstStyle/>
          <a:p>
            <a:pPr marL="12700">
              <a:lnSpc>
                <a:spcPct val="100000"/>
              </a:lnSpc>
              <a:spcBef>
                <a:spcPts val="95"/>
              </a:spcBef>
            </a:pPr>
            <a:r>
              <a:rPr sz="4000" spc="-10" dirty="0">
                <a:latin typeface="Times New Roman" pitchFamily="18" charset="0"/>
                <a:cs typeface="Times New Roman" pitchFamily="18" charset="0"/>
              </a:rPr>
              <a:t>Choosing</a:t>
            </a:r>
            <a:r>
              <a:rPr sz="4000" dirty="0">
                <a:latin typeface="Times New Roman" pitchFamily="18" charset="0"/>
                <a:cs typeface="Times New Roman" pitchFamily="18" charset="0"/>
              </a:rPr>
              <a:t> </a:t>
            </a:r>
            <a:r>
              <a:rPr sz="4000" spc="-5" dirty="0">
                <a:latin typeface="Times New Roman" pitchFamily="18" charset="0"/>
                <a:cs typeface="Times New Roman" pitchFamily="18" charset="0"/>
              </a:rPr>
              <a:t>a</a:t>
            </a:r>
            <a:r>
              <a:rPr sz="4000" spc="5" dirty="0">
                <a:latin typeface="Times New Roman" pitchFamily="18" charset="0"/>
                <a:cs typeface="Times New Roman" pitchFamily="18" charset="0"/>
              </a:rPr>
              <a:t> </a:t>
            </a:r>
            <a:r>
              <a:rPr sz="4000" spc="-20" dirty="0">
                <a:latin typeface="Times New Roman" pitchFamily="18" charset="0"/>
                <a:cs typeface="Times New Roman" pitchFamily="18" charset="0"/>
              </a:rPr>
              <a:t>Form</a:t>
            </a:r>
            <a:r>
              <a:rPr sz="4000" spc="5" dirty="0">
                <a:latin typeface="Times New Roman" pitchFamily="18" charset="0"/>
                <a:cs typeface="Times New Roman" pitchFamily="18" charset="0"/>
              </a:rPr>
              <a:t> </a:t>
            </a:r>
            <a:r>
              <a:rPr sz="4000" spc="-5" dirty="0">
                <a:latin typeface="Times New Roman" pitchFamily="18" charset="0"/>
                <a:cs typeface="Times New Roman" pitchFamily="18" charset="0"/>
              </a:rPr>
              <a:t>of</a:t>
            </a:r>
            <a:r>
              <a:rPr sz="4000" spc="5" dirty="0">
                <a:latin typeface="Times New Roman" pitchFamily="18" charset="0"/>
                <a:cs typeface="Times New Roman" pitchFamily="18" charset="0"/>
              </a:rPr>
              <a:t> </a:t>
            </a:r>
            <a:r>
              <a:rPr sz="4000" spc="-5" dirty="0">
                <a:latin typeface="Times New Roman" pitchFamily="18" charset="0"/>
                <a:cs typeface="Times New Roman" pitchFamily="18" charset="0"/>
              </a:rPr>
              <a:t>Business</a:t>
            </a:r>
            <a:r>
              <a:rPr sz="4000" spc="30" dirty="0">
                <a:latin typeface="Times New Roman" pitchFamily="18" charset="0"/>
                <a:cs typeface="Times New Roman" pitchFamily="18" charset="0"/>
              </a:rPr>
              <a:t> </a:t>
            </a:r>
            <a:r>
              <a:rPr sz="4000" spc="-20" dirty="0">
                <a:latin typeface="Times New Roman" pitchFamily="18" charset="0"/>
                <a:cs typeface="Times New Roman" pitchFamily="18" charset="0"/>
              </a:rPr>
              <a:t>Organisation</a:t>
            </a:r>
            <a:endParaRPr sz="4000">
              <a:latin typeface="Times New Roman" pitchFamily="18" charset="0"/>
              <a:cs typeface="Times New Roman" pitchFamily="18" charset="0"/>
            </a:endParaRPr>
          </a:p>
        </p:txBody>
      </p:sp>
      <p:sp>
        <p:nvSpPr>
          <p:cNvPr id="4" name="object 4"/>
          <p:cNvSpPr txBox="1"/>
          <p:nvPr/>
        </p:nvSpPr>
        <p:spPr>
          <a:xfrm>
            <a:off x="78739" y="845565"/>
            <a:ext cx="8679815" cy="3636010"/>
          </a:xfrm>
          <a:prstGeom prst="rect">
            <a:avLst/>
          </a:prstGeom>
        </p:spPr>
        <p:txBody>
          <a:bodyPr vert="horz" wrap="square" lIns="0" tIns="13335" rIns="0" bIns="0" rtlCol="0">
            <a:spAutoFit/>
          </a:bodyPr>
          <a:lstStyle/>
          <a:p>
            <a:pPr marL="355600" marR="8255" indent="-342900">
              <a:lnSpc>
                <a:spcPct val="100000"/>
              </a:lnSpc>
              <a:spcBef>
                <a:spcPts val="105"/>
              </a:spcBef>
            </a:pPr>
            <a:r>
              <a:rPr sz="3200" b="1" spc="-5" dirty="0">
                <a:latin typeface="Calibri"/>
                <a:cs typeface="Calibri"/>
              </a:rPr>
              <a:t>The choice </a:t>
            </a:r>
            <a:r>
              <a:rPr sz="3200" b="1" dirty="0">
                <a:latin typeface="Calibri"/>
                <a:cs typeface="Calibri"/>
              </a:rPr>
              <a:t>of the </a:t>
            </a:r>
            <a:r>
              <a:rPr sz="3200" b="1" spc="-15" dirty="0">
                <a:latin typeface="Calibri"/>
                <a:cs typeface="Calibri"/>
              </a:rPr>
              <a:t>form </a:t>
            </a:r>
            <a:r>
              <a:rPr sz="3200" b="1" dirty="0">
                <a:latin typeface="Calibri"/>
                <a:cs typeface="Calibri"/>
              </a:rPr>
              <a:t>of business is </a:t>
            </a:r>
            <a:r>
              <a:rPr sz="3200" b="1" spc="-10" dirty="0">
                <a:latin typeface="Calibri"/>
                <a:cs typeface="Calibri"/>
              </a:rPr>
              <a:t>governed by </a:t>
            </a:r>
            <a:r>
              <a:rPr sz="3200" b="1" spc="-5" dirty="0">
                <a:latin typeface="Calibri"/>
                <a:cs typeface="Calibri"/>
              </a:rPr>
              <a:t> </a:t>
            </a:r>
            <a:r>
              <a:rPr sz="3200" b="1" spc="-20" dirty="0">
                <a:latin typeface="Calibri"/>
                <a:cs typeface="Calibri"/>
              </a:rPr>
              <a:t>several</a:t>
            </a:r>
            <a:r>
              <a:rPr sz="3200" b="1" spc="-35" dirty="0">
                <a:latin typeface="Calibri"/>
                <a:cs typeface="Calibri"/>
              </a:rPr>
              <a:t> </a:t>
            </a:r>
            <a:r>
              <a:rPr sz="3200" b="1" spc="-15" dirty="0">
                <a:latin typeface="Calibri"/>
                <a:cs typeface="Calibri"/>
              </a:rPr>
              <a:t>interrelated</a:t>
            </a:r>
            <a:r>
              <a:rPr sz="3200" b="1" spc="-35" dirty="0">
                <a:latin typeface="Calibri"/>
                <a:cs typeface="Calibri"/>
              </a:rPr>
              <a:t> </a:t>
            </a:r>
            <a:r>
              <a:rPr sz="3200" b="1" dirty="0">
                <a:latin typeface="Calibri"/>
                <a:cs typeface="Calibri"/>
              </a:rPr>
              <a:t>and</a:t>
            </a:r>
            <a:r>
              <a:rPr sz="3200" b="1" spc="-15" dirty="0">
                <a:latin typeface="Calibri"/>
                <a:cs typeface="Calibri"/>
              </a:rPr>
              <a:t> interdependent</a:t>
            </a:r>
            <a:r>
              <a:rPr sz="3200" b="1" spc="-35" dirty="0">
                <a:latin typeface="Calibri"/>
                <a:cs typeface="Calibri"/>
              </a:rPr>
              <a:t> </a:t>
            </a:r>
            <a:r>
              <a:rPr sz="3200" b="1" spc="-15" dirty="0">
                <a:latin typeface="Calibri"/>
                <a:cs typeface="Calibri"/>
              </a:rPr>
              <a:t>factors</a:t>
            </a:r>
            <a:r>
              <a:rPr sz="3200" b="1" spc="-20" dirty="0">
                <a:latin typeface="Calibri"/>
                <a:cs typeface="Calibri"/>
              </a:rPr>
              <a:t> </a:t>
            </a:r>
            <a:r>
              <a:rPr sz="3200" b="1" spc="5" dirty="0">
                <a:latin typeface="Calibri"/>
                <a:cs typeface="Calibri"/>
              </a:rPr>
              <a:t>:-</a:t>
            </a:r>
            <a:endParaRPr sz="3200">
              <a:latin typeface="Calibri"/>
              <a:cs typeface="Calibri"/>
            </a:endParaRPr>
          </a:p>
          <a:p>
            <a:pPr marL="355600" marR="758825" indent="-342900">
              <a:lnSpc>
                <a:spcPct val="100000"/>
              </a:lnSpc>
              <a:spcBef>
                <a:spcPts val="765"/>
              </a:spcBef>
              <a:buFont typeface="Arial MT"/>
              <a:buChar char="•"/>
              <a:tabLst>
                <a:tab pos="354965" algn="l"/>
                <a:tab pos="355600" algn="l"/>
              </a:tabLst>
            </a:pPr>
            <a:r>
              <a:rPr sz="3200" b="1" spc="-5" dirty="0">
                <a:latin typeface="Calibri"/>
                <a:cs typeface="Calibri"/>
              </a:rPr>
              <a:t>The</a:t>
            </a:r>
            <a:r>
              <a:rPr sz="3200" b="1" spc="-20" dirty="0">
                <a:latin typeface="Calibri"/>
                <a:cs typeface="Calibri"/>
              </a:rPr>
              <a:t> </a:t>
            </a:r>
            <a:r>
              <a:rPr sz="3200" b="1" spc="-10" dirty="0">
                <a:latin typeface="Calibri"/>
                <a:cs typeface="Calibri"/>
              </a:rPr>
              <a:t>nature</a:t>
            </a:r>
            <a:r>
              <a:rPr sz="3200" b="1" spc="-40" dirty="0">
                <a:latin typeface="Calibri"/>
                <a:cs typeface="Calibri"/>
              </a:rPr>
              <a:t> </a:t>
            </a:r>
            <a:r>
              <a:rPr sz="3200" b="1" dirty="0">
                <a:latin typeface="Calibri"/>
                <a:cs typeface="Calibri"/>
              </a:rPr>
              <a:t>of</a:t>
            </a:r>
            <a:r>
              <a:rPr sz="3200" b="1" spc="-5" dirty="0">
                <a:latin typeface="Calibri"/>
                <a:cs typeface="Calibri"/>
              </a:rPr>
              <a:t> </a:t>
            </a:r>
            <a:r>
              <a:rPr sz="3200" b="1" dirty="0">
                <a:latin typeface="Calibri"/>
                <a:cs typeface="Calibri"/>
              </a:rPr>
              <a:t>business</a:t>
            </a:r>
            <a:r>
              <a:rPr sz="3200" b="1" spc="-40" dirty="0">
                <a:latin typeface="Calibri"/>
                <a:cs typeface="Calibri"/>
              </a:rPr>
              <a:t> </a:t>
            </a:r>
            <a:r>
              <a:rPr sz="3200" b="1" dirty="0">
                <a:latin typeface="Calibri"/>
                <a:cs typeface="Calibri"/>
              </a:rPr>
              <a:t>is</a:t>
            </a:r>
            <a:r>
              <a:rPr sz="3200" b="1" spc="-5" dirty="0">
                <a:latin typeface="Calibri"/>
                <a:cs typeface="Calibri"/>
              </a:rPr>
              <a:t> </a:t>
            </a:r>
            <a:r>
              <a:rPr sz="3200" b="1" dirty="0">
                <a:latin typeface="Calibri"/>
                <a:cs typeface="Calibri"/>
              </a:rPr>
              <a:t>the</a:t>
            </a:r>
            <a:r>
              <a:rPr sz="3200" b="1" spc="-15" dirty="0">
                <a:latin typeface="Calibri"/>
                <a:cs typeface="Calibri"/>
              </a:rPr>
              <a:t> </a:t>
            </a:r>
            <a:r>
              <a:rPr sz="3200" b="1" spc="-10" dirty="0">
                <a:latin typeface="Calibri"/>
                <a:cs typeface="Calibri"/>
              </a:rPr>
              <a:t>most</a:t>
            </a:r>
            <a:r>
              <a:rPr sz="3200" b="1" spc="-25" dirty="0">
                <a:latin typeface="Calibri"/>
                <a:cs typeface="Calibri"/>
              </a:rPr>
              <a:t> </a:t>
            </a:r>
            <a:r>
              <a:rPr sz="3200" b="1" spc="-5" dirty="0">
                <a:latin typeface="Calibri"/>
                <a:cs typeface="Calibri"/>
              </a:rPr>
              <a:t>important </a:t>
            </a:r>
            <a:r>
              <a:rPr sz="3200" b="1" spc="-705" dirty="0">
                <a:latin typeface="Calibri"/>
                <a:cs typeface="Calibri"/>
              </a:rPr>
              <a:t> </a:t>
            </a:r>
            <a:r>
              <a:rPr sz="3200" b="1" spc="-15" dirty="0">
                <a:latin typeface="Calibri"/>
                <a:cs typeface="Calibri"/>
              </a:rPr>
              <a:t>factor</a:t>
            </a:r>
            <a:endParaRPr sz="3200">
              <a:latin typeface="Calibri"/>
              <a:cs typeface="Calibri"/>
            </a:endParaRPr>
          </a:p>
          <a:p>
            <a:pPr marL="355600" marR="5080" indent="-342900">
              <a:lnSpc>
                <a:spcPct val="100000"/>
              </a:lnSpc>
              <a:spcBef>
                <a:spcPts val="770"/>
              </a:spcBef>
              <a:buFont typeface="Arial MT"/>
              <a:buChar char="•"/>
              <a:tabLst>
                <a:tab pos="354965" algn="l"/>
                <a:tab pos="355600" algn="l"/>
              </a:tabLst>
            </a:pPr>
            <a:r>
              <a:rPr sz="3200" b="1" spc="-5" dirty="0">
                <a:latin typeface="Calibri"/>
                <a:cs typeface="Calibri"/>
              </a:rPr>
              <a:t>Scale</a:t>
            </a:r>
            <a:r>
              <a:rPr sz="3200" b="1" spc="10" dirty="0">
                <a:latin typeface="Calibri"/>
                <a:cs typeface="Calibri"/>
              </a:rPr>
              <a:t> </a:t>
            </a:r>
            <a:r>
              <a:rPr sz="3200" b="1" dirty="0">
                <a:latin typeface="Calibri"/>
                <a:cs typeface="Calibri"/>
              </a:rPr>
              <a:t>of</a:t>
            </a:r>
            <a:r>
              <a:rPr sz="3200" b="1" spc="25" dirty="0">
                <a:latin typeface="Calibri"/>
                <a:cs typeface="Calibri"/>
              </a:rPr>
              <a:t> </a:t>
            </a:r>
            <a:r>
              <a:rPr sz="3200" b="1" spc="-10" dirty="0">
                <a:latin typeface="Calibri"/>
                <a:cs typeface="Calibri"/>
              </a:rPr>
              <a:t>operations</a:t>
            </a:r>
            <a:r>
              <a:rPr sz="3200" b="1" spc="-15" dirty="0">
                <a:latin typeface="Calibri"/>
                <a:cs typeface="Calibri"/>
              </a:rPr>
              <a:t> </a:t>
            </a:r>
            <a:r>
              <a:rPr sz="3200" b="1" dirty="0">
                <a:latin typeface="Calibri"/>
                <a:cs typeface="Calibri"/>
              </a:rPr>
              <a:t>i.e.</a:t>
            </a:r>
            <a:r>
              <a:rPr sz="3200" b="1" spc="15" dirty="0">
                <a:latin typeface="Calibri"/>
                <a:cs typeface="Calibri"/>
              </a:rPr>
              <a:t> </a:t>
            </a:r>
            <a:r>
              <a:rPr sz="3200" b="1" spc="-5" dirty="0">
                <a:latin typeface="Calibri"/>
                <a:cs typeface="Calibri"/>
              </a:rPr>
              <a:t>volume</a:t>
            </a:r>
            <a:r>
              <a:rPr sz="3200" b="1" spc="10" dirty="0">
                <a:latin typeface="Calibri"/>
                <a:cs typeface="Calibri"/>
              </a:rPr>
              <a:t> </a:t>
            </a:r>
            <a:r>
              <a:rPr sz="3200" b="1" dirty="0">
                <a:latin typeface="Calibri"/>
                <a:cs typeface="Calibri"/>
              </a:rPr>
              <a:t>of</a:t>
            </a:r>
            <a:r>
              <a:rPr sz="3200" b="1" spc="25" dirty="0">
                <a:latin typeface="Calibri"/>
                <a:cs typeface="Calibri"/>
              </a:rPr>
              <a:t> </a:t>
            </a:r>
            <a:r>
              <a:rPr sz="3200" b="1" dirty="0">
                <a:latin typeface="Calibri"/>
                <a:cs typeface="Calibri"/>
              </a:rPr>
              <a:t>business</a:t>
            </a:r>
            <a:r>
              <a:rPr sz="3200" b="1" spc="-10" dirty="0">
                <a:latin typeface="Calibri"/>
                <a:cs typeface="Calibri"/>
              </a:rPr>
              <a:t> </a:t>
            </a:r>
            <a:r>
              <a:rPr sz="3200" b="1" dirty="0">
                <a:latin typeface="Calibri"/>
                <a:cs typeface="Calibri"/>
              </a:rPr>
              <a:t>( </a:t>
            </a:r>
            <a:r>
              <a:rPr sz="3200" b="1" spc="5" dirty="0">
                <a:latin typeface="Calibri"/>
                <a:cs typeface="Calibri"/>
              </a:rPr>
              <a:t> </a:t>
            </a:r>
            <a:r>
              <a:rPr sz="3200" b="1" spc="-10" dirty="0">
                <a:latin typeface="Calibri"/>
                <a:cs typeface="Calibri"/>
              </a:rPr>
              <a:t>large,</a:t>
            </a:r>
            <a:r>
              <a:rPr sz="3200" b="1" spc="-50" dirty="0">
                <a:latin typeface="Calibri"/>
                <a:cs typeface="Calibri"/>
              </a:rPr>
              <a:t> </a:t>
            </a:r>
            <a:r>
              <a:rPr sz="3200" b="1" spc="-5" dirty="0">
                <a:latin typeface="Calibri"/>
                <a:cs typeface="Calibri"/>
              </a:rPr>
              <a:t>medium,</a:t>
            </a:r>
            <a:r>
              <a:rPr sz="3200" b="1" spc="-15" dirty="0">
                <a:latin typeface="Calibri"/>
                <a:cs typeface="Calibri"/>
              </a:rPr>
              <a:t> </a:t>
            </a:r>
            <a:r>
              <a:rPr sz="3200" b="1" dirty="0">
                <a:latin typeface="Calibri"/>
                <a:cs typeface="Calibri"/>
              </a:rPr>
              <a:t>small)</a:t>
            </a:r>
            <a:r>
              <a:rPr sz="3200" b="1" spc="-25" dirty="0">
                <a:latin typeface="Calibri"/>
                <a:cs typeface="Calibri"/>
              </a:rPr>
              <a:t> </a:t>
            </a:r>
            <a:r>
              <a:rPr sz="3200" b="1" dirty="0">
                <a:latin typeface="Calibri"/>
                <a:cs typeface="Calibri"/>
              </a:rPr>
              <a:t>and</a:t>
            </a:r>
            <a:r>
              <a:rPr sz="3200" b="1" spc="-25" dirty="0">
                <a:latin typeface="Calibri"/>
                <a:cs typeface="Calibri"/>
              </a:rPr>
              <a:t> </a:t>
            </a:r>
            <a:r>
              <a:rPr sz="3200" b="1" spc="-15" dirty="0">
                <a:latin typeface="Calibri"/>
                <a:cs typeface="Calibri"/>
              </a:rPr>
              <a:t>size</a:t>
            </a:r>
            <a:r>
              <a:rPr sz="3200" b="1" dirty="0">
                <a:latin typeface="Calibri"/>
                <a:cs typeface="Calibri"/>
              </a:rPr>
              <a:t> of</a:t>
            </a:r>
            <a:r>
              <a:rPr sz="3200" b="1" spc="-15" dirty="0">
                <a:latin typeface="Calibri"/>
                <a:cs typeface="Calibri"/>
              </a:rPr>
              <a:t> </a:t>
            </a:r>
            <a:r>
              <a:rPr sz="3200" b="1" dirty="0">
                <a:latin typeface="Calibri"/>
                <a:cs typeface="Calibri"/>
              </a:rPr>
              <a:t>the</a:t>
            </a:r>
            <a:r>
              <a:rPr sz="3200" b="1" spc="-5" dirty="0">
                <a:latin typeface="Calibri"/>
                <a:cs typeface="Calibri"/>
              </a:rPr>
              <a:t> </a:t>
            </a:r>
            <a:r>
              <a:rPr sz="3200" b="1" spc="-25" dirty="0">
                <a:latin typeface="Calibri"/>
                <a:cs typeface="Calibri"/>
              </a:rPr>
              <a:t>market</a:t>
            </a:r>
            <a:r>
              <a:rPr sz="3200" b="1" spc="-10" dirty="0">
                <a:latin typeface="Calibri"/>
                <a:cs typeface="Calibri"/>
              </a:rPr>
              <a:t> area </a:t>
            </a:r>
            <a:r>
              <a:rPr sz="3200" b="1" spc="-705" dirty="0">
                <a:latin typeface="Calibri"/>
                <a:cs typeface="Calibri"/>
              </a:rPr>
              <a:t> </a:t>
            </a:r>
            <a:r>
              <a:rPr sz="3200" b="1" spc="-5" dirty="0">
                <a:latin typeface="Calibri"/>
                <a:cs typeface="Calibri"/>
              </a:rPr>
              <a:t>(local,</a:t>
            </a:r>
            <a:r>
              <a:rPr sz="3200" b="1" spc="-20" dirty="0">
                <a:latin typeface="Calibri"/>
                <a:cs typeface="Calibri"/>
              </a:rPr>
              <a:t> </a:t>
            </a:r>
            <a:r>
              <a:rPr sz="3200" b="1" spc="-5" dirty="0">
                <a:latin typeface="Calibri"/>
                <a:cs typeface="Calibri"/>
              </a:rPr>
              <a:t>national,</a:t>
            </a:r>
            <a:r>
              <a:rPr sz="3200" b="1" spc="-50" dirty="0">
                <a:latin typeface="Calibri"/>
                <a:cs typeface="Calibri"/>
              </a:rPr>
              <a:t> </a:t>
            </a:r>
            <a:r>
              <a:rPr sz="3200" b="1" spc="-10" dirty="0">
                <a:latin typeface="Calibri"/>
                <a:cs typeface="Calibri"/>
              </a:rPr>
              <a:t>international)</a:t>
            </a:r>
            <a:endParaRPr sz="32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4414" y="3500441"/>
            <a:ext cx="6437342" cy="3357559"/>
          </a:xfrm>
          <a:prstGeom prst="rect">
            <a:avLst/>
          </a:prstGeom>
        </p:spPr>
      </p:pic>
      <p:sp>
        <p:nvSpPr>
          <p:cNvPr id="3" name="object 3"/>
          <p:cNvSpPr txBox="1"/>
          <p:nvPr/>
        </p:nvSpPr>
        <p:spPr>
          <a:xfrm>
            <a:off x="78739" y="214415"/>
            <a:ext cx="8641715" cy="3343275"/>
          </a:xfrm>
          <a:prstGeom prst="rect">
            <a:avLst/>
          </a:prstGeom>
        </p:spPr>
        <p:txBody>
          <a:bodyPr vert="horz" wrap="square" lIns="0" tIns="110489" rIns="0" bIns="0" rtlCol="0">
            <a:spAutoFit/>
          </a:bodyPr>
          <a:lstStyle/>
          <a:p>
            <a:pPr marL="355600" indent="-342900">
              <a:lnSpc>
                <a:spcPct val="100000"/>
              </a:lnSpc>
              <a:spcBef>
                <a:spcPts val="869"/>
              </a:spcBef>
              <a:buFont typeface="Arial MT"/>
              <a:buChar char="•"/>
              <a:tabLst>
                <a:tab pos="354965" algn="l"/>
                <a:tab pos="355600" algn="l"/>
              </a:tabLst>
            </a:pPr>
            <a:r>
              <a:rPr sz="3200" spc="-5" dirty="0">
                <a:latin typeface="Times New Roman" pitchFamily="18" charset="0"/>
                <a:cs typeface="Times New Roman" pitchFamily="18" charset="0"/>
              </a:rPr>
              <a:t>The</a:t>
            </a:r>
            <a:r>
              <a:rPr sz="3200" spc="-20" dirty="0">
                <a:latin typeface="Times New Roman" pitchFamily="18" charset="0"/>
                <a:cs typeface="Times New Roman" pitchFamily="18" charset="0"/>
              </a:rPr>
              <a:t> </a:t>
            </a:r>
            <a:r>
              <a:rPr sz="3200" spc="-10" dirty="0">
                <a:latin typeface="Times New Roman" pitchFamily="18" charset="0"/>
                <a:cs typeface="Times New Roman" pitchFamily="18" charset="0"/>
              </a:rPr>
              <a:t>degree </a:t>
            </a:r>
            <a:r>
              <a:rPr sz="3200" dirty="0">
                <a:latin typeface="Times New Roman" pitchFamily="18" charset="0"/>
                <a:cs typeface="Times New Roman" pitchFamily="18" charset="0"/>
              </a:rPr>
              <a:t>of</a:t>
            </a:r>
            <a:r>
              <a:rPr sz="3200" spc="-10" dirty="0">
                <a:latin typeface="Times New Roman" pitchFamily="18" charset="0"/>
                <a:cs typeface="Times New Roman" pitchFamily="18" charset="0"/>
              </a:rPr>
              <a:t> control</a:t>
            </a:r>
            <a:r>
              <a:rPr sz="3200" spc="-25" dirty="0">
                <a:latin typeface="Times New Roman" pitchFamily="18" charset="0"/>
                <a:cs typeface="Times New Roman" pitchFamily="18" charset="0"/>
              </a:rPr>
              <a:t> </a:t>
            </a:r>
            <a:r>
              <a:rPr sz="3200" spc="-5" dirty="0">
                <a:latin typeface="Times New Roman" pitchFamily="18" charset="0"/>
                <a:cs typeface="Times New Roman" pitchFamily="18" charset="0"/>
              </a:rPr>
              <a:t>desired</a:t>
            </a:r>
            <a:r>
              <a:rPr sz="3200" spc="-30" dirty="0">
                <a:latin typeface="Times New Roman" pitchFamily="18" charset="0"/>
                <a:cs typeface="Times New Roman" pitchFamily="18" charset="0"/>
              </a:rPr>
              <a:t> </a:t>
            </a:r>
            <a:r>
              <a:rPr sz="3200" spc="-10" dirty="0">
                <a:latin typeface="Times New Roman" pitchFamily="18" charset="0"/>
                <a:cs typeface="Times New Roman" pitchFamily="18" charset="0"/>
              </a:rPr>
              <a:t>by </a:t>
            </a:r>
            <a:r>
              <a:rPr sz="3200" dirty="0">
                <a:latin typeface="Times New Roman" pitchFamily="18" charset="0"/>
                <a:cs typeface="Times New Roman" pitchFamily="18" charset="0"/>
              </a:rPr>
              <a:t>the</a:t>
            </a:r>
            <a:r>
              <a:rPr sz="3200" spc="-15" dirty="0">
                <a:latin typeface="Times New Roman" pitchFamily="18" charset="0"/>
                <a:cs typeface="Times New Roman" pitchFamily="18" charset="0"/>
              </a:rPr>
              <a:t> </a:t>
            </a:r>
            <a:r>
              <a:rPr sz="3200" spc="-5" dirty="0">
                <a:latin typeface="Times New Roman" pitchFamily="18" charset="0"/>
                <a:cs typeface="Times New Roman" pitchFamily="18" charset="0"/>
              </a:rPr>
              <a:t>owner(s)</a:t>
            </a:r>
            <a:endParaRPr sz="3200">
              <a:latin typeface="Times New Roman" pitchFamily="18" charset="0"/>
              <a:cs typeface="Times New Roman" pitchFamily="18" charset="0"/>
            </a:endParaRPr>
          </a:p>
          <a:p>
            <a:pPr marL="355600" marR="5080" indent="-342900">
              <a:lnSpc>
                <a:spcPct val="100000"/>
              </a:lnSpc>
              <a:spcBef>
                <a:spcPts val="770"/>
              </a:spcBef>
              <a:buFont typeface="Arial MT"/>
              <a:buChar char="•"/>
              <a:tabLst>
                <a:tab pos="354965" algn="l"/>
                <a:tab pos="355600" algn="l"/>
              </a:tabLst>
            </a:pPr>
            <a:r>
              <a:rPr sz="3200" spc="-5" dirty="0">
                <a:latin typeface="Times New Roman" pitchFamily="18" charset="0"/>
                <a:cs typeface="Times New Roman" pitchFamily="18" charset="0"/>
              </a:rPr>
              <a:t>Amount</a:t>
            </a:r>
            <a:r>
              <a:rPr sz="3200" spc="-30" dirty="0">
                <a:latin typeface="Times New Roman" pitchFamily="18" charset="0"/>
                <a:cs typeface="Times New Roman" pitchFamily="18" charset="0"/>
              </a:rPr>
              <a:t> </a:t>
            </a:r>
            <a:r>
              <a:rPr sz="3200" dirty="0">
                <a:latin typeface="Times New Roman" pitchFamily="18" charset="0"/>
                <a:cs typeface="Times New Roman" pitchFamily="18" charset="0"/>
              </a:rPr>
              <a:t>of</a:t>
            </a:r>
            <a:r>
              <a:rPr sz="3200" spc="5" dirty="0">
                <a:latin typeface="Times New Roman" pitchFamily="18" charset="0"/>
                <a:cs typeface="Times New Roman" pitchFamily="18" charset="0"/>
              </a:rPr>
              <a:t> </a:t>
            </a:r>
            <a:r>
              <a:rPr sz="3200" spc="-10" dirty="0">
                <a:latin typeface="Times New Roman" pitchFamily="18" charset="0"/>
                <a:cs typeface="Times New Roman" pitchFamily="18" charset="0"/>
              </a:rPr>
              <a:t>capital</a:t>
            </a:r>
            <a:r>
              <a:rPr sz="3200" spc="-25" dirty="0">
                <a:latin typeface="Times New Roman" pitchFamily="18" charset="0"/>
                <a:cs typeface="Times New Roman" pitchFamily="18" charset="0"/>
              </a:rPr>
              <a:t> </a:t>
            </a:r>
            <a:r>
              <a:rPr sz="3200" spc="-15" dirty="0">
                <a:latin typeface="Times New Roman" pitchFamily="18" charset="0"/>
                <a:cs typeface="Times New Roman" pitchFamily="18" charset="0"/>
              </a:rPr>
              <a:t>required</a:t>
            </a:r>
            <a:r>
              <a:rPr sz="3200" spc="-10" dirty="0">
                <a:latin typeface="Times New Roman" pitchFamily="18" charset="0"/>
                <a:cs typeface="Times New Roman" pitchFamily="18" charset="0"/>
              </a:rPr>
              <a:t> </a:t>
            </a:r>
            <a:r>
              <a:rPr sz="3200" spc="-20" dirty="0">
                <a:latin typeface="Times New Roman" pitchFamily="18" charset="0"/>
                <a:cs typeface="Times New Roman" pitchFamily="18" charset="0"/>
              </a:rPr>
              <a:t>for</a:t>
            </a:r>
            <a:r>
              <a:rPr sz="3200" spc="5" dirty="0">
                <a:latin typeface="Times New Roman" pitchFamily="18" charset="0"/>
                <a:cs typeface="Times New Roman" pitchFamily="18" charset="0"/>
              </a:rPr>
              <a:t> </a:t>
            </a:r>
            <a:r>
              <a:rPr sz="3200" dirty="0">
                <a:latin typeface="Times New Roman" pitchFamily="18" charset="0"/>
                <a:cs typeface="Times New Roman" pitchFamily="18" charset="0"/>
              </a:rPr>
              <a:t>the</a:t>
            </a:r>
            <a:r>
              <a:rPr sz="3200" spc="10" dirty="0">
                <a:latin typeface="Times New Roman" pitchFamily="18" charset="0"/>
                <a:cs typeface="Times New Roman" pitchFamily="18" charset="0"/>
              </a:rPr>
              <a:t> </a:t>
            </a:r>
            <a:r>
              <a:rPr sz="3200" spc="-10" dirty="0">
                <a:latin typeface="Times New Roman" pitchFamily="18" charset="0"/>
                <a:cs typeface="Times New Roman" pitchFamily="18" charset="0"/>
              </a:rPr>
              <a:t>establishment </a:t>
            </a:r>
            <a:r>
              <a:rPr sz="3200" spc="-710" dirty="0">
                <a:latin typeface="Times New Roman" pitchFamily="18" charset="0"/>
                <a:cs typeface="Times New Roman" pitchFamily="18" charset="0"/>
              </a:rPr>
              <a:t> </a:t>
            </a:r>
            <a:r>
              <a:rPr sz="3200" dirty="0">
                <a:latin typeface="Times New Roman" pitchFamily="18" charset="0"/>
                <a:cs typeface="Times New Roman" pitchFamily="18" charset="0"/>
              </a:rPr>
              <a:t>and</a:t>
            </a:r>
            <a:r>
              <a:rPr sz="3200" spc="-40" dirty="0">
                <a:latin typeface="Times New Roman" pitchFamily="18" charset="0"/>
                <a:cs typeface="Times New Roman" pitchFamily="18" charset="0"/>
              </a:rPr>
              <a:t> </a:t>
            </a:r>
            <a:r>
              <a:rPr sz="3200" spc="-10" dirty="0">
                <a:latin typeface="Times New Roman" pitchFamily="18" charset="0"/>
                <a:cs typeface="Times New Roman" pitchFamily="18" charset="0"/>
              </a:rPr>
              <a:t>operation</a:t>
            </a:r>
            <a:r>
              <a:rPr sz="3200" spc="-30" dirty="0">
                <a:latin typeface="Times New Roman" pitchFamily="18" charset="0"/>
                <a:cs typeface="Times New Roman" pitchFamily="18" charset="0"/>
              </a:rPr>
              <a:t> </a:t>
            </a:r>
            <a:r>
              <a:rPr sz="3200" dirty="0">
                <a:latin typeface="Times New Roman" pitchFamily="18" charset="0"/>
                <a:cs typeface="Times New Roman" pitchFamily="18" charset="0"/>
              </a:rPr>
              <a:t>of a </a:t>
            </a:r>
            <a:r>
              <a:rPr sz="3200" spc="-5" dirty="0">
                <a:latin typeface="Times New Roman" pitchFamily="18" charset="0"/>
                <a:cs typeface="Times New Roman" pitchFamily="18" charset="0"/>
              </a:rPr>
              <a:t>business</a:t>
            </a:r>
            <a:endParaRPr sz="3200">
              <a:latin typeface="Times New Roman" pitchFamily="18" charset="0"/>
              <a:cs typeface="Times New Roman" pitchFamily="18" charset="0"/>
            </a:endParaRPr>
          </a:p>
          <a:p>
            <a:pPr marL="355600" marR="302260" indent="-342900">
              <a:lnSpc>
                <a:spcPct val="100000"/>
              </a:lnSpc>
              <a:spcBef>
                <a:spcPts val="770"/>
              </a:spcBef>
              <a:buFont typeface="Arial MT"/>
              <a:buChar char="•"/>
              <a:tabLst>
                <a:tab pos="354965" algn="l"/>
                <a:tab pos="355600" algn="l"/>
              </a:tabLst>
            </a:pPr>
            <a:r>
              <a:rPr sz="3200" spc="-5" dirty="0">
                <a:latin typeface="Times New Roman" pitchFamily="18" charset="0"/>
                <a:cs typeface="Times New Roman" pitchFamily="18" charset="0"/>
              </a:rPr>
              <a:t>The volume </a:t>
            </a:r>
            <a:r>
              <a:rPr sz="3200" dirty="0">
                <a:latin typeface="Times New Roman" pitchFamily="18" charset="0"/>
                <a:cs typeface="Times New Roman" pitchFamily="18" charset="0"/>
              </a:rPr>
              <a:t>of </a:t>
            </a:r>
            <a:r>
              <a:rPr sz="3200" spc="-10" dirty="0">
                <a:latin typeface="Times New Roman" pitchFamily="18" charset="0"/>
                <a:cs typeface="Times New Roman" pitchFamily="18" charset="0"/>
              </a:rPr>
              <a:t>risks </a:t>
            </a:r>
            <a:r>
              <a:rPr sz="3200" dirty="0">
                <a:latin typeface="Times New Roman" pitchFamily="18" charset="0"/>
                <a:cs typeface="Times New Roman" pitchFamily="18" charset="0"/>
              </a:rPr>
              <a:t>and liabilities as </a:t>
            </a:r>
            <a:r>
              <a:rPr sz="3200" spc="-10" dirty="0">
                <a:latin typeface="Times New Roman" pitchFamily="18" charset="0"/>
                <a:cs typeface="Times New Roman" pitchFamily="18" charset="0"/>
              </a:rPr>
              <a:t>well </a:t>
            </a:r>
            <a:r>
              <a:rPr sz="3200" dirty="0">
                <a:latin typeface="Times New Roman" pitchFamily="18" charset="0"/>
                <a:cs typeface="Times New Roman" pitchFamily="18" charset="0"/>
              </a:rPr>
              <a:t>as the </a:t>
            </a:r>
            <a:r>
              <a:rPr sz="3200" spc="-710" dirty="0">
                <a:latin typeface="Times New Roman" pitchFamily="18" charset="0"/>
                <a:cs typeface="Times New Roman" pitchFamily="18" charset="0"/>
              </a:rPr>
              <a:t> </a:t>
            </a:r>
            <a:r>
              <a:rPr sz="3200" dirty="0">
                <a:latin typeface="Times New Roman" pitchFamily="18" charset="0"/>
                <a:cs typeface="Times New Roman" pitchFamily="18" charset="0"/>
              </a:rPr>
              <a:t>willingness</a:t>
            </a:r>
            <a:r>
              <a:rPr sz="3200" spc="-60" dirty="0">
                <a:latin typeface="Times New Roman" pitchFamily="18" charset="0"/>
                <a:cs typeface="Times New Roman" pitchFamily="18" charset="0"/>
              </a:rPr>
              <a:t> </a:t>
            </a:r>
            <a:r>
              <a:rPr sz="3200" dirty="0">
                <a:latin typeface="Times New Roman" pitchFamily="18" charset="0"/>
                <a:cs typeface="Times New Roman" pitchFamily="18" charset="0"/>
              </a:rPr>
              <a:t>of </a:t>
            </a:r>
            <a:r>
              <a:rPr sz="3200" spc="5" dirty="0">
                <a:latin typeface="Times New Roman" pitchFamily="18" charset="0"/>
                <a:cs typeface="Times New Roman" pitchFamily="18" charset="0"/>
              </a:rPr>
              <a:t>the</a:t>
            </a:r>
            <a:r>
              <a:rPr sz="3200" spc="-15" dirty="0">
                <a:latin typeface="Times New Roman" pitchFamily="18" charset="0"/>
                <a:cs typeface="Times New Roman" pitchFamily="18" charset="0"/>
              </a:rPr>
              <a:t> </a:t>
            </a:r>
            <a:r>
              <a:rPr sz="3200" spc="-10" dirty="0">
                <a:latin typeface="Times New Roman" pitchFamily="18" charset="0"/>
                <a:cs typeface="Times New Roman" pitchFamily="18" charset="0"/>
              </a:rPr>
              <a:t>owners </a:t>
            </a:r>
            <a:r>
              <a:rPr sz="3200" spc="-20" dirty="0">
                <a:latin typeface="Times New Roman" pitchFamily="18" charset="0"/>
                <a:cs typeface="Times New Roman" pitchFamily="18" charset="0"/>
              </a:rPr>
              <a:t>to</a:t>
            </a:r>
            <a:r>
              <a:rPr sz="3200" spc="10" dirty="0">
                <a:latin typeface="Times New Roman" pitchFamily="18" charset="0"/>
                <a:cs typeface="Times New Roman" pitchFamily="18" charset="0"/>
              </a:rPr>
              <a:t> </a:t>
            </a:r>
            <a:r>
              <a:rPr sz="3200" dirty="0">
                <a:latin typeface="Times New Roman" pitchFamily="18" charset="0"/>
                <a:cs typeface="Times New Roman" pitchFamily="18" charset="0"/>
              </a:rPr>
              <a:t>bear</a:t>
            </a:r>
            <a:r>
              <a:rPr sz="3200" spc="-40" dirty="0">
                <a:latin typeface="Times New Roman" pitchFamily="18" charset="0"/>
                <a:cs typeface="Times New Roman" pitchFamily="18" charset="0"/>
              </a:rPr>
              <a:t> </a:t>
            </a:r>
            <a:r>
              <a:rPr sz="3200" spc="5" dirty="0">
                <a:latin typeface="Times New Roman" pitchFamily="18" charset="0"/>
                <a:cs typeface="Times New Roman" pitchFamily="18" charset="0"/>
              </a:rPr>
              <a:t>it</a:t>
            </a:r>
            <a:endParaRPr sz="3200">
              <a:latin typeface="Times New Roman" pitchFamily="18" charset="0"/>
              <a:cs typeface="Times New Roman" pitchFamily="18" charset="0"/>
            </a:endParaRPr>
          </a:p>
          <a:p>
            <a:pPr marL="355600" indent="-342900">
              <a:lnSpc>
                <a:spcPct val="100000"/>
              </a:lnSpc>
              <a:spcBef>
                <a:spcPts val="770"/>
              </a:spcBef>
              <a:buFont typeface="Arial MT"/>
              <a:buChar char="•"/>
              <a:tabLst>
                <a:tab pos="354965" algn="l"/>
                <a:tab pos="355600" algn="l"/>
              </a:tabLst>
            </a:pPr>
            <a:r>
              <a:rPr sz="3200" spc="-15" dirty="0">
                <a:latin typeface="Times New Roman" pitchFamily="18" charset="0"/>
                <a:cs typeface="Times New Roman" pitchFamily="18" charset="0"/>
              </a:rPr>
              <a:t>Comparative</a:t>
            </a:r>
            <a:r>
              <a:rPr sz="3200" spc="-70" dirty="0">
                <a:latin typeface="Times New Roman" pitchFamily="18" charset="0"/>
                <a:cs typeface="Times New Roman" pitchFamily="18" charset="0"/>
              </a:rPr>
              <a:t> </a:t>
            </a:r>
            <a:r>
              <a:rPr sz="3200" spc="-20" dirty="0">
                <a:latin typeface="Times New Roman" pitchFamily="18" charset="0"/>
                <a:cs typeface="Times New Roman" pitchFamily="18" charset="0"/>
              </a:rPr>
              <a:t>tax</a:t>
            </a:r>
            <a:r>
              <a:rPr sz="3200" spc="-15" dirty="0">
                <a:latin typeface="Times New Roman" pitchFamily="18" charset="0"/>
                <a:cs typeface="Times New Roman" pitchFamily="18" charset="0"/>
              </a:rPr>
              <a:t> </a:t>
            </a:r>
            <a:r>
              <a:rPr sz="3200" dirty="0">
                <a:latin typeface="Times New Roman" pitchFamily="18" charset="0"/>
                <a:cs typeface="Times New Roman" pitchFamily="18" charset="0"/>
              </a:rPr>
              <a:t>liability</a:t>
            </a:r>
            <a:endParaRPr sz="320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28662" y="0"/>
            <a:ext cx="7772400" cy="689932"/>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12700" rIns="0" bIns="0" rtlCol="0">
            <a:spAutoFit/>
          </a:bodyPr>
          <a:lstStyle/>
          <a:p>
            <a:pPr marL="16510">
              <a:lnSpc>
                <a:spcPct val="100000"/>
              </a:lnSpc>
              <a:spcBef>
                <a:spcPts val="100"/>
              </a:spcBef>
            </a:pPr>
            <a:r>
              <a:rPr lang="en-IN" dirty="0" smtClean="0">
                <a:latin typeface="Times New Roman" pitchFamily="18" charset="0"/>
                <a:cs typeface="Times New Roman" pitchFamily="18" charset="0"/>
              </a:rPr>
              <a:t>Sole</a:t>
            </a:r>
            <a:r>
              <a:rPr lang="en-IN" spc="-60" dirty="0" smtClean="0">
                <a:latin typeface="Times New Roman" pitchFamily="18" charset="0"/>
                <a:cs typeface="Times New Roman" pitchFamily="18" charset="0"/>
              </a:rPr>
              <a:t> </a:t>
            </a:r>
            <a:r>
              <a:rPr lang="en-IN" spc="-10" dirty="0" smtClean="0">
                <a:latin typeface="Times New Roman" pitchFamily="18" charset="0"/>
                <a:cs typeface="Times New Roman" pitchFamily="18" charset="0"/>
              </a:rPr>
              <a:t>Proprietorship</a:t>
            </a:r>
            <a:endParaRPr lang="en-IN" spc="-10" dirty="0">
              <a:latin typeface="Times New Roman" pitchFamily="18" charset="0"/>
              <a:cs typeface="Times New Roman" pitchFamily="18" charset="0"/>
            </a:endParaRPr>
          </a:p>
        </p:txBody>
      </p:sp>
      <p:sp>
        <p:nvSpPr>
          <p:cNvPr id="3" name="object 3"/>
          <p:cNvSpPr txBox="1"/>
          <p:nvPr/>
        </p:nvSpPr>
        <p:spPr>
          <a:xfrm>
            <a:off x="214282" y="1500174"/>
            <a:ext cx="8522048" cy="1305560"/>
          </a:xfrm>
          <a:prstGeom prst="rect">
            <a:avLst/>
          </a:prstGeom>
        </p:spPr>
        <p:txBody>
          <a:bodyPr vert="horz" wrap="square" lIns="0" tIns="12065" rIns="0" bIns="0" rtlCol="0">
            <a:spAutoFit/>
          </a:bodyPr>
          <a:lstStyle/>
          <a:p>
            <a:pPr marL="12700" marR="5080" algn="just">
              <a:lnSpc>
                <a:spcPct val="100000"/>
              </a:lnSpc>
              <a:spcBef>
                <a:spcPts val="95"/>
              </a:spcBef>
            </a:pPr>
            <a:r>
              <a:rPr sz="2800" spc="-10" dirty="0">
                <a:latin typeface="Times New Roman" pitchFamily="18" charset="0"/>
                <a:cs typeface="Times New Roman" pitchFamily="18" charset="0"/>
              </a:rPr>
              <a:t>When </a:t>
            </a:r>
            <a:r>
              <a:rPr sz="2800" spc="-5" dirty="0">
                <a:latin typeface="Times New Roman" pitchFamily="18" charset="0"/>
                <a:cs typeface="Times New Roman" pitchFamily="18" charset="0"/>
              </a:rPr>
              <a:t>the </a:t>
            </a:r>
            <a:r>
              <a:rPr sz="2800" spc="-10" dirty="0">
                <a:latin typeface="Times New Roman" pitchFamily="18" charset="0"/>
                <a:cs typeface="Times New Roman" pitchFamily="18" charset="0"/>
              </a:rPr>
              <a:t>ownership </a:t>
            </a:r>
            <a:r>
              <a:rPr sz="2800" spc="-5" dirty="0">
                <a:latin typeface="Times New Roman" pitchFamily="18" charset="0"/>
                <a:cs typeface="Times New Roman" pitchFamily="18" charset="0"/>
              </a:rPr>
              <a:t>and </a:t>
            </a:r>
            <a:r>
              <a:rPr sz="2800" spc="-15" dirty="0">
                <a:latin typeface="Times New Roman" pitchFamily="18" charset="0"/>
                <a:cs typeface="Times New Roman" pitchFamily="18" charset="0"/>
              </a:rPr>
              <a:t>management </a:t>
            </a:r>
            <a:r>
              <a:rPr sz="2800" spc="-5" dirty="0">
                <a:latin typeface="Times New Roman" pitchFamily="18" charset="0"/>
                <a:cs typeface="Times New Roman" pitchFamily="18" charset="0"/>
              </a:rPr>
              <a:t>of a business </a:t>
            </a:r>
            <a:r>
              <a:rPr sz="2800" spc="-15" dirty="0">
                <a:latin typeface="Times New Roman" pitchFamily="18" charset="0"/>
                <a:cs typeface="Times New Roman" pitchFamily="18" charset="0"/>
              </a:rPr>
              <a:t>are </a:t>
            </a:r>
            <a:r>
              <a:rPr sz="2800" spc="-620" dirty="0">
                <a:latin typeface="Times New Roman" pitchFamily="18" charset="0"/>
                <a:cs typeface="Times New Roman" pitchFamily="18" charset="0"/>
              </a:rPr>
              <a:t> </a:t>
            </a:r>
            <a:r>
              <a:rPr sz="2800" spc="-5" dirty="0">
                <a:latin typeface="Times New Roman" pitchFamily="18" charset="0"/>
                <a:cs typeface="Times New Roman" pitchFamily="18" charset="0"/>
              </a:rPr>
              <a:t>in </a:t>
            </a:r>
            <a:r>
              <a:rPr sz="2800" spc="-15" dirty="0">
                <a:latin typeface="Times New Roman" pitchFamily="18" charset="0"/>
                <a:cs typeface="Times New Roman" pitchFamily="18" charset="0"/>
              </a:rPr>
              <a:t>control </a:t>
            </a:r>
            <a:r>
              <a:rPr sz="2800" spc="-5" dirty="0">
                <a:latin typeface="Times New Roman" pitchFamily="18" charset="0"/>
                <a:cs typeface="Times New Roman" pitchFamily="18" charset="0"/>
              </a:rPr>
              <a:t>of one individual the </a:t>
            </a:r>
            <a:r>
              <a:rPr sz="2800" spc="-15" dirty="0">
                <a:latin typeface="Times New Roman" pitchFamily="18" charset="0"/>
                <a:cs typeface="Times New Roman" pitchFamily="18" charset="0"/>
              </a:rPr>
              <a:t>form </a:t>
            </a:r>
            <a:r>
              <a:rPr sz="2800" spc="-5" dirty="0">
                <a:latin typeface="Times New Roman" pitchFamily="18" charset="0"/>
                <a:cs typeface="Times New Roman" pitchFamily="18" charset="0"/>
              </a:rPr>
              <a:t>of business is </a:t>
            </a:r>
            <a:r>
              <a:rPr sz="2800" spc="-10" dirty="0">
                <a:latin typeface="Times New Roman" pitchFamily="18" charset="0"/>
                <a:cs typeface="Times New Roman" pitchFamily="18" charset="0"/>
              </a:rPr>
              <a:t>called </a:t>
            </a:r>
            <a:r>
              <a:rPr sz="2800" spc="-620" dirty="0">
                <a:latin typeface="Times New Roman" pitchFamily="18" charset="0"/>
                <a:cs typeface="Times New Roman" pitchFamily="18" charset="0"/>
              </a:rPr>
              <a:t> </a:t>
            </a:r>
            <a:r>
              <a:rPr sz="2800" spc="-5" dirty="0">
                <a:latin typeface="Times New Roman" pitchFamily="18" charset="0"/>
                <a:cs typeface="Times New Roman" pitchFamily="18" charset="0"/>
              </a:rPr>
              <a:t>sole</a:t>
            </a:r>
            <a:r>
              <a:rPr sz="2800" spc="-20" dirty="0">
                <a:latin typeface="Times New Roman" pitchFamily="18" charset="0"/>
                <a:cs typeface="Times New Roman" pitchFamily="18" charset="0"/>
              </a:rPr>
              <a:t> </a:t>
            </a:r>
            <a:r>
              <a:rPr sz="2800" spc="-15" dirty="0">
                <a:latin typeface="Times New Roman" pitchFamily="18" charset="0"/>
                <a:cs typeface="Times New Roman" pitchFamily="18" charset="0"/>
              </a:rPr>
              <a:t>proprietorship.</a:t>
            </a:r>
            <a:endParaRPr sz="2800">
              <a:latin typeface="Times New Roman" pitchFamily="18" charset="0"/>
              <a:cs typeface="Times New Roman" pitchFamily="18" charset="0"/>
            </a:endParaRPr>
          </a:p>
        </p:txBody>
      </p:sp>
      <p:pic>
        <p:nvPicPr>
          <p:cNvPr id="4" name="object 4"/>
          <p:cNvPicPr/>
          <p:nvPr/>
        </p:nvPicPr>
        <p:blipFill>
          <a:blip r:embed="rId2" cstate="print"/>
          <a:stretch>
            <a:fillRect/>
          </a:stretch>
        </p:blipFill>
        <p:spPr>
          <a:xfrm>
            <a:off x="4724400" y="3214686"/>
            <a:ext cx="3414267" cy="3287612"/>
          </a:xfrm>
          <a:prstGeom prst="rect">
            <a:avLst/>
          </a:prstGeom>
        </p:spPr>
      </p:pic>
      <p:pic>
        <p:nvPicPr>
          <p:cNvPr id="5" name="object 5"/>
          <p:cNvPicPr/>
          <p:nvPr/>
        </p:nvPicPr>
        <p:blipFill>
          <a:blip r:embed="rId3" cstate="print"/>
          <a:stretch>
            <a:fillRect/>
          </a:stretch>
        </p:blipFill>
        <p:spPr>
          <a:xfrm>
            <a:off x="457200" y="3214686"/>
            <a:ext cx="3810000" cy="295751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53227" y="2286000"/>
            <a:ext cx="3390773" cy="2362200"/>
          </a:xfrm>
          <a:prstGeom prst="rect">
            <a:avLst/>
          </a:prstGeom>
        </p:spPr>
      </p:pic>
      <p:sp>
        <p:nvSpPr>
          <p:cNvPr id="3" name="object 3"/>
          <p:cNvSpPr txBox="1">
            <a:spLocks noGrp="1"/>
          </p:cNvSpPr>
          <p:nvPr>
            <p:ph type="title"/>
          </p:nvPr>
        </p:nvSpPr>
        <p:spPr>
          <a:xfrm>
            <a:off x="500034" y="224993"/>
            <a:ext cx="8215369" cy="69057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13335" rIns="0" bIns="0" rtlCol="0">
            <a:spAutoFit/>
          </a:bodyPr>
          <a:lstStyle/>
          <a:p>
            <a:pPr marL="12700">
              <a:lnSpc>
                <a:spcPct val="100000"/>
              </a:lnSpc>
              <a:spcBef>
                <a:spcPts val="105"/>
              </a:spcBef>
            </a:pPr>
            <a:r>
              <a:rPr lang="en-IN" spc="-10" dirty="0" smtClean="0">
                <a:latin typeface="Times New Roman" pitchFamily="18" charset="0"/>
                <a:cs typeface="Times New Roman" pitchFamily="18" charset="0"/>
              </a:rPr>
              <a:t>Characteristics</a:t>
            </a:r>
            <a:endParaRPr lang="en-IN" spc="-10" dirty="0">
              <a:latin typeface="Times New Roman" pitchFamily="18" charset="0"/>
              <a:cs typeface="Times New Roman" pitchFamily="18" charset="0"/>
            </a:endParaRPr>
          </a:p>
        </p:txBody>
      </p:sp>
      <p:sp>
        <p:nvSpPr>
          <p:cNvPr id="4" name="object 4"/>
          <p:cNvSpPr txBox="1"/>
          <p:nvPr/>
        </p:nvSpPr>
        <p:spPr>
          <a:xfrm>
            <a:off x="78739" y="1013205"/>
            <a:ext cx="6299835" cy="5842000"/>
          </a:xfrm>
          <a:prstGeom prst="rect">
            <a:avLst/>
          </a:prstGeom>
        </p:spPr>
        <p:txBody>
          <a:bodyPr vert="horz" wrap="square" lIns="0" tIns="12700" rIns="0" bIns="0" rtlCol="0">
            <a:spAutoFit/>
          </a:bodyPr>
          <a:lstStyle/>
          <a:p>
            <a:pPr marL="355600" marR="37465" indent="-342900">
              <a:lnSpc>
                <a:spcPct val="100000"/>
              </a:lnSpc>
              <a:spcBef>
                <a:spcPts val="100"/>
              </a:spcBef>
              <a:buFont typeface="Arial MT"/>
              <a:buChar char="•"/>
              <a:tabLst>
                <a:tab pos="355600" algn="l"/>
              </a:tabLst>
            </a:pPr>
            <a:r>
              <a:rPr sz="3600" spc="-5" dirty="0">
                <a:latin typeface="Times New Roman" pitchFamily="18" charset="0"/>
                <a:cs typeface="Times New Roman" pitchFamily="18" charset="0"/>
              </a:rPr>
              <a:t>The</a:t>
            </a:r>
            <a:r>
              <a:rPr sz="3600" spc="-10" dirty="0">
                <a:latin typeface="Times New Roman" pitchFamily="18" charset="0"/>
                <a:cs typeface="Times New Roman" pitchFamily="18" charset="0"/>
              </a:rPr>
              <a:t> </a:t>
            </a:r>
            <a:r>
              <a:rPr sz="3600" dirty="0">
                <a:latin typeface="Times New Roman" pitchFamily="18" charset="0"/>
                <a:cs typeface="Times New Roman" pitchFamily="18" charset="0"/>
              </a:rPr>
              <a:t>business</a:t>
            </a:r>
            <a:r>
              <a:rPr sz="3600" spc="15" dirty="0">
                <a:latin typeface="Times New Roman" pitchFamily="18" charset="0"/>
                <a:cs typeface="Times New Roman" pitchFamily="18" charset="0"/>
              </a:rPr>
              <a:t> </a:t>
            </a:r>
            <a:r>
              <a:rPr sz="3600" spc="-15" dirty="0">
                <a:latin typeface="Times New Roman" pitchFamily="18" charset="0"/>
                <a:cs typeface="Times New Roman" pitchFamily="18" charset="0"/>
              </a:rPr>
              <a:t>enterprise</a:t>
            </a:r>
            <a:r>
              <a:rPr sz="3600" spc="-5" dirty="0">
                <a:latin typeface="Times New Roman" pitchFamily="18" charset="0"/>
                <a:cs typeface="Times New Roman" pitchFamily="18" charset="0"/>
              </a:rPr>
              <a:t> </a:t>
            </a:r>
            <a:r>
              <a:rPr sz="3600" dirty="0">
                <a:latin typeface="Times New Roman" pitchFamily="18" charset="0"/>
                <a:cs typeface="Times New Roman" pitchFamily="18" charset="0"/>
              </a:rPr>
              <a:t>is </a:t>
            </a:r>
            <a:r>
              <a:rPr sz="3600" spc="5" dirty="0">
                <a:latin typeface="Times New Roman" pitchFamily="18" charset="0"/>
                <a:cs typeface="Times New Roman" pitchFamily="18" charset="0"/>
              </a:rPr>
              <a:t> </a:t>
            </a:r>
            <a:r>
              <a:rPr sz="3600" spc="-10" dirty="0">
                <a:latin typeface="Times New Roman" pitchFamily="18" charset="0"/>
                <a:cs typeface="Times New Roman" pitchFamily="18" charset="0"/>
              </a:rPr>
              <a:t>owned by </a:t>
            </a:r>
            <a:r>
              <a:rPr sz="3600" dirty="0">
                <a:latin typeface="Times New Roman" pitchFamily="18" charset="0"/>
                <a:cs typeface="Times New Roman" pitchFamily="18" charset="0"/>
              </a:rPr>
              <a:t>one single individual </a:t>
            </a:r>
            <a:r>
              <a:rPr sz="3600" spc="-800" dirty="0">
                <a:latin typeface="Times New Roman" pitchFamily="18" charset="0"/>
                <a:cs typeface="Times New Roman" pitchFamily="18" charset="0"/>
              </a:rPr>
              <a:t> </a:t>
            </a:r>
            <a:r>
              <a:rPr sz="3600" dirty="0">
                <a:latin typeface="Times New Roman" pitchFamily="18" charset="0"/>
                <a:cs typeface="Times New Roman" pitchFamily="18" charset="0"/>
              </a:rPr>
              <a:t>(i.e.</a:t>
            </a:r>
            <a:r>
              <a:rPr sz="3600" spc="-15" dirty="0">
                <a:latin typeface="Times New Roman" pitchFamily="18" charset="0"/>
                <a:cs typeface="Times New Roman" pitchFamily="18" charset="0"/>
              </a:rPr>
              <a:t> </a:t>
            </a:r>
            <a:r>
              <a:rPr sz="3600" spc="-5" dirty="0">
                <a:latin typeface="Times New Roman" pitchFamily="18" charset="0"/>
                <a:cs typeface="Times New Roman" pitchFamily="18" charset="0"/>
              </a:rPr>
              <a:t>both</a:t>
            </a:r>
            <a:r>
              <a:rPr sz="3600" spc="-15" dirty="0">
                <a:latin typeface="Times New Roman" pitchFamily="18" charset="0"/>
                <a:cs typeface="Times New Roman" pitchFamily="18" charset="0"/>
              </a:rPr>
              <a:t> </a:t>
            </a:r>
            <a:r>
              <a:rPr sz="3600" spc="-5" dirty="0">
                <a:latin typeface="Times New Roman" pitchFamily="18" charset="0"/>
                <a:cs typeface="Times New Roman" pitchFamily="18" charset="0"/>
              </a:rPr>
              <a:t>profit</a:t>
            </a:r>
            <a:r>
              <a:rPr sz="3600" spc="-15" dirty="0">
                <a:latin typeface="Times New Roman" pitchFamily="18" charset="0"/>
                <a:cs typeface="Times New Roman" pitchFamily="18" charset="0"/>
              </a:rPr>
              <a:t> </a:t>
            </a:r>
            <a:r>
              <a:rPr sz="3600" dirty="0">
                <a:latin typeface="Times New Roman" pitchFamily="18" charset="0"/>
                <a:cs typeface="Times New Roman" pitchFamily="18" charset="0"/>
              </a:rPr>
              <a:t>and</a:t>
            </a:r>
            <a:r>
              <a:rPr sz="3600" spc="-15" dirty="0">
                <a:latin typeface="Times New Roman" pitchFamily="18" charset="0"/>
                <a:cs typeface="Times New Roman" pitchFamily="18" charset="0"/>
              </a:rPr>
              <a:t> </a:t>
            </a:r>
            <a:r>
              <a:rPr sz="3600" spc="-5" dirty="0">
                <a:latin typeface="Times New Roman" pitchFamily="18" charset="0"/>
                <a:cs typeface="Times New Roman" pitchFamily="18" charset="0"/>
              </a:rPr>
              <a:t>risk</a:t>
            </a:r>
            <a:r>
              <a:rPr sz="3600" spc="-35" dirty="0">
                <a:latin typeface="Times New Roman" pitchFamily="18" charset="0"/>
                <a:cs typeface="Times New Roman" pitchFamily="18" charset="0"/>
              </a:rPr>
              <a:t> </a:t>
            </a:r>
            <a:r>
              <a:rPr sz="3600" dirty="0">
                <a:latin typeface="Times New Roman" pitchFamily="18" charset="0"/>
                <a:cs typeface="Times New Roman" pitchFamily="18" charset="0"/>
              </a:rPr>
              <a:t>belong </a:t>
            </a:r>
            <a:r>
              <a:rPr sz="3600" spc="-795" dirty="0">
                <a:latin typeface="Times New Roman" pitchFamily="18" charset="0"/>
                <a:cs typeface="Times New Roman" pitchFamily="18" charset="0"/>
              </a:rPr>
              <a:t> </a:t>
            </a:r>
            <a:r>
              <a:rPr sz="3600" spc="-20" dirty="0">
                <a:latin typeface="Times New Roman" pitchFamily="18" charset="0"/>
                <a:cs typeface="Times New Roman" pitchFamily="18" charset="0"/>
              </a:rPr>
              <a:t>to </a:t>
            </a:r>
            <a:r>
              <a:rPr sz="3600" dirty="0">
                <a:latin typeface="Times New Roman" pitchFamily="18" charset="0"/>
                <a:cs typeface="Times New Roman" pitchFamily="18" charset="0"/>
              </a:rPr>
              <a:t>him)</a:t>
            </a:r>
            <a:endParaRPr sz="3600">
              <a:latin typeface="Times New Roman" pitchFamily="18" charset="0"/>
              <a:cs typeface="Times New Roman" pitchFamily="18" charset="0"/>
            </a:endParaRPr>
          </a:p>
          <a:p>
            <a:pPr marL="355600" indent="-342900">
              <a:lnSpc>
                <a:spcPct val="100000"/>
              </a:lnSpc>
              <a:spcBef>
                <a:spcPts val="865"/>
              </a:spcBef>
              <a:buFont typeface="Arial MT"/>
              <a:buChar char="•"/>
              <a:tabLst>
                <a:tab pos="355600" algn="l"/>
              </a:tabLst>
            </a:pPr>
            <a:r>
              <a:rPr sz="3600" spc="-5" dirty="0">
                <a:latin typeface="Times New Roman" pitchFamily="18" charset="0"/>
                <a:cs typeface="Times New Roman" pitchFamily="18" charset="0"/>
              </a:rPr>
              <a:t>Owner</a:t>
            </a:r>
            <a:r>
              <a:rPr sz="3600" spc="-15" dirty="0">
                <a:latin typeface="Times New Roman" pitchFamily="18" charset="0"/>
                <a:cs typeface="Times New Roman" pitchFamily="18" charset="0"/>
              </a:rPr>
              <a:t> </a:t>
            </a:r>
            <a:r>
              <a:rPr sz="3600" dirty="0">
                <a:latin typeface="Times New Roman" pitchFamily="18" charset="0"/>
                <a:cs typeface="Times New Roman" pitchFamily="18" charset="0"/>
              </a:rPr>
              <a:t>is</a:t>
            </a:r>
            <a:r>
              <a:rPr sz="3600" spc="-30" dirty="0">
                <a:latin typeface="Times New Roman" pitchFamily="18" charset="0"/>
                <a:cs typeface="Times New Roman" pitchFamily="18" charset="0"/>
              </a:rPr>
              <a:t> </a:t>
            </a:r>
            <a:r>
              <a:rPr sz="3600" dirty="0">
                <a:latin typeface="Times New Roman" pitchFamily="18" charset="0"/>
                <a:cs typeface="Times New Roman" pitchFamily="18" charset="0"/>
              </a:rPr>
              <a:t>the</a:t>
            </a:r>
            <a:r>
              <a:rPr sz="3600" spc="-15" dirty="0">
                <a:latin typeface="Times New Roman" pitchFamily="18" charset="0"/>
                <a:cs typeface="Times New Roman" pitchFamily="18" charset="0"/>
              </a:rPr>
              <a:t> Manager</a:t>
            </a:r>
            <a:endParaRPr sz="3600">
              <a:latin typeface="Times New Roman" pitchFamily="18" charset="0"/>
              <a:cs typeface="Times New Roman" pitchFamily="18" charset="0"/>
            </a:endParaRPr>
          </a:p>
          <a:p>
            <a:pPr marL="355600" marR="736600" indent="-342900">
              <a:lnSpc>
                <a:spcPct val="100000"/>
              </a:lnSpc>
              <a:spcBef>
                <a:spcPts val="865"/>
              </a:spcBef>
              <a:buFont typeface="Arial MT"/>
              <a:buChar char="•"/>
              <a:tabLst>
                <a:tab pos="355600" algn="l"/>
              </a:tabLst>
            </a:pPr>
            <a:r>
              <a:rPr sz="3600" spc="-5" dirty="0">
                <a:latin typeface="Times New Roman" pitchFamily="18" charset="0"/>
                <a:cs typeface="Times New Roman" pitchFamily="18" charset="0"/>
              </a:rPr>
              <a:t>Owner</a:t>
            </a:r>
            <a:r>
              <a:rPr sz="3600" spc="-15" dirty="0">
                <a:latin typeface="Times New Roman" pitchFamily="18" charset="0"/>
                <a:cs typeface="Times New Roman" pitchFamily="18" charset="0"/>
              </a:rPr>
              <a:t> </a:t>
            </a:r>
            <a:r>
              <a:rPr sz="3600" dirty="0">
                <a:latin typeface="Times New Roman" pitchFamily="18" charset="0"/>
                <a:cs typeface="Times New Roman" pitchFamily="18" charset="0"/>
              </a:rPr>
              <a:t>is</a:t>
            </a:r>
            <a:r>
              <a:rPr sz="3600" spc="-30" dirty="0">
                <a:latin typeface="Times New Roman" pitchFamily="18" charset="0"/>
                <a:cs typeface="Times New Roman" pitchFamily="18" charset="0"/>
              </a:rPr>
              <a:t> </a:t>
            </a:r>
            <a:r>
              <a:rPr sz="3600" dirty="0">
                <a:latin typeface="Times New Roman" pitchFamily="18" charset="0"/>
                <a:cs typeface="Times New Roman" pitchFamily="18" charset="0"/>
              </a:rPr>
              <a:t>the</a:t>
            </a:r>
            <a:r>
              <a:rPr sz="3600" spc="-15" dirty="0">
                <a:latin typeface="Times New Roman" pitchFamily="18" charset="0"/>
                <a:cs typeface="Times New Roman" pitchFamily="18" charset="0"/>
              </a:rPr>
              <a:t> </a:t>
            </a:r>
            <a:r>
              <a:rPr sz="3600" dirty="0">
                <a:latin typeface="Times New Roman" pitchFamily="18" charset="0"/>
                <a:cs typeface="Times New Roman" pitchFamily="18" charset="0"/>
              </a:rPr>
              <a:t>only</a:t>
            </a:r>
            <a:r>
              <a:rPr sz="3600" spc="-15" dirty="0">
                <a:latin typeface="Times New Roman" pitchFamily="18" charset="0"/>
                <a:cs typeface="Times New Roman" pitchFamily="18" charset="0"/>
              </a:rPr>
              <a:t> </a:t>
            </a:r>
            <a:r>
              <a:rPr sz="3600" spc="-10" dirty="0">
                <a:latin typeface="Times New Roman" pitchFamily="18" charset="0"/>
                <a:cs typeface="Times New Roman" pitchFamily="18" charset="0"/>
              </a:rPr>
              <a:t>source</a:t>
            </a:r>
            <a:r>
              <a:rPr sz="3600" spc="-20" dirty="0">
                <a:latin typeface="Times New Roman" pitchFamily="18" charset="0"/>
                <a:cs typeface="Times New Roman" pitchFamily="18" charset="0"/>
              </a:rPr>
              <a:t> </a:t>
            </a:r>
            <a:r>
              <a:rPr sz="3600" dirty="0">
                <a:latin typeface="Times New Roman" pitchFamily="18" charset="0"/>
                <a:cs typeface="Times New Roman" pitchFamily="18" charset="0"/>
              </a:rPr>
              <a:t>of </a:t>
            </a:r>
            <a:r>
              <a:rPr sz="3600" spc="-800" dirty="0">
                <a:latin typeface="Times New Roman" pitchFamily="18" charset="0"/>
                <a:cs typeface="Times New Roman" pitchFamily="18" charset="0"/>
              </a:rPr>
              <a:t> </a:t>
            </a:r>
            <a:r>
              <a:rPr sz="3600" spc="-10" dirty="0">
                <a:latin typeface="Times New Roman" pitchFamily="18" charset="0"/>
                <a:cs typeface="Times New Roman" pitchFamily="18" charset="0"/>
              </a:rPr>
              <a:t>Capital</a:t>
            </a:r>
            <a:endParaRPr sz="3600">
              <a:latin typeface="Times New Roman" pitchFamily="18" charset="0"/>
              <a:cs typeface="Times New Roman" pitchFamily="18" charset="0"/>
            </a:endParaRPr>
          </a:p>
          <a:p>
            <a:pPr marL="355600" marR="5080" indent="-342900">
              <a:lnSpc>
                <a:spcPct val="100000"/>
              </a:lnSpc>
              <a:spcBef>
                <a:spcPts val="870"/>
              </a:spcBef>
              <a:buFont typeface="Arial MT"/>
              <a:buChar char="•"/>
              <a:tabLst>
                <a:tab pos="355600" algn="l"/>
              </a:tabLst>
            </a:pPr>
            <a:r>
              <a:rPr sz="3600" spc="-5" dirty="0">
                <a:latin typeface="Times New Roman" pitchFamily="18" charset="0"/>
                <a:cs typeface="Times New Roman" pitchFamily="18" charset="0"/>
              </a:rPr>
              <a:t>The</a:t>
            </a:r>
            <a:r>
              <a:rPr sz="3600" spc="-10" dirty="0">
                <a:latin typeface="Times New Roman" pitchFamily="18" charset="0"/>
                <a:cs typeface="Times New Roman" pitchFamily="18" charset="0"/>
              </a:rPr>
              <a:t> </a:t>
            </a:r>
            <a:r>
              <a:rPr sz="3600" spc="-15" dirty="0">
                <a:latin typeface="Times New Roman" pitchFamily="18" charset="0"/>
                <a:cs typeface="Times New Roman" pitchFamily="18" charset="0"/>
              </a:rPr>
              <a:t>proprietor</a:t>
            </a:r>
            <a:r>
              <a:rPr sz="3600" spc="-5" dirty="0">
                <a:latin typeface="Times New Roman" pitchFamily="18" charset="0"/>
                <a:cs typeface="Times New Roman" pitchFamily="18" charset="0"/>
              </a:rPr>
              <a:t> </a:t>
            </a:r>
            <a:r>
              <a:rPr sz="3600" dirty="0">
                <a:latin typeface="Times New Roman" pitchFamily="18" charset="0"/>
                <a:cs typeface="Times New Roman" pitchFamily="18" charset="0"/>
              </a:rPr>
              <a:t>and</a:t>
            </a:r>
            <a:r>
              <a:rPr sz="3600" spc="-5" dirty="0">
                <a:latin typeface="Times New Roman" pitchFamily="18" charset="0"/>
                <a:cs typeface="Times New Roman" pitchFamily="18" charset="0"/>
              </a:rPr>
              <a:t> </a:t>
            </a:r>
            <a:r>
              <a:rPr sz="3600" dirty="0">
                <a:latin typeface="Times New Roman" pitchFamily="18" charset="0"/>
                <a:cs typeface="Times New Roman" pitchFamily="18" charset="0"/>
              </a:rPr>
              <a:t>business </a:t>
            </a:r>
            <a:r>
              <a:rPr sz="3600" spc="5" dirty="0">
                <a:latin typeface="Times New Roman" pitchFamily="18" charset="0"/>
                <a:cs typeface="Times New Roman" pitchFamily="18" charset="0"/>
              </a:rPr>
              <a:t> </a:t>
            </a:r>
            <a:r>
              <a:rPr sz="3600" spc="-15" dirty="0">
                <a:latin typeface="Times New Roman" pitchFamily="18" charset="0"/>
                <a:cs typeface="Times New Roman" pitchFamily="18" charset="0"/>
              </a:rPr>
              <a:t>enterprise are </a:t>
            </a:r>
            <a:r>
              <a:rPr sz="3600" dirty="0">
                <a:latin typeface="Times New Roman" pitchFamily="18" charset="0"/>
                <a:cs typeface="Times New Roman" pitchFamily="18" charset="0"/>
              </a:rPr>
              <a:t>same in the </a:t>
            </a:r>
            <a:r>
              <a:rPr sz="3600" spc="-20" dirty="0">
                <a:latin typeface="Times New Roman" pitchFamily="18" charset="0"/>
                <a:cs typeface="Times New Roman" pitchFamily="18" charset="0"/>
              </a:rPr>
              <a:t>eyes </a:t>
            </a:r>
            <a:r>
              <a:rPr sz="3600" spc="-800" dirty="0">
                <a:latin typeface="Times New Roman" pitchFamily="18" charset="0"/>
                <a:cs typeface="Times New Roman" pitchFamily="18" charset="0"/>
              </a:rPr>
              <a:t> </a:t>
            </a:r>
            <a:r>
              <a:rPr sz="3600" dirty="0">
                <a:latin typeface="Times New Roman" pitchFamily="18" charset="0"/>
                <a:cs typeface="Times New Roman" pitchFamily="18" charset="0"/>
              </a:rPr>
              <a:t>of</a:t>
            </a:r>
            <a:r>
              <a:rPr sz="3600" spc="-15" dirty="0">
                <a:latin typeface="Times New Roman" pitchFamily="18" charset="0"/>
                <a:cs typeface="Times New Roman" pitchFamily="18" charset="0"/>
              </a:rPr>
              <a:t> </a:t>
            </a:r>
            <a:r>
              <a:rPr sz="3600" dirty="0">
                <a:latin typeface="Times New Roman" pitchFamily="18" charset="0"/>
                <a:cs typeface="Times New Roman" pitchFamily="18" charset="0"/>
              </a:rPr>
              <a:t>the </a:t>
            </a:r>
            <a:r>
              <a:rPr sz="3600" spc="-60" dirty="0">
                <a:latin typeface="Times New Roman" pitchFamily="18" charset="0"/>
                <a:cs typeface="Times New Roman" pitchFamily="18" charset="0"/>
              </a:rPr>
              <a:t>law.</a:t>
            </a:r>
            <a:endParaRPr sz="360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257" y="0"/>
            <a:ext cx="4058920" cy="1490152"/>
          </a:xfrm>
          <a:prstGeom prst="rect">
            <a:avLst/>
          </a:prstGeom>
        </p:spPr>
        <p:txBody>
          <a:bodyPr vert="horz" wrap="square" lIns="0" tIns="12700" rIns="0" bIns="0" rtlCol="0">
            <a:spAutoFit/>
          </a:bodyPr>
          <a:lstStyle/>
          <a:p>
            <a:pPr marL="455930" marR="449580" algn="ctr">
              <a:lnSpc>
                <a:spcPct val="100000"/>
              </a:lnSpc>
              <a:spcBef>
                <a:spcPts val="100"/>
              </a:spcBef>
            </a:pPr>
            <a:r>
              <a:rPr lang="en-IN" sz="3200" dirty="0" smtClean="0">
                <a:latin typeface="Times New Roman" pitchFamily="18" charset="0"/>
                <a:cs typeface="Times New Roman" pitchFamily="18" charset="0"/>
              </a:rPr>
              <a:t>A</a:t>
            </a:r>
            <a:r>
              <a:rPr lang="en-IN" sz="3200" spc="-70" dirty="0" smtClean="0">
                <a:latin typeface="Times New Roman" pitchFamily="18" charset="0"/>
                <a:cs typeface="Times New Roman" pitchFamily="18" charset="0"/>
              </a:rPr>
              <a:t>d</a:t>
            </a:r>
            <a:r>
              <a:rPr lang="en-IN" sz="3200" spc="-229" dirty="0" smtClean="0">
                <a:latin typeface="Times New Roman" pitchFamily="18" charset="0"/>
                <a:cs typeface="Times New Roman" pitchFamily="18" charset="0"/>
              </a:rPr>
              <a:t>v</a:t>
            </a:r>
            <a:r>
              <a:rPr lang="en-IN" sz="3200" dirty="0" smtClean="0">
                <a:latin typeface="Times New Roman" pitchFamily="18" charset="0"/>
                <a:cs typeface="Times New Roman" pitchFamily="18" charset="0"/>
              </a:rPr>
              <a:t>an</a:t>
            </a:r>
            <a:r>
              <a:rPr lang="en-IN" sz="3200" spc="-350" dirty="0" smtClean="0">
                <a:latin typeface="Times New Roman" pitchFamily="18" charset="0"/>
                <a:cs typeface="Times New Roman" pitchFamily="18" charset="0"/>
              </a:rPr>
              <a:t>t</a:t>
            </a:r>
            <a:r>
              <a:rPr lang="en-IN" sz="3200" spc="-55" dirty="0" smtClean="0">
                <a:latin typeface="Times New Roman" pitchFamily="18" charset="0"/>
                <a:cs typeface="Times New Roman" pitchFamily="18" charset="0"/>
              </a:rPr>
              <a:t>a</a:t>
            </a:r>
            <a:r>
              <a:rPr lang="en-IN" sz="3200" spc="-5" dirty="0" smtClean="0">
                <a:latin typeface="Times New Roman" pitchFamily="18" charset="0"/>
                <a:cs typeface="Times New Roman" pitchFamily="18" charset="0"/>
              </a:rPr>
              <a:t>g</a:t>
            </a:r>
            <a:r>
              <a:rPr lang="en-IN" sz="3200" spc="-50" dirty="0" smtClean="0">
                <a:latin typeface="Times New Roman" pitchFamily="18" charset="0"/>
                <a:cs typeface="Times New Roman" pitchFamily="18" charset="0"/>
              </a:rPr>
              <a:t>e</a:t>
            </a:r>
            <a:r>
              <a:rPr lang="en-IN" sz="3200" dirty="0" smtClean="0">
                <a:latin typeface="Times New Roman" pitchFamily="18" charset="0"/>
                <a:cs typeface="Times New Roman" pitchFamily="18" charset="0"/>
              </a:rPr>
              <a:t>s  </a:t>
            </a:r>
            <a:r>
              <a:rPr lang="en-IN" sz="3200" spc="-5" dirty="0" smtClean="0">
                <a:latin typeface="Times New Roman" pitchFamily="18" charset="0"/>
                <a:cs typeface="Times New Roman" pitchFamily="18" charset="0"/>
              </a:rPr>
              <a:t>Of</a:t>
            </a:r>
            <a:br>
              <a:rPr lang="en-IN" sz="3200" spc="-5" dirty="0" smtClean="0">
                <a:latin typeface="Times New Roman" pitchFamily="18" charset="0"/>
                <a:cs typeface="Times New Roman" pitchFamily="18" charset="0"/>
              </a:rPr>
            </a:br>
            <a:r>
              <a:rPr lang="en-IN" sz="3200" dirty="0" smtClean="0">
                <a:latin typeface="Times New Roman" pitchFamily="18" charset="0"/>
                <a:cs typeface="Times New Roman" pitchFamily="18" charset="0"/>
              </a:rPr>
              <a:t>Sole </a:t>
            </a:r>
            <a:r>
              <a:rPr lang="en-IN" sz="3200" spc="5" dirty="0" smtClean="0">
                <a:latin typeface="Times New Roman" pitchFamily="18" charset="0"/>
                <a:cs typeface="Times New Roman" pitchFamily="18" charset="0"/>
              </a:rPr>
              <a:t> </a:t>
            </a:r>
            <a:r>
              <a:rPr lang="en-IN" sz="3200" spc="-5" dirty="0" smtClean="0">
                <a:latin typeface="Times New Roman" pitchFamily="18" charset="0"/>
                <a:cs typeface="Times New Roman" pitchFamily="18" charset="0"/>
              </a:rPr>
              <a:t>Proprietorship</a:t>
            </a:r>
            <a:endParaRPr lang="en-IN" sz="3200" dirty="0">
              <a:latin typeface="Times New Roman" pitchFamily="18" charset="0"/>
              <a:cs typeface="Times New Roman" pitchFamily="18" charset="0"/>
            </a:endParaRPr>
          </a:p>
        </p:txBody>
      </p:sp>
      <p:sp>
        <p:nvSpPr>
          <p:cNvPr id="3" name="object 3"/>
          <p:cNvSpPr txBox="1"/>
          <p:nvPr/>
        </p:nvSpPr>
        <p:spPr>
          <a:xfrm>
            <a:off x="459740" y="2882743"/>
            <a:ext cx="7779384" cy="3475952"/>
          </a:xfrm>
          <a:prstGeom prst="rect">
            <a:avLst/>
          </a:prstGeom>
        </p:spPr>
        <p:txBody>
          <a:bodyPr vert="horz" wrap="square" lIns="0" tIns="109855" rIns="0" bIns="0" rtlCol="0">
            <a:spAutoFit/>
          </a:bodyPr>
          <a:lstStyle/>
          <a:p>
            <a:pPr marL="355600" indent="-342900">
              <a:lnSpc>
                <a:spcPct val="100000"/>
              </a:lnSpc>
              <a:spcBef>
                <a:spcPts val="865"/>
              </a:spcBef>
              <a:buFont typeface="Arial MT"/>
              <a:buChar char="•"/>
              <a:tabLst>
                <a:tab pos="354965" algn="l"/>
                <a:tab pos="355600" algn="l"/>
              </a:tabLst>
            </a:pPr>
            <a:r>
              <a:rPr sz="3200" spc="-20" dirty="0">
                <a:latin typeface="Times New Roman" pitchFamily="18" charset="0"/>
                <a:cs typeface="Times New Roman" pitchFamily="18" charset="0"/>
              </a:rPr>
              <a:t>Easy</a:t>
            </a:r>
            <a:r>
              <a:rPr sz="3200" spc="-75" dirty="0">
                <a:latin typeface="Times New Roman" pitchFamily="18" charset="0"/>
                <a:cs typeface="Times New Roman" pitchFamily="18" charset="0"/>
              </a:rPr>
              <a:t> </a:t>
            </a:r>
            <a:r>
              <a:rPr sz="3200" spc="-5" dirty="0">
                <a:latin typeface="Times New Roman" pitchFamily="18" charset="0"/>
                <a:cs typeface="Times New Roman" pitchFamily="18" charset="0"/>
              </a:rPr>
              <a:t>formation</a:t>
            </a:r>
            <a:endParaRPr sz="3200">
              <a:latin typeface="Times New Roman" pitchFamily="18" charset="0"/>
              <a:cs typeface="Times New Roman" pitchFamily="18" charset="0"/>
            </a:endParaRPr>
          </a:p>
          <a:p>
            <a:pPr marL="355600" marR="5080" indent="-342900">
              <a:lnSpc>
                <a:spcPct val="100000"/>
              </a:lnSpc>
              <a:spcBef>
                <a:spcPts val="770"/>
              </a:spcBef>
              <a:buFont typeface="Arial MT"/>
              <a:buChar char="•"/>
              <a:tabLst>
                <a:tab pos="354965" algn="l"/>
                <a:tab pos="355600" algn="l"/>
              </a:tabLst>
            </a:pPr>
            <a:r>
              <a:rPr sz="3200" spc="-15" dirty="0">
                <a:latin typeface="Times New Roman" pitchFamily="18" charset="0"/>
                <a:cs typeface="Times New Roman" pitchFamily="18" charset="0"/>
              </a:rPr>
              <a:t>Better</a:t>
            </a:r>
            <a:r>
              <a:rPr sz="3200" spc="-30" dirty="0">
                <a:latin typeface="Times New Roman" pitchFamily="18" charset="0"/>
                <a:cs typeface="Times New Roman" pitchFamily="18" charset="0"/>
              </a:rPr>
              <a:t> </a:t>
            </a:r>
            <a:r>
              <a:rPr sz="3200" spc="-10" dirty="0">
                <a:latin typeface="Times New Roman" pitchFamily="18" charset="0"/>
                <a:cs typeface="Times New Roman" pitchFamily="18" charset="0"/>
              </a:rPr>
              <a:t>Control</a:t>
            </a:r>
            <a:r>
              <a:rPr sz="3200" spc="-15" dirty="0">
                <a:latin typeface="Times New Roman" pitchFamily="18" charset="0"/>
                <a:cs typeface="Times New Roman" pitchFamily="18" charset="0"/>
              </a:rPr>
              <a:t> </a:t>
            </a:r>
            <a:r>
              <a:rPr sz="3200" spc="-10" dirty="0">
                <a:latin typeface="Times New Roman" pitchFamily="18" charset="0"/>
                <a:cs typeface="Times New Roman" pitchFamily="18" charset="0"/>
              </a:rPr>
              <a:t>(Prompt</a:t>
            </a:r>
            <a:r>
              <a:rPr sz="3200" spc="-15" dirty="0">
                <a:latin typeface="Times New Roman" pitchFamily="18" charset="0"/>
                <a:cs typeface="Times New Roman" pitchFamily="18" charset="0"/>
              </a:rPr>
              <a:t> </a:t>
            </a:r>
            <a:r>
              <a:rPr sz="3200" dirty="0">
                <a:latin typeface="Times New Roman" pitchFamily="18" charset="0"/>
                <a:cs typeface="Times New Roman" pitchFamily="18" charset="0"/>
              </a:rPr>
              <a:t>decision</a:t>
            </a:r>
            <a:r>
              <a:rPr sz="3200" spc="-35" dirty="0">
                <a:latin typeface="Times New Roman" pitchFamily="18" charset="0"/>
                <a:cs typeface="Times New Roman" pitchFamily="18" charset="0"/>
              </a:rPr>
              <a:t> </a:t>
            </a:r>
            <a:r>
              <a:rPr sz="3200" spc="-5" dirty="0">
                <a:latin typeface="Times New Roman" pitchFamily="18" charset="0"/>
                <a:cs typeface="Times New Roman" pitchFamily="18" charset="0"/>
              </a:rPr>
              <a:t>making</a:t>
            </a:r>
            <a:r>
              <a:rPr sz="3200" spc="-50" dirty="0">
                <a:latin typeface="Times New Roman" pitchFamily="18" charset="0"/>
                <a:cs typeface="Times New Roman" pitchFamily="18" charset="0"/>
              </a:rPr>
              <a:t> </a:t>
            </a:r>
            <a:r>
              <a:rPr sz="3200" dirty="0">
                <a:latin typeface="Times New Roman" pitchFamily="18" charset="0"/>
                <a:cs typeface="Times New Roman" pitchFamily="18" charset="0"/>
              </a:rPr>
              <a:t>and </a:t>
            </a:r>
            <a:r>
              <a:rPr sz="3200" spc="-710" dirty="0">
                <a:latin typeface="Times New Roman" pitchFamily="18" charset="0"/>
                <a:cs typeface="Times New Roman" pitchFamily="18" charset="0"/>
              </a:rPr>
              <a:t> </a:t>
            </a:r>
            <a:r>
              <a:rPr sz="3200" spc="-5" dirty="0">
                <a:latin typeface="Times New Roman" pitchFamily="18" charset="0"/>
                <a:cs typeface="Times New Roman" pitchFamily="18" charset="0"/>
              </a:rPr>
              <a:t>Flexibility</a:t>
            </a:r>
            <a:r>
              <a:rPr sz="3200" spc="-45" dirty="0">
                <a:latin typeface="Times New Roman" pitchFamily="18" charset="0"/>
                <a:cs typeface="Times New Roman" pitchFamily="18" charset="0"/>
              </a:rPr>
              <a:t> </a:t>
            </a:r>
            <a:r>
              <a:rPr sz="3200" dirty="0">
                <a:latin typeface="Times New Roman" pitchFamily="18" charset="0"/>
                <a:cs typeface="Times New Roman" pitchFamily="18" charset="0"/>
              </a:rPr>
              <a:t>in </a:t>
            </a:r>
            <a:r>
              <a:rPr sz="3200" spc="-10" dirty="0">
                <a:latin typeface="Times New Roman" pitchFamily="18" charset="0"/>
                <a:cs typeface="Times New Roman" pitchFamily="18" charset="0"/>
              </a:rPr>
              <a:t>Operations)</a:t>
            </a:r>
            <a:endParaRPr sz="3200">
              <a:latin typeface="Times New Roman" pitchFamily="18" charset="0"/>
              <a:cs typeface="Times New Roman" pitchFamily="18" charset="0"/>
            </a:endParaRPr>
          </a:p>
          <a:p>
            <a:pPr marL="355600" indent="-342900">
              <a:lnSpc>
                <a:spcPct val="100000"/>
              </a:lnSpc>
              <a:spcBef>
                <a:spcPts val="770"/>
              </a:spcBef>
              <a:buFont typeface="Arial MT"/>
              <a:buChar char="•"/>
              <a:tabLst>
                <a:tab pos="354965" algn="l"/>
                <a:tab pos="355600" algn="l"/>
              </a:tabLst>
            </a:pPr>
            <a:r>
              <a:rPr sz="3200" spc="-5" dirty="0">
                <a:latin typeface="Times New Roman" pitchFamily="18" charset="0"/>
                <a:cs typeface="Times New Roman" pitchFamily="18" charset="0"/>
              </a:rPr>
              <a:t>Subject</a:t>
            </a:r>
            <a:r>
              <a:rPr sz="3200" spc="-40" dirty="0">
                <a:latin typeface="Times New Roman" pitchFamily="18" charset="0"/>
                <a:cs typeface="Times New Roman" pitchFamily="18" charset="0"/>
              </a:rPr>
              <a:t> </a:t>
            </a:r>
            <a:r>
              <a:rPr sz="3200" spc="-20" dirty="0">
                <a:latin typeface="Times New Roman" pitchFamily="18" charset="0"/>
                <a:cs typeface="Times New Roman" pitchFamily="18" charset="0"/>
              </a:rPr>
              <a:t>to</a:t>
            </a:r>
            <a:r>
              <a:rPr sz="3200" spc="-10" dirty="0">
                <a:latin typeface="Times New Roman" pitchFamily="18" charset="0"/>
                <a:cs typeface="Times New Roman" pitchFamily="18" charset="0"/>
              </a:rPr>
              <a:t> </a:t>
            </a:r>
            <a:r>
              <a:rPr sz="3200" spc="-25" dirty="0">
                <a:latin typeface="Times New Roman" pitchFamily="18" charset="0"/>
                <a:cs typeface="Times New Roman" pitchFamily="18" charset="0"/>
              </a:rPr>
              <a:t>fewer</a:t>
            </a:r>
            <a:r>
              <a:rPr sz="3200" spc="-5" dirty="0">
                <a:latin typeface="Times New Roman" pitchFamily="18" charset="0"/>
                <a:cs typeface="Times New Roman" pitchFamily="18" charset="0"/>
              </a:rPr>
              <a:t> regulations</a:t>
            </a:r>
            <a:endParaRPr sz="3200">
              <a:latin typeface="Times New Roman" pitchFamily="18" charset="0"/>
              <a:cs typeface="Times New Roman" pitchFamily="18" charset="0"/>
            </a:endParaRPr>
          </a:p>
          <a:p>
            <a:pPr marL="355600" indent="-342900">
              <a:lnSpc>
                <a:spcPct val="100000"/>
              </a:lnSpc>
              <a:spcBef>
                <a:spcPts val="770"/>
              </a:spcBef>
              <a:buFont typeface="Arial MT"/>
              <a:buChar char="•"/>
              <a:tabLst>
                <a:tab pos="354965" algn="l"/>
                <a:tab pos="355600" algn="l"/>
              </a:tabLst>
            </a:pPr>
            <a:r>
              <a:rPr sz="3200" dirty="0">
                <a:latin typeface="Times New Roman" pitchFamily="18" charset="0"/>
                <a:cs typeface="Times New Roman" pitchFamily="18" charset="0"/>
              </a:rPr>
              <a:t>Not</a:t>
            </a:r>
            <a:r>
              <a:rPr sz="3200" spc="-10" dirty="0">
                <a:latin typeface="Times New Roman" pitchFamily="18" charset="0"/>
                <a:cs typeface="Times New Roman" pitchFamily="18" charset="0"/>
              </a:rPr>
              <a:t> </a:t>
            </a:r>
            <a:r>
              <a:rPr sz="3200" spc="-5" dirty="0">
                <a:latin typeface="Times New Roman" pitchFamily="18" charset="0"/>
                <a:cs typeface="Times New Roman" pitchFamily="18" charset="0"/>
              </a:rPr>
              <a:t>subject</a:t>
            </a:r>
            <a:r>
              <a:rPr sz="3200" spc="-25" dirty="0">
                <a:latin typeface="Times New Roman" pitchFamily="18" charset="0"/>
                <a:cs typeface="Times New Roman" pitchFamily="18" charset="0"/>
              </a:rPr>
              <a:t> </a:t>
            </a:r>
            <a:r>
              <a:rPr sz="3200" spc="-15" dirty="0">
                <a:latin typeface="Times New Roman" pitchFamily="18" charset="0"/>
                <a:cs typeface="Times New Roman" pitchFamily="18" charset="0"/>
              </a:rPr>
              <a:t>to</a:t>
            </a:r>
            <a:r>
              <a:rPr sz="3200" spc="10" dirty="0">
                <a:latin typeface="Times New Roman" pitchFamily="18" charset="0"/>
                <a:cs typeface="Times New Roman" pitchFamily="18" charset="0"/>
              </a:rPr>
              <a:t> </a:t>
            </a:r>
            <a:r>
              <a:rPr sz="3200" spc="-20" dirty="0">
                <a:latin typeface="Times New Roman" pitchFamily="18" charset="0"/>
                <a:cs typeface="Times New Roman" pitchFamily="18" charset="0"/>
              </a:rPr>
              <a:t>corporate</a:t>
            </a:r>
            <a:r>
              <a:rPr sz="3200" spc="-50" dirty="0">
                <a:latin typeface="Times New Roman" pitchFamily="18" charset="0"/>
                <a:cs typeface="Times New Roman" pitchFamily="18" charset="0"/>
              </a:rPr>
              <a:t> </a:t>
            </a:r>
            <a:r>
              <a:rPr sz="3200" dirty="0">
                <a:latin typeface="Times New Roman" pitchFamily="18" charset="0"/>
                <a:cs typeface="Times New Roman" pitchFamily="18" charset="0"/>
              </a:rPr>
              <a:t>income</a:t>
            </a:r>
            <a:r>
              <a:rPr sz="3200" spc="-30" dirty="0">
                <a:latin typeface="Times New Roman" pitchFamily="18" charset="0"/>
                <a:cs typeface="Times New Roman" pitchFamily="18" charset="0"/>
              </a:rPr>
              <a:t> </a:t>
            </a:r>
            <a:r>
              <a:rPr sz="3200" spc="-20" dirty="0">
                <a:latin typeface="Times New Roman" pitchFamily="18" charset="0"/>
                <a:cs typeface="Times New Roman" pitchFamily="18" charset="0"/>
              </a:rPr>
              <a:t>tax</a:t>
            </a:r>
            <a:endParaRPr sz="3200">
              <a:latin typeface="Times New Roman" pitchFamily="18" charset="0"/>
              <a:cs typeface="Times New Roman" pitchFamily="18" charset="0"/>
            </a:endParaRPr>
          </a:p>
          <a:p>
            <a:pPr marL="355600" indent="-342900">
              <a:lnSpc>
                <a:spcPct val="100000"/>
              </a:lnSpc>
              <a:spcBef>
                <a:spcPts val="765"/>
              </a:spcBef>
              <a:buFont typeface="Arial MT"/>
              <a:buChar char="•"/>
              <a:tabLst>
                <a:tab pos="354965" algn="l"/>
                <a:tab pos="355600" algn="l"/>
              </a:tabLst>
            </a:pPr>
            <a:r>
              <a:rPr sz="3200" spc="-5" dirty="0">
                <a:latin typeface="Times New Roman" pitchFamily="18" charset="0"/>
                <a:cs typeface="Times New Roman" pitchFamily="18" charset="0"/>
              </a:rPr>
              <a:t>Ownership</a:t>
            </a:r>
            <a:r>
              <a:rPr sz="3200" spc="-60" dirty="0">
                <a:latin typeface="Times New Roman" pitchFamily="18" charset="0"/>
                <a:cs typeface="Times New Roman" pitchFamily="18" charset="0"/>
              </a:rPr>
              <a:t> </a:t>
            </a:r>
            <a:r>
              <a:rPr sz="3200" dirty="0">
                <a:latin typeface="Times New Roman" pitchFamily="18" charset="0"/>
                <a:cs typeface="Times New Roman" pitchFamily="18" charset="0"/>
              </a:rPr>
              <a:t>of</a:t>
            </a:r>
            <a:r>
              <a:rPr sz="3200" spc="-20" dirty="0">
                <a:latin typeface="Times New Roman" pitchFamily="18" charset="0"/>
                <a:cs typeface="Times New Roman" pitchFamily="18" charset="0"/>
              </a:rPr>
              <a:t> </a:t>
            </a:r>
            <a:r>
              <a:rPr sz="3200" dirty="0">
                <a:latin typeface="Times New Roman" pitchFamily="18" charset="0"/>
                <a:cs typeface="Times New Roman" pitchFamily="18" charset="0"/>
              </a:rPr>
              <a:t>all</a:t>
            </a:r>
            <a:r>
              <a:rPr sz="3200" spc="-30" dirty="0">
                <a:latin typeface="Times New Roman" pitchFamily="18" charset="0"/>
                <a:cs typeface="Times New Roman" pitchFamily="18" charset="0"/>
              </a:rPr>
              <a:t> </a:t>
            </a:r>
            <a:r>
              <a:rPr sz="3200" spc="-5" dirty="0">
                <a:latin typeface="Times New Roman" pitchFamily="18" charset="0"/>
                <a:cs typeface="Times New Roman" pitchFamily="18" charset="0"/>
              </a:rPr>
              <a:t>profits</a:t>
            </a:r>
            <a:endParaRPr sz="3200">
              <a:latin typeface="Times New Roman" pitchFamily="18" charset="0"/>
              <a:cs typeface="Times New Roman" pitchFamily="18" charset="0"/>
            </a:endParaRPr>
          </a:p>
        </p:txBody>
      </p:sp>
      <p:pic>
        <p:nvPicPr>
          <p:cNvPr id="4" name="object 4"/>
          <p:cNvPicPr/>
          <p:nvPr/>
        </p:nvPicPr>
        <p:blipFill>
          <a:blip r:embed="rId2" cstate="print"/>
          <a:stretch>
            <a:fillRect/>
          </a:stretch>
        </p:blipFill>
        <p:spPr>
          <a:xfrm>
            <a:off x="4267200" y="0"/>
            <a:ext cx="4876799" cy="32430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4638"/>
            <a:ext cx="8229600" cy="690189"/>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195834" rIns="0" bIns="0" rtlCol="0">
            <a:spAutoFit/>
          </a:bodyPr>
          <a:lstStyle/>
          <a:p>
            <a:pPr marL="2451100" marR="5080" indent="-952500">
              <a:lnSpc>
                <a:spcPct val="100000"/>
              </a:lnSpc>
              <a:spcBef>
                <a:spcPts val="100"/>
              </a:spcBef>
            </a:pPr>
            <a:r>
              <a:rPr lang="en-IN" sz="3200" spc="-65" dirty="0" smtClean="0">
                <a:latin typeface="Times New Roman" pitchFamily="18" charset="0"/>
                <a:cs typeface="Times New Roman" pitchFamily="18" charset="0"/>
              </a:rPr>
              <a:t>Disadvantages</a:t>
            </a:r>
            <a:r>
              <a:rPr lang="en-IN" sz="3200" spc="-50" dirty="0" smtClean="0">
                <a:latin typeface="Times New Roman" pitchFamily="18" charset="0"/>
                <a:cs typeface="Times New Roman" pitchFamily="18" charset="0"/>
              </a:rPr>
              <a:t> </a:t>
            </a:r>
            <a:r>
              <a:rPr lang="en-IN" sz="3200" spc="-5" dirty="0" smtClean="0">
                <a:latin typeface="Times New Roman" pitchFamily="18" charset="0"/>
                <a:cs typeface="Times New Roman" pitchFamily="18" charset="0"/>
              </a:rPr>
              <a:t>Of</a:t>
            </a:r>
            <a:r>
              <a:rPr lang="en-IN" sz="3200" spc="-15" dirty="0" smtClean="0">
                <a:latin typeface="Times New Roman" pitchFamily="18" charset="0"/>
                <a:cs typeface="Times New Roman" pitchFamily="18" charset="0"/>
              </a:rPr>
              <a:t> </a:t>
            </a:r>
            <a:r>
              <a:rPr lang="en-IN" sz="3200" dirty="0" smtClean="0">
                <a:latin typeface="Times New Roman" pitchFamily="18" charset="0"/>
                <a:cs typeface="Times New Roman" pitchFamily="18" charset="0"/>
              </a:rPr>
              <a:t>Sole </a:t>
            </a:r>
            <a:r>
              <a:rPr lang="en-IN" sz="3200" spc="-980" dirty="0" smtClean="0">
                <a:latin typeface="Times New Roman" pitchFamily="18" charset="0"/>
                <a:cs typeface="Times New Roman" pitchFamily="18" charset="0"/>
              </a:rPr>
              <a:t> </a:t>
            </a:r>
            <a:r>
              <a:rPr lang="en-IN" sz="3200" spc="-15" dirty="0" smtClean="0">
                <a:latin typeface="Times New Roman" pitchFamily="18" charset="0"/>
                <a:cs typeface="Times New Roman" pitchFamily="18" charset="0"/>
              </a:rPr>
              <a:t>Proprietorship</a:t>
            </a:r>
            <a:endParaRPr lang="en-IN" sz="3200" spc="-15" dirty="0">
              <a:latin typeface="Times New Roman" pitchFamily="18" charset="0"/>
              <a:cs typeface="Times New Roman" pitchFamily="18" charset="0"/>
            </a:endParaRPr>
          </a:p>
        </p:txBody>
      </p:sp>
      <p:sp>
        <p:nvSpPr>
          <p:cNvPr id="3" name="object 3"/>
          <p:cNvSpPr txBox="1"/>
          <p:nvPr/>
        </p:nvSpPr>
        <p:spPr>
          <a:xfrm>
            <a:off x="78739" y="1607565"/>
            <a:ext cx="4073525" cy="4709160"/>
          </a:xfrm>
          <a:prstGeom prst="rect">
            <a:avLst/>
          </a:prstGeom>
        </p:spPr>
        <p:txBody>
          <a:bodyPr vert="horz" wrap="square" lIns="0" tIns="13335" rIns="0" bIns="0" rtlCol="0">
            <a:spAutoFit/>
          </a:bodyPr>
          <a:lstStyle/>
          <a:p>
            <a:pPr marL="355600" marR="174625" indent="-342900">
              <a:lnSpc>
                <a:spcPct val="100000"/>
              </a:lnSpc>
              <a:spcBef>
                <a:spcPts val="105"/>
              </a:spcBef>
              <a:buFont typeface="Arial MT"/>
              <a:buChar char="•"/>
              <a:tabLst>
                <a:tab pos="354965" algn="l"/>
                <a:tab pos="355600" algn="l"/>
              </a:tabLst>
            </a:pPr>
            <a:r>
              <a:rPr sz="3200" spc="-5" dirty="0">
                <a:latin typeface="Times New Roman" pitchFamily="18" charset="0"/>
                <a:cs typeface="Times New Roman" pitchFamily="18" charset="0"/>
              </a:rPr>
              <a:t>Owner</a:t>
            </a:r>
            <a:r>
              <a:rPr sz="3200" spc="-60" dirty="0">
                <a:latin typeface="Times New Roman" pitchFamily="18" charset="0"/>
                <a:cs typeface="Times New Roman" pitchFamily="18" charset="0"/>
              </a:rPr>
              <a:t> </a:t>
            </a:r>
            <a:r>
              <a:rPr sz="3200" dirty="0">
                <a:latin typeface="Times New Roman" pitchFamily="18" charset="0"/>
                <a:cs typeface="Times New Roman" pitchFamily="18" charset="0"/>
              </a:rPr>
              <a:t>has</a:t>
            </a:r>
            <a:r>
              <a:rPr sz="3200" spc="-35" dirty="0">
                <a:latin typeface="Times New Roman" pitchFamily="18" charset="0"/>
                <a:cs typeface="Times New Roman" pitchFamily="18" charset="0"/>
              </a:rPr>
              <a:t> </a:t>
            </a:r>
            <a:r>
              <a:rPr sz="3200" spc="-5" dirty="0">
                <a:latin typeface="Times New Roman" pitchFamily="18" charset="0"/>
                <a:cs typeface="Times New Roman" pitchFamily="18" charset="0"/>
              </a:rPr>
              <a:t>unlimited </a:t>
            </a:r>
            <a:r>
              <a:rPr sz="3200" spc="-710" dirty="0">
                <a:latin typeface="Times New Roman" pitchFamily="18" charset="0"/>
                <a:cs typeface="Times New Roman" pitchFamily="18" charset="0"/>
              </a:rPr>
              <a:t> </a:t>
            </a:r>
            <a:r>
              <a:rPr sz="3200" dirty="0">
                <a:latin typeface="Times New Roman" pitchFamily="18" charset="0"/>
                <a:cs typeface="Times New Roman" pitchFamily="18" charset="0"/>
              </a:rPr>
              <a:t>liability</a:t>
            </a:r>
            <a:endParaRPr sz="3200">
              <a:latin typeface="Times New Roman" pitchFamily="18" charset="0"/>
              <a:cs typeface="Times New Roman" pitchFamily="18" charset="0"/>
            </a:endParaRPr>
          </a:p>
          <a:p>
            <a:pPr marL="355600" marR="1027430" indent="-342900">
              <a:lnSpc>
                <a:spcPct val="100000"/>
              </a:lnSpc>
              <a:spcBef>
                <a:spcPts val="770"/>
              </a:spcBef>
              <a:buFont typeface="Arial MT"/>
              <a:buChar char="•"/>
              <a:tabLst>
                <a:tab pos="354965" algn="l"/>
                <a:tab pos="355600" algn="l"/>
              </a:tabLst>
            </a:pPr>
            <a:r>
              <a:rPr sz="3200" spc="-5" dirty="0">
                <a:latin typeface="Times New Roman" pitchFamily="18" charset="0"/>
                <a:cs typeface="Times New Roman" pitchFamily="18" charset="0"/>
              </a:rPr>
              <a:t>Difficult</a:t>
            </a:r>
            <a:r>
              <a:rPr sz="3200" spc="-55" dirty="0">
                <a:latin typeface="Times New Roman" pitchFamily="18" charset="0"/>
                <a:cs typeface="Times New Roman" pitchFamily="18" charset="0"/>
              </a:rPr>
              <a:t> </a:t>
            </a:r>
            <a:r>
              <a:rPr sz="3200" spc="-20" dirty="0">
                <a:latin typeface="Times New Roman" pitchFamily="18" charset="0"/>
                <a:cs typeface="Times New Roman" pitchFamily="18" charset="0"/>
              </a:rPr>
              <a:t>to</a:t>
            </a:r>
            <a:r>
              <a:rPr sz="3200" spc="-30" dirty="0">
                <a:latin typeface="Times New Roman" pitchFamily="18" charset="0"/>
                <a:cs typeface="Times New Roman" pitchFamily="18" charset="0"/>
              </a:rPr>
              <a:t> </a:t>
            </a:r>
            <a:r>
              <a:rPr sz="3200" spc="-15" dirty="0">
                <a:latin typeface="Times New Roman" pitchFamily="18" charset="0"/>
                <a:cs typeface="Times New Roman" pitchFamily="18" charset="0"/>
              </a:rPr>
              <a:t>raise </a:t>
            </a:r>
            <a:r>
              <a:rPr sz="3200" spc="-710" dirty="0">
                <a:latin typeface="Times New Roman" pitchFamily="18" charset="0"/>
                <a:cs typeface="Times New Roman" pitchFamily="18" charset="0"/>
              </a:rPr>
              <a:t> </a:t>
            </a:r>
            <a:r>
              <a:rPr sz="3200" spc="-10" dirty="0">
                <a:latin typeface="Times New Roman" pitchFamily="18" charset="0"/>
                <a:cs typeface="Times New Roman" pitchFamily="18" charset="0"/>
              </a:rPr>
              <a:t>capital</a:t>
            </a:r>
            <a:endParaRPr sz="3200">
              <a:latin typeface="Times New Roman" pitchFamily="18" charset="0"/>
              <a:cs typeface="Times New Roman" pitchFamily="18" charset="0"/>
            </a:endParaRPr>
          </a:p>
          <a:p>
            <a:pPr marL="355600" marR="5080" indent="-342900">
              <a:lnSpc>
                <a:spcPct val="100000"/>
              </a:lnSpc>
              <a:spcBef>
                <a:spcPts val="770"/>
              </a:spcBef>
              <a:buFont typeface="Arial MT"/>
              <a:buChar char="•"/>
              <a:tabLst>
                <a:tab pos="354965" algn="l"/>
                <a:tab pos="355600" algn="l"/>
              </a:tabLst>
            </a:pPr>
            <a:r>
              <a:rPr sz="3200" dirty="0">
                <a:latin typeface="Times New Roman" pitchFamily="18" charset="0"/>
                <a:cs typeface="Times New Roman" pitchFamily="18" charset="0"/>
              </a:rPr>
              <a:t>Business</a:t>
            </a:r>
            <a:r>
              <a:rPr sz="3200" spc="-55" dirty="0">
                <a:latin typeface="Times New Roman" pitchFamily="18" charset="0"/>
                <a:cs typeface="Times New Roman" pitchFamily="18" charset="0"/>
              </a:rPr>
              <a:t> </a:t>
            </a:r>
            <a:r>
              <a:rPr sz="3200" dirty="0">
                <a:latin typeface="Times New Roman" pitchFamily="18" charset="0"/>
                <a:cs typeface="Times New Roman" pitchFamily="18" charset="0"/>
              </a:rPr>
              <a:t>has</a:t>
            </a:r>
            <a:r>
              <a:rPr sz="3200" spc="-45" dirty="0">
                <a:latin typeface="Times New Roman" pitchFamily="18" charset="0"/>
                <a:cs typeface="Times New Roman" pitchFamily="18" charset="0"/>
              </a:rPr>
              <a:t> </a:t>
            </a:r>
            <a:r>
              <a:rPr sz="3200" dirty="0">
                <a:latin typeface="Times New Roman" pitchFamily="18" charset="0"/>
                <a:cs typeface="Times New Roman" pitchFamily="18" charset="0"/>
              </a:rPr>
              <a:t>a</a:t>
            </a:r>
            <a:r>
              <a:rPr sz="3200" spc="-15" dirty="0">
                <a:latin typeface="Times New Roman" pitchFamily="18" charset="0"/>
                <a:cs typeface="Times New Roman" pitchFamily="18" charset="0"/>
              </a:rPr>
              <a:t> </a:t>
            </a:r>
            <a:r>
              <a:rPr sz="3200" spc="-5" dirty="0">
                <a:latin typeface="Times New Roman" pitchFamily="18" charset="0"/>
                <a:cs typeface="Times New Roman" pitchFamily="18" charset="0"/>
              </a:rPr>
              <a:t>limited </a:t>
            </a:r>
            <a:r>
              <a:rPr sz="3200" spc="-710" dirty="0">
                <a:latin typeface="Times New Roman" pitchFamily="18" charset="0"/>
                <a:cs typeface="Times New Roman" pitchFamily="18" charset="0"/>
              </a:rPr>
              <a:t> </a:t>
            </a:r>
            <a:r>
              <a:rPr sz="3200" spc="-15" dirty="0">
                <a:latin typeface="Times New Roman" pitchFamily="18" charset="0"/>
                <a:cs typeface="Times New Roman" pitchFamily="18" charset="0"/>
              </a:rPr>
              <a:t>life</a:t>
            </a:r>
            <a:endParaRPr sz="3200">
              <a:latin typeface="Times New Roman" pitchFamily="18" charset="0"/>
              <a:cs typeface="Times New Roman" pitchFamily="18" charset="0"/>
            </a:endParaRPr>
          </a:p>
          <a:p>
            <a:pPr marL="355600" marR="621665" indent="-342900">
              <a:lnSpc>
                <a:spcPct val="100000"/>
              </a:lnSpc>
              <a:spcBef>
                <a:spcPts val="765"/>
              </a:spcBef>
              <a:buFont typeface="Arial MT"/>
              <a:buChar char="•"/>
              <a:tabLst>
                <a:tab pos="354965" algn="l"/>
                <a:tab pos="355600" algn="l"/>
              </a:tabLst>
            </a:pPr>
            <a:r>
              <a:rPr sz="3200" spc="-5" dirty="0">
                <a:latin typeface="Times New Roman" pitchFamily="18" charset="0"/>
                <a:cs typeface="Times New Roman" pitchFamily="18" charset="0"/>
              </a:rPr>
              <a:t>Difficult </a:t>
            </a:r>
            <a:r>
              <a:rPr sz="3200" spc="-20" dirty="0">
                <a:latin typeface="Times New Roman" pitchFamily="18" charset="0"/>
                <a:cs typeface="Times New Roman" pitchFamily="18" charset="0"/>
              </a:rPr>
              <a:t>to </a:t>
            </a:r>
            <a:r>
              <a:rPr sz="3200" dirty="0">
                <a:latin typeface="Times New Roman" pitchFamily="18" charset="0"/>
                <a:cs typeface="Times New Roman" pitchFamily="18" charset="0"/>
              </a:rPr>
              <a:t>do </a:t>
            </a:r>
            <a:r>
              <a:rPr sz="3200" spc="5" dirty="0">
                <a:latin typeface="Times New Roman" pitchFamily="18" charset="0"/>
                <a:cs typeface="Times New Roman" pitchFamily="18" charset="0"/>
              </a:rPr>
              <a:t> </a:t>
            </a:r>
            <a:r>
              <a:rPr sz="3200" dirty="0">
                <a:latin typeface="Times New Roman" pitchFamily="18" charset="0"/>
                <a:cs typeface="Times New Roman" pitchFamily="18" charset="0"/>
              </a:rPr>
              <a:t>business</a:t>
            </a:r>
            <a:r>
              <a:rPr sz="3200" spc="-90" dirty="0">
                <a:latin typeface="Times New Roman" pitchFamily="18" charset="0"/>
                <a:cs typeface="Times New Roman" pitchFamily="18" charset="0"/>
              </a:rPr>
              <a:t> </a:t>
            </a:r>
            <a:r>
              <a:rPr sz="3200" spc="-10" dirty="0">
                <a:latin typeface="Times New Roman" pitchFamily="18" charset="0"/>
                <a:cs typeface="Times New Roman" pitchFamily="18" charset="0"/>
              </a:rPr>
              <a:t>beyond</a:t>
            </a:r>
            <a:r>
              <a:rPr sz="3200" spc="-55" dirty="0">
                <a:latin typeface="Times New Roman" pitchFamily="18" charset="0"/>
                <a:cs typeface="Times New Roman" pitchFamily="18" charset="0"/>
              </a:rPr>
              <a:t> </a:t>
            </a:r>
            <a:r>
              <a:rPr sz="3200" dirty="0">
                <a:latin typeface="Times New Roman" pitchFamily="18" charset="0"/>
                <a:cs typeface="Times New Roman" pitchFamily="18" charset="0"/>
              </a:rPr>
              <a:t>a </a:t>
            </a:r>
            <a:r>
              <a:rPr sz="3200" spc="-710" dirty="0">
                <a:latin typeface="Times New Roman" pitchFamily="18" charset="0"/>
                <a:cs typeface="Times New Roman" pitchFamily="18" charset="0"/>
              </a:rPr>
              <a:t> </a:t>
            </a:r>
            <a:r>
              <a:rPr sz="3200" spc="-10" dirty="0">
                <a:latin typeface="Times New Roman" pitchFamily="18" charset="0"/>
                <a:cs typeface="Times New Roman" pitchFamily="18" charset="0"/>
              </a:rPr>
              <a:t>certain</a:t>
            </a:r>
            <a:r>
              <a:rPr sz="3200" spc="-35" dirty="0">
                <a:latin typeface="Times New Roman" pitchFamily="18" charset="0"/>
                <a:cs typeface="Times New Roman" pitchFamily="18" charset="0"/>
              </a:rPr>
              <a:t> </a:t>
            </a:r>
            <a:r>
              <a:rPr sz="3200" spc="-15" dirty="0">
                <a:latin typeface="Times New Roman" pitchFamily="18" charset="0"/>
                <a:cs typeface="Times New Roman" pitchFamily="18" charset="0"/>
              </a:rPr>
              <a:t>size</a:t>
            </a:r>
            <a:endParaRPr sz="3200">
              <a:latin typeface="Times New Roman" pitchFamily="18" charset="0"/>
              <a:cs typeface="Times New Roman" pitchFamily="18" charset="0"/>
            </a:endParaRPr>
          </a:p>
        </p:txBody>
      </p:sp>
      <p:pic>
        <p:nvPicPr>
          <p:cNvPr id="4" name="object 4"/>
          <p:cNvPicPr/>
          <p:nvPr/>
        </p:nvPicPr>
        <p:blipFill>
          <a:blip r:embed="rId2" cstate="print"/>
          <a:stretch>
            <a:fillRect/>
          </a:stretch>
        </p:blipFill>
        <p:spPr>
          <a:xfrm>
            <a:off x="4419600" y="2209800"/>
            <a:ext cx="4583430" cy="304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8522" y="186944"/>
            <a:ext cx="7291070" cy="505267"/>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12700" rIns="0" bIns="0" rtlCol="0">
            <a:spAutoFit/>
          </a:bodyPr>
          <a:lstStyle/>
          <a:p>
            <a:pPr marL="12700">
              <a:lnSpc>
                <a:spcPct val="100000"/>
              </a:lnSpc>
              <a:spcBef>
                <a:spcPts val="100"/>
              </a:spcBef>
            </a:pPr>
            <a:r>
              <a:rPr sz="3200" spc="-5" dirty="0">
                <a:latin typeface="+mj-lt"/>
              </a:rPr>
              <a:t>JOINT</a:t>
            </a:r>
            <a:r>
              <a:rPr sz="3200" spc="-25" dirty="0">
                <a:latin typeface="+mj-lt"/>
              </a:rPr>
              <a:t> </a:t>
            </a:r>
            <a:r>
              <a:rPr sz="3200" dirty="0">
                <a:latin typeface="+mj-lt"/>
              </a:rPr>
              <a:t>HINDU </a:t>
            </a:r>
            <a:r>
              <a:rPr sz="3200" spc="-110" dirty="0">
                <a:latin typeface="+mj-lt"/>
              </a:rPr>
              <a:t>FAMILY</a:t>
            </a:r>
            <a:r>
              <a:rPr sz="3200" spc="5" dirty="0">
                <a:latin typeface="+mj-lt"/>
              </a:rPr>
              <a:t> </a:t>
            </a:r>
            <a:r>
              <a:rPr sz="3200" spc="-5" dirty="0">
                <a:latin typeface="+mj-lt"/>
              </a:rPr>
              <a:t>BUSINESS</a:t>
            </a:r>
          </a:p>
        </p:txBody>
      </p:sp>
      <p:sp>
        <p:nvSpPr>
          <p:cNvPr id="3" name="object 3"/>
          <p:cNvSpPr txBox="1"/>
          <p:nvPr/>
        </p:nvSpPr>
        <p:spPr>
          <a:xfrm>
            <a:off x="78739" y="877570"/>
            <a:ext cx="4836160" cy="5695950"/>
          </a:xfrm>
          <a:prstGeom prst="rect">
            <a:avLst/>
          </a:prstGeom>
        </p:spPr>
        <p:txBody>
          <a:bodyPr vert="horz" wrap="square" lIns="0" tIns="64135" rIns="0" bIns="0" rtlCol="0">
            <a:spAutoFit/>
          </a:bodyPr>
          <a:lstStyle/>
          <a:p>
            <a:pPr marL="355600" marR="5080" indent="-342900" algn="just">
              <a:lnSpc>
                <a:spcPts val="3240"/>
              </a:lnSpc>
              <a:spcBef>
                <a:spcPts val="505"/>
              </a:spcBef>
              <a:buFont typeface="Arial MT"/>
              <a:buChar char="•"/>
              <a:tabLst>
                <a:tab pos="355600" algn="l"/>
              </a:tabLst>
            </a:pPr>
            <a:r>
              <a:rPr sz="3000" spc="-10" dirty="0">
                <a:latin typeface="Times New Roman" pitchFamily="18" charset="0"/>
                <a:cs typeface="Times New Roman" pitchFamily="18" charset="0"/>
              </a:rPr>
              <a:t>Comes </a:t>
            </a:r>
            <a:r>
              <a:rPr sz="3000" spc="-15" dirty="0">
                <a:latin typeface="Times New Roman" pitchFamily="18" charset="0"/>
                <a:cs typeface="Times New Roman" pitchFamily="18" charset="0"/>
              </a:rPr>
              <a:t>into </a:t>
            </a:r>
            <a:r>
              <a:rPr sz="3000" spc="-20" dirty="0">
                <a:latin typeface="Times New Roman" pitchFamily="18" charset="0"/>
                <a:cs typeface="Times New Roman" pitchFamily="18" charset="0"/>
              </a:rPr>
              <a:t>existence </a:t>
            </a:r>
            <a:r>
              <a:rPr sz="3000" dirty="0">
                <a:latin typeface="Times New Roman" pitchFamily="18" charset="0"/>
                <a:cs typeface="Times New Roman" pitchFamily="18" charset="0"/>
              </a:rPr>
              <a:t>as per </a:t>
            </a:r>
            <a:r>
              <a:rPr sz="3000" spc="5" dirty="0">
                <a:latin typeface="Times New Roman" pitchFamily="18" charset="0"/>
                <a:cs typeface="Times New Roman" pitchFamily="18" charset="0"/>
              </a:rPr>
              <a:t> </a:t>
            </a:r>
            <a:r>
              <a:rPr sz="3000" dirty="0">
                <a:latin typeface="Times New Roman" pitchFamily="18" charset="0"/>
                <a:cs typeface="Times New Roman" pitchFamily="18" charset="0"/>
              </a:rPr>
              <a:t>the</a:t>
            </a:r>
            <a:r>
              <a:rPr sz="3000" spc="-35" dirty="0">
                <a:latin typeface="Times New Roman" pitchFamily="18" charset="0"/>
                <a:cs typeface="Times New Roman" pitchFamily="18" charset="0"/>
              </a:rPr>
              <a:t> </a:t>
            </a:r>
            <a:r>
              <a:rPr sz="3000" spc="-5" dirty="0">
                <a:latin typeface="Times New Roman" pitchFamily="18" charset="0"/>
                <a:cs typeface="Times New Roman" pitchFamily="18" charset="0"/>
              </a:rPr>
              <a:t>Hindu</a:t>
            </a:r>
            <a:r>
              <a:rPr sz="3000" spc="-15" dirty="0">
                <a:latin typeface="Times New Roman" pitchFamily="18" charset="0"/>
                <a:cs typeface="Times New Roman" pitchFamily="18" charset="0"/>
              </a:rPr>
              <a:t> </a:t>
            </a:r>
            <a:r>
              <a:rPr sz="3000" spc="-5" dirty="0">
                <a:latin typeface="Times New Roman" pitchFamily="18" charset="0"/>
                <a:cs typeface="Times New Roman" pitchFamily="18" charset="0"/>
              </a:rPr>
              <a:t>Inheritance</a:t>
            </a:r>
            <a:r>
              <a:rPr sz="3000" spc="-30" dirty="0">
                <a:latin typeface="Times New Roman" pitchFamily="18" charset="0"/>
                <a:cs typeface="Times New Roman" pitchFamily="18" charset="0"/>
              </a:rPr>
              <a:t> </a:t>
            </a:r>
            <a:r>
              <a:rPr sz="3000" dirty="0">
                <a:latin typeface="Times New Roman" pitchFamily="18" charset="0"/>
                <a:cs typeface="Times New Roman" pitchFamily="18" charset="0"/>
              </a:rPr>
              <a:t>Act</a:t>
            </a:r>
            <a:r>
              <a:rPr sz="3000" spc="-30" dirty="0">
                <a:latin typeface="Times New Roman" pitchFamily="18" charset="0"/>
                <a:cs typeface="Times New Roman" pitchFamily="18" charset="0"/>
              </a:rPr>
              <a:t> </a:t>
            </a:r>
            <a:r>
              <a:rPr sz="3000" dirty="0">
                <a:latin typeface="Times New Roman" pitchFamily="18" charset="0"/>
                <a:cs typeface="Times New Roman" pitchFamily="18" charset="0"/>
              </a:rPr>
              <a:t>of </a:t>
            </a:r>
            <a:r>
              <a:rPr sz="3000" spc="-670" dirty="0">
                <a:latin typeface="Times New Roman" pitchFamily="18" charset="0"/>
                <a:cs typeface="Times New Roman" pitchFamily="18" charset="0"/>
              </a:rPr>
              <a:t> </a:t>
            </a:r>
            <a:r>
              <a:rPr sz="3000" spc="-5" dirty="0">
                <a:latin typeface="Times New Roman" pitchFamily="18" charset="0"/>
                <a:cs typeface="Times New Roman" pitchFamily="18" charset="0"/>
              </a:rPr>
              <a:t>India</a:t>
            </a:r>
            <a:endParaRPr sz="3000">
              <a:latin typeface="Times New Roman" pitchFamily="18" charset="0"/>
              <a:cs typeface="Times New Roman" pitchFamily="18" charset="0"/>
            </a:endParaRPr>
          </a:p>
          <a:p>
            <a:pPr marL="355600" marR="109855" indent="-342900" algn="just">
              <a:lnSpc>
                <a:spcPts val="3240"/>
              </a:lnSpc>
              <a:spcBef>
                <a:spcPts val="725"/>
              </a:spcBef>
              <a:buFont typeface="Arial MT"/>
              <a:buChar char="•"/>
              <a:tabLst>
                <a:tab pos="355600" algn="l"/>
              </a:tabLst>
            </a:pPr>
            <a:r>
              <a:rPr sz="3000" spc="-5" dirty="0">
                <a:latin typeface="Times New Roman" pitchFamily="18" charset="0"/>
                <a:cs typeface="Times New Roman" pitchFamily="18" charset="0"/>
              </a:rPr>
              <a:t>This </a:t>
            </a:r>
            <a:r>
              <a:rPr sz="3000" spc="-15" dirty="0">
                <a:latin typeface="Times New Roman" pitchFamily="18" charset="0"/>
                <a:cs typeface="Times New Roman" pitchFamily="18" charset="0"/>
              </a:rPr>
              <a:t>form </a:t>
            </a:r>
            <a:r>
              <a:rPr sz="3000" dirty="0">
                <a:latin typeface="Times New Roman" pitchFamily="18" charset="0"/>
                <a:cs typeface="Times New Roman" pitchFamily="18" charset="0"/>
              </a:rPr>
              <a:t>of </a:t>
            </a:r>
            <a:r>
              <a:rPr sz="3000" spc="-5" dirty="0">
                <a:latin typeface="Times New Roman" pitchFamily="18" charset="0"/>
                <a:cs typeface="Times New Roman" pitchFamily="18" charset="0"/>
              </a:rPr>
              <a:t>business </a:t>
            </a:r>
            <a:r>
              <a:rPr sz="3000" spc="-15" dirty="0">
                <a:latin typeface="Times New Roman" pitchFamily="18" charset="0"/>
                <a:cs typeface="Times New Roman" pitchFamily="18" charset="0"/>
              </a:rPr>
              <a:t>found </a:t>
            </a:r>
            <a:r>
              <a:rPr sz="3000" spc="-665" dirty="0">
                <a:latin typeface="Times New Roman" pitchFamily="18" charset="0"/>
                <a:cs typeface="Times New Roman" pitchFamily="18" charset="0"/>
              </a:rPr>
              <a:t> </a:t>
            </a:r>
            <a:r>
              <a:rPr sz="3000" spc="-5" dirty="0">
                <a:latin typeface="Times New Roman" pitchFamily="18" charset="0"/>
                <a:cs typeface="Times New Roman" pitchFamily="18" charset="0"/>
              </a:rPr>
              <a:t>only</a:t>
            </a:r>
            <a:r>
              <a:rPr sz="3000" spc="-20" dirty="0">
                <a:latin typeface="Times New Roman" pitchFamily="18" charset="0"/>
                <a:cs typeface="Times New Roman" pitchFamily="18" charset="0"/>
              </a:rPr>
              <a:t> </a:t>
            </a:r>
            <a:r>
              <a:rPr sz="3000" dirty="0">
                <a:latin typeface="Times New Roman" pitchFamily="18" charset="0"/>
                <a:cs typeface="Times New Roman" pitchFamily="18" charset="0"/>
              </a:rPr>
              <a:t>in</a:t>
            </a:r>
            <a:r>
              <a:rPr sz="3000" spc="-5" dirty="0">
                <a:latin typeface="Times New Roman" pitchFamily="18" charset="0"/>
                <a:cs typeface="Times New Roman" pitchFamily="18" charset="0"/>
              </a:rPr>
              <a:t> </a:t>
            </a:r>
            <a:r>
              <a:rPr sz="3000" dirty="0">
                <a:latin typeface="Times New Roman" pitchFamily="18" charset="0"/>
                <a:cs typeface="Times New Roman" pitchFamily="18" charset="0"/>
              </a:rPr>
              <a:t>India</a:t>
            </a:r>
            <a:endParaRPr sz="3000">
              <a:latin typeface="Times New Roman" pitchFamily="18" charset="0"/>
              <a:cs typeface="Times New Roman" pitchFamily="18" charset="0"/>
            </a:endParaRPr>
          </a:p>
          <a:p>
            <a:pPr marL="355600" marR="50165" indent="-342900">
              <a:lnSpc>
                <a:spcPts val="3240"/>
              </a:lnSpc>
              <a:spcBef>
                <a:spcPts val="720"/>
              </a:spcBef>
              <a:buFont typeface="Arial MT"/>
              <a:buChar char="•"/>
              <a:tabLst>
                <a:tab pos="354965" algn="l"/>
                <a:tab pos="355600" algn="l"/>
              </a:tabLst>
            </a:pPr>
            <a:r>
              <a:rPr sz="3000" spc="-5" dirty="0">
                <a:latin typeface="Times New Roman" pitchFamily="18" charset="0"/>
                <a:cs typeface="Times New Roman" pitchFamily="18" charset="0"/>
              </a:rPr>
              <a:t>All </a:t>
            </a:r>
            <a:r>
              <a:rPr sz="3000" spc="-10" dirty="0">
                <a:latin typeface="Times New Roman" pitchFamily="18" charset="0"/>
                <a:cs typeface="Times New Roman" pitchFamily="18" charset="0"/>
              </a:rPr>
              <a:t>members </a:t>
            </a:r>
            <a:r>
              <a:rPr sz="3000" dirty="0">
                <a:latin typeface="Times New Roman" pitchFamily="18" charset="0"/>
                <a:cs typeface="Times New Roman" pitchFamily="18" charset="0"/>
              </a:rPr>
              <a:t>of the </a:t>
            </a:r>
            <a:r>
              <a:rPr sz="3000" spc="-5" dirty="0">
                <a:latin typeface="Times New Roman" pitchFamily="18" charset="0"/>
                <a:cs typeface="Times New Roman" pitchFamily="18" charset="0"/>
              </a:rPr>
              <a:t>Hindu </a:t>
            </a:r>
            <a:r>
              <a:rPr sz="3000" dirty="0">
                <a:latin typeface="Times New Roman" pitchFamily="18" charset="0"/>
                <a:cs typeface="Times New Roman" pitchFamily="18" charset="0"/>
              </a:rPr>
              <a:t> </a:t>
            </a:r>
            <a:r>
              <a:rPr sz="3000" spc="-5" dirty="0">
                <a:latin typeface="Times New Roman" pitchFamily="18" charset="0"/>
                <a:cs typeface="Times New Roman" pitchFamily="18" charset="0"/>
              </a:rPr>
              <a:t>Undivided </a:t>
            </a:r>
            <a:r>
              <a:rPr sz="3000" spc="-15" dirty="0">
                <a:latin typeface="Times New Roman" pitchFamily="18" charset="0"/>
                <a:cs typeface="Times New Roman" pitchFamily="18" charset="0"/>
              </a:rPr>
              <a:t>Family(HUF) </a:t>
            </a:r>
            <a:r>
              <a:rPr sz="3000" dirty="0">
                <a:latin typeface="Times New Roman" pitchFamily="18" charset="0"/>
                <a:cs typeface="Times New Roman" pitchFamily="18" charset="0"/>
              </a:rPr>
              <a:t>own </a:t>
            </a:r>
            <a:r>
              <a:rPr sz="3000" spc="-665" dirty="0">
                <a:latin typeface="Times New Roman" pitchFamily="18" charset="0"/>
                <a:cs typeface="Times New Roman" pitchFamily="18" charset="0"/>
              </a:rPr>
              <a:t> </a:t>
            </a:r>
            <a:r>
              <a:rPr sz="3000" dirty="0">
                <a:latin typeface="Times New Roman" pitchFamily="18" charset="0"/>
                <a:cs typeface="Times New Roman" pitchFamily="18" charset="0"/>
              </a:rPr>
              <a:t>the</a:t>
            </a:r>
            <a:r>
              <a:rPr sz="3000" spc="-20" dirty="0">
                <a:latin typeface="Times New Roman" pitchFamily="18" charset="0"/>
                <a:cs typeface="Times New Roman" pitchFamily="18" charset="0"/>
              </a:rPr>
              <a:t> </a:t>
            </a:r>
            <a:r>
              <a:rPr sz="3000" spc="-5" dirty="0">
                <a:latin typeface="Times New Roman" pitchFamily="18" charset="0"/>
                <a:cs typeface="Times New Roman" pitchFamily="18" charset="0"/>
              </a:rPr>
              <a:t>business</a:t>
            </a:r>
            <a:r>
              <a:rPr sz="3000" spc="15" dirty="0">
                <a:latin typeface="Times New Roman" pitchFamily="18" charset="0"/>
                <a:cs typeface="Times New Roman" pitchFamily="18" charset="0"/>
              </a:rPr>
              <a:t> </a:t>
            </a:r>
            <a:r>
              <a:rPr sz="3000" spc="-10" dirty="0">
                <a:latin typeface="Times New Roman" pitchFamily="18" charset="0"/>
                <a:cs typeface="Times New Roman" pitchFamily="18" charset="0"/>
              </a:rPr>
              <a:t>jointly</a:t>
            </a:r>
            <a:endParaRPr sz="3000">
              <a:latin typeface="Times New Roman" pitchFamily="18" charset="0"/>
              <a:cs typeface="Times New Roman" pitchFamily="18" charset="0"/>
            </a:endParaRPr>
          </a:p>
          <a:p>
            <a:pPr marL="355600" marR="45085" indent="-342900">
              <a:lnSpc>
                <a:spcPct val="90000"/>
              </a:lnSpc>
              <a:spcBef>
                <a:spcPts val="675"/>
              </a:spcBef>
              <a:buFont typeface="Arial MT"/>
              <a:buChar char="•"/>
              <a:tabLst>
                <a:tab pos="354965" algn="l"/>
                <a:tab pos="355600" algn="l"/>
              </a:tabLst>
            </a:pPr>
            <a:r>
              <a:rPr sz="3000" spc="-5" dirty="0">
                <a:latin typeface="Times New Roman" pitchFamily="18" charset="0"/>
                <a:cs typeface="Times New Roman" pitchFamily="18" charset="0"/>
              </a:rPr>
              <a:t>The </a:t>
            </a:r>
            <a:r>
              <a:rPr sz="3000" spc="-20" dirty="0">
                <a:latin typeface="Times New Roman" pitchFamily="18" charset="0"/>
                <a:cs typeface="Times New Roman" pitchFamily="18" charset="0"/>
              </a:rPr>
              <a:t>affairs </a:t>
            </a:r>
            <a:r>
              <a:rPr sz="3000" spc="-5" dirty="0">
                <a:latin typeface="Times New Roman" pitchFamily="18" charset="0"/>
                <a:cs typeface="Times New Roman" pitchFamily="18" charset="0"/>
              </a:rPr>
              <a:t>of </a:t>
            </a:r>
            <a:r>
              <a:rPr sz="3000" dirty="0">
                <a:latin typeface="Times New Roman" pitchFamily="18" charset="0"/>
                <a:cs typeface="Times New Roman" pitchFamily="18" charset="0"/>
              </a:rPr>
              <a:t>the business </a:t>
            </a:r>
            <a:r>
              <a:rPr sz="3000" spc="5" dirty="0">
                <a:latin typeface="Times New Roman" pitchFamily="18" charset="0"/>
                <a:cs typeface="Times New Roman" pitchFamily="18" charset="0"/>
              </a:rPr>
              <a:t> </a:t>
            </a:r>
            <a:r>
              <a:rPr sz="3000" spc="-15" dirty="0">
                <a:latin typeface="Times New Roman" pitchFamily="18" charset="0"/>
                <a:cs typeface="Times New Roman" pitchFamily="18" charset="0"/>
              </a:rPr>
              <a:t>are</a:t>
            </a:r>
            <a:r>
              <a:rPr sz="3000" spc="-40" dirty="0">
                <a:latin typeface="Times New Roman" pitchFamily="18" charset="0"/>
                <a:cs typeface="Times New Roman" pitchFamily="18" charset="0"/>
              </a:rPr>
              <a:t> </a:t>
            </a:r>
            <a:r>
              <a:rPr sz="3000" spc="-10" dirty="0">
                <a:latin typeface="Times New Roman" pitchFamily="18" charset="0"/>
                <a:cs typeface="Times New Roman" pitchFamily="18" charset="0"/>
              </a:rPr>
              <a:t>managed</a:t>
            </a:r>
            <a:r>
              <a:rPr sz="3000" spc="-25" dirty="0">
                <a:latin typeface="Times New Roman" pitchFamily="18" charset="0"/>
                <a:cs typeface="Times New Roman" pitchFamily="18" charset="0"/>
              </a:rPr>
              <a:t> </a:t>
            </a:r>
            <a:r>
              <a:rPr sz="3000" spc="-5" dirty="0">
                <a:latin typeface="Times New Roman" pitchFamily="18" charset="0"/>
                <a:cs typeface="Times New Roman" pitchFamily="18" charset="0"/>
              </a:rPr>
              <a:t>by</a:t>
            </a:r>
            <a:r>
              <a:rPr sz="3000" spc="-20" dirty="0">
                <a:latin typeface="Times New Roman" pitchFamily="18" charset="0"/>
                <a:cs typeface="Times New Roman" pitchFamily="18" charset="0"/>
              </a:rPr>
              <a:t> </a:t>
            </a:r>
            <a:r>
              <a:rPr sz="3000" dirty="0">
                <a:latin typeface="Times New Roman" pitchFamily="18" charset="0"/>
                <a:cs typeface="Times New Roman" pitchFamily="18" charset="0"/>
              </a:rPr>
              <a:t>head</a:t>
            </a:r>
            <a:r>
              <a:rPr sz="3000" spc="-25" dirty="0">
                <a:latin typeface="Times New Roman" pitchFamily="18" charset="0"/>
                <a:cs typeface="Times New Roman" pitchFamily="18" charset="0"/>
              </a:rPr>
              <a:t> </a:t>
            </a:r>
            <a:r>
              <a:rPr sz="3000" dirty="0">
                <a:latin typeface="Times New Roman" pitchFamily="18" charset="0"/>
                <a:cs typeface="Times New Roman" pitchFamily="18" charset="0"/>
              </a:rPr>
              <a:t>of</a:t>
            </a:r>
            <a:r>
              <a:rPr sz="3000" spc="-20" dirty="0">
                <a:latin typeface="Times New Roman" pitchFamily="18" charset="0"/>
                <a:cs typeface="Times New Roman" pitchFamily="18" charset="0"/>
              </a:rPr>
              <a:t> </a:t>
            </a:r>
            <a:r>
              <a:rPr sz="3000" dirty="0">
                <a:latin typeface="Times New Roman" pitchFamily="18" charset="0"/>
                <a:cs typeface="Times New Roman" pitchFamily="18" charset="0"/>
              </a:rPr>
              <a:t>the </a:t>
            </a:r>
            <a:r>
              <a:rPr sz="3000" spc="-665" dirty="0">
                <a:latin typeface="Times New Roman" pitchFamily="18" charset="0"/>
                <a:cs typeface="Times New Roman" pitchFamily="18" charset="0"/>
              </a:rPr>
              <a:t> </a:t>
            </a:r>
            <a:r>
              <a:rPr sz="3000" spc="-15" dirty="0">
                <a:latin typeface="Times New Roman" pitchFamily="18" charset="0"/>
                <a:cs typeface="Times New Roman" pitchFamily="18" charset="0"/>
              </a:rPr>
              <a:t>family</a:t>
            </a:r>
            <a:r>
              <a:rPr sz="3000" spc="-5" dirty="0">
                <a:latin typeface="Times New Roman" pitchFamily="18" charset="0"/>
                <a:cs typeface="Times New Roman" pitchFamily="18" charset="0"/>
              </a:rPr>
              <a:t> </a:t>
            </a:r>
            <a:r>
              <a:rPr sz="3000" spc="-10" dirty="0">
                <a:latin typeface="Times New Roman" pitchFamily="18" charset="0"/>
                <a:cs typeface="Times New Roman" pitchFamily="18" charset="0"/>
              </a:rPr>
              <a:t>called</a:t>
            </a:r>
            <a:r>
              <a:rPr sz="3000" spc="-20" dirty="0">
                <a:latin typeface="Times New Roman" pitchFamily="18" charset="0"/>
                <a:cs typeface="Times New Roman" pitchFamily="18" charset="0"/>
              </a:rPr>
              <a:t> </a:t>
            </a:r>
            <a:r>
              <a:rPr sz="3000" spc="-45" dirty="0">
                <a:latin typeface="Times New Roman" pitchFamily="18" charset="0"/>
                <a:cs typeface="Times New Roman" pitchFamily="18" charset="0"/>
              </a:rPr>
              <a:t>“Karta”. </a:t>
            </a:r>
            <a:r>
              <a:rPr sz="3000" spc="-5" dirty="0">
                <a:latin typeface="Times New Roman" pitchFamily="18" charset="0"/>
                <a:cs typeface="Times New Roman" pitchFamily="18" charset="0"/>
              </a:rPr>
              <a:t>All </a:t>
            </a:r>
            <a:r>
              <a:rPr sz="3000" dirty="0">
                <a:latin typeface="Times New Roman" pitchFamily="18" charset="0"/>
                <a:cs typeface="Times New Roman" pitchFamily="18" charset="0"/>
              </a:rPr>
              <a:t> other </a:t>
            </a:r>
            <a:r>
              <a:rPr sz="3000" spc="-10" dirty="0">
                <a:latin typeface="Times New Roman" pitchFamily="18" charset="0"/>
                <a:cs typeface="Times New Roman" pitchFamily="18" charset="0"/>
              </a:rPr>
              <a:t>members </a:t>
            </a:r>
            <a:r>
              <a:rPr sz="3000" spc="-15" dirty="0">
                <a:latin typeface="Times New Roman" pitchFamily="18" charset="0"/>
                <a:cs typeface="Times New Roman" pitchFamily="18" charset="0"/>
              </a:rPr>
              <a:t>are </a:t>
            </a:r>
            <a:r>
              <a:rPr sz="3000" spc="-10" dirty="0">
                <a:latin typeface="Times New Roman" pitchFamily="18" charset="0"/>
                <a:cs typeface="Times New Roman" pitchFamily="18" charset="0"/>
              </a:rPr>
              <a:t>called </a:t>
            </a:r>
            <a:r>
              <a:rPr sz="3000" spc="-5" dirty="0">
                <a:latin typeface="Times New Roman" pitchFamily="18" charset="0"/>
                <a:cs typeface="Times New Roman" pitchFamily="18" charset="0"/>
              </a:rPr>
              <a:t> </a:t>
            </a:r>
            <a:r>
              <a:rPr sz="3000" spc="-10" dirty="0">
                <a:latin typeface="Times New Roman" pitchFamily="18" charset="0"/>
                <a:cs typeface="Times New Roman" pitchFamily="18" charset="0"/>
              </a:rPr>
              <a:t>“Co-parceners”</a:t>
            </a:r>
            <a:endParaRPr sz="3000">
              <a:latin typeface="Times New Roman" pitchFamily="18" charset="0"/>
              <a:cs typeface="Times New Roman" pitchFamily="18" charset="0"/>
            </a:endParaRPr>
          </a:p>
        </p:txBody>
      </p:sp>
      <p:pic>
        <p:nvPicPr>
          <p:cNvPr id="4" name="object 4"/>
          <p:cNvPicPr/>
          <p:nvPr/>
        </p:nvPicPr>
        <p:blipFill>
          <a:blip r:embed="rId2" cstate="print"/>
          <a:stretch>
            <a:fillRect/>
          </a:stretch>
        </p:blipFill>
        <p:spPr>
          <a:xfrm>
            <a:off x="5105400" y="2057400"/>
            <a:ext cx="3819525" cy="27336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387807"/>
            <a:ext cx="5916930" cy="6172835"/>
          </a:xfrm>
          <a:prstGeom prst="rect">
            <a:avLst/>
          </a:prstGeom>
        </p:spPr>
        <p:txBody>
          <a:bodyPr vert="horz" wrap="square" lIns="0" tIns="13335" rIns="0" bIns="0" rtlCol="0">
            <a:spAutoFit/>
          </a:bodyPr>
          <a:lstStyle/>
          <a:p>
            <a:pPr marL="355600" marR="72390" indent="-342900">
              <a:lnSpc>
                <a:spcPct val="100000"/>
              </a:lnSpc>
              <a:spcBef>
                <a:spcPts val="105"/>
              </a:spcBef>
              <a:buFont typeface="Arial MT"/>
              <a:buChar char="•"/>
              <a:tabLst>
                <a:tab pos="354965" algn="l"/>
                <a:tab pos="355600" algn="l"/>
              </a:tabLst>
            </a:pPr>
            <a:r>
              <a:rPr sz="3200" b="1" spc="-5" dirty="0">
                <a:latin typeface="Calibri"/>
                <a:cs typeface="Calibri"/>
              </a:rPr>
              <a:t>Membership</a:t>
            </a:r>
            <a:r>
              <a:rPr sz="3200" b="1" spc="-55" dirty="0">
                <a:latin typeface="Calibri"/>
                <a:cs typeface="Calibri"/>
              </a:rPr>
              <a:t> </a:t>
            </a:r>
            <a:r>
              <a:rPr sz="3200" b="1" dirty="0">
                <a:latin typeface="Calibri"/>
                <a:cs typeface="Calibri"/>
              </a:rPr>
              <a:t>is</a:t>
            </a:r>
            <a:r>
              <a:rPr sz="3200" b="1" spc="-20" dirty="0">
                <a:latin typeface="Calibri"/>
                <a:cs typeface="Calibri"/>
              </a:rPr>
              <a:t> </a:t>
            </a:r>
            <a:r>
              <a:rPr sz="3200" b="1" spc="-10" dirty="0">
                <a:latin typeface="Calibri"/>
                <a:cs typeface="Calibri"/>
              </a:rPr>
              <a:t>restricted</a:t>
            </a:r>
            <a:r>
              <a:rPr sz="3200" b="1" spc="-55" dirty="0">
                <a:latin typeface="Calibri"/>
                <a:cs typeface="Calibri"/>
              </a:rPr>
              <a:t> </a:t>
            </a:r>
            <a:r>
              <a:rPr sz="3200" b="1" dirty="0">
                <a:latin typeface="Calibri"/>
                <a:cs typeface="Calibri"/>
              </a:rPr>
              <a:t>only</a:t>
            </a:r>
            <a:r>
              <a:rPr sz="3200" b="1" spc="-30" dirty="0">
                <a:latin typeface="Calibri"/>
                <a:cs typeface="Calibri"/>
              </a:rPr>
              <a:t> </a:t>
            </a:r>
            <a:r>
              <a:rPr sz="3200" b="1" spc="-15" dirty="0">
                <a:latin typeface="Calibri"/>
                <a:cs typeface="Calibri"/>
              </a:rPr>
              <a:t>to </a:t>
            </a:r>
            <a:r>
              <a:rPr sz="3200" b="1" spc="-710" dirty="0">
                <a:latin typeface="Calibri"/>
                <a:cs typeface="Calibri"/>
              </a:rPr>
              <a:t> </a:t>
            </a:r>
            <a:r>
              <a:rPr sz="3200" b="1" spc="-10" dirty="0">
                <a:latin typeface="Calibri"/>
                <a:cs typeface="Calibri"/>
              </a:rPr>
              <a:t>members </a:t>
            </a:r>
            <a:r>
              <a:rPr sz="3200" b="1" dirty="0">
                <a:latin typeface="Calibri"/>
                <a:cs typeface="Calibri"/>
              </a:rPr>
              <a:t>of </a:t>
            </a:r>
            <a:r>
              <a:rPr sz="3200" b="1" spc="5" dirty="0">
                <a:latin typeface="Calibri"/>
                <a:cs typeface="Calibri"/>
              </a:rPr>
              <a:t>the </a:t>
            </a:r>
            <a:r>
              <a:rPr sz="3200" b="1" spc="-10" dirty="0">
                <a:latin typeface="Calibri"/>
                <a:cs typeface="Calibri"/>
              </a:rPr>
              <a:t>Joint </a:t>
            </a:r>
            <a:r>
              <a:rPr sz="3200" b="1" spc="-35" dirty="0">
                <a:latin typeface="Calibri"/>
                <a:cs typeface="Calibri"/>
              </a:rPr>
              <a:t>family. </a:t>
            </a:r>
            <a:r>
              <a:rPr sz="3200" b="1" dirty="0">
                <a:latin typeface="Calibri"/>
                <a:cs typeface="Calibri"/>
              </a:rPr>
              <a:t>No </a:t>
            </a:r>
            <a:r>
              <a:rPr sz="3200" b="1" spc="5" dirty="0">
                <a:latin typeface="Calibri"/>
                <a:cs typeface="Calibri"/>
              </a:rPr>
              <a:t> </a:t>
            </a:r>
            <a:r>
              <a:rPr sz="3200" b="1" dirty="0">
                <a:latin typeface="Calibri"/>
                <a:cs typeface="Calibri"/>
              </a:rPr>
              <a:t>outsider </a:t>
            </a:r>
            <a:r>
              <a:rPr sz="3200" b="1" spc="-10" dirty="0">
                <a:latin typeface="Calibri"/>
                <a:cs typeface="Calibri"/>
              </a:rPr>
              <a:t>can </a:t>
            </a:r>
            <a:r>
              <a:rPr sz="3200" b="1" spc="-5" dirty="0">
                <a:latin typeface="Calibri"/>
                <a:cs typeface="Calibri"/>
              </a:rPr>
              <a:t>become </a:t>
            </a:r>
            <a:r>
              <a:rPr sz="3200" b="1" dirty="0">
                <a:latin typeface="Calibri"/>
                <a:cs typeface="Calibri"/>
              </a:rPr>
              <a:t>the </a:t>
            </a:r>
            <a:r>
              <a:rPr sz="3200" b="1" spc="5" dirty="0">
                <a:latin typeface="Calibri"/>
                <a:cs typeface="Calibri"/>
              </a:rPr>
              <a:t> </a:t>
            </a:r>
            <a:r>
              <a:rPr sz="3200" b="1" spc="-5" dirty="0">
                <a:latin typeface="Calibri"/>
                <a:cs typeface="Calibri"/>
              </a:rPr>
              <a:t>member</a:t>
            </a:r>
            <a:endParaRPr sz="3200">
              <a:latin typeface="Calibri"/>
              <a:cs typeface="Calibri"/>
            </a:endParaRPr>
          </a:p>
          <a:p>
            <a:pPr marL="355600" marR="537845" indent="-342900">
              <a:lnSpc>
                <a:spcPct val="100000"/>
              </a:lnSpc>
              <a:spcBef>
                <a:spcPts val="775"/>
              </a:spcBef>
              <a:buFont typeface="Arial MT"/>
              <a:buChar char="•"/>
              <a:tabLst>
                <a:tab pos="354965" algn="l"/>
                <a:tab pos="355600" algn="l"/>
              </a:tabLst>
            </a:pPr>
            <a:r>
              <a:rPr sz="3200" b="1" spc="-15" dirty="0">
                <a:latin typeface="Calibri"/>
                <a:cs typeface="Calibri"/>
              </a:rPr>
              <a:t>Karta </a:t>
            </a:r>
            <a:r>
              <a:rPr sz="3200" b="1" dirty="0">
                <a:latin typeface="Calibri"/>
                <a:cs typeface="Calibri"/>
              </a:rPr>
              <a:t>has </a:t>
            </a:r>
            <a:r>
              <a:rPr sz="3200" b="1" spc="-5" dirty="0">
                <a:latin typeface="Calibri"/>
                <a:cs typeface="Calibri"/>
              </a:rPr>
              <a:t>unlimited </a:t>
            </a:r>
            <a:r>
              <a:rPr sz="3200" b="1" dirty="0">
                <a:latin typeface="Calibri"/>
                <a:cs typeface="Calibri"/>
              </a:rPr>
              <a:t>liability </a:t>
            </a:r>
            <a:r>
              <a:rPr sz="3200" b="1" spc="5" dirty="0">
                <a:latin typeface="Calibri"/>
                <a:cs typeface="Calibri"/>
              </a:rPr>
              <a:t> </a:t>
            </a:r>
            <a:r>
              <a:rPr sz="3200" b="1" spc="-5" dirty="0">
                <a:latin typeface="Calibri"/>
                <a:cs typeface="Calibri"/>
              </a:rPr>
              <a:t>while</a:t>
            </a:r>
            <a:r>
              <a:rPr sz="3200" b="1" spc="-35" dirty="0">
                <a:latin typeface="Calibri"/>
                <a:cs typeface="Calibri"/>
              </a:rPr>
              <a:t> </a:t>
            </a:r>
            <a:r>
              <a:rPr sz="3200" b="1" dirty="0">
                <a:latin typeface="Calibri"/>
                <a:cs typeface="Calibri"/>
              </a:rPr>
              <a:t>all</a:t>
            </a:r>
            <a:r>
              <a:rPr sz="3200" b="1" spc="-15" dirty="0">
                <a:latin typeface="Calibri"/>
                <a:cs typeface="Calibri"/>
              </a:rPr>
              <a:t> </a:t>
            </a:r>
            <a:r>
              <a:rPr sz="3200" b="1" dirty="0">
                <a:latin typeface="Calibri"/>
                <a:cs typeface="Calibri"/>
              </a:rPr>
              <a:t>other</a:t>
            </a:r>
            <a:r>
              <a:rPr sz="3200" b="1" spc="-35" dirty="0">
                <a:latin typeface="Calibri"/>
                <a:cs typeface="Calibri"/>
              </a:rPr>
              <a:t> </a:t>
            </a:r>
            <a:r>
              <a:rPr sz="3200" b="1" spc="-10" dirty="0">
                <a:latin typeface="Calibri"/>
                <a:cs typeface="Calibri"/>
              </a:rPr>
              <a:t>members</a:t>
            </a:r>
            <a:r>
              <a:rPr sz="3200" b="1" spc="-25" dirty="0">
                <a:latin typeface="Calibri"/>
                <a:cs typeface="Calibri"/>
              </a:rPr>
              <a:t> </a:t>
            </a:r>
            <a:r>
              <a:rPr sz="3200" b="1" spc="-20" dirty="0">
                <a:latin typeface="Calibri"/>
                <a:cs typeface="Calibri"/>
              </a:rPr>
              <a:t>have </a:t>
            </a:r>
            <a:r>
              <a:rPr sz="3200" b="1" spc="-710" dirty="0">
                <a:latin typeface="Calibri"/>
                <a:cs typeface="Calibri"/>
              </a:rPr>
              <a:t> </a:t>
            </a:r>
            <a:r>
              <a:rPr sz="3200" b="1" spc="-5" dirty="0">
                <a:latin typeface="Calibri"/>
                <a:cs typeface="Calibri"/>
              </a:rPr>
              <a:t>limited</a:t>
            </a:r>
            <a:r>
              <a:rPr sz="3200" b="1" spc="-60" dirty="0">
                <a:latin typeface="Calibri"/>
                <a:cs typeface="Calibri"/>
              </a:rPr>
              <a:t> </a:t>
            </a:r>
            <a:r>
              <a:rPr sz="3200" b="1" dirty="0">
                <a:latin typeface="Calibri"/>
                <a:cs typeface="Calibri"/>
              </a:rPr>
              <a:t>liability</a:t>
            </a:r>
            <a:endParaRPr sz="3200">
              <a:latin typeface="Calibri"/>
              <a:cs typeface="Calibri"/>
            </a:endParaRPr>
          </a:p>
          <a:p>
            <a:pPr marL="355600" marR="5080" indent="-342900">
              <a:lnSpc>
                <a:spcPct val="100000"/>
              </a:lnSpc>
              <a:spcBef>
                <a:spcPts val="770"/>
              </a:spcBef>
              <a:buFont typeface="Arial MT"/>
              <a:buChar char="•"/>
              <a:tabLst>
                <a:tab pos="354965" algn="l"/>
                <a:tab pos="355600" algn="l"/>
              </a:tabLst>
            </a:pPr>
            <a:r>
              <a:rPr sz="3200" b="1" spc="-5" dirty="0">
                <a:latin typeface="Calibri"/>
                <a:cs typeface="Calibri"/>
              </a:rPr>
              <a:t>The</a:t>
            </a:r>
            <a:r>
              <a:rPr sz="3200" b="1" spc="-20" dirty="0">
                <a:latin typeface="Calibri"/>
                <a:cs typeface="Calibri"/>
              </a:rPr>
              <a:t> </a:t>
            </a:r>
            <a:r>
              <a:rPr sz="3200" b="1" spc="-10" dirty="0">
                <a:latin typeface="Calibri"/>
                <a:cs typeface="Calibri"/>
              </a:rPr>
              <a:t>share</a:t>
            </a:r>
            <a:r>
              <a:rPr sz="3200" b="1" spc="-30" dirty="0">
                <a:latin typeface="Calibri"/>
                <a:cs typeface="Calibri"/>
              </a:rPr>
              <a:t> </a:t>
            </a:r>
            <a:r>
              <a:rPr sz="3200" b="1" dirty="0">
                <a:latin typeface="Calibri"/>
                <a:cs typeface="Calibri"/>
              </a:rPr>
              <a:t>of</a:t>
            </a:r>
            <a:r>
              <a:rPr sz="3200" b="1" spc="-5" dirty="0">
                <a:latin typeface="Calibri"/>
                <a:cs typeface="Calibri"/>
              </a:rPr>
              <a:t> each</a:t>
            </a:r>
            <a:r>
              <a:rPr sz="3200" b="1" spc="-30" dirty="0">
                <a:latin typeface="Calibri"/>
                <a:cs typeface="Calibri"/>
              </a:rPr>
              <a:t> </a:t>
            </a:r>
            <a:r>
              <a:rPr sz="3200" b="1" spc="-5" dirty="0">
                <a:latin typeface="Calibri"/>
                <a:cs typeface="Calibri"/>
              </a:rPr>
              <a:t>member</a:t>
            </a:r>
            <a:r>
              <a:rPr sz="3200" b="1" spc="-10" dirty="0">
                <a:latin typeface="Calibri"/>
                <a:cs typeface="Calibri"/>
              </a:rPr>
              <a:t> </a:t>
            </a:r>
            <a:r>
              <a:rPr sz="3200" b="1" spc="-25" dirty="0">
                <a:latin typeface="Calibri"/>
                <a:cs typeface="Calibri"/>
              </a:rPr>
              <a:t>keeps </a:t>
            </a:r>
            <a:r>
              <a:rPr sz="3200" b="1" spc="-710" dirty="0">
                <a:latin typeface="Calibri"/>
                <a:cs typeface="Calibri"/>
              </a:rPr>
              <a:t> </a:t>
            </a:r>
            <a:r>
              <a:rPr sz="3200" b="1" dirty="0">
                <a:latin typeface="Calibri"/>
                <a:cs typeface="Calibri"/>
              </a:rPr>
              <a:t>on</a:t>
            </a:r>
            <a:r>
              <a:rPr sz="3200" b="1" spc="-20" dirty="0">
                <a:latin typeface="Calibri"/>
                <a:cs typeface="Calibri"/>
              </a:rPr>
              <a:t> </a:t>
            </a:r>
            <a:r>
              <a:rPr sz="3200" b="1" spc="-5" dirty="0">
                <a:latin typeface="Calibri"/>
                <a:cs typeface="Calibri"/>
              </a:rPr>
              <a:t>fluctuating</a:t>
            </a:r>
            <a:endParaRPr sz="3200">
              <a:latin typeface="Calibri"/>
              <a:cs typeface="Calibri"/>
            </a:endParaRPr>
          </a:p>
          <a:p>
            <a:pPr marL="355600" marR="71755" indent="-342900">
              <a:lnSpc>
                <a:spcPct val="100000"/>
              </a:lnSpc>
              <a:spcBef>
                <a:spcPts val="770"/>
              </a:spcBef>
              <a:buFont typeface="Arial MT"/>
              <a:buChar char="•"/>
              <a:tabLst>
                <a:tab pos="354965" algn="l"/>
                <a:tab pos="355600" algn="l"/>
              </a:tabLst>
            </a:pPr>
            <a:r>
              <a:rPr sz="3200" b="1" dirty="0">
                <a:latin typeface="Calibri"/>
                <a:cs typeface="Calibri"/>
              </a:rPr>
              <a:t>Business </a:t>
            </a:r>
            <a:r>
              <a:rPr sz="3200" b="1" spc="-5" dirty="0">
                <a:latin typeface="Calibri"/>
                <a:cs typeface="Calibri"/>
              </a:rPr>
              <a:t>continues </a:t>
            </a:r>
            <a:r>
              <a:rPr sz="3200" b="1" spc="-15" dirty="0">
                <a:latin typeface="Calibri"/>
                <a:cs typeface="Calibri"/>
              </a:rPr>
              <a:t>to </a:t>
            </a:r>
            <a:r>
              <a:rPr sz="3200" b="1" spc="-20" dirty="0">
                <a:latin typeface="Calibri"/>
                <a:cs typeface="Calibri"/>
              </a:rPr>
              <a:t>exist </a:t>
            </a:r>
            <a:r>
              <a:rPr sz="3200" b="1" spc="-5" dirty="0">
                <a:latin typeface="Calibri"/>
                <a:cs typeface="Calibri"/>
              </a:rPr>
              <a:t>upon </a:t>
            </a:r>
            <a:r>
              <a:rPr sz="3200" b="1" spc="-715" dirty="0">
                <a:latin typeface="Calibri"/>
                <a:cs typeface="Calibri"/>
              </a:rPr>
              <a:t> </a:t>
            </a:r>
            <a:r>
              <a:rPr sz="3200" b="1" dirty="0">
                <a:latin typeface="Calibri"/>
                <a:cs typeface="Calibri"/>
              </a:rPr>
              <a:t>the </a:t>
            </a:r>
            <a:r>
              <a:rPr sz="3200" b="1" spc="-10" dirty="0">
                <a:latin typeface="Calibri"/>
                <a:cs typeface="Calibri"/>
              </a:rPr>
              <a:t>death </a:t>
            </a:r>
            <a:r>
              <a:rPr sz="3200" b="1" dirty="0">
                <a:latin typeface="Calibri"/>
                <a:cs typeface="Calibri"/>
              </a:rPr>
              <a:t>of </a:t>
            </a:r>
            <a:r>
              <a:rPr sz="3200" b="1" spc="-25" dirty="0">
                <a:latin typeface="Calibri"/>
                <a:cs typeface="Calibri"/>
              </a:rPr>
              <a:t>any </a:t>
            </a:r>
            <a:r>
              <a:rPr sz="3200" b="1" spc="-5" dirty="0">
                <a:latin typeface="Calibri"/>
                <a:cs typeface="Calibri"/>
              </a:rPr>
              <a:t>member </a:t>
            </a:r>
            <a:r>
              <a:rPr sz="3200" b="1" dirty="0">
                <a:latin typeface="Calibri"/>
                <a:cs typeface="Calibri"/>
              </a:rPr>
              <a:t>or </a:t>
            </a:r>
            <a:r>
              <a:rPr sz="3200" b="1" spc="5" dirty="0">
                <a:latin typeface="Calibri"/>
                <a:cs typeface="Calibri"/>
              </a:rPr>
              <a:t> </a:t>
            </a:r>
            <a:r>
              <a:rPr sz="3200" b="1" spc="-10" dirty="0">
                <a:latin typeface="Calibri"/>
                <a:cs typeface="Calibri"/>
              </a:rPr>
              <a:t>Karta.</a:t>
            </a:r>
            <a:endParaRPr sz="3200">
              <a:latin typeface="Calibri"/>
              <a:cs typeface="Calibri"/>
            </a:endParaRPr>
          </a:p>
        </p:txBody>
      </p:sp>
      <p:pic>
        <p:nvPicPr>
          <p:cNvPr id="3" name="object 3"/>
          <p:cNvPicPr/>
          <p:nvPr/>
        </p:nvPicPr>
        <p:blipFill>
          <a:blip r:embed="rId2" cstate="print"/>
          <a:stretch>
            <a:fillRect/>
          </a:stretch>
        </p:blipFill>
        <p:spPr>
          <a:xfrm>
            <a:off x="6172200" y="1676400"/>
            <a:ext cx="2819400" cy="33528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3252" y="428066"/>
            <a:ext cx="5862320" cy="757555"/>
          </a:xfrm>
          <a:prstGeom prst="rect">
            <a:avLst/>
          </a:prstGeom>
        </p:spPr>
        <p:txBody>
          <a:bodyPr vert="horz" wrap="square" lIns="0" tIns="12700" rIns="0" bIns="0" rtlCol="0">
            <a:spAutoFit/>
          </a:bodyPr>
          <a:lstStyle/>
          <a:p>
            <a:pPr marL="12700">
              <a:lnSpc>
                <a:spcPct val="100000"/>
              </a:lnSpc>
              <a:spcBef>
                <a:spcPts val="100"/>
              </a:spcBef>
              <a:tabLst>
                <a:tab pos="3718560" algn="l"/>
              </a:tabLst>
            </a:pPr>
            <a:r>
              <a:rPr sz="4800" spc="-85" dirty="0"/>
              <a:t>ADVANTAGES	</a:t>
            </a:r>
            <a:r>
              <a:rPr sz="4800" spc="5" dirty="0"/>
              <a:t>OF</a:t>
            </a:r>
            <a:r>
              <a:rPr sz="4800" spc="-75" dirty="0"/>
              <a:t> </a:t>
            </a:r>
            <a:r>
              <a:rPr sz="4800" spc="-20" dirty="0"/>
              <a:t>HUFs</a:t>
            </a:r>
            <a:endParaRPr sz="4800"/>
          </a:p>
        </p:txBody>
      </p:sp>
      <p:sp>
        <p:nvSpPr>
          <p:cNvPr id="3" name="object 3"/>
          <p:cNvSpPr txBox="1"/>
          <p:nvPr/>
        </p:nvSpPr>
        <p:spPr>
          <a:xfrm>
            <a:off x="78739" y="1455165"/>
            <a:ext cx="5962650" cy="4855816"/>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z="3200" b="1" spc="-25" dirty="0">
                <a:latin typeface="Calibri"/>
                <a:cs typeface="Calibri"/>
              </a:rPr>
              <a:t>Every</a:t>
            </a:r>
            <a:r>
              <a:rPr sz="3200" b="1" spc="-20" dirty="0">
                <a:latin typeface="Calibri"/>
                <a:cs typeface="Calibri"/>
              </a:rPr>
              <a:t> </a:t>
            </a:r>
            <a:r>
              <a:rPr lang="en-IN" sz="3200" b="1" spc="-5" dirty="0" smtClean="0">
                <a:latin typeface="Calibri"/>
                <a:cs typeface="Calibri"/>
              </a:rPr>
              <a:t>person </a:t>
            </a:r>
            <a:r>
              <a:rPr sz="3200" b="1" dirty="0" smtClean="0">
                <a:latin typeface="Calibri"/>
                <a:cs typeface="Calibri"/>
              </a:rPr>
              <a:t>has</a:t>
            </a:r>
            <a:r>
              <a:rPr sz="3200" b="1" spc="-15" dirty="0" smtClean="0">
                <a:latin typeface="Calibri"/>
                <a:cs typeface="Calibri"/>
              </a:rPr>
              <a:t> </a:t>
            </a:r>
            <a:r>
              <a:rPr sz="3200" b="1" dirty="0">
                <a:latin typeface="Calibri"/>
                <a:cs typeface="Calibri"/>
              </a:rPr>
              <a:t>an</a:t>
            </a:r>
            <a:r>
              <a:rPr sz="3200" b="1" spc="-30" dirty="0">
                <a:latin typeface="Calibri"/>
                <a:cs typeface="Calibri"/>
              </a:rPr>
              <a:t> </a:t>
            </a:r>
            <a:r>
              <a:rPr sz="3200" b="1" spc="-5" dirty="0">
                <a:latin typeface="Calibri"/>
                <a:cs typeface="Calibri"/>
              </a:rPr>
              <a:t>assured </a:t>
            </a:r>
            <a:r>
              <a:rPr sz="3200" b="1" spc="-710" dirty="0">
                <a:latin typeface="Calibri"/>
                <a:cs typeface="Calibri"/>
              </a:rPr>
              <a:t> </a:t>
            </a:r>
            <a:r>
              <a:rPr sz="3200" b="1" spc="-5" dirty="0">
                <a:latin typeface="Calibri"/>
                <a:cs typeface="Calibri"/>
              </a:rPr>
              <a:t>share</a:t>
            </a:r>
            <a:r>
              <a:rPr sz="3200" b="1" spc="-40" dirty="0">
                <a:latin typeface="Calibri"/>
                <a:cs typeface="Calibri"/>
              </a:rPr>
              <a:t> </a:t>
            </a:r>
            <a:r>
              <a:rPr sz="3200" b="1" dirty="0">
                <a:latin typeface="Calibri"/>
                <a:cs typeface="Calibri"/>
              </a:rPr>
              <a:t>in </a:t>
            </a:r>
            <a:r>
              <a:rPr sz="3200" b="1" spc="-10" dirty="0">
                <a:latin typeface="Calibri"/>
                <a:cs typeface="Calibri"/>
              </a:rPr>
              <a:t>profits</a:t>
            </a:r>
            <a:endParaRPr sz="3200" dirty="0">
              <a:latin typeface="Calibri"/>
              <a:cs typeface="Calibri"/>
            </a:endParaRPr>
          </a:p>
          <a:p>
            <a:pPr marL="355600" marR="971550" indent="-342900">
              <a:lnSpc>
                <a:spcPct val="100000"/>
              </a:lnSpc>
              <a:spcBef>
                <a:spcPts val="770"/>
              </a:spcBef>
              <a:buFont typeface="Arial MT"/>
              <a:buChar char="•"/>
              <a:tabLst>
                <a:tab pos="354965" algn="l"/>
                <a:tab pos="355600" algn="l"/>
              </a:tabLst>
            </a:pPr>
            <a:r>
              <a:rPr sz="3200" b="1" spc="-5" dirty="0">
                <a:latin typeface="Calibri"/>
                <a:cs typeface="Calibri"/>
              </a:rPr>
              <a:t>The</a:t>
            </a:r>
            <a:r>
              <a:rPr sz="3200" b="1" spc="-20" dirty="0">
                <a:latin typeface="Calibri"/>
                <a:cs typeface="Calibri"/>
              </a:rPr>
              <a:t> </a:t>
            </a:r>
            <a:r>
              <a:rPr sz="3200" b="1" spc="-5" dirty="0">
                <a:latin typeface="Calibri"/>
                <a:cs typeface="Calibri"/>
              </a:rPr>
              <a:t>business</a:t>
            </a:r>
            <a:r>
              <a:rPr sz="3200" b="1" spc="-45" dirty="0">
                <a:latin typeface="Calibri"/>
                <a:cs typeface="Calibri"/>
              </a:rPr>
              <a:t> </a:t>
            </a:r>
            <a:r>
              <a:rPr sz="3200" b="1" dirty="0">
                <a:latin typeface="Calibri"/>
                <a:cs typeface="Calibri"/>
              </a:rPr>
              <a:t>has</a:t>
            </a:r>
            <a:r>
              <a:rPr sz="3200" b="1" spc="-20" dirty="0">
                <a:latin typeface="Calibri"/>
                <a:cs typeface="Calibri"/>
              </a:rPr>
              <a:t> </a:t>
            </a:r>
            <a:r>
              <a:rPr sz="3200" b="1" spc="-5" dirty="0">
                <a:latin typeface="Calibri"/>
                <a:cs typeface="Calibri"/>
              </a:rPr>
              <a:t>continued </a:t>
            </a:r>
            <a:r>
              <a:rPr sz="3200" b="1" spc="-705" dirty="0">
                <a:latin typeface="Calibri"/>
                <a:cs typeface="Calibri"/>
              </a:rPr>
              <a:t> </a:t>
            </a:r>
            <a:r>
              <a:rPr sz="3200" b="1" spc="-15" dirty="0">
                <a:latin typeface="Calibri"/>
                <a:cs typeface="Calibri"/>
              </a:rPr>
              <a:t>existence</a:t>
            </a:r>
            <a:endParaRPr sz="3200" dirty="0">
              <a:latin typeface="Calibri"/>
              <a:cs typeface="Calibri"/>
            </a:endParaRPr>
          </a:p>
          <a:p>
            <a:pPr marL="355600" marR="389890" indent="-342900">
              <a:lnSpc>
                <a:spcPct val="100000"/>
              </a:lnSpc>
              <a:spcBef>
                <a:spcPts val="770"/>
              </a:spcBef>
              <a:buFont typeface="Arial MT"/>
              <a:buChar char="•"/>
              <a:tabLst>
                <a:tab pos="354965" algn="l"/>
                <a:tab pos="355600" algn="l"/>
              </a:tabLst>
            </a:pPr>
            <a:r>
              <a:rPr sz="3200" b="1" spc="-5" dirty="0">
                <a:latin typeface="Calibri"/>
                <a:cs typeface="Calibri"/>
              </a:rPr>
              <a:t>Decision</a:t>
            </a:r>
            <a:r>
              <a:rPr sz="3200" b="1" spc="-45" dirty="0">
                <a:latin typeface="Calibri"/>
                <a:cs typeface="Calibri"/>
              </a:rPr>
              <a:t> </a:t>
            </a:r>
            <a:r>
              <a:rPr sz="3200" b="1" spc="-5" dirty="0">
                <a:latin typeface="Calibri"/>
                <a:cs typeface="Calibri"/>
              </a:rPr>
              <a:t>making</a:t>
            </a:r>
            <a:r>
              <a:rPr sz="3200" b="1" spc="-35" dirty="0">
                <a:latin typeface="Calibri"/>
                <a:cs typeface="Calibri"/>
              </a:rPr>
              <a:t> </a:t>
            </a:r>
            <a:r>
              <a:rPr sz="3200" b="1" dirty="0">
                <a:latin typeface="Calibri"/>
                <a:cs typeface="Calibri"/>
              </a:rPr>
              <a:t>is </a:t>
            </a:r>
            <a:r>
              <a:rPr sz="3200" b="1" spc="-5" dirty="0">
                <a:latin typeface="Calibri"/>
                <a:cs typeface="Calibri"/>
              </a:rPr>
              <a:t>quick</a:t>
            </a:r>
            <a:r>
              <a:rPr sz="3200" b="1" spc="-20" dirty="0">
                <a:latin typeface="Calibri"/>
                <a:cs typeface="Calibri"/>
              </a:rPr>
              <a:t> </a:t>
            </a:r>
            <a:r>
              <a:rPr sz="3200" b="1" dirty="0">
                <a:latin typeface="Calibri"/>
                <a:cs typeface="Calibri"/>
              </a:rPr>
              <a:t>as</a:t>
            </a:r>
            <a:r>
              <a:rPr sz="3200" b="1" spc="-10" dirty="0">
                <a:latin typeface="Calibri"/>
                <a:cs typeface="Calibri"/>
              </a:rPr>
              <a:t> </a:t>
            </a:r>
            <a:r>
              <a:rPr sz="3200" b="1" dirty="0">
                <a:latin typeface="Calibri"/>
                <a:cs typeface="Calibri"/>
              </a:rPr>
              <a:t>the </a:t>
            </a:r>
            <a:r>
              <a:rPr sz="3200" b="1" spc="-710" dirty="0">
                <a:latin typeface="Calibri"/>
                <a:cs typeface="Calibri"/>
              </a:rPr>
              <a:t> </a:t>
            </a:r>
            <a:r>
              <a:rPr sz="3200" b="1" spc="-15" dirty="0">
                <a:latin typeface="Calibri"/>
                <a:cs typeface="Calibri"/>
              </a:rPr>
              <a:t>powers</a:t>
            </a:r>
            <a:r>
              <a:rPr sz="3200" b="1" spc="-30" dirty="0">
                <a:latin typeface="Calibri"/>
                <a:cs typeface="Calibri"/>
              </a:rPr>
              <a:t> </a:t>
            </a:r>
            <a:r>
              <a:rPr sz="3200" b="1" spc="-10" dirty="0">
                <a:latin typeface="Calibri"/>
                <a:cs typeface="Calibri"/>
              </a:rPr>
              <a:t>are </a:t>
            </a:r>
            <a:r>
              <a:rPr sz="3200" b="1" spc="-5" dirty="0">
                <a:latin typeface="Calibri"/>
                <a:cs typeface="Calibri"/>
              </a:rPr>
              <a:t>with</a:t>
            </a:r>
            <a:r>
              <a:rPr sz="3200" b="1" spc="-10" dirty="0">
                <a:latin typeface="Calibri"/>
                <a:cs typeface="Calibri"/>
              </a:rPr>
              <a:t> </a:t>
            </a:r>
            <a:r>
              <a:rPr sz="3200" b="1" dirty="0">
                <a:latin typeface="Calibri"/>
                <a:cs typeface="Calibri"/>
              </a:rPr>
              <a:t>the</a:t>
            </a:r>
            <a:r>
              <a:rPr sz="3200" b="1" spc="-20" dirty="0">
                <a:latin typeface="Calibri"/>
                <a:cs typeface="Calibri"/>
              </a:rPr>
              <a:t> </a:t>
            </a:r>
            <a:r>
              <a:rPr sz="3200" b="1" spc="-15" dirty="0">
                <a:latin typeface="Calibri"/>
                <a:cs typeface="Calibri"/>
              </a:rPr>
              <a:t>Karta</a:t>
            </a:r>
            <a:endParaRPr sz="3200" dirty="0">
              <a:latin typeface="Calibri"/>
              <a:cs typeface="Calibri"/>
            </a:endParaRPr>
          </a:p>
          <a:p>
            <a:pPr marL="355600" indent="-342900">
              <a:lnSpc>
                <a:spcPct val="100000"/>
              </a:lnSpc>
              <a:spcBef>
                <a:spcPts val="765"/>
              </a:spcBef>
              <a:buFont typeface="Arial MT"/>
              <a:buChar char="•"/>
              <a:tabLst>
                <a:tab pos="354965" algn="l"/>
                <a:tab pos="355600" algn="l"/>
              </a:tabLst>
            </a:pPr>
            <a:r>
              <a:rPr sz="3200" b="1" dirty="0">
                <a:latin typeface="Calibri"/>
                <a:cs typeface="Calibri"/>
              </a:rPr>
              <a:t>No</a:t>
            </a:r>
            <a:r>
              <a:rPr sz="3200" b="1" spc="-35" dirty="0">
                <a:latin typeface="Calibri"/>
                <a:cs typeface="Calibri"/>
              </a:rPr>
              <a:t> </a:t>
            </a:r>
            <a:r>
              <a:rPr sz="3200" b="1" spc="-20" dirty="0">
                <a:latin typeface="Calibri"/>
                <a:cs typeface="Calibri"/>
              </a:rPr>
              <a:t>corporate</a:t>
            </a:r>
            <a:r>
              <a:rPr sz="3200" b="1" spc="-65" dirty="0">
                <a:latin typeface="Calibri"/>
                <a:cs typeface="Calibri"/>
              </a:rPr>
              <a:t> </a:t>
            </a:r>
            <a:r>
              <a:rPr sz="3200" b="1" spc="-20" dirty="0">
                <a:latin typeface="Calibri"/>
                <a:cs typeface="Calibri"/>
              </a:rPr>
              <a:t>tax</a:t>
            </a:r>
            <a:endParaRPr sz="3200" dirty="0">
              <a:latin typeface="Calibri"/>
              <a:cs typeface="Calibri"/>
            </a:endParaRPr>
          </a:p>
          <a:p>
            <a:pPr marL="355600" marR="1010285" indent="-342900">
              <a:lnSpc>
                <a:spcPct val="100000"/>
              </a:lnSpc>
              <a:spcBef>
                <a:spcPts val="770"/>
              </a:spcBef>
              <a:buFont typeface="Arial MT"/>
              <a:buChar char="•"/>
              <a:tabLst>
                <a:tab pos="354965" algn="l"/>
                <a:tab pos="355600" algn="l"/>
              </a:tabLst>
            </a:pPr>
            <a:r>
              <a:rPr sz="3200" b="1" spc="-10" dirty="0">
                <a:latin typeface="Calibri"/>
                <a:cs typeface="Calibri"/>
              </a:rPr>
              <a:t>People</a:t>
            </a:r>
            <a:r>
              <a:rPr sz="3200" b="1" spc="-45" dirty="0">
                <a:latin typeface="Calibri"/>
                <a:cs typeface="Calibri"/>
              </a:rPr>
              <a:t> </a:t>
            </a:r>
            <a:r>
              <a:rPr sz="3200" b="1" dirty="0">
                <a:latin typeface="Calibri"/>
                <a:cs typeface="Calibri"/>
              </a:rPr>
              <a:t>use</a:t>
            </a:r>
            <a:r>
              <a:rPr sz="3200" b="1" spc="-30" dirty="0">
                <a:latin typeface="Calibri"/>
                <a:cs typeface="Calibri"/>
              </a:rPr>
              <a:t> </a:t>
            </a:r>
            <a:r>
              <a:rPr sz="3200" b="1" dirty="0">
                <a:latin typeface="Calibri"/>
                <a:cs typeface="Calibri"/>
              </a:rPr>
              <a:t>it</a:t>
            </a:r>
            <a:r>
              <a:rPr sz="3200" b="1" spc="-15" dirty="0">
                <a:latin typeface="Calibri"/>
                <a:cs typeface="Calibri"/>
              </a:rPr>
              <a:t> </a:t>
            </a:r>
            <a:r>
              <a:rPr sz="3200" b="1" spc="-5" dirty="0">
                <a:latin typeface="Calibri"/>
                <a:cs typeface="Calibri"/>
              </a:rPr>
              <a:t>mostly</a:t>
            </a:r>
            <a:r>
              <a:rPr sz="3200" b="1" spc="-35" dirty="0">
                <a:latin typeface="Calibri"/>
                <a:cs typeface="Calibri"/>
              </a:rPr>
              <a:t> </a:t>
            </a:r>
            <a:r>
              <a:rPr sz="3200" b="1" spc="-20" dirty="0">
                <a:latin typeface="Calibri"/>
                <a:cs typeface="Calibri"/>
              </a:rPr>
              <a:t>for</a:t>
            </a:r>
            <a:r>
              <a:rPr sz="3200" b="1" spc="-10" dirty="0">
                <a:latin typeface="Calibri"/>
                <a:cs typeface="Calibri"/>
              </a:rPr>
              <a:t> </a:t>
            </a:r>
            <a:r>
              <a:rPr sz="3200" b="1" spc="-20" dirty="0">
                <a:latin typeface="Calibri"/>
                <a:cs typeface="Calibri"/>
              </a:rPr>
              <a:t>tax </a:t>
            </a:r>
            <a:r>
              <a:rPr sz="3200" b="1" spc="-710" dirty="0">
                <a:latin typeface="Calibri"/>
                <a:cs typeface="Calibri"/>
              </a:rPr>
              <a:t> </a:t>
            </a:r>
            <a:r>
              <a:rPr sz="3200" b="1" spc="-10" dirty="0">
                <a:latin typeface="Calibri"/>
                <a:cs typeface="Calibri"/>
              </a:rPr>
              <a:t>benefits </a:t>
            </a:r>
            <a:r>
              <a:rPr sz="3200" b="1" spc="-5" dirty="0">
                <a:latin typeface="Calibri"/>
                <a:cs typeface="Calibri"/>
              </a:rPr>
              <a:t>these</a:t>
            </a:r>
            <a:r>
              <a:rPr sz="3200" b="1" spc="-15" dirty="0">
                <a:latin typeface="Calibri"/>
                <a:cs typeface="Calibri"/>
              </a:rPr>
              <a:t> </a:t>
            </a:r>
            <a:r>
              <a:rPr sz="3200" b="1" spc="-25" dirty="0">
                <a:latin typeface="Calibri"/>
                <a:cs typeface="Calibri"/>
              </a:rPr>
              <a:t>days</a:t>
            </a:r>
            <a:endParaRPr sz="3200" dirty="0">
              <a:latin typeface="Calibri"/>
              <a:cs typeface="Calibri"/>
            </a:endParaRPr>
          </a:p>
        </p:txBody>
      </p:sp>
      <p:pic>
        <p:nvPicPr>
          <p:cNvPr id="4" name="object 4"/>
          <p:cNvPicPr/>
          <p:nvPr/>
        </p:nvPicPr>
        <p:blipFill>
          <a:blip r:embed="rId2" cstate="print"/>
          <a:stretch>
            <a:fillRect/>
          </a:stretch>
        </p:blipFill>
        <p:spPr>
          <a:xfrm>
            <a:off x="5791200" y="2971800"/>
            <a:ext cx="3047111" cy="32766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7305" y="305765"/>
            <a:ext cx="6551930" cy="757555"/>
          </a:xfrm>
          <a:prstGeom prst="rect">
            <a:avLst/>
          </a:prstGeom>
        </p:spPr>
        <p:txBody>
          <a:bodyPr vert="horz" wrap="square" lIns="0" tIns="12700" rIns="0" bIns="0" rtlCol="0">
            <a:spAutoFit/>
          </a:bodyPr>
          <a:lstStyle/>
          <a:p>
            <a:pPr marL="12700">
              <a:lnSpc>
                <a:spcPct val="100000"/>
              </a:lnSpc>
              <a:spcBef>
                <a:spcPts val="100"/>
              </a:spcBef>
            </a:pPr>
            <a:r>
              <a:rPr sz="4800" spc="-70" dirty="0"/>
              <a:t>DISADVANTAGES</a:t>
            </a:r>
            <a:r>
              <a:rPr sz="4800" spc="-10" dirty="0"/>
              <a:t> </a:t>
            </a:r>
            <a:r>
              <a:rPr sz="4800" spc="-5" dirty="0"/>
              <a:t>OF</a:t>
            </a:r>
            <a:r>
              <a:rPr sz="4800" spc="-30" dirty="0"/>
              <a:t> </a:t>
            </a:r>
            <a:r>
              <a:rPr sz="4800" spc="-15" dirty="0"/>
              <a:t>HUFs</a:t>
            </a:r>
            <a:endParaRPr sz="4800"/>
          </a:p>
        </p:txBody>
      </p:sp>
      <p:sp>
        <p:nvSpPr>
          <p:cNvPr id="3" name="object 3"/>
          <p:cNvSpPr txBox="1"/>
          <p:nvPr/>
        </p:nvSpPr>
        <p:spPr>
          <a:xfrm>
            <a:off x="383540" y="1607565"/>
            <a:ext cx="5220335" cy="3245485"/>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z="3200" b="1" spc="-5" dirty="0">
                <a:latin typeface="Calibri"/>
                <a:cs typeface="Calibri"/>
              </a:rPr>
              <a:t>Absolute</a:t>
            </a:r>
            <a:r>
              <a:rPr sz="3200" b="1" spc="-70" dirty="0">
                <a:latin typeface="Calibri"/>
                <a:cs typeface="Calibri"/>
              </a:rPr>
              <a:t> </a:t>
            </a:r>
            <a:r>
              <a:rPr sz="3200" b="1" spc="-10" dirty="0">
                <a:latin typeface="Calibri"/>
                <a:cs typeface="Calibri"/>
              </a:rPr>
              <a:t>power</a:t>
            </a:r>
            <a:r>
              <a:rPr sz="3200" b="1" spc="-15" dirty="0">
                <a:latin typeface="Calibri"/>
                <a:cs typeface="Calibri"/>
              </a:rPr>
              <a:t> </a:t>
            </a:r>
            <a:r>
              <a:rPr sz="3200" b="1" dirty="0">
                <a:latin typeface="Calibri"/>
                <a:cs typeface="Calibri"/>
              </a:rPr>
              <a:t>in</a:t>
            </a:r>
            <a:r>
              <a:rPr sz="3200" b="1" spc="-10" dirty="0">
                <a:latin typeface="Calibri"/>
                <a:cs typeface="Calibri"/>
              </a:rPr>
              <a:t> </a:t>
            </a:r>
            <a:r>
              <a:rPr sz="3200" b="1" dirty="0">
                <a:latin typeface="Calibri"/>
                <a:cs typeface="Calibri"/>
              </a:rPr>
              <a:t>the</a:t>
            </a:r>
            <a:r>
              <a:rPr sz="3200" b="1" spc="-25" dirty="0">
                <a:latin typeface="Calibri"/>
                <a:cs typeface="Calibri"/>
              </a:rPr>
              <a:t> </a:t>
            </a:r>
            <a:r>
              <a:rPr sz="3200" b="1" spc="-5" dirty="0">
                <a:latin typeface="Calibri"/>
                <a:cs typeface="Calibri"/>
              </a:rPr>
              <a:t>hands </a:t>
            </a:r>
            <a:r>
              <a:rPr sz="3200" b="1" spc="-710" dirty="0">
                <a:latin typeface="Calibri"/>
                <a:cs typeface="Calibri"/>
              </a:rPr>
              <a:t> </a:t>
            </a:r>
            <a:r>
              <a:rPr sz="3200" b="1" dirty="0">
                <a:latin typeface="Calibri"/>
                <a:cs typeface="Calibri"/>
              </a:rPr>
              <a:t>of</a:t>
            </a:r>
            <a:r>
              <a:rPr sz="3200" b="1" spc="-5" dirty="0">
                <a:latin typeface="Calibri"/>
                <a:cs typeface="Calibri"/>
              </a:rPr>
              <a:t> </a:t>
            </a:r>
            <a:r>
              <a:rPr sz="3200" b="1" spc="-15" dirty="0">
                <a:latin typeface="Calibri"/>
                <a:cs typeface="Calibri"/>
              </a:rPr>
              <a:t>Karta.</a:t>
            </a:r>
            <a:endParaRPr sz="3200" dirty="0">
              <a:latin typeface="Calibri"/>
              <a:cs typeface="Calibri"/>
            </a:endParaRPr>
          </a:p>
          <a:p>
            <a:pPr marL="355600" indent="-342900">
              <a:lnSpc>
                <a:spcPct val="100000"/>
              </a:lnSpc>
              <a:spcBef>
                <a:spcPts val="770"/>
              </a:spcBef>
              <a:buFont typeface="Arial MT"/>
              <a:buChar char="•"/>
              <a:tabLst>
                <a:tab pos="354965" algn="l"/>
                <a:tab pos="355600" algn="l"/>
              </a:tabLst>
            </a:pPr>
            <a:r>
              <a:rPr sz="3200" b="1" spc="-10" dirty="0">
                <a:latin typeface="Calibri"/>
                <a:cs typeface="Calibri"/>
              </a:rPr>
              <a:t>Instability</a:t>
            </a:r>
            <a:endParaRPr sz="3200" dirty="0">
              <a:latin typeface="Calibri"/>
              <a:cs typeface="Calibri"/>
            </a:endParaRPr>
          </a:p>
          <a:p>
            <a:pPr marL="355600" marR="614045" indent="-342900">
              <a:lnSpc>
                <a:spcPct val="100000"/>
              </a:lnSpc>
              <a:spcBef>
                <a:spcPts val="765"/>
              </a:spcBef>
              <a:buFont typeface="Arial MT"/>
              <a:buChar char="•"/>
              <a:tabLst>
                <a:tab pos="354965" algn="l"/>
                <a:tab pos="355600" algn="l"/>
              </a:tabLst>
            </a:pPr>
            <a:r>
              <a:rPr sz="3200" b="1" spc="-5" dirty="0">
                <a:latin typeface="Calibri"/>
                <a:cs typeface="Calibri"/>
              </a:rPr>
              <a:t>Limited</a:t>
            </a:r>
            <a:r>
              <a:rPr sz="3200" b="1" spc="-80" dirty="0">
                <a:latin typeface="Calibri"/>
                <a:cs typeface="Calibri"/>
              </a:rPr>
              <a:t> </a:t>
            </a:r>
            <a:r>
              <a:rPr sz="3200" b="1" spc="-15" dirty="0">
                <a:latin typeface="Calibri"/>
                <a:cs typeface="Calibri"/>
              </a:rPr>
              <a:t>Resources</a:t>
            </a:r>
            <a:r>
              <a:rPr sz="3200" b="1" spc="-25" dirty="0">
                <a:latin typeface="Calibri"/>
                <a:cs typeface="Calibri"/>
              </a:rPr>
              <a:t> </a:t>
            </a:r>
            <a:r>
              <a:rPr sz="3200" b="1" spc="-10" dirty="0">
                <a:latin typeface="Calibri"/>
                <a:cs typeface="Calibri"/>
              </a:rPr>
              <a:t>can</a:t>
            </a:r>
            <a:r>
              <a:rPr sz="3200" b="1" spc="-40" dirty="0">
                <a:latin typeface="Calibri"/>
                <a:cs typeface="Calibri"/>
              </a:rPr>
              <a:t> </a:t>
            </a:r>
            <a:r>
              <a:rPr sz="3200" b="1" dirty="0">
                <a:latin typeface="Calibri"/>
                <a:cs typeface="Calibri"/>
              </a:rPr>
              <a:t>be </a:t>
            </a:r>
            <a:r>
              <a:rPr sz="3200" b="1" spc="-710" dirty="0">
                <a:latin typeface="Calibri"/>
                <a:cs typeface="Calibri"/>
              </a:rPr>
              <a:t> </a:t>
            </a:r>
            <a:r>
              <a:rPr sz="3200" b="1" spc="-10" dirty="0" smtClean="0">
                <a:latin typeface="Calibri"/>
                <a:cs typeface="Calibri"/>
              </a:rPr>
              <a:t>raised</a:t>
            </a:r>
            <a:r>
              <a:rPr lang="en-IN" sz="3200" b="1" spc="-10" dirty="0" smtClean="0">
                <a:latin typeface="Calibri"/>
                <a:cs typeface="Calibri"/>
              </a:rPr>
              <a:t>.</a:t>
            </a:r>
            <a:endParaRPr sz="3200" dirty="0">
              <a:latin typeface="Calibri"/>
              <a:cs typeface="Calibri"/>
            </a:endParaRPr>
          </a:p>
          <a:p>
            <a:pPr marL="355600" indent="-342900">
              <a:lnSpc>
                <a:spcPct val="100000"/>
              </a:lnSpc>
              <a:spcBef>
                <a:spcPts val="770"/>
              </a:spcBef>
              <a:buFont typeface="Arial MT"/>
              <a:buChar char="•"/>
              <a:tabLst>
                <a:tab pos="354965" algn="l"/>
                <a:tab pos="355600" algn="l"/>
              </a:tabLst>
            </a:pPr>
            <a:r>
              <a:rPr sz="3200" b="1" dirty="0">
                <a:latin typeface="Calibri"/>
                <a:cs typeface="Calibri"/>
              </a:rPr>
              <a:t>Scope</a:t>
            </a:r>
            <a:r>
              <a:rPr sz="3200" b="1" spc="-50" dirty="0">
                <a:latin typeface="Calibri"/>
                <a:cs typeface="Calibri"/>
              </a:rPr>
              <a:t> </a:t>
            </a:r>
            <a:r>
              <a:rPr sz="3200" b="1" spc="-20" dirty="0">
                <a:latin typeface="Calibri"/>
                <a:cs typeface="Calibri"/>
              </a:rPr>
              <a:t>for</a:t>
            </a:r>
            <a:r>
              <a:rPr sz="3200" b="1" dirty="0">
                <a:latin typeface="Calibri"/>
                <a:cs typeface="Calibri"/>
              </a:rPr>
              <a:t> </a:t>
            </a:r>
            <a:r>
              <a:rPr sz="3200" b="1" spc="-10" dirty="0">
                <a:latin typeface="Calibri"/>
                <a:cs typeface="Calibri"/>
              </a:rPr>
              <a:t>conflict</a:t>
            </a:r>
            <a:endParaRPr sz="3200" dirty="0">
              <a:latin typeface="Calibri"/>
              <a:cs typeface="Calibri"/>
            </a:endParaRPr>
          </a:p>
        </p:txBody>
      </p:sp>
      <p:pic>
        <p:nvPicPr>
          <p:cNvPr id="4" name="object 4"/>
          <p:cNvPicPr/>
          <p:nvPr/>
        </p:nvPicPr>
        <p:blipFill>
          <a:blip r:embed="rId2" cstate="print"/>
          <a:stretch>
            <a:fillRect/>
          </a:stretch>
        </p:blipFill>
        <p:spPr>
          <a:xfrm>
            <a:off x="5334000" y="2743200"/>
            <a:ext cx="3543300" cy="35433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02689" y="179273"/>
            <a:ext cx="5592445" cy="848994"/>
          </a:xfrm>
          <a:prstGeom prst="rect">
            <a:avLst/>
          </a:prstGeom>
        </p:spPr>
        <p:txBody>
          <a:bodyPr vert="horz" wrap="square" lIns="0" tIns="12700" rIns="0" bIns="0" rtlCol="0">
            <a:spAutoFit/>
          </a:bodyPr>
          <a:lstStyle/>
          <a:p>
            <a:pPr marL="12700">
              <a:lnSpc>
                <a:spcPct val="100000"/>
              </a:lnSpc>
              <a:spcBef>
                <a:spcPts val="100"/>
              </a:spcBef>
            </a:pPr>
            <a:r>
              <a:rPr sz="5400" b="1" spc="-45" dirty="0">
                <a:solidFill>
                  <a:srgbClr val="C00000"/>
                </a:solidFill>
                <a:latin typeface="Calibri"/>
                <a:cs typeface="Calibri"/>
              </a:rPr>
              <a:t>PARTNERSHIP</a:t>
            </a:r>
            <a:r>
              <a:rPr sz="5400" b="1" spc="-60" dirty="0">
                <a:solidFill>
                  <a:srgbClr val="C00000"/>
                </a:solidFill>
                <a:latin typeface="Calibri"/>
                <a:cs typeface="Calibri"/>
              </a:rPr>
              <a:t> </a:t>
            </a:r>
            <a:r>
              <a:rPr sz="5400" b="1" dirty="0">
                <a:solidFill>
                  <a:srgbClr val="C00000"/>
                </a:solidFill>
                <a:latin typeface="Calibri"/>
                <a:cs typeface="Calibri"/>
              </a:rPr>
              <a:t>FIRM</a:t>
            </a:r>
            <a:endParaRPr sz="5400">
              <a:latin typeface="Calibri"/>
              <a:cs typeface="Calibri"/>
            </a:endParaRPr>
          </a:p>
        </p:txBody>
      </p:sp>
      <p:sp>
        <p:nvSpPr>
          <p:cNvPr id="3" name="object 3"/>
          <p:cNvSpPr txBox="1"/>
          <p:nvPr/>
        </p:nvSpPr>
        <p:spPr>
          <a:xfrm>
            <a:off x="297281" y="1401826"/>
            <a:ext cx="8686800" cy="1002030"/>
          </a:xfrm>
          <a:prstGeom prst="rect">
            <a:avLst/>
          </a:prstGeom>
        </p:spPr>
        <p:txBody>
          <a:bodyPr vert="horz" wrap="square" lIns="0" tIns="13335" rIns="0" bIns="0" rtlCol="0">
            <a:spAutoFit/>
          </a:bodyPr>
          <a:lstStyle/>
          <a:p>
            <a:pPr marL="800735" marR="5080" indent="-788670">
              <a:lnSpc>
                <a:spcPct val="100000"/>
              </a:lnSpc>
              <a:spcBef>
                <a:spcPts val="105"/>
              </a:spcBef>
            </a:pPr>
            <a:r>
              <a:rPr sz="3200" b="1" dirty="0">
                <a:latin typeface="Verdana"/>
                <a:cs typeface="Verdana"/>
              </a:rPr>
              <a:t>A</a:t>
            </a:r>
            <a:r>
              <a:rPr sz="3200" b="1" spc="-5" dirty="0">
                <a:latin typeface="Verdana"/>
                <a:cs typeface="Verdana"/>
              </a:rPr>
              <a:t> Partnership</a:t>
            </a:r>
            <a:r>
              <a:rPr sz="3200" b="1" spc="-25" dirty="0">
                <a:latin typeface="Verdana"/>
                <a:cs typeface="Verdana"/>
              </a:rPr>
              <a:t> </a:t>
            </a:r>
            <a:r>
              <a:rPr sz="3200" b="1" spc="-5" dirty="0">
                <a:latin typeface="Verdana"/>
                <a:cs typeface="Verdana"/>
              </a:rPr>
              <a:t>consists</a:t>
            </a:r>
            <a:r>
              <a:rPr sz="3200" b="1" spc="20" dirty="0">
                <a:latin typeface="Verdana"/>
                <a:cs typeface="Verdana"/>
              </a:rPr>
              <a:t> </a:t>
            </a:r>
            <a:r>
              <a:rPr sz="3200" b="1" dirty="0">
                <a:latin typeface="Verdana"/>
                <a:cs typeface="Verdana"/>
              </a:rPr>
              <a:t>of</a:t>
            </a:r>
            <a:r>
              <a:rPr sz="3200" b="1" spc="5" dirty="0">
                <a:latin typeface="Verdana"/>
                <a:cs typeface="Verdana"/>
              </a:rPr>
              <a:t> </a:t>
            </a:r>
            <a:r>
              <a:rPr sz="3200" b="1" dirty="0">
                <a:latin typeface="Verdana"/>
                <a:cs typeface="Verdana"/>
              </a:rPr>
              <a:t>two</a:t>
            </a:r>
            <a:r>
              <a:rPr sz="3200" b="1" spc="5" dirty="0">
                <a:latin typeface="Verdana"/>
                <a:cs typeface="Verdana"/>
              </a:rPr>
              <a:t> </a:t>
            </a:r>
            <a:r>
              <a:rPr sz="3200" b="1" dirty="0">
                <a:latin typeface="Verdana"/>
                <a:cs typeface="Verdana"/>
              </a:rPr>
              <a:t>or</a:t>
            </a:r>
            <a:r>
              <a:rPr sz="3200" b="1" spc="5" dirty="0">
                <a:latin typeface="Verdana"/>
                <a:cs typeface="Verdana"/>
              </a:rPr>
              <a:t> </a:t>
            </a:r>
            <a:r>
              <a:rPr sz="3200" b="1" spc="-5" dirty="0">
                <a:latin typeface="Verdana"/>
                <a:cs typeface="Verdana"/>
              </a:rPr>
              <a:t>more </a:t>
            </a:r>
            <a:r>
              <a:rPr sz="3200" b="1" spc="-1080" dirty="0">
                <a:latin typeface="Verdana"/>
                <a:cs typeface="Verdana"/>
              </a:rPr>
              <a:t> </a:t>
            </a:r>
            <a:r>
              <a:rPr sz="3200" b="1" spc="-5" dirty="0">
                <a:latin typeface="Verdana"/>
                <a:cs typeface="Verdana"/>
              </a:rPr>
              <a:t>individuals</a:t>
            </a:r>
            <a:r>
              <a:rPr sz="3200" b="1" spc="-15" dirty="0">
                <a:latin typeface="Verdana"/>
                <a:cs typeface="Verdana"/>
              </a:rPr>
              <a:t> </a:t>
            </a:r>
            <a:r>
              <a:rPr sz="3200" b="1" dirty="0">
                <a:latin typeface="Verdana"/>
                <a:cs typeface="Verdana"/>
              </a:rPr>
              <a:t>in </a:t>
            </a:r>
            <a:r>
              <a:rPr sz="3200" b="1" spc="-5" dirty="0">
                <a:latin typeface="Verdana"/>
                <a:cs typeface="Verdana"/>
              </a:rPr>
              <a:t>business</a:t>
            </a:r>
            <a:r>
              <a:rPr sz="3200" b="1" dirty="0">
                <a:latin typeface="Verdana"/>
                <a:cs typeface="Verdana"/>
              </a:rPr>
              <a:t> together</a:t>
            </a:r>
            <a:endParaRPr sz="3200">
              <a:latin typeface="Verdana"/>
              <a:cs typeface="Verdana"/>
            </a:endParaRPr>
          </a:p>
        </p:txBody>
      </p:sp>
      <p:pic>
        <p:nvPicPr>
          <p:cNvPr id="4" name="object 4"/>
          <p:cNvPicPr/>
          <p:nvPr/>
        </p:nvPicPr>
        <p:blipFill>
          <a:blip r:embed="rId2" cstate="print"/>
          <a:stretch>
            <a:fillRect/>
          </a:stretch>
        </p:blipFill>
        <p:spPr>
          <a:xfrm>
            <a:off x="2362200" y="2819438"/>
            <a:ext cx="4724400" cy="3326511"/>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821" y="186944"/>
            <a:ext cx="8287384" cy="696595"/>
          </a:xfrm>
          <a:prstGeom prst="rect">
            <a:avLst/>
          </a:prstGeom>
        </p:spPr>
        <p:txBody>
          <a:bodyPr vert="horz" wrap="square" lIns="0" tIns="12700" rIns="0" bIns="0" rtlCol="0">
            <a:spAutoFit/>
          </a:bodyPr>
          <a:lstStyle/>
          <a:p>
            <a:pPr marL="12700">
              <a:lnSpc>
                <a:spcPct val="100000"/>
              </a:lnSpc>
              <a:spcBef>
                <a:spcPts val="100"/>
              </a:spcBef>
            </a:pPr>
            <a:r>
              <a:rPr spc="-15" dirty="0"/>
              <a:t>CHARACTERISITCS</a:t>
            </a:r>
            <a:r>
              <a:rPr spc="-55" dirty="0"/>
              <a:t> </a:t>
            </a:r>
            <a:r>
              <a:rPr spc="-5" dirty="0"/>
              <a:t>OF</a:t>
            </a:r>
            <a:r>
              <a:rPr dirty="0"/>
              <a:t> </a:t>
            </a:r>
            <a:r>
              <a:rPr spc="-40" dirty="0"/>
              <a:t>PARTNERSHIP</a:t>
            </a:r>
          </a:p>
        </p:txBody>
      </p:sp>
      <p:sp>
        <p:nvSpPr>
          <p:cNvPr id="3" name="object 3"/>
          <p:cNvSpPr txBox="1"/>
          <p:nvPr/>
        </p:nvSpPr>
        <p:spPr>
          <a:xfrm>
            <a:off x="78739" y="997965"/>
            <a:ext cx="8940165" cy="5293995"/>
          </a:xfrm>
          <a:prstGeom prst="rect">
            <a:avLst/>
          </a:prstGeom>
        </p:spPr>
        <p:txBody>
          <a:bodyPr vert="horz" wrap="square" lIns="0" tIns="13335" rIns="0" bIns="0" rtlCol="0">
            <a:spAutoFit/>
          </a:bodyPr>
          <a:lstStyle/>
          <a:p>
            <a:pPr marL="355600" marR="229870" indent="-342900">
              <a:lnSpc>
                <a:spcPct val="100000"/>
              </a:lnSpc>
              <a:spcBef>
                <a:spcPts val="105"/>
              </a:spcBef>
              <a:buFont typeface="Arial MT"/>
              <a:buChar char="•"/>
              <a:tabLst>
                <a:tab pos="354965" algn="l"/>
                <a:tab pos="355600" algn="l"/>
              </a:tabLst>
            </a:pPr>
            <a:r>
              <a:rPr sz="3200" b="1" spc="-5" dirty="0">
                <a:latin typeface="Calibri"/>
                <a:cs typeface="Calibri"/>
              </a:rPr>
              <a:t>Minimum</a:t>
            </a:r>
            <a:r>
              <a:rPr sz="3200" b="1" spc="-40" dirty="0">
                <a:latin typeface="Calibri"/>
                <a:cs typeface="Calibri"/>
              </a:rPr>
              <a:t> </a:t>
            </a:r>
            <a:r>
              <a:rPr sz="3200" b="1" dirty="0">
                <a:latin typeface="Calibri"/>
                <a:cs typeface="Calibri"/>
              </a:rPr>
              <a:t>2</a:t>
            </a:r>
            <a:r>
              <a:rPr sz="3200" b="1" spc="-5" dirty="0">
                <a:latin typeface="Calibri"/>
                <a:cs typeface="Calibri"/>
              </a:rPr>
              <a:t> number</a:t>
            </a:r>
            <a:r>
              <a:rPr sz="3200" b="1" spc="-20" dirty="0">
                <a:latin typeface="Calibri"/>
                <a:cs typeface="Calibri"/>
              </a:rPr>
              <a:t> </a:t>
            </a:r>
            <a:r>
              <a:rPr sz="3200" b="1" dirty="0">
                <a:latin typeface="Calibri"/>
                <a:cs typeface="Calibri"/>
              </a:rPr>
              <a:t>of</a:t>
            </a:r>
            <a:r>
              <a:rPr sz="3200" b="1" spc="-5" dirty="0">
                <a:latin typeface="Calibri"/>
                <a:cs typeface="Calibri"/>
              </a:rPr>
              <a:t> partners</a:t>
            </a:r>
            <a:r>
              <a:rPr sz="3200" b="1" spc="-35" dirty="0">
                <a:latin typeface="Calibri"/>
                <a:cs typeface="Calibri"/>
              </a:rPr>
              <a:t> </a:t>
            </a:r>
            <a:r>
              <a:rPr sz="3200" b="1" dirty="0">
                <a:latin typeface="Calibri"/>
                <a:cs typeface="Calibri"/>
              </a:rPr>
              <a:t>and</a:t>
            </a:r>
            <a:r>
              <a:rPr sz="3200" b="1" spc="-25" dirty="0">
                <a:latin typeface="Calibri"/>
                <a:cs typeface="Calibri"/>
              </a:rPr>
              <a:t> </a:t>
            </a:r>
            <a:r>
              <a:rPr sz="3200" b="1" spc="-5" dirty="0">
                <a:latin typeface="Calibri"/>
                <a:cs typeface="Calibri"/>
              </a:rPr>
              <a:t>maximum</a:t>
            </a:r>
            <a:r>
              <a:rPr sz="3200" b="1" spc="-30" dirty="0">
                <a:latin typeface="Calibri"/>
                <a:cs typeface="Calibri"/>
              </a:rPr>
              <a:t> </a:t>
            </a:r>
            <a:r>
              <a:rPr sz="3200" b="1" dirty="0">
                <a:latin typeface="Calibri"/>
                <a:cs typeface="Calibri"/>
              </a:rPr>
              <a:t>20 </a:t>
            </a:r>
            <a:r>
              <a:rPr sz="3200" b="1" spc="-710" dirty="0">
                <a:latin typeface="Calibri"/>
                <a:cs typeface="Calibri"/>
              </a:rPr>
              <a:t> </a:t>
            </a:r>
            <a:r>
              <a:rPr sz="3200" b="1" spc="-5" dirty="0">
                <a:latin typeface="Calibri"/>
                <a:cs typeface="Calibri"/>
              </a:rPr>
              <a:t>partners</a:t>
            </a:r>
            <a:endParaRPr sz="3200">
              <a:latin typeface="Calibri"/>
              <a:cs typeface="Calibri"/>
            </a:endParaRPr>
          </a:p>
          <a:p>
            <a:pPr marL="355600" marR="5080" indent="-342900">
              <a:lnSpc>
                <a:spcPct val="100000"/>
              </a:lnSpc>
              <a:spcBef>
                <a:spcPts val="770"/>
              </a:spcBef>
              <a:buFont typeface="Arial MT"/>
              <a:buChar char="•"/>
              <a:tabLst>
                <a:tab pos="354965" algn="l"/>
                <a:tab pos="355600" algn="l"/>
              </a:tabLst>
            </a:pPr>
            <a:r>
              <a:rPr sz="3200" b="1" spc="-5" dirty="0">
                <a:latin typeface="Calibri"/>
                <a:cs typeface="Calibri"/>
              </a:rPr>
              <a:t>The </a:t>
            </a:r>
            <a:r>
              <a:rPr sz="3200" b="1" spc="-10" dirty="0">
                <a:latin typeface="Calibri"/>
                <a:cs typeface="Calibri"/>
              </a:rPr>
              <a:t>relation between </a:t>
            </a:r>
            <a:r>
              <a:rPr sz="3200" b="1" dirty="0">
                <a:latin typeface="Calibri"/>
                <a:cs typeface="Calibri"/>
              </a:rPr>
              <a:t>the </a:t>
            </a:r>
            <a:r>
              <a:rPr sz="3200" b="1" spc="-5" dirty="0">
                <a:latin typeface="Calibri"/>
                <a:cs typeface="Calibri"/>
              </a:rPr>
              <a:t>partners </a:t>
            </a:r>
            <a:r>
              <a:rPr sz="3200" b="1" dirty="0">
                <a:latin typeface="Calibri"/>
                <a:cs typeface="Calibri"/>
              </a:rPr>
              <a:t>is </a:t>
            </a:r>
            <a:r>
              <a:rPr sz="3200" b="1" spc="-15" dirty="0">
                <a:latin typeface="Calibri"/>
                <a:cs typeface="Calibri"/>
              </a:rPr>
              <a:t>created </a:t>
            </a:r>
            <a:r>
              <a:rPr sz="3200" b="1" dirty="0">
                <a:latin typeface="Calibri"/>
                <a:cs typeface="Calibri"/>
              </a:rPr>
              <a:t>in </a:t>
            </a:r>
            <a:r>
              <a:rPr sz="3200" b="1" spc="-5" dirty="0">
                <a:latin typeface="Calibri"/>
                <a:cs typeface="Calibri"/>
              </a:rPr>
              <a:t>the </a:t>
            </a:r>
            <a:r>
              <a:rPr sz="3200" b="1" spc="-710" dirty="0">
                <a:latin typeface="Calibri"/>
                <a:cs typeface="Calibri"/>
              </a:rPr>
              <a:t> </a:t>
            </a:r>
            <a:r>
              <a:rPr sz="3200" b="1" spc="-15" dirty="0">
                <a:latin typeface="Calibri"/>
                <a:cs typeface="Calibri"/>
              </a:rPr>
              <a:t>form </a:t>
            </a:r>
            <a:r>
              <a:rPr sz="3200" b="1" dirty="0">
                <a:latin typeface="Calibri"/>
                <a:cs typeface="Calibri"/>
              </a:rPr>
              <a:t>of a </a:t>
            </a:r>
            <a:r>
              <a:rPr sz="3200" b="1" spc="-10" dirty="0">
                <a:latin typeface="Calibri"/>
                <a:cs typeface="Calibri"/>
              </a:rPr>
              <a:t>contract.</a:t>
            </a:r>
            <a:r>
              <a:rPr sz="3200" b="1" spc="-45" dirty="0">
                <a:latin typeface="Calibri"/>
                <a:cs typeface="Calibri"/>
              </a:rPr>
              <a:t> </a:t>
            </a:r>
            <a:r>
              <a:rPr sz="3200" b="1" spc="-25" dirty="0">
                <a:latin typeface="Calibri"/>
                <a:cs typeface="Calibri"/>
              </a:rPr>
              <a:t>Written</a:t>
            </a:r>
            <a:r>
              <a:rPr sz="3200" b="1" spc="-45" dirty="0">
                <a:latin typeface="Calibri"/>
                <a:cs typeface="Calibri"/>
              </a:rPr>
              <a:t> </a:t>
            </a:r>
            <a:r>
              <a:rPr sz="3200" b="1" spc="-15" dirty="0">
                <a:latin typeface="Calibri"/>
                <a:cs typeface="Calibri"/>
              </a:rPr>
              <a:t>contract</a:t>
            </a:r>
            <a:r>
              <a:rPr sz="3200" b="1" spc="-35" dirty="0">
                <a:latin typeface="Calibri"/>
                <a:cs typeface="Calibri"/>
              </a:rPr>
              <a:t> </a:t>
            </a:r>
            <a:r>
              <a:rPr sz="3200" b="1" dirty="0">
                <a:latin typeface="Calibri"/>
                <a:cs typeface="Calibri"/>
              </a:rPr>
              <a:t>is </a:t>
            </a:r>
            <a:r>
              <a:rPr sz="3200" b="1" spc="-5" dirty="0">
                <a:latin typeface="Calibri"/>
                <a:cs typeface="Calibri"/>
              </a:rPr>
              <a:t>called</a:t>
            </a:r>
            <a:endParaRPr sz="3200">
              <a:latin typeface="Calibri"/>
              <a:cs typeface="Calibri"/>
            </a:endParaRPr>
          </a:p>
          <a:p>
            <a:pPr marL="355600">
              <a:lnSpc>
                <a:spcPct val="100000"/>
              </a:lnSpc>
            </a:pPr>
            <a:r>
              <a:rPr sz="3200" b="1" spc="-10" dirty="0">
                <a:latin typeface="Calibri"/>
                <a:cs typeface="Calibri"/>
              </a:rPr>
              <a:t>“Partnership</a:t>
            </a:r>
            <a:r>
              <a:rPr sz="3200" b="1" spc="-75" dirty="0">
                <a:latin typeface="Calibri"/>
                <a:cs typeface="Calibri"/>
              </a:rPr>
              <a:t> </a:t>
            </a:r>
            <a:r>
              <a:rPr sz="3200" b="1" spc="-5" dirty="0">
                <a:latin typeface="Calibri"/>
                <a:cs typeface="Calibri"/>
              </a:rPr>
              <a:t>Deed”</a:t>
            </a:r>
            <a:endParaRPr sz="3200">
              <a:latin typeface="Calibri"/>
              <a:cs typeface="Calibri"/>
            </a:endParaRPr>
          </a:p>
          <a:p>
            <a:pPr marL="355600" marR="448945" indent="-342900">
              <a:lnSpc>
                <a:spcPct val="100000"/>
              </a:lnSpc>
              <a:spcBef>
                <a:spcPts val="770"/>
              </a:spcBef>
              <a:buFont typeface="Arial MT"/>
              <a:buChar char="•"/>
              <a:tabLst>
                <a:tab pos="354965" algn="l"/>
                <a:tab pos="355600" algn="l"/>
              </a:tabLst>
            </a:pPr>
            <a:r>
              <a:rPr sz="3200" b="1" spc="-5" dirty="0">
                <a:latin typeface="Calibri"/>
                <a:cs typeface="Calibri"/>
              </a:rPr>
              <a:t>The</a:t>
            </a:r>
            <a:r>
              <a:rPr sz="3200" b="1" spc="-20" dirty="0">
                <a:latin typeface="Calibri"/>
                <a:cs typeface="Calibri"/>
              </a:rPr>
              <a:t> </a:t>
            </a:r>
            <a:r>
              <a:rPr sz="3200" b="1" spc="-5" dirty="0">
                <a:latin typeface="Calibri"/>
                <a:cs typeface="Calibri"/>
              </a:rPr>
              <a:t>firm</a:t>
            </a:r>
            <a:r>
              <a:rPr sz="3200" b="1" dirty="0">
                <a:latin typeface="Calibri"/>
                <a:cs typeface="Calibri"/>
              </a:rPr>
              <a:t> </a:t>
            </a:r>
            <a:r>
              <a:rPr sz="3200" b="1" spc="-5" dirty="0">
                <a:latin typeface="Calibri"/>
                <a:cs typeface="Calibri"/>
              </a:rPr>
              <a:t>means</a:t>
            </a:r>
            <a:r>
              <a:rPr sz="3200" b="1" spc="-30" dirty="0">
                <a:latin typeface="Calibri"/>
                <a:cs typeface="Calibri"/>
              </a:rPr>
              <a:t> </a:t>
            </a:r>
            <a:r>
              <a:rPr sz="3200" b="1" spc="-5" dirty="0">
                <a:latin typeface="Calibri"/>
                <a:cs typeface="Calibri"/>
              </a:rPr>
              <a:t>partners,</a:t>
            </a:r>
            <a:r>
              <a:rPr sz="3200" b="1" spc="-25" dirty="0">
                <a:latin typeface="Calibri"/>
                <a:cs typeface="Calibri"/>
              </a:rPr>
              <a:t> </a:t>
            </a:r>
            <a:r>
              <a:rPr sz="3200" b="1" dirty="0">
                <a:latin typeface="Calibri"/>
                <a:cs typeface="Calibri"/>
              </a:rPr>
              <a:t>the</a:t>
            </a:r>
            <a:r>
              <a:rPr sz="3200" b="1" spc="-10" dirty="0">
                <a:latin typeface="Calibri"/>
                <a:cs typeface="Calibri"/>
              </a:rPr>
              <a:t> </a:t>
            </a:r>
            <a:r>
              <a:rPr sz="3200" b="1" spc="-5" dirty="0">
                <a:latin typeface="Calibri"/>
                <a:cs typeface="Calibri"/>
              </a:rPr>
              <a:t>partners</a:t>
            </a:r>
            <a:r>
              <a:rPr sz="3200" b="1" spc="-30" dirty="0">
                <a:latin typeface="Calibri"/>
                <a:cs typeface="Calibri"/>
              </a:rPr>
              <a:t> </a:t>
            </a:r>
            <a:r>
              <a:rPr sz="3200" b="1" dirty="0">
                <a:latin typeface="Calibri"/>
                <a:cs typeface="Calibri"/>
              </a:rPr>
              <a:t>mean</a:t>
            </a:r>
            <a:r>
              <a:rPr sz="3200" b="1" spc="-30" dirty="0">
                <a:latin typeface="Calibri"/>
                <a:cs typeface="Calibri"/>
              </a:rPr>
              <a:t> </a:t>
            </a:r>
            <a:r>
              <a:rPr sz="3200" b="1" dirty="0">
                <a:latin typeface="Calibri"/>
                <a:cs typeface="Calibri"/>
              </a:rPr>
              <a:t>the </a:t>
            </a:r>
            <a:r>
              <a:rPr sz="3200" b="1" spc="-710" dirty="0">
                <a:latin typeface="Calibri"/>
                <a:cs typeface="Calibri"/>
              </a:rPr>
              <a:t> </a:t>
            </a:r>
            <a:r>
              <a:rPr sz="3200" b="1" spc="-5" dirty="0">
                <a:latin typeface="Calibri"/>
                <a:cs typeface="Calibri"/>
              </a:rPr>
              <a:t>firm</a:t>
            </a:r>
            <a:endParaRPr sz="3200">
              <a:latin typeface="Calibri"/>
              <a:cs typeface="Calibri"/>
            </a:endParaRPr>
          </a:p>
          <a:p>
            <a:pPr marL="355600" indent="-342900">
              <a:lnSpc>
                <a:spcPct val="100000"/>
              </a:lnSpc>
              <a:spcBef>
                <a:spcPts val="765"/>
              </a:spcBef>
              <a:buFont typeface="Arial MT"/>
              <a:buChar char="•"/>
              <a:tabLst>
                <a:tab pos="354965" algn="l"/>
                <a:tab pos="355600" algn="l"/>
              </a:tabLst>
            </a:pPr>
            <a:r>
              <a:rPr sz="3200" b="1" spc="-5" dirty="0">
                <a:latin typeface="Calibri"/>
                <a:cs typeface="Calibri"/>
              </a:rPr>
              <a:t>The</a:t>
            </a:r>
            <a:r>
              <a:rPr sz="3200" b="1" spc="-10" dirty="0">
                <a:latin typeface="Calibri"/>
                <a:cs typeface="Calibri"/>
              </a:rPr>
              <a:t> profit</a:t>
            </a:r>
            <a:r>
              <a:rPr sz="3200" b="1" dirty="0">
                <a:latin typeface="Calibri"/>
                <a:cs typeface="Calibri"/>
              </a:rPr>
              <a:t> is</a:t>
            </a:r>
            <a:r>
              <a:rPr sz="3200" b="1" spc="-15" dirty="0">
                <a:latin typeface="Calibri"/>
                <a:cs typeface="Calibri"/>
              </a:rPr>
              <a:t> </a:t>
            </a:r>
            <a:r>
              <a:rPr sz="3200" b="1" dirty="0">
                <a:latin typeface="Calibri"/>
                <a:cs typeface="Calibri"/>
              </a:rPr>
              <a:t>divided</a:t>
            </a:r>
            <a:r>
              <a:rPr sz="3200" b="1" spc="-25" dirty="0">
                <a:latin typeface="Calibri"/>
                <a:cs typeface="Calibri"/>
              </a:rPr>
              <a:t> </a:t>
            </a:r>
            <a:r>
              <a:rPr sz="3200" b="1" dirty="0">
                <a:latin typeface="Calibri"/>
                <a:cs typeface="Calibri"/>
              </a:rPr>
              <a:t>in </a:t>
            </a:r>
            <a:r>
              <a:rPr sz="3200" b="1" spc="-25" dirty="0">
                <a:latin typeface="Calibri"/>
                <a:cs typeface="Calibri"/>
              </a:rPr>
              <a:t>any</a:t>
            </a:r>
            <a:r>
              <a:rPr sz="3200" b="1" spc="-10" dirty="0">
                <a:latin typeface="Calibri"/>
                <a:cs typeface="Calibri"/>
              </a:rPr>
              <a:t> </a:t>
            </a:r>
            <a:r>
              <a:rPr sz="3200" b="1" dirty="0">
                <a:latin typeface="Calibri"/>
                <a:cs typeface="Calibri"/>
              </a:rPr>
              <a:t>as</a:t>
            </a:r>
            <a:r>
              <a:rPr sz="3200" b="1" spc="5" dirty="0">
                <a:latin typeface="Calibri"/>
                <a:cs typeface="Calibri"/>
              </a:rPr>
              <a:t> </a:t>
            </a:r>
            <a:r>
              <a:rPr sz="3200" b="1" spc="-25" dirty="0">
                <a:latin typeface="Calibri"/>
                <a:cs typeface="Calibri"/>
              </a:rPr>
              <a:t>ratio</a:t>
            </a:r>
            <a:r>
              <a:rPr sz="3200" b="1" spc="-20" dirty="0">
                <a:latin typeface="Calibri"/>
                <a:cs typeface="Calibri"/>
              </a:rPr>
              <a:t> </a:t>
            </a:r>
            <a:r>
              <a:rPr sz="3200" b="1" dirty="0">
                <a:latin typeface="Calibri"/>
                <a:cs typeface="Calibri"/>
              </a:rPr>
              <a:t>as </a:t>
            </a:r>
            <a:r>
              <a:rPr sz="3200" b="1" spc="-10" dirty="0">
                <a:latin typeface="Calibri"/>
                <a:cs typeface="Calibri"/>
              </a:rPr>
              <a:t>agreed</a:t>
            </a:r>
            <a:endParaRPr sz="3200">
              <a:latin typeface="Calibri"/>
              <a:cs typeface="Calibri"/>
            </a:endParaRPr>
          </a:p>
          <a:p>
            <a:pPr marL="355600" marR="69850" indent="-342900">
              <a:lnSpc>
                <a:spcPct val="100000"/>
              </a:lnSpc>
              <a:spcBef>
                <a:spcPts val="770"/>
              </a:spcBef>
              <a:buFont typeface="Arial MT"/>
              <a:buChar char="•"/>
              <a:tabLst>
                <a:tab pos="354965" algn="l"/>
                <a:tab pos="355600" algn="l"/>
              </a:tabLst>
            </a:pPr>
            <a:r>
              <a:rPr sz="3200" b="1" dirty="0">
                <a:latin typeface="Calibri"/>
                <a:cs typeface="Calibri"/>
              </a:rPr>
              <a:t>No partner </a:t>
            </a:r>
            <a:r>
              <a:rPr sz="3200" b="1" spc="-10" dirty="0">
                <a:latin typeface="Calibri"/>
                <a:cs typeface="Calibri"/>
              </a:rPr>
              <a:t>can </a:t>
            </a:r>
            <a:r>
              <a:rPr sz="3200" b="1" spc="-15" dirty="0">
                <a:latin typeface="Calibri"/>
                <a:cs typeface="Calibri"/>
              </a:rPr>
              <a:t>sell/transfer </a:t>
            </a:r>
            <a:r>
              <a:rPr sz="3200" b="1" dirty="0">
                <a:latin typeface="Calibri"/>
                <a:cs typeface="Calibri"/>
              </a:rPr>
              <a:t>his </a:t>
            </a:r>
            <a:r>
              <a:rPr sz="3200" b="1" spc="-20" dirty="0">
                <a:latin typeface="Calibri"/>
                <a:cs typeface="Calibri"/>
              </a:rPr>
              <a:t>interest </a:t>
            </a:r>
            <a:r>
              <a:rPr sz="3200" b="1" dirty="0">
                <a:latin typeface="Calibri"/>
                <a:cs typeface="Calibri"/>
              </a:rPr>
              <a:t>in </a:t>
            </a:r>
            <a:r>
              <a:rPr sz="3200" b="1" spc="-5" dirty="0">
                <a:latin typeface="Calibri"/>
                <a:cs typeface="Calibri"/>
              </a:rPr>
              <a:t>the firm </a:t>
            </a:r>
            <a:r>
              <a:rPr sz="3200" b="1" spc="-710" dirty="0">
                <a:latin typeface="Calibri"/>
                <a:cs typeface="Calibri"/>
              </a:rPr>
              <a:t> </a:t>
            </a:r>
            <a:r>
              <a:rPr sz="3200" b="1" spc="-20" dirty="0">
                <a:latin typeface="Calibri"/>
                <a:cs typeface="Calibri"/>
              </a:rPr>
              <a:t>to</a:t>
            </a:r>
            <a:r>
              <a:rPr sz="3200" b="1" spc="-10" dirty="0">
                <a:latin typeface="Calibri"/>
                <a:cs typeface="Calibri"/>
              </a:rPr>
              <a:t> </a:t>
            </a:r>
            <a:r>
              <a:rPr sz="3200" b="1" spc="-20" dirty="0">
                <a:latin typeface="Calibri"/>
                <a:cs typeface="Calibri"/>
              </a:rPr>
              <a:t>anyone</a:t>
            </a:r>
            <a:r>
              <a:rPr sz="3200" b="1" dirty="0">
                <a:latin typeface="Calibri"/>
                <a:cs typeface="Calibri"/>
              </a:rPr>
              <a:t> </a:t>
            </a:r>
            <a:r>
              <a:rPr sz="3200" b="1" spc="-5" dirty="0">
                <a:latin typeface="Calibri"/>
                <a:cs typeface="Calibri"/>
              </a:rPr>
              <a:t>without</a:t>
            </a:r>
            <a:r>
              <a:rPr sz="3200" b="1" spc="-30" dirty="0">
                <a:latin typeface="Calibri"/>
                <a:cs typeface="Calibri"/>
              </a:rPr>
              <a:t> </a:t>
            </a:r>
            <a:r>
              <a:rPr sz="3200" b="1" dirty="0">
                <a:latin typeface="Calibri"/>
                <a:cs typeface="Calibri"/>
              </a:rPr>
              <a:t>the </a:t>
            </a:r>
            <a:r>
              <a:rPr sz="3200" b="1" spc="-10" dirty="0">
                <a:latin typeface="Calibri"/>
                <a:cs typeface="Calibri"/>
              </a:rPr>
              <a:t>consent</a:t>
            </a:r>
            <a:r>
              <a:rPr sz="3200" b="1" spc="-35" dirty="0">
                <a:latin typeface="Calibri"/>
                <a:cs typeface="Calibri"/>
              </a:rPr>
              <a:t> </a:t>
            </a:r>
            <a:r>
              <a:rPr sz="3200" b="1" dirty="0">
                <a:latin typeface="Calibri"/>
                <a:cs typeface="Calibri"/>
              </a:rPr>
              <a:t>of</a:t>
            </a:r>
            <a:r>
              <a:rPr sz="3200" b="1" spc="5" dirty="0">
                <a:latin typeface="Calibri"/>
                <a:cs typeface="Calibri"/>
              </a:rPr>
              <a:t> </a:t>
            </a:r>
            <a:r>
              <a:rPr sz="3200" b="1" dirty="0">
                <a:latin typeface="Calibri"/>
                <a:cs typeface="Calibri"/>
              </a:rPr>
              <a:t>other </a:t>
            </a:r>
            <a:r>
              <a:rPr sz="3200" b="1" spc="-5" dirty="0">
                <a:latin typeface="Calibri"/>
                <a:cs typeface="Calibri"/>
              </a:rPr>
              <a:t>partners</a:t>
            </a:r>
            <a:endParaRPr sz="32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6810" y="415493"/>
            <a:ext cx="7257415" cy="697230"/>
          </a:xfrm>
          <a:prstGeom prst="rect">
            <a:avLst/>
          </a:prstGeom>
        </p:spPr>
        <p:txBody>
          <a:bodyPr vert="horz" wrap="square" lIns="0" tIns="13335" rIns="0" bIns="0" rtlCol="0">
            <a:spAutoFit/>
          </a:bodyPr>
          <a:lstStyle/>
          <a:p>
            <a:pPr marL="12700">
              <a:lnSpc>
                <a:spcPct val="100000"/>
              </a:lnSpc>
              <a:spcBef>
                <a:spcPts val="105"/>
              </a:spcBef>
            </a:pPr>
            <a:r>
              <a:rPr spc="-75" dirty="0"/>
              <a:t>ADVANTAGES</a:t>
            </a:r>
            <a:r>
              <a:rPr spc="-70" dirty="0"/>
              <a:t> </a:t>
            </a:r>
            <a:r>
              <a:rPr dirty="0"/>
              <a:t>OF</a:t>
            </a:r>
            <a:r>
              <a:rPr spc="-30" dirty="0"/>
              <a:t> </a:t>
            </a:r>
            <a:r>
              <a:rPr spc="-35" dirty="0"/>
              <a:t>PARTNERSHIP</a:t>
            </a:r>
          </a:p>
        </p:txBody>
      </p:sp>
      <p:sp>
        <p:nvSpPr>
          <p:cNvPr id="3" name="object 3"/>
          <p:cNvSpPr txBox="1"/>
          <p:nvPr/>
        </p:nvSpPr>
        <p:spPr>
          <a:xfrm>
            <a:off x="535940" y="1586835"/>
            <a:ext cx="5115560" cy="4513580"/>
          </a:xfrm>
          <a:prstGeom prst="rect">
            <a:avLst/>
          </a:prstGeom>
        </p:spPr>
        <p:txBody>
          <a:bodyPr vert="horz" wrap="square" lIns="0" tIns="109855" rIns="0" bIns="0" rtlCol="0">
            <a:spAutoFit/>
          </a:bodyPr>
          <a:lstStyle/>
          <a:p>
            <a:pPr marL="355600" indent="-342900">
              <a:lnSpc>
                <a:spcPct val="100000"/>
              </a:lnSpc>
              <a:spcBef>
                <a:spcPts val="865"/>
              </a:spcBef>
              <a:buFont typeface="Arial MT"/>
              <a:buChar char="•"/>
              <a:tabLst>
                <a:tab pos="354965" algn="l"/>
                <a:tab pos="355600" algn="l"/>
              </a:tabLst>
            </a:pPr>
            <a:r>
              <a:rPr sz="3200" b="1" spc="-20" dirty="0">
                <a:latin typeface="Calibri"/>
                <a:cs typeface="Calibri"/>
              </a:rPr>
              <a:t>Easy</a:t>
            </a:r>
            <a:r>
              <a:rPr sz="3200" b="1" spc="-65" dirty="0">
                <a:latin typeface="Calibri"/>
                <a:cs typeface="Calibri"/>
              </a:rPr>
              <a:t> </a:t>
            </a:r>
            <a:r>
              <a:rPr sz="3200" b="1" spc="-5" dirty="0">
                <a:latin typeface="Calibri"/>
                <a:cs typeface="Calibri"/>
              </a:rPr>
              <a:t>Formation</a:t>
            </a:r>
            <a:endParaRPr sz="3200">
              <a:latin typeface="Calibri"/>
              <a:cs typeface="Calibri"/>
            </a:endParaRPr>
          </a:p>
          <a:p>
            <a:pPr marL="355600" indent="-342900">
              <a:lnSpc>
                <a:spcPct val="100000"/>
              </a:lnSpc>
              <a:spcBef>
                <a:spcPts val="770"/>
              </a:spcBef>
              <a:buFont typeface="Arial MT"/>
              <a:buChar char="•"/>
              <a:tabLst>
                <a:tab pos="354965" algn="l"/>
                <a:tab pos="355600" algn="l"/>
              </a:tabLst>
            </a:pPr>
            <a:r>
              <a:rPr sz="3200" b="1" spc="-10" dirty="0">
                <a:latin typeface="Calibri"/>
                <a:cs typeface="Calibri"/>
              </a:rPr>
              <a:t>Larger</a:t>
            </a:r>
            <a:r>
              <a:rPr sz="3200" b="1" spc="-80" dirty="0">
                <a:latin typeface="Calibri"/>
                <a:cs typeface="Calibri"/>
              </a:rPr>
              <a:t> </a:t>
            </a:r>
            <a:r>
              <a:rPr sz="3200" b="1" spc="-15" dirty="0">
                <a:latin typeface="Calibri"/>
                <a:cs typeface="Calibri"/>
              </a:rPr>
              <a:t>Resources</a:t>
            </a:r>
            <a:endParaRPr sz="3200">
              <a:latin typeface="Calibri"/>
              <a:cs typeface="Calibri"/>
            </a:endParaRPr>
          </a:p>
          <a:p>
            <a:pPr marL="355600" indent="-342900">
              <a:lnSpc>
                <a:spcPct val="100000"/>
              </a:lnSpc>
              <a:spcBef>
                <a:spcPts val="770"/>
              </a:spcBef>
              <a:buFont typeface="Arial MT"/>
              <a:buChar char="•"/>
              <a:tabLst>
                <a:tab pos="354965" algn="l"/>
                <a:tab pos="355600" algn="l"/>
              </a:tabLst>
            </a:pPr>
            <a:r>
              <a:rPr sz="3200" b="1" dirty="0">
                <a:latin typeface="Calibri"/>
                <a:cs typeface="Calibri"/>
              </a:rPr>
              <a:t>Sharing</a:t>
            </a:r>
            <a:r>
              <a:rPr sz="3200" b="1" spc="-60" dirty="0">
                <a:latin typeface="Calibri"/>
                <a:cs typeface="Calibri"/>
              </a:rPr>
              <a:t> </a:t>
            </a:r>
            <a:r>
              <a:rPr sz="3200" b="1" spc="-5" dirty="0">
                <a:latin typeface="Calibri"/>
                <a:cs typeface="Calibri"/>
              </a:rPr>
              <a:t>Of</a:t>
            </a:r>
            <a:r>
              <a:rPr sz="3200" b="1" spc="-30" dirty="0">
                <a:latin typeface="Calibri"/>
                <a:cs typeface="Calibri"/>
              </a:rPr>
              <a:t> </a:t>
            </a:r>
            <a:r>
              <a:rPr sz="3200" b="1" dirty="0">
                <a:latin typeface="Calibri"/>
                <a:cs typeface="Calibri"/>
              </a:rPr>
              <a:t>Risk</a:t>
            </a:r>
            <a:endParaRPr sz="3200">
              <a:latin typeface="Calibri"/>
              <a:cs typeface="Calibri"/>
            </a:endParaRPr>
          </a:p>
          <a:p>
            <a:pPr marL="355600" marR="621665" indent="-342900">
              <a:lnSpc>
                <a:spcPct val="100000"/>
              </a:lnSpc>
              <a:spcBef>
                <a:spcPts val="770"/>
              </a:spcBef>
              <a:buFont typeface="Arial MT"/>
              <a:buChar char="•"/>
              <a:tabLst>
                <a:tab pos="354965" algn="l"/>
                <a:tab pos="355600" algn="l"/>
              </a:tabLst>
            </a:pPr>
            <a:r>
              <a:rPr sz="3200" b="1" spc="-15" dirty="0">
                <a:latin typeface="Calibri"/>
                <a:cs typeface="Calibri"/>
              </a:rPr>
              <a:t>Better</a:t>
            </a:r>
            <a:r>
              <a:rPr sz="3200" b="1" spc="-65" dirty="0">
                <a:latin typeface="Calibri"/>
                <a:cs typeface="Calibri"/>
              </a:rPr>
              <a:t> </a:t>
            </a:r>
            <a:r>
              <a:rPr sz="3200" b="1" spc="-10" dirty="0">
                <a:latin typeface="Calibri"/>
                <a:cs typeface="Calibri"/>
              </a:rPr>
              <a:t>Management</a:t>
            </a:r>
            <a:r>
              <a:rPr sz="3200" b="1" spc="-60" dirty="0">
                <a:latin typeface="Calibri"/>
                <a:cs typeface="Calibri"/>
              </a:rPr>
              <a:t> </a:t>
            </a:r>
            <a:r>
              <a:rPr sz="3200" b="1" dirty="0">
                <a:latin typeface="Calibri"/>
                <a:cs typeface="Calibri"/>
              </a:rPr>
              <a:t>and </a:t>
            </a:r>
            <a:r>
              <a:rPr sz="3200" b="1" spc="-705" dirty="0">
                <a:latin typeface="Calibri"/>
                <a:cs typeface="Calibri"/>
              </a:rPr>
              <a:t> </a:t>
            </a:r>
            <a:r>
              <a:rPr sz="3200" b="1" spc="-5" dirty="0">
                <a:latin typeface="Calibri"/>
                <a:cs typeface="Calibri"/>
              </a:rPr>
              <a:t>Flexibility</a:t>
            </a:r>
            <a:r>
              <a:rPr sz="3200" b="1" spc="-55" dirty="0">
                <a:latin typeface="Calibri"/>
                <a:cs typeface="Calibri"/>
              </a:rPr>
              <a:t> </a:t>
            </a:r>
            <a:r>
              <a:rPr sz="3200" b="1" dirty="0">
                <a:latin typeface="Calibri"/>
                <a:cs typeface="Calibri"/>
              </a:rPr>
              <a:t>of</a:t>
            </a:r>
            <a:r>
              <a:rPr sz="3200" b="1" spc="-15" dirty="0">
                <a:latin typeface="Calibri"/>
                <a:cs typeface="Calibri"/>
              </a:rPr>
              <a:t> </a:t>
            </a:r>
            <a:r>
              <a:rPr sz="3200" b="1" spc="-10" dirty="0">
                <a:latin typeface="Calibri"/>
                <a:cs typeface="Calibri"/>
              </a:rPr>
              <a:t>Operation</a:t>
            </a:r>
            <a:endParaRPr sz="3200">
              <a:latin typeface="Calibri"/>
              <a:cs typeface="Calibri"/>
            </a:endParaRPr>
          </a:p>
          <a:p>
            <a:pPr marL="355600" indent="-342900">
              <a:lnSpc>
                <a:spcPct val="100000"/>
              </a:lnSpc>
              <a:spcBef>
                <a:spcPts val="770"/>
              </a:spcBef>
              <a:buFont typeface="Arial MT"/>
              <a:buChar char="•"/>
              <a:tabLst>
                <a:tab pos="354965" algn="l"/>
                <a:tab pos="355600" algn="l"/>
              </a:tabLst>
            </a:pPr>
            <a:r>
              <a:rPr sz="3200" b="1" dirty="0">
                <a:latin typeface="Calibri"/>
                <a:cs typeface="Calibri"/>
              </a:rPr>
              <a:t>No</a:t>
            </a:r>
            <a:r>
              <a:rPr sz="3200" b="1" spc="-25" dirty="0">
                <a:latin typeface="Calibri"/>
                <a:cs typeface="Calibri"/>
              </a:rPr>
              <a:t> </a:t>
            </a:r>
            <a:r>
              <a:rPr sz="3200" b="1" spc="-20" dirty="0">
                <a:latin typeface="Calibri"/>
                <a:cs typeface="Calibri"/>
              </a:rPr>
              <a:t>corporate</a:t>
            </a:r>
            <a:r>
              <a:rPr sz="3200" b="1" spc="-60" dirty="0">
                <a:latin typeface="Calibri"/>
                <a:cs typeface="Calibri"/>
              </a:rPr>
              <a:t> </a:t>
            </a:r>
            <a:r>
              <a:rPr sz="3200" b="1" dirty="0">
                <a:latin typeface="Calibri"/>
                <a:cs typeface="Calibri"/>
              </a:rPr>
              <a:t>income</a:t>
            </a:r>
            <a:r>
              <a:rPr sz="3200" b="1" spc="-35" dirty="0">
                <a:latin typeface="Calibri"/>
                <a:cs typeface="Calibri"/>
              </a:rPr>
              <a:t> </a:t>
            </a:r>
            <a:r>
              <a:rPr sz="3200" b="1" spc="-20" dirty="0">
                <a:latin typeface="Calibri"/>
                <a:cs typeface="Calibri"/>
              </a:rPr>
              <a:t>tax</a:t>
            </a:r>
            <a:endParaRPr sz="3200">
              <a:latin typeface="Calibri"/>
              <a:cs typeface="Calibri"/>
            </a:endParaRPr>
          </a:p>
          <a:p>
            <a:pPr marL="355600" marR="5080" indent="-342900">
              <a:lnSpc>
                <a:spcPct val="100000"/>
              </a:lnSpc>
              <a:spcBef>
                <a:spcPts val="770"/>
              </a:spcBef>
              <a:buFont typeface="Arial MT"/>
              <a:buChar char="•"/>
              <a:tabLst>
                <a:tab pos="354965" algn="l"/>
                <a:tab pos="355600" algn="l"/>
              </a:tabLst>
            </a:pPr>
            <a:r>
              <a:rPr sz="3200" b="1" spc="-5" dirty="0">
                <a:latin typeface="Calibri"/>
                <a:cs typeface="Calibri"/>
              </a:rPr>
              <a:t>Subject</a:t>
            </a:r>
            <a:r>
              <a:rPr sz="3200" b="1" spc="-30" dirty="0">
                <a:latin typeface="Calibri"/>
                <a:cs typeface="Calibri"/>
              </a:rPr>
              <a:t> </a:t>
            </a:r>
            <a:r>
              <a:rPr sz="3200" b="1" spc="-15" dirty="0">
                <a:latin typeface="Calibri"/>
                <a:cs typeface="Calibri"/>
              </a:rPr>
              <a:t>to</a:t>
            </a:r>
            <a:r>
              <a:rPr sz="3200" b="1" spc="-5" dirty="0">
                <a:latin typeface="Calibri"/>
                <a:cs typeface="Calibri"/>
              </a:rPr>
              <a:t> </a:t>
            </a:r>
            <a:r>
              <a:rPr sz="3200" b="1" spc="-25" dirty="0">
                <a:latin typeface="Calibri"/>
                <a:cs typeface="Calibri"/>
              </a:rPr>
              <a:t>fewer</a:t>
            </a:r>
            <a:r>
              <a:rPr sz="3200" b="1" spc="10" dirty="0">
                <a:latin typeface="Calibri"/>
                <a:cs typeface="Calibri"/>
              </a:rPr>
              <a:t> </a:t>
            </a:r>
            <a:r>
              <a:rPr sz="3200" b="1" spc="-10" dirty="0">
                <a:latin typeface="Calibri"/>
                <a:cs typeface="Calibri"/>
              </a:rPr>
              <a:t>regulations </a:t>
            </a:r>
            <a:r>
              <a:rPr sz="3200" b="1" spc="-710" dirty="0">
                <a:latin typeface="Calibri"/>
                <a:cs typeface="Calibri"/>
              </a:rPr>
              <a:t> </a:t>
            </a:r>
            <a:r>
              <a:rPr sz="3200" b="1" dirty="0">
                <a:latin typeface="Calibri"/>
                <a:cs typeface="Calibri"/>
              </a:rPr>
              <a:t>as</a:t>
            </a:r>
            <a:r>
              <a:rPr sz="3200" b="1" spc="-30" dirty="0">
                <a:latin typeface="Calibri"/>
                <a:cs typeface="Calibri"/>
              </a:rPr>
              <a:t> </a:t>
            </a:r>
            <a:r>
              <a:rPr sz="3200" b="1" spc="-10" dirty="0">
                <a:latin typeface="Calibri"/>
                <a:cs typeface="Calibri"/>
              </a:rPr>
              <a:t>compared</a:t>
            </a:r>
            <a:r>
              <a:rPr sz="3200" b="1" spc="-45" dirty="0">
                <a:latin typeface="Calibri"/>
                <a:cs typeface="Calibri"/>
              </a:rPr>
              <a:t> </a:t>
            </a:r>
            <a:r>
              <a:rPr sz="3200" b="1" spc="-20" dirty="0">
                <a:latin typeface="Calibri"/>
                <a:cs typeface="Calibri"/>
              </a:rPr>
              <a:t>to</a:t>
            </a:r>
            <a:r>
              <a:rPr sz="3200" b="1" spc="-10" dirty="0">
                <a:latin typeface="Calibri"/>
                <a:cs typeface="Calibri"/>
              </a:rPr>
              <a:t> </a:t>
            </a:r>
            <a:r>
              <a:rPr sz="3200" b="1" spc="-5" dirty="0">
                <a:latin typeface="Calibri"/>
                <a:cs typeface="Calibri"/>
              </a:rPr>
              <a:t>companies</a:t>
            </a:r>
            <a:endParaRPr sz="3200">
              <a:latin typeface="Calibri"/>
              <a:cs typeface="Calibri"/>
            </a:endParaRPr>
          </a:p>
        </p:txBody>
      </p:sp>
      <p:pic>
        <p:nvPicPr>
          <p:cNvPr id="4" name="object 4"/>
          <p:cNvPicPr/>
          <p:nvPr/>
        </p:nvPicPr>
        <p:blipFill>
          <a:blip r:embed="rId2" cstate="print"/>
          <a:stretch>
            <a:fillRect/>
          </a:stretch>
        </p:blipFill>
        <p:spPr>
          <a:xfrm>
            <a:off x="5715000" y="1676400"/>
            <a:ext cx="3124200" cy="31242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37" y="305765"/>
            <a:ext cx="9022080" cy="757555"/>
          </a:xfrm>
          <a:prstGeom prst="rect">
            <a:avLst/>
          </a:prstGeom>
        </p:spPr>
        <p:txBody>
          <a:bodyPr vert="horz" wrap="square" lIns="0" tIns="12700" rIns="0" bIns="0" rtlCol="0">
            <a:spAutoFit/>
          </a:bodyPr>
          <a:lstStyle/>
          <a:p>
            <a:pPr marL="12700">
              <a:lnSpc>
                <a:spcPct val="100000"/>
              </a:lnSpc>
              <a:spcBef>
                <a:spcPts val="100"/>
              </a:spcBef>
            </a:pPr>
            <a:r>
              <a:rPr sz="4800" spc="-75" dirty="0"/>
              <a:t>DISADVANTAGES</a:t>
            </a:r>
            <a:r>
              <a:rPr sz="4800" spc="5" dirty="0"/>
              <a:t> </a:t>
            </a:r>
            <a:r>
              <a:rPr sz="4800" spc="-5" dirty="0"/>
              <a:t>OF </a:t>
            </a:r>
            <a:r>
              <a:rPr sz="4800" spc="-40" dirty="0"/>
              <a:t>PARTNERSHIPS</a:t>
            </a:r>
            <a:endParaRPr sz="4800"/>
          </a:p>
        </p:txBody>
      </p:sp>
      <p:sp>
        <p:nvSpPr>
          <p:cNvPr id="3" name="object 3"/>
          <p:cNvSpPr txBox="1"/>
          <p:nvPr/>
        </p:nvSpPr>
        <p:spPr>
          <a:xfrm>
            <a:off x="78739" y="1952054"/>
            <a:ext cx="4758690" cy="2660015"/>
          </a:xfrm>
          <a:prstGeom prst="rect">
            <a:avLst/>
          </a:prstGeom>
        </p:spPr>
        <p:txBody>
          <a:bodyPr vert="horz" wrap="square" lIns="0" tIns="122555" rIns="0" bIns="0" rtlCol="0">
            <a:spAutoFit/>
          </a:bodyPr>
          <a:lstStyle/>
          <a:p>
            <a:pPr marL="355600" indent="-342900">
              <a:lnSpc>
                <a:spcPct val="100000"/>
              </a:lnSpc>
              <a:spcBef>
                <a:spcPts val="965"/>
              </a:spcBef>
              <a:buFont typeface="Arial MT"/>
              <a:buChar char="•"/>
              <a:tabLst>
                <a:tab pos="355600" algn="l"/>
              </a:tabLst>
            </a:pPr>
            <a:r>
              <a:rPr sz="3600" b="1" spc="-5" dirty="0">
                <a:latin typeface="Calibri"/>
                <a:cs typeface="Calibri"/>
              </a:rPr>
              <a:t>Unlimited</a:t>
            </a:r>
            <a:r>
              <a:rPr sz="3600" b="1" spc="-45" dirty="0">
                <a:latin typeface="Calibri"/>
                <a:cs typeface="Calibri"/>
              </a:rPr>
              <a:t> </a:t>
            </a:r>
            <a:r>
              <a:rPr sz="3600" b="1" dirty="0">
                <a:latin typeface="Calibri"/>
                <a:cs typeface="Calibri"/>
              </a:rPr>
              <a:t>Liability</a:t>
            </a:r>
            <a:endParaRPr sz="3600">
              <a:latin typeface="Calibri"/>
              <a:cs typeface="Calibri"/>
            </a:endParaRPr>
          </a:p>
          <a:p>
            <a:pPr marL="355600" indent="-342900">
              <a:lnSpc>
                <a:spcPct val="100000"/>
              </a:lnSpc>
              <a:spcBef>
                <a:spcPts val="865"/>
              </a:spcBef>
              <a:buFont typeface="Arial MT"/>
              <a:buChar char="•"/>
              <a:tabLst>
                <a:tab pos="355600" algn="l"/>
              </a:tabLst>
            </a:pPr>
            <a:r>
              <a:rPr sz="3600" b="1" spc="-10" dirty="0">
                <a:latin typeface="Calibri"/>
                <a:cs typeface="Calibri"/>
              </a:rPr>
              <a:t>Limited</a:t>
            </a:r>
            <a:r>
              <a:rPr sz="3600" b="1" spc="-35" dirty="0">
                <a:latin typeface="Calibri"/>
                <a:cs typeface="Calibri"/>
              </a:rPr>
              <a:t> </a:t>
            </a:r>
            <a:r>
              <a:rPr sz="3600" b="1" spc="-20" dirty="0">
                <a:latin typeface="Calibri"/>
                <a:cs typeface="Calibri"/>
              </a:rPr>
              <a:t>Life</a:t>
            </a:r>
            <a:endParaRPr sz="3600">
              <a:latin typeface="Calibri"/>
              <a:cs typeface="Calibri"/>
            </a:endParaRPr>
          </a:p>
          <a:p>
            <a:pPr marL="355600" indent="-342900">
              <a:lnSpc>
                <a:spcPct val="100000"/>
              </a:lnSpc>
              <a:spcBef>
                <a:spcPts val="865"/>
              </a:spcBef>
              <a:buFont typeface="Arial MT"/>
              <a:buChar char="•"/>
              <a:tabLst>
                <a:tab pos="355600" algn="l"/>
              </a:tabLst>
            </a:pPr>
            <a:r>
              <a:rPr sz="3600" b="1" spc="-5" dirty="0">
                <a:latin typeface="Calibri"/>
                <a:cs typeface="Calibri"/>
              </a:rPr>
              <a:t>Difficult</a:t>
            </a:r>
            <a:r>
              <a:rPr sz="3600" b="1" spc="-25" dirty="0">
                <a:latin typeface="Calibri"/>
                <a:cs typeface="Calibri"/>
              </a:rPr>
              <a:t> to</a:t>
            </a:r>
            <a:r>
              <a:rPr sz="3600" b="1" spc="-20" dirty="0">
                <a:latin typeface="Calibri"/>
                <a:cs typeface="Calibri"/>
              </a:rPr>
              <a:t> </a:t>
            </a:r>
            <a:r>
              <a:rPr sz="3600" b="1" spc="-15" dirty="0">
                <a:latin typeface="Calibri"/>
                <a:cs typeface="Calibri"/>
              </a:rPr>
              <a:t>raise</a:t>
            </a:r>
            <a:r>
              <a:rPr sz="3600" b="1" spc="-20" dirty="0">
                <a:latin typeface="Calibri"/>
                <a:cs typeface="Calibri"/>
              </a:rPr>
              <a:t> </a:t>
            </a:r>
            <a:r>
              <a:rPr sz="3600" b="1" spc="-10" dirty="0">
                <a:latin typeface="Calibri"/>
                <a:cs typeface="Calibri"/>
              </a:rPr>
              <a:t>capital</a:t>
            </a:r>
            <a:endParaRPr sz="3600">
              <a:latin typeface="Calibri"/>
              <a:cs typeface="Calibri"/>
            </a:endParaRPr>
          </a:p>
          <a:p>
            <a:pPr marL="355600" indent="-342900">
              <a:lnSpc>
                <a:spcPct val="100000"/>
              </a:lnSpc>
              <a:spcBef>
                <a:spcPts val="865"/>
              </a:spcBef>
              <a:buFont typeface="Arial MT"/>
              <a:buChar char="•"/>
              <a:tabLst>
                <a:tab pos="355600" algn="l"/>
              </a:tabLst>
            </a:pPr>
            <a:r>
              <a:rPr sz="3600" b="1" spc="-5" dirty="0">
                <a:latin typeface="Calibri"/>
                <a:cs typeface="Calibri"/>
              </a:rPr>
              <a:t>Chances</a:t>
            </a:r>
            <a:r>
              <a:rPr sz="3600" b="1" spc="-20" dirty="0">
                <a:latin typeface="Calibri"/>
                <a:cs typeface="Calibri"/>
              </a:rPr>
              <a:t> </a:t>
            </a:r>
            <a:r>
              <a:rPr sz="3600" b="1" spc="-10" dirty="0">
                <a:latin typeface="Calibri"/>
                <a:cs typeface="Calibri"/>
              </a:rPr>
              <a:t>of</a:t>
            </a:r>
            <a:r>
              <a:rPr sz="3600" b="1" spc="-25" dirty="0">
                <a:latin typeface="Calibri"/>
                <a:cs typeface="Calibri"/>
              </a:rPr>
              <a:t> </a:t>
            </a:r>
            <a:r>
              <a:rPr sz="3600" b="1" spc="-10" dirty="0">
                <a:latin typeface="Calibri"/>
                <a:cs typeface="Calibri"/>
              </a:rPr>
              <a:t>Dispute</a:t>
            </a:r>
            <a:endParaRPr sz="3600">
              <a:latin typeface="Calibri"/>
              <a:cs typeface="Calibri"/>
            </a:endParaRPr>
          </a:p>
        </p:txBody>
      </p:sp>
      <p:pic>
        <p:nvPicPr>
          <p:cNvPr id="4" name="object 4"/>
          <p:cNvPicPr/>
          <p:nvPr/>
        </p:nvPicPr>
        <p:blipFill>
          <a:blip r:embed="rId2" cstate="print"/>
          <a:stretch>
            <a:fillRect/>
          </a:stretch>
        </p:blipFill>
        <p:spPr>
          <a:xfrm>
            <a:off x="5105400" y="1828800"/>
            <a:ext cx="3848100" cy="38481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3788" y="6476"/>
            <a:ext cx="7121525" cy="2430794"/>
          </a:xfrm>
          <a:prstGeom prst="rect">
            <a:avLst/>
          </a:prstGeom>
        </p:spPr>
        <p:txBody>
          <a:bodyPr vert="horz" wrap="square" lIns="0" tIns="159385" rIns="0" bIns="0" rtlCol="0">
            <a:spAutoFit/>
          </a:bodyPr>
          <a:lstStyle/>
          <a:p>
            <a:pPr marL="714375">
              <a:lnSpc>
                <a:spcPct val="100000"/>
              </a:lnSpc>
              <a:spcBef>
                <a:spcPts val="1255"/>
              </a:spcBef>
            </a:pPr>
            <a:r>
              <a:rPr sz="3200" b="1" spc="-5" dirty="0"/>
              <a:t>JOINT</a:t>
            </a:r>
            <a:r>
              <a:rPr sz="3200" b="1" spc="-40" dirty="0"/>
              <a:t> STOCK</a:t>
            </a:r>
            <a:r>
              <a:rPr sz="3200" b="1" spc="-10" dirty="0"/>
              <a:t> </a:t>
            </a:r>
            <a:r>
              <a:rPr sz="3200" b="1" spc="-50" dirty="0"/>
              <a:t>COMPANY</a:t>
            </a:r>
            <a:endParaRPr sz="3200" b="1" dirty="0"/>
          </a:p>
          <a:p>
            <a:pPr marL="47625" marR="5080" indent="-35560">
              <a:lnSpc>
                <a:spcPct val="100000"/>
              </a:lnSpc>
              <a:spcBef>
                <a:spcPts val="865"/>
              </a:spcBef>
            </a:pPr>
            <a:r>
              <a:rPr sz="3600" dirty="0">
                <a:solidFill>
                  <a:srgbClr val="000000"/>
                </a:solidFill>
              </a:rPr>
              <a:t>A</a:t>
            </a:r>
            <a:r>
              <a:rPr sz="3600" spc="-10" dirty="0">
                <a:solidFill>
                  <a:srgbClr val="000000"/>
                </a:solidFill>
              </a:rPr>
              <a:t> joint</a:t>
            </a:r>
            <a:r>
              <a:rPr sz="3600" spc="5" dirty="0">
                <a:solidFill>
                  <a:srgbClr val="000000"/>
                </a:solidFill>
              </a:rPr>
              <a:t> </a:t>
            </a:r>
            <a:r>
              <a:rPr sz="3600" spc="-15" dirty="0">
                <a:solidFill>
                  <a:srgbClr val="000000"/>
                </a:solidFill>
              </a:rPr>
              <a:t>stock</a:t>
            </a:r>
            <a:r>
              <a:rPr sz="3600" spc="-5" dirty="0">
                <a:solidFill>
                  <a:srgbClr val="000000"/>
                </a:solidFill>
              </a:rPr>
              <a:t> </a:t>
            </a:r>
            <a:r>
              <a:rPr sz="3600" spc="-15" dirty="0">
                <a:solidFill>
                  <a:srgbClr val="000000"/>
                </a:solidFill>
              </a:rPr>
              <a:t>company </a:t>
            </a:r>
            <a:r>
              <a:rPr sz="3600" dirty="0">
                <a:solidFill>
                  <a:srgbClr val="000000"/>
                </a:solidFill>
              </a:rPr>
              <a:t>is</a:t>
            </a:r>
            <a:r>
              <a:rPr sz="3600" spc="-5" dirty="0">
                <a:solidFill>
                  <a:srgbClr val="000000"/>
                </a:solidFill>
              </a:rPr>
              <a:t> </a:t>
            </a:r>
            <a:r>
              <a:rPr sz="3600" dirty="0">
                <a:solidFill>
                  <a:srgbClr val="000000"/>
                </a:solidFill>
              </a:rPr>
              <a:t>a</a:t>
            </a:r>
            <a:r>
              <a:rPr sz="3600" spc="-5" dirty="0">
                <a:solidFill>
                  <a:srgbClr val="000000"/>
                </a:solidFill>
              </a:rPr>
              <a:t> </a:t>
            </a:r>
            <a:r>
              <a:rPr sz="3600" spc="-15" dirty="0">
                <a:solidFill>
                  <a:srgbClr val="000000"/>
                </a:solidFill>
              </a:rPr>
              <a:t>voluntary </a:t>
            </a:r>
            <a:r>
              <a:rPr sz="3600" spc="-10" dirty="0">
                <a:solidFill>
                  <a:srgbClr val="000000"/>
                </a:solidFill>
              </a:rPr>
              <a:t> </a:t>
            </a:r>
            <a:r>
              <a:rPr sz="3600" spc="-5" dirty="0">
                <a:solidFill>
                  <a:srgbClr val="000000"/>
                </a:solidFill>
              </a:rPr>
              <a:t>association </a:t>
            </a:r>
            <a:r>
              <a:rPr sz="3600" dirty="0">
                <a:solidFill>
                  <a:srgbClr val="000000"/>
                </a:solidFill>
              </a:rPr>
              <a:t>of people who </a:t>
            </a:r>
            <a:r>
              <a:rPr sz="3600" spc="-10" dirty="0">
                <a:solidFill>
                  <a:srgbClr val="000000"/>
                </a:solidFill>
              </a:rPr>
              <a:t>contribute </a:t>
            </a:r>
            <a:r>
              <a:rPr sz="3600" spc="-800" dirty="0">
                <a:solidFill>
                  <a:srgbClr val="000000"/>
                </a:solidFill>
              </a:rPr>
              <a:t> </a:t>
            </a:r>
            <a:r>
              <a:rPr sz="3600" spc="-15" dirty="0">
                <a:solidFill>
                  <a:srgbClr val="000000"/>
                </a:solidFill>
              </a:rPr>
              <a:t>money</a:t>
            </a:r>
            <a:r>
              <a:rPr sz="3600" spc="-20" dirty="0">
                <a:solidFill>
                  <a:srgbClr val="000000"/>
                </a:solidFill>
              </a:rPr>
              <a:t> to</a:t>
            </a:r>
            <a:r>
              <a:rPr sz="3600" dirty="0">
                <a:solidFill>
                  <a:srgbClr val="000000"/>
                </a:solidFill>
              </a:rPr>
              <a:t> </a:t>
            </a:r>
            <a:r>
              <a:rPr sz="3600" spc="-5" dirty="0">
                <a:solidFill>
                  <a:srgbClr val="000000"/>
                </a:solidFill>
              </a:rPr>
              <a:t>carry</a:t>
            </a:r>
            <a:r>
              <a:rPr sz="3600" spc="-30" dirty="0">
                <a:solidFill>
                  <a:srgbClr val="000000"/>
                </a:solidFill>
              </a:rPr>
              <a:t> </a:t>
            </a:r>
            <a:r>
              <a:rPr sz="3600" dirty="0">
                <a:solidFill>
                  <a:srgbClr val="000000"/>
                </a:solidFill>
              </a:rPr>
              <a:t>on business</a:t>
            </a:r>
            <a:endParaRPr sz="3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3714750"/>
            <a:ext cx="8591550" cy="3143246"/>
          </a:xfrm>
          <a:prstGeom prst="rect">
            <a:avLst/>
          </a:prstGeom>
        </p:spPr>
      </p:pic>
      <p:sp>
        <p:nvSpPr>
          <p:cNvPr id="3" name="object 3"/>
          <p:cNvSpPr txBox="1">
            <a:spLocks noGrp="1"/>
          </p:cNvSpPr>
          <p:nvPr>
            <p:ph type="title"/>
          </p:nvPr>
        </p:nvSpPr>
        <p:spPr>
          <a:xfrm>
            <a:off x="483209" y="69596"/>
            <a:ext cx="8174990" cy="504625"/>
          </a:xfrm>
          <a:prstGeom prst="rect">
            <a:avLst/>
          </a:prstGeom>
        </p:spPr>
        <p:txBody>
          <a:bodyPr vert="horz" wrap="square" lIns="0" tIns="12065" rIns="0" bIns="0" rtlCol="0">
            <a:spAutoFit/>
          </a:bodyPr>
          <a:lstStyle/>
          <a:p>
            <a:pPr marL="12700">
              <a:lnSpc>
                <a:spcPct val="100000"/>
              </a:lnSpc>
              <a:spcBef>
                <a:spcPts val="95"/>
              </a:spcBef>
            </a:pPr>
            <a:r>
              <a:rPr sz="3200" b="1" spc="-15" dirty="0"/>
              <a:t>CHARACTERISTICS</a:t>
            </a:r>
            <a:r>
              <a:rPr sz="3200" b="1" spc="-20" dirty="0"/>
              <a:t> </a:t>
            </a:r>
            <a:r>
              <a:rPr sz="3200" b="1" spc="-5" dirty="0"/>
              <a:t>OF</a:t>
            </a:r>
            <a:r>
              <a:rPr sz="3200" b="1" spc="-20" dirty="0"/>
              <a:t> </a:t>
            </a:r>
            <a:r>
              <a:rPr sz="3200" b="1" spc="-5" dirty="0"/>
              <a:t>A</a:t>
            </a:r>
            <a:r>
              <a:rPr sz="3200" b="1" spc="-20" dirty="0"/>
              <a:t> </a:t>
            </a:r>
            <a:r>
              <a:rPr sz="3200" b="1" spc="-40" dirty="0"/>
              <a:t>CORPORATION</a:t>
            </a:r>
            <a:endParaRPr sz="3200" b="1"/>
          </a:p>
        </p:txBody>
      </p:sp>
      <p:sp>
        <p:nvSpPr>
          <p:cNvPr id="4" name="object 4"/>
          <p:cNvSpPr txBox="1"/>
          <p:nvPr/>
        </p:nvSpPr>
        <p:spPr>
          <a:xfrm>
            <a:off x="78739" y="519722"/>
            <a:ext cx="8743315" cy="3830320"/>
          </a:xfrm>
          <a:prstGeom prst="rect">
            <a:avLst/>
          </a:prstGeom>
        </p:spPr>
        <p:txBody>
          <a:bodyPr vert="horz" wrap="square" lIns="0" tIns="110490" rIns="0" bIns="0" rtlCol="0">
            <a:spAutoFit/>
          </a:bodyPr>
          <a:lstStyle/>
          <a:p>
            <a:pPr marL="355600" indent="-342900">
              <a:lnSpc>
                <a:spcPct val="100000"/>
              </a:lnSpc>
              <a:spcBef>
                <a:spcPts val="870"/>
              </a:spcBef>
              <a:buFont typeface="Arial MT"/>
              <a:buChar char="•"/>
              <a:tabLst>
                <a:tab pos="354965" algn="l"/>
                <a:tab pos="355600" algn="l"/>
              </a:tabLst>
            </a:pPr>
            <a:r>
              <a:rPr sz="3200" dirty="0">
                <a:latin typeface="Calibri"/>
                <a:cs typeface="Calibri"/>
              </a:rPr>
              <a:t>It</a:t>
            </a:r>
            <a:r>
              <a:rPr sz="3200" spc="-25" dirty="0">
                <a:latin typeface="Calibri"/>
                <a:cs typeface="Calibri"/>
              </a:rPr>
              <a:t> </a:t>
            </a:r>
            <a:r>
              <a:rPr sz="3200" dirty="0">
                <a:latin typeface="Calibri"/>
                <a:cs typeface="Calibri"/>
              </a:rPr>
              <a:t>is</a:t>
            </a:r>
            <a:r>
              <a:rPr sz="3200" spc="-5" dirty="0">
                <a:latin typeface="Calibri"/>
                <a:cs typeface="Calibri"/>
              </a:rPr>
              <a:t> considered</a:t>
            </a:r>
            <a:r>
              <a:rPr sz="3200" spc="-50" dirty="0">
                <a:latin typeface="Calibri"/>
                <a:cs typeface="Calibri"/>
              </a:rPr>
              <a:t> </a:t>
            </a:r>
            <a:r>
              <a:rPr sz="3200" dirty="0">
                <a:latin typeface="Calibri"/>
                <a:cs typeface="Calibri"/>
              </a:rPr>
              <a:t>as</a:t>
            </a:r>
            <a:r>
              <a:rPr sz="3200" spc="-15" dirty="0">
                <a:latin typeface="Calibri"/>
                <a:cs typeface="Calibri"/>
              </a:rPr>
              <a:t> </a:t>
            </a:r>
            <a:r>
              <a:rPr sz="3200" dirty="0">
                <a:latin typeface="Calibri"/>
                <a:cs typeface="Calibri"/>
              </a:rPr>
              <a:t>a</a:t>
            </a:r>
            <a:r>
              <a:rPr sz="3200" spc="-5" dirty="0">
                <a:latin typeface="Calibri"/>
                <a:cs typeface="Calibri"/>
              </a:rPr>
              <a:t> </a:t>
            </a:r>
            <a:r>
              <a:rPr sz="3200" spc="-15" dirty="0">
                <a:latin typeface="Calibri"/>
                <a:cs typeface="Calibri"/>
              </a:rPr>
              <a:t>separate</a:t>
            </a:r>
            <a:r>
              <a:rPr sz="3200" spc="-60" dirty="0">
                <a:latin typeface="Calibri"/>
                <a:cs typeface="Calibri"/>
              </a:rPr>
              <a:t> </a:t>
            </a:r>
            <a:r>
              <a:rPr sz="3200" spc="-10" dirty="0">
                <a:latin typeface="Calibri"/>
                <a:cs typeface="Calibri"/>
              </a:rPr>
              <a:t>legal</a:t>
            </a:r>
            <a:r>
              <a:rPr sz="3200" spc="-15" dirty="0">
                <a:latin typeface="Calibri"/>
                <a:cs typeface="Calibri"/>
              </a:rPr>
              <a:t> </a:t>
            </a:r>
            <a:r>
              <a:rPr sz="3200" spc="-5" dirty="0" smtClean="0">
                <a:latin typeface="Calibri"/>
                <a:cs typeface="Calibri"/>
              </a:rPr>
              <a:t>entity</a:t>
            </a:r>
            <a:r>
              <a:rPr lang="en-IN" sz="3200" spc="-5" dirty="0" smtClean="0">
                <a:latin typeface="Calibri"/>
                <a:cs typeface="Calibri"/>
              </a:rPr>
              <a:t>.</a:t>
            </a:r>
            <a:endParaRPr sz="3200" dirty="0">
              <a:latin typeface="Calibri"/>
              <a:cs typeface="Calibri"/>
            </a:endParaRPr>
          </a:p>
          <a:p>
            <a:pPr marL="355600" marR="5080" indent="-342900">
              <a:lnSpc>
                <a:spcPct val="100000"/>
              </a:lnSpc>
              <a:spcBef>
                <a:spcPts val="765"/>
              </a:spcBef>
              <a:buFont typeface="Arial MT"/>
              <a:buChar char="•"/>
              <a:tabLst>
                <a:tab pos="354965" algn="l"/>
                <a:tab pos="355600" algn="l"/>
              </a:tabLst>
            </a:pPr>
            <a:r>
              <a:rPr sz="3200" dirty="0">
                <a:latin typeface="Calibri"/>
                <a:cs typeface="Calibri"/>
              </a:rPr>
              <a:t>It</a:t>
            </a:r>
            <a:r>
              <a:rPr sz="3200" spc="-20" dirty="0">
                <a:latin typeface="Calibri"/>
                <a:cs typeface="Calibri"/>
              </a:rPr>
              <a:t> </a:t>
            </a:r>
            <a:r>
              <a:rPr sz="3200" spc="-5" dirty="0">
                <a:latin typeface="Calibri"/>
                <a:cs typeface="Calibri"/>
              </a:rPr>
              <a:t>comes</a:t>
            </a:r>
            <a:r>
              <a:rPr sz="3200" spc="-25" dirty="0">
                <a:latin typeface="Calibri"/>
                <a:cs typeface="Calibri"/>
              </a:rPr>
              <a:t> </a:t>
            </a:r>
            <a:r>
              <a:rPr sz="3200" spc="-15" dirty="0">
                <a:latin typeface="Calibri"/>
                <a:cs typeface="Calibri"/>
              </a:rPr>
              <a:t>into</a:t>
            </a:r>
            <a:r>
              <a:rPr sz="3200" spc="-10" dirty="0">
                <a:latin typeface="Calibri"/>
                <a:cs typeface="Calibri"/>
              </a:rPr>
              <a:t> </a:t>
            </a:r>
            <a:r>
              <a:rPr sz="3200" spc="-5" dirty="0">
                <a:latin typeface="Calibri"/>
                <a:cs typeface="Calibri"/>
              </a:rPr>
              <a:t>formation</a:t>
            </a:r>
            <a:r>
              <a:rPr sz="3200" spc="-45" dirty="0">
                <a:latin typeface="Calibri"/>
                <a:cs typeface="Calibri"/>
              </a:rPr>
              <a:t> </a:t>
            </a:r>
            <a:r>
              <a:rPr sz="3200" spc="-15" dirty="0">
                <a:latin typeface="Calibri"/>
                <a:cs typeface="Calibri"/>
              </a:rPr>
              <a:t>after</a:t>
            </a:r>
            <a:r>
              <a:rPr sz="3200" spc="-10" dirty="0">
                <a:latin typeface="Calibri"/>
                <a:cs typeface="Calibri"/>
              </a:rPr>
              <a:t> </a:t>
            </a:r>
            <a:r>
              <a:rPr sz="3200" dirty="0">
                <a:latin typeface="Calibri"/>
                <a:cs typeface="Calibri"/>
              </a:rPr>
              <a:t>all</a:t>
            </a:r>
            <a:r>
              <a:rPr sz="3200" spc="-25" dirty="0">
                <a:latin typeface="Calibri"/>
                <a:cs typeface="Calibri"/>
              </a:rPr>
              <a:t> </a:t>
            </a:r>
            <a:r>
              <a:rPr sz="3200" spc="-5" dirty="0">
                <a:latin typeface="Calibri"/>
                <a:cs typeface="Calibri"/>
              </a:rPr>
              <a:t>formalities</a:t>
            </a:r>
            <a:r>
              <a:rPr sz="3200" spc="-30" dirty="0">
                <a:latin typeface="Calibri"/>
                <a:cs typeface="Calibri"/>
              </a:rPr>
              <a:t> </a:t>
            </a:r>
            <a:r>
              <a:rPr sz="3200" spc="-5" dirty="0">
                <a:latin typeface="Calibri"/>
                <a:cs typeface="Calibri"/>
              </a:rPr>
              <a:t>under </a:t>
            </a:r>
            <a:r>
              <a:rPr sz="3200" spc="-710" dirty="0">
                <a:latin typeface="Calibri"/>
                <a:cs typeface="Calibri"/>
              </a:rPr>
              <a:t> </a:t>
            </a:r>
            <a:r>
              <a:rPr sz="3200" dirty="0">
                <a:latin typeface="Calibri"/>
                <a:cs typeface="Calibri"/>
              </a:rPr>
              <a:t>the</a:t>
            </a:r>
            <a:r>
              <a:rPr sz="3200" spc="-25" dirty="0">
                <a:latin typeface="Calibri"/>
                <a:cs typeface="Calibri"/>
              </a:rPr>
              <a:t> </a:t>
            </a:r>
            <a:r>
              <a:rPr sz="3200" spc="-5" dirty="0">
                <a:latin typeface="Calibri"/>
                <a:cs typeface="Calibri"/>
              </a:rPr>
              <a:t>Indian</a:t>
            </a:r>
            <a:r>
              <a:rPr sz="3200" spc="-30" dirty="0">
                <a:latin typeface="Calibri"/>
                <a:cs typeface="Calibri"/>
              </a:rPr>
              <a:t> </a:t>
            </a:r>
            <a:r>
              <a:rPr sz="3200" spc="-5" dirty="0">
                <a:latin typeface="Calibri"/>
                <a:cs typeface="Calibri"/>
              </a:rPr>
              <a:t>Companies</a:t>
            </a:r>
            <a:r>
              <a:rPr sz="3200" spc="-25" dirty="0">
                <a:latin typeface="Calibri"/>
                <a:cs typeface="Calibri"/>
              </a:rPr>
              <a:t> </a:t>
            </a:r>
            <a:r>
              <a:rPr sz="3200" dirty="0">
                <a:latin typeface="Calibri"/>
                <a:cs typeface="Calibri"/>
              </a:rPr>
              <a:t>Act</a:t>
            </a:r>
            <a:r>
              <a:rPr sz="3200" spc="-10" dirty="0">
                <a:latin typeface="Calibri"/>
                <a:cs typeface="Calibri"/>
              </a:rPr>
              <a:t> </a:t>
            </a:r>
            <a:r>
              <a:rPr sz="3200" spc="-5" dirty="0">
                <a:latin typeface="Calibri"/>
                <a:cs typeface="Calibri"/>
              </a:rPr>
              <a:t>1956</a:t>
            </a:r>
            <a:r>
              <a:rPr sz="3200" spc="10" dirty="0">
                <a:latin typeface="Calibri"/>
                <a:cs typeface="Calibri"/>
              </a:rPr>
              <a:t> </a:t>
            </a:r>
            <a:r>
              <a:rPr sz="3200" spc="-10" dirty="0">
                <a:latin typeface="Calibri"/>
                <a:cs typeface="Calibri"/>
              </a:rPr>
              <a:t>are</a:t>
            </a:r>
            <a:r>
              <a:rPr sz="3200" spc="-5" dirty="0">
                <a:latin typeface="Calibri"/>
                <a:cs typeface="Calibri"/>
              </a:rPr>
              <a:t> </a:t>
            </a:r>
            <a:r>
              <a:rPr sz="3200" spc="-10" dirty="0" smtClean="0">
                <a:latin typeface="Calibri"/>
                <a:cs typeface="Calibri"/>
              </a:rPr>
              <a:t>completed</a:t>
            </a:r>
            <a:r>
              <a:rPr lang="en-IN" sz="3200" spc="-10" dirty="0" smtClean="0">
                <a:latin typeface="Calibri"/>
                <a:cs typeface="Calibri"/>
              </a:rPr>
              <a:t>.</a:t>
            </a:r>
            <a:endParaRPr sz="3200" dirty="0">
              <a:latin typeface="Calibri"/>
              <a:cs typeface="Calibri"/>
            </a:endParaRPr>
          </a:p>
          <a:p>
            <a:pPr marL="355600" marR="1205865" indent="-342900">
              <a:lnSpc>
                <a:spcPct val="100000"/>
              </a:lnSpc>
              <a:spcBef>
                <a:spcPts val="770"/>
              </a:spcBef>
              <a:buFont typeface="Arial MT"/>
              <a:buChar char="•"/>
              <a:tabLst>
                <a:tab pos="354965" algn="l"/>
                <a:tab pos="355600" algn="l"/>
              </a:tabLst>
            </a:pPr>
            <a:r>
              <a:rPr sz="3200" spc="-10" dirty="0">
                <a:latin typeface="Calibri"/>
                <a:cs typeface="Calibri"/>
              </a:rPr>
              <a:t>Management</a:t>
            </a:r>
            <a:r>
              <a:rPr sz="3200" spc="-50" dirty="0">
                <a:latin typeface="Calibri"/>
                <a:cs typeface="Calibri"/>
              </a:rPr>
              <a:t> </a:t>
            </a:r>
            <a:r>
              <a:rPr sz="3200" dirty="0">
                <a:latin typeface="Calibri"/>
                <a:cs typeface="Calibri"/>
              </a:rPr>
              <a:t>and</a:t>
            </a:r>
            <a:r>
              <a:rPr sz="3200" spc="-35" dirty="0">
                <a:latin typeface="Calibri"/>
                <a:cs typeface="Calibri"/>
              </a:rPr>
              <a:t> </a:t>
            </a:r>
            <a:r>
              <a:rPr sz="3200" spc="-5" dirty="0">
                <a:latin typeface="Calibri"/>
                <a:cs typeface="Calibri"/>
              </a:rPr>
              <a:t>ownership</a:t>
            </a:r>
            <a:r>
              <a:rPr sz="3200" spc="-40" dirty="0">
                <a:latin typeface="Calibri"/>
                <a:cs typeface="Calibri"/>
              </a:rPr>
              <a:t> </a:t>
            </a:r>
            <a:r>
              <a:rPr sz="3200" dirty="0">
                <a:latin typeface="Calibri"/>
                <a:cs typeface="Calibri"/>
              </a:rPr>
              <a:t>is</a:t>
            </a:r>
            <a:r>
              <a:rPr sz="3200" spc="-10" dirty="0">
                <a:latin typeface="Calibri"/>
                <a:cs typeface="Calibri"/>
              </a:rPr>
              <a:t> completely </a:t>
            </a:r>
            <a:r>
              <a:rPr sz="3200" spc="-705" dirty="0">
                <a:latin typeface="Calibri"/>
                <a:cs typeface="Calibri"/>
              </a:rPr>
              <a:t> </a:t>
            </a:r>
            <a:r>
              <a:rPr sz="3200" spc="-20" dirty="0" smtClean="0">
                <a:latin typeface="Calibri"/>
                <a:cs typeface="Calibri"/>
              </a:rPr>
              <a:t>separate</a:t>
            </a:r>
            <a:r>
              <a:rPr lang="en-IN" sz="3200" spc="-20" dirty="0" smtClean="0">
                <a:latin typeface="Calibri"/>
                <a:cs typeface="Calibri"/>
              </a:rPr>
              <a:t>.</a:t>
            </a:r>
            <a:endParaRPr sz="3200" dirty="0">
              <a:latin typeface="Calibri"/>
              <a:cs typeface="Calibri"/>
            </a:endParaRPr>
          </a:p>
          <a:p>
            <a:pPr marL="355600" marR="1392555" indent="-342900">
              <a:lnSpc>
                <a:spcPct val="100000"/>
              </a:lnSpc>
              <a:spcBef>
                <a:spcPts val="770"/>
              </a:spcBef>
              <a:buFont typeface="Arial MT"/>
              <a:buChar char="•"/>
              <a:tabLst>
                <a:tab pos="354965" algn="l"/>
                <a:tab pos="355600" algn="l"/>
              </a:tabLst>
            </a:pPr>
            <a:r>
              <a:rPr sz="3200" spc="-10" dirty="0">
                <a:latin typeface="Calibri"/>
                <a:cs typeface="Calibri"/>
              </a:rPr>
              <a:t>Capital</a:t>
            </a:r>
            <a:r>
              <a:rPr sz="3200" spc="-25" dirty="0">
                <a:latin typeface="Calibri"/>
                <a:cs typeface="Calibri"/>
              </a:rPr>
              <a:t> </a:t>
            </a:r>
            <a:r>
              <a:rPr sz="3200" dirty="0">
                <a:latin typeface="Calibri"/>
                <a:cs typeface="Calibri"/>
              </a:rPr>
              <a:t>is</a:t>
            </a:r>
            <a:r>
              <a:rPr sz="3200" spc="-5" dirty="0">
                <a:latin typeface="Calibri"/>
                <a:cs typeface="Calibri"/>
              </a:rPr>
              <a:t> </a:t>
            </a:r>
            <a:r>
              <a:rPr sz="3200" spc="-15" dirty="0">
                <a:latin typeface="Calibri"/>
                <a:cs typeface="Calibri"/>
              </a:rPr>
              <a:t>raised</a:t>
            </a:r>
            <a:r>
              <a:rPr sz="3200" spc="-45" dirty="0">
                <a:latin typeface="Calibri"/>
                <a:cs typeface="Calibri"/>
              </a:rPr>
              <a:t> </a:t>
            </a:r>
            <a:r>
              <a:rPr sz="3200" spc="-5" dirty="0">
                <a:latin typeface="Calibri"/>
                <a:cs typeface="Calibri"/>
              </a:rPr>
              <a:t>through</a:t>
            </a:r>
            <a:r>
              <a:rPr sz="3200" spc="-35" dirty="0">
                <a:latin typeface="Calibri"/>
                <a:cs typeface="Calibri"/>
              </a:rPr>
              <a:t> </a:t>
            </a:r>
            <a:r>
              <a:rPr sz="3200" spc="-5" dirty="0">
                <a:latin typeface="Calibri"/>
                <a:cs typeface="Calibri"/>
              </a:rPr>
              <a:t>shares</a:t>
            </a:r>
            <a:r>
              <a:rPr sz="3200" spc="-35" dirty="0">
                <a:latin typeface="Calibri"/>
                <a:cs typeface="Calibri"/>
              </a:rPr>
              <a:t> </a:t>
            </a:r>
            <a:r>
              <a:rPr sz="3200" spc="-5" dirty="0">
                <a:latin typeface="Calibri"/>
                <a:cs typeface="Calibri"/>
              </a:rPr>
              <a:t>which</a:t>
            </a:r>
            <a:r>
              <a:rPr sz="3200" spc="-25" dirty="0">
                <a:latin typeface="Calibri"/>
                <a:cs typeface="Calibri"/>
              </a:rPr>
              <a:t> </a:t>
            </a:r>
            <a:r>
              <a:rPr sz="3200" spc="-10" dirty="0">
                <a:latin typeface="Calibri"/>
                <a:cs typeface="Calibri"/>
              </a:rPr>
              <a:t>are </a:t>
            </a:r>
            <a:r>
              <a:rPr sz="3200" spc="-705" dirty="0">
                <a:latin typeface="Calibri"/>
                <a:cs typeface="Calibri"/>
              </a:rPr>
              <a:t> </a:t>
            </a:r>
            <a:r>
              <a:rPr sz="3200" spc="-20" dirty="0" smtClean="0">
                <a:latin typeface="Calibri"/>
                <a:cs typeface="Calibri"/>
              </a:rPr>
              <a:t>transferable</a:t>
            </a:r>
            <a:r>
              <a:rPr lang="en-IN" sz="3200" spc="-20" dirty="0" smtClean="0">
                <a:latin typeface="Calibri"/>
                <a:cs typeface="Calibri"/>
              </a:rPr>
              <a:t>.</a:t>
            </a:r>
            <a:endParaRPr sz="3200" dirty="0">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7405" y="186944"/>
            <a:ext cx="8085455" cy="566822"/>
          </a:xfrm>
          <a:prstGeom prst="rect">
            <a:avLst/>
          </a:prstGeom>
        </p:spPr>
        <p:txBody>
          <a:bodyPr vert="horz" wrap="square" lIns="0" tIns="12700" rIns="0" bIns="0" rtlCol="0">
            <a:spAutoFit/>
          </a:bodyPr>
          <a:lstStyle/>
          <a:p>
            <a:pPr marL="12700">
              <a:lnSpc>
                <a:spcPct val="100000"/>
              </a:lnSpc>
              <a:spcBef>
                <a:spcPts val="100"/>
              </a:spcBef>
              <a:tabLst>
                <a:tab pos="3403600" algn="l"/>
              </a:tabLst>
            </a:pPr>
            <a:r>
              <a:rPr sz="3600" spc="-75" dirty="0"/>
              <a:t>ADVANTAGES	</a:t>
            </a:r>
            <a:r>
              <a:rPr sz="3600" spc="-5" dirty="0"/>
              <a:t>OF</a:t>
            </a:r>
            <a:r>
              <a:rPr sz="3600" spc="-25" dirty="0"/>
              <a:t> </a:t>
            </a:r>
            <a:r>
              <a:rPr sz="3600" dirty="0"/>
              <a:t>A</a:t>
            </a:r>
            <a:r>
              <a:rPr sz="3600" spc="-30" dirty="0"/>
              <a:t> </a:t>
            </a:r>
            <a:r>
              <a:rPr sz="3600" spc="-40" dirty="0"/>
              <a:t>CORPORATION</a:t>
            </a:r>
          </a:p>
        </p:txBody>
      </p:sp>
      <p:sp>
        <p:nvSpPr>
          <p:cNvPr id="3" name="object 3"/>
          <p:cNvSpPr txBox="1"/>
          <p:nvPr/>
        </p:nvSpPr>
        <p:spPr>
          <a:xfrm>
            <a:off x="535940" y="1074165"/>
            <a:ext cx="5299075" cy="2757805"/>
          </a:xfrm>
          <a:prstGeom prst="rect">
            <a:avLst/>
          </a:prstGeom>
        </p:spPr>
        <p:txBody>
          <a:bodyPr vert="horz" wrap="square" lIns="0" tIns="13335" rIns="0" bIns="0" rtlCol="0">
            <a:spAutoFit/>
          </a:bodyPr>
          <a:lstStyle/>
          <a:p>
            <a:pPr marL="355600" marR="961390" indent="-342900">
              <a:lnSpc>
                <a:spcPct val="100000"/>
              </a:lnSpc>
              <a:spcBef>
                <a:spcPts val="105"/>
              </a:spcBef>
              <a:buFont typeface="Arial MT"/>
              <a:buChar char="•"/>
              <a:tabLst>
                <a:tab pos="354965" algn="l"/>
                <a:tab pos="355600" algn="l"/>
              </a:tabLst>
            </a:pPr>
            <a:r>
              <a:rPr sz="3200" b="1" spc="-5" dirty="0">
                <a:latin typeface="Calibri"/>
                <a:cs typeface="Calibri"/>
              </a:rPr>
              <a:t>Limited </a:t>
            </a:r>
            <a:r>
              <a:rPr sz="3200" b="1" dirty="0">
                <a:latin typeface="Calibri"/>
                <a:cs typeface="Calibri"/>
              </a:rPr>
              <a:t>liability of the </a:t>
            </a:r>
            <a:r>
              <a:rPr sz="3200" b="1" spc="5" dirty="0">
                <a:latin typeface="Calibri"/>
                <a:cs typeface="Calibri"/>
              </a:rPr>
              <a:t> </a:t>
            </a:r>
            <a:r>
              <a:rPr sz="3200" b="1" dirty="0">
                <a:latin typeface="Calibri"/>
                <a:cs typeface="Calibri"/>
              </a:rPr>
              <a:t>sha</a:t>
            </a:r>
            <a:r>
              <a:rPr sz="3200" b="1" spc="-35" dirty="0">
                <a:latin typeface="Calibri"/>
                <a:cs typeface="Calibri"/>
              </a:rPr>
              <a:t>r</a:t>
            </a:r>
            <a:r>
              <a:rPr sz="3200" b="1" spc="-5" dirty="0">
                <a:latin typeface="Calibri"/>
                <a:cs typeface="Calibri"/>
              </a:rPr>
              <a:t>eholde</a:t>
            </a:r>
            <a:r>
              <a:rPr sz="3200" b="1" spc="-45" dirty="0">
                <a:latin typeface="Calibri"/>
                <a:cs typeface="Calibri"/>
              </a:rPr>
              <a:t>r</a:t>
            </a:r>
            <a:r>
              <a:rPr sz="3200" b="1" dirty="0">
                <a:latin typeface="Calibri"/>
                <a:cs typeface="Calibri"/>
              </a:rPr>
              <a:t>s/p</a:t>
            </a:r>
            <a:r>
              <a:rPr sz="3200" b="1" spc="-55" dirty="0">
                <a:latin typeface="Calibri"/>
                <a:cs typeface="Calibri"/>
              </a:rPr>
              <a:t>r</a:t>
            </a:r>
            <a:r>
              <a:rPr sz="3200" b="1" dirty="0">
                <a:latin typeface="Calibri"/>
                <a:cs typeface="Calibri"/>
              </a:rPr>
              <a:t>omo</a:t>
            </a:r>
            <a:r>
              <a:rPr sz="3200" b="1" spc="-35" dirty="0">
                <a:latin typeface="Calibri"/>
                <a:cs typeface="Calibri"/>
              </a:rPr>
              <a:t>t</a:t>
            </a:r>
            <a:r>
              <a:rPr sz="3200" b="1" spc="-5" dirty="0">
                <a:latin typeface="Calibri"/>
                <a:cs typeface="Calibri"/>
              </a:rPr>
              <a:t>er</a:t>
            </a:r>
            <a:endParaRPr sz="3200">
              <a:latin typeface="Calibri"/>
              <a:cs typeface="Calibri"/>
            </a:endParaRPr>
          </a:p>
          <a:p>
            <a:pPr marL="355600" indent="-342900">
              <a:lnSpc>
                <a:spcPct val="100000"/>
              </a:lnSpc>
              <a:spcBef>
                <a:spcPts val="770"/>
              </a:spcBef>
              <a:buFont typeface="Arial MT"/>
              <a:buChar char="•"/>
              <a:tabLst>
                <a:tab pos="354965" algn="l"/>
                <a:tab pos="355600" algn="l"/>
              </a:tabLst>
            </a:pPr>
            <a:r>
              <a:rPr sz="3200" b="1" dirty="0">
                <a:latin typeface="Calibri"/>
                <a:cs typeface="Calibri"/>
              </a:rPr>
              <a:t>Can</a:t>
            </a:r>
            <a:r>
              <a:rPr sz="3200" b="1" spc="-40" dirty="0">
                <a:latin typeface="Calibri"/>
                <a:cs typeface="Calibri"/>
              </a:rPr>
              <a:t> </a:t>
            </a:r>
            <a:r>
              <a:rPr sz="3200" b="1" spc="-5" dirty="0">
                <a:latin typeface="Calibri"/>
                <a:cs typeface="Calibri"/>
              </a:rPr>
              <a:t>easily</a:t>
            </a:r>
            <a:r>
              <a:rPr sz="3200" b="1" spc="-35" dirty="0">
                <a:latin typeface="Calibri"/>
                <a:cs typeface="Calibri"/>
              </a:rPr>
              <a:t> </a:t>
            </a:r>
            <a:r>
              <a:rPr sz="3200" b="1" spc="-15" dirty="0">
                <a:latin typeface="Calibri"/>
                <a:cs typeface="Calibri"/>
              </a:rPr>
              <a:t>raise</a:t>
            </a:r>
            <a:r>
              <a:rPr sz="3200" b="1" spc="-35" dirty="0">
                <a:latin typeface="Calibri"/>
                <a:cs typeface="Calibri"/>
              </a:rPr>
              <a:t> </a:t>
            </a:r>
            <a:r>
              <a:rPr sz="3200" b="1" spc="-10" dirty="0">
                <a:latin typeface="Calibri"/>
                <a:cs typeface="Calibri"/>
              </a:rPr>
              <a:t>capital</a:t>
            </a:r>
            <a:endParaRPr sz="3200">
              <a:latin typeface="Calibri"/>
              <a:cs typeface="Calibri"/>
            </a:endParaRPr>
          </a:p>
          <a:p>
            <a:pPr marL="355600" indent="-342900">
              <a:lnSpc>
                <a:spcPct val="100000"/>
              </a:lnSpc>
              <a:spcBef>
                <a:spcPts val="765"/>
              </a:spcBef>
              <a:buFont typeface="Arial MT"/>
              <a:buChar char="•"/>
              <a:tabLst>
                <a:tab pos="354965" algn="l"/>
                <a:tab pos="355600" algn="l"/>
              </a:tabLst>
            </a:pPr>
            <a:r>
              <a:rPr sz="3200" b="1" spc="-20" dirty="0">
                <a:latin typeface="Calibri"/>
                <a:cs typeface="Calibri"/>
              </a:rPr>
              <a:t>Have</a:t>
            </a:r>
            <a:r>
              <a:rPr sz="3200" b="1" spc="-30" dirty="0">
                <a:latin typeface="Calibri"/>
                <a:cs typeface="Calibri"/>
              </a:rPr>
              <a:t> </a:t>
            </a:r>
            <a:r>
              <a:rPr sz="3200" b="1" spc="-5" dirty="0">
                <a:latin typeface="Calibri"/>
                <a:cs typeface="Calibri"/>
              </a:rPr>
              <a:t>unlimited</a:t>
            </a:r>
            <a:r>
              <a:rPr sz="3200" b="1" spc="-60" dirty="0">
                <a:latin typeface="Calibri"/>
                <a:cs typeface="Calibri"/>
              </a:rPr>
              <a:t> </a:t>
            </a:r>
            <a:r>
              <a:rPr sz="3200" b="1" spc="-15" dirty="0">
                <a:latin typeface="Calibri"/>
                <a:cs typeface="Calibri"/>
              </a:rPr>
              <a:t>life</a:t>
            </a:r>
            <a:endParaRPr sz="3200">
              <a:latin typeface="Calibri"/>
              <a:cs typeface="Calibri"/>
            </a:endParaRPr>
          </a:p>
          <a:p>
            <a:pPr marL="355600" indent="-342900">
              <a:lnSpc>
                <a:spcPct val="100000"/>
              </a:lnSpc>
              <a:spcBef>
                <a:spcPts val="770"/>
              </a:spcBef>
              <a:buFont typeface="Arial MT"/>
              <a:buChar char="•"/>
              <a:tabLst>
                <a:tab pos="354965" algn="l"/>
                <a:tab pos="355600" algn="l"/>
              </a:tabLst>
            </a:pPr>
            <a:r>
              <a:rPr sz="3200" b="1" spc="-10" dirty="0">
                <a:latin typeface="Calibri"/>
                <a:cs typeface="Calibri"/>
              </a:rPr>
              <a:t>Ease</a:t>
            </a:r>
            <a:r>
              <a:rPr sz="3200" b="1" spc="-40" dirty="0">
                <a:latin typeface="Calibri"/>
                <a:cs typeface="Calibri"/>
              </a:rPr>
              <a:t> </a:t>
            </a:r>
            <a:r>
              <a:rPr sz="3200" b="1" dirty="0">
                <a:latin typeface="Calibri"/>
                <a:cs typeface="Calibri"/>
              </a:rPr>
              <a:t>of</a:t>
            </a:r>
            <a:r>
              <a:rPr sz="3200" b="1" spc="-15" dirty="0">
                <a:latin typeface="Calibri"/>
                <a:cs typeface="Calibri"/>
              </a:rPr>
              <a:t> </a:t>
            </a:r>
            <a:r>
              <a:rPr sz="3200" b="1" spc="-20" dirty="0">
                <a:latin typeface="Calibri"/>
                <a:cs typeface="Calibri"/>
              </a:rPr>
              <a:t>transfer</a:t>
            </a:r>
            <a:r>
              <a:rPr sz="3200" b="1" spc="-50" dirty="0">
                <a:latin typeface="Calibri"/>
                <a:cs typeface="Calibri"/>
              </a:rPr>
              <a:t> </a:t>
            </a:r>
            <a:r>
              <a:rPr sz="3200" b="1" dirty="0">
                <a:latin typeface="Calibri"/>
                <a:cs typeface="Calibri"/>
              </a:rPr>
              <a:t>of</a:t>
            </a:r>
            <a:r>
              <a:rPr sz="3200" b="1" spc="-15" dirty="0">
                <a:latin typeface="Calibri"/>
                <a:cs typeface="Calibri"/>
              </a:rPr>
              <a:t> </a:t>
            </a:r>
            <a:r>
              <a:rPr sz="3200" b="1" spc="-5" dirty="0">
                <a:latin typeface="Calibri"/>
                <a:cs typeface="Calibri"/>
              </a:rPr>
              <a:t>ownership</a:t>
            </a:r>
            <a:endParaRPr sz="3200">
              <a:latin typeface="Calibri"/>
              <a:cs typeface="Calibri"/>
            </a:endParaRPr>
          </a:p>
        </p:txBody>
      </p:sp>
      <p:pic>
        <p:nvPicPr>
          <p:cNvPr id="4" name="object 4"/>
          <p:cNvPicPr/>
          <p:nvPr/>
        </p:nvPicPr>
        <p:blipFill>
          <a:blip r:embed="rId2" cstate="print"/>
          <a:stretch>
            <a:fillRect/>
          </a:stretch>
        </p:blipFill>
        <p:spPr>
          <a:xfrm>
            <a:off x="0" y="4114800"/>
            <a:ext cx="9144000" cy="237172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937" y="34544"/>
            <a:ext cx="8716645" cy="505267"/>
          </a:xfrm>
          <a:prstGeom prst="rect">
            <a:avLst/>
          </a:prstGeom>
        </p:spPr>
        <p:txBody>
          <a:bodyPr vert="horz" wrap="square" lIns="0" tIns="12700" rIns="0" bIns="0" rtlCol="0">
            <a:spAutoFit/>
          </a:bodyPr>
          <a:lstStyle/>
          <a:p>
            <a:pPr marL="12700">
              <a:lnSpc>
                <a:spcPct val="100000"/>
              </a:lnSpc>
              <a:spcBef>
                <a:spcPts val="100"/>
              </a:spcBef>
            </a:pPr>
            <a:r>
              <a:rPr sz="3200" spc="-65" dirty="0"/>
              <a:t>DISADVANTAGES</a:t>
            </a:r>
            <a:r>
              <a:rPr sz="3200" spc="-55" dirty="0"/>
              <a:t> </a:t>
            </a:r>
            <a:r>
              <a:rPr sz="3200" spc="-5" dirty="0"/>
              <a:t>OF</a:t>
            </a:r>
            <a:r>
              <a:rPr sz="3200" spc="-15" dirty="0"/>
              <a:t> </a:t>
            </a:r>
            <a:r>
              <a:rPr sz="3200" dirty="0"/>
              <a:t>A</a:t>
            </a:r>
            <a:r>
              <a:rPr sz="3200" spc="-5" dirty="0"/>
              <a:t> </a:t>
            </a:r>
            <a:r>
              <a:rPr sz="3200" spc="-40" dirty="0"/>
              <a:t>CORPORATION</a:t>
            </a:r>
          </a:p>
        </p:txBody>
      </p:sp>
      <p:sp>
        <p:nvSpPr>
          <p:cNvPr id="3" name="object 3"/>
          <p:cNvSpPr txBox="1"/>
          <p:nvPr/>
        </p:nvSpPr>
        <p:spPr>
          <a:xfrm>
            <a:off x="78739" y="901039"/>
            <a:ext cx="6814820" cy="4025265"/>
          </a:xfrm>
          <a:prstGeom prst="rect">
            <a:avLst/>
          </a:prstGeom>
        </p:spPr>
        <p:txBody>
          <a:bodyPr vert="horz" wrap="square" lIns="0" tIns="109855" rIns="0" bIns="0" rtlCol="0">
            <a:spAutoFit/>
          </a:bodyPr>
          <a:lstStyle/>
          <a:p>
            <a:pPr marL="355600" indent="-342900">
              <a:lnSpc>
                <a:spcPct val="100000"/>
              </a:lnSpc>
              <a:spcBef>
                <a:spcPts val="865"/>
              </a:spcBef>
              <a:buFont typeface="Arial MT"/>
              <a:buChar char="•"/>
              <a:tabLst>
                <a:tab pos="354965" algn="l"/>
                <a:tab pos="355600" algn="l"/>
              </a:tabLst>
            </a:pPr>
            <a:r>
              <a:rPr sz="3200" b="1" spc="-5" dirty="0">
                <a:latin typeface="Calibri"/>
                <a:cs typeface="Calibri"/>
              </a:rPr>
              <a:t>Formation</a:t>
            </a:r>
            <a:r>
              <a:rPr sz="3200" b="1" spc="-30" dirty="0">
                <a:latin typeface="Calibri"/>
                <a:cs typeface="Calibri"/>
              </a:rPr>
              <a:t> </a:t>
            </a:r>
            <a:r>
              <a:rPr sz="3200" b="1" dirty="0">
                <a:latin typeface="Calibri"/>
                <a:cs typeface="Calibri"/>
              </a:rPr>
              <a:t>is</a:t>
            </a:r>
            <a:r>
              <a:rPr sz="3200" b="1" spc="-60" dirty="0">
                <a:latin typeface="Calibri"/>
                <a:cs typeface="Calibri"/>
              </a:rPr>
              <a:t> </a:t>
            </a:r>
            <a:r>
              <a:rPr sz="3200" b="1" dirty="0">
                <a:latin typeface="Calibri"/>
                <a:cs typeface="Calibri"/>
              </a:rPr>
              <a:t>not</a:t>
            </a:r>
            <a:r>
              <a:rPr sz="3200" b="1" spc="-15" dirty="0">
                <a:latin typeface="Calibri"/>
                <a:cs typeface="Calibri"/>
              </a:rPr>
              <a:t> easy</a:t>
            </a:r>
            <a:endParaRPr sz="3200">
              <a:latin typeface="Calibri"/>
              <a:cs typeface="Calibri"/>
            </a:endParaRPr>
          </a:p>
          <a:p>
            <a:pPr marL="355600" indent="-342900">
              <a:lnSpc>
                <a:spcPct val="100000"/>
              </a:lnSpc>
              <a:spcBef>
                <a:spcPts val="770"/>
              </a:spcBef>
              <a:buFont typeface="Arial MT"/>
              <a:buChar char="•"/>
              <a:tabLst>
                <a:tab pos="354965" algn="l"/>
                <a:tab pos="355600" algn="l"/>
              </a:tabLst>
            </a:pPr>
            <a:r>
              <a:rPr sz="3200" b="1" spc="-10" dirty="0">
                <a:latin typeface="Calibri"/>
                <a:cs typeface="Calibri"/>
              </a:rPr>
              <a:t>Excessive</a:t>
            </a:r>
            <a:r>
              <a:rPr sz="3200" b="1" spc="-70" dirty="0">
                <a:latin typeface="Calibri"/>
                <a:cs typeface="Calibri"/>
              </a:rPr>
              <a:t> </a:t>
            </a:r>
            <a:r>
              <a:rPr sz="3200" b="1" spc="-10" dirty="0">
                <a:latin typeface="Calibri"/>
                <a:cs typeface="Calibri"/>
              </a:rPr>
              <a:t>Government</a:t>
            </a:r>
            <a:r>
              <a:rPr sz="3200" b="1" spc="-35" dirty="0">
                <a:latin typeface="Calibri"/>
                <a:cs typeface="Calibri"/>
              </a:rPr>
              <a:t> </a:t>
            </a:r>
            <a:r>
              <a:rPr sz="3200" b="1" spc="-10" dirty="0">
                <a:latin typeface="Calibri"/>
                <a:cs typeface="Calibri"/>
              </a:rPr>
              <a:t>Regulation</a:t>
            </a:r>
            <a:endParaRPr sz="3200">
              <a:latin typeface="Calibri"/>
              <a:cs typeface="Calibri"/>
            </a:endParaRPr>
          </a:p>
          <a:p>
            <a:pPr marL="355600" marR="5080" indent="-342900">
              <a:lnSpc>
                <a:spcPct val="100000"/>
              </a:lnSpc>
              <a:spcBef>
                <a:spcPts val="770"/>
              </a:spcBef>
              <a:buFont typeface="Arial MT"/>
              <a:buChar char="•"/>
              <a:tabLst>
                <a:tab pos="354965" algn="l"/>
                <a:tab pos="355600" algn="l"/>
              </a:tabLst>
            </a:pPr>
            <a:r>
              <a:rPr sz="3200" b="1" spc="-5" dirty="0">
                <a:latin typeface="Calibri"/>
                <a:cs typeface="Calibri"/>
              </a:rPr>
              <a:t>Subject</a:t>
            </a:r>
            <a:r>
              <a:rPr sz="3200" b="1" spc="-35" dirty="0">
                <a:latin typeface="Calibri"/>
                <a:cs typeface="Calibri"/>
              </a:rPr>
              <a:t> </a:t>
            </a:r>
            <a:r>
              <a:rPr sz="3200" b="1" spc="-15" dirty="0">
                <a:latin typeface="Calibri"/>
                <a:cs typeface="Calibri"/>
              </a:rPr>
              <a:t>to</a:t>
            </a:r>
            <a:r>
              <a:rPr sz="3200" b="1" spc="-5" dirty="0">
                <a:latin typeface="Calibri"/>
                <a:cs typeface="Calibri"/>
              </a:rPr>
              <a:t> </a:t>
            </a:r>
            <a:r>
              <a:rPr sz="3200" b="1" spc="-15" dirty="0">
                <a:latin typeface="Calibri"/>
                <a:cs typeface="Calibri"/>
              </a:rPr>
              <a:t>Corporate</a:t>
            </a:r>
            <a:r>
              <a:rPr sz="3200" b="1" spc="-30" dirty="0">
                <a:latin typeface="Calibri"/>
                <a:cs typeface="Calibri"/>
              </a:rPr>
              <a:t> </a:t>
            </a:r>
            <a:r>
              <a:rPr sz="3200" b="1" spc="-90" dirty="0">
                <a:latin typeface="Calibri"/>
                <a:cs typeface="Calibri"/>
              </a:rPr>
              <a:t>Tax</a:t>
            </a:r>
            <a:r>
              <a:rPr sz="3200" b="1" spc="-20" dirty="0">
                <a:latin typeface="Calibri"/>
                <a:cs typeface="Calibri"/>
              </a:rPr>
              <a:t> </a:t>
            </a:r>
            <a:r>
              <a:rPr sz="3200" b="1" dirty="0">
                <a:latin typeface="Calibri"/>
                <a:cs typeface="Calibri"/>
              </a:rPr>
              <a:t>and</a:t>
            </a:r>
            <a:r>
              <a:rPr sz="3200" b="1" spc="-35" dirty="0">
                <a:latin typeface="Calibri"/>
                <a:cs typeface="Calibri"/>
              </a:rPr>
              <a:t> </a:t>
            </a:r>
            <a:r>
              <a:rPr sz="3200" b="1" spc="-5" dirty="0">
                <a:latin typeface="Calibri"/>
                <a:cs typeface="Calibri"/>
              </a:rPr>
              <a:t>Dividend </a:t>
            </a:r>
            <a:r>
              <a:rPr sz="3200" b="1" spc="-710" dirty="0">
                <a:latin typeface="Calibri"/>
                <a:cs typeface="Calibri"/>
              </a:rPr>
              <a:t> </a:t>
            </a:r>
            <a:r>
              <a:rPr sz="3200" b="1" spc="-90" dirty="0">
                <a:latin typeface="Calibri"/>
                <a:cs typeface="Calibri"/>
              </a:rPr>
              <a:t>Tax</a:t>
            </a:r>
            <a:r>
              <a:rPr sz="3200" b="1" spc="-30" dirty="0">
                <a:latin typeface="Calibri"/>
                <a:cs typeface="Calibri"/>
              </a:rPr>
              <a:t> </a:t>
            </a:r>
            <a:r>
              <a:rPr sz="3200" b="1" dirty="0">
                <a:latin typeface="Calibri"/>
                <a:cs typeface="Calibri"/>
              </a:rPr>
              <a:t>(Double </a:t>
            </a:r>
            <a:r>
              <a:rPr sz="3200" b="1" spc="-40" dirty="0">
                <a:latin typeface="Calibri"/>
                <a:cs typeface="Calibri"/>
              </a:rPr>
              <a:t>Taxation)</a:t>
            </a:r>
            <a:endParaRPr sz="3200">
              <a:latin typeface="Calibri"/>
              <a:cs typeface="Calibri"/>
            </a:endParaRPr>
          </a:p>
          <a:p>
            <a:pPr marL="354965" marR="4013200" indent="-354965">
              <a:lnSpc>
                <a:spcPts val="4610"/>
              </a:lnSpc>
              <a:spcBef>
                <a:spcPts val="280"/>
              </a:spcBef>
              <a:buFont typeface="Arial MT"/>
              <a:buChar char="•"/>
              <a:tabLst>
                <a:tab pos="354965" algn="l"/>
                <a:tab pos="355600" algn="l"/>
              </a:tabLst>
            </a:pPr>
            <a:r>
              <a:rPr sz="3200" b="1" spc="-15" dirty="0">
                <a:latin typeface="Calibri"/>
                <a:cs typeface="Calibri"/>
              </a:rPr>
              <a:t>Delay</a:t>
            </a:r>
            <a:r>
              <a:rPr sz="3200" b="1" spc="-60" dirty="0">
                <a:latin typeface="Calibri"/>
                <a:cs typeface="Calibri"/>
              </a:rPr>
              <a:t> </a:t>
            </a:r>
            <a:r>
              <a:rPr sz="3200" b="1" dirty="0">
                <a:latin typeface="Calibri"/>
                <a:cs typeface="Calibri"/>
              </a:rPr>
              <a:t>in</a:t>
            </a:r>
            <a:r>
              <a:rPr sz="3200" b="1" spc="-50" dirty="0">
                <a:latin typeface="Calibri"/>
                <a:cs typeface="Calibri"/>
              </a:rPr>
              <a:t> </a:t>
            </a:r>
            <a:r>
              <a:rPr sz="3200" b="1" spc="-10" dirty="0">
                <a:latin typeface="Calibri"/>
                <a:cs typeface="Calibri"/>
              </a:rPr>
              <a:t>Policy </a:t>
            </a:r>
            <a:r>
              <a:rPr sz="3200" b="1" spc="-705" dirty="0">
                <a:latin typeface="Calibri"/>
                <a:cs typeface="Calibri"/>
              </a:rPr>
              <a:t> </a:t>
            </a:r>
            <a:r>
              <a:rPr sz="3200" b="1" spc="-5" dirty="0">
                <a:latin typeface="Calibri"/>
                <a:cs typeface="Calibri"/>
              </a:rPr>
              <a:t>Decisions</a:t>
            </a:r>
            <a:endParaRPr sz="3200">
              <a:latin typeface="Calibri"/>
              <a:cs typeface="Calibri"/>
            </a:endParaRPr>
          </a:p>
          <a:p>
            <a:pPr marL="355600" indent="-342900">
              <a:lnSpc>
                <a:spcPct val="100000"/>
              </a:lnSpc>
              <a:spcBef>
                <a:spcPts val="484"/>
              </a:spcBef>
              <a:buFont typeface="Arial MT"/>
              <a:buChar char="•"/>
              <a:tabLst>
                <a:tab pos="354965" algn="l"/>
                <a:tab pos="355600" algn="l"/>
              </a:tabLst>
            </a:pPr>
            <a:r>
              <a:rPr sz="3200" b="1" spc="-10" dirty="0">
                <a:latin typeface="Calibri"/>
                <a:cs typeface="Calibri"/>
              </a:rPr>
              <a:t>Control</a:t>
            </a:r>
            <a:r>
              <a:rPr sz="3200" b="1" spc="-35" dirty="0">
                <a:latin typeface="Calibri"/>
                <a:cs typeface="Calibri"/>
              </a:rPr>
              <a:t> </a:t>
            </a:r>
            <a:r>
              <a:rPr sz="3200" b="1" spc="-10" dirty="0">
                <a:latin typeface="Calibri"/>
                <a:cs typeface="Calibri"/>
              </a:rPr>
              <a:t>by</a:t>
            </a:r>
            <a:r>
              <a:rPr sz="3200" b="1" spc="-35" dirty="0">
                <a:latin typeface="Calibri"/>
                <a:cs typeface="Calibri"/>
              </a:rPr>
              <a:t> </a:t>
            </a:r>
            <a:r>
              <a:rPr sz="3200" b="1" dirty="0">
                <a:latin typeface="Calibri"/>
                <a:cs typeface="Calibri"/>
              </a:rPr>
              <a:t>a</a:t>
            </a:r>
            <a:r>
              <a:rPr sz="3200" b="1" spc="-15" dirty="0">
                <a:latin typeface="Calibri"/>
                <a:cs typeface="Calibri"/>
              </a:rPr>
              <a:t> </a:t>
            </a:r>
            <a:r>
              <a:rPr sz="3200" b="1" spc="-10" dirty="0">
                <a:latin typeface="Calibri"/>
                <a:cs typeface="Calibri"/>
              </a:rPr>
              <a:t>Group</a:t>
            </a:r>
            <a:endParaRPr sz="3200">
              <a:latin typeface="Calibri"/>
              <a:cs typeface="Calibri"/>
            </a:endParaRPr>
          </a:p>
        </p:txBody>
      </p:sp>
      <p:pic>
        <p:nvPicPr>
          <p:cNvPr id="4" name="object 4"/>
          <p:cNvPicPr/>
          <p:nvPr/>
        </p:nvPicPr>
        <p:blipFill>
          <a:blip r:embed="rId2" cstate="print"/>
          <a:stretch>
            <a:fillRect/>
          </a:stretch>
        </p:blipFill>
        <p:spPr>
          <a:xfrm>
            <a:off x="4038600" y="3429000"/>
            <a:ext cx="4876800" cy="319087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3950" y="186944"/>
            <a:ext cx="7293609" cy="566822"/>
          </a:xfrm>
          <a:prstGeom prst="rect">
            <a:avLst/>
          </a:prstGeom>
        </p:spPr>
        <p:txBody>
          <a:bodyPr vert="horz" wrap="square" lIns="0" tIns="12700" rIns="0" bIns="0" rtlCol="0">
            <a:spAutoFit/>
          </a:bodyPr>
          <a:lstStyle/>
          <a:p>
            <a:pPr marL="12700">
              <a:lnSpc>
                <a:spcPct val="100000"/>
              </a:lnSpc>
              <a:spcBef>
                <a:spcPts val="100"/>
              </a:spcBef>
            </a:pPr>
            <a:r>
              <a:rPr sz="3600" spc="-15" dirty="0"/>
              <a:t>TWO</a:t>
            </a:r>
            <a:r>
              <a:rPr sz="3600" spc="-70" dirty="0"/>
              <a:t> </a:t>
            </a:r>
            <a:r>
              <a:rPr sz="3600" spc="-10" dirty="0"/>
              <a:t>TYPES</a:t>
            </a:r>
            <a:r>
              <a:rPr sz="3600" spc="-25" dirty="0"/>
              <a:t> </a:t>
            </a:r>
            <a:r>
              <a:rPr sz="3600" spc="-5" dirty="0"/>
              <a:t>OF</a:t>
            </a:r>
            <a:r>
              <a:rPr sz="3600" spc="-35" dirty="0"/>
              <a:t> CORPORATIONS</a:t>
            </a:r>
          </a:p>
        </p:txBody>
      </p:sp>
      <p:sp>
        <p:nvSpPr>
          <p:cNvPr id="3" name="object 3"/>
          <p:cNvSpPr txBox="1"/>
          <p:nvPr/>
        </p:nvSpPr>
        <p:spPr>
          <a:xfrm>
            <a:off x="535940" y="885189"/>
            <a:ext cx="7983220" cy="4964430"/>
          </a:xfrm>
          <a:prstGeom prst="rect">
            <a:avLst/>
          </a:prstGeom>
        </p:spPr>
        <p:txBody>
          <a:bodyPr vert="horz" wrap="square" lIns="0" tIns="121920" rIns="0" bIns="0" rtlCol="0">
            <a:spAutoFit/>
          </a:bodyPr>
          <a:lstStyle/>
          <a:p>
            <a:pPr marL="12700">
              <a:lnSpc>
                <a:spcPct val="100000"/>
              </a:lnSpc>
              <a:spcBef>
                <a:spcPts val="960"/>
              </a:spcBef>
              <a:tabLst>
                <a:tab pos="756285" algn="l"/>
              </a:tabLst>
            </a:pPr>
            <a:r>
              <a:rPr sz="3600" b="1" spc="-5" dirty="0">
                <a:latin typeface="Calibri"/>
                <a:cs typeface="Calibri"/>
              </a:rPr>
              <a:t>1.	</a:t>
            </a:r>
            <a:r>
              <a:rPr sz="3600" b="1" spc="-70" dirty="0">
                <a:latin typeface="Calibri"/>
                <a:cs typeface="Calibri"/>
              </a:rPr>
              <a:t>PRIVATE</a:t>
            </a:r>
            <a:r>
              <a:rPr sz="3600" b="1" spc="-65" dirty="0">
                <a:latin typeface="Calibri"/>
                <a:cs typeface="Calibri"/>
              </a:rPr>
              <a:t> </a:t>
            </a:r>
            <a:r>
              <a:rPr sz="3600" b="1" spc="-40" dirty="0">
                <a:latin typeface="Calibri"/>
                <a:cs typeface="Calibri"/>
              </a:rPr>
              <a:t>COMPANY</a:t>
            </a:r>
            <a:endParaRPr sz="3600">
              <a:latin typeface="Calibri"/>
              <a:cs typeface="Calibri"/>
            </a:endParaRPr>
          </a:p>
          <a:p>
            <a:pPr marL="756285" indent="-744220">
              <a:lnSpc>
                <a:spcPct val="100000"/>
              </a:lnSpc>
              <a:spcBef>
                <a:spcPts val="865"/>
              </a:spcBef>
              <a:buFont typeface="Arial MT"/>
              <a:buChar char="•"/>
              <a:tabLst>
                <a:tab pos="756285" algn="l"/>
                <a:tab pos="756920" algn="l"/>
              </a:tabLst>
            </a:pPr>
            <a:r>
              <a:rPr sz="3600" b="1" spc="-5" dirty="0">
                <a:latin typeface="Calibri"/>
                <a:cs typeface="Calibri"/>
              </a:rPr>
              <a:t>Closely</a:t>
            </a:r>
            <a:r>
              <a:rPr sz="3600" b="1" spc="-35" dirty="0">
                <a:latin typeface="Calibri"/>
                <a:cs typeface="Calibri"/>
              </a:rPr>
              <a:t> </a:t>
            </a:r>
            <a:r>
              <a:rPr sz="3600" b="1" dirty="0">
                <a:latin typeface="Calibri"/>
                <a:cs typeface="Calibri"/>
              </a:rPr>
              <a:t>held</a:t>
            </a:r>
            <a:r>
              <a:rPr sz="3600" b="1" spc="-5" dirty="0">
                <a:latin typeface="Calibri"/>
                <a:cs typeface="Calibri"/>
              </a:rPr>
              <a:t> </a:t>
            </a:r>
            <a:r>
              <a:rPr sz="3600" b="1" spc="-15" dirty="0">
                <a:latin typeface="Calibri"/>
                <a:cs typeface="Calibri"/>
              </a:rPr>
              <a:t>by </a:t>
            </a:r>
            <a:r>
              <a:rPr sz="3600" b="1" dirty="0">
                <a:latin typeface="Calibri"/>
                <a:cs typeface="Calibri"/>
              </a:rPr>
              <a:t>a</a:t>
            </a:r>
            <a:r>
              <a:rPr sz="3600" b="1" spc="-25" dirty="0">
                <a:latin typeface="Calibri"/>
                <a:cs typeface="Calibri"/>
              </a:rPr>
              <a:t> few</a:t>
            </a:r>
            <a:r>
              <a:rPr sz="3600" b="1" spc="-15" dirty="0">
                <a:latin typeface="Calibri"/>
                <a:cs typeface="Calibri"/>
              </a:rPr>
              <a:t> </a:t>
            </a:r>
            <a:r>
              <a:rPr sz="3600" b="1" dirty="0">
                <a:latin typeface="Calibri"/>
                <a:cs typeface="Calibri"/>
              </a:rPr>
              <a:t>people</a:t>
            </a:r>
            <a:endParaRPr sz="3600">
              <a:latin typeface="Calibri"/>
              <a:cs typeface="Calibri"/>
            </a:endParaRPr>
          </a:p>
          <a:p>
            <a:pPr marL="756285" marR="1631950" indent="-744220">
              <a:lnSpc>
                <a:spcPct val="100000"/>
              </a:lnSpc>
              <a:spcBef>
                <a:spcPts val="870"/>
              </a:spcBef>
              <a:buFont typeface="Arial MT"/>
              <a:buChar char="•"/>
              <a:tabLst>
                <a:tab pos="756285" algn="l"/>
                <a:tab pos="756920" algn="l"/>
              </a:tabLst>
            </a:pPr>
            <a:r>
              <a:rPr sz="3600" b="1" spc="-5" dirty="0">
                <a:latin typeface="Calibri"/>
                <a:cs typeface="Calibri"/>
              </a:rPr>
              <a:t>Minimum</a:t>
            </a:r>
            <a:r>
              <a:rPr sz="3600" b="1" spc="-15" dirty="0">
                <a:latin typeface="Calibri"/>
                <a:cs typeface="Calibri"/>
              </a:rPr>
              <a:t> </a:t>
            </a:r>
            <a:r>
              <a:rPr sz="3600" b="1" dirty="0">
                <a:latin typeface="Calibri"/>
                <a:cs typeface="Calibri"/>
              </a:rPr>
              <a:t>2</a:t>
            </a:r>
            <a:r>
              <a:rPr sz="3600" b="1" spc="-35" dirty="0">
                <a:latin typeface="Calibri"/>
                <a:cs typeface="Calibri"/>
              </a:rPr>
              <a:t> </a:t>
            </a:r>
            <a:r>
              <a:rPr sz="3600" b="1" dirty="0">
                <a:latin typeface="Calibri"/>
                <a:cs typeface="Calibri"/>
              </a:rPr>
              <a:t>and</a:t>
            </a:r>
            <a:r>
              <a:rPr sz="3600" b="1" spc="-15" dirty="0">
                <a:latin typeface="Calibri"/>
                <a:cs typeface="Calibri"/>
              </a:rPr>
              <a:t> </a:t>
            </a:r>
            <a:r>
              <a:rPr sz="3600" b="1" spc="-10" dirty="0">
                <a:latin typeface="Calibri"/>
                <a:cs typeface="Calibri"/>
              </a:rPr>
              <a:t>maximum</a:t>
            </a:r>
            <a:r>
              <a:rPr sz="3600" b="1" spc="-20" dirty="0">
                <a:latin typeface="Calibri"/>
                <a:cs typeface="Calibri"/>
              </a:rPr>
              <a:t> </a:t>
            </a:r>
            <a:r>
              <a:rPr sz="3600" b="1" spc="-10" dirty="0">
                <a:latin typeface="Calibri"/>
                <a:cs typeface="Calibri"/>
              </a:rPr>
              <a:t>50 </a:t>
            </a:r>
            <a:r>
              <a:rPr sz="3600" b="1" spc="-800" dirty="0">
                <a:latin typeface="Calibri"/>
                <a:cs typeface="Calibri"/>
              </a:rPr>
              <a:t> </a:t>
            </a:r>
            <a:r>
              <a:rPr sz="3600" b="1" spc="-10" dirty="0">
                <a:latin typeface="Calibri"/>
                <a:cs typeface="Calibri"/>
              </a:rPr>
              <a:t>shareholders</a:t>
            </a:r>
            <a:endParaRPr sz="3600">
              <a:latin typeface="Calibri"/>
              <a:cs typeface="Calibri"/>
            </a:endParaRPr>
          </a:p>
          <a:p>
            <a:pPr marL="756285" marR="5080" indent="-744220">
              <a:lnSpc>
                <a:spcPct val="100000"/>
              </a:lnSpc>
              <a:spcBef>
                <a:spcPts val="865"/>
              </a:spcBef>
              <a:buFont typeface="Arial MT"/>
              <a:buChar char="•"/>
              <a:tabLst>
                <a:tab pos="756285" algn="l"/>
                <a:tab pos="756920" algn="l"/>
              </a:tabLst>
            </a:pPr>
            <a:r>
              <a:rPr sz="3600" b="1" spc="-10" dirty="0">
                <a:latin typeface="Calibri"/>
                <a:cs typeface="Calibri"/>
              </a:rPr>
              <a:t>Stocks </a:t>
            </a:r>
            <a:r>
              <a:rPr sz="3600" b="1" spc="-5" dirty="0">
                <a:latin typeface="Calibri"/>
                <a:cs typeface="Calibri"/>
              </a:rPr>
              <a:t>cannot </a:t>
            </a:r>
            <a:r>
              <a:rPr sz="3600" b="1" dirty="0">
                <a:latin typeface="Calibri"/>
                <a:cs typeface="Calibri"/>
              </a:rPr>
              <a:t>be </a:t>
            </a:r>
            <a:r>
              <a:rPr sz="3600" b="1" spc="-15" dirty="0">
                <a:latin typeface="Calibri"/>
                <a:cs typeface="Calibri"/>
              </a:rPr>
              <a:t>traded </a:t>
            </a:r>
            <a:r>
              <a:rPr sz="3600" b="1" spc="-10" dirty="0">
                <a:latin typeface="Calibri"/>
                <a:cs typeface="Calibri"/>
              </a:rPr>
              <a:t>on </a:t>
            </a:r>
            <a:r>
              <a:rPr sz="3600" b="1" spc="-25" dirty="0">
                <a:latin typeface="Calibri"/>
                <a:cs typeface="Calibri"/>
              </a:rPr>
              <a:t>exchanges </a:t>
            </a:r>
            <a:r>
              <a:rPr sz="3600" b="1" spc="-800" dirty="0">
                <a:latin typeface="Calibri"/>
                <a:cs typeface="Calibri"/>
              </a:rPr>
              <a:t> </a:t>
            </a:r>
            <a:r>
              <a:rPr sz="3600" b="1" dirty="0">
                <a:latin typeface="Calibri"/>
                <a:cs typeface="Calibri"/>
              </a:rPr>
              <a:t>and</a:t>
            </a:r>
            <a:r>
              <a:rPr sz="3600" b="1" spc="-10" dirty="0">
                <a:latin typeface="Calibri"/>
                <a:cs typeface="Calibri"/>
              </a:rPr>
              <a:t> </a:t>
            </a:r>
            <a:r>
              <a:rPr sz="3600" b="1" spc="-20" dirty="0">
                <a:latin typeface="Calibri"/>
                <a:cs typeface="Calibri"/>
              </a:rPr>
              <a:t>private</a:t>
            </a:r>
            <a:r>
              <a:rPr sz="3600" b="1" spc="-10" dirty="0">
                <a:latin typeface="Calibri"/>
                <a:cs typeface="Calibri"/>
              </a:rPr>
              <a:t> </a:t>
            </a:r>
            <a:r>
              <a:rPr sz="3600" b="1" spc="-5" dirty="0">
                <a:latin typeface="Calibri"/>
                <a:cs typeface="Calibri"/>
              </a:rPr>
              <a:t>equity</a:t>
            </a:r>
            <a:r>
              <a:rPr sz="3600" b="1" spc="-25" dirty="0">
                <a:latin typeface="Calibri"/>
                <a:cs typeface="Calibri"/>
              </a:rPr>
              <a:t> </a:t>
            </a:r>
            <a:r>
              <a:rPr sz="3600" b="1" spc="-5" dirty="0">
                <a:latin typeface="Calibri"/>
                <a:cs typeface="Calibri"/>
              </a:rPr>
              <a:t>cannot</a:t>
            </a:r>
            <a:r>
              <a:rPr sz="3600" b="1" spc="5" dirty="0">
                <a:latin typeface="Calibri"/>
                <a:cs typeface="Calibri"/>
              </a:rPr>
              <a:t> </a:t>
            </a:r>
            <a:r>
              <a:rPr sz="3600" b="1" dirty="0">
                <a:latin typeface="Calibri"/>
                <a:cs typeface="Calibri"/>
              </a:rPr>
              <a:t>be</a:t>
            </a:r>
            <a:r>
              <a:rPr sz="3600" b="1" spc="-10" dirty="0">
                <a:latin typeface="Calibri"/>
                <a:cs typeface="Calibri"/>
              </a:rPr>
              <a:t> </a:t>
            </a:r>
            <a:r>
              <a:rPr sz="3600" b="1" spc="-15" dirty="0">
                <a:latin typeface="Calibri"/>
                <a:cs typeface="Calibri"/>
              </a:rPr>
              <a:t>raised</a:t>
            </a:r>
            <a:endParaRPr sz="3600">
              <a:latin typeface="Calibri"/>
              <a:cs typeface="Calibri"/>
            </a:endParaRPr>
          </a:p>
          <a:p>
            <a:pPr marL="756285" marR="1169035" indent="-744220">
              <a:lnSpc>
                <a:spcPct val="100000"/>
              </a:lnSpc>
              <a:spcBef>
                <a:spcPts val="865"/>
              </a:spcBef>
              <a:buFont typeface="Arial MT"/>
              <a:buChar char="•"/>
              <a:tabLst>
                <a:tab pos="756285" algn="l"/>
                <a:tab pos="756920" algn="l"/>
              </a:tabLst>
            </a:pPr>
            <a:r>
              <a:rPr sz="3600" b="1" dirty="0">
                <a:latin typeface="Calibri"/>
                <a:cs typeface="Calibri"/>
              </a:rPr>
              <a:t>Less </a:t>
            </a:r>
            <a:r>
              <a:rPr sz="3600" b="1" spc="-10" dirty="0">
                <a:latin typeface="Calibri"/>
                <a:cs typeface="Calibri"/>
              </a:rPr>
              <a:t>regulations </a:t>
            </a:r>
            <a:r>
              <a:rPr sz="3600" b="1" dirty="0">
                <a:latin typeface="Calibri"/>
                <a:cs typeface="Calibri"/>
              </a:rPr>
              <a:t>as </a:t>
            </a:r>
            <a:r>
              <a:rPr sz="3600" b="1" spc="-10" dirty="0">
                <a:latin typeface="Calibri"/>
                <a:cs typeface="Calibri"/>
              </a:rPr>
              <a:t>compared </a:t>
            </a:r>
            <a:r>
              <a:rPr sz="3600" b="1" spc="-25" dirty="0">
                <a:latin typeface="Calibri"/>
                <a:cs typeface="Calibri"/>
              </a:rPr>
              <a:t>to </a:t>
            </a:r>
            <a:r>
              <a:rPr sz="3600" b="1" spc="-800" dirty="0">
                <a:latin typeface="Calibri"/>
                <a:cs typeface="Calibri"/>
              </a:rPr>
              <a:t> </a:t>
            </a:r>
            <a:r>
              <a:rPr sz="3600" b="1" spc="-5" dirty="0">
                <a:latin typeface="Calibri"/>
                <a:cs typeface="Calibri"/>
              </a:rPr>
              <a:t>Public</a:t>
            </a:r>
            <a:r>
              <a:rPr sz="3600" b="1" spc="-10" dirty="0">
                <a:latin typeface="Calibri"/>
                <a:cs typeface="Calibri"/>
              </a:rPr>
              <a:t> </a:t>
            </a:r>
            <a:r>
              <a:rPr sz="3600" b="1" spc="-5" dirty="0">
                <a:latin typeface="Calibri"/>
                <a:cs typeface="Calibri"/>
              </a:rPr>
              <a:t>Companies</a:t>
            </a:r>
            <a:endParaRPr sz="3600">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209740"/>
            <a:ext cx="4902200" cy="6062345"/>
          </a:xfrm>
          <a:prstGeom prst="rect">
            <a:avLst/>
          </a:prstGeom>
        </p:spPr>
        <p:txBody>
          <a:bodyPr vert="horz" wrap="square" lIns="0" tIns="113665" rIns="0" bIns="0" rtlCol="0">
            <a:spAutoFit/>
          </a:bodyPr>
          <a:lstStyle/>
          <a:p>
            <a:pPr marL="12700">
              <a:lnSpc>
                <a:spcPct val="100000"/>
              </a:lnSpc>
              <a:spcBef>
                <a:spcPts val="895"/>
              </a:spcBef>
            </a:pPr>
            <a:r>
              <a:rPr sz="3300" b="1" dirty="0">
                <a:latin typeface="Calibri"/>
                <a:cs typeface="Calibri"/>
              </a:rPr>
              <a:t>2.</a:t>
            </a:r>
            <a:r>
              <a:rPr sz="3300" b="1" spc="-35" dirty="0">
                <a:latin typeface="Calibri"/>
                <a:cs typeface="Calibri"/>
              </a:rPr>
              <a:t> </a:t>
            </a:r>
            <a:r>
              <a:rPr sz="3300" b="1" spc="-5" dirty="0">
                <a:latin typeface="Calibri"/>
                <a:cs typeface="Calibri"/>
              </a:rPr>
              <a:t>PUBLIC</a:t>
            </a:r>
            <a:r>
              <a:rPr sz="3300" b="1" spc="-25" dirty="0">
                <a:latin typeface="Calibri"/>
                <a:cs typeface="Calibri"/>
              </a:rPr>
              <a:t> </a:t>
            </a:r>
            <a:r>
              <a:rPr sz="3300" b="1" spc="-40" dirty="0">
                <a:latin typeface="Calibri"/>
                <a:cs typeface="Calibri"/>
              </a:rPr>
              <a:t>COMPANY</a:t>
            </a:r>
            <a:endParaRPr sz="3300" dirty="0">
              <a:latin typeface="Calibri"/>
              <a:cs typeface="Calibri"/>
            </a:endParaRPr>
          </a:p>
          <a:p>
            <a:pPr marL="355600" marR="140970" indent="-342900">
              <a:lnSpc>
                <a:spcPct val="100000"/>
              </a:lnSpc>
              <a:spcBef>
                <a:spcPts val="790"/>
              </a:spcBef>
              <a:buFont typeface="Arial MT"/>
              <a:buChar char="•"/>
              <a:tabLst>
                <a:tab pos="354965" algn="l"/>
                <a:tab pos="355600" algn="l"/>
              </a:tabLst>
            </a:pPr>
            <a:r>
              <a:rPr sz="3300" b="1" spc="-15" dirty="0">
                <a:latin typeface="Calibri"/>
                <a:cs typeface="Calibri"/>
              </a:rPr>
              <a:t>Stocks </a:t>
            </a:r>
            <a:r>
              <a:rPr sz="3300" b="1" spc="-10" dirty="0">
                <a:latin typeface="Calibri"/>
                <a:cs typeface="Calibri"/>
              </a:rPr>
              <a:t>are</a:t>
            </a:r>
            <a:r>
              <a:rPr sz="3300" b="1" spc="-20" dirty="0">
                <a:latin typeface="Calibri"/>
                <a:cs typeface="Calibri"/>
              </a:rPr>
              <a:t> </a:t>
            </a:r>
            <a:r>
              <a:rPr sz="3300" b="1" dirty="0">
                <a:latin typeface="Calibri"/>
                <a:cs typeface="Calibri"/>
              </a:rPr>
              <a:t>held</a:t>
            </a:r>
            <a:r>
              <a:rPr sz="3300" b="1" spc="-5" dirty="0">
                <a:latin typeface="Calibri"/>
                <a:cs typeface="Calibri"/>
              </a:rPr>
              <a:t> </a:t>
            </a:r>
            <a:r>
              <a:rPr sz="3300" b="1" dirty="0">
                <a:latin typeface="Calibri"/>
                <a:cs typeface="Calibri"/>
              </a:rPr>
              <a:t>by</a:t>
            </a:r>
            <a:r>
              <a:rPr sz="3300" b="1" spc="-30" dirty="0">
                <a:latin typeface="Calibri"/>
                <a:cs typeface="Calibri"/>
              </a:rPr>
              <a:t> </a:t>
            </a:r>
            <a:r>
              <a:rPr sz="3300" b="1" dirty="0">
                <a:latin typeface="Calibri"/>
                <a:cs typeface="Calibri"/>
              </a:rPr>
              <a:t>a</a:t>
            </a:r>
            <a:r>
              <a:rPr sz="3300" b="1" spc="-15" dirty="0">
                <a:latin typeface="Calibri"/>
                <a:cs typeface="Calibri"/>
              </a:rPr>
              <a:t> large </a:t>
            </a:r>
            <a:r>
              <a:rPr sz="3300" b="1" spc="-730" dirty="0">
                <a:latin typeface="Calibri"/>
                <a:cs typeface="Calibri"/>
              </a:rPr>
              <a:t> </a:t>
            </a:r>
            <a:r>
              <a:rPr sz="3300" b="1" dirty="0">
                <a:latin typeface="Calibri"/>
                <a:cs typeface="Calibri"/>
              </a:rPr>
              <a:t>number</a:t>
            </a:r>
            <a:r>
              <a:rPr sz="3300" b="1" spc="-10" dirty="0">
                <a:latin typeface="Calibri"/>
                <a:cs typeface="Calibri"/>
              </a:rPr>
              <a:t> </a:t>
            </a:r>
            <a:r>
              <a:rPr sz="3300" b="1" dirty="0">
                <a:latin typeface="Calibri"/>
                <a:cs typeface="Calibri"/>
              </a:rPr>
              <a:t>of</a:t>
            </a:r>
            <a:r>
              <a:rPr sz="3300" b="1" spc="5" dirty="0">
                <a:latin typeface="Calibri"/>
                <a:cs typeface="Calibri"/>
              </a:rPr>
              <a:t> </a:t>
            </a:r>
            <a:r>
              <a:rPr sz="3300" b="1" dirty="0">
                <a:latin typeface="Calibri"/>
                <a:cs typeface="Calibri"/>
              </a:rPr>
              <a:t>people</a:t>
            </a:r>
            <a:endParaRPr sz="3300" dirty="0">
              <a:latin typeface="Calibri"/>
              <a:cs typeface="Calibri"/>
            </a:endParaRPr>
          </a:p>
          <a:p>
            <a:pPr marL="355600" marR="5080" indent="-342900">
              <a:lnSpc>
                <a:spcPct val="100000"/>
              </a:lnSpc>
              <a:spcBef>
                <a:spcPts val="795"/>
              </a:spcBef>
              <a:buFont typeface="Arial MT"/>
              <a:buChar char="•"/>
              <a:tabLst>
                <a:tab pos="354965" algn="l"/>
                <a:tab pos="355600" algn="l"/>
              </a:tabLst>
            </a:pPr>
            <a:r>
              <a:rPr sz="3300" b="1" spc="-5" dirty="0">
                <a:latin typeface="Calibri"/>
                <a:cs typeface="Calibri"/>
              </a:rPr>
              <a:t>Minimum </a:t>
            </a:r>
            <a:r>
              <a:rPr sz="3300" b="1" dirty="0">
                <a:latin typeface="Calibri"/>
                <a:cs typeface="Calibri"/>
              </a:rPr>
              <a:t>7 </a:t>
            </a:r>
            <a:r>
              <a:rPr sz="3300" b="1" spc="-10" dirty="0">
                <a:latin typeface="Calibri"/>
                <a:cs typeface="Calibri"/>
              </a:rPr>
              <a:t>shareholders </a:t>
            </a:r>
            <a:r>
              <a:rPr sz="3300" b="1" spc="-5" dirty="0">
                <a:latin typeface="Calibri"/>
                <a:cs typeface="Calibri"/>
              </a:rPr>
              <a:t> </a:t>
            </a:r>
            <a:r>
              <a:rPr sz="3300" b="1" dirty="0">
                <a:latin typeface="Calibri"/>
                <a:cs typeface="Calibri"/>
              </a:rPr>
              <a:t>and</a:t>
            </a:r>
            <a:r>
              <a:rPr sz="3300" b="1" spc="-15" dirty="0">
                <a:latin typeface="Calibri"/>
                <a:cs typeface="Calibri"/>
              </a:rPr>
              <a:t> </a:t>
            </a:r>
            <a:r>
              <a:rPr sz="3300" b="1" dirty="0">
                <a:latin typeface="Calibri"/>
                <a:cs typeface="Calibri"/>
              </a:rPr>
              <a:t>no</a:t>
            </a:r>
            <a:r>
              <a:rPr sz="3300" b="1" spc="-15" dirty="0">
                <a:latin typeface="Calibri"/>
                <a:cs typeface="Calibri"/>
              </a:rPr>
              <a:t> </a:t>
            </a:r>
            <a:r>
              <a:rPr sz="3300" b="1" dirty="0">
                <a:latin typeface="Calibri"/>
                <a:cs typeface="Calibri"/>
              </a:rPr>
              <a:t>limit</a:t>
            </a:r>
            <a:r>
              <a:rPr sz="3300" b="1" spc="-15" dirty="0">
                <a:latin typeface="Calibri"/>
                <a:cs typeface="Calibri"/>
              </a:rPr>
              <a:t> for </a:t>
            </a:r>
            <a:r>
              <a:rPr sz="3300" b="1" spc="-10" dirty="0">
                <a:latin typeface="Calibri"/>
                <a:cs typeface="Calibri"/>
              </a:rPr>
              <a:t>maximum</a:t>
            </a:r>
            <a:endParaRPr sz="3300" dirty="0">
              <a:latin typeface="Calibri"/>
              <a:cs typeface="Calibri"/>
            </a:endParaRPr>
          </a:p>
          <a:p>
            <a:pPr marL="355600" marR="766445" indent="-342900">
              <a:lnSpc>
                <a:spcPct val="100000"/>
              </a:lnSpc>
              <a:spcBef>
                <a:spcPts val="790"/>
              </a:spcBef>
              <a:buFont typeface="Arial MT"/>
              <a:buChar char="•"/>
              <a:tabLst>
                <a:tab pos="354965" algn="l"/>
                <a:tab pos="355600" algn="l"/>
              </a:tabLst>
            </a:pPr>
            <a:r>
              <a:rPr sz="3300" b="1" spc="-5" dirty="0">
                <a:latin typeface="Calibri"/>
                <a:cs typeface="Calibri"/>
              </a:rPr>
              <a:t>Can</a:t>
            </a:r>
            <a:r>
              <a:rPr sz="3300" b="1" spc="-25" dirty="0">
                <a:latin typeface="Calibri"/>
                <a:cs typeface="Calibri"/>
              </a:rPr>
              <a:t> </a:t>
            </a:r>
            <a:r>
              <a:rPr sz="3300" b="1" dirty="0">
                <a:latin typeface="Calibri"/>
                <a:cs typeface="Calibri"/>
              </a:rPr>
              <a:t>be</a:t>
            </a:r>
            <a:r>
              <a:rPr sz="3300" b="1" spc="-15" dirty="0">
                <a:latin typeface="Calibri"/>
                <a:cs typeface="Calibri"/>
              </a:rPr>
              <a:t> listed</a:t>
            </a:r>
            <a:r>
              <a:rPr sz="3300" b="1" spc="-25" dirty="0">
                <a:latin typeface="Calibri"/>
                <a:cs typeface="Calibri"/>
              </a:rPr>
              <a:t> </a:t>
            </a:r>
            <a:r>
              <a:rPr sz="3300" b="1" dirty="0">
                <a:latin typeface="Calibri"/>
                <a:cs typeface="Calibri"/>
              </a:rPr>
              <a:t>on</a:t>
            </a:r>
            <a:r>
              <a:rPr sz="3300" b="1" spc="-15" dirty="0">
                <a:latin typeface="Calibri"/>
                <a:cs typeface="Calibri"/>
              </a:rPr>
              <a:t> stock </a:t>
            </a:r>
            <a:r>
              <a:rPr sz="3300" b="1" spc="-730" dirty="0">
                <a:latin typeface="Calibri"/>
                <a:cs typeface="Calibri"/>
              </a:rPr>
              <a:t> </a:t>
            </a:r>
            <a:r>
              <a:rPr sz="3300" b="1" spc="-25" dirty="0">
                <a:latin typeface="Calibri"/>
                <a:cs typeface="Calibri"/>
              </a:rPr>
              <a:t>exchange </a:t>
            </a:r>
            <a:r>
              <a:rPr sz="3300" b="1" dirty="0">
                <a:latin typeface="Calibri"/>
                <a:cs typeface="Calibri"/>
              </a:rPr>
              <a:t>and </a:t>
            </a:r>
            <a:r>
              <a:rPr sz="3300" b="1" spc="-10" dirty="0">
                <a:latin typeface="Calibri"/>
                <a:cs typeface="Calibri"/>
              </a:rPr>
              <a:t>can </a:t>
            </a:r>
            <a:r>
              <a:rPr sz="3300" b="1" spc="-20" dirty="0">
                <a:latin typeface="Calibri"/>
                <a:cs typeface="Calibri"/>
              </a:rPr>
              <a:t>go </a:t>
            </a:r>
            <a:r>
              <a:rPr sz="3300" b="1" spc="-15" dirty="0">
                <a:latin typeface="Calibri"/>
                <a:cs typeface="Calibri"/>
              </a:rPr>
              <a:t> </a:t>
            </a:r>
            <a:r>
              <a:rPr sz="3300" b="1" spc="5" dirty="0">
                <a:latin typeface="Calibri"/>
                <a:cs typeface="Calibri"/>
              </a:rPr>
              <a:t>public</a:t>
            </a:r>
            <a:endParaRPr sz="3300" dirty="0">
              <a:latin typeface="Calibri"/>
              <a:cs typeface="Calibri"/>
            </a:endParaRPr>
          </a:p>
          <a:p>
            <a:pPr marL="355600" marR="74930" indent="-342900" algn="just">
              <a:lnSpc>
                <a:spcPct val="100000"/>
              </a:lnSpc>
              <a:spcBef>
                <a:spcPts val="795"/>
              </a:spcBef>
              <a:buFont typeface="Arial MT"/>
              <a:buChar char="•"/>
              <a:tabLst>
                <a:tab pos="355600" algn="l"/>
              </a:tabLst>
            </a:pPr>
            <a:r>
              <a:rPr sz="3300" b="1" spc="-25" dirty="0">
                <a:latin typeface="Calibri"/>
                <a:cs typeface="Calibri"/>
              </a:rPr>
              <a:t>Have </a:t>
            </a:r>
            <a:r>
              <a:rPr sz="3300" b="1" spc="-20" dirty="0">
                <a:latin typeface="Calibri"/>
                <a:cs typeface="Calibri"/>
              </a:rPr>
              <a:t>to </a:t>
            </a:r>
            <a:r>
              <a:rPr sz="3300" b="1" spc="-10" dirty="0">
                <a:latin typeface="Calibri"/>
                <a:cs typeface="Calibri"/>
              </a:rPr>
              <a:t>follow </a:t>
            </a:r>
            <a:r>
              <a:rPr sz="3300" b="1" spc="-15" dirty="0">
                <a:latin typeface="Calibri"/>
                <a:cs typeface="Calibri"/>
              </a:rPr>
              <a:t>many laws </a:t>
            </a:r>
            <a:r>
              <a:rPr sz="3300" b="1" spc="-735" dirty="0">
                <a:latin typeface="Calibri"/>
                <a:cs typeface="Calibri"/>
              </a:rPr>
              <a:t> </a:t>
            </a:r>
            <a:r>
              <a:rPr sz="3300" b="1" spc="-5" dirty="0">
                <a:latin typeface="Calibri"/>
                <a:cs typeface="Calibri"/>
              </a:rPr>
              <a:t>with </a:t>
            </a:r>
            <a:r>
              <a:rPr sz="3300" b="1" spc="-25" dirty="0">
                <a:latin typeface="Calibri"/>
                <a:cs typeface="Calibri"/>
              </a:rPr>
              <a:t>regards </a:t>
            </a:r>
            <a:r>
              <a:rPr sz="3300" b="1" spc="-20" dirty="0">
                <a:latin typeface="Calibri"/>
                <a:cs typeface="Calibri"/>
              </a:rPr>
              <a:t>to </a:t>
            </a:r>
            <a:r>
              <a:rPr sz="3300" b="1" dirty="0">
                <a:latin typeface="Calibri"/>
                <a:cs typeface="Calibri"/>
              </a:rPr>
              <a:t>the </a:t>
            </a:r>
            <a:r>
              <a:rPr sz="3300" b="1" spc="-5" dirty="0">
                <a:latin typeface="Calibri"/>
                <a:cs typeface="Calibri"/>
              </a:rPr>
              <a:t>board </a:t>
            </a:r>
            <a:r>
              <a:rPr sz="3300" b="1" spc="-735" dirty="0">
                <a:latin typeface="Calibri"/>
                <a:cs typeface="Calibri"/>
              </a:rPr>
              <a:t> </a:t>
            </a:r>
            <a:r>
              <a:rPr sz="3300" b="1" spc="-5" dirty="0" smtClean="0">
                <a:latin typeface="Calibri"/>
                <a:cs typeface="Calibri"/>
              </a:rPr>
              <a:t>composition</a:t>
            </a:r>
            <a:r>
              <a:rPr sz="3300" b="1" spc="-10" dirty="0" smtClean="0">
                <a:latin typeface="Calibri"/>
                <a:cs typeface="Calibri"/>
              </a:rPr>
              <a:t>.</a:t>
            </a:r>
            <a:endParaRPr sz="3300" dirty="0">
              <a:latin typeface="Calibri"/>
              <a:cs typeface="Calibri"/>
            </a:endParaRPr>
          </a:p>
        </p:txBody>
      </p:sp>
      <p:pic>
        <p:nvPicPr>
          <p:cNvPr id="3" name="object 3"/>
          <p:cNvPicPr/>
          <p:nvPr/>
        </p:nvPicPr>
        <p:blipFill>
          <a:blip r:embed="rId2" cstate="print"/>
          <a:stretch>
            <a:fillRect/>
          </a:stretch>
        </p:blipFill>
        <p:spPr>
          <a:xfrm>
            <a:off x="5334000" y="838200"/>
            <a:ext cx="3809999" cy="5080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81400" y="1600149"/>
            <a:ext cx="5314950" cy="4032885"/>
          </a:xfrm>
          <a:prstGeom prst="rect">
            <a:avLst/>
          </a:prstGeom>
        </p:spPr>
      </p:pic>
      <p:sp>
        <p:nvSpPr>
          <p:cNvPr id="3" name="object 3"/>
          <p:cNvSpPr txBox="1">
            <a:spLocks noGrp="1"/>
          </p:cNvSpPr>
          <p:nvPr>
            <p:ph type="title"/>
          </p:nvPr>
        </p:nvSpPr>
        <p:spPr>
          <a:xfrm>
            <a:off x="1820036" y="186944"/>
            <a:ext cx="5507355" cy="696595"/>
          </a:xfrm>
          <a:prstGeom prst="rect">
            <a:avLst/>
          </a:prstGeom>
        </p:spPr>
        <p:txBody>
          <a:bodyPr vert="horz" wrap="square" lIns="0" tIns="12700" rIns="0" bIns="0" rtlCol="0">
            <a:spAutoFit/>
          </a:bodyPr>
          <a:lstStyle/>
          <a:p>
            <a:pPr marL="12700">
              <a:lnSpc>
                <a:spcPct val="100000"/>
              </a:lnSpc>
              <a:spcBef>
                <a:spcPts val="100"/>
              </a:spcBef>
            </a:pPr>
            <a:r>
              <a:rPr spc="-35" dirty="0"/>
              <a:t>CO-OPERATIVE</a:t>
            </a:r>
            <a:r>
              <a:rPr spc="-80" dirty="0"/>
              <a:t> </a:t>
            </a:r>
            <a:r>
              <a:rPr dirty="0"/>
              <a:t>SOCIETY</a:t>
            </a:r>
          </a:p>
        </p:txBody>
      </p:sp>
      <p:sp>
        <p:nvSpPr>
          <p:cNvPr id="4" name="object 4"/>
          <p:cNvSpPr txBox="1"/>
          <p:nvPr/>
        </p:nvSpPr>
        <p:spPr>
          <a:xfrm>
            <a:off x="421640" y="1607565"/>
            <a:ext cx="2658110" cy="3928745"/>
          </a:xfrm>
          <a:prstGeom prst="rect">
            <a:avLst/>
          </a:prstGeom>
        </p:spPr>
        <p:txBody>
          <a:bodyPr vert="horz" wrap="square" lIns="0" tIns="13335" rIns="0" bIns="0" rtlCol="0">
            <a:spAutoFit/>
          </a:bodyPr>
          <a:lstStyle/>
          <a:p>
            <a:pPr marL="12700" marR="5080" indent="24130">
              <a:lnSpc>
                <a:spcPct val="100000"/>
              </a:lnSpc>
              <a:spcBef>
                <a:spcPts val="105"/>
              </a:spcBef>
            </a:pPr>
            <a:r>
              <a:rPr sz="3200" b="1" dirty="0">
                <a:latin typeface="Calibri"/>
                <a:cs typeface="Calibri"/>
              </a:rPr>
              <a:t>It</a:t>
            </a:r>
            <a:r>
              <a:rPr sz="3200" b="1" spc="-25" dirty="0">
                <a:latin typeface="Calibri"/>
                <a:cs typeface="Calibri"/>
              </a:rPr>
              <a:t> </a:t>
            </a:r>
            <a:r>
              <a:rPr sz="3200" b="1" dirty="0">
                <a:latin typeface="Calibri"/>
                <a:cs typeface="Calibri"/>
              </a:rPr>
              <a:t>is</a:t>
            </a:r>
            <a:r>
              <a:rPr sz="3200" b="1" spc="-30" dirty="0">
                <a:latin typeface="Calibri"/>
                <a:cs typeface="Calibri"/>
              </a:rPr>
              <a:t> </a:t>
            </a:r>
            <a:r>
              <a:rPr sz="3200" b="1" dirty="0">
                <a:latin typeface="Calibri"/>
                <a:cs typeface="Calibri"/>
              </a:rPr>
              <a:t>a</a:t>
            </a:r>
            <a:r>
              <a:rPr sz="3200" b="1" spc="-25" dirty="0">
                <a:latin typeface="Calibri"/>
                <a:cs typeface="Calibri"/>
              </a:rPr>
              <a:t> </a:t>
            </a:r>
            <a:r>
              <a:rPr sz="3200" b="1" spc="-10" dirty="0">
                <a:latin typeface="Calibri"/>
                <a:cs typeface="Calibri"/>
              </a:rPr>
              <a:t>voluntary </a:t>
            </a:r>
            <a:r>
              <a:rPr sz="3200" b="1" spc="-705" dirty="0">
                <a:latin typeface="Calibri"/>
                <a:cs typeface="Calibri"/>
              </a:rPr>
              <a:t> </a:t>
            </a:r>
            <a:r>
              <a:rPr sz="3200" b="1" spc="-5" dirty="0">
                <a:latin typeface="Calibri"/>
                <a:cs typeface="Calibri"/>
              </a:rPr>
              <a:t>association </a:t>
            </a:r>
            <a:r>
              <a:rPr sz="3200" b="1" dirty="0">
                <a:latin typeface="Calibri"/>
                <a:cs typeface="Calibri"/>
              </a:rPr>
              <a:t>of </a:t>
            </a:r>
            <a:r>
              <a:rPr sz="3200" b="1" spc="5" dirty="0">
                <a:latin typeface="Calibri"/>
                <a:cs typeface="Calibri"/>
              </a:rPr>
              <a:t> </a:t>
            </a:r>
            <a:r>
              <a:rPr sz="3200" b="1" dirty="0">
                <a:latin typeface="Calibri"/>
                <a:cs typeface="Calibri"/>
              </a:rPr>
              <a:t>people or </a:t>
            </a:r>
            <a:r>
              <a:rPr sz="3200" b="1" spc="5" dirty="0">
                <a:latin typeface="Calibri"/>
                <a:cs typeface="Calibri"/>
              </a:rPr>
              <a:t> </a:t>
            </a:r>
            <a:r>
              <a:rPr sz="3200" b="1" dirty="0">
                <a:latin typeface="Calibri"/>
                <a:cs typeface="Calibri"/>
              </a:rPr>
              <a:t>business </a:t>
            </a:r>
            <a:r>
              <a:rPr sz="3200" b="1" spc="-20" dirty="0">
                <a:latin typeface="Calibri"/>
                <a:cs typeface="Calibri"/>
              </a:rPr>
              <a:t>to </a:t>
            </a:r>
            <a:r>
              <a:rPr sz="3200" b="1" spc="-15" dirty="0">
                <a:latin typeface="Calibri"/>
                <a:cs typeface="Calibri"/>
              </a:rPr>
              <a:t> </a:t>
            </a:r>
            <a:r>
              <a:rPr sz="3200" b="1" spc="-5" dirty="0">
                <a:latin typeface="Calibri"/>
                <a:cs typeface="Calibri"/>
              </a:rPr>
              <a:t>achieve </a:t>
            </a:r>
            <a:r>
              <a:rPr sz="3200" b="1" dirty="0" smtClean="0">
                <a:latin typeface="Calibri"/>
                <a:cs typeface="Calibri"/>
              </a:rPr>
              <a:t> </a:t>
            </a:r>
            <a:r>
              <a:rPr sz="3200" b="1" dirty="0">
                <a:latin typeface="Calibri"/>
                <a:cs typeface="Calibri"/>
              </a:rPr>
              <a:t>an </a:t>
            </a:r>
            <a:r>
              <a:rPr sz="3200" b="1" spc="5" dirty="0">
                <a:latin typeface="Calibri"/>
                <a:cs typeface="Calibri"/>
              </a:rPr>
              <a:t> </a:t>
            </a:r>
            <a:r>
              <a:rPr sz="3200" b="1" spc="-5" dirty="0">
                <a:latin typeface="Calibri"/>
                <a:cs typeface="Calibri"/>
              </a:rPr>
              <a:t>economic </a:t>
            </a:r>
            <a:r>
              <a:rPr sz="3200" b="1" spc="-10" dirty="0">
                <a:latin typeface="Calibri"/>
                <a:cs typeface="Calibri"/>
              </a:rPr>
              <a:t>goal </a:t>
            </a:r>
            <a:r>
              <a:rPr sz="3200" b="1" spc="-5" dirty="0">
                <a:latin typeface="Calibri"/>
                <a:cs typeface="Calibri"/>
              </a:rPr>
              <a:t> with </a:t>
            </a:r>
            <a:r>
              <a:rPr sz="3200" b="1" dirty="0">
                <a:latin typeface="Calibri"/>
                <a:cs typeface="Calibri"/>
              </a:rPr>
              <a:t>a social </a:t>
            </a:r>
            <a:r>
              <a:rPr sz="3200" b="1" spc="5" dirty="0">
                <a:latin typeface="Calibri"/>
                <a:cs typeface="Calibri"/>
              </a:rPr>
              <a:t> </a:t>
            </a:r>
            <a:r>
              <a:rPr sz="3200" b="1" spc="-5" dirty="0">
                <a:latin typeface="Calibri"/>
                <a:cs typeface="Calibri"/>
              </a:rPr>
              <a:t>perspective</a:t>
            </a:r>
            <a:endParaRPr sz="3200" dirty="0">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477" y="186944"/>
            <a:ext cx="8458835" cy="696595"/>
          </a:xfrm>
          <a:prstGeom prst="rect">
            <a:avLst/>
          </a:prstGeom>
        </p:spPr>
        <p:txBody>
          <a:bodyPr vert="horz" wrap="square" lIns="0" tIns="12700" rIns="0" bIns="0" rtlCol="0">
            <a:spAutoFit/>
          </a:bodyPr>
          <a:lstStyle/>
          <a:p>
            <a:pPr marL="12700">
              <a:lnSpc>
                <a:spcPct val="100000"/>
              </a:lnSpc>
              <a:spcBef>
                <a:spcPts val="100"/>
              </a:spcBef>
            </a:pPr>
            <a:r>
              <a:rPr spc="-10" dirty="0"/>
              <a:t>CHARECTERISTICS</a:t>
            </a:r>
            <a:r>
              <a:rPr spc="-75" dirty="0"/>
              <a:t> </a:t>
            </a:r>
            <a:r>
              <a:rPr spc="-5" dirty="0"/>
              <a:t>OF</a:t>
            </a:r>
            <a:r>
              <a:rPr spc="-20" dirty="0"/>
              <a:t> </a:t>
            </a:r>
            <a:r>
              <a:rPr spc="-35" dirty="0"/>
              <a:t>CO-OPERATIVE</a:t>
            </a:r>
          </a:p>
        </p:txBody>
      </p:sp>
      <p:sp>
        <p:nvSpPr>
          <p:cNvPr id="3" name="object 3"/>
          <p:cNvSpPr txBox="1"/>
          <p:nvPr/>
        </p:nvSpPr>
        <p:spPr>
          <a:xfrm>
            <a:off x="916939" y="1510635"/>
            <a:ext cx="7305040" cy="4220845"/>
          </a:xfrm>
          <a:prstGeom prst="rect">
            <a:avLst/>
          </a:prstGeom>
        </p:spPr>
        <p:txBody>
          <a:bodyPr vert="horz" wrap="square" lIns="0" tIns="109855" rIns="0" bIns="0" rtlCol="0">
            <a:spAutoFit/>
          </a:bodyPr>
          <a:lstStyle/>
          <a:p>
            <a:pPr marL="355600" indent="-343535">
              <a:lnSpc>
                <a:spcPct val="100000"/>
              </a:lnSpc>
              <a:spcBef>
                <a:spcPts val="865"/>
              </a:spcBef>
              <a:buFont typeface="Arial MT"/>
              <a:buChar char="•"/>
              <a:tabLst>
                <a:tab pos="355600" algn="l"/>
                <a:tab pos="356235" algn="l"/>
              </a:tabLst>
            </a:pPr>
            <a:r>
              <a:rPr sz="3200" b="1" spc="-20" dirty="0">
                <a:latin typeface="Calibri"/>
                <a:cs typeface="Calibri"/>
              </a:rPr>
              <a:t>Voluntary</a:t>
            </a:r>
            <a:r>
              <a:rPr sz="3200" b="1" spc="-90" dirty="0">
                <a:latin typeface="Calibri"/>
                <a:cs typeface="Calibri"/>
              </a:rPr>
              <a:t> </a:t>
            </a:r>
            <a:r>
              <a:rPr sz="3200" b="1" dirty="0">
                <a:latin typeface="Calibri"/>
                <a:cs typeface="Calibri"/>
              </a:rPr>
              <a:t>association</a:t>
            </a:r>
            <a:endParaRPr sz="3200">
              <a:latin typeface="Calibri"/>
              <a:cs typeface="Calibri"/>
            </a:endParaRPr>
          </a:p>
          <a:p>
            <a:pPr marL="355600" marR="5080" indent="-343535">
              <a:lnSpc>
                <a:spcPct val="100000"/>
              </a:lnSpc>
              <a:spcBef>
                <a:spcPts val="770"/>
              </a:spcBef>
              <a:buFont typeface="Arial MT"/>
              <a:buChar char="•"/>
              <a:tabLst>
                <a:tab pos="355600" algn="l"/>
                <a:tab pos="356235" algn="l"/>
              </a:tabLst>
            </a:pPr>
            <a:r>
              <a:rPr sz="3200" b="1" spc="-5" dirty="0">
                <a:latin typeface="Calibri"/>
                <a:cs typeface="Calibri"/>
              </a:rPr>
              <a:t>Minimum membership </a:t>
            </a:r>
            <a:r>
              <a:rPr sz="3200" b="1" spc="-15" dirty="0">
                <a:latin typeface="Calibri"/>
                <a:cs typeface="Calibri"/>
              </a:rPr>
              <a:t>requirement </a:t>
            </a:r>
            <a:r>
              <a:rPr sz="3200" b="1" dirty="0">
                <a:latin typeface="Calibri"/>
                <a:cs typeface="Calibri"/>
              </a:rPr>
              <a:t>is 10 </a:t>
            </a:r>
            <a:r>
              <a:rPr sz="3200" b="1" spc="-710" dirty="0">
                <a:latin typeface="Calibri"/>
                <a:cs typeface="Calibri"/>
              </a:rPr>
              <a:t> </a:t>
            </a:r>
            <a:r>
              <a:rPr sz="3200" b="1" dirty="0">
                <a:latin typeface="Calibri"/>
                <a:cs typeface="Calibri"/>
              </a:rPr>
              <a:t>and</a:t>
            </a:r>
            <a:r>
              <a:rPr sz="3200" b="1" spc="-35" dirty="0">
                <a:latin typeface="Calibri"/>
                <a:cs typeface="Calibri"/>
              </a:rPr>
              <a:t> </a:t>
            </a:r>
            <a:r>
              <a:rPr sz="3200" b="1" spc="-5" dirty="0">
                <a:latin typeface="Calibri"/>
                <a:cs typeface="Calibri"/>
              </a:rPr>
              <a:t>there </a:t>
            </a:r>
            <a:r>
              <a:rPr sz="3200" b="1" dirty="0">
                <a:latin typeface="Calibri"/>
                <a:cs typeface="Calibri"/>
              </a:rPr>
              <a:t>is</a:t>
            </a:r>
            <a:r>
              <a:rPr sz="3200" b="1" spc="-5" dirty="0">
                <a:latin typeface="Calibri"/>
                <a:cs typeface="Calibri"/>
              </a:rPr>
              <a:t> </a:t>
            </a:r>
            <a:r>
              <a:rPr sz="3200" b="1" dirty="0">
                <a:latin typeface="Calibri"/>
                <a:cs typeface="Calibri"/>
              </a:rPr>
              <a:t>no </a:t>
            </a:r>
            <a:r>
              <a:rPr sz="3200" b="1" spc="-5" dirty="0">
                <a:latin typeface="Calibri"/>
                <a:cs typeface="Calibri"/>
              </a:rPr>
              <a:t>maximum</a:t>
            </a:r>
            <a:r>
              <a:rPr sz="3200" b="1" spc="-45" dirty="0">
                <a:latin typeface="Calibri"/>
                <a:cs typeface="Calibri"/>
              </a:rPr>
              <a:t> </a:t>
            </a:r>
            <a:r>
              <a:rPr sz="3200" b="1" dirty="0">
                <a:latin typeface="Calibri"/>
                <a:cs typeface="Calibri"/>
              </a:rPr>
              <a:t>limit</a:t>
            </a:r>
            <a:endParaRPr sz="3200">
              <a:latin typeface="Calibri"/>
              <a:cs typeface="Calibri"/>
            </a:endParaRPr>
          </a:p>
          <a:p>
            <a:pPr marL="355600" indent="-343535">
              <a:lnSpc>
                <a:spcPct val="100000"/>
              </a:lnSpc>
              <a:spcBef>
                <a:spcPts val="770"/>
              </a:spcBef>
              <a:buFont typeface="Arial MT"/>
              <a:buChar char="•"/>
              <a:tabLst>
                <a:tab pos="355600" algn="l"/>
                <a:tab pos="356235" algn="l"/>
              </a:tabLst>
            </a:pPr>
            <a:r>
              <a:rPr sz="3200" b="1" spc="-15" dirty="0">
                <a:latin typeface="Calibri"/>
                <a:cs typeface="Calibri"/>
              </a:rPr>
              <a:t>Registration</a:t>
            </a:r>
            <a:r>
              <a:rPr sz="3200" b="1" spc="-60" dirty="0">
                <a:latin typeface="Calibri"/>
                <a:cs typeface="Calibri"/>
              </a:rPr>
              <a:t> </a:t>
            </a:r>
            <a:r>
              <a:rPr sz="3200" b="1" dirty="0">
                <a:latin typeface="Calibri"/>
                <a:cs typeface="Calibri"/>
              </a:rPr>
              <a:t>of</a:t>
            </a:r>
            <a:r>
              <a:rPr sz="3200" b="1" spc="-5" dirty="0">
                <a:latin typeface="Calibri"/>
                <a:cs typeface="Calibri"/>
              </a:rPr>
              <a:t> </a:t>
            </a:r>
            <a:r>
              <a:rPr sz="3200" b="1" spc="-10" dirty="0">
                <a:latin typeface="Calibri"/>
                <a:cs typeface="Calibri"/>
              </a:rPr>
              <a:t>Co-operative</a:t>
            </a:r>
            <a:r>
              <a:rPr sz="3200" b="1" spc="-55" dirty="0">
                <a:latin typeface="Calibri"/>
                <a:cs typeface="Calibri"/>
              </a:rPr>
              <a:t> </a:t>
            </a:r>
            <a:r>
              <a:rPr sz="3200" b="1" dirty="0">
                <a:latin typeface="Calibri"/>
                <a:cs typeface="Calibri"/>
              </a:rPr>
              <a:t>is </a:t>
            </a:r>
            <a:r>
              <a:rPr sz="3200" b="1" spc="-10" dirty="0">
                <a:latin typeface="Calibri"/>
                <a:cs typeface="Calibri"/>
              </a:rPr>
              <a:t>must</a:t>
            </a:r>
            <a:endParaRPr sz="3200">
              <a:latin typeface="Calibri"/>
              <a:cs typeface="Calibri"/>
            </a:endParaRPr>
          </a:p>
          <a:p>
            <a:pPr marL="355600" marR="69215">
              <a:lnSpc>
                <a:spcPct val="100000"/>
              </a:lnSpc>
            </a:pPr>
            <a:r>
              <a:rPr sz="3200" b="1" dirty="0">
                <a:latin typeface="Calibri"/>
                <a:cs typeface="Calibri"/>
              </a:rPr>
              <a:t>under</a:t>
            </a:r>
            <a:r>
              <a:rPr sz="3200" b="1" spc="-35" dirty="0">
                <a:latin typeface="Calibri"/>
                <a:cs typeface="Calibri"/>
              </a:rPr>
              <a:t> </a:t>
            </a:r>
            <a:r>
              <a:rPr sz="3200" b="1" dirty="0">
                <a:latin typeface="Calibri"/>
                <a:cs typeface="Calibri"/>
              </a:rPr>
              <a:t>the</a:t>
            </a:r>
            <a:r>
              <a:rPr sz="3200" b="1" spc="-10" dirty="0">
                <a:latin typeface="Calibri"/>
                <a:cs typeface="Calibri"/>
              </a:rPr>
              <a:t> “Co-operative</a:t>
            </a:r>
            <a:r>
              <a:rPr sz="3200" b="1" spc="-55" dirty="0">
                <a:latin typeface="Calibri"/>
                <a:cs typeface="Calibri"/>
              </a:rPr>
              <a:t> </a:t>
            </a:r>
            <a:r>
              <a:rPr sz="3200" b="1" dirty="0">
                <a:latin typeface="Calibri"/>
                <a:cs typeface="Calibri"/>
              </a:rPr>
              <a:t>Societies</a:t>
            </a:r>
            <a:r>
              <a:rPr sz="3200" b="1" spc="-20" dirty="0">
                <a:latin typeface="Calibri"/>
                <a:cs typeface="Calibri"/>
              </a:rPr>
              <a:t> </a:t>
            </a:r>
            <a:r>
              <a:rPr sz="3200" b="1" spc="25" dirty="0">
                <a:latin typeface="Calibri"/>
                <a:cs typeface="Calibri"/>
              </a:rPr>
              <a:t>Act”</a:t>
            </a:r>
            <a:r>
              <a:rPr sz="3200" b="1" spc="-30" dirty="0">
                <a:latin typeface="Calibri"/>
                <a:cs typeface="Calibri"/>
              </a:rPr>
              <a:t> </a:t>
            </a:r>
            <a:r>
              <a:rPr sz="3200" b="1" dirty="0">
                <a:latin typeface="Calibri"/>
                <a:cs typeface="Calibri"/>
              </a:rPr>
              <a:t>is </a:t>
            </a:r>
            <a:r>
              <a:rPr sz="3200" b="1" spc="-710" dirty="0">
                <a:latin typeface="Calibri"/>
                <a:cs typeface="Calibri"/>
              </a:rPr>
              <a:t> </a:t>
            </a:r>
            <a:r>
              <a:rPr sz="3200" b="1" dirty="0">
                <a:latin typeface="Calibri"/>
                <a:cs typeface="Calibri"/>
              </a:rPr>
              <a:t>a </a:t>
            </a:r>
            <a:r>
              <a:rPr sz="3200" b="1" spc="-10" dirty="0">
                <a:latin typeface="Calibri"/>
                <a:cs typeface="Calibri"/>
              </a:rPr>
              <a:t>must. After </a:t>
            </a:r>
            <a:r>
              <a:rPr sz="3200" b="1" dirty="0">
                <a:latin typeface="Calibri"/>
                <a:cs typeface="Calibri"/>
              </a:rPr>
              <a:t>the </a:t>
            </a:r>
            <a:r>
              <a:rPr sz="3200" b="1" spc="-15" dirty="0">
                <a:latin typeface="Calibri"/>
                <a:cs typeface="Calibri"/>
              </a:rPr>
              <a:t>registration </a:t>
            </a:r>
            <a:r>
              <a:rPr sz="3200" b="1" dirty="0">
                <a:latin typeface="Calibri"/>
                <a:cs typeface="Calibri"/>
              </a:rPr>
              <a:t>it </a:t>
            </a:r>
            <a:r>
              <a:rPr sz="3200" b="1" spc="-15" dirty="0">
                <a:latin typeface="Calibri"/>
                <a:cs typeface="Calibri"/>
              </a:rPr>
              <a:t>enjoys </a:t>
            </a:r>
            <a:r>
              <a:rPr sz="3200" b="1" spc="-10" dirty="0">
                <a:latin typeface="Calibri"/>
                <a:cs typeface="Calibri"/>
              </a:rPr>
              <a:t> </a:t>
            </a:r>
            <a:r>
              <a:rPr sz="3200" b="1" spc="-5" dirty="0">
                <a:latin typeface="Calibri"/>
                <a:cs typeface="Calibri"/>
              </a:rPr>
              <a:t>certain privileges </a:t>
            </a:r>
            <a:r>
              <a:rPr sz="3200" b="1" dirty="0">
                <a:latin typeface="Calibri"/>
                <a:cs typeface="Calibri"/>
              </a:rPr>
              <a:t>of a </a:t>
            </a:r>
            <a:r>
              <a:rPr sz="3200" b="1" spc="-10" dirty="0">
                <a:latin typeface="Calibri"/>
                <a:cs typeface="Calibri"/>
              </a:rPr>
              <a:t>Joint </a:t>
            </a:r>
            <a:r>
              <a:rPr sz="3200" b="1" spc="-5" dirty="0">
                <a:latin typeface="Calibri"/>
                <a:cs typeface="Calibri"/>
              </a:rPr>
              <a:t>Stock </a:t>
            </a:r>
            <a:r>
              <a:rPr sz="3200" b="1" dirty="0">
                <a:latin typeface="Calibri"/>
                <a:cs typeface="Calibri"/>
              </a:rPr>
              <a:t> </a:t>
            </a:r>
            <a:r>
              <a:rPr sz="3200" b="1" spc="-10" dirty="0">
                <a:latin typeface="Calibri"/>
                <a:cs typeface="Calibri"/>
              </a:rPr>
              <a:t>Company</a:t>
            </a:r>
            <a:endParaRPr sz="32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2510" y="461594"/>
            <a:ext cx="7479030" cy="697230"/>
          </a:xfrm>
          <a:prstGeom prst="rect">
            <a:avLst/>
          </a:prstGeom>
        </p:spPr>
        <p:txBody>
          <a:bodyPr vert="horz" wrap="square" lIns="0" tIns="13335" rIns="0" bIns="0" rtlCol="0">
            <a:spAutoFit/>
          </a:bodyPr>
          <a:lstStyle/>
          <a:p>
            <a:pPr marL="12700">
              <a:lnSpc>
                <a:spcPct val="100000"/>
              </a:lnSpc>
              <a:spcBef>
                <a:spcPts val="105"/>
              </a:spcBef>
            </a:pPr>
            <a:r>
              <a:rPr spc="-75" dirty="0"/>
              <a:t>ADVANTAGES</a:t>
            </a:r>
            <a:r>
              <a:rPr spc="-90" dirty="0"/>
              <a:t> </a:t>
            </a:r>
            <a:r>
              <a:rPr dirty="0"/>
              <a:t>OF</a:t>
            </a:r>
            <a:r>
              <a:rPr spc="-40" dirty="0"/>
              <a:t> </a:t>
            </a:r>
            <a:r>
              <a:rPr spc="-35" dirty="0"/>
              <a:t>CO-OPERATIVE</a:t>
            </a:r>
          </a:p>
        </p:txBody>
      </p:sp>
      <p:sp>
        <p:nvSpPr>
          <p:cNvPr id="3" name="object 3"/>
          <p:cNvSpPr txBox="1"/>
          <p:nvPr/>
        </p:nvSpPr>
        <p:spPr>
          <a:xfrm>
            <a:off x="78739" y="1189608"/>
            <a:ext cx="3425190" cy="3867150"/>
          </a:xfrm>
          <a:prstGeom prst="rect">
            <a:avLst/>
          </a:prstGeom>
        </p:spPr>
        <p:txBody>
          <a:bodyPr vert="horz" wrap="square" lIns="0" tIns="122555" rIns="0" bIns="0" rtlCol="0">
            <a:spAutoFit/>
          </a:bodyPr>
          <a:lstStyle/>
          <a:p>
            <a:pPr marL="355600" indent="-342900">
              <a:lnSpc>
                <a:spcPct val="100000"/>
              </a:lnSpc>
              <a:spcBef>
                <a:spcPts val="965"/>
              </a:spcBef>
              <a:buFont typeface="Arial MT"/>
              <a:buChar char="•"/>
              <a:tabLst>
                <a:tab pos="355600" algn="l"/>
              </a:tabLst>
            </a:pPr>
            <a:r>
              <a:rPr sz="3600" b="1" spc="-30" dirty="0">
                <a:latin typeface="Calibri"/>
                <a:cs typeface="Calibri"/>
              </a:rPr>
              <a:t>Easy</a:t>
            </a:r>
            <a:r>
              <a:rPr sz="3600" b="1" spc="-60" dirty="0">
                <a:latin typeface="Calibri"/>
                <a:cs typeface="Calibri"/>
              </a:rPr>
              <a:t> </a:t>
            </a:r>
            <a:r>
              <a:rPr sz="3600" b="1" spc="-10" dirty="0">
                <a:latin typeface="Calibri"/>
                <a:cs typeface="Calibri"/>
              </a:rPr>
              <a:t>Formation</a:t>
            </a:r>
            <a:endParaRPr sz="3600">
              <a:latin typeface="Calibri"/>
              <a:cs typeface="Calibri"/>
            </a:endParaRPr>
          </a:p>
          <a:p>
            <a:pPr marL="355600" indent="-342900">
              <a:lnSpc>
                <a:spcPct val="100000"/>
              </a:lnSpc>
              <a:spcBef>
                <a:spcPts val="865"/>
              </a:spcBef>
              <a:buFont typeface="Arial MT"/>
              <a:buChar char="•"/>
              <a:tabLst>
                <a:tab pos="355600" algn="l"/>
              </a:tabLst>
            </a:pPr>
            <a:r>
              <a:rPr sz="3600" b="1" spc="-10" dirty="0">
                <a:latin typeface="Calibri"/>
                <a:cs typeface="Calibri"/>
              </a:rPr>
              <a:t>Limited</a:t>
            </a:r>
            <a:r>
              <a:rPr sz="3600" b="1" spc="-60" dirty="0">
                <a:latin typeface="Calibri"/>
                <a:cs typeface="Calibri"/>
              </a:rPr>
              <a:t> </a:t>
            </a:r>
            <a:r>
              <a:rPr sz="3600" b="1" dirty="0">
                <a:latin typeface="Calibri"/>
                <a:cs typeface="Calibri"/>
              </a:rPr>
              <a:t>Liability</a:t>
            </a:r>
            <a:endParaRPr sz="3600">
              <a:latin typeface="Calibri"/>
              <a:cs typeface="Calibri"/>
            </a:endParaRPr>
          </a:p>
          <a:p>
            <a:pPr marL="355600" indent="-342900">
              <a:lnSpc>
                <a:spcPct val="100000"/>
              </a:lnSpc>
              <a:spcBef>
                <a:spcPts val="865"/>
              </a:spcBef>
              <a:buFont typeface="Arial MT"/>
              <a:buChar char="•"/>
              <a:tabLst>
                <a:tab pos="355600" algn="l"/>
              </a:tabLst>
            </a:pPr>
            <a:r>
              <a:rPr sz="3600" b="1" spc="-5" dirty="0">
                <a:latin typeface="Calibri"/>
                <a:cs typeface="Calibri"/>
              </a:rPr>
              <a:t>Stability</a:t>
            </a:r>
            <a:endParaRPr sz="3600">
              <a:latin typeface="Calibri"/>
              <a:cs typeface="Calibri"/>
            </a:endParaRPr>
          </a:p>
          <a:p>
            <a:pPr marL="355600" marR="523240" indent="-342900">
              <a:lnSpc>
                <a:spcPct val="100000"/>
              </a:lnSpc>
              <a:spcBef>
                <a:spcPts val="865"/>
              </a:spcBef>
              <a:buFont typeface="Arial MT"/>
              <a:buChar char="•"/>
              <a:tabLst>
                <a:tab pos="355600" algn="l"/>
              </a:tabLst>
            </a:pPr>
            <a:r>
              <a:rPr sz="3600" b="1" spc="-15" dirty="0">
                <a:latin typeface="Calibri"/>
                <a:cs typeface="Calibri"/>
              </a:rPr>
              <a:t>Democratic </a:t>
            </a:r>
            <a:r>
              <a:rPr sz="3600" b="1" spc="-10" dirty="0">
                <a:latin typeface="Calibri"/>
                <a:cs typeface="Calibri"/>
              </a:rPr>
              <a:t> </a:t>
            </a:r>
            <a:r>
              <a:rPr sz="3600" b="1" spc="-5" dirty="0">
                <a:latin typeface="Calibri"/>
                <a:cs typeface="Calibri"/>
              </a:rPr>
              <a:t>Mana</a:t>
            </a:r>
            <a:r>
              <a:rPr sz="3600" b="1" spc="-50" dirty="0">
                <a:latin typeface="Calibri"/>
                <a:cs typeface="Calibri"/>
              </a:rPr>
              <a:t>g</a:t>
            </a:r>
            <a:r>
              <a:rPr sz="3600" b="1" spc="-5" dirty="0">
                <a:latin typeface="Calibri"/>
                <a:cs typeface="Calibri"/>
              </a:rPr>
              <a:t>eme</a:t>
            </a:r>
            <a:r>
              <a:rPr sz="3600" b="1" spc="-35" dirty="0">
                <a:latin typeface="Calibri"/>
                <a:cs typeface="Calibri"/>
              </a:rPr>
              <a:t>n</a:t>
            </a:r>
            <a:r>
              <a:rPr sz="3600" b="1" dirty="0">
                <a:latin typeface="Calibri"/>
                <a:cs typeface="Calibri"/>
              </a:rPr>
              <a:t>t</a:t>
            </a:r>
            <a:endParaRPr sz="3600">
              <a:latin typeface="Calibri"/>
              <a:cs typeface="Calibri"/>
            </a:endParaRPr>
          </a:p>
          <a:p>
            <a:pPr marL="355600" indent="-342900">
              <a:lnSpc>
                <a:spcPct val="100000"/>
              </a:lnSpc>
              <a:spcBef>
                <a:spcPts val="865"/>
              </a:spcBef>
              <a:buFont typeface="Arial MT"/>
              <a:buChar char="•"/>
              <a:tabLst>
                <a:tab pos="355600" algn="l"/>
              </a:tabLst>
            </a:pPr>
            <a:r>
              <a:rPr sz="3600" b="1" spc="-25" dirty="0">
                <a:latin typeface="Calibri"/>
                <a:cs typeface="Calibri"/>
              </a:rPr>
              <a:t>State</a:t>
            </a:r>
            <a:r>
              <a:rPr sz="3600" b="1" spc="-65" dirty="0">
                <a:latin typeface="Calibri"/>
                <a:cs typeface="Calibri"/>
              </a:rPr>
              <a:t> </a:t>
            </a:r>
            <a:r>
              <a:rPr sz="3600" b="1" spc="-10" dirty="0">
                <a:latin typeface="Calibri"/>
                <a:cs typeface="Calibri"/>
              </a:rPr>
              <a:t>Assistance</a:t>
            </a:r>
            <a:endParaRPr sz="3600">
              <a:latin typeface="Calibri"/>
              <a:cs typeface="Calibri"/>
            </a:endParaRPr>
          </a:p>
        </p:txBody>
      </p:sp>
      <p:pic>
        <p:nvPicPr>
          <p:cNvPr id="4" name="object 4"/>
          <p:cNvPicPr/>
          <p:nvPr/>
        </p:nvPicPr>
        <p:blipFill>
          <a:blip r:embed="rId2" cstate="print"/>
          <a:stretch>
            <a:fillRect/>
          </a:stretch>
        </p:blipFill>
        <p:spPr>
          <a:xfrm>
            <a:off x="4572000" y="1524000"/>
            <a:ext cx="4114800" cy="41148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86200" y="1743334"/>
            <a:ext cx="5257799" cy="5047866"/>
          </a:xfrm>
          <a:prstGeom prst="rect">
            <a:avLst/>
          </a:prstGeom>
        </p:spPr>
      </p:pic>
      <p:sp>
        <p:nvSpPr>
          <p:cNvPr id="3" name="object 3"/>
          <p:cNvSpPr txBox="1">
            <a:spLocks noGrp="1"/>
          </p:cNvSpPr>
          <p:nvPr>
            <p:ph type="title"/>
          </p:nvPr>
        </p:nvSpPr>
        <p:spPr>
          <a:xfrm>
            <a:off x="219557" y="461594"/>
            <a:ext cx="8703310" cy="697230"/>
          </a:xfrm>
          <a:prstGeom prst="rect">
            <a:avLst/>
          </a:prstGeom>
        </p:spPr>
        <p:txBody>
          <a:bodyPr vert="horz" wrap="square" lIns="0" tIns="13335" rIns="0" bIns="0" rtlCol="0">
            <a:spAutoFit/>
          </a:bodyPr>
          <a:lstStyle/>
          <a:p>
            <a:pPr marL="12700">
              <a:lnSpc>
                <a:spcPct val="100000"/>
              </a:lnSpc>
              <a:spcBef>
                <a:spcPts val="105"/>
              </a:spcBef>
            </a:pPr>
            <a:r>
              <a:rPr spc="-65" dirty="0"/>
              <a:t>DISADVANTAGES</a:t>
            </a:r>
            <a:r>
              <a:rPr spc="-60" dirty="0"/>
              <a:t> </a:t>
            </a:r>
            <a:r>
              <a:rPr dirty="0"/>
              <a:t>OF</a:t>
            </a:r>
            <a:r>
              <a:rPr spc="-20" dirty="0"/>
              <a:t> </a:t>
            </a:r>
            <a:r>
              <a:rPr dirty="0"/>
              <a:t>A</a:t>
            </a:r>
            <a:r>
              <a:rPr spc="-20" dirty="0"/>
              <a:t> </a:t>
            </a:r>
            <a:r>
              <a:rPr spc="-35" dirty="0"/>
              <a:t>CO-OPERATIVE</a:t>
            </a:r>
          </a:p>
        </p:txBody>
      </p:sp>
      <p:sp>
        <p:nvSpPr>
          <p:cNvPr id="4" name="object 4"/>
          <p:cNvSpPr txBox="1"/>
          <p:nvPr/>
        </p:nvSpPr>
        <p:spPr>
          <a:xfrm>
            <a:off x="78739" y="1604517"/>
            <a:ext cx="3974465" cy="2988945"/>
          </a:xfrm>
          <a:prstGeom prst="rect">
            <a:avLst/>
          </a:prstGeom>
        </p:spPr>
        <p:txBody>
          <a:bodyPr vert="horz" wrap="square" lIns="0" tIns="12700" rIns="0" bIns="0" rtlCol="0">
            <a:spAutoFit/>
          </a:bodyPr>
          <a:lstStyle/>
          <a:p>
            <a:pPr marL="355600" marR="1197610" indent="-342900">
              <a:lnSpc>
                <a:spcPct val="100000"/>
              </a:lnSpc>
              <a:spcBef>
                <a:spcPts val="100"/>
              </a:spcBef>
              <a:buFont typeface="Arial MT"/>
              <a:buChar char="•"/>
              <a:tabLst>
                <a:tab pos="355600" algn="l"/>
              </a:tabLst>
            </a:pPr>
            <a:r>
              <a:rPr sz="3600" b="1" spc="-5" dirty="0">
                <a:latin typeface="Calibri"/>
                <a:cs typeface="Calibri"/>
              </a:rPr>
              <a:t>Possibility</a:t>
            </a:r>
            <a:r>
              <a:rPr sz="3600" b="1" spc="-110" dirty="0">
                <a:latin typeface="Calibri"/>
                <a:cs typeface="Calibri"/>
              </a:rPr>
              <a:t> </a:t>
            </a:r>
            <a:r>
              <a:rPr sz="3600" b="1" dirty="0">
                <a:latin typeface="Calibri"/>
                <a:cs typeface="Calibri"/>
              </a:rPr>
              <a:t>of </a:t>
            </a:r>
            <a:r>
              <a:rPr sz="3600" b="1" spc="-800" dirty="0">
                <a:latin typeface="Calibri"/>
                <a:cs typeface="Calibri"/>
              </a:rPr>
              <a:t> </a:t>
            </a:r>
            <a:r>
              <a:rPr sz="3600" b="1" spc="-10" dirty="0">
                <a:latin typeface="Calibri"/>
                <a:cs typeface="Calibri"/>
              </a:rPr>
              <a:t>conflict</a:t>
            </a:r>
            <a:endParaRPr sz="3600">
              <a:latin typeface="Calibri"/>
              <a:cs typeface="Calibri"/>
            </a:endParaRPr>
          </a:p>
          <a:p>
            <a:pPr marL="355600" marR="683895" indent="-342900">
              <a:lnSpc>
                <a:spcPct val="100000"/>
              </a:lnSpc>
              <a:spcBef>
                <a:spcPts val="865"/>
              </a:spcBef>
              <a:buFont typeface="Arial MT"/>
              <a:buChar char="•"/>
              <a:tabLst>
                <a:tab pos="355600" algn="l"/>
              </a:tabLst>
            </a:pPr>
            <a:r>
              <a:rPr sz="3600" b="1" dirty="0">
                <a:latin typeface="Calibri"/>
                <a:cs typeface="Calibri"/>
              </a:rPr>
              <a:t>Long decision </a:t>
            </a:r>
            <a:r>
              <a:rPr sz="3600" b="1" spc="5" dirty="0">
                <a:latin typeface="Calibri"/>
                <a:cs typeface="Calibri"/>
              </a:rPr>
              <a:t> </a:t>
            </a:r>
            <a:r>
              <a:rPr sz="3600" b="1" spc="-5" dirty="0">
                <a:latin typeface="Calibri"/>
                <a:cs typeface="Calibri"/>
              </a:rPr>
              <a:t>making</a:t>
            </a:r>
            <a:r>
              <a:rPr sz="3600" b="1" spc="-85" dirty="0">
                <a:latin typeface="Calibri"/>
                <a:cs typeface="Calibri"/>
              </a:rPr>
              <a:t> </a:t>
            </a:r>
            <a:r>
              <a:rPr sz="3600" b="1" spc="-10" dirty="0">
                <a:latin typeface="Calibri"/>
                <a:cs typeface="Calibri"/>
              </a:rPr>
              <a:t>process</a:t>
            </a:r>
            <a:endParaRPr sz="3600">
              <a:latin typeface="Calibri"/>
              <a:cs typeface="Calibri"/>
            </a:endParaRPr>
          </a:p>
          <a:p>
            <a:pPr marL="355600" indent="-342900">
              <a:lnSpc>
                <a:spcPct val="100000"/>
              </a:lnSpc>
              <a:spcBef>
                <a:spcPts val="865"/>
              </a:spcBef>
              <a:buFont typeface="Arial MT"/>
              <a:buChar char="•"/>
              <a:tabLst>
                <a:tab pos="355600" algn="l"/>
              </a:tabLst>
            </a:pPr>
            <a:r>
              <a:rPr sz="3600" b="1" dirty="0">
                <a:latin typeface="Calibri"/>
                <a:cs typeface="Calibri"/>
              </a:rPr>
              <a:t>Not</a:t>
            </a:r>
            <a:r>
              <a:rPr sz="3600" b="1" spc="-50" dirty="0">
                <a:latin typeface="Calibri"/>
                <a:cs typeface="Calibri"/>
              </a:rPr>
              <a:t> </a:t>
            </a:r>
            <a:r>
              <a:rPr sz="3600" b="1" spc="-5" dirty="0">
                <a:latin typeface="Calibri"/>
                <a:cs typeface="Calibri"/>
              </a:rPr>
              <a:t>enough</a:t>
            </a:r>
            <a:r>
              <a:rPr sz="3600" b="1" spc="-20" dirty="0">
                <a:latin typeface="Calibri"/>
                <a:cs typeface="Calibri"/>
              </a:rPr>
              <a:t> </a:t>
            </a:r>
            <a:r>
              <a:rPr sz="3600" b="1" spc="-10" dirty="0">
                <a:latin typeface="Calibri"/>
                <a:cs typeface="Calibri"/>
              </a:rPr>
              <a:t>capital</a:t>
            </a:r>
            <a:endParaRPr sz="3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4">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otalTime>355</TotalTime>
  <Words>2683</Words>
  <Application>Microsoft Office PowerPoint</Application>
  <PresentationFormat>On-screen Show (4:3)</PresentationFormat>
  <Paragraphs>273</Paragraphs>
  <Slides>64</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64</vt:i4>
      </vt:variant>
    </vt:vector>
  </HeadingPairs>
  <TitlesOfParts>
    <vt:vector size="75" baseType="lpstr">
      <vt:lpstr>Arial</vt:lpstr>
      <vt:lpstr>Arial MT</vt:lpstr>
      <vt:lpstr>Arial Rounded MT Bold</vt:lpstr>
      <vt:lpstr>Calibri</vt:lpstr>
      <vt:lpstr>Times New Roman</vt:lpstr>
      <vt:lpstr>Trebuchet MS</vt:lpstr>
      <vt:lpstr>Verdana</vt:lpstr>
      <vt:lpstr>Wingdings</vt:lpstr>
      <vt:lpstr>Wingdings 3</vt:lpstr>
      <vt:lpstr>Office Theme</vt:lpstr>
      <vt:lpstr>Facet</vt:lpstr>
      <vt:lpstr>Managing and Growing New Venture  </vt:lpstr>
      <vt:lpstr>Roadmap</vt:lpstr>
      <vt:lpstr>Launching An Entrepreneurial Venture   </vt:lpstr>
      <vt:lpstr>Early management Decisions</vt:lpstr>
      <vt:lpstr>Early management decisions</vt:lpstr>
      <vt:lpstr>Sources of Funding for the New Venture</vt:lpstr>
      <vt:lpstr>Own Finance</vt:lpstr>
      <vt:lpstr>PowerPoint Presentation</vt:lpstr>
      <vt:lpstr>PowerPoint Presentation</vt:lpstr>
      <vt:lpstr>PowerPoint Presentation</vt:lpstr>
      <vt:lpstr>Angel Investors in India Example </vt:lpstr>
      <vt:lpstr>PowerPoint Presentation</vt:lpstr>
      <vt:lpstr>PowerPoint Presentation</vt:lpstr>
      <vt:lpstr>Venture capital</vt:lpstr>
      <vt:lpstr>Intel capital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Venture Capital firms</vt:lpstr>
      <vt:lpstr>Types of Venture Capital firms</vt:lpstr>
      <vt:lpstr>Sources of Funding for the New Venture</vt:lpstr>
      <vt:lpstr>Initial Public Offering (IPO</vt:lpstr>
      <vt:lpstr>IPO Process </vt:lpstr>
      <vt:lpstr>IPO Process</vt:lpstr>
      <vt:lpstr>IPO Process</vt:lpstr>
      <vt:lpstr>IPO Process</vt:lpstr>
      <vt:lpstr>IPO Process</vt:lpstr>
      <vt:lpstr>Leasing</vt:lpstr>
      <vt:lpstr>Leasing</vt:lpstr>
      <vt:lpstr>PowerPoint Presentation</vt:lpstr>
      <vt:lpstr>Leasing</vt:lpstr>
      <vt:lpstr>WHAT IS A BUSINESS ORGANISATION?</vt:lpstr>
      <vt:lpstr>Types Of Business  Organisations</vt:lpstr>
      <vt:lpstr>Choosing a Form of Business Organisation</vt:lpstr>
      <vt:lpstr>PowerPoint Presentation</vt:lpstr>
      <vt:lpstr>Sole Proprietorship</vt:lpstr>
      <vt:lpstr>Characteristics</vt:lpstr>
      <vt:lpstr>Advantages  Of Sole  Proprietorship</vt:lpstr>
      <vt:lpstr>Disadvantages Of Sole  Proprietorship</vt:lpstr>
      <vt:lpstr>JOINT HINDU FAMILY BUSINESS</vt:lpstr>
      <vt:lpstr>PowerPoint Presentation</vt:lpstr>
      <vt:lpstr>ADVANTAGES OF HUFs</vt:lpstr>
      <vt:lpstr>DISADVANTAGES OF HUFs</vt:lpstr>
      <vt:lpstr>PowerPoint Presentation</vt:lpstr>
      <vt:lpstr>CHARACTERISITCS OF PARTNERSHIP</vt:lpstr>
      <vt:lpstr>ADVANTAGES OF PARTNERSHIP</vt:lpstr>
      <vt:lpstr>DISADVANTAGES OF PARTNERSHIPS</vt:lpstr>
      <vt:lpstr>JOINT STOCK COMPANY A joint stock company is a voluntary  association of people who contribute  money to carry on business</vt:lpstr>
      <vt:lpstr>CHARACTERISTICS OF A CORPORATION</vt:lpstr>
      <vt:lpstr>ADVANTAGES OF A CORPORATION</vt:lpstr>
      <vt:lpstr>DISADVANTAGES OF A CORPORATION</vt:lpstr>
      <vt:lpstr>TWO TYPES OF CORPORATIONS</vt:lpstr>
      <vt:lpstr>PowerPoint Presentation</vt:lpstr>
      <vt:lpstr>CO-OPERATIVE SOCIETY</vt:lpstr>
      <vt:lpstr>CHARECTERISTICS OF CO-OPERATIVE</vt:lpstr>
      <vt:lpstr>ADVANTAGES OF CO-OPERATIVE</vt:lpstr>
      <vt:lpstr>DISADVANTAGES OF A CO-OPERATIVE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dc:title>
  <dc:creator>Lenovo</dc:creator>
  <cp:lastModifiedBy>Sudarshan Kajmani</cp:lastModifiedBy>
  <cp:revision>58</cp:revision>
  <dcterms:created xsi:type="dcterms:W3CDTF">2023-03-27T17:06:46Z</dcterms:created>
  <dcterms:modified xsi:type="dcterms:W3CDTF">2026-06-02T12:58:05Z</dcterms:modified>
</cp:coreProperties>
</file>