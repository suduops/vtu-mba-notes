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theme/themeOverride1.xml" ContentType="application/vnd.openxmlformats-officedocument.themeOverr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Default Extension="jpeg" ContentType="image/jpeg"/>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684" r:id="rId2"/>
  </p:sldMasterIdLst>
  <p:notesMasterIdLst>
    <p:notesMasterId r:id="rId49"/>
  </p:notesMasterIdLst>
  <p:sldIdLst>
    <p:sldId id="256" r:id="rId3"/>
    <p:sldId id="322" r:id="rId4"/>
    <p:sldId id="296" r:id="rId5"/>
    <p:sldId id="325" r:id="rId6"/>
    <p:sldId id="321" r:id="rId7"/>
    <p:sldId id="383" r:id="rId8"/>
    <p:sldId id="371" r:id="rId9"/>
    <p:sldId id="307" r:id="rId10"/>
    <p:sldId id="316" r:id="rId11"/>
    <p:sldId id="317" r:id="rId12"/>
    <p:sldId id="318" r:id="rId13"/>
    <p:sldId id="319" r:id="rId14"/>
    <p:sldId id="311" r:id="rId15"/>
    <p:sldId id="329" r:id="rId16"/>
    <p:sldId id="330" r:id="rId17"/>
    <p:sldId id="331" r:id="rId18"/>
    <p:sldId id="399" r:id="rId19"/>
    <p:sldId id="398" r:id="rId20"/>
    <p:sldId id="400" r:id="rId21"/>
    <p:sldId id="308" r:id="rId22"/>
    <p:sldId id="320" r:id="rId23"/>
    <p:sldId id="312" r:id="rId24"/>
    <p:sldId id="313" r:id="rId25"/>
    <p:sldId id="314" r:id="rId26"/>
    <p:sldId id="315" r:id="rId27"/>
    <p:sldId id="370" r:id="rId28"/>
    <p:sldId id="382" r:id="rId29"/>
    <p:sldId id="381" r:id="rId30"/>
    <p:sldId id="326" r:id="rId31"/>
    <p:sldId id="359" r:id="rId32"/>
    <p:sldId id="360" r:id="rId33"/>
    <p:sldId id="362" r:id="rId34"/>
    <p:sldId id="363" r:id="rId35"/>
    <p:sldId id="364" r:id="rId36"/>
    <p:sldId id="365" r:id="rId37"/>
    <p:sldId id="376" r:id="rId38"/>
    <p:sldId id="377" r:id="rId39"/>
    <p:sldId id="378" r:id="rId40"/>
    <p:sldId id="379" r:id="rId41"/>
    <p:sldId id="392" r:id="rId42"/>
    <p:sldId id="393" r:id="rId43"/>
    <p:sldId id="394" r:id="rId44"/>
    <p:sldId id="395" r:id="rId45"/>
    <p:sldId id="396" r:id="rId46"/>
    <p:sldId id="397" r:id="rId47"/>
    <p:sldId id="402"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0B0BC5"/>
    <a:srgbClr val="008080"/>
    <a:srgbClr val="AB2A15"/>
    <a:srgbClr val="FF9900"/>
    <a:srgbClr val="FFCC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1429" autoAdjust="0"/>
    <p:restoredTop sz="94982" autoAdjust="0"/>
  </p:normalViewPr>
  <p:slideViewPr>
    <p:cSldViewPr>
      <p:cViewPr varScale="1">
        <p:scale>
          <a:sx n="109" d="100"/>
          <a:sy n="109" d="100"/>
        </p:scale>
        <p:origin x="-1884" y="-90"/>
      </p:cViewPr>
      <p:guideLst>
        <p:guide orient="horz" pos="2160"/>
        <p:guide pos="2880"/>
      </p:guideLst>
    </p:cSldViewPr>
  </p:slideViewPr>
  <p:notesTextViewPr>
    <p:cViewPr>
      <p:scale>
        <a:sx n="1" d="1"/>
        <a:sy n="1" d="1"/>
      </p:scale>
      <p:origin x="0" y="0"/>
    </p:cViewPr>
  </p:notesTextViewPr>
  <p:sorterViewPr>
    <p:cViewPr>
      <p:scale>
        <a:sx n="57" d="100"/>
        <a:sy n="57" d="100"/>
      </p:scale>
      <p:origin x="0" y="-1260"/>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A3419F5-8703-4B2A-986A-F5822FC9DC0F}" type="datetimeFigureOut">
              <a:rPr lang="en-US" smtClean="0"/>
              <a:pPr/>
              <a:t>5/4/2026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99CBDF6-770F-4707-9A77-F04DF799708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 xmlns:a16="http://schemas.microsoft.com/office/drawing/2014/main" id="{249F45EA-96E7-8095-EB9C-D73250A8B14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40963" name="Notes Placeholder 2">
            <a:extLst>
              <a:ext uri="{FF2B5EF4-FFF2-40B4-BE49-F238E27FC236}">
                <a16:creationId xmlns="" xmlns:a16="http://schemas.microsoft.com/office/drawing/2014/main" id="{7636DAE9-0973-2C89-168C-E87EA6243C95}"/>
              </a:ext>
            </a:extLst>
          </p:cNvPr>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 xmlns:a16="http://schemas.microsoft.com/office/drawing/2014/main" id="{12E15933-990C-A23F-6CE7-003ADAFD726E}"/>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7BFFF4C-A6C1-4FFA-84A1-8FD85B00697D}" type="slidenum">
              <a:rPr lang="en-US" altLang="en-US">
                <a:latin typeface="Calibri" panose="020F0502020204030204" pitchFamily="34" charset="0"/>
              </a:rPr>
              <a:pPr eaLnBrk="1" hangingPunct="1"/>
              <a:t>7</a:t>
            </a:fld>
            <a:endParaRPr lang="en-US" altLang="en-US">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a:extLst>
              <a:ext uri="{FF2B5EF4-FFF2-40B4-BE49-F238E27FC236}">
                <a16:creationId xmlns="" xmlns:a16="http://schemas.microsoft.com/office/drawing/2014/main" id="{F9F32FB7-D987-38E2-8224-EC6BDA0B535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44035" name="Notes Placeholder 2">
            <a:extLst>
              <a:ext uri="{FF2B5EF4-FFF2-40B4-BE49-F238E27FC236}">
                <a16:creationId xmlns="" xmlns:a16="http://schemas.microsoft.com/office/drawing/2014/main" id="{199D6F18-1ED1-2270-50DD-48A2988C00CC}"/>
              </a:ext>
            </a:extLst>
          </p:cNvPr>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 xmlns:a16="http://schemas.microsoft.com/office/drawing/2014/main" id="{839AEFDC-1BCB-3F1E-B61D-559134D434F0}"/>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BB8F0D5-8B09-40BB-908F-4E06B712CFEA}" type="slidenum">
              <a:rPr lang="en-US" altLang="en-US">
                <a:latin typeface="Calibri" panose="020F0502020204030204" pitchFamily="34" charset="0"/>
              </a:rPr>
              <a:pPr eaLnBrk="1" hangingPunct="1"/>
              <a:t>14</a:t>
            </a:fld>
            <a:endParaRPr lang="en-US" altLang="en-US">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a:extLst>
              <a:ext uri="{FF2B5EF4-FFF2-40B4-BE49-F238E27FC236}">
                <a16:creationId xmlns="" xmlns:a16="http://schemas.microsoft.com/office/drawing/2014/main" id="{1D25FE35-FA7C-7E65-268C-ED2F67B7C6B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41987" name="Notes Placeholder 2">
            <a:extLst>
              <a:ext uri="{FF2B5EF4-FFF2-40B4-BE49-F238E27FC236}">
                <a16:creationId xmlns="" xmlns:a16="http://schemas.microsoft.com/office/drawing/2014/main" id="{421E16E9-088D-DBFD-8D89-FFF240ADF045}"/>
              </a:ext>
            </a:extLst>
          </p:cNvPr>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 xmlns:a16="http://schemas.microsoft.com/office/drawing/2014/main" id="{2B5409CC-DC92-4F0A-3F50-308FB955F4A3}"/>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78C0013-ED3E-4697-8F6F-DBD909AA70B0}" type="slidenum">
              <a:rPr lang="en-US" altLang="en-US">
                <a:latin typeface="Calibri" panose="020F0502020204030204" pitchFamily="34" charset="0"/>
              </a:rPr>
              <a:pPr eaLnBrk="1" hangingPunct="1"/>
              <a:t>26</a:t>
            </a:fld>
            <a:endParaRPr lang="en-US" altLang="en-US">
              <a:latin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 xmlns:a16="http://schemas.microsoft.com/office/drawing/2014/main" id="{710D8B35-F276-02C2-B2DE-BF3DFE0E555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43011" name="Notes Placeholder 2">
            <a:extLst>
              <a:ext uri="{FF2B5EF4-FFF2-40B4-BE49-F238E27FC236}">
                <a16:creationId xmlns="" xmlns:a16="http://schemas.microsoft.com/office/drawing/2014/main" id="{3804EF06-EF3D-AE5D-3FF7-02888CA254B6}"/>
              </a:ext>
            </a:extLst>
          </p:cNvPr>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 xmlns:a16="http://schemas.microsoft.com/office/drawing/2014/main" id="{992F05A6-EE49-91BB-19EB-D8D54E5E3C41}"/>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9625BA8-DF67-4F2E-B917-5CA8952A697A}" type="slidenum">
              <a:rPr lang="en-US" altLang="en-US">
                <a:latin typeface="Calibri" panose="020F0502020204030204" pitchFamily="34" charset="0"/>
              </a:rPr>
              <a:pPr eaLnBrk="1" hangingPunct="1"/>
              <a:t>29</a:t>
            </a:fld>
            <a:endParaRPr lang="en-US" altLang="en-US">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D17CF57-BFCC-464A-BA48-BFE830374819}" type="datetime1">
              <a:rPr lang="en-US" smtClean="0"/>
              <a:pPr/>
              <a:t>5/4/2026</a:t>
            </a:fld>
            <a:endParaRPr lang="en-US"/>
          </a:p>
        </p:txBody>
      </p:sp>
      <p:sp>
        <p:nvSpPr>
          <p:cNvPr id="8" name="Slide Number Placeholder 7"/>
          <p:cNvSpPr>
            <a:spLocks noGrp="1"/>
          </p:cNvSpPr>
          <p:nvPr>
            <p:ph type="sldNum" sz="quarter" idx="11"/>
          </p:nvPr>
        </p:nvSpPr>
        <p:spPr/>
        <p:txBody>
          <a:bodyPr/>
          <a:lstStyle/>
          <a:p>
            <a:fld id="{E566A64D-537C-4258-BCDA-D6FBF77857E8}" type="slidenum">
              <a:rPr lang="en-US" smtClean="0"/>
              <a:pPr/>
              <a:t>‹#›</a:t>
            </a:fld>
            <a:endParaRPr lang="en-US"/>
          </a:p>
        </p:txBody>
      </p:sp>
      <p:sp>
        <p:nvSpPr>
          <p:cNvPr id="9" name="Footer Placeholder 8"/>
          <p:cNvSpPr>
            <a:spLocks noGrp="1"/>
          </p:cNvSpPr>
          <p:nvPr>
            <p:ph type="ftr" sz="quarter" idx="12"/>
          </p:nvPr>
        </p:nvSpPr>
        <p:spPr/>
        <p:txBody>
          <a:bodyPr/>
          <a:lstStyle/>
          <a:p>
            <a:r>
              <a:rPr lang="en-US"/>
              <a:t>VTU PG Studies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619D83-FF17-4516-B6B3-12726EAD2179}" type="datetime1">
              <a:rPr lang="en-US" smtClean="0"/>
              <a:pPr/>
              <a:t>5/4/2026</a:t>
            </a:fld>
            <a:endParaRPr lang="en-US"/>
          </a:p>
        </p:txBody>
      </p:sp>
      <p:sp>
        <p:nvSpPr>
          <p:cNvPr id="5" name="Footer Placeholder 4"/>
          <p:cNvSpPr>
            <a:spLocks noGrp="1"/>
          </p:cNvSpPr>
          <p:nvPr>
            <p:ph type="ftr" sz="quarter" idx="11"/>
          </p:nvPr>
        </p:nvSpPr>
        <p:spPr/>
        <p:txBody>
          <a:bodyPr/>
          <a:lstStyle/>
          <a:p>
            <a:r>
              <a:rPr lang="en-US"/>
              <a:t>VTU PG Studies</a:t>
            </a:r>
          </a:p>
        </p:txBody>
      </p:sp>
      <p:sp>
        <p:nvSpPr>
          <p:cNvPr id="6" name="Slide Number Placeholder 5"/>
          <p:cNvSpPr>
            <a:spLocks noGrp="1"/>
          </p:cNvSpPr>
          <p:nvPr>
            <p:ph type="sldNum" sz="quarter" idx="12"/>
          </p:nvPr>
        </p:nvSpPr>
        <p:spPr/>
        <p:txBody>
          <a:bodyPr/>
          <a:lstStyle/>
          <a:p>
            <a:fld id="{E566A64D-537C-4258-BCDA-D6FBF77857E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66585D-E5B0-45AC-8E0B-D67A89450EB7}" type="datetime1">
              <a:rPr lang="en-US" smtClean="0"/>
              <a:pPr/>
              <a:t>5/4/2026</a:t>
            </a:fld>
            <a:endParaRPr lang="en-US"/>
          </a:p>
        </p:txBody>
      </p:sp>
      <p:sp>
        <p:nvSpPr>
          <p:cNvPr id="5" name="Footer Placeholder 4"/>
          <p:cNvSpPr>
            <a:spLocks noGrp="1"/>
          </p:cNvSpPr>
          <p:nvPr>
            <p:ph type="ftr" sz="quarter" idx="11"/>
          </p:nvPr>
        </p:nvSpPr>
        <p:spPr/>
        <p:txBody>
          <a:bodyPr/>
          <a:lstStyle/>
          <a:p>
            <a:r>
              <a:rPr lang="en-US"/>
              <a:t>VTU PG Studies</a:t>
            </a:r>
          </a:p>
        </p:txBody>
      </p:sp>
      <p:sp>
        <p:nvSpPr>
          <p:cNvPr id="6" name="Slide Number Placeholder 5"/>
          <p:cNvSpPr>
            <a:spLocks noGrp="1"/>
          </p:cNvSpPr>
          <p:nvPr>
            <p:ph type="sldNum" sz="quarter" idx="12"/>
          </p:nvPr>
        </p:nvSpPr>
        <p:spPr/>
        <p:txBody>
          <a:bodyPr/>
          <a:lstStyle/>
          <a:p>
            <a:fld id="{E566A64D-537C-4258-BCDA-D6FBF77857E8}" type="slidenum">
              <a:rPr lang="en-US" smtClean="0"/>
              <a:pPr/>
              <a:t>‹#›</a:t>
            </a:fld>
            <a:endParaRPr lang="en-US"/>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80F7F6-07C5-4E5C-98FD-D55B8861A721}" type="datetime1">
              <a:rPr lang="en-US" smtClean="0"/>
              <a:pPr/>
              <a:t>5/4/2026</a:t>
            </a:fld>
            <a:endParaRPr lang="en-US"/>
          </a:p>
        </p:txBody>
      </p:sp>
      <p:sp>
        <p:nvSpPr>
          <p:cNvPr id="6" name="Footer Placeholder 5"/>
          <p:cNvSpPr>
            <a:spLocks noGrp="1"/>
          </p:cNvSpPr>
          <p:nvPr>
            <p:ph type="ftr" sz="quarter" idx="11"/>
          </p:nvPr>
        </p:nvSpPr>
        <p:spPr/>
        <p:txBody>
          <a:bodyPr/>
          <a:lstStyle/>
          <a:p>
            <a:r>
              <a:rPr lang="en-US"/>
              <a:t>VTU PG Studies</a:t>
            </a:r>
          </a:p>
        </p:txBody>
      </p:sp>
      <p:sp>
        <p:nvSpPr>
          <p:cNvPr id="7" name="Slide Number Placeholder 6"/>
          <p:cNvSpPr>
            <a:spLocks noGrp="1"/>
          </p:cNvSpPr>
          <p:nvPr>
            <p:ph type="sldNum" sz="quarter" idx="12"/>
          </p:nvPr>
        </p:nvSpPr>
        <p:spPr/>
        <p:txBody>
          <a:bodyPr/>
          <a:lstStyle/>
          <a:p>
            <a:fld id="{E566A64D-537C-4258-BCDA-D6FBF77857E8}" type="slidenum">
              <a:rPr lang="en-US" smtClean="0"/>
              <a:pPr/>
              <a:t>‹#›</a:t>
            </a:fld>
            <a:endParaRPr lang="en-US"/>
          </a:p>
        </p:txBody>
      </p:sp>
      <p:sp>
        <p:nvSpPr>
          <p:cNvPr id="9" name="Content Placeholder 8"/>
          <p:cNvSpPr>
            <a:spLocks noGrp="1"/>
          </p:cNvSpPr>
          <p:nvPr>
            <p:ph sz="quarter" idx="13"/>
          </p:nvPr>
        </p:nvSpPr>
        <p:spPr>
          <a:xfrm>
            <a:off x="365760" y="1600200"/>
            <a:ext cx="4041648" cy="4526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C35FBAD6-C336-46C6-8EC6-6BE202C4573F}" type="datetime1">
              <a:rPr lang="en-US" smtClean="0"/>
              <a:pPr/>
              <a:t>5/4/2026</a:t>
            </a:fld>
            <a:endParaRPr lang="en-US"/>
          </a:p>
        </p:txBody>
      </p:sp>
      <p:sp>
        <p:nvSpPr>
          <p:cNvPr id="8" name="Footer Placeholder 7"/>
          <p:cNvSpPr>
            <a:spLocks noGrp="1"/>
          </p:cNvSpPr>
          <p:nvPr>
            <p:ph type="ftr" sz="quarter" idx="11"/>
          </p:nvPr>
        </p:nvSpPr>
        <p:spPr/>
        <p:txBody>
          <a:bodyPr/>
          <a:lstStyle/>
          <a:p>
            <a:r>
              <a:rPr lang="en-US"/>
              <a:t>VTU PG Studies</a:t>
            </a:r>
          </a:p>
        </p:txBody>
      </p:sp>
      <p:sp>
        <p:nvSpPr>
          <p:cNvPr id="9" name="Slide Number Placeholder 8"/>
          <p:cNvSpPr>
            <a:spLocks noGrp="1"/>
          </p:cNvSpPr>
          <p:nvPr>
            <p:ph type="sldNum" sz="quarter" idx="12"/>
          </p:nvPr>
        </p:nvSpPr>
        <p:spPr/>
        <p:txBody>
          <a:bodyPr/>
          <a:lstStyle/>
          <a:p>
            <a:fld id="{E566A64D-537C-4258-BCDA-D6FBF77857E8}" type="slidenum">
              <a:rPr lang="en-US" smtClean="0"/>
              <a:pPr/>
              <a:t>‹#›</a:t>
            </a:fld>
            <a:endParaRPr lang="en-US"/>
          </a:p>
        </p:txBody>
      </p:sp>
      <p:sp>
        <p:nvSpPr>
          <p:cNvPr id="11" name="Content Placeholder 10"/>
          <p:cNvSpPr>
            <a:spLocks noGrp="1"/>
          </p:cNvSpPr>
          <p:nvPr>
            <p:ph sz="quarter" idx="13"/>
          </p:nvPr>
        </p:nvSpPr>
        <p:spPr>
          <a:xfrm>
            <a:off x="457200" y="2212848"/>
            <a:ext cx="4041648"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CB3241-A4F1-46EB-890C-3DE7F7ED7ECD}" type="datetime1">
              <a:rPr lang="en-US" smtClean="0"/>
              <a:pPr/>
              <a:t>5/4/2026</a:t>
            </a:fld>
            <a:endParaRPr lang="en-US"/>
          </a:p>
        </p:txBody>
      </p:sp>
      <p:sp>
        <p:nvSpPr>
          <p:cNvPr id="4" name="Footer Placeholder 3"/>
          <p:cNvSpPr>
            <a:spLocks noGrp="1"/>
          </p:cNvSpPr>
          <p:nvPr>
            <p:ph type="ftr" sz="quarter" idx="11"/>
          </p:nvPr>
        </p:nvSpPr>
        <p:spPr/>
        <p:txBody>
          <a:bodyPr/>
          <a:lstStyle/>
          <a:p>
            <a:r>
              <a:rPr lang="en-US"/>
              <a:t>VTU PG Studies</a:t>
            </a:r>
          </a:p>
        </p:txBody>
      </p:sp>
      <p:sp>
        <p:nvSpPr>
          <p:cNvPr id="5" name="Slide Number Placeholder 4"/>
          <p:cNvSpPr>
            <a:spLocks noGrp="1"/>
          </p:cNvSpPr>
          <p:nvPr>
            <p:ph type="sldNum" sz="quarter" idx="12"/>
          </p:nvPr>
        </p:nvSpPr>
        <p:spPr/>
        <p:txBody>
          <a:bodyPr/>
          <a:lstStyle/>
          <a:p>
            <a:fld id="{E566A64D-537C-4258-BCDA-D6FBF77857E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B5661D-CA49-4BEC-8E9F-F6EC85291D10}" type="datetime1">
              <a:rPr lang="en-US" smtClean="0"/>
              <a:pPr/>
              <a:t>5/4/2026</a:t>
            </a:fld>
            <a:endParaRPr lang="en-US"/>
          </a:p>
        </p:txBody>
      </p:sp>
      <p:sp>
        <p:nvSpPr>
          <p:cNvPr id="3" name="Footer Placeholder 2"/>
          <p:cNvSpPr>
            <a:spLocks noGrp="1"/>
          </p:cNvSpPr>
          <p:nvPr>
            <p:ph type="ftr" sz="quarter" idx="11"/>
          </p:nvPr>
        </p:nvSpPr>
        <p:spPr/>
        <p:txBody>
          <a:bodyPr/>
          <a:lstStyle/>
          <a:p>
            <a:r>
              <a:rPr lang="en-US"/>
              <a:t>VTU PG Studies</a:t>
            </a:r>
          </a:p>
        </p:txBody>
      </p:sp>
      <p:sp>
        <p:nvSpPr>
          <p:cNvPr id="4" name="Slide Number Placeholder 3"/>
          <p:cNvSpPr>
            <a:spLocks noGrp="1"/>
          </p:cNvSpPr>
          <p:nvPr>
            <p:ph type="sldNum" sz="quarter" idx="12"/>
          </p:nvPr>
        </p:nvSpPr>
        <p:spPr/>
        <p:txBody>
          <a:bodyPr/>
          <a:lstStyle/>
          <a:p>
            <a:fld id="{E566A64D-537C-4258-BCDA-D6FBF77857E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A0A151-226E-454F-BE66-459DD258DA02}" type="datetime1">
              <a:rPr lang="en-US" smtClean="0"/>
              <a:pPr/>
              <a:t>5/4/2026</a:t>
            </a:fld>
            <a:endParaRPr lang="en-US"/>
          </a:p>
        </p:txBody>
      </p:sp>
      <p:sp>
        <p:nvSpPr>
          <p:cNvPr id="6" name="Footer Placeholder 5"/>
          <p:cNvSpPr>
            <a:spLocks noGrp="1"/>
          </p:cNvSpPr>
          <p:nvPr>
            <p:ph type="ftr" sz="quarter" idx="11"/>
          </p:nvPr>
        </p:nvSpPr>
        <p:spPr/>
        <p:txBody>
          <a:bodyPr/>
          <a:lstStyle/>
          <a:p>
            <a:r>
              <a:rPr lang="en-US"/>
              <a:t>VTU PG Studies</a:t>
            </a:r>
          </a:p>
        </p:txBody>
      </p:sp>
      <p:sp>
        <p:nvSpPr>
          <p:cNvPr id="7" name="Slide Number Placeholder 6"/>
          <p:cNvSpPr>
            <a:spLocks noGrp="1"/>
          </p:cNvSpPr>
          <p:nvPr>
            <p:ph type="sldNum" sz="quarter" idx="12"/>
          </p:nvPr>
        </p:nvSpPr>
        <p:spPr/>
        <p:txBody>
          <a:bodyPr/>
          <a:lstStyle/>
          <a:p>
            <a:fld id="{E566A64D-537C-4258-BCDA-D6FBF77857E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F4DF190-2C6F-4B9C-81C8-73C2E35A4E84}" type="datetime1">
              <a:rPr lang="en-US" smtClean="0"/>
              <a:pPr/>
              <a:t>5/4/2026</a:t>
            </a:fld>
            <a:endParaRPr lang="en-US"/>
          </a:p>
        </p:txBody>
      </p:sp>
      <p:sp>
        <p:nvSpPr>
          <p:cNvPr id="6" name="Footer Placeholder 5"/>
          <p:cNvSpPr>
            <a:spLocks noGrp="1"/>
          </p:cNvSpPr>
          <p:nvPr>
            <p:ph type="ftr" sz="quarter" idx="11"/>
          </p:nvPr>
        </p:nvSpPr>
        <p:spPr/>
        <p:txBody>
          <a:bodyPr/>
          <a:lstStyle/>
          <a:p>
            <a:r>
              <a:rPr lang="en-US"/>
              <a:t>VTU PG Studies</a:t>
            </a:r>
          </a:p>
        </p:txBody>
      </p:sp>
      <p:sp>
        <p:nvSpPr>
          <p:cNvPr id="7" name="Slide Number Placeholder 6"/>
          <p:cNvSpPr>
            <a:spLocks noGrp="1"/>
          </p:cNvSpPr>
          <p:nvPr>
            <p:ph type="sldNum" sz="quarter" idx="12"/>
          </p:nvPr>
        </p:nvSpPr>
        <p:spPr/>
        <p:txBody>
          <a:bodyPr/>
          <a:lstStyle/>
          <a:p>
            <a:fld id="{E566A64D-537C-4258-BCDA-D6FBF77857E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41276C6-4878-4085-B6DD-02B2DC7D9DD2}" type="datetime1">
              <a:rPr lang="en-US" smtClean="0"/>
              <a:pPr/>
              <a:t>5/4/2026</a:t>
            </a:fld>
            <a:endParaRPr lang="en-US"/>
          </a:p>
        </p:txBody>
      </p:sp>
      <p:sp>
        <p:nvSpPr>
          <p:cNvPr id="5" name="Footer Placeholder 4"/>
          <p:cNvSpPr>
            <a:spLocks noGrp="1"/>
          </p:cNvSpPr>
          <p:nvPr>
            <p:ph type="ftr" sz="quarter" idx="11"/>
          </p:nvPr>
        </p:nvSpPr>
        <p:spPr/>
        <p:txBody>
          <a:bodyPr/>
          <a:lstStyle/>
          <a:p>
            <a:r>
              <a:rPr lang="en-US"/>
              <a:t>VTU PG Studies</a:t>
            </a:r>
          </a:p>
        </p:txBody>
      </p:sp>
      <p:sp>
        <p:nvSpPr>
          <p:cNvPr id="6" name="Slide Number Placeholder 5"/>
          <p:cNvSpPr>
            <a:spLocks noGrp="1"/>
          </p:cNvSpPr>
          <p:nvPr>
            <p:ph type="sldNum" sz="quarter" idx="12"/>
          </p:nvPr>
        </p:nvSpPr>
        <p:spPr/>
        <p:txBody>
          <a:bodyPr/>
          <a:lstStyle/>
          <a:p>
            <a:fld id="{E566A64D-537C-4258-BCDA-D6FBF77857E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E1023C1-6C2B-4079-9CB1-222D2683F0D5}" type="datetime1">
              <a:rPr lang="en-US" smtClean="0"/>
              <a:pPr/>
              <a:t>5/4/2026</a:t>
            </a:fld>
            <a:endParaRPr lang="en-US"/>
          </a:p>
        </p:txBody>
      </p:sp>
      <p:sp>
        <p:nvSpPr>
          <p:cNvPr id="5" name="Footer Placeholder 4"/>
          <p:cNvSpPr>
            <a:spLocks noGrp="1"/>
          </p:cNvSpPr>
          <p:nvPr>
            <p:ph type="ftr" sz="quarter" idx="11"/>
          </p:nvPr>
        </p:nvSpPr>
        <p:spPr/>
        <p:txBody>
          <a:bodyPr/>
          <a:lstStyle/>
          <a:p>
            <a:r>
              <a:rPr lang="en-US"/>
              <a:t>VTU PG Studies</a:t>
            </a:r>
          </a:p>
        </p:txBody>
      </p:sp>
      <p:sp>
        <p:nvSpPr>
          <p:cNvPr id="6" name="Slide Number Placeholder 5"/>
          <p:cNvSpPr>
            <a:spLocks noGrp="1"/>
          </p:cNvSpPr>
          <p:nvPr>
            <p:ph type="sldNum" sz="quarter" idx="12"/>
          </p:nvPr>
        </p:nvSpPr>
        <p:spPr/>
        <p:txBody>
          <a:bodyPr/>
          <a:lstStyle/>
          <a:p>
            <a:fld id="{E566A64D-537C-4258-BCDA-D6FBF77857E8}"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E439E028-DEC6-D55E-0CCF-B870FEA1673A}"/>
              </a:ext>
            </a:extLst>
          </p:cNvPr>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Rectangle 2">
            <a:extLst>
              <a:ext uri="{FF2B5EF4-FFF2-40B4-BE49-F238E27FC236}">
                <a16:creationId xmlns="" xmlns:a16="http://schemas.microsoft.com/office/drawing/2014/main" id="{849A08BD-5463-1634-7536-5CC5D2AE7239}"/>
              </a:ext>
            </a:extLst>
          </p:cNvPr>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Rectangle 3">
            <a:extLst>
              <a:ext uri="{FF2B5EF4-FFF2-40B4-BE49-F238E27FC236}">
                <a16:creationId xmlns="" xmlns:a16="http://schemas.microsoft.com/office/drawing/2014/main" id="{A2AB2E4C-E667-8F48-ECB5-8D1E9F2A04E3}"/>
              </a:ext>
            </a:extLst>
          </p:cNvPr>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a:extLst>
              <a:ext uri="{FF2B5EF4-FFF2-40B4-BE49-F238E27FC236}">
                <a16:creationId xmlns="" xmlns:a16="http://schemas.microsoft.com/office/drawing/2014/main" id="{B385F9B7-E847-2DB0-04C6-BA4230DD2599}"/>
              </a:ext>
            </a:extLst>
          </p:cNvPr>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Straight Connector 5">
            <a:extLst>
              <a:ext uri="{FF2B5EF4-FFF2-40B4-BE49-F238E27FC236}">
                <a16:creationId xmlns="" xmlns:a16="http://schemas.microsoft.com/office/drawing/2014/main" id="{B4B38A98-5FA1-973F-8D78-003B9C50574E}"/>
              </a:ext>
            </a:extLst>
          </p:cNvPr>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a:defRPr/>
            </a:pPr>
            <a:endParaRPr lang="en-US">
              <a:latin typeface="Arial" charset="0"/>
            </a:endParaRPr>
          </a:p>
        </p:txBody>
      </p:sp>
      <p:sp>
        <p:nvSpPr>
          <p:cNvPr id="7" name="Straight Connector 6">
            <a:extLst>
              <a:ext uri="{FF2B5EF4-FFF2-40B4-BE49-F238E27FC236}">
                <a16:creationId xmlns="" xmlns:a16="http://schemas.microsoft.com/office/drawing/2014/main" id="{5FAB9519-7361-30D5-F701-368747799D07}"/>
              </a:ext>
            </a:extLst>
          </p:cNvPr>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a:defRPr/>
            </a:pPr>
            <a:endParaRPr lang="en-US">
              <a:latin typeface="Arial" charset="0"/>
            </a:endParaRPr>
          </a:p>
        </p:txBody>
      </p:sp>
      <p:sp>
        <p:nvSpPr>
          <p:cNvPr id="10" name="Straight Connector 9">
            <a:extLst>
              <a:ext uri="{FF2B5EF4-FFF2-40B4-BE49-F238E27FC236}">
                <a16:creationId xmlns="" xmlns:a16="http://schemas.microsoft.com/office/drawing/2014/main" id="{011D786F-59D0-FC29-565E-C822C3B5842C}"/>
              </a:ext>
            </a:extLst>
          </p:cNvPr>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a:defRPr/>
            </a:pPr>
            <a:endParaRPr lang="en-US">
              <a:latin typeface="Arial" charset="0"/>
            </a:endParaRPr>
          </a:p>
        </p:txBody>
      </p:sp>
      <p:sp>
        <p:nvSpPr>
          <p:cNvPr id="11" name="Straight Connector 10">
            <a:extLst>
              <a:ext uri="{FF2B5EF4-FFF2-40B4-BE49-F238E27FC236}">
                <a16:creationId xmlns="" xmlns:a16="http://schemas.microsoft.com/office/drawing/2014/main" id="{8C3607D3-A1B0-3039-E6A3-52E684FDE744}"/>
              </a:ext>
            </a:extLst>
          </p:cNvPr>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a:defRPr/>
            </a:pPr>
            <a:endParaRPr lang="en-US">
              <a:latin typeface="Arial" charset="0"/>
            </a:endParaRPr>
          </a:p>
        </p:txBody>
      </p:sp>
      <p:sp>
        <p:nvSpPr>
          <p:cNvPr id="12" name="Straight Connector 11">
            <a:extLst>
              <a:ext uri="{FF2B5EF4-FFF2-40B4-BE49-F238E27FC236}">
                <a16:creationId xmlns="" xmlns:a16="http://schemas.microsoft.com/office/drawing/2014/main" id="{4C881441-9551-57AF-DEB7-8F2BE8B31D03}"/>
              </a:ext>
            </a:extLst>
          </p:cNvPr>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a:defRPr/>
            </a:pPr>
            <a:endParaRPr lang="en-US">
              <a:latin typeface="Arial" charset="0"/>
            </a:endParaRPr>
          </a:p>
        </p:txBody>
      </p:sp>
      <p:sp>
        <p:nvSpPr>
          <p:cNvPr id="13" name="Straight Connector 12">
            <a:extLst>
              <a:ext uri="{FF2B5EF4-FFF2-40B4-BE49-F238E27FC236}">
                <a16:creationId xmlns="" xmlns:a16="http://schemas.microsoft.com/office/drawing/2014/main" id="{BAAAD103-7239-8D5C-BD4D-1CF78CF35EDF}"/>
              </a:ext>
            </a:extLst>
          </p:cNvPr>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a:defRPr/>
            </a:pPr>
            <a:endParaRPr lang="en-US">
              <a:latin typeface="Arial" charset="0"/>
            </a:endParaRPr>
          </a:p>
        </p:txBody>
      </p:sp>
      <p:sp>
        <p:nvSpPr>
          <p:cNvPr id="14" name="Rectangle 13">
            <a:extLst>
              <a:ext uri="{FF2B5EF4-FFF2-40B4-BE49-F238E27FC236}">
                <a16:creationId xmlns="" xmlns:a16="http://schemas.microsoft.com/office/drawing/2014/main" id="{035A198C-F2B3-652E-1E97-C4F323949DAB}"/>
              </a:ext>
            </a:extLst>
          </p:cNvPr>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5" name="Oval 14">
            <a:extLst>
              <a:ext uri="{FF2B5EF4-FFF2-40B4-BE49-F238E27FC236}">
                <a16:creationId xmlns="" xmlns:a16="http://schemas.microsoft.com/office/drawing/2014/main" id="{701CF3B0-2642-3EB9-0620-950B91D03BC5}"/>
              </a:ext>
            </a:extLst>
          </p:cNvPr>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6" name="Oval 15">
            <a:extLst>
              <a:ext uri="{FF2B5EF4-FFF2-40B4-BE49-F238E27FC236}">
                <a16:creationId xmlns="" xmlns:a16="http://schemas.microsoft.com/office/drawing/2014/main" id="{11398D63-187D-233E-1E5A-31C5EC16CF40}"/>
              </a:ext>
            </a:extLst>
          </p:cNvPr>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7" name="Oval 16">
            <a:extLst>
              <a:ext uri="{FF2B5EF4-FFF2-40B4-BE49-F238E27FC236}">
                <a16:creationId xmlns="" xmlns:a16="http://schemas.microsoft.com/office/drawing/2014/main" id="{06CDCEE2-3004-6565-4406-067B084D3579}"/>
              </a:ext>
            </a:extLst>
          </p:cNvPr>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8" name="Oval 17">
            <a:extLst>
              <a:ext uri="{FF2B5EF4-FFF2-40B4-BE49-F238E27FC236}">
                <a16:creationId xmlns="" xmlns:a16="http://schemas.microsoft.com/office/drawing/2014/main" id="{BB14B9A5-60EB-AEB6-2263-685795AC3EEF}"/>
              </a:ext>
            </a:extLst>
          </p:cNvPr>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9" name="Oval 18">
            <a:extLst>
              <a:ext uri="{FF2B5EF4-FFF2-40B4-BE49-F238E27FC236}">
                <a16:creationId xmlns="" xmlns:a16="http://schemas.microsoft.com/office/drawing/2014/main" id="{48C0B4E6-8153-3E68-78EC-99A07077BE99}"/>
              </a:ext>
            </a:extLst>
          </p:cNvPr>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8" name="Title 7"/>
          <p:cNvSpPr>
            <a:spLocks noGrp="1"/>
          </p:cNvSpPr>
          <p:nvPr>
            <p:ph type="ctrTitle"/>
          </p:nvPr>
        </p:nvSpPr>
        <p:spPr>
          <a:xfrm>
            <a:off x="2286000" y="3124200"/>
            <a:ext cx="6172200" cy="1894362"/>
          </a:xfrm>
        </p:spPr>
        <p:txBody>
          <a:bodyPr/>
          <a:lstStyle>
            <a:lvl1pPr>
              <a:defRPr b="1"/>
            </a:lvl1pPr>
          </a:lstStyle>
          <a:p>
            <a:r>
              <a:rPr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20" name="Date Placeholder 27">
            <a:extLst>
              <a:ext uri="{FF2B5EF4-FFF2-40B4-BE49-F238E27FC236}">
                <a16:creationId xmlns="" xmlns:a16="http://schemas.microsoft.com/office/drawing/2014/main" id="{1D2E58A9-3AF3-D36D-6EA7-90A1B3B57425}"/>
              </a:ext>
            </a:extLst>
          </p:cNvPr>
          <p:cNvSpPr>
            <a:spLocks noGrp="1"/>
          </p:cNvSpPr>
          <p:nvPr>
            <p:ph type="dt" sz="half" idx="10"/>
          </p:nvPr>
        </p:nvSpPr>
        <p:spPr bwMode="auto">
          <a:xfrm rot="5400000">
            <a:off x="7764463" y="1174750"/>
            <a:ext cx="2286000" cy="381000"/>
          </a:xfrm>
        </p:spPr>
        <p:txBody>
          <a:bodyPr/>
          <a:lstStyle>
            <a:lvl1pPr>
              <a:defRPr/>
            </a:lvl1pPr>
          </a:lstStyle>
          <a:p>
            <a:pPr>
              <a:defRPr/>
            </a:pPr>
            <a:fld id="{041D8306-C1D5-4A2B-A596-040C7334C734}" type="datetimeFigureOut">
              <a:rPr lang="en-US"/>
              <a:pPr>
                <a:defRPr/>
              </a:pPr>
              <a:t>5/4/2026</a:t>
            </a:fld>
            <a:endParaRPr lang="en-US" dirty="0"/>
          </a:p>
        </p:txBody>
      </p:sp>
      <p:sp>
        <p:nvSpPr>
          <p:cNvPr id="21" name="Footer Placeholder 16">
            <a:extLst>
              <a:ext uri="{FF2B5EF4-FFF2-40B4-BE49-F238E27FC236}">
                <a16:creationId xmlns="" xmlns:a16="http://schemas.microsoft.com/office/drawing/2014/main" id="{905AF6DF-8735-6FDC-581B-41FCF9728F83}"/>
              </a:ext>
            </a:extLst>
          </p:cNvPr>
          <p:cNvSpPr>
            <a:spLocks noGrp="1"/>
          </p:cNvSpPr>
          <p:nvPr>
            <p:ph type="ftr" sz="quarter" idx="11"/>
          </p:nvPr>
        </p:nvSpPr>
        <p:spPr bwMode="auto">
          <a:xfrm rot="5400000">
            <a:off x="7077076" y="4181475"/>
            <a:ext cx="3657600" cy="384175"/>
          </a:xfrm>
        </p:spPr>
        <p:txBody>
          <a:bodyPr/>
          <a:lstStyle>
            <a:lvl1pPr>
              <a:defRPr/>
            </a:lvl1pPr>
          </a:lstStyle>
          <a:p>
            <a:pPr>
              <a:defRPr/>
            </a:pPr>
            <a:endParaRPr lang="en-US"/>
          </a:p>
        </p:txBody>
      </p:sp>
      <p:sp>
        <p:nvSpPr>
          <p:cNvPr id="22" name="Slide Number Placeholder 28">
            <a:extLst>
              <a:ext uri="{FF2B5EF4-FFF2-40B4-BE49-F238E27FC236}">
                <a16:creationId xmlns="" xmlns:a16="http://schemas.microsoft.com/office/drawing/2014/main" id="{08DF1209-9052-650D-94D4-59CAF6368F9C}"/>
              </a:ext>
            </a:extLst>
          </p:cNvPr>
          <p:cNvSpPr>
            <a:spLocks noGrp="1"/>
          </p:cNvSpPr>
          <p:nvPr>
            <p:ph type="sldNum" sz="quarter" idx="12"/>
          </p:nvPr>
        </p:nvSpPr>
        <p:spPr bwMode="auto">
          <a:xfrm>
            <a:off x="1325563" y="4929188"/>
            <a:ext cx="609600" cy="517525"/>
          </a:xfrm>
        </p:spPr>
        <p:txBody>
          <a:bodyPr/>
          <a:lstStyle>
            <a:lvl1pPr>
              <a:defRPr/>
            </a:lvl1pPr>
          </a:lstStyle>
          <a:p>
            <a:fld id="{32C31017-69AB-4A73-AE57-EEA97906C782}" type="slidenum">
              <a:rPr lang="en-US" altLang="en-US"/>
              <a:pPr/>
              <a:t>‹#›</a:t>
            </a:fld>
            <a:endParaRPr lang="en-US" altLang="en-US"/>
          </a:p>
        </p:txBody>
      </p:sp>
    </p:spTree>
    <p:extLst>
      <p:ext uri="{BB962C8B-B14F-4D97-AF65-F5344CB8AC3E}">
        <p14:creationId xmlns="" xmlns:p14="http://schemas.microsoft.com/office/powerpoint/2010/main" val="510654465"/>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6">
            <a:extLst>
              <a:ext uri="{FF2B5EF4-FFF2-40B4-BE49-F238E27FC236}">
                <a16:creationId xmlns="" xmlns:a16="http://schemas.microsoft.com/office/drawing/2014/main" id="{5D5BD86E-0E84-4B32-3C5C-71B169F98E0D}"/>
              </a:ext>
            </a:extLst>
          </p:cNvPr>
          <p:cNvSpPr>
            <a:spLocks noGrp="1"/>
          </p:cNvSpPr>
          <p:nvPr>
            <p:ph type="dt" sz="half" idx="10"/>
          </p:nvPr>
        </p:nvSpPr>
        <p:spPr/>
        <p:txBody>
          <a:bodyPr rtlCol="0"/>
          <a:lstStyle>
            <a:lvl1pPr>
              <a:defRPr/>
            </a:lvl1pPr>
          </a:lstStyle>
          <a:p>
            <a:pPr>
              <a:defRPr/>
            </a:pPr>
            <a:fld id="{2B3C332E-ECE9-4058-BA7E-A5152C68D9C6}" type="datetimeFigureOut">
              <a:rPr lang="en-US"/>
              <a:pPr>
                <a:defRPr/>
              </a:pPr>
              <a:t>5/4/2026</a:t>
            </a:fld>
            <a:endParaRPr lang="en-US" dirty="0"/>
          </a:p>
        </p:txBody>
      </p:sp>
      <p:sp>
        <p:nvSpPr>
          <p:cNvPr id="4" name="Slide Number Placeholder 8">
            <a:extLst>
              <a:ext uri="{FF2B5EF4-FFF2-40B4-BE49-F238E27FC236}">
                <a16:creationId xmlns="" xmlns:a16="http://schemas.microsoft.com/office/drawing/2014/main" id="{3B8F2DFA-0C30-D6DF-0978-484AC6506CA2}"/>
              </a:ext>
            </a:extLst>
          </p:cNvPr>
          <p:cNvSpPr>
            <a:spLocks noGrp="1"/>
          </p:cNvSpPr>
          <p:nvPr>
            <p:ph type="sldNum" sz="quarter" idx="11"/>
          </p:nvPr>
        </p:nvSpPr>
        <p:spPr/>
        <p:txBody>
          <a:bodyPr/>
          <a:lstStyle>
            <a:lvl1pPr>
              <a:defRPr/>
            </a:lvl1pPr>
          </a:lstStyle>
          <a:p>
            <a:fld id="{448AB50D-E547-4115-A10E-EC8893D01F02}" type="slidenum">
              <a:rPr lang="en-US" altLang="en-US"/>
              <a:pPr/>
              <a:t>‹#›</a:t>
            </a:fld>
            <a:endParaRPr lang="en-US" altLang="en-US"/>
          </a:p>
        </p:txBody>
      </p:sp>
      <p:sp>
        <p:nvSpPr>
          <p:cNvPr id="5" name="Footer Placeholder 9">
            <a:extLst>
              <a:ext uri="{FF2B5EF4-FFF2-40B4-BE49-F238E27FC236}">
                <a16:creationId xmlns="" xmlns:a16="http://schemas.microsoft.com/office/drawing/2014/main" id="{DA80353B-03FD-A5A1-10FF-69E8ADC051F5}"/>
              </a:ext>
            </a:extLst>
          </p:cNvPr>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 xmlns:p14="http://schemas.microsoft.com/office/powerpoint/2010/main" val="36223336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3D284EDF-ADC4-8168-EFFE-439A01C44DF1}"/>
              </a:ext>
            </a:extLst>
          </p:cNvPr>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a:extLst>
              <a:ext uri="{FF2B5EF4-FFF2-40B4-BE49-F238E27FC236}">
                <a16:creationId xmlns="" xmlns:a16="http://schemas.microsoft.com/office/drawing/2014/main" id="{070EB326-2122-051F-F06D-D8D4B386AD50}"/>
              </a:ext>
            </a:extLst>
          </p:cNvPr>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a:extLst>
              <a:ext uri="{FF2B5EF4-FFF2-40B4-BE49-F238E27FC236}">
                <a16:creationId xmlns="" xmlns:a16="http://schemas.microsoft.com/office/drawing/2014/main" id="{FAECA60E-FC47-5956-8213-509DC751222A}"/>
              </a:ext>
            </a:extLst>
          </p:cNvPr>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a:extLst>
              <a:ext uri="{FF2B5EF4-FFF2-40B4-BE49-F238E27FC236}">
                <a16:creationId xmlns="" xmlns:a16="http://schemas.microsoft.com/office/drawing/2014/main" id="{517E5EE9-6DC8-B942-462F-6F6D9A39EC70}"/>
              </a:ext>
            </a:extLst>
          </p:cNvPr>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Straight Connector 7">
            <a:extLst>
              <a:ext uri="{FF2B5EF4-FFF2-40B4-BE49-F238E27FC236}">
                <a16:creationId xmlns="" xmlns:a16="http://schemas.microsoft.com/office/drawing/2014/main" id="{4B6DCE8A-1A2A-E846-0553-9E7C6B872C3D}"/>
              </a:ext>
            </a:extLst>
          </p:cNvPr>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a:defRPr/>
            </a:pPr>
            <a:endParaRPr lang="en-US">
              <a:latin typeface="Arial" charset="0"/>
            </a:endParaRPr>
          </a:p>
        </p:txBody>
      </p:sp>
      <p:sp>
        <p:nvSpPr>
          <p:cNvPr id="9" name="Straight Connector 8">
            <a:extLst>
              <a:ext uri="{FF2B5EF4-FFF2-40B4-BE49-F238E27FC236}">
                <a16:creationId xmlns="" xmlns:a16="http://schemas.microsoft.com/office/drawing/2014/main" id="{3677B111-24FD-08B6-5B5D-6BAF2CFFE35F}"/>
              </a:ext>
            </a:extLst>
          </p:cNvPr>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a:defRPr/>
            </a:pPr>
            <a:endParaRPr lang="en-US">
              <a:latin typeface="Arial" charset="0"/>
            </a:endParaRPr>
          </a:p>
        </p:txBody>
      </p:sp>
      <p:sp>
        <p:nvSpPr>
          <p:cNvPr id="10" name="Straight Connector 9">
            <a:extLst>
              <a:ext uri="{FF2B5EF4-FFF2-40B4-BE49-F238E27FC236}">
                <a16:creationId xmlns="" xmlns:a16="http://schemas.microsoft.com/office/drawing/2014/main" id="{CB4363C3-3EF2-CDEB-B2A8-EF4B389AEE52}"/>
              </a:ext>
            </a:extLst>
          </p:cNvPr>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a:defRPr/>
            </a:pPr>
            <a:endParaRPr lang="en-US">
              <a:latin typeface="Arial" charset="0"/>
            </a:endParaRPr>
          </a:p>
        </p:txBody>
      </p:sp>
      <p:sp>
        <p:nvSpPr>
          <p:cNvPr id="11" name="Straight Connector 10">
            <a:extLst>
              <a:ext uri="{FF2B5EF4-FFF2-40B4-BE49-F238E27FC236}">
                <a16:creationId xmlns="" xmlns:a16="http://schemas.microsoft.com/office/drawing/2014/main" id="{AFF57E5E-EF6B-EAC0-9459-EC24B074E79D}"/>
              </a:ext>
            </a:extLst>
          </p:cNvPr>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a:defRPr/>
            </a:pPr>
            <a:endParaRPr lang="en-US">
              <a:latin typeface="Arial" charset="0"/>
            </a:endParaRPr>
          </a:p>
        </p:txBody>
      </p:sp>
      <p:sp>
        <p:nvSpPr>
          <p:cNvPr id="12" name="Straight Connector 11">
            <a:extLst>
              <a:ext uri="{FF2B5EF4-FFF2-40B4-BE49-F238E27FC236}">
                <a16:creationId xmlns="" xmlns:a16="http://schemas.microsoft.com/office/drawing/2014/main" id="{5265B7BF-829C-6ADE-7919-91D2B72E1BFB}"/>
              </a:ext>
            </a:extLst>
          </p:cNvPr>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a:defRPr/>
            </a:pPr>
            <a:endParaRPr lang="en-US">
              <a:latin typeface="Arial" charset="0"/>
            </a:endParaRPr>
          </a:p>
        </p:txBody>
      </p:sp>
      <p:sp>
        <p:nvSpPr>
          <p:cNvPr id="13" name="Rectangle 12">
            <a:extLst>
              <a:ext uri="{FF2B5EF4-FFF2-40B4-BE49-F238E27FC236}">
                <a16:creationId xmlns="" xmlns:a16="http://schemas.microsoft.com/office/drawing/2014/main" id="{A15BA233-D183-FD29-F502-756F73D90629}"/>
              </a:ext>
            </a:extLst>
          </p:cNvPr>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4" name="Oval 13">
            <a:extLst>
              <a:ext uri="{FF2B5EF4-FFF2-40B4-BE49-F238E27FC236}">
                <a16:creationId xmlns="" xmlns:a16="http://schemas.microsoft.com/office/drawing/2014/main" id="{27A8E6F9-30EF-3E18-BB9B-C656BBF80FB0}"/>
              </a:ext>
            </a:extLst>
          </p:cNvPr>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5" name="Oval 14">
            <a:extLst>
              <a:ext uri="{FF2B5EF4-FFF2-40B4-BE49-F238E27FC236}">
                <a16:creationId xmlns="" xmlns:a16="http://schemas.microsoft.com/office/drawing/2014/main" id="{E0F5412E-C636-EE2A-490A-38904980648D}"/>
              </a:ext>
            </a:extLst>
          </p:cNvPr>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6" name="Oval 15">
            <a:extLst>
              <a:ext uri="{FF2B5EF4-FFF2-40B4-BE49-F238E27FC236}">
                <a16:creationId xmlns="" xmlns:a16="http://schemas.microsoft.com/office/drawing/2014/main" id="{10F127FA-A588-2B93-D5A1-D22E64C6F83D}"/>
              </a:ext>
            </a:extLst>
          </p:cNvPr>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7" name="Oval 16">
            <a:extLst>
              <a:ext uri="{FF2B5EF4-FFF2-40B4-BE49-F238E27FC236}">
                <a16:creationId xmlns="" xmlns:a16="http://schemas.microsoft.com/office/drawing/2014/main" id="{A5F5A06A-2A55-F3DA-47C2-824B0DBD6D13}"/>
              </a:ext>
            </a:extLst>
          </p:cNvPr>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8" name="Oval 17">
            <a:extLst>
              <a:ext uri="{FF2B5EF4-FFF2-40B4-BE49-F238E27FC236}">
                <a16:creationId xmlns="" xmlns:a16="http://schemas.microsoft.com/office/drawing/2014/main" id="{97AAE9F3-5C38-ED24-2397-C4E2ABB51022}"/>
              </a:ext>
            </a:extLst>
          </p:cNvPr>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9" name="Straight Connector 18">
            <a:extLst>
              <a:ext uri="{FF2B5EF4-FFF2-40B4-BE49-F238E27FC236}">
                <a16:creationId xmlns="" xmlns:a16="http://schemas.microsoft.com/office/drawing/2014/main" id="{4ADDCDAA-B89E-EC4B-4A3B-D515E1F45505}"/>
              </a:ext>
            </a:extLst>
          </p:cNvPr>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a:defRPr/>
            </a:pPr>
            <a:endParaRPr lang="en-US">
              <a:latin typeface="Arial" charset="0"/>
            </a:endParaRPr>
          </a:p>
        </p:txBody>
      </p:sp>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lang="en-US"/>
              <a:t>Click to edit Master title style</a:t>
            </a:r>
          </a:p>
        </p:txBody>
      </p:sp>
      <p:sp>
        <p:nvSpPr>
          <p:cNvPr id="3" name="Text Placeholder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0" name="Date Placeholder 3">
            <a:extLst>
              <a:ext uri="{FF2B5EF4-FFF2-40B4-BE49-F238E27FC236}">
                <a16:creationId xmlns="" xmlns:a16="http://schemas.microsoft.com/office/drawing/2014/main" id="{9C1984FB-8AAF-FC83-B994-7236C3921E57}"/>
              </a:ext>
            </a:extLst>
          </p:cNvPr>
          <p:cNvSpPr>
            <a:spLocks noGrp="1"/>
          </p:cNvSpPr>
          <p:nvPr>
            <p:ph type="dt" sz="half" idx="10"/>
          </p:nvPr>
        </p:nvSpPr>
        <p:spPr bwMode="auto">
          <a:xfrm rot="5400000">
            <a:off x="7762875" y="1169988"/>
            <a:ext cx="2286000" cy="381000"/>
          </a:xfrm>
        </p:spPr>
        <p:txBody>
          <a:bodyPr/>
          <a:lstStyle>
            <a:lvl1pPr>
              <a:defRPr/>
            </a:lvl1pPr>
          </a:lstStyle>
          <a:p>
            <a:pPr>
              <a:defRPr/>
            </a:pPr>
            <a:fld id="{52933D0E-BCC4-466D-8C97-1DBA222A676A}" type="datetimeFigureOut">
              <a:rPr lang="en-US"/>
              <a:pPr>
                <a:defRPr/>
              </a:pPr>
              <a:t>5/4/2026</a:t>
            </a:fld>
            <a:endParaRPr lang="en-US" dirty="0"/>
          </a:p>
        </p:txBody>
      </p:sp>
      <p:sp>
        <p:nvSpPr>
          <p:cNvPr id="21" name="Footer Placeholder 4">
            <a:extLst>
              <a:ext uri="{FF2B5EF4-FFF2-40B4-BE49-F238E27FC236}">
                <a16:creationId xmlns="" xmlns:a16="http://schemas.microsoft.com/office/drawing/2014/main" id="{38D42579-EE6D-D9CD-EA70-DF6987DBDEDD}"/>
              </a:ext>
            </a:extLst>
          </p:cNvPr>
          <p:cNvSpPr>
            <a:spLocks noGrp="1"/>
          </p:cNvSpPr>
          <p:nvPr>
            <p:ph type="ftr" sz="quarter" idx="11"/>
          </p:nvPr>
        </p:nvSpPr>
        <p:spPr bwMode="auto">
          <a:xfrm rot="5400000">
            <a:off x="7077076" y="4178300"/>
            <a:ext cx="3657600" cy="384175"/>
          </a:xfrm>
        </p:spPr>
        <p:txBody>
          <a:bodyPr/>
          <a:lstStyle>
            <a:lvl1pPr>
              <a:defRPr/>
            </a:lvl1pPr>
          </a:lstStyle>
          <a:p>
            <a:pPr>
              <a:defRPr/>
            </a:pPr>
            <a:endParaRPr lang="en-US"/>
          </a:p>
        </p:txBody>
      </p:sp>
      <p:sp>
        <p:nvSpPr>
          <p:cNvPr id="22" name="Slide Number Placeholder 5">
            <a:extLst>
              <a:ext uri="{FF2B5EF4-FFF2-40B4-BE49-F238E27FC236}">
                <a16:creationId xmlns="" xmlns:a16="http://schemas.microsoft.com/office/drawing/2014/main" id="{573FFEF2-C967-64DD-1AD1-FAB31F665D36}"/>
              </a:ext>
            </a:extLst>
          </p:cNvPr>
          <p:cNvSpPr>
            <a:spLocks noGrp="1"/>
          </p:cNvSpPr>
          <p:nvPr>
            <p:ph type="sldNum" sz="quarter" idx="12"/>
          </p:nvPr>
        </p:nvSpPr>
        <p:spPr bwMode="auto">
          <a:xfrm>
            <a:off x="1339850" y="4929188"/>
            <a:ext cx="609600" cy="517525"/>
          </a:xfrm>
        </p:spPr>
        <p:txBody>
          <a:bodyPr/>
          <a:lstStyle>
            <a:lvl1pPr>
              <a:defRPr/>
            </a:lvl1pPr>
          </a:lstStyle>
          <a:p>
            <a:fld id="{84C9B5D4-AF4C-4822-BE24-7F1BCDFD3159}" type="slidenum">
              <a:rPr lang="en-US" altLang="en-US"/>
              <a:pPr/>
              <a:t>‹#›</a:t>
            </a:fld>
            <a:endParaRPr lang="en-US" altLang="en-US"/>
          </a:p>
        </p:txBody>
      </p:sp>
    </p:spTree>
    <p:extLst>
      <p:ext uri="{BB962C8B-B14F-4D97-AF65-F5344CB8AC3E}">
        <p14:creationId xmlns="" xmlns:p14="http://schemas.microsoft.com/office/powerpoint/2010/main" val="3132500264"/>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457200" y="1600200"/>
            <a:ext cx="3657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270248" y="1600200"/>
            <a:ext cx="3657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 xmlns:a16="http://schemas.microsoft.com/office/drawing/2014/main" id="{A7B4DAE0-0A34-EFE1-1C68-7CA8A37AA4BE}"/>
              </a:ext>
            </a:extLst>
          </p:cNvPr>
          <p:cNvSpPr>
            <a:spLocks noGrp="1"/>
          </p:cNvSpPr>
          <p:nvPr>
            <p:ph type="dt" sz="half" idx="10"/>
          </p:nvPr>
        </p:nvSpPr>
        <p:spPr/>
        <p:txBody>
          <a:bodyPr/>
          <a:lstStyle>
            <a:lvl1pPr>
              <a:defRPr/>
            </a:lvl1pPr>
          </a:lstStyle>
          <a:p>
            <a:pPr>
              <a:defRPr/>
            </a:pPr>
            <a:fld id="{EE4FBD7B-B5FB-480B-A690-6EDCAFDFC1A1}" type="datetimeFigureOut">
              <a:rPr lang="en-US"/>
              <a:pPr>
                <a:defRPr/>
              </a:pPr>
              <a:t>5/4/2026</a:t>
            </a:fld>
            <a:endParaRPr lang="en-US" dirty="0"/>
          </a:p>
        </p:txBody>
      </p:sp>
      <p:sp>
        <p:nvSpPr>
          <p:cNvPr id="4" name="Footer Placeholder 2">
            <a:extLst>
              <a:ext uri="{FF2B5EF4-FFF2-40B4-BE49-F238E27FC236}">
                <a16:creationId xmlns="" xmlns:a16="http://schemas.microsoft.com/office/drawing/2014/main" id="{E059E4F5-57A7-512B-0973-397ECB6EC506}"/>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22">
            <a:extLst>
              <a:ext uri="{FF2B5EF4-FFF2-40B4-BE49-F238E27FC236}">
                <a16:creationId xmlns="" xmlns:a16="http://schemas.microsoft.com/office/drawing/2014/main" id="{EAC35696-A363-34DA-557A-F6FA4ED040C4}"/>
              </a:ext>
            </a:extLst>
          </p:cNvPr>
          <p:cNvSpPr>
            <a:spLocks noGrp="1"/>
          </p:cNvSpPr>
          <p:nvPr>
            <p:ph type="sldNum" sz="quarter" idx="12"/>
          </p:nvPr>
        </p:nvSpPr>
        <p:spPr/>
        <p:txBody>
          <a:bodyPr/>
          <a:lstStyle>
            <a:lvl1pPr>
              <a:defRPr/>
            </a:lvl1pPr>
          </a:lstStyle>
          <a:p>
            <a:fld id="{28722F96-B57F-49DE-B6C6-FF1DD153E970}" type="slidenum">
              <a:rPr lang="en-US" altLang="en-US"/>
              <a:pPr/>
              <a:t>‹#›</a:t>
            </a:fld>
            <a:endParaRPr lang="en-US" altLang="en-US"/>
          </a:p>
        </p:txBody>
      </p:sp>
    </p:spTree>
    <p:extLst>
      <p:ext uri="{BB962C8B-B14F-4D97-AF65-F5344CB8AC3E}">
        <p14:creationId xmlns="" xmlns:p14="http://schemas.microsoft.com/office/powerpoint/2010/main" val="42617600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457200"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371975"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a:t>Click to edit Master text styles</a:t>
            </a:r>
          </a:p>
        </p:txBody>
      </p:sp>
      <p:sp>
        <p:nvSpPr>
          <p:cNvPr id="3" name="Date Placeholder 13">
            <a:extLst>
              <a:ext uri="{FF2B5EF4-FFF2-40B4-BE49-F238E27FC236}">
                <a16:creationId xmlns="" xmlns:a16="http://schemas.microsoft.com/office/drawing/2014/main" id="{EFA1E581-C3DB-D19A-BAB2-A67AFCC0B0D2}"/>
              </a:ext>
            </a:extLst>
          </p:cNvPr>
          <p:cNvSpPr>
            <a:spLocks noGrp="1"/>
          </p:cNvSpPr>
          <p:nvPr>
            <p:ph type="dt" sz="half" idx="10"/>
          </p:nvPr>
        </p:nvSpPr>
        <p:spPr/>
        <p:txBody>
          <a:bodyPr/>
          <a:lstStyle>
            <a:lvl1pPr>
              <a:defRPr/>
            </a:lvl1pPr>
          </a:lstStyle>
          <a:p>
            <a:pPr>
              <a:defRPr/>
            </a:pPr>
            <a:fld id="{0183CAFB-33D7-4380-BD1A-B90C525C9F45}" type="datetimeFigureOut">
              <a:rPr lang="en-US"/>
              <a:pPr>
                <a:defRPr/>
              </a:pPr>
              <a:t>5/4/2026</a:t>
            </a:fld>
            <a:endParaRPr lang="en-US" dirty="0"/>
          </a:p>
        </p:txBody>
      </p:sp>
      <p:sp>
        <p:nvSpPr>
          <p:cNvPr id="4" name="Footer Placeholder 2">
            <a:extLst>
              <a:ext uri="{FF2B5EF4-FFF2-40B4-BE49-F238E27FC236}">
                <a16:creationId xmlns="" xmlns:a16="http://schemas.microsoft.com/office/drawing/2014/main" id="{848CF672-28FE-E122-26CE-76882D67D34D}"/>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22">
            <a:extLst>
              <a:ext uri="{FF2B5EF4-FFF2-40B4-BE49-F238E27FC236}">
                <a16:creationId xmlns="" xmlns:a16="http://schemas.microsoft.com/office/drawing/2014/main" id="{3DB87977-F0EC-A9E2-8741-C9D51DC62A80}"/>
              </a:ext>
            </a:extLst>
          </p:cNvPr>
          <p:cNvSpPr>
            <a:spLocks noGrp="1"/>
          </p:cNvSpPr>
          <p:nvPr>
            <p:ph type="sldNum" sz="quarter" idx="12"/>
          </p:nvPr>
        </p:nvSpPr>
        <p:spPr/>
        <p:txBody>
          <a:bodyPr/>
          <a:lstStyle>
            <a:lvl1pPr>
              <a:defRPr/>
            </a:lvl1pPr>
          </a:lstStyle>
          <a:p>
            <a:fld id="{0E06A180-09DE-4DF3-9BF6-E79815837A82}" type="slidenum">
              <a:rPr lang="en-US" altLang="en-US"/>
              <a:pPr/>
              <a:t>‹#›</a:t>
            </a:fld>
            <a:endParaRPr lang="en-US" altLang="en-US"/>
          </a:p>
        </p:txBody>
      </p:sp>
    </p:spTree>
    <p:extLst>
      <p:ext uri="{BB962C8B-B14F-4D97-AF65-F5344CB8AC3E}">
        <p14:creationId xmlns="" xmlns:p14="http://schemas.microsoft.com/office/powerpoint/2010/main" val="15510833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5">
            <a:extLst>
              <a:ext uri="{FF2B5EF4-FFF2-40B4-BE49-F238E27FC236}">
                <a16:creationId xmlns="" xmlns:a16="http://schemas.microsoft.com/office/drawing/2014/main" id="{2CD5AA3C-5A4D-1411-9B75-E70B3B52F7EE}"/>
              </a:ext>
            </a:extLst>
          </p:cNvPr>
          <p:cNvSpPr>
            <a:spLocks noGrp="1"/>
          </p:cNvSpPr>
          <p:nvPr>
            <p:ph type="dt" sz="half" idx="10"/>
          </p:nvPr>
        </p:nvSpPr>
        <p:spPr/>
        <p:txBody>
          <a:bodyPr rtlCol="0"/>
          <a:lstStyle>
            <a:lvl1pPr>
              <a:defRPr/>
            </a:lvl1pPr>
          </a:lstStyle>
          <a:p>
            <a:pPr>
              <a:defRPr/>
            </a:pPr>
            <a:fld id="{58D3D910-CAFE-43D6-8E13-4BD426532EF1}" type="datetimeFigureOut">
              <a:rPr lang="en-US"/>
              <a:pPr>
                <a:defRPr/>
              </a:pPr>
              <a:t>5/4/2026</a:t>
            </a:fld>
            <a:endParaRPr lang="en-US" dirty="0"/>
          </a:p>
        </p:txBody>
      </p:sp>
      <p:sp>
        <p:nvSpPr>
          <p:cNvPr id="4" name="Slide Number Placeholder 6">
            <a:extLst>
              <a:ext uri="{FF2B5EF4-FFF2-40B4-BE49-F238E27FC236}">
                <a16:creationId xmlns="" xmlns:a16="http://schemas.microsoft.com/office/drawing/2014/main" id="{F08E9E03-3D5E-8272-81CD-F0522F91F70C}"/>
              </a:ext>
            </a:extLst>
          </p:cNvPr>
          <p:cNvSpPr>
            <a:spLocks noGrp="1"/>
          </p:cNvSpPr>
          <p:nvPr>
            <p:ph type="sldNum" sz="quarter" idx="11"/>
          </p:nvPr>
        </p:nvSpPr>
        <p:spPr/>
        <p:txBody>
          <a:bodyPr/>
          <a:lstStyle>
            <a:lvl1pPr>
              <a:defRPr/>
            </a:lvl1pPr>
          </a:lstStyle>
          <a:p>
            <a:fld id="{E25FE692-ADF1-4521-A9DF-B87353398802}" type="slidenum">
              <a:rPr lang="en-US" altLang="en-US"/>
              <a:pPr/>
              <a:t>‹#›</a:t>
            </a:fld>
            <a:endParaRPr lang="en-US" altLang="en-US"/>
          </a:p>
        </p:txBody>
      </p:sp>
      <p:sp>
        <p:nvSpPr>
          <p:cNvPr id="5" name="Footer Placeholder 7">
            <a:extLst>
              <a:ext uri="{FF2B5EF4-FFF2-40B4-BE49-F238E27FC236}">
                <a16:creationId xmlns="" xmlns:a16="http://schemas.microsoft.com/office/drawing/2014/main" id="{BB73A065-8E20-BDF2-8BDC-60BE335F114F}"/>
              </a:ext>
            </a:extLst>
          </p:cNvPr>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 xmlns:p14="http://schemas.microsoft.com/office/powerpoint/2010/main" val="18907142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 xmlns:a16="http://schemas.microsoft.com/office/drawing/2014/main" id="{1DA8F0EA-7F8E-D673-FCDD-21AFF1ECBF61}"/>
              </a:ext>
            </a:extLst>
          </p:cNvPr>
          <p:cNvSpPr>
            <a:spLocks noGrp="1"/>
          </p:cNvSpPr>
          <p:nvPr>
            <p:ph type="dt" sz="half" idx="10"/>
          </p:nvPr>
        </p:nvSpPr>
        <p:spPr/>
        <p:txBody>
          <a:bodyPr/>
          <a:lstStyle>
            <a:lvl1pPr>
              <a:defRPr/>
            </a:lvl1pPr>
          </a:lstStyle>
          <a:p>
            <a:pPr>
              <a:defRPr/>
            </a:pPr>
            <a:fld id="{3EEBFB7F-A796-4D63-B916-06177E34983A}" type="datetimeFigureOut">
              <a:rPr lang="en-US"/>
              <a:pPr>
                <a:defRPr/>
              </a:pPr>
              <a:t>5/4/2026</a:t>
            </a:fld>
            <a:endParaRPr lang="en-US" dirty="0"/>
          </a:p>
        </p:txBody>
      </p:sp>
      <p:sp>
        <p:nvSpPr>
          <p:cNvPr id="3" name="Footer Placeholder 2">
            <a:extLst>
              <a:ext uri="{FF2B5EF4-FFF2-40B4-BE49-F238E27FC236}">
                <a16:creationId xmlns="" xmlns:a16="http://schemas.microsoft.com/office/drawing/2014/main" id="{7D3197EB-FDF7-58E6-108A-485D6CA6F2AB}"/>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22">
            <a:extLst>
              <a:ext uri="{FF2B5EF4-FFF2-40B4-BE49-F238E27FC236}">
                <a16:creationId xmlns="" xmlns:a16="http://schemas.microsoft.com/office/drawing/2014/main" id="{19E2927C-E9D5-435E-CE27-7D0AF3009D20}"/>
              </a:ext>
            </a:extLst>
          </p:cNvPr>
          <p:cNvSpPr>
            <a:spLocks noGrp="1"/>
          </p:cNvSpPr>
          <p:nvPr>
            <p:ph type="sldNum" sz="quarter" idx="12"/>
          </p:nvPr>
        </p:nvSpPr>
        <p:spPr/>
        <p:txBody>
          <a:bodyPr/>
          <a:lstStyle>
            <a:lvl1pPr>
              <a:defRPr/>
            </a:lvl1pPr>
          </a:lstStyle>
          <a:p>
            <a:fld id="{5D2B9560-377E-4C7B-98BD-FED17B93C7F7}" type="slidenum">
              <a:rPr lang="en-US" altLang="en-US"/>
              <a:pPr/>
              <a:t>‹#›</a:t>
            </a:fld>
            <a:endParaRPr lang="en-US" altLang="en-US"/>
          </a:p>
        </p:txBody>
      </p:sp>
    </p:spTree>
    <p:extLst>
      <p:ext uri="{BB962C8B-B14F-4D97-AF65-F5344CB8AC3E}">
        <p14:creationId xmlns="" xmlns:p14="http://schemas.microsoft.com/office/powerpoint/2010/main" val="17740948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4" name="Straight Connector 3">
            <a:extLst>
              <a:ext uri="{FF2B5EF4-FFF2-40B4-BE49-F238E27FC236}">
                <a16:creationId xmlns="" xmlns:a16="http://schemas.microsoft.com/office/drawing/2014/main" id="{FE018029-1449-D086-C638-3EA94D8D795A}"/>
              </a:ext>
            </a:extLst>
          </p:cNvPr>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a:defRPr/>
            </a:pPr>
            <a:endParaRPr lang="en-US" dirty="0">
              <a:latin typeface="Arial" charset="0"/>
            </a:endParaRPr>
          </a:p>
        </p:txBody>
      </p:sp>
      <p:sp>
        <p:nvSpPr>
          <p:cNvPr id="5" name="Straight Connector 4">
            <a:extLst>
              <a:ext uri="{FF2B5EF4-FFF2-40B4-BE49-F238E27FC236}">
                <a16:creationId xmlns="" xmlns:a16="http://schemas.microsoft.com/office/drawing/2014/main" id="{C44E90C9-AB10-478B-79B2-8C18BF86E637}"/>
              </a:ext>
            </a:extLst>
          </p:cNvPr>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a:defRPr/>
            </a:pPr>
            <a:endParaRPr lang="en-US" dirty="0">
              <a:latin typeface="Arial" charset="0"/>
            </a:endParaRPr>
          </a:p>
        </p:txBody>
      </p:sp>
      <p:sp>
        <p:nvSpPr>
          <p:cNvPr id="6" name="Straight Connector 5">
            <a:extLst>
              <a:ext uri="{FF2B5EF4-FFF2-40B4-BE49-F238E27FC236}">
                <a16:creationId xmlns="" xmlns:a16="http://schemas.microsoft.com/office/drawing/2014/main" id="{0D63A729-B09C-E81F-88D0-993466726176}"/>
              </a:ext>
            </a:extLst>
          </p:cNvPr>
          <p:cNvSpPr>
            <a:spLocks noChangeShapeType="1"/>
          </p:cNvSpPr>
          <p:nvPr/>
        </p:nvSpPr>
        <p:spPr bwMode="auto">
          <a:xfrm>
            <a:off x="6192838" y="0"/>
            <a:ext cx="0" cy="6858000"/>
          </a:xfrm>
          <a:prstGeom prst="line">
            <a:avLst/>
          </a:prstGeom>
          <a:noFill/>
          <a:ln w="12700" cap="flat" cmpd="sng" algn="ctr">
            <a:solidFill>
              <a:schemeClr val="accent1"/>
            </a:solidFill>
            <a:prstDash val="solid"/>
            <a:round/>
            <a:headEnd type="none" w="med" len="med"/>
            <a:tailEnd type="none" w="med" len="med"/>
          </a:ln>
          <a:effectLst/>
        </p:spPr>
        <p:txBody>
          <a:bodyPr/>
          <a:lstStyle/>
          <a:p>
            <a:pPr>
              <a:defRPr/>
            </a:pPr>
            <a:endParaRPr lang="en-US" dirty="0">
              <a:latin typeface="Arial" charset="0"/>
            </a:endParaRPr>
          </a:p>
        </p:txBody>
      </p:sp>
      <p:sp>
        <p:nvSpPr>
          <p:cNvPr id="7" name="Straight Connector 6">
            <a:extLst>
              <a:ext uri="{FF2B5EF4-FFF2-40B4-BE49-F238E27FC236}">
                <a16:creationId xmlns="" xmlns:a16="http://schemas.microsoft.com/office/drawing/2014/main" id="{9DD153A5-6193-2095-FDBF-A07BB3BA8F4B}"/>
              </a:ext>
            </a:extLst>
          </p:cNvPr>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a:lstStyle/>
          <a:p>
            <a:pPr>
              <a:defRPr/>
            </a:pPr>
            <a:endParaRPr lang="en-US">
              <a:latin typeface="Arial" charset="0"/>
            </a:endParaRPr>
          </a:p>
        </p:txBody>
      </p:sp>
      <p:sp>
        <p:nvSpPr>
          <p:cNvPr id="8" name="Rectangle 7">
            <a:extLst>
              <a:ext uri="{FF2B5EF4-FFF2-40B4-BE49-F238E27FC236}">
                <a16:creationId xmlns="" xmlns:a16="http://schemas.microsoft.com/office/drawing/2014/main" id="{9AE52FA4-766B-FBA4-6905-26835B510287}"/>
              </a:ext>
            </a:extLst>
          </p:cNvPr>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Straight Connector 8">
            <a:extLst>
              <a:ext uri="{FF2B5EF4-FFF2-40B4-BE49-F238E27FC236}">
                <a16:creationId xmlns="" xmlns:a16="http://schemas.microsoft.com/office/drawing/2014/main" id="{1063E1C9-6E42-D0B6-59B9-88DB9822E75D}"/>
              </a:ext>
            </a:extLst>
          </p:cNvPr>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a:lstStyle/>
          <a:p>
            <a:pPr>
              <a:defRPr/>
            </a:pPr>
            <a:endParaRPr lang="en-US">
              <a:latin typeface="Arial" charset="0"/>
            </a:endParaRPr>
          </a:p>
        </p:txBody>
      </p:sp>
      <p:sp>
        <p:nvSpPr>
          <p:cNvPr id="10" name="Oval 9">
            <a:extLst>
              <a:ext uri="{FF2B5EF4-FFF2-40B4-BE49-F238E27FC236}">
                <a16:creationId xmlns="" xmlns:a16="http://schemas.microsoft.com/office/drawing/2014/main" id="{C481C6C5-8403-EBB3-A106-824053FD24C0}"/>
              </a:ext>
            </a:extLst>
          </p:cNvPr>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2" name="Title 1"/>
          <p:cNvSpPr>
            <a:spLocks noGrp="1"/>
          </p:cNvSpPr>
          <p:nvPr>
            <p:ph type="title"/>
          </p:nvPr>
        </p:nvSpPr>
        <p:spPr>
          <a:xfrm rot="5400000">
            <a:off x="3371850" y="3200400"/>
            <a:ext cx="6309360" cy="457200"/>
          </a:xfrm>
        </p:spPr>
        <p:txBody>
          <a:bodyPr/>
          <a:lstStyle>
            <a:lvl1pPr algn="l">
              <a:buNone/>
              <a:defRPr sz="2000" b="1" cap="small" baseline="0"/>
            </a:lvl1pPr>
          </a:lstStyle>
          <a:p>
            <a:r>
              <a:rPr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8" name="Content Placeholder 17"/>
          <p:cNvSpPr>
            <a:spLocks noGrp="1"/>
          </p:cNvSpPr>
          <p:nvPr>
            <p:ph sz="quarter" idx="1"/>
          </p:nvPr>
        </p:nvSpPr>
        <p:spPr>
          <a:xfrm>
            <a:off x="304800" y="274320"/>
            <a:ext cx="5638800" cy="6327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20">
            <a:extLst>
              <a:ext uri="{FF2B5EF4-FFF2-40B4-BE49-F238E27FC236}">
                <a16:creationId xmlns="" xmlns:a16="http://schemas.microsoft.com/office/drawing/2014/main" id="{52758151-F2A4-0D08-689B-3F7039AF9235}"/>
              </a:ext>
            </a:extLst>
          </p:cNvPr>
          <p:cNvSpPr>
            <a:spLocks noGrp="1"/>
          </p:cNvSpPr>
          <p:nvPr>
            <p:ph type="dt" sz="half" idx="10"/>
          </p:nvPr>
        </p:nvSpPr>
        <p:spPr/>
        <p:txBody>
          <a:bodyPr rtlCol="0"/>
          <a:lstStyle>
            <a:lvl1pPr>
              <a:defRPr/>
            </a:lvl1pPr>
          </a:lstStyle>
          <a:p>
            <a:pPr>
              <a:defRPr/>
            </a:pPr>
            <a:fld id="{2E81387B-7C00-4C57-B2BB-039C5B039EA2}" type="datetimeFigureOut">
              <a:rPr lang="en-US"/>
              <a:pPr>
                <a:defRPr/>
              </a:pPr>
              <a:t>5/4/2026</a:t>
            </a:fld>
            <a:endParaRPr lang="en-US" dirty="0"/>
          </a:p>
        </p:txBody>
      </p:sp>
      <p:sp>
        <p:nvSpPr>
          <p:cNvPr id="12" name="Slide Number Placeholder 21">
            <a:extLst>
              <a:ext uri="{FF2B5EF4-FFF2-40B4-BE49-F238E27FC236}">
                <a16:creationId xmlns="" xmlns:a16="http://schemas.microsoft.com/office/drawing/2014/main" id="{E1D15BF8-E4DB-5BA2-2D6E-00F81AD865A2}"/>
              </a:ext>
            </a:extLst>
          </p:cNvPr>
          <p:cNvSpPr>
            <a:spLocks noGrp="1"/>
          </p:cNvSpPr>
          <p:nvPr>
            <p:ph type="sldNum" sz="quarter" idx="11"/>
          </p:nvPr>
        </p:nvSpPr>
        <p:spPr/>
        <p:txBody>
          <a:bodyPr/>
          <a:lstStyle>
            <a:lvl1pPr>
              <a:defRPr/>
            </a:lvl1pPr>
          </a:lstStyle>
          <a:p>
            <a:fld id="{42A3B388-EC1E-46D3-899C-761F619F9C0F}" type="slidenum">
              <a:rPr lang="en-US" altLang="en-US"/>
              <a:pPr/>
              <a:t>‹#›</a:t>
            </a:fld>
            <a:endParaRPr lang="en-US" altLang="en-US"/>
          </a:p>
        </p:txBody>
      </p:sp>
      <p:sp>
        <p:nvSpPr>
          <p:cNvPr id="13" name="Footer Placeholder 22">
            <a:extLst>
              <a:ext uri="{FF2B5EF4-FFF2-40B4-BE49-F238E27FC236}">
                <a16:creationId xmlns="" xmlns:a16="http://schemas.microsoft.com/office/drawing/2014/main" id="{1DF813E4-B3C3-AE78-5152-4F5C8FFB95CB}"/>
              </a:ext>
            </a:extLst>
          </p:cNvPr>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 xmlns:p14="http://schemas.microsoft.com/office/powerpoint/2010/main" val="1278830476"/>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traight Connector 4">
            <a:extLst>
              <a:ext uri="{FF2B5EF4-FFF2-40B4-BE49-F238E27FC236}">
                <a16:creationId xmlns="" xmlns:a16="http://schemas.microsoft.com/office/drawing/2014/main" id="{3B7FC3EC-4404-14DF-C3ED-C8A9F0F1AECD}"/>
              </a:ext>
            </a:extLst>
          </p:cNvPr>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a:defRPr/>
            </a:pPr>
            <a:endParaRPr lang="en-US">
              <a:latin typeface="Arial" charset="0"/>
            </a:endParaRPr>
          </a:p>
        </p:txBody>
      </p:sp>
      <p:sp>
        <p:nvSpPr>
          <p:cNvPr id="6" name="Oval 5">
            <a:extLst>
              <a:ext uri="{FF2B5EF4-FFF2-40B4-BE49-F238E27FC236}">
                <a16:creationId xmlns="" xmlns:a16="http://schemas.microsoft.com/office/drawing/2014/main" id="{2A0650AF-C0E7-614B-E9A1-3B78B84FE016}"/>
              </a:ext>
            </a:extLst>
          </p:cNvPr>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7" name="Straight Connector 6">
            <a:extLst>
              <a:ext uri="{FF2B5EF4-FFF2-40B4-BE49-F238E27FC236}">
                <a16:creationId xmlns="" xmlns:a16="http://schemas.microsoft.com/office/drawing/2014/main" id="{0357828D-C06F-950E-909A-E80E92C1FA61}"/>
              </a:ext>
            </a:extLst>
          </p:cNvPr>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a:lstStyle/>
          <a:p>
            <a:pPr>
              <a:defRPr/>
            </a:pPr>
            <a:endParaRPr lang="en-US">
              <a:latin typeface="Arial" charset="0"/>
            </a:endParaRPr>
          </a:p>
        </p:txBody>
      </p:sp>
      <p:sp>
        <p:nvSpPr>
          <p:cNvPr id="8" name="Rectangle 7">
            <a:extLst>
              <a:ext uri="{FF2B5EF4-FFF2-40B4-BE49-F238E27FC236}">
                <a16:creationId xmlns="" xmlns:a16="http://schemas.microsoft.com/office/drawing/2014/main" id="{91B14559-C747-9F74-AE25-52B70194D521}"/>
              </a:ext>
            </a:extLst>
          </p:cNvPr>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Straight Connector 8">
            <a:extLst>
              <a:ext uri="{FF2B5EF4-FFF2-40B4-BE49-F238E27FC236}">
                <a16:creationId xmlns="" xmlns:a16="http://schemas.microsoft.com/office/drawing/2014/main" id="{0EA44DA9-51E3-525A-8F93-F92C66B60394}"/>
              </a:ext>
            </a:extLst>
          </p:cNvPr>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a:lstStyle/>
          <a:p>
            <a:pPr>
              <a:defRPr/>
            </a:pPr>
            <a:endParaRPr lang="en-US">
              <a:latin typeface="Arial" charset="0"/>
            </a:endParaRPr>
          </a:p>
        </p:txBody>
      </p:sp>
      <p:sp>
        <p:nvSpPr>
          <p:cNvPr id="10" name="Straight Connector 9">
            <a:extLst>
              <a:ext uri="{FF2B5EF4-FFF2-40B4-BE49-F238E27FC236}">
                <a16:creationId xmlns="" xmlns:a16="http://schemas.microsoft.com/office/drawing/2014/main" id="{E86E1AB7-5C4E-B157-E6DF-CAFE9CABEE0E}"/>
              </a:ext>
            </a:extLst>
          </p:cNvPr>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a:defRPr/>
            </a:pPr>
            <a:endParaRPr lang="en-US" dirty="0">
              <a:latin typeface="Arial" charset="0"/>
            </a:endParaRPr>
          </a:p>
        </p:txBody>
      </p:sp>
      <p:sp>
        <p:nvSpPr>
          <p:cNvPr id="11" name="Straight Connector 10">
            <a:extLst>
              <a:ext uri="{FF2B5EF4-FFF2-40B4-BE49-F238E27FC236}">
                <a16:creationId xmlns="" xmlns:a16="http://schemas.microsoft.com/office/drawing/2014/main" id="{FDD17215-A214-866A-A01D-9B62BA0C6467}"/>
              </a:ext>
            </a:extLst>
          </p:cNvPr>
          <p:cNvSpPr>
            <a:spLocks noChangeShapeType="1"/>
          </p:cNvSpPr>
          <p:nvPr/>
        </p:nvSpPr>
        <p:spPr bwMode="auto">
          <a:xfrm>
            <a:off x="6192838" y="0"/>
            <a:ext cx="0" cy="6858000"/>
          </a:xfrm>
          <a:prstGeom prst="line">
            <a:avLst/>
          </a:prstGeom>
          <a:noFill/>
          <a:ln w="12700" cap="flat" cmpd="sng" algn="ctr">
            <a:solidFill>
              <a:schemeClr val="accent1"/>
            </a:solidFill>
            <a:prstDash val="solid"/>
            <a:round/>
            <a:headEnd type="none" w="med" len="med"/>
            <a:tailEnd type="none" w="med" len="med"/>
          </a:ln>
          <a:effectLst/>
        </p:spPr>
        <p:txBody>
          <a:bodyPr/>
          <a:lstStyle/>
          <a:p>
            <a:pPr>
              <a:defRPr/>
            </a:pPr>
            <a:endParaRPr lang="en-US" dirty="0">
              <a:latin typeface="Arial" charset="0"/>
            </a:endParaRPr>
          </a:p>
        </p:txBody>
      </p:sp>
      <p:sp>
        <p:nvSpPr>
          <p:cNvPr id="2" name="Title 1"/>
          <p:cNvSpPr>
            <a:spLocks noGrp="1"/>
          </p:cNvSpPr>
          <p:nvPr>
            <p:ph type="title"/>
          </p:nvPr>
        </p:nvSpPr>
        <p:spPr>
          <a:xfrm rot="5400000">
            <a:off x="3350133" y="3200400"/>
            <a:ext cx="6309360" cy="457200"/>
          </a:xfrm>
        </p:spPr>
        <p:txBody>
          <a:bodyPr/>
          <a:lstStyle>
            <a:lvl1pPr algn="l">
              <a:buNone/>
              <a:defRPr sz="2000" b="1"/>
            </a:lvl1pPr>
          </a:lstStyle>
          <a:p>
            <a:r>
              <a:rPr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en-US"/>
              <a:t>Click to edit Master text styles</a:t>
            </a:r>
          </a:p>
        </p:txBody>
      </p:sp>
      <p:sp>
        <p:nvSpPr>
          <p:cNvPr id="12" name="Date Placeholder 16">
            <a:extLst>
              <a:ext uri="{FF2B5EF4-FFF2-40B4-BE49-F238E27FC236}">
                <a16:creationId xmlns="" xmlns:a16="http://schemas.microsoft.com/office/drawing/2014/main" id="{1F89FBF7-97DF-0C0E-B845-58571D57003B}"/>
              </a:ext>
            </a:extLst>
          </p:cNvPr>
          <p:cNvSpPr>
            <a:spLocks noGrp="1"/>
          </p:cNvSpPr>
          <p:nvPr>
            <p:ph type="dt" sz="half" idx="10"/>
          </p:nvPr>
        </p:nvSpPr>
        <p:spPr/>
        <p:txBody>
          <a:bodyPr rtlCol="0"/>
          <a:lstStyle>
            <a:lvl1pPr>
              <a:defRPr/>
            </a:lvl1pPr>
          </a:lstStyle>
          <a:p>
            <a:pPr>
              <a:defRPr/>
            </a:pPr>
            <a:fld id="{058CAB78-BD73-4BF0-A90A-83A102250433}" type="datetimeFigureOut">
              <a:rPr lang="en-US"/>
              <a:pPr>
                <a:defRPr/>
              </a:pPr>
              <a:t>5/4/2026</a:t>
            </a:fld>
            <a:endParaRPr lang="en-US" dirty="0"/>
          </a:p>
        </p:txBody>
      </p:sp>
      <p:sp>
        <p:nvSpPr>
          <p:cNvPr id="13" name="Slide Number Placeholder 17">
            <a:extLst>
              <a:ext uri="{FF2B5EF4-FFF2-40B4-BE49-F238E27FC236}">
                <a16:creationId xmlns="" xmlns:a16="http://schemas.microsoft.com/office/drawing/2014/main" id="{DAD92596-F71A-6EDE-F90D-00A817040FA6}"/>
              </a:ext>
            </a:extLst>
          </p:cNvPr>
          <p:cNvSpPr>
            <a:spLocks noGrp="1"/>
          </p:cNvSpPr>
          <p:nvPr>
            <p:ph type="sldNum" sz="quarter" idx="11"/>
          </p:nvPr>
        </p:nvSpPr>
        <p:spPr/>
        <p:txBody>
          <a:bodyPr/>
          <a:lstStyle>
            <a:lvl1pPr>
              <a:defRPr/>
            </a:lvl1pPr>
          </a:lstStyle>
          <a:p>
            <a:fld id="{45D99A7C-756F-4CF8-99D2-474F4ABF7CE3}" type="slidenum">
              <a:rPr lang="en-US" altLang="en-US"/>
              <a:pPr/>
              <a:t>‹#›</a:t>
            </a:fld>
            <a:endParaRPr lang="en-US" altLang="en-US"/>
          </a:p>
        </p:txBody>
      </p:sp>
      <p:sp>
        <p:nvSpPr>
          <p:cNvPr id="14" name="Footer Placeholder 20">
            <a:extLst>
              <a:ext uri="{FF2B5EF4-FFF2-40B4-BE49-F238E27FC236}">
                <a16:creationId xmlns="" xmlns:a16="http://schemas.microsoft.com/office/drawing/2014/main" id="{90D82866-3028-4E65-B5B7-545C32BE2A88}"/>
              </a:ext>
            </a:extLst>
          </p:cNvPr>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 xmlns:p14="http://schemas.microsoft.com/office/powerpoint/2010/main" val="13391517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 xmlns:a16="http://schemas.microsoft.com/office/drawing/2014/main" id="{B5DA3630-BDFE-2323-F449-975D1C909DF0}"/>
              </a:ext>
            </a:extLst>
          </p:cNvPr>
          <p:cNvSpPr>
            <a:spLocks noGrp="1"/>
          </p:cNvSpPr>
          <p:nvPr>
            <p:ph type="dt" sz="half" idx="10"/>
          </p:nvPr>
        </p:nvSpPr>
        <p:spPr/>
        <p:txBody>
          <a:bodyPr/>
          <a:lstStyle>
            <a:lvl1pPr>
              <a:defRPr/>
            </a:lvl1pPr>
          </a:lstStyle>
          <a:p>
            <a:pPr>
              <a:defRPr/>
            </a:pPr>
            <a:fld id="{0B046592-0E3C-46E9-9DD9-9FCD38975179}" type="datetimeFigureOut">
              <a:rPr lang="en-US"/>
              <a:pPr>
                <a:defRPr/>
              </a:pPr>
              <a:t>5/4/2026</a:t>
            </a:fld>
            <a:endParaRPr lang="en-US" dirty="0"/>
          </a:p>
        </p:txBody>
      </p:sp>
      <p:sp>
        <p:nvSpPr>
          <p:cNvPr id="5" name="Footer Placeholder 2">
            <a:extLst>
              <a:ext uri="{FF2B5EF4-FFF2-40B4-BE49-F238E27FC236}">
                <a16:creationId xmlns="" xmlns:a16="http://schemas.microsoft.com/office/drawing/2014/main" id="{9C7917B3-5116-5BBA-139E-72A49DE1381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 xmlns:a16="http://schemas.microsoft.com/office/drawing/2014/main" id="{B207B946-5B7C-FA21-3EE5-1C90848685C6}"/>
              </a:ext>
            </a:extLst>
          </p:cNvPr>
          <p:cNvSpPr>
            <a:spLocks noGrp="1"/>
          </p:cNvSpPr>
          <p:nvPr>
            <p:ph type="sldNum" sz="quarter" idx="12"/>
          </p:nvPr>
        </p:nvSpPr>
        <p:spPr/>
        <p:txBody>
          <a:bodyPr/>
          <a:lstStyle>
            <a:lvl1pPr>
              <a:defRPr/>
            </a:lvl1pPr>
          </a:lstStyle>
          <a:p>
            <a:fld id="{67D579AC-0687-4386-8D4D-065432F9D911}" type="slidenum">
              <a:rPr lang="en-US" altLang="en-US"/>
              <a:pPr/>
              <a:t>‹#›</a:t>
            </a:fld>
            <a:endParaRPr lang="en-US" altLang="en-US"/>
          </a:p>
        </p:txBody>
      </p:sp>
    </p:spTree>
    <p:extLst>
      <p:ext uri="{BB962C8B-B14F-4D97-AF65-F5344CB8AC3E}">
        <p14:creationId xmlns="" xmlns:p14="http://schemas.microsoft.com/office/powerpoint/2010/main" val="37839580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 xmlns:a16="http://schemas.microsoft.com/office/drawing/2014/main" id="{A320416C-DDF0-E9BB-B20D-DBA34D5D1273}"/>
              </a:ext>
            </a:extLst>
          </p:cNvPr>
          <p:cNvSpPr>
            <a:spLocks noGrp="1"/>
          </p:cNvSpPr>
          <p:nvPr>
            <p:ph type="dt" sz="half" idx="10"/>
          </p:nvPr>
        </p:nvSpPr>
        <p:spPr/>
        <p:txBody>
          <a:bodyPr/>
          <a:lstStyle>
            <a:lvl1pPr>
              <a:defRPr/>
            </a:lvl1pPr>
          </a:lstStyle>
          <a:p>
            <a:pPr>
              <a:defRPr/>
            </a:pPr>
            <a:fld id="{D7014A59-F723-4821-BB86-E0AD6A002E0C}" type="datetimeFigureOut">
              <a:rPr lang="en-US"/>
              <a:pPr>
                <a:defRPr/>
              </a:pPr>
              <a:t>5/4/2026</a:t>
            </a:fld>
            <a:endParaRPr lang="en-US" dirty="0"/>
          </a:p>
        </p:txBody>
      </p:sp>
      <p:sp>
        <p:nvSpPr>
          <p:cNvPr id="5" name="Footer Placeholder 2">
            <a:extLst>
              <a:ext uri="{FF2B5EF4-FFF2-40B4-BE49-F238E27FC236}">
                <a16:creationId xmlns="" xmlns:a16="http://schemas.microsoft.com/office/drawing/2014/main" id="{97A297AC-81DE-2C88-782D-3A3DC0419CC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 xmlns:a16="http://schemas.microsoft.com/office/drawing/2014/main" id="{23C930D0-FBBD-E685-25E9-74E2E609CAFA}"/>
              </a:ext>
            </a:extLst>
          </p:cNvPr>
          <p:cNvSpPr>
            <a:spLocks noGrp="1"/>
          </p:cNvSpPr>
          <p:nvPr>
            <p:ph type="sldNum" sz="quarter" idx="12"/>
          </p:nvPr>
        </p:nvSpPr>
        <p:spPr/>
        <p:txBody>
          <a:bodyPr/>
          <a:lstStyle>
            <a:lvl1pPr>
              <a:defRPr/>
            </a:lvl1pPr>
          </a:lstStyle>
          <a:p>
            <a:fld id="{EBFA1667-8E52-4EB8-97C6-99FF5FFC5904}" type="slidenum">
              <a:rPr lang="en-US" altLang="en-US"/>
              <a:pPr/>
              <a:t>‹#›</a:t>
            </a:fld>
            <a:endParaRPr lang="en-US" altLang="en-US"/>
          </a:p>
        </p:txBody>
      </p:sp>
    </p:spTree>
    <p:extLst>
      <p:ext uri="{BB962C8B-B14F-4D97-AF65-F5344CB8AC3E}">
        <p14:creationId xmlns="" xmlns:p14="http://schemas.microsoft.com/office/powerpoint/2010/main" val="3847208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91DBD47F-EFF2-4A60-946C-286089418D25}" type="datetime1">
              <a:rPr lang="en-US" smtClean="0"/>
              <a:pPr/>
              <a:t>5/4/2026</a:t>
            </a:fld>
            <a:endParaRPr lang="en-US"/>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r>
              <a:rPr lang="en-US"/>
              <a:t>VTU PG Studies</a:t>
            </a:r>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E566A64D-537C-4258-BCDA-D6FBF77857E8}" type="slidenum">
              <a:rPr lang="en-US" smtClean="0"/>
              <a:pPr/>
              <a:t>‹#›</a:t>
            </a:fld>
            <a:endParaRPr lang="en-US"/>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Straight Connector 15">
            <a:extLst>
              <a:ext uri="{FF2B5EF4-FFF2-40B4-BE49-F238E27FC236}">
                <a16:creationId xmlns="" xmlns:a16="http://schemas.microsoft.com/office/drawing/2014/main" id="{B708E9DA-9EFC-E2A8-37E3-2CB32995B50F}"/>
              </a:ext>
            </a:extLst>
          </p:cNvPr>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a:defRPr/>
            </a:pPr>
            <a:endParaRPr lang="en-US" dirty="0">
              <a:latin typeface="Arial" charset="0"/>
            </a:endParaRPr>
          </a:p>
        </p:txBody>
      </p:sp>
      <p:sp>
        <p:nvSpPr>
          <p:cNvPr id="22" name="Title Placeholder 21">
            <a:extLst>
              <a:ext uri="{FF2B5EF4-FFF2-40B4-BE49-F238E27FC236}">
                <a16:creationId xmlns="" xmlns:a16="http://schemas.microsoft.com/office/drawing/2014/main" id="{71C7746E-57C5-2EB6-1675-D94B2EA8FDAF}"/>
              </a:ext>
            </a:extLst>
          </p:cNvPr>
          <p:cNvSpPr>
            <a:spLocks noGrp="1"/>
          </p:cNvSpPr>
          <p:nvPr>
            <p:ph type="title"/>
          </p:nvPr>
        </p:nvSpPr>
        <p:spPr>
          <a:xfrm>
            <a:off x="457200" y="274638"/>
            <a:ext cx="7467600" cy="1143000"/>
          </a:xfrm>
          <a:prstGeom prst="rect">
            <a:avLst/>
          </a:prstGeom>
        </p:spPr>
        <p:txBody>
          <a:bodyPr vert="horz" anchor="b">
            <a:normAutofit/>
          </a:bodyPr>
          <a:lstStyle/>
          <a:p>
            <a:r>
              <a:rPr lang="en-US"/>
              <a:t>Click to edit Master title style</a:t>
            </a:r>
          </a:p>
        </p:txBody>
      </p:sp>
      <p:sp>
        <p:nvSpPr>
          <p:cNvPr id="1028" name="Text Placeholder 12">
            <a:extLst>
              <a:ext uri="{FF2B5EF4-FFF2-40B4-BE49-F238E27FC236}">
                <a16:creationId xmlns="" xmlns:a16="http://schemas.microsoft.com/office/drawing/2014/main" id="{87F1344D-34BB-1863-92D3-49C244ACB6CB}"/>
              </a:ext>
            </a:extLst>
          </p:cNvPr>
          <p:cNvSpPr>
            <a:spLocks noGrp="1"/>
          </p:cNvSpPr>
          <p:nvPr>
            <p:ph type="body" idx="1"/>
          </p:nvPr>
        </p:nvSpPr>
        <p:spPr bwMode="auto">
          <a:xfrm>
            <a:off x="457200" y="1600200"/>
            <a:ext cx="7467600" cy="4873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 xmlns:a16="http://schemas.microsoft.com/office/drawing/2014/main" id="{5C4D1C2A-2E43-077B-1D49-F209E4EFDDED}"/>
              </a:ext>
            </a:extLst>
          </p:cNvPr>
          <p:cNvSpPr>
            <a:spLocks noGrp="1"/>
          </p:cNvSpPr>
          <p:nvPr>
            <p:ph type="dt" sz="half" idx="2"/>
          </p:nvPr>
        </p:nvSpPr>
        <p:spPr>
          <a:xfrm rot="5400000">
            <a:off x="7589045" y="1081881"/>
            <a:ext cx="2011362" cy="384175"/>
          </a:xfrm>
          <a:prstGeom prst="rect">
            <a:avLst/>
          </a:prstGeom>
        </p:spPr>
        <p:txBody>
          <a:bodyPr vert="horz" anchor="ctr" anchorCtr="0"/>
          <a:lstStyle>
            <a:lvl1pPr algn="r" eaLnBrk="1" latinLnBrk="0" hangingPunct="1">
              <a:defRPr kumimoji="0" sz="1200">
                <a:solidFill>
                  <a:schemeClr val="tx2"/>
                </a:solidFill>
                <a:latin typeface="Arial" charset="0"/>
              </a:defRPr>
            </a:lvl1pPr>
          </a:lstStyle>
          <a:p>
            <a:pPr>
              <a:defRPr/>
            </a:pPr>
            <a:fld id="{C2EEACF6-3CE0-4038-BB82-F98E35A20379}" type="datetimeFigureOut">
              <a:rPr lang="en-US"/>
              <a:pPr>
                <a:defRPr/>
              </a:pPr>
              <a:t>5/4/2026</a:t>
            </a:fld>
            <a:endParaRPr lang="en-US" dirty="0"/>
          </a:p>
        </p:txBody>
      </p:sp>
      <p:sp>
        <p:nvSpPr>
          <p:cNvPr id="3" name="Footer Placeholder 2">
            <a:extLst>
              <a:ext uri="{FF2B5EF4-FFF2-40B4-BE49-F238E27FC236}">
                <a16:creationId xmlns="" xmlns:a16="http://schemas.microsoft.com/office/drawing/2014/main" id="{24F80C87-E92F-5D74-9A04-11B417F2FF17}"/>
              </a:ext>
            </a:extLst>
          </p:cNvPr>
          <p:cNvSpPr>
            <a:spLocks noGrp="1"/>
          </p:cNvSpPr>
          <p:nvPr>
            <p:ph type="ftr" sz="quarter" idx="3"/>
          </p:nvPr>
        </p:nvSpPr>
        <p:spPr>
          <a:xfrm rot="5400000">
            <a:off x="6989763" y="3736975"/>
            <a:ext cx="3200400" cy="365125"/>
          </a:xfrm>
          <a:prstGeom prst="rect">
            <a:avLst/>
          </a:prstGeom>
        </p:spPr>
        <p:txBody>
          <a:bodyPr vert="horz" anchor="ctr" anchorCtr="0"/>
          <a:lstStyle>
            <a:lvl1pPr algn="l" eaLnBrk="1" latinLnBrk="0" hangingPunct="1">
              <a:defRPr kumimoji="0" sz="1200">
                <a:solidFill>
                  <a:schemeClr val="tx2"/>
                </a:solidFill>
                <a:latin typeface="Arial" charset="0"/>
              </a:defRPr>
            </a:lvl1pPr>
          </a:lstStyle>
          <a:p>
            <a:pPr>
              <a:defRPr/>
            </a:pPr>
            <a:endParaRPr lang="en-US"/>
          </a:p>
        </p:txBody>
      </p:sp>
      <p:sp>
        <p:nvSpPr>
          <p:cNvPr id="7" name="Straight Connector 6">
            <a:extLst>
              <a:ext uri="{FF2B5EF4-FFF2-40B4-BE49-F238E27FC236}">
                <a16:creationId xmlns="" xmlns:a16="http://schemas.microsoft.com/office/drawing/2014/main" id="{9A9E7FC0-7B1C-205B-8F43-C14D52951F84}"/>
              </a:ext>
            </a:extLst>
          </p:cNvPr>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a:defRPr/>
            </a:pPr>
            <a:endParaRPr lang="en-US">
              <a:latin typeface="Arial" charset="0"/>
            </a:endParaRPr>
          </a:p>
        </p:txBody>
      </p:sp>
      <p:sp>
        <p:nvSpPr>
          <p:cNvPr id="9" name="Straight Connector 8">
            <a:extLst>
              <a:ext uri="{FF2B5EF4-FFF2-40B4-BE49-F238E27FC236}">
                <a16:creationId xmlns="" xmlns:a16="http://schemas.microsoft.com/office/drawing/2014/main" id="{A61EE9E5-9886-D27F-D32B-3C4F24CA7C58}"/>
              </a:ext>
            </a:extLst>
          </p:cNvPr>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a:lstStyle/>
          <a:p>
            <a:pPr>
              <a:defRPr/>
            </a:pPr>
            <a:endParaRPr lang="en-US">
              <a:latin typeface="Arial" charset="0"/>
            </a:endParaRPr>
          </a:p>
        </p:txBody>
      </p:sp>
      <p:sp>
        <p:nvSpPr>
          <p:cNvPr id="10" name="Rectangle 9">
            <a:extLst>
              <a:ext uri="{FF2B5EF4-FFF2-40B4-BE49-F238E27FC236}">
                <a16:creationId xmlns="" xmlns:a16="http://schemas.microsoft.com/office/drawing/2014/main" id="{BE5ADE23-DC74-8BF0-2259-199F7A9AF16A}"/>
              </a:ext>
            </a:extLst>
          </p:cNvPr>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1" name="Straight Connector 10">
            <a:extLst>
              <a:ext uri="{FF2B5EF4-FFF2-40B4-BE49-F238E27FC236}">
                <a16:creationId xmlns="" xmlns:a16="http://schemas.microsoft.com/office/drawing/2014/main" id="{13F88C98-5C1D-D14A-6F56-837175382AEC}"/>
              </a:ext>
            </a:extLst>
          </p:cNvPr>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a:lstStyle/>
          <a:p>
            <a:pPr>
              <a:defRPr/>
            </a:pPr>
            <a:endParaRPr lang="en-US">
              <a:latin typeface="Arial" charset="0"/>
            </a:endParaRPr>
          </a:p>
        </p:txBody>
      </p:sp>
      <p:sp>
        <p:nvSpPr>
          <p:cNvPr id="12" name="Oval 11">
            <a:extLst>
              <a:ext uri="{FF2B5EF4-FFF2-40B4-BE49-F238E27FC236}">
                <a16:creationId xmlns="" xmlns:a16="http://schemas.microsoft.com/office/drawing/2014/main" id="{D4A31AFD-EE78-A6A7-1AD3-A3A791C20486}"/>
              </a:ext>
            </a:extLst>
          </p:cNvPr>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23" name="Slide Number Placeholder 22">
            <a:extLst>
              <a:ext uri="{FF2B5EF4-FFF2-40B4-BE49-F238E27FC236}">
                <a16:creationId xmlns="" xmlns:a16="http://schemas.microsoft.com/office/drawing/2014/main" id="{AF39E246-93AE-D602-36AA-378BC41E7AF5}"/>
              </a:ext>
            </a:extLst>
          </p:cNvPr>
          <p:cNvSpPr>
            <a:spLocks noGrp="1"/>
          </p:cNvSpPr>
          <p:nvPr>
            <p:ph type="sldNum" sz="quarter" idx="4"/>
          </p:nvPr>
        </p:nvSpPr>
        <p:spPr>
          <a:xfrm>
            <a:off x="8129588" y="5734050"/>
            <a:ext cx="609600" cy="520700"/>
          </a:xfrm>
          <a:prstGeom prst="rect">
            <a:avLst/>
          </a:prstGeom>
        </p:spPr>
        <p:txBody>
          <a:bodyPr vert="horz" wrap="square" lIns="91440" tIns="45720" rIns="91440" bIns="45720" numCol="1" anchor="ctr" anchorCtr="0" compatLnSpc="1">
            <a:prstTxWarp prst="textNoShape">
              <a:avLst/>
            </a:prstTxWarp>
          </a:bodyPr>
          <a:lstStyle>
            <a:lvl1pPr algn="ctr">
              <a:defRPr sz="1400" b="1">
                <a:solidFill>
                  <a:srgbClr val="FFFFFF"/>
                </a:solidFill>
              </a:defRPr>
            </a:lvl1pPr>
          </a:lstStyle>
          <a:p>
            <a:fld id="{B353988C-DC53-4143-946A-910C70B21052}" type="slidenum">
              <a:rPr lang="en-US" altLang="en-US"/>
              <a:pPr/>
              <a:t>‹#›</a:t>
            </a:fld>
            <a:endParaRPr lang="en-US" altLang="en-US"/>
          </a:p>
        </p:txBody>
      </p:sp>
    </p:spTree>
    <p:extLst>
      <p:ext uri="{BB962C8B-B14F-4D97-AF65-F5344CB8AC3E}">
        <p14:creationId xmlns="" xmlns:p14="http://schemas.microsoft.com/office/powerpoint/2010/main" val="408853300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0" fontAlgn="base" hangingPunct="0">
        <a:spcBef>
          <a:spcPct val="0"/>
        </a:spcBef>
        <a:spcAft>
          <a:spcPct val="0"/>
        </a:spcAft>
        <a:defRPr sz="3000" kern="1200" cap="small">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Century Schoolbook" pitchFamily="18" charset="0"/>
        </a:defRPr>
      </a:lvl2pPr>
      <a:lvl3pPr algn="l" rtl="0" eaLnBrk="0" fontAlgn="base" hangingPunct="0">
        <a:spcBef>
          <a:spcPct val="0"/>
        </a:spcBef>
        <a:spcAft>
          <a:spcPct val="0"/>
        </a:spcAft>
        <a:defRPr sz="3000">
          <a:solidFill>
            <a:schemeClr val="tx2"/>
          </a:solidFill>
          <a:latin typeface="Century Schoolbook" pitchFamily="18" charset="0"/>
        </a:defRPr>
      </a:lvl3pPr>
      <a:lvl4pPr algn="l" rtl="0" eaLnBrk="0" fontAlgn="base" hangingPunct="0">
        <a:spcBef>
          <a:spcPct val="0"/>
        </a:spcBef>
        <a:spcAft>
          <a:spcPct val="0"/>
        </a:spcAft>
        <a:defRPr sz="3000">
          <a:solidFill>
            <a:schemeClr val="tx2"/>
          </a:solidFill>
          <a:latin typeface="Century Schoolbook" pitchFamily="18" charset="0"/>
        </a:defRPr>
      </a:lvl4pPr>
      <a:lvl5pPr algn="l" rtl="0" eaLnBrk="0" fontAlgn="base" hangingPunct="0">
        <a:spcBef>
          <a:spcPct val="0"/>
        </a:spcBef>
        <a:spcAft>
          <a:spcPct val="0"/>
        </a:spcAft>
        <a:defRPr sz="3000">
          <a:solidFill>
            <a:schemeClr val="tx2"/>
          </a:solidFill>
          <a:latin typeface="Century Schoolbook" pitchFamily="18" charset="0"/>
        </a:defRPr>
      </a:lvl5pPr>
      <a:lvl6pPr marL="457200" algn="l" rtl="0" fontAlgn="base">
        <a:spcBef>
          <a:spcPct val="0"/>
        </a:spcBef>
        <a:spcAft>
          <a:spcPct val="0"/>
        </a:spcAft>
        <a:defRPr sz="3000">
          <a:solidFill>
            <a:schemeClr val="tx2"/>
          </a:solidFill>
          <a:latin typeface="Century Schoolbook" pitchFamily="18" charset="0"/>
        </a:defRPr>
      </a:lvl6pPr>
      <a:lvl7pPr marL="914400" algn="l" rtl="0" fontAlgn="base">
        <a:spcBef>
          <a:spcPct val="0"/>
        </a:spcBef>
        <a:spcAft>
          <a:spcPct val="0"/>
        </a:spcAft>
        <a:defRPr sz="3000">
          <a:solidFill>
            <a:schemeClr val="tx2"/>
          </a:solidFill>
          <a:latin typeface="Century Schoolbook" pitchFamily="18" charset="0"/>
        </a:defRPr>
      </a:lvl7pPr>
      <a:lvl8pPr marL="1371600" algn="l" rtl="0" fontAlgn="base">
        <a:spcBef>
          <a:spcPct val="0"/>
        </a:spcBef>
        <a:spcAft>
          <a:spcPct val="0"/>
        </a:spcAft>
        <a:defRPr sz="3000">
          <a:solidFill>
            <a:schemeClr val="tx2"/>
          </a:solidFill>
          <a:latin typeface="Century Schoolbook" pitchFamily="18" charset="0"/>
        </a:defRPr>
      </a:lvl8pPr>
      <a:lvl9pPr marL="1828800" algn="l" rtl="0" fontAlgn="base">
        <a:spcBef>
          <a:spcPct val="0"/>
        </a:spcBef>
        <a:spcAft>
          <a:spcPct val="0"/>
        </a:spcAft>
        <a:defRPr sz="3000">
          <a:solidFill>
            <a:schemeClr val="tx2"/>
          </a:solidFill>
          <a:latin typeface="Century Schoolbook" pitchFamily="18" charset="0"/>
        </a:defRPr>
      </a:lvl9pPr>
    </p:titleStyle>
    <p:body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kern="1200">
          <a:solidFill>
            <a:schemeClr val="tx1"/>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E0752F"/>
        </a:buClr>
        <a:buSzPct val="60000"/>
        <a:buFont typeface="Wingdings" panose="05000000000000000000" pitchFamily="2" charset="2"/>
        <a:buChar char=""/>
        <a:defRPr sz="2400"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FEC3AE"/>
        </a:buClr>
        <a:buSzPct val="60000"/>
        <a:buFont typeface="Wingdings" panose="05000000000000000000" pitchFamily="2" charset="2"/>
        <a:buChar char=""/>
        <a:defRPr sz="2000"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339658" y="2209800"/>
            <a:ext cx="2146742" cy="630942"/>
          </a:xfrm>
          <a:prstGeom prst="rect">
            <a:avLst/>
          </a:prstGeom>
        </p:spPr>
        <p:txBody>
          <a:bodyPr wrap="none">
            <a:spAutoFit/>
          </a:bodyPr>
          <a:lstStyle/>
          <a:p>
            <a:r>
              <a:rPr lang="en-US" sz="3500" b="1" i="1" dirty="0">
                <a:solidFill>
                  <a:schemeClr val="tx2"/>
                </a:solidFill>
                <a:effectLst>
                  <a:outerShdw blurRad="38100" dist="38100" dir="2700000" algn="tl">
                    <a:srgbClr val="000000">
                      <a:alpha val="43137"/>
                    </a:srgbClr>
                  </a:outerShdw>
                </a:effectLst>
              </a:rPr>
              <a:t>Module#2</a:t>
            </a:r>
            <a:endParaRPr lang="en-US" sz="3500" i="1" dirty="0">
              <a:solidFill>
                <a:schemeClr val="tx2"/>
              </a:solidFill>
              <a:effectLst>
                <a:outerShdw blurRad="38100" dist="38100" dir="2700000" algn="tl">
                  <a:srgbClr val="000000">
                    <a:alpha val="43137"/>
                  </a:srgbClr>
                </a:outerShdw>
              </a:effectLst>
            </a:endParaRPr>
          </a:p>
        </p:txBody>
      </p:sp>
      <p:sp>
        <p:nvSpPr>
          <p:cNvPr id="2" name="Title 1"/>
          <p:cNvSpPr>
            <a:spLocks noGrp="1"/>
          </p:cNvSpPr>
          <p:nvPr>
            <p:ph type="ctrTitle"/>
          </p:nvPr>
        </p:nvSpPr>
        <p:spPr>
          <a:xfrm>
            <a:off x="381000" y="3581399"/>
            <a:ext cx="8382000" cy="1905001"/>
          </a:xfr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chor="ctr"/>
          <a:lstStyle/>
          <a:p>
            <a:r>
              <a:rPr lang="en-US" sz="4500" b="1" dirty="0">
                <a:solidFill>
                  <a:srgbClr val="FF0000"/>
                </a:solidFill>
              </a:rPr>
              <a:t>EXTERNAL ASSESSMENT</a:t>
            </a:r>
            <a:endParaRPr lang="en-US" sz="4500" b="1" dirty="0">
              <a:solidFill>
                <a:srgbClr val="FF0000"/>
              </a:solidFill>
              <a:latin typeface="Times New Roman" pitchFamily="18" charset="0"/>
              <a:cs typeface="Times New Roman" pitchFamily="18" charset="0"/>
            </a:endParaRPr>
          </a:p>
        </p:txBody>
      </p:sp>
    </p:spTree>
    <p:extLst>
      <p:ext uri="{BB962C8B-B14F-4D97-AF65-F5344CB8AC3E}">
        <p14:creationId xmlns="" xmlns:p14="http://schemas.microsoft.com/office/powerpoint/2010/main" val="2807839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B52A6D3-9BD2-F36E-6306-6983FC10D3AD}"/>
            </a:ext>
          </a:extLst>
        </p:cNvPr>
        <p:cNvGrpSpPr/>
        <p:nvPr/>
      </p:nvGrpSpPr>
      <p:grpSpPr>
        <a:xfrm>
          <a:off x="0" y="0"/>
          <a:ext cx="0" cy="0"/>
          <a:chOff x="0" y="0"/>
          <a:chExt cx="0" cy="0"/>
        </a:xfrm>
      </p:grpSpPr>
      <p:sp>
        <p:nvSpPr>
          <p:cNvPr id="4" name="Date Placeholder 3">
            <a:extLst>
              <a:ext uri="{FF2B5EF4-FFF2-40B4-BE49-F238E27FC236}">
                <a16:creationId xmlns="" xmlns:a16="http://schemas.microsoft.com/office/drawing/2014/main" id="{C2F21BEB-C579-B00F-970A-984E292C39CD}"/>
              </a:ext>
            </a:extLst>
          </p:cNvPr>
          <p:cNvSpPr>
            <a:spLocks noGrp="1"/>
          </p:cNvSpPr>
          <p:nvPr>
            <p:ph type="dt" sz="half" idx="10"/>
          </p:nvPr>
        </p:nvSpPr>
        <p:spPr/>
        <p:txBody>
          <a:bodyPr/>
          <a:lstStyle/>
          <a:p>
            <a:fld id="{04619D83-FF17-4516-B6B3-12726EAD2179}" type="datetime1">
              <a:rPr lang="en-US" smtClean="0"/>
              <a:pPr/>
              <a:t>5/4/2026</a:t>
            </a:fld>
            <a:endParaRPr lang="en-US"/>
          </a:p>
        </p:txBody>
      </p:sp>
      <p:sp>
        <p:nvSpPr>
          <p:cNvPr id="5" name="Footer Placeholder 4">
            <a:extLst>
              <a:ext uri="{FF2B5EF4-FFF2-40B4-BE49-F238E27FC236}">
                <a16:creationId xmlns="" xmlns:a16="http://schemas.microsoft.com/office/drawing/2014/main" id="{A5B4BFF5-31C5-9EE0-4619-7FFD563B1902}"/>
              </a:ext>
            </a:extLst>
          </p:cNvPr>
          <p:cNvSpPr>
            <a:spLocks noGrp="1"/>
          </p:cNvSpPr>
          <p:nvPr>
            <p:ph type="ftr" sz="quarter" idx="11"/>
          </p:nvPr>
        </p:nvSpPr>
        <p:spPr/>
        <p:txBody>
          <a:bodyPr/>
          <a:lstStyle/>
          <a:p>
            <a:r>
              <a:rPr lang="en-US"/>
              <a:t>VTU PG Studies</a:t>
            </a:r>
          </a:p>
        </p:txBody>
      </p:sp>
      <p:sp>
        <p:nvSpPr>
          <p:cNvPr id="6" name="Slide Number Placeholder 5">
            <a:extLst>
              <a:ext uri="{FF2B5EF4-FFF2-40B4-BE49-F238E27FC236}">
                <a16:creationId xmlns="" xmlns:a16="http://schemas.microsoft.com/office/drawing/2014/main" id="{285C09E9-8637-E05E-AD1A-C37D6B3CE6AC}"/>
              </a:ext>
            </a:extLst>
          </p:cNvPr>
          <p:cNvSpPr>
            <a:spLocks noGrp="1"/>
          </p:cNvSpPr>
          <p:nvPr>
            <p:ph type="sldNum" sz="quarter" idx="12"/>
          </p:nvPr>
        </p:nvSpPr>
        <p:spPr/>
        <p:txBody>
          <a:bodyPr/>
          <a:lstStyle/>
          <a:p>
            <a:fld id="{E566A64D-537C-4258-BCDA-D6FBF77857E8}" type="slidenum">
              <a:rPr lang="en-US" smtClean="0"/>
              <a:pPr/>
              <a:t>2</a:t>
            </a:fld>
            <a:endParaRPr lang="en-US"/>
          </a:p>
        </p:txBody>
      </p:sp>
      <p:pic>
        <p:nvPicPr>
          <p:cNvPr id="2" name="Picture 2" descr="D:\MBA Teaching Material\Marketing Management\MM\Images\vtu-logo.png">
            <a:extLst>
              <a:ext uri="{FF2B5EF4-FFF2-40B4-BE49-F238E27FC236}">
                <a16:creationId xmlns="" xmlns:a16="http://schemas.microsoft.com/office/drawing/2014/main" id="{7275C0CB-91A0-897C-9ACA-E75E171B7DD9}"/>
              </a:ext>
            </a:extLst>
          </p:cNvP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 xmlns:a14="http://schemas.microsoft.com/office/drawing/2010/main">
                <a:solidFill>
                  <a:srgbClr val="FFFFFF"/>
                </a:solidFill>
              </a14:hiddenFill>
            </a:ext>
          </a:extLst>
        </p:spPr>
      </p:pic>
      <p:sp>
        <p:nvSpPr>
          <p:cNvPr id="8" name="TextBox 7">
            <a:extLst>
              <a:ext uri="{FF2B5EF4-FFF2-40B4-BE49-F238E27FC236}">
                <a16:creationId xmlns="" xmlns:a16="http://schemas.microsoft.com/office/drawing/2014/main" id="{131B946E-C820-255E-558D-AADCBB378A2B}"/>
              </a:ext>
            </a:extLst>
          </p:cNvPr>
          <p:cNvSpPr txBox="1"/>
          <p:nvPr/>
        </p:nvSpPr>
        <p:spPr>
          <a:xfrm>
            <a:off x="6896747" y="5548630"/>
            <a:ext cx="1409053" cy="471170"/>
          </a:xfrm>
          <a:prstGeom prst="rect">
            <a:avLst/>
          </a:prstGeom>
          <a:solidFill>
            <a:schemeClr val="bg1">
              <a:lumMod val="95000"/>
            </a:schemeClr>
          </a:solidFill>
        </p:spPr>
        <p:txBody>
          <a:bodyPr wrap="square" rtlCol="0">
            <a:spAutoFit/>
          </a:bodyPr>
          <a:lstStyle/>
          <a:p>
            <a:endParaRPr lang="en-IN" dirty="0"/>
          </a:p>
        </p:txBody>
      </p:sp>
      <p:pic>
        <p:nvPicPr>
          <p:cNvPr id="7" name="Picture 6">
            <a:extLst>
              <a:ext uri="{FF2B5EF4-FFF2-40B4-BE49-F238E27FC236}">
                <a16:creationId xmlns="" xmlns:a16="http://schemas.microsoft.com/office/drawing/2014/main" id="{B2A68F6F-579F-B50A-9A70-953E5A2E8DED}"/>
              </a:ext>
            </a:extLst>
          </p:cNvPr>
          <p:cNvPicPr>
            <a:picLocks noChangeAspect="1"/>
          </p:cNvPicPr>
          <p:nvPr/>
        </p:nvPicPr>
        <p:blipFill>
          <a:blip r:embed="rId3"/>
          <a:stretch>
            <a:fillRect/>
          </a:stretch>
        </p:blipFill>
        <p:spPr>
          <a:xfrm>
            <a:off x="39031" y="1021024"/>
            <a:ext cx="9104969" cy="4770175"/>
          </a:xfrm>
          <a:prstGeom prst="rect">
            <a:avLst/>
          </a:prstGeom>
        </p:spPr>
      </p:pic>
    </p:spTree>
    <p:extLst>
      <p:ext uri="{BB962C8B-B14F-4D97-AF65-F5344CB8AC3E}">
        <p14:creationId xmlns="" xmlns:p14="http://schemas.microsoft.com/office/powerpoint/2010/main" val="3013061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60E2C9B-D622-DFEF-79D1-D66A870BECE1}"/>
            </a:ext>
          </a:extLst>
        </p:cNvPr>
        <p:cNvGrpSpPr/>
        <p:nvPr/>
      </p:nvGrpSpPr>
      <p:grpSpPr>
        <a:xfrm>
          <a:off x="0" y="0"/>
          <a:ext cx="0" cy="0"/>
          <a:chOff x="0" y="0"/>
          <a:chExt cx="0" cy="0"/>
        </a:xfrm>
      </p:grpSpPr>
      <p:sp>
        <p:nvSpPr>
          <p:cNvPr id="4" name="Date Placeholder 3">
            <a:extLst>
              <a:ext uri="{FF2B5EF4-FFF2-40B4-BE49-F238E27FC236}">
                <a16:creationId xmlns="" xmlns:a16="http://schemas.microsoft.com/office/drawing/2014/main" id="{CD1D81A8-6D95-3AB6-596E-995EDAD264B8}"/>
              </a:ext>
            </a:extLst>
          </p:cNvPr>
          <p:cNvSpPr>
            <a:spLocks noGrp="1"/>
          </p:cNvSpPr>
          <p:nvPr>
            <p:ph type="dt" sz="half" idx="10"/>
          </p:nvPr>
        </p:nvSpPr>
        <p:spPr/>
        <p:txBody>
          <a:bodyPr/>
          <a:lstStyle/>
          <a:p>
            <a:fld id="{04619D83-FF17-4516-B6B3-12726EAD2179}" type="datetime1">
              <a:rPr lang="en-US" smtClean="0"/>
              <a:pPr/>
              <a:t>5/4/2026</a:t>
            </a:fld>
            <a:endParaRPr lang="en-US"/>
          </a:p>
        </p:txBody>
      </p:sp>
      <p:sp>
        <p:nvSpPr>
          <p:cNvPr id="5" name="Footer Placeholder 4">
            <a:extLst>
              <a:ext uri="{FF2B5EF4-FFF2-40B4-BE49-F238E27FC236}">
                <a16:creationId xmlns="" xmlns:a16="http://schemas.microsoft.com/office/drawing/2014/main" id="{E4D11811-0DD3-5914-B5F8-2217E214FACB}"/>
              </a:ext>
            </a:extLst>
          </p:cNvPr>
          <p:cNvSpPr>
            <a:spLocks noGrp="1"/>
          </p:cNvSpPr>
          <p:nvPr>
            <p:ph type="ftr" sz="quarter" idx="11"/>
          </p:nvPr>
        </p:nvSpPr>
        <p:spPr/>
        <p:txBody>
          <a:bodyPr/>
          <a:lstStyle/>
          <a:p>
            <a:r>
              <a:rPr lang="en-US"/>
              <a:t>VTU PG Studies</a:t>
            </a:r>
          </a:p>
        </p:txBody>
      </p:sp>
      <p:sp>
        <p:nvSpPr>
          <p:cNvPr id="6" name="Slide Number Placeholder 5">
            <a:extLst>
              <a:ext uri="{FF2B5EF4-FFF2-40B4-BE49-F238E27FC236}">
                <a16:creationId xmlns="" xmlns:a16="http://schemas.microsoft.com/office/drawing/2014/main" id="{9D1A944A-262E-57D2-E17E-B9E6432560F0}"/>
              </a:ext>
            </a:extLst>
          </p:cNvPr>
          <p:cNvSpPr>
            <a:spLocks noGrp="1"/>
          </p:cNvSpPr>
          <p:nvPr>
            <p:ph type="sldNum" sz="quarter" idx="12"/>
          </p:nvPr>
        </p:nvSpPr>
        <p:spPr/>
        <p:txBody>
          <a:bodyPr/>
          <a:lstStyle/>
          <a:p>
            <a:fld id="{E566A64D-537C-4258-BCDA-D6FBF77857E8}" type="slidenum">
              <a:rPr lang="en-US" smtClean="0"/>
              <a:pPr/>
              <a:t>3</a:t>
            </a:fld>
            <a:endParaRPr lang="en-US"/>
          </a:p>
        </p:txBody>
      </p:sp>
      <p:pic>
        <p:nvPicPr>
          <p:cNvPr id="2" name="Picture 2" descr="D:\MBA Teaching Material\Marketing Management\MM\Images\vtu-logo.png">
            <a:extLst>
              <a:ext uri="{FF2B5EF4-FFF2-40B4-BE49-F238E27FC236}">
                <a16:creationId xmlns="" xmlns:a16="http://schemas.microsoft.com/office/drawing/2014/main" id="{219A24BC-6A2F-F066-551D-7759E7F5E42D}"/>
              </a:ext>
            </a:extLst>
          </p:cNvP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 xmlns:a14="http://schemas.microsoft.com/office/drawing/2010/main">
                <a:solidFill>
                  <a:srgbClr val="FFFFFF"/>
                </a:solidFill>
              </a14:hiddenFill>
            </a:ext>
          </a:extLst>
        </p:spPr>
      </p:pic>
      <p:pic>
        <p:nvPicPr>
          <p:cNvPr id="7" name="Picture 6">
            <a:extLst>
              <a:ext uri="{FF2B5EF4-FFF2-40B4-BE49-F238E27FC236}">
                <a16:creationId xmlns="" xmlns:a16="http://schemas.microsoft.com/office/drawing/2014/main" id="{3AD0C8B5-8C73-8EE3-C3F1-AEE8FE9ABC70}"/>
              </a:ext>
            </a:extLst>
          </p:cNvPr>
          <p:cNvPicPr>
            <a:picLocks noChangeAspect="1"/>
          </p:cNvPicPr>
          <p:nvPr/>
        </p:nvPicPr>
        <p:blipFill>
          <a:blip r:embed="rId3"/>
          <a:stretch>
            <a:fillRect/>
          </a:stretch>
        </p:blipFill>
        <p:spPr>
          <a:xfrm>
            <a:off x="381000" y="685800"/>
            <a:ext cx="7924800" cy="5092362"/>
          </a:xfrm>
          <a:prstGeom prst="rect">
            <a:avLst/>
          </a:prstGeom>
        </p:spPr>
      </p:pic>
    </p:spTree>
    <p:extLst>
      <p:ext uri="{BB962C8B-B14F-4D97-AF65-F5344CB8AC3E}">
        <p14:creationId xmlns="" xmlns:p14="http://schemas.microsoft.com/office/powerpoint/2010/main" val="3514957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7263875-B79E-CED2-D959-5BCF3626CBC4}"/>
            </a:ext>
          </a:extLst>
        </p:cNvPr>
        <p:cNvGrpSpPr/>
        <p:nvPr/>
      </p:nvGrpSpPr>
      <p:grpSpPr>
        <a:xfrm>
          <a:off x="0" y="0"/>
          <a:ext cx="0" cy="0"/>
          <a:chOff x="0" y="0"/>
          <a:chExt cx="0" cy="0"/>
        </a:xfrm>
      </p:grpSpPr>
      <p:sp>
        <p:nvSpPr>
          <p:cNvPr id="4" name="Date Placeholder 3">
            <a:extLst>
              <a:ext uri="{FF2B5EF4-FFF2-40B4-BE49-F238E27FC236}">
                <a16:creationId xmlns="" xmlns:a16="http://schemas.microsoft.com/office/drawing/2014/main" id="{84D27348-CCA1-0F4B-EEF8-85C9CAF5E9E7}"/>
              </a:ext>
            </a:extLst>
          </p:cNvPr>
          <p:cNvSpPr>
            <a:spLocks noGrp="1"/>
          </p:cNvSpPr>
          <p:nvPr>
            <p:ph type="dt" sz="half" idx="10"/>
          </p:nvPr>
        </p:nvSpPr>
        <p:spPr/>
        <p:txBody>
          <a:bodyPr/>
          <a:lstStyle/>
          <a:p>
            <a:fld id="{04619D83-FF17-4516-B6B3-12726EAD2179}" type="datetime1">
              <a:rPr lang="en-US" smtClean="0"/>
              <a:pPr/>
              <a:t>5/4/2026</a:t>
            </a:fld>
            <a:endParaRPr lang="en-US"/>
          </a:p>
        </p:txBody>
      </p:sp>
      <p:sp>
        <p:nvSpPr>
          <p:cNvPr id="5" name="Footer Placeholder 4">
            <a:extLst>
              <a:ext uri="{FF2B5EF4-FFF2-40B4-BE49-F238E27FC236}">
                <a16:creationId xmlns="" xmlns:a16="http://schemas.microsoft.com/office/drawing/2014/main" id="{1ED06D33-C0AE-16FE-7545-077CFD33643D}"/>
              </a:ext>
            </a:extLst>
          </p:cNvPr>
          <p:cNvSpPr>
            <a:spLocks noGrp="1"/>
          </p:cNvSpPr>
          <p:nvPr>
            <p:ph type="ftr" sz="quarter" idx="11"/>
          </p:nvPr>
        </p:nvSpPr>
        <p:spPr/>
        <p:txBody>
          <a:bodyPr/>
          <a:lstStyle/>
          <a:p>
            <a:r>
              <a:rPr lang="en-US"/>
              <a:t>VTU PG Studies</a:t>
            </a:r>
          </a:p>
        </p:txBody>
      </p:sp>
      <p:sp>
        <p:nvSpPr>
          <p:cNvPr id="6" name="Slide Number Placeholder 5">
            <a:extLst>
              <a:ext uri="{FF2B5EF4-FFF2-40B4-BE49-F238E27FC236}">
                <a16:creationId xmlns="" xmlns:a16="http://schemas.microsoft.com/office/drawing/2014/main" id="{08A5168E-3DEE-4EDA-0FDA-1814F528B750}"/>
              </a:ext>
            </a:extLst>
          </p:cNvPr>
          <p:cNvSpPr>
            <a:spLocks noGrp="1"/>
          </p:cNvSpPr>
          <p:nvPr>
            <p:ph type="sldNum" sz="quarter" idx="12"/>
          </p:nvPr>
        </p:nvSpPr>
        <p:spPr/>
        <p:txBody>
          <a:bodyPr/>
          <a:lstStyle/>
          <a:p>
            <a:fld id="{E566A64D-537C-4258-BCDA-D6FBF77857E8}" type="slidenum">
              <a:rPr lang="en-US" smtClean="0"/>
              <a:pPr/>
              <a:t>4</a:t>
            </a:fld>
            <a:endParaRPr lang="en-US"/>
          </a:p>
        </p:txBody>
      </p:sp>
      <p:pic>
        <p:nvPicPr>
          <p:cNvPr id="2" name="Picture 2" descr="D:\MBA Teaching Material\Marketing Management\MM\Images\vtu-logo.png">
            <a:extLst>
              <a:ext uri="{FF2B5EF4-FFF2-40B4-BE49-F238E27FC236}">
                <a16:creationId xmlns="" xmlns:a16="http://schemas.microsoft.com/office/drawing/2014/main" id="{AC96CCD6-5AAB-3216-0A0A-C2835D1A5C37}"/>
              </a:ext>
            </a:extLst>
          </p:cNvP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 xmlns:a14="http://schemas.microsoft.com/office/drawing/2010/main">
                <a:solidFill>
                  <a:srgbClr val="FFFFFF"/>
                </a:solidFill>
              </a14:hiddenFill>
            </a:ext>
          </a:extLst>
        </p:spPr>
      </p:pic>
      <p:sp>
        <p:nvSpPr>
          <p:cNvPr id="8" name="TextBox 7">
            <a:extLst>
              <a:ext uri="{FF2B5EF4-FFF2-40B4-BE49-F238E27FC236}">
                <a16:creationId xmlns="" xmlns:a16="http://schemas.microsoft.com/office/drawing/2014/main" id="{A43659DA-C211-E7DD-3CDA-4CD384A1C193}"/>
              </a:ext>
            </a:extLst>
          </p:cNvPr>
          <p:cNvSpPr txBox="1"/>
          <p:nvPr/>
        </p:nvSpPr>
        <p:spPr>
          <a:xfrm>
            <a:off x="6896747" y="5548630"/>
            <a:ext cx="1409053" cy="471170"/>
          </a:xfrm>
          <a:prstGeom prst="rect">
            <a:avLst/>
          </a:prstGeom>
          <a:solidFill>
            <a:schemeClr val="bg1">
              <a:lumMod val="95000"/>
            </a:schemeClr>
          </a:solidFill>
        </p:spPr>
        <p:txBody>
          <a:bodyPr wrap="square" rtlCol="0">
            <a:spAutoFit/>
          </a:bodyPr>
          <a:lstStyle/>
          <a:p>
            <a:endParaRPr lang="en-IN" dirty="0"/>
          </a:p>
        </p:txBody>
      </p:sp>
      <p:sp>
        <p:nvSpPr>
          <p:cNvPr id="7" name="TextBox 6">
            <a:extLst>
              <a:ext uri="{FF2B5EF4-FFF2-40B4-BE49-F238E27FC236}">
                <a16:creationId xmlns="" xmlns:a16="http://schemas.microsoft.com/office/drawing/2014/main" id="{7FAE6FF9-CB33-6B48-DDBF-F471F3C6E751}"/>
              </a:ext>
            </a:extLst>
          </p:cNvPr>
          <p:cNvSpPr txBox="1"/>
          <p:nvPr/>
        </p:nvSpPr>
        <p:spPr>
          <a:xfrm>
            <a:off x="90173" y="157370"/>
            <a:ext cx="8223578" cy="5632311"/>
          </a:xfrm>
          <a:prstGeom prst="rect">
            <a:avLst/>
          </a:prstGeom>
          <a:noFill/>
        </p:spPr>
        <p:txBody>
          <a:bodyPr wrap="square">
            <a:spAutoFit/>
          </a:bodyPr>
          <a:lstStyle/>
          <a:p>
            <a:pPr algn="just">
              <a:lnSpc>
                <a:spcPct val="150000"/>
              </a:lnSpc>
              <a:buFont typeface="Arial" pitchFamily="34" charset="0"/>
              <a:buChar char="•"/>
            </a:pPr>
            <a:r>
              <a:rPr lang="en-US" sz="2400" dirty="0">
                <a:solidFill>
                  <a:srgbClr val="FF0000"/>
                </a:solidFill>
              </a:rPr>
              <a:t>The purpose of an external audit is to develop a finite list of opportunities that could benefit a firm and threats that should be avoided. </a:t>
            </a:r>
            <a:endParaRPr lang="en-US" sz="2400" dirty="0" smtClean="0">
              <a:solidFill>
                <a:srgbClr val="FF0000"/>
              </a:solidFill>
            </a:endParaRPr>
          </a:p>
          <a:p>
            <a:pPr algn="just">
              <a:lnSpc>
                <a:spcPct val="150000"/>
              </a:lnSpc>
              <a:buFont typeface="Arial" pitchFamily="34" charset="0"/>
              <a:buChar char="•"/>
            </a:pPr>
            <a:endParaRPr lang="en-US" sz="2400" dirty="0">
              <a:solidFill>
                <a:srgbClr val="FF0000"/>
              </a:solidFill>
            </a:endParaRPr>
          </a:p>
          <a:p>
            <a:pPr algn="just">
              <a:lnSpc>
                <a:spcPct val="150000"/>
              </a:lnSpc>
              <a:buFont typeface="Arial" pitchFamily="34" charset="0"/>
              <a:buChar char="•"/>
            </a:pPr>
            <a:r>
              <a:rPr lang="en-US" sz="2400" dirty="0" smtClean="0">
                <a:solidFill>
                  <a:srgbClr val="FF0000"/>
                </a:solidFill>
              </a:rPr>
              <a:t>It </a:t>
            </a:r>
            <a:r>
              <a:rPr lang="en-US" sz="2400" dirty="0">
                <a:solidFill>
                  <a:srgbClr val="FF0000"/>
                </a:solidFill>
              </a:rPr>
              <a:t>is aimed at identifying key variables that offer actionable responses</a:t>
            </a:r>
            <a:r>
              <a:rPr lang="en-US" sz="2400" dirty="0" smtClean="0">
                <a:solidFill>
                  <a:srgbClr val="FF0000"/>
                </a:solidFill>
              </a:rPr>
              <a:t>.</a:t>
            </a:r>
          </a:p>
          <a:p>
            <a:pPr algn="just">
              <a:lnSpc>
                <a:spcPct val="150000"/>
              </a:lnSpc>
              <a:buFont typeface="Arial" pitchFamily="34" charset="0"/>
              <a:buChar char="•"/>
            </a:pPr>
            <a:endParaRPr lang="en-US" sz="2400" dirty="0">
              <a:solidFill>
                <a:srgbClr val="FF0000"/>
              </a:solidFill>
            </a:endParaRPr>
          </a:p>
          <a:p>
            <a:pPr algn="just">
              <a:lnSpc>
                <a:spcPct val="150000"/>
              </a:lnSpc>
              <a:buFont typeface="Arial" pitchFamily="34" charset="0"/>
              <a:buChar char="•"/>
            </a:pPr>
            <a:r>
              <a:rPr lang="en-US" sz="2400" dirty="0" smtClean="0"/>
              <a:t>Formulating </a:t>
            </a:r>
            <a:r>
              <a:rPr lang="en-US" sz="2400" dirty="0"/>
              <a:t>strategies that take </a:t>
            </a:r>
            <a:r>
              <a:rPr lang="en-US" sz="2400" dirty="0">
                <a:solidFill>
                  <a:srgbClr val="FF0000"/>
                </a:solidFill>
              </a:rPr>
              <a:t>advantage of external opportunities or that minimize the impact of potential threats. </a:t>
            </a:r>
            <a:endParaRPr lang="en-IN" sz="2400" dirty="0">
              <a:solidFill>
                <a:srgbClr val="FF0000"/>
              </a:solidFill>
            </a:endParaRPr>
          </a:p>
        </p:txBody>
      </p:sp>
    </p:spTree>
    <p:extLst>
      <p:ext uri="{BB962C8B-B14F-4D97-AF65-F5344CB8AC3E}">
        <p14:creationId xmlns="" xmlns:p14="http://schemas.microsoft.com/office/powerpoint/2010/main" val="690931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BB660B6-A3FA-B073-2906-8970588DAE89}"/>
            </a:ext>
          </a:extLst>
        </p:cNvPr>
        <p:cNvGrpSpPr/>
        <p:nvPr/>
      </p:nvGrpSpPr>
      <p:grpSpPr>
        <a:xfrm>
          <a:off x="0" y="0"/>
          <a:ext cx="0" cy="0"/>
          <a:chOff x="0" y="0"/>
          <a:chExt cx="0" cy="0"/>
        </a:xfrm>
      </p:grpSpPr>
      <p:sp>
        <p:nvSpPr>
          <p:cNvPr id="4" name="Date Placeholder 3">
            <a:extLst>
              <a:ext uri="{FF2B5EF4-FFF2-40B4-BE49-F238E27FC236}">
                <a16:creationId xmlns="" xmlns:a16="http://schemas.microsoft.com/office/drawing/2014/main" id="{4AE66E3F-617B-AB3D-34C3-D7D4628B0FBC}"/>
              </a:ext>
            </a:extLst>
          </p:cNvPr>
          <p:cNvSpPr>
            <a:spLocks noGrp="1"/>
          </p:cNvSpPr>
          <p:nvPr>
            <p:ph type="dt" sz="half" idx="10"/>
          </p:nvPr>
        </p:nvSpPr>
        <p:spPr/>
        <p:txBody>
          <a:bodyPr/>
          <a:lstStyle/>
          <a:p>
            <a:fld id="{04619D83-FF17-4516-B6B3-12726EAD2179}" type="datetime1">
              <a:rPr lang="en-US" smtClean="0"/>
              <a:pPr/>
              <a:t>5/4/2026</a:t>
            </a:fld>
            <a:endParaRPr lang="en-US"/>
          </a:p>
        </p:txBody>
      </p:sp>
      <p:sp>
        <p:nvSpPr>
          <p:cNvPr id="5" name="Footer Placeholder 4">
            <a:extLst>
              <a:ext uri="{FF2B5EF4-FFF2-40B4-BE49-F238E27FC236}">
                <a16:creationId xmlns="" xmlns:a16="http://schemas.microsoft.com/office/drawing/2014/main" id="{ECFF100F-BF93-BBDE-4BF6-25E7C79557B9}"/>
              </a:ext>
            </a:extLst>
          </p:cNvPr>
          <p:cNvSpPr>
            <a:spLocks noGrp="1"/>
          </p:cNvSpPr>
          <p:nvPr>
            <p:ph type="ftr" sz="quarter" idx="11"/>
          </p:nvPr>
        </p:nvSpPr>
        <p:spPr/>
        <p:txBody>
          <a:bodyPr/>
          <a:lstStyle/>
          <a:p>
            <a:r>
              <a:rPr lang="en-US"/>
              <a:t>VTU PG Studies</a:t>
            </a:r>
          </a:p>
        </p:txBody>
      </p:sp>
      <p:sp>
        <p:nvSpPr>
          <p:cNvPr id="6" name="Slide Number Placeholder 5">
            <a:extLst>
              <a:ext uri="{FF2B5EF4-FFF2-40B4-BE49-F238E27FC236}">
                <a16:creationId xmlns="" xmlns:a16="http://schemas.microsoft.com/office/drawing/2014/main" id="{6F2A412F-796F-A2C0-3FE1-93477EBA2FF0}"/>
              </a:ext>
            </a:extLst>
          </p:cNvPr>
          <p:cNvSpPr>
            <a:spLocks noGrp="1"/>
          </p:cNvSpPr>
          <p:nvPr>
            <p:ph type="sldNum" sz="quarter" idx="12"/>
          </p:nvPr>
        </p:nvSpPr>
        <p:spPr/>
        <p:txBody>
          <a:bodyPr/>
          <a:lstStyle/>
          <a:p>
            <a:fld id="{E566A64D-537C-4258-BCDA-D6FBF77857E8}" type="slidenum">
              <a:rPr lang="en-US" smtClean="0"/>
              <a:pPr/>
              <a:t>5</a:t>
            </a:fld>
            <a:endParaRPr lang="en-US"/>
          </a:p>
        </p:txBody>
      </p:sp>
      <p:pic>
        <p:nvPicPr>
          <p:cNvPr id="7" name="Picture 2" descr="D:\MBA Teaching Material\Marketing Management\MM\Images\vtu-logo.png">
            <a:extLst>
              <a:ext uri="{FF2B5EF4-FFF2-40B4-BE49-F238E27FC236}">
                <a16:creationId xmlns="" xmlns:a16="http://schemas.microsoft.com/office/drawing/2014/main" id="{022A20ED-458D-B9AC-70C2-20C2E754C2EF}"/>
              </a:ext>
            </a:extLst>
          </p:cNvP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 xmlns:a14="http://schemas.microsoft.com/office/drawing/2010/main">
                <a:solidFill>
                  <a:srgbClr val="FFFFFF"/>
                </a:solidFill>
              </a14:hiddenFill>
            </a:ext>
          </a:extLst>
        </p:spPr>
      </p:pic>
      <p:pic>
        <p:nvPicPr>
          <p:cNvPr id="3" name="Picture 2">
            <a:extLst>
              <a:ext uri="{FF2B5EF4-FFF2-40B4-BE49-F238E27FC236}">
                <a16:creationId xmlns="" xmlns:a16="http://schemas.microsoft.com/office/drawing/2014/main" id="{500B8D13-F170-5DF0-BA9F-0085D73217EF}"/>
              </a:ext>
            </a:extLst>
          </p:cNvPr>
          <p:cNvPicPr>
            <a:picLocks noChangeAspect="1"/>
          </p:cNvPicPr>
          <p:nvPr/>
        </p:nvPicPr>
        <p:blipFill>
          <a:blip r:embed="rId3"/>
          <a:stretch>
            <a:fillRect/>
          </a:stretch>
        </p:blipFill>
        <p:spPr>
          <a:xfrm>
            <a:off x="0" y="1615691"/>
            <a:ext cx="9144000" cy="3946909"/>
          </a:xfrm>
          <a:prstGeom prst="rect">
            <a:avLst/>
          </a:prstGeom>
        </p:spPr>
      </p:pic>
    </p:spTree>
    <p:extLst>
      <p:ext uri="{BB962C8B-B14F-4D97-AF65-F5344CB8AC3E}">
        <p14:creationId xmlns="" xmlns:p14="http://schemas.microsoft.com/office/powerpoint/2010/main" val="18153493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8D985A9-5DA4-1EB0-81E8-98849205C5DF}"/>
              </a:ext>
            </a:extLst>
          </p:cNvPr>
          <p:cNvSpPr>
            <a:spLocks noGrp="1"/>
          </p:cNvSpPr>
          <p:nvPr>
            <p:ph type="title"/>
          </p:nvPr>
        </p:nvSpPr>
        <p:spPr>
          <a:xfrm>
            <a:off x="228600" y="274638"/>
            <a:ext cx="8534400" cy="1143000"/>
          </a:xfrm>
        </p:spPr>
        <p:txBody>
          <a:bodyPr/>
          <a:lstStyle/>
          <a:p>
            <a:pPr algn="ctr">
              <a:defRPr/>
            </a:pPr>
            <a:r>
              <a:rPr lang="en-US" dirty="0"/>
              <a:t>COMPANYS EXTERNAL ENVIRONMENT</a:t>
            </a:r>
          </a:p>
        </p:txBody>
      </p:sp>
      <p:sp>
        <p:nvSpPr>
          <p:cNvPr id="10243" name="Content Placeholder 2">
            <a:extLst>
              <a:ext uri="{FF2B5EF4-FFF2-40B4-BE49-F238E27FC236}">
                <a16:creationId xmlns="" xmlns:a16="http://schemas.microsoft.com/office/drawing/2014/main" id="{9285EA78-CB7E-6688-4196-3DAECA1AF77A}"/>
              </a:ext>
            </a:extLst>
          </p:cNvPr>
          <p:cNvSpPr>
            <a:spLocks noGrp="1"/>
          </p:cNvSpPr>
          <p:nvPr>
            <p:ph sz="quarter" idx="1"/>
          </p:nvPr>
        </p:nvSpPr>
        <p:spPr>
          <a:xfrm>
            <a:off x="457200" y="1600200"/>
            <a:ext cx="7467600" cy="4873625"/>
          </a:xfrm>
        </p:spPr>
        <p:txBody>
          <a:bodyPr/>
          <a:lstStyle/>
          <a:p>
            <a:pPr>
              <a:buFont typeface="Wingdings" panose="05000000000000000000" pitchFamily="2" charset="2"/>
              <a:buNone/>
            </a:pPr>
            <a:endParaRPr lang="en-US" altLang="en-US" dirty="0"/>
          </a:p>
        </p:txBody>
      </p:sp>
      <p:sp>
        <p:nvSpPr>
          <p:cNvPr id="10244" name="AutoShape 5" descr="Image result for external environment business">
            <a:extLst>
              <a:ext uri="{FF2B5EF4-FFF2-40B4-BE49-F238E27FC236}">
                <a16:creationId xmlns="" xmlns:a16="http://schemas.microsoft.com/office/drawing/2014/main" id="{B241B4F4-CA8C-9AA2-8A01-9A2CE5A509AF}"/>
              </a:ext>
            </a:extLst>
          </p:cNvPr>
          <p:cNvSpPr>
            <a:spLocks noChangeAspect="1" noChangeArrowheads="1"/>
          </p:cNvSpPr>
          <p:nvPr/>
        </p:nvSpPr>
        <p:spPr bwMode="auto">
          <a:xfrm>
            <a:off x="155575" y="-144463"/>
            <a:ext cx="304800" cy="30480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pic>
        <p:nvPicPr>
          <p:cNvPr id="10245" name="Picture 7" descr="Image result for external environment business">
            <a:extLst>
              <a:ext uri="{FF2B5EF4-FFF2-40B4-BE49-F238E27FC236}">
                <a16:creationId xmlns="" xmlns:a16="http://schemas.microsoft.com/office/drawing/2014/main" id="{DC0257E0-1172-3B7C-4C47-B57B4FA9AE28}"/>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990600" y="1676400"/>
            <a:ext cx="6629400" cy="49720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 xmlns:a16="http://schemas.microsoft.com/office/drawing/2014/main" id="{4173A707-BD0A-A656-3B77-3FD3FE1251A3}"/>
              </a:ext>
            </a:extLst>
          </p:cNvPr>
          <p:cNvSpPr>
            <a:spLocks noGrp="1"/>
          </p:cNvSpPr>
          <p:nvPr>
            <p:ph type="title"/>
          </p:nvPr>
        </p:nvSpPr>
        <p:spPr/>
        <p:txBody>
          <a:bodyPr/>
          <a:lstStyle/>
          <a:p>
            <a:pPr eaLnBrk="1" fontAlgn="auto" hangingPunct="1">
              <a:spcAft>
                <a:spcPts val="0"/>
              </a:spcAft>
              <a:defRPr/>
            </a:pPr>
            <a:endParaRPr lang="en-US"/>
          </a:p>
        </p:txBody>
      </p:sp>
      <p:pic>
        <p:nvPicPr>
          <p:cNvPr id="9219" name="Content Placeholder 3" descr="macro_environment.jpg">
            <a:extLst>
              <a:ext uri="{FF2B5EF4-FFF2-40B4-BE49-F238E27FC236}">
                <a16:creationId xmlns="" xmlns:a16="http://schemas.microsoft.com/office/drawing/2014/main" id="{FC8CF253-FA22-BE72-0E08-094CC9A3AE24}"/>
              </a:ext>
            </a:extLst>
          </p:cNvPr>
          <p:cNvPicPr>
            <a:picLocks noGrp="1" noChangeAspect="1"/>
          </p:cNvPicPr>
          <p:nvPr>
            <p:ph sz="quarter" idx="1"/>
          </p:nvPr>
        </p:nvPicPr>
        <p:blipFill>
          <a:blip r:embed="rId3">
            <a:extLst>
              <a:ext uri="{28A0092B-C50C-407E-A947-70E740481C1C}">
                <a14:useLocalDpi xmlns="" xmlns:a14="http://schemas.microsoft.com/office/drawing/2010/main" val="0"/>
              </a:ext>
            </a:extLst>
          </a:blip>
          <a:srcRect/>
          <a:stretch>
            <a:fillRect/>
          </a:stretch>
        </p:blipFill>
        <p:spPr>
          <a:xfrm>
            <a:off x="0" y="12700"/>
            <a:ext cx="8991600" cy="6835775"/>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5C24867-C889-6285-8580-588B89FB064A}"/>
            </a:ext>
          </a:extLst>
        </p:cNvPr>
        <p:cNvGrpSpPr/>
        <p:nvPr/>
      </p:nvGrpSpPr>
      <p:grpSpPr>
        <a:xfrm>
          <a:off x="0" y="0"/>
          <a:ext cx="0" cy="0"/>
          <a:chOff x="0" y="0"/>
          <a:chExt cx="0" cy="0"/>
        </a:xfrm>
      </p:grpSpPr>
      <p:sp>
        <p:nvSpPr>
          <p:cNvPr id="4" name="Date Placeholder 3">
            <a:extLst>
              <a:ext uri="{FF2B5EF4-FFF2-40B4-BE49-F238E27FC236}">
                <a16:creationId xmlns="" xmlns:a16="http://schemas.microsoft.com/office/drawing/2014/main" id="{476DC877-EE7D-F4CB-5858-39D179902AC0}"/>
              </a:ext>
            </a:extLst>
          </p:cNvPr>
          <p:cNvSpPr>
            <a:spLocks noGrp="1"/>
          </p:cNvSpPr>
          <p:nvPr>
            <p:ph type="dt" sz="half" idx="10"/>
          </p:nvPr>
        </p:nvSpPr>
        <p:spPr/>
        <p:txBody>
          <a:bodyPr/>
          <a:lstStyle/>
          <a:p>
            <a:fld id="{04619D83-FF17-4516-B6B3-12726EAD2179}" type="datetime1">
              <a:rPr lang="en-US" smtClean="0"/>
              <a:pPr/>
              <a:t>5/4/2026</a:t>
            </a:fld>
            <a:endParaRPr lang="en-US"/>
          </a:p>
        </p:txBody>
      </p:sp>
      <p:sp>
        <p:nvSpPr>
          <p:cNvPr id="5" name="Footer Placeholder 4">
            <a:extLst>
              <a:ext uri="{FF2B5EF4-FFF2-40B4-BE49-F238E27FC236}">
                <a16:creationId xmlns="" xmlns:a16="http://schemas.microsoft.com/office/drawing/2014/main" id="{2D2C268D-E54E-B165-1EB7-EAFD02BE3141}"/>
              </a:ext>
            </a:extLst>
          </p:cNvPr>
          <p:cNvSpPr>
            <a:spLocks noGrp="1"/>
          </p:cNvSpPr>
          <p:nvPr>
            <p:ph type="ftr" sz="quarter" idx="11"/>
          </p:nvPr>
        </p:nvSpPr>
        <p:spPr/>
        <p:txBody>
          <a:bodyPr/>
          <a:lstStyle/>
          <a:p>
            <a:r>
              <a:rPr lang="en-US"/>
              <a:t>VTU PG Studies</a:t>
            </a:r>
          </a:p>
        </p:txBody>
      </p:sp>
      <p:sp>
        <p:nvSpPr>
          <p:cNvPr id="6" name="Slide Number Placeholder 5">
            <a:extLst>
              <a:ext uri="{FF2B5EF4-FFF2-40B4-BE49-F238E27FC236}">
                <a16:creationId xmlns="" xmlns:a16="http://schemas.microsoft.com/office/drawing/2014/main" id="{6BFC213E-D497-0447-0BB3-70FFF2B3BE01}"/>
              </a:ext>
            </a:extLst>
          </p:cNvPr>
          <p:cNvSpPr>
            <a:spLocks noGrp="1"/>
          </p:cNvSpPr>
          <p:nvPr>
            <p:ph type="sldNum" sz="quarter" idx="12"/>
          </p:nvPr>
        </p:nvSpPr>
        <p:spPr/>
        <p:txBody>
          <a:bodyPr/>
          <a:lstStyle/>
          <a:p>
            <a:fld id="{E566A64D-537C-4258-BCDA-D6FBF77857E8}" type="slidenum">
              <a:rPr lang="en-US" smtClean="0"/>
              <a:pPr/>
              <a:t>8</a:t>
            </a:fld>
            <a:endParaRPr lang="en-US"/>
          </a:p>
        </p:txBody>
      </p:sp>
      <p:pic>
        <p:nvPicPr>
          <p:cNvPr id="7" name="Picture 2" descr="D:\MBA Teaching Material\Marketing Management\MM\Images\vtu-logo.png">
            <a:extLst>
              <a:ext uri="{FF2B5EF4-FFF2-40B4-BE49-F238E27FC236}">
                <a16:creationId xmlns="" xmlns:a16="http://schemas.microsoft.com/office/drawing/2014/main" id="{3782B249-4107-7ABE-7858-66F31B4FDDE2}"/>
              </a:ext>
            </a:extLst>
          </p:cNvP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 xmlns:a14="http://schemas.microsoft.com/office/drawing/2010/main">
                <a:solidFill>
                  <a:srgbClr val="FFFFFF"/>
                </a:solidFill>
              </a14:hiddenFill>
            </a:ext>
          </a:extLst>
        </p:spPr>
      </p:pic>
      <p:pic>
        <p:nvPicPr>
          <p:cNvPr id="3" name="Picture 2">
            <a:extLst>
              <a:ext uri="{FF2B5EF4-FFF2-40B4-BE49-F238E27FC236}">
                <a16:creationId xmlns="" xmlns:a16="http://schemas.microsoft.com/office/drawing/2014/main" id="{7CCC30E3-F55D-62BA-29CA-29E33E912540}"/>
              </a:ext>
            </a:extLst>
          </p:cNvPr>
          <p:cNvPicPr>
            <a:picLocks noChangeAspect="1"/>
          </p:cNvPicPr>
          <p:nvPr/>
        </p:nvPicPr>
        <p:blipFill>
          <a:blip r:embed="rId3"/>
          <a:stretch>
            <a:fillRect/>
          </a:stretch>
        </p:blipFill>
        <p:spPr>
          <a:xfrm>
            <a:off x="626902" y="386286"/>
            <a:ext cx="8517097" cy="5633514"/>
          </a:xfrm>
          <a:prstGeom prst="rect">
            <a:avLst/>
          </a:prstGeom>
        </p:spPr>
      </p:pic>
      <p:sp>
        <p:nvSpPr>
          <p:cNvPr id="8" name="TextBox 7">
            <a:extLst>
              <a:ext uri="{FF2B5EF4-FFF2-40B4-BE49-F238E27FC236}">
                <a16:creationId xmlns="" xmlns:a16="http://schemas.microsoft.com/office/drawing/2014/main" id="{5A5759B3-3744-F950-811A-11663DDE71FB}"/>
              </a:ext>
            </a:extLst>
          </p:cNvPr>
          <p:cNvSpPr txBox="1"/>
          <p:nvPr/>
        </p:nvSpPr>
        <p:spPr>
          <a:xfrm>
            <a:off x="7744795" y="5529620"/>
            <a:ext cx="1409053" cy="471170"/>
          </a:xfrm>
          <a:prstGeom prst="rect">
            <a:avLst/>
          </a:prstGeom>
          <a:solidFill>
            <a:schemeClr val="bg1">
              <a:lumMod val="95000"/>
            </a:schemeClr>
          </a:solidFill>
        </p:spPr>
        <p:txBody>
          <a:bodyPr wrap="square" rtlCol="0">
            <a:spAutoFit/>
          </a:bodyPr>
          <a:lstStyle/>
          <a:p>
            <a:endParaRPr lang="en-IN" dirty="0"/>
          </a:p>
        </p:txBody>
      </p:sp>
    </p:spTree>
    <p:extLst>
      <p:ext uri="{BB962C8B-B14F-4D97-AF65-F5344CB8AC3E}">
        <p14:creationId xmlns="" xmlns:p14="http://schemas.microsoft.com/office/powerpoint/2010/main" val="2519847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45F1211-82C1-35E0-E649-CE2E42B32ADD}"/>
            </a:ext>
          </a:extLst>
        </p:cNvPr>
        <p:cNvGrpSpPr/>
        <p:nvPr/>
      </p:nvGrpSpPr>
      <p:grpSpPr>
        <a:xfrm>
          <a:off x="0" y="0"/>
          <a:ext cx="0" cy="0"/>
          <a:chOff x="0" y="0"/>
          <a:chExt cx="0" cy="0"/>
        </a:xfrm>
      </p:grpSpPr>
      <p:sp>
        <p:nvSpPr>
          <p:cNvPr id="4" name="Date Placeholder 3">
            <a:extLst>
              <a:ext uri="{FF2B5EF4-FFF2-40B4-BE49-F238E27FC236}">
                <a16:creationId xmlns="" xmlns:a16="http://schemas.microsoft.com/office/drawing/2014/main" id="{6435FF80-0BAA-89D8-2AB2-EA11A65F6916}"/>
              </a:ext>
            </a:extLst>
          </p:cNvPr>
          <p:cNvSpPr>
            <a:spLocks noGrp="1"/>
          </p:cNvSpPr>
          <p:nvPr>
            <p:ph type="dt" sz="half" idx="10"/>
          </p:nvPr>
        </p:nvSpPr>
        <p:spPr/>
        <p:txBody>
          <a:bodyPr/>
          <a:lstStyle/>
          <a:p>
            <a:fld id="{04619D83-FF17-4516-B6B3-12726EAD2179}" type="datetime1">
              <a:rPr lang="en-US" smtClean="0"/>
              <a:pPr/>
              <a:t>5/4/2026</a:t>
            </a:fld>
            <a:endParaRPr lang="en-US"/>
          </a:p>
        </p:txBody>
      </p:sp>
      <p:sp>
        <p:nvSpPr>
          <p:cNvPr id="5" name="Footer Placeholder 4">
            <a:extLst>
              <a:ext uri="{FF2B5EF4-FFF2-40B4-BE49-F238E27FC236}">
                <a16:creationId xmlns="" xmlns:a16="http://schemas.microsoft.com/office/drawing/2014/main" id="{B3929550-7156-0BBB-9A77-A5D3C4DFBA8C}"/>
              </a:ext>
            </a:extLst>
          </p:cNvPr>
          <p:cNvSpPr>
            <a:spLocks noGrp="1"/>
          </p:cNvSpPr>
          <p:nvPr>
            <p:ph type="ftr" sz="quarter" idx="11"/>
          </p:nvPr>
        </p:nvSpPr>
        <p:spPr/>
        <p:txBody>
          <a:bodyPr/>
          <a:lstStyle/>
          <a:p>
            <a:r>
              <a:rPr lang="en-US"/>
              <a:t>VTU PG Studies</a:t>
            </a:r>
          </a:p>
        </p:txBody>
      </p:sp>
      <p:sp>
        <p:nvSpPr>
          <p:cNvPr id="6" name="Slide Number Placeholder 5">
            <a:extLst>
              <a:ext uri="{FF2B5EF4-FFF2-40B4-BE49-F238E27FC236}">
                <a16:creationId xmlns="" xmlns:a16="http://schemas.microsoft.com/office/drawing/2014/main" id="{87496535-DA5F-FB3C-098E-AEBD781D1C78}"/>
              </a:ext>
            </a:extLst>
          </p:cNvPr>
          <p:cNvSpPr>
            <a:spLocks noGrp="1"/>
          </p:cNvSpPr>
          <p:nvPr>
            <p:ph type="sldNum" sz="quarter" idx="12"/>
          </p:nvPr>
        </p:nvSpPr>
        <p:spPr/>
        <p:txBody>
          <a:bodyPr/>
          <a:lstStyle/>
          <a:p>
            <a:fld id="{E566A64D-537C-4258-BCDA-D6FBF77857E8}" type="slidenum">
              <a:rPr lang="en-US" smtClean="0"/>
              <a:pPr/>
              <a:t>9</a:t>
            </a:fld>
            <a:endParaRPr lang="en-US"/>
          </a:p>
        </p:txBody>
      </p:sp>
      <p:pic>
        <p:nvPicPr>
          <p:cNvPr id="2" name="Picture 2" descr="D:\MBA Teaching Material\Marketing Management\MM\Images\vtu-logo.png">
            <a:extLst>
              <a:ext uri="{FF2B5EF4-FFF2-40B4-BE49-F238E27FC236}">
                <a16:creationId xmlns="" xmlns:a16="http://schemas.microsoft.com/office/drawing/2014/main" id="{097B3EAA-A395-2A6E-78A0-434D56CB4FC4}"/>
              </a:ext>
            </a:extLst>
          </p:cNvP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 xmlns:a14="http://schemas.microsoft.com/office/drawing/2010/main">
                <a:solidFill>
                  <a:srgbClr val="FFFFFF"/>
                </a:solidFill>
              </a14:hiddenFill>
            </a:ext>
          </a:extLst>
        </p:spPr>
      </p:pic>
      <p:pic>
        <p:nvPicPr>
          <p:cNvPr id="7" name="Picture 6">
            <a:extLst>
              <a:ext uri="{FF2B5EF4-FFF2-40B4-BE49-F238E27FC236}">
                <a16:creationId xmlns="" xmlns:a16="http://schemas.microsoft.com/office/drawing/2014/main" id="{C778AE73-B215-8669-B246-EC121EF63D25}"/>
              </a:ext>
            </a:extLst>
          </p:cNvPr>
          <p:cNvPicPr>
            <a:picLocks noChangeAspect="1"/>
          </p:cNvPicPr>
          <p:nvPr/>
        </p:nvPicPr>
        <p:blipFill>
          <a:blip r:embed="rId3"/>
          <a:stretch>
            <a:fillRect/>
          </a:stretch>
        </p:blipFill>
        <p:spPr>
          <a:xfrm>
            <a:off x="228599" y="192764"/>
            <a:ext cx="8005007" cy="5522236"/>
          </a:xfrm>
          <a:prstGeom prst="rect">
            <a:avLst/>
          </a:prstGeom>
        </p:spPr>
      </p:pic>
      <p:sp>
        <p:nvSpPr>
          <p:cNvPr id="8" name="TextBox 7">
            <a:extLst>
              <a:ext uri="{FF2B5EF4-FFF2-40B4-BE49-F238E27FC236}">
                <a16:creationId xmlns="" xmlns:a16="http://schemas.microsoft.com/office/drawing/2014/main" id="{503ED19B-2969-5EBA-A8A2-18C17D5CBDC1}"/>
              </a:ext>
            </a:extLst>
          </p:cNvPr>
          <p:cNvSpPr txBox="1"/>
          <p:nvPr/>
        </p:nvSpPr>
        <p:spPr>
          <a:xfrm>
            <a:off x="6824553" y="5479415"/>
            <a:ext cx="1409053" cy="471170"/>
          </a:xfrm>
          <a:prstGeom prst="rect">
            <a:avLst/>
          </a:prstGeom>
          <a:solidFill>
            <a:schemeClr val="bg1">
              <a:lumMod val="95000"/>
            </a:schemeClr>
          </a:solidFill>
        </p:spPr>
        <p:txBody>
          <a:bodyPr wrap="square" rtlCol="0">
            <a:spAutoFit/>
          </a:bodyPr>
          <a:lstStyle/>
          <a:p>
            <a:endParaRPr lang="en-IN" dirty="0"/>
          </a:p>
        </p:txBody>
      </p:sp>
    </p:spTree>
    <p:extLst>
      <p:ext uri="{BB962C8B-B14F-4D97-AF65-F5344CB8AC3E}">
        <p14:creationId xmlns="" xmlns:p14="http://schemas.microsoft.com/office/powerpoint/2010/main" val="547991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02C3D0C-6870-126F-5E01-90882F9ABD92}"/>
            </a:ext>
          </a:extLst>
        </p:cNvPr>
        <p:cNvGrpSpPr/>
        <p:nvPr/>
      </p:nvGrpSpPr>
      <p:grpSpPr>
        <a:xfrm>
          <a:off x="0" y="0"/>
          <a:ext cx="0" cy="0"/>
          <a:chOff x="0" y="0"/>
          <a:chExt cx="0" cy="0"/>
        </a:xfrm>
      </p:grpSpPr>
      <p:sp>
        <p:nvSpPr>
          <p:cNvPr id="4" name="Date Placeholder 3">
            <a:extLst>
              <a:ext uri="{FF2B5EF4-FFF2-40B4-BE49-F238E27FC236}">
                <a16:creationId xmlns="" xmlns:a16="http://schemas.microsoft.com/office/drawing/2014/main" id="{7347226E-3A0E-3D80-171F-22B71469FF74}"/>
              </a:ext>
            </a:extLst>
          </p:cNvPr>
          <p:cNvSpPr>
            <a:spLocks noGrp="1"/>
          </p:cNvSpPr>
          <p:nvPr>
            <p:ph type="dt" sz="half" idx="10"/>
          </p:nvPr>
        </p:nvSpPr>
        <p:spPr/>
        <p:txBody>
          <a:bodyPr/>
          <a:lstStyle/>
          <a:p>
            <a:fld id="{04619D83-FF17-4516-B6B3-12726EAD2179}" type="datetime1">
              <a:rPr lang="en-US" smtClean="0"/>
              <a:pPr/>
              <a:t>5/4/2026</a:t>
            </a:fld>
            <a:endParaRPr lang="en-US"/>
          </a:p>
        </p:txBody>
      </p:sp>
      <p:sp>
        <p:nvSpPr>
          <p:cNvPr id="5" name="Footer Placeholder 4">
            <a:extLst>
              <a:ext uri="{FF2B5EF4-FFF2-40B4-BE49-F238E27FC236}">
                <a16:creationId xmlns="" xmlns:a16="http://schemas.microsoft.com/office/drawing/2014/main" id="{5AEA6E31-B00A-1475-85CD-39F8541C0D42}"/>
              </a:ext>
            </a:extLst>
          </p:cNvPr>
          <p:cNvSpPr>
            <a:spLocks noGrp="1"/>
          </p:cNvSpPr>
          <p:nvPr>
            <p:ph type="ftr" sz="quarter" idx="11"/>
          </p:nvPr>
        </p:nvSpPr>
        <p:spPr/>
        <p:txBody>
          <a:bodyPr/>
          <a:lstStyle/>
          <a:p>
            <a:r>
              <a:rPr lang="en-US"/>
              <a:t>VTU PG Studies</a:t>
            </a:r>
          </a:p>
        </p:txBody>
      </p:sp>
      <p:sp>
        <p:nvSpPr>
          <p:cNvPr id="6" name="Slide Number Placeholder 5">
            <a:extLst>
              <a:ext uri="{FF2B5EF4-FFF2-40B4-BE49-F238E27FC236}">
                <a16:creationId xmlns="" xmlns:a16="http://schemas.microsoft.com/office/drawing/2014/main" id="{FDA65870-6877-01BB-190F-5EDA99CF4AC4}"/>
              </a:ext>
            </a:extLst>
          </p:cNvPr>
          <p:cNvSpPr>
            <a:spLocks noGrp="1"/>
          </p:cNvSpPr>
          <p:nvPr>
            <p:ph type="sldNum" sz="quarter" idx="12"/>
          </p:nvPr>
        </p:nvSpPr>
        <p:spPr/>
        <p:txBody>
          <a:bodyPr/>
          <a:lstStyle/>
          <a:p>
            <a:fld id="{E566A64D-537C-4258-BCDA-D6FBF77857E8}" type="slidenum">
              <a:rPr lang="en-US" smtClean="0"/>
              <a:pPr/>
              <a:t>10</a:t>
            </a:fld>
            <a:endParaRPr lang="en-US"/>
          </a:p>
        </p:txBody>
      </p:sp>
      <p:pic>
        <p:nvPicPr>
          <p:cNvPr id="7" name="Picture 2" descr="D:\MBA Teaching Material\Marketing Management\MM\Images\vtu-logo.png">
            <a:extLst>
              <a:ext uri="{FF2B5EF4-FFF2-40B4-BE49-F238E27FC236}">
                <a16:creationId xmlns="" xmlns:a16="http://schemas.microsoft.com/office/drawing/2014/main" id="{73A1C39B-763D-6ED9-7013-78BDC1DCC794}"/>
              </a:ext>
            </a:extLst>
          </p:cNvP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 xmlns:a14="http://schemas.microsoft.com/office/drawing/2010/main">
                <a:solidFill>
                  <a:srgbClr val="FFFFFF"/>
                </a:solidFill>
              </a14:hiddenFill>
            </a:ext>
          </a:extLst>
        </p:spPr>
      </p:pic>
      <p:pic>
        <p:nvPicPr>
          <p:cNvPr id="3" name="Picture 2">
            <a:extLst>
              <a:ext uri="{FF2B5EF4-FFF2-40B4-BE49-F238E27FC236}">
                <a16:creationId xmlns="" xmlns:a16="http://schemas.microsoft.com/office/drawing/2014/main" id="{5975F5C1-66BA-5501-F522-7846A1E0D196}"/>
              </a:ext>
            </a:extLst>
          </p:cNvPr>
          <p:cNvPicPr>
            <a:picLocks noChangeAspect="1"/>
          </p:cNvPicPr>
          <p:nvPr/>
        </p:nvPicPr>
        <p:blipFill>
          <a:blip r:embed="rId3"/>
          <a:stretch>
            <a:fillRect/>
          </a:stretch>
        </p:blipFill>
        <p:spPr>
          <a:xfrm>
            <a:off x="58444" y="206679"/>
            <a:ext cx="8332158" cy="5660721"/>
          </a:xfrm>
          <a:prstGeom prst="rect">
            <a:avLst/>
          </a:prstGeom>
        </p:spPr>
      </p:pic>
      <p:sp>
        <p:nvSpPr>
          <p:cNvPr id="8" name="TextBox 7">
            <a:extLst>
              <a:ext uri="{FF2B5EF4-FFF2-40B4-BE49-F238E27FC236}">
                <a16:creationId xmlns="" xmlns:a16="http://schemas.microsoft.com/office/drawing/2014/main" id="{0FBED4A2-2583-0DA9-F662-62E95946C624}"/>
              </a:ext>
            </a:extLst>
          </p:cNvPr>
          <p:cNvSpPr txBox="1"/>
          <p:nvPr/>
        </p:nvSpPr>
        <p:spPr>
          <a:xfrm>
            <a:off x="7013354" y="5562600"/>
            <a:ext cx="1409053" cy="471170"/>
          </a:xfrm>
          <a:prstGeom prst="rect">
            <a:avLst/>
          </a:prstGeom>
          <a:solidFill>
            <a:schemeClr val="bg1">
              <a:lumMod val="95000"/>
            </a:schemeClr>
          </a:solidFill>
        </p:spPr>
        <p:txBody>
          <a:bodyPr wrap="square" rtlCol="0">
            <a:spAutoFit/>
          </a:bodyPr>
          <a:lstStyle/>
          <a:p>
            <a:endParaRPr lang="en-IN" dirty="0"/>
          </a:p>
        </p:txBody>
      </p:sp>
    </p:spTree>
    <p:extLst>
      <p:ext uri="{BB962C8B-B14F-4D97-AF65-F5344CB8AC3E}">
        <p14:creationId xmlns="" xmlns:p14="http://schemas.microsoft.com/office/powerpoint/2010/main" val="20414282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F51CE24-CB4E-2038-C585-33C644271133}"/>
            </a:ext>
          </a:extLst>
        </p:cNvPr>
        <p:cNvGrpSpPr/>
        <p:nvPr/>
      </p:nvGrpSpPr>
      <p:grpSpPr>
        <a:xfrm>
          <a:off x="0" y="0"/>
          <a:ext cx="0" cy="0"/>
          <a:chOff x="0" y="0"/>
          <a:chExt cx="0" cy="0"/>
        </a:xfrm>
      </p:grpSpPr>
      <p:sp>
        <p:nvSpPr>
          <p:cNvPr id="4" name="Date Placeholder 3">
            <a:extLst>
              <a:ext uri="{FF2B5EF4-FFF2-40B4-BE49-F238E27FC236}">
                <a16:creationId xmlns="" xmlns:a16="http://schemas.microsoft.com/office/drawing/2014/main" id="{0805E802-0D5D-17FC-19B6-366EB1161C64}"/>
              </a:ext>
            </a:extLst>
          </p:cNvPr>
          <p:cNvSpPr>
            <a:spLocks noGrp="1"/>
          </p:cNvSpPr>
          <p:nvPr>
            <p:ph type="dt" sz="half" idx="10"/>
          </p:nvPr>
        </p:nvSpPr>
        <p:spPr/>
        <p:txBody>
          <a:bodyPr/>
          <a:lstStyle/>
          <a:p>
            <a:fld id="{04619D83-FF17-4516-B6B3-12726EAD2179}" type="datetime1">
              <a:rPr lang="en-US" smtClean="0"/>
              <a:pPr/>
              <a:t>5/4/2026</a:t>
            </a:fld>
            <a:endParaRPr lang="en-US"/>
          </a:p>
        </p:txBody>
      </p:sp>
      <p:sp>
        <p:nvSpPr>
          <p:cNvPr id="5" name="Footer Placeholder 4">
            <a:extLst>
              <a:ext uri="{FF2B5EF4-FFF2-40B4-BE49-F238E27FC236}">
                <a16:creationId xmlns="" xmlns:a16="http://schemas.microsoft.com/office/drawing/2014/main" id="{52194692-0D2D-101A-A180-821EC6D21705}"/>
              </a:ext>
            </a:extLst>
          </p:cNvPr>
          <p:cNvSpPr>
            <a:spLocks noGrp="1"/>
          </p:cNvSpPr>
          <p:nvPr>
            <p:ph type="ftr" sz="quarter" idx="11"/>
          </p:nvPr>
        </p:nvSpPr>
        <p:spPr/>
        <p:txBody>
          <a:bodyPr/>
          <a:lstStyle/>
          <a:p>
            <a:r>
              <a:rPr lang="en-US"/>
              <a:t>VTU PG Studies</a:t>
            </a:r>
          </a:p>
        </p:txBody>
      </p:sp>
      <p:sp>
        <p:nvSpPr>
          <p:cNvPr id="6" name="Slide Number Placeholder 5">
            <a:extLst>
              <a:ext uri="{FF2B5EF4-FFF2-40B4-BE49-F238E27FC236}">
                <a16:creationId xmlns="" xmlns:a16="http://schemas.microsoft.com/office/drawing/2014/main" id="{9B09EFE7-272D-CF0C-59FE-3455912839FF}"/>
              </a:ext>
            </a:extLst>
          </p:cNvPr>
          <p:cNvSpPr>
            <a:spLocks noGrp="1"/>
          </p:cNvSpPr>
          <p:nvPr>
            <p:ph type="sldNum" sz="quarter" idx="12"/>
          </p:nvPr>
        </p:nvSpPr>
        <p:spPr/>
        <p:txBody>
          <a:bodyPr/>
          <a:lstStyle/>
          <a:p>
            <a:fld id="{E566A64D-537C-4258-BCDA-D6FBF77857E8}" type="slidenum">
              <a:rPr lang="en-US" smtClean="0"/>
              <a:pPr/>
              <a:t>11</a:t>
            </a:fld>
            <a:endParaRPr lang="en-US"/>
          </a:p>
        </p:txBody>
      </p:sp>
      <p:pic>
        <p:nvPicPr>
          <p:cNvPr id="2" name="Picture 2" descr="D:\MBA Teaching Material\Marketing Management\MM\Images\vtu-logo.png">
            <a:extLst>
              <a:ext uri="{FF2B5EF4-FFF2-40B4-BE49-F238E27FC236}">
                <a16:creationId xmlns="" xmlns:a16="http://schemas.microsoft.com/office/drawing/2014/main" id="{FE8FB995-865F-6270-98E5-E658A4BE8307}"/>
              </a:ext>
            </a:extLst>
          </p:cNvP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 xmlns:a14="http://schemas.microsoft.com/office/drawing/2010/main">
                <a:solidFill>
                  <a:srgbClr val="FFFFFF"/>
                </a:solidFill>
              </a14:hiddenFill>
            </a:ext>
          </a:extLst>
        </p:spPr>
      </p:pic>
      <p:pic>
        <p:nvPicPr>
          <p:cNvPr id="7" name="Picture 6">
            <a:extLst>
              <a:ext uri="{FF2B5EF4-FFF2-40B4-BE49-F238E27FC236}">
                <a16:creationId xmlns="" xmlns:a16="http://schemas.microsoft.com/office/drawing/2014/main" id="{FAF07E97-3C37-F02F-010D-1195C79468A2}"/>
              </a:ext>
            </a:extLst>
          </p:cNvPr>
          <p:cNvPicPr>
            <a:picLocks noChangeAspect="1"/>
          </p:cNvPicPr>
          <p:nvPr/>
        </p:nvPicPr>
        <p:blipFill>
          <a:blip r:embed="rId3"/>
          <a:stretch>
            <a:fillRect/>
          </a:stretch>
        </p:blipFill>
        <p:spPr>
          <a:xfrm>
            <a:off x="216406" y="290830"/>
            <a:ext cx="7962377" cy="5347970"/>
          </a:xfrm>
          <a:prstGeom prst="rect">
            <a:avLst/>
          </a:prstGeom>
        </p:spPr>
      </p:pic>
      <p:sp>
        <p:nvSpPr>
          <p:cNvPr id="8" name="TextBox 7">
            <a:extLst>
              <a:ext uri="{FF2B5EF4-FFF2-40B4-BE49-F238E27FC236}">
                <a16:creationId xmlns="" xmlns:a16="http://schemas.microsoft.com/office/drawing/2014/main" id="{4629BC99-F93C-7ACD-1D5E-A98CAFB0731F}"/>
              </a:ext>
            </a:extLst>
          </p:cNvPr>
          <p:cNvSpPr txBox="1"/>
          <p:nvPr/>
        </p:nvSpPr>
        <p:spPr>
          <a:xfrm>
            <a:off x="6833238" y="5215614"/>
            <a:ext cx="1409053" cy="471170"/>
          </a:xfrm>
          <a:prstGeom prst="rect">
            <a:avLst/>
          </a:prstGeom>
          <a:solidFill>
            <a:schemeClr val="bg1">
              <a:lumMod val="95000"/>
            </a:schemeClr>
          </a:solidFill>
        </p:spPr>
        <p:txBody>
          <a:bodyPr wrap="square" rtlCol="0">
            <a:spAutoFit/>
          </a:bodyPr>
          <a:lstStyle/>
          <a:p>
            <a:endParaRPr lang="en-IN" dirty="0"/>
          </a:p>
        </p:txBody>
      </p:sp>
    </p:spTree>
    <p:extLst>
      <p:ext uri="{BB962C8B-B14F-4D97-AF65-F5344CB8AC3E}">
        <p14:creationId xmlns="" xmlns:p14="http://schemas.microsoft.com/office/powerpoint/2010/main" val="720488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AF5F1C3-41D2-0F58-5CC2-93D789BAF2FA}"/>
            </a:ext>
          </a:extLst>
        </p:cNvPr>
        <p:cNvGrpSpPr/>
        <p:nvPr/>
      </p:nvGrpSpPr>
      <p:grpSpPr>
        <a:xfrm>
          <a:off x="0" y="0"/>
          <a:ext cx="0" cy="0"/>
          <a:chOff x="0" y="0"/>
          <a:chExt cx="0" cy="0"/>
        </a:xfrm>
      </p:grpSpPr>
      <p:sp>
        <p:nvSpPr>
          <p:cNvPr id="4" name="Date Placeholder 3">
            <a:extLst>
              <a:ext uri="{FF2B5EF4-FFF2-40B4-BE49-F238E27FC236}">
                <a16:creationId xmlns="" xmlns:a16="http://schemas.microsoft.com/office/drawing/2014/main" id="{8979094C-32F3-99C8-AE9F-5A0FFB23DE6A}"/>
              </a:ext>
            </a:extLst>
          </p:cNvPr>
          <p:cNvSpPr>
            <a:spLocks noGrp="1"/>
          </p:cNvSpPr>
          <p:nvPr>
            <p:ph type="dt" sz="half" idx="10"/>
          </p:nvPr>
        </p:nvSpPr>
        <p:spPr/>
        <p:txBody>
          <a:bodyPr/>
          <a:lstStyle/>
          <a:p>
            <a:fld id="{04619D83-FF17-4516-B6B3-12726EAD2179}" type="datetime1">
              <a:rPr lang="en-US" smtClean="0"/>
              <a:pPr/>
              <a:t>5/4/2026</a:t>
            </a:fld>
            <a:endParaRPr lang="en-US"/>
          </a:p>
        </p:txBody>
      </p:sp>
      <p:sp>
        <p:nvSpPr>
          <p:cNvPr id="5" name="Footer Placeholder 4">
            <a:extLst>
              <a:ext uri="{FF2B5EF4-FFF2-40B4-BE49-F238E27FC236}">
                <a16:creationId xmlns="" xmlns:a16="http://schemas.microsoft.com/office/drawing/2014/main" id="{8FC04E55-D44F-FFF2-E8B2-FB657D7A103C}"/>
              </a:ext>
            </a:extLst>
          </p:cNvPr>
          <p:cNvSpPr>
            <a:spLocks noGrp="1"/>
          </p:cNvSpPr>
          <p:nvPr>
            <p:ph type="ftr" sz="quarter" idx="11"/>
          </p:nvPr>
        </p:nvSpPr>
        <p:spPr/>
        <p:txBody>
          <a:bodyPr/>
          <a:lstStyle/>
          <a:p>
            <a:r>
              <a:rPr lang="en-US"/>
              <a:t>VTU PG Studies</a:t>
            </a:r>
          </a:p>
        </p:txBody>
      </p:sp>
      <p:sp>
        <p:nvSpPr>
          <p:cNvPr id="6" name="Slide Number Placeholder 5">
            <a:extLst>
              <a:ext uri="{FF2B5EF4-FFF2-40B4-BE49-F238E27FC236}">
                <a16:creationId xmlns="" xmlns:a16="http://schemas.microsoft.com/office/drawing/2014/main" id="{9CC7D615-C649-981E-4F0C-B630153338B2}"/>
              </a:ext>
            </a:extLst>
          </p:cNvPr>
          <p:cNvSpPr>
            <a:spLocks noGrp="1"/>
          </p:cNvSpPr>
          <p:nvPr>
            <p:ph type="sldNum" sz="quarter" idx="12"/>
          </p:nvPr>
        </p:nvSpPr>
        <p:spPr/>
        <p:txBody>
          <a:bodyPr/>
          <a:lstStyle/>
          <a:p>
            <a:fld id="{E566A64D-537C-4258-BCDA-D6FBF77857E8}" type="slidenum">
              <a:rPr lang="en-US" smtClean="0"/>
              <a:pPr/>
              <a:t>12</a:t>
            </a:fld>
            <a:endParaRPr lang="en-US"/>
          </a:p>
        </p:txBody>
      </p:sp>
      <p:pic>
        <p:nvPicPr>
          <p:cNvPr id="7" name="Picture 2" descr="D:\MBA Teaching Material\Marketing Management\MM\Images\vtu-logo.png">
            <a:extLst>
              <a:ext uri="{FF2B5EF4-FFF2-40B4-BE49-F238E27FC236}">
                <a16:creationId xmlns="" xmlns:a16="http://schemas.microsoft.com/office/drawing/2014/main" id="{C66F609B-F25C-ED15-B157-2872DFD1758D}"/>
              </a:ext>
            </a:extLst>
          </p:cNvP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 xmlns:a14="http://schemas.microsoft.com/office/drawing/2010/main">
                <a:solidFill>
                  <a:srgbClr val="FFFFFF"/>
                </a:solidFill>
              </a14:hiddenFill>
            </a:ext>
          </a:extLst>
        </p:spPr>
      </p:pic>
      <p:pic>
        <p:nvPicPr>
          <p:cNvPr id="3" name="Picture 2">
            <a:extLst>
              <a:ext uri="{FF2B5EF4-FFF2-40B4-BE49-F238E27FC236}">
                <a16:creationId xmlns="" xmlns:a16="http://schemas.microsoft.com/office/drawing/2014/main" id="{7D55668A-EBD0-AF96-EF15-2FD24884BBF4}"/>
              </a:ext>
            </a:extLst>
          </p:cNvPr>
          <p:cNvPicPr>
            <a:picLocks noChangeAspect="1"/>
          </p:cNvPicPr>
          <p:nvPr/>
        </p:nvPicPr>
        <p:blipFill>
          <a:blip r:embed="rId3"/>
          <a:stretch>
            <a:fillRect/>
          </a:stretch>
        </p:blipFill>
        <p:spPr>
          <a:xfrm>
            <a:off x="0" y="233000"/>
            <a:ext cx="8278238" cy="5786800"/>
          </a:xfrm>
          <a:prstGeom prst="rect">
            <a:avLst/>
          </a:prstGeom>
        </p:spPr>
      </p:pic>
      <p:sp>
        <p:nvSpPr>
          <p:cNvPr id="8" name="TextBox 7">
            <a:extLst>
              <a:ext uri="{FF2B5EF4-FFF2-40B4-BE49-F238E27FC236}">
                <a16:creationId xmlns="" xmlns:a16="http://schemas.microsoft.com/office/drawing/2014/main" id="{9C6F296C-425C-A1C7-39A9-98500F6F2EB3}"/>
              </a:ext>
            </a:extLst>
          </p:cNvPr>
          <p:cNvSpPr txBox="1"/>
          <p:nvPr/>
        </p:nvSpPr>
        <p:spPr>
          <a:xfrm>
            <a:off x="6896747" y="5548630"/>
            <a:ext cx="1409053" cy="471170"/>
          </a:xfrm>
          <a:prstGeom prst="rect">
            <a:avLst/>
          </a:prstGeom>
          <a:solidFill>
            <a:schemeClr val="bg1">
              <a:lumMod val="95000"/>
            </a:schemeClr>
          </a:solidFill>
        </p:spPr>
        <p:txBody>
          <a:bodyPr wrap="square" rtlCol="0">
            <a:spAutoFit/>
          </a:bodyPr>
          <a:lstStyle/>
          <a:p>
            <a:endParaRPr lang="en-IN" dirty="0"/>
          </a:p>
        </p:txBody>
      </p:sp>
    </p:spTree>
    <p:extLst>
      <p:ext uri="{BB962C8B-B14F-4D97-AF65-F5344CB8AC3E}">
        <p14:creationId xmlns="" xmlns:p14="http://schemas.microsoft.com/office/powerpoint/2010/main" val="2582688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655C924-7DA4-CE87-E950-160B72AF98D2}"/>
            </a:ext>
          </a:extLst>
        </p:cNvPr>
        <p:cNvGrpSpPr/>
        <p:nvPr/>
      </p:nvGrpSpPr>
      <p:grpSpPr>
        <a:xfrm>
          <a:off x="0" y="0"/>
          <a:ext cx="0" cy="0"/>
          <a:chOff x="0" y="0"/>
          <a:chExt cx="0" cy="0"/>
        </a:xfrm>
      </p:grpSpPr>
      <p:sp>
        <p:nvSpPr>
          <p:cNvPr id="4" name="Date Placeholder 3">
            <a:extLst>
              <a:ext uri="{FF2B5EF4-FFF2-40B4-BE49-F238E27FC236}">
                <a16:creationId xmlns="" xmlns:a16="http://schemas.microsoft.com/office/drawing/2014/main" id="{A5E73022-F1BE-FA32-5F0B-D2432E3743E0}"/>
              </a:ext>
            </a:extLst>
          </p:cNvPr>
          <p:cNvSpPr>
            <a:spLocks noGrp="1"/>
          </p:cNvSpPr>
          <p:nvPr>
            <p:ph type="dt" sz="half" idx="10"/>
          </p:nvPr>
        </p:nvSpPr>
        <p:spPr/>
        <p:txBody>
          <a:bodyPr/>
          <a:lstStyle/>
          <a:p>
            <a:fld id="{04619D83-FF17-4516-B6B3-12726EAD2179}" type="datetime1">
              <a:rPr lang="en-US" smtClean="0"/>
              <a:pPr/>
              <a:t>5/4/2026</a:t>
            </a:fld>
            <a:endParaRPr lang="en-US"/>
          </a:p>
        </p:txBody>
      </p:sp>
      <p:sp>
        <p:nvSpPr>
          <p:cNvPr id="5" name="Footer Placeholder 4">
            <a:extLst>
              <a:ext uri="{FF2B5EF4-FFF2-40B4-BE49-F238E27FC236}">
                <a16:creationId xmlns="" xmlns:a16="http://schemas.microsoft.com/office/drawing/2014/main" id="{8D72B711-09DC-B7B3-CBCB-4456959FCDCB}"/>
              </a:ext>
            </a:extLst>
          </p:cNvPr>
          <p:cNvSpPr>
            <a:spLocks noGrp="1"/>
          </p:cNvSpPr>
          <p:nvPr>
            <p:ph type="ftr" sz="quarter" idx="11"/>
          </p:nvPr>
        </p:nvSpPr>
        <p:spPr/>
        <p:txBody>
          <a:bodyPr/>
          <a:lstStyle/>
          <a:p>
            <a:r>
              <a:rPr lang="en-US"/>
              <a:t>VTU PG Studies</a:t>
            </a:r>
          </a:p>
        </p:txBody>
      </p:sp>
      <p:sp>
        <p:nvSpPr>
          <p:cNvPr id="6" name="Slide Number Placeholder 5">
            <a:extLst>
              <a:ext uri="{FF2B5EF4-FFF2-40B4-BE49-F238E27FC236}">
                <a16:creationId xmlns="" xmlns:a16="http://schemas.microsoft.com/office/drawing/2014/main" id="{ED55AD99-29DB-2741-16C6-4C288838E63A}"/>
              </a:ext>
            </a:extLst>
          </p:cNvPr>
          <p:cNvSpPr>
            <a:spLocks noGrp="1"/>
          </p:cNvSpPr>
          <p:nvPr>
            <p:ph type="sldNum" sz="quarter" idx="12"/>
          </p:nvPr>
        </p:nvSpPr>
        <p:spPr/>
        <p:txBody>
          <a:bodyPr/>
          <a:lstStyle/>
          <a:p>
            <a:fld id="{E566A64D-537C-4258-BCDA-D6FBF77857E8}" type="slidenum">
              <a:rPr lang="en-US" smtClean="0"/>
              <a:pPr/>
              <a:t>13</a:t>
            </a:fld>
            <a:endParaRPr lang="en-US"/>
          </a:p>
        </p:txBody>
      </p:sp>
      <p:pic>
        <p:nvPicPr>
          <p:cNvPr id="7" name="Picture 2" descr="D:\MBA Teaching Material\Marketing Management\MM\Images\vtu-logo.png">
            <a:extLst>
              <a:ext uri="{FF2B5EF4-FFF2-40B4-BE49-F238E27FC236}">
                <a16:creationId xmlns="" xmlns:a16="http://schemas.microsoft.com/office/drawing/2014/main" id="{1AE65088-E64B-8222-4170-A8C8A9D6B815}"/>
              </a:ext>
            </a:extLst>
          </p:cNvP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 xmlns:a14="http://schemas.microsoft.com/office/drawing/2010/main">
                <a:solidFill>
                  <a:srgbClr val="FFFFFF"/>
                </a:solidFill>
              </a14:hiddenFill>
            </a:ext>
          </a:extLst>
        </p:spPr>
      </p:pic>
      <p:pic>
        <p:nvPicPr>
          <p:cNvPr id="3" name="Picture 2">
            <a:extLst>
              <a:ext uri="{FF2B5EF4-FFF2-40B4-BE49-F238E27FC236}">
                <a16:creationId xmlns="" xmlns:a16="http://schemas.microsoft.com/office/drawing/2014/main" id="{AB2A258F-7A04-70B6-2C98-E13CD0ADD12F}"/>
              </a:ext>
            </a:extLst>
          </p:cNvPr>
          <p:cNvPicPr>
            <a:picLocks noChangeAspect="1"/>
          </p:cNvPicPr>
          <p:nvPr/>
        </p:nvPicPr>
        <p:blipFill>
          <a:blip r:embed="rId3"/>
          <a:stretch>
            <a:fillRect/>
          </a:stretch>
        </p:blipFill>
        <p:spPr>
          <a:xfrm>
            <a:off x="130932" y="626323"/>
            <a:ext cx="8305800" cy="5605353"/>
          </a:xfrm>
          <a:prstGeom prst="rect">
            <a:avLst/>
          </a:prstGeom>
        </p:spPr>
      </p:pic>
    </p:spTree>
    <p:extLst>
      <p:ext uri="{BB962C8B-B14F-4D97-AF65-F5344CB8AC3E}">
        <p14:creationId xmlns="" xmlns:p14="http://schemas.microsoft.com/office/powerpoint/2010/main" val="31151435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 xmlns:a16="http://schemas.microsoft.com/office/drawing/2014/main" id="{0FC53179-A503-1EBA-8EA5-1E87E3905889}"/>
              </a:ext>
            </a:extLst>
          </p:cNvPr>
          <p:cNvSpPr>
            <a:spLocks noGrp="1"/>
          </p:cNvSpPr>
          <p:nvPr>
            <p:ph type="title"/>
          </p:nvPr>
        </p:nvSpPr>
        <p:spPr>
          <a:xfrm>
            <a:off x="533400" y="228600"/>
            <a:ext cx="7467600" cy="677862"/>
          </a:xfrm>
        </p:spPr>
        <p:txBody>
          <a:bodyPr/>
          <a:lstStyle/>
          <a:p>
            <a:pPr eaLnBrk="1" fontAlgn="auto" hangingPunct="1">
              <a:spcAft>
                <a:spcPts val="0"/>
              </a:spcAft>
              <a:defRPr/>
            </a:pPr>
            <a:r>
              <a:rPr lang="en-US" sz="3600" dirty="0"/>
              <a:t>Porters Five Forces Model</a:t>
            </a:r>
          </a:p>
        </p:txBody>
      </p:sp>
      <p:sp>
        <p:nvSpPr>
          <p:cNvPr id="15363" name="Content Placeholder 3">
            <a:extLst>
              <a:ext uri="{FF2B5EF4-FFF2-40B4-BE49-F238E27FC236}">
                <a16:creationId xmlns="" xmlns:a16="http://schemas.microsoft.com/office/drawing/2014/main" id="{233791FE-6BEC-4B09-5213-EC9056D70B23}"/>
              </a:ext>
            </a:extLst>
          </p:cNvPr>
          <p:cNvSpPr>
            <a:spLocks noGrp="1"/>
          </p:cNvSpPr>
          <p:nvPr>
            <p:ph sz="quarter" idx="1"/>
          </p:nvPr>
        </p:nvSpPr>
        <p:spPr>
          <a:xfrm>
            <a:off x="457200" y="1600200"/>
            <a:ext cx="7467600" cy="4873625"/>
          </a:xfrm>
        </p:spPr>
        <p:txBody>
          <a:bodyPr/>
          <a:lstStyle/>
          <a:p>
            <a:pPr eaLnBrk="1" hangingPunct="1"/>
            <a:endParaRPr lang="en-US" altLang="en-US"/>
          </a:p>
        </p:txBody>
      </p:sp>
      <p:sp>
        <p:nvSpPr>
          <p:cNvPr id="15364" name="AutoShape 5" descr="data:image/png;base64,iVBORw0KGgoAAAANSUhEUgAAAPAAAADSCAMAAABD772dAAABiVBMVEX/////7d//YRb/7d75+fkAAAD/8eT/9en/TgD/8OL/7eD/+u78/Pz39/fw8PD/ysX/iGHT4+rg4OD+e3P///j/3MX/XgD/8+r2k23/iX//xqT/QwD/4dP/n5Dqi23snXv/UwD/rIf/18bzm3D/NAD/PwD/W0CNmKTBwcD/JgCUq7jp6en/VDTV2NrLycn/+PP/cUn2oY7/dVL/sp/0WRX/vaUkHh7/Zzj/AAB5bGb/aUH/eTD/5NG7sKdVTUru4tbTx7yHfHQ8MzBvZmLk2c+YjYj/gVlRSET/yLSonZXCubD/u57/ubD/2M+AenVEPDrB0Neyppz/hVT/Y07/h2//nYD/qI7aNwD/lHv/WCwYCwzdloAxKyqgkIcXBgf1XSPlZDL/e0TUu68kGBUzKyqujIantb0iDw7nd1baoJW7e2f/PRzjaj1VU1abm5tnWFLOdFZ/prmpxNCwnqPBal3/d2L/YEz/bhz/gT3+0sz/sq//k4T/f03/MyL/ZFj/0LeYv87CiH/Kgmi0b82sAAAbjUlEQVR4nO1dC0PbRraWcTRjSSYhxFgkMq1xbQrlIYJ5xMR62JKwJUBGDeYChdAUmm2WJG7TS7fdZMt2f/k9I8lPbKfcbJKi8BmMLNsz8+mcOXPOaOZAPXz45s3Dh+xKjGrF0K8P40ubR1Q7xCM4naD6YfThr29+jYeGfut8Q9x5Mv81S+2e9/qmOBBtvmAH+tZClZ8szG/2/wiUOJ8nf3bvtZ1l2dejPMun2wnPlNmEKHYWyacTcLpvJTxbXmUT1N6t5qmNdbfaMVHc3qXu+LVHL37zwY3mi8RU23vZVPtnUzMJ6taDZhntjXfBbkMpIjWWp1i+o76xUahNWDq7K1Li2MKY+9YMkWMiS42xUBvLbq8tuW3KuCXfX3vNUny2/E8qNbTNUpvb23BlskNwkmBzFZ5Wxs+2E+4nY+zEShbOrJInlrrzxfYZeePJGE9ly2uvebdOt/ApUbyffbQBR2ND2QyVukVFqyK1M/SaT52eldnsxj/LcBl/Iy0ZG4enchQqvRuCZr5+VE49uoupcrl6BpdmaeEuS52lX4sbfPl0O3UrBXW8GROp8pJbt0f4dF3crlLbWer+qEu4mt1hbwnU0Bg0hH+Uos7O3TZl7++IY9vRxAybSFcTm6fi+QSbFkWBPz+jNu43Ca8uRLOr1Pk2tXuXAg0ip2fS1Vsx6s62mP2dunUHrgU1NUotDZAqsnfdwqP8g7Io3KL2slQ1TVVfU9EH4vod6p9L1EI5mpraSST2RE93Vj3d2xkS2Qxfnkrxp0PUzja1vcfzU2zqUTTxKJaa4cWJvPj7OXVniZrfoTYmqOqMWE7WCYNK39+m0tXxoRmX8P2NDf63JLU5Re2MJTLj46uvSZvSG3BagPavbYRmYtQ2iCZR3hsf30ux/9r1O7cn4VtUQqCokfGv77rlA8Tf7qfvE5XOPxKpxPjQGyqzSer9ZXR8FIi4hNOgg9nYDE8l0tQ4FD4lJv5VhXK3U6DFUEYkgWfEBmHxlzC8dat8RpHLsLlCbcMln/9t7Mn4eGYTPi8+ylNnI9Tde6IQo2K/JHayFN9JODWSD7uESae5laRij/K/s5tCfiTPuyoNtYnQKurNRngi5lbAlc/yKXiXy87stBOOUNmJxHid8BLhJMRcwrHsQioLhBNQL/Xo3shI2JcwlL+bxROYEK4SwjyF789kqTOf8MbQrtu3XhOVPhd/wWBeyy7hMqkXFJRa+G1sFBoUhc/HfMJlXhCBcB4Is4Twa0J4KkaNbYPgqH9ukxJPXcIRKBX0jl9NxO4sed2MfH5XTOwlEiDh8zM+dQYSF/f4pbvizh2P8ArlXnGQ8FlWPCMqTb41v8vz26+pO+uE8HZW3J6nMllqI0LUpOyqz4MbpHxo9N5GLDtFlVc3lx6I2dex6l1QaTF1SmQ6Ibh1JPZSfDZNvb4rslP80u/Q3jKpd/dMhA5YfiSyv0O/R8CR+r0cgyojUOIEtbtDseT7S8BFfBOlyiDxofk1IkpqlOjnJhHNAhwlnqzuunbla9L0WPXhm02KHYLD3Uhyk7r1ZCBLiavCCu81hnxrFD7wNZUYiK9noVv8g9ir3cw/wHBURyh2NJbYy2THqUj16zWWEoeekDoo8UlUhPLXy1Ddmx0oPbuSHRL5I2FVpJamxllXT4bGvH6TehKBLhTd/fXJJpWqwvlNUu/u2ugRjIfZJ6sbFL8yxY+yVPbBevYcGvsEalpfAoIXzPkHxFT/Ib0LxJm+Xzkb+/835kNgnL3sN9idvm8vpfq+fY1rXOMa17jGNa5xjWtc4xrXuMY1rvHuiG7eujwuPe3zFwI/Mzp0WTy587Fb/Q7gJ2LcJRHLX23COBQKXwYhNHLlCV8O14SvFC4QRhhjhD4dwsgxTcOSvJMM+Q0zXKAJS7WildN4rCgKpyKk6Fg/5MLBJRziXtYorSirxokh1QpcrXIo0zoTYMLYlGOaYRqGodBOydGM3FwuFmQJY6NGyQXga+BCTbOKhZpKqyjAhBkdeq2uK4rOcBZ0Y0VHqhJgowWMwS4zjGui4Q9DXoYDTZioNQozGDM9XJKAEQaR4oLJ6QVLKWBP2kwowFYaQReWijpW6aJKc4qKdMXtz0ElzBk1WbJpFavLhrSMbbNQM0uypLW6HsEiTM+ZL4Y1jlGX9X1a3TcrjqxpJb11XAoUYSzVZNXSEKMWOQ0krNloXzLltnEpUIRDWEGYVZgwq4AfzWAdI3IQWMejfcANhdrNc/AIMwjwVtYBIoxKx7TDYQ6BYnOY4ThwP+CXRfAcSMK49FLnTclUNFsxHcU0sQMvnCKSDltG4iARlk+OdRiICrKt0o56vG/ZpmyYJWtfk3AgCVdezilF3TY0IExpZs0qqLahvlDsF3YgCSO7VlELumGqFV3jLM1QTdUwFVm17WCqdIjjOMSReUuO4cIIXmB4AWe4gBqtP4drwlcKQJj9xAhz6JLAV5xwfqQr8h66vXPvKhMWx+50xdlUGjA10fXNjY/d6veAUHIAEMl+7HZ8MCQi14SDjWvCQcc14SDjVoKlEp/SsJSd2ludJ3wHkqPlobXdj92e948hIe4KGEQsCKdXeWXln8V2ZKCOSP5jN+ZDgI/4Eh5IL33stnwYJNJxl+/UJ8KXosoZV5/77/YOFKrAWJj/2K34kHgTSc53yZ8TUESjlDgj8PA3ejEFUdBASN64cSOa2IwODg7CQaBZE7KDgzcB0/ADIIce64/dtPcAIllCdnr6dhPDw4S2K+qP3b7/Mohsgezt21vfPfvms6NFFz989uy7LaDtcg6WmAldEK3+zfO9SCSZ9ByPgWQyEllc/Y+6dXuYcA6MlIkyE7rPFoSGV9lEMiIsPCOUb968EQwhR6OgzLdnv4lk4hfYeohHMt9MEsqDQaDsdt7bzxYjPdj6cl78xpXy4JVnTPjeVleFdunGCdopC4vS1uyVZwzdF8R7v1WZ4xD3D6wQQO9t7dNx4bOtreHpq227oPtOz84LTc0VhMXRpVQ+nM/nwyPn5epiK+fI6iQR8tVlTMzVtNpklEzPr+c5DjPeGgcGYY7Lry9kmh9YHJ67qoxJ1lPQ52m1oc5JYSjF4/aVd+EQg3FqrX5Nkrux6PTs8JVkLGZE6karfDNHKYwurDwk4LnUvHdZkq9TZ2Hq5pWUcezBngh8hcYM5RLXc9NhGHH39siwFdn4Ip0e2OBuXEHLFUtHdm8O1+UbmR/pv74Fh1aBsbC0lgTVn6myV44vEB4QPl/z+Qpr/feUEiHjKnxjZCLuDlDptfLHJnBZAGEIDvzuO8p1WxvdDhbvCMLIXsPCRapvzR/9l0I+3RheM1VfnVmEwEzXZc2gDhvGVafOGw5oMrN3tYTcJBxZq+8RxrV92lZPMEYYcVin4YljcFPZ8c5OpO6OrfXNyRm9LN433Wi0QTg5j+r6jLWXkzTrSKoqqQVVoXXTMRRJbZqz2LbfCRYnb0Po1JPsjUujC+fYpfEnCTftM9YqJ9LcgWHbplZZVmmVNmWrZXtpGDcU+tVWL/fDmzu5LC4GnndPJyZm/EfjoONF+/lfHvRUFGhTk/BRHtf51ByTVg+4gwO+SOiqyzH9WGsKmGEz9S/9+GpuerBb+eCuQvh1WXSZULl7jhkXqPFoHnQ/n+xNePBmsw8n91I+J1SQdLJYOlfgcqaml3QNo5LZJMyPZOq3UhefznUXMbirn41+dmlc9NDv3nvLSHlhGAlHehO+6ROOxyEGTD8Y90ixnLs+OsRx/uJpjtHpFu8ar08dLXlCTv4BcVM3EUcHp7/Avgz+NPAXJO58R8Ihtifh6I3pmyNTEPcuLpxtV9dHwl23KPkkW97Ca9tMbM0z1JF/ExF3E/DwF3D52EsBf/50brqjtAZh5oJT5EVzTGeje0s4Ojh8M3+ULW+m7oU5krmjvog4jPo6IEwKRumUT9icvCAUj/DsF5dehU0ID99sL61OGKmS1dasMKNICngIusS2+wl9JHxzeFBMbewepU/bvsLwkt49YKp/AH65Bbcbx3982k2nWwmHMYc793m5bzHtqTLgg59/OdmLMFeryDaRCuLJpgQGK5yqKRhjVSOv3e1lnYTFC426vbZHpjKEnba9eFiiNY4h2x6gXLcs8rdD6njd7cXx5087dDrh/kOOG9MNwlhyJIVp3ePHqCYimQaMdiV1CXdePp9wmNM028BaTTc1y9Q03ZFNvaDXcrZu6JpmKHYuV3cUG4Q7/jEL2OjZPTe+zeRba4ayTVlRaznDNpRCSVI1zUSGlmtvHUr4Zutlu51OnYbbCYe5fUOrcRzZNkJ8NvKrWwx5lkD25FG/3P0JywaMGLLp2IgePtG1QkUt6kWdtoq6hmhzebhS16gG4Z0HbW4vGNLvIt4Q3NbbwCRby5J6gI5V2vnbcFHSeNqi+QpuV0DsxVjJn9t0Oju1hzskzBULmqQcn+gl2tI0Wq+VDElWjzXN2rcONE090R5zTcKdFqFBWK7YcsHOmYdmTLaPLVqqqCfqMbT1QK8ptFqxuxAW0q2LzKI3p595a+2G2jLtcHbFqS2ry8q+Slv7kixp4F1WjEqHDcKeQ538z6smYXFIiK9QnYRPTMO2ZCjUUQ9EWi3aB5YM/Q8uq/WC3c/Zc8tvJxzCquMoyLF0VeeMOVpXLUuxwGw5isVayNFzk0W/FPefYrhYEgaE5v9PIF34G1dIwlIbFyQpnGIqEgulMbqDdIuVdFst8u2E0T13ljPpdmKvjeKqMJD0axi83VBpWn6hFWoVp2hxBQOUpbAP0tFANrQkw7UsFQ5869WPMJlVY0LuyI5UWyJjfIg8vL8ImXZ9Czs6amS8A3oZ7x9i+IR/8AiX27snw4S9ciBEdB04eGXaascwiPIu4fi3DatVJhMn8YdudV9//cOO3wcYRVEwUpSQwiLNouGVghTWfTBwpNuG3EK4Rx/2qsSuuQ+DGWhvC1wNrjETx6wIEQ8euwW+Sfi51w1H3h73g7HpGKhYxhuJj77yrdaSPzHm1/Y/9+ud3suB4l5A1dHdK0gyocBflsjGcm34nyAM5t6Ej5JSO9rCKE5znyCz0n6zJCkk6jbr9rfuGaGdMObcC8j4FJles3p+zHT01eQsSFispturaRIOufv7vKG3c0QOIXin/rm+Kg2FLGu2xilkZzN5ILJXHy4A2ehsnvQmPBCfKtcJe0q5Gm7dp4UPS/IhBPxKSXfHYVSyOBjUoQt17ObCyTphotLz7XzjbYSxJpdU8BpYzGISz2DPUQT6jF6SmiLsL2GuaBgVqySry+q+Y0iHJUkqahibRbAH/QgLK4k6YVcp4wvtAi7Yimv9DnnF5K0CPlQs1eIUyVLaGfuEFz3Cib1IH8IHknkQA/9NwqaiKrqJVVVFDG8qnH2iNKrvL+EwV9RspSYZhwWjVpOtZbPmgIOkHw8XLcduem3MSjIeb7kNmK5SVKeEW2iEsbF84hSKsg5xcK2gwdCuagYt0QbdnughhCMthKOUuCC0EE62E67Ixza4ClIJLHPRWi5oxrKJlaKxrMsHehvhfhJedmLYqIErBMNuSZFzBcfGIaTlTlRTa46szMqeD5ddur7Dyu3D7kWItPbhMC5ouqLSBqbBiyuYNk/rmlKRYPzsIMy3qjRp5JA3TgkCWEkh00a4aOikHDN3cFipgWw0w+YYlRYPLEtuyuYthBkVRh4OxmHFwqqOFQkpKtg/bClYb3H+w0nRn+p5kmxYLJ/wc0/qbUYLG8W/FWS4iMd6TpZAvicwZsqWZZ60E2bCQgdhcLPg6i3l8/kE/HzXEi1hsANYLebgQvKyo9glyTRwGEl/O+SlFtm8xWi546UbDqIwSYmEmgFiW4zY8LQWk8JC8z8JEcLdxmGW7I/G7pQlCU78Z66myWxHwiV/HG4SpsqZuOCtvY22hYcMGSTJKOoGNkw9iyR2z7Rc67dIGON2H5hETV2iujrhmJAZagmYwPvr7mnVUS8q7B4gtSMA9z2t+POvWsKlcsRbXN3qWnYrs9urt0mYUQoVCxpBIkGGpBthSupjxbP4TAvzRrSUn2pbCEwmJZ552zhGxbqL0I14qJ7csr2xdV/6723xYeh0twdhEHBHcswL6C9hbJTAA1eRqqiqAr86plULgUMNx0htmr4G4UTHf+cEwn60NOC1BIZyBXuOjPcUdoUADpHO+vFsuCkWfsG7dfo9EG5pI1vtThhbRU32A2sMygwXANS5I8buK2GkVyqOSs8dOPvmiUUfnvD7FphSI+fQhlwoNWrrOeMB0dKWd4/Ij4cVjV5WOW/qjsStHMcwHIdYpD9GCu8mbYHY1fdjGc+Vhnj4glB6EN7XacVhDclRDM6BHxiR7XY72J8wNi0IOB7PVawXPC09hpgYCFu0LZtazNCOG+rTc06LWK15T6fdGQ8s7VPg12oGNo2ClVMPDzVdzx3qxYJyCCWjQk6RDMvKmW4LsDdvSWzW7PSFidouhFVak/kKBIW0JUsVzZZf6Ce5QluQ3V+lQcKyoWg2DGuaAaUZuGItK3bOkGzO0AqN2noTJlbL87VWEXFkwBnC3GPJNmzbKJlywbALMiiPRsamfcW2TdksgQtR8Ah7c1rJH59Odpm27CZhCKol4s4UKiqUZMgWMuxc+2f6e1rE7QY945wDPibRMdI9OMadMQm32ofeKg2deM7zloRznthh2tw3K8YL0yapaIoFQzNKhydq4SUErdBO8NzNQsw+pMnsFjr3NDpidM5p9SCM1FzOwI6Z06WiohiaaqjIyFkXVLpfeFhnBM4oq/SM8PrMWg4Ob/mWZ57kEEd6zsHQyThHskzw1momrxgmUg3FRpIJio4si1O9wJjb9S5V8qduXbiblSajaJhMDJoGyeBEDBbGHc7qWxyPRlGh3gNKf8LTt5/5InZ9DxJYg44QhwAaVHM40kpiTjk3xSUmIQ5yo0Xk36JJ/r3F7ehPuNFaYqi6xLQ9CeNL3r9g+tx5uDm85dvao9iFVB4XphVam3bmh0pfWmSC5zKEuxCtv9F1Xno9cVn0vpl242bdbA1k1i80r89UPC571yn+Y3eNdifiPyczs5cC9/nFe3M7QiTpPsiUTSQp9D0EwGGfm2mD08P+UDwgJP78TSuU95eFJF/2unsI1/Lh6KXx7eTc+1385Yq4rtTht89seWCxN3yDgL/qLmDPPmy9evXVpfDq1Wy3G1X/RZCbD1v+jEhk9M9m5MG7fqi/+OXkhZtf9ZLhWg7Pzl0SwPc9r+4jIpb85mequE+3bYIb97+Q/L6ngF3GQPlymH7/+wtAxMNbvt0aEHZ7Lzts0edxf8FDEhS6Rw+mvDUel17k4W6Oep983QhidmuhvhJvt3NNlg+e3D5mWBJB4d10fU3tT2Cx+nS5yy/j+SALl0CpZ19F/Am+zEq+2+CJh+Z3sksjIU6MUUtna9tHLt8vn4JC37xyqy1dpZYW61IT1rsst2Tye0JEEPYmVoeq5ZToZn9wO3APi/WXBnQ1GIylxqRyZmHkYk/G97y1L8mIkEmzO2C0It9/1dNC/8URdd2PycYK8WR6/rzTqw9x2fqkc3KeirjydZdjXL310pTfjbeko8aWhkhkfj1PJhYZlg2xZL4M4pz6WjRhPZWJx7//CeR7JVfEE7hOwtbTo+a9kriQWa2un4cRwyGGOV+qNne8CImhyNHLr6y5q7yTx2P86rNIx76lyOnpymnkVGjZwxNfSKR/BPt8pfn6jOde/TxwYZNl54nIzuf/+5M0+f59wPcMsvR1eHbr1X+67CttQ1r5Eszz7NXfVevuHJ6d23r642Ky1+5SV8K3X7rm6qrzJYzd+Gbr1cs/FoUunOMQAicHItUtcK+mg7Gf1hUyUH7676c/Pl9MJhv7SuNANvn8x5c/PY9HyrOB2Ezrwd0yTaLYyadPn/78xw/fHh0dRRaPjr59/sfPP//09OnWM2FPCch2aR9Erwll4AykvWmIn8jT5OQkhOe39xYGg0SXwEtqAZH7LJmumPRA5iJmIT6/uTFOBYsugR+5T5PpilngPduYjBi8IYqBo+vCTV7izlco9amIwCZq8eHumrpB3Z/gP9xcxF8AqYywQAWw1/ZCQogPZD6hfGl4hvjVwtXaS/kOEFe9m+WZTyGnJcFafbp9j3/7hwOA0eYcx9CnkBZvKd0MmDLVj92a94/y1N7eiq/SkcgnkMqznED+QqzITjlb/Qf79q9cfXirZT+dYYnyJCwEX53rCH9yhDOfGuFPTcKfXB9GgbXSS2NdUZ3KAKa2u755peWerI53xfo9gvWu7wkfu9HvgoGEv/SPdx/+YQvazruHieTHbvS7IJ5qrsELu+i6YKnlNJOIfOxGvwtaCLu7Gni+K+GWLRnBIaxotmaYBufu9kLupi/kLq5nQtjSGltlgkOY5YuFWK42h8jWIEnhVImzXqAQgmP8wuaDJ+FQrGJQuVJNspfVolFSSiXTpnWkyOaJuqw1lukFiDBXNGI1wzFsSaElWa3Ztm5zyDqI0brhcAGUMFczYjlDMg0JGzVbrRUMpWhhbJQM3nBwAAmHEAojxCIFMVjB8EMyMoRCcMC07CILEmGfkddbwyTjVPsu02ARxoruqq2iM/4+S0Wv7xpuvShBIYytg8cSSZfmVDjEgAvCYrMGSu1uoIY/jVWngSF8XHAsS1IN6eRQVQqmRUu65dCqqTqmXcFOrp6tJSiEkV6omMZLa98qWZWCnFNp3ayptKI5du6lrRelx/6Ov6AQxkXD1g5zxrJUNEuOQau0ZNYUkp1BK0iafmzuK8GSMKPYNkLgdqiGoSi2w0mGasJr3jAd3VZU2wqYSofJhkoGexsryT5LdxOol5aBcVM0BMtoMa1p71C3hBHBGpYYneTHCXm7LBldrydyQq0+RzhAhLnKcq3gpirlGETVahQiQzLH6YiccbM1wkFwCIc5+aVVtOScfmxgqwYGW7dNvSY7tKPKthJGZtHUZS97RFAIF2UJQkJaf+EUrYKRUzQYnHR1XzdKOQXrtF78rqQyASJ8YFCcmeNOjKJasUs526iYmi2DuyUVaAsIv1xWZW8/ZiAIhzBJ/qpLGBkqZk3VQuBkYknCqkPOhJECY7ODgtOHwSph8i9KSBIjkuwA+b8hd1gOeQnd/C3GwSDsjzuYaxmBme75goJEGFk5komRJGFkIJoAq4zAAwuFAxkPE/k6y9KJgtwMYuBKKhLmSEJxHnNKy3+9CA7hEFKLNVWtaJZGG8s6xEtKJZdTK7JaqtUCOaeFVEtfrrzIFQ4lqpgzSDZjrGsvtENDCyrh41JOlXNWTYo5tK7TilzJWbJm5TQZB5FwiKQXJd3XvbnEsCxy57QASstm+SAR9jImMiHWffZ+SFLFgFrpnmjPaXLFCQ+k6omZvCTInYddzueTH7vR74Kj+YX5hYX55qPlsMf5hYH33aj/A9nDLy7QmjsAAAAAAElFTkSuQmCC">
            <a:extLst>
              <a:ext uri="{FF2B5EF4-FFF2-40B4-BE49-F238E27FC236}">
                <a16:creationId xmlns="" xmlns:a16="http://schemas.microsoft.com/office/drawing/2014/main" id="{DB347426-7A67-DBAA-19FB-58ADD2D9150D}"/>
              </a:ext>
            </a:extLst>
          </p:cNvPr>
          <p:cNvSpPr>
            <a:spLocks noChangeAspect="1" noChangeArrowheads="1"/>
          </p:cNvSpPr>
          <p:nvPr/>
        </p:nvSpPr>
        <p:spPr bwMode="auto">
          <a:xfrm>
            <a:off x="155575" y="-144463"/>
            <a:ext cx="304800" cy="30480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5365" name="AutoShape 7" descr="data:image/png;base64,iVBORw0KGgoAAAANSUhEUgAAAPAAAADSCAMAAABD772dAAABiVBMVEX/////7d//YRb/7d75+fkAAAD/8eT/9en/TgD/8OL/7eD/+u78/Pz39/fw8PD/ysX/iGHT4+rg4OD+e3P///j/3MX/XgD/8+r2k23/iX//xqT/QwD/4dP/n5Dqi23snXv/UwD/rIf/18bzm3D/NAD/PwD/W0CNmKTBwcD/JgCUq7jp6en/VDTV2NrLycn/+PP/cUn2oY7/dVL/sp/0WRX/vaUkHh7/Zzj/AAB5bGb/aUH/eTD/5NG7sKdVTUru4tbTx7yHfHQ8MzBvZmLk2c+YjYj/gVlRSET/yLSonZXCubD/u57/ubD/2M+AenVEPDrB0Neyppz/hVT/Y07/h2//nYD/qI7aNwD/lHv/WCwYCwzdloAxKyqgkIcXBgf1XSPlZDL/e0TUu68kGBUzKyqujIantb0iDw7nd1baoJW7e2f/PRzjaj1VU1abm5tnWFLOdFZ/prmpxNCwnqPBal3/d2L/YEz/bhz/gT3+0sz/sq//k4T/f03/MyL/ZFj/0LeYv87CiH/Kgmi0b82sAAAbjUlEQVR4nO1dC0PbRraWcTRjSSYhxFgkMq1xbQrlIYJ5xMR62JKwJUBGDeYChdAUmm2WJG7TS7fdZMt2f/k9I8lPbKfcbJKi8BmMLNsz8+mcOXPOaOZAPXz45s3Dh+xKjGrF0K8P40ubR1Q7xCM4naD6YfThr29+jYeGfut8Q9x5Mv81S+2e9/qmOBBtvmAH+tZClZ8szG/2/wiUOJ8nf3bvtZ1l2dejPMun2wnPlNmEKHYWyacTcLpvJTxbXmUT1N6t5qmNdbfaMVHc3qXu+LVHL37zwY3mi8RU23vZVPtnUzMJ6taDZhntjXfBbkMpIjWWp1i+o76xUahNWDq7K1Li2MKY+9YMkWMiS42xUBvLbq8tuW3KuCXfX3vNUny2/E8qNbTNUpvb23BlskNwkmBzFZ5Wxs+2E+4nY+zEShbOrJInlrrzxfYZeePJGE9ly2uvebdOt/ApUbyffbQBR2ND2QyVukVFqyK1M/SaT52eldnsxj/LcBl/Iy0ZG4enchQqvRuCZr5+VE49uoupcrl6BpdmaeEuS52lX4sbfPl0O3UrBXW8GROp8pJbt0f4dF3crlLbWer+qEu4mt1hbwnU0Bg0hH+Uos7O3TZl7++IY9vRxAybSFcTm6fi+QSbFkWBPz+jNu43Ca8uRLOr1Pk2tXuXAg0ip2fS1Vsx6s62mP2dunUHrgU1NUotDZAqsnfdwqP8g7Io3KL2slQ1TVVfU9EH4vod6p9L1EI5mpraSST2RE93Vj3d2xkS2Qxfnkrxp0PUzja1vcfzU2zqUTTxKJaa4cWJvPj7OXVniZrfoTYmqOqMWE7WCYNK39+m0tXxoRmX8P2NDf63JLU5Re2MJTLj46uvSZvSG3BagPavbYRmYtQ2iCZR3hsf30ux/9r1O7cn4VtUQqCokfGv77rlA8Tf7qfvE5XOPxKpxPjQGyqzSer9ZXR8FIi4hNOgg9nYDE8l0tQ4FD4lJv5VhXK3U6DFUEYkgWfEBmHxlzC8dat8RpHLsLlCbcMln/9t7Mn4eGYTPi8+ylNnI9Tde6IQo2K/JHayFN9JODWSD7uESae5laRij/K/s5tCfiTPuyoNtYnQKurNRngi5lbAlc/yKXiXy87stBOOUNmJxHid8BLhJMRcwrHsQioLhBNQL/Xo3shI2JcwlL+bxROYEK4SwjyF789kqTOf8MbQrtu3XhOVPhd/wWBeyy7hMqkXFJRa+G1sFBoUhc/HfMJlXhCBcB4Is4Twa0J4KkaNbYPgqH9ukxJPXcIRKBX0jl9NxO4sed2MfH5XTOwlEiDh8zM+dQYSF/f4pbvizh2P8ArlXnGQ8FlWPCMqTb41v8vz26+pO+uE8HZW3J6nMllqI0LUpOyqz4MbpHxo9N5GLDtFlVc3lx6I2dex6l1QaTF1SmQ6Ibh1JPZSfDZNvb4rslP80u/Q3jKpd/dMhA5YfiSyv0O/R8CR+r0cgyojUOIEtbtDseT7S8BFfBOlyiDxofk1IkpqlOjnJhHNAhwlnqzuunbla9L0WPXhm02KHYLD3Uhyk7r1ZCBLiavCCu81hnxrFD7wNZUYiK9noVv8g9ir3cw/wHBURyh2NJbYy2THqUj16zWWEoeekDoo8UlUhPLXy1Ddmx0oPbuSHRL5I2FVpJamxllXT4bGvH6TehKBLhTd/fXJJpWqwvlNUu/u2ugRjIfZJ6sbFL8yxY+yVPbBevYcGvsEalpfAoIXzPkHxFT/Ib0LxJm+Xzkb+/835kNgnL3sN9idvm8vpfq+fY1rXOMa17jGNa5xjWtc4xrXuMY1rvHuiG7eujwuPe3zFwI/Mzp0WTy587Fb/Q7gJ2LcJRHLX23COBQKXwYhNHLlCV8O14SvFC4QRhhjhD4dwsgxTcOSvJMM+Q0zXKAJS7WildN4rCgKpyKk6Fg/5MLBJRziXtYorSirxokh1QpcrXIo0zoTYMLYlGOaYRqGodBOydGM3FwuFmQJY6NGyQXga+BCTbOKhZpKqyjAhBkdeq2uK4rOcBZ0Y0VHqhJgowWMwS4zjGui4Q9DXoYDTZioNQozGDM9XJKAEQaR4oLJ6QVLKWBP2kwowFYaQReWijpW6aJKc4qKdMXtz0ElzBk1WbJpFavLhrSMbbNQM0uypLW6HsEiTM+ZL4Y1jlGX9X1a3TcrjqxpJb11XAoUYSzVZNXSEKMWOQ0krNloXzLltnEpUIRDWEGYVZgwq4AfzWAdI3IQWMejfcANhdrNc/AIMwjwVtYBIoxKx7TDYQ6BYnOY4ThwP+CXRfAcSMK49FLnTclUNFsxHcU0sQMvnCKSDltG4iARlk+OdRiICrKt0o56vG/ZpmyYJWtfk3AgCVdezilF3TY0IExpZs0qqLahvlDsF3YgCSO7VlELumGqFV3jLM1QTdUwFVm17WCqdIjjOMSReUuO4cIIXmB4AWe4gBqtP4drwlcKQJj9xAhz6JLAV5xwfqQr8h66vXPvKhMWx+50xdlUGjA10fXNjY/d6veAUHIAEMl+7HZ8MCQi14SDjWvCQcc14SDjVoKlEp/SsJSd2ludJ3wHkqPlobXdj92e948hIe4KGEQsCKdXeWXln8V2ZKCOSP5jN+ZDgI/4Eh5IL33stnwYJNJxl+/UJ8KXosoZV5/77/YOFKrAWJj/2K34kHgTSc53yZ8TUESjlDgj8PA3ejEFUdBASN64cSOa2IwODg7CQaBZE7KDgzcB0/ADIIce64/dtPcAIllCdnr6dhPDw4S2K+qP3b7/Mohsgezt21vfPfvms6NFFz989uy7LaDtcg6WmAldEK3+zfO9SCSZ9ByPgWQyEllc/Y+6dXuYcA6MlIkyE7rPFoSGV9lEMiIsPCOUb968EQwhR6OgzLdnv4lk4hfYeohHMt9MEsqDQaDsdt7bzxYjPdj6cl78xpXy4JVnTPjeVleFdunGCdopC4vS1uyVZwzdF8R7v1WZ4xD3D6wQQO9t7dNx4bOtreHpq227oPtOz84LTc0VhMXRpVQ+nM/nwyPn5epiK+fI6iQR8tVlTMzVtNpklEzPr+c5DjPeGgcGYY7Lry9kmh9YHJ67qoxJ1lPQ52m1oc5JYSjF4/aVd+EQg3FqrX5Nkrux6PTs8JVkLGZE6karfDNHKYwurDwk4LnUvHdZkq9TZ2Hq5pWUcezBngh8hcYM5RLXc9NhGHH39siwFdn4Ip0e2OBuXEHLFUtHdm8O1+UbmR/pv74Fh1aBsbC0lgTVn6myV44vEB4QPl/z+Qpr/feUEiHjKnxjZCLuDlDptfLHJnBZAGEIDvzuO8p1WxvdDhbvCMLIXsPCRapvzR/9l0I+3RheM1VfnVmEwEzXZc2gDhvGVafOGw5oMrN3tYTcJBxZq+8RxrV92lZPMEYYcVin4YljcFPZ8c5OpO6OrfXNyRm9LN433Wi0QTg5j+r6jLWXkzTrSKoqqQVVoXXTMRRJbZqz2LbfCRYnb0Po1JPsjUujC+fYpfEnCTftM9YqJ9LcgWHbplZZVmmVNmWrZXtpGDcU+tVWL/fDmzu5LC4GnndPJyZm/EfjoONF+/lfHvRUFGhTk/BRHtf51ByTVg+4gwO+SOiqyzH9WGsKmGEz9S/9+GpuerBb+eCuQvh1WXSZULl7jhkXqPFoHnQ/n+xNePBmsw8n91I+J1SQdLJYOlfgcqaml3QNo5LZJMyPZOq3UhefznUXMbirn41+dmlc9NDv3nvLSHlhGAlHehO+6ROOxyEGTD8Y90ixnLs+OsRx/uJpjtHpFu8ar08dLXlCTv4BcVM3EUcHp7/Avgz+NPAXJO58R8Ihtifh6I3pmyNTEPcuLpxtV9dHwl23KPkkW97Ca9tMbM0z1JF/ExF3E/DwF3D52EsBf/50brqjtAZh5oJT5EVzTGeje0s4Ojh8M3+ULW+m7oU5krmjvog4jPo6IEwKRumUT9icvCAUj/DsF5dehU0ID99sL61OGKmS1dasMKNICngIusS2+wl9JHxzeFBMbewepU/bvsLwkt49YKp/AH65Bbcbx3982k2nWwmHMYc793m5bzHtqTLgg59/OdmLMFeryDaRCuLJpgQGK5yqKRhjVSOv3e1lnYTFC426vbZHpjKEnba9eFiiNY4h2x6gXLcs8rdD6njd7cXx5087dDrh/kOOG9MNwlhyJIVp3ePHqCYimQaMdiV1CXdePp9wmNM028BaTTc1y9Q03ZFNvaDXcrZu6JpmKHYuV3cUG4Q7/jEL2OjZPTe+zeRba4ayTVlRaznDNpRCSVI1zUSGlmtvHUr4Zutlu51OnYbbCYe5fUOrcRzZNkJ8NvKrWwx5lkD25FG/3P0JywaMGLLp2IgePtG1QkUt6kWdtoq6hmhzebhS16gG4Z0HbW4vGNLvIt4Q3NbbwCRby5J6gI5V2vnbcFHSeNqi+QpuV0DsxVjJn9t0Oju1hzskzBULmqQcn+gl2tI0Wq+VDElWjzXN2rcONE090R5zTcKdFqFBWK7YcsHOmYdmTLaPLVqqqCfqMbT1QK8ptFqxuxAW0q2LzKI3p595a+2G2jLtcHbFqS2ry8q+Slv7kixp4F1WjEqHDcKeQ538z6smYXFIiK9QnYRPTMO2ZCjUUQ9EWi3aB5YM/Q8uq/WC3c/Zc8tvJxzCquMoyLF0VeeMOVpXLUuxwGw5isVayNFzk0W/FPefYrhYEgaE5v9PIF34G1dIwlIbFyQpnGIqEgulMbqDdIuVdFst8u2E0T13ljPpdmKvjeKqMJD0axi83VBpWn6hFWoVp2hxBQOUpbAP0tFANrQkw7UsFQ5869WPMJlVY0LuyI5UWyJjfIg8vL8ImXZ9Czs6amS8A3oZ7x9i+IR/8AiX27snw4S9ciBEdB04eGXaascwiPIu4fi3DatVJhMn8YdudV9//cOO3wcYRVEwUpSQwiLNouGVghTWfTBwpNuG3EK4Rx/2qsSuuQ+DGWhvC1wNrjETx6wIEQ8euwW+Sfi51w1H3h73g7HpGKhYxhuJj77yrdaSPzHm1/Y/9+ud3suB4l5A1dHdK0gyocBflsjGcm34nyAM5t6Ej5JSO9rCKE5znyCz0n6zJCkk6jbr9rfuGaGdMObcC8j4FJles3p+zHT01eQsSFispturaRIOufv7vKG3c0QOIXin/rm+Kg2FLGu2xilkZzN5ILJXHy4A2ehsnvQmPBCfKtcJe0q5Gm7dp4UPS/IhBPxKSXfHYVSyOBjUoQt17ObCyTphotLz7XzjbYSxJpdU8BpYzGISz2DPUQT6jF6SmiLsL2GuaBgVqySry+q+Y0iHJUkqahibRbAH/QgLK4k6YVcp4wvtAi7Yimv9DnnF5K0CPlQs1eIUyVLaGfuEFz3Cib1IH8IHknkQA/9NwqaiKrqJVVVFDG8qnH2iNKrvL+EwV9RspSYZhwWjVpOtZbPmgIOkHw8XLcduem3MSjIeb7kNmK5SVKeEW2iEsbF84hSKsg5xcK2gwdCuagYt0QbdnughhCMthKOUuCC0EE62E67Ixza4ClIJLHPRWi5oxrKJlaKxrMsHehvhfhJedmLYqIErBMNuSZFzBcfGIaTlTlRTa46szMqeD5ddur7Dyu3D7kWItPbhMC5ouqLSBqbBiyuYNk/rmlKRYPzsIMy3qjRp5JA3TgkCWEkh00a4aOikHDN3cFipgWw0w+YYlRYPLEtuyuYthBkVRh4OxmHFwqqOFQkpKtg/bClYb3H+w0nRn+p5kmxYLJ/wc0/qbUYLG8W/FWS4iMd6TpZAvicwZsqWZZ60E2bCQgdhcLPg6i3l8/kE/HzXEi1hsANYLebgQvKyo9glyTRwGEl/O+SlFtm8xWi546UbDqIwSYmEmgFiW4zY8LQWk8JC8z8JEcLdxmGW7I/G7pQlCU78Z66myWxHwiV/HG4SpsqZuOCtvY22hYcMGSTJKOoGNkw9iyR2z7Rc67dIGON2H5hETV2iujrhmJAZagmYwPvr7mnVUS8q7B4gtSMA9z2t+POvWsKlcsRbXN3qWnYrs9urt0mYUQoVCxpBIkGGpBthSupjxbP4TAvzRrSUn2pbCEwmJZ552zhGxbqL0I14qJ7csr2xdV/6723xYeh0twdhEHBHcswL6C9hbJTAA1eRqqiqAr86plULgUMNx0htmr4G4UTHf+cEwn60NOC1BIZyBXuOjPcUdoUADpHO+vFsuCkWfsG7dfo9EG5pI1vtThhbRU32A2sMygwXANS5I8buK2GkVyqOSs8dOPvmiUUfnvD7FphSI+fQhlwoNWrrOeMB0dKWd4/Ij4cVjV5WOW/qjsStHMcwHIdYpD9GCu8mbYHY1fdjGc+Vhnj4glB6EN7XacVhDclRDM6BHxiR7XY72J8wNi0IOB7PVawXPC09hpgYCFu0LZtazNCOG+rTc06LWK15T6fdGQ8s7VPg12oGNo2ClVMPDzVdzx3qxYJyCCWjQk6RDMvKmW4LsDdvSWzW7PSFidouhFVak/kKBIW0JUsVzZZf6Ce5QluQ3V+lQcKyoWg2DGuaAaUZuGItK3bOkGzO0AqN2noTJlbL87VWEXFkwBnC3GPJNmzbKJlywbALMiiPRsamfcW2TdksgQtR8Ah7c1rJH59Odpm27CZhCKol4s4UKiqUZMgWMuxc+2f6e1rE7QY945wDPibRMdI9OMadMQm32ofeKg2deM7zloRznthh2tw3K8YL0yapaIoFQzNKhydq4SUErdBO8NzNQsw+pMnsFjr3NDpidM5p9SCM1FzOwI6Z06WiohiaaqjIyFkXVLpfeFhnBM4oq/SM8PrMWg4Ob/mWZ57kEEd6zsHQyThHskzw1momrxgmUg3FRpIJio4si1O9wJjb9S5V8qduXbiblSajaJhMDJoGyeBEDBbGHc7qWxyPRlGh3gNKf8LTt5/5InZ9DxJYg44QhwAaVHM40kpiTjk3xSUmIQ5yo0Xk36JJ/r3F7ehPuNFaYqi6xLQ9CeNL3r9g+tx5uDm85dvao9iFVB4XphVam3bmh0pfWmSC5zKEuxCtv9F1Xno9cVn0vpl242bdbA1k1i80r89UPC571yn+Y3eNdifiPyczs5cC9/nFe3M7QiTpPsiUTSQp9D0EwGGfm2mD08P+UDwgJP78TSuU95eFJF/2unsI1/Lh6KXx7eTc+1385Yq4rtTht89seWCxN3yDgL/qLmDPPmy9evXVpfDq1Wy3G1X/RZCbD1v+jEhk9M9m5MG7fqi/+OXkhZtf9ZLhWg7Pzl0SwPc9r+4jIpb85mequE+3bYIb97+Q/L6ngF3GQPlymH7/+wtAxMNbvt0aEHZ7Lzts0edxf8FDEhS6Rw+mvDUel17k4W6Oep983QhidmuhvhJvt3NNlg+e3D5mWBJB4d10fU3tT2Cx+nS5yy/j+SALl0CpZ19F/Am+zEq+2+CJh+Z3sksjIU6MUUtna9tHLt8vn4JC37xyqy1dpZYW61IT1rsst2Tye0JEEPYmVoeq5ZToZn9wO3APi/WXBnQ1GIylxqRyZmHkYk/G97y1L8mIkEmzO2C0It9/1dNC/8URdd2PycYK8WR6/rzTqw9x2fqkc3KeirjydZdjXL310pTfjbeko8aWhkhkfj1PJhYZlg2xZL4M4pz6WjRhPZWJx7//CeR7JVfEE7hOwtbTo+a9kriQWa2un4cRwyGGOV+qNne8CImhyNHLr6y5q7yTx2P86rNIx76lyOnpymnkVGjZwxNfSKR/BPt8pfn6jOde/TxwYZNl54nIzuf/+5M0+f59wPcMsvR1eHbr1X+67CttQ1r5Eszz7NXfVevuHJ6d23r642Ky1+5SV8K3X7rm6qrzJYzd+Gbr1cs/FoUunOMQAicHItUtcK+mg7Gf1hUyUH7676c/Pl9MJhv7SuNANvn8x5c/PY9HyrOB2Ezrwd0yTaLYyadPn/78xw/fHh0dRRaPjr59/sfPP//09OnWM2FPCch2aR9Erwll4AykvWmIn8jT5OQkhOe39xYGg0SXwEtqAZH7LJmumPRA5iJmIT6/uTFOBYsugR+5T5PpilngPduYjBi8IYqBo+vCTV7izlco9amIwCZq8eHumrpB3Z/gP9xcxF8AqYywQAWw1/ZCQogPZD6hfGl4hvjVwtXaS/kOEFe9m+WZTyGnJcFafbp9j3/7hwOA0eYcx9CnkBZvKd0MmDLVj92a94/y1N7eiq/SkcgnkMqznED+QqzITjlb/Qf79q9cfXirZT+dYYnyJCwEX53rCH9yhDOfGuFPTcKfXB9GgbXSS2NdUZ3KAKa2u755peWerI53xfo9gvWu7wkfu9HvgoGEv/SPdx/+YQvazruHieTHbvS7IJ5qrsELu+i6YKnlNJOIfOxGvwtaCLu7Gni+K+GWLRnBIaxotmaYBufu9kLupi/kLq5nQtjSGltlgkOY5YuFWK42h8jWIEnhVImzXqAQgmP8wuaDJ+FQrGJQuVJNspfVolFSSiXTpnWkyOaJuqw1lukFiDBXNGI1wzFsSaElWa3Ztm5zyDqI0brhcAGUMFczYjlDMg0JGzVbrRUMpWhhbJQM3nBwAAmHEAojxCIFMVjB8EMyMoRCcMC07CILEmGfkddbwyTjVPsu02ARxoruqq2iM/4+S0Wv7xpuvShBIYytg8cSSZfmVDjEgAvCYrMGSu1uoIY/jVWngSF8XHAsS1IN6eRQVQqmRUu65dCqqTqmXcFOrp6tJSiEkV6omMZLa98qWZWCnFNp3ayptKI5du6lrRelx/6Ov6AQxkXD1g5zxrJUNEuOQau0ZNYUkp1BK0iafmzuK8GSMKPYNkLgdqiGoSi2w0mGasJr3jAd3VZU2wqYSofJhkoGexsryT5LdxOol5aBcVM0BMtoMa1p71C3hBHBGpYYneTHCXm7LBldrydyQq0+RzhAhLnKcq3gpirlGETVahQiQzLH6YiccbM1wkFwCIc5+aVVtOScfmxgqwYGW7dNvSY7tKPKthJGZtHUZS97RFAIF2UJQkJaf+EUrYKRUzQYnHR1XzdKOQXrtF78rqQyASJ8YFCcmeNOjKJasUs526iYmi2DuyUVaAsIv1xWZW8/ZiAIhzBJ/qpLGBkqZk3VQuBkYknCqkPOhJECY7ODgtOHwSph8i9KSBIjkuwA+b8hd1gOeQnd/C3GwSDsjzuYaxmBme75goJEGFk5komRJGFkIJoAq4zAAwuFAxkPE/k6y9KJgtwMYuBKKhLmSEJxHnNKy3+9CA7hEFKLNVWtaJZGG8s6xEtKJZdTK7JaqtUCOaeFVEtfrrzIFQ4lqpgzSDZjrGsvtENDCyrh41JOlXNWTYo5tK7TilzJWbJm5TQZB5FwiKQXJd3XvbnEsCxy57QASstm+SAR9jImMiHWffZ+SFLFgFrpnmjPaXLFCQ+k6omZvCTInYddzueTH7vR74Kj+YX5hYX55qPlsMf5hYH33aj/A9nDLy7QmjsAAAAAAElFTkSuQmCC">
            <a:extLst>
              <a:ext uri="{FF2B5EF4-FFF2-40B4-BE49-F238E27FC236}">
                <a16:creationId xmlns="" xmlns:a16="http://schemas.microsoft.com/office/drawing/2014/main" id="{D1E5C9B2-118F-D338-CED0-F842E134C6E3}"/>
              </a:ext>
            </a:extLst>
          </p:cNvPr>
          <p:cNvSpPr>
            <a:spLocks noChangeAspect="1" noChangeArrowheads="1"/>
          </p:cNvSpPr>
          <p:nvPr/>
        </p:nvSpPr>
        <p:spPr bwMode="auto">
          <a:xfrm>
            <a:off x="155575" y="-144463"/>
            <a:ext cx="304800" cy="30480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pic>
        <p:nvPicPr>
          <p:cNvPr id="15366" name="Picture 8" descr="Porter's Five Forces - Kazmaier Language Services">
            <a:extLst>
              <a:ext uri="{FF2B5EF4-FFF2-40B4-BE49-F238E27FC236}">
                <a16:creationId xmlns="" xmlns:a16="http://schemas.microsoft.com/office/drawing/2014/main" id="{4FADD98C-0FB8-9B09-E702-D9E6809D4277}"/>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342900" y="833562"/>
            <a:ext cx="7848600" cy="5762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786D358-5FBA-3AC0-6204-E99D06900FA7}"/>
            </a:ext>
          </a:extLst>
        </p:cNvPr>
        <p:cNvGrpSpPr/>
        <p:nvPr/>
      </p:nvGrpSpPr>
      <p:grpSpPr>
        <a:xfrm>
          <a:off x="0" y="0"/>
          <a:ext cx="0" cy="0"/>
          <a:chOff x="0" y="0"/>
          <a:chExt cx="0" cy="0"/>
        </a:xfrm>
      </p:grpSpPr>
      <p:sp>
        <p:nvSpPr>
          <p:cNvPr id="4" name="Date Placeholder 3">
            <a:extLst>
              <a:ext uri="{FF2B5EF4-FFF2-40B4-BE49-F238E27FC236}">
                <a16:creationId xmlns="" xmlns:a16="http://schemas.microsoft.com/office/drawing/2014/main" id="{C0428954-C9EC-49A4-9133-F05845AC148B}"/>
              </a:ext>
            </a:extLst>
          </p:cNvPr>
          <p:cNvSpPr>
            <a:spLocks noGrp="1"/>
          </p:cNvSpPr>
          <p:nvPr>
            <p:ph type="dt" sz="half" idx="10"/>
          </p:nvPr>
        </p:nvSpPr>
        <p:spPr/>
        <p:txBody>
          <a:bodyPr/>
          <a:lstStyle/>
          <a:p>
            <a:fld id="{04619D83-FF17-4516-B6B3-12726EAD2179}" type="datetime1">
              <a:rPr lang="en-US" smtClean="0"/>
              <a:pPr/>
              <a:t>5/4/2026</a:t>
            </a:fld>
            <a:endParaRPr lang="en-US"/>
          </a:p>
        </p:txBody>
      </p:sp>
      <p:sp>
        <p:nvSpPr>
          <p:cNvPr id="5" name="Footer Placeholder 4">
            <a:extLst>
              <a:ext uri="{FF2B5EF4-FFF2-40B4-BE49-F238E27FC236}">
                <a16:creationId xmlns="" xmlns:a16="http://schemas.microsoft.com/office/drawing/2014/main" id="{0C890F5E-E849-F3A4-ABFF-54B9BBA63398}"/>
              </a:ext>
            </a:extLst>
          </p:cNvPr>
          <p:cNvSpPr>
            <a:spLocks noGrp="1"/>
          </p:cNvSpPr>
          <p:nvPr>
            <p:ph type="ftr" sz="quarter" idx="11"/>
          </p:nvPr>
        </p:nvSpPr>
        <p:spPr/>
        <p:txBody>
          <a:bodyPr/>
          <a:lstStyle/>
          <a:p>
            <a:r>
              <a:rPr lang="en-US"/>
              <a:t>VTU PG Studies</a:t>
            </a:r>
          </a:p>
        </p:txBody>
      </p:sp>
      <p:sp>
        <p:nvSpPr>
          <p:cNvPr id="6" name="Slide Number Placeholder 5">
            <a:extLst>
              <a:ext uri="{FF2B5EF4-FFF2-40B4-BE49-F238E27FC236}">
                <a16:creationId xmlns="" xmlns:a16="http://schemas.microsoft.com/office/drawing/2014/main" id="{2F1AE12A-1B81-6EF6-06BB-8119286FB689}"/>
              </a:ext>
            </a:extLst>
          </p:cNvPr>
          <p:cNvSpPr>
            <a:spLocks noGrp="1"/>
          </p:cNvSpPr>
          <p:nvPr>
            <p:ph type="sldNum" sz="quarter" idx="12"/>
          </p:nvPr>
        </p:nvSpPr>
        <p:spPr/>
        <p:txBody>
          <a:bodyPr/>
          <a:lstStyle/>
          <a:p>
            <a:fld id="{E566A64D-537C-4258-BCDA-D6FBF77857E8}" type="slidenum">
              <a:rPr lang="en-US" smtClean="0"/>
              <a:pPr/>
              <a:t>15</a:t>
            </a:fld>
            <a:endParaRPr lang="en-US"/>
          </a:p>
        </p:txBody>
      </p:sp>
      <p:pic>
        <p:nvPicPr>
          <p:cNvPr id="2" name="Picture 2" descr="D:\MBA Teaching Material\Marketing Management\MM\Images\vtu-logo.png">
            <a:extLst>
              <a:ext uri="{FF2B5EF4-FFF2-40B4-BE49-F238E27FC236}">
                <a16:creationId xmlns="" xmlns:a16="http://schemas.microsoft.com/office/drawing/2014/main" id="{7C81E989-B7E2-A807-FAA2-ADFCC5A5C1D9}"/>
              </a:ext>
            </a:extLst>
          </p:cNvP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 xmlns:a14="http://schemas.microsoft.com/office/drawing/2010/main">
                <a:solidFill>
                  <a:srgbClr val="FFFFFF"/>
                </a:solidFill>
              </a14:hiddenFill>
            </a:ext>
          </a:extLst>
        </p:spPr>
      </p:pic>
      <p:sp>
        <p:nvSpPr>
          <p:cNvPr id="8" name="TextBox 7">
            <a:extLst>
              <a:ext uri="{FF2B5EF4-FFF2-40B4-BE49-F238E27FC236}">
                <a16:creationId xmlns="" xmlns:a16="http://schemas.microsoft.com/office/drawing/2014/main" id="{C42F35AB-DE4F-A2F3-9909-A7B56ADD6788}"/>
              </a:ext>
            </a:extLst>
          </p:cNvPr>
          <p:cNvSpPr txBox="1"/>
          <p:nvPr/>
        </p:nvSpPr>
        <p:spPr>
          <a:xfrm>
            <a:off x="6896747" y="5548630"/>
            <a:ext cx="1409053" cy="471170"/>
          </a:xfrm>
          <a:prstGeom prst="rect">
            <a:avLst/>
          </a:prstGeom>
          <a:solidFill>
            <a:schemeClr val="bg1">
              <a:lumMod val="95000"/>
            </a:schemeClr>
          </a:solidFill>
        </p:spPr>
        <p:txBody>
          <a:bodyPr wrap="square" rtlCol="0">
            <a:spAutoFit/>
          </a:bodyPr>
          <a:lstStyle/>
          <a:p>
            <a:endParaRPr lang="en-IN" dirty="0"/>
          </a:p>
        </p:txBody>
      </p:sp>
      <p:sp>
        <p:nvSpPr>
          <p:cNvPr id="7" name="TextBox 6">
            <a:extLst>
              <a:ext uri="{FF2B5EF4-FFF2-40B4-BE49-F238E27FC236}">
                <a16:creationId xmlns="" xmlns:a16="http://schemas.microsoft.com/office/drawing/2014/main" id="{BABAE158-09C1-105B-CFE5-3C617063632D}"/>
              </a:ext>
            </a:extLst>
          </p:cNvPr>
          <p:cNvSpPr txBox="1"/>
          <p:nvPr/>
        </p:nvSpPr>
        <p:spPr>
          <a:xfrm>
            <a:off x="225744" y="775391"/>
            <a:ext cx="8223578" cy="5262979"/>
          </a:xfrm>
          <a:prstGeom prst="rect">
            <a:avLst/>
          </a:prstGeom>
          <a:noFill/>
        </p:spPr>
        <p:txBody>
          <a:bodyPr wrap="square">
            <a:spAutoFit/>
          </a:bodyPr>
          <a:lstStyle/>
          <a:p>
            <a:pPr>
              <a:buNone/>
            </a:pPr>
            <a:r>
              <a:rPr lang="en-US" sz="1600" dirty="0"/>
              <a:t>Porter's Five Forces model is a powerful tool for analyzing a company's competitive environment. It helps businesses understand the external pressures that can impact their profitability. </a:t>
            </a:r>
            <a:r>
              <a:rPr lang="en-US" sz="1600" dirty="0">
                <a:highlight>
                  <a:srgbClr val="FFFF00"/>
                </a:highlight>
              </a:rPr>
              <a:t>Case study of </a:t>
            </a:r>
            <a:r>
              <a:rPr lang="en-US" sz="1600" b="1" dirty="0">
                <a:highlight>
                  <a:srgbClr val="FFFF00"/>
                </a:highlight>
              </a:rPr>
              <a:t>Tesla</a:t>
            </a:r>
            <a:r>
              <a:rPr lang="en-US" sz="1600" dirty="0"/>
              <a:t>, a globally recognized electric vehicle (EV) company:</a:t>
            </a:r>
          </a:p>
          <a:p>
            <a:pPr>
              <a:buNone/>
            </a:pPr>
            <a:r>
              <a:rPr lang="en-US" sz="1600" b="1" dirty="0"/>
              <a:t>Porter's Five Forces Analysis of Tesla</a:t>
            </a:r>
          </a:p>
          <a:p>
            <a:pPr>
              <a:buFont typeface="+mj-lt"/>
              <a:buAutoNum type="arabicPeriod"/>
            </a:pPr>
            <a:r>
              <a:rPr lang="en-US" sz="1600" b="1" dirty="0">
                <a:highlight>
                  <a:srgbClr val="FFFF00"/>
                </a:highlight>
              </a:rPr>
              <a:t>Competitive Rivalry (High</a:t>
            </a:r>
            <a:r>
              <a:rPr lang="en-US" sz="1600" b="1" dirty="0"/>
              <a:t>)</a:t>
            </a:r>
            <a:r>
              <a:rPr lang="en-US" sz="1600" dirty="0"/>
              <a:t> Tesla faces intense competition from traditional automakers like </a:t>
            </a:r>
            <a:r>
              <a:rPr lang="en-US" sz="1600" dirty="0">
                <a:highlight>
                  <a:srgbClr val="FFFF00"/>
                </a:highlight>
              </a:rPr>
              <a:t>Ford, GM, and Volkswagen</a:t>
            </a:r>
            <a:r>
              <a:rPr lang="en-US" sz="1600" dirty="0"/>
              <a:t>, as well as new EV entrants such as Rivian and Lucid. The automotive industry requires constant innovation, making rivalry fierce.</a:t>
            </a:r>
          </a:p>
          <a:p>
            <a:pPr>
              <a:buFont typeface="+mj-lt"/>
              <a:buAutoNum type="arabicPeriod"/>
            </a:pPr>
            <a:r>
              <a:rPr lang="en-US" sz="1600" b="1" dirty="0"/>
              <a:t>Threat of New Entrants (Moderate to High)</a:t>
            </a:r>
            <a:r>
              <a:rPr lang="en-US" sz="1600" dirty="0"/>
              <a:t> High capital requirements and technological expertise create barriers for new entrants. However, the growing demand </a:t>
            </a:r>
            <a:r>
              <a:rPr lang="en-US" sz="1600" dirty="0">
                <a:highlight>
                  <a:srgbClr val="FFFF00"/>
                </a:highlight>
              </a:rPr>
              <a:t>for EVs and advancements in battery technology are making it easier for new companies to enter.</a:t>
            </a:r>
          </a:p>
          <a:p>
            <a:pPr>
              <a:buFont typeface="+mj-lt"/>
              <a:buAutoNum type="arabicPeriod"/>
            </a:pPr>
            <a:r>
              <a:rPr lang="en-US" sz="1600" b="1" dirty="0"/>
              <a:t>Bargaining Power of Suppliers (Moderate)</a:t>
            </a:r>
            <a:r>
              <a:rPr lang="en-US" sz="1600" dirty="0"/>
              <a:t> Tesla relies on suppliers for key components like batteries, semiconductors, and specialized materials. While Tesla has strong relationships with some suppliers, fluctuations in raw material prices (e.g., lithium) can impact production costs.</a:t>
            </a:r>
          </a:p>
          <a:p>
            <a:pPr>
              <a:buFont typeface="+mj-lt"/>
              <a:buAutoNum type="arabicPeriod"/>
            </a:pPr>
            <a:r>
              <a:rPr lang="en-US" sz="1600" b="1" dirty="0"/>
              <a:t>Bargaining Power of Buyers (High)</a:t>
            </a:r>
            <a:r>
              <a:rPr lang="en-US" sz="1600" dirty="0"/>
              <a:t> Consumers have multiple EV options with varying price points. If Tesla raises prices significantly or experiences quality issues, buyers may switch to competitors, increasing their power in the market.</a:t>
            </a:r>
          </a:p>
          <a:p>
            <a:pPr>
              <a:buFont typeface="+mj-lt"/>
              <a:buAutoNum type="arabicPeriod"/>
            </a:pPr>
            <a:r>
              <a:rPr lang="en-US" sz="1600" b="1" dirty="0"/>
              <a:t>Threat of Substitutes (Moderate)</a:t>
            </a:r>
            <a:r>
              <a:rPr lang="en-US" sz="1600" dirty="0"/>
              <a:t> Alternative transportation options like public transit, hydrogen-powered vehicles, and hybrid cars pose a threat. However, Tesla's strong brand loyalty and innovative technology help mitigate this risk.</a:t>
            </a:r>
          </a:p>
        </p:txBody>
      </p:sp>
    </p:spTree>
    <p:extLst>
      <p:ext uri="{BB962C8B-B14F-4D97-AF65-F5344CB8AC3E}">
        <p14:creationId xmlns="" xmlns:p14="http://schemas.microsoft.com/office/powerpoint/2010/main" val="924304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724FE1E-3DE9-9962-B51E-EF93D66B26EC}"/>
            </a:ext>
          </a:extLst>
        </p:cNvPr>
        <p:cNvGrpSpPr/>
        <p:nvPr/>
      </p:nvGrpSpPr>
      <p:grpSpPr>
        <a:xfrm>
          <a:off x="0" y="0"/>
          <a:ext cx="0" cy="0"/>
          <a:chOff x="0" y="0"/>
          <a:chExt cx="0" cy="0"/>
        </a:xfrm>
      </p:grpSpPr>
      <p:sp>
        <p:nvSpPr>
          <p:cNvPr id="4" name="Date Placeholder 3">
            <a:extLst>
              <a:ext uri="{FF2B5EF4-FFF2-40B4-BE49-F238E27FC236}">
                <a16:creationId xmlns="" xmlns:a16="http://schemas.microsoft.com/office/drawing/2014/main" id="{FF54571E-D1A5-8275-7612-7E37664ECC03}"/>
              </a:ext>
            </a:extLst>
          </p:cNvPr>
          <p:cNvSpPr>
            <a:spLocks noGrp="1"/>
          </p:cNvSpPr>
          <p:nvPr>
            <p:ph type="dt" sz="half" idx="10"/>
          </p:nvPr>
        </p:nvSpPr>
        <p:spPr/>
        <p:txBody>
          <a:bodyPr/>
          <a:lstStyle/>
          <a:p>
            <a:fld id="{04619D83-FF17-4516-B6B3-12726EAD2179}" type="datetime1">
              <a:rPr lang="en-US" smtClean="0"/>
              <a:pPr/>
              <a:t>5/4/2026</a:t>
            </a:fld>
            <a:endParaRPr lang="en-US"/>
          </a:p>
        </p:txBody>
      </p:sp>
      <p:sp>
        <p:nvSpPr>
          <p:cNvPr id="5" name="Footer Placeholder 4">
            <a:extLst>
              <a:ext uri="{FF2B5EF4-FFF2-40B4-BE49-F238E27FC236}">
                <a16:creationId xmlns="" xmlns:a16="http://schemas.microsoft.com/office/drawing/2014/main" id="{24AEB76A-AE1C-4224-10AF-7AEA0B5A0845}"/>
              </a:ext>
            </a:extLst>
          </p:cNvPr>
          <p:cNvSpPr>
            <a:spLocks noGrp="1"/>
          </p:cNvSpPr>
          <p:nvPr>
            <p:ph type="ftr" sz="quarter" idx="11"/>
          </p:nvPr>
        </p:nvSpPr>
        <p:spPr/>
        <p:txBody>
          <a:bodyPr/>
          <a:lstStyle/>
          <a:p>
            <a:r>
              <a:rPr lang="en-US"/>
              <a:t>VTU PG Studies</a:t>
            </a:r>
          </a:p>
        </p:txBody>
      </p:sp>
      <p:sp>
        <p:nvSpPr>
          <p:cNvPr id="6" name="Slide Number Placeholder 5">
            <a:extLst>
              <a:ext uri="{FF2B5EF4-FFF2-40B4-BE49-F238E27FC236}">
                <a16:creationId xmlns="" xmlns:a16="http://schemas.microsoft.com/office/drawing/2014/main" id="{3080154D-B153-2F34-CAFD-F5894D45C04D}"/>
              </a:ext>
            </a:extLst>
          </p:cNvPr>
          <p:cNvSpPr>
            <a:spLocks noGrp="1"/>
          </p:cNvSpPr>
          <p:nvPr>
            <p:ph type="sldNum" sz="quarter" idx="12"/>
          </p:nvPr>
        </p:nvSpPr>
        <p:spPr/>
        <p:txBody>
          <a:bodyPr/>
          <a:lstStyle/>
          <a:p>
            <a:fld id="{E566A64D-537C-4258-BCDA-D6FBF77857E8}" type="slidenum">
              <a:rPr lang="en-US" smtClean="0"/>
              <a:pPr/>
              <a:t>16</a:t>
            </a:fld>
            <a:endParaRPr lang="en-US"/>
          </a:p>
        </p:txBody>
      </p:sp>
      <p:pic>
        <p:nvPicPr>
          <p:cNvPr id="2" name="Picture 2" descr="D:\MBA Teaching Material\Marketing Management\MM\Images\vtu-logo.png">
            <a:extLst>
              <a:ext uri="{FF2B5EF4-FFF2-40B4-BE49-F238E27FC236}">
                <a16:creationId xmlns="" xmlns:a16="http://schemas.microsoft.com/office/drawing/2014/main" id="{A10E30D7-07A1-4777-5C4C-6F2F32078374}"/>
              </a:ext>
            </a:extLst>
          </p:cNvP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 xmlns:a14="http://schemas.microsoft.com/office/drawing/2010/main">
                <a:solidFill>
                  <a:srgbClr val="FFFFFF"/>
                </a:solidFill>
              </a14:hiddenFill>
            </a:ext>
          </a:extLst>
        </p:spPr>
      </p:pic>
      <p:sp>
        <p:nvSpPr>
          <p:cNvPr id="8" name="TextBox 7">
            <a:extLst>
              <a:ext uri="{FF2B5EF4-FFF2-40B4-BE49-F238E27FC236}">
                <a16:creationId xmlns="" xmlns:a16="http://schemas.microsoft.com/office/drawing/2014/main" id="{54E9F2AF-0540-850E-95C0-ECF90B561E7B}"/>
              </a:ext>
            </a:extLst>
          </p:cNvPr>
          <p:cNvSpPr txBox="1"/>
          <p:nvPr/>
        </p:nvSpPr>
        <p:spPr>
          <a:xfrm>
            <a:off x="6896747" y="5548630"/>
            <a:ext cx="1409053" cy="471170"/>
          </a:xfrm>
          <a:prstGeom prst="rect">
            <a:avLst/>
          </a:prstGeom>
          <a:solidFill>
            <a:schemeClr val="bg1">
              <a:lumMod val="95000"/>
            </a:schemeClr>
          </a:solidFill>
        </p:spPr>
        <p:txBody>
          <a:bodyPr wrap="square" rtlCol="0">
            <a:spAutoFit/>
          </a:bodyPr>
          <a:lstStyle/>
          <a:p>
            <a:endParaRPr lang="en-IN" dirty="0"/>
          </a:p>
        </p:txBody>
      </p:sp>
      <p:sp>
        <p:nvSpPr>
          <p:cNvPr id="11" name="Rectangle 4">
            <a:extLst>
              <a:ext uri="{FF2B5EF4-FFF2-40B4-BE49-F238E27FC236}">
                <a16:creationId xmlns="" xmlns:a16="http://schemas.microsoft.com/office/drawing/2014/main" id="{171EB113-A2E3-D222-4B15-932D34237747}"/>
              </a:ext>
            </a:extLst>
          </p:cNvPr>
          <p:cNvSpPr>
            <a:spLocks noChangeArrowheads="1"/>
          </p:cNvSpPr>
          <p:nvPr/>
        </p:nvSpPr>
        <p:spPr bwMode="auto">
          <a:xfrm>
            <a:off x="114948" y="493208"/>
            <a:ext cx="8190852" cy="553997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Porter's Five Forces applied to </a:t>
            </a:r>
            <a:r>
              <a:rPr kumimoji="0" lang="en-US" altLang="en-US" sz="1800" b="1" i="0" u="none" strike="noStrike" cap="none" normalizeH="0" baseline="0" dirty="0">
                <a:ln>
                  <a:noFill/>
                </a:ln>
                <a:solidFill>
                  <a:schemeClr val="tx1"/>
                </a:solidFill>
                <a:effectLst/>
                <a:latin typeface="Arial" panose="020B0604020202020204" pitchFamily="34" charset="0"/>
              </a:rPr>
              <a:t>Apple;</a:t>
            </a:r>
          </a:p>
          <a:p>
            <a:pPr marL="0" marR="0" lvl="0" indent="0" algn="l" defTabSz="914400" rtl="0" eaLnBrk="0" fontAlgn="base" latinLnBrk="0" hangingPunct="0">
              <a:spcBef>
                <a:spcPct val="0"/>
              </a:spcBef>
              <a:spcAft>
                <a:spcPct val="0"/>
              </a:spcAft>
              <a:buClrTx/>
              <a:buSzTx/>
              <a:buFontTx/>
              <a:buNone/>
              <a:tabLst/>
            </a:pPr>
            <a:r>
              <a:rPr lang="en-US" altLang="en-US" sz="1600" dirty="0"/>
              <a:t>1.Threat of New Entrants – Apple operates in a highly competitive tech industry with significant barriers to entry, including high capital investment, brand loyalty, and proprietary technology. While new entrants may emerge, Apple's strong ecosystem makes it difficult for them to gain traction.</a:t>
            </a:r>
          </a:p>
          <a:p>
            <a:pPr marL="0" marR="0" lvl="0" indent="0" algn="l" defTabSz="914400" rtl="0" eaLnBrk="0" fontAlgn="base" latinLnBrk="0" hangingPunct="0">
              <a:spcBef>
                <a:spcPct val="0"/>
              </a:spcBef>
              <a:spcAft>
                <a:spcPct val="0"/>
              </a:spcAft>
              <a:buClrTx/>
              <a:buSzTx/>
              <a:buFontTx/>
              <a:buNone/>
              <a:tabLst/>
            </a:pPr>
            <a:endParaRPr lang="en-US" altLang="en-US" sz="1600" dirty="0"/>
          </a:p>
          <a:p>
            <a:pPr marL="0" marR="0" lvl="0" indent="0" algn="l" defTabSz="914400" rtl="0" eaLnBrk="0" fontAlgn="base" latinLnBrk="0" hangingPunct="0">
              <a:spcBef>
                <a:spcPct val="0"/>
              </a:spcBef>
              <a:spcAft>
                <a:spcPct val="0"/>
              </a:spcAft>
              <a:buClrTx/>
              <a:buSzTx/>
              <a:buFontTx/>
              <a:buAutoNum type="arabicPeriod" startAt="2"/>
              <a:tabLst/>
            </a:pPr>
            <a:r>
              <a:rPr lang="en-US" altLang="en-US" sz="1600" dirty="0"/>
              <a:t>Bargaining Power of Suppliers – Apple has a global supply chain with multiple suppliers for components like processors, displays, and semiconductors. Due to its scale and influence, Apple maintains strong control over suppliers, reducing their bargaining power.</a:t>
            </a:r>
          </a:p>
          <a:p>
            <a:pPr marL="0" marR="0" lvl="0" indent="0" algn="l" defTabSz="914400" rtl="0" eaLnBrk="0" fontAlgn="base" latinLnBrk="0" hangingPunct="0">
              <a:spcBef>
                <a:spcPct val="0"/>
              </a:spcBef>
              <a:spcAft>
                <a:spcPct val="0"/>
              </a:spcAft>
              <a:buClrTx/>
              <a:buSzTx/>
              <a:buFontTx/>
              <a:buAutoNum type="arabicPeriod" startAt="2"/>
              <a:tabLst/>
            </a:pPr>
            <a:endParaRPr lang="en-US" altLang="en-US" sz="1600" dirty="0"/>
          </a:p>
          <a:p>
            <a:pPr marL="0" marR="0" lvl="0" indent="0" algn="l" defTabSz="914400" rtl="0" eaLnBrk="0" fontAlgn="base" latinLnBrk="0" hangingPunct="0">
              <a:spcBef>
                <a:spcPct val="0"/>
              </a:spcBef>
              <a:spcAft>
                <a:spcPct val="0"/>
              </a:spcAft>
              <a:buClrTx/>
              <a:buSzTx/>
              <a:buFontTx/>
              <a:buAutoNum type="arabicPeriod" startAt="3"/>
              <a:tabLst/>
            </a:pPr>
            <a:r>
              <a:rPr lang="en-US" altLang="en-US" sz="1600" dirty="0"/>
              <a:t>Bargaining Power of Buyers – Customers have considerable bargaining power, especially in the smartphone and computing markets. However, Apple's differentiation strategy, premium branding, and ecosystem integration help mitigate this force.</a:t>
            </a:r>
          </a:p>
          <a:p>
            <a:pPr marL="0" marR="0" lvl="0" indent="0" algn="l" defTabSz="914400" rtl="0" eaLnBrk="0" fontAlgn="base" latinLnBrk="0" hangingPunct="0">
              <a:spcBef>
                <a:spcPct val="0"/>
              </a:spcBef>
              <a:spcAft>
                <a:spcPct val="0"/>
              </a:spcAft>
              <a:buClrTx/>
              <a:buSzTx/>
              <a:buFontTx/>
              <a:buAutoNum type="arabicPeriod" startAt="3"/>
              <a:tabLst/>
            </a:pPr>
            <a:endParaRPr lang="en-US" altLang="en-US" sz="1600" dirty="0"/>
          </a:p>
          <a:p>
            <a:pPr marL="0" marR="0" lvl="0" indent="0" algn="l" defTabSz="914400" rtl="0" eaLnBrk="0" fontAlgn="base" latinLnBrk="0" hangingPunct="0">
              <a:spcBef>
                <a:spcPct val="0"/>
              </a:spcBef>
              <a:spcAft>
                <a:spcPct val="0"/>
              </a:spcAft>
              <a:buClrTx/>
              <a:buSzTx/>
              <a:buFontTx/>
              <a:buAutoNum type="arabicPeriod" startAt="4"/>
              <a:tabLst/>
            </a:pPr>
            <a:r>
              <a:rPr lang="en-US" altLang="en-US" sz="1600" dirty="0"/>
              <a:t>Threat of Substitutes – The threat of substitutes is moderate, as consumers can opt for alternative brands or open-source software. However, Apple's seamless integration across devices and services strengthens customer retention.</a:t>
            </a:r>
          </a:p>
          <a:p>
            <a:pPr marL="0" marR="0" lvl="0" indent="0" algn="l" defTabSz="914400" rtl="0" eaLnBrk="0" fontAlgn="base" latinLnBrk="0" hangingPunct="0">
              <a:spcBef>
                <a:spcPct val="0"/>
              </a:spcBef>
              <a:spcAft>
                <a:spcPct val="0"/>
              </a:spcAft>
              <a:buClrTx/>
              <a:buSzTx/>
              <a:buFontTx/>
              <a:buAutoNum type="arabicPeriod" startAt="4"/>
              <a:tabLst/>
            </a:pPr>
            <a:endParaRPr lang="en-US" altLang="en-US" sz="1600" dirty="0"/>
          </a:p>
          <a:p>
            <a:pPr marL="0" marR="0" lvl="0" indent="0" algn="l" defTabSz="914400" rtl="0" eaLnBrk="0" fontAlgn="base" latinLnBrk="0" hangingPunct="0">
              <a:spcBef>
                <a:spcPct val="0"/>
              </a:spcBef>
              <a:spcAft>
                <a:spcPct val="0"/>
              </a:spcAft>
              <a:buClrTx/>
              <a:buSzTx/>
              <a:buFontTx/>
              <a:buAutoNum type="arabicPeriod" startAt="5"/>
              <a:tabLst/>
            </a:pPr>
            <a:r>
              <a:rPr lang="en-US" altLang="en-US" sz="1600" dirty="0"/>
              <a:t>Industry Rivalry – The tech industry is fiercely competitive, with major players like Samsung, Google, and Microsoft vying for market share. Apple counters this with continuous innovation, strong branding, and a loyal customer base.</a:t>
            </a:r>
          </a:p>
        </p:txBody>
      </p:sp>
    </p:spTree>
    <p:extLst>
      <p:ext uri="{BB962C8B-B14F-4D97-AF65-F5344CB8AC3E}">
        <p14:creationId xmlns="" xmlns:p14="http://schemas.microsoft.com/office/powerpoint/2010/main" val="32286493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F11CDA3-21B7-7456-CC5F-79BE44F153DF}"/>
            </a:ext>
          </a:extLst>
        </p:cNvPr>
        <p:cNvGrpSpPr/>
        <p:nvPr/>
      </p:nvGrpSpPr>
      <p:grpSpPr>
        <a:xfrm>
          <a:off x="0" y="0"/>
          <a:ext cx="0" cy="0"/>
          <a:chOff x="0" y="0"/>
          <a:chExt cx="0" cy="0"/>
        </a:xfrm>
      </p:grpSpPr>
      <p:sp>
        <p:nvSpPr>
          <p:cNvPr id="4" name="Date Placeholder 3">
            <a:extLst>
              <a:ext uri="{FF2B5EF4-FFF2-40B4-BE49-F238E27FC236}">
                <a16:creationId xmlns="" xmlns:a16="http://schemas.microsoft.com/office/drawing/2014/main" id="{00A11E38-04E0-4944-3999-34BF0A9B20FF}"/>
              </a:ext>
            </a:extLst>
          </p:cNvPr>
          <p:cNvSpPr>
            <a:spLocks noGrp="1"/>
          </p:cNvSpPr>
          <p:nvPr>
            <p:ph type="dt" sz="half" idx="10"/>
          </p:nvPr>
        </p:nvSpPr>
        <p:spPr/>
        <p:txBody>
          <a:bodyPr/>
          <a:lstStyle/>
          <a:p>
            <a:fld id="{04619D83-FF17-4516-B6B3-12726EAD2179}" type="datetime1">
              <a:rPr lang="en-US" smtClean="0"/>
              <a:pPr/>
              <a:t>5/4/2026</a:t>
            </a:fld>
            <a:endParaRPr lang="en-US"/>
          </a:p>
        </p:txBody>
      </p:sp>
      <p:sp>
        <p:nvSpPr>
          <p:cNvPr id="5" name="Footer Placeholder 4">
            <a:extLst>
              <a:ext uri="{FF2B5EF4-FFF2-40B4-BE49-F238E27FC236}">
                <a16:creationId xmlns="" xmlns:a16="http://schemas.microsoft.com/office/drawing/2014/main" id="{427E968F-FCEE-DC35-B1A2-6A4BE167E5F8}"/>
              </a:ext>
            </a:extLst>
          </p:cNvPr>
          <p:cNvSpPr>
            <a:spLocks noGrp="1"/>
          </p:cNvSpPr>
          <p:nvPr>
            <p:ph type="ftr" sz="quarter" idx="11"/>
          </p:nvPr>
        </p:nvSpPr>
        <p:spPr/>
        <p:txBody>
          <a:bodyPr/>
          <a:lstStyle/>
          <a:p>
            <a:r>
              <a:rPr lang="en-US"/>
              <a:t>VTU PG Studies</a:t>
            </a:r>
          </a:p>
        </p:txBody>
      </p:sp>
      <p:sp>
        <p:nvSpPr>
          <p:cNvPr id="6" name="Slide Number Placeholder 5">
            <a:extLst>
              <a:ext uri="{FF2B5EF4-FFF2-40B4-BE49-F238E27FC236}">
                <a16:creationId xmlns="" xmlns:a16="http://schemas.microsoft.com/office/drawing/2014/main" id="{46657DBB-F26F-0FE4-95EC-6670A707D85B}"/>
              </a:ext>
            </a:extLst>
          </p:cNvPr>
          <p:cNvSpPr>
            <a:spLocks noGrp="1"/>
          </p:cNvSpPr>
          <p:nvPr>
            <p:ph type="sldNum" sz="quarter" idx="12"/>
          </p:nvPr>
        </p:nvSpPr>
        <p:spPr/>
        <p:txBody>
          <a:bodyPr/>
          <a:lstStyle/>
          <a:p>
            <a:fld id="{E566A64D-537C-4258-BCDA-D6FBF77857E8}" type="slidenum">
              <a:rPr lang="en-US" smtClean="0"/>
              <a:pPr/>
              <a:t>17</a:t>
            </a:fld>
            <a:endParaRPr lang="en-US"/>
          </a:p>
        </p:txBody>
      </p:sp>
      <p:pic>
        <p:nvPicPr>
          <p:cNvPr id="2" name="Picture 2" descr="D:\MBA Teaching Material\Marketing Management\MM\Images\vtu-logo.png">
            <a:extLst>
              <a:ext uri="{FF2B5EF4-FFF2-40B4-BE49-F238E27FC236}">
                <a16:creationId xmlns="" xmlns:a16="http://schemas.microsoft.com/office/drawing/2014/main" id="{C6FCABB9-7E07-E6AF-D29F-D776F31B4F39}"/>
              </a:ext>
            </a:extLst>
          </p:cNvP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 xmlns:a14="http://schemas.microsoft.com/office/drawing/2010/main">
                <a:solidFill>
                  <a:srgbClr val="FFFFFF"/>
                </a:solidFill>
              </a14:hiddenFill>
            </a:ext>
          </a:extLst>
        </p:spPr>
      </p:pic>
      <p:sp>
        <p:nvSpPr>
          <p:cNvPr id="8" name="TextBox 7">
            <a:extLst>
              <a:ext uri="{FF2B5EF4-FFF2-40B4-BE49-F238E27FC236}">
                <a16:creationId xmlns="" xmlns:a16="http://schemas.microsoft.com/office/drawing/2014/main" id="{7F59FD61-6F85-8905-0323-0A59A6B7519A}"/>
              </a:ext>
            </a:extLst>
          </p:cNvPr>
          <p:cNvSpPr txBox="1"/>
          <p:nvPr/>
        </p:nvSpPr>
        <p:spPr>
          <a:xfrm>
            <a:off x="6896747" y="5548630"/>
            <a:ext cx="1409053" cy="471170"/>
          </a:xfrm>
          <a:prstGeom prst="rect">
            <a:avLst/>
          </a:prstGeom>
          <a:solidFill>
            <a:schemeClr val="bg1">
              <a:lumMod val="95000"/>
            </a:schemeClr>
          </a:solidFill>
        </p:spPr>
        <p:txBody>
          <a:bodyPr wrap="square" rtlCol="0">
            <a:spAutoFit/>
          </a:bodyPr>
          <a:lstStyle/>
          <a:p>
            <a:endParaRPr lang="en-IN" dirty="0"/>
          </a:p>
        </p:txBody>
      </p:sp>
      <p:sp>
        <p:nvSpPr>
          <p:cNvPr id="11" name="Rectangle 4">
            <a:extLst>
              <a:ext uri="{FF2B5EF4-FFF2-40B4-BE49-F238E27FC236}">
                <a16:creationId xmlns="" xmlns:a16="http://schemas.microsoft.com/office/drawing/2014/main" id="{76A6D058-3CE8-5EA1-D589-563F8E655B2B}"/>
              </a:ext>
            </a:extLst>
          </p:cNvPr>
          <p:cNvSpPr>
            <a:spLocks noChangeArrowheads="1"/>
          </p:cNvSpPr>
          <p:nvPr/>
        </p:nvSpPr>
        <p:spPr bwMode="auto">
          <a:xfrm>
            <a:off x="114948" y="246986"/>
            <a:ext cx="8571852" cy="603242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Porter's Five Forces applied to </a:t>
            </a:r>
            <a:r>
              <a:rPr lang="en-US" altLang="en-US" b="1" dirty="0">
                <a:latin typeface="Arial" panose="020B0604020202020204" pitchFamily="34" charset="0"/>
              </a:rPr>
              <a:t>SERVICE INDUUSTRY</a:t>
            </a:r>
            <a:r>
              <a:rPr kumimoji="0" lang="en-US" altLang="en-US" sz="1800" b="1" i="0" u="none" strike="noStrike" cap="none" normalizeH="0" baseline="0" dirty="0">
                <a:ln>
                  <a:noFill/>
                </a:ln>
                <a:solidFill>
                  <a:schemeClr val="tx1"/>
                </a:solidFill>
                <a:effectLst/>
                <a:latin typeface="Arial" panose="020B0604020202020204" pitchFamily="34" charset="0"/>
              </a:rPr>
              <a:t>;</a:t>
            </a:r>
          </a:p>
          <a:p>
            <a:pPr>
              <a:buNone/>
            </a:pPr>
            <a:r>
              <a:rPr lang="en-US" sz="1600" b="1" dirty="0"/>
              <a:t>1. Competitive Rivalry</a:t>
            </a:r>
          </a:p>
          <a:p>
            <a:pPr>
              <a:buFont typeface="Arial" panose="020B0604020202020204" pitchFamily="34" charset="0"/>
              <a:buChar char="•"/>
            </a:pPr>
            <a:r>
              <a:rPr lang="en-US" sz="1600" dirty="0"/>
              <a:t>Service industries often have high competition due to low switching costs and differentiation challenges.</a:t>
            </a:r>
          </a:p>
          <a:p>
            <a:pPr>
              <a:buFont typeface="Arial" panose="020B0604020202020204" pitchFamily="34" charset="0"/>
              <a:buChar char="•"/>
            </a:pPr>
            <a:r>
              <a:rPr lang="en-US" sz="1600" dirty="0"/>
              <a:t>Example: In the banking sector, numerous institutions offer similar financial services, leading to intense rivalry based on customer experience, digital accessibility, and pricing.</a:t>
            </a:r>
          </a:p>
          <a:p>
            <a:pPr>
              <a:buNone/>
            </a:pPr>
            <a:r>
              <a:rPr lang="en-US" sz="1600" b="1" dirty="0"/>
              <a:t>2. Threat of New Entrants</a:t>
            </a:r>
          </a:p>
          <a:p>
            <a:pPr>
              <a:buFont typeface="Arial" panose="020B0604020202020204" pitchFamily="34" charset="0"/>
              <a:buChar char="•"/>
            </a:pPr>
            <a:r>
              <a:rPr lang="en-US" sz="1600" dirty="0"/>
              <a:t>Entry barriers depend on factors like branding, regulatory requirements, and technological investment.</a:t>
            </a:r>
          </a:p>
          <a:p>
            <a:pPr>
              <a:buFont typeface="Arial" panose="020B0604020202020204" pitchFamily="34" charset="0"/>
              <a:buChar char="•"/>
            </a:pPr>
            <a:r>
              <a:rPr lang="en-US" sz="1600" dirty="0"/>
              <a:t>Example: A new consulting firm may struggle to establish credibility against industry giants with established reputations and deep client networks.</a:t>
            </a:r>
          </a:p>
          <a:p>
            <a:pPr>
              <a:buNone/>
            </a:pPr>
            <a:r>
              <a:rPr lang="en-US" sz="1600" b="1" dirty="0"/>
              <a:t>3. Bargaining Power of Suppliers</a:t>
            </a:r>
          </a:p>
          <a:p>
            <a:pPr>
              <a:buFont typeface="Arial" panose="020B0604020202020204" pitchFamily="34" charset="0"/>
              <a:buChar char="•"/>
            </a:pPr>
            <a:r>
              <a:rPr lang="en-US" sz="1600" dirty="0"/>
              <a:t>The suppliers in service industries might include technology providers, skilled professionals, and outsourced partners.</a:t>
            </a:r>
          </a:p>
          <a:p>
            <a:pPr>
              <a:buFont typeface="Arial" panose="020B0604020202020204" pitchFamily="34" charset="0"/>
              <a:buChar char="•"/>
            </a:pPr>
            <a:r>
              <a:rPr lang="en-US" sz="1600" dirty="0"/>
              <a:t>Example: In healthcare services, medical equipment manufacturers and pharmaceutical suppliers can influence operational costs and service efficiency.</a:t>
            </a:r>
          </a:p>
          <a:p>
            <a:pPr>
              <a:buNone/>
            </a:pPr>
            <a:r>
              <a:rPr lang="en-US" sz="1600" b="1" dirty="0"/>
              <a:t>4. Bargaining Power of Buyers</a:t>
            </a:r>
          </a:p>
          <a:p>
            <a:pPr>
              <a:buFont typeface="Arial" panose="020B0604020202020204" pitchFamily="34" charset="0"/>
              <a:buChar char="•"/>
            </a:pPr>
            <a:r>
              <a:rPr lang="en-US" sz="1600" dirty="0"/>
              <a:t>Customers often have strong negotiating power, especially when many alternatives exist.</a:t>
            </a:r>
          </a:p>
          <a:p>
            <a:pPr>
              <a:buFont typeface="Arial" panose="020B0604020202020204" pitchFamily="34" charset="0"/>
              <a:buChar char="•"/>
            </a:pPr>
            <a:r>
              <a:rPr lang="en-US" sz="1600" dirty="0"/>
              <a:t>Example: In the hospitality sector, travelers can easily compare hotel prices and reviews online, pushing companies to offer competitive rates and superior service.</a:t>
            </a:r>
          </a:p>
          <a:p>
            <a:pPr>
              <a:buNone/>
            </a:pPr>
            <a:r>
              <a:rPr lang="en-US" sz="1600" b="1" dirty="0"/>
              <a:t>5. Threat of Substitutes</a:t>
            </a:r>
          </a:p>
          <a:p>
            <a:pPr>
              <a:buFont typeface="Arial" panose="020B0604020202020204" pitchFamily="34" charset="0"/>
              <a:buChar char="•"/>
            </a:pPr>
            <a:r>
              <a:rPr lang="en-US" sz="1600" dirty="0"/>
              <a:t>Substitutes arise when alternative methods fulfill customer needs differently.</a:t>
            </a:r>
          </a:p>
          <a:p>
            <a:pPr>
              <a:buFont typeface="Arial" panose="020B0604020202020204" pitchFamily="34" charset="0"/>
              <a:buChar char="•"/>
            </a:pPr>
            <a:r>
              <a:rPr lang="en-US" sz="1600" dirty="0"/>
              <a:t>Example: Traditional taxi services face competition from ride-sharing platforms like Uber and Ola, altering consumer preferences.</a:t>
            </a:r>
          </a:p>
        </p:txBody>
      </p:sp>
    </p:spTree>
    <p:extLst>
      <p:ext uri="{BB962C8B-B14F-4D97-AF65-F5344CB8AC3E}">
        <p14:creationId xmlns="" xmlns:p14="http://schemas.microsoft.com/office/powerpoint/2010/main" val="29488079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A5C30B4-B2D0-AF46-5861-D7FF34B75261}"/>
            </a:ext>
          </a:extLst>
        </p:cNvPr>
        <p:cNvGrpSpPr/>
        <p:nvPr/>
      </p:nvGrpSpPr>
      <p:grpSpPr>
        <a:xfrm>
          <a:off x="0" y="0"/>
          <a:ext cx="0" cy="0"/>
          <a:chOff x="0" y="0"/>
          <a:chExt cx="0" cy="0"/>
        </a:xfrm>
      </p:grpSpPr>
      <p:sp>
        <p:nvSpPr>
          <p:cNvPr id="4" name="Date Placeholder 3">
            <a:extLst>
              <a:ext uri="{FF2B5EF4-FFF2-40B4-BE49-F238E27FC236}">
                <a16:creationId xmlns="" xmlns:a16="http://schemas.microsoft.com/office/drawing/2014/main" id="{A759E32D-2B97-79A8-EF53-D8D9816FF84B}"/>
              </a:ext>
            </a:extLst>
          </p:cNvPr>
          <p:cNvSpPr>
            <a:spLocks noGrp="1"/>
          </p:cNvSpPr>
          <p:nvPr>
            <p:ph type="dt" sz="half" idx="10"/>
          </p:nvPr>
        </p:nvSpPr>
        <p:spPr/>
        <p:txBody>
          <a:bodyPr/>
          <a:lstStyle/>
          <a:p>
            <a:fld id="{04619D83-FF17-4516-B6B3-12726EAD2179}" type="datetime1">
              <a:rPr lang="en-US" smtClean="0"/>
              <a:pPr/>
              <a:t>5/4/2026</a:t>
            </a:fld>
            <a:endParaRPr lang="en-US"/>
          </a:p>
        </p:txBody>
      </p:sp>
      <p:sp>
        <p:nvSpPr>
          <p:cNvPr id="5" name="Footer Placeholder 4">
            <a:extLst>
              <a:ext uri="{FF2B5EF4-FFF2-40B4-BE49-F238E27FC236}">
                <a16:creationId xmlns="" xmlns:a16="http://schemas.microsoft.com/office/drawing/2014/main" id="{7BA7E435-C4EB-2D65-A71B-09D5208BE015}"/>
              </a:ext>
            </a:extLst>
          </p:cNvPr>
          <p:cNvSpPr>
            <a:spLocks noGrp="1"/>
          </p:cNvSpPr>
          <p:nvPr>
            <p:ph type="ftr" sz="quarter" idx="11"/>
          </p:nvPr>
        </p:nvSpPr>
        <p:spPr/>
        <p:txBody>
          <a:bodyPr/>
          <a:lstStyle/>
          <a:p>
            <a:r>
              <a:rPr lang="en-US"/>
              <a:t>VTU PG Studies</a:t>
            </a:r>
          </a:p>
        </p:txBody>
      </p:sp>
      <p:sp>
        <p:nvSpPr>
          <p:cNvPr id="6" name="Slide Number Placeholder 5">
            <a:extLst>
              <a:ext uri="{FF2B5EF4-FFF2-40B4-BE49-F238E27FC236}">
                <a16:creationId xmlns="" xmlns:a16="http://schemas.microsoft.com/office/drawing/2014/main" id="{2C5BE9F0-19AF-FD41-D080-9DA5B26FE9D7}"/>
              </a:ext>
            </a:extLst>
          </p:cNvPr>
          <p:cNvSpPr>
            <a:spLocks noGrp="1"/>
          </p:cNvSpPr>
          <p:nvPr>
            <p:ph type="sldNum" sz="quarter" idx="12"/>
          </p:nvPr>
        </p:nvSpPr>
        <p:spPr/>
        <p:txBody>
          <a:bodyPr/>
          <a:lstStyle/>
          <a:p>
            <a:fld id="{E566A64D-537C-4258-BCDA-D6FBF77857E8}" type="slidenum">
              <a:rPr lang="en-US" smtClean="0"/>
              <a:pPr/>
              <a:t>18</a:t>
            </a:fld>
            <a:endParaRPr lang="en-US"/>
          </a:p>
        </p:txBody>
      </p:sp>
      <p:pic>
        <p:nvPicPr>
          <p:cNvPr id="2" name="Picture 2" descr="D:\MBA Teaching Material\Marketing Management\MM\Images\vtu-logo.png">
            <a:extLst>
              <a:ext uri="{FF2B5EF4-FFF2-40B4-BE49-F238E27FC236}">
                <a16:creationId xmlns="" xmlns:a16="http://schemas.microsoft.com/office/drawing/2014/main" id="{55C5789F-B951-9F6F-1DEA-3D1A871432DC}"/>
              </a:ext>
            </a:extLst>
          </p:cNvP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 xmlns:a14="http://schemas.microsoft.com/office/drawing/2010/main">
                <a:solidFill>
                  <a:srgbClr val="FFFFFF"/>
                </a:solidFill>
              </a14:hiddenFill>
            </a:ext>
          </a:extLst>
        </p:spPr>
      </p:pic>
      <p:sp>
        <p:nvSpPr>
          <p:cNvPr id="8" name="TextBox 7">
            <a:extLst>
              <a:ext uri="{FF2B5EF4-FFF2-40B4-BE49-F238E27FC236}">
                <a16:creationId xmlns="" xmlns:a16="http://schemas.microsoft.com/office/drawing/2014/main" id="{FCFAE084-5CF3-B3C4-C3E4-D0125B107F36}"/>
              </a:ext>
            </a:extLst>
          </p:cNvPr>
          <p:cNvSpPr txBox="1"/>
          <p:nvPr/>
        </p:nvSpPr>
        <p:spPr>
          <a:xfrm>
            <a:off x="6896747" y="5548630"/>
            <a:ext cx="1409053" cy="471170"/>
          </a:xfrm>
          <a:prstGeom prst="rect">
            <a:avLst/>
          </a:prstGeom>
          <a:solidFill>
            <a:schemeClr val="bg1">
              <a:lumMod val="95000"/>
            </a:schemeClr>
          </a:solidFill>
        </p:spPr>
        <p:txBody>
          <a:bodyPr wrap="square" rtlCol="0">
            <a:spAutoFit/>
          </a:bodyPr>
          <a:lstStyle/>
          <a:p>
            <a:endParaRPr lang="en-IN" dirty="0"/>
          </a:p>
        </p:txBody>
      </p:sp>
      <p:sp>
        <p:nvSpPr>
          <p:cNvPr id="7" name="TextBox 6">
            <a:extLst>
              <a:ext uri="{FF2B5EF4-FFF2-40B4-BE49-F238E27FC236}">
                <a16:creationId xmlns="" xmlns:a16="http://schemas.microsoft.com/office/drawing/2014/main" id="{2681959F-7107-5D38-8929-CFC58A6D7135}"/>
              </a:ext>
            </a:extLst>
          </p:cNvPr>
          <p:cNvSpPr txBox="1"/>
          <p:nvPr/>
        </p:nvSpPr>
        <p:spPr>
          <a:xfrm>
            <a:off x="62601" y="214630"/>
            <a:ext cx="8223578" cy="6247864"/>
          </a:xfrm>
          <a:prstGeom prst="rect">
            <a:avLst/>
          </a:prstGeom>
          <a:noFill/>
        </p:spPr>
        <p:txBody>
          <a:bodyPr wrap="square">
            <a:spAutoFit/>
          </a:bodyPr>
          <a:lstStyle/>
          <a:p>
            <a:pPr>
              <a:buNone/>
            </a:pPr>
            <a:r>
              <a:rPr lang="en-US" sz="1600" dirty="0"/>
              <a:t>Porter's Five Forces model can be applied to higher education institutions to analyze their competitive landscape and external pressures. </a:t>
            </a:r>
          </a:p>
          <a:p>
            <a:pPr>
              <a:buNone/>
            </a:pPr>
            <a:endParaRPr lang="en-US" sz="1600" dirty="0"/>
          </a:p>
          <a:p>
            <a:pPr>
              <a:buNone/>
            </a:pPr>
            <a:r>
              <a:rPr lang="en-US" sz="1600" b="1" dirty="0"/>
              <a:t>Porter's Five Forces Analysis for Higher Education</a:t>
            </a:r>
          </a:p>
          <a:p>
            <a:pPr>
              <a:buNone/>
            </a:pPr>
            <a:endParaRPr lang="en-US" sz="1600" b="1" dirty="0"/>
          </a:p>
          <a:p>
            <a:pPr>
              <a:buFont typeface="+mj-lt"/>
              <a:buAutoNum type="arabicPeriod"/>
            </a:pPr>
            <a:r>
              <a:rPr lang="en-US" sz="1600" b="1" dirty="0"/>
              <a:t>Competitive Rivalry (High)</a:t>
            </a:r>
            <a:r>
              <a:rPr lang="en-US" sz="1600" dirty="0"/>
              <a:t> Universities and colleges compete for students, faculty, funding, and reputation. The rise of online education and international institutions has intensified this rivalry.</a:t>
            </a:r>
          </a:p>
          <a:p>
            <a:pPr>
              <a:buFont typeface="+mj-lt"/>
              <a:buAutoNum type="arabicPeriod"/>
            </a:pPr>
            <a:endParaRPr lang="en-US" sz="1600" dirty="0"/>
          </a:p>
          <a:p>
            <a:pPr>
              <a:buFont typeface="+mj-lt"/>
              <a:buAutoNum type="arabicPeriod"/>
            </a:pPr>
            <a:r>
              <a:rPr lang="en-US" sz="1600" b="1" dirty="0"/>
              <a:t>Threat of New Entrants (Moderate to High)</a:t>
            </a:r>
            <a:r>
              <a:rPr lang="en-US" sz="1600" dirty="0"/>
              <a:t> New universities, online learning platforms, and specialized institutions can enter the market, especially with advancements in digital education. However, accreditation and infrastructure costs create barriers.</a:t>
            </a:r>
          </a:p>
          <a:p>
            <a:pPr>
              <a:buFont typeface="+mj-lt"/>
              <a:buAutoNum type="arabicPeriod"/>
            </a:pPr>
            <a:endParaRPr lang="en-US" sz="1600" dirty="0"/>
          </a:p>
          <a:p>
            <a:pPr>
              <a:buFont typeface="+mj-lt"/>
              <a:buAutoNum type="arabicPeriod"/>
            </a:pPr>
            <a:r>
              <a:rPr lang="en-US" sz="1600" b="1" dirty="0"/>
              <a:t>Bargaining Power of Suppliers (Moderate)</a:t>
            </a:r>
            <a:r>
              <a:rPr lang="en-US" sz="1600" dirty="0"/>
              <a:t> Suppliers in education include faculty, publishers, technology providers, and government agencies. Universities depend on high-quality faculty and cutting-edge research, making supplier influence significant.</a:t>
            </a:r>
          </a:p>
          <a:p>
            <a:pPr>
              <a:buFont typeface="+mj-lt"/>
              <a:buAutoNum type="arabicPeriod"/>
            </a:pPr>
            <a:endParaRPr lang="en-US" sz="1600" dirty="0"/>
          </a:p>
          <a:p>
            <a:pPr>
              <a:buFont typeface="+mj-lt"/>
              <a:buAutoNum type="arabicPeriod"/>
            </a:pPr>
            <a:r>
              <a:rPr lang="en-US" sz="1600" b="1" dirty="0"/>
              <a:t>Bargaining Power of Buyers (High)</a:t>
            </a:r>
            <a:r>
              <a:rPr lang="en-US" sz="1600" dirty="0"/>
              <a:t> Students and parents seek affordable, high-quality education with strong career prospects. With increasing options (private, public, online), students have the power to choose institutions that best meet their needs.</a:t>
            </a:r>
          </a:p>
          <a:p>
            <a:pPr>
              <a:buFont typeface="+mj-lt"/>
              <a:buAutoNum type="arabicPeriod"/>
            </a:pPr>
            <a:endParaRPr lang="en-US" sz="1600" dirty="0"/>
          </a:p>
          <a:p>
            <a:pPr>
              <a:buFont typeface="+mj-lt"/>
              <a:buAutoNum type="arabicPeriod"/>
            </a:pPr>
            <a:r>
              <a:rPr lang="en-US" sz="1600" b="1" dirty="0"/>
              <a:t>Threat of Substitutes (High)</a:t>
            </a:r>
            <a:r>
              <a:rPr lang="en-US" sz="1600" dirty="0"/>
              <a:t> Alternative learning methods such as online courses, vocational training, corporate-sponsored education, and self-learning platforms (Coursera, Udemy) provide substitutes to traditional university education.</a:t>
            </a:r>
          </a:p>
        </p:txBody>
      </p:sp>
    </p:spTree>
    <p:extLst>
      <p:ext uri="{BB962C8B-B14F-4D97-AF65-F5344CB8AC3E}">
        <p14:creationId xmlns="" xmlns:p14="http://schemas.microsoft.com/office/powerpoint/2010/main" val="18747923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FCF84AD-5F29-571C-22B7-34A6EDAE84A6}"/>
            </a:ext>
          </a:extLst>
        </p:cNvPr>
        <p:cNvGrpSpPr/>
        <p:nvPr/>
      </p:nvGrpSpPr>
      <p:grpSpPr>
        <a:xfrm>
          <a:off x="0" y="0"/>
          <a:ext cx="0" cy="0"/>
          <a:chOff x="0" y="0"/>
          <a:chExt cx="0" cy="0"/>
        </a:xfrm>
      </p:grpSpPr>
      <p:sp>
        <p:nvSpPr>
          <p:cNvPr id="4" name="Date Placeholder 3">
            <a:extLst>
              <a:ext uri="{FF2B5EF4-FFF2-40B4-BE49-F238E27FC236}">
                <a16:creationId xmlns="" xmlns:a16="http://schemas.microsoft.com/office/drawing/2014/main" id="{74EE53C0-9C14-C7E6-6244-5B7723834238}"/>
              </a:ext>
            </a:extLst>
          </p:cNvPr>
          <p:cNvSpPr>
            <a:spLocks noGrp="1"/>
          </p:cNvSpPr>
          <p:nvPr>
            <p:ph type="dt" sz="half" idx="10"/>
          </p:nvPr>
        </p:nvSpPr>
        <p:spPr/>
        <p:txBody>
          <a:bodyPr/>
          <a:lstStyle/>
          <a:p>
            <a:fld id="{04619D83-FF17-4516-B6B3-12726EAD2179}" type="datetime1">
              <a:rPr lang="en-US" smtClean="0"/>
              <a:pPr/>
              <a:t>5/4/2026</a:t>
            </a:fld>
            <a:endParaRPr lang="en-US"/>
          </a:p>
        </p:txBody>
      </p:sp>
      <p:sp>
        <p:nvSpPr>
          <p:cNvPr id="5" name="Footer Placeholder 4">
            <a:extLst>
              <a:ext uri="{FF2B5EF4-FFF2-40B4-BE49-F238E27FC236}">
                <a16:creationId xmlns="" xmlns:a16="http://schemas.microsoft.com/office/drawing/2014/main" id="{3EF512A3-7D4C-BB10-1E5B-F89E96732F62}"/>
              </a:ext>
            </a:extLst>
          </p:cNvPr>
          <p:cNvSpPr>
            <a:spLocks noGrp="1"/>
          </p:cNvSpPr>
          <p:nvPr>
            <p:ph type="ftr" sz="quarter" idx="11"/>
          </p:nvPr>
        </p:nvSpPr>
        <p:spPr/>
        <p:txBody>
          <a:bodyPr/>
          <a:lstStyle/>
          <a:p>
            <a:r>
              <a:rPr lang="en-US"/>
              <a:t>VTU PG Studies</a:t>
            </a:r>
          </a:p>
        </p:txBody>
      </p:sp>
      <p:sp>
        <p:nvSpPr>
          <p:cNvPr id="6" name="Slide Number Placeholder 5">
            <a:extLst>
              <a:ext uri="{FF2B5EF4-FFF2-40B4-BE49-F238E27FC236}">
                <a16:creationId xmlns="" xmlns:a16="http://schemas.microsoft.com/office/drawing/2014/main" id="{942F067C-7D51-5663-89DC-09C7D0AAF0EA}"/>
              </a:ext>
            </a:extLst>
          </p:cNvPr>
          <p:cNvSpPr>
            <a:spLocks noGrp="1"/>
          </p:cNvSpPr>
          <p:nvPr>
            <p:ph type="sldNum" sz="quarter" idx="12"/>
          </p:nvPr>
        </p:nvSpPr>
        <p:spPr/>
        <p:txBody>
          <a:bodyPr/>
          <a:lstStyle/>
          <a:p>
            <a:fld id="{E566A64D-537C-4258-BCDA-D6FBF77857E8}" type="slidenum">
              <a:rPr lang="en-US" smtClean="0"/>
              <a:pPr/>
              <a:t>19</a:t>
            </a:fld>
            <a:endParaRPr lang="en-US"/>
          </a:p>
        </p:txBody>
      </p:sp>
      <p:pic>
        <p:nvPicPr>
          <p:cNvPr id="2" name="Picture 2" descr="D:\MBA Teaching Material\Marketing Management\MM\Images\vtu-logo.png">
            <a:extLst>
              <a:ext uri="{FF2B5EF4-FFF2-40B4-BE49-F238E27FC236}">
                <a16:creationId xmlns="" xmlns:a16="http://schemas.microsoft.com/office/drawing/2014/main" id="{6F91ADB7-4BFB-9993-509E-5C1B9582261D}"/>
              </a:ext>
            </a:extLst>
          </p:cNvP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 xmlns:a14="http://schemas.microsoft.com/office/drawing/2010/main">
                <a:solidFill>
                  <a:srgbClr val="FFFFFF"/>
                </a:solidFill>
              </a14:hiddenFill>
            </a:ext>
          </a:extLst>
        </p:spPr>
      </p:pic>
      <p:sp>
        <p:nvSpPr>
          <p:cNvPr id="8" name="TextBox 7">
            <a:extLst>
              <a:ext uri="{FF2B5EF4-FFF2-40B4-BE49-F238E27FC236}">
                <a16:creationId xmlns="" xmlns:a16="http://schemas.microsoft.com/office/drawing/2014/main" id="{712DAB1E-02E7-6BD4-9A36-AA4112D261AB}"/>
              </a:ext>
            </a:extLst>
          </p:cNvPr>
          <p:cNvSpPr txBox="1"/>
          <p:nvPr/>
        </p:nvSpPr>
        <p:spPr>
          <a:xfrm>
            <a:off x="6896747" y="5548630"/>
            <a:ext cx="1409053" cy="471170"/>
          </a:xfrm>
          <a:prstGeom prst="rect">
            <a:avLst/>
          </a:prstGeom>
          <a:solidFill>
            <a:schemeClr val="bg1">
              <a:lumMod val="95000"/>
            </a:schemeClr>
          </a:solidFill>
        </p:spPr>
        <p:txBody>
          <a:bodyPr wrap="square" rtlCol="0">
            <a:spAutoFit/>
          </a:bodyPr>
          <a:lstStyle/>
          <a:p>
            <a:endParaRPr lang="en-IN" dirty="0"/>
          </a:p>
        </p:txBody>
      </p:sp>
      <p:sp>
        <p:nvSpPr>
          <p:cNvPr id="7" name="TextBox 6">
            <a:extLst>
              <a:ext uri="{FF2B5EF4-FFF2-40B4-BE49-F238E27FC236}">
                <a16:creationId xmlns="" xmlns:a16="http://schemas.microsoft.com/office/drawing/2014/main" id="{677E0A8E-D742-25B1-1D6D-0E1834DF5B1E}"/>
              </a:ext>
            </a:extLst>
          </p:cNvPr>
          <p:cNvSpPr txBox="1"/>
          <p:nvPr/>
        </p:nvSpPr>
        <p:spPr>
          <a:xfrm>
            <a:off x="62600" y="214630"/>
            <a:ext cx="9042653" cy="5940088"/>
          </a:xfrm>
          <a:prstGeom prst="rect">
            <a:avLst/>
          </a:prstGeom>
          <a:noFill/>
        </p:spPr>
        <p:txBody>
          <a:bodyPr wrap="square">
            <a:spAutoFit/>
          </a:bodyPr>
          <a:lstStyle/>
          <a:p>
            <a:pPr>
              <a:buNone/>
            </a:pPr>
            <a:r>
              <a:rPr lang="en-US" sz="1600" dirty="0"/>
              <a:t>Porter's Five Forces Model significantly impacts </a:t>
            </a:r>
            <a:r>
              <a:rPr lang="en-US" sz="1600" b="1" dirty="0"/>
              <a:t>healthcare management</a:t>
            </a:r>
            <a:r>
              <a:rPr lang="en-US" sz="1600" dirty="0"/>
              <a:t> :</a:t>
            </a:r>
          </a:p>
          <a:p>
            <a:pPr>
              <a:buNone/>
            </a:pPr>
            <a:r>
              <a:rPr lang="en-US" sz="1400" b="1" dirty="0"/>
              <a:t>1. Competitive Rivalry → Drives Quality &amp; Innovation</a:t>
            </a:r>
          </a:p>
          <a:p>
            <a:pPr>
              <a:buFont typeface="Arial" panose="020B0604020202020204" pitchFamily="34" charset="0"/>
              <a:buChar char="•"/>
            </a:pPr>
            <a:r>
              <a:rPr lang="en-US" sz="1400" dirty="0"/>
              <a:t>Healthcare providers must differentiate themselves through advanced medical technologies, superior patient care, and cost-effective services.</a:t>
            </a:r>
          </a:p>
          <a:p>
            <a:pPr>
              <a:buFont typeface="Arial" panose="020B0604020202020204" pitchFamily="34" charset="0"/>
              <a:buChar char="•"/>
            </a:pPr>
            <a:r>
              <a:rPr lang="en-US" sz="1400" b="1" dirty="0"/>
              <a:t>Impact on Management:</a:t>
            </a:r>
            <a:r>
              <a:rPr lang="en-US" sz="1400" dirty="0"/>
              <a:t> Hospitals and clinics invest in state-of-the-art equipment, specialized medical staff, and digital health solutions to remain competitive.</a:t>
            </a:r>
          </a:p>
          <a:p>
            <a:pPr>
              <a:buNone/>
            </a:pPr>
            <a:r>
              <a:rPr lang="en-US" sz="1400" b="1" dirty="0"/>
              <a:t>2. Threat of New Entrants → Necessitates Strong Branding &amp; Compliance</a:t>
            </a:r>
          </a:p>
          <a:p>
            <a:pPr>
              <a:buFont typeface="Arial" panose="020B0604020202020204" pitchFamily="34" charset="0"/>
              <a:buChar char="•"/>
            </a:pPr>
            <a:r>
              <a:rPr lang="en-US" sz="1400" dirty="0"/>
              <a:t>New hospitals, telemedicine startups, and wellness clinics challenge traditional healthcare institutions.</a:t>
            </a:r>
          </a:p>
          <a:p>
            <a:pPr>
              <a:buFont typeface="Arial" panose="020B0604020202020204" pitchFamily="34" charset="0"/>
              <a:buChar char="•"/>
            </a:pPr>
            <a:r>
              <a:rPr lang="en-US" sz="1400" b="1" dirty="0"/>
              <a:t>Impact on Management:</a:t>
            </a:r>
            <a:r>
              <a:rPr lang="en-US" sz="1400" dirty="0"/>
              <a:t> Existing healthcare providers focus on brand reputation, accreditation, and patient loyalty programs to retain their market position.</a:t>
            </a:r>
          </a:p>
          <a:p>
            <a:pPr>
              <a:buNone/>
            </a:pPr>
            <a:r>
              <a:rPr lang="en-US" sz="1400" b="1" dirty="0"/>
              <a:t>3. Bargaining Power of Suppliers → Influences Cost &amp; Supply Chain Management</a:t>
            </a:r>
          </a:p>
          <a:p>
            <a:pPr>
              <a:buFont typeface="Arial" panose="020B0604020202020204" pitchFamily="34" charset="0"/>
              <a:buChar char="•"/>
            </a:pPr>
            <a:r>
              <a:rPr lang="en-US" sz="1400" dirty="0"/>
              <a:t>Pharmaceutical companies, medical equipment manufacturers, and technology vendors hold significant power.</a:t>
            </a:r>
          </a:p>
          <a:p>
            <a:pPr>
              <a:buFont typeface="Arial" panose="020B0604020202020204" pitchFamily="34" charset="0"/>
              <a:buChar char="•"/>
            </a:pPr>
            <a:r>
              <a:rPr lang="en-US" sz="1400" b="1" dirty="0"/>
              <a:t>Impact on Management:</a:t>
            </a:r>
            <a:r>
              <a:rPr lang="en-US" sz="1400" dirty="0"/>
              <a:t> Hospitals and clinics negotiate pricing, build long-term supplier partnerships, and seek alternative vendors to control costs.</a:t>
            </a:r>
          </a:p>
          <a:p>
            <a:pPr>
              <a:buNone/>
            </a:pPr>
            <a:r>
              <a:rPr lang="en-US" sz="1400" b="1" dirty="0"/>
              <a:t>4. Bargaining Power of Buyers → Improves Patient-Centric Care</a:t>
            </a:r>
          </a:p>
          <a:p>
            <a:pPr>
              <a:buFont typeface="Arial" panose="020B0604020202020204" pitchFamily="34" charset="0"/>
              <a:buChar char="•"/>
            </a:pPr>
            <a:r>
              <a:rPr lang="en-US" sz="1400" dirty="0"/>
              <a:t>Patients demand better treatment options, affordability, and transparency.</a:t>
            </a:r>
          </a:p>
          <a:p>
            <a:pPr>
              <a:buFont typeface="Arial" panose="020B0604020202020204" pitchFamily="34" charset="0"/>
              <a:buChar char="•"/>
            </a:pPr>
            <a:r>
              <a:rPr lang="en-US" sz="1400" b="1" dirty="0"/>
              <a:t>Impact on Management:</a:t>
            </a:r>
            <a:r>
              <a:rPr lang="en-US" sz="1400" dirty="0"/>
              <a:t> Healthcare providers enhance digital services (telemedicine, electronic health records), create flexible payment models, and prioritize patient satisfaction.</a:t>
            </a:r>
          </a:p>
          <a:p>
            <a:pPr>
              <a:buNone/>
            </a:pPr>
            <a:r>
              <a:rPr lang="en-US" sz="1400" b="1" dirty="0"/>
              <a:t>5. Threat of Substitutes → Encourages Innovation &amp; Holistic Care</a:t>
            </a:r>
          </a:p>
          <a:p>
            <a:pPr>
              <a:buFont typeface="Arial" panose="020B0604020202020204" pitchFamily="34" charset="0"/>
              <a:buChar char="•"/>
            </a:pPr>
            <a:r>
              <a:rPr lang="en-US" sz="1400" dirty="0"/>
              <a:t>Alternative treatments like homeopathy, wearable health devices, and AI-driven diagnostics compete with traditional healthcare.</a:t>
            </a:r>
          </a:p>
          <a:p>
            <a:pPr>
              <a:buFont typeface="Arial" panose="020B0604020202020204" pitchFamily="34" charset="0"/>
              <a:buChar char="•"/>
            </a:pPr>
            <a:r>
              <a:rPr lang="en-US" sz="1400" b="1" dirty="0"/>
              <a:t>Impact on Management:</a:t>
            </a:r>
            <a:r>
              <a:rPr lang="en-US" sz="1400" dirty="0"/>
              <a:t> Hospitals integrate preventive healthcare, wellness programs, and personalized treatments to address evolving patient preferences.</a:t>
            </a:r>
          </a:p>
          <a:p>
            <a:pPr>
              <a:buNone/>
            </a:pPr>
            <a:r>
              <a:rPr lang="en-US" sz="1400" b="1" dirty="0"/>
              <a:t>Overall Impact:</a:t>
            </a:r>
          </a:p>
          <a:p>
            <a:r>
              <a:rPr lang="en-US" sz="1400" dirty="0"/>
              <a:t>Healthcare managers must constantly adapt to market dynamics, regulate pricing models, improve service delivery, and foster innovation. The industry is shifting toward </a:t>
            </a:r>
            <a:r>
              <a:rPr lang="en-US" sz="1400" b="1" dirty="0"/>
              <a:t>value-based care</a:t>
            </a:r>
            <a:r>
              <a:rPr lang="en-US" sz="1400" dirty="0"/>
              <a:t>, where patient outcomes and satisfaction dictate success more than volume-based services.</a:t>
            </a:r>
          </a:p>
        </p:txBody>
      </p:sp>
    </p:spTree>
    <p:extLst>
      <p:ext uri="{BB962C8B-B14F-4D97-AF65-F5344CB8AC3E}">
        <p14:creationId xmlns="" xmlns:p14="http://schemas.microsoft.com/office/powerpoint/2010/main" val="31435185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03C16EB-5E01-901C-D9BE-73236DE40ABD}"/>
            </a:ext>
          </a:extLst>
        </p:cNvPr>
        <p:cNvGrpSpPr/>
        <p:nvPr/>
      </p:nvGrpSpPr>
      <p:grpSpPr>
        <a:xfrm>
          <a:off x="0" y="0"/>
          <a:ext cx="0" cy="0"/>
          <a:chOff x="0" y="0"/>
          <a:chExt cx="0" cy="0"/>
        </a:xfrm>
      </p:grpSpPr>
      <p:sp>
        <p:nvSpPr>
          <p:cNvPr id="4" name="Date Placeholder 3">
            <a:extLst>
              <a:ext uri="{FF2B5EF4-FFF2-40B4-BE49-F238E27FC236}">
                <a16:creationId xmlns="" xmlns:a16="http://schemas.microsoft.com/office/drawing/2014/main" id="{B2AA2DA7-08F2-5073-7AF6-785B4EB66E55}"/>
              </a:ext>
            </a:extLst>
          </p:cNvPr>
          <p:cNvSpPr>
            <a:spLocks noGrp="1"/>
          </p:cNvSpPr>
          <p:nvPr>
            <p:ph type="dt" sz="half" idx="10"/>
          </p:nvPr>
        </p:nvSpPr>
        <p:spPr/>
        <p:txBody>
          <a:bodyPr/>
          <a:lstStyle/>
          <a:p>
            <a:fld id="{04619D83-FF17-4516-B6B3-12726EAD2179}" type="datetime1">
              <a:rPr lang="en-US" smtClean="0"/>
              <a:pPr/>
              <a:t>5/4/2026</a:t>
            </a:fld>
            <a:endParaRPr lang="en-US"/>
          </a:p>
        </p:txBody>
      </p:sp>
      <p:sp>
        <p:nvSpPr>
          <p:cNvPr id="5" name="Footer Placeholder 4">
            <a:extLst>
              <a:ext uri="{FF2B5EF4-FFF2-40B4-BE49-F238E27FC236}">
                <a16:creationId xmlns="" xmlns:a16="http://schemas.microsoft.com/office/drawing/2014/main" id="{8EBF7506-2E39-4785-5F65-00E905A8FF6E}"/>
              </a:ext>
            </a:extLst>
          </p:cNvPr>
          <p:cNvSpPr>
            <a:spLocks noGrp="1"/>
          </p:cNvSpPr>
          <p:nvPr>
            <p:ph type="ftr" sz="quarter" idx="11"/>
          </p:nvPr>
        </p:nvSpPr>
        <p:spPr/>
        <p:txBody>
          <a:bodyPr/>
          <a:lstStyle/>
          <a:p>
            <a:r>
              <a:rPr lang="en-US"/>
              <a:t>VTU PG Studies</a:t>
            </a:r>
          </a:p>
        </p:txBody>
      </p:sp>
      <p:sp>
        <p:nvSpPr>
          <p:cNvPr id="6" name="Slide Number Placeholder 5">
            <a:extLst>
              <a:ext uri="{FF2B5EF4-FFF2-40B4-BE49-F238E27FC236}">
                <a16:creationId xmlns="" xmlns:a16="http://schemas.microsoft.com/office/drawing/2014/main" id="{2CCDE1E0-6BC8-583C-F01D-AC6D742D6102}"/>
              </a:ext>
            </a:extLst>
          </p:cNvPr>
          <p:cNvSpPr>
            <a:spLocks noGrp="1"/>
          </p:cNvSpPr>
          <p:nvPr>
            <p:ph type="sldNum" sz="quarter" idx="12"/>
          </p:nvPr>
        </p:nvSpPr>
        <p:spPr/>
        <p:txBody>
          <a:bodyPr/>
          <a:lstStyle/>
          <a:p>
            <a:fld id="{E566A64D-537C-4258-BCDA-D6FBF77857E8}" type="slidenum">
              <a:rPr lang="en-US" smtClean="0"/>
              <a:pPr/>
              <a:t>20</a:t>
            </a:fld>
            <a:endParaRPr lang="en-US"/>
          </a:p>
        </p:txBody>
      </p:sp>
      <p:pic>
        <p:nvPicPr>
          <p:cNvPr id="2" name="Picture 2" descr="D:\MBA Teaching Material\Marketing Management\MM\Images\vtu-logo.png">
            <a:extLst>
              <a:ext uri="{FF2B5EF4-FFF2-40B4-BE49-F238E27FC236}">
                <a16:creationId xmlns="" xmlns:a16="http://schemas.microsoft.com/office/drawing/2014/main" id="{4CB9295A-46BA-B411-4929-A07DD29AAEA9}"/>
              </a:ext>
            </a:extLst>
          </p:cNvP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 xmlns:a14="http://schemas.microsoft.com/office/drawing/2010/main">
                <a:solidFill>
                  <a:srgbClr val="FFFFFF"/>
                </a:solidFill>
              </a14:hiddenFill>
            </a:ext>
          </a:extLst>
        </p:spPr>
      </p:pic>
      <p:pic>
        <p:nvPicPr>
          <p:cNvPr id="7" name="Picture 6">
            <a:extLst>
              <a:ext uri="{FF2B5EF4-FFF2-40B4-BE49-F238E27FC236}">
                <a16:creationId xmlns="" xmlns:a16="http://schemas.microsoft.com/office/drawing/2014/main" id="{A23C1AEF-2C30-6ECB-5567-A3C4335FD4CD}"/>
              </a:ext>
            </a:extLst>
          </p:cNvPr>
          <p:cNvPicPr>
            <a:picLocks noChangeAspect="1"/>
          </p:cNvPicPr>
          <p:nvPr/>
        </p:nvPicPr>
        <p:blipFill>
          <a:blip r:embed="rId3"/>
          <a:stretch>
            <a:fillRect/>
          </a:stretch>
        </p:blipFill>
        <p:spPr>
          <a:xfrm>
            <a:off x="301628" y="381000"/>
            <a:ext cx="7848600" cy="5773427"/>
          </a:xfrm>
          <a:prstGeom prst="rect">
            <a:avLst/>
          </a:prstGeom>
        </p:spPr>
      </p:pic>
      <p:sp>
        <p:nvSpPr>
          <p:cNvPr id="8" name="TextBox 7">
            <a:extLst>
              <a:ext uri="{FF2B5EF4-FFF2-40B4-BE49-F238E27FC236}">
                <a16:creationId xmlns="" xmlns:a16="http://schemas.microsoft.com/office/drawing/2014/main" id="{150F6F97-873B-ACA7-62B2-63FF1219F358}"/>
              </a:ext>
            </a:extLst>
          </p:cNvPr>
          <p:cNvSpPr txBox="1"/>
          <p:nvPr/>
        </p:nvSpPr>
        <p:spPr>
          <a:xfrm>
            <a:off x="6818961" y="5784219"/>
            <a:ext cx="1409053" cy="471170"/>
          </a:xfrm>
          <a:prstGeom prst="rect">
            <a:avLst/>
          </a:prstGeom>
          <a:solidFill>
            <a:schemeClr val="bg1">
              <a:lumMod val="95000"/>
            </a:schemeClr>
          </a:solidFill>
        </p:spPr>
        <p:txBody>
          <a:bodyPr wrap="square" rtlCol="0">
            <a:spAutoFit/>
          </a:bodyPr>
          <a:lstStyle/>
          <a:p>
            <a:endParaRPr lang="en-IN" dirty="0"/>
          </a:p>
        </p:txBody>
      </p:sp>
    </p:spTree>
    <p:extLst>
      <p:ext uri="{BB962C8B-B14F-4D97-AF65-F5344CB8AC3E}">
        <p14:creationId xmlns="" xmlns:p14="http://schemas.microsoft.com/office/powerpoint/2010/main" val="20173403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AAB21D-96B5-5033-0D6E-E33823A56593}"/>
            </a:ext>
          </a:extLst>
        </p:cNvPr>
        <p:cNvGrpSpPr/>
        <p:nvPr/>
      </p:nvGrpSpPr>
      <p:grpSpPr>
        <a:xfrm>
          <a:off x="0" y="0"/>
          <a:ext cx="0" cy="0"/>
          <a:chOff x="0" y="0"/>
          <a:chExt cx="0" cy="0"/>
        </a:xfrm>
      </p:grpSpPr>
      <p:sp>
        <p:nvSpPr>
          <p:cNvPr id="4" name="Date Placeholder 3">
            <a:extLst>
              <a:ext uri="{FF2B5EF4-FFF2-40B4-BE49-F238E27FC236}">
                <a16:creationId xmlns="" xmlns:a16="http://schemas.microsoft.com/office/drawing/2014/main" id="{F1E3EE72-989D-AA07-7885-ABFD2BE57AFD}"/>
              </a:ext>
            </a:extLst>
          </p:cNvPr>
          <p:cNvSpPr>
            <a:spLocks noGrp="1"/>
          </p:cNvSpPr>
          <p:nvPr>
            <p:ph type="dt" sz="half" idx="10"/>
          </p:nvPr>
        </p:nvSpPr>
        <p:spPr/>
        <p:txBody>
          <a:bodyPr/>
          <a:lstStyle/>
          <a:p>
            <a:fld id="{04619D83-FF17-4516-B6B3-12726EAD2179}" type="datetime1">
              <a:rPr lang="en-US" smtClean="0"/>
              <a:pPr/>
              <a:t>5/4/2026</a:t>
            </a:fld>
            <a:endParaRPr lang="en-US"/>
          </a:p>
        </p:txBody>
      </p:sp>
      <p:sp>
        <p:nvSpPr>
          <p:cNvPr id="5" name="Footer Placeholder 4">
            <a:extLst>
              <a:ext uri="{FF2B5EF4-FFF2-40B4-BE49-F238E27FC236}">
                <a16:creationId xmlns="" xmlns:a16="http://schemas.microsoft.com/office/drawing/2014/main" id="{ABAA678C-7B39-E2B9-1BB3-4C7DAA46AC68}"/>
              </a:ext>
            </a:extLst>
          </p:cNvPr>
          <p:cNvSpPr>
            <a:spLocks noGrp="1"/>
          </p:cNvSpPr>
          <p:nvPr>
            <p:ph type="ftr" sz="quarter" idx="11"/>
          </p:nvPr>
        </p:nvSpPr>
        <p:spPr/>
        <p:txBody>
          <a:bodyPr/>
          <a:lstStyle/>
          <a:p>
            <a:r>
              <a:rPr lang="en-US"/>
              <a:t>VTU PG Studies</a:t>
            </a:r>
          </a:p>
        </p:txBody>
      </p:sp>
      <p:sp>
        <p:nvSpPr>
          <p:cNvPr id="6" name="Slide Number Placeholder 5">
            <a:extLst>
              <a:ext uri="{FF2B5EF4-FFF2-40B4-BE49-F238E27FC236}">
                <a16:creationId xmlns="" xmlns:a16="http://schemas.microsoft.com/office/drawing/2014/main" id="{418971B7-1484-8303-5941-33034627AD16}"/>
              </a:ext>
            </a:extLst>
          </p:cNvPr>
          <p:cNvSpPr>
            <a:spLocks noGrp="1"/>
          </p:cNvSpPr>
          <p:nvPr>
            <p:ph type="sldNum" sz="quarter" idx="12"/>
          </p:nvPr>
        </p:nvSpPr>
        <p:spPr/>
        <p:txBody>
          <a:bodyPr/>
          <a:lstStyle/>
          <a:p>
            <a:fld id="{E566A64D-537C-4258-BCDA-D6FBF77857E8}" type="slidenum">
              <a:rPr lang="en-US" smtClean="0"/>
              <a:pPr/>
              <a:t>21</a:t>
            </a:fld>
            <a:endParaRPr lang="en-US"/>
          </a:p>
        </p:txBody>
      </p:sp>
      <p:pic>
        <p:nvPicPr>
          <p:cNvPr id="2" name="Picture 2" descr="D:\MBA Teaching Material\Marketing Management\MM\Images\vtu-logo.png">
            <a:extLst>
              <a:ext uri="{FF2B5EF4-FFF2-40B4-BE49-F238E27FC236}">
                <a16:creationId xmlns="" xmlns:a16="http://schemas.microsoft.com/office/drawing/2014/main" id="{F562D0C5-9969-6BFA-25D0-047CD575DAC6}"/>
              </a:ext>
            </a:extLst>
          </p:cNvP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 xmlns:a14="http://schemas.microsoft.com/office/drawing/2010/main">
                <a:solidFill>
                  <a:srgbClr val="FFFFFF"/>
                </a:solidFill>
              </a14:hiddenFill>
            </a:ext>
          </a:extLst>
        </p:spPr>
      </p:pic>
      <p:pic>
        <p:nvPicPr>
          <p:cNvPr id="7" name="Picture 6">
            <a:extLst>
              <a:ext uri="{FF2B5EF4-FFF2-40B4-BE49-F238E27FC236}">
                <a16:creationId xmlns="" xmlns:a16="http://schemas.microsoft.com/office/drawing/2014/main" id="{40B1FDD1-EC02-72C7-24E2-5ECB080DC9A2}"/>
              </a:ext>
            </a:extLst>
          </p:cNvPr>
          <p:cNvPicPr>
            <a:picLocks noChangeAspect="1"/>
          </p:cNvPicPr>
          <p:nvPr/>
        </p:nvPicPr>
        <p:blipFill>
          <a:blip r:embed="rId3"/>
          <a:stretch>
            <a:fillRect/>
          </a:stretch>
        </p:blipFill>
        <p:spPr>
          <a:xfrm>
            <a:off x="93826" y="167669"/>
            <a:ext cx="8225224" cy="5699732"/>
          </a:xfrm>
          <a:prstGeom prst="rect">
            <a:avLst/>
          </a:prstGeom>
        </p:spPr>
      </p:pic>
      <p:sp>
        <p:nvSpPr>
          <p:cNvPr id="8" name="TextBox 7">
            <a:extLst>
              <a:ext uri="{FF2B5EF4-FFF2-40B4-BE49-F238E27FC236}">
                <a16:creationId xmlns="" xmlns:a16="http://schemas.microsoft.com/office/drawing/2014/main" id="{55ADBCDD-82CB-1ED6-77D1-54EE5BAE1866}"/>
              </a:ext>
            </a:extLst>
          </p:cNvPr>
          <p:cNvSpPr txBox="1"/>
          <p:nvPr/>
        </p:nvSpPr>
        <p:spPr>
          <a:xfrm>
            <a:off x="6896747" y="5548630"/>
            <a:ext cx="1409053" cy="471170"/>
          </a:xfrm>
          <a:prstGeom prst="rect">
            <a:avLst/>
          </a:prstGeom>
          <a:solidFill>
            <a:schemeClr val="bg1">
              <a:lumMod val="95000"/>
            </a:schemeClr>
          </a:solidFill>
        </p:spPr>
        <p:txBody>
          <a:bodyPr wrap="square" rtlCol="0">
            <a:spAutoFit/>
          </a:bodyPr>
          <a:lstStyle/>
          <a:p>
            <a:endParaRPr lang="en-IN" dirty="0"/>
          </a:p>
        </p:txBody>
      </p:sp>
    </p:spTree>
    <p:extLst>
      <p:ext uri="{BB962C8B-B14F-4D97-AF65-F5344CB8AC3E}">
        <p14:creationId xmlns="" xmlns:p14="http://schemas.microsoft.com/office/powerpoint/2010/main" val="14215124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92D1B3C-FDC4-582B-D90C-1EA035CC0883}"/>
            </a:ext>
          </a:extLst>
        </p:cNvPr>
        <p:cNvGrpSpPr/>
        <p:nvPr/>
      </p:nvGrpSpPr>
      <p:grpSpPr>
        <a:xfrm>
          <a:off x="0" y="0"/>
          <a:ext cx="0" cy="0"/>
          <a:chOff x="0" y="0"/>
          <a:chExt cx="0" cy="0"/>
        </a:xfrm>
      </p:grpSpPr>
      <p:sp>
        <p:nvSpPr>
          <p:cNvPr id="4" name="Date Placeholder 3">
            <a:extLst>
              <a:ext uri="{FF2B5EF4-FFF2-40B4-BE49-F238E27FC236}">
                <a16:creationId xmlns="" xmlns:a16="http://schemas.microsoft.com/office/drawing/2014/main" id="{A5AE46C3-0A33-5314-002A-442F3F1BAC70}"/>
              </a:ext>
            </a:extLst>
          </p:cNvPr>
          <p:cNvSpPr>
            <a:spLocks noGrp="1"/>
          </p:cNvSpPr>
          <p:nvPr>
            <p:ph type="dt" sz="half" idx="10"/>
          </p:nvPr>
        </p:nvSpPr>
        <p:spPr/>
        <p:txBody>
          <a:bodyPr/>
          <a:lstStyle/>
          <a:p>
            <a:fld id="{04619D83-FF17-4516-B6B3-12726EAD2179}" type="datetime1">
              <a:rPr lang="en-US" smtClean="0"/>
              <a:pPr/>
              <a:t>5/4/2026</a:t>
            </a:fld>
            <a:endParaRPr lang="en-US"/>
          </a:p>
        </p:txBody>
      </p:sp>
      <p:sp>
        <p:nvSpPr>
          <p:cNvPr id="5" name="Footer Placeholder 4">
            <a:extLst>
              <a:ext uri="{FF2B5EF4-FFF2-40B4-BE49-F238E27FC236}">
                <a16:creationId xmlns="" xmlns:a16="http://schemas.microsoft.com/office/drawing/2014/main" id="{63BBA691-9A65-F364-E00F-401AE353FE8D}"/>
              </a:ext>
            </a:extLst>
          </p:cNvPr>
          <p:cNvSpPr>
            <a:spLocks noGrp="1"/>
          </p:cNvSpPr>
          <p:nvPr>
            <p:ph type="ftr" sz="quarter" idx="11"/>
          </p:nvPr>
        </p:nvSpPr>
        <p:spPr/>
        <p:txBody>
          <a:bodyPr/>
          <a:lstStyle/>
          <a:p>
            <a:r>
              <a:rPr lang="en-US"/>
              <a:t>VTU PG Studies</a:t>
            </a:r>
          </a:p>
        </p:txBody>
      </p:sp>
      <p:sp>
        <p:nvSpPr>
          <p:cNvPr id="6" name="Slide Number Placeholder 5">
            <a:extLst>
              <a:ext uri="{FF2B5EF4-FFF2-40B4-BE49-F238E27FC236}">
                <a16:creationId xmlns="" xmlns:a16="http://schemas.microsoft.com/office/drawing/2014/main" id="{C3052F86-FD9E-AF5A-171B-FE1F38DA2684}"/>
              </a:ext>
            </a:extLst>
          </p:cNvPr>
          <p:cNvSpPr>
            <a:spLocks noGrp="1"/>
          </p:cNvSpPr>
          <p:nvPr>
            <p:ph type="sldNum" sz="quarter" idx="12"/>
          </p:nvPr>
        </p:nvSpPr>
        <p:spPr/>
        <p:txBody>
          <a:bodyPr/>
          <a:lstStyle/>
          <a:p>
            <a:fld id="{E566A64D-537C-4258-BCDA-D6FBF77857E8}" type="slidenum">
              <a:rPr lang="en-US" smtClean="0"/>
              <a:pPr/>
              <a:t>22</a:t>
            </a:fld>
            <a:endParaRPr lang="en-US"/>
          </a:p>
        </p:txBody>
      </p:sp>
      <p:pic>
        <p:nvPicPr>
          <p:cNvPr id="2" name="Picture 2" descr="D:\MBA Teaching Material\Marketing Management\MM\Images\vtu-logo.png">
            <a:extLst>
              <a:ext uri="{FF2B5EF4-FFF2-40B4-BE49-F238E27FC236}">
                <a16:creationId xmlns="" xmlns:a16="http://schemas.microsoft.com/office/drawing/2014/main" id="{D94AFE87-E72E-43C0-6F2E-C20DB2B41567}"/>
              </a:ext>
            </a:extLst>
          </p:cNvP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 xmlns:a14="http://schemas.microsoft.com/office/drawing/2010/main">
                <a:solidFill>
                  <a:srgbClr val="FFFFFF"/>
                </a:solidFill>
              </a14:hiddenFill>
            </a:ext>
          </a:extLst>
        </p:spPr>
      </p:pic>
      <p:pic>
        <p:nvPicPr>
          <p:cNvPr id="7" name="Picture 6">
            <a:extLst>
              <a:ext uri="{FF2B5EF4-FFF2-40B4-BE49-F238E27FC236}">
                <a16:creationId xmlns="" xmlns:a16="http://schemas.microsoft.com/office/drawing/2014/main" id="{FE05B900-53AE-2D80-1F28-7C4A2F300EC2}"/>
              </a:ext>
            </a:extLst>
          </p:cNvPr>
          <p:cNvPicPr>
            <a:picLocks noChangeAspect="1"/>
          </p:cNvPicPr>
          <p:nvPr/>
        </p:nvPicPr>
        <p:blipFill>
          <a:blip r:embed="rId3"/>
          <a:stretch>
            <a:fillRect/>
          </a:stretch>
        </p:blipFill>
        <p:spPr>
          <a:xfrm>
            <a:off x="228601" y="136525"/>
            <a:ext cx="4572000" cy="3163275"/>
          </a:xfrm>
          <a:prstGeom prst="rect">
            <a:avLst/>
          </a:prstGeom>
        </p:spPr>
      </p:pic>
      <p:pic>
        <p:nvPicPr>
          <p:cNvPr id="9" name="Picture 8">
            <a:extLst>
              <a:ext uri="{FF2B5EF4-FFF2-40B4-BE49-F238E27FC236}">
                <a16:creationId xmlns="" xmlns:a16="http://schemas.microsoft.com/office/drawing/2014/main" id="{91761CD5-A2AA-8F0F-29DD-6A60893D0BB6}"/>
              </a:ext>
            </a:extLst>
          </p:cNvPr>
          <p:cNvPicPr>
            <a:picLocks noChangeAspect="1"/>
          </p:cNvPicPr>
          <p:nvPr/>
        </p:nvPicPr>
        <p:blipFill>
          <a:blip r:embed="rId4"/>
          <a:stretch>
            <a:fillRect/>
          </a:stretch>
        </p:blipFill>
        <p:spPr>
          <a:xfrm>
            <a:off x="4495800" y="3378410"/>
            <a:ext cx="4648200" cy="3085902"/>
          </a:xfrm>
          <a:prstGeom prst="rect">
            <a:avLst/>
          </a:prstGeom>
        </p:spPr>
      </p:pic>
    </p:spTree>
    <p:extLst>
      <p:ext uri="{BB962C8B-B14F-4D97-AF65-F5344CB8AC3E}">
        <p14:creationId xmlns="" xmlns:p14="http://schemas.microsoft.com/office/powerpoint/2010/main" val="25962232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4A40F31-B3F8-E876-11A5-C24B512F450F}"/>
            </a:ext>
          </a:extLst>
        </p:cNvPr>
        <p:cNvGrpSpPr/>
        <p:nvPr/>
      </p:nvGrpSpPr>
      <p:grpSpPr>
        <a:xfrm>
          <a:off x="0" y="0"/>
          <a:ext cx="0" cy="0"/>
          <a:chOff x="0" y="0"/>
          <a:chExt cx="0" cy="0"/>
        </a:xfrm>
      </p:grpSpPr>
      <p:sp>
        <p:nvSpPr>
          <p:cNvPr id="4" name="Date Placeholder 3">
            <a:extLst>
              <a:ext uri="{FF2B5EF4-FFF2-40B4-BE49-F238E27FC236}">
                <a16:creationId xmlns="" xmlns:a16="http://schemas.microsoft.com/office/drawing/2014/main" id="{AC3E7BA3-F4A5-6A99-7491-7A64E1A0DDFE}"/>
              </a:ext>
            </a:extLst>
          </p:cNvPr>
          <p:cNvSpPr>
            <a:spLocks noGrp="1"/>
          </p:cNvSpPr>
          <p:nvPr>
            <p:ph type="dt" sz="half" idx="10"/>
          </p:nvPr>
        </p:nvSpPr>
        <p:spPr/>
        <p:txBody>
          <a:bodyPr/>
          <a:lstStyle/>
          <a:p>
            <a:fld id="{04619D83-FF17-4516-B6B3-12726EAD2179}" type="datetime1">
              <a:rPr lang="en-US" smtClean="0"/>
              <a:pPr/>
              <a:t>5/4/2026</a:t>
            </a:fld>
            <a:endParaRPr lang="en-US"/>
          </a:p>
        </p:txBody>
      </p:sp>
      <p:sp>
        <p:nvSpPr>
          <p:cNvPr id="5" name="Footer Placeholder 4">
            <a:extLst>
              <a:ext uri="{FF2B5EF4-FFF2-40B4-BE49-F238E27FC236}">
                <a16:creationId xmlns="" xmlns:a16="http://schemas.microsoft.com/office/drawing/2014/main" id="{D5B8828B-791D-2E0C-9AEC-AC89B0E53C06}"/>
              </a:ext>
            </a:extLst>
          </p:cNvPr>
          <p:cNvSpPr>
            <a:spLocks noGrp="1"/>
          </p:cNvSpPr>
          <p:nvPr>
            <p:ph type="ftr" sz="quarter" idx="11"/>
          </p:nvPr>
        </p:nvSpPr>
        <p:spPr/>
        <p:txBody>
          <a:bodyPr/>
          <a:lstStyle/>
          <a:p>
            <a:r>
              <a:rPr lang="en-US"/>
              <a:t>VTU PG Studies</a:t>
            </a:r>
          </a:p>
        </p:txBody>
      </p:sp>
      <p:sp>
        <p:nvSpPr>
          <p:cNvPr id="6" name="Slide Number Placeholder 5">
            <a:extLst>
              <a:ext uri="{FF2B5EF4-FFF2-40B4-BE49-F238E27FC236}">
                <a16:creationId xmlns="" xmlns:a16="http://schemas.microsoft.com/office/drawing/2014/main" id="{9BE4B112-C127-90A4-4492-587F9A82C5AC}"/>
              </a:ext>
            </a:extLst>
          </p:cNvPr>
          <p:cNvSpPr>
            <a:spLocks noGrp="1"/>
          </p:cNvSpPr>
          <p:nvPr>
            <p:ph type="sldNum" sz="quarter" idx="12"/>
          </p:nvPr>
        </p:nvSpPr>
        <p:spPr/>
        <p:txBody>
          <a:bodyPr/>
          <a:lstStyle/>
          <a:p>
            <a:fld id="{E566A64D-537C-4258-BCDA-D6FBF77857E8}" type="slidenum">
              <a:rPr lang="en-US" smtClean="0"/>
              <a:pPr/>
              <a:t>23</a:t>
            </a:fld>
            <a:endParaRPr lang="en-US"/>
          </a:p>
        </p:txBody>
      </p:sp>
      <p:pic>
        <p:nvPicPr>
          <p:cNvPr id="7" name="Picture 2" descr="D:\MBA Teaching Material\Marketing Management\MM\Images\vtu-logo.png">
            <a:extLst>
              <a:ext uri="{FF2B5EF4-FFF2-40B4-BE49-F238E27FC236}">
                <a16:creationId xmlns="" xmlns:a16="http://schemas.microsoft.com/office/drawing/2014/main" id="{99140C10-DD63-0109-D6B3-8DDDE3EDD2D3}"/>
              </a:ext>
            </a:extLst>
          </p:cNvP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 xmlns:a14="http://schemas.microsoft.com/office/drawing/2010/main">
                <a:solidFill>
                  <a:srgbClr val="FFFFFF"/>
                </a:solidFill>
              </a14:hiddenFill>
            </a:ext>
          </a:extLst>
        </p:spPr>
      </p:pic>
      <p:pic>
        <p:nvPicPr>
          <p:cNvPr id="3" name="Picture 2">
            <a:extLst>
              <a:ext uri="{FF2B5EF4-FFF2-40B4-BE49-F238E27FC236}">
                <a16:creationId xmlns="" xmlns:a16="http://schemas.microsoft.com/office/drawing/2014/main" id="{2075BFEB-6DAC-D056-C088-FB142DEB6446}"/>
              </a:ext>
            </a:extLst>
          </p:cNvPr>
          <p:cNvPicPr>
            <a:picLocks noChangeAspect="1"/>
          </p:cNvPicPr>
          <p:nvPr/>
        </p:nvPicPr>
        <p:blipFill>
          <a:blip r:embed="rId3"/>
          <a:stretch>
            <a:fillRect/>
          </a:stretch>
        </p:blipFill>
        <p:spPr>
          <a:xfrm>
            <a:off x="533400" y="304800"/>
            <a:ext cx="4695071" cy="5567821"/>
          </a:xfrm>
          <a:prstGeom prst="rect">
            <a:avLst/>
          </a:prstGeom>
        </p:spPr>
      </p:pic>
    </p:spTree>
    <p:extLst>
      <p:ext uri="{BB962C8B-B14F-4D97-AF65-F5344CB8AC3E}">
        <p14:creationId xmlns="" xmlns:p14="http://schemas.microsoft.com/office/powerpoint/2010/main" val="38328114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E090232-679E-F64B-AE5A-8C029CBEB677}"/>
            </a:ext>
          </a:extLst>
        </p:cNvPr>
        <p:cNvGrpSpPr/>
        <p:nvPr/>
      </p:nvGrpSpPr>
      <p:grpSpPr>
        <a:xfrm>
          <a:off x="0" y="0"/>
          <a:ext cx="0" cy="0"/>
          <a:chOff x="0" y="0"/>
          <a:chExt cx="0" cy="0"/>
        </a:xfrm>
      </p:grpSpPr>
      <p:sp>
        <p:nvSpPr>
          <p:cNvPr id="4" name="Date Placeholder 3">
            <a:extLst>
              <a:ext uri="{FF2B5EF4-FFF2-40B4-BE49-F238E27FC236}">
                <a16:creationId xmlns="" xmlns:a16="http://schemas.microsoft.com/office/drawing/2014/main" id="{E83D2A23-76B7-34AB-2436-80708612613A}"/>
              </a:ext>
            </a:extLst>
          </p:cNvPr>
          <p:cNvSpPr>
            <a:spLocks noGrp="1"/>
          </p:cNvSpPr>
          <p:nvPr>
            <p:ph type="dt" sz="half" idx="10"/>
          </p:nvPr>
        </p:nvSpPr>
        <p:spPr/>
        <p:txBody>
          <a:bodyPr/>
          <a:lstStyle/>
          <a:p>
            <a:fld id="{04619D83-FF17-4516-B6B3-12726EAD2179}" type="datetime1">
              <a:rPr lang="en-US" smtClean="0"/>
              <a:pPr/>
              <a:t>5/4/2026</a:t>
            </a:fld>
            <a:endParaRPr lang="en-US"/>
          </a:p>
        </p:txBody>
      </p:sp>
      <p:sp>
        <p:nvSpPr>
          <p:cNvPr id="5" name="Footer Placeholder 4">
            <a:extLst>
              <a:ext uri="{FF2B5EF4-FFF2-40B4-BE49-F238E27FC236}">
                <a16:creationId xmlns="" xmlns:a16="http://schemas.microsoft.com/office/drawing/2014/main" id="{4D8131E2-9DB6-A3FE-1C5B-EACA4067AF65}"/>
              </a:ext>
            </a:extLst>
          </p:cNvPr>
          <p:cNvSpPr>
            <a:spLocks noGrp="1"/>
          </p:cNvSpPr>
          <p:nvPr>
            <p:ph type="ftr" sz="quarter" idx="11"/>
          </p:nvPr>
        </p:nvSpPr>
        <p:spPr/>
        <p:txBody>
          <a:bodyPr/>
          <a:lstStyle/>
          <a:p>
            <a:r>
              <a:rPr lang="en-US"/>
              <a:t>VTU PG Studies</a:t>
            </a:r>
          </a:p>
        </p:txBody>
      </p:sp>
      <p:sp>
        <p:nvSpPr>
          <p:cNvPr id="6" name="Slide Number Placeholder 5">
            <a:extLst>
              <a:ext uri="{FF2B5EF4-FFF2-40B4-BE49-F238E27FC236}">
                <a16:creationId xmlns="" xmlns:a16="http://schemas.microsoft.com/office/drawing/2014/main" id="{23458100-BA38-6AB8-3BCE-512EA3CD25D1}"/>
              </a:ext>
            </a:extLst>
          </p:cNvPr>
          <p:cNvSpPr>
            <a:spLocks noGrp="1"/>
          </p:cNvSpPr>
          <p:nvPr>
            <p:ph type="sldNum" sz="quarter" idx="12"/>
          </p:nvPr>
        </p:nvSpPr>
        <p:spPr/>
        <p:txBody>
          <a:bodyPr/>
          <a:lstStyle/>
          <a:p>
            <a:fld id="{E566A64D-537C-4258-BCDA-D6FBF77857E8}" type="slidenum">
              <a:rPr lang="en-US" smtClean="0"/>
              <a:pPr/>
              <a:t>24</a:t>
            </a:fld>
            <a:endParaRPr lang="en-US"/>
          </a:p>
        </p:txBody>
      </p:sp>
      <p:pic>
        <p:nvPicPr>
          <p:cNvPr id="2" name="Picture 2" descr="D:\MBA Teaching Material\Marketing Management\MM\Images\vtu-logo.png">
            <a:extLst>
              <a:ext uri="{FF2B5EF4-FFF2-40B4-BE49-F238E27FC236}">
                <a16:creationId xmlns="" xmlns:a16="http://schemas.microsoft.com/office/drawing/2014/main" id="{93EAA0DF-3134-1F45-F88D-89123C6B28A9}"/>
              </a:ext>
            </a:extLst>
          </p:cNvP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 xmlns:a14="http://schemas.microsoft.com/office/drawing/2010/main">
                <a:solidFill>
                  <a:srgbClr val="FFFFFF"/>
                </a:solidFill>
              </a14:hiddenFill>
            </a:ext>
          </a:extLst>
        </p:spPr>
      </p:pic>
      <p:pic>
        <p:nvPicPr>
          <p:cNvPr id="7" name="Picture 6">
            <a:extLst>
              <a:ext uri="{FF2B5EF4-FFF2-40B4-BE49-F238E27FC236}">
                <a16:creationId xmlns="" xmlns:a16="http://schemas.microsoft.com/office/drawing/2014/main" id="{FCA2185B-C10E-8151-20DD-57ED7D1DDB6F}"/>
              </a:ext>
            </a:extLst>
          </p:cNvPr>
          <p:cNvPicPr>
            <a:picLocks noChangeAspect="1"/>
          </p:cNvPicPr>
          <p:nvPr/>
        </p:nvPicPr>
        <p:blipFill>
          <a:blip r:embed="rId3"/>
          <a:stretch>
            <a:fillRect/>
          </a:stretch>
        </p:blipFill>
        <p:spPr>
          <a:xfrm>
            <a:off x="76200" y="-14385"/>
            <a:ext cx="5486400" cy="4004110"/>
          </a:xfrm>
          <a:prstGeom prst="rect">
            <a:avLst/>
          </a:prstGeom>
        </p:spPr>
      </p:pic>
      <p:pic>
        <p:nvPicPr>
          <p:cNvPr id="9" name="Picture 8">
            <a:extLst>
              <a:ext uri="{FF2B5EF4-FFF2-40B4-BE49-F238E27FC236}">
                <a16:creationId xmlns="" xmlns:a16="http://schemas.microsoft.com/office/drawing/2014/main" id="{0EE18252-2841-B095-F74C-674A97A3A70B}"/>
              </a:ext>
            </a:extLst>
          </p:cNvPr>
          <p:cNvPicPr>
            <a:picLocks noChangeAspect="1"/>
          </p:cNvPicPr>
          <p:nvPr/>
        </p:nvPicPr>
        <p:blipFill>
          <a:blip r:embed="rId4"/>
          <a:stretch>
            <a:fillRect/>
          </a:stretch>
        </p:blipFill>
        <p:spPr>
          <a:xfrm>
            <a:off x="76200" y="3962401"/>
            <a:ext cx="5410200" cy="1590908"/>
          </a:xfrm>
          <a:prstGeom prst="rect">
            <a:avLst/>
          </a:prstGeom>
        </p:spPr>
      </p:pic>
    </p:spTree>
    <p:extLst>
      <p:ext uri="{BB962C8B-B14F-4D97-AF65-F5344CB8AC3E}">
        <p14:creationId xmlns="" xmlns:p14="http://schemas.microsoft.com/office/powerpoint/2010/main" val="11365937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85DBB84-C1F3-90AF-2A4B-35F8CE92D468}"/>
            </a:ext>
          </a:extLst>
        </p:cNvPr>
        <p:cNvGrpSpPr/>
        <p:nvPr/>
      </p:nvGrpSpPr>
      <p:grpSpPr>
        <a:xfrm>
          <a:off x="0" y="0"/>
          <a:ext cx="0" cy="0"/>
          <a:chOff x="0" y="0"/>
          <a:chExt cx="0" cy="0"/>
        </a:xfrm>
      </p:grpSpPr>
      <p:sp>
        <p:nvSpPr>
          <p:cNvPr id="4" name="Date Placeholder 3">
            <a:extLst>
              <a:ext uri="{FF2B5EF4-FFF2-40B4-BE49-F238E27FC236}">
                <a16:creationId xmlns="" xmlns:a16="http://schemas.microsoft.com/office/drawing/2014/main" id="{5E30F19F-8E3A-C719-2913-FC4FBB2E2C53}"/>
              </a:ext>
            </a:extLst>
          </p:cNvPr>
          <p:cNvSpPr>
            <a:spLocks noGrp="1"/>
          </p:cNvSpPr>
          <p:nvPr>
            <p:ph type="dt" sz="half" idx="10"/>
          </p:nvPr>
        </p:nvSpPr>
        <p:spPr/>
        <p:txBody>
          <a:bodyPr/>
          <a:lstStyle/>
          <a:p>
            <a:fld id="{04619D83-FF17-4516-B6B3-12726EAD2179}" type="datetime1">
              <a:rPr lang="en-US" smtClean="0"/>
              <a:pPr/>
              <a:t>5/4/2026</a:t>
            </a:fld>
            <a:endParaRPr lang="en-US"/>
          </a:p>
        </p:txBody>
      </p:sp>
      <p:sp>
        <p:nvSpPr>
          <p:cNvPr id="5" name="Footer Placeholder 4">
            <a:extLst>
              <a:ext uri="{FF2B5EF4-FFF2-40B4-BE49-F238E27FC236}">
                <a16:creationId xmlns="" xmlns:a16="http://schemas.microsoft.com/office/drawing/2014/main" id="{6C0F376B-D675-423B-6774-09C7DFCDB33D}"/>
              </a:ext>
            </a:extLst>
          </p:cNvPr>
          <p:cNvSpPr>
            <a:spLocks noGrp="1"/>
          </p:cNvSpPr>
          <p:nvPr>
            <p:ph type="ftr" sz="quarter" idx="11"/>
          </p:nvPr>
        </p:nvSpPr>
        <p:spPr/>
        <p:txBody>
          <a:bodyPr/>
          <a:lstStyle/>
          <a:p>
            <a:r>
              <a:rPr lang="en-US"/>
              <a:t>VTU PG Studies</a:t>
            </a:r>
          </a:p>
        </p:txBody>
      </p:sp>
      <p:sp>
        <p:nvSpPr>
          <p:cNvPr id="6" name="Slide Number Placeholder 5">
            <a:extLst>
              <a:ext uri="{FF2B5EF4-FFF2-40B4-BE49-F238E27FC236}">
                <a16:creationId xmlns="" xmlns:a16="http://schemas.microsoft.com/office/drawing/2014/main" id="{CC12719B-9B88-C8C7-FD31-5802BFB20F60}"/>
              </a:ext>
            </a:extLst>
          </p:cNvPr>
          <p:cNvSpPr>
            <a:spLocks noGrp="1"/>
          </p:cNvSpPr>
          <p:nvPr>
            <p:ph type="sldNum" sz="quarter" idx="12"/>
          </p:nvPr>
        </p:nvSpPr>
        <p:spPr/>
        <p:txBody>
          <a:bodyPr/>
          <a:lstStyle/>
          <a:p>
            <a:fld id="{E566A64D-537C-4258-BCDA-D6FBF77857E8}" type="slidenum">
              <a:rPr lang="en-US" smtClean="0"/>
              <a:pPr/>
              <a:t>25</a:t>
            </a:fld>
            <a:endParaRPr lang="en-US"/>
          </a:p>
        </p:txBody>
      </p:sp>
      <p:pic>
        <p:nvPicPr>
          <p:cNvPr id="7" name="Picture 2" descr="D:\MBA Teaching Material\Marketing Management\MM\Images\vtu-logo.png">
            <a:extLst>
              <a:ext uri="{FF2B5EF4-FFF2-40B4-BE49-F238E27FC236}">
                <a16:creationId xmlns="" xmlns:a16="http://schemas.microsoft.com/office/drawing/2014/main" id="{2DBAD4BB-5C9F-835D-3245-A97513B5D0C5}"/>
              </a:ext>
            </a:extLst>
          </p:cNvP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 xmlns:a14="http://schemas.microsoft.com/office/drawing/2010/main">
                <a:solidFill>
                  <a:srgbClr val="FFFFFF"/>
                </a:solidFill>
              </a14:hiddenFill>
            </a:ext>
          </a:extLst>
        </p:spPr>
      </p:pic>
      <p:pic>
        <p:nvPicPr>
          <p:cNvPr id="3" name="Picture 2">
            <a:extLst>
              <a:ext uri="{FF2B5EF4-FFF2-40B4-BE49-F238E27FC236}">
                <a16:creationId xmlns="" xmlns:a16="http://schemas.microsoft.com/office/drawing/2014/main" id="{D505ECE1-9A0A-2145-319A-2E868B8C746B}"/>
              </a:ext>
            </a:extLst>
          </p:cNvPr>
          <p:cNvPicPr>
            <a:picLocks noChangeAspect="1"/>
          </p:cNvPicPr>
          <p:nvPr/>
        </p:nvPicPr>
        <p:blipFill>
          <a:blip r:embed="rId3"/>
          <a:stretch>
            <a:fillRect/>
          </a:stretch>
        </p:blipFill>
        <p:spPr>
          <a:xfrm>
            <a:off x="276970" y="669235"/>
            <a:ext cx="6885830" cy="4007211"/>
          </a:xfrm>
          <a:prstGeom prst="rect">
            <a:avLst/>
          </a:prstGeom>
        </p:spPr>
      </p:pic>
    </p:spTree>
    <p:extLst>
      <p:ext uri="{BB962C8B-B14F-4D97-AF65-F5344CB8AC3E}">
        <p14:creationId xmlns="" xmlns:p14="http://schemas.microsoft.com/office/powerpoint/2010/main" val="36142698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Content Placeholder 2">
            <a:extLst>
              <a:ext uri="{FF2B5EF4-FFF2-40B4-BE49-F238E27FC236}">
                <a16:creationId xmlns="" xmlns:a16="http://schemas.microsoft.com/office/drawing/2014/main" id="{CA54DC04-983F-834A-C310-514917FC3A75}"/>
              </a:ext>
            </a:extLst>
          </p:cNvPr>
          <p:cNvSpPr>
            <a:spLocks noGrp="1"/>
          </p:cNvSpPr>
          <p:nvPr>
            <p:ph sz="quarter" idx="1"/>
          </p:nvPr>
        </p:nvSpPr>
        <p:spPr>
          <a:xfrm>
            <a:off x="457200" y="304800"/>
            <a:ext cx="8229600" cy="5821363"/>
          </a:xfrm>
        </p:spPr>
        <p:txBody>
          <a:bodyPr>
            <a:normAutofit fontScale="92500" lnSpcReduction="10000"/>
          </a:bodyPr>
          <a:lstStyle/>
          <a:p>
            <a:pPr marL="274320" indent="-274320" eaLnBrk="1" fontAlgn="auto" hangingPunct="1">
              <a:spcAft>
                <a:spcPts val="0"/>
              </a:spcAft>
              <a:buClr>
                <a:schemeClr val="accent3"/>
              </a:buClr>
              <a:buFont typeface="Wingdings 2"/>
              <a:buChar char=""/>
              <a:defRPr/>
            </a:pPr>
            <a:r>
              <a:rPr lang="en-US" dirty="0">
                <a:solidFill>
                  <a:srgbClr val="003366"/>
                </a:solidFill>
              </a:rPr>
              <a:t>The macro environment factors are </a:t>
            </a:r>
          </a:p>
          <a:p>
            <a:pPr marL="640080" lvl="1" indent="-246888" eaLnBrk="1" fontAlgn="auto" hangingPunct="1">
              <a:spcAft>
                <a:spcPts val="0"/>
              </a:spcAft>
              <a:buFont typeface="Arial" charset="0"/>
              <a:buNone/>
              <a:defRPr/>
            </a:pPr>
            <a:r>
              <a:rPr lang="en-US" sz="2000" u="sng" dirty="0">
                <a:solidFill>
                  <a:srgbClr val="003366"/>
                </a:solidFill>
              </a:rPr>
              <a:t>In the outer ring</a:t>
            </a:r>
            <a:r>
              <a:rPr lang="en-US" sz="2000" dirty="0">
                <a:solidFill>
                  <a:srgbClr val="003366"/>
                </a:solidFill>
              </a:rPr>
              <a:t>:</a:t>
            </a:r>
          </a:p>
          <a:p>
            <a:pPr marL="640080" lvl="1" indent="-246888" eaLnBrk="1" fontAlgn="auto" hangingPunct="1">
              <a:spcAft>
                <a:spcPts val="0"/>
              </a:spcAft>
              <a:buFont typeface="Wingdings 2"/>
              <a:buChar char=""/>
              <a:defRPr/>
            </a:pPr>
            <a:r>
              <a:rPr lang="en-US" sz="2000" dirty="0">
                <a:solidFill>
                  <a:srgbClr val="003366"/>
                </a:solidFill>
              </a:rPr>
              <a:t>Societal values and lifestyles e.g. McDonalds not using beef in India</a:t>
            </a:r>
          </a:p>
          <a:p>
            <a:pPr marL="640080" lvl="1" indent="-246888" eaLnBrk="1" fontAlgn="auto" hangingPunct="1">
              <a:spcAft>
                <a:spcPts val="0"/>
              </a:spcAft>
              <a:buFont typeface="Wingdings 2"/>
              <a:buChar char=""/>
              <a:defRPr/>
            </a:pPr>
            <a:r>
              <a:rPr lang="en-US" sz="2000" dirty="0">
                <a:solidFill>
                  <a:srgbClr val="003366"/>
                </a:solidFill>
              </a:rPr>
              <a:t>Population demographics e.g. Insurance companies designing products for young population in India</a:t>
            </a:r>
          </a:p>
          <a:p>
            <a:pPr marL="640080" lvl="1" indent="-246888" eaLnBrk="1" fontAlgn="auto" hangingPunct="1">
              <a:spcAft>
                <a:spcPts val="0"/>
              </a:spcAft>
              <a:buFont typeface="Wingdings 2"/>
              <a:buChar char=""/>
              <a:defRPr/>
            </a:pPr>
            <a:r>
              <a:rPr lang="en-US" sz="2000" dirty="0">
                <a:solidFill>
                  <a:srgbClr val="003366"/>
                </a:solidFill>
              </a:rPr>
              <a:t>Legislation and regulations e.g. No FDI in sectors like retail</a:t>
            </a:r>
          </a:p>
          <a:p>
            <a:pPr marL="640080" lvl="1" indent="-246888" eaLnBrk="1" fontAlgn="auto" hangingPunct="1">
              <a:spcAft>
                <a:spcPts val="0"/>
              </a:spcAft>
              <a:buFont typeface="Wingdings 2"/>
              <a:buChar char=""/>
              <a:defRPr/>
            </a:pPr>
            <a:r>
              <a:rPr lang="en-US" sz="2000" dirty="0">
                <a:solidFill>
                  <a:srgbClr val="003366"/>
                </a:solidFill>
              </a:rPr>
              <a:t>General economic conditions e.g. cost cutting by companies  </a:t>
            </a:r>
          </a:p>
          <a:p>
            <a:pPr marL="640080" lvl="1" indent="-246888" eaLnBrk="1" fontAlgn="auto" hangingPunct="1">
              <a:spcAft>
                <a:spcPts val="0"/>
              </a:spcAft>
              <a:buFont typeface="Wingdings 2"/>
              <a:buChar char=""/>
              <a:defRPr/>
            </a:pPr>
            <a:r>
              <a:rPr lang="en-US" sz="2000" dirty="0">
                <a:solidFill>
                  <a:srgbClr val="003366"/>
                </a:solidFill>
              </a:rPr>
              <a:t>Technology e.g. companies using video-conferencing</a:t>
            </a:r>
          </a:p>
          <a:p>
            <a:pPr marL="640080" lvl="1" indent="-246888" eaLnBrk="1" fontAlgn="auto" hangingPunct="1">
              <a:spcAft>
                <a:spcPts val="0"/>
              </a:spcAft>
              <a:buFont typeface="Wingdings 2"/>
              <a:buChar char=""/>
              <a:defRPr/>
            </a:pPr>
            <a:endParaRPr lang="en-US" sz="2000" dirty="0">
              <a:solidFill>
                <a:srgbClr val="003366"/>
              </a:solidFill>
            </a:endParaRPr>
          </a:p>
          <a:p>
            <a:pPr marL="640080" lvl="1" indent="-246888" eaLnBrk="1" fontAlgn="auto" hangingPunct="1">
              <a:spcAft>
                <a:spcPts val="0"/>
              </a:spcAft>
              <a:buFont typeface="Arial" charset="0"/>
              <a:buNone/>
              <a:defRPr/>
            </a:pPr>
            <a:r>
              <a:rPr lang="en-US" sz="2000" u="sng" dirty="0">
                <a:solidFill>
                  <a:srgbClr val="003366"/>
                </a:solidFill>
              </a:rPr>
              <a:t>The immediate industry and competitive environment factors like:</a:t>
            </a:r>
          </a:p>
          <a:p>
            <a:pPr marL="640080" lvl="1" indent="-246888" eaLnBrk="1" fontAlgn="auto" hangingPunct="1">
              <a:spcAft>
                <a:spcPts val="0"/>
              </a:spcAft>
              <a:buFont typeface="Wingdings 2"/>
              <a:buChar char=""/>
              <a:defRPr/>
            </a:pPr>
            <a:r>
              <a:rPr lang="en-US" sz="2000" dirty="0">
                <a:solidFill>
                  <a:srgbClr val="003366"/>
                </a:solidFill>
              </a:rPr>
              <a:t>Rival firms e.g. Bajaj planning low-priced car</a:t>
            </a:r>
          </a:p>
          <a:p>
            <a:pPr marL="640080" lvl="1" indent="-246888" eaLnBrk="1" fontAlgn="auto" hangingPunct="1">
              <a:spcAft>
                <a:spcPts val="0"/>
              </a:spcAft>
              <a:buFont typeface="Wingdings 2"/>
              <a:buChar char=""/>
              <a:defRPr/>
            </a:pPr>
            <a:r>
              <a:rPr lang="en-US" sz="2000" dirty="0">
                <a:solidFill>
                  <a:srgbClr val="003366"/>
                </a:solidFill>
              </a:rPr>
              <a:t>New entrants e.g. ITC entering FMCG sector</a:t>
            </a:r>
          </a:p>
          <a:p>
            <a:pPr marL="640080" lvl="1" indent="-246888" eaLnBrk="1" fontAlgn="auto" hangingPunct="1">
              <a:spcAft>
                <a:spcPts val="0"/>
              </a:spcAft>
              <a:buFont typeface="Wingdings 2"/>
              <a:buChar char=""/>
              <a:defRPr/>
            </a:pPr>
            <a:r>
              <a:rPr lang="en-US" sz="2000" dirty="0">
                <a:solidFill>
                  <a:srgbClr val="003366"/>
                </a:solidFill>
              </a:rPr>
              <a:t>Buyers e.g. reduction in sales of Pepsi and Coke after pesticide controversy</a:t>
            </a:r>
          </a:p>
          <a:p>
            <a:pPr marL="640080" lvl="1" indent="-246888" eaLnBrk="1" fontAlgn="auto" hangingPunct="1">
              <a:spcAft>
                <a:spcPts val="0"/>
              </a:spcAft>
              <a:buFont typeface="Wingdings 2"/>
              <a:buChar char=""/>
              <a:defRPr/>
            </a:pPr>
            <a:r>
              <a:rPr lang="en-US" sz="2000" dirty="0">
                <a:solidFill>
                  <a:srgbClr val="003366"/>
                </a:solidFill>
              </a:rPr>
              <a:t>Substitute products e.g. bikes replacing scooters</a:t>
            </a:r>
          </a:p>
          <a:p>
            <a:pPr marL="640080" lvl="1" indent="-246888" eaLnBrk="1" fontAlgn="auto" hangingPunct="1">
              <a:spcAft>
                <a:spcPts val="0"/>
              </a:spcAft>
              <a:buFont typeface="Wingdings 2"/>
              <a:buChar char=""/>
              <a:defRPr/>
            </a:pPr>
            <a:r>
              <a:rPr lang="en-US" sz="2000" dirty="0">
                <a:solidFill>
                  <a:srgbClr val="003366"/>
                </a:solidFill>
              </a:rPr>
              <a:t>Suppliers e.g. arm twisting by Microsoft to include Internet Explorer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C8B308E-E2DD-7EFD-BBB2-E0952E48D8CF}"/>
              </a:ext>
            </a:extLst>
          </p:cNvPr>
          <p:cNvSpPr>
            <a:spLocks noGrp="1"/>
          </p:cNvSpPr>
          <p:nvPr>
            <p:ph type="title"/>
          </p:nvPr>
        </p:nvSpPr>
        <p:spPr/>
        <p:txBody>
          <a:bodyPr/>
          <a:lstStyle/>
          <a:p>
            <a:pPr eaLnBrk="1" fontAlgn="auto" hangingPunct="1">
              <a:spcAft>
                <a:spcPts val="0"/>
              </a:spcAft>
              <a:defRPr/>
            </a:pPr>
            <a:endParaRPr lang="en-US"/>
          </a:p>
        </p:txBody>
      </p:sp>
      <p:sp>
        <p:nvSpPr>
          <p:cNvPr id="12291" name="Content Placeholder 2">
            <a:extLst>
              <a:ext uri="{FF2B5EF4-FFF2-40B4-BE49-F238E27FC236}">
                <a16:creationId xmlns="" xmlns:a16="http://schemas.microsoft.com/office/drawing/2014/main" id="{A4401F3D-5B69-D6C7-195A-73103CD775AD}"/>
              </a:ext>
            </a:extLst>
          </p:cNvPr>
          <p:cNvSpPr>
            <a:spLocks noGrp="1"/>
          </p:cNvSpPr>
          <p:nvPr>
            <p:ph sz="quarter" idx="1"/>
          </p:nvPr>
        </p:nvSpPr>
        <p:spPr>
          <a:xfrm>
            <a:off x="457200" y="1600200"/>
            <a:ext cx="7467600" cy="4873625"/>
          </a:xfrm>
        </p:spPr>
        <p:txBody>
          <a:bodyPr/>
          <a:lstStyle/>
          <a:p>
            <a:pPr eaLnBrk="1" hangingPunct="1"/>
            <a:endParaRPr lang="en-US" altLang="en-US"/>
          </a:p>
        </p:txBody>
      </p:sp>
      <p:pic>
        <p:nvPicPr>
          <p:cNvPr id="12292" name="Content Placeholder 3" descr="page49_1.gif">
            <a:extLst>
              <a:ext uri="{FF2B5EF4-FFF2-40B4-BE49-F238E27FC236}">
                <a16:creationId xmlns="" xmlns:a16="http://schemas.microsoft.com/office/drawing/2014/main" id="{CB319BA4-D40D-A381-AD73-989F241C13ED}"/>
              </a:ext>
            </a:extLst>
          </p:cNvPr>
          <p:cNvPicPr>
            <a:picLocks noChangeAspect="1"/>
          </p:cNvPicPr>
          <p:nvPr/>
        </p:nvPicPr>
        <p:blipFill>
          <a:blip r:embed="rId2">
            <a:extLst>
              <a:ext uri="{28A0092B-C50C-407E-A947-70E740481C1C}">
                <a14:useLocalDpi xmlns="" xmlns:a14="http://schemas.microsoft.com/office/drawing/2010/main" val="0"/>
              </a:ext>
            </a:extLst>
          </a:blip>
          <a:srcRect/>
          <a:stretch>
            <a:fillRect/>
          </a:stretch>
        </p:blipFill>
        <p:spPr bwMode="auto">
          <a:xfrm>
            <a:off x="0" y="0"/>
            <a:ext cx="8763000"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7FE3531-B4DF-38F2-DF56-E26DE2B86CD2}"/>
              </a:ext>
            </a:extLst>
          </p:cNvPr>
          <p:cNvSpPr>
            <a:spLocks noGrp="1"/>
          </p:cNvSpPr>
          <p:nvPr>
            <p:ph type="title"/>
          </p:nvPr>
        </p:nvSpPr>
        <p:spPr/>
        <p:txBody>
          <a:bodyPr/>
          <a:lstStyle/>
          <a:p>
            <a:pPr eaLnBrk="1" fontAlgn="auto" hangingPunct="1">
              <a:spcAft>
                <a:spcPts val="0"/>
              </a:spcAft>
              <a:defRPr/>
            </a:pPr>
            <a:r>
              <a:rPr lang="en-US" dirty="0"/>
              <a:t>`</a:t>
            </a:r>
          </a:p>
        </p:txBody>
      </p:sp>
      <p:sp>
        <p:nvSpPr>
          <p:cNvPr id="13315" name="Content Placeholder 2">
            <a:extLst>
              <a:ext uri="{FF2B5EF4-FFF2-40B4-BE49-F238E27FC236}">
                <a16:creationId xmlns="" xmlns:a16="http://schemas.microsoft.com/office/drawing/2014/main" id="{136A3739-0D88-05BF-3719-6DB85D9F3690}"/>
              </a:ext>
            </a:extLst>
          </p:cNvPr>
          <p:cNvSpPr>
            <a:spLocks noGrp="1"/>
          </p:cNvSpPr>
          <p:nvPr>
            <p:ph sz="quarter" idx="1"/>
          </p:nvPr>
        </p:nvSpPr>
        <p:spPr>
          <a:xfrm>
            <a:off x="457200" y="1600200"/>
            <a:ext cx="7467600" cy="4873625"/>
          </a:xfrm>
        </p:spPr>
        <p:txBody>
          <a:bodyPr/>
          <a:lstStyle/>
          <a:p>
            <a:pPr eaLnBrk="1" hangingPunct="1"/>
            <a:endParaRPr lang="en-US" altLang="en-US"/>
          </a:p>
        </p:txBody>
      </p:sp>
      <p:pic>
        <p:nvPicPr>
          <p:cNvPr id="13316" name="Content Placeholder 5" descr="page49_2.gif">
            <a:extLst>
              <a:ext uri="{FF2B5EF4-FFF2-40B4-BE49-F238E27FC236}">
                <a16:creationId xmlns="" xmlns:a16="http://schemas.microsoft.com/office/drawing/2014/main" id="{7400932A-4B77-E4CF-77D7-AFE40B935AB3}"/>
              </a:ext>
            </a:extLst>
          </p:cNvPr>
          <p:cNvPicPr>
            <a:picLocks noChangeAspect="1"/>
          </p:cNvPicPr>
          <p:nvPr/>
        </p:nvPicPr>
        <p:blipFill>
          <a:blip r:embed="rId2">
            <a:extLst>
              <a:ext uri="{28A0092B-C50C-407E-A947-70E740481C1C}">
                <a14:useLocalDpi xmlns="" xmlns:a14="http://schemas.microsoft.com/office/drawing/2010/main" val="0"/>
              </a:ext>
            </a:extLst>
          </a:blip>
          <a:srcRect/>
          <a:stretch>
            <a:fillRect/>
          </a:stretch>
        </p:blipFill>
        <p:spPr bwMode="auto">
          <a:xfrm>
            <a:off x="55563" y="0"/>
            <a:ext cx="8629650"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Content Placeholder 2">
            <a:extLst>
              <a:ext uri="{FF2B5EF4-FFF2-40B4-BE49-F238E27FC236}">
                <a16:creationId xmlns="" xmlns:a16="http://schemas.microsoft.com/office/drawing/2014/main" id="{20314FB7-FC5F-419B-B73A-ADB24F7DAAFD}"/>
              </a:ext>
            </a:extLst>
          </p:cNvPr>
          <p:cNvSpPr>
            <a:spLocks noGrp="1"/>
          </p:cNvSpPr>
          <p:nvPr>
            <p:ph sz="quarter" idx="1"/>
          </p:nvPr>
        </p:nvSpPr>
        <p:spPr>
          <a:xfrm>
            <a:off x="152400" y="685800"/>
            <a:ext cx="8229600" cy="5821363"/>
          </a:xfrm>
        </p:spPr>
        <p:txBody>
          <a:bodyPr/>
          <a:lstStyle/>
          <a:p>
            <a:pPr eaLnBrk="1" hangingPunct="1"/>
            <a:endParaRPr lang="en-US" altLang="en-US" dirty="0">
              <a:solidFill>
                <a:srgbClr val="003366"/>
              </a:solidFill>
            </a:endParaRPr>
          </a:p>
          <a:p>
            <a:pPr eaLnBrk="1" hangingPunct="1"/>
            <a:endParaRPr lang="en-US" altLang="en-US" dirty="0">
              <a:solidFill>
                <a:srgbClr val="003366"/>
              </a:solidFill>
            </a:endParaRPr>
          </a:p>
          <a:p>
            <a:pPr eaLnBrk="1" hangingPunct="1"/>
            <a:r>
              <a:rPr lang="en-US" altLang="en-US" dirty="0">
                <a:solidFill>
                  <a:srgbClr val="003366"/>
                </a:solidFill>
              </a:rPr>
              <a:t>Analyzing the industry's distinguishing economic features helps in understanding the kind of strategic moves that industry members are likely to employ</a:t>
            </a:r>
          </a:p>
          <a:p>
            <a:pPr eaLnBrk="1" hangingPunct="1"/>
            <a:endParaRPr lang="en-US" altLang="en-US" dirty="0">
              <a:solidFill>
                <a:srgbClr val="003366"/>
              </a:solidFill>
            </a:endParaRPr>
          </a:p>
          <a:p>
            <a:pPr lvl="1" eaLnBrk="1" hangingPunct="1"/>
            <a:r>
              <a:rPr lang="en-US" altLang="en-US" sz="2000" dirty="0">
                <a:solidFill>
                  <a:srgbClr val="003366"/>
                </a:solidFill>
              </a:rPr>
              <a:t>In a highly product innovative industry like video games, computers and pharmaceuticals the focus in on R&amp;D</a:t>
            </a:r>
          </a:p>
          <a:p>
            <a:pPr lvl="1" eaLnBrk="1" hangingPunct="1"/>
            <a:endParaRPr lang="en-US" altLang="en-US" sz="2000" dirty="0">
              <a:solidFill>
                <a:srgbClr val="003366"/>
              </a:solidFill>
            </a:endParaRPr>
          </a:p>
          <a:p>
            <a:pPr lvl="1" eaLnBrk="1" hangingPunct="1"/>
            <a:r>
              <a:rPr lang="en-US" altLang="en-US" sz="2000" dirty="0">
                <a:solidFill>
                  <a:srgbClr val="003366"/>
                </a:solidFill>
              </a:rPr>
              <a:t>An industry with recent rapid growth looks for cost reduction and improved customer service</a:t>
            </a:r>
          </a:p>
          <a:p>
            <a:pPr lvl="1" eaLnBrk="1" hangingPunct="1"/>
            <a:endParaRPr lang="en-US" altLang="en-US" sz="2000" dirty="0">
              <a:solidFill>
                <a:srgbClr val="003366"/>
              </a:solidFill>
            </a:endParaRPr>
          </a:p>
          <a:p>
            <a:pPr lvl="1" eaLnBrk="1" hangingPunct="1"/>
            <a:r>
              <a:rPr lang="en-US" altLang="en-US" sz="2000" dirty="0">
                <a:solidFill>
                  <a:srgbClr val="003366"/>
                </a:solidFill>
              </a:rPr>
              <a:t>Semiconductor industry gains by learning/experience and is driven to pursue increased sales volumes and capture the resulting cost saving economics</a:t>
            </a:r>
            <a:endParaRPr lang="en-US" altLang="en-US" sz="1500" dirty="0">
              <a:solidFill>
                <a:srgbClr val="003366"/>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 xmlns:a16="http://schemas.microsoft.com/office/drawing/2014/main" id="{B3F7DBCC-F9F0-93FF-21E4-DD089247F089}"/>
              </a:ext>
            </a:extLst>
          </p:cNvPr>
          <p:cNvSpPr>
            <a:spLocks noGrp="1"/>
          </p:cNvSpPr>
          <p:nvPr>
            <p:ph type="title"/>
          </p:nvPr>
        </p:nvSpPr>
        <p:spPr/>
        <p:txBody>
          <a:bodyPr/>
          <a:lstStyle/>
          <a:p>
            <a:pPr eaLnBrk="1" fontAlgn="auto" hangingPunct="1">
              <a:spcAft>
                <a:spcPts val="0"/>
              </a:spcAft>
              <a:defRPr/>
            </a:pPr>
            <a:endParaRPr lang="en-US"/>
          </a:p>
        </p:txBody>
      </p:sp>
      <p:sp>
        <p:nvSpPr>
          <p:cNvPr id="22531" name="Content Placeholder 2">
            <a:extLst>
              <a:ext uri="{FF2B5EF4-FFF2-40B4-BE49-F238E27FC236}">
                <a16:creationId xmlns="" xmlns:a16="http://schemas.microsoft.com/office/drawing/2014/main" id="{8035CE01-6FA7-F12D-3B55-9A5B79D63EE9}"/>
              </a:ext>
            </a:extLst>
          </p:cNvPr>
          <p:cNvSpPr>
            <a:spLocks noGrp="1"/>
          </p:cNvSpPr>
          <p:nvPr>
            <p:ph sz="quarter" idx="1"/>
          </p:nvPr>
        </p:nvSpPr>
        <p:spPr>
          <a:xfrm>
            <a:off x="457200" y="304800"/>
            <a:ext cx="8229600" cy="5821363"/>
          </a:xfrm>
        </p:spPr>
        <p:txBody>
          <a:bodyPr/>
          <a:lstStyle/>
          <a:p>
            <a:pPr eaLnBrk="1" hangingPunct="1">
              <a:buFont typeface="Arial" panose="020B0604020202020204" pitchFamily="34" charset="0"/>
              <a:buNone/>
            </a:pPr>
            <a:r>
              <a:rPr lang="en-US" altLang="en-US" u="sng"/>
              <a:t>What factors are driving industry change and what impacts will they have?</a:t>
            </a:r>
          </a:p>
          <a:p>
            <a:pPr eaLnBrk="1" hangingPunct="1"/>
            <a:r>
              <a:rPr lang="en-US" altLang="en-US" sz="2200"/>
              <a:t>All industries are characterized by trends and new developments that produce change. E.g. introduction of sachet in FMCG, Nano</a:t>
            </a:r>
          </a:p>
          <a:p>
            <a:pPr eaLnBrk="1" hangingPunct="1"/>
            <a:r>
              <a:rPr lang="en-US" altLang="en-US" sz="2200"/>
              <a:t>The life cycle of an industry - take off, rapid growth, early maturity, market saturation and stagnation or decline -E.g. telecom connectivity industry is driven by wireless connectivity.</a:t>
            </a:r>
          </a:p>
          <a:p>
            <a:pPr eaLnBrk="1" hangingPunct="1"/>
            <a:r>
              <a:rPr lang="en-US" altLang="en-US" sz="2200"/>
              <a:t>Driving forces are those that have the biggest influence on what kind of changes will take place in the industry's structure and competitive environment. E.g. 3G spectrum auction will affect wireless service providers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 xmlns:a16="http://schemas.microsoft.com/office/drawing/2014/main" id="{C49FC30F-B677-4F5F-6A34-F55462AB5E73}"/>
              </a:ext>
            </a:extLst>
          </p:cNvPr>
          <p:cNvSpPr>
            <a:spLocks noGrp="1"/>
          </p:cNvSpPr>
          <p:nvPr>
            <p:ph type="title"/>
          </p:nvPr>
        </p:nvSpPr>
        <p:spPr/>
        <p:txBody>
          <a:bodyPr/>
          <a:lstStyle/>
          <a:p>
            <a:pPr eaLnBrk="1" fontAlgn="auto" hangingPunct="1">
              <a:spcAft>
                <a:spcPts val="0"/>
              </a:spcAft>
              <a:defRPr/>
            </a:pPr>
            <a:endParaRPr lang="en-US"/>
          </a:p>
        </p:txBody>
      </p:sp>
      <p:sp>
        <p:nvSpPr>
          <p:cNvPr id="3" name="Content Placeholder 2">
            <a:extLst>
              <a:ext uri="{FF2B5EF4-FFF2-40B4-BE49-F238E27FC236}">
                <a16:creationId xmlns="" xmlns:a16="http://schemas.microsoft.com/office/drawing/2014/main" id="{BAD016FD-A652-37E8-1E7D-4B71F5FCDB11}"/>
              </a:ext>
            </a:extLst>
          </p:cNvPr>
          <p:cNvSpPr>
            <a:spLocks noGrp="1"/>
          </p:cNvSpPr>
          <p:nvPr>
            <p:ph sz="quarter" idx="1"/>
          </p:nvPr>
        </p:nvSpPr>
        <p:spPr>
          <a:xfrm>
            <a:off x="457200" y="304800"/>
            <a:ext cx="8229600" cy="5821363"/>
          </a:xfrm>
        </p:spPr>
        <p:txBody>
          <a:bodyPr>
            <a:normAutofit fontScale="85000" lnSpcReduction="20000"/>
          </a:bodyPr>
          <a:lstStyle/>
          <a:p>
            <a:pPr marL="274320" indent="-274320" eaLnBrk="1" fontAlgn="auto" hangingPunct="1">
              <a:spcAft>
                <a:spcPts val="0"/>
              </a:spcAft>
              <a:buClr>
                <a:schemeClr val="accent3"/>
              </a:buClr>
              <a:buFont typeface="Arial" charset="0"/>
              <a:buNone/>
              <a:defRPr/>
            </a:pPr>
            <a:r>
              <a:rPr lang="en-US" u="sng" dirty="0"/>
              <a:t>Identifying an industry's driving forces</a:t>
            </a:r>
          </a:p>
          <a:p>
            <a:pPr marL="457200" indent="-457200" eaLnBrk="1" fontAlgn="auto" hangingPunct="1">
              <a:spcAft>
                <a:spcPts val="0"/>
              </a:spcAft>
              <a:buClr>
                <a:schemeClr val="accent3"/>
              </a:buClr>
              <a:buFont typeface="+mj-lt"/>
              <a:buAutoNum type="arabicPeriod"/>
              <a:defRPr/>
            </a:pPr>
            <a:r>
              <a:rPr lang="en-US" dirty="0"/>
              <a:t>Growing use of the internet E.g. opening online booking by railways helped credit card providing and processing companies</a:t>
            </a:r>
          </a:p>
          <a:p>
            <a:pPr marL="457200" indent="-457200" eaLnBrk="1" fontAlgn="auto" hangingPunct="1">
              <a:spcAft>
                <a:spcPts val="0"/>
              </a:spcAft>
              <a:buClr>
                <a:schemeClr val="accent3"/>
              </a:buClr>
              <a:buFont typeface="+mj-lt"/>
              <a:buAutoNum type="arabicPeriod"/>
              <a:defRPr/>
            </a:pPr>
            <a:r>
              <a:rPr lang="en-US" dirty="0"/>
              <a:t>Increasing globalization. E.g. software, </a:t>
            </a:r>
            <a:r>
              <a:rPr lang="en-US" dirty="0" err="1"/>
              <a:t>jewellery</a:t>
            </a:r>
            <a:endParaRPr lang="en-US" dirty="0"/>
          </a:p>
          <a:p>
            <a:pPr marL="457200" indent="-457200" eaLnBrk="1" fontAlgn="auto" hangingPunct="1">
              <a:spcAft>
                <a:spcPts val="0"/>
              </a:spcAft>
              <a:buClr>
                <a:schemeClr val="accent3"/>
              </a:buClr>
              <a:buFont typeface="+mj-lt"/>
              <a:buAutoNum type="arabicPeriod"/>
              <a:defRPr/>
            </a:pPr>
            <a:r>
              <a:rPr lang="en-US" dirty="0"/>
              <a:t>Changes in the long-term industry growth rate. E.g. oral medicines like oral insulin and oral H1N1 drug in pharmaceutical industry </a:t>
            </a:r>
          </a:p>
          <a:p>
            <a:pPr marL="457200" indent="-457200" eaLnBrk="1" fontAlgn="auto" hangingPunct="1">
              <a:spcAft>
                <a:spcPts val="0"/>
              </a:spcAft>
              <a:buClr>
                <a:schemeClr val="accent3"/>
              </a:buClr>
              <a:buFont typeface="+mj-lt"/>
              <a:buAutoNum type="arabicPeriod"/>
              <a:defRPr/>
            </a:pPr>
            <a:r>
              <a:rPr lang="en-US" dirty="0"/>
              <a:t>Changes in who buys the product and how they use it. E.g. travel industry affected by growing number of aged travelers</a:t>
            </a:r>
          </a:p>
          <a:p>
            <a:pPr marL="457200" indent="-457200" eaLnBrk="1" fontAlgn="auto" hangingPunct="1">
              <a:spcAft>
                <a:spcPts val="0"/>
              </a:spcAft>
              <a:buClr>
                <a:schemeClr val="accent3"/>
              </a:buClr>
              <a:buFont typeface="+mj-lt"/>
              <a:buAutoNum type="arabicPeriod"/>
              <a:defRPr/>
            </a:pPr>
            <a:r>
              <a:rPr lang="en-US" dirty="0"/>
              <a:t>Product innovation. E.g. pharmaceutical industry</a:t>
            </a:r>
          </a:p>
          <a:p>
            <a:pPr marL="457200" indent="-457200" eaLnBrk="1" fontAlgn="auto" hangingPunct="1">
              <a:spcAft>
                <a:spcPts val="0"/>
              </a:spcAft>
              <a:buClr>
                <a:schemeClr val="accent3"/>
              </a:buClr>
              <a:buFont typeface="+mj-lt"/>
              <a:buAutoNum type="arabicPeriod"/>
              <a:defRPr/>
            </a:pPr>
            <a:r>
              <a:rPr lang="en-US" dirty="0"/>
              <a:t>Technological change and manufacturing process innovation. E.g. Toyota manufacturing system, drop in call charges drives the BPO industry  </a:t>
            </a:r>
          </a:p>
          <a:p>
            <a:pPr marL="457200" indent="-457200" eaLnBrk="1" fontAlgn="auto" hangingPunct="1">
              <a:spcAft>
                <a:spcPts val="0"/>
              </a:spcAft>
              <a:buClr>
                <a:schemeClr val="accent3"/>
              </a:buClr>
              <a:buFont typeface="+mj-lt"/>
              <a:buAutoNum type="arabicPeriod"/>
              <a:defRPr/>
            </a:pPr>
            <a:r>
              <a:rPr lang="en-US" dirty="0"/>
              <a:t>Marketing innovation. E.g. Introduction of sachet in FMCG</a:t>
            </a:r>
          </a:p>
          <a:p>
            <a:pPr marL="457200" indent="-457200" eaLnBrk="1" fontAlgn="auto" hangingPunct="1">
              <a:spcAft>
                <a:spcPts val="0"/>
              </a:spcAft>
              <a:buClr>
                <a:schemeClr val="accent3"/>
              </a:buClr>
              <a:buFont typeface="+mj-lt"/>
              <a:buAutoNum type="arabicPeriod"/>
              <a:defRPr/>
            </a:pPr>
            <a:r>
              <a:rPr lang="en-US" dirty="0"/>
              <a:t>Entry or exit of major firms. E.g. Retail industry</a:t>
            </a:r>
          </a:p>
          <a:p>
            <a:pPr marL="457200" indent="-457200" eaLnBrk="1" fontAlgn="auto" hangingPunct="1">
              <a:spcAft>
                <a:spcPts val="0"/>
              </a:spcAft>
              <a:buClr>
                <a:schemeClr val="accent3"/>
              </a:buClr>
              <a:buFont typeface="+mj-lt"/>
              <a:buAutoNum type="arabicPeriod"/>
              <a:defRPr/>
            </a:pPr>
            <a:r>
              <a:rPr lang="en-US" dirty="0"/>
              <a:t>Diffusion of technical know-how across more companies and more countries. E.g. software industry</a:t>
            </a:r>
          </a:p>
          <a:p>
            <a:pPr marL="457200" indent="-457200" eaLnBrk="1" fontAlgn="auto" hangingPunct="1">
              <a:spcAft>
                <a:spcPts val="0"/>
              </a:spcAft>
              <a:buClr>
                <a:schemeClr val="accent3"/>
              </a:buClr>
              <a:buFont typeface="+mj-lt"/>
              <a:buAutoNum type="arabicPeriod"/>
              <a:defRPr/>
            </a:pPr>
            <a:r>
              <a:rPr lang="en-US" dirty="0"/>
              <a:t>Changes in cost and efficiency. E.g. wireless service industry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26C600F9-45F9-3427-13F0-624C3FE6C38A}"/>
              </a:ext>
            </a:extLst>
          </p:cNvPr>
          <p:cNvSpPr>
            <a:spLocks noGrp="1"/>
          </p:cNvSpPr>
          <p:nvPr>
            <p:ph sz="quarter" idx="1"/>
          </p:nvPr>
        </p:nvSpPr>
        <p:spPr>
          <a:xfrm>
            <a:off x="304800" y="304800"/>
            <a:ext cx="8229600" cy="5821363"/>
          </a:xfrm>
        </p:spPr>
        <p:txBody>
          <a:bodyPr>
            <a:normAutofit lnSpcReduction="10000"/>
          </a:bodyPr>
          <a:lstStyle/>
          <a:p>
            <a:pPr marL="274320" indent="-274320" eaLnBrk="1" fontAlgn="auto" hangingPunct="1">
              <a:spcAft>
                <a:spcPts val="0"/>
              </a:spcAft>
              <a:buClr>
                <a:schemeClr val="accent3"/>
              </a:buClr>
              <a:buFont typeface="Arial" charset="0"/>
              <a:buNone/>
              <a:defRPr/>
            </a:pPr>
            <a:r>
              <a:rPr lang="en-US" u="sng" dirty="0"/>
              <a:t>Assessing the impact of the driving forces  </a:t>
            </a:r>
          </a:p>
          <a:p>
            <a:pPr marL="274320" indent="-274320" eaLnBrk="1" fontAlgn="auto" hangingPunct="1">
              <a:spcAft>
                <a:spcPts val="0"/>
              </a:spcAft>
              <a:buClr>
                <a:schemeClr val="accent3"/>
              </a:buClr>
              <a:buFont typeface="Arial" charset="0"/>
              <a:buNone/>
              <a:defRPr/>
            </a:pPr>
            <a:r>
              <a:rPr lang="en-US" dirty="0"/>
              <a:t>The assessment of whether the sum effect of all the forces is making the industry more or less attractive can be done by asking the following questions:</a:t>
            </a:r>
          </a:p>
          <a:p>
            <a:pPr marL="457200" indent="-457200" eaLnBrk="1" fontAlgn="auto" hangingPunct="1">
              <a:spcAft>
                <a:spcPts val="0"/>
              </a:spcAft>
              <a:buClr>
                <a:schemeClr val="accent3"/>
              </a:buClr>
              <a:buFont typeface="+mj-lt"/>
              <a:buAutoNum type="arabicPeriod"/>
              <a:defRPr/>
            </a:pPr>
            <a:r>
              <a:rPr lang="en-US" dirty="0"/>
              <a:t>Are the driving forces causing demand for the industry's product to increase or decrease? E.g. low cost cars will increase demand for cars, health awareness will decrease consumption of carbonated drinks </a:t>
            </a:r>
          </a:p>
          <a:p>
            <a:pPr marL="457200" indent="-457200" eaLnBrk="1" fontAlgn="auto" hangingPunct="1">
              <a:spcAft>
                <a:spcPts val="0"/>
              </a:spcAft>
              <a:buClr>
                <a:schemeClr val="accent3"/>
              </a:buClr>
              <a:buFont typeface="+mj-lt"/>
              <a:buAutoNum type="arabicPeriod"/>
              <a:defRPr/>
            </a:pPr>
            <a:r>
              <a:rPr lang="en-US" dirty="0"/>
              <a:t>Are the driving forces acting to make competition more or less intense? E.g. foray into rural markets reduced competition in that sector for FMCG  </a:t>
            </a:r>
          </a:p>
          <a:p>
            <a:pPr marL="457200" indent="-457200" eaLnBrk="1" fontAlgn="auto" hangingPunct="1">
              <a:spcAft>
                <a:spcPts val="0"/>
              </a:spcAft>
              <a:buClr>
                <a:schemeClr val="accent3"/>
              </a:buClr>
              <a:buFont typeface="+mj-lt"/>
              <a:buAutoNum type="arabicPeriod"/>
              <a:defRPr/>
            </a:pPr>
            <a:r>
              <a:rPr lang="en-US" dirty="0"/>
              <a:t>Will the driving forces lead to higher or lower industry profitability? E.g. low cost airlines lower industry profitability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Content Placeholder 2">
            <a:extLst>
              <a:ext uri="{FF2B5EF4-FFF2-40B4-BE49-F238E27FC236}">
                <a16:creationId xmlns="" xmlns:a16="http://schemas.microsoft.com/office/drawing/2014/main" id="{1FD02662-54C1-20D9-066D-566962CAA9C3}"/>
              </a:ext>
            </a:extLst>
          </p:cNvPr>
          <p:cNvSpPr>
            <a:spLocks noGrp="1"/>
          </p:cNvSpPr>
          <p:nvPr>
            <p:ph sz="quarter" idx="1"/>
          </p:nvPr>
        </p:nvSpPr>
        <p:spPr>
          <a:xfrm>
            <a:off x="438630" y="800100"/>
            <a:ext cx="8229600" cy="5897563"/>
          </a:xfrm>
        </p:spPr>
        <p:txBody>
          <a:bodyPr/>
          <a:lstStyle/>
          <a:p>
            <a:pPr eaLnBrk="1" hangingPunct="1">
              <a:buFont typeface="Arial" panose="020B0604020202020204" pitchFamily="34" charset="0"/>
              <a:buNone/>
            </a:pPr>
            <a:endParaRPr lang="en-US" altLang="en-US" dirty="0"/>
          </a:p>
          <a:p>
            <a:pPr eaLnBrk="1" hangingPunct="1">
              <a:buFont typeface="Arial" panose="020B0604020202020204" pitchFamily="34" charset="0"/>
              <a:buNone/>
            </a:pPr>
            <a:r>
              <a:rPr lang="en-US" altLang="en-US" u="sng" dirty="0"/>
              <a:t>Link between driving forces and strategy</a:t>
            </a:r>
          </a:p>
          <a:p>
            <a:pPr eaLnBrk="1" hangingPunct="1">
              <a:buFont typeface="Arial" panose="020B0604020202020204" pitchFamily="34" charset="0"/>
              <a:buNone/>
            </a:pPr>
            <a:endParaRPr lang="en-US" altLang="en-US" u="sng" dirty="0"/>
          </a:p>
          <a:p>
            <a:pPr eaLnBrk="1" hangingPunct="1">
              <a:buFont typeface="Arial" panose="020B0604020202020204" pitchFamily="34" charset="0"/>
              <a:buNone/>
            </a:pPr>
            <a:endParaRPr lang="en-US" altLang="en-US" u="sng" dirty="0"/>
          </a:p>
          <a:p>
            <a:pPr eaLnBrk="1" hangingPunct="1"/>
            <a:r>
              <a:rPr lang="en-US" altLang="en-US" dirty="0"/>
              <a:t>Sound analysis of the industry's driving forces is a prerequisite to sound strategy making.</a:t>
            </a:r>
          </a:p>
          <a:p>
            <a:pPr eaLnBrk="1" hangingPunct="1"/>
            <a:endParaRPr lang="en-US" altLang="en-US" dirty="0"/>
          </a:p>
          <a:p>
            <a:pPr eaLnBrk="1" hangingPunct="1"/>
            <a:r>
              <a:rPr lang="en-US" altLang="en-US" dirty="0"/>
              <a:t>Understanding the forces driving of an industry change and the impacts these forces will have on the character of the industry environment and on the company's business.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Content Placeholder 2">
            <a:extLst>
              <a:ext uri="{FF2B5EF4-FFF2-40B4-BE49-F238E27FC236}">
                <a16:creationId xmlns="" xmlns:a16="http://schemas.microsoft.com/office/drawing/2014/main" id="{AF019BBB-4B39-AD8F-0EAA-A4BAF0105729}"/>
              </a:ext>
            </a:extLst>
          </p:cNvPr>
          <p:cNvSpPr>
            <a:spLocks noGrp="1"/>
          </p:cNvSpPr>
          <p:nvPr>
            <p:ph sz="quarter" idx="1"/>
          </p:nvPr>
        </p:nvSpPr>
        <p:spPr>
          <a:xfrm>
            <a:off x="609600" y="1066800"/>
            <a:ext cx="8229600" cy="5897563"/>
          </a:xfrm>
        </p:spPr>
        <p:txBody>
          <a:bodyPr>
            <a:normAutofit lnSpcReduction="10000"/>
          </a:bodyPr>
          <a:lstStyle/>
          <a:p>
            <a:pPr eaLnBrk="1" hangingPunct="1">
              <a:buFont typeface="Arial" panose="020B0604020202020204" pitchFamily="34" charset="0"/>
              <a:buNone/>
            </a:pPr>
            <a:endParaRPr lang="en-US" altLang="en-US" u="sng" dirty="0"/>
          </a:p>
          <a:p>
            <a:pPr eaLnBrk="1" hangingPunct="1">
              <a:buFont typeface="Arial" panose="020B0604020202020204" pitchFamily="34" charset="0"/>
              <a:buNone/>
            </a:pPr>
            <a:r>
              <a:rPr lang="en-US" altLang="en-US" u="sng" dirty="0"/>
              <a:t>What are the key factors for future competitive success?</a:t>
            </a:r>
          </a:p>
          <a:p>
            <a:pPr eaLnBrk="1" hangingPunct="1"/>
            <a:endParaRPr lang="en-US" altLang="en-US" sz="2200" dirty="0"/>
          </a:p>
          <a:p>
            <a:pPr eaLnBrk="1" hangingPunct="1"/>
            <a:endParaRPr lang="en-US" altLang="en-US" sz="2200" dirty="0"/>
          </a:p>
          <a:p>
            <a:pPr eaLnBrk="1" hangingPunct="1"/>
            <a:r>
              <a:rPr lang="en-US" altLang="en-US" sz="2200" dirty="0"/>
              <a:t>An industry's Key Success Factors (KSF) are those competitive factors that most effect industry members' ability to prosper in the market place.</a:t>
            </a:r>
          </a:p>
          <a:p>
            <a:pPr eaLnBrk="1" hangingPunct="1"/>
            <a:r>
              <a:rPr lang="en-US" altLang="en-US" sz="2200" dirty="0"/>
              <a:t>They can be - the strategy(defense suppliers), product attributes (mobile sets), resources (steel, cement), competencies, competitive capabilities (FMCG) and market achievements.</a:t>
            </a:r>
          </a:p>
          <a:p>
            <a:pPr eaLnBrk="1" hangingPunct="1"/>
            <a:r>
              <a:rPr lang="en-US" altLang="en-US" sz="2200" dirty="0"/>
              <a:t>Identifying KSFs is a top priority analytical and strategy-making consideration. </a:t>
            </a:r>
          </a:p>
          <a:p>
            <a:pPr eaLnBrk="1" hangingPunct="1"/>
            <a:r>
              <a:rPr lang="en-US" altLang="en-US" sz="2200" dirty="0"/>
              <a:t>An industry's KSFs can be deduced from the analysis of the industry and competitive environment.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Content Placeholder 2">
            <a:extLst>
              <a:ext uri="{FF2B5EF4-FFF2-40B4-BE49-F238E27FC236}">
                <a16:creationId xmlns="" xmlns:a16="http://schemas.microsoft.com/office/drawing/2014/main" id="{3AD56F07-D848-630E-D6E3-771AD32E8573}"/>
              </a:ext>
            </a:extLst>
          </p:cNvPr>
          <p:cNvSpPr>
            <a:spLocks noGrp="1"/>
          </p:cNvSpPr>
          <p:nvPr>
            <p:ph sz="quarter" idx="1"/>
          </p:nvPr>
        </p:nvSpPr>
        <p:spPr>
          <a:xfrm>
            <a:off x="457200" y="76200"/>
            <a:ext cx="8229600" cy="5821363"/>
          </a:xfrm>
        </p:spPr>
        <p:txBody>
          <a:bodyPr>
            <a:normAutofit lnSpcReduction="10000"/>
          </a:bodyPr>
          <a:lstStyle/>
          <a:p>
            <a:pPr eaLnBrk="1" hangingPunct="1">
              <a:buFont typeface="Arial" panose="020B0604020202020204" pitchFamily="34" charset="0"/>
              <a:buNone/>
            </a:pPr>
            <a:r>
              <a:rPr lang="en-US" altLang="en-US" dirty="0"/>
              <a:t>Answer to the following questions help identify an industry's Key Success Factors:</a:t>
            </a:r>
          </a:p>
          <a:p>
            <a:pPr eaLnBrk="1" hangingPunct="1">
              <a:buFont typeface="Arial" panose="020B0604020202020204" pitchFamily="34" charset="0"/>
              <a:buNone/>
            </a:pPr>
            <a:r>
              <a:rPr lang="en-US" altLang="en-US" dirty="0"/>
              <a:t>1. On what basis do buyers of the industry's product choose between the competing brands of sellers? What attributes of competitors' product offerings are crucial? </a:t>
            </a:r>
          </a:p>
          <a:p>
            <a:pPr eaLnBrk="1" hangingPunct="1">
              <a:buFont typeface="Arial" panose="020B0604020202020204" pitchFamily="34" charset="0"/>
              <a:buNone/>
            </a:pPr>
            <a:r>
              <a:rPr lang="en-US" altLang="en-US" dirty="0"/>
              <a:t>2. Given the nature of competitive rivalry and the competitive forces prevailing in the marketplace, what resources and competitive capabilities does a company need to have to be competitively successful? E.g. scale of production in automobile, distribution network in FMCG </a:t>
            </a:r>
          </a:p>
          <a:p>
            <a:pPr eaLnBrk="1" hangingPunct="1">
              <a:buFont typeface="Arial" panose="020B0604020202020204" pitchFamily="34" charset="0"/>
              <a:buNone/>
            </a:pPr>
            <a:r>
              <a:rPr lang="en-US" altLang="en-US" dirty="0"/>
              <a:t>3. What shortcomings are almost certain to put a company at a significant competitive disadvantage? e.g. lack of raw material in cement and steel industries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 xmlns:a16="http://schemas.microsoft.com/office/drawing/2014/main" id="{145E7D69-1EA7-916F-7CBF-DF8D3172C899}"/>
              </a:ext>
            </a:extLst>
          </p:cNvPr>
          <p:cNvSpPr>
            <a:spLocks noGrp="1"/>
          </p:cNvSpPr>
          <p:nvPr>
            <p:ph type="title"/>
          </p:nvPr>
        </p:nvSpPr>
        <p:spPr/>
        <p:txBody>
          <a:bodyPr/>
          <a:lstStyle/>
          <a:p>
            <a:pPr eaLnBrk="1" fontAlgn="auto" hangingPunct="1">
              <a:spcAft>
                <a:spcPts val="0"/>
              </a:spcAft>
              <a:defRPr/>
            </a:pPr>
            <a:endParaRPr lang="en-US"/>
          </a:p>
        </p:txBody>
      </p:sp>
      <p:sp>
        <p:nvSpPr>
          <p:cNvPr id="59395" name="Content Placeholder 2">
            <a:extLst>
              <a:ext uri="{FF2B5EF4-FFF2-40B4-BE49-F238E27FC236}">
                <a16:creationId xmlns="" xmlns:a16="http://schemas.microsoft.com/office/drawing/2014/main" id="{60F89022-1BB9-07FF-995F-793C8DF84BE8}"/>
              </a:ext>
            </a:extLst>
          </p:cNvPr>
          <p:cNvSpPr>
            <a:spLocks noGrp="1"/>
          </p:cNvSpPr>
          <p:nvPr>
            <p:ph sz="quarter" idx="1"/>
          </p:nvPr>
        </p:nvSpPr>
        <p:spPr>
          <a:xfrm>
            <a:off x="457200" y="304800"/>
            <a:ext cx="8229600" cy="5821363"/>
          </a:xfrm>
        </p:spPr>
        <p:txBody>
          <a:bodyPr>
            <a:normAutofit fontScale="92500"/>
          </a:bodyPr>
          <a:lstStyle/>
          <a:p>
            <a:pPr marL="274320" indent="-274320" eaLnBrk="1" fontAlgn="auto" hangingPunct="1">
              <a:spcAft>
                <a:spcPts val="0"/>
              </a:spcAft>
              <a:buFont typeface="Wingdings 2" pitchFamily="18" charset="2"/>
              <a:buNone/>
              <a:defRPr/>
            </a:pPr>
            <a:r>
              <a:rPr lang="en-US" sz="2300" dirty="0"/>
              <a:t>Technology related KSFs &amp; Implementation</a:t>
            </a:r>
          </a:p>
          <a:p>
            <a:pPr marL="274320" indent="-274320" eaLnBrk="1" fontAlgn="auto" hangingPunct="1">
              <a:spcAft>
                <a:spcPts val="0"/>
              </a:spcAft>
              <a:buFont typeface="Wingdings"/>
              <a:buChar char=""/>
              <a:defRPr/>
            </a:pPr>
            <a:r>
              <a:rPr lang="en-US" sz="2300" dirty="0"/>
              <a:t>Expertise in a particular technology or in scientific research (important in pharmaceuticals, internet applications, mobile communications, and most high tech industries)</a:t>
            </a:r>
          </a:p>
          <a:p>
            <a:pPr marL="274320" indent="-274320" eaLnBrk="1" fontAlgn="auto" hangingPunct="1">
              <a:spcAft>
                <a:spcPts val="0"/>
              </a:spcAft>
              <a:buFont typeface="Wingdings"/>
              <a:buChar char=""/>
              <a:defRPr/>
            </a:pPr>
            <a:r>
              <a:rPr lang="en-US" sz="2300" dirty="0"/>
              <a:t>Proven ability to improve production processes (important in industries where advancing technology opens the way for higher manufacturing efficiency and lower production costs) e.g. using ERP packages</a:t>
            </a:r>
          </a:p>
          <a:p>
            <a:pPr marL="274320" indent="-274320" eaLnBrk="1" fontAlgn="auto" hangingPunct="1">
              <a:spcAft>
                <a:spcPts val="0"/>
              </a:spcAft>
              <a:buFont typeface="Wingdings 2" pitchFamily="18" charset="2"/>
              <a:buNone/>
              <a:defRPr/>
            </a:pPr>
            <a:endParaRPr lang="en-US" sz="2300" dirty="0"/>
          </a:p>
          <a:p>
            <a:pPr marL="274320" indent="-274320" eaLnBrk="1" fontAlgn="auto" hangingPunct="1">
              <a:spcAft>
                <a:spcPts val="0"/>
              </a:spcAft>
              <a:buFont typeface="Wingdings 2" pitchFamily="18" charset="2"/>
              <a:buNone/>
              <a:defRPr/>
            </a:pPr>
            <a:r>
              <a:rPr lang="en-US" sz="2300" dirty="0"/>
              <a:t>Distribution related KSFs:</a:t>
            </a:r>
          </a:p>
          <a:p>
            <a:pPr marL="274320" indent="-274320" eaLnBrk="1" fontAlgn="auto" hangingPunct="1">
              <a:spcAft>
                <a:spcPts val="0"/>
              </a:spcAft>
              <a:buFont typeface="Wingdings"/>
              <a:buChar char=""/>
              <a:defRPr/>
            </a:pPr>
            <a:r>
              <a:rPr lang="en-US" sz="2300" dirty="0"/>
              <a:t>A strong network of wholesale distributors/dealers</a:t>
            </a:r>
          </a:p>
          <a:p>
            <a:pPr marL="274320" indent="-274320" eaLnBrk="1" fontAlgn="auto" hangingPunct="1">
              <a:spcAft>
                <a:spcPts val="0"/>
              </a:spcAft>
              <a:buFont typeface="Wingdings"/>
              <a:buChar char=""/>
              <a:defRPr/>
            </a:pPr>
            <a:r>
              <a:rPr lang="en-US" sz="2300" dirty="0"/>
              <a:t>Strong direct sales capabilities via the internet and/or having company-owned retail outlets e.g. makemytrip.com, yatra.com</a:t>
            </a:r>
          </a:p>
          <a:p>
            <a:pPr marL="274320" indent="-274320" eaLnBrk="1" fontAlgn="auto" hangingPunct="1">
              <a:spcAft>
                <a:spcPts val="0"/>
              </a:spcAft>
              <a:buFont typeface="Wingdings"/>
              <a:buChar char=""/>
              <a:defRPr/>
            </a:pPr>
            <a:r>
              <a:rPr lang="en-US" sz="2300" dirty="0"/>
              <a:t>Ability to secure favorable display space on retailer shelves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 xmlns:a16="http://schemas.microsoft.com/office/drawing/2014/main" id="{B4C45DD5-E48F-0B3C-7ED3-90A1A7583DA8}"/>
              </a:ext>
            </a:extLst>
          </p:cNvPr>
          <p:cNvSpPr>
            <a:spLocks noGrp="1"/>
          </p:cNvSpPr>
          <p:nvPr>
            <p:ph type="title"/>
          </p:nvPr>
        </p:nvSpPr>
        <p:spPr/>
        <p:txBody>
          <a:bodyPr/>
          <a:lstStyle/>
          <a:p>
            <a:pPr eaLnBrk="1" fontAlgn="auto" hangingPunct="1">
              <a:spcAft>
                <a:spcPts val="0"/>
              </a:spcAft>
              <a:defRPr/>
            </a:pPr>
            <a:endParaRPr lang="en-US"/>
          </a:p>
        </p:txBody>
      </p:sp>
      <p:sp>
        <p:nvSpPr>
          <p:cNvPr id="29699" name="Content Placeholder 2">
            <a:extLst>
              <a:ext uri="{FF2B5EF4-FFF2-40B4-BE49-F238E27FC236}">
                <a16:creationId xmlns="" xmlns:a16="http://schemas.microsoft.com/office/drawing/2014/main" id="{6E217531-EF95-9521-F0C9-ABFEA0916B97}"/>
              </a:ext>
            </a:extLst>
          </p:cNvPr>
          <p:cNvSpPr>
            <a:spLocks noGrp="1"/>
          </p:cNvSpPr>
          <p:nvPr>
            <p:ph sz="quarter" idx="1"/>
          </p:nvPr>
        </p:nvSpPr>
        <p:spPr>
          <a:xfrm>
            <a:off x="457200" y="304800"/>
            <a:ext cx="8229600" cy="5821363"/>
          </a:xfrm>
        </p:spPr>
        <p:txBody>
          <a:bodyPr/>
          <a:lstStyle/>
          <a:p>
            <a:pPr algn="ctr" eaLnBrk="1" hangingPunct="1">
              <a:buFont typeface="Wingdings 2" panose="05020102010507070707" pitchFamily="18" charset="2"/>
              <a:buNone/>
            </a:pPr>
            <a:endParaRPr lang="en-US" altLang="en-US" sz="2300"/>
          </a:p>
          <a:p>
            <a:pPr algn="ctr" eaLnBrk="1" hangingPunct="1">
              <a:buFont typeface="Wingdings 2" panose="05020102010507070707" pitchFamily="18" charset="2"/>
              <a:buNone/>
            </a:pPr>
            <a:r>
              <a:rPr lang="en-US" altLang="en-US" sz="2300"/>
              <a:t>Manufacturing related KSFs &amp; Implementation</a:t>
            </a:r>
          </a:p>
          <a:p>
            <a:pPr eaLnBrk="1" hangingPunct="1"/>
            <a:endParaRPr lang="en-US" altLang="en-US" sz="2100"/>
          </a:p>
          <a:p>
            <a:pPr eaLnBrk="1" hangingPunct="1"/>
            <a:endParaRPr lang="en-US" altLang="en-US" sz="2100"/>
          </a:p>
          <a:p>
            <a:pPr eaLnBrk="1" hangingPunct="1"/>
            <a:r>
              <a:rPr lang="en-US" altLang="en-US" sz="2100"/>
              <a:t>Ability to achieve scale economies and/or capture learning curve effects (important to achieving low production costs) e.g. Tata Motors</a:t>
            </a:r>
          </a:p>
          <a:p>
            <a:pPr eaLnBrk="1" hangingPunct="1">
              <a:buFont typeface="Wingdings" panose="05000000000000000000" pitchFamily="2" charset="2"/>
              <a:buNone/>
            </a:pPr>
            <a:endParaRPr lang="en-US" altLang="en-US" sz="2100"/>
          </a:p>
          <a:p>
            <a:pPr eaLnBrk="1" hangingPunct="1"/>
            <a:r>
              <a:rPr lang="en-US" altLang="en-US" sz="2100"/>
              <a:t>Quality control know- medical equipments.</a:t>
            </a:r>
          </a:p>
          <a:p>
            <a:pPr eaLnBrk="1" hangingPunct="1">
              <a:buFont typeface="Wingdings" panose="05000000000000000000" pitchFamily="2" charset="2"/>
              <a:buNone/>
            </a:pPr>
            <a:endParaRPr lang="en-US" altLang="en-US" sz="2100"/>
          </a:p>
          <a:p>
            <a:pPr eaLnBrk="1" hangingPunct="1"/>
            <a:r>
              <a:rPr lang="en-US" altLang="en-US" sz="2100"/>
              <a:t>High labor productivity (important for items with high labor content) e.g. software sector in India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Content Placeholder 2">
            <a:extLst>
              <a:ext uri="{FF2B5EF4-FFF2-40B4-BE49-F238E27FC236}">
                <a16:creationId xmlns="" xmlns:a16="http://schemas.microsoft.com/office/drawing/2014/main" id="{07C9B1C3-95F7-D2C9-C335-297C0AAFE455}"/>
              </a:ext>
            </a:extLst>
          </p:cNvPr>
          <p:cNvSpPr>
            <a:spLocks noGrp="1"/>
          </p:cNvSpPr>
          <p:nvPr>
            <p:ph sz="quarter" idx="1"/>
          </p:nvPr>
        </p:nvSpPr>
        <p:spPr>
          <a:xfrm>
            <a:off x="381000" y="304800"/>
            <a:ext cx="8229600" cy="5821363"/>
          </a:xfrm>
        </p:spPr>
        <p:txBody>
          <a:bodyPr/>
          <a:lstStyle/>
          <a:p>
            <a:pPr algn="ctr" eaLnBrk="1" hangingPunct="1">
              <a:buFont typeface="Wingdings 2" panose="05020102010507070707" pitchFamily="18" charset="2"/>
              <a:buNone/>
            </a:pPr>
            <a:endParaRPr lang="en-US" altLang="en-US" sz="2300" dirty="0"/>
          </a:p>
          <a:p>
            <a:pPr algn="ctr" eaLnBrk="1" hangingPunct="1">
              <a:buFont typeface="Wingdings 2" panose="05020102010507070707" pitchFamily="18" charset="2"/>
              <a:buNone/>
            </a:pPr>
            <a:r>
              <a:rPr lang="en-US" altLang="en-US" sz="2300" dirty="0"/>
              <a:t>Marketing related KSFs &amp; &amp; Implementation</a:t>
            </a:r>
          </a:p>
          <a:p>
            <a:pPr algn="ctr" eaLnBrk="1" hangingPunct="1">
              <a:buFont typeface="Wingdings 2" panose="05020102010507070707" pitchFamily="18" charset="2"/>
              <a:buNone/>
            </a:pPr>
            <a:endParaRPr lang="en-US" altLang="en-US" sz="2300" dirty="0"/>
          </a:p>
          <a:p>
            <a:pPr eaLnBrk="1" hangingPunct="1"/>
            <a:r>
              <a:rPr lang="en-US" altLang="en-US" sz="2300" dirty="0"/>
              <a:t>Fast, accurate technical assistance e.g. BPO sector</a:t>
            </a:r>
          </a:p>
          <a:p>
            <a:pPr eaLnBrk="1" hangingPunct="1"/>
            <a:r>
              <a:rPr lang="en-US" altLang="en-US" sz="2300" dirty="0"/>
              <a:t>Courteous, personalized customer service e.g. Hospitality industry</a:t>
            </a:r>
          </a:p>
          <a:p>
            <a:pPr eaLnBrk="1" hangingPunct="1"/>
            <a:r>
              <a:rPr lang="en-US" altLang="en-US" sz="2300" dirty="0"/>
              <a:t>Accurate filling of buyer orders (few back orders or mistakes)e.g. Online ordering system of Dell</a:t>
            </a:r>
          </a:p>
          <a:p>
            <a:pPr eaLnBrk="1" hangingPunct="1"/>
            <a:r>
              <a:rPr lang="en-US" altLang="en-US" sz="2300" dirty="0"/>
              <a:t>Customer guarantees and warranties e.g. Chevrolet promise of no service charges for 3 years</a:t>
            </a:r>
          </a:p>
          <a:p>
            <a:pPr eaLnBrk="1" hangingPunct="1"/>
            <a:r>
              <a:rPr lang="en-US" altLang="en-US" sz="2300" dirty="0"/>
              <a:t>Clever advertising e.g. FMCG sector</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 xmlns:a16="http://schemas.microsoft.com/office/drawing/2014/main" id="{626F87ED-C0F5-0E11-07AE-4EB5D813CBEA}"/>
              </a:ext>
            </a:extLst>
          </p:cNvPr>
          <p:cNvSpPr>
            <a:spLocks noGrp="1"/>
          </p:cNvSpPr>
          <p:nvPr>
            <p:ph type="title"/>
          </p:nvPr>
        </p:nvSpPr>
        <p:spPr/>
        <p:txBody>
          <a:bodyPr/>
          <a:lstStyle/>
          <a:p>
            <a:pPr eaLnBrk="1" fontAlgn="auto" hangingPunct="1">
              <a:spcAft>
                <a:spcPts val="0"/>
              </a:spcAft>
              <a:defRPr/>
            </a:pPr>
            <a:endParaRPr lang="en-US"/>
          </a:p>
        </p:txBody>
      </p:sp>
      <p:sp>
        <p:nvSpPr>
          <p:cNvPr id="31747" name="Content Placeholder 2">
            <a:extLst>
              <a:ext uri="{FF2B5EF4-FFF2-40B4-BE49-F238E27FC236}">
                <a16:creationId xmlns="" xmlns:a16="http://schemas.microsoft.com/office/drawing/2014/main" id="{10A4FE5C-9B3A-AEE3-CA56-42EBB00F5EFE}"/>
              </a:ext>
            </a:extLst>
          </p:cNvPr>
          <p:cNvSpPr>
            <a:spLocks noGrp="1"/>
          </p:cNvSpPr>
          <p:nvPr>
            <p:ph sz="quarter" idx="1"/>
          </p:nvPr>
        </p:nvSpPr>
        <p:spPr>
          <a:xfrm>
            <a:off x="457200" y="304800"/>
            <a:ext cx="8229600" cy="5821363"/>
          </a:xfrm>
        </p:spPr>
        <p:txBody>
          <a:bodyPr>
            <a:normAutofit fontScale="92500"/>
          </a:bodyPr>
          <a:lstStyle/>
          <a:p>
            <a:pPr algn="ctr" eaLnBrk="1" hangingPunct="1">
              <a:buFont typeface="Wingdings 2" panose="05020102010507070707" pitchFamily="18" charset="2"/>
              <a:buNone/>
            </a:pPr>
            <a:endParaRPr lang="en-US" altLang="en-US" sz="2300"/>
          </a:p>
          <a:p>
            <a:pPr algn="ctr" eaLnBrk="1" hangingPunct="1">
              <a:buFont typeface="Wingdings 2" panose="05020102010507070707" pitchFamily="18" charset="2"/>
              <a:buNone/>
            </a:pPr>
            <a:r>
              <a:rPr lang="en-US" altLang="en-US" sz="2300"/>
              <a:t>Skills and capability related KSFs &amp; Implementation</a:t>
            </a:r>
          </a:p>
          <a:p>
            <a:pPr eaLnBrk="1" hangingPunct="1">
              <a:buFont typeface="Wingdings 2" panose="05020102010507070707" pitchFamily="18" charset="2"/>
              <a:buNone/>
            </a:pPr>
            <a:endParaRPr lang="en-US" altLang="en-US" sz="2300"/>
          </a:p>
          <a:p>
            <a:pPr eaLnBrk="1" hangingPunct="1"/>
            <a:r>
              <a:rPr lang="en-US" altLang="en-US" sz="2200"/>
              <a:t>A talented workplace (superior talent is important in professional services like accounting and investment banking)</a:t>
            </a:r>
          </a:p>
          <a:p>
            <a:pPr eaLnBrk="1" hangingPunct="1"/>
            <a:r>
              <a:rPr lang="en-US" altLang="en-US" sz="2200"/>
              <a:t>National or global distribution capabilities</a:t>
            </a:r>
          </a:p>
          <a:p>
            <a:pPr eaLnBrk="1" hangingPunct="1"/>
            <a:r>
              <a:rPr lang="en-US" altLang="en-US" sz="2200"/>
              <a:t>Product innovation capabilities (important in industries where rivals are racing to be first to market with new product attributes or performance features) e.g. Pharmaceutical </a:t>
            </a:r>
          </a:p>
          <a:p>
            <a:pPr eaLnBrk="1" hangingPunct="1"/>
            <a:r>
              <a:rPr lang="en-US" altLang="en-US" sz="2200"/>
              <a:t>Design expertise (important in fashion and apparel industries)</a:t>
            </a:r>
          </a:p>
          <a:p>
            <a:pPr eaLnBrk="1" hangingPunct="1"/>
            <a:r>
              <a:rPr lang="en-US" altLang="en-US" sz="2200"/>
              <a:t>Short-delivery-time capability e.g. Advertising</a:t>
            </a:r>
          </a:p>
          <a:p>
            <a:pPr eaLnBrk="1" hangingPunct="1"/>
            <a:r>
              <a:rPr lang="en-US" altLang="en-US" sz="2200"/>
              <a:t>Supply chain management capabilities e.g. FMCG, Automobiles</a:t>
            </a:r>
          </a:p>
          <a:p>
            <a:pPr eaLnBrk="1" hangingPunct="1"/>
            <a:r>
              <a:rPr lang="en-US" altLang="en-US" sz="2200"/>
              <a:t>Strong e-commerce capabilities -</a:t>
            </a:r>
            <a:endParaRPr lang="en-US" altLang="en-US" sz="23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2">
            <a:extLst>
              <a:ext uri="{FF2B5EF4-FFF2-40B4-BE49-F238E27FC236}">
                <a16:creationId xmlns="" xmlns:a16="http://schemas.microsoft.com/office/drawing/2014/main" id="{10517999-0063-8553-325F-B3566D5119DC}"/>
              </a:ext>
            </a:extLst>
          </p:cNvPr>
          <p:cNvSpPr>
            <a:spLocks noGrp="1"/>
          </p:cNvSpPr>
          <p:nvPr>
            <p:ph sz="quarter" idx="1"/>
          </p:nvPr>
        </p:nvSpPr>
        <p:spPr>
          <a:xfrm>
            <a:off x="914400" y="609600"/>
            <a:ext cx="7467600" cy="5864225"/>
          </a:xfrm>
        </p:spPr>
        <p:txBody>
          <a:bodyPr/>
          <a:lstStyle/>
          <a:p>
            <a:pPr algn="ctr">
              <a:buFont typeface="Wingdings" panose="05000000000000000000" pitchFamily="2" charset="2"/>
              <a:buNone/>
            </a:pPr>
            <a:r>
              <a:rPr lang="en-US" altLang="en-US" sz="2800" b="1">
                <a:solidFill>
                  <a:srgbClr val="00B0F0"/>
                </a:solidFill>
                <a:latin typeface="Times New Roman" panose="02020603050405020304" pitchFamily="18" charset="0"/>
                <a:cs typeface="Times New Roman" panose="02020603050405020304" pitchFamily="18" charset="0"/>
              </a:rPr>
              <a:t>Case Study </a:t>
            </a:r>
          </a:p>
          <a:p>
            <a:pPr algn="ctr">
              <a:buFont typeface="Wingdings" panose="05000000000000000000" pitchFamily="2" charset="2"/>
              <a:buNone/>
            </a:pPr>
            <a:r>
              <a:rPr lang="en-US" altLang="en-US" sz="2800" b="1">
                <a:solidFill>
                  <a:srgbClr val="00B0F0"/>
                </a:solidFill>
                <a:latin typeface="Times New Roman" panose="02020603050405020304" pitchFamily="18" charset="0"/>
                <a:cs typeface="Times New Roman" panose="02020603050405020304" pitchFamily="18" charset="0"/>
              </a:rPr>
              <a:t>Amul – Implementing Key Success Factors</a:t>
            </a:r>
          </a:p>
          <a:p>
            <a:pPr algn="ctr">
              <a:buFont typeface="Wingdings" panose="05000000000000000000" pitchFamily="2" charset="2"/>
              <a:buNone/>
            </a:pPr>
            <a:endParaRPr lang="en-US" altLang="en-US" sz="2800" b="1">
              <a:solidFill>
                <a:srgbClr val="00B0F0"/>
              </a:solidFill>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en-US" b="1"/>
              <a:t>   </a:t>
            </a:r>
            <a:r>
              <a:rPr lang="en-US" altLang="en-US">
                <a:latin typeface="Times New Roman" panose="02020603050405020304" pitchFamily="18" charset="0"/>
                <a:cs typeface="Times New Roman" panose="02020603050405020304" pitchFamily="18" charset="0"/>
              </a:rPr>
              <a:t>Company: Amul (Anand Milk Union Limited)</a:t>
            </a:r>
            <a:br>
              <a:rPr lang="en-US" altLang="en-US">
                <a:latin typeface="Times New Roman" panose="02020603050405020304" pitchFamily="18" charset="0"/>
                <a:cs typeface="Times New Roman" panose="02020603050405020304" pitchFamily="18" charset="0"/>
              </a:rPr>
            </a:br>
            <a:r>
              <a:rPr lang="en-US" altLang="en-US">
                <a:latin typeface="Times New Roman" panose="02020603050405020304" pitchFamily="18" charset="0"/>
                <a:cs typeface="Times New Roman" panose="02020603050405020304" pitchFamily="18" charset="0"/>
              </a:rPr>
              <a:t>Industry: Dairy/FMCG</a:t>
            </a:r>
            <a:br>
              <a:rPr lang="en-US" altLang="en-US">
                <a:latin typeface="Times New Roman" panose="02020603050405020304" pitchFamily="18" charset="0"/>
                <a:cs typeface="Times New Roman" panose="02020603050405020304" pitchFamily="18" charset="0"/>
              </a:rPr>
            </a:br>
            <a:r>
              <a:rPr lang="en-US" altLang="en-US">
                <a:latin typeface="Times New Roman" panose="02020603050405020304" pitchFamily="18" charset="0"/>
                <a:cs typeface="Times New Roman" panose="02020603050405020304" pitchFamily="18" charset="0"/>
              </a:rPr>
              <a:t>Founded: 1946</a:t>
            </a:r>
            <a:br>
              <a:rPr lang="en-US" altLang="en-US">
                <a:latin typeface="Times New Roman" panose="02020603050405020304" pitchFamily="18" charset="0"/>
                <a:cs typeface="Times New Roman" panose="02020603050405020304" pitchFamily="18" charset="0"/>
              </a:rPr>
            </a:br>
            <a:r>
              <a:rPr lang="en-US" altLang="en-US">
                <a:latin typeface="Times New Roman" panose="02020603050405020304" pitchFamily="18" charset="0"/>
                <a:cs typeface="Times New Roman" panose="02020603050405020304" pitchFamily="18" charset="0"/>
              </a:rPr>
              <a:t>Headquarters: Anand, Gujarat</a:t>
            </a:r>
            <a:br>
              <a:rPr lang="en-US" altLang="en-US">
                <a:latin typeface="Times New Roman" panose="02020603050405020304" pitchFamily="18" charset="0"/>
                <a:cs typeface="Times New Roman" panose="02020603050405020304" pitchFamily="18" charset="0"/>
              </a:rPr>
            </a:br>
            <a:r>
              <a:rPr lang="en-US" altLang="en-US">
                <a:latin typeface="Times New Roman" panose="02020603050405020304" pitchFamily="18" charset="0"/>
                <a:cs typeface="Times New Roman" panose="02020603050405020304" pitchFamily="18" charset="0"/>
              </a:rPr>
              <a:t>Type: Cooperative, managed by Gujarat Cooperative Milk Marketing Federation (GCMMF)</a:t>
            </a:r>
          </a:p>
          <a:p>
            <a:pPr>
              <a:buFont typeface="Wingdings" panose="05000000000000000000" pitchFamily="2" charset="2"/>
              <a:buNone/>
            </a:pPr>
            <a:endParaRPr lang="en-US" altLang="en-US">
              <a:solidFill>
                <a:srgbClr val="00B0F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2">
            <a:extLst>
              <a:ext uri="{FF2B5EF4-FFF2-40B4-BE49-F238E27FC236}">
                <a16:creationId xmlns="" xmlns:a16="http://schemas.microsoft.com/office/drawing/2014/main" id="{ABEB8CF3-5E27-B37B-0DAB-57EBC6DEBA4F}"/>
              </a:ext>
            </a:extLst>
          </p:cNvPr>
          <p:cNvSpPr>
            <a:spLocks noGrp="1"/>
          </p:cNvSpPr>
          <p:nvPr>
            <p:ph sz="quarter" idx="1"/>
          </p:nvPr>
        </p:nvSpPr>
        <p:spPr>
          <a:xfrm>
            <a:off x="457200" y="304800"/>
            <a:ext cx="7924800" cy="6169025"/>
          </a:xfrm>
        </p:spPr>
        <p:txBody>
          <a:bodyPr/>
          <a:lstStyle/>
          <a:p>
            <a:pPr>
              <a:buFont typeface="Wingdings" panose="05000000000000000000" pitchFamily="2" charset="2"/>
              <a:buNone/>
            </a:pPr>
            <a:endParaRPr lang="en-US" altLang="en-US" sz="2800" b="1">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en-US" sz="2800" b="1">
                <a:solidFill>
                  <a:srgbClr val="FF0000"/>
                </a:solidFill>
                <a:latin typeface="Times New Roman" panose="02020603050405020304" pitchFamily="18" charset="0"/>
                <a:cs typeface="Times New Roman" panose="02020603050405020304" pitchFamily="18" charset="0"/>
              </a:rPr>
              <a:t>  1. Strong Supply Chain Integration</a:t>
            </a:r>
          </a:p>
          <a:p>
            <a:pPr>
              <a:buFont typeface="Wingdings" panose="05000000000000000000" pitchFamily="2" charset="2"/>
              <a:buNone/>
            </a:pPr>
            <a:r>
              <a:rPr lang="en-US" altLang="en-US">
                <a:latin typeface="Times New Roman" panose="02020603050405020304" pitchFamily="18" charset="0"/>
                <a:cs typeface="Times New Roman" panose="02020603050405020304" pitchFamily="18" charset="0"/>
              </a:rPr>
              <a:t>    </a:t>
            </a:r>
          </a:p>
          <a:p>
            <a:pPr>
              <a:buFont typeface="Wingdings" panose="05000000000000000000" pitchFamily="2" charset="2"/>
              <a:buNone/>
            </a:pPr>
            <a:r>
              <a:rPr lang="en-US" altLang="en-US">
                <a:latin typeface="Times New Roman" panose="02020603050405020304" pitchFamily="18" charset="0"/>
                <a:cs typeface="Times New Roman" panose="02020603050405020304" pitchFamily="18" charset="0"/>
              </a:rPr>
              <a:t>   Amul created a three-tier cooperative structure involving milk producers, village societies, and district unions.</a:t>
            </a:r>
          </a:p>
          <a:p>
            <a:pPr>
              <a:buFont typeface="Wingdings" panose="05000000000000000000" pitchFamily="2" charset="2"/>
              <a:buNone/>
            </a:pPr>
            <a:r>
              <a:rPr lang="en-US" altLang="en-US">
                <a:latin typeface="Times New Roman" panose="02020603050405020304" pitchFamily="18" charset="0"/>
                <a:cs typeface="Times New Roman" panose="02020603050405020304" pitchFamily="18" charset="0"/>
              </a:rPr>
              <a:t>   </a:t>
            </a:r>
          </a:p>
          <a:p>
            <a:pPr>
              <a:buFont typeface="Wingdings" panose="05000000000000000000" pitchFamily="2" charset="2"/>
              <a:buNone/>
            </a:pPr>
            <a:r>
              <a:rPr lang="en-US" altLang="en-US">
                <a:latin typeface="Times New Roman" panose="02020603050405020304" pitchFamily="18" charset="0"/>
                <a:cs typeface="Times New Roman" panose="02020603050405020304" pitchFamily="18" charset="0"/>
              </a:rPr>
              <a:t>   This model ensures direct procurement from farmers, reducing middlemen and increasing farmer income.</a:t>
            </a:r>
          </a:p>
          <a:p>
            <a:pPr>
              <a:buFont typeface="Wingdings" panose="05000000000000000000" pitchFamily="2" charset="2"/>
              <a:buNone/>
            </a:pPr>
            <a:r>
              <a:rPr lang="en-US" altLang="en-US">
                <a:latin typeface="Times New Roman" panose="02020603050405020304" pitchFamily="18" charset="0"/>
                <a:cs typeface="Times New Roman" panose="02020603050405020304" pitchFamily="18" charset="0"/>
              </a:rPr>
              <a:t>   </a:t>
            </a:r>
          </a:p>
          <a:p>
            <a:pPr>
              <a:buFont typeface="Wingdings" panose="05000000000000000000" pitchFamily="2" charset="2"/>
              <a:buNone/>
            </a:pPr>
            <a:r>
              <a:rPr lang="en-US" altLang="en-US" i="1">
                <a:latin typeface="Times New Roman" panose="02020603050405020304" pitchFamily="18" charset="0"/>
                <a:cs typeface="Times New Roman" panose="02020603050405020304" pitchFamily="18" charset="0"/>
              </a:rPr>
              <a:t>   Impact:</a:t>
            </a:r>
            <a:r>
              <a:rPr lang="en-US" altLang="en-US">
                <a:latin typeface="Times New Roman" panose="02020603050405020304" pitchFamily="18" charset="0"/>
                <a:cs typeface="Times New Roman" panose="02020603050405020304" pitchFamily="18" charset="0"/>
              </a:rPr>
              <a:t> Ensures consistent milk supply and cost efficiency.</a:t>
            </a:r>
          </a:p>
          <a:p>
            <a:pPr>
              <a:buFont typeface="Wingdings" panose="05000000000000000000" pitchFamily="2" charset="2"/>
              <a:buNone/>
            </a:pPr>
            <a:endParaRPr lang="en-US"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Content Placeholder 2">
            <a:extLst>
              <a:ext uri="{FF2B5EF4-FFF2-40B4-BE49-F238E27FC236}">
                <a16:creationId xmlns="" xmlns:a16="http://schemas.microsoft.com/office/drawing/2014/main" id="{3F8F2D01-952F-2C8F-C480-637074F66BF1}"/>
              </a:ext>
            </a:extLst>
          </p:cNvPr>
          <p:cNvSpPr>
            <a:spLocks noGrp="1"/>
          </p:cNvSpPr>
          <p:nvPr>
            <p:ph sz="quarter" idx="1"/>
          </p:nvPr>
        </p:nvSpPr>
        <p:spPr>
          <a:xfrm>
            <a:off x="457200" y="457200"/>
            <a:ext cx="7924800" cy="6016625"/>
          </a:xfrm>
        </p:spPr>
        <p:txBody>
          <a:bodyPr/>
          <a:lstStyle/>
          <a:p>
            <a:pPr>
              <a:buFont typeface="Wingdings" panose="05000000000000000000" pitchFamily="2" charset="2"/>
              <a:buNone/>
            </a:pPr>
            <a:endParaRPr lang="en-US" altLang="en-US" sz="280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en-US" sz="2800">
                <a:solidFill>
                  <a:srgbClr val="FF0000"/>
                </a:solidFill>
                <a:latin typeface="Times New Roman" panose="02020603050405020304" pitchFamily="18" charset="0"/>
                <a:cs typeface="Times New Roman" panose="02020603050405020304" pitchFamily="18" charset="0"/>
              </a:rPr>
              <a:t>  2. Brand Trust and Recognition</a:t>
            </a:r>
          </a:p>
          <a:p>
            <a:pPr>
              <a:buFont typeface="Wingdings" panose="05000000000000000000" pitchFamily="2" charset="2"/>
              <a:buNone/>
            </a:pPr>
            <a:r>
              <a:rPr lang="en-US" altLang="en-US">
                <a:latin typeface="Times New Roman" panose="02020603050405020304" pitchFamily="18" charset="0"/>
                <a:cs typeface="Times New Roman" panose="02020603050405020304" pitchFamily="18" charset="0"/>
              </a:rPr>
              <a:t>   </a:t>
            </a:r>
          </a:p>
          <a:p>
            <a:pPr>
              <a:buFont typeface="Wingdings" panose="05000000000000000000" pitchFamily="2" charset="2"/>
              <a:buNone/>
            </a:pPr>
            <a:r>
              <a:rPr lang="en-US" altLang="en-US">
                <a:latin typeface="Times New Roman" panose="02020603050405020304" pitchFamily="18" charset="0"/>
                <a:cs typeface="Times New Roman" panose="02020603050405020304" pitchFamily="18" charset="0"/>
              </a:rPr>
              <a:t>   The iconic "Amul Girl" mascot and campaigns like </a:t>
            </a:r>
            <a:r>
              <a:rPr lang="en-US" altLang="en-US" i="1">
                <a:latin typeface="Times New Roman" panose="02020603050405020304" pitchFamily="18" charset="0"/>
                <a:cs typeface="Times New Roman" panose="02020603050405020304" pitchFamily="18" charset="0"/>
              </a:rPr>
              <a:t>"Utterly Butterly Delicious"</a:t>
            </a:r>
            <a:r>
              <a:rPr lang="en-US" altLang="en-US">
                <a:latin typeface="Times New Roman" panose="02020603050405020304" pitchFamily="18" charset="0"/>
                <a:cs typeface="Times New Roman" panose="02020603050405020304" pitchFamily="18" charset="0"/>
              </a:rPr>
              <a:t> built massive consumer trust.</a:t>
            </a:r>
          </a:p>
          <a:p>
            <a:pPr>
              <a:buFont typeface="Wingdings" panose="05000000000000000000" pitchFamily="2" charset="2"/>
              <a:buNone/>
            </a:pPr>
            <a:r>
              <a:rPr lang="en-US" altLang="en-US">
                <a:latin typeface="Times New Roman" panose="02020603050405020304" pitchFamily="18" charset="0"/>
                <a:cs typeface="Times New Roman" panose="02020603050405020304" pitchFamily="18" charset="0"/>
              </a:rPr>
              <a:t>    </a:t>
            </a:r>
          </a:p>
          <a:p>
            <a:pPr>
              <a:buFont typeface="Wingdings" panose="05000000000000000000" pitchFamily="2" charset="2"/>
              <a:buNone/>
            </a:pPr>
            <a:r>
              <a:rPr lang="en-US" altLang="en-US">
                <a:latin typeface="Times New Roman" panose="02020603050405020304" pitchFamily="18" charset="0"/>
                <a:cs typeface="Times New Roman" panose="02020603050405020304" pitchFamily="18" charset="0"/>
              </a:rPr>
              <a:t>   Amul is known for consistent  </a:t>
            </a:r>
          </a:p>
          <a:p>
            <a:pPr>
              <a:buFont typeface="Wingdings" panose="05000000000000000000" pitchFamily="2" charset="2"/>
              <a:buNone/>
            </a:pPr>
            <a:r>
              <a:rPr lang="en-US" altLang="en-US">
                <a:latin typeface="Times New Roman" panose="02020603050405020304" pitchFamily="18" charset="0"/>
                <a:cs typeface="Times New Roman" panose="02020603050405020304" pitchFamily="18" charset="0"/>
              </a:rPr>
              <a:t>  </a:t>
            </a:r>
          </a:p>
          <a:p>
            <a:pPr>
              <a:buFont typeface="Wingdings" panose="05000000000000000000" pitchFamily="2" charset="2"/>
              <a:buNone/>
            </a:pPr>
            <a:r>
              <a:rPr lang="en-US" altLang="en-US" i="1">
                <a:latin typeface="Times New Roman" panose="02020603050405020304" pitchFamily="18" charset="0"/>
                <a:cs typeface="Times New Roman" panose="02020603050405020304" pitchFamily="18" charset="0"/>
              </a:rPr>
              <a:t>  Impact:</a:t>
            </a:r>
            <a:r>
              <a:rPr lang="en-US" altLang="en-US">
                <a:latin typeface="Times New Roman" panose="02020603050405020304" pitchFamily="18" charset="0"/>
                <a:cs typeface="Times New Roman" panose="02020603050405020304" pitchFamily="18" charset="0"/>
              </a:rPr>
              <a:t> Strong brand recall across urban and rural India.</a:t>
            </a:r>
          </a:p>
          <a:p>
            <a:pPr>
              <a:buFont typeface="Wingdings" panose="05000000000000000000" pitchFamily="2" charset="2"/>
              <a:buNone/>
            </a:pPr>
            <a:endParaRPr lang="en-US" altLang="en-US" sz="280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None/>
            </a:pP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2">
            <a:extLst>
              <a:ext uri="{FF2B5EF4-FFF2-40B4-BE49-F238E27FC236}">
                <a16:creationId xmlns="" xmlns:a16="http://schemas.microsoft.com/office/drawing/2014/main" id="{32413E6D-D11D-0246-F767-5FD3C6A5F3B2}"/>
              </a:ext>
            </a:extLst>
          </p:cNvPr>
          <p:cNvSpPr>
            <a:spLocks noGrp="1"/>
          </p:cNvSpPr>
          <p:nvPr>
            <p:ph sz="quarter" idx="1"/>
          </p:nvPr>
        </p:nvSpPr>
        <p:spPr>
          <a:xfrm>
            <a:off x="457200" y="457200"/>
            <a:ext cx="7924800" cy="6016625"/>
          </a:xfrm>
        </p:spPr>
        <p:txBody>
          <a:bodyPr/>
          <a:lstStyle/>
          <a:p>
            <a:pPr>
              <a:buFont typeface="Wingdings" panose="05000000000000000000" pitchFamily="2" charset="2"/>
              <a:buNone/>
            </a:pPr>
            <a:endParaRPr lang="en-US" altLang="en-US" sz="280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en-US" sz="2800">
                <a:solidFill>
                  <a:srgbClr val="FF0000"/>
                </a:solidFill>
                <a:latin typeface="Times New Roman" panose="02020603050405020304" pitchFamily="18" charset="0"/>
                <a:cs typeface="Times New Roman" panose="02020603050405020304" pitchFamily="18" charset="0"/>
              </a:rPr>
              <a:t>  3. Product Diversification and Innovation</a:t>
            </a:r>
          </a:p>
          <a:p>
            <a:pPr>
              <a:buFont typeface="Wingdings" panose="05000000000000000000" pitchFamily="2" charset="2"/>
              <a:buNone/>
            </a:pPr>
            <a:r>
              <a:rPr lang="en-US" altLang="en-US">
                <a:latin typeface="Times New Roman" panose="02020603050405020304" pitchFamily="18" charset="0"/>
                <a:cs typeface="Times New Roman" panose="02020603050405020304" pitchFamily="18" charset="0"/>
              </a:rPr>
              <a:t>   </a:t>
            </a:r>
          </a:p>
          <a:p>
            <a:pPr>
              <a:buFont typeface="Wingdings" panose="05000000000000000000" pitchFamily="2" charset="2"/>
              <a:buNone/>
            </a:pPr>
            <a:r>
              <a:rPr lang="en-US" altLang="en-US">
                <a:latin typeface="Times New Roman" panose="02020603050405020304" pitchFamily="18" charset="0"/>
                <a:cs typeface="Times New Roman" panose="02020603050405020304" pitchFamily="18" charset="0"/>
              </a:rPr>
              <a:t>    From basic dairy products (milk, butter, ghee) to ice creams, cheese, chocolates, and beverages, Amul has expanded across categories.</a:t>
            </a:r>
          </a:p>
          <a:p>
            <a:pPr>
              <a:buFont typeface="Wingdings" panose="05000000000000000000" pitchFamily="2" charset="2"/>
              <a:buNone/>
            </a:pPr>
            <a:r>
              <a:rPr lang="en-US" altLang="en-US">
                <a:latin typeface="Times New Roman" panose="02020603050405020304" pitchFamily="18" charset="0"/>
                <a:cs typeface="Times New Roman" panose="02020603050405020304" pitchFamily="18" charset="0"/>
              </a:rPr>
              <a:t>   </a:t>
            </a:r>
          </a:p>
          <a:p>
            <a:pPr>
              <a:buFont typeface="Wingdings" panose="05000000000000000000" pitchFamily="2" charset="2"/>
              <a:buNone/>
            </a:pPr>
            <a:r>
              <a:rPr lang="en-US" altLang="en-US">
                <a:latin typeface="Times New Roman" panose="02020603050405020304" pitchFamily="18" charset="0"/>
                <a:cs typeface="Times New Roman" panose="02020603050405020304" pitchFamily="18" charset="0"/>
              </a:rPr>
              <a:t>    Launched products like Amul Kool, Amul Gold Milk, and Camel Milk to cater to niche and health-conscious markets.</a:t>
            </a:r>
          </a:p>
          <a:p>
            <a:pPr>
              <a:buFont typeface="Wingdings" panose="05000000000000000000" pitchFamily="2" charset="2"/>
              <a:buNone/>
            </a:pPr>
            <a:r>
              <a:rPr lang="en-US" altLang="en-US" i="1">
                <a:latin typeface="Times New Roman" panose="02020603050405020304" pitchFamily="18" charset="0"/>
                <a:cs typeface="Times New Roman" panose="02020603050405020304" pitchFamily="18" charset="0"/>
              </a:rPr>
              <a:t>    </a:t>
            </a:r>
          </a:p>
          <a:p>
            <a:pPr>
              <a:buFont typeface="Wingdings" panose="05000000000000000000" pitchFamily="2" charset="2"/>
              <a:buNone/>
            </a:pPr>
            <a:r>
              <a:rPr lang="en-US" altLang="en-US" i="1">
                <a:latin typeface="Times New Roman" panose="02020603050405020304" pitchFamily="18" charset="0"/>
                <a:cs typeface="Times New Roman" panose="02020603050405020304" pitchFamily="18" charset="0"/>
              </a:rPr>
              <a:t>   Impact:</a:t>
            </a:r>
            <a:r>
              <a:rPr lang="en-US" altLang="en-US">
                <a:latin typeface="Times New Roman" panose="02020603050405020304" pitchFamily="18" charset="0"/>
                <a:cs typeface="Times New Roman" panose="02020603050405020304" pitchFamily="18" charset="0"/>
              </a:rPr>
              <a:t> Increased market share and customer base.</a:t>
            </a:r>
          </a:p>
          <a:p>
            <a:endParaRPr lang="en-US"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Content Placeholder 2">
            <a:extLst>
              <a:ext uri="{FF2B5EF4-FFF2-40B4-BE49-F238E27FC236}">
                <a16:creationId xmlns="" xmlns:a16="http://schemas.microsoft.com/office/drawing/2014/main" id="{8FECDB2B-DF41-F6BB-8377-F8E74200964E}"/>
              </a:ext>
            </a:extLst>
          </p:cNvPr>
          <p:cNvSpPr>
            <a:spLocks noGrp="1"/>
          </p:cNvSpPr>
          <p:nvPr>
            <p:ph sz="quarter" idx="1"/>
          </p:nvPr>
        </p:nvSpPr>
        <p:spPr>
          <a:xfrm>
            <a:off x="457200" y="609600"/>
            <a:ext cx="8001000" cy="5864225"/>
          </a:xfrm>
        </p:spPr>
        <p:txBody>
          <a:bodyPr/>
          <a:lstStyle/>
          <a:p>
            <a:pPr>
              <a:buFont typeface="Wingdings" panose="05000000000000000000" pitchFamily="2" charset="2"/>
              <a:buNone/>
            </a:pPr>
            <a:r>
              <a:rPr lang="en-US" altLang="en-US" sz="2800">
                <a:solidFill>
                  <a:srgbClr val="FF0000"/>
                </a:solidFill>
                <a:latin typeface="Times New Roman" panose="02020603050405020304" pitchFamily="18" charset="0"/>
                <a:cs typeface="Times New Roman" panose="02020603050405020304" pitchFamily="18" charset="0"/>
              </a:rPr>
              <a:t>4. Low-Cost Leadership</a:t>
            </a:r>
          </a:p>
          <a:p>
            <a:pPr>
              <a:buFont typeface="Wingdings" panose="05000000000000000000" pitchFamily="2" charset="2"/>
              <a:buNone/>
            </a:pPr>
            <a:r>
              <a:rPr lang="en-US" altLang="en-US"/>
              <a:t>   </a:t>
            </a:r>
          </a:p>
          <a:p>
            <a:pPr>
              <a:buFont typeface="Wingdings" panose="05000000000000000000" pitchFamily="2" charset="2"/>
              <a:buNone/>
            </a:pPr>
            <a:r>
              <a:rPr lang="en-US" altLang="en-US"/>
              <a:t>   </a:t>
            </a:r>
            <a:r>
              <a:rPr lang="en-US" altLang="en-US">
                <a:latin typeface="Times New Roman" panose="02020603050405020304" pitchFamily="18" charset="0"/>
                <a:cs typeface="Times New Roman" panose="02020603050405020304" pitchFamily="18" charset="0"/>
              </a:rPr>
              <a:t>By cutting out middlemen and operating as a cooperative, Amul passes profits back to farmers while keeping prices low for consumers.</a:t>
            </a:r>
          </a:p>
          <a:p>
            <a:pPr>
              <a:buFont typeface="Wingdings" panose="05000000000000000000" pitchFamily="2" charset="2"/>
              <a:buNone/>
            </a:pPr>
            <a:r>
              <a:rPr lang="en-US" altLang="en-US">
                <a:latin typeface="Times New Roman" panose="02020603050405020304" pitchFamily="18" charset="0"/>
                <a:cs typeface="Times New Roman" panose="02020603050405020304" pitchFamily="18" charset="0"/>
              </a:rPr>
              <a:t>  </a:t>
            </a:r>
          </a:p>
          <a:p>
            <a:pPr>
              <a:buFont typeface="Wingdings" panose="05000000000000000000" pitchFamily="2" charset="2"/>
              <a:buNone/>
            </a:pPr>
            <a:r>
              <a:rPr lang="en-US" altLang="en-US">
                <a:latin typeface="Times New Roman" panose="02020603050405020304" pitchFamily="18" charset="0"/>
                <a:cs typeface="Times New Roman" panose="02020603050405020304" pitchFamily="18" charset="0"/>
              </a:rPr>
              <a:t>   Efficient operations and large-scale production help reduce costs.</a:t>
            </a:r>
          </a:p>
          <a:p>
            <a:pPr>
              <a:buFont typeface="Wingdings" panose="05000000000000000000" pitchFamily="2" charset="2"/>
              <a:buNone/>
            </a:pPr>
            <a:r>
              <a:rPr lang="en-US" altLang="en-US" i="1">
                <a:latin typeface="Times New Roman" panose="02020603050405020304" pitchFamily="18" charset="0"/>
                <a:cs typeface="Times New Roman" panose="02020603050405020304" pitchFamily="18" charset="0"/>
              </a:rPr>
              <a:t>  </a:t>
            </a:r>
          </a:p>
          <a:p>
            <a:pPr>
              <a:buFont typeface="Wingdings" panose="05000000000000000000" pitchFamily="2" charset="2"/>
              <a:buNone/>
            </a:pPr>
            <a:r>
              <a:rPr lang="en-US" altLang="en-US" i="1">
                <a:latin typeface="Times New Roman" panose="02020603050405020304" pitchFamily="18" charset="0"/>
                <a:cs typeface="Times New Roman" panose="02020603050405020304" pitchFamily="18" charset="0"/>
              </a:rPr>
              <a:t>  Impact:</a:t>
            </a:r>
            <a:r>
              <a:rPr lang="en-US" altLang="en-US">
                <a:latin typeface="Times New Roman" panose="02020603050405020304" pitchFamily="18" charset="0"/>
                <a:cs typeface="Times New Roman" panose="02020603050405020304" pitchFamily="18" charset="0"/>
              </a:rPr>
              <a:t> Competitive pricing without compromising quality.</a:t>
            </a:r>
          </a:p>
          <a:p>
            <a:endParaRPr lang="en-US"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2">
            <a:extLst>
              <a:ext uri="{FF2B5EF4-FFF2-40B4-BE49-F238E27FC236}">
                <a16:creationId xmlns="" xmlns:a16="http://schemas.microsoft.com/office/drawing/2014/main" id="{3F28D5E6-2A6F-05A1-C209-99FEA4C6E5DE}"/>
              </a:ext>
            </a:extLst>
          </p:cNvPr>
          <p:cNvSpPr>
            <a:spLocks noGrp="1"/>
          </p:cNvSpPr>
          <p:nvPr>
            <p:ph sz="quarter" idx="1"/>
          </p:nvPr>
        </p:nvSpPr>
        <p:spPr>
          <a:xfrm>
            <a:off x="457200" y="533400"/>
            <a:ext cx="7924800" cy="5940425"/>
          </a:xfrm>
        </p:spPr>
        <p:txBody>
          <a:bodyPr/>
          <a:lstStyle/>
          <a:p>
            <a:pPr>
              <a:buFont typeface="Wingdings" panose="05000000000000000000" pitchFamily="2" charset="2"/>
              <a:buNone/>
            </a:pPr>
            <a:r>
              <a:rPr lang="en-US" altLang="en-US" sz="2800">
                <a:solidFill>
                  <a:srgbClr val="FF0000"/>
                </a:solidFill>
                <a:latin typeface="Times New Roman" panose="02020603050405020304" pitchFamily="18" charset="0"/>
                <a:cs typeface="Times New Roman" panose="02020603050405020304" pitchFamily="18" charset="0"/>
              </a:rPr>
              <a:t>5. Distribution Network</a:t>
            </a:r>
          </a:p>
          <a:p>
            <a:pPr>
              <a:buFont typeface="Wingdings" panose="05000000000000000000" pitchFamily="2" charset="2"/>
              <a:buNone/>
            </a:pPr>
            <a:r>
              <a:rPr lang="en-US" altLang="en-US">
                <a:latin typeface="Times New Roman" panose="02020603050405020304" pitchFamily="18" charset="0"/>
                <a:cs typeface="Times New Roman" panose="02020603050405020304" pitchFamily="18" charset="0"/>
              </a:rPr>
              <a:t>   </a:t>
            </a:r>
          </a:p>
          <a:p>
            <a:pPr>
              <a:buFont typeface="Wingdings" panose="05000000000000000000" pitchFamily="2" charset="2"/>
              <a:buNone/>
            </a:pPr>
            <a:r>
              <a:rPr lang="en-US" altLang="en-US">
                <a:latin typeface="Times New Roman" panose="02020603050405020304" pitchFamily="18" charset="0"/>
                <a:cs typeface="Times New Roman" panose="02020603050405020304" pitchFamily="18" charset="0"/>
              </a:rPr>
              <a:t>    Amul has a vast cold-chain logistics and retail network that enables pan-India delivery of perishable dairy products.</a:t>
            </a:r>
          </a:p>
          <a:p>
            <a:pPr>
              <a:buFont typeface="Wingdings" panose="05000000000000000000" pitchFamily="2" charset="2"/>
              <a:buNone/>
            </a:pPr>
            <a:r>
              <a:rPr lang="en-US" altLang="en-US">
                <a:latin typeface="Times New Roman" panose="02020603050405020304" pitchFamily="18" charset="0"/>
                <a:cs typeface="Times New Roman" panose="02020603050405020304" pitchFamily="18" charset="0"/>
              </a:rPr>
              <a:t>   </a:t>
            </a:r>
          </a:p>
          <a:p>
            <a:pPr>
              <a:buFont typeface="Wingdings" panose="05000000000000000000" pitchFamily="2" charset="2"/>
              <a:buNone/>
            </a:pPr>
            <a:r>
              <a:rPr lang="en-US" altLang="en-US">
                <a:latin typeface="Times New Roman" panose="02020603050405020304" pitchFamily="18" charset="0"/>
                <a:cs typeface="Times New Roman" panose="02020603050405020304" pitchFamily="18" charset="0"/>
              </a:rPr>
              <a:t>    Products are available in urban supermarkets, rural kirana stores, and online platforms.</a:t>
            </a:r>
          </a:p>
          <a:p>
            <a:pPr>
              <a:buFont typeface="Wingdings" panose="05000000000000000000" pitchFamily="2" charset="2"/>
              <a:buNone/>
            </a:pPr>
            <a:endParaRPr lang="en-US" altLang="en-US">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en-US">
                <a:latin typeface="Times New Roman" panose="02020603050405020304" pitchFamily="18" charset="0"/>
                <a:cs typeface="Times New Roman" panose="02020603050405020304" pitchFamily="18" charset="0"/>
              </a:rPr>
              <a:t>    </a:t>
            </a:r>
            <a:r>
              <a:rPr lang="en-US" altLang="en-US" i="1">
                <a:latin typeface="Times New Roman" panose="02020603050405020304" pitchFamily="18" charset="0"/>
                <a:cs typeface="Times New Roman" panose="02020603050405020304" pitchFamily="18" charset="0"/>
              </a:rPr>
              <a:t>Impact:</a:t>
            </a:r>
            <a:r>
              <a:rPr lang="en-US" altLang="en-US">
                <a:latin typeface="Times New Roman" panose="02020603050405020304" pitchFamily="18" charset="0"/>
                <a:cs typeface="Times New Roman" panose="02020603050405020304" pitchFamily="18" charset="0"/>
              </a:rPr>
              <a:t> Availability in over 1,500 towns and villages across India.</a:t>
            </a:r>
          </a:p>
          <a:p>
            <a:pPr>
              <a:buFont typeface="Wingdings" panose="05000000000000000000" pitchFamily="2" charset="2"/>
              <a:buNone/>
            </a:pPr>
            <a:endParaRPr lang="en-US"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endParaRPr lang="en-US" dirty="0">
              <a:solidFill>
                <a:schemeClr val="tx2">
                  <a:satMod val="200000"/>
                </a:schemeClr>
              </a:solidFill>
              <a:latin typeface="Comic Sans MS" pitchFamily="66" charset="0"/>
            </a:endParaRPr>
          </a:p>
        </p:txBody>
      </p:sp>
      <p:sp>
        <p:nvSpPr>
          <p:cNvPr id="26627" name="Content Placeholder 2"/>
          <p:cNvSpPr>
            <a:spLocks noGrp="1"/>
          </p:cNvSpPr>
          <p:nvPr>
            <p:ph idx="1"/>
          </p:nvPr>
        </p:nvSpPr>
        <p:spPr/>
        <p:txBody>
          <a:bodyPr/>
          <a:lstStyle/>
          <a:p>
            <a:pPr eaLnBrk="1" hangingPunct="1"/>
            <a:endParaRPr lang="en-US" smtClean="0"/>
          </a:p>
        </p:txBody>
      </p:sp>
      <p:pic>
        <p:nvPicPr>
          <p:cNvPr id="26628" name="Content Placeholder 3"/>
          <p:cNvPicPr>
            <a:picLocks noChangeArrowheads="1"/>
          </p:cNvPicPr>
          <p:nvPr/>
        </p:nvPicPr>
        <p:blipFill>
          <a:blip r:embed="rId2"/>
          <a:srcRect/>
          <a:stretch>
            <a:fillRect/>
          </a:stretch>
        </p:blipFill>
        <p:spPr bwMode="auto">
          <a:xfrm>
            <a:off x="0" y="0"/>
            <a:ext cx="9677400" cy="6858000"/>
          </a:xfrm>
          <a:prstGeom prst="rect">
            <a:avLst/>
          </a:prstGeom>
          <a:gradFill rotWithShape="1">
            <a:gsLst>
              <a:gs pos="0">
                <a:srgbClr val="FF9933"/>
              </a:gs>
              <a:gs pos="100000">
                <a:srgbClr val="764718"/>
              </a:gs>
            </a:gsLst>
            <a:lin ang="5400000" scaled="1"/>
          </a:gradFill>
          <a:ln w="9525">
            <a:noFill/>
            <a:miter lim="800000"/>
            <a:headEnd/>
            <a:tailEnd/>
          </a:ln>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themeOverride>
</file>

<file path=docProps/app.xml><?xml version="1.0" encoding="utf-8"?>
<Properties xmlns="http://schemas.openxmlformats.org/officeDocument/2006/extended-properties" xmlns:vt="http://schemas.openxmlformats.org/officeDocument/2006/docPropsVTypes">
  <Template>Executive</Template>
  <TotalTime>25142573</TotalTime>
  <Words>2790</Words>
  <Application>Microsoft Office PowerPoint</Application>
  <PresentationFormat>On-screen Show (4:3)</PresentationFormat>
  <Paragraphs>280</Paragraphs>
  <Slides>46</Slides>
  <Notes>4</Notes>
  <HiddenSlides>0</HiddenSlides>
  <MMClips>0</MMClips>
  <ScaleCrop>false</ScaleCrop>
  <HeadingPairs>
    <vt:vector size="4" baseType="variant">
      <vt:variant>
        <vt:lpstr>Theme</vt:lpstr>
      </vt:variant>
      <vt:variant>
        <vt:i4>2</vt:i4>
      </vt:variant>
      <vt:variant>
        <vt:lpstr>Slide Titles</vt:lpstr>
      </vt:variant>
      <vt:variant>
        <vt:i4>46</vt:i4>
      </vt:variant>
    </vt:vector>
  </HeadingPairs>
  <TitlesOfParts>
    <vt:vector size="48" baseType="lpstr">
      <vt:lpstr>Executive</vt:lpstr>
      <vt:lpstr>Oriel</vt:lpstr>
      <vt:lpstr>EXTERNAL ASSESSMENT</vt:lpstr>
      <vt:lpstr>Slide 2</vt:lpstr>
      <vt:lpstr>Slide 3</vt:lpstr>
      <vt:lpstr>Slide 4</vt:lpstr>
      <vt:lpstr>Slide 5</vt:lpstr>
      <vt:lpstr>COMPANYS EXTERNAL ENVIRONMENT</vt:lpstr>
      <vt:lpstr>Slide 7</vt:lpstr>
      <vt:lpstr>Slide 8</vt:lpstr>
      <vt:lpstr>Slide 9</vt:lpstr>
      <vt:lpstr>Slide 10</vt:lpstr>
      <vt:lpstr>Slide 11</vt:lpstr>
      <vt:lpstr>Slide 12</vt:lpstr>
      <vt:lpstr>Slide 13</vt:lpstr>
      <vt:lpstr>Porters Five Forces Model</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and Retail Management</dc:title>
  <dc:creator>user</dc:creator>
  <cp:lastModifiedBy>HP</cp:lastModifiedBy>
  <cp:revision>835</cp:revision>
  <dcterms:created xsi:type="dcterms:W3CDTF">2023-11-29T05:52:33Z</dcterms:created>
  <dcterms:modified xsi:type="dcterms:W3CDTF">2026-05-04T04:01:19Z</dcterms:modified>
</cp:coreProperties>
</file>