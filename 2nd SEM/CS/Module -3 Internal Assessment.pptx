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66"/>
  </p:notesMasterIdLst>
  <p:sldIdLst>
    <p:sldId id="256" r:id="rId2"/>
    <p:sldId id="260" r:id="rId3"/>
    <p:sldId id="324" r:id="rId4"/>
    <p:sldId id="296" r:id="rId5"/>
    <p:sldId id="325" r:id="rId6"/>
    <p:sldId id="322" r:id="rId7"/>
    <p:sldId id="326" r:id="rId8"/>
    <p:sldId id="257" r:id="rId9"/>
    <p:sldId id="258" r:id="rId10"/>
    <p:sldId id="259" r:id="rId11"/>
    <p:sldId id="341" r:id="rId12"/>
    <p:sldId id="261" r:id="rId13"/>
    <p:sldId id="262" r:id="rId14"/>
    <p:sldId id="263" r:id="rId15"/>
    <p:sldId id="264" r:id="rId16"/>
    <p:sldId id="265" r:id="rId17"/>
    <p:sldId id="266" r:id="rId18"/>
    <p:sldId id="267" r:id="rId19"/>
    <p:sldId id="339" r:id="rId20"/>
    <p:sldId id="268" r:id="rId21"/>
    <p:sldId id="269" r:id="rId22"/>
    <p:sldId id="270" r:id="rId23"/>
    <p:sldId id="271" r:id="rId24"/>
    <p:sldId id="272" r:id="rId25"/>
    <p:sldId id="275" r:id="rId26"/>
    <p:sldId id="273" r:id="rId27"/>
    <p:sldId id="374" r:id="rId28"/>
    <p:sldId id="274" r:id="rId29"/>
    <p:sldId id="276" r:id="rId30"/>
    <p:sldId id="277" r:id="rId31"/>
    <p:sldId id="278" r:id="rId32"/>
    <p:sldId id="279" r:id="rId33"/>
    <p:sldId id="280" r:id="rId34"/>
    <p:sldId id="281" r:id="rId35"/>
    <p:sldId id="282" r:id="rId36"/>
    <p:sldId id="283" r:id="rId37"/>
    <p:sldId id="284" r:id="rId38"/>
    <p:sldId id="285" r:id="rId39"/>
    <p:sldId id="286" r:id="rId40"/>
    <p:sldId id="373" r:id="rId41"/>
    <p:sldId id="287" r:id="rId42"/>
    <p:sldId id="288" r:id="rId43"/>
    <p:sldId id="375" r:id="rId44"/>
    <p:sldId id="289" r:id="rId45"/>
    <p:sldId id="290" r:id="rId46"/>
    <p:sldId id="328" r:id="rId47"/>
    <p:sldId id="329" r:id="rId48"/>
    <p:sldId id="330" r:id="rId49"/>
    <p:sldId id="331" r:id="rId50"/>
    <p:sldId id="332" r:id="rId51"/>
    <p:sldId id="333" r:id="rId52"/>
    <p:sldId id="334" r:id="rId53"/>
    <p:sldId id="335" r:id="rId54"/>
    <p:sldId id="336" r:id="rId55"/>
    <p:sldId id="337" r:id="rId56"/>
    <p:sldId id="338" r:id="rId57"/>
    <p:sldId id="340" r:id="rId58"/>
    <p:sldId id="342" r:id="rId59"/>
    <p:sldId id="343" r:id="rId60"/>
    <p:sldId id="344" r:id="rId61"/>
    <p:sldId id="345" r:id="rId62"/>
    <p:sldId id="346" r:id="rId63"/>
    <p:sldId id="347" r:id="rId64"/>
    <p:sldId id="348"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0BC5"/>
    <a:srgbClr val="008080"/>
    <a:srgbClr val="AB2A15"/>
    <a:srgbClr val="FF9900"/>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29" autoAdjust="0"/>
    <p:restoredTop sz="94982" autoAdjust="0"/>
  </p:normalViewPr>
  <p:slideViewPr>
    <p:cSldViewPr>
      <p:cViewPr varScale="1">
        <p:scale>
          <a:sx n="80" d="100"/>
          <a:sy n="80" d="100"/>
        </p:scale>
        <p:origin x="1642" y="58"/>
      </p:cViewPr>
      <p:guideLst>
        <p:guide orient="horz" pos="2160"/>
        <p:guide pos="2880"/>
      </p:guideLst>
    </p:cSldViewPr>
  </p:slideViewPr>
  <p:notesTextViewPr>
    <p:cViewPr>
      <p:scale>
        <a:sx n="1" d="1"/>
        <a:sy n="1" d="1"/>
      </p:scale>
      <p:origin x="0" y="0"/>
    </p:cViewPr>
  </p:notesTextViewPr>
  <p:sorterViewPr>
    <p:cViewPr>
      <p:scale>
        <a:sx n="57" d="100"/>
        <a:sy n="57" d="100"/>
      </p:scale>
      <p:origin x="0" y="-126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3419F5-8703-4B2A-986A-F5822FC9DC0F}" type="datetimeFigureOut">
              <a:rPr lang="en-US" smtClean="0"/>
              <a:pPr/>
              <a:t>7/7/2026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99CBDF6-770F-4707-9A77-F04DF7997089}" type="slidenum">
              <a:rPr lang="en-US" smtClean="0"/>
              <a:pPr/>
              <a:t>‹#›</a:t>
            </a:fld>
            <a:endParaRPr lang="en-US" dirty="0"/>
          </a:p>
        </p:txBody>
      </p:sp>
    </p:spTree>
    <p:extLst>
      <p:ext uri="{BB962C8B-B14F-4D97-AF65-F5344CB8AC3E}">
        <p14:creationId xmlns:p14="http://schemas.microsoft.com/office/powerpoint/2010/main" val="11881023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D17CF57-BFCC-464A-BA48-BFE830374819}" type="datetime1">
              <a:rPr lang="en-US" smtClean="0"/>
              <a:t>7/7/2026</a:t>
            </a:fld>
            <a:endParaRPr lang="en-US" dirty="0"/>
          </a:p>
        </p:txBody>
      </p:sp>
      <p:sp>
        <p:nvSpPr>
          <p:cNvPr id="8" name="Slide Number Placeholder 7"/>
          <p:cNvSpPr>
            <a:spLocks noGrp="1"/>
          </p:cNvSpPr>
          <p:nvPr>
            <p:ph type="sldNum" sz="quarter" idx="11"/>
          </p:nvPr>
        </p:nvSpPr>
        <p:spPr/>
        <p:txBody>
          <a:bodyPr/>
          <a:lstStyle/>
          <a:p>
            <a:fld id="{E566A64D-537C-4258-BCDA-D6FBF77857E8}" type="slidenum">
              <a:rPr lang="en-US" smtClean="0"/>
              <a:pPr/>
              <a:t>‹#›</a:t>
            </a:fld>
            <a:endParaRPr lang="en-US" dirty="0"/>
          </a:p>
        </p:txBody>
      </p:sp>
      <p:sp>
        <p:nvSpPr>
          <p:cNvPr id="9" name="Footer Placeholder 8"/>
          <p:cNvSpPr>
            <a:spLocks noGrp="1"/>
          </p:cNvSpPr>
          <p:nvPr>
            <p:ph type="ftr" sz="quarter" idx="12"/>
          </p:nvPr>
        </p:nvSpPr>
        <p:spPr/>
        <p:txBody>
          <a:bodyPr/>
          <a:lstStyle/>
          <a:p>
            <a:r>
              <a:rPr lang="en-US" dirty="0"/>
              <a:t>VTU PG Studies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p:cNvSpPr>
            <a:spLocks noGrp="1"/>
          </p:cNvSpPr>
          <p:nvPr>
            <p:ph type="ftr" sz="quarter" idx="11"/>
          </p:nvPr>
        </p:nvSpPr>
        <p:spPr/>
        <p:txBody>
          <a:bodyPr/>
          <a:lstStyle/>
          <a:p>
            <a:r>
              <a:rPr lang="en-US" dirty="0"/>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66585D-E5B0-45AC-8E0B-D67A89450EB7}" type="datetime1">
              <a:rPr lang="en-US" smtClean="0"/>
              <a:t>7/7/2026</a:t>
            </a:fld>
            <a:endParaRPr lang="en-US" dirty="0"/>
          </a:p>
        </p:txBody>
      </p:sp>
      <p:sp>
        <p:nvSpPr>
          <p:cNvPr id="5" name="Footer Placeholder 4"/>
          <p:cNvSpPr>
            <a:spLocks noGrp="1"/>
          </p:cNvSpPr>
          <p:nvPr>
            <p:ph type="ftr" sz="quarter" idx="11"/>
          </p:nvPr>
        </p:nvSpPr>
        <p:spPr/>
        <p:txBody>
          <a:bodyPr/>
          <a:lstStyle/>
          <a:p>
            <a:r>
              <a:rPr lang="en-US" dirty="0"/>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dirty="0"/>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80F7F6-07C5-4E5C-98FD-D55B8861A721}" type="datetime1">
              <a:rPr lang="en-US" smtClean="0"/>
              <a:t>7/7/2026</a:t>
            </a:fld>
            <a:endParaRPr lang="en-US" dirty="0"/>
          </a:p>
        </p:txBody>
      </p:sp>
      <p:sp>
        <p:nvSpPr>
          <p:cNvPr id="6" name="Footer Placeholder 5"/>
          <p:cNvSpPr>
            <a:spLocks noGrp="1"/>
          </p:cNvSpPr>
          <p:nvPr>
            <p:ph type="ftr" sz="quarter" idx="11"/>
          </p:nvPr>
        </p:nvSpPr>
        <p:spPr/>
        <p:txBody>
          <a:bodyPr/>
          <a:lstStyle/>
          <a:p>
            <a:r>
              <a:rPr lang="en-US" dirty="0"/>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dirty="0"/>
          </a:p>
        </p:txBody>
      </p:sp>
      <p:sp>
        <p:nvSpPr>
          <p:cNvPr id="9" name="Content Placeholder 8"/>
          <p:cNvSpPr>
            <a:spLocks noGrp="1"/>
          </p:cNvSpPr>
          <p:nvPr>
            <p:ph sz="quarter" idx="13"/>
          </p:nvPr>
        </p:nvSpPr>
        <p:spPr>
          <a:xfrm>
            <a:off x="365760" y="1600200"/>
            <a:ext cx="4041648" cy="4526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C35FBAD6-C336-46C6-8EC6-6BE202C4573F}" type="datetime1">
              <a:rPr lang="en-US" smtClean="0"/>
              <a:t>7/7/2026</a:t>
            </a:fld>
            <a:endParaRPr lang="en-US" dirty="0"/>
          </a:p>
        </p:txBody>
      </p:sp>
      <p:sp>
        <p:nvSpPr>
          <p:cNvPr id="8" name="Footer Placeholder 7"/>
          <p:cNvSpPr>
            <a:spLocks noGrp="1"/>
          </p:cNvSpPr>
          <p:nvPr>
            <p:ph type="ftr" sz="quarter" idx="11"/>
          </p:nvPr>
        </p:nvSpPr>
        <p:spPr/>
        <p:txBody>
          <a:bodyPr/>
          <a:lstStyle/>
          <a:p>
            <a:r>
              <a:rPr lang="en-US" dirty="0"/>
              <a:t>VTU PG Studies</a:t>
            </a:r>
          </a:p>
        </p:txBody>
      </p:sp>
      <p:sp>
        <p:nvSpPr>
          <p:cNvPr id="9" name="Slide Number Placeholder 8"/>
          <p:cNvSpPr>
            <a:spLocks noGrp="1"/>
          </p:cNvSpPr>
          <p:nvPr>
            <p:ph type="sldNum" sz="quarter" idx="12"/>
          </p:nvPr>
        </p:nvSpPr>
        <p:spPr/>
        <p:txBody>
          <a:bodyPr/>
          <a:lstStyle/>
          <a:p>
            <a:fld id="{E566A64D-537C-4258-BCDA-D6FBF77857E8}" type="slidenum">
              <a:rPr lang="en-US" smtClean="0"/>
              <a:pPr/>
              <a:t>‹#›</a:t>
            </a:fld>
            <a:endParaRPr lang="en-US" dirty="0"/>
          </a:p>
        </p:txBody>
      </p:sp>
      <p:sp>
        <p:nvSpPr>
          <p:cNvPr id="11" name="Content Placeholder 10"/>
          <p:cNvSpPr>
            <a:spLocks noGrp="1"/>
          </p:cNvSpPr>
          <p:nvPr>
            <p:ph sz="quarter" idx="13"/>
          </p:nvPr>
        </p:nvSpPr>
        <p:spPr>
          <a:xfrm>
            <a:off x="457200" y="2212848"/>
            <a:ext cx="4041648" cy="39136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CB3241-A4F1-46EB-890C-3DE7F7ED7ECD}" type="datetime1">
              <a:rPr lang="en-US" smtClean="0"/>
              <a:t>7/7/2026</a:t>
            </a:fld>
            <a:endParaRPr lang="en-US" dirty="0"/>
          </a:p>
        </p:txBody>
      </p:sp>
      <p:sp>
        <p:nvSpPr>
          <p:cNvPr id="4" name="Footer Placeholder 3"/>
          <p:cNvSpPr>
            <a:spLocks noGrp="1"/>
          </p:cNvSpPr>
          <p:nvPr>
            <p:ph type="ftr" sz="quarter" idx="11"/>
          </p:nvPr>
        </p:nvSpPr>
        <p:spPr/>
        <p:txBody>
          <a:bodyPr/>
          <a:lstStyle/>
          <a:p>
            <a:r>
              <a:rPr lang="en-US" dirty="0"/>
              <a:t>VTU PG Studies</a:t>
            </a:r>
          </a:p>
        </p:txBody>
      </p:sp>
      <p:sp>
        <p:nvSpPr>
          <p:cNvPr id="5" name="Slide Number Placeholder 4"/>
          <p:cNvSpPr>
            <a:spLocks noGrp="1"/>
          </p:cNvSpPr>
          <p:nvPr>
            <p:ph type="sldNum" sz="quarter" idx="12"/>
          </p:nvPr>
        </p:nvSpPr>
        <p:spPr/>
        <p:txBody>
          <a:bodyPr/>
          <a:lstStyle/>
          <a:p>
            <a:fld id="{E566A64D-537C-4258-BCDA-D6FBF77857E8}"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5B5661D-CA49-4BEC-8E9F-F6EC85291D10}" type="datetime1">
              <a:rPr lang="en-US" smtClean="0"/>
              <a:t>7/7/2026</a:t>
            </a:fld>
            <a:endParaRPr lang="en-US" dirty="0"/>
          </a:p>
        </p:txBody>
      </p:sp>
      <p:sp>
        <p:nvSpPr>
          <p:cNvPr id="3" name="Footer Placeholder 2"/>
          <p:cNvSpPr>
            <a:spLocks noGrp="1"/>
          </p:cNvSpPr>
          <p:nvPr>
            <p:ph type="ftr" sz="quarter" idx="11"/>
          </p:nvPr>
        </p:nvSpPr>
        <p:spPr/>
        <p:txBody>
          <a:bodyPr/>
          <a:lstStyle/>
          <a:p>
            <a:r>
              <a:rPr lang="en-US" dirty="0"/>
              <a:t>VTU PG Studies</a:t>
            </a:r>
          </a:p>
        </p:txBody>
      </p:sp>
      <p:sp>
        <p:nvSpPr>
          <p:cNvPr id="4" name="Slide Number Placeholder 3"/>
          <p:cNvSpPr>
            <a:spLocks noGrp="1"/>
          </p:cNvSpPr>
          <p:nvPr>
            <p:ph type="sldNum" sz="quarter" idx="12"/>
          </p:nvPr>
        </p:nvSpPr>
        <p:spPr/>
        <p:txBody>
          <a:bodyPr/>
          <a:lstStyle/>
          <a:p>
            <a:fld id="{E566A64D-537C-4258-BCDA-D6FBF77857E8}"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A0A151-226E-454F-BE66-459DD258DA02}" type="datetime1">
              <a:rPr lang="en-US" smtClean="0"/>
              <a:t>7/7/2026</a:t>
            </a:fld>
            <a:endParaRPr lang="en-US" dirty="0"/>
          </a:p>
        </p:txBody>
      </p:sp>
      <p:sp>
        <p:nvSpPr>
          <p:cNvPr id="6" name="Footer Placeholder 5"/>
          <p:cNvSpPr>
            <a:spLocks noGrp="1"/>
          </p:cNvSpPr>
          <p:nvPr>
            <p:ph type="ftr" sz="quarter" idx="11"/>
          </p:nvPr>
        </p:nvSpPr>
        <p:spPr/>
        <p:txBody>
          <a:bodyPr/>
          <a:lstStyle/>
          <a:p>
            <a:r>
              <a:rPr lang="en-US" dirty="0"/>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F4DF190-2C6F-4B9C-81C8-73C2E35A4E84}" type="datetime1">
              <a:rPr lang="en-US" smtClean="0"/>
              <a:t>7/7/2026</a:t>
            </a:fld>
            <a:endParaRPr lang="en-US" dirty="0"/>
          </a:p>
        </p:txBody>
      </p:sp>
      <p:sp>
        <p:nvSpPr>
          <p:cNvPr id="6" name="Footer Placeholder 5"/>
          <p:cNvSpPr>
            <a:spLocks noGrp="1"/>
          </p:cNvSpPr>
          <p:nvPr>
            <p:ph type="ftr" sz="quarter" idx="11"/>
          </p:nvPr>
        </p:nvSpPr>
        <p:spPr/>
        <p:txBody>
          <a:bodyPr/>
          <a:lstStyle/>
          <a:p>
            <a:r>
              <a:rPr lang="en-US" dirty="0"/>
              <a:t>VTU PG Studies</a:t>
            </a:r>
          </a:p>
        </p:txBody>
      </p:sp>
      <p:sp>
        <p:nvSpPr>
          <p:cNvPr id="7" name="Slide Number Placeholder 6"/>
          <p:cNvSpPr>
            <a:spLocks noGrp="1"/>
          </p:cNvSpPr>
          <p:nvPr>
            <p:ph type="sldNum" sz="quarter" idx="12"/>
          </p:nvPr>
        </p:nvSpPr>
        <p:spPr/>
        <p:txBody>
          <a:bodyPr/>
          <a:lstStyle/>
          <a:p>
            <a:fld id="{E566A64D-537C-4258-BCDA-D6FBF77857E8}"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1276C6-4878-4085-B6DD-02B2DC7D9DD2}" type="datetime1">
              <a:rPr lang="en-US" smtClean="0"/>
              <a:t>7/7/2026</a:t>
            </a:fld>
            <a:endParaRPr lang="en-US" dirty="0"/>
          </a:p>
        </p:txBody>
      </p:sp>
      <p:sp>
        <p:nvSpPr>
          <p:cNvPr id="5" name="Footer Placeholder 4"/>
          <p:cNvSpPr>
            <a:spLocks noGrp="1"/>
          </p:cNvSpPr>
          <p:nvPr>
            <p:ph type="ftr" sz="quarter" idx="11"/>
          </p:nvPr>
        </p:nvSpPr>
        <p:spPr/>
        <p:txBody>
          <a:bodyPr/>
          <a:lstStyle/>
          <a:p>
            <a:r>
              <a:rPr lang="en-US" dirty="0"/>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1023C1-6C2B-4079-9CB1-222D2683F0D5}" type="datetime1">
              <a:rPr lang="en-US" smtClean="0"/>
              <a:t>7/7/2026</a:t>
            </a:fld>
            <a:endParaRPr lang="en-US" dirty="0"/>
          </a:p>
        </p:txBody>
      </p:sp>
      <p:sp>
        <p:nvSpPr>
          <p:cNvPr id="5" name="Footer Placeholder 4"/>
          <p:cNvSpPr>
            <a:spLocks noGrp="1"/>
          </p:cNvSpPr>
          <p:nvPr>
            <p:ph type="ftr" sz="quarter" idx="11"/>
          </p:nvPr>
        </p:nvSpPr>
        <p:spPr/>
        <p:txBody>
          <a:bodyPr/>
          <a:lstStyle/>
          <a:p>
            <a:r>
              <a:rPr lang="en-US" dirty="0"/>
              <a:t>VTU PG Studies</a:t>
            </a:r>
          </a:p>
        </p:txBody>
      </p:sp>
      <p:sp>
        <p:nvSpPr>
          <p:cNvPr id="6" name="Slide Number Placeholder 5"/>
          <p:cNvSpPr>
            <a:spLocks noGrp="1"/>
          </p:cNvSpPr>
          <p:nvPr>
            <p:ph type="sldNum" sz="quarter" idx="12"/>
          </p:nvPr>
        </p:nvSpPr>
        <p:spPr/>
        <p:txBody>
          <a:bodyPr/>
          <a:lstStyle/>
          <a:p>
            <a:fld id="{E566A64D-537C-4258-BCDA-D6FBF77857E8}"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91DBD47F-EFF2-4A60-946C-286089418D25}" type="datetime1">
              <a:rPr lang="en-US" smtClean="0"/>
              <a:t>7/7/2026</a:t>
            </a:fld>
            <a:endParaRPr lang="en-US" dirty="0"/>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en-US" dirty="0"/>
              <a:t>VTU PG Studies</a:t>
            </a: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E566A64D-537C-4258-BCDA-D6FBF77857E8}" type="slidenum">
              <a:rPr lang="en-US" smtClean="0"/>
              <a:pPr/>
              <a:t>‹#›</a:t>
            </a:fld>
            <a:endParaRPr 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dirty="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hyperlink" Target="https://www.bing.com/ck/a?!&amp;&amp;p=42af662862fc111e9b48eb53bbd8dee9271f599dc65618ab1836b5e0c886a5bdJmltdHM9MTc1MDg5NjAwMA&amp;ptn=3&amp;ver=2&amp;hsh=4&amp;fclid=1bd59e3c-cc8a-6e91-1e4e-8b54cd386f61&amp;psq=vrio+framework&amp;u=a1aHR0cHM6Ly9lbi53aWtpcGVkaWEub3JnL3dpa2kvVlJJTw&amp;ntb=1"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ocw.ump.edu.my/pluginfile.php/630/mod_resource/content/1"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5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5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6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339658" y="2209800"/>
            <a:ext cx="2146742" cy="630942"/>
          </a:xfrm>
          <a:prstGeom prst="rect">
            <a:avLst/>
          </a:prstGeom>
        </p:spPr>
        <p:txBody>
          <a:bodyPr wrap="none">
            <a:spAutoFit/>
          </a:bodyPr>
          <a:lstStyle/>
          <a:p>
            <a:r>
              <a:rPr lang="en-US" sz="3500" b="1" i="1" dirty="0">
                <a:solidFill>
                  <a:schemeClr val="tx2"/>
                </a:solidFill>
                <a:effectLst>
                  <a:outerShdw blurRad="38100" dist="38100" dir="2700000" algn="tl">
                    <a:srgbClr val="000000">
                      <a:alpha val="43137"/>
                    </a:srgbClr>
                  </a:outerShdw>
                </a:effectLst>
              </a:rPr>
              <a:t>Module#3</a:t>
            </a:r>
            <a:endParaRPr lang="en-US" sz="3500" i="1" dirty="0">
              <a:solidFill>
                <a:schemeClr val="tx2"/>
              </a:solidFill>
              <a:effectLst>
                <a:outerShdw blurRad="38100" dist="38100" dir="2700000" algn="tl">
                  <a:srgbClr val="000000">
                    <a:alpha val="43137"/>
                  </a:srgbClr>
                </a:outerShdw>
              </a:effectLst>
            </a:endParaRPr>
          </a:p>
        </p:txBody>
      </p:sp>
      <p:sp>
        <p:nvSpPr>
          <p:cNvPr id="2" name="Title 1"/>
          <p:cNvSpPr>
            <a:spLocks noGrp="1"/>
          </p:cNvSpPr>
          <p:nvPr>
            <p:ph type="ctrTitle"/>
          </p:nvPr>
        </p:nvSpPr>
        <p:spPr>
          <a:xfrm>
            <a:off x="381000" y="3581399"/>
            <a:ext cx="8382000" cy="838201"/>
          </a:xfr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nchor="ctr"/>
          <a:lstStyle/>
          <a:p>
            <a:r>
              <a:rPr lang="en-US" sz="4500" b="1" dirty="0">
                <a:solidFill>
                  <a:srgbClr val="FF0000"/>
                </a:solidFill>
              </a:rPr>
              <a:t>INTERNAL ASSESSMENT</a:t>
            </a:r>
            <a:endParaRPr lang="en-US" sz="4500" b="1" dirty="0">
              <a:solidFill>
                <a:srgbClr val="FF0000"/>
              </a:solidFill>
              <a:latin typeface="Times New Roman" pitchFamily="18" charset="0"/>
              <a:cs typeface="Times New Roman" pitchFamily="18" charset="0"/>
            </a:endParaRPr>
          </a:p>
        </p:txBody>
      </p:sp>
      <p:sp>
        <p:nvSpPr>
          <p:cNvPr id="4" name="TextBox 3"/>
          <p:cNvSpPr txBox="1"/>
          <p:nvPr/>
        </p:nvSpPr>
        <p:spPr>
          <a:xfrm>
            <a:off x="32510" y="6320135"/>
            <a:ext cx="2482090" cy="461665"/>
          </a:xfrm>
          <a:prstGeom prst="rect">
            <a:avLst/>
          </a:prstGeom>
          <a:noFill/>
        </p:spPr>
        <p:txBody>
          <a:bodyPr wrap="none" rtlCol="0">
            <a:spAutoFit/>
          </a:bodyPr>
          <a:lstStyle/>
          <a:p>
            <a:r>
              <a:rPr lang="en-US" sz="1200" b="1" dirty="0"/>
              <a:t>Faculty of Management  Studies</a:t>
            </a:r>
          </a:p>
          <a:p>
            <a:r>
              <a:rPr lang="en-US" sz="1200" b="1" dirty="0"/>
              <a:t>               VTU, Belagavi</a:t>
            </a:r>
          </a:p>
        </p:txBody>
      </p:sp>
      <p:pic>
        <p:nvPicPr>
          <p:cNvPr id="5" name="Picture 2" descr="D:\MBA Teaching Material\Marketing Management\MM\Images\vtu-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76396" y="158750"/>
            <a:ext cx="1205204" cy="98425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609600" y="1161871"/>
            <a:ext cx="7848600" cy="1200329"/>
          </a:xfrm>
          <a:prstGeom prst="rect">
            <a:avLst/>
          </a:prstGeom>
        </p:spPr>
        <p:txBody>
          <a:bodyPr wrap="square">
            <a:spAutoFit/>
          </a:bodyPr>
          <a:lstStyle/>
          <a:p>
            <a:pPr algn="ctr"/>
            <a:r>
              <a:rPr lang="en-US" b="1" dirty="0"/>
              <a:t>Department of Management Studies</a:t>
            </a:r>
          </a:p>
          <a:p>
            <a:pPr algn="ctr"/>
            <a:r>
              <a:rPr lang="en-US" b="1" dirty="0"/>
              <a:t> Visvesvaraya Technological University Belagavi-590018</a:t>
            </a:r>
          </a:p>
          <a:p>
            <a:pPr algn="ctr"/>
            <a:r>
              <a:rPr lang="en-US" b="1" dirty="0"/>
              <a:t>umesh.bhushi@vtu.ac.in </a:t>
            </a:r>
          </a:p>
          <a:p>
            <a:pPr algn="ctr"/>
            <a:endParaRPr lang="en-US" b="1" dirty="0"/>
          </a:p>
        </p:txBody>
      </p:sp>
      <p:sp>
        <p:nvSpPr>
          <p:cNvPr id="8" name="Rectangle 7"/>
          <p:cNvSpPr/>
          <p:nvPr/>
        </p:nvSpPr>
        <p:spPr>
          <a:xfrm>
            <a:off x="499156" y="2819400"/>
            <a:ext cx="7918963" cy="523220"/>
          </a:xfrm>
          <a:prstGeom prst="rect">
            <a:avLst/>
          </a:prstGeom>
        </p:spPr>
        <p:txBody>
          <a:bodyPr wrap="none">
            <a:spAutoFit/>
          </a:bodyPr>
          <a:lstStyle/>
          <a:p>
            <a:pPr algn="ctr"/>
            <a:r>
              <a:rPr lang="en-US" sz="2500" b="1" dirty="0">
                <a:solidFill>
                  <a:schemeClr val="tx2"/>
                </a:solidFill>
                <a:effectLst>
                  <a:outerShdw blurRad="38100" dist="38100" dir="2700000" algn="tl">
                    <a:srgbClr val="000000">
                      <a:alpha val="43137"/>
                    </a:srgbClr>
                  </a:outerShdw>
                </a:effectLst>
              </a:rPr>
              <a:t>SUBJECT </a:t>
            </a:r>
            <a:r>
              <a:rPr lang="en-US" sz="2800" b="1" dirty="0">
                <a:solidFill>
                  <a:schemeClr val="tx2"/>
                </a:solidFill>
                <a:effectLst>
                  <a:outerShdw blurRad="38100" dist="38100" dir="2700000" algn="tl">
                    <a:srgbClr val="000000">
                      <a:alpha val="43137"/>
                    </a:srgbClr>
                  </a:outerShdw>
                </a:effectLst>
              </a:rPr>
              <a:t>: MBA 205- CORPORATE STRATEGY</a:t>
            </a:r>
            <a:endParaRPr lang="en-US" sz="2500" dirty="0">
              <a:solidFill>
                <a:schemeClr val="tx2"/>
              </a:solidFill>
              <a:effectLst>
                <a:outerShdw blurRad="38100" dist="38100" dir="2700000" algn="tl">
                  <a:srgbClr val="000000">
                    <a:alpha val="43137"/>
                  </a:srgbClr>
                </a:outerShdw>
              </a:effectLst>
            </a:endParaRPr>
          </a:p>
        </p:txBody>
      </p:sp>
      <p:sp>
        <p:nvSpPr>
          <p:cNvPr id="10" name="Rectangle 9"/>
          <p:cNvSpPr/>
          <p:nvPr/>
        </p:nvSpPr>
        <p:spPr>
          <a:xfrm>
            <a:off x="7086600" y="87868"/>
            <a:ext cx="1965603" cy="369332"/>
          </a:xfrm>
          <a:prstGeom prst="rect">
            <a:avLst/>
          </a:prstGeom>
        </p:spPr>
        <p:txBody>
          <a:bodyPr wrap="none">
            <a:spAutoFit/>
          </a:bodyPr>
          <a:lstStyle/>
          <a:p>
            <a:r>
              <a:rPr lang="en-US" b="1" dirty="0"/>
              <a:t>Lecture Hours:50</a:t>
            </a:r>
            <a:endParaRPr lang="en-US" dirty="0"/>
          </a:p>
        </p:txBody>
      </p:sp>
      <p:pic>
        <p:nvPicPr>
          <p:cNvPr id="11" name="Picture 10">
            <a:extLst>
              <a:ext uri="{FF2B5EF4-FFF2-40B4-BE49-F238E27FC236}">
                <a16:creationId xmlns:a16="http://schemas.microsoft.com/office/drawing/2014/main" xmlns="" id="{30BA15DB-ED07-1579-1E8A-BE27C8F54050}"/>
              </a:ext>
            </a:extLst>
          </p:cNvPr>
          <p:cNvPicPr>
            <a:picLocks noChangeAspect="1"/>
          </p:cNvPicPr>
          <p:nvPr/>
        </p:nvPicPr>
        <p:blipFill>
          <a:blip r:embed="rId3"/>
          <a:stretch>
            <a:fillRect/>
          </a:stretch>
        </p:blipFill>
        <p:spPr>
          <a:xfrm>
            <a:off x="615363" y="4456463"/>
            <a:ext cx="6744641" cy="1095528"/>
          </a:xfrm>
          <a:prstGeom prst="rect">
            <a:avLst/>
          </a:prstGeom>
        </p:spPr>
      </p:pic>
    </p:spTree>
    <p:extLst>
      <p:ext uri="{BB962C8B-B14F-4D97-AF65-F5344CB8AC3E}">
        <p14:creationId xmlns:p14="http://schemas.microsoft.com/office/powerpoint/2010/main" val="2807839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14400"/>
          </a:xfrm>
        </p:spPr>
        <p:txBody>
          <a:bodyPr/>
          <a:lstStyle/>
          <a:p>
            <a:r>
              <a:rPr lang="en-US" sz="3500" b="1" dirty="0"/>
              <a:t>COURSE OUTLINE </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313721653"/>
              </p:ext>
            </p:extLst>
          </p:nvPr>
        </p:nvGraphicFramePr>
        <p:xfrm>
          <a:off x="381000" y="1447800"/>
          <a:ext cx="8382000" cy="4636675"/>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xmlns="" val="20000"/>
                    </a:ext>
                  </a:extLst>
                </a:gridCol>
                <a:gridCol w="5791200">
                  <a:extLst>
                    <a:ext uri="{9D8B030D-6E8A-4147-A177-3AD203B41FA5}">
                      <a16:colId xmlns:a16="http://schemas.microsoft.com/office/drawing/2014/main" xmlns="" val="20001"/>
                    </a:ext>
                  </a:extLst>
                </a:gridCol>
                <a:gridCol w="1371600">
                  <a:extLst>
                    <a:ext uri="{9D8B030D-6E8A-4147-A177-3AD203B41FA5}">
                      <a16:colId xmlns:a16="http://schemas.microsoft.com/office/drawing/2014/main" xmlns="" val="20002"/>
                    </a:ext>
                  </a:extLst>
                </a:gridCol>
              </a:tblGrid>
              <a:tr h="501431">
                <a:tc>
                  <a:txBody>
                    <a:bodyPr/>
                    <a:lstStyle/>
                    <a:p>
                      <a:pPr algn="ctr"/>
                      <a:r>
                        <a:rPr lang="en-US" sz="2200" dirty="0"/>
                        <a:t>Lecture</a:t>
                      </a:r>
                      <a:r>
                        <a:rPr lang="en-US" sz="2200" baseline="0" dirty="0"/>
                        <a:t> </a:t>
                      </a:r>
                      <a:endParaRPr lang="en-US" sz="2200" dirty="0"/>
                    </a:p>
                  </a:txBody>
                  <a:tcPr anchor="ctr"/>
                </a:tc>
                <a:tc>
                  <a:txBody>
                    <a:bodyPr/>
                    <a:lstStyle/>
                    <a:p>
                      <a:pPr algn="ctr"/>
                      <a:r>
                        <a:rPr lang="en-US" sz="2200" dirty="0"/>
                        <a:t>Lecture Name </a:t>
                      </a:r>
                    </a:p>
                  </a:txBody>
                  <a:tcPr anchor="ctr"/>
                </a:tc>
                <a:tc>
                  <a:txBody>
                    <a:bodyPr/>
                    <a:lstStyle/>
                    <a:p>
                      <a:pPr algn="ctr"/>
                      <a:r>
                        <a:rPr lang="en-US" sz="2200" dirty="0"/>
                        <a:t>Lecture Hours</a:t>
                      </a:r>
                    </a:p>
                  </a:txBody>
                  <a:tcPr anchor="ctr"/>
                </a:tc>
                <a:extLst>
                  <a:ext uri="{0D108BD9-81ED-4DB2-BD59-A6C34878D82A}">
                    <a16:rowId xmlns:a16="http://schemas.microsoft.com/office/drawing/2014/main" xmlns="" val="10000"/>
                  </a:ext>
                </a:extLst>
              </a:tr>
              <a:tr h="488423">
                <a:tc>
                  <a:txBody>
                    <a:bodyPr/>
                    <a:lstStyle/>
                    <a:p>
                      <a:pPr algn="ctr"/>
                      <a:r>
                        <a:rPr lang="en-US" dirty="0"/>
                        <a:t>#1</a:t>
                      </a:r>
                    </a:p>
                  </a:txBody>
                  <a:tcPr/>
                </a:tc>
                <a:tc>
                  <a:txBody>
                    <a:bodyPr/>
                    <a:lstStyle/>
                    <a:p>
                      <a:r>
                        <a:rPr lang="en-US" sz="2000" dirty="0"/>
                        <a:t>Module-1 </a:t>
                      </a:r>
                      <a:r>
                        <a:rPr lang="en-US" sz="1800" dirty="0"/>
                        <a:t>Overview of strategic management</a:t>
                      </a:r>
                      <a:endParaRPr lang="en-US" sz="2000" dirty="0"/>
                    </a:p>
                  </a:txBody>
                  <a:tcPr/>
                </a:tc>
                <a:tc>
                  <a:txBody>
                    <a:bodyPr/>
                    <a:lstStyle/>
                    <a:p>
                      <a:pPr algn="ctr"/>
                      <a:r>
                        <a:rPr lang="en-US" dirty="0"/>
                        <a:t>7</a:t>
                      </a:r>
                    </a:p>
                  </a:txBody>
                  <a:tcPr/>
                </a:tc>
                <a:extLst>
                  <a:ext uri="{0D108BD9-81ED-4DB2-BD59-A6C34878D82A}">
                    <a16:rowId xmlns:a16="http://schemas.microsoft.com/office/drawing/2014/main" xmlns="" val="10001"/>
                  </a:ext>
                </a:extLst>
              </a:tr>
              <a:tr h="488423">
                <a:tc>
                  <a:txBody>
                    <a:bodyPr/>
                    <a:lstStyle/>
                    <a:p>
                      <a:pPr algn="ctr"/>
                      <a:r>
                        <a:rPr lang="en-US" dirty="0"/>
                        <a:t>#2</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400" dirty="0"/>
                        <a:t>Module-2 </a:t>
                      </a:r>
                      <a:r>
                        <a:rPr lang="en-IN" sz="1800" kern="1200" dirty="0">
                          <a:solidFill>
                            <a:schemeClr val="dk1"/>
                          </a:solidFill>
                          <a:latin typeface="+mn-lt"/>
                          <a:ea typeface="+mn-ea"/>
                          <a:cs typeface="+mn-cs"/>
                        </a:rPr>
                        <a:t>ASSESSING EXTERNAL ENVIRONMENT </a:t>
                      </a:r>
                      <a:endParaRPr lang="en-US" sz="1800" kern="1200" dirty="0">
                        <a:solidFill>
                          <a:schemeClr val="dk1"/>
                        </a:solidFill>
                        <a:latin typeface="+mn-lt"/>
                        <a:ea typeface="+mn-ea"/>
                        <a:cs typeface="+mn-cs"/>
                      </a:endParaRPr>
                    </a:p>
                  </a:txBody>
                  <a:tcPr/>
                </a:tc>
                <a:tc>
                  <a:txBody>
                    <a:bodyPr/>
                    <a:lstStyle/>
                    <a:p>
                      <a:pPr algn="ctr"/>
                      <a:r>
                        <a:rPr lang="en-US" dirty="0"/>
                        <a:t>9</a:t>
                      </a:r>
                    </a:p>
                  </a:txBody>
                  <a:tcPr/>
                </a:tc>
                <a:extLst>
                  <a:ext uri="{0D108BD9-81ED-4DB2-BD59-A6C34878D82A}">
                    <a16:rowId xmlns:a16="http://schemas.microsoft.com/office/drawing/2014/main" xmlns="" val="10002"/>
                  </a:ext>
                </a:extLst>
              </a:tr>
              <a:tr h="488423">
                <a:tc>
                  <a:txBody>
                    <a:bodyPr/>
                    <a:lstStyle/>
                    <a:p>
                      <a:pPr algn="ctr"/>
                      <a:r>
                        <a:rPr lang="en-US" dirty="0"/>
                        <a:t>#3</a:t>
                      </a:r>
                    </a:p>
                  </a:txBody>
                  <a:tcPr/>
                </a:tc>
                <a:tc>
                  <a:txBody>
                    <a:bodyPr/>
                    <a:lstStyle/>
                    <a:p>
                      <a:r>
                        <a:rPr lang="en-IN" sz="2000" dirty="0">
                          <a:solidFill>
                            <a:srgbClr val="FF0000"/>
                          </a:solidFill>
                        </a:rPr>
                        <a:t>Module-3 ASSESSING INTERNAL ENVIRONMENT</a:t>
                      </a:r>
                      <a:endParaRPr lang="en-US" sz="2000" dirty="0">
                        <a:solidFill>
                          <a:srgbClr val="FF0000"/>
                        </a:solidFill>
                      </a:endParaRPr>
                    </a:p>
                  </a:txBody>
                  <a:tcPr/>
                </a:tc>
                <a:tc>
                  <a:txBody>
                    <a:bodyPr/>
                    <a:lstStyle/>
                    <a:p>
                      <a:pPr algn="ctr"/>
                      <a:r>
                        <a:rPr lang="en-US" dirty="0"/>
                        <a:t>9</a:t>
                      </a:r>
                    </a:p>
                  </a:txBody>
                  <a:tcPr/>
                </a:tc>
                <a:extLst>
                  <a:ext uri="{0D108BD9-81ED-4DB2-BD59-A6C34878D82A}">
                    <a16:rowId xmlns:a16="http://schemas.microsoft.com/office/drawing/2014/main" xmlns="" val="10003"/>
                  </a:ext>
                </a:extLst>
              </a:tr>
              <a:tr h="488423">
                <a:tc>
                  <a:txBody>
                    <a:bodyPr/>
                    <a:lstStyle/>
                    <a:p>
                      <a:pPr algn="ctr"/>
                      <a:r>
                        <a:rPr lang="en-US" dirty="0"/>
                        <a:t>#4</a:t>
                      </a:r>
                    </a:p>
                  </a:txBody>
                  <a:tcPr/>
                </a:tc>
                <a:tc>
                  <a:txBody>
                    <a:bodyPr/>
                    <a:lstStyle/>
                    <a:p>
                      <a:r>
                        <a:rPr lang="en-US" sz="2000" dirty="0"/>
                        <a:t>Module-4 STRATEGY FORMULATION </a:t>
                      </a:r>
                      <a:endParaRPr lang="en-US" sz="2000" b="1" dirty="0"/>
                    </a:p>
                  </a:txBody>
                  <a:tcPr/>
                </a:tc>
                <a:tc>
                  <a:txBody>
                    <a:bodyPr/>
                    <a:lstStyle/>
                    <a:p>
                      <a:pPr algn="ctr"/>
                      <a:r>
                        <a:rPr lang="en-US" dirty="0"/>
                        <a:t>9</a:t>
                      </a:r>
                    </a:p>
                  </a:txBody>
                  <a:tcPr/>
                </a:tc>
                <a:extLst>
                  <a:ext uri="{0D108BD9-81ED-4DB2-BD59-A6C34878D82A}">
                    <a16:rowId xmlns:a16="http://schemas.microsoft.com/office/drawing/2014/main" xmlns="" val="10004"/>
                  </a:ext>
                </a:extLst>
              </a:tr>
              <a:tr h="488423">
                <a:tc>
                  <a:txBody>
                    <a:bodyPr/>
                    <a:lstStyle/>
                    <a:p>
                      <a:pPr algn="ctr"/>
                      <a:r>
                        <a:rPr lang="en-US" dirty="0"/>
                        <a:t>#5</a:t>
                      </a:r>
                    </a:p>
                  </a:txBody>
                  <a:tcPr/>
                </a:tc>
                <a:tc>
                  <a:txBody>
                    <a:bodyPr/>
                    <a:lstStyle/>
                    <a:p>
                      <a:r>
                        <a:rPr lang="en-US" sz="2000" dirty="0"/>
                        <a:t>Module-5 STRATEGY IMPLEMENTATION</a:t>
                      </a:r>
                    </a:p>
                  </a:txBody>
                  <a:tcPr/>
                </a:tc>
                <a:tc>
                  <a:txBody>
                    <a:bodyPr/>
                    <a:lstStyle/>
                    <a:p>
                      <a:pPr algn="ctr"/>
                      <a:r>
                        <a:rPr lang="en-US" dirty="0"/>
                        <a:t>9</a:t>
                      </a:r>
                    </a:p>
                  </a:txBody>
                  <a:tcPr/>
                </a:tc>
                <a:extLst>
                  <a:ext uri="{0D108BD9-81ED-4DB2-BD59-A6C34878D82A}">
                    <a16:rowId xmlns:a16="http://schemas.microsoft.com/office/drawing/2014/main" xmlns="" val="10005"/>
                  </a:ext>
                </a:extLst>
              </a:tr>
              <a:tr h="488423">
                <a:tc>
                  <a:txBody>
                    <a:bodyPr/>
                    <a:lstStyle/>
                    <a:p>
                      <a:pPr algn="ctr"/>
                      <a:r>
                        <a:rPr lang="en-US" dirty="0"/>
                        <a:t>#6</a:t>
                      </a:r>
                    </a:p>
                  </a:txBody>
                  <a:tcPr/>
                </a:tc>
                <a:tc>
                  <a:txBody>
                    <a:bodyPr/>
                    <a:lstStyle/>
                    <a:p>
                      <a:r>
                        <a:rPr lang="en-IN" sz="2000" dirty="0"/>
                        <a:t>Module-6 STRATEGY EVALUATION </a:t>
                      </a:r>
                      <a:endParaRPr lang="en-US" sz="2000" dirty="0"/>
                    </a:p>
                  </a:txBody>
                  <a:tcPr/>
                </a:tc>
                <a:tc>
                  <a:txBody>
                    <a:bodyPr/>
                    <a:lstStyle/>
                    <a:p>
                      <a:pPr algn="ctr"/>
                      <a:r>
                        <a:rPr lang="en-US" dirty="0"/>
                        <a:t>7</a:t>
                      </a:r>
                    </a:p>
                  </a:txBody>
                  <a:tcPr/>
                </a:tc>
                <a:extLst>
                  <a:ext uri="{0D108BD9-81ED-4DB2-BD59-A6C34878D82A}">
                    <a16:rowId xmlns:a16="http://schemas.microsoft.com/office/drawing/2014/main" xmlns="" val="10006"/>
                  </a:ext>
                </a:extLst>
              </a:tr>
              <a:tr h="488423">
                <a:tc>
                  <a:txBody>
                    <a:bodyPr/>
                    <a:lstStyle/>
                    <a:p>
                      <a:endParaRPr lang="en-US" dirty="0"/>
                    </a:p>
                  </a:txBody>
                  <a:tcPr/>
                </a:tc>
                <a:tc>
                  <a:txBody>
                    <a:bodyPr/>
                    <a:lstStyle/>
                    <a:p>
                      <a:pPr algn="r"/>
                      <a:r>
                        <a:rPr lang="en-US" b="1" dirty="0"/>
                        <a:t>Total Hours </a:t>
                      </a:r>
                    </a:p>
                  </a:txBody>
                  <a:tcPr/>
                </a:tc>
                <a:tc>
                  <a:txBody>
                    <a:bodyPr/>
                    <a:lstStyle/>
                    <a:p>
                      <a:pPr algn="ctr"/>
                      <a:r>
                        <a:rPr lang="en-US" b="1" dirty="0"/>
                        <a:t>50</a:t>
                      </a:r>
                    </a:p>
                  </a:txBody>
                  <a:tcPr/>
                </a:tc>
                <a:extLst>
                  <a:ext uri="{0D108BD9-81ED-4DB2-BD59-A6C34878D82A}">
                    <a16:rowId xmlns:a16="http://schemas.microsoft.com/office/drawing/2014/main" xmlns="" val="10007"/>
                  </a:ext>
                </a:extLst>
              </a:tr>
            </a:tbl>
          </a:graphicData>
        </a:graphic>
      </p:graphicFrame>
      <p:pic>
        <p:nvPicPr>
          <p:cNvPr id="8" name="Picture 2" descr="D:\MBA Teaching Material\Marketing Management\MM\Images\vtu-logo.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38457" y="15240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a:extLst>
              <a:ext uri="{FF2B5EF4-FFF2-40B4-BE49-F238E27FC236}">
                <a16:creationId xmlns:a16="http://schemas.microsoft.com/office/drawing/2014/main" xmlns="" id="{629C13E8-A953-C460-D874-51A1CB64350A}"/>
              </a:ext>
            </a:extLst>
          </p:cNvPr>
          <p:cNvSpPr>
            <a:spLocks noGrp="1"/>
          </p:cNvSpPr>
          <p:nvPr>
            <p:ph type="dt" sz="half" idx="10"/>
          </p:nvPr>
        </p:nvSpPr>
        <p:spPr/>
        <p:txBody>
          <a:bodyPr/>
          <a:lstStyle/>
          <a:p>
            <a:fld id="{A01FDED4-446A-41A4-90E8-D0068236E7F4}" type="datetime1">
              <a:rPr lang="en-US" smtClean="0"/>
              <a:t>7/7/2026</a:t>
            </a:fld>
            <a:endParaRPr lang="en-US" dirty="0"/>
          </a:p>
        </p:txBody>
      </p:sp>
      <p:sp>
        <p:nvSpPr>
          <p:cNvPr id="5" name="Footer Placeholder 4">
            <a:extLst>
              <a:ext uri="{FF2B5EF4-FFF2-40B4-BE49-F238E27FC236}">
                <a16:creationId xmlns:a16="http://schemas.microsoft.com/office/drawing/2014/main" xmlns="" id="{5694A63D-9434-6175-02FE-AD1A15C9933B}"/>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C51CFC53-0DC4-6694-9F96-3827E392C46E}"/>
              </a:ext>
            </a:extLst>
          </p:cNvPr>
          <p:cNvSpPr>
            <a:spLocks noGrp="1"/>
          </p:cNvSpPr>
          <p:nvPr>
            <p:ph type="sldNum" sz="quarter" idx="12"/>
          </p:nvPr>
        </p:nvSpPr>
        <p:spPr/>
        <p:txBody>
          <a:bodyPr/>
          <a:lstStyle/>
          <a:p>
            <a:fld id="{E566A64D-537C-4258-BCDA-D6FBF77857E8}" type="slidenum">
              <a:rPr lang="en-US" smtClean="0"/>
              <a:pPr/>
              <a:t>2</a:t>
            </a:fld>
            <a:endParaRPr lang="en-US" dirty="0"/>
          </a:p>
        </p:txBody>
      </p:sp>
    </p:spTree>
    <p:extLst>
      <p:ext uri="{BB962C8B-B14F-4D97-AF65-F5344CB8AC3E}">
        <p14:creationId xmlns:p14="http://schemas.microsoft.com/office/powerpoint/2010/main" val="34484134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FF5E7DA-A4D6-B46E-3831-158A8E8A0A0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B57103E-4C0C-F223-83A2-61D756E62024}"/>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BC7D0C3E-B6D3-B3AE-8E74-3B2E34276E1B}"/>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09EF56EF-341C-643A-EF2A-B0DD08CD074B}"/>
              </a:ext>
            </a:extLst>
          </p:cNvPr>
          <p:cNvSpPr>
            <a:spLocks noGrp="1"/>
          </p:cNvSpPr>
          <p:nvPr>
            <p:ph type="sldNum" sz="quarter" idx="12"/>
          </p:nvPr>
        </p:nvSpPr>
        <p:spPr/>
        <p:txBody>
          <a:bodyPr/>
          <a:lstStyle/>
          <a:p>
            <a:fld id="{E566A64D-537C-4258-BCDA-D6FBF77857E8}" type="slidenum">
              <a:rPr lang="en-US" smtClean="0"/>
              <a:pPr/>
              <a:t>3</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D3F75695-6C20-D7F1-73F5-6357F556F1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E81468CA-6DDD-7AAD-C634-39691C6BF277}"/>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9" name="Picture 8">
            <a:extLst>
              <a:ext uri="{FF2B5EF4-FFF2-40B4-BE49-F238E27FC236}">
                <a16:creationId xmlns:a16="http://schemas.microsoft.com/office/drawing/2014/main" xmlns="" id="{28049CC8-2926-2456-6BE8-FF80C8752835}"/>
              </a:ext>
            </a:extLst>
          </p:cNvPr>
          <p:cNvPicPr>
            <a:picLocks noChangeAspect="1"/>
          </p:cNvPicPr>
          <p:nvPr/>
        </p:nvPicPr>
        <p:blipFill>
          <a:blip r:embed="rId3"/>
          <a:stretch>
            <a:fillRect/>
          </a:stretch>
        </p:blipFill>
        <p:spPr>
          <a:xfrm>
            <a:off x="609600" y="346288"/>
            <a:ext cx="6498616" cy="5699125"/>
          </a:xfrm>
          <a:prstGeom prst="rect">
            <a:avLst/>
          </a:prstGeom>
        </p:spPr>
      </p:pic>
    </p:spTree>
    <p:extLst>
      <p:ext uri="{BB962C8B-B14F-4D97-AF65-F5344CB8AC3E}">
        <p14:creationId xmlns:p14="http://schemas.microsoft.com/office/powerpoint/2010/main" val="31193134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60E2C9B-D622-DFEF-79D1-D66A870BECE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CD1D81A8-6D95-3AB6-596E-995EDAD264B8}"/>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E4D11811-0DD3-5914-B5F8-2217E214FACB}"/>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9D1A944A-262E-57D2-E17E-B9E6432560F0}"/>
              </a:ext>
            </a:extLst>
          </p:cNvPr>
          <p:cNvSpPr>
            <a:spLocks noGrp="1"/>
          </p:cNvSpPr>
          <p:nvPr>
            <p:ph type="sldNum" sz="quarter" idx="12"/>
          </p:nvPr>
        </p:nvSpPr>
        <p:spPr/>
        <p:txBody>
          <a:bodyPr/>
          <a:lstStyle/>
          <a:p>
            <a:fld id="{E566A64D-537C-4258-BCDA-D6FBF77857E8}" type="slidenum">
              <a:rPr lang="en-US" smtClean="0"/>
              <a:pPr/>
              <a:t>4</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219A24BC-6A2F-F066-551D-7759E7F5E42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xmlns="" id="{1C90A3EA-17AC-9171-6282-3CFC3F90B731}"/>
              </a:ext>
            </a:extLst>
          </p:cNvPr>
          <p:cNvPicPr>
            <a:picLocks noChangeAspect="1"/>
          </p:cNvPicPr>
          <p:nvPr/>
        </p:nvPicPr>
        <p:blipFill>
          <a:blip r:embed="rId3"/>
          <a:stretch>
            <a:fillRect/>
          </a:stretch>
        </p:blipFill>
        <p:spPr>
          <a:xfrm>
            <a:off x="0" y="840668"/>
            <a:ext cx="9144000" cy="5176664"/>
          </a:xfrm>
          <a:prstGeom prst="rect">
            <a:avLst/>
          </a:prstGeom>
        </p:spPr>
      </p:pic>
    </p:spTree>
    <p:extLst>
      <p:ext uri="{BB962C8B-B14F-4D97-AF65-F5344CB8AC3E}">
        <p14:creationId xmlns:p14="http://schemas.microsoft.com/office/powerpoint/2010/main" val="3514957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7462773-8933-3BBC-0D34-BD2943429B5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00E823D-2779-67AD-4C67-576F2F03A0BB}"/>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6449F871-F8D6-6DA9-A40A-2F2DE402E6A9}"/>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040BB736-8D49-C1FA-69CA-0569FD0B6F12}"/>
              </a:ext>
            </a:extLst>
          </p:cNvPr>
          <p:cNvSpPr>
            <a:spLocks noGrp="1"/>
          </p:cNvSpPr>
          <p:nvPr>
            <p:ph type="sldNum" sz="quarter" idx="12"/>
          </p:nvPr>
        </p:nvSpPr>
        <p:spPr/>
        <p:txBody>
          <a:bodyPr/>
          <a:lstStyle/>
          <a:p>
            <a:fld id="{E566A64D-537C-4258-BCDA-D6FBF77857E8}" type="slidenum">
              <a:rPr lang="en-US" smtClean="0"/>
              <a:pPr/>
              <a:t>5</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E46156E5-D0A1-966B-1EF9-3C8EC8139F7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xmlns="" id="{AFF25EA4-9411-48B9-D355-FA8A8E4BDB38}"/>
              </a:ext>
            </a:extLst>
          </p:cNvPr>
          <p:cNvSpPr txBox="1"/>
          <p:nvPr/>
        </p:nvSpPr>
        <p:spPr>
          <a:xfrm>
            <a:off x="838200" y="533400"/>
            <a:ext cx="7010400" cy="923330"/>
          </a:xfrm>
          <a:prstGeom prst="rect">
            <a:avLst/>
          </a:prstGeom>
          <a:noFill/>
        </p:spPr>
        <p:txBody>
          <a:bodyPr wrap="square">
            <a:spAutoFit/>
          </a:bodyPr>
          <a:lstStyle/>
          <a:p>
            <a:r>
              <a:rPr lang="en-US" dirty="0"/>
              <a:t>By thoroughly analyzing these internal dimensions, leaders are equipped to fine-tune strategy, allocate resources wisely, manage risks, and exceed performance expectations.</a:t>
            </a:r>
            <a:endParaRPr lang="en-IN" dirty="0"/>
          </a:p>
        </p:txBody>
      </p:sp>
      <p:sp>
        <p:nvSpPr>
          <p:cNvPr id="9" name="TextBox 8">
            <a:extLst>
              <a:ext uri="{FF2B5EF4-FFF2-40B4-BE49-F238E27FC236}">
                <a16:creationId xmlns:a16="http://schemas.microsoft.com/office/drawing/2014/main" xmlns="" id="{0C5DD15D-4970-9909-2EBA-493E5095085B}"/>
              </a:ext>
            </a:extLst>
          </p:cNvPr>
          <p:cNvSpPr txBox="1"/>
          <p:nvPr/>
        </p:nvSpPr>
        <p:spPr>
          <a:xfrm>
            <a:off x="952500" y="1600200"/>
            <a:ext cx="6781800" cy="646331"/>
          </a:xfrm>
          <a:prstGeom prst="rect">
            <a:avLst/>
          </a:prstGeom>
          <a:noFill/>
        </p:spPr>
        <p:txBody>
          <a:bodyPr wrap="square">
            <a:spAutoFit/>
          </a:bodyPr>
          <a:lstStyle/>
          <a:p>
            <a:r>
              <a:rPr lang="en-US" b="1" dirty="0"/>
              <a:t>Purpose</a:t>
            </a:r>
            <a:r>
              <a:rPr lang="en-US" dirty="0"/>
              <a:t>: Build a clear, evidence-based picture of internal capabilities, readiness, and constraints.</a:t>
            </a:r>
            <a:endParaRPr lang="en-IN" dirty="0"/>
          </a:p>
        </p:txBody>
      </p:sp>
      <p:sp>
        <p:nvSpPr>
          <p:cNvPr id="13" name="TextBox 12">
            <a:extLst>
              <a:ext uri="{FF2B5EF4-FFF2-40B4-BE49-F238E27FC236}">
                <a16:creationId xmlns:a16="http://schemas.microsoft.com/office/drawing/2014/main" xmlns="" id="{8F3065FE-A4CD-2C4C-609A-01F86F05C8E3}"/>
              </a:ext>
            </a:extLst>
          </p:cNvPr>
          <p:cNvSpPr txBox="1"/>
          <p:nvPr/>
        </p:nvSpPr>
        <p:spPr>
          <a:xfrm>
            <a:off x="690540" y="2949476"/>
            <a:ext cx="8377259" cy="2585323"/>
          </a:xfrm>
          <a:prstGeom prst="rect">
            <a:avLst/>
          </a:prstGeom>
          <a:noFill/>
        </p:spPr>
        <p:txBody>
          <a:bodyPr wrap="square">
            <a:spAutoFit/>
          </a:bodyPr>
          <a:lstStyle/>
          <a:p>
            <a:r>
              <a:rPr lang="en-US" dirty="0"/>
              <a:t>All organizations have strengths and weaknesses in the functional areas of business. No enterprise is equally strong or weak in all areas. </a:t>
            </a:r>
          </a:p>
          <a:p>
            <a:r>
              <a:rPr lang="en-US" dirty="0"/>
              <a:t>Maytag, for example, is known for excellent production and product design, whereas </a:t>
            </a:r>
          </a:p>
          <a:p>
            <a:r>
              <a:rPr lang="en-US" dirty="0"/>
              <a:t>Procter &amp; Gamble is known for superb marketing. </a:t>
            </a:r>
          </a:p>
          <a:p>
            <a:endParaRPr lang="en-US" dirty="0"/>
          </a:p>
          <a:p>
            <a:r>
              <a:rPr lang="en-US" b="1" dirty="0">
                <a:solidFill>
                  <a:srgbClr val="FF0000"/>
                </a:solidFill>
              </a:rPr>
              <a:t>Internal strengths/weaknesses, coupled with external opportunities/threats and a clear statement of mission, provide the basis for establishing objectives and strategies.</a:t>
            </a:r>
            <a:endParaRPr lang="en-IN" b="1" dirty="0">
              <a:solidFill>
                <a:srgbClr val="FF0000"/>
              </a:solidFill>
            </a:endParaRPr>
          </a:p>
        </p:txBody>
      </p:sp>
    </p:spTree>
    <p:extLst>
      <p:ext uri="{BB962C8B-B14F-4D97-AF65-F5344CB8AC3E}">
        <p14:creationId xmlns:p14="http://schemas.microsoft.com/office/powerpoint/2010/main" val="9753612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52A6D3-9BD2-F36E-6306-6983FC10D3A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C2F21BEB-C579-B00F-970A-984E292C39CD}"/>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A5B4BFF5-31C5-9EE0-4619-7FFD563B1902}"/>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285C09E9-8637-E05E-AD1A-C37D6B3CE6AC}"/>
              </a:ext>
            </a:extLst>
          </p:cNvPr>
          <p:cNvSpPr>
            <a:spLocks noGrp="1"/>
          </p:cNvSpPr>
          <p:nvPr>
            <p:ph type="sldNum" sz="quarter" idx="12"/>
          </p:nvPr>
        </p:nvSpPr>
        <p:spPr/>
        <p:txBody>
          <a:bodyPr/>
          <a:lstStyle/>
          <a:p>
            <a:fld id="{E566A64D-537C-4258-BCDA-D6FBF77857E8}" type="slidenum">
              <a:rPr lang="en-US" smtClean="0"/>
              <a:pPr/>
              <a:t>6</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7275C0CB-91A0-897C-9ACA-E75E171B7DD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131B946E-C820-255E-558D-AADCBB378A2B}"/>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28" name="Picture 27">
            <a:extLst>
              <a:ext uri="{FF2B5EF4-FFF2-40B4-BE49-F238E27FC236}">
                <a16:creationId xmlns:a16="http://schemas.microsoft.com/office/drawing/2014/main" xmlns="" id="{3F5A57E7-DF49-D87C-CC89-DB67B5924E28}"/>
              </a:ext>
            </a:extLst>
          </p:cNvPr>
          <p:cNvPicPr>
            <a:picLocks noChangeAspect="1"/>
          </p:cNvPicPr>
          <p:nvPr/>
        </p:nvPicPr>
        <p:blipFill>
          <a:blip r:embed="rId3"/>
          <a:stretch>
            <a:fillRect/>
          </a:stretch>
        </p:blipFill>
        <p:spPr>
          <a:xfrm>
            <a:off x="694678" y="2552047"/>
            <a:ext cx="6629400" cy="3986865"/>
          </a:xfrm>
          <a:prstGeom prst="rect">
            <a:avLst/>
          </a:prstGeom>
        </p:spPr>
      </p:pic>
      <p:sp>
        <p:nvSpPr>
          <p:cNvPr id="30" name="TextBox 29">
            <a:extLst>
              <a:ext uri="{FF2B5EF4-FFF2-40B4-BE49-F238E27FC236}">
                <a16:creationId xmlns:a16="http://schemas.microsoft.com/office/drawing/2014/main" xmlns="" id="{1B248DFB-5862-E2E8-4107-EC552C2F8379}"/>
              </a:ext>
            </a:extLst>
          </p:cNvPr>
          <p:cNvSpPr txBox="1"/>
          <p:nvPr/>
        </p:nvSpPr>
        <p:spPr>
          <a:xfrm>
            <a:off x="533400" y="456618"/>
            <a:ext cx="8305800" cy="1938992"/>
          </a:xfrm>
          <a:prstGeom prst="rect">
            <a:avLst/>
          </a:prstGeom>
          <a:noFill/>
        </p:spPr>
        <p:txBody>
          <a:bodyPr wrap="square">
            <a:spAutoFit/>
          </a:bodyPr>
          <a:lstStyle/>
          <a:p>
            <a:r>
              <a:rPr lang="en-US" sz="2400" dirty="0">
                <a:solidFill>
                  <a:srgbClr val="FF0000"/>
                </a:solidFill>
              </a:rPr>
              <a:t>Module focuses on identifying and evaluating a firm’s strengths and weaknesses in the functional areas of business, including management, marketing, finance/accounting, production/operations, research and development, and management information systems</a:t>
            </a:r>
            <a:r>
              <a:rPr lang="en-US" sz="2400" dirty="0"/>
              <a:t>.</a:t>
            </a:r>
            <a:endParaRPr lang="en-IN" sz="2400" dirty="0"/>
          </a:p>
        </p:txBody>
      </p:sp>
    </p:spTree>
    <p:extLst>
      <p:ext uri="{BB962C8B-B14F-4D97-AF65-F5344CB8AC3E}">
        <p14:creationId xmlns:p14="http://schemas.microsoft.com/office/powerpoint/2010/main" val="30130618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CBF7002-5DCB-BC68-CF0E-FC137FE26FA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6A7AE4E9-01F4-EE67-5360-5AB26EF57D0B}"/>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6A920397-0FF8-D7E2-65E6-281B0452EDD3}"/>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E3139599-708C-3EAA-E5A2-A859E076E55C}"/>
              </a:ext>
            </a:extLst>
          </p:cNvPr>
          <p:cNvSpPr>
            <a:spLocks noGrp="1"/>
          </p:cNvSpPr>
          <p:nvPr>
            <p:ph type="sldNum" sz="quarter" idx="12"/>
          </p:nvPr>
        </p:nvSpPr>
        <p:spPr/>
        <p:txBody>
          <a:bodyPr/>
          <a:lstStyle/>
          <a:p>
            <a:fld id="{E566A64D-537C-4258-BCDA-D6FBF77857E8}" type="slidenum">
              <a:rPr lang="en-US" smtClean="0"/>
              <a:pPr/>
              <a:t>7</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07D9B01E-777C-DA8E-E8F8-52E3D7E75C2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78FD5FC0-5376-0FCC-F12F-BFA8B5FDF478}"/>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9" name="TextBox 8">
            <a:extLst>
              <a:ext uri="{FF2B5EF4-FFF2-40B4-BE49-F238E27FC236}">
                <a16:creationId xmlns:a16="http://schemas.microsoft.com/office/drawing/2014/main" xmlns="" id="{296027B0-1544-8AC7-2902-1D89832DB236}"/>
              </a:ext>
            </a:extLst>
          </p:cNvPr>
          <p:cNvSpPr txBox="1"/>
          <p:nvPr/>
        </p:nvSpPr>
        <p:spPr>
          <a:xfrm>
            <a:off x="152400" y="555764"/>
            <a:ext cx="8525522" cy="5632311"/>
          </a:xfrm>
          <a:prstGeom prst="rect">
            <a:avLst/>
          </a:prstGeom>
          <a:noFill/>
        </p:spPr>
        <p:txBody>
          <a:bodyPr wrap="square">
            <a:spAutoFit/>
          </a:bodyPr>
          <a:lstStyle/>
          <a:p>
            <a:pPr>
              <a:buNone/>
            </a:pPr>
            <a:r>
              <a:rPr lang="en-IN" b="1" dirty="0"/>
              <a:t>Purpose of Internal Analysis</a:t>
            </a:r>
          </a:p>
          <a:p>
            <a:pPr>
              <a:buFont typeface="+mj-lt"/>
              <a:buAutoNum type="arabicPeriod"/>
            </a:pPr>
            <a:r>
              <a:rPr lang="en-IN" b="1" dirty="0">
                <a:solidFill>
                  <a:srgbClr val="FF0000"/>
                </a:solidFill>
              </a:rPr>
              <a:t>Uncover Internal Strengths &amp; Weaknesses</a:t>
            </a:r>
            <a:r>
              <a:rPr lang="en-IN" dirty="0"/>
              <a:t/>
            </a:r>
            <a:br>
              <a:rPr lang="en-IN" dirty="0"/>
            </a:br>
            <a:r>
              <a:rPr lang="en-IN" dirty="0"/>
              <a:t>• Identifies what the organization controls—its capabilities, assets, and limitations—to harness advantages and address vulnerabilities </a:t>
            </a:r>
          </a:p>
          <a:p>
            <a:pPr>
              <a:buFont typeface="+mj-lt"/>
              <a:buAutoNum type="arabicPeriod"/>
            </a:pPr>
            <a:r>
              <a:rPr lang="en-IN" b="1" dirty="0">
                <a:solidFill>
                  <a:srgbClr val="FF0000"/>
                </a:solidFill>
              </a:rPr>
              <a:t>Support Strategic Decision-Making</a:t>
            </a:r>
            <a:r>
              <a:rPr lang="en-IN" dirty="0"/>
              <a:t/>
            </a:r>
            <a:br>
              <a:rPr lang="en-IN" dirty="0"/>
            </a:br>
            <a:r>
              <a:rPr lang="en-IN" dirty="0"/>
              <a:t>• Enables informed resource allocation, program prioritization, and operational adjustments based on factual internal insights </a:t>
            </a:r>
          </a:p>
          <a:p>
            <a:pPr>
              <a:buFont typeface="+mj-lt"/>
              <a:buAutoNum type="arabicPeriod"/>
            </a:pPr>
            <a:r>
              <a:rPr lang="en-IN" b="1" dirty="0">
                <a:solidFill>
                  <a:srgbClr val="FF0000"/>
                </a:solidFill>
              </a:rPr>
              <a:t>Establish Competitive Advantage &amp; Viability</a:t>
            </a:r>
            <a:r>
              <a:rPr lang="en-IN" dirty="0">
                <a:solidFill>
                  <a:srgbClr val="FF0000"/>
                </a:solidFill>
              </a:rPr>
              <a:t/>
            </a:r>
            <a:br>
              <a:rPr lang="en-IN" dirty="0">
                <a:solidFill>
                  <a:srgbClr val="FF0000"/>
                </a:solidFill>
              </a:rPr>
            </a:br>
            <a:r>
              <a:rPr lang="en-IN" dirty="0"/>
              <a:t>• Helps highlight core competencies—skills/resources that are valuable, rare, and hard-to-imitate—using frameworks like RBV/VRIO to build lasting competitive strengths </a:t>
            </a:r>
          </a:p>
          <a:p>
            <a:pPr>
              <a:buFont typeface="+mj-lt"/>
              <a:buAutoNum type="arabicPeriod"/>
            </a:pPr>
            <a:r>
              <a:rPr lang="en-IN" b="1" dirty="0">
                <a:solidFill>
                  <a:srgbClr val="FF0000"/>
                </a:solidFill>
              </a:rPr>
              <a:t>Optimize Performance &amp; Resources</a:t>
            </a:r>
            <a:r>
              <a:rPr lang="en-IN" dirty="0"/>
              <a:t/>
            </a:r>
            <a:br>
              <a:rPr lang="en-IN" dirty="0"/>
            </a:br>
            <a:r>
              <a:rPr lang="en-IN" dirty="0"/>
              <a:t>• Reveals relative cost structures, productivity gaps, and process inefficiencies compared to competitors—informing targeted improvements </a:t>
            </a:r>
          </a:p>
          <a:p>
            <a:pPr>
              <a:buFont typeface="+mj-lt"/>
              <a:buAutoNum type="arabicPeriod"/>
            </a:pPr>
            <a:r>
              <a:rPr lang="en-IN" b="1" dirty="0">
                <a:solidFill>
                  <a:srgbClr val="FF0000"/>
                </a:solidFill>
              </a:rPr>
              <a:t>Ensure Strategic Fit</a:t>
            </a:r>
            <a:r>
              <a:rPr lang="en-IN" dirty="0"/>
              <a:t/>
            </a:r>
            <a:br>
              <a:rPr lang="en-IN" dirty="0"/>
            </a:br>
            <a:r>
              <a:rPr lang="en-IN" dirty="0"/>
              <a:t>• Gauges whether the organization's culture, structure, and capabilities align with its strategic goals for better strategy execution .</a:t>
            </a:r>
          </a:p>
          <a:p>
            <a:pPr>
              <a:buFont typeface="+mj-lt"/>
              <a:buAutoNum type="arabicPeriod"/>
            </a:pPr>
            <a:r>
              <a:rPr lang="en-IN" b="1" dirty="0">
                <a:solidFill>
                  <a:srgbClr val="FF0000"/>
                </a:solidFill>
              </a:rPr>
              <a:t>Proactive Risk Management</a:t>
            </a:r>
            <a:r>
              <a:rPr lang="en-IN" dirty="0">
                <a:solidFill>
                  <a:srgbClr val="FF0000"/>
                </a:solidFill>
              </a:rPr>
              <a:t/>
            </a:r>
            <a:br>
              <a:rPr lang="en-IN" dirty="0">
                <a:solidFill>
                  <a:srgbClr val="FF0000"/>
                </a:solidFill>
              </a:rPr>
            </a:br>
            <a:r>
              <a:rPr lang="en-IN" dirty="0"/>
              <a:t>• Surfaces internal vulnerabilities so leaders can act before issues disrupt operations or strategic goals</a:t>
            </a:r>
          </a:p>
        </p:txBody>
      </p:sp>
    </p:spTree>
    <p:extLst>
      <p:ext uri="{BB962C8B-B14F-4D97-AF65-F5344CB8AC3E}">
        <p14:creationId xmlns:p14="http://schemas.microsoft.com/office/powerpoint/2010/main" val="2210329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95401"/>
            <a:ext cx="8229600" cy="4724400"/>
          </a:xfrm>
        </p:spPr>
        <p:txBody>
          <a:bodyPr>
            <a:normAutofit/>
          </a:bodyPr>
          <a:lstStyle/>
          <a:p>
            <a:pPr>
              <a:buNone/>
            </a:pPr>
            <a:r>
              <a:rPr lang="en-US" sz="2800" dirty="0">
                <a:latin typeface="Times New Roman" pitchFamily="18" charset="0"/>
                <a:cs typeface="Times New Roman" pitchFamily="18" charset="0"/>
              </a:rPr>
              <a:t>   </a:t>
            </a:r>
          </a:p>
          <a:p>
            <a:pPr>
              <a:buNone/>
            </a:pPr>
            <a:r>
              <a:rPr lang="en-US" sz="2800" dirty="0">
                <a:latin typeface="Times New Roman" pitchFamily="18" charset="0"/>
                <a:cs typeface="Times New Roman" pitchFamily="18" charset="0"/>
              </a:rPr>
              <a:t>   The </a:t>
            </a:r>
            <a:r>
              <a:rPr lang="en-US" sz="2800" b="1" dirty="0">
                <a:latin typeface="Times New Roman" pitchFamily="18" charset="0"/>
                <a:cs typeface="Times New Roman" pitchFamily="18" charset="0"/>
              </a:rPr>
              <a:t>internal environment</a:t>
            </a:r>
            <a:r>
              <a:rPr lang="en-US" sz="2800" dirty="0">
                <a:latin typeface="Times New Roman" pitchFamily="18" charset="0"/>
                <a:cs typeface="Times New Roman" pitchFamily="18" charset="0"/>
              </a:rPr>
              <a:t> of an organization refers to the internal forces, conditions, and resources that influence its functioning and performance.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a:solidFill>
                  <a:srgbClr val="FF0000"/>
                </a:solidFill>
              </a:rPr>
              <a:t>Nature of internal audit</a:t>
            </a:r>
            <a:endParaRPr lang="en-US" dirty="0"/>
          </a:p>
        </p:txBody>
      </p:sp>
      <p:sp>
        <p:nvSpPr>
          <p:cNvPr id="3" name="Content Placeholder 2"/>
          <p:cNvSpPr>
            <a:spLocks noGrp="1"/>
          </p:cNvSpPr>
          <p:nvPr>
            <p:ph idx="1"/>
          </p:nvPr>
        </p:nvSpPr>
        <p:spPr>
          <a:xfrm>
            <a:off x="457200" y="1219200"/>
            <a:ext cx="8382000" cy="5334000"/>
          </a:xfrm>
        </p:spPr>
        <p:txBody>
          <a:bodyPr>
            <a:normAutofit/>
          </a:bodyPr>
          <a:lstStyle/>
          <a:p>
            <a:pPr>
              <a:buNone/>
            </a:pPr>
            <a:r>
              <a:rPr lang="en-US" sz="2400" b="1" dirty="0">
                <a:latin typeface="Times New Roman" pitchFamily="18" charset="0"/>
                <a:cs typeface="Times New Roman" pitchFamily="18" charset="0"/>
              </a:rPr>
              <a:t>1</a:t>
            </a:r>
            <a:r>
              <a:rPr lang="en-US" sz="2800" b="1" dirty="0">
                <a:latin typeface="Times New Roman" pitchFamily="18" charset="0"/>
                <a:cs typeface="Times New Roman" pitchFamily="18" charset="0"/>
              </a:rPr>
              <a:t>. Systematic and Structured Evaluation:</a:t>
            </a:r>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Internal audit is a process of examining and evaluating the organization’s internal controls, processes, and systems to ensure they align with organizational objectives.</a:t>
            </a:r>
          </a:p>
          <a:p>
            <a:pPr>
              <a:buNone/>
            </a:pPr>
            <a:r>
              <a:rPr lang="en-US" sz="2800" b="1" dirty="0">
                <a:latin typeface="Times New Roman" pitchFamily="18" charset="0"/>
                <a:cs typeface="Times New Roman" pitchFamily="18" charset="0"/>
              </a:rPr>
              <a:t>2. Focus on Internal Controls and Risk Management:</a:t>
            </a:r>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Internal audit evaluates the effectiveness of internal controls designed to manage risks related to operations, finance, compliance, and information systems.</a:t>
            </a:r>
          </a:p>
          <a:p>
            <a:pPr>
              <a:buNone/>
            </a:pPr>
            <a:endParaRPr lang="en-US" sz="2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04800"/>
            <a:ext cx="8458200" cy="5821363"/>
          </a:xfrm>
        </p:spPr>
        <p:txBody>
          <a:bodyPr>
            <a:noAutofit/>
          </a:bodyPr>
          <a:lstStyle/>
          <a:p>
            <a:pPr marL="457200" indent="-457200">
              <a:buAutoNum type="arabicPeriod" startAt="3"/>
            </a:pPr>
            <a:r>
              <a:rPr lang="en-US" sz="2800" b="1" dirty="0">
                <a:latin typeface="Times New Roman" pitchFamily="18" charset="0"/>
                <a:cs typeface="Times New Roman" pitchFamily="18" charset="0"/>
              </a:rPr>
              <a:t>Enhances Corporate Governance:</a:t>
            </a:r>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Internal audit supports governance by ensuring policies, laws, and regulations are followed within the internal environment, promoting ethical and compliant business practices.</a:t>
            </a:r>
          </a:p>
          <a:p>
            <a:pPr marL="457200" indent="-457200">
              <a:buAutoNum type="arabicPeriod" startAt="3"/>
            </a:pPr>
            <a:r>
              <a:rPr lang="en-US" sz="2800" b="1" dirty="0">
                <a:latin typeface="Times New Roman" pitchFamily="18" charset="0"/>
                <a:cs typeface="Times New Roman" pitchFamily="18" charset="0"/>
              </a:rPr>
              <a:t>Continuous Monitoring and Improvement:</a:t>
            </a:r>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Internal audit is not a one-time exercise but a continuous activity that helps identify weaknesses, gaps, and inefficiencies within the internal environment and recommends improvements.</a:t>
            </a:r>
          </a:p>
          <a:p>
            <a:pPr marL="457200" indent="-457200">
              <a:buAutoNum type="arabicPeriod" startAt="3"/>
            </a:pPr>
            <a:r>
              <a:rPr lang="en-US" sz="2800" b="1" dirty="0">
                <a:latin typeface="Times New Roman" pitchFamily="18" charset="0"/>
                <a:cs typeface="Times New Roman" pitchFamily="18" charset="0"/>
              </a:rPr>
              <a:t>Adds Value to Strategic Decision-Making:</a:t>
            </a:r>
            <a:r>
              <a:rPr lang="en-US" sz="2800" dirty="0">
                <a:latin typeface="Times New Roman" pitchFamily="18" charset="0"/>
                <a:cs typeface="Times New Roman" pitchFamily="18" charset="0"/>
              </a:rPr>
              <a:t/>
            </a:r>
            <a:br>
              <a:rPr lang="en-US" sz="2800" dirty="0">
                <a:latin typeface="Times New Roman" pitchFamily="18" charset="0"/>
                <a:cs typeface="Times New Roman" pitchFamily="18" charset="0"/>
              </a:rPr>
            </a:br>
            <a:r>
              <a:rPr lang="en-US" sz="2800" dirty="0">
                <a:latin typeface="Times New Roman" pitchFamily="18" charset="0"/>
                <a:cs typeface="Times New Roman" pitchFamily="18" charset="0"/>
              </a:rPr>
              <a:t>The insights from internal audit assist management in making informed decisions by understanding internal strengths and weaknesses better.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solidFill>
                  <a:srgbClr val="FF0000"/>
                </a:solidFill>
                <a:latin typeface="Times New Roman" pitchFamily="18" charset="0"/>
                <a:cs typeface="Times New Roman" pitchFamily="18" charset="0"/>
              </a:rPr>
              <a:t>Key Internal Forces</a:t>
            </a:r>
          </a:p>
        </p:txBody>
      </p:sp>
      <p:sp>
        <p:nvSpPr>
          <p:cNvPr id="3" name="Content Placeholder 2"/>
          <p:cNvSpPr>
            <a:spLocks noGrp="1"/>
          </p:cNvSpPr>
          <p:nvPr>
            <p:ph idx="1"/>
          </p:nvPr>
        </p:nvSpPr>
        <p:spPr>
          <a:xfrm>
            <a:off x="457200" y="1295400"/>
            <a:ext cx="8229600" cy="4830763"/>
          </a:xfrm>
        </p:spPr>
        <p:txBody>
          <a:bodyPr>
            <a:normAutofit/>
          </a:bodyPr>
          <a:lstStyle/>
          <a:p>
            <a:pPr>
              <a:buNone/>
            </a:pPr>
            <a:r>
              <a:rPr lang="en-US" sz="2800" dirty="0"/>
              <a:t>    </a:t>
            </a:r>
          </a:p>
          <a:p>
            <a:pPr>
              <a:buNone/>
            </a:pPr>
            <a:r>
              <a:rPr lang="en-US" sz="2800" dirty="0"/>
              <a:t>    </a:t>
            </a:r>
            <a:r>
              <a:rPr lang="en-US" sz="2800" dirty="0">
                <a:latin typeface="Times New Roman" pitchFamily="18" charset="0"/>
                <a:cs typeface="Times New Roman" pitchFamily="18" charset="0"/>
              </a:rPr>
              <a:t>Internal forces are the factors within an organization that influence its ability to achieve strategic goals. These forces form the internal environment, which can be assessed to understand the company’s strengths and weaknesses.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382000" cy="5897563"/>
          </a:xfrm>
        </p:spPr>
        <p:txBody>
          <a:bodyPr>
            <a:normAutofit/>
          </a:bodyPr>
          <a:lstStyle/>
          <a:p>
            <a:pPr algn="ctr">
              <a:buNone/>
            </a:pPr>
            <a:r>
              <a:rPr lang="en-US" sz="2800" b="1" dirty="0">
                <a:solidFill>
                  <a:srgbClr val="FF0000"/>
                </a:solidFill>
              </a:rPr>
              <a:t>Major Key Internal Forces</a:t>
            </a:r>
          </a:p>
          <a:p>
            <a:pPr>
              <a:buNone/>
            </a:pPr>
            <a:endParaRPr lang="en-US" sz="2800" dirty="0">
              <a:solidFill>
                <a:srgbClr val="FF0000"/>
              </a:solidFill>
              <a:latin typeface="Times New Roman" pitchFamily="18" charset="0"/>
              <a:cs typeface="Times New Roman" pitchFamily="18" charset="0"/>
            </a:endParaRPr>
          </a:p>
        </p:txBody>
      </p:sp>
      <p:pic>
        <p:nvPicPr>
          <p:cNvPr id="5" name="Picture 4">
            <a:extLst>
              <a:ext uri="{FF2B5EF4-FFF2-40B4-BE49-F238E27FC236}">
                <a16:creationId xmlns:a16="http://schemas.microsoft.com/office/drawing/2014/main" xmlns="" id="{9E42193B-B071-4581-B737-20D9AFFEB3BB}"/>
              </a:ext>
            </a:extLst>
          </p:cNvPr>
          <p:cNvPicPr>
            <a:picLocks noChangeAspect="1"/>
          </p:cNvPicPr>
          <p:nvPr/>
        </p:nvPicPr>
        <p:blipFill>
          <a:blip r:embed="rId2"/>
          <a:stretch>
            <a:fillRect/>
          </a:stretch>
        </p:blipFill>
        <p:spPr>
          <a:xfrm>
            <a:off x="1295400" y="838200"/>
            <a:ext cx="6629400" cy="56388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24880FA-FA8C-4282-8A5F-FD4ACD703EE9}"/>
              </a:ext>
            </a:extLst>
          </p:cNvPr>
          <p:cNvSpPr>
            <a:spLocks noGrp="1"/>
          </p:cNvSpPr>
          <p:nvPr>
            <p:ph type="title"/>
          </p:nvPr>
        </p:nvSpPr>
        <p:spPr>
          <a:xfrm>
            <a:off x="457200" y="274638"/>
            <a:ext cx="8229600" cy="792162"/>
          </a:xfrm>
        </p:spPr>
        <p:txBody>
          <a:bodyPr>
            <a:normAutofit fontScale="90000"/>
          </a:bodyPr>
          <a:lstStyle/>
          <a:p>
            <a:r>
              <a:rPr lang="en-US" sz="3600" b="1" dirty="0">
                <a:solidFill>
                  <a:srgbClr val="FF0000"/>
                </a:solidFill>
              </a:rPr>
              <a:t>The Internal Audit Process</a:t>
            </a:r>
            <a:endParaRPr lang="en-IN" sz="3600" b="1" dirty="0">
              <a:solidFill>
                <a:srgbClr val="FF0000"/>
              </a:solidFill>
            </a:endParaRPr>
          </a:p>
        </p:txBody>
      </p:sp>
      <p:pic>
        <p:nvPicPr>
          <p:cNvPr id="2050" name="Picture 2" descr="procedure of internal audit">
            <a:extLst>
              <a:ext uri="{FF2B5EF4-FFF2-40B4-BE49-F238E27FC236}">
                <a16:creationId xmlns:a16="http://schemas.microsoft.com/office/drawing/2014/main" xmlns="" id="{165E9357-393D-4748-8592-F6A20827FF2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62000" y="1338262"/>
            <a:ext cx="7772400" cy="5138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0587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F237A54-91C0-4ABB-B3F4-2DC32AB8374B}"/>
              </a:ext>
            </a:extLst>
          </p:cNvPr>
          <p:cNvSpPr>
            <a:spLocks noGrp="1"/>
          </p:cNvSpPr>
          <p:nvPr>
            <p:ph idx="1"/>
          </p:nvPr>
        </p:nvSpPr>
        <p:spPr>
          <a:xfrm>
            <a:off x="457200" y="304800"/>
            <a:ext cx="8382000" cy="6400800"/>
          </a:xfrm>
        </p:spPr>
        <p:txBody>
          <a:bodyPr>
            <a:normAutofit/>
          </a:bodyPr>
          <a:lstStyle/>
          <a:p>
            <a:pPr marL="514350" indent="-514350">
              <a:buAutoNum type="arabicPeriod"/>
            </a:pPr>
            <a:endParaRPr lang="en-US" b="1" dirty="0"/>
          </a:p>
          <a:p>
            <a:pPr marL="514350" indent="-514350">
              <a:buAutoNum type="arabicPeriod"/>
            </a:pPr>
            <a:endParaRPr lang="en-US" b="1" dirty="0"/>
          </a:p>
          <a:p>
            <a:pPr marL="514350" indent="-514350">
              <a:buAutoNum type="arabicPeriod"/>
            </a:pPr>
            <a:r>
              <a:rPr lang="en-US" b="1" dirty="0">
                <a:solidFill>
                  <a:srgbClr val="00B0F0"/>
                </a:solidFill>
              </a:rPr>
              <a:t>Planning:</a:t>
            </a:r>
          </a:p>
          <a:p>
            <a:pPr marL="0" indent="0">
              <a:buNone/>
            </a:pPr>
            <a:r>
              <a:rPr lang="en-US" dirty="0"/>
              <a:t> In the course of the planning process, the audit team will describe the objectives and scope, evaluates instructions related to audit such as law, policies, procedures, etc. The audit plans are performed by analyzing the results from past audits and arranging a timetable.</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3087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EA513247-F70E-4914-8A52-3E873B5CAEFB}"/>
              </a:ext>
            </a:extLst>
          </p:cNvPr>
          <p:cNvSpPr>
            <a:spLocks noGrp="1"/>
          </p:cNvSpPr>
          <p:nvPr>
            <p:ph idx="1"/>
          </p:nvPr>
        </p:nvSpPr>
        <p:spPr>
          <a:xfrm>
            <a:off x="457200" y="533400"/>
            <a:ext cx="8229600" cy="5592763"/>
          </a:xfrm>
        </p:spPr>
        <p:txBody>
          <a:bodyPr/>
          <a:lstStyle/>
          <a:p>
            <a:pPr marL="0" indent="0">
              <a:buNone/>
            </a:pPr>
            <a:endParaRPr lang="en-US" sz="2800" b="1" dirty="0"/>
          </a:p>
          <a:p>
            <a:pPr marL="0" indent="0">
              <a:buNone/>
            </a:pPr>
            <a:r>
              <a:rPr lang="en-US" b="1" dirty="0">
                <a:solidFill>
                  <a:srgbClr val="00B0F0"/>
                </a:solidFill>
              </a:rPr>
              <a:t>2.Field-work:</a:t>
            </a:r>
          </a:p>
          <a:p>
            <a:pPr marL="0" indent="0">
              <a:buNone/>
            </a:pPr>
            <a:r>
              <a:rPr lang="en-US" sz="2800" dirty="0"/>
              <a:t> It is a substantial act of internal auditing. During this stage, the audit team will start the audit process by reviewing supporting documents, interviewing department personnel, recognizing exceptions and identifying suggestions for improvement. In the end, the audit department furnishes written feedback and disciplinary action plan for their findings.</a:t>
            </a:r>
          </a:p>
          <a:p>
            <a:endParaRPr lang="en-IN" dirty="0"/>
          </a:p>
        </p:txBody>
      </p:sp>
    </p:spTree>
    <p:extLst>
      <p:ext uri="{BB962C8B-B14F-4D97-AF65-F5344CB8AC3E}">
        <p14:creationId xmlns:p14="http://schemas.microsoft.com/office/powerpoint/2010/main" val="31668027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62F7A04-B3A7-4F6E-BF43-F650086185E0}"/>
              </a:ext>
            </a:extLst>
          </p:cNvPr>
          <p:cNvSpPr>
            <a:spLocks noGrp="1"/>
          </p:cNvSpPr>
          <p:nvPr>
            <p:ph idx="1"/>
          </p:nvPr>
        </p:nvSpPr>
        <p:spPr>
          <a:xfrm>
            <a:off x="457200" y="457200"/>
            <a:ext cx="8229600" cy="5668963"/>
          </a:xfrm>
        </p:spPr>
        <p:txBody>
          <a:bodyPr/>
          <a:lstStyle/>
          <a:p>
            <a:pPr marL="0" indent="0">
              <a:buNone/>
            </a:pPr>
            <a:endParaRPr lang="en-US" sz="2800" b="1" dirty="0"/>
          </a:p>
          <a:p>
            <a:pPr marL="0" indent="0">
              <a:buNone/>
            </a:pPr>
            <a:r>
              <a:rPr lang="en-US" b="1" dirty="0">
                <a:solidFill>
                  <a:srgbClr val="00B0F0"/>
                </a:solidFill>
              </a:rPr>
              <a:t>3. Reporting:</a:t>
            </a:r>
            <a:r>
              <a:rPr lang="en-US" dirty="0">
                <a:solidFill>
                  <a:srgbClr val="00B0F0"/>
                </a:solidFill>
              </a:rPr>
              <a:t> </a:t>
            </a:r>
          </a:p>
          <a:p>
            <a:pPr marL="0" indent="0">
              <a:buNone/>
            </a:pPr>
            <a:r>
              <a:rPr lang="en-US" sz="2800" dirty="0"/>
              <a:t>It is the third stage of the internal audit process. The auditor will formulate the internal audit report that sum-up and convey the audit results; then issues a draft report discussed with the unit management. After that, accurate, fair, short, and appropriate final report is issued by an auditor.</a:t>
            </a:r>
          </a:p>
          <a:p>
            <a:endParaRPr lang="en-IN" dirty="0"/>
          </a:p>
        </p:txBody>
      </p:sp>
    </p:spTree>
    <p:extLst>
      <p:ext uri="{BB962C8B-B14F-4D97-AF65-F5344CB8AC3E}">
        <p14:creationId xmlns:p14="http://schemas.microsoft.com/office/powerpoint/2010/main" val="1136032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D352452-39F3-44B5-9528-3898D92820AC}"/>
              </a:ext>
            </a:extLst>
          </p:cNvPr>
          <p:cNvSpPr>
            <a:spLocks noGrp="1"/>
          </p:cNvSpPr>
          <p:nvPr>
            <p:ph idx="1"/>
          </p:nvPr>
        </p:nvSpPr>
        <p:spPr>
          <a:xfrm>
            <a:off x="457200" y="304800"/>
            <a:ext cx="8305800" cy="6019800"/>
          </a:xfrm>
        </p:spPr>
        <p:txBody>
          <a:bodyPr/>
          <a:lstStyle/>
          <a:p>
            <a:pPr marL="0" indent="0">
              <a:buNone/>
            </a:pPr>
            <a:endParaRPr lang="en-US" b="1" dirty="0">
              <a:solidFill>
                <a:srgbClr val="00B0F0"/>
              </a:solidFill>
              <a:latin typeface="Times New Roman" panose="02020603050405020304" pitchFamily="18" charset="0"/>
              <a:cs typeface="Times New Roman" panose="02020603050405020304" pitchFamily="18" charset="0"/>
            </a:endParaRPr>
          </a:p>
          <a:p>
            <a:pPr marL="0" indent="0">
              <a:buNone/>
            </a:pPr>
            <a:endParaRPr lang="en-US" b="1" dirty="0">
              <a:solidFill>
                <a:srgbClr val="00B0F0"/>
              </a:solidFill>
              <a:latin typeface="Times New Roman" panose="02020603050405020304" pitchFamily="18" charset="0"/>
              <a:cs typeface="Times New Roman" panose="02020603050405020304" pitchFamily="18" charset="0"/>
            </a:endParaRPr>
          </a:p>
          <a:p>
            <a:pPr marL="0" indent="0">
              <a:buNone/>
            </a:pPr>
            <a:r>
              <a:rPr lang="en-US" b="1" dirty="0">
                <a:solidFill>
                  <a:srgbClr val="00B0F0"/>
                </a:solidFill>
                <a:latin typeface="Times New Roman" panose="02020603050405020304" pitchFamily="18" charset="0"/>
                <a:cs typeface="Times New Roman" panose="02020603050405020304" pitchFamily="18" charset="0"/>
              </a:rPr>
              <a:t>4.Follow-up:</a:t>
            </a:r>
          </a:p>
          <a:p>
            <a:pPr marL="0" indent="0">
              <a:buNone/>
            </a:pPr>
            <a:r>
              <a:rPr lang="en-US" sz="2800" dirty="0">
                <a:latin typeface="Times New Roman" panose="02020603050405020304" pitchFamily="18" charset="0"/>
                <a:cs typeface="Times New Roman" panose="02020603050405020304" pitchFamily="18" charset="0"/>
              </a:rPr>
              <a:t> It is the final and an important stage of internal audit which is generally ignored. In this stage, management must require time to time monitoring to achieve suggestions and findings determined during the internal audit process. Without proper and timely follow-up process management cannot expect any positive changes.</a:t>
            </a:r>
          </a:p>
          <a:p>
            <a:endParaRPr lang="en-IN" dirty="0"/>
          </a:p>
        </p:txBody>
      </p:sp>
    </p:spTree>
    <p:extLst>
      <p:ext uri="{BB962C8B-B14F-4D97-AF65-F5344CB8AC3E}">
        <p14:creationId xmlns:p14="http://schemas.microsoft.com/office/powerpoint/2010/main" val="12437463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55C3F5D-014F-48FD-A6EB-7A6528D8D482}"/>
              </a:ext>
            </a:extLst>
          </p:cNvPr>
          <p:cNvSpPr>
            <a:spLocks noGrp="1"/>
          </p:cNvSpPr>
          <p:nvPr>
            <p:ph type="title"/>
          </p:nvPr>
        </p:nvSpPr>
        <p:spPr>
          <a:xfrm>
            <a:off x="457200" y="274638"/>
            <a:ext cx="8229600" cy="1096962"/>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Resource-Based View(RBV)</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84FF4A86-0B77-46FA-AC2B-0185899EC38A}"/>
              </a:ext>
            </a:extLst>
          </p:cNvPr>
          <p:cNvSpPr>
            <a:spLocks noGrp="1"/>
          </p:cNvSpPr>
          <p:nvPr>
            <p:ph idx="1"/>
          </p:nvPr>
        </p:nvSpPr>
        <p:spPr>
          <a:xfrm>
            <a:off x="457200" y="1676400"/>
            <a:ext cx="8229600" cy="4906961"/>
          </a:xfrm>
        </p:spPr>
        <p:txBody>
          <a:bodyPr>
            <a:normAutofit/>
          </a:bodyPr>
          <a:lstStyle/>
          <a:p>
            <a:r>
              <a:rPr lang="en-US" sz="2800" dirty="0">
                <a:latin typeface="Times New Roman" panose="02020603050405020304" pitchFamily="18" charset="0"/>
                <a:cs typeface="Times New Roman" panose="02020603050405020304" pitchFamily="18" charset="0"/>
              </a:rPr>
              <a:t>The Resource-Based View (RBV) is a management tool used to determine the strategic resources of a firm to achieve sustainable competitive advantage.</a:t>
            </a:r>
          </a:p>
          <a:p>
            <a:r>
              <a:rPr lang="en-US" sz="2800" dirty="0">
                <a:latin typeface="Times New Roman" panose="02020603050405020304" pitchFamily="18" charset="0"/>
                <a:cs typeface="Times New Roman" panose="02020603050405020304" pitchFamily="18" charset="0"/>
              </a:rPr>
              <a:t>This theory suggests that internal resources and capabilities of a firm are the main sources of competitive success.</a:t>
            </a:r>
          </a:p>
          <a:p>
            <a:r>
              <a:rPr lang="en-US" sz="2800" dirty="0">
                <a:latin typeface="Times New Roman" panose="02020603050405020304" pitchFamily="18" charset="0"/>
                <a:cs typeface="Times New Roman" panose="02020603050405020304" pitchFamily="18" charset="0"/>
              </a:rPr>
              <a:t>RBV is an important tool for internal environmental analysis to assess the strengths of organization. Thus, it is used to assess organizational performance.</a:t>
            </a:r>
          </a:p>
          <a:p>
            <a:endParaRPr lang="en-IN" dirty="0"/>
          </a:p>
        </p:txBody>
      </p:sp>
    </p:spTree>
    <p:extLst>
      <p:ext uri="{BB962C8B-B14F-4D97-AF65-F5344CB8AC3E}">
        <p14:creationId xmlns:p14="http://schemas.microsoft.com/office/powerpoint/2010/main" val="18723597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95D9304-A710-C0F5-F505-FB5EF2452C7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23540464-9790-4A23-5176-4904D9B95CE1}"/>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972D98BB-6F2B-2B4D-CB0D-7F3BA5F77981}"/>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163E4697-4304-4E76-51B9-E21609F72300}"/>
              </a:ext>
            </a:extLst>
          </p:cNvPr>
          <p:cNvSpPr>
            <a:spLocks noGrp="1"/>
          </p:cNvSpPr>
          <p:nvPr>
            <p:ph type="sldNum" sz="quarter" idx="12"/>
          </p:nvPr>
        </p:nvSpPr>
        <p:spPr/>
        <p:txBody>
          <a:bodyPr/>
          <a:lstStyle/>
          <a:p>
            <a:fld id="{E566A64D-537C-4258-BCDA-D6FBF77857E8}" type="slidenum">
              <a:rPr lang="en-US" smtClean="0"/>
              <a:pPr/>
              <a:t>19</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AA3AE787-3381-81E6-C397-32D7B7598FC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118F4094-EFD3-57E8-2D42-8D1257A8D69A}"/>
              </a:ext>
            </a:extLst>
          </p:cNvPr>
          <p:cNvPicPr>
            <a:picLocks noChangeAspect="1"/>
          </p:cNvPicPr>
          <p:nvPr/>
        </p:nvPicPr>
        <p:blipFill>
          <a:blip r:embed="rId3"/>
          <a:stretch>
            <a:fillRect/>
          </a:stretch>
        </p:blipFill>
        <p:spPr>
          <a:xfrm>
            <a:off x="34219" y="533400"/>
            <a:ext cx="8576381" cy="5472668"/>
          </a:xfrm>
          <a:prstGeom prst="rect">
            <a:avLst/>
          </a:prstGeom>
        </p:spPr>
      </p:pic>
    </p:spTree>
    <p:extLst>
      <p:ext uri="{BB962C8B-B14F-4D97-AF65-F5344CB8AC3E}">
        <p14:creationId xmlns:p14="http://schemas.microsoft.com/office/powerpoint/2010/main" val="37303009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xmlns="" id="{8B008328-1251-4DD6-AD22-E72A61974432}"/>
              </a:ext>
            </a:extLst>
          </p:cNvPr>
          <p:cNvPicPr>
            <a:picLocks noGrp="1" noChangeAspect="1"/>
          </p:cNvPicPr>
          <p:nvPr>
            <p:ph idx="1"/>
          </p:nvPr>
        </p:nvPicPr>
        <p:blipFill>
          <a:blip r:embed="rId2"/>
          <a:stretch>
            <a:fillRect/>
          </a:stretch>
        </p:blipFill>
        <p:spPr>
          <a:xfrm>
            <a:off x="914401" y="304800"/>
            <a:ext cx="7543800" cy="6248400"/>
          </a:xfrm>
          <a:prstGeom prst="rect">
            <a:avLst/>
          </a:prstGeom>
        </p:spPr>
      </p:pic>
    </p:spTree>
    <p:extLst>
      <p:ext uri="{BB962C8B-B14F-4D97-AF65-F5344CB8AC3E}">
        <p14:creationId xmlns:p14="http://schemas.microsoft.com/office/powerpoint/2010/main" val="341059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89CDAD61-6221-4B67-97E5-95DE00AF94ED}"/>
              </a:ext>
            </a:extLst>
          </p:cNvPr>
          <p:cNvSpPr>
            <a:spLocks noGrp="1"/>
          </p:cNvSpPr>
          <p:nvPr>
            <p:ph idx="1"/>
          </p:nvPr>
        </p:nvSpPr>
        <p:spPr>
          <a:xfrm>
            <a:off x="609600" y="457200"/>
            <a:ext cx="8077200" cy="6019800"/>
          </a:xfrm>
        </p:spPr>
        <p:txBody>
          <a:bodyPr>
            <a:normAutofit fontScale="92500" lnSpcReduction="20000"/>
          </a:bodyPr>
          <a:lstStyle/>
          <a:p>
            <a:pPr marL="514350" indent="-514350">
              <a:buFont typeface="+mj-lt"/>
              <a:buAutoNum type="arabicPeriod"/>
            </a:pPr>
            <a:r>
              <a:rPr lang="en-US" sz="2800" b="1" dirty="0"/>
              <a:t>Tangible Resources</a:t>
            </a:r>
          </a:p>
          <a:p>
            <a:pPr marL="0" indent="0">
              <a:buNone/>
            </a:pPr>
            <a:r>
              <a:rPr lang="en-US" sz="2800" dirty="0"/>
              <a:t>      Things you can </a:t>
            </a:r>
            <a:r>
              <a:rPr lang="en-US" sz="2800" b="1" dirty="0"/>
              <a:t>see or touch</a:t>
            </a:r>
            <a:r>
              <a:rPr lang="en-US" sz="2800" dirty="0"/>
              <a:t> like:</a:t>
            </a:r>
          </a:p>
          <a:p>
            <a:pPr marL="0" indent="0">
              <a:buNone/>
            </a:pPr>
            <a:r>
              <a:rPr lang="en-US" sz="2800" dirty="0"/>
              <a:t>      Buildings</a:t>
            </a:r>
          </a:p>
          <a:p>
            <a:pPr marL="0" indent="0">
              <a:buNone/>
            </a:pPr>
            <a:r>
              <a:rPr lang="en-US" sz="2800" dirty="0"/>
              <a:t>      Machines</a:t>
            </a:r>
          </a:p>
          <a:p>
            <a:pPr marL="0" indent="0">
              <a:buNone/>
            </a:pPr>
            <a:r>
              <a:rPr lang="en-US" sz="2800" dirty="0"/>
              <a:t>      Money</a:t>
            </a:r>
          </a:p>
          <a:p>
            <a:pPr marL="0" indent="0">
              <a:buNone/>
            </a:pPr>
            <a:r>
              <a:rPr lang="en-US" sz="2800" dirty="0"/>
              <a:t>      Employees</a:t>
            </a:r>
          </a:p>
          <a:p>
            <a:pPr marL="0" indent="0">
              <a:buNone/>
            </a:pPr>
            <a:r>
              <a:rPr lang="en-US" sz="2800" b="1" dirty="0"/>
              <a:t>2.  Intangible Resources</a:t>
            </a:r>
          </a:p>
          <a:p>
            <a:pPr marL="0" indent="0">
              <a:buNone/>
            </a:pPr>
            <a:r>
              <a:rPr lang="en-US" sz="2800" dirty="0"/>
              <a:t>     Things you </a:t>
            </a:r>
            <a:r>
              <a:rPr lang="en-US" sz="2800" b="1" dirty="0"/>
              <a:t>can’t see</a:t>
            </a:r>
            <a:r>
              <a:rPr lang="en-US" sz="2800" dirty="0"/>
              <a:t>, but are very valuable like:</a:t>
            </a:r>
          </a:p>
          <a:p>
            <a:pPr marL="0" indent="0">
              <a:buNone/>
            </a:pPr>
            <a:r>
              <a:rPr lang="en-US" sz="2800" dirty="0"/>
              <a:t>     Brand name</a:t>
            </a:r>
          </a:p>
          <a:p>
            <a:pPr marL="0" indent="0">
              <a:buNone/>
            </a:pPr>
            <a:r>
              <a:rPr lang="en-US" sz="2800" dirty="0"/>
              <a:t>     Company culture</a:t>
            </a:r>
          </a:p>
          <a:p>
            <a:pPr marL="0" indent="0">
              <a:buNone/>
            </a:pPr>
            <a:r>
              <a:rPr lang="en-US" sz="2800" dirty="0"/>
              <a:t>     Patents</a:t>
            </a:r>
          </a:p>
          <a:p>
            <a:pPr marL="0" indent="0">
              <a:buNone/>
            </a:pPr>
            <a:r>
              <a:rPr lang="en-US" sz="2800" dirty="0"/>
              <a:t>     Knowledge</a:t>
            </a:r>
          </a:p>
          <a:p>
            <a:pPr marL="0" indent="0">
              <a:buNone/>
            </a:pPr>
            <a:r>
              <a:rPr lang="en-US" sz="2800" dirty="0"/>
              <a:t>     Reputation</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9736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1FC0ED1-2D32-43F7-B602-BDE8CAEA6032}"/>
              </a:ext>
            </a:extLst>
          </p:cNvPr>
          <p:cNvSpPr>
            <a:spLocks noGrp="1"/>
          </p:cNvSpPr>
          <p:nvPr>
            <p:ph idx="1"/>
          </p:nvPr>
        </p:nvSpPr>
        <p:spPr>
          <a:xfrm>
            <a:off x="457200" y="533400"/>
            <a:ext cx="8229600" cy="5867399"/>
          </a:xfrm>
        </p:spPr>
        <p:txBody>
          <a:bodyPr>
            <a:normAutofit/>
          </a:bodyPr>
          <a:lstStyle/>
          <a:p>
            <a:endParaRPr lang="en-US" sz="2000" b="1" dirty="0">
              <a:solidFill>
                <a:srgbClr val="00B0F0"/>
              </a:solidFill>
              <a:latin typeface="Times New Roman" panose="02020603050405020304" pitchFamily="18" charset="0"/>
              <a:cs typeface="Times New Roman" panose="02020603050405020304" pitchFamily="18" charset="0"/>
            </a:endParaRPr>
          </a:p>
          <a:p>
            <a:r>
              <a:rPr lang="en-US" sz="2000" b="1" dirty="0">
                <a:solidFill>
                  <a:srgbClr val="00B0F0"/>
                </a:solidFill>
                <a:latin typeface="Times New Roman" panose="02020603050405020304" pitchFamily="18" charset="0"/>
                <a:cs typeface="Times New Roman" panose="02020603050405020304" pitchFamily="18" charset="0"/>
              </a:rPr>
              <a:t>RBV also considers that organizational resources should be heterogeneous and immobile.  </a:t>
            </a:r>
          </a:p>
          <a:p>
            <a:pPr marL="0" indent="0">
              <a:buNone/>
            </a:pPr>
            <a:r>
              <a:rPr lang="en-US" sz="2800" dirty="0"/>
              <a:t>Heterogeneous:</a:t>
            </a:r>
          </a:p>
          <a:p>
            <a:pPr marL="0" indent="0">
              <a:buNone/>
            </a:pPr>
            <a:r>
              <a:rPr lang="en-US" sz="2800" dirty="0"/>
              <a:t>RBV states that companies should have different (</a:t>
            </a:r>
            <a:r>
              <a:rPr lang="en-US" sz="2800" b="1" dirty="0"/>
              <a:t>heterogeneous</a:t>
            </a:r>
            <a:r>
              <a:rPr lang="en-US" sz="2800" dirty="0"/>
              <a:t>) resources. If all firms have similar skills and capabilities, none can gain an advantage—this leads to perfect competition. Companies have unique resources, allowing them to create different strategies. These differences help firms stand out and gain a competitive advantage.</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83834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5D5073B-B16C-4E10-8D47-73D5C1B6F308}"/>
              </a:ext>
            </a:extLst>
          </p:cNvPr>
          <p:cNvSpPr>
            <a:spLocks noGrp="1"/>
          </p:cNvSpPr>
          <p:nvPr>
            <p:ph idx="1"/>
          </p:nvPr>
        </p:nvSpPr>
        <p:spPr>
          <a:xfrm>
            <a:off x="457200" y="304800"/>
            <a:ext cx="8229600" cy="5821363"/>
          </a:xfrm>
        </p:spPr>
        <p:txBody>
          <a:bodyPr>
            <a:normAutofit/>
          </a:bodyPr>
          <a:lstStyle/>
          <a:p>
            <a:pPr marL="0" indent="0">
              <a:buNone/>
            </a:pPr>
            <a:endParaRPr lang="en-US" sz="2800" dirty="0">
              <a:solidFill>
                <a:srgbClr val="FF0000"/>
              </a:solidFill>
              <a:latin typeface="Times New Roman" panose="02020603050405020304" pitchFamily="18" charset="0"/>
              <a:cs typeface="Times New Roman" panose="02020603050405020304" pitchFamily="18" charset="0"/>
            </a:endParaRPr>
          </a:p>
          <a:p>
            <a:pPr marL="0" indent="0">
              <a:buNone/>
            </a:pPr>
            <a:r>
              <a:rPr lang="en-US" sz="2800" dirty="0">
                <a:solidFill>
                  <a:srgbClr val="FF0000"/>
                </a:solidFill>
                <a:latin typeface="Times New Roman" panose="02020603050405020304" pitchFamily="18" charset="0"/>
                <a:cs typeface="Times New Roman" panose="02020603050405020304" pitchFamily="18" charset="0"/>
              </a:rPr>
              <a:t>For example : </a:t>
            </a:r>
          </a:p>
          <a:p>
            <a:pPr marL="0" indent="0">
              <a:buNone/>
            </a:pPr>
            <a:r>
              <a:rPr lang="en-US" sz="2800" dirty="0">
                <a:latin typeface="Times New Roman" panose="02020603050405020304" pitchFamily="18" charset="0"/>
                <a:cs typeface="Times New Roman" panose="02020603050405020304" pitchFamily="18" charset="0"/>
              </a:rPr>
              <a:t>Apple and Samsung are exposed to the same market conditions in the external highly volatile environment but display different performances due to their heterogeneous resources. Apple produces smartphones and tablets with cutting-edge advanced technologies while selling them at higher profit margins, especially with its iOS.  In contrast, Samsung relies on Google’s Android and says its product at a cheaper rate since it does not have access to the resources and technologies possessed by Apple that indicate the heterogeneity between the resources.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68018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E5C1A71-31ED-43BA-831F-A77E115E5970}"/>
              </a:ext>
            </a:extLst>
          </p:cNvPr>
          <p:cNvSpPr>
            <a:spLocks noGrp="1"/>
          </p:cNvSpPr>
          <p:nvPr>
            <p:ph idx="1"/>
          </p:nvPr>
        </p:nvSpPr>
        <p:spPr>
          <a:xfrm>
            <a:off x="457200" y="457200"/>
            <a:ext cx="8229600" cy="5867400"/>
          </a:xfrm>
        </p:spPr>
        <p:txBody>
          <a:bodyPr/>
          <a:lstStyle/>
          <a:p>
            <a:pPr marL="0" indent="0">
              <a:buNone/>
            </a:pPr>
            <a:r>
              <a:rPr lang="en-US" sz="2800" b="1" dirty="0">
                <a:latin typeface="Times New Roman" panose="02020603050405020304" pitchFamily="18" charset="0"/>
                <a:cs typeface="Times New Roman" panose="02020603050405020304" pitchFamily="18" charset="0"/>
              </a:rPr>
              <a:t>Immobile:</a:t>
            </a: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RBV assumes that resources are immobile, i.e. Do not move from one organization to another, at least in the short term. When resources are immobile, rivals cannot replicate other players’ resources in the industry to implement similar strategies. Intangible resources such as trademark brand equity, intellectual property, knowledge and process are immobile resources.</a:t>
            </a:r>
          </a:p>
          <a:p>
            <a:pPr marL="0" indent="0">
              <a:buNone/>
            </a:pPr>
            <a:r>
              <a:rPr lang="en-US" sz="2800" dirty="0">
                <a:latin typeface="Times New Roman" panose="02020603050405020304" pitchFamily="18" charset="0"/>
                <a:cs typeface="Times New Roman" panose="02020603050405020304" pitchFamily="18" charset="0"/>
              </a:rPr>
              <a:t>Good resources can’t be copied or bought easily by others.</a:t>
            </a:r>
            <a:br>
              <a:rPr lang="en-US" sz="2800" dirty="0">
                <a:latin typeface="Times New Roman" panose="02020603050405020304" pitchFamily="18" charset="0"/>
                <a:cs typeface="Times New Roman" panose="02020603050405020304" pitchFamily="18" charset="0"/>
              </a:rPr>
            </a:br>
            <a:r>
              <a:rPr lang="en-US" sz="2800" dirty="0">
                <a:solidFill>
                  <a:srgbClr val="FF0000"/>
                </a:solidFill>
                <a:latin typeface="Times New Roman" panose="02020603050405020304" pitchFamily="18" charset="0"/>
                <a:cs typeface="Times New Roman" panose="02020603050405020304" pitchFamily="18" charset="0"/>
              </a:rPr>
              <a:t>Example: </a:t>
            </a:r>
            <a:r>
              <a:rPr lang="en-US" sz="2800" b="1" dirty="0">
                <a:latin typeface="Times New Roman" panose="02020603050405020304" pitchFamily="18" charset="0"/>
                <a:cs typeface="Times New Roman" panose="02020603050405020304" pitchFamily="18" charset="0"/>
              </a:rPr>
              <a:t>Coca-Cola’s secret formula.</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44259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A07B1A1-578A-43FC-91F0-EB41D8CBC9A1}"/>
              </a:ext>
            </a:extLst>
          </p:cNvPr>
          <p:cNvSpPr>
            <a:spLocks noGrp="1"/>
          </p:cNvSpPr>
          <p:nvPr>
            <p:ph type="title"/>
          </p:nvPr>
        </p:nvSpPr>
        <p:spPr>
          <a:xfrm>
            <a:off x="457200" y="533400"/>
            <a:ext cx="8229600" cy="914400"/>
          </a:xfrm>
        </p:spPr>
        <p:txBody>
          <a:bodyPr/>
          <a:lstStyle/>
          <a:p>
            <a:r>
              <a:rPr lang="en-IN" dirty="0">
                <a:solidFill>
                  <a:srgbClr val="FF0000"/>
                </a:solidFill>
                <a:latin typeface="Times New Roman" panose="02020603050405020304" pitchFamily="18" charset="0"/>
                <a:cs typeface="Times New Roman" panose="02020603050405020304" pitchFamily="18" charset="0"/>
              </a:rPr>
              <a:t>VRIO framework</a:t>
            </a:r>
          </a:p>
        </p:txBody>
      </p:sp>
      <p:sp>
        <p:nvSpPr>
          <p:cNvPr id="3" name="Content Placeholder 2">
            <a:extLst>
              <a:ext uri="{FF2B5EF4-FFF2-40B4-BE49-F238E27FC236}">
                <a16:creationId xmlns:a16="http://schemas.microsoft.com/office/drawing/2014/main" xmlns="" id="{EB2B1C09-3715-4354-8C4B-8CD11A6D7A1F}"/>
              </a:ext>
            </a:extLst>
          </p:cNvPr>
          <p:cNvSpPr>
            <a:spLocks noGrp="1"/>
          </p:cNvSpPr>
          <p:nvPr>
            <p:ph idx="1"/>
          </p:nvPr>
        </p:nvSpPr>
        <p:spPr>
          <a:xfrm>
            <a:off x="457200" y="1600200"/>
            <a:ext cx="8229600" cy="3581400"/>
          </a:xfrm>
        </p:spPr>
        <p:txBody>
          <a:bodyPr>
            <a:normAutofit lnSpcReduction="10000"/>
          </a:bodyPr>
          <a:lstStyle/>
          <a:p>
            <a:pPr marL="0" indent="0">
              <a:buNone/>
            </a:pPr>
            <a:endParaRPr lang="en-US" sz="2800" dirty="0">
              <a:latin typeface="Times New Roman" panose="02020603050405020304" pitchFamily="18" charset="0"/>
              <a:cs typeface="Times New Roman" panose="02020603050405020304" pitchFamily="18" charset="0"/>
            </a:endParaRPr>
          </a:p>
          <a:p>
            <a:pPr marL="0" indent="0" algn="just">
              <a:buNone/>
            </a:pPr>
            <a:r>
              <a:rPr lang="en-US" sz="2800" dirty="0">
                <a:latin typeface="Times New Roman" panose="02020603050405020304" pitchFamily="18" charset="0"/>
                <a:cs typeface="Times New Roman" panose="02020603050405020304" pitchFamily="18" charset="0"/>
              </a:rPr>
              <a:t>It is a strategic framework that helps organizations assess their internal resources and capabilities to identify potential sustained competitive advantages. By analyzing these four elements, companies can gain insights into their strengths and weaknesses and make informed decisions about how to allocate resources and develop their business strategies.</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68603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xmlns="" id="{AE65B520-D228-44FB-ACA8-67F572086221}"/>
              </a:ext>
            </a:extLst>
          </p:cNvPr>
          <p:cNvPicPr>
            <a:picLocks noGrp="1" noChangeAspect="1"/>
          </p:cNvPicPr>
          <p:nvPr>
            <p:ph idx="1"/>
          </p:nvPr>
        </p:nvPicPr>
        <p:blipFill>
          <a:blip r:embed="rId2"/>
          <a:stretch>
            <a:fillRect/>
          </a:stretch>
        </p:blipFill>
        <p:spPr>
          <a:xfrm>
            <a:off x="2743200" y="1514822"/>
            <a:ext cx="4419600" cy="3076388"/>
          </a:xfrm>
          <a:prstGeom prst="rect">
            <a:avLst/>
          </a:prstGeom>
        </p:spPr>
      </p:pic>
      <p:pic>
        <p:nvPicPr>
          <p:cNvPr id="6" name="Picture 5">
            <a:extLst>
              <a:ext uri="{FF2B5EF4-FFF2-40B4-BE49-F238E27FC236}">
                <a16:creationId xmlns:a16="http://schemas.microsoft.com/office/drawing/2014/main" xmlns="" id="{B8C9F605-961F-74F4-2AB4-5ADE0984ACD5}"/>
              </a:ext>
            </a:extLst>
          </p:cNvPr>
          <p:cNvPicPr>
            <a:picLocks noChangeAspect="1"/>
          </p:cNvPicPr>
          <p:nvPr/>
        </p:nvPicPr>
        <p:blipFill>
          <a:blip r:embed="rId3"/>
          <a:stretch>
            <a:fillRect/>
          </a:stretch>
        </p:blipFill>
        <p:spPr>
          <a:xfrm>
            <a:off x="0" y="35858"/>
            <a:ext cx="3982934" cy="2478741"/>
          </a:xfrm>
          <a:prstGeom prst="rect">
            <a:avLst/>
          </a:prstGeom>
        </p:spPr>
      </p:pic>
      <p:pic>
        <p:nvPicPr>
          <p:cNvPr id="8" name="Picture 7">
            <a:extLst>
              <a:ext uri="{FF2B5EF4-FFF2-40B4-BE49-F238E27FC236}">
                <a16:creationId xmlns:a16="http://schemas.microsoft.com/office/drawing/2014/main" xmlns="" id="{732E0928-81DC-AB5C-51EA-8EB0FEFB6DFB}"/>
              </a:ext>
            </a:extLst>
          </p:cNvPr>
          <p:cNvPicPr>
            <a:picLocks noChangeAspect="1"/>
          </p:cNvPicPr>
          <p:nvPr/>
        </p:nvPicPr>
        <p:blipFill>
          <a:blip r:embed="rId4"/>
          <a:stretch>
            <a:fillRect/>
          </a:stretch>
        </p:blipFill>
        <p:spPr>
          <a:xfrm>
            <a:off x="5791200" y="3201"/>
            <a:ext cx="3391086" cy="2307638"/>
          </a:xfrm>
          <a:prstGeom prst="rect">
            <a:avLst/>
          </a:prstGeom>
        </p:spPr>
      </p:pic>
      <p:pic>
        <p:nvPicPr>
          <p:cNvPr id="10" name="Picture 9">
            <a:extLst>
              <a:ext uri="{FF2B5EF4-FFF2-40B4-BE49-F238E27FC236}">
                <a16:creationId xmlns:a16="http://schemas.microsoft.com/office/drawing/2014/main" xmlns="" id="{A8911A0E-A2FD-6BC3-DB02-BC19780D4756}"/>
              </a:ext>
            </a:extLst>
          </p:cNvPr>
          <p:cNvPicPr>
            <a:picLocks noChangeAspect="1"/>
          </p:cNvPicPr>
          <p:nvPr/>
        </p:nvPicPr>
        <p:blipFill>
          <a:blip r:embed="rId5"/>
          <a:stretch>
            <a:fillRect/>
          </a:stretch>
        </p:blipFill>
        <p:spPr>
          <a:xfrm>
            <a:off x="152399" y="4483268"/>
            <a:ext cx="3767025" cy="2193982"/>
          </a:xfrm>
          <a:prstGeom prst="rect">
            <a:avLst/>
          </a:prstGeom>
        </p:spPr>
      </p:pic>
      <p:pic>
        <p:nvPicPr>
          <p:cNvPr id="12" name="Picture 11">
            <a:extLst>
              <a:ext uri="{FF2B5EF4-FFF2-40B4-BE49-F238E27FC236}">
                <a16:creationId xmlns:a16="http://schemas.microsoft.com/office/drawing/2014/main" xmlns="" id="{8CEE4C3C-4D48-BA9C-9D38-084FB47B36B5}"/>
              </a:ext>
            </a:extLst>
          </p:cNvPr>
          <p:cNvPicPr>
            <a:picLocks noChangeAspect="1"/>
          </p:cNvPicPr>
          <p:nvPr/>
        </p:nvPicPr>
        <p:blipFill>
          <a:blip r:embed="rId6"/>
          <a:stretch>
            <a:fillRect/>
          </a:stretch>
        </p:blipFill>
        <p:spPr>
          <a:xfrm>
            <a:off x="5224579" y="4396879"/>
            <a:ext cx="3919422" cy="2369103"/>
          </a:xfrm>
          <a:prstGeom prst="rect">
            <a:avLst/>
          </a:prstGeom>
        </p:spPr>
      </p:pic>
    </p:spTree>
    <p:extLst>
      <p:ext uri="{BB962C8B-B14F-4D97-AF65-F5344CB8AC3E}">
        <p14:creationId xmlns:p14="http://schemas.microsoft.com/office/powerpoint/2010/main" val="31984065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E18F60BE-2D51-620F-1701-5C939A96381E}"/>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1857DB81-B892-9D02-2068-2490D1AB86C0}"/>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276C8CB1-CE44-0DCC-2906-C5DB83EB8BFB}"/>
              </a:ext>
            </a:extLst>
          </p:cNvPr>
          <p:cNvSpPr>
            <a:spLocks noGrp="1"/>
          </p:cNvSpPr>
          <p:nvPr>
            <p:ph type="sldNum" sz="quarter" idx="12"/>
          </p:nvPr>
        </p:nvSpPr>
        <p:spPr/>
        <p:txBody>
          <a:bodyPr/>
          <a:lstStyle/>
          <a:p>
            <a:fld id="{E566A64D-537C-4258-BCDA-D6FBF77857E8}" type="slidenum">
              <a:rPr lang="en-US" smtClean="0"/>
              <a:pPr/>
              <a:t>27</a:t>
            </a:fld>
            <a:endParaRPr lang="en-US" dirty="0"/>
          </a:p>
        </p:txBody>
      </p:sp>
      <p:sp>
        <p:nvSpPr>
          <p:cNvPr id="10" name="TextBox 9">
            <a:extLst>
              <a:ext uri="{FF2B5EF4-FFF2-40B4-BE49-F238E27FC236}">
                <a16:creationId xmlns:a16="http://schemas.microsoft.com/office/drawing/2014/main" xmlns="" id="{9CAC420B-234B-A652-EFB5-287F182B7652}"/>
              </a:ext>
            </a:extLst>
          </p:cNvPr>
          <p:cNvSpPr txBox="1"/>
          <p:nvPr/>
        </p:nvSpPr>
        <p:spPr>
          <a:xfrm>
            <a:off x="419100" y="326314"/>
            <a:ext cx="8305800" cy="6212598"/>
          </a:xfrm>
          <a:prstGeom prst="rect">
            <a:avLst/>
          </a:prstGeom>
          <a:noFill/>
        </p:spPr>
        <p:txBody>
          <a:bodyPr wrap="square">
            <a:spAutoFit/>
          </a:bodyPr>
          <a:lstStyle/>
          <a:p>
            <a:pPr algn="l">
              <a:lnSpc>
                <a:spcPts val="1650"/>
              </a:lnSpc>
              <a:spcAft>
                <a:spcPts val="600"/>
              </a:spcAft>
              <a:buNone/>
            </a:pPr>
            <a:r>
              <a:rPr lang="en-US" b="0" i="0" dirty="0">
                <a:solidFill>
                  <a:srgbClr val="111111"/>
                </a:solidFill>
                <a:effectLst/>
                <a:latin typeface="Roboto" panose="02000000000000000000" pitchFamily="2" charset="0"/>
              </a:rPr>
              <a:t>The </a:t>
            </a:r>
            <a:r>
              <a:rPr lang="en-US" b="1" i="0" dirty="0">
                <a:solidFill>
                  <a:srgbClr val="111111"/>
                </a:solidFill>
                <a:effectLst/>
                <a:latin typeface="Roboto" panose="02000000000000000000" pitchFamily="2" charset="0"/>
              </a:rPr>
              <a:t>VRIO framework</a:t>
            </a:r>
            <a:r>
              <a:rPr lang="en-US" b="0" i="0" dirty="0">
                <a:solidFill>
                  <a:srgbClr val="111111"/>
                </a:solidFill>
                <a:effectLst/>
                <a:latin typeface="Roboto" panose="02000000000000000000" pitchFamily="2" charset="0"/>
              </a:rPr>
              <a:t> is a strategic management tool used to evaluate a firm's resources and capabilities to determine their potential for achieving a sustained competitive advantage. It was first proposed by Jay Barney in 1991</a:t>
            </a:r>
            <a:r>
              <a:rPr lang="en-US" b="0" i="0" u="none" strike="noStrike" baseline="30000" dirty="0">
                <a:solidFill>
                  <a:srgbClr val="174AE4"/>
                </a:solidFill>
                <a:effectLst/>
                <a:latin typeface="Roboto" panose="02000000000000000000" pitchFamily="2" charset="0"/>
                <a:hlinkClick r:id="rId2"/>
              </a:rPr>
              <a:t>1</a:t>
            </a:r>
            <a:r>
              <a:rPr lang="en-US" b="0" i="0" dirty="0">
                <a:solidFill>
                  <a:srgbClr val="111111"/>
                </a:solidFill>
                <a:effectLst/>
                <a:latin typeface="Roboto" panose="02000000000000000000" pitchFamily="2" charset="0"/>
              </a:rPr>
              <a:t>.</a:t>
            </a:r>
          </a:p>
          <a:p>
            <a:pPr algn="l">
              <a:lnSpc>
                <a:spcPts val="1650"/>
              </a:lnSpc>
              <a:spcAft>
                <a:spcPts val="600"/>
              </a:spcAft>
              <a:buNone/>
            </a:pPr>
            <a:endParaRPr lang="en-US" b="0" i="0" dirty="0">
              <a:solidFill>
                <a:srgbClr val="111111"/>
              </a:solidFill>
              <a:effectLst/>
              <a:latin typeface="Roboto" panose="02000000000000000000" pitchFamily="2" charset="0"/>
            </a:endParaRPr>
          </a:p>
          <a:p>
            <a:pPr algn="l">
              <a:lnSpc>
                <a:spcPts val="1650"/>
              </a:lnSpc>
              <a:spcAft>
                <a:spcPts val="900"/>
              </a:spcAft>
              <a:buNone/>
            </a:pPr>
            <a:r>
              <a:rPr lang="en-US" b="1" i="0" dirty="0">
                <a:solidFill>
                  <a:srgbClr val="111111"/>
                </a:solidFill>
                <a:effectLst/>
                <a:latin typeface="Roboto" panose="02000000000000000000" pitchFamily="2" charset="0"/>
              </a:rPr>
              <a:t>Key Principles</a:t>
            </a:r>
          </a:p>
          <a:p>
            <a:pPr algn="l">
              <a:lnSpc>
                <a:spcPts val="1650"/>
              </a:lnSpc>
              <a:spcAft>
                <a:spcPts val="600"/>
              </a:spcAft>
              <a:buNone/>
            </a:pPr>
            <a:r>
              <a:rPr lang="en-US" b="0" i="0" dirty="0">
                <a:solidFill>
                  <a:srgbClr val="111111"/>
                </a:solidFill>
                <a:effectLst/>
                <a:latin typeface="Roboto" panose="02000000000000000000" pitchFamily="2" charset="0"/>
              </a:rPr>
              <a:t>The VRIO framework stands for </a:t>
            </a:r>
            <a:r>
              <a:rPr lang="en-US" b="1" i="0" dirty="0">
                <a:solidFill>
                  <a:srgbClr val="111111"/>
                </a:solidFill>
                <a:effectLst/>
                <a:latin typeface="Roboto" panose="02000000000000000000" pitchFamily="2" charset="0"/>
              </a:rPr>
              <a:t>Value, Rarity, Imitability, and Organization</a:t>
            </a:r>
            <a:r>
              <a:rPr lang="en-US" b="0" i="0" dirty="0">
                <a:solidFill>
                  <a:srgbClr val="111111"/>
                </a:solidFill>
                <a:effectLst/>
                <a:latin typeface="Roboto" panose="02000000000000000000" pitchFamily="2" charset="0"/>
              </a:rPr>
              <a:t>. These four dimensions help in assessing the competitive potential of a resource or capability:</a:t>
            </a:r>
          </a:p>
          <a:p>
            <a:pPr algn="l">
              <a:lnSpc>
                <a:spcPts val="1650"/>
              </a:lnSpc>
              <a:spcAft>
                <a:spcPts val="600"/>
              </a:spcAft>
              <a:buNone/>
            </a:pPr>
            <a:endParaRPr lang="en-US" b="0" i="0" dirty="0">
              <a:solidFill>
                <a:srgbClr val="111111"/>
              </a:solidFill>
              <a:effectLst/>
              <a:latin typeface="Roboto" panose="02000000000000000000" pitchFamily="2" charset="0"/>
            </a:endParaRPr>
          </a:p>
          <a:p>
            <a:pPr algn="l">
              <a:lnSpc>
                <a:spcPts val="1650"/>
              </a:lnSpc>
              <a:spcAft>
                <a:spcPts val="600"/>
              </a:spcAft>
              <a:buFont typeface="+mj-lt"/>
              <a:buAutoNum type="arabicPeriod"/>
            </a:pPr>
            <a:r>
              <a:rPr lang="en-US" b="1" i="0" dirty="0">
                <a:solidFill>
                  <a:srgbClr val="111111"/>
                </a:solidFill>
                <a:effectLst/>
                <a:latin typeface="Roboto" panose="02000000000000000000" pitchFamily="2" charset="0"/>
              </a:rPr>
              <a:t>Value</a:t>
            </a:r>
            <a:r>
              <a:rPr lang="en-US" b="0" i="0" dirty="0">
                <a:solidFill>
                  <a:srgbClr val="111111"/>
                </a:solidFill>
                <a:effectLst/>
                <a:latin typeface="Roboto" panose="02000000000000000000" pitchFamily="2" charset="0"/>
              </a:rPr>
              <a:t>: This dimension evaluates whether a resource or capability enables a firm to exploit opportunities or neutralize threats in the marketplace. Valuable resources can increase revenues or decrease costs</a:t>
            </a:r>
            <a:r>
              <a:rPr lang="en-US" b="0" i="0" u="none" strike="noStrike" baseline="30000" dirty="0">
                <a:solidFill>
                  <a:srgbClr val="174AE4"/>
                </a:solidFill>
                <a:effectLst/>
                <a:latin typeface="Roboto" panose="02000000000000000000" pitchFamily="2" charset="0"/>
                <a:hlinkClick r:id="rId2"/>
              </a:rPr>
              <a:t>1</a:t>
            </a:r>
            <a:r>
              <a:rPr lang="en-US" b="0" i="0" dirty="0">
                <a:solidFill>
                  <a:srgbClr val="111111"/>
                </a:solidFill>
                <a:effectLst/>
                <a:latin typeface="Roboto" panose="02000000000000000000" pitchFamily="2" charset="0"/>
              </a:rPr>
              <a:t>.</a:t>
            </a:r>
          </a:p>
          <a:p>
            <a:pPr algn="l">
              <a:lnSpc>
                <a:spcPts val="1650"/>
              </a:lnSpc>
              <a:spcAft>
                <a:spcPts val="600"/>
              </a:spcAft>
              <a:buFont typeface="+mj-lt"/>
              <a:buAutoNum type="arabicPeriod"/>
            </a:pPr>
            <a:endParaRPr lang="en-US" b="0" i="0" dirty="0">
              <a:solidFill>
                <a:srgbClr val="111111"/>
              </a:solidFill>
              <a:effectLst/>
              <a:latin typeface="Roboto" panose="02000000000000000000" pitchFamily="2" charset="0"/>
            </a:endParaRPr>
          </a:p>
          <a:p>
            <a:pPr algn="l">
              <a:lnSpc>
                <a:spcPts val="1650"/>
              </a:lnSpc>
              <a:spcAft>
                <a:spcPts val="600"/>
              </a:spcAft>
              <a:buFont typeface="+mj-lt"/>
              <a:buAutoNum type="arabicPeriod"/>
            </a:pPr>
            <a:r>
              <a:rPr lang="en-US" b="1" i="0" dirty="0">
                <a:solidFill>
                  <a:srgbClr val="111111"/>
                </a:solidFill>
                <a:effectLst/>
                <a:latin typeface="Roboto" panose="02000000000000000000" pitchFamily="2" charset="0"/>
              </a:rPr>
              <a:t>Rarity</a:t>
            </a:r>
            <a:r>
              <a:rPr lang="en-US" b="0" i="0" dirty="0">
                <a:solidFill>
                  <a:srgbClr val="111111"/>
                </a:solidFill>
                <a:effectLst/>
                <a:latin typeface="Roboto" panose="02000000000000000000" pitchFamily="2" charset="0"/>
              </a:rPr>
              <a:t>: A resource is considered rare if it is unique among current and potential competitors. Rare resources can lead to a competitive advantage if they are in short supply and persist over time</a:t>
            </a:r>
            <a:r>
              <a:rPr lang="en-US" b="0" i="0" u="none" strike="noStrike" baseline="30000" dirty="0">
                <a:solidFill>
                  <a:srgbClr val="174AE4"/>
                </a:solidFill>
                <a:effectLst/>
                <a:latin typeface="Roboto" panose="02000000000000000000" pitchFamily="2" charset="0"/>
                <a:hlinkClick r:id="rId2"/>
              </a:rPr>
              <a:t>1</a:t>
            </a:r>
            <a:r>
              <a:rPr lang="en-US" b="0" i="0" dirty="0">
                <a:solidFill>
                  <a:srgbClr val="111111"/>
                </a:solidFill>
                <a:effectLst/>
                <a:latin typeface="Roboto" panose="02000000000000000000" pitchFamily="2" charset="0"/>
              </a:rPr>
              <a:t>.</a:t>
            </a:r>
          </a:p>
          <a:p>
            <a:pPr algn="l">
              <a:lnSpc>
                <a:spcPts val="1650"/>
              </a:lnSpc>
              <a:spcAft>
                <a:spcPts val="600"/>
              </a:spcAft>
              <a:buFont typeface="+mj-lt"/>
              <a:buAutoNum type="arabicPeriod"/>
            </a:pPr>
            <a:endParaRPr lang="en-US" b="0" i="0" dirty="0">
              <a:solidFill>
                <a:srgbClr val="111111"/>
              </a:solidFill>
              <a:effectLst/>
              <a:latin typeface="Roboto" panose="02000000000000000000" pitchFamily="2" charset="0"/>
            </a:endParaRPr>
          </a:p>
          <a:p>
            <a:pPr algn="l">
              <a:lnSpc>
                <a:spcPts val="1650"/>
              </a:lnSpc>
              <a:spcAft>
                <a:spcPts val="600"/>
              </a:spcAft>
              <a:buFont typeface="+mj-lt"/>
              <a:buAutoNum type="arabicPeriod"/>
            </a:pPr>
            <a:r>
              <a:rPr lang="en-US" b="1" i="0" dirty="0">
                <a:solidFill>
                  <a:srgbClr val="111111"/>
                </a:solidFill>
                <a:effectLst/>
                <a:latin typeface="Roboto" panose="02000000000000000000" pitchFamily="2" charset="0"/>
              </a:rPr>
              <a:t>Imitability</a:t>
            </a:r>
            <a:r>
              <a:rPr lang="en-US" b="0" i="0" dirty="0">
                <a:solidFill>
                  <a:srgbClr val="111111"/>
                </a:solidFill>
                <a:effectLst/>
                <a:latin typeface="Roboto" panose="02000000000000000000" pitchFamily="2" charset="0"/>
              </a:rPr>
              <a:t>: This dimension assesses whether firms without the resource face a cost disadvantage in obtaining or developing it. If a resource is costly to imitate, it can provide a sustained competitive advantage</a:t>
            </a:r>
            <a:r>
              <a:rPr lang="en-US" b="0" i="0" u="none" strike="noStrike" baseline="30000" dirty="0">
                <a:solidFill>
                  <a:srgbClr val="174AE4"/>
                </a:solidFill>
                <a:effectLst/>
                <a:latin typeface="Roboto" panose="02000000000000000000" pitchFamily="2" charset="0"/>
                <a:hlinkClick r:id="rId2"/>
              </a:rPr>
              <a:t>1</a:t>
            </a:r>
            <a:r>
              <a:rPr lang="en-US" b="0" i="0" dirty="0">
                <a:solidFill>
                  <a:srgbClr val="111111"/>
                </a:solidFill>
                <a:effectLst/>
                <a:latin typeface="Roboto" panose="02000000000000000000" pitchFamily="2" charset="0"/>
              </a:rPr>
              <a:t>.</a:t>
            </a:r>
          </a:p>
          <a:p>
            <a:pPr algn="l">
              <a:lnSpc>
                <a:spcPts val="1650"/>
              </a:lnSpc>
              <a:spcAft>
                <a:spcPts val="600"/>
              </a:spcAft>
              <a:buFont typeface="+mj-lt"/>
              <a:buAutoNum type="arabicPeriod"/>
            </a:pPr>
            <a:endParaRPr lang="en-US" b="0" i="0" dirty="0">
              <a:solidFill>
                <a:srgbClr val="111111"/>
              </a:solidFill>
              <a:effectLst/>
              <a:latin typeface="Roboto" panose="02000000000000000000" pitchFamily="2" charset="0"/>
            </a:endParaRPr>
          </a:p>
          <a:p>
            <a:pPr algn="l">
              <a:lnSpc>
                <a:spcPts val="1650"/>
              </a:lnSpc>
              <a:spcAft>
                <a:spcPts val="600"/>
              </a:spcAft>
              <a:buFont typeface="+mj-lt"/>
              <a:buAutoNum type="arabicPeriod"/>
            </a:pPr>
            <a:r>
              <a:rPr lang="en-US" b="1" i="0" dirty="0">
                <a:solidFill>
                  <a:srgbClr val="111111"/>
                </a:solidFill>
                <a:effectLst/>
                <a:latin typeface="Roboto" panose="02000000000000000000" pitchFamily="2" charset="0"/>
              </a:rPr>
              <a:t>Organization</a:t>
            </a:r>
            <a:r>
              <a:rPr lang="en-US" b="0" i="0" dirty="0">
                <a:solidFill>
                  <a:srgbClr val="111111"/>
                </a:solidFill>
                <a:effectLst/>
                <a:latin typeface="Roboto" panose="02000000000000000000" pitchFamily="2" charset="0"/>
              </a:rPr>
              <a:t>: This evaluates whether a firm is organized to exploit the resource or capability effectively. This includes formal reporting structures, management control systems, and compensation policies</a:t>
            </a:r>
            <a:r>
              <a:rPr lang="en-US" b="0" i="0" u="none" strike="noStrike" baseline="30000" dirty="0">
                <a:solidFill>
                  <a:srgbClr val="174AE4"/>
                </a:solidFill>
                <a:effectLst/>
                <a:latin typeface="Roboto" panose="02000000000000000000" pitchFamily="2" charset="0"/>
                <a:hlinkClick r:id="rId2"/>
              </a:rPr>
              <a:t>1</a:t>
            </a:r>
            <a:r>
              <a:rPr lang="en-US" b="0" i="0" dirty="0">
                <a:solidFill>
                  <a:srgbClr val="111111"/>
                </a:solidFill>
                <a:effectLst/>
                <a:latin typeface="Roboto" panose="02000000000000000000" pitchFamily="2" charset="0"/>
              </a:rPr>
              <a:t>.</a:t>
            </a:r>
          </a:p>
        </p:txBody>
      </p:sp>
    </p:spTree>
    <p:extLst>
      <p:ext uri="{BB962C8B-B14F-4D97-AF65-F5344CB8AC3E}">
        <p14:creationId xmlns:p14="http://schemas.microsoft.com/office/powerpoint/2010/main" val="27816272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8064ADD-83DE-4F85-A6E5-98F24A01160D}"/>
              </a:ext>
            </a:extLst>
          </p:cNvPr>
          <p:cNvSpPr>
            <a:spLocks noGrp="1"/>
          </p:cNvSpPr>
          <p:nvPr>
            <p:ph idx="1"/>
          </p:nvPr>
        </p:nvSpPr>
        <p:spPr>
          <a:xfrm>
            <a:off x="457200" y="609600"/>
            <a:ext cx="8229600" cy="5867400"/>
          </a:xfrm>
        </p:spPr>
        <p:txBody>
          <a:bodyPr>
            <a:normAutofit/>
          </a:bodyPr>
          <a:lstStyle/>
          <a:p>
            <a:pPr marL="0" indent="0">
              <a:buNone/>
            </a:pPr>
            <a:endParaRPr lang="en-US" sz="2800" b="1"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Value</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 resource is valuable if it helps the company to meet customer needs, improve quality, or lower costs. It gives the company a competitive advantage over others.</a:t>
            </a:r>
          </a:p>
          <a:p>
            <a:pPr marL="0" indent="0">
              <a:buNone/>
            </a:pPr>
            <a:endParaRPr lang="en-US" sz="2800" b="1"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Rarity</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 resource is rare if few competitors have it. Rare resources, like patents or unique skills, help a company stand out and gain a competitive advantage.</a:t>
            </a:r>
          </a:p>
          <a:p>
            <a:pPr marL="0" indent="0">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72960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7FB36500-2073-46DF-9AE4-4D1170514ECD}"/>
              </a:ext>
            </a:extLst>
          </p:cNvPr>
          <p:cNvSpPr>
            <a:spLocks noGrp="1"/>
          </p:cNvSpPr>
          <p:nvPr>
            <p:ph idx="1"/>
          </p:nvPr>
        </p:nvSpPr>
        <p:spPr>
          <a:xfrm>
            <a:off x="457200" y="533400"/>
            <a:ext cx="8229600" cy="5791200"/>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Imitability: </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A resource has high imitability if competitors can easily copy it. If it’s hard to imitate, like a strong brand or unique process, it gives the company a lasting competitive advantage.</a:t>
            </a:r>
          </a:p>
          <a:p>
            <a:endParaRPr lang="en-IN" sz="2800"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Organization:</a:t>
            </a:r>
            <a:r>
              <a:rPr lang="en-US" sz="2800" dirty="0">
                <a:latin typeface="Times New Roman" panose="02020603050405020304" pitchFamily="18" charset="0"/>
                <a:cs typeface="Times New Roman" panose="02020603050405020304" pitchFamily="18" charset="0"/>
              </a:rPr>
              <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Organization refers to how well a company is set up to use its resources effectively. A strong structure, culture, and processes help the firm fully benefit from valuable, rare, and hard-to-imitate resources.</a:t>
            </a:r>
          </a:p>
        </p:txBody>
      </p:sp>
    </p:spTree>
    <p:extLst>
      <p:ext uri="{BB962C8B-B14F-4D97-AF65-F5344CB8AC3E}">
        <p14:creationId xmlns:p14="http://schemas.microsoft.com/office/powerpoint/2010/main" val="23356158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703E1C-2901-4359-A947-89653CEA4377}"/>
              </a:ext>
            </a:extLst>
          </p:cNvPr>
          <p:cNvSpPr>
            <a:spLocks noGrp="1"/>
          </p:cNvSpPr>
          <p:nvPr>
            <p:ph type="title"/>
          </p:nvPr>
        </p:nvSpPr>
        <p:spPr>
          <a:xfrm>
            <a:off x="457200" y="274638"/>
            <a:ext cx="8229600" cy="639762"/>
          </a:xfrm>
        </p:spPr>
        <p:txBody>
          <a:bodyPr>
            <a:normAutofit fontScale="90000"/>
          </a:bodyPr>
          <a:lstStyle/>
          <a:p>
            <a:r>
              <a:rPr lang="en-IN" dirty="0">
                <a:solidFill>
                  <a:srgbClr val="7030A0"/>
                </a:solidFill>
              </a:rPr>
              <a:t>Case Study: </a:t>
            </a:r>
            <a:r>
              <a:rPr lang="en-US" dirty="0">
                <a:solidFill>
                  <a:srgbClr val="FF0000"/>
                </a:solidFill>
                <a:latin typeface="Times New Roman" panose="02020603050405020304" pitchFamily="18" charset="0"/>
                <a:cs typeface="Times New Roman" panose="02020603050405020304" pitchFamily="18" charset="0"/>
              </a:rPr>
              <a:t>Coca-Cola </a:t>
            </a:r>
            <a:endParaRPr lang="en-IN" dirty="0">
              <a:solidFill>
                <a:srgbClr val="FF0000"/>
              </a:solidFill>
            </a:endParaRPr>
          </a:p>
        </p:txBody>
      </p:sp>
      <p:sp>
        <p:nvSpPr>
          <p:cNvPr id="3" name="Content Placeholder 2">
            <a:extLst>
              <a:ext uri="{FF2B5EF4-FFF2-40B4-BE49-F238E27FC236}">
                <a16:creationId xmlns:a16="http://schemas.microsoft.com/office/drawing/2014/main" xmlns="" id="{EEA792F1-949D-4FF9-8863-9AF8042CD0F3}"/>
              </a:ext>
            </a:extLst>
          </p:cNvPr>
          <p:cNvSpPr>
            <a:spLocks noGrp="1"/>
          </p:cNvSpPr>
          <p:nvPr>
            <p:ph idx="1"/>
          </p:nvPr>
        </p:nvSpPr>
        <p:spPr>
          <a:xfrm>
            <a:off x="304800" y="914400"/>
            <a:ext cx="8534400" cy="5211763"/>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Coca-Cola is a classic example of the Resource-Based View (RBV) in action, using its internal strengths to maintain global market leadership. Its most valuable and rare resource is its </a:t>
            </a:r>
            <a:r>
              <a:rPr lang="en-US" sz="2400" b="1" dirty="0">
                <a:latin typeface="Times New Roman" panose="02020603050405020304" pitchFamily="18" charset="0"/>
                <a:cs typeface="Times New Roman" panose="02020603050405020304" pitchFamily="18" charset="0"/>
              </a:rPr>
              <a:t>secret formula</a:t>
            </a:r>
            <a:r>
              <a:rPr lang="en-US" sz="2400" dirty="0">
                <a:latin typeface="Times New Roman" panose="02020603050405020304" pitchFamily="18" charset="0"/>
                <a:cs typeface="Times New Roman" panose="02020603050405020304" pitchFamily="18" charset="0"/>
              </a:rPr>
              <a:t>, which has remained unmatched in taste and brand appeal. Coca-Cola’s strong global </a:t>
            </a:r>
            <a:r>
              <a:rPr lang="en-US" sz="2400" b="1" dirty="0">
                <a:latin typeface="Times New Roman" panose="02020603050405020304" pitchFamily="18" charset="0"/>
                <a:cs typeface="Times New Roman" panose="02020603050405020304" pitchFamily="18" charset="0"/>
              </a:rPr>
              <a:t>brand equity</a:t>
            </a:r>
            <a:r>
              <a:rPr lang="en-US" sz="2400" dirty="0">
                <a:latin typeface="Times New Roman" panose="02020603050405020304" pitchFamily="18" charset="0"/>
                <a:cs typeface="Times New Roman" panose="02020603050405020304" pitchFamily="18" charset="0"/>
              </a:rPr>
              <a:t>, built over decades, is nearly impossible for competitors to imitate. In addition, its vast distribution network, marketing expertise, and bottling partnerships around the world show how well the company is organized to exploit these unique resources. By aligning its valuable, rare, and inimitable assets with a robust organizational structure, Coca-Cola continues to sustain a long-term competitive advantage in the beverage industry.</a:t>
            </a: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xmlns="" id="{41343F12-A2B8-452D-8638-FAB369A88946}"/>
              </a:ext>
            </a:extLst>
          </p:cNvPr>
          <p:cNvPicPr>
            <a:picLocks noChangeAspect="1"/>
          </p:cNvPicPr>
          <p:nvPr/>
        </p:nvPicPr>
        <p:blipFill>
          <a:blip r:embed="rId2"/>
          <a:stretch>
            <a:fillRect/>
          </a:stretch>
        </p:blipFill>
        <p:spPr>
          <a:xfrm>
            <a:off x="7176655" y="5029200"/>
            <a:ext cx="1662545" cy="1554162"/>
          </a:xfrm>
          <a:prstGeom prst="rect">
            <a:avLst/>
          </a:prstGeom>
        </p:spPr>
      </p:pic>
    </p:spTree>
    <p:extLst>
      <p:ext uri="{BB962C8B-B14F-4D97-AF65-F5344CB8AC3E}">
        <p14:creationId xmlns:p14="http://schemas.microsoft.com/office/powerpoint/2010/main" val="475402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970BA4B7-7113-4097-BFC7-73B0C2EAD04B}"/>
              </a:ext>
            </a:extLst>
          </p:cNvPr>
          <p:cNvPicPr>
            <a:picLocks noGrp="1" noChangeAspect="1"/>
          </p:cNvPicPr>
          <p:nvPr>
            <p:ph idx="1"/>
          </p:nvPr>
        </p:nvPicPr>
        <p:blipFill>
          <a:blip r:embed="rId2"/>
          <a:stretch>
            <a:fillRect/>
          </a:stretch>
        </p:blipFill>
        <p:spPr>
          <a:xfrm>
            <a:off x="381000" y="1066801"/>
            <a:ext cx="8382000" cy="4953000"/>
          </a:xfrm>
          <a:prstGeom prst="rect">
            <a:avLst/>
          </a:prstGeom>
        </p:spPr>
      </p:pic>
    </p:spTree>
    <p:extLst>
      <p:ext uri="{BB962C8B-B14F-4D97-AF65-F5344CB8AC3E}">
        <p14:creationId xmlns:p14="http://schemas.microsoft.com/office/powerpoint/2010/main" val="3922055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049191D6-C0EB-421C-8753-5CE7ADE18B0E}"/>
              </a:ext>
            </a:extLst>
          </p:cNvPr>
          <p:cNvSpPr>
            <a:spLocks noGrp="1"/>
          </p:cNvSpPr>
          <p:nvPr>
            <p:ph idx="1"/>
          </p:nvPr>
        </p:nvSpPr>
        <p:spPr>
          <a:xfrm>
            <a:off x="457200" y="1142999"/>
            <a:ext cx="8229600" cy="5020109"/>
          </a:xfrm>
        </p:spPr>
        <p:txBody>
          <a:bodyPr>
            <a:normAutofit/>
          </a:bodyPr>
          <a:lstStyle/>
          <a:p>
            <a:pPr marL="0" indent="0">
              <a:buNone/>
            </a:pPr>
            <a:endParaRPr lang="en-US" sz="33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Amazon, the global e-commerce giant, is a perfect example of how SWOT (Strengths, Weaknesses, Opportunities, Threats) analysis helps a company understand its strategic position.</a:t>
            </a:r>
            <a:endParaRPr lang="en-US" sz="2800" b="1" dirty="0">
              <a:latin typeface="Times New Roman" panose="02020603050405020304" pitchFamily="18" charset="0"/>
              <a:cs typeface="Times New Roman" panose="02020603050405020304" pitchFamily="18" charset="0"/>
            </a:endParaRPr>
          </a:p>
          <a:p>
            <a:pPr marL="0" indent="0">
              <a:buNone/>
            </a:pPr>
            <a:endParaRPr lang="en-US" sz="2800" b="1" dirty="0">
              <a:latin typeface="Times New Roman" panose="02020603050405020304" pitchFamily="18" charset="0"/>
              <a:cs typeface="Times New Roman" panose="02020603050405020304" pitchFamily="18" charset="0"/>
            </a:endParaRPr>
          </a:p>
          <a:p>
            <a:pPr marL="0" indent="0">
              <a:buNone/>
            </a:pPr>
            <a:r>
              <a:rPr lang="en-US" sz="2800" b="1" dirty="0">
                <a:latin typeface="Times New Roman" panose="02020603050405020304" pitchFamily="18" charset="0"/>
                <a:cs typeface="Times New Roman" panose="02020603050405020304" pitchFamily="18" charset="0"/>
              </a:rPr>
              <a:t>Strengths</a:t>
            </a:r>
            <a:r>
              <a:rPr lang="en-US" sz="2800" dirty="0">
                <a:latin typeface="Times New Roman" panose="02020603050405020304" pitchFamily="18" charset="0"/>
                <a:cs typeface="Times New Roman" panose="02020603050405020304" pitchFamily="18" charset="0"/>
              </a:rPr>
              <a:t>: Amazon’s key strengths include a strong global brand, vast product selection, advanced logistics network, and technological leadership in cloud computing through Amazon Web Services (AWS).</a:t>
            </a:r>
            <a:endParaRPr lang="en-US" sz="2800" b="1" dirty="0">
              <a:latin typeface="Times New Roman" panose="02020603050405020304" pitchFamily="18" charset="0"/>
              <a:cs typeface="Times New Roman" panose="02020603050405020304" pitchFamily="18" charset="0"/>
            </a:endParaRPr>
          </a:p>
          <a:p>
            <a:endParaRPr lang="en-IN" dirty="0"/>
          </a:p>
        </p:txBody>
      </p:sp>
      <p:pic>
        <p:nvPicPr>
          <p:cNvPr id="11" name="Content Placeholder 7">
            <a:extLst>
              <a:ext uri="{FF2B5EF4-FFF2-40B4-BE49-F238E27FC236}">
                <a16:creationId xmlns:a16="http://schemas.microsoft.com/office/drawing/2014/main" xmlns="" id="{E58F9AEA-70AD-49C1-9337-BB4F12FF17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47800" y="457200"/>
            <a:ext cx="6019800" cy="1138671"/>
          </a:xfrm>
          <a:prstGeom prst="rect">
            <a:avLst/>
          </a:prstGeom>
        </p:spPr>
      </p:pic>
    </p:spTree>
    <p:extLst>
      <p:ext uri="{BB962C8B-B14F-4D97-AF65-F5344CB8AC3E}">
        <p14:creationId xmlns:p14="http://schemas.microsoft.com/office/powerpoint/2010/main" val="20583393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C6A7BA3-D11F-4BBC-A020-F729E7477C41}"/>
              </a:ext>
            </a:extLst>
          </p:cNvPr>
          <p:cNvSpPr>
            <a:spLocks noGrp="1"/>
          </p:cNvSpPr>
          <p:nvPr>
            <p:ph idx="1"/>
          </p:nvPr>
        </p:nvSpPr>
        <p:spPr>
          <a:xfrm>
            <a:off x="304800" y="457200"/>
            <a:ext cx="8458200" cy="5867400"/>
          </a:xfrm>
        </p:spPr>
        <p:txBody>
          <a:bodyPr>
            <a:normAutofit/>
          </a:bodyPr>
          <a:lstStyle/>
          <a:p>
            <a:pPr marL="0" indent="0" algn="just">
              <a:buNone/>
            </a:pPr>
            <a:r>
              <a:rPr lang="en-US" sz="2800" b="1" dirty="0">
                <a:latin typeface="Times New Roman" panose="02020603050405020304" pitchFamily="18" charset="0"/>
                <a:cs typeface="Times New Roman" panose="02020603050405020304" pitchFamily="18" charset="0"/>
              </a:rPr>
              <a:t>Weaknesses</a:t>
            </a:r>
            <a:r>
              <a:rPr lang="en-US" sz="2800" dirty="0">
                <a:latin typeface="Times New Roman" panose="02020603050405020304" pitchFamily="18" charset="0"/>
                <a:cs typeface="Times New Roman" panose="02020603050405020304" pitchFamily="18" charset="0"/>
              </a:rPr>
              <a:t>: Despite its size, Amazon faces criticism for thin profit margins in its retail segment, dependency on third-party sellers, and negative publicity around employee working conditions.</a:t>
            </a:r>
          </a:p>
          <a:p>
            <a:pPr marL="0" indent="0" algn="just">
              <a:buNone/>
            </a:pPr>
            <a:r>
              <a:rPr lang="en-US" sz="2800" b="1" dirty="0">
                <a:latin typeface="Times New Roman" panose="02020603050405020304" pitchFamily="18" charset="0"/>
                <a:cs typeface="Times New Roman" panose="02020603050405020304" pitchFamily="18" charset="0"/>
              </a:rPr>
              <a:t>Opportunities</a:t>
            </a:r>
            <a:r>
              <a:rPr lang="en-US" sz="2800" dirty="0">
                <a:latin typeface="Times New Roman" panose="02020603050405020304" pitchFamily="18" charset="0"/>
                <a:cs typeface="Times New Roman" panose="02020603050405020304" pitchFamily="18" charset="0"/>
              </a:rPr>
              <a:t>: Amazon has significant opportunities in expanding its physical retail presence, entering emerging markets like India, and investing in AI and drone delivery to improve customer experience.</a:t>
            </a:r>
          </a:p>
          <a:p>
            <a:pPr marL="0" indent="0" algn="just">
              <a:buNone/>
            </a:pPr>
            <a:r>
              <a:rPr lang="en-US" sz="2800" b="1" dirty="0">
                <a:latin typeface="Times New Roman" panose="02020603050405020304" pitchFamily="18" charset="0"/>
                <a:cs typeface="Times New Roman" panose="02020603050405020304" pitchFamily="18" charset="0"/>
              </a:rPr>
              <a:t>Threats</a:t>
            </a:r>
            <a:r>
              <a:rPr lang="en-US" sz="2800" dirty="0">
                <a:latin typeface="Times New Roman" panose="02020603050405020304" pitchFamily="18" charset="0"/>
                <a:cs typeface="Times New Roman" panose="02020603050405020304" pitchFamily="18" charset="0"/>
              </a:rPr>
              <a:t>: The company faces threats from increasing global competition (like Walmart, Alibaba), changing government regulations, cybersecurity risks, and economic slowdowns that may impact consumer spending.</a:t>
            </a:r>
          </a:p>
          <a:p>
            <a:endParaRPr lang="en-IN" dirty="0"/>
          </a:p>
        </p:txBody>
      </p:sp>
    </p:spTree>
    <p:extLst>
      <p:ext uri="{BB962C8B-B14F-4D97-AF65-F5344CB8AC3E}">
        <p14:creationId xmlns:p14="http://schemas.microsoft.com/office/powerpoint/2010/main" val="33954335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A6292058-2A6B-40F7-8760-9855432F4065}"/>
              </a:ext>
            </a:extLst>
          </p:cNvPr>
          <p:cNvPicPr>
            <a:picLocks noGrp="1" noChangeAspect="1"/>
          </p:cNvPicPr>
          <p:nvPr>
            <p:ph idx="1"/>
          </p:nvPr>
        </p:nvPicPr>
        <p:blipFill>
          <a:blip r:embed="rId2"/>
          <a:stretch>
            <a:fillRect/>
          </a:stretch>
        </p:blipFill>
        <p:spPr>
          <a:xfrm>
            <a:off x="304800" y="152400"/>
            <a:ext cx="8534400" cy="6553200"/>
          </a:xfrm>
          <a:prstGeom prst="rect">
            <a:avLst/>
          </a:prstGeom>
        </p:spPr>
      </p:pic>
    </p:spTree>
    <p:extLst>
      <p:ext uri="{BB962C8B-B14F-4D97-AF65-F5344CB8AC3E}">
        <p14:creationId xmlns:p14="http://schemas.microsoft.com/office/powerpoint/2010/main" val="669899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6296B5B-6652-49FF-9914-C340C72794D9}"/>
              </a:ext>
            </a:extLst>
          </p:cNvPr>
          <p:cNvSpPr>
            <a:spLocks noGrp="1"/>
          </p:cNvSpPr>
          <p:nvPr>
            <p:ph idx="1"/>
          </p:nvPr>
        </p:nvSpPr>
        <p:spPr>
          <a:xfrm>
            <a:off x="457200" y="381000"/>
            <a:ext cx="8229600" cy="6019800"/>
          </a:xfrm>
        </p:spPr>
        <p:txBody>
          <a:bodyPr>
            <a:normAutofit/>
          </a:bodyPr>
          <a:lstStyle/>
          <a:p>
            <a:pPr marL="0" indent="0" algn="ctr">
              <a:buNone/>
            </a:pPr>
            <a:r>
              <a:rPr lang="en-US" b="1" dirty="0">
                <a:latin typeface="Times New Roman" panose="02020603050405020304" pitchFamily="18" charset="0"/>
                <a:cs typeface="Times New Roman" panose="02020603050405020304" pitchFamily="18" charset="0"/>
              </a:rPr>
              <a:t>Case Study</a:t>
            </a:r>
          </a:p>
          <a:p>
            <a:pPr marL="0" indent="0" algn="ctr">
              <a:buNone/>
            </a:pPr>
            <a:r>
              <a:rPr lang="en-US" b="1" dirty="0">
                <a:solidFill>
                  <a:srgbClr val="FF0000"/>
                </a:solidFill>
                <a:latin typeface="Times New Roman" panose="02020603050405020304" pitchFamily="18" charset="0"/>
                <a:cs typeface="Times New Roman" panose="02020603050405020304" pitchFamily="18" charset="0"/>
              </a:rPr>
              <a:t>Value Chain Analysis of Tata Motors</a:t>
            </a:r>
          </a:p>
          <a:p>
            <a:pPr marL="0" indent="0">
              <a:buNone/>
            </a:pPr>
            <a:r>
              <a:rPr lang="en-US" sz="2800" dirty="0">
                <a:latin typeface="Times New Roman" panose="02020603050405020304" pitchFamily="18" charset="0"/>
                <a:cs typeface="Times New Roman" panose="02020603050405020304" pitchFamily="18" charset="0"/>
              </a:rPr>
              <a:t>Tata Motors, a leading Indian automobile manufacturer, effectively uses Value Chain Analysis to enhance efficiency and maintain competitiveness in the global market. In the inbound logistics stage, Tata Motors benefits from long-term supplier relationships and localized sourcing of components, reducing costs. Its operations are streamlined through advanced manufacturing plants across India, such as those in Pune and Sanand, ensuring efficient production.</a:t>
            </a:r>
          </a:p>
          <a:p>
            <a:pPr marL="0" indent="0">
              <a:buNone/>
            </a:pPr>
            <a:endParaRPr lang="en-IN" dirty="0"/>
          </a:p>
        </p:txBody>
      </p:sp>
    </p:spTree>
    <p:extLst>
      <p:ext uri="{BB962C8B-B14F-4D97-AF65-F5344CB8AC3E}">
        <p14:creationId xmlns:p14="http://schemas.microsoft.com/office/powerpoint/2010/main" val="29547084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33C70D58-9C3E-4F74-B5B2-38944F02D49A}"/>
              </a:ext>
            </a:extLst>
          </p:cNvPr>
          <p:cNvSpPr>
            <a:spLocks noGrp="1"/>
          </p:cNvSpPr>
          <p:nvPr>
            <p:ph idx="1"/>
          </p:nvPr>
        </p:nvSpPr>
        <p:spPr>
          <a:xfrm>
            <a:off x="457200" y="381000"/>
            <a:ext cx="8229600" cy="6096000"/>
          </a:xfrm>
        </p:spPr>
        <p:txBody>
          <a:bodyPr>
            <a:normAutofit fontScale="92500"/>
          </a:bodyPr>
          <a:lstStyle/>
          <a:p>
            <a:pPr marL="0" indent="0">
              <a:buNone/>
            </a:pPr>
            <a:r>
              <a:rPr lang="en-US" sz="3000" dirty="0">
                <a:latin typeface="Times New Roman" panose="02020603050405020304" pitchFamily="18" charset="0"/>
                <a:cs typeface="Times New Roman" panose="02020603050405020304" pitchFamily="18" charset="0"/>
              </a:rPr>
              <a:t>In outbound logistics, Tata Motors uses a strong distribution network and dealerships to reach customers in domestic and international markets. Its marketing and sales efforts focus on brand positioning, affordability, and innovation—especially in electric vehicles like the Tata Nexon EV. After-sales services, including warranty, maintenance, and customer care, add value and build customer loyalty. Support activities like technology development through R&amp;D centers and human resource management further strengthen Tata Motors' ability to innovate and stay competitive. Overall, Tata Motors’ value chain strategy enables it to deliver quality vehicles at competitive prices while sustaining profitability and customer satisfaction.</a:t>
            </a:r>
          </a:p>
          <a:p>
            <a:pPr algn="just"/>
            <a:endParaRPr lang="en-IN" dirty="0"/>
          </a:p>
        </p:txBody>
      </p:sp>
    </p:spTree>
    <p:extLst>
      <p:ext uri="{BB962C8B-B14F-4D97-AF65-F5344CB8AC3E}">
        <p14:creationId xmlns:p14="http://schemas.microsoft.com/office/powerpoint/2010/main" val="10433516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04D53A9E-EAEF-4B44-A1CF-3F9D8BD01D96}"/>
              </a:ext>
            </a:extLst>
          </p:cNvPr>
          <p:cNvPicPr>
            <a:picLocks noGrp="1" noChangeAspect="1"/>
          </p:cNvPicPr>
          <p:nvPr>
            <p:ph idx="1"/>
          </p:nvPr>
        </p:nvPicPr>
        <p:blipFill>
          <a:blip r:embed="rId2"/>
          <a:stretch>
            <a:fillRect/>
          </a:stretch>
        </p:blipFill>
        <p:spPr>
          <a:xfrm>
            <a:off x="0" y="914400"/>
            <a:ext cx="9144000" cy="4724400"/>
          </a:xfrm>
          <a:prstGeom prst="rect">
            <a:avLst/>
          </a:prstGeom>
        </p:spPr>
      </p:pic>
    </p:spTree>
    <p:extLst>
      <p:ext uri="{BB962C8B-B14F-4D97-AF65-F5344CB8AC3E}">
        <p14:creationId xmlns:p14="http://schemas.microsoft.com/office/powerpoint/2010/main" val="12621432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9AE2F827-1826-410E-83DA-7AF887FD4FA1}"/>
              </a:ext>
            </a:extLst>
          </p:cNvPr>
          <p:cNvSpPr>
            <a:spLocks noGrp="1"/>
          </p:cNvSpPr>
          <p:nvPr>
            <p:ph idx="1"/>
          </p:nvPr>
        </p:nvSpPr>
        <p:spPr>
          <a:xfrm>
            <a:off x="457200" y="457200"/>
            <a:ext cx="8229600" cy="5668963"/>
          </a:xfrm>
        </p:spPr>
        <p:txBody>
          <a:bodyPr>
            <a:normAutofit/>
          </a:bodyPr>
          <a:lstStyle/>
          <a:p>
            <a:pPr marL="0" indent="0">
              <a:buNone/>
            </a:pPr>
            <a:r>
              <a:rPr lang="en-IN" sz="3000" b="1" dirty="0">
                <a:solidFill>
                  <a:srgbClr val="FF0000"/>
                </a:solidFill>
                <a:latin typeface="Times New Roman" panose="02020603050405020304" pitchFamily="18" charset="0"/>
                <a:cs typeface="Times New Roman" panose="02020603050405020304" pitchFamily="18" charset="0"/>
              </a:rPr>
              <a:t>Example:</a:t>
            </a:r>
            <a:r>
              <a:rPr lang="en-IN" sz="3000" b="1" dirty="0">
                <a:latin typeface="Times New Roman" panose="02020603050405020304" pitchFamily="18" charset="0"/>
                <a:cs typeface="Times New Roman" panose="02020603050405020304" pitchFamily="18" charset="0"/>
              </a:rPr>
              <a:t> </a:t>
            </a:r>
            <a:r>
              <a:rPr lang="en-IN" sz="3000" b="1" dirty="0">
                <a:solidFill>
                  <a:srgbClr val="00B0F0"/>
                </a:solidFill>
                <a:latin typeface="Times New Roman" panose="02020603050405020304" pitchFamily="18" charset="0"/>
                <a:cs typeface="Times New Roman" panose="02020603050405020304" pitchFamily="18" charset="0"/>
              </a:rPr>
              <a:t>Benchmarking at Samsung</a:t>
            </a:r>
          </a:p>
          <a:p>
            <a:pPr marL="0" indent="0">
              <a:buNone/>
            </a:pPr>
            <a:r>
              <a:rPr lang="en-IN" sz="3000" dirty="0">
                <a:latin typeface="Times New Roman" panose="02020603050405020304" pitchFamily="18" charset="0"/>
                <a:cs typeface="Times New Roman" panose="02020603050405020304" pitchFamily="18" charset="0"/>
              </a:rPr>
              <a:t>Samsung, in its journey to become a global leader in electronics, benchmarked Apple’s product design, innovation strategy, and customer experience. By studying Apple’s sleek product aesthetics, intuitive user interface, and ecosystem integration, Samsung redesigned its smartphone models (like the Galaxy series) to compete more effectively. This benchmarking helped Samsung improve quality, increase customer satisfaction, and become a major player in the premium smartphone segment.</a:t>
            </a:r>
          </a:p>
          <a:p>
            <a:endParaRPr lang="en-IN" dirty="0"/>
          </a:p>
        </p:txBody>
      </p:sp>
    </p:spTree>
    <p:extLst>
      <p:ext uri="{BB962C8B-B14F-4D97-AF65-F5344CB8AC3E}">
        <p14:creationId xmlns:p14="http://schemas.microsoft.com/office/powerpoint/2010/main" val="24695737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1C4CF69-B4F8-4675-AEB9-1786EDF9817E}"/>
              </a:ext>
            </a:extLst>
          </p:cNvPr>
          <p:cNvSpPr>
            <a:spLocks noGrp="1"/>
          </p:cNvSpPr>
          <p:nvPr>
            <p:ph type="title"/>
          </p:nvPr>
        </p:nvSpPr>
        <p:spPr>
          <a:xfrm>
            <a:off x="457200" y="381000"/>
            <a:ext cx="8229600" cy="838200"/>
          </a:xfrm>
        </p:spPr>
        <p:txBody>
          <a:bodyPr>
            <a:normAutofit fontScale="90000"/>
          </a:bodyPr>
          <a:lstStyle/>
          <a:p>
            <a:r>
              <a:rPr lang="en-IN" sz="3200" dirty="0">
                <a:solidFill>
                  <a:srgbClr val="FF0000"/>
                </a:solidFill>
                <a:latin typeface="Times New Roman" panose="02020603050405020304" pitchFamily="18" charset="0"/>
                <a:cs typeface="Times New Roman" panose="02020603050405020304" pitchFamily="18" charset="0"/>
              </a:rPr>
              <a:t/>
            </a:r>
            <a:br>
              <a:rPr lang="en-IN" sz="3200" dirty="0">
                <a:solidFill>
                  <a:srgbClr val="FF0000"/>
                </a:solidFill>
                <a:latin typeface="Times New Roman" panose="02020603050405020304" pitchFamily="18" charset="0"/>
                <a:cs typeface="Times New Roman" panose="02020603050405020304" pitchFamily="18" charset="0"/>
              </a:rPr>
            </a:br>
            <a:r>
              <a:rPr lang="en-IN" sz="3200" dirty="0">
                <a:solidFill>
                  <a:srgbClr val="FF0000"/>
                </a:solidFill>
                <a:latin typeface="Times New Roman" panose="02020603050405020304" pitchFamily="18" charset="0"/>
                <a:cs typeface="Times New Roman" panose="02020603050405020304" pitchFamily="18" charset="0"/>
              </a:rPr>
              <a:t>Internal Factor Evaluation Matrix (IFE Matrix)</a:t>
            </a:r>
            <a:br>
              <a:rPr lang="en-IN" sz="3200" dirty="0">
                <a:solidFill>
                  <a:srgbClr val="FF0000"/>
                </a:solidFill>
                <a:latin typeface="Times New Roman" panose="02020603050405020304" pitchFamily="18" charset="0"/>
                <a:cs typeface="Times New Roman" panose="02020603050405020304" pitchFamily="18" charset="0"/>
              </a:rPr>
            </a:br>
            <a:endParaRPr lang="en-IN" sz="3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C8EEDBF4-4F4F-4D69-A204-9FA8E8DC4080}"/>
              </a:ext>
            </a:extLst>
          </p:cNvPr>
          <p:cNvSpPr>
            <a:spLocks noGrp="1"/>
          </p:cNvSpPr>
          <p:nvPr>
            <p:ph idx="1"/>
          </p:nvPr>
        </p:nvSpPr>
        <p:spPr>
          <a:xfrm>
            <a:off x="609600" y="1066800"/>
            <a:ext cx="8077200" cy="4191000"/>
          </a:xfrm>
        </p:spPr>
        <p:txBody>
          <a:bodyPr>
            <a:normAutofit/>
          </a:bodyPr>
          <a:lstStyle/>
          <a:p>
            <a:pPr marL="0" indent="0">
              <a:buNone/>
            </a:pPr>
            <a:endParaRPr lang="en-US" sz="28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The Internal Factor Evaluation (IFE) Matrix is a strategic management tool used to assess a company’s internal strengths and weaknesses. It helps quantify these factors and determine how well the firm is utilizing its internal resources and managing its limitations.</a:t>
            </a:r>
          </a:p>
          <a:p>
            <a:pPr marL="0" indent="0" algn="just">
              <a:buNone/>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7385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6D3A319-5720-9151-73F1-EB1422BED71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AA36B45-90D5-9EDE-D4C9-67C79ABDF0C4}"/>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79990B42-F42F-240D-E446-D454E88735F2}"/>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2BF42F76-E3CF-E53A-61D7-7CC6523A7B7E}"/>
              </a:ext>
            </a:extLst>
          </p:cNvPr>
          <p:cNvSpPr>
            <a:spLocks noGrp="1"/>
          </p:cNvSpPr>
          <p:nvPr>
            <p:ph type="sldNum" sz="quarter" idx="12"/>
          </p:nvPr>
        </p:nvSpPr>
        <p:spPr/>
        <p:txBody>
          <a:bodyPr/>
          <a:lstStyle/>
          <a:p>
            <a:fld id="{E566A64D-537C-4258-BCDA-D6FBF77857E8}" type="slidenum">
              <a:rPr lang="en-US" smtClean="0"/>
              <a:pPr/>
              <a:t>40</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FF1F5435-A334-3886-6A3D-72BFC2458C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82AD043E-59F7-DF63-97F9-9957AD3C1A78}"/>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ABB42067-925F-D49D-4FEE-1A7C15393942}"/>
              </a:ext>
            </a:extLst>
          </p:cNvPr>
          <p:cNvPicPr>
            <a:picLocks noChangeAspect="1"/>
          </p:cNvPicPr>
          <p:nvPr/>
        </p:nvPicPr>
        <p:blipFill>
          <a:blip r:embed="rId3"/>
          <a:stretch>
            <a:fillRect/>
          </a:stretch>
        </p:blipFill>
        <p:spPr>
          <a:xfrm>
            <a:off x="237478" y="278984"/>
            <a:ext cx="8305800" cy="5269646"/>
          </a:xfrm>
          <a:prstGeom prst="rect">
            <a:avLst/>
          </a:prstGeom>
        </p:spPr>
      </p:pic>
    </p:spTree>
    <p:extLst>
      <p:ext uri="{BB962C8B-B14F-4D97-AF65-F5344CB8AC3E}">
        <p14:creationId xmlns:p14="http://schemas.microsoft.com/office/powerpoint/2010/main" val="1458464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414F6CF4-9BDA-4079-812F-573F1EDD30A1}"/>
              </a:ext>
            </a:extLst>
          </p:cNvPr>
          <p:cNvSpPr>
            <a:spLocks noGrp="1"/>
          </p:cNvSpPr>
          <p:nvPr>
            <p:ph idx="1"/>
          </p:nvPr>
        </p:nvSpPr>
        <p:spPr>
          <a:xfrm>
            <a:off x="304800" y="457200"/>
            <a:ext cx="8458200" cy="6019800"/>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Steps to Create an IFE Matrix:</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List Key Internal Factors – Identify 5–10 strengths and 5–10    weaknesses.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Assign Weights – Each factor is given a weight from 0.0 to 1.0 (totaling 1.0 overall), based on its importance.</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Assign Ratings – Each factor is rated on a scale from 1 to 4</a:t>
            </a:r>
          </a:p>
          <a:p>
            <a:pPr marL="457200" lvl="1" indent="0">
              <a:buNone/>
            </a:pPr>
            <a:r>
              <a:rPr lang="en-US" dirty="0">
                <a:latin typeface="Times New Roman" panose="02020603050405020304" pitchFamily="18" charset="0"/>
                <a:cs typeface="Times New Roman" panose="02020603050405020304" pitchFamily="18" charset="0"/>
              </a:rPr>
              <a:t>4 = Major Strength</a:t>
            </a:r>
          </a:p>
          <a:p>
            <a:pPr marL="457200" lvl="1" indent="0">
              <a:buNone/>
            </a:pPr>
            <a:r>
              <a:rPr lang="en-US" dirty="0">
                <a:latin typeface="Times New Roman" panose="02020603050405020304" pitchFamily="18" charset="0"/>
                <a:cs typeface="Times New Roman" panose="02020603050405020304" pitchFamily="18" charset="0"/>
              </a:rPr>
              <a:t>3 = Minor Strength</a:t>
            </a:r>
          </a:p>
          <a:p>
            <a:pPr marL="457200" lvl="1" indent="0">
              <a:buNone/>
            </a:pPr>
            <a:r>
              <a:rPr lang="en-US" dirty="0">
                <a:latin typeface="Times New Roman" panose="02020603050405020304" pitchFamily="18" charset="0"/>
                <a:cs typeface="Times New Roman" panose="02020603050405020304" pitchFamily="18" charset="0"/>
              </a:rPr>
              <a:t>2 = Minor Weakness</a:t>
            </a:r>
          </a:p>
          <a:p>
            <a:pPr marL="457200" lvl="1" indent="0">
              <a:buNone/>
            </a:pPr>
            <a:r>
              <a:rPr lang="en-US" dirty="0">
                <a:latin typeface="Times New Roman" panose="02020603050405020304" pitchFamily="18" charset="0"/>
                <a:cs typeface="Times New Roman" panose="02020603050405020304" pitchFamily="18" charset="0"/>
              </a:rPr>
              <a:t>1 = Major Weakness</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Calculate Weighted Score – Multiply the weight by the rating for each factor.</a:t>
            </a:r>
          </a:p>
          <a:p>
            <a:pPr marL="514350" indent="-514350">
              <a:buFont typeface="+mj-lt"/>
              <a:buAutoNum type="arabicPeriod"/>
            </a:pPr>
            <a:r>
              <a:rPr lang="en-US" dirty="0">
                <a:latin typeface="Times New Roman" panose="02020603050405020304" pitchFamily="18" charset="0"/>
                <a:cs typeface="Times New Roman" panose="02020603050405020304" pitchFamily="18" charset="0"/>
              </a:rPr>
              <a:t>Add the Scores – The total score indicates the internal strength of the firm.</a:t>
            </a:r>
          </a:p>
          <a:p>
            <a:pPr marL="0" indent="0">
              <a:buNone/>
            </a:pPr>
            <a:r>
              <a:rPr lang="en-US" dirty="0">
                <a:latin typeface="Times New Roman" panose="02020603050405020304" pitchFamily="18" charset="0"/>
                <a:cs typeface="Times New Roman" panose="02020603050405020304" pitchFamily="18" charset="0"/>
              </a:rPr>
              <a:t>Total score &gt; 2.5: Strong internal position</a:t>
            </a:r>
          </a:p>
          <a:p>
            <a:pPr marL="0" indent="0">
              <a:buNone/>
            </a:pPr>
            <a:r>
              <a:rPr lang="en-US" dirty="0">
                <a:latin typeface="Times New Roman" panose="02020603050405020304" pitchFamily="18" charset="0"/>
                <a:cs typeface="Times New Roman" panose="02020603050405020304" pitchFamily="18" charset="0"/>
              </a:rPr>
              <a:t>Total score &lt; 2.5: Weak internal position</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87915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xmlns="" id="{5F0E0273-CC08-4918-A428-CE8BE920AA02}"/>
              </a:ext>
            </a:extLst>
          </p:cNvPr>
          <p:cNvGraphicFramePr>
            <a:graphicFrameLocks noGrp="1"/>
          </p:cNvGraphicFramePr>
          <p:nvPr>
            <p:ph idx="1"/>
          </p:nvPr>
        </p:nvGraphicFramePr>
        <p:xfrm>
          <a:off x="457200" y="381000"/>
          <a:ext cx="8382000" cy="5794324"/>
        </p:xfrm>
        <a:graphic>
          <a:graphicData uri="http://schemas.openxmlformats.org/drawingml/2006/table">
            <a:tbl>
              <a:tblPr/>
              <a:tblGrid>
                <a:gridCol w="2095500">
                  <a:extLst>
                    <a:ext uri="{9D8B030D-6E8A-4147-A177-3AD203B41FA5}">
                      <a16:colId xmlns:a16="http://schemas.microsoft.com/office/drawing/2014/main" xmlns="" val="651537698"/>
                    </a:ext>
                  </a:extLst>
                </a:gridCol>
                <a:gridCol w="2095500">
                  <a:extLst>
                    <a:ext uri="{9D8B030D-6E8A-4147-A177-3AD203B41FA5}">
                      <a16:colId xmlns:a16="http://schemas.microsoft.com/office/drawing/2014/main" xmlns="" val="1949099050"/>
                    </a:ext>
                  </a:extLst>
                </a:gridCol>
                <a:gridCol w="2095500">
                  <a:extLst>
                    <a:ext uri="{9D8B030D-6E8A-4147-A177-3AD203B41FA5}">
                      <a16:colId xmlns:a16="http://schemas.microsoft.com/office/drawing/2014/main" xmlns="" val="2899604255"/>
                    </a:ext>
                  </a:extLst>
                </a:gridCol>
                <a:gridCol w="2095500">
                  <a:extLst>
                    <a:ext uri="{9D8B030D-6E8A-4147-A177-3AD203B41FA5}">
                      <a16:colId xmlns:a16="http://schemas.microsoft.com/office/drawing/2014/main" xmlns="" val="3217755184"/>
                    </a:ext>
                  </a:extLst>
                </a:gridCol>
              </a:tblGrid>
              <a:tr h="556803">
                <a:tc>
                  <a:txBody>
                    <a:bodyPr/>
                    <a:lstStyle/>
                    <a:p>
                      <a:r>
                        <a:rPr lang="en-IN" dirty="0"/>
                        <a:t>Internal Factors</a:t>
                      </a:r>
                    </a:p>
                  </a:txBody>
                  <a:tcPr anchor="ctr">
                    <a:lnL>
                      <a:noFill/>
                    </a:lnL>
                    <a:lnR>
                      <a:noFill/>
                    </a:lnR>
                    <a:lnT>
                      <a:noFill/>
                    </a:lnT>
                    <a:lnB w="12700" cap="flat" cmpd="sng" algn="ctr">
                      <a:solidFill>
                        <a:schemeClr val="tx1"/>
                      </a:solidFill>
                      <a:prstDash val="solid"/>
                      <a:round/>
                      <a:headEnd type="none" w="med" len="med"/>
                      <a:tailEnd type="none" w="med" len="med"/>
                    </a:lnB>
                  </a:tcPr>
                </a:tc>
                <a:tc>
                  <a:txBody>
                    <a:bodyPr/>
                    <a:lstStyle/>
                    <a:p>
                      <a:r>
                        <a:rPr lang="en-IN" dirty="0"/>
                        <a:t>Weight</a:t>
                      </a:r>
                    </a:p>
                  </a:txBody>
                  <a:tcPr anchor="ctr">
                    <a:lnL>
                      <a:noFill/>
                    </a:lnL>
                    <a:lnR>
                      <a:noFill/>
                    </a:lnR>
                    <a:lnT>
                      <a:noFill/>
                    </a:lnT>
                    <a:lnB w="12700" cap="flat" cmpd="sng" algn="ctr">
                      <a:solidFill>
                        <a:schemeClr val="tx1"/>
                      </a:solidFill>
                      <a:prstDash val="solid"/>
                      <a:round/>
                      <a:headEnd type="none" w="med" len="med"/>
                      <a:tailEnd type="none" w="med" len="med"/>
                    </a:lnB>
                  </a:tcPr>
                </a:tc>
                <a:tc>
                  <a:txBody>
                    <a:bodyPr/>
                    <a:lstStyle/>
                    <a:p>
                      <a:r>
                        <a:rPr lang="en-IN" dirty="0"/>
                        <a:t>Rating</a:t>
                      </a:r>
                    </a:p>
                  </a:txBody>
                  <a:tcPr anchor="ctr">
                    <a:lnL>
                      <a:noFill/>
                    </a:lnL>
                    <a:lnR>
                      <a:noFill/>
                    </a:lnR>
                    <a:lnT>
                      <a:noFill/>
                    </a:lnT>
                    <a:lnB w="12700" cap="flat" cmpd="sng" algn="ctr">
                      <a:solidFill>
                        <a:schemeClr val="tx1"/>
                      </a:solidFill>
                      <a:prstDash val="solid"/>
                      <a:round/>
                      <a:headEnd type="none" w="med" len="med"/>
                      <a:tailEnd type="none" w="med" len="med"/>
                    </a:lnB>
                  </a:tcPr>
                </a:tc>
                <a:tc>
                  <a:txBody>
                    <a:bodyPr/>
                    <a:lstStyle/>
                    <a:p>
                      <a:r>
                        <a:rPr lang="en-IN" dirty="0"/>
                        <a:t>Score</a:t>
                      </a:r>
                    </a:p>
                  </a:txBody>
                  <a:tcPr anchor="ctr">
                    <a:lnL>
                      <a:noFill/>
                    </a:lnL>
                    <a:lnR>
                      <a:noFill/>
                    </a:lnR>
                    <a:lnT>
                      <a:noFill/>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93834181"/>
                  </a:ext>
                </a:extLst>
              </a:tr>
              <a:tr h="798537">
                <a:tc>
                  <a:txBody>
                    <a:bodyPr/>
                    <a:lstStyle/>
                    <a:p>
                      <a:r>
                        <a:rPr lang="en-IN" dirty="0"/>
                        <a:t>Strong brand recognition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0.80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590204993"/>
                  </a:ext>
                </a:extLst>
              </a:tr>
              <a:tr h="798537">
                <a:tc>
                  <a:txBody>
                    <a:bodyPr/>
                    <a:lstStyle/>
                    <a:p>
                      <a:r>
                        <a:rPr lang="en-IN" dirty="0"/>
                        <a:t>Wide network of outlets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0.45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92020887"/>
                  </a:ext>
                </a:extLst>
              </a:tr>
              <a:tr h="456307">
                <a:tc>
                  <a:txBody>
                    <a:bodyPr/>
                    <a:lstStyle/>
                    <a:p>
                      <a:r>
                        <a:rPr lang="en-IN" dirty="0"/>
                        <a:t>Affordable pricing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30364457"/>
                  </a:ext>
                </a:extLst>
              </a:tr>
              <a:tr h="798537">
                <a:tc>
                  <a:txBody>
                    <a:bodyPr/>
                    <a:lstStyle/>
                    <a:p>
                      <a:r>
                        <a:rPr lang="en-IN" dirty="0"/>
                        <a:t>Poor financial management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096156312"/>
                  </a:ext>
                </a:extLst>
              </a:tr>
              <a:tr h="798537">
                <a:tc>
                  <a:txBody>
                    <a:bodyPr/>
                    <a:lstStyle/>
                    <a:p>
                      <a:r>
                        <a:rPr lang="en-IN" dirty="0"/>
                        <a:t>Limited international presence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0.15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74500824"/>
                  </a:ext>
                </a:extLst>
              </a:tr>
              <a:tr h="798537">
                <a:tc>
                  <a:txBody>
                    <a:bodyPr/>
                    <a:lstStyle/>
                    <a:p>
                      <a:r>
                        <a:rPr lang="en-IN" dirty="0"/>
                        <a:t>Declining customer experience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0.20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836037849"/>
                  </a:ext>
                </a:extLst>
              </a:tr>
              <a:tr h="556803">
                <a:tc>
                  <a:txBody>
                    <a:bodyPr/>
                    <a:lstStyle/>
                    <a:p>
                      <a:r>
                        <a:rPr lang="en-IN" b="1" dirty="0"/>
                        <a:t>Total</a:t>
                      </a:r>
                      <a:endParaRPr lang="en-IN" dirty="0"/>
                    </a:p>
                  </a:txBody>
                  <a:tcPr anchor="ctr">
                    <a:lnL>
                      <a:noFill/>
                    </a:lnL>
                    <a:lnR>
                      <a:noFill/>
                    </a:lnR>
                    <a:lnT w="12700" cap="flat" cmpd="sng" algn="ctr">
                      <a:solidFill>
                        <a:schemeClr val="tx1"/>
                      </a:solidFill>
                      <a:prstDash val="solid"/>
                      <a:round/>
                      <a:headEnd type="none" w="med" len="med"/>
                      <a:tailEnd type="none" w="med" len="med"/>
                    </a:lnT>
                    <a:lnB>
                      <a:noFill/>
                    </a:lnB>
                  </a:tcPr>
                </a:tc>
                <a:tc>
                  <a:txBody>
                    <a:bodyPr/>
                    <a:lstStyle/>
                    <a:p>
                      <a:r>
                        <a:rPr lang="en-IN" b="1" dirty="0"/>
                        <a:t>1.00</a:t>
                      </a:r>
                      <a:endParaRPr lang="en-IN" dirty="0"/>
                    </a:p>
                  </a:txBody>
                  <a:tcPr anchor="ctr">
                    <a:lnL>
                      <a:noFill/>
                    </a:lnL>
                    <a:lnR>
                      <a:noFill/>
                    </a:lnR>
                    <a:lnT w="12700" cap="flat" cmpd="sng" algn="ctr">
                      <a:solidFill>
                        <a:schemeClr val="tx1"/>
                      </a:solidFill>
                      <a:prstDash val="solid"/>
                      <a:round/>
                      <a:headEnd type="none" w="med" len="med"/>
                      <a:tailEnd type="none" w="med" len="med"/>
                    </a:lnT>
                    <a:lnB>
                      <a:noFill/>
                    </a:lnB>
                  </a:tcPr>
                </a:tc>
                <a:tc>
                  <a:txBody>
                    <a:bodyPr/>
                    <a:lstStyle/>
                    <a:p>
                      <a:endParaRPr lang="en-IN" dirty="0"/>
                    </a:p>
                  </a:txBody>
                  <a:tcPr anchor="ctr">
                    <a:lnL>
                      <a:noFill/>
                    </a:lnL>
                    <a:lnR>
                      <a:noFill/>
                    </a:lnR>
                    <a:lnT w="12700" cap="flat" cmpd="sng" algn="ctr">
                      <a:solidFill>
                        <a:schemeClr val="tx1"/>
                      </a:solidFill>
                      <a:prstDash val="solid"/>
                      <a:round/>
                      <a:headEnd type="none" w="med" len="med"/>
                      <a:tailEnd type="none" w="med" len="med"/>
                    </a:lnT>
                    <a:lnB>
                      <a:noFill/>
                    </a:lnB>
                  </a:tcPr>
                </a:tc>
                <a:tc>
                  <a:txBody>
                    <a:bodyPr/>
                    <a:lstStyle/>
                    <a:p>
                      <a:r>
                        <a:rPr lang="en-IN" b="1" dirty="0"/>
                        <a:t>2.25</a:t>
                      </a:r>
                      <a:endParaRPr lang="en-IN" dirty="0"/>
                    </a:p>
                  </a:txBody>
                  <a:tcPr anchor="ctr">
                    <a:lnL>
                      <a:noFill/>
                    </a:lnL>
                    <a:lnR>
                      <a:noFill/>
                    </a:lnR>
                    <a:lnT w="1270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xmlns="" val="3221019463"/>
                  </a:ext>
                </a:extLst>
              </a:tr>
            </a:tbl>
          </a:graphicData>
        </a:graphic>
      </p:graphicFrame>
    </p:spTree>
    <p:extLst>
      <p:ext uri="{BB962C8B-B14F-4D97-AF65-F5344CB8AC3E}">
        <p14:creationId xmlns:p14="http://schemas.microsoft.com/office/powerpoint/2010/main" val="27716098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F33E0AC-9C22-75C8-3A8F-6199367A074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B101FE91-743E-7154-DA86-21FFC2A9CDDB}"/>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85D275FE-8D11-33EF-BCAD-B880D79B0A4C}"/>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45517181-F9D5-ECF2-ABE7-9858E21A0B0C}"/>
              </a:ext>
            </a:extLst>
          </p:cNvPr>
          <p:cNvSpPr>
            <a:spLocks noGrp="1"/>
          </p:cNvSpPr>
          <p:nvPr>
            <p:ph type="sldNum" sz="quarter" idx="12"/>
          </p:nvPr>
        </p:nvSpPr>
        <p:spPr/>
        <p:txBody>
          <a:bodyPr/>
          <a:lstStyle/>
          <a:p>
            <a:fld id="{E566A64D-537C-4258-BCDA-D6FBF77857E8}" type="slidenum">
              <a:rPr lang="en-US" smtClean="0"/>
              <a:pPr/>
              <a:t>43</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9BE4DC3A-1A7F-53B9-3F1B-1BC10D38E0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5970A990-A55F-58DD-0F52-436A0B6BC0AD}"/>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9" name="Picture 8">
            <a:extLst>
              <a:ext uri="{FF2B5EF4-FFF2-40B4-BE49-F238E27FC236}">
                <a16:creationId xmlns:a16="http://schemas.microsoft.com/office/drawing/2014/main" xmlns="" id="{D1AA46AA-B962-70E9-E6BD-2DB1184725A2}"/>
              </a:ext>
            </a:extLst>
          </p:cNvPr>
          <p:cNvPicPr>
            <a:picLocks noChangeAspect="1"/>
          </p:cNvPicPr>
          <p:nvPr/>
        </p:nvPicPr>
        <p:blipFill>
          <a:blip r:embed="rId3"/>
          <a:stretch>
            <a:fillRect/>
          </a:stretch>
        </p:blipFill>
        <p:spPr>
          <a:xfrm>
            <a:off x="0" y="103529"/>
            <a:ext cx="9144000" cy="6650942"/>
          </a:xfrm>
          <a:prstGeom prst="rect">
            <a:avLst/>
          </a:prstGeom>
        </p:spPr>
      </p:pic>
    </p:spTree>
    <p:extLst>
      <p:ext uri="{BB962C8B-B14F-4D97-AF65-F5344CB8AC3E}">
        <p14:creationId xmlns:p14="http://schemas.microsoft.com/office/powerpoint/2010/main" val="35393606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8CD702D-398C-4356-B623-25C33F13CCBF}"/>
              </a:ext>
            </a:extLst>
          </p:cNvPr>
          <p:cNvSpPr>
            <a:spLocks noGrp="1"/>
          </p:cNvSpPr>
          <p:nvPr>
            <p:ph idx="1"/>
          </p:nvPr>
        </p:nvSpPr>
        <p:spPr>
          <a:xfrm>
            <a:off x="457200" y="457200"/>
            <a:ext cx="8229600" cy="5668963"/>
          </a:xfrm>
        </p:spPr>
        <p:txBody>
          <a:bodyPr>
            <a:normAutofit/>
          </a:bodyPr>
          <a:lstStyle/>
          <a:p>
            <a:pPr marL="0" indent="0">
              <a:buNone/>
            </a:pPr>
            <a:r>
              <a:rPr lang="en-US" sz="2800" b="1" dirty="0">
                <a:latin typeface="Times New Roman" panose="02020603050405020304" pitchFamily="18" charset="0"/>
                <a:cs typeface="Times New Roman" panose="02020603050405020304" pitchFamily="18" charset="0"/>
              </a:rPr>
              <a:t>Interpretation:</a:t>
            </a:r>
          </a:p>
          <a:p>
            <a:pPr marL="0" indent="0">
              <a:buNone/>
            </a:pPr>
            <a:r>
              <a:rPr lang="en-US" sz="2800" dirty="0">
                <a:latin typeface="Times New Roman" panose="02020603050405020304" pitchFamily="18" charset="0"/>
                <a:cs typeface="Times New Roman" panose="02020603050405020304" pitchFamily="18" charset="0"/>
              </a:rPr>
              <a:t>With a total weighted score of </a:t>
            </a:r>
            <a:r>
              <a:rPr lang="en-US" sz="2800" b="1" dirty="0">
                <a:latin typeface="Times New Roman" panose="02020603050405020304" pitchFamily="18" charset="0"/>
                <a:cs typeface="Times New Roman" panose="02020603050405020304" pitchFamily="18" charset="0"/>
              </a:rPr>
              <a:t>2.25</a:t>
            </a:r>
            <a:r>
              <a:rPr lang="en-US" sz="2800" dirty="0">
                <a:latin typeface="Times New Roman" panose="02020603050405020304" pitchFamily="18" charset="0"/>
                <a:cs typeface="Times New Roman" panose="02020603050405020304" pitchFamily="18" charset="0"/>
              </a:rPr>
              <a:t>, Café Coffee Day has a </a:t>
            </a:r>
            <a:r>
              <a:rPr lang="en-US" sz="2800" b="1" dirty="0">
                <a:latin typeface="Times New Roman" panose="02020603050405020304" pitchFamily="18" charset="0"/>
                <a:cs typeface="Times New Roman" panose="02020603050405020304" pitchFamily="18" charset="0"/>
              </a:rPr>
              <a:t>below-average internal position</a:t>
            </a:r>
            <a:r>
              <a:rPr lang="en-US" sz="2800" dirty="0">
                <a:latin typeface="Times New Roman" panose="02020603050405020304" pitchFamily="18" charset="0"/>
                <a:cs typeface="Times New Roman" panose="02020603050405020304" pitchFamily="18" charset="0"/>
              </a:rPr>
              <a:t>, indicating that while it has some strengths, major weaknesses like poor financial health and customer experience need urgent attention.</a:t>
            </a:r>
          </a:p>
          <a:p>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54694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xmlns="" id="{7BF372C3-54A7-4FB0-8FDC-98BD5A16D6B4}"/>
              </a:ext>
            </a:extLst>
          </p:cNvPr>
          <p:cNvPicPr>
            <a:picLocks noGrp="1" noChangeAspect="1"/>
          </p:cNvPicPr>
          <p:nvPr>
            <p:ph idx="1"/>
          </p:nvPr>
        </p:nvPicPr>
        <p:blipFill>
          <a:blip r:embed="rId2"/>
          <a:stretch>
            <a:fillRect/>
          </a:stretch>
        </p:blipFill>
        <p:spPr>
          <a:xfrm>
            <a:off x="0" y="76200"/>
            <a:ext cx="9067800" cy="6781800"/>
          </a:xfrm>
          <a:prstGeom prst="rect">
            <a:avLst/>
          </a:prstGeom>
        </p:spPr>
      </p:pic>
    </p:spTree>
    <p:extLst>
      <p:ext uri="{BB962C8B-B14F-4D97-AF65-F5344CB8AC3E}">
        <p14:creationId xmlns:p14="http://schemas.microsoft.com/office/powerpoint/2010/main" val="21275152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80FFD1A-D9B0-048F-B4A7-3D1AFDE1441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453E57A-045A-60F7-9C15-A9CB065668E6}"/>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5F45516D-4E1D-1EA2-BFF1-0447991E1959}"/>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4D83EC81-B1F4-E766-B749-F892E2775CE1}"/>
              </a:ext>
            </a:extLst>
          </p:cNvPr>
          <p:cNvSpPr>
            <a:spLocks noGrp="1"/>
          </p:cNvSpPr>
          <p:nvPr>
            <p:ph type="sldNum" sz="quarter" idx="12"/>
          </p:nvPr>
        </p:nvSpPr>
        <p:spPr/>
        <p:txBody>
          <a:bodyPr/>
          <a:lstStyle/>
          <a:p>
            <a:fld id="{E566A64D-537C-4258-BCDA-D6FBF77857E8}" type="slidenum">
              <a:rPr lang="en-US" smtClean="0"/>
              <a:pPr/>
              <a:t>46</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DE326BB0-3E79-C177-071A-9F6EDAEAD67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1671211-3AB5-0A8F-3E7F-4B9C59F37EC3}"/>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96FB806C-61C8-7388-8415-960A0127DB77}"/>
              </a:ext>
            </a:extLst>
          </p:cNvPr>
          <p:cNvPicPr>
            <a:picLocks noChangeAspect="1"/>
          </p:cNvPicPr>
          <p:nvPr/>
        </p:nvPicPr>
        <p:blipFill>
          <a:blip r:embed="rId3"/>
          <a:stretch>
            <a:fillRect/>
          </a:stretch>
        </p:blipFill>
        <p:spPr>
          <a:xfrm>
            <a:off x="294157" y="136526"/>
            <a:ext cx="5268443" cy="2718793"/>
          </a:xfrm>
          <a:prstGeom prst="rect">
            <a:avLst/>
          </a:prstGeom>
        </p:spPr>
      </p:pic>
      <p:pic>
        <p:nvPicPr>
          <p:cNvPr id="10" name="Picture 9">
            <a:extLst>
              <a:ext uri="{FF2B5EF4-FFF2-40B4-BE49-F238E27FC236}">
                <a16:creationId xmlns:a16="http://schemas.microsoft.com/office/drawing/2014/main" xmlns="" id="{BB2D39E7-05D1-7473-270D-19EDA201391C}"/>
              </a:ext>
            </a:extLst>
          </p:cNvPr>
          <p:cNvPicPr>
            <a:picLocks noChangeAspect="1"/>
          </p:cNvPicPr>
          <p:nvPr/>
        </p:nvPicPr>
        <p:blipFill>
          <a:blip r:embed="rId4"/>
          <a:stretch>
            <a:fillRect/>
          </a:stretch>
        </p:blipFill>
        <p:spPr>
          <a:xfrm>
            <a:off x="3237219" y="2980066"/>
            <a:ext cx="4650761" cy="3321972"/>
          </a:xfrm>
          <a:prstGeom prst="rect">
            <a:avLst/>
          </a:prstGeom>
        </p:spPr>
      </p:pic>
    </p:spTree>
    <p:extLst>
      <p:ext uri="{BB962C8B-B14F-4D97-AF65-F5344CB8AC3E}">
        <p14:creationId xmlns:p14="http://schemas.microsoft.com/office/powerpoint/2010/main" val="7925387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978D61A-50A8-FD39-AC11-D96D766EC63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B9A211F-1727-C801-8704-F27806B3D073}"/>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BA816C3B-048D-7CEB-3985-A8A48FF00DF3}"/>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429F17E5-689D-6679-0170-69051CDB74BC}"/>
              </a:ext>
            </a:extLst>
          </p:cNvPr>
          <p:cNvSpPr>
            <a:spLocks noGrp="1"/>
          </p:cNvSpPr>
          <p:nvPr>
            <p:ph type="sldNum" sz="quarter" idx="12"/>
          </p:nvPr>
        </p:nvSpPr>
        <p:spPr/>
        <p:txBody>
          <a:bodyPr/>
          <a:lstStyle/>
          <a:p>
            <a:fld id="{E566A64D-537C-4258-BCDA-D6FBF77857E8}" type="slidenum">
              <a:rPr lang="en-US" smtClean="0"/>
              <a:pPr/>
              <a:t>47</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77FF2310-C60A-3AF0-72DC-440B367EEE4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D1C59C61-3608-0F08-2AE9-BA7169837687}"/>
              </a:ext>
            </a:extLst>
          </p:cNvPr>
          <p:cNvPicPr>
            <a:picLocks noChangeAspect="1"/>
          </p:cNvPicPr>
          <p:nvPr/>
        </p:nvPicPr>
        <p:blipFill>
          <a:blip r:embed="rId3"/>
          <a:stretch>
            <a:fillRect/>
          </a:stretch>
        </p:blipFill>
        <p:spPr>
          <a:xfrm>
            <a:off x="135054" y="152533"/>
            <a:ext cx="4284546" cy="3180031"/>
          </a:xfrm>
          <a:prstGeom prst="rect">
            <a:avLst/>
          </a:prstGeom>
        </p:spPr>
      </p:pic>
    </p:spTree>
    <p:extLst>
      <p:ext uri="{BB962C8B-B14F-4D97-AF65-F5344CB8AC3E}">
        <p14:creationId xmlns:p14="http://schemas.microsoft.com/office/powerpoint/2010/main" val="3310823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DDCEF29-2BB7-59EA-2BD8-0073FA3E729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4F28F96-B371-9653-AEE2-9A43986EF7E6}"/>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DB728DC1-BD98-A205-32AB-83D8DD4B5C78}"/>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E1037F13-04CF-1400-055F-BA92F80F001C}"/>
              </a:ext>
            </a:extLst>
          </p:cNvPr>
          <p:cNvSpPr>
            <a:spLocks noGrp="1"/>
          </p:cNvSpPr>
          <p:nvPr>
            <p:ph type="sldNum" sz="quarter" idx="12"/>
          </p:nvPr>
        </p:nvSpPr>
        <p:spPr/>
        <p:txBody>
          <a:bodyPr/>
          <a:lstStyle/>
          <a:p>
            <a:fld id="{E566A64D-537C-4258-BCDA-D6FBF77857E8}" type="slidenum">
              <a:rPr lang="en-US" smtClean="0"/>
              <a:pPr/>
              <a:t>48</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1B5930C3-74A7-93A5-FCA0-627F156091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822A9E23-4AF6-8022-078A-D74F31ACE7A0}"/>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BF02E9CA-5A8F-4AAF-1477-6E6D2D0563C1}"/>
              </a:ext>
            </a:extLst>
          </p:cNvPr>
          <p:cNvPicPr>
            <a:picLocks noChangeAspect="1"/>
          </p:cNvPicPr>
          <p:nvPr/>
        </p:nvPicPr>
        <p:blipFill>
          <a:blip r:embed="rId3"/>
          <a:stretch>
            <a:fillRect/>
          </a:stretch>
        </p:blipFill>
        <p:spPr>
          <a:xfrm>
            <a:off x="76200" y="214630"/>
            <a:ext cx="4876800" cy="2796583"/>
          </a:xfrm>
          <a:prstGeom prst="rect">
            <a:avLst/>
          </a:prstGeom>
        </p:spPr>
      </p:pic>
      <p:pic>
        <p:nvPicPr>
          <p:cNvPr id="10" name="Picture 9">
            <a:extLst>
              <a:ext uri="{FF2B5EF4-FFF2-40B4-BE49-F238E27FC236}">
                <a16:creationId xmlns:a16="http://schemas.microsoft.com/office/drawing/2014/main" xmlns="" id="{F1167878-D63D-5D2D-8402-0EBCEC9C75FC}"/>
              </a:ext>
            </a:extLst>
          </p:cNvPr>
          <p:cNvPicPr>
            <a:picLocks noChangeAspect="1"/>
          </p:cNvPicPr>
          <p:nvPr/>
        </p:nvPicPr>
        <p:blipFill>
          <a:blip r:embed="rId4"/>
          <a:stretch>
            <a:fillRect/>
          </a:stretch>
        </p:blipFill>
        <p:spPr>
          <a:xfrm>
            <a:off x="3984172" y="3011213"/>
            <a:ext cx="4876800" cy="3734389"/>
          </a:xfrm>
          <a:prstGeom prst="rect">
            <a:avLst/>
          </a:prstGeom>
        </p:spPr>
      </p:pic>
    </p:spTree>
    <p:extLst>
      <p:ext uri="{BB962C8B-B14F-4D97-AF65-F5344CB8AC3E}">
        <p14:creationId xmlns:p14="http://schemas.microsoft.com/office/powerpoint/2010/main" val="22162063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C4E09079-D0D5-5BD6-92AC-04CD77F0792A}"/>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2489F9E-3BCE-650F-5D69-8C75DCB7157D}"/>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7CCB11A1-1319-CD30-32C1-C7BDF1C28846}"/>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D974AC0B-C668-41D7-2078-B4042CF5A1D7}"/>
              </a:ext>
            </a:extLst>
          </p:cNvPr>
          <p:cNvSpPr>
            <a:spLocks noGrp="1"/>
          </p:cNvSpPr>
          <p:nvPr>
            <p:ph type="sldNum" sz="quarter" idx="12"/>
          </p:nvPr>
        </p:nvSpPr>
        <p:spPr/>
        <p:txBody>
          <a:bodyPr/>
          <a:lstStyle/>
          <a:p>
            <a:fld id="{E566A64D-537C-4258-BCDA-D6FBF77857E8}" type="slidenum">
              <a:rPr lang="en-US" smtClean="0"/>
              <a:pPr/>
              <a:t>49</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B8A6AD1D-C01E-4CB4-5A5C-2140757F285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4BCEC523-23A7-B843-1D02-5F12E4983A2D}"/>
              </a:ext>
            </a:extLst>
          </p:cNvPr>
          <p:cNvPicPr>
            <a:picLocks noChangeAspect="1"/>
          </p:cNvPicPr>
          <p:nvPr/>
        </p:nvPicPr>
        <p:blipFill>
          <a:blip r:embed="rId3"/>
          <a:stretch>
            <a:fillRect/>
          </a:stretch>
        </p:blipFill>
        <p:spPr>
          <a:xfrm>
            <a:off x="367137" y="533400"/>
            <a:ext cx="7902804" cy="5062268"/>
          </a:xfrm>
          <a:prstGeom prst="rect">
            <a:avLst/>
          </a:prstGeom>
        </p:spPr>
      </p:pic>
    </p:spTree>
    <p:extLst>
      <p:ext uri="{BB962C8B-B14F-4D97-AF65-F5344CB8AC3E}">
        <p14:creationId xmlns:p14="http://schemas.microsoft.com/office/powerpoint/2010/main" val="20921946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45B60CF1-C2F5-3161-3FCF-7CCE675C3DE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C12A7ABF-CB14-DE8F-3EDB-A6D679770441}"/>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FCE3B4D8-4630-B9F7-C4D4-D02DC73F1678}"/>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F9E1FA4F-7C1E-F16A-7E9C-E0DA01C0F086}"/>
              </a:ext>
            </a:extLst>
          </p:cNvPr>
          <p:cNvSpPr>
            <a:spLocks noGrp="1"/>
          </p:cNvSpPr>
          <p:nvPr>
            <p:ph type="sldNum" sz="quarter" idx="12"/>
          </p:nvPr>
        </p:nvSpPr>
        <p:spPr/>
        <p:txBody>
          <a:bodyPr/>
          <a:lstStyle/>
          <a:p>
            <a:fld id="{E566A64D-537C-4258-BCDA-D6FBF77857E8}" type="slidenum">
              <a:rPr lang="en-US" smtClean="0"/>
              <a:pPr/>
              <a:t>50</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DFB1DA9E-95AF-A1AE-4B68-015AA5715EC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4361F55-4218-2FFB-F6A4-91E48791F3B4}"/>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sp>
        <p:nvSpPr>
          <p:cNvPr id="7" name="TextBox 6">
            <a:extLst>
              <a:ext uri="{FF2B5EF4-FFF2-40B4-BE49-F238E27FC236}">
                <a16:creationId xmlns:a16="http://schemas.microsoft.com/office/drawing/2014/main" xmlns="" id="{30681331-02F5-BF2B-D8A8-070B711C2755}"/>
              </a:ext>
            </a:extLst>
          </p:cNvPr>
          <p:cNvSpPr txBox="1"/>
          <p:nvPr/>
        </p:nvSpPr>
        <p:spPr>
          <a:xfrm>
            <a:off x="2286000" y="3246255"/>
            <a:ext cx="4572000" cy="369332"/>
          </a:xfrm>
          <a:prstGeom prst="rect">
            <a:avLst/>
          </a:prstGeom>
          <a:noFill/>
        </p:spPr>
        <p:txBody>
          <a:bodyPr wrap="square">
            <a:spAutoFit/>
          </a:bodyPr>
          <a:lstStyle/>
          <a:p>
            <a:r>
              <a:rPr lang="en-IN" dirty="0">
                <a:hlinkClick r:id="rId3"/>
              </a:rPr>
              <a:t>Error</a:t>
            </a:r>
            <a:endParaRPr lang="en-IN" dirty="0"/>
          </a:p>
        </p:txBody>
      </p:sp>
      <p:sp>
        <p:nvSpPr>
          <p:cNvPr id="10" name="TextBox 9">
            <a:extLst>
              <a:ext uri="{FF2B5EF4-FFF2-40B4-BE49-F238E27FC236}">
                <a16:creationId xmlns:a16="http://schemas.microsoft.com/office/drawing/2014/main" xmlns="" id="{0BAC5B56-63E6-7ECF-AD44-DC7E8A2C1BB3}"/>
              </a:ext>
            </a:extLst>
          </p:cNvPr>
          <p:cNvSpPr txBox="1"/>
          <p:nvPr/>
        </p:nvSpPr>
        <p:spPr>
          <a:xfrm>
            <a:off x="2286000" y="1752600"/>
            <a:ext cx="4572000" cy="646331"/>
          </a:xfrm>
          <a:prstGeom prst="rect">
            <a:avLst/>
          </a:prstGeom>
          <a:noFill/>
        </p:spPr>
        <p:txBody>
          <a:bodyPr wrap="square">
            <a:spAutoFit/>
          </a:bodyPr>
          <a:lstStyle/>
          <a:p>
            <a:r>
              <a:rPr lang="en-IN" dirty="0"/>
              <a:t>https://ocw.ump.edu.my/pluginfile.php/630/mod_resource/content/1</a:t>
            </a:r>
          </a:p>
        </p:txBody>
      </p:sp>
    </p:spTree>
    <p:extLst>
      <p:ext uri="{BB962C8B-B14F-4D97-AF65-F5344CB8AC3E}">
        <p14:creationId xmlns:p14="http://schemas.microsoft.com/office/powerpoint/2010/main" val="31434685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DCE2D7-3269-D7BD-23FB-BE14C1A21A5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CE496CA0-125B-DC6C-9F85-99E2FD9B4A03}"/>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BB4ACC01-A876-3426-0D17-11B9F3590670}"/>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6AC37D50-CFEF-CBC7-D8DF-9CCA6B9497C6}"/>
              </a:ext>
            </a:extLst>
          </p:cNvPr>
          <p:cNvSpPr>
            <a:spLocks noGrp="1"/>
          </p:cNvSpPr>
          <p:nvPr>
            <p:ph type="sldNum" sz="quarter" idx="12"/>
          </p:nvPr>
        </p:nvSpPr>
        <p:spPr/>
        <p:txBody>
          <a:bodyPr/>
          <a:lstStyle/>
          <a:p>
            <a:fld id="{E566A64D-537C-4258-BCDA-D6FBF77857E8}" type="slidenum">
              <a:rPr lang="en-US" smtClean="0"/>
              <a:pPr/>
              <a:t>51</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644C5150-590C-3E5B-A795-C7D8F1EEB4F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AF423C07-E2C5-BB41-ADCF-C660D1390A59}"/>
              </a:ext>
            </a:extLst>
          </p:cNvPr>
          <p:cNvPicPr>
            <a:picLocks noChangeAspect="1"/>
          </p:cNvPicPr>
          <p:nvPr/>
        </p:nvPicPr>
        <p:blipFill>
          <a:blip r:embed="rId3"/>
          <a:stretch>
            <a:fillRect/>
          </a:stretch>
        </p:blipFill>
        <p:spPr>
          <a:xfrm>
            <a:off x="91134" y="136525"/>
            <a:ext cx="5104337" cy="3135229"/>
          </a:xfrm>
          <a:prstGeom prst="rect">
            <a:avLst/>
          </a:prstGeom>
        </p:spPr>
      </p:pic>
      <p:pic>
        <p:nvPicPr>
          <p:cNvPr id="9" name="Picture 8">
            <a:extLst>
              <a:ext uri="{FF2B5EF4-FFF2-40B4-BE49-F238E27FC236}">
                <a16:creationId xmlns:a16="http://schemas.microsoft.com/office/drawing/2014/main" xmlns="" id="{542169F1-2D61-0DE4-0460-6250CB2646DC}"/>
              </a:ext>
            </a:extLst>
          </p:cNvPr>
          <p:cNvPicPr>
            <a:picLocks noChangeAspect="1"/>
          </p:cNvPicPr>
          <p:nvPr/>
        </p:nvPicPr>
        <p:blipFill>
          <a:blip r:embed="rId4"/>
          <a:stretch>
            <a:fillRect/>
          </a:stretch>
        </p:blipFill>
        <p:spPr>
          <a:xfrm>
            <a:off x="38747" y="3451819"/>
            <a:ext cx="4724400" cy="3407462"/>
          </a:xfrm>
          <a:prstGeom prst="rect">
            <a:avLst/>
          </a:prstGeom>
        </p:spPr>
      </p:pic>
      <p:pic>
        <p:nvPicPr>
          <p:cNvPr id="11" name="Picture 10">
            <a:extLst>
              <a:ext uri="{FF2B5EF4-FFF2-40B4-BE49-F238E27FC236}">
                <a16:creationId xmlns:a16="http://schemas.microsoft.com/office/drawing/2014/main" xmlns="" id="{0E73ED34-E699-074E-931A-0B24EAF82352}"/>
              </a:ext>
            </a:extLst>
          </p:cNvPr>
          <p:cNvPicPr>
            <a:picLocks noChangeAspect="1"/>
          </p:cNvPicPr>
          <p:nvPr/>
        </p:nvPicPr>
        <p:blipFill>
          <a:blip r:embed="rId5"/>
          <a:stretch>
            <a:fillRect/>
          </a:stretch>
        </p:blipFill>
        <p:spPr>
          <a:xfrm>
            <a:off x="4736518" y="3544058"/>
            <a:ext cx="4350961" cy="3042919"/>
          </a:xfrm>
          <a:prstGeom prst="rect">
            <a:avLst/>
          </a:prstGeom>
        </p:spPr>
      </p:pic>
    </p:spTree>
    <p:extLst>
      <p:ext uri="{BB962C8B-B14F-4D97-AF65-F5344CB8AC3E}">
        <p14:creationId xmlns:p14="http://schemas.microsoft.com/office/powerpoint/2010/main" val="19948952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358405E-1FCB-F916-6F4F-42852D196FE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2814767-BB89-1E8C-DF6A-DBF6BE37678E}"/>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FE8D1253-F031-88E5-6994-CDBF0A2C46A7}"/>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CD29956A-0C19-36C6-7A8A-0CACDA14EFDF}"/>
              </a:ext>
            </a:extLst>
          </p:cNvPr>
          <p:cNvSpPr>
            <a:spLocks noGrp="1"/>
          </p:cNvSpPr>
          <p:nvPr>
            <p:ph type="sldNum" sz="quarter" idx="12"/>
          </p:nvPr>
        </p:nvSpPr>
        <p:spPr/>
        <p:txBody>
          <a:bodyPr/>
          <a:lstStyle/>
          <a:p>
            <a:fld id="{E566A64D-537C-4258-BCDA-D6FBF77857E8}" type="slidenum">
              <a:rPr lang="en-US" smtClean="0"/>
              <a:pPr/>
              <a:t>52</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1126CFDB-A765-6967-A157-D016EE7C6E3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F42A1E2E-2E14-70FB-30D1-1C19FD737831}"/>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10" name="Picture 9">
            <a:extLst>
              <a:ext uri="{FF2B5EF4-FFF2-40B4-BE49-F238E27FC236}">
                <a16:creationId xmlns:a16="http://schemas.microsoft.com/office/drawing/2014/main" xmlns="" id="{DE3D5830-9AFE-60FD-4FDB-807BEEFD75EB}"/>
              </a:ext>
            </a:extLst>
          </p:cNvPr>
          <p:cNvPicPr>
            <a:picLocks noChangeAspect="1"/>
          </p:cNvPicPr>
          <p:nvPr/>
        </p:nvPicPr>
        <p:blipFill>
          <a:blip r:embed="rId3"/>
          <a:stretch>
            <a:fillRect/>
          </a:stretch>
        </p:blipFill>
        <p:spPr>
          <a:xfrm>
            <a:off x="152400" y="127560"/>
            <a:ext cx="5943600" cy="4953000"/>
          </a:xfrm>
          <a:prstGeom prst="rect">
            <a:avLst/>
          </a:prstGeom>
        </p:spPr>
      </p:pic>
    </p:spTree>
    <p:extLst>
      <p:ext uri="{BB962C8B-B14F-4D97-AF65-F5344CB8AC3E}">
        <p14:creationId xmlns:p14="http://schemas.microsoft.com/office/powerpoint/2010/main" val="19551152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CE1DEC2-677D-F408-43AD-8FB8A556F93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A3A49F7-4D39-0CB8-FBA0-2A1F8B9CA92A}"/>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84C8647A-CE12-C497-C1FC-FC5464CE6F0F}"/>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815C014A-F7E6-F063-ED8A-674E3525C4A0}"/>
              </a:ext>
            </a:extLst>
          </p:cNvPr>
          <p:cNvSpPr>
            <a:spLocks noGrp="1"/>
          </p:cNvSpPr>
          <p:nvPr>
            <p:ph type="sldNum" sz="quarter" idx="12"/>
          </p:nvPr>
        </p:nvSpPr>
        <p:spPr/>
        <p:txBody>
          <a:bodyPr/>
          <a:lstStyle/>
          <a:p>
            <a:fld id="{E566A64D-537C-4258-BCDA-D6FBF77857E8}" type="slidenum">
              <a:rPr lang="en-US" smtClean="0"/>
              <a:pPr/>
              <a:t>53</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9C76534C-1789-60B1-8620-30BC1E8887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59DB530E-C25B-8A7D-224D-204EF7C088E8}"/>
              </a:ext>
            </a:extLst>
          </p:cNvPr>
          <p:cNvPicPr>
            <a:picLocks noChangeAspect="1"/>
          </p:cNvPicPr>
          <p:nvPr/>
        </p:nvPicPr>
        <p:blipFill>
          <a:blip r:embed="rId3"/>
          <a:stretch>
            <a:fillRect/>
          </a:stretch>
        </p:blipFill>
        <p:spPr>
          <a:xfrm>
            <a:off x="10885" y="17929"/>
            <a:ext cx="5720309" cy="3563471"/>
          </a:xfrm>
          <a:prstGeom prst="rect">
            <a:avLst/>
          </a:prstGeom>
        </p:spPr>
      </p:pic>
      <p:pic>
        <p:nvPicPr>
          <p:cNvPr id="9" name="Picture 8">
            <a:extLst>
              <a:ext uri="{FF2B5EF4-FFF2-40B4-BE49-F238E27FC236}">
                <a16:creationId xmlns:a16="http://schemas.microsoft.com/office/drawing/2014/main" xmlns="" id="{9448B205-EAA8-D325-E54E-C1EC7B6702B2}"/>
              </a:ext>
            </a:extLst>
          </p:cNvPr>
          <p:cNvPicPr>
            <a:picLocks noChangeAspect="1"/>
          </p:cNvPicPr>
          <p:nvPr/>
        </p:nvPicPr>
        <p:blipFill>
          <a:blip r:embed="rId4"/>
          <a:stretch>
            <a:fillRect/>
          </a:stretch>
        </p:blipFill>
        <p:spPr>
          <a:xfrm>
            <a:off x="3695700" y="3535233"/>
            <a:ext cx="4800600" cy="2821117"/>
          </a:xfrm>
          <a:prstGeom prst="rect">
            <a:avLst/>
          </a:prstGeom>
        </p:spPr>
      </p:pic>
    </p:spTree>
    <p:extLst>
      <p:ext uri="{BB962C8B-B14F-4D97-AF65-F5344CB8AC3E}">
        <p14:creationId xmlns:p14="http://schemas.microsoft.com/office/powerpoint/2010/main" val="23808903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60B9153-9607-FB4B-BF30-349F47C2C1A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F48C6AEC-4257-52C7-0C82-0337C47AD03E}"/>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C5CE816C-2845-B19F-E750-5BD4EF770960}"/>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E3647E92-ACE1-014B-386C-0AA5FF2180DA}"/>
              </a:ext>
            </a:extLst>
          </p:cNvPr>
          <p:cNvSpPr>
            <a:spLocks noGrp="1"/>
          </p:cNvSpPr>
          <p:nvPr>
            <p:ph type="sldNum" sz="quarter" idx="12"/>
          </p:nvPr>
        </p:nvSpPr>
        <p:spPr/>
        <p:txBody>
          <a:bodyPr/>
          <a:lstStyle/>
          <a:p>
            <a:fld id="{E566A64D-537C-4258-BCDA-D6FBF77857E8}" type="slidenum">
              <a:rPr lang="en-US" smtClean="0"/>
              <a:pPr/>
              <a:t>54</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4B68B4A6-360F-7F4B-8462-E830EEA7791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6BF02117-6B6A-221E-2D36-2BA113E6A605}"/>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156A452D-24DF-0F80-661A-515F24642171}"/>
              </a:ext>
            </a:extLst>
          </p:cNvPr>
          <p:cNvPicPr>
            <a:picLocks noChangeAspect="1"/>
          </p:cNvPicPr>
          <p:nvPr/>
        </p:nvPicPr>
        <p:blipFill>
          <a:blip r:embed="rId3"/>
          <a:stretch>
            <a:fillRect/>
          </a:stretch>
        </p:blipFill>
        <p:spPr>
          <a:xfrm>
            <a:off x="261257" y="214630"/>
            <a:ext cx="7543800" cy="4497398"/>
          </a:xfrm>
          <a:prstGeom prst="rect">
            <a:avLst/>
          </a:prstGeom>
        </p:spPr>
      </p:pic>
    </p:spTree>
    <p:extLst>
      <p:ext uri="{BB962C8B-B14F-4D97-AF65-F5344CB8AC3E}">
        <p14:creationId xmlns:p14="http://schemas.microsoft.com/office/powerpoint/2010/main" val="13562428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7E0864-614D-D297-6F17-0DD00CF05B7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BD0BF425-7201-46F3-CB28-AAA60D6ED432}"/>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D312BAD5-A76B-4C07-220C-C75B2DA4EB10}"/>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E249CAE6-2B5F-43FC-0B52-050F4083BF0B}"/>
              </a:ext>
            </a:extLst>
          </p:cNvPr>
          <p:cNvSpPr>
            <a:spLocks noGrp="1"/>
          </p:cNvSpPr>
          <p:nvPr>
            <p:ph type="sldNum" sz="quarter" idx="12"/>
          </p:nvPr>
        </p:nvSpPr>
        <p:spPr/>
        <p:txBody>
          <a:bodyPr/>
          <a:lstStyle/>
          <a:p>
            <a:fld id="{E566A64D-537C-4258-BCDA-D6FBF77857E8}" type="slidenum">
              <a:rPr lang="en-US" smtClean="0"/>
              <a:pPr/>
              <a:t>55</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5BB25572-C41F-B3ED-78CE-1407126DE89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B9E73F4E-DA0A-E62C-5D73-E78871A415D6}"/>
              </a:ext>
            </a:extLst>
          </p:cNvPr>
          <p:cNvPicPr>
            <a:picLocks noChangeAspect="1"/>
          </p:cNvPicPr>
          <p:nvPr/>
        </p:nvPicPr>
        <p:blipFill>
          <a:blip r:embed="rId3"/>
          <a:stretch>
            <a:fillRect/>
          </a:stretch>
        </p:blipFill>
        <p:spPr>
          <a:xfrm>
            <a:off x="-3842" y="640"/>
            <a:ext cx="4876800" cy="2826591"/>
          </a:xfrm>
          <a:prstGeom prst="rect">
            <a:avLst/>
          </a:prstGeom>
        </p:spPr>
      </p:pic>
      <p:pic>
        <p:nvPicPr>
          <p:cNvPr id="9" name="Picture 8">
            <a:extLst>
              <a:ext uri="{FF2B5EF4-FFF2-40B4-BE49-F238E27FC236}">
                <a16:creationId xmlns:a16="http://schemas.microsoft.com/office/drawing/2014/main" xmlns="" id="{CA26E44A-AEC0-1DCC-B806-F635B3EB9821}"/>
              </a:ext>
            </a:extLst>
          </p:cNvPr>
          <p:cNvPicPr>
            <a:picLocks noChangeAspect="1"/>
          </p:cNvPicPr>
          <p:nvPr/>
        </p:nvPicPr>
        <p:blipFill>
          <a:blip r:embed="rId4"/>
          <a:stretch>
            <a:fillRect/>
          </a:stretch>
        </p:blipFill>
        <p:spPr>
          <a:xfrm>
            <a:off x="4044036" y="2938490"/>
            <a:ext cx="5029200" cy="3306600"/>
          </a:xfrm>
          <a:prstGeom prst="rect">
            <a:avLst/>
          </a:prstGeom>
        </p:spPr>
      </p:pic>
    </p:spTree>
    <p:extLst>
      <p:ext uri="{BB962C8B-B14F-4D97-AF65-F5344CB8AC3E}">
        <p14:creationId xmlns:p14="http://schemas.microsoft.com/office/powerpoint/2010/main" val="17024862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DB187F4-329E-D1AA-773B-792646E22E13}"/>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A4D42759-98B2-D6DB-0C13-F36B16E69FB0}"/>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F2E1C6EE-D3DF-F1D5-9575-BF4CF347A2DB}"/>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765C80C8-4C71-A5F2-5CB2-DCD1FE9445B0}"/>
              </a:ext>
            </a:extLst>
          </p:cNvPr>
          <p:cNvSpPr>
            <a:spLocks noGrp="1"/>
          </p:cNvSpPr>
          <p:nvPr>
            <p:ph type="sldNum" sz="quarter" idx="12"/>
          </p:nvPr>
        </p:nvSpPr>
        <p:spPr/>
        <p:txBody>
          <a:bodyPr/>
          <a:lstStyle/>
          <a:p>
            <a:fld id="{E566A64D-537C-4258-BCDA-D6FBF77857E8}" type="slidenum">
              <a:rPr lang="en-US" smtClean="0"/>
              <a:pPr/>
              <a:t>56</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60E95E6A-9C2F-9927-2E46-FAAEE6ED902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B7FBA86F-66D3-3415-636F-4FCEC776064A}"/>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D4678969-3CF2-6BBF-DE65-DB7773FD8849}"/>
              </a:ext>
            </a:extLst>
          </p:cNvPr>
          <p:cNvPicPr>
            <a:picLocks noChangeAspect="1"/>
          </p:cNvPicPr>
          <p:nvPr/>
        </p:nvPicPr>
        <p:blipFill>
          <a:blip r:embed="rId3"/>
          <a:stretch>
            <a:fillRect/>
          </a:stretch>
        </p:blipFill>
        <p:spPr>
          <a:xfrm>
            <a:off x="457200" y="349797"/>
            <a:ext cx="7848600" cy="5400480"/>
          </a:xfrm>
          <a:prstGeom prst="rect">
            <a:avLst/>
          </a:prstGeom>
        </p:spPr>
      </p:pic>
    </p:spTree>
    <p:extLst>
      <p:ext uri="{BB962C8B-B14F-4D97-AF65-F5344CB8AC3E}">
        <p14:creationId xmlns:p14="http://schemas.microsoft.com/office/powerpoint/2010/main" val="191649568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54D0FEF2-BEB1-884D-38F0-CD4AD812C128}"/>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DFBCD180-7F76-E40A-17A4-08265BCF7659}"/>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C71B0098-0E49-EAFD-C351-7D72CF2058DC}"/>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BAFFB174-83F8-AD48-787E-1692A7220E01}"/>
              </a:ext>
            </a:extLst>
          </p:cNvPr>
          <p:cNvSpPr>
            <a:spLocks noGrp="1"/>
          </p:cNvSpPr>
          <p:nvPr>
            <p:ph type="sldNum" sz="quarter" idx="12"/>
          </p:nvPr>
        </p:nvSpPr>
        <p:spPr/>
        <p:txBody>
          <a:bodyPr/>
          <a:lstStyle/>
          <a:p>
            <a:fld id="{E566A64D-537C-4258-BCDA-D6FBF77857E8}" type="slidenum">
              <a:rPr lang="en-US" smtClean="0"/>
              <a:pPr/>
              <a:t>57</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55381944-CDA8-8161-3747-E4B8D7E30BB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595DA6BA-FEBC-99E6-4443-36B0775155E3}"/>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16F91C5D-B297-697E-35EA-FE4EBE69528C}"/>
              </a:ext>
            </a:extLst>
          </p:cNvPr>
          <p:cNvPicPr>
            <a:picLocks noChangeAspect="1"/>
          </p:cNvPicPr>
          <p:nvPr/>
        </p:nvPicPr>
        <p:blipFill>
          <a:blip r:embed="rId3"/>
          <a:stretch>
            <a:fillRect/>
          </a:stretch>
        </p:blipFill>
        <p:spPr>
          <a:xfrm>
            <a:off x="1104416" y="1056944"/>
            <a:ext cx="6935168" cy="4744112"/>
          </a:xfrm>
          <a:prstGeom prst="rect">
            <a:avLst/>
          </a:prstGeom>
        </p:spPr>
      </p:pic>
    </p:spTree>
    <p:extLst>
      <p:ext uri="{BB962C8B-B14F-4D97-AF65-F5344CB8AC3E}">
        <p14:creationId xmlns:p14="http://schemas.microsoft.com/office/powerpoint/2010/main" val="30033432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6DC8D4A-1D97-5B42-35A5-EBB09B570CFE}"/>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520CA0CF-E8D3-DA1E-E4C4-65DE31C9E21D}"/>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0FE2EB95-9502-7D25-8327-44B0457A14EE}"/>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8E8A922B-99F5-5339-FCA5-BDF2EA18F48A}"/>
              </a:ext>
            </a:extLst>
          </p:cNvPr>
          <p:cNvSpPr>
            <a:spLocks noGrp="1"/>
          </p:cNvSpPr>
          <p:nvPr>
            <p:ph type="sldNum" sz="quarter" idx="12"/>
          </p:nvPr>
        </p:nvSpPr>
        <p:spPr/>
        <p:txBody>
          <a:bodyPr/>
          <a:lstStyle/>
          <a:p>
            <a:fld id="{E566A64D-537C-4258-BCDA-D6FBF77857E8}" type="slidenum">
              <a:rPr lang="en-US" smtClean="0"/>
              <a:pPr/>
              <a:t>58</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DC0F2B52-3170-E85B-535F-8D7128974E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C960F001-95AB-6BBE-DCB2-EC91D805713F}"/>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9" name="Picture 8">
            <a:extLst>
              <a:ext uri="{FF2B5EF4-FFF2-40B4-BE49-F238E27FC236}">
                <a16:creationId xmlns:a16="http://schemas.microsoft.com/office/drawing/2014/main" xmlns="" id="{FA8CEFAC-232A-DB9F-19AF-7DA605FB8CBC}"/>
              </a:ext>
            </a:extLst>
          </p:cNvPr>
          <p:cNvPicPr>
            <a:picLocks noChangeAspect="1"/>
          </p:cNvPicPr>
          <p:nvPr/>
        </p:nvPicPr>
        <p:blipFill>
          <a:blip r:embed="rId3"/>
          <a:stretch>
            <a:fillRect/>
          </a:stretch>
        </p:blipFill>
        <p:spPr>
          <a:xfrm>
            <a:off x="1447364" y="1314155"/>
            <a:ext cx="6249272" cy="4229690"/>
          </a:xfrm>
          <a:prstGeom prst="rect">
            <a:avLst/>
          </a:prstGeom>
        </p:spPr>
      </p:pic>
      <p:pic>
        <p:nvPicPr>
          <p:cNvPr id="11" name="Picture 10">
            <a:extLst>
              <a:ext uri="{FF2B5EF4-FFF2-40B4-BE49-F238E27FC236}">
                <a16:creationId xmlns:a16="http://schemas.microsoft.com/office/drawing/2014/main" xmlns="" id="{31D689C6-B55A-A896-1BB0-D124FE91F4B1}"/>
              </a:ext>
            </a:extLst>
          </p:cNvPr>
          <p:cNvPicPr>
            <a:picLocks noChangeAspect="1"/>
          </p:cNvPicPr>
          <p:nvPr/>
        </p:nvPicPr>
        <p:blipFill>
          <a:blip r:embed="rId4"/>
          <a:stretch>
            <a:fillRect/>
          </a:stretch>
        </p:blipFill>
        <p:spPr>
          <a:xfrm>
            <a:off x="149307" y="141648"/>
            <a:ext cx="3867690" cy="1000265"/>
          </a:xfrm>
          <a:prstGeom prst="rect">
            <a:avLst/>
          </a:prstGeom>
        </p:spPr>
      </p:pic>
    </p:spTree>
    <p:extLst>
      <p:ext uri="{BB962C8B-B14F-4D97-AF65-F5344CB8AC3E}">
        <p14:creationId xmlns:p14="http://schemas.microsoft.com/office/powerpoint/2010/main" val="147508736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739FE05-3EB6-310A-7437-C65C572FE9B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3927A0B8-0664-F897-C464-45755E6B186E}"/>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0E665D5A-3797-D6B8-9AEE-67C889A66BCC}"/>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E8F604A3-D93E-98E3-36C8-78D7B87DF396}"/>
              </a:ext>
            </a:extLst>
          </p:cNvPr>
          <p:cNvSpPr>
            <a:spLocks noGrp="1"/>
          </p:cNvSpPr>
          <p:nvPr>
            <p:ph type="sldNum" sz="quarter" idx="12"/>
          </p:nvPr>
        </p:nvSpPr>
        <p:spPr/>
        <p:txBody>
          <a:bodyPr/>
          <a:lstStyle/>
          <a:p>
            <a:fld id="{E566A64D-537C-4258-BCDA-D6FBF77857E8}" type="slidenum">
              <a:rPr lang="en-US" smtClean="0"/>
              <a:pPr/>
              <a:t>59</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602F8E68-89CF-DA22-DEDE-135D5F2A08D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A94F63CC-25D1-8D76-CB3A-36EF33793A80}"/>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25957D52-08A6-692A-7460-0CC89D2D3158}"/>
              </a:ext>
            </a:extLst>
          </p:cNvPr>
          <p:cNvPicPr>
            <a:picLocks noChangeAspect="1"/>
          </p:cNvPicPr>
          <p:nvPr/>
        </p:nvPicPr>
        <p:blipFill>
          <a:blip r:embed="rId3"/>
          <a:stretch>
            <a:fillRect/>
          </a:stretch>
        </p:blipFill>
        <p:spPr>
          <a:xfrm>
            <a:off x="0" y="76201"/>
            <a:ext cx="4424901" cy="3200400"/>
          </a:xfrm>
          <a:prstGeom prst="rect">
            <a:avLst/>
          </a:prstGeom>
        </p:spPr>
      </p:pic>
      <p:pic>
        <p:nvPicPr>
          <p:cNvPr id="10" name="Picture 9">
            <a:extLst>
              <a:ext uri="{FF2B5EF4-FFF2-40B4-BE49-F238E27FC236}">
                <a16:creationId xmlns:a16="http://schemas.microsoft.com/office/drawing/2014/main" xmlns="" id="{33CB0EE3-D86A-CCCF-3CE9-DCDAC1B72AE5}"/>
              </a:ext>
            </a:extLst>
          </p:cNvPr>
          <p:cNvPicPr>
            <a:picLocks noChangeAspect="1"/>
          </p:cNvPicPr>
          <p:nvPr/>
        </p:nvPicPr>
        <p:blipFill>
          <a:blip r:embed="rId4"/>
          <a:stretch>
            <a:fillRect/>
          </a:stretch>
        </p:blipFill>
        <p:spPr>
          <a:xfrm>
            <a:off x="4215065" y="2941574"/>
            <a:ext cx="4667678" cy="3935636"/>
          </a:xfrm>
          <a:prstGeom prst="rect">
            <a:avLst/>
          </a:prstGeom>
        </p:spPr>
      </p:pic>
    </p:spTree>
    <p:extLst>
      <p:ext uri="{BB962C8B-B14F-4D97-AF65-F5344CB8AC3E}">
        <p14:creationId xmlns:p14="http://schemas.microsoft.com/office/powerpoint/2010/main" val="12350961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5CACAF-DBDC-2536-3102-A72766505CCD}"/>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E4ED9924-E076-A42A-AE50-55A5A2940CFC}"/>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D724FA05-DFBB-3FF3-EE78-F1A36AC03374}"/>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90948709-D36B-212F-E2BF-44FE0E7AB460}"/>
              </a:ext>
            </a:extLst>
          </p:cNvPr>
          <p:cNvSpPr>
            <a:spLocks noGrp="1"/>
          </p:cNvSpPr>
          <p:nvPr>
            <p:ph type="sldNum" sz="quarter" idx="12"/>
          </p:nvPr>
        </p:nvSpPr>
        <p:spPr/>
        <p:txBody>
          <a:bodyPr/>
          <a:lstStyle/>
          <a:p>
            <a:fld id="{E566A64D-537C-4258-BCDA-D6FBF77857E8}" type="slidenum">
              <a:rPr lang="en-US" smtClean="0"/>
              <a:pPr/>
              <a:t>60</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CDF39D6A-34C3-EEC0-BD4B-52922C707B4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EE80B1BF-5B17-49D0-D6C8-691992C6836B}"/>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1ABCA083-BD04-5A87-2B6A-CF93ED2B746F}"/>
              </a:ext>
            </a:extLst>
          </p:cNvPr>
          <p:cNvPicPr>
            <a:picLocks noChangeAspect="1"/>
          </p:cNvPicPr>
          <p:nvPr/>
        </p:nvPicPr>
        <p:blipFill>
          <a:blip r:embed="rId3"/>
          <a:stretch>
            <a:fillRect/>
          </a:stretch>
        </p:blipFill>
        <p:spPr>
          <a:xfrm>
            <a:off x="285590" y="76200"/>
            <a:ext cx="4591210" cy="3397932"/>
          </a:xfrm>
          <a:prstGeom prst="rect">
            <a:avLst/>
          </a:prstGeom>
        </p:spPr>
      </p:pic>
      <p:pic>
        <p:nvPicPr>
          <p:cNvPr id="10" name="Picture 9">
            <a:extLst>
              <a:ext uri="{FF2B5EF4-FFF2-40B4-BE49-F238E27FC236}">
                <a16:creationId xmlns:a16="http://schemas.microsoft.com/office/drawing/2014/main" xmlns="" id="{787B72E1-9D08-5B09-4D11-68EB89145DBE}"/>
              </a:ext>
            </a:extLst>
          </p:cNvPr>
          <p:cNvPicPr>
            <a:picLocks noChangeAspect="1"/>
          </p:cNvPicPr>
          <p:nvPr/>
        </p:nvPicPr>
        <p:blipFill>
          <a:blip r:embed="rId4"/>
          <a:stretch>
            <a:fillRect/>
          </a:stretch>
        </p:blipFill>
        <p:spPr>
          <a:xfrm>
            <a:off x="3711502" y="2528219"/>
            <a:ext cx="5112763" cy="4115151"/>
          </a:xfrm>
          <a:prstGeom prst="rect">
            <a:avLst/>
          </a:prstGeom>
        </p:spPr>
      </p:pic>
    </p:spTree>
    <p:extLst>
      <p:ext uri="{BB962C8B-B14F-4D97-AF65-F5344CB8AC3E}">
        <p14:creationId xmlns:p14="http://schemas.microsoft.com/office/powerpoint/2010/main" val="418371693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ADBB99A-167C-DAB8-9E91-0268B4875AE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79A3869E-1325-0C87-299F-5AFB5B7BA82E}"/>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17E87D5D-26A6-2C7F-1827-E4C6275605F8}"/>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E7FAE5DB-178D-2464-47A2-63EE4790A1F6}"/>
              </a:ext>
            </a:extLst>
          </p:cNvPr>
          <p:cNvSpPr>
            <a:spLocks noGrp="1"/>
          </p:cNvSpPr>
          <p:nvPr>
            <p:ph type="sldNum" sz="quarter" idx="12"/>
          </p:nvPr>
        </p:nvSpPr>
        <p:spPr/>
        <p:txBody>
          <a:bodyPr/>
          <a:lstStyle/>
          <a:p>
            <a:fld id="{E566A64D-537C-4258-BCDA-D6FBF77857E8}" type="slidenum">
              <a:rPr lang="en-US" smtClean="0"/>
              <a:pPr/>
              <a:t>61</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682A685E-D59E-D5CF-7734-2901F783B4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9069B520-01FB-7C23-B319-2901E3185F5A}"/>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98DB72B4-AAB9-E814-4C7B-5583DCDEF84E}"/>
              </a:ext>
            </a:extLst>
          </p:cNvPr>
          <p:cNvPicPr>
            <a:picLocks noChangeAspect="1"/>
          </p:cNvPicPr>
          <p:nvPr/>
        </p:nvPicPr>
        <p:blipFill>
          <a:blip r:embed="rId3"/>
          <a:stretch>
            <a:fillRect/>
          </a:stretch>
        </p:blipFill>
        <p:spPr>
          <a:xfrm>
            <a:off x="4618874" y="3048000"/>
            <a:ext cx="4284359" cy="3284017"/>
          </a:xfrm>
          <a:prstGeom prst="rect">
            <a:avLst/>
          </a:prstGeom>
        </p:spPr>
      </p:pic>
      <p:pic>
        <p:nvPicPr>
          <p:cNvPr id="10" name="Picture 9">
            <a:extLst>
              <a:ext uri="{FF2B5EF4-FFF2-40B4-BE49-F238E27FC236}">
                <a16:creationId xmlns:a16="http://schemas.microsoft.com/office/drawing/2014/main" xmlns="" id="{CF796878-839C-679B-FDBF-BBBBA616760E}"/>
              </a:ext>
            </a:extLst>
          </p:cNvPr>
          <p:cNvPicPr>
            <a:picLocks noChangeAspect="1"/>
          </p:cNvPicPr>
          <p:nvPr/>
        </p:nvPicPr>
        <p:blipFill>
          <a:blip r:embed="rId4"/>
          <a:stretch>
            <a:fillRect/>
          </a:stretch>
        </p:blipFill>
        <p:spPr>
          <a:xfrm>
            <a:off x="152401" y="117955"/>
            <a:ext cx="4343400" cy="3247768"/>
          </a:xfrm>
          <a:prstGeom prst="rect">
            <a:avLst/>
          </a:prstGeom>
        </p:spPr>
      </p:pic>
    </p:spTree>
    <p:extLst>
      <p:ext uri="{BB962C8B-B14F-4D97-AF65-F5344CB8AC3E}">
        <p14:creationId xmlns:p14="http://schemas.microsoft.com/office/powerpoint/2010/main" val="19703272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6E1AAC8-6BC7-D5F4-DD53-7E6214B8D7C7}"/>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A8C8738D-0DFE-A002-3EDD-F91C6500E0A2}"/>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59784B76-229F-1124-0954-291A515EBA54}"/>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43FDB04D-FB0A-E280-C03D-659CEFF3DE76}"/>
              </a:ext>
            </a:extLst>
          </p:cNvPr>
          <p:cNvSpPr>
            <a:spLocks noGrp="1"/>
          </p:cNvSpPr>
          <p:nvPr>
            <p:ph type="sldNum" sz="quarter" idx="12"/>
          </p:nvPr>
        </p:nvSpPr>
        <p:spPr/>
        <p:txBody>
          <a:bodyPr/>
          <a:lstStyle/>
          <a:p>
            <a:fld id="{E566A64D-537C-4258-BCDA-D6FBF77857E8}" type="slidenum">
              <a:rPr lang="en-US" smtClean="0"/>
              <a:pPr/>
              <a:t>62</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302E7687-2169-0864-57AB-6CF97ADA128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00930CB4-B3E8-D240-6785-84224659F707}"/>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299087E2-9681-420E-FD0D-EE62116D396F}"/>
              </a:ext>
            </a:extLst>
          </p:cNvPr>
          <p:cNvPicPr>
            <a:picLocks noChangeAspect="1"/>
          </p:cNvPicPr>
          <p:nvPr/>
        </p:nvPicPr>
        <p:blipFill>
          <a:blip r:embed="rId3"/>
          <a:stretch>
            <a:fillRect/>
          </a:stretch>
        </p:blipFill>
        <p:spPr>
          <a:xfrm>
            <a:off x="245889" y="112833"/>
            <a:ext cx="4859511" cy="3403968"/>
          </a:xfrm>
          <a:prstGeom prst="rect">
            <a:avLst/>
          </a:prstGeom>
        </p:spPr>
      </p:pic>
      <p:pic>
        <p:nvPicPr>
          <p:cNvPr id="10" name="Picture 9">
            <a:extLst>
              <a:ext uri="{FF2B5EF4-FFF2-40B4-BE49-F238E27FC236}">
                <a16:creationId xmlns:a16="http://schemas.microsoft.com/office/drawing/2014/main" xmlns="" id="{B8D5D9CB-FC96-A1B2-17EA-CFFF1ECED3A8}"/>
              </a:ext>
            </a:extLst>
          </p:cNvPr>
          <p:cNvPicPr>
            <a:picLocks noChangeAspect="1"/>
          </p:cNvPicPr>
          <p:nvPr/>
        </p:nvPicPr>
        <p:blipFill>
          <a:blip r:embed="rId4"/>
          <a:stretch>
            <a:fillRect/>
          </a:stretch>
        </p:blipFill>
        <p:spPr>
          <a:xfrm>
            <a:off x="5105400" y="0"/>
            <a:ext cx="3824147" cy="2895600"/>
          </a:xfrm>
          <a:prstGeom prst="rect">
            <a:avLst/>
          </a:prstGeom>
        </p:spPr>
      </p:pic>
      <p:pic>
        <p:nvPicPr>
          <p:cNvPr id="12" name="Picture 11">
            <a:extLst>
              <a:ext uri="{FF2B5EF4-FFF2-40B4-BE49-F238E27FC236}">
                <a16:creationId xmlns:a16="http://schemas.microsoft.com/office/drawing/2014/main" xmlns="" id="{F5626BD2-2983-A7C9-1E64-ABD8B018A6CC}"/>
              </a:ext>
            </a:extLst>
          </p:cNvPr>
          <p:cNvPicPr>
            <a:picLocks noChangeAspect="1"/>
          </p:cNvPicPr>
          <p:nvPr/>
        </p:nvPicPr>
        <p:blipFill>
          <a:blip r:embed="rId5"/>
          <a:stretch>
            <a:fillRect/>
          </a:stretch>
        </p:blipFill>
        <p:spPr>
          <a:xfrm>
            <a:off x="4105431" y="3415004"/>
            <a:ext cx="4754900" cy="3228366"/>
          </a:xfrm>
          <a:prstGeom prst="rect">
            <a:avLst/>
          </a:prstGeom>
        </p:spPr>
      </p:pic>
    </p:spTree>
    <p:extLst>
      <p:ext uri="{BB962C8B-B14F-4D97-AF65-F5344CB8AC3E}">
        <p14:creationId xmlns:p14="http://schemas.microsoft.com/office/powerpoint/2010/main" val="274568508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FA8B2889-9FDF-D221-C65A-15B5D24167A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494E78C8-221D-8F6E-739D-5700F9FDD967}"/>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D26A4780-C69E-C06A-BEFC-15CA4B902E1E}"/>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D47A6457-A001-5AD7-DDCB-7152D0983774}"/>
              </a:ext>
            </a:extLst>
          </p:cNvPr>
          <p:cNvSpPr>
            <a:spLocks noGrp="1"/>
          </p:cNvSpPr>
          <p:nvPr>
            <p:ph type="sldNum" sz="quarter" idx="12"/>
          </p:nvPr>
        </p:nvSpPr>
        <p:spPr/>
        <p:txBody>
          <a:bodyPr/>
          <a:lstStyle/>
          <a:p>
            <a:fld id="{E566A64D-537C-4258-BCDA-D6FBF77857E8}" type="slidenum">
              <a:rPr lang="en-US" smtClean="0"/>
              <a:pPr/>
              <a:t>63</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235D078F-F409-D055-584E-D454E3C037F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3F0057C1-7E75-9627-3EAE-E730BC4811F8}"/>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D3CEA90E-5292-40DF-E598-15C7377BFD7F}"/>
              </a:ext>
            </a:extLst>
          </p:cNvPr>
          <p:cNvPicPr>
            <a:picLocks noChangeAspect="1"/>
          </p:cNvPicPr>
          <p:nvPr/>
        </p:nvPicPr>
        <p:blipFill>
          <a:blip r:embed="rId3"/>
          <a:stretch>
            <a:fillRect/>
          </a:stretch>
        </p:blipFill>
        <p:spPr>
          <a:xfrm>
            <a:off x="659165" y="1981200"/>
            <a:ext cx="8094334" cy="3657600"/>
          </a:xfrm>
          <a:prstGeom prst="rect">
            <a:avLst/>
          </a:prstGeom>
        </p:spPr>
      </p:pic>
      <p:pic>
        <p:nvPicPr>
          <p:cNvPr id="10" name="Picture 9">
            <a:extLst>
              <a:ext uri="{FF2B5EF4-FFF2-40B4-BE49-F238E27FC236}">
                <a16:creationId xmlns:a16="http://schemas.microsoft.com/office/drawing/2014/main" xmlns="" id="{304A0507-BD5D-FFDE-2A36-498DB0DEF119}"/>
              </a:ext>
            </a:extLst>
          </p:cNvPr>
          <p:cNvPicPr>
            <a:picLocks noChangeAspect="1"/>
          </p:cNvPicPr>
          <p:nvPr/>
        </p:nvPicPr>
        <p:blipFill>
          <a:blip r:embed="rId4"/>
          <a:stretch>
            <a:fillRect/>
          </a:stretch>
        </p:blipFill>
        <p:spPr>
          <a:xfrm>
            <a:off x="2590800" y="1136582"/>
            <a:ext cx="3581900" cy="485843"/>
          </a:xfrm>
          <a:prstGeom prst="rect">
            <a:avLst/>
          </a:prstGeom>
        </p:spPr>
      </p:pic>
    </p:spTree>
    <p:extLst>
      <p:ext uri="{BB962C8B-B14F-4D97-AF65-F5344CB8AC3E}">
        <p14:creationId xmlns:p14="http://schemas.microsoft.com/office/powerpoint/2010/main" val="29104061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5505F30-5CFF-5FE1-1E35-A2DBC3C3FA6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xmlns="" id="{BA850CA5-F60E-F916-3070-7A7C8444D750}"/>
              </a:ext>
            </a:extLst>
          </p:cNvPr>
          <p:cNvSpPr>
            <a:spLocks noGrp="1"/>
          </p:cNvSpPr>
          <p:nvPr>
            <p:ph type="dt" sz="half" idx="10"/>
          </p:nvPr>
        </p:nvSpPr>
        <p:spPr/>
        <p:txBody>
          <a:bodyPr/>
          <a:lstStyle/>
          <a:p>
            <a:fld id="{04619D83-FF17-4516-B6B3-12726EAD2179}" type="datetime1">
              <a:rPr lang="en-US" smtClean="0"/>
              <a:t>7/7/2026</a:t>
            </a:fld>
            <a:endParaRPr lang="en-US" dirty="0"/>
          </a:p>
        </p:txBody>
      </p:sp>
      <p:sp>
        <p:nvSpPr>
          <p:cNvPr id="5" name="Footer Placeholder 4">
            <a:extLst>
              <a:ext uri="{FF2B5EF4-FFF2-40B4-BE49-F238E27FC236}">
                <a16:creationId xmlns:a16="http://schemas.microsoft.com/office/drawing/2014/main" xmlns="" id="{6BAF2FD1-1FDD-A40A-9985-5DEE6673599F}"/>
              </a:ext>
            </a:extLst>
          </p:cNvPr>
          <p:cNvSpPr>
            <a:spLocks noGrp="1"/>
          </p:cNvSpPr>
          <p:nvPr>
            <p:ph type="ftr" sz="quarter" idx="11"/>
          </p:nvPr>
        </p:nvSpPr>
        <p:spPr/>
        <p:txBody>
          <a:bodyPr/>
          <a:lstStyle/>
          <a:p>
            <a:r>
              <a:rPr lang="en-US" dirty="0"/>
              <a:t>VTU PG Studies</a:t>
            </a:r>
          </a:p>
        </p:txBody>
      </p:sp>
      <p:sp>
        <p:nvSpPr>
          <p:cNvPr id="6" name="Slide Number Placeholder 5">
            <a:extLst>
              <a:ext uri="{FF2B5EF4-FFF2-40B4-BE49-F238E27FC236}">
                <a16:creationId xmlns:a16="http://schemas.microsoft.com/office/drawing/2014/main" xmlns="" id="{8F16838E-B3BF-77AA-E9EB-94DD678FCA87}"/>
              </a:ext>
            </a:extLst>
          </p:cNvPr>
          <p:cNvSpPr>
            <a:spLocks noGrp="1"/>
          </p:cNvSpPr>
          <p:nvPr>
            <p:ph type="sldNum" sz="quarter" idx="12"/>
          </p:nvPr>
        </p:nvSpPr>
        <p:spPr/>
        <p:txBody>
          <a:bodyPr/>
          <a:lstStyle/>
          <a:p>
            <a:fld id="{E566A64D-537C-4258-BCDA-D6FBF77857E8}" type="slidenum">
              <a:rPr lang="en-US" smtClean="0"/>
              <a:pPr/>
              <a:t>64</a:t>
            </a:fld>
            <a:endParaRPr lang="en-US" dirty="0"/>
          </a:p>
        </p:txBody>
      </p:sp>
      <p:pic>
        <p:nvPicPr>
          <p:cNvPr id="2" name="Picture 2" descr="D:\MBA Teaching Material\Marketing Management\MM\Images\vtu-logo.png">
            <a:extLst>
              <a:ext uri="{FF2B5EF4-FFF2-40B4-BE49-F238E27FC236}">
                <a16:creationId xmlns:a16="http://schemas.microsoft.com/office/drawing/2014/main" xmlns="" id="{B94201D5-BF37-C50C-CCD8-58FB981650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05800" y="214630"/>
            <a:ext cx="576943" cy="47117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xmlns="" id="{12860B6D-B77C-198B-6B0F-705A3A354792}"/>
              </a:ext>
            </a:extLst>
          </p:cNvPr>
          <p:cNvSpPr txBox="1"/>
          <p:nvPr/>
        </p:nvSpPr>
        <p:spPr>
          <a:xfrm>
            <a:off x="6896747" y="5548630"/>
            <a:ext cx="1409053" cy="471170"/>
          </a:xfrm>
          <a:prstGeom prst="rect">
            <a:avLst/>
          </a:prstGeom>
          <a:solidFill>
            <a:schemeClr val="bg1">
              <a:lumMod val="95000"/>
            </a:schemeClr>
          </a:solidFill>
        </p:spPr>
        <p:txBody>
          <a:bodyPr wrap="square" rtlCol="0">
            <a:spAutoFit/>
          </a:bodyPr>
          <a:lstStyle/>
          <a:p>
            <a:endParaRPr lang="en-IN" dirty="0"/>
          </a:p>
        </p:txBody>
      </p:sp>
      <p:pic>
        <p:nvPicPr>
          <p:cNvPr id="7" name="Picture 6">
            <a:extLst>
              <a:ext uri="{FF2B5EF4-FFF2-40B4-BE49-F238E27FC236}">
                <a16:creationId xmlns:a16="http://schemas.microsoft.com/office/drawing/2014/main" xmlns="" id="{C9E1643D-A308-2C06-FF3F-985DD12EC61F}"/>
              </a:ext>
            </a:extLst>
          </p:cNvPr>
          <p:cNvPicPr>
            <a:picLocks noChangeAspect="1"/>
          </p:cNvPicPr>
          <p:nvPr/>
        </p:nvPicPr>
        <p:blipFill>
          <a:blip r:embed="rId3"/>
          <a:stretch>
            <a:fillRect/>
          </a:stretch>
        </p:blipFill>
        <p:spPr>
          <a:xfrm>
            <a:off x="1171100" y="1457050"/>
            <a:ext cx="6801799" cy="3943900"/>
          </a:xfrm>
          <a:prstGeom prst="rect">
            <a:avLst/>
          </a:prstGeom>
        </p:spPr>
      </p:pic>
    </p:spTree>
    <p:extLst>
      <p:ext uri="{BB962C8B-B14F-4D97-AF65-F5344CB8AC3E}">
        <p14:creationId xmlns:p14="http://schemas.microsoft.com/office/powerpoint/2010/main" val="190376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25152548</TotalTime>
  <Words>1605</Words>
  <Application>Microsoft Office PowerPoint</Application>
  <PresentationFormat>On-screen Show (4:3)</PresentationFormat>
  <Paragraphs>276</Paragraphs>
  <Slides>64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Arial</vt:lpstr>
      <vt:lpstr>Calibri</vt:lpstr>
      <vt:lpstr>Century Gothic</vt:lpstr>
      <vt:lpstr>Courier New</vt:lpstr>
      <vt:lpstr>Palatino Linotype</vt:lpstr>
      <vt:lpstr>Roboto</vt:lpstr>
      <vt:lpstr>Times New Roman</vt:lpstr>
      <vt:lpstr>Executive</vt:lpstr>
      <vt:lpstr>INTERNAL ASSESSMENT</vt:lpstr>
      <vt:lpstr>COURSE OUTLINE </vt:lpstr>
      <vt:lpstr>PowerPoint Presentation</vt:lpstr>
      <vt:lpstr>PowerPoint Presentation</vt:lpstr>
      <vt:lpstr>PowerPoint Presentation</vt:lpstr>
      <vt:lpstr>PowerPoint Presentation</vt:lpstr>
      <vt:lpstr>PowerPoint Presentation</vt:lpstr>
      <vt:lpstr>PowerPoint Presentation</vt:lpstr>
      <vt:lpstr>Nature of internal audit</vt:lpstr>
      <vt:lpstr>PowerPoint Presentation</vt:lpstr>
      <vt:lpstr>Key Internal Forces</vt:lpstr>
      <vt:lpstr>PowerPoint Presentation</vt:lpstr>
      <vt:lpstr>The Internal Audit Process</vt:lpstr>
      <vt:lpstr>PowerPoint Presentation</vt:lpstr>
      <vt:lpstr>PowerPoint Presentation</vt:lpstr>
      <vt:lpstr>PowerPoint Presentation</vt:lpstr>
      <vt:lpstr>PowerPoint Presentation</vt:lpstr>
      <vt:lpstr>Resource-Based View(RBV)</vt:lpstr>
      <vt:lpstr>PowerPoint Presentation</vt:lpstr>
      <vt:lpstr>PowerPoint Presentation</vt:lpstr>
      <vt:lpstr>PowerPoint Presentation</vt:lpstr>
      <vt:lpstr>PowerPoint Presentation</vt:lpstr>
      <vt:lpstr>PowerPoint Presentation</vt:lpstr>
      <vt:lpstr>PowerPoint Presentation</vt:lpstr>
      <vt:lpstr>VRIO framework</vt:lpstr>
      <vt:lpstr>PowerPoint Presentation</vt:lpstr>
      <vt:lpstr>PowerPoint Presentation</vt:lpstr>
      <vt:lpstr>PowerPoint Presentation</vt:lpstr>
      <vt:lpstr>PowerPoint Presentation</vt:lpstr>
      <vt:lpstr>Case Study: Coca-Cola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Internal Factor Evaluation Matrix (IFE Matrix)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Sales and Retail Management</dc:title>
  <dc:creator>user</dc:creator>
  <cp:lastModifiedBy>Sudarshan Kajmani</cp:lastModifiedBy>
  <cp:revision>842</cp:revision>
  <dcterms:created xsi:type="dcterms:W3CDTF">2023-11-29T05:52:33Z</dcterms:created>
  <dcterms:modified xsi:type="dcterms:W3CDTF">2026-07-07T11:46:11Z</dcterms:modified>
</cp:coreProperties>
</file>