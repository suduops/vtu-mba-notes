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6"/>
  </p:notesMasterIdLst>
  <p:sldIdLst>
    <p:sldId id="256" r:id="rId2"/>
    <p:sldId id="260" r:id="rId3"/>
    <p:sldId id="324" r:id="rId4"/>
    <p:sldId id="296" r:id="rId5"/>
    <p:sldId id="378" r:id="rId6"/>
    <p:sldId id="379" r:id="rId7"/>
    <p:sldId id="381" r:id="rId8"/>
    <p:sldId id="374" r:id="rId9"/>
    <p:sldId id="384" r:id="rId10"/>
    <p:sldId id="383" r:id="rId11"/>
    <p:sldId id="375" r:id="rId12"/>
    <p:sldId id="385" r:id="rId13"/>
    <p:sldId id="376" r:id="rId14"/>
    <p:sldId id="386" r:id="rId15"/>
    <p:sldId id="377" r:id="rId16"/>
    <p:sldId id="387" r:id="rId17"/>
    <p:sldId id="388" r:id="rId18"/>
    <p:sldId id="389" r:id="rId19"/>
    <p:sldId id="380" r:id="rId20"/>
    <p:sldId id="390" r:id="rId21"/>
    <p:sldId id="391" r:id="rId22"/>
    <p:sldId id="270" r:id="rId23"/>
    <p:sldId id="271" r:id="rId24"/>
    <p:sldId id="272" r:id="rId25"/>
    <p:sldId id="393" r:id="rId26"/>
    <p:sldId id="276" r:id="rId27"/>
    <p:sldId id="392" r:id="rId28"/>
    <p:sldId id="277" r:id="rId29"/>
    <p:sldId id="394" r:id="rId30"/>
    <p:sldId id="395" r:id="rId31"/>
    <p:sldId id="396" r:id="rId32"/>
    <p:sldId id="398" r:id="rId33"/>
    <p:sldId id="397" r:id="rId34"/>
    <p:sldId id="399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BC5"/>
    <a:srgbClr val="008080"/>
    <a:srgbClr val="AB2A15"/>
    <a:srgbClr val="FF99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29" autoAdjust="0"/>
    <p:restoredTop sz="94982" autoAdjust="0"/>
  </p:normalViewPr>
  <p:slideViewPr>
    <p:cSldViewPr>
      <p:cViewPr varScale="1">
        <p:scale>
          <a:sx n="78" d="100"/>
          <a:sy n="78" d="100"/>
        </p:scale>
        <p:origin x="17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7" d="100"/>
        <a:sy n="57" d="100"/>
      </p:scale>
      <p:origin x="0" y="-12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3419F5-8703-4B2A-986A-F5822FC9DC0F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9CBDF6-770F-4707-9A77-F04DF79970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7CF57-BFCC-464A-BA48-BFE830374819}" type="datetime1">
              <a:rPr lang="en-US" smtClean="0"/>
              <a:t>7/3/2026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6585D-E5B0-45AC-8E0B-D67A89450EB7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0F7F6-07C5-4E5C-98FD-D55B8861A721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BAD6-C336-46C6-8EC6-6BE202C4573F}" type="datetime1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B3241-A4F1-46EB-890C-3DE7F7ED7ECD}" type="datetime1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5661D-CA49-4BEC-8E9F-F6EC85291D10}" type="datetime1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0A151-226E-454F-BE66-459DD258DA02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DF190-2C6F-4B9C-81C8-73C2E35A4E84}" type="datetime1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276C6-4878-4085-B6DD-02B2DC7D9DD2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23C1-6C2B-4079-9CB1-222D2683F0D5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638F5-38FA-B157-CB1B-4F66533F9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5989C140-102E-6EF3-0AC2-D4A0F1207A51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FCAB9-AC50-4AF7-44ED-AB63AD9C64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200" y="6245225"/>
            <a:ext cx="5562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Copyright 2007 Prentice Hall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652C5-FFC2-B27B-D392-6758CA2C2F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en-US">
                <a:solidFill>
                  <a:srgbClr val="71602F"/>
                </a:solidFill>
                <a:latin typeface="Times New Roman" panose="02020603050405020304" pitchFamily="18" charset="0"/>
              </a:rPr>
              <a:t>Ch 6 -</a:t>
            </a:r>
            <a:fld id="{9AF53F96-633A-4988-87F3-338EBA709914}" type="slidenum">
              <a:rPr lang="en-US" altLang="en-US">
                <a:solidFill>
                  <a:srgbClr val="71602F"/>
                </a:solidFill>
                <a:latin typeface="Times New Roman" panose="02020603050405020304" pitchFamily="18" charset="0"/>
              </a:rPr>
              <a:pPr/>
              <a:t>‹#›</a:t>
            </a:fld>
            <a:endParaRPr lang="en-US" altLang="en-US">
              <a:solidFill>
                <a:srgbClr val="71602F"/>
              </a:solidFill>
              <a:latin typeface="Times New Roman" panose="02020603050405020304" pitchFamily="18" charset="0"/>
            </a:endParaRP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1486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91DBD47F-EFF2-4A60-946C-286089418D25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r>
              <a:rPr lang="en-US"/>
              <a:t>VTU PG Studies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39658" y="2209800"/>
            <a:ext cx="2146742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5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Module#4</a:t>
            </a:r>
            <a:endParaRPr lang="en-US" sz="3500" i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618262"/>
            <a:ext cx="8382000" cy="838201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/>
          <a:p>
            <a:r>
              <a:rPr lang="en-US" sz="4500" b="1" dirty="0">
                <a:solidFill>
                  <a:srgbClr val="FF0000"/>
                </a:solidFill>
              </a:rPr>
              <a:t>STRATEGY FORMULATION</a:t>
            </a:r>
            <a:endParaRPr lang="en-US" sz="45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510" y="6320135"/>
            <a:ext cx="2482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Faculty of Management  Studies</a:t>
            </a:r>
          </a:p>
          <a:p>
            <a:r>
              <a:rPr lang="en-US" sz="1200" b="1" dirty="0"/>
              <a:t>               VTU, Belagavi</a:t>
            </a:r>
          </a:p>
        </p:txBody>
      </p:sp>
      <p:pic>
        <p:nvPicPr>
          <p:cNvPr id="5" name="Picture 2" descr="D:\MBA Teaching Material\Marketing Management\MM\Images\vtu-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396" y="158750"/>
            <a:ext cx="1205204" cy="98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09600" y="1161871"/>
            <a:ext cx="7848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Department of Management Studies</a:t>
            </a:r>
          </a:p>
          <a:p>
            <a:pPr algn="ctr"/>
            <a:r>
              <a:rPr lang="en-US" b="1" dirty="0"/>
              <a:t> Visvesvaraya Technological University Belagavi-590018</a:t>
            </a:r>
          </a:p>
          <a:p>
            <a:pPr algn="ctr"/>
            <a:r>
              <a:rPr lang="en-US" b="1" dirty="0"/>
              <a:t>umesh.bhushi@vtu.ac.in </a:t>
            </a:r>
          </a:p>
          <a:p>
            <a:pPr algn="ctr"/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499156" y="2819400"/>
            <a:ext cx="79189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5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SUBJECT </a:t>
            </a:r>
            <a:r>
              <a:rPr 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MBA 205- CORPORATE STRATEGY</a:t>
            </a:r>
            <a:endParaRPr lang="en-US" sz="25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86600" y="87868"/>
            <a:ext cx="1965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Lecture Hours:50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839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3500" b="1" dirty="0"/>
              <a:t>COURSE OUTLINE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721653"/>
              </p:ext>
            </p:extLst>
          </p:nvPr>
        </p:nvGraphicFramePr>
        <p:xfrm>
          <a:off x="381000" y="1447800"/>
          <a:ext cx="8382000" cy="4636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143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Lecture</a:t>
                      </a:r>
                      <a:r>
                        <a:rPr lang="en-US" sz="2200" baseline="0" dirty="0"/>
                        <a:t> 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Lecture Name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Lecture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Module-1 </a:t>
                      </a:r>
                      <a:r>
                        <a:rPr lang="en-US" sz="1800" dirty="0"/>
                        <a:t>Overview of strategic management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Module-2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ASSESSING EXTERNAL ENVIRONMENT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Module-3 ASSESSING INTERNAL ENVIRONMENT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Module-4 STRATEGY FORMULATION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Module-5 STRATEGY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Module-6 STRATEGY EVALUATION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Total Hours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8" name="Picture 2" descr="D:\MBA Teaching Material\Marketing Management\MM\Images\vtu-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457" y="15240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9C13E8-A953-C460-D874-51A1CB643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DED4-446A-41A4-90E8-D0068236E7F4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4A63D-9434-6175-02FE-AD1A15C99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CFC53-0DC4-6694-9F96-3827E392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13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5E7DA-A4D6-B46E-3831-158A8E8A0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7103E-4C0C-F223-83A2-61D756E62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D0C3E-B6D3-B3AE-8E74-3B2E3427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F56EF-341C-643A-EF2A-B0DD08CD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D3F75695-6C20-D7F1-73F5-6357F556F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1468CA-6DDD-7AAD-C634-39691C6BF277}"/>
              </a:ext>
            </a:extLst>
          </p:cNvPr>
          <p:cNvSpPr txBox="1"/>
          <p:nvPr/>
        </p:nvSpPr>
        <p:spPr>
          <a:xfrm>
            <a:off x="6896747" y="5548630"/>
            <a:ext cx="1409053" cy="47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049CC8-2926-2456-6BE8-FF80C8752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46288"/>
            <a:ext cx="6498616" cy="569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13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E2C9B-D622-DFEF-79D1-D66A870BE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D81A8-6D95-3AB6-596E-995EDAD2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11811-0DD3-5914-B5F8-2217E214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A944A-262E-57D2-E17E-B9E643256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219A24BC-6A2F-F066-551D-7759E7F5E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051AEE-7D0A-26AF-0A6B-1EB0B6A7F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717494"/>
            <a:ext cx="8259117" cy="514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95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AEC1E-C01E-3451-6296-F2DDC3212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57BD6-8805-FA08-A910-5CE761D23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B3F0B-29D4-120D-4C0F-7FFA3A14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F3096-47AA-D3F3-B3E5-91CA20E96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66DE99CA-74CF-2B4F-43F2-3DF9DA177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B9D696-AC48-2F49-C2DF-F623A1D64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400" y="304800"/>
            <a:ext cx="4412945" cy="45315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0EFFC2-8809-9686-E773-D81A5EF84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55" y="304800"/>
            <a:ext cx="4306039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945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2838E-8716-C6F2-2EA4-3F89DDC09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C2F8E-CE90-D1E3-64AB-456C7507E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678A8-6B0B-0028-9C73-284CBD2F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539C3-2B30-A1F4-7CD2-7C9FC1D94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10EF4D01-44BD-F962-FFF8-01167637F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BA9201-41B9-8C12-889D-15003157C432}"/>
              </a:ext>
            </a:extLst>
          </p:cNvPr>
          <p:cNvSpPr txBox="1"/>
          <p:nvPr/>
        </p:nvSpPr>
        <p:spPr>
          <a:xfrm>
            <a:off x="6896747" y="5548630"/>
            <a:ext cx="1409053" cy="47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6B5C1D-3BC2-F187-23D9-09BD650E2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7" y="163693"/>
            <a:ext cx="5005670" cy="570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87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448EE-3F60-94D4-ECCB-CC49B37A2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42130-76FA-D47E-5A11-39A3A058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789D0-9075-F949-1A1C-FE7568A22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6E526-A1FB-541A-ED5C-345A2415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2C2BE833-E863-2AD0-E9A6-F1A320E73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BA2BC-7064-9CA8-CB9D-6FCAA76E5081}"/>
              </a:ext>
            </a:extLst>
          </p:cNvPr>
          <p:cNvSpPr txBox="1"/>
          <p:nvPr/>
        </p:nvSpPr>
        <p:spPr>
          <a:xfrm>
            <a:off x="6896747" y="5548630"/>
            <a:ext cx="1409053" cy="47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0DCA19-34E2-6F23-4583-C2E4C92C7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96" y="76200"/>
            <a:ext cx="4445104" cy="3274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1E1086-76DC-8751-FE52-7BEB25217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766" y="119713"/>
            <a:ext cx="4707425" cy="34630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7225A6-C104-8F1F-CA9C-EF5FBCDBB5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3423901"/>
            <a:ext cx="4572000" cy="33481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F14ED6-61EE-29E2-F8BA-63ED9847B8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3696" y="3582781"/>
            <a:ext cx="4410304" cy="330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66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BAB2-7E44-A130-5F25-7060F332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4D315-F274-3319-4719-28F95CA46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334ED-C6AE-DF73-EF1A-21978DD6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B9A9B-AD46-AA0E-2496-0A2B435C4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AE92352E-119B-B607-4507-E76BE7289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6CE5B3-D078-B0A0-5D99-6402AD2F6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" y="156322"/>
            <a:ext cx="8382542" cy="610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122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3E827-E046-AE07-B874-3E121B45E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59D64-9CF8-1B1D-2195-0C075F752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AEA5B-2D25-A83D-36E2-55A44934D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26415-7A99-3D2D-050D-0A2803BF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9A02BAAB-65C7-FB9B-0E69-48FC782A3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8E8919-18D6-5AB1-7EC2-DC06A81E1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61" y="3350399"/>
            <a:ext cx="8314678" cy="26752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EC88AB-58BE-D92D-1C90-9BC99B0FF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76200"/>
            <a:ext cx="4445104" cy="327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214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245E4-3D59-07AC-BD69-F934850B4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BEDCE-F015-A6CF-F8B4-5BD78E46A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2D748-0D2E-AC97-56E8-02718FB1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01FBE-8A04-AF1F-5AD8-55546EEE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CE946A9A-CB18-6BED-A3B8-AD0B3ED23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72B7C2-D8A4-6689-ACB6-B8F663B42B53}"/>
              </a:ext>
            </a:extLst>
          </p:cNvPr>
          <p:cNvSpPr txBox="1"/>
          <p:nvPr/>
        </p:nvSpPr>
        <p:spPr>
          <a:xfrm>
            <a:off x="6896747" y="5548630"/>
            <a:ext cx="1409053" cy="47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66E43-B54A-1F25-48FF-55E3DCC0E9A0}"/>
              </a:ext>
            </a:extLst>
          </p:cNvPr>
          <p:cNvSpPr txBox="1"/>
          <p:nvPr/>
        </p:nvSpPr>
        <p:spPr>
          <a:xfrm>
            <a:off x="5105400" y="-29155"/>
            <a:ext cx="4176066" cy="3693319"/>
          </a:xfrm>
          <a:custGeom>
            <a:avLst/>
            <a:gdLst>
              <a:gd name="csX0" fmla="*/ 0 w 4176066"/>
              <a:gd name="csY0" fmla="*/ 0 h 3693319"/>
              <a:gd name="csX1" fmla="*/ 554820 w 4176066"/>
              <a:gd name="csY1" fmla="*/ 0 h 3693319"/>
              <a:gd name="csX2" fmla="*/ 1026119 w 4176066"/>
              <a:gd name="csY2" fmla="*/ 0 h 3693319"/>
              <a:gd name="csX3" fmla="*/ 1706221 w 4176066"/>
              <a:gd name="csY3" fmla="*/ 0 h 3693319"/>
              <a:gd name="csX4" fmla="*/ 2261041 w 4176066"/>
              <a:gd name="csY4" fmla="*/ 0 h 3693319"/>
              <a:gd name="csX5" fmla="*/ 2815862 w 4176066"/>
              <a:gd name="csY5" fmla="*/ 0 h 3693319"/>
              <a:gd name="csX6" fmla="*/ 3495964 w 4176066"/>
              <a:gd name="csY6" fmla="*/ 0 h 3693319"/>
              <a:gd name="csX7" fmla="*/ 4176066 w 4176066"/>
              <a:gd name="csY7" fmla="*/ 0 h 3693319"/>
              <a:gd name="csX8" fmla="*/ 4176066 w 4176066"/>
              <a:gd name="csY8" fmla="*/ 601483 h 3693319"/>
              <a:gd name="csX9" fmla="*/ 4176066 w 4176066"/>
              <a:gd name="csY9" fmla="*/ 1055234 h 3693319"/>
              <a:gd name="csX10" fmla="*/ 4176066 w 4176066"/>
              <a:gd name="csY10" fmla="*/ 1508985 h 3693319"/>
              <a:gd name="csX11" fmla="*/ 4176066 w 4176066"/>
              <a:gd name="csY11" fmla="*/ 2036602 h 3693319"/>
              <a:gd name="csX12" fmla="*/ 4176066 w 4176066"/>
              <a:gd name="csY12" fmla="*/ 2601152 h 3693319"/>
              <a:gd name="csX13" fmla="*/ 4176066 w 4176066"/>
              <a:gd name="csY13" fmla="*/ 3017969 h 3693319"/>
              <a:gd name="csX14" fmla="*/ 4176066 w 4176066"/>
              <a:gd name="csY14" fmla="*/ 3693319 h 3693319"/>
              <a:gd name="csX15" fmla="*/ 3579485 w 4176066"/>
              <a:gd name="csY15" fmla="*/ 3693319 h 3693319"/>
              <a:gd name="csX16" fmla="*/ 2982904 w 4176066"/>
              <a:gd name="csY16" fmla="*/ 3693319 h 3693319"/>
              <a:gd name="csX17" fmla="*/ 2302802 w 4176066"/>
              <a:gd name="csY17" fmla="*/ 3693319 h 3693319"/>
              <a:gd name="csX18" fmla="*/ 1706221 w 4176066"/>
              <a:gd name="csY18" fmla="*/ 3693319 h 3693319"/>
              <a:gd name="csX19" fmla="*/ 1234922 w 4176066"/>
              <a:gd name="csY19" fmla="*/ 3693319 h 3693319"/>
              <a:gd name="csX20" fmla="*/ 721863 w 4176066"/>
              <a:gd name="csY20" fmla="*/ 3693319 h 3693319"/>
              <a:gd name="csX21" fmla="*/ 0 w 4176066"/>
              <a:gd name="csY21" fmla="*/ 3693319 h 3693319"/>
              <a:gd name="csX22" fmla="*/ 0 w 4176066"/>
              <a:gd name="csY22" fmla="*/ 3165702 h 3693319"/>
              <a:gd name="csX23" fmla="*/ 0 w 4176066"/>
              <a:gd name="csY23" fmla="*/ 2638085 h 3693319"/>
              <a:gd name="csX24" fmla="*/ 0 w 4176066"/>
              <a:gd name="csY24" fmla="*/ 2147401 h 3693319"/>
              <a:gd name="csX25" fmla="*/ 0 w 4176066"/>
              <a:gd name="csY25" fmla="*/ 1730584 h 3693319"/>
              <a:gd name="csX26" fmla="*/ 0 w 4176066"/>
              <a:gd name="csY26" fmla="*/ 1313766 h 3693319"/>
              <a:gd name="csX27" fmla="*/ 0 w 4176066"/>
              <a:gd name="csY27" fmla="*/ 749216 h 3693319"/>
              <a:gd name="csX28" fmla="*/ 0 w 4176066"/>
              <a:gd name="csY28" fmla="*/ 0 h 36933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4176066" h="3693319" extrusionOk="0">
                <a:moveTo>
                  <a:pt x="0" y="0"/>
                </a:moveTo>
                <a:cubicBezTo>
                  <a:pt x="172897" y="-36812"/>
                  <a:pt x="425688" y="9117"/>
                  <a:pt x="554820" y="0"/>
                </a:cubicBezTo>
                <a:cubicBezTo>
                  <a:pt x="683952" y="-9117"/>
                  <a:pt x="851346" y="54267"/>
                  <a:pt x="1026119" y="0"/>
                </a:cubicBezTo>
                <a:cubicBezTo>
                  <a:pt x="1200892" y="-54267"/>
                  <a:pt x="1436507" y="54461"/>
                  <a:pt x="1706221" y="0"/>
                </a:cubicBezTo>
                <a:cubicBezTo>
                  <a:pt x="1975935" y="-54461"/>
                  <a:pt x="2061257" y="37269"/>
                  <a:pt x="2261041" y="0"/>
                </a:cubicBezTo>
                <a:cubicBezTo>
                  <a:pt x="2460825" y="-37269"/>
                  <a:pt x="2595339" y="59004"/>
                  <a:pt x="2815862" y="0"/>
                </a:cubicBezTo>
                <a:cubicBezTo>
                  <a:pt x="3036385" y="-59004"/>
                  <a:pt x="3175228" y="42530"/>
                  <a:pt x="3495964" y="0"/>
                </a:cubicBezTo>
                <a:cubicBezTo>
                  <a:pt x="3816700" y="-42530"/>
                  <a:pt x="3876244" y="24429"/>
                  <a:pt x="4176066" y="0"/>
                </a:cubicBezTo>
                <a:cubicBezTo>
                  <a:pt x="4213840" y="232114"/>
                  <a:pt x="4146020" y="332967"/>
                  <a:pt x="4176066" y="601483"/>
                </a:cubicBezTo>
                <a:cubicBezTo>
                  <a:pt x="4206112" y="869999"/>
                  <a:pt x="4173490" y="856794"/>
                  <a:pt x="4176066" y="1055234"/>
                </a:cubicBezTo>
                <a:cubicBezTo>
                  <a:pt x="4178642" y="1253674"/>
                  <a:pt x="4165973" y="1304941"/>
                  <a:pt x="4176066" y="1508985"/>
                </a:cubicBezTo>
                <a:cubicBezTo>
                  <a:pt x="4186159" y="1713029"/>
                  <a:pt x="4139255" y="1890278"/>
                  <a:pt x="4176066" y="2036602"/>
                </a:cubicBezTo>
                <a:cubicBezTo>
                  <a:pt x="4212877" y="2182926"/>
                  <a:pt x="4150192" y="2373211"/>
                  <a:pt x="4176066" y="2601152"/>
                </a:cubicBezTo>
                <a:cubicBezTo>
                  <a:pt x="4201940" y="2829093"/>
                  <a:pt x="4139636" y="2908184"/>
                  <a:pt x="4176066" y="3017969"/>
                </a:cubicBezTo>
                <a:cubicBezTo>
                  <a:pt x="4212496" y="3127754"/>
                  <a:pt x="4156255" y="3533530"/>
                  <a:pt x="4176066" y="3693319"/>
                </a:cubicBezTo>
                <a:cubicBezTo>
                  <a:pt x="3973625" y="3703182"/>
                  <a:pt x="3871715" y="3626744"/>
                  <a:pt x="3579485" y="3693319"/>
                </a:cubicBezTo>
                <a:cubicBezTo>
                  <a:pt x="3287255" y="3759894"/>
                  <a:pt x="3248720" y="3692002"/>
                  <a:pt x="2982904" y="3693319"/>
                </a:cubicBezTo>
                <a:cubicBezTo>
                  <a:pt x="2717088" y="3694636"/>
                  <a:pt x="2546268" y="3627542"/>
                  <a:pt x="2302802" y="3693319"/>
                </a:cubicBezTo>
                <a:cubicBezTo>
                  <a:pt x="2059336" y="3759096"/>
                  <a:pt x="1973967" y="3649389"/>
                  <a:pt x="1706221" y="3693319"/>
                </a:cubicBezTo>
                <a:cubicBezTo>
                  <a:pt x="1438475" y="3737249"/>
                  <a:pt x="1356944" y="3672795"/>
                  <a:pt x="1234922" y="3693319"/>
                </a:cubicBezTo>
                <a:cubicBezTo>
                  <a:pt x="1112900" y="3713843"/>
                  <a:pt x="833302" y="3671037"/>
                  <a:pt x="721863" y="3693319"/>
                </a:cubicBezTo>
                <a:cubicBezTo>
                  <a:pt x="610424" y="3715601"/>
                  <a:pt x="224160" y="3614919"/>
                  <a:pt x="0" y="3693319"/>
                </a:cubicBezTo>
                <a:cubicBezTo>
                  <a:pt x="-2067" y="3538640"/>
                  <a:pt x="5409" y="3361929"/>
                  <a:pt x="0" y="3165702"/>
                </a:cubicBezTo>
                <a:cubicBezTo>
                  <a:pt x="-5409" y="2969475"/>
                  <a:pt x="49920" y="2885769"/>
                  <a:pt x="0" y="2638085"/>
                </a:cubicBezTo>
                <a:cubicBezTo>
                  <a:pt x="-49920" y="2390401"/>
                  <a:pt x="41410" y="2303599"/>
                  <a:pt x="0" y="2147401"/>
                </a:cubicBezTo>
                <a:cubicBezTo>
                  <a:pt x="-41410" y="1991203"/>
                  <a:pt x="28258" y="1918851"/>
                  <a:pt x="0" y="1730584"/>
                </a:cubicBezTo>
                <a:cubicBezTo>
                  <a:pt x="-28258" y="1542317"/>
                  <a:pt x="22290" y="1485096"/>
                  <a:pt x="0" y="1313766"/>
                </a:cubicBezTo>
                <a:cubicBezTo>
                  <a:pt x="-22290" y="1142436"/>
                  <a:pt x="22942" y="881936"/>
                  <a:pt x="0" y="749216"/>
                </a:cubicBezTo>
                <a:cubicBezTo>
                  <a:pt x="-22942" y="616496"/>
                  <a:pt x="22760" y="197866"/>
                  <a:pt x="0" y="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Backward Integration</a:t>
            </a:r>
          </a:p>
          <a:p>
            <a:pPr>
              <a:buNone/>
            </a:pPr>
            <a:r>
              <a:rPr lang="en-US" dirty="0">
                <a:highlight>
                  <a:srgbClr val="FFFF00"/>
                </a:highlight>
              </a:rPr>
              <a:t>This is when a company moves </a:t>
            </a:r>
            <a:r>
              <a:rPr lang="en-US" b="1" dirty="0">
                <a:highlight>
                  <a:srgbClr val="FFFF00"/>
                </a:highlight>
              </a:rPr>
              <a:t>upstream</a:t>
            </a:r>
            <a:r>
              <a:rPr lang="en-US" dirty="0">
                <a:highlight>
                  <a:srgbClr val="FFFF00"/>
                </a:highlight>
              </a:rPr>
              <a:t> in the supply chain—closer to raw materials or production.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Tesla</a:t>
            </a:r>
            <a:r>
              <a:rPr lang="en-US" dirty="0"/>
              <a:t>: Acquired </a:t>
            </a:r>
            <a:r>
              <a:rPr lang="en-US" b="1" dirty="0"/>
              <a:t>lithium mining rights</a:t>
            </a:r>
            <a:r>
              <a:rPr lang="en-US" dirty="0"/>
              <a:t> and battery manufacturing capabilities to control its EV battery supply chain.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Starbucks</a:t>
            </a:r>
            <a:r>
              <a:rPr lang="en-US" dirty="0"/>
              <a:t>: Purchased </a:t>
            </a:r>
            <a:r>
              <a:rPr lang="en-US" b="1" dirty="0"/>
              <a:t>coffee farms</a:t>
            </a:r>
            <a:r>
              <a:rPr lang="en-US" dirty="0"/>
              <a:t> to gain more control over coffee bean sourcing and ensure quality.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BB2FE1-F0FE-0B73-F366-C708689A5243}"/>
              </a:ext>
            </a:extLst>
          </p:cNvPr>
          <p:cNvSpPr txBox="1"/>
          <p:nvPr/>
        </p:nvSpPr>
        <p:spPr>
          <a:xfrm>
            <a:off x="75853" y="3718498"/>
            <a:ext cx="5867747" cy="2862322"/>
          </a:xfrm>
          <a:prstGeom prst="rect">
            <a:avLst/>
          </a:prstGeom>
          <a:noFill/>
          <a:ln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3. Horizontal Integration</a:t>
            </a:r>
          </a:p>
          <a:p>
            <a:pPr>
              <a:buNone/>
            </a:pPr>
            <a:r>
              <a:rPr lang="en-US" dirty="0">
                <a:highlight>
                  <a:srgbClr val="FFFF00"/>
                </a:highlight>
              </a:rPr>
              <a:t>This is when a company expands by acquiring or merging with a </a:t>
            </a:r>
            <a:r>
              <a:rPr lang="en-US" b="1" dirty="0">
                <a:highlight>
                  <a:srgbClr val="FFFF00"/>
                </a:highlight>
              </a:rPr>
              <a:t>competitor</a:t>
            </a:r>
            <a:r>
              <a:rPr lang="en-US" dirty="0">
                <a:highlight>
                  <a:srgbClr val="FFFF00"/>
                </a:highlight>
              </a:rPr>
              <a:t> in the same industry and at the same stage of production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Facebook (Meta)</a:t>
            </a:r>
            <a:r>
              <a:rPr lang="en-US" dirty="0"/>
              <a:t>: Acquired </a:t>
            </a:r>
            <a:r>
              <a:rPr lang="en-US" b="1" dirty="0"/>
              <a:t>Instagram</a:t>
            </a:r>
            <a:r>
              <a:rPr lang="en-US" dirty="0"/>
              <a:t> and </a:t>
            </a:r>
            <a:r>
              <a:rPr lang="en-US" b="1" dirty="0"/>
              <a:t>WhatsApp</a:t>
            </a:r>
            <a:r>
              <a:rPr lang="en-US" dirty="0"/>
              <a:t>—both in the social media and communication space—to consolidate its dominance.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Disney</a:t>
            </a:r>
            <a:r>
              <a:rPr lang="en-US" dirty="0"/>
              <a:t>: Acquired </a:t>
            </a:r>
            <a:r>
              <a:rPr lang="en-US" b="1" dirty="0"/>
              <a:t>21st Century Fox</a:t>
            </a:r>
            <a:r>
              <a:rPr lang="en-US" dirty="0"/>
              <a:t>, which was a competing entertainment and media company.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7F521E-67A0-BE2C-E445-64666E368218}"/>
              </a:ext>
            </a:extLst>
          </p:cNvPr>
          <p:cNvSpPr txBox="1"/>
          <p:nvPr/>
        </p:nvSpPr>
        <p:spPr>
          <a:xfrm>
            <a:off x="91134" y="0"/>
            <a:ext cx="4861866" cy="3693319"/>
          </a:xfrm>
          <a:prstGeom prst="rect">
            <a:avLst/>
          </a:prstGeom>
          <a:noFill/>
          <a:ln w="12700" cmpd="dbl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Forward Integration</a:t>
            </a:r>
          </a:p>
          <a:p>
            <a:pPr>
              <a:buNone/>
            </a:pPr>
            <a:r>
              <a:rPr lang="en-US" dirty="0">
                <a:highlight>
                  <a:srgbClr val="FFFF00"/>
                </a:highlight>
              </a:rPr>
              <a:t>This is when a company moves </a:t>
            </a:r>
            <a:r>
              <a:rPr lang="en-US" b="1" dirty="0">
                <a:highlight>
                  <a:srgbClr val="FFFF00"/>
                </a:highlight>
              </a:rPr>
              <a:t>downstream</a:t>
            </a:r>
            <a:r>
              <a:rPr lang="en-US" dirty="0">
                <a:highlight>
                  <a:srgbClr val="FFFF00"/>
                </a:highlight>
              </a:rPr>
              <a:t> in the supply chain—closer to the customer.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Apple</a:t>
            </a:r>
            <a:r>
              <a:rPr lang="en-US" dirty="0"/>
              <a:t>: Originally a hardware and software manufacturer, Apple pursued forward integration by opening </a:t>
            </a:r>
            <a:r>
              <a:rPr lang="en-US" b="1" dirty="0"/>
              <a:t>Apple Stores</a:t>
            </a:r>
            <a:r>
              <a:rPr lang="en-US" dirty="0"/>
              <a:t> to sell its products directly to consumers, bypassing third-party retailers.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Coca-Cola</a:t>
            </a:r>
            <a:r>
              <a:rPr lang="en-US" dirty="0"/>
              <a:t>: Buying bottling and distribution operations (e.g., Coca-Cola Enterprises) to control the delivery of its products.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223544-E290-043E-98EF-3FDB9E76F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702" y="3750095"/>
            <a:ext cx="3311445" cy="24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532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6155D-27C7-7E98-EAFC-1A244034F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7F8B4-5403-F595-777D-F85E67D8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F99A5-007C-25E8-6DBC-71F4E03C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1EC40-5250-56CD-DFBC-9A05E8501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243455FF-4FFC-17AE-197D-ADEC065DA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98A6FF-B610-6848-82A6-99C7D16E2BF6}"/>
              </a:ext>
            </a:extLst>
          </p:cNvPr>
          <p:cNvSpPr txBox="1"/>
          <p:nvPr/>
        </p:nvSpPr>
        <p:spPr>
          <a:xfrm>
            <a:off x="6896747" y="5548630"/>
            <a:ext cx="1409053" cy="47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B41E60-F75E-16A5-D657-55247C80B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05" y="814598"/>
            <a:ext cx="8861989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3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77915-A8BD-CD01-1B05-3A3D98D7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EC506-E01B-1101-CCBF-7EDBC2893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E19CC-6DD3-A04E-49E7-A399A555F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6653B-BCF8-61E4-307C-26A72298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88AFEC36-9532-45C1-D87E-8BA2EF797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FB94D0-E7CF-F4F2-644C-5D92915570CD}"/>
              </a:ext>
            </a:extLst>
          </p:cNvPr>
          <p:cNvSpPr txBox="1"/>
          <p:nvPr/>
        </p:nvSpPr>
        <p:spPr>
          <a:xfrm>
            <a:off x="6896747" y="5548630"/>
            <a:ext cx="1409053" cy="47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26624-31B6-CFE2-E5C8-B9DB1C561629}"/>
              </a:ext>
            </a:extLst>
          </p:cNvPr>
          <p:cNvSpPr txBox="1"/>
          <p:nvPr/>
        </p:nvSpPr>
        <p:spPr>
          <a:xfrm>
            <a:off x="261256" y="304800"/>
            <a:ext cx="857794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Intensive strategies are growth strategies that </a:t>
            </a:r>
            <a:r>
              <a:rPr lang="en-US" sz="2000" dirty="0">
                <a:highlight>
                  <a:srgbClr val="FFFF00"/>
                </a:highlight>
              </a:rPr>
              <a:t>companies use to </a:t>
            </a:r>
            <a:r>
              <a:rPr lang="en-US" sz="2000" b="1" dirty="0">
                <a:highlight>
                  <a:srgbClr val="FFFF00"/>
                </a:highlight>
              </a:rPr>
              <a:t>grow faster and increase market share</a:t>
            </a:r>
            <a:r>
              <a:rPr lang="en-US" sz="2000" dirty="0"/>
              <a:t> by focusing on their current products and markets. There are three main types:</a:t>
            </a:r>
          </a:p>
          <a:p>
            <a:pPr>
              <a:buNone/>
            </a:pP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b="1" dirty="0">
                <a:highlight>
                  <a:srgbClr val="FFFF00"/>
                </a:highlight>
              </a:rPr>
              <a:t>Market Penetration</a:t>
            </a:r>
            <a:r>
              <a:rPr lang="en-US" sz="2000" dirty="0">
                <a:highlight>
                  <a:srgbClr val="FFFF00"/>
                </a:highlight>
              </a:rPr>
              <a:t> </a:t>
            </a:r>
            <a:r>
              <a:rPr lang="en-US" sz="2000" dirty="0"/>
              <a:t>– Selling more of the current product in the existing market.</a:t>
            </a:r>
          </a:p>
          <a:p>
            <a:r>
              <a:rPr lang="en-US" sz="2000" b="1" dirty="0"/>
              <a:t>Example: Netflix</a:t>
            </a:r>
            <a:r>
              <a:rPr lang="en-US" sz="2000" dirty="0"/>
              <a:t> offering aggressive promotions and improving user experience to get more subscribers in markets where it already operates.</a:t>
            </a:r>
          </a:p>
          <a:p>
            <a:pPr>
              <a:buFont typeface="+mj-lt"/>
              <a:buAutoNum type="arabicPeriod"/>
            </a:pPr>
            <a:endParaRPr lang="en-US" sz="2000" dirty="0"/>
          </a:p>
          <a:p>
            <a:r>
              <a:rPr lang="en-US" sz="2000" dirty="0">
                <a:highlight>
                  <a:srgbClr val="FFFF00"/>
                </a:highlight>
              </a:rPr>
              <a:t>2. </a:t>
            </a:r>
            <a:r>
              <a:rPr lang="en-US" sz="2000" b="1" dirty="0">
                <a:highlight>
                  <a:srgbClr val="FFFF00"/>
                </a:highlight>
              </a:rPr>
              <a:t>Market Development</a:t>
            </a:r>
            <a:r>
              <a:rPr lang="en-US" sz="2000" dirty="0">
                <a:highlight>
                  <a:srgbClr val="FFFF00"/>
                </a:highlight>
              </a:rPr>
              <a:t> </a:t>
            </a:r>
            <a:r>
              <a:rPr lang="en-US" sz="2000" dirty="0"/>
              <a:t>– Entering new markets with the existing product.</a:t>
            </a:r>
          </a:p>
          <a:p>
            <a:endParaRPr lang="en-US" sz="2000" b="1" dirty="0"/>
          </a:p>
          <a:p>
            <a:r>
              <a:rPr lang="en-US" sz="2000" b="1" dirty="0"/>
              <a:t>Example: Starbucks</a:t>
            </a:r>
            <a:r>
              <a:rPr lang="en-US" sz="2000" dirty="0"/>
              <a:t> expanding into new countries (like China or India) to sell its existing coffee products.</a:t>
            </a:r>
          </a:p>
          <a:p>
            <a:pPr>
              <a:buFont typeface="+mj-lt"/>
              <a:buAutoNum type="arabicPeriod"/>
            </a:pPr>
            <a:endParaRPr lang="en-US" sz="2000" dirty="0"/>
          </a:p>
          <a:p>
            <a:r>
              <a:rPr lang="en-US" sz="2000" b="1" dirty="0">
                <a:highlight>
                  <a:srgbClr val="FFFF00"/>
                </a:highlight>
              </a:rPr>
              <a:t>3. Product Development</a:t>
            </a:r>
            <a:r>
              <a:rPr lang="en-US" sz="2000" dirty="0">
                <a:highlight>
                  <a:srgbClr val="FFFF00"/>
                </a:highlight>
              </a:rPr>
              <a:t> </a:t>
            </a:r>
            <a:r>
              <a:rPr lang="en-US" sz="2000" dirty="0"/>
              <a:t>– Creating new products for the existing market.</a:t>
            </a:r>
          </a:p>
          <a:p>
            <a:endParaRPr lang="en-US" sz="2000" b="1" dirty="0"/>
          </a:p>
          <a:p>
            <a:r>
              <a:rPr lang="en-US" sz="2000" b="1" dirty="0"/>
              <a:t>Example: Apple</a:t>
            </a:r>
            <a:r>
              <a:rPr lang="en-US" sz="2000" dirty="0"/>
              <a:t> launching new versions of the iPhone or entirely new products like the Apple Watch to sell to its existing customers.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98033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4503C-5D6A-EF87-C9F1-5F64E49BD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75F1F-7058-2D8B-2582-350379ADC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CB3BA-94F8-2A9B-0F3E-1C78852A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D4330-5BF4-1D17-3FCB-2EF5B4A6D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9E31A7E6-3230-6C00-1094-51CBFAD29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9FF8E2-17F1-41BB-40E3-DBE56F4C0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1000"/>
            <a:ext cx="7466972" cy="589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47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9EB81-9E2B-BB30-C8EA-760C83623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F2BD7-47F8-0E76-49DC-B23FA34E0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FF410-DF97-217D-9838-947668D7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EFDE5-753A-382F-793F-A8D2D294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7315C9CD-4F53-FFB0-B8CD-C4EE346B2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3F6EEDC-FC43-577C-B88D-641C54CDE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396" y="197918"/>
            <a:ext cx="8854204" cy="62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Related Diversification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– Expanding into a new business that is related to the existing business.</a:t>
            </a:r>
          </a:p>
          <a:p>
            <a:r>
              <a:rPr lang="en-US" b="1" dirty="0"/>
              <a:t>Example-1 : Google (Alphabet Inc.) : </a:t>
            </a:r>
            <a:r>
              <a:rPr lang="en-US" dirty="0"/>
              <a:t>Started as a search engine → then diversified into </a:t>
            </a:r>
            <a:r>
              <a:rPr lang="en-US" b="1" dirty="0"/>
              <a:t>cloud computing</a:t>
            </a:r>
            <a:r>
              <a:rPr lang="en-US" dirty="0"/>
              <a:t>, </a:t>
            </a:r>
            <a:r>
              <a:rPr lang="en-US" b="1" dirty="0"/>
              <a:t>smartphones (Pixel)</a:t>
            </a:r>
            <a:r>
              <a:rPr lang="en-US" dirty="0"/>
              <a:t>, </a:t>
            </a:r>
            <a:r>
              <a:rPr lang="en-US" b="1" dirty="0"/>
              <a:t>AI (DeepMind)</a:t>
            </a:r>
            <a:r>
              <a:rPr lang="en-US" dirty="0"/>
              <a:t>, and </a:t>
            </a:r>
            <a:r>
              <a:rPr lang="en-US" b="1" dirty="0"/>
              <a:t>self-driving tech (Waymo)</a:t>
            </a:r>
            <a:r>
              <a:rPr lang="en-US" dirty="0"/>
              <a:t>. All these are tech-related, using similar capabilities or data infrastructure.</a:t>
            </a:r>
          </a:p>
          <a:p>
            <a:r>
              <a:rPr lang="en-US" b="1" dirty="0"/>
              <a:t>Example-2 : Disney</a:t>
            </a:r>
            <a:endParaRPr lang="en-US" dirty="0"/>
          </a:p>
          <a:p>
            <a:r>
              <a:rPr lang="en-US" dirty="0"/>
              <a:t>Originally a film company → expanded into </a:t>
            </a:r>
            <a:r>
              <a:rPr lang="en-US" b="1" dirty="0"/>
              <a:t>theme parks</a:t>
            </a:r>
            <a:r>
              <a:rPr lang="en-US" dirty="0"/>
              <a:t>, </a:t>
            </a:r>
            <a:r>
              <a:rPr lang="en-US" b="1" dirty="0"/>
              <a:t>TV channels (like ABC)</a:t>
            </a:r>
            <a:r>
              <a:rPr lang="en-US" dirty="0"/>
              <a:t>, and </a:t>
            </a:r>
            <a:r>
              <a:rPr lang="en-US" b="1" dirty="0"/>
              <a:t>streaming services (Disney+)</a:t>
            </a:r>
            <a:r>
              <a:rPr lang="en-US" dirty="0"/>
              <a:t>. All are entertainment-related, leveraging content and characters.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Unrelated Diversification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 – Expanding into an entirely different industry with no direct connection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b="1" dirty="0"/>
              <a:t>Example-1 : Tata Group (India): </a:t>
            </a:r>
            <a:r>
              <a:rPr lang="en-US" dirty="0"/>
              <a:t>Operates in industries like </a:t>
            </a:r>
            <a:r>
              <a:rPr lang="en-US" b="1" dirty="0"/>
              <a:t>steel, automobiles (Tata Motors), IT (TCS), hotels (Taj), and tea (Tata Tea)</a:t>
            </a:r>
            <a:r>
              <a:rPr lang="en-US" dirty="0"/>
              <a:t>.</a:t>
            </a:r>
          </a:p>
          <a:p>
            <a:r>
              <a:rPr lang="en-US" dirty="0"/>
              <a:t>These businesses are not directly connected—this is classic unrelated diversification.</a:t>
            </a:r>
          </a:p>
          <a:p>
            <a:endParaRPr lang="en-US" b="1" dirty="0"/>
          </a:p>
          <a:p>
            <a:r>
              <a:rPr lang="en-US" b="1" dirty="0"/>
              <a:t>Example 2: Samsung</a:t>
            </a:r>
            <a:endParaRPr lang="en-US" dirty="0"/>
          </a:p>
          <a:p>
            <a:r>
              <a:rPr lang="en-US" dirty="0"/>
              <a:t>Apart from electronics, Samsung has businesses in </a:t>
            </a:r>
            <a:r>
              <a:rPr lang="en-US" b="1" dirty="0"/>
              <a:t>shipbuilding, construction, and insurance</a:t>
            </a:r>
            <a:r>
              <a:rPr lang="en-US" dirty="0"/>
              <a:t>—entirely different industries.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235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58D41-254E-4633-5116-AB0DDB8B1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7B510-93E6-D65E-6BB9-46D83BCAE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972B3-8BE1-2293-2A0B-B14743E8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FA1F1-45C2-5896-DF9C-57343E85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427ECDBD-7730-E3ED-A2D3-B58757923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5FE2DF-2A75-D382-5386-79F7ACD0EAFF}"/>
              </a:ext>
            </a:extLst>
          </p:cNvPr>
          <p:cNvSpPr txBox="1"/>
          <p:nvPr/>
        </p:nvSpPr>
        <p:spPr>
          <a:xfrm>
            <a:off x="6896747" y="5548630"/>
            <a:ext cx="1409053" cy="47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261680-C00C-CE8F-EED3-1394E0641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7" y="9781"/>
            <a:ext cx="6510863" cy="41649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D64EF6-DD0B-250A-4118-ACE68EB63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37" y="4122867"/>
            <a:ext cx="8906926" cy="285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716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84298-E08D-4CCD-96F2-7BD1A213A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88490-A1E4-15F7-924D-39A94F6DD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D0974-D6B0-C423-AF62-47350B79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1529-778C-A01C-727A-AC9A1AF82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C75C4B4C-AA16-03C9-7998-5F5EAF489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77387B-6589-0171-5855-92ABFA238140}"/>
              </a:ext>
            </a:extLst>
          </p:cNvPr>
          <p:cNvSpPr txBox="1"/>
          <p:nvPr/>
        </p:nvSpPr>
        <p:spPr>
          <a:xfrm>
            <a:off x="6896747" y="5548630"/>
            <a:ext cx="1409053" cy="47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FAA87D6-CF73-56C5-09CB-9FBA52A49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43" y="1385104"/>
            <a:ext cx="757996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Divestment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 was under pressure from declining profits and market share.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 divested from non-core businesses (e.g., GE Capital) to refocus on high-growth areas like aviation and renewable energy.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 stabilized operations and avoided total collapse.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Shrinking to grow can be a defensive move to refocus on strengths.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E61DC69-5263-2A0F-3CF1-2DAB6D852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43" y="388660"/>
            <a:ext cx="8301920" cy="1133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Divestiture Strategy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Divestiture refers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selling off a part of a company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(a business unit, asset, or subsidiary) to improve focus, raise capital, or prevent financial collapse.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39C7A05-40E1-3328-7824-3396C9E70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343442"/>
            <a:ext cx="135269" cy="307777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40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D777E2D-122F-2A34-92C3-7F2D2434D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06" y="3954999"/>
            <a:ext cx="836658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Segoe UI Emoji" panose="020B0502040204020203" pitchFamily="34" charset="0"/>
              </a:rPr>
              <a:t>🏢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Case 1: IBM Sells PC Business to Lenovo (2005)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Context: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IBM was struggling in the low-margin personal computer market.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Strategy: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IBM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divested its PC division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to Lenovo for $1.75 billion to shift focus to high-margin services and enterprise computing.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Outcome: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IBM strengthened its position in software and consulting. Lenovo became a top global PC brand.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Lesson: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Strategic divestiture helped IBM escape a commoditized market and invest in growth areas.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13432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935AD-A0E2-F13A-876F-556B45DAD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E6EF8-BB38-C707-B76A-2B22C26F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68C5D-A296-4D51-25B7-FE5D51DC1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0B501-B508-A26E-2E5E-2A9DB8C4C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23057581-92C2-7F2F-0312-F8E600354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198B51-C687-D022-4DE0-E5E72CBD38E6}"/>
              </a:ext>
            </a:extLst>
          </p:cNvPr>
          <p:cNvSpPr txBox="1"/>
          <p:nvPr/>
        </p:nvSpPr>
        <p:spPr>
          <a:xfrm>
            <a:off x="261257" y="56435"/>
            <a:ext cx="7620000" cy="1070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Liquidation Strategy Cases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Liquidation involves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shutting down and selling off a company’s assets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usually when it’s no longer viable.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7F9815-CF54-3F2C-7DC5-1ED5DF94B938}"/>
              </a:ext>
            </a:extLst>
          </p:cNvPr>
          <p:cNvSpPr txBox="1"/>
          <p:nvPr/>
        </p:nvSpPr>
        <p:spPr>
          <a:xfrm>
            <a:off x="115594" y="1127306"/>
            <a:ext cx="8876006" cy="2564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Kingfisher Airlines (India, 2012)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Mounting debts, rising fuel costs, and operational losses plagued the airline.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Strategy: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After failed bailout talks, the airline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ceased operations and went into liquidation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Outcome: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Its license was revoked; assets were auctioned to pay creditors.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Lesson: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High fixed costs and regulatory pressure make airlines especially vulnerable to liquidation.</a:t>
            </a:r>
          </a:p>
        </p:txBody>
      </p:sp>
    </p:spTree>
    <p:extLst>
      <p:ext uri="{BB962C8B-B14F-4D97-AF65-F5344CB8AC3E}">
        <p14:creationId xmlns:p14="http://schemas.microsoft.com/office/powerpoint/2010/main" val="1062634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F05CA-B5E0-0182-B700-97983630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A881C-50AD-D699-6851-AE95E692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68CFE-3B1B-9769-15A5-40E9380B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204CB-42DA-E902-ED48-CFB0C8C2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92D383A9-B2B7-874A-84E3-6B48396DC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04885E-57FA-5E1F-0A6B-32FF65667421}"/>
              </a:ext>
            </a:extLst>
          </p:cNvPr>
          <p:cNvSpPr txBox="1"/>
          <p:nvPr/>
        </p:nvSpPr>
        <p:spPr>
          <a:xfrm>
            <a:off x="6896747" y="5548630"/>
            <a:ext cx="1409053" cy="47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EEC7C3F-FC12-110A-50D7-523DB74FC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04755"/>
            <a:ext cx="84582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Retrenchment Strategy Case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🏭 Case: Ford Motor Company (2006–2008)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Ford was facing falling sales, rising costs, and competitive pressure from Japanese automakers.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Strategy: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"Way Forward" plan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Closed several plants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Laid off over 30,000 employees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Focused on core models (e.g. Ford, not Mercury or Jaguar)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Streamlined operations, reduced costs, and improved efficiency. Ford avoided bankruptcy during the 2008–2009 financial crisis, unlike GM and Chrysler.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Retrenchment can help companies weather financial storms by cutting excess fat and focusing on core competencies.</a:t>
            </a:r>
          </a:p>
        </p:txBody>
      </p:sp>
    </p:spTree>
    <p:extLst>
      <p:ext uri="{BB962C8B-B14F-4D97-AF65-F5344CB8AC3E}">
        <p14:creationId xmlns:p14="http://schemas.microsoft.com/office/powerpoint/2010/main" val="626547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9ADB3-A5D7-3D7D-8C4B-36355D0D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D111C-2708-EFFE-F50B-6166A514D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45E12-2972-A1DC-BE51-92C0E6EA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E5A0D-F543-7853-81D6-DBDD3BB7F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BF7E5EFF-9238-CDC7-3B5C-FFC1AD2BD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45EC03-4AE5-064F-5AC4-ED392CE5F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36525"/>
            <a:ext cx="6232009" cy="397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29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70E8E-2762-9934-52E0-07B7A1051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2A1E4-90F2-5FE2-AF1B-357349F58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9AFB5-A352-FD27-3C79-0EE9B207E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9B26-618D-4872-D9F3-DBA360E03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870BF82A-FEC0-4991-C75B-E1E43FA65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E893DB-4EA1-AB1D-71F7-73D1B871C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14630"/>
            <a:ext cx="5115543" cy="283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92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FF8B1-F3D3-266A-20D0-108D77857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181BC-025B-665E-BB73-D8AC8BEA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136CE-D2AF-0F81-8C3E-1D8FD0ECB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F4879-518F-1106-F6B2-1A4FE769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921993A7-0562-4912-A5C1-647446F42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E49FBA-B3B2-7696-38C8-D793F8D6F835}"/>
              </a:ext>
            </a:extLst>
          </p:cNvPr>
          <p:cNvSpPr txBox="1"/>
          <p:nvPr/>
        </p:nvSpPr>
        <p:spPr>
          <a:xfrm>
            <a:off x="6896747" y="5548630"/>
            <a:ext cx="1409053" cy="47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603A3-40DB-0CE1-E07D-4969999C5FE4}"/>
              </a:ext>
            </a:extLst>
          </p:cNvPr>
          <p:cNvSpPr txBox="1"/>
          <p:nvPr/>
        </p:nvSpPr>
        <p:spPr>
          <a:xfrm>
            <a:off x="304800" y="1305342"/>
            <a:ext cx="857794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Strategic Implications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Retrenchment</a:t>
            </a:r>
            <a:r>
              <a:rPr lang="en-US" dirty="0"/>
              <a:t> can offer quicker cost savings but raise legal and reputational risks—especially in India, where labor laws guarded layoffs/retrenchments during lockdowns.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Divestiture</a:t>
            </a:r>
            <a:r>
              <a:rPr lang="en-US" dirty="0"/>
              <a:t> proved more measured, enabling firms to exit non-core lines, regain liquidity, and reallocate toward growth areas.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Liquidation</a:t>
            </a:r>
            <a:r>
              <a:rPr lang="en-US" dirty="0"/>
              <a:t> was unavoidable for some, especially in retail/entertainment sectors hit hardest by COVID‑19 closures.</a:t>
            </a:r>
          </a:p>
        </p:txBody>
      </p:sp>
    </p:spTree>
    <p:extLst>
      <p:ext uri="{BB962C8B-B14F-4D97-AF65-F5344CB8AC3E}">
        <p14:creationId xmlns:p14="http://schemas.microsoft.com/office/powerpoint/2010/main" val="1551099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442926-32F0-25E6-970C-1AC4B6D4BC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Copyright 2007 Prentice Hall</a:t>
            </a: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D85FB1FF-323D-841E-7CD2-1BFFCE34C2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/>
              <a:t>2003 Examples</a:t>
            </a:r>
          </a:p>
        </p:txBody>
      </p:sp>
      <p:graphicFrame>
        <p:nvGraphicFramePr>
          <p:cNvPr id="27668" name="Group 20">
            <a:extLst>
              <a:ext uri="{FF2B5EF4-FFF2-40B4-BE49-F238E27FC236}">
                <a16:creationId xmlns:a16="http://schemas.microsoft.com/office/drawing/2014/main" id="{D9539249-11C3-2D59-9B41-ABA5132E7C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143000"/>
          <a:ext cx="8229600" cy="4862513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13783072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99624167"/>
                    </a:ext>
                  </a:extLst>
                </a:gridCol>
              </a:tblGrid>
              <a:tr h="150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Related Diversification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UPS acquired Overnite to diversify its packaging business into the trucking business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DD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443793"/>
                  </a:ext>
                </a:extLst>
              </a:tr>
              <a:tr h="151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Unrelated Diversification</a:t>
                      </a:r>
                      <a:b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Tupperware Corp. has entered and is growing its skin and Beauty business through BeautiControl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DD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933111"/>
                  </a:ext>
                </a:extLst>
              </a:tr>
              <a:tr h="150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Retrenchment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Viacom is selling non-core assets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DD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1641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D475E3-84DC-E8DC-D5FA-00E4B6C2F7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Copyright 2007 Prentice Hall</a:t>
            </a: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7D4E7312-3DFA-7B86-4948-CB828900A1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/>
              <a:t>2003 Examples</a:t>
            </a:r>
          </a:p>
        </p:txBody>
      </p:sp>
      <p:graphicFrame>
        <p:nvGraphicFramePr>
          <p:cNvPr id="28693" name="Group 21">
            <a:extLst>
              <a:ext uri="{FF2B5EF4-FFF2-40B4-BE49-F238E27FC236}">
                <a16:creationId xmlns:a16="http://schemas.microsoft.com/office/drawing/2014/main" id="{19436D3E-BD2A-D9DB-9F3A-1AA58EDA6C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143000"/>
          <a:ext cx="8229600" cy="335280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78448496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78840058"/>
                    </a:ext>
                  </a:extLst>
                </a:gridCol>
              </a:tblGrid>
              <a:tr h="1511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Divestiture</a:t>
                      </a:r>
                      <a:b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Goodyear Tire &amp; Rubber Co. sold its North American farm-tire business to Titan International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DD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933967"/>
                  </a:ext>
                </a:extLst>
              </a:tr>
              <a:tr h="150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Liquidation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Britain’s last major car manufacturer, MG Rover Group Ltd., liquidated in 2005 and laid off its 5,000 employees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DD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4397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5A8606-288E-B1C5-245B-F8D8ACD139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Copyright 2007 Prentice Hall</a:t>
            </a: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CBAEFAE9-4C17-CAB4-BC0D-217CEBDF0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81000"/>
            <a:ext cx="6931025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3600">
                <a:solidFill>
                  <a:srgbClr val="00663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rgbClr val="00663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rgbClr val="00663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rgbClr val="00663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rgbClr val="00663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3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3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3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663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3200" b="1"/>
              <a:t>Michael Porter’s Generic Strategies</a:t>
            </a:r>
          </a:p>
        </p:txBody>
      </p:sp>
      <p:sp>
        <p:nvSpPr>
          <p:cNvPr id="29699" name="Line 3">
            <a:extLst>
              <a:ext uri="{FF2B5EF4-FFF2-40B4-BE49-F238E27FC236}">
                <a16:creationId xmlns:a16="http://schemas.microsoft.com/office/drawing/2014/main" id="{0777EFB1-F5F9-1A40-625B-8868691BAA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150" y="7569200"/>
            <a:ext cx="150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915FC18E-A742-DAFA-0C0F-6ACF9BDDE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524000"/>
            <a:ext cx="4648200" cy="1143000"/>
          </a:xfrm>
          <a:prstGeom prst="rect">
            <a:avLst/>
          </a:prstGeom>
          <a:solidFill>
            <a:srgbClr val="71602F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71602F"/>
            </a:extrusionClr>
            <a:contourClr>
              <a:srgbClr val="71602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en-US" sz="2400" b="1">
                <a:solidFill>
                  <a:schemeClr val="bg1"/>
                </a:solidFill>
              </a:rPr>
              <a:t>Cost Leadership Strategies</a:t>
            </a:r>
          </a:p>
          <a:p>
            <a:pPr algn="ctr"/>
            <a:r>
              <a:rPr lang="en-US" altLang="en-US" sz="2400" b="1">
                <a:solidFill>
                  <a:schemeClr val="bg1"/>
                </a:solidFill>
              </a:rPr>
              <a:t>(</a:t>
            </a:r>
            <a:r>
              <a:rPr lang="en-US" altLang="en-US" sz="2400" b="1" i="1">
                <a:solidFill>
                  <a:schemeClr val="bg1"/>
                </a:solidFill>
              </a:rPr>
              <a:t>Low-Cost &amp; Best-Value)</a:t>
            </a:r>
            <a:endParaRPr lang="en-US" altLang="en-US" sz="2400" b="1">
              <a:solidFill>
                <a:schemeClr val="bg1"/>
              </a:solidFill>
            </a:endParaRP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4ED53F3B-2941-47D1-1878-1D7A56DBD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971800"/>
            <a:ext cx="4648200" cy="1143000"/>
          </a:xfrm>
          <a:prstGeom prst="rect">
            <a:avLst/>
          </a:prstGeom>
          <a:solidFill>
            <a:srgbClr val="71602F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71602F"/>
            </a:extrusionClr>
            <a:contourClr>
              <a:srgbClr val="71602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en-US" sz="2400" b="1">
                <a:solidFill>
                  <a:schemeClr val="bg1"/>
                </a:solidFill>
              </a:rPr>
              <a:t>Differentiation</a:t>
            </a:r>
            <a:r>
              <a:rPr lang="en-US" altLang="en-US" b="1">
                <a:solidFill>
                  <a:schemeClr val="bg1"/>
                </a:solidFill>
              </a:rPr>
              <a:t> </a:t>
            </a:r>
            <a:r>
              <a:rPr lang="en-US" altLang="en-US" sz="2400" b="1">
                <a:solidFill>
                  <a:schemeClr val="bg1"/>
                </a:solidFill>
              </a:rPr>
              <a:t>Strategies</a:t>
            </a: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856BD277-11AD-4E05-84D0-8C9DDD700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419600"/>
            <a:ext cx="4648200" cy="1143000"/>
          </a:xfrm>
          <a:prstGeom prst="rect">
            <a:avLst/>
          </a:prstGeom>
          <a:solidFill>
            <a:srgbClr val="71602F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71602F"/>
            </a:extrusionClr>
            <a:contourClr>
              <a:srgbClr val="71602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lang="en-US" altLang="en-US" sz="2400" b="1">
                <a:solidFill>
                  <a:schemeClr val="bg1"/>
                </a:solidFill>
              </a:rPr>
              <a:t>Focus Strategies</a:t>
            </a:r>
            <a:br>
              <a:rPr lang="en-US" altLang="en-US" sz="2400" b="1">
                <a:solidFill>
                  <a:schemeClr val="bg1"/>
                </a:solidFill>
              </a:rPr>
            </a:br>
            <a:r>
              <a:rPr lang="en-US" altLang="en-US" sz="2400" b="1" i="1">
                <a:solidFill>
                  <a:schemeClr val="bg1"/>
                </a:solidFill>
              </a:rPr>
              <a:t>(Low-Cost Focus &amp; </a:t>
            </a:r>
          </a:p>
          <a:p>
            <a:pPr algn="ctr"/>
            <a:r>
              <a:rPr lang="en-US" altLang="en-US" sz="2400" b="1" i="1">
                <a:solidFill>
                  <a:schemeClr val="bg1"/>
                </a:solidFill>
              </a:rPr>
              <a:t>Best-Value Focus)</a:t>
            </a:r>
            <a:endParaRPr lang="en-US" altLang="en-US" sz="2400" b="1">
              <a:solidFill>
                <a:schemeClr val="bg1"/>
              </a:solidFill>
            </a:endParaRPr>
          </a:p>
        </p:txBody>
      </p:sp>
      <p:sp>
        <p:nvSpPr>
          <p:cNvPr id="29703" name="Line 7">
            <a:extLst>
              <a:ext uri="{FF2B5EF4-FFF2-40B4-BE49-F238E27FC236}">
                <a16:creationId xmlns:a16="http://schemas.microsoft.com/office/drawing/2014/main" id="{ACDC8612-6F5C-270E-233C-21328A46C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667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704" name="Line 8">
            <a:extLst>
              <a:ext uri="{FF2B5EF4-FFF2-40B4-BE49-F238E27FC236}">
                <a16:creationId xmlns:a16="http://schemas.microsoft.com/office/drawing/2014/main" id="{119DD656-3B4A-970D-1710-B06917BD3E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EC492-9108-7237-4E65-02D2C1DA8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4927D-A37A-89B3-54C2-2D5570A8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B6431-76A5-7D3A-4A55-4D38EE39D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6A1E4-CA0C-4E88-4460-F296360B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66771C9B-5CFD-F744-1153-3C5C68B0B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FA1A7C-8024-C49C-BC57-D1FC2EE441BC}"/>
              </a:ext>
            </a:extLst>
          </p:cNvPr>
          <p:cNvSpPr txBox="1"/>
          <p:nvPr/>
        </p:nvSpPr>
        <p:spPr>
          <a:xfrm>
            <a:off x="6896747" y="5548630"/>
            <a:ext cx="1409053" cy="47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1DB7945-A570-B403-9723-5532BB927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-27214"/>
            <a:ext cx="6766560" cy="640080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87695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E6DF5F-094D-A5CA-B4E1-8213469128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Copyright 2007 Prentice Hall</a:t>
            </a:r>
          </a:p>
        </p:txBody>
      </p:sp>
      <p:pic>
        <p:nvPicPr>
          <p:cNvPr id="33794" name="Picture 2">
            <a:extLst>
              <a:ext uri="{FF2B5EF4-FFF2-40B4-BE49-F238E27FC236}">
                <a16:creationId xmlns:a16="http://schemas.microsoft.com/office/drawing/2014/main" id="{698D78C7-9C64-58AD-EDE7-E0E8147AE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04800"/>
            <a:ext cx="6781800" cy="582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AA62E-F74A-6B0E-EADE-03F23BD74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06826-99C2-3898-BDC7-7A1B48EA6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ECE51-FACA-4558-CEF4-CBF9F9B1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E15BF-1311-8DA9-1981-D8C2C600C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13891B71-02C1-DE5A-DE36-BD1E1DDE9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E915EB-0BF3-712B-4553-B2A24390F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36" y="1295400"/>
            <a:ext cx="8910121" cy="4614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B7A47C-FE2B-D9F9-2142-7C804C91F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96060"/>
            <a:ext cx="7554379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161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999E06-BD94-373E-5000-44763A64BE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Copyright 2007 Prentice Hall</a:t>
            </a:r>
          </a:p>
        </p:txBody>
      </p:sp>
      <p:pic>
        <p:nvPicPr>
          <p:cNvPr id="34818" name="Picture 2">
            <a:extLst>
              <a:ext uri="{FF2B5EF4-FFF2-40B4-BE49-F238E27FC236}">
                <a16:creationId xmlns:a16="http://schemas.microsoft.com/office/drawing/2014/main" id="{21B514B8-3030-9376-B774-48E175EFE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46075"/>
            <a:ext cx="6515100" cy="573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D6F36-0B49-CB9B-07A8-56AD898E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5FC48-E89E-1A4D-6FFD-27473B79E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683B-7DF6-61C2-58F9-F309DC3F9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8C4B1-71ED-09F6-D7E9-2CED9046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7E4C0F73-8701-7F4F-AE10-E397E96D8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F1887C-E0E4-17D3-A457-51E7F00CB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78" y="3197179"/>
            <a:ext cx="7038443" cy="33366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BCC1C1-3FCB-2628-8451-D0AF37D8A74C}"/>
              </a:ext>
            </a:extLst>
          </p:cNvPr>
          <p:cNvSpPr txBox="1"/>
          <p:nvPr/>
        </p:nvSpPr>
        <p:spPr>
          <a:xfrm>
            <a:off x="290364" y="2132677"/>
            <a:ext cx="6934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Blue Ocean Strategy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is a business approach that encourages companies to create </a:t>
            </a:r>
            <a:r>
              <a:rPr lang="en-US" i="1" dirty="0"/>
              <a:t>new market space</a:t>
            </a:r>
            <a:r>
              <a:rPr lang="en-US" dirty="0"/>
              <a:t> ("blue oceans") rather than competing in existing saturated industries ("red oceans").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05A18D-AA1B-39EE-15F9-AA61D07EF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747" y="106589"/>
            <a:ext cx="9144000" cy="188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670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56B18-8E57-C704-D373-A3F4DC506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F7FEE-7843-ADEF-6A28-971356D9A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DAACC-0DEF-888A-E49F-DBC62A599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5AED6-22CC-8F24-518E-D830C58A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C02D1126-7BE0-2FBA-83EE-9AB52C106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670786-7091-7098-EA49-1A9BB058A825}"/>
              </a:ext>
            </a:extLst>
          </p:cNvPr>
          <p:cNvSpPr txBox="1"/>
          <p:nvPr/>
        </p:nvSpPr>
        <p:spPr>
          <a:xfrm>
            <a:off x="6896747" y="5548630"/>
            <a:ext cx="1409053" cy="47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E35D3E-7E03-F855-06B8-86A3378B8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43" y="136525"/>
            <a:ext cx="5553357" cy="30746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1FC27D-5F11-B3EA-1177-C467A57BE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04" y="3317048"/>
            <a:ext cx="6281872" cy="270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49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6F671-2C43-165C-9214-3BFE832E3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45204-68E8-A2D4-EF92-F4D8C96A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F0BFA-63DD-9F3F-D985-788A22B56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E799A-0A4D-3AE9-3B59-BA3BEF8D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20991277-4BFD-8849-25A5-7D9D75B45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2615E1-8DAB-9B21-3EDE-F22D62AB9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7" y="533400"/>
            <a:ext cx="8964276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222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00E5A-3C22-854C-F936-732FBC0C4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84EB9-30ED-0CCC-B93B-0F925E56F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1D0A3-5E2B-E7DF-AE41-E1CC276E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33F16-1494-1252-663F-F30B98B1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2712FA31-F923-77C7-8581-335B45E1F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2186AB-4546-0210-C6CD-D661DED58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3400"/>
            <a:ext cx="7691879" cy="384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379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F60E7-45AA-1C64-DED9-6C24516CB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85EE8-904D-1C70-2BC6-890646A26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011C4-1063-1512-BF46-39963A03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7CE57-BCE0-429E-62A4-193521CF8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9A2455CE-2C68-8024-B18B-4608B69FB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3DA3EA-EFF5-8BCF-BB63-B7BE608962F7}"/>
              </a:ext>
            </a:extLst>
          </p:cNvPr>
          <p:cNvSpPr txBox="1"/>
          <p:nvPr/>
        </p:nvSpPr>
        <p:spPr>
          <a:xfrm>
            <a:off x="6896747" y="5548630"/>
            <a:ext cx="1409053" cy="47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CE84EC-B331-4754-8F2F-D76EC8B9E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44" y="214631"/>
            <a:ext cx="8772356" cy="481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7222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105F2-217E-C58A-C5A3-F2BD10E64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D3823-CC55-A02F-E46F-C885CC13B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E3E80-D059-A145-D7B7-0FB956F74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7A786-1499-ACEA-37B3-F13D1987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C0963CB9-6FD5-056E-E843-EB47EAF1F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C9162B-E4A9-CF06-8D93-556212F5154C}"/>
              </a:ext>
            </a:extLst>
          </p:cNvPr>
          <p:cNvSpPr txBox="1"/>
          <p:nvPr/>
        </p:nvSpPr>
        <p:spPr>
          <a:xfrm>
            <a:off x="6896747" y="5548630"/>
            <a:ext cx="1409053" cy="47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A00DC7-6630-F1E0-3E1B-0BC2CE6D1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9729"/>
            <a:ext cx="9144000" cy="501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0630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25150284</TotalTime>
  <Words>1349</Words>
  <Application>Microsoft Office PowerPoint</Application>
  <PresentationFormat>On-screen Show (4:3)</PresentationFormat>
  <Paragraphs>218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Century Gothic</vt:lpstr>
      <vt:lpstr>Courier New</vt:lpstr>
      <vt:lpstr>Palatino Linotype</vt:lpstr>
      <vt:lpstr>Symbol</vt:lpstr>
      <vt:lpstr>Times New Roman</vt:lpstr>
      <vt:lpstr>Executive</vt:lpstr>
      <vt:lpstr>STRATEGY FORMULATION</vt:lpstr>
      <vt:lpstr>COURSE OUTLINE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2003 Examples</vt:lpstr>
      <vt:lpstr>2003 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and Retail Management</dc:title>
  <dc:creator>user</dc:creator>
  <cp:lastModifiedBy>snehal sugandhi</cp:lastModifiedBy>
  <cp:revision>851</cp:revision>
  <dcterms:created xsi:type="dcterms:W3CDTF">2023-11-29T05:52:33Z</dcterms:created>
  <dcterms:modified xsi:type="dcterms:W3CDTF">2026-07-03T08:54:38Z</dcterms:modified>
</cp:coreProperties>
</file>