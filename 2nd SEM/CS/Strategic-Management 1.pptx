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Default Extension="svg" ContentType="image/sv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notesSlides/notesSlide18.xml" ContentType="application/vnd.openxmlformats-officedocument.presentationml.notesSlide+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7" r:id="rId21"/>
  </p:sldIdLst>
  <p:sldSz cx="14630400" cy="8229600"/>
  <p:notesSz cx="8229600" cy="14630400"/>
  <p:embeddedFontLst>
    <p:embeddedFont>
      <p:font typeface="Impact" pitchFamily="34" charset="0"/>
      <p:regular r:id="rId23"/>
    </p:embeddedFont>
    <p:embeddedFont>
      <p:font typeface="Raleway" charset="0"/>
      <p:regular r:id="rId24"/>
    </p:embeddedFont>
    <p:embeddedFont>
      <p:font typeface="Calibri" pitchFamily="34" charset="0"/>
      <p:regular r:id="rId25"/>
      <p:bold r:id="rId26"/>
      <p:italic r:id="rId27"/>
      <p:boldItalic r:id="rId28"/>
    </p:embeddedFont>
    <p:embeddedFont>
      <p:font typeface="Roboto" charset="0"/>
      <p:regular r:id="rId29"/>
    </p:embeddedFont>
    <p:embeddedFont>
      <p:font typeface="Comic Sans MS" pitchFamily="66" charset="0"/>
      <p:regular r:id="rId30"/>
      <p:bold r:id="rId31"/>
      <p:italic r:id="rId32"/>
      <p:boldItalic r:id="rId33"/>
    </p:embeddedFont>
    <p:embeddedFont>
      <p:font typeface="Calibri Light" pitchFamily="34" charset="0"/>
      <p:regular r:id="rId34"/>
      <p:italic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611"/>
    <p:restoredTop sz="94610"/>
  </p:normalViewPr>
  <p:slideViewPr>
    <p:cSldViewPr snapToGrid="0" snapToObjects="1">
      <p:cViewPr varScale="1">
        <p:scale>
          <a:sx n="94" d="100"/>
          <a:sy n="94" d="100"/>
        </p:scale>
        <p:origin x="-474" y="-108"/>
      </p:cViewPr>
      <p:guideLst>
        <p:guide orient="horz" pos="2592"/>
        <p:guide pos="4608"/>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668268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19</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a:xfrm>
            <a:off x="487680" y="548640"/>
            <a:ext cx="13898880" cy="1005840"/>
          </a:xfrm>
          <a:prstGeom prst="rect">
            <a:avLst/>
          </a:prstGeom>
        </p:spPr>
        <p:txBody>
          <a:bodyPr lIns="130622" tIns="65311" rIns="130622" bIns="65311"/>
          <a:lstStyle/>
          <a:p>
            <a:r>
              <a:rPr lang="en-US" smtClean="0"/>
              <a:t>Click to edit Master title style</a:t>
            </a:r>
            <a:endParaRPr lang="en-US"/>
          </a:p>
        </p:txBody>
      </p:sp>
      <p:sp>
        <p:nvSpPr>
          <p:cNvPr id="27" name="Content Placeholder 26"/>
          <p:cNvSpPr>
            <a:spLocks noGrp="1"/>
          </p:cNvSpPr>
          <p:nvPr>
            <p:ph idx="1"/>
          </p:nvPr>
        </p:nvSpPr>
        <p:spPr>
          <a:xfrm>
            <a:off x="487680" y="1864996"/>
            <a:ext cx="13898880" cy="5431154"/>
          </a:xfrm>
          <a:prstGeom prst="rect">
            <a:avLst/>
          </a:prstGeom>
        </p:spPr>
        <p:txBody>
          <a:bodyPr lIns="130622" tIns="65311" rIns="130622" bIns="6531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4"/>
          <p:cNvSpPr>
            <a:spLocks noGrp="1"/>
          </p:cNvSpPr>
          <p:nvPr>
            <p:ph type="dt" sz="half" idx="10"/>
          </p:nvPr>
        </p:nvSpPr>
        <p:spPr>
          <a:xfrm>
            <a:off x="10363200" y="91441"/>
            <a:ext cx="4023360" cy="346710"/>
          </a:xfrm>
          <a:prstGeom prst="rect">
            <a:avLst/>
          </a:prstGeom>
        </p:spPr>
        <p:txBody>
          <a:bodyPr lIns="130622" tIns="65311" rIns="130622" bIns="65311"/>
          <a:lstStyle>
            <a:lvl1pPr>
              <a:defRPr/>
            </a:lvl1pPr>
          </a:lstStyle>
          <a:p>
            <a:pPr>
              <a:defRPr/>
            </a:pPr>
            <a:fld id="{0ACEDFBD-7868-46E3-8DE8-75E2F58958CE}" type="datetimeFigureOut">
              <a:rPr lang="en-US"/>
              <a:pPr>
                <a:defRPr/>
              </a:pPr>
              <a:t>4/21/2026</a:t>
            </a:fld>
            <a:endParaRPr lang="en-US" dirty="0"/>
          </a:p>
        </p:txBody>
      </p:sp>
      <p:sp>
        <p:nvSpPr>
          <p:cNvPr id="5" name="Footer Placeholder 18"/>
          <p:cNvSpPr>
            <a:spLocks noGrp="1"/>
          </p:cNvSpPr>
          <p:nvPr>
            <p:ph type="ftr" sz="quarter" idx="11"/>
          </p:nvPr>
        </p:nvSpPr>
        <p:spPr>
          <a:xfrm>
            <a:off x="5730240" y="91441"/>
            <a:ext cx="4632960" cy="346710"/>
          </a:xfrm>
          <a:prstGeom prst="rect">
            <a:avLst/>
          </a:prstGeom>
        </p:spPr>
        <p:txBody>
          <a:bodyPr lIns="130622" tIns="65311" rIns="130622" bIns="65311"/>
          <a:lstStyle>
            <a:lvl1pPr>
              <a:defRPr/>
            </a:lvl1pPr>
          </a:lstStyle>
          <a:p>
            <a:pPr>
              <a:defRPr/>
            </a:pPr>
            <a:endParaRPr lang="en-US"/>
          </a:p>
        </p:txBody>
      </p:sp>
      <p:sp>
        <p:nvSpPr>
          <p:cNvPr id="6" name="Slide Number Placeholder 15"/>
          <p:cNvSpPr>
            <a:spLocks noGrp="1"/>
          </p:cNvSpPr>
          <p:nvPr>
            <p:ph type="sldNum" sz="quarter" idx="12"/>
          </p:nvPr>
        </p:nvSpPr>
        <p:spPr>
          <a:xfrm>
            <a:off x="13167361" y="7768590"/>
            <a:ext cx="1214120" cy="297180"/>
          </a:xfrm>
          <a:prstGeom prst="rect">
            <a:avLst/>
          </a:prstGeom>
        </p:spPr>
        <p:txBody>
          <a:bodyPr lIns="130622" tIns="65311" rIns="130622" bIns="65311"/>
          <a:lstStyle>
            <a:lvl1pPr>
              <a:defRPr/>
            </a:lvl1pPr>
          </a:lstStyle>
          <a:p>
            <a:pPr>
              <a:defRPr/>
            </a:pPr>
            <a:fld id="{8E263215-19B9-4D9C-8F12-980F0FACEAC2}"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3.png"/><Relationship Id="rId7" Type="http://schemas.openxmlformats.org/officeDocument/2006/relationships/image" Target="../media/image20.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 Id="rId9"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881432"/>
            <a:ext cx="5231844" cy="620078"/>
          </a:xfrm>
          <a:prstGeom prst="rect">
            <a:avLst/>
          </a:prstGeom>
          <a:noFill/>
          <a:ln/>
        </p:spPr>
        <p:txBody>
          <a:bodyPr wrap="none" lIns="0" tIns="0" rIns="0" bIns="0" rtlCol="0" anchor="t"/>
          <a:lstStyle/>
          <a:p>
            <a:pPr marL="0" indent="0" algn="l">
              <a:lnSpc>
                <a:spcPts val="4850"/>
              </a:lnSpc>
              <a:buNone/>
            </a:pPr>
            <a:r>
              <a:rPr lang="en-US" sz="3900" dirty="0">
                <a:solidFill>
                  <a:srgbClr val="1B1B27"/>
                </a:solidFill>
                <a:latin typeface="Impact" panose="020B0806030902050204" pitchFamily="34" charset="0"/>
                <a:ea typeface="Raleway" pitchFamily="34" charset="-122"/>
                <a:cs typeface="Raleway" pitchFamily="34" charset="-120"/>
              </a:rPr>
              <a:t>Strategic Management</a:t>
            </a:r>
            <a:endParaRPr lang="en-US" sz="3900" dirty="0"/>
          </a:p>
        </p:txBody>
      </p:sp>
      <p:sp>
        <p:nvSpPr>
          <p:cNvPr id="4" name="Text 1"/>
          <p:cNvSpPr/>
          <p:nvPr/>
        </p:nvSpPr>
        <p:spPr>
          <a:xfrm>
            <a:off x="793790" y="3799165"/>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A comprehensive course on formulating, implementing, and evaluating strategies that drive organizational success. Designed for business students and early-career managers ready to think like strategists.</a:t>
            </a:r>
            <a:endParaRPr lang="en-US" sz="1550" dirty="0"/>
          </a:p>
        </p:txBody>
      </p:sp>
      <p:sp>
        <p:nvSpPr>
          <p:cNvPr id="5" name="Shape 2"/>
          <p:cNvSpPr/>
          <p:nvPr/>
        </p:nvSpPr>
        <p:spPr>
          <a:xfrm>
            <a:off x="793790" y="4975027"/>
            <a:ext cx="1999417" cy="373142"/>
          </a:xfrm>
          <a:prstGeom prst="roundRect">
            <a:avLst>
              <a:gd name="adj" fmla="val 17872"/>
            </a:avLst>
          </a:prstGeom>
          <a:solidFill>
            <a:srgbClr val="E1E1EA"/>
          </a:solidFill>
          <a:ln/>
        </p:spPr>
      </p:sp>
      <p:sp>
        <p:nvSpPr>
          <p:cNvPr id="6" name="Text 3"/>
          <p:cNvSpPr/>
          <p:nvPr/>
        </p:nvSpPr>
        <p:spPr>
          <a:xfrm>
            <a:off x="912852" y="5034558"/>
            <a:ext cx="1761292" cy="254079"/>
          </a:xfrm>
          <a:prstGeom prst="rect">
            <a:avLst/>
          </a:prstGeom>
          <a:noFill/>
          <a:ln/>
        </p:spPr>
        <p:txBody>
          <a:bodyPr wrap="non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COURSE INTRODUCTION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Shape 0"/>
          <p:cNvSpPr/>
          <p:nvPr/>
        </p:nvSpPr>
        <p:spPr>
          <a:xfrm>
            <a:off x="793790" y="627459"/>
            <a:ext cx="1578054" cy="363617"/>
          </a:xfrm>
          <a:prstGeom prst="roundRect">
            <a:avLst>
              <a:gd name="adj" fmla="val 17423"/>
            </a:avLst>
          </a:prstGeom>
          <a:noFill/>
          <a:ln w="7620">
            <a:solidFill>
              <a:srgbClr val="1B1B27"/>
            </a:solidFill>
            <a:prstDash val="solid"/>
          </a:ln>
        </p:spPr>
      </p:sp>
      <p:sp>
        <p:nvSpPr>
          <p:cNvPr id="4" name="Text 1"/>
          <p:cNvSpPr/>
          <p:nvPr/>
        </p:nvSpPr>
        <p:spPr>
          <a:xfrm>
            <a:off x="914519" y="691634"/>
            <a:ext cx="1336596" cy="235268"/>
          </a:xfrm>
          <a:prstGeom prst="rect">
            <a:avLst/>
          </a:prstGeom>
          <a:noFill/>
          <a:ln/>
        </p:spPr>
        <p:txBody>
          <a:bodyPr wrap="none" lIns="0" tIns="0" rIns="0" bIns="0" rtlCol="0" anchor="t"/>
          <a:lstStyle/>
          <a:p>
            <a:pPr marL="0" indent="0" algn="l">
              <a:lnSpc>
                <a:spcPts val="1850"/>
              </a:lnSpc>
              <a:buNone/>
            </a:pPr>
            <a:r>
              <a:rPr lang="en-US" sz="1150" dirty="0">
                <a:solidFill>
                  <a:srgbClr val="1B1B27"/>
                </a:solidFill>
                <a:latin typeface="Roboto" pitchFamily="34" charset="0"/>
                <a:ea typeface="Roboto" pitchFamily="34" charset="-122"/>
                <a:cs typeface="Roboto" pitchFamily="34" charset="-120"/>
              </a:rPr>
              <a:t>COURSE OVERVIEW</a:t>
            </a:r>
            <a:endParaRPr lang="en-US" sz="1150" dirty="0"/>
          </a:p>
        </p:txBody>
      </p:sp>
      <p:sp>
        <p:nvSpPr>
          <p:cNvPr id="5" name="Text 2"/>
          <p:cNvSpPr/>
          <p:nvPr/>
        </p:nvSpPr>
        <p:spPr>
          <a:xfrm>
            <a:off x="793790" y="1062633"/>
            <a:ext cx="5339239" cy="589121"/>
          </a:xfrm>
          <a:prstGeom prst="rect">
            <a:avLst/>
          </a:prstGeom>
          <a:noFill/>
          <a:ln/>
        </p:spPr>
        <p:txBody>
          <a:bodyPr wrap="none" lIns="0" tIns="0" rIns="0" bIns="0" rtlCol="0" anchor="t"/>
          <a:lstStyle/>
          <a:p>
            <a:pPr marL="0" indent="0" algn="l">
              <a:lnSpc>
                <a:spcPts val="4600"/>
              </a:lnSpc>
              <a:buNone/>
            </a:pPr>
            <a:r>
              <a:rPr lang="en-US" sz="3700" dirty="0">
                <a:solidFill>
                  <a:srgbClr val="1B1B27"/>
                </a:solidFill>
                <a:latin typeface="Impact" panose="020B0806030902050204" pitchFamily="34" charset="0"/>
                <a:ea typeface="Raleway" pitchFamily="34" charset="-122"/>
                <a:cs typeface="Raleway" pitchFamily="34" charset="-120"/>
              </a:rPr>
              <a:t>Objectives of the Course</a:t>
            </a:r>
            <a:endParaRPr lang="en-US" sz="3700" dirty="0"/>
          </a:p>
        </p:txBody>
      </p:sp>
      <p:sp>
        <p:nvSpPr>
          <p:cNvPr id="6" name="Text 3"/>
          <p:cNvSpPr/>
          <p:nvPr/>
        </p:nvSpPr>
        <p:spPr>
          <a:xfrm>
            <a:off x="793790" y="1920359"/>
            <a:ext cx="7556421" cy="588407"/>
          </a:xfrm>
          <a:prstGeom prst="rect">
            <a:avLst/>
          </a:prstGeom>
          <a:noFill/>
          <a:ln/>
        </p:spPr>
        <p:txBody>
          <a:bodyPr wrap="square" lIns="0" tIns="0" rIns="0" bIns="0" rtlCol="0" anchor="t"/>
          <a:lstStyle/>
          <a:p>
            <a:pPr marL="0" indent="0" algn="l">
              <a:lnSpc>
                <a:spcPts val="2300"/>
              </a:lnSpc>
              <a:buNone/>
            </a:pPr>
            <a:r>
              <a:rPr lang="en-US" sz="1450" dirty="0">
                <a:solidFill>
                  <a:srgbClr val="3C3939"/>
                </a:solidFill>
                <a:latin typeface="Roboto" pitchFamily="34" charset="0"/>
                <a:ea typeface="Roboto" pitchFamily="34" charset="-122"/>
                <a:cs typeface="Roboto" pitchFamily="34" charset="-120"/>
              </a:rPr>
              <a:t>This course is designed to build strategic thinking capability — from understanding foundational concepts to applying them in real-world business scenarios.</a:t>
            </a:r>
            <a:endParaRPr lang="en-US" sz="1450" dirty="0"/>
          </a:p>
        </p:txBody>
      </p:sp>
      <p:sp>
        <p:nvSpPr>
          <p:cNvPr id="7" name="Shape 4"/>
          <p:cNvSpPr/>
          <p:nvPr/>
        </p:nvSpPr>
        <p:spPr>
          <a:xfrm>
            <a:off x="793790" y="2710220"/>
            <a:ext cx="7556421" cy="1413153"/>
          </a:xfrm>
          <a:prstGeom prst="roundRect">
            <a:avLst>
              <a:gd name="adj" fmla="val 5604"/>
            </a:avLst>
          </a:prstGeom>
          <a:solidFill>
            <a:srgbClr val="FFFFFF">
              <a:alpha val="95000"/>
            </a:srgbClr>
          </a:solidFill>
          <a:ln w="22860">
            <a:solidFill>
              <a:srgbClr val="C7C7D0"/>
            </a:solidFill>
            <a:prstDash val="solid"/>
          </a:ln>
        </p:spPr>
      </p:sp>
      <p:sp>
        <p:nvSpPr>
          <p:cNvPr id="8" name="Shape 5"/>
          <p:cNvSpPr/>
          <p:nvPr/>
        </p:nvSpPr>
        <p:spPr>
          <a:xfrm>
            <a:off x="816650" y="2733080"/>
            <a:ext cx="754142" cy="1367433"/>
          </a:xfrm>
          <a:prstGeom prst="roundRect">
            <a:avLst>
              <a:gd name="adj" fmla="val 6863"/>
            </a:avLst>
          </a:prstGeom>
          <a:solidFill>
            <a:srgbClr val="E1E1EA"/>
          </a:solidFill>
          <a:ln/>
        </p:spPr>
      </p:sp>
      <p:pic>
        <p:nvPicPr>
          <p:cNvPr id="9"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048464" y="3275409"/>
            <a:ext cx="282773" cy="282773"/>
          </a:xfrm>
          <a:prstGeom prst="rect">
            <a:avLst/>
          </a:prstGeom>
        </p:spPr>
      </p:pic>
      <p:sp>
        <p:nvSpPr>
          <p:cNvPr id="10" name="Text 6"/>
          <p:cNvSpPr/>
          <p:nvPr/>
        </p:nvSpPr>
        <p:spPr>
          <a:xfrm>
            <a:off x="1749862" y="2921556"/>
            <a:ext cx="2927033" cy="294680"/>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Impact" panose="020B0806030902050204" pitchFamily="34" charset="0"/>
                <a:ea typeface="Raleway" pitchFamily="34" charset="-122"/>
                <a:cs typeface="Raleway" pitchFamily="34" charset="-120"/>
              </a:rPr>
              <a:t>Understand with Examples</a:t>
            </a:r>
            <a:endParaRPr lang="en-US" sz="1850" dirty="0"/>
          </a:p>
        </p:txBody>
      </p:sp>
      <p:sp>
        <p:nvSpPr>
          <p:cNvPr id="11" name="Text 7"/>
          <p:cNvSpPr/>
          <p:nvPr/>
        </p:nvSpPr>
        <p:spPr>
          <a:xfrm>
            <a:off x="1749862" y="3323630"/>
            <a:ext cx="6389013" cy="588407"/>
          </a:xfrm>
          <a:prstGeom prst="rect">
            <a:avLst/>
          </a:prstGeom>
          <a:noFill/>
          <a:ln/>
        </p:spPr>
        <p:txBody>
          <a:bodyPr wrap="square" lIns="0" tIns="0" rIns="0" bIns="0" rtlCol="0" anchor="t"/>
          <a:lstStyle/>
          <a:p>
            <a:pPr marL="0" indent="0" algn="l">
              <a:lnSpc>
                <a:spcPts val="2300"/>
              </a:lnSpc>
              <a:buNone/>
            </a:pPr>
            <a:r>
              <a:rPr lang="en-US" sz="1450" dirty="0">
                <a:solidFill>
                  <a:srgbClr val="3C3939"/>
                </a:solidFill>
                <a:latin typeface="Roboto" pitchFamily="34" charset="0"/>
                <a:ea typeface="Roboto" pitchFamily="34" charset="-122"/>
                <a:cs typeface="Roboto" pitchFamily="34" charset="-120"/>
              </a:rPr>
              <a:t>Grasp key strategic management concepts through the lens of relevant Indian and global companies such as Reliance, Tata, Apple, and Amazon.</a:t>
            </a:r>
            <a:endParaRPr lang="en-US" sz="1450" dirty="0"/>
          </a:p>
        </p:txBody>
      </p:sp>
      <p:sp>
        <p:nvSpPr>
          <p:cNvPr id="12" name="Shape 8"/>
          <p:cNvSpPr/>
          <p:nvPr/>
        </p:nvSpPr>
        <p:spPr>
          <a:xfrm>
            <a:off x="793790" y="4302443"/>
            <a:ext cx="7556421" cy="1707356"/>
          </a:xfrm>
          <a:prstGeom prst="roundRect">
            <a:avLst>
              <a:gd name="adj" fmla="val 4638"/>
            </a:avLst>
          </a:prstGeom>
          <a:solidFill>
            <a:srgbClr val="FFFFFF">
              <a:alpha val="95000"/>
            </a:srgbClr>
          </a:solidFill>
          <a:ln w="22860">
            <a:solidFill>
              <a:srgbClr val="C7C7D0"/>
            </a:solidFill>
            <a:prstDash val="solid"/>
          </a:ln>
        </p:spPr>
      </p:sp>
      <p:sp>
        <p:nvSpPr>
          <p:cNvPr id="13" name="Shape 9"/>
          <p:cNvSpPr/>
          <p:nvPr/>
        </p:nvSpPr>
        <p:spPr>
          <a:xfrm>
            <a:off x="816650" y="4325303"/>
            <a:ext cx="754142" cy="1661636"/>
          </a:xfrm>
          <a:prstGeom prst="roundRect">
            <a:avLst>
              <a:gd name="adj" fmla="val 6863"/>
            </a:avLst>
          </a:prstGeom>
          <a:solidFill>
            <a:srgbClr val="E1E1EA"/>
          </a:solidFill>
          <a:ln/>
        </p:spPr>
      </p:sp>
      <p:pic>
        <p:nvPicPr>
          <p:cNvPr id="14" name="Image 2" descr="preencoded.png"/>
          <p:cNvPicPr>
            <a:picLocks noChangeAspect="1"/>
          </p:cNvPicPr>
          <p:nvPr/>
        </p:nvPicPr>
        <p:blipFill>
          <a:blip r:embed="rId4">
            <a:extLst>
              <a:ext uri="{96DAC541-7B7A-43D3-8B79-37D633B846F1}">
                <asvg:svgBlip xmlns:asvg="http://schemas.microsoft.com/office/drawing/2016/SVG/main" xmlns="" r:embed="rId6"/>
              </a:ext>
            </a:extLst>
          </a:blip>
          <a:stretch>
            <a:fillRect/>
          </a:stretch>
        </p:blipFill>
        <p:spPr>
          <a:xfrm>
            <a:off x="1048464" y="5014674"/>
            <a:ext cx="282773" cy="282773"/>
          </a:xfrm>
          <a:prstGeom prst="rect">
            <a:avLst/>
          </a:prstGeom>
        </p:spPr>
      </p:pic>
      <p:sp>
        <p:nvSpPr>
          <p:cNvPr id="15" name="Text 10"/>
          <p:cNvSpPr/>
          <p:nvPr/>
        </p:nvSpPr>
        <p:spPr>
          <a:xfrm>
            <a:off x="1749862" y="4513778"/>
            <a:ext cx="3427928" cy="294680"/>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Impact" panose="020B0806030902050204" pitchFamily="34" charset="0"/>
                <a:ea typeface="Raleway" pitchFamily="34" charset="-122"/>
                <a:cs typeface="Raleway" pitchFamily="34" charset="-120"/>
              </a:rPr>
              <a:t>Formulate &amp; Execute Strategies</a:t>
            </a:r>
            <a:endParaRPr lang="en-US" sz="1850" dirty="0"/>
          </a:p>
        </p:txBody>
      </p:sp>
      <p:sp>
        <p:nvSpPr>
          <p:cNvPr id="16" name="Text 11"/>
          <p:cNvSpPr/>
          <p:nvPr/>
        </p:nvSpPr>
        <p:spPr>
          <a:xfrm>
            <a:off x="1749862" y="4915853"/>
            <a:ext cx="6389013" cy="882610"/>
          </a:xfrm>
          <a:prstGeom prst="rect">
            <a:avLst/>
          </a:prstGeom>
          <a:noFill/>
          <a:ln/>
        </p:spPr>
        <p:txBody>
          <a:bodyPr wrap="square" lIns="0" tIns="0" rIns="0" bIns="0" rtlCol="0" anchor="t"/>
          <a:lstStyle/>
          <a:p>
            <a:pPr marL="0" indent="0" algn="l">
              <a:lnSpc>
                <a:spcPts val="2300"/>
              </a:lnSpc>
              <a:buNone/>
            </a:pPr>
            <a:r>
              <a:rPr lang="en-US" sz="1450" dirty="0">
                <a:solidFill>
                  <a:srgbClr val="3C3939"/>
                </a:solidFill>
                <a:latin typeface="Roboto" pitchFamily="34" charset="0"/>
                <a:ea typeface="Roboto" pitchFamily="34" charset="-122"/>
                <a:cs typeface="Roboto" pitchFamily="34" charset="-120"/>
              </a:rPr>
              <a:t>Focus on the complete strategic cycle — from crafting competitive strategies to implementing and executing them effectively in the marketplace.</a:t>
            </a:r>
            <a:endParaRPr lang="en-US" sz="1450" dirty="0"/>
          </a:p>
        </p:txBody>
      </p:sp>
      <p:sp>
        <p:nvSpPr>
          <p:cNvPr id="17" name="Shape 12"/>
          <p:cNvSpPr/>
          <p:nvPr/>
        </p:nvSpPr>
        <p:spPr>
          <a:xfrm>
            <a:off x="793790" y="6188869"/>
            <a:ext cx="7556421" cy="1413153"/>
          </a:xfrm>
          <a:prstGeom prst="roundRect">
            <a:avLst>
              <a:gd name="adj" fmla="val 5604"/>
            </a:avLst>
          </a:prstGeom>
          <a:solidFill>
            <a:srgbClr val="FFFFFF">
              <a:alpha val="95000"/>
            </a:srgbClr>
          </a:solidFill>
          <a:ln w="22860">
            <a:solidFill>
              <a:srgbClr val="C7C7D0"/>
            </a:solidFill>
            <a:prstDash val="solid"/>
          </a:ln>
        </p:spPr>
      </p:sp>
      <p:sp>
        <p:nvSpPr>
          <p:cNvPr id="18" name="Shape 13"/>
          <p:cNvSpPr/>
          <p:nvPr/>
        </p:nvSpPr>
        <p:spPr>
          <a:xfrm>
            <a:off x="816650" y="6211729"/>
            <a:ext cx="754142" cy="1367433"/>
          </a:xfrm>
          <a:prstGeom prst="roundRect">
            <a:avLst>
              <a:gd name="adj" fmla="val 6863"/>
            </a:avLst>
          </a:prstGeom>
          <a:solidFill>
            <a:srgbClr val="E1E1EA"/>
          </a:solidFill>
          <a:ln/>
        </p:spPr>
      </p:sp>
      <p:pic>
        <p:nvPicPr>
          <p:cNvPr id="19" name="Image 3" descr="preencoded.png"/>
          <p:cNvPicPr>
            <a:picLocks noChangeAspect="1"/>
          </p:cNvPicPr>
          <p:nvPr/>
        </p:nvPicPr>
        <p:blipFill>
          <a:blip r:embed="rId4">
            <a:extLst>
              <a:ext uri="{96DAC541-7B7A-43D3-8B79-37D633B846F1}">
                <asvg:svgBlip xmlns:asvg="http://schemas.microsoft.com/office/drawing/2016/SVG/main" xmlns="" r:embed="rId7"/>
              </a:ext>
            </a:extLst>
          </a:blip>
          <a:stretch>
            <a:fillRect/>
          </a:stretch>
        </p:blipFill>
        <p:spPr>
          <a:xfrm>
            <a:off x="1048464" y="6754058"/>
            <a:ext cx="282773" cy="282773"/>
          </a:xfrm>
          <a:prstGeom prst="rect">
            <a:avLst/>
          </a:prstGeom>
        </p:spPr>
      </p:pic>
      <p:sp>
        <p:nvSpPr>
          <p:cNvPr id="20" name="Text 14"/>
          <p:cNvSpPr/>
          <p:nvPr/>
        </p:nvSpPr>
        <p:spPr>
          <a:xfrm>
            <a:off x="1749862" y="6400205"/>
            <a:ext cx="2563416" cy="294680"/>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Impact" panose="020B0806030902050204" pitchFamily="34" charset="0"/>
                <a:ea typeface="Raleway" pitchFamily="34" charset="-122"/>
                <a:cs typeface="Raleway" pitchFamily="34" charset="-120"/>
              </a:rPr>
              <a:t>Case Study Discussions</a:t>
            </a:r>
            <a:endParaRPr lang="en-US" sz="1850" dirty="0"/>
          </a:p>
        </p:txBody>
      </p:sp>
      <p:sp>
        <p:nvSpPr>
          <p:cNvPr id="21" name="Text 15"/>
          <p:cNvSpPr/>
          <p:nvPr/>
        </p:nvSpPr>
        <p:spPr>
          <a:xfrm>
            <a:off x="1749862" y="6802279"/>
            <a:ext cx="6389013" cy="588407"/>
          </a:xfrm>
          <a:prstGeom prst="rect">
            <a:avLst/>
          </a:prstGeom>
          <a:noFill/>
          <a:ln/>
        </p:spPr>
        <p:txBody>
          <a:bodyPr wrap="square" lIns="0" tIns="0" rIns="0" bIns="0" rtlCol="0" anchor="t"/>
          <a:lstStyle/>
          <a:p>
            <a:pPr marL="0" indent="0" algn="l">
              <a:lnSpc>
                <a:spcPts val="2300"/>
              </a:lnSpc>
              <a:buNone/>
            </a:pPr>
            <a:r>
              <a:rPr lang="en-US" sz="1450" dirty="0">
                <a:solidFill>
                  <a:srgbClr val="3C3939"/>
                </a:solidFill>
                <a:latin typeface="Roboto" pitchFamily="34" charset="0"/>
                <a:ea typeface="Roboto" pitchFamily="34" charset="-122"/>
                <a:cs typeface="Roboto" pitchFamily="34" charset="-120"/>
              </a:rPr>
              <a:t>Analyse real-world case studies that bring strategy to life, sharpening decision-making and critical thinking skills essential for managers.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93671" y="920116"/>
            <a:ext cx="1317069" cy="388382"/>
          </a:xfrm>
          <a:prstGeom prst="roundRect">
            <a:avLst>
              <a:gd name="adj" fmla="val 17171"/>
            </a:avLst>
          </a:prstGeom>
          <a:noFill/>
          <a:ln w="7620">
            <a:solidFill>
              <a:srgbClr val="1B1B27"/>
            </a:solidFill>
            <a:prstDash val="solid"/>
          </a:ln>
        </p:spPr>
      </p:sp>
      <p:sp>
        <p:nvSpPr>
          <p:cNvPr id="3" name="Text 1"/>
          <p:cNvSpPr/>
          <p:nvPr/>
        </p:nvSpPr>
        <p:spPr>
          <a:xfrm>
            <a:off x="920353" y="987267"/>
            <a:ext cx="1063704" cy="254079"/>
          </a:xfrm>
          <a:prstGeom prst="rect">
            <a:avLst/>
          </a:prstGeom>
          <a:noFill/>
          <a:ln/>
        </p:spPr>
        <p:txBody>
          <a:bodyPr wrap="none" lIns="0" tIns="0" rIns="0" bIns="0" rtlCol="0" anchor="t"/>
          <a:lstStyle/>
          <a:p>
            <a:pPr marL="0" indent="0" algn="l">
              <a:lnSpc>
                <a:spcPts val="2000"/>
              </a:lnSpc>
              <a:buNone/>
            </a:pPr>
            <a:r>
              <a:rPr lang="en-US" sz="1250" dirty="0">
                <a:solidFill>
                  <a:srgbClr val="1B1B27"/>
                </a:solidFill>
                <a:latin typeface="Roboto" pitchFamily="34" charset="0"/>
                <a:ea typeface="Roboto" pitchFamily="34" charset="-122"/>
                <a:cs typeface="Roboto" pitchFamily="34" charset="-120"/>
              </a:rPr>
              <a:t>FOUNDATIONS</a:t>
            </a:r>
            <a:endParaRPr lang="en-US" sz="1250" dirty="0"/>
          </a:p>
        </p:txBody>
      </p:sp>
      <p:sp>
        <p:nvSpPr>
          <p:cNvPr id="4" name="Text 2"/>
          <p:cNvSpPr/>
          <p:nvPr/>
        </p:nvSpPr>
        <p:spPr>
          <a:xfrm>
            <a:off x="793671" y="1387793"/>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1B1B27"/>
                </a:solidFill>
                <a:latin typeface="Impact" panose="020B0806030902050204" pitchFamily="34" charset="0"/>
                <a:ea typeface="Raleway" pitchFamily="34" charset="-122"/>
                <a:cs typeface="Raleway" pitchFamily="34" charset="-120"/>
              </a:rPr>
              <a:t>What Is a Strategy?</a:t>
            </a:r>
            <a:endParaRPr lang="en-US" sz="3900" dirty="0"/>
          </a:p>
        </p:txBody>
      </p:sp>
      <p:sp>
        <p:nvSpPr>
          <p:cNvPr id="5" name="Text 3"/>
          <p:cNvSpPr/>
          <p:nvPr/>
        </p:nvSpPr>
        <p:spPr>
          <a:xfrm>
            <a:off x="793671" y="2305527"/>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The word </a:t>
            </a:r>
            <a:r>
              <a:rPr lang="en-US" sz="1550" b="1" dirty="0">
                <a:solidFill>
                  <a:srgbClr val="3C3939"/>
                </a:solidFill>
                <a:latin typeface="Roboto" pitchFamily="34" charset="0"/>
                <a:ea typeface="Roboto" pitchFamily="34" charset="-122"/>
                <a:cs typeface="Roboto" pitchFamily="34" charset="-120"/>
              </a:rPr>
              <a:t>strategy</a:t>
            </a:r>
            <a:r>
              <a:rPr lang="en-US" sz="1550" dirty="0">
                <a:solidFill>
                  <a:srgbClr val="3C3939"/>
                </a:solidFill>
                <a:latin typeface="Roboto" pitchFamily="34" charset="0"/>
                <a:ea typeface="Roboto" pitchFamily="34" charset="-122"/>
                <a:cs typeface="Roboto" pitchFamily="34" charset="-120"/>
              </a:rPr>
              <a:t> originates from the Greek word </a:t>
            </a:r>
            <a:r>
              <a:rPr lang="en-US" sz="1550" i="1" dirty="0">
                <a:solidFill>
                  <a:srgbClr val="3C3939"/>
                </a:solidFill>
                <a:latin typeface="Roboto" pitchFamily="34" charset="0"/>
                <a:ea typeface="Roboto" pitchFamily="34" charset="-122"/>
                <a:cs typeface="Roboto" pitchFamily="34" charset="-120"/>
              </a:rPr>
              <a:t>strategos</a:t>
            </a:r>
            <a:r>
              <a:rPr lang="en-US" sz="1550" dirty="0">
                <a:solidFill>
                  <a:srgbClr val="3C3939"/>
                </a:solidFill>
                <a:latin typeface="Roboto" pitchFamily="34" charset="0"/>
                <a:ea typeface="Roboto" pitchFamily="34" charset="-122"/>
                <a:cs typeface="Roboto" pitchFamily="34" charset="-120"/>
              </a:rPr>
              <a:t>, meaning "the art of the general." In a business context, strategy is a deliberate plan of action designed to achieve a long-term, overall goal — navigating competition, resources, and market forces to reach a desired destination.</a:t>
            </a:r>
            <a:endParaRPr lang="en-US" sz="1550" dirty="0"/>
          </a:p>
        </p:txBody>
      </p:sp>
      <p:sp>
        <p:nvSpPr>
          <p:cNvPr id="6" name="Shape 4"/>
          <p:cNvSpPr/>
          <p:nvPr/>
        </p:nvSpPr>
        <p:spPr>
          <a:xfrm>
            <a:off x="793671" y="3163848"/>
            <a:ext cx="4215289" cy="2428875"/>
          </a:xfrm>
          <a:prstGeom prst="roundRect">
            <a:avLst>
              <a:gd name="adj" fmla="val 3432"/>
            </a:avLst>
          </a:prstGeom>
          <a:solidFill>
            <a:srgbClr val="E1E1EA"/>
          </a:solidFill>
          <a:ln w="7620">
            <a:solidFill>
              <a:srgbClr val="C7C7D0"/>
            </a:solidFill>
            <a:prstDash val="solid"/>
          </a:ln>
        </p:spPr>
      </p:sp>
      <p:sp>
        <p:nvSpPr>
          <p:cNvPr id="7" name="Text 5"/>
          <p:cNvSpPr/>
          <p:nvPr/>
        </p:nvSpPr>
        <p:spPr>
          <a:xfrm>
            <a:off x="999649" y="336982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A Plan of Action</a:t>
            </a:r>
            <a:endParaRPr lang="en-US" sz="1950" dirty="0"/>
          </a:p>
        </p:txBody>
      </p:sp>
      <p:sp>
        <p:nvSpPr>
          <p:cNvPr id="8" name="Text 6"/>
          <p:cNvSpPr/>
          <p:nvPr/>
        </p:nvSpPr>
        <p:spPr>
          <a:xfrm>
            <a:off x="999649" y="3799047"/>
            <a:ext cx="3803333" cy="127015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Strategy is a coordinated set of decisions and moves that guide the organization toward its long-term goals, covering both what to do and what not to do.</a:t>
            </a:r>
            <a:endParaRPr lang="en-US" sz="1550" dirty="0"/>
          </a:p>
        </p:txBody>
      </p:sp>
      <p:sp>
        <p:nvSpPr>
          <p:cNvPr id="9" name="Shape 7"/>
          <p:cNvSpPr/>
          <p:nvPr/>
        </p:nvSpPr>
        <p:spPr>
          <a:xfrm>
            <a:off x="5207318" y="3163848"/>
            <a:ext cx="4215408" cy="2428875"/>
          </a:xfrm>
          <a:prstGeom prst="roundRect">
            <a:avLst>
              <a:gd name="adj" fmla="val 3432"/>
            </a:avLst>
          </a:prstGeom>
          <a:solidFill>
            <a:srgbClr val="E1E1EA"/>
          </a:solidFill>
          <a:ln w="7620">
            <a:solidFill>
              <a:srgbClr val="C7C7D0"/>
            </a:solidFill>
            <a:prstDash val="solid"/>
          </a:ln>
        </p:spPr>
      </p:sp>
      <p:sp>
        <p:nvSpPr>
          <p:cNvPr id="10" name="Text 8"/>
          <p:cNvSpPr/>
          <p:nvPr/>
        </p:nvSpPr>
        <p:spPr>
          <a:xfrm>
            <a:off x="5413296" y="336982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Applied in Healthcare</a:t>
            </a:r>
            <a:endParaRPr lang="en-US" sz="1950" dirty="0"/>
          </a:p>
        </p:txBody>
      </p:sp>
      <p:sp>
        <p:nvSpPr>
          <p:cNvPr id="11" name="Text 9"/>
          <p:cNvSpPr/>
          <p:nvPr/>
        </p:nvSpPr>
        <p:spPr>
          <a:xfrm>
            <a:off x="5413296" y="3799047"/>
            <a:ext cx="3803452" cy="158769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Pharmaceutical companies propose new treatment strategies — combining multiple medications to improve patient outcomes. Strategy here is about resource allocation and prioritization.</a:t>
            </a:r>
            <a:endParaRPr lang="en-US" sz="1550" dirty="0"/>
          </a:p>
        </p:txBody>
      </p:sp>
      <p:sp>
        <p:nvSpPr>
          <p:cNvPr id="12" name="Shape 10"/>
          <p:cNvSpPr/>
          <p:nvPr/>
        </p:nvSpPr>
        <p:spPr>
          <a:xfrm>
            <a:off x="9621084" y="3163848"/>
            <a:ext cx="4215289" cy="2428875"/>
          </a:xfrm>
          <a:prstGeom prst="roundRect">
            <a:avLst>
              <a:gd name="adj" fmla="val 3432"/>
            </a:avLst>
          </a:prstGeom>
          <a:solidFill>
            <a:srgbClr val="E1E1EA"/>
          </a:solidFill>
          <a:ln w="7620">
            <a:solidFill>
              <a:srgbClr val="C7C7D0"/>
            </a:solidFill>
            <a:prstDash val="solid"/>
          </a:ln>
        </p:spPr>
      </p:sp>
      <p:sp>
        <p:nvSpPr>
          <p:cNvPr id="13" name="Text 11"/>
          <p:cNvSpPr/>
          <p:nvPr/>
        </p:nvSpPr>
        <p:spPr>
          <a:xfrm>
            <a:off x="9827062" y="3369827"/>
            <a:ext cx="2645807"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Applied in Government</a:t>
            </a:r>
            <a:endParaRPr lang="en-US" sz="1950" dirty="0"/>
          </a:p>
        </p:txBody>
      </p:sp>
      <p:sp>
        <p:nvSpPr>
          <p:cNvPr id="14" name="Text 12"/>
          <p:cNvSpPr/>
          <p:nvPr/>
        </p:nvSpPr>
        <p:spPr>
          <a:xfrm>
            <a:off x="9827062" y="3799047"/>
            <a:ext cx="3803333" cy="158769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Governments develop innovative strategies to extend medical care access to uninsured populations — balancing policy, funding, and public outreach for systemic impact.</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Shape 0"/>
          <p:cNvSpPr/>
          <p:nvPr/>
        </p:nvSpPr>
        <p:spPr>
          <a:xfrm>
            <a:off x="793790" y="729615"/>
            <a:ext cx="1268373" cy="339566"/>
          </a:xfrm>
          <a:prstGeom prst="roundRect">
            <a:avLst>
              <a:gd name="adj" fmla="val 17675"/>
            </a:avLst>
          </a:prstGeom>
          <a:noFill/>
          <a:ln w="7620">
            <a:solidFill>
              <a:srgbClr val="1B1B27"/>
            </a:solidFill>
            <a:prstDash val="solid"/>
          </a:ln>
        </p:spPr>
      </p:sp>
      <p:sp>
        <p:nvSpPr>
          <p:cNvPr id="4" name="Text 1"/>
          <p:cNvSpPr/>
          <p:nvPr/>
        </p:nvSpPr>
        <p:spPr>
          <a:xfrm>
            <a:off x="908566" y="790813"/>
            <a:ext cx="1038820" cy="217170"/>
          </a:xfrm>
          <a:prstGeom prst="rect">
            <a:avLst/>
          </a:prstGeom>
          <a:noFill/>
          <a:ln/>
        </p:spPr>
        <p:txBody>
          <a:bodyPr wrap="none" lIns="0" tIns="0" rIns="0" bIns="0" rtlCol="0" anchor="t"/>
          <a:lstStyle/>
          <a:p>
            <a:pPr marL="0" indent="0" algn="l">
              <a:lnSpc>
                <a:spcPts val="1700"/>
              </a:lnSpc>
              <a:buNone/>
            </a:pPr>
            <a:r>
              <a:rPr lang="en-US" sz="1100" dirty="0">
                <a:solidFill>
                  <a:srgbClr val="1B1B27"/>
                </a:solidFill>
                <a:latin typeface="Roboto" pitchFamily="34" charset="0"/>
                <a:ea typeface="Roboto" pitchFamily="34" charset="-122"/>
                <a:cs typeface="Roboto" pitchFamily="34" charset="-120"/>
              </a:rPr>
              <a:t>CORE CONCEPT</a:t>
            </a:r>
            <a:endParaRPr lang="en-US" sz="1100" dirty="0"/>
          </a:p>
        </p:txBody>
      </p:sp>
      <p:sp>
        <p:nvSpPr>
          <p:cNvPr id="5" name="Text 2"/>
          <p:cNvSpPr/>
          <p:nvPr/>
        </p:nvSpPr>
        <p:spPr>
          <a:xfrm>
            <a:off x="793790" y="1133475"/>
            <a:ext cx="6591062" cy="558165"/>
          </a:xfrm>
          <a:prstGeom prst="rect">
            <a:avLst/>
          </a:prstGeom>
          <a:noFill/>
          <a:ln/>
        </p:spPr>
        <p:txBody>
          <a:bodyPr wrap="none" lIns="0" tIns="0" rIns="0" bIns="0" rtlCol="0" anchor="t"/>
          <a:lstStyle/>
          <a:p>
            <a:pPr marL="0" indent="0" algn="l">
              <a:lnSpc>
                <a:spcPts val="4350"/>
              </a:lnSpc>
              <a:buNone/>
            </a:pPr>
            <a:r>
              <a:rPr lang="en-US" sz="3500" dirty="0">
                <a:solidFill>
                  <a:srgbClr val="1B1B27"/>
                </a:solidFill>
                <a:latin typeface="Impact" panose="020B0806030902050204" pitchFamily="34" charset="0"/>
                <a:ea typeface="Raleway" pitchFamily="34" charset="-122"/>
                <a:cs typeface="Raleway" pitchFamily="34" charset="-120"/>
              </a:rPr>
              <a:t>What Is Strategic Management?</a:t>
            </a:r>
            <a:endParaRPr lang="en-US" sz="3500" dirty="0"/>
          </a:p>
        </p:txBody>
      </p:sp>
      <p:sp>
        <p:nvSpPr>
          <p:cNvPr id="6" name="Text 3"/>
          <p:cNvSpPr/>
          <p:nvPr/>
        </p:nvSpPr>
        <p:spPr>
          <a:xfrm>
            <a:off x="1061680" y="2113598"/>
            <a:ext cx="7288530" cy="542925"/>
          </a:xfrm>
          <a:prstGeom prst="rect">
            <a:avLst/>
          </a:prstGeom>
          <a:noFill/>
          <a:ln/>
        </p:spPr>
        <p:txBody>
          <a:bodyPr wrap="square" lIns="0" tIns="0" rIns="0" bIns="0" rtlCol="0" anchor="t"/>
          <a:lstStyle/>
          <a:p>
            <a:pPr marL="0" indent="0" algn="l">
              <a:lnSpc>
                <a:spcPts val="2100"/>
              </a:lnSpc>
              <a:buNone/>
            </a:pPr>
            <a:r>
              <a:rPr lang="en-US" sz="1400" dirty="0">
                <a:solidFill>
                  <a:srgbClr val="3C3939"/>
                </a:solidFill>
                <a:latin typeface="Roboto" pitchFamily="34" charset="0"/>
                <a:ea typeface="Roboto" pitchFamily="34" charset="-122"/>
                <a:cs typeface="Roboto" pitchFamily="34" charset="-120"/>
              </a:rPr>
              <a:t>The art and science of formulating, implementing, and evaluating cross-functional decisions that enable an organisation to achieve its objectives.</a:t>
            </a:r>
            <a:endParaRPr lang="en-US" sz="1400" dirty="0"/>
          </a:p>
        </p:txBody>
      </p:sp>
      <p:sp>
        <p:nvSpPr>
          <p:cNvPr id="7" name="Shape 4"/>
          <p:cNvSpPr/>
          <p:nvPr/>
        </p:nvSpPr>
        <p:spPr>
          <a:xfrm>
            <a:off x="793790" y="1932742"/>
            <a:ext cx="22860" cy="904637"/>
          </a:xfrm>
          <a:prstGeom prst="rect">
            <a:avLst/>
          </a:prstGeom>
          <a:solidFill>
            <a:srgbClr val="1B1B27"/>
          </a:solidFill>
          <a:ln/>
        </p:spPr>
      </p:sp>
      <p:sp>
        <p:nvSpPr>
          <p:cNvPr id="8" name="Text 5"/>
          <p:cNvSpPr/>
          <p:nvPr/>
        </p:nvSpPr>
        <p:spPr>
          <a:xfrm>
            <a:off x="793790" y="3018234"/>
            <a:ext cx="7556421" cy="1085850"/>
          </a:xfrm>
          <a:prstGeom prst="rect">
            <a:avLst/>
          </a:prstGeom>
          <a:noFill/>
          <a:ln/>
        </p:spPr>
        <p:txBody>
          <a:bodyPr wrap="square" lIns="0" tIns="0" rIns="0" bIns="0" rtlCol="0" anchor="t"/>
          <a:lstStyle/>
          <a:p>
            <a:pPr marL="0" indent="0" algn="l">
              <a:lnSpc>
                <a:spcPts val="2100"/>
              </a:lnSpc>
              <a:buNone/>
            </a:pPr>
            <a:r>
              <a:rPr lang="en-US" sz="1400" dirty="0">
                <a:solidFill>
                  <a:srgbClr val="3C3939"/>
                </a:solidFill>
                <a:latin typeface="Roboto" pitchFamily="34" charset="0"/>
                <a:ea typeface="Roboto" pitchFamily="34" charset="-122"/>
                <a:cs typeface="Roboto" pitchFamily="34" charset="-120"/>
              </a:rPr>
              <a:t>Strategic management integrates functions across the entire organisation — finance, marketing, operations, HR, and IT — into a unified direction. It is both analytical and creative, requiring managers to simultaneously assess environments, design plans, mobilise resources, and measure outcomes.</a:t>
            </a:r>
            <a:endParaRPr lang="en-US" sz="1400" dirty="0"/>
          </a:p>
        </p:txBody>
      </p:sp>
      <p:pic>
        <p:nvPicPr>
          <p:cNvPr id="9" name="Image 1" descr="preencoded.png"/>
          <p:cNvPicPr>
            <a:picLocks noChangeAspect="1"/>
          </p:cNvPicPr>
          <p:nvPr/>
        </p:nvPicPr>
        <p:blipFill>
          <a:blip r:embed="rId4"/>
          <a:stretch>
            <a:fillRect/>
          </a:stretch>
        </p:blipFill>
        <p:spPr>
          <a:xfrm>
            <a:off x="793790" y="4284940"/>
            <a:ext cx="893088" cy="1071682"/>
          </a:xfrm>
          <a:prstGeom prst="rect">
            <a:avLst/>
          </a:prstGeom>
        </p:spPr>
      </p:pic>
      <p:sp>
        <p:nvSpPr>
          <p:cNvPr id="10" name="Text 6"/>
          <p:cNvSpPr/>
          <p:nvPr/>
        </p:nvSpPr>
        <p:spPr>
          <a:xfrm>
            <a:off x="1847612" y="4463534"/>
            <a:ext cx="2232779" cy="278963"/>
          </a:xfrm>
          <a:prstGeom prst="rect">
            <a:avLst/>
          </a:prstGeom>
          <a:noFill/>
          <a:ln/>
        </p:spPr>
        <p:txBody>
          <a:bodyPr wrap="none" lIns="0" tIns="0" rIns="0" bIns="0" rtlCol="0" anchor="t"/>
          <a:lstStyle/>
          <a:p>
            <a:pPr marL="0" indent="0" algn="l">
              <a:lnSpc>
                <a:spcPts val="2150"/>
              </a:lnSpc>
              <a:buNone/>
            </a:pPr>
            <a:r>
              <a:rPr lang="en-US" sz="1750" dirty="0">
                <a:solidFill>
                  <a:srgbClr val="3C3939"/>
                </a:solidFill>
                <a:latin typeface="Impact" panose="020B0806030902050204" pitchFamily="34" charset="0"/>
                <a:ea typeface="Raleway" pitchFamily="34" charset="-122"/>
                <a:cs typeface="Raleway" pitchFamily="34" charset="-120"/>
              </a:rPr>
              <a:t>Formulate</a:t>
            </a:r>
            <a:endParaRPr lang="en-US" sz="1750" dirty="0"/>
          </a:p>
        </p:txBody>
      </p:sp>
      <p:sp>
        <p:nvSpPr>
          <p:cNvPr id="11" name="Text 7"/>
          <p:cNvSpPr/>
          <p:nvPr/>
        </p:nvSpPr>
        <p:spPr>
          <a:xfrm>
            <a:off x="1847612" y="4838938"/>
            <a:ext cx="6502598" cy="271463"/>
          </a:xfrm>
          <a:prstGeom prst="rect">
            <a:avLst/>
          </a:prstGeom>
          <a:noFill/>
          <a:ln/>
        </p:spPr>
        <p:txBody>
          <a:bodyPr wrap="none" lIns="0" tIns="0" rIns="0" bIns="0" rtlCol="0" anchor="t"/>
          <a:lstStyle/>
          <a:p>
            <a:pPr marL="0" indent="0" algn="l">
              <a:lnSpc>
                <a:spcPts val="2100"/>
              </a:lnSpc>
              <a:buNone/>
            </a:pPr>
            <a:r>
              <a:rPr lang="en-US" sz="1400" dirty="0">
                <a:solidFill>
                  <a:srgbClr val="3C3939"/>
                </a:solidFill>
                <a:latin typeface="Roboto" pitchFamily="34" charset="0"/>
                <a:ea typeface="Roboto" pitchFamily="34" charset="-122"/>
                <a:cs typeface="Roboto" pitchFamily="34" charset="-120"/>
              </a:rPr>
              <a:t>Analyse environments and craft strategy</a:t>
            </a:r>
            <a:endParaRPr lang="en-US" sz="1400" dirty="0"/>
          </a:p>
        </p:txBody>
      </p:sp>
      <p:pic>
        <p:nvPicPr>
          <p:cNvPr id="12" name="Image 2" descr="preencoded.png"/>
          <p:cNvPicPr>
            <a:picLocks noChangeAspect="1"/>
          </p:cNvPicPr>
          <p:nvPr/>
        </p:nvPicPr>
        <p:blipFill>
          <a:blip r:embed="rId5"/>
          <a:stretch>
            <a:fillRect/>
          </a:stretch>
        </p:blipFill>
        <p:spPr>
          <a:xfrm>
            <a:off x="793790" y="5356622"/>
            <a:ext cx="893088" cy="1071682"/>
          </a:xfrm>
          <a:prstGeom prst="rect">
            <a:avLst/>
          </a:prstGeom>
        </p:spPr>
      </p:pic>
      <p:sp>
        <p:nvSpPr>
          <p:cNvPr id="13" name="Text 8"/>
          <p:cNvSpPr/>
          <p:nvPr/>
        </p:nvSpPr>
        <p:spPr>
          <a:xfrm>
            <a:off x="1847612" y="5535216"/>
            <a:ext cx="2232779" cy="278963"/>
          </a:xfrm>
          <a:prstGeom prst="rect">
            <a:avLst/>
          </a:prstGeom>
          <a:noFill/>
          <a:ln/>
        </p:spPr>
        <p:txBody>
          <a:bodyPr wrap="none" lIns="0" tIns="0" rIns="0" bIns="0" rtlCol="0" anchor="t"/>
          <a:lstStyle/>
          <a:p>
            <a:pPr marL="0" indent="0" algn="l">
              <a:lnSpc>
                <a:spcPts val="2150"/>
              </a:lnSpc>
              <a:buNone/>
            </a:pPr>
            <a:r>
              <a:rPr lang="en-US" sz="1750" dirty="0">
                <a:solidFill>
                  <a:srgbClr val="3C3939"/>
                </a:solidFill>
                <a:latin typeface="Impact" panose="020B0806030902050204" pitchFamily="34" charset="0"/>
                <a:ea typeface="Raleway" pitchFamily="34" charset="-122"/>
                <a:cs typeface="Raleway" pitchFamily="34" charset="-120"/>
              </a:rPr>
              <a:t>Implement</a:t>
            </a:r>
            <a:endParaRPr lang="en-US" sz="1750" dirty="0"/>
          </a:p>
        </p:txBody>
      </p:sp>
      <p:sp>
        <p:nvSpPr>
          <p:cNvPr id="14" name="Text 9"/>
          <p:cNvSpPr/>
          <p:nvPr/>
        </p:nvSpPr>
        <p:spPr>
          <a:xfrm>
            <a:off x="1847612" y="5910620"/>
            <a:ext cx="6502598" cy="271463"/>
          </a:xfrm>
          <a:prstGeom prst="rect">
            <a:avLst/>
          </a:prstGeom>
          <a:noFill/>
          <a:ln/>
        </p:spPr>
        <p:txBody>
          <a:bodyPr wrap="none" lIns="0" tIns="0" rIns="0" bIns="0" rtlCol="0" anchor="t"/>
          <a:lstStyle/>
          <a:p>
            <a:pPr marL="0" indent="0" algn="l">
              <a:lnSpc>
                <a:spcPts val="2100"/>
              </a:lnSpc>
              <a:buNone/>
            </a:pPr>
            <a:r>
              <a:rPr lang="en-US" sz="1400" dirty="0">
                <a:solidFill>
                  <a:srgbClr val="3C3939"/>
                </a:solidFill>
                <a:latin typeface="Roboto" pitchFamily="34" charset="0"/>
                <a:ea typeface="Roboto" pitchFamily="34" charset="-122"/>
                <a:cs typeface="Roboto" pitchFamily="34" charset="-120"/>
              </a:rPr>
              <a:t>Mobilise resources and execute plans</a:t>
            </a:r>
            <a:endParaRPr lang="en-US" sz="1400" dirty="0"/>
          </a:p>
        </p:txBody>
      </p:sp>
      <p:pic>
        <p:nvPicPr>
          <p:cNvPr id="15" name="Image 3" descr="preencoded.png"/>
          <p:cNvPicPr>
            <a:picLocks noChangeAspect="1"/>
          </p:cNvPicPr>
          <p:nvPr/>
        </p:nvPicPr>
        <p:blipFill>
          <a:blip r:embed="rId6"/>
          <a:stretch>
            <a:fillRect/>
          </a:stretch>
        </p:blipFill>
        <p:spPr>
          <a:xfrm>
            <a:off x="793790" y="6428303"/>
            <a:ext cx="893088" cy="1071682"/>
          </a:xfrm>
          <a:prstGeom prst="rect">
            <a:avLst/>
          </a:prstGeom>
        </p:spPr>
      </p:pic>
      <p:sp>
        <p:nvSpPr>
          <p:cNvPr id="16" name="Text 10"/>
          <p:cNvSpPr/>
          <p:nvPr/>
        </p:nvSpPr>
        <p:spPr>
          <a:xfrm>
            <a:off x="1847612" y="6606897"/>
            <a:ext cx="2232779" cy="278963"/>
          </a:xfrm>
          <a:prstGeom prst="rect">
            <a:avLst/>
          </a:prstGeom>
          <a:noFill/>
          <a:ln/>
        </p:spPr>
        <p:txBody>
          <a:bodyPr wrap="none" lIns="0" tIns="0" rIns="0" bIns="0" rtlCol="0" anchor="t"/>
          <a:lstStyle/>
          <a:p>
            <a:pPr marL="0" indent="0" algn="l">
              <a:lnSpc>
                <a:spcPts val="2150"/>
              </a:lnSpc>
              <a:buNone/>
            </a:pPr>
            <a:r>
              <a:rPr lang="en-US" sz="1750" dirty="0">
                <a:solidFill>
                  <a:srgbClr val="3C3939"/>
                </a:solidFill>
                <a:latin typeface="Impact" panose="020B0806030902050204" pitchFamily="34" charset="0"/>
                <a:ea typeface="Raleway" pitchFamily="34" charset="-122"/>
                <a:cs typeface="Raleway" pitchFamily="34" charset="-120"/>
              </a:rPr>
              <a:t>Evaluate</a:t>
            </a:r>
            <a:endParaRPr lang="en-US" sz="1750" dirty="0"/>
          </a:p>
        </p:txBody>
      </p:sp>
      <p:sp>
        <p:nvSpPr>
          <p:cNvPr id="17" name="Text 11"/>
          <p:cNvSpPr/>
          <p:nvPr/>
        </p:nvSpPr>
        <p:spPr>
          <a:xfrm>
            <a:off x="1847612" y="6982301"/>
            <a:ext cx="6502598" cy="271463"/>
          </a:xfrm>
          <a:prstGeom prst="rect">
            <a:avLst/>
          </a:prstGeom>
          <a:noFill/>
          <a:ln/>
        </p:spPr>
        <p:txBody>
          <a:bodyPr wrap="none" lIns="0" tIns="0" rIns="0" bIns="0" rtlCol="0" anchor="t"/>
          <a:lstStyle/>
          <a:p>
            <a:pPr marL="0" indent="0" algn="l">
              <a:lnSpc>
                <a:spcPts val="2100"/>
              </a:lnSpc>
              <a:buNone/>
            </a:pPr>
            <a:r>
              <a:rPr lang="en-US" sz="1400" dirty="0">
                <a:solidFill>
                  <a:srgbClr val="3C3939"/>
                </a:solidFill>
                <a:latin typeface="Roboto" pitchFamily="34" charset="0"/>
                <a:ea typeface="Roboto" pitchFamily="34" charset="-122"/>
                <a:cs typeface="Roboto" pitchFamily="34" charset="-120"/>
              </a:rPr>
              <a:t>Measure results and course-correct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93790" y="1095137"/>
            <a:ext cx="1317069" cy="388382"/>
          </a:xfrm>
          <a:prstGeom prst="roundRect">
            <a:avLst>
              <a:gd name="adj" fmla="val 17171"/>
            </a:avLst>
          </a:prstGeom>
          <a:noFill/>
          <a:ln w="7620">
            <a:solidFill>
              <a:srgbClr val="1B1B27"/>
            </a:solidFill>
            <a:prstDash val="solid"/>
          </a:ln>
        </p:spPr>
      </p:sp>
      <p:sp>
        <p:nvSpPr>
          <p:cNvPr id="3" name="Text 1"/>
          <p:cNvSpPr/>
          <p:nvPr/>
        </p:nvSpPr>
        <p:spPr>
          <a:xfrm>
            <a:off x="920472" y="1162288"/>
            <a:ext cx="1063704" cy="254079"/>
          </a:xfrm>
          <a:prstGeom prst="rect">
            <a:avLst/>
          </a:prstGeom>
          <a:noFill/>
          <a:ln/>
        </p:spPr>
        <p:txBody>
          <a:bodyPr wrap="none" lIns="0" tIns="0" rIns="0" bIns="0" rtlCol="0" anchor="t"/>
          <a:lstStyle/>
          <a:p>
            <a:pPr marL="0" indent="0" algn="l">
              <a:lnSpc>
                <a:spcPts val="2000"/>
              </a:lnSpc>
              <a:buNone/>
            </a:pPr>
            <a:r>
              <a:rPr lang="en-US" sz="1250" dirty="0">
                <a:solidFill>
                  <a:srgbClr val="1B1B27"/>
                </a:solidFill>
                <a:latin typeface="Roboto" pitchFamily="34" charset="0"/>
                <a:ea typeface="Roboto" pitchFamily="34" charset="-122"/>
                <a:cs typeface="Roboto" pitchFamily="34" charset="-120"/>
              </a:rPr>
              <a:t>FOUNDATIONS</a:t>
            </a:r>
            <a:endParaRPr lang="en-US" sz="1250" dirty="0"/>
          </a:p>
        </p:txBody>
      </p:sp>
      <p:sp>
        <p:nvSpPr>
          <p:cNvPr id="4" name="Text 2"/>
          <p:cNvSpPr/>
          <p:nvPr/>
        </p:nvSpPr>
        <p:spPr>
          <a:xfrm>
            <a:off x="793790" y="1562814"/>
            <a:ext cx="9483685" cy="620078"/>
          </a:xfrm>
          <a:prstGeom prst="rect">
            <a:avLst/>
          </a:prstGeom>
          <a:noFill/>
          <a:ln/>
        </p:spPr>
        <p:txBody>
          <a:bodyPr wrap="none" lIns="0" tIns="0" rIns="0" bIns="0" rtlCol="0" anchor="t"/>
          <a:lstStyle/>
          <a:p>
            <a:pPr marL="0" indent="0" algn="l">
              <a:lnSpc>
                <a:spcPts val="4850"/>
              </a:lnSpc>
              <a:buNone/>
            </a:pPr>
            <a:r>
              <a:rPr lang="en-US" sz="3900" dirty="0">
                <a:solidFill>
                  <a:srgbClr val="1B1B27"/>
                </a:solidFill>
                <a:latin typeface="Impact" panose="020B0806030902050204" pitchFamily="34" charset="0"/>
                <a:ea typeface="Raleway" pitchFamily="34" charset="-122"/>
                <a:cs typeface="Raleway" pitchFamily="34" charset="-120"/>
              </a:rPr>
              <a:t>How Do We Know a Company's Strategy?</a:t>
            </a:r>
            <a:endParaRPr lang="en-US" sz="3900" dirty="0"/>
          </a:p>
        </p:txBody>
      </p:sp>
      <p:sp>
        <p:nvSpPr>
          <p:cNvPr id="5" name="Text 3"/>
          <p:cNvSpPr/>
          <p:nvPr/>
        </p:nvSpPr>
        <p:spPr>
          <a:xfrm>
            <a:off x="793790" y="248054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A company rarely publishes its full strategy in a single document. Analysts, managers, and students must piece together strategic intent from multiple sources — observing patterns of action and stated intentions over time.</a:t>
            </a:r>
            <a:endParaRPr lang="en-US" sz="1550" dirty="0"/>
          </a:p>
        </p:txBody>
      </p:sp>
      <p:pic>
        <p:nvPicPr>
          <p:cNvPr id="6"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793790" y="3338870"/>
            <a:ext cx="496133" cy="496133"/>
          </a:xfrm>
          <a:prstGeom prst="rect">
            <a:avLst/>
          </a:prstGeom>
        </p:spPr>
      </p:pic>
      <p:sp>
        <p:nvSpPr>
          <p:cNvPr id="7" name="Text 4"/>
          <p:cNvSpPr/>
          <p:nvPr/>
        </p:nvSpPr>
        <p:spPr>
          <a:xfrm>
            <a:off x="1537930" y="3338870"/>
            <a:ext cx="3037642"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Actions in the Marketplace</a:t>
            </a:r>
            <a:endParaRPr lang="en-US" sz="1950" dirty="0"/>
          </a:p>
        </p:txBody>
      </p:sp>
      <p:sp>
        <p:nvSpPr>
          <p:cNvPr id="8" name="Text 5"/>
          <p:cNvSpPr/>
          <p:nvPr/>
        </p:nvSpPr>
        <p:spPr>
          <a:xfrm>
            <a:off x="1537930" y="3768090"/>
            <a:ext cx="5653207" cy="127015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Observable moves such as price reductions, new product launches, geographic expansion, or acquisitions reveal strategic priorities. Example: A company consistently pricing below rivals signals a cost-leadership strategy.</a:t>
            </a:r>
            <a:endParaRPr lang="en-US" sz="1550" dirty="0"/>
          </a:p>
        </p:txBody>
      </p:sp>
      <p:pic>
        <p:nvPicPr>
          <p:cNvPr id="9"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7439144" y="3338870"/>
            <a:ext cx="496133" cy="496133"/>
          </a:xfrm>
          <a:prstGeom prst="rect">
            <a:avLst/>
          </a:prstGeom>
        </p:spPr>
      </p:pic>
      <p:sp>
        <p:nvSpPr>
          <p:cNvPr id="10" name="Text 6"/>
          <p:cNvSpPr/>
          <p:nvPr/>
        </p:nvSpPr>
        <p:spPr>
          <a:xfrm>
            <a:off x="8183285" y="3338870"/>
            <a:ext cx="2905006"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Management Statements</a:t>
            </a:r>
            <a:endParaRPr lang="en-US" sz="1950" dirty="0"/>
          </a:p>
        </p:txBody>
      </p:sp>
      <p:sp>
        <p:nvSpPr>
          <p:cNvPr id="11" name="Text 7"/>
          <p:cNvSpPr/>
          <p:nvPr/>
        </p:nvSpPr>
        <p:spPr>
          <a:xfrm>
            <a:off x="8183285" y="3768090"/>
            <a:ext cx="5653326" cy="127015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CEO interviews, earnings calls, and investor presentations often articulate strategic intentions. Leaders signal priorities through language — listen for phrases around growth areas, divestments, or market positioning.</a:t>
            </a:r>
            <a:endParaRPr lang="en-US" sz="1550" dirty="0"/>
          </a:p>
        </p:txBody>
      </p:sp>
      <p:pic>
        <p:nvPicPr>
          <p:cNvPr id="12"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793790" y="5435084"/>
            <a:ext cx="496133" cy="496133"/>
          </a:xfrm>
          <a:prstGeom prst="rect">
            <a:avLst/>
          </a:prstGeom>
        </p:spPr>
      </p:pic>
      <p:sp>
        <p:nvSpPr>
          <p:cNvPr id="13" name="Text 8"/>
          <p:cNvSpPr/>
          <p:nvPr/>
        </p:nvSpPr>
        <p:spPr>
          <a:xfrm>
            <a:off x="1537930" y="5435084"/>
            <a:ext cx="3771186"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Annual Reports &amp; Press Releases</a:t>
            </a:r>
            <a:endParaRPr lang="en-US" sz="1950" dirty="0"/>
          </a:p>
        </p:txBody>
      </p:sp>
      <p:sp>
        <p:nvSpPr>
          <p:cNvPr id="14" name="Text 9"/>
          <p:cNvSpPr/>
          <p:nvPr/>
        </p:nvSpPr>
        <p:spPr>
          <a:xfrm>
            <a:off x="1537930" y="5864304"/>
            <a:ext cx="5653207" cy="127015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Annual reports outline long-term goals, capital allocation decisions, and risk factors. Press releases announce strategic moves — partnerships, acquisitions, product launches — in real time.</a:t>
            </a:r>
            <a:endParaRPr lang="en-US" sz="1550" dirty="0"/>
          </a:p>
        </p:txBody>
      </p:sp>
      <p:pic>
        <p:nvPicPr>
          <p:cNvPr id="15" name="Image 3" descr="preencoded.png"/>
          <p:cNvPicPr>
            <a:picLocks noChangeAspect="1"/>
          </p:cNvPicPr>
          <p:nvPr/>
        </p:nvPicPr>
        <p:blipFill>
          <a:blip r:embed="rId3">
            <a:extLst>
              <a:ext uri="{96DAC541-7B7A-43D3-8B79-37D633B846F1}">
                <asvg:svgBlip xmlns:asvg="http://schemas.microsoft.com/office/drawing/2016/SVG/main" xmlns="" r:embed="rId7"/>
              </a:ext>
            </a:extLst>
          </a:blip>
          <a:stretch>
            <a:fillRect/>
          </a:stretch>
        </p:blipFill>
        <p:spPr>
          <a:xfrm>
            <a:off x="7439144" y="5435084"/>
            <a:ext cx="496133" cy="496133"/>
          </a:xfrm>
          <a:prstGeom prst="rect">
            <a:avLst/>
          </a:prstGeom>
        </p:spPr>
      </p:pic>
      <p:sp>
        <p:nvSpPr>
          <p:cNvPr id="16" name="Text 10"/>
          <p:cNvSpPr/>
          <p:nvPr/>
        </p:nvSpPr>
        <p:spPr>
          <a:xfrm>
            <a:off x="8183285" y="543508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Company Websites</a:t>
            </a:r>
            <a:endParaRPr lang="en-US" sz="1950" dirty="0"/>
          </a:p>
        </p:txBody>
      </p:sp>
      <p:sp>
        <p:nvSpPr>
          <p:cNvPr id="17" name="Text 11"/>
          <p:cNvSpPr/>
          <p:nvPr/>
        </p:nvSpPr>
        <p:spPr>
          <a:xfrm>
            <a:off x="8183285" y="5864304"/>
            <a:ext cx="5653326" cy="95261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Mission statements, investor relations pages, and product portfolios on company websites offer a curated but revealing view of strategic positioning and brand identity.</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20898" y="384691"/>
            <a:ext cx="702350" cy="216098"/>
          </a:xfrm>
          <a:prstGeom prst="roundRect">
            <a:avLst>
              <a:gd name="adj" fmla="val 20252"/>
            </a:avLst>
          </a:prstGeom>
          <a:solidFill>
            <a:srgbClr val="E1E1EA"/>
          </a:solidFill>
          <a:ln/>
        </p:spPr>
      </p:sp>
      <p:sp>
        <p:nvSpPr>
          <p:cNvPr id="3" name="Text 1"/>
          <p:cNvSpPr/>
          <p:nvPr/>
        </p:nvSpPr>
        <p:spPr>
          <a:xfrm>
            <a:off x="599003" y="423743"/>
            <a:ext cx="546140" cy="137993"/>
          </a:xfrm>
          <a:prstGeom prst="rect">
            <a:avLst/>
          </a:prstGeom>
          <a:noFill/>
          <a:ln/>
        </p:spPr>
        <p:txBody>
          <a:bodyPr wrap="none" lIns="0" tIns="0" rIns="0" bIns="0" rtlCol="0" anchor="t"/>
          <a:lstStyle/>
          <a:p>
            <a:pPr marL="0" indent="0" algn="l">
              <a:lnSpc>
                <a:spcPts val="1050"/>
              </a:lnSpc>
              <a:buNone/>
            </a:pPr>
            <a:r>
              <a:rPr lang="en-US" sz="800" dirty="0">
                <a:solidFill>
                  <a:srgbClr val="3C3939"/>
                </a:solidFill>
                <a:latin typeface="Roboto" pitchFamily="34" charset="0"/>
                <a:ea typeface="Roboto" pitchFamily="34" charset="-122"/>
                <a:cs typeface="Roboto" pitchFamily="34" charset="-120"/>
              </a:rPr>
              <a:t>CHAPTER 1</a:t>
            </a:r>
            <a:endParaRPr lang="en-US" sz="800" dirty="0"/>
          </a:p>
        </p:txBody>
      </p:sp>
      <p:sp>
        <p:nvSpPr>
          <p:cNvPr id="4" name="Text 2"/>
          <p:cNvSpPr/>
          <p:nvPr/>
        </p:nvSpPr>
        <p:spPr>
          <a:xfrm>
            <a:off x="520898" y="634960"/>
            <a:ext cx="5136713" cy="406956"/>
          </a:xfrm>
          <a:prstGeom prst="rect">
            <a:avLst/>
          </a:prstGeom>
          <a:noFill/>
          <a:ln/>
        </p:spPr>
        <p:txBody>
          <a:bodyPr wrap="none" lIns="0" tIns="0" rIns="0" bIns="0" rtlCol="0" anchor="t"/>
          <a:lstStyle/>
          <a:p>
            <a:pPr marL="0" indent="0" algn="l">
              <a:lnSpc>
                <a:spcPts val="3200"/>
              </a:lnSpc>
              <a:buNone/>
            </a:pPr>
            <a:r>
              <a:rPr lang="en-US" sz="2550" dirty="0">
                <a:solidFill>
                  <a:srgbClr val="1B1B27"/>
                </a:solidFill>
                <a:latin typeface="Impact" panose="020B0806030902050204" pitchFamily="34" charset="0"/>
                <a:ea typeface="Raleway" pitchFamily="34" charset="-122"/>
                <a:cs typeface="Raleway" pitchFamily="34" charset="-120"/>
              </a:rPr>
              <a:t>The Strategic Management Model</a:t>
            </a:r>
            <a:endParaRPr lang="en-US" sz="2550" dirty="0"/>
          </a:p>
        </p:txBody>
      </p:sp>
      <p:sp>
        <p:nvSpPr>
          <p:cNvPr id="5" name="Text 3"/>
          <p:cNvSpPr/>
          <p:nvPr/>
        </p:nvSpPr>
        <p:spPr>
          <a:xfrm>
            <a:off x="520897" y="1100019"/>
            <a:ext cx="13588603" cy="345043"/>
          </a:xfrm>
          <a:prstGeom prst="rect">
            <a:avLst/>
          </a:prstGeom>
          <a:noFill/>
          <a:ln/>
        </p:spPr>
        <p:txBody>
          <a:bodyPr wrap="square" lIns="0" tIns="0" rIns="0" bIns="0" rtlCol="0" anchor="t"/>
          <a:lstStyle/>
          <a:p>
            <a:pPr marL="0" indent="0" algn="l">
              <a:lnSpc>
                <a:spcPts val="1350"/>
              </a:lnSpc>
              <a:buNone/>
            </a:pPr>
            <a:r>
              <a:rPr lang="en-US" sz="1100" dirty="0">
                <a:solidFill>
                  <a:srgbClr val="3C3939"/>
                </a:solidFill>
                <a:latin typeface="Roboto" pitchFamily="34" charset="0"/>
                <a:ea typeface="Roboto" pitchFamily="34" charset="-122"/>
                <a:cs typeface="Roboto" pitchFamily="34" charset="-120"/>
              </a:rPr>
              <a:t>Strategic management follows a structured, three-stage model that creates a continuous loop of analysis, action, and adjustment. Each stage feeds into the next, ensuring the organisation remains adaptive and goal-directed in a dynamic competitive environment.</a:t>
            </a:r>
            <a:endParaRPr lang="en-US" sz="1100" dirty="0"/>
          </a:p>
        </p:txBody>
      </p:sp>
      <p:sp>
        <p:nvSpPr>
          <p:cNvPr id="13" name="Text 10"/>
          <p:cNvSpPr/>
          <p:nvPr/>
        </p:nvSpPr>
        <p:spPr>
          <a:xfrm>
            <a:off x="520898" y="7672268"/>
            <a:ext cx="13588603" cy="172522"/>
          </a:xfrm>
          <a:prstGeom prst="rect">
            <a:avLst/>
          </a:prstGeom>
          <a:noFill/>
          <a:ln/>
        </p:spPr>
        <p:txBody>
          <a:bodyPr wrap="none" lIns="0" tIns="0" rIns="0" bIns="0" rtlCol="0" anchor="t"/>
          <a:lstStyle/>
          <a:p>
            <a:pPr marL="0" indent="0" algn="l">
              <a:lnSpc>
                <a:spcPts val="1350"/>
              </a:lnSpc>
              <a:buNone/>
            </a:pPr>
            <a:r>
              <a:rPr lang="en-US" sz="1200" dirty="0">
                <a:solidFill>
                  <a:srgbClr val="3C3939"/>
                </a:solidFill>
                <a:latin typeface="Roboto" pitchFamily="34" charset="0"/>
                <a:ea typeface="Roboto" pitchFamily="34" charset="-122"/>
                <a:cs typeface="Roboto" pitchFamily="34" charset="-120"/>
              </a:rPr>
              <a:t>This iterative model ensures that strategy is never static — evaluation loops back into formulation, keeping the organisation responsive to change and aligned with its long-term vision.</a:t>
            </a:r>
            <a:endParaRPr lang="en-US" sz="1200" dirty="0"/>
          </a:p>
        </p:txBody>
      </p:sp>
      <p:pic>
        <p:nvPicPr>
          <p:cNvPr id="14" name="Content Placeholder 6">
            <a:extLst>
              <a:ext uri="{FF2B5EF4-FFF2-40B4-BE49-F238E27FC236}">
                <a16:creationId xmlns:a16="http://schemas.microsoft.com/office/drawing/2014/main" xmlns="" id="{A1F39A23-FFDA-4515-A452-F2EAB386FFF7}"/>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a:xfrm>
            <a:off x="2220686" y="1558127"/>
            <a:ext cx="8976232" cy="557145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93790" y="586264"/>
            <a:ext cx="865823" cy="388382"/>
          </a:xfrm>
          <a:prstGeom prst="roundRect">
            <a:avLst>
              <a:gd name="adj" fmla="val 17171"/>
            </a:avLst>
          </a:prstGeom>
          <a:noFill/>
          <a:ln w="7620">
            <a:solidFill>
              <a:srgbClr val="1B1B27"/>
            </a:solidFill>
            <a:prstDash val="solid"/>
          </a:ln>
        </p:spPr>
      </p:sp>
      <p:sp>
        <p:nvSpPr>
          <p:cNvPr id="3" name="Text 1"/>
          <p:cNvSpPr/>
          <p:nvPr/>
        </p:nvSpPr>
        <p:spPr>
          <a:xfrm>
            <a:off x="920472" y="653415"/>
            <a:ext cx="612458" cy="254079"/>
          </a:xfrm>
          <a:prstGeom prst="rect">
            <a:avLst/>
          </a:prstGeom>
          <a:noFill/>
          <a:ln/>
        </p:spPr>
        <p:txBody>
          <a:bodyPr wrap="none" lIns="0" tIns="0" rIns="0" bIns="0" rtlCol="0" anchor="t"/>
          <a:lstStyle/>
          <a:p>
            <a:pPr marL="0" indent="0" algn="l">
              <a:lnSpc>
                <a:spcPts val="2000"/>
              </a:lnSpc>
              <a:buNone/>
            </a:pPr>
            <a:r>
              <a:rPr lang="en-US" sz="1250" dirty="0">
                <a:solidFill>
                  <a:srgbClr val="1B1B27"/>
                </a:solidFill>
                <a:latin typeface="Roboto" pitchFamily="34" charset="0"/>
                <a:ea typeface="Roboto" pitchFamily="34" charset="-122"/>
                <a:cs typeface="Roboto" pitchFamily="34" charset="-120"/>
              </a:rPr>
              <a:t>STAGE 1</a:t>
            </a:r>
            <a:endParaRPr lang="en-US" sz="1250" dirty="0"/>
          </a:p>
        </p:txBody>
      </p:sp>
      <p:sp>
        <p:nvSpPr>
          <p:cNvPr id="4" name="Text 2"/>
          <p:cNvSpPr/>
          <p:nvPr/>
        </p:nvSpPr>
        <p:spPr>
          <a:xfrm>
            <a:off x="793790" y="1053941"/>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1B1B27"/>
                </a:solidFill>
                <a:latin typeface="Impact" panose="020B0806030902050204" pitchFamily="34" charset="0"/>
                <a:ea typeface="Raleway" pitchFamily="34" charset="-122"/>
                <a:cs typeface="Raleway" pitchFamily="34" charset="-120"/>
              </a:rPr>
              <a:t>Strategy Formulation</a:t>
            </a:r>
            <a:endParaRPr lang="en-US" sz="3900" dirty="0"/>
          </a:p>
        </p:txBody>
      </p:sp>
      <p:sp>
        <p:nvSpPr>
          <p:cNvPr id="5" name="Text 3"/>
          <p:cNvSpPr/>
          <p:nvPr/>
        </p:nvSpPr>
        <p:spPr>
          <a:xfrm>
            <a:off x="793790" y="197167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Formulation is where strategic thinking begins. This stage involves rigorous analysis of the internal and external environment to determine the best path forward for the organisation.</a:t>
            </a:r>
            <a:endParaRPr lang="en-US" sz="1550" dirty="0"/>
          </a:p>
        </p:txBody>
      </p:sp>
      <p:sp>
        <p:nvSpPr>
          <p:cNvPr id="6" name="Text 4"/>
          <p:cNvSpPr/>
          <p:nvPr/>
        </p:nvSpPr>
        <p:spPr>
          <a:xfrm>
            <a:off x="793790" y="2829997"/>
            <a:ext cx="396835" cy="248007"/>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Calibri" panose="020F0502020204030204" pitchFamily="34" charset="0"/>
                <a:ea typeface="Calibri" panose="020F0502020204030204" pitchFamily="34" charset="0"/>
                <a:cs typeface="Calibri" panose="020F0502020204030204" pitchFamily="34" charset="0"/>
              </a:rPr>
              <a:t>01</a:t>
            </a:r>
            <a:endParaRPr lang="en-US" sz="1550" dirty="0"/>
          </a:p>
        </p:txBody>
      </p:sp>
      <p:sp>
        <p:nvSpPr>
          <p:cNvPr id="7" name="Shape 5"/>
          <p:cNvSpPr/>
          <p:nvPr/>
        </p:nvSpPr>
        <p:spPr>
          <a:xfrm>
            <a:off x="793790" y="3144322"/>
            <a:ext cx="4215289" cy="22860"/>
          </a:xfrm>
          <a:prstGeom prst="rect">
            <a:avLst/>
          </a:prstGeom>
          <a:solidFill>
            <a:srgbClr val="1B1B27"/>
          </a:solidFill>
          <a:ln/>
        </p:spPr>
      </p:sp>
      <p:sp>
        <p:nvSpPr>
          <p:cNvPr id="8" name="Text 6"/>
          <p:cNvSpPr/>
          <p:nvPr/>
        </p:nvSpPr>
        <p:spPr>
          <a:xfrm>
            <a:off x="793790" y="3289221"/>
            <a:ext cx="2853333"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Develop Vision &amp; Mission</a:t>
            </a:r>
            <a:endParaRPr lang="en-US" sz="1950" dirty="0"/>
          </a:p>
        </p:txBody>
      </p:sp>
      <p:sp>
        <p:nvSpPr>
          <p:cNvPr id="9" name="Text 7"/>
          <p:cNvSpPr/>
          <p:nvPr/>
        </p:nvSpPr>
        <p:spPr>
          <a:xfrm>
            <a:off x="793790" y="3718441"/>
            <a:ext cx="4215289" cy="158769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Set the foundation — define what the organisation stands for, its core values, and the long-term purpose it aims to serve. Example: Infosys's vision of being a globally respected corporation.</a:t>
            </a:r>
            <a:endParaRPr lang="en-US" sz="1550" dirty="0"/>
          </a:p>
        </p:txBody>
      </p:sp>
      <p:sp>
        <p:nvSpPr>
          <p:cNvPr id="10" name="Text 8"/>
          <p:cNvSpPr/>
          <p:nvPr/>
        </p:nvSpPr>
        <p:spPr>
          <a:xfrm>
            <a:off x="5207437" y="2829997"/>
            <a:ext cx="396835" cy="248007"/>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Calibri" panose="020F0502020204030204" pitchFamily="34" charset="0"/>
                <a:ea typeface="Calibri" panose="020F0502020204030204" pitchFamily="34" charset="0"/>
                <a:cs typeface="Calibri" panose="020F0502020204030204" pitchFamily="34" charset="0"/>
              </a:rPr>
              <a:t>02</a:t>
            </a:r>
            <a:endParaRPr lang="en-US" sz="1550" dirty="0"/>
          </a:p>
        </p:txBody>
      </p:sp>
      <p:sp>
        <p:nvSpPr>
          <p:cNvPr id="11" name="Shape 9"/>
          <p:cNvSpPr/>
          <p:nvPr/>
        </p:nvSpPr>
        <p:spPr>
          <a:xfrm>
            <a:off x="5207437" y="3144322"/>
            <a:ext cx="4215408" cy="22860"/>
          </a:xfrm>
          <a:prstGeom prst="rect">
            <a:avLst/>
          </a:prstGeom>
          <a:solidFill>
            <a:srgbClr val="1B1B27"/>
          </a:solidFill>
          <a:ln/>
        </p:spPr>
      </p:sp>
      <p:sp>
        <p:nvSpPr>
          <p:cNvPr id="12" name="Text 10"/>
          <p:cNvSpPr/>
          <p:nvPr/>
        </p:nvSpPr>
        <p:spPr>
          <a:xfrm>
            <a:off x="5207437" y="3289221"/>
            <a:ext cx="3189923"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External Audit (SWOT — OT)</a:t>
            </a:r>
            <a:endParaRPr lang="en-US" sz="1950" dirty="0"/>
          </a:p>
        </p:txBody>
      </p:sp>
      <p:sp>
        <p:nvSpPr>
          <p:cNvPr id="13" name="Text 11"/>
          <p:cNvSpPr/>
          <p:nvPr/>
        </p:nvSpPr>
        <p:spPr>
          <a:xfrm>
            <a:off x="5207437" y="3718441"/>
            <a:ext cx="4215408" cy="158769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Examine opportunities and threats in the external environment — market trends, competitor moves, regulatory shifts, and technological disruptions. Tools: PESTEL, Porter's Five Forces.</a:t>
            </a:r>
            <a:endParaRPr lang="en-US" sz="1550" dirty="0"/>
          </a:p>
        </p:txBody>
      </p:sp>
      <p:sp>
        <p:nvSpPr>
          <p:cNvPr id="14" name="Text 12"/>
          <p:cNvSpPr/>
          <p:nvPr/>
        </p:nvSpPr>
        <p:spPr>
          <a:xfrm>
            <a:off x="9621203" y="2829997"/>
            <a:ext cx="396835" cy="248007"/>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Calibri" panose="020F0502020204030204" pitchFamily="34" charset="0"/>
                <a:ea typeface="Calibri" panose="020F0502020204030204" pitchFamily="34" charset="0"/>
                <a:cs typeface="Calibri" panose="020F0502020204030204" pitchFamily="34" charset="0"/>
              </a:rPr>
              <a:t>03</a:t>
            </a:r>
            <a:endParaRPr lang="en-US" sz="1550" dirty="0"/>
          </a:p>
        </p:txBody>
      </p:sp>
      <p:sp>
        <p:nvSpPr>
          <p:cNvPr id="15" name="Shape 13"/>
          <p:cNvSpPr/>
          <p:nvPr/>
        </p:nvSpPr>
        <p:spPr>
          <a:xfrm>
            <a:off x="9621203" y="3144322"/>
            <a:ext cx="4215289" cy="22860"/>
          </a:xfrm>
          <a:prstGeom prst="rect">
            <a:avLst/>
          </a:prstGeom>
          <a:solidFill>
            <a:srgbClr val="1B1B27"/>
          </a:solidFill>
          <a:ln/>
        </p:spPr>
      </p:sp>
      <p:sp>
        <p:nvSpPr>
          <p:cNvPr id="16" name="Text 14"/>
          <p:cNvSpPr/>
          <p:nvPr/>
        </p:nvSpPr>
        <p:spPr>
          <a:xfrm>
            <a:off x="9621203" y="3289221"/>
            <a:ext cx="319337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Internal Audit (SWOT — SW)</a:t>
            </a:r>
            <a:endParaRPr lang="en-US" sz="1950" dirty="0"/>
          </a:p>
        </p:txBody>
      </p:sp>
      <p:sp>
        <p:nvSpPr>
          <p:cNvPr id="17" name="Text 15"/>
          <p:cNvSpPr/>
          <p:nvPr/>
        </p:nvSpPr>
        <p:spPr>
          <a:xfrm>
            <a:off x="9621203" y="3718441"/>
            <a:ext cx="4215289" cy="127015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Assess internal strengths and weaknesses — resources, capabilities, financial health, and operational efficiency. Identify what the organisation does best and where gaps exist.</a:t>
            </a:r>
            <a:endParaRPr lang="en-US" sz="1550" dirty="0"/>
          </a:p>
        </p:txBody>
      </p:sp>
      <p:sp>
        <p:nvSpPr>
          <p:cNvPr id="18" name="Text 16"/>
          <p:cNvSpPr/>
          <p:nvPr/>
        </p:nvSpPr>
        <p:spPr>
          <a:xfrm>
            <a:off x="793790" y="5653326"/>
            <a:ext cx="396835" cy="248007"/>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Calibri" panose="020F0502020204030204" pitchFamily="34" charset="0"/>
                <a:ea typeface="Calibri" panose="020F0502020204030204" pitchFamily="34" charset="0"/>
                <a:cs typeface="Calibri" panose="020F0502020204030204" pitchFamily="34" charset="0"/>
              </a:rPr>
              <a:t>04</a:t>
            </a:r>
            <a:endParaRPr lang="en-US" sz="1550" dirty="0"/>
          </a:p>
        </p:txBody>
      </p:sp>
      <p:sp>
        <p:nvSpPr>
          <p:cNvPr id="19" name="Shape 17"/>
          <p:cNvSpPr/>
          <p:nvPr/>
        </p:nvSpPr>
        <p:spPr>
          <a:xfrm>
            <a:off x="793790" y="5967651"/>
            <a:ext cx="6422112" cy="22860"/>
          </a:xfrm>
          <a:prstGeom prst="rect">
            <a:avLst/>
          </a:prstGeom>
          <a:solidFill>
            <a:srgbClr val="1B1B27"/>
          </a:solidFill>
          <a:ln/>
        </p:spPr>
      </p:sp>
      <p:sp>
        <p:nvSpPr>
          <p:cNvPr id="20" name="Text 18"/>
          <p:cNvSpPr/>
          <p:nvPr/>
        </p:nvSpPr>
        <p:spPr>
          <a:xfrm>
            <a:off x="793790" y="6112550"/>
            <a:ext cx="2971681"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Set Long-Term Objectives</a:t>
            </a:r>
            <a:endParaRPr lang="en-US" sz="1950" dirty="0"/>
          </a:p>
        </p:txBody>
      </p:sp>
      <p:sp>
        <p:nvSpPr>
          <p:cNvPr id="21" name="Text 19"/>
          <p:cNvSpPr/>
          <p:nvPr/>
        </p:nvSpPr>
        <p:spPr>
          <a:xfrm>
            <a:off x="793790" y="6541770"/>
            <a:ext cx="6422112" cy="95261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Define measurable, time-bound goals aligned with the vision — such as achieving a 20% market share in five years or doubling revenue through new geographies.</a:t>
            </a:r>
            <a:endParaRPr lang="en-US" sz="1550" dirty="0"/>
          </a:p>
        </p:txBody>
      </p:sp>
      <p:sp>
        <p:nvSpPr>
          <p:cNvPr id="22" name="Text 20"/>
          <p:cNvSpPr/>
          <p:nvPr/>
        </p:nvSpPr>
        <p:spPr>
          <a:xfrm>
            <a:off x="7414260" y="5653326"/>
            <a:ext cx="396835" cy="248007"/>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Calibri" panose="020F0502020204030204" pitchFamily="34" charset="0"/>
                <a:ea typeface="Calibri" panose="020F0502020204030204" pitchFamily="34" charset="0"/>
                <a:cs typeface="Calibri" panose="020F0502020204030204" pitchFamily="34" charset="0"/>
              </a:rPr>
              <a:t>05</a:t>
            </a:r>
            <a:endParaRPr lang="en-US" sz="1550" dirty="0"/>
          </a:p>
        </p:txBody>
      </p:sp>
      <p:sp>
        <p:nvSpPr>
          <p:cNvPr id="23" name="Shape 21"/>
          <p:cNvSpPr/>
          <p:nvPr/>
        </p:nvSpPr>
        <p:spPr>
          <a:xfrm>
            <a:off x="7414260" y="5967651"/>
            <a:ext cx="6422231" cy="22860"/>
          </a:xfrm>
          <a:prstGeom prst="rect">
            <a:avLst/>
          </a:prstGeom>
          <a:solidFill>
            <a:srgbClr val="1B1B27"/>
          </a:solidFill>
          <a:ln/>
        </p:spPr>
      </p:sp>
      <p:sp>
        <p:nvSpPr>
          <p:cNvPr id="24" name="Text 22"/>
          <p:cNvSpPr/>
          <p:nvPr/>
        </p:nvSpPr>
        <p:spPr>
          <a:xfrm>
            <a:off x="7414260" y="6112550"/>
            <a:ext cx="439995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Generate, Evaluate &amp; Select Strategies</a:t>
            </a:r>
            <a:endParaRPr lang="en-US" sz="1950" dirty="0"/>
          </a:p>
        </p:txBody>
      </p:sp>
      <p:sp>
        <p:nvSpPr>
          <p:cNvPr id="25" name="Text 23"/>
          <p:cNvSpPr/>
          <p:nvPr/>
        </p:nvSpPr>
        <p:spPr>
          <a:xfrm>
            <a:off x="7414260" y="6541770"/>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Create alternative strategies using tools like the BCG Matrix or Ansoff Matrix, evaluate each for feasibility and fit, and select the most promising options to pursue.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93790" y="1788438"/>
            <a:ext cx="652820" cy="271224"/>
          </a:xfrm>
          <a:prstGeom prst="roundRect">
            <a:avLst>
              <a:gd name="adj" fmla="val 18441"/>
            </a:avLst>
          </a:prstGeom>
          <a:noFill/>
          <a:ln w="7620">
            <a:solidFill>
              <a:srgbClr val="1B1B27"/>
            </a:solidFill>
            <a:prstDash val="solid"/>
          </a:ln>
        </p:spPr>
      </p:sp>
      <p:sp>
        <p:nvSpPr>
          <p:cNvPr id="3" name="Text 1"/>
          <p:cNvSpPr/>
          <p:nvPr/>
        </p:nvSpPr>
        <p:spPr>
          <a:xfrm>
            <a:off x="890707" y="1840706"/>
            <a:ext cx="458986" cy="166688"/>
          </a:xfrm>
          <a:prstGeom prst="rect">
            <a:avLst/>
          </a:prstGeom>
          <a:noFill/>
          <a:ln/>
        </p:spPr>
        <p:txBody>
          <a:bodyPr wrap="none" lIns="0" tIns="0" rIns="0" bIns="0" rtlCol="0" anchor="t"/>
          <a:lstStyle/>
          <a:p>
            <a:pPr marL="0" indent="0" algn="l">
              <a:lnSpc>
                <a:spcPts val="1300"/>
              </a:lnSpc>
              <a:buNone/>
            </a:pPr>
            <a:r>
              <a:rPr lang="en-US" sz="900" dirty="0">
                <a:solidFill>
                  <a:srgbClr val="1B1B27"/>
                </a:solidFill>
                <a:latin typeface="Roboto" pitchFamily="34" charset="0"/>
                <a:ea typeface="Roboto" pitchFamily="34" charset="-122"/>
                <a:cs typeface="Roboto" pitchFamily="34" charset="-120"/>
              </a:rPr>
              <a:t>STAGE 2</a:t>
            </a:r>
            <a:endParaRPr lang="en-US" sz="900" dirty="0"/>
          </a:p>
        </p:txBody>
      </p:sp>
      <p:sp>
        <p:nvSpPr>
          <p:cNvPr id="4" name="Text 2"/>
          <p:cNvSpPr/>
          <p:nvPr/>
        </p:nvSpPr>
        <p:spPr>
          <a:xfrm>
            <a:off x="793790" y="2104311"/>
            <a:ext cx="4263271" cy="465177"/>
          </a:xfrm>
          <a:prstGeom prst="rect">
            <a:avLst/>
          </a:prstGeom>
          <a:noFill/>
          <a:ln/>
        </p:spPr>
        <p:txBody>
          <a:bodyPr wrap="none" lIns="0" tIns="0" rIns="0" bIns="0" rtlCol="0" anchor="t"/>
          <a:lstStyle/>
          <a:p>
            <a:pPr marL="0" indent="0" algn="l">
              <a:lnSpc>
                <a:spcPts val="3650"/>
              </a:lnSpc>
              <a:buNone/>
            </a:pPr>
            <a:r>
              <a:rPr lang="en-US" sz="2900" dirty="0">
                <a:solidFill>
                  <a:srgbClr val="1B1B27"/>
                </a:solidFill>
                <a:latin typeface="Impact" panose="020B0806030902050204" pitchFamily="34" charset="0"/>
                <a:ea typeface="Raleway" pitchFamily="34" charset="-122"/>
                <a:cs typeface="Raleway" pitchFamily="34" charset="-120"/>
              </a:rPr>
              <a:t>Strategy Implementation</a:t>
            </a:r>
            <a:endParaRPr lang="en-US" sz="2900" dirty="0"/>
          </a:p>
        </p:txBody>
      </p:sp>
      <p:sp>
        <p:nvSpPr>
          <p:cNvPr id="5" name="Text 3"/>
          <p:cNvSpPr/>
          <p:nvPr/>
        </p:nvSpPr>
        <p:spPr>
          <a:xfrm>
            <a:off x="793790" y="2736890"/>
            <a:ext cx="13042821" cy="416719"/>
          </a:xfrm>
          <a:prstGeom prst="rect">
            <a:avLst/>
          </a:prstGeom>
          <a:noFill/>
          <a:ln/>
        </p:spPr>
        <p:txBody>
          <a:bodyPr wrap="square" lIns="0" tIns="0" rIns="0" bIns="0" rtlCol="0" anchor="t"/>
          <a:lstStyle/>
          <a:p>
            <a:pPr marL="0" indent="0" algn="l">
              <a:lnSpc>
                <a:spcPts val="1600"/>
              </a:lnSpc>
              <a:buNone/>
            </a:pPr>
            <a:r>
              <a:rPr lang="en-US" sz="1150" dirty="0">
                <a:solidFill>
                  <a:srgbClr val="3C3939"/>
                </a:solidFill>
                <a:latin typeface="Roboto" pitchFamily="34" charset="0"/>
                <a:ea typeface="Roboto" pitchFamily="34" charset="-122"/>
                <a:cs typeface="Roboto" pitchFamily="34" charset="-120"/>
              </a:rPr>
              <a:t>A great strategy is worth nothing without effective execution. Implementation is where plans are translated into concrete actions — requiring coordination across all organisational levels, functions, and people.</a:t>
            </a:r>
            <a:endParaRPr lang="en-US" sz="1150" dirty="0"/>
          </a:p>
        </p:txBody>
      </p:sp>
      <p:sp>
        <p:nvSpPr>
          <p:cNvPr id="6" name="Shape 4"/>
          <p:cNvSpPr/>
          <p:nvPr/>
        </p:nvSpPr>
        <p:spPr>
          <a:xfrm>
            <a:off x="686633" y="3279100"/>
            <a:ext cx="6554153" cy="3161943"/>
          </a:xfrm>
          <a:prstGeom prst="roundRect">
            <a:avLst>
              <a:gd name="adj" fmla="val 3390"/>
            </a:avLst>
          </a:prstGeom>
          <a:solidFill>
            <a:srgbClr val="1B1B27">
              <a:alpha val="95000"/>
            </a:srgbClr>
          </a:solidFill>
          <a:ln/>
        </p:spPr>
      </p:sp>
      <p:sp>
        <p:nvSpPr>
          <p:cNvPr id="7" name="Text 5"/>
          <p:cNvSpPr/>
          <p:nvPr/>
        </p:nvSpPr>
        <p:spPr>
          <a:xfrm>
            <a:off x="835462" y="3390662"/>
            <a:ext cx="1860590" cy="232529"/>
          </a:xfrm>
          <a:prstGeom prst="rect">
            <a:avLst/>
          </a:prstGeom>
          <a:noFill/>
          <a:ln/>
        </p:spPr>
        <p:txBody>
          <a:bodyPr wrap="none" lIns="0" tIns="0" rIns="0" bIns="0" rtlCol="0" anchor="t"/>
          <a:lstStyle/>
          <a:p>
            <a:pPr marL="0" indent="0" algn="l">
              <a:lnSpc>
                <a:spcPts val="1800"/>
              </a:lnSpc>
              <a:buNone/>
            </a:pPr>
            <a:r>
              <a:rPr lang="en-US" sz="1450" dirty="0">
                <a:solidFill>
                  <a:srgbClr val="FFFFFF"/>
                </a:solidFill>
                <a:latin typeface="Impact" panose="020B0806030902050204" pitchFamily="34" charset="0"/>
                <a:ea typeface="Raleway" pitchFamily="34" charset="-122"/>
                <a:cs typeface="Raleway" pitchFamily="34" charset="-120"/>
              </a:rPr>
              <a:t>Management Issues</a:t>
            </a:r>
            <a:endParaRPr lang="en-US" sz="1450" dirty="0"/>
          </a:p>
        </p:txBody>
      </p:sp>
      <p:sp>
        <p:nvSpPr>
          <p:cNvPr id="8" name="Text 6"/>
          <p:cNvSpPr/>
          <p:nvPr/>
        </p:nvSpPr>
        <p:spPr>
          <a:xfrm>
            <a:off x="835462" y="3734753"/>
            <a:ext cx="6256496" cy="416719"/>
          </a:xfrm>
          <a:prstGeom prst="rect">
            <a:avLst/>
          </a:prstGeom>
          <a:noFill/>
          <a:ln/>
        </p:spPr>
        <p:txBody>
          <a:bodyPr wrap="square" lIns="0" tIns="0" rIns="0" bIns="0" rtlCol="0" anchor="t"/>
          <a:lstStyle/>
          <a:p>
            <a:pPr marL="0" indent="0" algn="l">
              <a:lnSpc>
                <a:spcPts val="1600"/>
              </a:lnSpc>
              <a:buNone/>
            </a:pPr>
            <a:r>
              <a:rPr lang="en-US" sz="1150" dirty="0">
                <a:solidFill>
                  <a:srgbClr val="FFFFFF"/>
                </a:solidFill>
                <a:latin typeface="Roboto" pitchFamily="34" charset="0"/>
                <a:ea typeface="Roboto" pitchFamily="34" charset="-122"/>
                <a:cs typeface="Roboto" pitchFamily="34" charset="-120"/>
              </a:rPr>
              <a:t>Organise resources effectively, align the organisational structure with the chosen strategy, and ensure leadership is equipped and committed to drive change at every level.</a:t>
            </a:r>
            <a:endParaRPr lang="en-US" sz="1150" dirty="0"/>
          </a:p>
        </p:txBody>
      </p:sp>
      <p:sp>
        <p:nvSpPr>
          <p:cNvPr id="9" name="Text 7"/>
          <p:cNvSpPr/>
          <p:nvPr/>
        </p:nvSpPr>
        <p:spPr>
          <a:xfrm>
            <a:off x="835462" y="4263033"/>
            <a:ext cx="1865948" cy="232529"/>
          </a:xfrm>
          <a:prstGeom prst="rect">
            <a:avLst/>
          </a:prstGeom>
          <a:noFill/>
          <a:ln/>
        </p:spPr>
        <p:txBody>
          <a:bodyPr wrap="none" lIns="0" tIns="0" rIns="0" bIns="0" rtlCol="0" anchor="t"/>
          <a:lstStyle/>
          <a:p>
            <a:pPr marL="0" indent="0" algn="l">
              <a:lnSpc>
                <a:spcPts val="1800"/>
              </a:lnSpc>
              <a:buNone/>
            </a:pPr>
            <a:r>
              <a:rPr lang="en-US" sz="1450" dirty="0">
                <a:solidFill>
                  <a:srgbClr val="FFFFFF"/>
                </a:solidFill>
                <a:latin typeface="Impact" panose="020B0806030902050204" pitchFamily="34" charset="0"/>
                <a:ea typeface="Raleway" pitchFamily="34" charset="-122"/>
                <a:cs typeface="Raleway" pitchFamily="34" charset="-120"/>
              </a:rPr>
              <a:t>Functional Integration</a:t>
            </a:r>
            <a:endParaRPr lang="en-US" sz="1450" dirty="0"/>
          </a:p>
        </p:txBody>
      </p:sp>
      <p:sp>
        <p:nvSpPr>
          <p:cNvPr id="10" name="Text 8"/>
          <p:cNvSpPr/>
          <p:nvPr/>
        </p:nvSpPr>
        <p:spPr>
          <a:xfrm>
            <a:off x="835462" y="4607123"/>
            <a:ext cx="6256496" cy="208359"/>
          </a:xfrm>
          <a:prstGeom prst="rect">
            <a:avLst/>
          </a:prstGeom>
          <a:noFill/>
          <a:ln/>
        </p:spPr>
        <p:txBody>
          <a:bodyPr wrap="none" lIns="0" tIns="0" rIns="0" bIns="0" rtlCol="0" anchor="t"/>
          <a:lstStyle/>
          <a:p>
            <a:pPr marL="0" indent="0" algn="l">
              <a:lnSpc>
                <a:spcPts val="1600"/>
              </a:lnSpc>
              <a:buNone/>
            </a:pPr>
            <a:r>
              <a:rPr lang="en-US" sz="1150" dirty="0">
                <a:solidFill>
                  <a:srgbClr val="FFFFFF"/>
                </a:solidFill>
                <a:latin typeface="Roboto" pitchFamily="34" charset="0"/>
                <a:ea typeface="Roboto" pitchFamily="34" charset="-122"/>
                <a:cs typeface="Roboto" pitchFamily="34" charset="-120"/>
              </a:rPr>
              <a:t>Strategy must permeate all departments:</a:t>
            </a:r>
            <a:endParaRPr lang="en-US" sz="1150" dirty="0"/>
          </a:p>
        </p:txBody>
      </p:sp>
      <p:sp>
        <p:nvSpPr>
          <p:cNvPr id="11" name="Text 9"/>
          <p:cNvSpPr/>
          <p:nvPr/>
        </p:nvSpPr>
        <p:spPr>
          <a:xfrm>
            <a:off x="835462" y="4915853"/>
            <a:ext cx="6256496" cy="950595"/>
          </a:xfrm>
          <a:prstGeom prst="rect">
            <a:avLst/>
          </a:prstGeom>
          <a:noFill/>
          <a:ln/>
        </p:spPr>
        <p:txBody>
          <a:bodyPr wrap="square" lIns="0" tIns="0" rIns="0" bIns="0" rtlCol="0" anchor="t"/>
          <a:lstStyle/>
          <a:p>
            <a:pPr marL="342900" indent="-342900" algn="l">
              <a:lnSpc>
                <a:spcPts val="1600"/>
              </a:lnSpc>
              <a:buSzPct val="100000"/>
              <a:buChar char="•"/>
            </a:pPr>
            <a:r>
              <a:rPr lang="en-US" sz="1150" b="1" dirty="0">
                <a:solidFill>
                  <a:srgbClr val="FFFFFF"/>
                </a:solidFill>
                <a:latin typeface="Roboto" pitchFamily="34" charset="0"/>
                <a:ea typeface="Roboto" pitchFamily="34" charset="-122"/>
                <a:cs typeface="Roboto" pitchFamily="34" charset="-120"/>
              </a:rPr>
              <a:t>Marketing:</a:t>
            </a:r>
            <a:r>
              <a:rPr lang="en-US" sz="1150" dirty="0">
                <a:solidFill>
                  <a:srgbClr val="FFFFFF"/>
                </a:solidFill>
                <a:latin typeface="Roboto" pitchFamily="34" charset="0"/>
                <a:ea typeface="Roboto" pitchFamily="34" charset="-122"/>
                <a:cs typeface="Roboto" pitchFamily="34" charset="-120"/>
              </a:rPr>
              <a:t> Branding, customer reach, and market positioning</a:t>
            </a:r>
            <a:endParaRPr lang="en-US" sz="1150" dirty="0"/>
          </a:p>
          <a:p>
            <a:pPr marL="342900" indent="-342900" algn="l">
              <a:lnSpc>
                <a:spcPts val="1600"/>
              </a:lnSpc>
              <a:buSzPct val="100000"/>
              <a:buChar char="•"/>
            </a:pPr>
            <a:r>
              <a:rPr lang="en-US" sz="1150" b="1" dirty="0">
                <a:solidFill>
                  <a:srgbClr val="FFFFFF"/>
                </a:solidFill>
                <a:latin typeface="Roboto" pitchFamily="34" charset="0"/>
                <a:ea typeface="Roboto" pitchFamily="34" charset="-122"/>
                <a:cs typeface="Roboto" pitchFamily="34" charset="-120"/>
              </a:rPr>
              <a:t>Finance:</a:t>
            </a:r>
            <a:r>
              <a:rPr lang="en-US" sz="1150" dirty="0">
                <a:solidFill>
                  <a:srgbClr val="FFFFFF"/>
                </a:solidFill>
                <a:latin typeface="Roboto" pitchFamily="34" charset="0"/>
                <a:ea typeface="Roboto" pitchFamily="34" charset="-122"/>
                <a:cs typeface="Roboto" pitchFamily="34" charset="-120"/>
              </a:rPr>
              <a:t> Budget allocation and investment priorities</a:t>
            </a:r>
            <a:endParaRPr lang="en-US" sz="1150" dirty="0"/>
          </a:p>
          <a:p>
            <a:pPr marL="342900" indent="-342900" algn="l">
              <a:lnSpc>
                <a:spcPts val="1600"/>
              </a:lnSpc>
              <a:buSzPct val="100000"/>
              <a:buChar char="•"/>
            </a:pPr>
            <a:r>
              <a:rPr lang="en-US" sz="1150" b="1" dirty="0">
                <a:solidFill>
                  <a:srgbClr val="FFFFFF"/>
                </a:solidFill>
                <a:latin typeface="Roboto" pitchFamily="34" charset="0"/>
                <a:ea typeface="Roboto" pitchFamily="34" charset="-122"/>
                <a:cs typeface="Roboto" pitchFamily="34" charset="-120"/>
              </a:rPr>
              <a:t>R&amp;D:</a:t>
            </a:r>
            <a:r>
              <a:rPr lang="en-US" sz="1150" dirty="0">
                <a:solidFill>
                  <a:srgbClr val="FFFFFF"/>
                </a:solidFill>
                <a:latin typeface="Roboto" pitchFamily="34" charset="0"/>
                <a:ea typeface="Roboto" pitchFamily="34" charset="-122"/>
                <a:cs typeface="Roboto" pitchFamily="34" charset="-120"/>
              </a:rPr>
              <a:t> Innovation pipelines and product development</a:t>
            </a:r>
            <a:endParaRPr lang="en-US" sz="1150" dirty="0"/>
          </a:p>
          <a:p>
            <a:pPr marL="342900" indent="-342900" algn="l">
              <a:lnSpc>
                <a:spcPts val="1600"/>
              </a:lnSpc>
              <a:buSzPct val="100000"/>
              <a:buChar char="•"/>
            </a:pPr>
            <a:r>
              <a:rPr lang="en-US" sz="1150" b="1" dirty="0">
                <a:solidFill>
                  <a:srgbClr val="FFFFFF"/>
                </a:solidFill>
                <a:latin typeface="Roboto" pitchFamily="34" charset="0"/>
                <a:ea typeface="Roboto" pitchFamily="34" charset="-122"/>
                <a:cs typeface="Roboto" pitchFamily="34" charset="-120"/>
              </a:rPr>
              <a:t>MIS:</a:t>
            </a:r>
            <a:r>
              <a:rPr lang="en-US" sz="1150" dirty="0">
                <a:solidFill>
                  <a:srgbClr val="FFFFFF"/>
                </a:solidFill>
                <a:latin typeface="Roboto" pitchFamily="34" charset="0"/>
                <a:ea typeface="Roboto" pitchFamily="34" charset="-122"/>
                <a:cs typeface="Roboto" pitchFamily="34" charset="-120"/>
              </a:rPr>
              <a:t> Information systems that support real-time decisions</a:t>
            </a:r>
            <a:endParaRPr lang="en-US" sz="1150" dirty="0"/>
          </a:p>
        </p:txBody>
      </p:sp>
      <p:sp>
        <p:nvSpPr>
          <p:cNvPr id="12" name="Text 10"/>
          <p:cNvSpPr/>
          <p:nvPr/>
        </p:nvSpPr>
        <p:spPr>
          <a:xfrm>
            <a:off x="7504390" y="3390662"/>
            <a:ext cx="2761655" cy="232529"/>
          </a:xfrm>
          <a:prstGeom prst="rect">
            <a:avLst/>
          </a:prstGeom>
          <a:noFill/>
          <a:ln/>
        </p:spPr>
        <p:txBody>
          <a:bodyPr wrap="none" lIns="0" tIns="0" rIns="0" bIns="0" rtlCol="0" anchor="t"/>
          <a:lstStyle/>
          <a:p>
            <a:pPr marL="0" indent="0" algn="l">
              <a:lnSpc>
                <a:spcPts val="1800"/>
              </a:lnSpc>
              <a:buNone/>
            </a:pPr>
            <a:r>
              <a:rPr lang="en-US" sz="1450" dirty="0">
                <a:solidFill>
                  <a:srgbClr val="1B1B27"/>
                </a:solidFill>
                <a:latin typeface="Impact" panose="020B0806030902050204" pitchFamily="34" charset="0"/>
                <a:ea typeface="Raleway" pitchFamily="34" charset="-122"/>
                <a:cs typeface="Raleway" pitchFamily="34" charset="-120"/>
              </a:rPr>
              <a:t>Why Implementation Often Fails</a:t>
            </a:r>
            <a:endParaRPr lang="en-US" sz="1450" dirty="0"/>
          </a:p>
        </p:txBody>
      </p:sp>
      <p:sp>
        <p:nvSpPr>
          <p:cNvPr id="13" name="Text 11"/>
          <p:cNvSpPr/>
          <p:nvPr/>
        </p:nvSpPr>
        <p:spPr>
          <a:xfrm>
            <a:off x="7504390" y="3734753"/>
            <a:ext cx="6339840" cy="416719"/>
          </a:xfrm>
          <a:prstGeom prst="rect">
            <a:avLst/>
          </a:prstGeom>
          <a:noFill/>
          <a:ln/>
        </p:spPr>
        <p:txBody>
          <a:bodyPr wrap="square" lIns="0" tIns="0" rIns="0" bIns="0" rtlCol="0" anchor="t"/>
          <a:lstStyle/>
          <a:p>
            <a:pPr marL="0" indent="0" algn="l">
              <a:lnSpc>
                <a:spcPts val="1600"/>
              </a:lnSpc>
              <a:buNone/>
            </a:pPr>
            <a:r>
              <a:rPr lang="en-US" sz="1150" dirty="0">
                <a:solidFill>
                  <a:srgbClr val="3C3939"/>
                </a:solidFill>
                <a:latin typeface="Roboto" pitchFamily="34" charset="0"/>
                <a:ea typeface="Roboto" pitchFamily="34" charset="-122"/>
                <a:cs typeface="Roboto" pitchFamily="34" charset="-120"/>
              </a:rPr>
              <a:t>Studies suggest that up to 70% of well-formulated strategies fail during implementation. Common reasons include:</a:t>
            </a:r>
            <a:endParaRPr lang="en-US" sz="1150" dirty="0"/>
          </a:p>
        </p:txBody>
      </p:sp>
      <p:sp>
        <p:nvSpPr>
          <p:cNvPr id="14" name="Text 12"/>
          <p:cNvSpPr/>
          <p:nvPr/>
        </p:nvSpPr>
        <p:spPr>
          <a:xfrm>
            <a:off x="7504390" y="4251841"/>
            <a:ext cx="6339840" cy="1198007"/>
          </a:xfrm>
          <a:prstGeom prst="rect">
            <a:avLst/>
          </a:prstGeom>
          <a:noFill/>
          <a:ln/>
        </p:spPr>
        <p:txBody>
          <a:bodyPr wrap="square" lIns="0" tIns="0" rIns="0" bIns="0" rtlCol="0" anchor="t"/>
          <a:lstStyle/>
          <a:p>
            <a:pPr marL="342900" indent="-342900" algn="l">
              <a:lnSpc>
                <a:spcPts val="1600"/>
              </a:lnSpc>
              <a:buSzPct val="100000"/>
              <a:buChar char="•"/>
            </a:pPr>
            <a:r>
              <a:rPr lang="en-US" sz="1150" dirty="0">
                <a:solidFill>
                  <a:srgbClr val="3C3939"/>
                </a:solidFill>
                <a:latin typeface="Roboto" pitchFamily="34" charset="0"/>
                <a:ea typeface="Roboto" pitchFamily="34" charset="-122"/>
                <a:cs typeface="Roboto" pitchFamily="34" charset="-120"/>
              </a:rPr>
              <a:t>Lack of clear ownership and accountability</a:t>
            </a:r>
            <a:endParaRPr lang="en-US" sz="1150" dirty="0"/>
          </a:p>
          <a:p>
            <a:pPr marL="342900" indent="-342900" algn="l">
              <a:lnSpc>
                <a:spcPts val="1600"/>
              </a:lnSpc>
              <a:buSzPct val="100000"/>
              <a:buChar char="•"/>
            </a:pPr>
            <a:r>
              <a:rPr lang="en-US" sz="1150" dirty="0">
                <a:solidFill>
                  <a:srgbClr val="3C3939"/>
                </a:solidFill>
                <a:latin typeface="Roboto" pitchFamily="34" charset="0"/>
                <a:ea typeface="Roboto" pitchFamily="34" charset="-122"/>
                <a:cs typeface="Roboto" pitchFamily="34" charset="-120"/>
              </a:rPr>
              <a:t>Insufficient communication of strategic goals down the hierarchy</a:t>
            </a:r>
            <a:endParaRPr lang="en-US" sz="1150" dirty="0"/>
          </a:p>
          <a:p>
            <a:pPr marL="342900" indent="-342900" algn="l">
              <a:lnSpc>
                <a:spcPts val="1600"/>
              </a:lnSpc>
              <a:buSzPct val="100000"/>
              <a:buChar char="•"/>
            </a:pPr>
            <a:r>
              <a:rPr lang="en-US" sz="1150" dirty="0">
                <a:solidFill>
                  <a:srgbClr val="3C3939"/>
                </a:solidFill>
                <a:latin typeface="Roboto" pitchFamily="34" charset="0"/>
                <a:ea typeface="Roboto" pitchFamily="34" charset="-122"/>
                <a:cs typeface="Roboto" pitchFamily="34" charset="-120"/>
              </a:rPr>
              <a:t>Resistance to change from middle management</a:t>
            </a:r>
            <a:endParaRPr lang="en-US" sz="1150" dirty="0"/>
          </a:p>
          <a:p>
            <a:pPr marL="342900" indent="-342900" algn="l">
              <a:lnSpc>
                <a:spcPts val="1600"/>
              </a:lnSpc>
              <a:buSzPct val="100000"/>
              <a:buChar char="•"/>
            </a:pPr>
            <a:r>
              <a:rPr lang="en-US" sz="1150" dirty="0">
                <a:solidFill>
                  <a:srgbClr val="3C3939"/>
                </a:solidFill>
                <a:latin typeface="Roboto" pitchFamily="34" charset="0"/>
                <a:ea typeface="Roboto" pitchFamily="34" charset="-122"/>
                <a:cs typeface="Roboto" pitchFamily="34" charset="-120"/>
              </a:rPr>
              <a:t>Misalignment between incentive structures and strategic priorities</a:t>
            </a:r>
            <a:endParaRPr lang="en-US" sz="1150" dirty="0"/>
          </a:p>
          <a:p>
            <a:pPr marL="342900" indent="-342900" algn="l">
              <a:lnSpc>
                <a:spcPts val="1600"/>
              </a:lnSpc>
              <a:buSzPct val="100000"/>
              <a:buChar char="•"/>
            </a:pPr>
            <a:r>
              <a:rPr lang="en-US" sz="1150" dirty="0">
                <a:solidFill>
                  <a:srgbClr val="3C3939"/>
                </a:solidFill>
                <a:latin typeface="Roboto" pitchFamily="34" charset="0"/>
                <a:ea typeface="Roboto" pitchFamily="34" charset="-122"/>
                <a:cs typeface="Roboto" pitchFamily="34" charset="-120"/>
              </a:rPr>
              <a:t>Inadequate resource allocation</a:t>
            </a:r>
            <a:endParaRPr lang="en-US" sz="1150" dirty="0"/>
          </a:p>
        </p:txBody>
      </p:sp>
      <p:sp>
        <p:nvSpPr>
          <p:cNvPr id="15" name="Shape 13"/>
          <p:cNvSpPr/>
          <p:nvPr/>
        </p:nvSpPr>
        <p:spPr>
          <a:xfrm>
            <a:off x="7504390" y="5575340"/>
            <a:ext cx="6339840" cy="740212"/>
          </a:xfrm>
          <a:prstGeom prst="roundRect">
            <a:avLst>
              <a:gd name="adj" fmla="val 8446"/>
            </a:avLst>
          </a:prstGeom>
          <a:solidFill>
            <a:srgbClr val="FCF2B5"/>
          </a:solidFill>
          <a:ln/>
        </p:spPr>
      </p:sp>
      <p:pic>
        <p:nvPicPr>
          <p:cNvPr id="16" name="Image 0" descr="preencoded.png"/>
          <p:cNvPicPr>
            <a:picLocks noChangeAspect="1"/>
          </p:cNvPicPr>
          <p:nvPr/>
        </p:nvPicPr>
        <p:blipFill>
          <a:blip r:embed="rId3"/>
          <a:stretch>
            <a:fillRect/>
          </a:stretch>
        </p:blipFill>
        <p:spPr>
          <a:xfrm>
            <a:off x="7653218" y="5783461"/>
            <a:ext cx="185976" cy="148828"/>
          </a:xfrm>
          <a:prstGeom prst="rect">
            <a:avLst/>
          </a:prstGeom>
        </p:spPr>
      </p:pic>
      <p:sp>
        <p:nvSpPr>
          <p:cNvPr id="17" name="Text 14"/>
          <p:cNvSpPr/>
          <p:nvPr/>
        </p:nvSpPr>
        <p:spPr>
          <a:xfrm>
            <a:off x="7988022" y="5724049"/>
            <a:ext cx="5707380" cy="416719"/>
          </a:xfrm>
          <a:prstGeom prst="rect">
            <a:avLst/>
          </a:prstGeom>
          <a:noFill/>
          <a:ln/>
        </p:spPr>
        <p:txBody>
          <a:bodyPr wrap="square" lIns="0" tIns="0" rIns="0" bIns="0" rtlCol="0" anchor="t"/>
          <a:lstStyle/>
          <a:p>
            <a:pPr marL="0" indent="0" algn="l">
              <a:lnSpc>
                <a:spcPts val="1600"/>
              </a:lnSpc>
              <a:buNone/>
            </a:pPr>
            <a:r>
              <a:rPr lang="en-US" sz="1150" dirty="0">
                <a:solidFill>
                  <a:srgbClr val="000000"/>
                </a:solidFill>
                <a:latin typeface="Roboto" pitchFamily="34" charset="0"/>
                <a:ea typeface="Roboto" pitchFamily="34" charset="-122"/>
                <a:cs typeface="Roboto" pitchFamily="34" charset="-120"/>
              </a:rPr>
              <a:t>Successful implementation requires both coordination at the top and commitment at every level of the organisation.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93790" y="751880"/>
            <a:ext cx="865823" cy="388382"/>
          </a:xfrm>
          <a:prstGeom prst="roundRect">
            <a:avLst>
              <a:gd name="adj" fmla="val 17171"/>
            </a:avLst>
          </a:prstGeom>
          <a:noFill/>
          <a:ln w="7620">
            <a:solidFill>
              <a:srgbClr val="1B1B27"/>
            </a:solidFill>
            <a:prstDash val="solid"/>
          </a:ln>
        </p:spPr>
      </p:sp>
      <p:sp>
        <p:nvSpPr>
          <p:cNvPr id="3" name="Text 1"/>
          <p:cNvSpPr/>
          <p:nvPr/>
        </p:nvSpPr>
        <p:spPr>
          <a:xfrm>
            <a:off x="920472" y="819031"/>
            <a:ext cx="612458" cy="254079"/>
          </a:xfrm>
          <a:prstGeom prst="rect">
            <a:avLst/>
          </a:prstGeom>
          <a:noFill/>
          <a:ln/>
        </p:spPr>
        <p:txBody>
          <a:bodyPr wrap="none" lIns="0" tIns="0" rIns="0" bIns="0" rtlCol="0" anchor="t"/>
          <a:lstStyle/>
          <a:p>
            <a:pPr marL="0" indent="0" algn="l">
              <a:lnSpc>
                <a:spcPts val="2000"/>
              </a:lnSpc>
              <a:buNone/>
            </a:pPr>
            <a:r>
              <a:rPr lang="en-US" sz="1250" dirty="0">
                <a:solidFill>
                  <a:srgbClr val="1B1B27"/>
                </a:solidFill>
                <a:latin typeface="Roboto" pitchFamily="34" charset="0"/>
                <a:ea typeface="Roboto" pitchFamily="34" charset="-122"/>
                <a:cs typeface="Roboto" pitchFamily="34" charset="-120"/>
              </a:rPr>
              <a:t>STAGE 3</a:t>
            </a:r>
            <a:endParaRPr lang="en-US" sz="1250" dirty="0"/>
          </a:p>
        </p:txBody>
      </p:sp>
      <p:sp>
        <p:nvSpPr>
          <p:cNvPr id="4" name="Text 2"/>
          <p:cNvSpPr/>
          <p:nvPr/>
        </p:nvSpPr>
        <p:spPr>
          <a:xfrm>
            <a:off x="793790" y="1219557"/>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1B1B27"/>
                </a:solidFill>
                <a:latin typeface="Impact" panose="020B0806030902050204" pitchFamily="34" charset="0"/>
                <a:ea typeface="Raleway" pitchFamily="34" charset="-122"/>
                <a:cs typeface="Raleway" pitchFamily="34" charset="-120"/>
              </a:rPr>
              <a:t>Strategy Evaluation</a:t>
            </a:r>
            <a:endParaRPr lang="en-US" sz="3900" dirty="0"/>
          </a:p>
        </p:txBody>
      </p:sp>
      <p:sp>
        <p:nvSpPr>
          <p:cNvPr id="5" name="Text 3"/>
          <p:cNvSpPr/>
          <p:nvPr/>
        </p:nvSpPr>
        <p:spPr>
          <a:xfrm>
            <a:off x="793790" y="2137291"/>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Evaluation ensures the strategy is working — and enables timely course correction when it is not. This final stage closes the loop, turning lessons learned into inputs for the next cycle of formulation.</a:t>
            </a:r>
            <a:endParaRPr lang="en-US" sz="1550" dirty="0"/>
          </a:p>
        </p:txBody>
      </p:sp>
      <p:sp>
        <p:nvSpPr>
          <p:cNvPr id="6" name="Shape 4"/>
          <p:cNvSpPr/>
          <p:nvPr/>
        </p:nvSpPr>
        <p:spPr>
          <a:xfrm>
            <a:off x="793790" y="2995612"/>
            <a:ext cx="6422231" cy="2141815"/>
          </a:xfrm>
          <a:prstGeom prst="roundRect">
            <a:avLst>
              <a:gd name="adj" fmla="val 5123"/>
            </a:avLst>
          </a:prstGeom>
          <a:solidFill>
            <a:srgbClr val="FFFFFF">
              <a:alpha val="95000"/>
            </a:srgbClr>
          </a:solidFill>
          <a:ln w="22860">
            <a:solidFill>
              <a:srgbClr val="C7C7D0"/>
            </a:solidFill>
            <a:prstDash val="solid"/>
          </a:ln>
        </p:spPr>
      </p:sp>
      <p:sp>
        <p:nvSpPr>
          <p:cNvPr id="7" name="Shape 5"/>
          <p:cNvSpPr/>
          <p:nvPr/>
        </p:nvSpPr>
        <p:spPr>
          <a:xfrm>
            <a:off x="770930" y="2995612"/>
            <a:ext cx="91440" cy="2141815"/>
          </a:xfrm>
          <a:prstGeom prst="roundRect">
            <a:avLst>
              <a:gd name="adj" fmla="val 91163"/>
            </a:avLst>
          </a:prstGeom>
          <a:solidFill>
            <a:srgbClr val="1B1B27"/>
          </a:solidFill>
          <a:ln/>
        </p:spPr>
      </p:sp>
      <p:sp>
        <p:nvSpPr>
          <p:cNvPr id="8" name="Text 6"/>
          <p:cNvSpPr/>
          <p:nvPr/>
        </p:nvSpPr>
        <p:spPr>
          <a:xfrm>
            <a:off x="1083588" y="3216831"/>
            <a:ext cx="3817858"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Measure &amp; Evaluate Performance</a:t>
            </a:r>
            <a:endParaRPr lang="en-US" sz="1950" dirty="0"/>
          </a:p>
        </p:txBody>
      </p:sp>
      <p:sp>
        <p:nvSpPr>
          <p:cNvPr id="9" name="Text 7"/>
          <p:cNvSpPr/>
          <p:nvPr/>
        </p:nvSpPr>
        <p:spPr>
          <a:xfrm>
            <a:off x="1083588" y="3646051"/>
            <a:ext cx="5911215" cy="127015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Track progress using Key Performance Indicators (KPIs), financial metrics (ROI, revenue growth, profit margins), and balanced scorecards. Compare actual performance against targets set during formulation.</a:t>
            </a:r>
            <a:endParaRPr lang="en-US" sz="1550" dirty="0"/>
          </a:p>
        </p:txBody>
      </p:sp>
      <p:sp>
        <p:nvSpPr>
          <p:cNvPr id="10" name="Shape 8"/>
          <p:cNvSpPr/>
          <p:nvPr/>
        </p:nvSpPr>
        <p:spPr>
          <a:xfrm>
            <a:off x="7414379" y="2995612"/>
            <a:ext cx="6422231" cy="2141815"/>
          </a:xfrm>
          <a:prstGeom prst="roundRect">
            <a:avLst>
              <a:gd name="adj" fmla="val 5123"/>
            </a:avLst>
          </a:prstGeom>
          <a:solidFill>
            <a:srgbClr val="FFFFFF">
              <a:alpha val="95000"/>
            </a:srgbClr>
          </a:solidFill>
          <a:ln w="22860">
            <a:solidFill>
              <a:srgbClr val="C7C7D0"/>
            </a:solidFill>
            <a:prstDash val="solid"/>
          </a:ln>
        </p:spPr>
      </p:sp>
      <p:sp>
        <p:nvSpPr>
          <p:cNvPr id="11" name="Shape 9"/>
          <p:cNvSpPr/>
          <p:nvPr/>
        </p:nvSpPr>
        <p:spPr>
          <a:xfrm>
            <a:off x="7391519" y="2995612"/>
            <a:ext cx="91440" cy="2141815"/>
          </a:xfrm>
          <a:prstGeom prst="roundRect">
            <a:avLst>
              <a:gd name="adj" fmla="val 91163"/>
            </a:avLst>
          </a:prstGeom>
          <a:solidFill>
            <a:srgbClr val="1B1B27"/>
          </a:solidFill>
          <a:ln/>
        </p:spPr>
      </p:sp>
      <p:sp>
        <p:nvSpPr>
          <p:cNvPr id="12" name="Text 10"/>
          <p:cNvSpPr/>
          <p:nvPr/>
        </p:nvSpPr>
        <p:spPr>
          <a:xfrm>
            <a:off x="7704177" y="3216831"/>
            <a:ext cx="2889052"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Identify Gaps &amp; Problems</a:t>
            </a:r>
            <a:endParaRPr lang="en-US" sz="1950" dirty="0"/>
          </a:p>
        </p:txBody>
      </p:sp>
      <p:sp>
        <p:nvSpPr>
          <p:cNvPr id="13" name="Text 11"/>
          <p:cNvSpPr/>
          <p:nvPr/>
        </p:nvSpPr>
        <p:spPr>
          <a:xfrm>
            <a:off x="7704177" y="3646051"/>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Diagnose where execution has fallen short — whether due to flawed assumptions, poor resource deployment, market shifts, or competitive responses that were not anticipated during planning.</a:t>
            </a:r>
            <a:endParaRPr lang="en-US" sz="1550" dirty="0"/>
          </a:p>
        </p:txBody>
      </p:sp>
      <p:sp>
        <p:nvSpPr>
          <p:cNvPr id="14" name="Shape 12"/>
          <p:cNvSpPr/>
          <p:nvPr/>
        </p:nvSpPr>
        <p:spPr>
          <a:xfrm>
            <a:off x="793790" y="5335786"/>
            <a:ext cx="6422231" cy="2141815"/>
          </a:xfrm>
          <a:prstGeom prst="roundRect">
            <a:avLst>
              <a:gd name="adj" fmla="val 5123"/>
            </a:avLst>
          </a:prstGeom>
          <a:solidFill>
            <a:srgbClr val="FFFFFF">
              <a:alpha val="95000"/>
            </a:srgbClr>
          </a:solidFill>
          <a:ln w="22860">
            <a:solidFill>
              <a:srgbClr val="C7C7D0"/>
            </a:solidFill>
            <a:prstDash val="solid"/>
          </a:ln>
        </p:spPr>
      </p:sp>
      <p:sp>
        <p:nvSpPr>
          <p:cNvPr id="15" name="Shape 13"/>
          <p:cNvSpPr/>
          <p:nvPr/>
        </p:nvSpPr>
        <p:spPr>
          <a:xfrm>
            <a:off x="770930" y="5335786"/>
            <a:ext cx="91440" cy="2141815"/>
          </a:xfrm>
          <a:prstGeom prst="roundRect">
            <a:avLst>
              <a:gd name="adj" fmla="val 91163"/>
            </a:avLst>
          </a:prstGeom>
          <a:solidFill>
            <a:srgbClr val="1B1B27"/>
          </a:solidFill>
          <a:ln/>
        </p:spPr>
      </p:sp>
      <p:sp>
        <p:nvSpPr>
          <p:cNvPr id="16" name="Text 14"/>
          <p:cNvSpPr/>
          <p:nvPr/>
        </p:nvSpPr>
        <p:spPr>
          <a:xfrm>
            <a:off x="1083588" y="5557004"/>
            <a:ext cx="2559248"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Take Corrective Action</a:t>
            </a:r>
            <a:endParaRPr lang="en-US" sz="1950" dirty="0"/>
          </a:p>
        </p:txBody>
      </p:sp>
      <p:sp>
        <p:nvSpPr>
          <p:cNvPr id="17" name="Text 15"/>
          <p:cNvSpPr/>
          <p:nvPr/>
        </p:nvSpPr>
        <p:spPr>
          <a:xfrm>
            <a:off x="1083588" y="5986224"/>
            <a:ext cx="5911215" cy="127015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Make necessary adjustments to operations, resource allocation, or the strategy itself. This may involve pivoting to a new approach, accelerating certain initiatives, or discontinuing underperforming ones.</a:t>
            </a:r>
            <a:endParaRPr lang="en-US" sz="1550" dirty="0"/>
          </a:p>
        </p:txBody>
      </p:sp>
      <p:sp>
        <p:nvSpPr>
          <p:cNvPr id="18" name="Shape 16"/>
          <p:cNvSpPr/>
          <p:nvPr/>
        </p:nvSpPr>
        <p:spPr>
          <a:xfrm>
            <a:off x="7414379" y="5335786"/>
            <a:ext cx="6422231" cy="2141815"/>
          </a:xfrm>
          <a:prstGeom prst="roundRect">
            <a:avLst>
              <a:gd name="adj" fmla="val 5123"/>
            </a:avLst>
          </a:prstGeom>
          <a:solidFill>
            <a:srgbClr val="FFFFFF">
              <a:alpha val="95000"/>
            </a:srgbClr>
          </a:solidFill>
          <a:ln w="22860">
            <a:solidFill>
              <a:srgbClr val="C7C7D0"/>
            </a:solidFill>
            <a:prstDash val="solid"/>
          </a:ln>
        </p:spPr>
      </p:sp>
      <p:sp>
        <p:nvSpPr>
          <p:cNvPr id="19" name="Shape 17"/>
          <p:cNvSpPr/>
          <p:nvPr/>
        </p:nvSpPr>
        <p:spPr>
          <a:xfrm>
            <a:off x="7391519" y="5335786"/>
            <a:ext cx="91440" cy="2141815"/>
          </a:xfrm>
          <a:prstGeom prst="roundRect">
            <a:avLst>
              <a:gd name="adj" fmla="val 91163"/>
            </a:avLst>
          </a:prstGeom>
          <a:solidFill>
            <a:srgbClr val="1B1B27"/>
          </a:solidFill>
          <a:ln/>
        </p:spPr>
      </p:sp>
      <p:sp>
        <p:nvSpPr>
          <p:cNvPr id="20" name="Text 18"/>
          <p:cNvSpPr/>
          <p:nvPr/>
        </p:nvSpPr>
        <p:spPr>
          <a:xfrm>
            <a:off x="7704177" y="555700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The Feedback Loop</a:t>
            </a:r>
            <a:endParaRPr lang="en-US" sz="1950" dirty="0"/>
          </a:p>
        </p:txBody>
      </p:sp>
      <p:sp>
        <p:nvSpPr>
          <p:cNvPr id="21" name="Text 19"/>
          <p:cNvSpPr/>
          <p:nvPr/>
        </p:nvSpPr>
        <p:spPr>
          <a:xfrm>
            <a:off x="7704177" y="5986224"/>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Insights from evaluation directly inform the next round of strategy formulation — creating an ongoing, adaptive cycle that keeps the organisation aligned with its environment and objectives.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93790" y="596622"/>
            <a:ext cx="1727954" cy="293370"/>
          </a:xfrm>
          <a:prstGeom prst="roundRect">
            <a:avLst>
              <a:gd name="adj" fmla="val 18185"/>
            </a:avLst>
          </a:prstGeom>
          <a:noFill/>
          <a:ln w="7620">
            <a:solidFill>
              <a:srgbClr val="1B1B27"/>
            </a:solidFill>
            <a:prstDash val="solid"/>
          </a:ln>
        </p:spPr>
      </p:sp>
      <p:sp>
        <p:nvSpPr>
          <p:cNvPr id="3" name="Text 1"/>
          <p:cNvSpPr/>
          <p:nvPr/>
        </p:nvSpPr>
        <p:spPr>
          <a:xfrm>
            <a:off x="896660" y="651867"/>
            <a:ext cx="1522214" cy="182880"/>
          </a:xfrm>
          <a:prstGeom prst="rect">
            <a:avLst/>
          </a:prstGeom>
          <a:noFill/>
          <a:ln/>
        </p:spPr>
        <p:txBody>
          <a:bodyPr wrap="none" lIns="0" tIns="0" rIns="0" bIns="0" rtlCol="0" anchor="t"/>
          <a:lstStyle/>
          <a:p>
            <a:pPr marL="0" indent="0" algn="l">
              <a:lnSpc>
                <a:spcPts val="1400"/>
              </a:lnSpc>
              <a:buNone/>
            </a:pPr>
            <a:r>
              <a:rPr lang="en-US" sz="1000" dirty="0">
                <a:solidFill>
                  <a:srgbClr val="1B1B27"/>
                </a:solidFill>
                <a:latin typeface="Roboto" pitchFamily="34" charset="0"/>
                <a:ea typeface="Roboto" pitchFamily="34" charset="-122"/>
                <a:cs typeface="Roboto" pitchFamily="34" charset="-120"/>
              </a:rPr>
              <a:t>VALUE OF THE DISCIPLINE</a:t>
            </a:r>
            <a:endParaRPr lang="en-US" sz="1000" dirty="0"/>
          </a:p>
        </p:txBody>
      </p:sp>
      <p:sp>
        <p:nvSpPr>
          <p:cNvPr id="4" name="Text 2"/>
          <p:cNvSpPr/>
          <p:nvPr/>
        </p:nvSpPr>
        <p:spPr>
          <a:xfrm>
            <a:off x="793790" y="940713"/>
            <a:ext cx="6243042" cy="496133"/>
          </a:xfrm>
          <a:prstGeom prst="rect">
            <a:avLst/>
          </a:prstGeom>
          <a:noFill/>
          <a:ln/>
        </p:spPr>
        <p:txBody>
          <a:bodyPr wrap="none" lIns="0" tIns="0" rIns="0" bIns="0" rtlCol="0" anchor="t"/>
          <a:lstStyle/>
          <a:p>
            <a:pPr marL="0" indent="0" algn="l">
              <a:lnSpc>
                <a:spcPts val="3900"/>
              </a:lnSpc>
              <a:buNone/>
            </a:pPr>
            <a:r>
              <a:rPr lang="en-US" sz="3100" dirty="0">
                <a:solidFill>
                  <a:srgbClr val="1B1B27"/>
                </a:solidFill>
                <a:latin typeface="Impact" panose="020B0806030902050204" pitchFamily="34" charset="0"/>
                <a:ea typeface="Raleway" pitchFamily="34" charset="-122"/>
                <a:cs typeface="Raleway" pitchFamily="34" charset="-120"/>
              </a:rPr>
              <a:t>Benefits of Strategic Management</a:t>
            </a:r>
            <a:endParaRPr lang="en-US" sz="3100" dirty="0"/>
          </a:p>
        </p:txBody>
      </p:sp>
      <p:sp>
        <p:nvSpPr>
          <p:cNvPr id="5" name="Text 3"/>
          <p:cNvSpPr/>
          <p:nvPr/>
        </p:nvSpPr>
        <p:spPr>
          <a:xfrm>
            <a:off x="793790" y="1627346"/>
            <a:ext cx="13042821" cy="457200"/>
          </a:xfrm>
          <a:prstGeom prst="rect">
            <a:avLst/>
          </a:prstGeom>
          <a:noFill/>
          <a:ln/>
        </p:spPr>
        <p:txBody>
          <a:bodyPr wrap="square" lIns="0" tIns="0" rIns="0" bIns="0" rtlCol="0" anchor="t"/>
          <a:lstStyle/>
          <a:p>
            <a:pPr marL="0" indent="0" algn="l">
              <a:lnSpc>
                <a:spcPts val="1800"/>
              </a:lnSpc>
              <a:buNone/>
            </a:pPr>
            <a:r>
              <a:rPr lang="en-US" sz="1250" dirty="0">
                <a:solidFill>
                  <a:srgbClr val="3C3939"/>
                </a:solidFill>
                <a:latin typeface="Roboto" pitchFamily="34" charset="0"/>
                <a:ea typeface="Roboto" pitchFamily="34" charset="-122"/>
                <a:cs typeface="Roboto" pitchFamily="34" charset="-120"/>
              </a:rPr>
              <a:t>Organisations that practise strategic management consistently outperform those that do not. The discipline creates clarity, alignment, and resilience — equipping businesses to navigate uncertainty and seize opportunity.</a:t>
            </a:r>
            <a:endParaRPr lang="en-US" sz="1250" dirty="0"/>
          </a:p>
        </p:txBody>
      </p:sp>
      <p:sp>
        <p:nvSpPr>
          <p:cNvPr id="6" name="Shape 4"/>
          <p:cNvSpPr/>
          <p:nvPr/>
        </p:nvSpPr>
        <p:spPr>
          <a:xfrm>
            <a:off x="793790" y="2227421"/>
            <a:ext cx="6457950" cy="1717238"/>
          </a:xfrm>
          <a:prstGeom prst="roundRect">
            <a:avLst>
              <a:gd name="adj" fmla="val 3883"/>
            </a:avLst>
          </a:prstGeom>
          <a:solidFill>
            <a:srgbClr val="E1E1EA"/>
          </a:solidFill>
          <a:ln w="7620">
            <a:solidFill>
              <a:srgbClr val="C7C7D0"/>
            </a:solidFill>
            <a:prstDash val="solid"/>
          </a:ln>
        </p:spPr>
      </p:sp>
      <p:sp>
        <p:nvSpPr>
          <p:cNvPr id="7" name="Shape 5"/>
          <p:cNvSpPr/>
          <p:nvPr/>
        </p:nvSpPr>
        <p:spPr>
          <a:xfrm>
            <a:off x="960120" y="2393752"/>
            <a:ext cx="476250" cy="476250"/>
          </a:xfrm>
          <a:prstGeom prst="roundRect">
            <a:avLst>
              <a:gd name="adj" fmla="val 19198080"/>
            </a:avLst>
          </a:prstGeom>
          <a:solidFill>
            <a:srgbClr val="1B1B27"/>
          </a:solidFill>
          <a:ln/>
        </p:spPr>
      </p:sp>
      <p:pic>
        <p:nvPicPr>
          <p:cNvPr id="8"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091089" y="2524720"/>
            <a:ext cx="214313" cy="214312"/>
          </a:xfrm>
          <a:prstGeom prst="rect">
            <a:avLst/>
          </a:prstGeom>
        </p:spPr>
      </p:pic>
      <p:sp>
        <p:nvSpPr>
          <p:cNvPr id="9" name="Text 6"/>
          <p:cNvSpPr/>
          <p:nvPr/>
        </p:nvSpPr>
        <p:spPr>
          <a:xfrm>
            <a:off x="960120" y="2996922"/>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Impact" panose="020B0806030902050204" pitchFamily="34" charset="0"/>
                <a:ea typeface="Raleway" pitchFamily="34" charset="-122"/>
                <a:cs typeface="Raleway" pitchFamily="34" charset="-120"/>
              </a:rPr>
              <a:t>Clear Direction</a:t>
            </a:r>
            <a:endParaRPr lang="en-US" sz="1550" dirty="0"/>
          </a:p>
        </p:txBody>
      </p:sp>
      <p:sp>
        <p:nvSpPr>
          <p:cNvPr id="10" name="Text 7"/>
          <p:cNvSpPr/>
          <p:nvPr/>
        </p:nvSpPr>
        <p:spPr>
          <a:xfrm>
            <a:off x="960120" y="3321129"/>
            <a:ext cx="6125289" cy="457200"/>
          </a:xfrm>
          <a:prstGeom prst="rect">
            <a:avLst/>
          </a:prstGeom>
          <a:noFill/>
          <a:ln/>
        </p:spPr>
        <p:txBody>
          <a:bodyPr wrap="square" lIns="0" tIns="0" rIns="0" bIns="0" rtlCol="0" anchor="t"/>
          <a:lstStyle/>
          <a:p>
            <a:pPr marL="0" indent="0" algn="l">
              <a:lnSpc>
                <a:spcPts val="1800"/>
              </a:lnSpc>
              <a:buNone/>
            </a:pPr>
            <a:r>
              <a:rPr lang="en-US" sz="1250" dirty="0">
                <a:solidFill>
                  <a:srgbClr val="3C3939"/>
                </a:solidFill>
                <a:latin typeface="Roboto" pitchFamily="34" charset="0"/>
                <a:ea typeface="Roboto" pitchFamily="34" charset="-122"/>
                <a:cs typeface="Roboto" pitchFamily="34" charset="-120"/>
              </a:rPr>
              <a:t>Provides a unified sense of purpose across all departments and levels of the organisation.</a:t>
            </a:r>
            <a:endParaRPr lang="en-US" sz="1250" dirty="0"/>
          </a:p>
        </p:txBody>
      </p:sp>
      <p:sp>
        <p:nvSpPr>
          <p:cNvPr id="11" name="Shape 8"/>
          <p:cNvSpPr/>
          <p:nvPr/>
        </p:nvSpPr>
        <p:spPr>
          <a:xfrm>
            <a:off x="7378660" y="2227421"/>
            <a:ext cx="6457950" cy="1717238"/>
          </a:xfrm>
          <a:prstGeom prst="roundRect">
            <a:avLst>
              <a:gd name="adj" fmla="val 3883"/>
            </a:avLst>
          </a:prstGeom>
          <a:solidFill>
            <a:srgbClr val="E1E1EA"/>
          </a:solidFill>
          <a:ln w="7620">
            <a:solidFill>
              <a:srgbClr val="C7C7D0"/>
            </a:solidFill>
            <a:prstDash val="solid"/>
          </a:ln>
        </p:spPr>
      </p:sp>
      <p:sp>
        <p:nvSpPr>
          <p:cNvPr id="12" name="Shape 9"/>
          <p:cNvSpPr/>
          <p:nvPr/>
        </p:nvSpPr>
        <p:spPr>
          <a:xfrm>
            <a:off x="7544991" y="2393752"/>
            <a:ext cx="476250" cy="476250"/>
          </a:xfrm>
          <a:prstGeom prst="roundRect">
            <a:avLst>
              <a:gd name="adj" fmla="val 19198080"/>
            </a:avLst>
          </a:prstGeom>
          <a:solidFill>
            <a:srgbClr val="1B1B27"/>
          </a:solidFill>
          <a:ln/>
        </p:spPr>
      </p:sp>
      <p:pic>
        <p:nvPicPr>
          <p:cNvPr id="13"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7675959" y="2524720"/>
            <a:ext cx="214313" cy="214312"/>
          </a:xfrm>
          <a:prstGeom prst="rect">
            <a:avLst/>
          </a:prstGeom>
        </p:spPr>
      </p:pic>
      <p:sp>
        <p:nvSpPr>
          <p:cNvPr id="14" name="Text 10"/>
          <p:cNvSpPr/>
          <p:nvPr/>
        </p:nvSpPr>
        <p:spPr>
          <a:xfrm>
            <a:off x="7544991" y="2996922"/>
            <a:ext cx="2115145" cy="248007"/>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Impact" panose="020B0806030902050204" pitchFamily="34" charset="0"/>
                <a:ea typeface="Raleway" pitchFamily="34" charset="-122"/>
                <a:cs typeface="Raleway" pitchFamily="34" charset="-120"/>
              </a:rPr>
              <a:t>Improved Performance</a:t>
            </a:r>
            <a:endParaRPr lang="en-US" sz="1550" dirty="0"/>
          </a:p>
        </p:txBody>
      </p:sp>
      <p:sp>
        <p:nvSpPr>
          <p:cNvPr id="15" name="Text 11"/>
          <p:cNvSpPr/>
          <p:nvPr/>
        </p:nvSpPr>
        <p:spPr>
          <a:xfrm>
            <a:off x="7544991" y="3321129"/>
            <a:ext cx="6125289" cy="457200"/>
          </a:xfrm>
          <a:prstGeom prst="rect">
            <a:avLst/>
          </a:prstGeom>
          <a:noFill/>
          <a:ln/>
        </p:spPr>
        <p:txBody>
          <a:bodyPr wrap="square" lIns="0" tIns="0" rIns="0" bIns="0" rtlCol="0" anchor="t"/>
          <a:lstStyle/>
          <a:p>
            <a:pPr marL="0" indent="0" algn="l">
              <a:lnSpc>
                <a:spcPts val="1800"/>
              </a:lnSpc>
              <a:buNone/>
            </a:pPr>
            <a:r>
              <a:rPr lang="en-US" sz="1250" dirty="0">
                <a:solidFill>
                  <a:srgbClr val="3C3939"/>
                </a:solidFill>
                <a:latin typeface="Roboto" pitchFamily="34" charset="0"/>
                <a:ea typeface="Roboto" pitchFamily="34" charset="-122"/>
                <a:cs typeface="Roboto" pitchFamily="34" charset="-120"/>
              </a:rPr>
              <a:t>Strategic organisations consistently achieve better financial and operational outcomes over time.</a:t>
            </a:r>
            <a:endParaRPr lang="en-US" sz="1250" dirty="0"/>
          </a:p>
        </p:txBody>
      </p:sp>
      <p:sp>
        <p:nvSpPr>
          <p:cNvPr id="16" name="Shape 12"/>
          <p:cNvSpPr/>
          <p:nvPr/>
        </p:nvSpPr>
        <p:spPr>
          <a:xfrm>
            <a:off x="793790" y="4071580"/>
            <a:ext cx="6457950" cy="1717238"/>
          </a:xfrm>
          <a:prstGeom prst="roundRect">
            <a:avLst>
              <a:gd name="adj" fmla="val 3883"/>
            </a:avLst>
          </a:prstGeom>
          <a:solidFill>
            <a:srgbClr val="E1E1EA"/>
          </a:solidFill>
          <a:ln w="7620">
            <a:solidFill>
              <a:srgbClr val="C7C7D0"/>
            </a:solidFill>
            <a:prstDash val="solid"/>
          </a:ln>
        </p:spPr>
      </p:sp>
      <p:sp>
        <p:nvSpPr>
          <p:cNvPr id="17" name="Shape 13"/>
          <p:cNvSpPr/>
          <p:nvPr/>
        </p:nvSpPr>
        <p:spPr>
          <a:xfrm>
            <a:off x="960120" y="4237911"/>
            <a:ext cx="476250" cy="476250"/>
          </a:xfrm>
          <a:prstGeom prst="roundRect">
            <a:avLst>
              <a:gd name="adj" fmla="val 19198080"/>
            </a:avLst>
          </a:prstGeom>
          <a:solidFill>
            <a:srgbClr val="1B1B27"/>
          </a:solidFill>
          <a:ln/>
        </p:spPr>
      </p:sp>
      <p:pic>
        <p:nvPicPr>
          <p:cNvPr id="18"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1091089" y="4368879"/>
            <a:ext cx="214313" cy="214312"/>
          </a:xfrm>
          <a:prstGeom prst="rect">
            <a:avLst/>
          </a:prstGeom>
        </p:spPr>
      </p:pic>
      <p:sp>
        <p:nvSpPr>
          <p:cNvPr id="19" name="Text 14"/>
          <p:cNvSpPr/>
          <p:nvPr/>
        </p:nvSpPr>
        <p:spPr>
          <a:xfrm>
            <a:off x="960120" y="4841081"/>
            <a:ext cx="2090738" cy="248007"/>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Impact" panose="020B0806030902050204" pitchFamily="34" charset="0"/>
                <a:ea typeface="Raleway" pitchFamily="34" charset="-122"/>
                <a:cs typeface="Raleway" pitchFamily="34" charset="-120"/>
              </a:rPr>
              <a:t>Encourages Innovation</a:t>
            </a:r>
            <a:endParaRPr lang="en-US" sz="1550" dirty="0"/>
          </a:p>
        </p:txBody>
      </p:sp>
      <p:sp>
        <p:nvSpPr>
          <p:cNvPr id="20" name="Text 15"/>
          <p:cNvSpPr/>
          <p:nvPr/>
        </p:nvSpPr>
        <p:spPr>
          <a:xfrm>
            <a:off x="960120" y="5165288"/>
            <a:ext cx="6125289" cy="457200"/>
          </a:xfrm>
          <a:prstGeom prst="rect">
            <a:avLst/>
          </a:prstGeom>
          <a:noFill/>
          <a:ln/>
        </p:spPr>
        <p:txBody>
          <a:bodyPr wrap="square" lIns="0" tIns="0" rIns="0" bIns="0" rtlCol="0" anchor="t"/>
          <a:lstStyle/>
          <a:p>
            <a:pPr marL="0" indent="0" algn="l">
              <a:lnSpc>
                <a:spcPts val="1800"/>
              </a:lnSpc>
              <a:buNone/>
            </a:pPr>
            <a:r>
              <a:rPr lang="en-US" sz="1250" dirty="0">
                <a:solidFill>
                  <a:srgbClr val="3C3939"/>
                </a:solidFill>
                <a:latin typeface="Roboto" pitchFamily="34" charset="0"/>
                <a:ea typeface="Roboto" pitchFamily="34" charset="-122"/>
                <a:cs typeface="Roboto" pitchFamily="34" charset="-120"/>
              </a:rPr>
              <a:t>Proactive strategic thinking creates space for creative problem-solving and new market opportunities.</a:t>
            </a:r>
            <a:endParaRPr lang="en-US" sz="1250" dirty="0"/>
          </a:p>
        </p:txBody>
      </p:sp>
      <p:sp>
        <p:nvSpPr>
          <p:cNvPr id="21" name="Shape 16"/>
          <p:cNvSpPr/>
          <p:nvPr/>
        </p:nvSpPr>
        <p:spPr>
          <a:xfrm>
            <a:off x="7378660" y="4071580"/>
            <a:ext cx="6457950" cy="1717238"/>
          </a:xfrm>
          <a:prstGeom prst="roundRect">
            <a:avLst>
              <a:gd name="adj" fmla="val 3883"/>
            </a:avLst>
          </a:prstGeom>
          <a:solidFill>
            <a:srgbClr val="E1E1EA"/>
          </a:solidFill>
          <a:ln w="7620">
            <a:solidFill>
              <a:srgbClr val="C7C7D0"/>
            </a:solidFill>
            <a:prstDash val="solid"/>
          </a:ln>
        </p:spPr>
      </p:sp>
      <p:sp>
        <p:nvSpPr>
          <p:cNvPr id="22" name="Shape 17"/>
          <p:cNvSpPr/>
          <p:nvPr/>
        </p:nvSpPr>
        <p:spPr>
          <a:xfrm>
            <a:off x="7544991" y="4237911"/>
            <a:ext cx="476250" cy="476250"/>
          </a:xfrm>
          <a:prstGeom prst="roundRect">
            <a:avLst>
              <a:gd name="adj" fmla="val 19198080"/>
            </a:avLst>
          </a:prstGeom>
          <a:solidFill>
            <a:srgbClr val="1B1B27"/>
          </a:solidFill>
          <a:ln/>
        </p:spPr>
      </p:sp>
      <p:pic>
        <p:nvPicPr>
          <p:cNvPr id="23" name="Image 3" descr="preencoded.png"/>
          <p:cNvPicPr>
            <a:picLocks noChangeAspect="1"/>
          </p:cNvPicPr>
          <p:nvPr/>
        </p:nvPicPr>
        <p:blipFill>
          <a:blip r:embed="rId3">
            <a:extLst>
              <a:ext uri="{96DAC541-7B7A-43D3-8B79-37D633B846F1}">
                <asvg:svgBlip xmlns:asvg="http://schemas.microsoft.com/office/drawing/2016/SVG/main" xmlns="" r:embed="rId7"/>
              </a:ext>
            </a:extLst>
          </a:blip>
          <a:stretch>
            <a:fillRect/>
          </a:stretch>
        </p:blipFill>
        <p:spPr>
          <a:xfrm>
            <a:off x="7675959" y="4368879"/>
            <a:ext cx="214313" cy="214312"/>
          </a:xfrm>
          <a:prstGeom prst="rect">
            <a:avLst/>
          </a:prstGeom>
        </p:spPr>
      </p:pic>
      <p:sp>
        <p:nvSpPr>
          <p:cNvPr id="24" name="Text 18"/>
          <p:cNvSpPr/>
          <p:nvPr/>
        </p:nvSpPr>
        <p:spPr>
          <a:xfrm>
            <a:off x="7544991" y="4841081"/>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Impact" panose="020B0806030902050204" pitchFamily="34" charset="0"/>
                <a:ea typeface="Raleway" pitchFamily="34" charset="-122"/>
                <a:cs typeface="Raleway" pitchFamily="34" charset="-120"/>
              </a:rPr>
              <a:t>Risk Management</a:t>
            </a:r>
            <a:endParaRPr lang="en-US" sz="1550" dirty="0"/>
          </a:p>
        </p:txBody>
      </p:sp>
      <p:sp>
        <p:nvSpPr>
          <p:cNvPr id="25" name="Text 19"/>
          <p:cNvSpPr/>
          <p:nvPr/>
        </p:nvSpPr>
        <p:spPr>
          <a:xfrm>
            <a:off x="7544991" y="5165288"/>
            <a:ext cx="6125289" cy="457200"/>
          </a:xfrm>
          <a:prstGeom prst="rect">
            <a:avLst/>
          </a:prstGeom>
          <a:noFill/>
          <a:ln/>
        </p:spPr>
        <p:txBody>
          <a:bodyPr wrap="square" lIns="0" tIns="0" rIns="0" bIns="0" rtlCol="0" anchor="t"/>
          <a:lstStyle/>
          <a:p>
            <a:pPr marL="0" indent="0" algn="l">
              <a:lnSpc>
                <a:spcPts val="1800"/>
              </a:lnSpc>
              <a:buNone/>
            </a:pPr>
            <a:r>
              <a:rPr lang="en-US" sz="1250" dirty="0">
                <a:solidFill>
                  <a:srgbClr val="3C3939"/>
                </a:solidFill>
                <a:latin typeface="Roboto" pitchFamily="34" charset="0"/>
                <a:ea typeface="Roboto" pitchFamily="34" charset="-122"/>
                <a:cs typeface="Roboto" pitchFamily="34" charset="-120"/>
              </a:rPr>
              <a:t>Identifies threats early and builds contingency plans that protect the organisation from disruption.</a:t>
            </a:r>
            <a:endParaRPr lang="en-US" sz="1250" dirty="0"/>
          </a:p>
        </p:txBody>
      </p:sp>
      <p:sp>
        <p:nvSpPr>
          <p:cNvPr id="26" name="Shape 20"/>
          <p:cNvSpPr/>
          <p:nvPr/>
        </p:nvSpPr>
        <p:spPr>
          <a:xfrm>
            <a:off x="793790" y="5915739"/>
            <a:ext cx="6457950" cy="1717238"/>
          </a:xfrm>
          <a:prstGeom prst="roundRect">
            <a:avLst>
              <a:gd name="adj" fmla="val 3883"/>
            </a:avLst>
          </a:prstGeom>
          <a:solidFill>
            <a:srgbClr val="E1E1EA"/>
          </a:solidFill>
          <a:ln w="7620">
            <a:solidFill>
              <a:srgbClr val="C7C7D0"/>
            </a:solidFill>
            <a:prstDash val="solid"/>
          </a:ln>
        </p:spPr>
      </p:sp>
      <p:sp>
        <p:nvSpPr>
          <p:cNvPr id="27" name="Shape 21"/>
          <p:cNvSpPr/>
          <p:nvPr/>
        </p:nvSpPr>
        <p:spPr>
          <a:xfrm>
            <a:off x="960120" y="6082070"/>
            <a:ext cx="476250" cy="476250"/>
          </a:xfrm>
          <a:prstGeom prst="roundRect">
            <a:avLst>
              <a:gd name="adj" fmla="val 19198080"/>
            </a:avLst>
          </a:prstGeom>
          <a:solidFill>
            <a:srgbClr val="1B1B27"/>
          </a:solidFill>
          <a:ln/>
        </p:spPr>
      </p:sp>
      <p:pic>
        <p:nvPicPr>
          <p:cNvPr id="28" name="Image 4" descr="preencoded.png"/>
          <p:cNvPicPr>
            <a:picLocks noChangeAspect="1"/>
          </p:cNvPicPr>
          <p:nvPr/>
        </p:nvPicPr>
        <p:blipFill>
          <a:blip r:embed="rId3">
            <a:extLst>
              <a:ext uri="{96DAC541-7B7A-43D3-8B79-37D633B846F1}">
                <asvg:svgBlip xmlns:asvg="http://schemas.microsoft.com/office/drawing/2016/SVG/main" xmlns="" r:embed="rId8"/>
              </a:ext>
            </a:extLst>
          </a:blip>
          <a:stretch>
            <a:fillRect/>
          </a:stretch>
        </p:blipFill>
        <p:spPr>
          <a:xfrm>
            <a:off x="1091089" y="6213038"/>
            <a:ext cx="214313" cy="214312"/>
          </a:xfrm>
          <a:prstGeom prst="rect">
            <a:avLst/>
          </a:prstGeom>
        </p:spPr>
      </p:pic>
      <p:sp>
        <p:nvSpPr>
          <p:cNvPr id="29" name="Text 22"/>
          <p:cNvSpPr/>
          <p:nvPr/>
        </p:nvSpPr>
        <p:spPr>
          <a:xfrm>
            <a:off x="960120" y="6685240"/>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Impact" panose="020B0806030902050204" pitchFamily="34" charset="0"/>
                <a:ea typeface="Raleway" pitchFamily="34" charset="-122"/>
                <a:cs typeface="Raleway" pitchFamily="34" charset="-120"/>
              </a:rPr>
              <a:t>Employee Alignment</a:t>
            </a:r>
            <a:endParaRPr lang="en-US" sz="1550" dirty="0"/>
          </a:p>
        </p:txBody>
      </p:sp>
      <p:sp>
        <p:nvSpPr>
          <p:cNvPr id="30" name="Text 23"/>
          <p:cNvSpPr/>
          <p:nvPr/>
        </p:nvSpPr>
        <p:spPr>
          <a:xfrm>
            <a:off x="960120" y="7009448"/>
            <a:ext cx="6125289" cy="457200"/>
          </a:xfrm>
          <a:prstGeom prst="rect">
            <a:avLst/>
          </a:prstGeom>
          <a:noFill/>
          <a:ln/>
        </p:spPr>
        <p:txBody>
          <a:bodyPr wrap="square" lIns="0" tIns="0" rIns="0" bIns="0" rtlCol="0" anchor="t"/>
          <a:lstStyle/>
          <a:p>
            <a:pPr marL="0" indent="0" algn="l">
              <a:lnSpc>
                <a:spcPts val="1800"/>
              </a:lnSpc>
              <a:buNone/>
            </a:pPr>
            <a:r>
              <a:rPr lang="en-US" sz="1250" dirty="0">
                <a:solidFill>
                  <a:srgbClr val="3C3939"/>
                </a:solidFill>
                <a:latin typeface="Roboto" pitchFamily="34" charset="0"/>
                <a:ea typeface="Roboto" pitchFamily="34" charset="-122"/>
                <a:cs typeface="Roboto" pitchFamily="34" charset="-120"/>
              </a:rPr>
              <a:t>When employees understand the strategy, motivation and engagement rise, reducing friction and turnover.</a:t>
            </a:r>
            <a:endParaRPr lang="en-US" sz="1250" dirty="0"/>
          </a:p>
        </p:txBody>
      </p:sp>
      <p:sp>
        <p:nvSpPr>
          <p:cNvPr id="31" name="Shape 24"/>
          <p:cNvSpPr/>
          <p:nvPr/>
        </p:nvSpPr>
        <p:spPr>
          <a:xfrm>
            <a:off x="7378660" y="5915739"/>
            <a:ext cx="6457950" cy="1717238"/>
          </a:xfrm>
          <a:prstGeom prst="roundRect">
            <a:avLst>
              <a:gd name="adj" fmla="val 3883"/>
            </a:avLst>
          </a:prstGeom>
          <a:solidFill>
            <a:srgbClr val="E1E1EA"/>
          </a:solidFill>
          <a:ln w="7620">
            <a:solidFill>
              <a:srgbClr val="C7C7D0"/>
            </a:solidFill>
            <a:prstDash val="solid"/>
          </a:ln>
        </p:spPr>
      </p:sp>
      <p:sp>
        <p:nvSpPr>
          <p:cNvPr id="32" name="Shape 25"/>
          <p:cNvSpPr/>
          <p:nvPr/>
        </p:nvSpPr>
        <p:spPr>
          <a:xfrm>
            <a:off x="7544991" y="6082070"/>
            <a:ext cx="476250" cy="476250"/>
          </a:xfrm>
          <a:prstGeom prst="roundRect">
            <a:avLst>
              <a:gd name="adj" fmla="val 19198080"/>
            </a:avLst>
          </a:prstGeom>
          <a:solidFill>
            <a:srgbClr val="1B1B27"/>
          </a:solidFill>
          <a:ln/>
        </p:spPr>
      </p:sp>
      <p:pic>
        <p:nvPicPr>
          <p:cNvPr id="33" name="Image 5" descr="preencoded.png"/>
          <p:cNvPicPr>
            <a:picLocks noChangeAspect="1"/>
          </p:cNvPicPr>
          <p:nvPr/>
        </p:nvPicPr>
        <p:blipFill>
          <a:blip r:embed="rId3">
            <a:extLst>
              <a:ext uri="{96DAC541-7B7A-43D3-8B79-37D633B846F1}">
                <asvg:svgBlip xmlns:asvg="http://schemas.microsoft.com/office/drawing/2016/SVG/main" xmlns="" r:embed="rId9"/>
              </a:ext>
            </a:extLst>
          </a:blip>
          <a:stretch>
            <a:fillRect/>
          </a:stretch>
        </p:blipFill>
        <p:spPr>
          <a:xfrm>
            <a:off x="7675959" y="6213038"/>
            <a:ext cx="214313" cy="214312"/>
          </a:xfrm>
          <a:prstGeom prst="rect">
            <a:avLst/>
          </a:prstGeom>
        </p:spPr>
      </p:pic>
      <p:sp>
        <p:nvSpPr>
          <p:cNvPr id="34" name="Text 26"/>
          <p:cNvSpPr/>
          <p:nvPr/>
        </p:nvSpPr>
        <p:spPr>
          <a:xfrm>
            <a:off x="7544991" y="6685240"/>
            <a:ext cx="2270879" cy="248007"/>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Impact" panose="020B0806030902050204" pitchFamily="34" charset="0"/>
                <a:ea typeface="Raleway" pitchFamily="34" charset="-122"/>
                <a:cs typeface="Raleway" pitchFamily="34" charset="-120"/>
              </a:rPr>
              <a:t>Long-Term Sustainability</a:t>
            </a:r>
            <a:endParaRPr lang="en-US" sz="1550" dirty="0"/>
          </a:p>
        </p:txBody>
      </p:sp>
      <p:sp>
        <p:nvSpPr>
          <p:cNvPr id="35" name="Text 27"/>
          <p:cNvSpPr/>
          <p:nvPr/>
        </p:nvSpPr>
        <p:spPr>
          <a:xfrm>
            <a:off x="7544991" y="7009448"/>
            <a:ext cx="6125289" cy="457200"/>
          </a:xfrm>
          <a:prstGeom prst="rect">
            <a:avLst/>
          </a:prstGeom>
          <a:noFill/>
          <a:ln/>
        </p:spPr>
        <p:txBody>
          <a:bodyPr wrap="square" lIns="0" tIns="0" rIns="0" bIns="0" rtlCol="0" anchor="t"/>
          <a:lstStyle/>
          <a:p>
            <a:pPr marL="0" indent="0" algn="l">
              <a:lnSpc>
                <a:spcPts val="1800"/>
              </a:lnSpc>
              <a:buNone/>
            </a:pPr>
            <a:r>
              <a:rPr lang="en-US" sz="1250" dirty="0">
                <a:solidFill>
                  <a:srgbClr val="3C3939"/>
                </a:solidFill>
                <a:latin typeface="Roboto" pitchFamily="34" charset="0"/>
                <a:ea typeface="Roboto" pitchFamily="34" charset="-122"/>
                <a:cs typeface="Roboto" pitchFamily="34" charset="-120"/>
              </a:rPr>
              <a:t>Builds enduring competitive advantages that sustain performance well beyond the short term.</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16950" y="725150"/>
            <a:ext cx="910352" cy="300990"/>
          </a:xfrm>
          <a:prstGeom prst="roundRect">
            <a:avLst>
              <a:gd name="adj" fmla="val 18833"/>
            </a:avLst>
          </a:prstGeom>
          <a:solidFill>
            <a:srgbClr val="E1E1EA"/>
          </a:solidFill>
          <a:ln/>
        </p:spPr>
      </p:sp>
      <p:sp>
        <p:nvSpPr>
          <p:cNvPr id="3" name="Text 1"/>
          <p:cNvSpPr/>
          <p:nvPr/>
        </p:nvSpPr>
        <p:spPr>
          <a:xfrm>
            <a:off x="818153" y="775752"/>
            <a:ext cx="707946" cy="199787"/>
          </a:xfrm>
          <a:prstGeom prst="rect">
            <a:avLst/>
          </a:prstGeom>
          <a:noFill/>
          <a:ln/>
        </p:spPr>
        <p:txBody>
          <a:bodyPr wrap="none" lIns="0" tIns="0" rIns="0" bIns="0" rtlCol="0" anchor="t"/>
          <a:lstStyle/>
          <a:p>
            <a:pPr marL="0" indent="0" algn="l">
              <a:lnSpc>
                <a:spcPts val="1550"/>
              </a:lnSpc>
              <a:buNone/>
            </a:pPr>
            <a:r>
              <a:rPr lang="en-US" sz="1200" dirty="0">
                <a:solidFill>
                  <a:srgbClr val="3C3939"/>
                </a:solidFill>
                <a:latin typeface="Roboto" pitchFamily="34" charset="0"/>
                <a:ea typeface="Roboto" pitchFamily="34" charset="-122"/>
                <a:cs typeface="Roboto" pitchFamily="34" charset="-120"/>
              </a:rPr>
              <a:t>CHAPTER 2</a:t>
            </a:r>
            <a:endParaRPr lang="en-US" sz="1200" dirty="0"/>
          </a:p>
        </p:txBody>
      </p:sp>
      <p:sp>
        <p:nvSpPr>
          <p:cNvPr id="4" name="Text 2"/>
          <p:cNvSpPr/>
          <p:nvPr/>
        </p:nvSpPr>
        <p:spPr>
          <a:xfrm>
            <a:off x="716950" y="1083409"/>
            <a:ext cx="7247334" cy="527090"/>
          </a:xfrm>
          <a:prstGeom prst="rect">
            <a:avLst/>
          </a:prstGeom>
          <a:noFill/>
          <a:ln/>
        </p:spPr>
        <p:txBody>
          <a:bodyPr wrap="none" lIns="0" tIns="0" rIns="0" bIns="0" rtlCol="0" anchor="t"/>
          <a:lstStyle/>
          <a:p>
            <a:pPr marL="0" indent="0" algn="l">
              <a:lnSpc>
                <a:spcPts val="4150"/>
              </a:lnSpc>
              <a:buNone/>
            </a:pPr>
            <a:r>
              <a:rPr lang="en-US" sz="4000" dirty="0">
                <a:solidFill>
                  <a:srgbClr val="1B1B27"/>
                </a:solidFill>
                <a:latin typeface="Impact" panose="020B0806030902050204" pitchFamily="34" charset="0"/>
                <a:ea typeface="Raleway" pitchFamily="34" charset="-122"/>
                <a:cs typeface="Raleway" pitchFamily="34" charset="-120"/>
              </a:rPr>
              <a:t>Business Model vs. Business Strategy</a:t>
            </a:r>
            <a:endParaRPr lang="en-US" sz="4000" dirty="0"/>
          </a:p>
        </p:txBody>
      </p:sp>
      <p:sp>
        <p:nvSpPr>
          <p:cNvPr id="5" name="Text 3"/>
          <p:cNvSpPr/>
          <p:nvPr/>
        </p:nvSpPr>
        <p:spPr>
          <a:xfrm>
            <a:off x="716950" y="1825526"/>
            <a:ext cx="13042821" cy="499348"/>
          </a:xfrm>
          <a:prstGeom prst="rect">
            <a:avLst/>
          </a:prstGeom>
          <a:noFill/>
          <a:ln/>
        </p:spPr>
        <p:txBody>
          <a:bodyPr wrap="square" lIns="0" tIns="0" rIns="0" bIns="0" rtlCol="0" anchor="t"/>
          <a:lstStyle/>
          <a:p>
            <a:pPr marL="0" indent="0" algn="l">
              <a:lnSpc>
                <a:spcPts val="1950"/>
              </a:lnSpc>
              <a:buNone/>
            </a:pPr>
            <a:r>
              <a:rPr lang="en-US" sz="1600" dirty="0">
                <a:solidFill>
                  <a:srgbClr val="3C3939"/>
                </a:solidFill>
                <a:latin typeface="Roboto" pitchFamily="34" charset="0"/>
                <a:ea typeface="Roboto" pitchFamily="34" charset="-122"/>
                <a:cs typeface="Roboto" pitchFamily="34" charset="-120"/>
              </a:rPr>
              <a:t>These two concepts are often confused but serve distinctly different purposes. Understanding the difference is essential for any manager seeking to analyse why companies in the same industry achieve vastly different results.</a:t>
            </a:r>
            <a:endParaRPr lang="en-US" sz="1600" dirty="0"/>
          </a:p>
        </p:txBody>
      </p:sp>
      <p:sp>
        <p:nvSpPr>
          <p:cNvPr id="6" name="Shape 4"/>
          <p:cNvSpPr/>
          <p:nvPr/>
        </p:nvSpPr>
        <p:spPr>
          <a:xfrm>
            <a:off x="595506" y="2486084"/>
            <a:ext cx="6558558" cy="3797737"/>
          </a:xfrm>
          <a:prstGeom prst="roundRect">
            <a:avLst>
              <a:gd name="adj" fmla="val 3198"/>
            </a:avLst>
          </a:prstGeom>
          <a:solidFill>
            <a:srgbClr val="1B1B27">
              <a:alpha val="95000"/>
            </a:srgbClr>
          </a:solidFill>
          <a:ln/>
        </p:spPr>
      </p:sp>
      <p:sp>
        <p:nvSpPr>
          <p:cNvPr id="7" name="Text 5"/>
          <p:cNvSpPr/>
          <p:nvPr/>
        </p:nvSpPr>
        <p:spPr>
          <a:xfrm>
            <a:off x="764098" y="2629436"/>
            <a:ext cx="2108716" cy="263485"/>
          </a:xfrm>
          <a:prstGeom prst="rect">
            <a:avLst/>
          </a:prstGeom>
          <a:noFill/>
          <a:ln/>
        </p:spPr>
        <p:txBody>
          <a:bodyPr wrap="none" lIns="0" tIns="0" rIns="0" bIns="0" rtlCol="0" anchor="t"/>
          <a:lstStyle/>
          <a:p>
            <a:pPr marL="0" indent="0" algn="l">
              <a:lnSpc>
                <a:spcPts val="2050"/>
              </a:lnSpc>
              <a:buNone/>
            </a:pPr>
            <a:r>
              <a:rPr lang="en-US" sz="2000" dirty="0">
                <a:solidFill>
                  <a:srgbClr val="FFFFFF"/>
                </a:solidFill>
                <a:latin typeface="Impact" panose="020B0806030902050204" pitchFamily="34" charset="0"/>
                <a:ea typeface="Raleway" pitchFamily="34" charset="-122"/>
                <a:cs typeface="Raleway" pitchFamily="34" charset="-120"/>
              </a:rPr>
              <a:t>Business Model</a:t>
            </a:r>
            <a:endParaRPr lang="en-US" sz="2000" dirty="0"/>
          </a:p>
        </p:txBody>
      </p:sp>
      <p:sp>
        <p:nvSpPr>
          <p:cNvPr id="8" name="Text 6"/>
          <p:cNvSpPr/>
          <p:nvPr/>
        </p:nvSpPr>
        <p:spPr>
          <a:xfrm>
            <a:off x="764098" y="3036272"/>
            <a:ext cx="6221373" cy="749022"/>
          </a:xfrm>
          <a:prstGeom prst="rect">
            <a:avLst/>
          </a:prstGeom>
          <a:noFill/>
          <a:ln/>
        </p:spPr>
        <p:txBody>
          <a:bodyPr wrap="square" lIns="0" tIns="0" rIns="0" bIns="0" rtlCol="0" anchor="t"/>
          <a:lstStyle/>
          <a:p>
            <a:pPr marL="0" indent="0" algn="l">
              <a:lnSpc>
                <a:spcPts val="1950"/>
              </a:lnSpc>
              <a:buNone/>
            </a:pPr>
            <a:r>
              <a:rPr lang="en-US" sz="1600" dirty="0">
                <a:solidFill>
                  <a:srgbClr val="FFFFFF"/>
                </a:solidFill>
                <a:latin typeface="Roboto" pitchFamily="34" charset="0"/>
                <a:ea typeface="Roboto" pitchFamily="34" charset="-122"/>
                <a:cs typeface="Roboto" pitchFamily="34" charset="-120"/>
              </a:rPr>
              <a:t>Describes </a:t>
            </a:r>
            <a:r>
              <a:rPr lang="en-US" sz="1600" b="1" dirty="0">
                <a:solidFill>
                  <a:srgbClr val="FFFFFF"/>
                </a:solidFill>
                <a:latin typeface="Roboto" pitchFamily="34" charset="0"/>
                <a:ea typeface="Roboto" pitchFamily="34" charset="-122"/>
                <a:cs typeface="Roboto" pitchFamily="34" charset="-120"/>
              </a:rPr>
              <a:t>how a company is structured</a:t>
            </a:r>
            <a:r>
              <a:rPr lang="en-US" sz="1600" dirty="0">
                <a:solidFill>
                  <a:srgbClr val="FFFFFF"/>
                </a:solidFill>
                <a:latin typeface="Roboto" pitchFamily="34" charset="0"/>
                <a:ea typeface="Roboto" pitchFamily="34" charset="-122"/>
                <a:cs typeface="Roboto" pitchFamily="34" charset="-120"/>
              </a:rPr>
              <a:t> to create, deliver, and capture value. It is relatively independent of competitors and the current state of the market. It answers: </a:t>
            </a:r>
            <a:r>
              <a:rPr lang="en-US" sz="1600" i="1" dirty="0">
                <a:solidFill>
                  <a:srgbClr val="FFFFFF"/>
                </a:solidFill>
                <a:latin typeface="Roboto" pitchFamily="34" charset="0"/>
                <a:ea typeface="Roboto" pitchFamily="34" charset="-122"/>
                <a:cs typeface="Roboto" pitchFamily="34" charset="-120"/>
              </a:rPr>
              <a:t>How do we make money?</a:t>
            </a:r>
            <a:endParaRPr lang="en-US" sz="1600" dirty="0"/>
          </a:p>
        </p:txBody>
      </p:sp>
      <p:sp>
        <p:nvSpPr>
          <p:cNvPr id="9" name="Text 7"/>
          <p:cNvSpPr/>
          <p:nvPr/>
        </p:nvSpPr>
        <p:spPr>
          <a:xfrm>
            <a:off x="764098" y="3914239"/>
            <a:ext cx="6221373" cy="1149072"/>
          </a:xfrm>
          <a:prstGeom prst="rect">
            <a:avLst/>
          </a:prstGeom>
          <a:noFill/>
          <a:ln/>
        </p:spPr>
        <p:txBody>
          <a:bodyPr wrap="square" lIns="0" tIns="0" rIns="0" bIns="0" rtlCol="0" anchor="t"/>
          <a:lstStyle/>
          <a:p>
            <a:pPr marL="342900" indent="-342900" algn="l">
              <a:lnSpc>
                <a:spcPts val="1950"/>
              </a:lnSpc>
              <a:buSzPct val="100000"/>
              <a:buChar char="•"/>
            </a:pPr>
            <a:r>
              <a:rPr lang="en-US" sz="1600" dirty="0">
                <a:solidFill>
                  <a:srgbClr val="FFFFFF"/>
                </a:solidFill>
                <a:latin typeface="Roboto" pitchFamily="34" charset="0"/>
                <a:ea typeface="Roboto" pitchFamily="34" charset="-122"/>
                <a:cs typeface="Roboto" pitchFamily="34" charset="-120"/>
              </a:rPr>
              <a:t>Revenue streams and pricing mechanisms</a:t>
            </a:r>
            <a:endParaRPr lang="en-US" sz="1600" dirty="0"/>
          </a:p>
          <a:p>
            <a:pPr marL="342900" indent="-342900" algn="l">
              <a:lnSpc>
                <a:spcPts val="1950"/>
              </a:lnSpc>
              <a:buSzPct val="100000"/>
              <a:buChar char="•"/>
            </a:pPr>
            <a:r>
              <a:rPr lang="en-US" sz="1600" dirty="0">
                <a:solidFill>
                  <a:srgbClr val="FFFFFF"/>
                </a:solidFill>
                <a:latin typeface="Roboto" pitchFamily="34" charset="0"/>
                <a:ea typeface="Roboto" pitchFamily="34" charset="-122"/>
                <a:cs typeface="Roboto" pitchFamily="34" charset="-120"/>
              </a:rPr>
              <a:t>Cost structure and resource base</a:t>
            </a:r>
            <a:endParaRPr lang="en-US" sz="1600" dirty="0"/>
          </a:p>
          <a:p>
            <a:pPr marL="342900" indent="-342900" algn="l">
              <a:lnSpc>
                <a:spcPts val="1950"/>
              </a:lnSpc>
              <a:buSzPct val="100000"/>
              <a:buChar char="•"/>
            </a:pPr>
            <a:r>
              <a:rPr lang="en-US" sz="1600" dirty="0">
                <a:solidFill>
                  <a:srgbClr val="FFFFFF"/>
                </a:solidFill>
                <a:latin typeface="Roboto" pitchFamily="34" charset="0"/>
                <a:ea typeface="Roboto" pitchFamily="34" charset="-122"/>
                <a:cs typeface="Roboto" pitchFamily="34" charset="-120"/>
              </a:rPr>
              <a:t>Key partnerships and activities</a:t>
            </a:r>
            <a:endParaRPr lang="en-US" sz="1600" dirty="0"/>
          </a:p>
          <a:p>
            <a:pPr marL="342900" indent="-342900" algn="l">
              <a:lnSpc>
                <a:spcPts val="1950"/>
              </a:lnSpc>
              <a:buSzPct val="100000"/>
              <a:buChar char="•"/>
            </a:pPr>
            <a:r>
              <a:rPr lang="en-US" sz="1600" dirty="0">
                <a:solidFill>
                  <a:srgbClr val="FFFFFF"/>
                </a:solidFill>
                <a:latin typeface="Roboto" pitchFamily="34" charset="0"/>
                <a:ea typeface="Roboto" pitchFamily="34" charset="-122"/>
                <a:cs typeface="Roboto" pitchFamily="34" charset="-120"/>
              </a:rPr>
              <a:t>Value proposition to customers</a:t>
            </a:r>
            <a:endParaRPr lang="en-US" sz="1600" dirty="0"/>
          </a:p>
        </p:txBody>
      </p:sp>
      <p:sp>
        <p:nvSpPr>
          <p:cNvPr id="10" name="Text 8"/>
          <p:cNvSpPr/>
          <p:nvPr/>
        </p:nvSpPr>
        <p:spPr>
          <a:xfrm>
            <a:off x="7451720" y="2629436"/>
            <a:ext cx="2108716" cy="263485"/>
          </a:xfrm>
          <a:prstGeom prst="rect">
            <a:avLst/>
          </a:prstGeom>
          <a:noFill/>
          <a:ln/>
        </p:spPr>
        <p:txBody>
          <a:bodyPr wrap="none" lIns="0" tIns="0" rIns="0" bIns="0" rtlCol="0" anchor="t"/>
          <a:lstStyle/>
          <a:p>
            <a:pPr marL="0" indent="0" algn="l">
              <a:lnSpc>
                <a:spcPts val="2050"/>
              </a:lnSpc>
              <a:buNone/>
            </a:pPr>
            <a:r>
              <a:rPr lang="en-US" sz="2000" dirty="0">
                <a:solidFill>
                  <a:srgbClr val="1B1B27"/>
                </a:solidFill>
                <a:latin typeface="Impact" panose="020B0806030902050204" pitchFamily="34" charset="0"/>
                <a:ea typeface="Raleway" pitchFamily="34" charset="-122"/>
                <a:cs typeface="Raleway" pitchFamily="34" charset="-120"/>
              </a:rPr>
              <a:t>Business Strategy</a:t>
            </a:r>
            <a:endParaRPr lang="en-US" sz="2000" dirty="0"/>
          </a:p>
        </p:txBody>
      </p:sp>
      <p:sp>
        <p:nvSpPr>
          <p:cNvPr id="11" name="Text 9"/>
          <p:cNvSpPr/>
          <p:nvPr/>
        </p:nvSpPr>
        <p:spPr>
          <a:xfrm>
            <a:off x="7451720" y="3036272"/>
            <a:ext cx="6315670" cy="749022"/>
          </a:xfrm>
          <a:prstGeom prst="rect">
            <a:avLst/>
          </a:prstGeom>
          <a:noFill/>
          <a:ln/>
        </p:spPr>
        <p:txBody>
          <a:bodyPr wrap="square" lIns="0" tIns="0" rIns="0" bIns="0" rtlCol="0" anchor="t"/>
          <a:lstStyle/>
          <a:p>
            <a:pPr marL="0" indent="0" algn="l">
              <a:lnSpc>
                <a:spcPts val="1950"/>
              </a:lnSpc>
              <a:buNone/>
            </a:pPr>
            <a:r>
              <a:rPr lang="en-US" sz="1600" dirty="0">
                <a:solidFill>
                  <a:srgbClr val="3C3939"/>
                </a:solidFill>
                <a:latin typeface="Roboto" pitchFamily="34" charset="0"/>
                <a:ea typeface="Roboto" pitchFamily="34" charset="-122"/>
                <a:cs typeface="Roboto" pitchFamily="34" charset="-120"/>
              </a:rPr>
              <a:t>Describes </a:t>
            </a:r>
            <a:r>
              <a:rPr lang="en-US" sz="1600" b="1" dirty="0">
                <a:solidFill>
                  <a:srgbClr val="3C3939"/>
                </a:solidFill>
                <a:latin typeface="Roboto" pitchFamily="34" charset="0"/>
                <a:ea typeface="Roboto" pitchFamily="34" charset="-122"/>
                <a:cs typeface="Roboto" pitchFamily="34" charset="-120"/>
              </a:rPr>
              <a:t>how the company competes</a:t>
            </a:r>
            <a:r>
              <a:rPr lang="en-US" sz="1600" dirty="0">
                <a:solidFill>
                  <a:srgbClr val="3C3939"/>
                </a:solidFill>
                <a:latin typeface="Roboto" pitchFamily="34" charset="0"/>
                <a:ea typeface="Roboto" pitchFamily="34" charset="-122"/>
                <a:cs typeface="Roboto" pitchFamily="34" charset="-120"/>
              </a:rPr>
              <a:t> — how it engages rivals, segments customers, and responds to the actual market environment. It answers: </a:t>
            </a:r>
            <a:r>
              <a:rPr lang="en-US" sz="1600" i="1" dirty="0">
                <a:solidFill>
                  <a:srgbClr val="3C3939"/>
                </a:solidFill>
                <a:latin typeface="Roboto" pitchFamily="34" charset="0"/>
                <a:ea typeface="Roboto" pitchFamily="34" charset="-122"/>
                <a:cs typeface="Roboto" pitchFamily="34" charset="-120"/>
              </a:rPr>
              <a:t>How do we win?</a:t>
            </a:r>
            <a:endParaRPr lang="en-US" sz="1600" dirty="0"/>
          </a:p>
        </p:txBody>
      </p:sp>
      <p:sp>
        <p:nvSpPr>
          <p:cNvPr id="12" name="Text 10"/>
          <p:cNvSpPr/>
          <p:nvPr/>
        </p:nvSpPr>
        <p:spPr>
          <a:xfrm>
            <a:off x="7451720" y="3914239"/>
            <a:ext cx="6315670" cy="1149072"/>
          </a:xfrm>
          <a:prstGeom prst="rect">
            <a:avLst/>
          </a:prstGeom>
          <a:noFill/>
          <a:ln/>
        </p:spPr>
        <p:txBody>
          <a:bodyPr wrap="square" lIns="0" tIns="0" rIns="0" bIns="0" rtlCol="0" anchor="t"/>
          <a:lstStyle/>
          <a:p>
            <a:pPr marL="342900" indent="-342900" algn="l">
              <a:lnSpc>
                <a:spcPts val="1950"/>
              </a:lnSpc>
              <a:buSzPct val="100000"/>
              <a:buChar char="•"/>
            </a:pPr>
            <a:r>
              <a:rPr lang="en-US" sz="1600" dirty="0">
                <a:solidFill>
                  <a:srgbClr val="3C3939"/>
                </a:solidFill>
                <a:latin typeface="Roboto" pitchFamily="34" charset="0"/>
                <a:ea typeface="Roboto" pitchFamily="34" charset="-122"/>
                <a:cs typeface="Roboto" pitchFamily="34" charset="-120"/>
              </a:rPr>
              <a:t>Competitive positioning and differentiation</a:t>
            </a:r>
            <a:endParaRPr lang="en-US" sz="1600" dirty="0"/>
          </a:p>
          <a:p>
            <a:pPr marL="342900" indent="-342900" algn="l">
              <a:lnSpc>
                <a:spcPts val="1950"/>
              </a:lnSpc>
              <a:buSzPct val="100000"/>
              <a:buChar char="•"/>
            </a:pPr>
            <a:r>
              <a:rPr lang="en-US" sz="1600" dirty="0">
                <a:solidFill>
                  <a:srgbClr val="3C3939"/>
                </a:solidFill>
                <a:latin typeface="Roboto" pitchFamily="34" charset="0"/>
                <a:ea typeface="Roboto" pitchFamily="34" charset="-122"/>
                <a:cs typeface="Roboto" pitchFamily="34" charset="-120"/>
              </a:rPr>
              <a:t>Customer targeting and segmentation</a:t>
            </a:r>
            <a:endParaRPr lang="en-US" sz="1600" dirty="0"/>
          </a:p>
          <a:p>
            <a:pPr marL="342900" indent="-342900" algn="l">
              <a:lnSpc>
                <a:spcPts val="1950"/>
              </a:lnSpc>
              <a:buSzPct val="100000"/>
              <a:buChar char="•"/>
            </a:pPr>
            <a:r>
              <a:rPr lang="en-US" sz="1600" dirty="0">
                <a:solidFill>
                  <a:srgbClr val="3C3939"/>
                </a:solidFill>
                <a:latin typeface="Roboto" pitchFamily="34" charset="0"/>
                <a:ea typeface="Roboto" pitchFamily="34" charset="-122"/>
                <a:cs typeface="Roboto" pitchFamily="34" charset="-120"/>
              </a:rPr>
              <a:t>Response to competitor moves</a:t>
            </a:r>
            <a:endParaRPr lang="en-US" sz="1600" dirty="0"/>
          </a:p>
          <a:p>
            <a:pPr marL="342900" indent="-342900" algn="l">
              <a:lnSpc>
                <a:spcPts val="1950"/>
              </a:lnSpc>
              <a:buSzPct val="100000"/>
              <a:buChar char="•"/>
            </a:pPr>
            <a:r>
              <a:rPr lang="en-US" sz="1600" dirty="0">
                <a:solidFill>
                  <a:srgbClr val="3C3939"/>
                </a:solidFill>
                <a:latin typeface="Roboto" pitchFamily="34" charset="0"/>
                <a:ea typeface="Roboto" pitchFamily="34" charset="-122"/>
                <a:cs typeface="Roboto" pitchFamily="34" charset="-120"/>
              </a:rPr>
              <a:t>Market entry and expansion decisions</a:t>
            </a:r>
            <a:endParaRPr lang="en-US" sz="1600" dirty="0"/>
          </a:p>
        </p:txBody>
      </p:sp>
      <p:sp>
        <p:nvSpPr>
          <p:cNvPr id="13" name="Shape 11"/>
          <p:cNvSpPr/>
          <p:nvPr/>
        </p:nvSpPr>
        <p:spPr>
          <a:xfrm>
            <a:off x="7451720" y="5224522"/>
            <a:ext cx="6315670" cy="898088"/>
          </a:xfrm>
          <a:prstGeom prst="roundRect">
            <a:avLst>
              <a:gd name="adj" fmla="val 7890"/>
            </a:avLst>
          </a:prstGeom>
          <a:solidFill>
            <a:srgbClr val="B6D6FC"/>
          </a:solidFill>
          <a:ln/>
        </p:spPr>
      </p:sp>
      <p:pic>
        <p:nvPicPr>
          <p:cNvPr id="14" name="Image 0" descr="preencoded.png"/>
          <p:cNvPicPr>
            <a:picLocks noChangeAspect="1"/>
          </p:cNvPicPr>
          <p:nvPr/>
        </p:nvPicPr>
        <p:blipFill>
          <a:blip r:embed="rId3"/>
          <a:stretch>
            <a:fillRect/>
          </a:stretch>
        </p:blipFill>
        <p:spPr>
          <a:xfrm>
            <a:off x="7620313" y="5470624"/>
            <a:ext cx="210860" cy="168593"/>
          </a:xfrm>
          <a:prstGeom prst="rect">
            <a:avLst/>
          </a:prstGeom>
        </p:spPr>
      </p:pic>
      <p:sp>
        <p:nvSpPr>
          <p:cNvPr id="15" name="Text 12"/>
          <p:cNvSpPr/>
          <p:nvPr/>
        </p:nvSpPr>
        <p:spPr>
          <a:xfrm>
            <a:off x="7999765" y="5410021"/>
            <a:ext cx="5599033" cy="499348"/>
          </a:xfrm>
          <a:prstGeom prst="rect">
            <a:avLst/>
          </a:prstGeom>
          <a:noFill/>
          <a:ln/>
        </p:spPr>
        <p:txBody>
          <a:bodyPr wrap="square" lIns="0" tIns="0" rIns="0" bIns="0" rtlCol="0" anchor="t"/>
          <a:lstStyle/>
          <a:p>
            <a:pPr marL="0" indent="0" algn="l">
              <a:lnSpc>
                <a:spcPts val="1950"/>
              </a:lnSpc>
              <a:buNone/>
            </a:pPr>
            <a:r>
              <a:rPr lang="en-US" sz="1600" dirty="0">
                <a:solidFill>
                  <a:srgbClr val="000000"/>
                </a:solidFill>
                <a:latin typeface="Roboto" pitchFamily="34" charset="0"/>
                <a:ea typeface="Roboto" pitchFamily="34" charset="-122"/>
                <a:cs typeface="Roboto" pitchFamily="34" charset="-120"/>
              </a:rPr>
              <a:t>Two companies can share the same business model yet achieve very different results based solely on the strength of their business strategy.</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93790" y="1143357"/>
            <a:ext cx="1172051" cy="388382"/>
          </a:xfrm>
          <a:prstGeom prst="roundRect">
            <a:avLst>
              <a:gd name="adj" fmla="val 17171"/>
            </a:avLst>
          </a:prstGeom>
          <a:noFill/>
          <a:ln w="7620">
            <a:solidFill>
              <a:srgbClr val="1B1B27"/>
            </a:solidFill>
            <a:prstDash val="solid"/>
          </a:ln>
        </p:spPr>
      </p:sp>
      <p:sp>
        <p:nvSpPr>
          <p:cNvPr id="3" name="Text 1"/>
          <p:cNvSpPr/>
          <p:nvPr/>
        </p:nvSpPr>
        <p:spPr>
          <a:xfrm>
            <a:off x="920472" y="1210508"/>
            <a:ext cx="918686" cy="254079"/>
          </a:xfrm>
          <a:prstGeom prst="rect">
            <a:avLst/>
          </a:prstGeom>
          <a:noFill/>
          <a:ln/>
        </p:spPr>
        <p:txBody>
          <a:bodyPr wrap="none" lIns="0" tIns="0" rIns="0" bIns="0" rtlCol="0" anchor="t"/>
          <a:lstStyle/>
          <a:p>
            <a:pPr marL="0" indent="0" algn="l">
              <a:lnSpc>
                <a:spcPts val="2000"/>
              </a:lnSpc>
              <a:buNone/>
            </a:pPr>
            <a:r>
              <a:rPr lang="en-US" sz="1250" dirty="0">
                <a:solidFill>
                  <a:srgbClr val="1B1B27"/>
                </a:solidFill>
                <a:latin typeface="Roboto" pitchFamily="34" charset="0"/>
                <a:ea typeface="Roboto" pitchFamily="34" charset="-122"/>
                <a:cs typeface="Roboto" pitchFamily="34" charset="-120"/>
              </a:rPr>
              <a:t>CASE STUDY</a:t>
            </a:r>
            <a:endParaRPr lang="en-US" sz="1250" dirty="0"/>
          </a:p>
        </p:txBody>
      </p:sp>
      <p:sp>
        <p:nvSpPr>
          <p:cNvPr id="4" name="Text 2"/>
          <p:cNvSpPr/>
          <p:nvPr/>
        </p:nvSpPr>
        <p:spPr>
          <a:xfrm>
            <a:off x="793790" y="1611035"/>
            <a:ext cx="9431060" cy="620078"/>
          </a:xfrm>
          <a:prstGeom prst="rect">
            <a:avLst/>
          </a:prstGeom>
          <a:noFill/>
          <a:ln/>
        </p:spPr>
        <p:txBody>
          <a:bodyPr wrap="none" lIns="0" tIns="0" rIns="0" bIns="0" rtlCol="0" anchor="t"/>
          <a:lstStyle/>
          <a:p>
            <a:pPr marL="0" indent="0" algn="l">
              <a:lnSpc>
                <a:spcPts val="4850"/>
              </a:lnSpc>
              <a:buNone/>
            </a:pPr>
            <a:r>
              <a:rPr lang="en-US" sz="3900" dirty="0">
                <a:solidFill>
                  <a:srgbClr val="1B1B27"/>
                </a:solidFill>
                <a:latin typeface="Impact" panose="020B0806030902050204" pitchFamily="34" charset="0"/>
                <a:ea typeface="Raleway" pitchFamily="34" charset="-122"/>
                <a:cs typeface="Raleway" pitchFamily="34" charset="-120"/>
              </a:rPr>
              <a:t>Case Study: Walmart vs. K-Mart vs. Target</a:t>
            </a:r>
            <a:endParaRPr lang="en-US" sz="3900" dirty="0"/>
          </a:p>
        </p:txBody>
      </p:sp>
      <p:sp>
        <p:nvSpPr>
          <p:cNvPr id="5" name="Text 3"/>
          <p:cNvSpPr/>
          <p:nvPr/>
        </p:nvSpPr>
        <p:spPr>
          <a:xfrm>
            <a:off x="793790" y="2528768"/>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In the 1980s and 1990s, Walmart, K-Mart, and Target were virtually indistinguishable to the average consumer — all three were large-format discount retailers with open floor plans and extensive product ranges. They shared the same </a:t>
            </a:r>
            <a:r>
              <a:rPr lang="en-US" sz="1550" b="1" dirty="0">
                <a:solidFill>
                  <a:srgbClr val="3C3939"/>
                </a:solidFill>
                <a:latin typeface="Roboto" pitchFamily="34" charset="0"/>
                <a:ea typeface="Roboto" pitchFamily="34" charset="-122"/>
                <a:cs typeface="Roboto" pitchFamily="34" charset="-120"/>
              </a:rPr>
              <a:t>business model</a:t>
            </a:r>
            <a:r>
              <a:rPr lang="en-US" sz="1550" dirty="0">
                <a:solidFill>
                  <a:srgbClr val="3C3939"/>
                </a:solidFill>
                <a:latin typeface="Roboto" pitchFamily="34" charset="0"/>
                <a:ea typeface="Roboto" pitchFamily="34" charset="-122"/>
                <a:cs typeface="Roboto" pitchFamily="34" charset="-120"/>
              </a:rPr>
              <a:t>. Yet their fates diverged dramatically, driven entirely by differences in </a:t>
            </a:r>
            <a:r>
              <a:rPr lang="en-US" sz="1550" b="1" dirty="0">
                <a:solidFill>
                  <a:srgbClr val="3C3939"/>
                </a:solidFill>
                <a:latin typeface="Roboto" pitchFamily="34" charset="0"/>
                <a:ea typeface="Roboto" pitchFamily="34" charset="-122"/>
                <a:cs typeface="Roboto" pitchFamily="34" charset="-120"/>
              </a:rPr>
              <a:t>business strategy</a:t>
            </a:r>
            <a:r>
              <a:rPr lang="en-US" sz="1550" dirty="0">
                <a:solidFill>
                  <a:srgbClr val="3C3939"/>
                </a:solidFill>
                <a:latin typeface="Roboto" pitchFamily="34" charset="0"/>
                <a:ea typeface="Roboto" pitchFamily="34" charset="-122"/>
                <a:cs typeface="Roboto" pitchFamily="34" charset="-120"/>
              </a:rPr>
              <a:t>.</a:t>
            </a:r>
            <a:endParaRPr lang="en-US" sz="1550" dirty="0"/>
          </a:p>
        </p:txBody>
      </p:sp>
      <p:sp>
        <p:nvSpPr>
          <p:cNvPr id="6" name="Shape 4"/>
          <p:cNvSpPr/>
          <p:nvPr/>
        </p:nvSpPr>
        <p:spPr>
          <a:xfrm>
            <a:off x="793790" y="3704630"/>
            <a:ext cx="13042821" cy="3381494"/>
          </a:xfrm>
          <a:prstGeom prst="roundRect">
            <a:avLst>
              <a:gd name="adj" fmla="val 2465"/>
            </a:avLst>
          </a:prstGeom>
          <a:solidFill>
            <a:srgbClr val="E1E1EA"/>
          </a:solidFill>
          <a:ln w="7620">
            <a:solidFill>
              <a:srgbClr val="C7C7D0"/>
            </a:solidFill>
            <a:prstDash val="solid"/>
          </a:ln>
        </p:spPr>
      </p:sp>
      <p:sp>
        <p:nvSpPr>
          <p:cNvPr id="7" name="Shape 5"/>
          <p:cNvSpPr/>
          <p:nvPr/>
        </p:nvSpPr>
        <p:spPr>
          <a:xfrm>
            <a:off x="801410" y="3712250"/>
            <a:ext cx="4342448" cy="3366254"/>
          </a:xfrm>
          <a:prstGeom prst="roundRect">
            <a:avLst>
              <a:gd name="adj" fmla="val 2476"/>
            </a:avLst>
          </a:prstGeom>
          <a:solidFill>
            <a:srgbClr val="E1E1EA"/>
          </a:solidFill>
          <a:ln/>
        </p:spPr>
      </p:sp>
      <p:sp>
        <p:nvSpPr>
          <p:cNvPr id="8" name="Text 6"/>
          <p:cNvSpPr/>
          <p:nvPr/>
        </p:nvSpPr>
        <p:spPr>
          <a:xfrm>
            <a:off x="999768" y="391060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K-Mart</a:t>
            </a:r>
            <a:endParaRPr lang="en-US" sz="1950" dirty="0"/>
          </a:p>
        </p:txBody>
      </p:sp>
      <p:sp>
        <p:nvSpPr>
          <p:cNvPr id="9" name="Text 7"/>
          <p:cNvSpPr/>
          <p:nvPr/>
        </p:nvSpPr>
        <p:spPr>
          <a:xfrm>
            <a:off x="999768" y="4339828"/>
            <a:ext cx="3945731" cy="190523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Focused on major urban and suburban centres with high overhead costs. Failed to differentiate or innovate on pricing or experience. Gradually lost market share to both rivals and eventually filed for bankruptcy in 2002.</a:t>
            </a:r>
            <a:endParaRPr lang="en-US" sz="1550" dirty="0"/>
          </a:p>
        </p:txBody>
      </p:sp>
      <p:sp>
        <p:nvSpPr>
          <p:cNvPr id="10" name="Shape 8"/>
          <p:cNvSpPr/>
          <p:nvPr/>
        </p:nvSpPr>
        <p:spPr>
          <a:xfrm>
            <a:off x="5143857" y="3712250"/>
            <a:ext cx="4342567" cy="3366254"/>
          </a:xfrm>
          <a:prstGeom prst="rect">
            <a:avLst/>
          </a:prstGeom>
          <a:solidFill>
            <a:srgbClr val="E1E1EA"/>
          </a:solidFill>
          <a:ln/>
        </p:spPr>
      </p:sp>
      <p:sp>
        <p:nvSpPr>
          <p:cNvPr id="11" name="Shape 9"/>
          <p:cNvSpPr/>
          <p:nvPr/>
        </p:nvSpPr>
        <p:spPr>
          <a:xfrm>
            <a:off x="5143857" y="3712250"/>
            <a:ext cx="22860" cy="3366254"/>
          </a:xfrm>
          <a:prstGeom prst="roundRect">
            <a:avLst>
              <a:gd name="adj" fmla="val 364651"/>
            </a:avLst>
          </a:prstGeom>
          <a:solidFill>
            <a:srgbClr val="C7C7D0"/>
          </a:solidFill>
          <a:ln/>
        </p:spPr>
      </p:sp>
      <p:sp>
        <p:nvSpPr>
          <p:cNvPr id="12" name="Text 10"/>
          <p:cNvSpPr/>
          <p:nvPr/>
        </p:nvSpPr>
        <p:spPr>
          <a:xfrm>
            <a:off x="5342215" y="391060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Walmart</a:t>
            </a:r>
            <a:endParaRPr lang="en-US" sz="1950" dirty="0"/>
          </a:p>
        </p:txBody>
      </p:sp>
      <p:sp>
        <p:nvSpPr>
          <p:cNvPr id="13" name="Text 11"/>
          <p:cNvSpPr/>
          <p:nvPr/>
        </p:nvSpPr>
        <p:spPr>
          <a:xfrm>
            <a:off x="5342215" y="4339828"/>
            <a:ext cx="3945850" cy="254031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Made a counter-intuitive strategic move — ceding large cities to K-Mart and instead dominating smaller suburban and rural communities. This dramatically lowered real-estate and operational costs, enabling consistently lower prices (Everyday Low Pricing strategy) that K-Mart could not match.</a:t>
            </a:r>
            <a:endParaRPr lang="en-US" sz="1550" dirty="0"/>
          </a:p>
        </p:txBody>
      </p:sp>
      <p:sp>
        <p:nvSpPr>
          <p:cNvPr id="14" name="Shape 12"/>
          <p:cNvSpPr/>
          <p:nvPr/>
        </p:nvSpPr>
        <p:spPr>
          <a:xfrm>
            <a:off x="9486424" y="3712250"/>
            <a:ext cx="4342567" cy="3366254"/>
          </a:xfrm>
          <a:prstGeom prst="rect">
            <a:avLst/>
          </a:prstGeom>
          <a:solidFill>
            <a:srgbClr val="E1E1EA"/>
          </a:solidFill>
          <a:ln/>
        </p:spPr>
      </p:sp>
      <p:sp>
        <p:nvSpPr>
          <p:cNvPr id="15" name="Shape 13"/>
          <p:cNvSpPr/>
          <p:nvPr/>
        </p:nvSpPr>
        <p:spPr>
          <a:xfrm>
            <a:off x="9486424" y="3712250"/>
            <a:ext cx="22860" cy="3366254"/>
          </a:xfrm>
          <a:prstGeom prst="roundRect">
            <a:avLst>
              <a:gd name="adj" fmla="val 364651"/>
            </a:avLst>
          </a:prstGeom>
          <a:solidFill>
            <a:srgbClr val="C7C7D0"/>
          </a:solidFill>
          <a:ln/>
        </p:spPr>
      </p:sp>
      <p:sp>
        <p:nvSpPr>
          <p:cNvPr id="16" name="Text 14"/>
          <p:cNvSpPr/>
          <p:nvPr/>
        </p:nvSpPr>
        <p:spPr>
          <a:xfrm>
            <a:off x="9684782" y="391060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Target</a:t>
            </a:r>
            <a:endParaRPr lang="en-US" sz="1950" dirty="0"/>
          </a:p>
        </p:txBody>
      </p:sp>
      <p:sp>
        <p:nvSpPr>
          <p:cNvPr id="17" name="Text 15"/>
          <p:cNvSpPr/>
          <p:nvPr/>
        </p:nvSpPr>
        <p:spPr>
          <a:xfrm>
            <a:off x="9684782" y="4339828"/>
            <a:ext cx="3945850" cy="222277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Chose a differentiation strategy — moving up-market by focusing on higher-quality merchandise, cleaner store environments, and design-led products. Instead of competing directly on price, Target attracted a more affluent suburban shopper segment, carving out a distinct and profitable niche.</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93790" y="1139190"/>
            <a:ext cx="1383983" cy="388382"/>
          </a:xfrm>
          <a:prstGeom prst="roundRect">
            <a:avLst>
              <a:gd name="adj" fmla="val 17171"/>
            </a:avLst>
          </a:prstGeom>
          <a:noFill/>
          <a:ln w="7620">
            <a:solidFill>
              <a:srgbClr val="1B1B27"/>
            </a:solidFill>
            <a:prstDash val="solid"/>
          </a:ln>
        </p:spPr>
      </p:sp>
      <p:sp>
        <p:nvSpPr>
          <p:cNvPr id="3" name="Text 1"/>
          <p:cNvSpPr/>
          <p:nvPr/>
        </p:nvSpPr>
        <p:spPr>
          <a:xfrm>
            <a:off x="920472" y="1206341"/>
            <a:ext cx="1130618" cy="254079"/>
          </a:xfrm>
          <a:prstGeom prst="rect">
            <a:avLst/>
          </a:prstGeom>
          <a:noFill/>
          <a:ln/>
        </p:spPr>
        <p:txBody>
          <a:bodyPr wrap="none" lIns="0" tIns="0" rIns="0" bIns="0" rtlCol="0" anchor="t"/>
          <a:lstStyle/>
          <a:p>
            <a:pPr marL="0" indent="0" algn="l">
              <a:lnSpc>
                <a:spcPts val="2000"/>
              </a:lnSpc>
              <a:buNone/>
            </a:pPr>
            <a:r>
              <a:rPr lang="en-US" sz="1250" dirty="0">
                <a:solidFill>
                  <a:srgbClr val="1B1B27"/>
                </a:solidFill>
                <a:latin typeface="Roboto" pitchFamily="34" charset="0"/>
                <a:ea typeface="Roboto" pitchFamily="34" charset="-122"/>
                <a:cs typeface="Roboto" pitchFamily="34" charset="-120"/>
              </a:rPr>
              <a:t>KEY TAKEAWAY</a:t>
            </a:r>
            <a:endParaRPr lang="en-US" sz="1250" dirty="0"/>
          </a:p>
        </p:txBody>
      </p:sp>
      <p:sp>
        <p:nvSpPr>
          <p:cNvPr id="4" name="Text 2"/>
          <p:cNvSpPr/>
          <p:nvPr/>
        </p:nvSpPr>
        <p:spPr>
          <a:xfrm>
            <a:off x="793790" y="1606867"/>
            <a:ext cx="13003768" cy="620078"/>
          </a:xfrm>
          <a:prstGeom prst="rect">
            <a:avLst/>
          </a:prstGeom>
          <a:noFill/>
          <a:ln/>
        </p:spPr>
        <p:txBody>
          <a:bodyPr wrap="none" lIns="0" tIns="0" rIns="0" bIns="0" rtlCol="0" anchor="t"/>
          <a:lstStyle/>
          <a:p>
            <a:pPr marL="0" indent="0" algn="l">
              <a:lnSpc>
                <a:spcPts val="4850"/>
              </a:lnSpc>
              <a:buNone/>
            </a:pPr>
            <a:r>
              <a:rPr lang="en-US" sz="3900" dirty="0">
                <a:solidFill>
                  <a:srgbClr val="1B1B27"/>
                </a:solidFill>
                <a:latin typeface="Impact" panose="020B0806030902050204" pitchFamily="34" charset="0"/>
                <a:ea typeface="Raleway" pitchFamily="34" charset="-122"/>
                <a:cs typeface="Raleway" pitchFamily="34" charset="-120"/>
              </a:rPr>
              <a:t>The Walmart Lesson: Strategy as Competitive Advantage</a:t>
            </a:r>
            <a:endParaRPr lang="en-US" sz="3900" dirty="0"/>
          </a:p>
        </p:txBody>
      </p:sp>
      <p:sp>
        <p:nvSpPr>
          <p:cNvPr id="5" name="Text 3"/>
          <p:cNvSpPr/>
          <p:nvPr/>
        </p:nvSpPr>
        <p:spPr>
          <a:xfrm>
            <a:off x="1091446" y="2747843"/>
            <a:ext cx="12745164" cy="317540"/>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Same model, different strategy — completely different outcomes. Walmart's suburban dominance strategy changed the entire retail landscape.</a:t>
            </a:r>
            <a:endParaRPr lang="en-US" sz="1550" dirty="0"/>
          </a:p>
        </p:txBody>
      </p:sp>
      <p:sp>
        <p:nvSpPr>
          <p:cNvPr id="6" name="Shape 4"/>
          <p:cNvSpPr/>
          <p:nvPr/>
        </p:nvSpPr>
        <p:spPr>
          <a:xfrm>
            <a:off x="793790" y="2524601"/>
            <a:ext cx="22860" cy="764024"/>
          </a:xfrm>
          <a:prstGeom prst="rect">
            <a:avLst/>
          </a:prstGeom>
          <a:solidFill>
            <a:srgbClr val="1B1B27"/>
          </a:solidFill>
          <a:ln/>
        </p:spPr>
      </p:sp>
      <p:sp>
        <p:nvSpPr>
          <p:cNvPr id="7" name="Text 5"/>
          <p:cNvSpPr/>
          <p:nvPr/>
        </p:nvSpPr>
        <p:spPr>
          <a:xfrm>
            <a:off x="793790" y="3511868"/>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Walmart's insight was elegant in its simplicity: by choosing markets that K-Mart ignored, it built scale and loyalty in underserved communities, kept overheads low, and passed savings directly to consumers. This virtuous cycle compounded over decades, making Walmart the world's largest retailer.</a:t>
            </a:r>
            <a:endParaRPr lang="en-US" sz="1550" dirty="0"/>
          </a:p>
        </p:txBody>
      </p:sp>
      <p:sp>
        <p:nvSpPr>
          <p:cNvPr id="8" name="Shape 6"/>
          <p:cNvSpPr/>
          <p:nvPr/>
        </p:nvSpPr>
        <p:spPr>
          <a:xfrm>
            <a:off x="793790" y="4687729"/>
            <a:ext cx="446484" cy="446484"/>
          </a:xfrm>
          <a:prstGeom prst="roundRect">
            <a:avLst>
              <a:gd name="adj" fmla="val 18670"/>
            </a:avLst>
          </a:prstGeom>
          <a:solidFill>
            <a:srgbClr val="E1E1EA"/>
          </a:solidFill>
          <a:ln w="7620">
            <a:solidFill>
              <a:srgbClr val="C7C7D0"/>
            </a:solidFill>
            <a:prstDash val="solid"/>
          </a:ln>
        </p:spPr>
      </p:sp>
      <p:sp>
        <p:nvSpPr>
          <p:cNvPr id="9" name="Text 7"/>
          <p:cNvSpPr/>
          <p:nvPr/>
        </p:nvSpPr>
        <p:spPr>
          <a:xfrm>
            <a:off x="1438632" y="475595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Location as Strategy</a:t>
            </a:r>
            <a:endParaRPr lang="en-US" sz="1950" dirty="0"/>
          </a:p>
        </p:txBody>
      </p:sp>
      <p:sp>
        <p:nvSpPr>
          <p:cNvPr id="10" name="Text 8"/>
          <p:cNvSpPr/>
          <p:nvPr/>
        </p:nvSpPr>
        <p:spPr>
          <a:xfrm>
            <a:off x="1438632" y="5185172"/>
            <a:ext cx="3537347" cy="158769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Walmart deliberately targeted smaller towns and suburban areas where K-Mart had no presence, reducing direct competition and lowering real-estate costs significantly.</a:t>
            </a:r>
            <a:endParaRPr lang="en-US" sz="1550" dirty="0"/>
          </a:p>
        </p:txBody>
      </p:sp>
      <p:sp>
        <p:nvSpPr>
          <p:cNvPr id="11" name="Shape 9"/>
          <p:cNvSpPr/>
          <p:nvPr/>
        </p:nvSpPr>
        <p:spPr>
          <a:xfrm>
            <a:off x="5223986" y="4687729"/>
            <a:ext cx="446484" cy="446484"/>
          </a:xfrm>
          <a:prstGeom prst="roundRect">
            <a:avLst>
              <a:gd name="adj" fmla="val 18670"/>
            </a:avLst>
          </a:prstGeom>
          <a:solidFill>
            <a:srgbClr val="E1E1EA"/>
          </a:solidFill>
          <a:ln w="7620">
            <a:solidFill>
              <a:srgbClr val="C7C7D0"/>
            </a:solidFill>
            <a:prstDash val="solid"/>
          </a:ln>
        </p:spPr>
      </p:sp>
      <p:sp>
        <p:nvSpPr>
          <p:cNvPr id="12" name="Text 10"/>
          <p:cNvSpPr/>
          <p:nvPr/>
        </p:nvSpPr>
        <p:spPr>
          <a:xfrm>
            <a:off x="5868829" y="4755952"/>
            <a:ext cx="3262789"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Everyday Low Pricing (EDLP)</a:t>
            </a:r>
            <a:endParaRPr lang="en-US" sz="1950" dirty="0"/>
          </a:p>
        </p:txBody>
      </p:sp>
      <p:sp>
        <p:nvSpPr>
          <p:cNvPr id="13" name="Text 11"/>
          <p:cNvSpPr/>
          <p:nvPr/>
        </p:nvSpPr>
        <p:spPr>
          <a:xfrm>
            <a:off x="5868829" y="5185172"/>
            <a:ext cx="3537466" cy="190523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Rather than relying on periodic promotional sales, Walmart committed to consistently low prices every day — building unbeatable customer trust and supply chain efficiency through volume purchasing.</a:t>
            </a:r>
            <a:endParaRPr lang="en-US" sz="1550" dirty="0"/>
          </a:p>
        </p:txBody>
      </p:sp>
      <p:sp>
        <p:nvSpPr>
          <p:cNvPr id="14" name="Shape 12"/>
          <p:cNvSpPr/>
          <p:nvPr/>
        </p:nvSpPr>
        <p:spPr>
          <a:xfrm>
            <a:off x="9654302" y="4687729"/>
            <a:ext cx="446484" cy="446484"/>
          </a:xfrm>
          <a:prstGeom prst="roundRect">
            <a:avLst>
              <a:gd name="adj" fmla="val 18670"/>
            </a:avLst>
          </a:prstGeom>
          <a:solidFill>
            <a:srgbClr val="E1E1EA"/>
          </a:solidFill>
          <a:ln w="7620">
            <a:solidFill>
              <a:srgbClr val="C7C7D0"/>
            </a:solidFill>
            <a:prstDash val="solid"/>
          </a:ln>
        </p:spPr>
      </p:sp>
      <p:sp>
        <p:nvSpPr>
          <p:cNvPr id="15" name="Text 13"/>
          <p:cNvSpPr/>
          <p:nvPr/>
        </p:nvSpPr>
        <p:spPr>
          <a:xfrm>
            <a:off x="10299144" y="4755952"/>
            <a:ext cx="2756178"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Supply Chain Innovation</a:t>
            </a:r>
            <a:endParaRPr lang="en-US" sz="1950" dirty="0"/>
          </a:p>
        </p:txBody>
      </p:sp>
      <p:sp>
        <p:nvSpPr>
          <p:cNvPr id="16" name="Text 14"/>
          <p:cNvSpPr/>
          <p:nvPr/>
        </p:nvSpPr>
        <p:spPr>
          <a:xfrm>
            <a:off x="10299144" y="5185172"/>
            <a:ext cx="3537466" cy="158769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Walmart invested heavily in logistics technology and vendor partnerships, enabling real-time inventory management — a structural advantage that competitors struggled to replicate.</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793790" y="693896"/>
            <a:ext cx="1056561" cy="339566"/>
          </a:xfrm>
          <a:prstGeom prst="roundRect">
            <a:avLst>
              <a:gd name="adj" fmla="val 17675"/>
            </a:avLst>
          </a:prstGeom>
          <a:noFill/>
          <a:ln w="7620">
            <a:solidFill>
              <a:srgbClr val="1B1B27"/>
            </a:solidFill>
            <a:prstDash val="solid"/>
          </a:ln>
        </p:spPr>
      </p:sp>
      <p:sp>
        <p:nvSpPr>
          <p:cNvPr id="3" name="Text 1"/>
          <p:cNvSpPr/>
          <p:nvPr/>
        </p:nvSpPr>
        <p:spPr>
          <a:xfrm>
            <a:off x="908566" y="755094"/>
            <a:ext cx="827008" cy="217170"/>
          </a:xfrm>
          <a:prstGeom prst="rect">
            <a:avLst/>
          </a:prstGeom>
          <a:noFill/>
          <a:ln/>
        </p:spPr>
        <p:txBody>
          <a:bodyPr wrap="none" lIns="0" tIns="0" rIns="0" bIns="0" rtlCol="0" anchor="t"/>
          <a:lstStyle/>
          <a:p>
            <a:pPr marL="0" indent="0" algn="l">
              <a:lnSpc>
                <a:spcPts val="1700"/>
              </a:lnSpc>
              <a:buNone/>
            </a:pPr>
            <a:r>
              <a:rPr lang="en-US" sz="1100" dirty="0">
                <a:solidFill>
                  <a:srgbClr val="1B1B27"/>
                </a:solidFill>
                <a:latin typeface="Roboto" pitchFamily="34" charset="0"/>
                <a:ea typeface="Roboto" pitchFamily="34" charset="-122"/>
                <a:cs typeface="Roboto" pitchFamily="34" charset="-120"/>
              </a:rPr>
              <a:t>CASE STUDY</a:t>
            </a:r>
            <a:endParaRPr lang="en-US" sz="1100" dirty="0"/>
          </a:p>
        </p:txBody>
      </p:sp>
      <p:sp>
        <p:nvSpPr>
          <p:cNvPr id="4" name="Text 2"/>
          <p:cNvSpPr/>
          <p:nvPr/>
        </p:nvSpPr>
        <p:spPr>
          <a:xfrm>
            <a:off x="793790" y="1097756"/>
            <a:ext cx="11695748" cy="558165"/>
          </a:xfrm>
          <a:prstGeom prst="rect">
            <a:avLst/>
          </a:prstGeom>
          <a:noFill/>
          <a:ln/>
        </p:spPr>
        <p:txBody>
          <a:bodyPr wrap="none" lIns="0" tIns="0" rIns="0" bIns="0" rtlCol="0" anchor="t"/>
          <a:lstStyle/>
          <a:p>
            <a:pPr marL="0" indent="0" algn="l">
              <a:lnSpc>
                <a:spcPts val="4350"/>
              </a:lnSpc>
              <a:buNone/>
            </a:pPr>
            <a:r>
              <a:rPr lang="en-US" sz="3500" dirty="0">
                <a:solidFill>
                  <a:srgbClr val="1B1B27"/>
                </a:solidFill>
                <a:latin typeface="Impact" panose="020B0806030902050204" pitchFamily="34" charset="0"/>
                <a:ea typeface="Raleway" pitchFamily="34" charset="-122"/>
                <a:cs typeface="Raleway" pitchFamily="34" charset="-120"/>
              </a:rPr>
              <a:t>Case Study: Apple Inc. — Strategy Meets Business Model</a:t>
            </a:r>
            <a:endParaRPr lang="en-US" sz="3500" dirty="0"/>
          </a:p>
        </p:txBody>
      </p:sp>
      <p:sp>
        <p:nvSpPr>
          <p:cNvPr id="5" name="Text 3"/>
          <p:cNvSpPr/>
          <p:nvPr/>
        </p:nvSpPr>
        <p:spPr>
          <a:xfrm>
            <a:off x="793790" y="1897023"/>
            <a:ext cx="13042821" cy="814388"/>
          </a:xfrm>
          <a:prstGeom prst="rect">
            <a:avLst/>
          </a:prstGeom>
          <a:noFill/>
          <a:ln/>
        </p:spPr>
        <p:txBody>
          <a:bodyPr wrap="square" lIns="0" tIns="0" rIns="0" bIns="0" rtlCol="0" anchor="t"/>
          <a:lstStyle/>
          <a:p>
            <a:pPr marL="0" indent="0" algn="l">
              <a:lnSpc>
                <a:spcPts val="2100"/>
              </a:lnSpc>
              <a:buNone/>
            </a:pPr>
            <a:r>
              <a:rPr lang="en-US" sz="1400" dirty="0">
                <a:solidFill>
                  <a:srgbClr val="3C3939"/>
                </a:solidFill>
                <a:latin typeface="Roboto" pitchFamily="34" charset="0"/>
                <a:ea typeface="Roboto" pitchFamily="34" charset="-122"/>
                <a:cs typeface="Roboto" pitchFamily="34" charset="-120"/>
              </a:rPr>
              <a:t>Apple provides one of the clearest examples of how a superior strategy can transform a business model into a dominant competitive position. In the early 2000s, Apple was primarily a computer company. Its strategy shifted fundamentally with the launch of the iPod, iTunes, and later the iPhone — creating an integrated ecosystem that locked customers in and drove premium pricing across all products.</a:t>
            </a:r>
            <a:endParaRPr lang="en-US" sz="1400" dirty="0"/>
          </a:p>
        </p:txBody>
      </p:sp>
      <p:sp>
        <p:nvSpPr>
          <p:cNvPr id="6" name="Shape 4"/>
          <p:cNvSpPr/>
          <p:nvPr/>
        </p:nvSpPr>
        <p:spPr>
          <a:xfrm>
            <a:off x="793790" y="3160157"/>
            <a:ext cx="6441043" cy="2109192"/>
          </a:xfrm>
          <a:prstGeom prst="roundRect">
            <a:avLst>
              <a:gd name="adj" fmla="val 5202"/>
            </a:avLst>
          </a:prstGeom>
          <a:solidFill>
            <a:srgbClr val="FFFFFF">
              <a:alpha val="95000"/>
            </a:srgbClr>
          </a:solidFill>
          <a:ln/>
        </p:spPr>
      </p:sp>
      <p:sp>
        <p:nvSpPr>
          <p:cNvPr id="7" name="Shape 5"/>
          <p:cNvSpPr/>
          <p:nvPr/>
        </p:nvSpPr>
        <p:spPr>
          <a:xfrm>
            <a:off x="793790" y="3137297"/>
            <a:ext cx="6441043" cy="91440"/>
          </a:xfrm>
          <a:prstGeom prst="roundRect">
            <a:avLst>
              <a:gd name="adj" fmla="val 82047"/>
            </a:avLst>
          </a:prstGeom>
          <a:solidFill>
            <a:srgbClr val="1B1B27"/>
          </a:solidFill>
          <a:ln/>
        </p:spPr>
      </p:sp>
      <p:sp>
        <p:nvSpPr>
          <p:cNvPr id="8" name="Shape 6"/>
          <p:cNvSpPr/>
          <p:nvPr/>
        </p:nvSpPr>
        <p:spPr>
          <a:xfrm>
            <a:off x="3746421" y="2892266"/>
            <a:ext cx="535781" cy="535781"/>
          </a:xfrm>
          <a:prstGeom prst="roundRect">
            <a:avLst>
              <a:gd name="adj" fmla="val 170667"/>
            </a:avLst>
          </a:prstGeom>
          <a:solidFill>
            <a:srgbClr val="1B1B27"/>
          </a:solidFill>
          <a:ln/>
        </p:spPr>
      </p:sp>
      <p:sp>
        <p:nvSpPr>
          <p:cNvPr id="9" name="Text 7"/>
          <p:cNvSpPr/>
          <p:nvPr/>
        </p:nvSpPr>
        <p:spPr>
          <a:xfrm>
            <a:off x="3907155" y="3026212"/>
            <a:ext cx="214313" cy="267891"/>
          </a:xfrm>
          <a:prstGeom prst="rect">
            <a:avLst/>
          </a:prstGeom>
          <a:noFill/>
          <a:ln/>
        </p:spPr>
        <p:txBody>
          <a:bodyPr wrap="none" lIns="0" tIns="0" rIns="0" bIns="0" rtlCol="0" anchor="t"/>
          <a:lstStyle/>
          <a:p>
            <a:pPr marL="0" indent="0" algn="l">
              <a:lnSpc>
                <a:spcPts val="2550"/>
              </a:lnSpc>
              <a:buNone/>
            </a:pPr>
            <a:r>
              <a:rPr lang="en-US" sz="1650" dirty="0">
                <a:solidFill>
                  <a:srgbClr val="FFFFFF"/>
                </a:solidFill>
                <a:latin typeface="Impact" panose="020B0806030902050204" pitchFamily="34" charset="0"/>
                <a:ea typeface="Raleway" pitchFamily="34" charset="-122"/>
                <a:cs typeface="Raleway" pitchFamily="34" charset="-120"/>
              </a:rPr>
              <a:t>1</a:t>
            </a:r>
            <a:endParaRPr lang="en-US" sz="1650" dirty="0"/>
          </a:p>
        </p:txBody>
      </p:sp>
      <p:sp>
        <p:nvSpPr>
          <p:cNvPr id="10" name="Text 8"/>
          <p:cNvSpPr/>
          <p:nvPr/>
        </p:nvSpPr>
        <p:spPr>
          <a:xfrm>
            <a:off x="995243" y="3606641"/>
            <a:ext cx="2375297" cy="278963"/>
          </a:xfrm>
          <a:prstGeom prst="rect">
            <a:avLst/>
          </a:prstGeom>
          <a:noFill/>
          <a:ln/>
        </p:spPr>
        <p:txBody>
          <a:bodyPr wrap="none" lIns="0" tIns="0" rIns="0" bIns="0" rtlCol="0" anchor="t"/>
          <a:lstStyle/>
          <a:p>
            <a:pPr marL="0" indent="0" algn="l">
              <a:lnSpc>
                <a:spcPts val="2150"/>
              </a:lnSpc>
              <a:buNone/>
            </a:pPr>
            <a:r>
              <a:rPr lang="en-US" sz="1750" dirty="0">
                <a:solidFill>
                  <a:srgbClr val="3C3939"/>
                </a:solidFill>
                <a:latin typeface="Impact" panose="020B0806030902050204" pitchFamily="34" charset="0"/>
                <a:ea typeface="Raleway" pitchFamily="34" charset="-122"/>
                <a:cs typeface="Raleway" pitchFamily="34" charset="-120"/>
              </a:rPr>
              <a:t>Differentiation Strategy</a:t>
            </a:r>
            <a:endParaRPr lang="en-US" sz="1750" dirty="0"/>
          </a:p>
        </p:txBody>
      </p:sp>
      <p:sp>
        <p:nvSpPr>
          <p:cNvPr id="11" name="Text 9"/>
          <p:cNvSpPr/>
          <p:nvPr/>
        </p:nvSpPr>
        <p:spPr>
          <a:xfrm>
            <a:off x="995243" y="3982045"/>
            <a:ext cx="6038136" cy="814388"/>
          </a:xfrm>
          <a:prstGeom prst="rect">
            <a:avLst/>
          </a:prstGeom>
          <a:noFill/>
          <a:ln/>
        </p:spPr>
        <p:txBody>
          <a:bodyPr wrap="square" lIns="0" tIns="0" rIns="0" bIns="0" rtlCol="0" anchor="t"/>
          <a:lstStyle/>
          <a:p>
            <a:pPr marL="0" indent="0" algn="l">
              <a:lnSpc>
                <a:spcPts val="2100"/>
              </a:lnSpc>
              <a:buNone/>
            </a:pPr>
            <a:r>
              <a:rPr lang="en-US" sz="1400" dirty="0">
                <a:solidFill>
                  <a:srgbClr val="3C3939"/>
                </a:solidFill>
                <a:latin typeface="Roboto" pitchFamily="34" charset="0"/>
                <a:ea typeface="Roboto" pitchFamily="34" charset="-122"/>
                <a:cs typeface="Roboto" pitchFamily="34" charset="-120"/>
              </a:rPr>
              <a:t>Apple chose never to compete on price. Instead it invested relentlessly in design, user experience, and brand prestige — commanding margins far above industry average in every category it entered.</a:t>
            </a:r>
            <a:endParaRPr lang="en-US" sz="1400" dirty="0"/>
          </a:p>
        </p:txBody>
      </p:sp>
      <p:sp>
        <p:nvSpPr>
          <p:cNvPr id="12" name="Shape 10"/>
          <p:cNvSpPr/>
          <p:nvPr/>
        </p:nvSpPr>
        <p:spPr>
          <a:xfrm>
            <a:off x="7395567" y="3160157"/>
            <a:ext cx="6441043" cy="2109192"/>
          </a:xfrm>
          <a:prstGeom prst="roundRect">
            <a:avLst>
              <a:gd name="adj" fmla="val 5202"/>
            </a:avLst>
          </a:prstGeom>
          <a:solidFill>
            <a:srgbClr val="FFFFFF">
              <a:alpha val="95000"/>
            </a:srgbClr>
          </a:solidFill>
          <a:ln/>
        </p:spPr>
      </p:sp>
      <p:sp>
        <p:nvSpPr>
          <p:cNvPr id="13" name="Shape 11"/>
          <p:cNvSpPr/>
          <p:nvPr/>
        </p:nvSpPr>
        <p:spPr>
          <a:xfrm>
            <a:off x="7395567" y="3137297"/>
            <a:ext cx="6441043" cy="91440"/>
          </a:xfrm>
          <a:prstGeom prst="roundRect">
            <a:avLst>
              <a:gd name="adj" fmla="val 82047"/>
            </a:avLst>
          </a:prstGeom>
          <a:solidFill>
            <a:srgbClr val="1B1B27"/>
          </a:solidFill>
          <a:ln/>
        </p:spPr>
      </p:sp>
      <p:sp>
        <p:nvSpPr>
          <p:cNvPr id="14" name="Shape 12"/>
          <p:cNvSpPr/>
          <p:nvPr/>
        </p:nvSpPr>
        <p:spPr>
          <a:xfrm>
            <a:off x="10348198" y="2892266"/>
            <a:ext cx="535781" cy="535781"/>
          </a:xfrm>
          <a:prstGeom prst="roundRect">
            <a:avLst>
              <a:gd name="adj" fmla="val 170667"/>
            </a:avLst>
          </a:prstGeom>
          <a:solidFill>
            <a:srgbClr val="1B1B27"/>
          </a:solidFill>
          <a:ln/>
        </p:spPr>
      </p:sp>
      <p:sp>
        <p:nvSpPr>
          <p:cNvPr id="15" name="Text 13"/>
          <p:cNvSpPr/>
          <p:nvPr/>
        </p:nvSpPr>
        <p:spPr>
          <a:xfrm>
            <a:off x="10508933" y="3026212"/>
            <a:ext cx="214313" cy="267891"/>
          </a:xfrm>
          <a:prstGeom prst="rect">
            <a:avLst/>
          </a:prstGeom>
          <a:noFill/>
          <a:ln/>
        </p:spPr>
        <p:txBody>
          <a:bodyPr wrap="none" lIns="0" tIns="0" rIns="0" bIns="0" rtlCol="0" anchor="t"/>
          <a:lstStyle/>
          <a:p>
            <a:pPr marL="0" indent="0" algn="l">
              <a:lnSpc>
                <a:spcPts val="2550"/>
              </a:lnSpc>
              <a:buNone/>
            </a:pPr>
            <a:r>
              <a:rPr lang="en-US" sz="1650" dirty="0">
                <a:solidFill>
                  <a:srgbClr val="FFFFFF"/>
                </a:solidFill>
                <a:latin typeface="Impact" panose="020B0806030902050204" pitchFamily="34" charset="0"/>
                <a:ea typeface="Raleway" pitchFamily="34" charset="-122"/>
                <a:cs typeface="Raleway" pitchFamily="34" charset="-120"/>
              </a:rPr>
              <a:t>2</a:t>
            </a:r>
            <a:endParaRPr lang="en-US" sz="1650" dirty="0"/>
          </a:p>
        </p:txBody>
      </p:sp>
      <p:sp>
        <p:nvSpPr>
          <p:cNvPr id="16" name="Text 14"/>
          <p:cNvSpPr/>
          <p:nvPr/>
        </p:nvSpPr>
        <p:spPr>
          <a:xfrm>
            <a:off x="7597021" y="3606641"/>
            <a:ext cx="2232779" cy="278963"/>
          </a:xfrm>
          <a:prstGeom prst="rect">
            <a:avLst/>
          </a:prstGeom>
          <a:noFill/>
          <a:ln/>
        </p:spPr>
        <p:txBody>
          <a:bodyPr wrap="none" lIns="0" tIns="0" rIns="0" bIns="0" rtlCol="0" anchor="t"/>
          <a:lstStyle/>
          <a:p>
            <a:pPr marL="0" indent="0" algn="l">
              <a:lnSpc>
                <a:spcPts val="2150"/>
              </a:lnSpc>
              <a:buNone/>
            </a:pPr>
            <a:r>
              <a:rPr lang="en-US" sz="1750" dirty="0">
                <a:solidFill>
                  <a:srgbClr val="3C3939"/>
                </a:solidFill>
                <a:latin typeface="Impact" panose="020B0806030902050204" pitchFamily="34" charset="0"/>
                <a:ea typeface="Raleway" pitchFamily="34" charset="-122"/>
                <a:cs typeface="Raleway" pitchFamily="34" charset="-120"/>
              </a:rPr>
              <a:t>Ecosystem Lock-In</a:t>
            </a:r>
            <a:endParaRPr lang="en-US" sz="1750" dirty="0"/>
          </a:p>
        </p:txBody>
      </p:sp>
      <p:sp>
        <p:nvSpPr>
          <p:cNvPr id="17" name="Text 15"/>
          <p:cNvSpPr/>
          <p:nvPr/>
        </p:nvSpPr>
        <p:spPr>
          <a:xfrm>
            <a:off x="7597021" y="3982045"/>
            <a:ext cx="6038136" cy="1085850"/>
          </a:xfrm>
          <a:prstGeom prst="rect">
            <a:avLst/>
          </a:prstGeom>
          <a:noFill/>
          <a:ln/>
        </p:spPr>
        <p:txBody>
          <a:bodyPr wrap="square" lIns="0" tIns="0" rIns="0" bIns="0" rtlCol="0" anchor="t"/>
          <a:lstStyle/>
          <a:p>
            <a:pPr marL="0" indent="0" algn="l">
              <a:lnSpc>
                <a:spcPts val="2100"/>
              </a:lnSpc>
              <a:buNone/>
            </a:pPr>
            <a:r>
              <a:rPr lang="en-US" sz="1400" dirty="0">
                <a:solidFill>
                  <a:srgbClr val="3C3939"/>
                </a:solidFill>
                <a:latin typeface="Roboto" pitchFamily="34" charset="0"/>
                <a:ea typeface="Roboto" pitchFamily="34" charset="-122"/>
                <a:cs typeface="Roboto" pitchFamily="34" charset="-120"/>
              </a:rPr>
              <a:t>By tightly integrating hardware, software, and services (App Store, iCloud, Apple Pay), Apple created switching costs that made it difficult and unattractive for customers to leave — generating recurring revenue streams and extreme brand loyalty.</a:t>
            </a:r>
            <a:endParaRPr lang="en-US" sz="1400" dirty="0"/>
          </a:p>
        </p:txBody>
      </p:sp>
      <p:sp>
        <p:nvSpPr>
          <p:cNvPr id="18" name="Shape 16"/>
          <p:cNvSpPr/>
          <p:nvPr/>
        </p:nvSpPr>
        <p:spPr>
          <a:xfrm>
            <a:off x="793790" y="5697974"/>
            <a:ext cx="6441043" cy="1837730"/>
          </a:xfrm>
          <a:prstGeom prst="roundRect">
            <a:avLst>
              <a:gd name="adj" fmla="val 5971"/>
            </a:avLst>
          </a:prstGeom>
          <a:solidFill>
            <a:srgbClr val="FFFFFF">
              <a:alpha val="95000"/>
            </a:srgbClr>
          </a:solidFill>
          <a:ln/>
        </p:spPr>
      </p:sp>
      <p:sp>
        <p:nvSpPr>
          <p:cNvPr id="19" name="Shape 17"/>
          <p:cNvSpPr/>
          <p:nvPr/>
        </p:nvSpPr>
        <p:spPr>
          <a:xfrm>
            <a:off x="793790" y="5675114"/>
            <a:ext cx="6441043" cy="91440"/>
          </a:xfrm>
          <a:prstGeom prst="roundRect">
            <a:avLst>
              <a:gd name="adj" fmla="val 82047"/>
            </a:avLst>
          </a:prstGeom>
          <a:solidFill>
            <a:srgbClr val="1B1B27"/>
          </a:solidFill>
          <a:ln/>
        </p:spPr>
      </p:sp>
      <p:sp>
        <p:nvSpPr>
          <p:cNvPr id="20" name="Shape 18"/>
          <p:cNvSpPr/>
          <p:nvPr/>
        </p:nvSpPr>
        <p:spPr>
          <a:xfrm>
            <a:off x="3746421" y="5430083"/>
            <a:ext cx="535781" cy="535781"/>
          </a:xfrm>
          <a:prstGeom prst="roundRect">
            <a:avLst>
              <a:gd name="adj" fmla="val 170667"/>
            </a:avLst>
          </a:prstGeom>
          <a:solidFill>
            <a:srgbClr val="1B1B27"/>
          </a:solidFill>
          <a:ln/>
        </p:spPr>
      </p:sp>
      <p:sp>
        <p:nvSpPr>
          <p:cNvPr id="21" name="Text 19"/>
          <p:cNvSpPr/>
          <p:nvPr/>
        </p:nvSpPr>
        <p:spPr>
          <a:xfrm>
            <a:off x="3907155" y="5564029"/>
            <a:ext cx="214313" cy="267891"/>
          </a:xfrm>
          <a:prstGeom prst="rect">
            <a:avLst/>
          </a:prstGeom>
          <a:noFill/>
          <a:ln/>
        </p:spPr>
        <p:txBody>
          <a:bodyPr wrap="none" lIns="0" tIns="0" rIns="0" bIns="0" rtlCol="0" anchor="t"/>
          <a:lstStyle/>
          <a:p>
            <a:pPr marL="0" indent="0" algn="l">
              <a:lnSpc>
                <a:spcPts val="2550"/>
              </a:lnSpc>
              <a:buNone/>
            </a:pPr>
            <a:r>
              <a:rPr lang="en-US" sz="1650" dirty="0">
                <a:solidFill>
                  <a:srgbClr val="FFFFFF"/>
                </a:solidFill>
                <a:latin typeface="Impact" panose="020B0806030902050204" pitchFamily="34" charset="0"/>
                <a:ea typeface="Raleway" pitchFamily="34" charset="-122"/>
                <a:cs typeface="Raleway" pitchFamily="34" charset="-120"/>
              </a:rPr>
              <a:t>3</a:t>
            </a:r>
            <a:endParaRPr lang="en-US" sz="1650" dirty="0"/>
          </a:p>
        </p:txBody>
      </p:sp>
      <p:sp>
        <p:nvSpPr>
          <p:cNvPr id="22" name="Text 20"/>
          <p:cNvSpPr/>
          <p:nvPr/>
        </p:nvSpPr>
        <p:spPr>
          <a:xfrm>
            <a:off x="995243" y="6144458"/>
            <a:ext cx="2320409" cy="278963"/>
          </a:xfrm>
          <a:prstGeom prst="rect">
            <a:avLst/>
          </a:prstGeom>
          <a:noFill/>
          <a:ln/>
        </p:spPr>
        <p:txBody>
          <a:bodyPr wrap="none" lIns="0" tIns="0" rIns="0" bIns="0" rtlCol="0" anchor="t"/>
          <a:lstStyle/>
          <a:p>
            <a:pPr marL="0" indent="0" algn="l">
              <a:lnSpc>
                <a:spcPts val="2150"/>
              </a:lnSpc>
              <a:buNone/>
            </a:pPr>
            <a:r>
              <a:rPr lang="en-US" sz="1750" dirty="0">
                <a:solidFill>
                  <a:srgbClr val="3C3939"/>
                </a:solidFill>
                <a:latin typeface="Impact" panose="020B0806030902050204" pitchFamily="34" charset="0"/>
                <a:ea typeface="Raleway" pitchFamily="34" charset="-122"/>
                <a:cs typeface="Raleway" pitchFamily="34" charset="-120"/>
              </a:rPr>
              <a:t>Controlled Distribution</a:t>
            </a:r>
            <a:endParaRPr lang="en-US" sz="1750" dirty="0"/>
          </a:p>
        </p:txBody>
      </p:sp>
      <p:sp>
        <p:nvSpPr>
          <p:cNvPr id="23" name="Text 21"/>
          <p:cNvSpPr/>
          <p:nvPr/>
        </p:nvSpPr>
        <p:spPr>
          <a:xfrm>
            <a:off x="995243" y="6519863"/>
            <a:ext cx="6038136" cy="814388"/>
          </a:xfrm>
          <a:prstGeom prst="rect">
            <a:avLst/>
          </a:prstGeom>
          <a:noFill/>
          <a:ln/>
        </p:spPr>
        <p:txBody>
          <a:bodyPr wrap="square" lIns="0" tIns="0" rIns="0" bIns="0" rtlCol="0" anchor="t"/>
          <a:lstStyle/>
          <a:p>
            <a:pPr marL="0" indent="0" algn="l">
              <a:lnSpc>
                <a:spcPts val="2100"/>
              </a:lnSpc>
              <a:buNone/>
            </a:pPr>
            <a:r>
              <a:rPr lang="en-US" sz="1400" dirty="0">
                <a:solidFill>
                  <a:srgbClr val="3C3939"/>
                </a:solidFill>
                <a:latin typeface="Roboto" pitchFamily="34" charset="0"/>
                <a:ea typeface="Roboto" pitchFamily="34" charset="-122"/>
                <a:cs typeface="Roboto" pitchFamily="34" charset="-120"/>
              </a:rPr>
              <a:t>Apple Stores gave the company direct control over the customer experience, pricing, and brand narrative — bypassing third-party retailers who might dilute the premium positioning.</a:t>
            </a:r>
            <a:endParaRPr lang="en-US" sz="1400" dirty="0"/>
          </a:p>
        </p:txBody>
      </p:sp>
      <p:sp>
        <p:nvSpPr>
          <p:cNvPr id="24" name="Shape 22"/>
          <p:cNvSpPr/>
          <p:nvPr/>
        </p:nvSpPr>
        <p:spPr>
          <a:xfrm>
            <a:off x="7395567" y="5697974"/>
            <a:ext cx="6441043" cy="1837730"/>
          </a:xfrm>
          <a:prstGeom prst="roundRect">
            <a:avLst>
              <a:gd name="adj" fmla="val 5971"/>
            </a:avLst>
          </a:prstGeom>
          <a:solidFill>
            <a:srgbClr val="FFFFFF">
              <a:alpha val="95000"/>
            </a:srgbClr>
          </a:solidFill>
          <a:ln/>
        </p:spPr>
      </p:sp>
      <p:sp>
        <p:nvSpPr>
          <p:cNvPr id="25" name="Shape 23"/>
          <p:cNvSpPr/>
          <p:nvPr/>
        </p:nvSpPr>
        <p:spPr>
          <a:xfrm>
            <a:off x="7395567" y="5675114"/>
            <a:ext cx="6441043" cy="91440"/>
          </a:xfrm>
          <a:prstGeom prst="roundRect">
            <a:avLst>
              <a:gd name="adj" fmla="val 82047"/>
            </a:avLst>
          </a:prstGeom>
          <a:solidFill>
            <a:srgbClr val="1B1B27"/>
          </a:solidFill>
          <a:ln/>
        </p:spPr>
      </p:sp>
      <p:sp>
        <p:nvSpPr>
          <p:cNvPr id="26" name="Shape 24"/>
          <p:cNvSpPr/>
          <p:nvPr/>
        </p:nvSpPr>
        <p:spPr>
          <a:xfrm>
            <a:off x="10348198" y="5430083"/>
            <a:ext cx="535781" cy="535781"/>
          </a:xfrm>
          <a:prstGeom prst="roundRect">
            <a:avLst>
              <a:gd name="adj" fmla="val 170667"/>
            </a:avLst>
          </a:prstGeom>
          <a:solidFill>
            <a:srgbClr val="1B1B27"/>
          </a:solidFill>
          <a:ln/>
        </p:spPr>
      </p:sp>
      <p:sp>
        <p:nvSpPr>
          <p:cNvPr id="27" name="Text 25"/>
          <p:cNvSpPr/>
          <p:nvPr/>
        </p:nvSpPr>
        <p:spPr>
          <a:xfrm>
            <a:off x="10508933" y="5564029"/>
            <a:ext cx="214313" cy="267891"/>
          </a:xfrm>
          <a:prstGeom prst="rect">
            <a:avLst/>
          </a:prstGeom>
          <a:noFill/>
          <a:ln/>
        </p:spPr>
        <p:txBody>
          <a:bodyPr wrap="none" lIns="0" tIns="0" rIns="0" bIns="0" rtlCol="0" anchor="t"/>
          <a:lstStyle/>
          <a:p>
            <a:pPr marL="0" indent="0" algn="l">
              <a:lnSpc>
                <a:spcPts val="2550"/>
              </a:lnSpc>
              <a:buNone/>
            </a:pPr>
            <a:r>
              <a:rPr lang="en-US" sz="1650" dirty="0">
                <a:solidFill>
                  <a:srgbClr val="FFFFFF"/>
                </a:solidFill>
                <a:latin typeface="Impact" panose="020B0806030902050204" pitchFamily="34" charset="0"/>
                <a:ea typeface="Raleway" pitchFamily="34" charset="-122"/>
                <a:cs typeface="Raleway" pitchFamily="34" charset="-120"/>
              </a:rPr>
              <a:t>4</a:t>
            </a:r>
            <a:endParaRPr lang="en-US" sz="1650" dirty="0"/>
          </a:p>
        </p:txBody>
      </p:sp>
      <p:sp>
        <p:nvSpPr>
          <p:cNvPr id="28" name="Text 26"/>
          <p:cNvSpPr/>
          <p:nvPr/>
        </p:nvSpPr>
        <p:spPr>
          <a:xfrm>
            <a:off x="7597021" y="6144458"/>
            <a:ext cx="2232779" cy="278963"/>
          </a:xfrm>
          <a:prstGeom prst="rect">
            <a:avLst/>
          </a:prstGeom>
          <a:noFill/>
          <a:ln/>
        </p:spPr>
        <p:txBody>
          <a:bodyPr wrap="none" lIns="0" tIns="0" rIns="0" bIns="0" rtlCol="0" anchor="t"/>
          <a:lstStyle/>
          <a:p>
            <a:pPr marL="0" indent="0" algn="l">
              <a:lnSpc>
                <a:spcPts val="2150"/>
              </a:lnSpc>
              <a:buNone/>
            </a:pPr>
            <a:r>
              <a:rPr lang="en-US" sz="1750" dirty="0">
                <a:solidFill>
                  <a:srgbClr val="3C3939"/>
                </a:solidFill>
                <a:latin typeface="Impact" panose="020B0806030902050204" pitchFamily="34" charset="0"/>
                <a:ea typeface="Raleway" pitchFamily="34" charset="-122"/>
                <a:cs typeface="Raleway" pitchFamily="34" charset="-120"/>
              </a:rPr>
              <a:t>Strategic Result</a:t>
            </a:r>
            <a:endParaRPr lang="en-US" sz="1750" dirty="0"/>
          </a:p>
        </p:txBody>
      </p:sp>
      <p:sp>
        <p:nvSpPr>
          <p:cNvPr id="29" name="Text 27"/>
          <p:cNvSpPr/>
          <p:nvPr/>
        </p:nvSpPr>
        <p:spPr>
          <a:xfrm>
            <a:off x="7597021" y="6519863"/>
            <a:ext cx="6038136" cy="814388"/>
          </a:xfrm>
          <a:prstGeom prst="rect">
            <a:avLst/>
          </a:prstGeom>
          <a:noFill/>
          <a:ln/>
        </p:spPr>
        <p:txBody>
          <a:bodyPr wrap="square" lIns="0" tIns="0" rIns="0" bIns="0" rtlCol="0" anchor="t"/>
          <a:lstStyle/>
          <a:p>
            <a:pPr marL="0" indent="0" algn="l">
              <a:lnSpc>
                <a:spcPts val="2100"/>
              </a:lnSpc>
              <a:buNone/>
            </a:pPr>
            <a:r>
              <a:rPr lang="en-US" sz="1400" dirty="0">
                <a:solidFill>
                  <a:srgbClr val="3C3939"/>
                </a:solidFill>
                <a:latin typeface="Roboto" pitchFamily="34" charset="0"/>
                <a:ea typeface="Roboto" pitchFamily="34" charset="-122"/>
                <a:cs typeface="Roboto" pitchFamily="34" charset="-120"/>
              </a:rPr>
              <a:t>Apple became the world's most valuable company — not by inventing entirely new categories, but by executing a coherent, consistent strategy better than any competitor over more than two decades.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86171" y="919641"/>
            <a:ext cx="998458" cy="316230"/>
          </a:xfrm>
          <a:prstGeom prst="roundRect">
            <a:avLst>
              <a:gd name="adj" fmla="val 17925"/>
            </a:avLst>
          </a:prstGeom>
          <a:noFill/>
          <a:ln w="7620">
            <a:solidFill>
              <a:srgbClr val="1B1B27"/>
            </a:solidFill>
            <a:prstDash val="solid"/>
          </a:ln>
        </p:spPr>
      </p:sp>
      <p:sp>
        <p:nvSpPr>
          <p:cNvPr id="3" name="Text 1"/>
          <p:cNvSpPr/>
          <p:nvPr/>
        </p:nvSpPr>
        <p:spPr>
          <a:xfrm>
            <a:off x="894994" y="977862"/>
            <a:ext cx="780812" cy="199787"/>
          </a:xfrm>
          <a:prstGeom prst="rect">
            <a:avLst/>
          </a:prstGeom>
          <a:noFill/>
          <a:ln/>
        </p:spPr>
        <p:txBody>
          <a:bodyPr wrap="none" lIns="0" tIns="0" rIns="0" bIns="0" rtlCol="0" anchor="t"/>
          <a:lstStyle/>
          <a:p>
            <a:pPr marL="0" indent="0" algn="l">
              <a:lnSpc>
                <a:spcPts val="1550"/>
              </a:lnSpc>
              <a:buNone/>
            </a:pPr>
            <a:r>
              <a:rPr lang="en-US" sz="1050" dirty="0">
                <a:solidFill>
                  <a:srgbClr val="1B1B27"/>
                </a:solidFill>
                <a:latin typeface="Roboto" pitchFamily="34" charset="0"/>
                <a:ea typeface="Roboto" pitchFamily="34" charset="-122"/>
                <a:cs typeface="Roboto" pitchFamily="34" charset="-120"/>
              </a:rPr>
              <a:t>CASE STUDY</a:t>
            </a:r>
            <a:endParaRPr lang="en-US" sz="1050" dirty="0"/>
          </a:p>
        </p:txBody>
      </p:sp>
      <p:sp>
        <p:nvSpPr>
          <p:cNvPr id="4" name="Text 2"/>
          <p:cNvSpPr/>
          <p:nvPr/>
        </p:nvSpPr>
        <p:spPr>
          <a:xfrm>
            <a:off x="786171" y="1293140"/>
            <a:ext cx="12376071" cy="527090"/>
          </a:xfrm>
          <a:prstGeom prst="rect">
            <a:avLst/>
          </a:prstGeom>
          <a:noFill/>
          <a:ln/>
        </p:spPr>
        <p:txBody>
          <a:bodyPr wrap="none" lIns="0" tIns="0" rIns="0" bIns="0" rtlCol="0" anchor="t"/>
          <a:lstStyle/>
          <a:p>
            <a:pPr marL="0" indent="0" algn="l">
              <a:lnSpc>
                <a:spcPts val="4150"/>
              </a:lnSpc>
              <a:buNone/>
            </a:pPr>
            <a:r>
              <a:rPr lang="en-US" sz="3300" dirty="0">
                <a:solidFill>
                  <a:srgbClr val="1B1B27"/>
                </a:solidFill>
                <a:latin typeface="Impact" panose="020B0806030902050204" pitchFamily="34" charset="0"/>
                <a:ea typeface="Raleway" pitchFamily="34" charset="-122"/>
                <a:cs typeface="Raleway" pitchFamily="34" charset="-120"/>
              </a:rPr>
              <a:t>Case Study: Tata Motors — Strategy Spanning Market Segments</a:t>
            </a:r>
            <a:endParaRPr lang="en-US" sz="3300" dirty="0"/>
          </a:p>
        </p:txBody>
      </p:sp>
      <p:sp>
        <p:nvSpPr>
          <p:cNvPr id="5" name="Text 3"/>
          <p:cNvSpPr/>
          <p:nvPr/>
        </p:nvSpPr>
        <p:spPr>
          <a:xfrm>
            <a:off x="786171" y="2035256"/>
            <a:ext cx="13042821" cy="499348"/>
          </a:xfrm>
          <a:prstGeom prst="rect">
            <a:avLst/>
          </a:prstGeom>
          <a:noFill/>
          <a:ln/>
        </p:spPr>
        <p:txBody>
          <a:bodyPr wrap="square" lIns="0" tIns="0" rIns="0" bIns="0" rtlCol="0" anchor="t"/>
          <a:lstStyle/>
          <a:p>
            <a:pPr marL="0" indent="0" algn="l">
              <a:lnSpc>
                <a:spcPts val="1950"/>
              </a:lnSpc>
              <a:buNone/>
            </a:pPr>
            <a:r>
              <a:rPr lang="en-US" sz="1300" dirty="0">
                <a:solidFill>
                  <a:srgbClr val="3C3939"/>
                </a:solidFill>
                <a:latin typeface="Roboto" pitchFamily="34" charset="0"/>
                <a:ea typeface="Roboto" pitchFamily="34" charset="-122"/>
                <a:cs typeface="Roboto" pitchFamily="34" charset="-120"/>
              </a:rPr>
              <a:t>Tata Motors illustrates how a company can pursue multiple business strategies within a single business model — simultaneously targeting the bottom of the pyramid and the global premium segment through deliberate strategic choices.</a:t>
            </a:r>
            <a:endParaRPr lang="en-US" sz="1300" dirty="0"/>
          </a:p>
        </p:txBody>
      </p:sp>
      <p:sp>
        <p:nvSpPr>
          <p:cNvPr id="6" name="Shape 4"/>
          <p:cNvSpPr/>
          <p:nvPr/>
        </p:nvSpPr>
        <p:spPr>
          <a:xfrm>
            <a:off x="664727" y="2695815"/>
            <a:ext cx="6558558" cy="3647361"/>
          </a:xfrm>
          <a:prstGeom prst="roundRect">
            <a:avLst>
              <a:gd name="adj" fmla="val 3330"/>
            </a:avLst>
          </a:prstGeom>
          <a:solidFill>
            <a:srgbClr val="1B1B27">
              <a:alpha val="95000"/>
            </a:srgbClr>
          </a:solidFill>
          <a:ln/>
        </p:spPr>
      </p:sp>
      <p:sp>
        <p:nvSpPr>
          <p:cNvPr id="7" name="Text 5"/>
          <p:cNvSpPr/>
          <p:nvPr/>
        </p:nvSpPr>
        <p:spPr>
          <a:xfrm>
            <a:off x="833319" y="2839166"/>
            <a:ext cx="2866549" cy="263485"/>
          </a:xfrm>
          <a:prstGeom prst="rect">
            <a:avLst/>
          </a:prstGeom>
          <a:noFill/>
          <a:ln/>
        </p:spPr>
        <p:txBody>
          <a:bodyPr wrap="none" lIns="0" tIns="0" rIns="0" bIns="0" rtlCol="0" anchor="t"/>
          <a:lstStyle/>
          <a:p>
            <a:pPr marL="0" indent="0" algn="l">
              <a:lnSpc>
                <a:spcPts val="2050"/>
              </a:lnSpc>
              <a:buNone/>
            </a:pPr>
            <a:r>
              <a:rPr lang="en-US" sz="1650" dirty="0">
                <a:solidFill>
                  <a:srgbClr val="FFFFFF"/>
                </a:solidFill>
                <a:latin typeface="Impact" panose="020B0806030902050204" pitchFamily="34" charset="0"/>
                <a:ea typeface="Raleway" pitchFamily="34" charset="-122"/>
                <a:cs typeface="Raleway" pitchFamily="34" charset="-120"/>
              </a:rPr>
              <a:t>Tata Nano — Cost Leadership</a:t>
            </a:r>
            <a:endParaRPr lang="en-US" sz="1650" dirty="0"/>
          </a:p>
        </p:txBody>
      </p:sp>
      <p:sp>
        <p:nvSpPr>
          <p:cNvPr id="8" name="Text 6"/>
          <p:cNvSpPr/>
          <p:nvPr/>
        </p:nvSpPr>
        <p:spPr>
          <a:xfrm>
            <a:off x="833319" y="3246003"/>
            <a:ext cx="6221373" cy="998696"/>
          </a:xfrm>
          <a:prstGeom prst="rect">
            <a:avLst/>
          </a:prstGeom>
          <a:noFill/>
          <a:ln/>
        </p:spPr>
        <p:txBody>
          <a:bodyPr wrap="square" lIns="0" tIns="0" rIns="0" bIns="0" rtlCol="0" anchor="t"/>
          <a:lstStyle/>
          <a:p>
            <a:pPr marL="0" indent="0" algn="l">
              <a:lnSpc>
                <a:spcPts val="1950"/>
              </a:lnSpc>
              <a:buNone/>
            </a:pPr>
            <a:r>
              <a:rPr lang="en-US" sz="1300" dirty="0">
                <a:solidFill>
                  <a:srgbClr val="FFFFFF"/>
                </a:solidFill>
                <a:latin typeface="Roboto" pitchFamily="34" charset="0"/>
                <a:ea typeface="Roboto" pitchFamily="34" charset="-122"/>
                <a:cs typeface="Roboto" pitchFamily="34" charset="-120"/>
              </a:rPr>
              <a:t>Launched in 2008, the Nano was conceived as the world's most affordable car — priced at ₹1 lakh — targeting Indian families upgrading from two-wheelers. This was an audacious cost-leadership strategy, demanding radical design innovation and supply chain reinvention to achieve the target price point.</a:t>
            </a:r>
            <a:endParaRPr lang="en-US" sz="1300" dirty="0"/>
          </a:p>
        </p:txBody>
      </p:sp>
      <p:sp>
        <p:nvSpPr>
          <p:cNvPr id="9" name="Text 7"/>
          <p:cNvSpPr/>
          <p:nvPr/>
        </p:nvSpPr>
        <p:spPr>
          <a:xfrm>
            <a:off x="833319" y="4373644"/>
            <a:ext cx="6221373" cy="749022"/>
          </a:xfrm>
          <a:prstGeom prst="rect">
            <a:avLst/>
          </a:prstGeom>
          <a:noFill/>
          <a:ln/>
        </p:spPr>
        <p:txBody>
          <a:bodyPr wrap="square" lIns="0" tIns="0" rIns="0" bIns="0" rtlCol="0" anchor="t"/>
          <a:lstStyle/>
          <a:p>
            <a:pPr marL="0" indent="0" algn="l">
              <a:lnSpc>
                <a:spcPts val="1950"/>
              </a:lnSpc>
              <a:buNone/>
            </a:pPr>
            <a:r>
              <a:rPr lang="en-US" sz="1300" dirty="0">
                <a:solidFill>
                  <a:srgbClr val="FFFFFF"/>
                </a:solidFill>
                <a:latin typeface="Roboto" pitchFamily="34" charset="0"/>
                <a:ea typeface="Roboto" pitchFamily="34" charset="-122"/>
                <a:cs typeface="Roboto" pitchFamily="34" charset="-120"/>
              </a:rPr>
              <a:t>While the Nano faced marketing and positioning challenges, the strategic thinking behind it — making mobility accessible to millions — was genuinely pioneering and reshaped discussions about frugal innovation globally.</a:t>
            </a:r>
            <a:endParaRPr lang="en-US" sz="1300" dirty="0"/>
          </a:p>
        </p:txBody>
      </p:sp>
      <p:sp>
        <p:nvSpPr>
          <p:cNvPr id="10" name="Text 8"/>
          <p:cNvSpPr/>
          <p:nvPr/>
        </p:nvSpPr>
        <p:spPr>
          <a:xfrm>
            <a:off x="7520941" y="2839166"/>
            <a:ext cx="3475196" cy="263485"/>
          </a:xfrm>
          <a:prstGeom prst="rect">
            <a:avLst/>
          </a:prstGeom>
          <a:noFill/>
          <a:ln/>
        </p:spPr>
        <p:txBody>
          <a:bodyPr wrap="none" lIns="0" tIns="0" rIns="0" bIns="0" rtlCol="0" anchor="t"/>
          <a:lstStyle/>
          <a:p>
            <a:pPr marL="0" indent="0" algn="l">
              <a:lnSpc>
                <a:spcPts val="2050"/>
              </a:lnSpc>
              <a:buNone/>
            </a:pPr>
            <a:r>
              <a:rPr lang="en-US" sz="1650" dirty="0">
                <a:solidFill>
                  <a:srgbClr val="1B1B27"/>
                </a:solidFill>
                <a:latin typeface="Impact" panose="020B0806030902050204" pitchFamily="34" charset="0"/>
                <a:ea typeface="Raleway" pitchFamily="34" charset="-122"/>
                <a:cs typeface="Raleway" pitchFamily="34" charset="-120"/>
              </a:rPr>
              <a:t>Jaguar Land Rover — Differentiation</a:t>
            </a:r>
            <a:endParaRPr lang="en-US" sz="1650" dirty="0"/>
          </a:p>
        </p:txBody>
      </p:sp>
      <p:sp>
        <p:nvSpPr>
          <p:cNvPr id="11" name="Text 9"/>
          <p:cNvSpPr/>
          <p:nvPr/>
        </p:nvSpPr>
        <p:spPr>
          <a:xfrm>
            <a:off x="7520941" y="3246003"/>
            <a:ext cx="6315670" cy="998696"/>
          </a:xfrm>
          <a:prstGeom prst="rect">
            <a:avLst/>
          </a:prstGeom>
          <a:noFill/>
          <a:ln/>
        </p:spPr>
        <p:txBody>
          <a:bodyPr wrap="square" lIns="0" tIns="0" rIns="0" bIns="0" rtlCol="0" anchor="t"/>
          <a:lstStyle/>
          <a:p>
            <a:pPr marL="0" indent="0" algn="l">
              <a:lnSpc>
                <a:spcPts val="1950"/>
              </a:lnSpc>
              <a:buNone/>
            </a:pPr>
            <a:r>
              <a:rPr lang="en-US" sz="1300" dirty="0">
                <a:solidFill>
                  <a:srgbClr val="3C3939"/>
                </a:solidFill>
                <a:latin typeface="Roboto" pitchFamily="34" charset="0"/>
                <a:ea typeface="Roboto" pitchFamily="34" charset="-122"/>
                <a:cs typeface="Roboto" pitchFamily="34" charset="-120"/>
              </a:rPr>
              <a:t>In 2008, Tata acquired Jaguar Land Rover from Ford for $2.3 billion — a bold strategic move into the global premium automotive segment. Rather than attempting to compete with Toyota or Volkswagen on volume and efficiency, Tata chose to compete in a segment defined by heritage, luxury, and performance.</a:t>
            </a:r>
            <a:endParaRPr lang="en-US" sz="1300" dirty="0"/>
          </a:p>
        </p:txBody>
      </p:sp>
      <p:sp>
        <p:nvSpPr>
          <p:cNvPr id="12" name="Text 10"/>
          <p:cNvSpPr/>
          <p:nvPr/>
        </p:nvSpPr>
        <p:spPr>
          <a:xfrm>
            <a:off x="7520941" y="4373644"/>
            <a:ext cx="6315670" cy="749022"/>
          </a:xfrm>
          <a:prstGeom prst="rect">
            <a:avLst/>
          </a:prstGeom>
          <a:noFill/>
          <a:ln/>
        </p:spPr>
        <p:txBody>
          <a:bodyPr wrap="square" lIns="0" tIns="0" rIns="0" bIns="0" rtlCol="0" anchor="t"/>
          <a:lstStyle/>
          <a:p>
            <a:pPr marL="0" indent="0" algn="l">
              <a:lnSpc>
                <a:spcPts val="1950"/>
              </a:lnSpc>
              <a:buNone/>
            </a:pPr>
            <a:r>
              <a:rPr lang="en-US" sz="1300" dirty="0">
                <a:solidFill>
                  <a:srgbClr val="3C3939"/>
                </a:solidFill>
                <a:latin typeface="Roboto" pitchFamily="34" charset="0"/>
                <a:ea typeface="Roboto" pitchFamily="34" charset="-122"/>
                <a:cs typeface="Roboto" pitchFamily="34" charset="-120"/>
              </a:rPr>
              <a:t>JLR now contributes the majority of Tata Motors' global revenue and profit, demonstrating how strategic portfolio thinking — balancing cost leadership domestically with differentiation globally — can produce extraordinary results.</a:t>
            </a:r>
            <a:endParaRPr lang="en-US" sz="1300" dirty="0"/>
          </a:p>
        </p:txBody>
      </p:sp>
      <p:sp>
        <p:nvSpPr>
          <p:cNvPr id="13" name="Shape 11"/>
          <p:cNvSpPr/>
          <p:nvPr/>
        </p:nvSpPr>
        <p:spPr>
          <a:xfrm>
            <a:off x="7520941" y="5283876"/>
            <a:ext cx="6315670" cy="898088"/>
          </a:xfrm>
          <a:prstGeom prst="roundRect">
            <a:avLst>
              <a:gd name="adj" fmla="val 7890"/>
            </a:avLst>
          </a:prstGeom>
          <a:solidFill>
            <a:srgbClr val="B6FCB8"/>
          </a:solidFill>
          <a:ln/>
        </p:spPr>
      </p:sp>
      <p:pic>
        <p:nvPicPr>
          <p:cNvPr id="14" name="Image 0" descr="preencoded.png"/>
          <p:cNvPicPr>
            <a:picLocks noChangeAspect="1"/>
          </p:cNvPicPr>
          <p:nvPr/>
        </p:nvPicPr>
        <p:blipFill>
          <a:blip r:embed="rId3"/>
          <a:stretch>
            <a:fillRect/>
          </a:stretch>
        </p:blipFill>
        <p:spPr>
          <a:xfrm>
            <a:off x="7689534" y="5529979"/>
            <a:ext cx="210860" cy="168593"/>
          </a:xfrm>
          <a:prstGeom prst="rect">
            <a:avLst/>
          </a:prstGeom>
        </p:spPr>
      </p:pic>
      <p:sp>
        <p:nvSpPr>
          <p:cNvPr id="15" name="Text 12"/>
          <p:cNvSpPr/>
          <p:nvPr/>
        </p:nvSpPr>
        <p:spPr>
          <a:xfrm>
            <a:off x="8068986" y="5469376"/>
            <a:ext cx="5599033" cy="499348"/>
          </a:xfrm>
          <a:prstGeom prst="rect">
            <a:avLst/>
          </a:prstGeom>
          <a:noFill/>
          <a:ln/>
        </p:spPr>
        <p:txBody>
          <a:bodyPr wrap="square" lIns="0" tIns="0" rIns="0" bIns="0" rtlCol="0" anchor="t"/>
          <a:lstStyle/>
          <a:p>
            <a:pPr marL="0" indent="0" algn="l">
              <a:lnSpc>
                <a:spcPts val="1950"/>
              </a:lnSpc>
              <a:buNone/>
            </a:pPr>
            <a:r>
              <a:rPr lang="en-US" sz="1300" dirty="0">
                <a:solidFill>
                  <a:srgbClr val="000000"/>
                </a:solidFill>
                <a:latin typeface="Roboto" pitchFamily="34" charset="0"/>
                <a:ea typeface="Roboto" pitchFamily="34" charset="-122"/>
                <a:cs typeface="Roboto" pitchFamily="34" charset="-120"/>
              </a:rPr>
              <a:t>JLR's turnaround under Tata ownership is considered one of the most successful automotive acquisitions in history.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793790" y="617815"/>
            <a:ext cx="1113949" cy="363617"/>
          </a:xfrm>
          <a:prstGeom prst="roundRect">
            <a:avLst>
              <a:gd name="adj" fmla="val 17423"/>
            </a:avLst>
          </a:prstGeom>
          <a:noFill/>
          <a:ln w="7620">
            <a:solidFill>
              <a:srgbClr val="1B1B27"/>
            </a:solidFill>
            <a:prstDash val="solid"/>
          </a:ln>
        </p:spPr>
      </p:sp>
      <p:sp>
        <p:nvSpPr>
          <p:cNvPr id="3" name="Text 1"/>
          <p:cNvSpPr/>
          <p:nvPr/>
        </p:nvSpPr>
        <p:spPr>
          <a:xfrm>
            <a:off x="914519" y="681990"/>
            <a:ext cx="872490" cy="235268"/>
          </a:xfrm>
          <a:prstGeom prst="rect">
            <a:avLst/>
          </a:prstGeom>
          <a:noFill/>
          <a:ln/>
        </p:spPr>
        <p:txBody>
          <a:bodyPr wrap="none" lIns="0" tIns="0" rIns="0" bIns="0" rtlCol="0" anchor="t"/>
          <a:lstStyle/>
          <a:p>
            <a:pPr marL="0" indent="0" algn="l">
              <a:lnSpc>
                <a:spcPts val="1850"/>
              </a:lnSpc>
              <a:buNone/>
            </a:pPr>
            <a:r>
              <a:rPr lang="en-US" sz="1150" dirty="0">
                <a:solidFill>
                  <a:srgbClr val="1B1B27"/>
                </a:solidFill>
                <a:latin typeface="Roboto" pitchFamily="34" charset="0"/>
                <a:ea typeface="Roboto" pitchFamily="34" charset="-122"/>
                <a:cs typeface="Roboto" pitchFamily="34" charset="-120"/>
              </a:rPr>
              <a:t>CASE STUDY</a:t>
            </a:r>
            <a:endParaRPr lang="en-US" sz="1150" dirty="0"/>
          </a:p>
        </p:txBody>
      </p:sp>
      <p:sp>
        <p:nvSpPr>
          <p:cNvPr id="4" name="Text 2"/>
          <p:cNvSpPr/>
          <p:nvPr/>
        </p:nvSpPr>
        <p:spPr>
          <a:xfrm>
            <a:off x="793790" y="1052989"/>
            <a:ext cx="12063293" cy="589121"/>
          </a:xfrm>
          <a:prstGeom prst="rect">
            <a:avLst/>
          </a:prstGeom>
          <a:noFill/>
          <a:ln/>
        </p:spPr>
        <p:txBody>
          <a:bodyPr wrap="none" lIns="0" tIns="0" rIns="0" bIns="0" rtlCol="0" anchor="t"/>
          <a:lstStyle/>
          <a:p>
            <a:pPr marL="0" indent="0" algn="l">
              <a:lnSpc>
                <a:spcPts val="4600"/>
              </a:lnSpc>
              <a:buNone/>
            </a:pPr>
            <a:r>
              <a:rPr lang="en-US" sz="3700" dirty="0">
                <a:solidFill>
                  <a:srgbClr val="1B1B27"/>
                </a:solidFill>
                <a:latin typeface="Impact" panose="020B0806030902050204" pitchFamily="34" charset="0"/>
                <a:ea typeface="Raleway" pitchFamily="34" charset="-122"/>
                <a:cs typeface="Raleway" pitchFamily="34" charset="-120"/>
              </a:rPr>
              <a:t>Case Study: Reliance Jio — Disruption Through Strategy</a:t>
            </a:r>
            <a:endParaRPr lang="en-US" sz="3700" dirty="0"/>
          </a:p>
        </p:txBody>
      </p:sp>
      <p:sp>
        <p:nvSpPr>
          <p:cNvPr id="5" name="Text 3"/>
          <p:cNvSpPr/>
          <p:nvPr/>
        </p:nvSpPr>
        <p:spPr>
          <a:xfrm>
            <a:off x="793790" y="1910715"/>
            <a:ext cx="13042821" cy="882610"/>
          </a:xfrm>
          <a:prstGeom prst="rect">
            <a:avLst/>
          </a:prstGeom>
          <a:noFill/>
          <a:ln/>
        </p:spPr>
        <p:txBody>
          <a:bodyPr wrap="square" lIns="0" tIns="0" rIns="0" bIns="0" rtlCol="0" anchor="t"/>
          <a:lstStyle/>
          <a:p>
            <a:pPr marL="0" indent="0" algn="l">
              <a:lnSpc>
                <a:spcPts val="2300"/>
              </a:lnSpc>
              <a:buNone/>
            </a:pPr>
            <a:r>
              <a:rPr lang="en-US" sz="1450" dirty="0">
                <a:solidFill>
                  <a:srgbClr val="3C3939"/>
                </a:solidFill>
                <a:latin typeface="Roboto" pitchFamily="34" charset="0"/>
                <a:ea typeface="Roboto" pitchFamily="34" charset="-122"/>
                <a:cs typeface="Roboto" pitchFamily="34" charset="-120"/>
              </a:rPr>
              <a:t>Launched in September 2016, Reliance Jio disrupted India's telecom sector in a way few could have anticipated. By offering free voice calls and ultra-cheap data, Jio rendered the existing competitive landscape obsolete within months — a textbook case of a new entrant using bold strategic thinking to redraw industry boundaries.</a:t>
            </a:r>
            <a:endParaRPr lang="en-US" sz="1450" dirty="0"/>
          </a:p>
        </p:txBody>
      </p:sp>
      <p:sp>
        <p:nvSpPr>
          <p:cNvPr id="6" name="Shape 4"/>
          <p:cNvSpPr/>
          <p:nvPr/>
        </p:nvSpPr>
        <p:spPr>
          <a:xfrm>
            <a:off x="7303770" y="2994779"/>
            <a:ext cx="22860" cy="4616887"/>
          </a:xfrm>
          <a:prstGeom prst="roundRect">
            <a:avLst>
              <a:gd name="adj" fmla="val 346419"/>
            </a:avLst>
          </a:prstGeom>
          <a:solidFill>
            <a:srgbClr val="C7C7D0"/>
          </a:solidFill>
          <a:ln/>
        </p:spPr>
      </p:sp>
      <p:sp>
        <p:nvSpPr>
          <p:cNvPr id="7" name="Shape 5"/>
          <p:cNvSpPr/>
          <p:nvPr/>
        </p:nvSpPr>
        <p:spPr>
          <a:xfrm>
            <a:off x="6560403" y="3195399"/>
            <a:ext cx="565547" cy="22860"/>
          </a:xfrm>
          <a:prstGeom prst="roundRect">
            <a:avLst>
              <a:gd name="adj" fmla="val 346419"/>
            </a:avLst>
          </a:prstGeom>
          <a:solidFill>
            <a:srgbClr val="C7C7D0"/>
          </a:solidFill>
          <a:ln/>
        </p:spPr>
      </p:sp>
      <p:sp>
        <p:nvSpPr>
          <p:cNvPr id="8" name="Shape 6"/>
          <p:cNvSpPr/>
          <p:nvPr/>
        </p:nvSpPr>
        <p:spPr>
          <a:xfrm>
            <a:off x="7103090" y="2994779"/>
            <a:ext cx="424220" cy="424220"/>
          </a:xfrm>
          <a:prstGeom prst="roundRect">
            <a:avLst>
              <a:gd name="adj" fmla="val 18668"/>
            </a:avLst>
          </a:prstGeom>
          <a:solidFill>
            <a:srgbClr val="E1E1EA"/>
          </a:solidFill>
          <a:ln w="7620">
            <a:solidFill>
              <a:srgbClr val="C7C7D0"/>
            </a:solidFill>
            <a:prstDash val="solid"/>
          </a:ln>
        </p:spPr>
      </p:sp>
      <p:sp>
        <p:nvSpPr>
          <p:cNvPr id="9" name="Text 7"/>
          <p:cNvSpPr/>
          <p:nvPr/>
        </p:nvSpPr>
        <p:spPr>
          <a:xfrm>
            <a:off x="7173754" y="3030081"/>
            <a:ext cx="282773" cy="353497"/>
          </a:xfrm>
          <a:prstGeom prst="rect">
            <a:avLst/>
          </a:prstGeom>
          <a:noFill/>
          <a:ln/>
        </p:spPr>
        <p:txBody>
          <a:bodyPr wrap="none" lIns="0" tIns="0" rIns="0" bIns="0" rtlCol="0" anchor="t"/>
          <a:lstStyle/>
          <a:p>
            <a:pPr marL="0" indent="0" algn="ctr">
              <a:lnSpc>
                <a:spcPts val="2200"/>
              </a:lnSpc>
              <a:buNone/>
            </a:pPr>
            <a:r>
              <a:rPr lang="en-US" sz="2200" dirty="0">
                <a:solidFill>
                  <a:srgbClr val="3C3939"/>
                </a:solidFill>
                <a:latin typeface="Impact" panose="020B0806030902050204" pitchFamily="34" charset="0"/>
                <a:ea typeface="Raleway" pitchFamily="34" charset="-122"/>
                <a:cs typeface="Raleway" pitchFamily="34" charset="-120"/>
              </a:rPr>
              <a:t>1</a:t>
            </a:r>
            <a:endParaRPr lang="en-US" sz="2200" dirty="0"/>
          </a:p>
        </p:txBody>
      </p:sp>
      <p:sp>
        <p:nvSpPr>
          <p:cNvPr id="10" name="Text 8"/>
          <p:cNvSpPr/>
          <p:nvPr/>
        </p:nvSpPr>
        <p:spPr>
          <a:xfrm>
            <a:off x="4015621" y="3059549"/>
            <a:ext cx="2356842" cy="294680"/>
          </a:xfrm>
          <a:prstGeom prst="rect">
            <a:avLst/>
          </a:prstGeom>
          <a:noFill/>
          <a:ln/>
        </p:spPr>
        <p:txBody>
          <a:bodyPr wrap="none" lIns="0" tIns="0" rIns="0" bIns="0" rtlCol="0" anchor="t"/>
          <a:lstStyle/>
          <a:p>
            <a:pPr marL="0" indent="0" algn="r">
              <a:lnSpc>
                <a:spcPts val="2300"/>
              </a:lnSpc>
              <a:buNone/>
            </a:pPr>
            <a:r>
              <a:rPr lang="en-US" sz="1850" dirty="0">
                <a:solidFill>
                  <a:srgbClr val="3C3939"/>
                </a:solidFill>
                <a:latin typeface="Impact" panose="020B0806030902050204" pitchFamily="34" charset="0"/>
                <a:ea typeface="Raleway" pitchFamily="34" charset="-122"/>
                <a:cs typeface="Raleway" pitchFamily="34" charset="-120"/>
              </a:rPr>
              <a:t>2016: Market Entry</a:t>
            </a:r>
            <a:endParaRPr lang="en-US" sz="1850" dirty="0"/>
          </a:p>
        </p:txBody>
      </p:sp>
      <p:sp>
        <p:nvSpPr>
          <p:cNvPr id="11" name="Text 9"/>
          <p:cNvSpPr/>
          <p:nvPr/>
        </p:nvSpPr>
        <p:spPr>
          <a:xfrm>
            <a:off x="793790" y="3461623"/>
            <a:ext cx="5578673" cy="588407"/>
          </a:xfrm>
          <a:prstGeom prst="rect">
            <a:avLst/>
          </a:prstGeom>
          <a:noFill/>
          <a:ln/>
        </p:spPr>
        <p:txBody>
          <a:bodyPr wrap="square" lIns="0" tIns="0" rIns="0" bIns="0" rtlCol="0" anchor="t"/>
          <a:lstStyle/>
          <a:p>
            <a:pPr marL="0" indent="0" algn="r">
              <a:lnSpc>
                <a:spcPts val="2300"/>
              </a:lnSpc>
              <a:buNone/>
            </a:pPr>
            <a:r>
              <a:rPr lang="en-US" sz="1450" dirty="0">
                <a:solidFill>
                  <a:srgbClr val="3C3939"/>
                </a:solidFill>
                <a:latin typeface="Roboto" pitchFamily="34" charset="0"/>
                <a:ea typeface="Roboto" pitchFamily="34" charset="-122"/>
                <a:cs typeface="Roboto" pitchFamily="34" charset="-120"/>
              </a:rPr>
              <a:t>Jio launched with free services for six months, acquiring 100 million subscribers faster than any telecom company in history.</a:t>
            </a:r>
            <a:endParaRPr lang="en-US" sz="1450" dirty="0"/>
          </a:p>
        </p:txBody>
      </p:sp>
      <p:sp>
        <p:nvSpPr>
          <p:cNvPr id="12" name="Shape 10"/>
          <p:cNvSpPr/>
          <p:nvPr/>
        </p:nvSpPr>
        <p:spPr>
          <a:xfrm>
            <a:off x="7504450" y="4307681"/>
            <a:ext cx="565547" cy="22860"/>
          </a:xfrm>
          <a:prstGeom prst="roundRect">
            <a:avLst>
              <a:gd name="adj" fmla="val 346419"/>
            </a:avLst>
          </a:prstGeom>
          <a:solidFill>
            <a:srgbClr val="C7C7D0"/>
          </a:solidFill>
          <a:ln/>
        </p:spPr>
      </p:sp>
      <p:sp>
        <p:nvSpPr>
          <p:cNvPr id="13" name="Shape 11"/>
          <p:cNvSpPr/>
          <p:nvPr/>
        </p:nvSpPr>
        <p:spPr>
          <a:xfrm>
            <a:off x="7103090" y="4107061"/>
            <a:ext cx="424220" cy="424220"/>
          </a:xfrm>
          <a:prstGeom prst="roundRect">
            <a:avLst>
              <a:gd name="adj" fmla="val 18668"/>
            </a:avLst>
          </a:prstGeom>
          <a:solidFill>
            <a:srgbClr val="E1E1EA"/>
          </a:solidFill>
          <a:ln w="7620">
            <a:solidFill>
              <a:srgbClr val="C7C7D0"/>
            </a:solidFill>
            <a:prstDash val="solid"/>
          </a:ln>
        </p:spPr>
      </p:sp>
      <p:sp>
        <p:nvSpPr>
          <p:cNvPr id="14" name="Text 12"/>
          <p:cNvSpPr/>
          <p:nvPr/>
        </p:nvSpPr>
        <p:spPr>
          <a:xfrm>
            <a:off x="7173754" y="4142363"/>
            <a:ext cx="282773" cy="353497"/>
          </a:xfrm>
          <a:prstGeom prst="rect">
            <a:avLst/>
          </a:prstGeom>
          <a:noFill/>
          <a:ln/>
        </p:spPr>
        <p:txBody>
          <a:bodyPr wrap="none" lIns="0" tIns="0" rIns="0" bIns="0" rtlCol="0" anchor="t"/>
          <a:lstStyle/>
          <a:p>
            <a:pPr marL="0" indent="0" algn="ctr">
              <a:lnSpc>
                <a:spcPts val="2200"/>
              </a:lnSpc>
              <a:buNone/>
            </a:pPr>
            <a:r>
              <a:rPr lang="en-US" sz="2200" dirty="0">
                <a:solidFill>
                  <a:srgbClr val="3C3939"/>
                </a:solidFill>
                <a:latin typeface="Impact" panose="020B0806030902050204" pitchFamily="34" charset="0"/>
                <a:ea typeface="Raleway" pitchFamily="34" charset="-122"/>
                <a:cs typeface="Raleway" pitchFamily="34" charset="-120"/>
              </a:rPr>
              <a:t>2</a:t>
            </a:r>
            <a:endParaRPr lang="en-US" sz="2200" dirty="0"/>
          </a:p>
        </p:txBody>
      </p:sp>
      <p:sp>
        <p:nvSpPr>
          <p:cNvPr id="15" name="Text 13"/>
          <p:cNvSpPr/>
          <p:nvPr/>
        </p:nvSpPr>
        <p:spPr>
          <a:xfrm>
            <a:off x="8257937" y="4171831"/>
            <a:ext cx="3026926" cy="294680"/>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Impact" panose="020B0806030902050204" pitchFamily="34" charset="0"/>
                <a:ea typeface="Raleway" pitchFamily="34" charset="-122"/>
                <a:cs typeface="Raleway" pitchFamily="34" charset="-120"/>
              </a:rPr>
              <a:t>2017: Industry Consolidation</a:t>
            </a:r>
            <a:endParaRPr lang="en-US" sz="1850" dirty="0"/>
          </a:p>
        </p:txBody>
      </p:sp>
      <p:sp>
        <p:nvSpPr>
          <p:cNvPr id="16" name="Text 14"/>
          <p:cNvSpPr/>
          <p:nvPr/>
        </p:nvSpPr>
        <p:spPr>
          <a:xfrm>
            <a:off x="8257937" y="4573905"/>
            <a:ext cx="5578673" cy="882610"/>
          </a:xfrm>
          <a:prstGeom prst="rect">
            <a:avLst/>
          </a:prstGeom>
          <a:noFill/>
          <a:ln/>
        </p:spPr>
        <p:txBody>
          <a:bodyPr wrap="square" lIns="0" tIns="0" rIns="0" bIns="0" rtlCol="0" anchor="t"/>
          <a:lstStyle/>
          <a:p>
            <a:pPr marL="0" indent="0" algn="l">
              <a:lnSpc>
                <a:spcPts val="2300"/>
              </a:lnSpc>
              <a:buNone/>
            </a:pPr>
            <a:r>
              <a:rPr lang="en-US" sz="1450" dirty="0">
                <a:solidFill>
                  <a:srgbClr val="3C3939"/>
                </a:solidFill>
                <a:latin typeface="Roboto" pitchFamily="34" charset="0"/>
                <a:ea typeface="Roboto" pitchFamily="34" charset="-122"/>
                <a:cs typeface="Roboto" pitchFamily="34" charset="-120"/>
              </a:rPr>
              <a:t>Competitors unable to match Jio's pricing exited or merged. Vodafone and Idea merged; Aircel and others shut down, reducing players from 12 to 3 major operators.</a:t>
            </a:r>
            <a:endParaRPr lang="en-US" sz="1450" dirty="0"/>
          </a:p>
        </p:txBody>
      </p:sp>
      <p:sp>
        <p:nvSpPr>
          <p:cNvPr id="17" name="Shape 15"/>
          <p:cNvSpPr/>
          <p:nvPr/>
        </p:nvSpPr>
        <p:spPr>
          <a:xfrm>
            <a:off x="6560403" y="5273278"/>
            <a:ext cx="565547" cy="22860"/>
          </a:xfrm>
          <a:prstGeom prst="roundRect">
            <a:avLst>
              <a:gd name="adj" fmla="val 346419"/>
            </a:avLst>
          </a:prstGeom>
          <a:solidFill>
            <a:srgbClr val="C7C7D0"/>
          </a:solidFill>
          <a:ln/>
        </p:spPr>
      </p:sp>
      <p:sp>
        <p:nvSpPr>
          <p:cNvPr id="18" name="Shape 16"/>
          <p:cNvSpPr/>
          <p:nvPr/>
        </p:nvSpPr>
        <p:spPr>
          <a:xfrm>
            <a:off x="7103090" y="5072658"/>
            <a:ext cx="424220" cy="424220"/>
          </a:xfrm>
          <a:prstGeom prst="roundRect">
            <a:avLst>
              <a:gd name="adj" fmla="val 18668"/>
            </a:avLst>
          </a:prstGeom>
          <a:solidFill>
            <a:srgbClr val="E1E1EA"/>
          </a:solidFill>
          <a:ln w="7620">
            <a:solidFill>
              <a:srgbClr val="C7C7D0"/>
            </a:solidFill>
            <a:prstDash val="solid"/>
          </a:ln>
        </p:spPr>
      </p:sp>
      <p:sp>
        <p:nvSpPr>
          <p:cNvPr id="19" name="Text 17"/>
          <p:cNvSpPr/>
          <p:nvPr/>
        </p:nvSpPr>
        <p:spPr>
          <a:xfrm>
            <a:off x="7173754" y="5107960"/>
            <a:ext cx="282773" cy="353497"/>
          </a:xfrm>
          <a:prstGeom prst="rect">
            <a:avLst/>
          </a:prstGeom>
          <a:noFill/>
          <a:ln/>
        </p:spPr>
        <p:txBody>
          <a:bodyPr wrap="none" lIns="0" tIns="0" rIns="0" bIns="0" rtlCol="0" anchor="t"/>
          <a:lstStyle/>
          <a:p>
            <a:pPr marL="0" indent="0" algn="ctr">
              <a:lnSpc>
                <a:spcPts val="2200"/>
              </a:lnSpc>
              <a:buNone/>
            </a:pPr>
            <a:r>
              <a:rPr lang="en-US" sz="2200" dirty="0">
                <a:solidFill>
                  <a:srgbClr val="3C3939"/>
                </a:solidFill>
                <a:latin typeface="Impact" panose="020B0806030902050204" pitchFamily="34" charset="0"/>
                <a:ea typeface="Raleway" pitchFamily="34" charset="-122"/>
                <a:cs typeface="Raleway" pitchFamily="34" charset="-120"/>
              </a:rPr>
              <a:t>3</a:t>
            </a:r>
            <a:endParaRPr lang="en-US" sz="2200" dirty="0"/>
          </a:p>
        </p:txBody>
      </p:sp>
      <p:sp>
        <p:nvSpPr>
          <p:cNvPr id="20" name="Text 18"/>
          <p:cNvSpPr/>
          <p:nvPr/>
        </p:nvSpPr>
        <p:spPr>
          <a:xfrm>
            <a:off x="2747367" y="5137428"/>
            <a:ext cx="3625096" cy="294680"/>
          </a:xfrm>
          <a:prstGeom prst="rect">
            <a:avLst/>
          </a:prstGeom>
          <a:noFill/>
          <a:ln/>
        </p:spPr>
        <p:txBody>
          <a:bodyPr wrap="none" lIns="0" tIns="0" rIns="0" bIns="0" rtlCol="0" anchor="t"/>
          <a:lstStyle/>
          <a:p>
            <a:pPr marL="0" indent="0" algn="r">
              <a:lnSpc>
                <a:spcPts val="2300"/>
              </a:lnSpc>
              <a:buNone/>
            </a:pPr>
            <a:r>
              <a:rPr lang="en-US" sz="1850" dirty="0">
                <a:solidFill>
                  <a:srgbClr val="3C3939"/>
                </a:solidFill>
                <a:latin typeface="Impact" panose="020B0806030902050204" pitchFamily="34" charset="0"/>
                <a:ea typeface="Raleway" pitchFamily="34" charset="-122"/>
                <a:cs typeface="Raleway" pitchFamily="34" charset="-120"/>
              </a:rPr>
              <a:t>2019–2023: Ecosystem Expansion</a:t>
            </a:r>
            <a:endParaRPr lang="en-US" sz="1850" dirty="0"/>
          </a:p>
        </p:txBody>
      </p:sp>
      <p:sp>
        <p:nvSpPr>
          <p:cNvPr id="21" name="Text 19"/>
          <p:cNvSpPr/>
          <p:nvPr/>
        </p:nvSpPr>
        <p:spPr>
          <a:xfrm>
            <a:off x="793790" y="5539502"/>
            <a:ext cx="5578673" cy="882610"/>
          </a:xfrm>
          <a:prstGeom prst="rect">
            <a:avLst/>
          </a:prstGeom>
          <a:noFill/>
          <a:ln/>
        </p:spPr>
        <p:txBody>
          <a:bodyPr wrap="square" lIns="0" tIns="0" rIns="0" bIns="0" rtlCol="0" anchor="t"/>
          <a:lstStyle/>
          <a:p>
            <a:pPr marL="0" indent="0" algn="r">
              <a:lnSpc>
                <a:spcPts val="2300"/>
              </a:lnSpc>
              <a:buNone/>
            </a:pPr>
            <a:r>
              <a:rPr lang="en-US" sz="1450" dirty="0">
                <a:solidFill>
                  <a:srgbClr val="3C3939"/>
                </a:solidFill>
                <a:latin typeface="Roboto" pitchFamily="34" charset="0"/>
                <a:ea typeface="Roboto" pitchFamily="34" charset="-122"/>
                <a:cs typeface="Roboto" pitchFamily="34" charset="-120"/>
              </a:rPr>
              <a:t>Jio expanded into digital services — JioMart, JioCinema, JioFiber — building an integrated ecosystem mirroring Apple's lock-in strategy in the Indian context.</a:t>
            </a:r>
            <a:endParaRPr lang="en-US" sz="1450" dirty="0"/>
          </a:p>
        </p:txBody>
      </p:sp>
      <p:sp>
        <p:nvSpPr>
          <p:cNvPr id="22" name="Shape 20"/>
          <p:cNvSpPr/>
          <p:nvPr/>
        </p:nvSpPr>
        <p:spPr>
          <a:xfrm>
            <a:off x="7504450" y="6238994"/>
            <a:ext cx="565547" cy="22860"/>
          </a:xfrm>
          <a:prstGeom prst="roundRect">
            <a:avLst>
              <a:gd name="adj" fmla="val 346419"/>
            </a:avLst>
          </a:prstGeom>
          <a:solidFill>
            <a:srgbClr val="C7C7D0"/>
          </a:solidFill>
          <a:ln/>
        </p:spPr>
      </p:sp>
      <p:sp>
        <p:nvSpPr>
          <p:cNvPr id="23" name="Shape 21"/>
          <p:cNvSpPr/>
          <p:nvPr/>
        </p:nvSpPr>
        <p:spPr>
          <a:xfrm>
            <a:off x="7103090" y="6038374"/>
            <a:ext cx="424220" cy="424220"/>
          </a:xfrm>
          <a:prstGeom prst="roundRect">
            <a:avLst>
              <a:gd name="adj" fmla="val 18668"/>
            </a:avLst>
          </a:prstGeom>
          <a:solidFill>
            <a:srgbClr val="E1E1EA"/>
          </a:solidFill>
          <a:ln w="7620">
            <a:solidFill>
              <a:srgbClr val="C7C7D0"/>
            </a:solidFill>
            <a:prstDash val="solid"/>
          </a:ln>
        </p:spPr>
      </p:sp>
      <p:sp>
        <p:nvSpPr>
          <p:cNvPr id="24" name="Text 22"/>
          <p:cNvSpPr/>
          <p:nvPr/>
        </p:nvSpPr>
        <p:spPr>
          <a:xfrm>
            <a:off x="7173754" y="6073676"/>
            <a:ext cx="282773" cy="353497"/>
          </a:xfrm>
          <a:prstGeom prst="rect">
            <a:avLst/>
          </a:prstGeom>
          <a:noFill/>
          <a:ln/>
        </p:spPr>
        <p:txBody>
          <a:bodyPr wrap="none" lIns="0" tIns="0" rIns="0" bIns="0" rtlCol="0" anchor="t"/>
          <a:lstStyle/>
          <a:p>
            <a:pPr marL="0" indent="0" algn="ctr">
              <a:lnSpc>
                <a:spcPts val="2200"/>
              </a:lnSpc>
              <a:buNone/>
            </a:pPr>
            <a:r>
              <a:rPr lang="en-US" sz="2200" dirty="0">
                <a:solidFill>
                  <a:srgbClr val="3C3939"/>
                </a:solidFill>
                <a:latin typeface="Impact" panose="020B0806030902050204" pitchFamily="34" charset="0"/>
                <a:ea typeface="Raleway" pitchFamily="34" charset="-122"/>
                <a:cs typeface="Raleway" pitchFamily="34" charset="-120"/>
              </a:rPr>
              <a:t>4</a:t>
            </a:r>
            <a:endParaRPr lang="en-US" sz="2200" dirty="0"/>
          </a:p>
        </p:txBody>
      </p:sp>
      <p:sp>
        <p:nvSpPr>
          <p:cNvPr id="25" name="Text 23"/>
          <p:cNvSpPr/>
          <p:nvPr/>
        </p:nvSpPr>
        <p:spPr>
          <a:xfrm>
            <a:off x="8257937" y="6103144"/>
            <a:ext cx="2356842" cy="294680"/>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Impact" panose="020B0806030902050204" pitchFamily="34" charset="0"/>
                <a:ea typeface="Raleway" pitchFamily="34" charset="-122"/>
                <a:cs typeface="Raleway" pitchFamily="34" charset="-120"/>
              </a:rPr>
              <a:t>Strategic Lesson</a:t>
            </a:r>
            <a:endParaRPr lang="en-US" sz="1850" dirty="0"/>
          </a:p>
        </p:txBody>
      </p:sp>
      <p:sp>
        <p:nvSpPr>
          <p:cNvPr id="26" name="Text 24"/>
          <p:cNvSpPr/>
          <p:nvPr/>
        </p:nvSpPr>
        <p:spPr>
          <a:xfrm>
            <a:off x="8257937" y="6505218"/>
            <a:ext cx="5578673" cy="882610"/>
          </a:xfrm>
          <a:prstGeom prst="rect">
            <a:avLst/>
          </a:prstGeom>
          <a:noFill/>
          <a:ln/>
        </p:spPr>
        <p:txBody>
          <a:bodyPr wrap="square" lIns="0" tIns="0" rIns="0" bIns="0" rtlCol="0" anchor="t"/>
          <a:lstStyle/>
          <a:p>
            <a:pPr marL="0" indent="0" algn="l">
              <a:lnSpc>
                <a:spcPts val="2300"/>
              </a:lnSpc>
              <a:buNone/>
            </a:pPr>
            <a:r>
              <a:rPr lang="en-US" sz="1450" dirty="0">
                <a:solidFill>
                  <a:srgbClr val="3C3939"/>
                </a:solidFill>
                <a:latin typeface="Roboto" pitchFamily="34" charset="0"/>
                <a:ea typeface="Roboto" pitchFamily="34" charset="-122"/>
                <a:cs typeface="Roboto" pitchFamily="34" charset="-120"/>
              </a:rPr>
              <a:t>Jio's strategy was built on Reliance's ability to absorb short-term losses — funded by its oil and petrochemical cash flows — to capture long-term market dominance.</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793790" y="952143"/>
            <a:ext cx="2071568" cy="388382"/>
          </a:xfrm>
          <a:prstGeom prst="roundRect">
            <a:avLst>
              <a:gd name="adj" fmla="val 17171"/>
            </a:avLst>
          </a:prstGeom>
          <a:noFill/>
          <a:ln w="7620">
            <a:solidFill>
              <a:srgbClr val="1B1B27"/>
            </a:solidFill>
            <a:prstDash val="solid"/>
          </a:ln>
        </p:spPr>
      </p:sp>
      <p:sp>
        <p:nvSpPr>
          <p:cNvPr id="3" name="Text 1"/>
          <p:cNvSpPr/>
          <p:nvPr/>
        </p:nvSpPr>
        <p:spPr>
          <a:xfrm>
            <a:off x="920472" y="1019294"/>
            <a:ext cx="1818203" cy="254079"/>
          </a:xfrm>
          <a:prstGeom prst="rect">
            <a:avLst/>
          </a:prstGeom>
          <a:noFill/>
          <a:ln/>
        </p:spPr>
        <p:txBody>
          <a:bodyPr wrap="none" lIns="0" tIns="0" rIns="0" bIns="0" rtlCol="0" anchor="t"/>
          <a:lstStyle/>
          <a:p>
            <a:pPr marL="0" indent="0" algn="l">
              <a:lnSpc>
                <a:spcPts val="2000"/>
              </a:lnSpc>
              <a:buNone/>
            </a:pPr>
            <a:r>
              <a:rPr lang="en-US" sz="1250" dirty="0">
                <a:solidFill>
                  <a:srgbClr val="1B1B27"/>
                </a:solidFill>
                <a:latin typeface="Roboto" pitchFamily="34" charset="0"/>
                <a:ea typeface="Roboto" pitchFamily="34" charset="-122"/>
                <a:cs typeface="Roboto" pitchFamily="34" charset="-120"/>
              </a:rPr>
              <a:t>COMPARATIVE ANALYSIS</a:t>
            </a:r>
            <a:endParaRPr lang="en-US" sz="1250" dirty="0"/>
          </a:p>
        </p:txBody>
      </p:sp>
      <p:sp>
        <p:nvSpPr>
          <p:cNvPr id="4" name="Text 2"/>
          <p:cNvSpPr/>
          <p:nvPr/>
        </p:nvSpPr>
        <p:spPr>
          <a:xfrm>
            <a:off x="793790" y="1419820"/>
            <a:ext cx="8080058" cy="620078"/>
          </a:xfrm>
          <a:prstGeom prst="rect">
            <a:avLst/>
          </a:prstGeom>
          <a:noFill/>
          <a:ln/>
        </p:spPr>
        <p:txBody>
          <a:bodyPr wrap="none" lIns="0" tIns="0" rIns="0" bIns="0" rtlCol="0" anchor="t"/>
          <a:lstStyle/>
          <a:p>
            <a:pPr marL="0" indent="0" algn="l">
              <a:lnSpc>
                <a:spcPts val="4850"/>
              </a:lnSpc>
              <a:buNone/>
            </a:pPr>
            <a:r>
              <a:rPr lang="en-US" sz="3900" dirty="0">
                <a:solidFill>
                  <a:srgbClr val="1B1B27"/>
                </a:solidFill>
                <a:latin typeface="Impact" panose="020B0806030902050204" pitchFamily="34" charset="0"/>
                <a:ea typeface="Raleway" pitchFamily="34" charset="-122"/>
                <a:cs typeface="Raleway" pitchFamily="34" charset="-120"/>
              </a:rPr>
              <a:t>Strategy Archetypes: A Comparison</a:t>
            </a:r>
            <a:endParaRPr lang="en-US" sz="3900" dirty="0"/>
          </a:p>
        </p:txBody>
      </p:sp>
      <p:sp>
        <p:nvSpPr>
          <p:cNvPr id="5" name="Text 3"/>
          <p:cNvSpPr/>
          <p:nvPr/>
        </p:nvSpPr>
        <p:spPr>
          <a:xfrm>
            <a:off x="793790" y="2337554"/>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Most business strategies can be traced back to one of three foundational competitive strategies, first articulated by Michael Porter. Understanding which archetype a company pursues helps explain its decisions, resource allocation, and competitive behaviour.</a:t>
            </a:r>
            <a:endParaRPr lang="en-US" sz="1550" dirty="0"/>
          </a:p>
        </p:txBody>
      </p:sp>
      <p:pic>
        <p:nvPicPr>
          <p:cNvPr id="6" name="Image 0" descr="preencoded.png"/>
          <p:cNvPicPr>
            <a:picLocks noChangeAspect="1"/>
          </p:cNvPicPr>
          <p:nvPr/>
        </p:nvPicPr>
        <p:blipFill>
          <a:blip r:embed="rId3"/>
          <a:stretch>
            <a:fillRect/>
          </a:stretch>
        </p:blipFill>
        <p:spPr>
          <a:xfrm>
            <a:off x="793790" y="3195876"/>
            <a:ext cx="2425660" cy="1499116"/>
          </a:xfrm>
          <a:prstGeom prst="rect">
            <a:avLst/>
          </a:prstGeom>
        </p:spPr>
      </p:pic>
      <p:sp>
        <p:nvSpPr>
          <p:cNvPr id="7" name="Text 4"/>
          <p:cNvSpPr/>
          <p:nvPr/>
        </p:nvSpPr>
        <p:spPr>
          <a:xfrm>
            <a:off x="793790" y="494299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Cost Leadership</a:t>
            </a:r>
            <a:endParaRPr lang="en-US" sz="1950" dirty="0"/>
          </a:p>
        </p:txBody>
      </p:sp>
      <p:sp>
        <p:nvSpPr>
          <p:cNvPr id="8" name="Text 5"/>
          <p:cNvSpPr/>
          <p:nvPr/>
        </p:nvSpPr>
        <p:spPr>
          <a:xfrm>
            <a:off x="793790" y="5372219"/>
            <a:ext cx="4182189" cy="190523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Compete by being the lowest-cost producer in the industry. Profits come from volume and efficiency. </a:t>
            </a:r>
            <a:r>
              <a:rPr lang="en-US" sz="1550" b="1" dirty="0">
                <a:solidFill>
                  <a:srgbClr val="3C3939"/>
                </a:solidFill>
                <a:latin typeface="Roboto" pitchFamily="34" charset="0"/>
                <a:ea typeface="Roboto" pitchFamily="34" charset="-122"/>
                <a:cs typeface="Roboto" pitchFamily="34" charset="-120"/>
              </a:rPr>
              <a:t>Examples:</a:t>
            </a:r>
            <a:r>
              <a:rPr lang="en-US" sz="1550" dirty="0">
                <a:solidFill>
                  <a:srgbClr val="3C3939"/>
                </a:solidFill>
                <a:latin typeface="Roboto" pitchFamily="34" charset="0"/>
                <a:ea typeface="Roboto" pitchFamily="34" charset="-122"/>
                <a:cs typeface="Roboto" pitchFamily="34" charset="-120"/>
              </a:rPr>
              <a:t> Walmart (retail), Indigo Airlines (aviation), Xiaomi (smartphones). Requires relentless operational efficiency and scale.</a:t>
            </a:r>
            <a:endParaRPr lang="en-US" sz="1550" dirty="0"/>
          </a:p>
        </p:txBody>
      </p:sp>
      <p:pic>
        <p:nvPicPr>
          <p:cNvPr id="9" name="Image 1" descr="preencoded.png"/>
          <p:cNvPicPr>
            <a:picLocks noChangeAspect="1"/>
          </p:cNvPicPr>
          <p:nvPr/>
        </p:nvPicPr>
        <p:blipFill>
          <a:blip r:embed="rId4"/>
          <a:stretch>
            <a:fillRect/>
          </a:stretch>
        </p:blipFill>
        <p:spPr>
          <a:xfrm>
            <a:off x="5223986" y="3195876"/>
            <a:ext cx="2425660" cy="1499116"/>
          </a:xfrm>
          <a:prstGeom prst="rect">
            <a:avLst/>
          </a:prstGeom>
        </p:spPr>
      </p:pic>
      <p:sp>
        <p:nvSpPr>
          <p:cNvPr id="10" name="Text 6"/>
          <p:cNvSpPr/>
          <p:nvPr/>
        </p:nvSpPr>
        <p:spPr>
          <a:xfrm>
            <a:off x="5223986" y="494299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Differentiation</a:t>
            </a:r>
            <a:endParaRPr lang="en-US" sz="1950" dirty="0"/>
          </a:p>
        </p:txBody>
      </p:sp>
      <p:sp>
        <p:nvSpPr>
          <p:cNvPr id="11" name="Text 7"/>
          <p:cNvSpPr/>
          <p:nvPr/>
        </p:nvSpPr>
        <p:spPr>
          <a:xfrm>
            <a:off x="5223986" y="5372219"/>
            <a:ext cx="4182308" cy="190523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Compete by offering something uniquely valuable that customers will pay a premium for — design, quality, brand, or service. </a:t>
            </a:r>
            <a:r>
              <a:rPr lang="en-US" sz="1550" b="1" dirty="0">
                <a:solidFill>
                  <a:srgbClr val="3C3939"/>
                </a:solidFill>
                <a:latin typeface="Roboto" pitchFamily="34" charset="0"/>
                <a:ea typeface="Roboto" pitchFamily="34" charset="-122"/>
                <a:cs typeface="Roboto" pitchFamily="34" charset="-120"/>
              </a:rPr>
              <a:t>Examples:</a:t>
            </a:r>
            <a:r>
              <a:rPr lang="en-US" sz="1550" dirty="0">
                <a:solidFill>
                  <a:srgbClr val="3C3939"/>
                </a:solidFill>
                <a:latin typeface="Roboto" pitchFamily="34" charset="0"/>
                <a:ea typeface="Roboto" pitchFamily="34" charset="-122"/>
                <a:cs typeface="Roboto" pitchFamily="34" charset="-120"/>
              </a:rPr>
              <a:t> Apple (tech), BMW (automotive), Tanishq (jewellery). Requires continuous innovation and brand investment.</a:t>
            </a:r>
            <a:endParaRPr lang="en-US" sz="1550" dirty="0"/>
          </a:p>
        </p:txBody>
      </p:sp>
      <p:pic>
        <p:nvPicPr>
          <p:cNvPr id="12" name="Image 2" descr="preencoded.png"/>
          <p:cNvPicPr>
            <a:picLocks noChangeAspect="1"/>
          </p:cNvPicPr>
          <p:nvPr/>
        </p:nvPicPr>
        <p:blipFill>
          <a:blip r:embed="rId5"/>
          <a:stretch>
            <a:fillRect/>
          </a:stretch>
        </p:blipFill>
        <p:spPr>
          <a:xfrm>
            <a:off x="9654302" y="3195876"/>
            <a:ext cx="2425660" cy="1499116"/>
          </a:xfrm>
          <a:prstGeom prst="rect">
            <a:avLst/>
          </a:prstGeom>
        </p:spPr>
      </p:pic>
      <p:sp>
        <p:nvSpPr>
          <p:cNvPr id="13" name="Text 8"/>
          <p:cNvSpPr/>
          <p:nvPr/>
        </p:nvSpPr>
        <p:spPr>
          <a:xfrm>
            <a:off x="9654302" y="494299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Focus / Niche</a:t>
            </a:r>
            <a:endParaRPr lang="en-US" sz="1950" dirty="0"/>
          </a:p>
        </p:txBody>
      </p:sp>
      <p:sp>
        <p:nvSpPr>
          <p:cNvPr id="14" name="Text 9"/>
          <p:cNvSpPr/>
          <p:nvPr/>
        </p:nvSpPr>
        <p:spPr>
          <a:xfrm>
            <a:off x="9654302" y="5372219"/>
            <a:ext cx="4182308" cy="190523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Serve a narrow, specific market segment better than anyone else — either through low cost or differentiation within that niche. </a:t>
            </a:r>
            <a:r>
              <a:rPr lang="en-US" sz="1550" b="1" dirty="0">
                <a:solidFill>
                  <a:srgbClr val="3C3939"/>
                </a:solidFill>
                <a:latin typeface="Roboto" pitchFamily="34" charset="0"/>
                <a:ea typeface="Roboto" pitchFamily="34" charset="-122"/>
                <a:cs typeface="Roboto" pitchFamily="34" charset="-120"/>
              </a:rPr>
              <a:t>Examples:</a:t>
            </a:r>
            <a:r>
              <a:rPr lang="en-US" sz="1550" dirty="0">
                <a:solidFill>
                  <a:srgbClr val="3C3939"/>
                </a:solidFill>
                <a:latin typeface="Roboto" pitchFamily="34" charset="0"/>
                <a:ea typeface="Roboto" pitchFamily="34" charset="-122"/>
                <a:cs typeface="Roboto" pitchFamily="34" charset="-120"/>
              </a:rPr>
              <a:t> Forest Essentials (luxury Ayurveda), Paper Boat (nostalgia beverages). Deep customer understanding is key.</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793790" y="927735"/>
            <a:ext cx="1674257" cy="388382"/>
          </a:xfrm>
          <a:prstGeom prst="roundRect">
            <a:avLst>
              <a:gd name="adj" fmla="val 17171"/>
            </a:avLst>
          </a:prstGeom>
          <a:noFill/>
          <a:ln w="7620">
            <a:solidFill>
              <a:srgbClr val="1B1B27"/>
            </a:solidFill>
            <a:prstDash val="solid"/>
          </a:ln>
        </p:spPr>
      </p:sp>
      <p:sp>
        <p:nvSpPr>
          <p:cNvPr id="3" name="Text 1"/>
          <p:cNvSpPr/>
          <p:nvPr/>
        </p:nvSpPr>
        <p:spPr>
          <a:xfrm>
            <a:off x="920472" y="994886"/>
            <a:ext cx="1420892" cy="254079"/>
          </a:xfrm>
          <a:prstGeom prst="rect">
            <a:avLst/>
          </a:prstGeom>
          <a:noFill/>
          <a:ln/>
        </p:spPr>
        <p:txBody>
          <a:bodyPr wrap="none" lIns="0" tIns="0" rIns="0" bIns="0" rtlCol="0" anchor="t"/>
          <a:lstStyle/>
          <a:p>
            <a:pPr marL="0" indent="0" algn="l">
              <a:lnSpc>
                <a:spcPts val="2000"/>
              </a:lnSpc>
              <a:buNone/>
            </a:pPr>
            <a:r>
              <a:rPr lang="en-US" sz="1250" dirty="0">
                <a:solidFill>
                  <a:srgbClr val="1B1B27"/>
                </a:solidFill>
                <a:latin typeface="Roboto" pitchFamily="34" charset="0"/>
                <a:ea typeface="Roboto" pitchFamily="34" charset="-122"/>
                <a:cs typeface="Roboto" pitchFamily="34" charset="-120"/>
              </a:rPr>
              <a:t>APPLIED LEARNING</a:t>
            </a:r>
            <a:endParaRPr lang="en-US" sz="1250" dirty="0"/>
          </a:p>
        </p:txBody>
      </p:sp>
      <p:sp>
        <p:nvSpPr>
          <p:cNvPr id="4" name="Text 2"/>
          <p:cNvSpPr/>
          <p:nvPr/>
        </p:nvSpPr>
        <p:spPr>
          <a:xfrm>
            <a:off x="793790" y="1395413"/>
            <a:ext cx="12641104" cy="620078"/>
          </a:xfrm>
          <a:prstGeom prst="rect">
            <a:avLst/>
          </a:prstGeom>
          <a:noFill/>
          <a:ln/>
        </p:spPr>
        <p:txBody>
          <a:bodyPr wrap="none" lIns="0" tIns="0" rIns="0" bIns="0" rtlCol="0" anchor="t"/>
          <a:lstStyle/>
          <a:p>
            <a:pPr marL="0" indent="0" algn="l">
              <a:lnSpc>
                <a:spcPts val="4850"/>
              </a:lnSpc>
              <a:buNone/>
            </a:pPr>
            <a:r>
              <a:rPr lang="en-US" sz="3900" dirty="0">
                <a:solidFill>
                  <a:srgbClr val="1B1B27"/>
                </a:solidFill>
                <a:latin typeface="Impact" panose="020B0806030902050204" pitchFamily="34" charset="0"/>
                <a:ea typeface="Raleway" pitchFamily="34" charset="-122"/>
                <a:cs typeface="Raleway" pitchFamily="34" charset="-120"/>
              </a:rPr>
              <a:t>Putting It All Together: The Strategic Manager's Mindset</a:t>
            </a:r>
            <a:endParaRPr lang="en-US" sz="3900" dirty="0"/>
          </a:p>
        </p:txBody>
      </p:sp>
      <p:sp>
        <p:nvSpPr>
          <p:cNvPr id="5" name="Text 3"/>
          <p:cNvSpPr/>
          <p:nvPr/>
        </p:nvSpPr>
        <p:spPr>
          <a:xfrm>
            <a:off x="793790" y="2313146"/>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Strategic management is not a one-time exercise — it is an ongoing discipline that requires managers to continuously read their environment, make informed choices, and lead execution with clarity and conviction. The frameworks covered in this course are tools for structured thinking, not rigid formulas.</a:t>
            </a:r>
            <a:endParaRPr lang="en-US" sz="1550" dirty="0"/>
          </a:p>
        </p:txBody>
      </p:sp>
      <p:sp>
        <p:nvSpPr>
          <p:cNvPr id="6" name="Shape 4"/>
          <p:cNvSpPr/>
          <p:nvPr/>
        </p:nvSpPr>
        <p:spPr>
          <a:xfrm>
            <a:off x="793790" y="3489008"/>
            <a:ext cx="4215289" cy="2428875"/>
          </a:xfrm>
          <a:prstGeom prst="roundRect">
            <a:avLst>
              <a:gd name="adj" fmla="val 3432"/>
            </a:avLst>
          </a:prstGeom>
          <a:solidFill>
            <a:srgbClr val="E1E1EA"/>
          </a:solidFill>
          <a:ln w="7620">
            <a:solidFill>
              <a:srgbClr val="C7C7D0"/>
            </a:solidFill>
            <a:prstDash val="solid"/>
          </a:ln>
        </p:spPr>
      </p:sp>
      <p:sp>
        <p:nvSpPr>
          <p:cNvPr id="7" name="Text 5"/>
          <p:cNvSpPr/>
          <p:nvPr/>
        </p:nvSpPr>
        <p:spPr>
          <a:xfrm>
            <a:off x="999768" y="369498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Think Systemically</a:t>
            </a:r>
            <a:endParaRPr lang="en-US" sz="1950" dirty="0"/>
          </a:p>
        </p:txBody>
      </p:sp>
      <p:sp>
        <p:nvSpPr>
          <p:cNvPr id="8" name="Text 6"/>
          <p:cNvSpPr/>
          <p:nvPr/>
        </p:nvSpPr>
        <p:spPr>
          <a:xfrm>
            <a:off x="999768" y="4124206"/>
            <a:ext cx="3803333" cy="158769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Understand how decisions in one function ripple across the entire organisation. Strategy is cross-functional by nature — marketing, finance, operations, and HR must all pull in the same direction.</a:t>
            </a:r>
            <a:endParaRPr lang="en-US" sz="1550" dirty="0"/>
          </a:p>
        </p:txBody>
      </p:sp>
      <p:sp>
        <p:nvSpPr>
          <p:cNvPr id="9" name="Shape 7"/>
          <p:cNvSpPr/>
          <p:nvPr/>
        </p:nvSpPr>
        <p:spPr>
          <a:xfrm>
            <a:off x="5207437" y="3489008"/>
            <a:ext cx="4215408" cy="2428875"/>
          </a:xfrm>
          <a:prstGeom prst="roundRect">
            <a:avLst>
              <a:gd name="adj" fmla="val 3432"/>
            </a:avLst>
          </a:prstGeom>
          <a:solidFill>
            <a:srgbClr val="E1E1EA"/>
          </a:solidFill>
          <a:ln w="7620">
            <a:solidFill>
              <a:srgbClr val="C7C7D0"/>
            </a:solidFill>
            <a:prstDash val="solid"/>
          </a:ln>
        </p:spPr>
      </p:sp>
      <p:sp>
        <p:nvSpPr>
          <p:cNvPr id="10" name="Text 8"/>
          <p:cNvSpPr/>
          <p:nvPr/>
        </p:nvSpPr>
        <p:spPr>
          <a:xfrm>
            <a:off x="5413415" y="369498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Act Decisively</a:t>
            </a:r>
            <a:endParaRPr lang="en-US" sz="1950" dirty="0"/>
          </a:p>
        </p:txBody>
      </p:sp>
      <p:sp>
        <p:nvSpPr>
          <p:cNvPr id="11" name="Text 9"/>
          <p:cNvSpPr/>
          <p:nvPr/>
        </p:nvSpPr>
        <p:spPr>
          <a:xfrm>
            <a:off x="5413415" y="4124206"/>
            <a:ext cx="3803452" cy="158769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Analysis is a means to an end. The best strategists move from insight to action quickly, accepting that perfect information rarely exists and that calculated risk-taking is the essence of competitive leadership.</a:t>
            </a:r>
            <a:endParaRPr lang="en-US" sz="1550" dirty="0"/>
          </a:p>
        </p:txBody>
      </p:sp>
      <p:sp>
        <p:nvSpPr>
          <p:cNvPr id="12" name="Shape 10"/>
          <p:cNvSpPr/>
          <p:nvPr/>
        </p:nvSpPr>
        <p:spPr>
          <a:xfrm>
            <a:off x="9621203" y="3489008"/>
            <a:ext cx="4215289" cy="2428875"/>
          </a:xfrm>
          <a:prstGeom prst="roundRect">
            <a:avLst>
              <a:gd name="adj" fmla="val 3432"/>
            </a:avLst>
          </a:prstGeom>
          <a:solidFill>
            <a:srgbClr val="E1E1EA"/>
          </a:solidFill>
          <a:ln w="7620">
            <a:solidFill>
              <a:srgbClr val="C7C7D0"/>
            </a:solidFill>
            <a:prstDash val="solid"/>
          </a:ln>
        </p:spPr>
      </p:sp>
      <p:sp>
        <p:nvSpPr>
          <p:cNvPr id="13" name="Text 11"/>
          <p:cNvSpPr/>
          <p:nvPr/>
        </p:nvSpPr>
        <p:spPr>
          <a:xfrm>
            <a:off x="9827181" y="369498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Adapt Continuously</a:t>
            </a:r>
            <a:endParaRPr lang="en-US" sz="1950" dirty="0"/>
          </a:p>
        </p:txBody>
      </p:sp>
      <p:sp>
        <p:nvSpPr>
          <p:cNvPr id="14" name="Text 12"/>
          <p:cNvSpPr/>
          <p:nvPr/>
        </p:nvSpPr>
        <p:spPr>
          <a:xfrm>
            <a:off x="9827181" y="4124206"/>
            <a:ext cx="3803333" cy="158769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Markets evolve, competitors respond, and disruptions emerge without warning. The strategic management cycle — formulate, implement, evaluate — must be revisited regularly to remain relevant and effective.</a:t>
            </a:r>
            <a:endParaRPr lang="en-US" sz="1550" dirty="0"/>
          </a:p>
        </p:txBody>
      </p:sp>
      <p:sp>
        <p:nvSpPr>
          <p:cNvPr id="15" name="Shape 13"/>
          <p:cNvSpPr/>
          <p:nvPr/>
        </p:nvSpPr>
        <p:spPr>
          <a:xfrm>
            <a:off x="793790" y="6141125"/>
            <a:ext cx="13042821" cy="1160740"/>
          </a:xfrm>
          <a:prstGeom prst="roundRect">
            <a:avLst>
              <a:gd name="adj" fmla="val 7182"/>
            </a:avLst>
          </a:prstGeom>
          <a:solidFill>
            <a:srgbClr val="D2D2E0"/>
          </a:solidFill>
          <a:ln/>
        </p:spPr>
      </p:sp>
      <p:pic>
        <p:nvPicPr>
          <p:cNvPr id="16" name="Image 0" descr="preencoded.png"/>
          <p:cNvPicPr>
            <a:picLocks noChangeAspect="1"/>
          </p:cNvPicPr>
          <p:nvPr/>
        </p:nvPicPr>
        <p:blipFill>
          <a:blip r:embed="rId3"/>
          <a:stretch>
            <a:fillRect/>
          </a:stretch>
        </p:blipFill>
        <p:spPr>
          <a:xfrm>
            <a:off x="992148" y="6436400"/>
            <a:ext cx="248007" cy="198358"/>
          </a:xfrm>
          <a:prstGeom prst="rect">
            <a:avLst/>
          </a:prstGeom>
        </p:spPr>
      </p:pic>
      <p:sp>
        <p:nvSpPr>
          <p:cNvPr id="17" name="Text 14"/>
          <p:cNvSpPr/>
          <p:nvPr/>
        </p:nvSpPr>
        <p:spPr>
          <a:xfrm>
            <a:off x="1438513" y="6389013"/>
            <a:ext cx="12199739"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Roboto" pitchFamily="34" charset="0"/>
                <a:ea typeface="Roboto" pitchFamily="34" charset="-122"/>
                <a:cs typeface="Roboto" pitchFamily="34" charset="-120"/>
              </a:rPr>
              <a:t>The case studies in this course — from Walmart to Jio to Apple — all demonstrate one universal truth: </a:t>
            </a:r>
            <a:r>
              <a:rPr lang="en-US" sz="1550" b="1" dirty="0">
                <a:solidFill>
                  <a:srgbClr val="000000"/>
                </a:solidFill>
                <a:latin typeface="Roboto" pitchFamily="34" charset="0"/>
                <a:ea typeface="Roboto" pitchFamily="34" charset="-122"/>
                <a:cs typeface="Roboto" pitchFamily="34" charset="-120"/>
              </a:rPr>
              <a:t>execution of a clear, well-chosen strategy is the single greatest determinant of business success.</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793790" y="756404"/>
            <a:ext cx="1631871" cy="373142"/>
          </a:xfrm>
          <a:prstGeom prst="roundRect">
            <a:avLst>
              <a:gd name="adj" fmla="val 17872"/>
            </a:avLst>
          </a:prstGeom>
          <a:solidFill>
            <a:srgbClr val="E1E1EA"/>
          </a:solidFill>
          <a:ln/>
        </p:spPr>
      </p:sp>
      <p:sp>
        <p:nvSpPr>
          <p:cNvPr id="3" name="Text 1"/>
          <p:cNvSpPr/>
          <p:nvPr/>
        </p:nvSpPr>
        <p:spPr>
          <a:xfrm>
            <a:off x="912852" y="815935"/>
            <a:ext cx="1393746" cy="254079"/>
          </a:xfrm>
          <a:prstGeom prst="rect">
            <a:avLst/>
          </a:prstGeom>
          <a:noFill/>
          <a:ln/>
        </p:spPr>
        <p:txBody>
          <a:bodyPr wrap="non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COURSE ROADMAP</a:t>
            </a:r>
            <a:endParaRPr lang="en-US" sz="1250" dirty="0"/>
          </a:p>
        </p:txBody>
      </p:sp>
      <p:sp>
        <p:nvSpPr>
          <p:cNvPr id="4" name="Text 2"/>
          <p:cNvSpPr/>
          <p:nvPr/>
        </p:nvSpPr>
        <p:spPr>
          <a:xfrm>
            <a:off x="793790" y="1208842"/>
            <a:ext cx="6786682" cy="620078"/>
          </a:xfrm>
          <a:prstGeom prst="rect">
            <a:avLst/>
          </a:prstGeom>
          <a:noFill/>
          <a:ln/>
        </p:spPr>
        <p:txBody>
          <a:bodyPr wrap="none" lIns="0" tIns="0" rIns="0" bIns="0" rtlCol="0" anchor="t"/>
          <a:lstStyle/>
          <a:p>
            <a:pPr marL="0" indent="0" algn="l">
              <a:lnSpc>
                <a:spcPts val="4850"/>
              </a:lnSpc>
              <a:buNone/>
            </a:pPr>
            <a:r>
              <a:rPr lang="en-US" sz="3900" dirty="0">
                <a:solidFill>
                  <a:srgbClr val="1B1B27"/>
                </a:solidFill>
                <a:latin typeface="Impact" panose="020B0806030902050204" pitchFamily="34" charset="0"/>
                <a:ea typeface="Raleway" pitchFamily="34" charset="-122"/>
                <a:cs typeface="Raleway" pitchFamily="34" charset="-120"/>
              </a:rPr>
              <a:t>Key Takeaways &amp; What's Next</a:t>
            </a:r>
            <a:endParaRPr lang="en-US" sz="3900" dirty="0"/>
          </a:p>
        </p:txBody>
      </p:sp>
      <p:sp>
        <p:nvSpPr>
          <p:cNvPr id="5" name="Text 3"/>
          <p:cNvSpPr/>
          <p:nvPr/>
        </p:nvSpPr>
        <p:spPr>
          <a:xfrm>
            <a:off x="793790" y="212657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As we embark on this course, keep these foundational ideas at the centre of your thinking. Every topic we explore — from competitive analysis to corporate-level strategy — builds on the concepts introduced here.</a:t>
            </a:r>
            <a:endParaRPr lang="en-US" sz="1550" dirty="0"/>
          </a:p>
        </p:txBody>
      </p:sp>
      <p:sp>
        <p:nvSpPr>
          <p:cNvPr id="6" name="Text 4"/>
          <p:cNvSpPr/>
          <p:nvPr/>
        </p:nvSpPr>
        <p:spPr>
          <a:xfrm>
            <a:off x="793790" y="2984897"/>
            <a:ext cx="396835" cy="248007"/>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Calibri" panose="020F0502020204030204" pitchFamily="34" charset="0"/>
                <a:ea typeface="Calibri" panose="020F0502020204030204" pitchFamily="34" charset="0"/>
                <a:cs typeface="Calibri" panose="020F0502020204030204" pitchFamily="34" charset="0"/>
              </a:rPr>
              <a:t>01</a:t>
            </a:r>
            <a:endParaRPr lang="en-US" sz="1550" dirty="0"/>
          </a:p>
        </p:txBody>
      </p:sp>
      <p:sp>
        <p:nvSpPr>
          <p:cNvPr id="7" name="Shape 5"/>
          <p:cNvSpPr/>
          <p:nvPr/>
        </p:nvSpPr>
        <p:spPr>
          <a:xfrm>
            <a:off x="793790" y="3299222"/>
            <a:ext cx="4215289" cy="22860"/>
          </a:xfrm>
          <a:prstGeom prst="rect">
            <a:avLst/>
          </a:prstGeom>
          <a:solidFill>
            <a:srgbClr val="1B1B27"/>
          </a:solidFill>
          <a:ln/>
        </p:spPr>
      </p:sp>
      <p:sp>
        <p:nvSpPr>
          <p:cNvPr id="8" name="Text 6"/>
          <p:cNvSpPr/>
          <p:nvPr/>
        </p:nvSpPr>
        <p:spPr>
          <a:xfrm>
            <a:off x="793790" y="3444121"/>
            <a:ext cx="3543538"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Strategy = Long-Term Direction</a:t>
            </a:r>
            <a:endParaRPr lang="en-US" sz="1950" dirty="0"/>
          </a:p>
        </p:txBody>
      </p:sp>
      <p:sp>
        <p:nvSpPr>
          <p:cNvPr id="9" name="Text 7"/>
          <p:cNvSpPr/>
          <p:nvPr/>
        </p:nvSpPr>
        <p:spPr>
          <a:xfrm>
            <a:off x="793790" y="3873341"/>
            <a:ext cx="4215289" cy="95261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A strategy is a coherent plan that guides an organisation's decisions over an extended period — balancing ambition with realism.</a:t>
            </a:r>
            <a:endParaRPr lang="en-US" sz="1550" dirty="0"/>
          </a:p>
        </p:txBody>
      </p:sp>
      <p:sp>
        <p:nvSpPr>
          <p:cNvPr id="10" name="Text 8"/>
          <p:cNvSpPr/>
          <p:nvPr/>
        </p:nvSpPr>
        <p:spPr>
          <a:xfrm>
            <a:off x="5207437" y="2984897"/>
            <a:ext cx="396835" cy="248007"/>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Calibri" panose="020F0502020204030204" pitchFamily="34" charset="0"/>
                <a:ea typeface="Calibri" panose="020F0502020204030204" pitchFamily="34" charset="0"/>
                <a:cs typeface="Calibri" panose="020F0502020204030204" pitchFamily="34" charset="0"/>
              </a:rPr>
              <a:t>02</a:t>
            </a:r>
            <a:endParaRPr lang="en-US" sz="1550" dirty="0"/>
          </a:p>
        </p:txBody>
      </p:sp>
      <p:sp>
        <p:nvSpPr>
          <p:cNvPr id="11" name="Shape 9"/>
          <p:cNvSpPr/>
          <p:nvPr/>
        </p:nvSpPr>
        <p:spPr>
          <a:xfrm>
            <a:off x="5207437" y="3299222"/>
            <a:ext cx="4215408" cy="22860"/>
          </a:xfrm>
          <a:prstGeom prst="rect">
            <a:avLst/>
          </a:prstGeom>
          <a:solidFill>
            <a:srgbClr val="1B1B27"/>
          </a:solidFill>
          <a:ln/>
        </p:spPr>
      </p:sp>
      <p:sp>
        <p:nvSpPr>
          <p:cNvPr id="12" name="Text 10"/>
          <p:cNvSpPr/>
          <p:nvPr/>
        </p:nvSpPr>
        <p:spPr>
          <a:xfrm>
            <a:off x="5207437" y="3444121"/>
            <a:ext cx="4215408" cy="620316"/>
          </a:xfrm>
          <a:prstGeom prst="rect">
            <a:avLst/>
          </a:prstGeom>
          <a:noFill/>
          <a:ln/>
        </p:spPr>
        <p:txBody>
          <a:bodyPr wrap="squar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Strategic Management = The Full Cycle</a:t>
            </a:r>
            <a:endParaRPr lang="en-US" sz="1950" dirty="0"/>
          </a:p>
        </p:txBody>
      </p:sp>
      <p:sp>
        <p:nvSpPr>
          <p:cNvPr id="13" name="Text 11"/>
          <p:cNvSpPr/>
          <p:nvPr/>
        </p:nvSpPr>
        <p:spPr>
          <a:xfrm>
            <a:off x="5207437" y="4183499"/>
            <a:ext cx="4215408" cy="95261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Formulation, implementation, and evaluation form an integrated, iterative cycle — not a linear, one-time process.</a:t>
            </a:r>
            <a:endParaRPr lang="en-US" sz="1550" dirty="0"/>
          </a:p>
        </p:txBody>
      </p:sp>
      <p:sp>
        <p:nvSpPr>
          <p:cNvPr id="14" name="Text 12"/>
          <p:cNvSpPr/>
          <p:nvPr/>
        </p:nvSpPr>
        <p:spPr>
          <a:xfrm>
            <a:off x="9621203" y="2984897"/>
            <a:ext cx="396835" cy="248007"/>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Calibri" panose="020F0502020204030204" pitchFamily="34" charset="0"/>
                <a:ea typeface="Calibri" panose="020F0502020204030204" pitchFamily="34" charset="0"/>
                <a:cs typeface="Calibri" panose="020F0502020204030204" pitchFamily="34" charset="0"/>
              </a:rPr>
              <a:t>03</a:t>
            </a:r>
            <a:endParaRPr lang="en-US" sz="1550" dirty="0"/>
          </a:p>
        </p:txBody>
      </p:sp>
      <p:sp>
        <p:nvSpPr>
          <p:cNvPr id="15" name="Shape 13"/>
          <p:cNvSpPr/>
          <p:nvPr/>
        </p:nvSpPr>
        <p:spPr>
          <a:xfrm>
            <a:off x="9621203" y="3299222"/>
            <a:ext cx="4215289" cy="22860"/>
          </a:xfrm>
          <a:prstGeom prst="rect">
            <a:avLst/>
          </a:prstGeom>
          <a:solidFill>
            <a:srgbClr val="1B1B27"/>
          </a:solidFill>
          <a:ln/>
        </p:spPr>
      </p:sp>
      <p:sp>
        <p:nvSpPr>
          <p:cNvPr id="16" name="Text 14"/>
          <p:cNvSpPr/>
          <p:nvPr/>
        </p:nvSpPr>
        <p:spPr>
          <a:xfrm>
            <a:off x="9621203" y="344412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Model ≠ Strategy</a:t>
            </a:r>
            <a:endParaRPr lang="en-US" sz="1950" dirty="0"/>
          </a:p>
        </p:txBody>
      </p:sp>
      <p:sp>
        <p:nvSpPr>
          <p:cNvPr id="17" name="Text 15"/>
          <p:cNvSpPr/>
          <p:nvPr/>
        </p:nvSpPr>
        <p:spPr>
          <a:xfrm>
            <a:off x="9621203" y="3873341"/>
            <a:ext cx="4215289" cy="95261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Identical business models can produce wildly different results. Strategy is the differentiator — as proven by Walmart, Apple, and Jio.</a:t>
            </a:r>
            <a:endParaRPr lang="en-US" sz="1550" dirty="0"/>
          </a:p>
        </p:txBody>
      </p:sp>
      <p:sp>
        <p:nvSpPr>
          <p:cNvPr id="18" name="Text 16"/>
          <p:cNvSpPr/>
          <p:nvPr/>
        </p:nvSpPr>
        <p:spPr>
          <a:xfrm>
            <a:off x="793790" y="5483304"/>
            <a:ext cx="396835" cy="248007"/>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Calibri" panose="020F0502020204030204" pitchFamily="34" charset="0"/>
                <a:ea typeface="Calibri" panose="020F0502020204030204" pitchFamily="34" charset="0"/>
                <a:cs typeface="Calibri" panose="020F0502020204030204" pitchFamily="34" charset="0"/>
              </a:rPr>
              <a:t>04</a:t>
            </a:r>
            <a:endParaRPr lang="en-US" sz="1550" dirty="0"/>
          </a:p>
        </p:txBody>
      </p:sp>
      <p:sp>
        <p:nvSpPr>
          <p:cNvPr id="19" name="Shape 17"/>
          <p:cNvSpPr/>
          <p:nvPr/>
        </p:nvSpPr>
        <p:spPr>
          <a:xfrm>
            <a:off x="793790" y="5797629"/>
            <a:ext cx="6422112" cy="22860"/>
          </a:xfrm>
          <a:prstGeom prst="rect">
            <a:avLst/>
          </a:prstGeom>
          <a:solidFill>
            <a:srgbClr val="1B1B27"/>
          </a:solidFill>
          <a:ln/>
        </p:spPr>
      </p:sp>
      <p:sp>
        <p:nvSpPr>
          <p:cNvPr id="20" name="Text 18"/>
          <p:cNvSpPr/>
          <p:nvPr/>
        </p:nvSpPr>
        <p:spPr>
          <a:xfrm>
            <a:off x="793790" y="594252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Learn from Cases</a:t>
            </a:r>
            <a:endParaRPr lang="en-US" sz="1950" dirty="0"/>
          </a:p>
        </p:txBody>
      </p:sp>
      <p:sp>
        <p:nvSpPr>
          <p:cNvPr id="21" name="Text 19"/>
          <p:cNvSpPr/>
          <p:nvPr/>
        </p:nvSpPr>
        <p:spPr>
          <a:xfrm>
            <a:off x="793790" y="6371749"/>
            <a:ext cx="6422112" cy="95261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Real-world case studies are the laboratory of strategic management. Engage deeply — the patterns you identify here will serve you throughout your management career.</a:t>
            </a:r>
            <a:endParaRPr lang="en-US" sz="1550" dirty="0"/>
          </a:p>
        </p:txBody>
      </p:sp>
      <p:sp>
        <p:nvSpPr>
          <p:cNvPr id="22" name="Text 20"/>
          <p:cNvSpPr/>
          <p:nvPr/>
        </p:nvSpPr>
        <p:spPr>
          <a:xfrm>
            <a:off x="7414260" y="5483304"/>
            <a:ext cx="396835" cy="248007"/>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Calibri" panose="020F0502020204030204" pitchFamily="34" charset="0"/>
                <a:ea typeface="Calibri" panose="020F0502020204030204" pitchFamily="34" charset="0"/>
                <a:cs typeface="Calibri" panose="020F0502020204030204" pitchFamily="34" charset="0"/>
              </a:rPr>
              <a:t>05</a:t>
            </a:r>
            <a:endParaRPr lang="en-US" sz="1550" dirty="0"/>
          </a:p>
        </p:txBody>
      </p:sp>
      <p:sp>
        <p:nvSpPr>
          <p:cNvPr id="23" name="Shape 21"/>
          <p:cNvSpPr/>
          <p:nvPr/>
        </p:nvSpPr>
        <p:spPr>
          <a:xfrm>
            <a:off x="7414260" y="5797629"/>
            <a:ext cx="6422231" cy="22860"/>
          </a:xfrm>
          <a:prstGeom prst="rect">
            <a:avLst/>
          </a:prstGeom>
          <a:solidFill>
            <a:srgbClr val="1B1B27"/>
          </a:solidFill>
          <a:ln/>
        </p:spPr>
      </p:sp>
      <p:sp>
        <p:nvSpPr>
          <p:cNvPr id="24" name="Text 22"/>
          <p:cNvSpPr/>
          <p:nvPr/>
        </p:nvSpPr>
        <p:spPr>
          <a:xfrm>
            <a:off x="7414260" y="5942528"/>
            <a:ext cx="328743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Impact" panose="020B0806030902050204" pitchFamily="34" charset="0"/>
                <a:ea typeface="Raleway" pitchFamily="34" charset="-122"/>
                <a:cs typeface="Raleway" pitchFamily="34" charset="-120"/>
              </a:rPr>
              <a:t>Next: Environmental Analysis</a:t>
            </a:r>
            <a:endParaRPr lang="en-US" sz="1950" dirty="0"/>
          </a:p>
        </p:txBody>
      </p:sp>
      <p:sp>
        <p:nvSpPr>
          <p:cNvPr id="25" name="Text 23"/>
          <p:cNvSpPr/>
          <p:nvPr/>
        </p:nvSpPr>
        <p:spPr>
          <a:xfrm>
            <a:off x="7414260" y="6371749"/>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Upcoming sessions will cover PESTEL analysis, Porter's Five Forces, SWOT, and competitive dynamics — the analytical toolkit at the heart of strategy formulation.</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endParaRPr lang="en-US" dirty="0">
              <a:solidFill>
                <a:schemeClr val="tx2">
                  <a:satMod val="200000"/>
                </a:schemeClr>
              </a:solidFill>
              <a:latin typeface="Comic Sans MS" pitchFamily="66" charset="0"/>
            </a:endParaRPr>
          </a:p>
        </p:txBody>
      </p:sp>
      <p:sp>
        <p:nvSpPr>
          <p:cNvPr id="26627" name="Content Placeholder 2"/>
          <p:cNvSpPr>
            <a:spLocks noGrp="1"/>
          </p:cNvSpPr>
          <p:nvPr>
            <p:ph idx="1"/>
          </p:nvPr>
        </p:nvSpPr>
        <p:spPr/>
        <p:txBody>
          <a:bodyPr/>
          <a:lstStyle/>
          <a:p>
            <a:pPr eaLnBrk="1" hangingPunct="1"/>
            <a:endParaRPr lang="en-US" smtClean="0"/>
          </a:p>
        </p:txBody>
      </p:sp>
      <p:pic>
        <p:nvPicPr>
          <p:cNvPr id="26628" name="Content Placeholder 3"/>
          <p:cNvPicPr>
            <a:picLocks noChangeArrowheads="1"/>
          </p:cNvPicPr>
          <p:nvPr/>
        </p:nvPicPr>
        <p:blipFill>
          <a:blip r:embed="rId2"/>
          <a:srcRect/>
          <a:stretch>
            <a:fillRect/>
          </a:stretch>
        </p:blipFill>
        <p:spPr bwMode="auto">
          <a:xfrm>
            <a:off x="0" y="0"/>
            <a:ext cx="15483840" cy="8229600"/>
          </a:xfrm>
          <a:prstGeom prst="rect">
            <a:avLst/>
          </a:prstGeom>
          <a:gradFill rotWithShape="1">
            <a:gsLst>
              <a:gs pos="0">
                <a:srgbClr val="FF9933"/>
              </a:gs>
              <a:gs pos="100000">
                <a:srgbClr val="764718"/>
              </a:gs>
            </a:gsLst>
            <a:lin ang="5400000" scaled="1"/>
          </a:grad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3122</Words>
  <Application>Microsoft Office PowerPoint</Application>
  <PresentationFormat>Custom</PresentationFormat>
  <Paragraphs>240</Paragraphs>
  <Slides>20</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Impact</vt:lpstr>
      <vt:lpstr>Raleway</vt:lpstr>
      <vt:lpstr>Calibri</vt:lpstr>
      <vt:lpstr>Roboto</vt:lpstr>
      <vt:lpstr>Comic Sans MS</vt:lpstr>
      <vt:lpstr>Calibri Light</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5</cp:revision>
  <dcterms:created xsi:type="dcterms:W3CDTF">2026-04-15T17:18:19Z</dcterms:created>
  <dcterms:modified xsi:type="dcterms:W3CDTF">2026-04-21T05:29:36Z</dcterms:modified>
</cp:coreProperties>
</file>