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9"/>
  </p:notesMasterIdLst>
  <p:sldIdLst>
    <p:sldId id="272" r:id="rId3"/>
    <p:sldId id="273" r:id="rId4"/>
    <p:sldId id="324" r:id="rId5"/>
    <p:sldId id="326" r:id="rId6"/>
    <p:sldId id="325" r:id="rId7"/>
    <p:sldId id="327" r:id="rId8"/>
    <p:sldId id="328" r:id="rId9"/>
    <p:sldId id="329" r:id="rId10"/>
    <p:sldId id="347" r:id="rId11"/>
    <p:sldId id="331" r:id="rId12"/>
    <p:sldId id="336" r:id="rId13"/>
    <p:sldId id="337" r:id="rId14"/>
    <p:sldId id="330" r:id="rId15"/>
    <p:sldId id="332" r:id="rId16"/>
    <p:sldId id="338" r:id="rId17"/>
    <p:sldId id="339" r:id="rId18"/>
    <p:sldId id="340" r:id="rId19"/>
    <p:sldId id="341" r:id="rId20"/>
    <p:sldId id="342"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348" r:id="rId37"/>
    <p:sldId id="349" r:id="rId38"/>
    <p:sldId id="274" r:id="rId39"/>
    <p:sldId id="275" r:id="rId40"/>
    <p:sldId id="276" r:id="rId41"/>
    <p:sldId id="277" r:id="rId42"/>
    <p:sldId id="278" r:id="rId43"/>
    <p:sldId id="279" r:id="rId44"/>
    <p:sldId id="280" r:id="rId45"/>
    <p:sldId id="281" r:id="rId46"/>
    <p:sldId id="282" r:id="rId47"/>
    <p:sldId id="34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7B1817-9675-4ECA-9DB4-579D3D944799}" type="datetimeFigureOut">
              <a:rPr lang="en-IN" smtClean="0"/>
              <a:t>27-07-2026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151978-5C30-4EF1-88B1-8E3F37DB6AF0}" type="slidenum">
              <a:rPr lang="en-IN" smtClean="0"/>
              <a:t>‹#›</a:t>
            </a:fld>
            <a:endParaRPr lang="en-IN"/>
          </a:p>
        </p:txBody>
      </p:sp>
    </p:spTree>
    <p:extLst>
      <p:ext uri="{BB962C8B-B14F-4D97-AF65-F5344CB8AC3E}">
        <p14:creationId xmlns:p14="http://schemas.microsoft.com/office/powerpoint/2010/main" val="1620528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2D87CAA-6E04-4C59-8764-5BB911259155}" type="slidenum">
              <a:rPr lang="en-US" smtClean="0"/>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E2792-D5EC-429A-A14C-2F3A8C7921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7265A4-0300-8294-3E39-A2A8491D5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95DE9E-DB73-E5D0-16A5-70D55F12D379}"/>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5" name="Footer Placeholder 4">
            <a:extLst>
              <a:ext uri="{FF2B5EF4-FFF2-40B4-BE49-F238E27FC236}">
                <a16:creationId xmlns:a16="http://schemas.microsoft.com/office/drawing/2014/main" id="{FB6E2AF1-C1F1-7DF6-6568-909FC09D1F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40E97-1AD2-98D9-6BE4-2B4EA2750878}"/>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4180844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E6F89-C408-B61F-DE4F-C0AFBEABB2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F48234-EB84-C384-A2BA-558BCF069E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947CC7-24DA-51C7-88C5-717B4D0525E1}"/>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5" name="Footer Placeholder 4">
            <a:extLst>
              <a:ext uri="{FF2B5EF4-FFF2-40B4-BE49-F238E27FC236}">
                <a16:creationId xmlns:a16="http://schemas.microsoft.com/office/drawing/2014/main" id="{3E16080D-AA6A-0A2B-D618-83C194FE24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E1AFBC-8058-E82D-FFC8-A85FDE1A5891}"/>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2523876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AF4A6-8425-45C6-77B3-5CA2618AF1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5F4153-DE3F-1B76-740B-8BDEE3A763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4426C1-1ED6-3E66-6C6E-F52F4E034CA8}"/>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5" name="Footer Placeholder 4">
            <a:extLst>
              <a:ext uri="{FF2B5EF4-FFF2-40B4-BE49-F238E27FC236}">
                <a16:creationId xmlns:a16="http://schemas.microsoft.com/office/drawing/2014/main" id="{D9E534E6-B8B7-1F07-0926-4800A2890E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8BBB1C-3148-B8A2-4DA8-8DA73574EB76}"/>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1631108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0DA79-349B-4977-8293-F2924BE297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5052C1-EE21-994B-6F7C-1ADADF8B50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E3BEEF-497E-9FB6-E0F1-B42A951DC2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191146-3945-6CBF-D042-5C0CE46E7B77}"/>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6" name="Footer Placeholder 5">
            <a:extLst>
              <a:ext uri="{FF2B5EF4-FFF2-40B4-BE49-F238E27FC236}">
                <a16:creationId xmlns:a16="http://schemas.microsoft.com/office/drawing/2014/main" id="{42B17736-1039-923D-5D59-B5DB1BD7B3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5270E-6B18-8766-406A-DD8C0C3F7580}"/>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17615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3FD92-3A4D-3E73-8455-5D03329C48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F46635-582D-59D4-D990-0F91A6D7BD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6E66DB-B19E-FA81-C8AD-E33CE1A38C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CD9CFF-5BE5-CA0C-6CB7-BEDC485DD2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DA1C51-C01D-0A9B-558D-3864AFCB5A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997B82-5887-A956-2A1A-616F3E24DF7E}"/>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8" name="Footer Placeholder 7">
            <a:extLst>
              <a:ext uri="{FF2B5EF4-FFF2-40B4-BE49-F238E27FC236}">
                <a16:creationId xmlns:a16="http://schemas.microsoft.com/office/drawing/2014/main" id="{763252B9-D342-81FC-1C30-41395EA0E0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8E9985-BA33-31CB-ACEE-36D4F1789A17}"/>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3033387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833E0-7964-974F-AEE4-15E582C6D9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996C81-EEEF-DAB6-90E2-77657F75AF71}"/>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4" name="Footer Placeholder 3">
            <a:extLst>
              <a:ext uri="{FF2B5EF4-FFF2-40B4-BE49-F238E27FC236}">
                <a16:creationId xmlns:a16="http://schemas.microsoft.com/office/drawing/2014/main" id="{757D7C57-01C8-42E1-FBC3-1365D013E3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0BD3B5-2651-242B-B309-600FCD9CBC45}"/>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3892869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EA3CB8-1369-0985-31C4-05550B8953B0}"/>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3" name="Footer Placeholder 2">
            <a:extLst>
              <a:ext uri="{FF2B5EF4-FFF2-40B4-BE49-F238E27FC236}">
                <a16:creationId xmlns:a16="http://schemas.microsoft.com/office/drawing/2014/main" id="{29E24B0F-560A-2AAD-6411-D7CB8EF417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4FA6AA-31CF-3F57-3556-F667C0CCD059}"/>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4243193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8B41-DDD5-CB06-D288-5328280B4A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976BB58-5376-4C1E-FE91-6EA348FF30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7E9E6C-06BE-CDE7-B578-6E1DD6EB1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E9044-DD07-A96D-A6B8-11D349438B2F}"/>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6" name="Footer Placeholder 5">
            <a:extLst>
              <a:ext uri="{FF2B5EF4-FFF2-40B4-BE49-F238E27FC236}">
                <a16:creationId xmlns:a16="http://schemas.microsoft.com/office/drawing/2014/main" id="{3D0193DE-B942-4D2E-A00F-8267EEC93E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1DD452-0A57-B9D0-EE58-7D128B41567B}"/>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1677429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D93C-DC66-6C83-6468-61D249229C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8616A0-A873-17AC-5BFD-028A0E618B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47FE8FA-4006-9276-87B1-EB870892F4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6FA8DD-C6FA-F6C4-FA7F-D1B45E9B42D5}"/>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6" name="Footer Placeholder 5">
            <a:extLst>
              <a:ext uri="{FF2B5EF4-FFF2-40B4-BE49-F238E27FC236}">
                <a16:creationId xmlns:a16="http://schemas.microsoft.com/office/drawing/2014/main" id="{354B878A-192E-450C-4FD0-C99A8E11C6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6C82B4-4259-7F2D-4309-71E2C67AAC48}"/>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3639442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DE05E-06B3-65EE-A75B-B92F1041BC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9A889D-7510-1ACA-7C3B-941B0ADE4A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D43954-D4ED-62DB-1FA3-32C4B5D9E27E}"/>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5" name="Footer Placeholder 4">
            <a:extLst>
              <a:ext uri="{FF2B5EF4-FFF2-40B4-BE49-F238E27FC236}">
                <a16:creationId xmlns:a16="http://schemas.microsoft.com/office/drawing/2014/main" id="{BE9E03F5-BC81-C20D-1863-1C332D1884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599F87-ECC1-68E7-F774-005B24F76CB6}"/>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1286368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AA9392-4355-B68E-01CE-690908C844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B77C46-9983-6735-52F1-9C92CF32D5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D7435D-895A-506E-20F2-B2513AA976A6}"/>
              </a:ext>
            </a:extLst>
          </p:cNvPr>
          <p:cNvSpPr>
            <a:spLocks noGrp="1"/>
          </p:cNvSpPr>
          <p:nvPr>
            <p:ph type="dt" sz="half" idx="10"/>
          </p:nvPr>
        </p:nvSpPr>
        <p:spPr/>
        <p:txBody>
          <a:bodyPr/>
          <a:lstStyle/>
          <a:p>
            <a:fld id="{5D8BF4DA-11D7-45C3-B2CF-92A0EFB32A72}" type="datetimeFigureOut">
              <a:rPr lang="en-IN" smtClean="0"/>
              <a:t>27-07-2026</a:t>
            </a:fld>
            <a:endParaRPr lang="en-IN"/>
          </a:p>
        </p:txBody>
      </p:sp>
      <p:sp>
        <p:nvSpPr>
          <p:cNvPr id="5" name="Footer Placeholder 4">
            <a:extLst>
              <a:ext uri="{FF2B5EF4-FFF2-40B4-BE49-F238E27FC236}">
                <a16:creationId xmlns:a16="http://schemas.microsoft.com/office/drawing/2014/main" id="{D00C2960-C0C2-C5E1-B332-595914FEB0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581F0-7697-07EB-1BFD-01B91734D49D}"/>
              </a:ext>
            </a:extLst>
          </p:cNvPr>
          <p:cNvSpPr>
            <a:spLocks noGrp="1"/>
          </p:cNvSpPr>
          <p:nvPr>
            <p:ph type="sldNum" sz="quarter" idx="12"/>
          </p:nvPr>
        </p:nvSpPr>
        <p:spPr/>
        <p:txBody>
          <a:bodyPr/>
          <a:lstStyle/>
          <a:p>
            <a:fld id="{1C2C86DC-3D67-4DA6-BAE8-D7E16D4C0FF1}" type="slidenum">
              <a:rPr lang="en-IN" smtClean="0"/>
              <a:t>‹#›</a:t>
            </a:fld>
            <a:endParaRPr lang="en-IN"/>
          </a:p>
        </p:txBody>
      </p:sp>
    </p:spTree>
    <p:extLst>
      <p:ext uri="{BB962C8B-B14F-4D97-AF65-F5344CB8AC3E}">
        <p14:creationId xmlns:p14="http://schemas.microsoft.com/office/powerpoint/2010/main" val="3202060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D17CF57-BFCC-464A-BA48-BFE830374819}" type="datetime1">
              <a:rPr lang="en-US" smtClean="0"/>
              <a:t>7/27/2026</a:t>
            </a:fld>
            <a:endParaRPr lang="en-US"/>
          </a:p>
        </p:txBody>
      </p:sp>
      <p:sp>
        <p:nvSpPr>
          <p:cNvPr id="8" name="Slide Number Placeholder 7"/>
          <p:cNvSpPr>
            <a:spLocks noGrp="1"/>
          </p:cNvSpPr>
          <p:nvPr>
            <p:ph type="sldNum" sz="quarter" idx="11"/>
          </p:nvPr>
        </p:nvSpPr>
        <p:spPr/>
        <p:txBody>
          <a:bodyPr/>
          <a:lstStyle/>
          <a:p>
            <a:fld id="{E566A64D-537C-4258-BCDA-D6FBF77857E8}" type="slidenum">
              <a:rPr lang="en-US" smtClean="0"/>
              <a:pPr/>
              <a:t>‹#›</a:t>
            </a:fld>
            <a:endParaRPr lang="en-US"/>
          </a:p>
        </p:txBody>
      </p:sp>
      <p:sp>
        <p:nvSpPr>
          <p:cNvPr id="9" name="Footer Placeholder 8"/>
          <p:cNvSpPr>
            <a:spLocks noGrp="1"/>
          </p:cNvSpPr>
          <p:nvPr>
            <p:ph type="ftr" sz="quarter" idx="12"/>
          </p:nvPr>
        </p:nvSpPr>
        <p:spPr/>
        <p:txBody>
          <a:bodyPr/>
          <a:lstStyle/>
          <a:p>
            <a:r>
              <a:rPr lang="en-US"/>
              <a:t>VTU PG Studies</a:t>
            </a:r>
          </a:p>
        </p:txBody>
      </p:sp>
    </p:spTree>
    <p:extLst>
      <p:ext uri="{BB962C8B-B14F-4D97-AF65-F5344CB8AC3E}">
        <p14:creationId xmlns:p14="http://schemas.microsoft.com/office/powerpoint/2010/main" val="2261777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619D83-FF17-4516-B6B3-12726EAD2179}" type="datetime1">
              <a:rPr lang="en-US" smtClean="0"/>
              <a:t>7/27/2026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Tree>
    <p:extLst>
      <p:ext uri="{BB962C8B-B14F-4D97-AF65-F5344CB8AC3E}">
        <p14:creationId xmlns:p14="http://schemas.microsoft.com/office/powerpoint/2010/main" val="1193156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66585D-E5B0-45AC-8E0B-D67A89450EB7}" type="datetime1">
              <a:rPr lang="en-US" smtClean="0"/>
              <a:t>7/27/2026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635512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80F7F6-07C5-4E5C-98FD-D55B8861A721}" type="datetime1">
              <a:rPr lang="en-US" smtClean="0"/>
              <a:t>7/27/2026</a:t>
            </a:fld>
            <a:endParaRPr lang="en-US"/>
          </a:p>
        </p:txBody>
      </p:sp>
      <p:sp>
        <p:nvSpPr>
          <p:cNvPr id="6" name="Footer Placeholder 5"/>
          <p:cNvSpPr>
            <a:spLocks noGrp="1"/>
          </p:cNvSpPr>
          <p:nvPr>
            <p:ph type="ftr" sz="quarter" idx="11"/>
          </p:nvPr>
        </p:nvSpPr>
        <p:spPr/>
        <p:txBody>
          <a:bodyPr/>
          <a:lstStyle/>
          <a:p>
            <a:r>
              <a:rPr lang="en-US"/>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a:p>
        </p:txBody>
      </p:sp>
      <p:sp>
        <p:nvSpPr>
          <p:cNvPr id="9" name="Content Placeholder 8"/>
          <p:cNvSpPr>
            <a:spLocks noGrp="1"/>
          </p:cNvSpPr>
          <p:nvPr>
            <p:ph sz="quarter" idx="13"/>
          </p:nvPr>
        </p:nvSpPr>
        <p:spPr>
          <a:xfrm>
            <a:off x="487680" y="1600200"/>
            <a:ext cx="5388864"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0123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35FBAD6-C336-46C6-8EC6-6BE202C4573F}" type="datetime1">
              <a:rPr lang="en-US" smtClean="0"/>
              <a:t>7/27/2026</a:t>
            </a:fld>
            <a:endParaRPr lang="en-US"/>
          </a:p>
        </p:txBody>
      </p:sp>
      <p:sp>
        <p:nvSpPr>
          <p:cNvPr id="8" name="Footer Placeholder 7"/>
          <p:cNvSpPr>
            <a:spLocks noGrp="1"/>
          </p:cNvSpPr>
          <p:nvPr>
            <p:ph type="ftr" sz="quarter" idx="11"/>
          </p:nvPr>
        </p:nvSpPr>
        <p:spPr/>
        <p:txBody>
          <a:bodyPr/>
          <a:lstStyle/>
          <a:p>
            <a:r>
              <a:rPr lang="en-US"/>
              <a:t>VTU PG Studies</a:t>
            </a:r>
          </a:p>
        </p:txBody>
      </p:sp>
      <p:sp>
        <p:nvSpPr>
          <p:cNvPr id="9" name="Slide Number Placeholder 8"/>
          <p:cNvSpPr>
            <a:spLocks noGrp="1"/>
          </p:cNvSpPr>
          <p:nvPr>
            <p:ph type="sldNum" sz="quarter" idx="12"/>
          </p:nvPr>
        </p:nvSpPr>
        <p:spPr/>
        <p:txBody>
          <a:bodyPr/>
          <a:lstStyle/>
          <a:p>
            <a:fld id="{E566A64D-537C-4258-BCDA-D6FBF77857E8}" type="slidenum">
              <a:rPr lang="en-US" smtClean="0"/>
              <a:pPr/>
              <a:t>‹#›</a:t>
            </a:fld>
            <a:endParaRPr lang="en-US"/>
          </a:p>
        </p:txBody>
      </p:sp>
      <p:sp>
        <p:nvSpPr>
          <p:cNvPr id="11" name="Content Placeholder 10"/>
          <p:cNvSpPr>
            <a:spLocks noGrp="1"/>
          </p:cNvSpPr>
          <p:nvPr>
            <p:ph sz="quarter" idx="13"/>
          </p:nvPr>
        </p:nvSpPr>
        <p:spPr>
          <a:xfrm>
            <a:off x="609600" y="2212848"/>
            <a:ext cx="5388864"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82995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CB3241-A4F1-46EB-890C-3DE7F7ED7ECD}" type="datetime1">
              <a:rPr lang="en-US" smtClean="0"/>
              <a:t>7/27/2026</a:t>
            </a:fld>
            <a:endParaRPr lang="en-US"/>
          </a:p>
        </p:txBody>
      </p:sp>
      <p:sp>
        <p:nvSpPr>
          <p:cNvPr id="4" name="Footer Placeholder 3"/>
          <p:cNvSpPr>
            <a:spLocks noGrp="1"/>
          </p:cNvSpPr>
          <p:nvPr>
            <p:ph type="ftr" sz="quarter" idx="11"/>
          </p:nvPr>
        </p:nvSpPr>
        <p:spPr/>
        <p:txBody>
          <a:bodyPr/>
          <a:lstStyle/>
          <a:p>
            <a:r>
              <a:rPr lang="en-US"/>
              <a:t>VTU PG Studies</a:t>
            </a:r>
          </a:p>
        </p:txBody>
      </p:sp>
      <p:sp>
        <p:nvSpPr>
          <p:cNvPr id="5" name="Slide Number Placeholder 4"/>
          <p:cNvSpPr>
            <a:spLocks noGrp="1"/>
          </p:cNvSpPr>
          <p:nvPr>
            <p:ph type="sldNum" sz="quarter" idx="12"/>
          </p:nvPr>
        </p:nvSpPr>
        <p:spPr/>
        <p:txBody>
          <a:bodyPr/>
          <a:lstStyle/>
          <a:p>
            <a:fld id="{E566A64D-537C-4258-BCDA-D6FBF77857E8}" type="slidenum">
              <a:rPr lang="en-US" smtClean="0"/>
              <a:pPr/>
              <a:t>‹#›</a:t>
            </a:fld>
            <a:endParaRPr lang="en-US"/>
          </a:p>
        </p:txBody>
      </p:sp>
    </p:spTree>
    <p:extLst>
      <p:ext uri="{BB962C8B-B14F-4D97-AF65-F5344CB8AC3E}">
        <p14:creationId xmlns:p14="http://schemas.microsoft.com/office/powerpoint/2010/main" val="40333826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B5661D-CA49-4BEC-8E9F-F6EC85291D10}" type="datetime1">
              <a:rPr lang="en-US" smtClean="0"/>
              <a:t>7/27/2026</a:t>
            </a:fld>
            <a:endParaRPr lang="en-US"/>
          </a:p>
        </p:txBody>
      </p:sp>
      <p:sp>
        <p:nvSpPr>
          <p:cNvPr id="3" name="Footer Placeholder 2"/>
          <p:cNvSpPr>
            <a:spLocks noGrp="1"/>
          </p:cNvSpPr>
          <p:nvPr>
            <p:ph type="ftr" sz="quarter" idx="11"/>
          </p:nvPr>
        </p:nvSpPr>
        <p:spPr/>
        <p:txBody>
          <a:bodyPr/>
          <a:lstStyle/>
          <a:p>
            <a:r>
              <a:rPr lang="en-US"/>
              <a:t>VTU PG Studies</a:t>
            </a:r>
          </a:p>
        </p:txBody>
      </p:sp>
      <p:sp>
        <p:nvSpPr>
          <p:cNvPr id="4" name="Slide Number Placeholder 3"/>
          <p:cNvSpPr>
            <a:spLocks noGrp="1"/>
          </p:cNvSpPr>
          <p:nvPr>
            <p:ph type="sldNum" sz="quarter" idx="12"/>
          </p:nvPr>
        </p:nvSpPr>
        <p:spPr/>
        <p:txBody>
          <a:bodyPr/>
          <a:lstStyle/>
          <a:p>
            <a:fld id="{E566A64D-537C-4258-BCDA-D6FBF77857E8}" type="slidenum">
              <a:rPr lang="en-US" smtClean="0"/>
              <a:pPr/>
              <a:t>‹#›</a:t>
            </a:fld>
            <a:endParaRPr lang="en-US"/>
          </a:p>
        </p:txBody>
      </p:sp>
    </p:spTree>
    <p:extLst>
      <p:ext uri="{BB962C8B-B14F-4D97-AF65-F5344CB8AC3E}">
        <p14:creationId xmlns:p14="http://schemas.microsoft.com/office/powerpoint/2010/main" val="13471441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A0A151-226E-454F-BE66-459DD258DA02}" type="datetime1">
              <a:rPr lang="en-US" smtClean="0"/>
              <a:t>7/27/2026</a:t>
            </a:fld>
            <a:endParaRPr lang="en-US"/>
          </a:p>
        </p:txBody>
      </p:sp>
      <p:sp>
        <p:nvSpPr>
          <p:cNvPr id="6" name="Footer Placeholder 5"/>
          <p:cNvSpPr>
            <a:spLocks noGrp="1"/>
          </p:cNvSpPr>
          <p:nvPr>
            <p:ph type="ftr" sz="quarter" idx="11"/>
          </p:nvPr>
        </p:nvSpPr>
        <p:spPr/>
        <p:txBody>
          <a:bodyPr/>
          <a:lstStyle/>
          <a:p>
            <a:r>
              <a:rPr lang="en-US"/>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a:p>
        </p:txBody>
      </p:sp>
    </p:spTree>
    <p:extLst>
      <p:ext uri="{BB962C8B-B14F-4D97-AF65-F5344CB8AC3E}">
        <p14:creationId xmlns:p14="http://schemas.microsoft.com/office/powerpoint/2010/main" val="359150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4DF190-2C6F-4B9C-81C8-73C2E35A4E84}" type="datetime1">
              <a:rPr lang="en-US" smtClean="0"/>
              <a:t>7/27/2026</a:t>
            </a:fld>
            <a:endParaRPr lang="en-US"/>
          </a:p>
        </p:txBody>
      </p:sp>
      <p:sp>
        <p:nvSpPr>
          <p:cNvPr id="6" name="Footer Placeholder 5"/>
          <p:cNvSpPr>
            <a:spLocks noGrp="1"/>
          </p:cNvSpPr>
          <p:nvPr>
            <p:ph type="ftr" sz="quarter" idx="11"/>
          </p:nvPr>
        </p:nvSpPr>
        <p:spPr/>
        <p:txBody>
          <a:bodyPr/>
          <a:lstStyle/>
          <a:p>
            <a:r>
              <a:rPr lang="en-US"/>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a:p>
        </p:txBody>
      </p:sp>
    </p:spTree>
    <p:extLst>
      <p:ext uri="{BB962C8B-B14F-4D97-AF65-F5344CB8AC3E}">
        <p14:creationId xmlns:p14="http://schemas.microsoft.com/office/powerpoint/2010/main" val="31024170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1276C6-4878-4085-B6DD-02B2DC7D9DD2}" type="datetime1">
              <a:rPr lang="en-US" smtClean="0"/>
              <a:t>7/27/2026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Tree>
    <p:extLst>
      <p:ext uri="{BB962C8B-B14F-4D97-AF65-F5344CB8AC3E}">
        <p14:creationId xmlns:p14="http://schemas.microsoft.com/office/powerpoint/2010/main" val="11140147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1023C1-6C2B-4079-9CB1-222D2683F0D5}" type="datetime1">
              <a:rPr lang="en-US" smtClean="0"/>
              <a:t>7/27/2026</a:t>
            </a:fld>
            <a:endParaRPr lang="en-US"/>
          </a:p>
        </p:txBody>
      </p:sp>
      <p:sp>
        <p:nvSpPr>
          <p:cNvPr id="5" name="Footer Placeholder 4"/>
          <p:cNvSpPr>
            <a:spLocks noGrp="1"/>
          </p:cNvSpPr>
          <p:nvPr>
            <p:ph type="ftr" sz="quarter" idx="11"/>
          </p:nvPr>
        </p:nvSpPr>
        <p:spPr/>
        <p:txBody>
          <a:bodyPr/>
          <a:lstStyle/>
          <a:p>
            <a:r>
              <a:rPr lang="en-US"/>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a:p>
        </p:txBody>
      </p:sp>
    </p:spTree>
    <p:extLst>
      <p:ext uri="{BB962C8B-B14F-4D97-AF65-F5344CB8AC3E}">
        <p14:creationId xmlns:p14="http://schemas.microsoft.com/office/powerpoint/2010/main" val="21573352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638F5-38FA-B157-CB1B-4F66533F9F73}"/>
              </a:ext>
            </a:extLst>
          </p:cNvPr>
          <p:cNvSpPr>
            <a:spLocks noGrp="1"/>
          </p:cNvSpPr>
          <p:nvPr>
            <p:ph type="title"/>
          </p:nvPr>
        </p:nvSpPr>
        <p:spPr>
          <a:xfrm>
            <a:off x="609600" y="274638"/>
            <a:ext cx="10972800" cy="1143000"/>
          </a:xfrm>
        </p:spPr>
        <p:txBody>
          <a:bodyPr/>
          <a:lstStyle/>
          <a:p>
            <a:r>
              <a:rPr lang="en-US"/>
              <a:t>Click to edit Master title style</a:t>
            </a:r>
            <a:endParaRPr lang="en-IN"/>
          </a:p>
        </p:txBody>
      </p:sp>
      <p:sp>
        <p:nvSpPr>
          <p:cNvPr id="3" name="Table Placeholder 2">
            <a:extLst>
              <a:ext uri="{FF2B5EF4-FFF2-40B4-BE49-F238E27FC236}">
                <a16:creationId xmlns:a16="http://schemas.microsoft.com/office/drawing/2014/main" id="{5989C140-102E-6EF3-0AC2-D4A0F1207A51}"/>
              </a:ext>
            </a:extLst>
          </p:cNvPr>
          <p:cNvSpPr>
            <a:spLocks noGrp="1"/>
          </p:cNvSpPr>
          <p:nvPr>
            <p:ph type="tbl" idx="1"/>
          </p:nvPr>
        </p:nvSpPr>
        <p:spPr>
          <a:xfrm>
            <a:off x="609600" y="1600201"/>
            <a:ext cx="10972800" cy="4525963"/>
          </a:xfrm>
        </p:spPr>
        <p:txBody>
          <a:bodyPr/>
          <a:lstStyle/>
          <a:p>
            <a:endParaRPr lang="en-IN"/>
          </a:p>
        </p:txBody>
      </p:sp>
      <p:sp>
        <p:nvSpPr>
          <p:cNvPr id="4" name="Footer Placeholder 3">
            <a:extLst>
              <a:ext uri="{FF2B5EF4-FFF2-40B4-BE49-F238E27FC236}">
                <a16:creationId xmlns:a16="http://schemas.microsoft.com/office/drawing/2014/main" id="{1A3FCAB9-AC50-4AF7-44ED-AB63AD9C64F0}"/>
              </a:ext>
            </a:extLst>
          </p:cNvPr>
          <p:cNvSpPr>
            <a:spLocks noGrp="1"/>
          </p:cNvSpPr>
          <p:nvPr>
            <p:ph type="ftr" sz="quarter" idx="10"/>
          </p:nvPr>
        </p:nvSpPr>
        <p:spPr>
          <a:xfrm>
            <a:off x="609600" y="6245225"/>
            <a:ext cx="7416800" cy="476250"/>
          </a:xfrm>
        </p:spPr>
        <p:txBody>
          <a:bodyPr/>
          <a:lstStyle>
            <a:lvl1pPr>
              <a:defRPr/>
            </a:lvl1pPr>
          </a:lstStyle>
          <a:p>
            <a:r>
              <a:rPr lang="en-US" altLang="en-US"/>
              <a:t>Copyright 2007 Prentice Hall</a:t>
            </a:r>
          </a:p>
        </p:txBody>
      </p:sp>
      <p:sp>
        <p:nvSpPr>
          <p:cNvPr id="5" name="Slide Number Placeholder 4">
            <a:extLst>
              <a:ext uri="{FF2B5EF4-FFF2-40B4-BE49-F238E27FC236}">
                <a16:creationId xmlns:a16="http://schemas.microsoft.com/office/drawing/2014/main" id="{A85652C5-FFC2-B27B-D392-6758CA2C2F8A}"/>
              </a:ext>
            </a:extLst>
          </p:cNvPr>
          <p:cNvSpPr>
            <a:spLocks noGrp="1"/>
          </p:cNvSpPr>
          <p:nvPr>
            <p:ph type="sldNum" sz="quarter" idx="11"/>
          </p:nvPr>
        </p:nvSpPr>
        <p:spPr>
          <a:xfrm>
            <a:off x="8737600" y="6245225"/>
            <a:ext cx="2844800" cy="476250"/>
          </a:xfrm>
        </p:spPr>
        <p:txBody>
          <a:bodyPr/>
          <a:lstStyle>
            <a:lvl1pPr>
              <a:defRPr>
                <a:solidFill>
                  <a:schemeClr val="tx1"/>
                </a:solidFill>
                <a:latin typeface="+mn-lt"/>
              </a:defRPr>
            </a:lvl1pPr>
          </a:lstStyle>
          <a:p>
            <a:r>
              <a:rPr lang="en-US" altLang="en-US">
                <a:solidFill>
                  <a:srgbClr val="71602F"/>
                </a:solidFill>
                <a:latin typeface="Times New Roman" panose="02020603050405020304" pitchFamily="18" charset="0"/>
              </a:rPr>
              <a:t>Ch 6 -</a:t>
            </a:r>
            <a:fld id="{9AF53F96-633A-4988-87F3-338EBA709914}" type="slidenum">
              <a:rPr lang="en-US" altLang="en-US">
                <a:solidFill>
                  <a:srgbClr val="71602F"/>
                </a:solidFill>
                <a:latin typeface="Times New Roman" panose="02020603050405020304" pitchFamily="18" charset="0"/>
              </a:rPr>
              <a:pPr/>
              <a:t>‹#›</a:t>
            </a:fld>
            <a:endParaRPr lang="en-US" altLang="en-US">
              <a:solidFill>
                <a:srgbClr val="71602F"/>
              </a:solidFill>
              <a:latin typeface="Times New Roman" panose="02020603050405020304" pitchFamily="18" charset="0"/>
            </a:endParaRPr>
          </a:p>
          <a:p>
            <a:endParaRPr lang="en-US" altLang="en-US"/>
          </a:p>
        </p:txBody>
      </p:sp>
    </p:spTree>
    <p:extLst>
      <p:ext uri="{BB962C8B-B14F-4D97-AF65-F5344CB8AC3E}">
        <p14:creationId xmlns:p14="http://schemas.microsoft.com/office/powerpoint/2010/main" val="2794780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E9A03E-C285-5F9C-31D9-6D3EA4F5CF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FAE5D8-CE15-C53C-C069-DBD67D3C66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CE52BE-3A4F-68AB-8FD1-8AD79AB5B7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BF4DA-11D7-45C3-B2CF-92A0EFB32A72}" type="datetimeFigureOut">
              <a:rPr lang="en-IN" smtClean="0"/>
              <a:t>27-07-2026</a:t>
            </a:fld>
            <a:endParaRPr lang="en-IN"/>
          </a:p>
        </p:txBody>
      </p:sp>
      <p:sp>
        <p:nvSpPr>
          <p:cNvPr id="5" name="Footer Placeholder 4">
            <a:extLst>
              <a:ext uri="{FF2B5EF4-FFF2-40B4-BE49-F238E27FC236}">
                <a16:creationId xmlns:a16="http://schemas.microsoft.com/office/drawing/2014/main" id="{750372DF-7FF0-B79D-BBCD-CA96262B86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035D62C-5A6F-8A63-CE24-A47FC7A220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2C86DC-3D67-4DA6-BAE8-D7E16D4C0FF1}" type="slidenum">
              <a:rPr lang="en-IN" smtClean="0"/>
              <a:t>‹#›</a:t>
            </a:fld>
            <a:endParaRPr lang="en-IN"/>
          </a:p>
        </p:txBody>
      </p:sp>
    </p:spTree>
    <p:extLst>
      <p:ext uri="{BB962C8B-B14F-4D97-AF65-F5344CB8AC3E}">
        <p14:creationId xmlns:p14="http://schemas.microsoft.com/office/powerpoint/2010/main" val="3910925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91DBD47F-EFF2-4A60-946C-286089418D25}" type="datetime1">
              <a:rPr lang="en-US" smtClean="0"/>
              <a:t>7/27/2026</a:t>
            </a:fld>
            <a:endParaRPr lang="en-US"/>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en-US"/>
              <a:t>VTU PG Studies</a:t>
            </a:r>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E566A64D-537C-4258-BCDA-D6FBF77857E8}" type="slidenum">
              <a:rPr lang="en-US" smtClean="0"/>
              <a:pPr/>
              <a:t>‹#›</a:t>
            </a:fld>
            <a:endParaRPr lang="en-US"/>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75542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zainbooks.com/books/management/strategic-management.html" TargetMode="External"/><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863658" y="2209800"/>
            <a:ext cx="2146742" cy="630942"/>
          </a:xfrm>
          <a:prstGeom prst="rect">
            <a:avLst/>
          </a:prstGeom>
        </p:spPr>
        <p:txBody>
          <a:bodyPr wrap="none">
            <a:spAutoFit/>
          </a:bodyPr>
          <a:lstStyle/>
          <a:p>
            <a:r>
              <a:rPr lang="en-US" sz="3500" b="1" i="1" dirty="0">
                <a:solidFill>
                  <a:srgbClr val="2F5897"/>
                </a:solidFill>
                <a:effectLst>
                  <a:outerShdw blurRad="38100" dist="38100" dir="2700000" algn="tl">
                    <a:srgbClr val="000000">
                      <a:alpha val="43137"/>
                    </a:srgbClr>
                  </a:outerShdw>
                </a:effectLst>
                <a:latin typeface="Palatino Linotype"/>
              </a:rPr>
              <a:t>Module#5</a:t>
            </a:r>
            <a:endParaRPr lang="en-US" sz="3500" i="1" dirty="0">
              <a:solidFill>
                <a:srgbClr val="2F5897"/>
              </a:solidFill>
              <a:effectLst>
                <a:outerShdw blurRad="38100" dist="38100" dir="2700000" algn="tl">
                  <a:srgbClr val="000000">
                    <a:alpha val="43137"/>
                  </a:srgbClr>
                </a:outerShdw>
              </a:effectLst>
              <a:latin typeface="Palatino Linotype"/>
            </a:endParaRPr>
          </a:p>
        </p:txBody>
      </p:sp>
      <p:sp>
        <p:nvSpPr>
          <p:cNvPr id="2" name="Title 1"/>
          <p:cNvSpPr>
            <a:spLocks noGrp="1"/>
          </p:cNvSpPr>
          <p:nvPr>
            <p:ph type="ctrTitle"/>
          </p:nvPr>
        </p:nvSpPr>
        <p:spPr>
          <a:xfrm>
            <a:off x="995320" y="3618263"/>
            <a:ext cx="9520280" cy="838201"/>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r>
              <a:rPr lang="en-US" sz="4500" b="1" dirty="0">
                <a:solidFill>
                  <a:srgbClr val="FF0000"/>
                </a:solidFill>
              </a:rPr>
              <a:t>STRATEGY IMPLEMENTATION</a:t>
            </a:r>
            <a:endParaRPr lang="en-US" sz="4500" b="1" dirty="0">
              <a:solidFill>
                <a:srgbClr val="FF0000"/>
              </a:solidFill>
              <a:latin typeface="Times New Roman" pitchFamily="18" charset="0"/>
              <a:cs typeface="Times New Roman" pitchFamily="18" charset="0"/>
            </a:endParaRPr>
          </a:p>
        </p:txBody>
      </p:sp>
      <p:sp>
        <p:nvSpPr>
          <p:cNvPr id="4" name="TextBox 3"/>
          <p:cNvSpPr txBox="1"/>
          <p:nvPr/>
        </p:nvSpPr>
        <p:spPr>
          <a:xfrm>
            <a:off x="1556510" y="6320136"/>
            <a:ext cx="2482090" cy="461665"/>
          </a:xfrm>
          <a:prstGeom prst="rect">
            <a:avLst/>
          </a:prstGeom>
          <a:noFill/>
        </p:spPr>
        <p:txBody>
          <a:bodyPr wrap="none" rtlCol="0">
            <a:spAutoFit/>
          </a:bodyPr>
          <a:lstStyle/>
          <a:p>
            <a:r>
              <a:rPr lang="en-US" sz="1200" b="1" dirty="0">
                <a:solidFill>
                  <a:prstClr val="black"/>
                </a:solidFill>
                <a:latin typeface="Palatino Linotype"/>
              </a:rPr>
              <a:t>Faculty of Management  Studies</a:t>
            </a:r>
          </a:p>
          <a:p>
            <a:r>
              <a:rPr lang="en-US" sz="1200" b="1" dirty="0">
                <a:solidFill>
                  <a:prstClr val="black"/>
                </a:solidFill>
                <a:latin typeface="Palatino Linotype"/>
              </a:rPr>
              <a:t>               VTU, Belagavi</a:t>
            </a:r>
          </a:p>
        </p:txBody>
      </p:sp>
      <p:pic>
        <p:nvPicPr>
          <p:cNvPr id="5" name="Picture 2" descr="D:\MBA Teaching Material\Marketing Management\MM\Images\vtu-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0396" y="158750"/>
            <a:ext cx="1205204" cy="9842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133600" y="1161872"/>
            <a:ext cx="7848600" cy="923330"/>
          </a:xfrm>
          <a:prstGeom prst="rect">
            <a:avLst/>
          </a:prstGeom>
        </p:spPr>
        <p:txBody>
          <a:bodyPr wrap="square">
            <a:spAutoFit/>
          </a:bodyPr>
          <a:lstStyle/>
          <a:p>
            <a:pPr algn="ctr"/>
            <a:r>
              <a:rPr lang="en-US" b="1" dirty="0">
                <a:solidFill>
                  <a:prstClr val="black"/>
                </a:solidFill>
                <a:latin typeface="Palatino Linotype"/>
              </a:rPr>
              <a:t>Department of Management Studies</a:t>
            </a:r>
          </a:p>
          <a:p>
            <a:pPr algn="ctr"/>
            <a:r>
              <a:rPr lang="en-US" b="1" dirty="0">
                <a:solidFill>
                  <a:prstClr val="black"/>
                </a:solidFill>
                <a:latin typeface="Palatino Linotype"/>
              </a:rPr>
              <a:t> Visvesvaraya Technological University Belagavi-590018</a:t>
            </a:r>
          </a:p>
          <a:p>
            <a:pPr algn="ctr"/>
            <a:endParaRPr lang="en-US" b="1" dirty="0">
              <a:solidFill>
                <a:prstClr val="black"/>
              </a:solidFill>
              <a:latin typeface="Palatino Linotype"/>
            </a:endParaRPr>
          </a:p>
        </p:txBody>
      </p:sp>
      <p:sp>
        <p:nvSpPr>
          <p:cNvPr id="8" name="Rectangle 7"/>
          <p:cNvSpPr/>
          <p:nvPr/>
        </p:nvSpPr>
        <p:spPr>
          <a:xfrm>
            <a:off x="2023157" y="2819400"/>
            <a:ext cx="7918963" cy="523220"/>
          </a:xfrm>
          <a:prstGeom prst="rect">
            <a:avLst/>
          </a:prstGeom>
        </p:spPr>
        <p:txBody>
          <a:bodyPr wrap="none">
            <a:spAutoFit/>
          </a:bodyPr>
          <a:lstStyle/>
          <a:p>
            <a:pPr algn="ctr"/>
            <a:r>
              <a:rPr lang="en-US" sz="2500" b="1" dirty="0">
                <a:solidFill>
                  <a:srgbClr val="2F5897"/>
                </a:solidFill>
                <a:effectLst>
                  <a:outerShdw blurRad="38100" dist="38100" dir="2700000" algn="tl">
                    <a:srgbClr val="000000">
                      <a:alpha val="43137"/>
                    </a:srgbClr>
                  </a:outerShdw>
                </a:effectLst>
                <a:latin typeface="Palatino Linotype"/>
              </a:rPr>
              <a:t>SUBJECT </a:t>
            </a:r>
            <a:r>
              <a:rPr lang="en-US" sz="2800" b="1" dirty="0">
                <a:solidFill>
                  <a:srgbClr val="2F5897"/>
                </a:solidFill>
                <a:effectLst>
                  <a:outerShdw blurRad="38100" dist="38100" dir="2700000" algn="tl">
                    <a:srgbClr val="000000">
                      <a:alpha val="43137"/>
                    </a:srgbClr>
                  </a:outerShdw>
                </a:effectLst>
                <a:latin typeface="Palatino Linotype"/>
              </a:rPr>
              <a:t>: MBA 205- CORPORATE STRATEGY</a:t>
            </a:r>
            <a:endParaRPr lang="en-US" sz="2500" dirty="0">
              <a:solidFill>
                <a:srgbClr val="2F5897"/>
              </a:solidFill>
              <a:effectLst>
                <a:outerShdw blurRad="38100" dist="38100" dir="2700000" algn="tl">
                  <a:srgbClr val="000000">
                    <a:alpha val="43137"/>
                  </a:srgbClr>
                </a:outerShdw>
              </a:effectLst>
              <a:latin typeface="Palatino Linotype"/>
            </a:endParaRPr>
          </a:p>
        </p:txBody>
      </p:sp>
      <p:sp>
        <p:nvSpPr>
          <p:cNvPr id="10" name="Rectangle 9"/>
          <p:cNvSpPr/>
          <p:nvPr/>
        </p:nvSpPr>
        <p:spPr>
          <a:xfrm>
            <a:off x="8610601" y="87868"/>
            <a:ext cx="1965603" cy="369332"/>
          </a:xfrm>
          <a:prstGeom prst="rect">
            <a:avLst/>
          </a:prstGeom>
        </p:spPr>
        <p:txBody>
          <a:bodyPr wrap="none">
            <a:spAutoFit/>
          </a:bodyPr>
          <a:lstStyle/>
          <a:p>
            <a:r>
              <a:rPr lang="en-US" b="1" dirty="0">
                <a:solidFill>
                  <a:prstClr val="black"/>
                </a:solidFill>
                <a:latin typeface="Palatino Linotype"/>
              </a:rPr>
              <a:t>Lecture Hours:50</a:t>
            </a:r>
            <a:endParaRPr lang="en-US" dirty="0">
              <a:solidFill>
                <a:prstClr val="black"/>
              </a:solidFill>
              <a:latin typeface="Palatino Linotype"/>
            </a:endParaRPr>
          </a:p>
        </p:txBody>
      </p:sp>
      <p:sp>
        <p:nvSpPr>
          <p:cNvPr id="11" name="TextBox 10">
            <a:extLst>
              <a:ext uri="{FF2B5EF4-FFF2-40B4-BE49-F238E27FC236}">
                <a16:creationId xmlns:a16="http://schemas.microsoft.com/office/drawing/2014/main" id="{C2C21D53-4939-311E-9849-DB93E16B21C7}"/>
              </a:ext>
            </a:extLst>
          </p:cNvPr>
          <p:cNvSpPr txBox="1"/>
          <p:nvPr/>
        </p:nvSpPr>
        <p:spPr>
          <a:xfrm>
            <a:off x="1713488" y="4876933"/>
            <a:ext cx="6097348" cy="646331"/>
          </a:xfrm>
          <a:prstGeom prst="rect">
            <a:avLst/>
          </a:prstGeom>
          <a:noFill/>
        </p:spPr>
        <p:txBody>
          <a:bodyPr wrap="square">
            <a:spAutoFit/>
          </a:bodyPr>
          <a:lstStyle/>
          <a:p>
            <a:r>
              <a:rPr lang="en-US" dirty="0">
                <a:hlinkClick r:id="rId3"/>
              </a:rPr>
              <a:t>Free Online Lessons on Strategic Management Online Notes</a:t>
            </a:r>
            <a:endParaRPr lang="en-IN" dirty="0"/>
          </a:p>
        </p:txBody>
      </p:sp>
    </p:spTree>
    <p:extLst>
      <p:ext uri="{BB962C8B-B14F-4D97-AF65-F5344CB8AC3E}">
        <p14:creationId xmlns:p14="http://schemas.microsoft.com/office/powerpoint/2010/main" val="2807839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229600" cy="914400"/>
          </a:xfrm>
        </p:spPr>
        <p:txBody>
          <a:bodyPr/>
          <a:lstStyle/>
          <a:p>
            <a:r>
              <a:rPr lang="en-US" sz="3500" b="1" dirty="0"/>
              <a:t>COURSE OUTLINE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3776964"/>
              </p:ext>
            </p:extLst>
          </p:nvPr>
        </p:nvGraphicFramePr>
        <p:xfrm>
          <a:off x="1905000" y="1447801"/>
          <a:ext cx="8382000" cy="4758595"/>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1431">
                <a:tc>
                  <a:txBody>
                    <a:bodyPr/>
                    <a:lstStyle/>
                    <a:p>
                      <a:pPr algn="ctr"/>
                      <a:r>
                        <a:rPr lang="en-US" sz="2200" dirty="0"/>
                        <a:t>Lecture</a:t>
                      </a:r>
                      <a:r>
                        <a:rPr lang="en-US" sz="2200" baseline="0" dirty="0"/>
                        <a:t> </a:t>
                      </a:r>
                      <a:endParaRPr lang="en-US" sz="2200" dirty="0"/>
                    </a:p>
                  </a:txBody>
                  <a:tcPr anchor="ctr"/>
                </a:tc>
                <a:tc>
                  <a:txBody>
                    <a:bodyPr/>
                    <a:lstStyle/>
                    <a:p>
                      <a:pPr algn="ctr"/>
                      <a:r>
                        <a:rPr lang="en-US" sz="2200" dirty="0"/>
                        <a:t>Lecture Name </a:t>
                      </a:r>
                    </a:p>
                  </a:txBody>
                  <a:tcPr anchor="ctr"/>
                </a:tc>
                <a:tc>
                  <a:txBody>
                    <a:bodyPr/>
                    <a:lstStyle/>
                    <a:p>
                      <a:pPr algn="ctr"/>
                      <a:r>
                        <a:rPr lang="en-US" sz="2200" dirty="0"/>
                        <a:t>Lecture Hours</a:t>
                      </a:r>
                    </a:p>
                  </a:txBody>
                  <a:tcPr anchor="ctr"/>
                </a:tc>
                <a:extLst>
                  <a:ext uri="{0D108BD9-81ED-4DB2-BD59-A6C34878D82A}">
                    <a16:rowId xmlns:a16="http://schemas.microsoft.com/office/drawing/2014/main" val="10000"/>
                  </a:ext>
                </a:extLst>
              </a:tr>
              <a:tr h="488423">
                <a:tc>
                  <a:txBody>
                    <a:bodyPr/>
                    <a:lstStyle/>
                    <a:p>
                      <a:pPr algn="ctr"/>
                      <a:r>
                        <a:rPr lang="en-US" dirty="0"/>
                        <a:t>#1</a:t>
                      </a:r>
                    </a:p>
                  </a:txBody>
                  <a:tcPr/>
                </a:tc>
                <a:tc>
                  <a:txBody>
                    <a:bodyPr/>
                    <a:lstStyle/>
                    <a:p>
                      <a:r>
                        <a:rPr lang="en-US" sz="2000" dirty="0"/>
                        <a:t>Module-1 </a:t>
                      </a:r>
                      <a:r>
                        <a:rPr lang="en-US" sz="1800" dirty="0"/>
                        <a:t>Overview of strategic management</a:t>
                      </a:r>
                      <a:endParaRPr lang="en-US" sz="2000" dirty="0"/>
                    </a:p>
                  </a:txBody>
                  <a:tcPr/>
                </a:tc>
                <a:tc>
                  <a:txBody>
                    <a:bodyPr/>
                    <a:lstStyle/>
                    <a:p>
                      <a:pPr algn="ctr"/>
                      <a:r>
                        <a:rPr lang="en-US" dirty="0"/>
                        <a:t>7</a:t>
                      </a:r>
                    </a:p>
                  </a:txBody>
                  <a:tcPr/>
                </a:tc>
                <a:extLst>
                  <a:ext uri="{0D108BD9-81ED-4DB2-BD59-A6C34878D82A}">
                    <a16:rowId xmlns:a16="http://schemas.microsoft.com/office/drawing/2014/main" val="10001"/>
                  </a:ext>
                </a:extLst>
              </a:tr>
              <a:tr h="488423">
                <a:tc>
                  <a:txBody>
                    <a:bodyPr/>
                    <a:lstStyle/>
                    <a:p>
                      <a:pPr algn="ctr"/>
                      <a:r>
                        <a:rPr lang="en-US"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400" dirty="0"/>
                        <a:t>Module-2 </a:t>
                      </a:r>
                      <a:r>
                        <a:rPr lang="en-IN" sz="1800" kern="1200" dirty="0">
                          <a:solidFill>
                            <a:schemeClr val="dk1"/>
                          </a:solidFill>
                          <a:latin typeface="+mn-lt"/>
                          <a:ea typeface="+mn-ea"/>
                          <a:cs typeface="+mn-cs"/>
                        </a:rPr>
                        <a:t>ASSESSING EXTERNAL ENVIRONMENT </a:t>
                      </a:r>
                      <a:endParaRPr lang="en-US" sz="1800" kern="1200" dirty="0">
                        <a:solidFill>
                          <a:schemeClr val="dk1"/>
                        </a:solidFill>
                        <a:latin typeface="+mn-lt"/>
                        <a:ea typeface="+mn-ea"/>
                        <a:cs typeface="+mn-cs"/>
                      </a:endParaRPr>
                    </a:p>
                  </a:txBody>
                  <a:tcPr/>
                </a:tc>
                <a:tc>
                  <a:txBody>
                    <a:bodyPr/>
                    <a:lstStyle/>
                    <a:p>
                      <a:pPr algn="ctr"/>
                      <a:r>
                        <a:rPr lang="en-US" dirty="0"/>
                        <a:t>9</a:t>
                      </a:r>
                    </a:p>
                  </a:txBody>
                  <a:tcPr/>
                </a:tc>
                <a:extLst>
                  <a:ext uri="{0D108BD9-81ED-4DB2-BD59-A6C34878D82A}">
                    <a16:rowId xmlns:a16="http://schemas.microsoft.com/office/drawing/2014/main" val="10002"/>
                  </a:ext>
                </a:extLst>
              </a:tr>
              <a:tr h="488423">
                <a:tc>
                  <a:txBody>
                    <a:bodyPr/>
                    <a:lstStyle/>
                    <a:p>
                      <a:pPr algn="ctr"/>
                      <a:r>
                        <a:rPr lang="en-US"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400" kern="1200" dirty="0">
                          <a:solidFill>
                            <a:schemeClr val="dk1"/>
                          </a:solidFill>
                          <a:latin typeface="+mn-lt"/>
                          <a:ea typeface="+mn-ea"/>
                          <a:cs typeface="+mn-cs"/>
                        </a:rPr>
                        <a:t>Module-3 ASSESSING INTERNAL ENVIRONMENT</a:t>
                      </a:r>
                      <a:endParaRPr lang="en-US" sz="2400" kern="1200" dirty="0">
                        <a:solidFill>
                          <a:schemeClr val="dk1"/>
                        </a:solidFill>
                        <a:latin typeface="+mn-lt"/>
                        <a:ea typeface="+mn-ea"/>
                        <a:cs typeface="+mn-cs"/>
                      </a:endParaRPr>
                    </a:p>
                  </a:txBody>
                  <a:tcPr/>
                </a:tc>
                <a:tc>
                  <a:txBody>
                    <a:bodyPr/>
                    <a:lstStyle/>
                    <a:p>
                      <a:pPr algn="ctr"/>
                      <a:r>
                        <a:rPr lang="en-US" dirty="0"/>
                        <a:t>9</a:t>
                      </a:r>
                    </a:p>
                  </a:txBody>
                  <a:tcPr/>
                </a:tc>
                <a:extLst>
                  <a:ext uri="{0D108BD9-81ED-4DB2-BD59-A6C34878D82A}">
                    <a16:rowId xmlns:a16="http://schemas.microsoft.com/office/drawing/2014/main" val="10003"/>
                  </a:ext>
                </a:extLst>
              </a:tr>
              <a:tr h="488423">
                <a:tc>
                  <a:txBody>
                    <a:bodyPr/>
                    <a:lstStyle/>
                    <a:p>
                      <a:pPr algn="ctr"/>
                      <a:r>
                        <a:rPr lang="en-US" dirty="0"/>
                        <a:t>#4</a:t>
                      </a:r>
                    </a:p>
                  </a:txBody>
                  <a:tcPr/>
                </a:tc>
                <a:tc>
                  <a:txBody>
                    <a:bodyPr/>
                    <a:lstStyle/>
                    <a:p>
                      <a:r>
                        <a:rPr lang="en-US" sz="2000" dirty="0"/>
                        <a:t>Module-4 STRATEGY FORMULATION </a:t>
                      </a:r>
                      <a:endParaRPr lang="en-US" sz="2000" b="1" dirty="0"/>
                    </a:p>
                  </a:txBody>
                  <a:tcPr/>
                </a:tc>
                <a:tc>
                  <a:txBody>
                    <a:bodyPr/>
                    <a:lstStyle/>
                    <a:p>
                      <a:pPr algn="ctr"/>
                      <a:r>
                        <a:rPr lang="en-US" dirty="0"/>
                        <a:t>9</a:t>
                      </a:r>
                    </a:p>
                  </a:txBody>
                  <a:tcPr/>
                </a:tc>
                <a:extLst>
                  <a:ext uri="{0D108BD9-81ED-4DB2-BD59-A6C34878D82A}">
                    <a16:rowId xmlns:a16="http://schemas.microsoft.com/office/drawing/2014/main" val="10004"/>
                  </a:ext>
                </a:extLst>
              </a:tr>
              <a:tr h="488423">
                <a:tc>
                  <a:txBody>
                    <a:bodyPr/>
                    <a:lstStyle/>
                    <a:p>
                      <a:pPr algn="ctr"/>
                      <a:r>
                        <a:rPr lang="en-US" dirty="0"/>
                        <a:t>#5</a:t>
                      </a:r>
                    </a:p>
                  </a:txBody>
                  <a:tcPr/>
                </a:tc>
                <a:tc>
                  <a:txBody>
                    <a:bodyPr/>
                    <a:lstStyle/>
                    <a:p>
                      <a:r>
                        <a:rPr lang="en-US" sz="2000" b="1" dirty="0">
                          <a:solidFill>
                            <a:srgbClr val="FF0000"/>
                          </a:solidFill>
                        </a:rPr>
                        <a:t>Module-5 STRATEGY IMPLEMENTATION</a:t>
                      </a:r>
                    </a:p>
                  </a:txBody>
                  <a:tcPr/>
                </a:tc>
                <a:tc>
                  <a:txBody>
                    <a:bodyPr/>
                    <a:lstStyle/>
                    <a:p>
                      <a:pPr algn="ctr"/>
                      <a:r>
                        <a:rPr lang="en-US" dirty="0"/>
                        <a:t>9</a:t>
                      </a:r>
                    </a:p>
                  </a:txBody>
                  <a:tcPr/>
                </a:tc>
                <a:extLst>
                  <a:ext uri="{0D108BD9-81ED-4DB2-BD59-A6C34878D82A}">
                    <a16:rowId xmlns:a16="http://schemas.microsoft.com/office/drawing/2014/main" val="10005"/>
                  </a:ext>
                </a:extLst>
              </a:tr>
              <a:tr h="488423">
                <a:tc>
                  <a:txBody>
                    <a:bodyPr/>
                    <a:lstStyle/>
                    <a:p>
                      <a:pPr algn="ctr"/>
                      <a:r>
                        <a:rPr lang="en-US" dirty="0"/>
                        <a:t>#6</a:t>
                      </a:r>
                    </a:p>
                  </a:txBody>
                  <a:tcPr/>
                </a:tc>
                <a:tc>
                  <a:txBody>
                    <a:bodyPr/>
                    <a:lstStyle/>
                    <a:p>
                      <a:r>
                        <a:rPr lang="en-IN" sz="2000" dirty="0"/>
                        <a:t>Module-6 STRATEGY EVALUATION </a:t>
                      </a:r>
                      <a:endParaRPr lang="en-US" sz="2000" dirty="0"/>
                    </a:p>
                  </a:txBody>
                  <a:tcPr/>
                </a:tc>
                <a:tc>
                  <a:txBody>
                    <a:bodyPr/>
                    <a:lstStyle/>
                    <a:p>
                      <a:pPr algn="ctr"/>
                      <a:r>
                        <a:rPr lang="en-US" dirty="0"/>
                        <a:t>7</a:t>
                      </a:r>
                    </a:p>
                  </a:txBody>
                  <a:tcPr/>
                </a:tc>
                <a:extLst>
                  <a:ext uri="{0D108BD9-81ED-4DB2-BD59-A6C34878D82A}">
                    <a16:rowId xmlns:a16="http://schemas.microsoft.com/office/drawing/2014/main" val="10006"/>
                  </a:ext>
                </a:extLst>
              </a:tr>
              <a:tr h="488423">
                <a:tc>
                  <a:txBody>
                    <a:bodyPr/>
                    <a:lstStyle/>
                    <a:p>
                      <a:endParaRPr lang="en-US" dirty="0"/>
                    </a:p>
                  </a:txBody>
                  <a:tcPr/>
                </a:tc>
                <a:tc>
                  <a:txBody>
                    <a:bodyPr/>
                    <a:lstStyle/>
                    <a:p>
                      <a:pPr algn="r"/>
                      <a:r>
                        <a:rPr lang="en-US" b="1" dirty="0"/>
                        <a:t>Total Hours </a:t>
                      </a:r>
                    </a:p>
                  </a:txBody>
                  <a:tcPr/>
                </a:tc>
                <a:tc>
                  <a:txBody>
                    <a:bodyPr/>
                    <a:lstStyle/>
                    <a:p>
                      <a:pPr algn="ctr"/>
                      <a:r>
                        <a:rPr lang="en-US" b="1" dirty="0"/>
                        <a:t>50</a:t>
                      </a:r>
                    </a:p>
                  </a:txBody>
                  <a:tcPr/>
                </a:tc>
                <a:extLst>
                  <a:ext uri="{0D108BD9-81ED-4DB2-BD59-A6C34878D82A}">
                    <a16:rowId xmlns:a16="http://schemas.microsoft.com/office/drawing/2014/main" val="10007"/>
                  </a:ext>
                </a:extLst>
              </a:tr>
            </a:tbl>
          </a:graphicData>
        </a:graphic>
      </p:graphicFrame>
      <p:pic>
        <p:nvPicPr>
          <p:cNvPr id="8" name="Picture 2" descr="D:\MBA Teaching Material\Marketing Management\MM\Images\vtu-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2458"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629C13E8-A953-C460-D874-51A1CB64350A}"/>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5694A63D-9434-6175-02FE-AD1A15C9933B}"/>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C51CFC53-0DC4-6694-9F96-3827E392C46E}"/>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2</a:t>
            </a:fld>
            <a:endParaRPr lang="en-US">
              <a:solidFill>
                <a:prstClr val="black">
                  <a:lumMod val="65000"/>
                  <a:lumOff val="35000"/>
                </a:prstClr>
              </a:solidFill>
            </a:endParaRPr>
          </a:p>
        </p:txBody>
      </p:sp>
    </p:spTree>
    <p:extLst>
      <p:ext uri="{BB962C8B-B14F-4D97-AF65-F5344CB8AC3E}">
        <p14:creationId xmlns:p14="http://schemas.microsoft.com/office/powerpoint/2010/main" val="3448413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5E7DA-A4D6-B46E-3831-158A8E8A0A0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B57103E-4C0C-F223-83A2-61D756E62024}"/>
              </a:ext>
            </a:extLst>
          </p:cNvPr>
          <p:cNvSpPr>
            <a:spLocks noGrp="1"/>
          </p:cNvSpPr>
          <p:nvPr>
            <p:ph type="dt" sz="half" idx="10"/>
          </p:nvPr>
        </p:nvSpPr>
        <p:spPr/>
        <p:txBody>
          <a:bodyPr/>
          <a:lstStyle/>
          <a:p>
            <a:fld id="{04619D83-FF17-4516-B6B3-12726EAD2179}"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BC7D0C3E-B6D3-B3AE-8E74-3B2E34276E1B}"/>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09EF56EF-341C-643A-EF2A-B0DD08CD074B}"/>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3</a:t>
            </a:fld>
            <a:endParaRPr lang="en-US">
              <a:solidFill>
                <a:prstClr val="black">
                  <a:lumMod val="65000"/>
                  <a:lumOff val="35000"/>
                </a:prstClr>
              </a:solidFill>
            </a:endParaRPr>
          </a:p>
        </p:txBody>
      </p:sp>
      <p:pic>
        <p:nvPicPr>
          <p:cNvPr id="2" name="Picture 2" descr="D:\MBA Teaching Material\Marketing Management\MM\Images\vtu-logo.png">
            <a:extLst>
              <a:ext uri="{FF2B5EF4-FFF2-40B4-BE49-F238E27FC236}">
                <a16:creationId xmlns:a16="http://schemas.microsoft.com/office/drawing/2014/main" id="{D3F75695-6C20-D7F1-73F5-6357F556F1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29801"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81468CA-6DDD-7AAD-C634-39691C6BF277}"/>
              </a:ext>
            </a:extLst>
          </p:cNvPr>
          <p:cNvSpPr txBox="1"/>
          <p:nvPr/>
        </p:nvSpPr>
        <p:spPr>
          <a:xfrm>
            <a:off x="8420748" y="5548630"/>
            <a:ext cx="1409053" cy="369332"/>
          </a:xfrm>
          <a:prstGeom prst="rect">
            <a:avLst/>
          </a:prstGeom>
          <a:solidFill>
            <a:schemeClr val="bg1">
              <a:lumMod val="95000"/>
            </a:schemeClr>
          </a:solidFill>
        </p:spPr>
        <p:txBody>
          <a:bodyPr wrap="square" rtlCol="0">
            <a:spAutoFit/>
          </a:bodyPr>
          <a:lstStyle/>
          <a:p>
            <a:endParaRPr lang="en-IN" dirty="0">
              <a:solidFill>
                <a:prstClr val="black"/>
              </a:solidFill>
              <a:latin typeface="Palatino Linotype"/>
            </a:endParaRPr>
          </a:p>
        </p:txBody>
      </p:sp>
      <p:pic>
        <p:nvPicPr>
          <p:cNvPr id="9" name="Picture 8">
            <a:extLst>
              <a:ext uri="{FF2B5EF4-FFF2-40B4-BE49-F238E27FC236}">
                <a16:creationId xmlns:a16="http://schemas.microsoft.com/office/drawing/2014/main" id="{28049CC8-2926-2456-6BE8-FF80C8752835}"/>
              </a:ext>
            </a:extLst>
          </p:cNvPr>
          <p:cNvPicPr>
            <a:picLocks noChangeAspect="1"/>
          </p:cNvPicPr>
          <p:nvPr/>
        </p:nvPicPr>
        <p:blipFill>
          <a:blip r:embed="rId3"/>
          <a:stretch>
            <a:fillRect/>
          </a:stretch>
        </p:blipFill>
        <p:spPr>
          <a:xfrm>
            <a:off x="353352" y="322013"/>
            <a:ext cx="6498616" cy="5699125"/>
          </a:xfrm>
          <a:prstGeom prst="rect">
            <a:avLst/>
          </a:prstGeom>
        </p:spPr>
      </p:pic>
      <p:sp>
        <p:nvSpPr>
          <p:cNvPr id="7" name="TextBox 6">
            <a:extLst>
              <a:ext uri="{FF2B5EF4-FFF2-40B4-BE49-F238E27FC236}">
                <a16:creationId xmlns:a16="http://schemas.microsoft.com/office/drawing/2014/main" id="{705008B7-B417-EFD4-4838-42E4010D62F7}"/>
              </a:ext>
            </a:extLst>
          </p:cNvPr>
          <p:cNvSpPr txBox="1"/>
          <p:nvPr/>
        </p:nvSpPr>
        <p:spPr>
          <a:xfrm>
            <a:off x="7290924" y="1606157"/>
            <a:ext cx="4178498" cy="3139321"/>
          </a:xfrm>
          <a:prstGeom prst="rect">
            <a:avLst/>
          </a:prstGeom>
          <a:noFill/>
        </p:spPr>
        <p:txBody>
          <a:bodyPr wrap="square">
            <a:spAutoFit/>
          </a:bodyPr>
          <a:lstStyle/>
          <a:p>
            <a:r>
              <a:rPr lang="en-US" dirty="0"/>
              <a:t>Nature of strategy implementation, issues in strategy implementation, model of strategic implementation, resource allocation, managing conflicts, restructuring, reengineering and e engineering, linking performance and pay to strategies, managing resistance to change, creating a strategy-supportive culture, and production/operations concerns in implementing strategies.</a:t>
            </a:r>
            <a:endParaRPr lang="en-IN" dirty="0"/>
          </a:p>
        </p:txBody>
      </p:sp>
    </p:spTree>
    <p:extLst>
      <p:ext uri="{BB962C8B-B14F-4D97-AF65-F5344CB8AC3E}">
        <p14:creationId xmlns:p14="http://schemas.microsoft.com/office/powerpoint/2010/main" val="3119313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5220E-69F3-4AF2-82B7-1B03612518CC}"/>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F2EF598C-984E-328B-A885-56C300C33B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2458"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C815F8FC-722D-6498-D4D4-2DFE25A94C0A}"/>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B05F05CD-7ACC-7E08-E910-4243ECCB0515}"/>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3E3D9CAC-2934-894C-CE8A-197868F5B354}"/>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4</a:t>
            </a:fld>
            <a:endParaRPr lang="en-US">
              <a:solidFill>
                <a:prstClr val="black">
                  <a:lumMod val="65000"/>
                  <a:lumOff val="35000"/>
                </a:prstClr>
              </a:solidFill>
            </a:endParaRPr>
          </a:p>
        </p:txBody>
      </p:sp>
      <p:pic>
        <p:nvPicPr>
          <p:cNvPr id="4" name="Picture 3">
            <a:extLst>
              <a:ext uri="{FF2B5EF4-FFF2-40B4-BE49-F238E27FC236}">
                <a16:creationId xmlns:a16="http://schemas.microsoft.com/office/drawing/2014/main" id="{FBC06DF7-8C76-C578-9F4C-AE398552FB39}"/>
              </a:ext>
            </a:extLst>
          </p:cNvPr>
          <p:cNvPicPr>
            <a:picLocks noChangeAspect="1"/>
          </p:cNvPicPr>
          <p:nvPr/>
        </p:nvPicPr>
        <p:blipFill>
          <a:blip r:embed="rId3"/>
          <a:stretch>
            <a:fillRect/>
          </a:stretch>
        </p:blipFill>
        <p:spPr>
          <a:xfrm>
            <a:off x="396510" y="213683"/>
            <a:ext cx="10382832" cy="5891757"/>
          </a:xfrm>
          <a:prstGeom prst="rect">
            <a:avLst/>
          </a:prstGeom>
        </p:spPr>
      </p:pic>
    </p:spTree>
    <p:extLst>
      <p:ext uri="{BB962C8B-B14F-4D97-AF65-F5344CB8AC3E}">
        <p14:creationId xmlns:p14="http://schemas.microsoft.com/office/powerpoint/2010/main" val="1265114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D72EE-FC0E-6E3D-C280-E977CCF317E5}"/>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C136FB27-DCEA-303F-5673-2943272DAC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2458"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9CF3487D-5EA4-17DC-5F60-B5B24A7C7669}"/>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C0AAAB4B-9938-7D00-DDE6-AC39FB8F19A2}"/>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15803D6A-BE3A-42C6-99F8-82BB14CD9C74}"/>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5</a:t>
            </a:fld>
            <a:endParaRPr lang="en-US">
              <a:solidFill>
                <a:prstClr val="black">
                  <a:lumMod val="65000"/>
                  <a:lumOff val="35000"/>
                </a:prstClr>
              </a:solidFill>
            </a:endParaRPr>
          </a:p>
        </p:txBody>
      </p:sp>
      <p:pic>
        <p:nvPicPr>
          <p:cNvPr id="10" name="Picture 9">
            <a:extLst>
              <a:ext uri="{FF2B5EF4-FFF2-40B4-BE49-F238E27FC236}">
                <a16:creationId xmlns:a16="http://schemas.microsoft.com/office/drawing/2014/main" id="{7CB96DB5-C18F-49D5-DDDB-C92A3DD8DBCA}"/>
              </a:ext>
            </a:extLst>
          </p:cNvPr>
          <p:cNvPicPr>
            <a:picLocks noChangeAspect="1"/>
          </p:cNvPicPr>
          <p:nvPr/>
        </p:nvPicPr>
        <p:blipFill>
          <a:blip r:embed="rId3"/>
          <a:stretch>
            <a:fillRect/>
          </a:stretch>
        </p:blipFill>
        <p:spPr>
          <a:xfrm>
            <a:off x="121381" y="532460"/>
            <a:ext cx="9521698" cy="5271946"/>
          </a:xfrm>
          <a:prstGeom prst="rect">
            <a:avLst/>
          </a:prstGeom>
        </p:spPr>
      </p:pic>
    </p:spTree>
    <p:extLst>
      <p:ext uri="{BB962C8B-B14F-4D97-AF65-F5344CB8AC3E}">
        <p14:creationId xmlns:p14="http://schemas.microsoft.com/office/powerpoint/2010/main" val="2071052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76CF-6CFB-AC37-D9EF-7B3976E08BD7}"/>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1626439B-3C9C-37B5-F646-270029D530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2458"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8D711D83-1663-3210-5CBA-CAFA0847E868}"/>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51EFA262-7AA4-76C7-B999-92CB1947A087}"/>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B799E1D7-202F-D74B-4210-9B7CE3C79B59}"/>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6</a:t>
            </a:fld>
            <a:endParaRPr lang="en-US">
              <a:solidFill>
                <a:prstClr val="black">
                  <a:lumMod val="65000"/>
                  <a:lumOff val="35000"/>
                </a:prstClr>
              </a:solidFill>
            </a:endParaRPr>
          </a:p>
        </p:txBody>
      </p:sp>
      <p:pic>
        <p:nvPicPr>
          <p:cNvPr id="4" name="Picture 3">
            <a:extLst>
              <a:ext uri="{FF2B5EF4-FFF2-40B4-BE49-F238E27FC236}">
                <a16:creationId xmlns:a16="http://schemas.microsoft.com/office/drawing/2014/main" id="{4B6B40C4-0B06-AB7B-0BF1-B89CC26BC755}"/>
              </a:ext>
            </a:extLst>
          </p:cNvPr>
          <p:cNvPicPr>
            <a:picLocks noChangeAspect="1"/>
          </p:cNvPicPr>
          <p:nvPr/>
        </p:nvPicPr>
        <p:blipFill>
          <a:blip r:embed="rId3"/>
          <a:stretch>
            <a:fillRect/>
          </a:stretch>
        </p:blipFill>
        <p:spPr>
          <a:xfrm>
            <a:off x="542854" y="315589"/>
            <a:ext cx="6764311" cy="4329239"/>
          </a:xfrm>
          <a:prstGeom prst="rect">
            <a:avLst/>
          </a:prstGeom>
        </p:spPr>
      </p:pic>
    </p:spTree>
    <p:extLst>
      <p:ext uri="{BB962C8B-B14F-4D97-AF65-F5344CB8AC3E}">
        <p14:creationId xmlns:p14="http://schemas.microsoft.com/office/powerpoint/2010/main" val="2839659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F6283-8E00-C253-C261-7E1A6CAF8DD1}"/>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70943F7B-130A-37B5-12D9-94414961963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2458"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6A4CE973-D0A1-36B3-D9FF-F33A745CD6F2}"/>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3EAE725B-FC87-6749-4614-BD1FCEAC59BD}"/>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2F16C93C-23C4-E47B-9E8C-A4E9CB10F849}"/>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7</a:t>
            </a:fld>
            <a:endParaRPr lang="en-US">
              <a:solidFill>
                <a:prstClr val="black">
                  <a:lumMod val="65000"/>
                  <a:lumOff val="35000"/>
                </a:prstClr>
              </a:solidFill>
            </a:endParaRPr>
          </a:p>
        </p:txBody>
      </p:sp>
      <p:pic>
        <p:nvPicPr>
          <p:cNvPr id="4" name="Picture 3">
            <a:extLst>
              <a:ext uri="{FF2B5EF4-FFF2-40B4-BE49-F238E27FC236}">
                <a16:creationId xmlns:a16="http://schemas.microsoft.com/office/drawing/2014/main" id="{1580E81E-F2E2-6842-28C6-6FA05BBFC753}"/>
              </a:ext>
            </a:extLst>
          </p:cNvPr>
          <p:cNvPicPr>
            <a:picLocks noChangeAspect="1"/>
          </p:cNvPicPr>
          <p:nvPr/>
        </p:nvPicPr>
        <p:blipFill>
          <a:blip r:embed="rId3"/>
          <a:stretch>
            <a:fillRect/>
          </a:stretch>
        </p:blipFill>
        <p:spPr>
          <a:xfrm>
            <a:off x="372233" y="698754"/>
            <a:ext cx="10600567" cy="5840158"/>
          </a:xfrm>
          <a:prstGeom prst="rect">
            <a:avLst/>
          </a:prstGeom>
        </p:spPr>
      </p:pic>
    </p:spTree>
    <p:extLst>
      <p:ext uri="{BB962C8B-B14F-4D97-AF65-F5344CB8AC3E}">
        <p14:creationId xmlns:p14="http://schemas.microsoft.com/office/powerpoint/2010/main" val="1336742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8A1D0-ECA2-7757-55E3-CC325DFA0FE2}"/>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DED6DEAE-B3BB-7059-1806-A82DA55F31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2458"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A8926BD2-B8BF-653F-C0A6-30256812D95D}"/>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72CD4335-0389-A898-CCAB-1566848B8A29}"/>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EB9D2505-6E2F-5611-8169-1ECBAECA77A3}"/>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8</a:t>
            </a:fld>
            <a:endParaRPr lang="en-US">
              <a:solidFill>
                <a:prstClr val="black">
                  <a:lumMod val="65000"/>
                  <a:lumOff val="35000"/>
                </a:prstClr>
              </a:solidFill>
            </a:endParaRPr>
          </a:p>
        </p:txBody>
      </p:sp>
      <p:pic>
        <p:nvPicPr>
          <p:cNvPr id="4" name="Picture 3">
            <a:extLst>
              <a:ext uri="{FF2B5EF4-FFF2-40B4-BE49-F238E27FC236}">
                <a16:creationId xmlns:a16="http://schemas.microsoft.com/office/drawing/2014/main" id="{7489BF3E-22FC-D2D5-087B-A2BC428997EA}"/>
              </a:ext>
            </a:extLst>
          </p:cNvPr>
          <p:cNvPicPr>
            <a:picLocks noChangeAspect="1"/>
          </p:cNvPicPr>
          <p:nvPr/>
        </p:nvPicPr>
        <p:blipFill>
          <a:blip r:embed="rId3"/>
          <a:stretch>
            <a:fillRect/>
          </a:stretch>
        </p:blipFill>
        <p:spPr>
          <a:xfrm>
            <a:off x="0" y="261295"/>
            <a:ext cx="10076222" cy="6155689"/>
          </a:xfrm>
          <a:prstGeom prst="rect">
            <a:avLst/>
          </a:prstGeom>
        </p:spPr>
      </p:pic>
    </p:spTree>
    <p:extLst>
      <p:ext uri="{BB962C8B-B14F-4D97-AF65-F5344CB8AC3E}">
        <p14:creationId xmlns:p14="http://schemas.microsoft.com/office/powerpoint/2010/main" val="4046632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060D-F28F-A5D9-8952-20E8ACDE0BC7}"/>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9D5BECDE-3D19-D96E-BD58-BDD5E1CF7B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62458"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4F0C07A2-270C-13B6-EC6D-9E9A3DAA7995}"/>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32810F1A-7C9D-A4C7-69F6-8C9BB3BF8B10}"/>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682771D4-E38E-4BC0-32B1-BE774EA9D59B}"/>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9</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AC65B685-9938-2AF2-34E4-85339538C237}"/>
              </a:ext>
            </a:extLst>
          </p:cNvPr>
          <p:cNvPicPr>
            <a:picLocks noChangeAspect="1"/>
          </p:cNvPicPr>
          <p:nvPr/>
        </p:nvPicPr>
        <p:blipFill>
          <a:blip r:embed="rId3"/>
          <a:stretch>
            <a:fillRect/>
          </a:stretch>
        </p:blipFill>
        <p:spPr>
          <a:xfrm>
            <a:off x="679731" y="136525"/>
            <a:ext cx="7063645" cy="6387852"/>
          </a:xfrm>
          <a:prstGeom prst="rect">
            <a:avLst/>
          </a:prstGeom>
        </p:spPr>
      </p:pic>
    </p:spTree>
    <p:extLst>
      <p:ext uri="{BB962C8B-B14F-4D97-AF65-F5344CB8AC3E}">
        <p14:creationId xmlns:p14="http://schemas.microsoft.com/office/powerpoint/2010/main" val="435371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93462-E6F6-C393-1B2E-D60A22FDD146}"/>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88C10211-6346-93BE-966B-62F34D93A8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48497" y="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912C54D6-A06E-3904-EC50-E62025397E6F}"/>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55BC8C40-F1B2-124C-ECA8-CE5F52773773}"/>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06558941-C748-606E-19FD-BD1ECAA39147}"/>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10</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304555E9-097B-0153-B580-2BA53743C4FE}"/>
              </a:ext>
            </a:extLst>
          </p:cNvPr>
          <p:cNvPicPr>
            <a:picLocks noChangeAspect="1"/>
          </p:cNvPicPr>
          <p:nvPr/>
        </p:nvPicPr>
        <p:blipFill>
          <a:blip r:embed="rId3"/>
          <a:stretch>
            <a:fillRect/>
          </a:stretch>
        </p:blipFill>
        <p:spPr>
          <a:xfrm>
            <a:off x="356049" y="275129"/>
            <a:ext cx="10506638" cy="5971901"/>
          </a:xfrm>
          <a:prstGeom prst="rect">
            <a:avLst/>
          </a:prstGeom>
        </p:spPr>
      </p:pic>
    </p:spTree>
    <p:extLst>
      <p:ext uri="{BB962C8B-B14F-4D97-AF65-F5344CB8AC3E}">
        <p14:creationId xmlns:p14="http://schemas.microsoft.com/office/powerpoint/2010/main" val="427691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AA1D4-E0AC-7962-C68F-C22CEACD1E80}"/>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06633AE5-605B-F414-F611-165F1DC344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48497" y="10384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7311C13B-886F-4825-96BE-74079E620C1D}"/>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2F1A831A-F068-74DB-4344-1AC6FA4A82AC}"/>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BB20FE66-A815-15A3-45DA-3972439142A1}"/>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11</a:t>
            </a:fld>
            <a:endParaRPr lang="en-US">
              <a:solidFill>
                <a:prstClr val="black">
                  <a:lumMod val="65000"/>
                  <a:lumOff val="35000"/>
                </a:prstClr>
              </a:solidFill>
            </a:endParaRPr>
          </a:p>
        </p:txBody>
      </p:sp>
      <p:pic>
        <p:nvPicPr>
          <p:cNvPr id="4" name="Picture 3">
            <a:extLst>
              <a:ext uri="{FF2B5EF4-FFF2-40B4-BE49-F238E27FC236}">
                <a16:creationId xmlns:a16="http://schemas.microsoft.com/office/drawing/2014/main" id="{BCD545DD-08B6-2403-D63E-5BE288612DD0}"/>
              </a:ext>
            </a:extLst>
          </p:cNvPr>
          <p:cNvPicPr>
            <a:picLocks noChangeAspect="1"/>
          </p:cNvPicPr>
          <p:nvPr/>
        </p:nvPicPr>
        <p:blipFill>
          <a:blip r:embed="rId3"/>
          <a:stretch>
            <a:fillRect/>
          </a:stretch>
        </p:blipFill>
        <p:spPr>
          <a:xfrm>
            <a:off x="768743" y="103848"/>
            <a:ext cx="9386761" cy="6051328"/>
          </a:xfrm>
          <a:prstGeom prst="rect">
            <a:avLst/>
          </a:prstGeom>
        </p:spPr>
      </p:pic>
    </p:spTree>
    <p:extLst>
      <p:ext uri="{BB962C8B-B14F-4D97-AF65-F5344CB8AC3E}">
        <p14:creationId xmlns:p14="http://schemas.microsoft.com/office/powerpoint/2010/main" val="3384772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09242-D96A-23D1-98B5-BB23A9E3D4CE}"/>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DF63C38F-F98C-54ED-2D58-9528FCFE57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64681"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54A0B2C0-A971-15B6-6CD7-332676827073}"/>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44D068EA-2192-A38A-455C-85427E64168C}"/>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6D66C1B7-CCA1-4BC0-7431-CB082A2D7B2B}"/>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12</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8460984C-EE6D-B4D2-8BFA-8B33A5289BEE}"/>
              </a:ext>
            </a:extLst>
          </p:cNvPr>
          <p:cNvPicPr>
            <a:picLocks noChangeAspect="1"/>
          </p:cNvPicPr>
          <p:nvPr/>
        </p:nvPicPr>
        <p:blipFill>
          <a:blip r:embed="rId3"/>
          <a:stretch>
            <a:fillRect/>
          </a:stretch>
        </p:blipFill>
        <p:spPr>
          <a:xfrm>
            <a:off x="372233" y="64304"/>
            <a:ext cx="10789527" cy="4604801"/>
          </a:xfrm>
          <a:prstGeom prst="rect">
            <a:avLst/>
          </a:prstGeom>
        </p:spPr>
      </p:pic>
    </p:spTree>
    <p:extLst>
      <p:ext uri="{BB962C8B-B14F-4D97-AF65-F5344CB8AC3E}">
        <p14:creationId xmlns:p14="http://schemas.microsoft.com/office/powerpoint/2010/main" val="3794231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97579-9803-1D11-3C90-F40FEA937C11}"/>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83E88580-C782-B2DA-9F56-9D12022094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0" y="77032"/>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FD0E6418-E6E2-8FA9-DBD2-9A65C380AED9}"/>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6EC3D802-466E-BDCE-E706-D1F03D3300CA}"/>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94628B3C-B406-61A8-1C4E-3B636C4ABB49}"/>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13</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F3CC5985-CB94-23C4-4E62-1E3F38759933}"/>
              </a:ext>
            </a:extLst>
          </p:cNvPr>
          <p:cNvPicPr>
            <a:picLocks noChangeAspect="1"/>
          </p:cNvPicPr>
          <p:nvPr/>
        </p:nvPicPr>
        <p:blipFill>
          <a:blip r:embed="rId3"/>
          <a:stretch>
            <a:fillRect/>
          </a:stretch>
        </p:blipFill>
        <p:spPr>
          <a:xfrm>
            <a:off x="558351" y="77032"/>
            <a:ext cx="8779858" cy="6262106"/>
          </a:xfrm>
          <a:prstGeom prst="rect">
            <a:avLst/>
          </a:prstGeom>
        </p:spPr>
      </p:pic>
    </p:spTree>
    <p:extLst>
      <p:ext uri="{BB962C8B-B14F-4D97-AF65-F5344CB8AC3E}">
        <p14:creationId xmlns:p14="http://schemas.microsoft.com/office/powerpoint/2010/main" val="4202250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C4A0-1BB2-76C4-EF5F-75EFF4541107}"/>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78342B7F-58C9-232A-EFAD-947C528EB3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1" y="9953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832A15AF-9EA6-E63F-D33F-AC30A3134EF8}"/>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294ABD45-28BD-DAF5-A0D8-E37D426F39F0}"/>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5EC67072-230D-3D54-449A-00F15825BB50}"/>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14</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9DC243B7-92DC-ED86-1A77-1CB07F4BD0D9}"/>
              </a:ext>
            </a:extLst>
          </p:cNvPr>
          <p:cNvPicPr>
            <a:picLocks noChangeAspect="1"/>
          </p:cNvPicPr>
          <p:nvPr/>
        </p:nvPicPr>
        <p:blipFill>
          <a:blip r:embed="rId3"/>
          <a:stretch>
            <a:fillRect/>
          </a:stretch>
        </p:blipFill>
        <p:spPr>
          <a:xfrm>
            <a:off x="380325" y="335123"/>
            <a:ext cx="9809789" cy="5645864"/>
          </a:xfrm>
          <a:prstGeom prst="rect">
            <a:avLst/>
          </a:prstGeom>
        </p:spPr>
      </p:pic>
    </p:spTree>
    <p:extLst>
      <p:ext uri="{BB962C8B-B14F-4D97-AF65-F5344CB8AC3E}">
        <p14:creationId xmlns:p14="http://schemas.microsoft.com/office/powerpoint/2010/main" val="3393875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3736C-336C-46AB-351A-6E97708B6B89}"/>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025AF273-DEFA-FCD2-1D58-DBED5828BFD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1" y="9953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36CB5E0C-F593-C507-B114-BD60E76906A2}"/>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CF90F73A-8E77-631A-97AC-4554155DE347}"/>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E19ED809-F174-D646-7943-CB75E38C9B0F}"/>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15</a:t>
            </a:fld>
            <a:endParaRPr lang="en-US">
              <a:solidFill>
                <a:prstClr val="black">
                  <a:lumMod val="65000"/>
                  <a:lumOff val="35000"/>
                </a:prstClr>
              </a:solidFill>
            </a:endParaRPr>
          </a:p>
        </p:txBody>
      </p:sp>
      <p:pic>
        <p:nvPicPr>
          <p:cNvPr id="9" name="Picture 8">
            <a:extLst>
              <a:ext uri="{FF2B5EF4-FFF2-40B4-BE49-F238E27FC236}">
                <a16:creationId xmlns:a16="http://schemas.microsoft.com/office/drawing/2014/main" id="{BB5D7538-3E5D-A317-8A41-F288709B447E}"/>
              </a:ext>
            </a:extLst>
          </p:cNvPr>
          <p:cNvPicPr>
            <a:picLocks noChangeAspect="1"/>
          </p:cNvPicPr>
          <p:nvPr/>
        </p:nvPicPr>
        <p:blipFill>
          <a:blip r:embed="rId3"/>
          <a:stretch>
            <a:fillRect/>
          </a:stretch>
        </p:blipFill>
        <p:spPr>
          <a:xfrm>
            <a:off x="127131" y="0"/>
            <a:ext cx="6386613" cy="6421030"/>
          </a:xfrm>
          <a:prstGeom prst="rect">
            <a:avLst/>
          </a:prstGeom>
        </p:spPr>
      </p:pic>
    </p:spTree>
    <p:extLst>
      <p:ext uri="{BB962C8B-B14F-4D97-AF65-F5344CB8AC3E}">
        <p14:creationId xmlns:p14="http://schemas.microsoft.com/office/powerpoint/2010/main" val="2817956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0014-D08E-2F65-E461-A0B2341D177F}"/>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E500C0DA-8769-FB9C-6BBA-E555E80B91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1" y="9953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6A24654C-7DCA-AFA5-3DE8-B2DB98911B4D}"/>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CEF911FB-D5A3-8F39-B09A-58DE9EF7F1D1}"/>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BD120122-C7E4-ED34-0895-4A2C0F9B6852}"/>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16</a:t>
            </a:fld>
            <a:endParaRPr lang="en-US">
              <a:solidFill>
                <a:prstClr val="black">
                  <a:lumMod val="65000"/>
                  <a:lumOff val="35000"/>
                </a:prstClr>
              </a:solidFill>
            </a:endParaRPr>
          </a:p>
        </p:txBody>
      </p:sp>
      <p:pic>
        <p:nvPicPr>
          <p:cNvPr id="11" name="Picture 10">
            <a:extLst>
              <a:ext uri="{FF2B5EF4-FFF2-40B4-BE49-F238E27FC236}">
                <a16:creationId xmlns:a16="http://schemas.microsoft.com/office/drawing/2014/main" id="{739C2115-668D-56AC-8029-B06B0718772F}"/>
              </a:ext>
            </a:extLst>
          </p:cNvPr>
          <p:cNvPicPr>
            <a:picLocks noChangeAspect="1"/>
          </p:cNvPicPr>
          <p:nvPr/>
        </p:nvPicPr>
        <p:blipFill>
          <a:blip r:embed="rId3"/>
          <a:stretch>
            <a:fillRect/>
          </a:stretch>
        </p:blipFill>
        <p:spPr>
          <a:xfrm>
            <a:off x="2209800" y="416960"/>
            <a:ext cx="5634184" cy="480494"/>
          </a:xfrm>
          <a:prstGeom prst="rect">
            <a:avLst/>
          </a:prstGeom>
        </p:spPr>
      </p:pic>
      <p:pic>
        <p:nvPicPr>
          <p:cNvPr id="7" name="Picture 6">
            <a:extLst>
              <a:ext uri="{FF2B5EF4-FFF2-40B4-BE49-F238E27FC236}">
                <a16:creationId xmlns:a16="http://schemas.microsoft.com/office/drawing/2014/main" id="{3BDE4620-E354-390F-4F6C-0860291A932C}"/>
              </a:ext>
            </a:extLst>
          </p:cNvPr>
          <p:cNvPicPr>
            <a:picLocks noChangeAspect="1"/>
          </p:cNvPicPr>
          <p:nvPr/>
        </p:nvPicPr>
        <p:blipFill>
          <a:blip r:embed="rId4"/>
          <a:stretch>
            <a:fillRect/>
          </a:stretch>
        </p:blipFill>
        <p:spPr>
          <a:xfrm>
            <a:off x="1482519" y="897454"/>
            <a:ext cx="6716062" cy="2848373"/>
          </a:xfrm>
          <a:prstGeom prst="rect">
            <a:avLst/>
          </a:prstGeom>
        </p:spPr>
      </p:pic>
    </p:spTree>
    <p:extLst>
      <p:ext uri="{BB962C8B-B14F-4D97-AF65-F5344CB8AC3E}">
        <p14:creationId xmlns:p14="http://schemas.microsoft.com/office/powerpoint/2010/main" val="2029905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351E8-5F5E-4803-BA89-BFEE592ECCD4}"/>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7D780542-E478-8778-4CE7-7758648BA5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1" y="9953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C90EFDD8-0912-CD21-297D-A0476A7F2601}"/>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879F2EB9-62CD-3311-1AC5-33CB246074BB}"/>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05873E6F-ADB5-9EFC-60B4-F38B8B615C86}"/>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17</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D45CAE8D-874E-72C0-7486-7CCDB163C9A0}"/>
              </a:ext>
            </a:extLst>
          </p:cNvPr>
          <p:cNvPicPr>
            <a:picLocks noChangeAspect="1"/>
          </p:cNvPicPr>
          <p:nvPr/>
        </p:nvPicPr>
        <p:blipFill>
          <a:blip r:embed="rId3"/>
          <a:stretch>
            <a:fillRect/>
          </a:stretch>
        </p:blipFill>
        <p:spPr>
          <a:xfrm>
            <a:off x="41135" y="70805"/>
            <a:ext cx="5177052" cy="3358195"/>
          </a:xfrm>
          <a:prstGeom prst="rect">
            <a:avLst/>
          </a:prstGeom>
        </p:spPr>
      </p:pic>
      <p:pic>
        <p:nvPicPr>
          <p:cNvPr id="10" name="Picture 9">
            <a:extLst>
              <a:ext uri="{FF2B5EF4-FFF2-40B4-BE49-F238E27FC236}">
                <a16:creationId xmlns:a16="http://schemas.microsoft.com/office/drawing/2014/main" id="{BDC76EE8-DAA0-35E7-D99A-B16832D0A2FB}"/>
              </a:ext>
            </a:extLst>
          </p:cNvPr>
          <p:cNvPicPr>
            <a:picLocks noChangeAspect="1"/>
          </p:cNvPicPr>
          <p:nvPr/>
        </p:nvPicPr>
        <p:blipFill>
          <a:blip r:embed="rId4"/>
          <a:stretch>
            <a:fillRect/>
          </a:stretch>
        </p:blipFill>
        <p:spPr>
          <a:xfrm>
            <a:off x="6498081" y="1"/>
            <a:ext cx="5177052" cy="3358196"/>
          </a:xfrm>
          <a:prstGeom prst="rect">
            <a:avLst/>
          </a:prstGeom>
        </p:spPr>
      </p:pic>
      <p:pic>
        <p:nvPicPr>
          <p:cNvPr id="12" name="Picture 11">
            <a:extLst>
              <a:ext uri="{FF2B5EF4-FFF2-40B4-BE49-F238E27FC236}">
                <a16:creationId xmlns:a16="http://schemas.microsoft.com/office/drawing/2014/main" id="{5F4FFBC5-707C-8821-2FA9-687AF99164D4}"/>
              </a:ext>
            </a:extLst>
          </p:cNvPr>
          <p:cNvPicPr>
            <a:picLocks noChangeAspect="1"/>
          </p:cNvPicPr>
          <p:nvPr/>
        </p:nvPicPr>
        <p:blipFill>
          <a:blip r:embed="rId5"/>
          <a:stretch>
            <a:fillRect/>
          </a:stretch>
        </p:blipFill>
        <p:spPr>
          <a:xfrm>
            <a:off x="121878" y="3666895"/>
            <a:ext cx="4684792" cy="3015980"/>
          </a:xfrm>
          <a:prstGeom prst="rect">
            <a:avLst/>
          </a:prstGeom>
        </p:spPr>
      </p:pic>
      <p:pic>
        <p:nvPicPr>
          <p:cNvPr id="14" name="Picture 13">
            <a:extLst>
              <a:ext uri="{FF2B5EF4-FFF2-40B4-BE49-F238E27FC236}">
                <a16:creationId xmlns:a16="http://schemas.microsoft.com/office/drawing/2014/main" id="{4DDDBA7D-A8A0-758A-ED5D-54692901993D}"/>
              </a:ext>
            </a:extLst>
          </p:cNvPr>
          <p:cNvPicPr>
            <a:picLocks noChangeAspect="1"/>
          </p:cNvPicPr>
          <p:nvPr/>
        </p:nvPicPr>
        <p:blipFill>
          <a:blip r:embed="rId6"/>
          <a:stretch>
            <a:fillRect/>
          </a:stretch>
        </p:blipFill>
        <p:spPr>
          <a:xfrm>
            <a:off x="6688245" y="3277275"/>
            <a:ext cx="4358761" cy="3515452"/>
          </a:xfrm>
          <a:prstGeom prst="rect">
            <a:avLst/>
          </a:prstGeom>
        </p:spPr>
      </p:pic>
    </p:spTree>
    <p:extLst>
      <p:ext uri="{BB962C8B-B14F-4D97-AF65-F5344CB8AC3E}">
        <p14:creationId xmlns:p14="http://schemas.microsoft.com/office/powerpoint/2010/main" val="3571986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1D489-34EB-23AF-12D9-5A88552BC183}"/>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EFC1954A-B6E7-D3FF-A340-DD6AFB6A0C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1" y="9953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1A92B7A0-C320-04AB-1324-DDD5D4101513}"/>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47117FDF-23D2-326F-221C-F076964767F6}"/>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D62D4959-9041-B8E5-DFE8-51EB0BF1A5CF}"/>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18</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E8C44536-B4B5-1F0C-2780-73156C44EB63}"/>
              </a:ext>
            </a:extLst>
          </p:cNvPr>
          <p:cNvPicPr>
            <a:picLocks noChangeAspect="1"/>
          </p:cNvPicPr>
          <p:nvPr/>
        </p:nvPicPr>
        <p:blipFill>
          <a:blip r:embed="rId3"/>
          <a:stretch>
            <a:fillRect/>
          </a:stretch>
        </p:blipFill>
        <p:spPr>
          <a:xfrm>
            <a:off x="109525" y="410710"/>
            <a:ext cx="5986475" cy="3813334"/>
          </a:xfrm>
          <a:prstGeom prst="rect">
            <a:avLst/>
          </a:prstGeom>
        </p:spPr>
      </p:pic>
      <p:pic>
        <p:nvPicPr>
          <p:cNvPr id="10" name="Picture 9">
            <a:extLst>
              <a:ext uri="{FF2B5EF4-FFF2-40B4-BE49-F238E27FC236}">
                <a16:creationId xmlns:a16="http://schemas.microsoft.com/office/drawing/2014/main" id="{3E861B91-07B2-91E1-D1AD-BF628283D1C7}"/>
              </a:ext>
            </a:extLst>
          </p:cNvPr>
          <p:cNvPicPr>
            <a:picLocks noChangeAspect="1"/>
          </p:cNvPicPr>
          <p:nvPr/>
        </p:nvPicPr>
        <p:blipFill>
          <a:blip r:embed="rId4"/>
          <a:stretch>
            <a:fillRect/>
          </a:stretch>
        </p:blipFill>
        <p:spPr>
          <a:xfrm>
            <a:off x="6459118" y="378342"/>
            <a:ext cx="5174673" cy="4405894"/>
          </a:xfrm>
          <a:prstGeom prst="rect">
            <a:avLst/>
          </a:prstGeom>
        </p:spPr>
      </p:pic>
    </p:spTree>
    <p:extLst>
      <p:ext uri="{BB962C8B-B14F-4D97-AF65-F5344CB8AC3E}">
        <p14:creationId xmlns:p14="http://schemas.microsoft.com/office/powerpoint/2010/main" val="2951775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AEEF3-7B62-9564-F3CD-3BE7D0C80A4A}"/>
            </a:ext>
          </a:extLst>
        </p:cNvPr>
        <p:cNvGrpSpPr/>
        <p:nvPr/>
      </p:nvGrpSpPr>
      <p:grpSpPr>
        <a:xfrm>
          <a:off x="0" y="0"/>
          <a:ext cx="0" cy="0"/>
          <a:chOff x="0" y="0"/>
          <a:chExt cx="0" cy="0"/>
        </a:xfrm>
      </p:grpSpPr>
      <p:pic>
        <p:nvPicPr>
          <p:cNvPr id="8" name="Picture 2" descr="D:\MBA Teaching Material\Marketing Management\MM\Images\vtu-logo.png">
            <a:extLst>
              <a:ext uri="{FF2B5EF4-FFF2-40B4-BE49-F238E27FC236}">
                <a16:creationId xmlns:a16="http://schemas.microsoft.com/office/drawing/2014/main" id="{78587623-E4ED-D9B1-89B7-29D2520051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1" y="9953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00AEF99D-F872-1BDE-A6BB-595590B65E80}"/>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107DE149-B238-6AAD-60A9-7B07AC3392E0}"/>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706D9762-8C5B-7537-B977-EAA4C80AB844}"/>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19</a:t>
            </a:fld>
            <a:endParaRPr lang="en-US">
              <a:solidFill>
                <a:prstClr val="black">
                  <a:lumMod val="65000"/>
                  <a:lumOff val="35000"/>
                </a:prstClr>
              </a:solidFill>
            </a:endParaRPr>
          </a:p>
        </p:txBody>
      </p:sp>
      <p:pic>
        <p:nvPicPr>
          <p:cNvPr id="7" name="Picture 6">
            <a:extLst>
              <a:ext uri="{FF2B5EF4-FFF2-40B4-BE49-F238E27FC236}">
                <a16:creationId xmlns:a16="http://schemas.microsoft.com/office/drawing/2014/main" id="{B7D6374B-0003-B1C0-3802-4A134C2AC346}"/>
              </a:ext>
            </a:extLst>
          </p:cNvPr>
          <p:cNvPicPr>
            <a:picLocks noChangeAspect="1"/>
          </p:cNvPicPr>
          <p:nvPr/>
        </p:nvPicPr>
        <p:blipFill>
          <a:blip r:embed="rId3"/>
          <a:stretch>
            <a:fillRect/>
          </a:stretch>
        </p:blipFill>
        <p:spPr>
          <a:xfrm>
            <a:off x="1602223" y="215698"/>
            <a:ext cx="7963464" cy="6454222"/>
          </a:xfrm>
          <a:prstGeom prst="rect">
            <a:avLst/>
          </a:prstGeom>
        </p:spPr>
      </p:pic>
    </p:spTree>
    <p:extLst>
      <p:ext uri="{BB962C8B-B14F-4D97-AF65-F5344CB8AC3E}">
        <p14:creationId xmlns:p14="http://schemas.microsoft.com/office/powerpoint/2010/main" val="599883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066802"/>
            <a:ext cx="8229600" cy="3733799"/>
          </a:xfrm>
        </p:spPr>
        <p:txBody>
          <a:bodyPr>
            <a:normAutofit lnSpcReduction="10000"/>
          </a:bodyPr>
          <a:lstStyle/>
          <a:p>
            <a:pPr>
              <a:buNone/>
            </a:pPr>
            <a:r>
              <a:rPr lang="en-US" sz="2400" dirty="0"/>
              <a:t>     </a:t>
            </a:r>
            <a:r>
              <a:rPr lang="en-US" sz="4000" b="1" dirty="0">
                <a:solidFill>
                  <a:srgbClr val="C00000"/>
                </a:solidFill>
              </a:rPr>
              <a:t>Meaning: </a:t>
            </a:r>
          </a:p>
          <a:p>
            <a:pPr>
              <a:buNone/>
            </a:pPr>
            <a:r>
              <a:rPr lang="en-US" sz="2400" dirty="0"/>
              <a:t>     Strategy implementation is the process of </a:t>
            </a:r>
            <a:r>
              <a:rPr lang="en-US" sz="2400" dirty="0">
                <a:solidFill>
                  <a:srgbClr val="FF0000"/>
                </a:solidFill>
              </a:rPr>
              <a:t>putting a chosen strategic plan into action to achieve organizational goals and objectives. It involves converting strategic plans into actionable steps and ensuring that the necessary resources, structures, systems, and people are aligned and working together effectively.</a:t>
            </a:r>
          </a:p>
          <a:p>
            <a:pPr>
              <a:buNone/>
            </a:pPr>
            <a:r>
              <a:rPr lang="en-US" sz="2400" dirty="0"/>
              <a:t>     In simple terms, </a:t>
            </a:r>
            <a:r>
              <a:rPr lang="en-US" sz="2400" b="1" dirty="0"/>
              <a:t>strategy implementation</a:t>
            </a:r>
            <a:r>
              <a:rPr lang="en-US" sz="2400" dirty="0"/>
              <a:t> means </a:t>
            </a:r>
            <a:r>
              <a:rPr lang="en-US" sz="2400" b="1" dirty="0"/>
              <a:t>"making the strategy work."</a:t>
            </a:r>
            <a:r>
              <a:rPr lang="en-US" sz="2400" dirty="0"/>
              <a:t> While strategic planning focuses on deciding </a:t>
            </a:r>
            <a:r>
              <a:rPr lang="en-US" sz="2400" i="1" dirty="0"/>
              <a:t>what</a:t>
            </a:r>
            <a:r>
              <a:rPr lang="en-US" sz="2400" dirty="0"/>
              <a:t> to do, implementation focuses on </a:t>
            </a:r>
            <a:r>
              <a:rPr lang="en-US" sz="2400" i="1" dirty="0"/>
              <a:t>how</a:t>
            </a:r>
            <a:r>
              <a:rPr lang="en-US" sz="2400" dirty="0"/>
              <a:t> to do it.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Nature of strategy implementation</a:t>
            </a:r>
          </a:p>
        </p:txBody>
      </p:sp>
      <p:sp>
        <p:nvSpPr>
          <p:cNvPr id="3" name="Content Placeholder 2"/>
          <p:cNvSpPr>
            <a:spLocks noGrp="1"/>
          </p:cNvSpPr>
          <p:nvPr>
            <p:ph idx="1"/>
          </p:nvPr>
        </p:nvSpPr>
        <p:spPr>
          <a:xfrm>
            <a:off x="1981200" y="1447800"/>
            <a:ext cx="8229600" cy="4724400"/>
          </a:xfrm>
        </p:spPr>
        <p:txBody>
          <a:bodyPr>
            <a:normAutofit fontScale="92500" lnSpcReduction="10000"/>
          </a:bodyPr>
          <a:lstStyle/>
          <a:p>
            <a:pPr>
              <a:buNone/>
            </a:pPr>
            <a:r>
              <a:rPr lang="en-US" sz="2400" b="1" dirty="0"/>
              <a:t>1. </a:t>
            </a:r>
            <a:r>
              <a:rPr lang="en-US" sz="2400" b="1" dirty="0">
                <a:highlight>
                  <a:srgbClr val="FFFF00"/>
                </a:highlight>
              </a:rPr>
              <a:t>Action-Oriented Process</a:t>
            </a:r>
          </a:p>
          <a:p>
            <a:pPr>
              <a:buNone/>
            </a:pPr>
            <a:r>
              <a:rPr lang="en-US" sz="2400" dirty="0"/>
              <a:t>      Unlike strategy formulation, which is analytical and theoretical, strategy implementation is practical and execution-focused.</a:t>
            </a:r>
          </a:p>
          <a:p>
            <a:pPr>
              <a:buNone/>
            </a:pPr>
            <a:r>
              <a:rPr lang="en-US" sz="2400" dirty="0"/>
              <a:t>      It requires converting ideas into concrete actions and results.</a:t>
            </a:r>
          </a:p>
          <a:p>
            <a:pPr>
              <a:buNone/>
            </a:pPr>
            <a:r>
              <a:rPr lang="en-US" sz="2400" b="1" dirty="0"/>
              <a:t>2. </a:t>
            </a:r>
            <a:r>
              <a:rPr lang="en-US" sz="2400" b="1" dirty="0">
                <a:highlight>
                  <a:srgbClr val="FFFF00"/>
                </a:highlight>
              </a:rPr>
              <a:t>Interdisciplinary in Nature</a:t>
            </a:r>
          </a:p>
          <a:p>
            <a:pPr>
              <a:buNone/>
            </a:pPr>
            <a:r>
              <a:rPr lang="en-US" sz="2400" dirty="0"/>
              <a:t>     It involves multiple functions such as </a:t>
            </a:r>
            <a:r>
              <a:rPr lang="en-US" sz="2400" dirty="0">
                <a:solidFill>
                  <a:srgbClr val="FF0000"/>
                </a:solidFill>
              </a:rPr>
              <a:t>marketing, finance, human resources, operations, and IT.</a:t>
            </a:r>
          </a:p>
          <a:p>
            <a:pPr>
              <a:buNone/>
            </a:pPr>
            <a:r>
              <a:rPr lang="en-US" sz="2400" dirty="0"/>
              <a:t>     Coordination among departments is crucial for successful execution.</a:t>
            </a:r>
          </a:p>
          <a:p>
            <a:pPr>
              <a:buNone/>
            </a:pPr>
            <a:r>
              <a:rPr lang="en-US" sz="2400" b="1" dirty="0"/>
              <a:t>3. </a:t>
            </a:r>
            <a:r>
              <a:rPr lang="en-US" sz="2400" b="1" dirty="0">
                <a:highlight>
                  <a:srgbClr val="FFFF00"/>
                </a:highlight>
              </a:rPr>
              <a:t>Requires Leadership and Commitment</a:t>
            </a:r>
          </a:p>
          <a:p>
            <a:pPr>
              <a:buNone/>
            </a:pPr>
            <a:r>
              <a:rPr lang="en-US" sz="2400" dirty="0"/>
              <a:t>      Effective leadership is essential to </a:t>
            </a:r>
            <a:r>
              <a:rPr lang="en-US" sz="2400" dirty="0">
                <a:solidFill>
                  <a:srgbClr val="FF0000"/>
                </a:solidFill>
              </a:rPr>
              <a:t>guide, motivate, and align      employees with strategic goals.</a:t>
            </a:r>
          </a:p>
          <a:p>
            <a:pPr>
              <a:buNone/>
            </a:pPr>
            <a:r>
              <a:rPr lang="en-US" sz="2400" dirty="0"/>
              <a:t>      Commitment from top and middle management ensures smooth execution.</a:t>
            </a:r>
          </a:p>
          <a:p>
            <a:pPr>
              <a:buNone/>
            </a:pP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2"/>
            <a:ext cx="8229600" cy="5333999"/>
          </a:xfrm>
        </p:spPr>
        <p:txBody>
          <a:bodyPr>
            <a:noAutofit/>
          </a:bodyPr>
          <a:lstStyle/>
          <a:p>
            <a:pPr>
              <a:buNone/>
            </a:pPr>
            <a:r>
              <a:rPr lang="en-US" sz="2200" b="1" dirty="0"/>
              <a:t>4. </a:t>
            </a:r>
            <a:r>
              <a:rPr lang="en-US" sz="2200" b="1" dirty="0">
                <a:highlight>
                  <a:srgbClr val="FFFF00"/>
                </a:highlight>
              </a:rPr>
              <a:t>Involves Change Management</a:t>
            </a:r>
          </a:p>
          <a:p>
            <a:pPr>
              <a:buNone/>
            </a:pPr>
            <a:r>
              <a:rPr lang="en-US" sz="2200" dirty="0"/>
              <a:t>     Often requires organizational change, such as </a:t>
            </a:r>
            <a:r>
              <a:rPr lang="en-US" sz="2200" dirty="0">
                <a:solidFill>
                  <a:srgbClr val="FF0000"/>
                </a:solidFill>
              </a:rPr>
              <a:t>new policies, restructuring, or cultural shifts.</a:t>
            </a:r>
          </a:p>
          <a:p>
            <a:pPr>
              <a:buNone/>
            </a:pPr>
            <a:r>
              <a:rPr lang="en-US" sz="2200" dirty="0"/>
              <a:t>     </a:t>
            </a:r>
            <a:r>
              <a:rPr lang="en-US" sz="2200" dirty="0">
                <a:solidFill>
                  <a:srgbClr val="FF0000"/>
                </a:solidFill>
              </a:rPr>
              <a:t>Resistance to change must be managed </a:t>
            </a:r>
            <a:r>
              <a:rPr lang="en-US" sz="2200" dirty="0"/>
              <a:t>carefully through </a:t>
            </a:r>
            <a:r>
              <a:rPr lang="en-US" sz="2200" dirty="0">
                <a:solidFill>
                  <a:srgbClr val="FF0000"/>
                </a:solidFill>
              </a:rPr>
              <a:t>communication and involvement</a:t>
            </a:r>
            <a:r>
              <a:rPr lang="en-US" sz="2200" dirty="0"/>
              <a:t>.</a:t>
            </a:r>
          </a:p>
          <a:p>
            <a:pPr>
              <a:buNone/>
            </a:pPr>
            <a:r>
              <a:rPr lang="en-US" sz="2200" b="1" dirty="0"/>
              <a:t>5. </a:t>
            </a:r>
            <a:r>
              <a:rPr lang="en-US" sz="2200" b="1" dirty="0">
                <a:highlight>
                  <a:srgbClr val="FFFF00"/>
                </a:highlight>
              </a:rPr>
              <a:t>Resource Allocation is Critical</a:t>
            </a:r>
          </a:p>
          <a:p>
            <a:pPr>
              <a:buNone/>
            </a:pPr>
            <a:r>
              <a:rPr lang="en-US" sz="2200" dirty="0"/>
              <a:t>     Adequate and timely </a:t>
            </a:r>
            <a:r>
              <a:rPr lang="en-US" sz="2200" dirty="0">
                <a:highlight>
                  <a:srgbClr val="FFFF00"/>
                </a:highlight>
              </a:rPr>
              <a:t>allocation of financial, human, and physical resources </a:t>
            </a:r>
            <a:r>
              <a:rPr lang="en-US" sz="2200" dirty="0"/>
              <a:t>is key to strategy success.</a:t>
            </a:r>
          </a:p>
          <a:p>
            <a:pPr>
              <a:buNone/>
            </a:pPr>
            <a:r>
              <a:rPr lang="en-US" sz="2200" dirty="0"/>
              <a:t>     Misallocation can lead to failure even if the strategy is well-designed.</a:t>
            </a:r>
          </a:p>
          <a:p>
            <a:pPr>
              <a:buNone/>
            </a:pPr>
            <a:r>
              <a:rPr lang="en-US" sz="2200" b="1" dirty="0"/>
              <a:t>6. </a:t>
            </a:r>
            <a:r>
              <a:rPr lang="en-US" sz="2200" b="1" dirty="0">
                <a:highlight>
                  <a:srgbClr val="FFFF00"/>
                </a:highlight>
              </a:rPr>
              <a:t>Continuous Process</a:t>
            </a:r>
          </a:p>
          <a:p>
            <a:pPr>
              <a:buNone/>
            </a:pPr>
            <a:r>
              <a:rPr lang="en-US" sz="2200" dirty="0"/>
              <a:t>     It’s not a one-time event but an </a:t>
            </a:r>
            <a:r>
              <a:rPr lang="en-US" sz="2200" dirty="0">
                <a:solidFill>
                  <a:srgbClr val="FF0000"/>
                </a:solidFill>
              </a:rPr>
              <a:t>ongoing process involving regular monitoring, evaluation, and corrective action.</a:t>
            </a:r>
          </a:p>
          <a:p>
            <a:pPr>
              <a:buNone/>
            </a:pPr>
            <a:r>
              <a:rPr lang="en-US" sz="2200" dirty="0"/>
              <a:t>    </a:t>
            </a:r>
            <a:r>
              <a:rPr lang="en-US" sz="2200" dirty="0">
                <a:solidFill>
                  <a:srgbClr val="FF0000"/>
                </a:solidFill>
              </a:rPr>
              <a:t>Adaptability is important due to internal and external changes</a:t>
            </a:r>
            <a:r>
              <a:rPr lang="en-US" sz="2200" dirty="0"/>
              <a:t>.</a:t>
            </a:r>
          </a:p>
          <a:p>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0"/>
            <a:ext cx="8229600" cy="5943600"/>
          </a:xfrm>
        </p:spPr>
        <p:txBody>
          <a:bodyPr>
            <a:normAutofit/>
          </a:bodyPr>
          <a:lstStyle/>
          <a:p>
            <a:pPr>
              <a:buNone/>
            </a:pPr>
            <a:r>
              <a:rPr lang="en-US" sz="2200" b="1" dirty="0"/>
              <a:t>7. </a:t>
            </a:r>
            <a:r>
              <a:rPr lang="en-US" sz="2200" b="1" dirty="0">
                <a:highlight>
                  <a:srgbClr val="FFFF00"/>
                </a:highlight>
              </a:rPr>
              <a:t>Goal-Oriented</a:t>
            </a:r>
          </a:p>
          <a:p>
            <a:pPr>
              <a:buNone/>
            </a:pPr>
            <a:r>
              <a:rPr lang="en-US" sz="2200" dirty="0"/>
              <a:t>      All actions during implementation are aimed at achieving the organization's strategic objectives.</a:t>
            </a:r>
          </a:p>
          <a:p>
            <a:pPr>
              <a:buNone/>
            </a:pPr>
            <a:r>
              <a:rPr lang="en-US" sz="2200" dirty="0"/>
              <a:t>      </a:t>
            </a:r>
            <a:r>
              <a:rPr lang="en-US" sz="2200" dirty="0">
                <a:solidFill>
                  <a:srgbClr val="FF0000"/>
                </a:solidFill>
              </a:rPr>
              <a:t>Clear performance metrics and KPIs</a:t>
            </a:r>
            <a:r>
              <a:rPr lang="en-US" sz="2200" dirty="0"/>
              <a:t> are used to track progress.</a:t>
            </a:r>
          </a:p>
          <a:p>
            <a:pPr>
              <a:buNone/>
            </a:pPr>
            <a:r>
              <a:rPr lang="en-US" sz="2200" b="1" dirty="0"/>
              <a:t>8. </a:t>
            </a:r>
            <a:r>
              <a:rPr lang="en-US" sz="2200" b="1" dirty="0">
                <a:highlight>
                  <a:srgbClr val="FFFF00"/>
                </a:highlight>
              </a:rPr>
              <a:t>People-Centric</a:t>
            </a:r>
          </a:p>
          <a:p>
            <a:pPr>
              <a:buNone/>
            </a:pPr>
            <a:r>
              <a:rPr lang="en-US" sz="2200" dirty="0"/>
              <a:t>       Employees at all levels must understand their roles in the strategy.</a:t>
            </a:r>
          </a:p>
          <a:p>
            <a:pPr>
              <a:buNone/>
            </a:pPr>
            <a:r>
              <a:rPr lang="en-US" sz="2200" dirty="0"/>
              <a:t>      </a:t>
            </a:r>
            <a:r>
              <a:rPr lang="en-US" sz="2200" dirty="0">
                <a:solidFill>
                  <a:srgbClr val="FF0000"/>
                </a:solidFill>
              </a:rPr>
              <a:t>Training, communication, and performance incentives </a:t>
            </a:r>
            <a:r>
              <a:rPr lang="en-US" sz="2200" dirty="0"/>
              <a:t>are crucial for engagement and alignment.</a:t>
            </a:r>
          </a:p>
          <a:p>
            <a:pPr>
              <a:buNone/>
            </a:pPr>
            <a:r>
              <a:rPr lang="en-US" sz="2200" b="1" dirty="0"/>
              <a:t>9. </a:t>
            </a:r>
            <a:r>
              <a:rPr lang="en-US" sz="2200" b="1" dirty="0">
                <a:highlight>
                  <a:srgbClr val="FFFF00"/>
                </a:highlight>
              </a:rPr>
              <a:t>Risk-Driven</a:t>
            </a:r>
          </a:p>
          <a:p>
            <a:pPr>
              <a:buNone/>
            </a:pPr>
            <a:r>
              <a:rPr lang="en-US" sz="2200" dirty="0"/>
              <a:t>      Implementation </a:t>
            </a:r>
            <a:r>
              <a:rPr lang="en-US" sz="2200" dirty="0">
                <a:solidFill>
                  <a:srgbClr val="FF0000"/>
                </a:solidFill>
              </a:rPr>
              <a:t>involves uncertainties such as market reactions, technological changes, and competitor actions</a:t>
            </a:r>
            <a:r>
              <a:rPr lang="en-US" sz="2200" dirty="0"/>
              <a:t>.</a:t>
            </a:r>
          </a:p>
          <a:p>
            <a:pPr>
              <a:buNone/>
            </a:pPr>
            <a:r>
              <a:rPr lang="en-US" sz="2200" dirty="0"/>
              <a:t>      </a:t>
            </a:r>
            <a:r>
              <a:rPr lang="en-US" sz="2200" dirty="0">
                <a:solidFill>
                  <a:srgbClr val="FF0000"/>
                </a:solidFill>
              </a:rPr>
              <a:t>Risk assessment and contingency planning</a:t>
            </a:r>
            <a:r>
              <a:rPr lang="en-US" sz="2200" dirty="0"/>
              <a:t> are part of the process.</a:t>
            </a:r>
          </a:p>
          <a:p>
            <a:pPr>
              <a:buNone/>
            </a:pPr>
            <a:r>
              <a:rPr lang="en-US" sz="2200" b="1" dirty="0"/>
              <a:t>10. </a:t>
            </a:r>
            <a:r>
              <a:rPr lang="en-US" sz="2200" b="1" dirty="0">
                <a:highlight>
                  <a:srgbClr val="FFFF00"/>
                </a:highlight>
              </a:rPr>
              <a:t>Requires Strong Coordination</a:t>
            </a:r>
          </a:p>
          <a:p>
            <a:pPr>
              <a:buNone/>
            </a:pPr>
            <a:r>
              <a:rPr lang="en-US" sz="2200" dirty="0"/>
              <a:t>      Synchronization between various levels (corporate, business unit, functional) ensures that the strategy is implemented uniformly.</a:t>
            </a:r>
          </a:p>
          <a:p>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sz="4000" b="1" dirty="0">
                <a:solidFill>
                  <a:srgbClr val="C00000"/>
                </a:solidFill>
              </a:rPr>
              <a:t>Issues in strategy implementation</a:t>
            </a:r>
          </a:p>
        </p:txBody>
      </p:sp>
      <p:sp>
        <p:nvSpPr>
          <p:cNvPr id="3" name="Content Placeholder 2"/>
          <p:cNvSpPr>
            <a:spLocks noGrp="1"/>
          </p:cNvSpPr>
          <p:nvPr>
            <p:ph idx="1"/>
          </p:nvPr>
        </p:nvSpPr>
        <p:spPr>
          <a:xfrm>
            <a:off x="1981200" y="1219200"/>
            <a:ext cx="8229600" cy="5105400"/>
          </a:xfrm>
        </p:spPr>
        <p:txBody>
          <a:bodyPr>
            <a:normAutofit fontScale="92500"/>
          </a:bodyPr>
          <a:lstStyle/>
          <a:p>
            <a:pPr>
              <a:buNone/>
            </a:pPr>
            <a:r>
              <a:rPr lang="en-US" sz="2400" b="1" dirty="0"/>
              <a:t>1. </a:t>
            </a:r>
            <a:r>
              <a:rPr lang="en-US" sz="2400" b="1" dirty="0">
                <a:highlight>
                  <a:srgbClr val="FFFF00"/>
                </a:highlight>
              </a:rPr>
              <a:t>Poor Communication</a:t>
            </a:r>
          </a:p>
          <a:p>
            <a:pPr>
              <a:buNone/>
            </a:pPr>
            <a:r>
              <a:rPr lang="en-US" sz="2400" dirty="0"/>
              <a:t>      Lack of clear and consistent communication about the strategy to all levels of the organization.</a:t>
            </a:r>
          </a:p>
          <a:p>
            <a:pPr>
              <a:buNone/>
            </a:pPr>
            <a:r>
              <a:rPr lang="en-US" sz="2400" dirty="0"/>
              <a:t>     Employees may not understand the strategy or their role in it.</a:t>
            </a:r>
          </a:p>
          <a:p>
            <a:pPr>
              <a:buNone/>
            </a:pPr>
            <a:r>
              <a:rPr lang="en-US" sz="2400" b="1" dirty="0"/>
              <a:t>2. </a:t>
            </a:r>
            <a:r>
              <a:rPr lang="en-US" sz="2400" b="1" dirty="0">
                <a:highlight>
                  <a:srgbClr val="FFFF00"/>
                </a:highlight>
              </a:rPr>
              <a:t>Lack of Leadership and Commitment</a:t>
            </a:r>
          </a:p>
          <a:p>
            <a:pPr>
              <a:buNone/>
            </a:pPr>
            <a:r>
              <a:rPr lang="en-US" sz="2400" dirty="0"/>
              <a:t>     Weak leadership leads to confusion, lack of motivation, and poor guidance.</a:t>
            </a:r>
          </a:p>
          <a:p>
            <a:pPr>
              <a:buNone/>
            </a:pPr>
            <a:r>
              <a:rPr lang="en-US" sz="2400" dirty="0"/>
              <a:t>     Without top management commitment, strategy execution loses direction and support.</a:t>
            </a:r>
          </a:p>
          <a:p>
            <a:pPr>
              <a:buNone/>
            </a:pPr>
            <a:r>
              <a:rPr lang="en-US" sz="2400" b="1" dirty="0"/>
              <a:t>3. </a:t>
            </a:r>
            <a:r>
              <a:rPr lang="en-US" sz="2400" b="1" dirty="0">
                <a:highlight>
                  <a:srgbClr val="FFFF00"/>
                </a:highlight>
              </a:rPr>
              <a:t>Inadequate Resource Allocation</a:t>
            </a:r>
          </a:p>
          <a:p>
            <a:pPr>
              <a:buNone/>
            </a:pPr>
            <a:r>
              <a:rPr lang="en-US" sz="2400" dirty="0"/>
              <a:t>      Failure to provide sufficient financial, human, or technological resources hampers execution.</a:t>
            </a:r>
          </a:p>
          <a:p>
            <a:pPr>
              <a:buNone/>
            </a:pPr>
            <a:r>
              <a:rPr lang="en-US" sz="2400" dirty="0"/>
              <a:t>     Competing priorities can divert resources away from the strategy.</a:t>
            </a:r>
          </a:p>
          <a:p>
            <a:pPr>
              <a:buNone/>
            </a:pP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normAutofit/>
          </a:bodyPr>
          <a:lstStyle/>
          <a:p>
            <a:pPr>
              <a:buNone/>
            </a:pPr>
            <a:r>
              <a:rPr lang="en-US" sz="2200" b="1" dirty="0"/>
              <a:t>4. </a:t>
            </a:r>
            <a:r>
              <a:rPr lang="en-US" sz="2200" b="1" dirty="0">
                <a:highlight>
                  <a:srgbClr val="FFFF00"/>
                </a:highlight>
              </a:rPr>
              <a:t>Resistance to Change</a:t>
            </a:r>
          </a:p>
          <a:p>
            <a:pPr>
              <a:buNone/>
            </a:pPr>
            <a:r>
              <a:rPr lang="en-US" sz="2200" dirty="0"/>
              <a:t>      Employees often resist new policies, processes, or cultural shifts  required by the strategy.</a:t>
            </a:r>
          </a:p>
          <a:p>
            <a:pPr>
              <a:buNone/>
            </a:pPr>
            <a:r>
              <a:rPr lang="en-US" sz="2200" dirty="0"/>
              <a:t>     Change without proper training or involvement creates fear and pushback.</a:t>
            </a:r>
          </a:p>
          <a:p>
            <a:pPr>
              <a:buNone/>
            </a:pPr>
            <a:r>
              <a:rPr lang="en-US" sz="2200" b="1" dirty="0"/>
              <a:t>5. </a:t>
            </a:r>
            <a:r>
              <a:rPr lang="en-US" sz="2200" b="1" dirty="0">
                <a:highlight>
                  <a:srgbClr val="FFFF00"/>
                </a:highlight>
              </a:rPr>
              <a:t>Weak Organizational Structure</a:t>
            </a:r>
          </a:p>
          <a:p>
            <a:pPr>
              <a:buNone/>
            </a:pPr>
            <a:r>
              <a:rPr lang="en-US" sz="2200" dirty="0"/>
              <a:t>      A mismatch between the strategy and existing organizational structure can cause confusion and inefficiency.</a:t>
            </a:r>
          </a:p>
          <a:p>
            <a:pPr>
              <a:buNone/>
            </a:pPr>
            <a:r>
              <a:rPr lang="en-US" sz="2200" dirty="0"/>
              <a:t>	Roles and responsibilities may be unclear or overlapping.</a:t>
            </a:r>
          </a:p>
          <a:p>
            <a:pPr>
              <a:buNone/>
            </a:pPr>
            <a:r>
              <a:rPr lang="en-US" sz="2200" b="1" dirty="0"/>
              <a:t>6. </a:t>
            </a:r>
            <a:r>
              <a:rPr lang="en-US" sz="2200" b="1" dirty="0">
                <a:highlight>
                  <a:srgbClr val="FFFF00"/>
                </a:highlight>
              </a:rPr>
              <a:t>Lack of Strategic Alignment</a:t>
            </a:r>
          </a:p>
          <a:p>
            <a:pPr>
              <a:buNone/>
            </a:pPr>
            <a:r>
              <a:rPr lang="en-US" sz="2200" dirty="0"/>
              <a:t>	Strategies may not be aligned with operational plans, departmental goals, or employee performance.</a:t>
            </a:r>
          </a:p>
          <a:p>
            <a:pPr>
              <a:buNone/>
            </a:pPr>
            <a:r>
              <a:rPr lang="en-US" sz="2200" dirty="0"/>
              <a:t>	Functional silos can obstruct cross-departmental coordination.</a:t>
            </a:r>
          </a:p>
          <a:p>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0"/>
            <a:ext cx="8229600" cy="5638800"/>
          </a:xfrm>
        </p:spPr>
        <p:txBody>
          <a:bodyPr>
            <a:normAutofit fontScale="92500" lnSpcReduction="20000"/>
          </a:bodyPr>
          <a:lstStyle/>
          <a:p>
            <a:pPr>
              <a:buNone/>
            </a:pPr>
            <a:r>
              <a:rPr lang="en-US" sz="2400" b="1" dirty="0"/>
              <a:t>7. </a:t>
            </a:r>
            <a:r>
              <a:rPr lang="en-US" sz="2400" b="1" dirty="0">
                <a:highlight>
                  <a:srgbClr val="FFFF00"/>
                </a:highlight>
              </a:rPr>
              <a:t>Poor Monitoring and Feedback Mechanisms</a:t>
            </a:r>
          </a:p>
          <a:p>
            <a:pPr>
              <a:buNone/>
            </a:pPr>
            <a:r>
              <a:rPr lang="en-US" sz="2400" dirty="0"/>
              <a:t>	Absence of performance tracking tools like KPIs or balanced scorecards makes it difficult to assess progress.</a:t>
            </a:r>
          </a:p>
          <a:p>
            <a:pPr>
              <a:buNone/>
            </a:pPr>
            <a:r>
              <a:rPr lang="en-US" sz="2400" dirty="0"/>
              <a:t>	Without feedback, corrective actions cannot be taken in time.</a:t>
            </a:r>
          </a:p>
          <a:p>
            <a:pPr>
              <a:buNone/>
            </a:pPr>
            <a:r>
              <a:rPr lang="en-US" sz="2400" b="1" dirty="0"/>
              <a:t>8. </a:t>
            </a:r>
            <a:r>
              <a:rPr lang="en-US" sz="2400" b="1" dirty="0">
                <a:highlight>
                  <a:srgbClr val="FFFF00"/>
                </a:highlight>
              </a:rPr>
              <a:t>Unclear Objectives or Priorities</a:t>
            </a:r>
          </a:p>
          <a:p>
            <a:pPr>
              <a:buNone/>
            </a:pPr>
            <a:r>
              <a:rPr lang="en-US" sz="2400" dirty="0"/>
              <a:t>	If strategic goals are vague or too broad, employees may not know where to focus their efforts.</a:t>
            </a:r>
          </a:p>
          <a:p>
            <a:pPr>
              <a:buNone/>
            </a:pPr>
            <a:r>
              <a:rPr lang="en-US" sz="2400" dirty="0"/>
              <a:t>	Conflicting priorities can cause confusion and inefficiency.</a:t>
            </a:r>
          </a:p>
          <a:p>
            <a:pPr>
              <a:buNone/>
            </a:pPr>
            <a:r>
              <a:rPr lang="en-US" sz="2400" b="1" dirty="0"/>
              <a:t>9. </a:t>
            </a:r>
            <a:r>
              <a:rPr lang="en-US" sz="2400" b="1" dirty="0">
                <a:highlight>
                  <a:srgbClr val="FFFF00"/>
                </a:highlight>
              </a:rPr>
              <a:t>Lack of Employee Involvement</a:t>
            </a:r>
          </a:p>
          <a:p>
            <a:pPr>
              <a:buNone/>
            </a:pPr>
            <a:r>
              <a:rPr lang="en-US" sz="2400" dirty="0"/>
              <a:t>	If employees are not involved in the planning and implementation process, they may feel disconnected.</a:t>
            </a:r>
          </a:p>
          <a:p>
            <a:pPr>
              <a:buNone/>
            </a:pPr>
            <a:r>
              <a:rPr lang="en-US" sz="2400" dirty="0"/>
              <a:t>	This leads to lower morale, accountability, and performance.</a:t>
            </a:r>
          </a:p>
          <a:p>
            <a:pPr>
              <a:buNone/>
            </a:pPr>
            <a:r>
              <a:rPr lang="en-US" sz="2400" b="1" dirty="0"/>
              <a:t>10. </a:t>
            </a:r>
            <a:r>
              <a:rPr lang="en-US" sz="2400" b="1" dirty="0">
                <a:highlight>
                  <a:srgbClr val="FFFF00"/>
                </a:highlight>
              </a:rPr>
              <a:t>Cultural and Political Barriers</a:t>
            </a:r>
          </a:p>
          <a:p>
            <a:pPr>
              <a:buNone/>
            </a:pPr>
            <a:r>
              <a:rPr lang="en-US" sz="2400" dirty="0"/>
              <a:t>	</a:t>
            </a:r>
            <a:r>
              <a:rPr lang="en-US" sz="2400" dirty="0">
                <a:solidFill>
                  <a:srgbClr val="FF0000"/>
                </a:solidFill>
              </a:rPr>
              <a:t>Organizational culture may not support the strategic vision</a:t>
            </a:r>
            <a:r>
              <a:rPr lang="en-US" sz="2400" dirty="0"/>
              <a:t>.</a:t>
            </a:r>
          </a:p>
          <a:p>
            <a:pPr>
              <a:buNone/>
            </a:pPr>
            <a:r>
              <a:rPr lang="en-US" sz="2400" dirty="0"/>
              <a:t>	</a:t>
            </a:r>
            <a:r>
              <a:rPr lang="en-US" sz="2400" dirty="0">
                <a:solidFill>
                  <a:srgbClr val="FF0000"/>
                </a:solidFill>
              </a:rPr>
              <a:t>Internal politics, power struggles, and personal agendas </a:t>
            </a:r>
            <a:r>
              <a:rPr lang="en-US" sz="2400" dirty="0"/>
              <a:t>can hinder cooperation and execution.</a:t>
            </a:r>
          </a:p>
          <a:p>
            <a:pPr>
              <a:buNone/>
            </a:pP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4000" b="1" dirty="0">
                <a:solidFill>
                  <a:srgbClr val="C00000"/>
                </a:solidFill>
              </a:rPr>
              <a:t>Model of Strategic Implementation</a:t>
            </a:r>
          </a:p>
        </p:txBody>
      </p:sp>
      <p:sp>
        <p:nvSpPr>
          <p:cNvPr id="3" name="Content Placeholder 2"/>
          <p:cNvSpPr>
            <a:spLocks noGrp="1"/>
          </p:cNvSpPr>
          <p:nvPr>
            <p:ph idx="1"/>
          </p:nvPr>
        </p:nvSpPr>
        <p:spPr>
          <a:xfrm>
            <a:off x="1981200" y="1143000"/>
            <a:ext cx="8229600" cy="5257800"/>
          </a:xfrm>
        </p:spPr>
        <p:txBody>
          <a:bodyPr>
            <a:normAutofit fontScale="92500" lnSpcReduction="20000"/>
          </a:bodyPr>
          <a:lstStyle/>
          <a:p>
            <a:pPr>
              <a:buNone/>
            </a:pPr>
            <a:r>
              <a:rPr lang="en-US" sz="2000" dirty="0"/>
              <a:t>	</a:t>
            </a:r>
            <a:r>
              <a:rPr lang="en-US" sz="2200" dirty="0"/>
              <a:t>A </a:t>
            </a:r>
            <a:r>
              <a:rPr lang="en-US" sz="2200" b="1" dirty="0"/>
              <a:t>model of strategic implementation</a:t>
            </a:r>
            <a:r>
              <a:rPr lang="en-US" sz="2200" dirty="0"/>
              <a:t> provides a structured framework to guide the execution of strategy within an organization. One widely accepted and practical model includes the following key components, often referred to as the </a:t>
            </a:r>
            <a:r>
              <a:rPr lang="en-US" sz="2200" b="1" dirty="0"/>
              <a:t>“7 Elements Model” or Strategy Implementation Framework”</a:t>
            </a:r>
            <a:r>
              <a:rPr lang="en-US" sz="2200" dirty="0"/>
              <a:t>:</a:t>
            </a:r>
          </a:p>
          <a:p>
            <a:pPr>
              <a:buNone/>
            </a:pPr>
            <a:endParaRPr lang="en-US" sz="2200" b="1" dirty="0"/>
          </a:p>
          <a:p>
            <a:pPr>
              <a:buNone/>
            </a:pPr>
            <a:r>
              <a:rPr lang="en-US" sz="2200" b="1" dirty="0"/>
              <a:t>1</a:t>
            </a:r>
            <a:r>
              <a:rPr lang="en-US" sz="2200" b="1" dirty="0">
                <a:solidFill>
                  <a:srgbClr val="FF0000"/>
                </a:solidFill>
              </a:rPr>
              <a:t>. </a:t>
            </a:r>
            <a:r>
              <a:rPr lang="en-US" sz="2200" b="1" dirty="0">
                <a:solidFill>
                  <a:srgbClr val="FF0000"/>
                </a:solidFill>
                <a:highlight>
                  <a:srgbClr val="FFFF00"/>
                </a:highlight>
              </a:rPr>
              <a:t>Setting Clear Objectives and Goals</a:t>
            </a:r>
          </a:p>
          <a:p>
            <a:pPr>
              <a:buNone/>
            </a:pPr>
            <a:r>
              <a:rPr lang="en-US" sz="2200" dirty="0"/>
              <a:t>	Translate the strategic vision into specific, measurable, achievable, relevant, and time-bound (SMART) objectives.</a:t>
            </a:r>
          </a:p>
          <a:p>
            <a:pPr>
              <a:buNone/>
            </a:pPr>
            <a:r>
              <a:rPr lang="en-US" sz="2200" dirty="0"/>
              <a:t>	Align organizational, departmental, and individual goals.</a:t>
            </a:r>
          </a:p>
          <a:p>
            <a:pPr>
              <a:buNone/>
            </a:pPr>
            <a:r>
              <a:rPr lang="en-US" sz="2200" b="1" dirty="0"/>
              <a:t> </a:t>
            </a:r>
          </a:p>
          <a:p>
            <a:pPr>
              <a:buNone/>
            </a:pPr>
            <a:r>
              <a:rPr lang="en-US" sz="2200" b="1" dirty="0"/>
              <a:t>2. </a:t>
            </a:r>
            <a:r>
              <a:rPr lang="en-US" sz="2200" b="1" dirty="0">
                <a:highlight>
                  <a:srgbClr val="FFFF00"/>
                </a:highlight>
              </a:rPr>
              <a:t>Organizational Structure</a:t>
            </a:r>
          </a:p>
          <a:p>
            <a:pPr>
              <a:buNone/>
            </a:pPr>
            <a:r>
              <a:rPr lang="en-US" sz="2200" dirty="0"/>
              <a:t>	Design or modify the structure to support the strategy (e.g., functional, divisional, matrix).</a:t>
            </a:r>
          </a:p>
          <a:p>
            <a:pPr>
              <a:buNone/>
            </a:pPr>
            <a:r>
              <a:rPr lang="en-US" sz="2200" dirty="0"/>
              <a:t>	Define roles, responsibilities, authority, and reporting relationships to ensure accountability.</a:t>
            </a:r>
          </a:p>
          <a:p>
            <a:pPr>
              <a:buNone/>
            </a:pPr>
            <a:r>
              <a:rPr lang="en-US" sz="2000" b="1" dirty="0"/>
              <a:t> </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normAutofit lnSpcReduction="10000"/>
          </a:bodyPr>
          <a:lstStyle/>
          <a:p>
            <a:pPr>
              <a:buNone/>
            </a:pPr>
            <a:r>
              <a:rPr lang="en-US" sz="2000" b="1" dirty="0"/>
              <a:t> 3. </a:t>
            </a:r>
            <a:r>
              <a:rPr lang="en-US" sz="2200" b="1" dirty="0">
                <a:highlight>
                  <a:srgbClr val="FFFF00"/>
                </a:highlight>
              </a:rPr>
              <a:t>Leadership and Strategic Direction</a:t>
            </a:r>
          </a:p>
          <a:p>
            <a:pPr>
              <a:buNone/>
            </a:pPr>
            <a:r>
              <a:rPr lang="en-US" sz="2200" dirty="0"/>
              <a:t>	Strong leadership is needed to guide, motivate, and support the workforce.</a:t>
            </a:r>
          </a:p>
          <a:p>
            <a:pPr>
              <a:buNone/>
            </a:pPr>
            <a:r>
              <a:rPr lang="en-US" sz="2200" dirty="0"/>
              <a:t>	Leaders must communicate the strategy clearly and model the desired behavior.</a:t>
            </a:r>
          </a:p>
          <a:p>
            <a:pPr>
              <a:buNone/>
            </a:pPr>
            <a:r>
              <a:rPr lang="en-US" sz="2200" b="1" dirty="0"/>
              <a:t>4. </a:t>
            </a:r>
            <a:r>
              <a:rPr lang="en-US" sz="2200" b="1" dirty="0">
                <a:highlight>
                  <a:srgbClr val="FFFF00"/>
                </a:highlight>
              </a:rPr>
              <a:t>Resource Allocation</a:t>
            </a:r>
          </a:p>
          <a:p>
            <a:pPr>
              <a:buNone/>
            </a:pPr>
            <a:r>
              <a:rPr lang="en-US" sz="2200" dirty="0"/>
              <a:t>	Allocate necessary resources (financial, human, technological) to support strategic initiatives.</a:t>
            </a:r>
          </a:p>
          <a:p>
            <a:pPr>
              <a:buNone/>
            </a:pPr>
            <a:r>
              <a:rPr lang="en-US" sz="2200" dirty="0"/>
              <a:t>	Ensure budgets, staffing, and infrastructure align with strategic priorities.</a:t>
            </a:r>
          </a:p>
          <a:p>
            <a:pPr>
              <a:buNone/>
            </a:pPr>
            <a:r>
              <a:rPr lang="en-US" sz="2200" b="1" dirty="0"/>
              <a:t>5. </a:t>
            </a:r>
            <a:r>
              <a:rPr lang="en-US" sz="2200" b="1" dirty="0">
                <a:highlight>
                  <a:srgbClr val="FFFF00"/>
                </a:highlight>
              </a:rPr>
              <a:t>Policy and Process Alignment</a:t>
            </a:r>
          </a:p>
          <a:p>
            <a:pPr>
              <a:buNone/>
            </a:pPr>
            <a:r>
              <a:rPr lang="en-US" sz="2200" dirty="0"/>
              <a:t>	Develop or revise policies, procedures, and systems that facilitate strategy execution.</a:t>
            </a:r>
          </a:p>
          <a:p>
            <a:pPr>
              <a:buNone/>
            </a:pPr>
            <a:r>
              <a:rPr lang="en-US" sz="2200" dirty="0"/>
              <a:t>	Streamline workflows and ensure internal processes support the strategic plan.</a:t>
            </a:r>
          </a:p>
          <a:p>
            <a:pPr>
              <a:buNone/>
            </a:pP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62001"/>
            <a:ext cx="8229600" cy="5364163"/>
          </a:xfrm>
        </p:spPr>
        <p:txBody>
          <a:bodyPr>
            <a:normAutofit/>
          </a:bodyPr>
          <a:lstStyle/>
          <a:p>
            <a:pPr>
              <a:buNone/>
            </a:pPr>
            <a:r>
              <a:rPr lang="en-US" sz="2200" b="1" dirty="0"/>
              <a:t>6. </a:t>
            </a:r>
            <a:r>
              <a:rPr lang="en-US" sz="2200" b="1" dirty="0">
                <a:highlight>
                  <a:srgbClr val="FFFF00"/>
                </a:highlight>
              </a:rPr>
              <a:t>Monitoring, Evaluation &amp; Control</a:t>
            </a:r>
          </a:p>
          <a:p>
            <a:pPr>
              <a:buNone/>
            </a:pPr>
            <a:r>
              <a:rPr lang="en-US" sz="2200" dirty="0"/>
              <a:t>	Use tools like </a:t>
            </a:r>
            <a:r>
              <a:rPr lang="en-US" sz="2200" b="1" dirty="0"/>
              <a:t>Balanced Scorecards</a:t>
            </a:r>
            <a:r>
              <a:rPr lang="en-US" sz="2200" dirty="0"/>
              <a:t>, </a:t>
            </a:r>
            <a:r>
              <a:rPr lang="en-US" sz="2200" b="1" dirty="0"/>
              <a:t>KPIs</a:t>
            </a:r>
            <a:r>
              <a:rPr lang="en-US" sz="2200" dirty="0"/>
              <a:t>, </a:t>
            </a:r>
            <a:r>
              <a:rPr lang="en-US" sz="2200" b="1" dirty="0"/>
              <a:t>dashboards</a:t>
            </a:r>
            <a:r>
              <a:rPr lang="en-US" sz="2200" dirty="0"/>
              <a:t>, and </a:t>
            </a:r>
            <a:r>
              <a:rPr lang="en-US" sz="2200" b="1" dirty="0"/>
              <a:t>performance reviews</a:t>
            </a:r>
            <a:r>
              <a:rPr lang="en-US" sz="2200" dirty="0"/>
              <a:t>.</a:t>
            </a:r>
          </a:p>
          <a:p>
            <a:pPr>
              <a:buNone/>
            </a:pPr>
            <a:r>
              <a:rPr lang="en-US" sz="2200" dirty="0"/>
              <a:t>	Establish a feedback loop to track performance, identify deviations, and make adjustments.</a:t>
            </a:r>
          </a:p>
          <a:p>
            <a:pPr>
              <a:buNone/>
            </a:pPr>
            <a:endParaRPr lang="en-US" sz="2200" b="1" dirty="0"/>
          </a:p>
          <a:p>
            <a:pPr>
              <a:buNone/>
            </a:pPr>
            <a:r>
              <a:rPr lang="en-US" sz="2200" b="1" dirty="0"/>
              <a:t>7. </a:t>
            </a:r>
            <a:r>
              <a:rPr lang="en-US" sz="2200" b="1" dirty="0">
                <a:highlight>
                  <a:srgbClr val="FFFF00"/>
                </a:highlight>
              </a:rPr>
              <a:t>Change Management and Culture</a:t>
            </a:r>
          </a:p>
          <a:p>
            <a:pPr>
              <a:buNone/>
            </a:pPr>
            <a:r>
              <a:rPr lang="en-US" sz="2200" dirty="0"/>
              <a:t>	Create a culture supportive of the strategy through training, incentives, and involvement.</a:t>
            </a:r>
          </a:p>
          <a:p>
            <a:pPr>
              <a:buNone/>
            </a:pPr>
            <a:r>
              <a:rPr lang="en-US" sz="2200" dirty="0"/>
              <a:t>	Manage resistance to change through communication and participation.</a:t>
            </a:r>
          </a:p>
          <a:p>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sz="4000" b="1" dirty="0">
                <a:solidFill>
                  <a:srgbClr val="C00000"/>
                </a:solidFill>
              </a:rPr>
              <a:t>Resource  allocation</a:t>
            </a:r>
          </a:p>
        </p:txBody>
      </p:sp>
      <p:sp>
        <p:nvSpPr>
          <p:cNvPr id="3" name="Content Placeholder 2"/>
          <p:cNvSpPr>
            <a:spLocks noGrp="1"/>
          </p:cNvSpPr>
          <p:nvPr>
            <p:ph idx="1"/>
          </p:nvPr>
        </p:nvSpPr>
        <p:spPr>
          <a:xfrm>
            <a:off x="1981200" y="1295400"/>
            <a:ext cx="8229600" cy="5105400"/>
          </a:xfrm>
        </p:spPr>
        <p:txBody>
          <a:bodyPr>
            <a:normAutofit lnSpcReduction="10000"/>
          </a:bodyPr>
          <a:lstStyle/>
          <a:p>
            <a:pPr>
              <a:buNone/>
            </a:pPr>
            <a:r>
              <a:rPr lang="en-US" sz="2200" b="1" dirty="0"/>
              <a:t>      Resource allocation</a:t>
            </a:r>
            <a:r>
              <a:rPr lang="en-US" sz="2200" dirty="0"/>
              <a:t> is the process of distributing an organization's available resources—such as </a:t>
            </a:r>
            <a:r>
              <a:rPr lang="en-US" sz="2200" b="1" dirty="0"/>
              <a:t>financial capital, human talent, technology, materials, and time</a:t>
            </a:r>
            <a:r>
              <a:rPr lang="en-US" sz="2200" dirty="0"/>
              <a:t>—to various strategic activities, departments, or projects in a way that supports the successful implementation of a chosen strategy.</a:t>
            </a:r>
          </a:p>
          <a:p>
            <a:endParaRPr lang="en-US" sz="2200" dirty="0"/>
          </a:p>
          <a:p>
            <a:pPr>
              <a:buNone/>
            </a:pPr>
            <a:r>
              <a:rPr lang="en-US" sz="2600" b="1" dirty="0">
                <a:solidFill>
                  <a:srgbClr val="FF0000"/>
                </a:solidFill>
              </a:rPr>
              <a:t>Example – Reliance </a:t>
            </a:r>
            <a:r>
              <a:rPr lang="en-US" sz="2600" b="1" dirty="0" err="1">
                <a:solidFill>
                  <a:srgbClr val="FF0000"/>
                </a:solidFill>
              </a:rPr>
              <a:t>Jio</a:t>
            </a:r>
            <a:r>
              <a:rPr lang="en-US" sz="2600" b="1" dirty="0">
                <a:solidFill>
                  <a:srgbClr val="FF0000"/>
                </a:solidFill>
              </a:rPr>
              <a:t>:</a:t>
            </a:r>
          </a:p>
          <a:p>
            <a:pPr>
              <a:buNone/>
            </a:pPr>
            <a:r>
              <a:rPr lang="en-US" sz="2200" b="1" dirty="0"/>
              <a:t>	Strategic Goal:</a:t>
            </a:r>
            <a:r>
              <a:rPr lang="en-US" sz="2200" dirty="0"/>
              <a:t> Expand digital connectivity in rural India.</a:t>
            </a:r>
          </a:p>
          <a:p>
            <a:pPr>
              <a:buNone/>
            </a:pPr>
            <a:r>
              <a:rPr lang="en-US" sz="2200" b="1" dirty="0"/>
              <a:t>	Financial Allocation:</a:t>
            </a:r>
            <a:r>
              <a:rPr lang="en-US" sz="2200" dirty="0"/>
              <a:t> Invested ₹1.5 </a:t>
            </a:r>
            <a:r>
              <a:rPr lang="en-US" sz="2200" dirty="0" err="1"/>
              <a:t>lakh</a:t>
            </a:r>
            <a:r>
              <a:rPr lang="en-US" sz="2200" dirty="0"/>
              <a:t> crore in telecom infrastructure.</a:t>
            </a:r>
          </a:p>
          <a:p>
            <a:pPr>
              <a:buNone/>
            </a:pPr>
            <a:r>
              <a:rPr lang="en-US" sz="2200" b="1" dirty="0"/>
              <a:t>	Human Resource Allocation:</a:t>
            </a:r>
            <a:r>
              <a:rPr lang="en-US" sz="2200" dirty="0"/>
              <a:t> Trained rural agents and set up local customer support.</a:t>
            </a:r>
          </a:p>
          <a:p>
            <a:pPr>
              <a:buNone/>
            </a:pPr>
            <a:r>
              <a:rPr lang="en-US" sz="2200" b="1" dirty="0"/>
              <a:t>	Technological Resources:</a:t>
            </a:r>
            <a:r>
              <a:rPr lang="en-US" sz="2200" dirty="0"/>
              <a:t> Deployed 4G towers, low-cost </a:t>
            </a:r>
            <a:r>
              <a:rPr lang="en-US" sz="2200" dirty="0" err="1"/>
              <a:t>smartphones</a:t>
            </a:r>
            <a:r>
              <a:rPr lang="en-US" sz="2200" dirty="0"/>
              <a:t>, and apps.</a:t>
            </a:r>
          </a:p>
          <a:p>
            <a:pPr>
              <a:buNone/>
            </a:pPr>
            <a:r>
              <a:rPr lang="en-US" sz="2200" b="1" dirty="0"/>
              <a:t>	Time:</a:t>
            </a:r>
            <a:r>
              <a:rPr lang="en-US" sz="2200" dirty="0"/>
              <a:t> Aggressive timelines to launch across multiple regions quickly.</a:t>
            </a:r>
          </a:p>
          <a:p>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sz="4000" b="1" dirty="0">
                <a:solidFill>
                  <a:srgbClr val="C00000"/>
                </a:solidFill>
              </a:rPr>
              <a:t>Managing Conflicts</a:t>
            </a:r>
          </a:p>
        </p:txBody>
      </p:sp>
      <p:sp>
        <p:nvSpPr>
          <p:cNvPr id="3" name="Content Placeholder 2"/>
          <p:cNvSpPr>
            <a:spLocks noGrp="1"/>
          </p:cNvSpPr>
          <p:nvPr>
            <p:ph idx="1"/>
          </p:nvPr>
        </p:nvSpPr>
        <p:spPr>
          <a:xfrm>
            <a:off x="1981200" y="1295401"/>
            <a:ext cx="8229600" cy="4830763"/>
          </a:xfrm>
        </p:spPr>
        <p:txBody>
          <a:bodyPr>
            <a:normAutofit/>
          </a:bodyPr>
          <a:lstStyle/>
          <a:p>
            <a:pPr>
              <a:buNone/>
            </a:pPr>
            <a:r>
              <a:rPr lang="en-US" sz="2200" b="1" dirty="0"/>
              <a:t>	Conflict management</a:t>
            </a:r>
            <a:r>
              <a:rPr lang="en-US" sz="2200" dirty="0"/>
              <a:t> refers to the process of identifying and addressing disagreements in a constructive manner to prevent disruption and maintain healthy working relationships. In an organization, conflicts can arise between individuals, teams, or departments due to differences in goals, values, opinions, or resource competition.</a:t>
            </a:r>
          </a:p>
          <a:p>
            <a:pPr>
              <a:buNone/>
            </a:pPr>
            <a:endParaRPr lang="en-US" sz="2400" dirty="0"/>
          </a:p>
        </p:txBody>
      </p:sp>
      <p:pic>
        <p:nvPicPr>
          <p:cNvPr id="4" name="Picture 3" descr="Screenshot (54).png"/>
          <p:cNvPicPr>
            <a:picLocks noChangeAspect="1"/>
          </p:cNvPicPr>
          <p:nvPr/>
        </p:nvPicPr>
        <p:blipFill>
          <a:blip r:embed="rId2" cstate="print"/>
          <a:stretch>
            <a:fillRect/>
          </a:stretch>
        </p:blipFill>
        <p:spPr>
          <a:xfrm>
            <a:off x="6629400" y="3429000"/>
            <a:ext cx="3124774" cy="2667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a:bodyPr>
          <a:lstStyle/>
          <a:p>
            <a:r>
              <a:rPr lang="en-US" sz="3600" b="1" dirty="0">
                <a:solidFill>
                  <a:srgbClr val="C00000"/>
                </a:solidFill>
              </a:rPr>
              <a:t>Approaches to Managing Conflict:</a:t>
            </a:r>
          </a:p>
        </p:txBody>
      </p:sp>
      <p:sp>
        <p:nvSpPr>
          <p:cNvPr id="3" name="Content Placeholder 2"/>
          <p:cNvSpPr>
            <a:spLocks noGrp="1"/>
          </p:cNvSpPr>
          <p:nvPr>
            <p:ph idx="1"/>
          </p:nvPr>
        </p:nvSpPr>
        <p:spPr>
          <a:xfrm>
            <a:off x="1981200" y="1219200"/>
            <a:ext cx="8229600" cy="5181600"/>
          </a:xfrm>
        </p:spPr>
        <p:txBody>
          <a:bodyPr>
            <a:normAutofit fontScale="92500" lnSpcReduction="10000"/>
          </a:bodyPr>
          <a:lstStyle/>
          <a:p>
            <a:pPr>
              <a:buNone/>
            </a:pPr>
            <a:r>
              <a:rPr lang="en-US" sz="2200" b="1" dirty="0"/>
              <a:t>1. Avoiding</a:t>
            </a:r>
          </a:p>
          <a:p>
            <a:pPr>
              <a:buNone/>
            </a:pPr>
            <a:r>
              <a:rPr lang="en-US" sz="2200" dirty="0"/>
              <a:t>	Ignoring or withdrawing from the conflict to delay or prevent confrontation.</a:t>
            </a:r>
            <a:br>
              <a:rPr lang="en-US" sz="2200" dirty="0"/>
            </a:br>
            <a:r>
              <a:rPr lang="en-US" sz="2200" dirty="0"/>
              <a:t>Useful for minor issues but may cause unresolved tension if prolonged.</a:t>
            </a:r>
          </a:p>
          <a:p>
            <a:pPr>
              <a:buNone/>
            </a:pPr>
            <a:r>
              <a:rPr lang="en-US" sz="2200" b="1" dirty="0"/>
              <a:t>2. Accommodating</a:t>
            </a:r>
          </a:p>
          <a:p>
            <a:pPr>
              <a:buNone/>
            </a:pPr>
            <a:r>
              <a:rPr lang="en-US" sz="2200" dirty="0"/>
              <a:t>	One party yields to the other's demands to maintain peace or relationships.</a:t>
            </a:r>
            <a:br>
              <a:rPr lang="en-US" sz="2200" dirty="0"/>
            </a:br>
            <a:r>
              <a:rPr lang="en-US" sz="2200" dirty="0"/>
              <a:t>Good for harmony but may cause dissatisfaction or imbalance.</a:t>
            </a:r>
          </a:p>
          <a:p>
            <a:pPr>
              <a:buNone/>
            </a:pPr>
            <a:r>
              <a:rPr lang="en-US" sz="2200" b="1" dirty="0"/>
              <a:t>3. Competing</a:t>
            </a:r>
          </a:p>
          <a:p>
            <a:pPr>
              <a:buNone/>
            </a:pPr>
            <a:r>
              <a:rPr lang="en-US" sz="2200" dirty="0"/>
              <a:t>	A forceful approach where one party asserts its position to win.</a:t>
            </a:r>
            <a:br>
              <a:rPr lang="en-US" sz="2200" dirty="0"/>
            </a:br>
            <a:r>
              <a:rPr lang="en-US" sz="2200" dirty="0"/>
              <a:t>Effective in urgent decisions but may harm collaboration and morale.</a:t>
            </a:r>
          </a:p>
          <a:p>
            <a:pPr>
              <a:buNone/>
            </a:pPr>
            <a:r>
              <a:rPr lang="en-US" sz="2200" b="1" dirty="0"/>
              <a:t>4. Compromising</a:t>
            </a:r>
          </a:p>
          <a:p>
            <a:pPr>
              <a:buNone/>
            </a:pPr>
            <a:r>
              <a:rPr lang="en-US" sz="2200" dirty="0"/>
              <a:t>	Both parties give up something to reach a middle-ground solution.</a:t>
            </a:r>
            <a:br>
              <a:rPr lang="en-US" sz="2200" dirty="0"/>
            </a:br>
            <a:r>
              <a:rPr lang="en-US" sz="2200" dirty="0"/>
              <a:t>Quick and fair, but may not fully satisfy either side.</a:t>
            </a:r>
          </a:p>
          <a:p>
            <a:pPr>
              <a:buNone/>
            </a:pPr>
            <a:r>
              <a:rPr lang="en-US" sz="2200" b="1" dirty="0"/>
              <a:t>5. Collaborating</a:t>
            </a:r>
          </a:p>
          <a:p>
            <a:pPr>
              <a:buNone/>
            </a:pPr>
            <a:r>
              <a:rPr lang="en-US" sz="2200" dirty="0"/>
              <a:t>	Parties cooperate to find a mutually beneficial "win-win" solution.</a:t>
            </a:r>
            <a:br>
              <a:rPr lang="en-US" sz="2200" dirty="0"/>
            </a:br>
            <a:r>
              <a:rPr lang="en-US" sz="2200" dirty="0"/>
              <a:t>Builds trust, creativity, and long-term positive relationships.</a:t>
            </a:r>
          </a:p>
          <a:p>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096000"/>
          </a:xfrm>
        </p:spPr>
        <p:txBody>
          <a:bodyPr>
            <a:normAutofit/>
          </a:bodyPr>
          <a:lstStyle/>
          <a:p>
            <a:pPr>
              <a:buNone/>
            </a:pPr>
            <a:r>
              <a:rPr lang="en-US" sz="2400" b="1" dirty="0"/>
              <a:t>	</a:t>
            </a:r>
            <a:r>
              <a:rPr lang="en-US" sz="2400" b="1" dirty="0">
                <a:solidFill>
                  <a:srgbClr val="FF0000"/>
                </a:solidFill>
              </a:rPr>
              <a:t>Example : </a:t>
            </a:r>
          </a:p>
          <a:p>
            <a:pPr>
              <a:buNone/>
            </a:pPr>
            <a:r>
              <a:rPr lang="en-US" sz="2400" b="1" dirty="0"/>
              <a:t>	</a:t>
            </a:r>
            <a:r>
              <a:rPr lang="en-US" sz="2400" b="1" dirty="0" err="1"/>
              <a:t>Zomato</a:t>
            </a:r>
            <a:r>
              <a:rPr lang="en-US" sz="2400" b="1" dirty="0"/>
              <a:t> vs. Restaurant Partners Conflict (2020–21)</a:t>
            </a:r>
          </a:p>
          <a:p>
            <a:pPr>
              <a:buNone/>
            </a:pPr>
            <a:r>
              <a:rPr lang="en-US" sz="2400" b="1" dirty="0"/>
              <a:t>	Conflict:</a:t>
            </a:r>
            <a:br>
              <a:rPr lang="en-US" sz="2400" dirty="0"/>
            </a:br>
            <a:r>
              <a:rPr lang="en-US" sz="2400" dirty="0"/>
              <a:t>Restaurant owners protested against high commissions, deep discounts through </a:t>
            </a:r>
            <a:r>
              <a:rPr lang="en-US" sz="2400" dirty="0" err="1"/>
              <a:t>Zomato</a:t>
            </a:r>
            <a:r>
              <a:rPr lang="en-US" sz="2400" dirty="0"/>
              <a:t> Gold, and lack of transparency during the pandemic.</a:t>
            </a:r>
          </a:p>
          <a:p>
            <a:pPr>
              <a:buNone/>
            </a:pPr>
            <a:r>
              <a:rPr lang="en-US" sz="2400" b="1" dirty="0"/>
              <a:t>	Approach Used:</a:t>
            </a:r>
            <a:r>
              <a:rPr lang="en-US" sz="2400" dirty="0"/>
              <a:t> </a:t>
            </a:r>
            <a:r>
              <a:rPr lang="en-US" sz="2400" i="1" dirty="0"/>
              <a:t>Compromising</a:t>
            </a:r>
            <a:br>
              <a:rPr lang="en-US" sz="2400" dirty="0"/>
            </a:br>
            <a:r>
              <a:rPr lang="en-US" sz="2400" dirty="0" err="1"/>
              <a:t>Zomato</a:t>
            </a:r>
            <a:r>
              <a:rPr lang="en-US" sz="2400" dirty="0"/>
              <a:t>:</a:t>
            </a:r>
          </a:p>
          <a:p>
            <a:pPr>
              <a:buFont typeface="Wingdings" pitchFamily="2" charset="2"/>
              <a:buChar char="Ø"/>
            </a:pPr>
            <a:r>
              <a:rPr lang="en-US" sz="2400" dirty="0"/>
              <a:t>Reduced commissions for smaller partners,</a:t>
            </a:r>
          </a:p>
          <a:p>
            <a:pPr>
              <a:buFont typeface="Wingdings" pitchFamily="2" charset="2"/>
              <a:buChar char="Ø"/>
            </a:pPr>
            <a:r>
              <a:rPr lang="en-US" sz="2400" dirty="0"/>
              <a:t>Replaced </a:t>
            </a:r>
            <a:r>
              <a:rPr lang="en-US" sz="2400" dirty="0" err="1"/>
              <a:t>Zomato</a:t>
            </a:r>
            <a:r>
              <a:rPr lang="en-US" sz="2400" dirty="0"/>
              <a:t> Gold with a fairer “</a:t>
            </a:r>
            <a:r>
              <a:rPr lang="en-US" sz="2400" dirty="0" err="1"/>
              <a:t>Zomato</a:t>
            </a:r>
            <a:r>
              <a:rPr lang="en-US" sz="2400" dirty="0"/>
              <a:t> Pro,”</a:t>
            </a:r>
          </a:p>
          <a:p>
            <a:pPr>
              <a:buFont typeface="Wingdings" pitchFamily="2" charset="2"/>
              <a:buChar char="Ø"/>
            </a:pPr>
            <a:r>
              <a:rPr lang="en-US" sz="2400" dirty="0"/>
              <a:t>Improved transparency with better dashboards,</a:t>
            </a:r>
          </a:p>
          <a:p>
            <a:pPr marL="457200" indent="-457200">
              <a:buFont typeface="Wingdings" pitchFamily="2" charset="2"/>
              <a:buChar char="Ø"/>
            </a:pPr>
            <a:r>
              <a:rPr lang="en-US" sz="2400" dirty="0"/>
              <a:t>Set up a forum for partner feedback.</a:t>
            </a:r>
          </a:p>
          <a:p>
            <a:pPr>
              <a:buNone/>
            </a:pPr>
            <a:r>
              <a:rPr lang="en-US" sz="2400" b="1" dirty="0"/>
              <a:t>	Result:</a:t>
            </a:r>
            <a:br>
              <a:rPr lang="en-US" sz="2400" dirty="0"/>
            </a:br>
            <a:r>
              <a:rPr lang="en-US" sz="2400" dirty="0"/>
              <a:t> </a:t>
            </a:r>
            <a:r>
              <a:rPr lang="en-US" sz="2400" dirty="0" err="1"/>
              <a:t>Zomato</a:t>
            </a:r>
            <a:r>
              <a:rPr lang="en-US" sz="2400" dirty="0"/>
              <a:t> didn’t meet all demands but made enough changes to ease tensions and keep restaurant partnerships strong.</a:t>
            </a:r>
          </a:p>
          <a:p>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sz="4000" b="1" dirty="0">
                <a:solidFill>
                  <a:srgbClr val="C00000"/>
                </a:solidFill>
              </a:rPr>
              <a:t>Restructuring</a:t>
            </a:r>
            <a:endParaRPr lang="en-US" sz="4000" dirty="0">
              <a:solidFill>
                <a:srgbClr val="C00000"/>
              </a:solidFill>
            </a:endParaRPr>
          </a:p>
        </p:txBody>
      </p:sp>
      <p:sp>
        <p:nvSpPr>
          <p:cNvPr id="3" name="Content Placeholder 2"/>
          <p:cNvSpPr>
            <a:spLocks noGrp="1"/>
          </p:cNvSpPr>
          <p:nvPr>
            <p:ph idx="1"/>
          </p:nvPr>
        </p:nvSpPr>
        <p:spPr>
          <a:xfrm>
            <a:off x="1981200" y="1219201"/>
            <a:ext cx="8229600" cy="4906963"/>
          </a:xfrm>
        </p:spPr>
        <p:txBody>
          <a:bodyPr>
            <a:normAutofit lnSpcReduction="10000"/>
          </a:bodyPr>
          <a:lstStyle/>
          <a:p>
            <a:pPr>
              <a:buNone/>
            </a:pPr>
            <a:r>
              <a:rPr lang="en-US" sz="2400" b="1" dirty="0"/>
              <a:t>	Restructuring</a:t>
            </a:r>
            <a:r>
              <a:rPr lang="en-US" sz="2400" dirty="0"/>
              <a:t> refers to the process of </a:t>
            </a:r>
            <a:r>
              <a:rPr lang="en-US" sz="2400" b="1" dirty="0"/>
              <a:t>reorganizing the structure, operations, or finances</a:t>
            </a:r>
            <a:r>
              <a:rPr lang="en-US" sz="2400" dirty="0"/>
              <a:t> of an organization to improve efficiency, adapt to change, or overcome challenges. It is often done during times of crisis, growth, mergers, or strategic shifts.</a:t>
            </a:r>
          </a:p>
          <a:p>
            <a:pPr>
              <a:buNone/>
            </a:pPr>
            <a:r>
              <a:rPr lang="en-US" sz="2400" b="1" dirty="0"/>
              <a:t>	</a:t>
            </a:r>
          </a:p>
          <a:p>
            <a:pPr>
              <a:buNone/>
            </a:pPr>
            <a:r>
              <a:rPr lang="en-US" sz="2400" b="1" dirty="0"/>
              <a:t>	Objectives of Restructuring:</a:t>
            </a:r>
          </a:p>
          <a:p>
            <a:pPr>
              <a:buFont typeface="Wingdings" pitchFamily="2" charset="2"/>
              <a:buChar char="Ø"/>
            </a:pPr>
            <a:r>
              <a:rPr lang="en-US" sz="2400" dirty="0"/>
              <a:t>Improve operational efficiency</a:t>
            </a:r>
          </a:p>
          <a:p>
            <a:pPr>
              <a:buFont typeface="Wingdings" pitchFamily="2" charset="2"/>
              <a:buChar char="Ø"/>
            </a:pPr>
            <a:r>
              <a:rPr lang="en-US" sz="2400" dirty="0"/>
              <a:t>Reduce costs or debts</a:t>
            </a:r>
          </a:p>
          <a:p>
            <a:pPr>
              <a:buFont typeface="Wingdings" pitchFamily="2" charset="2"/>
              <a:buChar char="Ø"/>
            </a:pPr>
            <a:r>
              <a:rPr lang="en-US" sz="2400" dirty="0"/>
              <a:t>Adapt to market changes or competition</a:t>
            </a:r>
          </a:p>
          <a:p>
            <a:pPr>
              <a:buFont typeface="Wingdings" pitchFamily="2" charset="2"/>
              <a:buChar char="Ø"/>
            </a:pPr>
            <a:r>
              <a:rPr lang="en-US" sz="2400" dirty="0"/>
              <a:t>Align structure with new strategies</a:t>
            </a:r>
          </a:p>
          <a:p>
            <a:pPr>
              <a:buFont typeface="Wingdings" pitchFamily="2" charset="2"/>
              <a:buChar char="Ø"/>
            </a:pPr>
            <a:r>
              <a:rPr lang="en-US" sz="2400" dirty="0"/>
              <a:t>Improve profitability and sustainability</a:t>
            </a:r>
          </a:p>
          <a:p>
            <a:pPr>
              <a:buNone/>
            </a:pP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0"/>
            <a:ext cx="8229600" cy="5943600"/>
          </a:xfrm>
        </p:spPr>
        <p:txBody>
          <a:bodyPr>
            <a:normAutofit fontScale="85000" lnSpcReduction="20000"/>
          </a:bodyPr>
          <a:lstStyle/>
          <a:p>
            <a:pPr marL="514350" indent="-514350" algn="ctr">
              <a:buNone/>
            </a:pPr>
            <a:r>
              <a:rPr lang="en-US" sz="4000" b="1" dirty="0">
                <a:solidFill>
                  <a:srgbClr val="C00000"/>
                </a:solidFill>
              </a:rPr>
              <a:t>Types of Restructuring:</a:t>
            </a:r>
          </a:p>
          <a:p>
            <a:pPr marL="514350" indent="-514350" algn="ctr">
              <a:buNone/>
            </a:pPr>
            <a:endParaRPr lang="en-US" sz="3400" b="1" dirty="0">
              <a:solidFill>
                <a:srgbClr val="C00000"/>
              </a:solidFill>
            </a:endParaRPr>
          </a:p>
          <a:p>
            <a:pPr marL="514350" indent="-514350">
              <a:buFont typeface="+mj-lt"/>
              <a:buAutoNum type="arabicPeriod"/>
            </a:pPr>
            <a:r>
              <a:rPr lang="en-US" b="1" dirty="0"/>
              <a:t>Organizational Restructuring</a:t>
            </a:r>
            <a:endParaRPr lang="en-US" dirty="0"/>
          </a:p>
          <a:p>
            <a:pPr marL="971550" lvl="1" indent="-514350">
              <a:buNone/>
            </a:pPr>
            <a:r>
              <a:rPr lang="en-US" dirty="0"/>
              <a:t>Changes in hierarchy, departments, or reporting relationships</a:t>
            </a:r>
          </a:p>
          <a:p>
            <a:pPr marL="971550" lvl="1" indent="-514350">
              <a:buNone/>
            </a:pPr>
            <a:r>
              <a:rPr lang="en-US" dirty="0"/>
              <a:t>E.g., merging departments, creating new roles</a:t>
            </a:r>
          </a:p>
          <a:p>
            <a:pPr marL="514350" indent="-514350">
              <a:buFont typeface="+mj-lt"/>
              <a:buAutoNum type="arabicPeriod"/>
            </a:pPr>
            <a:r>
              <a:rPr lang="en-US" b="1" dirty="0"/>
              <a:t>Financial Restructuring</a:t>
            </a:r>
            <a:endParaRPr lang="en-US" dirty="0"/>
          </a:p>
          <a:p>
            <a:pPr marL="971550" lvl="1" indent="-514350">
              <a:buNone/>
            </a:pPr>
            <a:r>
              <a:rPr lang="en-US" dirty="0"/>
              <a:t>Modifying capital structure (debt/equity)</a:t>
            </a:r>
          </a:p>
          <a:p>
            <a:pPr marL="971550" lvl="1" indent="-514350">
              <a:buNone/>
            </a:pPr>
            <a:r>
              <a:rPr lang="en-US" dirty="0"/>
              <a:t>E.g., Tata Motors reducing debt by selling non-core assets</a:t>
            </a:r>
          </a:p>
          <a:p>
            <a:pPr marL="514350" indent="-514350">
              <a:buFont typeface="+mj-lt"/>
              <a:buAutoNum type="arabicPeriod"/>
            </a:pPr>
            <a:r>
              <a:rPr lang="en-US" b="1" dirty="0"/>
              <a:t>Operational Restructuring</a:t>
            </a:r>
            <a:endParaRPr lang="en-US" dirty="0"/>
          </a:p>
          <a:p>
            <a:pPr marL="971550" lvl="1" indent="-514350">
              <a:buNone/>
            </a:pPr>
            <a:r>
              <a:rPr lang="en-US" dirty="0"/>
              <a:t>Improving processes, supply chain, or resource allocation</a:t>
            </a:r>
          </a:p>
          <a:p>
            <a:pPr marL="971550" lvl="1" indent="-514350">
              <a:buNone/>
            </a:pPr>
            <a:r>
              <a:rPr lang="en-US" dirty="0"/>
              <a:t>E.g., streamlining manufacturing units or outsourcing</a:t>
            </a:r>
          </a:p>
          <a:p>
            <a:pPr marL="514350" indent="-514350">
              <a:buFont typeface="+mj-lt"/>
              <a:buAutoNum type="arabicPeriod"/>
            </a:pPr>
            <a:r>
              <a:rPr lang="en-US" b="1" dirty="0"/>
              <a:t>Workforce Restructuring</a:t>
            </a:r>
            <a:endParaRPr lang="en-US" dirty="0"/>
          </a:p>
          <a:p>
            <a:pPr marL="971550" lvl="1" indent="-514350">
              <a:buNone/>
            </a:pPr>
            <a:r>
              <a:rPr lang="en-US" dirty="0"/>
              <a:t>Laying off or redeploying employees to cut costs or increase efficiency</a:t>
            </a:r>
          </a:p>
          <a:p>
            <a:pPr marL="971550" lvl="1" indent="-514350">
              <a:buNone/>
            </a:pPr>
            <a:r>
              <a:rPr lang="en-US" dirty="0"/>
              <a:t>E.g., Infosys shifting employees to new roles based on automation impact</a:t>
            </a:r>
          </a:p>
          <a:p>
            <a:pPr marL="514350" indent="-514350">
              <a:buFont typeface="+mj-lt"/>
              <a:buAutoNum type="arabicPeriod"/>
            </a:pPr>
            <a:r>
              <a:rPr lang="en-US" b="1" dirty="0"/>
              <a:t>Strategic Restructuring</a:t>
            </a:r>
            <a:endParaRPr lang="en-US" dirty="0"/>
          </a:p>
          <a:p>
            <a:pPr marL="971550" lvl="1" indent="-514350">
              <a:buNone/>
            </a:pPr>
            <a:r>
              <a:rPr lang="en-US" dirty="0"/>
              <a:t>Changing the business model, product portfolio, or market focus</a:t>
            </a:r>
          </a:p>
          <a:p>
            <a:pPr marL="971550" lvl="1" indent="-514350">
              <a:buNone/>
            </a:pPr>
            <a:r>
              <a:rPr lang="en-US" dirty="0"/>
              <a:t>E.g., Reliance shifting from oil to digital and retail sectors</a:t>
            </a:r>
          </a:p>
          <a:p>
            <a:pPr marL="457200" indent="-457200">
              <a:buFont typeface="+mj-lt"/>
              <a:buAutoNum type="arabicPeriod"/>
            </a:pP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0"/>
            <a:ext cx="8229600" cy="6019800"/>
          </a:xfrm>
        </p:spPr>
        <p:txBody>
          <a:bodyPr>
            <a:normAutofit/>
          </a:bodyPr>
          <a:lstStyle/>
          <a:p>
            <a:pPr algn="ctr">
              <a:buNone/>
            </a:pPr>
            <a:r>
              <a:rPr lang="en-US" sz="2000" b="1" dirty="0"/>
              <a:t>	</a:t>
            </a:r>
            <a:r>
              <a:rPr lang="en-US" sz="2600" b="1" dirty="0">
                <a:solidFill>
                  <a:srgbClr val="FF0000"/>
                </a:solidFill>
              </a:rPr>
              <a:t>Case Study: Restructuring at Tata Motors</a:t>
            </a:r>
            <a:endParaRPr lang="en-US" sz="2600" dirty="0">
              <a:solidFill>
                <a:srgbClr val="FF0000"/>
              </a:solidFill>
            </a:endParaRPr>
          </a:p>
          <a:p>
            <a:pPr>
              <a:buNone/>
            </a:pPr>
            <a:r>
              <a:rPr lang="en-US" sz="2000" dirty="0"/>
              <a:t>	</a:t>
            </a:r>
            <a:r>
              <a:rPr lang="en-US" sz="2200" dirty="0"/>
              <a:t>Tata Motors, one of India’s leading automobile manufacturers, underwent significant restructuring in the late 2010s to overcome declining profits, mounting debt, and operational inefficiencies. The company faced intense competition in the domestic market and profitability challenges in its UK-based subsidiary, Jaguar Land Rover (JLR). To address these issues, Tata Motors launched the “Turnaround 2.0” plan, aiming to streamline operations, reduce costs, and improve overall efficiency. As part of its operational restructuring, the company simplified its product portfolio, eliminated overlapping functions, and focused on scalable platforms to reduce manufacturing complexity. Workforce restructuring was also implemented through re-skilling initiatives and voluntary retirement schemes to reduce fixed costs. These efforts paid off, as Tata Motors improved its financial health, enhanced margins, and emerged as a leader in India’s electric vehicle market with models like the Tata </a:t>
            </a:r>
            <a:r>
              <a:rPr lang="en-US" sz="2200" dirty="0" err="1"/>
              <a:t>Nexon</a:t>
            </a:r>
            <a:r>
              <a:rPr lang="en-US" sz="2200" dirty="0"/>
              <a:t> EV. </a:t>
            </a:r>
            <a:r>
              <a:rPr lang="en-US" sz="2200" b="1" dirty="0"/>
              <a:t>The restructuring transformed Tata Motors into a more agile and future-ready company,</a:t>
            </a:r>
            <a:r>
              <a:rPr lang="en-US" sz="2200" dirty="0"/>
              <a:t> capable of competing in a rapidly changing global automotive landscape.</a:t>
            </a:r>
          </a:p>
          <a:p>
            <a:endParaRPr lang="en-US" sz="2200" dirty="0"/>
          </a:p>
          <a:p>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4000" b="1" dirty="0">
                <a:solidFill>
                  <a:srgbClr val="C00000"/>
                </a:solidFill>
              </a:rPr>
              <a:t>Reengineering</a:t>
            </a:r>
          </a:p>
        </p:txBody>
      </p:sp>
      <p:sp>
        <p:nvSpPr>
          <p:cNvPr id="3" name="Content Placeholder 2"/>
          <p:cNvSpPr>
            <a:spLocks noGrp="1"/>
          </p:cNvSpPr>
          <p:nvPr>
            <p:ph idx="1"/>
          </p:nvPr>
        </p:nvSpPr>
        <p:spPr>
          <a:xfrm>
            <a:off x="1981200" y="1066800"/>
            <a:ext cx="8229600" cy="5410200"/>
          </a:xfrm>
        </p:spPr>
        <p:txBody>
          <a:bodyPr>
            <a:normAutofit lnSpcReduction="10000"/>
          </a:bodyPr>
          <a:lstStyle/>
          <a:p>
            <a:pPr>
              <a:buNone/>
            </a:pPr>
            <a:r>
              <a:rPr lang="en-US" sz="2400" b="1" dirty="0"/>
              <a:t>	</a:t>
            </a:r>
            <a:r>
              <a:rPr lang="en-US" sz="2400" dirty="0"/>
              <a:t>Reengineering refers to the fundamental rethinking and radical redesign of business processes to achieve dramatic improvements in performance measures such as cost, quality, service, and speed.</a:t>
            </a:r>
          </a:p>
          <a:p>
            <a:pPr>
              <a:buNone/>
            </a:pPr>
            <a:r>
              <a:rPr lang="en-US" sz="2400" dirty="0"/>
              <a:t>	Coined by Michael Hammer, reengineering is not about making small changes or improvements — it's about starting from scratch and completely redesigning how work is done.</a:t>
            </a:r>
          </a:p>
          <a:p>
            <a:pPr>
              <a:buNone/>
            </a:pPr>
            <a:r>
              <a:rPr lang="en-US" sz="2400" b="1" dirty="0">
                <a:solidFill>
                  <a:srgbClr val="FF0000"/>
                </a:solidFill>
              </a:rPr>
              <a:t>Example – ICICI Bank</a:t>
            </a:r>
          </a:p>
          <a:p>
            <a:pPr>
              <a:buNone/>
            </a:pPr>
            <a:r>
              <a:rPr lang="en-US" sz="2400" dirty="0"/>
              <a:t>	ICICI Bank is a classic Indian example of successful reengineering. In the early 2000s, the bank transformed its </a:t>
            </a:r>
            <a:r>
              <a:rPr lang="en-US" sz="2400" b="1" dirty="0"/>
              <a:t>loan approval and customer service processes</a:t>
            </a:r>
            <a:r>
              <a:rPr lang="en-US" sz="2400" dirty="0"/>
              <a:t> using business process reengineering (BPR).</a:t>
            </a:r>
          </a:p>
          <a:p>
            <a:pPr>
              <a:buFont typeface="Wingdings" pitchFamily="2" charset="2"/>
              <a:buChar char="Ø"/>
            </a:pPr>
            <a:r>
              <a:rPr lang="en-US" sz="2400" dirty="0"/>
              <a:t>It moved from a paper-heavy, branch-based system to a </a:t>
            </a:r>
            <a:r>
              <a:rPr lang="en-US" sz="2400" b="1" dirty="0"/>
              <a:t>centralized, digitized, and faster loan processing model</a:t>
            </a:r>
            <a:r>
              <a:rPr lang="en-US" sz="2400" dirty="0"/>
              <a:t>.</a:t>
            </a:r>
          </a:p>
          <a:p>
            <a:pPr>
              <a:buFont typeface="Wingdings" pitchFamily="2" charset="2"/>
              <a:buChar char="Ø"/>
            </a:pPr>
            <a:r>
              <a:rPr lang="en-US" sz="2400" dirty="0"/>
              <a:t>The result was a </a:t>
            </a:r>
            <a:r>
              <a:rPr lang="en-US" sz="2400" b="1" dirty="0"/>
              <a:t>massive reduction in processing time</a:t>
            </a:r>
            <a:r>
              <a:rPr lang="en-US" sz="2400" dirty="0"/>
              <a:t>, improved customer experience, and cost efficiency.</a:t>
            </a:r>
          </a:p>
          <a:p>
            <a:endParaRPr lang="en-US"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4000" b="1" dirty="0">
                <a:solidFill>
                  <a:srgbClr val="C00000"/>
                </a:solidFill>
              </a:rPr>
              <a:t>E-Reengineering</a:t>
            </a:r>
          </a:p>
        </p:txBody>
      </p:sp>
      <p:sp>
        <p:nvSpPr>
          <p:cNvPr id="3" name="Content Placeholder 2"/>
          <p:cNvSpPr>
            <a:spLocks noGrp="1"/>
          </p:cNvSpPr>
          <p:nvPr>
            <p:ph idx="1"/>
          </p:nvPr>
        </p:nvSpPr>
        <p:spPr>
          <a:xfrm>
            <a:off x="1981200" y="990600"/>
            <a:ext cx="8229600" cy="5410200"/>
          </a:xfrm>
        </p:spPr>
        <p:txBody>
          <a:bodyPr>
            <a:normAutofit fontScale="92500" lnSpcReduction="10000"/>
          </a:bodyPr>
          <a:lstStyle/>
          <a:p>
            <a:pPr>
              <a:buNone/>
            </a:pPr>
            <a:r>
              <a:rPr lang="en-US" sz="2400" dirty="0"/>
              <a:t>     E-Reengineering refers to the use of information technology and the internet to radically redesign business processes for achieving significant improvements in performance, customer service, efficiency, and competitiveness. It is the digital version of Business Process Reengineering (BPR), where technology is the core enabler of transformation.</a:t>
            </a:r>
          </a:p>
          <a:p>
            <a:pPr>
              <a:buNone/>
            </a:pPr>
            <a:r>
              <a:rPr lang="en-US" sz="2400" b="1" dirty="0"/>
              <a:t>	</a:t>
            </a:r>
            <a:r>
              <a:rPr lang="en-US" sz="2400" b="1" dirty="0">
                <a:solidFill>
                  <a:srgbClr val="FF0000"/>
                </a:solidFill>
              </a:rPr>
              <a:t>Example – SBI YONO App (E-Reengineering)</a:t>
            </a:r>
          </a:p>
          <a:p>
            <a:pPr>
              <a:buNone/>
            </a:pPr>
            <a:r>
              <a:rPr lang="en-US" sz="2400" dirty="0"/>
              <a:t>	The </a:t>
            </a:r>
            <a:r>
              <a:rPr lang="en-US" sz="2400" b="1" dirty="0"/>
              <a:t>State Bank of India (SBI)</a:t>
            </a:r>
            <a:r>
              <a:rPr lang="en-US" sz="2400" dirty="0"/>
              <a:t> transformed traditional banking through its </a:t>
            </a:r>
            <a:r>
              <a:rPr lang="en-US" sz="2400" b="1" dirty="0"/>
              <a:t>YONO (You Only Need One)</a:t>
            </a:r>
            <a:r>
              <a:rPr lang="en-US" sz="2400" dirty="0"/>
              <a:t> digital platform.</a:t>
            </a:r>
          </a:p>
          <a:p>
            <a:pPr>
              <a:buNone/>
            </a:pPr>
            <a:r>
              <a:rPr lang="en-US" sz="2400" dirty="0"/>
              <a:t>	Services like </a:t>
            </a:r>
            <a:r>
              <a:rPr lang="en-US" sz="2400" b="1" dirty="0"/>
              <a:t>account opening, loans, investments, shopping, and insurance</a:t>
            </a:r>
            <a:r>
              <a:rPr lang="en-US" sz="2400" dirty="0"/>
              <a:t> are now available in one app.</a:t>
            </a:r>
          </a:p>
          <a:p>
            <a:pPr>
              <a:buNone/>
            </a:pPr>
            <a:r>
              <a:rPr lang="en-US" sz="2400" dirty="0"/>
              <a:t>	This replaced multiple in-branch visits with a </a:t>
            </a:r>
            <a:r>
              <a:rPr lang="en-US" sz="2400" b="1" dirty="0"/>
              <a:t>single, seamless digital experience</a:t>
            </a:r>
            <a:r>
              <a:rPr lang="en-US" sz="2400" dirty="0"/>
              <a:t>.</a:t>
            </a:r>
          </a:p>
          <a:p>
            <a:pPr>
              <a:buNone/>
            </a:pPr>
            <a:r>
              <a:rPr lang="en-US" sz="2400" dirty="0"/>
              <a:t>	 </a:t>
            </a:r>
            <a:r>
              <a:rPr lang="en-US" sz="2400" b="1" dirty="0"/>
              <a:t>Result:</a:t>
            </a:r>
            <a:br>
              <a:rPr lang="en-US" sz="2400" dirty="0"/>
            </a:br>
            <a:r>
              <a:rPr lang="en-US" sz="2400" dirty="0"/>
              <a:t>Faster service, reduced costs, improved customer satisfaction, and increased digital adoption.</a:t>
            </a:r>
          </a:p>
          <a:p>
            <a:pPr>
              <a:buNone/>
            </a:pPr>
            <a:endParaRPr lang="en-US" sz="2400" dirty="0"/>
          </a:p>
          <a:p>
            <a:pPr>
              <a:buNone/>
            </a:pP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3200" b="1" dirty="0">
                <a:solidFill>
                  <a:srgbClr val="C00000"/>
                </a:solidFill>
              </a:rPr>
              <a:t>Linking Performance and Pay to Strategies</a:t>
            </a:r>
          </a:p>
        </p:txBody>
      </p:sp>
      <p:sp>
        <p:nvSpPr>
          <p:cNvPr id="3" name="Content Placeholder 2"/>
          <p:cNvSpPr>
            <a:spLocks noGrp="1"/>
          </p:cNvSpPr>
          <p:nvPr>
            <p:ph idx="1"/>
          </p:nvPr>
        </p:nvSpPr>
        <p:spPr>
          <a:xfrm>
            <a:off x="1981200" y="1219200"/>
            <a:ext cx="8229600" cy="5181600"/>
          </a:xfrm>
        </p:spPr>
        <p:txBody>
          <a:bodyPr>
            <a:normAutofit/>
          </a:bodyPr>
          <a:lstStyle/>
          <a:p>
            <a:pPr>
              <a:buNone/>
            </a:pPr>
            <a:r>
              <a:rPr lang="en-US" sz="2400" b="1" dirty="0"/>
              <a:t>     Linking performance and pay to strategies</a:t>
            </a:r>
            <a:r>
              <a:rPr lang="en-US" sz="2400" dirty="0"/>
              <a:t> means aligning employee goals, actions, and rewards directly with the </a:t>
            </a:r>
            <a:r>
              <a:rPr lang="en-US" sz="2400" b="1" dirty="0"/>
              <a:t>organization’s strategic objectives</a:t>
            </a:r>
            <a:r>
              <a:rPr lang="en-US" sz="2400" dirty="0"/>
              <a:t>. It ensures that every individual's efforts contribute to achieving key business outcomes, such as growth, innovation, customer satisfaction, or cost efficiency.</a:t>
            </a:r>
          </a:p>
          <a:p>
            <a:pPr>
              <a:buNone/>
            </a:pPr>
            <a:r>
              <a:rPr lang="en-US" sz="2400" b="1" dirty="0"/>
              <a:t>	</a:t>
            </a:r>
            <a:r>
              <a:rPr lang="en-US" sz="2400" b="1" dirty="0">
                <a:solidFill>
                  <a:srgbClr val="FF0000"/>
                </a:solidFill>
              </a:rPr>
              <a:t>Example – Infosys</a:t>
            </a:r>
          </a:p>
          <a:p>
            <a:pPr>
              <a:buNone/>
            </a:pPr>
            <a:r>
              <a:rPr lang="en-US" sz="2400" dirty="0"/>
              <a:t>	Infosys aligns its employees’ variable pay and stock options with key strategic outcomes like </a:t>
            </a:r>
            <a:r>
              <a:rPr lang="en-US" sz="2400" b="1" dirty="0"/>
              <a:t>digital revenue growth, innovation, and client satisfaction</a:t>
            </a:r>
            <a:r>
              <a:rPr lang="en-US" sz="2400" dirty="0"/>
              <a:t>. Employees working on high-impact projects are rewarded with performance bonuses, ESOPs, and fast-track career growth, thus motivating them to contribute to long-term strategic goals.</a:t>
            </a:r>
          </a:p>
          <a:p>
            <a:pPr>
              <a:buNone/>
            </a:pP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b="1" dirty="0">
                <a:solidFill>
                  <a:srgbClr val="C00000"/>
                </a:solidFill>
              </a:rPr>
              <a:t>Managing Resistance to Change</a:t>
            </a:r>
          </a:p>
        </p:txBody>
      </p:sp>
      <p:sp>
        <p:nvSpPr>
          <p:cNvPr id="3" name="Content Placeholder 2"/>
          <p:cNvSpPr>
            <a:spLocks noGrp="1"/>
          </p:cNvSpPr>
          <p:nvPr>
            <p:ph idx="1"/>
          </p:nvPr>
        </p:nvSpPr>
        <p:spPr>
          <a:xfrm>
            <a:off x="1981200" y="1066800"/>
            <a:ext cx="8229600" cy="5334000"/>
          </a:xfrm>
        </p:spPr>
        <p:txBody>
          <a:bodyPr>
            <a:normAutofit fontScale="92500"/>
          </a:bodyPr>
          <a:lstStyle/>
          <a:p>
            <a:pPr>
              <a:buNone/>
            </a:pPr>
            <a:r>
              <a:rPr lang="en-US" sz="2400" b="1" dirty="0"/>
              <a:t>	Resistance to change</a:t>
            </a:r>
            <a:r>
              <a:rPr lang="en-US" sz="2400" dirty="0"/>
              <a:t> refers to the </a:t>
            </a:r>
            <a:r>
              <a:rPr lang="en-US" sz="2400" b="1" dirty="0"/>
              <a:t>opposition or pushback</a:t>
            </a:r>
            <a:r>
              <a:rPr lang="en-US" sz="2400" dirty="0"/>
              <a:t> by individuals or groups when an organization introduces new strategies, processes, technologies, or structures. It is a </a:t>
            </a:r>
            <a:r>
              <a:rPr lang="en-US" sz="2400" b="1" dirty="0"/>
              <a:t>natural reaction</a:t>
            </a:r>
            <a:r>
              <a:rPr lang="en-US" sz="2400" dirty="0"/>
              <a:t> to uncertainty, fear of loss, or discomfort with new ways of working.</a:t>
            </a:r>
          </a:p>
          <a:p>
            <a:pPr>
              <a:buNone/>
            </a:pPr>
            <a:r>
              <a:rPr lang="en-US" sz="2400" b="1" dirty="0"/>
              <a:t>Common Reasons for Resistance:</a:t>
            </a:r>
          </a:p>
          <a:p>
            <a:pPr>
              <a:buFont typeface="Wingdings" pitchFamily="2" charset="2"/>
              <a:buChar char="Ø"/>
            </a:pPr>
            <a:r>
              <a:rPr lang="en-US" sz="2400" b="1" dirty="0"/>
              <a:t>Fear of the unknown</a:t>
            </a:r>
            <a:r>
              <a:rPr lang="en-US" sz="2400" dirty="0"/>
              <a:t> – Worry about what the change might bring.</a:t>
            </a:r>
          </a:p>
          <a:p>
            <a:pPr>
              <a:buFont typeface="Wingdings" pitchFamily="2" charset="2"/>
              <a:buChar char="Ø"/>
            </a:pPr>
            <a:r>
              <a:rPr lang="en-US" sz="2400" b="1" dirty="0"/>
              <a:t>Loss of control or status</a:t>
            </a:r>
            <a:r>
              <a:rPr lang="en-US" sz="2400" dirty="0"/>
              <a:t> – Fear of reduced influence or job security.</a:t>
            </a:r>
          </a:p>
          <a:p>
            <a:pPr>
              <a:buFont typeface="Wingdings" pitchFamily="2" charset="2"/>
              <a:buChar char="Ø"/>
            </a:pPr>
            <a:r>
              <a:rPr lang="en-US" sz="2400" b="1" dirty="0"/>
              <a:t>Lack of trust in leadership</a:t>
            </a:r>
            <a:r>
              <a:rPr lang="en-US" sz="2400" dirty="0"/>
              <a:t> – Doubts about the change process or management intent.</a:t>
            </a:r>
          </a:p>
          <a:p>
            <a:pPr>
              <a:buFont typeface="Wingdings" pitchFamily="2" charset="2"/>
              <a:buChar char="Ø"/>
            </a:pPr>
            <a:r>
              <a:rPr lang="en-US" sz="2400" b="1" dirty="0"/>
              <a:t>Poor communication</a:t>
            </a:r>
            <a:r>
              <a:rPr lang="en-US" sz="2400" dirty="0"/>
              <a:t> – Unclear or insufficient information about the change.</a:t>
            </a:r>
          </a:p>
          <a:p>
            <a:pPr>
              <a:buFont typeface="Wingdings" pitchFamily="2" charset="2"/>
              <a:buChar char="Ø"/>
            </a:pPr>
            <a:r>
              <a:rPr lang="en-US" sz="2400" b="1" dirty="0"/>
              <a:t>Comfort with current systems</a:t>
            </a:r>
            <a:r>
              <a:rPr lang="en-US" sz="2400" dirty="0"/>
              <a:t> – Preference for familiar routines.</a:t>
            </a:r>
          </a:p>
          <a:p>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14401"/>
            <a:ext cx="8229600" cy="5211763"/>
          </a:xfrm>
        </p:spPr>
        <p:txBody>
          <a:bodyPr>
            <a:normAutofit/>
          </a:bodyPr>
          <a:lstStyle/>
          <a:p>
            <a:pPr>
              <a:buNone/>
            </a:pPr>
            <a:r>
              <a:rPr lang="en-US" sz="2400" b="1" dirty="0">
                <a:solidFill>
                  <a:srgbClr val="FF0000"/>
                </a:solidFill>
              </a:rPr>
              <a:t>Example – Infosys’ Digital Transformation</a:t>
            </a:r>
          </a:p>
          <a:p>
            <a:pPr>
              <a:buNone/>
            </a:pPr>
            <a:r>
              <a:rPr lang="en-US" sz="2400" dirty="0"/>
              <a:t>	</a:t>
            </a:r>
          </a:p>
          <a:p>
            <a:pPr>
              <a:buNone/>
            </a:pPr>
            <a:r>
              <a:rPr lang="en-US" sz="2200" dirty="0"/>
              <a:t>	When </a:t>
            </a:r>
            <a:r>
              <a:rPr lang="en-US" sz="2200" b="1" dirty="0"/>
              <a:t>Infosys</a:t>
            </a:r>
            <a:r>
              <a:rPr lang="en-US" sz="2200" dirty="0"/>
              <a:t> shifted focus from traditional IT services to digital innovation, some employees resisted due to skill gaps and uncertainty.</a:t>
            </a:r>
          </a:p>
          <a:p>
            <a:pPr>
              <a:buNone/>
            </a:pPr>
            <a:r>
              <a:rPr lang="en-US" sz="2200" dirty="0"/>
              <a:t>	Infosys managed this by </a:t>
            </a:r>
            <a:r>
              <a:rPr lang="en-US" sz="2200" b="1" dirty="0"/>
              <a:t>investing heavily in employee </a:t>
            </a:r>
            <a:r>
              <a:rPr lang="en-US" sz="2200" b="1" dirty="0" err="1"/>
              <a:t>reskilling</a:t>
            </a:r>
            <a:r>
              <a:rPr lang="en-US" sz="2200" dirty="0"/>
              <a:t>, launching </a:t>
            </a:r>
            <a:r>
              <a:rPr lang="en-US" sz="2200" b="1" dirty="0"/>
              <a:t>internal communication campaigns</a:t>
            </a:r>
            <a:r>
              <a:rPr lang="en-US" sz="2200" dirty="0"/>
              <a:t>, and offering </a:t>
            </a:r>
            <a:r>
              <a:rPr lang="en-US" sz="2200" b="1" dirty="0"/>
              <a:t>growth opportunities</a:t>
            </a:r>
            <a:r>
              <a:rPr lang="en-US" sz="2200" dirty="0"/>
              <a:t> in new roles.</a:t>
            </a:r>
          </a:p>
          <a:p>
            <a:pPr>
              <a:buNone/>
            </a:pPr>
            <a:r>
              <a:rPr lang="en-US" sz="2200" dirty="0"/>
              <a:t>	This helped reduce fear, build confidence, and gain employee buy-in for the transformation.</a:t>
            </a:r>
          </a:p>
          <a:p>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C00000"/>
                </a:solidFill>
              </a:rPr>
              <a:t>Creating a Strategy-Supportive Culture</a:t>
            </a:r>
          </a:p>
        </p:txBody>
      </p:sp>
      <p:sp>
        <p:nvSpPr>
          <p:cNvPr id="3" name="Content Placeholder 2"/>
          <p:cNvSpPr>
            <a:spLocks noGrp="1"/>
          </p:cNvSpPr>
          <p:nvPr>
            <p:ph idx="1"/>
          </p:nvPr>
        </p:nvSpPr>
        <p:spPr>
          <a:xfrm>
            <a:off x="1981200" y="1295400"/>
            <a:ext cx="8229600" cy="5257800"/>
          </a:xfrm>
        </p:spPr>
        <p:txBody>
          <a:bodyPr>
            <a:normAutofit fontScale="85000" lnSpcReduction="20000"/>
          </a:bodyPr>
          <a:lstStyle/>
          <a:p>
            <a:pPr>
              <a:buNone/>
            </a:pPr>
            <a:r>
              <a:rPr lang="en-US" dirty="0"/>
              <a:t>	A strategy-supportive culture is an organizational environment where values, beliefs, behaviors, and norms are aligned with the company’s strategic goals. It ensures that all employees work in a way that actively supports strategy implementation.</a:t>
            </a:r>
          </a:p>
          <a:p>
            <a:pPr>
              <a:buNone/>
            </a:pPr>
            <a:endParaRPr lang="en-US" b="1" dirty="0"/>
          </a:p>
          <a:p>
            <a:pPr>
              <a:buNone/>
            </a:pPr>
            <a:r>
              <a:rPr lang="en-US" b="1" dirty="0"/>
              <a:t>Steps to Build a Strategy-Supportive Culture:</a:t>
            </a:r>
          </a:p>
          <a:p>
            <a:pPr>
              <a:buFont typeface="Wingdings" pitchFamily="2" charset="2"/>
              <a:buChar char="Ø"/>
            </a:pPr>
            <a:r>
              <a:rPr lang="en-US" b="1" dirty="0"/>
              <a:t>Leadership Role Modeling:</a:t>
            </a:r>
            <a:r>
              <a:rPr lang="en-US" dirty="0"/>
              <a:t> Leaders should demonstrate behavior aligned with strategic goals.</a:t>
            </a:r>
          </a:p>
          <a:p>
            <a:pPr>
              <a:buFont typeface="Wingdings" pitchFamily="2" charset="2"/>
              <a:buChar char="Ø"/>
            </a:pPr>
            <a:r>
              <a:rPr lang="en-US" b="1" dirty="0"/>
              <a:t>Recruitment &amp; Training:</a:t>
            </a:r>
            <a:r>
              <a:rPr lang="en-US" dirty="0"/>
              <a:t> Hire and train employees who fit the desired culture.</a:t>
            </a:r>
          </a:p>
          <a:p>
            <a:pPr>
              <a:buFont typeface="Wingdings" pitchFamily="2" charset="2"/>
              <a:buChar char="Ø"/>
            </a:pPr>
            <a:r>
              <a:rPr lang="en-US" b="1" dirty="0"/>
              <a:t>Rewards &amp; Recognition:</a:t>
            </a:r>
            <a:r>
              <a:rPr lang="en-US" dirty="0"/>
              <a:t> Incentivize behaviors that support the strategy.</a:t>
            </a:r>
          </a:p>
          <a:p>
            <a:pPr>
              <a:buFont typeface="Wingdings" pitchFamily="2" charset="2"/>
              <a:buChar char="Ø"/>
            </a:pPr>
            <a:r>
              <a:rPr lang="en-US" b="1" dirty="0"/>
              <a:t>Communication:</a:t>
            </a:r>
            <a:r>
              <a:rPr lang="en-US" dirty="0"/>
              <a:t> Consistently reinforce strategic objectives in all communications.</a:t>
            </a:r>
          </a:p>
          <a:p>
            <a:pPr>
              <a:buFont typeface="Wingdings" pitchFamily="2" charset="2"/>
              <a:buChar char="Ø"/>
            </a:pPr>
            <a:r>
              <a:rPr lang="en-US" b="1" dirty="0"/>
              <a:t>Values Integration:</a:t>
            </a:r>
            <a:r>
              <a:rPr lang="en-US" dirty="0"/>
              <a:t> Embed strategic values into daily work and performance appraisals.</a:t>
            </a:r>
          </a:p>
          <a:p>
            <a:pPr>
              <a:buNone/>
            </a:pPr>
            <a:endParaRPr lang="en-US"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44562"/>
          </a:xfrm>
        </p:spPr>
        <p:txBody>
          <a:bodyPr>
            <a:noAutofit/>
          </a:bodyPr>
          <a:lstStyle/>
          <a:p>
            <a:r>
              <a:rPr lang="en-US" sz="2800" b="1" dirty="0">
                <a:solidFill>
                  <a:srgbClr val="C00000"/>
                </a:solidFill>
              </a:rPr>
              <a:t>Production/Operations Concerns in Implementing Strategies</a:t>
            </a:r>
          </a:p>
        </p:txBody>
      </p:sp>
      <p:sp>
        <p:nvSpPr>
          <p:cNvPr id="3" name="Content Placeholder 2"/>
          <p:cNvSpPr>
            <a:spLocks noGrp="1"/>
          </p:cNvSpPr>
          <p:nvPr>
            <p:ph idx="1"/>
          </p:nvPr>
        </p:nvSpPr>
        <p:spPr>
          <a:xfrm>
            <a:off x="1981200" y="1219200"/>
            <a:ext cx="8229600" cy="5410200"/>
          </a:xfrm>
        </p:spPr>
        <p:txBody>
          <a:bodyPr>
            <a:normAutofit fontScale="62500" lnSpcReduction="20000"/>
          </a:bodyPr>
          <a:lstStyle/>
          <a:p>
            <a:pPr>
              <a:buNone/>
            </a:pPr>
            <a:r>
              <a:rPr lang="en-US" sz="2400" dirty="0"/>
              <a:t>	</a:t>
            </a:r>
          </a:p>
          <a:p>
            <a:pPr>
              <a:buNone/>
            </a:pPr>
            <a:r>
              <a:rPr lang="en-US" sz="2400" dirty="0"/>
              <a:t>	</a:t>
            </a:r>
            <a:r>
              <a:rPr lang="en-US" sz="3500" dirty="0"/>
              <a:t>The </a:t>
            </a:r>
            <a:r>
              <a:rPr lang="en-US" sz="3500" b="1" dirty="0"/>
              <a:t>production/operations function</a:t>
            </a:r>
            <a:r>
              <a:rPr lang="en-US" sz="3500" dirty="0"/>
              <a:t> plays a critical role in successfully implementing strategies, especially in manufacturing or service-oriented organizations</a:t>
            </a:r>
            <a:r>
              <a:rPr lang="en-US" sz="3100" dirty="0"/>
              <a:t>.</a:t>
            </a:r>
          </a:p>
          <a:p>
            <a:pPr>
              <a:buNone/>
            </a:pPr>
            <a:endParaRPr lang="en-US" b="1" dirty="0"/>
          </a:p>
          <a:p>
            <a:pPr>
              <a:buNone/>
            </a:pPr>
            <a:r>
              <a:rPr lang="en-US" b="1" dirty="0"/>
              <a:t>Key Concerns:</a:t>
            </a:r>
          </a:p>
          <a:p>
            <a:pPr>
              <a:buFont typeface="Wingdings" pitchFamily="2" charset="2"/>
              <a:buChar char="ü"/>
            </a:pPr>
            <a:r>
              <a:rPr lang="en-US" sz="3100" b="1" dirty="0"/>
              <a:t>Capacity Planning:</a:t>
            </a:r>
            <a:endParaRPr lang="en-US" sz="3100" dirty="0"/>
          </a:p>
          <a:p>
            <a:pPr lvl="1">
              <a:buNone/>
            </a:pPr>
            <a:r>
              <a:rPr lang="en-US" sz="3100" dirty="0"/>
              <a:t>Aligning production capacity with strategic demand forecasts.</a:t>
            </a:r>
          </a:p>
          <a:p>
            <a:pPr>
              <a:buFont typeface="Wingdings" pitchFamily="2" charset="2"/>
              <a:buChar char="ü"/>
            </a:pPr>
            <a:r>
              <a:rPr lang="en-US" sz="3100" b="1" dirty="0"/>
              <a:t>Quality Management:</a:t>
            </a:r>
            <a:endParaRPr lang="en-US" sz="3100" dirty="0"/>
          </a:p>
          <a:p>
            <a:pPr lvl="1">
              <a:buNone/>
            </a:pPr>
            <a:r>
              <a:rPr lang="en-US" sz="3100" dirty="0"/>
              <a:t>Ensuring product/service quality supports brand and customer expectations.</a:t>
            </a:r>
          </a:p>
          <a:p>
            <a:pPr>
              <a:buFont typeface="Wingdings" pitchFamily="2" charset="2"/>
              <a:buChar char="ü"/>
            </a:pPr>
            <a:r>
              <a:rPr lang="en-US" sz="3100" b="1" dirty="0"/>
              <a:t>Process Efficiency:</a:t>
            </a:r>
            <a:endParaRPr lang="en-US" sz="3100" dirty="0"/>
          </a:p>
          <a:p>
            <a:pPr lvl="1">
              <a:buNone/>
            </a:pPr>
            <a:r>
              <a:rPr lang="en-US" sz="3100" dirty="0"/>
              <a:t>Redesigning workflows for cost control, faster delivery, and flexibility.</a:t>
            </a:r>
          </a:p>
          <a:p>
            <a:pPr>
              <a:buFont typeface="Wingdings" pitchFamily="2" charset="2"/>
              <a:buChar char="ü"/>
            </a:pPr>
            <a:r>
              <a:rPr lang="en-US" sz="3100" b="1" dirty="0"/>
              <a:t>Technology Adoption:</a:t>
            </a:r>
            <a:endParaRPr lang="en-US" sz="3100" dirty="0"/>
          </a:p>
          <a:p>
            <a:pPr lvl="1">
              <a:buNone/>
            </a:pPr>
            <a:r>
              <a:rPr lang="en-US" sz="3100" dirty="0"/>
              <a:t>Upgrading machinery or systems to support new products or volumes.</a:t>
            </a:r>
          </a:p>
          <a:p>
            <a:pPr>
              <a:buFont typeface="Wingdings" pitchFamily="2" charset="2"/>
              <a:buChar char="ü"/>
            </a:pPr>
            <a:r>
              <a:rPr lang="en-US" sz="3100" b="1" dirty="0"/>
              <a:t>Supply Chain Coordination:</a:t>
            </a:r>
            <a:endParaRPr lang="en-US" sz="3100" dirty="0"/>
          </a:p>
          <a:p>
            <a:pPr lvl="1">
              <a:buNone/>
            </a:pPr>
            <a:r>
              <a:rPr lang="en-US" sz="3100" dirty="0"/>
              <a:t>Ensuring raw materials and logistics support the strategic rollout.</a:t>
            </a:r>
          </a:p>
          <a:p>
            <a:pPr>
              <a:buFont typeface="Wingdings" pitchFamily="2" charset="2"/>
              <a:buChar char="ü"/>
            </a:pPr>
            <a:r>
              <a:rPr lang="en-US" sz="3100" b="1" dirty="0"/>
              <a:t>Workforce Planning:</a:t>
            </a:r>
            <a:endParaRPr lang="en-US" sz="3100" dirty="0"/>
          </a:p>
          <a:p>
            <a:pPr lvl="1">
              <a:buNone/>
            </a:pPr>
            <a:r>
              <a:rPr lang="en-US" sz="3100" dirty="0"/>
              <a:t>Having the right skill sets and staffing levels for new operations.</a:t>
            </a:r>
          </a:p>
          <a:p>
            <a:pPr>
              <a:buNone/>
            </a:pPr>
            <a:endParaRPr lang="en-US" sz="2400" dirty="0"/>
          </a:p>
          <a:p>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lstStyle/>
          <a:p>
            <a:pPr>
              <a:buNone/>
            </a:pPr>
            <a:r>
              <a:rPr lang="en-US" b="1" dirty="0">
                <a:solidFill>
                  <a:srgbClr val="FF0000"/>
                </a:solidFill>
              </a:rPr>
              <a:t>Example – </a:t>
            </a:r>
            <a:r>
              <a:rPr lang="en-US" b="1" dirty="0" err="1">
                <a:solidFill>
                  <a:srgbClr val="FF0000"/>
                </a:solidFill>
              </a:rPr>
              <a:t>Maruti</a:t>
            </a:r>
            <a:r>
              <a:rPr lang="en-US" b="1" dirty="0">
                <a:solidFill>
                  <a:srgbClr val="FF0000"/>
                </a:solidFill>
              </a:rPr>
              <a:t> Suzuki</a:t>
            </a:r>
          </a:p>
          <a:p>
            <a:pPr>
              <a:buNone/>
            </a:pPr>
            <a:r>
              <a:rPr lang="en-US" dirty="0"/>
              <a:t>	</a:t>
            </a:r>
            <a:r>
              <a:rPr lang="en-US" sz="2400" dirty="0"/>
              <a:t>When </a:t>
            </a:r>
            <a:r>
              <a:rPr lang="en-US" sz="2400" dirty="0" err="1"/>
              <a:t>Maruti</a:t>
            </a:r>
            <a:r>
              <a:rPr lang="en-US" sz="2400" dirty="0"/>
              <a:t> Suzuki expanded its product portfolio and exports, it faced operational challenges in scaling up production. It responded by investing in automation, building a robust supply chain, and training its workforce — aligning operations with its growth strategy.</a:t>
            </a:r>
          </a:p>
          <a:p>
            <a:pPr>
              <a:buNone/>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5801"/>
            <a:ext cx="8229600" cy="5440363"/>
          </a:xfrm>
        </p:spPr>
        <p:txBody>
          <a:bodyPr/>
          <a:lstStyle/>
          <a:p>
            <a:pPr>
              <a:buNone/>
            </a:pPr>
            <a:endParaRPr lang="en-US" dirty="0">
              <a:solidFill>
                <a:srgbClr val="00B0F0"/>
              </a:solidFill>
            </a:endParaRPr>
          </a:p>
          <a:p>
            <a:pPr>
              <a:buNone/>
            </a:pPr>
            <a:endParaRPr lang="en-US" dirty="0">
              <a:solidFill>
                <a:srgbClr val="00B0F0"/>
              </a:solidFill>
            </a:endParaRPr>
          </a:p>
          <a:p>
            <a:pPr>
              <a:buNone/>
            </a:pPr>
            <a:endParaRPr lang="en-US" dirty="0">
              <a:solidFill>
                <a:srgbClr val="00B0F0"/>
              </a:solidFill>
            </a:endParaRPr>
          </a:p>
          <a:p>
            <a:pPr algn="ctr">
              <a:buNone/>
            </a:pPr>
            <a:r>
              <a:rPr lang="en-US" sz="8000" dirty="0">
                <a:solidFill>
                  <a:srgbClr val="FF0000"/>
                </a:solidFill>
              </a:rPr>
              <a:t>Thank You..</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FB2F2-7A0E-D2D7-4371-8ACEA1AEF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6BB1F-ACBE-C571-CB2A-55553A2D376F}"/>
              </a:ext>
            </a:extLst>
          </p:cNvPr>
          <p:cNvSpPr>
            <a:spLocks noGrp="1"/>
          </p:cNvSpPr>
          <p:nvPr>
            <p:ph type="title"/>
          </p:nvPr>
        </p:nvSpPr>
        <p:spPr>
          <a:xfrm>
            <a:off x="785648" y="208101"/>
            <a:ext cx="8229600" cy="914400"/>
          </a:xfrm>
        </p:spPr>
        <p:txBody>
          <a:bodyPr>
            <a:noAutofit/>
          </a:bodyPr>
          <a:lstStyle/>
          <a:p>
            <a:r>
              <a:rPr lang="en-US" sz="1800" dirty="0"/>
              <a:t>Managing conflict during strategy implementation is crucial for maintaining momentum, team cohesion, and organizational success. Here are some effective strategies to navigate and resolve conflicts:</a:t>
            </a:r>
            <a:br>
              <a:rPr lang="en-US" sz="1800" dirty="0"/>
            </a:br>
            <a:endParaRPr lang="en-US" sz="1800" b="1" dirty="0"/>
          </a:p>
        </p:txBody>
      </p:sp>
      <p:pic>
        <p:nvPicPr>
          <p:cNvPr id="8" name="Picture 2" descr="D:\MBA Teaching Material\Marketing Management\MM\Images\vtu-logo.png">
            <a:extLst>
              <a:ext uri="{FF2B5EF4-FFF2-40B4-BE49-F238E27FC236}">
                <a16:creationId xmlns:a16="http://schemas.microsoft.com/office/drawing/2014/main" id="{89928142-1CFF-242E-C7C7-65BC5D00F6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24221" y="99538"/>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8BA8B3F8-A162-ABF5-C086-06A47CA7FF73}"/>
              </a:ext>
            </a:extLst>
          </p:cNvPr>
          <p:cNvSpPr>
            <a:spLocks noGrp="1"/>
          </p:cNvSpPr>
          <p:nvPr>
            <p:ph type="dt" sz="half" idx="10"/>
          </p:nvPr>
        </p:nvSpPr>
        <p:spPr/>
        <p:txBody>
          <a:bodyPr/>
          <a:lstStyle/>
          <a:p>
            <a:fld id="{A01FDED4-446A-41A4-90E8-D0068236E7F4}" type="datetime1">
              <a:rPr lang="en-US">
                <a:solidFill>
                  <a:prstClr val="black">
                    <a:lumMod val="65000"/>
                    <a:lumOff val="35000"/>
                  </a:prstClr>
                </a:solidFill>
              </a:rPr>
              <a:pPr/>
              <a:t>7/27/2026</a:t>
            </a:fld>
            <a:endParaRPr lang="en-US">
              <a:solidFill>
                <a:prstClr val="black">
                  <a:lumMod val="65000"/>
                  <a:lumOff val="35000"/>
                </a:prstClr>
              </a:solidFill>
            </a:endParaRPr>
          </a:p>
        </p:txBody>
      </p:sp>
      <p:sp>
        <p:nvSpPr>
          <p:cNvPr id="5" name="Footer Placeholder 4">
            <a:extLst>
              <a:ext uri="{FF2B5EF4-FFF2-40B4-BE49-F238E27FC236}">
                <a16:creationId xmlns:a16="http://schemas.microsoft.com/office/drawing/2014/main" id="{8E4508CB-B820-129E-075C-72521ACBE69F}"/>
              </a:ext>
            </a:extLst>
          </p:cNvPr>
          <p:cNvSpPr>
            <a:spLocks noGrp="1"/>
          </p:cNvSpPr>
          <p:nvPr>
            <p:ph type="ftr" sz="quarter" idx="11"/>
          </p:nvPr>
        </p:nvSpPr>
        <p:spPr/>
        <p:txBody>
          <a:bodyPr/>
          <a:lstStyle/>
          <a:p>
            <a:r>
              <a:rPr lang="en-US">
                <a:solidFill>
                  <a:prstClr val="black">
                    <a:lumMod val="65000"/>
                    <a:lumOff val="35000"/>
                  </a:prstClr>
                </a:solidFill>
              </a:rPr>
              <a:t>VTU PG Studies</a:t>
            </a:r>
          </a:p>
        </p:txBody>
      </p:sp>
      <p:sp>
        <p:nvSpPr>
          <p:cNvPr id="6" name="Slide Number Placeholder 5">
            <a:extLst>
              <a:ext uri="{FF2B5EF4-FFF2-40B4-BE49-F238E27FC236}">
                <a16:creationId xmlns:a16="http://schemas.microsoft.com/office/drawing/2014/main" id="{71ACFDED-4E14-72E3-61ED-71A7680F32F8}"/>
              </a:ext>
            </a:extLst>
          </p:cNvPr>
          <p:cNvSpPr>
            <a:spLocks noGrp="1"/>
          </p:cNvSpPr>
          <p:nvPr>
            <p:ph type="sldNum" sz="quarter" idx="12"/>
          </p:nvPr>
        </p:nvSpPr>
        <p:spPr/>
        <p:txBody>
          <a:bodyPr/>
          <a:lstStyle/>
          <a:p>
            <a:fld id="{E566A64D-537C-4258-BCDA-D6FBF77857E8}" type="slidenum">
              <a:rPr lang="en-US">
                <a:solidFill>
                  <a:prstClr val="black">
                    <a:lumMod val="65000"/>
                    <a:lumOff val="35000"/>
                  </a:prstClr>
                </a:solidFill>
              </a:rPr>
              <a:pPr/>
              <a:t>46</a:t>
            </a:fld>
            <a:endParaRPr lang="en-US">
              <a:solidFill>
                <a:prstClr val="black">
                  <a:lumMod val="65000"/>
                  <a:lumOff val="35000"/>
                </a:prstClr>
              </a:solidFill>
            </a:endParaRPr>
          </a:p>
        </p:txBody>
      </p:sp>
      <p:sp>
        <p:nvSpPr>
          <p:cNvPr id="7" name="TextBox 6">
            <a:extLst>
              <a:ext uri="{FF2B5EF4-FFF2-40B4-BE49-F238E27FC236}">
                <a16:creationId xmlns:a16="http://schemas.microsoft.com/office/drawing/2014/main" id="{38D213DD-1C22-CBDE-0F25-7E7FF1C126E9}"/>
              </a:ext>
            </a:extLst>
          </p:cNvPr>
          <p:cNvSpPr txBox="1"/>
          <p:nvPr/>
        </p:nvSpPr>
        <p:spPr>
          <a:xfrm>
            <a:off x="160259" y="1028343"/>
            <a:ext cx="10202261" cy="4801314"/>
          </a:xfrm>
          <a:prstGeom prst="rect">
            <a:avLst/>
          </a:prstGeom>
          <a:noFill/>
        </p:spPr>
        <p:txBody>
          <a:bodyPr wrap="square">
            <a:spAutoFit/>
          </a:bodyPr>
          <a:lstStyle/>
          <a:p>
            <a:pPr>
              <a:buNone/>
            </a:pPr>
            <a:r>
              <a:rPr lang="en-US" b="1" dirty="0"/>
              <a:t>Strategic Conflict Management Techniques</a:t>
            </a:r>
          </a:p>
          <a:p>
            <a:pPr>
              <a:buFont typeface="Arial" panose="020B0604020202020204" pitchFamily="34" charset="0"/>
              <a:buChar char="•"/>
            </a:pPr>
            <a:r>
              <a:rPr lang="en-US" b="1" dirty="0">
                <a:highlight>
                  <a:srgbClr val="FFFF00"/>
                </a:highlight>
              </a:rPr>
              <a:t>Open Communication Channels</a:t>
            </a:r>
            <a:r>
              <a:rPr lang="en-US" dirty="0">
                <a:highlight>
                  <a:srgbClr val="FFFF00"/>
                </a:highlight>
              </a:rPr>
              <a:t> </a:t>
            </a:r>
            <a:r>
              <a:rPr lang="en-US" dirty="0"/>
              <a:t>Encourage transparency and dialogue across all levels. Regular check-ins, anonymous feedback tools, and active listening workshops help surface issues early.</a:t>
            </a:r>
          </a:p>
          <a:p>
            <a:pPr>
              <a:buFont typeface="Arial" panose="020B0604020202020204" pitchFamily="34" charset="0"/>
              <a:buChar char="•"/>
            </a:pPr>
            <a:r>
              <a:rPr lang="en-US" b="1" dirty="0">
                <a:effectLst/>
                <a:highlight>
                  <a:srgbClr val="FFFF00"/>
                </a:highlight>
              </a:rPr>
              <a:t>Establish Clear Objectives &amp; Roles</a:t>
            </a:r>
            <a:r>
              <a:rPr lang="en-US" dirty="0">
                <a:effectLst/>
                <a:highlight>
                  <a:srgbClr val="FFFF00"/>
                </a:highlight>
              </a:rPr>
              <a:t> </a:t>
            </a:r>
            <a:r>
              <a:rPr lang="en-US" dirty="0">
                <a:effectLst/>
              </a:rPr>
              <a:t>Clearly defined goals and responsibilities reduce ambiguity and prevent turf wars. Using SMART goals ensures alignment and accountability.</a:t>
            </a:r>
          </a:p>
          <a:p>
            <a:pPr>
              <a:buFont typeface="Arial" panose="020B0604020202020204" pitchFamily="34" charset="0"/>
              <a:buChar char="•"/>
            </a:pPr>
            <a:r>
              <a:rPr lang="en-US" b="1" dirty="0">
                <a:effectLst/>
                <a:highlight>
                  <a:srgbClr val="FFFF00"/>
                </a:highlight>
              </a:rPr>
              <a:t>Facilitate Collaboration Over Competition</a:t>
            </a:r>
            <a:r>
              <a:rPr lang="en-US" dirty="0">
                <a:effectLst/>
                <a:highlight>
                  <a:srgbClr val="FFFF00"/>
                </a:highlight>
              </a:rPr>
              <a:t> </a:t>
            </a:r>
            <a:r>
              <a:rPr lang="en-US" dirty="0">
                <a:effectLst/>
              </a:rPr>
              <a:t>Promote a culture where differing opinions are seen as opportunities for innovation rather than threats. Collaborative problem-solving leads to more robust solutions.</a:t>
            </a:r>
          </a:p>
          <a:p>
            <a:pPr>
              <a:buFont typeface="Arial" panose="020B0604020202020204" pitchFamily="34" charset="0"/>
              <a:buChar char="•"/>
            </a:pPr>
            <a:r>
              <a:rPr lang="en-US" b="1" dirty="0">
                <a:effectLst/>
                <a:highlight>
                  <a:srgbClr val="FFFF00"/>
                </a:highlight>
              </a:rPr>
              <a:t>Use Mediation &amp; Neutral Facilitation</a:t>
            </a:r>
            <a:r>
              <a:rPr lang="en-US" dirty="0">
                <a:effectLst/>
                <a:highlight>
                  <a:srgbClr val="FFFF00"/>
                </a:highlight>
              </a:rPr>
              <a:t> </a:t>
            </a:r>
            <a:r>
              <a:rPr lang="en-US" dirty="0">
                <a:effectLst/>
              </a:rPr>
              <a:t>Bring in a neutral third party to guide discussions when conflicts escalate. This helps maintain objectivity and fairness.</a:t>
            </a:r>
          </a:p>
          <a:p>
            <a:pPr>
              <a:buFont typeface="Arial" panose="020B0604020202020204" pitchFamily="34" charset="0"/>
              <a:buChar char="•"/>
            </a:pPr>
            <a:r>
              <a:rPr lang="en-US" b="1" dirty="0">
                <a:effectLst/>
                <a:highlight>
                  <a:srgbClr val="FFFF00"/>
                </a:highlight>
              </a:rPr>
              <a:t>Focus on Solutions, Not Blame</a:t>
            </a:r>
            <a:r>
              <a:rPr lang="en-US" dirty="0">
                <a:effectLst/>
                <a:highlight>
                  <a:srgbClr val="FFFF00"/>
                </a:highlight>
              </a:rPr>
              <a:t> </a:t>
            </a:r>
            <a:r>
              <a:rPr lang="en-US" dirty="0">
                <a:effectLst/>
              </a:rPr>
              <a:t>Shift the narrative from “who’s at fault” to “how do we fix this.” This mindset fosters psychological safety and constructive dialogue.</a:t>
            </a:r>
          </a:p>
          <a:p>
            <a:pPr>
              <a:buFont typeface="Arial" panose="020B0604020202020204" pitchFamily="34" charset="0"/>
              <a:buChar char="•"/>
            </a:pPr>
            <a:r>
              <a:rPr lang="en-US" b="1" dirty="0">
                <a:effectLst/>
                <a:highlight>
                  <a:srgbClr val="FFFF00"/>
                </a:highlight>
              </a:rPr>
              <a:t>Encourage Empathy &amp; Perspective-Taking</a:t>
            </a:r>
            <a:r>
              <a:rPr lang="en-US" dirty="0">
                <a:effectLst/>
                <a:highlight>
                  <a:srgbClr val="FFFF00"/>
                </a:highlight>
              </a:rPr>
              <a:t> </a:t>
            </a:r>
            <a:r>
              <a:rPr lang="en-US" dirty="0">
                <a:effectLst/>
              </a:rPr>
              <a:t>Help team members understand each other’s viewpoints. Empathy reduces defensiveness and builds trust.</a:t>
            </a:r>
          </a:p>
          <a:p>
            <a:pPr>
              <a:buFont typeface="Arial" panose="020B0604020202020204" pitchFamily="34" charset="0"/>
              <a:buChar char="•"/>
            </a:pPr>
            <a:r>
              <a:rPr lang="en-US" b="1" dirty="0">
                <a:effectLst/>
                <a:highlight>
                  <a:srgbClr val="FFFF00"/>
                </a:highlight>
              </a:rPr>
              <a:t>Implement Conflict Resolution Frameworks</a:t>
            </a:r>
            <a:r>
              <a:rPr lang="en-US" dirty="0">
                <a:effectLst/>
                <a:highlight>
                  <a:srgbClr val="FFFF00"/>
                </a:highlight>
              </a:rPr>
              <a:t> </a:t>
            </a:r>
            <a:r>
              <a:rPr lang="en-US" dirty="0">
                <a:effectLst/>
              </a:rPr>
              <a:t>Use models like the Thomas-Kilmann Conflict Mode Instrument to identify whether to avoid, accommodate, compromise, compete, or collaborate depending on the situation</a:t>
            </a:r>
          </a:p>
        </p:txBody>
      </p:sp>
    </p:spTree>
    <p:extLst>
      <p:ext uri="{BB962C8B-B14F-4D97-AF65-F5344CB8AC3E}">
        <p14:creationId xmlns:p14="http://schemas.microsoft.com/office/powerpoint/2010/main" val="223376727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1992</TotalTime>
  <Words>3188</Words>
  <Application>Microsoft Office PowerPoint</Application>
  <PresentationFormat>Widescreen</PresentationFormat>
  <Paragraphs>314</Paragraphs>
  <Slides>46</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46</vt:i4>
      </vt:variant>
    </vt:vector>
  </HeadingPairs>
  <TitlesOfParts>
    <vt:vector size="56" baseType="lpstr">
      <vt:lpstr>Arial</vt:lpstr>
      <vt:lpstr>Calibri</vt:lpstr>
      <vt:lpstr>Calibri Light</vt:lpstr>
      <vt:lpstr>Century Gothic</vt:lpstr>
      <vt:lpstr>Courier New</vt:lpstr>
      <vt:lpstr>Palatino Linotype</vt:lpstr>
      <vt:lpstr>Times New Roman</vt:lpstr>
      <vt:lpstr>Wingdings</vt:lpstr>
      <vt:lpstr>Office Theme</vt:lpstr>
      <vt:lpstr>Executive</vt:lpstr>
      <vt:lpstr>STRATEGY IMPLEMENTATION</vt:lpstr>
      <vt:lpstr>COURSE OUTLINE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Nature of strategy implementation</vt:lpstr>
      <vt:lpstr>PowerPoint Presentation</vt:lpstr>
      <vt:lpstr>PowerPoint Presentation</vt:lpstr>
      <vt:lpstr>Issues in strategy implementation</vt:lpstr>
      <vt:lpstr>PowerPoint Presentation</vt:lpstr>
      <vt:lpstr>PowerPoint Presentation</vt:lpstr>
      <vt:lpstr>Model of Strategic Implementation</vt:lpstr>
      <vt:lpstr>PowerPoint Presentation</vt:lpstr>
      <vt:lpstr>PowerPoint Presentation</vt:lpstr>
      <vt:lpstr>Resource  allocation</vt:lpstr>
      <vt:lpstr>Managing Conflicts</vt:lpstr>
      <vt:lpstr>Approaches to Managing Conflict:</vt:lpstr>
      <vt:lpstr>PowerPoint Presentation</vt:lpstr>
      <vt:lpstr>Restructuring</vt:lpstr>
      <vt:lpstr>PowerPoint Presentation</vt:lpstr>
      <vt:lpstr>PowerPoint Presentation</vt:lpstr>
      <vt:lpstr>Reengineering</vt:lpstr>
      <vt:lpstr>E-Reengineering</vt:lpstr>
      <vt:lpstr>Linking Performance and Pay to Strategies</vt:lpstr>
      <vt:lpstr>Managing Resistance to Change</vt:lpstr>
      <vt:lpstr>PowerPoint Presentation</vt:lpstr>
      <vt:lpstr>Creating a Strategy-Supportive Culture</vt:lpstr>
      <vt:lpstr>Production/Operations Concerns in Implementing Strategies</vt:lpstr>
      <vt:lpstr>PowerPoint Presentation</vt:lpstr>
      <vt:lpstr>PowerPoint Presentation</vt:lpstr>
      <vt:lpstr>Managing conflict during strategy implementation is crucial for maintaining momentum, team cohesion, and organizational success. Here are some effective strategies to navigate and resolve conflicts: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Umesh Bhushi</dc:creator>
  <cp:lastModifiedBy>Kushi Shetty</cp:lastModifiedBy>
  <cp:revision>9</cp:revision>
  <dcterms:created xsi:type="dcterms:W3CDTF">2025-07-15T05:27:29Z</dcterms:created>
  <dcterms:modified xsi:type="dcterms:W3CDTF">2026-07-27T13:43:27Z</dcterms:modified>
</cp:coreProperties>
</file>