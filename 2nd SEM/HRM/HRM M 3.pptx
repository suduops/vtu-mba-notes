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56" r:id="rId3"/>
    <p:sldId id="257" r:id="rId4"/>
    <p:sldId id="258" r:id="rId5"/>
    <p:sldId id="259" r:id="rId6"/>
    <p:sldId id="260" r:id="rId7"/>
    <p:sldId id="261"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85" r:id="rId21"/>
    <p:sldId id="286" r:id="rId22"/>
    <p:sldId id="287" r:id="rId23"/>
    <p:sldId id="289" r:id="rId24"/>
    <p:sldId id="288" r:id="rId25"/>
    <p:sldId id="290" r:id="rId26"/>
    <p:sldId id="291" r:id="rId27"/>
    <p:sldId id="292" r:id="rId28"/>
    <p:sldId id="293" r:id="rId29"/>
    <p:sldId id="294" r:id="rId30"/>
    <p:sldId id="295" r:id="rId31"/>
    <p:sldId id="298" r:id="rId32"/>
    <p:sldId id="297" r:id="rId33"/>
    <p:sldId id="29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E4A9B-533E-82B6-E42F-B45CE84354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732C06C-E52D-927C-D129-851767200F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E2D0031-3412-756D-3A67-948948092473}"/>
              </a:ext>
            </a:extLst>
          </p:cNvPr>
          <p:cNvSpPr>
            <a:spLocks noGrp="1"/>
          </p:cNvSpPr>
          <p:nvPr>
            <p:ph type="dt" sz="half" idx="10"/>
          </p:nvPr>
        </p:nvSpPr>
        <p:spPr/>
        <p:txBody>
          <a:bodyPr/>
          <a:lstStyle/>
          <a:p>
            <a:fld id="{5DE21CE1-3F90-4FFA-BD5F-AE1334420C22}" type="datetimeFigureOut">
              <a:rPr lang="en-IN" smtClean="0"/>
              <a:pPr/>
              <a:t>18-06-2026</a:t>
            </a:fld>
            <a:endParaRPr lang="en-IN"/>
          </a:p>
        </p:txBody>
      </p:sp>
      <p:sp>
        <p:nvSpPr>
          <p:cNvPr id="5" name="Footer Placeholder 4">
            <a:extLst>
              <a:ext uri="{FF2B5EF4-FFF2-40B4-BE49-F238E27FC236}">
                <a16:creationId xmlns:a16="http://schemas.microsoft.com/office/drawing/2014/main" id="{3E98BD7A-9270-70B8-05B2-F7375133B5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92B42E-ED4B-F7DF-E4B1-3AF06898498E}"/>
              </a:ext>
            </a:extLst>
          </p:cNvPr>
          <p:cNvSpPr>
            <a:spLocks noGrp="1"/>
          </p:cNvSpPr>
          <p:nvPr>
            <p:ph type="sldNum" sz="quarter" idx="12"/>
          </p:nvPr>
        </p:nvSpPr>
        <p:spPr/>
        <p:txBody>
          <a:bodyPr/>
          <a:lstStyle/>
          <a:p>
            <a:fld id="{3FDE8410-B3D4-4A45-B824-D607982FB962}" type="slidenum">
              <a:rPr lang="en-IN" smtClean="0"/>
              <a:pPr/>
              <a:t>‹#›</a:t>
            </a:fld>
            <a:endParaRPr lang="en-IN"/>
          </a:p>
        </p:txBody>
      </p:sp>
    </p:spTree>
    <p:extLst>
      <p:ext uri="{BB962C8B-B14F-4D97-AF65-F5344CB8AC3E}">
        <p14:creationId xmlns:p14="http://schemas.microsoft.com/office/powerpoint/2010/main" val="2819375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2D9CD-B5EE-10F5-0E3A-3A40CB2D64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962985-69A1-B808-61C0-C504501360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21B57E-4581-EE09-A808-79A2EC169EE5}"/>
              </a:ext>
            </a:extLst>
          </p:cNvPr>
          <p:cNvSpPr>
            <a:spLocks noGrp="1"/>
          </p:cNvSpPr>
          <p:nvPr>
            <p:ph type="dt" sz="half" idx="10"/>
          </p:nvPr>
        </p:nvSpPr>
        <p:spPr/>
        <p:txBody>
          <a:bodyPr/>
          <a:lstStyle/>
          <a:p>
            <a:fld id="{5DE21CE1-3F90-4FFA-BD5F-AE1334420C22}" type="datetimeFigureOut">
              <a:rPr lang="en-IN" smtClean="0"/>
              <a:pPr/>
              <a:t>18-06-2026</a:t>
            </a:fld>
            <a:endParaRPr lang="en-IN"/>
          </a:p>
        </p:txBody>
      </p:sp>
      <p:sp>
        <p:nvSpPr>
          <p:cNvPr id="5" name="Footer Placeholder 4">
            <a:extLst>
              <a:ext uri="{FF2B5EF4-FFF2-40B4-BE49-F238E27FC236}">
                <a16:creationId xmlns:a16="http://schemas.microsoft.com/office/drawing/2014/main" id="{AC848256-C988-4C96-3D2E-8D669294E2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E7EFE3-2B85-4AE9-9794-B60FB48996E5}"/>
              </a:ext>
            </a:extLst>
          </p:cNvPr>
          <p:cNvSpPr>
            <a:spLocks noGrp="1"/>
          </p:cNvSpPr>
          <p:nvPr>
            <p:ph type="sldNum" sz="quarter" idx="12"/>
          </p:nvPr>
        </p:nvSpPr>
        <p:spPr/>
        <p:txBody>
          <a:bodyPr/>
          <a:lstStyle/>
          <a:p>
            <a:fld id="{3FDE8410-B3D4-4A45-B824-D607982FB962}" type="slidenum">
              <a:rPr lang="en-IN" smtClean="0"/>
              <a:pPr/>
              <a:t>‹#›</a:t>
            </a:fld>
            <a:endParaRPr lang="en-IN"/>
          </a:p>
        </p:txBody>
      </p:sp>
    </p:spTree>
    <p:extLst>
      <p:ext uri="{BB962C8B-B14F-4D97-AF65-F5344CB8AC3E}">
        <p14:creationId xmlns:p14="http://schemas.microsoft.com/office/powerpoint/2010/main" val="1233087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DA419-229C-27E4-A8B8-4D83A71953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462E60A-07A5-2F0F-5B9A-C0299002C7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BA3DFC-9014-C5ED-E726-52736A09C19E}"/>
              </a:ext>
            </a:extLst>
          </p:cNvPr>
          <p:cNvSpPr>
            <a:spLocks noGrp="1"/>
          </p:cNvSpPr>
          <p:nvPr>
            <p:ph type="dt" sz="half" idx="10"/>
          </p:nvPr>
        </p:nvSpPr>
        <p:spPr/>
        <p:txBody>
          <a:bodyPr/>
          <a:lstStyle/>
          <a:p>
            <a:fld id="{5DE21CE1-3F90-4FFA-BD5F-AE1334420C22}" type="datetimeFigureOut">
              <a:rPr lang="en-IN" smtClean="0"/>
              <a:pPr/>
              <a:t>18-06-2026</a:t>
            </a:fld>
            <a:endParaRPr lang="en-IN"/>
          </a:p>
        </p:txBody>
      </p:sp>
      <p:sp>
        <p:nvSpPr>
          <p:cNvPr id="5" name="Footer Placeholder 4">
            <a:extLst>
              <a:ext uri="{FF2B5EF4-FFF2-40B4-BE49-F238E27FC236}">
                <a16:creationId xmlns:a16="http://schemas.microsoft.com/office/drawing/2014/main" id="{99D4F028-6874-9A75-904D-B08964CC23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AE171B-E19F-DCC4-46C8-A34172E4A9E9}"/>
              </a:ext>
            </a:extLst>
          </p:cNvPr>
          <p:cNvSpPr>
            <a:spLocks noGrp="1"/>
          </p:cNvSpPr>
          <p:nvPr>
            <p:ph type="sldNum" sz="quarter" idx="12"/>
          </p:nvPr>
        </p:nvSpPr>
        <p:spPr/>
        <p:txBody>
          <a:bodyPr/>
          <a:lstStyle/>
          <a:p>
            <a:fld id="{3FDE8410-B3D4-4A45-B824-D607982FB962}" type="slidenum">
              <a:rPr lang="en-IN" smtClean="0"/>
              <a:pPr/>
              <a:t>‹#›</a:t>
            </a:fld>
            <a:endParaRPr lang="en-IN"/>
          </a:p>
        </p:txBody>
      </p:sp>
    </p:spTree>
    <p:extLst>
      <p:ext uri="{BB962C8B-B14F-4D97-AF65-F5344CB8AC3E}">
        <p14:creationId xmlns:p14="http://schemas.microsoft.com/office/powerpoint/2010/main" val="4081388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FF83E-AC11-5A07-7856-C55601F463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3E0116-0084-AA66-29D5-5D97DECC62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12D9DCE-1478-B21C-4D1B-E6B18E13B6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1E83238-0139-346A-D802-EF4B5001F339}"/>
              </a:ext>
            </a:extLst>
          </p:cNvPr>
          <p:cNvSpPr>
            <a:spLocks noGrp="1"/>
          </p:cNvSpPr>
          <p:nvPr>
            <p:ph type="dt" sz="half" idx="10"/>
          </p:nvPr>
        </p:nvSpPr>
        <p:spPr/>
        <p:txBody>
          <a:bodyPr/>
          <a:lstStyle/>
          <a:p>
            <a:fld id="{5DE21CE1-3F90-4FFA-BD5F-AE1334420C22}" type="datetimeFigureOut">
              <a:rPr lang="en-IN" smtClean="0"/>
              <a:pPr/>
              <a:t>18-06-2026</a:t>
            </a:fld>
            <a:endParaRPr lang="en-IN"/>
          </a:p>
        </p:txBody>
      </p:sp>
      <p:sp>
        <p:nvSpPr>
          <p:cNvPr id="6" name="Footer Placeholder 5">
            <a:extLst>
              <a:ext uri="{FF2B5EF4-FFF2-40B4-BE49-F238E27FC236}">
                <a16:creationId xmlns:a16="http://schemas.microsoft.com/office/drawing/2014/main" id="{00F8AEAB-868F-C298-3200-41D4E5804F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144B28-70E4-9CD3-3E68-C4A788C4855B}"/>
              </a:ext>
            </a:extLst>
          </p:cNvPr>
          <p:cNvSpPr>
            <a:spLocks noGrp="1"/>
          </p:cNvSpPr>
          <p:nvPr>
            <p:ph type="sldNum" sz="quarter" idx="12"/>
          </p:nvPr>
        </p:nvSpPr>
        <p:spPr/>
        <p:txBody>
          <a:bodyPr/>
          <a:lstStyle/>
          <a:p>
            <a:fld id="{3FDE8410-B3D4-4A45-B824-D607982FB962}" type="slidenum">
              <a:rPr lang="en-IN" smtClean="0"/>
              <a:pPr/>
              <a:t>‹#›</a:t>
            </a:fld>
            <a:endParaRPr lang="en-IN"/>
          </a:p>
        </p:txBody>
      </p:sp>
    </p:spTree>
    <p:extLst>
      <p:ext uri="{BB962C8B-B14F-4D97-AF65-F5344CB8AC3E}">
        <p14:creationId xmlns:p14="http://schemas.microsoft.com/office/powerpoint/2010/main" val="1768892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CF63B-04F0-9A1C-565C-E20613817BB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6FB229-B98B-C160-602D-1F8880A252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0DF91F-4FE5-6C1C-5C52-51B7F20C13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C20444-99C5-0BC1-AD30-AB28CFFB09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05E352-A9B5-2ADF-FBC6-9BBC18DCF1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E00443-BDC7-0329-F268-8D0417A228EF}"/>
              </a:ext>
            </a:extLst>
          </p:cNvPr>
          <p:cNvSpPr>
            <a:spLocks noGrp="1"/>
          </p:cNvSpPr>
          <p:nvPr>
            <p:ph type="dt" sz="half" idx="10"/>
          </p:nvPr>
        </p:nvSpPr>
        <p:spPr/>
        <p:txBody>
          <a:bodyPr/>
          <a:lstStyle/>
          <a:p>
            <a:fld id="{5DE21CE1-3F90-4FFA-BD5F-AE1334420C22}" type="datetimeFigureOut">
              <a:rPr lang="en-IN" smtClean="0"/>
              <a:pPr/>
              <a:t>18-06-2026</a:t>
            </a:fld>
            <a:endParaRPr lang="en-IN"/>
          </a:p>
        </p:txBody>
      </p:sp>
      <p:sp>
        <p:nvSpPr>
          <p:cNvPr id="8" name="Footer Placeholder 7">
            <a:extLst>
              <a:ext uri="{FF2B5EF4-FFF2-40B4-BE49-F238E27FC236}">
                <a16:creationId xmlns:a16="http://schemas.microsoft.com/office/drawing/2014/main" id="{C95B562C-9C9E-C8ED-03F3-04BB8860BE2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022F80C-AD8A-3504-9CA0-C1F3C8E41760}"/>
              </a:ext>
            </a:extLst>
          </p:cNvPr>
          <p:cNvSpPr>
            <a:spLocks noGrp="1"/>
          </p:cNvSpPr>
          <p:nvPr>
            <p:ph type="sldNum" sz="quarter" idx="12"/>
          </p:nvPr>
        </p:nvSpPr>
        <p:spPr/>
        <p:txBody>
          <a:bodyPr/>
          <a:lstStyle/>
          <a:p>
            <a:fld id="{3FDE8410-B3D4-4A45-B824-D607982FB962}" type="slidenum">
              <a:rPr lang="en-IN" smtClean="0"/>
              <a:pPr/>
              <a:t>‹#›</a:t>
            </a:fld>
            <a:endParaRPr lang="en-IN"/>
          </a:p>
        </p:txBody>
      </p:sp>
    </p:spTree>
    <p:extLst>
      <p:ext uri="{BB962C8B-B14F-4D97-AF65-F5344CB8AC3E}">
        <p14:creationId xmlns:p14="http://schemas.microsoft.com/office/powerpoint/2010/main" val="2010585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96A0C-C0B1-CA02-2094-DC9768697A0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4AB26C0-2494-2AA7-3FC4-1AC5B68970BA}"/>
              </a:ext>
            </a:extLst>
          </p:cNvPr>
          <p:cNvSpPr>
            <a:spLocks noGrp="1"/>
          </p:cNvSpPr>
          <p:nvPr>
            <p:ph type="dt" sz="half" idx="10"/>
          </p:nvPr>
        </p:nvSpPr>
        <p:spPr/>
        <p:txBody>
          <a:bodyPr/>
          <a:lstStyle/>
          <a:p>
            <a:fld id="{5DE21CE1-3F90-4FFA-BD5F-AE1334420C22}" type="datetimeFigureOut">
              <a:rPr lang="en-IN" smtClean="0"/>
              <a:pPr/>
              <a:t>18-06-2026</a:t>
            </a:fld>
            <a:endParaRPr lang="en-IN"/>
          </a:p>
        </p:txBody>
      </p:sp>
      <p:sp>
        <p:nvSpPr>
          <p:cNvPr id="4" name="Footer Placeholder 3">
            <a:extLst>
              <a:ext uri="{FF2B5EF4-FFF2-40B4-BE49-F238E27FC236}">
                <a16:creationId xmlns:a16="http://schemas.microsoft.com/office/drawing/2014/main" id="{825CA6D5-09C4-B7F0-7FA9-4F410D5F789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9A2D1EB-8A3C-33E2-3CC3-E8FA8A25F529}"/>
              </a:ext>
            </a:extLst>
          </p:cNvPr>
          <p:cNvSpPr>
            <a:spLocks noGrp="1"/>
          </p:cNvSpPr>
          <p:nvPr>
            <p:ph type="sldNum" sz="quarter" idx="12"/>
          </p:nvPr>
        </p:nvSpPr>
        <p:spPr/>
        <p:txBody>
          <a:bodyPr/>
          <a:lstStyle/>
          <a:p>
            <a:fld id="{3FDE8410-B3D4-4A45-B824-D607982FB962}" type="slidenum">
              <a:rPr lang="en-IN" smtClean="0"/>
              <a:pPr/>
              <a:t>‹#›</a:t>
            </a:fld>
            <a:endParaRPr lang="en-IN"/>
          </a:p>
        </p:txBody>
      </p:sp>
    </p:spTree>
    <p:extLst>
      <p:ext uri="{BB962C8B-B14F-4D97-AF65-F5344CB8AC3E}">
        <p14:creationId xmlns:p14="http://schemas.microsoft.com/office/powerpoint/2010/main" val="3665574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F4BCDB-F549-7533-9B2F-39E4D06F7ECF}"/>
              </a:ext>
            </a:extLst>
          </p:cNvPr>
          <p:cNvSpPr>
            <a:spLocks noGrp="1"/>
          </p:cNvSpPr>
          <p:nvPr>
            <p:ph type="dt" sz="half" idx="10"/>
          </p:nvPr>
        </p:nvSpPr>
        <p:spPr/>
        <p:txBody>
          <a:bodyPr/>
          <a:lstStyle/>
          <a:p>
            <a:fld id="{5DE21CE1-3F90-4FFA-BD5F-AE1334420C22}" type="datetimeFigureOut">
              <a:rPr lang="en-IN" smtClean="0"/>
              <a:pPr/>
              <a:t>18-06-2026</a:t>
            </a:fld>
            <a:endParaRPr lang="en-IN"/>
          </a:p>
        </p:txBody>
      </p:sp>
      <p:sp>
        <p:nvSpPr>
          <p:cNvPr id="3" name="Footer Placeholder 2">
            <a:extLst>
              <a:ext uri="{FF2B5EF4-FFF2-40B4-BE49-F238E27FC236}">
                <a16:creationId xmlns:a16="http://schemas.microsoft.com/office/drawing/2014/main" id="{7E424287-5319-1B20-9CC2-33BF506CCC0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57C6386-79C3-5E40-0BBD-418913DFB6FA}"/>
              </a:ext>
            </a:extLst>
          </p:cNvPr>
          <p:cNvSpPr>
            <a:spLocks noGrp="1"/>
          </p:cNvSpPr>
          <p:nvPr>
            <p:ph type="sldNum" sz="quarter" idx="12"/>
          </p:nvPr>
        </p:nvSpPr>
        <p:spPr/>
        <p:txBody>
          <a:bodyPr/>
          <a:lstStyle/>
          <a:p>
            <a:fld id="{3FDE8410-B3D4-4A45-B824-D607982FB962}" type="slidenum">
              <a:rPr lang="en-IN" smtClean="0"/>
              <a:pPr/>
              <a:t>‹#›</a:t>
            </a:fld>
            <a:endParaRPr lang="en-IN"/>
          </a:p>
        </p:txBody>
      </p:sp>
    </p:spTree>
    <p:extLst>
      <p:ext uri="{BB962C8B-B14F-4D97-AF65-F5344CB8AC3E}">
        <p14:creationId xmlns:p14="http://schemas.microsoft.com/office/powerpoint/2010/main" val="2619062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BE8AC-0817-242B-0FCA-21E282E0DA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8230FCB-B9F0-0D10-4DB8-4B58A2AAA4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D4CD6E-8C7B-3630-CF6E-21ABC22E16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6D2D42-B7C5-16DE-BEF2-768F1615D101}"/>
              </a:ext>
            </a:extLst>
          </p:cNvPr>
          <p:cNvSpPr>
            <a:spLocks noGrp="1"/>
          </p:cNvSpPr>
          <p:nvPr>
            <p:ph type="dt" sz="half" idx="10"/>
          </p:nvPr>
        </p:nvSpPr>
        <p:spPr/>
        <p:txBody>
          <a:bodyPr/>
          <a:lstStyle/>
          <a:p>
            <a:fld id="{5DE21CE1-3F90-4FFA-BD5F-AE1334420C22}" type="datetimeFigureOut">
              <a:rPr lang="en-IN" smtClean="0"/>
              <a:pPr/>
              <a:t>18-06-2026</a:t>
            </a:fld>
            <a:endParaRPr lang="en-IN"/>
          </a:p>
        </p:txBody>
      </p:sp>
      <p:sp>
        <p:nvSpPr>
          <p:cNvPr id="6" name="Footer Placeholder 5">
            <a:extLst>
              <a:ext uri="{FF2B5EF4-FFF2-40B4-BE49-F238E27FC236}">
                <a16:creationId xmlns:a16="http://schemas.microsoft.com/office/drawing/2014/main" id="{85FC7A5D-DC5A-E97A-249F-924C8BF0E7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1BA342-8F5D-361F-1907-927338A272B3}"/>
              </a:ext>
            </a:extLst>
          </p:cNvPr>
          <p:cNvSpPr>
            <a:spLocks noGrp="1"/>
          </p:cNvSpPr>
          <p:nvPr>
            <p:ph type="sldNum" sz="quarter" idx="12"/>
          </p:nvPr>
        </p:nvSpPr>
        <p:spPr/>
        <p:txBody>
          <a:bodyPr/>
          <a:lstStyle/>
          <a:p>
            <a:fld id="{3FDE8410-B3D4-4A45-B824-D607982FB962}" type="slidenum">
              <a:rPr lang="en-IN" smtClean="0"/>
              <a:pPr/>
              <a:t>‹#›</a:t>
            </a:fld>
            <a:endParaRPr lang="en-IN"/>
          </a:p>
        </p:txBody>
      </p:sp>
    </p:spTree>
    <p:extLst>
      <p:ext uri="{BB962C8B-B14F-4D97-AF65-F5344CB8AC3E}">
        <p14:creationId xmlns:p14="http://schemas.microsoft.com/office/powerpoint/2010/main" val="2635262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B15C-DF78-EBEC-CF85-0D6838C724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4BA006-84DA-D551-D3E4-4D336F7AB3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56D06AB-096B-F350-5D48-1E967C4430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FF1491-E506-26D3-78F3-9241B1CF893A}"/>
              </a:ext>
            </a:extLst>
          </p:cNvPr>
          <p:cNvSpPr>
            <a:spLocks noGrp="1"/>
          </p:cNvSpPr>
          <p:nvPr>
            <p:ph type="dt" sz="half" idx="10"/>
          </p:nvPr>
        </p:nvSpPr>
        <p:spPr/>
        <p:txBody>
          <a:bodyPr/>
          <a:lstStyle/>
          <a:p>
            <a:fld id="{5DE21CE1-3F90-4FFA-BD5F-AE1334420C22}" type="datetimeFigureOut">
              <a:rPr lang="en-IN" smtClean="0"/>
              <a:pPr/>
              <a:t>18-06-2026</a:t>
            </a:fld>
            <a:endParaRPr lang="en-IN"/>
          </a:p>
        </p:txBody>
      </p:sp>
      <p:sp>
        <p:nvSpPr>
          <p:cNvPr id="6" name="Footer Placeholder 5">
            <a:extLst>
              <a:ext uri="{FF2B5EF4-FFF2-40B4-BE49-F238E27FC236}">
                <a16:creationId xmlns:a16="http://schemas.microsoft.com/office/drawing/2014/main" id="{A27BD320-24C8-02AB-E8BC-66941AAA3D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1C444C-02E6-D8DD-51D7-CD1E702678A4}"/>
              </a:ext>
            </a:extLst>
          </p:cNvPr>
          <p:cNvSpPr>
            <a:spLocks noGrp="1"/>
          </p:cNvSpPr>
          <p:nvPr>
            <p:ph type="sldNum" sz="quarter" idx="12"/>
          </p:nvPr>
        </p:nvSpPr>
        <p:spPr/>
        <p:txBody>
          <a:bodyPr/>
          <a:lstStyle/>
          <a:p>
            <a:fld id="{3FDE8410-B3D4-4A45-B824-D607982FB962}" type="slidenum">
              <a:rPr lang="en-IN" smtClean="0"/>
              <a:pPr/>
              <a:t>‹#›</a:t>
            </a:fld>
            <a:endParaRPr lang="en-IN"/>
          </a:p>
        </p:txBody>
      </p:sp>
    </p:spTree>
    <p:extLst>
      <p:ext uri="{BB962C8B-B14F-4D97-AF65-F5344CB8AC3E}">
        <p14:creationId xmlns:p14="http://schemas.microsoft.com/office/powerpoint/2010/main" val="450150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66284-7CB1-07E1-2D65-907230E3FB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E290A3-F9F6-0D28-2BE2-DA28E084F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FCBE98-EDAC-FE10-E06C-61070B4ED721}"/>
              </a:ext>
            </a:extLst>
          </p:cNvPr>
          <p:cNvSpPr>
            <a:spLocks noGrp="1"/>
          </p:cNvSpPr>
          <p:nvPr>
            <p:ph type="dt" sz="half" idx="10"/>
          </p:nvPr>
        </p:nvSpPr>
        <p:spPr/>
        <p:txBody>
          <a:bodyPr/>
          <a:lstStyle/>
          <a:p>
            <a:fld id="{5DE21CE1-3F90-4FFA-BD5F-AE1334420C22}" type="datetimeFigureOut">
              <a:rPr lang="en-IN" smtClean="0"/>
              <a:pPr/>
              <a:t>18-06-2026</a:t>
            </a:fld>
            <a:endParaRPr lang="en-IN"/>
          </a:p>
        </p:txBody>
      </p:sp>
      <p:sp>
        <p:nvSpPr>
          <p:cNvPr id="5" name="Footer Placeholder 4">
            <a:extLst>
              <a:ext uri="{FF2B5EF4-FFF2-40B4-BE49-F238E27FC236}">
                <a16:creationId xmlns:a16="http://schemas.microsoft.com/office/drawing/2014/main" id="{23DEE927-0FDE-7AD0-8180-FC7C3D1CC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99EF03-A619-4827-3EAA-FCC8EB5972B0}"/>
              </a:ext>
            </a:extLst>
          </p:cNvPr>
          <p:cNvSpPr>
            <a:spLocks noGrp="1"/>
          </p:cNvSpPr>
          <p:nvPr>
            <p:ph type="sldNum" sz="quarter" idx="12"/>
          </p:nvPr>
        </p:nvSpPr>
        <p:spPr/>
        <p:txBody>
          <a:bodyPr/>
          <a:lstStyle/>
          <a:p>
            <a:fld id="{3FDE8410-B3D4-4A45-B824-D607982FB962}" type="slidenum">
              <a:rPr lang="en-IN" smtClean="0"/>
              <a:pPr/>
              <a:t>‹#›</a:t>
            </a:fld>
            <a:endParaRPr lang="en-IN"/>
          </a:p>
        </p:txBody>
      </p:sp>
    </p:spTree>
    <p:extLst>
      <p:ext uri="{BB962C8B-B14F-4D97-AF65-F5344CB8AC3E}">
        <p14:creationId xmlns:p14="http://schemas.microsoft.com/office/powerpoint/2010/main" val="2151742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C71D42-9776-F9A0-C08B-89F86E5F94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AEEA40-3D74-3B90-9ED9-4F27113555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2A3D6D-B6CC-195E-D786-52CE78FEA0F9}"/>
              </a:ext>
            </a:extLst>
          </p:cNvPr>
          <p:cNvSpPr>
            <a:spLocks noGrp="1"/>
          </p:cNvSpPr>
          <p:nvPr>
            <p:ph type="dt" sz="half" idx="10"/>
          </p:nvPr>
        </p:nvSpPr>
        <p:spPr/>
        <p:txBody>
          <a:bodyPr/>
          <a:lstStyle/>
          <a:p>
            <a:fld id="{5DE21CE1-3F90-4FFA-BD5F-AE1334420C22}" type="datetimeFigureOut">
              <a:rPr lang="en-IN" smtClean="0"/>
              <a:pPr/>
              <a:t>18-06-2026</a:t>
            </a:fld>
            <a:endParaRPr lang="en-IN"/>
          </a:p>
        </p:txBody>
      </p:sp>
      <p:sp>
        <p:nvSpPr>
          <p:cNvPr id="5" name="Footer Placeholder 4">
            <a:extLst>
              <a:ext uri="{FF2B5EF4-FFF2-40B4-BE49-F238E27FC236}">
                <a16:creationId xmlns:a16="http://schemas.microsoft.com/office/drawing/2014/main" id="{D4449F52-F83C-D1C1-7A12-6D3A5C2A5C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5C96FF-1901-B59F-078C-A6B010A8FAFF}"/>
              </a:ext>
            </a:extLst>
          </p:cNvPr>
          <p:cNvSpPr>
            <a:spLocks noGrp="1"/>
          </p:cNvSpPr>
          <p:nvPr>
            <p:ph type="sldNum" sz="quarter" idx="12"/>
          </p:nvPr>
        </p:nvSpPr>
        <p:spPr/>
        <p:txBody>
          <a:bodyPr/>
          <a:lstStyle/>
          <a:p>
            <a:fld id="{3FDE8410-B3D4-4A45-B824-D607982FB962}" type="slidenum">
              <a:rPr lang="en-IN" smtClean="0"/>
              <a:pPr/>
              <a:t>‹#›</a:t>
            </a:fld>
            <a:endParaRPr lang="en-IN"/>
          </a:p>
        </p:txBody>
      </p:sp>
    </p:spTree>
    <p:extLst>
      <p:ext uri="{BB962C8B-B14F-4D97-AF65-F5344CB8AC3E}">
        <p14:creationId xmlns:p14="http://schemas.microsoft.com/office/powerpoint/2010/main" val="2224210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7E9FD8-53C5-0247-36C7-3CF9973176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4CDB1F-130E-D4E3-CBDA-7867E765BF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AACFA6-7AF3-9B7A-A5AF-FE590B7819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E21CE1-3F90-4FFA-BD5F-AE1334420C22}" type="datetimeFigureOut">
              <a:rPr lang="en-IN" smtClean="0"/>
              <a:pPr/>
              <a:t>18-06-2026</a:t>
            </a:fld>
            <a:endParaRPr lang="en-IN"/>
          </a:p>
        </p:txBody>
      </p:sp>
      <p:sp>
        <p:nvSpPr>
          <p:cNvPr id="5" name="Footer Placeholder 4">
            <a:extLst>
              <a:ext uri="{FF2B5EF4-FFF2-40B4-BE49-F238E27FC236}">
                <a16:creationId xmlns:a16="http://schemas.microsoft.com/office/drawing/2014/main" id="{E912595A-2377-4FFB-4865-C9C38FFF8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1541B83-AA50-8AAE-C727-FD44CA0C7F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DE8410-B3D4-4A45-B824-D607982FB962}" type="slidenum">
              <a:rPr lang="en-IN" smtClean="0"/>
              <a:pPr/>
              <a:t>‹#›</a:t>
            </a:fld>
            <a:endParaRPr lang="en-IN"/>
          </a:p>
        </p:txBody>
      </p:sp>
    </p:spTree>
    <p:extLst>
      <p:ext uri="{BB962C8B-B14F-4D97-AF65-F5344CB8AC3E}">
        <p14:creationId xmlns:p14="http://schemas.microsoft.com/office/powerpoint/2010/main" val="34484182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ilo.org/node/8721"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B62A5-9E9C-E8ED-FC01-553B245179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5ED1E-C76C-D34D-E3CA-2A4A10CDA322}"/>
              </a:ext>
            </a:extLst>
          </p:cNvPr>
          <p:cNvSpPr>
            <a:spLocks noGrp="1"/>
          </p:cNvSpPr>
          <p:nvPr>
            <p:ph type="title"/>
          </p:nvPr>
        </p:nvSpPr>
        <p:spPr>
          <a:xfrm>
            <a:off x="133563" y="108275"/>
            <a:ext cx="11928297" cy="949967"/>
          </a:xfrm>
        </p:spPr>
        <p:txBody>
          <a:bodyPr>
            <a:normAutofit/>
          </a:bodyPr>
          <a:lstStyle/>
          <a:p>
            <a:pPr algn="ctr"/>
            <a:r>
              <a:rPr lang="en-IN" sz="4800" b="1" dirty="0">
                <a:solidFill>
                  <a:srgbClr val="C00000"/>
                </a:solidFill>
                <a:latin typeface="Times New Roman" panose="02020603050405020304" pitchFamily="18" charset="0"/>
                <a:cs typeface="Times New Roman" panose="02020603050405020304" pitchFamily="18" charset="0"/>
              </a:rPr>
              <a:t>Compensation and Benefits</a:t>
            </a:r>
          </a:p>
        </p:txBody>
      </p:sp>
      <p:sp>
        <p:nvSpPr>
          <p:cNvPr id="3" name="Content Placeholder 2">
            <a:extLst>
              <a:ext uri="{FF2B5EF4-FFF2-40B4-BE49-F238E27FC236}">
                <a16:creationId xmlns:a16="http://schemas.microsoft.com/office/drawing/2014/main" id="{A1AE42C8-EC1E-1E3B-4F68-259166D99065}"/>
              </a:ext>
            </a:extLst>
          </p:cNvPr>
          <p:cNvSpPr>
            <a:spLocks noGrp="1"/>
          </p:cNvSpPr>
          <p:nvPr>
            <p:ph idx="1"/>
          </p:nvPr>
        </p:nvSpPr>
        <p:spPr>
          <a:xfrm>
            <a:off x="133563" y="1058242"/>
            <a:ext cx="11928297" cy="5691483"/>
          </a:xfrm>
        </p:spPr>
        <p:txBody>
          <a:bodyPr/>
          <a:lstStyle/>
          <a:p>
            <a:pPr marL="0" indent="0" algn="just">
              <a:buNone/>
            </a:pPr>
            <a:r>
              <a:rPr lang="en-US" sz="3300" dirty="0">
                <a:solidFill>
                  <a:schemeClr val="tx1"/>
                </a:solidFill>
                <a:latin typeface="Times New Roman" pitchFamily="18" charset="0"/>
                <a:cs typeface="Times New Roman" pitchFamily="18" charset="0"/>
              </a:rPr>
              <a:t>Compensation and benefits are the key factors in attracting and keeping the best human capital and ensuring that organization has the competitive edge in the increasing competitive world.</a:t>
            </a:r>
          </a:p>
          <a:p>
            <a:pPr marL="0" indent="0" algn="just">
              <a:buNone/>
            </a:pPr>
            <a:r>
              <a:rPr lang="en-US" sz="3300" dirty="0">
                <a:solidFill>
                  <a:schemeClr val="tx1"/>
                </a:solidFill>
                <a:latin typeface="Times New Roman" pitchFamily="18" charset="0"/>
                <a:cs typeface="Times New Roman" pitchFamily="18" charset="0"/>
              </a:rPr>
              <a:t>It is an Integral part of human resource management which helps in motivating the employees and improving organizational effectiveness.</a:t>
            </a:r>
          </a:p>
          <a:p>
            <a:pPr marL="0" indent="0" algn="just">
              <a:buNone/>
            </a:pPr>
            <a:r>
              <a:rPr lang="en-US" sz="3300" dirty="0">
                <a:latin typeface="Times New Roman" pitchFamily="18" charset="0"/>
                <a:cs typeface="Times New Roman" pitchFamily="18" charset="0"/>
              </a:rPr>
              <a:t>It is a total of all rewards and recognition provided to employees by the employers in returns to their mental and physical sacrifice to the betterment of the company. </a:t>
            </a:r>
          </a:p>
          <a:p>
            <a:pPr marL="0" indent="0" algn="just">
              <a:buNone/>
            </a:pPr>
            <a:r>
              <a:rPr lang="en-US" sz="3300" dirty="0">
                <a:latin typeface="Times New Roman" pitchFamily="18" charset="0"/>
                <a:cs typeface="Times New Roman" pitchFamily="18" charset="0"/>
              </a:rPr>
              <a:t>It is a systematic approach to providing monitory and non- monitory values / benefits to employees in exchange for work performed.</a:t>
            </a:r>
          </a:p>
          <a:p>
            <a:pPr marL="0" indent="0" algn="just">
              <a:buNone/>
            </a:pPr>
            <a:endParaRPr lang="en-US" sz="3200" dirty="0">
              <a:latin typeface="Times New Roman" pitchFamily="18" charset="0"/>
              <a:cs typeface="Times New Roman" pitchFamily="18" charset="0"/>
            </a:endParaRPr>
          </a:p>
          <a:p>
            <a:pPr marL="0" indent="0" algn="just">
              <a:buNone/>
            </a:pPr>
            <a:endParaRPr lang="en-US" sz="3200" dirty="0">
              <a:latin typeface="Times New Roman" pitchFamily="18" charset="0"/>
              <a:cs typeface="Times New Roman" pitchFamily="18" charset="0"/>
            </a:endParaRPr>
          </a:p>
          <a:p>
            <a:pPr marL="0" indent="0" algn="just">
              <a:buNone/>
            </a:pPr>
            <a:endParaRPr lang="en-US" sz="3200" dirty="0">
              <a:solidFill>
                <a:schemeClr val="tx1"/>
              </a:solidFill>
              <a:latin typeface="Times New Roman" pitchFamily="18" charset="0"/>
              <a:cs typeface="Times New Roman" pitchFamily="18" charset="0"/>
            </a:endParaRPr>
          </a:p>
          <a:p>
            <a:pPr marL="0" indent="0" algn="just">
              <a:buNone/>
            </a:pPr>
            <a:endParaRPr lang="en-US" dirty="0">
              <a:solidFill>
                <a:schemeClr val="tx1"/>
              </a:solidFill>
              <a:latin typeface="Times New Roman" pitchFamily="18" charset="0"/>
              <a:cs typeface="Times New Roman" pitchFamily="18" charset="0"/>
            </a:endParaRPr>
          </a:p>
          <a:p>
            <a:pPr marL="0" indent="0">
              <a:buNone/>
            </a:pPr>
            <a:endParaRPr lang="en-IN" dirty="0"/>
          </a:p>
        </p:txBody>
      </p:sp>
    </p:spTree>
    <p:extLst>
      <p:ext uri="{BB962C8B-B14F-4D97-AF65-F5344CB8AC3E}">
        <p14:creationId xmlns:p14="http://schemas.microsoft.com/office/powerpoint/2010/main" val="3289717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6738C-1AEC-6369-46A0-C9EE1C3FF4C2}"/>
              </a:ext>
            </a:extLst>
          </p:cNvPr>
          <p:cNvSpPr>
            <a:spLocks noGrp="1"/>
          </p:cNvSpPr>
          <p:nvPr>
            <p:ph type="title"/>
          </p:nvPr>
        </p:nvSpPr>
        <p:spPr>
          <a:xfrm>
            <a:off x="133563" y="108275"/>
            <a:ext cx="11928297" cy="949967"/>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Definitions</a:t>
            </a:r>
          </a:p>
        </p:txBody>
      </p:sp>
      <p:sp>
        <p:nvSpPr>
          <p:cNvPr id="3" name="Content Placeholder 2">
            <a:extLst>
              <a:ext uri="{FF2B5EF4-FFF2-40B4-BE49-F238E27FC236}">
                <a16:creationId xmlns:a16="http://schemas.microsoft.com/office/drawing/2014/main" id="{3EFA15F4-4349-34D6-62B9-C8CCFCF5FE73}"/>
              </a:ext>
            </a:extLst>
          </p:cNvPr>
          <p:cNvSpPr>
            <a:spLocks noGrp="1"/>
          </p:cNvSpPr>
          <p:nvPr>
            <p:ph idx="1"/>
          </p:nvPr>
        </p:nvSpPr>
        <p:spPr>
          <a:xfrm>
            <a:off x="133563" y="1387011"/>
            <a:ext cx="11928297" cy="5362714"/>
          </a:xfrm>
        </p:spPr>
        <p:txBody>
          <a:bodyPr>
            <a:normAutofit/>
          </a:bodyPr>
          <a:lstStyle/>
          <a:p>
            <a:pPr marL="0" indent="0" algn="just">
              <a:buNone/>
            </a:pPr>
            <a:r>
              <a:rPr lang="en-IN" sz="3200" b="1" i="1" dirty="0">
                <a:latin typeface="Times New Roman" panose="02020603050405020304" pitchFamily="18" charset="0"/>
                <a:cs typeface="Times New Roman" panose="02020603050405020304" pitchFamily="18" charset="0"/>
              </a:rPr>
              <a:t>According to Milkovich &amp; Newman:</a:t>
            </a:r>
          </a:p>
          <a:p>
            <a:pPr marL="0" indent="0" algn="just">
              <a:buNone/>
            </a:pPr>
            <a:r>
              <a:rPr lang="en-US" sz="3200" dirty="0">
                <a:latin typeface="Times New Roman" panose="02020603050405020304" pitchFamily="18" charset="0"/>
                <a:cs typeface="Times New Roman" panose="02020603050405020304" pitchFamily="18" charset="0"/>
              </a:rPr>
              <a:t>Compensation refers to all forms of financial returns and tangible services and benefits employees receive as part of an employment relationship.</a:t>
            </a: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r>
              <a:rPr lang="en-IN" sz="3200" b="1" i="1" dirty="0">
                <a:latin typeface="Times New Roman" panose="02020603050405020304" pitchFamily="18" charset="0"/>
                <a:cs typeface="Times New Roman" panose="02020603050405020304" pitchFamily="18" charset="0"/>
              </a:rPr>
              <a:t>Edwin B. Flippo:</a:t>
            </a:r>
          </a:p>
          <a:p>
            <a:pPr marL="0" indent="0" algn="just">
              <a:buNone/>
            </a:pPr>
            <a:r>
              <a:rPr lang="en-US" sz="3200" dirty="0">
                <a:latin typeface="Times New Roman" panose="02020603050405020304" pitchFamily="18" charset="0"/>
                <a:cs typeface="Times New Roman" panose="02020603050405020304" pitchFamily="18" charset="0"/>
              </a:rPr>
              <a:t>Compensation is the adequate and equitable remuneration of personnel for their contributions to organizational objectives.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3920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E7E10-3035-9713-E46A-D66B154E1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224D5-1CD6-812E-FAE1-10BD46DC8EBB}"/>
              </a:ext>
            </a:extLst>
          </p:cNvPr>
          <p:cNvSpPr>
            <a:spLocks noGrp="1"/>
          </p:cNvSpPr>
          <p:nvPr>
            <p:ph type="title"/>
          </p:nvPr>
        </p:nvSpPr>
        <p:spPr>
          <a:xfrm>
            <a:off x="133563" y="108275"/>
            <a:ext cx="11928297" cy="949967"/>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Total Compensation</a:t>
            </a:r>
          </a:p>
        </p:txBody>
      </p:sp>
      <p:sp>
        <p:nvSpPr>
          <p:cNvPr id="3" name="Content Placeholder 2">
            <a:extLst>
              <a:ext uri="{FF2B5EF4-FFF2-40B4-BE49-F238E27FC236}">
                <a16:creationId xmlns:a16="http://schemas.microsoft.com/office/drawing/2014/main" id="{FA416167-2FA2-FA00-01C1-7E392135C76D}"/>
              </a:ext>
            </a:extLst>
          </p:cNvPr>
          <p:cNvSpPr>
            <a:spLocks noGrp="1"/>
          </p:cNvSpPr>
          <p:nvPr>
            <p:ph idx="1"/>
          </p:nvPr>
        </p:nvSpPr>
        <p:spPr>
          <a:xfrm>
            <a:off x="30823" y="2095926"/>
            <a:ext cx="2342509" cy="3030877"/>
          </a:xfrm>
        </p:spPr>
        <p:txBody>
          <a:bodyPr>
            <a:normAutofit/>
          </a:bodyPr>
          <a:lstStyle/>
          <a:p>
            <a:pPr marL="0" indent="0">
              <a:buNone/>
            </a:pPr>
            <a:r>
              <a:rPr lang="en-IN" sz="3200" b="1" dirty="0">
                <a:latin typeface="Times New Roman" panose="02020603050405020304" pitchFamily="18" charset="0"/>
                <a:cs typeface="Times New Roman" panose="02020603050405020304" pitchFamily="18" charset="0"/>
              </a:rPr>
              <a:t>Direct Pay</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Salary</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Wages</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Bonus</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Incentives</a:t>
            </a:r>
          </a:p>
        </p:txBody>
      </p:sp>
      <p:sp>
        <p:nvSpPr>
          <p:cNvPr id="4" name="Content Placeholder 2">
            <a:extLst>
              <a:ext uri="{FF2B5EF4-FFF2-40B4-BE49-F238E27FC236}">
                <a16:creationId xmlns:a16="http://schemas.microsoft.com/office/drawing/2014/main" id="{4695FC3E-4D0F-503B-5342-C4D01065221D}"/>
              </a:ext>
            </a:extLst>
          </p:cNvPr>
          <p:cNvSpPr txBox="1">
            <a:spLocks/>
          </p:cNvSpPr>
          <p:nvPr/>
        </p:nvSpPr>
        <p:spPr>
          <a:xfrm>
            <a:off x="2320250" y="2145586"/>
            <a:ext cx="4286038" cy="29298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3200" b="1" dirty="0">
                <a:latin typeface="Times New Roman" panose="02020603050405020304" pitchFamily="18" charset="0"/>
                <a:cs typeface="Times New Roman" panose="02020603050405020304" pitchFamily="18" charset="0"/>
              </a:rPr>
              <a:t>Indirect Pay (Benefits)</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Insurance</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Paid leave</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Retirement benefits</a:t>
            </a:r>
          </a:p>
        </p:txBody>
      </p:sp>
      <p:sp>
        <p:nvSpPr>
          <p:cNvPr id="5" name="Title 1">
            <a:extLst>
              <a:ext uri="{FF2B5EF4-FFF2-40B4-BE49-F238E27FC236}">
                <a16:creationId xmlns:a16="http://schemas.microsoft.com/office/drawing/2014/main" id="{1F270944-2208-247D-82E7-1B999D19B2AC}"/>
              </a:ext>
            </a:extLst>
          </p:cNvPr>
          <p:cNvSpPr txBox="1">
            <a:spLocks/>
          </p:cNvSpPr>
          <p:nvPr/>
        </p:nvSpPr>
        <p:spPr>
          <a:xfrm>
            <a:off x="818506" y="1264677"/>
            <a:ext cx="4286038" cy="6744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solidFill>
                  <a:srgbClr val="C00000"/>
                </a:solidFill>
                <a:latin typeface="Times New Roman" pitchFamily="18" charset="0"/>
                <a:cs typeface="Times New Roman" pitchFamily="18" charset="0"/>
              </a:rPr>
              <a:t>Financial Benefits</a:t>
            </a:r>
          </a:p>
        </p:txBody>
      </p:sp>
      <p:sp>
        <p:nvSpPr>
          <p:cNvPr id="6" name="Title 1">
            <a:extLst>
              <a:ext uri="{FF2B5EF4-FFF2-40B4-BE49-F238E27FC236}">
                <a16:creationId xmlns:a16="http://schemas.microsoft.com/office/drawing/2014/main" id="{6AE74353-26F5-D10C-BDA3-9749807B191F}"/>
              </a:ext>
            </a:extLst>
          </p:cNvPr>
          <p:cNvSpPr txBox="1">
            <a:spLocks/>
          </p:cNvSpPr>
          <p:nvPr/>
        </p:nvSpPr>
        <p:spPr>
          <a:xfrm>
            <a:off x="6842583" y="1262967"/>
            <a:ext cx="5339150" cy="6744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solidFill>
                  <a:srgbClr val="C00000"/>
                </a:solidFill>
                <a:latin typeface="Times New Roman" pitchFamily="18" charset="0"/>
                <a:cs typeface="Times New Roman" pitchFamily="18" charset="0"/>
              </a:rPr>
              <a:t>Non-Financial Benefits</a:t>
            </a:r>
          </a:p>
        </p:txBody>
      </p:sp>
      <p:sp>
        <p:nvSpPr>
          <p:cNvPr id="7" name="Content Placeholder 2">
            <a:extLst>
              <a:ext uri="{FF2B5EF4-FFF2-40B4-BE49-F238E27FC236}">
                <a16:creationId xmlns:a16="http://schemas.microsoft.com/office/drawing/2014/main" id="{2B59885E-740C-0771-0CA8-5F8C944F8E62}"/>
              </a:ext>
            </a:extLst>
          </p:cNvPr>
          <p:cNvSpPr txBox="1">
            <a:spLocks/>
          </p:cNvSpPr>
          <p:nvPr/>
        </p:nvSpPr>
        <p:spPr>
          <a:xfrm>
            <a:off x="7260410" y="2154150"/>
            <a:ext cx="4286038" cy="29298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Recognition</a:t>
            </a:r>
          </a:p>
          <a:p>
            <a:pPr>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Career Development</a:t>
            </a:r>
          </a:p>
          <a:p>
            <a:pPr>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Work-life Balance</a:t>
            </a:r>
          </a:p>
          <a:p>
            <a:pPr marL="0" indent="0">
              <a:buFont typeface="Arial" panose="020B0604020202020204" pitchFamily="34" charset="0"/>
              <a:buNone/>
            </a:pP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712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fade">
                                      <p:cBhvr>
                                        <p:cTn id="32" dur="500"/>
                                        <p:tgtEl>
                                          <p:spTgt spid="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fade">
                                      <p:cBhvr>
                                        <p:cTn id="37" dur="500"/>
                                        <p:tgtEl>
                                          <p:spTgt spid="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fade">
                                      <p:cBhvr>
                                        <p:cTn id="42" dur="500"/>
                                        <p:tgtEl>
                                          <p:spTgt spid="4">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3" end="3"/>
                                            </p:txEl>
                                          </p:spTgt>
                                        </p:tgtEl>
                                        <p:attrNameLst>
                                          <p:attrName>style.visibility</p:attrName>
                                        </p:attrNameLst>
                                      </p:cBhvr>
                                      <p:to>
                                        <p:strVal val="visible"/>
                                      </p:to>
                                    </p:set>
                                    <p:animEffect transition="in" filter="fade">
                                      <p:cBhvr>
                                        <p:cTn id="47" dur="500"/>
                                        <p:tgtEl>
                                          <p:spTgt spid="4">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0" end="0"/>
                                            </p:txEl>
                                          </p:spTgt>
                                        </p:tgtEl>
                                        <p:attrNameLst>
                                          <p:attrName>style.visibility</p:attrName>
                                        </p:attrNameLst>
                                      </p:cBhvr>
                                      <p:to>
                                        <p:strVal val="visible"/>
                                      </p:to>
                                    </p:set>
                                    <p:animEffect transition="in" filter="fade">
                                      <p:cBhvr>
                                        <p:cTn id="52" dur="500"/>
                                        <p:tgtEl>
                                          <p:spTgt spid="7">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
                                            <p:txEl>
                                              <p:pRg st="1" end="1"/>
                                            </p:txEl>
                                          </p:spTgt>
                                        </p:tgtEl>
                                        <p:attrNameLst>
                                          <p:attrName>style.visibility</p:attrName>
                                        </p:attrNameLst>
                                      </p:cBhvr>
                                      <p:to>
                                        <p:strVal val="visible"/>
                                      </p:to>
                                    </p:set>
                                    <p:animEffect transition="in" filter="fade">
                                      <p:cBhvr>
                                        <p:cTn id="57" dur="500"/>
                                        <p:tgtEl>
                                          <p:spTgt spid="7">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7">
                                            <p:txEl>
                                              <p:pRg st="2" end="2"/>
                                            </p:txEl>
                                          </p:spTgt>
                                        </p:tgtEl>
                                        <p:attrNameLst>
                                          <p:attrName>style.visibility</p:attrName>
                                        </p:attrNameLst>
                                      </p:cBhvr>
                                      <p:to>
                                        <p:strVal val="visible"/>
                                      </p:to>
                                    </p:set>
                                    <p:animEffect transition="in" filter="fade">
                                      <p:cBhvr>
                                        <p:cTn id="6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4FCFA-0421-EA69-0013-FE15D2099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10F64-FCB5-92E5-5FCC-D3B69B96D045}"/>
              </a:ext>
            </a:extLst>
          </p:cNvPr>
          <p:cNvSpPr>
            <a:spLocks noGrp="1"/>
          </p:cNvSpPr>
          <p:nvPr>
            <p:ph type="title"/>
          </p:nvPr>
        </p:nvSpPr>
        <p:spPr>
          <a:xfrm>
            <a:off x="133563" y="108275"/>
            <a:ext cx="11928297" cy="949967"/>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Forms of Pay</a:t>
            </a:r>
          </a:p>
        </p:txBody>
      </p:sp>
      <p:sp>
        <p:nvSpPr>
          <p:cNvPr id="3" name="Content Placeholder 2">
            <a:extLst>
              <a:ext uri="{FF2B5EF4-FFF2-40B4-BE49-F238E27FC236}">
                <a16:creationId xmlns:a16="http://schemas.microsoft.com/office/drawing/2014/main" id="{B3311528-31C8-4F13-790F-8BFE693A654C}"/>
              </a:ext>
            </a:extLst>
          </p:cNvPr>
          <p:cNvSpPr>
            <a:spLocks noGrp="1"/>
          </p:cNvSpPr>
          <p:nvPr>
            <p:ph idx="1"/>
          </p:nvPr>
        </p:nvSpPr>
        <p:spPr>
          <a:xfrm>
            <a:off x="133563" y="1387011"/>
            <a:ext cx="11928297" cy="5362714"/>
          </a:xfrm>
        </p:spPr>
        <p:txBody>
          <a:bodyPr>
            <a:normAutofit/>
          </a:bodyPr>
          <a:lstStyle/>
          <a:p>
            <a:r>
              <a:rPr lang="en-IN" sz="3600" dirty="0">
                <a:latin typeface="Times New Roman" panose="02020603050405020304" pitchFamily="18" charset="0"/>
                <a:cs typeface="Times New Roman" panose="02020603050405020304" pitchFamily="18" charset="0"/>
              </a:rPr>
              <a:t>Base Pay</a:t>
            </a:r>
          </a:p>
          <a:p>
            <a:r>
              <a:rPr lang="en-IN" sz="3600" dirty="0">
                <a:latin typeface="Times New Roman" panose="02020603050405020304" pitchFamily="18" charset="0"/>
                <a:cs typeface="Times New Roman" panose="02020603050405020304" pitchFamily="18" charset="0"/>
              </a:rPr>
              <a:t>Variable Pay</a:t>
            </a:r>
          </a:p>
          <a:p>
            <a:r>
              <a:rPr lang="en-IN" sz="3600" dirty="0">
                <a:latin typeface="Times New Roman" panose="02020603050405020304" pitchFamily="18" charset="0"/>
                <a:cs typeface="Times New Roman" panose="02020603050405020304" pitchFamily="18" charset="0"/>
              </a:rPr>
              <a:t>Incentive Pay</a:t>
            </a:r>
          </a:p>
          <a:p>
            <a:r>
              <a:rPr lang="en-IN" sz="3600" dirty="0">
                <a:latin typeface="Times New Roman" panose="02020603050405020304" pitchFamily="18" charset="0"/>
                <a:cs typeface="Times New Roman" panose="02020603050405020304" pitchFamily="18" charset="0"/>
              </a:rPr>
              <a:t>Skill-based Pay</a:t>
            </a:r>
          </a:p>
          <a:p>
            <a:r>
              <a:rPr lang="en-IN" sz="3600" dirty="0">
                <a:latin typeface="Times New Roman" panose="02020603050405020304" pitchFamily="18" charset="0"/>
                <a:cs typeface="Times New Roman" panose="02020603050405020304" pitchFamily="18" charset="0"/>
              </a:rPr>
              <a:t>Gainsharing</a:t>
            </a:r>
          </a:p>
          <a:p>
            <a:r>
              <a:rPr lang="en-IN" sz="3600" dirty="0">
                <a:latin typeface="Times New Roman" panose="02020603050405020304" pitchFamily="18" charset="0"/>
                <a:cs typeface="Times New Roman" panose="02020603050405020304" pitchFamily="18" charset="0"/>
              </a:rPr>
              <a:t>Profit Sharing</a:t>
            </a:r>
          </a:p>
        </p:txBody>
      </p:sp>
    </p:spTree>
    <p:extLst>
      <p:ext uri="{BB962C8B-B14F-4D97-AF65-F5344CB8AC3E}">
        <p14:creationId xmlns:p14="http://schemas.microsoft.com/office/powerpoint/2010/main" val="1343340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5F5EB-B874-7A51-18BD-17004AFE1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A70E6F-48FD-5168-7393-AC668FC1E8AF}"/>
              </a:ext>
            </a:extLst>
          </p:cNvPr>
          <p:cNvSpPr>
            <a:spLocks noGrp="1"/>
          </p:cNvSpPr>
          <p:nvPr>
            <p:ph type="title"/>
          </p:nvPr>
        </p:nvSpPr>
        <p:spPr>
          <a:xfrm>
            <a:off x="133563" y="108275"/>
            <a:ext cx="11928297" cy="949967"/>
          </a:xfrm>
        </p:spPr>
        <p:txBody>
          <a:bodyPr>
            <a:noAutofit/>
          </a:bodyPr>
          <a:lstStyle/>
          <a:p>
            <a:pPr algn="ctr"/>
            <a:r>
              <a:rPr lang="en-US" sz="4000" b="1" dirty="0">
                <a:solidFill>
                  <a:srgbClr val="C00000"/>
                </a:solidFill>
                <a:latin typeface="Times New Roman" pitchFamily="18" charset="0"/>
                <a:cs typeface="Times New Roman" pitchFamily="18" charset="0"/>
              </a:rPr>
              <a:t>Factors Affecting Compensation System</a:t>
            </a:r>
            <a:endParaRPr lang="en-IN" sz="4000" b="1" dirty="0">
              <a:solidFill>
                <a:srgbClr val="C00000"/>
              </a:solidFill>
            </a:endParaRPr>
          </a:p>
        </p:txBody>
      </p:sp>
      <p:sp>
        <p:nvSpPr>
          <p:cNvPr id="3" name="Content Placeholder 2">
            <a:extLst>
              <a:ext uri="{FF2B5EF4-FFF2-40B4-BE49-F238E27FC236}">
                <a16:creationId xmlns:a16="http://schemas.microsoft.com/office/drawing/2014/main" id="{3EAA6375-B230-E21D-770D-B934A9A6A026}"/>
              </a:ext>
            </a:extLst>
          </p:cNvPr>
          <p:cNvSpPr>
            <a:spLocks noGrp="1"/>
          </p:cNvSpPr>
          <p:nvPr>
            <p:ph idx="1"/>
          </p:nvPr>
        </p:nvSpPr>
        <p:spPr>
          <a:xfrm>
            <a:off x="133563" y="1387011"/>
            <a:ext cx="4941871" cy="5362714"/>
          </a:xfrm>
        </p:spPr>
        <p:txBody>
          <a:bodyPr>
            <a:normAutofit/>
          </a:bodyPr>
          <a:lstStyle/>
          <a:p>
            <a:pPr marL="0" indent="0">
              <a:buNone/>
            </a:pPr>
            <a:r>
              <a:rPr lang="en-IN" sz="3600" b="1" dirty="0">
                <a:latin typeface="Times New Roman" panose="02020603050405020304" pitchFamily="18" charset="0"/>
                <a:cs typeface="Times New Roman" panose="02020603050405020304" pitchFamily="18" charset="0"/>
              </a:rPr>
              <a:t>Internal Factors</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Ability to Pay</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Job Value</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Employee Performance</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Company Policy</a:t>
            </a:r>
          </a:p>
        </p:txBody>
      </p:sp>
      <p:sp>
        <p:nvSpPr>
          <p:cNvPr id="4" name="Content Placeholder 2">
            <a:extLst>
              <a:ext uri="{FF2B5EF4-FFF2-40B4-BE49-F238E27FC236}">
                <a16:creationId xmlns:a16="http://schemas.microsoft.com/office/drawing/2014/main" id="{B1BB5E8D-8D96-11AE-D4AD-8A245C54E550}"/>
              </a:ext>
            </a:extLst>
          </p:cNvPr>
          <p:cNvSpPr txBox="1">
            <a:spLocks/>
          </p:cNvSpPr>
          <p:nvPr/>
        </p:nvSpPr>
        <p:spPr>
          <a:xfrm>
            <a:off x="6049780" y="1385301"/>
            <a:ext cx="4941871" cy="53627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3600" b="1" dirty="0">
                <a:latin typeface="Times New Roman" panose="02020603050405020304" pitchFamily="18" charset="0"/>
                <a:cs typeface="Times New Roman" panose="02020603050405020304" pitchFamily="18" charset="0"/>
              </a:rPr>
              <a:t>External Factors</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Labour Market</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Cost of Living</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Government Regulations</a:t>
            </a:r>
          </a:p>
          <a:p>
            <a:pPr>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Industry Standards</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0933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fade">
                                      <p:cBhvr>
                                        <p:cTn id="37" dur="500"/>
                                        <p:tgtEl>
                                          <p:spTgt spid="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fade">
                                      <p:cBhvr>
                                        <p:cTn id="42" dur="500"/>
                                        <p:tgtEl>
                                          <p:spTgt spid="4">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3" end="3"/>
                                            </p:txEl>
                                          </p:spTgt>
                                        </p:tgtEl>
                                        <p:attrNameLst>
                                          <p:attrName>style.visibility</p:attrName>
                                        </p:attrNameLst>
                                      </p:cBhvr>
                                      <p:to>
                                        <p:strVal val="visible"/>
                                      </p:to>
                                    </p:set>
                                    <p:animEffect transition="in" filter="fade">
                                      <p:cBhvr>
                                        <p:cTn id="47" dur="500"/>
                                        <p:tgtEl>
                                          <p:spTgt spid="4">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4" end="4"/>
                                            </p:txEl>
                                          </p:spTgt>
                                        </p:tgtEl>
                                        <p:attrNameLst>
                                          <p:attrName>style.visibility</p:attrName>
                                        </p:attrNameLst>
                                      </p:cBhvr>
                                      <p:to>
                                        <p:strVal val="visible"/>
                                      </p:to>
                                    </p:set>
                                    <p:animEffect transition="in" filter="fade">
                                      <p:cBhvr>
                                        <p:cTn id="5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EBEE5-5D2C-28B5-A459-B420A55AEB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2F9AD-2F2B-C37F-B1DA-E4B66FCD4268}"/>
              </a:ext>
            </a:extLst>
          </p:cNvPr>
          <p:cNvSpPr>
            <a:spLocks noGrp="1"/>
          </p:cNvSpPr>
          <p:nvPr>
            <p:ph type="title"/>
          </p:nvPr>
        </p:nvSpPr>
        <p:spPr>
          <a:xfrm>
            <a:off x="133563" y="108275"/>
            <a:ext cx="11928297" cy="949967"/>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Establishing Pay Rates</a:t>
            </a:r>
          </a:p>
        </p:txBody>
      </p:sp>
      <p:sp>
        <p:nvSpPr>
          <p:cNvPr id="3" name="Content Placeholder 2">
            <a:extLst>
              <a:ext uri="{FF2B5EF4-FFF2-40B4-BE49-F238E27FC236}">
                <a16:creationId xmlns:a16="http://schemas.microsoft.com/office/drawing/2014/main" id="{1B67ADD2-DDA1-88B4-BB54-5D061CCE62B8}"/>
              </a:ext>
            </a:extLst>
          </p:cNvPr>
          <p:cNvSpPr>
            <a:spLocks noGrp="1"/>
          </p:cNvSpPr>
          <p:nvPr>
            <p:ph idx="1"/>
          </p:nvPr>
        </p:nvSpPr>
        <p:spPr>
          <a:xfrm>
            <a:off x="133563" y="1387011"/>
            <a:ext cx="11928297" cy="5362714"/>
          </a:xfrm>
        </p:spPr>
        <p:txBody>
          <a:bodyPr>
            <a:normAutofit/>
          </a:bodyPr>
          <a:lstStyle/>
          <a:p>
            <a:r>
              <a:rPr lang="en-IN" sz="3600" dirty="0">
                <a:latin typeface="Times New Roman" panose="02020603050405020304" pitchFamily="18" charset="0"/>
                <a:cs typeface="Times New Roman" panose="02020603050405020304" pitchFamily="18" charset="0"/>
              </a:rPr>
              <a:t>Job Analysis</a:t>
            </a:r>
          </a:p>
          <a:p>
            <a:r>
              <a:rPr lang="en-IN" sz="3600" dirty="0">
                <a:latin typeface="Times New Roman" panose="02020603050405020304" pitchFamily="18" charset="0"/>
                <a:cs typeface="Times New Roman" panose="02020603050405020304" pitchFamily="18" charset="0"/>
              </a:rPr>
              <a:t>Job Evaluation</a:t>
            </a:r>
          </a:p>
          <a:p>
            <a:r>
              <a:rPr lang="en-IN" sz="3600" dirty="0">
                <a:latin typeface="Times New Roman" panose="02020603050405020304" pitchFamily="18" charset="0"/>
                <a:cs typeface="Times New Roman" panose="02020603050405020304" pitchFamily="18" charset="0"/>
              </a:rPr>
              <a:t>Wage Survey</a:t>
            </a:r>
          </a:p>
          <a:p>
            <a:r>
              <a:rPr lang="en-IN" sz="3600" dirty="0">
                <a:latin typeface="Times New Roman" panose="02020603050405020304" pitchFamily="18" charset="0"/>
                <a:cs typeface="Times New Roman" panose="02020603050405020304" pitchFamily="18" charset="0"/>
              </a:rPr>
              <a:t>Pay Structure</a:t>
            </a:r>
          </a:p>
          <a:p>
            <a:r>
              <a:rPr lang="en-IN" sz="3600" dirty="0">
                <a:latin typeface="Times New Roman" panose="02020603050405020304" pitchFamily="18" charset="0"/>
                <a:cs typeface="Times New Roman" panose="02020603050405020304" pitchFamily="18" charset="0"/>
              </a:rPr>
              <a:t>Pay Adjustment</a:t>
            </a:r>
          </a:p>
        </p:txBody>
      </p:sp>
    </p:spTree>
    <p:extLst>
      <p:ext uri="{BB962C8B-B14F-4D97-AF65-F5344CB8AC3E}">
        <p14:creationId xmlns:p14="http://schemas.microsoft.com/office/powerpoint/2010/main" val="2925154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FFCE8-54C0-EF48-7256-8F1EF8AF77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9BA72D-92C5-16B9-3B83-4A17A81DBEEA}"/>
              </a:ext>
            </a:extLst>
          </p:cNvPr>
          <p:cNvSpPr>
            <a:spLocks noGrp="1"/>
          </p:cNvSpPr>
          <p:nvPr>
            <p:ph type="title"/>
          </p:nvPr>
        </p:nvSpPr>
        <p:spPr>
          <a:xfrm>
            <a:off x="133563" y="108275"/>
            <a:ext cx="11928297" cy="949967"/>
          </a:xfrm>
        </p:spPr>
        <p:txBody>
          <a:bodyPr>
            <a:normAutofit fontScale="90000"/>
          </a:bodyPr>
          <a:lstStyle/>
          <a:p>
            <a:pPr algn="ctr"/>
            <a:br>
              <a:rPr lang="en-US" b="1" dirty="0">
                <a:solidFill>
                  <a:srgbClr val="C00000"/>
                </a:solidFill>
                <a:latin typeface="Times New Roman" panose="02020603050405020304" pitchFamily="18" charset="0"/>
                <a:cs typeface="Times New Roman" panose="02020603050405020304" pitchFamily="18" charset="0"/>
              </a:rPr>
            </a:br>
            <a:r>
              <a:rPr lang="en-US" b="1" dirty="0">
                <a:solidFill>
                  <a:srgbClr val="C00000"/>
                </a:solidFill>
                <a:latin typeface="Times New Roman" panose="02020603050405020304" pitchFamily="18" charset="0"/>
                <a:cs typeface="Times New Roman" panose="02020603050405020304" pitchFamily="18" charset="0"/>
              </a:rPr>
              <a:t>Employee Benefits 	</a:t>
            </a:r>
            <a:br>
              <a:rPr lang="en-US" b="1" dirty="0">
                <a:solidFill>
                  <a:srgbClr val="C00000"/>
                </a:solidFill>
                <a:latin typeface="Times New Roman" panose="02020603050405020304" pitchFamily="18" charset="0"/>
                <a:cs typeface="Times New Roman" panose="02020603050405020304" pitchFamily="18" charset="0"/>
              </a:rPr>
            </a:b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852C57-59D0-5621-9CC5-9D6349E8DA28}"/>
              </a:ext>
            </a:extLst>
          </p:cNvPr>
          <p:cNvSpPr>
            <a:spLocks noGrp="1"/>
          </p:cNvSpPr>
          <p:nvPr>
            <p:ph idx="1"/>
          </p:nvPr>
        </p:nvSpPr>
        <p:spPr>
          <a:xfrm>
            <a:off x="133563" y="1387011"/>
            <a:ext cx="11928297" cy="5362714"/>
          </a:xfrm>
        </p:spPr>
        <p:txBody>
          <a:bodyPr>
            <a:normAutofit/>
          </a:bodyPr>
          <a:lstStyle/>
          <a:p>
            <a:pPr marL="0" indent="0" algn="just">
              <a:buNone/>
            </a:pPr>
            <a:r>
              <a:rPr lang="en-US" sz="3600" dirty="0">
                <a:latin typeface="Times New Roman" pitchFamily="18" charset="0"/>
                <a:cs typeface="Times New Roman" pitchFamily="18" charset="0"/>
              </a:rPr>
              <a:t>Employee Benefits, also known as perks or fringe benefits, are provided to employees over and above salaries and wages.</a:t>
            </a:r>
            <a:endParaRPr lang="en-IN" sz="36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Statutory Benefits</a:t>
            </a:r>
          </a:p>
          <a:p>
            <a:r>
              <a:rPr lang="en-IN" sz="3600" dirty="0">
                <a:latin typeface="Times New Roman" panose="02020603050405020304" pitchFamily="18" charset="0"/>
                <a:cs typeface="Times New Roman" panose="02020603050405020304" pitchFamily="18" charset="0"/>
              </a:rPr>
              <a:t>Voluntary Benefits</a:t>
            </a:r>
          </a:p>
          <a:p>
            <a:r>
              <a:rPr lang="en-IN" sz="3600" dirty="0">
                <a:latin typeface="Times New Roman" panose="02020603050405020304" pitchFamily="18" charset="0"/>
                <a:cs typeface="Times New Roman" panose="02020603050405020304" pitchFamily="18" charset="0"/>
              </a:rPr>
              <a:t>Retirement Benefits</a:t>
            </a:r>
          </a:p>
          <a:p>
            <a:r>
              <a:rPr lang="en-IN" sz="3600" dirty="0">
                <a:latin typeface="Times New Roman" panose="02020603050405020304" pitchFamily="18" charset="0"/>
                <a:cs typeface="Times New Roman" panose="02020603050405020304" pitchFamily="18" charset="0"/>
              </a:rPr>
              <a:t>Work-life Benefits</a:t>
            </a:r>
          </a:p>
        </p:txBody>
      </p:sp>
    </p:spTree>
    <p:extLst>
      <p:ext uri="{BB962C8B-B14F-4D97-AF65-F5344CB8AC3E}">
        <p14:creationId xmlns:p14="http://schemas.microsoft.com/office/powerpoint/2010/main" val="237642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13D92-DDE2-0400-3ACA-47E06CE5E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1A5B27-8F43-2916-5298-7E5840ABF9AE}"/>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Performance Management &amp;Appraisal</a:t>
            </a:r>
          </a:p>
        </p:txBody>
      </p:sp>
      <p:sp>
        <p:nvSpPr>
          <p:cNvPr id="3" name="Content Placeholder 2">
            <a:extLst>
              <a:ext uri="{FF2B5EF4-FFF2-40B4-BE49-F238E27FC236}">
                <a16:creationId xmlns:a16="http://schemas.microsoft.com/office/drawing/2014/main" id="{8503A6E8-4110-5057-5903-7E7E241CE825}"/>
              </a:ext>
            </a:extLst>
          </p:cNvPr>
          <p:cNvSpPr>
            <a:spLocks noGrp="1"/>
          </p:cNvSpPr>
          <p:nvPr>
            <p:ph idx="1"/>
          </p:nvPr>
        </p:nvSpPr>
        <p:spPr>
          <a:xfrm>
            <a:off x="133563" y="1387011"/>
            <a:ext cx="11928297" cy="5362714"/>
          </a:xfrm>
        </p:spPr>
        <p:txBody>
          <a:bodyPr>
            <a:normAutofit/>
          </a:bodyPr>
          <a:lstStyle/>
          <a:p>
            <a:pPr algn="just">
              <a:buNone/>
            </a:pPr>
            <a:r>
              <a:rPr lang="en-US" sz="3600" dirty="0"/>
              <a:t>	</a:t>
            </a:r>
            <a:r>
              <a:rPr lang="en-US" sz="3600" b="1" dirty="0">
                <a:latin typeface="Times New Roman" pitchFamily="18" charset="0"/>
                <a:cs typeface="Times New Roman" pitchFamily="18" charset="0"/>
              </a:rPr>
              <a:t>Performance Management </a:t>
            </a:r>
            <a:r>
              <a:rPr lang="en-US" sz="3600" dirty="0">
                <a:latin typeface="Times New Roman" pitchFamily="18" charset="0"/>
                <a:cs typeface="Times New Roman" pitchFamily="18" charset="0"/>
              </a:rPr>
              <a:t>is a continuous and systematic approach that ensures the achievement of organizational business goals by streamlining employee performance and efforts to match the set goals efficiently.</a:t>
            </a:r>
          </a:p>
          <a:p>
            <a:pPr algn="just">
              <a:buNone/>
            </a:pPr>
            <a:r>
              <a:rPr lang="en-US" sz="3600" dirty="0">
                <a:latin typeface="Times New Roman" pitchFamily="18" charset="0"/>
                <a:cs typeface="Times New Roman" pitchFamily="18" charset="0"/>
              </a:rPr>
              <a:t>	</a:t>
            </a:r>
            <a:r>
              <a:rPr lang="en-US" sz="3600" b="1" dirty="0">
                <a:latin typeface="Times New Roman" pitchFamily="18" charset="0"/>
                <a:cs typeface="Times New Roman" pitchFamily="18" charset="0"/>
              </a:rPr>
              <a:t>Performance Appraisal </a:t>
            </a:r>
            <a:r>
              <a:rPr lang="en-US" sz="3600" dirty="0">
                <a:latin typeface="Times New Roman" pitchFamily="18" charset="0"/>
                <a:cs typeface="Times New Roman" pitchFamily="18" charset="0"/>
              </a:rPr>
              <a:t>is a process for evaluating and documenting how well an employee is carrying out his or her job. Performance appraisals are based on the employee's progress against goals set once a year with his or her manager.</a:t>
            </a:r>
          </a:p>
          <a:p>
            <a:pPr marL="0" indent="0" algn="just">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000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F0B6D-BF9E-174D-3CC8-92A32B19CE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272D6A-DA02-4ECD-697E-69E54A564D07}"/>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Objectives of Performance Management</a:t>
            </a:r>
          </a:p>
        </p:txBody>
      </p:sp>
      <p:sp>
        <p:nvSpPr>
          <p:cNvPr id="3" name="Content Placeholder 2">
            <a:extLst>
              <a:ext uri="{FF2B5EF4-FFF2-40B4-BE49-F238E27FC236}">
                <a16:creationId xmlns:a16="http://schemas.microsoft.com/office/drawing/2014/main" id="{689D55A7-7F75-6066-A06A-603A870BF1E6}"/>
              </a:ext>
            </a:extLst>
          </p:cNvPr>
          <p:cNvSpPr>
            <a:spLocks noGrp="1"/>
          </p:cNvSpPr>
          <p:nvPr>
            <p:ph idx="1"/>
          </p:nvPr>
        </p:nvSpPr>
        <p:spPr>
          <a:xfrm>
            <a:off x="133563" y="1387011"/>
            <a:ext cx="11928297" cy="5362714"/>
          </a:xfrm>
        </p:spPr>
        <p:txBody>
          <a:bodyPr>
            <a:normAutofit/>
          </a:bodyPr>
          <a:lstStyle/>
          <a:p>
            <a:pPr algn="just"/>
            <a:r>
              <a:rPr lang="en-US" sz="3600" dirty="0">
                <a:latin typeface="Times New Roman" pitchFamily="18" charset="0"/>
                <a:cs typeface="Times New Roman" pitchFamily="18" charset="0"/>
              </a:rPr>
              <a:t>Develop clear role definitions, expectations and goals.</a:t>
            </a:r>
          </a:p>
          <a:p>
            <a:pPr algn="just"/>
            <a:r>
              <a:rPr lang="en-US" sz="3600" dirty="0">
                <a:latin typeface="Times New Roman" pitchFamily="18" charset="0"/>
                <a:cs typeface="Times New Roman" pitchFamily="18" charset="0"/>
              </a:rPr>
              <a:t>Increase employee engagement.</a:t>
            </a:r>
          </a:p>
          <a:p>
            <a:pPr algn="just"/>
            <a:r>
              <a:rPr lang="en-US" sz="3600" dirty="0">
                <a:latin typeface="Times New Roman" pitchFamily="18" charset="0"/>
                <a:cs typeface="Times New Roman" pitchFamily="18" charset="0"/>
              </a:rPr>
              <a:t>Develop managerial leadership and coaching skills.</a:t>
            </a:r>
          </a:p>
          <a:p>
            <a:pPr algn="just"/>
            <a:r>
              <a:rPr lang="en-US" sz="3600" dirty="0">
                <a:latin typeface="Times New Roman" pitchFamily="18" charset="0"/>
                <a:cs typeface="Times New Roman" pitchFamily="18" charset="0"/>
              </a:rPr>
              <a:t>Boost productivity through improved performance.</a:t>
            </a:r>
          </a:p>
          <a:p>
            <a:pPr algn="just"/>
            <a:r>
              <a:rPr lang="en-US" sz="3600" dirty="0">
                <a:latin typeface="Times New Roman" pitchFamily="18" charset="0"/>
                <a:cs typeface="Times New Roman" pitchFamily="18" charset="0"/>
              </a:rPr>
              <a:t>Develop a performance reward program that incentivizes accomplishment.</a:t>
            </a:r>
          </a:p>
          <a:p>
            <a:pPr algn="just"/>
            <a:endParaRPr lang="en-US" sz="3600" dirty="0"/>
          </a:p>
          <a:p>
            <a:pPr algn="just"/>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1018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6B907-2C6E-C090-F68F-0E76B34EAD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4111A-C3E9-0083-7F6F-2DB3294C2E9D}"/>
              </a:ext>
            </a:extLst>
          </p:cNvPr>
          <p:cNvSpPr>
            <a:spLocks noGrp="1"/>
          </p:cNvSpPr>
          <p:nvPr>
            <p:ph type="title"/>
          </p:nvPr>
        </p:nvSpPr>
        <p:spPr>
          <a:xfrm>
            <a:off x="133563" y="108275"/>
            <a:ext cx="11928297" cy="949967"/>
          </a:xfrm>
        </p:spPr>
        <p:txBody>
          <a:bodyPr>
            <a:normAutofit fontScale="90000"/>
          </a:bodyPr>
          <a:lstStyle/>
          <a:p>
            <a:pPr algn="ctr"/>
            <a:br>
              <a:rPr lang="en-IN" b="1" dirty="0">
                <a:solidFill>
                  <a:srgbClr val="C00000"/>
                </a:solidFill>
                <a:latin typeface="Times New Roman" panose="02020603050405020304" pitchFamily="18" charset="0"/>
                <a:cs typeface="Times New Roman" panose="02020603050405020304" pitchFamily="18" charset="0"/>
              </a:rPr>
            </a:br>
            <a:r>
              <a:rPr lang="en-IN" b="1" dirty="0">
                <a:solidFill>
                  <a:srgbClr val="C00000"/>
                </a:solidFill>
                <a:latin typeface="Times New Roman" panose="02020603050405020304" pitchFamily="18" charset="0"/>
                <a:cs typeface="Times New Roman" panose="02020603050405020304" pitchFamily="18" charset="0"/>
              </a:rPr>
              <a:t>Performance Management v/s Performance Appraisal </a:t>
            </a:r>
            <a:br>
              <a:rPr lang="en-IN" b="1" dirty="0">
                <a:solidFill>
                  <a:srgbClr val="C00000"/>
                </a:solidFill>
                <a:latin typeface="Times New Roman" panose="02020603050405020304" pitchFamily="18" charset="0"/>
                <a:cs typeface="Times New Roman" panose="02020603050405020304" pitchFamily="18" charset="0"/>
              </a:rPr>
            </a:br>
            <a:endParaRPr lang="en-IN" b="1" dirty="0">
              <a:solidFill>
                <a:srgbClr val="C0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B8A9B449-C174-5AC2-401E-DA6D45953759}"/>
              </a:ext>
            </a:extLst>
          </p:cNvPr>
          <p:cNvGraphicFramePr>
            <a:graphicFrameLocks noGrp="1"/>
          </p:cNvGraphicFramePr>
          <p:nvPr>
            <p:extLst>
              <p:ext uri="{D42A27DB-BD31-4B8C-83A1-F6EECF244321}">
                <p14:modId xmlns:p14="http://schemas.microsoft.com/office/powerpoint/2010/main" val="1431117232"/>
              </p:ext>
            </p:extLst>
          </p:nvPr>
        </p:nvGraphicFramePr>
        <p:xfrm>
          <a:off x="133562" y="1150708"/>
          <a:ext cx="11774184" cy="5583804"/>
        </p:xfrm>
        <a:graphic>
          <a:graphicData uri="http://schemas.openxmlformats.org/drawingml/2006/table">
            <a:tbl>
              <a:tblPr>
                <a:tableStyleId>{5940675A-B579-460E-94D1-54222C63F5DA}</a:tableStyleId>
              </a:tblPr>
              <a:tblGrid>
                <a:gridCol w="856078">
                  <a:extLst>
                    <a:ext uri="{9D8B030D-6E8A-4147-A177-3AD203B41FA5}">
                      <a16:colId xmlns:a16="http://schemas.microsoft.com/office/drawing/2014/main" val="2942251614"/>
                    </a:ext>
                  </a:extLst>
                </a:gridCol>
                <a:gridCol w="5061691">
                  <a:extLst>
                    <a:ext uri="{9D8B030D-6E8A-4147-A177-3AD203B41FA5}">
                      <a16:colId xmlns:a16="http://schemas.microsoft.com/office/drawing/2014/main" val="1967450007"/>
                    </a:ext>
                  </a:extLst>
                </a:gridCol>
                <a:gridCol w="5856415">
                  <a:extLst>
                    <a:ext uri="{9D8B030D-6E8A-4147-A177-3AD203B41FA5}">
                      <a16:colId xmlns:a16="http://schemas.microsoft.com/office/drawing/2014/main" val="1477046056"/>
                    </a:ext>
                  </a:extLst>
                </a:gridCol>
              </a:tblGrid>
              <a:tr h="992919">
                <a:tc>
                  <a:txBody>
                    <a:bodyPr/>
                    <a:lstStyle/>
                    <a:p>
                      <a:pPr algn="ctr">
                        <a:buNone/>
                      </a:pPr>
                      <a:r>
                        <a:rPr lang="en-IN" sz="3000" b="1" dirty="0">
                          <a:latin typeface="Times New Roman" panose="02020603050405020304" pitchFamily="18" charset="0"/>
                          <a:cs typeface="Times New Roman" panose="02020603050405020304" pitchFamily="18" charset="0"/>
                        </a:rPr>
                        <a:t>S. No.</a:t>
                      </a:r>
                    </a:p>
                  </a:txBody>
                  <a:tcPr anchor="ctr"/>
                </a:tc>
                <a:tc>
                  <a:txBody>
                    <a:bodyPr/>
                    <a:lstStyle/>
                    <a:p>
                      <a:pPr algn="ctr">
                        <a:buNone/>
                      </a:pPr>
                      <a:r>
                        <a:rPr lang="en-IN" sz="3000" b="1" dirty="0">
                          <a:latin typeface="Times New Roman" panose="02020603050405020304" pitchFamily="18" charset="0"/>
                          <a:cs typeface="Times New Roman" panose="02020603050405020304" pitchFamily="18" charset="0"/>
                        </a:rPr>
                        <a:t>Performance Management</a:t>
                      </a:r>
                    </a:p>
                  </a:txBody>
                  <a:tcPr anchor="ctr"/>
                </a:tc>
                <a:tc>
                  <a:txBody>
                    <a:bodyPr/>
                    <a:lstStyle/>
                    <a:p>
                      <a:pPr algn="ctr">
                        <a:buNone/>
                      </a:pPr>
                      <a:r>
                        <a:rPr lang="en-IN" sz="3000" b="1" dirty="0">
                          <a:latin typeface="Times New Roman" panose="02020603050405020304" pitchFamily="18" charset="0"/>
                          <a:cs typeface="Times New Roman" panose="02020603050405020304" pitchFamily="18" charset="0"/>
                        </a:rPr>
                        <a:t>Performance Appraisal</a:t>
                      </a:r>
                    </a:p>
                  </a:txBody>
                  <a:tcPr anchor="ctr"/>
                </a:tc>
                <a:extLst>
                  <a:ext uri="{0D108BD9-81ED-4DB2-BD59-A6C34878D82A}">
                    <a16:rowId xmlns:a16="http://schemas.microsoft.com/office/drawing/2014/main" val="3552688864"/>
                  </a:ext>
                </a:extLst>
              </a:tr>
              <a:tr h="992919">
                <a:tc>
                  <a:txBody>
                    <a:bodyPr/>
                    <a:lstStyle/>
                    <a:p>
                      <a:pPr>
                        <a:buNone/>
                      </a:pPr>
                      <a:r>
                        <a:rPr lang="en-IN" sz="3000">
                          <a:latin typeface="Times New Roman" panose="02020603050405020304" pitchFamily="18" charset="0"/>
                          <a:cs typeface="Times New Roman" panose="02020603050405020304" pitchFamily="18" charset="0"/>
                        </a:rPr>
                        <a:t>1</a:t>
                      </a:r>
                    </a:p>
                  </a:txBody>
                  <a:tcPr anchor="ctr"/>
                </a:tc>
                <a:tc>
                  <a:txBody>
                    <a:bodyPr/>
                    <a:lstStyle/>
                    <a:p>
                      <a:pPr>
                        <a:buNone/>
                      </a:pPr>
                      <a:r>
                        <a:rPr lang="en-US" sz="3000" dirty="0">
                          <a:latin typeface="Times New Roman" panose="02020603050405020304" pitchFamily="18" charset="0"/>
                          <a:cs typeface="Times New Roman" panose="02020603050405020304" pitchFamily="18" charset="0"/>
                        </a:rPr>
                        <a:t>Continuous process-takes place multiple times in a year</a:t>
                      </a:r>
                    </a:p>
                  </a:txBody>
                  <a:tcPr anchor="ctr"/>
                </a:tc>
                <a:tc>
                  <a:txBody>
                    <a:bodyPr/>
                    <a:lstStyle/>
                    <a:p>
                      <a:pPr>
                        <a:buNone/>
                      </a:pPr>
                      <a:r>
                        <a:rPr lang="en-US" sz="3000" dirty="0">
                          <a:latin typeface="Times New Roman" panose="02020603050405020304" pitchFamily="18" charset="0"/>
                          <a:cs typeface="Times New Roman" panose="02020603050405020304" pitchFamily="18" charset="0"/>
                        </a:rPr>
                        <a:t>Annual review of employees' overall performance</a:t>
                      </a:r>
                    </a:p>
                  </a:txBody>
                  <a:tcPr anchor="ctr"/>
                </a:tc>
                <a:extLst>
                  <a:ext uri="{0D108BD9-81ED-4DB2-BD59-A6C34878D82A}">
                    <a16:rowId xmlns:a16="http://schemas.microsoft.com/office/drawing/2014/main" val="394217217"/>
                  </a:ext>
                </a:extLst>
              </a:tr>
              <a:tr h="992919">
                <a:tc>
                  <a:txBody>
                    <a:bodyPr/>
                    <a:lstStyle/>
                    <a:p>
                      <a:pPr>
                        <a:buNone/>
                      </a:pPr>
                      <a:r>
                        <a:rPr lang="en-IN" sz="3000">
                          <a:latin typeface="Times New Roman" panose="02020603050405020304" pitchFamily="18" charset="0"/>
                          <a:cs typeface="Times New Roman" panose="02020603050405020304" pitchFamily="18" charset="0"/>
                        </a:rPr>
                        <a:t>2</a:t>
                      </a:r>
                    </a:p>
                  </a:txBody>
                  <a:tcPr anchor="ctr"/>
                </a:tc>
                <a:tc>
                  <a:txBody>
                    <a:bodyPr/>
                    <a:lstStyle/>
                    <a:p>
                      <a:pPr>
                        <a:buNone/>
                      </a:pPr>
                      <a:r>
                        <a:rPr lang="en-US" sz="3000" dirty="0">
                          <a:latin typeface="Times New Roman" panose="02020603050405020304" pitchFamily="18" charset="0"/>
                          <a:cs typeface="Times New Roman" panose="02020603050405020304" pitchFamily="18" charset="0"/>
                        </a:rPr>
                        <a:t>Requires strategic planning and execution</a:t>
                      </a:r>
                    </a:p>
                  </a:txBody>
                  <a:tcPr anchor="ctr"/>
                </a:tc>
                <a:tc>
                  <a:txBody>
                    <a:bodyPr/>
                    <a:lstStyle/>
                    <a:p>
                      <a:pPr>
                        <a:buNone/>
                      </a:pPr>
                      <a:r>
                        <a:rPr lang="en-US" sz="3000">
                          <a:latin typeface="Times New Roman" panose="02020603050405020304" pitchFamily="18" charset="0"/>
                          <a:cs typeface="Times New Roman" panose="02020603050405020304" pitchFamily="18" charset="0"/>
                        </a:rPr>
                        <a:t>Follows an operational process that does not require extensive planning</a:t>
                      </a:r>
                    </a:p>
                  </a:txBody>
                  <a:tcPr anchor="ctr"/>
                </a:tc>
                <a:extLst>
                  <a:ext uri="{0D108BD9-81ED-4DB2-BD59-A6C34878D82A}">
                    <a16:rowId xmlns:a16="http://schemas.microsoft.com/office/drawing/2014/main" val="3885591543"/>
                  </a:ext>
                </a:extLst>
              </a:tr>
              <a:tr h="551622">
                <a:tc>
                  <a:txBody>
                    <a:bodyPr/>
                    <a:lstStyle/>
                    <a:p>
                      <a:pPr>
                        <a:buNone/>
                      </a:pPr>
                      <a:r>
                        <a:rPr lang="en-IN" sz="3000">
                          <a:latin typeface="Times New Roman" panose="02020603050405020304" pitchFamily="18" charset="0"/>
                          <a:cs typeface="Times New Roman" panose="02020603050405020304" pitchFamily="18" charset="0"/>
                        </a:rPr>
                        <a:t>3</a:t>
                      </a:r>
                    </a:p>
                  </a:txBody>
                  <a:tcPr anchor="ctr"/>
                </a:tc>
                <a:tc>
                  <a:txBody>
                    <a:bodyPr/>
                    <a:lstStyle/>
                    <a:p>
                      <a:pPr>
                        <a:buNone/>
                      </a:pPr>
                      <a:r>
                        <a:rPr lang="en-IN" sz="3000">
                          <a:latin typeface="Times New Roman" panose="02020603050405020304" pitchFamily="18" charset="0"/>
                          <a:cs typeface="Times New Roman" panose="02020603050405020304" pitchFamily="18" charset="0"/>
                        </a:rPr>
                        <a:t>Flexible in nature</a:t>
                      </a:r>
                    </a:p>
                  </a:txBody>
                  <a:tcPr anchor="ctr"/>
                </a:tc>
                <a:tc>
                  <a:txBody>
                    <a:bodyPr/>
                    <a:lstStyle/>
                    <a:p>
                      <a:pPr>
                        <a:buNone/>
                      </a:pPr>
                      <a:r>
                        <a:rPr lang="en-IN" sz="3000">
                          <a:latin typeface="Times New Roman" panose="02020603050405020304" pitchFamily="18" charset="0"/>
                          <a:cs typeface="Times New Roman" panose="02020603050405020304" pitchFamily="18" charset="0"/>
                        </a:rPr>
                        <a:t>Rigid in nature</a:t>
                      </a:r>
                    </a:p>
                  </a:txBody>
                  <a:tcPr anchor="ctr"/>
                </a:tc>
                <a:extLst>
                  <a:ext uri="{0D108BD9-81ED-4DB2-BD59-A6C34878D82A}">
                    <a16:rowId xmlns:a16="http://schemas.microsoft.com/office/drawing/2014/main" val="3967418740"/>
                  </a:ext>
                </a:extLst>
              </a:tr>
              <a:tr h="1434217">
                <a:tc>
                  <a:txBody>
                    <a:bodyPr/>
                    <a:lstStyle/>
                    <a:p>
                      <a:pPr>
                        <a:buNone/>
                      </a:pPr>
                      <a:r>
                        <a:rPr lang="en-IN" sz="3000">
                          <a:latin typeface="Times New Roman" panose="02020603050405020304" pitchFamily="18" charset="0"/>
                          <a:cs typeface="Times New Roman" panose="02020603050405020304" pitchFamily="18" charset="0"/>
                        </a:rPr>
                        <a:t>4</a:t>
                      </a:r>
                    </a:p>
                  </a:txBody>
                  <a:tcPr anchor="ctr"/>
                </a:tc>
                <a:tc>
                  <a:txBody>
                    <a:bodyPr/>
                    <a:lstStyle/>
                    <a:p>
                      <a:pPr>
                        <a:buNone/>
                      </a:pPr>
                      <a:r>
                        <a:rPr lang="en-US" sz="3000">
                          <a:latin typeface="Times New Roman" panose="02020603050405020304" pitchFamily="18" charset="0"/>
                          <a:cs typeface="Times New Roman" panose="02020603050405020304" pitchFamily="18" charset="0"/>
                        </a:rPr>
                        <a:t>Employee engagement is the essence of Performance Management System (PMS)</a:t>
                      </a:r>
                    </a:p>
                  </a:txBody>
                  <a:tcPr anchor="ctr"/>
                </a:tc>
                <a:tc>
                  <a:txBody>
                    <a:bodyPr/>
                    <a:lstStyle/>
                    <a:p>
                      <a:pPr>
                        <a:buNone/>
                      </a:pPr>
                      <a:r>
                        <a:rPr lang="en-IN" sz="3000">
                          <a:latin typeface="Times New Roman" panose="02020603050405020304" pitchFamily="18" charset="0"/>
                          <a:cs typeface="Times New Roman" panose="02020603050405020304" pitchFamily="18" charset="0"/>
                        </a:rPr>
                        <a:t>Less employee engagement</a:t>
                      </a:r>
                    </a:p>
                  </a:txBody>
                  <a:tcPr anchor="ctr"/>
                </a:tc>
                <a:extLst>
                  <a:ext uri="{0D108BD9-81ED-4DB2-BD59-A6C34878D82A}">
                    <a16:rowId xmlns:a16="http://schemas.microsoft.com/office/drawing/2014/main" val="2044623960"/>
                  </a:ext>
                </a:extLst>
              </a:tr>
              <a:tr h="551622">
                <a:tc>
                  <a:txBody>
                    <a:bodyPr/>
                    <a:lstStyle/>
                    <a:p>
                      <a:pPr>
                        <a:buNone/>
                      </a:pPr>
                      <a:r>
                        <a:rPr lang="en-IN" sz="3000">
                          <a:latin typeface="Times New Roman" panose="02020603050405020304" pitchFamily="18" charset="0"/>
                          <a:cs typeface="Times New Roman" panose="02020603050405020304" pitchFamily="18" charset="0"/>
                        </a:rPr>
                        <a:t>5</a:t>
                      </a:r>
                    </a:p>
                  </a:txBody>
                  <a:tcPr anchor="ctr"/>
                </a:tc>
                <a:tc>
                  <a:txBody>
                    <a:bodyPr/>
                    <a:lstStyle/>
                    <a:p>
                      <a:pPr>
                        <a:buNone/>
                      </a:pPr>
                      <a:r>
                        <a:rPr lang="en-IN" sz="3000">
                          <a:latin typeface="Times New Roman" panose="02020603050405020304" pitchFamily="18" charset="0"/>
                          <a:cs typeface="Times New Roman" panose="02020603050405020304" pitchFamily="18" charset="0"/>
                        </a:rPr>
                        <a:t>More transparency</a:t>
                      </a:r>
                    </a:p>
                  </a:txBody>
                  <a:tcPr anchor="ctr"/>
                </a:tc>
                <a:tc>
                  <a:txBody>
                    <a:bodyPr/>
                    <a:lstStyle/>
                    <a:p>
                      <a:pPr>
                        <a:buNone/>
                      </a:pPr>
                      <a:r>
                        <a:rPr lang="en-IN" sz="3000" dirty="0">
                          <a:latin typeface="Times New Roman" panose="02020603050405020304" pitchFamily="18" charset="0"/>
                          <a:cs typeface="Times New Roman" panose="02020603050405020304" pitchFamily="18" charset="0"/>
                        </a:rPr>
                        <a:t>Less transparency</a:t>
                      </a:r>
                    </a:p>
                  </a:txBody>
                  <a:tcPr anchor="ctr"/>
                </a:tc>
                <a:extLst>
                  <a:ext uri="{0D108BD9-81ED-4DB2-BD59-A6C34878D82A}">
                    <a16:rowId xmlns:a16="http://schemas.microsoft.com/office/drawing/2014/main" val="3514618019"/>
                  </a:ext>
                </a:extLst>
              </a:tr>
            </a:tbl>
          </a:graphicData>
        </a:graphic>
      </p:graphicFrame>
    </p:spTree>
    <p:extLst>
      <p:ext uri="{BB962C8B-B14F-4D97-AF65-F5344CB8AC3E}">
        <p14:creationId xmlns:p14="http://schemas.microsoft.com/office/powerpoint/2010/main" val="2119687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0DA32-F3DE-AE57-AC7E-E88B5E338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F734EA-F895-AF52-2EA9-7774F0C68E44}"/>
              </a:ext>
            </a:extLst>
          </p:cNvPr>
          <p:cNvSpPr>
            <a:spLocks noGrp="1"/>
          </p:cNvSpPr>
          <p:nvPr>
            <p:ph type="title"/>
          </p:nvPr>
        </p:nvSpPr>
        <p:spPr>
          <a:xfrm>
            <a:off x="133563" y="108275"/>
            <a:ext cx="11928297" cy="949967"/>
          </a:xfrm>
        </p:spPr>
        <p:txBody>
          <a:bodyPr>
            <a:normAutofit fontScale="90000"/>
          </a:bodyPr>
          <a:lstStyle/>
          <a:p>
            <a:pPr algn="ctr"/>
            <a:r>
              <a:rPr lang="en-US" b="1" dirty="0">
                <a:solidFill>
                  <a:srgbClr val="C00000"/>
                </a:solidFill>
                <a:latin typeface="Times New Roman" panose="02020603050405020304" pitchFamily="18" charset="0"/>
                <a:cs typeface="Times New Roman" panose="02020603050405020304" pitchFamily="18" charset="0"/>
              </a:rPr>
              <a:t>Common Problems with </a:t>
            </a:r>
            <a:r>
              <a:rPr lang="en-IN" b="1" dirty="0">
                <a:solidFill>
                  <a:srgbClr val="C00000"/>
                </a:solidFill>
                <a:latin typeface="Times New Roman" panose="02020603050405020304" pitchFamily="18" charset="0"/>
                <a:cs typeface="Times New Roman" panose="02020603050405020304" pitchFamily="18" charset="0"/>
              </a:rPr>
              <a:t>Performance</a:t>
            </a:r>
            <a:r>
              <a:rPr lang="en-US" b="1" dirty="0">
                <a:solidFill>
                  <a:srgbClr val="C00000"/>
                </a:solidFill>
                <a:latin typeface="Times New Roman" panose="02020603050405020304" pitchFamily="18" charset="0"/>
                <a:cs typeface="Times New Roman" panose="02020603050405020304" pitchFamily="18" charset="0"/>
              </a:rPr>
              <a:t> Appraisals 	</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64D786E-484C-4478-B603-3E804FA59DC8}"/>
              </a:ext>
            </a:extLst>
          </p:cNvPr>
          <p:cNvSpPr>
            <a:spLocks noGrp="1"/>
          </p:cNvSpPr>
          <p:nvPr>
            <p:ph idx="1"/>
          </p:nvPr>
        </p:nvSpPr>
        <p:spPr>
          <a:xfrm>
            <a:off x="133563" y="1150706"/>
            <a:ext cx="11928297" cy="5599019"/>
          </a:xfrm>
        </p:spPr>
        <p:txBody>
          <a:bodyPr>
            <a:normAutofit fontScale="70000" lnSpcReduction="20000"/>
          </a:bodyPr>
          <a:lstStyle/>
          <a:p>
            <a:pPr>
              <a:lnSpc>
                <a:spcPct val="120000"/>
              </a:lnSpc>
            </a:pPr>
            <a:r>
              <a:rPr lang="en-US" sz="3900" dirty="0">
                <a:latin typeface="Times New Roman" pitchFamily="18" charset="0"/>
                <a:cs typeface="Times New Roman" pitchFamily="18" charset="0"/>
              </a:rPr>
              <a:t>Manager’s judgment or assessment based on preferences.</a:t>
            </a:r>
            <a:endParaRPr lang="en-US" sz="3900" b="1" dirty="0">
              <a:latin typeface="Times New Roman" pitchFamily="18" charset="0"/>
              <a:cs typeface="Times New Roman" pitchFamily="18" charset="0"/>
            </a:endParaRPr>
          </a:p>
          <a:p>
            <a:pPr>
              <a:lnSpc>
                <a:spcPct val="120000"/>
              </a:lnSpc>
            </a:pPr>
            <a:r>
              <a:rPr lang="en-US" sz="3900" dirty="0">
                <a:latin typeface="Times New Roman" pitchFamily="18" charset="0"/>
                <a:cs typeface="Times New Roman" pitchFamily="18" charset="0"/>
              </a:rPr>
              <a:t>Unstructured methods of performance appraisal systems.</a:t>
            </a:r>
            <a:endParaRPr lang="en-US" sz="3900" b="1" dirty="0">
              <a:latin typeface="Times New Roman" pitchFamily="18" charset="0"/>
              <a:cs typeface="Times New Roman" pitchFamily="18" charset="0"/>
            </a:endParaRPr>
          </a:p>
          <a:p>
            <a:pPr>
              <a:lnSpc>
                <a:spcPct val="120000"/>
              </a:lnSpc>
            </a:pPr>
            <a:r>
              <a:rPr lang="en-US" sz="3900" dirty="0">
                <a:latin typeface="Times New Roman" pitchFamily="18" charset="0"/>
                <a:cs typeface="Times New Roman" pitchFamily="18" charset="0"/>
              </a:rPr>
              <a:t>Lack of interest and ownership of manager.</a:t>
            </a:r>
            <a:endParaRPr lang="en-US" sz="3900" b="1" dirty="0">
              <a:latin typeface="Times New Roman" pitchFamily="18" charset="0"/>
              <a:cs typeface="Times New Roman" pitchFamily="18" charset="0"/>
            </a:endParaRPr>
          </a:p>
          <a:p>
            <a:pPr>
              <a:lnSpc>
                <a:spcPct val="120000"/>
              </a:lnSpc>
            </a:pPr>
            <a:r>
              <a:rPr lang="en-US" sz="3900" dirty="0">
                <a:latin typeface="Times New Roman" pitchFamily="18" charset="0"/>
                <a:cs typeface="Times New Roman" pitchFamily="18" charset="0"/>
              </a:rPr>
              <a:t>Lack of a proper channel of communication.</a:t>
            </a:r>
            <a:endParaRPr lang="en-US" sz="3900" b="1" dirty="0">
              <a:latin typeface="Times New Roman" pitchFamily="18" charset="0"/>
              <a:cs typeface="Times New Roman" pitchFamily="18" charset="0"/>
            </a:endParaRPr>
          </a:p>
          <a:p>
            <a:pPr>
              <a:lnSpc>
                <a:spcPct val="120000"/>
              </a:lnSpc>
            </a:pPr>
            <a:r>
              <a:rPr lang="en-US" sz="3900" dirty="0">
                <a:latin typeface="Times New Roman" pitchFamily="18" charset="0"/>
                <a:cs typeface="Times New Roman" pitchFamily="18" charset="0"/>
              </a:rPr>
              <a:t>Lack of reward and recognition policy.</a:t>
            </a:r>
          </a:p>
          <a:p>
            <a:pPr>
              <a:lnSpc>
                <a:spcPct val="120000"/>
              </a:lnSpc>
            </a:pPr>
            <a:r>
              <a:rPr lang="en-US" sz="3900" dirty="0">
                <a:latin typeface="Times New Roman" pitchFamily="18" charset="0"/>
                <a:cs typeface="Times New Roman" pitchFamily="18" charset="0"/>
              </a:rPr>
              <a:t>Lack of leadership.</a:t>
            </a:r>
          </a:p>
          <a:p>
            <a:pPr>
              <a:lnSpc>
                <a:spcPct val="120000"/>
              </a:lnSpc>
            </a:pPr>
            <a:r>
              <a:rPr lang="en-US" sz="3900" dirty="0">
                <a:latin typeface="Times New Roman" pitchFamily="18" charset="0"/>
                <a:cs typeface="Times New Roman" pitchFamily="18" charset="0"/>
              </a:rPr>
              <a:t>Lack of designing, monitoring and measuring the performance appraisal standards.</a:t>
            </a:r>
          </a:p>
          <a:p>
            <a:pPr>
              <a:lnSpc>
                <a:spcPct val="120000"/>
              </a:lnSpc>
            </a:pPr>
            <a:r>
              <a:rPr lang="en-US" sz="3900" dirty="0">
                <a:latin typeface="Times New Roman" pitchFamily="18" charset="0"/>
                <a:cs typeface="Times New Roman" pitchFamily="18" charset="0"/>
              </a:rPr>
              <a:t>Lack of communication.</a:t>
            </a:r>
          </a:p>
          <a:p>
            <a:pPr>
              <a:lnSpc>
                <a:spcPct val="120000"/>
              </a:lnSpc>
            </a:pPr>
            <a:r>
              <a:rPr lang="en-US" sz="3900" dirty="0">
                <a:latin typeface="Times New Roman" pitchFamily="18" charset="0"/>
                <a:cs typeface="Times New Roman" pitchFamily="18" charset="0"/>
              </a:rPr>
              <a:t>Overemphasizing recent performances.</a:t>
            </a:r>
          </a:p>
          <a:p>
            <a:pPr>
              <a:lnSpc>
                <a:spcPct val="120000"/>
              </a:lnSpc>
            </a:pPr>
            <a:r>
              <a:rPr lang="en-US" sz="3900" dirty="0">
                <a:latin typeface="Times New Roman" pitchFamily="18" charset="0"/>
                <a:cs typeface="Times New Roman" pitchFamily="18" charset="0"/>
              </a:rPr>
              <a:t>No recognition / rewards.</a:t>
            </a:r>
          </a:p>
          <a:p>
            <a:pPr>
              <a:buNone/>
            </a:pPr>
            <a:endParaRPr lang="en-US" sz="3600" b="1" dirty="0">
              <a:latin typeface="Times New Roman" pitchFamily="18" charset="0"/>
              <a:cs typeface="Times New Roman" pitchFamily="18" charset="0"/>
            </a:endParaRPr>
          </a:p>
          <a:p>
            <a:endParaRPr lang="en-US" sz="3600" b="1" dirty="0"/>
          </a:p>
          <a:p>
            <a:endParaRPr lang="en-US" sz="3600" b="1" dirty="0"/>
          </a:p>
          <a:p>
            <a:endParaRPr lang="en-US" sz="3600" dirty="0"/>
          </a:p>
          <a:p>
            <a:pPr marL="0" indent="0" algn="just">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05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6B93E-9216-CBB9-23B0-DB8D6FA09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96A7E-F047-1F92-E479-F2D634BB7E2C}"/>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Performance Management Process 	</a:t>
            </a:r>
          </a:p>
        </p:txBody>
      </p:sp>
      <p:sp>
        <p:nvSpPr>
          <p:cNvPr id="3" name="Content Placeholder 2">
            <a:extLst>
              <a:ext uri="{FF2B5EF4-FFF2-40B4-BE49-F238E27FC236}">
                <a16:creationId xmlns:a16="http://schemas.microsoft.com/office/drawing/2014/main" id="{075C377F-851B-724E-0C71-1617BA7B43F2}"/>
              </a:ext>
            </a:extLst>
          </p:cNvPr>
          <p:cNvSpPr>
            <a:spLocks noGrp="1"/>
          </p:cNvSpPr>
          <p:nvPr>
            <p:ph idx="1"/>
          </p:nvPr>
        </p:nvSpPr>
        <p:spPr>
          <a:xfrm>
            <a:off x="133563" y="1058242"/>
            <a:ext cx="11928297" cy="5691483"/>
          </a:xfrm>
        </p:spPr>
        <p:txBody>
          <a:bodyPr>
            <a:normAutofit/>
          </a:bodyPr>
          <a:lstStyle/>
          <a:p>
            <a:pPr marL="0" indent="0" algn="just">
              <a:buNone/>
            </a:pPr>
            <a:r>
              <a:rPr lang="en-US" sz="3600" dirty="0">
                <a:latin typeface="Times New Roman" pitchFamily="18" charset="0"/>
                <a:cs typeface="Times New Roman" pitchFamily="18" charset="0"/>
              </a:rPr>
              <a:t>Performance Management requires that the manager should define the performance, facilitate performance and encourage performance.</a:t>
            </a:r>
          </a:p>
          <a:p>
            <a:pPr marL="0" indent="0" algn="just">
              <a:buNone/>
            </a:pPr>
            <a:endParaRPr lang="en-IN" sz="3600" dirty="0">
              <a:latin typeface="Times New Roman" panose="02020603050405020304" pitchFamily="18" charset="0"/>
              <a:cs typeface="Times New Roman" panose="02020603050405020304" pitchFamily="18" charset="0"/>
            </a:endParaRPr>
          </a:p>
        </p:txBody>
      </p:sp>
      <p:pic>
        <p:nvPicPr>
          <p:cNvPr id="4" name="Picture 3" descr="11.jpg">
            <a:extLst>
              <a:ext uri="{FF2B5EF4-FFF2-40B4-BE49-F238E27FC236}">
                <a16:creationId xmlns:a16="http://schemas.microsoft.com/office/drawing/2014/main" id="{7B06FF13-03EE-8C53-D784-CB657ADDD24A}"/>
              </a:ext>
            </a:extLst>
          </p:cNvPr>
          <p:cNvPicPr>
            <a:picLocks noChangeAspect="1"/>
          </p:cNvPicPr>
          <p:nvPr/>
        </p:nvPicPr>
        <p:blipFill>
          <a:blip r:embed="rId2"/>
          <a:stretch>
            <a:fillRect/>
          </a:stretch>
        </p:blipFill>
        <p:spPr>
          <a:xfrm>
            <a:off x="2663402" y="2161853"/>
            <a:ext cx="9777746" cy="4444430"/>
          </a:xfrm>
          <a:prstGeom prst="rect">
            <a:avLst/>
          </a:prstGeom>
        </p:spPr>
      </p:pic>
    </p:spTree>
    <p:extLst>
      <p:ext uri="{BB962C8B-B14F-4D97-AF65-F5344CB8AC3E}">
        <p14:creationId xmlns:p14="http://schemas.microsoft.com/office/powerpoint/2010/main" val="313458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4B64F-B8A0-4E17-EE90-E5A162ED2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C3FF67-DCB6-3D85-DD12-6B8C667B7F66}"/>
              </a:ext>
            </a:extLst>
          </p:cNvPr>
          <p:cNvSpPr>
            <a:spLocks noGrp="1"/>
          </p:cNvSpPr>
          <p:nvPr>
            <p:ph type="title"/>
          </p:nvPr>
        </p:nvSpPr>
        <p:spPr>
          <a:xfrm>
            <a:off x="133563" y="108275"/>
            <a:ext cx="11928297" cy="949967"/>
          </a:xfrm>
        </p:spPr>
        <p:txBody>
          <a:bodyPr>
            <a:normAutofit/>
          </a:bodyPr>
          <a:lstStyle/>
          <a:p>
            <a:pPr algn="ctr"/>
            <a:r>
              <a:rPr lang="en-US" b="1" dirty="0">
                <a:solidFill>
                  <a:srgbClr val="C00000"/>
                </a:solidFill>
                <a:latin typeface="Times New Roman" panose="02020603050405020304" pitchFamily="18" charset="0"/>
                <a:cs typeface="Times New Roman" panose="02020603050405020304" pitchFamily="18" charset="0"/>
              </a:rPr>
              <a:t>Types of Performance Rating Systems</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752C10B-DCF1-8A75-5496-5635816D9CB0}"/>
              </a:ext>
            </a:extLst>
          </p:cNvPr>
          <p:cNvSpPr>
            <a:spLocks noGrp="1"/>
          </p:cNvSpPr>
          <p:nvPr>
            <p:ph idx="1"/>
          </p:nvPr>
        </p:nvSpPr>
        <p:spPr>
          <a:xfrm>
            <a:off x="133563" y="1387011"/>
            <a:ext cx="11928297" cy="5362714"/>
          </a:xfrm>
        </p:spPr>
        <p:txBody>
          <a:bodyPr>
            <a:normAutofit/>
          </a:bodyPr>
          <a:lstStyle/>
          <a:p>
            <a:pPr marL="0" indent="0" algn="just">
              <a:buNone/>
            </a:pPr>
            <a:r>
              <a:rPr lang="en-US" sz="3600" dirty="0">
                <a:latin typeface="Times New Roman" pitchFamily="18" charset="0"/>
                <a:cs typeface="Times New Roman" pitchFamily="18" charset="0"/>
              </a:rPr>
              <a:t>Performance Appraisal can be broadly classified into two categories.</a:t>
            </a:r>
          </a:p>
          <a:p>
            <a:pPr marL="742950" indent="-742950" algn="just">
              <a:buFont typeface="+mj-lt"/>
              <a:buAutoNum type="arabicPeriod"/>
            </a:pPr>
            <a:r>
              <a:rPr lang="en-US" sz="3600" dirty="0">
                <a:latin typeface="Times New Roman" pitchFamily="18" charset="0"/>
                <a:cs typeface="Times New Roman" pitchFamily="18" charset="0"/>
              </a:rPr>
              <a:t>Traditional Methods</a:t>
            </a:r>
          </a:p>
          <a:p>
            <a:pPr marL="742950" indent="-742950" algn="just">
              <a:buFont typeface="+mj-lt"/>
              <a:buAutoNum type="arabicPeriod"/>
            </a:pPr>
            <a:r>
              <a:rPr lang="en-US" sz="3600" dirty="0">
                <a:latin typeface="Times New Roman" pitchFamily="18" charset="0"/>
                <a:cs typeface="Times New Roman" pitchFamily="18" charset="0"/>
              </a:rPr>
              <a:t>Modern Methods</a:t>
            </a:r>
          </a:p>
          <a:p>
            <a:pPr marL="0" indent="0" algn="just">
              <a:buNone/>
            </a:pPr>
            <a:endParaRPr lang="en-US" sz="3600" dirty="0">
              <a:solidFill>
                <a:srgbClr val="FF0000"/>
              </a:solidFill>
              <a:latin typeface="Times New Roman" pitchFamily="18" charset="0"/>
              <a:cs typeface="Times New Roman" pitchFamily="18" charset="0"/>
            </a:endParaRPr>
          </a:p>
          <a:p>
            <a:pPr marL="0" indent="0" algn="just">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30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1FDC7-3BFB-0CE3-05CB-D1707C8649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01F26-EF27-9C5C-2C54-D7AD45A6739B}"/>
              </a:ext>
            </a:extLst>
          </p:cNvPr>
          <p:cNvSpPr>
            <a:spLocks noGrp="1"/>
          </p:cNvSpPr>
          <p:nvPr>
            <p:ph type="title"/>
          </p:nvPr>
        </p:nvSpPr>
        <p:spPr>
          <a:xfrm>
            <a:off x="133563" y="108275"/>
            <a:ext cx="11928297" cy="949967"/>
          </a:xfrm>
        </p:spPr>
        <p:txBody>
          <a:bodyPr>
            <a:normAutofit/>
          </a:bodyPr>
          <a:lstStyle/>
          <a:p>
            <a:pPr algn="ctr"/>
            <a:r>
              <a:rPr lang="en-US" b="1" dirty="0">
                <a:latin typeface="Times New Roman" pitchFamily="18" charset="0"/>
                <a:cs typeface="Times New Roman" pitchFamily="18" charset="0"/>
              </a:rPr>
              <a:t>Traditional Methods</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50394D-5F9B-ECF0-3233-7E86344895C2}"/>
              </a:ext>
            </a:extLst>
          </p:cNvPr>
          <p:cNvSpPr>
            <a:spLocks noGrp="1"/>
          </p:cNvSpPr>
          <p:nvPr>
            <p:ph idx="1"/>
          </p:nvPr>
        </p:nvSpPr>
        <p:spPr>
          <a:xfrm>
            <a:off x="133563" y="1202076"/>
            <a:ext cx="11928297" cy="5547649"/>
          </a:xfrm>
        </p:spPr>
        <p:txBody>
          <a:bodyPr>
            <a:normAutofit lnSpcReduction="10000"/>
          </a:bodyPr>
          <a:lstStyle/>
          <a:p>
            <a:pPr algn="just">
              <a:buNone/>
            </a:pPr>
            <a:r>
              <a:rPr lang="en-US" sz="3600" b="1" dirty="0">
                <a:latin typeface="Times New Roman" pitchFamily="18" charset="0"/>
                <a:cs typeface="Times New Roman" pitchFamily="18" charset="0"/>
              </a:rPr>
              <a:t>1. Ranking Method </a:t>
            </a:r>
          </a:p>
          <a:p>
            <a:pPr algn="just">
              <a:buNone/>
            </a:pPr>
            <a:r>
              <a:rPr lang="en-US" sz="3600" dirty="0">
                <a:latin typeface="Times New Roman" pitchFamily="18" charset="0"/>
                <a:cs typeface="Times New Roman" pitchFamily="18" charset="0"/>
              </a:rPr>
              <a:t>	According to Dessler et al. (2011), ranking method is ranking employees from best to worst on a particular trait, choosing highest, then lowest, until all ranked.</a:t>
            </a:r>
          </a:p>
          <a:p>
            <a:pPr algn="just">
              <a:buNone/>
            </a:pPr>
            <a:endParaRPr lang="en-US" sz="3600" dirty="0">
              <a:latin typeface="Times New Roman" pitchFamily="18" charset="0"/>
              <a:cs typeface="Times New Roman" pitchFamily="18" charset="0"/>
            </a:endParaRPr>
          </a:p>
          <a:p>
            <a:pPr algn="just">
              <a:buNone/>
            </a:pPr>
            <a:r>
              <a:rPr lang="en-US" sz="3600" b="1" dirty="0">
                <a:latin typeface="Times New Roman" pitchFamily="18" charset="0"/>
                <a:cs typeface="Times New Roman" pitchFamily="18" charset="0"/>
              </a:rPr>
              <a:t>2.Graphic Rating Scales  </a:t>
            </a:r>
          </a:p>
          <a:p>
            <a:pPr algn="just">
              <a:buNone/>
            </a:pPr>
            <a:r>
              <a:rPr lang="en-US" sz="3600" dirty="0">
                <a:latin typeface="Times New Roman" pitchFamily="18" charset="0"/>
                <a:cs typeface="Times New Roman" pitchFamily="18" charset="0"/>
              </a:rPr>
              <a:t>	According to Dessler et al. (2011), Graphic Rating Scale is a scale that lists a number of traits and a range of performance for each. The employee is then rated by identifying the score that best describes his or her level of performance for each trait.</a:t>
            </a:r>
          </a:p>
          <a:p>
            <a:pPr marL="0" indent="0" algn="just">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159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8C429-9A72-5606-A7D3-12B766C27B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E31FE2-5844-1799-ED80-2BFA8D64ECB1}"/>
              </a:ext>
            </a:extLst>
          </p:cNvPr>
          <p:cNvSpPr>
            <a:spLocks noGrp="1"/>
          </p:cNvSpPr>
          <p:nvPr>
            <p:ph idx="1"/>
          </p:nvPr>
        </p:nvSpPr>
        <p:spPr>
          <a:xfrm>
            <a:off x="133563" y="472611"/>
            <a:ext cx="11928297" cy="6277114"/>
          </a:xfrm>
        </p:spPr>
        <p:txBody>
          <a:bodyPr>
            <a:normAutofit/>
          </a:bodyPr>
          <a:lstStyle/>
          <a:p>
            <a:pPr algn="just">
              <a:buNone/>
            </a:pPr>
            <a:r>
              <a:rPr lang="en-US" sz="3600" b="1" dirty="0">
                <a:latin typeface="Times New Roman" pitchFamily="18" charset="0"/>
                <a:cs typeface="Times New Roman" pitchFamily="18" charset="0"/>
              </a:rPr>
              <a:t>3. Critical Incident Method</a:t>
            </a:r>
          </a:p>
          <a:p>
            <a:pPr algn="just">
              <a:buNone/>
            </a:pPr>
            <a:r>
              <a:rPr lang="en-US" sz="3600" b="1" dirty="0">
                <a:latin typeface="Times New Roman" pitchFamily="18" charset="0"/>
                <a:cs typeface="Times New Roman" pitchFamily="18" charset="0"/>
              </a:rPr>
              <a:t>	</a:t>
            </a:r>
            <a:r>
              <a:rPr lang="en-US" sz="3600" dirty="0">
                <a:latin typeface="Times New Roman" pitchFamily="18" charset="0"/>
                <a:cs typeface="Times New Roman" pitchFamily="18" charset="0"/>
              </a:rPr>
              <a:t> According to Dessler et. al.(2011),Critical Incident method is keeping a record of uncommonly good or undesirable examples of an employee’s work related behavior and reviewing it with the employee at predetermined times.</a:t>
            </a:r>
          </a:p>
          <a:p>
            <a:pPr algn="just">
              <a:buNone/>
            </a:pPr>
            <a:endParaRPr lang="en-US" sz="3600" dirty="0">
              <a:latin typeface="Times New Roman" pitchFamily="18" charset="0"/>
              <a:cs typeface="Times New Roman" pitchFamily="18" charset="0"/>
            </a:endParaRPr>
          </a:p>
          <a:p>
            <a:pPr algn="just">
              <a:buNone/>
            </a:pPr>
            <a:r>
              <a:rPr lang="en-US" sz="3600" dirty="0">
                <a:latin typeface="Times New Roman" pitchFamily="18" charset="0"/>
                <a:cs typeface="Times New Roman" pitchFamily="18" charset="0"/>
              </a:rPr>
              <a:t>4. </a:t>
            </a:r>
            <a:r>
              <a:rPr lang="en-US" sz="3600" b="1" dirty="0">
                <a:latin typeface="Times New Roman" pitchFamily="18" charset="0"/>
                <a:cs typeface="Times New Roman" pitchFamily="18" charset="0"/>
              </a:rPr>
              <a:t>Narrative Essays  </a:t>
            </a:r>
          </a:p>
          <a:p>
            <a:pPr algn="just">
              <a:buNone/>
            </a:pPr>
            <a:r>
              <a:rPr lang="en-US" sz="3600" dirty="0">
                <a:latin typeface="Times New Roman" pitchFamily="18" charset="0"/>
                <a:cs typeface="Times New Roman" pitchFamily="18" charset="0"/>
              </a:rPr>
              <a:t>	This technique mainly attempt to focus on behavior. Evaluator writes an explanation about employee’s strength and weakness points, previous performance, positional and suggestion for his (her) improvement at the end of evaluation time. </a:t>
            </a:r>
          </a:p>
          <a:p>
            <a:pPr marL="0" indent="0" algn="just">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7110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03F98-8DF0-2D8A-F9F6-373EC807E4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04CEB0-0F1D-F3A9-04D7-1E0BB4B38F86}"/>
              </a:ext>
            </a:extLst>
          </p:cNvPr>
          <p:cNvSpPr>
            <a:spLocks noGrp="1"/>
          </p:cNvSpPr>
          <p:nvPr>
            <p:ph type="title"/>
          </p:nvPr>
        </p:nvSpPr>
        <p:spPr>
          <a:xfrm>
            <a:off x="133563" y="108275"/>
            <a:ext cx="11928297" cy="949967"/>
          </a:xfrm>
        </p:spPr>
        <p:txBody>
          <a:bodyPr>
            <a:normAutofit/>
          </a:bodyPr>
          <a:lstStyle/>
          <a:p>
            <a:pPr algn="ctr"/>
            <a:r>
              <a:rPr lang="en-US" b="1" dirty="0">
                <a:latin typeface="Times New Roman" pitchFamily="18" charset="0"/>
                <a:cs typeface="Times New Roman" pitchFamily="18" charset="0"/>
              </a:rPr>
              <a:t>Modern Methods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591C10C-7246-CE1C-0282-38ECEDC46CD2}"/>
              </a:ext>
            </a:extLst>
          </p:cNvPr>
          <p:cNvSpPr>
            <a:spLocks noGrp="1"/>
          </p:cNvSpPr>
          <p:nvPr>
            <p:ph idx="1"/>
          </p:nvPr>
        </p:nvSpPr>
        <p:spPr>
          <a:xfrm>
            <a:off x="133563" y="1058242"/>
            <a:ext cx="11928297" cy="5691483"/>
          </a:xfrm>
        </p:spPr>
        <p:txBody>
          <a:bodyPr>
            <a:normAutofit fontScale="92500"/>
          </a:bodyPr>
          <a:lstStyle/>
          <a:p>
            <a:pPr algn="just">
              <a:buNone/>
            </a:pPr>
            <a:r>
              <a:rPr lang="en-US" sz="3600" b="1" dirty="0">
                <a:latin typeface="Times New Roman" pitchFamily="18" charset="0"/>
                <a:cs typeface="Times New Roman" pitchFamily="18" charset="0"/>
              </a:rPr>
              <a:t>1. Management by Objectives</a:t>
            </a:r>
          </a:p>
          <a:p>
            <a:pPr algn="just">
              <a:buNone/>
            </a:pPr>
            <a:r>
              <a:rPr lang="en-US" sz="3600" b="1" dirty="0">
                <a:latin typeface="Times New Roman" pitchFamily="18" charset="0"/>
                <a:cs typeface="Times New Roman" pitchFamily="18" charset="0"/>
              </a:rPr>
              <a:t>	</a:t>
            </a:r>
            <a:r>
              <a:rPr lang="en-US" sz="3600" dirty="0">
                <a:latin typeface="Times New Roman" pitchFamily="18" charset="0"/>
                <a:cs typeface="Times New Roman" pitchFamily="18" charset="0"/>
              </a:rPr>
              <a:t>Management by objectives (MBO) is the appraisal method where managers and employees together identify, plan, organize, and communicate objectives to focus on during a specific appraisal period.</a:t>
            </a:r>
          </a:p>
          <a:p>
            <a:pPr algn="just">
              <a:buNone/>
            </a:pPr>
            <a:r>
              <a:rPr lang="en-US" sz="3600" b="1" dirty="0">
                <a:latin typeface="Times New Roman" pitchFamily="18" charset="0"/>
                <a:cs typeface="Times New Roman" pitchFamily="18" charset="0"/>
              </a:rPr>
              <a:t>2. Behaviorally Anchored Rating Scale (BARS) </a:t>
            </a:r>
          </a:p>
          <a:p>
            <a:pPr algn="just">
              <a:buNone/>
            </a:pPr>
            <a:r>
              <a:rPr lang="en-US" sz="3600" b="1" dirty="0">
                <a:latin typeface="Times New Roman" pitchFamily="18" charset="0"/>
                <a:cs typeface="Times New Roman" pitchFamily="18" charset="0"/>
              </a:rPr>
              <a:t>	 </a:t>
            </a:r>
            <a:r>
              <a:rPr lang="en-US" sz="3600" dirty="0">
                <a:latin typeface="Times New Roman" pitchFamily="18" charset="0"/>
                <a:cs typeface="Times New Roman" pitchFamily="18" charset="0"/>
              </a:rPr>
              <a:t>Behavioral anchor scales are more informative than simple numbers. BARS is a tool for evaluating employees in a defined set of performance dimensions by comparing their behaviors with specific behavior examples that anchor each performance level, usually on a five-, seven- or nine-point scale.</a:t>
            </a:r>
          </a:p>
          <a:p>
            <a:pPr marL="0" indent="0" algn="just">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029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8978D-7CBA-6B67-C9CD-D87A8AF786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BC65F5-6CCD-E2AB-D5CA-8F6A0FB6801C}"/>
              </a:ext>
            </a:extLst>
          </p:cNvPr>
          <p:cNvSpPr>
            <a:spLocks noGrp="1"/>
          </p:cNvSpPr>
          <p:nvPr>
            <p:ph idx="1"/>
          </p:nvPr>
        </p:nvSpPr>
        <p:spPr>
          <a:xfrm>
            <a:off x="133563" y="236306"/>
            <a:ext cx="11928297" cy="6513419"/>
          </a:xfrm>
        </p:spPr>
        <p:txBody>
          <a:bodyPr>
            <a:normAutofit/>
          </a:bodyPr>
          <a:lstStyle/>
          <a:p>
            <a:pPr>
              <a:buNone/>
            </a:pPr>
            <a:endParaRPr lang="en-US" sz="3600" b="1" dirty="0">
              <a:latin typeface="Times New Roman" pitchFamily="18" charset="0"/>
              <a:cs typeface="Times New Roman" pitchFamily="18" charset="0"/>
            </a:endParaRPr>
          </a:p>
          <a:p>
            <a:pPr>
              <a:buNone/>
            </a:pPr>
            <a:r>
              <a:rPr lang="en-US" sz="3600" b="1" dirty="0">
                <a:latin typeface="Times New Roman" pitchFamily="18" charset="0"/>
                <a:cs typeface="Times New Roman" pitchFamily="18" charset="0"/>
              </a:rPr>
              <a:t>3. Humans Resource Accounting </a:t>
            </a:r>
          </a:p>
          <a:p>
            <a:pPr algn="just">
              <a:buNone/>
            </a:pPr>
            <a:r>
              <a:rPr lang="en-US" sz="3600" dirty="0">
                <a:latin typeface="Times New Roman" pitchFamily="18" charset="0"/>
                <a:cs typeface="Times New Roman" pitchFamily="18" charset="0"/>
              </a:rPr>
              <a:t>		HRA is the process of Assigning, budgeting, and reporting the cost of human resources incurred in an organization, including wages and salaries and training expenses. </a:t>
            </a:r>
          </a:p>
          <a:p>
            <a:pPr algn="just">
              <a:buNone/>
            </a:pPr>
            <a:r>
              <a:rPr lang="en-US" sz="3600" dirty="0">
                <a:latin typeface="Times New Roman" pitchFamily="18" charset="0"/>
                <a:cs typeface="Times New Roman" pitchFamily="18" charset="0"/>
              </a:rPr>
              <a:t>		It analyses an employee's performance through the monetary benefits he/she yields to the company. It is obtained by comparing the cost of retaining an employee (cost to company) and the monetary benefits (contributions) an organization has ascertained from that specific employee</a:t>
            </a:r>
          </a:p>
          <a:p>
            <a:pPr marL="0" indent="0" algn="just">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331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81151-45AD-D7DD-A403-089A9D3F37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C822EB-14A3-F19B-081F-2FD641C541EF}"/>
              </a:ext>
            </a:extLst>
          </p:cNvPr>
          <p:cNvSpPr>
            <a:spLocks noGrp="1"/>
          </p:cNvSpPr>
          <p:nvPr>
            <p:ph idx="1"/>
          </p:nvPr>
        </p:nvSpPr>
        <p:spPr>
          <a:xfrm>
            <a:off x="133563" y="380144"/>
            <a:ext cx="11928297" cy="6369581"/>
          </a:xfrm>
        </p:spPr>
        <p:txBody>
          <a:bodyPr>
            <a:normAutofit/>
          </a:bodyPr>
          <a:lstStyle/>
          <a:p>
            <a:pPr marL="0" indent="0" algn="just">
              <a:buNone/>
            </a:pPr>
            <a:r>
              <a:rPr lang="en-US" sz="3600" b="1" dirty="0">
                <a:latin typeface="Times New Roman" panose="02020603050405020304" pitchFamily="18" charset="0"/>
                <a:cs typeface="Times New Roman" panose="02020603050405020304" pitchFamily="18" charset="0"/>
              </a:rPr>
              <a:t>4. Assessment Centers</a:t>
            </a:r>
          </a:p>
          <a:p>
            <a:pPr marL="0" indent="0" algn="just">
              <a:buNone/>
            </a:pPr>
            <a:r>
              <a:rPr lang="en-US" sz="3600" dirty="0">
                <a:latin typeface="Times New Roman" panose="02020603050405020304" pitchFamily="18" charset="0"/>
                <a:cs typeface="Times New Roman" panose="02020603050405020304" pitchFamily="18" charset="0"/>
              </a:rPr>
              <a:t>	Under this an employee  is evaluated on critical competencies necessary for their job using job-related simulations and exercises. </a:t>
            </a:r>
          </a:p>
          <a:p>
            <a:pPr marL="0" indent="0" algn="just">
              <a:buNone/>
            </a:pPr>
            <a:r>
              <a:rPr lang="en-US" sz="3600" b="1" dirty="0">
                <a:latin typeface="Times New Roman" panose="02020603050405020304" pitchFamily="18" charset="0"/>
                <a:cs typeface="Times New Roman" panose="02020603050405020304" pitchFamily="18" charset="0"/>
              </a:rPr>
              <a:t>5. 360 Degree  </a:t>
            </a:r>
          </a:p>
          <a:p>
            <a:pPr marL="0" indent="0" algn="just">
              <a:buNone/>
            </a:pPr>
            <a:r>
              <a:rPr lang="en-US" sz="3600" dirty="0">
                <a:latin typeface="Times New Roman" panose="02020603050405020304" pitchFamily="18" charset="0"/>
                <a:cs typeface="Times New Roman" panose="02020603050405020304" pitchFamily="18" charset="0"/>
              </a:rPr>
              <a:t>	It involves evaluation input from multiple levels within the firm as well as external sources.360 Degree feedback relies on the input of an employee’s superior, colleagues, subordinates, sometimes customers, suppliers and or spouses.</a:t>
            </a:r>
          </a:p>
          <a:p>
            <a:pPr marL="0" indent="0" algn="just">
              <a:buNone/>
            </a:pPr>
            <a:r>
              <a:rPr lang="en-US" sz="3600" dirty="0">
                <a:latin typeface="Times New Roman" panose="02020603050405020304" pitchFamily="18" charset="0"/>
                <a:cs typeface="Times New Roman" panose="02020603050405020304" pitchFamily="18" charset="0"/>
              </a:rPr>
              <a:t>	It provides people with information about the effect of their action on others in the workplace</a:t>
            </a:r>
          </a:p>
          <a:p>
            <a:pPr marL="0" indent="0" algn="just">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4418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B055D-0795-1570-F08F-101D0530E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A6F6A-336E-9A3B-4CDF-1C973E46C12F}"/>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Future of Performance Management</a:t>
            </a:r>
          </a:p>
        </p:txBody>
      </p:sp>
      <p:sp>
        <p:nvSpPr>
          <p:cNvPr id="3" name="Content Placeholder 2">
            <a:extLst>
              <a:ext uri="{FF2B5EF4-FFF2-40B4-BE49-F238E27FC236}">
                <a16:creationId xmlns:a16="http://schemas.microsoft.com/office/drawing/2014/main" id="{81E4F6BA-5A11-CE71-9B5A-D268EFE7FC7D}"/>
              </a:ext>
            </a:extLst>
          </p:cNvPr>
          <p:cNvSpPr>
            <a:spLocks noGrp="1"/>
          </p:cNvSpPr>
          <p:nvPr>
            <p:ph idx="1"/>
          </p:nvPr>
        </p:nvSpPr>
        <p:spPr>
          <a:xfrm>
            <a:off x="133563" y="1387011"/>
            <a:ext cx="11928297" cy="5362714"/>
          </a:xfrm>
        </p:spPr>
        <p:txBody>
          <a:bodyPr>
            <a:normAutofit/>
          </a:bodyPr>
          <a:lstStyle/>
          <a:p>
            <a:pPr algn="just"/>
            <a:r>
              <a:rPr lang="en-US" sz="3600" dirty="0">
                <a:latin typeface="Times New Roman" pitchFamily="18" charset="0"/>
                <a:cs typeface="Times New Roman" pitchFamily="18" charset="0"/>
              </a:rPr>
              <a:t>The end of the annual review (Continuous Performance Reviews Are the New Normal).</a:t>
            </a:r>
          </a:p>
          <a:p>
            <a:pPr algn="just"/>
            <a:r>
              <a:rPr lang="en-US" sz="3600" dirty="0">
                <a:latin typeface="Times New Roman" pitchFamily="18" charset="0"/>
                <a:cs typeface="Times New Roman" pitchFamily="18" charset="0"/>
              </a:rPr>
              <a:t>The future lies in tech (AI-Powered Performance Insights &amp; Predictive Analytics).</a:t>
            </a:r>
          </a:p>
          <a:p>
            <a:pPr algn="just"/>
            <a:r>
              <a:rPr lang="en-US" sz="3600" dirty="0">
                <a:latin typeface="Times New Roman" pitchFamily="18" charset="0"/>
                <a:cs typeface="Times New Roman" pitchFamily="18" charset="0"/>
              </a:rPr>
              <a:t>An equitable system.</a:t>
            </a:r>
          </a:p>
          <a:p>
            <a:pPr algn="just"/>
            <a:r>
              <a:rPr lang="en-US" sz="3600" dirty="0">
                <a:latin typeface="Times New Roman" pitchFamily="18" charset="0"/>
                <a:cs typeface="Times New Roman" pitchFamily="18" charset="0"/>
              </a:rPr>
              <a:t>Linking Performance with Well-Being.</a:t>
            </a:r>
          </a:p>
          <a:p>
            <a:pPr algn="just"/>
            <a:r>
              <a:rPr lang="en-US" sz="3600" dirty="0">
                <a:latin typeface="Times New Roman" pitchFamily="18" charset="0"/>
                <a:cs typeface="Times New Roman" pitchFamily="18" charset="0"/>
              </a:rPr>
              <a:t>Transparent &amp; Data-Driven Evaluation Systems.</a:t>
            </a:r>
          </a:p>
          <a:p>
            <a:pPr algn="just"/>
            <a:r>
              <a:rPr lang="en-US" sz="3600" dirty="0">
                <a:latin typeface="Times New Roman" pitchFamily="18" charset="0"/>
                <a:cs typeface="Times New Roman" pitchFamily="18" charset="0"/>
              </a:rPr>
              <a:t>Multi-Dimensional Feedback: 360° Is Here to Stay.</a:t>
            </a:r>
          </a:p>
          <a:p>
            <a:pPr>
              <a:buNone/>
            </a:pPr>
            <a:endParaRPr lang="en-US" sz="3600" dirty="0"/>
          </a:p>
          <a:p>
            <a:pPr>
              <a:buNone/>
            </a:pPr>
            <a:endParaRPr lang="en-US" sz="3600" b="1" dirty="0"/>
          </a:p>
          <a:p>
            <a:pPr>
              <a:buNone/>
            </a:pPr>
            <a:endParaRPr lang="en-US" sz="3600" dirty="0"/>
          </a:p>
          <a:p>
            <a:pPr>
              <a:buNone/>
            </a:pPr>
            <a:endParaRPr lang="en-US" sz="3600" dirty="0"/>
          </a:p>
          <a:p>
            <a:pPr>
              <a:buNone/>
            </a:pPr>
            <a:endParaRPr lang="en-US" sz="3600" b="1" dirty="0"/>
          </a:p>
          <a:p>
            <a:pPr>
              <a:buNone/>
            </a:pPr>
            <a:endParaRPr lang="en-US" sz="3600" b="1" dirty="0"/>
          </a:p>
          <a:p>
            <a:pPr>
              <a:buNone/>
            </a:pPr>
            <a:endParaRPr lang="en-US" sz="3600" b="1" dirty="0"/>
          </a:p>
          <a:p>
            <a:pPr>
              <a:buNone/>
            </a:pPr>
            <a:endParaRPr lang="en-US" sz="3600" dirty="0"/>
          </a:p>
          <a:p>
            <a:pPr marL="0" indent="0" algn="just">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2497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5E8AD-D1B8-0FB0-4015-BA7F4A147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26E42D-EAB8-6046-DD29-8A4524A2792A}"/>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Industrial Relations</a:t>
            </a:r>
          </a:p>
        </p:txBody>
      </p:sp>
      <p:sp>
        <p:nvSpPr>
          <p:cNvPr id="3" name="Content Placeholder 2">
            <a:extLst>
              <a:ext uri="{FF2B5EF4-FFF2-40B4-BE49-F238E27FC236}">
                <a16:creationId xmlns:a16="http://schemas.microsoft.com/office/drawing/2014/main" id="{6C058D55-3453-1A34-D828-2238C6284C63}"/>
              </a:ext>
            </a:extLst>
          </p:cNvPr>
          <p:cNvSpPr>
            <a:spLocks noGrp="1"/>
          </p:cNvSpPr>
          <p:nvPr>
            <p:ph idx="1"/>
          </p:nvPr>
        </p:nvSpPr>
        <p:spPr>
          <a:xfrm>
            <a:off x="133563" y="1058242"/>
            <a:ext cx="11928297" cy="5691483"/>
          </a:xfrm>
        </p:spPr>
        <p:txBody>
          <a:bodyPr>
            <a:normAutofit lnSpcReduction="10000"/>
          </a:bodyPr>
          <a:lstStyle/>
          <a:p>
            <a:pPr marL="0" indent="0" algn="just">
              <a:buNone/>
            </a:pPr>
            <a:r>
              <a:rPr lang="en-US" sz="3600" b="1" dirty="0">
                <a:solidFill>
                  <a:srgbClr val="C00000"/>
                </a:solidFill>
                <a:latin typeface="Times New Roman" pitchFamily="18" charset="0"/>
                <a:cs typeface="Times New Roman" pitchFamily="18" charset="0"/>
              </a:rPr>
              <a:t>Decent Work</a:t>
            </a:r>
          </a:p>
          <a:p>
            <a:pPr marL="0" indent="0" algn="just">
              <a:buNone/>
            </a:pPr>
            <a:r>
              <a:rPr lang="en-US" sz="3600" dirty="0">
                <a:latin typeface="Times New Roman" pitchFamily="18" charset="0"/>
                <a:cs typeface="Times New Roman" pitchFamily="18" charset="0"/>
              </a:rPr>
              <a:t>As per ILO </a:t>
            </a:r>
            <a:r>
              <a:rPr lang="en-US" sz="3600" b="1" u="sng" dirty="0">
                <a:latin typeface="Times New Roman" pitchFamily="18" charset="0"/>
                <a:cs typeface="Times New Roman" pitchFamily="18" charset="0"/>
              </a:rPr>
              <a:t>Decent work </a:t>
            </a:r>
            <a:r>
              <a:rPr lang="en-US" sz="3600" dirty="0">
                <a:latin typeface="Times New Roman" pitchFamily="18" charset="0"/>
                <a:cs typeface="Times New Roman" pitchFamily="18" charset="0"/>
              </a:rPr>
              <a:t>sums up the aspirations of people in their working lives. It involves :</a:t>
            </a:r>
          </a:p>
          <a:p>
            <a:pPr algn="just"/>
            <a:r>
              <a:rPr lang="en-US" sz="3600" dirty="0">
                <a:latin typeface="Times New Roman" pitchFamily="18" charset="0"/>
                <a:cs typeface="Times New Roman" pitchFamily="18" charset="0"/>
              </a:rPr>
              <a:t>Opportunities for work that is productive and delivers a fair income.</a:t>
            </a:r>
          </a:p>
          <a:p>
            <a:pPr algn="just"/>
            <a:r>
              <a:rPr lang="en-US" sz="3600" dirty="0">
                <a:latin typeface="Times New Roman" pitchFamily="18" charset="0"/>
                <a:cs typeface="Times New Roman" pitchFamily="18" charset="0"/>
              </a:rPr>
              <a:t>Security in the workplace and social protection for all.</a:t>
            </a:r>
          </a:p>
          <a:p>
            <a:pPr algn="just"/>
            <a:r>
              <a:rPr lang="en-US" sz="3600" dirty="0">
                <a:latin typeface="Times New Roman" pitchFamily="18" charset="0"/>
                <a:cs typeface="Times New Roman" pitchFamily="18" charset="0"/>
              </a:rPr>
              <a:t>Better prospects for personal development and social integration.</a:t>
            </a:r>
          </a:p>
          <a:p>
            <a:pPr algn="just"/>
            <a:r>
              <a:rPr lang="en-US" sz="3600" dirty="0">
                <a:latin typeface="Times New Roman" pitchFamily="18" charset="0"/>
                <a:cs typeface="Times New Roman" pitchFamily="18" charset="0"/>
              </a:rPr>
              <a:t>Freedom for people to express their concerns, organize and participate in the decisions that affect their lives.</a:t>
            </a:r>
          </a:p>
          <a:p>
            <a:pPr algn="just"/>
            <a:r>
              <a:rPr lang="en-US" sz="3600" dirty="0">
                <a:latin typeface="Times New Roman" pitchFamily="18" charset="0"/>
                <a:cs typeface="Times New Roman" pitchFamily="18" charset="0"/>
              </a:rPr>
              <a:t>Equality of opportunity and treatment for all women and men.</a:t>
            </a:r>
          </a:p>
          <a:p>
            <a:pPr marL="0" indent="0" algn="just">
              <a:buNone/>
            </a:pPr>
            <a:endParaRPr lang="en-IN" sz="36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7869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C8B36-5D72-96FF-F45E-209E6E23D3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7D8536-7186-ACD5-8E18-D98626A5DC17}"/>
              </a:ext>
            </a:extLst>
          </p:cNvPr>
          <p:cNvSpPr>
            <a:spLocks noGrp="1"/>
          </p:cNvSpPr>
          <p:nvPr>
            <p:ph type="title"/>
          </p:nvPr>
        </p:nvSpPr>
        <p:spPr>
          <a:xfrm>
            <a:off x="133563" y="108275"/>
            <a:ext cx="11928297" cy="949967"/>
          </a:xfrm>
        </p:spPr>
        <p:txBody>
          <a:bodyPr>
            <a:normAutofit/>
          </a:bodyPr>
          <a:lstStyle/>
          <a:p>
            <a:pPr algn="ctr"/>
            <a:r>
              <a:rPr lang="en-US" b="1" dirty="0">
                <a:solidFill>
                  <a:srgbClr val="C00000"/>
                </a:solidFill>
                <a:latin typeface="Times New Roman" panose="02020603050405020304" pitchFamily="18" charset="0"/>
                <a:cs typeface="Times New Roman" panose="02020603050405020304" pitchFamily="18" charset="0"/>
              </a:rPr>
              <a:t>The International </a:t>
            </a:r>
            <a:r>
              <a:rPr lang="en-US" b="1" dirty="0" err="1">
                <a:solidFill>
                  <a:srgbClr val="C00000"/>
                </a:solidFill>
                <a:latin typeface="Times New Roman" panose="02020603050405020304" pitchFamily="18" charset="0"/>
                <a:cs typeface="Times New Roman" panose="02020603050405020304" pitchFamily="18" charset="0"/>
              </a:rPr>
              <a:t>Labour</a:t>
            </a:r>
            <a:r>
              <a:rPr lang="en-US" b="1" dirty="0">
                <a:solidFill>
                  <a:srgbClr val="C00000"/>
                </a:solidFill>
                <a:latin typeface="Times New Roman" panose="02020603050405020304" pitchFamily="18" charset="0"/>
                <a:cs typeface="Times New Roman" panose="02020603050405020304" pitchFamily="18" charset="0"/>
              </a:rPr>
              <a:t> Organization (ILO)</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723473-847F-B331-188A-D082BF566ABF}"/>
              </a:ext>
            </a:extLst>
          </p:cNvPr>
          <p:cNvSpPr>
            <a:spLocks noGrp="1"/>
          </p:cNvSpPr>
          <p:nvPr>
            <p:ph idx="1"/>
          </p:nvPr>
        </p:nvSpPr>
        <p:spPr>
          <a:xfrm>
            <a:off x="133563" y="1387011"/>
            <a:ext cx="11928297" cy="5362714"/>
          </a:xfrm>
        </p:spPr>
        <p:txBody>
          <a:bodyPr>
            <a:normAutofit/>
          </a:bodyPr>
          <a:lstStyle/>
          <a:p>
            <a:pPr marL="0" indent="0" algn="just">
              <a:buNone/>
            </a:pPr>
            <a:r>
              <a:rPr lang="en-US" sz="3600" dirty="0">
                <a:latin typeface="Times New Roman" pitchFamily="18" charset="0"/>
                <a:cs typeface="Times New Roman" pitchFamily="18" charset="0"/>
              </a:rPr>
              <a:t>The International </a:t>
            </a:r>
            <a:r>
              <a:rPr lang="en-US" sz="3600" dirty="0" err="1">
                <a:latin typeface="Times New Roman" pitchFamily="18" charset="0"/>
                <a:cs typeface="Times New Roman" pitchFamily="18" charset="0"/>
              </a:rPr>
              <a:t>Labour</a:t>
            </a:r>
            <a:r>
              <a:rPr lang="en-US" sz="3600" dirty="0">
                <a:latin typeface="Times New Roman" pitchFamily="18" charset="0"/>
                <a:cs typeface="Times New Roman" pitchFamily="18" charset="0"/>
              </a:rPr>
              <a:t> Organization (ILO) is devoted to promoting social justice and internationally recognized human and </a:t>
            </a:r>
            <a:r>
              <a:rPr lang="en-US" sz="3600" dirty="0" err="1">
                <a:latin typeface="Times New Roman" pitchFamily="18" charset="0"/>
                <a:cs typeface="Times New Roman" pitchFamily="18" charset="0"/>
              </a:rPr>
              <a:t>labour</a:t>
            </a:r>
            <a:r>
              <a:rPr lang="en-US" sz="3600" dirty="0">
                <a:latin typeface="Times New Roman" pitchFamily="18" charset="0"/>
                <a:cs typeface="Times New Roman" pitchFamily="18" charset="0"/>
              </a:rPr>
              <a:t> rights, pursuing its founding mission that social justice is essential to universal and lasting peace.</a:t>
            </a:r>
          </a:p>
          <a:p>
            <a:pPr marL="0" indent="0" algn="just">
              <a:buNone/>
            </a:pPr>
            <a:endParaRPr lang="en-US" sz="3600" dirty="0">
              <a:latin typeface="Times New Roman" pitchFamily="18" charset="0"/>
              <a:cs typeface="Times New Roman" pitchFamily="18" charset="0"/>
            </a:endParaRPr>
          </a:p>
          <a:p>
            <a:pPr marL="0" indent="0" algn="just">
              <a:buNone/>
            </a:pPr>
            <a:r>
              <a:rPr lang="en-US" sz="3600" dirty="0">
                <a:latin typeface="Times New Roman" pitchFamily="18" charset="0"/>
                <a:cs typeface="Times New Roman" pitchFamily="18" charset="0"/>
              </a:rPr>
              <a:t>The only tripartite U.N. agency, since 1919 the ILO brings together governments, employers and workers of </a:t>
            </a:r>
            <a:r>
              <a:rPr lang="en-US" sz="3600" dirty="0">
                <a:latin typeface="Times New Roman" pitchFamily="18" charset="0"/>
                <a:cs typeface="Times New Roman" pitchFamily="18" charset="0"/>
                <a:hlinkClick r:id="rId2"/>
              </a:rPr>
              <a:t>187 Member States</a:t>
            </a:r>
            <a:r>
              <a:rPr lang="en-US" sz="3600" dirty="0">
                <a:latin typeface="Times New Roman" pitchFamily="18" charset="0"/>
                <a:cs typeface="Times New Roman" pitchFamily="18" charset="0"/>
              </a:rPr>
              <a:t>, to set </a:t>
            </a:r>
            <a:r>
              <a:rPr lang="en-US" sz="3600" dirty="0" err="1">
                <a:latin typeface="Times New Roman" pitchFamily="18" charset="0"/>
                <a:cs typeface="Times New Roman" pitchFamily="18" charset="0"/>
              </a:rPr>
              <a:t>labour</a:t>
            </a:r>
            <a:r>
              <a:rPr lang="en-US" sz="3600" dirty="0">
                <a:latin typeface="Times New Roman" pitchFamily="18" charset="0"/>
                <a:cs typeface="Times New Roman" pitchFamily="18" charset="0"/>
              </a:rPr>
              <a:t> standards, develop policies and devise </a:t>
            </a:r>
            <a:r>
              <a:rPr lang="en-US" sz="3600" dirty="0" err="1">
                <a:latin typeface="Times New Roman" pitchFamily="18" charset="0"/>
                <a:cs typeface="Times New Roman" pitchFamily="18" charset="0"/>
              </a:rPr>
              <a:t>programmes</a:t>
            </a:r>
            <a:r>
              <a:rPr lang="en-US" sz="3600" dirty="0">
                <a:latin typeface="Times New Roman" pitchFamily="18" charset="0"/>
                <a:cs typeface="Times New Roman" pitchFamily="18" charset="0"/>
              </a:rPr>
              <a:t> promoting decent work for all women and men.</a:t>
            </a:r>
          </a:p>
          <a:p>
            <a:pPr marL="0" indent="0" algn="just">
              <a:buNone/>
            </a:pPr>
            <a:endParaRPr lang="en-US" sz="3600" dirty="0">
              <a:latin typeface="Times New Roman" pitchFamily="18" charset="0"/>
              <a:cs typeface="Times New Roman" pitchFamily="18" charset="0"/>
            </a:endParaRPr>
          </a:p>
          <a:p>
            <a:pPr marL="0" indent="0" algn="just">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5056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B2F26-29C9-A319-E0CB-CF2BE414E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03254-25D8-96EC-316B-1B79AE358246}"/>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ILO : Objectives</a:t>
            </a:r>
          </a:p>
        </p:txBody>
      </p:sp>
      <p:sp>
        <p:nvSpPr>
          <p:cNvPr id="3" name="Content Placeholder 2">
            <a:extLst>
              <a:ext uri="{FF2B5EF4-FFF2-40B4-BE49-F238E27FC236}">
                <a16:creationId xmlns:a16="http://schemas.microsoft.com/office/drawing/2014/main" id="{A2C785EF-1F49-DCE3-40C0-EE3EFEA9BC7D}"/>
              </a:ext>
            </a:extLst>
          </p:cNvPr>
          <p:cNvSpPr>
            <a:spLocks noGrp="1"/>
          </p:cNvSpPr>
          <p:nvPr>
            <p:ph idx="1"/>
          </p:nvPr>
        </p:nvSpPr>
        <p:spPr>
          <a:xfrm>
            <a:off x="133563" y="1140431"/>
            <a:ext cx="11928297" cy="5609294"/>
          </a:xfrm>
        </p:spPr>
        <p:txBody>
          <a:bodyPr>
            <a:noAutofit/>
          </a:bodyPr>
          <a:lstStyle/>
          <a:p>
            <a:pPr algn="just">
              <a:buNone/>
            </a:pPr>
            <a:r>
              <a:rPr lang="en-US" sz="3200" dirty="0">
                <a:latin typeface="Times New Roman" panose="02020603050405020304" pitchFamily="18" charset="0"/>
                <a:cs typeface="Times New Roman" pitchFamily="18" charset="0"/>
              </a:rPr>
              <a:t>	The ILO is a meeting point for governments, workers and employers of ILO’s member States to set </a:t>
            </a:r>
            <a:r>
              <a:rPr lang="en-US" sz="3200" dirty="0" err="1">
                <a:latin typeface="Times New Roman" pitchFamily="18" charset="0"/>
                <a:cs typeface="Times New Roman" pitchFamily="18" charset="0"/>
              </a:rPr>
              <a:t>labour</a:t>
            </a:r>
            <a:r>
              <a:rPr lang="en-US" sz="3200" dirty="0">
                <a:latin typeface="Times New Roman" pitchFamily="18" charset="0"/>
                <a:cs typeface="Times New Roman" pitchFamily="18" charset="0"/>
              </a:rPr>
              <a:t> standards, improve upon policies and create programs that promote decent work for people. The four strategic objectives at the heart of the Decent Work agenda are:</a:t>
            </a:r>
          </a:p>
          <a:p>
            <a:pPr algn="just">
              <a:buFont typeface="Wingdings" pitchFamily="2" charset="2"/>
              <a:buChar char="ü"/>
            </a:pPr>
            <a:r>
              <a:rPr lang="en-US" sz="3200" dirty="0">
                <a:latin typeface="Times New Roman" pitchFamily="18" charset="0"/>
                <a:cs typeface="Times New Roman" pitchFamily="18" charset="0"/>
              </a:rPr>
              <a:t>To develop and effectuate standards, fundamental principles, and fundamental rights at work.</a:t>
            </a:r>
          </a:p>
          <a:p>
            <a:pPr algn="just">
              <a:buFont typeface="Wingdings" pitchFamily="2" charset="2"/>
              <a:buChar char="ü"/>
            </a:pPr>
            <a:r>
              <a:rPr lang="en-US" sz="3200" dirty="0">
                <a:latin typeface="Times New Roman" pitchFamily="18" charset="0"/>
                <a:cs typeface="Times New Roman" pitchFamily="18" charset="0"/>
              </a:rPr>
              <a:t>To ensure that men and women have equal access to decent work while enhancing opportunities for the same.</a:t>
            </a:r>
          </a:p>
          <a:p>
            <a:pPr algn="just">
              <a:buFont typeface="Wingdings" pitchFamily="2" charset="2"/>
              <a:buChar char="ü"/>
            </a:pPr>
            <a:r>
              <a:rPr lang="en-US" sz="3200" dirty="0">
                <a:latin typeface="Times New Roman" pitchFamily="18" charset="0"/>
                <a:cs typeface="Times New Roman" pitchFamily="18" charset="0"/>
              </a:rPr>
              <a:t>To magnify the coverage and effectiveness of social protection for everyone.</a:t>
            </a:r>
          </a:p>
          <a:p>
            <a:pPr algn="just">
              <a:buFont typeface="Wingdings" pitchFamily="2" charset="2"/>
              <a:buChar char="ü"/>
            </a:pPr>
            <a:r>
              <a:rPr lang="en-US" sz="3200" dirty="0">
                <a:latin typeface="Times New Roman" pitchFamily="18" charset="0"/>
                <a:cs typeface="Times New Roman" pitchFamily="18" charset="0"/>
              </a:rPr>
              <a:t>To strengthen Tripartism and social dialogue.</a:t>
            </a:r>
          </a:p>
        </p:txBody>
      </p:sp>
    </p:spTree>
    <p:extLst>
      <p:ext uri="{BB962C8B-B14F-4D97-AF65-F5344CB8AC3E}">
        <p14:creationId xmlns:p14="http://schemas.microsoft.com/office/powerpoint/2010/main" val="7747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1533F-5E84-FC88-E4A8-47830EFE7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B1D49-BC13-CD93-A221-3DD98E7456D4}"/>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Industrial Relations</a:t>
            </a:r>
          </a:p>
        </p:txBody>
      </p:sp>
      <p:sp>
        <p:nvSpPr>
          <p:cNvPr id="3" name="Content Placeholder 2">
            <a:extLst>
              <a:ext uri="{FF2B5EF4-FFF2-40B4-BE49-F238E27FC236}">
                <a16:creationId xmlns:a16="http://schemas.microsoft.com/office/drawing/2014/main" id="{08B7B272-212D-FA76-2D18-00DD5F94E9E7}"/>
              </a:ext>
            </a:extLst>
          </p:cNvPr>
          <p:cNvSpPr>
            <a:spLocks noGrp="1"/>
          </p:cNvSpPr>
          <p:nvPr>
            <p:ph idx="1"/>
          </p:nvPr>
        </p:nvSpPr>
        <p:spPr>
          <a:xfrm>
            <a:off x="133563" y="1058242"/>
            <a:ext cx="11928297" cy="5691483"/>
          </a:xfrm>
        </p:spPr>
        <p:txBody>
          <a:bodyPr>
            <a:normAutofit lnSpcReduction="10000"/>
          </a:bodyPr>
          <a:lstStyle/>
          <a:p>
            <a:pPr algn="just">
              <a:buNone/>
            </a:pPr>
            <a:r>
              <a:rPr lang="en-US" sz="3600" dirty="0">
                <a:latin typeface="Times New Roman" pitchFamily="18" charset="0"/>
                <a:cs typeface="Times New Roman" pitchFamily="18" charset="0"/>
              </a:rPr>
              <a:t>	It is in the interest of everyone to create and maintain good relations between Employees and Employees.</a:t>
            </a:r>
          </a:p>
          <a:p>
            <a:pPr algn="just">
              <a:buNone/>
            </a:pPr>
            <a:r>
              <a:rPr lang="en-US" sz="3600" dirty="0">
                <a:latin typeface="Times New Roman" pitchFamily="18" charset="0"/>
                <a:cs typeface="Times New Roman" pitchFamily="18" charset="0"/>
              </a:rPr>
              <a:t>	According to </a:t>
            </a:r>
            <a:r>
              <a:rPr lang="en-US" sz="3600" b="1" i="1" dirty="0">
                <a:latin typeface="Times New Roman" pitchFamily="18" charset="0"/>
                <a:cs typeface="Times New Roman" pitchFamily="18" charset="0"/>
              </a:rPr>
              <a:t>Dale Yoder</a:t>
            </a:r>
            <a:r>
              <a:rPr lang="en-US" sz="3600" dirty="0">
                <a:latin typeface="Times New Roman" pitchFamily="18" charset="0"/>
                <a:cs typeface="Times New Roman" pitchFamily="18" charset="0"/>
              </a:rPr>
              <a:t>, “IR refers to  the </a:t>
            </a:r>
            <a:r>
              <a:rPr lang="en-US" sz="3600" i="1" dirty="0">
                <a:latin typeface="Times New Roman" pitchFamily="18" charset="0"/>
                <a:cs typeface="Times New Roman" pitchFamily="18" charset="0"/>
              </a:rPr>
              <a:t>relationship between management and employees or among employees</a:t>
            </a:r>
            <a:r>
              <a:rPr lang="en-US" sz="3600" dirty="0">
                <a:latin typeface="Times New Roman" pitchFamily="18" charset="0"/>
                <a:cs typeface="Times New Roman" pitchFamily="18" charset="0"/>
              </a:rPr>
              <a:t> and their organization that arise out of employment”.</a:t>
            </a:r>
          </a:p>
          <a:p>
            <a:pPr marL="0" indent="0" algn="ctr">
              <a:buNone/>
            </a:pPr>
            <a:r>
              <a:rPr lang="en-US" sz="3600" b="1" dirty="0">
                <a:latin typeface="Times New Roman" pitchFamily="18" charset="0"/>
                <a:cs typeface="Times New Roman" pitchFamily="18" charset="0"/>
              </a:rPr>
              <a:t>Actors/Parties to Industrial Relations</a:t>
            </a:r>
          </a:p>
          <a:p>
            <a:pPr marL="742950" indent="-742950">
              <a:buFont typeface="+mj-lt"/>
              <a:buAutoNum type="arabicPeriod"/>
            </a:pPr>
            <a:r>
              <a:rPr lang="en-US" sz="3600" dirty="0">
                <a:latin typeface="Times New Roman" panose="02020603050405020304" pitchFamily="18" charset="0"/>
                <a:cs typeface="Times New Roman" panose="02020603050405020304" pitchFamily="18" charset="0"/>
              </a:rPr>
              <a:t>Employers and their Organization.</a:t>
            </a:r>
          </a:p>
          <a:p>
            <a:pPr marL="742950" indent="-742950">
              <a:buFont typeface="+mj-lt"/>
              <a:buAutoNum type="arabicPeriod"/>
            </a:pPr>
            <a:r>
              <a:rPr lang="en-US" sz="3600" dirty="0">
                <a:latin typeface="Times New Roman" panose="02020603050405020304" pitchFamily="18" charset="0"/>
                <a:cs typeface="Times New Roman" panose="02020603050405020304" pitchFamily="18" charset="0"/>
              </a:rPr>
              <a:t>Employees and their Organization.</a:t>
            </a:r>
          </a:p>
          <a:p>
            <a:pPr marL="742950" indent="-742950">
              <a:buFont typeface="+mj-lt"/>
              <a:buAutoNum type="arabicPeriod"/>
            </a:pPr>
            <a:r>
              <a:rPr lang="en-US" sz="3600" dirty="0">
                <a:latin typeface="Times New Roman" panose="02020603050405020304" pitchFamily="18" charset="0"/>
                <a:cs typeface="Times New Roman" panose="02020603050405020304" pitchFamily="18" charset="0"/>
              </a:rPr>
              <a:t>Trade Union.</a:t>
            </a:r>
          </a:p>
          <a:p>
            <a:pPr marL="742950" indent="-742950">
              <a:buFont typeface="+mj-lt"/>
              <a:buAutoNum type="arabicPeriod"/>
            </a:pPr>
            <a:r>
              <a:rPr lang="en-US" sz="3600" dirty="0">
                <a:latin typeface="Times New Roman" panose="02020603050405020304" pitchFamily="18" charset="0"/>
                <a:cs typeface="Times New Roman" panose="02020603050405020304" pitchFamily="18" charset="0"/>
              </a:rPr>
              <a:t>Government (to protect the interest of both parties).</a:t>
            </a:r>
          </a:p>
        </p:txBody>
      </p:sp>
    </p:spTree>
    <p:extLst>
      <p:ext uri="{BB962C8B-B14F-4D97-AF65-F5344CB8AC3E}">
        <p14:creationId xmlns:p14="http://schemas.microsoft.com/office/powerpoint/2010/main" val="2250390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4C1C6-C244-AEAE-DAAA-98A7DCBAC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58452-F0BB-A133-62C8-99E8C410E1CD}"/>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Objectives of IR : </a:t>
            </a:r>
          </a:p>
        </p:txBody>
      </p:sp>
      <p:sp>
        <p:nvSpPr>
          <p:cNvPr id="3" name="Content Placeholder 2">
            <a:extLst>
              <a:ext uri="{FF2B5EF4-FFF2-40B4-BE49-F238E27FC236}">
                <a16:creationId xmlns:a16="http://schemas.microsoft.com/office/drawing/2014/main" id="{C1D443CB-2A73-043E-C6B8-1362F2B5E030}"/>
              </a:ext>
            </a:extLst>
          </p:cNvPr>
          <p:cNvSpPr>
            <a:spLocks noGrp="1"/>
          </p:cNvSpPr>
          <p:nvPr>
            <p:ph idx="1"/>
          </p:nvPr>
        </p:nvSpPr>
        <p:spPr>
          <a:xfrm>
            <a:off x="133563" y="1387011"/>
            <a:ext cx="11928297" cy="5362714"/>
          </a:xfrm>
        </p:spPr>
        <p:txBody>
          <a:bodyPr>
            <a:normAutofit fontScale="92500" lnSpcReduction="10000"/>
          </a:bodyPr>
          <a:lstStyle/>
          <a:p>
            <a:pPr marL="514350" indent="-514350" algn="just">
              <a:buAutoNum type="arabicPeriod"/>
            </a:pPr>
            <a:r>
              <a:rPr lang="en-US" sz="3600" dirty="0">
                <a:latin typeface="Times New Roman" pitchFamily="18" charset="0"/>
                <a:cs typeface="Times New Roman" pitchFamily="18" charset="0"/>
              </a:rPr>
              <a:t>To safeguard the interest of </a:t>
            </a:r>
            <a:r>
              <a:rPr lang="en-US" sz="3600" dirty="0" err="1">
                <a:latin typeface="Times New Roman" pitchFamily="18" charset="0"/>
                <a:cs typeface="Times New Roman" pitchFamily="18" charset="0"/>
              </a:rPr>
              <a:t>labour</a:t>
            </a:r>
            <a:r>
              <a:rPr lang="en-US" sz="3600" dirty="0">
                <a:latin typeface="Times New Roman" pitchFamily="18" charset="0"/>
                <a:cs typeface="Times New Roman" pitchFamily="18" charset="0"/>
              </a:rPr>
              <a:t> as well as management.</a:t>
            </a:r>
          </a:p>
          <a:p>
            <a:pPr marL="514350" indent="-514350" algn="just">
              <a:buAutoNum type="arabicPeriod"/>
            </a:pPr>
            <a:r>
              <a:rPr lang="en-US" sz="3600" dirty="0">
                <a:latin typeface="Times New Roman" pitchFamily="18" charset="0"/>
                <a:cs typeface="Times New Roman" pitchFamily="18" charset="0"/>
              </a:rPr>
              <a:t>To raise productivity to the higher level.</a:t>
            </a:r>
          </a:p>
          <a:p>
            <a:pPr marL="514350" indent="-514350" algn="just">
              <a:buAutoNum type="arabicPeriod"/>
            </a:pPr>
            <a:r>
              <a:rPr lang="en-US" sz="3600" dirty="0">
                <a:latin typeface="Times New Roman" pitchFamily="18" charset="0"/>
                <a:cs typeface="Times New Roman" pitchFamily="18" charset="0"/>
              </a:rPr>
              <a:t>To ensure industrial peace by eliminating the industrial disputes.</a:t>
            </a:r>
          </a:p>
          <a:p>
            <a:pPr marL="514350" indent="-514350" algn="just">
              <a:buAutoNum type="arabicPeriod"/>
            </a:pPr>
            <a:r>
              <a:rPr lang="en-US" sz="3600" dirty="0">
                <a:latin typeface="Times New Roman" pitchFamily="18" charset="0"/>
                <a:cs typeface="Times New Roman" pitchFamily="18" charset="0"/>
              </a:rPr>
              <a:t>To establish and maintain the industrial democracy by WPM.</a:t>
            </a:r>
          </a:p>
          <a:p>
            <a:pPr marL="514350" indent="-514350" algn="just">
              <a:buAutoNum type="arabicPeriod"/>
            </a:pPr>
            <a:r>
              <a:rPr lang="en-US" sz="3600" dirty="0">
                <a:latin typeface="Times New Roman" pitchFamily="18" charset="0"/>
                <a:cs typeface="Times New Roman" pitchFamily="18" charset="0"/>
              </a:rPr>
              <a:t>To reduce the </a:t>
            </a:r>
            <a:r>
              <a:rPr lang="en-US" sz="3600" dirty="0" err="1">
                <a:latin typeface="Times New Roman" pitchFamily="18" charset="0"/>
                <a:cs typeface="Times New Roman" pitchFamily="18" charset="0"/>
              </a:rPr>
              <a:t>labour</a:t>
            </a:r>
            <a:r>
              <a:rPr lang="en-US" sz="3600" dirty="0">
                <a:latin typeface="Times New Roman" pitchFamily="18" charset="0"/>
                <a:cs typeface="Times New Roman" pitchFamily="18" charset="0"/>
              </a:rPr>
              <a:t> turnover and absenteeism by providing Job Satisfaction.</a:t>
            </a:r>
          </a:p>
          <a:p>
            <a:pPr marL="514350" indent="-514350" algn="just">
              <a:buAutoNum type="arabicPeriod"/>
            </a:pPr>
            <a:r>
              <a:rPr lang="en-US" sz="3600" dirty="0">
                <a:latin typeface="Times New Roman" pitchFamily="18" charset="0"/>
                <a:cs typeface="Times New Roman" pitchFamily="18" charset="0"/>
              </a:rPr>
              <a:t>To eliminate the Strikes, Lockouts, Gheraos </a:t>
            </a:r>
            <a:r>
              <a:rPr lang="en-US" sz="3600" dirty="0" err="1">
                <a:latin typeface="Times New Roman" pitchFamily="18" charset="0"/>
                <a:cs typeface="Times New Roman" pitchFamily="18" charset="0"/>
              </a:rPr>
              <a:t>etc</a:t>
            </a:r>
            <a:r>
              <a:rPr lang="en-US" sz="3600" dirty="0">
                <a:latin typeface="Times New Roman" pitchFamily="18" charset="0"/>
                <a:cs typeface="Times New Roman" pitchFamily="18" charset="0"/>
              </a:rPr>
              <a:t> by ensuring reasonable Wages and Fringe benefits.</a:t>
            </a:r>
          </a:p>
          <a:p>
            <a:pPr marL="514350" indent="-514350" algn="just">
              <a:buAutoNum type="arabicPeriod"/>
            </a:pPr>
            <a:r>
              <a:rPr lang="en-US" sz="3600" dirty="0">
                <a:latin typeface="Times New Roman" pitchFamily="18" charset="0"/>
                <a:cs typeface="Times New Roman" pitchFamily="18" charset="0"/>
              </a:rPr>
              <a:t>To encourage and develop the Trade Union .</a:t>
            </a:r>
          </a:p>
          <a:p>
            <a:pPr marL="514350" indent="-514350" algn="just">
              <a:buAutoNum type="arabicPeriod"/>
            </a:pPr>
            <a:r>
              <a:rPr lang="en-US" sz="3600" dirty="0">
                <a:latin typeface="Times New Roman" pitchFamily="18" charset="0"/>
                <a:cs typeface="Times New Roman" pitchFamily="18" charset="0"/>
              </a:rPr>
              <a:t>To ensure a healthy and balanced social life.</a:t>
            </a:r>
          </a:p>
        </p:txBody>
      </p:sp>
    </p:spTree>
    <p:extLst>
      <p:ext uri="{BB962C8B-B14F-4D97-AF65-F5344CB8AC3E}">
        <p14:creationId xmlns:p14="http://schemas.microsoft.com/office/powerpoint/2010/main" val="2927889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EB101-4905-4053-E1DA-09A9685C9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93DE7D-E4F8-19EB-078B-25F106DF21B1}"/>
              </a:ext>
            </a:extLst>
          </p:cNvPr>
          <p:cNvSpPr>
            <a:spLocks noGrp="1"/>
          </p:cNvSpPr>
          <p:nvPr>
            <p:ph type="title"/>
          </p:nvPr>
        </p:nvSpPr>
        <p:spPr>
          <a:xfrm>
            <a:off x="133563" y="553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HRM And Industrial Relations</a:t>
            </a:r>
          </a:p>
        </p:txBody>
      </p:sp>
      <p:graphicFrame>
        <p:nvGraphicFramePr>
          <p:cNvPr id="4" name="Table 3">
            <a:extLst>
              <a:ext uri="{FF2B5EF4-FFF2-40B4-BE49-F238E27FC236}">
                <a16:creationId xmlns:a16="http://schemas.microsoft.com/office/drawing/2014/main" id="{3B3A41E3-9A03-D993-C8AA-F3B3721718DD}"/>
              </a:ext>
            </a:extLst>
          </p:cNvPr>
          <p:cNvGraphicFramePr>
            <a:graphicFrameLocks noGrp="1"/>
          </p:cNvGraphicFramePr>
          <p:nvPr>
            <p:extLst>
              <p:ext uri="{D42A27DB-BD31-4B8C-83A1-F6EECF244321}">
                <p14:modId xmlns:p14="http://schemas.microsoft.com/office/powerpoint/2010/main" val="1530058494"/>
              </p:ext>
            </p:extLst>
          </p:nvPr>
        </p:nvGraphicFramePr>
        <p:xfrm>
          <a:off x="130140" y="863029"/>
          <a:ext cx="11928296" cy="5886697"/>
        </p:xfrm>
        <a:graphic>
          <a:graphicData uri="http://schemas.openxmlformats.org/drawingml/2006/table">
            <a:tbl>
              <a:tblPr>
                <a:tableStyleId>{5940675A-B579-460E-94D1-54222C63F5DA}</a:tableStyleId>
              </a:tblPr>
              <a:tblGrid>
                <a:gridCol w="5964148">
                  <a:extLst>
                    <a:ext uri="{9D8B030D-6E8A-4147-A177-3AD203B41FA5}">
                      <a16:colId xmlns:a16="http://schemas.microsoft.com/office/drawing/2014/main" val="191794061"/>
                    </a:ext>
                  </a:extLst>
                </a:gridCol>
                <a:gridCol w="5964148">
                  <a:extLst>
                    <a:ext uri="{9D8B030D-6E8A-4147-A177-3AD203B41FA5}">
                      <a16:colId xmlns:a16="http://schemas.microsoft.com/office/drawing/2014/main" val="2803341112"/>
                    </a:ext>
                  </a:extLst>
                </a:gridCol>
              </a:tblGrid>
              <a:tr h="460964">
                <a:tc>
                  <a:txBody>
                    <a:bodyPr/>
                    <a:lstStyle/>
                    <a:p>
                      <a:pPr algn="ctr">
                        <a:buNone/>
                      </a:pPr>
                      <a:r>
                        <a:rPr lang="en-IN" sz="2300" b="1">
                          <a:latin typeface="Times New Roman" panose="02020603050405020304" pitchFamily="18" charset="0"/>
                          <a:cs typeface="Times New Roman" panose="02020603050405020304" pitchFamily="18" charset="0"/>
                        </a:rPr>
                        <a:t>HRM (Human Resource Management)</a:t>
                      </a:r>
                      <a:endParaRPr lang="en-IN" sz="2300">
                        <a:latin typeface="Times New Roman" panose="02020603050405020304" pitchFamily="18" charset="0"/>
                        <a:cs typeface="Times New Roman" panose="02020603050405020304" pitchFamily="18" charset="0"/>
                      </a:endParaRPr>
                    </a:p>
                  </a:txBody>
                  <a:tcPr marL="85320" marR="85320" marT="42660" marB="42660" anchor="ctr"/>
                </a:tc>
                <a:tc>
                  <a:txBody>
                    <a:bodyPr/>
                    <a:lstStyle/>
                    <a:p>
                      <a:pPr algn="ctr">
                        <a:buNone/>
                      </a:pPr>
                      <a:r>
                        <a:rPr lang="en-IN" sz="2300" b="1" dirty="0">
                          <a:latin typeface="Times New Roman" panose="02020603050405020304" pitchFamily="18" charset="0"/>
                          <a:cs typeface="Times New Roman" panose="02020603050405020304" pitchFamily="18" charset="0"/>
                        </a:rPr>
                        <a:t>IR (Industrial Relations)</a:t>
                      </a:r>
                      <a:endParaRPr lang="en-IN" sz="2300" dirty="0">
                        <a:latin typeface="Times New Roman" panose="02020603050405020304" pitchFamily="18" charset="0"/>
                        <a:cs typeface="Times New Roman" panose="02020603050405020304" pitchFamily="18" charset="0"/>
                      </a:endParaRPr>
                    </a:p>
                  </a:txBody>
                  <a:tcPr marL="85320" marR="85320" marT="42660" marB="42660" anchor="ctr"/>
                </a:tc>
                <a:extLst>
                  <a:ext uri="{0D108BD9-81ED-4DB2-BD59-A6C34878D82A}">
                    <a16:rowId xmlns:a16="http://schemas.microsoft.com/office/drawing/2014/main" val="3387022843"/>
                  </a:ext>
                </a:extLst>
              </a:tr>
              <a:tr h="807733">
                <a:tc>
                  <a:txBody>
                    <a:bodyPr/>
                    <a:lstStyle/>
                    <a:p>
                      <a:pPr algn="just">
                        <a:buNone/>
                      </a:pPr>
                      <a:r>
                        <a:rPr lang="en-US" sz="2100" b="1" dirty="0">
                          <a:latin typeface="Times New Roman" panose="02020603050405020304" pitchFamily="18" charset="0"/>
                          <a:cs typeface="Times New Roman" panose="02020603050405020304" pitchFamily="18" charset="0"/>
                        </a:rPr>
                        <a:t>1.</a:t>
                      </a:r>
                      <a:r>
                        <a:rPr lang="en-US" sz="2100" dirty="0">
                          <a:latin typeface="Times New Roman" panose="02020603050405020304" pitchFamily="18" charset="0"/>
                          <a:cs typeface="Times New Roman" panose="02020603050405020304" pitchFamily="18" charset="0"/>
                        </a:rPr>
                        <a:t> 2 parties: Employee and Employer.</a:t>
                      </a:r>
                    </a:p>
                  </a:txBody>
                  <a:tcPr marL="85320" marR="85320" marT="42660" marB="42660" anchor="ctr"/>
                </a:tc>
                <a:tc>
                  <a:txBody>
                    <a:bodyPr/>
                    <a:lstStyle/>
                    <a:p>
                      <a:pPr algn="just">
                        <a:buNone/>
                      </a:pPr>
                      <a:r>
                        <a:rPr lang="en-US" sz="2100" b="1" dirty="0">
                          <a:latin typeface="Times New Roman" panose="02020603050405020304" pitchFamily="18" charset="0"/>
                          <a:cs typeface="Times New Roman" panose="02020603050405020304" pitchFamily="18" charset="0"/>
                        </a:rPr>
                        <a:t>1.</a:t>
                      </a:r>
                      <a:r>
                        <a:rPr lang="en-US" sz="2100" dirty="0">
                          <a:latin typeface="Times New Roman" panose="02020603050405020304" pitchFamily="18" charset="0"/>
                          <a:cs typeface="Times New Roman" panose="02020603050405020304" pitchFamily="18" charset="0"/>
                        </a:rPr>
                        <a:t> 4 parties: Employees, Employer, Trade Union and Government.</a:t>
                      </a:r>
                    </a:p>
                  </a:txBody>
                  <a:tcPr marL="85320" marR="85320" marT="42660" marB="42660" anchor="ctr"/>
                </a:tc>
                <a:extLst>
                  <a:ext uri="{0D108BD9-81ED-4DB2-BD59-A6C34878D82A}">
                    <a16:rowId xmlns:a16="http://schemas.microsoft.com/office/drawing/2014/main" val="2468461558"/>
                  </a:ext>
                </a:extLst>
              </a:tr>
              <a:tr h="1848034">
                <a:tc>
                  <a:txBody>
                    <a:bodyPr/>
                    <a:lstStyle/>
                    <a:p>
                      <a:pPr algn="just">
                        <a:buNone/>
                      </a:pPr>
                      <a:r>
                        <a:rPr lang="en-US" sz="2100" b="1" dirty="0">
                          <a:latin typeface="Times New Roman" panose="02020603050405020304" pitchFamily="18" charset="0"/>
                          <a:cs typeface="Times New Roman" panose="02020603050405020304" pitchFamily="18" charset="0"/>
                        </a:rPr>
                        <a:t>2.</a:t>
                      </a:r>
                      <a:r>
                        <a:rPr lang="en-US" sz="2100" dirty="0">
                          <a:latin typeface="Times New Roman" panose="02020603050405020304" pitchFamily="18" charset="0"/>
                          <a:cs typeface="Times New Roman" panose="02020603050405020304" pitchFamily="18" charset="0"/>
                        </a:rPr>
                        <a:t> HRM refers to a personnel management policy adopted in an industrial organization to develop a sense of belongingness among workers, improve their efficiency, treat them as human beings and make them partners in the industry.</a:t>
                      </a:r>
                    </a:p>
                  </a:txBody>
                  <a:tcPr marL="85320" marR="85320" marT="42660" marB="42660" anchor="ctr"/>
                </a:tc>
                <a:tc>
                  <a:txBody>
                    <a:bodyPr/>
                    <a:lstStyle/>
                    <a:p>
                      <a:pPr algn="just">
                        <a:buNone/>
                      </a:pPr>
                      <a:r>
                        <a:rPr lang="en-US" sz="2100" b="1">
                          <a:latin typeface="Times New Roman" panose="02020603050405020304" pitchFamily="18" charset="0"/>
                          <a:cs typeface="Times New Roman" panose="02020603050405020304" pitchFamily="18" charset="0"/>
                        </a:rPr>
                        <a:t>2.</a:t>
                      </a:r>
                      <a:r>
                        <a:rPr lang="en-US" sz="2100">
                          <a:latin typeface="Times New Roman" panose="02020603050405020304" pitchFamily="18" charset="0"/>
                          <a:cs typeface="Times New Roman" panose="02020603050405020304" pitchFamily="18" charset="0"/>
                        </a:rPr>
                        <a:t> Industrial Relations refers to the relationship between employees and employers in an industry.</a:t>
                      </a:r>
                    </a:p>
                  </a:txBody>
                  <a:tcPr marL="85320" marR="85320" marT="42660" marB="42660" anchor="ctr"/>
                </a:tc>
                <a:extLst>
                  <a:ext uri="{0D108BD9-81ED-4DB2-BD59-A6C34878D82A}">
                    <a16:rowId xmlns:a16="http://schemas.microsoft.com/office/drawing/2014/main" val="481123431"/>
                  </a:ext>
                </a:extLst>
              </a:tr>
              <a:tr h="1154500">
                <a:tc>
                  <a:txBody>
                    <a:bodyPr/>
                    <a:lstStyle/>
                    <a:p>
                      <a:pPr algn="just">
                        <a:buNone/>
                      </a:pPr>
                      <a:r>
                        <a:rPr lang="en-US" sz="2100" b="1">
                          <a:latin typeface="Times New Roman" panose="02020603050405020304" pitchFamily="18" charset="0"/>
                          <a:cs typeface="Times New Roman" panose="02020603050405020304" pitchFamily="18" charset="0"/>
                        </a:rPr>
                        <a:t>3.</a:t>
                      </a:r>
                      <a:r>
                        <a:rPr lang="en-US" sz="2100">
                          <a:latin typeface="Times New Roman" panose="02020603050405020304" pitchFamily="18" charset="0"/>
                          <a:cs typeface="Times New Roman" panose="02020603050405020304" pitchFamily="18" charset="0"/>
                        </a:rPr>
                        <a:t> Problems of HRM are personal in nature and are related to the behavior of workers, where morale and social elements predominate.</a:t>
                      </a:r>
                    </a:p>
                  </a:txBody>
                  <a:tcPr marL="85320" marR="85320" marT="42660" marB="42660" anchor="ctr"/>
                </a:tc>
                <a:tc>
                  <a:txBody>
                    <a:bodyPr/>
                    <a:lstStyle/>
                    <a:p>
                      <a:pPr algn="just">
                        <a:buNone/>
                      </a:pPr>
                      <a:r>
                        <a:rPr lang="en-US" sz="2100" b="1">
                          <a:latin typeface="Times New Roman" panose="02020603050405020304" pitchFamily="18" charset="0"/>
                          <a:cs typeface="Times New Roman" panose="02020603050405020304" pitchFamily="18" charset="0"/>
                        </a:rPr>
                        <a:t>3.</a:t>
                      </a:r>
                      <a:r>
                        <a:rPr lang="en-US" sz="2100">
                          <a:latin typeface="Times New Roman" panose="02020603050405020304" pitchFamily="18" charset="0"/>
                          <a:cs typeface="Times New Roman" panose="02020603050405020304" pitchFamily="18" charset="0"/>
                        </a:rPr>
                        <a:t> Industrial Relations covers matters regulated by law or by collective agreements between employees and employers.</a:t>
                      </a:r>
                    </a:p>
                  </a:txBody>
                  <a:tcPr marL="85320" marR="85320" marT="42660" marB="42660" anchor="ctr"/>
                </a:tc>
                <a:extLst>
                  <a:ext uri="{0D108BD9-81ED-4DB2-BD59-A6C34878D82A}">
                    <a16:rowId xmlns:a16="http://schemas.microsoft.com/office/drawing/2014/main" val="1536160600"/>
                  </a:ext>
                </a:extLst>
              </a:tr>
              <a:tr h="807733">
                <a:tc>
                  <a:txBody>
                    <a:bodyPr/>
                    <a:lstStyle/>
                    <a:p>
                      <a:pPr algn="just">
                        <a:buNone/>
                      </a:pPr>
                      <a:r>
                        <a:rPr lang="en-US" sz="2100" b="1">
                          <a:latin typeface="Times New Roman" panose="02020603050405020304" pitchFamily="18" charset="0"/>
                          <a:cs typeface="Times New Roman" panose="02020603050405020304" pitchFamily="18" charset="0"/>
                        </a:rPr>
                        <a:t>4.</a:t>
                      </a:r>
                      <a:r>
                        <a:rPr lang="en-US" sz="2100">
                          <a:latin typeface="Times New Roman" panose="02020603050405020304" pitchFamily="18" charset="0"/>
                          <a:cs typeface="Times New Roman" panose="02020603050405020304" pitchFamily="18" charset="0"/>
                        </a:rPr>
                        <a:t> Individual employees contact their immediate supervisor regarding issues and concerns.</a:t>
                      </a:r>
                    </a:p>
                  </a:txBody>
                  <a:tcPr marL="85320" marR="85320" marT="42660" marB="42660" anchor="ctr"/>
                </a:tc>
                <a:tc>
                  <a:txBody>
                    <a:bodyPr/>
                    <a:lstStyle/>
                    <a:p>
                      <a:pPr algn="just">
                        <a:buNone/>
                      </a:pPr>
                      <a:r>
                        <a:rPr lang="en-US" sz="2100" b="1">
                          <a:latin typeface="Times New Roman" panose="02020603050405020304" pitchFamily="18" charset="0"/>
                          <a:cs typeface="Times New Roman" panose="02020603050405020304" pitchFamily="18" charset="0"/>
                        </a:rPr>
                        <a:t>4.</a:t>
                      </a:r>
                      <a:r>
                        <a:rPr lang="en-US" sz="2100">
                          <a:latin typeface="Times New Roman" panose="02020603050405020304" pitchFamily="18" charset="0"/>
                          <a:cs typeface="Times New Roman" panose="02020603050405020304" pitchFamily="18" charset="0"/>
                        </a:rPr>
                        <a:t> Employees contact even the top management as a group.</a:t>
                      </a:r>
                    </a:p>
                  </a:txBody>
                  <a:tcPr marL="85320" marR="85320" marT="42660" marB="42660" anchor="ctr"/>
                </a:tc>
                <a:extLst>
                  <a:ext uri="{0D108BD9-81ED-4DB2-BD59-A6C34878D82A}">
                    <a16:rowId xmlns:a16="http://schemas.microsoft.com/office/drawing/2014/main" val="3926593160"/>
                  </a:ext>
                </a:extLst>
              </a:tr>
              <a:tr h="807733">
                <a:tc>
                  <a:txBody>
                    <a:bodyPr/>
                    <a:lstStyle/>
                    <a:p>
                      <a:pPr algn="just">
                        <a:buNone/>
                      </a:pPr>
                      <a:r>
                        <a:rPr lang="en-US" sz="2100" b="1" dirty="0">
                          <a:latin typeface="Times New Roman" panose="02020603050405020304" pitchFamily="18" charset="0"/>
                          <a:cs typeface="Times New Roman" panose="02020603050405020304" pitchFamily="18" charset="0"/>
                        </a:rPr>
                        <a:t>5.</a:t>
                      </a:r>
                      <a:r>
                        <a:rPr lang="en-US" sz="2100" dirty="0">
                          <a:latin typeface="Times New Roman" panose="02020603050405020304" pitchFamily="18" charset="0"/>
                          <a:cs typeface="Times New Roman" panose="02020603050405020304" pitchFamily="18" charset="0"/>
                        </a:rPr>
                        <a:t> Grievance and disciplinary procedures are used to resolve employee-employer conflicts.</a:t>
                      </a:r>
                    </a:p>
                  </a:txBody>
                  <a:tcPr marL="85320" marR="85320" marT="42660" marB="42660" anchor="ctr"/>
                </a:tc>
                <a:tc>
                  <a:txBody>
                    <a:bodyPr/>
                    <a:lstStyle/>
                    <a:p>
                      <a:pPr algn="just">
                        <a:buNone/>
                      </a:pPr>
                      <a:r>
                        <a:rPr lang="en-US" sz="2100" b="1" dirty="0">
                          <a:latin typeface="Times New Roman" panose="02020603050405020304" pitchFamily="18" charset="0"/>
                          <a:cs typeface="Times New Roman" panose="02020603050405020304" pitchFamily="18" charset="0"/>
                        </a:rPr>
                        <a:t>5.</a:t>
                      </a:r>
                      <a:r>
                        <a:rPr lang="en-US" sz="2100" dirty="0">
                          <a:latin typeface="Times New Roman" panose="02020603050405020304" pitchFamily="18" charset="0"/>
                          <a:cs typeface="Times New Roman" panose="02020603050405020304" pitchFamily="18" charset="0"/>
                        </a:rPr>
                        <a:t> Collective bargaining and other forms of industrial conflict resolution are used to solve problems.</a:t>
                      </a:r>
                    </a:p>
                  </a:txBody>
                  <a:tcPr marL="85320" marR="85320" marT="42660" marB="42660" anchor="ctr"/>
                </a:tc>
                <a:extLst>
                  <a:ext uri="{0D108BD9-81ED-4DB2-BD59-A6C34878D82A}">
                    <a16:rowId xmlns:a16="http://schemas.microsoft.com/office/drawing/2014/main" val="3125490650"/>
                  </a:ext>
                </a:extLst>
              </a:tr>
            </a:tbl>
          </a:graphicData>
        </a:graphic>
      </p:graphicFrame>
    </p:spTree>
    <p:extLst>
      <p:ext uri="{BB962C8B-B14F-4D97-AF65-F5344CB8AC3E}">
        <p14:creationId xmlns:p14="http://schemas.microsoft.com/office/powerpoint/2010/main" val="2806065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FBEE9-3904-1E9E-DA5C-A93B435389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08E1A9-224F-8345-8194-3636F44FFF11}"/>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Approaches to Industrial Relations</a:t>
            </a:r>
          </a:p>
        </p:txBody>
      </p:sp>
      <p:sp>
        <p:nvSpPr>
          <p:cNvPr id="3" name="Content Placeholder 2">
            <a:extLst>
              <a:ext uri="{FF2B5EF4-FFF2-40B4-BE49-F238E27FC236}">
                <a16:creationId xmlns:a16="http://schemas.microsoft.com/office/drawing/2014/main" id="{AF992D51-98CF-C838-8292-03B472CAAF23}"/>
              </a:ext>
            </a:extLst>
          </p:cNvPr>
          <p:cNvSpPr>
            <a:spLocks noGrp="1"/>
          </p:cNvSpPr>
          <p:nvPr>
            <p:ph idx="1"/>
          </p:nvPr>
        </p:nvSpPr>
        <p:spPr>
          <a:xfrm>
            <a:off x="133563" y="1387011"/>
            <a:ext cx="11928297" cy="5362714"/>
          </a:xfrm>
        </p:spPr>
        <p:txBody>
          <a:bodyPr>
            <a:normAutofit/>
          </a:bodyPr>
          <a:lstStyle/>
          <a:p>
            <a:pPr algn="just">
              <a:buNone/>
            </a:pPr>
            <a:r>
              <a:rPr lang="en-US" sz="3600" dirty="0"/>
              <a:t>		</a:t>
            </a:r>
            <a:r>
              <a:rPr lang="en-US" sz="3600" dirty="0">
                <a:latin typeface="Times New Roman" pitchFamily="18" charset="0"/>
                <a:cs typeface="Times New Roman" pitchFamily="18" charset="0"/>
              </a:rPr>
              <a:t>The four popular approaches to industrial relations are :</a:t>
            </a:r>
          </a:p>
          <a:p>
            <a:pPr algn="just">
              <a:buNone/>
            </a:pPr>
            <a:r>
              <a:rPr lang="en-US" sz="3600" dirty="0">
                <a:latin typeface="Times New Roman" pitchFamily="18" charset="0"/>
                <a:cs typeface="Times New Roman" pitchFamily="18" charset="0"/>
              </a:rPr>
              <a:t>1.  The Unitary Approach.</a:t>
            </a:r>
          </a:p>
          <a:p>
            <a:pPr algn="just">
              <a:buNone/>
            </a:pPr>
            <a:r>
              <a:rPr lang="en-US" sz="3600" dirty="0">
                <a:latin typeface="Times New Roman" pitchFamily="18" charset="0"/>
                <a:cs typeface="Times New Roman" pitchFamily="18" charset="0"/>
              </a:rPr>
              <a:t>2.  Pluralistic Approach. </a:t>
            </a:r>
          </a:p>
          <a:p>
            <a:pPr marL="514350" indent="-514350" algn="just">
              <a:buAutoNum type="arabicPeriod" startAt="3"/>
            </a:pPr>
            <a:r>
              <a:rPr lang="en-US" sz="3600" dirty="0">
                <a:latin typeface="Times New Roman" pitchFamily="18" charset="0"/>
                <a:cs typeface="Times New Roman" pitchFamily="18" charset="0"/>
              </a:rPr>
              <a:t>Marxist/ Radical Approach.</a:t>
            </a:r>
          </a:p>
          <a:p>
            <a:pPr marL="514350" indent="-514350" algn="just">
              <a:buAutoNum type="arabicPeriod" startAt="3"/>
            </a:pPr>
            <a:r>
              <a:rPr lang="en-US" sz="3600" dirty="0">
                <a:latin typeface="Times New Roman" pitchFamily="18" charset="0"/>
                <a:cs typeface="Times New Roman" pitchFamily="18" charset="0"/>
              </a:rPr>
              <a:t>System Approach</a:t>
            </a:r>
            <a:r>
              <a:rPr lang="en-US" sz="3600" dirty="0"/>
              <a:t>.</a:t>
            </a:r>
          </a:p>
          <a:p>
            <a:pPr marL="0" indent="0" algn="just">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7051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0B9E4-ADD1-53FD-70B5-CB37D6D106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7DA50-E402-A073-94EB-E16BF8AA5233}"/>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The Unitary Approach</a:t>
            </a:r>
          </a:p>
        </p:txBody>
      </p:sp>
      <p:sp>
        <p:nvSpPr>
          <p:cNvPr id="3" name="Content Placeholder 2">
            <a:extLst>
              <a:ext uri="{FF2B5EF4-FFF2-40B4-BE49-F238E27FC236}">
                <a16:creationId xmlns:a16="http://schemas.microsoft.com/office/drawing/2014/main" id="{35FEA32B-9BBD-4F71-939E-28FA344C6B93}"/>
              </a:ext>
            </a:extLst>
          </p:cNvPr>
          <p:cNvSpPr>
            <a:spLocks noGrp="1"/>
          </p:cNvSpPr>
          <p:nvPr>
            <p:ph idx="1"/>
          </p:nvPr>
        </p:nvSpPr>
        <p:spPr>
          <a:xfrm>
            <a:off x="133563" y="1387011"/>
            <a:ext cx="11928297" cy="5362714"/>
          </a:xfrm>
        </p:spPr>
        <p:txBody>
          <a:bodyPr>
            <a:normAutofit/>
          </a:bodyPr>
          <a:lstStyle/>
          <a:p>
            <a:pPr algn="just">
              <a:buNone/>
            </a:pPr>
            <a:r>
              <a:rPr lang="en-US" sz="3600" dirty="0"/>
              <a:t>	</a:t>
            </a:r>
            <a:endParaRPr lang="en-IN" sz="3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6C03B70-AE16-E2C0-2BE3-443F2B46FA32}"/>
              </a:ext>
            </a:extLst>
          </p:cNvPr>
          <p:cNvSpPr txBox="1"/>
          <p:nvPr/>
        </p:nvSpPr>
        <p:spPr>
          <a:xfrm>
            <a:off x="642938" y="942976"/>
            <a:ext cx="11129962" cy="4031873"/>
          </a:xfrm>
          <a:prstGeom prst="rect">
            <a:avLst/>
          </a:prstGeom>
          <a:noFill/>
        </p:spPr>
        <p:txBody>
          <a:bodyPr wrap="square">
            <a:spAutoFit/>
          </a:bodyPr>
          <a:lstStyle/>
          <a:p>
            <a:pPr algn="just"/>
            <a:r>
              <a:rPr lang="en-IN" sz="3200" dirty="0"/>
              <a:t>Unitary approach </a:t>
            </a:r>
          </a:p>
          <a:p>
            <a:pPr marL="457200" indent="-457200" algn="just">
              <a:buFont typeface="Wingdings" panose="05000000000000000000" pitchFamily="2" charset="2"/>
              <a:buChar char="§"/>
            </a:pPr>
            <a:r>
              <a:rPr lang="en-IN" sz="3200" dirty="0"/>
              <a:t>The is based on the strong argument that there is only one source of authority i.e., the management, which owns and controls the dynamics of decision making in issues relating to negotiation and bargaining.</a:t>
            </a:r>
          </a:p>
          <a:p>
            <a:pPr marL="457200" indent="-457200" algn="just">
              <a:buFont typeface="Wingdings" panose="05000000000000000000" pitchFamily="2" charset="2"/>
              <a:buChar char="§"/>
            </a:pPr>
            <a:r>
              <a:rPr lang="en-IN" sz="3200" dirty="0"/>
              <a:t>Under unitary approach, industrial relations are grounded in mutual cooperation, individual treatment, team-work, and shared goals</a:t>
            </a:r>
          </a:p>
        </p:txBody>
      </p:sp>
    </p:spTree>
    <p:extLst>
      <p:ext uri="{BB962C8B-B14F-4D97-AF65-F5344CB8AC3E}">
        <p14:creationId xmlns:p14="http://schemas.microsoft.com/office/powerpoint/2010/main" val="3641613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DEC25-BDEC-7ED8-9A4C-6141159CA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52F9A-9AC3-D899-9443-A9EDD1BD9F18}"/>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Pluralistic Approach</a:t>
            </a:r>
          </a:p>
        </p:txBody>
      </p:sp>
      <p:sp>
        <p:nvSpPr>
          <p:cNvPr id="3" name="Content Placeholder 2">
            <a:extLst>
              <a:ext uri="{FF2B5EF4-FFF2-40B4-BE49-F238E27FC236}">
                <a16:creationId xmlns:a16="http://schemas.microsoft.com/office/drawing/2014/main" id="{0542E158-7157-5202-5201-01E987E5D3B0}"/>
              </a:ext>
            </a:extLst>
          </p:cNvPr>
          <p:cNvSpPr>
            <a:spLocks noGrp="1"/>
          </p:cNvSpPr>
          <p:nvPr>
            <p:ph idx="1"/>
          </p:nvPr>
        </p:nvSpPr>
        <p:spPr>
          <a:xfrm>
            <a:off x="130140" y="1058242"/>
            <a:ext cx="11928297" cy="5362714"/>
          </a:xfrm>
        </p:spPr>
        <p:txBody>
          <a:bodyPr>
            <a:normAutofit fontScale="92500" lnSpcReduction="10000"/>
          </a:bodyPr>
          <a:lstStyle/>
          <a:p>
            <a:pPr algn="just">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Assumes that the organization is composed of individuals who form distinct groups with their own set of aims, objectives, leadership styles, and value propositions.</a:t>
            </a:r>
          </a:p>
          <a:p>
            <a:pPr algn="just">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The organization is multi structured and there will be continued tension due to conflicts within and between the various sectional groups.</a:t>
            </a:r>
          </a:p>
          <a:p>
            <a:pPr algn="just">
              <a:buNone/>
            </a:pPr>
            <a:r>
              <a:rPr lang="en-IN" sz="3600" b="1" dirty="0">
                <a:latin typeface="Times New Roman" panose="02020603050405020304" pitchFamily="18" charset="0"/>
                <a:cs typeface="Times New Roman" panose="02020603050405020304" pitchFamily="18" charset="0"/>
              </a:rPr>
              <a:t>Main Assumptions</a:t>
            </a:r>
          </a:p>
          <a:p>
            <a:pPr algn="just"/>
            <a:r>
              <a:rPr lang="en-US" sz="3600" dirty="0">
                <a:latin typeface="Times New Roman" panose="02020603050405020304" pitchFamily="18" charset="0"/>
                <a:cs typeface="Times New Roman" panose="02020603050405020304" pitchFamily="18" charset="0"/>
              </a:rPr>
              <a:t>Conflict is natural and unavoidable.</a:t>
            </a:r>
          </a:p>
          <a:p>
            <a:pPr algn="just"/>
            <a:r>
              <a:rPr lang="en-US" sz="3600" dirty="0">
                <a:latin typeface="Times New Roman" panose="02020603050405020304" pitchFamily="18" charset="0"/>
                <a:cs typeface="Times New Roman" panose="02020603050405020304" pitchFamily="18" charset="0"/>
              </a:rPr>
              <a:t>Trade unions play an important role.</a:t>
            </a:r>
          </a:p>
          <a:p>
            <a:pPr algn="just"/>
            <a:r>
              <a:rPr lang="en-US" sz="3600" dirty="0">
                <a:latin typeface="Times New Roman" panose="02020603050405020304" pitchFamily="18" charset="0"/>
                <a:cs typeface="Times New Roman" panose="02020603050405020304" pitchFamily="18" charset="0"/>
              </a:rPr>
              <a:t>Management and employees may have different objectives.</a:t>
            </a:r>
          </a:p>
          <a:p>
            <a:pPr algn="just"/>
            <a:r>
              <a:rPr lang="en-US" sz="3600" dirty="0">
                <a:latin typeface="Times New Roman" panose="02020603050405020304" pitchFamily="18" charset="0"/>
                <a:cs typeface="Times New Roman" panose="02020603050405020304" pitchFamily="18" charset="0"/>
              </a:rPr>
              <a:t>Collective bargaining helps resolve disputes.</a:t>
            </a:r>
          </a:p>
          <a:p>
            <a:pPr algn="just">
              <a:buNone/>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0197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69164-51FA-DBD9-7E80-E19E3570E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9F993E-DD9F-2724-5D62-182FC98493A5}"/>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Marxist/ Radical Approach</a:t>
            </a:r>
          </a:p>
        </p:txBody>
      </p:sp>
      <p:sp>
        <p:nvSpPr>
          <p:cNvPr id="3" name="Content Placeholder 2">
            <a:extLst>
              <a:ext uri="{FF2B5EF4-FFF2-40B4-BE49-F238E27FC236}">
                <a16:creationId xmlns:a16="http://schemas.microsoft.com/office/drawing/2014/main" id="{17EAEE23-B3A1-4D78-6351-8A82D5CAF1FF}"/>
              </a:ext>
            </a:extLst>
          </p:cNvPr>
          <p:cNvSpPr>
            <a:spLocks noGrp="1"/>
          </p:cNvSpPr>
          <p:nvPr>
            <p:ph idx="1"/>
          </p:nvPr>
        </p:nvSpPr>
        <p:spPr>
          <a:xfrm>
            <a:off x="133563" y="965771"/>
            <a:ext cx="11928297" cy="5783954"/>
          </a:xfrm>
        </p:spPr>
        <p:txBody>
          <a:bodyPr>
            <a:normAutofit lnSpcReduction="10000"/>
          </a:bodyPr>
          <a:lstStyle/>
          <a:p>
            <a:pPr algn="just">
              <a:buNone/>
            </a:pPr>
            <a:r>
              <a:rPr lang="en-US" sz="3600" dirty="0"/>
              <a:t>	</a:t>
            </a:r>
            <a:r>
              <a:rPr lang="en-US" sz="3600" dirty="0">
                <a:latin typeface="Times New Roman" pitchFamily="18" charset="0"/>
                <a:cs typeface="Times New Roman" pitchFamily="18" charset="0"/>
              </a:rPr>
              <a:t>Marxist approach is based on the proposition that the economic activities of production, manufacturing and distribution are majorly governed by the objective of profit. </a:t>
            </a:r>
          </a:p>
          <a:p>
            <a:pPr algn="just">
              <a:buNone/>
            </a:pPr>
            <a:r>
              <a:rPr lang="en-US" sz="3600" dirty="0">
                <a:latin typeface="Times New Roman" pitchFamily="18" charset="0"/>
                <a:cs typeface="Times New Roman" pitchFamily="18" charset="0"/>
              </a:rPr>
              <a:t>	It also regard that conflict between employers and employees as inevitable.</a:t>
            </a:r>
          </a:p>
          <a:p>
            <a:pPr algn="just">
              <a:buNone/>
            </a:pPr>
            <a:r>
              <a:rPr lang="en-US" sz="3600" dirty="0">
                <a:latin typeface="Times New Roman" pitchFamily="18" charset="0"/>
                <a:cs typeface="Times New Roman" pitchFamily="18" charset="0"/>
              </a:rPr>
              <a:t>	The Marxist Approach views industrial relations as a struggle between capitalists (employers) and workers (employees).</a:t>
            </a:r>
          </a:p>
          <a:p>
            <a:pPr algn="just"/>
            <a:r>
              <a:rPr lang="en-US" sz="3600" dirty="0">
                <a:latin typeface="Times New Roman" pitchFamily="18" charset="0"/>
                <a:cs typeface="Times New Roman" pitchFamily="18" charset="0"/>
              </a:rPr>
              <a:t>Employers seek profit, while workers seek better wages and conditions.</a:t>
            </a:r>
          </a:p>
          <a:p>
            <a:pPr algn="just"/>
            <a:r>
              <a:rPr lang="en-US" sz="3600" dirty="0">
                <a:latin typeface="Times New Roman" pitchFamily="18" charset="0"/>
                <a:cs typeface="Times New Roman" pitchFamily="18" charset="0"/>
              </a:rPr>
              <a:t>Trade unions protect workers from exploitation.</a:t>
            </a:r>
          </a:p>
          <a:p>
            <a:pPr algn="just"/>
            <a:r>
              <a:rPr lang="en-US" sz="3600" dirty="0">
                <a:latin typeface="Times New Roman" pitchFamily="18" charset="0"/>
                <a:cs typeface="Times New Roman" pitchFamily="18" charset="0"/>
              </a:rPr>
              <a:t>Industrial conflict results from economic inequality.</a:t>
            </a:r>
          </a:p>
        </p:txBody>
      </p:sp>
    </p:spTree>
    <p:extLst>
      <p:ext uri="{BB962C8B-B14F-4D97-AF65-F5344CB8AC3E}">
        <p14:creationId xmlns:p14="http://schemas.microsoft.com/office/powerpoint/2010/main" val="3460711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29C33-C60A-5C7D-C97A-B6C9FD2A7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FC33F-EFA1-4D28-1FF3-010717F506FC}"/>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System Approach</a:t>
            </a:r>
          </a:p>
        </p:txBody>
      </p:sp>
      <p:sp>
        <p:nvSpPr>
          <p:cNvPr id="3" name="Content Placeholder 2">
            <a:extLst>
              <a:ext uri="{FF2B5EF4-FFF2-40B4-BE49-F238E27FC236}">
                <a16:creationId xmlns:a16="http://schemas.microsoft.com/office/drawing/2014/main" id="{150DBA1A-AFB2-B459-396B-D4A1ECFA78AC}"/>
              </a:ext>
            </a:extLst>
          </p:cNvPr>
          <p:cNvSpPr>
            <a:spLocks noGrp="1"/>
          </p:cNvSpPr>
          <p:nvPr>
            <p:ph idx="1"/>
          </p:nvPr>
        </p:nvSpPr>
        <p:spPr>
          <a:xfrm>
            <a:off x="133563" y="1058242"/>
            <a:ext cx="11928297" cy="5691483"/>
          </a:xfrm>
        </p:spPr>
        <p:txBody>
          <a:bodyPr>
            <a:normAutofit/>
          </a:bodyPr>
          <a:lstStyle/>
          <a:p>
            <a:pPr marL="0" indent="0" algn="just">
              <a:buNone/>
            </a:pPr>
            <a:r>
              <a:rPr lang="en-US" sz="3600" dirty="0">
                <a:latin typeface="Times New Roman" panose="02020603050405020304" pitchFamily="18" charset="0"/>
                <a:cs typeface="Times New Roman" panose="02020603050405020304" pitchFamily="18" charset="0"/>
              </a:rPr>
              <a:t>The Systems Approach views Industrial Relations as a system of interactions among various actors within a specific environment.</a:t>
            </a:r>
          </a:p>
          <a:p>
            <a:pPr marL="0" indent="0" algn="ctr">
              <a:buNone/>
            </a:pPr>
            <a:r>
              <a:rPr lang="en-IN" sz="3600" b="1" dirty="0">
                <a:latin typeface="Times New Roman" panose="02020603050405020304" pitchFamily="18" charset="0"/>
                <a:cs typeface="Times New Roman" panose="02020603050405020304" pitchFamily="18" charset="0"/>
              </a:rPr>
              <a:t>Main Components</a:t>
            </a:r>
          </a:p>
          <a:p>
            <a:pPr marL="742950" indent="-742950" algn="just">
              <a:buAutoNum type="alphaUcPeriod"/>
            </a:pPr>
            <a:r>
              <a:rPr lang="en-IN" sz="3600" b="1" dirty="0">
                <a:latin typeface="Times New Roman" panose="02020603050405020304" pitchFamily="18" charset="0"/>
                <a:cs typeface="Times New Roman" panose="02020603050405020304" pitchFamily="18" charset="0"/>
              </a:rPr>
              <a:t>Actors</a:t>
            </a:r>
          </a:p>
          <a:p>
            <a:pPr algn="just"/>
            <a:r>
              <a:rPr lang="en-IN" sz="3600" dirty="0">
                <a:latin typeface="Times New Roman" panose="02020603050405020304" pitchFamily="18" charset="0"/>
                <a:cs typeface="Times New Roman" panose="02020603050405020304" pitchFamily="18" charset="0"/>
              </a:rPr>
              <a:t>Employers and their representatives</a:t>
            </a:r>
          </a:p>
          <a:p>
            <a:pPr algn="just"/>
            <a:r>
              <a:rPr lang="en-IN" sz="3600" dirty="0">
                <a:latin typeface="Times New Roman" panose="02020603050405020304" pitchFamily="18" charset="0"/>
                <a:cs typeface="Times New Roman" panose="02020603050405020304" pitchFamily="18" charset="0"/>
              </a:rPr>
              <a:t>Employees and trade unions</a:t>
            </a:r>
          </a:p>
          <a:p>
            <a:pPr algn="just"/>
            <a:r>
              <a:rPr lang="en-IN" sz="3600" dirty="0">
                <a:latin typeface="Times New Roman" panose="02020603050405020304" pitchFamily="18" charset="0"/>
                <a:cs typeface="Times New Roman" panose="02020603050405020304" pitchFamily="18" charset="0"/>
              </a:rPr>
              <a:t>Government agencies</a:t>
            </a:r>
          </a:p>
        </p:txBody>
      </p:sp>
    </p:spTree>
    <p:extLst>
      <p:ext uri="{BB962C8B-B14F-4D97-AF65-F5344CB8AC3E}">
        <p14:creationId xmlns:p14="http://schemas.microsoft.com/office/powerpoint/2010/main" val="159596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FCC8F-D20B-FB5C-B2B3-067E5BDB7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F20AA-7E00-4FF2-3A89-B7DA1F935A68}"/>
              </a:ext>
            </a:extLst>
          </p:cNvPr>
          <p:cNvSpPr>
            <a:spLocks noGrp="1"/>
          </p:cNvSpPr>
          <p:nvPr>
            <p:ph type="title"/>
          </p:nvPr>
        </p:nvSpPr>
        <p:spPr>
          <a:xfrm>
            <a:off x="133563" y="108275"/>
            <a:ext cx="11928297" cy="949967"/>
          </a:xfrm>
        </p:spPr>
        <p:txBody>
          <a:bodyPr>
            <a:normAutofit/>
          </a:bodyPr>
          <a:lstStyle/>
          <a:p>
            <a:pPr algn="ctr"/>
            <a:r>
              <a:rPr lang="en-IN" b="1" dirty="0">
                <a:solidFill>
                  <a:srgbClr val="C00000"/>
                </a:solidFill>
                <a:latin typeface="Times New Roman" panose="02020603050405020304" pitchFamily="18" charset="0"/>
                <a:cs typeface="Times New Roman" panose="02020603050405020304" pitchFamily="18" charset="0"/>
              </a:rPr>
              <a:t>System Approach</a:t>
            </a:r>
          </a:p>
        </p:txBody>
      </p:sp>
      <p:sp>
        <p:nvSpPr>
          <p:cNvPr id="3" name="Content Placeholder 2">
            <a:extLst>
              <a:ext uri="{FF2B5EF4-FFF2-40B4-BE49-F238E27FC236}">
                <a16:creationId xmlns:a16="http://schemas.microsoft.com/office/drawing/2014/main" id="{38C16663-7ECB-317B-3D40-EBAF96590CBC}"/>
              </a:ext>
            </a:extLst>
          </p:cNvPr>
          <p:cNvSpPr>
            <a:spLocks noGrp="1"/>
          </p:cNvSpPr>
          <p:nvPr>
            <p:ph idx="1"/>
          </p:nvPr>
        </p:nvSpPr>
        <p:spPr>
          <a:xfrm>
            <a:off x="133563" y="1058242"/>
            <a:ext cx="11928297" cy="5691483"/>
          </a:xfrm>
        </p:spPr>
        <p:txBody>
          <a:bodyPr>
            <a:normAutofit lnSpcReduction="10000"/>
          </a:bodyPr>
          <a:lstStyle/>
          <a:p>
            <a:pPr marL="742950" indent="-742950" algn="just">
              <a:buFont typeface="+mj-lt"/>
              <a:buAutoNum type="alphaUcPeriod" startAt="2"/>
            </a:pPr>
            <a:r>
              <a:rPr lang="en-IN" sz="3600" b="1" dirty="0">
                <a:latin typeface="Times New Roman" panose="02020603050405020304" pitchFamily="18" charset="0"/>
                <a:cs typeface="Times New Roman" panose="02020603050405020304" pitchFamily="18" charset="0"/>
              </a:rPr>
              <a:t>Environment</a:t>
            </a:r>
          </a:p>
          <a:p>
            <a:pPr algn="just"/>
            <a:r>
              <a:rPr lang="en-IN" sz="3600" dirty="0">
                <a:latin typeface="Times New Roman" panose="02020603050405020304" pitchFamily="18" charset="0"/>
                <a:cs typeface="Times New Roman" panose="02020603050405020304" pitchFamily="18" charset="0"/>
              </a:rPr>
              <a:t>Technology</a:t>
            </a:r>
          </a:p>
          <a:p>
            <a:pPr algn="just"/>
            <a:r>
              <a:rPr lang="en-IN" sz="3600" dirty="0">
                <a:latin typeface="Times New Roman" panose="02020603050405020304" pitchFamily="18" charset="0"/>
                <a:cs typeface="Times New Roman" panose="02020603050405020304" pitchFamily="18" charset="0"/>
              </a:rPr>
              <a:t>Market conditions</a:t>
            </a:r>
          </a:p>
          <a:p>
            <a:pPr algn="just"/>
            <a:r>
              <a:rPr lang="en-IN" sz="3600" dirty="0">
                <a:latin typeface="Times New Roman" panose="02020603050405020304" pitchFamily="18" charset="0"/>
                <a:cs typeface="Times New Roman" panose="02020603050405020304" pitchFamily="18" charset="0"/>
              </a:rPr>
              <a:t>Economic and political factors</a:t>
            </a:r>
          </a:p>
          <a:p>
            <a:pPr marL="742950" indent="-742950" algn="just">
              <a:buFont typeface="+mj-lt"/>
              <a:buAutoNum type="alphaUcPeriod" startAt="3"/>
            </a:pPr>
            <a:r>
              <a:rPr lang="en-IN" sz="3600" b="1" dirty="0">
                <a:latin typeface="Times New Roman" panose="02020603050405020304" pitchFamily="18" charset="0"/>
                <a:cs typeface="Times New Roman" panose="02020603050405020304" pitchFamily="18" charset="0"/>
              </a:rPr>
              <a:t>Rules</a:t>
            </a:r>
          </a:p>
          <a:p>
            <a:pPr marL="0" indent="0" algn="just">
              <a:buNone/>
            </a:pPr>
            <a:r>
              <a:rPr lang="en-US" sz="3600" dirty="0">
                <a:latin typeface="Times New Roman" panose="02020603050405020304" pitchFamily="18" charset="0"/>
                <a:cs typeface="Times New Roman" panose="02020603050405020304" pitchFamily="18" charset="0"/>
              </a:rPr>
              <a:t>The system creates rules regarding:</a:t>
            </a:r>
          </a:p>
          <a:p>
            <a:pPr algn="just"/>
            <a:r>
              <a:rPr lang="en-IN" sz="3600" dirty="0">
                <a:latin typeface="Times New Roman" panose="02020603050405020304" pitchFamily="18" charset="0"/>
                <a:cs typeface="Times New Roman" panose="02020603050405020304" pitchFamily="18" charset="0"/>
              </a:rPr>
              <a:t>Wages</a:t>
            </a:r>
          </a:p>
          <a:p>
            <a:pPr algn="just"/>
            <a:r>
              <a:rPr lang="en-IN" sz="3600" dirty="0">
                <a:latin typeface="Times New Roman" panose="02020603050405020304" pitchFamily="18" charset="0"/>
                <a:cs typeface="Times New Roman" panose="02020603050405020304" pitchFamily="18" charset="0"/>
              </a:rPr>
              <a:t>Working conditions</a:t>
            </a:r>
          </a:p>
          <a:p>
            <a:pPr algn="just"/>
            <a:r>
              <a:rPr lang="en-IN" sz="3600" dirty="0">
                <a:latin typeface="Times New Roman" panose="02020603050405020304" pitchFamily="18" charset="0"/>
                <a:cs typeface="Times New Roman" panose="02020603050405020304" pitchFamily="18" charset="0"/>
              </a:rPr>
              <a:t>Grievance procedures</a:t>
            </a:r>
          </a:p>
          <a:p>
            <a:pPr algn="just"/>
            <a:r>
              <a:rPr lang="en-IN" sz="3600" dirty="0">
                <a:latin typeface="Times New Roman" panose="02020603050405020304" pitchFamily="18" charset="0"/>
                <a:cs typeface="Times New Roman" panose="02020603050405020304" pitchFamily="18" charset="0"/>
              </a:rPr>
              <a:t>Labour laws</a:t>
            </a:r>
          </a:p>
        </p:txBody>
      </p:sp>
    </p:spTree>
    <p:extLst>
      <p:ext uri="{BB962C8B-B14F-4D97-AF65-F5344CB8AC3E}">
        <p14:creationId xmlns:p14="http://schemas.microsoft.com/office/powerpoint/2010/main" val="2454632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45E0E-6F15-DC97-0998-0D8D7F44D025}"/>
              </a:ext>
            </a:extLst>
          </p:cNvPr>
          <p:cNvSpPr>
            <a:spLocks noGrp="1"/>
          </p:cNvSpPr>
          <p:nvPr>
            <p:ph type="title"/>
          </p:nvPr>
        </p:nvSpPr>
        <p:spPr>
          <a:xfrm>
            <a:off x="838200" y="1957619"/>
            <a:ext cx="10515600" cy="1325563"/>
          </a:xfrm>
        </p:spPr>
        <p:txBody>
          <a:bodyPr>
            <a:normAutofit/>
          </a:bodyPr>
          <a:lstStyle/>
          <a:p>
            <a:pPr algn="ctr"/>
            <a:r>
              <a:rPr lang="en-US" sz="5400" b="1" dirty="0">
                <a:solidFill>
                  <a:srgbClr val="C00000"/>
                </a:solidFill>
                <a:latin typeface="Times New Roman" panose="02020603050405020304" pitchFamily="18" charset="0"/>
                <a:cs typeface="Times New Roman" panose="02020603050405020304" pitchFamily="18" charset="0"/>
              </a:rPr>
              <a:t>The Actors in Industrial Relations</a:t>
            </a:r>
            <a:endParaRPr lang="en-IN" sz="54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47771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23C51-7351-91CF-3E40-8409CEA93523}"/>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7E9B7DF9-A66E-30B5-207A-D2C63777D3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55" y="1495927"/>
            <a:ext cx="3173272" cy="4484806"/>
          </a:xfrm>
          <a:prstGeom prst="rect">
            <a:avLst/>
          </a:prstGeom>
        </p:spPr>
      </p:pic>
      <p:pic>
        <p:nvPicPr>
          <p:cNvPr id="17" name="Picture 16">
            <a:extLst>
              <a:ext uri="{FF2B5EF4-FFF2-40B4-BE49-F238E27FC236}">
                <a16:creationId xmlns:a16="http://schemas.microsoft.com/office/drawing/2014/main" id="{3A41199B-9A42-AB5C-0D57-E0E86946A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5992" y="68390"/>
            <a:ext cx="6000000" cy="2488273"/>
          </a:xfrm>
          <a:prstGeom prst="rect">
            <a:avLst/>
          </a:prstGeom>
        </p:spPr>
      </p:pic>
      <p:pic>
        <p:nvPicPr>
          <p:cNvPr id="19" name="Picture 18">
            <a:extLst>
              <a:ext uri="{FF2B5EF4-FFF2-40B4-BE49-F238E27FC236}">
                <a16:creationId xmlns:a16="http://schemas.microsoft.com/office/drawing/2014/main" id="{E03F0481-C509-4FB2-33A8-9029B28238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91017" y="3426712"/>
            <a:ext cx="5360341" cy="3390192"/>
          </a:xfrm>
          <a:prstGeom prst="rect">
            <a:avLst/>
          </a:prstGeom>
        </p:spPr>
      </p:pic>
      <p:pic>
        <p:nvPicPr>
          <p:cNvPr id="21" name="Picture 20">
            <a:extLst>
              <a:ext uri="{FF2B5EF4-FFF2-40B4-BE49-F238E27FC236}">
                <a16:creationId xmlns:a16="http://schemas.microsoft.com/office/drawing/2014/main" id="{7F3005B6-5BF8-46D2-7E68-8DA078D1FF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53080" y="1372640"/>
            <a:ext cx="3038920" cy="4440021"/>
          </a:xfrm>
          <a:prstGeom prst="rect">
            <a:avLst/>
          </a:prstGeom>
        </p:spPr>
      </p:pic>
    </p:spTree>
    <p:extLst>
      <p:ext uri="{BB962C8B-B14F-4D97-AF65-F5344CB8AC3E}">
        <p14:creationId xmlns:p14="http://schemas.microsoft.com/office/powerpoint/2010/main" val="1645318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1986</TotalTime>
  <Words>2057</Words>
  <Application>Microsoft Office PowerPoint</Application>
  <PresentationFormat>Widescreen</PresentationFormat>
  <Paragraphs>239</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Times New Roman</vt:lpstr>
      <vt:lpstr>Wingdings</vt:lpstr>
      <vt:lpstr>Office Theme</vt:lpstr>
      <vt:lpstr>Compensation and Benefits</vt:lpstr>
      <vt:lpstr>Definitions</vt:lpstr>
      <vt:lpstr>Total Compensation</vt:lpstr>
      <vt:lpstr>Forms of Pay</vt:lpstr>
      <vt:lpstr>Factors Affecting Compensation System</vt:lpstr>
      <vt:lpstr>Establishing Pay Rates</vt:lpstr>
      <vt:lpstr> Employee Benefits   </vt:lpstr>
      <vt:lpstr>Performance Management &amp;Appraisal</vt:lpstr>
      <vt:lpstr>Objectives of Performance Management</vt:lpstr>
      <vt:lpstr> Performance Management v/s Performance Appraisal  </vt:lpstr>
      <vt:lpstr>Common Problems with Performance Appraisals  </vt:lpstr>
      <vt:lpstr>Performance Management Process  </vt:lpstr>
      <vt:lpstr>Types of Performance Rating Systems</vt:lpstr>
      <vt:lpstr>Traditional Methods</vt:lpstr>
      <vt:lpstr>PowerPoint Presentation</vt:lpstr>
      <vt:lpstr>Modern Methods</vt:lpstr>
      <vt:lpstr>PowerPoint Presentation</vt:lpstr>
      <vt:lpstr>PowerPoint Presentation</vt:lpstr>
      <vt:lpstr>Future of Performance Management</vt:lpstr>
      <vt:lpstr>Industrial Relations</vt:lpstr>
      <vt:lpstr>The International Labour Organization (ILO)</vt:lpstr>
      <vt:lpstr>ILO : Objectives</vt:lpstr>
      <vt:lpstr>Industrial Relations</vt:lpstr>
      <vt:lpstr>Objectives of IR : </vt:lpstr>
      <vt:lpstr>HRM And Industrial Relations</vt:lpstr>
      <vt:lpstr>Approaches to Industrial Relations</vt:lpstr>
      <vt:lpstr>The Unitary Approach</vt:lpstr>
      <vt:lpstr>Pluralistic Approach</vt:lpstr>
      <vt:lpstr>Marxist/ Radical Approach</vt:lpstr>
      <vt:lpstr>System Approach</vt:lpstr>
      <vt:lpstr>System Approach</vt:lpstr>
      <vt:lpstr>The Actors in Industrial Relations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Compensation and Benefits</dc:title>
  <dc:creator>Mahesh Ganagi</dc:creator>
  <cp:lastModifiedBy>HP</cp:lastModifiedBy>
  <cp:revision>23</cp:revision>
  <dcterms:created xsi:type="dcterms:W3CDTF">2026-05-23T11:41:39Z</dcterms:created>
  <dcterms:modified xsi:type="dcterms:W3CDTF">2026-06-18T05:38:13Z</dcterms:modified>
</cp:coreProperties>
</file>