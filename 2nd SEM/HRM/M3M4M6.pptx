
<file path=[Content_Types].xml><?xml version="1.0" encoding="utf-8"?>
<Types xmlns="http://schemas.openxmlformats.org/package/2006/content-types">
  <Default Extension="xml" ContentType="application/vnd.openxmlformats-officedocument.presentationml.presentation.main+xml"/>
  <Default Extension="png" ContentType="image/png"/>
  <Default Extension="jpg" ContentType="image/jpeg"/>
  <Default Extension="rels" ContentType="application/vnd.openxmlformats-package.relationships+xml"/>
  <Override PartName="/ppt/notesMasters/notesMaster1.xml" ContentType="application/vnd.openxmlformats-officedocument.presentationml.notesMaster+xml"/>
  <Override PartName="/ppt/notesMasters/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Masters/slideMaster3.xml" ContentType="application/vnd.openxmlformats-officedocument.presentationml.slideMaster+xml"/>
  <Override PartName="/ppt/slideMasters/theme/theme4.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Slides/notesSlide1.xml" ContentType="application/vnd.openxmlformats-officedocument.presentationml.notes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Masters/slideMaster4.xml" ContentType="application/vnd.openxmlformats-officedocument.presentationml.slideMaster+xml"/>
  <Override PartName="/ppt/slideMasters/theme/theme5.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Types>
</file>

<file path=_rels/.rels>&#65279;<?xml version="1.0" encoding="utf-8"?><Relationships xmlns="http://schemas.openxmlformats.org/package/2006/relationships"><Relationship Type="http://schemas.openxmlformats.org/officeDocument/2006/relationships/officeDocument" Target="/ppt/presentation.xml" Id="Raf9a6767cd024cb4" /><Relationship Type="http://schemas.openxmlformats.org/package/2006/relationships/metadata/core-properties" Target="/docProps/core.xml" Id="R70029f343f2346d9" /><Relationship Type="http://schemas.openxmlformats.org/officeDocument/2006/relationships/extended-properties" Target="/docProps/app.xml" Id="R1c95acd9553f4699"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494139db822444ff"/>
    <p:sldMasterId id="2147483660" r:id="R14df7c71745942f7"/>
    <p:sldMasterId id="2147483672" r:id="Rae9e5fc27f26470d"/>
    <p:sldMasterId id="2147483684" r:id="R2d05625aa42f4a40"/>
  </p:sldMasterIdLst>
  <p:notesMasterIdLst>
    <p:notesMasterId r:id="R9599df1ca8f44f0b"/>
  </p:notesMasterIdLst>
  <p:sldIdLst>
    <p:sldId id="256" r:id="R61b9bb6a55ce4601"/>
    <p:sldId id="257" r:id="R6bb88444de034e22"/>
    <p:sldId id="258" r:id="R44eaa223538d4590"/>
    <p:sldId id="259" r:id="R8070c79c71ff48d6"/>
    <p:sldId id="260" r:id="R91188efea7224798"/>
    <p:sldId id="261" r:id="R91517e93bffb407f"/>
    <p:sldId id="262" r:id="Rf314531629d74765"/>
    <p:sldId id="263" r:id="R07900c5a334b4f68"/>
    <p:sldId id="264" r:id="R1545673c81e04ddd"/>
    <p:sldId id="265" r:id="Rc9b23ce4fb6d4284"/>
    <p:sldId id="266" r:id="Rcf1f8f745e3b442a"/>
    <p:sldId id="267" r:id="R8532ca8582e143b1"/>
    <p:sldId id="268" r:id="R0beee86be4da4a0b"/>
    <p:sldId id="269" r:id="Rae2b40985cde43c3"/>
    <p:sldId id="270" r:id="R53f02739ad0342ac"/>
    <p:sldId id="271" r:id="Rd6a26090e6544d9c"/>
    <p:sldId id="272" r:id="R81c08ba723bf4d4d"/>
    <p:sldId id="273" r:id="Rf257ccb160044fe6"/>
    <p:sldId id="274" r:id="R557e64d30dd0488d"/>
    <p:sldId id="275" r:id="Rbcf8f2129a4342e8"/>
    <p:sldId id="276" r:id="Rbdb3bea680aa4114"/>
    <p:sldId id="277" r:id="R5db186453d9848a5"/>
    <p:sldId id="278" r:id="R79d32462d4ca4581"/>
    <p:sldId id="279" r:id="R158aa9b8df7e4c9c"/>
    <p:sldId id="280" r:id="R2be4aee3a7014ffb"/>
    <p:sldId id="281" r:id="R561a0bfde4fe4b55"/>
    <p:sldId id="282" r:id="Raa11661957b0419c"/>
    <p:sldId id="283" r:id="R46790f7e50284be1"/>
    <p:sldId id="284" r:id="R5374bd5067384f79"/>
    <p:sldId id="285" r:id="Rd2ffb2c3de4c4506"/>
    <p:sldId id="286" r:id="Rb5caa40e9d3b4007"/>
    <p:sldId id="287" r:id="Re7c2024e94464195"/>
    <p:sldId id="288" r:id="R253974ce430a4a79"/>
    <p:sldId id="289" r:id="R99d221317a8e4e7c"/>
    <p:sldId id="290" r:id="R6d51ef2aa0ca4fcd"/>
    <p:sldId id="291" r:id="Rf1e3063bc878471f"/>
    <p:sldId id="292" r:id="R89b6952e03244dad"/>
    <p:sldId id="293" r:id="R455feb9eadad434e"/>
    <p:sldId id="294" r:id="Rce12dd3024a243a6"/>
    <p:sldId id="295" r:id="R8797d5a23b0b47bc"/>
    <p:sldId id="296" r:id="R1bdd55dd5504418d"/>
    <p:sldId id="297" r:id="R6e1007c16b1840ab"/>
    <p:sldId id="298" r:id="Rc4196dc922044bf0"/>
    <p:sldId id="299" r:id="Rcc280262cc404504"/>
    <p:sldId id="300" r:id="Rd303fa93df504041"/>
    <p:sldId id="301" r:id="Rdbb88465d2d048cd"/>
    <p:sldId id="302" r:id="R311021a1f98448c6"/>
    <p:sldId id="303" r:id="R7cb33088600c4d8f"/>
    <p:sldId id="304" r:id="R3d89645eb9664e6b"/>
    <p:sldId id="305" r:id="R1745dc5d3f244e54"/>
    <p:sldId id="306" r:id="R2b1f1261d6a64d35"/>
    <p:sldId id="307" r:id="R12bea4a26c294f85"/>
    <p:sldId id="308" r:id="Rc45f2ca72b4349a3"/>
    <p:sldId id="309" r:id="R6f52b20dec594558"/>
    <p:sldId id="310" r:id="R6097b6f5461740bf"/>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9" d="100"/>
          <a:sy n="109" d="100"/>
        </p:scale>
        <p:origin x="-1026"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&#65279;<?xml version="1.0" encoding="utf-8"?><Relationships xmlns="http://schemas.openxmlformats.org/package/2006/relationships"><Relationship Type="http://schemas.openxmlformats.org/officeDocument/2006/relationships/notesMaster" Target="/ppt/notesMasters/notesMaster1.xml" Id="R9599df1ca8f44f0b" /><Relationship Type="http://schemas.openxmlformats.org/officeDocument/2006/relationships/presProps" Target="/ppt/presProps.xml" Id="Rd35b696fab634e40" /><Relationship Type="http://schemas.openxmlformats.org/officeDocument/2006/relationships/viewProps" Target="/ppt/viewProps.xml" Id="R819bb720691744cc" /><Relationship Type="http://schemas.openxmlformats.org/officeDocument/2006/relationships/slideMaster" Target="/ppt/slideMasters/slideMaster1.xml" Id="R494139db822444ff" /><Relationship Type="http://schemas.openxmlformats.org/officeDocument/2006/relationships/theme" Target="/ppt/slideMasters/theme/theme2.xml" Id="Rcfab5d61e7c64e9f" /><Relationship Type="http://schemas.openxmlformats.org/officeDocument/2006/relationships/slideMaster" Target="/ppt/slideMasters/slideMaster2.xml" Id="R14df7c71745942f7" /><Relationship Type="http://schemas.openxmlformats.org/officeDocument/2006/relationships/slideMaster" Target="/ppt/slideMasters/slideMaster3.xml" Id="Rae9e5fc27f26470d" /><Relationship Type="http://schemas.openxmlformats.org/officeDocument/2006/relationships/slide" Target="/ppt/slides/slide1.xml" Id="R61b9bb6a55ce4601" /><Relationship Type="http://schemas.openxmlformats.org/officeDocument/2006/relationships/slide" Target="/ppt/slides/slide2.xml" Id="R6bb88444de034e22" /><Relationship Type="http://schemas.openxmlformats.org/officeDocument/2006/relationships/slide" Target="/ppt/slides/slide3.xml" Id="R44eaa223538d4590" /><Relationship Type="http://schemas.openxmlformats.org/officeDocument/2006/relationships/slide" Target="/ppt/slides/slide4.xml" Id="R8070c79c71ff48d6" /><Relationship Type="http://schemas.openxmlformats.org/officeDocument/2006/relationships/slide" Target="/ppt/slides/slide5.xml" Id="R91188efea7224798" /><Relationship Type="http://schemas.openxmlformats.org/officeDocument/2006/relationships/tableStyles" Target="/ppt/tableStyles.xml" Id="R3d0560c31c7c4c00" /><Relationship Type="http://schemas.openxmlformats.org/officeDocument/2006/relationships/slide" Target="/ppt/slides/slide6.xml" Id="R91517e93bffb407f" /><Relationship Type="http://schemas.openxmlformats.org/officeDocument/2006/relationships/slide" Target="/ppt/slides/slide7.xml" Id="Rf314531629d74765" /><Relationship Type="http://schemas.openxmlformats.org/officeDocument/2006/relationships/slide" Target="/ppt/slides/slide8.xml" Id="R07900c5a334b4f68" /><Relationship Type="http://schemas.openxmlformats.org/officeDocument/2006/relationships/slide" Target="/ppt/slides/slide9.xml" Id="R1545673c81e04ddd" /><Relationship Type="http://schemas.openxmlformats.org/officeDocument/2006/relationships/slide" Target="/ppt/slides/slide10.xml" Id="Rc9b23ce4fb6d4284" /><Relationship Type="http://schemas.openxmlformats.org/officeDocument/2006/relationships/slide" Target="/ppt/slides/slide11.xml" Id="Rcf1f8f745e3b442a" /><Relationship Type="http://schemas.openxmlformats.org/officeDocument/2006/relationships/slide" Target="/ppt/slides/slide12.xml" Id="R8532ca8582e143b1" /><Relationship Type="http://schemas.openxmlformats.org/officeDocument/2006/relationships/slide" Target="/ppt/slides/slide13.xml" Id="R0beee86be4da4a0b" /><Relationship Type="http://schemas.openxmlformats.org/officeDocument/2006/relationships/slide" Target="/ppt/slides/slide14.xml" Id="Rae2b40985cde43c3" /><Relationship Type="http://schemas.openxmlformats.org/officeDocument/2006/relationships/slide" Target="/ppt/slides/slide15.xml" Id="R53f02739ad0342ac" /><Relationship Type="http://schemas.openxmlformats.org/officeDocument/2006/relationships/slide" Target="/ppt/slides/slide16.xml" Id="Rd6a26090e6544d9c" /><Relationship Type="http://schemas.openxmlformats.org/officeDocument/2006/relationships/slide" Target="/ppt/slides/slide17.xml" Id="R81c08ba723bf4d4d" /><Relationship Type="http://schemas.openxmlformats.org/officeDocument/2006/relationships/slide" Target="/ppt/slides/slide18.xml" Id="Rf257ccb160044fe6" /><Relationship Type="http://schemas.openxmlformats.org/officeDocument/2006/relationships/slide" Target="/ppt/slides/slide19.xml" Id="R557e64d30dd0488d" /><Relationship Type="http://schemas.openxmlformats.org/officeDocument/2006/relationships/slide" Target="/ppt/slides/slide20.xml" Id="Rbcf8f2129a4342e8" /><Relationship Type="http://schemas.openxmlformats.org/officeDocument/2006/relationships/slide" Target="/ppt/slides/slide21.xml" Id="Rbdb3bea680aa4114" /><Relationship Type="http://schemas.openxmlformats.org/officeDocument/2006/relationships/slide" Target="/ppt/slides/slide22.xml" Id="R5db186453d9848a5" /><Relationship Type="http://schemas.openxmlformats.org/officeDocument/2006/relationships/slide" Target="/ppt/slides/slide23.xml" Id="R79d32462d4ca4581" /><Relationship Type="http://schemas.openxmlformats.org/officeDocument/2006/relationships/slide" Target="/ppt/slides/slide24.xml" Id="R158aa9b8df7e4c9c" /><Relationship Type="http://schemas.openxmlformats.org/officeDocument/2006/relationships/slide" Target="/ppt/slides/slide25.xml" Id="R2be4aee3a7014ffb" /><Relationship Type="http://schemas.openxmlformats.org/officeDocument/2006/relationships/slide" Target="/ppt/slides/slide26.xml" Id="R561a0bfde4fe4b55" /><Relationship Type="http://schemas.openxmlformats.org/officeDocument/2006/relationships/slide" Target="/ppt/slides/slide27.xml" Id="Raa11661957b0419c" /><Relationship Type="http://schemas.openxmlformats.org/officeDocument/2006/relationships/slide" Target="/ppt/slides/slide28.xml" Id="R46790f7e50284be1" /><Relationship Type="http://schemas.openxmlformats.org/officeDocument/2006/relationships/slide" Target="/ppt/slides/slide29.xml" Id="R5374bd5067384f79" /><Relationship Type="http://schemas.openxmlformats.org/officeDocument/2006/relationships/slide" Target="/ppt/slides/slide30.xml" Id="Rd2ffb2c3de4c4506" /><Relationship Type="http://schemas.openxmlformats.org/officeDocument/2006/relationships/slide" Target="/ppt/slides/slide31.xml" Id="Rb5caa40e9d3b4007" /><Relationship Type="http://schemas.openxmlformats.org/officeDocument/2006/relationships/slide" Target="/ppt/slides/slide32.xml" Id="Re7c2024e94464195" /><Relationship Type="http://schemas.openxmlformats.org/officeDocument/2006/relationships/slide" Target="/ppt/slides/slide33.xml" Id="R253974ce430a4a79" /><Relationship Type="http://schemas.openxmlformats.org/officeDocument/2006/relationships/slide" Target="/ppt/slides/slide34.xml" Id="R99d221317a8e4e7c" /><Relationship Type="http://schemas.openxmlformats.org/officeDocument/2006/relationships/slide" Target="/ppt/slides/slide35.xml" Id="R6d51ef2aa0ca4fcd" /><Relationship Type="http://schemas.openxmlformats.org/officeDocument/2006/relationships/slide" Target="/ppt/slides/slide36.xml" Id="Rf1e3063bc878471f" /><Relationship Type="http://schemas.openxmlformats.org/officeDocument/2006/relationships/slide" Target="/ppt/slides/slide37.xml" Id="R89b6952e03244dad" /><Relationship Type="http://schemas.openxmlformats.org/officeDocument/2006/relationships/slide" Target="/ppt/slides/slide38.xml" Id="R455feb9eadad434e" /><Relationship Type="http://schemas.openxmlformats.org/officeDocument/2006/relationships/slide" Target="/ppt/slides/slide39.xml" Id="Rce12dd3024a243a6" /><Relationship Type="http://schemas.openxmlformats.org/officeDocument/2006/relationships/slide" Target="/ppt/slides/slide40.xml" Id="R8797d5a23b0b47bc" /><Relationship Type="http://schemas.openxmlformats.org/officeDocument/2006/relationships/slide" Target="/ppt/slides/slide41.xml" Id="R1bdd55dd5504418d" /><Relationship Type="http://schemas.openxmlformats.org/officeDocument/2006/relationships/slide" Target="/ppt/slides/slide42.xml" Id="R6e1007c16b1840ab" /><Relationship Type="http://schemas.openxmlformats.org/officeDocument/2006/relationships/slideMaster" Target="/ppt/slideMasters/slideMaster4.xml" Id="R2d05625aa42f4a40" /><Relationship Type="http://schemas.openxmlformats.org/officeDocument/2006/relationships/slide" Target="/ppt/slides/slide43.xml" Id="Rc4196dc922044bf0" /><Relationship Type="http://schemas.openxmlformats.org/officeDocument/2006/relationships/slide" Target="/ppt/slides/slide44.xml" Id="Rcc280262cc404504" /><Relationship Type="http://schemas.openxmlformats.org/officeDocument/2006/relationships/slide" Target="/ppt/slides/slide45.xml" Id="Rd303fa93df504041" /><Relationship Type="http://schemas.openxmlformats.org/officeDocument/2006/relationships/slide" Target="/ppt/slides/slide46.xml" Id="Rdbb88465d2d048cd" /><Relationship Type="http://schemas.openxmlformats.org/officeDocument/2006/relationships/slide" Target="/ppt/slides/slide47.xml" Id="R311021a1f98448c6" /><Relationship Type="http://schemas.openxmlformats.org/officeDocument/2006/relationships/slide" Target="/ppt/slides/slide48.xml" Id="R7cb33088600c4d8f" /><Relationship Type="http://schemas.openxmlformats.org/officeDocument/2006/relationships/slide" Target="/ppt/slides/slide49.xml" Id="R3d89645eb9664e6b" /><Relationship Type="http://schemas.openxmlformats.org/officeDocument/2006/relationships/slide" Target="/ppt/slides/slide50.xml" Id="R1745dc5d3f244e54" /><Relationship Type="http://schemas.openxmlformats.org/officeDocument/2006/relationships/slide" Target="/ppt/slides/slide51.xml" Id="R2b1f1261d6a64d35" /><Relationship Type="http://schemas.openxmlformats.org/officeDocument/2006/relationships/slide" Target="/ppt/slides/slide52.xml" Id="R12bea4a26c294f85" /><Relationship Type="http://schemas.openxmlformats.org/officeDocument/2006/relationships/slide" Target="/ppt/slides/slide53.xml" Id="Rc45f2ca72b4349a3" /><Relationship Type="http://schemas.openxmlformats.org/officeDocument/2006/relationships/slide" Target="/ppt/slides/slide54.xml" Id="R6f52b20dec594558" /><Relationship Type="http://schemas.openxmlformats.org/officeDocument/2006/relationships/slide" Target="/ppt/slides/slide55.xml" Id="R6097b6f5461740b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1.xml" Id="R449286ef0533426a"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07352E8-DB30-4B69-AE95-293CCF680EE4}" type="datetimeFigureOut">
              <a:rPr lang="en-US"/>
              <a:pPr/>
              <a:t>6/6/2025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249058D-B195-4D91-9878-1E1794988D69}" type="slidenum">
              <a:rPr lang="en-US"/>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notesSlides/_rels/notesSlide1.xml.rels>&#65279;<?xml version="1.0" encoding="utf-8"?><Relationships xmlns="http://schemas.openxmlformats.org/package/2006/relationships"><Relationship Type="http://schemas.openxmlformats.org/officeDocument/2006/relationships/slide" Target="/ppt/slides/slide10.xml" Id="Rd15c9a27777a4f45" /><Relationship Type="http://schemas.openxmlformats.org/officeDocument/2006/relationships/notesMaster" Target="/ppt/notesMasters/notesMaster1.xml" Id="Rbff5be4002d64769"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249058D-B195-4D91-9878-1E1794988D69}" type="slidenum">
              <a:rPr lang="en-US"/>
              <a:pPr/>
              <a:t>4</a:t>
            </a:fld>
            <a:endParaRPr lang="en-US"/>
          </a:p>
        </p:txBody>
      </p:sp>
    </p:spTree>
  </p:cSld>
  <p:clrMapOvr>
    <a:masterClrMapping/>
  </p:clrMapOvr>
</p:note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3049e45960141c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ebe69ac1d8e426d"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2.xml" Id="R003faf6bcde242f0"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2.xml" Id="R2b1c58bf0a404ca5"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3.xml" Id="R680b95f8cf1449cd"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3.xml" Id="R9fa5884df6874e5c" /></Relationships>
</file>

<file path=ppt/slideLayouts/_rels/slideLayout37.xml.rels>&#65279;<?xml version="1.0" encoding="utf-8"?><Relationships xmlns="http://schemas.openxmlformats.org/package/2006/relationships"><Relationship Type="http://schemas.openxmlformats.org/officeDocument/2006/relationships/slideMaster" Target="/ppt/slideMasters/slideMaster4.xml" Id="R40f1e0626f0241bb" /></Relationships>
</file>

<file path=ppt/slideLayouts/_rels/slideLayout38.xml.rels>&#65279;<?xml version="1.0" encoding="utf-8"?><Relationships xmlns="http://schemas.openxmlformats.org/package/2006/relationships"><Relationship Type="http://schemas.openxmlformats.org/officeDocument/2006/relationships/slideMaster" Target="/ppt/slideMasters/slideMaster4.xml" Id="Ra51b1004e8fb4f43" /></Relationships>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a:pPr/>
              <a:t>6/6/2025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a:pPr/>
              <a:t>6/6/2025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a:pPr/>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a:pPr/>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a:pPr/>
              <a:t>‹#›</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a:pPr/>
              <a:t>7/19/2025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a:pPr/>
              <a:t>‹#›</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a:pPr/>
              <a:t>7/19/2025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a:pPr/>
              <a:t>‹#›</a:t>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a:pPr/>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a:pPr/>
              <a:t>‹#›</a:t>
            </a:fld>
            <a:endParaRPr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a:pPr/>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a:pPr/>
              <a:t>‹#›</a:t>
            </a:fld>
            <a:endParaRPr lang="en-US"/>
          </a:p>
        </p:txBody>
      </p:sp>
    </p:spTree>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67f640f9e8a4fa5" /><Relationship Type="http://schemas.openxmlformats.org/officeDocument/2006/relationships/slideLayout" Target="/ppt/slideLayouts/slideLayout4.xml" Id="R874c6291e5524c72" /><Relationship Type="http://schemas.openxmlformats.org/officeDocument/2006/relationships/slideLayout" Target="/ppt/slideLayouts/slideLayout5.xml" Id="R0d0ce3900af141bd"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fdab36ace7324c79" /><Relationship Type="http://schemas.openxmlformats.org/officeDocument/2006/relationships/slideLayout" Target="/ppt/slideLayouts/slideLayout15.xml" Id="R008bf88d378b4bfb" /><Relationship Type="http://schemas.openxmlformats.org/officeDocument/2006/relationships/slideLayout" Target="/ppt/slideLayouts/slideLayout16.xml" Id="R18778d8b6b674bf4" /></Relationships>
</file>

<file path=ppt/slideMasters/_rels/slideMaster3.xml.rels>&#65279;<?xml version="1.0" encoding="utf-8"?><Relationships xmlns="http://schemas.openxmlformats.org/package/2006/relationships"><Relationship Type="http://schemas.openxmlformats.org/officeDocument/2006/relationships/theme" Target="/ppt/slideMasters/theme/theme4.xml" Id="Rc562baf76fbc4bdc" /><Relationship Type="http://schemas.openxmlformats.org/officeDocument/2006/relationships/slideLayout" Target="/ppt/slideLayouts/slideLayout26.xml" Id="Rec5d432056754edb" /><Relationship Type="http://schemas.openxmlformats.org/officeDocument/2006/relationships/slideLayout" Target="/ppt/slideLayouts/slideLayout27.xml" Id="R9db560481f5d4aa0" /></Relationships>
</file>

<file path=ppt/slideMasters/_rels/slideMaster4.xml.rels>&#65279;<?xml version="1.0" encoding="utf-8"?><Relationships xmlns="http://schemas.openxmlformats.org/package/2006/relationships"><Relationship Type="http://schemas.openxmlformats.org/officeDocument/2006/relationships/theme" Target="/ppt/slideMasters/theme/theme5.xml" Id="R1c29793fa1164ed1" /><Relationship Type="http://schemas.openxmlformats.org/officeDocument/2006/relationships/slideLayout" Target="/ppt/slideLayouts/slideLayout37.xml" Id="R1fc9e5bc1ac34e36" /><Relationship Type="http://schemas.openxmlformats.org/officeDocument/2006/relationships/slideLayout" Target="/ppt/slideLayouts/slideLayout38.xml" Id="R4cdcc2d85cdd43e7"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a:pPr/>
              <a:t>6/6/2025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52" r:id="R874c6291e5524c72"/>
    <p:sldLayoutId id="2147483653" r:id="R0d0ce3900af141bd"/>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a:pPr/>
              <a:t>6/23/2025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64" r:id="R008bf88d378b4bfb"/>
    <p:sldLayoutId id="2147483665" r:id="R18778d8b6b674bf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a:pPr/>
              <a:t>7/19/2025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76" r:id="Rec5d432056754edb"/>
    <p:sldLayoutId id="2147483677" r:id="R9db560481f5d4aa0"/>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a:pPr/>
              <a:t>7/28/2025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88" r:id="R1fc9e5bc1ac34e36"/>
    <p:sldLayoutId id="2147483689" r:id="R4cdcc2d85cdd43e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slide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slideMasters/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slideMasters/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slides/_rels/slide1.xml.rels>&#65279;<?xml version="1.0" encoding="utf-8"?><Relationships xmlns="http://schemas.openxmlformats.org/package/2006/relationships"><Relationship Type="http://schemas.openxmlformats.org/officeDocument/2006/relationships/slideLayout" Target="/ppt/slideLayouts/slideLayout5.xml" Id="R72db480c9d7449f0" /></Relationships>
</file>

<file path=ppt/slides/_rels/slide2.xml.rels>&#65279;<?xml version="1.0" encoding="utf-8"?><Relationships xmlns="http://schemas.openxmlformats.org/package/2006/relationships"><Relationship Type="http://schemas.openxmlformats.org/officeDocument/2006/relationships/slideLayout" Target="/ppt/slideLayouts/slideLayout5.xml" Id="R8e0bc3c7a7a442ad" /></Relationships>
</file>

<file path=ppt/slides/_rels/slide3.xml.rels>&#65279;<?xml version="1.0" encoding="utf-8"?><Relationships xmlns="http://schemas.openxmlformats.org/package/2006/relationships"><Relationship Type="http://schemas.openxmlformats.org/officeDocument/2006/relationships/slideLayout" Target="/ppt/slideLayouts/slideLayout4.xml" Id="R87cb106a82c349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0f067ca252404a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12eb0cd17254425e"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6e07bcefd6f14d39"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59508d161db84071"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b7909f3964794e89" /></Relationships>
</file>

<file path=ppt/slides/_rels/slide9.xml.rels>&#65279;<?xml version="1.0" encoding="utf-8"?><Relationships xmlns="http://schemas.openxmlformats.org/package/2006/relationships"><Relationship Type="http://schemas.openxmlformats.org/officeDocument/2006/relationships/image" Target="/ppt/media/image.png" Id="R79c85ecc82fe4c01" /><Relationship Type="http://schemas.openxmlformats.org/officeDocument/2006/relationships/slideLayout" Target="/ppt/slideLayouts/slideLayout4.xml" Id="Ref192cc281d04c18" /></Relationships>
</file>

<file path=ppt/slides/_rels/slide10.xml.rels>&#65279;<?xml version="1.0" encoding="utf-8"?><Relationships xmlns="http://schemas.openxmlformats.org/package/2006/relationships"><Relationship Type="http://schemas.openxmlformats.org/officeDocument/2006/relationships/notesSlide" Target="/ppt/notesSlides/notesSlide1.xml" Id="R2eaa15326d424d12" /><Relationship Type="http://schemas.openxmlformats.org/officeDocument/2006/relationships/slideLayout" Target="/ppt/slideLayouts/slideLayout4.xml" Id="Rd788a90b07b146a1" /></Relationships>
</file>

<file path=ppt/slides/_rels/slide11.xml.rels>&#65279;<?xml version="1.0" encoding="utf-8"?><Relationships xmlns="http://schemas.openxmlformats.org/package/2006/relationships"><Relationship Type="http://schemas.openxmlformats.org/officeDocument/2006/relationships/image" Target="/ppt/media/image.jpg" Id="R0f9a2e6c66c1484a" /><Relationship Type="http://schemas.openxmlformats.org/officeDocument/2006/relationships/slideLayout" Target="/ppt/slideLayouts/slideLayout4.xml" Id="Rdd104766f3d94c5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4.xml" Id="R8d77ce2046a14cc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4.xml" Id="R2a6307d33c16468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4.xml" Id="Re110cf0eb0b7453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4.xml" Id="R0ceb62b4e9d4418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4.xml" Id="Rddd74fce898c42e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4.xml" Id="Rf26b71720501475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4.xml" Id="Rd3b664aec1cc431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6.xml" Id="R12ec79d8f70248e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5.xml" Id="R61049373bc66481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5.xml" Id="Ra95388ef31b246b4" /><Relationship Type="http://schemas.openxmlformats.org/officeDocument/2006/relationships/hyperlink" Target="https://www.ilo.org/node/8721" TargetMode="External" Id="rcId147b3cc3b72f435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5.xml" Id="R2732bdfbee9d45b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5.xml" Id="Ra73fdcf5561a47d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5.xml" Id="R217120b47eb941e0" /></Relationships>
</file>

<file path=ppt/slides/_rels/slide25.xml.rels>&#65279;<?xml version="1.0" encoding="utf-8"?><Relationships xmlns="http://schemas.openxmlformats.org/package/2006/relationships"><Relationship Type="http://schemas.openxmlformats.org/officeDocument/2006/relationships/image" Target="/ppt/media/image2.jpg" Id="Re1625662c55841a0" /><Relationship Type="http://schemas.openxmlformats.org/officeDocument/2006/relationships/slideLayout" Target="/ppt/slideLayouts/slideLayout15.xml" Id="R0c7a48542ea841a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5.xml" Id="Rdf1e8045536f4b8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5.xml" Id="R8562983ffeb0410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5.xml" Id="R33e72f084caa43f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5.xml" Id="Rfd53a2a79be8407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5.xml" Id="Rabb9e17ccbb2452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7.xml" Id="R3e8e00a917154a0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6.xml" Id="Rf174eec6c3364f8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6.xml" Id="R20a73f836afe469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6.xml" Id="R8bfe8fb5e8204e1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6.xml" Id="R085f9d0b7426453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6.xml" Id="Rd78add9196e8414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6.xml" Id="Rf27ee97b11a04ae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6.xml" Id="Raff9a1bb2e494b0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6.xml" Id="R7d807b189654454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6.xml" Id="R8dc10393c56843c6"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6.xml" Id="Rf1a3ed2ed7eb4626"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6.xml" Id="R2636c3d23dae4eb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38.xml" Id="R287620aa85f44cd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37.xml" Id="Re23b8c56f2da4177" /></Relationships>
</file>

<file path=ppt/slides/_rels/slide45.xml.rels>&#65279;<?xml version="1.0" encoding="utf-8"?><Relationships xmlns="http://schemas.openxmlformats.org/package/2006/relationships"><Relationship Type="http://schemas.openxmlformats.org/officeDocument/2006/relationships/slideLayout" Target="/ppt/slideLayouts/slideLayout37.xml" Id="Ra66ecd7215d4449c" /></Relationships>
</file>

<file path=ppt/slides/_rels/slide46.xml.rels>&#65279;<?xml version="1.0" encoding="utf-8"?><Relationships xmlns="http://schemas.openxmlformats.org/package/2006/relationships"><Relationship Type="http://schemas.openxmlformats.org/officeDocument/2006/relationships/slideLayout" Target="/ppt/slideLayouts/slideLayout37.xml" Id="R78ec2a3d86934e7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37.xml" Id="Rd2e2643317f64bd5" /></Relationships>
</file>

<file path=ppt/slides/_rels/slide48.xml.rels>&#65279;<?xml version="1.0" encoding="utf-8"?><Relationships xmlns="http://schemas.openxmlformats.org/package/2006/relationships"><Relationship Type="http://schemas.openxmlformats.org/officeDocument/2006/relationships/slideLayout" Target="/ppt/slideLayouts/slideLayout37.xml" Id="Rd2f33c5b63a04983" /></Relationships>
</file>

<file path=ppt/slides/_rels/slide49.xml.rels>&#65279;<?xml version="1.0" encoding="utf-8"?><Relationships xmlns="http://schemas.openxmlformats.org/package/2006/relationships"><Relationship Type="http://schemas.openxmlformats.org/officeDocument/2006/relationships/slideLayout" Target="/ppt/slideLayouts/slideLayout37.xml" Id="Radb759dec54d48b0" /></Relationships>
</file>

<file path=ppt/slides/_rels/slide50.xml.rels>&#65279;<?xml version="1.0" encoding="utf-8"?><Relationships xmlns="http://schemas.openxmlformats.org/package/2006/relationships"><Relationship Type="http://schemas.openxmlformats.org/officeDocument/2006/relationships/slideLayout" Target="/ppt/slideLayouts/slideLayout37.xml" Id="R1305ce13d3c2443b" /></Relationships>
</file>

<file path=ppt/slides/_rels/slide51.xml.rels>&#65279;<?xml version="1.0" encoding="utf-8"?><Relationships xmlns="http://schemas.openxmlformats.org/package/2006/relationships"><Relationship Type="http://schemas.openxmlformats.org/officeDocument/2006/relationships/slideLayout" Target="/ppt/slideLayouts/slideLayout37.xml" Id="R65cb62003fbb40ff" /></Relationships>
</file>

<file path=ppt/slides/_rels/slide52.xml.rels>&#65279;<?xml version="1.0" encoding="utf-8"?><Relationships xmlns="http://schemas.openxmlformats.org/package/2006/relationships"><Relationship Type="http://schemas.openxmlformats.org/officeDocument/2006/relationships/slideLayout" Target="/ppt/slideLayouts/slideLayout37.xml" Id="Ree1052456ceb436d" /></Relationships>
</file>

<file path=ppt/slides/_rels/slide53.xml.rels>&#65279;<?xml version="1.0" encoding="utf-8"?><Relationships xmlns="http://schemas.openxmlformats.org/package/2006/relationships"><Relationship Type="http://schemas.openxmlformats.org/officeDocument/2006/relationships/slideLayout" Target="/ppt/slideLayouts/slideLayout37.xml" Id="Rc34682a99f7e4669" /></Relationships>
</file>

<file path=ppt/slides/_rels/slide54.xml.rels>&#65279;<?xml version="1.0" encoding="utf-8"?><Relationships xmlns="http://schemas.openxmlformats.org/package/2006/relationships"><Relationship Type="http://schemas.openxmlformats.org/officeDocument/2006/relationships/slideLayout" Target="/ppt/slideLayouts/slideLayout37.xml" Id="Rab000e146f8948bb" /></Relationships>
</file>

<file path=ppt/slides/_rels/slide55.xml.rels>&#65279;<?xml version="1.0" encoding="utf-8"?><Relationships xmlns="http://schemas.openxmlformats.org/package/2006/relationships"><Relationship Type="http://schemas.openxmlformats.org/officeDocument/2006/relationships/slideLayout" Target="/ppt/slideLayouts/slideLayout37.xml" Id="Ra34b0e0c93de4ac5"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subTitle" idx="1"/>
          </p:nvPr>
        </p:nvSpPr>
        <p:spPr>
          <a:xfrm>
            <a:off x="228600" y="228600"/>
            <a:ext cx="8610600" cy="6400800"/>
          </a:xfrm>
        </p:spPr>
        <p:txBody>
          <a:bodyPr>
            <a:normAutofit fontScale="77500" lnSpcReduction="20000"/>
          </a:bodyPr>
          <a:lstStyle/>
          <a:p>
            <a:r>
              <a:rPr lang="en-US" sz="2400" b="1" dirty="0">
                <a:solidFill>
                  <a:srgbClr val="FF0000"/>
                </a:solidFill>
                <a:latin typeface="Times New Roman" pitchFamily="18" charset="0"/>
                <a:cs typeface="Times New Roman" pitchFamily="18" charset="0"/>
              </a:rPr>
              <a:t>MODULE  - III</a:t>
            </a:r>
          </a:p>
          <a:p>
            <a:pPr algn="just"/>
            <a:endParaRPr lang="en-US" b="1" dirty="0">
              <a:solidFill>
                <a:srgbClr val="FF0000"/>
              </a:solidFill>
              <a:latin typeface="Times New Roman" pitchFamily="18" charset="0"/>
              <a:cs typeface="Times New Roman" pitchFamily="18" charset="0"/>
            </a:endParaRPr>
          </a:p>
          <a:p>
            <a:pPr algn="just"/>
            <a:r>
              <a:rPr lang="en-US" u="sng" dirty="0">
                <a:solidFill>
                  <a:srgbClr val="FF0000"/>
                </a:solidFill>
                <a:latin typeface="Times New Roman" pitchFamily="18" charset="0"/>
                <a:cs typeface="Times New Roman" pitchFamily="18" charset="0"/>
              </a:rPr>
              <a:t>Compensation and Benefits:</a:t>
            </a:r>
          </a:p>
          <a:p>
            <a:pPr algn="just"/>
            <a:r>
              <a:rPr lang="en-US" dirty="0">
                <a:solidFill>
                  <a:schemeClr val="tx1"/>
                </a:solidFill>
                <a:latin typeface="Times New Roman" pitchFamily="18" charset="0"/>
                <a:cs typeface="Times New Roman" pitchFamily="18" charset="0"/>
              </a:rPr>
              <a:t> Introduction, Definitions, Total Compensation, Total Rewards System, Forms of Pay, External and Internal Factors, Establishing Pay Rates, Employee Benefits.</a:t>
            </a:r>
          </a:p>
          <a:p>
            <a:pPr algn="just"/>
            <a:r>
              <a:rPr lang="en-US" sz="2800" u="sng" dirty="0">
                <a:solidFill>
                  <a:srgbClr val="FF0000"/>
                </a:solidFill>
                <a:latin typeface="Times New Roman" pitchFamily="18" charset="0"/>
                <a:cs typeface="Times New Roman" pitchFamily="18" charset="0"/>
              </a:rPr>
              <a:t>Performance Management and Appraisal: </a:t>
            </a:r>
          </a:p>
          <a:p>
            <a:pPr algn="just"/>
            <a:r>
              <a:rPr lang="en-US" dirty="0">
                <a:solidFill>
                  <a:schemeClr val="tx1"/>
                </a:solidFill>
                <a:latin typeface="Times New Roman" pitchFamily="18" charset="0"/>
                <a:cs typeface="Times New Roman" pitchFamily="18" charset="0"/>
              </a:rPr>
              <a:t>Objectives of Performance Management, Performance Management and Performance Appraisal, Common Problems with Performance Appraisals, Performance Management Process, Types of Performance Rating Systems, Future of Performance Management.</a:t>
            </a:r>
          </a:p>
          <a:p>
            <a:pPr algn="just"/>
            <a:r>
              <a:rPr lang="en-US" sz="2800" u="sng" dirty="0">
                <a:solidFill>
                  <a:srgbClr val="FF0000"/>
                </a:solidFill>
                <a:latin typeface="Times New Roman" pitchFamily="18" charset="0"/>
                <a:cs typeface="Times New Roman" pitchFamily="18" charset="0"/>
              </a:rPr>
              <a:t>Industrial Relations: </a:t>
            </a:r>
          </a:p>
          <a:p>
            <a:pPr algn="just"/>
            <a:r>
              <a:rPr lang="en-US" dirty="0">
                <a:solidFill>
                  <a:schemeClr val="tx1"/>
                </a:solidFill>
                <a:latin typeface="Times New Roman" pitchFamily="18" charset="0"/>
                <a:cs typeface="Times New Roman" pitchFamily="18" charset="0"/>
              </a:rPr>
              <a:t>Decent Workplace, International Labor </a:t>
            </a:r>
            <a:r>
              <a:rPr lang="en-US" dirty="0" err="1">
                <a:solidFill>
                  <a:schemeClr val="tx1"/>
                </a:solidFill>
                <a:latin typeface="Times New Roman" pitchFamily="18" charset="0"/>
                <a:cs typeface="Times New Roman" pitchFamily="18" charset="0"/>
              </a:rPr>
              <a:t>Organisation</a:t>
            </a:r>
            <a:r>
              <a:rPr lang="en-US" dirty="0">
                <a:solidFill>
                  <a:schemeClr val="tx1"/>
                </a:solidFill>
                <a:latin typeface="Times New Roman" pitchFamily="18" charset="0"/>
                <a:cs typeface="Times New Roman" pitchFamily="18" charset="0"/>
              </a:rPr>
              <a:t>, Industrial Relations, The Objectives of Industrial Relations, Approaches of Industrial Relations Systems, The Actors in Industrial Relations, Indian Context, Industrial Relations and Human Resource</a:t>
            </a:r>
          </a:p>
          <a:p>
            <a:pPr algn="just"/>
            <a:r>
              <a:rPr lang="en-US" dirty="0">
                <a:solidFill>
                  <a:schemeClr val="tx1"/>
                </a:solidFill>
                <a:latin typeface="Times New Roman" pitchFamily="18" charset="0"/>
                <a:cs typeface="Times New Roman" pitchFamily="18" charset="0"/>
              </a:rPr>
              <a:t>Management.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2000"/>
                                        <p:tgtEl>
                                          <p:spTgt spid="4">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fade">
                                      <p:cBhvr>
                                        <p:cTn id="37" dur="2000"/>
                                        <p:tgtEl>
                                          <p:spTgt spid="4">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8" end="8"/>
                                            </p:txEl>
                                          </p:spTgt>
                                        </p:tgtEl>
                                        <p:attrNameLst>
                                          <p:attrName>style.visibility</p:attrName>
                                        </p:attrNameLst>
                                      </p:cBhvr>
                                      <p:to>
                                        <p:strVal val="visible"/>
                                      </p:to>
                                    </p:set>
                                    <p:animEffect transition="in" filter="fade">
                                      <p:cBhvr>
                                        <p:cTn id="42" dur="20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04800"/>
            <a:ext cx="7772400" cy="990599"/>
          </a:xfrm>
        </p:spPr>
        <p:txBody>
          <a:bodyPr>
            <a:normAutofit fontScale="90000"/>
          </a:bodyPr>
          <a:lstStyle/>
          <a:p>
            <a:r>
              <a:rPr lang="en-US" b="1" dirty="0">
                <a:solidFill>
                  <a:srgbClr val="FF0000"/>
                </a:solidFill>
                <a:latin typeface="Times New Roman" pitchFamily="18" charset="0"/>
                <a:cs typeface="Times New Roman" pitchFamily="18" charset="0"/>
              </a:rPr>
              <a:t/>
            </a:r>
            <a:br>
              <a:rPr lang="en-US" b="1" dirty="0">
                <a:solidFill>
                  <a:srgbClr val="FF0000"/>
                </a:solidFill>
                <a:latin typeface="Times New Roman" pitchFamily="18" charset="0"/>
                <a:cs typeface="Times New Roman" pitchFamily="18" charset="0"/>
              </a:rPr>
            </a:br>
            <a:r>
              <a:rPr lang="en-US" b="1" dirty="0">
                <a:solidFill>
                  <a:srgbClr val="FF0000"/>
                </a:solidFill>
                <a:latin typeface="Times New Roman" pitchFamily="18" charset="0"/>
                <a:cs typeface="Times New Roman" pitchFamily="18" charset="0"/>
              </a:rPr>
              <a:t/>
            </a:r>
            <a:br>
              <a:rPr lang="en-US" b="1" dirty="0">
                <a:solidFill>
                  <a:srgbClr val="FF0000"/>
                </a:solidFill>
                <a:latin typeface="Times New Roman" pitchFamily="18" charset="0"/>
                <a:cs typeface="Times New Roman" pitchFamily="18" charset="0"/>
              </a:rPr>
            </a:br>
            <a:r>
              <a:rPr lang="en-US" sz="4000" b="1" dirty="0">
                <a:solidFill>
                  <a:srgbClr val="FF0000"/>
                </a:solidFill>
                <a:latin typeface="Times New Roman" pitchFamily="18" charset="0"/>
                <a:cs typeface="Times New Roman" pitchFamily="18" charset="0"/>
              </a:rPr>
              <a:t>COMPENSATION AND BENEFITS </a:t>
            </a:r>
            <a:r>
              <a:rPr lang="en-US" b="1" dirty="0">
                <a:solidFill>
                  <a:srgbClr val="FF0000"/>
                </a:solidFill>
              </a:rPr>
              <a:t>	</a:t>
            </a:r>
            <a:br>
              <a:rPr lang="en-US" b="1" dirty="0">
                <a:solidFill>
                  <a:srgbClr val="FF0000"/>
                </a:solidFill>
              </a:rPr>
            </a:br>
            <a:endParaRPr lang="en-US" dirty="0">
              <a:solidFill>
                <a:srgbClr val="FF0000"/>
              </a:solidFill>
            </a:endParaRPr>
          </a:p>
        </p:txBody>
      </p:sp>
      <p:sp>
        <p:nvSpPr>
          <p:cNvPr id="3" name="Subtitle 2"/>
          <p:cNvSpPr>
            <a:spLocks noGrp="1"/>
          </p:cNvSpPr>
          <p:nvPr>
            <p:ph type="subTitle" idx="1"/>
          </p:nvPr>
        </p:nvSpPr>
        <p:spPr>
          <a:xfrm>
            <a:off x="609600" y="1371600"/>
            <a:ext cx="8001000" cy="4953000"/>
          </a:xfrm>
        </p:spPr>
        <p:txBody>
          <a:bodyPr/>
          <a:lstStyle/>
          <a:p>
            <a:pPr algn="just"/>
            <a:r>
              <a:rPr lang="en-US" dirty="0"/>
              <a:t>	</a:t>
            </a:r>
            <a:r>
              <a:rPr lang="en-US" dirty="0">
                <a:solidFill>
                  <a:schemeClr val="tx1"/>
                </a:solidFill>
                <a:latin typeface="Times New Roman" pitchFamily="18" charset="0"/>
                <a:cs typeface="Times New Roman" pitchFamily="18" charset="0"/>
              </a:rPr>
              <a:t>Compensation and benefits are the key factors in attracting and keeping the best human capital and ensuring that organization has the competitive edge in the increasing competitive world.</a:t>
            </a:r>
          </a:p>
          <a:p>
            <a:pPr algn="just"/>
            <a:r>
              <a:rPr lang="en-US" dirty="0">
                <a:solidFill>
                  <a:schemeClr val="tx1"/>
                </a:solidFill>
                <a:latin typeface="Times New Roman" pitchFamily="18" charset="0"/>
                <a:cs typeface="Times New Roman" pitchFamily="18" charset="0"/>
              </a:rPr>
              <a:t>		It is an Integral part of human resource management which helps in motivating the employees and improving organizational effectiveness.</a:t>
            </a:r>
          </a:p>
          <a:p>
            <a:pPr algn="just"/>
            <a:endParaRPr lang="en-US"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715000"/>
          </a:xfrm>
        </p:spPr>
        <p:txBody>
          <a:bodyPr/>
          <a:lstStyle/>
          <a:p>
            <a:pPr algn="just">
              <a:buNone/>
            </a:pPr>
            <a:r>
              <a:rPr lang="en-US" dirty="0">
                <a:latin typeface="Times New Roman" pitchFamily="18" charset="0"/>
                <a:cs typeface="Times New Roman" pitchFamily="18" charset="0"/>
              </a:rPr>
              <a:t>		It is a total of all rewards and </a:t>
            </a:r>
            <a:r>
              <a:rPr lang="en-US" dirty="0" err="1">
                <a:latin typeface="Times New Roman" pitchFamily="18" charset="0"/>
                <a:cs typeface="Times New Roman" pitchFamily="18" charset="0"/>
              </a:rPr>
              <a:t>recognisation</a:t>
            </a:r>
            <a:r>
              <a:rPr lang="en-US" dirty="0">
                <a:latin typeface="Times New Roman" pitchFamily="18" charset="0"/>
                <a:cs typeface="Times New Roman" pitchFamily="18" charset="0"/>
              </a:rPr>
              <a:t> provided to employees by the employers in returns to their mental and physical sacrifice to the betterment of the company.</a:t>
            </a:r>
          </a:p>
          <a:p>
            <a:pPr algn="just">
              <a:buNone/>
            </a:pPr>
            <a:endParaRPr lang="en-US" dirty="0">
              <a:latin typeface="Times New Roman" pitchFamily="18" charset="0"/>
              <a:cs typeface="Times New Roman" pitchFamily="18" charset="0"/>
            </a:endParaRPr>
          </a:p>
          <a:p>
            <a:pPr algn="just">
              <a:buNone/>
            </a:pPr>
            <a:r>
              <a:rPr lang="en-US" dirty="0">
                <a:latin typeface="Times New Roman" pitchFamily="18" charset="0"/>
                <a:cs typeface="Times New Roman" pitchFamily="18" charset="0"/>
              </a:rPr>
              <a:t>		It is a systematic approach to providing monitory and non- monitory values / benefits to employees in exchange for work performed.</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Autofit/>
          </a:bodyPr>
          <a:lstStyle/>
          <a:p>
            <a:r>
              <a:rPr lang="en-US" sz="3600" dirty="0">
                <a:solidFill>
                  <a:srgbClr val="FF0000"/>
                </a:solidFill>
                <a:latin typeface="Times New Roman" pitchFamily="18" charset="0"/>
                <a:cs typeface="Times New Roman" pitchFamily="18" charset="0"/>
              </a:rPr>
              <a:t>TYPES OF COMPENSATION SYSTEM</a:t>
            </a:r>
            <a:endParaRPr lang="en-US" sz="36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371600"/>
            <a:ext cx="8229600" cy="5334000"/>
          </a:xfrm>
        </p:spPr>
        <p:txBody>
          <a:bodyPr/>
          <a:lstStyle/>
          <a:p>
            <a:pPr marL="514350" indent="-514350">
              <a:buAutoNum type="arabicPeriod"/>
            </a:pPr>
            <a:endParaRPr lang="en-US" dirty="0"/>
          </a:p>
          <a:p>
            <a:pPr marL="514350" indent="-514350">
              <a:buAutoNum type="arabicPeriod"/>
            </a:pPr>
            <a:endParaRPr lang="en-US" dirty="0"/>
          </a:p>
          <a:p>
            <a:pPr marL="514350" indent="-514350">
              <a:buAutoNum type="arabicPeriod"/>
            </a:pPr>
            <a:endParaRPr lang="en-US" dirty="0"/>
          </a:p>
          <a:p>
            <a:pPr marL="514350" indent="-514350">
              <a:buAutoNum type="arabicPeriod"/>
            </a:pPr>
            <a:endParaRPr lang="en-US" dirty="0"/>
          </a:p>
          <a:p>
            <a:pPr marL="514350" indent="-514350">
              <a:buNone/>
            </a:pPr>
            <a:endParaRPr lang="en-US" dirty="0"/>
          </a:p>
          <a:p>
            <a:pPr marL="514350" indent="-514350">
              <a:buAutoNum type="arabicPeriod"/>
            </a:pPr>
            <a:endParaRPr lang="en-US" dirty="0"/>
          </a:p>
          <a:p>
            <a:pPr marL="514350" indent="-514350">
              <a:buNone/>
            </a:pPr>
            <a:endParaRPr lang="en-US" dirty="0"/>
          </a:p>
          <a:p>
            <a:pPr marL="514350" indent="-514350">
              <a:buNone/>
            </a:pPr>
            <a:endParaRPr lang="en-US" dirty="0"/>
          </a:p>
        </p:txBody>
      </p:sp>
      <p:cxnSp>
        <p:nvCxnSpPr>
          <p:cNvPr id="7" name="Straight Arrow Connector 6"/>
          <p:cNvCxnSpPr/>
          <p:nvPr/>
        </p:nvCxnSpPr>
        <p:spPr>
          <a:xfrm flipV="1">
            <a:off x="3962400" y="2362200"/>
            <a:ext cx="5334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3962400" y="2895600"/>
            <a:ext cx="6096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4572000" y="2209800"/>
            <a:ext cx="152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itchFamily="18" charset="0"/>
                <a:cs typeface="Times New Roman" pitchFamily="18" charset="0"/>
              </a:rPr>
              <a:t>Direct Pay</a:t>
            </a:r>
          </a:p>
        </p:txBody>
      </p:sp>
      <p:sp>
        <p:nvSpPr>
          <p:cNvPr id="11" name="Rectangle 10"/>
          <p:cNvSpPr/>
          <p:nvPr/>
        </p:nvSpPr>
        <p:spPr>
          <a:xfrm>
            <a:off x="4572000" y="2895600"/>
            <a:ext cx="1524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itchFamily="18" charset="0"/>
                <a:cs typeface="Times New Roman" pitchFamily="18" charset="0"/>
              </a:rPr>
              <a:t>Indirect Pay </a:t>
            </a:r>
            <a:endParaRPr lang="en-US" dirty="0">
              <a:latin typeface="Times New Roman" pitchFamily="18" charset="0"/>
              <a:cs typeface="Times New Roman" pitchFamily="18" charset="0"/>
            </a:endParaRPr>
          </a:p>
        </p:txBody>
      </p:sp>
      <p:cxnSp>
        <p:nvCxnSpPr>
          <p:cNvPr id="13" name="Straight Arrow Connector 12"/>
          <p:cNvCxnSpPr/>
          <p:nvPr/>
        </p:nvCxnSpPr>
        <p:spPr>
          <a:xfrm flipV="1">
            <a:off x="6019800" y="1905000"/>
            <a:ext cx="6858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6019800" y="2590800"/>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6781800" y="1524000"/>
            <a:ext cx="18288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itchFamily="18" charset="0"/>
                <a:cs typeface="Times New Roman" pitchFamily="18" charset="0"/>
              </a:rPr>
              <a:t>Basic</a:t>
            </a:r>
            <a:r>
              <a:rPr lang="en-US" dirty="0"/>
              <a:t> Pay</a:t>
            </a:r>
            <a:endParaRPr lang="en-US" dirty="0"/>
          </a:p>
        </p:txBody>
      </p:sp>
      <p:sp>
        <p:nvSpPr>
          <p:cNvPr id="19" name="Rectangle 18"/>
          <p:cNvSpPr/>
          <p:nvPr/>
        </p:nvSpPr>
        <p:spPr>
          <a:xfrm>
            <a:off x="6781800" y="2286000"/>
            <a:ext cx="18288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itchFamily="18" charset="0"/>
                <a:cs typeface="Times New Roman" pitchFamily="18" charset="0"/>
              </a:rPr>
              <a:t>Variable</a:t>
            </a:r>
            <a:r>
              <a:rPr lang="en-US" dirty="0"/>
              <a:t> Pay</a:t>
            </a:r>
            <a:endParaRPr lang="en-US" dirty="0"/>
          </a:p>
        </p:txBody>
      </p:sp>
      <p:cxnSp>
        <p:nvCxnSpPr>
          <p:cNvPr id="21" name="Straight Arrow Connector 20"/>
          <p:cNvCxnSpPr/>
          <p:nvPr/>
        </p:nvCxnSpPr>
        <p:spPr>
          <a:xfrm rot="10800000" flipV="1">
            <a:off x="4038600" y="3429000"/>
            <a:ext cx="8382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2438400" y="3657600"/>
            <a:ext cx="25146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itchFamily="18" charset="0"/>
                <a:cs typeface="Times New Roman" pitchFamily="18" charset="0"/>
              </a:rPr>
              <a:t>Protection (Insurance ) Programs</a:t>
            </a:r>
            <a:endParaRPr lang="en-US" dirty="0">
              <a:latin typeface="Times New Roman" pitchFamily="18" charset="0"/>
              <a:cs typeface="Times New Roman" pitchFamily="18" charset="0"/>
            </a:endParaRPr>
          </a:p>
        </p:txBody>
      </p:sp>
      <p:cxnSp>
        <p:nvCxnSpPr>
          <p:cNvPr id="26" name="Straight Arrow Connector 25"/>
          <p:cNvCxnSpPr/>
          <p:nvPr/>
        </p:nvCxnSpPr>
        <p:spPr>
          <a:xfrm rot="16200000" flipH="1">
            <a:off x="6057900" y="3467100"/>
            <a:ext cx="3048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6324600" y="3657600"/>
            <a:ext cx="2209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itchFamily="18" charset="0"/>
                <a:cs typeface="Times New Roman" pitchFamily="18" charset="0"/>
              </a:rPr>
              <a:t>Pay for time not worked.</a:t>
            </a:r>
            <a:endParaRPr lang="en-US" dirty="0">
              <a:latin typeface="Times New Roman" pitchFamily="18" charset="0"/>
              <a:cs typeface="Times New Roman" pitchFamily="18" charset="0"/>
            </a:endParaRPr>
          </a:p>
        </p:txBody>
      </p:sp>
      <p:sp>
        <p:nvSpPr>
          <p:cNvPr id="30" name="Rectangle 29"/>
          <p:cNvSpPr/>
          <p:nvPr/>
        </p:nvSpPr>
        <p:spPr>
          <a:xfrm>
            <a:off x="381000" y="2590800"/>
            <a:ext cx="3581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14350" indent="-514350">
              <a:buAutoNum type="arabicPeriod"/>
            </a:pPr>
            <a:r>
              <a:rPr lang="en-US" sz="2400" dirty="0">
                <a:solidFill>
                  <a:srgbClr val="FF0000"/>
                </a:solidFill>
                <a:latin typeface="Times New Roman" pitchFamily="18" charset="0"/>
                <a:cs typeface="Times New Roman" pitchFamily="18" charset="0"/>
              </a:rPr>
              <a:t>Financial Benefits</a:t>
            </a:r>
          </a:p>
        </p:txBody>
      </p:sp>
      <p:sp>
        <p:nvSpPr>
          <p:cNvPr id="31" name="Rectangle 30"/>
          <p:cNvSpPr/>
          <p:nvPr/>
        </p:nvSpPr>
        <p:spPr>
          <a:xfrm>
            <a:off x="381000" y="5257800"/>
            <a:ext cx="35052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14350" indent="-514350"/>
            <a:r>
              <a:rPr lang="en-US" sz="2400" dirty="0">
                <a:solidFill>
                  <a:srgbClr val="FF0000"/>
                </a:solidFill>
                <a:latin typeface="Times New Roman" pitchFamily="18" charset="0"/>
                <a:cs typeface="Times New Roman" pitchFamily="18" charset="0"/>
              </a:rPr>
              <a:t>2. Non - Financial Benefits</a:t>
            </a:r>
          </a:p>
        </p:txBody>
      </p:sp>
      <p:cxnSp>
        <p:nvCxnSpPr>
          <p:cNvPr id="33" name="Straight Arrow Connector 32"/>
          <p:cNvCxnSpPr>
            <a:stCxn id="31" idx="3"/>
          </p:cNvCxnSpPr>
          <p:nvPr/>
        </p:nvCxnSpPr>
        <p:spPr>
          <a:xfrm flipV="1">
            <a:off x="3886200" y="5487988"/>
            <a:ext cx="1447800" cy="3651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5334000" y="5257800"/>
            <a:ext cx="31242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Times New Roman" pitchFamily="18" charset="0"/>
                <a:cs typeface="Times New Roman" pitchFamily="18" charset="0"/>
              </a:rPr>
              <a:t>Praises and Rewards</a:t>
            </a:r>
            <a:endParaRPr lang="en-US" sz="2000" dirty="0">
              <a:latin typeface="Times New Roman" pitchFamily="18" charset="0"/>
              <a:cs typeface="Times New Roman" pitchFamily="18" charset="0"/>
            </a:endParaRPr>
          </a:p>
        </p:txBody>
      </p:sp>
      <p:cxnSp>
        <p:nvCxnSpPr>
          <p:cNvPr id="37" name="Straight Arrow Connector 36"/>
          <p:cNvCxnSpPr>
            <a:stCxn id="31" idx="3"/>
          </p:cNvCxnSpPr>
          <p:nvPr/>
        </p:nvCxnSpPr>
        <p:spPr>
          <a:xfrm>
            <a:off x="3886200" y="5524500"/>
            <a:ext cx="1447800" cy="800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5334000" y="6019800"/>
            <a:ext cx="31242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Times New Roman" pitchFamily="18" charset="0"/>
                <a:cs typeface="Times New Roman" pitchFamily="18" charset="0"/>
              </a:rPr>
              <a:t>Satisfaction Derived</a:t>
            </a: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10600" cy="1143000"/>
          </a:xfrm>
        </p:spPr>
        <p:txBody>
          <a:bodyPr>
            <a:noAutofit/>
          </a:bodyPr>
          <a:lstStyle/>
          <a:p>
            <a:r>
              <a:rPr lang="en-US" sz="3200" dirty="0">
                <a:solidFill>
                  <a:srgbClr val="FF0000"/>
                </a:solidFill>
                <a:latin typeface="Times New Roman" pitchFamily="18" charset="0"/>
                <a:cs typeface="Times New Roman" pitchFamily="18" charset="0"/>
              </a:rPr>
              <a:t>FACTORS AFFECTING COMPENSATION SYSTEM</a:t>
            </a:r>
            <a:endParaRPr lang="en-US" sz="3200" dirty="0"/>
          </a:p>
        </p:txBody>
      </p:sp>
      <p:graphicFrame>
        <p:nvGraphicFramePr>
          <p:cNvPr id="4" name="Content Placeholder 3"/>
          <p:cNvGraphicFramePr>
            <a:graphicFrameLocks noGrp="1"/>
          </p:cNvGraphicFramePr>
          <p:nvPr>
            <p:ph idx="1"/>
          </p:nvPr>
        </p:nvGraphicFramePr>
        <p:xfrm>
          <a:off x="457200" y="1600200"/>
          <a:ext cx="8229600" cy="4648203"/>
        </p:xfrm>
        <a:graphic>
          <a:graphicData uri="http://schemas.openxmlformats.org/drawingml/2006/table">
            <a:tbl>
              <a:tblPr firstRow="1" bandRow="1">
                <a:tableStyleId>{5C22544A-7EE6-4342-B048-85BDC9FD1C3A}</a:tableStyleId>
              </a:tblPr>
              <a:tblGrid>
                <a:gridCol w="4114800"/>
                <a:gridCol w="4114800"/>
              </a:tblGrid>
              <a:tr h="664029">
                <a:tc>
                  <a:txBody>
                    <a:bodyPr/>
                    <a:lstStyle/>
                    <a:p>
                      <a:pPr algn="ctr"/>
                      <a:r>
                        <a:rPr lang="en-US" sz="2000" dirty="0">
                          <a:solidFill>
                            <a:srgbClr val="FF0000"/>
                          </a:solidFill>
                          <a:latin typeface="Times New Roman" pitchFamily="18" charset="0"/>
                          <a:cs typeface="Times New Roman" pitchFamily="18" charset="0"/>
                        </a:rPr>
                        <a:t>Internal Factors</a:t>
                      </a:r>
                      <a:endParaRPr lang="en-US" sz="2000" dirty="0">
                        <a:solidFill>
                          <a:srgbClr val="FF0000"/>
                        </a:solidFill>
                        <a:latin typeface="Times New Roman" pitchFamily="18" charset="0"/>
                        <a:cs typeface="Times New Roman" pitchFamily="18" charset="0"/>
                      </a:endParaRPr>
                    </a:p>
                  </a:txBody>
                  <a:tcPr/>
                </a:tc>
                <a:tc>
                  <a:txBody>
                    <a:bodyPr/>
                    <a:lstStyle/>
                    <a:p>
                      <a:pPr algn="ctr"/>
                      <a:r>
                        <a:rPr lang="en-US" sz="2000" dirty="0">
                          <a:solidFill>
                            <a:srgbClr val="FF0000"/>
                          </a:solidFill>
                          <a:latin typeface="Times New Roman" pitchFamily="18" charset="0"/>
                          <a:cs typeface="Times New Roman" pitchFamily="18" charset="0"/>
                        </a:rPr>
                        <a:t>External Factors</a:t>
                      </a:r>
                      <a:endParaRPr lang="en-US" sz="2000" dirty="0">
                        <a:solidFill>
                          <a:srgbClr val="FF0000"/>
                        </a:solidFill>
                        <a:latin typeface="Times New Roman" pitchFamily="18" charset="0"/>
                        <a:cs typeface="Times New Roman" pitchFamily="18" charset="0"/>
                      </a:endParaRPr>
                    </a:p>
                  </a:txBody>
                  <a:tcPr/>
                </a:tc>
              </a:tr>
              <a:tr h="664029">
                <a:tc>
                  <a:txBody>
                    <a:bodyPr/>
                    <a:lstStyle/>
                    <a:p>
                      <a:r>
                        <a:rPr lang="en-US" sz="2000" dirty="0">
                          <a:latin typeface="Times New Roman" pitchFamily="18" charset="0"/>
                          <a:cs typeface="Times New Roman" pitchFamily="18" charset="0"/>
                        </a:rPr>
                        <a:t>Ability to Pay</a:t>
                      </a:r>
                      <a:endParaRPr lang="en-US" sz="2000" dirty="0">
                        <a:latin typeface="Times New Roman" pitchFamily="18" charset="0"/>
                        <a:cs typeface="Times New Roman" pitchFamily="18" charset="0"/>
                      </a:endParaRPr>
                    </a:p>
                  </a:txBody>
                  <a:tcPr/>
                </a:tc>
                <a:tc>
                  <a:txBody>
                    <a:bodyPr/>
                    <a:lstStyle/>
                    <a:p>
                      <a:r>
                        <a:rPr lang="en-US" sz="2000" dirty="0" err="1">
                          <a:latin typeface="Times New Roman" pitchFamily="18" charset="0"/>
                          <a:cs typeface="Times New Roman" pitchFamily="18" charset="0"/>
                        </a:rPr>
                        <a:t>Labour</a:t>
                      </a:r>
                      <a:r>
                        <a:rPr lang="en-US" sz="2000" dirty="0">
                          <a:latin typeface="Times New Roman" pitchFamily="18" charset="0"/>
                          <a:cs typeface="Times New Roman" pitchFamily="18" charset="0"/>
                        </a:rPr>
                        <a:t> Market</a:t>
                      </a:r>
                      <a:endParaRPr lang="en-US" sz="2000" dirty="0">
                        <a:latin typeface="Times New Roman" pitchFamily="18" charset="0"/>
                        <a:cs typeface="Times New Roman" pitchFamily="18" charset="0"/>
                      </a:endParaRPr>
                    </a:p>
                  </a:txBody>
                  <a:tcPr/>
                </a:tc>
              </a:tr>
              <a:tr h="664029">
                <a:tc>
                  <a:txBody>
                    <a:bodyPr/>
                    <a:lstStyle/>
                    <a:p>
                      <a:r>
                        <a:rPr lang="en-US" sz="2000" dirty="0">
                          <a:latin typeface="Times New Roman" pitchFamily="18" charset="0"/>
                          <a:cs typeface="Times New Roman" pitchFamily="18" charset="0"/>
                        </a:rPr>
                        <a:t>Compensation Policy</a:t>
                      </a:r>
                      <a:endParaRPr lang="en-US" sz="2000" dirty="0">
                        <a:latin typeface="Times New Roman" pitchFamily="18" charset="0"/>
                        <a:cs typeface="Times New Roman" pitchFamily="18" charset="0"/>
                      </a:endParaRPr>
                    </a:p>
                  </a:txBody>
                  <a:tcPr/>
                </a:tc>
                <a:tc>
                  <a:txBody>
                    <a:bodyPr/>
                    <a:lstStyle/>
                    <a:p>
                      <a:r>
                        <a:rPr lang="en-US" sz="2000" dirty="0">
                          <a:latin typeface="Times New Roman" pitchFamily="18" charset="0"/>
                          <a:cs typeface="Times New Roman" pitchFamily="18" charset="0"/>
                        </a:rPr>
                        <a:t>Going Rate</a:t>
                      </a:r>
                      <a:endParaRPr lang="en-US" sz="2000" dirty="0">
                        <a:latin typeface="Times New Roman" pitchFamily="18" charset="0"/>
                        <a:cs typeface="Times New Roman" pitchFamily="18" charset="0"/>
                      </a:endParaRPr>
                    </a:p>
                  </a:txBody>
                  <a:tcPr/>
                </a:tc>
              </a:tr>
              <a:tr h="664029">
                <a:tc>
                  <a:txBody>
                    <a:bodyPr/>
                    <a:lstStyle/>
                    <a:p>
                      <a:r>
                        <a:rPr lang="en-US" sz="2000" dirty="0">
                          <a:latin typeface="Times New Roman" pitchFamily="18" charset="0"/>
                          <a:cs typeface="Times New Roman" pitchFamily="18" charset="0"/>
                        </a:rPr>
                        <a:t>Job Description</a:t>
                      </a:r>
                      <a:endParaRPr lang="en-US" sz="2000" dirty="0">
                        <a:latin typeface="Times New Roman" pitchFamily="18" charset="0"/>
                        <a:cs typeface="Times New Roman" pitchFamily="18" charset="0"/>
                      </a:endParaRPr>
                    </a:p>
                  </a:txBody>
                  <a:tcPr/>
                </a:tc>
                <a:tc>
                  <a:txBody>
                    <a:bodyPr/>
                    <a:lstStyle/>
                    <a:p>
                      <a:r>
                        <a:rPr lang="en-US" sz="2000" dirty="0">
                          <a:latin typeface="Times New Roman" pitchFamily="18" charset="0"/>
                          <a:cs typeface="Times New Roman" pitchFamily="18" charset="0"/>
                        </a:rPr>
                        <a:t>Cost of Living</a:t>
                      </a:r>
                      <a:endParaRPr lang="en-US" sz="2000" dirty="0">
                        <a:latin typeface="Times New Roman" pitchFamily="18" charset="0"/>
                        <a:cs typeface="Times New Roman" pitchFamily="18" charset="0"/>
                      </a:endParaRPr>
                    </a:p>
                  </a:txBody>
                  <a:tcPr/>
                </a:tc>
              </a:tr>
              <a:tr h="664029">
                <a:tc>
                  <a:txBody>
                    <a:bodyPr/>
                    <a:lstStyle/>
                    <a:p>
                      <a:r>
                        <a:rPr lang="en-US" sz="2000" dirty="0">
                          <a:latin typeface="Times New Roman" pitchFamily="18" charset="0"/>
                          <a:cs typeface="Times New Roman" pitchFamily="18" charset="0"/>
                        </a:rPr>
                        <a:t>Performance Appraisal</a:t>
                      </a:r>
                      <a:endParaRPr lang="en-US" sz="2000" dirty="0">
                        <a:latin typeface="Times New Roman" pitchFamily="18" charset="0"/>
                        <a:cs typeface="Times New Roman" pitchFamily="18" charset="0"/>
                      </a:endParaRPr>
                    </a:p>
                  </a:txBody>
                  <a:tcPr/>
                </a:tc>
                <a:tc>
                  <a:txBody>
                    <a:bodyPr/>
                    <a:lstStyle/>
                    <a:p>
                      <a:r>
                        <a:rPr lang="en-US" sz="2000" dirty="0" err="1">
                          <a:latin typeface="Times New Roman" pitchFamily="18" charset="0"/>
                          <a:cs typeface="Times New Roman" pitchFamily="18" charset="0"/>
                        </a:rPr>
                        <a:t>Labour</a:t>
                      </a:r>
                      <a:r>
                        <a:rPr lang="en-US" sz="2000" dirty="0">
                          <a:latin typeface="Times New Roman" pitchFamily="18" charset="0"/>
                          <a:cs typeface="Times New Roman" pitchFamily="18" charset="0"/>
                        </a:rPr>
                        <a:t> Unions</a:t>
                      </a:r>
                      <a:endParaRPr lang="en-US" sz="2000" dirty="0">
                        <a:latin typeface="Times New Roman" pitchFamily="18" charset="0"/>
                        <a:cs typeface="Times New Roman" pitchFamily="18" charset="0"/>
                      </a:endParaRPr>
                    </a:p>
                  </a:txBody>
                  <a:tcPr/>
                </a:tc>
              </a:tr>
              <a:tr h="664029">
                <a:tc>
                  <a:txBody>
                    <a:bodyPr/>
                    <a:lstStyle/>
                    <a:p>
                      <a:r>
                        <a:rPr lang="en-US" sz="2000" dirty="0">
                          <a:latin typeface="Times New Roman" pitchFamily="18" charset="0"/>
                          <a:cs typeface="Times New Roman" pitchFamily="18" charset="0"/>
                        </a:rPr>
                        <a:t>Employee</a:t>
                      </a:r>
                      <a:endParaRPr lang="en-US" sz="2000" dirty="0">
                        <a:latin typeface="Times New Roman" pitchFamily="18" charset="0"/>
                        <a:cs typeface="Times New Roman" pitchFamily="18" charset="0"/>
                      </a:endParaRPr>
                    </a:p>
                  </a:txBody>
                  <a:tcPr/>
                </a:tc>
                <a:tc>
                  <a:txBody>
                    <a:bodyPr/>
                    <a:lstStyle/>
                    <a:p>
                      <a:r>
                        <a:rPr lang="en-US" sz="2000" dirty="0" err="1">
                          <a:latin typeface="Times New Roman" pitchFamily="18" charset="0"/>
                          <a:cs typeface="Times New Roman" pitchFamily="18" charset="0"/>
                        </a:rPr>
                        <a:t>Labour</a:t>
                      </a:r>
                      <a:r>
                        <a:rPr lang="en-US" sz="2000" dirty="0">
                          <a:latin typeface="Times New Roman" pitchFamily="18" charset="0"/>
                          <a:cs typeface="Times New Roman" pitchFamily="18" charset="0"/>
                        </a:rPr>
                        <a:t> Laws.</a:t>
                      </a:r>
                      <a:endParaRPr lang="en-US" sz="2000" dirty="0">
                        <a:latin typeface="Times New Roman" pitchFamily="18" charset="0"/>
                        <a:cs typeface="Times New Roman" pitchFamily="18" charset="0"/>
                      </a:endParaRPr>
                    </a:p>
                  </a:txBody>
                  <a:tcPr/>
                </a:tc>
              </a:tr>
              <a:tr h="664029">
                <a:tc>
                  <a:txBody>
                    <a:bodyPr/>
                    <a:lstStyle/>
                    <a:p>
                      <a:endParaRPr lang="en-US" sz="2000" dirty="0">
                        <a:latin typeface="Times New Roman" pitchFamily="18" charset="0"/>
                        <a:cs typeface="Times New Roman" pitchFamily="18" charset="0"/>
                      </a:endParaRPr>
                    </a:p>
                  </a:txBody>
                  <a:tcPr/>
                </a:tc>
                <a:tc>
                  <a:txBody>
                    <a:bodyPr/>
                    <a:lstStyle/>
                    <a:p>
                      <a:r>
                        <a:rPr lang="en-US" sz="2000" dirty="0">
                          <a:latin typeface="Times New Roman" pitchFamily="18" charset="0"/>
                          <a:cs typeface="Times New Roman" pitchFamily="18" charset="0"/>
                        </a:rPr>
                        <a:t>Legal Requirements.</a:t>
                      </a:r>
                      <a:endParaRPr lang="en-US" sz="2000" dirty="0">
                        <a:latin typeface="Times New Roman" pitchFamily="18" charset="0"/>
                        <a:cs typeface="Times New Roman" pitchFamily="18" charset="0"/>
                      </a:endParaRPr>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r>
              <a:rPr lang="en-US" dirty="0"/>
              <a:t/>
            </a:r>
            <a:br>
              <a:rPr lang="en-US" dirty="0"/>
            </a:br>
            <a:r>
              <a:rPr lang="en-US" sz="4900" dirty="0">
                <a:solidFill>
                  <a:srgbClr val="FF0000"/>
                </a:solidFill>
                <a:latin typeface="Times New Roman" pitchFamily="18" charset="0"/>
                <a:cs typeface="Times New Roman" pitchFamily="18" charset="0"/>
              </a:rPr>
              <a:t>Employee Benefits </a:t>
            </a:r>
            <a:r>
              <a:rPr lang="en-US" dirty="0"/>
              <a:t>	</a:t>
            </a:r>
            <a:br>
              <a:rPr lang="en-US" dirty="0"/>
            </a:br>
            <a:endParaRPr lang="en-US" dirty="0"/>
          </a:p>
        </p:txBody>
      </p:sp>
      <p:sp>
        <p:nvSpPr>
          <p:cNvPr id="3" name="Content Placeholder 2"/>
          <p:cNvSpPr>
            <a:spLocks noGrp="1"/>
          </p:cNvSpPr>
          <p:nvPr>
            <p:ph idx="1"/>
          </p:nvPr>
        </p:nvSpPr>
        <p:spPr>
          <a:xfrm>
            <a:off x="457200" y="1219200"/>
            <a:ext cx="8229600" cy="5181600"/>
          </a:xfrm>
        </p:spPr>
        <p:txBody>
          <a:bodyPr>
            <a:normAutofit fontScale="85000" lnSpcReduction="20000"/>
          </a:bodyPr>
          <a:lstStyle/>
          <a:p>
            <a:pPr algn="just">
              <a:buNone/>
            </a:pPr>
            <a:r>
              <a:rPr lang="en-US" dirty="0"/>
              <a:t>		</a:t>
            </a:r>
            <a:r>
              <a:rPr lang="en-US" dirty="0">
                <a:latin typeface="Times New Roman" pitchFamily="18" charset="0"/>
                <a:cs typeface="Times New Roman" pitchFamily="18" charset="0"/>
              </a:rPr>
              <a:t>Employee Benefits, also known as perks or fringe benefits, are provided to employees over and above salaries and wages. These are the Job and Career related benefits. Includes : </a:t>
            </a:r>
          </a:p>
          <a:p>
            <a:pPr algn="just">
              <a:buNone/>
            </a:pPr>
            <a:endParaRPr lang="en-US" dirty="0">
              <a:latin typeface="Times New Roman" pitchFamily="18" charset="0"/>
              <a:cs typeface="Times New Roman" pitchFamily="18" charset="0"/>
            </a:endParaRPr>
          </a:p>
          <a:p>
            <a:pPr marL="514350" indent="-514350" algn="just">
              <a:buAutoNum type="arabicPeriod"/>
            </a:pPr>
            <a:r>
              <a:rPr lang="en-US" dirty="0">
                <a:latin typeface="Times New Roman" pitchFamily="18" charset="0"/>
                <a:cs typeface="Times New Roman" pitchFamily="18" charset="0"/>
              </a:rPr>
              <a:t>Achievements, Awards and Recognition. </a:t>
            </a:r>
          </a:p>
          <a:p>
            <a:pPr marL="514350" indent="-514350" algn="just">
              <a:buAutoNum type="arabicPeriod"/>
            </a:pPr>
            <a:r>
              <a:rPr lang="en-US" dirty="0">
                <a:latin typeface="Times New Roman" pitchFamily="18" charset="0"/>
                <a:cs typeface="Times New Roman" pitchFamily="18" charset="0"/>
              </a:rPr>
              <a:t>Social Security.</a:t>
            </a:r>
          </a:p>
          <a:p>
            <a:pPr marL="514350" indent="-514350" algn="just">
              <a:buAutoNum type="arabicPeriod"/>
            </a:pPr>
            <a:r>
              <a:rPr lang="en-US" dirty="0">
                <a:latin typeface="Times New Roman" pitchFamily="18" charset="0"/>
                <a:cs typeface="Times New Roman" pitchFamily="18" charset="0"/>
              </a:rPr>
              <a:t>Perks and Bonuses.</a:t>
            </a:r>
          </a:p>
          <a:p>
            <a:pPr marL="514350" indent="-514350" algn="just">
              <a:buAutoNum type="arabicPeriod"/>
            </a:pPr>
            <a:r>
              <a:rPr lang="en-US" dirty="0">
                <a:latin typeface="Times New Roman" pitchFamily="18" charset="0"/>
                <a:cs typeface="Times New Roman" pitchFamily="18" charset="0"/>
              </a:rPr>
              <a:t>Pay Rises.</a:t>
            </a:r>
          </a:p>
          <a:p>
            <a:pPr marL="514350" indent="-514350" algn="just">
              <a:buAutoNum type="arabicPeriod"/>
            </a:pPr>
            <a:r>
              <a:rPr lang="en-US" dirty="0">
                <a:latin typeface="Times New Roman" pitchFamily="18" charset="0"/>
                <a:cs typeface="Times New Roman" pitchFamily="18" charset="0"/>
              </a:rPr>
              <a:t>Employees Allowances.</a:t>
            </a:r>
          </a:p>
          <a:p>
            <a:pPr marL="514350" indent="-514350" algn="just">
              <a:buAutoNum type="arabicPeriod"/>
            </a:pPr>
            <a:r>
              <a:rPr lang="en-US" dirty="0">
                <a:latin typeface="Times New Roman" pitchFamily="18" charset="0"/>
                <a:cs typeface="Times New Roman" pitchFamily="18" charset="0"/>
              </a:rPr>
              <a:t>Protection Allowances(Health Insurance).</a:t>
            </a:r>
          </a:p>
          <a:p>
            <a:pPr marL="514350" indent="-514350" algn="just">
              <a:buAutoNum type="arabicPeriod"/>
            </a:pPr>
            <a:r>
              <a:rPr lang="en-US" dirty="0">
                <a:latin typeface="Times New Roman" pitchFamily="18" charset="0"/>
                <a:cs typeface="Times New Roman" pitchFamily="18" charset="0"/>
              </a:rPr>
              <a:t>Paid Vacation.</a:t>
            </a:r>
          </a:p>
          <a:p>
            <a:pPr marL="514350" indent="-514350" algn="just">
              <a:buAutoNum type="arabicPeriod"/>
            </a:pPr>
            <a:r>
              <a:rPr lang="en-US" dirty="0">
                <a:latin typeface="Times New Roman" pitchFamily="18" charset="0"/>
                <a:cs typeface="Times New Roman" pitchFamily="18" charset="0"/>
              </a:rPr>
              <a:t>Sufficient Meal Breaks.</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20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20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20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2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pPr algn="l"/>
            <a:r>
              <a:rPr lang="en-US" sz="3600" b="1" dirty="0">
                <a:solidFill>
                  <a:srgbClr val="FF0000"/>
                </a:solidFill>
                <a:latin typeface="Times New Roman" pitchFamily="18" charset="0"/>
                <a:cs typeface="Times New Roman" pitchFamily="18" charset="0"/>
              </a:rPr>
              <a:t>Performance Management &amp;Appraisal</a:t>
            </a:r>
            <a:endParaRPr lang="en-US" sz="3600" dirty="0"/>
          </a:p>
        </p:txBody>
      </p:sp>
      <p:sp>
        <p:nvSpPr>
          <p:cNvPr id="3" name="Content Placeholder 2"/>
          <p:cNvSpPr>
            <a:spLocks noGrp="1"/>
          </p:cNvSpPr>
          <p:nvPr>
            <p:ph idx="1"/>
          </p:nvPr>
        </p:nvSpPr>
        <p:spPr>
          <a:xfrm>
            <a:off x="457200" y="1219200"/>
            <a:ext cx="8229600" cy="5410200"/>
          </a:xfrm>
        </p:spPr>
        <p:txBody>
          <a:bodyPr>
            <a:normAutofit/>
          </a:bodyPr>
          <a:lstStyle/>
          <a:p>
            <a:pPr algn="just">
              <a:buNone/>
            </a:pPr>
            <a:r>
              <a:rPr lang="en-US" dirty="0"/>
              <a:t>		</a:t>
            </a:r>
            <a:r>
              <a:rPr lang="en-US" sz="2800" b="1" dirty="0">
                <a:latin typeface="Times New Roman" pitchFamily="18" charset="0"/>
                <a:cs typeface="Times New Roman" pitchFamily="18" charset="0"/>
              </a:rPr>
              <a:t>Performance Management </a:t>
            </a:r>
            <a:r>
              <a:rPr lang="en-US" sz="2800" dirty="0">
                <a:latin typeface="Times New Roman" pitchFamily="18" charset="0"/>
                <a:cs typeface="Times New Roman" pitchFamily="18" charset="0"/>
              </a:rPr>
              <a:t>is a continuous and systematic approach that ensures the achievement of organizational business goals by streamlining employee performance and efforts to match the set goals efficiently.</a:t>
            </a:r>
          </a:p>
          <a:p>
            <a:pPr algn="just">
              <a:buNone/>
            </a:pPr>
            <a:r>
              <a:rPr lang="en-US" sz="2800" dirty="0">
                <a:latin typeface="Times New Roman" pitchFamily="18" charset="0"/>
                <a:cs typeface="Times New Roman" pitchFamily="18" charset="0"/>
              </a:rPr>
              <a:t>		 </a:t>
            </a:r>
            <a:r>
              <a:rPr lang="en-US" sz="2800" b="1" dirty="0">
                <a:latin typeface="Times New Roman" pitchFamily="18" charset="0"/>
                <a:cs typeface="Times New Roman" pitchFamily="18" charset="0"/>
              </a:rPr>
              <a:t>Performance Appraisal </a:t>
            </a:r>
            <a:r>
              <a:rPr lang="en-US" sz="2800" dirty="0">
                <a:latin typeface="Times New Roman" pitchFamily="18" charset="0"/>
                <a:cs typeface="Times New Roman" pitchFamily="18" charset="0"/>
              </a:rPr>
              <a:t>is a process for evaluating and documenting how well an employee is carrying out his or her job. Performance appraisals are based on the employee's progress against goals set once a year with his or her manager.</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86800" cy="1143000"/>
          </a:xfrm>
        </p:spPr>
        <p:txBody>
          <a:bodyPr>
            <a:normAutofit/>
          </a:bodyPr>
          <a:lstStyle/>
          <a:p>
            <a:r>
              <a:rPr lang="en-US" sz="3600" b="1" dirty="0">
                <a:solidFill>
                  <a:srgbClr val="FF0000"/>
                </a:solidFill>
                <a:latin typeface="Times New Roman" pitchFamily="18" charset="0"/>
                <a:cs typeface="Times New Roman" pitchFamily="18" charset="0"/>
              </a:rPr>
              <a:t>Objectives of Performance Management</a:t>
            </a:r>
          </a:p>
        </p:txBody>
      </p:sp>
      <p:sp>
        <p:nvSpPr>
          <p:cNvPr id="3" name="Content Placeholder 2"/>
          <p:cNvSpPr>
            <a:spLocks noGrp="1"/>
          </p:cNvSpPr>
          <p:nvPr>
            <p:ph idx="1"/>
          </p:nvPr>
        </p:nvSpPr>
        <p:spPr/>
        <p:txBody>
          <a:bodyPr>
            <a:normAutofit lnSpcReduction="10000"/>
          </a:bodyPr>
          <a:lstStyle/>
          <a:p>
            <a:pPr>
              <a:buFont typeface="Wingdings" pitchFamily="2" charset="2"/>
              <a:buChar char="ü"/>
            </a:pPr>
            <a:r>
              <a:rPr lang="en-US" dirty="0">
                <a:latin typeface="Times New Roman" pitchFamily="18" charset="0"/>
                <a:cs typeface="Times New Roman" pitchFamily="18" charset="0"/>
              </a:rPr>
              <a:t>Develop clear role definitions, expectations and goals.</a:t>
            </a:r>
          </a:p>
          <a:p>
            <a:pPr>
              <a:buFont typeface="Wingdings" pitchFamily="2" charset="2"/>
              <a:buChar char="ü"/>
            </a:pPr>
            <a:r>
              <a:rPr lang="en-US" dirty="0">
                <a:latin typeface="Times New Roman" pitchFamily="18" charset="0"/>
                <a:cs typeface="Times New Roman" pitchFamily="18" charset="0"/>
              </a:rPr>
              <a:t>Increase employee engagement.</a:t>
            </a:r>
          </a:p>
          <a:p>
            <a:pPr>
              <a:buFont typeface="Wingdings" pitchFamily="2" charset="2"/>
              <a:buChar char="ü"/>
            </a:pPr>
            <a:r>
              <a:rPr lang="en-US" dirty="0">
                <a:latin typeface="Times New Roman" pitchFamily="18" charset="0"/>
                <a:cs typeface="Times New Roman" pitchFamily="18" charset="0"/>
              </a:rPr>
              <a:t>Develop managerial leadership and coaching skills.</a:t>
            </a:r>
          </a:p>
          <a:p>
            <a:pPr>
              <a:buFont typeface="Wingdings" pitchFamily="2" charset="2"/>
              <a:buChar char="ü"/>
            </a:pPr>
            <a:r>
              <a:rPr lang="en-US" dirty="0">
                <a:latin typeface="Times New Roman" pitchFamily="18" charset="0"/>
                <a:cs typeface="Times New Roman" pitchFamily="18" charset="0"/>
              </a:rPr>
              <a:t>Boost productivity through improved performance.</a:t>
            </a:r>
          </a:p>
          <a:p>
            <a:pPr>
              <a:buFont typeface="Wingdings" pitchFamily="2" charset="2"/>
              <a:buChar char="ü"/>
            </a:pPr>
            <a:r>
              <a:rPr lang="en-US" dirty="0">
                <a:latin typeface="Times New Roman" pitchFamily="18" charset="0"/>
                <a:cs typeface="Times New Roman" pitchFamily="18" charset="0"/>
              </a:rPr>
              <a:t>Develop a performance reward program that incentivizes accomplishment.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90600"/>
          </a:xfrm>
        </p:spPr>
        <p:txBody>
          <a:bodyPr>
            <a:normAutofit fontScale="90000"/>
          </a:bodyPr>
          <a:lstStyle/>
          <a:p>
            <a:pPr algn="l"/>
            <a:r>
              <a:rPr lang="en-US" dirty="0"/>
              <a:t/>
            </a:r>
            <a:br>
              <a:rPr lang="en-US" dirty="0"/>
            </a:br>
            <a:r>
              <a:rPr lang="en-US" sz="4000" b="1" dirty="0">
                <a:solidFill>
                  <a:srgbClr val="FF0000"/>
                </a:solidFill>
                <a:latin typeface="Times New Roman" pitchFamily="18" charset="0"/>
                <a:cs typeface="Times New Roman" pitchFamily="18" charset="0"/>
              </a:rPr>
              <a:t>P. Management v/s P. Appraisal </a:t>
            </a:r>
            <a:r>
              <a:rPr lang="en-US" dirty="0"/>
              <a:t>	</a:t>
            </a:r>
            <a:br>
              <a:rPr lang="en-US" dirty="0"/>
            </a:br>
            <a:endParaRPr lang="en-US" dirty="0"/>
          </a:p>
        </p:txBody>
      </p:sp>
      <p:pic>
        <p:nvPicPr>
          <p:cNvPr id="4" name="Content Placeholder 3" descr="PvsAppraisal.png"/>
          <p:cNvPicPr>
            <a:picLocks noGrp="1" noChangeAspect="1"/>
          </p:cNvPicPr>
          <p:nvPr>
            <p:ph idx="1"/>
          </p:nvPr>
        </p:nvPicPr>
        <p:blipFill>
          <a:blip r:embed="R79c85ecc82fe4c01"/>
          <a:stretch>
            <a:fillRect/>
          </a:stretch>
        </p:blipFill>
        <p:spPr>
          <a:xfrm>
            <a:off x="152400" y="1219200"/>
            <a:ext cx="8686800" cy="5257800"/>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t/>
            </a:r>
            <a:br>
              <a:rPr lang="en-US" dirty="0"/>
            </a:br>
            <a:r>
              <a:rPr lang="en-US" dirty="0"/>
              <a:t/>
            </a:r>
            <a:br>
              <a:rPr lang="en-US" dirty="0"/>
            </a:br>
            <a:r>
              <a:rPr lang="en-US" sz="4000" b="1" dirty="0">
                <a:solidFill>
                  <a:srgbClr val="FF0000"/>
                </a:solidFill>
                <a:latin typeface="Times New Roman" pitchFamily="18" charset="0"/>
                <a:cs typeface="Times New Roman" pitchFamily="18" charset="0"/>
              </a:rPr>
              <a:t>Common Problems with P. Appraisals </a:t>
            </a:r>
            <a:r>
              <a:rPr lang="en-US" dirty="0"/>
              <a:t>	</a:t>
            </a:r>
            <a:br>
              <a:rPr lang="en-US" dirty="0"/>
            </a:br>
            <a:endParaRPr lang="en-US" dirty="0"/>
          </a:p>
        </p:txBody>
      </p:sp>
      <p:sp>
        <p:nvSpPr>
          <p:cNvPr id="3" name="Content Placeholder 2"/>
          <p:cNvSpPr>
            <a:spLocks noGrp="1"/>
          </p:cNvSpPr>
          <p:nvPr>
            <p:ph idx="1"/>
          </p:nvPr>
        </p:nvSpPr>
        <p:spPr>
          <a:xfrm>
            <a:off x="457200" y="1143000"/>
            <a:ext cx="8229600" cy="5715000"/>
          </a:xfrm>
        </p:spPr>
        <p:txBody>
          <a:bodyPr>
            <a:normAutofit/>
          </a:bodyPr>
          <a:lstStyle/>
          <a:p>
            <a:pPr>
              <a:lnSpc>
                <a:spcPct val="120000"/>
              </a:lnSpc>
              <a:buFont typeface="Wingdings" pitchFamily="2" charset="2"/>
              <a:buChar char="ü"/>
            </a:pPr>
            <a:r>
              <a:rPr lang="en-US" sz="2400" dirty="0">
                <a:latin typeface="Times New Roman" pitchFamily="18" charset="0"/>
                <a:cs typeface="Times New Roman" pitchFamily="18" charset="0"/>
              </a:rPr>
              <a:t>Manager’s judgment or assessment based on preferences.</a:t>
            </a:r>
            <a:endParaRPr lang="en-US" sz="2400" b="1" dirty="0">
              <a:latin typeface="Times New Roman" pitchFamily="18" charset="0"/>
              <a:cs typeface="Times New Roman" pitchFamily="18" charset="0"/>
            </a:endParaRPr>
          </a:p>
          <a:p>
            <a:pPr>
              <a:lnSpc>
                <a:spcPct val="120000"/>
              </a:lnSpc>
              <a:buFont typeface="Wingdings" pitchFamily="2" charset="2"/>
              <a:buChar char="ü"/>
            </a:pPr>
            <a:r>
              <a:rPr lang="en-US" sz="2400" dirty="0">
                <a:latin typeface="Times New Roman" pitchFamily="18" charset="0"/>
                <a:cs typeface="Times New Roman" pitchFamily="18" charset="0"/>
              </a:rPr>
              <a:t>Unstructured methods of performance appraisal systems.</a:t>
            </a:r>
            <a:endParaRPr lang="en-US" sz="2400" b="1" dirty="0">
              <a:latin typeface="Times New Roman" pitchFamily="18" charset="0"/>
              <a:cs typeface="Times New Roman" pitchFamily="18" charset="0"/>
            </a:endParaRPr>
          </a:p>
          <a:p>
            <a:pPr>
              <a:lnSpc>
                <a:spcPct val="120000"/>
              </a:lnSpc>
              <a:buFont typeface="Wingdings" pitchFamily="2" charset="2"/>
              <a:buChar char="ü"/>
            </a:pPr>
            <a:r>
              <a:rPr lang="en-US" sz="2400" dirty="0">
                <a:latin typeface="Times New Roman" pitchFamily="18" charset="0"/>
                <a:cs typeface="Times New Roman" pitchFamily="18" charset="0"/>
              </a:rPr>
              <a:t>Lack of interest and ownership of manager.</a:t>
            </a:r>
            <a:endParaRPr lang="en-US" sz="2400" b="1" dirty="0">
              <a:latin typeface="Times New Roman" pitchFamily="18" charset="0"/>
              <a:cs typeface="Times New Roman" pitchFamily="18" charset="0"/>
            </a:endParaRPr>
          </a:p>
          <a:p>
            <a:pPr>
              <a:lnSpc>
                <a:spcPct val="120000"/>
              </a:lnSpc>
              <a:buFont typeface="Wingdings" pitchFamily="2" charset="2"/>
              <a:buChar char="ü"/>
            </a:pPr>
            <a:r>
              <a:rPr lang="en-US" sz="2400" dirty="0">
                <a:latin typeface="Times New Roman" pitchFamily="18" charset="0"/>
                <a:cs typeface="Times New Roman" pitchFamily="18" charset="0"/>
              </a:rPr>
              <a:t>Lack of a proper channel of communication.</a:t>
            </a:r>
            <a:endParaRPr lang="en-US" sz="2400" b="1" dirty="0">
              <a:latin typeface="Times New Roman" pitchFamily="18" charset="0"/>
              <a:cs typeface="Times New Roman" pitchFamily="18" charset="0"/>
            </a:endParaRPr>
          </a:p>
          <a:p>
            <a:pPr>
              <a:lnSpc>
                <a:spcPct val="120000"/>
              </a:lnSpc>
              <a:buFont typeface="Wingdings" pitchFamily="2" charset="2"/>
              <a:buChar char="ü"/>
            </a:pPr>
            <a:r>
              <a:rPr lang="en-US" sz="2400" dirty="0">
                <a:latin typeface="Times New Roman" pitchFamily="18" charset="0"/>
                <a:cs typeface="Times New Roman" pitchFamily="18" charset="0"/>
              </a:rPr>
              <a:t>Lack of reward and recognition policy.</a:t>
            </a:r>
          </a:p>
          <a:p>
            <a:pPr>
              <a:lnSpc>
                <a:spcPct val="120000"/>
              </a:lnSpc>
              <a:buFont typeface="Wingdings" pitchFamily="2" charset="2"/>
              <a:buChar char="ü"/>
            </a:pPr>
            <a:r>
              <a:rPr lang="en-US" sz="2400" dirty="0">
                <a:latin typeface="Times New Roman" pitchFamily="18" charset="0"/>
                <a:cs typeface="Times New Roman" pitchFamily="18" charset="0"/>
              </a:rPr>
              <a:t>Lack of leadership.</a:t>
            </a:r>
          </a:p>
          <a:p>
            <a:pPr>
              <a:lnSpc>
                <a:spcPct val="120000"/>
              </a:lnSpc>
              <a:buFont typeface="Wingdings" pitchFamily="2" charset="2"/>
              <a:buChar char="ü"/>
            </a:pPr>
            <a:r>
              <a:rPr lang="en-US" sz="2400" dirty="0">
                <a:latin typeface="Times New Roman" pitchFamily="18" charset="0"/>
                <a:cs typeface="Times New Roman" pitchFamily="18" charset="0"/>
              </a:rPr>
              <a:t>Lack of designing, monitoring and measuring the performance appraisal standards.</a:t>
            </a:r>
          </a:p>
          <a:p>
            <a:pPr>
              <a:lnSpc>
                <a:spcPct val="120000"/>
              </a:lnSpc>
              <a:buFont typeface="Wingdings" pitchFamily="2" charset="2"/>
              <a:buChar char="ü"/>
            </a:pPr>
            <a:r>
              <a:rPr lang="en-US" sz="2400" dirty="0">
                <a:latin typeface="Times New Roman" pitchFamily="18" charset="0"/>
                <a:cs typeface="Times New Roman" pitchFamily="18" charset="0"/>
              </a:rPr>
              <a:t>Lack of communication.</a:t>
            </a:r>
          </a:p>
          <a:p>
            <a:pPr>
              <a:lnSpc>
                <a:spcPct val="120000"/>
              </a:lnSpc>
              <a:buFont typeface="Wingdings" pitchFamily="2" charset="2"/>
              <a:buChar char="ü"/>
            </a:pPr>
            <a:r>
              <a:rPr lang="en-US" sz="2400" dirty="0">
                <a:latin typeface="Times New Roman" pitchFamily="18" charset="0"/>
                <a:cs typeface="Times New Roman" pitchFamily="18" charset="0"/>
              </a:rPr>
              <a:t>Overemphasizing recent performances.</a:t>
            </a:r>
          </a:p>
          <a:p>
            <a:pPr>
              <a:lnSpc>
                <a:spcPct val="120000"/>
              </a:lnSpc>
              <a:buFont typeface="Wingdings" pitchFamily="2" charset="2"/>
              <a:buChar char="ü"/>
            </a:pPr>
            <a:r>
              <a:rPr lang="en-US" sz="2400" dirty="0">
                <a:latin typeface="Times New Roman" pitchFamily="18" charset="0"/>
                <a:cs typeface="Times New Roman" pitchFamily="18" charset="0"/>
              </a:rPr>
              <a:t>No recognition/ rewards.</a:t>
            </a:r>
          </a:p>
          <a:p>
            <a:pPr>
              <a:buNone/>
            </a:pPr>
            <a:endParaRPr lang="en-US" sz="2400" b="1" dirty="0">
              <a:latin typeface="Times New Roman" pitchFamily="18" charset="0"/>
              <a:cs typeface="Times New Roman" pitchFamily="18" charset="0"/>
            </a:endParaRPr>
          </a:p>
          <a:p>
            <a:endParaRPr lang="en-US" b="1" dirty="0"/>
          </a:p>
          <a:p>
            <a:endParaRPr lang="en-US" b="1"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2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305800" cy="868362"/>
          </a:xfrm>
        </p:spPr>
        <p:txBody>
          <a:bodyPr>
            <a:normAutofit fontScale="90000"/>
          </a:bodyPr>
          <a:lstStyle/>
          <a:p>
            <a:pPr algn="l"/>
            <a:r>
              <a:rPr lang="en-US" dirty="0"/>
              <a:t/>
            </a:r>
            <a:br>
              <a:rPr lang="en-US" dirty="0"/>
            </a:br>
            <a:r>
              <a:rPr lang="en-US" sz="4000" b="1" dirty="0">
                <a:solidFill>
                  <a:srgbClr val="FF0000"/>
                </a:solidFill>
                <a:latin typeface="Times New Roman" pitchFamily="18" charset="0"/>
                <a:cs typeface="Times New Roman" pitchFamily="18" charset="0"/>
              </a:rPr>
              <a:t>Performance Management Process 	</a:t>
            </a:r>
            <a:r>
              <a:rPr lang="en-US" dirty="0"/>
              <a:t/>
            </a:r>
            <a:br>
              <a:rPr lang="en-US" dirty="0"/>
            </a:br>
            <a:endParaRPr lang="en-US" dirty="0"/>
          </a:p>
        </p:txBody>
      </p:sp>
      <p:sp>
        <p:nvSpPr>
          <p:cNvPr id="3" name="Content Placeholder 2"/>
          <p:cNvSpPr>
            <a:spLocks noGrp="1"/>
          </p:cNvSpPr>
          <p:nvPr>
            <p:ph idx="1"/>
          </p:nvPr>
        </p:nvSpPr>
        <p:spPr>
          <a:xfrm>
            <a:off x="457200" y="1143000"/>
            <a:ext cx="8229600" cy="5334000"/>
          </a:xfrm>
        </p:spPr>
        <p:txBody>
          <a:bodyPr/>
          <a:lstStyle/>
          <a:p>
            <a:pPr algn="just">
              <a:buNone/>
            </a:pPr>
            <a:r>
              <a:rPr lang="en-US" dirty="0"/>
              <a:t>		</a:t>
            </a:r>
            <a:r>
              <a:rPr lang="en-US" sz="2800" dirty="0">
                <a:latin typeface="Times New Roman" pitchFamily="18" charset="0"/>
                <a:cs typeface="Times New Roman" pitchFamily="18" charset="0"/>
              </a:rPr>
              <a:t>Performance Management requires that the manager should define the performance, facilitate performance and encourage performance.</a:t>
            </a:r>
          </a:p>
          <a:p>
            <a:pPr algn="just">
              <a:buNone/>
            </a:pPr>
            <a:endParaRPr lang="en-US" sz="2800" dirty="0">
              <a:latin typeface="Times New Roman" pitchFamily="18" charset="0"/>
              <a:cs typeface="Times New Roman" pitchFamily="18" charset="0"/>
            </a:endParaRPr>
          </a:p>
          <a:p>
            <a:pPr algn="just">
              <a:buNone/>
            </a:pPr>
            <a:endParaRPr lang="en-US" dirty="0">
              <a:latin typeface="Times New Roman" pitchFamily="18" charset="0"/>
              <a:cs typeface="Times New Roman" pitchFamily="18" charset="0"/>
            </a:endParaRPr>
          </a:p>
        </p:txBody>
      </p:sp>
      <p:pic>
        <p:nvPicPr>
          <p:cNvPr id="5" name="Picture 4" descr="11.jpg"/>
          <p:cNvPicPr>
            <a:picLocks noChangeAspect="1"/>
          </p:cNvPicPr>
          <p:nvPr/>
        </p:nvPicPr>
        <p:blipFill>
          <a:blip r:embed="R0f9a2e6c66c1484a"/>
          <a:stretch>
            <a:fillRect/>
          </a:stretch>
        </p:blipFill>
        <p:spPr>
          <a:xfrm>
            <a:off x="381000" y="2819400"/>
            <a:ext cx="8382000" cy="3810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610600" cy="715962"/>
          </a:xfrm>
        </p:spPr>
        <p:txBody>
          <a:bodyPr>
            <a:normAutofit/>
          </a:bodyPr>
          <a:lstStyle/>
          <a:p>
            <a:r>
              <a:rPr lang="en-US" sz="4000" b="1" dirty="0">
                <a:solidFill>
                  <a:srgbClr val="FF0000"/>
                </a:solidFill>
                <a:latin typeface="Times New Roman" pitchFamily="18" charset="0"/>
                <a:cs typeface="Times New Roman" pitchFamily="18" charset="0"/>
              </a:rPr>
              <a:t>Types of Performance Rating Systems</a:t>
            </a:r>
          </a:p>
        </p:txBody>
      </p:sp>
      <p:sp>
        <p:nvSpPr>
          <p:cNvPr id="3" name="Content Placeholder 2"/>
          <p:cNvSpPr>
            <a:spLocks noGrp="1"/>
          </p:cNvSpPr>
          <p:nvPr>
            <p:ph idx="1"/>
          </p:nvPr>
        </p:nvSpPr>
        <p:spPr>
          <a:xfrm>
            <a:off x="228600" y="1219200"/>
            <a:ext cx="8610600" cy="5334000"/>
          </a:xfrm>
        </p:spPr>
        <p:txBody>
          <a:bodyPr>
            <a:normAutofit lnSpcReduction="10000"/>
          </a:bodyPr>
          <a:lstStyle/>
          <a:p>
            <a:pPr algn="just">
              <a:buNone/>
            </a:pPr>
            <a:r>
              <a:rPr lang="en-US" dirty="0"/>
              <a:t>		</a:t>
            </a:r>
            <a:r>
              <a:rPr lang="en-US" dirty="0">
                <a:latin typeface="Times New Roman" pitchFamily="18" charset="0"/>
                <a:cs typeface="Times New Roman" pitchFamily="18" charset="0"/>
              </a:rPr>
              <a:t>Performance Appraisal can be broadly classified into two categories. They are : </a:t>
            </a:r>
          </a:p>
          <a:p>
            <a:pPr marL="514350" indent="-514350" algn="just">
              <a:buAutoNum type="arabicPeriod"/>
            </a:pPr>
            <a:r>
              <a:rPr lang="en-US" dirty="0">
                <a:solidFill>
                  <a:srgbClr val="FF0000"/>
                </a:solidFill>
                <a:latin typeface="Times New Roman" pitchFamily="18" charset="0"/>
                <a:cs typeface="Times New Roman" pitchFamily="18" charset="0"/>
              </a:rPr>
              <a:t>Traditional Methods:</a:t>
            </a:r>
          </a:p>
          <a:p>
            <a:pPr marL="514350" indent="-514350" algn="just">
              <a:buNone/>
            </a:pPr>
            <a:r>
              <a:rPr lang="en-US" dirty="0">
                <a:latin typeface="Times New Roman" pitchFamily="18" charset="0"/>
                <a:cs typeface="Times New Roman" pitchFamily="18" charset="0"/>
              </a:rPr>
              <a:t>	(</a:t>
            </a:r>
            <a:r>
              <a:rPr lang="en-US" i="1" dirty="0">
                <a:latin typeface="Times New Roman" pitchFamily="18" charset="0"/>
                <a:cs typeface="Times New Roman" pitchFamily="18" charset="0"/>
              </a:rPr>
              <a:t>Ranking Method , Graphic Rating Scales , Critical Incident Method , Narrative Essays </a:t>
            </a:r>
            <a:r>
              <a:rPr lang="en-US" dirty="0">
                <a:latin typeface="Times New Roman" pitchFamily="18" charset="0"/>
                <a:cs typeface="Times New Roman" pitchFamily="18" charset="0"/>
              </a:rPr>
              <a:t>)</a:t>
            </a:r>
          </a:p>
          <a:p>
            <a:pPr marL="514350" indent="-514350" algn="just">
              <a:buNone/>
            </a:pPr>
            <a:r>
              <a:rPr lang="en-US" dirty="0">
                <a:solidFill>
                  <a:srgbClr val="FF0000"/>
                </a:solidFill>
                <a:latin typeface="Times New Roman" pitchFamily="18" charset="0"/>
                <a:cs typeface="Times New Roman" pitchFamily="18" charset="0"/>
              </a:rPr>
              <a:t>2.  Modern Methods:</a:t>
            </a:r>
          </a:p>
          <a:p>
            <a:pPr marL="514350" indent="-514350" algn="just">
              <a:buNone/>
            </a:pPr>
            <a:r>
              <a:rPr lang="en-US" dirty="0">
                <a:latin typeface="Times New Roman" pitchFamily="18" charset="0"/>
                <a:cs typeface="Times New Roman" pitchFamily="18" charset="0"/>
              </a:rPr>
              <a:t>	(</a:t>
            </a:r>
            <a:r>
              <a:rPr lang="en-US" i="1" dirty="0">
                <a:latin typeface="Times New Roman" pitchFamily="18" charset="0"/>
                <a:cs typeface="Times New Roman" pitchFamily="18" charset="0"/>
              </a:rPr>
              <a:t>Management by Objectives , Behaviorally Anchored Rating Scale (BARS) , Humans Resource Accounting , Assessment Centers , 360 Degree </a:t>
            </a:r>
            <a:r>
              <a:rPr lang="en-US" dirty="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324600"/>
          </a:xfrm>
        </p:spPr>
        <p:txBody>
          <a:bodyPr/>
          <a:lstStyle/>
          <a:p>
            <a:pPr algn="just">
              <a:buNone/>
            </a:pPr>
            <a:r>
              <a:rPr lang="en-US" b="1" i="1" dirty="0">
                <a:latin typeface="Times New Roman" pitchFamily="18" charset="0"/>
                <a:cs typeface="Times New Roman" pitchFamily="18" charset="0"/>
              </a:rPr>
              <a:t>1. Ranking Method :</a:t>
            </a:r>
          </a:p>
          <a:p>
            <a:pPr algn="just">
              <a:buNone/>
            </a:pPr>
            <a:r>
              <a:rPr lang="en-US" dirty="0">
                <a:latin typeface="Times New Roman" pitchFamily="18" charset="0"/>
                <a:cs typeface="Times New Roman" pitchFamily="18" charset="0"/>
              </a:rPr>
              <a:t>	</a:t>
            </a:r>
            <a:r>
              <a:rPr lang="en-US" sz="2800" dirty="0">
                <a:latin typeface="Times New Roman" pitchFamily="18" charset="0"/>
                <a:cs typeface="Times New Roman" pitchFamily="18" charset="0"/>
              </a:rPr>
              <a:t>According to </a:t>
            </a:r>
            <a:r>
              <a:rPr lang="en-US" sz="2800" dirty="0" err="1">
                <a:latin typeface="Times New Roman" pitchFamily="18" charset="0"/>
                <a:cs typeface="Times New Roman" pitchFamily="18" charset="0"/>
              </a:rPr>
              <a:t>Dessler</a:t>
            </a:r>
            <a:r>
              <a:rPr lang="en-US" sz="2800" dirty="0">
                <a:latin typeface="Times New Roman" pitchFamily="18" charset="0"/>
                <a:cs typeface="Times New Roman" pitchFamily="18" charset="0"/>
              </a:rPr>
              <a:t> et al. (2011), ranking method is ranking employees from best to worst on a particular trait, choosing highest, then lowest, until all ranked.</a:t>
            </a:r>
          </a:p>
          <a:p>
            <a:pPr algn="just">
              <a:buNone/>
            </a:pPr>
            <a:endParaRPr lang="en-US" dirty="0">
              <a:latin typeface="Times New Roman" pitchFamily="18" charset="0"/>
              <a:cs typeface="Times New Roman" pitchFamily="18" charset="0"/>
            </a:endParaRPr>
          </a:p>
          <a:p>
            <a:pPr algn="just">
              <a:buNone/>
            </a:pPr>
            <a:r>
              <a:rPr lang="en-US" b="1" i="1" dirty="0">
                <a:latin typeface="Times New Roman" pitchFamily="18" charset="0"/>
                <a:cs typeface="Times New Roman" pitchFamily="18" charset="0"/>
              </a:rPr>
              <a:t>2.Graphic Rating Scales : </a:t>
            </a:r>
          </a:p>
          <a:p>
            <a:pPr algn="just">
              <a:buNone/>
            </a:pPr>
            <a:r>
              <a:rPr lang="en-US" dirty="0">
                <a:latin typeface="Times New Roman" pitchFamily="18" charset="0"/>
                <a:cs typeface="Times New Roman" pitchFamily="18" charset="0"/>
              </a:rPr>
              <a:t>	</a:t>
            </a:r>
            <a:r>
              <a:rPr lang="en-US" sz="2800" dirty="0">
                <a:latin typeface="Times New Roman" pitchFamily="18" charset="0"/>
                <a:cs typeface="Times New Roman" pitchFamily="18" charset="0"/>
              </a:rPr>
              <a:t>According to </a:t>
            </a:r>
            <a:r>
              <a:rPr lang="en-US" sz="2800" dirty="0" err="1">
                <a:latin typeface="Times New Roman" pitchFamily="18" charset="0"/>
                <a:cs typeface="Times New Roman" pitchFamily="18" charset="0"/>
              </a:rPr>
              <a:t>Dessler</a:t>
            </a:r>
            <a:r>
              <a:rPr lang="en-US" sz="2800" dirty="0">
                <a:latin typeface="Times New Roman" pitchFamily="18" charset="0"/>
                <a:cs typeface="Times New Roman" pitchFamily="18" charset="0"/>
              </a:rPr>
              <a:t> et al. (2011), Graphic Rating Scale is a scale that lists a number of traits and a range of performance for each. The employee is then rated by identifying the score that best describes his or her level of performance for each trait.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400800"/>
          </a:xfrm>
        </p:spPr>
        <p:txBody>
          <a:bodyPr>
            <a:normAutofit/>
          </a:bodyPr>
          <a:lstStyle/>
          <a:p>
            <a:pPr algn="just">
              <a:buNone/>
            </a:pPr>
            <a:r>
              <a:rPr lang="en-US" b="1" i="1" dirty="0">
                <a:latin typeface="Times New Roman" pitchFamily="18" charset="0"/>
                <a:cs typeface="Times New Roman" pitchFamily="18" charset="0"/>
              </a:rPr>
              <a:t>3. Critical Incident Method</a:t>
            </a:r>
          </a:p>
          <a:p>
            <a:pPr algn="just">
              <a:buNone/>
            </a:pPr>
            <a:r>
              <a:rPr lang="en-US" b="1" i="1" dirty="0">
                <a:latin typeface="Times New Roman" pitchFamily="18" charset="0"/>
                <a:cs typeface="Times New Roman" pitchFamily="18" charset="0"/>
              </a:rPr>
              <a:t>	</a:t>
            </a:r>
            <a:r>
              <a:rPr lang="en-US" dirty="0">
                <a:latin typeface="Times New Roman" pitchFamily="18" charset="0"/>
                <a:cs typeface="Times New Roman" pitchFamily="18" charset="0"/>
              </a:rPr>
              <a:t> </a:t>
            </a:r>
            <a:r>
              <a:rPr lang="en-US" sz="2800" dirty="0">
                <a:latin typeface="Times New Roman" pitchFamily="18" charset="0"/>
                <a:cs typeface="Times New Roman" pitchFamily="18" charset="0"/>
              </a:rPr>
              <a:t>According to </a:t>
            </a:r>
            <a:r>
              <a:rPr lang="en-US" sz="2800" dirty="0" err="1">
                <a:latin typeface="Times New Roman" pitchFamily="18" charset="0"/>
                <a:cs typeface="Times New Roman" pitchFamily="18" charset="0"/>
              </a:rPr>
              <a:t>Dessler</a:t>
            </a:r>
            <a:r>
              <a:rPr lang="en-US" sz="2800" dirty="0">
                <a:latin typeface="Times New Roman" pitchFamily="18" charset="0"/>
                <a:cs typeface="Times New Roman" pitchFamily="18" charset="0"/>
              </a:rPr>
              <a:t> et. al.(2011),Critical Incident method is keeping a record of uncommonly good or undesirable examples of an employee’s work related behavior and reviewing it with the employee at predetermined times.</a:t>
            </a:r>
            <a:endParaRPr lang="en-US" dirty="0">
              <a:latin typeface="Times New Roman" pitchFamily="18" charset="0"/>
              <a:cs typeface="Times New Roman" pitchFamily="18" charset="0"/>
            </a:endParaRPr>
          </a:p>
          <a:p>
            <a:pPr algn="just">
              <a:buNone/>
            </a:pPr>
            <a:r>
              <a:rPr lang="en-US" dirty="0">
                <a:latin typeface="Times New Roman" pitchFamily="18" charset="0"/>
                <a:cs typeface="Times New Roman" pitchFamily="18" charset="0"/>
              </a:rPr>
              <a:t>4. </a:t>
            </a:r>
            <a:r>
              <a:rPr lang="en-US" b="1" i="1" dirty="0">
                <a:latin typeface="Times New Roman" pitchFamily="18" charset="0"/>
                <a:cs typeface="Times New Roman" pitchFamily="18" charset="0"/>
              </a:rPr>
              <a:t>Narrative Essays : </a:t>
            </a:r>
          </a:p>
          <a:p>
            <a:pPr algn="just">
              <a:buNone/>
            </a:pPr>
            <a:r>
              <a:rPr lang="en-US" dirty="0">
                <a:latin typeface="Times New Roman" pitchFamily="18" charset="0"/>
                <a:cs typeface="Times New Roman" pitchFamily="18" charset="0"/>
              </a:rPr>
              <a:t>	</a:t>
            </a:r>
            <a:r>
              <a:rPr lang="en-US" sz="2800" dirty="0">
                <a:latin typeface="Times New Roman" pitchFamily="18" charset="0"/>
                <a:cs typeface="Times New Roman" pitchFamily="18" charset="0"/>
              </a:rPr>
              <a:t>This technique mainly attempt to focus on behavior. Evaluator writes an explanation about employee’s strength and weakness points, previous performance, positional and suggestion for his (her) improvement at the end of evaluation time. </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172200"/>
          </a:xfrm>
        </p:spPr>
        <p:txBody>
          <a:bodyPr>
            <a:normAutofit fontScale="92500"/>
          </a:bodyPr>
          <a:lstStyle/>
          <a:p>
            <a:pPr algn="just">
              <a:buNone/>
            </a:pPr>
            <a:r>
              <a:rPr lang="en-US" b="1" i="1" dirty="0">
                <a:latin typeface="Times New Roman" pitchFamily="18" charset="0"/>
                <a:cs typeface="Times New Roman" pitchFamily="18" charset="0"/>
              </a:rPr>
              <a:t>1. Management by Objectives:</a:t>
            </a:r>
          </a:p>
          <a:p>
            <a:pPr algn="just">
              <a:buNone/>
            </a:pPr>
            <a:r>
              <a:rPr lang="en-US" b="1" i="1" dirty="0">
                <a:latin typeface="Times New Roman" pitchFamily="18" charset="0"/>
                <a:cs typeface="Times New Roman" pitchFamily="18" charset="0"/>
              </a:rPr>
              <a:t>	</a:t>
            </a:r>
            <a:r>
              <a:rPr lang="en-US" sz="3000" dirty="0">
                <a:latin typeface="Times New Roman" pitchFamily="18" charset="0"/>
                <a:cs typeface="Times New Roman" pitchFamily="18" charset="0"/>
              </a:rPr>
              <a:t>Management by objectives (MBO) is the appraisal method where managers and employees together identify, plan, organize, and communicate objectives to focus on during a specific appraisal period.</a:t>
            </a:r>
            <a:endParaRPr lang="en-US" dirty="0">
              <a:latin typeface="Times New Roman" pitchFamily="18" charset="0"/>
              <a:cs typeface="Times New Roman" pitchFamily="18" charset="0"/>
            </a:endParaRPr>
          </a:p>
          <a:p>
            <a:pPr algn="just">
              <a:buNone/>
            </a:pPr>
            <a:r>
              <a:rPr lang="en-US" b="1" i="1" dirty="0">
                <a:latin typeface="Times New Roman" pitchFamily="18" charset="0"/>
                <a:cs typeface="Times New Roman" pitchFamily="18" charset="0"/>
              </a:rPr>
              <a:t>2. Behaviorally Anchored Rating Scale (BARS) :</a:t>
            </a:r>
          </a:p>
          <a:p>
            <a:pPr algn="just">
              <a:buNone/>
            </a:pPr>
            <a:r>
              <a:rPr lang="en-US" b="1" i="1" dirty="0">
                <a:latin typeface="Times New Roman" pitchFamily="18" charset="0"/>
                <a:cs typeface="Times New Roman" pitchFamily="18" charset="0"/>
              </a:rPr>
              <a:t>	 </a:t>
            </a:r>
            <a:r>
              <a:rPr lang="en-US" sz="3000" dirty="0">
                <a:latin typeface="Times New Roman" pitchFamily="18" charset="0"/>
                <a:cs typeface="Times New Roman" pitchFamily="18" charset="0"/>
              </a:rPr>
              <a:t>Behavioral anchor scales are more informative than simple numbers. BARS is a tool for evaluating employees in a defined set of performance dimensions by comparing their behaviors with specific behavior examples that anchor each performance level, usually on a five-, seven- or nine-point scale.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686800" cy="6324600"/>
          </a:xfrm>
        </p:spPr>
        <p:txBody>
          <a:bodyPr/>
          <a:lstStyle/>
          <a:p>
            <a:pPr>
              <a:buNone/>
            </a:pPr>
            <a:endParaRPr lang="en-US" b="1" i="1" dirty="0">
              <a:latin typeface="Times New Roman" pitchFamily="18" charset="0"/>
              <a:cs typeface="Times New Roman" pitchFamily="18" charset="0"/>
            </a:endParaRPr>
          </a:p>
          <a:p>
            <a:pPr>
              <a:buNone/>
            </a:pPr>
            <a:r>
              <a:rPr lang="en-US" b="1" i="1" dirty="0">
                <a:latin typeface="Times New Roman" pitchFamily="18" charset="0"/>
                <a:cs typeface="Times New Roman" pitchFamily="18" charset="0"/>
              </a:rPr>
              <a:t>3. Humans Resource Accounting :</a:t>
            </a:r>
          </a:p>
          <a:p>
            <a:pPr algn="just">
              <a:buNone/>
            </a:pPr>
            <a:r>
              <a:rPr lang="en-US" dirty="0">
                <a:latin typeface="Times New Roman" pitchFamily="18" charset="0"/>
                <a:cs typeface="Times New Roman" pitchFamily="18" charset="0"/>
              </a:rPr>
              <a:t>		</a:t>
            </a:r>
            <a:r>
              <a:rPr lang="en-US" sz="2800" dirty="0">
                <a:latin typeface="Times New Roman" pitchFamily="18" charset="0"/>
                <a:cs typeface="Times New Roman" pitchFamily="18" charset="0"/>
              </a:rPr>
              <a:t>HRA is the process of Assigning, budgeting, and reporting the cost of human resources incurred in an organization, including wages and salaries and training expenses. </a:t>
            </a:r>
          </a:p>
          <a:p>
            <a:pPr algn="just">
              <a:buNone/>
            </a:pPr>
            <a:r>
              <a:rPr lang="en-US" sz="2800" dirty="0">
                <a:latin typeface="Times New Roman" pitchFamily="18" charset="0"/>
                <a:cs typeface="Times New Roman" pitchFamily="18" charset="0"/>
              </a:rPr>
              <a:t>		It analyses an employee's performance through the monetary benefits he/she yields to the company. It is obtained by comparing the cost of retaining an employee (cost to company) and the monetary benefits (contributions) an organization has ascertained from that specific employee</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20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228600"/>
            <a:ext cx="8610600" cy="6400800"/>
          </a:xfrm>
        </p:spPr>
        <p:txBody>
          <a:bodyPr>
            <a:normAutofit/>
          </a:bodyPr>
          <a:lstStyle/>
          <a:p>
            <a:pPr algn="just">
              <a:buNone/>
            </a:pPr>
            <a:r>
              <a:rPr lang="en-US" b="1" i="1" dirty="0">
                <a:latin typeface="Times New Roman" pitchFamily="18" charset="0"/>
                <a:cs typeface="Times New Roman" pitchFamily="18" charset="0"/>
              </a:rPr>
              <a:t>4. Assessment Centers :</a:t>
            </a:r>
          </a:p>
          <a:p>
            <a:pPr algn="just">
              <a:buNone/>
            </a:pPr>
            <a:r>
              <a:rPr lang="en-US" b="1" dirty="0">
                <a:latin typeface="Times New Roman" pitchFamily="18" charset="0"/>
                <a:cs typeface="Times New Roman" pitchFamily="18" charset="0"/>
              </a:rPr>
              <a:t>	</a:t>
            </a:r>
            <a:r>
              <a:rPr lang="en-US" sz="3000" dirty="0">
                <a:latin typeface="Times New Roman" pitchFamily="18" charset="0"/>
                <a:cs typeface="Times New Roman" pitchFamily="18" charset="0"/>
              </a:rPr>
              <a:t>Under this an employee  is evaluated on critical competencies necessary for their job using job-related simulations and exercises. </a:t>
            </a:r>
            <a:endParaRPr lang="en-US" dirty="0">
              <a:latin typeface="Times New Roman" pitchFamily="18" charset="0"/>
              <a:cs typeface="Times New Roman" pitchFamily="18" charset="0"/>
            </a:endParaRPr>
          </a:p>
          <a:p>
            <a:pPr algn="just">
              <a:buNone/>
            </a:pPr>
            <a:r>
              <a:rPr lang="en-US" b="1" i="1" dirty="0">
                <a:latin typeface="Times New Roman" pitchFamily="18" charset="0"/>
                <a:cs typeface="Times New Roman" pitchFamily="18" charset="0"/>
              </a:rPr>
              <a:t>5. 360 Degree : </a:t>
            </a:r>
          </a:p>
          <a:p>
            <a:pPr algn="just">
              <a:buNone/>
            </a:pPr>
            <a:r>
              <a:rPr lang="en-US" b="1" i="1" dirty="0">
                <a:latin typeface="Times New Roman" pitchFamily="18" charset="0"/>
                <a:cs typeface="Times New Roman" pitchFamily="18" charset="0"/>
              </a:rPr>
              <a:t>	</a:t>
            </a:r>
            <a:r>
              <a:rPr lang="en-US" sz="2800" dirty="0">
                <a:latin typeface="Times New Roman" pitchFamily="18" charset="0"/>
                <a:cs typeface="Times New Roman" pitchFamily="18" charset="0"/>
              </a:rPr>
              <a:t>It involves evaluation input from multiple levels within the firm as well as external sources.360 Degree feedback relies on the input of an employee’s superior, colleagues, subordinates, sometimes customers, suppliers and/or spouses.</a:t>
            </a:r>
          </a:p>
          <a:p>
            <a:pPr algn="just">
              <a:buNone/>
            </a:pPr>
            <a:r>
              <a:rPr lang="en-US" sz="2800" dirty="0">
                <a:latin typeface="Times New Roman" pitchFamily="18" charset="0"/>
                <a:cs typeface="Times New Roman" pitchFamily="18" charset="0"/>
              </a:rPr>
              <a:t>	It provides people with information about the effect of their action on others in the workplace</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pPr algn="l"/>
            <a:r>
              <a:rPr lang="en-IN" sz="3600" b="1" dirty="0">
                <a:solidFill>
                  <a:srgbClr val="FF0000"/>
                </a:solidFill>
                <a:latin typeface="Times New Roman" pitchFamily="18" charset="0"/>
                <a:cs typeface="Times New Roman" pitchFamily="18" charset="0"/>
              </a:rPr>
              <a:t>Future of Performance Management</a:t>
            </a: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1371600"/>
            <a:ext cx="8610600" cy="5181600"/>
          </a:xfrm>
        </p:spPr>
        <p:txBody>
          <a:bodyPr>
            <a:normAutofit/>
          </a:bodyPr>
          <a:lstStyle/>
          <a:p>
            <a:pPr algn="just">
              <a:buFont typeface="Wingdings" pitchFamily="2" charset="2"/>
              <a:buChar char="ü"/>
            </a:pPr>
            <a:r>
              <a:rPr lang="en-US" dirty="0">
                <a:latin typeface="Times New Roman" pitchFamily="18" charset="0"/>
                <a:cs typeface="Times New Roman" pitchFamily="18" charset="0"/>
              </a:rPr>
              <a:t>The end of the annual review ( Continuous Performance Reviews Are the New Normal).</a:t>
            </a:r>
          </a:p>
          <a:p>
            <a:pPr algn="just">
              <a:buFont typeface="Wingdings" pitchFamily="2" charset="2"/>
              <a:buChar char="ü"/>
            </a:pPr>
            <a:r>
              <a:rPr lang="en-US" dirty="0">
                <a:latin typeface="Times New Roman" pitchFamily="18" charset="0"/>
                <a:cs typeface="Times New Roman" pitchFamily="18" charset="0"/>
              </a:rPr>
              <a:t>The future lies in tech (AI-Powered Performance Insights &amp; Predictive Analytics).</a:t>
            </a:r>
          </a:p>
          <a:p>
            <a:pPr algn="just">
              <a:buFont typeface="Wingdings" pitchFamily="2" charset="2"/>
              <a:buChar char="ü"/>
            </a:pPr>
            <a:r>
              <a:rPr lang="en-US" dirty="0">
                <a:latin typeface="Times New Roman" pitchFamily="18" charset="0"/>
                <a:cs typeface="Times New Roman" pitchFamily="18" charset="0"/>
              </a:rPr>
              <a:t>An equitable system.</a:t>
            </a:r>
          </a:p>
          <a:p>
            <a:pPr algn="just">
              <a:buFont typeface="Wingdings" pitchFamily="2" charset="2"/>
              <a:buChar char="ü"/>
            </a:pPr>
            <a:r>
              <a:rPr lang="en-US" dirty="0">
                <a:latin typeface="Times New Roman" pitchFamily="18" charset="0"/>
                <a:cs typeface="Times New Roman" pitchFamily="18" charset="0"/>
              </a:rPr>
              <a:t>Linking Performance with Well-Being.</a:t>
            </a:r>
          </a:p>
          <a:p>
            <a:pPr algn="just">
              <a:buFont typeface="Wingdings" pitchFamily="2" charset="2"/>
              <a:buChar char="ü"/>
            </a:pPr>
            <a:r>
              <a:rPr lang="en-US" dirty="0">
                <a:latin typeface="Times New Roman" pitchFamily="18" charset="0"/>
                <a:cs typeface="Times New Roman" pitchFamily="18" charset="0"/>
              </a:rPr>
              <a:t>Transparent &amp; Data-Driven Evaluation Systems.</a:t>
            </a:r>
          </a:p>
          <a:p>
            <a:pPr algn="just">
              <a:buFont typeface="Wingdings" pitchFamily="2" charset="2"/>
              <a:buChar char="ü"/>
            </a:pPr>
            <a:r>
              <a:rPr lang="en-US" dirty="0">
                <a:latin typeface="Times New Roman" pitchFamily="18" charset="0"/>
                <a:cs typeface="Times New Roman" pitchFamily="18" charset="0"/>
              </a:rPr>
              <a:t>Multi-Dimensional Feedback: 360° Is Here to Stay.</a:t>
            </a:r>
          </a:p>
          <a:p>
            <a:pPr>
              <a:buNone/>
            </a:pPr>
            <a:endParaRPr lang="en-US" dirty="0"/>
          </a:p>
          <a:p>
            <a:pPr>
              <a:buNone/>
            </a:pPr>
            <a:endParaRPr lang="en-US" b="1" dirty="0"/>
          </a:p>
          <a:p>
            <a:pPr>
              <a:buNone/>
            </a:pPr>
            <a:endParaRPr lang="en-US" dirty="0"/>
          </a:p>
          <a:p>
            <a:pPr>
              <a:buNone/>
            </a:pPr>
            <a:endParaRPr lang="en-US" dirty="0"/>
          </a:p>
          <a:p>
            <a:pPr>
              <a:buNone/>
            </a:pPr>
            <a:endParaRPr lang="en-US" b="1" dirty="0"/>
          </a:p>
          <a:p>
            <a:pPr>
              <a:buNone/>
            </a:pPr>
            <a:endParaRPr lang="en-US" b="1" dirty="0"/>
          </a:p>
          <a:p>
            <a:pPr>
              <a:buNone/>
            </a:pPr>
            <a:endParaRPr lang="en-US" b="1" dirty="0"/>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28601"/>
            <a:ext cx="7772400" cy="1066800"/>
          </a:xfrm>
        </p:spPr>
        <p:txBody>
          <a:bodyPr>
            <a:normAutofit fontScale="90000"/>
          </a:bodyPr>
          <a:lstStyle/>
          <a:p>
            <a:r>
              <a:rPr lang="en-US" sz="7200" dirty="0">
                <a:solidFill>
                  <a:srgbClr val="FF0000"/>
                </a:solidFill>
                <a:latin typeface="Times New Roman" pitchFamily="18" charset="0"/>
                <a:cs typeface="Times New Roman" pitchFamily="18" charset="0"/>
              </a:rPr>
              <a:t>Industrial Relations</a:t>
            </a:r>
            <a:endParaRPr lang="en-US" sz="7200" dirty="0">
              <a:solidFill>
                <a:srgbClr val="FF0000"/>
              </a:solidFill>
              <a:latin typeface="Times New Roman" pitchFamily="18" charset="0"/>
              <a:cs typeface="Times New Roman" pitchFamily="18" charset="0"/>
            </a:endParaRPr>
          </a:p>
        </p:txBody>
      </p:sp>
      <p:sp>
        <p:nvSpPr>
          <p:cNvPr id="3" name="Subtitle 2"/>
          <p:cNvSpPr>
            <a:spLocks noGrp="1"/>
          </p:cNvSpPr>
          <p:nvPr>
            <p:ph type="subTitle" idx="1"/>
          </p:nvPr>
        </p:nvSpPr>
        <p:spPr>
          <a:xfrm>
            <a:off x="533400" y="1600200"/>
            <a:ext cx="8153400" cy="4648200"/>
          </a:xfrm>
        </p:spPr>
        <p:txBody>
          <a:bodyPr/>
          <a:lstStyle/>
          <a:p>
            <a:pPr algn="just"/>
            <a:r>
              <a:rPr lang="en-US" dirty="0">
                <a:solidFill>
                  <a:schemeClr val="tx1"/>
                </a:solidFill>
                <a:latin typeface="Times New Roman" pitchFamily="18" charset="0"/>
                <a:cs typeface="Times New Roman" pitchFamily="18" charset="0"/>
              </a:rPr>
              <a:t>Decent Workplace, International Labor </a:t>
            </a:r>
            <a:r>
              <a:rPr lang="en-US" dirty="0" err="1">
                <a:solidFill>
                  <a:schemeClr val="tx1"/>
                </a:solidFill>
                <a:latin typeface="Times New Roman" pitchFamily="18" charset="0"/>
                <a:cs typeface="Times New Roman" pitchFamily="18" charset="0"/>
              </a:rPr>
              <a:t>Organisation</a:t>
            </a:r>
            <a:r>
              <a:rPr lang="en-US" dirty="0">
                <a:solidFill>
                  <a:schemeClr val="tx1"/>
                </a:solidFill>
                <a:latin typeface="Times New Roman" pitchFamily="18" charset="0"/>
                <a:cs typeface="Times New Roman" pitchFamily="18" charset="0"/>
              </a:rPr>
              <a:t>, Industrial Relations, The Objectives of Industrial Relations, Approaches of Industrial Relations Systems, The Actors in Industrial Relations, Indian Context, Industrial Relations and Human Resource Management.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pPr algn="l"/>
            <a:r>
              <a:rPr lang="en-US" dirty="0">
                <a:solidFill>
                  <a:srgbClr val="FF0000"/>
                </a:solidFill>
                <a:latin typeface="Times New Roman" pitchFamily="18" charset="0"/>
                <a:cs typeface="Times New Roman" pitchFamily="18" charset="0"/>
              </a:rPr>
              <a:t>Decent Work</a:t>
            </a:r>
            <a:endParaRPr lang="en-US"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990600"/>
            <a:ext cx="8229600" cy="5638800"/>
          </a:xfrm>
        </p:spPr>
        <p:txBody>
          <a:bodyPr>
            <a:normAutofit fontScale="92500"/>
          </a:bodyPr>
          <a:lstStyle/>
          <a:p>
            <a:pPr algn="just">
              <a:buNone/>
            </a:pPr>
            <a:r>
              <a:rPr lang="en-US" dirty="0"/>
              <a:t>		</a:t>
            </a:r>
            <a:r>
              <a:rPr lang="en-US" sz="2800" dirty="0">
                <a:latin typeface="Times New Roman" pitchFamily="18" charset="0"/>
                <a:cs typeface="Times New Roman" pitchFamily="18" charset="0"/>
              </a:rPr>
              <a:t>As per ILO </a:t>
            </a:r>
            <a:r>
              <a:rPr lang="en-US" sz="2800" b="1" u="sng" dirty="0">
                <a:latin typeface="Times New Roman" pitchFamily="18" charset="0"/>
                <a:cs typeface="Times New Roman" pitchFamily="18" charset="0"/>
              </a:rPr>
              <a:t>Decent work </a:t>
            </a:r>
            <a:r>
              <a:rPr lang="en-US" sz="2800" dirty="0">
                <a:latin typeface="Times New Roman" pitchFamily="18" charset="0"/>
                <a:cs typeface="Times New Roman" pitchFamily="18" charset="0"/>
              </a:rPr>
              <a:t>sums up the aspirations of people in their working lives. It involves :</a:t>
            </a:r>
          </a:p>
          <a:p>
            <a:pPr algn="just">
              <a:buNone/>
            </a:pPr>
            <a:endParaRPr lang="en-US" sz="2800" dirty="0">
              <a:latin typeface="Times New Roman" pitchFamily="18" charset="0"/>
              <a:cs typeface="Times New Roman" pitchFamily="18" charset="0"/>
            </a:endParaRPr>
          </a:p>
          <a:p>
            <a:pPr algn="just">
              <a:buNone/>
            </a:pPr>
            <a:r>
              <a:rPr lang="en-US" sz="2800" dirty="0">
                <a:latin typeface="Times New Roman" pitchFamily="18" charset="0"/>
                <a:cs typeface="Times New Roman" pitchFamily="18" charset="0"/>
              </a:rPr>
              <a:t>1.Opportunities for work that is productive and delivers a fair income.</a:t>
            </a:r>
          </a:p>
          <a:p>
            <a:pPr algn="just">
              <a:buNone/>
            </a:pPr>
            <a:r>
              <a:rPr lang="en-US" sz="2800" dirty="0">
                <a:latin typeface="Times New Roman" pitchFamily="18" charset="0"/>
                <a:cs typeface="Times New Roman" pitchFamily="18" charset="0"/>
              </a:rPr>
              <a:t>2. Security in the workplace and social protection for all.</a:t>
            </a:r>
          </a:p>
          <a:p>
            <a:pPr algn="just">
              <a:buNone/>
            </a:pPr>
            <a:r>
              <a:rPr lang="en-US" sz="2800" dirty="0">
                <a:latin typeface="Times New Roman" pitchFamily="18" charset="0"/>
                <a:cs typeface="Times New Roman" pitchFamily="18" charset="0"/>
              </a:rPr>
              <a:t>3.Better prospects for personal development and social integration.</a:t>
            </a:r>
          </a:p>
          <a:p>
            <a:pPr algn="just">
              <a:buNone/>
            </a:pPr>
            <a:r>
              <a:rPr lang="en-US" sz="2800" dirty="0">
                <a:latin typeface="Times New Roman" pitchFamily="18" charset="0"/>
                <a:cs typeface="Times New Roman" pitchFamily="18" charset="0"/>
              </a:rPr>
              <a:t>4.Freedom for people to express their concerns, organize and participate in the decisions that affect their lives.</a:t>
            </a:r>
          </a:p>
          <a:p>
            <a:pPr algn="just">
              <a:buNone/>
            </a:pPr>
            <a:r>
              <a:rPr lang="en-US" sz="2800" dirty="0">
                <a:latin typeface="Times New Roman" pitchFamily="18" charset="0"/>
                <a:cs typeface="Times New Roman" pitchFamily="18" charset="0"/>
              </a:rPr>
              <a:t>5.Equality of opportunity and treatment for all women and men.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10600" cy="868362"/>
          </a:xfrm>
        </p:spPr>
        <p:txBody>
          <a:bodyPr>
            <a:noAutofit/>
          </a:bodyPr>
          <a:lstStyle/>
          <a:p>
            <a:pPr algn="l"/>
            <a:r>
              <a:rPr lang="en-US" sz="3600" dirty="0">
                <a:solidFill>
                  <a:srgbClr val="FF0000"/>
                </a:solidFill>
                <a:latin typeface="Times New Roman" pitchFamily="18" charset="0"/>
                <a:cs typeface="Times New Roman" pitchFamily="18" charset="0"/>
              </a:rPr>
              <a:t>The International </a:t>
            </a:r>
            <a:r>
              <a:rPr lang="en-US" sz="3600" dirty="0" err="1">
                <a:solidFill>
                  <a:srgbClr val="FF0000"/>
                </a:solidFill>
                <a:latin typeface="Times New Roman" pitchFamily="18" charset="0"/>
                <a:cs typeface="Times New Roman" pitchFamily="18" charset="0"/>
              </a:rPr>
              <a:t>Labour</a:t>
            </a:r>
            <a:r>
              <a:rPr lang="en-US" sz="3600" dirty="0">
                <a:solidFill>
                  <a:srgbClr val="FF0000"/>
                </a:solidFill>
                <a:latin typeface="Times New Roman" pitchFamily="18" charset="0"/>
                <a:cs typeface="Times New Roman" pitchFamily="18" charset="0"/>
              </a:rPr>
              <a:t> Organization (ILO)</a:t>
            </a:r>
            <a:endParaRPr lang="en-US" sz="36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304800" y="1295400"/>
            <a:ext cx="8610600" cy="5334000"/>
          </a:xfrm>
        </p:spPr>
        <p:txBody>
          <a:bodyPr>
            <a:normAutofit/>
          </a:bodyPr>
          <a:lstStyle/>
          <a:p>
            <a:pPr algn="just">
              <a:buNone/>
            </a:pPr>
            <a:r>
              <a:rPr lang="en-US" sz="2800" dirty="0">
                <a:latin typeface="Times New Roman" pitchFamily="18" charset="0"/>
                <a:cs typeface="Times New Roman" pitchFamily="18" charset="0"/>
              </a:rPr>
              <a:t>		The International </a:t>
            </a:r>
            <a:r>
              <a:rPr lang="en-US" sz="2800" dirty="0" err="1">
                <a:latin typeface="Times New Roman" pitchFamily="18" charset="0"/>
                <a:cs typeface="Times New Roman" pitchFamily="18" charset="0"/>
              </a:rPr>
              <a:t>Labour</a:t>
            </a:r>
            <a:r>
              <a:rPr lang="en-US" sz="2800" dirty="0">
                <a:latin typeface="Times New Roman" pitchFamily="18" charset="0"/>
                <a:cs typeface="Times New Roman" pitchFamily="18" charset="0"/>
              </a:rPr>
              <a:t> Organization (ILO) is devoted to promoting social justice and internationally recognized human and </a:t>
            </a:r>
            <a:r>
              <a:rPr lang="en-US" sz="2800" dirty="0" err="1">
                <a:latin typeface="Times New Roman" pitchFamily="18" charset="0"/>
                <a:cs typeface="Times New Roman" pitchFamily="18" charset="0"/>
              </a:rPr>
              <a:t>labour</a:t>
            </a:r>
            <a:r>
              <a:rPr lang="en-US" sz="2800" dirty="0">
                <a:latin typeface="Times New Roman" pitchFamily="18" charset="0"/>
                <a:cs typeface="Times New Roman" pitchFamily="18" charset="0"/>
              </a:rPr>
              <a:t> rights, pursuing its founding mission that social justice is essential to universal and lasting peace.</a:t>
            </a:r>
          </a:p>
          <a:p>
            <a:pPr algn="just">
              <a:buNone/>
            </a:pPr>
            <a:r>
              <a:rPr lang="en-US" sz="2800" dirty="0">
                <a:latin typeface="Times New Roman" pitchFamily="18" charset="0"/>
                <a:cs typeface="Times New Roman" pitchFamily="18" charset="0"/>
              </a:rPr>
              <a:t>		The only tripartite U.N. agency, since 1919 the ILO brings together governments, employers and workers of </a:t>
            </a:r>
            <a:r>
              <a:rPr lang="en-US" sz="2800" dirty="0">
                <a:latin typeface="Times New Roman" pitchFamily="18" charset="0"/>
                <a:cs typeface="Times New Roman" pitchFamily="18" charset="0"/>
                <a:hlinkClick r:id="rcId147b3cc3b72f435d"/>
              </a:rPr>
              <a:t>187 Member States</a:t>
            </a:r>
            <a:r>
              <a:rPr lang="en-US" sz="2800" dirty="0">
                <a:latin typeface="Times New Roman" pitchFamily="18" charset="0"/>
                <a:cs typeface="Times New Roman" pitchFamily="18" charset="0"/>
              </a:rPr>
              <a:t>, to set </a:t>
            </a:r>
            <a:r>
              <a:rPr lang="en-US" sz="2800" dirty="0" err="1">
                <a:latin typeface="Times New Roman" pitchFamily="18" charset="0"/>
                <a:cs typeface="Times New Roman" pitchFamily="18" charset="0"/>
              </a:rPr>
              <a:t>labour</a:t>
            </a:r>
            <a:r>
              <a:rPr lang="en-US" sz="2800" dirty="0">
                <a:latin typeface="Times New Roman" pitchFamily="18" charset="0"/>
                <a:cs typeface="Times New Roman" pitchFamily="18" charset="0"/>
              </a:rPr>
              <a:t> standards, develop policies and devise </a:t>
            </a:r>
            <a:r>
              <a:rPr lang="en-US" sz="2800" dirty="0" err="1">
                <a:latin typeface="Times New Roman" pitchFamily="18" charset="0"/>
                <a:cs typeface="Times New Roman" pitchFamily="18" charset="0"/>
              </a:rPr>
              <a:t>programmes</a:t>
            </a:r>
            <a:r>
              <a:rPr lang="en-US" sz="2800" dirty="0">
                <a:latin typeface="Times New Roman" pitchFamily="18" charset="0"/>
                <a:cs typeface="Times New Roman" pitchFamily="18" charset="0"/>
              </a:rPr>
              <a:t> promoting decent work for all women and men.</a:t>
            </a:r>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pPr algn="l"/>
            <a:r>
              <a:rPr lang="en-IN" dirty="0">
                <a:solidFill>
                  <a:srgbClr val="FF0000"/>
                </a:solidFill>
                <a:latin typeface="Times New Roman" pitchFamily="18" charset="0"/>
                <a:cs typeface="Times New Roman" pitchFamily="18" charset="0"/>
              </a:rPr>
              <a:t>ILO : Objectives</a:t>
            </a:r>
            <a:endParaRPr lang="en-US"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410200"/>
          </a:xfrm>
        </p:spPr>
        <p:txBody>
          <a:bodyPr>
            <a:normAutofit fontScale="85000" lnSpcReduction="20000"/>
          </a:bodyPr>
          <a:lstStyle/>
          <a:p>
            <a:pPr algn="just">
              <a:buNone/>
            </a:pPr>
            <a:r>
              <a:rPr lang="en-US" dirty="0"/>
              <a:t>		</a:t>
            </a:r>
            <a:r>
              <a:rPr lang="en-US" dirty="0">
                <a:latin typeface="Times New Roman" pitchFamily="18" charset="0"/>
                <a:cs typeface="Times New Roman" pitchFamily="18" charset="0"/>
              </a:rPr>
              <a:t>The ILO is a meeting point for governments, workers and employers of ILO’s member States to set </a:t>
            </a:r>
            <a:r>
              <a:rPr lang="en-US" dirty="0" err="1">
                <a:latin typeface="Times New Roman" pitchFamily="18" charset="0"/>
                <a:cs typeface="Times New Roman" pitchFamily="18" charset="0"/>
              </a:rPr>
              <a:t>labour</a:t>
            </a:r>
            <a:r>
              <a:rPr lang="en-US" dirty="0">
                <a:latin typeface="Times New Roman" pitchFamily="18" charset="0"/>
                <a:cs typeface="Times New Roman" pitchFamily="18" charset="0"/>
              </a:rPr>
              <a:t> standards, improve upon policies and create programs that promote decent work for people. The four strategic objectives at the heart of the Decent Work agenda are:</a:t>
            </a:r>
          </a:p>
          <a:p>
            <a:pPr algn="just">
              <a:buFont typeface="Wingdings" pitchFamily="2" charset="2"/>
              <a:buChar char="ü"/>
            </a:pPr>
            <a:r>
              <a:rPr lang="en-US" dirty="0">
                <a:latin typeface="Times New Roman" pitchFamily="18" charset="0"/>
                <a:cs typeface="Times New Roman" pitchFamily="18" charset="0"/>
              </a:rPr>
              <a:t>To develop and effectuate standards, fundamental principles, and fundamental rights at work.</a:t>
            </a:r>
          </a:p>
          <a:p>
            <a:pPr algn="just">
              <a:buFont typeface="Wingdings" pitchFamily="2" charset="2"/>
              <a:buChar char="ü"/>
            </a:pPr>
            <a:r>
              <a:rPr lang="en-US" dirty="0">
                <a:latin typeface="Times New Roman" pitchFamily="18" charset="0"/>
                <a:cs typeface="Times New Roman" pitchFamily="18" charset="0"/>
              </a:rPr>
              <a:t>To ensure that men and women have equal access to decent work while enhancing opportunities for the same.</a:t>
            </a:r>
          </a:p>
          <a:p>
            <a:pPr algn="just">
              <a:buFont typeface="Wingdings" pitchFamily="2" charset="2"/>
              <a:buChar char="ü"/>
            </a:pPr>
            <a:r>
              <a:rPr lang="en-US" dirty="0">
                <a:latin typeface="Times New Roman" pitchFamily="18" charset="0"/>
                <a:cs typeface="Times New Roman" pitchFamily="18" charset="0"/>
              </a:rPr>
              <a:t>To magnify the coverage and effectiveness of social protection for everyone.</a:t>
            </a:r>
          </a:p>
          <a:p>
            <a:pPr algn="just">
              <a:buFont typeface="Wingdings" pitchFamily="2" charset="2"/>
              <a:buChar char="ü"/>
            </a:pPr>
            <a:r>
              <a:rPr lang="en-US" dirty="0">
                <a:latin typeface="Times New Roman" pitchFamily="18" charset="0"/>
                <a:cs typeface="Times New Roman" pitchFamily="18" charset="0"/>
              </a:rPr>
              <a:t>To strengthen </a:t>
            </a:r>
            <a:r>
              <a:rPr lang="en-US" dirty="0" err="1">
                <a:latin typeface="Times New Roman" pitchFamily="18" charset="0"/>
                <a:cs typeface="Times New Roman" pitchFamily="18" charset="0"/>
              </a:rPr>
              <a:t>Tripartism</a:t>
            </a:r>
            <a:r>
              <a:rPr lang="en-US" dirty="0">
                <a:latin typeface="Times New Roman" pitchFamily="18" charset="0"/>
                <a:cs typeface="Times New Roman" pitchFamily="18" charset="0"/>
              </a:rPr>
              <a:t> and social dialogue.</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pPr algn="l"/>
            <a:r>
              <a:rPr lang="en-US" dirty="0">
                <a:solidFill>
                  <a:srgbClr val="FF0000"/>
                </a:solidFill>
                <a:latin typeface="Times New Roman" pitchFamily="18" charset="0"/>
                <a:cs typeface="Times New Roman" pitchFamily="18" charset="0"/>
              </a:rPr>
              <a:t>MEANING </a:t>
            </a:r>
            <a:endParaRPr lang="en-US"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5562600"/>
          </a:xfrm>
        </p:spPr>
        <p:txBody>
          <a:bodyPr>
            <a:normAutofit/>
          </a:bodyPr>
          <a:lstStyle/>
          <a:p>
            <a:pPr algn="just">
              <a:buNone/>
            </a:pPr>
            <a:r>
              <a:rPr lang="en-US" dirty="0"/>
              <a:t>		</a:t>
            </a:r>
            <a:r>
              <a:rPr lang="en-US" sz="2400" dirty="0">
                <a:latin typeface="Times New Roman" pitchFamily="18" charset="0"/>
                <a:cs typeface="Times New Roman" pitchFamily="18" charset="0"/>
              </a:rPr>
              <a:t>It is in the interest of everyone to create and maintain good relations between Employees and Employees.</a:t>
            </a:r>
          </a:p>
          <a:p>
            <a:pPr algn="just">
              <a:buNone/>
            </a:pPr>
            <a:r>
              <a:rPr lang="en-US" sz="2400" dirty="0">
                <a:latin typeface="Times New Roman" pitchFamily="18" charset="0"/>
                <a:cs typeface="Times New Roman" pitchFamily="18" charset="0"/>
              </a:rPr>
              <a:t>		According to </a:t>
            </a:r>
            <a:r>
              <a:rPr lang="en-US" sz="2400" i="1" dirty="0">
                <a:solidFill>
                  <a:srgbClr val="FF0000"/>
                </a:solidFill>
                <a:latin typeface="Times New Roman" pitchFamily="18" charset="0"/>
                <a:cs typeface="Times New Roman" pitchFamily="18" charset="0"/>
              </a:rPr>
              <a:t>Dale Yoder</a:t>
            </a:r>
            <a:r>
              <a:rPr lang="en-US" sz="2400" dirty="0">
                <a:latin typeface="Times New Roman" pitchFamily="18" charset="0"/>
                <a:cs typeface="Times New Roman" pitchFamily="18" charset="0"/>
              </a:rPr>
              <a:t>, “ IR refers to  the </a:t>
            </a:r>
            <a:r>
              <a:rPr lang="en-US" sz="2400" i="1" dirty="0">
                <a:latin typeface="Times New Roman" pitchFamily="18" charset="0"/>
                <a:cs typeface="Times New Roman" pitchFamily="18" charset="0"/>
              </a:rPr>
              <a:t>relationship between management and employees or among employees</a:t>
            </a:r>
            <a:r>
              <a:rPr lang="en-US" sz="2400" dirty="0">
                <a:latin typeface="Times New Roman" pitchFamily="18" charset="0"/>
                <a:cs typeface="Times New Roman" pitchFamily="18" charset="0"/>
              </a:rPr>
              <a:t> and their organization that arise out of employment”.</a:t>
            </a:r>
          </a:p>
          <a:p>
            <a:pPr algn="just">
              <a:buNone/>
            </a:pPr>
            <a:endParaRPr lang="en-US" sz="2400" dirty="0">
              <a:latin typeface="Times New Roman" pitchFamily="18" charset="0"/>
              <a:cs typeface="Times New Roman" pitchFamily="18" charset="0"/>
            </a:endParaRPr>
          </a:p>
          <a:p>
            <a:pPr algn="just">
              <a:buNone/>
            </a:pPr>
            <a:r>
              <a:rPr lang="en-US" sz="2400" dirty="0">
                <a:latin typeface="Times New Roman" pitchFamily="18" charset="0"/>
                <a:cs typeface="Times New Roman" pitchFamily="18" charset="0"/>
              </a:rPr>
              <a:t>		</a:t>
            </a:r>
            <a:r>
              <a:rPr lang="en-US" sz="2400" dirty="0">
                <a:solidFill>
                  <a:srgbClr val="FF0000"/>
                </a:solidFill>
                <a:latin typeface="Times New Roman" pitchFamily="18" charset="0"/>
                <a:cs typeface="Times New Roman" pitchFamily="18" charset="0"/>
              </a:rPr>
              <a:t>Actors/Parties to Industrial Relations : </a:t>
            </a:r>
          </a:p>
          <a:p>
            <a:pPr marL="514350" indent="-514350" algn="just">
              <a:buAutoNum type="arabicPeriod"/>
            </a:pPr>
            <a:r>
              <a:rPr lang="en-US" sz="2400" dirty="0">
                <a:latin typeface="Times New Roman" pitchFamily="18" charset="0"/>
                <a:cs typeface="Times New Roman" pitchFamily="18" charset="0"/>
              </a:rPr>
              <a:t>Employers and their Organization.</a:t>
            </a:r>
          </a:p>
          <a:p>
            <a:pPr marL="514350" indent="-514350" algn="just">
              <a:buAutoNum type="arabicPeriod"/>
            </a:pPr>
            <a:r>
              <a:rPr lang="en-US" sz="2400" dirty="0">
                <a:latin typeface="Times New Roman" pitchFamily="18" charset="0"/>
                <a:cs typeface="Times New Roman" pitchFamily="18" charset="0"/>
              </a:rPr>
              <a:t> Employees and their Organization.</a:t>
            </a:r>
          </a:p>
          <a:p>
            <a:pPr marL="514350" indent="-514350" algn="just">
              <a:buFont typeface="Arial" pitchFamily="34" charset="0"/>
              <a:buAutoNum type="arabicPeriod"/>
            </a:pPr>
            <a:r>
              <a:rPr lang="en-IN" sz="2400" dirty="0">
                <a:latin typeface="Times New Roman" pitchFamily="18" charset="0"/>
                <a:cs typeface="Times New Roman" pitchFamily="18" charset="0"/>
              </a:rPr>
              <a:t>Trade Union.</a:t>
            </a:r>
          </a:p>
          <a:p>
            <a:pPr marL="514350" indent="-514350" algn="just">
              <a:buFont typeface="Arial" pitchFamily="34" charset="0"/>
              <a:buAutoNum type="arabicPeriod"/>
            </a:pPr>
            <a:r>
              <a:rPr lang="en-US" sz="2400" dirty="0">
                <a:latin typeface="Times New Roman" pitchFamily="18" charset="0"/>
                <a:cs typeface="Times New Roman" pitchFamily="18" charset="0"/>
              </a:rPr>
              <a:t>Government (to protect the interest of both parties).</a:t>
            </a:r>
          </a:p>
          <a:p>
            <a:pPr marL="514350" indent="-514350" algn="just">
              <a:buNone/>
            </a:pPr>
            <a:endParaRPr lang="en-US" sz="2400" dirty="0">
              <a:latin typeface="Times New Roman" pitchFamily="18" charset="0"/>
              <a:cs typeface="Times New Roman" pitchFamily="18" charset="0"/>
            </a:endParaRPr>
          </a:p>
          <a:p>
            <a:pPr marL="514350" indent="-514350" algn="just">
              <a:buAutoNum type="arabicPeriod"/>
            </a:pPr>
            <a:endParaRPr lang="en-US" sz="2400" dirty="0">
              <a:latin typeface="Times New Roman" pitchFamily="18" charset="0"/>
              <a:cs typeface="Times New Roman" pitchFamily="18" charset="0"/>
            </a:endParaRPr>
          </a:p>
          <a:p>
            <a:pPr marL="514350" indent="-514350" algn="just">
              <a:buAutoNum type="arabicPeriod"/>
            </a:pP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20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pPr algn="l"/>
            <a:r>
              <a:rPr lang="en-US" dirty="0">
                <a:solidFill>
                  <a:srgbClr val="FF0000"/>
                </a:solidFill>
                <a:latin typeface="Times New Roman" pitchFamily="18" charset="0"/>
                <a:cs typeface="Times New Roman" pitchFamily="18" charset="0"/>
              </a:rPr>
              <a:t>Objectives of IR : </a:t>
            </a:r>
            <a:endParaRPr lang="en-US"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5410200"/>
          </a:xfrm>
        </p:spPr>
        <p:txBody>
          <a:bodyPr>
            <a:normAutofit fontScale="85000" lnSpcReduction="20000"/>
          </a:bodyPr>
          <a:lstStyle/>
          <a:p>
            <a:pPr marL="514350" indent="-514350" algn="just">
              <a:buAutoNum type="arabicPeriod"/>
            </a:pPr>
            <a:r>
              <a:rPr lang="en-US" dirty="0">
                <a:latin typeface="Times New Roman" pitchFamily="18" charset="0"/>
                <a:cs typeface="Times New Roman" pitchFamily="18" charset="0"/>
              </a:rPr>
              <a:t>To safeguard the interest of </a:t>
            </a:r>
            <a:r>
              <a:rPr lang="en-US" dirty="0" err="1">
                <a:latin typeface="Times New Roman" pitchFamily="18" charset="0"/>
                <a:cs typeface="Times New Roman" pitchFamily="18" charset="0"/>
              </a:rPr>
              <a:t>labour</a:t>
            </a:r>
            <a:r>
              <a:rPr lang="en-US" dirty="0">
                <a:latin typeface="Times New Roman" pitchFamily="18" charset="0"/>
                <a:cs typeface="Times New Roman" pitchFamily="18" charset="0"/>
              </a:rPr>
              <a:t> as well as management.</a:t>
            </a:r>
          </a:p>
          <a:p>
            <a:pPr marL="514350" indent="-514350" algn="just">
              <a:buAutoNum type="arabicPeriod"/>
            </a:pPr>
            <a:r>
              <a:rPr lang="en-US" dirty="0">
                <a:latin typeface="Times New Roman" pitchFamily="18" charset="0"/>
                <a:cs typeface="Times New Roman" pitchFamily="18" charset="0"/>
              </a:rPr>
              <a:t>To raise productivity to the higher level.</a:t>
            </a:r>
          </a:p>
          <a:p>
            <a:pPr marL="514350" indent="-514350" algn="just">
              <a:buAutoNum type="arabicPeriod"/>
            </a:pPr>
            <a:r>
              <a:rPr lang="en-US" dirty="0">
                <a:latin typeface="Times New Roman" pitchFamily="18" charset="0"/>
                <a:cs typeface="Times New Roman" pitchFamily="18" charset="0"/>
              </a:rPr>
              <a:t>To ensure industrial peace by eliminating the industrial disputes.</a:t>
            </a:r>
          </a:p>
          <a:p>
            <a:pPr marL="514350" indent="-514350" algn="just">
              <a:buAutoNum type="arabicPeriod"/>
            </a:pPr>
            <a:r>
              <a:rPr lang="en-US" dirty="0">
                <a:latin typeface="Times New Roman" pitchFamily="18" charset="0"/>
                <a:cs typeface="Times New Roman" pitchFamily="18" charset="0"/>
              </a:rPr>
              <a:t>To establish and maintain the industrial democracy by WPM.</a:t>
            </a:r>
          </a:p>
          <a:p>
            <a:pPr marL="514350" indent="-514350" algn="just">
              <a:buAutoNum type="arabicPeriod"/>
            </a:pPr>
            <a:r>
              <a:rPr lang="en-US" dirty="0">
                <a:latin typeface="Times New Roman" pitchFamily="18" charset="0"/>
                <a:cs typeface="Times New Roman" pitchFamily="18" charset="0"/>
              </a:rPr>
              <a:t>To reduce the </a:t>
            </a:r>
            <a:r>
              <a:rPr lang="en-US" dirty="0" err="1">
                <a:latin typeface="Times New Roman" pitchFamily="18" charset="0"/>
                <a:cs typeface="Times New Roman" pitchFamily="18" charset="0"/>
              </a:rPr>
              <a:t>labour</a:t>
            </a:r>
            <a:r>
              <a:rPr lang="en-US" dirty="0">
                <a:latin typeface="Times New Roman" pitchFamily="18" charset="0"/>
                <a:cs typeface="Times New Roman" pitchFamily="18" charset="0"/>
              </a:rPr>
              <a:t> turnover and absenteeism by providing Job Satisfaction.</a:t>
            </a:r>
          </a:p>
          <a:p>
            <a:pPr marL="514350" indent="-514350" algn="just">
              <a:buAutoNum type="arabicPeriod"/>
            </a:pPr>
            <a:r>
              <a:rPr lang="en-US" dirty="0">
                <a:latin typeface="Times New Roman" pitchFamily="18" charset="0"/>
                <a:cs typeface="Times New Roman" pitchFamily="18" charset="0"/>
              </a:rPr>
              <a:t>To eliminate the Strikes, Lockouts, </a:t>
            </a:r>
            <a:r>
              <a:rPr lang="en-US" dirty="0" err="1">
                <a:latin typeface="Times New Roman" pitchFamily="18" charset="0"/>
                <a:cs typeface="Times New Roman" pitchFamily="18" charset="0"/>
              </a:rPr>
              <a:t>Gheraos</a:t>
            </a:r>
            <a:r>
              <a:rPr lang="en-US" dirty="0">
                <a:latin typeface="Times New Roman" pitchFamily="18" charset="0"/>
                <a:cs typeface="Times New Roman" pitchFamily="18" charset="0"/>
              </a:rPr>
              <a:t> etc by ensuring reasonable Wages and Fringe benefits.</a:t>
            </a:r>
          </a:p>
          <a:p>
            <a:pPr marL="514350" indent="-514350" algn="just">
              <a:buAutoNum type="arabicPeriod"/>
            </a:pPr>
            <a:r>
              <a:rPr lang="en-US" dirty="0">
                <a:latin typeface="Times New Roman" pitchFamily="18" charset="0"/>
                <a:cs typeface="Times New Roman" pitchFamily="18" charset="0"/>
              </a:rPr>
              <a:t>To encourage and develop the Trade Union .</a:t>
            </a:r>
          </a:p>
          <a:p>
            <a:pPr marL="514350" indent="-514350" algn="just">
              <a:buAutoNum type="arabicPeriod"/>
            </a:pPr>
            <a:r>
              <a:rPr lang="en-US" dirty="0">
                <a:latin typeface="Times New Roman" pitchFamily="18" charset="0"/>
                <a:cs typeface="Times New Roman" pitchFamily="18" charset="0"/>
              </a:rPr>
              <a:t>To ensure a healthy and balanced social life.</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pPr algn="l"/>
            <a:r>
              <a:rPr lang="en-US" dirty="0">
                <a:solidFill>
                  <a:srgbClr val="FF0000"/>
                </a:solidFill>
                <a:latin typeface="Times New Roman" pitchFamily="18" charset="0"/>
                <a:cs typeface="Times New Roman" pitchFamily="18" charset="0"/>
              </a:rPr>
              <a:t>HRM And Industrial Relations</a:t>
            </a:r>
            <a:endParaRPr lang="en-US" dirty="0">
              <a:solidFill>
                <a:srgbClr val="FF0000"/>
              </a:solidFill>
              <a:latin typeface="Times New Roman" pitchFamily="18" charset="0"/>
              <a:cs typeface="Times New Roman" pitchFamily="18" charset="0"/>
            </a:endParaRPr>
          </a:p>
        </p:txBody>
      </p:sp>
      <p:pic>
        <p:nvPicPr>
          <p:cNvPr id="4" name="Content Placeholder 3" descr="IR vs HRM.jpg"/>
          <p:cNvPicPr>
            <a:picLocks noGrp="1" noChangeAspect="1"/>
          </p:cNvPicPr>
          <p:nvPr>
            <p:ph idx="1"/>
          </p:nvPr>
        </p:nvPicPr>
        <p:blipFill>
          <a:blip r:embed="Re1625662c55841a0"/>
          <a:stretch>
            <a:fillRect/>
          </a:stretch>
        </p:blipFill>
        <p:spPr>
          <a:xfrm>
            <a:off x="228600" y="1066800"/>
            <a:ext cx="8686800" cy="5638800"/>
          </a:xfr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Times New Roman" pitchFamily="18" charset="0"/>
                <a:cs typeface="Times New Roman" pitchFamily="18" charset="0"/>
              </a:rPr>
              <a:t>Approaches to Industrial Relations</a:t>
            </a:r>
            <a:endParaRPr lang="en-US"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lgn="just">
              <a:buNone/>
            </a:pPr>
            <a:r>
              <a:rPr lang="en-US" dirty="0"/>
              <a:t>		</a:t>
            </a:r>
            <a:r>
              <a:rPr lang="en-US" dirty="0">
                <a:latin typeface="Times New Roman" pitchFamily="18" charset="0"/>
                <a:cs typeface="Times New Roman" pitchFamily="18" charset="0"/>
              </a:rPr>
              <a:t>The four popular approaches to industrial relations are :</a:t>
            </a:r>
          </a:p>
          <a:p>
            <a:pPr algn="just">
              <a:buNone/>
            </a:pPr>
            <a:r>
              <a:rPr lang="en-US" dirty="0">
                <a:latin typeface="Times New Roman" pitchFamily="18" charset="0"/>
                <a:cs typeface="Times New Roman" pitchFamily="18" charset="0"/>
              </a:rPr>
              <a:t>1.  The Unitary Approach.</a:t>
            </a:r>
          </a:p>
          <a:p>
            <a:pPr algn="just">
              <a:buNone/>
            </a:pPr>
            <a:r>
              <a:rPr lang="en-US" dirty="0">
                <a:latin typeface="Times New Roman" pitchFamily="18" charset="0"/>
                <a:cs typeface="Times New Roman" pitchFamily="18" charset="0"/>
              </a:rPr>
              <a:t>2.  Pluralistic Approach. </a:t>
            </a:r>
          </a:p>
          <a:p>
            <a:pPr marL="514350" indent="-514350" algn="just">
              <a:buAutoNum type="arabicPeriod" startAt="3"/>
            </a:pPr>
            <a:r>
              <a:rPr lang="en-US" dirty="0">
                <a:latin typeface="Times New Roman" pitchFamily="18" charset="0"/>
                <a:cs typeface="Times New Roman" pitchFamily="18" charset="0"/>
              </a:rPr>
              <a:t>Marxist/ Radical Approach.</a:t>
            </a:r>
          </a:p>
          <a:p>
            <a:pPr marL="514350" indent="-514350" algn="just">
              <a:buAutoNum type="arabicPeriod" startAt="3"/>
            </a:pPr>
            <a:r>
              <a:rPr lang="en-US" dirty="0">
                <a:latin typeface="Times New Roman" pitchFamily="18" charset="0"/>
                <a:cs typeface="Times New Roman" pitchFamily="18" charset="0"/>
              </a:rPr>
              <a:t>System Approach</a:t>
            </a:r>
            <a:r>
              <a:rPr lang="en-US" dirty="0"/>
              <a:t>.</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pPr algn="l"/>
            <a:r>
              <a:rPr lang="en-US" dirty="0">
                <a:solidFill>
                  <a:srgbClr val="FF0000"/>
                </a:solidFill>
                <a:latin typeface="Times New Roman" pitchFamily="18" charset="0"/>
                <a:cs typeface="Times New Roman" pitchFamily="18" charset="0"/>
              </a:rPr>
              <a:t>1. The Unitary Approach</a:t>
            </a:r>
            <a:endParaRPr lang="en-US" dirty="0">
              <a:solidFill>
                <a:srgbClr val="FF0000"/>
              </a:solidFill>
            </a:endParaRPr>
          </a:p>
        </p:txBody>
      </p:sp>
      <p:sp>
        <p:nvSpPr>
          <p:cNvPr id="3" name="Content Placeholder 2"/>
          <p:cNvSpPr>
            <a:spLocks noGrp="1"/>
          </p:cNvSpPr>
          <p:nvPr>
            <p:ph idx="1"/>
          </p:nvPr>
        </p:nvSpPr>
        <p:spPr>
          <a:xfrm>
            <a:off x="457200" y="1219200"/>
            <a:ext cx="8229600" cy="4906963"/>
          </a:xfrm>
        </p:spPr>
        <p:txBody>
          <a:bodyPr>
            <a:normAutofit fontScale="92500" lnSpcReduction="10000"/>
          </a:bodyPr>
          <a:lstStyle/>
          <a:p>
            <a:pPr algn="just">
              <a:buNone/>
            </a:pPr>
            <a:r>
              <a:rPr lang="en-US" dirty="0"/>
              <a:t>		</a:t>
            </a:r>
            <a:r>
              <a:rPr lang="en-US" dirty="0">
                <a:latin typeface="Times New Roman" pitchFamily="18" charset="0"/>
                <a:cs typeface="Times New Roman" pitchFamily="18" charset="0"/>
              </a:rPr>
              <a:t>Unitary Perspective of Industrial Relations views the industrial organization as an entity unified by one aim, and that is success. In </a:t>
            </a:r>
            <a:r>
              <a:rPr lang="en-US" dirty="0" err="1">
                <a:latin typeface="Times New Roman" pitchFamily="18" charset="0"/>
                <a:cs typeface="Times New Roman" pitchFamily="18" charset="0"/>
              </a:rPr>
              <a:t>unitarism</a:t>
            </a:r>
            <a:r>
              <a:rPr lang="en-US" dirty="0">
                <a:latin typeface="Times New Roman" pitchFamily="18" charset="0"/>
                <a:cs typeface="Times New Roman" pitchFamily="18" charset="0"/>
              </a:rPr>
              <a:t>, the organization is perceived as an integrated and harmonious system, </a:t>
            </a:r>
            <a:r>
              <a:rPr lang="en-US" i="1" dirty="0">
                <a:solidFill>
                  <a:srgbClr val="FF0000"/>
                </a:solidFill>
                <a:latin typeface="Times New Roman" pitchFamily="18" charset="0"/>
                <a:cs typeface="Times New Roman" pitchFamily="18" charset="0"/>
              </a:rPr>
              <a:t>viewed as one happy family.</a:t>
            </a:r>
          </a:p>
          <a:p>
            <a:pPr algn="just">
              <a:buNone/>
            </a:pPr>
            <a:r>
              <a:rPr lang="en-US" dirty="0">
                <a:latin typeface="Times New Roman" pitchFamily="18" charset="0"/>
                <a:cs typeface="Times New Roman" pitchFamily="18" charset="0"/>
              </a:rPr>
              <a:t>		As per this approach, Management reserve the right to manage and take decisions. And it is considered as legitimate, rational and accepted. And opposition to decision is considered as irrational. </a:t>
            </a:r>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pPr algn="l"/>
            <a:r>
              <a:rPr lang="en-US" dirty="0">
                <a:latin typeface="Times New Roman" pitchFamily="18" charset="0"/>
                <a:cs typeface="Times New Roman" pitchFamily="18" charset="0"/>
              </a:rPr>
              <a:t/>
            </a:r>
            <a:br>
              <a:rPr lang="en-US" dirty="0">
                <a:latin typeface="Times New Roman" pitchFamily="18" charset="0"/>
                <a:cs typeface="Times New Roman" pitchFamily="18" charset="0"/>
              </a:rPr>
            </a:br>
            <a:r>
              <a:rPr lang="en-US" dirty="0">
                <a:solidFill>
                  <a:srgbClr val="FF0000"/>
                </a:solidFill>
                <a:latin typeface="Times New Roman" pitchFamily="18" charset="0"/>
                <a:cs typeface="Times New Roman" pitchFamily="18" charset="0"/>
              </a:rPr>
              <a:t>2.  Pluralistic Approach</a:t>
            </a:r>
            <a:r>
              <a:rPr lang="en-US" dirty="0">
                <a:latin typeface="Times New Roman" pitchFamily="18" charset="0"/>
                <a:cs typeface="Times New Roman" pitchFamily="18" charset="0"/>
              </a:rPr>
              <a:t/>
            </a:r>
            <a:br>
              <a:rPr lang="en-US" dirty="0">
                <a:latin typeface="Times New Roman" pitchFamily="18" charset="0"/>
                <a:cs typeface="Times New Roman" pitchFamily="18" charset="0"/>
              </a:rPr>
            </a:br>
            <a:endParaRPr lang="en-US" dirty="0"/>
          </a:p>
        </p:txBody>
      </p:sp>
      <p:sp>
        <p:nvSpPr>
          <p:cNvPr id="3" name="Content Placeholder 2"/>
          <p:cNvSpPr>
            <a:spLocks noGrp="1"/>
          </p:cNvSpPr>
          <p:nvPr>
            <p:ph idx="1"/>
          </p:nvPr>
        </p:nvSpPr>
        <p:spPr>
          <a:xfrm>
            <a:off x="457200" y="1143000"/>
            <a:ext cx="8229600" cy="5486400"/>
          </a:xfrm>
        </p:spPr>
        <p:txBody>
          <a:bodyPr>
            <a:normAutofit fontScale="92500" lnSpcReduction="10000"/>
          </a:bodyPr>
          <a:lstStyle/>
          <a:p>
            <a:pPr algn="just">
              <a:buNone/>
            </a:pPr>
            <a:r>
              <a:rPr lang="en-US" dirty="0"/>
              <a:t>		</a:t>
            </a:r>
            <a:r>
              <a:rPr lang="en-US" dirty="0">
                <a:latin typeface="Times New Roman" pitchFamily="18" charset="0"/>
                <a:cs typeface="Times New Roman" pitchFamily="18" charset="0"/>
              </a:rPr>
              <a:t>This approach perceives organization as a coalition of competing interest between management and different groups, trade unions as legitimate representative of employee's interests and stability in Industrial Relation as the product of concessions and compromises between management and workers.</a:t>
            </a:r>
          </a:p>
          <a:p>
            <a:pPr algn="just">
              <a:buNone/>
            </a:pPr>
            <a:r>
              <a:rPr lang="en-US" dirty="0">
                <a:latin typeface="Times New Roman" pitchFamily="18" charset="0"/>
                <a:cs typeface="Times New Roman" pitchFamily="18" charset="0"/>
              </a:rPr>
              <a:t>		This approach believes that trade unions are legitimate representatives of employee interest and management authority is nor automatically accepted.</a:t>
            </a:r>
          </a:p>
          <a:p>
            <a:pPr algn="just">
              <a:buNone/>
            </a:pPr>
            <a:r>
              <a:rPr lang="en-US" dirty="0">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pPr algn="l"/>
            <a:r>
              <a:rPr lang="en-US" dirty="0">
                <a:solidFill>
                  <a:srgbClr val="FF0000"/>
                </a:solidFill>
                <a:latin typeface="Times New Roman" pitchFamily="18" charset="0"/>
                <a:cs typeface="Times New Roman" pitchFamily="18" charset="0"/>
              </a:rPr>
              <a:t>3. Marxist/ Radical Approach</a:t>
            </a:r>
            <a:endParaRPr lang="en-US" dirty="0">
              <a:solidFill>
                <a:srgbClr val="FF0000"/>
              </a:solidFill>
            </a:endParaRPr>
          </a:p>
        </p:txBody>
      </p:sp>
      <p:sp>
        <p:nvSpPr>
          <p:cNvPr id="3" name="Content Placeholder 2"/>
          <p:cNvSpPr>
            <a:spLocks noGrp="1"/>
          </p:cNvSpPr>
          <p:nvPr>
            <p:ph idx="1"/>
          </p:nvPr>
        </p:nvSpPr>
        <p:spPr>
          <a:xfrm>
            <a:off x="457200" y="1066800"/>
            <a:ext cx="8229600" cy="5486400"/>
          </a:xfrm>
        </p:spPr>
        <p:txBody>
          <a:bodyPr>
            <a:normAutofit/>
          </a:bodyPr>
          <a:lstStyle/>
          <a:p>
            <a:pPr algn="just">
              <a:buNone/>
            </a:pPr>
            <a:r>
              <a:rPr lang="en-US" dirty="0"/>
              <a:t>		</a:t>
            </a:r>
            <a:r>
              <a:rPr lang="en-US" dirty="0">
                <a:latin typeface="Times New Roman" pitchFamily="18" charset="0"/>
                <a:cs typeface="Times New Roman" pitchFamily="18" charset="0"/>
              </a:rPr>
              <a:t>Marxist approach is based on the proposition that the economic activities of production, manufacturing, and distribution are majorly governed by the objective of profit. </a:t>
            </a:r>
          </a:p>
          <a:p>
            <a:pPr algn="just">
              <a:buNone/>
            </a:pPr>
            <a:r>
              <a:rPr lang="en-US" dirty="0">
                <a:latin typeface="Times New Roman" pitchFamily="18" charset="0"/>
                <a:cs typeface="Times New Roman" pitchFamily="18" charset="0"/>
              </a:rPr>
              <a:t>		It also regard that conflict between employers and employees as inevitable.</a:t>
            </a:r>
          </a:p>
          <a:p>
            <a:pPr algn="just">
              <a:buNone/>
            </a:pPr>
            <a:r>
              <a:rPr lang="en-US" dirty="0">
                <a:latin typeface="Times New Roman" pitchFamily="18" charset="0"/>
                <a:cs typeface="Times New Roman" pitchFamily="18" charset="0"/>
              </a:rPr>
              <a:t>		This approach is based on the class conflict between have and have </a:t>
            </a:r>
            <a:r>
              <a:rPr lang="en-US" dirty="0" err="1">
                <a:latin typeface="Times New Roman" pitchFamily="18" charset="0"/>
                <a:cs typeface="Times New Roman" pitchFamily="18" charset="0"/>
              </a:rPr>
              <a:t>nots</a:t>
            </a:r>
            <a:r>
              <a:rPr lang="en-US" dirty="0">
                <a:latin typeface="Times New Roman" pitchFamily="18" charset="0"/>
                <a:cs typeface="Times New Roman" pitchFamily="18" charset="0"/>
              </a:rPr>
              <a:t>, controlled and controller, exploiter and exploited.</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pPr algn="l"/>
            <a:r>
              <a:rPr lang="en-US" dirty="0">
                <a:solidFill>
                  <a:srgbClr val="FF0000"/>
                </a:solidFill>
                <a:latin typeface="Times New Roman" pitchFamily="18" charset="0"/>
                <a:cs typeface="Times New Roman" pitchFamily="18" charset="0"/>
              </a:rPr>
              <a:t>4. System Approach</a:t>
            </a:r>
            <a:endParaRPr lang="en-US" dirty="0">
              <a:solidFill>
                <a:srgbClr val="FF0000"/>
              </a:solidFill>
            </a:endParaRPr>
          </a:p>
        </p:txBody>
      </p:sp>
      <p:sp>
        <p:nvSpPr>
          <p:cNvPr id="3" name="Content Placeholder 2"/>
          <p:cNvSpPr>
            <a:spLocks noGrp="1"/>
          </p:cNvSpPr>
          <p:nvPr>
            <p:ph idx="1"/>
          </p:nvPr>
        </p:nvSpPr>
        <p:spPr>
          <a:xfrm>
            <a:off x="457200" y="1143000"/>
            <a:ext cx="8229600" cy="5486400"/>
          </a:xfrm>
        </p:spPr>
        <p:txBody>
          <a:bodyPr>
            <a:normAutofit lnSpcReduction="10000"/>
          </a:bodyPr>
          <a:lstStyle/>
          <a:p>
            <a:pPr algn="just">
              <a:buNone/>
            </a:pPr>
            <a:r>
              <a:rPr lang="en-US" dirty="0"/>
              <a:t>		</a:t>
            </a:r>
            <a:r>
              <a:rPr lang="en-US" dirty="0">
                <a:latin typeface="Times New Roman" pitchFamily="18" charset="0"/>
                <a:cs typeface="Times New Roman" pitchFamily="18" charset="0"/>
              </a:rPr>
              <a:t>As for this , individuals are part of an ongoing but independent social system. The </a:t>
            </a:r>
            <a:r>
              <a:rPr lang="en-US" dirty="0" err="1">
                <a:latin typeface="Times New Roman" pitchFamily="18" charset="0"/>
                <a:cs typeface="Times New Roman" pitchFamily="18" charset="0"/>
              </a:rPr>
              <a:t>behaviour</a:t>
            </a:r>
            <a:r>
              <a:rPr lang="en-US" dirty="0">
                <a:latin typeface="Times New Roman" pitchFamily="18" charset="0"/>
                <a:cs typeface="Times New Roman" pitchFamily="18" charset="0"/>
              </a:rPr>
              <a:t>, actions and role of the individuals are shaped by the cultures of the society.</a:t>
            </a:r>
          </a:p>
          <a:p>
            <a:pPr algn="just">
              <a:buNone/>
            </a:pPr>
            <a:r>
              <a:rPr lang="en-US" dirty="0">
                <a:latin typeface="Times New Roman" pitchFamily="18" charset="0"/>
                <a:cs typeface="Times New Roman" pitchFamily="18" charset="0"/>
              </a:rPr>
              <a:t>        As per this, IR system defines, at any one time in its development is regarded as comprised of certain actors, certain contexts and an ideology that finds the IR </a:t>
            </a:r>
            <a:r>
              <a:rPr lang="en-US">
                <a:latin typeface="Times New Roman" pitchFamily="18" charset="0"/>
                <a:cs typeface="Times New Roman" pitchFamily="18" charset="0"/>
              </a:rPr>
              <a:t>system together, </a:t>
            </a:r>
            <a:r>
              <a:rPr lang="en-US" dirty="0">
                <a:latin typeface="Times New Roman" pitchFamily="18" charset="0"/>
                <a:cs typeface="Times New Roman" pitchFamily="18" charset="0"/>
              </a:rPr>
              <a:t>and a body of rules created to govern the as actors at the workplace and the work community.</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1"/>
            <a:ext cx="7772400" cy="838200"/>
          </a:xfrm>
        </p:spPr>
        <p:txBody>
          <a:bodyPr/>
          <a:lstStyle/>
          <a:p>
            <a:r>
              <a:rPr lang="en-IN" dirty="0">
                <a:solidFill>
                  <a:srgbClr val="FF0000"/>
                </a:solidFill>
                <a:latin typeface="Times New Roman" pitchFamily="18" charset="0"/>
                <a:cs typeface="Times New Roman" pitchFamily="18" charset="0"/>
              </a:rPr>
              <a:t>Module IV</a:t>
            </a:r>
            <a:endParaRPr lang="en-US" dirty="0">
              <a:solidFill>
                <a:srgbClr val="FF0000"/>
              </a:solidFill>
              <a:latin typeface="Times New Roman" pitchFamily="18" charset="0"/>
              <a:cs typeface="Times New Roman" pitchFamily="18" charset="0"/>
            </a:endParaRPr>
          </a:p>
        </p:txBody>
      </p:sp>
      <p:sp>
        <p:nvSpPr>
          <p:cNvPr id="3" name="Subtitle 2"/>
          <p:cNvSpPr>
            <a:spLocks noGrp="1"/>
          </p:cNvSpPr>
          <p:nvPr>
            <p:ph type="subTitle" idx="1"/>
          </p:nvPr>
        </p:nvSpPr>
        <p:spPr>
          <a:xfrm>
            <a:off x="457200" y="1066800"/>
            <a:ext cx="8305800" cy="5486400"/>
          </a:xfrm>
        </p:spPr>
        <p:txBody>
          <a:bodyPr>
            <a:noAutofit/>
          </a:bodyPr>
          <a:lstStyle/>
          <a:p>
            <a:pPr algn="just"/>
            <a:r>
              <a:rPr lang="en-US" sz="2400" b="1" dirty="0">
                <a:solidFill>
                  <a:schemeClr val="tx1"/>
                </a:solidFill>
                <a:latin typeface="Times New Roman" pitchFamily="18" charset="0"/>
                <a:cs typeface="Times New Roman" pitchFamily="18" charset="0"/>
              </a:rPr>
              <a:t>Human Resource Management in Small and Medium Enterprises: </a:t>
            </a:r>
            <a:r>
              <a:rPr lang="en-US" sz="2400" dirty="0">
                <a:solidFill>
                  <a:schemeClr val="tx1"/>
                </a:solidFill>
                <a:latin typeface="Times New Roman" pitchFamily="18" charset="0"/>
                <a:cs typeface="Times New Roman" pitchFamily="18" charset="0"/>
              </a:rPr>
              <a:t>Introduction to SMEs, The Difference in Adoption of Human Resource Management, SMEs and Large Firms, Indian Experience, Impact of Weak Adoption of Human Resource Management in SMEs,</a:t>
            </a:r>
          </a:p>
          <a:p>
            <a:pPr algn="just"/>
            <a:r>
              <a:rPr lang="en-US" sz="2400" b="1" dirty="0">
                <a:solidFill>
                  <a:schemeClr val="tx1"/>
                </a:solidFill>
                <a:latin typeface="Times New Roman" pitchFamily="18" charset="0"/>
                <a:cs typeface="Times New Roman" pitchFamily="18" charset="0"/>
              </a:rPr>
              <a:t>Human Resource Management in the Service Sector: </a:t>
            </a:r>
            <a:r>
              <a:rPr lang="en-US" sz="2400" dirty="0">
                <a:solidFill>
                  <a:schemeClr val="tx1"/>
                </a:solidFill>
                <a:latin typeface="Times New Roman" pitchFamily="18" charset="0"/>
                <a:cs typeface="Times New Roman" pitchFamily="18" charset="0"/>
              </a:rPr>
              <a:t>Introduction, The Emergence of the Services Sector, Implications for Human Resource, Management Function, Differences Between Services Sector and the Manufacturing Sector, Difference in Human Resource Management in Services and Manufacturing Sectors, Human Resource Management and Service Quality Correlation, Trade Unions in Services Sector, Models of Union Strategies.</a:t>
            </a:r>
            <a:endParaRPr lang="en-US" sz="2400"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3600" b="1" dirty="0">
                <a:solidFill>
                  <a:srgbClr val="FF0000"/>
                </a:solidFill>
                <a:latin typeface="Times New Roman" pitchFamily="18" charset="0"/>
                <a:cs typeface="Times New Roman" pitchFamily="18" charset="0"/>
              </a:rPr>
              <a:t>HRM in Small and Medium Enterprises</a:t>
            </a:r>
            <a:endParaRPr lang="en-US" sz="3600" dirty="0">
              <a:solidFill>
                <a:srgbClr val="FF0000"/>
              </a:solidFill>
            </a:endParaRPr>
          </a:p>
        </p:txBody>
      </p:sp>
      <p:sp>
        <p:nvSpPr>
          <p:cNvPr id="3" name="Content Placeholder 2"/>
          <p:cNvSpPr>
            <a:spLocks noGrp="1"/>
          </p:cNvSpPr>
          <p:nvPr>
            <p:ph idx="1"/>
          </p:nvPr>
        </p:nvSpPr>
        <p:spPr>
          <a:xfrm>
            <a:off x="457200" y="1219200"/>
            <a:ext cx="8382000" cy="5257800"/>
          </a:xfrm>
        </p:spPr>
        <p:txBody>
          <a:bodyPr/>
          <a:lstStyle/>
          <a:p>
            <a:pPr>
              <a:buNone/>
            </a:pPr>
            <a:r>
              <a:rPr lang="en-IN" dirty="0">
                <a:latin typeface="Times New Roman" pitchFamily="18" charset="0"/>
                <a:cs typeface="Times New Roman" pitchFamily="18" charset="0"/>
              </a:rPr>
              <a:t>What is MSM Enterprises ??</a:t>
            </a:r>
          </a:p>
          <a:p>
            <a:pPr>
              <a:buNone/>
            </a:pPr>
            <a:endParaRPr lang="en-IN" dirty="0"/>
          </a:p>
          <a:p>
            <a:pPr>
              <a:buNone/>
            </a:pPr>
            <a:endParaRPr lang="en-US" dirty="0"/>
          </a:p>
        </p:txBody>
      </p:sp>
      <p:graphicFrame>
        <p:nvGraphicFramePr>
          <p:cNvPr id="4" name="Table 3"/>
          <p:cNvGraphicFramePr>
            <a:graphicFrameLocks noGrp="1"/>
          </p:cNvGraphicFramePr>
          <p:nvPr/>
        </p:nvGraphicFramePr>
        <p:xfrm>
          <a:off x="533400" y="2286000"/>
          <a:ext cx="8229600" cy="3923557"/>
        </p:xfrm>
        <a:graphic>
          <a:graphicData uri="http://schemas.openxmlformats.org/drawingml/2006/table">
            <a:tbl>
              <a:tblPr firstRow="1" bandRow="1">
                <a:tableStyleId>{5C22544A-7EE6-4342-B048-85BDC9FD1C3A}</a:tableStyleId>
              </a:tblPr>
              <a:tblGrid>
                <a:gridCol w="2743200"/>
                <a:gridCol w="2743200"/>
                <a:gridCol w="2743200"/>
              </a:tblGrid>
              <a:tr h="906037">
                <a:tc>
                  <a:txBody>
                    <a:bodyPr/>
                    <a:lstStyle/>
                    <a:p>
                      <a:r>
                        <a:rPr lang="en-US" sz="2800" b="1" i="0" kern="1200" cap="all">
                          <a:solidFill>
                            <a:srgbClr val="FF0000"/>
                          </a:solidFill>
                          <a:latin typeface="Times New Roman" pitchFamily="18" charset="0"/>
                          <a:ea typeface="+mn-ea"/>
                          <a:cs typeface="Times New Roman" pitchFamily="18" charset="0"/>
                        </a:rPr>
                        <a:t>Micro </a:t>
                      </a:r>
                      <a:endParaRPr lang="en-US" sz="2800" dirty="0">
                        <a:solidFill>
                          <a:srgbClr val="FF0000"/>
                        </a:solidFill>
                        <a:latin typeface="Times New Roman" pitchFamily="18" charset="0"/>
                        <a:cs typeface="Times New Roman" pitchFamily="18" charset="0"/>
                      </a:endParaRPr>
                    </a:p>
                  </a:txBody>
                  <a:tcPr/>
                </a:tc>
                <a:tc>
                  <a:txBody>
                    <a:bodyPr/>
                    <a:lstStyle/>
                    <a:p>
                      <a:r>
                        <a:rPr lang="en-US" sz="2800" b="1" i="0" kern="1200" cap="all" dirty="0">
                          <a:solidFill>
                            <a:srgbClr val="FF0000"/>
                          </a:solidFill>
                          <a:latin typeface="Times New Roman" pitchFamily="18" charset="0"/>
                          <a:ea typeface="+mn-ea"/>
                          <a:cs typeface="Times New Roman" pitchFamily="18" charset="0"/>
                        </a:rPr>
                        <a:t>Small</a:t>
                      </a:r>
                      <a:endParaRPr lang="en-US" sz="2800" dirty="0">
                        <a:solidFill>
                          <a:srgbClr val="FF0000"/>
                        </a:solidFill>
                        <a:latin typeface="Times New Roman" pitchFamily="18" charset="0"/>
                        <a:cs typeface="Times New Roman" pitchFamily="18" charset="0"/>
                      </a:endParaRPr>
                    </a:p>
                  </a:txBody>
                  <a:tcPr/>
                </a:tc>
                <a:tc>
                  <a:txBody>
                    <a:bodyPr/>
                    <a:lstStyle/>
                    <a:p>
                      <a:pPr algn="l" fontAlgn="base"/>
                      <a:r>
                        <a:rPr lang="en-US" sz="2800" b="1" cap="all" dirty="0">
                          <a:solidFill>
                            <a:srgbClr val="FF0000"/>
                          </a:solidFill>
                          <a:latin typeface="Times New Roman" pitchFamily="18" charset="0"/>
                          <a:cs typeface="Times New Roman" pitchFamily="18" charset="0"/>
                        </a:rPr>
                        <a:t>Medium</a:t>
                      </a:r>
                      <a:endParaRPr lang="en-US" sz="2800" b="1" cap="all" dirty="0">
                        <a:solidFill>
                          <a:srgbClr val="FF0000"/>
                        </a:solidFill>
                        <a:latin typeface="Times New Roman" pitchFamily="18" charset="0"/>
                        <a:cs typeface="Times New Roman" pitchFamily="18" charset="0"/>
                      </a:endParaRPr>
                    </a:p>
                  </a:txBody>
                  <a:tcPr marL="95250" marR="95250" marT="95250" marB="95250"/>
                </a:tc>
              </a:tr>
              <a:tr h="2065763">
                <a:tc>
                  <a:txBody>
                    <a:bodyPr/>
                    <a:lstStyle/>
                    <a:p>
                      <a:r>
                        <a:rPr lang="en-US" sz="2400" b="0" i="0" kern="1200" dirty="0">
                          <a:solidFill>
                            <a:schemeClr val="dk1"/>
                          </a:solidFill>
                          <a:latin typeface="Times New Roman" pitchFamily="18" charset="0"/>
                          <a:ea typeface="+mn-ea"/>
                          <a:cs typeface="Times New Roman" pitchFamily="18" charset="0"/>
                        </a:rPr>
                        <a:t>Investment in Plant and Machinery or Equipment:</a:t>
                      </a:r>
                      <a:r>
                        <a:rPr lang="en-US" sz="2400" dirty="0">
                          <a:latin typeface="Times New Roman" pitchFamily="18" charset="0"/>
                          <a:cs typeface="Times New Roman" pitchFamily="18" charset="0"/>
                        </a:rPr>
                        <a:t/>
                      </a:r>
                      <a:br>
                        <a:rPr lang="en-US" sz="2400" dirty="0">
                          <a:latin typeface="Times New Roman" pitchFamily="18" charset="0"/>
                          <a:cs typeface="Times New Roman" pitchFamily="18" charset="0"/>
                        </a:rPr>
                      </a:br>
                      <a:r>
                        <a:rPr lang="en-US" sz="2400" b="0" i="0" kern="1200" dirty="0">
                          <a:solidFill>
                            <a:schemeClr val="dk1"/>
                          </a:solidFill>
                          <a:latin typeface="Times New Roman" pitchFamily="18" charset="0"/>
                          <a:ea typeface="+mn-ea"/>
                          <a:cs typeface="Times New Roman" pitchFamily="18" charset="0"/>
                        </a:rPr>
                        <a:t>Not more than Rs. 2.5 </a:t>
                      </a:r>
                      <a:r>
                        <a:rPr lang="en-US" sz="2400" b="0" i="0" kern="1200" dirty="0" err="1">
                          <a:solidFill>
                            <a:schemeClr val="dk1"/>
                          </a:solidFill>
                          <a:latin typeface="Times New Roman" pitchFamily="18" charset="0"/>
                          <a:ea typeface="+mn-ea"/>
                          <a:cs typeface="Times New Roman" pitchFamily="18" charset="0"/>
                        </a:rPr>
                        <a:t>crore</a:t>
                      </a:r>
                      <a:r>
                        <a:rPr lang="en-US" sz="2400" b="0" i="0" kern="1200" dirty="0">
                          <a:solidFill>
                            <a:schemeClr val="dk1"/>
                          </a:solidFill>
                          <a:latin typeface="Times New Roman" pitchFamily="18" charset="0"/>
                          <a:ea typeface="+mn-ea"/>
                          <a:cs typeface="Times New Roman" pitchFamily="18" charset="0"/>
                        </a:rPr>
                        <a:t> and Annual Turnover not more than Rs. 10 </a:t>
                      </a:r>
                      <a:r>
                        <a:rPr lang="en-US" sz="2400" b="0" i="0" kern="1200" dirty="0" err="1">
                          <a:solidFill>
                            <a:schemeClr val="dk1"/>
                          </a:solidFill>
                          <a:latin typeface="Times New Roman" pitchFamily="18" charset="0"/>
                          <a:ea typeface="+mn-ea"/>
                          <a:cs typeface="Times New Roman" pitchFamily="18" charset="0"/>
                        </a:rPr>
                        <a:t>crore</a:t>
                      </a:r>
                      <a:endParaRPr lang="en-US" sz="2400" dirty="0">
                        <a:latin typeface="Times New Roman" pitchFamily="18" charset="0"/>
                        <a:cs typeface="Times New Roman" pitchFamily="18" charset="0"/>
                      </a:endParaRPr>
                    </a:p>
                  </a:txBody>
                  <a:tcPr/>
                </a:tc>
                <a:tc>
                  <a:txBody>
                    <a:bodyPr/>
                    <a:lstStyle/>
                    <a:p>
                      <a:r>
                        <a:rPr lang="en-US" sz="2400" b="0" i="0" kern="1200" dirty="0">
                          <a:solidFill>
                            <a:schemeClr val="dk1"/>
                          </a:solidFill>
                          <a:latin typeface="Times New Roman" pitchFamily="18" charset="0"/>
                          <a:ea typeface="+mn-ea"/>
                          <a:cs typeface="Times New Roman" pitchFamily="18" charset="0"/>
                        </a:rPr>
                        <a:t>Investment in Plant and Machinery or Equipment:</a:t>
                      </a:r>
                      <a:r>
                        <a:rPr lang="en-US" sz="2400" dirty="0">
                          <a:latin typeface="Times New Roman" pitchFamily="18" charset="0"/>
                          <a:cs typeface="Times New Roman" pitchFamily="18" charset="0"/>
                        </a:rPr>
                        <a:t/>
                      </a:r>
                      <a:br>
                        <a:rPr lang="en-US" sz="2400" dirty="0">
                          <a:latin typeface="Times New Roman" pitchFamily="18" charset="0"/>
                          <a:cs typeface="Times New Roman" pitchFamily="18" charset="0"/>
                        </a:rPr>
                      </a:br>
                      <a:r>
                        <a:rPr lang="en-US" sz="2400" b="0" i="0" kern="1200" dirty="0">
                          <a:solidFill>
                            <a:schemeClr val="dk1"/>
                          </a:solidFill>
                          <a:latin typeface="Times New Roman" pitchFamily="18" charset="0"/>
                          <a:ea typeface="+mn-ea"/>
                          <a:cs typeface="Times New Roman" pitchFamily="18" charset="0"/>
                        </a:rPr>
                        <a:t>Not more than Rs. 25 </a:t>
                      </a:r>
                      <a:r>
                        <a:rPr lang="en-US" sz="2400" b="0" i="0" kern="1200" dirty="0" err="1">
                          <a:solidFill>
                            <a:schemeClr val="dk1"/>
                          </a:solidFill>
                          <a:latin typeface="Times New Roman" pitchFamily="18" charset="0"/>
                          <a:ea typeface="+mn-ea"/>
                          <a:cs typeface="Times New Roman" pitchFamily="18" charset="0"/>
                        </a:rPr>
                        <a:t>crore</a:t>
                      </a:r>
                      <a:r>
                        <a:rPr lang="en-US" sz="2400" b="0" i="0" kern="1200" dirty="0">
                          <a:solidFill>
                            <a:schemeClr val="dk1"/>
                          </a:solidFill>
                          <a:latin typeface="Times New Roman" pitchFamily="18" charset="0"/>
                          <a:ea typeface="+mn-ea"/>
                          <a:cs typeface="Times New Roman" pitchFamily="18" charset="0"/>
                        </a:rPr>
                        <a:t> and Annual Turnover not more than Rs. 100 </a:t>
                      </a:r>
                      <a:r>
                        <a:rPr lang="en-US" sz="2400" b="0" i="0" kern="1200" dirty="0" err="1">
                          <a:solidFill>
                            <a:schemeClr val="dk1"/>
                          </a:solidFill>
                          <a:latin typeface="Times New Roman" pitchFamily="18" charset="0"/>
                          <a:ea typeface="+mn-ea"/>
                          <a:cs typeface="Times New Roman" pitchFamily="18" charset="0"/>
                        </a:rPr>
                        <a:t>crore</a:t>
                      </a:r>
                      <a:endParaRPr lang="en-US" sz="2400" dirty="0">
                        <a:latin typeface="Times New Roman" pitchFamily="18" charset="0"/>
                        <a:cs typeface="Times New Roman" pitchFamily="18" charset="0"/>
                      </a:endParaRPr>
                    </a:p>
                  </a:txBody>
                  <a:tcPr/>
                </a:tc>
                <a:tc>
                  <a:txBody>
                    <a:bodyPr/>
                    <a:lstStyle/>
                    <a:p>
                      <a:r>
                        <a:rPr lang="en-US" sz="2400" b="0" i="0" kern="1200" dirty="0">
                          <a:solidFill>
                            <a:schemeClr val="dk1"/>
                          </a:solidFill>
                          <a:latin typeface="Times New Roman" pitchFamily="18" charset="0"/>
                          <a:ea typeface="+mn-ea"/>
                          <a:cs typeface="Times New Roman" pitchFamily="18" charset="0"/>
                        </a:rPr>
                        <a:t>Investment in Plant and Machinery or Equipment:</a:t>
                      </a:r>
                      <a:r>
                        <a:rPr lang="en-US" sz="2400" dirty="0">
                          <a:latin typeface="Times New Roman" pitchFamily="18" charset="0"/>
                          <a:cs typeface="Times New Roman" pitchFamily="18" charset="0"/>
                        </a:rPr>
                        <a:t/>
                      </a:r>
                      <a:br>
                        <a:rPr lang="en-US" sz="2400" dirty="0">
                          <a:latin typeface="Times New Roman" pitchFamily="18" charset="0"/>
                          <a:cs typeface="Times New Roman" pitchFamily="18" charset="0"/>
                        </a:rPr>
                      </a:br>
                      <a:r>
                        <a:rPr lang="en-US" sz="2400" b="0" i="0" kern="1200" dirty="0">
                          <a:solidFill>
                            <a:schemeClr val="dk1"/>
                          </a:solidFill>
                          <a:latin typeface="Times New Roman" pitchFamily="18" charset="0"/>
                          <a:ea typeface="+mn-ea"/>
                          <a:cs typeface="Times New Roman" pitchFamily="18" charset="0"/>
                        </a:rPr>
                        <a:t>Not more than Rs. 125 </a:t>
                      </a:r>
                      <a:r>
                        <a:rPr lang="en-US" sz="2400" b="0" i="0" kern="1200" dirty="0" err="1">
                          <a:solidFill>
                            <a:schemeClr val="dk1"/>
                          </a:solidFill>
                          <a:latin typeface="Times New Roman" pitchFamily="18" charset="0"/>
                          <a:ea typeface="+mn-ea"/>
                          <a:cs typeface="Times New Roman" pitchFamily="18" charset="0"/>
                        </a:rPr>
                        <a:t>crore</a:t>
                      </a:r>
                      <a:r>
                        <a:rPr lang="en-US" sz="2400" b="0" i="0" kern="1200" dirty="0">
                          <a:solidFill>
                            <a:schemeClr val="dk1"/>
                          </a:solidFill>
                          <a:latin typeface="Times New Roman" pitchFamily="18" charset="0"/>
                          <a:ea typeface="+mn-ea"/>
                          <a:cs typeface="Times New Roman" pitchFamily="18" charset="0"/>
                        </a:rPr>
                        <a:t> and Annual Turnover not more than Rs. 500 </a:t>
                      </a:r>
                      <a:r>
                        <a:rPr lang="en-US" sz="2400" b="0" i="0" kern="1200" dirty="0" err="1">
                          <a:solidFill>
                            <a:schemeClr val="dk1"/>
                          </a:solidFill>
                          <a:latin typeface="Times New Roman" pitchFamily="18" charset="0"/>
                          <a:ea typeface="+mn-ea"/>
                          <a:cs typeface="Times New Roman" pitchFamily="18" charset="0"/>
                        </a:rPr>
                        <a:t>crore</a:t>
                      </a:r>
                      <a:endParaRPr lang="en-US" sz="2400" dirty="0">
                        <a:latin typeface="Times New Roman" pitchFamily="18" charset="0"/>
                        <a:cs typeface="Times New Roman" pitchFamily="18" charset="0"/>
                      </a:endParaRPr>
                    </a:p>
                  </a:txBody>
                  <a:tcPr/>
                </a:tc>
              </a:tr>
            </a:tbl>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IN" dirty="0">
                <a:solidFill>
                  <a:srgbClr val="FF0000"/>
                </a:solidFill>
                <a:latin typeface="Times New Roman" pitchFamily="18" charset="0"/>
                <a:cs typeface="Times New Roman" pitchFamily="18" charset="0"/>
              </a:rPr>
              <a:t>Differences in HRM </a:t>
            </a:r>
            <a:endParaRPr lang="en-US" dirty="0">
              <a:solidFill>
                <a:srgbClr val="FF0000"/>
              </a:solidFill>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nvPr>
        </p:nvGraphicFramePr>
        <p:xfrm>
          <a:off x="228600" y="1066800"/>
          <a:ext cx="8686800" cy="5577840"/>
        </p:xfrm>
        <a:graphic>
          <a:graphicData uri="http://schemas.openxmlformats.org/drawingml/2006/table">
            <a:tbl>
              <a:tblPr firstRow="1" bandRow="1">
                <a:tableStyleId>{5C22544A-7EE6-4342-B048-85BDC9FD1C3A}</a:tableStyleId>
              </a:tblPr>
              <a:tblGrid>
                <a:gridCol w="4343400"/>
                <a:gridCol w="4343400"/>
              </a:tblGrid>
              <a:tr h="370840">
                <a:tc>
                  <a:txBody>
                    <a:bodyPr/>
                    <a:lstStyle/>
                    <a:p>
                      <a:pPr algn="ctr"/>
                      <a:r>
                        <a:rPr lang="en-IN" sz="2400" dirty="0">
                          <a:solidFill>
                            <a:srgbClr val="FF0000"/>
                          </a:solidFill>
                          <a:latin typeface="Times New Roman" pitchFamily="18" charset="0"/>
                          <a:cs typeface="Times New Roman" pitchFamily="18" charset="0"/>
                        </a:rPr>
                        <a:t>Small Scale Industries</a:t>
                      </a:r>
                      <a:endParaRPr lang="en-US" sz="2400" dirty="0">
                        <a:solidFill>
                          <a:srgbClr val="FF0000"/>
                        </a:solidFill>
                        <a:latin typeface="Times New Roman" pitchFamily="18" charset="0"/>
                        <a:cs typeface="Times New Roman" pitchFamily="18" charset="0"/>
                      </a:endParaRPr>
                    </a:p>
                  </a:txBody>
                  <a:tcPr/>
                </a:tc>
                <a:tc>
                  <a:txBody>
                    <a:bodyPr/>
                    <a:lstStyle/>
                    <a:p>
                      <a:pPr algn="ctr"/>
                      <a:r>
                        <a:rPr lang="en-IN" sz="2400" dirty="0">
                          <a:solidFill>
                            <a:srgbClr val="FF0000"/>
                          </a:solidFill>
                          <a:latin typeface="Times New Roman" pitchFamily="18" charset="0"/>
                          <a:cs typeface="Times New Roman" pitchFamily="18" charset="0"/>
                        </a:rPr>
                        <a:t>Large Scale Industries</a:t>
                      </a:r>
                      <a:endParaRPr lang="en-US" sz="2400" dirty="0">
                        <a:solidFill>
                          <a:srgbClr val="FF0000"/>
                        </a:solidFill>
                        <a:latin typeface="Times New Roman" pitchFamily="18" charset="0"/>
                        <a:cs typeface="Times New Roman" pitchFamily="18" charset="0"/>
                      </a:endParaRP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kern="1200" baseline="0" dirty="0">
                          <a:solidFill>
                            <a:schemeClr val="dk1"/>
                          </a:solidFill>
                          <a:latin typeface="Times New Roman" pitchFamily="18" charset="0"/>
                          <a:ea typeface="+mn-ea"/>
                          <a:cs typeface="Times New Roman" pitchFamily="18" charset="0"/>
                        </a:rPr>
                        <a:t>These have more Non-Structured recruitment practices </a:t>
                      </a:r>
                    </a:p>
                    <a:p>
                      <a:endParaRPr lang="en-US" b="0" dirty="0">
                        <a:latin typeface="Times New Roman" pitchFamily="18" charset="0"/>
                        <a:cs typeface="Times New Roman" pitchFamily="18" charset="0"/>
                      </a:endParaRPr>
                    </a:p>
                  </a:txBody>
                  <a:tcPr/>
                </a:tc>
                <a:tc>
                  <a:txBody>
                    <a:bodyPr/>
                    <a:lstStyle/>
                    <a:p>
                      <a:r>
                        <a:rPr lang="en-US" sz="1800" b="0" kern="1200" baseline="0" dirty="0">
                          <a:solidFill>
                            <a:schemeClr val="dk1"/>
                          </a:solidFill>
                          <a:latin typeface="Times New Roman" pitchFamily="18" charset="0"/>
                          <a:ea typeface="+mn-ea"/>
                          <a:cs typeface="Times New Roman" pitchFamily="18" charset="0"/>
                        </a:rPr>
                        <a:t>These have more Structured recruitment practices </a:t>
                      </a:r>
                    </a:p>
                    <a:p>
                      <a:endParaRPr lang="en-US" b="0" dirty="0">
                        <a:latin typeface="Times New Roman" pitchFamily="18" charset="0"/>
                        <a:cs typeface="Times New Roman" pitchFamily="18" charset="0"/>
                      </a:endParaRP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kern="1200" baseline="0" dirty="0">
                          <a:solidFill>
                            <a:schemeClr val="dk1"/>
                          </a:solidFill>
                          <a:latin typeface="Times New Roman" pitchFamily="18" charset="0"/>
                          <a:ea typeface="+mn-ea"/>
                          <a:cs typeface="Times New Roman" pitchFamily="18" charset="0"/>
                        </a:rPr>
                        <a:t>Negligible level of overall HRM sophistication. </a:t>
                      </a:r>
                    </a:p>
                    <a:p>
                      <a:endParaRPr lang="en-US" b="0" dirty="0">
                        <a:latin typeface="Times New Roman" pitchFamily="18" charset="0"/>
                        <a:cs typeface="Times New Roman" pitchFamily="18" charset="0"/>
                      </a:endParaRPr>
                    </a:p>
                  </a:txBody>
                  <a:tcPr/>
                </a:tc>
                <a:tc>
                  <a:txBody>
                    <a:bodyPr/>
                    <a:lstStyle/>
                    <a:p>
                      <a:r>
                        <a:rPr lang="en-US" sz="1800" b="0" kern="1200" baseline="0" dirty="0">
                          <a:solidFill>
                            <a:schemeClr val="dk1"/>
                          </a:solidFill>
                          <a:latin typeface="Times New Roman" pitchFamily="18" charset="0"/>
                          <a:ea typeface="+mn-ea"/>
                          <a:cs typeface="Times New Roman" pitchFamily="18" charset="0"/>
                        </a:rPr>
                        <a:t>Higher level of overall HRM sophistication. </a:t>
                      </a:r>
                    </a:p>
                    <a:p>
                      <a:endParaRPr lang="en-US" b="0" dirty="0">
                        <a:latin typeface="Times New Roman" pitchFamily="18" charset="0"/>
                        <a:cs typeface="Times New Roman" pitchFamily="18" charset="0"/>
                      </a:endParaRPr>
                    </a:p>
                  </a:txBody>
                  <a:tcPr/>
                </a:tc>
              </a:tr>
              <a:tr h="370840">
                <a:tc>
                  <a:txBody>
                    <a:bodyPr/>
                    <a:lstStyle/>
                    <a:p>
                      <a:r>
                        <a:rPr lang="en-US" sz="1800" b="0" kern="1200" baseline="0" dirty="0">
                          <a:solidFill>
                            <a:schemeClr val="dk1"/>
                          </a:solidFill>
                          <a:latin typeface="Times New Roman" pitchFamily="18" charset="0"/>
                          <a:ea typeface="+mn-ea"/>
                          <a:cs typeface="Times New Roman" pitchFamily="18" charset="0"/>
                        </a:rPr>
                        <a:t>Fewer probabilities for formal training for both managers and employees </a:t>
                      </a:r>
                    </a:p>
                    <a:p>
                      <a:endParaRPr lang="en-US" b="0" dirty="0">
                        <a:latin typeface="Times New Roman" pitchFamily="18" charset="0"/>
                        <a:cs typeface="Times New Roman" pitchFamily="18" charset="0"/>
                      </a:endParaRPr>
                    </a:p>
                  </a:txBody>
                  <a:tcPr/>
                </a:tc>
                <a:tc>
                  <a:txBody>
                    <a:bodyPr/>
                    <a:lstStyle/>
                    <a:p>
                      <a:r>
                        <a:rPr lang="en-US" sz="1800" b="0" kern="1200" baseline="0" dirty="0">
                          <a:solidFill>
                            <a:schemeClr val="dk1"/>
                          </a:solidFill>
                          <a:latin typeface="Times New Roman" pitchFamily="18" charset="0"/>
                          <a:ea typeface="+mn-ea"/>
                          <a:cs typeface="Times New Roman" pitchFamily="18" charset="0"/>
                        </a:rPr>
                        <a:t>Structured Training and Development practices were carried out.</a:t>
                      </a:r>
                      <a:endParaRPr lang="en-US" b="0" dirty="0">
                        <a:latin typeface="Times New Roman" pitchFamily="18" charset="0"/>
                        <a:cs typeface="Times New Roman" pitchFamily="18" charset="0"/>
                      </a:endParaRPr>
                    </a:p>
                  </a:txBody>
                  <a:tcPr/>
                </a:tc>
              </a:tr>
              <a:tr h="370840">
                <a:tc>
                  <a:txBody>
                    <a:bodyPr/>
                    <a:lstStyle/>
                    <a:p>
                      <a:r>
                        <a:rPr lang="en-US" sz="1800" b="0" kern="1200" baseline="0" dirty="0">
                          <a:solidFill>
                            <a:schemeClr val="dk1"/>
                          </a:solidFill>
                          <a:latin typeface="Times New Roman" pitchFamily="18" charset="0"/>
                          <a:ea typeface="+mn-ea"/>
                          <a:cs typeface="Times New Roman" pitchFamily="18" charset="0"/>
                        </a:rPr>
                        <a:t>Have less formalized performance appraisals, less likelihood of bonuses based on company productivity </a:t>
                      </a:r>
                    </a:p>
                    <a:p>
                      <a:endParaRPr lang="en-US" b="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kern="1200" baseline="0" dirty="0">
                          <a:solidFill>
                            <a:schemeClr val="dk1"/>
                          </a:solidFill>
                          <a:latin typeface="Times New Roman" pitchFamily="18" charset="0"/>
                          <a:ea typeface="+mn-ea"/>
                          <a:cs typeface="Times New Roman" pitchFamily="18" charset="0"/>
                        </a:rPr>
                        <a:t>Have formalized performance appraisals, less likelihood of bonuses based on company productivity </a:t>
                      </a:r>
                    </a:p>
                    <a:p>
                      <a:endParaRPr lang="en-US" b="0" dirty="0">
                        <a:latin typeface="Times New Roman" pitchFamily="18" charset="0"/>
                        <a:cs typeface="Times New Roman" pitchFamily="18" charset="0"/>
                      </a:endParaRPr>
                    </a:p>
                  </a:txBody>
                  <a:tcPr/>
                </a:tc>
              </a:tr>
              <a:tr h="370840">
                <a:tc>
                  <a:txBody>
                    <a:bodyPr/>
                    <a:lstStyle/>
                    <a:p>
                      <a:r>
                        <a:rPr lang="en-US" sz="1800" b="0" kern="1200" baseline="0" dirty="0">
                          <a:solidFill>
                            <a:schemeClr val="dk1"/>
                          </a:solidFill>
                          <a:latin typeface="Times New Roman" pitchFamily="18" charset="0"/>
                          <a:ea typeface="+mn-ea"/>
                          <a:cs typeface="Times New Roman" pitchFamily="18" charset="0"/>
                        </a:rPr>
                        <a:t>Provide more power to the managers, making the managerial prerogative largely unrestricted. </a:t>
                      </a:r>
                    </a:p>
                    <a:p>
                      <a:endParaRPr lang="en-US" b="0" dirty="0">
                        <a:latin typeface="Times New Roman" pitchFamily="18" charset="0"/>
                        <a:cs typeface="Times New Roman" pitchFamily="18" charset="0"/>
                      </a:endParaRPr>
                    </a:p>
                  </a:txBody>
                  <a:tcPr/>
                </a:tc>
                <a:tc>
                  <a:txBody>
                    <a:bodyPr/>
                    <a:lstStyle/>
                    <a:p>
                      <a:r>
                        <a:rPr lang="en-US" sz="1800" b="0" kern="1200" baseline="0" dirty="0">
                          <a:solidFill>
                            <a:schemeClr val="dk1"/>
                          </a:solidFill>
                          <a:latin typeface="Times New Roman" pitchFamily="18" charset="0"/>
                          <a:ea typeface="+mn-ea"/>
                          <a:cs typeface="Times New Roman" pitchFamily="18" charset="0"/>
                        </a:rPr>
                        <a:t>Power to make decision is limited the managers</a:t>
                      </a:r>
                      <a:endParaRPr lang="en-US" b="0" dirty="0">
                        <a:latin typeface="Times New Roman" pitchFamily="18" charset="0"/>
                        <a:cs typeface="Times New Roman" pitchFamily="18" charset="0"/>
                      </a:endParaRPr>
                    </a:p>
                  </a:txBody>
                  <a:tcPr/>
                </a:tc>
              </a:tr>
            </a:tbl>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IN" sz="3600" dirty="0">
                <a:solidFill>
                  <a:srgbClr val="FF0000"/>
                </a:solidFill>
                <a:latin typeface="Times New Roman" pitchFamily="18" charset="0"/>
                <a:cs typeface="Times New Roman" pitchFamily="18" charset="0"/>
              </a:rPr>
              <a:t>Impact of Weak Adoption of HRM in SME</a:t>
            </a:r>
            <a:endParaRPr lang="en-US" sz="36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371600"/>
            <a:ext cx="8229600" cy="5105400"/>
          </a:xfrm>
        </p:spPr>
        <p:txBody>
          <a:bodyPr>
            <a:normAutofit fontScale="92500" lnSpcReduction="10000"/>
          </a:bodyPr>
          <a:lstStyle/>
          <a:p>
            <a:pPr algn="just">
              <a:lnSpc>
                <a:spcPct val="150000"/>
              </a:lnSpc>
              <a:buFont typeface="Wingdings" pitchFamily="2" charset="2"/>
              <a:buChar char="ü"/>
            </a:pPr>
            <a:r>
              <a:rPr lang="en-US" sz="2800" dirty="0">
                <a:latin typeface="Times New Roman" pitchFamily="18" charset="0"/>
                <a:cs typeface="Times New Roman" pitchFamily="18" charset="0"/>
              </a:rPr>
              <a:t>Hiring new employees is a major time and financial commitment for a small business.</a:t>
            </a:r>
          </a:p>
          <a:p>
            <a:pPr algn="just">
              <a:lnSpc>
                <a:spcPct val="150000"/>
              </a:lnSpc>
              <a:buFont typeface="Wingdings" pitchFamily="2" charset="2"/>
              <a:buChar char="ü"/>
            </a:pPr>
            <a:r>
              <a:rPr lang="en-US" sz="2800" dirty="0">
                <a:latin typeface="Times New Roman" pitchFamily="18" charset="0"/>
                <a:cs typeface="Times New Roman" pitchFamily="18" charset="0"/>
              </a:rPr>
              <a:t>Don't have the time to properly train new hires.</a:t>
            </a:r>
          </a:p>
          <a:p>
            <a:pPr algn="just">
              <a:lnSpc>
                <a:spcPct val="150000"/>
              </a:lnSpc>
              <a:buFont typeface="Wingdings" pitchFamily="2" charset="2"/>
              <a:buChar char="ü"/>
            </a:pPr>
            <a:r>
              <a:rPr lang="en-US" sz="2800" dirty="0">
                <a:latin typeface="Times New Roman" pitchFamily="18" charset="0"/>
                <a:cs typeface="Times New Roman" pitchFamily="18" charset="0"/>
              </a:rPr>
              <a:t>Managing payroll and filing taxes can be a time-consuming and challenging task.</a:t>
            </a:r>
          </a:p>
          <a:p>
            <a:pPr algn="just">
              <a:lnSpc>
                <a:spcPct val="150000"/>
              </a:lnSpc>
              <a:buFont typeface="Wingdings" pitchFamily="2" charset="2"/>
              <a:buChar char="ü"/>
            </a:pPr>
            <a:r>
              <a:rPr lang="en-US" sz="2800" dirty="0">
                <a:latin typeface="Times New Roman" pitchFamily="18" charset="0"/>
                <a:cs typeface="Times New Roman" pitchFamily="18" charset="0"/>
              </a:rPr>
              <a:t>Poor Employee benefits Scheme.</a:t>
            </a:r>
          </a:p>
          <a:p>
            <a:pPr algn="just">
              <a:lnSpc>
                <a:spcPct val="150000"/>
              </a:lnSpc>
              <a:buFont typeface="Wingdings" pitchFamily="2" charset="2"/>
              <a:buChar char="ü"/>
            </a:pPr>
            <a:r>
              <a:rPr lang="en-US" sz="2800" dirty="0">
                <a:latin typeface="Times New Roman" pitchFamily="18" charset="0"/>
                <a:cs typeface="Times New Roman" pitchFamily="18" charset="0"/>
              </a:rPr>
              <a:t>it is difficult for small businesses to retain quality employees.</a:t>
            </a:r>
          </a:p>
          <a:p>
            <a:pPr>
              <a:buNone/>
            </a:pPr>
            <a:endParaRPr lang="en-US" dirty="0"/>
          </a:p>
          <a:p>
            <a:pPr>
              <a:buNone/>
            </a:pPr>
            <a:endParaRPr lang="en-US"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pPr algn="l"/>
            <a:r>
              <a:rPr lang="en-US" b="1" dirty="0">
                <a:solidFill>
                  <a:srgbClr val="FF0000"/>
                </a:solidFill>
                <a:latin typeface="Times New Roman" pitchFamily="18" charset="0"/>
                <a:cs typeface="Times New Roman" pitchFamily="18" charset="0"/>
              </a:rPr>
              <a:t>HRM in the Service Sector</a:t>
            </a:r>
            <a:endParaRPr lang="en-US" dirty="0">
              <a:solidFill>
                <a:srgbClr val="FF0000"/>
              </a:solidFill>
            </a:endParaRPr>
          </a:p>
        </p:txBody>
      </p:sp>
      <p:sp>
        <p:nvSpPr>
          <p:cNvPr id="3" name="Content Placeholder 2"/>
          <p:cNvSpPr>
            <a:spLocks noGrp="1"/>
          </p:cNvSpPr>
          <p:nvPr>
            <p:ph idx="1"/>
          </p:nvPr>
        </p:nvSpPr>
        <p:spPr>
          <a:xfrm>
            <a:off x="457200" y="1295400"/>
            <a:ext cx="8229600" cy="5334000"/>
          </a:xfrm>
        </p:spPr>
        <p:txBody>
          <a:bodyPr>
            <a:normAutofit fontScale="92500" lnSpcReduction="10000"/>
          </a:bodyPr>
          <a:lstStyle/>
          <a:p>
            <a:pPr algn="just">
              <a:buNone/>
            </a:pPr>
            <a:r>
              <a:rPr lang="en-US" dirty="0">
                <a:latin typeface="Times New Roman" pitchFamily="18" charset="0"/>
                <a:cs typeface="Times New Roman" pitchFamily="18" charset="0"/>
              </a:rPr>
              <a:t>		Service can be defined as the production of intangible benefits and experience, either alone or as part of a tangible product, through some form of exchange, with the intention of satisfying the needs, wants and desires of the consumers.</a:t>
            </a:r>
          </a:p>
          <a:p>
            <a:pPr algn="just">
              <a:buNone/>
            </a:pPr>
            <a:r>
              <a:rPr lang="en-US" dirty="0">
                <a:latin typeface="Times New Roman" pitchFamily="18" charset="0"/>
                <a:cs typeface="Times New Roman" pitchFamily="18" charset="0"/>
              </a:rPr>
              <a:t>		According to Philip </a:t>
            </a:r>
            <a:r>
              <a:rPr lang="en-US" dirty="0" err="1">
                <a:latin typeface="Times New Roman" pitchFamily="18" charset="0"/>
                <a:cs typeface="Times New Roman" pitchFamily="18" charset="0"/>
              </a:rPr>
              <a:t>Kotler</a:t>
            </a:r>
            <a:r>
              <a:rPr lang="en-US" dirty="0">
                <a:latin typeface="Times New Roman" pitchFamily="18" charset="0"/>
                <a:cs typeface="Times New Roman" pitchFamily="18" charset="0"/>
              </a:rPr>
              <a:t> “A Service is an act of performance that one party can offer to another that is essentially intangible and does not result in the ownership of anything. Its production may or may not be tied to a physical product.”</a:t>
            </a:r>
          </a:p>
          <a:p>
            <a:pPr algn="just">
              <a:buNone/>
            </a:pPr>
            <a:r>
              <a:rPr lang="en-US" dirty="0">
                <a:latin typeface="Times New Roman" pitchFamily="18" charset="0"/>
                <a:cs typeface="Times New Roman" pitchFamily="18" charset="0"/>
              </a:rPr>
              <a:t>		In short, services are deeds, processes and performances.</a:t>
            </a:r>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solidFill>
                  <a:srgbClr val="FF0000"/>
                </a:solidFill>
                <a:latin typeface="Times New Roman" pitchFamily="18" charset="0"/>
                <a:cs typeface="Times New Roman" pitchFamily="18" charset="0"/>
              </a:rPr>
              <a:t>Services Sector V/s Manufacturing Sector</a:t>
            </a:r>
            <a:endParaRPr lang="en-US" dirty="0">
              <a:solidFill>
                <a:srgbClr val="FF0000"/>
              </a:solidFill>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nvPr>
        </p:nvGraphicFramePr>
        <p:xfrm>
          <a:off x="457200" y="1447800"/>
          <a:ext cx="8305800" cy="4800600"/>
        </p:xfrm>
        <a:graphic>
          <a:graphicData uri="http://schemas.openxmlformats.org/drawingml/2006/table">
            <a:tbl>
              <a:tblPr firstRow="1" bandRow="1">
                <a:tableStyleId>{5C22544A-7EE6-4342-B048-85BDC9FD1C3A}</a:tableStyleId>
              </a:tblPr>
              <a:tblGrid>
                <a:gridCol w="4152900"/>
                <a:gridCol w="4152900"/>
              </a:tblGrid>
              <a:tr h="587008">
                <a:tc>
                  <a:txBody>
                    <a:bodyPr/>
                    <a:lstStyle/>
                    <a:p>
                      <a:r>
                        <a:rPr lang="en-US" sz="2400" dirty="0">
                          <a:solidFill>
                            <a:srgbClr val="FF0000"/>
                          </a:solidFill>
                          <a:latin typeface="Times New Roman" pitchFamily="18" charset="0"/>
                          <a:cs typeface="Times New Roman" pitchFamily="18" charset="0"/>
                        </a:rPr>
                        <a:t>Services Sector </a:t>
                      </a:r>
                      <a:endParaRPr lang="en-US" sz="2400" dirty="0">
                        <a:solidFill>
                          <a:srgbClr val="FF0000"/>
                        </a:solidFill>
                        <a:latin typeface="Times New Roman" pitchFamily="18" charset="0"/>
                        <a:cs typeface="Times New Roman" pitchFamily="18" charset="0"/>
                      </a:endParaRPr>
                    </a:p>
                  </a:txBody>
                  <a:tcPr/>
                </a:tc>
                <a:tc>
                  <a:txBody>
                    <a:bodyPr/>
                    <a:lstStyle/>
                    <a:p>
                      <a:r>
                        <a:rPr lang="en-US" sz="2400" dirty="0">
                          <a:solidFill>
                            <a:srgbClr val="FF0000"/>
                          </a:solidFill>
                          <a:latin typeface="Times New Roman" pitchFamily="18" charset="0"/>
                          <a:cs typeface="Times New Roman" pitchFamily="18" charset="0"/>
                        </a:rPr>
                        <a:t>Manufacturing Sector</a:t>
                      </a:r>
                      <a:endParaRPr lang="en-US" sz="2400" dirty="0">
                        <a:solidFill>
                          <a:srgbClr val="FF0000"/>
                        </a:solidFill>
                        <a:latin typeface="Times New Roman" pitchFamily="18" charset="0"/>
                        <a:cs typeface="Times New Roman" pitchFamily="18" charset="0"/>
                      </a:endParaRPr>
                    </a:p>
                  </a:txBody>
                  <a:tcPr/>
                </a:tc>
              </a:tr>
              <a:tr h="587008">
                <a:tc>
                  <a:txBody>
                    <a:bodyPr/>
                    <a:lstStyle/>
                    <a:p>
                      <a:r>
                        <a:rPr lang="en-US" sz="2400" kern="1200" dirty="0">
                          <a:solidFill>
                            <a:schemeClr val="dk1"/>
                          </a:solidFill>
                          <a:latin typeface="Times New Roman" pitchFamily="18" charset="0"/>
                          <a:ea typeface="+mn-ea"/>
                          <a:cs typeface="Times New Roman" pitchFamily="18" charset="0"/>
                        </a:rPr>
                        <a:t>Intangibility</a:t>
                      </a:r>
                      <a:endParaRPr lang="en-US" sz="2400" dirty="0">
                        <a:latin typeface="Times New Roman" pitchFamily="18" charset="0"/>
                        <a:cs typeface="Times New Roman" pitchFamily="18" charset="0"/>
                      </a:endParaRPr>
                    </a:p>
                  </a:txBody>
                  <a:tcPr/>
                </a:tc>
                <a:tc>
                  <a:txBody>
                    <a:bodyPr/>
                    <a:lstStyle/>
                    <a:p>
                      <a:r>
                        <a:rPr lang="en-US" sz="2400" kern="1200" dirty="0">
                          <a:solidFill>
                            <a:schemeClr val="dk1"/>
                          </a:solidFill>
                          <a:latin typeface="Times New Roman" pitchFamily="18" charset="0"/>
                          <a:ea typeface="+mn-ea"/>
                          <a:cs typeface="Times New Roman" pitchFamily="18" charset="0"/>
                        </a:rPr>
                        <a:t>Tangibility</a:t>
                      </a:r>
                      <a:endParaRPr lang="en-US" sz="2400" dirty="0">
                        <a:latin typeface="Times New Roman" pitchFamily="18" charset="0"/>
                        <a:cs typeface="Times New Roman" pitchFamily="18" charset="0"/>
                      </a:endParaRPr>
                    </a:p>
                  </a:txBody>
                  <a:tcPr/>
                </a:tc>
              </a:tr>
              <a:tr h="1013192">
                <a:tc>
                  <a:txBody>
                    <a:bodyPr/>
                    <a:lstStyle/>
                    <a:p>
                      <a:r>
                        <a:rPr lang="en-US" sz="2400" kern="1200" dirty="0">
                          <a:solidFill>
                            <a:schemeClr val="dk1"/>
                          </a:solidFill>
                          <a:latin typeface="Times New Roman" pitchFamily="18" charset="0"/>
                          <a:ea typeface="+mn-ea"/>
                          <a:cs typeface="Times New Roman" pitchFamily="18" charset="0"/>
                        </a:rPr>
                        <a:t>Heterogeneity &amp; Difficult to Standardized</a:t>
                      </a:r>
                      <a:endParaRPr lang="en-US" sz="2400" dirty="0">
                        <a:latin typeface="Times New Roman" pitchFamily="18" charset="0"/>
                        <a:cs typeface="Times New Roman" pitchFamily="18" charset="0"/>
                      </a:endParaRPr>
                    </a:p>
                  </a:txBody>
                  <a:tcPr/>
                </a:tc>
                <a:tc>
                  <a:txBody>
                    <a:bodyPr/>
                    <a:lstStyle/>
                    <a:p>
                      <a:r>
                        <a:rPr lang="en-US" sz="2400" dirty="0">
                          <a:latin typeface="Times New Roman" pitchFamily="18" charset="0"/>
                          <a:cs typeface="Times New Roman" pitchFamily="18" charset="0"/>
                        </a:rPr>
                        <a:t>Easy</a:t>
                      </a:r>
                      <a:r>
                        <a:rPr lang="en-US" sz="2400" baseline="0" dirty="0">
                          <a:latin typeface="Times New Roman" pitchFamily="18" charset="0"/>
                          <a:cs typeface="Times New Roman" pitchFamily="18" charset="0"/>
                        </a:rPr>
                        <a:t> to Standardized</a:t>
                      </a:r>
                      <a:endParaRPr lang="en-US" sz="2400" dirty="0">
                        <a:latin typeface="Times New Roman" pitchFamily="18" charset="0"/>
                        <a:cs typeface="Times New Roman" pitchFamily="18" charset="0"/>
                      </a:endParaRPr>
                    </a:p>
                  </a:txBody>
                  <a:tcPr/>
                </a:tc>
              </a:tr>
              <a:tr h="1013192">
                <a:tc>
                  <a:txBody>
                    <a:bodyPr/>
                    <a:lstStyle/>
                    <a:p>
                      <a:r>
                        <a:rPr lang="en-US" sz="2400" dirty="0">
                          <a:latin typeface="Times New Roman" pitchFamily="18" charset="0"/>
                          <a:cs typeface="Times New Roman" pitchFamily="18" charset="0"/>
                        </a:rPr>
                        <a:t>Simultaneous Production and Consumption</a:t>
                      </a:r>
                      <a:endParaRPr lang="en-US" sz="2400" dirty="0">
                        <a:latin typeface="Times New Roman" pitchFamily="18" charset="0"/>
                        <a:cs typeface="Times New Roman" pitchFamily="18" charset="0"/>
                      </a:endParaRPr>
                    </a:p>
                  </a:txBody>
                  <a:tcPr/>
                </a:tc>
                <a:tc>
                  <a:txBody>
                    <a:bodyPr/>
                    <a:lstStyle/>
                    <a:p>
                      <a:r>
                        <a:rPr lang="en-US" sz="2400" dirty="0">
                          <a:latin typeface="Times New Roman" pitchFamily="18" charset="0"/>
                          <a:cs typeface="Times New Roman" pitchFamily="18" charset="0"/>
                        </a:rPr>
                        <a:t>Production and Consumption occurs separately.</a:t>
                      </a:r>
                      <a:endParaRPr lang="en-US" sz="2400" dirty="0">
                        <a:latin typeface="Times New Roman" pitchFamily="18" charset="0"/>
                        <a:cs typeface="Times New Roman" pitchFamily="18" charset="0"/>
                      </a:endParaRPr>
                    </a:p>
                  </a:txBody>
                  <a:tcPr/>
                </a:tc>
              </a:tr>
              <a:tr h="587008">
                <a:tc>
                  <a:txBody>
                    <a:bodyPr/>
                    <a:lstStyle/>
                    <a:p>
                      <a:r>
                        <a:rPr lang="en-US" sz="2400" kern="1200" dirty="0">
                          <a:solidFill>
                            <a:schemeClr val="dk1"/>
                          </a:solidFill>
                          <a:latin typeface="Times New Roman" pitchFamily="18" charset="0"/>
                          <a:ea typeface="+mn-ea"/>
                          <a:cs typeface="Times New Roman" pitchFamily="18" charset="0"/>
                        </a:rPr>
                        <a:t>Perishable</a:t>
                      </a:r>
                      <a:endParaRPr lang="en-US" sz="2400" dirty="0">
                        <a:latin typeface="Times New Roman" pitchFamily="18" charset="0"/>
                        <a:cs typeface="Times New Roman" pitchFamily="18" charset="0"/>
                      </a:endParaRPr>
                    </a:p>
                  </a:txBody>
                  <a:tcPr/>
                </a:tc>
                <a:tc>
                  <a:txBody>
                    <a:bodyPr/>
                    <a:lstStyle/>
                    <a:p>
                      <a:r>
                        <a:rPr lang="en-US" sz="2400" dirty="0">
                          <a:latin typeface="Times New Roman" pitchFamily="18" charset="0"/>
                          <a:cs typeface="Times New Roman" pitchFamily="18" charset="0"/>
                        </a:rPr>
                        <a:t>Non-Perishable (Durable)</a:t>
                      </a:r>
                      <a:endParaRPr lang="en-US" sz="2400" dirty="0">
                        <a:latin typeface="Times New Roman" pitchFamily="18" charset="0"/>
                        <a:cs typeface="Times New Roman" pitchFamily="18" charset="0"/>
                      </a:endParaRPr>
                    </a:p>
                  </a:txBody>
                  <a:tcPr/>
                </a:tc>
              </a:tr>
              <a:tr h="101319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kern="1200" dirty="0">
                          <a:solidFill>
                            <a:schemeClr val="dk1"/>
                          </a:solidFill>
                          <a:latin typeface="Times New Roman" pitchFamily="18" charset="0"/>
                          <a:ea typeface="+mn-ea"/>
                          <a:cs typeface="Times New Roman" pitchFamily="18" charset="0"/>
                        </a:rPr>
                        <a:t>Ownership  can be transferred</a:t>
                      </a:r>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txBody>
                  <a:tcPr/>
                </a:tc>
                <a:tc>
                  <a:txBody>
                    <a:bodyPr/>
                    <a:lstStyle/>
                    <a:p>
                      <a:r>
                        <a:rPr lang="en-US" sz="2400" kern="1200" dirty="0">
                          <a:solidFill>
                            <a:schemeClr val="dk1"/>
                          </a:solidFill>
                          <a:latin typeface="Times New Roman" pitchFamily="18" charset="0"/>
                          <a:ea typeface="+mn-ea"/>
                          <a:cs typeface="Times New Roman" pitchFamily="18" charset="0"/>
                        </a:rPr>
                        <a:t>Ownership  can be transferred</a:t>
                      </a:r>
                      <a:endParaRPr lang="en-US" sz="2400" dirty="0">
                        <a:latin typeface="Times New Roman" pitchFamily="18" charset="0"/>
                        <a:cs typeface="Times New Roman" pitchFamily="18" charset="0"/>
                      </a:endParaRPr>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latin typeface="Times New Roman" pitchFamily="18" charset="0"/>
                <a:cs typeface="Times New Roman" pitchFamily="18" charset="0"/>
              </a:rPr>
              <a:t>The Emergence of the Services Sector</a:t>
            </a:r>
            <a:endParaRPr lang="en-US"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371600"/>
            <a:ext cx="8229600" cy="5257800"/>
          </a:xfrm>
        </p:spPr>
        <p:txBody>
          <a:bodyPr>
            <a:normAutofit fontScale="85000" lnSpcReduction="10000"/>
          </a:bodyPr>
          <a:lstStyle/>
          <a:p>
            <a:pPr algn="just">
              <a:buNone/>
            </a:pPr>
            <a:r>
              <a:rPr lang="en-US" dirty="0">
                <a:latin typeface="Times New Roman" pitchFamily="18" charset="0"/>
                <a:cs typeface="Times New Roman" pitchFamily="18" charset="0"/>
              </a:rPr>
              <a:t>		The service sector in India has the highest employment elasticity among all sectors. Thus, it has the potential for huge growth as well as the capability to deliver highly productive jobs - leading to revenue generation. </a:t>
            </a:r>
          </a:p>
          <a:p>
            <a:pPr algn="just">
              <a:buNone/>
            </a:pPr>
            <a:r>
              <a:rPr lang="en-US" dirty="0">
                <a:latin typeface="Times New Roman" pitchFamily="18" charset="0"/>
                <a:cs typeface="Times New Roman" pitchFamily="18" charset="0"/>
              </a:rPr>
              <a:t>		India should closely look into the development of the service industry, given the potential and need for sustained large scale investment.</a:t>
            </a:r>
          </a:p>
          <a:p>
            <a:pPr algn="just">
              <a:buNone/>
            </a:pPr>
            <a:r>
              <a:rPr lang="en-US" dirty="0">
                <a:latin typeface="Times New Roman" pitchFamily="18" charset="0"/>
                <a:cs typeface="Times New Roman" pitchFamily="18" charset="0"/>
              </a:rPr>
              <a:t>		The emerging sector in Indian Economy today are </a:t>
            </a:r>
            <a:r>
              <a:rPr lang="en-US" i="1" dirty="0">
                <a:latin typeface="Times New Roman" pitchFamily="18" charset="0"/>
                <a:cs typeface="Times New Roman" pitchFamily="18" charset="0"/>
              </a:rPr>
              <a:t>Food Processing, Manufacturing Sector, Health Care, Organized Retailing, Education and Training, Tourism, Entertainment, Insurance, Knowledge Process Outsourcing etc.</a:t>
            </a:r>
            <a:endParaRPr lang="en-US" i="1"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latin typeface="Times New Roman" pitchFamily="18" charset="0"/>
                <a:cs typeface="Times New Roman" pitchFamily="18" charset="0"/>
              </a:rPr>
              <a:t>HRM in Services Sector V/s HRM in Manufacturing Sector</a:t>
            </a:r>
            <a:endParaRPr lang="en-US" b="1" dirty="0"/>
          </a:p>
        </p:txBody>
      </p:sp>
      <p:sp>
        <p:nvSpPr>
          <p:cNvPr id="3" name="Content Placeholder 2"/>
          <p:cNvSpPr>
            <a:spLocks noGrp="1"/>
          </p:cNvSpPr>
          <p:nvPr>
            <p:ph idx="1"/>
          </p:nvPr>
        </p:nvSpPr>
        <p:spPr/>
        <p:txBody>
          <a:bodyPr>
            <a:normAutofit fontScale="77500" lnSpcReduction="20000"/>
          </a:bodyPr>
          <a:lstStyle/>
          <a:p>
            <a:pPr algn="just">
              <a:lnSpc>
                <a:spcPct val="150000"/>
              </a:lnSpc>
              <a:buNone/>
            </a:pPr>
            <a:r>
              <a:rPr lang="en-US" dirty="0">
                <a:latin typeface="Times New Roman" pitchFamily="18" charset="0"/>
                <a:cs typeface="Times New Roman" pitchFamily="18" charset="0"/>
              </a:rPr>
              <a:t> Major differentiators between the HR of these sectors are:</a:t>
            </a:r>
          </a:p>
          <a:p>
            <a:pPr algn="just">
              <a:lnSpc>
                <a:spcPct val="150000"/>
              </a:lnSpc>
              <a:buNone/>
            </a:pPr>
            <a:r>
              <a:rPr lang="en-US" dirty="0">
                <a:latin typeface="Times New Roman" pitchFamily="18" charset="0"/>
                <a:cs typeface="Times New Roman" pitchFamily="18" charset="0"/>
              </a:rPr>
              <a:t>1) Level of education of employees.</a:t>
            </a:r>
          </a:p>
          <a:p>
            <a:pPr algn="just">
              <a:lnSpc>
                <a:spcPct val="150000"/>
              </a:lnSpc>
              <a:buNone/>
            </a:pPr>
            <a:r>
              <a:rPr lang="en-US" dirty="0">
                <a:latin typeface="Times New Roman" pitchFamily="18" charset="0"/>
                <a:cs typeface="Times New Roman" pitchFamily="18" charset="0"/>
              </a:rPr>
              <a:t>2) Training to represent themselves in the company's desired profile.</a:t>
            </a:r>
          </a:p>
          <a:p>
            <a:pPr algn="just">
              <a:lnSpc>
                <a:spcPct val="150000"/>
              </a:lnSpc>
              <a:buNone/>
            </a:pPr>
            <a:r>
              <a:rPr lang="en-US" dirty="0">
                <a:latin typeface="Times New Roman" pitchFamily="18" charset="0"/>
                <a:cs typeface="Times New Roman" pitchFamily="18" charset="0"/>
              </a:rPr>
              <a:t> 3) Customer contact (this is also changing due to competition anyway!) </a:t>
            </a:r>
          </a:p>
          <a:p>
            <a:pPr algn="just">
              <a:lnSpc>
                <a:spcPct val="150000"/>
              </a:lnSpc>
              <a:buNone/>
            </a:pPr>
            <a:r>
              <a:rPr lang="en-US" dirty="0">
                <a:latin typeface="Times New Roman" pitchFamily="18" charset="0"/>
                <a:cs typeface="Times New Roman" pitchFamily="18" charset="0"/>
              </a:rPr>
              <a:t>4) The nature of actually performed by the employees and their awareness to customer response. </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solidFill>
                  <a:srgbClr val="FF0000"/>
                </a:solidFill>
                <a:latin typeface="Times New Roman" pitchFamily="18" charset="0"/>
                <a:cs typeface="Times New Roman" pitchFamily="18" charset="0"/>
              </a:rPr>
              <a:t>Human Resource Management and Service Quality Correlation</a:t>
            </a:r>
            <a:endParaRPr lang="en-US" sz="3600" dirty="0">
              <a:solidFill>
                <a:srgbClr val="FF0000"/>
              </a:solidFill>
            </a:endParaRPr>
          </a:p>
        </p:txBody>
      </p:sp>
      <p:sp>
        <p:nvSpPr>
          <p:cNvPr id="3" name="Content Placeholder 2"/>
          <p:cNvSpPr>
            <a:spLocks noGrp="1"/>
          </p:cNvSpPr>
          <p:nvPr>
            <p:ph idx="1"/>
          </p:nvPr>
        </p:nvSpPr>
        <p:spPr/>
        <p:txBody>
          <a:bodyPr>
            <a:noAutofit/>
          </a:bodyPr>
          <a:lstStyle/>
          <a:p>
            <a:pPr algn="just"/>
            <a:r>
              <a:rPr lang="en-US" sz="2500" dirty="0">
                <a:latin typeface="Times New Roman" pitchFamily="18" charset="0"/>
                <a:cs typeface="Times New Roman" pitchFamily="18" charset="0"/>
              </a:rPr>
              <a:t>In the service organization , the key stakeholder  is the customer and the key activity is to deliver service of quality .</a:t>
            </a:r>
          </a:p>
          <a:p>
            <a:pPr algn="just"/>
            <a:r>
              <a:rPr lang="en-US" sz="2500" dirty="0">
                <a:latin typeface="Times New Roman" pitchFamily="18" charset="0"/>
                <a:cs typeface="Times New Roman" pitchFamily="18" charset="0"/>
              </a:rPr>
              <a:t>The very nature of service, that is , their intangibility , poses difficulty in evaluation of quality .</a:t>
            </a:r>
          </a:p>
          <a:p>
            <a:pPr algn="just"/>
            <a:r>
              <a:rPr lang="en-US" sz="2500" dirty="0">
                <a:latin typeface="Times New Roman" pitchFamily="18" charset="0"/>
                <a:cs typeface="Times New Roman" pitchFamily="18" charset="0"/>
              </a:rPr>
              <a:t> Service organization is “ in need of mechanism  by which it can reduce this input of uncertainty and acquire the information necessary for effective service  production an delivery “</a:t>
            </a:r>
          </a:p>
          <a:p>
            <a:pPr algn="just"/>
            <a:r>
              <a:rPr lang="en-US" sz="2500" dirty="0">
                <a:latin typeface="Times New Roman" pitchFamily="18" charset="0"/>
                <a:cs typeface="Times New Roman" pitchFamily="18" charset="0"/>
              </a:rPr>
              <a:t>Sustained quality of service  can only happen  in a service climate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610600" cy="6172200"/>
          </a:xfrm>
        </p:spPr>
        <p:txBody>
          <a:bodyPr/>
          <a:lstStyle/>
          <a:p>
            <a:pPr algn="just"/>
            <a:endParaRPr lang="en-US" sz="2500" dirty="0">
              <a:latin typeface="Times New Roman" pitchFamily="18" charset="0"/>
              <a:cs typeface="Times New Roman" pitchFamily="18" charset="0"/>
            </a:endParaRPr>
          </a:p>
          <a:p>
            <a:pPr algn="just">
              <a:buNone/>
            </a:pPr>
            <a:r>
              <a:rPr lang="en-US" sz="2500" dirty="0">
                <a:latin typeface="Times New Roman" pitchFamily="18" charset="0"/>
                <a:cs typeface="Times New Roman" pitchFamily="18" charset="0"/>
              </a:rPr>
              <a:t>		Service climate has been defined as  employee's perception that : </a:t>
            </a:r>
          </a:p>
          <a:p>
            <a:pPr algn="just">
              <a:lnSpc>
                <a:spcPct val="150000"/>
              </a:lnSpc>
              <a:buNone/>
            </a:pPr>
            <a:r>
              <a:rPr lang="en-US" sz="2500" dirty="0">
                <a:latin typeface="Times New Roman" pitchFamily="18" charset="0"/>
                <a:cs typeface="Times New Roman" pitchFamily="18" charset="0"/>
              </a:rPr>
              <a:t>		a) Practices and procedure were in place to facilitate the delivery of excellent service. </a:t>
            </a:r>
          </a:p>
          <a:p>
            <a:pPr algn="just">
              <a:lnSpc>
                <a:spcPct val="150000"/>
              </a:lnSpc>
              <a:buNone/>
            </a:pPr>
            <a:r>
              <a:rPr lang="en-US" sz="2500" dirty="0">
                <a:latin typeface="Times New Roman" pitchFamily="18" charset="0"/>
                <a:cs typeface="Times New Roman" pitchFamily="18" charset="0"/>
              </a:rPr>
              <a:t>		b) Management rewarded , supported and expected excellent service .</a:t>
            </a:r>
          </a:p>
          <a:p>
            <a:endParaRPr lang="en-US" dirty="0">
              <a:latin typeface="Times New Roman" pitchFamily="18" charset="0"/>
              <a:cs typeface="Times New Roman" pitchFamily="18" charset="0"/>
            </a:endParaRP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20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US" sz="3600" dirty="0">
                <a:solidFill>
                  <a:srgbClr val="FF0000"/>
                </a:solidFill>
                <a:latin typeface="Times New Roman" pitchFamily="18" charset="0"/>
                <a:cs typeface="Times New Roman" pitchFamily="18" charset="0"/>
              </a:rPr>
              <a:t>Models of Union strategies </a:t>
            </a:r>
          </a:p>
        </p:txBody>
      </p:sp>
      <p:sp>
        <p:nvSpPr>
          <p:cNvPr id="3" name="Content Placeholder 2"/>
          <p:cNvSpPr>
            <a:spLocks noGrp="1"/>
          </p:cNvSpPr>
          <p:nvPr>
            <p:ph idx="1"/>
          </p:nvPr>
        </p:nvSpPr>
        <p:spPr>
          <a:xfrm>
            <a:off x="457200" y="1219200"/>
            <a:ext cx="8229600" cy="5334000"/>
          </a:xfrm>
        </p:spPr>
        <p:txBody>
          <a:bodyPr>
            <a:noAutofit/>
          </a:bodyPr>
          <a:lstStyle/>
          <a:p>
            <a:pPr algn="just"/>
            <a:r>
              <a:rPr lang="en-US" sz="2400" dirty="0">
                <a:latin typeface="Times New Roman" pitchFamily="18" charset="0"/>
                <a:cs typeface="Times New Roman" pitchFamily="18" charset="0"/>
              </a:rPr>
              <a:t>This framework posits that union strategies can be analyzed in terms of four dimensions: </a:t>
            </a:r>
            <a:r>
              <a:rPr lang="en-US" sz="2400" b="1" dirty="0">
                <a:latin typeface="Times New Roman" pitchFamily="18" charset="0"/>
                <a:cs typeface="Times New Roman" pitchFamily="18" charset="0"/>
              </a:rPr>
              <a:t>objectives, methods, tactics and the level at which strategies are formulated and implemented</a:t>
            </a:r>
            <a:r>
              <a:rPr lang="en-US" sz="2400" dirty="0">
                <a:latin typeface="Times New Roman" pitchFamily="18" charset="0"/>
                <a:cs typeface="Times New Roman" pitchFamily="18" charset="0"/>
              </a:rPr>
              <a:t>.</a:t>
            </a:r>
          </a:p>
          <a:p>
            <a:pPr algn="just">
              <a:buNone/>
            </a:pP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 It also considers the nature of the strategy formulation process. </a:t>
            </a:r>
          </a:p>
          <a:p>
            <a:pPr algn="just">
              <a:buNone/>
            </a:pP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This model, it is argued, could be operationalised in cross-national research on union strategy to investigate specific strategic patterns, the determinants of specific strategic patterns, and the relationship between different strategies and measures of union effectivenes</a:t>
            </a:r>
            <a:r>
              <a:rPr lang="en-US" sz="2400" dirty="0"/>
              <a:t>s.</a:t>
            </a:r>
          </a:p>
          <a:p>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endParaRPr lang="en-IN" dirty="0">
              <a:solidFill>
                <a:srgbClr val="FF0000"/>
              </a:solidFill>
              <a:latin typeface="Times New Roman" pitchFamily="18" charset="0"/>
              <a:cs typeface="Times New Roman" pitchFamily="18" charset="0"/>
            </a:endParaRPr>
          </a:p>
          <a:p>
            <a:pPr>
              <a:buNone/>
            </a:pPr>
            <a:endParaRPr lang="en-IN" dirty="0">
              <a:solidFill>
                <a:srgbClr val="FF0000"/>
              </a:solidFill>
              <a:latin typeface="Times New Roman" pitchFamily="18" charset="0"/>
              <a:cs typeface="Times New Roman" pitchFamily="18" charset="0"/>
            </a:endParaRPr>
          </a:p>
          <a:p>
            <a:pPr>
              <a:buNone/>
            </a:pPr>
            <a:endParaRPr lang="en-IN" dirty="0">
              <a:solidFill>
                <a:srgbClr val="FF0000"/>
              </a:solidFill>
              <a:latin typeface="Times New Roman" pitchFamily="18" charset="0"/>
              <a:cs typeface="Times New Roman" pitchFamily="18" charset="0"/>
            </a:endParaRPr>
          </a:p>
          <a:p>
            <a:pPr>
              <a:buNone/>
            </a:pPr>
            <a:r>
              <a:rPr lang="en-IN" dirty="0">
                <a:solidFill>
                  <a:srgbClr val="FF0000"/>
                </a:solidFill>
                <a:latin typeface="Times New Roman" pitchFamily="18" charset="0"/>
                <a:cs typeface="Times New Roman" pitchFamily="18" charset="0"/>
              </a:rPr>
              <a:t>				Thank You…..</a:t>
            </a:r>
            <a:endParaRPr lang="en-US" dirty="0">
              <a:solidFill>
                <a:srgbClr val="FF00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28600"/>
            <a:ext cx="7772400" cy="838200"/>
          </a:xfrm>
        </p:spPr>
        <p:txBody>
          <a:bodyPr>
            <a:noAutofit/>
          </a:bodyPr>
          <a:lstStyle/>
          <a:p>
            <a:pPr algn="l"/>
            <a:r>
              <a:rPr lang="en-US" dirty="0">
                <a:solidFill>
                  <a:srgbClr val="FF0000"/>
                </a:solidFill>
                <a:latin typeface="Times New Roman" pitchFamily="18" charset="0"/>
                <a:cs typeface="Times New Roman" pitchFamily="18" charset="0"/>
              </a:rPr>
              <a:t>Future Trends in H R M</a:t>
            </a:r>
            <a:endParaRPr lang="en-US" dirty="0">
              <a:solidFill>
                <a:srgbClr val="FF0000"/>
              </a:solidFill>
              <a:latin typeface="Times New Roman" pitchFamily="18" charset="0"/>
              <a:cs typeface="Times New Roman" pitchFamily="18" charset="0"/>
            </a:endParaRPr>
          </a:p>
        </p:txBody>
      </p:sp>
      <p:sp>
        <p:nvSpPr>
          <p:cNvPr id="3" name="Subtitle 2"/>
          <p:cNvSpPr>
            <a:spLocks noGrp="1"/>
          </p:cNvSpPr>
          <p:nvPr>
            <p:ph type="subTitle" idx="1"/>
          </p:nvPr>
        </p:nvSpPr>
        <p:spPr>
          <a:xfrm>
            <a:off x="609600" y="1219200"/>
            <a:ext cx="8001000" cy="5410200"/>
          </a:xfrm>
        </p:spPr>
        <p:txBody>
          <a:bodyPr>
            <a:normAutofit lnSpcReduction="10000"/>
          </a:bodyPr>
          <a:lstStyle/>
          <a:p>
            <a:pPr algn="just"/>
            <a:r>
              <a:rPr lang="en-US" b="1" dirty="0">
                <a:solidFill>
                  <a:schemeClr val="tx1"/>
                </a:solidFill>
                <a:latin typeface="Times New Roman" pitchFamily="18" charset="0"/>
                <a:cs typeface="Times New Roman" pitchFamily="18" charset="0"/>
              </a:rPr>
              <a:t>Future Trends in Human Resource Management: </a:t>
            </a:r>
            <a:r>
              <a:rPr lang="en-US" dirty="0">
                <a:solidFill>
                  <a:schemeClr val="tx1"/>
                </a:solidFill>
                <a:latin typeface="Times New Roman" pitchFamily="18" charset="0"/>
                <a:cs typeface="Times New Roman" pitchFamily="18" charset="0"/>
              </a:rPr>
              <a:t>Hybrid work model, Employee Skill Development, Internal mobility, Diversity and inclusion in workforce, People analytics,</a:t>
            </a:r>
          </a:p>
          <a:p>
            <a:pPr algn="just"/>
            <a:r>
              <a:rPr lang="en-US" dirty="0">
                <a:solidFill>
                  <a:schemeClr val="tx1"/>
                </a:solidFill>
                <a:latin typeface="Times New Roman" pitchFamily="18" charset="0"/>
                <a:cs typeface="Times New Roman" pitchFamily="18" charset="0"/>
              </a:rPr>
              <a:t>Employee well-being, Multi-generational workforces and All-in-One HR tools.</a:t>
            </a:r>
          </a:p>
          <a:p>
            <a:pPr algn="just"/>
            <a:r>
              <a:rPr lang="en-US" b="1" dirty="0">
                <a:solidFill>
                  <a:schemeClr val="tx1"/>
                </a:solidFill>
                <a:latin typeface="Times New Roman" pitchFamily="18" charset="0"/>
                <a:cs typeface="Times New Roman" pitchFamily="18" charset="0"/>
              </a:rPr>
              <a:t>Introduction to Human Resource Information System (HRIS): </a:t>
            </a:r>
            <a:r>
              <a:rPr lang="en-US" dirty="0">
                <a:solidFill>
                  <a:schemeClr val="tx1"/>
                </a:solidFill>
                <a:latin typeface="Times New Roman" pitchFamily="18" charset="0"/>
                <a:cs typeface="Times New Roman" pitchFamily="18" charset="0"/>
              </a:rPr>
              <a:t>The Concept of HRIS, The role of IT, Database concepts and applications in HRIS, Steps in implementing an HRIS, Benefits and limitations of HRIS.</a:t>
            </a:r>
            <a:endParaRPr lang="en-US"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solidFill>
                  <a:srgbClr val="FF0000"/>
                </a:solidFill>
                <a:latin typeface="Times New Roman" pitchFamily="18" charset="0"/>
                <a:cs typeface="Times New Roman" pitchFamily="18" charset="0"/>
              </a:rPr>
              <a:t>Future Trends in Human Resource Management</a:t>
            </a:r>
            <a:endParaRPr lang="en-US" dirty="0">
              <a:solidFill>
                <a:srgbClr val="FF0000"/>
              </a:solidFill>
            </a:endParaRPr>
          </a:p>
        </p:txBody>
      </p:sp>
      <p:sp>
        <p:nvSpPr>
          <p:cNvPr id="3" name="Content Placeholder 2"/>
          <p:cNvSpPr>
            <a:spLocks noGrp="1"/>
          </p:cNvSpPr>
          <p:nvPr>
            <p:ph idx="1"/>
          </p:nvPr>
        </p:nvSpPr>
        <p:spPr>
          <a:xfrm>
            <a:off x="457200" y="1524000"/>
            <a:ext cx="8229600" cy="5105400"/>
          </a:xfrm>
        </p:spPr>
        <p:txBody>
          <a:bodyPr>
            <a:normAutofit/>
          </a:bodyPr>
          <a:lstStyle/>
          <a:p>
            <a:pPr algn="just">
              <a:buNone/>
            </a:pPr>
            <a:r>
              <a:rPr lang="en-US" dirty="0"/>
              <a:t>		</a:t>
            </a:r>
            <a:r>
              <a:rPr lang="en-US" sz="2800" dirty="0">
                <a:latin typeface="Times New Roman" pitchFamily="18" charset="0"/>
                <a:cs typeface="Times New Roman" pitchFamily="18" charset="0"/>
              </a:rPr>
              <a:t>HRM is continually evolving to adapt to changes in the workplace, technology, and society. To stay competitive and effectively manage human capital, HR professionals must anticipate and embrace emerging trends.</a:t>
            </a:r>
            <a:endParaRPr lang="en-US" dirty="0">
              <a:latin typeface="Times New Roman" pitchFamily="18" charset="0"/>
              <a:cs typeface="Times New Roman" pitchFamily="18" charset="0"/>
            </a:endParaRPr>
          </a:p>
          <a:p>
            <a:pPr marL="514350" indent="-514350">
              <a:buAutoNum type="arabicPeriod"/>
            </a:pPr>
            <a:r>
              <a:rPr lang="en-US" b="1" dirty="0">
                <a:latin typeface="Times New Roman" pitchFamily="18" charset="0"/>
                <a:cs typeface="Times New Roman" pitchFamily="18" charset="0"/>
              </a:rPr>
              <a:t>Hybrid Work Model </a:t>
            </a:r>
          </a:p>
          <a:p>
            <a:pPr>
              <a:buNone/>
            </a:pPr>
            <a:r>
              <a:rPr lang="en-US" dirty="0"/>
              <a:t>	</a:t>
            </a:r>
            <a:r>
              <a:rPr lang="en-US" sz="2800" dirty="0">
                <a:latin typeface="Times New Roman" pitchFamily="18" charset="0"/>
                <a:cs typeface="Times New Roman" pitchFamily="18" charset="0"/>
              </a:rPr>
              <a:t>(Remote Work Infrastructure, Well-being and Mental Health, Cost Management, Employee Engagement). </a:t>
            </a:r>
          </a:p>
          <a:p>
            <a:pPr>
              <a:buNone/>
            </a:pPr>
            <a:r>
              <a:rPr lang="en-US" sz="2800" dirty="0">
                <a:latin typeface="Times New Roman" pitchFamily="18" charset="0"/>
                <a:cs typeface="Times New Roman" pitchFamily="18" charset="0"/>
              </a:rPr>
              <a:t> </a:t>
            </a:r>
          </a:p>
          <a:p>
            <a:pPr marL="514350" indent="-514350">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763000" cy="6324600"/>
          </a:xfrm>
        </p:spPr>
        <p:txBody>
          <a:bodyPr>
            <a:normAutofit fontScale="85000" lnSpcReduction="10000"/>
          </a:bodyPr>
          <a:lstStyle/>
          <a:p>
            <a:pPr algn="just">
              <a:buNone/>
            </a:pPr>
            <a:r>
              <a:rPr lang="en-US" b="1" dirty="0"/>
              <a:t>2. </a:t>
            </a:r>
            <a:r>
              <a:rPr lang="en-US" sz="3800" b="1" dirty="0">
                <a:latin typeface="Times New Roman" pitchFamily="18" charset="0"/>
                <a:cs typeface="Times New Roman" pitchFamily="18" charset="0"/>
              </a:rPr>
              <a:t>Employee Skill Development </a:t>
            </a:r>
          </a:p>
          <a:p>
            <a:pPr algn="just">
              <a:buNone/>
            </a:pPr>
            <a:r>
              <a:rPr lang="en-IN" b="1" dirty="0"/>
              <a:t>		</a:t>
            </a:r>
            <a:r>
              <a:rPr lang="en-IN" dirty="0">
                <a:latin typeface="Times New Roman" pitchFamily="18" charset="0"/>
                <a:cs typeface="Times New Roman" pitchFamily="18" charset="0"/>
              </a:rPr>
              <a:t>( </a:t>
            </a:r>
            <a:r>
              <a:rPr lang="en-US" dirty="0">
                <a:latin typeface="Times New Roman" pitchFamily="18" charset="0"/>
                <a:cs typeface="Times New Roman" pitchFamily="18" charset="0"/>
              </a:rPr>
              <a:t>Assessment of Skill Gaps ,Training and Development Programs ,Individual Development Plans (IDPs) ,Mentorship and Coaching ,Feedback and Performance Reviews ,Collaboration and Knowledge Sharing, Continuous Learning Culture, Recognition and Rewards).</a:t>
            </a:r>
          </a:p>
          <a:p>
            <a:pPr algn="just">
              <a:buNone/>
            </a:pPr>
            <a:r>
              <a:rPr lang="en-IN" sz="3800" b="1" dirty="0">
                <a:latin typeface="Times New Roman" pitchFamily="18" charset="0"/>
                <a:cs typeface="Times New Roman" pitchFamily="18" charset="0"/>
              </a:rPr>
              <a:t>3. </a:t>
            </a:r>
            <a:r>
              <a:rPr lang="en-US" sz="3800" b="1" dirty="0">
                <a:latin typeface="Times New Roman" pitchFamily="18" charset="0"/>
                <a:cs typeface="Times New Roman" pitchFamily="18" charset="0"/>
              </a:rPr>
              <a:t>Internal Mobility </a:t>
            </a:r>
            <a:r>
              <a:rPr lang="en-US" dirty="0">
                <a:latin typeface="Times New Roman" pitchFamily="18" charset="0"/>
                <a:cs typeface="Times New Roman" pitchFamily="18" charset="0"/>
              </a:rPr>
              <a:t>: </a:t>
            </a:r>
          </a:p>
          <a:p>
            <a:pPr algn="just">
              <a:buNone/>
            </a:pPr>
            <a:r>
              <a:rPr lang="en-US" dirty="0"/>
              <a:t>		</a:t>
            </a:r>
            <a:r>
              <a:rPr lang="en-US" dirty="0">
                <a:latin typeface="Times New Roman" pitchFamily="18" charset="0"/>
                <a:cs typeface="Times New Roman" pitchFamily="18" charset="0"/>
              </a:rPr>
              <a:t>Internal talent mobility or career development within an organization, is a strategic HRM concept that focuses on facilitating the movement of employees within the company to various roles, departments, or locations.</a:t>
            </a:r>
          </a:p>
          <a:p>
            <a:pPr algn="just">
              <a:buNone/>
            </a:pPr>
            <a:r>
              <a:rPr lang="en-US" dirty="0">
                <a:latin typeface="Times New Roman" pitchFamily="18" charset="0"/>
                <a:cs typeface="Times New Roman" pitchFamily="18" charset="0"/>
              </a:rPr>
              <a:t>	(Career Development Plans ,Skill Assessments ,Job Postings and Internal Job Boards ,Cross-Training ,Mentorship and Coaching ,Succession Planning ,Feedback and Evaluation </a:t>
            </a:r>
            <a:r>
              <a:rPr lang="en-US" dirty="0"/>
              <a:t>)</a:t>
            </a:r>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b="1" dirty="0">
                <a:latin typeface="Times New Roman" pitchFamily="18" charset="0"/>
                <a:ea typeface="+mn-ea"/>
                <a:cs typeface="Times New Roman" pitchFamily="18" charset="0"/>
              </a:rPr>
              <a:t>4.Diversity and Inclusion (D&amp;I) in the Workforce </a:t>
            </a:r>
          </a:p>
        </p:txBody>
      </p:sp>
      <p:sp>
        <p:nvSpPr>
          <p:cNvPr id="3" name="Content Placeholder 2"/>
          <p:cNvSpPr>
            <a:spLocks noGrp="1"/>
          </p:cNvSpPr>
          <p:nvPr>
            <p:ph idx="1"/>
          </p:nvPr>
        </p:nvSpPr>
        <p:spPr>
          <a:xfrm>
            <a:off x="457200" y="1600200"/>
            <a:ext cx="8229600" cy="5105400"/>
          </a:xfrm>
        </p:spPr>
        <p:txBody>
          <a:bodyPr>
            <a:normAutofit lnSpcReduction="10000"/>
          </a:bodyPr>
          <a:lstStyle/>
          <a:p>
            <a:pPr algn="just">
              <a:buNone/>
            </a:pPr>
            <a:r>
              <a:rPr lang="en-US" dirty="0"/>
              <a:t>	</a:t>
            </a:r>
            <a:r>
              <a:rPr lang="en-US" sz="2800" dirty="0">
                <a:latin typeface="Times New Roman" pitchFamily="18" charset="0"/>
                <a:cs typeface="Times New Roman" pitchFamily="18" charset="0"/>
              </a:rPr>
              <a:t>	</a:t>
            </a:r>
            <a:r>
              <a:rPr lang="en-US" sz="2700" dirty="0">
                <a:latin typeface="Times New Roman" pitchFamily="18" charset="0"/>
                <a:cs typeface="Times New Roman" pitchFamily="18" charset="0"/>
              </a:rPr>
              <a:t>Diversity and inclusion (D&amp;I) in the workforce refer to the intentional effort to create a workplace environment that values and embraces differences among employees, including those related to race, ethnicity, gender, age, sexual orientation, disability, religion, and more. </a:t>
            </a:r>
          </a:p>
          <a:p>
            <a:pPr algn="just">
              <a:buNone/>
            </a:pPr>
            <a:r>
              <a:rPr lang="en-US" sz="2700" dirty="0">
                <a:latin typeface="Times New Roman" pitchFamily="18" charset="0"/>
                <a:cs typeface="Times New Roman" pitchFamily="18" charset="0"/>
              </a:rPr>
              <a:t>		It goes beyond compliance with equal opportunity laws and focuses on fostering a culture of respect, fairness, and equality.</a:t>
            </a:r>
          </a:p>
          <a:p>
            <a:pPr algn="just">
              <a:buNone/>
            </a:pPr>
            <a:r>
              <a:rPr lang="en-US" sz="2700" dirty="0">
                <a:latin typeface="Times New Roman" pitchFamily="18" charset="0"/>
                <a:cs typeface="Times New Roman" pitchFamily="18" charset="0"/>
              </a:rPr>
              <a:t>		(Innovation, Enhanced Decision-Making, Employee Engagement, Improved Problem-Solving ,Market Competitiveness)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pPr algn="l"/>
            <a:r>
              <a:rPr lang="en-US" sz="3600" b="1" dirty="0">
                <a:latin typeface="Times New Roman" pitchFamily="18" charset="0"/>
                <a:ea typeface="+mn-ea"/>
                <a:cs typeface="Times New Roman" pitchFamily="18" charset="0"/>
              </a:rPr>
              <a:t>5. People Analytics </a:t>
            </a:r>
          </a:p>
        </p:txBody>
      </p:sp>
      <p:sp>
        <p:nvSpPr>
          <p:cNvPr id="3" name="Content Placeholder 2"/>
          <p:cNvSpPr>
            <a:spLocks noGrp="1"/>
          </p:cNvSpPr>
          <p:nvPr>
            <p:ph idx="1"/>
          </p:nvPr>
        </p:nvSpPr>
        <p:spPr>
          <a:xfrm>
            <a:off x="457200" y="1143000"/>
            <a:ext cx="8229600" cy="5562600"/>
          </a:xfrm>
        </p:spPr>
        <p:txBody>
          <a:bodyPr>
            <a:normAutofit/>
          </a:bodyPr>
          <a:lstStyle/>
          <a:p>
            <a:pPr algn="just">
              <a:buNone/>
            </a:pPr>
            <a:r>
              <a:rPr lang="en-US" sz="2700" dirty="0">
                <a:latin typeface="Times New Roman" pitchFamily="18" charset="0"/>
                <a:cs typeface="Times New Roman" pitchFamily="18" charset="0"/>
              </a:rPr>
              <a:t>		HR analytics or workforce analytics, refers to the use of data and advanced analytical techniques to inform and improve human resource management (HRM) decisions and strategies within an organization.</a:t>
            </a:r>
          </a:p>
          <a:p>
            <a:pPr algn="just">
              <a:buNone/>
            </a:pPr>
            <a:endParaRPr lang="en-US" sz="2700" dirty="0">
              <a:latin typeface="Times New Roman" pitchFamily="18" charset="0"/>
              <a:cs typeface="Times New Roman" pitchFamily="18" charset="0"/>
            </a:endParaRPr>
          </a:p>
          <a:p>
            <a:pPr algn="just">
              <a:buNone/>
            </a:pPr>
            <a:r>
              <a:rPr lang="en-IN" sz="2700" dirty="0">
                <a:latin typeface="Times New Roman" pitchFamily="18" charset="0"/>
                <a:cs typeface="Times New Roman" pitchFamily="18" charset="0"/>
              </a:rPr>
              <a:t>		(</a:t>
            </a:r>
            <a:r>
              <a:rPr lang="en-US" sz="2700" dirty="0">
                <a:latin typeface="Times New Roman" pitchFamily="18" charset="0"/>
                <a:cs typeface="Times New Roman" pitchFamily="18" charset="0"/>
              </a:rPr>
              <a:t>Data Collection, Data Analysis, Metrics and KPIs, Employee Engagement, Retention and Turnover Analysis ,Performance Management, Cost Reduction ,Data Governance ,Ethical Considerations ,Continuous Improvement </a:t>
            </a:r>
            <a:r>
              <a:rPr lang="en-IN" sz="2700" dirty="0">
                <a:latin typeface="Times New Roman" pitchFamily="18" charset="0"/>
                <a:cs typeface="Times New Roman" pitchFamily="18" charset="0"/>
              </a:rPr>
              <a:t>)</a:t>
            </a:r>
            <a:endParaRPr lang="en-US" sz="27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pPr algn="l"/>
            <a:r>
              <a:rPr lang="en-US" sz="3200" b="1" dirty="0">
                <a:latin typeface="Times New Roman" pitchFamily="18" charset="0"/>
                <a:ea typeface="+mn-ea"/>
                <a:cs typeface="Times New Roman" pitchFamily="18" charset="0"/>
              </a:rPr>
              <a:t>6.Employee Well-Being </a:t>
            </a:r>
          </a:p>
        </p:txBody>
      </p:sp>
      <p:sp>
        <p:nvSpPr>
          <p:cNvPr id="3" name="Content Placeholder 2"/>
          <p:cNvSpPr>
            <a:spLocks noGrp="1"/>
          </p:cNvSpPr>
          <p:nvPr>
            <p:ph idx="1"/>
          </p:nvPr>
        </p:nvSpPr>
        <p:spPr>
          <a:xfrm>
            <a:off x="457200" y="1219200"/>
            <a:ext cx="8229600" cy="5257800"/>
          </a:xfrm>
        </p:spPr>
        <p:txBody>
          <a:bodyPr>
            <a:noAutofit/>
          </a:bodyPr>
          <a:lstStyle/>
          <a:p>
            <a:pPr algn="just">
              <a:buNone/>
            </a:pPr>
            <a:r>
              <a:rPr lang="en-US" sz="2700" dirty="0">
                <a:latin typeface="Times New Roman" pitchFamily="18" charset="0"/>
                <a:cs typeface="Times New Roman" pitchFamily="18" charset="0"/>
              </a:rPr>
              <a:t>		Employee well-being refers to the physical, mental, and emotional health and happiness of employees within an organization. It encompasses various aspects of an employee's life, both inside and outside of work, that can impact their overall well-being and job performance. </a:t>
            </a:r>
          </a:p>
          <a:p>
            <a:pPr algn="just">
              <a:buNone/>
            </a:pPr>
            <a:r>
              <a:rPr lang="en-US" sz="2700" dirty="0">
                <a:latin typeface="Times New Roman" pitchFamily="18" charset="0"/>
                <a:cs typeface="Times New Roman" pitchFamily="18" charset="0"/>
              </a:rPr>
              <a:t>		(Physical Well-being, Mental and Emotional Well-being, Financial Well-Being, Social Well-being ,Workplace Policies ,Communication and Support, Recognition and Appreciation, Feedback and Surveys)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Autofit/>
          </a:bodyPr>
          <a:lstStyle/>
          <a:p>
            <a:r>
              <a:rPr lang="en-US" sz="3200" b="1" dirty="0">
                <a:latin typeface="Times New Roman" pitchFamily="18" charset="0"/>
                <a:cs typeface="Times New Roman" pitchFamily="18" charset="0"/>
              </a:rPr>
              <a:t>7.MULTI-GENERATIONAL WORKFORCE </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381000" y="1066800"/>
            <a:ext cx="8229600" cy="5562600"/>
          </a:xfrm>
        </p:spPr>
        <p:txBody>
          <a:bodyPr>
            <a:normAutofit lnSpcReduction="10000"/>
          </a:bodyPr>
          <a:lstStyle/>
          <a:p>
            <a:pPr algn="just">
              <a:buNone/>
            </a:pPr>
            <a:r>
              <a:rPr lang="en-US" sz="2700" dirty="0">
                <a:latin typeface="Times New Roman" pitchFamily="18" charset="0"/>
                <a:cs typeface="Times New Roman" pitchFamily="18" charset="0"/>
              </a:rPr>
              <a:t>		Multi-Generational workforce consists of employees from various age groups, spanning different generations, such as Baby Boomers (Born 1946-1964), Generation X (Born 1965-1980), </a:t>
            </a:r>
            <a:r>
              <a:rPr lang="en-US" sz="2700" dirty="0" err="1">
                <a:latin typeface="Times New Roman" pitchFamily="18" charset="0"/>
                <a:cs typeface="Times New Roman" pitchFamily="18" charset="0"/>
              </a:rPr>
              <a:t>Millennials</a:t>
            </a:r>
            <a:r>
              <a:rPr lang="en-US" sz="2700" dirty="0">
                <a:latin typeface="Times New Roman" pitchFamily="18" charset="0"/>
                <a:cs typeface="Times New Roman" pitchFamily="18" charset="0"/>
              </a:rPr>
              <a:t> (Born 1981-1996), and Generation Z (Born 1997-Present) </a:t>
            </a:r>
          </a:p>
          <a:p>
            <a:pPr algn="just">
              <a:buNone/>
            </a:pPr>
            <a:r>
              <a:rPr lang="en-US" sz="2700" dirty="0">
                <a:latin typeface="Times New Roman" pitchFamily="18" charset="0"/>
                <a:cs typeface="Times New Roman" pitchFamily="18" charset="0"/>
              </a:rPr>
              <a:t>		Each generation brings its unique perspectives, values, work styles, and communication preferences to the workplace.</a:t>
            </a:r>
          </a:p>
          <a:p>
            <a:pPr algn="just">
              <a:buNone/>
            </a:pPr>
            <a:r>
              <a:rPr lang="en-US" sz="2700" dirty="0">
                <a:latin typeface="Times New Roman" pitchFamily="18" charset="0"/>
                <a:cs typeface="Times New Roman" pitchFamily="18" charset="0"/>
              </a:rPr>
              <a:t>		(Understanding Generational Differences,  Communication, Feedback and Recognition, Technology and Tools,  Work-Life Balance,  Career Development, Mentorship and Knowledge Transfer, Benefits and Perks,  Continuous Learning)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pPr algn="l"/>
            <a:r>
              <a:rPr lang="en-IN" sz="3200" b="1" dirty="0">
                <a:latin typeface="Times New Roman" pitchFamily="18" charset="0"/>
                <a:cs typeface="Times New Roman" pitchFamily="18" charset="0"/>
              </a:rPr>
              <a:t>8. </a:t>
            </a:r>
            <a:r>
              <a:rPr lang="en-US" sz="3200" b="1" dirty="0">
                <a:latin typeface="Times New Roman" pitchFamily="18" charset="0"/>
                <a:cs typeface="Times New Roman" pitchFamily="18" charset="0"/>
              </a:rPr>
              <a:t>ALL-IN-ONE HR TOOLS (HRMS)</a:t>
            </a:r>
          </a:p>
        </p:txBody>
      </p:sp>
      <p:sp>
        <p:nvSpPr>
          <p:cNvPr id="3" name="Content Placeholder 2"/>
          <p:cNvSpPr>
            <a:spLocks noGrp="1"/>
          </p:cNvSpPr>
          <p:nvPr>
            <p:ph idx="1"/>
          </p:nvPr>
        </p:nvSpPr>
        <p:spPr>
          <a:xfrm>
            <a:off x="228600" y="1143000"/>
            <a:ext cx="8686800" cy="5562600"/>
          </a:xfrm>
        </p:spPr>
        <p:txBody>
          <a:bodyPr>
            <a:normAutofit lnSpcReduction="10000"/>
          </a:bodyPr>
          <a:lstStyle/>
          <a:p>
            <a:pPr algn="just">
              <a:buNone/>
            </a:pPr>
            <a:r>
              <a:rPr lang="en-US" dirty="0"/>
              <a:t>		</a:t>
            </a:r>
            <a:r>
              <a:rPr lang="en-US" sz="2700" dirty="0">
                <a:latin typeface="Times New Roman" pitchFamily="18" charset="0"/>
                <a:cs typeface="Times New Roman" pitchFamily="18" charset="0"/>
              </a:rPr>
              <a:t>Also known as integrated Human Resource Management Systems </a:t>
            </a:r>
            <a:r>
              <a:rPr lang="en-US" sz="2700" i="1" dirty="0">
                <a:solidFill>
                  <a:srgbClr val="FF0000"/>
                </a:solidFill>
                <a:latin typeface="Times New Roman" pitchFamily="18" charset="0"/>
                <a:cs typeface="Times New Roman" pitchFamily="18" charset="0"/>
              </a:rPr>
              <a:t>(HRMS)</a:t>
            </a:r>
            <a:r>
              <a:rPr lang="en-US" sz="2700" dirty="0">
                <a:latin typeface="Times New Roman" pitchFamily="18" charset="0"/>
                <a:cs typeface="Times New Roman" pitchFamily="18" charset="0"/>
              </a:rPr>
              <a:t> or Human Capital Management </a:t>
            </a:r>
            <a:r>
              <a:rPr lang="en-US" sz="2700" i="1" dirty="0">
                <a:solidFill>
                  <a:srgbClr val="FF0000"/>
                </a:solidFill>
                <a:latin typeface="Times New Roman" pitchFamily="18" charset="0"/>
                <a:cs typeface="Times New Roman" pitchFamily="18" charset="0"/>
              </a:rPr>
              <a:t>(HCM) </a:t>
            </a:r>
            <a:r>
              <a:rPr lang="en-US" sz="2700" dirty="0">
                <a:latin typeface="Times New Roman" pitchFamily="18" charset="0"/>
                <a:cs typeface="Times New Roman" pitchFamily="18" charset="0"/>
              </a:rPr>
              <a:t>platforms, are comprehensive software solutions designed to streamline and centralize various HR functions within an organization. These tools consolidate HR processes, data, and functions into a single platform, providing HR professionals with a more efficient and holistic way to manage their workforce.</a:t>
            </a:r>
          </a:p>
          <a:p>
            <a:pPr algn="just">
              <a:buNone/>
            </a:pPr>
            <a:r>
              <a:rPr lang="en-IN" sz="2700" dirty="0">
                <a:latin typeface="Times New Roman" pitchFamily="18" charset="0"/>
                <a:cs typeface="Times New Roman" pitchFamily="18" charset="0"/>
              </a:rPr>
              <a:t>		(</a:t>
            </a:r>
            <a:r>
              <a:rPr lang="en-US" sz="2700" dirty="0">
                <a:latin typeface="Times New Roman" pitchFamily="18" charset="0"/>
                <a:cs typeface="Times New Roman" pitchFamily="18" charset="0"/>
              </a:rPr>
              <a:t>Core HR Management, Recruitment and Applicant Tracking, Employee Self-Service (ESS), Time and Attendance, Payroll and Compensation Management, Benefits Administration, Performance Management, Workforce Analytics and Reporting, Employee Engagement and Surveys</a:t>
            </a:r>
            <a:r>
              <a:rPr lang="en-IN" sz="2700" dirty="0">
                <a:latin typeface="Times New Roman" pitchFamily="18" charset="0"/>
                <a:cs typeface="Times New Roman" pitchFamily="18" charset="0"/>
              </a:rPr>
              <a:t>).</a:t>
            </a:r>
            <a:endParaRPr lang="en-US" sz="27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pPr algn="l"/>
            <a:r>
              <a:rPr lang="en-US" b="1" dirty="0">
                <a:solidFill>
                  <a:srgbClr val="FF0000"/>
                </a:solidFill>
                <a:latin typeface="Times New Roman" pitchFamily="18" charset="0"/>
                <a:cs typeface="Times New Roman" pitchFamily="18" charset="0"/>
              </a:rPr>
              <a:t>HRIS</a:t>
            </a:r>
            <a:endParaRPr lang="en-US" dirty="0">
              <a:solidFill>
                <a:srgbClr val="FF0000"/>
              </a:solidFill>
            </a:endParaRPr>
          </a:p>
        </p:txBody>
      </p:sp>
      <p:sp>
        <p:nvSpPr>
          <p:cNvPr id="3" name="Content Placeholder 2"/>
          <p:cNvSpPr>
            <a:spLocks noGrp="1"/>
          </p:cNvSpPr>
          <p:nvPr>
            <p:ph idx="1"/>
          </p:nvPr>
        </p:nvSpPr>
        <p:spPr>
          <a:xfrm>
            <a:off x="457200" y="1143000"/>
            <a:ext cx="8229600" cy="5410200"/>
          </a:xfrm>
        </p:spPr>
        <p:txBody>
          <a:bodyPr/>
          <a:lstStyle/>
          <a:p>
            <a:pPr algn="just">
              <a:buNone/>
            </a:pPr>
            <a:r>
              <a:rPr lang="en-US" dirty="0"/>
              <a:t>		</a:t>
            </a:r>
          </a:p>
          <a:p>
            <a:pPr algn="just">
              <a:buNone/>
            </a:pPr>
            <a:r>
              <a:rPr lang="en-US" sz="2800" dirty="0">
                <a:latin typeface="Times New Roman" pitchFamily="18" charset="0"/>
                <a:cs typeface="Times New Roman" pitchFamily="18" charset="0"/>
              </a:rPr>
              <a:t>	</a:t>
            </a:r>
            <a:r>
              <a:rPr lang="en-US" sz="2800" dirty="0">
                <a:latin typeface="Times New Roman" pitchFamily="18" charset="0"/>
                <a:cs typeface="Times New Roman" pitchFamily="18" charset="0"/>
              </a:rPr>
              <a:t>		A </a:t>
            </a:r>
            <a:r>
              <a:rPr lang="en-US" sz="2800" i="1" dirty="0">
                <a:solidFill>
                  <a:srgbClr val="FF0000"/>
                </a:solidFill>
                <a:latin typeface="Times New Roman" pitchFamily="18" charset="0"/>
                <a:cs typeface="Times New Roman" pitchFamily="18" charset="0"/>
              </a:rPr>
              <a:t>Human Resources Information System </a:t>
            </a:r>
            <a:r>
              <a:rPr lang="en-US" sz="2800" dirty="0">
                <a:latin typeface="Times New Roman" pitchFamily="18" charset="0"/>
                <a:cs typeface="Times New Roman" pitchFamily="18" charset="0"/>
              </a:rPr>
              <a:t>(HRIS) is a software solution used to manage and automate various HR processes within an organization</a:t>
            </a:r>
            <a:r>
              <a:rPr lang="en-US" sz="2800" dirty="0">
                <a:latin typeface="Times New Roman" pitchFamily="18" charset="0"/>
                <a:cs typeface="Times New Roman" pitchFamily="18" charset="0"/>
              </a:rPr>
              <a:t>.</a:t>
            </a:r>
          </a:p>
          <a:p>
            <a:pPr algn="just">
              <a:buNone/>
            </a:pPr>
            <a:r>
              <a:rPr lang="en-US" sz="2800" dirty="0">
                <a:latin typeface="Times New Roman" pitchFamily="18" charset="0"/>
                <a:cs typeface="Times New Roman" pitchFamily="18" charset="0"/>
              </a:rPr>
              <a:t>		</a:t>
            </a:r>
            <a:r>
              <a:rPr lang="en-US" sz="2800" dirty="0">
                <a:latin typeface="Times New Roman" pitchFamily="18" charset="0"/>
                <a:cs typeface="Times New Roman" pitchFamily="18" charset="0"/>
              </a:rPr>
              <a:t> </a:t>
            </a:r>
            <a:r>
              <a:rPr lang="en-US" sz="2800" dirty="0">
                <a:latin typeface="Times New Roman" pitchFamily="18" charset="0"/>
                <a:cs typeface="Times New Roman" pitchFamily="18" charset="0"/>
              </a:rPr>
              <a:t>	It </a:t>
            </a:r>
            <a:r>
              <a:rPr lang="en-US" sz="2800" dirty="0">
                <a:latin typeface="Times New Roman" pitchFamily="18" charset="0"/>
                <a:cs typeface="Times New Roman" pitchFamily="18" charset="0"/>
              </a:rPr>
              <a:t>centralizes employee data, streamlines HR tasks, and facilitates more efficient decision-making. Essentially, it's a digital platform for managing all aspects of the employee lifecycle, from recruitment to </a:t>
            </a:r>
            <a:r>
              <a:rPr lang="en-US" sz="2800" dirty="0">
                <a:latin typeface="Times New Roman" pitchFamily="18" charset="0"/>
                <a:cs typeface="Times New Roman" pitchFamily="18" charset="0"/>
              </a:rPr>
              <a:t>retirement.</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US" sz="4000" dirty="0">
                <a:solidFill>
                  <a:srgbClr val="FF0000"/>
                </a:solidFill>
                <a:latin typeface="Times New Roman" pitchFamily="18" charset="0"/>
                <a:cs typeface="Times New Roman" pitchFamily="18" charset="0"/>
              </a:rPr>
              <a:t>Key </a:t>
            </a:r>
            <a:r>
              <a:rPr lang="en-US" sz="4000" dirty="0">
                <a:solidFill>
                  <a:srgbClr val="FF0000"/>
                </a:solidFill>
                <a:latin typeface="Times New Roman" pitchFamily="18" charset="0"/>
                <a:cs typeface="Times New Roman" pitchFamily="18" charset="0"/>
              </a:rPr>
              <a:t>Aspects or Elements </a:t>
            </a:r>
            <a:r>
              <a:rPr lang="en-US" sz="4000" dirty="0">
                <a:solidFill>
                  <a:srgbClr val="FF0000"/>
                </a:solidFill>
                <a:latin typeface="Times New Roman" pitchFamily="18" charset="0"/>
                <a:cs typeface="Times New Roman" pitchFamily="18" charset="0"/>
              </a:rPr>
              <a:t>of an HRIS</a:t>
            </a:r>
            <a:endParaRPr lang="en-US" sz="40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371600"/>
            <a:ext cx="8229600" cy="5105400"/>
          </a:xfrm>
        </p:spPr>
        <p:txBody>
          <a:bodyPr>
            <a:normAutofit fontScale="92500" lnSpcReduction="20000"/>
          </a:bodyPr>
          <a:lstStyle/>
          <a:p>
            <a:pPr>
              <a:lnSpc>
                <a:spcPct val="150000"/>
              </a:lnSpc>
            </a:pPr>
            <a:r>
              <a:rPr lang="en-US" dirty="0">
                <a:latin typeface="Times New Roman" pitchFamily="18" charset="0"/>
                <a:cs typeface="Times New Roman" pitchFamily="18" charset="0"/>
              </a:rPr>
              <a:t>Centralized Data </a:t>
            </a:r>
            <a:r>
              <a:rPr lang="en-US" dirty="0">
                <a:latin typeface="Times New Roman" pitchFamily="18" charset="0"/>
                <a:cs typeface="Times New Roman" pitchFamily="18" charset="0"/>
              </a:rPr>
              <a:t>Management.</a:t>
            </a:r>
          </a:p>
          <a:p>
            <a:pPr>
              <a:lnSpc>
                <a:spcPct val="150000"/>
              </a:lnSpc>
            </a:pPr>
            <a:r>
              <a:rPr lang="en-US" dirty="0">
                <a:latin typeface="Times New Roman" pitchFamily="18" charset="0"/>
                <a:cs typeface="Times New Roman" pitchFamily="18" charset="0"/>
              </a:rPr>
              <a:t>Improved </a:t>
            </a:r>
            <a:r>
              <a:rPr lang="en-US" dirty="0">
                <a:latin typeface="Times New Roman" pitchFamily="18" charset="0"/>
                <a:cs typeface="Times New Roman" pitchFamily="18" charset="0"/>
              </a:rPr>
              <a:t>Efficiency.</a:t>
            </a:r>
          </a:p>
          <a:p>
            <a:pPr>
              <a:lnSpc>
                <a:spcPct val="150000"/>
              </a:lnSpc>
            </a:pPr>
            <a:r>
              <a:rPr lang="en-US" dirty="0">
                <a:latin typeface="Times New Roman" pitchFamily="18" charset="0"/>
                <a:cs typeface="Times New Roman" pitchFamily="18" charset="0"/>
              </a:rPr>
              <a:t>Data-Driven Decision </a:t>
            </a:r>
            <a:r>
              <a:rPr lang="en-US" dirty="0">
                <a:latin typeface="Times New Roman" pitchFamily="18" charset="0"/>
                <a:cs typeface="Times New Roman" pitchFamily="18" charset="0"/>
              </a:rPr>
              <a:t>Making.</a:t>
            </a:r>
          </a:p>
          <a:p>
            <a:pPr>
              <a:lnSpc>
                <a:spcPct val="150000"/>
              </a:lnSpc>
            </a:pPr>
            <a:r>
              <a:rPr lang="en-US" dirty="0">
                <a:latin typeface="Times New Roman" pitchFamily="18" charset="0"/>
                <a:cs typeface="Times New Roman" pitchFamily="18" charset="0"/>
              </a:rPr>
              <a:t>Enhanced Employee </a:t>
            </a:r>
            <a:r>
              <a:rPr lang="en-US" dirty="0">
                <a:latin typeface="Times New Roman" pitchFamily="18" charset="0"/>
                <a:cs typeface="Times New Roman" pitchFamily="18" charset="0"/>
              </a:rPr>
              <a:t>Experience.</a:t>
            </a:r>
          </a:p>
          <a:p>
            <a:pPr>
              <a:lnSpc>
                <a:spcPct val="150000"/>
              </a:lnSpc>
            </a:pPr>
            <a:r>
              <a:rPr lang="en-US" dirty="0">
                <a:latin typeface="Times New Roman" pitchFamily="18" charset="0"/>
                <a:cs typeface="Times New Roman" pitchFamily="18" charset="0"/>
              </a:rPr>
              <a:t>Automation </a:t>
            </a:r>
            <a:r>
              <a:rPr lang="en-US" dirty="0">
                <a:latin typeface="Times New Roman" pitchFamily="18" charset="0"/>
                <a:cs typeface="Times New Roman" pitchFamily="18" charset="0"/>
              </a:rPr>
              <a:t>of </a:t>
            </a:r>
            <a:r>
              <a:rPr lang="en-US" dirty="0">
                <a:latin typeface="Times New Roman" pitchFamily="18" charset="0"/>
                <a:cs typeface="Times New Roman" pitchFamily="18" charset="0"/>
              </a:rPr>
              <a:t>Processes.</a:t>
            </a:r>
          </a:p>
          <a:p>
            <a:pPr>
              <a:lnSpc>
                <a:spcPct val="150000"/>
              </a:lnSpc>
            </a:pPr>
            <a:r>
              <a:rPr lang="en-US" dirty="0">
                <a:latin typeface="Times New Roman" pitchFamily="18" charset="0"/>
                <a:cs typeface="Times New Roman" pitchFamily="18" charset="0"/>
              </a:rPr>
              <a:t>Reporting and </a:t>
            </a:r>
            <a:r>
              <a:rPr lang="en-US" dirty="0">
                <a:latin typeface="Times New Roman" pitchFamily="18" charset="0"/>
                <a:cs typeface="Times New Roman" pitchFamily="18" charset="0"/>
              </a:rPr>
              <a:t>Analytics.</a:t>
            </a:r>
          </a:p>
          <a:p>
            <a:pPr>
              <a:lnSpc>
                <a:spcPct val="150000"/>
              </a:lnSpc>
            </a:pPr>
            <a:r>
              <a:rPr lang="en-US" dirty="0">
                <a:latin typeface="Times New Roman" pitchFamily="18" charset="0"/>
                <a:cs typeface="Times New Roman" pitchFamily="18" charset="0"/>
              </a:rPr>
              <a:t>Performance </a:t>
            </a:r>
            <a:r>
              <a:rPr lang="en-US" dirty="0">
                <a:latin typeface="Times New Roman" pitchFamily="18" charset="0"/>
                <a:cs typeface="Times New Roman" pitchFamily="18" charset="0"/>
              </a:rPr>
              <a:t>Management.</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pPr algn="l"/>
            <a:r>
              <a:rPr lang="en-US" dirty="0">
                <a:solidFill>
                  <a:srgbClr val="FF0000"/>
                </a:solidFill>
                <a:latin typeface="Times New Roman" pitchFamily="18" charset="0"/>
                <a:cs typeface="Times New Roman" pitchFamily="18" charset="0"/>
              </a:rPr>
              <a:t>Steps in </a:t>
            </a:r>
            <a:r>
              <a:rPr lang="en-US" dirty="0">
                <a:solidFill>
                  <a:srgbClr val="FF0000"/>
                </a:solidFill>
                <a:latin typeface="Times New Roman" pitchFamily="18" charset="0"/>
                <a:cs typeface="Times New Roman" pitchFamily="18" charset="0"/>
              </a:rPr>
              <a:t>Implementing </a:t>
            </a:r>
            <a:r>
              <a:rPr lang="en-US" dirty="0">
                <a:solidFill>
                  <a:srgbClr val="FF0000"/>
                </a:solidFill>
                <a:latin typeface="Times New Roman" pitchFamily="18" charset="0"/>
                <a:cs typeface="Times New Roman" pitchFamily="18" charset="0"/>
              </a:rPr>
              <a:t>an HRIS</a:t>
            </a:r>
            <a:endParaRPr lang="en-US"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219200"/>
            <a:ext cx="8229600" cy="5410200"/>
          </a:xfrm>
        </p:spPr>
        <p:txBody>
          <a:bodyPr>
            <a:normAutofit fontScale="77500" lnSpcReduction="20000"/>
          </a:bodyPr>
          <a:lstStyle/>
          <a:p>
            <a:pPr>
              <a:buFont typeface="Wingdings" pitchFamily="2" charset="2"/>
              <a:buChar char="ü"/>
            </a:pPr>
            <a:r>
              <a:rPr lang="en-US" dirty="0">
                <a:latin typeface="Times New Roman" pitchFamily="18" charset="0"/>
                <a:cs typeface="Times New Roman" pitchFamily="18" charset="0"/>
              </a:rPr>
              <a:t>Planning and </a:t>
            </a:r>
            <a:r>
              <a:rPr lang="en-US" dirty="0">
                <a:latin typeface="Times New Roman" pitchFamily="18" charset="0"/>
                <a:cs typeface="Times New Roman" pitchFamily="18" charset="0"/>
              </a:rPr>
              <a:t>Preparation.</a:t>
            </a:r>
          </a:p>
          <a:p>
            <a:pPr>
              <a:buNone/>
            </a:pPr>
            <a:r>
              <a:rPr lang="en-IN" dirty="0">
                <a:latin typeface="Times New Roman" pitchFamily="18" charset="0"/>
                <a:cs typeface="Times New Roman" pitchFamily="18" charset="0"/>
              </a:rPr>
              <a:t>     (</a:t>
            </a:r>
            <a:r>
              <a:rPr lang="en-US" dirty="0">
                <a:latin typeface="Times New Roman" pitchFamily="18" charset="0"/>
                <a:cs typeface="Times New Roman" pitchFamily="18" charset="0"/>
              </a:rPr>
              <a:t>Goals and </a:t>
            </a:r>
            <a:r>
              <a:rPr lang="en-US" dirty="0">
                <a:latin typeface="Times New Roman" pitchFamily="18" charset="0"/>
                <a:cs typeface="Times New Roman" pitchFamily="18" charset="0"/>
              </a:rPr>
              <a:t>Objectives, </a:t>
            </a:r>
            <a:r>
              <a:rPr lang="en-US" dirty="0">
                <a:latin typeface="Times New Roman" pitchFamily="18" charset="0"/>
                <a:cs typeface="Times New Roman" pitchFamily="18" charset="0"/>
              </a:rPr>
              <a:t>Budget and Timeline</a:t>
            </a:r>
            <a:r>
              <a:rPr lang="en-IN" dirty="0">
                <a:latin typeface="Times New Roman" pitchFamily="18" charset="0"/>
                <a:cs typeface="Times New Roman" pitchFamily="18" charset="0"/>
              </a:rPr>
              <a:t>)</a:t>
            </a:r>
            <a:endParaRPr lang="en-US" dirty="0">
              <a:latin typeface="Times New Roman" pitchFamily="18" charset="0"/>
              <a:cs typeface="Times New Roman" pitchFamily="18" charset="0"/>
            </a:endParaRPr>
          </a:p>
          <a:p>
            <a:pPr>
              <a:buFont typeface="Wingdings" pitchFamily="2" charset="2"/>
              <a:buChar char="ü"/>
            </a:pPr>
            <a:r>
              <a:rPr lang="en-US" dirty="0">
                <a:latin typeface="Times New Roman" pitchFamily="18" charset="0"/>
                <a:cs typeface="Times New Roman" pitchFamily="18" charset="0"/>
              </a:rPr>
              <a:t>Vendor </a:t>
            </a:r>
            <a:r>
              <a:rPr lang="en-US" dirty="0">
                <a:latin typeface="Times New Roman" pitchFamily="18" charset="0"/>
                <a:cs typeface="Times New Roman" pitchFamily="18" charset="0"/>
              </a:rPr>
              <a:t>Selection.</a:t>
            </a:r>
          </a:p>
          <a:p>
            <a:pPr>
              <a:buNone/>
            </a:pPr>
            <a:r>
              <a:rPr lang="en-IN" dirty="0">
                <a:latin typeface="Times New Roman" pitchFamily="18" charset="0"/>
                <a:cs typeface="Times New Roman" pitchFamily="18" charset="0"/>
              </a:rPr>
              <a:t>    (</a:t>
            </a:r>
            <a:r>
              <a:rPr lang="en-US" dirty="0">
                <a:latin typeface="Times New Roman" pitchFamily="18" charset="0"/>
                <a:cs typeface="Times New Roman" pitchFamily="18" charset="0"/>
              </a:rPr>
              <a:t>Research and Shortlist </a:t>
            </a:r>
            <a:r>
              <a:rPr lang="en-US" dirty="0">
                <a:latin typeface="Times New Roman" pitchFamily="18" charset="0"/>
                <a:cs typeface="Times New Roman" pitchFamily="18" charset="0"/>
              </a:rPr>
              <a:t>Vendors, </a:t>
            </a:r>
            <a:r>
              <a:rPr lang="en-US" dirty="0">
                <a:latin typeface="Times New Roman" pitchFamily="18" charset="0"/>
                <a:cs typeface="Times New Roman" pitchFamily="18" charset="0"/>
              </a:rPr>
              <a:t>Negotiate Contracts and Agreements</a:t>
            </a:r>
            <a:r>
              <a:rPr lang="en-IN" dirty="0">
                <a:latin typeface="Times New Roman" pitchFamily="18" charset="0"/>
                <a:cs typeface="Times New Roman" pitchFamily="18" charset="0"/>
              </a:rPr>
              <a:t>)</a:t>
            </a:r>
            <a:endParaRPr lang="en-US" dirty="0">
              <a:latin typeface="Times New Roman" pitchFamily="18" charset="0"/>
              <a:cs typeface="Times New Roman" pitchFamily="18" charset="0"/>
            </a:endParaRPr>
          </a:p>
          <a:p>
            <a:pPr>
              <a:buFont typeface="Wingdings" pitchFamily="2" charset="2"/>
              <a:buChar char="ü"/>
            </a:pPr>
            <a:r>
              <a:rPr lang="en-US" dirty="0">
                <a:latin typeface="Times New Roman" pitchFamily="18" charset="0"/>
                <a:cs typeface="Times New Roman" pitchFamily="18" charset="0"/>
              </a:rPr>
              <a:t>System </a:t>
            </a:r>
            <a:r>
              <a:rPr lang="en-US" dirty="0">
                <a:latin typeface="Times New Roman" pitchFamily="18" charset="0"/>
                <a:cs typeface="Times New Roman" pitchFamily="18" charset="0"/>
              </a:rPr>
              <a:t>Configuration.</a:t>
            </a:r>
          </a:p>
          <a:p>
            <a:pPr>
              <a:buNone/>
            </a:pPr>
            <a:r>
              <a:rPr lang="en-IN" dirty="0">
                <a:latin typeface="Times New Roman" pitchFamily="18" charset="0"/>
                <a:cs typeface="Times New Roman" pitchFamily="18" charset="0"/>
              </a:rPr>
              <a:t>    (</a:t>
            </a:r>
            <a:r>
              <a:rPr lang="en-US" dirty="0">
                <a:latin typeface="Times New Roman" pitchFamily="18" charset="0"/>
                <a:cs typeface="Times New Roman" pitchFamily="18" charset="0"/>
              </a:rPr>
              <a:t>Tailor the </a:t>
            </a:r>
            <a:r>
              <a:rPr lang="en-US" dirty="0">
                <a:latin typeface="Times New Roman" pitchFamily="18" charset="0"/>
                <a:cs typeface="Times New Roman" pitchFamily="18" charset="0"/>
              </a:rPr>
              <a:t>System, </a:t>
            </a:r>
            <a:r>
              <a:rPr lang="en-US" dirty="0">
                <a:latin typeface="Times New Roman" pitchFamily="18" charset="0"/>
                <a:cs typeface="Times New Roman" pitchFamily="18" charset="0"/>
              </a:rPr>
              <a:t>Set up Security Protocols</a:t>
            </a:r>
            <a:r>
              <a:rPr lang="en-IN" dirty="0">
                <a:latin typeface="Times New Roman" pitchFamily="18" charset="0"/>
                <a:cs typeface="Times New Roman" pitchFamily="18" charset="0"/>
              </a:rPr>
              <a:t>)</a:t>
            </a:r>
            <a:endParaRPr lang="en-US" dirty="0">
              <a:latin typeface="Times New Roman" pitchFamily="18" charset="0"/>
              <a:cs typeface="Times New Roman" pitchFamily="18" charset="0"/>
            </a:endParaRPr>
          </a:p>
          <a:p>
            <a:pPr>
              <a:buFont typeface="Wingdings" pitchFamily="2" charset="2"/>
              <a:buChar char="ü"/>
            </a:pPr>
            <a:r>
              <a:rPr lang="en-US" dirty="0">
                <a:latin typeface="Times New Roman" pitchFamily="18" charset="0"/>
                <a:cs typeface="Times New Roman" pitchFamily="18" charset="0"/>
              </a:rPr>
              <a:t> Data </a:t>
            </a:r>
            <a:r>
              <a:rPr lang="en-US" dirty="0">
                <a:latin typeface="Times New Roman" pitchFamily="18" charset="0"/>
                <a:cs typeface="Times New Roman" pitchFamily="18" charset="0"/>
              </a:rPr>
              <a:t>Migration.</a:t>
            </a:r>
          </a:p>
          <a:p>
            <a:pPr>
              <a:buNone/>
            </a:pPr>
            <a:r>
              <a:rPr lang="en-US" dirty="0">
                <a:latin typeface="Times New Roman" pitchFamily="18" charset="0"/>
                <a:cs typeface="Times New Roman" pitchFamily="18" charset="0"/>
              </a:rPr>
              <a:t>    (Clean </a:t>
            </a:r>
            <a:r>
              <a:rPr lang="en-US" dirty="0">
                <a:latin typeface="Times New Roman" pitchFamily="18" charset="0"/>
                <a:cs typeface="Times New Roman" pitchFamily="18" charset="0"/>
              </a:rPr>
              <a:t>and Validate Existing </a:t>
            </a:r>
            <a:r>
              <a:rPr lang="en-US" dirty="0">
                <a:latin typeface="Times New Roman" pitchFamily="18" charset="0"/>
                <a:cs typeface="Times New Roman" pitchFamily="18" charset="0"/>
              </a:rPr>
              <a:t>Data, </a:t>
            </a:r>
            <a:r>
              <a:rPr lang="en-US" dirty="0">
                <a:latin typeface="Times New Roman" pitchFamily="18" charset="0"/>
                <a:cs typeface="Times New Roman" pitchFamily="18" charset="0"/>
              </a:rPr>
              <a:t>Migrate Data to the New </a:t>
            </a:r>
            <a:r>
              <a:rPr lang="en-US" dirty="0">
                <a:latin typeface="Times New Roman" pitchFamily="18" charset="0"/>
                <a:cs typeface="Times New Roman" pitchFamily="18" charset="0"/>
              </a:rPr>
              <a:t>System)</a:t>
            </a:r>
          </a:p>
          <a:p>
            <a:pPr>
              <a:buFont typeface="Wingdings" pitchFamily="2" charset="2"/>
              <a:buChar char="ü"/>
            </a:pPr>
            <a:r>
              <a:rPr lang="en-US" dirty="0">
                <a:latin typeface="Times New Roman" pitchFamily="18" charset="0"/>
                <a:cs typeface="Times New Roman" pitchFamily="18" charset="0"/>
              </a:rPr>
              <a:t>Testing and </a:t>
            </a:r>
            <a:r>
              <a:rPr lang="en-US" dirty="0">
                <a:latin typeface="Times New Roman" pitchFamily="18" charset="0"/>
                <a:cs typeface="Times New Roman" pitchFamily="18" charset="0"/>
              </a:rPr>
              <a:t>Training.</a:t>
            </a:r>
          </a:p>
          <a:p>
            <a:pPr>
              <a:buNone/>
            </a:pPr>
            <a:r>
              <a:rPr lang="en-IN" dirty="0">
                <a:latin typeface="Times New Roman" pitchFamily="18" charset="0"/>
                <a:cs typeface="Times New Roman" pitchFamily="18" charset="0"/>
              </a:rPr>
              <a:t>    (</a:t>
            </a:r>
            <a:r>
              <a:rPr lang="en-US" dirty="0">
                <a:latin typeface="Times New Roman" pitchFamily="18" charset="0"/>
                <a:cs typeface="Times New Roman" pitchFamily="18" charset="0"/>
              </a:rPr>
              <a:t>Conduct Thorough </a:t>
            </a:r>
            <a:r>
              <a:rPr lang="en-US" dirty="0">
                <a:latin typeface="Times New Roman" pitchFamily="18" charset="0"/>
                <a:cs typeface="Times New Roman" pitchFamily="18" charset="0"/>
              </a:rPr>
              <a:t>Testing, </a:t>
            </a:r>
            <a:r>
              <a:rPr lang="en-US" dirty="0">
                <a:latin typeface="Times New Roman" pitchFamily="18" charset="0"/>
                <a:cs typeface="Times New Roman" pitchFamily="18" charset="0"/>
              </a:rPr>
              <a:t>Offer Different Training Methods:</a:t>
            </a:r>
            <a:r>
              <a:rPr lang="en-IN" dirty="0">
                <a:latin typeface="Times New Roman" pitchFamily="18" charset="0"/>
                <a:cs typeface="Times New Roman" pitchFamily="18" charset="0"/>
              </a:rPr>
              <a:t>)</a:t>
            </a:r>
            <a:endParaRPr lang="en-US" dirty="0">
              <a:latin typeface="Times New Roman" pitchFamily="18" charset="0"/>
              <a:cs typeface="Times New Roman" pitchFamily="18" charset="0"/>
            </a:endParaRPr>
          </a:p>
          <a:p>
            <a:pPr>
              <a:buFont typeface="Wingdings" pitchFamily="2" charset="2"/>
              <a:buChar char="ü"/>
            </a:pPr>
            <a:r>
              <a:rPr lang="en-US" dirty="0">
                <a:latin typeface="Times New Roman" pitchFamily="18" charset="0"/>
                <a:cs typeface="Times New Roman" pitchFamily="18" charset="0"/>
              </a:rPr>
              <a:t>Go-Live and Evaluation</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20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20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pPr algn="l"/>
            <a:r>
              <a:rPr lang="en-US" dirty="0">
                <a:solidFill>
                  <a:srgbClr val="FF0000"/>
                </a:solidFill>
                <a:latin typeface="Times New Roman" pitchFamily="18" charset="0"/>
                <a:cs typeface="Times New Roman" pitchFamily="18" charset="0"/>
              </a:rPr>
              <a:t>Benefits of HRIS</a:t>
            </a:r>
            <a:endParaRPr lang="en-US"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219200"/>
            <a:ext cx="8229600" cy="4906963"/>
          </a:xfrm>
        </p:spPr>
        <p:txBody>
          <a:bodyPr/>
          <a:lstStyle/>
          <a:p>
            <a:pPr>
              <a:lnSpc>
                <a:spcPct val="150000"/>
              </a:lnSpc>
              <a:buFont typeface="Wingdings" pitchFamily="2" charset="2"/>
              <a:buChar char="ü"/>
            </a:pPr>
            <a:r>
              <a:rPr lang="en-US" dirty="0">
                <a:latin typeface="Times New Roman" pitchFamily="18" charset="0"/>
                <a:cs typeface="Times New Roman" pitchFamily="18" charset="0"/>
              </a:rPr>
              <a:t>Increased </a:t>
            </a:r>
            <a:r>
              <a:rPr lang="en-US" dirty="0">
                <a:latin typeface="Times New Roman" pitchFamily="18" charset="0"/>
                <a:cs typeface="Times New Roman" pitchFamily="18" charset="0"/>
              </a:rPr>
              <a:t>Efficiency.</a:t>
            </a:r>
          </a:p>
          <a:p>
            <a:pPr>
              <a:lnSpc>
                <a:spcPct val="150000"/>
              </a:lnSpc>
              <a:buFont typeface="Wingdings" pitchFamily="2" charset="2"/>
              <a:buChar char="ü"/>
            </a:pPr>
            <a:r>
              <a:rPr lang="en-US" dirty="0">
                <a:latin typeface="Times New Roman" pitchFamily="18" charset="0"/>
                <a:cs typeface="Times New Roman" pitchFamily="18" charset="0"/>
              </a:rPr>
              <a:t>Better Decision </a:t>
            </a:r>
            <a:r>
              <a:rPr lang="en-US" dirty="0">
                <a:latin typeface="Times New Roman" pitchFamily="18" charset="0"/>
                <a:cs typeface="Times New Roman" pitchFamily="18" charset="0"/>
              </a:rPr>
              <a:t>Making.</a:t>
            </a:r>
          </a:p>
          <a:p>
            <a:pPr>
              <a:lnSpc>
                <a:spcPct val="150000"/>
              </a:lnSpc>
              <a:buFont typeface="Wingdings" pitchFamily="2" charset="2"/>
              <a:buChar char="ü"/>
            </a:pPr>
            <a:r>
              <a:rPr lang="en-US" dirty="0">
                <a:latin typeface="Times New Roman" pitchFamily="18" charset="0"/>
                <a:cs typeface="Times New Roman" pitchFamily="18" charset="0"/>
              </a:rPr>
              <a:t>Improved Data </a:t>
            </a:r>
            <a:r>
              <a:rPr lang="en-US" dirty="0">
                <a:latin typeface="Times New Roman" pitchFamily="18" charset="0"/>
                <a:cs typeface="Times New Roman" pitchFamily="18" charset="0"/>
              </a:rPr>
              <a:t>Management.</a:t>
            </a:r>
          </a:p>
          <a:p>
            <a:pPr>
              <a:lnSpc>
                <a:spcPct val="150000"/>
              </a:lnSpc>
              <a:buFont typeface="Wingdings" pitchFamily="2" charset="2"/>
              <a:buChar char="ü"/>
            </a:pPr>
            <a:r>
              <a:rPr lang="en-US" dirty="0">
                <a:latin typeface="Times New Roman" pitchFamily="18" charset="0"/>
                <a:cs typeface="Times New Roman" pitchFamily="18" charset="0"/>
              </a:rPr>
              <a:t>Enhanced </a:t>
            </a:r>
            <a:r>
              <a:rPr lang="en-US" dirty="0">
                <a:latin typeface="Times New Roman" pitchFamily="18" charset="0"/>
                <a:cs typeface="Times New Roman" pitchFamily="18" charset="0"/>
              </a:rPr>
              <a:t>Compliance.</a:t>
            </a:r>
          </a:p>
          <a:p>
            <a:pPr>
              <a:lnSpc>
                <a:spcPct val="150000"/>
              </a:lnSpc>
              <a:buFont typeface="Wingdings" pitchFamily="2" charset="2"/>
              <a:buChar char="ü"/>
            </a:pPr>
            <a:r>
              <a:rPr lang="en-US" dirty="0">
                <a:latin typeface="Times New Roman" pitchFamily="18" charset="0"/>
                <a:cs typeface="Times New Roman" pitchFamily="18" charset="0"/>
              </a:rPr>
              <a:t>Improved Employee </a:t>
            </a:r>
            <a:r>
              <a:rPr lang="en-US" dirty="0">
                <a:latin typeface="Times New Roman" pitchFamily="18" charset="0"/>
                <a:cs typeface="Times New Roman" pitchFamily="18" charset="0"/>
              </a:rPr>
              <a:t>Experience.</a:t>
            </a:r>
          </a:p>
          <a:p>
            <a:pPr>
              <a:lnSpc>
                <a:spcPct val="150000"/>
              </a:lnSpc>
              <a:buFont typeface="Wingdings" pitchFamily="2" charset="2"/>
              <a:buChar char="ü"/>
            </a:pPr>
            <a:r>
              <a:rPr lang="en-US" dirty="0">
                <a:latin typeface="Times New Roman" pitchFamily="18" charset="0"/>
                <a:cs typeface="Times New Roman" pitchFamily="18" charset="0"/>
              </a:rPr>
              <a:t>Streamlined </a:t>
            </a:r>
            <a:r>
              <a:rPr lang="en-US" dirty="0">
                <a:latin typeface="Times New Roman" pitchFamily="18" charset="0"/>
                <a:cs typeface="Times New Roman" pitchFamily="18" charset="0"/>
              </a:rPr>
              <a:t>Processes.</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pPr algn="l"/>
            <a:r>
              <a:rPr lang="en-US" dirty="0">
                <a:solidFill>
                  <a:srgbClr val="FF0000"/>
                </a:solidFill>
                <a:latin typeface="Times New Roman" pitchFamily="18" charset="0"/>
                <a:cs typeface="Times New Roman" pitchFamily="18" charset="0"/>
              </a:rPr>
              <a:t>Limitations of </a:t>
            </a:r>
            <a:r>
              <a:rPr lang="en-US" dirty="0">
                <a:solidFill>
                  <a:srgbClr val="FF0000"/>
                </a:solidFill>
                <a:latin typeface="Times New Roman" pitchFamily="18" charset="0"/>
                <a:cs typeface="Times New Roman" pitchFamily="18" charset="0"/>
              </a:rPr>
              <a:t>HRIS : </a:t>
            </a:r>
            <a:endParaRPr lang="en-US"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295400"/>
            <a:ext cx="8229600" cy="4830763"/>
          </a:xfrm>
        </p:spPr>
        <p:txBody>
          <a:bodyPr/>
          <a:lstStyle/>
          <a:p>
            <a:pPr>
              <a:buFont typeface="Wingdings" pitchFamily="2" charset="2"/>
              <a:buChar char="ü"/>
            </a:pPr>
            <a:r>
              <a:rPr lang="en-US" dirty="0">
                <a:latin typeface="Times New Roman" pitchFamily="18" charset="0"/>
                <a:cs typeface="Times New Roman" pitchFamily="18" charset="0"/>
              </a:rPr>
              <a:t>High Initial </a:t>
            </a:r>
            <a:r>
              <a:rPr lang="en-US" dirty="0">
                <a:latin typeface="Times New Roman" pitchFamily="18" charset="0"/>
                <a:cs typeface="Times New Roman" pitchFamily="18" charset="0"/>
              </a:rPr>
              <a:t>Costs.</a:t>
            </a:r>
          </a:p>
          <a:p>
            <a:pPr>
              <a:buFont typeface="Wingdings" pitchFamily="2" charset="2"/>
              <a:buChar char="ü"/>
            </a:pPr>
            <a:r>
              <a:rPr lang="en-US" dirty="0">
                <a:latin typeface="Times New Roman" pitchFamily="18" charset="0"/>
                <a:cs typeface="Times New Roman" pitchFamily="18" charset="0"/>
              </a:rPr>
              <a:t>Potential Security </a:t>
            </a:r>
            <a:r>
              <a:rPr lang="en-US" dirty="0">
                <a:latin typeface="Times New Roman" pitchFamily="18" charset="0"/>
                <a:cs typeface="Times New Roman" pitchFamily="18" charset="0"/>
              </a:rPr>
              <a:t>Risks.</a:t>
            </a:r>
          </a:p>
          <a:p>
            <a:pPr>
              <a:buFont typeface="Wingdings" pitchFamily="2" charset="2"/>
              <a:buChar char="ü"/>
            </a:pPr>
            <a:r>
              <a:rPr lang="en-US" dirty="0">
                <a:latin typeface="Times New Roman" pitchFamily="18" charset="0"/>
                <a:cs typeface="Times New Roman" pitchFamily="18" charset="0"/>
              </a:rPr>
              <a:t>Data Entry </a:t>
            </a:r>
            <a:r>
              <a:rPr lang="en-US" dirty="0">
                <a:latin typeface="Times New Roman" pitchFamily="18" charset="0"/>
                <a:cs typeface="Times New Roman" pitchFamily="18" charset="0"/>
              </a:rPr>
              <a:t>Errors.</a:t>
            </a:r>
          </a:p>
          <a:p>
            <a:pPr>
              <a:buFont typeface="Wingdings" pitchFamily="2" charset="2"/>
              <a:buChar char="ü"/>
            </a:pPr>
            <a:r>
              <a:rPr lang="en-US" dirty="0">
                <a:latin typeface="Times New Roman" pitchFamily="18" charset="0"/>
                <a:cs typeface="Times New Roman" pitchFamily="18" charset="0"/>
              </a:rPr>
              <a:t>Reliance on </a:t>
            </a:r>
            <a:r>
              <a:rPr lang="en-US" dirty="0">
                <a:latin typeface="Times New Roman" pitchFamily="18" charset="0"/>
                <a:cs typeface="Times New Roman" pitchFamily="18" charset="0"/>
              </a:rPr>
              <a:t>Technology.</a:t>
            </a:r>
          </a:p>
          <a:p>
            <a:pPr>
              <a:buFont typeface="Wingdings" pitchFamily="2" charset="2"/>
              <a:buChar char="ü"/>
            </a:pPr>
            <a:r>
              <a:rPr lang="en-US" dirty="0">
                <a:latin typeface="Times New Roman" pitchFamily="18" charset="0"/>
                <a:cs typeface="Times New Roman" pitchFamily="18" charset="0"/>
              </a:rPr>
              <a:t>Limited Support for Strategic </a:t>
            </a:r>
            <a:r>
              <a:rPr lang="en-US" dirty="0">
                <a:latin typeface="Times New Roman" pitchFamily="18" charset="0"/>
                <a:cs typeface="Times New Roman" pitchFamily="18" charset="0"/>
              </a:rPr>
              <a:t>Initiatives.</a:t>
            </a:r>
          </a:p>
          <a:p>
            <a:pPr>
              <a:buFont typeface="Wingdings" pitchFamily="2" charset="2"/>
              <a:buChar char="ü"/>
            </a:pPr>
            <a:r>
              <a:rPr lang="en-US" dirty="0">
                <a:latin typeface="Times New Roman" pitchFamily="18" charset="0"/>
                <a:cs typeface="Times New Roman" pitchFamily="18" charset="0"/>
              </a:rPr>
              <a:t>Integration </a:t>
            </a:r>
            <a:r>
              <a:rPr lang="en-US" dirty="0">
                <a:latin typeface="Times New Roman" pitchFamily="18" charset="0"/>
                <a:cs typeface="Times New Roman" pitchFamily="18" charset="0"/>
              </a:rPr>
              <a:t>Challenges.</a:t>
            </a:r>
          </a:p>
          <a:p>
            <a:pPr>
              <a:buFont typeface="Wingdings" pitchFamily="2" charset="2"/>
              <a:buChar char="ü"/>
            </a:pPr>
            <a:r>
              <a:rPr lang="en-US" dirty="0">
                <a:latin typeface="Times New Roman" pitchFamily="18" charset="0"/>
                <a:cs typeface="Times New Roman" pitchFamily="18" charset="0"/>
              </a:rPr>
              <a:t>Potential for User Adoption Issues</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docProps/app.xml><?xml version="1.0" encoding="utf-8"?>
<Properties xmlns="http://schemas.openxmlformats.org/officeDocument/2006/extended-properties" xmlns:vt="http://schemas.openxmlformats.org/officeDocument/2006/docPropsVTypes">
  <TotalTime>45</TotalTime>
  <Words>182</Words>
  <Application>Microsoft Office PowerPoint</Application>
  <PresentationFormat>On-screen Show (4:3)</PresentationFormat>
  <Paragraphs>57</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Slide 1</vt:lpstr>
      <vt:lpstr>  COMPENSATION AND BENEFITS   </vt:lpstr>
      <vt:lpstr>Slide 3</vt:lpstr>
      <vt:lpstr>TYPES OF COMPENSATION SYSTEM</vt:lpstr>
      <vt:lpstr>FACTORS AFFECTING COMPENSATION SYSTEM</vt:lpstr>
      <vt:lpstr> Employee Benefits   </vt:lpstr>
    </vt:vector>
  </TitlesOfParts>
  <Company/>
  <LinksUpToDate>false</LinksUpToDate>
  <SharedDoc>false</SharedDoc>
  <HyperlinksChanged>false</HyperlinksChanged>
  <AppVersion>12.0000</AppVersion>
</Properties>
</file>

<file path=docProps/core.xml><?xml version="1.0" encoding="utf-8"?>
<coreProperties xmlns:dc="http://purl.org/dc/elements/1.1/" xmlns:dcterms="http://purl.org/dc/terms/" xmlns:xsi="http://www.w3.org/2001/XMLSchema-instance" xmlns="http://schemas.openxmlformats.org/package/2006/metadata/core-properties">
  <dc:title> Compensation and Benefits   </dc:title>
  <dc:creator>vtu</dc:creator>
  <lastModifiedBy>HP</lastModifiedBy>
  <revision>16</revision>
  <dcterms:created xsi:type="dcterms:W3CDTF">2006-08-16T00:00:00.0000000Z</dcterms:created>
  <dcterms:modified xsi:type="dcterms:W3CDTF">2026-07-05T11:12:32.1860000Z</dcterms:modified>
</coreProperties>
</file>