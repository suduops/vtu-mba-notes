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0"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034A-0267-ABB5-679D-CBA1DD8AAA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9AF486B-DE25-62D1-D35C-7EB289819B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BD458C-6B0E-07C3-E727-D29034DF8D63}"/>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5" name="Footer Placeholder 4">
            <a:extLst>
              <a:ext uri="{FF2B5EF4-FFF2-40B4-BE49-F238E27FC236}">
                <a16:creationId xmlns:a16="http://schemas.microsoft.com/office/drawing/2014/main" id="{3FDEC1C2-029C-D17B-BF4A-74E9CA8632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33145-B448-540E-8C18-E0490F16C44B}"/>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1231717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D4930-DB11-E07A-346A-AD1BDDE574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9D6BC5-48B6-8FC3-34CF-5028FC74CD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2EDDF6-62C5-A6C8-CE15-6A3B686E564A}"/>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5" name="Footer Placeholder 4">
            <a:extLst>
              <a:ext uri="{FF2B5EF4-FFF2-40B4-BE49-F238E27FC236}">
                <a16:creationId xmlns:a16="http://schemas.microsoft.com/office/drawing/2014/main" id="{21705377-CCAD-AC2A-C089-CD10028984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754B6-2E57-6AE0-F076-733770EFB8FE}"/>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2585187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FBA4-161B-1A7E-EA10-681DFFC28A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02FEB0-643C-8762-6B5B-60B256B05E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68FFE6-6D9D-5B4C-E239-C025F91F85E0}"/>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5" name="Footer Placeholder 4">
            <a:extLst>
              <a:ext uri="{FF2B5EF4-FFF2-40B4-BE49-F238E27FC236}">
                <a16:creationId xmlns:a16="http://schemas.microsoft.com/office/drawing/2014/main" id="{9687725B-CFC7-2067-A6C7-BD30A9FBB4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3AB433-7DA6-A15E-A473-82D5D6839B04}"/>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2288413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DC3C9-F96E-3F9E-004E-777CFCBEE1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5FD963-411E-37FB-2F4A-F798600664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E30A07-7AEE-414D-2F07-7842C2BB87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E73B9C-EFB9-5631-3CA5-97D40F31665B}"/>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6" name="Footer Placeholder 5">
            <a:extLst>
              <a:ext uri="{FF2B5EF4-FFF2-40B4-BE49-F238E27FC236}">
                <a16:creationId xmlns:a16="http://schemas.microsoft.com/office/drawing/2014/main" id="{D24966F4-DB92-E321-FE98-1A3D319779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A7A3FC-F4C4-BEF4-BF36-CDB3CD3F35B6}"/>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4003140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C25ED-4D69-D5D3-3204-5097B45C38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8975D4-9E35-7CD7-3D14-B7D1805752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3176DB-5513-01AB-14EF-24F7E48BA4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9612F7-5B2C-7E5D-B6B0-E3DF7DBE02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1E9631-4723-8884-8BA9-87C829B6DC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0AFF52B-5AC6-3288-07D8-DDD1F71CFE54}"/>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8" name="Footer Placeholder 7">
            <a:extLst>
              <a:ext uri="{FF2B5EF4-FFF2-40B4-BE49-F238E27FC236}">
                <a16:creationId xmlns:a16="http://schemas.microsoft.com/office/drawing/2014/main" id="{6A01F7CE-4C78-D167-1C36-1A6091590B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57DF3E-0EEF-4579-3072-5171D601B2FF}"/>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2107107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663D7-CDDF-1352-3183-36AB95D465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EACCAC-0341-73A4-8ABA-A591159E2289}"/>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4" name="Footer Placeholder 3">
            <a:extLst>
              <a:ext uri="{FF2B5EF4-FFF2-40B4-BE49-F238E27FC236}">
                <a16:creationId xmlns:a16="http://schemas.microsoft.com/office/drawing/2014/main" id="{50AB8022-9F6C-5A60-7018-006BE63D27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8DA563-B15E-C8B1-BE4B-B441664CDBFF}"/>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2895188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D98020-573A-A1B7-AD07-E9957977FE40}"/>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3" name="Footer Placeholder 2">
            <a:extLst>
              <a:ext uri="{FF2B5EF4-FFF2-40B4-BE49-F238E27FC236}">
                <a16:creationId xmlns:a16="http://schemas.microsoft.com/office/drawing/2014/main" id="{E2308468-32A4-97F8-9EC1-7F7889BF5CB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9276095-B579-8295-06FF-4C21C67891B8}"/>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955644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6BC6-2A5A-B582-D52A-830BC6AED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0C7D37-B0DD-8C00-65B0-6D4A5CE80A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705497-7BBE-8D5F-2A4F-961A2A8210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109FAD-B911-16BE-077F-54CEDC848F3C}"/>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6" name="Footer Placeholder 5">
            <a:extLst>
              <a:ext uri="{FF2B5EF4-FFF2-40B4-BE49-F238E27FC236}">
                <a16:creationId xmlns:a16="http://schemas.microsoft.com/office/drawing/2014/main" id="{9549C894-6BA8-6E70-E5D1-D1948F21D8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4B52C6-66BE-F747-ACDB-7AC69CCAD602}"/>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1040442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24BDC-9851-B316-4000-D9CA5DDA8D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433417-2205-69B0-8F60-B6E323AB04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88C496-6BDB-8A57-B4A3-8FFC71CF8D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3F0521-E1F7-DD4B-FECE-239212FA36D3}"/>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6" name="Footer Placeholder 5">
            <a:extLst>
              <a:ext uri="{FF2B5EF4-FFF2-40B4-BE49-F238E27FC236}">
                <a16:creationId xmlns:a16="http://schemas.microsoft.com/office/drawing/2014/main" id="{5D47422D-3A5E-EB48-3BCA-6A65424886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F4F3CE-3B3B-48BD-0555-6002FC877E2F}"/>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1395058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F1A0-7F58-2318-12C0-646C1572C5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34CDE7-CA62-83A0-B0DF-AD40780F8E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24E3A5-B07F-5C37-D3E0-5CB8D914D97D}"/>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5" name="Footer Placeholder 4">
            <a:extLst>
              <a:ext uri="{FF2B5EF4-FFF2-40B4-BE49-F238E27FC236}">
                <a16:creationId xmlns:a16="http://schemas.microsoft.com/office/drawing/2014/main" id="{1DE62B22-1BFE-75CA-175D-0F4CCAE55A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322FBD-8022-DF3C-0D2D-3281C559BB5F}"/>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127572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4A83C7-B8CF-9EBF-C72B-3B7D02B50B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6898BF-0D4D-D71A-2B9E-410CE79DB1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65C589-E411-18D5-B6C1-4FAB9B65A5C5}"/>
              </a:ext>
            </a:extLst>
          </p:cNvPr>
          <p:cNvSpPr>
            <a:spLocks noGrp="1"/>
          </p:cNvSpPr>
          <p:nvPr>
            <p:ph type="dt" sz="half" idx="10"/>
          </p:nvPr>
        </p:nvSpPr>
        <p:spPr/>
        <p:txBody>
          <a:bodyPr/>
          <a:lstStyle/>
          <a:p>
            <a:fld id="{E8CC2DCB-7E11-4D21-9EDC-58CD62965F3B}" type="datetimeFigureOut">
              <a:rPr lang="en-IN" smtClean="0"/>
              <a:t>02-07-2026</a:t>
            </a:fld>
            <a:endParaRPr lang="en-IN"/>
          </a:p>
        </p:txBody>
      </p:sp>
      <p:sp>
        <p:nvSpPr>
          <p:cNvPr id="5" name="Footer Placeholder 4">
            <a:extLst>
              <a:ext uri="{FF2B5EF4-FFF2-40B4-BE49-F238E27FC236}">
                <a16:creationId xmlns:a16="http://schemas.microsoft.com/office/drawing/2014/main" id="{62320DD3-2BDD-0682-5D04-F82ED5D81F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0CDDC9-E6C4-CF3C-EFC1-6F8F43001AF9}"/>
              </a:ext>
            </a:extLst>
          </p:cNvPr>
          <p:cNvSpPr>
            <a:spLocks noGrp="1"/>
          </p:cNvSpPr>
          <p:nvPr>
            <p:ph type="sldNum" sz="quarter" idx="12"/>
          </p:nvPr>
        </p:nvSpPr>
        <p:spPr/>
        <p:txBody>
          <a:bodyPr/>
          <a:lstStyle/>
          <a:p>
            <a:fld id="{44DAD2DF-35AC-4205-97E8-858BC11C9221}" type="slidenum">
              <a:rPr lang="en-IN" smtClean="0"/>
              <a:t>‹#›</a:t>
            </a:fld>
            <a:endParaRPr lang="en-IN"/>
          </a:p>
        </p:txBody>
      </p:sp>
    </p:spTree>
    <p:extLst>
      <p:ext uri="{BB962C8B-B14F-4D97-AF65-F5344CB8AC3E}">
        <p14:creationId xmlns:p14="http://schemas.microsoft.com/office/powerpoint/2010/main" val="1162163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CC3704-12BA-253F-FE5F-9580DF483D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6838E3-4924-B25C-F546-B1BE30BA26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9FDBCB-7027-94FE-AC6F-A04012E903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CC2DCB-7E11-4D21-9EDC-58CD62965F3B}" type="datetimeFigureOut">
              <a:rPr lang="en-IN" smtClean="0"/>
              <a:t>02-07-2026</a:t>
            </a:fld>
            <a:endParaRPr lang="en-IN"/>
          </a:p>
        </p:txBody>
      </p:sp>
      <p:sp>
        <p:nvSpPr>
          <p:cNvPr id="5" name="Footer Placeholder 4">
            <a:extLst>
              <a:ext uri="{FF2B5EF4-FFF2-40B4-BE49-F238E27FC236}">
                <a16:creationId xmlns:a16="http://schemas.microsoft.com/office/drawing/2014/main" id="{91BEAF93-D573-A911-FB02-2E360C3B97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EA0F0F-64C2-0B87-08A3-D924B74A5F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DAD2DF-35AC-4205-97E8-858BC11C9221}" type="slidenum">
              <a:rPr lang="en-IN" smtClean="0"/>
              <a:t>‹#›</a:t>
            </a:fld>
            <a:endParaRPr lang="en-IN"/>
          </a:p>
        </p:txBody>
      </p:sp>
    </p:spTree>
    <p:extLst>
      <p:ext uri="{BB962C8B-B14F-4D97-AF65-F5344CB8AC3E}">
        <p14:creationId xmlns:p14="http://schemas.microsoft.com/office/powerpoint/2010/main" val="2326297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7FBA7-EDD5-FABD-34D2-78470AC2E721}"/>
              </a:ext>
            </a:extLst>
          </p:cNvPr>
          <p:cNvSpPr>
            <a:spLocks noGrp="1"/>
          </p:cNvSpPr>
          <p:nvPr>
            <p:ph type="title"/>
          </p:nvPr>
        </p:nvSpPr>
        <p:spPr>
          <a:xfrm>
            <a:off x="71920" y="77452"/>
            <a:ext cx="12020764" cy="939693"/>
          </a:xfrm>
        </p:spPr>
        <p:txBody>
          <a:bodyPr>
            <a:normAutofit fontScale="90000"/>
          </a:bodyPr>
          <a:lstStyle/>
          <a:p>
            <a:pPr algn="ctr"/>
            <a:r>
              <a:rPr lang="en-US" b="1" dirty="0">
                <a:solidFill>
                  <a:srgbClr val="C00000"/>
                </a:solidFill>
                <a:latin typeface="Times New Roman" panose="02020603050405020304" pitchFamily="18" charset="0"/>
                <a:cs typeface="Times New Roman" panose="02020603050405020304" pitchFamily="18" charset="0"/>
              </a:rPr>
              <a:t>Human Resource Management in Small and Medium Enterprises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27C8E2-345B-068E-4E50-210484512891}"/>
              </a:ext>
            </a:extLst>
          </p:cNvPr>
          <p:cNvSpPr>
            <a:spLocks noGrp="1"/>
          </p:cNvSpPr>
          <p:nvPr>
            <p:ph idx="1"/>
          </p:nvPr>
        </p:nvSpPr>
        <p:spPr>
          <a:xfrm>
            <a:off x="71920" y="1335640"/>
            <a:ext cx="12020764" cy="5363111"/>
          </a:xfrm>
        </p:spPr>
        <p:txBody>
          <a:bodyPr>
            <a:normAutofit/>
          </a:bodyPr>
          <a:lstStyle/>
          <a:p>
            <a:pPr marL="0" indent="0" algn="just">
              <a:lnSpc>
                <a:spcPct val="100000"/>
              </a:lnSpc>
              <a:buNone/>
            </a:pPr>
            <a:r>
              <a:rPr lang="en-US" sz="3600" dirty="0">
                <a:latin typeface="Times New Roman" panose="02020603050405020304" pitchFamily="18" charset="0"/>
                <a:cs typeface="Times New Roman" panose="02020603050405020304" pitchFamily="18" charset="0"/>
              </a:rPr>
              <a:t>Small and Medium Enterprises (SMEs) are businesses that operate on a smaller scale compared to large organizations in terms of investment, workforce size, turnover and operational capacity.</a:t>
            </a:r>
          </a:p>
          <a:p>
            <a:pPr marL="0" indent="0" algn="just">
              <a:lnSpc>
                <a:spcPct val="100000"/>
              </a:lnSpc>
              <a:buNone/>
            </a:pPr>
            <a:r>
              <a:rPr lang="en-US" sz="3600" dirty="0">
                <a:latin typeface="Times New Roman" panose="02020603050405020304" pitchFamily="18" charset="0"/>
                <a:cs typeface="Times New Roman" panose="02020603050405020304" pitchFamily="18" charset="0"/>
              </a:rPr>
              <a:t>In India, SMEs are collectively known as MSMEs (Micro, Small and Medium Enterprises).</a:t>
            </a:r>
          </a:p>
          <a:p>
            <a:pPr marL="0" indent="0" algn="just">
              <a:lnSpc>
                <a:spcPct val="100000"/>
              </a:lnSpc>
              <a:buNone/>
            </a:pPr>
            <a:r>
              <a:rPr lang="en-US" sz="3600" dirty="0">
                <a:latin typeface="Times New Roman" panose="02020603050405020304" pitchFamily="18" charset="0"/>
                <a:cs typeface="Times New Roman" panose="02020603050405020304" pitchFamily="18" charset="0"/>
              </a:rPr>
              <a:t>According to the Government of India, MSMEs are classified based on investment in plant and machinery/equipment and annual turnover.</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55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3641-8D2E-EA27-A5E5-D865899B3CB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CC79E9F-167C-8BE7-BC88-D82E2D2EBB5E}"/>
              </a:ext>
            </a:extLst>
          </p:cNvPr>
          <p:cNvGraphicFramePr>
            <a:graphicFrameLocks noGrp="1"/>
          </p:cNvGraphicFramePr>
          <p:nvPr>
            <p:extLst>
              <p:ext uri="{D42A27DB-BD31-4B8C-83A1-F6EECF244321}">
                <p14:modId xmlns:p14="http://schemas.microsoft.com/office/powerpoint/2010/main" val="496278711"/>
              </p:ext>
            </p:extLst>
          </p:nvPr>
        </p:nvGraphicFramePr>
        <p:xfrm>
          <a:off x="178084" y="996592"/>
          <a:ext cx="11835831" cy="4605887"/>
        </p:xfrm>
        <a:graphic>
          <a:graphicData uri="http://schemas.openxmlformats.org/drawingml/2006/table">
            <a:tbl>
              <a:tblPr firstRow="1" bandRow="1">
                <a:tableStyleId>{5A111915-BE36-4E01-A7E5-04B1672EAD32}</a:tableStyleId>
              </a:tblPr>
              <a:tblGrid>
                <a:gridCol w="3945277">
                  <a:extLst>
                    <a:ext uri="{9D8B030D-6E8A-4147-A177-3AD203B41FA5}">
                      <a16:colId xmlns:a16="http://schemas.microsoft.com/office/drawing/2014/main" val="20000"/>
                    </a:ext>
                  </a:extLst>
                </a:gridCol>
                <a:gridCol w="3945277">
                  <a:extLst>
                    <a:ext uri="{9D8B030D-6E8A-4147-A177-3AD203B41FA5}">
                      <a16:colId xmlns:a16="http://schemas.microsoft.com/office/drawing/2014/main" val="20001"/>
                    </a:ext>
                  </a:extLst>
                </a:gridCol>
                <a:gridCol w="3945277">
                  <a:extLst>
                    <a:ext uri="{9D8B030D-6E8A-4147-A177-3AD203B41FA5}">
                      <a16:colId xmlns:a16="http://schemas.microsoft.com/office/drawing/2014/main" val="20002"/>
                    </a:ext>
                  </a:extLst>
                </a:gridCol>
              </a:tblGrid>
              <a:tr h="887327">
                <a:tc>
                  <a:txBody>
                    <a:bodyPr/>
                    <a:lstStyle/>
                    <a:p>
                      <a:pPr algn="ctr"/>
                      <a:r>
                        <a:rPr lang="en-US" sz="4000" b="1" kern="1200" cap="all" dirty="0">
                          <a:solidFill>
                            <a:srgbClr val="FFFF00"/>
                          </a:solidFill>
                          <a:latin typeface="Times New Roman" panose="02020603050405020304" pitchFamily="18" charset="0"/>
                          <a:cs typeface="Times New Roman" panose="02020603050405020304" pitchFamily="18" charset="0"/>
                        </a:rPr>
                        <a:t>Micro </a:t>
                      </a:r>
                      <a:endParaRPr lang="en-US" sz="4000" dirty="0">
                        <a:solidFill>
                          <a:srgbClr val="FFFF00"/>
                        </a:solidFill>
                        <a:latin typeface="Times New Roman" pitchFamily="18" charset="0"/>
                        <a:cs typeface="Times New Roman"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4000" b="1" kern="1200" cap="all" dirty="0">
                          <a:solidFill>
                            <a:srgbClr val="FFFF00"/>
                          </a:solidFill>
                          <a:latin typeface="Times New Roman" panose="02020603050405020304" pitchFamily="18" charset="0"/>
                          <a:cs typeface="Times New Roman" panose="02020603050405020304" pitchFamily="18" charset="0"/>
                        </a:rPr>
                        <a:t>Small</a:t>
                      </a:r>
                      <a:endParaRPr lang="en-US" sz="4000" dirty="0">
                        <a:solidFill>
                          <a:srgbClr val="FFFF00"/>
                        </a:solidFill>
                        <a:latin typeface="Times New Roman" pitchFamily="18" charset="0"/>
                        <a:cs typeface="Times New Roman"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ase"/>
                      <a:r>
                        <a:rPr lang="en-US" sz="4000" b="1" cap="all" dirty="0">
                          <a:solidFill>
                            <a:srgbClr val="FFFF00"/>
                          </a:solidFill>
                          <a:latin typeface="Times New Roman" panose="02020603050405020304" pitchFamily="18" charset="0"/>
                          <a:cs typeface="Times New Roman" panose="02020603050405020304" pitchFamily="18" charset="0"/>
                        </a:rPr>
                        <a:t>Medium</a:t>
                      </a:r>
                    </a:p>
                  </a:txBody>
                  <a:tcPr marL="95250" marR="95250" marT="95250" marB="9525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55208">
                <a:tc>
                  <a:txBody>
                    <a:bodyPr/>
                    <a:lstStyle/>
                    <a:p>
                      <a:pPr algn="just"/>
                      <a:r>
                        <a:rPr lang="en-US" sz="3400" b="0" kern="1200" dirty="0">
                          <a:solidFill>
                            <a:schemeClr val="dk1"/>
                          </a:solidFill>
                          <a:latin typeface="Times New Roman" panose="02020603050405020304" pitchFamily="18" charset="0"/>
                          <a:cs typeface="Times New Roman" panose="02020603050405020304" pitchFamily="18" charset="0"/>
                        </a:rPr>
                        <a:t>Investment in Plant and Machinery or Equipment:</a:t>
                      </a:r>
                      <a:br>
                        <a:rPr lang="en-US" sz="3400" dirty="0">
                          <a:latin typeface="Times New Roman" panose="02020603050405020304" pitchFamily="18" charset="0"/>
                          <a:cs typeface="Times New Roman" panose="02020603050405020304" pitchFamily="18" charset="0"/>
                        </a:rPr>
                      </a:br>
                      <a:r>
                        <a:rPr lang="en-US" sz="3400" b="0" kern="1200" dirty="0">
                          <a:solidFill>
                            <a:schemeClr val="dk1"/>
                          </a:solidFill>
                          <a:latin typeface="Times New Roman" panose="02020603050405020304" pitchFamily="18" charset="0"/>
                          <a:cs typeface="Times New Roman" panose="02020603050405020304" pitchFamily="18" charset="0"/>
                        </a:rPr>
                        <a:t>Not more than Rs. 2.5 </a:t>
                      </a:r>
                      <a:r>
                        <a:rPr lang="en-US" sz="3400" b="0" kern="1200" dirty="0" err="1">
                          <a:solidFill>
                            <a:schemeClr val="dk1"/>
                          </a:solidFill>
                          <a:latin typeface="Times New Roman" panose="02020603050405020304" pitchFamily="18" charset="0"/>
                          <a:cs typeface="Times New Roman" panose="02020603050405020304" pitchFamily="18" charset="0"/>
                        </a:rPr>
                        <a:t>crore</a:t>
                      </a:r>
                      <a:r>
                        <a:rPr lang="en-US" sz="3400" b="0" kern="1200" dirty="0">
                          <a:solidFill>
                            <a:schemeClr val="dk1"/>
                          </a:solidFill>
                          <a:latin typeface="Times New Roman" panose="02020603050405020304" pitchFamily="18" charset="0"/>
                          <a:cs typeface="Times New Roman" panose="02020603050405020304" pitchFamily="18" charset="0"/>
                        </a:rPr>
                        <a:t> and Annual Turnover not more than Rs. 10 </a:t>
                      </a:r>
                      <a:r>
                        <a:rPr lang="en-US" sz="3400" b="0" kern="1200" dirty="0" err="1">
                          <a:solidFill>
                            <a:schemeClr val="dk1"/>
                          </a:solidFill>
                          <a:latin typeface="Times New Roman" panose="02020603050405020304" pitchFamily="18" charset="0"/>
                          <a:cs typeface="Times New Roman" panose="02020603050405020304" pitchFamily="18" charset="0"/>
                        </a:rPr>
                        <a:t>crore</a:t>
                      </a:r>
                      <a:endParaRPr lang="en-US" sz="3400" dirty="0">
                        <a:latin typeface="Times New Roman" pitchFamily="18" charset="0"/>
                        <a:cs typeface="Times New Roman"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just"/>
                      <a:r>
                        <a:rPr lang="en-US" sz="3400" b="0" kern="1200" dirty="0">
                          <a:solidFill>
                            <a:schemeClr val="dk1"/>
                          </a:solidFill>
                          <a:latin typeface="Times New Roman" panose="02020603050405020304" pitchFamily="18" charset="0"/>
                          <a:cs typeface="Times New Roman" panose="02020603050405020304" pitchFamily="18" charset="0"/>
                        </a:rPr>
                        <a:t>Investment in Plant and Machinery or Equipment:</a:t>
                      </a:r>
                      <a:br>
                        <a:rPr lang="en-US" sz="3400" dirty="0">
                          <a:latin typeface="Times New Roman" panose="02020603050405020304" pitchFamily="18" charset="0"/>
                          <a:cs typeface="Times New Roman" panose="02020603050405020304" pitchFamily="18" charset="0"/>
                        </a:rPr>
                      </a:br>
                      <a:r>
                        <a:rPr lang="en-US" sz="3400" b="0" kern="1200" dirty="0">
                          <a:solidFill>
                            <a:schemeClr val="dk1"/>
                          </a:solidFill>
                          <a:latin typeface="Times New Roman" panose="02020603050405020304" pitchFamily="18" charset="0"/>
                          <a:cs typeface="Times New Roman" panose="02020603050405020304" pitchFamily="18" charset="0"/>
                        </a:rPr>
                        <a:t>Not more than Rs. 25 </a:t>
                      </a:r>
                      <a:r>
                        <a:rPr lang="en-US" sz="3400" b="0" kern="1200" dirty="0" err="1">
                          <a:solidFill>
                            <a:schemeClr val="dk1"/>
                          </a:solidFill>
                          <a:latin typeface="Times New Roman" panose="02020603050405020304" pitchFamily="18" charset="0"/>
                          <a:cs typeface="Times New Roman" panose="02020603050405020304" pitchFamily="18" charset="0"/>
                        </a:rPr>
                        <a:t>crore</a:t>
                      </a:r>
                      <a:r>
                        <a:rPr lang="en-US" sz="3400" b="0" kern="1200" dirty="0">
                          <a:solidFill>
                            <a:schemeClr val="dk1"/>
                          </a:solidFill>
                          <a:latin typeface="Times New Roman" panose="02020603050405020304" pitchFamily="18" charset="0"/>
                          <a:cs typeface="Times New Roman" panose="02020603050405020304" pitchFamily="18" charset="0"/>
                        </a:rPr>
                        <a:t> and Annual Turnover not more than Rs. 100 </a:t>
                      </a:r>
                      <a:r>
                        <a:rPr lang="en-US" sz="3400" b="0" kern="1200" dirty="0" err="1">
                          <a:solidFill>
                            <a:schemeClr val="dk1"/>
                          </a:solidFill>
                          <a:latin typeface="Times New Roman" panose="02020603050405020304" pitchFamily="18" charset="0"/>
                          <a:cs typeface="Times New Roman" panose="02020603050405020304" pitchFamily="18" charset="0"/>
                        </a:rPr>
                        <a:t>crore</a:t>
                      </a:r>
                      <a:endParaRPr lang="en-US" sz="3400" dirty="0">
                        <a:latin typeface="Times New Roman" pitchFamily="18" charset="0"/>
                        <a:cs typeface="Times New Roman"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just"/>
                      <a:r>
                        <a:rPr lang="en-US" sz="3400" b="0" kern="1200" dirty="0">
                          <a:solidFill>
                            <a:schemeClr val="dk1"/>
                          </a:solidFill>
                          <a:latin typeface="Times New Roman" panose="02020603050405020304" pitchFamily="18" charset="0"/>
                          <a:cs typeface="Times New Roman" panose="02020603050405020304" pitchFamily="18" charset="0"/>
                        </a:rPr>
                        <a:t>Investment in Plant and Machinery or Equipment:</a:t>
                      </a:r>
                      <a:br>
                        <a:rPr lang="en-US" sz="3400" dirty="0">
                          <a:latin typeface="Times New Roman" panose="02020603050405020304" pitchFamily="18" charset="0"/>
                          <a:cs typeface="Times New Roman" panose="02020603050405020304" pitchFamily="18" charset="0"/>
                        </a:rPr>
                      </a:br>
                      <a:r>
                        <a:rPr lang="en-US" sz="3400" b="0" kern="1200" dirty="0">
                          <a:solidFill>
                            <a:schemeClr val="dk1"/>
                          </a:solidFill>
                          <a:latin typeface="Times New Roman" panose="02020603050405020304" pitchFamily="18" charset="0"/>
                          <a:cs typeface="Times New Roman" panose="02020603050405020304" pitchFamily="18" charset="0"/>
                        </a:rPr>
                        <a:t>Not more than Rs. 125 </a:t>
                      </a:r>
                      <a:r>
                        <a:rPr lang="en-US" sz="3400" b="0" kern="1200" dirty="0" err="1">
                          <a:solidFill>
                            <a:schemeClr val="dk1"/>
                          </a:solidFill>
                          <a:latin typeface="Times New Roman" panose="02020603050405020304" pitchFamily="18" charset="0"/>
                          <a:cs typeface="Times New Roman" panose="02020603050405020304" pitchFamily="18" charset="0"/>
                        </a:rPr>
                        <a:t>crore</a:t>
                      </a:r>
                      <a:r>
                        <a:rPr lang="en-US" sz="3400" b="0" kern="1200" dirty="0">
                          <a:solidFill>
                            <a:schemeClr val="dk1"/>
                          </a:solidFill>
                          <a:latin typeface="Times New Roman" panose="02020603050405020304" pitchFamily="18" charset="0"/>
                          <a:cs typeface="Times New Roman" panose="02020603050405020304" pitchFamily="18" charset="0"/>
                        </a:rPr>
                        <a:t> and Annual Turnover not more than Rs. 500 </a:t>
                      </a:r>
                      <a:r>
                        <a:rPr lang="en-US" sz="3400" b="0" kern="1200" dirty="0" err="1">
                          <a:solidFill>
                            <a:schemeClr val="dk1"/>
                          </a:solidFill>
                          <a:latin typeface="Times New Roman" panose="02020603050405020304" pitchFamily="18" charset="0"/>
                          <a:cs typeface="Times New Roman" panose="02020603050405020304" pitchFamily="18" charset="0"/>
                        </a:rPr>
                        <a:t>crore</a:t>
                      </a:r>
                      <a:endParaRPr lang="en-US" sz="3400" dirty="0">
                        <a:latin typeface="Times New Roman" pitchFamily="18" charset="0"/>
                        <a:cs typeface="Times New Roman"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8452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912EC-7850-F8B1-C399-9F598B221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D05D3-4851-B2AB-9D69-4EE5ECDD8416}"/>
              </a:ext>
            </a:extLst>
          </p:cNvPr>
          <p:cNvSpPr>
            <a:spLocks noGrp="1"/>
          </p:cNvSpPr>
          <p:nvPr>
            <p:ph type="title"/>
          </p:nvPr>
        </p:nvSpPr>
        <p:spPr>
          <a:xfrm>
            <a:off x="71920" y="77452"/>
            <a:ext cx="12020764" cy="939693"/>
          </a:xfrm>
        </p:spPr>
        <p:txBody>
          <a:bodyPr/>
          <a:lstStyle/>
          <a:p>
            <a:pPr algn="ctr"/>
            <a:r>
              <a:rPr lang="en-US" b="1" dirty="0">
                <a:solidFill>
                  <a:srgbClr val="C00000"/>
                </a:solidFill>
                <a:latin typeface="Times New Roman" panose="02020603050405020304" pitchFamily="18" charset="0"/>
                <a:cs typeface="Times New Roman" panose="02020603050405020304" pitchFamily="18" charset="0"/>
              </a:rPr>
              <a:t>Human Resource Management in SMEs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048219-36B8-B67F-BE16-261ECE463968}"/>
              </a:ext>
            </a:extLst>
          </p:cNvPr>
          <p:cNvSpPr>
            <a:spLocks noGrp="1"/>
          </p:cNvSpPr>
          <p:nvPr>
            <p:ph idx="1"/>
          </p:nvPr>
        </p:nvSpPr>
        <p:spPr>
          <a:xfrm>
            <a:off x="71920" y="1284270"/>
            <a:ext cx="12020764" cy="5414481"/>
          </a:xfrm>
        </p:spPr>
        <p:txBody>
          <a:bodyPr>
            <a:normAutofit/>
          </a:bodyPr>
          <a:lstStyle/>
          <a:p>
            <a:pPr marL="0" indent="0" algn="just">
              <a:lnSpc>
                <a:spcPct val="100000"/>
              </a:lnSpc>
              <a:buNone/>
            </a:pPr>
            <a:r>
              <a:rPr lang="en-US" sz="3600" dirty="0">
                <a:latin typeface="Times New Roman" panose="02020603050405020304" pitchFamily="18" charset="0"/>
                <a:cs typeface="Times New Roman" panose="02020603050405020304" pitchFamily="18" charset="0"/>
              </a:rPr>
              <a:t>Human Resource Management in SMEs refers to planning, recruiting, developing, motivating, compensating and retaining employees in small and medium-sized businesses.</a:t>
            </a:r>
          </a:p>
          <a:p>
            <a:pPr marL="0" indent="0" algn="just">
              <a:lnSpc>
                <a:spcPct val="100000"/>
              </a:lnSpc>
              <a:buNone/>
            </a:pPr>
            <a:r>
              <a:rPr lang="en-US" sz="3600" dirty="0">
                <a:latin typeface="Times New Roman" panose="02020603050405020304" pitchFamily="18" charset="0"/>
                <a:cs typeface="Times New Roman" panose="02020603050405020304" pitchFamily="18" charset="0"/>
              </a:rPr>
              <a:t>Unlike large organizations, SME owners often perform HR functions themselves due to resource limitations.</a:t>
            </a:r>
          </a:p>
          <a:p>
            <a:pPr marL="0" indent="0" algn="just">
              <a:buNone/>
            </a:pPr>
            <a:r>
              <a:rPr lang="en-US" sz="3600" b="1" dirty="0">
                <a:latin typeface="Times New Roman" panose="02020603050405020304" pitchFamily="18" charset="0"/>
                <a:cs typeface="Times New Roman" panose="02020603050405020304" pitchFamily="18" charset="0"/>
              </a:rPr>
              <a:t>Example</a:t>
            </a:r>
          </a:p>
          <a:p>
            <a:pPr algn="just"/>
            <a:r>
              <a:rPr lang="en-US" sz="3600" dirty="0">
                <a:latin typeface="Times New Roman" panose="02020603050405020304" pitchFamily="18" charset="0"/>
                <a:cs typeface="Times New Roman" panose="02020603050405020304" pitchFamily="18" charset="0"/>
              </a:rPr>
              <a:t>In a startup with 30 employees, the founder may personally conduct interviews, training and performance reviews.</a:t>
            </a:r>
          </a:p>
          <a:p>
            <a:pPr marL="0" indent="0" algn="just">
              <a:lnSpc>
                <a:spcPct val="100000"/>
              </a:lnSpc>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38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B6581-70B6-FFB5-6342-88A6136FB7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5CBA-B177-B829-1DE0-E5A1AE17AFF9}"/>
              </a:ext>
            </a:extLst>
          </p:cNvPr>
          <p:cNvSpPr>
            <a:spLocks noGrp="1"/>
          </p:cNvSpPr>
          <p:nvPr>
            <p:ph type="title"/>
          </p:nvPr>
        </p:nvSpPr>
        <p:spPr>
          <a:xfrm>
            <a:off x="71920" y="128822"/>
            <a:ext cx="12020764" cy="939693"/>
          </a:xfrm>
        </p:spPr>
        <p:txBody>
          <a:bodyPr>
            <a:normAutofit fontScale="90000"/>
          </a:bodyPr>
          <a:lstStyle/>
          <a:p>
            <a:pPr algn="ctr"/>
            <a:r>
              <a:rPr lang="en-US" b="1" dirty="0">
                <a:solidFill>
                  <a:srgbClr val="C00000"/>
                </a:solidFill>
                <a:latin typeface="Times New Roman" panose="02020603050405020304" pitchFamily="18" charset="0"/>
                <a:cs typeface="Times New Roman" panose="02020603050405020304" pitchFamily="18" charset="0"/>
              </a:rPr>
              <a:t>Difference in Adoption of Human Resource Management: SMEs vs Large Firms</a:t>
            </a:r>
            <a:endParaRPr lang="en-IN" b="1" dirty="0">
              <a:solidFill>
                <a:srgbClr val="C0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B353842-93D3-F0F7-E59B-000D0C2B74E9}"/>
              </a:ext>
            </a:extLst>
          </p:cNvPr>
          <p:cNvGraphicFramePr>
            <a:graphicFrameLocks noGrp="1"/>
          </p:cNvGraphicFramePr>
          <p:nvPr>
            <p:extLst>
              <p:ext uri="{D42A27DB-BD31-4B8C-83A1-F6EECF244321}">
                <p14:modId xmlns:p14="http://schemas.microsoft.com/office/powerpoint/2010/main" val="296355558"/>
              </p:ext>
            </p:extLst>
          </p:nvPr>
        </p:nvGraphicFramePr>
        <p:xfrm>
          <a:off x="133564" y="1273995"/>
          <a:ext cx="11938572" cy="5303520"/>
        </p:xfrm>
        <a:graphic>
          <a:graphicData uri="http://schemas.openxmlformats.org/drawingml/2006/table">
            <a:tbl>
              <a:tblPr>
                <a:tableStyleId>{5940675A-B579-460E-94D1-54222C63F5DA}</a:tableStyleId>
              </a:tblPr>
              <a:tblGrid>
                <a:gridCol w="3493214">
                  <a:extLst>
                    <a:ext uri="{9D8B030D-6E8A-4147-A177-3AD203B41FA5}">
                      <a16:colId xmlns:a16="http://schemas.microsoft.com/office/drawing/2014/main" val="701001519"/>
                    </a:ext>
                  </a:extLst>
                </a:gridCol>
                <a:gridCol w="4099389">
                  <a:extLst>
                    <a:ext uri="{9D8B030D-6E8A-4147-A177-3AD203B41FA5}">
                      <a16:colId xmlns:a16="http://schemas.microsoft.com/office/drawing/2014/main" val="2659510215"/>
                    </a:ext>
                  </a:extLst>
                </a:gridCol>
                <a:gridCol w="4345969">
                  <a:extLst>
                    <a:ext uri="{9D8B030D-6E8A-4147-A177-3AD203B41FA5}">
                      <a16:colId xmlns:a16="http://schemas.microsoft.com/office/drawing/2014/main" val="874372950"/>
                    </a:ext>
                  </a:extLst>
                </a:gridCol>
              </a:tblGrid>
              <a:tr h="511244">
                <a:tc>
                  <a:txBody>
                    <a:bodyPr/>
                    <a:lstStyle/>
                    <a:p>
                      <a:pPr algn="ctr">
                        <a:buNone/>
                      </a:pPr>
                      <a:r>
                        <a:rPr lang="en-IN" sz="2800" b="1">
                          <a:latin typeface="Times New Roman" panose="02020603050405020304" pitchFamily="18" charset="0"/>
                          <a:cs typeface="Times New Roman" panose="02020603050405020304" pitchFamily="18" charset="0"/>
                        </a:rPr>
                        <a:t>HR Function</a:t>
                      </a:r>
                    </a:p>
                  </a:txBody>
                  <a:tcPr anchor="ctr"/>
                </a:tc>
                <a:tc>
                  <a:txBody>
                    <a:bodyPr/>
                    <a:lstStyle/>
                    <a:p>
                      <a:pPr algn="ctr">
                        <a:buNone/>
                      </a:pPr>
                      <a:r>
                        <a:rPr lang="en-IN" sz="2800" b="1">
                          <a:latin typeface="Times New Roman" panose="02020603050405020304" pitchFamily="18" charset="0"/>
                          <a:cs typeface="Times New Roman" panose="02020603050405020304" pitchFamily="18" charset="0"/>
                        </a:rPr>
                        <a:t>SMEs</a:t>
                      </a:r>
                    </a:p>
                  </a:txBody>
                  <a:tcPr anchor="ctr"/>
                </a:tc>
                <a:tc>
                  <a:txBody>
                    <a:bodyPr/>
                    <a:lstStyle/>
                    <a:p>
                      <a:pPr algn="ctr">
                        <a:buNone/>
                      </a:pPr>
                      <a:r>
                        <a:rPr lang="en-IN" sz="2800" b="1" dirty="0">
                          <a:latin typeface="Times New Roman" panose="02020603050405020304" pitchFamily="18" charset="0"/>
                          <a:cs typeface="Times New Roman" panose="02020603050405020304" pitchFamily="18" charset="0"/>
                        </a:rPr>
                        <a:t>Large Firms</a:t>
                      </a:r>
                    </a:p>
                  </a:txBody>
                  <a:tcPr anchor="ctr"/>
                </a:tc>
                <a:extLst>
                  <a:ext uri="{0D108BD9-81ED-4DB2-BD59-A6C34878D82A}">
                    <a16:rowId xmlns:a16="http://schemas.microsoft.com/office/drawing/2014/main" val="3514650315"/>
                  </a:ext>
                </a:extLst>
              </a:tr>
              <a:tr h="451098">
                <a:tc>
                  <a:txBody>
                    <a:bodyPr/>
                    <a:lstStyle/>
                    <a:p>
                      <a:pPr>
                        <a:buNone/>
                      </a:pPr>
                      <a:r>
                        <a:rPr lang="en-IN" sz="2600">
                          <a:latin typeface="Times New Roman" panose="02020603050405020304" pitchFamily="18" charset="0"/>
                          <a:cs typeface="Times New Roman" panose="02020603050405020304" pitchFamily="18" charset="0"/>
                        </a:rPr>
                        <a:t>HR Department</a:t>
                      </a:r>
                    </a:p>
                  </a:txBody>
                  <a:tcPr anchor="ctr"/>
                </a:tc>
                <a:tc>
                  <a:txBody>
                    <a:bodyPr/>
                    <a:lstStyle/>
                    <a:p>
                      <a:pPr>
                        <a:buNone/>
                      </a:pPr>
                      <a:r>
                        <a:rPr lang="en-IN" sz="2600">
                          <a:latin typeface="Times New Roman" panose="02020603050405020304" pitchFamily="18" charset="0"/>
                          <a:cs typeface="Times New Roman" panose="02020603050405020304" pitchFamily="18" charset="0"/>
                        </a:rPr>
                        <a:t>Usually absent or limited</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Dedicated HR department</a:t>
                      </a:r>
                    </a:p>
                  </a:txBody>
                  <a:tcPr anchor="ctr"/>
                </a:tc>
                <a:extLst>
                  <a:ext uri="{0D108BD9-81ED-4DB2-BD59-A6C34878D82A}">
                    <a16:rowId xmlns:a16="http://schemas.microsoft.com/office/drawing/2014/main" val="761527485"/>
                  </a:ext>
                </a:extLst>
              </a:tr>
              <a:tr h="451098">
                <a:tc>
                  <a:txBody>
                    <a:bodyPr/>
                    <a:lstStyle/>
                    <a:p>
                      <a:pPr>
                        <a:buNone/>
                      </a:pPr>
                      <a:r>
                        <a:rPr lang="en-IN" sz="2600" dirty="0">
                          <a:latin typeface="Times New Roman" panose="02020603050405020304" pitchFamily="18" charset="0"/>
                          <a:cs typeface="Times New Roman" panose="02020603050405020304" pitchFamily="18" charset="0"/>
                        </a:rPr>
                        <a:t>Recruitment</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Informal methods</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Structured recruitment process</a:t>
                      </a:r>
                    </a:p>
                  </a:txBody>
                  <a:tcPr anchor="ctr"/>
                </a:tc>
                <a:extLst>
                  <a:ext uri="{0D108BD9-81ED-4DB2-BD59-A6C34878D82A}">
                    <a16:rowId xmlns:a16="http://schemas.microsoft.com/office/drawing/2014/main" val="253874994"/>
                  </a:ext>
                </a:extLst>
              </a:tr>
              <a:tr h="451098">
                <a:tc>
                  <a:txBody>
                    <a:bodyPr/>
                    <a:lstStyle/>
                    <a:p>
                      <a:pPr>
                        <a:buNone/>
                      </a:pPr>
                      <a:r>
                        <a:rPr lang="en-IN" sz="2600">
                          <a:latin typeface="Times New Roman" panose="02020603050405020304" pitchFamily="18" charset="0"/>
                          <a:cs typeface="Times New Roman" panose="02020603050405020304" pitchFamily="18" charset="0"/>
                        </a:rPr>
                        <a:t>Training</a:t>
                      </a:r>
                    </a:p>
                  </a:txBody>
                  <a:tcPr anchor="ctr"/>
                </a:tc>
                <a:tc>
                  <a:txBody>
                    <a:bodyPr/>
                    <a:lstStyle/>
                    <a:p>
                      <a:pPr>
                        <a:buNone/>
                      </a:pPr>
                      <a:r>
                        <a:rPr lang="en-IN" sz="2600">
                          <a:latin typeface="Times New Roman" panose="02020603050405020304" pitchFamily="18" charset="0"/>
                          <a:cs typeface="Times New Roman" panose="02020603050405020304" pitchFamily="18" charset="0"/>
                        </a:rPr>
                        <a:t>Limited training programs</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Extensive training systems</a:t>
                      </a:r>
                    </a:p>
                  </a:txBody>
                  <a:tcPr anchor="ctr"/>
                </a:tc>
                <a:extLst>
                  <a:ext uri="{0D108BD9-81ED-4DB2-BD59-A6C34878D82A}">
                    <a16:rowId xmlns:a16="http://schemas.microsoft.com/office/drawing/2014/main" val="4011101258"/>
                  </a:ext>
                </a:extLst>
              </a:tr>
              <a:tr h="451098">
                <a:tc>
                  <a:txBody>
                    <a:bodyPr/>
                    <a:lstStyle/>
                    <a:p>
                      <a:pPr>
                        <a:buNone/>
                      </a:pPr>
                      <a:r>
                        <a:rPr lang="en-IN" sz="2600">
                          <a:latin typeface="Times New Roman" panose="02020603050405020304" pitchFamily="18" charset="0"/>
                          <a:cs typeface="Times New Roman" panose="02020603050405020304" pitchFamily="18" charset="0"/>
                        </a:rPr>
                        <a:t>Performance Appraisal</a:t>
                      </a:r>
                    </a:p>
                  </a:txBody>
                  <a:tcPr anchor="ctr"/>
                </a:tc>
                <a:tc>
                  <a:txBody>
                    <a:bodyPr/>
                    <a:lstStyle/>
                    <a:p>
                      <a:pPr>
                        <a:buNone/>
                      </a:pPr>
                      <a:r>
                        <a:rPr lang="en-IN" sz="2600">
                          <a:latin typeface="Times New Roman" panose="02020603050405020304" pitchFamily="18" charset="0"/>
                          <a:cs typeface="Times New Roman" panose="02020603050405020304" pitchFamily="18" charset="0"/>
                        </a:rPr>
                        <a:t>Informal evaluation</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Formal appraisal systems</a:t>
                      </a:r>
                    </a:p>
                  </a:txBody>
                  <a:tcPr anchor="ctr"/>
                </a:tc>
                <a:extLst>
                  <a:ext uri="{0D108BD9-81ED-4DB2-BD59-A6C34878D82A}">
                    <a16:rowId xmlns:a16="http://schemas.microsoft.com/office/drawing/2014/main" val="2825573660"/>
                  </a:ext>
                </a:extLst>
              </a:tr>
              <a:tr h="811976">
                <a:tc>
                  <a:txBody>
                    <a:bodyPr/>
                    <a:lstStyle/>
                    <a:p>
                      <a:pPr>
                        <a:buNone/>
                      </a:pPr>
                      <a:r>
                        <a:rPr lang="en-IN" sz="2600">
                          <a:latin typeface="Times New Roman" panose="02020603050405020304" pitchFamily="18" charset="0"/>
                          <a:cs typeface="Times New Roman" panose="02020603050405020304" pitchFamily="18" charset="0"/>
                        </a:rPr>
                        <a:t>Compensation</a:t>
                      </a:r>
                    </a:p>
                  </a:txBody>
                  <a:tcPr anchor="ctr"/>
                </a:tc>
                <a:tc>
                  <a:txBody>
                    <a:bodyPr/>
                    <a:lstStyle/>
                    <a:p>
                      <a:pPr>
                        <a:buNone/>
                      </a:pPr>
                      <a:r>
                        <a:rPr lang="en-IN" sz="2600">
                          <a:latin typeface="Times New Roman" panose="02020603050405020304" pitchFamily="18" charset="0"/>
                          <a:cs typeface="Times New Roman" panose="02020603050405020304" pitchFamily="18" charset="0"/>
                        </a:rPr>
                        <a:t>Basic salary structure</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Comprehensive compensation packages</a:t>
                      </a:r>
                    </a:p>
                  </a:txBody>
                  <a:tcPr anchor="ctr"/>
                </a:tc>
                <a:extLst>
                  <a:ext uri="{0D108BD9-81ED-4DB2-BD59-A6C34878D82A}">
                    <a16:rowId xmlns:a16="http://schemas.microsoft.com/office/drawing/2014/main" val="1078790684"/>
                  </a:ext>
                </a:extLst>
              </a:tr>
              <a:tr h="451098">
                <a:tc>
                  <a:txBody>
                    <a:bodyPr/>
                    <a:lstStyle/>
                    <a:p>
                      <a:pPr>
                        <a:buNone/>
                      </a:pPr>
                      <a:r>
                        <a:rPr lang="en-IN" sz="2600">
                          <a:latin typeface="Times New Roman" panose="02020603050405020304" pitchFamily="18" charset="0"/>
                          <a:cs typeface="Times New Roman" panose="02020603050405020304" pitchFamily="18" charset="0"/>
                        </a:rPr>
                        <a:t>Career Development</a:t>
                      </a:r>
                    </a:p>
                  </a:txBody>
                  <a:tcPr anchor="ctr"/>
                </a:tc>
                <a:tc>
                  <a:txBody>
                    <a:bodyPr/>
                    <a:lstStyle/>
                    <a:p>
                      <a:pPr>
                        <a:buNone/>
                      </a:pPr>
                      <a:r>
                        <a:rPr lang="en-IN" sz="2600">
                          <a:latin typeface="Times New Roman" panose="02020603050405020304" pitchFamily="18" charset="0"/>
                          <a:cs typeface="Times New Roman" panose="02020603050405020304" pitchFamily="18" charset="0"/>
                        </a:rPr>
                        <a:t>Limited opportunities</a:t>
                      </a:r>
                    </a:p>
                  </a:txBody>
                  <a:tcPr anchor="ctr"/>
                </a:tc>
                <a:tc>
                  <a:txBody>
                    <a:bodyPr/>
                    <a:lstStyle/>
                    <a:p>
                      <a:pPr>
                        <a:buNone/>
                      </a:pPr>
                      <a:r>
                        <a:rPr lang="en-IN" sz="2600">
                          <a:latin typeface="Times New Roman" panose="02020603050405020304" pitchFamily="18" charset="0"/>
                          <a:cs typeface="Times New Roman" panose="02020603050405020304" pitchFamily="18" charset="0"/>
                        </a:rPr>
                        <a:t>Clear career paths</a:t>
                      </a:r>
                    </a:p>
                  </a:txBody>
                  <a:tcPr anchor="ctr"/>
                </a:tc>
                <a:extLst>
                  <a:ext uri="{0D108BD9-81ED-4DB2-BD59-A6C34878D82A}">
                    <a16:rowId xmlns:a16="http://schemas.microsoft.com/office/drawing/2014/main" val="2059909191"/>
                  </a:ext>
                </a:extLst>
              </a:tr>
              <a:tr h="451098">
                <a:tc>
                  <a:txBody>
                    <a:bodyPr/>
                    <a:lstStyle/>
                    <a:p>
                      <a:pPr>
                        <a:buNone/>
                      </a:pPr>
                      <a:r>
                        <a:rPr lang="en-IN" sz="2600">
                          <a:latin typeface="Times New Roman" panose="02020603050405020304" pitchFamily="18" charset="0"/>
                          <a:cs typeface="Times New Roman" panose="02020603050405020304" pitchFamily="18" charset="0"/>
                        </a:rPr>
                        <a:t>Employee Benefits</a:t>
                      </a:r>
                    </a:p>
                  </a:txBody>
                  <a:tcPr anchor="ctr"/>
                </a:tc>
                <a:tc>
                  <a:txBody>
                    <a:bodyPr/>
                    <a:lstStyle/>
                    <a:p>
                      <a:pPr>
                        <a:buNone/>
                      </a:pPr>
                      <a:r>
                        <a:rPr lang="en-IN" sz="2600">
                          <a:latin typeface="Times New Roman" panose="02020603050405020304" pitchFamily="18" charset="0"/>
                          <a:cs typeface="Times New Roman" panose="02020603050405020304" pitchFamily="18" charset="0"/>
                        </a:rPr>
                        <a:t>Fewer benefits</a:t>
                      </a:r>
                    </a:p>
                  </a:txBody>
                  <a:tcPr anchor="ctr"/>
                </a:tc>
                <a:tc>
                  <a:txBody>
                    <a:bodyPr/>
                    <a:lstStyle/>
                    <a:p>
                      <a:pPr>
                        <a:buNone/>
                      </a:pPr>
                      <a:r>
                        <a:rPr lang="en-IN" sz="2600">
                          <a:latin typeface="Times New Roman" panose="02020603050405020304" pitchFamily="18" charset="0"/>
                          <a:cs typeface="Times New Roman" panose="02020603050405020304" pitchFamily="18" charset="0"/>
                        </a:rPr>
                        <a:t>Extensive benefits</a:t>
                      </a:r>
                    </a:p>
                  </a:txBody>
                  <a:tcPr anchor="ctr"/>
                </a:tc>
                <a:extLst>
                  <a:ext uri="{0D108BD9-81ED-4DB2-BD59-A6C34878D82A}">
                    <a16:rowId xmlns:a16="http://schemas.microsoft.com/office/drawing/2014/main" val="3358025527"/>
                  </a:ext>
                </a:extLst>
              </a:tr>
              <a:tr h="451098">
                <a:tc>
                  <a:txBody>
                    <a:bodyPr/>
                    <a:lstStyle/>
                    <a:p>
                      <a:pPr>
                        <a:buNone/>
                      </a:pPr>
                      <a:r>
                        <a:rPr lang="en-IN" sz="2600">
                          <a:latin typeface="Times New Roman" panose="02020603050405020304" pitchFamily="18" charset="0"/>
                          <a:cs typeface="Times New Roman" panose="02020603050405020304" pitchFamily="18" charset="0"/>
                        </a:rPr>
                        <a:t>HR Technology</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Minimal usage</a:t>
                      </a:r>
                    </a:p>
                  </a:txBody>
                  <a:tcPr anchor="ctr"/>
                </a:tc>
                <a:tc>
                  <a:txBody>
                    <a:bodyPr/>
                    <a:lstStyle/>
                    <a:p>
                      <a:pPr>
                        <a:buNone/>
                      </a:pPr>
                      <a:r>
                        <a:rPr lang="en-IN" sz="2600">
                          <a:latin typeface="Times New Roman" panose="02020603050405020304" pitchFamily="18" charset="0"/>
                          <a:cs typeface="Times New Roman" panose="02020603050405020304" pitchFamily="18" charset="0"/>
                        </a:rPr>
                        <a:t>Advanced HRIS systems</a:t>
                      </a:r>
                    </a:p>
                  </a:txBody>
                  <a:tcPr anchor="ctr"/>
                </a:tc>
                <a:extLst>
                  <a:ext uri="{0D108BD9-81ED-4DB2-BD59-A6C34878D82A}">
                    <a16:rowId xmlns:a16="http://schemas.microsoft.com/office/drawing/2014/main" val="2068647675"/>
                  </a:ext>
                </a:extLst>
              </a:tr>
              <a:tr h="451098">
                <a:tc>
                  <a:txBody>
                    <a:bodyPr/>
                    <a:lstStyle/>
                    <a:p>
                      <a:pPr>
                        <a:buNone/>
                      </a:pPr>
                      <a:r>
                        <a:rPr lang="en-IN" sz="2600" dirty="0">
                          <a:latin typeface="Times New Roman" panose="02020603050405020304" pitchFamily="18" charset="0"/>
                          <a:cs typeface="Times New Roman" panose="02020603050405020304" pitchFamily="18" charset="0"/>
                        </a:rPr>
                        <a:t>Policies</a:t>
                      </a:r>
                    </a:p>
                  </a:txBody>
                  <a:tcPr anchor="ctr"/>
                </a:tc>
                <a:tc>
                  <a:txBody>
                    <a:bodyPr/>
                    <a:lstStyle/>
                    <a:p>
                      <a:pPr>
                        <a:buNone/>
                      </a:pPr>
                      <a:r>
                        <a:rPr lang="en-IN" sz="2600">
                          <a:latin typeface="Times New Roman" panose="02020603050405020304" pitchFamily="18" charset="0"/>
                          <a:cs typeface="Times New Roman" panose="02020603050405020304" pitchFamily="18" charset="0"/>
                        </a:rPr>
                        <a:t>Flexible but undocumented</a:t>
                      </a:r>
                    </a:p>
                  </a:txBody>
                  <a:tcPr anchor="ctr"/>
                </a:tc>
                <a:tc>
                  <a:txBody>
                    <a:bodyPr/>
                    <a:lstStyle/>
                    <a:p>
                      <a:pPr>
                        <a:buNone/>
                      </a:pPr>
                      <a:r>
                        <a:rPr lang="en-IN" sz="2600" dirty="0">
                          <a:latin typeface="Times New Roman" panose="02020603050405020304" pitchFamily="18" charset="0"/>
                          <a:cs typeface="Times New Roman" panose="02020603050405020304" pitchFamily="18" charset="0"/>
                        </a:rPr>
                        <a:t>Formal policies and procedures</a:t>
                      </a:r>
                    </a:p>
                  </a:txBody>
                  <a:tcPr anchor="ctr"/>
                </a:tc>
                <a:extLst>
                  <a:ext uri="{0D108BD9-81ED-4DB2-BD59-A6C34878D82A}">
                    <a16:rowId xmlns:a16="http://schemas.microsoft.com/office/drawing/2014/main" val="1793785689"/>
                  </a:ext>
                </a:extLst>
              </a:tr>
            </a:tbl>
          </a:graphicData>
        </a:graphic>
      </p:graphicFrame>
    </p:spTree>
    <p:extLst>
      <p:ext uri="{BB962C8B-B14F-4D97-AF65-F5344CB8AC3E}">
        <p14:creationId xmlns:p14="http://schemas.microsoft.com/office/powerpoint/2010/main" val="3224770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0CF4A-4C1D-1EF0-DCC7-0B3850D53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232D4-E2E3-7C6A-7C86-8E4B7455C60E}"/>
              </a:ext>
            </a:extLst>
          </p:cNvPr>
          <p:cNvSpPr>
            <a:spLocks noGrp="1"/>
          </p:cNvSpPr>
          <p:nvPr>
            <p:ph type="title"/>
          </p:nvPr>
        </p:nvSpPr>
        <p:spPr>
          <a:xfrm>
            <a:off x="71920" y="77452"/>
            <a:ext cx="12020764" cy="939693"/>
          </a:xfrm>
        </p:spPr>
        <p:txBody>
          <a:bodyPr/>
          <a:lstStyle/>
          <a:p>
            <a:pPr algn="ctr"/>
            <a:r>
              <a:rPr lang="en-IN" b="1" dirty="0">
                <a:solidFill>
                  <a:srgbClr val="C00000"/>
                </a:solidFill>
                <a:latin typeface="Times New Roman" panose="02020603050405020304" pitchFamily="18" charset="0"/>
                <a:cs typeface="Times New Roman" pitchFamily="18" charset="0"/>
              </a:rPr>
              <a:t>Impact of Weak Adoption of HRM in SME</a:t>
            </a:r>
          </a:p>
        </p:txBody>
      </p:sp>
      <p:sp>
        <p:nvSpPr>
          <p:cNvPr id="3" name="Content Placeholder 2">
            <a:extLst>
              <a:ext uri="{FF2B5EF4-FFF2-40B4-BE49-F238E27FC236}">
                <a16:creationId xmlns:a16="http://schemas.microsoft.com/office/drawing/2014/main" id="{878C9B7D-063B-6DAB-4776-1CB646CD3042}"/>
              </a:ext>
            </a:extLst>
          </p:cNvPr>
          <p:cNvSpPr>
            <a:spLocks noGrp="1"/>
          </p:cNvSpPr>
          <p:nvPr>
            <p:ph idx="1"/>
          </p:nvPr>
        </p:nvSpPr>
        <p:spPr>
          <a:xfrm>
            <a:off x="71920" y="1335640"/>
            <a:ext cx="12020764" cy="5363111"/>
          </a:xfrm>
        </p:spPr>
        <p:txBody>
          <a:bodyPr>
            <a:normAutofit/>
          </a:bodyPr>
          <a:lstStyle/>
          <a:p>
            <a:r>
              <a:rPr lang="en-IN" sz="3600" dirty="0">
                <a:latin typeface="Times New Roman" panose="02020603050405020304" pitchFamily="18" charset="0"/>
                <a:cs typeface="Times New Roman" panose="02020603050405020304" pitchFamily="18" charset="0"/>
              </a:rPr>
              <a:t>High Employee Turnover</a:t>
            </a:r>
          </a:p>
          <a:p>
            <a:r>
              <a:rPr lang="en-IN" sz="3600" dirty="0">
                <a:latin typeface="Times New Roman" panose="02020603050405020304" pitchFamily="18" charset="0"/>
                <a:cs typeface="Times New Roman" panose="02020603050405020304" pitchFamily="18" charset="0"/>
              </a:rPr>
              <a:t>Low Employee Motivation</a:t>
            </a:r>
          </a:p>
          <a:p>
            <a:r>
              <a:rPr lang="en-IN" sz="3600" dirty="0">
                <a:latin typeface="Times New Roman" panose="02020603050405020304" pitchFamily="18" charset="0"/>
                <a:cs typeface="Times New Roman" panose="02020603050405020304" pitchFamily="18" charset="0"/>
              </a:rPr>
              <a:t>Skill Deficiencies</a:t>
            </a:r>
          </a:p>
          <a:p>
            <a:r>
              <a:rPr lang="en-IN" sz="3600" dirty="0">
                <a:latin typeface="Times New Roman" panose="02020603050405020304" pitchFamily="18" charset="0"/>
                <a:cs typeface="Times New Roman" panose="02020603050405020304" pitchFamily="18" charset="0"/>
              </a:rPr>
              <a:t>Reduced Productivity</a:t>
            </a:r>
          </a:p>
          <a:p>
            <a:r>
              <a:rPr lang="en-IN" sz="3600" dirty="0">
                <a:latin typeface="Times New Roman" panose="02020603050405020304" pitchFamily="18" charset="0"/>
                <a:cs typeface="Times New Roman" panose="02020603050405020304" pitchFamily="18" charset="0"/>
              </a:rPr>
              <a:t>Poor Employee Retention</a:t>
            </a:r>
          </a:p>
          <a:p>
            <a:r>
              <a:rPr lang="en-IN" sz="3600" dirty="0">
                <a:latin typeface="Times New Roman" panose="02020603050405020304" pitchFamily="18" charset="0"/>
                <a:cs typeface="Times New Roman" panose="02020603050405020304" pitchFamily="18" charset="0"/>
              </a:rPr>
              <a:t>Legal Compliance Issues</a:t>
            </a:r>
          </a:p>
          <a:p>
            <a:r>
              <a:rPr lang="en-IN" sz="3600" dirty="0">
                <a:latin typeface="Times New Roman" panose="02020603050405020304" pitchFamily="18" charset="0"/>
                <a:cs typeface="Times New Roman" panose="02020603050405020304" pitchFamily="18" charset="0"/>
              </a:rPr>
              <a:t>Difficulty in Business Growth</a:t>
            </a:r>
          </a:p>
        </p:txBody>
      </p:sp>
    </p:spTree>
    <p:extLst>
      <p:ext uri="{BB962C8B-B14F-4D97-AF65-F5344CB8AC3E}">
        <p14:creationId xmlns:p14="http://schemas.microsoft.com/office/powerpoint/2010/main" val="414803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7BFDC-EC29-AD27-6325-F1D4A67CE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2838B-69B3-104A-54B5-D8ACC75438C1}"/>
              </a:ext>
            </a:extLst>
          </p:cNvPr>
          <p:cNvSpPr>
            <a:spLocks noGrp="1"/>
          </p:cNvSpPr>
          <p:nvPr>
            <p:ph type="title"/>
          </p:nvPr>
        </p:nvSpPr>
        <p:spPr>
          <a:xfrm>
            <a:off x="71920" y="77452"/>
            <a:ext cx="12020764" cy="939693"/>
          </a:xfrm>
        </p:spPr>
        <p:txBody>
          <a:bodyPr/>
          <a:lstStyle/>
          <a:p>
            <a:pPr algn="ctr"/>
            <a:r>
              <a:rPr lang="en-US" b="1" dirty="0">
                <a:solidFill>
                  <a:srgbClr val="C00000"/>
                </a:solidFill>
                <a:latin typeface="Times New Roman" pitchFamily="18" charset="0"/>
                <a:cs typeface="Times New Roman" pitchFamily="18" charset="0"/>
              </a:rPr>
              <a:t>HRM in the Service Sector</a:t>
            </a:r>
            <a:endParaRPr lang="en-IN" dirty="0">
              <a:solidFill>
                <a:srgbClr val="C00000"/>
              </a:solidFill>
            </a:endParaRPr>
          </a:p>
        </p:txBody>
      </p:sp>
      <p:sp>
        <p:nvSpPr>
          <p:cNvPr id="3" name="Content Placeholder 2">
            <a:extLst>
              <a:ext uri="{FF2B5EF4-FFF2-40B4-BE49-F238E27FC236}">
                <a16:creationId xmlns:a16="http://schemas.microsoft.com/office/drawing/2014/main" id="{1576F63B-32CC-2C5C-D53C-AAC49AA96BA9}"/>
              </a:ext>
            </a:extLst>
          </p:cNvPr>
          <p:cNvSpPr>
            <a:spLocks noGrp="1"/>
          </p:cNvSpPr>
          <p:nvPr>
            <p:ph idx="1"/>
          </p:nvPr>
        </p:nvSpPr>
        <p:spPr>
          <a:xfrm>
            <a:off x="71920" y="924560"/>
            <a:ext cx="12020764" cy="5774191"/>
          </a:xfrm>
        </p:spPr>
        <p:txBody>
          <a:bodyPr>
            <a:normAutofit fontScale="92500"/>
          </a:bodyPr>
          <a:lstStyle/>
          <a:p>
            <a:pPr marL="0" indent="0" algn="just">
              <a:lnSpc>
                <a:spcPct val="100000"/>
              </a:lnSpc>
              <a:buNone/>
            </a:pPr>
            <a:r>
              <a:rPr lang="en-US" sz="3200" dirty="0">
                <a:latin typeface="Times New Roman" pitchFamily="18" charset="0"/>
                <a:cs typeface="Times New Roman" pitchFamily="18" charset="0"/>
              </a:rPr>
              <a:t>Service can be defined as the production of intangible benefits and experience, either alone or as part of a tangible product, through some form of exchange, with the intention of satisfying the needs, wants and desires of the consumers.</a:t>
            </a:r>
          </a:p>
          <a:p>
            <a:pPr marL="0" indent="0" algn="just">
              <a:lnSpc>
                <a:spcPct val="100000"/>
              </a:lnSpc>
              <a:buNone/>
            </a:pPr>
            <a:r>
              <a:rPr lang="en-US" sz="3200" b="1" i="1" dirty="0">
                <a:latin typeface="Times New Roman" pitchFamily="18" charset="0"/>
                <a:cs typeface="Times New Roman" pitchFamily="18" charset="0"/>
              </a:rPr>
              <a:t>According to Philip Kotler </a:t>
            </a:r>
            <a:r>
              <a:rPr lang="en-US" sz="3200" dirty="0">
                <a:latin typeface="Times New Roman" pitchFamily="18" charset="0"/>
                <a:cs typeface="Times New Roman" pitchFamily="18" charset="0"/>
              </a:rPr>
              <a:t>“A Service is an act of performance that one party can offer to another that is essentially intangible and does not result in the ownership of anything. Its production may or may not be tied to a physical product”.</a:t>
            </a:r>
          </a:p>
          <a:p>
            <a:pPr marL="0" indent="0" algn="just">
              <a:lnSpc>
                <a:spcPct val="110000"/>
              </a:lnSpc>
              <a:buNone/>
            </a:pPr>
            <a:r>
              <a:rPr lang="en-US" sz="3200" b="1" i="1" dirty="0">
                <a:latin typeface="Times New Roman" panose="02020603050405020304" pitchFamily="18" charset="0"/>
                <a:cs typeface="Times New Roman" panose="02020603050405020304" pitchFamily="18" charset="0"/>
              </a:rPr>
              <a:t>According to Gary Dessler</a:t>
            </a:r>
            <a:r>
              <a:rPr lang="en-US" sz="3200" dirty="0">
                <a:latin typeface="Times New Roman" panose="02020603050405020304" pitchFamily="18" charset="0"/>
                <a:cs typeface="Times New Roman" panose="02020603050405020304" pitchFamily="18" charset="0"/>
              </a:rPr>
              <a:t>, Human Resource Management is the process of acquiring, training, appraising and compensating employees and attending to their </a:t>
            </a:r>
            <a:r>
              <a:rPr lang="en-US" sz="3200" dirty="0" err="1">
                <a:latin typeface="Times New Roman" panose="02020603050405020304" pitchFamily="18" charset="0"/>
                <a:cs typeface="Times New Roman" panose="02020603050405020304" pitchFamily="18" charset="0"/>
              </a:rPr>
              <a:t>labour</a:t>
            </a:r>
            <a:r>
              <a:rPr lang="en-US" sz="3200" dirty="0">
                <a:latin typeface="Times New Roman" panose="02020603050405020304" pitchFamily="18" charset="0"/>
                <a:cs typeface="Times New Roman" panose="02020603050405020304" pitchFamily="18" charset="0"/>
              </a:rPr>
              <a:t> relations, health and safety, and fairness concerns.</a:t>
            </a:r>
          </a:p>
          <a:p>
            <a:pPr marL="0" indent="0" algn="just">
              <a:lnSpc>
                <a:spcPct val="100000"/>
              </a:lnSpc>
              <a:buNone/>
            </a:pPr>
            <a:endParaRPr lang="en-IN" sz="3200" dirty="0"/>
          </a:p>
        </p:txBody>
      </p:sp>
    </p:spTree>
    <p:extLst>
      <p:ext uri="{BB962C8B-B14F-4D97-AF65-F5344CB8AC3E}">
        <p14:creationId xmlns:p14="http://schemas.microsoft.com/office/powerpoint/2010/main" val="132690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56E4-DAD4-B3D1-C41F-C830CA0FC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75943-EED6-488E-DADB-0148DB997EBE}"/>
              </a:ext>
            </a:extLst>
          </p:cNvPr>
          <p:cNvSpPr>
            <a:spLocks noGrp="1"/>
          </p:cNvSpPr>
          <p:nvPr>
            <p:ph type="title"/>
          </p:nvPr>
        </p:nvSpPr>
        <p:spPr>
          <a:xfrm>
            <a:off x="71920" y="77452"/>
            <a:ext cx="12020764" cy="939693"/>
          </a:xfrm>
        </p:spPr>
        <p:txBody>
          <a:bodyPr>
            <a:normAutofit/>
          </a:bodyPr>
          <a:lstStyle/>
          <a:p>
            <a:pPr algn="ctr"/>
            <a:r>
              <a:rPr lang="en-US" b="1" dirty="0">
                <a:solidFill>
                  <a:srgbClr val="C00000"/>
                </a:solidFill>
                <a:latin typeface="Times New Roman" panose="02020603050405020304" pitchFamily="18" charset="0"/>
                <a:cs typeface="Times New Roman" panose="02020603050405020304" pitchFamily="18" charset="0"/>
              </a:rPr>
              <a:t> The Emergence of the Services Sector</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3762BF-52A5-DB08-34E2-99934103F111}"/>
              </a:ext>
            </a:extLst>
          </p:cNvPr>
          <p:cNvSpPr>
            <a:spLocks noGrp="1"/>
          </p:cNvSpPr>
          <p:nvPr>
            <p:ph idx="1"/>
          </p:nvPr>
        </p:nvSpPr>
        <p:spPr>
          <a:xfrm>
            <a:off x="71920" y="1335640"/>
            <a:ext cx="12020764" cy="5363111"/>
          </a:xfrm>
        </p:spPr>
        <p:txBody>
          <a:bodyPr>
            <a:normAutofit/>
          </a:bodyPr>
          <a:lstStyle/>
          <a:p>
            <a:pPr marL="0" indent="0" algn="just">
              <a:lnSpc>
                <a:spcPct val="100000"/>
              </a:lnSpc>
              <a:buNone/>
            </a:pPr>
            <a:r>
              <a:rPr lang="en-US" sz="3400" dirty="0">
                <a:latin typeface="Times New Roman" pitchFamily="18" charset="0"/>
                <a:cs typeface="Times New Roman" pitchFamily="18" charset="0"/>
              </a:rPr>
              <a:t>The service sector in India has the highest employment elasticity among all sectors. Thus, it has the potential for huge growth as well as the capability to deliver highly productive jobs - leading to revenue generation. </a:t>
            </a:r>
          </a:p>
          <a:p>
            <a:pPr marL="0" indent="0" algn="just">
              <a:lnSpc>
                <a:spcPct val="100000"/>
              </a:lnSpc>
              <a:buNone/>
            </a:pPr>
            <a:r>
              <a:rPr lang="en-US" sz="3400" dirty="0">
                <a:latin typeface="Times New Roman" pitchFamily="18" charset="0"/>
                <a:cs typeface="Times New Roman" pitchFamily="18" charset="0"/>
              </a:rPr>
              <a:t>The service sector has grown rapidly due to globalization, technological advancements, urbanization and changing consumer lifestyles.</a:t>
            </a:r>
          </a:p>
          <a:p>
            <a:pPr marL="0" indent="0" algn="just">
              <a:lnSpc>
                <a:spcPct val="100000"/>
              </a:lnSpc>
              <a:buNone/>
            </a:pPr>
            <a:r>
              <a:rPr lang="en-US" sz="3400" dirty="0">
                <a:latin typeface="Times New Roman" pitchFamily="18" charset="0"/>
                <a:cs typeface="Times New Roman" pitchFamily="18" charset="0"/>
              </a:rPr>
              <a:t>Today, the service sector contributes the largest share to India's GDP.</a:t>
            </a:r>
          </a:p>
          <a:p>
            <a:pPr marL="0" indent="0" algn="just">
              <a:lnSpc>
                <a:spcPct val="100000"/>
              </a:lnSpc>
              <a:buNone/>
            </a:pPr>
            <a:endParaRPr lang="en-US" sz="3400" dirty="0">
              <a:latin typeface="Times New Roman" pitchFamily="18" charset="0"/>
              <a:cs typeface="Times New Roman" pitchFamily="18" charset="0"/>
            </a:endParaRPr>
          </a:p>
        </p:txBody>
      </p:sp>
    </p:spTree>
    <p:extLst>
      <p:ext uri="{BB962C8B-B14F-4D97-AF65-F5344CB8AC3E}">
        <p14:creationId xmlns:p14="http://schemas.microsoft.com/office/powerpoint/2010/main" val="140980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62365-BE49-6AE8-A01F-1F47993F2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C675F-BDA3-F6E6-AA4C-B7843AACC1A7}"/>
              </a:ext>
            </a:extLst>
          </p:cNvPr>
          <p:cNvSpPr>
            <a:spLocks noGrp="1"/>
          </p:cNvSpPr>
          <p:nvPr>
            <p:ph type="title"/>
          </p:nvPr>
        </p:nvSpPr>
        <p:spPr>
          <a:xfrm>
            <a:off x="71920" y="77452"/>
            <a:ext cx="12020764" cy="939693"/>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Reasons for Growth</a:t>
            </a:r>
          </a:p>
        </p:txBody>
      </p:sp>
      <p:sp>
        <p:nvSpPr>
          <p:cNvPr id="3" name="Content Placeholder 2">
            <a:extLst>
              <a:ext uri="{FF2B5EF4-FFF2-40B4-BE49-F238E27FC236}">
                <a16:creationId xmlns:a16="http://schemas.microsoft.com/office/drawing/2014/main" id="{4E7F1828-C347-B73E-5D6F-07DF189FF3D2}"/>
              </a:ext>
            </a:extLst>
          </p:cNvPr>
          <p:cNvSpPr>
            <a:spLocks noGrp="1"/>
          </p:cNvSpPr>
          <p:nvPr>
            <p:ph idx="1"/>
          </p:nvPr>
        </p:nvSpPr>
        <p:spPr>
          <a:xfrm>
            <a:off x="71920" y="1335640"/>
            <a:ext cx="12020764" cy="5363111"/>
          </a:xfrm>
        </p:spPr>
        <p:txBody>
          <a:bodyPr>
            <a:normAutofit/>
          </a:bodyPr>
          <a:lstStyle/>
          <a:p>
            <a:pPr algn="just"/>
            <a:r>
              <a:rPr lang="en-IN" sz="3200" dirty="0">
                <a:latin typeface="Times New Roman" panose="02020603050405020304" pitchFamily="18" charset="0"/>
                <a:cs typeface="Times New Roman" panose="02020603050405020304" pitchFamily="18" charset="0"/>
              </a:rPr>
              <a:t>Economic Development: </a:t>
            </a:r>
            <a:r>
              <a:rPr lang="en-US" sz="3200" dirty="0">
                <a:latin typeface="Times New Roman" panose="02020603050405020304" pitchFamily="18" charset="0"/>
                <a:cs typeface="Times New Roman" panose="02020603050405020304" pitchFamily="18" charset="0"/>
              </a:rPr>
              <a:t>As income increases, people spend more on services.</a:t>
            </a:r>
          </a:p>
          <a:p>
            <a:pPr algn="just"/>
            <a:r>
              <a:rPr lang="en-IN" sz="3200" dirty="0">
                <a:latin typeface="Times New Roman" panose="02020603050405020304" pitchFamily="18" charset="0"/>
                <a:cs typeface="Times New Roman" panose="02020603050405020304" pitchFamily="18" charset="0"/>
              </a:rPr>
              <a:t>Technological Advancement: </a:t>
            </a:r>
            <a:r>
              <a:rPr lang="en-US" sz="3200" dirty="0">
                <a:latin typeface="Times New Roman" panose="02020603050405020304" pitchFamily="18" charset="0"/>
                <a:cs typeface="Times New Roman" panose="02020603050405020304" pitchFamily="18" charset="0"/>
              </a:rPr>
              <a:t>Technology has created new service industries.</a:t>
            </a:r>
          </a:p>
          <a:p>
            <a:pPr algn="just"/>
            <a:r>
              <a:rPr lang="en-IN" sz="3200" dirty="0">
                <a:latin typeface="Times New Roman" panose="02020603050405020304" pitchFamily="18" charset="0"/>
                <a:cs typeface="Times New Roman" panose="02020603050405020304" pitchFamily="18" charset="0"/>
              </a:rPr>
              <a:t>Globalization: Companies operate worldwide.</a:t>
            </a:r>
          </a:p>
          <a:p>
            <a:pPr algn="just"/>
            <a:r>
              <a:rPr lang="en-IN" sz="3200" dirty="0">
                <a:latin typeface="Times New Roman" panose="02020603050405020304" pitchFamily="18" charset="0"/>
                <a:cs typeface="Times New Roman" panose="02020603050405020304" pitchFamily="18" charset="0"/>
              </a:rPr>
              <a:t>Urbanization: </a:t>
            </a:r>
            <a:r>
              <a:rPr lang="en-US" sz="3200" dirty="0">
                <a:latin typeface="Times New Roman" panose="02020603050405020304" pitchFamily="18" charset="0"/>
                <a:cs typeface="Times New Roman" panose="02020603050405020304" pitchFamily="18" charset="0"/>
              </a:rPr>
              <a:t>Growing cities increase demand for services.</a:t>
            </a:r>
          </a:p>
          <a:p>
            <a:pPr algn="just"/>
            <a:r>
              <a:rPr lang="en-IN" sz="3200" dirty="0">
                <a:latin typeface="Times New Roman" panose="02020603050405020304" pitchFamily="18" charset="0"/>
                <a:cs typeface="Times New Roman" panose="02020603050405020304" pitchFamily="18" charset="0"/>
              </a:rPr>
              <a:t>Rising Education: </a:t>
            </a:r>
            <a:r>
              <a:rPr lang="en-US" sz="3200" dirty="0">
                <a:latin typeface="Times New Roman" panose="02020603050405020304" pitchFamily="18" charset="0"/>
                <a:cs typeface="Times New Roman" panose="02020603050405020304" pitchFamily="18" charset="0"/>
              </a:rPr>
              <a:t>Educated consumers demand quality services.</a:t>
            </a:r>
          </a:p>
          <a:p>
            <a:pPr algn="just"/>
            <a:endParaRPr lang="en-IN" sz="3200" dirty="0">
              <a:latin typeface="Times New Roman" panose="02020603050405020304" pitchFamily="18" charset="0"/>
              <a:cs typeface="Times New Roman" panose="02020603050405020304" pitchFamily="18" charset="0"/>
            </a:endParaRPr>
          </a:p>
          <a:p>
            <a:pPr algn="just"/>
            <a:endParaRPr lang="en-IN" sz="3200" dirty="0">
              <a:latin typeface="Times New Roman" panose="02020603050405020304" pitchFamily="18" charset="0"/>
              <a:cs typeface="Times New Roman" panose="02020603050405020304" pitchFamily="18" charset="0"/>
            </a:endParaRPr>
          </a:p>
          <a:p>
            <a:pPr algn="just"/>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25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06C93-E2F5-4252-DFEF-7EB39F890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4D726-F375-6CCC-07B1-E0A4773F25BE}"/>
              </a:ext>
            </a:extLst>
          </p:cNvPr>
          <p:cNvSpPr>
            <a:spLocks noGrp="1"/>
          </p:cNvSpPr>
          <p:nvPr>
            <p:ph type="title"/>
          </p:nvPr>
        </p:nvSpPr>
        <p:spPr>
          <a:xfrm>
            <a:off x="71920" y="77452"/>
            <a:ext cx="12020764" cy="939693"/>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Major Service Industries</a:t>
            </a:r>
          </a:p>
        </p:txBody>
      </p:sp>
      <p:graphicFrame>
        <p:nvGraphicFramePr>
          <p:cNvPr id="4" name="Table 3">
            <a:extLst>
              <a:ext uri="{FF2B5EF4-FFF2-40B4-BE49-F238E27FC236}">
                <a16:creationId xmlns:a16="http://schemas.microsoft.com/office/drawing/2014/main" id="{2B3D6E21-F29F-2169-BB94-524B7482BEE3}"/>
              </a:ext>
            </a:extLst>
          </p:cNvPr>
          <p:cNvGraphicFramePr>
            <a:graphicFrameLocks noGrp="1"/>
          </p:cNvGraphicFramePr>
          <p:nvPr>
            <p:extLst>
              <p:ext uri="{D42A27DB-BD31-4B8C-83A1-F6EECF244321}">
                <p14:modId xmlns:p14="http://schemas.microsoft.com/office/powerpoint/2010/main" val="495557734"/>
              </p:ext>
            </p:extLst>
          </p:nvPr>
        </p:nvGraphicFramePr>
        <p:xfrm>
          <a:off x="411480" y="928388"/>
          <a:ext cx="10515600" cy="5852160"/>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3316332375"/>
                    </a:ext>
                  </a:extLst>
                </a:gridCol>
                <a:gridCol w="5257800">
                  <a:extLst>
                    <a:ext uri="{9D8B030D-6E8A-4147-A177-3AD203B41FA5}">
                      <a16:colId xmlns:a16="http://schemas.microsoft.com/office/drawing/2014/main" val="92840250"/>
                    </a:ext>
                  </a:extLst>
                </a:gridCol>
              </a:tblGrid>
              <a:tr h="0">
                <a:tc>
                  <a:txBody>
                    <a:bodyPr/>
                    <a:lstStyle/>
                    <a:p>
                      <a:pPr algn="ctr">
                        <a:buNone/>
                      </a:pPr>
                      <a:r>
                        <a:rPr lang="en-IN" sz="3600" b="1" dirty="0">
                          <a:latin typeface="Times New Roman" panose="02020603050405020304" pitchFamily="18" charset="0"/>
                          <a:cs typeface="Times New Roman" panose="02020603050405020304" pitchFamily="18" charset="0"/>
                        </a:rPr>
                        <a:t>Industry</a:t>
                      </a:r>
                    </a:p>
                  </a:txBody>
                  <a:tcPr anchor="ctr"/>
                </a:tc>
                <a:tc>
                  <a:txBody>
                    <a:bodyPr/>
                    <a:lstStyle/>
                    <a:p>
                      <a:pPr algn="ctr">
                        <a:buNone/>
                      </a:pPr>
                      <a:r>
                        <a:rPr lang="en-IN" sz="3600" b="1" dirty="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2287760685"/>
                  </a:ext>
                </a:extLst>
              </a:tr>
              <a:tr h="0">
                <a:tc>
                  <a:txBody>
                    <a:bodyPr/>
                    <a:lstStyle/>
                    <a:p>
                      <a:pPr>
                        <a:buNone/>
                      </a:pPr>
                      <a:r>
                        <a:rPr lang="en-IN" sz="3200">
                          <a:latin typeface="Times New Roman" panose="02020603050405020304" pitchFamily="18" charset="0"/>
                          <a:cs typeface="Times New Roman" panose="02020603050405020304" pitchFamily="18" charset="0"/>
                        </a:rPr>
                        <a:t>Banking</a:t>
                      </a:r>
                    </a:p>
                  </a:txBody>
                  <a:tcPr anchor="ctr"/>
                </a:tc>
                <a:tc>
                  <a:txBody>
                    <a:bodyPr/>
                    <a:lstStyle/>
                    <a:p>
                      <a:pPr>
                        <a:buNone/>
                      </a:pPr>
                      <a:r>
                        <a:rPr lang="en-IN" sz="3200" dirty="0">
                          <a:latin typeface="Times New Roman" panose="02020603050405020304" pitchFamily="18" charset="0"/>
                          <a:cs typeface="Times New Roman" panose="02020603050405020304" pitchFamily="18" charset="0"/>
                        </a:rPr>
                        <a:t>SBI, HDFC Bank</a:t>
                      </a:r>
                    </a:p>
                  </a:txBody>
                  <a:tcPr anchor="ctr"/>
                </a:tc>
                <a:extLst>
                  <a:ext uri="{0D108BD9-81ED-4DB2-BD59-A6C34878D82A}">
                    <a16:rowId xmlns:a16="http://schemas.microsoft.com/office/drawing/2014/main" val="739310677"/>
                  </a:ext>
                </a:extLst>
              </a:tr>
              <a:tr h="0">
                <a:tc>
                  <a:txBody>
                    <a:bodyPr/>
                    <a:lstStyle/>
                    <a:p>
                      <a:pPr>
                        <a:buNone/>
                      </a:pPr>
                      <a:r>
                        <a:rPr lang="en-IN" sz="3200" dirty="0">
                          <a:latin typeface="Times New Roman" panose="02020603050405020304" pitchFamily="18" charset="0"/>
                          <a:cs typeface="Times New Roman" panose="02020603050405020304" pitchFamily="18" charset="0"/>
                        </a:rPr>
                        <a:t>Healthcare</a:t>
                      </a:r>
                    </a:p>
                  </a:txBody>
                  <a:tcPr anchor="ctr"/>
                </a:tc>
                <a:tc>
                  <a:txBody>
                    <a:bodyPr/>
                    <a:lstStyle/>
                    <a:p>
                      <a:pPr>
                        <a:buNone/>
                      </a:pPr>
                      <a:r>
                        <a:rPr lang="en-IN" sz="3200" dirty="0">
                          <a:latin typeface="Times New Roman" panose="02020603050405020304" pitchFamily="18" charset="0"/>
                          <a:cs typeface="Times New Roman" panose="02020603050405020304" pitchFamily="18" charset="0"/>
                        </a:rPr>
                        <a:t>Apollo Hospitals</a:t>
                      </a:r>
                    </a:p>
                  </a:txBody>
                  <a:tcPr anchor="ctr"/>
                </a:tc>
                <a:extLst>
                  <a:ext uri="{0D108BD9-81ED-4DB2-BD59-A6C34878D82A}">
                    <a16:rowId xmlns:a16="http://schemas.microsoft.com/office/drawing/2014/main" val="1970253742"/>
                  </a:ext>
                </a:extLst>
              </a:tr>
              <a:tr h="0">
                <a:tc>
                  <a:txBody>
                    <a:bodyPr/>
                    <a:lstStyle/>
                    <a:p>
                      <a:pPr>
                        <a:buNone/>
                      </a:pPr>
                      <a:r>
                        <a:rPr lang="en-IN" sz="3200">
                          <a:latin typeface="Times New Roman" panose="02020603050405020304" pitchFamily="18" charset="0"/>
                          <a:cs typeface="Times New Roman" panose="02020603050405020304" pitchFamily="18" charset="0"/>
                        </a:rPr>
                        <a:t>Hospitality</a:t>
                      </a:r>
                    </a:p>
                  </a:txBody>
                  <a:tcPr anchor="ctr"/>
                </a:tc>
                <a:tc>
                  <a:txBody>
                    <a:bodyPr/>
                    <a:lstStyle/>
                    <a:p>
                      <a:pPr>
                        <a:buNone/>
                      </a:pPr>
                      <a:r>
                        <a:rPr lang="en-IN" sz="3200">
                          <a:latin typeface="Times New Roman" panose="02020603050405020304" pitchFamily="18" charset="0"/>
                          <a:cs typeface="Times New Roman" panose="02020603050405020304" pitchFamily="18" charset="0"/>
                        </a:rPr>
                        <a:t>Taj Hotels</a:t>
                      </a:r>
                    </a:p>
                  </a:txBody>
                  <a:tcPr anchor="ctr"/>
                </a:tc>
                <a:extLst>
                  <a:ext uri="{0D108BD9-81ED-4DB2-BD59-A6C34878D82A}">
                    <a16:rowId xmlns:a16="http://schemas.microsoft.com/office/drawing/2014/main" val="4108057895"/>
                  </a:ext>
                </a:extLst>
              </a:tr>
              <a:tr h="0">
                <a:tc>
                  <a:txBody>
                    <a:bodyPr/>
                    <a:lstStyle/>
                    <a:p>
                      <a:pPr>
                        <a:buNone/>
                      </a:pPr>
                      <a:r>
                        <a:rPr lang="en-IN" sz="3200">
                          <a:latin typeface="Times New Roman" panose="02020603050405020304" pitchFamily="18" charset="0"/>
                          <a:cs typeface="Times New Roman" panose="02020603050405020304" pitchFamily="18" charset="0"/>
                        </a:rPr>
                        <a:t>Aviation</a:t>
                      </a:r>
                    </a:p>
                  </a:txBody>
                  <a:tcPr anchor="ctr"/>
                </a:tc>
                <a:tc>
                  <a:txBody>
                    <a:bodyPr/>
                    <a:lstStyle/>
                    <a:p>
                      <a:pPr>
                        <a:buNone/>
                      </a:pPr>
                      <a:r>
                        <a:rPr lang="en-IN" sz="3200">
                          <a:latin typeface="Times New Roman" panose="02020603050405020304" pitchFamily="18" charset="0"/>
                          <a:cs typeface="Times New Roman" panose="02020603050405020304" pitchFamily="18" charset="0"/>
                        </a:rPr>
                        <a:t>Indigo Airlines</a:t>
                      </a:r>
                    </a:p>
                  </a:txBody>
                  <a:tcPr anchor="ctr"/>
                </a:tc>
                <a:extLst>
                  <a:ext uri="{0D108BD9-81ED-4DB2-BD59-A6C34878D82A}">
                    <a16:rowId xmlns:a16="http://schemas.microsoft.com/office/drawing/2014/main" val="2612194173"/>
                  </a:ext>
                </a:extLst>
              </a:tr>
              <a:tr h="0">
                <a:tc>
                  <a:txBody>
                    <a:bodyPr/>
                    <a:lstStyle/>
                    <a:p>
                      <a:pPr>
                        <a:buNone/>
                      </a:pPr>
                      <a:r>
                        <a:rPr lang="en-IN" sz="3200">
                          <a:latin typeface="Times New Roman" panose="02020603050405020304" pitchFamily="18" charset="0"/>
                          <a:cs typeface="Times New Roman" panose="02020603050405020304" pitchFamily="18" charset="0"/>
                        </a:rPr>
                        <a:t>Education</a:t>
                      </a:r>
                    </a:p>
                  </a:txBody>
                  <a:tcPr anchor="ctr"/>
                </a:tc>
                <a:tc>
                  <a:txBody>
                    <a:bodyPr/>
                    <a:lstStyle/>
                    <a:p>
                      <a:pPr>
                        <a:buNone/>
                      </a:pPr>
                      <a:r>
                        <a:rPr lang="en-IN" sz="3200">
                          <a:latin typeface="Times New Roman" panose="02020603050405020304" pitchFamily="18" charset="0"/>
                          <a:cs typeface="Times New Roman" panose="02020603050405020304" pitchFamily="18" charset="0"/>
                        </a:rPr>
                        <a:t>Universities</a:t>
                      </a:r>
                    </a:p>
                  </a:txBody>
                  <a:tcPr anchor="ctr"/>
                </a:tc>
                <a:extLst>
                  <a:ext uri="{0D108BD9-81ED-4DB2-BD59-A6C34878D82A}">
                    <a16:rowId xmlns:a16="http://schemas.microsoft.com/office/drawing/2014/main" val="3445424881"/>
                  </a:ext>
                </a:extLst>
              </a:tr>
              <a:tr h="0">
                <a:tc>
                  <a:txBody>
                    <a:bodyPr/>
                    <a:lstStyle/>
                    <a:p>
                      <a:pPr>
                        <a:buNone/>
                      </a:pPr>
                      <a:r>
                        <a:rPr lang="en-IN" sz="3200">
                          <a:latin typeface="Times New Roman" panose="02020603050405020304" pitchFamily="18" charset="0"/>
                          <a:cs typeface="Times New Roman" panose="02020603050405020304" pitchFamily="18" charset="0"/>
                        </a:rPr>
                        <a:t>IT Services</a:t>
                      </a:r>
                    </a:p>
                  </a:txBody>
                  <a:tcPr anchor="ctr"/>
                </a:tc>
                <a:tc>
                  <a:txBody>
                    <a:bodyPr/>
                    <a:lstStyle/>
                    <a:p>
                      <a:pPr>
                        <a:buNone/>
                      </a:pPr>
                      <a:r>
                        <a:rPr lang="en-IN" sz="3200">
                          <a:latin typeface="Times New Roman" panose="02020603050405020304" pitchFamily="18" charset="0"/>
                          <a:cs typeface="Times New Roman" panose="02020603050405020304" pitchFamily="18" charset="0"/>
                        </a:rPr>
                        <a:t>Infosys, TCS</a:t>
                      </a:r>
                    </a:p>
                  </a:txBody>
                  <a:tcPr anchor="ctr"/>
                </a:tc>
                <a:extLst>
                  <a:ext uri="{0D108BD9-81ED-4DB2-BD59-A6C34878D82A}">
                    <a16:rowId xmlns:a16="http://schemas.microsoft.com/office/drawing/2014/main" val="3069387887"/>
                  </a:ext>
                </a:extLst>
              </a:tr>
              <a:tr h="0">
                <a:tc>
                  <a:txBody>
                    <a:bodyPr/>
                    <a:lstStyle/>
                    <a:p>
                      <a:pPr>
                        <a:buNone/>
                      </a:pPr>
                      <a:r>
                        <a:rPr lang="en-IN" sz="3200">
                          <a:latin typeface="Times New Roman" panose="02020603050405020304" pitchFamily="18" charset="0"/>
                          <a:cs typeface="Times New Roman" panose="02020603050405020304" pitchFamily="18" charset="0"/>
                        </a:rPr>
                        <a:t>Retail</a:t>
                      </a:r>
                    </a:p>
                  </a:txBody>
                  <a:tcPr anchor="ctr"/>
                </a:tc>
                <a:tc>
                  <a:txBody>
                    <a:bodyPr/>
                    <a:lstStyle/>
                    <a:p>
                      <a:pPr>
                        <a:buNone/>
                      </a:pPr>
                      <a:r>
                        <a:rPr lang="en-IN" sz="3200">
                          <a:latin typeface="Times New Roman" panose="02020603050405020304" pitchFamily="18" charset="0"/>
                          <a:cs typeface="Times New Roman" panose="02020603050405020304" pitchFamily="18" charset="0"/>
                        </a:rPr>
                        <a:t>Reliance Retail</a:t>
                      </a:r>
                    </a:p>
                  </a:txBody>
                  <a:tcPr anchor="ctr"/>
                </a:tc>
                <a:extLst>
                  <a:ext uri="{0D108BD9-81ED-4DB2-BD59-A6C34878D82A}">
                    <a16:rowId xmlns:a16="http://schemas.microsoft.com/office/drawing/2014/main" val="1632204555"/>
                  </a:ext>
                </a:extLst>
              </a:tr>
              <a:tr h="0">
                <a:tc>
                  <a:txBody>
                    <a:bodyPr/>
                    <a:lstStyle/>
                    <a:p>
                      <a:pPr>
                        <a:buNone/>
                      </a:pPr>
                      <a:r>
                        <a:rPr lang="en-IN" sz="3200">
                          <a:latin typeface="Times New Roman" panose="02020603050405020304" pitchFamily="18" charset="0"/>
                          <a:cs typeface="Times New Roman" panose="02020603050405020304" pitchFamily="18" charset="0"/>
                        </a:rPr>
                        <a:t>Insurance</a:t>
                      </a:r>
                    </a:p>
                  </a:txBody>
                  <a:tcPr anchor="ctr"/>
                </a:tc>
                <a:tc>
                  <a:txBody>
                    <a:bodyPr/>
                    <a:lstStyle/>
                    <a:p>
                      <a:pPr>
                        <a:buNone/>
                      </a:pPr>
                      <a:r>
                        <a:rPr lang="en-IN" sz="3200">
                          <a:latin typeface="Times New Roman" panose="02020603050405020304" pitchFamily="18" charset="0"/>
                          <a:cs typeface="Times New Roman" panose="02020603050405020304" pitchFamily="18" charset="0"/>
                        </a:rPr>
                        <a:t>LIC</a:t>
                      </a:r>
                    </a:p>
                  </a:txBody>
                  <a:tcPr anchor="ctr"/>
                </a:tc>
                <a:extLst>
                  <a:ext uri="{0D108BD9-81ED-4DB2-BD59-A6C34878D82A}">
                    <a16:rowId xmlns:a16="http://schemas.microsoft.com/office/drawing/2014/main" val="1944971529"/>
                  </a:ext>
                </a:extLst>
              </a:tr>
              <a:tr h="0">
                <a:tc>
                  <a:txBody>
                    <a:bodyPr/>
                    <a:lstStyle/>
                    <a:p>
                      <a:pPr>
                        <a:buNone/>
                      </a:pPr>
                      <a:r>
                        <a:rPr lang="en-IN" sz="3200">
                          <a:latin typeface="Times New Roman" panose="02020603050405020304" pitchFamily="18" charset="0"/>
                          <a:cs typeface="Times New Roman" panose="02020603050405020304" pitchFamily="18" charset="0"/>
                        </a:rPr>
                        <a:t>Tourism</a:t>
                      </a:r>
                    </a:p>
                  </a:txBody>
                  <a:tcPr anchor="ctr"/>
                </a:tc>
                <a:tc>
                  <a:txBody>
                    <a:bodyPr/>
                    <a:lstStyle/>
                    <a:p>
                      <a:pPr>
                        <a:buNone/>
                      </a:pPr>
                      <a:r>
                        <a:rPr lang="en-IN" sz="3200" dirty="0">
                          <a:latin typeface="Times New Roman" panose="02020603050405020304" pitchFamily="18" charset="0"/>
                          <a:cs typeface="Times New Roman" panose="02020603050405020304" pitchFamily="18" charset="0"/>
                        </a:rPr>
                        <a:t>Thomas Cook</a:t>
                      </a:r>
                    </a:p>
                  </a:txBody>
                  <a:tcPr anchor="ctr"/>
                </a:tc>
                <a:extLst>
                  <a:ext uri="{0D108BD9-81ED-4DB2-BD59-A6C34878D82A}">
                    <a16:rowId xmlns:a16="http://schemas.microsoft.com/office/drawing/2014/main" val="539996544"/>
                  </a:ext>
                </a:extLst>
              </a:tr>
            </a:tbl>
          </a:graphicData>
        </a:graphic>
      </p:graphicFrame>
    </p:spTree>
    <p:extLst>
      <p:ext uri="{BB962C8B-B14F-4D97-AF65-F5344CB8AC3E}">
        <p14:creationId xmlns:p14="http://schemas.microsoft.com/office/powerpoint/2010/main" val="105842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BB8E-4E9B-FD31-681B-7E9043F3E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0A410-4CB0-65E0-FF27-1794BC815B17}"/>
              </a:ext>
            </a:extLst>
          </p:cNvPr>
          <p:cNvSpPr>
            <a:spLocks noGrp="1"/>
          </p:cNvSpPr>
          <p:nvPr>
            <p:ph type="title"/>
          </p:nvPr>
        </p:nvSpPr>
        <p:spPr>
          <a:xfrm>
            <a:off x="71920" y="77452"/>
            <a:ext cx="12020764" cy="939693"/>
          </a:xfrm>
        </p:spPr>
        <p:txBody>
          <a:bodyPr>
            <a:normAutofit/>
          </a:bodyPr>
          <a:lstStyle/>
          <a:p>
            <a:pPr algn="ctr"/>
            <a:r>
              <a:rPr lang="en-IN" sz="3800" b="1" dirty="0">
                <a:solidFill>
                  <a:srgbClr val="C00000"/>
                </a:solidFill>
                <a:latin typeface="Times New Roman" panose="02020603050405020304" pitchFamily="18" charset="0"/>
                <a:cs typeface="Times New Roman" panose="02020603050405020304" pitchFamily="18" charset="0"/>
              </a:rPr>
              <a:t>Implications for Human Resource Management Function</a:t>
            </a:r>
          </a:p>
        </p:txBody>
      </p:sp>
      <p:sp>
        <p:nvSpPr>
          <p:cNvPr id="3" name="Content Placeholder 2">
            <a:extLst>
              <a:ext uri="{FF2B5EF4-FFF2-40B4-BE49-F238E27FC236}">
                <a16:creationId xmlns:a16="http://schemas.microsoft.com/office/drawing/2014/main" id="{350040AD-CE0B-BD7A-86A3-BC2E1CB06ADE}"/>
              </a:ext>
            </a:extLst>
          </p:cNvPr>
          <p:cNvSpPr>
            <a:spLocks noGrp="1"/>
          </p:cNvSpPr>
          <p:nvPr>
            <p:ph idx="1"/>
          </p:nvPr>
        </p:nvSpPr>
        <p:spPr>
          <a:xfrm>
            <a:off x="71920" y="1335640"/>
            <a:ext cx="12020764" cy="5363111"/>
          </a:xfrm>
        </p:spPr>
        <p:txBody>
          <a:bodyPr>
            <a:normAutofit/>
          </a:bodyPr>
          <a:lstStyle/>
          <a:p>
            <a:pPr algn="just"/>
            <a:r>
              <a:rPr lang="en-IN" sz="3200" dirty="0">
                <a:latin typeface="Times New Roman" panose="02020603050405020304" pitchFamily="18" charset="0"/>
                <a:cs typeface="Times New Roman" panose="02020603050405020304" pitchFamily="18" charset="0"/>
              </a:rPr>
              <a:t>Recruitment: </a:t>
            </a:r>
            <a:r>
              <a:rPr lang="en-US" sz="3200" dirty="0">
                <a:latin typeface="Times New Roman" panose="02020603050405020304" pitchFamily="18" charset="0"/>
                <a:cs typeface="Times New Roman" panose="02020603050405020304" pitchFamily="18" charset="0"/>
              </a:rPr>
              <a:t>Employees require technical as well as interpersonal skills.</a:t>
            </a:r>
          </a:p>
          <a:p>
            <a:pPr algn="just"/>
            <a:r>
              <a:rPr lang="en-IN" sz="3200" dirty="0">
                <a:latin typeface="Times New Roman" panose="02020603050405020304" pitchFamily="18" charset="0"/>
                <a:cs typeface="Times New Roman" panose="02020603050405020304" pitchFamily="18" charset="0"/>
              </a:rPr>
              <a:t>Training: Continuous training is essential.</a:t>
            </a:r>
          </a:p>
          <a:p>
            <a:pPr algn="just"/>
            <a:r>
              <a:rPr lang="en-IN" sz="3200" dirty="0">
                <a:latin typeface="Times New Roman" panose="02020603050405020304" pitchFamily="18" charset="0"/>
                <a:cs typeface="Times New Roman" panose="02020603050405020304" pitchFamily="18" charset="0"/>
              </a:rPr>
              <a:t>Performance Management: </a:t>
            </a:r>
            <a:r>
              <a:rPr lang="en-US" sz="3200" dirty="0">
                <a:latin typeface="Times New Roman" panose="02020603050405020304" pitchFamily="18" charset="0"/>
                <a:cs typeface="Times New Roman" panose="02020603050405020304" pitchFamily="18" charset="0"/>
              </a:rPr>
              <a:t>Performance depends on customer satisfaction.</a:t>
            </a:r>
          </a:p>
          <a:p>
            <a:pPr algn="just"/>
            <a:r>
              <a:rPr lang="en-IN" sz="3200" dirty="0">
                <a:latin typeface="Times New Roman" panose="02020603050405020304" pitchFamily="18" charset="0"/>
                <a:cs typeface="Times New Roman" panose="02020603050405020304" pitchFamily="18" charset="0"/>
              </a:rPr>
              <a:t>Employee Motivation: </a:t>
            </a:r>
            <a:r>
              <a:rPr lang="en-US" sz="3200" dirty="0">
                <a:latin typeface="Times New Roman" panose="02020603050405020304" pitchFamily="18" charset="0"/>
                <a:cs typeface="Times New Roman" panose="02020603050405020304" pitchFamily="18" charset="0"/>
              </a:rPr>
              <a:t>Motivated employees deliver superior service.</a:t>
            </a:r>
          </a:p>
          <a:p>
            <a:pPr algn="just"/>
            <a:r>
              <a:rPr lang="en-IN" sz="3200" dirty="0">
                <a:latin typeface="Times New Roman" panose="02020603050405020304" pitchFamily="18" charset="0"/>
                <a:cs typeface="Times New Roman" panose="02020603050405020304" pitchFamily="18" charset="0"/>
              </a:rPr>
              <a:t>Employee Retention: </a:t>
            </a:r>
            <a:r>
              <a:rPr lang="en-US" sz="3200" dirty="0">
                <a:latin typeface="Times New Roman" panose="02020603050405020304" pitchFamily="18" charset="0"/>
                <a:cs typeface="Times New Roman" panose="02020603050405020304" pitchFamily="18" charset="0"/>
              </a:rPr>
              <a:t>Service industries experience high turnover.</a:t>
            </a:r>
          </a:p>
          <a:p>
            <a:pPr algn="just"/>
            <a:r>
              <a:rPr lang="en-IN" sz="3200" dirty="0">
                <a:latin typeface="Times New Roman" panose="02020603050405020304" pitchFamily="18" charset="0"/>
                <a:cs typeface="Times New Roman" panose="02020603050405020304" pitchFamily="18" charset="0"/>
              </a:rPr>
              <a:t>Customer Relationship Management: </a:t>
            </a:r>
            <a:r>
              <a:rPr lang="en-US" sz="3200" dirty="0">
                <a:latin typeface="Times New Roman" panose="02020603050405020304" pitchFamily="18" charset="0"/>
                <a:cs typeface="Times New Roman" panose="02020603050405020304" pitchFamily="18" charset="0"/>
              </a:rPr>
              <a:t>Employees directly influence customer loyalty.</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BF652-99C1-2D01-D24E-7DB9E02B4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3C525-B6E1-697C-2947-FB5BF7FF04F8}"/>
              </a:ext>
            </a:extLst>
          </p:cNvPr>
          <p:cNvSpPr>
            <a:spLocks noGrp="1"/>
          </p:cNvSpPr>
          <p:nvPr>
            <p:ph type="title"/>
          </p:nvPr>
        </p:nvSpPr>
        <p:spPr>
          <a:xfrm>
            <a:off x="71920" y="77452"/>
            <a:ext cx="12020764" cy="939693"/>
          </a:xfrm>
        </p:spPr>
        <p:txBody>
          <a:bodyPr/>
          <a:lstStyle/>
          <a:p>
            <a:pPr algn="ctr"/>
            <a:r>
              <a:rPr lang="en-US" b="1" dirty="0">
                <a:solidFill>
                  <a:srgbClr val="C00000"/>
                </a:solidFill>
                <a:latin typeface="Times New Roman" pitchFamily="18" charset="0"/>
                <a:cs typeface="Times New Roman" pitchFamily="18" charset="0"/>
              </a:rPr>
              <a:t>Services Sector V/s Manufacturing Sector</a:t>
            </a:r>
            <a:endParaRPr lang="en-IN" b="1" dirty="0">
              <a:solidFill>
                <a:srgbClr val="C00000"/>
              </a:solidFill>
            </a:endParaRPr>
          </a:p>
        </p:txBody>
      </p:sp>
      <p:graphicFrame>
        <p:nvGraphicFramePr>
          <p:cNvPr id="4" name="Content Placeholder 3">
            <a:extLst>
              <a:ext uri="{FF2B5EF4-FFF2-40B4-BE49-F238E27FC236}">
                <a16:creationId xmlns:a16="http://schemas.microsoft.com/office/drawing/2014/main" id="{97917686-4BB7-685E-8309-A54AEA4C4BC8}"/>
              </a:ext>
            </a:extLst>
          </p:cNvPr>
          <p:cNvGraphicFramePr>
            <a:graphicFrameLocks noGrp="1"/>
          </p:cNvGraphicFramePr>
          <p:nvPr>
            <p:ph idx="1"/>
            <p:extLst>
              <p:ext uri="{D42A27DB-BD31-4B8C-83A1-F6EECF244321}">
                <p14:modId xmlns:p14="http://schemas.microsoft.com/office/powerpoint/2010/main" val="4259740968"/>
              </p:ext>
            </p:extLst>
          </p:nvPr>
        </p:nvGraphicFramePr>
        <p:xfrm>
          <a:off x="152400" y="1158240"/>
          <a:ext cx="11816080" cy="5455920"/>
        </p:xfrm>
        <a:graphic>
          <a:graphicData uri="http://schemas.openxmlformats.org/drawingml/2006/table">
            <a:tbl>
              <a:tblPr firstRow="1" bandRow="1">
                <a:tableStyleId>{5C22544A-7EE6-4342-B048-85BDC9FD1C3A}</a:tableStyleId>
              </a:tblPr>
              <a:tblGrid>
                <a:gridCol w="5908040">
                  <a:extLst>
                    <a:ext uri="{9D8B030D-6E8A-4147-A177-3AD203B41FA5}">
                      <a16:colId xmlns:a16="http://schemas.microsoft.com/office/drawing/2014/main" val="20000"/>
                    </a:ext>
                  </a:extLst>
                </a:gridCol>
                <a:gridCol w="5908040">
                  <a:extLst>
                    <a:ext uri="{9D8B030D-6E8A-4147-A177-3AD203B41FA5}">
                      <a16:colId xmlns:a16="http://schemas.microsoft.com/office/drawing/2014/main" val="20001"/>
                    </a:ext>
                  </a:extLst>
                </a:gridCol>
              </a:tblGrid>
              <a:tr h="667139">
                <a:tc>
                  <a:txBody>
                    <a:bodyPr/>
                    <a:lstStyle/>
                    <a:p>
                      <a:pPr algn="ctr"/>
                      <a:r>
                        <a:rPr lang="en-US" sz="3600" dirty="0">
                          <a:solidFill>
                            <a:schemeClr val="bg1"/>
                          </a:solidFill>
                          <a:latin typeface="Times New Roman" pitchFamily="18" charset="0"/>
                          <a:cs typeface="Times New Roman" pitchFamily="18" charset="0"/>
                        </a:rPr>
                        <a:t>Services Sector </a:t>
                      </a:r>
                    </a:p>
                  </a:txBody>
                  <a:tcPr/>
                </a:tc>
                <a:tc>
                  <a:txBody>
                    <a:bodyPr/>
                    <a:lstStyle/>
                    <a:p>
                      <a:pPr algn="ctr"/>
                      <a:r>
                        <a:rPr lang="en-US" sz="3600" dirty="0">
                          <a:solidFill>
                            <a:schemeClr val="bg1"/>
                          </a:solidFill>
                          <a:latin typeface="Times New Roman" pitchFamily="18" charset="0"/>
                          <a:cs typeface="Times New Roman" pitchFamily="18" charset="0"/>
                        </a:rPr>
                        <a:t>Manufacturing Sector</a:t>
                      </a:r>
                    </a:p>
                  </a:txBody>
                  <a:tcPr/>
                </a:tc>
                <a:extLst>
                  <a:ext uri="{0D108BD9-81ED-4DB2-BD59-A6C34878D82A}">
                    <a16:rowId xmlns:a16="http://schemas.microsoft.com/office/drawing/2014/main" val="10000"/>
                  </a:ext>
                </a:extLst>
              </a:tr>
              <a:tr h="667139">
                <a:tc>
                  <a:txBody>
                    <a:bodyPr/>
                    <a:lstStyle/>
                    <a:p>
                      <a:pPr marL="457200" indent="-457200">
                        <a:buFont typeface="Arial" panose="020B0604020202020204" pitchFamily="34" charset="0"/>
                        <a:buChar char="•"/>
                      </a:pPr>
                      <a:r>
                        <a:rPr lang="en-US" sz="2800" kern="1200" dirty="0">
                          <a:solidFill>
                            <a:schemeClr val="dk1"/>
                          </a:solidFill>
                          <a:latin typeface="Times New Roman" pitchFamily="18" charset="0"/>
                          <a:ea typeface="+mn-ea"/>
                          <a:cs typeface="Times New Roman" pitchFamily="18" charset="0"/>
                        </a:rPr>
                        <a:t>Intangibility</a:t>
                      </a:r>
                      <a:endParaRPr lang="en-US" sz="2800" dirty="0">
                        <a:latin typeface="Times New Roman" pitchFamily="18" charset="0"/>
                        <a:cs typeface="Times New Roman" pitchFamily="18" charset="0"/>
                      </a:endParaRPr>
                    </a:p>
                  </a:txBody>
                  <a:tcPr/>
                </a:tc>
                <a:tc>
                  <a:txBody>
                    <a:bodyPr/>
                    <a:lstStyle/>
                    <a:p>
                      <a:pPr marL="457200" indent="-457200">
                        <a:buFont typeface="Arial" panose="020B0604020202020204" pitchFamily="34" charset="0"/>
                        <a:buChar char="•"/>
                      </a:pPr>
                      <a:r>
                        <a:rPr lang="en-US" sz="2800" kern="1200" dirty="0">
                          <a:solidFill>
                            <a:schemeClr val="dk1"/>
                          </a:solidFill>
                          <a:latin typeface="Times New Roman" pitchFamily="18" charset="0"/>
                          <a:ea typeface="+mn-ea"/>
                          <a:cs typeface="Times New Roman" pitchFamily="18" charset="0"/>
                        </a:rPr>
                        <a:t>Tangibility</a:t>
                      </a:r>
                      <a:endParaRPr lang="en-US" sz="28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151501">
                <a:tc>
                  <a:txBody>
                    <a:bodyPr/>
                    <a:lstStyle/>
                    <a:p>
                      <a:pPr marL="457200" indent="-457200">
                        <a:buFont typeface="Arial" panose="020B0604020202020204" pitchFamily="34" charset="0"/>
                        <a:buChar char="•"/>
                      </a:pPr>
                      <a:r>
                        <a:rPr lang="en-US" sz="2800" kern="1200" dirty="0">
                          <a:solidFill>
                            <a:schemeClr val="dk1"/>
                          </a:solidFill>
                          <a:latin typeface="Times New Roman" pitchFamily="18" charset="0"/>
                          <a:ea typeface="+mn-ea"/>
                          <a:cs typeface="Times New Roman" pitchFamily="18" charset="0"/>
                        </a:rPr>
                        <a:t>Heterogeneity &amp; Difficult to Standardized</a:t>
                      </a:r>
                      <a:endParaRPr lang="en-US" sz="2800" dirty="0">
                        <a:latin typeface="Times New Roman" pitchFamily="18" charset="0"/>
                        <a:cs typeface="Times New Roman" pitchFamily="18" charset="0"/>
                      </a:endParaRPr>
                    </a:p>
                  </a:txBody>
                  <a:tcPr/>
                </a:tc>
                <a:tc>
                  <a:txBody>
                    <a:bodyPr/>
                    <a:lstStyle/>
                    <a:p>
                      <a:pPr marL="457200" indent="-457200">
                        <a:buFont typeface="Arial" panose="020B0604020202020204" pitchFamily="34" charset="0"/>
                        <a:buChar char="•"/>
                      </a:pPr>
                      <a:r>
                        <a:rPr lang="en-US" sz="2800" dirty="0">
                          <a:latin typeface="Times New Roman" pitchFamily="18" charset="0"/>
                          <a:cs typeface="Times New Roman" pitchFamily="18" charset="0"/>
                        </a:rPr>
                        <a:t>Easy</a:t>
                      </a:r>
                      <a:r>
                        <a:rPr lang="en-US" sz="2800" baseline="0" dirty="0">
                          <a:latin typeface="Times New Roman" pitchFamily="18" charset="0"/>
                          <a:cs typeface="Times New Roman" pitchFamily="18" charset="0"/>
                        </a:rPr>
                        <a:t> to Standardized</a:t>
                      </a:r>
                      <a:endParaRPr lang="en-US" sz="28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151501">
                <a:tc>
                  <a:txBody>
                    <a:bodyPr/>
                    <a:lstStyle/>
                    <a:p>
                      <a:pPr marL="457200" indent="-457200">
                        <a:buFont typeface="Arial" panose="020B0604020202020204" pitchFamily="34" charset="0"/>
                        <a:buChar char="•"/>
                      </a:pPr>
                      <a:r>
                        <a:rPr lang="en-US" sz="2800" dirty="0">
                          <a:latin typeface="Times New Roman" pitchFamily="18" charset="0"/>
                          <a:cs typeface="Times New Roman" pitchFamily="18" charset="0"/>
                        </a:rPr>
                        <a:t>Simultaneous Production and Consumption</a:t>
                      </a:r>
                    </a:p>
                  </a:txBody>
                  <a:tcPr/>
                </a:tc>
                <a:tc>
                  <a:txBody>
                    <a:bodyPr/>
                    <a:lstStyle/>
                    <a:p>
                      <a:pPr marL="457200" indent="-457200">
                        <a:buFont typeface="Arial" panose="020B0604020202020204" pitchFamily="34" charset="0"/>
                        <a:buChar char="•"/>
                      </a:pPr>
                      <a:r>
                        <a:rPr lang="en-US" sz="2800" dirty="0">
                          <a:latin typeface="Times New Roman" pitchFamily="18" charset="0"/>
                          <a:cs typeface="Times New Roman" pitchFamily="18" charset="0"/>
                        </a:rPr>
                        <a:t>Production and Consumption occurs separately.</a:t>
                      </a:r>
                    </a:p>
                  </a:txBody>
                  <a:tcPr/>
                </a:tc>
                <a:extLst>
                  <a:ext uri="{0D108BD9-81ED-4DB2-BD59-A6C34878D82A}">
                    <a16:rowId xmlns:a16="http://schemas.microsoft.com/office/drawing/2014/main" val="10003"/>
                  </a:ext>
                </a:extLst>
              </a:tr>
              <a:tr h="667139">
                <a:tc>
                  <a:txBody>
                    <a:bodyPr/>
                    <a:lstStyle/>
                    <a:p>
                      <a:pPr marL="457200" indent="-457200">
                        <a:buFont typeface="Arial" panose="020B0604020202020204" pitchFamily="34" charset="0"/>
                        <a:buChar char="•"/>
                      </a:pPr>
                      <a:r>
                        <a:rPr lang="en-US" sz="2800" kern="1200" dirty="0">
                          <a:solidFill>
                            <a:schemeClr val="dk1"/>
                          </a:solidFill>
                          <a:latin typeface="Times New Roman" pitchFamily="18" charset="0"/>
                          <a:ea typeface="+mn-ea"/>
                          <a:cs typeface="Times New Roman" pitchFamily="18" charset="0"/>
                        </a:rPr>
                        <a:t>Perishable</a:t>
                      </a:r>
                      <a:endParaRPr lang="en-US" sz="2800" dirty="0">
                        <a:latin typeface="Times New Roman" pitchFamily="18" charset="0"/>
                        <a:cs typeface="Times New Roman" pitchFamily="18" charset="0"/>
                      </a:endParaRPr>
                    </a:p>
                  </a:txBody>
                  <a:tcPr/>
                </a:tc>
                <a:tc>
                  <a:txBody>
                    <a:bodyPr/>
                    <a:lstStyle/>
                    <a:p>
                      <a:pPr marL="457200" indent="-457200">
                        <a:buFont typeface="Arial" panose="020B0604020202020204" pitchFamily="34" charset="0"/>
                        <a:buChar char="•"/>
                      </a:pPr>
                      <a:r>
                        <a:rPr lang="en-US" sz="2800" dirty="0">
                          <a:latin typeface="Times New Roman" pitchFamily="18" charset="0"/>
                          <a:cs typeface="Times New Roman" pitchFamily="18" charset="0"/>
                        </a:rPr>
                        <a:t>Non-Perishable (Durable)</a:t>
                      </a:r>
                    </a:p>
                  </a:txBody>
                  <a:tcPr/>
                </a:tc>
                <a:extLst>
                  <a:ext uri="{0D108BD9-81ED-4DB2-BD59-A6C34878D82A}">
                    <a16:rowId xmlns:a16="http://schemas.microsoft.com/office/drawing/2014/main" val="10004"/>
                  </a:ext>
                </a:extLst>
              </a:tr>
              <a:tr h="1151501">
                <a:tc>
                  <a:txBody>
                    <a:bodyPr/>
                    <a:lstStyle/>
                    <a:p>
                      <a:pPr marL="457200" marR="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kern="1200" dirty="0">
                          <a:solidFill>
                            <a:schemeClr val="dk1"/>
                          </a:solidFill>
                          <a:latin typeface="Times New Roman" pitchFamily="18" charset="0"/>
                          <a:ea typeface="+mn-ea"/>
                          <a:cs typeface="Times New Roman" pitchFamily="18" charset="0"/>
                        </a:rPr>
                        <a:t>Ownership  can be transferred</a:t>
                      </a:r>
                      <a:endParaRPr lang="en-US" sz="2800" dirty="0">
                        <a:latin typeface="Times New Roman" pitchFamily="18" charset="0"/>
                        <a:cs typeface="Times New Roman" pitchFamily="18" charset="0"/>
                      </a:endParaRPr>
                    </a:p>
                    <a:p>
                      <a:pPr marL="457200" indent="-457200">
                        <a:buFont typeface="Arial" panose="020B0604020202020204" pitchFamily="34" charset="0"/>
                        <a:buChar char="•"/>
                      </a:pPr>
                      <a:endParaRPr lang="en-US" sz="2800" dirty="0">
                        <a:latin typeface="Times New Roman" pitchFamily="18" charset="0"/>
                        <a:cs typeface="Times New Roman" pitchFamily="18" charset="0"/>
                      </a:endParaRPr>
                    </a:p>
                  </a:txBody>
                  <a:tcPr/>
                </a:tc>
                <a:tc>
                  <a:txBody>
                    <a:bodyPr/>
                    <a:lstStyle/>
                    <a:p>
                      <a:pPr marL="457200" indent="-457200">
                        <a:buFont typeface="Arial" panose="020B0604020202020204" pitchFamily="34" charset="0"/>
                        <a:buChar char="•"/>
                      </a:pPr>
                      <a:r>
                        <a:rPr lang="en-US" sz="2800" kern="1200" dirty="0">
                          <a:solidFill>
                            <a:schemeClr val="dk1"/>
                          </a:solidFill>
                          <a:latin typeface="Times New Roman" pitchFamily="18" charset="0"/>
                          <a:ea typeface="+mn-ea"/>
                          <a:cs typeface="Times New Roman" pitchFamily="18" charset="0"/>
                        </a:rPr>
                        <a:t>Ownership  can be transferred</a:t>
                      </a:r>
                      <a:endParaRPr lang="en-US" sz="28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1186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498AC-6C59-9E8C-2EE4-70B305349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87360-F852-08DA-7714-4627A8B41330}"/>
              </a:ext>
            </a:extLst>
          </p:cNvPr>
          <p:cNvSpPr>
            <a:spLocks noGrp="1"/>
          </p:cNvSpPr>
          <p:nvPr>
            <p:ph type="title"/>
          </p:nvPr>
        </p:nvSpPr>
        <p:spPr>
          <a:xfrm>
            <a:off x="71920" y="77452"/>
            <a:ext cx="12020764" cy="939693"/>
          </a:xfrm>
        </p:spPr>
        <p:txBody>
          <a:bodyPr>
            <a:noAutofit/>
          </a:bodyPr>
          <a:lstStyle/>
          <a:p>
            <a:pPr algn="ctr"/>
            <a:r>
              <a:rPr lang="en-US" sz="3800" b="1" dirty="0">
                <a:solidFill>
                  <a:srgbClr val="C00000"/>
                </a:solidFill>
                <a:latin typeface="Times New Roman" panose="02020603050405020304" pitchFamily="18" charset="0"/>
                <a:cs typeface="Times New Roman" panose="02020603050405020304" pitchFamily="18" charset="0"/>
              </a:rPr>
              <a:t>Difference in Human Resource Management in Services and Manufacturing Sectors</a:t>
            </a:r>
            <a:endParaRPr lang="en-IN" sz="3800" dirty="0">
              <a:solidFill>
                <a:srgbClr val="C0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2F85CE9A-AF4E-CD36-E463-6507980EBC0F}"/>
              </a:ext>
            </a:extLst>
          </p:cNvPr>
          <p:cNvGraphicFramePr>
            <a:graphicFrameLocks noGrp="1"/>
          </p:cNvGraphicFramePr>
          <p:nvPr>
            <p:extLst>
              <p:ext uri="{D42A27DB-BD31-4B8C-83A1-F6EECF244321}">
                <p14:modId xmlns:p14="http://schemas.microsoft.com/office/powerpoint/2010/main" val="2386939434"/>
              </p:ext>
            </p:extLst>
          </p:nvPr>
        </p:nvGraphicFramePr>
        <p:xfrm>
          <a:off x="172720" y="1209040"/>
          <a:ext cx="11805921" cy="5452110"/>
        </p:xfrm>
        <a:graphic>
          <a:graphicData uri="http://schemas.openxmlformats.org/drawingml/2006/table">
            <a:tbl>
              <a:tblPr>
                <a:tableStyleId>{5940675A-B579-460E-94D1-54222C63F5DA}</a:tableStyleId>
              </a:tblPr>
              <a:tblGrid>
                <a:gridCol w="3935307">
                  <a:extLst>
                    <a:ext uri="{9D8B030D-6E8A-4147-A177-3AD203B41FA5}">
                      <a16:colId xmlns:a16="http://schemas.microsoft.com/office/drawing/2014/main" val="3043479721"/>
                    </a:ext>
                  </a:extLst>
                </a:gridCol>
                <a:gridCol w="3935307">
                  <a:extLst>
                    <a:ext uri="{9D8B030D-6E8A-4147-A177-3AD203B41FA5}">
                      <a16:colId xmlns:a16="http://schemas.microsoft.com/office/drawing/2014/main" val="1754934477"/>
                    </a:ext>
                  </a:extLst>
                </a:gridCol>
                <a:gridCol w="3935307">
                  <a:extLst>
                    <a:ext uri="{9D8B030D-6E8A-4147-A177-3AD203B41FA5}">
                      <a16:colId xmlns:a16="http://schemas.microsoft.com/office/drawing/2014/main" val="2871302268"/>
                    </a:ext>
                  </a:extLst>
                </a:gridCol>
              </a:tblGrid>
              <a:tr h="643890">
                <a:tc>
                  <a:txBody>
                    <a:bodyPr/>
                    <a:lstStyle/>
                    <a:p>
                      <a:pPr algn="ctr">
                        <a:buNone/>
                      </a:pPr>
                      <a:r>
                        <a:rPr lang="en-IN" sz="3000" b="1" dirty="0">
                          <a:latin typeface="Times New Roman" panose="02020603050405020304" pitchFamily="18" charset="0"/>
                          <a:cs typeface="Times New Roman" panose="02020603050405020304" pitchFamily="18" charset="0"/>
                        </a:rPr>
                        <a:t>HR Function</a:t>
                      </a:r>
                    </a:p>
                  </a:txBody>
                  <a:tcPr anchor="ctr"/>
                </a:tc>
                <a:tc>
                  <a:txBody>
                    <a:bodyPr/>
                    <a:lstStyle/>
                    <a:p>
                      <a:pPr algn="ctr">
                        <a:buNone/>
                      </a:pPr>
                      <a:r>
                        <a:rPr lang="en-IN" sz="3000" b="1" dirty="0">
                          <a:latin typeface="Times New Roman" panose="02020603050405020304" pitchFamily="18" charset="0"/>
                          <a:cs typeface="Times New Roman" panose="02020603050405020304" pitchFamily="18" charset="0"/>
                        </a:rPr>
                        <a:t>Service Sector</a:t>
                      </a:r>
                    </a:p>
                  </a:txBody>
                  <a:tcPr anchor="ctr"/>
                </a:tc>
                <a:tc>
                  <a:txBody>
                    <a:bodyPr/>
                    <a:lstStyle/>
                    <a:p>
                      <a:pPr algn="ctr">
                        <a:buNone/>
                      </a:pPr>
                      <a:r>
                        <a:rPr lang="en-IN" sz="3000" b="1" dirty="0">
                          <a:latin typeface="Times New Roman" panose="02020603050405020304" pitchFamily="18" charset="0"/>
                          <a:cs typeface="Times New Roman" panose="02020603050405020304" pitchFamily="18" charset="0"/>
                        </a:rPr>
                        <a:t>Manufacturing Sector</a:t>
                      </a:r>
                    </a:p>
                  </a:txBody>
                  <a:tcPr anchor="ctr"/>
                </a:tc>
                <a:extLst>
                  <a:ext uri="{0D108BD9-81ED-4DB2-BD59-A6C34878D82A}">
                    <a16:rowId xmlns:a16="http://schemas.microsoft.com/office/drawing/2014/main" val="4066727584"/>
                  </a:ext>
                </a:extLst>
              </a:tr>
              <a:tr h="643890">
                <a:tc>
                  <a:txBody>
                    <a:bodyPr/>
                    <a:lstStyle/>
                    <a:p>
                      <a:pPr>
                        <a:buNone/>
                      </a:pPr>
                      <a:r>
                        <a:rPr lang="en-IN" sz="2800" dirty="0">
                          <a:latin typeface="Times New Roman" panose="02020603050405020304" pitchFamily="18" charset="0"/>
                          <a:cs typeface="Times New Roman" panose="02020603050405020304" pitchFamily="18" charset="0"/>
                        </a:rPr>
                        <a:t>Recruitment</a:t>
                      </a:r>
                    </a:p>
                  </a:txBody>
                  <a:tcPr anchor="ctr"/>
                </a:tc>
                <a:tc>
                  <a:txBody>
                    <a:bodyPr/>
                    <a:lstStyle/>
                    <a:p>
                      <a:pPr>
                        <a:buNone/>
                      </a:pPr>
                      <a:r>
                        <a:rPr lang="en-IN" sz="2800">
                          <a:latin typeface="Times New Roman" panose="02020603050405020304" pitchFamily="18" charset="0"/>
                          <a:cs typeface="Times New Roman" panose="02020603050405020304" pitchFamily="18" charset="0"/>
                        </a:rPr>
                        <a:t>Soft skills + technical skills</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Technical skills</a:t>
                      </a:r>
                    </a:p>
                  </a:txBody>
                  <a:tcPr anchor="ctr"/>
                </a:tc>
                <a:extLst>
                  <a:ext uri="{0D108BD9-81ED-4DB2-BD59-A6C34878D82A}">
                    <a16:rowId xmlns:a16="http://schemas.microsoft.com/office/drawing/2014/main" val="474243270"/>
                  </a:ext>
                </a:extLst>
              </a:tr>
              <a:tr h="643890">
                <a:tc>
                  <a:txBody>
                    <a:bodyPr/>
                    <a:lstStyle/>
                    <a:p>
                      <a:pPr>
                        <a:buNone/>
                      </a:pPr>
                      <a:r>
                        <a:rPr lang="en-IN" sz="2800">
                          <a:latin typeface="Times New Roman" panose="02020603050405020304" pitchFamily="18" charset="0"/>
                          <a:cs typeface="Times New Roman" panose="02020603050405020304" pitchFamily="18" charset="0"/>
                        </a:rPr>
                        <a:t>Training</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Customer service</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Machine operation</a:t>
                      </a:r>
                    </a:p>
                  </a:txBody>
                  <a:tcPr anchor="ctr"/>
                </a:tc>
                <a:extLst>
                  <a:ext uri="{0D108BD9-81ED-4DB2-BD59-A6C34878D82A}">
                    <a16:rowId xmlns:a16="http://schemas.microsoft.com/office/drawing/2014/main" val="1550763234"/>
                  </a:ext>
                </a:extLst>
              </a:tr>
              <a:tr h="643890">
                <a:tc>
                  <a:txBody>
                    <a:bodyPr/>
                    <a:lstStyle/>
                    <a:p>
                      <a:pPr>
                        <a:buNone/>
                      </a:pPr>
                      <a:r>
                        <a:rPr lang="en-IN" sz="2800" dirty="0">
                          <a:latin typeface="Times New Roman" panose="02020603050405020304" pitchFamily="18" charset="0"/>
                          <a:cs typeface="Times New Roman" panose="02020603050405020304" pitchFamily="18" charset="0"/>
                        </a:rPr>
                        <a:t>Performance Evaluation</a:t>
                      </a:r>
                    </a:p>
                  </a:txBody>
                  <a:tcPr anchor="ctr"/>
                </a:tc>
                <a:tc>
                  <a:txBody>
                    <a:bodyPr/>
                    <a:lstStyle/>
                    <a:p>
                      <a:pPr>
                        <a:buNone/>
                      </a:pPr>
                      <a:r>
                        <a:rPr lang="en-IN" sz="2800">
                          <a:latin typeface="Times New Roman" panose="02020603050405020304" pitchFamily="18" charset="0"/>
                          <a:cs typeface="Times New Roman" panose="02020603050405020304" pitchFamily="18" charset="0"/>
                        </a:rPr>
                        <a:t>Customer satisfaction</a:t>
                      </a:r>
                    </a:p>
                  </a:txBody>
                  <a:tcPr anchor="ctr"/>
                </a:tc>
                <a:tc>
                  <a:txBody>
                    <a:bodyPr/>
                    <a:lstStyle/>
                    <a:p>
                      <a:pPr>
                        <a:buNone/>
                      </a:pPr>
                      <a:r>
                        <a:rPr lang="en-IN" sz="2800">
                          <a:latin typeface="Times New Roman" panose="02020603050405020304" pitchFamily="18" charset="0"/>
                          <a:cs typeface="Times New Roman" panose="02020603050405020304" pitchFamily="18" charset="0"/>
                        </a:rPr>
                        <a:t>Production targets</a:t>
                      </a:r>
                    </a:p>
                  </a:txBody>
                  <a:tcPr anchor="ctr"/>
                </a:tc>
                <a:extLst>
                  <a:ext uri="{0D108BD9-81ED-4DB2-BD59-A6C34878D82A}">
                    <a16:rowId xmlns:a16="http://schemas.microsoft.com/office/drawing/2014/main" val="2326492593"/>
                  </a:ext>
                </a:extLst>
              </a:tr>
              <a:tr h="643890">
                <a:tc>
                  <a:txBody>
                    <a:bodyPr/>
                    <a:lstStyle/>
                    <a:p>
                      <a:pPr>
                        <a:buNone/>
                      </a:pPr>
                      <a:r>
                        <a:rPr lang="en-IN" sz="2800" dirty="0">
                          <a:latin typeface="Times New Roman" panose="02020603050405020304" pitchFamily="18" charset="0"/>
                          <a:cs typeface="Times New Roman" panose="02020603050405020304" pitchFamily="18" charset="0"/>
                        </a:rPr>
                        <a:t>Rewards</a:t>
                      </a:r>
                    </a:p>
                  </a:txBody>
                  <a:tcPr anchor="ctr"/>
                </a:tc>
                <a:tc>
                  <a:txBody>
                    <a:bodyPr/>
                    <a:lstStyle/>
                    <a:p>
                      <a:pPr>
                        <a:buNone/>
                      </a:pPr>
                      <a:r>
                        <a:rPr lang="en-IN" sz="2800">
                          <a:latin typeface="Times New Roman" panose="02020603050405020304" pitchFamily="18" charset="0"/>
                          <a:cs typeface="Times New Roman" panose="02020603050405020304" pitchFamily="18" charset="0"/>
                        </a:rPr>
                        <a:t>Customer feedback</a:t>
                      </a:r>
                    </a:p>
                  </a:txBody>
                  <a:tcPr anchor="ctr"/>
                </a:tc>
                <a:tc>
                  <a:txBody>
                    <a:bodyPr/>
                    <a:lstStyle/>
                    <a:p>
                      <a:pPr>
                        <a:buNone/>
                      </a:pPr>
                      <a:r>
                        <a:rPr lang="en-IN" sz="2800">
                          <a:latin typeface="Times New Roman" panose="02020603050405020304" pitchFamily="18" charset="0"/>
                          <a:cs typeface="Times New Roman" panose="02020603050405020304" pitchFamily="18" charset="0"/>
                        </a:rPr>
                        <a:t>Productivity</a:t>
                      </a:r>
                    </a:p>
                  </a:txBody>
                  <a:tcPr anchor="ctr"/>
                </a:tc>
                <a:extLst>
                  <a:ext uri="{0D108BD9-81ED-4DB2-BD59-A6C34878D82A}">
                    <a16:rowId xmlns:a16="http://schemas.microsoft.com/office/drawing/2014/main" val="1335701432"/>
                  </a:ext>
                </a:extLst>
              </a:tr>
              <a:tr h="643890">
                <a:tc>
                  <a:txBody>
                    <a:bodyPr/>
                    <a:lstStyle/>
                    <a:p>
                      <a:pPr>
                        <a:buNone/>
                      </a:pPr>
                      <a:r>
                        <a:rPr lang="en-IN" sz="2800">
                          <a:latin typeface="Times New Roman" panose="02020603050405020304" pitchFamily="18" charset="0"/>
                          <a:cs typeface="Times New Roman" panose="02020603050405020304" pitchFamily="18" charset="0"/>
                        </a:rPr>
                        <a:t>Communication</a:t>
                      </a:r>
                    </a:p>
                  </a:txBody>
                  <a:tcPr anchor="ctr"/>
                </a:tc>
                <a:tc>
                  <a:txBody>
                    <a:bodyPr/>
                    <a:lstStyle/>
                    <a:p>
                      <a:pPr>
                        <a:buNone/>
                      </a:pPr>
                      <a:r>
                        <a:rPr lang="en-IN" sz="2800">
                          <a:latin typeface="Times New Roman" panose="02020603050405020304" pitchFamily="18" charset="0"/>
                          <a:cs typeface="Times New Roman" panose="02020603050405020304" pitchFamily="18" charset="0"/>
                        </a:rPr>
                        <a:t>High</a:t>
                      </a:r>
                    </a:p>
                  </a:txBody>
                  <a:tcPr anchor="ctr"/>
                </a:tc>
                <a:tc>
                  <a:txBody>
                    <a:bodyPr/>
                    <a:lstStyle/>
                    <a:p>
                      <a:pPr>
                        <a:buNone/>
                      </a:pPr>
                      <a:r>
                        <a:rPr lang="en-IN" sz="2800">
                          <a:latin typeface="Times New Roman" panose="02020603050405020304" pitchFamily="18" charset="0"/>
                          <a:cs typeface="Times New Roman" panose="02020603050405020304" pitchFamily="18" charset="0"/>
                        </a:rPr>
                        <a:t>Moderate</a:t>
                      </a:r>
                    </a:p>
                  </a:txBody>
                  <a:tcPr anchor="ctr"/>
                </a:tc>
                <a:extLst>
                  <a:ext uri="{0D108BD9-81ED-4DB2-BD59-A6C34878D82A}">
                    <a16:rowId xmlns:a16="http://schemas.microsoft.com/office/drawing/2014/main" val="1321139649"/>
                  </a:ext>
                </a:extLst>
              </a:tr>
              <a:tr h="643890">
                <a:tc>
                  <a:txBody>
                    <a:bodyPr/>
                    <a:lstStyle/>
                    <a:p>
                      <a:pPr>
                        <a:buNone/>
                      </a:pPr>
                      <a:r>
                        <a:rPr lang="en-IN" sz="2800">
                          <a:latin typeface="Times New Roman" panose="02020603050405020304" pitchFamily="18" charset="0"/>
                          <a:cs typeface="Times New Roman" panose="02020603050405020304" pitchFamily="18" charset="0"/>
                        </a:rPr>
                        <a:t>Employee Behaviour</a:t>
                      </a:r>
                    </a:p>
                  </a:txBody>
                  <a:tcPr anchor="ctr"/>
                </a:tc>
                <a:tc>
                  <a:txBody>
                    <a:bodyPr/>
                    <a:lstStyle/>
                    <a:p>
                      <a:pPr>
                        <a:buNone/>
                      </a:pPr>
                      <a:r>
                        <a:rPr lang="en-IN" sz="2800">
                          <a:latin typeface="Times New Roman" panose="02020603050405020304" pitchFamily="18" charset="0"/>
                          <a:cs typeface="Times New Roman" panose="02020603050405020304" pitchFamily="18" charset="0"/>
                        </a:rPr>
                        <a:t>Very important</a:t>
                      </a:r>
                    </a:p>
                  </a:txBody>
                  <a:tcPr anchor="ctr"/>
                </a:tc>
                <a:tc>
                  <a:txBody>
                    <a:bodyPr/>
                    <a:lstStyle/>
                    <a:p>
                      <a:pPr>
                        <a:buNone/>
                      </a:pPr>
                      <a:r>
                        <a:rPr lang="en-IN" sz="2800">
                          <a:latin typeface="Times New Roman" panose="02020603050405020304" pitchFamily="18" charset="0"/>
                          <a:cs typeface="Times New Roman" panose="02020603050405020304" pitchFamily="18" charset="0"/>
                        </a:rPr>
                        <a:t>Less customer-facing</a:t>
                      </a:r>
                    </a:p>
                  </a:txBody>
                  <a:tcPr anchor="ctr"/>
                </a:tc>
                <a:extLst>
                  <a:ext uri="{0D108BD9-81ED-4DB2-BD59-A6C34878D82A}">
                    <a16:rowId xmlns:a16="http://schemas.microsoft.com/office/drawing/2014/main" val="1354088066"/>
                  </a:ext>
                </a:extLst>
              </a:tr>
              <a:tr h="643890">
                <a:tc>
                  <a:txBody>
                    <a:bodyPr/>
                    <a:lstStyle/>
                    <a:p>
                      <a:pPr>
                        <a:buNone/>
                      </a:pPr>
                      <a:r>
                        <a:rPr lang="en-IN" sz="2800" dirty="0">
                          <a:latin typeface="Times New Roman" panose="02020603050405020304" pitchFamily="18" charset="0"/>
                          <a:cs typeface="Times New Roman" panose="02020603050405020304" pitchFamily="18" charset="0"/>
                        </a:rPr>
                        <a:t>Flexibility</a:t>
                      </a:r>
                    </a:p>
                  </a:txBody>
                  <a:tcPr anchor="ctr"/>
                </a:tc>
                <a:tc>
                  <a:txBody>
                    <a:bodyPr/>
                    <a:lstStyle/>
                    <a:p>
                      <a:pPr>
                        <a:buNone/>
                      </a:pPr>
                      <a:r>
                        <a:rPr lang="en-IN" sz="2800">
                          <a:latin typeface="Times New Roman" panose="02020603050405020304" pitchFamily="18" charset="0"/>
                          <a:cs typeface="Times New Roman" panose="02020603050405020304" pitchFamily="18" charset="0"/>
                        </a:rPr>
                        <a:t>High</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Moderate</a:t>
                      </a:r>
                    </a:p>
                  </a:txBody>
                  <a:tcPr anchor="ctr"/>
                </a:tc>
                <a:extLst>
                  <a:ext uri="{0D108BD9-81ED-4DB2-BD59-A6C34878D82A}">
                    <a16:rowId xmlns:a16="http://schemas.microsoft.com/office/drawing/2014/main" val="272215296"/>
                  </a:ext>
                </a:extLst>
              </a:tr>
            </a:tbl>
          </a:graphicData>
        </a:graphic>
      </p:graphicFrame>
    </p:spTree>
    <p:extLst>
      <p:ext uri="{BB962C8B-B14F-4D97-AF65-F5344CB8AC3E}">
        <p14:creationId xmlns:p14="http://schemas.microsoft.com/office/powerpoint/2010/main" val="173192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784</Words>
  <Application>Microsoft Office PowerPoint</Application>
  <PresentationFormat>Widescreen</PresentationFormat>
  <Paragraphs>135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Human Resource Management in Small and Medium Enterprises</vt:lpstr>
      <vt:lpstr>PowerPoint Presentation</vt:lpstr>
      <vt:lpstr>Human Resource Management in SMEs</vt:lpstr>
      <vt:lpstr>Difference in Adoption of Human Resource Management: SMEs vs Large Firms</vt:lpstr>
      <vt:lpstr>Impact of Weak Adoption of HRM in SME</vt:lpstr>
      <vt:lpstr>HRM in the Service Sector</vt:lpstr>
      <vt:lpstr> The Emergence of the Services Sector</vt:lpstr>
      <vt:lpstr>Reasons for Growth</vt:lpstr>
      <vt:lpstr>Major Service Industries</vt:lpstr>
      <vt:lpstr>Implications for Human Resource Management Function</vt:lpstr>
      <vt:lpstr>Services Sector V/s Manufacturing Sector</vt:lpstr>
      <vt:lpstr>Difference in Human Resource Management in Services and Manufacturing Sectors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Management in Small and Medium Enterprises</dc:title>
  <dc:creator>Mahesh Ganagi</dc:creator>
  <cp:lastModifiedBy>HP</cp:lastModifiedBy>
  <cp:revision>14</cp:revision>
  <dcterms:created xsi:type="dcterms:W3CDTF">2026-06-17T17:30:02Z</dcterms:created>
  <dcterms:modified xsi:type="dcterms:W3CDTF">2026-07-02T16:18:16Z</dcterms:modified>
</cp:coreProperties>
</file>