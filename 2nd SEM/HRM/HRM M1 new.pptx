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61" r:id="rId5"/>
    <p:sldId id="260" r:id="rId6"/>
    <p:sldId id="259" r:id="rId7"/>
    <p:sldId id="262" r:id="rId8"/>
    <p:sldId id="263" r:id="rId9"/>
    <p:sldId id="269" r:id="rId10"/>
    <p:sldId id="266" r:id="rId11"/>
    <p:sldId id="265" r:id="rId12"/>
    <p:sldId id="267" r:id="rId13"/>
    <p:sldId id="268" r:id="rId14"/>
    <p:sldId id="277" r:id="rId15"/>
    <p:sldId id="270" r:id="rId16"/>
    <p:sldId id="271" r:id="rId17"/>
    <p:sldId id="273" r:id="rId18"/>
    <p:sldId id="278" r:id="rId19"/>
    <p:sldId id="279" r:id="rId20"/>
    <p:sldId id="280" r:id="rId21"/>
    <p:sldId id="281" r:id="rId22"/>
    <p:sldId id="275" r:id="rId23"/>
    <p:sldId id="283" r:id="rId24"/>
    <p:sldId id="282" r:id="rId25"/>
    <p:sldId id="276" r:id="rId26"/>
    <p:sldId id="27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672"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89"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Ganagi" userId="696741978f092c3b" providerId="LiveId" clId="{DCE5B858-66CB-4909-86DC-219AB4239DB2}"/>
    <pc:docChg chg="undo custSel addSld modSld">
      <pc:chgData name="Mahesh Ganagi" userId="696741978f092c3b" providerId="LiveId" clId="{DCE5B858-66CB-4909-86DC-219AB4239DB2}" dt="2025-05-25T15:19:25.697" v="437"/>
      <pc:docMkLst>
        <pc:docMk/>
      </pc:docMkLst>
      <pc:sldChg chg="modSp new mod modAnim">
        <pc:chgData name="Mahesh Ganagi" userId="696741978f092c3b" providerId="LiveId" clId="{DCE5B858-66CB-4909-86DC-219AB4239DB2}" dt="2025-05-21T04:31:54.253" v="207"/>
        <pc:sldMkLst>
          <pc:docMk/>
          <pc:sldMk cId="3932535675" sldId="256"/>
        </pc:sldMkLst>
        <pc:spChg chg="mod">
          <ac:chgData name="Mahesh Ganagi" userId="696741978f092c3b" providerId="LiveId" clId="{DCE5B858-66CB-4909-86DC-219AB4239DB2}" dt="2025-05-21T04:01:19.703" v="76" actId="1076"/>
          <ac:spMkLst>
            <pc:docMk/>
            <pc:sldMk cId="3932535675" sldId="256"/>
            <ac:spMk id="2" creationId="{9908FAB9-D347-ADCB-2A9C-6D015E76E845}"/>
          </ac:spMkLst>
        </pc:spChg>
        <pc:spChg chg="mod">
          <ac:chgData name="Mahesh Ganagi" userId="696741978f092c3b" providerId="LiveId" clId="{DCE5B858-66CB-4909-86DC-219AB4239DB2}" dt="2025-05-21T04:01:37.183" v="81" actId="14100"/>
          <ac:spMkLst>
            <pc:docMk/>
            <pc:sldMk cId="3932535675" sldId="256"/>
            <ac:spMk id="3" creationId="{1A2F237B-6B00-1422-9DB9-6A32306967E0}"/>
          </ac:spMkLst>
        </pc:spChg>
      </pc:sldChg>
      <pc:sldChg chg="modSp new mod modAnim modNotesTx">
        <pc:chgData name="Mahesh Ganagi" userId="696741978f092c3b" providerId="LiveId" clId="{DCE5B858-66CB-4909-86DC-219AB4239DB2}" dt="2025-05-21T04:32:02.688" v="208"/>
        <pc:sldMkLst>
          <pc:docMk/>
          <pc:sldMk cId="618349714" sldId="257"/>
        </pc:sldMkLst>
        <pc:spChg chg="mod">
          <ac:chgData name="Mahesh Ganagi" userId="696741978f092c3b" providerId="LiveId" clId="{DCE5B858-66CB-4909-86DC-219AB4239DB2}" dt="2025-05-21T04:05:10.048" v="134" actId="27636"/>
          <ac:spMkLst>
            <pc:docMk/>
            <pc:sldMk cId="618349714" sldId="257"/>
            <ac:spMk id="2" creationId="{1C9DA50B-E544-F480-C8DA-FD6DD34858DF}"/>
          </ac:spMkLst>
        </pc:spChg>
        <pc:spChg chg="mod">
          <ac:chgData name="Mahesh Ganagi" userId="696741978f092c3b" providerId="LiveId" clId="{DCE5B858-66CB-4909-86DC-219AB4239DB2}" dt="2025-05-21T04:21:53.863" v="190" actId="20577"/>
          <ac:spMkLst>
            <pc:docMk/>
            <pc:sldMk cId="618349714" sldId="257"/>
            <ac:spMk id="3" creationId="{7EC790FE-2A8A-F0C0-ABEF-27BB07113EA2}"/>
          </ac:spMkLst>
        </pc:spChg>
      </pc:sldChg>
      <pc:sldChg chg="addSp delSp modSp new mod modAnim">
        <pc:chgData name="Mahesh Ganagi" userId="696741978f092c3b" providerId="LiveId" clId="{DCE5B858-66CB-4909-86DC-219AB4239DB2}" dt="2025-05-21T04:32:07.607" v="209"/>
        <pc:sldMkLst>
          <pc:docMk/>
          <pc:sldMk cId="1393756192" sldId="258"/>
        </pc:sldMkLst>
        <pc:spChg chg="mod">
          <ac:chgData name="Mahesh Ganagi" userId="696741978f092c3b" providerId="LiveId" clId="{DCE5B858-66CB-4909-86DC-219AB4239DB2}" dt="2025-05-21T04:06:18.253" v="151" actId="14100"/>
          <ac:spMkLst>
            <pc:docMk/>
            <pc:sldMk cId="1393756192" sldId="258"/>
            <ac:spMk id="3" creationId="{956C41D0-36B9-EED2-5A2C-BD4CC025C22C}"/>
          </ac:spMkLst>
        </pc:spChg>
        <pc:spChg chg="add mod">
          <ac:chgData name="Mahesh Ganagi" userId="696741978f092c3b" providerId="LiveId" clId="{DCE5B858-66CB-4909-86DC-219AB4239DB2}" dt="2025-05-21T04:06:14.229" v="150"/>
          <ac:spMkLst>
            <pc:docMk/>
            <pc:sldMk cId="1393756192" sldId="258"/>
            <ac:spMk id="4" creationId="{F99E1354-6D2B-3828-55E4-BD4AF02E9FF3}"/>
          </ac:spMkLst>
        </pc:spChg>
      </pc:sldChg>
      <pc:sldChg chg="addSp delSp modSp new mod modAnim modNotesTx">
        <pc:chgData name="Mahesh Ganagi" userId="696741978f092c3b" providerId="LiveId" clId="{DCE5B858-66CB-4909-86DC-219AB4239DB2}" dt="2025-05-21T04:32:15.123" v="211"/>
        <pc:sldMkLst>
          <pc:docMk/>
          <pc:sldMk cId="3674219813" sldId="259"/>
        </pc:sldMkLst>
        <pc:spChg chg="mod">
          <ac:chgData name="Mahesh Ganagi" userId="696741978f092c3b" providerId="LiveId" clId="{DCE5B858-66CB-4909-86DC-219AB4239DB2}" dt="2025-05-21T04:10:23.171" v="184" actId="403"/>
          <ac:spMkLst>
            <pc:docMk/>
            <pc:sldMk cId="3674219813" sldId="259"/>
            <ac:spMk id="3" creationId="{DC5DDD9C-56B3-4F80-188E-6512BFEC5887}"/>
          </ac:spMkLst>
        </pc:spChg>
        <pc:spChg chg="add mod">
          <ac:chgData name="Mahesh Ganagi" userId="696741978f092c3b" providerId="LiveId" clId="{DCE5B858-66CB-4909-86DC-219AB4239DB2}" dt="2025-05-21T04:08:48.766" v="158"/>
          <ac:spMkLst>
            <pc:docMk/>
            <pc:sldMk cId="3674219813" sldId="259"/>
            <ac:spMk id="4" creationId="{40843B9F-BB20-B381-50AE-8FBBD7209542}"/>
          </ac:spMkLst>
        </pc:spChg>
      </pc:sldChg>
      <pc:sldChg chg="addSp delSp modSp new mod modAnim">
        <pc:chgData name="Mahesh Ganagi" userId="696741978f092c3b" providerId="LiveId" clId="{DCE5B858-66CB-4909-86DC-219AB4239DB2}" dt="2025-05-21T04:32:11.258" v="210"/>
        <pc:sldMkLst>
          <pc:docMk/>
          <pc:sldMk cId="1989503707" sldId="260"/>
        </pc:sldMkLst>
        <pc:picChg chg="add mod">
          <ac:chgData name="Mahesh Ganagi" userId="696741978f092c3b" providerId="LiveId" clId="{DCE5B858-66CB-4909-86DC-219AB4239DB2}" dt="2025-05-21T04:25:40.230" v="206" actId="14100"/>
          <ac:picMkLst>
            <pc:docMk/>
            <pc:sldMk cId="1989503707" sldId="260"/>
            <ac:picMk id="5" creationId="{AAB3EA53-70BA-87B3-608D-718CC7C1891F}"/>
          </ac:picMkLst>
        </pc:picChg>
      </pc:sldChg>
      <pc:sldChg chg="addSp delSp modSp new mod modAnim">
        <pc:chgData name="Mahesh Ganagi" userId="696741978f092c3b" providerId="LiveId" clId="{DCE5B858-66CB-4909-86DC-219AB4239DB2}" dt="2025-05-25T14:44:56.065" v="395" actId="313"/>
        <pc:sldMkLst>
          <pc:docMk/>
          <pc:sldMk cId="1285985961" sldId="261"/>
        </pc:sldMkLst>
        <pc:spChg chg="del">
          <ac:chgData name="Mahesh Ganagi" userId="696741978f092c3b" providerId="LiveId" clId="{DCE5B858-66CB-4909-86DC-219AB4239DB2}" dt="2025-05-25T13:59:06.151" v="213" actId="478"/>
          <ac:spMkLst>
            <pc:docMk/>
            <pc:sldMk cId="1285985961" sldId="261"/>
            <ac:spMk id="2" creationId="{172513F6-E8EE-1FCF-691E-47035270EEDD}"/>
          </ac:spMkLst>
        </pc:spChg>
        <pc:spChg chg="mod">
          <ac:chgData name="Mahesh Ganagi" userId="696741978f092c3b" providerId="LiveId" clId="{DCE5B858-66CB-4909-86DC-219AB4239DB2}" dt="2025-05-25T14:44:56.065" v="395" actId="313"/>
          <ac:spMkLst>
            <pc:docMk/>
            <pc:sldMk cId="1285985961" sldId="261"/>
            <ac:spMk id="3" creationId="{6C9C9EFD-C2BB-0027-6A2F-0286C42E31E3}"/>
          </ac:spMkLst>
        </pc:spChg>
        <pc:spChg chg="add mod">
          <ac:chgData name="Mahesh Ganagi" userId="696741978f092c3b" providerId="LiveId" clId="{DCE5B858-66CB-4909-86DC-219AB4239DB2}" dt="2025-05-25T14:42:42.846" v="377"/>
          <ac:spMkLst>
            <pc:docMk/>
            <pc:sldMk cId="1285985961" sldId="261"/>
            <ac:spMk id="4" creationId="{4B905C75-BC7E-A49B-A9E8-8318B406916D}"/>
          </ac:spMkLst>
        </pc:spChg>
      </pc:sldChg>
      <pc:sldChg chg="addSp delSp modSp new mod modAnim">
        <pc:chgData name="Mahesh Ganagi" userId="696741978f092c3b" providerId="LiveId" clId="{DCE5B858-66CB-4909-86DC-219AB4239DB2}" dt="2025-05-25T14:45:22.670" v="396"/>
        <pc:sldMkLst>
          <pc:docMk/>
          <pc:sldMk cId="869813492" sldId="262"/>
        </pc:sldMkLst>
        <pc:spChg chg="del">
          <ac:chgData name="Mahesh Ganagi" userId="696741978f092c3b" providerId="LiveId" clId="{DCE5B858-66CB-4909-86DC-219AB4239DB2}" dt="2025-05-25T14:41:29.383" v="369" actId="478"/>
          <ac:spMkLst>
            <pc:docMk/>
            <pc:sldMk cId="869813492" sldId="262"/>
            <ac:spMk id="2" creationId="{EB49A90F-B50D-56B4-5B79-A002F8B71450}"/>
          </ac:spMkLst>
        </pc:spChg>
        <pc:spChg chg="mod">
          <ac:chgData name="Mahesh Ganagi" userId="696741978f092c3b" providerId="LiveId" clId="{DCE5B858-66CB-4909-86DC-219AB4239DB2}" dt="2025-05-25T14:44:10.426" v="393" actId="403"/>
          <ac:spMkLst>
            <pc:docMk/>
            <pc:sldMk cId="869813492" sldId="262"/>
            <ac:spMk id="3" creationId="{77F7E1C2-2B84-EBD0-B1F8-E9207DDF1741}"/>
          </ac:spMkLst>
        </pc:spChg>
        <pc:spChg chg="add mod">
          <ac:chgData name="Mahesh Ganagi" userId="696741978f092c3b" providerId="LiveId" clId="{DCE5B858-66CB-4909-86DC-219AB4239DB2}" dt="2025-05-25T14:42:24.049" v="375"/>
          <ac:spMkLst>
            <pc:docMk/>
            <pc:sldMk cId="869813492" sldId="262"/>
            <ac:spMk id="4" creationId="{49D59F1C-0F95-5456-EC25-709ADCA229A0}"/>
          </ac:spMkLst>
        </pc:spChg>
      </pc:sldChg>
      <pc:sldChg chg="addSp delSp modSp new mod">
        <pc:chgData name="Mahesh Ganagi" userId="696741978f092c3b" providerId="LiveId" clId="{DCE5B858-66CB-4909-86DC-219AB4239DB2}" dt="2025-05-25T14:48:35.234" v="420" actId="20577"/>
        <pc:sldMkLst>
          <pc:docMk/>
          <pc:sldMk cId="1011802289" sldId="263"/>
        </pc:sldMkLst>
        <pc:spChg chg="del">
          <ac:chgData name="Mahesh Ganagi" userId="696741978f092c3b" providerId="LiveId" clId="{DCE5B858-66CB-4909-86DC-219AB4239DB2}" dt="2025-05-25T14:47:24.607" v="399" actId="478"/>
          <ac:spMkLst>
            <pc:docMk/>
            <pc:sldMk cId="1011802289" sldId="263"/>
            <ac:spMk id="2" creationId="{06C2A2B2-8EF7-7CFF-E515-E10A54EFC3A1}"/>
          </ac:spMkLst>
        </pc:spChg>
        <pc:spChg chg="mod">
          <ac:chgData name="Mahesh Ganagi" userId="696741978f092c3b" providerId="LiveId" clId="{DCE5B858-66CB-4909-86DC-219AB4239DB2}" dt="2025-05-25T14:47:35.874" v="401" actId="21"/>
          <ac:spMkLst>
            <pc:docMk/>
            <pc:sldMk cId="1011802289" sldId="263"/>
            <ac:spMk id="3" creationId="{FF24AAEB-DDB0-11CB-381D-4A906CB4BF5C}"/>
          </ac:spMkLst>
        </pc:spChg>
        <pc:spChg chg="add mod">
          <ac:chgData name="Mahesh Ganagi" userId="696741978f092c3b" providerId="LiveId" clId="{DCE5B858-66CB-4909-86DC-219AB4239DB2}" dt="2025-05-25T14:48:35.234" v="420" actId="20577"/>
          <ac:spMkLst>
            <pc:docMk/>
            <pc:sldMk cId="1011802289" sldId="263"/>
            <ac:spMk id="4" creationId="{0D334063-635B-AF2F-273C-9496CBF127D0}"/>
          </ac:spMkLst>
        </pc:spChg>
      </pc:sldChg>
      <pc:sldChg chg="addSp delSp modSp new mod">
        <pc:chgData name="Mahesh Ganagi" userId="696741978f092c3b" providerId="LiveId" clId="{DCE5B858-66CB-4909-86DC-219AB4239DB2}" dt="2025-05-25T15:16:44.704" v="431" actId="20577"/>
        <pc:sldMkLst>
          <pc:docMk/>
          <pc:sldMk cId="4057970601" sldId="264"/>
        </pc:sldMkLst>
        <pc:spChg chg="del">
          <ac:chgData name="Mahesh Ganagi" userId="696741978f092c3b" providerId="LiveId" clId="{DCE5B858-66CB-4909-86DC-219AB4239DB2}" dt="2025-05-25T15:16:12.662" v="422" actId="478"/>
          <ac:spMkLst>
            <pc:docMk/>
            <pc:sldMk cId="4057970601" sldId="264"/>
            <ac:spMk id="2" creationId="{C09F9511-0D74-2F90-4988-8D5B4AD87065}"/>
          </ac:spMkLst>
        </pc:spChg>
        <pc:spChg chg="add mod">
          <ac:chgData name="Mahesh Ganagi" userId="696741978f092c3b" providerId="LiveId" clId="{DCE5B858-66CB-4909-86DC-219AB4239DB2}" dt="2025-05-25T15:16:44.704" v="431" actId="20577"/>
          <ac:spMkLst>
            <pc:docMk/>
            <pc:sldMk cId="4057970601" sldId="264"/>
            <ac:spMk id="4" creationId="{C011BEDB-5520-580B-02C5-ECCF83042087}"/>
          </ac:spMkLst>
        </pc:spChg>
      </pc:sldChg>
      <pc:sldChg chg="addSp delSp modSp new mod">
        <pc:chgData name="Mahesh Ganagi" userId="696741978f092c3b" providerId="LiveId" clId="{DCE5B858-66CB-4909-86DC-219AB4239DB2}" dt="2025-05-25T15:19:25.697" v="437"/>
        <pc:sldMkLst>
          <pc:docMk/>
          <pc:sldMk cId="4079293132" sldId="265"/>
        </pc:sldMkLst>
        <pc:spChg chg="del">
          <ac:chgData name="Mahesh Ganagi" userId="696741978f092c3b" providerId="LiveId" clId="{DCE5B858-66CB-4909-86DC-219AB4239DB2}" dt="2025-05-25T15:18:52.952" v="433" actId="478"/>
          <ac:spMkLst>
            <pc:docMk/>
            <pc:sldMk cId="4079293132" sldId="265"/>
            <ac:spMk id="2" creationId="{7AD72B0D-692F-48C9-4ED4-24521DA3EF60}"/>
          </ac:spMkLst>
        </pc:spChg>
        <pc:spChg chg="add mod">
          <ac:chgData name="Mahesh Ganagi" userId="696741978f092c3b" providerId="LiveId" clId="{DCE5B858-66CB-4909-86DC-219AB4239DB2}" dt="2025-05-25T15:19:25.697" v="437"/>
          <ac:spMkLst>
            <pc:docMk/>
            <pc:sldMk cId="4079293132" sldId="265"/>
            <ac:spMk id="4" creationId="{E9F0D05D-9EAA-4632-D01B-27538EA568C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3320D1-E03E-4E6C-9045-23F373AD4512}" type="datetimeFigureOut">
              <a:rPr lang="en-IN" smtClean="0"/>
              <a:pPr/>
              <a:t>10-05-2026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FA19EA-5064-49B1-9585-B999408E0D52}" type="slidenum">
              <a:rPr lang="en-IN" smtClean="0"/>
              <a:pPr/>
              <a:t>‹#›</a:t>
            </a:fld>
            <a:endParaRPr lang="en-IN" dirty="0"/>
          </a:p>
        </p:txBody>
      </p:sp>
    </p:spTree>
    <p:extLst>
      <p:ext uri="{BB962C8B-B14F-4D97-AF65-F5344CB8AC3E}">
        <p14:creationId xmlns:p14="http://schemas.microsoft.com/office/powerpoint/2010/main" val="2630329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 HR is not restricted to just a collection of people as such, rather it has the philosophy of treating a person in totality with all the talents and creative potential.</a:t>
            </a:r>
            <a:endParaRPr lang="en-IN" dirty="0"/>
          </a:p>
        </p:txBody>
      </p:sp>
      <p:sp>
        <p:nvSpPr>
          <p:cNvPr id="4" name="Slide Number Placeholder 3"/>
          <p:cNvSpPr>
            <a:spLocks noGrp="1"/>
          </p:cNvSpPr>
          <p:nvPr>
            <p:ph type="sldNum" sz="quarter" idx="5"/>
          </p:nvPr>
        </p:nvSpPr>
        <p:spPr/>
        <p:txBody>
          <a:bodyPr/>
          <a:lstStyle/>
          <a:p>
            <a:fld id="{61FA19EA-5064-49B1-9585-B999408E0D52}" type="slidenum">
              <a:rPr lang="en-IN" smtClean="0"/>
              <a:pPr/>
              <a:t>2</a:t>
            </a:fld>
            <a:endParaRPr lang="en-IN" dirty="0"/>
          </a:p>
        </p:txBody>
      </p:sp>
    </p:spTree>
    <p:extLst>
      <p:ext uri="{BB962C8B-B14F-4D97-AF65-F5344CB8AC3E}">
        <p14:creationId xmlns:p14="http://schemas.microsoft.com/office/powerpoint/2010/main" val="2252943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Source: </a:t>
            </a:r>
            <a:r>
              <a:rPr lang="en-US" dirty="0"/>
              <a:t>American Society for Training and Development</a:t>
            </a:r>
            <a:endParaRPr lang="en-IN" dirty="0"/>
          </a:p>
        </p:txBody>
      </p:sp>
      <p:sp>
        <p:nvSpPr>
          <p:cNvPr id="4" name="Slide Number Placeholder 3"/>
          <p:cNvSpPr>
            <a:spLocks noGrp="1"/>
          </p:cNvSpPr>
          <p:nvPr>
            <p:ph type="sldNum" sz="quarter" idx="5"/>
          </p:nvPr>
        </p:nvSpPr>
        <p:spPr/>
        <p:txBody>
          <a:bodyPr/>
          <a:lstStyle/>
          <a:p>
            <a:fld id="{61FA19EA-5064-49B1-9585-B999408E0D52}" type="slidenum">
              <a:rPr lang="en-IN" smtClean="0"/>
              <a:pPr/>
              <a:t>6</a:t>
            </a:fld>
            <a:endParaRPr lang="en-IN" dirty="0"/>
          </a:p>
        </p:txBody>
      </p:sp>
    </p:spTree>
    <p:extLst>
      <p:ext uri="{BB962C8B-B14F-4D97-AF65-F5344CB8AC3E}">
        <p14:creationId xmlns:p14="http://schemas.microsoft.com/office/powerpoint/2010/main" val="3050773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68F2C-BE24-BE73-D13B-D8505263CB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B5996B8-7075-D198-A3F3-E3DAD1BE1D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D5244CD-55D3-4055-B5FA-F72CA544E357}"/>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5" name="Footer Placeholder 4">
            <a:extLst>
              <a:ext uri="{FF2B5EF4-FFF2-40B4-BE49-F238E27FC236}">
                <a16:creationId xmlns:a16="http://schemas.microsoft.com/office/drawing/2014/main" id="{872336EE-75D4-06E7-D3B6-5CB500A4875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56B9B02-1A0D-2CC1-434C-D36CA439CC2E}"/>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1036839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FFE89-B06A-62D2-0A1E-72CADA3375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FCA46F-91D8-6700-5FC9-03D0CF8D44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2CE353-D64F-2559-84AA-19EA681D3CC3}"/>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5" name="Footer Placeholder 4">
            <a:extLst>
              <a:ext uri="{FF2B5EF4-FFF2-40B4-BE49-F238E27FC236}">
                <a16:creationId xmlns:a16="http://schemas.microsoft.com/office/drawing/2014/main" id="{B2BE0CA2-93F1-A1FE-E860-4CDB30800FD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9E307FB-B1C4-3BC6-ADCA-6A2555EFCE35}"/>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1606211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9B47-373A-41EB-3AE5-6042A68C33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68BE96-2612-0E96-367A-3F8A1C687D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22E68D-7795-7ACC-69C2-5F56B40C2479}"/>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5" name="Footer Placeholder 4">
            <a:extLst>
              <a:ext uri="{FF2B5EF4-FFF2-40B4-BE49-F238E27FC236}">
                <a16:creationId xmlns:a16="http://schemas.microsoft.com/office/drawing/2014/main" id="{A265A612-F011-52FE-9234-926046EEAAB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CF44E68-7D25-597E-E2C2-02EA6471F9B2}"/>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274471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084B1-C1E6-A826-FBD3-A2A19E0A46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8A85D3-D1F4-38FF-0DF5-58F3EA51D8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3FB887-F7B8-DD05-A99F-0B9581E5B1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4369F9E-ECAA-7DFA-494E-2DB22029C6C9}"/>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6" name="Footer Placeholder 5">
            <a:extLst>
              <a:ext uri="{FF2B5EF4-FFF2-40B4-BE49-F238E27FC236}">
                <a16:creationId xmlns:a16="http://schemas.microsoft.com/office/drawing/2014/main" id="{11F9DE93-1AA1-4881-20ED-4DEBA68254B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0F871D2-CAB7-F10F-71D2-F3EBFC4EE184}"/>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487158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8EA64-C6CA-147C-1265-003E5A566FA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C3F745-0342-B96B-D109-A655567905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EC7ED6-4CE8-4DD2-E67E-F2A78E5F2C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474800-67F5-7C0D-31E1-99523C4979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34E70D-F574-E714-FA55-409008A64D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5DC6279-B593-1693-4D33-9B3EAB271222}"/>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8" name="Footer Placeholder 7">
            <a:extLst>
              <a:ext uri="{FF2B5EF4-FFF2-40B4-BE49-F238E27FC236}">
                <a16:creationId xmlns:a16="http://schemas.microsoft.com/office/drawing/2014/main" id="{1A7872D3-C235-E5B8-36C2-FD2E1D969EE0}"/>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64268884-64D1-EB28-DC77-1D722C6B6F73}"/>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4115006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7356-889E-66E3-8E1E-B9274B2219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DC78710-2A60-CDD1-8865-19D8A65B017B}"/>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4" name="Footer Placeholder 3">
            <a:extLst>
              <a:ext uri="{FF2B5EF4-FFF2-40B4-BE49-F238E27FC236}">
                <a16:creationId xmlns:a16="http://schemas.microsoft.com/office/drawing/2014/main" id="{CA5D94A1-C120-D1D7-05CE-F6A38F07DB8D}"/>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16C487DF-03BE-3845-BAB7-59DF62CD06E5}"/>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45136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AA0893-95C9-2202-5042-871667D6B6DD}"/>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3" name="Footer Placeholder 2">
            <a:extLst>
              <a:ext uri="{FF2B5EF4-FFF2-40B4-BE49-F238E27FC236}">
                <a16:creationId xmlns:a16="http://schemas.microsoft.com/office/drawing/2014/main" id="{76ACDA15-D069-0175-5AE8-BE47CA04CB7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B9567795-FC10-675D-3417-63EF773FE44F}"/>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1376952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FF59-9081-CF04-19AD-9A45246499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F48C2D6-C629-ABA9-B94A-2A2B05EEA7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7741C0-CD91-B0FF-7912-E0E23879C4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8AC341-53CD-6C2F-E5C7-D63A3BA9EBCD}"/>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6" name="Footer Placeholder 5">
            <a:extLst>
              <a:ext uri="{FF2B5EF4-FFF2-40B4-BE49-F238E27FC236}">
                <a16:creationId xmlns:a16="http://schemas.microsoft.com/office/drawing/2014/main" id="{841D2408-4837-C869-647A-E167E607961A}"/>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E876017-E566-6904-FF4C-C3A953C4831E}"/>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2533431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D892A-323E-45EB-7595-82C2048CEA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637147F-48D3-60D0-3FBE-AE0AF49843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99EC09B-D1AA-6AEF-3EAE-35C29EE523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B6BC9-B4E5-78F5-51CD-23BAD65AA43E}"/>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6" name="Footer Placeholder 5">
            <a:extLst>
              <a:ext uri="{FF2B5EF4-FFF2-40B4-BE49-F238E27FC236}">
                <a16:creationId xmlns:a16="http://schemas.microsoft.com/office/drawing/2014/main" id="{FB6D8D3E-BA79-3523-7363-C0CB4C1D3433}"/>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6AE5614-0375-CD2F-A695-622D1A568230}"/>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2429501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7AF5-FBD4-7241-636C-08280CC67C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4F16BE-260F-1956-2B86-BA5B9C66C5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EB4C4B-CB2E-2CC4-6E6E-9F73FF574D35}"/>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5" name="Footer Placeholder 4">
            <a:extLst>
              <a:ext uri="{FF2B5EF4-FFF2-40B4-BE49-F238E27FC236}">
                <a16:creationId xmlns:a16="http://schemas.microsoft.com/office/drawing/2014/main" id="{FE478A55-AAC2-5C14-305F-0919EB5F801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4D84D26-2195-956A-0CA2-EE324427FE18}"/>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1628523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04145E-6BB1-3A24-0D5D-09A778C3F9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16FEE5-0705-EDCE-9FFA-9B693CC9A9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7CC3C2-DC2F-2F30-16DE-B625560B3057}"/>
              </a:ext>
            </a:extLst>
          </p:cNvPr>
          <p:cNvSpPr>
            <a:spLocks noGrp="1"/>
          </p:cNvSpPr>
          <p:nvPr>
            <p:ph type="dt" sz="half" idx="10"/>
          </p:nvPr>
        </p:nvSpPr>
        <p:spPr/>
        <p:txBody>
          <a:bodyPr/>
          <a:lstStyle/>
          <a:p>
            <a:fld id="{4643AA30-5B7B-4754-BFBE-78253551550A}" type="datetimeFigureOut">
              <a:rPr lang="en-IN" smtClean="0"/>
              <a:pPr/>
              <a:t>10-05-2026</a:t>
            </a:fld>
            <a:endParaRPr lang="en-IN" dirty="0"/>
          </a:p>
        </p:txBody>
      </p:sp>
      <p:sp>
        <p:nvSpPr>
          <p:cNvPr id="5" name="Footer Placeholder 4">
            <a:extLst>
              <a:ext uri="{FF2B5EF4-FFF2-40B4-BE49-F238E27FC236}">
                <a16:creationId xmlns:a16="http://schemas.microsoft.com/office/drawing/2014/main" id="{A6D6DC2F-F708-8F68-076A-7C9785B63B7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FC43027-9CFD-DFAD-EAB3-69A8EDAB62DA}"/>
              </a:ext>
            </a:extLst>
          </p:cNvPr>
          <p:cNvSpPr>
            <a:spLocks noGrp="1"/>
          </p:cNvSpPr>
          <p:nvPr>
            <p:ph type="sldNum" sz="quarter" idx="12"/>
          </p:nvPr>
        </p:nvSpPr>
        <p:spPr/>
        <p:txBody>
          <a:body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4217799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B7402F-9197-6B1B-5A9A-82FB87AD8B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7E0621-0C38-19BC-BE3F-C152939E61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8C0313-31A1-725B-E797-137DE9FE2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43AA30-5B7B-4754-BFBE-78253551550A}" type="datetimeFigureOut">
              <a:rPr lang="en-IN" smtClean="0"/>
              <a:pPr/>
              <a:t>10-05-2026</a:t>
            </a:fld>
            <a:endParaRPr lang="en-IN" dirty="0"/>
          </a:p>
        </p:txBody>
      </p:sp>
      <p:sp>
        <p:nvSpPr>
          <p:cNvPr id="5" name="Footer Placeholder 4">
            <a:extLst>
              <a:ext uri="{FF2B5EF4-FFF2-40B4-BE49-F238E27FC236}">
                <a16:creationId xmlns:a16="http://schemas.microsoft.com/office/drawing/2014/main" id="{DD895F5E-468A-8191-C4B9-C3E18FB840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AB1D92C4-63A2-0FA1-809B-B91A4CC8CC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FE5DB7-D5A3-43B2-9E65-B7B9E1D064E5}" type="slidenum">
              <a:rPr lang="en-IN" smtClean="0"/>
              <a:pPr/>
              <a:t>‹#›</a:t>
            </a:fld>
            <a:endParaRPr lang="en-IN" dirty="0"/>
          </a:p>
        </p:txBody>
      </p:sp>
    </p:spTree>
    <p:extLst>
      <p:ext uri="{BB962C8B-B14F-4D97-AF65-F5344CB8AC3E}">
        <p14:creationId xmlns:p14="http://schemas.microsoft.com/office/powerpoint/2010/main" val="3925074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8FAB9-D347-ADCB-2A9C-6D015E76E845}"/>
              </a:ext>
            </a:extLst>
          </p:cNvPr>
          <p:cNvSpPr>
            <a:spLocks noGrp="1"/>
          </p:cNvSpPr>
          <p:nvPr>
            <p:ph type="title"/>
          </p:nvPr>
        </p:nvSpPr>
        <p:spPr>
          <a:xfrm>
            <a:off x="142240" y="0"/>
            <a:ext cx="11907520" cy="1057275"/>
          </a:xfrm>
        </p:spPr>
        <p:txBody>
          <a:bodyPr>
            <a:normAutofit/>
          </a:bodyPr>
          <a:lstStyle/>
          <a:p>
            <a:pPr algn="ctr"/>
            <a:r>
              <a:rPr lang="en-IN" sz="6600" b="1" dirty="0">
                <a:solidFill>
                  <a:srgbClr val="C00000"/>
                </a:solidFill>
                <a:latin typeface="Times New Roman" panose="02020603050405020304" pitchFamily="18" charset="0"/>
                <a:cs typeface="Times New Roman" panose="02020603050405020304" pitchFamily="18" charset="0"/>
              </a:rPr>
              <a:t>Human Resource Management</a:t>
            </a:r>
          </a:p>
        </p:txBody>
      </p:sp>
      <p:sp>
        <p:nvSpPr>
          <p:cNvPr id="3" name="Content Placeholder 2">
            <a:extLst>
              <a:ext uri="{FF2B5EF4-FFF2-40B4-BE49-F238E27FC236}">
                <a16:creationId xmlns:a16="http://schemas.microsoft.com/office/drawing/2014/main" id="{1A2F237B-6B00-1422-9DB9-6A32306967E0}"/>
              </a:ext>
            </a:extLst>
          </p:cNvPr>
          <p:cNvSpPr>
            <a:spLocks noGrp="1"/>
          </p:cNvSpPr>
          <p:nvPr>
            <p:ph idx="1"/>
          </p:nvPr>
        </p:nvSpPr>
        <p:spPr>
          <a:xfrm>
            <a:off x="142240" y="1198880"/>
            <a:ext cx="11907520" cy="5517515"/>
          </a:xfrm>
        </p:spPr>
        <p:txBody>
          <a:bodyPr>
            <a:noAutofit/>
          </a:bodyPr>
          <a:lstStyle/>
          <a:p>
            <a:pPr algn="just">
              <a:lnSpc>
                <a:spcPct val="100000"/>
              </a:lnSpc>
            </a:pPr>
            <a:r>
              <a:rPr lang="en-US" sz="3400" dirty="0">
                <a:latin typeface="Times New Roman" panose="02020603050405020304" pitchFamily="18" charset="0"/>
                <a:cs typeface="Times New Roman" panose="02020603050405020304" pitchFamily="18" charset="0"/>
              </a:rPr>
              <a:t>Human resource management (HRM) is the process of employing people, training them, compensating them, developing policies relating to them, and developing strategies to retain them.</a:t>
            </a:r>
          </a:p>
          <a:p>
            <a:pPr algn="just">
              <a:lnSpc>
                <a:spcPct val="100000"/>
              </a:lnSpc>
            </a:pPr>
            <a:r>
              <a:rPr lang="en-US" sz="3400" dirty="0">
                <a:latin typeface="Times New Roman" panose="02020603050405020304" pitchFamily="18" charset="0"/>
                <a:cs typeface="Times New Roman" panose="02020603050405020304" pitchFamily="18" charset="0"/>
              </a:rPr>
              <a:t>People with relevant skills and values are generally called as Human Resources.</a:t>
            </a:r>
          </a:p>
          <a:p>
            <a:pPr algn="just">
              <a:lnSpc>
                <a:spcPct val="100000"/>
              </a:lnSpc>
            </a:pPr>
            <a:r>
              <a:rPr lang="en-US" sz="3400" dirty="0">
                <a:latin typeface="Times New Roman" panose="02020603050405020304" pitchFamily="18" charset="0"/>
                <a:cs typeface="Times New Roman" panose="02020603050405020304" pitchFamily="18" charset="0"/>
              </a:rPr>
              <a:t>Many changes over the last twenty years.</a:t>
            </a:r>
          </a:p>
          <a:p>
            <a:pPr algn="just">
              <a:lnSpc>
                <a:spcPct val="100000"/>
              </a:lnSpc>
            </a:pPr>
            <a:r>
              <a:rPr lang="en-US" sz="3400" dirty="0">
                <a:latin typeface="Times New Roman" panose="02020603050405020304" pitchFamily="18" charset="0"/>
                <a:cs typeface="Times New Roman" panose="02020603050405020304" pitchFamily="18" charset="0"/>
              </a:rPr>
              <a:t>HRM) is concerned with the “people” dimension in organizations.</a:t>
            </a:r>
          </a:p>
          <a:p>
            <a:pPr algn="just">
              <a:lnSpc>
                <a:spcPct val="100000"/>
              </a:lnSpc>
            </a:pPr>
            <a:r>
              <a:rPr lang="en-US" sz="3400" dirty="0">
                <a:latin typeface="Times New Roman" panose="02020603050405020304" pitchFamily="18" charset="0"/>
                <a:cs typeface="Times New Roman" panose="02020603050405020304" pitchFamily="18" charset="0"/>
              </a:rPr>
              <a:t>The goal of HRM is to maximize employees’ contributions in order to achieve optimal productivity and effectiveness</a:t>
            </a:r>
          </a:p>
          <a:p>
            <a:pPr algn="just">
              <a:lnSpc>
                <a:spcPct val="100000"/>
              </a:lnSpc>
            </a:pPr>
            <a:endParaRPr lang="en-IN"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253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A50B-E544-F480-C8DA-FD6DD34858DF}"/>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Definition</a:t>
            </a:r>
            <a:endParaRPr lang="en-IN" sz="66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C790FE-2A8A-F0C0-ABEF-27BB07113EA2}"/>
              </a:ext>
            </a:extLst>
          </p:cNvPr>
          <p:cNvSpPr>
            <a:spLocks noGrp="1"/>
          </p:cNvSpPr>
          <p:nvPr>
            <p:ph idx="1"/>
          </p:nvPr>
        </p:nvSpPr>
        <p:spPr>
          <a:xfrm>
            <a:off x="142240" y="1158874"/>
            <a:ext cx="11907520" cy="5495927"/>
          </a:xfrm>
        </p:spPr>
        <p:txBody>
          <a:bodyPr>
            <a:noAutofit/>
          </a:bodyPr>
          <a:lstStyle/>
          <a:p>
            <a:pPr marL="0" indent="0" algn="just">
              <a:lnSpc>
                <a:spcPct val="100000"/>
              </a:lnSpc>
              <a:buNone/>
            </a:pPr>
            <a:r>
              <a:rPr lang="en-US" sz="3200" b="1" dirty="0">
                <a:latin typeface="Times New Roman" panose="02020603050405020304" pitchFamily="18" charset="0"/>
                <a:cs typeface="Times New Roman" panose="02020603050405020304" pitchFamily="18" charset="0"/>
              </a:rPr>
              <a:t>Leon C. Megginson </a:t>
            </a:r>
            <a:r>
              <a:rPr lang="en-US" sz="3200" dirty="0">
                <a:latin typeface="Times New Roman" panose="02020603050405020304" pitchFamily="18" charset="0"/>
                <a:cs typeface="Times New Roman" panose="02020603050405020304" pitchFamily="18" charset="0"/>
              </a:rPr>
              <a:t>explained the term human resources as “the total knowledge, skills, creative abilities, talents and aptitudes of an organization's workforce, as well as the value, attitudes and beliefs of the individuals involved.</a:t>
            </a:r>
          </a:p>
          <a:p>
            <a:pPr marL="0" indent="0" algn="just">
              <a:lnSpc>
                <a:spcPct val="100000"/>
              </a:lnSpc>
              <a:buNone/>
            </a:pPr>
            <a:endParaRPr lang="en-US" sz="3200" dirty="0">
              <a:latin typeface="Times New Roman" panose="02020603050405020304" pitchFamily="18" charset="0"/>
              <a:cs typeface="Times New Roman" panose="02020603050405020304" pitchFamily="18" charset="0"/>
            </a:endParaRPr>
          </a:p>
          <a:p>
            <a:pPr marL="0" indent="0" algn="just">
              <a:lnSpc>
                <a:spcPct val="100000"/>
              </a:lnSpc>
              <a:buNone/>
            </a:pPr>
            <a:r>
              <a:rPr lang="en-US" sz="3200" b="1" dirty="0">
                <a:latin typeface="Times New Roman" panose="02020603050405020304" pitchFamily="18" charset="0"/>
                <a:cs typeface="Times New Roman" panose="02020603050405020304" pitchFamily="18" charset="0"/>
              </a:rPr>
              <a:t>Edwin Flippo </a:t>
            </a:r>
            <a:r>
              <a:rPr lang="en-US" sz="3200" dirty="0">
                <a:latin typeface="Times New Roman" panose="02020603050405020304" pitchFamily="18" charset="0"/>
                <a:cs typeface="Times New Roman" panose="02020603050405020304" pitchFamily="18" charset="0"/>
              </a:rPr>
              <a:t>as “planning, organizing, directing, controlling of procurement, development, compensation, integration, maintenance and separation of human resources to the end that individual, organizational and social objectives are achieved.”</a:t>
            </a:r>
          </a:p>
          <a:p>
            <a:pPr marL="0" indent="0" algn="just">
              <a:lnSpc>
                <a:spcPct val="100000"/>
              </a:lnSpc>
              <a:buNone/>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834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6C41D0-36B9-EED2-5A2C-BD4CC025C22C}"/>
              </a:ext>
            </a:extLst>
          </p:cNvPr>
          <p:cNvSpPr>
            <a:spLocks noGrp="1"/>
          </p:cNvSpPr>
          <p:nvPr>
            <p:ph idx="1"/>
          </p:nvPr>
        </p:nvSpPr>
        <p:spPr>
          <a:xfrm>
            <a:off x="152400" y="1412240"/>
            <a:ext cx="11877040" cy="5303519"/>
          </a:xfrm>
        </p:spPr>
        <p:txBody>
          <a:bodyPr>
            <a:normAutofit/>
          </a:bodyPr>
          <a:lstStyle/>
          <a:p>
            <a:pPr marL="0" indent="0" algn="just">
              <a:lnSpc>
                <a:spcPct val="100000"/>
              </a:lnSpc>
              <a:buNone/>
            </a:pPr>
            <a:r>
              <a:rPr lang="en-US" sz="3600" b="1" dirty="0">
                <a:latin typeface="Times New Roman" panose="02020603050405020304" pitchFamily="18" charset="0"/>
                <a:cs typeface="Times New Roman" panose="02020603050405020304" pitchFamily="18" charset="0"/>
              </a:rPr>
              <a:t>The National Institute of Personnel Management (NIPM) of India </a:t>
            </a:r>
            <a:r>
              <a:rPr lang="en-US" sz="3600" dirty="0">
                <a:latin typeface="Times New Roman" panose="02020603050405020304" pitchFamily="18" charset="0"/>
                <a:cs typeface="Times New Roman" panose="02020603050405020304" pitchFamily="18" charset="0"/>
              </a:rPr>
              <a:t>has defined human resource as “that part of management which is concerned with people at work and with their relationship within an enterprise. Its aim is to bring together and develop into an effective organization of the men and women who make up an enterprise and having regard for the well-being of the individuals and of working groups, to enable them to make their best contribution to organizational success.” </a:t>
            </a:r>
          </a:p>
          <a:p>
            <a:pPr marL="0" indent="0" algn="just">
              <a:lnSpc>
                <a:spcPct val="100000"/>
              </a:lnSpc>
              <a:buNone/>
            </a:pPr>
            <a:endParaRPr lang="en-IN" sz="3600" dirty="0"/>
          </a:p>
        </p:txBody>
      </p:sp>
      <p:sp>
        <p:nvSpPr>
          <p:cNvPr id="4" name="Title 1">
            <a:extLst>
              <a:ext uri="{FF2B5EF4-FFF2-40B4-BE49-F238E27FC236}">
                <a16:creationId xmlns:a16="http://schemas.microsoft.com/office/drawing/2014/main" id="{F99E1354-6D2B-3828-55E4-BD4AF02E9FF3}"/>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Definition</a:t>
            </a:r>
            <a:endParaRPr lang="en-IN" sz="66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3756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9C9EFD-C2BB-0027-6A2F-0286C42E31E3}"/>
              </a:ext>
            </a:extLst>
          </p:cNvPr>
          <p:cNvSpPr>
            <a:spLocks noGrp="1"/>
          </p:cNvSpPr>
          <p:nvPr>
            <p:ph idx="1"/>
          </p:nvPr>
        </p:nvSpPr>
        <p:spPr>
          <a:xfrm>
            <a:off x="121920" y="1280160"/>
            <a:ext cx="11927840" cy="5384799"/>
          </a:xfrm>
        </p:spPr>
        <p:txBody>
          <a:bodyPr>
            <a:normAutofit/>
          </a:bodyPr>
          <a:lstStyle/>
          <a:p>
            <a:r>
              <a:rPr lang="en-US" sz="4400" dirty="0">
                <a:latin typeface="Times New Roman" panose="02020603050405020304" pitchFamily="18" charset="0"/>
                <a:cs typeface="Times New Roman" panose="02020603050405020304" pitchFamily="18" charset="0"/>
              </a:rPr>
              <a:t>Universal Force </a:t>
            </a:r>
          </a:p>
          <a:p>
            <a:r>
              <a:rPr lang="en-US" sz="4400" dirty="0">
                <a:latin typeface="Times New Roman" panose="02020603050405020304" pitchFamily="18" charset="0"/>
                <a:cs typeface="Times New Roman" panose="02020603050405020304" pitchFamily="18" charset="0"/>
              </a:rPr>
              <a:t>Action Oriented </a:t>
            </a:r>
          </a:p>
          <a:p>
            <a:r>
              <a:rPr lang="en-US" sz="4400" dirty="0">
                <a:latin typeface="Times New Roman" panose="02020603050405020304" pitchFamily="18" charset="0"/>
                <a:cs typeface="Times New Roman" panose="02020603050405020304" pitchFamily="18" charset="0"/>
              </a:rPr>
              <a:t>Individual Oriented</a:t>
            </a:r>
          </a:p>
          <a:p>
            <a:r>
              <a:rPr lang="en-US" sz="4400" dirty="0">
                <a:latin typeface="Times New Roman" panose="02020603050405020304" pitchFamily="18" charset="0"/>
                <a:cs typeface="Times New Roman" panose="02020603050405020304" pitchFamily="18" charset="0"/>
              </a:rPr>
              <a:t>People Oriented </a:t>
            </a:r>
          </a:p>
          <a:p>
            <a:r>
              <a:rPr lang="en-US" sz="4400" dirty="0">
                <a:latin typeface="Times New Roman" panose="02020603050405020304" pitchFamily="18" charset="0"/>
                <a:cs typeface="Times New Roman" panose="02020603050405020304" pitchFamily="18" charset="0"/>
              </a:rPr>
              <a:t>Future Oriented </a:t>
            </a:r>
          </a:p>
          <a:p>
            <a:r>
              <a:rPr lang="en-US" sz="4400" dirty="0">
                <a:latin typeface="Times New Roman" panose="02020603050405020304" pitchFamily="18" charset="0"/>
                <a:cs typeface="Times New Roman" panose="02020603050405020304" pitchFamily="18" charset="0"/>
              </a:rPr>
              <a:t>Development Oriented </a:t>
            </a:r>
          </a:p>
          <a:p>
            <a:r>
              <a:rPr lang="en-US" sz="4400" dirty="0">
                <a:latin typeface="Times New Roman" panose="02020603050405020304" pitchFamily="18" charset="0"/>
                <a:cs typeface="Times New Roman" panose="02020603050405020304" pitchFamily="18" charset="0"/>
              </a:rPr>
              <a:t>Integration Mechanism </a:t>
            </a:r>
            <a:endParaRPr lang="en-IN" sz="44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B905C75-BC7E-A49B-A9E8-8318B406916D}"/>
              </a:ext>
            </a:extLst>
          </p:cNvPr>
          <p:cNvSpPr>
            <a:spLocks noGrp="1"/>
          </p:cNvSpPr>
          <p:nvPr>
            <p:ph type="title"/>
          </p:nvPr>
        </p:nvSpPr>
        <p:spPr>
          <a:xfrm>
            <a:off x="0" y="1"/>
            <a:ext cx="1204976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Nature of HRM</a:t>
            </a:r>
            <a:endParaRPr lang="en-IN" sz="66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98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B3EA53-70BA-87B3-608D-718CC7C1891F}"/>
              </a:ext>
            </a:extLst>
          </p:cNvPr>
          <p:cNvPicPr>
            <a:picLocks noChangeAspect="1"/>
          </p:cNvPicPr>
          <p:nvPr/>
        </p:nvPicPr>
        <p:blipFill>
          <a:blip r:embed="rId2" cstate="print"/>
          <a:stretch>
            <a:fillRect/>
          </a:stretch>
        </p:blipFill>
        <p:spPr>
          <a:xfrm>
            <a:off x="91440" y="81280"/>
            <a:ext cx="11998960" cy="6583680"/>
          </a:xfrm>
          <a:prstGeom prst="rect">
            <a:avLst/>
          </a:prstGeom>
        </p:spPr>
      </p:pic>
    </p:spTree>
    <p:extLst>
      <p:ext uri="{BB962C8B-B14F-4D97-AF65-F5344CB8AC3E}">
        <p14:creationId xmlns:p14="http://schemas.microsoft.com/office/powerpoint/2010/main" val="198950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5DDD9C-56B3-4F80-188E-6512BFEC5887}"/>
              </a:ext>
            </a:extLst>
          </p:cNvPr>
          <p:cNvSpPr>
            <a:spLocks noGrp="1"/>
          </p:cNvSpPr>
          <p:nvPr>
            <p:ph idx="1"/>
          </p:nvPr>
        </p:nvSpPr>
        <p:spPr>
          <a:xfrm>
            <a:off x="142240" y="1209040"/>
            <a:ext cx="11907520" cy="5527039"/>
          </a:xfrm>
        </p:spPr>
        <p:txBody>
          <a:bodyPr>
            <a:normAutofit/>
          </a:bodyPr>
          <a:lstStyle/>
          <a:p>
            <a:r>
              <a:rPr lang="en-IN" sz="4800" dirty="0">
                <a:latin typeface="Times New Roman" panose="02020603050405020304" pitchFamily="18" charset="0"/>
                <a:cs typeface="Times New Roman" panose="02020603050405020304" pitchFamily="18" charset="0"/>
              </a:rPr>
              <a:t>Manpower Planning</a:t>
            </a:r>
          </a:p>
          <a:p>
            <a:r>
              <a:rPr lang="en-IN" sz="4800" dirty="0">
                <a:latin typeface="Times New Roman" panose="02020603050405020304" pitchFamily="18" charset="0"/>
                <a:cs typeface="Times New Roman" panose="02020603050405020304" pitchFamily="18" charset="0"/>
              </a:rPr>
              <a:t>Employee Hiring </a:t>
            </a:r>
          </a:p>
          <a:p>
            <a:r>
              <a:rPr lang="en-IN" sz="4800" dirty="0">
                <a:latin typeface="Times New Roman" panose="02020603050405020304" pitchFamily="18" charset="0"/>
                <a:cs typeface="Times New Roman" panose="02020603050405020304" pitchFamily="18" charset="0"/>
              </a:rPr>
              <a:t>Employee Rewards </a:t>
            </a:r>
          </a:p>
          <a:p>
            <a:r>
              <a:rPr lang="en-IN" sz="4800" dirty="0">
                <a:latin typeface="Times New Roman" panose="02020603050405020304" pitchFamily="18" charset="0"/>
                <a:cs typeface="Times New Roman" panose="02020603050405020304" pitchFamily="18" charset="0"/>
              </a:rPr>
              <a:t>Employee Development </a:t>
            </a:r>
          </a:p>
          <a:p>
            <a:r>
              <a:rPr lang="en-IN" sz="4800" dirty="0">
                <a:latin typeface="Times New Roman" panose="02020603050405020304" pitchFamily="18" charset="0"/>
                <a:cs typeface="Times New Roman" panose="02020603050405020304" pitchFamily="18" charset="0"/>
              </a:rPr>
              <a:t>Performance Management </a:t>
            </a:r>
          </a:p>
          <a:p>
            <a:r>
              <a:rPr lang="en-IN" sz="4800" dirty="0">
                <a:latin typeface="Times New Roman" panose="02020603050405020304" pitchFamily="18" charset="0"/>
                <a:cs typeface="Times New Roman" panose="02020603050405020304" pitchFamily="18" charset="0"/>
              </a:rPr>
              <a:t>Industrial Relations</a:t>
            </a:r>
          </a:p>
          <a:p>
            <a:endParaRPr lang="en-IN" sz="48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0843B9F-BB20-B381-50AE-8FBBD7209542}"/>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Scope of HRM</a:t>
            </a:r>
            <a:endParaRPr lang="en-IN" sz="66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421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F7E1C2-2B84-EBD0-B1F8-E9207DDF1741}"/>
              </a:ext>
            </a:extLst>
          </p:cNvPr>
          <p:cNvSpPr>
            <a:spLocks noGrp="1"/>
          </p:cNvSpPr>
          <p:nvPr>
            <p:ph idx="1"/>
          </p:nvPr>
        </p:nvSpPr>
        <p:spPr>
          <a:xfrm>
            <a:off x="142240" y="1381760"/>
            <a:ext cx="11907520" cy="5323839"/>
          </a:xfrm>
        </p:spPr>
        <p:txBody>
          <a:bodyPr>
            <a:normAutofit/>
          </a:bodyPr>
          <a:lstStyle/>
          <a:p>
            <a:r>
              <a:rPr lang="en-IN" sz="4800" dirty="0">
                <a:latin typeface="Times New Roman" panose="02020603050405020304" pitchFamily="18" charset="0"/>
                <a:cs typeface="Times New Roman" panose="02020603050405020304" pitchFamily="18" charset="0"/>
              </a:rPr>
              <a:t>Social Significance</a:t>
            </a:r>
          </a:p>
          <a:p>
            <a:r>
              <a:rPr lang="en-IN" sz="4800" dirty="0">
                <a:latin typeface="Times New Roman" panose="02020603050405020304" pitchFamily="18" charset="0"/>
                <a:cs typeface="Times New Roman" panose="02020603050405020304" pitchFamily="18" charset="0"/>
              </a:rPr>
              <a:t>Professional Significance</a:t>
            </a:r>
          </a:p>
          <a:p>
            <a:r>
              <a:rPr lang="en-IN" sz="4800" dirty="0">
                <a:latin typeface="Times New Roman" panose="02020603050405020304" pitchFamily="18" charset="0"/>
                <a:cs typeface="Times New Roman" panose="02020603050405020304" pitchFamily="18" charset="0"/>
              </a:rPr>
              <a:t>Organisational Significance</a:t>
            </a:r>
          </a:p>
        </p:txBody>
      </p:sp>
      <p:sp>
        <p:nvSpPr>
          <p:cNvPr id="4" name="Title 1">
            <a:extLst>
              <a:ext uri="{FF2B5EF4-FFF2-40B4-BE49-F238E27FC236}">
                <a16:creationId xmlns:a16="http://schemas.microsoft.com/office/drawing/2014/main" id="{49D59F1C-0F95-5456-EC25-709ADCA229A0}"/>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Importance of HRM</a:t>
            </a:r>
          </a:p>
        </p:txBody>
      </p:sp>
    </p:spTree>
    <p:extLst>
      <p:ext uri="{BB962C8B-B14F-4D97-AF65-F5344CB8AC3E}">
        <p14:creationId xmlns:p14="http://schemas.microsoft.com/office/powerpoint/2010/main" val="869813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24AAEB-DDB0-11CB-381D-4A906CB4BF5C}"/>
              </a:ext>
            </a:extLst>
          </p:cNvPr>
          <p:cNvSpPr>
            <a:spLocks noGrp="1"/>
          </p:cNvSpPr>
          <p:nvPr>
            <p:ph idx="1"/>
          </p:nvPr>
        </p:nvSpPr>
        <p:spPr>
          <a:xfrm>
            <a:off x="582706" y="985519"/>
            <a:ext cx="10515600" cy="5482515"/>
          </a:xfrm>
        </p:spPr>
        <p:txBody>
          <a:bodyPr>
            <a:normAutofit/>
          </a:bodyPr>
          <a:lstStyle/>
          <a:p>
            <a:pPr algn="just">
              <a:buNone/>
            </a:pPr>
            <a:r>
              <a:rPr lang="en-US" dirty="0">
                <a:latin typeface="Times New Roman" pitchFamily="18" charset="0"/>
                <a:cs typeface="Times New Roman" pitchFamily="18" charset="0"/>
              </a:rPr>
              <a:t>The concept of HRM has developed through a  number of stages. They are as follows : </a:t>
            </a:r>
          </a:p>
          <a:p>
            <a:pPr marL="514350" indent="-514350" algn="just">
              <a:buFont typeface="+mj-lt"/>
              <a:buAutoNum type="arabicPeriod"/>
            </a:pPr>
            <a:r>
              <a:rPr lang="en-US" dirty="0">
                <a:solidFill>
                  <a:srgbClr val="FF0000"/>
                </a:solidFill>
                <a:latin typeface="Times New Roman" pitchFamily="18" charset="0"/>
                <a:cs typeface="Times New Roman" pitchFamily="18" charset="0"/>
              </a:rPr>
              <a:t>Industrial revolution (late </a:t>
            </a:r>
            <a:r>
              <a:rPr lang="en-US" dirty="0">
                <a:solidFill>
                  <a:srgbClr val="FF0000"/>
                </a:solidFill>
              </a:rPr>
              <a:t>18th to early 19th century)</a:t>
            </a:r>
          </a:p>
          <a:p>
            <a:pPr>
              <a:buFont typeface="Wingdings" panose="05000000000000000000" pitchFamily="2" charset="2"/>
              <a:buChar char="v"/>
            </a:pPr>
            <a:r>
              <a:rPr lang="en-US" dirty="0"/>
              <a:t>Workers moved from farms to factories.</a:t>
            </a:r>
          </a:p>
          <a:p>
            <a:pPr>
              <a:buFont typeface="Wingdings" panose="05000000000000000000" pitchFamily="2" charset="2"/>
              <a:buChar char="v"/>
            </a:pPr>
            <a:r>
              <a:rPr lang="en-US" dirty="0"/>
              <a:t>Workers were treated like machines.</a:t>
            </a:r>
          </a:p>
          <a:p>
            <a:pPr>
              <a:buFont typeface="Wingdings" panose="05000000000000000000" pitchFamily="2" charset="2"/>
              <a:buChar char="v"/>
            </a:pPr>
            <a:r>
              <a:rPr lang="en-US" dirty="0"/>
              <a:t>Management focused mainly on productivity, not employee welfare.</a:t>
            </a:r>
          </a:p>
          <a:p>
            <a:pPr marL="0" indent="0">
              <a:buNone/>
            </a:pPr>
            <a:endParaRPr lang="en-US" dirty="0">
              <a:latin typeface="Times New Roman" pitchFamily="18" charset="0"/>
              <a:cs typeface="Times New Roman" pitchFamily="18" charset="0"/>
            </a:endParaRPr>
          </a:p>
          <a:p>
            <a:pPr marL="0" indent="0" algn="just">
              <a:buNone/>
            </a:pPr>
            <a:r>
              <a:rPr lang="en-US" dirty="0">
                <a:solidFill>
                  <a:srgbClr val="FF0000"/>
                </a:solidFill>
                <a:latin typeface="Times New Roman" pitchFamily="18" charset="0"/>
                <a:cs typeface="Times New Roman" pitchFamily="18" charset="0"/>
              </a:rPr>
              <a:t>2. Scientific management (</a:t>
            </a:r>
            <a:r>
              <a:rPr lang="en-US" dirty="0">
                <a:solidFill>
                  <a:srgbClr val="FF0000"/>
                </a:solidFill>
              </a:rPr>
              <a:t>early 20th century)</a:t>
            </a:r>
            <a:endParaRPr lang="en-US" dirty="0">
              <a:solidFill>
                <a:srgbClr val="FF0000"/>
              </a:solidFill>
              <a:latin typeface="Times New Roman" pitchFamily="18" charset="0"/>
              <a:cs typeface="Times New Roman" pitchFamily="18" charset="0"/>
            </a:endParaRPr>
          </a:p>
          <a:p>
            <a:pPr algn="just">
              <a:buFont typeface="Wingdings" panose="05000000000000000000" pitchFamily="2" charset="2"/>
              <a:buChar char="v"/>
            </a:pPr>
            <a:r>
              <a:rPr lang="en-US" dirty="0"/>
              <a:t>Focused on improving efficiency through scientific methods</a:t>
            </a:r>
          </a:p>
          <a:p>
            <a:pPr algn="just">
              <a:buFont typeface="Wingdings" panose="05000000000000000000" pitchFamily="2" charset="2"/>
              <a:buChar char="v"/>
            </a:pPr>
            <a:r>
              <a:rPr lang="en-US" dirty="0"/>
              <a:t>Workers followed fixed methods to increase productivity.</a:t>
            </a:r>
          </a:p>
          <a:p>
            <a:pPr algn="just">
              <a:buFont typeface="Wingdings" panose="05000000000000000000" pitchFamily="2" charset="2"/>
              <a:buChar char="v"/>
            </a:pPr>
            <a:r>
              <a:rPr lang="en-US" dirty="0"/>
              <a:t>Workers were trained to follow precise instructions</a:t>
            </a:r>
            <a:endParaRPr lang="en-US" dirty="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0D334063-635B-AF2F-273C-9496CBF127D0}"/>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Evolution Of HRM</a:t>
            </a:r>
          </a:p>
        </p:txBody>
      </p:sp>
    </p:spTree>
    <p:extLst>
      <p:ext uri="{BB962C8B-B14F-4D97-AF65-F5344CB8AC3E}">
        <p14:creationId xmlns:p14="http://schemas.microsoft.com/office/powerpoint/2010/main" val="10118022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5118" y="645459"/>
            <a:ext cx="11026588" cy="6124754"/>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3. Trade unionism </a:t>
            </a:r>
          </a:p>
          <a:p>
            <a:pPr marL="457200" indent="-457200" algn="just">
              <a:buFont typeface="Wingdings" panose="05000000000000000000" pitchFamily="2" charset="2"/>
              <a:buChar char="v"/>
            </a:pPr>
            <a:r>
              <a:rPr lang="en-US" sz="2800" dirty="0"/>
              <a:t>Workers formed unions to protect their rights.</a:t>
            </a:r>
            <a:endParaRPr lang="en-US" sz="2800" dirty="0">
              <a:latin typeface="Times New Roman" pitchFamily="18" charset="0"/>
              <a:cs typeface="Times New Roman" pitchFamily="18" charset="0"/>
            </a:endParaRPr>
          </a:p>
          <a:p>
            <a:pPr marL="457200" indent="-457200" algn="just">
              <a:buFont typeface="Wingdings" panose="05000000000000000000" pitchFamily="2" charset="2"/>
              <a:buChar char="v"/>
            </a:pPr>
            <a:r>
              <a:rPr lang="en-US" sz="2800" dirty="0"/>
              <a:t>Focus on fair wages, better working conditions, and job security.</a:t>
            </a:r>
          </a:p>
          <a:p>
            <a:pPr marL="457200" indent="-457200" algn="just">
              <a:buFont typeface="Wingdings" panose="05000000000000000000" pitchFamily="2" charset="2"/>
              <a:buChar char="v"/>
            </a:pPr>
            <a:r>
              <a:rPr lang="en-US" sz="2800" dirty="0"/>
              <a:t>Collective bargaining became important.</a:t>
            </a:r>
          </a:p>
          <a:p>
            <a:pPr marL="457200" indent="-457200" algn="just">
              <a:buFont typeface="Wingdings" panose="05000000000000000000" pitchFamily="2" charset="2"/>
              <a:buChar char="v"/>
            </a:pPr>
            <a:endParaRPr lang="en-US" sz="2800" dirty="0">
              <a:latin typeface="Times New Roman" pitchFamily="18" charset="0"/>
              <a:cs typeface="Times New Roman" pitchFamily="18" charset="0"/>
            </a:endParaRPr>
          </a:p>
          <a:p>
            <a:pPr algn="just"/>
            <a:r>
              <a:rPr lang="en-US" sz="2800" dirty="0">
                <a:solidFill>
                  <a:srgbClr val="FF0000"/>
                </a:solidFill>
                <a:latin typeface="Times New Roman" pitchFamily="18" charset="0"/>
                <a:cs typeface="Times New Roman" pitchFamily="18" charset="0"/>
              </a:rPr>
              <a:t>4. Human relations movement (</a:t>
            </a:r>
            <a:r>
              <a:rPr lang="en-US" sz="2800" dirty="0">
                <a:solidFill>
                  <a:srgbClr val="FF0000"/>
                </a:solidFill>
              </a:rPr>
              <a:t>1920s–1930s,)</a:t>
            </a:r>
            <a:endParaRPr lang="en-US" sz="2800" dirty="0">
              <a:solidFill>
                <a:srgbClr val="FF0000"/>
              </a:solidFill>
              <a:latin typeface="Times New Roman" pitchFamily="18" charset="0"/>
              <a:cs typeface="Times New Roman" pitchFamily="18" charset="0"/>
            </a:endParaRPr>
          </a:p>
          <a:p>
            <a:pPr marL="457200" lvl="0" indent="-457200" algn="just">
              <a:buFont typeface="Wingdings" panose="05000000000000000000" pitchFamily="2" charset="2"/>
              <a:buChar char="v"/>
            </a:pPr>
            <a:r>
              <a:rPr lang="en-US" altLang="en-US" sz="2800" dirty="0">
                <a:latin typeface="Arial" panose="020B0604020202020204" pitchFamily="34" charset="0"/>
              </a:rPr>
              <a:t>Focus on teamwork, communication, and leadership.</a:t>
            </a:r>
          </a:p>
          <a:p>
            <a:pPr marL="457200" lvl="0" indent="-457200" algn="just">
              <a:buFont typeface="Wingdings" panose="05000000000000000000" pitchFamily="2" charset="2"/>
              <a:buChar char="v"/>
            </a:pPr>
            <a:r>
              <a:rPr lang="en-US" altLang="en-US" sz="2800" dirty="0">
                <a:latin typeface="Arial" panose="020B0604020202020204" pitchFamily="34" charset="0"/>
              </a:rPr>
              <a:t>Showed that attention to employees improves productivity.</a:t>
            </a:r>
          </a:p>
          <a:p>
            <a:pPr marL="457200" indent="-457200" algn="just">
              <a:buFont typeface="Wingdings" panose="05000000000000000000" pitchFamily="2" charset="2"/>
              <a:buChar char="v"/>
            </a:pPr>
            <a:r>
              <a:rPr lang="en-US" sz="2800" dirty="0"/>
              <a:t>Recognized that employee motivation isn’t just about money.</a:t>
            </a:r>
            <a:endParaRPr lang="en-US" sz="2800" dirty="0">
              <a:latin typeface="Times New Roman" pitchFamily="18" charset="0"/>
              <a:cs typeface="Times New Roman" pitchFamily="18" charset="0"/>
            </a:endParaRPr>
          </a:p>
          <a:p>
            <a:pPr algn="just"/>
            <a:endParaRPr lang="en-US" sz="2800" dirty="0">
              <a:latin typeface="Times New Roman" pitchFamily="18" charset="0"/>
              <a:cs typeface="Times New Roman" pitchFamily="18" charset="0"/>
            </a:endParaRPr>
          </a:p>
          <a:p>
            <a:pPr algn="just"/>
            <a:r>
              <a:rPr lang="en-US" sz="2800" dirty="0">
                <a:solidFill>
                  <a:srgbClr val="FF0000"/>
                </a:solidFill>
                <a:latin typeface="Times New Roman" pitchFamily="18" charset="0"/>
                <a:cs typeface="Times New Roman" pitchFamily="18" charset="0"/>
              </a:rPr>
              <a:t>5. Human resource approach </a:t>
            </a:r>
          </a:p>
          <a:p>
            <a:pPr marL="457200" indent="-457200" algn="just">
              <a:buFont typeface="Wingdings" panose="05000000000000000000" pitchFamily="2" charset="2"/>
              <a:buChar char="v"/>
            </a:pPr>
            <a:r>
              <a:rPr lang="en-US" sz="2800" dirty="0"/>
              <a:t>Employees are viewed as </a:t>
            </a:r>
            <a:r>
              <a:rPr lang="en-US" sz="2800" b="1" dirty="0"/>
              <a:t>valuable assets</a:t>
            </a:r>
            <a:r>
              <a:rPr lang="en-US" sz="2800" dirty="0"/>
              <a:t> (human capital).</a:t>
            </a:r>
          </a:p>
          <a:p>
            <a:pPr marL="457200" indent="-457200" algn="just">
              <a:buFont typeface="Wingdings" panose="05000000000000000000" pitchFamily="2" charset="2"/>
              <a:buChar char="v"/>
            </a:pPr>
            <a:r>
              <a:rPr lang="en-US" sz="2800" dirty="0"/>
              <a:t>Focus on development, engagement, and long-term growth.</a:t>
            </a:r>
          </a:p>
          <a:p>
            <a:pPr marL="457200" indent="-457200" algn="just">
              <a:buFont typeface="Wingdings" panose="05000000000000000000" pitchFamily="2" charset="2"/>
              <a:buChar char="v"/>
            </a:pPr>
            <a:r>
              <a:rPr lang="en-US" sz="2800" dirty="0"/>
              <a:t>Aligns employee goals with organizational goals.</a:t>
            </a:r>
            <a:endParaRPr lang="en-US"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081845444"/>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Functions of HRM</a:t>
            </a:r>
            <a:endParaRPr lang="en-US" dirty="0"/>
          </a:p>
        </p:txBody>
      </p:sp>
      <p:sp>
        <p:nvSpPr>
          <p:cNvPr id="3" name="Text Placeholder 2"/>
          <p:cNvSpPr>
            <a:spLocks noGrp="1"/>
          </p:cNvSpPr>
          <p:nvPr>
            <p:ph type="body" idx="1"/>
          </p:nvPr>
        </p:nvSpPr>
        <p:spPr>
          <a:xfrm>
            <a:off x="564776" y="1538933"/>
            <a:ext cx="5432799" cy="510708"/>
          </a:xfrm>
        </p:spPr>
        <p:txBody>
          <a:bodyPr>
            <a:normAutofit lnSpcReduction="10000"/>
          </a:bodyPr>
          <a:lstStyle/>
          <a:p>
            <a:pPr marL="457200" indent="-457200">
              <a:buFont typeface="Wingdings" panose="05000000000000000000" pitchFamily="2" charset="2"/>
              <a:buChar char="v"/>
            </a:pPr>
            <a:r>
              <a:rPr lang="en-IN" sz="3200" dirty="0"/>
              <a:t>Managerial function</a:t>
            </a:r>
          </a:p>
        </p:txBody>
      </p:sp>
      <p:sp>
        <p:nvSpPr>
          <p:cNvPr id="4" name="Content Placeholder 3"/>
          <p:cNvSpPr>
            <a:spLocks noGrp="1"/>
          </p:cNvSpPr>
          <p:nvPr>
            <p:ph sz="half" idx="2"/>
          </p:nvPr>
        </p:nvSpPr>
        <p:spPr>
          <a:xfrm>
            <a:off x="564776" y="2308299"/>
            <a:ext cx="5157787" cy="3684588"/>
          </a:xfrm>
        </p:spPr>
        <p:txBody>
          <a:bodyPr/>
          <a:lstStyle/>
          <a:p>
            <a:r>
              <a:rPr lang="en-US" dirty="0"/>
              <a:t>Planning </a:t>
            </a:r>
          </a:p>
          <a:p>
            <a:r>
              <a:rPr lang="en-US" dirty="0"/>
              <a:t>Organizing</a:t>
            </a:r>
          </a:p>
          <a:p>
            <a:r>
              <a:rPr lang="en-US" dirty="0"/>
              <a:t>Directing</a:t>
            </a:r>
          </a:p>
          <a:p>
            <a:r>
              <a:rPr lang="en-US" dirty="0"/>
              <a:t>Coordinating</a:t>
            </a:r>
          </a:p>
          <a:p>
            <a:r>
              <a:rPr lang="en-US" dirty="0"/>
              <a:t>controlling</a:t>
            </a:r>
          </a:p>
        </p:txBody>
      </p:sp>
      <p:sp>
        <p:nvSpPr>
          <p:cNvPr id="5" name="Text Placeholder 4"/>
          <p:cNvSpPr>
            <a:spLocks noGrp="1"/>
          </p:cNvSpPr>
          <p:nvPr>
            <p:ph type="body" sz="quarter" idx="3"/>
          </p:nvPr>
        </p:nvSpPr>
        <p:spPr>
          <a:xfrm>
            <a:off x="5896069" y="1506070"/>
            <a:ext cx="5183188" cy="617865"/>
          </a:xfrm>
        </p:spPr>
        <p:txBody>
          <a:bodyPr>
            <a:normAutofit/>
          </a:bodyPr>
          <a:lstStyle/>
          <a:p>
            <a:pPr marL="342900" indent="-342900">
              <a:buFont typeface="Wingdings" panose="05000000000000000000" pitchFamily="2" charset="2"/>
              <a:buChar char="v"/>
            </a:pPr>
            <a:r>
              <a:rPr lang="en-US" sz="3200" dirty="0"/>
              <a:t>Operational function </a:t>
            </a:r>
          </a:p>
        </p:txBody>
      </p:sp>
      <p:sp>
        <p:nvSpPr>
          <p:cNvPr id="6" name="Content Placeholder 5"/>
          <p:cNvSpPr>
            <a:spLocks noGrp="1"/>
          </p:cNvSpPr>
          <p:nvPr>
            <p:ph sz="quarter" idx="4"/>
          </p:nvPr>
        </p:nvSpPr>
        <p:spPr>
          <a:xfrm>
            <a:off x="5997575" y="2308299"/>
            <a:ext cx="5459319" cy="2667114"/>
          </a:xfrm>
        </p:spPr>
        <p:txBody>
          <a:bodyPr/>
          <a:lstStyle/>
          <a:p>
            <a:r>
              <a:rPr lang="en-US" dirty="0"/>
              <a:t>Employment</a:t>
            </a:r>
          </a:p>
          <a:p>
            <a:r>
              <a:rPr lang="en-US" dirty="0"/>
              <a:t>HR Development</a:t>
            </a:r>
          </a:p>
          <a:p>
            <a:r>
              <a:rPr lang="en-US" dirty="0"/>
              <a:t>Compensation</a:t>
            </a:r>
          </a:p>
          <a:p>
            <a:r>
              <a:rPr lang="en-US" dirty="0"/>
              <a:t>Human Relations</a:t>
            </a:r>
          </a:p>
          <a:p>
            <a:pPr marL="0" indent="0">
              <a:buNone/>
            </a:pPr>
            <a:endParaRPr lang="en-US" dirty="0"/>
          </a:p>
        </p:txBody>
      </p:sp>
    </p:spTree>
    <p:extLst>
      <p:ext uri="{BB962C8B-B14F-4D97-AF65-F5344CB8AC3E}">
        <p14:creationId xmlns:p14="http://schemas.microsoft.com/office/powerpoint/2010/main" val="38645013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32358C-8F44-8718-DB91-81D2FACDDC07}"/>
              </a:ext>
            </a:extLst>
          </p:cNvPr>
          <p:cNvSpPr>
            <a:spLocks noGrp="1"/>
          </p:cNvSpPr>
          <p:nvPr>
            <p:ph idx="1"/>
          </p:nvPr>
        </p:nvSpPr>
        <p:spPr>
          <a:xfrm>
            <a:off x="515470" y="1287743"/>
            <a:ext cx="10515600" cy="4351338"/>
          </a:xfrm>
        </p:spPr>
        <p:txBody>
          <a:bodyPr/>
          <a:lstStyle/>
          <a:p>
            <a:r>
              <a:rPr lang="en-IN" dirty="0"/>
              <a:t>Principles of Individual development</a:t>
            </a:r>
          </a:p>
          <a:p>
            <a:r>
              <a:rPr lang="en-IN" dirty="0"/>
              <a:t>Scientific selection procedure</a:t>
            </a:r>
          </a:p>
          <a:p>
            <a:r>
              <a:rPr lang="en-IN" dirty="0"/>
              <a:t>Principles of incentive</a:t>
            </a:r>
          </a:p>
          <a:p>
            <a:r>
              <a:rPr lang="en-IN" dirty="0"/>
              <a:t>Principles  of participation</a:t>
            </a:r>
          </a:p>
          <a:p>
            <a:r>
              <a:rPr lang="en-IN" dirty="0"/>
              <a:t>Principles of team spirit</a:t>
            </a:r>
          </a:p>
          <a:p>
            <a:r>
              <a:rPr lang="en-IN" dirty="0"/>
              <a:t>Principles of fair compensation</a:t>
            </a:r>
          </a:p>
          <a:p>
            <a:r>
              <a:rPr lang="en-IN" dirty="0"/>
              <a:t>Adequate communication</a:t>
            </a:r>
          </a:p>
        </p:txBody>
      </p:sp>
      <p:sp>
        <p:nvSpPr>
          <p:cNvPr id="4" name="Title 1">
            <a:extLst>
              <a:ext uri="{FF2B5EF4-FFF2-40B4-BE49-F238E27FC236}">
                <a16:creationId xmlns:a16="http://schemas.microsoft.com/office/drawing/2014/main" id="{E9F0D05D-9EAA-4632-D01B-27538EA568C2}"/>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Principles of HRM</a:t>
            </a:r>
          </a:p>
        </p:txBody>
      </p:sp>
    </p:spTree>
    <p:extLst>
      <p:ext uri="{BB962C8B-B14F-4D97-AF65-F5344CB8AC3E}">
        <p14:creationId xmlns:p14="http://schemas.microsoft.com/office/powerpoint/2010/main" val="40792931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55146"/>
          </a:xfrm>
        </p:spPr>
        <p:txBody>
          <a:bodyPr>
            <a:normAutofit fontScale="90000"/>
          </a:bodyPr>
          <a:lstStyle/>
          <a:p>
            <a:pPr algn="ctr"/>
            <a:r>
              <a:rPr lang="en-US" dirty="0">
                <a:solidFill>
                  <a:srgbClr val="FF0000"/>
                </a:solidFill>
                <a:latin typeface="Times New Roman" pitchFamily="18" charset="0"/>
                <a:cs typeface="Times New Roman" pitchFamily="18" charset="0"/>
              </a:rPr>
              <a:t>HRM v/s Personnel Management</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79135659"/>
              </p:ext>
            </p:extLst>
          </p:nvPr>
        </p:nvGraphicFramePr>
        <p:xfrm>
          <a:off x="1039906" y="965013"/>
          <a:ext cx="9144000" cy="5425440"/>
        </p:xfrm>
        <a:graphic>
          <a:graphicData uri="http://schemas.openxmlformats.org/drawingml/2006/table">
            <a:tbl>
              <a:tblPr firstRow="1" bandRow="1">
                <a:tableStyleId>{5C22544A-7EE6-4342-B048-85BDC9FD1C3A}</a:tableStyleId>
              </a:tblPr>
              <a:tblGrid>
                <a:gridCol w="3626069">
                  <a:extLst>
                    <a:ext uri="{9D8B030D-6E8A-4147-A177-3AD203B41FA5}">
                      <a16:colId xmlns:a16="http://schemas.microsoft.com/office/drawing/2014/main" val="2641198673"/>
                    </a:ext>
                  </a:extLst>
                </a:gridCol>
                <a:gridCol w="1340069">
                  <a:extLst>
                    <a:ext uri="{9D8B030D-6E8A-4147-A177-3AD203B41FA5}">
                      <a16:colId xmlns:a16="http://schemas.microsoft.com/office/drawing/2014/main" val="796584302"/>
                    </a:ext>
                  </a:extLst>
                </a:gridCol>
                <a:gridCol w="4177862">
                  <a:extLst>
                    <a:ext uri="{9D8B030D-6E8A-4147-A177-3AD203B41FA5}">
                      <a16:colId xmlns:a16="http://schemas.microsoft.com/office/drawing/2014/main" val="1413395932"/>
                    </a:ext>
                  </a:extLst>
                </a:gridCol>
              </a:tblGrid>
              <a:tr h="416138">
                <a:tc>
                  <a:txBody>
                    <a:bodyPr/>
                    <a:lstStyle/>
                    <a:p>
                      <a:pPr algn="ctr"/>
                      <a:r>
                        <a:rPr lang="en-US" sz="2800" dirty="0">
                          <a:latin typeface="Times New Roman" pitchFamily="18" charset="0"/>
                          <a:cs typeface="Times New Roman" pitchFamily="18" charset="0"/>
                        </a:rPr>
                        <a:t>HRM</a:t>
                      </a:r>
                    </a:p>
                  </a:txBody>
                  <a:tcPr/>
                </a:tc>
                <a:tc>
                  <a:txBody>
                    <a:bodyPr/>
                    <a:lstStyle/>
                    <a:p>
                      <a:pPr algn="ctr"/>
                      <a:r>
                        <a:rPr lang="en-US" sz="2800" dirty="0">
                          <a:latin typeface="Times New Roman" pitchFamily="18" charset="0"/>
                          <a:cs typeface="Times New Roman" pitchFamily="18" charset="0"/>
                        </a:rPr>
                        <a:t>Basis</a:t>
                      </a:r>
                    </a:p>
                  </a:txBody>
                  <a:tcPr/>
                </a:tc>
                <a:tc>
                  <a:txBody>
                    <a:bodyPr/>
                    <a:lstStyle/>
                    <a:p>
                      <a:pPr marL="0" algn="ctr" defTabSz="914400" rtl="0" eaLnBrk="1" latinLnBrk="0" hangingPunct="1"/>
                      <a:r>
                        <a:rPr lang="en-US" sz="2800" b="1" kern="1200" dirty="0">
                          <a:solidFill>
                            <a:schemeClr val="lt1"/>
                          </a:solidFill>
                          <a:latin typeface="Times New Roman" pitchFamily="18" charset="0"/>
                          <a:ea typeface="+mn-ea"/>
                          <a:cs typeface="Times New Roman" pitchFamily="18" charset="0"/>
                        </a:rPr>
                        <a:t>Personnel Management</a:t>
                      </a:r>
                    </a:p>
                  </a:txBody>
                  <a:tcPr/>
                </a:tc>
                <a:extLst>
                  <a:ext uri="{0D108BD9-81ED-4DB2-BD59-A6C34878D82A}">
                    <a16:rowId xmlns:a16="http://schemas.microsoft.com/office/drawing/2014/main" val="2157907810"/>
                  </a:ext>
                </a:extLst>
              </a:tr>
              <a:tr h="318223">
                <a:tc>
                  <a:txBody>
                    <a:bodyPr/>
                    <a:lstStyle/>
                    <a:p>
                      <a:r>
                        <a:rPr lang="en-US" sz="2000" b="0" i="0" kern="1200" dirty="0">
                          <a:solidFill>
                            <a:schemeClr val="dk1"/>
                          </a:solidFill>
                          <a:latin typeface="Times New Roman" pitchFamily="18" charset="0"/>
                          <a:ea typeface="+mn-ea"/>
                          <a:cs typeface="Times New Roman" pitchFamily="18" charset="0"/>
                        </a:rPr>
                        <a:t>Modern</a:t>
                      </a:r>
                      <a:endParaRPr lang="en-US" sz="2000" dirty="0">
                        <a:latin typeface="Times New Roman" pitchFamily="18" charset="0"/>
                        <a:cs typeface="Times New Roman" pitchFamily="18" charset="0"/>
                      </a:endParaRPr>
                    </a:p>
                  </a:txBody>
                  <a:tcPr/>
                </a:tc>
                <a:tc>
                  <a:txBody>
                    <a:bodyPr/>
                    <a:lstStyle/>
                    <a:p>
                      <a:r>
                        <a:rPr lang="en-US" sz="2000" b="0" i="0" kern="1200" dirty="0">
                          <a:solidFill>
                            <a:srgbClr val="FF0000"/>
                          </a:solidFill>
                          <a:latin typeface="Times New Roman" pitchFamily="18" charset="0"/>
                          <a:ea typeface="+mn-ea"/>
                          <a:cs typeface="Times New Roman" pitchFamily="18" charset="0"/>
                        </a:rPr>
                        <a:t>Approach</a:t>
                      </a:r>
                      <a:endParaRPr lang="en-US" sz="2000" dirty="0">
                        <a:solidFill>
                          <a:srgbClr val="FF0000"/>
                        </a:solidFill>
                        <a:latin typeface="Times New Roman" pitchFamily="18" charset="0"/>
                        <a:cs typeface="Times New Roman" pitchFamily="18" charset="0"/>
                      </a:endParaRPr>
                    </a:p>
                  </a:txBody>
                  <a:tcPr/>
                </a:tc>
                <a:tc>
                  <a:txBody>
                    <a:bodyPr/>
                    <a:lstStyle/>
                    <a:p>
                      <a:r>
                        <a:rPr lang="en-US" sz="2000" b="0" i="0" kern="1200" dirty="0">
                          <a:solidFill>
                            <a:schemeClr val="dk1"/>
                          </a:solidFill>
                          <a:latin typeface="Times New Roman" pitchFamily="18" charset="0"/>
                          <a:ea typeface="+mn-ea"/>
                          <a:cs typeface="Times New Roman" pitchFamily="18" charset="0"/>
                        </a:rPr>
                        <a:t>Traditional</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282927158"/>
                  </a:ext>
                </a:extLst>
              </a:tr>
              <a:tr h="1052584">
                <a:tc>
                  <a:txBody>
                    <a:bodyPr/>
                    <a:lstStyle/>
                    <a:p>
                      <a:r>
                        <a:rPr lang="en-US" sz="2000" dirty="0">
                          <a:latin typeface="Times New Roman" pitchFamily="18" charset="0"/>
                          <a:cs typeface="Times New Roman" pitchFamily="18" charset="0"/>
                        </a:rPr>
                        <a:t>Its philosophy</a:t>
                      </a:r>
                      <a:r>
                        <a:rPr lang="en-US" sz="2000" baseline="0" dirty="0">
                          <a:latin typeface="Times New Roman" pitchFamily="18" charset="0"/>
                          <a:cs typeface="Times New Roman" pitchFamily="18" charset="0"/>
                        </a:rPr>
                        <a:t> is to develop the people as per their aspiration, Goals and motivate them to achieve the organizational goals.</a:t>
                      </a:r>
                      <a:endParaRPr lang="en-US" sz="2000" dirty="0">
                        <a:latin typeface="Times New Roman" pitchFamily="18" charset="0"/>
                        <a:cs typeface="Times New Roman" pitchFamily="18" charset="0"/>
                      </a:endParaRPr>
                    </a:p>
                  </a:txBody>
                  <a:tcPr/>
                </a:tc>
                <a:tc>
                  <a:txBody>
                    <a:bodyPr/>
                    <a:lstStyle/>
                    <a:p>
                      <a:r>
                        <a:rPr lang="en-US" sz="2000" b="0" i="0" kern="1200" dirty="0">
                          <a:solidFill>
                            <a:srgbClr val="FF0000"/>
                          </a:solidFill>
                          <a:latin typeface="Times New Roman" pitchFamily="18" charset="0"/>
                          <a:ea typeface="+mn-ea"/>
                          <a:cs typeface="Times New Roman" pitchFamily="18" charset="0"/>
                        </a:rPr>
                        <a:t>Meaning</a:t>
                      </a:r>
                      <a:endParaRPr lang="en-US" sz="2000" dirty="0">
                        <a:solidFill>
                          <a:srgbClr val="FF0000"/>
                        </a:solidFill>
                        <a:latin typeface="Times New Roman" pitchFamily="18" charset="0"/>
                        <a:cs typeface="Times New Roman" pitchFamily="18" charset="0"/>
                      </a:endParaRPr>
                    </a:p>
                  </a:txBody>
                  <a:tcPr/>
                </a:tc>
                <a:tc>
                  <a:txBody>
                    <a:bodyPr/>
                    <a:lstStyle/>
                    <a:p>
                      <a:r>
                        <a:rPr lang="en-US" sz="2000" dirty="0">
                          <a:latin typeface="Times New Roman" pitchFamily="18" charset="0"/>
                          <a:cs typeface="Times New Roman" pitchFamily="18" charset="0"/>
                        </a:rPr>
                        <a:t>It is concerned with procurement</a:t>
                      </a:r>
                      <a:r>
                        <a:rPr lang="en-US" sz="2000" baseline="0" dirty="0">
                          <a:latin typeface="Times New Roman" pitchFamily="18" charset="0"/>
                          <a:cs typeface="Times New Roman" pitchFamily="18" charset="0"/>
                        </a:rPr>
                        <a:t> and development of personnel to achieve the organization objectives.</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57128500"/>
                  </a:ext>
                </a:extLst>
              </a:tr>
              <a:tr h="563010">
                <a:tc>
                  <a:txBody>
                    <a:bodyPr/>
                    <a:lstStyle/>
                    <a:p>
                      <a:r>
                        <a:rPr lang="en-US" sz="2000" dirty="0">
                          <a:latin typeface="Times New Roman" pitchFamily="18" charset="0"/>
                          <a:cs typeface="Times New Roman" pitchFamily="18" charset="0"/>
                        </a:rPr>
                        <a:t>Resources</a:t>
                      </a:r>
                    </a:p>
                  </a:txBody>
                  <a:tcPr/>
                </a:tc>
                <a:tc>
                  <a:txBody>
                    <a:bodyPr/>
                    <a:lstStyle/>
                    <a:p>
                      <a:r>
                        <a:rPr lang="en-US" sz="2000" dirty="0">
                          <a:solidFill>
                            <a:srgbClr val="FF0000"/>
                          </a:solidFill>
                          <a:latin typeface="Times New Roman" pitchFamily="18" charset="0"/>
                          <a:cs typeface="Times New Roman" pitchFamily="18" charset="0"/>
                        </a:rPr>
                        <a:t>Employee Treatment</a:t>
                      </a:r>
                    </a:p>
                  </a:txBody>
                  <a:tcPr/>
                </a:tc>
                <a:tc>
                  <a:txBody>
                    <a:bodyPr/>
                    <a:lstStyle/>
                    <a:p>
                      <a:r>
                        <a:rPr lang="en-US" sz="2000" dirty="0">
                          <a:latin typeface="Times New Roman" pitchFamily="18" charset="0"/>
                          <a:cs typeface="Times New Roman" pitchFamily="18" charset="0"/>
                        </a:rPr>
                        <a:t> Machines/Tools/</a:t>
                      </a:r>
                      <a:r>
                        <a:rPr lang="en-US" sz="2000" baseline="0" dirty="0">
                          <a:latin typeface="Times New Roman" pitchFamily="18" charset="0"/>
                          <a:cs typeface="Times New Roman" pitchFamily="18" charset="0"/>
                        </a:rPr>
                        <a:t>Product.</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4042247082"/>
                  </a:ext>
                </a:extLst>
              </a:tr>
              <a:tr h="318223">
                <a:tc>
                  <a:txBody>
                    <a:bodyPr/>
                    <a:lstStyle/>
                    <a:p>
                      <a:r>
                        <a:rPr lang="en-US" sz="2000" dirty="0">
                          <a:latin typeface="Times New Roman" pitchFamily="18" charset="0"/>
                          <a:cs typeface="Times New Roman" pitchFamily="18" charset="0"/>
                        </a:rPr>
                        <a:t>On</a:t>
                      </a:r>
                      <a:r>
                        <a:rPr lang="en-US" sz="2000" baseline="0" dirty="0">
                          <a:latin typeface="Times New Roman" pitchFamily="18" charset="0"/>
                          <a:cs typeface="Times New Roman" pitchFamily="18" charset="0"/>
                        </a:rPr>
                        <a:t> the basis of Performance</a:t>
                      </a:r>
                      <a:endParaRPr lang="en-US" sz="2000" dirty="0">
                        <a:latin typeface="Times New Roman" pitchFamily="18" charset="0"/>
                        <a:cs typeface="Times New Roman" pitchFamily="18" charset="0"/>
                      </a:endParaRPr>
                    </a:p>
                  </a:txBody>
                  <a:tcPr/>
                </a:tc>
                <a:tc>
                  <a:txBody>
                    <a:bodyPr/>
                    <a:lstStyle/>
                    <a:p>
                      <a:r>
                        <a:rPr lang="en-US" sz="2000" dirty="0">
                          <a:solidFill>
                            <a:srgbClr val="FF0000"/>
                          </a:solidFill>
                          <a:latin typeface="Times New Roman" pitchFamily="18" charset="0"/>
                          <a:cs typeface="Times New Roman" pitchFamily="18" charset="0"/>
                        </a:rPr>
                        <a:t>Salary</a:t>
                      </a:r>
                    </a:p>
                  </a:txBody>
                  <a:tcPr/>
                </a:tc>
                <a:tc>
                  <a:txBody>
                    <a:bodyPr/>
                    <a:lstStyle/>
                    <a:p>
                      <a:r>
                        <a:rPr lang="en-US" sz="2000" dirty="0">
                          <a:latin typeface="Times New Roman" pitchFamily="18" charset="0"/>
                          <a:cs typeface="Times New Roman" pitchFamily="18" charset="0"/>
                        </a:rPr>
                        <a:t>On the basis of Job Evaluation.</a:t>
                      </a:r>
                    </a:p>
                  </a:txBody>
                  <a:tcPr/>
                </a:tc>
                <a:extLst>
                  <a:ext uri="{0D108BD9-81ED-4DB2-BD59-A6C34878D82A}">
                    <a16:rowId xmlns:a16="http://schemas.microsoft.com/office/drawing/2014/main" val="2970220818"/>
                  </a:ext>
                </a:extLst>
              </a:tr>
              <a:tr h="563010">
                <a:tc>
                  <a:txBody>
                    <a:bodyPr/>
                    <a:lstStyle/>
                    <a:p>
                      <a:r>
                        <a:rPr lang="en-US" sz="2000" dirty="0">
                          <a:latin typeface="Times New Roman" pitchFamily="18" charset="0"/>
                          <a:cs typeface="Times New Roman" pitchFamily="18" charset="0"/>
                        </a:rPr>
                        <a:t>Fast</a:t>
                      </a:r>
                    </a:p>
                  </a:txBody>
                  <a:tcPr/>
                </a:tc>
                <a:tc>
                  <a:txBody>
                    <a:bodyPr/>
                    <a:lstStyle/>
                    <a:p>
                      <a:r>
                        <a:rPr lang="en-US" sz="2000" dirty="0">
                          <a:solidFill>
                            <a:srgbClr val="FF0000"/>
                          </a:solidFill>
                          <a:latin typeface="Times New Roman" pitchFamily="18" charset="0"/>
                          <a:cs typeface="Times New Roman" pitchFamily="18" charset="0"/>
                        </a:rPr>
                        <a:t>Decision Making</a:t>
                      </a:r>
                    </a:p>
                  </a:txBody>
                  <a:tcPr/>
                </a:tc>
                <a:tc>
                  <a:txBody>
                    <a:bodyPr/>
                    <a:lstStyle/>
                    <a:p>
                      <a:r>
                        <a:rPr lang="en-US" sz="2000" dirty="0">
                          <a:latin typeface="Times New Roman" pitchFamily="18" charset="0"/>
                          <a:cs typeface="Times New Roman" pitchFamily="18" charset="0"/>
                        </a:rPr>
                        <a:t>Slow</a:t>
                      </a:r>
                    </a:p>
                  </a:txBody>
                  <a:tcPr/>
                </a:tc>
                <a:extLst>
                  <a:ext uri="{0D108BD9-81ED-4DB2-BD59-A6C34878D82A}">
                    <a16:rowId xmlns:a16="http://schemas.microsoft.com/office/drawing/2014/main" val="446149709"/>
                  </a:ext>
                </a:extLst>
              </a:tr>
              <a:tr h="673401">
                <a:tc>
                  <a:txBody>
                    <a:bodyPr/>
                    <a:lstStyle/>
                    <a:p>
                      <a:r>
                        <a:rPr lang="en-US" sz="2000" dirty="0">
                          <a:latin typeface="Times New Roman" pitchFamily="18" charset="0"/>
                          <a:cs typeface="Times New Roman" pitchFamily="18" charset="0"/>
                        </a:rPr>
                        <a:t>Business needs or need base.</a:t>
                      </a:r>
                    </a:p>
                  </a:txBody>
                  <a:tcPr anchor="ctr"/>
                </a:tc>
                <a:tc>
                  <a:txBody>
                    <a:bodyPr/>
                    <a:lstStyle/>
                    <a:p>
                      <a:r>
                        <a:rPr lang="en-US" sz="2000" dirty="0">
                          <a:solidFill>
                            <a:srgbClr val="FF0000"/>
                          </a:solidFill>
                          <a:latin typeface="Times New Roman" pitchFamily="18" charset="0"/>
                          <a:cs typeface="Times New Roman" pitchFamily="18" charset="0"/>
                        </a:rPr>
                        <a:t>Management Actions </a:t>
                      </a:r>
                    </a:p>
                  </a:txBody>
                  <a:tcPr anchor="ctr"/>
                </a:tc>
                <a:tc>
                  <a:txBody>
                    <a:bodyPr/>
                    <a:lstStyle/>
                    <a:p>
                      <a:r>
                        <a:rPr lang="en-US" sz="2000" b="0" i="0" kern="1200" dirty="0">
                          <a:solidFill>
                            <a:schemeClr val="dk1"/>
                          </a:solidFill>
                          <a:latin typeface="Times New Roman" pitchFamily="18" charset="0"/>
                          <a:ea typeface="+mn-ea"/>
                          <a:cs typeface="Times New Roman" pitchFamily="18" charset="0"/>
                        </a:rPr>
                        <a:t>Procedure/ Routine.</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792577164"/>
                  </a:ext>
                </a:extLst>
              </a:tr>
              <a:tr h="563010">
                <a:tc>
                  <a:txBody>
                    <a:bodyPr/>
                    <a:lstStyle/>
                    <a:p>
                      <a:r>
                        <a:rPr lang="en-US" sz="2000" b="0" i="0" kern="1200" dirty="0">
                          <a:solidFill>
                            <a:schemeClr val="dk1"/>
                          </a:solidFill>
                          <a:latin typeface="Times New Roman" pitchFamily="18" charset="0"/>
                          <a:ea typeface="+mn-ea"/>
                          <a:cs typeface="Times New Roman" pitchFamily="18" charset="0"/>
                        </a:rPr>
                        <a:t>Transactional.</a:t>
                      </a:r>
                      <a:endParaRPr lang="en-US" sz="2000" dirty="0">
                        <a:latin typeface="Times New Roman" pitchFamily="18" charset="0"/>
                        <a:cs typeface="Times New Roman" pitchFamily="18" charset="0"/>
                      </a:endParaRPr>
                    </a:p>
                  </a:txBody>
                  <a:tcPr/>
                </a:tc>
                <a:tc>
                  <a:txBody>
                    <a:bodyPr/>
                    <a:lstStyle/>
                    <a:p>
                      <a:r>
                        <a:rPr lang="en-US" sz="2000" dirty="0">
                          <a:solidFill>
                            <a:srgbClr val="FF0000"/>
                          </a:solidFill>
                          <a:latin typeface="Times New Roman" pitchFamily="18" charset="0"/>
                          <a:cs typeface="Times New Roman" pitchFamily="18" charset="0"/>
                        </a:rPr>
                        <a:t>Management Role </a:t>
                      </a:r>
                    </a:p>
                  </a:txBody>
                  <a:tcPr anchor="ctr"/>
                </a:tc>
                <a:tc>
                  <a:txBody>
                    <a:bodyPr/>
                    <a:lstStyle/>
                    <a:p>
                      <a:r>
                        <a:rPr lang="en-US" sz="2000" b="0" i="0" kern="1200" dirty="0">
                          <a:solidFill>
                            <a:schemeClr val="dk1"/>
                          </a:solidFill>
                          <a:latin typeface="Times New Roman" pitchFamily="18" charset="0"/>
                          <a:ea typeface="+mn-ea"/>
                          <a:cs typeface="Times New Roman" pitchFamily="18" charset="0"/>
                        </a:rPr>
                        <a:t>Transformational .</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426704441"/>
                  </a:ext>
                </a:extLst>
              </a:tr>
            </a:tbl>
          </a:graphicData>
        </a:graphic>
      </p:graphicFrame>
    </p:spTree>
    <p:extLst>
      <p:ext uri="{BB962C8B-B14F-4D97-AF65-F5344CB8AC3E}">
        <p14:creationId xmlns:p14="http://schemas.microsoft.com/office/powerpoint/2010/main" val="27042791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91671"/>
            <a:ext cx="9144000" cy="1008529"/>
          </a:xfrm>
        </p:spPr>
        <p:txBody>
          <a:bodyPr>
            <a:noAutofit/>
          </a:bodyPr>
          <a:lstStyle/>
          <a:p>
            <a:r>
              <a:rPr lang="en-US" sz="4000" b="1" dirty="0">
                <a:solidFill>
                  <a:srgbClr val="FF0000"/>
                </a:solidFill>
              </a:rPr>
              <a:t>HRM in India </a:t>
            </a:r>
          </a:p>
        </p:txBody>
      </p:sp>
      <p:sp>
        <p:nvSpPr>
          <p:cNvPr id="3" name="Subtitle 2"/>
          <p:cNvSpPr>
            <a:spLocks noGrp="1"/>
          </p:cNvSpPr>
          <p:nvPr>
            <p:ph type="subTitle" idx="1"/>
          </p:nvPr>
        </p:nvSpPr>
        <p:spPr>
          <a:xfrm>
            <a:off x="1093695" y="1800133"/>
            <a:ext cx="10753164" cy="3874526"/>
          </a:xfrm>
        </p:spPr>
        <p:txBody>
          <a:bodyPr>
            <a:normAutofit/>
          </a:bodyPr>
          <a:lstStyle/>
          <a:p>
            <a:pPr marL="457200" indent="-457200" algn="l">
              <a:buFont typeface="+mj-lt"/>
              <a:buAutoNum type="arabicPeriod"/>
            </a:pPr>
            <a:r>
              <a:rPr lang="en-US" sz="2800" dirty="0"/>
              <a:t>Recruitment, training and development</a:t>
            </a:r>
          </a:p>
          <a:p>
            <a:pPr marL="457200" indent="-457200" algn="l">
              <a:buFont typeface="+mj-lt"/>
              <a:buAutoNum type="arabicPeriod"/>
            </a:pPr>
            <a:r>
              <a:rPr lang="en-US" sz="2800" dirty="0"/>
              <a:t>Induction</a:t>
            </a:r>
          </a:p>
          <a:p>
            <a:pPr marL="457200" indent="-457200" algn="l">
              <a:buFont typeface="+mj-lt"/>
              <a:buAutoNum type="arabicPeriod"/>
            </a:pPr>
            <a:r>
              <a:rPr lang="en-US" sz="2800" dirty="0"/>
              <a:t>Retention strategy</a:t>
            </a:r>
          </a:p>
          <a:p>
            <a:pPr marL="457200" indent="-457200" algn="l">
              <a:buFont typeface="+mj-lt"/>
              <a:buAutoNum type="arabicPeriod"/>
            </a:pPr>
            <a:r>
              <a:rPr lang="en-US" sz="2800" dirty="0"/>
              <a:t>HR Development </a:t>
            </a:r>
          </a:p>
          <a:p>
            <a:pPr marL="457200" indent="-457200" algn="l">
              <a:buFont typeface="+mj-lt"/>
              <a:buAutoNum type="arabicPeriod"/>
            </a:pPr>
            <a:r>
              <a:rPr lang="en-US" sz="2800" dirty="0"/>
              <a:t>Leadership</a:t>
            </a:r>
          </a:p>
          <a:p>
            <a:pPr algn="l"/>
            <a:endParaRPr lang="en-US" sz="2800" dirty="0"/>
          </a:p>
          <a:p>
            <a:pPr algn="l"/>
            <a:endParaRPr lang="en-US" sz="2800" dirty="0"/>
          </a:p>
        </p:txBody>
      </p:sp>
    </p:spTree>
    <p:extLst>
      <p:ext uri="{BB962C8B-B14F-4D97-AF65-F5344CB8AC3E}">
        <p14:creationId xmlns:p14="http://schemas.microsoft.com/office/powerpoint/2010/main" val="8647092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3728" y="369328"/>
            <a:ext cx="10578353" cy="961931"/>
          </a:xfrm>
        </p:spPr>
        <p:txBody>
          <a:bodyPr/>
          <a:lstStyle/>
          <a:p>
            <a:r>
              <a:rPr lang="en-US" b="1" dirty="0"/>
              <a:t>Objectives of HRM Models?</a:t>
            </a:r>
          </a:p>
        </p:txBody>
      </p:sp>
      <p:sp>
        <p:nvSpPr>
          <p:cNvPr id="3" name="Subtitle 2"/>
          <p:cNvSpPr>
            <a:spLocks noGrp="1"/>
          </p:cNvSpPr>
          <p:nvPr>
            <p:ph type="subTitle" idx="1"/>
          </p:nvPr>
        </p:nvSpPr>
        <p:spPr>
          <a:xfrm>
            <a:off x="578223" y="1492624"/>
            <a:ext cx="11013141" cy="3765176"/>
          </a:xfrm>
        </p:spPr>
        <p:txBody>
          <a:bodyPr>
            <a:normAutofit/>
          </a:bodyPr>
          <a:lstStyle/>
          <a:p>
            <a:pPr marL="342900" indent="-342900" algn="just">
              <a:buFont typeface="Arial" panose="020B0604020202020204" pitchFamily="34" charset="0"/>
              <a:buChar char="•"/>
            </a:pPr>
            <a:r>
              <a:rPr lang="en-US" sz="3200" dirty="0"/>
              <a:t>This provide </a:t>
            </a:r>
            <a:r>
              <a:rPr lang="en-US" sz="3200" dirty="0">
                <a:solidFill>
                  <a:srgbClr val="FF0000"/>
                </a:solidFill>
              </a:rPr>
              <a:t>analytical framework </a:t>
            </a:r>
            <a:r>
              <a:rPr lang="en-US" sz="3200" dirty="0"/>
              <a:t>of HRM that establishes relationship among various variables to be researched.</a:t>
            </a:r>
          </a:p>
          <a:p>
            <a:pPr algn="l"/>
            <a:endParaRPr lang="en-US" sz="3200" dirty="0"/>
          </a:p>
          <a:p>
            <a:pPr marL="342900" indent="-342900" algn="just">
              <a:buFont typeface="Arial" panose="020B0604020202020204" pitchFamily="34" charset="0"/>
              <a:buChar char="•"/>
            </a:pPr>
            <a:r>
              <a:rPr lang="en-US" sz="3200" dirty="0"/>
              <a:t>They serve as a </a:t>
            </a:r>
            <a:r>
              <a:rPr lang="en-US" sz="3200" dirty="0">
                <a:solidFill>
                  <a:srgbClr val="FF0000"/>
                </a:solidFill>
              </a:rPr>
              <a:t>heuristic device </a:t>
            </a:r>
            <a:r>
              <a:rPr lang="en-US" sz="3200" dirty="0"/>
              <a:t>that help us to discover and understand the world for explaining the nature and signification of key </a:t>
            </a:r>
            <a:r>
              <a:rPr lang="en-US" sz="3200" dirty="0">
                <a:solidFill>
                  <a:srgbClr val="FF0000"/>
                </a:solidFill>
              </a:rPr>
              <a:t>HR Practice</a:t>
            </a:r>
            <a:r>
              <a:rPr lang="en-US" sz="3200" dirty="0"/>
              <a:t>.</a:t>
            </a:r>
          </a:p>
        </p:txBody>
      </p:sp>
    </p:spTree>
    <p:extLst>
      <p:ext uri="{BB962C8B-B14F-4D97-AF65-F5344CB8AC3E}">
        <p14:creationId xmlns:p14="http://schemas.microsoft.com/office/powerpoint/2010/main" val="8704243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FDD4C-3253-A128-987C-1ECCC564F88B}"/>
              </a:ext>
            </a:extLst>
          </p:cNvPr>
          <p:cNvSpPr>
            <a:spLocks noGrp="1"/>
          </p:cNvSpPr>
          <p:nvPr>
            <p:ph type="title"/>
          </p:nvPr>
        </p:nvSpPr>
        <p:spPr/>
        <p:txBody>
          <a:bodyPr/>
          <a:lstStyle/>
          <a:p>
            <a:pPr algn="ctr"/>
            <a:r>
              <a:rPr lang="en-US" b="1" dirty="0">
                <a:solidFill>
                  <a:srgbClr val="FF0000"/>
                </a:solidFill>
              </a:rPr>
              <a:t>Model Of HRM</a:t>
            </a:r>
            <a:endParaRPr lang="en-IN" dirty="0"/>
          </a:p>
        </p:txBody>
      </p:sp>
      <p:pic>
        <p:nvPicPr>
          <p:cNvPr id="5" name="Content Placeholder 4">
            <a:extLst>
              <a:ext uri="{FF2B5EF4-FFF2-40B4-BE49-F238E27FC236}">
                <a16:creationId xmlns:a16="http://schemas.microsoft.com/office/drawing/2014/main" id="{D1408CA2-A5E8-BB54-429F-16D9D00F330B}"/>
              </a:ext>
            </a:extLst>
          </p:cNvPr>
          <p:cNvPicPr>
            <a:picLocks noGrp="1" noChangeAspect="1"/>
          </p:cNvPicPr>
          <p:nvPr>
            <p:ph idx="1"/>
          </p:nvPr>
        </p:nvPicPr>
        <p:blipFill>
          <a:blip r:embed="rId2" cstate="print"/>
          <a:stretch>
            <a:fillRect/>
          </a:stretch>
        </p:blipFill>
        <p:spPr>
          <a:xfrm>
            <a:off x="838200" y="1690688"/>
            <a:ext cx="10744200" cy="4039528"/>
          </a:xfrm>
          <a:prstGeom prst="rect">
            <a:avLst/>
          </a:prstGeom>
        </p:spPr>
      </p:pic>
    </p:spTree>
    <p:extLst>
      <p:ext uri="{BB962C8B-B14F-4D97-AF65-F5344CB8AC3E}">
        <p14:creationId xmlns:p14="http://schemas.microsoft.com/office/powerpoint/2010/main" val="18658116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9DBC5-6D61-E9BB-8079-161F51267E22}"/>
              </a:ext>
            </a:extLst>
          </p:cNvPr>
          <p:cNvSpPr>
            <a:spLocks noGrp="1"/>
          </p:cNvSpPr>
          <p:nvPr>
            <p:ph type="title"/>
          </p:nvPr>
        </p:nvSpPr>
        <p:spPr/>
        <p:txBody>
          <a:bodyPr/>
          <a:lstStyle/>
          <a:p>
            <a:r>
              <a:rPr lang="en-US" b="1" dirty="0">
                <a:solidFill>
                  <a:srgbClr val="FF0000"/>
                </a:solidFill>
              </a:rPr>
              <a:t>Fombrun, Tichy and Devanna model</a:t>
            </a:r>
            <a:endParaRPr lang="en-IN" dirty="0"/>
          </a:p>
        </p:txBody>
      </p:sp>
      <p:sp>
        <p:nvSpPr>
          <p:cNvPr id="3" name="Rectangle 2"/>
          <p:cNvSpPr/>
          <p:nvPr/>
        </p:nvSpPr>
        <p:spPr>
          <a:xfrm>
            <a:off x="295836" y="1586753"/>
            <a:ext cx="6320118" cy="4401205"/>
          </a:xfrm>
          <a:prstGeom prst="rect">
            <a:avLst/>
          </a:prstGeom>
        </p:spPr>
        <p:txBody>
          <a:bodyPr wrap="square">
            <a:spAutoFit/>
          </a:bodyPr>
          <a:lstStyle/>
          <a:p>
            <a:pPr marL="285750" indent="-285750" algn="just">
              <a:buFont typeface="Wingdings" panose="05000000000000000000" pitchFamily="2" charset="2"/>
              <a:buChar char="§"/>
            </a:pPr>
            <a:r>
              <a:rPr lang="en-US" sz="2800" dirty="0"/>
              <a:t>one of the first models focussed only four functions of HRM.</a:t>
            </a:r>
          </a:p>
          <a:p>
            <a:pPr marL="285750" indent="-285750" algn="just">
              <a:buFont typeface="Wingdings" panose="05000000000000000000" pitchFamily="2" charset="2"/>
              <a:buChar char="§"/>
            </a:pPr>
            <a:r>
              <a:rPr lang="en-US" sz="2800" dirty="0"/>
              <a:t>Selection, HRD, Rewards, Appraisal are inter connected and lead to organizational effectively.</a:t>
            </a:r>
          </a:p>
          <a:p>
            <a:pPr marL="285750" indent="-285750" algn="just">
              <a:buFont typeface="Wingdings" panose="05000000000000000000" pitchFamily="2" charset="2"/>
              <a:buChar char="§"/>
            </a:pPr>
            <a:r>
              <a:rPr lang="en-US" sz="2800" dirty="0"/>
              <a:t>Model was too simple however at the same time did not environmental factor. Considered</a:t>
            </a:r>
          </a:p>
          <a:p>
            <a:pPr marL="285750" indent="-285750" algn="just">
              <a:buFont typeface="Wingdings" panose="05000000000000000000" pitchFamily="2" charset="2"/>
              <a:buChar char="§"/>
            </a:pPr>
            <a:r>
              <a:rPr lang="en-US" sz="2800" dirty="0"/>
              <a:t>it only considered four functions of HRM.</a:t>
            </a:r>
          </a:p>
        </p:txBody>
      </p:sp>
      <p:pic>
        <p:nvPicPr>
          <p:cNvPr id="7" name="Picture 6" descr="Best Human Resources Models and Practices PowerPoint Template Designs for  2026 - SlideSalad">
            <a:extLst>
              <a:ext uri="{FF2B5EF4-FFF2-40B4-BE49-F238E27FC236}">
                <a16:creationId xmlns:a16="http://schemas.microsoft.com/office/drawing/2014/main" id="{C7EE3098-3FA2-0AA6-22C2-FC70F51D42A7}"/>
              </a:ext>
            </a:extLst>
          </p:cNvPr>
          <p:cNvPicPr>
            <a:picLocks noChangeAspect="1"/>
          </p:cNvPicPr>
          <p:nvPr/>
        </p:nvPicPr>
        <p:blipFill>
          <a:blip r:embed="rId2" cstate="print"/>
          <a:stretch>
            <a:fillRect/>
          </a:stretch>
        </p:blipFill>
        <p:spPr>
          <a:xfrm>
            <a:off x="6826262" y="1690688"/>
            <a:ext cx="5365738" cy="4075753"/>
          </a:xfrm>
          <a:prstGeom prst="rect">
            <a:avLst/>
          </a:prstGeom>
        </p:spPr>
      </p:pic>
    </p:spTree>
    <p:extLst>
      <p:ext uri="{BB962C8B-B14F-4D97-AF65-F5344CB8AC3E}">
        <p14:creationId xmlns:p14="http://schemas.microsoft.com/office/powerpoint/2010/main" val="17756991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A641F-6030-DA94-DDC7-5176BAE33F8B}"/>
              </a:ext>
            </a:extLst>
          </p:cNvPr>
          <p:cNvSpPr>
            <a:spLocks noGrp="1"/>
          </p:cNvSpPr>
          <p:nvPr>
            <p:ph type="title"/>
          </p:nvPr>
        </p:nvSpPr>
        <p:spPr/>
        <p:txBody>
          <a:bodyPr/>
          <a:lstStyle/>
          <a:p>
            <a:pPr algn="ctr"/>
            <a:r>
              <a:rPr lang="en-US" b="1" dirty="0">
                <a:solidFill>
                  <a:srgbClr val="FF0000"/>
                </a:solidFill>
              </a:rPr>
              <a:t>Harvard Model</a:t>
            </a:r>
            <a:endParaRPr lang="en-IN" dirty="0"/>
          </a:p>
        </p:txBody>
      </p:sp>
      <p:pic>
        <p:nvPicPr>
          <p:cNvPr id="5" name="Content Placeholder 4">
            <a:extLst>
              <a:ext uri="{FF2B5EF4-FFF2-40B4-BE49-F238E27FC236}">
                <a16:creationId xmlns:a16="http://schemas.microsoft.com/office/drawing/2014/main" id="{6DABC34D-3C38-B4F1-FD8A-1BE7F36CB6A1}"/>
              </a:ext>
            </a:extLst>
          </p:cNvPr>
          <p:cNvPicPr>
            <a:picLocks noGrp="1" noChangeAspect="1"/>
          </p:cNvPicPr>
          <p:nvPr>
            <p:ph idx="1"/>
          </p:nvPr>
        </p:nvPicPr>
        <p:blipFill>
          <a:blip r:embed="rId2" cstate="print"/>
          <a:stretch>
            <a:fillRect/>
          </a:stretch>
        </p:blipFill>
        <p:spPr>
          <a:xfrm>
            <a:off x="580103" y="2193115"/>
            <a:ext cx="11218606" cy="4326654"/>
          </a:xfrm>
          <a:prstGeom prst="rect">
            <a:avLst/>
          </a:prstGeom>
        </p:spPr>
      </p:pic>
    </p:spTree>
    <p:extLst>
      <p:ext uri="{BB962C8B-B14F-4D97-AF65-F5344CB8AC3E}">
        <p14:creationId xmlns:p14="http://schemas.microsoft.com/office/powerpoint/2010/main" val="24549043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9966" y="430307"/>
            <a:ext cx="8888506" cy="3108543"/>
          </a:xfrm>
          <a:prstGeom prst="rect">
            <a:avLst/>
          </a:prstGeom>
        </p:spPr>
        <p:txBody>
          <a:bodyPr wrap="square">
            <a:spAutoFit/>
          </a:bodyPr>
          <a:lstStyle/>
          <a:p>
            <a:r>
              <a:rPr lang="en-US" sz="2800" b="1" dirty="0"/>
              <a:t>Harvard Model</a:t>
            </a:r>
          </a:p>
          <a:p>
            <a:pPr marL="457200" indent="-457200">
              <a:buFont typeface="Arial" panose="020B0604020202020204" pitchFamily="34" charset="0"/>
              <a:buChar char="•"/>
            </a:pPr>
            <a:r>
              <a:rPr lang="en-US" sz="2800" dirty="0"/>
              <a:t>it included 6 components.</a:t>
            </a:r>
          </a:p>
          <a:p>
            <a:pPr marL="457200" indent="-457200">
              <a:buFont typeface="Arial" panose="020B0604020202020204" pitchFamily="34" charset="0"/>
              <a:buChar char="•"/>
            </a:pPr>
            <a:r>
              <a:rPr lang="en-US" sz="2800" dirty="0"/>
              <a:t>Stake holder Interest</a:t>
            </a:r>
          </a:p>
          <a:p>
            <a:pPr marL="457200" indent="-457200">
              <a:buFont typeface="Arial" panose="020B0604020202020204" pitchFamily="34" charset="0"/>
              <a:buChar char="•"/>
            </a:pPr>
            <a:r>
              <a:rPr lang="en-US" sz="2800" dirty="0"/>
              <a:t>HRM components</a:t>
            </a:r>
          </a:p>
          <a:p>
            <a:pPr marL="457200" indent="-457200">
              <a:buFont typeface="Arial" panose="020B0604020202020204" pitchFamily="34" charset="0"/>
              <a:buChar char="•"/>
            </a:pPr>
            <a:r>
              <a:rPr lang="en-US" sz="2800" dirty="0"/>
              <a:t>Situational factors</a:t>
            </a:r>
          </a:p>
          <a:p>
            <a:pPr marL="457200" indent="-457200">
              <a:buFont typeface="Arial" panose="020B0604020202020204" pitchFamily="34" charset="0"/>
              <a:buChar char="•"/>
            </a:pPr>
            <a:r>
              <a:rPr lang="en-US" sz="2800" dirty="0"/>
              <a:t>HR outcomes</a:t>
            </a:r>
          </a:p>
          <a:p>
            <a:pPr marL="457200" indent="-457200">
              <a:buFont typeface="Arial" panose="020B0604020202020204" pitchFamily="34" charset="0"/>
              <a:buChar char="•"/>
            </a:pPr>
            <a:r>
              <a:rPr lang="en-US" sz="2800" dirty="0"/>
              <a:t>Long term outcomes</a:t>
            </a:r>
          </a:p>
        </p:txBody>
      </p:sp>
      <p:sp>
        <p:nvSpPr>
          <p:cNvPr id="3" name="Rectangle 2"/>
          <p:cNvSpPr/>
          <p:nvPr/>
        </p:nvSpPr>
        <p:spPr>
          <a:xfrm>
            <a:off x="282387" y="3778624"/>
            <a:ext cx="11537577" cy="2246769"/>
          </a:xfrm>
          <a:prstGeom prst="rect">
            <a:avLst/>
          </a:prstGeom>
        </p:spPr>
        <p:txBody>
          <a:bodyPr wrap="square">
            <a:spAutoFit/>
          </a:bodyPr>
          <a:lstStyle/>
          <a:p>
            <a:pPr marL="457200" indent="-457200">
              <a:buFont typeface="Arial" panose="020B0604020202020204" pitchFamily="34" charset="0"/>
              <a:buChar char="•"/>
            </a:pPr>
            <a:r>
              <a:rPr lang="en-US" sz="2800" b="1" dirty="0"/>
              <a:t>Stakeholder Interest </a:t>
            </a:r>
            <a:r>
              <a:rPr lang="en-US" sz="2800" dirty="0"/>
              <a:t>An organization is surrounded with different parties who are bit directly or indirectly affected with the organization activities.</a:t>
            </a:r>
          </a:p>
          <a:p>
            <a:endParaRPr lang="en-US" sz="2800" dirty="0"/>
          </a:p>
          <a:p>
            <a:pPr marL="457200" indent="-457200">
              <a:buFont typeface="Arial" panose="020B0604020202020204" pitchFamily="34" charset="0"/>
              <a:buChar char="•"/>
            </a:pPr>
            <a:r>
              <a:rPr lang="en-US" sz="2800" dirty="0"/>
              <a:t>An organization must balance the relationship between their profits, social contribution, shareholder interest and regulations as well</a:t>
            </a:r>
          </a:p>
        </p:txBody>
      </p:sp>
    </p:spTree>
    <p:extLst>
      <p:ext uri="{BB962C8B-B14F-4D97-AF65-F5344CB8AC3E}">
        <p14:creationId xmlns:p14="http://schemas.microsoft.com/office/powerpoint/2010/main" val="19206628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9624" y="161958"/>
            <a:ext cx="11537576" cy="2677656"/>
          </a:xfrm>
          <a:prstGeom prst="rect">
            <a:avLst/>
          </a:prstGeom>
        </p:spPr>
        <p:txBody>
          <a:bodyPr wrap="square">
            <a:spAutoFit/>
          </a:bodyPr>
          <a:lstStyle/>
          <a:p>
            <a:r>
              <a:rPr lang="en-US" sz="2800" b="1" dirty="0"/>
              <a:t>Situational Factors </a:t>
            </a:r>
          </a:p>
          <a:p>
            <a:pPr marL="457200" indent="-457200">
              <a:buFont typeface="Arial" panose="020B0604020202020204" pitchFamily="34" charset="0"/>
              <a:buChar char="•"/>
            </a:pPr>
            <a:r>
              <a:rPr lang="en-US" sz="2800" dirty="0"/>
              <a:t>There are factors which are internal or external but they are based on situations</a:t>
            </a:r>
          </a:p>
          <a:p>
            <a:pPr marL="457200" indent="-457200">
              <a:buFont typeface="Arial" panose="020B0604020202020204" pitchFamily="34" charset="0"/>
              <a:buChar char="•"/>
            </a:pPr>
            <a:r>
              <a:rPr lang="en-US" sz="2800" dirty="0"/>
              <a:t>Government regulations</a:t>
            </a:r>
          </a:p>
          <a:p>
            <a:pPr marL="457200" indent="-457200">
              <a:buFont typeface="Arial" panose="020B0604020202020204" pitchFamily="34" charset="0"/>
              <a:buChar char="•"/>
            </a:pPr>
            <a:r>
              <a:rPr lang="en-US" sz="2800" dirty="0"/>
              <a:t>Labour market</a:t>
            </a:r>
          </a:p>
          <a:p>
            <a:pPr marL="457200" indent="-457200">
              <a:buFont typeface="Arial" panose="020B0604020202020204" pitchFamily="34" charset="0"/>
              <a:buChar char="•"/>
            </a:pPr>
            <a:r>
              <a:rPr lang="en-US" sz="2800" dirty="0"/>
              <a:t>Technology</a:t>
            </a:r>
          </a:p>
        </p:txBody>
      </p:sp>
      <p:sp>
        <p:nvSpPr>
          <p:cNvPr id="3" name="Rectangle 2"/>
          <p:cNvSpPr/>
          <p:nvPr/>
        </p:nvSpPr>
        <p:spPr>
          <a:xfrm>
            <a:off x="349624" y="2839614"/>
            <a:ext cx="11026588" cy="3970318"/>
          </a:xfrm>
          <a:prstGeom prst="rect">
            <a:avLst/>
          </a:prstGeom>
        </p:spPr>
        <p:txBody>
          <a:bodyPr wrap="square">
            <a:spAutoFit/>
          </a:bodyPr>
          <a:lstStyle/>
          <a:p>
            <a:pPr algn="just"/>
            <a:r>
              <a:rPr lang="en-US" sz="2800" b="1" dirty="0"/>
              <a:t>HRM Policy Choice Area</a:t>
            </a:r>
          </a:p>
          <a:p>
            <a:pPr marL="285750" indent="-285750" algn="just">
              <a:buFont typeface="Arial" panose="020B0604020202020204" pitchFamily="34" charset="0"/>
              <a:buChar char="•"/>
            </a:pPr>
            <a:r>
              <a:rPr lang="en-US" sz="2800" dirty="0"/>
              <a:t>Human Resource flow includes functions like </a:t>
            </a:r>
            <a:r>
              <a:rPr lang="en-US" sz="2800" dirty="0">
                <a:solidFill>
                  <a:srgbClr val="FF0000"/>
                </a:solidFill>
              </a:rPr>
              <a:t>recruitment, Selection, training, promotion, retirement and termination.</a:t>
            </a:r>
          </a:p>
          <a:p>
            <a:pPr marL="285750" indent="-285750" algn="just">
              <a:buFont typeface="Arial" panose="020B0604020202020204" pitchFamily="34" charset="0"/>
              <a:buChar char="•"/>
            </a:pPr>
            <a:r>
              <a:rPr lang="en-US" sz="2800" dirty="0"/>
              <a:t>Reward Systems are designed to motivate employees that include pay </a:t>
            </a:r>
            <a:r>
              <a:rPr lang="en-US" sz="2800" dirty="0">
                <a:solidFill>
                  <a:srgbClr val="FF0000"/>
                </a:solidFill>
              </a:rPr>
              <a:t>systems, incentive and bonus</a:t>
            </a:r>
            <a:r>
              <a:rPr lang="en-US" sz="2800" dirty="0"/>
              <a:t>.</a:t>
            </a:r>
          </a:p>
          <a:p>
            <a:pPr marL="285750" indent="-285750" algn="just">
              <a:buFont typeface="Arial" panose="020B0604020202020204" pitchFamily="34" charset="0"/>
              <a:buChar char="•"/>
            </a:pPr>
            <a:r>
              <a:rPr lang="en-US" sz="2800" dirty="0"/>
              <a:t>Employee influence incorporate the level of </a:t>
            </a:r>
            <a:r>
              <a:rPr lang="en-US" sz="2800" dirty="0">
                <a:solidFill>
                  <a:srgbClr val="FF0000"/>
                </a:solidFill>
              </a:rPr>
              <a:t>authority and associated responsibility</a:t>
            </a:r>
          </a:p>
          <a:p>
            <a:pPr marL="285750" indent="-285750" algn="just">
              <a:buFont typeface="Arial" panose="020B0604020202020204" pitchFamily="34" charset="0"/>
              <a:buChar char="•"/>
            </a:pPr>
            <a:r>
              <a:rPr lang="en-US" sz="2800" dirty="0"/>
              <a:t>Work system is integrating all these function together so that they can executed in a flow and run like a system.</a:t>
            </a:r>
          </a:p>
        </p:txBody>
      </p:sp>
    </p:spTree>
    <p:extLst>
      <p:ext uri="{BB962C8B-B14F-4D97-AF65-F5344CB8AC3E}">
        <p14:creationId xmlns:p14="http://schemas.microsoft.com/office/powerpoint/2010/main" val="15898815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8760" y="470647"/>
            <a:ext cx="11124687" cy="5822576"/>
          </a:xfrm>
          <a:prstGeom prst="rect">
            <a:avLst/>
          </a:prstGeom>
        </p:spPr>
      </p:pic>
    </p:spTree>
    <p:extLst>
      <p:ext uri="{BB962C8B-B14F-4D97-AF65-F5344CB8AC3E}">
        <p14:creationId xmlns:p14="http://schemas.microsoft.com/office/powerpoint/2010/main" val="4749825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6518" y="403412"/>
            <a:ext cx="10972800" cy="2677656"/>
          </a:xfrm>
          <a:prstGeom prst="rect">
            <a:avLst/>
          </a:prstGeom>
        </p:spPr>
        <p:txBody>
          <a:bodyPr wrap="square">
            <a:spAutoFit/>
          </a:bodyPr>
          <a:lstStyle/>
          <a:p>
            <a:r>
              <a:rPr lang="en-US" sz="2800" b="1" dirty="0"/>
              <a:t>WarWick Model</a:t>
            </a:r>
          </a:p>
          <a:p>
            <a:pPr marL="457200" indent="-457200">
              <a:buFont typeface="Arial" panose="020B0604020202020204" pitchFamily="34" charset="0"/>
              <a:buChar char="•"/>
            </a:pPr>
            <a:r>
              <a:rPr lang="en-US" sz="2800" dirty="0"/>
              <a:t>The Warwick HRM Model was constructed by the researchers Chris </a:t>
            </a:r>
            <a:r>
              <a:rPr lang="en-US" sz="2800" dirty="0">
                <a:solidFill>
                  <a:srgbClr val="FF0000"/>
                </a:solidFill>
              </a:rPr>
              <a:t>Hendry and Andrew M. Pettigrew </a:t>
            </a:r>
            <a:r>
              <a:rPr lang="en-US" sz="2800" dirty="0"/>
              <a:t>at the University of Warwick in the early 1990s.</a:t>
            </a:r>
          </a:p>
          <a:p>
            <a:pPr marL="457200" indent="-457200">
              <a:buFont typeface="Arial" panose="020B0604020202020204" pitchFamily="34" charset="0"/>
              <a:buChar char="•"/>
            </a:pPr>
            <a:r>
              <a:rPr lang="en-US" sz="2800" dirty="0"/>
              <a:t>Developed from the Harvard Model, this HRM framework represents an analytical approach to HRM.</a:t>
            </a:r>
          </a:p>
        </p:txBody>
      </p:sp>
    </p:spTree>
    <p:extLst>
      <p:ext uri="{BB962C8B-B14F-4D97-AF65-F5344CB8AC3E}">
        <p14:creationId xmlns:p14="http://schemas.microsoft.com/office/powerpoint/2010/main" val="41882945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FDB14-177B-1A15-288C-C231498071BA}"/>
              </a:ext>
            </a:extLst>
          </p:cNvPr>
          <p:cNvSpPr>
            <a:spLocks noGrp="1"/>
          </p:cNvSpPr>
          <p:nvPr>
            <p:ph type="title"/>
          </p:nvPr>
        </p:nvSpPr>
        <p:spPr>
          <a:xfrm>
            <a:off x="838200" y="178312"/>
            <a:ext cx="10515600" cy="696759"/>
          </a:xfrm>
        </p:spPr>
        <p:txBody>
          <a:bodyPr/>
          <a:lstStyle/>
          <a:p>
            <a:pPr algn="ctr"/>
            <a:r>
              <a:rPr lang="en-US" b="1" dirty="0">
                <a:solidFill>
                  <a:srgbClr val="FF0000"/>
                </a:solidFill>
              </a:rPr>
              <a:t>Warwick Model</a:t>
            </a:r>
            <a:endParaRPr lang="en-IN" dirty="0"/>
          </a:p>
        </p:txBody>
      </p:sp>
      <p:pic>
        <p:nvPicPr>
          <p:cNvPr id="5" name="Content Placeholder 4">
            <a:extLst>
              <a:ext uri="{FF2B5EF4-FFF2-40B4-BE49-F238E27FC236}">
                <a16:creationId xmlns:a16="http://schemas.microsoft.com/office/drawing/2014/main" id="{A58DB770-A11B-E9B1-CF93-717BF60EC32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31923" y="1278194"/>
            <a:ext cx="8062451" cy="5161935"/>
          </a:xfrm>
          <a:prstGeom prst="rect">
            <a:avLst/>
          </a:prstGeom>
        </p:spPr>
      </p:pic>
    </p:spTree>
    <p:extLst>
      <p:ext uri="{BB962C8B-B14F-4D97-AF65-F5344CB8AC3E}">
        <p14:creationId xmlns:p14="http://schemas.microsoft.com/office/powerpoint/2010/main" val="27483373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9F7444-A6B7-0910-85A6-7DEA5EDD98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3447"/>
            <a:ext cx="12192000" cy="6858000"/>
          </a:xfrm>
          <a:prstGeom prst="rect">
            <a:avLst/>
          </a:prstGeom>
        </p:spPr>
      </p:pic>
    </p:spTree>
    <p:extLst>
      <p:ext uri="{BB962C8B-B14F-4D97-AF65-F5344CB8AC3E}">
        <p14:creationId xmlns:p14="http://schemas.microsoft.com/office/powerpoint/2010/main" val="33063322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9283" y="443753"/>
            <a:ext cx="11376212" cy="4401205"/>
          </a:xfrm>
          <a:prstGeom prst="rect">
            <a:avLst/>
          </a:prstGeom>
        </p:spPr>
        <p:txBody>
          <a:bodyPr wrap="square">
            <a:spAutoFit/>
          </a:bodyPr>
          <a:lstStyle/>
          <a:p>
            <a:pPr algn="just"/>
            <a:r>
              <a:rPr lang="en-US" sz="2800" dirty="0"/>
              <a:t>5 P Model</a:t>
            </a:r>
          </a:p>
          <a:p>
            <a:pPr marL="457200" indent="-457200" algn="just">
              <a:buFont typeface="Wingdings" panose="05000000000000000000" pitchFamily="2" charset="2"/>
              <a:buChar char="§"/>
            </a:pPr>
            <a:r>
              <a:rPr lang="en-US" sz="2800" dirty="0"/>
              <a:t>The 5P's HRM Model is a form of strategic HRM developed in 1992 by Randall S. Schuler, a praised scholar.</a:t>
            </a:r>
          </a:p>
          <a:p>
            <a:pPr marL="457200" indent="-457200" algn="just">
              <a:buFont typeface="Wingdings" panose="05000000000000000000" pitchFamily="2" charset="2"/>
              <a:buChar char="§"/>
            </a:pPr>
            <a:r>
              <a:rPr lang="en-US" sz="2800" dirty="0"/>
              <a:t>Dedicated to the matters of global HRM, strategic HRM, the function of HRM in organizations and the interface of business strategy and human resource management.</a:t>
            </a:r>
          </a:p>
          <a:p>
            <a:pPr marL="457200" indent="-457200" algn="just">
              <a:buFont typeface="Wingdings" panose="05000000000000000000" pitchFamily="2" charset="2"/>
              <a:buChar char="§"/>
            </a:pPr>
            <a:r>
              <a:rPr lang="en-US" sz="2800" dirty="0"/>
              <a:t>As its name suggests, The 5P's Model is based on five constitutional aspects: </a:t>
            </a:r>
            <a:r>
              <a:rPr lang="en-US" sz="2800" dirty="0">
                <a:solidFill>
                  <a:srgbClr val="FF0000"/>
                </a:solidFill>
              </a:rPr>
              <a:t>purpose, principles, processes, people, and performance</a:t>
            </a:r>
            <a:r>
              <a:rPr lang="en-US" sz="2800" dirty="0"/>
              <a:t>.</a:t>
            </a:r>
          </a:p>
          <a:p>
            <a:pPr marL="457200" indent="-457200" algn="just">
              <a:buFont typeface="Wingdings" panose="05000000000000000000" pitchFamily="2" charset="2"/>
              <a:buChar char="§"/>
            </a:pPr>
            <a:r>
              <a:rPr lang="en-US" sz="2800" dirty="0"/>
              <a:t>According to this framework, aligning and balancing these five principles leads to achieving company success.</a:t>
            </a:r>
          </a:p>
        </p:txBody>
      </p:sp>
    </p:spTree>
    <p:extLst>
      <p:ext uri="{BB962C8B-B14F-4D97-AF65-F5344CB8AC3E}">
        <p14:creationId xmlns:p14="http://schemas.microsoft.com/office/powerpoint/2010/main" val="35793011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E1676-83AB-B35C-9D13-6007E3042F10}"/>
              </a:ext>
            </a:extLst>
          </p:cNvPr>
          <p:cNvSpPr>
            <a:spLocks noGrp="1"/>
          </p:cNvSpPr>
          <p:nvPr>
            <p:ph type="title"/>
          </p:nvPr>
        </p:nvSpPr>
        <p:spPr>
          <a:xfrm>
            <a:off x="838200" y="-116656"/>
            <a:ext cx="10515600" cy="1325563"/>
          </a:xfrm>
        </p:spPr>
        <p:txBody>
          <a:bodyPr>
            <a:normAutofit/>
          </a:bodyPr>
          <a:lstStyle/>
          <a:p>
            <a:r>
              <a:rPr lang="en-US" sz="4000" b="1" dirty="0">
                <a:solidFill>
                  <a:srgbClr val="FF0000"/>
                </a:solidFill>
              </a:rPr>
              <a:t>Factors Influence Human Resource Management</a:t>
            </a:r>
            <a:endParaRPr lang="en-IN" sz="4000" dirty="0"/>
          </a:p>
        </p:txBody>
      </p:sp>
      <p:sp>
        <p:nvSpPr>
          <p:cNvPr id="3" name="Content Placeholder 2">
            <a:extLst>
              <a:ext uri="{FF2B5EF4-FFF2-40B4-BE49-F238E27FC236}">
                <a16:creationId xmlns:a16="http://schemas.microsoft.com/office/drawing/2014/main" id="{A46547ED-1161-831B-09AC-534F21F39639}"/>
              </a:ext>
            </a:extLst>
          </p:cNvPr>
          <p:cNvSpPr>
            <a:spLocks noGrp="1"/>
          </p:cNvSpPr>
          <p:nvPr>
            <p:ph idx="1"/>
          </p:nvPr>
        </p:nvSpPr>
        <p:spPr>
          <a:xfrm>
            <a:off x="720213" y="1208906"/>
            <a:ext cx="10515600" cy="5280383"/>
          </a:xfrm>
        </p:spPr>
        <p:txBody>
          <a:bodyPr/>
          <a:lstStyle/>
          <a:p>
            <a:pPr marL="514350" indent="-514350">
              <a:buAutoNum type="arabicPeriod"/>
            </a:pPr>
            <a:r>
              <a:rPr lang="en-US" b="1" dirty="0"/>
              <a:t>External Factor</a:t>
            </a:r>
          </a:p>
          <a:p>
            <a:r>
              <a:rPr lang="en-US" dirty="0"/>
              <a:t>Economical Environment</a:t>
            </a:r>
          </a:p>
          <a:p>
            <a:r>
              <a:rPr lang="en-US" dirty="0"/>
              <a:t>Technological change</a:t>
            </a:r>
          </a:p>
          <a:p>
            <a:r>
              <a:rPr lang="en-US" dirty="0"/>
              <a:t>Political and Legal Environment</a:t>
            </a:r>
          </a:p>
          <a:p>
            <a:r>
              <a:rPr lang="en-US" dirty="0"/>
              <a:t>Social and Cultural factor</a:t>
            </a:r>
          </a:p>
          <a:p>
            <a:pPr marL="0" indent="0">
              <a:buNone/>
            </a:pPr>
            <a:r>
              <a:rPr lang="en-US" b="1" dirty="0"/>
              <a:t>2. Internal Factor</a:t>
            </a:r>
          </a:p>
          <a:p>
            <a:r>
              <a:rPr lang="en-US" dirty="0"/>
              <a:t>Organizational goals and objective </a:t>
            </a:r>
          </a:p>
          <a:p>
            <a:r>
              <a:rPr lang="en-US" dirty="0"/>
              <a:t>Organizational structure </a:t>
            </a:r>
          </a:p>
          <a:p>
            <a:r>
              <a:rPr lang="en-IN" dirty="0"/>
              <a:t>Size of the organization </a:t>
            </a:r>
          </a:p>
          <a:p>
            <a:r>
              <a:rPr lang="en-IN" dirty="0"/>
              <a:t>Financial Resources</a:t>
            </a:r>
            <a:endParaRPr lang="en-US" dirty="0"/>
          </a:p>
        </p:txBody>
      </p:sp>
    </p:spTree>
    <p:extLst>
      <p:ext uri="{BB962C8B-B14F-4D97-AF65-F5344CB8AC3E}">
        <p14:creationId xmlns:p14="http://schemas.microsoft.com/office/powerpoint/2010/main" val="32540696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0BDC1-89DB-C149-3201-4CFFD498FD76}"/>
              </a:ext>
            </a:extLst>
          </p:cNvPr>
          <p:cNvSpPr>
            <a:spLocks noGrp="1"/>
          </p:cNvSpPr>
          <p:nvPr>
            <p:ph type="title"/>
          </p:nvPr>
        </p:nvSpPr>
        <p:spPr/>
        <p:txBody>
          <a:bodyPr/>
          <a:lstStyle/>
          <a:p>
            <a:r>
              <a:rPr lang="en-US" b="1" dirty="0">
                <a:solidFill>
                  <a:srgbClr val="FF0000"/>
                </a:solidFill>
              </a:rPr>
              <a:t>The HR Competency</a:t>
            </a:r>
            <a:endParaRPr lang="en-IN" dirty="0"/>
          </a:p>
        </p:txBody>
      </p:sp>
      <p:sp>
        <p:nvSpPr>
          <p:cNvPr id="3" name="Content Placeholder 2">
            <a:extLst>
              <a:ext uri="{FF2B5EF4-FFF2-40B4-BE49-F238E27FC236}">
                <a16:creationId xmlns:a16="http://schemas.microsoft.com/office/drawing/2014/main" id="{65B00FF8-08B1-426C-0562-D5D0CAC7F69C}"/>
              </a:ext>
            </a:extLst>
          </p:cNvPr>
          <p:cNvSpPr>
            <a:spLocks noGrp="1"/>
          </p:cNvSpPr>
          <p:nvPr>
            <p:ph idx="1"/>
          </p:nvPr>
        </p:nvSpPr>
        <p:spPr/>
        <p:txBody>
          <a:bodyPr/>
          <a:lstStyle/>
          <a:p>
            <a:r>
              <a:rPr lang="en-US" dirty="0"/>
              <a:t>Technical competency</a:t>
            </a:r>
          </a:p>
          <a:p>
            <a:r>
              <a:rPr lang="en-US" dirty="0"/>
              <a:t>Behavioral competency</a:t>
            </a:r>
          </a:p>
          <a:p>
            <a:r>
              <a:rPr lang="en-US" dirty="0"/>
              <a:t>Business competency</a:t>
            </a:r>
          </a:p>
          <a:p>
            <a:r>
              <a:rPr lang="en-US" dirty="0"/>
              <a:t>Strategic competency</a:t>
            </a:r>
          </a:p>
          <a:p>
            <a:r>
              <a:rPr lang="en-US" dirty="0"/>
              <a:t>Ethical competency</a:t>
            </a:r>
          </a:p>
          <a:p>
            <a:r>
              <a:rPr lang="en-US" dirty="0"/>
              <a:t>Change management competency</a:t>
            </a:r>
          </a:p>
          <a:p>
            <a:endParaRPr lang="en-IN" dirty="0"/>
          </a:p>
        </p:txBody>
      </p:sp>
    </p:spTree>
    <p:extLst>
      <p:ext uri="{BB962C8B-B14F-4D97-AF65-F5344CB8AC3E}">
        <p14:creationId xmlns:p14="http://schemas.microsoft.com/office/powerpoint/2010/main" val="42689665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1497</TotalTime>
  <Words>1118</Words>
  <Application>Microsoft Office PowerPoint</Application>
  <PresentationFormat>Widescreen</PresentationFormat>
  <Paragraphs>169</Paragraphs>
  <Slides>26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Wingdings</vt:lpstr>
      <vt:lpstr>Office Theme</vt:lpstr>
      <vt:lpstr>Human Resource Management</vt:lpstr>
      <vt:lpstr>Definition</vt:lpstr>
      <vt:lpstr>Definition</vt:lpstr>
      <vt:lpstr>Nature of HRM</vt:lpstr>
      <vt:lpstr>PowerPoint Presentation</vt:lpstr>
      <vt:lpstr>Scope of HRM</vt:lpstr>
      <vt:lpstr>Importance of HRM</vt:lpstr>
      <vt:lpstr>Evolution Of HRM</vt:lpstr>
      <vt:lpstr>PowerPoint Presentation</vt:lpstr>
      <vt:lpstr>Functions of HRM</vt:lpstr>
      <vt:lpstr>Principles of HRM</vt:lpstr>
      <vt:lpstr>HRM v/s Personnel Management</vt:lpstr>
      <vt:lpstr>HRM in India </vt:lpstr>
      <vt:lpstr>Objectives of HRM Models?</vt:lpstr>
      <vt:lpstr>Model Of HRM</vt:lpstr>
      <vt:lpstr>Fombrun, Tichy and Devanna model</vt:lpstr>
      <vt:lpstr>Harvard Model</vt:lpstr>
      <vt:lpstr>PowerPoint Presentation</vt:lpstr>
      <vt:lpstr>PowerPoint Presentation</vt:lpstr>
      <vt:lpstr>PowerPoint Presentation</vt:lpstr>
      <vt:lpstr>PowerPoint Presentation</vt:lpstr>
      <vt:lpstr>Warwick Model</vt:lpstr>
      <vt:lpstr>PowerPoint Presentation</vt:lpstr>
      <vt:lpstr>PowerPoint Presentation</vt:lpstr>
      <vt:lpstr>Factors Influence Human Resource Management</vt:lpstr>
      <vt:lpstr>The HR Competency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 Management</dc:title>
  <dc:creator>Mahesh Ganagi</dc:creator>
  <cp:lastModifiedBy>hp</cp:lastModifiedBy>
  <cp:revision>52</cp:revision>
  <dcterms:created xsi:type="dcterms:W3CDTF">2025-05-21T03:54:32Z</dcterms:created>
  <dcterms:modified xsi:type="dcterms:W3CDTF">2026-05-10T05:10:48Z</dcterms:modified>
</cp:coreProperties>
</file>