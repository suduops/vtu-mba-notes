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67" r:id="rId14"/>
    <p:sldId id="277" r:id="rId15"/>
    <p:sldId id="278" r:id="rId16"/>
    <p:sldId id="275" r:id="rId17"/>
    <p:sldId id="279" r:id="rId18"/>
    <p:sldId id="268" r:id="rId19"/>
    <p:sldId id="269" r:id="rId20"/>
    <p:sldId id="270" r:id="rId21"/>
    <p:sldId id="271" r:id="rId22"/>
    <p:sldId id="272" r:id="rId23"/>
    <p:sldId id="273" r:id="rId24"/>
    <p:sldId id="274"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28BA-6B0A-C85C-E16F-F556CE3E4A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48E885-1C17-67D2-0987-B214415D5A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70FB73-4E00-BB44-25CA-0759C9800F8E}"/>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5" name="Footer Placeholder 4">
            <a:extLst>
              <a:ext uri="{FF2B5EF4-FFF2-40B4-BE49-F238E27FC236}">
                <a16:creationId xmlns:a16="http://schemas.microsoft.com/office/drawing/2014/main" id="{123186F1-0A1B-499F-0E3B-143ACC1757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2F2DC3-37B5-AAB0-EDD1-51669217AD78}"/>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204386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F48F-49E9-F057-23A9-704EFE9137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E8F2F4-A4D2-9639-DF88-A94707FAE8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E01789-9B28-9818-617E-9E48726C3DFC}"/>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5" name="Footer Placeholder 4">
            <a:extLst>
              <a:ext uri="{FF2B5EF4-FFF2-40B4-BE49-F238E27FC236}">
                <a16:creationId xmlns:a16="http://schemas.microsoft.com/office/drawing/2014/main" id="{827C67BB-579B-B4C2-1874-692079B10A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0D34DE-5773-DC51-6ADB-BE8AE53EDC37}"/>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1441766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FDAA6-5509-D7ED-F7D4-61DF56165F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8E0473-D64D-FC52-99A7-4DDB00CAE2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456F7C-B390-7AA7-6CCA-3AFF5F3AF938}"/>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5" name="Footer Placeholder 4">
            <a:extLst>
              <a:ext uri="{FF2B5EF4-FFF2-40B4-BE49-F238E27FC236}">
                <a16:creationId xmlns:a16="http://schemas.microsoft.com/office/drawing/2014/main" id="{3A1609B4-F9FB-9B3E-3119-528741146A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360747-EA90-6954-253D-AF36A3B73BBD}"/>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107223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4CDD-A078-F3B6-C574-F7131E5739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A94572-29B3-447E-F118-F1D5EBE139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B1D88D-DD8C-AA98-3A24-97AD014E8C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480E21-EE2E-E399-DFE2-90E48F568C41}"/>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6" name="Footer Placeholder 5">
            <a:extLst>
              <a:ext uri="{FF2B5EF4-FFF2-40B4-BE49-F238E27FC236}">
                <a16:creationId xmlns:a16="http://schemas.microsoft.com/office/drawing/2014/main" id="{3A27FEB8-7FDC-71E1-D842-C866994AA2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CE588-E58D-05B7-C306-504084C4BB90}"/>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1842557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ED31-A1B1-0EEF-FE19-5FB71B24AF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8B8503-1575-A7DA-5F73-44B0E7C841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3BC2A-15B0-D7A6-032E-900C9B4FCC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A3B0EA-4E83-FC5B-4B92-FB047A536C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2EABC7-1E28-D7E3-A466-BE45090EC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779E16-7EEA-459F-6057-41DA87CB7A7C}"/>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8" name="Footer Placeholder 7">
            <a:extLst>
              <a:ext uri="{FF2B5EF4-FFF2-40B4-BE49-F238E27FC236}">
                <a16:creationId xmlns:a16="http://schemas.microsoft.com/office/drawing/2014/main" id="{922045A6-C1B9-DD54-A245-118E451B48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11F706-368F-2874-7464-E5E5D0229981}"/>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245067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77831-5C38-A879-DA06-868E56CF7A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0A1A35-EBD5-ABB1-71FB-927A446337EF}"/>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4" name="Footer Placeholder 3">
            <a:extLst>
              <a:ext uri="{FF2B5EF4-FFF2-40B4-BE49-F238E27FC236}">
                <a16:creationId xmlns:a16="http://schemas.microsoft.com/office/drawing/2014/main" id="{EDEC6D38-45BA-4A76-85CA-8B95AB2ACC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594FD8-0487-5D26-7A2D-878FE3973DCE}"/>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1670987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E85406-0977-1F88-2E54-9CC554E58850}"/>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3" name="Footer Placeholder 2">
            <a:extLst>
              <a:ext uri="{FF2B5EF4-FFF2-40B4-BE49-F238E27FC236}">
                <a16:creationId xmlns:a16="http://schemas.microsoft.com/office/drawing/2014/main" id="{E2A1682D-686D-7A17-12A9-86990901830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629538-B22B-AD92-701F-83120775E50E}"/>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1728710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96183-C005-D7B3-1DA6-0DCDB9FBB3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BEA30F-1E01-8C81-48CD-4D4493DD29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EA52E32-B4AB-917A-1637-51732CCC0E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44527-728D-39BB-A4B9-4CB685102CBF}"/>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6" name="Footer Placeholder 5">
            <a:extLst>
              <a:ext uri="{FF2B5EF4-FFF2-40B4-BE49-F238E27FC236}">
                <a16:creationId xmlns:a16="http://schemas.microsoft.com/office/drawing/2014/main" id="{580521A8-AEB6-C08C-F497-8D8B7DA93D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60688D-E147-1DF5-40C8-775516E05B5E}"/>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3313140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356A-BB03-BC05-C253-3B82EC1F36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A4B5C8-A5F0-79C5-EF8B-214D6DA602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F465A6-C503-50B8-8FA2-379211297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544EA5-4271-43D9-8F34-A58DAFCBDD68}"/>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6" name="Footer Placeholder 5">
            <a:extLst>
              <a:ext uri="{FF2B5EF4-FFF2-40B4-BE49-F238E27FC236}">
                <a16:creationId xmlns:a16="http://schemas.microsoft.com/office/drawing/2014/main" id="{773A8C6C-446F-36E6-2013-59710AEA85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693A7C-0080-7C43-5B8B-E8F24642E78B}"/>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383405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9AA5-B87F-1611-C7F3-33BCDC5332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623E1F-4DDF-9076-EACE-1712504A1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83EB18-9948-12B3-847A-56BCD05AA498}"/>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5" name="Footer Placeholder 4">
            <a:extLst>
              <a:ext uri="{FF2B5EF4-FFF2-40B4-BE49-F238E27FC236}">
                <a16:creationId xmlns:a16="http://schemas.microsoft.com/office/drawing/2014/main" id="{09344AB7-1141-93D8-B751-D82778C124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F91DA0-5CD2-85DA-54FD-376DC571F554}"/>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138739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01A446-F2FC-C779-CEA6-37B4BFB1DC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9BBC08-4F40-CF25-3D2C-4110BC425F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A7C07E-14A0-8133-A6AD-24BAE8686C11}"/>
              </a:ext>
            </a:extLst>
          </p:cNvPr>
          <p:cNvSpPr>
            <a:spLocks noGrp="1"/>
          </p:cNvSpPr>
          <p:nvPr>
            <p:ph type="dt" sz="half" idx="10"/>
          </p:nvPr>
        </p:nvSpPr>
        <p:spPr/>
        <p:txBody>
          <a:bodyPr/>
          <a:lstStyle/>
          <a:p>
            <a:fld id="{0FFB93C8-A202-424A-B39A-A518788301E0}" type="datetimeFigureOut">
              <a:rPr lang="en-IN" smtClean="0"/>
              <a:t>04-05-2026</a:t>
            </a:fld>
            <a:endParaRPr lang="en-IN"/>
          </a:p>
        </p:txBody>
      </p:sp>
      <p:sp>
        <p:nvSpPr>
          <p:cNvPr id="5" name="Footer Placeholder 4">
            <a:extLst>
              <a:ext uri="{FF2B5EF4-FFF2-40B4-BE49-F238E27FC236}">
                <a16:creationId xmlns:a16="http://schemas.microsoft.com/office/drawing/2014/main" id="{5FCDD33C-D7AF-49D8-D3DA-D448D8117E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D3F37E-E6A3-34D7-03D7-D7E80C5397E6}"/>
              </a:ext>
            </a:extLst>
          </p:cNvPr>
          <p:cNvSpPr>
            <a:spLocks noGrp="1"/>
          </p:cNvSpPr>
          <p:nvPr>
            <p:ph type="sldNum" sz="quarter" idx="12"/>
          </p:nvPr>
        </p:nvSpPr>
        <p:spPr/>
        <p:txBody>
          <a:bodyPr/>
          <a:lstStyle/>
          <a:p>
            <a:fld id="{C58ADDC4-0E89-4892-BEFF-851D8472AF86}" type="slidenum">
              <a:rPr lang="en-IN" smtClean="0"/>
              <a:t>‹#›</a:t>
            </a:fld>
            <a:endParaRPr lang="en-IN"/>
          </a:p>
        </p:txBody>
      </p:sp>
    </p:spTree>
    <p:extLst>
      <p:ext uri="{BB962C8B-B14F-4D97-AF65-F5344CB8AC3E}">
        <p14:creationId xmlns:p14="http://schemas.microsoft.com/office/powerpoint/2010/main" val="4181663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99DDE2-01C6-677D-3492-5AAFC97892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E980B8-91D9-B829-3FF5-553C9F4F10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F4C3A1-CEF0-0BE8-198B-B7CB0202B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B93C8-A202-424A-B39A-A518788301E0}" type="datetimeFigureOut">
              <a:rPr lang="en-IN" smtClean="0"/>
              <a:t>04-05-2026</a:t>
            </a:fld>
            <a:endParaRPr lang="en-IN"/>
          </a:p>
        </p:txBody>
      </p:sp>
      <p:sp>
        <p:nvSpPr>
          <p:cNvPr id="5" name="Footer Placeholder 4">
            <a:extLst>
              <a:ext uri="{FF2B5EF4-FFF2-40B4-BE49-F238E27FC236}">
                <a16:creationId xmlns:a16="http://schemas.microsoft.com/office/drawing/2014/main" id="{6268712D-29BF-1763-C932-32620CD59A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52344F-1658-8F3B-BED0-E5EADD4E0F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8ADDC4-0E89-4892-BEFF-851D8472AF86}" type="slidenum">
              <a:rPr lang="en-IN" smtClean="0"/>
              <a:t>‹#›</a:t>
            </a:fld>
            <a:endParaRPr lang="en-IN"/>
          </a:p>
        </p:txBody>
      </p:sp>
    </p:spTree>
    <p:extLst>
      <p:ext uri="{BB962C8B-B14F-4D97-AF65-F5344CB8AC3E}">
        <p14:creationId xmlns:p14="http://schemas.microsoft.com/office/powerpoint/2010/main" val="1780100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7BBB-E9F7-FB72-349B-BDA6C7BDB6CB}"/>
              </a:ext>
            </a:extLst>
          </p:cNvPr>
          <p:cNvSpPr>
            <a:spLocks noGrp="1"/>
          </p:cNvSpPr>
          <p:nvPr>
            <p:ph type="title"/>
          </p:nvPr>
        </p:nvSpPr>
        <p:spPr>
          <a:xfrm>
            <a:off x="184935" y="149371"/>
            <a:ext cx="11856377" cy="1325563"/>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Introduction to Financial Management</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40FDBB-9008-A225-DF82-C49A2A6CCF76}"/>
              </a:ext>
            </a:extLst>
          </p:cNvPr>
          <p:cNvSpPr>
            <a:spLocks noGrp="1"/>
          </p:cNvSpPr>
          <p:nvPr>
            <p:ph idx="1"/>
          </p:nvPr>
        </p:nvSpPr>
        <p:spPr>
          <a:xfrm>
            <a:off x="113016" y="1825625"/>
            <a:ext cx="11856376" cy="4883004"/>
          </a:xfrm>
        </p:spPr>
        <p:txBody>
          <a:bodyPr>
            <a:norm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Financial management is mainly concerned with the proper management of funds. The finance manager must see that funds are procured in such a manner that risk, cost and control considerations are properly balanced and there is optimum utilization of funds.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72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DBA3E-E359-A3E3-CDDD-FD814D445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90D7D-11D1-AD95-5443-E893005C0995}"/>
              </a:ext>
            </a:extLst>
          </p:cNvPr>
          <p:cNvSpPr>
            <a:spLocks noGrp="1"/>
          </p:cNvSpPr>
          <p:nvPr>
            <p:ph type="title"/>
          </p:nvPr>
        </p:nvSpPr>
        <p:spPr>
          <a:xfrm>
            <a:off x="184935" y="149371"/>
            <a:ext cx="11856377" cy="1325563"/>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Introduction to Financial Management</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CF4E20-ACDF-A9A4-CBA6-258147A73F55}"/>
              </a:ext>
            </a:extLst>
          </p:cNvPr>
          <p:cNvSpPr>
            <a:spLocks noGrp="1"/>
          </p:cNvSpPr>
          <p:nvPr>
            <p:ph idx="1"/>
          </p:nvPr>
        </p:nvSpPr>
        <p:spPr>
          <a:xfrm>
            <a:off x="113016" y="1474934"/>
            <a:ext cx="11856376" cy="5233695"/>
          </a:xfrm>
        </p:spPr>
        <p:txBody>
          <a:bodyPr>
            <a:normAutofit/>
          </a:bodyPr>
          <a:lstStyle/>
          <a:p>
            <a:pPr marL="0" indent="0" algn="just">
              <a:lnSpc>
                <a:spcPct val="100000"/>
              </a:lnSpc>
              <a:buNone/>
            </a:pPr>
            <a:r>
              <a:rPr lang="en-US" sz="3600" b="1" dirty="0">
                <a:latin typeface="Times New Roman" panose="02020603050405020304" pitchFamily="18" charset="0"/>
                <a:cs typeface="Times New Roman" panose="02020603050405020304" pitchFamily="18" charset="0"/>
              </a:rPr>
              <a:t>According to Solomon : </a:t>
            </a:r>
          </a:p>
          <a:p>
            <a:pPr marL="0" indent="0" algn="just">
              <a:lnSpc>
                <a:spcPct val="100000"/>
              </a:lnSpc>
              <a:buNone/>
            </a:pPr>
            <a:r>
              <a:rPr lang="en-US" sz="3600" dirty="0">
                <a:latin typeface="Times New Roman" panose="02020603050405020304" pitchFamily="18" charset="0"/>
                <a:cs typeface="Times New Roman" panose="02020603050405020304" pitchFamily="18" charset="0"/>
              </a:rPr>
              <a:t>	“Financial management is concerned with the efficient use of economic resources”. </a:t>
            </a:r>
          </a:p>
          <a:p>
            <a:pPr marL="0" indent="0" algn="just">
              <a:lnSpc>
                <a:spcPct val="100000"/>
              </a:lnSpc>
              <a:buNone/>
            </a:pPr>
            <a:r>
              <a:rPr lang="en-US" sz="3600" b="1" dirty="0">
                <a:latin typeface="Times New Roman" panose="02020603050405020304" pitchFamily="18" charset="0"/>
                <a:cs typeface="Times New Roman" panose="02020603050405020304" pitchFamily="18" charset="0"/>
              </a:rPr>
              <a:t>According to </a:t>
            </a:r>
            <a:r>
              <a:rPr lang="en-US" sz="3600" b="1" dirty="0" err="1">
                <a:latin typeface="Times New Roman" panose="02020603050405020304" pitchFamily="18" charset="0"/>
                <a:cs typeface="Times New Roman" panose="02020603050405020304" pitchFamily="18" charset="0"/>
              </a:rPr>
              <a:t>Phillippatus</a:t>
            </a:r>
            <a:r>
              <a:rPr lang="en-US" sz="3600" b="1" dirty="0">
                <a:latin typeface="Times New Roman" panose="02020603050405020304" pitchFamily="18" charset="0"/>
                <a:cs typeface="Times New Roman" panose="02020603050405020304" pitchFamily="18" charset="0"/>
              </a:rPr>
              <a:t>: </a:t>
            </a:r>
          </a:p>
          <a:p>
            <a:pPr marL="0" indent="0" algn="just">
              <a:lnSpc>
                <a:spcPct val="100000"/>
              </a:lnSpc>
              <a:buNone/>
            </a:pPr>
            <a:r>
              <a:rPr lang="en-US" sz="3600" dirty="0">
                <a:latin typeface="Times New Roman" panose="02020603050405020304" pitchFamily="18" charset="0"/>
                <a:cs typeface="Times New Roman" panose="02020603050405020304" pitchFamily="18" charset="0"/>
              </a:rPr>
              <a:t>	“Financial management is concerned with management decision that result in acquisition and financing of long-term and short-term credits for the firm”.</a:t>
            </a:r>
          </a:p>
        </p:txBody>
      </p:sp>
    </p:spTree>
    <p:extLst>
      <p:ext uri="{BB962C8B-B14F-4D97-AF65-F5344CB8AC3E}">
        <p14:creationId xmlns:p14="http://schemas.microsoft.com/office/powerpoint/2010/main" val="28472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BD5EF-32E1-34AF-98A6-244758FF3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4BC82-6292-A0D5-00D2-A8715CA43F96}"/>
              </a:ext>
            </a:extLst>
          </p:cNvPr>
          <p:cNvSpPr>
            <a:spLocks noGrp="1"/>
          </p:cNvSpPr>
          <p:nvPr>
            <p:ph type="title"/>
          </p:nvPr>
        </p:nvSpPr>
        <p:spPr>
          <a:xfrm>
            <a:off x="184935" y="149371"/>
            <a:ext cx="11856377" cy="1325563"/>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Scope of Financial Management</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4CA816-8532-76D1-BBBB-365DE3DBE87A}"/>
              </a:ext>
            </a:extLst>
          </p:cNvPr>
          <p:cNvSpPr>
            <a:spLocks noGrp="1"/>
          </p:cNvSpPr>
          <p:nvPr>
            <p:ph idx="1"/>
          </p:nvPr>
        </p:nvSpPr>
        <p:spPr>
          <a:xfrm>
            <a:off x="113016" y="1474934"/>
            <a:ext cx="11856376" cy="5233695"/>
          </a:xfrm>
        </p:spPr>
        <p:txBody>
          <a:bodyPr>
            <a:normAutofit/>
          </a:bodyPr>
          <a:lstStyle/>
          <a:p>
            <a:pPr algn="just">
              <a:lnSpc>
                <a:spcPct val="100000"/>
              </a:lnSpc>
            </a:pPr>
            <a:r>
              <a:rPr lang="en-US" sz="3600" dirty="0">
                <a:latin typeface="Times New Roman" panose="02020603050405020304" pitchFamily="18" charset="0"/>
                <a:cs typeface="Times New Roman" panose="02020603050405020304" pitchFamily="18" charset="0"/>
              </a:rPr>
              <a:t>Estimating financial requirement </a:t>
            </a:r>
          </a:p>
          <a:p>
            <a:pPr algn="just">
              <a:lnSpc>
                <a:spcPct val="100000"/>
              </a:lnSpc>
            </a:pPr>
            <a:r>
              <a:rPr lang="en-US" sz="3600" dirty="0">
                <a:latin typeface="Times New Roman" panose="02020603050405020304" pitchFamily="18" charset="0"/>
                <a:cs typeface="Times New Roman" panose="02020603050405020304" pitchFamily="18" charset="0"/>
              </a:rPr>
              <a:t>Deciding capital structure </a:t>
            </a:r>
          </a:p>
          <a:p>
            <a:pPr algn="just">
              <a:lnSpc>
                <a:spcPct val="100000"/>
              </a:lnSpc>
            </a:pPr>
            <a:r>
              <a:rPr lang="en-US" sz="3600" dirty="0">
                <a:latin typeface="Times New Roman" panose="02020603050405020304" pitchFamily="18" charset="0"/>
                <a:cs typeface="Times New Roman" panose="02020603050405020304" pitchFamily="18" charset="0"/>
              </a:rPr>
              <a:t>Selecting a source of finance </a:t>
            </a:r>
          </a:p>
          <a:p>
            <a:pPr algn="just">
              <a:lnSpc>
                <a:spcPct val="100000"/>
              </a:lnSpc>
            </a:pPr>
            <a:r>
              <a:rPr lang="en-US" sz="3600" dirty="0">
                <a:latin typeface="Times New Roman" panose="02020603050405020304" pitchFamily="18" charset="0"/>
                <a:cs typeface="Times New Roman" panose="02020603050405020304" pitchFamily="18" charset="0"/>
              </a:rPr>
              <a:t>Selecting a pattern of Investment </a:t>
            </a:r>
          </a:p>
          <a:p>
            <a:pPr algn="just">
              <a:lnSpc>
                <a:spcPct val="100000"/>
              </a:lnSpc>
            </a:pPr>
            <a:r>
              <a:rPr lang="en-US" sz="3600" dirty="0">
                <a:latin typeface="Times New Roman" panose="02020603050405020304" pitchFamily="18" charset="0"/>
                <a:cs typeface="Times New Roman" panose="02020603050405020304" pitchFamily="18" charset="0"/>
              </a:rPr>
              <a:t>Proper cash management </a:t>
            </a:r>
          </a:p>
          <a:p>
            <a:pPr algn="just">
              <a:lnSpc>
                <a:spcPct val="100000"/>
              </a:lnSpc>
            </a:pPr>
            <a:r>
              <a:rPr lang="en-US" sz="3600" dirty="0">
                <a:latin typeface="Times New Roman" panose="02020603050405020304" pitchFamily="18" charset="0"/>
                <a:cs typeface="Times New Roman" panose="02020603050405020304" pitchFamily="18" charset="0"/>
              </a:rPr>
              <a:t>Implementing financial controls </a:t>
            </a:r>
          </a:p>
          <a:p>
            <a:pPr algn="just">
              <a:lnSpc>
                <a:spcPct val="100000"/>
              </a:lnSpc>
            </a:pPr>
            <a:r>
              <a:rPr lang="en-US" sz="3600" dirty="0">
                <a:latin typeface="Times New Roman" panose="02020603050405020304" pitchFamily="18" charset="0"/>
                <a:cs typeface="Times New Roman" panose="02020603050405020304" pitchFamily="18" charset="0"/>
              </a:rPr>
              <a:t>Proper use of surpluses.</a:t>
            </a:r>
          </a:p>
          <a:p>
            <a:pPr algn="just">
              <a:lnSpc>
                <a:spcPct val="100000"/>
              </a:lnSpc>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737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F0C9D-6088-93C3-E76A-E58E0C088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BAD74-FBC7-48D0-44FA-17CF358D40C6}"/>
              </a:ext>
            </a:extLst>
          </p:cNvPr>
          <p:cNvSpPr>
            <a:spLocks noGrp="1"/>
          </p:cNvSpPr>
          <p:nvPr>
            <p:ph type="title"/>
          </p:nvPr>
        </p:nvSpPr>
        <p:spPr>
          <a:xfrm>
            <a:off x="184935" y="15810"/>
            <a:ext cx="11856377" cy="960238"/>
          </a:xfrm>
        </p:spPr>
        <p:txBody>
          <a:bodyPr>
            <a:normAutofit fontScale="90000"/>
          </a:bodyPr>
          <a:lstStyle/>
          <a:p>
            <a:pPr algn="ctr"/>
            <a:r>
              <a:rPr lang="en-US" sz="4800" b="1" dirty="0">
                <a:solidFill>
                  <a:srgbClr val="C00000"/>
                </a:solidFill>
                <a:latin typeface="Times New Roman" panose="02020603050405020304" pitchFamily="18" charset="0"/>
                <a:cs typeface="Times New Roman" panose="02020603050405020304" pitchFamily="18" charset="0"/>
              </a:rPr>
              <a:t/>
            </a:r>
            <a:br>
              <a:rPr lang="en-US" sz="4800" b="1" dirty="0">
                <a:solidFill>
                  <a:srgbClr val="C00000"/>
                </a:solidFill>
                <a:latin typeface="Times New Roman" panose="02020603050405020304" pitchFamily="18" charset="0"/>
                <a:cs typeface="Times New Roman" panose="02020603050405020304" pitchFamily="18" charset="0"/>
              </a:rPr>
            </a:br>
            <a:r>
              <a:rPr lang="en-US" sz="4800" b="1" dirty="0">
                <a:solidFill>
                  <a:srgbClr val="C00000"/>
                </a:solidFill>
                <a:latin typeface="Times New Roman" panose="02020603050405020304" pitchFamily="18" charset="0"/>
                <a:cs typeface="Times New Roman" panose="02020603050405020304" pitchFamily="18" charset="0"/>
              </a:rPr>
              <a:t>Objectives of Financial Management </a:t>
            </a:r>
            <a:br>
              <a:rPr lang="en-US" sz="4800" b="1" dirty="0">
                <a:solidFill>
                  <a:srgbClr val="C00000"/>
                </a:solidFill>
                <a:latin typeface="Times New Roman" panose="02020603050405020304" pitchFamily="18" charset="0"/>
                <a:cs typeface="Times New Roman" panose="02020603050405020304" pitchFamily="18" charset="0"/>
              </a:rPr>
            </a:b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B93281-EB3C-EA3A-FB2B-64D56B4A73E7}"/>
              </a:ext>
            </a:extLst>
          </p:cNvPr>
          <p:cNvSpPr>
            <a:spLocks noGrp="1"/>
          </p:cNvSpPr>
          <p:nvPr>
            <p:ph idx="1"/>
          </p:nvPr>
        </p:nvSpPr>
        <p:spPr>
          <a:xfrm>
            <a:off x="113016" y="1089062"/>
            <a:ext cx="11856376" cy="5619568"/>
          </a:xfrm>
        </p:spPr>
        <p:txBody>
          <a:bodyPr>
            <a:normAutofit fontScale="92500" lnSpcReduction="20000"/>
          </a:bodyPr>
          <a:lstStyle/>
          <a:p>
            <a:pPr marL="0" indent="0" algn="just">
              <a:lnSpc>
                <a:spcPct val="100000"/>
              </a:lnSpc>
              <a:buNone/>
            </a:pPr>
            <a:r>
              <a:rPr lang="en-US" sz="3600" b="1" dirty="0">
                <a:latin typeface="Times New Roman" panose="02020603050405020304" pitchFamily="18" charset="0"/>
                <a:cs typeface="Times New Roman" panose="02020603050405020304" pitchFamily="18" charset="0"/>
              </a:rPr>
              <a:t>A)Basic Objectives:</a:t>
            </a:r>
          </a:p>
          <a:p>
            <a:pPr algn="just">
              <a:lnSpc>
                <a:spcPct val="100000"/>
              </a:lnSpc>
            </a:pPr>
            <a:r>
              <a:rPr lang="en-US" sz="3600" dirty="0">
                <a:latin typeface="Times New Roman" panose="02020603050405020304" pitchFamily="18" charset="0"/>
                <a:cs typeface="Times New Roman" panose="02020603050405020304" pitchFamily="18" charset="0"/>
              </a:rPr>
              <a:t>Profit Maximization </a:t>
            </a:r>
          </a:p>
          <a:p>
            <a:pPr algn="just">
              <a:lnSpc>
                <a:spcPct val="100000"/>
              </a:lnSpc>
            </a:pPr>
            <a:r>
              <a:rPr lang="en-US" sz="3600" dirty="0">
                <a:latin typeface="Times New Roman" panose="02020603050405020304" pitchFamily="18" charset="0"/>
                <a:cs typeface="Times New Roman" panose="02020603050405020304" pitchFamily="18" charset="0"/>
              </a:rPr>
              <a:t>Maintenance of liquid assets </a:t>
            </a:r>
          </a:p>
          <a:p>
            <a:pPr algn="just">
              <a:lnSpc>
                <a:spcPct val="100000"/>
              </a:lnSpc>
            </a:pPr>
            <a:r>
              <a:rPr lang="en-US" sz="3600" dirty="0">
                <a:latin typeface="Times New Roman" panose="02020603050405020304" pitchFamily="18" charset="0"/>
                <a:cs typeface="Times New Roman" panose="02020603050405020304" pitchFamily="18" charset="0"/>
              </a:rPr>
              <a:t>Wealth Maximization</a:t>
            </a:r>
          </a:p>
          <a:p>
            <a:pPr marL="0" indent="0" algn="just">
              <a:lnSpc>
                <a:spcPct val="100000"/>
              </a:lnSpc>
              <a:buNone/>
            </a:pPr>
            <a:r>
              <a:rPr lang="en-US" sz="3600" b="1" dirty="0">
                <a:latin typeface="Times New Roman" panose="02020603050405020304" pitchFamily="18" charset="0"/>
                <a:cs typeface="Times New Roman" panose="02020603050405020304" pitchFamily="18" charset="0"/>
              </a:rPr>
              <a:t>B) Other Objectives:</a:t>
            </a:r>
          </a:p>
          <a:p>
            <a:pPr algn="just">
              <a:lnSpc>
                <a:spcPct val="100000"/>
              </a:lnSpc>
            </a:pPr>
            <a:r>
              <a:rPr lang="en-US" sz="3600" dirty="0">
                <a:latin typeface="Times New Roman" panose="02020603050405020304" pitchFamily="18" charset="0"/>
                <a:cs typeface="Times New Roman" panose="02020603050405020304" pitchFamily="18" charset="0"/>
              </a:rPr>
              <a:t>Ensuring a fair return to shareholders </a:t>
            </a:r>
          </a:p>
          <a:p>
            <a:pPr algn="just">
              <a:lnSpc>
                <a:spcPct val="100000"/>
              </a:lnSpc>
            </a:pPr>
            <a:r>
              <a:rPr lang="en-US" sz="3600" dirty="0">
                <a:latin typeface="Times New Roman" panose="02020603050405020304" pitchFamily="18" charset="0"/>
                <a:cs typeface="Times New Roman" panose="02020603050405020304" pitchFamily="18" charset="0"/>
              </a:rPr>
              <a:t>Building up reserves for growth and expansion </a:t>
            </a:r>
          </a:p>
          <a:p>
            <a:pPr algn="just">
              <a:lnSpc>
                <a:spcPct val="100000"/>
              </a:lnSpc>
            </a:pPr>
            <a:r>
              <a:rPr lang="en-US" sz="3600" dirty="0">
                <a:latin typeface="Times New Roman" panose="02020603050405020304" pitchFamily="18" charset="0"/>
                <a:cs typeface="Times New Roman" panose="02020603050405020304" pitchFamily="18" charset="0"/>
              </a:rPr>
              <a:t>Ensuring maximum operational efficiency by efficient and effective utilization of finances.</a:t>
            </a:r>
          </a:p>
          <a:p>
            <a:pPr algn="just">
              <a:lnSpc>
                <a:spcPct val="100000"/>
              </a:lnSpc>
            </a:pPr>
            <a:r>
              <a:rPr lang="en-US" sz="3600" dirty="0">
                <a:latin typeface="Times New Roman" panose="02020603050405020304" pitchFamily="18" charset="0"/>
                <a:cs typeface="Times New Roman" panose="02020603050405020304" pitchFamily="18" charset="0"/>
              </a:rPr>
              <a:t>Ensuring financial discipline in the organization</a:t>
            </a:r>
          </a:p>
          <a:p>
            <a:pPr marL="0" indent="0" algn="just">
              <a:lnSpc>
                <a:spcPct val="100000"/>
              </a:lnSpc>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989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5D273-B7B6-798B-9F87-2D32792F1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3EAD6-4EA9-3A6C-FFB6-D036DEF2D87A}"/>
              </a:ext>
            </a:extLst>
          </p:cNvPr>
          <p:cNvSpPr>
            <a:spLocks noGrp="1"/>
          </p:cNvSpPr>
          <p:nvPr>
            <p:ph type="title"/>
          </p:nvPr>
        </p:nvSpPr>
        <p:spPr>
          <a:xfrm>
            <a:off x="184935" y="15810"/>
            <a:ext cx="11856377" cy="960238"/>
          </a:xfrm>
        </p:spPr>
        <p:txBody>
          <a:bodyPr>
            <a:normAutofit fontScale="90000"/>
          </a:bodyPr>
          <a:lstStyle/>
          <a:p>
            <a:pPr algn="ctr"/>
            <a:r>
              <a:rPr lang="en-US" sz="4800" b="1" dirty="0">
                <a:solidFill>
                  <a:srgbClr val="C00000"/>
                </a:solidFill>
                <a:latin typeface="Times New Roman" panose="02020603050405020304" pitchFamily="18" charset="0"/>
                <a:cs typeface="Times New Roman" panose="02020603050405020304" pitchFamily="18" charset="0"/>
              </a:rPr>
              <a:t/>
            </a:r>
            <a:br>
              <a:rPr lang="en-US" sz="4800" b="1" dirty="0">
                <a:solidFill>
                  <a:srgbClr val="C00000"/>
                </a:solidFill>
                <a:latin typeface="Times New Roman" panose="02020603050405020304" pitchFamily="18" charset="0"/>
                <a:cs typeface="Times New Roman" panose="02020603050405020304" pitchFamily="18" charset="0"/>
              </a:rPr>
            </a:br>
            <a:r>
              <a:rPr lang="en-US" sz="4800" b="1" dirty="0">
                <a:solidFill>
                  <a:srgbClr val="C00000"/>
                </a:solidFill>
                <a:latin typeface="Times New Roman" panose="02020603050405020304" pitchFamily="18" charset="0"/>
                <a:cs typeface="Times New Roman" panose="02020603050405020304" pitchFamily="18" charset="0"/>
              </a:rPr>
              <a:t>Objectives of Financial Management </a:t>
            </a:r>
            <a:br>
              <a:rPr lang="en-US" sz="4800" b="1" dirty="0">
                <a:solidFill>
                  <a:srgbClr val="C00000"/>
                </a:solidFill>
                <a:latin typeface="Times New Roman" panose="02020603050405020304" pitchFamily="18" charset="0"/>
                <a:cs typeface="Times New Roman" panose="02020603050405020304" pitchFamily="18" charset="0"/>
              </a:rPr>
            </a:b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972819-4AB3-2909-6D10-9BE5D37085AD}"/>
              </a:ext>
            </a:extLst>
          </p:cNvPr>
          <p:cNvSpPr>
            <a:spLocks noGrp="1"/>
          </p:cNvSpPr>
          <p:nvPr>
            <p:ph idx="1"/>
          </p:nvPr>
        </p:nvSpPr>
        <p:spPr>
          <a:xfrm>
            <a:off x="113016" y="1089062"/>
            <a:ext cx="11856376" cy="5619568"/>
          </a:xfrm>
        </p:spPr>
        <p:txBody>
          <a:bodyPr>
            <a:normAutofit/>
          </a:bodyPr>
          <a:lstStyle/>
          <a:p>
            <a:pPr marL="0" indent="0" algn="just">
              <a:buNone/>
            </a:pPr>
            <a:r>
              <a:rPr lang="en-IN" sz="4000" b="1" dirty="0">
                <a:latin typeface="Times New Roman" panose="02020603050405020304" pitchFamily="18" charset="0"/>
                <a:cs typeface="Times New Roman" panose="02020603050405020304" pitchFamily="18" charset="0"/>
              </a:rPr>
              <a:t>Features of Profit Maximization:</a:t>
            </a:r>
          </a:p>
          <a:p>
            <a:pPr marL="514350" indent="-514350" algn="just">
              <a:buAutoNum type="arabicPeriod"/>
            </a:pPr>
            <a:r>
              <a:rPr lang="en-IN" sz="4000" dirty="0">
                <a:latin typeface="Times New Roman" panose="02020603050405020304" pitchFamily="18" charset="0"/>
                <a:cs typeface="Times New Roman" panose="02020603050405020304" pitchFamily="18" charset="0"/>
              </a:rPr>
              <a:t>It is related to maximization of Earnings per Share.</a:t>
            </a:r>
          </a:p>
          <a:p>
            <a:pPr marL="514350" indent="-514350" algn="just">
              <a:buAutoNum type="arabicPeriod"/>
            </a:pPr>
            <a:r>
              <a:rPr lang="en-IN" sz="4000" dirty="0">
                <a:latin typeface="Times New Roman" panose="02020603050405020304" pitchFamily="18" charset="0"/>
                <a:cs typeface="Times New Roman" panose="02020603050405020304" pitchFamily="18" charset="0"/>
              </a:rPr>
              <a:t>Increase in profitability is the foremost concern of every business.</a:t>
            </a:r>
          </a:p>
          <a:p>
            <a:pPr marL="514350" indent="-514350" algn="just">
              <a:buAutoNum type="arabicPeriod"/>
            </a:pPr>
            <a:r>
              <a:rPr lang="en-IN" sz="4000" dirty="0">
                <a:latin typeface="Times New Roman" panose="02020603050405020304" pitchFamily="18" charset="0"/>
                <a:cs typeface="Times New Roman" panose="02020603050405020304" pitchFamily="18" charset="0"/>
              </a:rPr>
              <a:t>Profit is one of the bench marks of operational efficiency.</a:t>
            </a:r>
          </a:p>
          <a:p>
            <a:pPr marL="514350" indent="-514350" algn="just">
              <a:buAutoNum type="arabicPeriod"/>
            </a:pPr>
            <a:r>
              <a:rPr lang="en-IN" sz="4000" dirty="0">
                <a:latin typeface="Times New Roman" panose="02020603050405020304" pitchFamily="18" charset="0"/>
                <a:cs typeface="Times New Roman" panose="02020603050405020304" pitchFamily="18" charset="0"/>
              </a:rPr>
              <a:t>Profit maximization minimizes the </a:t>
            </a:r>
            <a:r>
              <a:rPr lang="en-IN" sz="4000" dirty="0" err="1">
                <a:latin typeface="Times New Roman" panose="02020603050405020304" pitchFamily="18" charset="0"/>
                <a:cs typeface="Times New Roman" panose="02020603050405020304" pitchFamily="18" charset="0"/>
              </a:rPr>
              <a:t>uncertainity</a:t>
            </a:r>
            <a:r>
              <a:rPr lang="en-IN" sz="4000" dirty="0">
                <a:latin typeface="Times New Roman" panose="02020603050405020304" pitchFamily="18" charset="0"/>
                <a:cs typeface="Times New Roman" panose="02020603050405020304" pitchFamily="18" charset="0"/>
              </a:rPr>
              <a:t> factors of the business.</a:t>
            </a:r>
          </a:p>
          <a:p>
            <a:pPr marL="0" indent="0" algn="just">
              <a:lnSpc>
                <a:spcPct val="100000"/>
              </a:lnSpc>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48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E1EF6-E177-8767-4E6F-D5712B779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27A8E-5025-221D-43F5-A258A2FD6F20}"/>
              </a:ext>
            </a:extLst>
          </p:cNvPr>
          <p:cNvSpPr>
            <a:spLocks noGrp="1"/>
          </p:cNvSpPr>
          <p:nvPr>
            <p:ph type="title"/>
          </p:nvPr>
        </p:nvSpPr>
        <p:spPr>
          <a:xfrm>
            <a:off x="184935" y="15810"/>
            <a:ext cx="11856377" cy="960238"/>
          </a:xfrm>
        </p:spPr>
        <p:txBody>
          <a:bodyPr>
            <a:normAutofit fontScale="90000"/>
          </a:bodyPr>
          <a:lstStyle/>
          <a:p>
            <a:pPr algn="ctr"/>
            <a:r>
              <a:rPr lang="en-US" sz="4800" b="1" dirty="0">
                <a:solidFill>
                  <a:srgbClr val="C00000"/>
                </a:solidFill>
                <a:latin typeface="Times New Roman" panose="02020603050405020304" pitchFamily="18" charset="0"/>
                <a:cs typeface="Times New Roman" panose="02020603050405020304" pitchFamily="18" charset="0"/>
              </a:rPr>
              <a:t/>
            </a:r>
            <a:br>
              <a:rPr lang="en-US" sz="4800" b="1" dirty="0">
                <a:solidFill>
                  <a:srgbClr val="C00000"/>
                </a:solidFill>
                <a:latin typeface="Times New Roman" panose="02020603050405020304" pitchFamily="18" charset="0"/>
                <a:cs typeface="Times New Roman" panose="02020603050405020304" pitchFamily="18" charset="0"/>
              </a:rPr>
            </a:br>
            <a:r>
              <a:rPr lang="en-US" sz="4800" b="1" dirty="0">
                <a:solidFill>
                  <a:srgbClr val="C00000"/>
                </a:solidFill>
                <a:latin typeface="Times New Roman" panose="02020603050405020304" pitchFamily="18" charset="0"/>
                <a:cs typeface="Times New Roman" panose="02020603050405020304" pitchFamily="18" charset="0"/>
              </a:rPr>
              <a:t>Objectives of Financial Management </a:t>
            </a:r>
            <a:br>
              <a:rPr lang="en-US" sz="4800" b="1" dirty="0">
                <a:solidFill>
                  <a:srgbClr val="C00000"/>
                </a:solidFill>
                <a:latin typeface="Times New Roman" panose="02020603050405020304" pitchFamily="18" charset="0"/>
                <a:cs typeface="Times New Roman" panose="02020603050405020304" pitchFamily="18" charset="0"/>
              </a:rPr>
            </a:b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227B44-CDA5-64A2-7A55-53AACDA311CF}"/>
              </a:ext>
            </a:extLst>
          </p:cNvPr>
          <p:cNvSpPr>
            <a:spLocks noGrp="1"/>
          </p:cNvSpPr>
          <p:nvPr>
            <p:ph idx="1"/>
          </p:nvPr>
        </p:nvSpPr>
        <p:spPr>
          <a:xfrm>
            <a:off x="113016" y="1089062"/>
            <a:ext cx="11856376" cy="5619568"/>
          </a:xfrm>
        </p:spPr>
        <p:txBody>
          <a:bodyPr>
            <a:normAutofit lnSpcReduction="10000"/>
          </a:bodyPr>
          <a:lstStyle/>
          <a:p>
            <a:pPr marL="0" indent="0">
              <a:buNone/>
            </a:pPr>
            <a:r>
              <a:rPr lang="en-IN" sz="3600" b="1" dirty="0">
                <a:latin typeface="Times New Roman" panose="02020603050405020304" pitchFamily="18" charset="0"/>
                <a:cs typeface="Times New Roman" panose="02020603050405020304" pitchFamily="18" charset="0"/>
              </a:rPr>
              <a:t>Features of Wealth maximization:</a:t>
            </a:r>
          </a:p>
          <a:p>
            <a:pPr marL="514350" indent="-514350">
              <a:buAutoNum type="arabicPeriod"/>
            </a:pPr>
            <a:r>
              <a:rPr lang="en-IN" sz="3600" dirty="0">
                <a:latin typeface="Times New Roman" panose="02020603050405020304" pitchFamily="18" charset="0"/>
                <a:cs typeface="Times New Roman" panose="02020603050405020304" pitchFamily="18" charset="0"/>
              </a:rPr>
              <a:t>The idea of wealth is easy to understand.</a:t>
            </a:r>
          </a:p>
          <a:p>
            <a:pPr marL="514350" indent="-514350">
              <a:buAutoNum type="arabicPeriod"/>
            </a:pPr>
            <a:r>
              <a:rPr lang="en-IN" sz="3600" dirty="0">
                <a:latin typeface="Times New Roman" panose="02020603050405020304" pitchFamily="18" charset="0"/>
                <a:cs typeface="Times New Roman" panose="02020603050405020304" pitchFamily="18" charset="0"/>
              </a:rPr>
              <a:t>It serves as an important aid to investment decisions.</a:t>
            </a:r>
          </a:p>
          <a:p>
            <a:pPr marL="514350" indent="-514350">
              <a:buAutoNum type="arabicPeriod"/>
            </a:pPr>
            <a:r>
              <a:rPr lang="en-IN" sz="3600" dirty="0">
                <a:latin typeface="Times New Roman" panose="02020603050405020304" pitchFamily="18" charset="0"/>
                <a:cs typeface="Times New Roman" panose="02020603050405020304" pitchFamily="18" charset="0"/>
              </a:rPr>
              <a:t>It is the time adjusted present value of benefits deducting the cost of investments.</a:t>
            </a:r>
          </a:p>
          <a:p>
            <a:pPr marL="514350" indent="-514350">
              <a:buAutoNum type="arabicPeriod"/>
            </a:pPr>
            <a:r>
              <a:rPr lang="en-IN" sz="3600" dirty="0">
                <a:latin typeface="Times New Roman" panose="02020603050405020304" pitchFamily="18" charset="0"/>
                <a:cs typeface="Times New Roman" panose="02020603050405020304" pitchFamily="18" charset="0"/>
              </a:rPr>
              <a:t>It focuses on economic wellbeing of shareholder.</a:t>
            </a:r>
          </a:p>
          <a:p>
            <a:pPr marL="514350" indent="-514350">
              <a:buAutoNum type="arabicPeriod"/>
            </a:pPr>
            <a:r>
              <a:rPr lang="en-IN" sz="3600" dirty="0">
                <a:latin typeface="Times New Roman" panose="02020603050405020304" pitchFamily="18" charset="0"/>
                <a:cs typeface="Times New Roman" panose="02020603050405020304" pitchFamily="18" charset="0"/>
              </a:rPr>
              <a:t>It considers both qualitative and quantitative standards of business.</a:t>
            </a:r>
          </a:p>
          <a:p>
            <a:pPr marL="514350" indent="-514350">
              <a:buAutoNum type="arabicPeriod"/>
            </a:pPr>
            <a:r>
              <a:rPr lang="en-IN" sz="3600" dirty="0">
                <a:latin typeface="Times New Roman" panose="02020603050405020304" pitchFamily="18" charset="0"/>
                <a:cs typeface="Times New Roman" panose="02020603050405020304" pitchFamily="18" charset="0"/>
              </a:rPr>
              <a:t>It integrates time value of money, risk and uncertainty factors.</a:t>
            </a:r>
          </a:p>
          <a:p>
            <a:pPr marL="0" indent="0">
              <a:buNone/>
            </a:pPr>
            <a:endParaRPr lang="en-IN" sz="36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74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8DCF9-AAA0-14D5-BCCF-63A00613C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BFF2F-7A4C-C887-FE29-8E6835D2CEC3}"/>
              </a:ext>
            </a:extLst>
          </p:cNvPr>
          <p:cNvSpPr>
            <a:spLocks noGrp="1"/>
          </p:cNvSpPr>
          <p:nvPr>
            <p:ph type="title"/>
          </p:nvPr>
        </p:nvSpPr>
        <p:spPr>
          <a:xfrm>
            <a:off x="184935" y="15810"/>
            <a:ext cx="11856377" cy="960238"/>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Role of Finance Managers</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2CD420-F1F0-788C-8B4B-359655259271}"/>
              </a:ext>
            </a:extLst>
          </p:cNvPr>
          <p:cNvSpPr>
            <a:spLocks noGrp="1"/>
          </p:cNvSpPr>
          <p:nvPr>
            <p:ph idx="1"/>
          </p:nvPr>
        </p:nvSpPr>
        <p:spPr>
          <a:xfrm>
            <a:off x="113016" y="1089062"/>
            <a:ext cx="11856376" cy="5619568"/>
          </a:xfrm>
        </p:spPr>
        <p:txBody>
          <a:bodyPr>
            <a:normAutofit/>
          </a:bodyPr>
          <a:lstStyle/>
          <a:p>
            <a:pPr algn="just"/>
            <a:r>
              <a:rPr lang="en-IN" sz="4000" dirty="0">
                <a:latin typeface="Times New Roman" panose="02020603050405020304" pitchFamily="18" charset="0"/>
                <a:cs typeface="Times New Roman" panose="02020603050405020304" pitchFamily="18" charset="0"/>
              </a:rPr>
              <a:t>Strategic Planner </a:t>
            </a:r>
            <a:endParaRPr lang="en-IN" sz="3200" dirty="0">
              <a:latin typeface="Times New Roman" panose="02020603050405020304" pitchFamily="18" charset="0"/>
              <a:cs typeface="Times New Roman" panose="02020603050405020304" pitchFamily="18" charset="0"/>
            </a:endParaRPr>
          </a:p>
          <a:p>
            <a:pPr algn="just"/>
            <a:r>
              <a:rPr lang="en-IN" sz="4000" dirty="0">
                <a:latin typeface="Times New Roman" panose="02020603050405020304" pitchFamily="18" charset="0"/>
                <a:cs typeface="Times New Roman" panose="02020603050405020304" pitchFamily="18" charset="0"/>
              </a:rPr>
              <a:t>Decision Maker</a:t>
            </a:r>
          </a:p>
          <a:p>
            <a:pPr algn="just"/>
            <a:r>
              <a:rPr lang="en-IN" sz="4000" dirty="0">
                <a:latin typeface="Times New Roman" panose="02020603050405020304" pitchFamily="18" charset="0"/>
                <a:cs typeface="Times New Roman" panose="02020603050405020304" pitchFamily="18" charset="0"/>
              </a:rPr>
              <a:t>Coordinator</a:t>
            </a:r>
          </a:p>
          <a:p>
            <a:pPr algn="just"/>
            <a:r>
              <a:rPr lang="en-IN" sz="4000" dirty="0">
                <a:latin typeface="Times New Roman" panose="02020603050405020304" pitchFamily="18" charset="0"/>
                <a:cs typeface="Times New Roman" panose="02020603050405020304" pitchFamily="18" charset="0"/>
              </a:rPr>
              <a:t>Controller</a:t>
            </a:r>
          </a:p>
          <a:p>
            <a:pPr algn="just"/>
            <a:r>
              <a:rPr lang="en-IN" sz="4000" dirty="0">
                <a:latin typeface="Times New Roman" panose="02020603050405020304" pitchFamily="18" charset="0"/>
                <a:cs typeface="Times New Roman" panose="02020603050405020304" pitchFamily="18" charset="0"/>
              </a:rPr>
              <a:t>Risk Manager</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804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211E1-B572-AAAC-682B-C4E3C5BDA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2CFC4-E61B-67FC-DA77-298FE5590EF0}"/>
              </a:ext>
            </a:extLst>
          </p:cNvPr>
          <p:cNvSpPr>
            <a:spLocks noGrp="1"/>
          </p:cNvSpPr>
          <p:nvPr>
            <p:ph type="title"/>
          </p:nvPr>
        </p:nvSpPr>
        <p:spPr>
          <a:xfrm>
            <a:off x="184935" y="15810"/>
            <a:ext cx="11856377" cy="960238"/>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Functions of Finance Managers</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99F573-FB0D-A18B-C0AE-FC216DF855E2}"/>
              </a:ext>
            </a:extLst>
          </p:cNvPr>
          <p:cNvSpPr>
            <a:spLocks noGrp="1"/>
          </p:cNvSpPr>
          <p:nvPr>
            <p:ph idx="1"/>
          </p:nvPr>
        </p:nvSpPr>
        <p:spPr>
          <a:xfrm>
            <a:off x="113016" y="1089062"/>
            <a:ext cx="11856376" cy="5619568"/>
          </a:xfrm>
        </p:spPr>
        <p:txBody>
          <a:bodyPr>
            <a:normAutofit/>
          </a:bodyPr>
          <a:lstStyle/>
          <a:p>
            <a:pPr algn="just"/>
            <a:r>
              <a:rPr lang="en-US" sz="4400" dirty="0">
                <a:latin typeface="Times New Roman" panose="02020603050405020304" pitchFamily="18" charset="0"/>
                <a:cs typeface="Times New Roman" panose="02020603050405020304" pitchFamily="18" charset="0"/>
              </a:rPr>
              <a:t>Estimation of capital requirements</a:t>
            </a:r>
          </a:p>
          <a:p>
            <a:pPr algn="just"/>
            <a:r>
              <a:rPr lang="en-IN" sz="4400" dirty="0">
                <a:latin typeface="Times New Roman" panose="02020603050405020304" pitchFamily="18" charset="0"/>
                <a:cs typeface="Times New Roman" panose="02020603050405020304" pitchFamily="18" charset="0"/>
              </a:rPr>
              <a:t>Determination of capital composition</a:t>
            </a:r>
          </a:p>
          <a:p>
            <a:pPr algn="just"/>
            <a:r>
              <a:rPr lang="en-US" sz="4400" dirty="0">
                <a:latin typeface="Times New Roman" panose="02020603050405020304" pitchFamily="18" charset="0"/>
                <a:cs typeface="Times New Roman" panose="02020603050405020304" pitchFamily="18" charset="0"/>
              </a:rPr>
              <a:t>Choice of sources of funds</a:t>
            </a:r>
          </a:p>
          <a:p>
            <a:pPr algn="just"/>
            <a:r>
              <a:rPr lang="en-IN" sz="4400" dirty="0">
                <a:latin typeface="Times New Roman" panose="02020603050405020304" pitchFamily="18" charset="0"/>
                <a:cs typeface="Times New Roman" panose="02020603050405020304" pitchFamily="18" charset="0"/>
              </a:rPr>
              <a:t>Investment of funds</a:t>
            </a:r>
          </a:p>
          <a:p>
            <a:pPr algn="just"/>
            <a:r>
              <a:rPr lang="en-IN" sz="4400" dirty="0">
                <a:latin typeface="Times New Roman" panose="02020603050405020304" pitchFamily="18" charset="0"/>
                <a:cs typeface="Times New Roman" panose="02020603050405020304" pitchFamily="18" charset="0"/>
              </a:rPr>
              <a:t>Disposal of surplus</a:t>
            </a:r>
          </a:p>
          <a:p>
            <a:pPr algn="just"/>
            <a:r>
              <a:rPr lang="en-IN" sz="4400" dirty="0">
                <a:latin typeface="Times New Roman" panose="02020603050405020304" pitchFamily="18" charset="0"/>
                <a:cs typeface="Times New Roman" panose="02020603050405020304" pitchFamily="18" charset="0"/>
              </a:rPr>
              <a:t>Management of cash</a:t>
            </a:r>
          </a:p>
          <a:p>
            <a:pPr algn="just"/>
            <a:r>
              <a:rPr lang="en-IN" sz="4400" dirty="0">
                <a:latin typeface="Times New Roman" panose="02020603050405020304" pitchFamily="18" charset="0"/>
                <a:cs typeface="Times New Roman" panose="02020603050405020304" pitchFamily="18" charset="0"/>
              </a:rPr>
              <a:t>Financial controls</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60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2AE07-9B76-B806-326A-B000351EE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79D3C-F9AF-A1AB-28AE-7E52486462EC}"/>
              </a:ext>
            </a:extLst>
          </p:cNvPr>
          <p:cNvSpPr>
            <a:spLocks noGrp="1"/>
          </p:cNvSpPr>
          <p:nvPr>
            <p:ph type="title"/>
          </p:nvPr>
        </p:nvSpPr>
        <p:spPr>
          <a:xfrm>
            <a:off x="184935" y="15809"/>
            <a:ext cx="11856377" cy="1247911"/>
          </a:xfrm>
        </p:spPr>
        <p:txBody>
          <a:bodyPr>
            <a:normAutofit fontScale="90000"/>
          </a:bodyPr>
          <a:lstStyle/>
          <a:p>
            <a:pPr algn="ctr"/>
            <a:r>
              <a:rPr lang="en-US" b="1" dirty="0">
                <a:solidFill>
                  <a:srgbClr val="C00000"/>
                </a:solidFill>
                <a:latin typeface="Times New Roman" panose="02020603050405020304" pitchFamily="18" charset="0"/>
                <a:cs typeface="Times New Roman" panose="02020603050405020304" pitchFamily="18" charset="0"/>
              </a:rPr>
              <a:t>Interface of Financial Management with other Functional areas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CB2178-B7CF-29FD-CDE6-63D8F5DFF5A8}"/>
              </a:ext>
            </a:extLst>
          </p:cNvPr>
          <p:cNvSpPr>
            <a:spLocks noGrp="1"/>
          </p:cNvSpPr>
          <p:nvPr>
            <p:ph idx="1"/>
          </p:nvPr>
        </p:nvSpPr>
        <p:spPr>
          <a:xfrm>
            <a:off x="113016" y="1438382"/>
            <a:ext cx="11856376" cy="5270248"/>
          </a:xfrm>
        </p:spPr>
        <p:txBody>
          <a:bodyPr>
            <a:normAutofit/>
          </a:bodyPr>
          <a:lstStyle/>
          <a:p>
            <a:pPr algn="just"/>
            <a:r>
              <a:rPr lang="en-IN" sz="4400" dirty="0">
                <a:latin typeface="Times New Roman" panose="02020603050405020304" pitchFamily="18" charset="0"/>
                <a:cs typeface="Times New Roman" panose="02020603050405020304" pitchFamily="18" charset="0"/>
              </a:rPr>
              <a:t>Marketing-Finance Interface</a:t>
            </a:r>
          </a:p>
          <a:p>
            <a:pPr algn="just"/>
            <a:r>
              <a:rPr lang="en-IN" sz="4400" dirty="0">
                <a:latin typeface="Times New Roman" panose="02020603050405020304" pitchFamily="18" charset="0"/>
                <a:cs typeface="Times New Roman" panose="02020603050405020304" pitchFamily="18" charset="0"/>
              </a:rPr>
              <a:t>Economics-Finance Interface</a:t>
            </a:r>
          </a:p>
          <a:p>
            <a:pPr algn="just"/>
            <a:r>
              <a:rPr lang="en-IN" sz="4400" dirty="0">
                <a:latin typeface="Times New Roman" panose="02020603050405020304" pitchFamily="18" charset="0"/>
                <a:cs typeface="Times New Roman" panose="02020603050405020304" pitchFamily="18" charset="0"/>
              </a:rPr>
              <a:t>Accounting-Finance Interface</a:t>
            </a:r>
          </a:p>
          <a:p>
            <a:r>
              <a:rPr lang="en-US" sz="4400" dirty="0">
                <a:latin typeface="Times New Roman" panose="02020603050405020304" pitchFamily="18" charset="0"/>
                <a:cs typeface="Times New Roman" panose="02020603050405020304" pitchFamily="18" charset="0"/>
              </a:rPr>
              <a:t>Production-</a:t>
            </a:r>
            <a:r>
              <a:rPr lang="en-IN" sz="4400" dirty="0">
                <a:latin typeface="Times New Roman" panose="02020603050405020304" pitchFamily="18" charset="0"/>
                <a:cs typeface="Times New Roman" panose="02020603050405020304" pitchFamily="18" charset="0"/>
              </a:rPr>
              <a:t>Finance Interface</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Material Department-</a:t>
            </a:r>
            <a:r>
              <a:rPr lang="en-IN" sz="4400" dirty="0">
                <a:latin typeface="Times New Roman" panose="02020603050405020304" pitchFamily="18" charset="0"/>
                <a:cs typeface="Times New Roman" panose="02020603050405020304" pitchFamily="18" charset="0"/>
              </a:rPr>
              <a:t>Finance Interface</a:t>
            </a:r>
          </a:p>
          <a:p>
            <a:r>
              <a:rPr lang="en-IN" sz="4400" dirty="0">
                <a:latin typeface="Times New Roman" panose="02020603050405020304" pitchFamily="18" charset="0"/>
                <a:cs typeface="Times New Roman" panose="02020603050405020304" pitchFamily="18" charset="0"/>
              </a:rPr>
              <a:t>Human Resource-Finance Interface</a:t>
            </a:r>
            <a:endParaRPr lang="en-US" sz="4400" dirty="0">
              <a:latin typeface="Times New Roman" panose="02020603050405020304" pitchFamily="18" charset="0"/>
              <a:cs typeface="Times New Roman" panose="02020603050405020304" pitchFamily="18" charset="0"/>
            </a:endParaRPr>
          </a:p>
          <a:p>
            <a:endParaRPr lang="en-US" sz="4400" dirty="0">
              <a:latin typeface="Times New Roman" panose="02020603050405020304" pitchFamily="18" charset="0"/>
              <a:cs typeface="Times New Roman" panose="02020603050405020304" pitchFamily="18" charset="0"/>
            </a:endParaRPr>
          </a:p>
          <a:p>
            <a:endParaRPr lang="en-US" sz="4400" dirty="0">
              <a:latin typeface="Times New Roman" panose="02020603050405020304" pitchFamily="18" charset="0"/>
              <a:cs typeface="Times New Roman" panose="02020603050405020304" pitchFamily="18" charset="0"/>
            </a:endParaRPr>
          </a:p>
          <a:p>
            <a:pPr algn="just"/>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326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70AC4-187A-7D76-3549-14A961962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2A1B5-2172-00A4-608B-C4B87AF2A023}"/>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Indian Financial System</a:t>
            </a:r>
          </a:p>
        </p:txBody>
      </p:sp>
      <p:sp>
        <p:nvSpPr>
          <p:cNvPr id="3" name="Content Placeholder 2">
            <a:extLst>
              <a:ext uri="{FF2B5EF4-FFF2-40B4-BE49-F238E27FC236}">
                <a16:creationId xmlns:a16="http://schemas.microsoft.com/office/drawing/2014/main" id="{0D9F0327-F502-8F2E-EBC9-C76D7246B34B}"/>
              </a:ext>
            </a:extLst>
          </p:cNvPr>
          <p:cNvSpPr>
            <a:spLocks noGrp="1"/>
          </p:cNvSpPr>
          <p:nvPr>
            <p:ph idx="1"/>
          </p:nvPr>
        </p:nvSpPr>
        <p:spPr>
          <a:xfrm>
            <a:off x="113016" y="1438382"/>
            <a:ext cx="11856376" cy="5270248"/>
          </a:xfrm>
        </p:spPr>
        <p:txBody>
          <a:bodyPr>
            <a:normAutofit/>
          </a:bodyPr>
          <a:lstStyle/>
          <a:p>
            <a:r>
              <a:rPr lang="en-US" sz="4000" dirty="0">
                <a:latin typeface="Times New Roman" panose="02020603050405020304" pitchFamily="18" charset="0"/>
                <a:cs typeface="Times New Roman" panose="02020603050405020304" pitchFamily="18" charset="0"/>
              </a:rPr>
              <a:t>Introduction </a:t>
            </a:r>
          </a:p>
          <a:p>
            <a:r>
              <a:rPr lang="en-US" sz="4000" dirty="0">
                <a:latin typeface="Times New Roman" panose="02020603050405020304" pitchFamily="18" charset="0"/>
                <a:cs typeface="Times New Roman" panose="02020603050405020304" pitchFamily="18" charset="0"/>
              </a:rPr>
              <a:t>The financial system of a country is an important tool for economic development of the country as it helps in the creation of wealth by linking savings with investments.</a:t>
            </a:r>
          </a:p>
          <a:p>
            <a:r>
              <a:rPr lang="en-US" sz="4000" dirty="0">
                <a:latin typeface="Times New Roman" panose="02020603050405020304" pitchFamily="18" charset="0"/>
                <a:cs typeface="Times New Roman" panose="02020603050405020304" pitchFamily="18" charset="0"/>
              </a:rPr>
              <a:t>It facilitates the flow of funds from the households (savers) to business firms (investors)to aid in wealth creation and development of both the parties.</a:t>
            </a:r>
          </a:p>
        </p:txBody>
      </p:sp>
    </p:spTree>
    <p:extLst>
      <p:ext uri="{BB962C8B-B14F-4D97-AF65-F5344CB8AC3E}">
        <p14:creationId xmlns:p14="http://schemas.microsoft.com/office/powerpoint/2010/main" val="572440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528E7-5C76-8708-8B91-E04F90430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191F5-6F3B-135A-555B-174E3126E09F}"/>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Structure-types-Financial markets</a:t>
            </a:r>
          </a:p>
        </p:txBody>
      </p:sp>
      <p:sp>
        <p:nvSpPr>
          <p:cNvPr id="3" name="Content Placeholder 2">
            <a:extLst>
              <a:ext uri="{FF2B5EF4-FFF2-40B4-BE49-F238E27FC236}">
                <a16:creationId xmlns:a16="http://schemas.microsoft.com/office/drawing/2014/main" id="{85132271-5294-E4FC-FF21-E12EE7446DCA}"/>
              </a:ext>
            </a:extLst>
          </p:cNvPr>
          <p:cNvSpPr>
            <a:spLocks noGrp="1"/>
          </p:cNvSpPr>
          <p:nvPr>
            <p:ph idx="1"/>
          </p:nvPr>
        </p:nvSpPr>
        <p:spPr>
          <a:xfrm>
            <a:off x="113016" y="1081548"/>
            <a:ext cx="11856376" cy="5627082"/>
          </a:xfrm>
        </p:spPr>
        <p:txBody>
          <a:bodyPr>
            <a:normAutofit/>
          </a:bodyPr>
          <a:lstStyle/>
          <a:p>
            <a:pPr marL="0" indent="0" algn="ctr">
              <a:buNone/>
            </a:pPr>
            <a:endParaRPr lang="en-US" sz="1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DC4A3B8-7C71-6FBC-3B68-5006A9A2076F}"/>
              </a:ext>
            </a:extLst>
          </p:cNvPr>
          <p:cNvPicPr>
            <a:picLocks noChangeAspect="1"/>
          </p:cNvPicPr>
          <p:nvPr/>
        </p:nvPicPr>
        <p:blipFill>
          <a:blip r:embed="rId2"/>
          <a:stretch>
            <a:fillRect/>
          </a:stretch>
        </p:blipFill>
        <p:spPr>
          <a:xfrm>
            <a:off x="0" y="1458617"/>
            <a:ext cx="11856376" cy="3940766"/>
          </a:xfrm>
          <a:prstGeom prst="rect">
            <a:avLst/>
          </a:prstGeom>
        </p:spPr>
      </p:pic>
    </p:spTree>
    <p:extLst>
      <p:ext uri="{BB962C8B-B14F-4D97-AF65-F5344CB8AC3E}">
        <p14:creationId xmlns:p14="http://schemas.microsoft.com/office/powerpoint/2010/main" val="1442555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4811" y="140729"/>
            <a:ext cx="10999695" cy="464390"/>
          </a:xfrm>
        </p:spPr>
        <p:txBody>
          <a:bodyPr>
            <a:normAutofit fontScale="90000"/>
          </a:bodyPr>
          <a:lstStyle/>
          <a:p>
            <a:pPr algn="l"/>
            <a:r>
              <a:rPr lang="en-US" sz="3200" b="1" dirty="0" smtClean="0"/>
              <a:t>Financial system- </a:t>
            </a:r>
            <a:endParaRPr lang="en-US" sz="3200" b="1" dirty="0"/>
          </a:p>
        </p:txBody>
      </p:sp>
      <p:sp>
        <p:nvSpPr>
          <p:cNvPr id="3" name="Subtitle 2"/>
          <p:cNvSpPr>
            <a:spLocks noGrp="1"/>
          </p:cNvSpPr>
          <p:nvPr>
            <p:ph type="subTitle" idx="1"/>
          </p:nvPr>
        </p:nvSpPr>
        <p:spPr>
          <a:xfrm>
            <a:off x="174811" y="605119"/>
            <a:ext cx="11806517" cy="5862916"/>
          </a:xfrm>
        </p:spPr>
        <p:txBody>
          <a:bodyPr>
            <a:noAutofit/>
          </a:bodyPr>
          <a:lstStyle/>
          <a:p>
            <a:pPr marL="457200" indent="-457200" algn="l">
              <a:buFont typeface="Arial" panose="020B0604020202020204" pitchFamily="34" charset="0"/>
              <a:buChar char="•"/>
            </a:pPr>
            <a:r>
              <a:rPr lang="en-US" sz="2800" dirty="0" smtClean="0"/>
              <a:t>It means the whole system where money flows in economy.</a:t>
            </a:r>
            <a:br>
              <a:rPr lang="en-US" sz="2800" dirty="0" smtClean="0"/>
            </a:br>
            <a:r>
              <a:rPr lang="en-US" sz="2800" dirty="0" err="1" smtClean="0"/>
              <a:t>E.g</a:t>
            </a:r>
            <a:r>
              <a:rPr lang="en-US" sz="2800" dirty="0" smtClean="0"/>
              <a:t> banks, stock, markets, and insurance companies together form the financial system.</a:t>
            </a:r>
          </a:p>
          <a:p>
            <a:pPr marL="457200" indent="-457200" algn="l">
              <a:buFont typeface="Arial" panose="020B0604020202020204" pitchFamily="34" charset="0"/>
              <a:buChar char="•"/>
            </a:pPr>
            <a:r>
              <a:rPr lang="en-US" sz="2800" b="1" dirty="0" smtClean="0"/>
              <a:t>Money market :-</a:t>
            </a:r>
            <a:br>
              <a:rPr lang="en-US" sz="2800" b="1" dirty="0" smtClean="0"/>
            </a:br>
            <a:r>
              <a:rPr lang="en-US" sz="2800" dirty="0" smtClean="0"/>
              <a:t>money market  refers to a market where </a:t>
            </a:r>
            <a:r>
              <a:rPr lang="en-US" sz="2800" dirty="0" smtClean="0">
                <a:solidFill>
                  <a:srgbClr val="FF0000"/>
                </a:solidFill>
              </a:rPr>
              <a:t>borrowers</a:t>
            </a:r>
            <a:r>
              <a:rPr lang="en-US" sz="2800" dirty="0" smtClean="0"/>
              <a:t> and </a:t>
            </a:r>
            <a:r>
              <a:rPr lang="en-US" sz="2800" dirty="0" smtClean="0">
                <a:solidFill>
                  <a:srgbClr val="FF0000"/>
                </a:solidFill>
              </a:rPr>
              <a:t>lenders</a:t>
            </a:r>
            <a:r>
              <a:rPr lang="en-US" sz="2800" dirty="0" smtClean="0"/>
              <a:t> are able to meet their </a:t>
            </a:r>
            <a:r>
              <a:rPr lang="en-US" sz="2800" dirty="0" smtClean="0">
                <a:solidFill>
                  <a:srgbClr val="FF0000"/>
                </a:solidFill>
              </a:rPr>
              <a:t>short term </a:t>
            </a:r>
            <a:r>
              <a:rPr lang="en-US" sz="2800" dirty="0" smtClean="0"/>
              <a:t>requirements.</a:t>
            </a:r>
          </a:p>
          <a:p>
            <a:pPr marL="457200" indent="-457200" algn="l">
              <a:buFont typeface="Arial" panose="020B0604020202020204" pitchFamily="34" charset="0"/>
              <a:buChar char="•"/>
            </a:pPr>
            <a:r>
              <a:rPr lang="en-US" sz="2800" dirty="0" smtClean="0"/>
              <a:t>financial </a:t>
            </a:r>
            <a:r>
              <a:rPr lang="en-US" sz="2800" dirty="0"/>
              <a:t>instruments with high liquidity and short-term maturities are </a:t>
            </a:r>
            <a:r>
              <a:rPr lang="en-US" sz="2800" dirty="0" smtClean="0"/>
              <a:t>traded</a:t>
            </a:r>
          </a:p>
          <a:p>
            <a:pPr marL="457200" indent="-457200" algn="l">
              <a:buFont typeface="Arial" panose="020B0604020202020204" pitchFamily="34" charset="0"/>
              <a:buChar char="•"/>
            </a:pPr>
            <a:r>
              <a:rPr lang="en-US" sz="2800" dirty="0" smtClean="0"/>
              <a:t>It </a:t>
            </a:r>
            <a:r>
              <a:rPr lang="en-US" sz="2800" dirty="0"/>
              <a:t>supports the industries to accomplish their working capital demand by circulating short-term funds in the economy</a:t>
            </a:r>
            <a:r>
              <a:rPr lang="en-US" sz="2800" dirty="0" smtClean="0"/>
              <a:t>.</a:t>
            </a:r>
          </a:p>
          <a:p>
            <a:pPr marL="457200" indent="-457200" algn="l">
              <a:buFont typeface="Arial" panose="020B0604020202020204" pitchFamily="34" charset="0"/>
              <a:buChar char="•"/>
            </a:pPr>
            <a:r>
              <a:rPr lang="en-US" sz="2800" dirty="0" smtClean="0"/>
              <a:t>Lenders </a:t>
            </a:r>
            <a:r>
              <a:rPr lang="en-US" sz="2800" dirty="0"/>
              <a:t>of Money are</a:t>
            </a:r>
            <a:r>
              <a:rPr lang="en-US" sz="2800" dirty="0" smtClean="0"/>
              <a:t>: </a:t>
            </a:r>
          </a:p>
          <a:p>
            <a:pPr algn="l"/>
            <a:r>
              <a:rPr lang="en-US" sz="2800" dirty="0"/>
              <a:t> </a:t>
            </a:r>
            <a:r>
              <a:rPr lang="en-US" sz="2800" dirty="0" smtClean="0"/>
              <a:t>        RBI                                                                Commercial </a:t>
            </a:r>
            <a:r>
              <a:rPr lang="en-US" sz="2800" dirty="0"/>
              <a:t>banks</a:t>
            </a:r>
            <a:r>
              <a:rPr lang="en-US" sz="2800" dirty="0" smtClean="0"/>
              <a:t>,</a:t>
            </a:r>
          </a:p>
          <a:p>
            <a:pPr algn="l"/>
            <a:r>
              <a:rPr lang="en-US" sz="2800" dirty="0" smtClean="0"/>
              <a:t>         Financial institutions</a:t>
            </a:r>
            <a:r>
              <a:rPr lang="en-US" sz="2800" dirty="0"/>
              <a:t> </a:t>
            </a:r>
            <a:r>
              <a:rPr lang="en-US" sz="2800" dirty="0" smtClean="0"/>
              <a:t>                                 Indigenous Bankers</a:t>
            </a:r>
          </a:p>
          <a:p>
            <a:pPr algn="l"/>
            <a:r>
              <a:rPr lang="en-US" sz="2800" dirty="0" smtClean="0"/>
              <a:t>         Money </a:t>
            </a:r>
            <a:r>
              <a:rPr lang="en-US" sz="2800" dirty="0"/>
              <a:t>lender</a:t>
            </a:r>
          </a:p>
        </p:txBody>
      </p:sp>
    </p:spTree>
    <p:extLst>
      <p:ext uri="{BB962C8B-B14F-4D97-AF65-F5344CB8AC3E}">
        <p14:creationId xmlns:p14="http://schemas.microsoft.com/office/powerpoint/2010/main" val="3916096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A8B18-E16A-7170-4292-4B4905EF6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22EC0-370F-471C-7DDD-25D8E1DF1434}"/>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Financial Instruments</a:t>
            </a:r>
          </a:p>
        </p:txBody>
      </p:sp>
      <p:sp>
        <p:nvSpPr>
          <p:cNvPr id="3" name="Content Placeholder 2">
            <a:extLst>
              <a:ext uri="{FF2B5EF4-FFF2-40B4-BE49-F238E27FC236}">
                <a16:creationId xmlns:a16="http://schemas.microsoft.com/office/drawing/2014/main" id="{F1ACE114-F867-5661-7EDD-19B19B9C0517}"/>
              </a:ext>
            </a:extLst>
          </p:cNvPr>
          <p:cNvSpPr>
            <a:spLocks noGrp="1"/>
          </p:cNvSpPr>
          <p:nvPr>
            <p:ph idx="1"/>
          </p:nvPr>
        </p:nvSpPr>
        <p:spPr>
          <a:xfrm>
            <a:off x="113016" y="1438382"/>
            <a:ext cx="11856376" cy="5270248"/>
          </a:xfrm>
        </p:spPr>
        <p:txBody>
          <a:bodyPr>
            <a:normAutofit/>
          </a:bodyPr>
          <a:lstStyle/>
          <a:p>
            <a:pPr marL="742950" indent="-742950" algn="just">
              <a:buFont typeface="+mj-lt"/>
              <a:buAutoNum type="arabicPeriod"/>
            </a:pPr>
            <a:r>
              <a:rPr lang="en-US" sz="4000" b="1" dirty="0">
                <a:latin typeface="Times New Roman" panose="02020603050405020304" pitchFamily="18" charset="0"/>
                <a:cs typeface="Times New Roman" panose="02020603050405020304" pitchFamily="18" charset="0"/>
              </a:rPr>
              <a:t>Money market instruments</a:t>
            </a:r>
          </a:p>
          <a:p>
            <a:pPr algn="just">
              <a:buFont typeface="Wingdings" panose="05000000000000000000" pitchFamily="2" charset="2"/>
              <a:buChar char="ü"/>
            </a:pPr>
            <a:r>
              <a:rPr lang="en-US" sz="3000" dirty="0">
                <a:latin typeface="Times New Roman" panose="02020603050405020304" pitchFamily="18" charset="0"/>
                <a:cs typeface="Times New Roman" panose="02020603050405020304" pitchFamily="18" charset="0"/>
              </a:rPr>
              <a:t>Call and notice money </a:t>
            </a:r>
            <a:r>
              <a:rPr lang="en-US" sz="3000" dirty="0" smtClean="0">
                <a:latin typeface="Times New Roman" panose="02020603050405020304" pitchFamily="18" charset="0"/>
                <a:cs typeface="Times New Roman" panose="02020603050405020304" pitchFamily="18" charset="0"/>
              </a:rPr>
              <a:t>market</a:t>
            </a:r>
          </a:p>
          <a:p>
            <a:pPr marL="0" indent="0" algn="just">
              <a:buNone/>
            </a:pPr>
            <a:r>
              <a:rPr lang="en-US" sz="3000" dirty="0">
                <a:latin typeface="Times New Roman" panose="02020603050405020304" pitchFamily="18" charset="0"/>
                <a:cs typeface="Times New Roman" panose="02020603050405020304" pitchFamily="18" charset="0"/>
              </a:rPr>
              <a:t>Call money is also referred to as the money at call. It is a </a:t>
            </a:r>
            <a:r>
              <a:rPr lang="en-US" sz="3000" dirty="0">
                <a:solidFill>
                  <a:srgbClr val="FF0000"/>
                </a:solidFill>
                <a:latin typeface="Times New Roman" panose="02020603050405020304" pitchFamily="18" charset="0"/>
                <a:cs typeface="Times New Roman" panose="02020603050405020304" pitchFamily="18" charset="0"/>
              </a:rPr>
              <a:t>short-term loan </a:t>
            </a:r>
            <a:r>
              <a:rPr lang="en-US" sz="3000" dirty="0">
                <a:latin typeface="Times New Roman" panose="02020603050405020304" pitchFamily="18" charset="0"/>
                <a:cs typeface="Times New Roman" panose="02020603050405020304" pitchFamily="18" charset="0"/>
              </a:rPr>
              <a:t>market. It is also called as inter-bank call </a:t>
            </a:r>
            <a:r>
              <a:rPr lang="en-US" sz="3000" dirty="0" smtClean="0">
                <a:latin typeface="Times New Roman" panose="02020603050405020304" pitchFamily="18" charset="0"/>
                <a:cs typeface="Times New Roman" panose="02020603050405020304" pitchFamily="18" charset="0"/>
              </a:rPr>
              <a:t>money </a:t>
            </a:r>
            <a:r>
              <a:rPr lang="en-US" sz="3000" dirty="0">
                <a:latin typeface="Times New Roman" panose="02020603050405020304" pitchFamily="18" charset="0"/>
                <a:cs typeface="Times New Roman" panose="02020603050405020304" pitchFamily="18" charset="0"/>
              </a:rPr>
              <a:t>market. This type of loan can be given for overnight and for maximum period of 2weeks. Non bank participants act as lender &amp; commercial banks are main borrowers</a:t>
            </a:r>
            <a:r>
              <a:rPr lang="en-US" sz="3000" dirty="0" smtClean="0">
                <a:latin typeface="Times New Roman" panose="02020603050405020304" pitchFamily="18" charset="0"/>
                <a:cs typeface="Times New Roman" panose="02020603050405020304" pitchFamily="18" charset="0"/>
              </a:rPr>
              <a:t>.</a:t>
            </a:r>
          </a:p>
          <a:p>
            <a:pPr marL="0" indent="0" algn="just">
              <a:buNone/>
            </a:pPr>
            <a:r>
              <a:rPr lang="en-US" sz="3000" dirty="0">
                <a:solidFill>
                  <a:srgbClr val="FF0000"/>
                </a:solidFill>
                <a:latin typeface="Times New Roman" panose="02020603050405020304" pitchFamily="18" charset="0"/>
                <a:cs typeface="Times New Roman" panose="02020603050405020304" pitchFamily="18" charset="0"/>
              </a:rPr>
              <a:t>Example</a:t>
            </a:r>
            <a:r>
              <a:rPr lang="en-US" sz="3000" dirty="0" smtClean="0">
                <a:solidFill>
                  <a:srgbClr val="FF0000"/>
                </a:solidFill>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A </a:t>
            </a:r>
            <a:r>
              <a:rPr lang="en-US" sz="3000" dirty="0">
                <a:latin typeface="Times New Roman" panose="02020603050405020304" pitchFamily="18" charset="0"/>
                <a:cs typeface="Times New Roman" panose="02020603050405020304" pitchFamily="18" charset="0"/>
              </a:rPr>
              <a:t>bank needs money for 1 day to maintain cash balance, so it borrows from another bank and returns it the next day.</a:t>
            </a:r>
            <a:endParaRPr lang="en-US" sz="3000" dirty="0" smtClean="0">
              <a:latin typeface="Times New Roman" panose="02020603050405020304" pitchFamily="18" charset="0"/>
              <a:cs typeface="Times New Roman" panose="02020603050405020304" pitchFamily="18" charset="0"/>
            </a:endParaRPr>
          </a:p>
          <a:p>
            <a:pPr marL="0" indent="0" algn="just">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051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6175" y="174812"/>
            <a:ext cx="11456895" cy="5262979"/>
          </a:xfrm>
          <a:prstGeom prst="rect">
            <a:avLst/>
          </a:prstGeom>
        </p:spPr>
        <p:txBody>
          <a:bodyPr wrap="square">
            <a:spAutoFit/>
          </a:bodyPr>
          <a:lstStyle/>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Commercial paper</a:t>
            </a:r>
          </a:p>
          <a:p>
            <a:pPr algn="just"/>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Commercial </a:t>
            </a:r>
            <a:r>
              <a:rPr lang="en-US" sz="2800" dirty="0" smtClean="0">
                <a:latin typeface="Times New Roman" panose="02020603050405020304" pitchFamily="18" charset="0"/>
                <a:cs typeface="Times New Roman" panose="02020603050405020304" pitchFamily="18" charset="0"/>
              </a:rPr>
              <a:t>Paper It </a:t>
            </a:r>
            <a:r>
              <a:rPr lang="en-US" sz="2800" dirty="0">
                <a:latin typeface="Times New Roman" panose="02020603050405020304" pitchFamily="18" charset="0"/>
                <a:cs typeface="Times New Roman" panose="02020603050405020304" pitchFamily="18" charset="0"/>
              </a:rPr>
              <a:t>is a </a:t>
            </a:r>
            <a:r>
              <a:rPr lang="en-US" sz="2800" dirty="0">
                <a:solidFill>
                  <a:srgbClr val="FF0000"/>
                </a:solidFill>
                <a:latin typeface="Times New Roman" panose="02020603050405020304" pitchFamily="18" charset="0"/>
                <a:cs typeface="Times New Roman" panose="02020603050405020304" pitchFamily="18" charset="0"/>
              </a:rPr>
              <a:t>short-term loan taken by big companies </a:t>
            </a:r>
            <a:r>
              <a:rPr lang="en-US" sz="2800" dirty="0">
                <a:latin typeface="Times New Roman" panose="02020603050405020304" pitchFamily="18" charset="0"/>
                <a:cs typeface="Times New Roman" panose="02020603050405020304" pitchFamily="18" charset="0"/>
              </a:rPr>
              <a:t>from investors without any security (unsecured</a:t>
            </a:r>
            <a:r>
              <a:rPr lang="en-US" sz="2800" dirty="0" smtClean="0">
                <a:latin typeface="Times New Roman" panose="02020603050405020304" pitchFamily="18" charset="0"/>
                <a:cs typeface="Times New Roman" panose="02020603050405020304" pitchFamily="18" charset="0"/>
              </a:rPr>
              <a:t>).</a:t>
            </a:r>
          </a:p>
          <a:p>
            <a:pPr algn="just"/>
            <a:r>
              <a:rPr lang="en-US" sz="2800" dirty="0" smtClean="0">
                <a:solidFill>
                  <a:srgbClr val="FF0000"/>
                </a:solidFill>
                <a:latin typeface="Times New Roman" panose="02020603050405020304" pitchFamily="18" charset="0"/>
                <a:cs typeface="Times New Roman" panose="02020603050405020304" pitchFamily="18" charset="0"/>
              </a:rPr>
              <a:t>Example: </a:t>
            </a:r>
            <a:r>
              <a:rPr lang="en-US" sz="2800" dirty="0" smtClean="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company like a large FMCG firm needs money to pay salaries, so it issues commercial paper and repays after a few months</a:t>
            </a:r>
            <a:r>
              <a:rPr lang="en-US" sz="2800" dirty="0" smtClean="0">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Treasury bills</a:t>
            </a:r>
          </a:p>
          <a:p>
            <a:pPr algn="just"/>
            <a:r>
              <a:rPr lang="en-US" sz="2800" dirty="0">
                <a:latin typeface="Times New Roman" panose="02020603050405020304" pitchFamily="18" charset="0"/>
                <a:cs typeface="Times New Roman" panose="02020603050405020304" pitchFamily="18" charset="0"/>
              </a:rPr>
              <a:t>issued in three tenors, namely, 91 day, 182 day and 364 day. Treasury bills are zero coupon securities and pay no </a:t>
            </a:r>
            <a:r>
              <a:rPr lang="en-US" sz="2800" dirty="0" smtClean="0">
                <a:latin typeface="Times New Roman" panose="02020603050405020304" pitchFamily="18" charset="0"/>
                <a:cs typeface="Times New Roman" panose="02020603050405020304" pitchFamily="18" charset="0"/>
              </a:rPr>
              <a:t>interest</a:t>
            </a:r>
          </a:p>
          <a:p>
            <a:pPr algn="just"/>
            <a:r>
              <a:rPr lang="en-US" sz="2800" dirty="0" err="1">
                <a:latin typeface="Times New Roman" panose="02020603050405020304" pitchFamily="18" charset="0"/>
                <a:cs typeface="Times New Roman" panose="02020603050405020304" pitchFamily="18" charset="0"/>
              </a:rPr>
              <a:t>Example:You</a:t>
            </a:r>
            <a:r>
              <a:rPr lang="en-US" sz="2800" dirty="0">
                <a:latin typeface="Times New Roman" panose="02020603050405020304" pitchFamily="18" charset="0"/>
                <a:cs typeface="Times New Roman" panose="02020603050405020304" pitchFamily="18" charset="0"/>
              </a:rPr>
              <a:t> buy a treasury bill for ₹9,500 and after 91 days, the government pays ₹10,000 → profit ₹500.</a:t>
            </a:r>
            <a:endParaRPr lang="en-US" sz="2800" dirty="0" smtClean="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6366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281" y="282388"/>
            <a:ext cx="11161059" cy="5262979"/>
          </a:xfrm>
          <a:prstGeom prst="rect">
            <a:avLst/>
          </a:prstGeom>
        </p:spPr>
        <p:txBody>
          <a:bodyPr wrap="square">
            <a:spAutoFit/>
          </a:bodyPr>
          <a:lstStyle/>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Bill of exchange </a:t>
            </a:r>
            <a:endParaRPr lang="en-US" sz="2800" dirty="0" smtClean="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 is a </a:t>
            </a:r>
            <a:r>
              <a:rPr lang="en-US" sz="2800" dirty="0">
                <a:solidFill>
                  <a:srgbClr val="FF0000"/>
                </a:solidFill>
                <a:latin typeface="Times New Roman" panose="02020603050405020304" pitchFamily="18" charset="0"/>
                <a:cs typeface="Times New Roman" panose="02020603050405020304" pitchFamily="18" charset="0"/>
              </a:rPr>
              <a:t>written promise to pay money on a future date</a:t>
            </a:r>
            <a:r>
              <a:rPr lang="en-US" sz="2800" dirty="0">
                <a:latin typeface="Times New Roman" panose="02020603050405020304" pitchFamily="18" charset="0"/>
                <a:cs typeface="Times New Roman" panose="02020603050405020304" pitchFamily="18" charset="0"/>
              </a:rPr>
              <a:t> in business transactions</a:t>
            </a:r>
            <a:r>
              <a:rPr lang="en-US" sz="2800" dirty="0" smtClean="0">
                <a:latin typeface="Times New Roman" panose="02020603050405020304" pitchFamily="18" charset="0"/>
                <a:cs typeface="Times New Roman" panose="02020603050405020304" pitchFamily="18" charset="0"/>
              </a:rPr>
              <a:t>.</a:t>
            </a:r>
          </a:p>
          <a:p>
            <a:pPr algn="just"/>
            <a:r>
              <a:rPr lang="en-US" sz="2800" dirty="0" smtClean="0">
                <a:solidFill>
                  <a:srgbClr val="FF0000"/>
                </a:solidFill>
                <a:latin typeface="Times New Roman" panose="02020603050405020304" pitchFamily="18" charset="0"/>
                <a:cs typeface="Times New Roman" panose="02020603050405020304" pitchFamily="18" charset="0"/>
              </a:rPr>
              <a:t>Example:</a:t>
            </a:r>
            <a:r>
              <a:rPr lang="en-US" sz="2800" dirty="0" smtClean="0">
                <a:latin typeface="Times New Roman" panose="02020603050405020304" pitchFamily="18" charset="0"/>
                <a:cs typeface="Times New Roman" panose="02020603050405020304" pitchFamily="18" charset="0"/>
              </a:rPr>
              <a:t> A </a:t>
            </a:r>
            <a:r>
              <a:rPr lang="en-US" sz="2800" dirty="0">
                <a:latin typeface="Times New Roman" panose="02020603050405020304" pitchFamily="18" charset="0"/>
                <a:cs typeface="Times New Roman" panose="02020603050405020304" pitchFamily="18" charset="0"/>
              </a:rPr>
              <a:t>seller sells goods on credit and writes a bill saying the buyer will pay after 3 months</a:t>
            </a:r>
            <a:r>
              <a:rPr lang="en-US" sz="2800" dirty="0" smtClean="0">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Money market mutual </a:t>
            </a:r>
            <a:r>
              <a:rPr lang="en-US" sz="2800" dirty="0" smtClean="0">
                <a:latin typeface="Times New Roman" panose="02020603050405020304" pitchFamily="18" charset="0"/>
                <a:cs typeface="Times New Roman" panose="02020603050405020304" pitchFamily="18" charset="0"/>
              </a:rPr>
              <a:t>funds</a:t>
            </a:r>
          </a:p>
          <a:p>
            <a:pPr algn="just"/>
            <a:r>
              <a:rPr lang="en-US" sz="2800" dirty="0">
                <a:latin typeface="Times New Roman" panose="02020603050405020304" pitchFamily="18" charset="0"/>
                <a:cs typeface="Times New Roman" panose="02020603050405020304" pitchFamily="18" charset="0"/>
              </a:rPr>
              <a:t>These funds </a:t>
            </a:r>
            <a:r>
              <a:rPr lang="en-US" sz="2800" dirty="0">
                <a:solidFill>
                  <a:srgbClr val="FF0000"/>
                </a:solidFill>
                <a:latin typeface="Times New Roman" panose="02020603050405020304" pitchFamily="18" charset="0"/>
                <a:cs typeface="Times New Roman" panose="02020603050405020304" pitchFamily="18" charset="0"/>
              </a:rPr>
              <a:t>invest in short-term instruments </a:t>
            </a:r>
            <a:r>
              <a:rPr lang="en-US" sz="2800" dirty="0">
                <a:latin typeface="Times New Roman" panose="02020603050405020304" pitchFamily="18" charset="0"/>
                <a:cs typeface="Times New Roman" panose="02020603050405020304" pitchFamily="18" charset="0"/>
              </a:rPr>
              <a:t>like treasury bills, commercial paper, etc</a:t>
            </a:r>
            <a:r>
              <a:rPr lang="en-US" sz="2800" dirty="0" smtClean="0">
                <a:latin typeface="Times New Roman" panose="02020603050405020304" pitchFamily="18" charset="0"/>
                <a:cs typeface="Times New Roman" panose="02020603050405020304" pitchFamily="18" charset="0"/>
              </a:rPr>
              <a:t>. Good </a:t>
            </a:r>
            <a:r>
              <a:rPr lang="en-US" sz="2800" dirty="0">
                <a:latin typeface="Times New Roman" panose="02020603050405020304" pitchFamily="18" charset="0"/>
                <a:cs typeface="Times New Roman" panose="02020603050405020304" pitchFamily="18" charset="0"/>
              </a:rPr>
              <a:t>for safe and liquid investment</a:t>
            </a:r>
            <a:r>
              <a:rPr lang="en-US" sz="2800" dirty="0" smtClean="0">
                <a:latin typeface="Times New Roman" panose="02020603050405020304" pitchFamily="18" charset="0"/>
                <a:cs typeface="Times New Roman" panose="02020603050405020304" pitchFamily="18" charset="0"/>
              </a:rPr>
              <a:t>.</a:t>
            </a:r>
          </a:p>
          <a:p>
            <a:pPr algn="just"/>
            <a:r>
              <a:rPr lang="en-US" sz="2800" dirty="0" smtClean="0">
                <a:solidFill>
                  <a:srgbClr val="FF0000"/>
                </a:solidFill>
                <a:latin typeface="Times New Roman" panose="02020603050405020304" pitchFamily="18" charset="0"/>
                <a:cs typeface="Times New Roman" panose="02020603050405020304" pitchFamily="18" charset="0"/>
              </a:rPr>
              <a:t>Exampl</a:t>
            </a:r>
            <a:r>
              <a:rPr lang="en-US" sz="2800" dirty="0" smtClean="0">
                <a:latin typeface="Times New Roman" panose="02020603050405020304" pitchFamily="18" charset="0"/>
                <a:cs typeface="Times New Roman" panose="02020603050405020304" pitchFamily="18" charset="0"/>
              </a:rPr>
              <a:t>e: Instead </a:t>
            </a:r>
            <a:r>
              <a:rPr lang="en-US" sz="2800" dirty="0">
                <a:latin typeface="Times New Roman" panose="02020603050405020304" pitchFamily="18" charset="0"/>
                <a:cs typeface="Times New Roman" panose="02020603050405020304" pitchFamily="18" charset="0"/>
              </a:rPr>
              <a:t>of investing directly, a person invests ₹10,000 in a money market mutual fund, which gives small but safe returns</a:t>
            </a:r>
          </a:p>
          <a:p>
            <a:pPr algn="just">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608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59" y="699247"/>
            <a:ext cx="11766176" cy="2138082"/>
          </a:xfrm>
        </p:spPr>
        <p:txBody>
          <a:bodyPr>
            <a:noAutofit/>
          </a:bodyPr>
          <a:lstStyle/>
          <a:p>
            <a:r>
              <a:rPr lang="en-US" sz="3200" b="1" dirty="0"/>
              <a:t>2. Capital Market </a:t>
            </a:r>
            <a:r>
              <a:rPr lang="en-US" sz="3200" b="1" dirty="0" smtClean="0"/>
              <a:t>Instruments</a:t>
            </a:r>
            <a:br>
              <a:rPr lang="en-US" sz="3200" b="1" dirty="0" smtClean="0"/>
            </a:br>
            <a:r>
              <a:rPr lang="en-US" sz="3200" b="1" dirty="0" smtClean="0"/>
              <a:t>Capital Market an </a:t>
            </a:r>
            <a:r>
              <a:rPr lang="en-US" sz="3200" b="1" dirty="0"/>
              <a:t>organized market in which both individuals and business entities buy and sell debt and equity </a:t>
            </a:r>
            <a:r>
              <a:rPr lang="en-US" sz="3200" b="1" dirty="0" smtClean="0"/>
              <a:t>securities</a:t>
            </a:r>
            <a:br>
              <a:rPr lang="en-US" sz="3200" b="1" dirty="0" smtClean="0"/>
            </a:br>
            <a:r>
              <a:rPr lang="en-US" sz="3200" b="1" dirty="0" smtClean="0"/>
              <a:t>BSE</a:t>
            </a:r>
            <a:r>
              <a:rPr lang="en-US" sz="3200" b="1" dirty="0"/>
              <a:t>, NSE, </a:t>
            </a:r>
            <a:r>
              <a:rPr lang="en-US" sz="3200" b="1" dirty="0" smtClean="0"/>
              <a:t>NIFTY</a:t>
            </a:r>
            <a:br>
              <a:rPr lang="en-US" sz="3200" b="1" dirty="0" smtClean="0"/>
            </a:br>
            <a:r>
              <a:rPr lang="en-US" sz="3200" b="1" dirty="0" smtClean="0"/>
              <a:t>the </a:t>
            </a:r>
            <a:r>
              <a:rPr lang="en-US" sz="3200" b="1" dirty="0"/>
              <a:t>buyers use funds for longer-term </a:t>
            </a:r>
            <a:r>
              <a:rPr lang="en-US" sz="3200" b="1" dirty="0" smtClean="0"/>
              <a:t>investment Stocks</a:t>
            </a:r>
            <a:r>
              <a:rPr lang="en-US" sz="3200" b="1" dirty="0"/>
              <a:t>, Bonds, Debentures</a:t>
            </a:r>
          </a:p>
        </p:txBody>
      </p:sp>
      <p:sp>
        <p:nvSpPr>
          <p:cNvPr id="3" name="Text Placeholder 2"/>
          <p:cNvSpPr>
            <a:spLocks noGrp="1"/>
          </p:cNvSpPr>
          <p:nvPr>
            <p:ph type="body" idx="1"/>
          </p:nvPr>
        </p:nvSpPr>
        <p:spPr>
          <a:xfrm>
            <a:off x="388098" y="3065932"/>
            <a:ext cx="10515600" cy="3267633"/>
          </a:xfrm>
        </p:spPr>
        <p:txBody>
          <a:bodyPr>
            <a:normAutofit/>
          </a:bodyPr>
          <a:lstStyle/>
          <a:p>
            <a:pPr marL="342900" indent="-342900">
              <a:buFont typeface="Wingdings" panose="05000000000000000000" pitchFamily="2" charset="2"/>
              <a:buChar char="ü"/>
            </a:pPr>
            <a:r>
              <a:rPr lang="en-US" sz="3200" dirty="0">
                <a:solidFill>
                  <a:schemeClr val="tx1"/>
                </a:solidFill>
              </a:rPr>
              <a:t>Equity shares </a:t>
            </a:r>
          </a:p>
          <a:p>
            <a:pPr marL="342900" indent="-342900">
              <a:buFont typeface="Wingdings" panose="05000000000000000000" pitchFamily="2" charset="2"/>
              <a:buChar char="ü"/>
            </a:pPr>
            <a:r>
              <a:rPr lang="en-US" sz="3200" dirty="0">
                <a:solidFill>
                  <a:schemeClr val="tx1"/>
                </a:solidFill>
              </a:rPr>
              <a:t>Preference shares </a:t>
            </a:r>
          </a:p>
          <a:p>
            <a:pPr marL="342900" indent="-342900">
              <a:buFont typeface="Wingdings" panose="05000000000000000000" pitchFamily="2" charset="2"/>
              <a:buChar char="ü"/>
            </a:pPr>
            <a:r>
              <a:rPr lang="en-US" sz="3200" dirty="0">
                <a:solidFill>
                  <a:schemeClr val="tx1"/>
                </a:solidFill>
              </a:rPr>
              <a:t>Debentures</a:t>
            </a:r>
          </a:p>
          <a:p>
            <a:pPr marL="342900" indent="-342900">
              <a:buFont typeface="Wingdings" panose="05000000000000000000" pitchFamily="2" charset="2"/>
              <a:buChar char="ü"/>
            </a:pPr>
            <a:r>
              <a:rPr lang="en-US" sz="3200" dirty="0">
                <a:solidFill>
                  <a:schemeClr val="tx1"/>
                </a:solidFill>
              </a:rPr>
              <a:t>Bonds</a:t>
            </a:r>
          </a:p>
          <a:p>
            <a:pPr marL="342900" indent="-342900">
              <a:buFont typeface="Wingdings" panose="05000000000000000000" pitchFamily="2" charset="2"/>
              <a:buChar char="ü"/>
            </a:pPr>
            <a:r>
              <a:rPr lang="en-US" sz="3200" dirty="0">
                <a:solidFill>
                  <a:schemeClr val="tx1"/>
                </a:solidFill>
              </a:rPr>
              <a:t>Govt. securities</a:t>
            </a:r>
          </a:p>
          <a:p>
            <a:endParaRPr lang="en-US" sz="3200" dirty="0">
              <a:solidFill>
                <a:schemeClr val="tx1"/>
              </a:solidFill>
            </a:endParaRPr>
          </a:p>
        </p:txBody>
      </p:sp>
    </p:spTree>
    <p:extLst>
      <p:ext uri="{BB962C8B-B14F-4D97-AF65-F5344CB8AC3E}">
        <p14:creationId xmlns:p14="http://schemas.microsoft.com/office/powerpoint/2010/main" val="1464075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4435" y="524435"/>
            <a:ext cx="8619565" cy="3170099"/>
          </a:xfrm>
          <a:prstGeom prst="rect">
            <a:avLst/>
          </a:prstGeom>
        </p:spPr>
        <p:txBody>
          <a:bodyPr wrap="square">
            <a:spAutoFit/>
          </a:bodyPr>
          <a:lstStyle/>
          <a:p>
            <a:pPr marL="457200" indent="-457200">
              <a:buFont typeface="Wingdings" panose="05000000000000000000" pitchFamily="2" charset="2"/>
              <a:buChar char="q"/>
            </a:pPr>
            <a:r>
              <a:rPr lang="en-US" sz="4000" dirty="0" smtClean="0"/>
              <a:t>Capital market</a:t>
            </a:r>
          </a:p>
          <a:p>
            <a:r>
              <a:rPr lang="en-US" sz="4000" dirty="0" smtClean="0"/>
              <a:t> </a:t>
            </a:r>
            <a:r>
              <a:rPr lang="en-US" sz="4000" dirty="0"/>
              <a:t>Derivative instruments</a:t>
            </a:r>
          </a:p>
          <a:p>
            <a:pPr marL="571500" indent="-571500">
              <a:buFont typeface="Wingdings" panose="05000000000000000000" pitchFamily="2" charset="2"/>
              <a:buChar char="ü"/>
            </a:pPr>
            <a:r>
              <a:rPr lang="en-US" sz="4000" dirty="0"/>
              <a:t>Forwards</a:t>
            </a:r>
          </a:p>
          <a:p>
            <a:pPr marL="571500" indent="-571500">
              <a:buFont typeface="Wingdings" panose="05000000000000000000" pitchFamily="2" charset="2"/>
              <a:buChar char="ü"/>
            </a:pPr>
            <a:r>
              <a:rPr lang="en-US" sz="4000" dirty="0"/>
              <a:t>Future </a:t>
            </a:r>
          </a:p>
          <a:p>
            <a:pPr marL="571500" indent="-571500">
              <a:buFont typeface="Wingdings" panose="05000000000000000000" pitchFamily="2" charset="2"/>
              <a:buChar char="ü"/>
            </a:pPr>
            <a:r>
              <a:rPr lang="en-US" sz="4000" dirty="0"/>
              <a:t>options </a:t>
            </a:r>
          </a:p>
        </p:txBody>
      </p:sp>
    </p:spTree>
    <p:extLst>
      <p:ext uri="{BB962C8B-B14F-4D97-AF65-F5344CB8AC3E}">
        <p14:creationId xmlns:p14="http://schemas.microsoft.com/office/powerpoint/2010/main" val="849950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B9FB2-4DD5-74B4-8479-293748D61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E2437-A558-1904-59E7-523227BAF4C6}"/>
              </a:ext>
            </a:extLst>
          </p:cNvPr>
          <p:cNvSpPr>
            <a:spLocks noGrp="1"/>
          </p:cNvSpPr>
          <p:nvPr>
            <p:ph type="title"/>
          </p:nvPr>
        </p:nvSpPr>
        <p:spPr>
          <a:xfrm>
            <a:off x="184935" y="15809"/>
            <a:ext cx="11856377" cy="1247911"/>
          </a:xfrm>
        </p:spPr>
        <p:txBody>
          <a:bodyPr>
            <a:normAutofit fontScale="90000"/>
          </a:bodyPr>
          <a:lstStyle/>
          <a:p>
            <a:pPr algn="ctr"/>
            <a:r>
              <a:rPr lang="en-IN" sz="4800" b="1" dirty="0">
                <a:solidFill>
                  <a:srgbClr val="C00000"/>
                </a:solidFill>
                <a:latin typeface="Times New Roman" panose="02020603050405020304" pitchFamily="18" charset="0"/>
                <a:cs typeface="Times New Roman" panose="02020603050405020304" pitchFamily="18" charset="0"/>
              </a:rPr>
              <a:t>Financial</a:t>
            </a:r>
            <a:br>
              <a:rPr lang="en-IN" sz="4800" b="1" dirty="0">
                <a:solidFill>
                  <a:srgbClr val="C00000"/>
                </a:solidFill>
                <a:latin typeface="Times New Roman" panose="02020603050405020304" pitchFamily="18" charset="0"/>
                <a:cs typeface="Times New Roman" panose="02020603050405020304" pitchFamily="18" charset="0"/>
              </a:rPr>
            </a:br>
            <a:r>
              <a:rPr lang="en-IN" sz="4800" b="1" dirty="0">
                <a:solidFill>
                  <a:srgbClr val="C00000"/>
                </a:solidFill>
                <a:latin typeface="Times New Roman" panose="02020603050405020304" pitchFamily="18" charset="0"/>
                <a:cs typeface="Times New Roman" panose="02020603050405020304" pitchFamily="18" charset="0"/>
              </a:rPr>
              <a:t>institutions and financial services</a:t>
            </a:r>
          </a:p>
        </p:txBody>
      </p:sp>
      <p:sp>
        <p:nvSpPr>
          <p:cNvPr id="3" name="Content Placeholder 2">
            <a:extLst>
              <a:ext uri="{FF2B5EF4-FFF2-40B4-BE49-F238E27FC236}">
                <a16:creationId xmlns:a16="http://schemas.microsoft.com/office/drawing/2014/main" id="{675A1F2A-15DD-FFA2-07DC-A59B7B2A7415}"/>
              </a:ext>
            </a:extLst>
          </p:cNvPr>
          <p:cNvSpPr>
            <a:spLocks noGrp="1"/>
          </p:cNvSpPr>
          <p:nvPr>
            <p:ph idx="1"/>
          </p:nvPr>
        </p:nvSpPr>
        <p:spPr>
          <a:xfrm>
            <a:off x="113016" y="1438382"/>
            <a:ext cx="11856376" cy="5270248"/>
          </a:xfrm>
        </p:spPr>
        <p:txBody>
          <a:bodyPr>
            <a:normAutofit/>
          </a:bodyPr>
          <a:lstStyle/>
          <a:p>
            <a:pPr algn="just"/>
            <a:r>
              <a:rPr lang="en-US" sz="4000" dirty="0">
                <a:latin typeface="Times New Roman" panose="02020603050405020304" pitchFamily="18" charset="0"/>
                <a:cs typeface="Times New Roman" panose="02020603050405020304" pitchFamily="18" charset="0"/>
              </a:rPr>
              <a:t>Regulatory </a:t>
            </a:r>
          </a:p>
          <a:p>
            <a:pPr algn="just"/>
            <a:r>
              <a:rPr lang="en-US" sz="4000" dirty="0">
                <a:latin typeface="Times New Roman" panose="02020603050405020304" pitchFamily="18" charset="0"/>
                <a:cs typeface="Times New Roman" panose="02020603050405020304" pitchFamily="18" charset="0"/>
              </a:rPr>
              <a:t>Intermediaries</a:t>
            </a:r>
          </a:p>
          <a:p>
            <a:pPr algn="just"/>
            <a:r>
              <a:rPr lang="en-US" sz="4000" dirty="0">
                <a:latin typeface="Times New Roman" panose="02020603050405020304" pitchFamily="18" charset="0"/>
                <a:cs typeface="Times New Roman" panose="02020603050405020304" pitchFamily="18" charset="0"/>
              </a:rPr>
              <a:t>Non Intermediaries</a:t>
            </a:r>
          </a:p>
          <a:p>
            <a:pPr algn="just">
              <a:buFont typeface="Wingdings" panose="05000000000000000000" pitchFamily="2" charset="2"/>
              <a:buChar char="v"/>
            </a:pPr>
            <a:r>
              <a:rPr lang="en-IN" sz="4000" b="1" dirty="0">
                <a:solidFill>
                  <a:srgbClr val="C00000"/>
                </a:solidFill>
                <a:latin typeface="Times New Roman" panose="02020603050405020304" pitchFamily="18" charset="0"/>
                <a:cs typeface="Times New Roman" panose="02020603050405020304" pitchFamily="18" charset="0"/>
              </a:rPr>
              <a:t>financial services</a:t>
            </a:r>
          </a:p>
          <a:p>
            <a:pPr algn="just"/>
            <a:r>
              <a:rPr lang="en-IN" sz="4000" dirty="0">
                <a:latin typeface="Times New Roman" panose="02020603050405020304" pitchFamily="18" charset="0"/>
                <a:cs typeface="Times New Roman" panose="02020603050405020304" pitchFamily="18" charset="0"/>
              </a:rPr>
              <a:t>Asset and fund-based financial services</a:t>
            </a:r>
          </a:p>
          <a:p>
            <a:pPr algn="just"/>
            <a:r>
              <a:rPr lang="en-IN" sz="4000" dirty="0">
                <a:latin typeface="Times New Roman" panose="02020603050405020304" pitchFamily="18" charset="0"/>
                <a:cs typeface="Times New Roman" panose="02020603050405020304" pitchFamily="18" charset="0"/>
              </a:rPr>
              <a:t>Free based financial services</a:t>
            </a:r>
          </a:p>
          <a:p>
            <a:pPr marL="0" indent="0" algn="just">
              <a:buNone/>
            </a:pP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9614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CDCF-8A22-03A1-B8C5-CB1CC5E18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4F3D5-51AA-D681-F779-A7FC177AA358}"/>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Non-Banking Financial Companies (NBFCs)</a:t>
            </a:r>
          </a:p>
        </p:txBody>
      </p:sp>
      <p:sp>
        <p:nvSpPr>
          <p:cNvPr id="3" name="Content Placeholder 2">
            <a:extLst>
              <a:ext uri="{FF2B5EF4-FFF2-40B4-BE49-F238E27FC236}">
                <a16:creationId xmlns:a16="http://schemas.microsoft.com/office/drawing/2014/main" id="{65A951DA-7C0D-EC46-1E83-0B870DFE0CE5}"/>
              </a:ext>
            </a:extLst>
          </p:cNvPr>
          <p:cNvSpPr>
            <a:spLocks noGrp="1"/>
          </p:cNvSpPr>
          <p:nvPr>
            <p:ph idx="1"/>
          </p:nvPr>
        </p:nvSpPr>
        <p:spPr>
          <a:xfrm>
            <a:off x="113016" y="1438382"/>
            <a:ext cx="11856376" cy="5270248"/>
          </a:xfrm>
        </p:spPr>
        <p:txBody>
          <a:bodyPr>
            <a:normAutofit/>
          </a:bodyPr>
          <a:lstStyle/>
          <a:p>
            <a:pPr marL="0" indent="0" algn="just">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1139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80C7-6C28-22C7-B1BD-99CCEEE0D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E9043-A195-4E50-628A-1CD1B8D353BC}"/>
              </a:ext>
            </a:extLst>
          </p:cNvPr>
          <p:cNvSpPr>
            <a:spLocks noGrp="1"/>
          </p:cNvSpPr>
          <p:nvPr>
            <p:ph type="title"/>
          </p:nvPr>
        </p:nvSpPr>
        <p:spPr>
          <a:xfrm>
            <a:off x="184935" y="15809"/>
            <a:ext cx="11856377" cy="1247911"/>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Emerging areas in Financial Management</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2F31DE-EBBB-2AA8-040E-DA3684B8EF79}"/>
              </a:ext>
            </a:extLst>
          </p:cNvPr>
          <p:cNvSpPr>
            <a:spLocks noGrp="1"/>
          </p:cNvSpPr>
          <p:nvPr>
            <p:ph idx="1"/>
          </p:nvPr>
        </p:nvSpPr>
        <p:spPr>
          <a:xfrm>
            <a:off x="113016" y="1438382"/>
            <a:ext cx="11856376" cy="5270248"/>
          </a:xfrm>
        </p:spPr>
        <p:txBody>
          <a:bodyPr>
            <a:normAutofit/>
          </a:bodyPr>
          <a:lstStyle/>
          <a:p>
            <a:pPr algn="just"/>
            <a:r>
              <a:rPr lang="en-US" sz="4000" dirty="0" smtClean="0">
                <a:latin typeface="Times New Roman" panose="02020603050405020304" pitchFamily="18" charset="0"/>
                <a:cs typeface="Times New Roman" panose="02020603050405020304" pitchFamily="18" charset="0"/>
              </a:rPr>
              <a:t>Risk management</a:t>
            </a:r>
          </a:p>
          <a:p>
            <a:pPr algn="just"/>
            <a:r>
              <a:rPr lang="en-US" sz="4000" dirty="0" smtClean="0">
                <a:latin typeface="Times New Roman" panose="02020603050405020304" pitchFamily="18" charset="0"/>
                <a:cs typeface="Times New Roman" panose="02020603050405020304" pitchFamily="18" charset="0"/>
              </a:rPr>
              <a:t>Behavioural finance</a:t>
            </a:r>
          </a:p>
          <a:p>
            <a:pPr algn="just"/>
            <a:r>
              <a:rPr lang="en-US" sz="4000" dirty="0" smtClean="0">
                <a:latin typeface="Times New Roman" panose="02020603050405020304" pitchFamily="18" charset="0"/>
                <a:cs typeface="Times New Roman" panose="02020603050405020304" pitchFamily="18" charset="0"/>
              </a:rPr>
              <a:t>Financial engineering</a:t>
            </a:r>
          </a:p>
          <a:p>
            <a:pPr algn="just"/>
            <a:r>
              <a:rPr lang="en-US" sz="4000" dirty="0" smtClean="0">
                <a:latin typeface="Times New Roman" panose="02020603050405020304" pitchFamily="18" charset="0"/>
                <a:cs typeface="Times New Roman" panose="02020603050405020304" pitchFamily="18" charset="0"/>
              </a:rPr>
              <a:t>derivatives </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1967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A6395-2977-E7B9-FFFF-DB8E8C4D9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733D4-0B9F-E954-5860-15499DDAF065}"/>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Risk Management</a:t>
            </a:r>
          </a:p>
        </p:txBody>
      </p:sp>
      <p:sp>
        <p:nvSpPr>
          <p:cNvPr id="3" name="Content Placeholder 2">
            <a:extLst>
              <a:ext uri="{FF2B5EF4-FFF2-40B4-BE49-F238E27FC236}">
                <a16:creationId xmlns:a16="http://schemas.microsoft.com/office/drawing/2014/main" id="{B1123DB2-D2B3-CD2E-5D88-D91C279EF754}"/>
              </a:ext>
            </a:extLst>
          </p:cNvPr>
          <p:cNvSpPr>
            <a:spLocks noGrp="1"/>
          </p:cNvSpPr>
          <p:nvPr>
            <p:ph idx="1"/>
          </p:nvPr>
        </p:nvSpPr>
        <p:spPr>
          <a:xfrm>
            <a:off x="113016" y="1438382"/>
            <a:ext cx="11856376" cy="5270248"/>
          </a:xfrm>
        </p:spPr>
        <p:txBody>
          <a:bodyPr>
            <a:normAutofit/>
          </a:bodyPr>
          <a:lstStyle/>
          <a:p>
            <a:pPr algn="just"/>
            <a:r>
              <a:rPr lang="en-US" sz="4000" dirty="0">
                <a:latin typeface="Times New Roman" panose="02020603050405020304" pitchFamily="18" charset="0"/>
                <a:cs typeface="Times New Roman" panose="02020603050405020304" pitchFamily="18" charset="0"/>
              </a:rPr>
              <a:t>Risk management is the systematic process of identifying, assessing, and mitigating potential threats, uncertainties, or hazards to an organization's capital, earnings, and operations</a:t>
            </a:r>
            <a:r>
              <a:rPr lang="en-US" sz="4000" dirty="0" smtClean="0">
                <a:latin typeface="Times New Roman" panose="02020603050405020304" pitchFamily="18" charset="0"/>
                <a:cs typeface="Times New Roman" panose="02020603050405020304" pitchFamily="18" charset="0"/>
              </a:rPr>
              <a:t>.</a:t>
            </a:r>
          </a:p>
          <a:p>
            <a:pPr algn="just"/>
            <a:r>
              <a:rPr lang="en-US" sz="4000" dirty="0" smtClean="0">
                <a:latin typeface="Times New Roman" panose="02020603050405020304" pitchFamily="18" charset="0"/>
                <a:cs typeface="Times New Roman" panose="02020603050405020304" pitchFamily="18" charset="0"/>
              </a:rPr>
              <a:t>Example-</a:t>
            </a:r>
          </a:p>
          <a:p>
            <a:pPr marL="0" indent="0" algn="just">
              <a:buNone/>
            </a:pPr>
            <a:r>
              <a:rPr lang="en-US" sz="4000" dirty="0" smtClean="0">
                <a:latin typeface="Times New Roman" panose="02020603050405020304" pitchFamily="18" charset="0"/>
                <a:cs typeface="Times New Roman" panose="02020603050405020304" pitchFamily="18" charset="0"/>
              </a:rPr>
              <a:t>A company buys insurance to protect against fire or accident  loss.</a:t>
            </a:r>
          </a:p>
          <a:p>
            <a:pPr marL="0" indent="0" algn="just">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9804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FB143-4A8E-1807-4149-0071C1626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1842E-F9EF-BFB1-2695-908FD91789CB}"/>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Behavioural Finance</a:t>
            </a:r>
          </a:p>
        </p:txBody>
      </p:sp>
      <p:sp>
        <p:nvSpPr>
          <p:cNvPr id="3" name="Content Placeholder 2">
            <a:extLst>
              <a:ext uri="{FF2B5EF4-FFF2-40B4-BE49-F238E27FC236}">
                <a16:creationId xmlns:a16="http://schemas.microsoft.com/office/drawing/2014/main" id="{639287A8-773B-01BD-CD30-BBFA02C1C2A7}"/>
              </a:ext>
            </a:extLst>
          </p:cNvPr>
          <p:cNvSpPr>
            <a:spLocks noGrp="1"/>
          </p:cNvSpPr>
          <p:nvPr>
            <p:ph idx="1"/>
          </p:nvPr>
        </p:nvSpPr>
        <p:spPr>
          <a:xfrm>
            <a:off x="113016" y="1438382"/>
            <a:ext cx="11856376" cy="5270248"/>
          </a:xfrm>
        </p:spPr>
        <p:txBody>
          <a:bodyPr>
            <a:normAutofit/>
          </a:bodyPr>
          <a:lstStyle/>
          <a:p>
            <a:pPr algn="just"/>
            <a:r>
              <a:rPr lang="en-US" sz="4000" dirty="0">
                <a:latin typeface="Times New Roman" panose="02020603050405020304" pitchFamily="18" charset="0"/>
                <a:cs typeface="Times New Roman" panose="02020603050405020304" pitchFamily="18" charset="0"/>
              </a:rPr>
              <a:t>Definition :-</a:t>
            </a:r>
          </a:p>
          <a:p>
            <a:pPr marL="0" indent="0" algn="just">
              <a:buNone/>
            </a:pPr>
            <a:r>
              <a:rPr lang="en-US" sz="4000" dirty="0">
                <a:latin typeface="Times New Roman" panose="02020603050405020304" pitchFamily="18" charset="0"/>
                <a:cs typeface="Times New Roman" panose="02020603050405020304" pitchFamily="18" charset="0"/>
              </a:rPr>
              <a:t>Lintner – Behavioural finance as “the study of how humans interpret and act on information to make informed investment decisions</a:t>
            </a:r>
            <a:r>
              <a:rPr lang="en-US" sz="4000" dirty="0" smtClean="0">
                <a:latin typeface="Times New Roman" panose="02020603050405020304" pitchFamily="18" charset="0"/>
                <a:cs typeface="Times New Roman" panose="02020603050405020304" pitchFamily="18" charset="0"/>
              </a:rPr>
              <a:t>”.</a:t>
            </a:r>
          </a:p>
          <a:p>
            <a:pPr marL="0" indent="0" algn="just">
              <a:buNone/>
            </a:pPr>
            <a:r>
              <a:rPr lang="en-US" sz="4000" dirty="0">
                <a:latin typeface="Times New Roman" panose="02020603050405020304" pitchFamily="18" charset="0"/>
                <a:cs typeface="Times New Roman" panose="02020603050405020304" pitchFamily="18" charset="0"/>
              </a:rPr>
              <a:t>Example-</a:t>
            </a:r>
          </a:p>
          <a:p>
            <a:pPr marL="0" indent="0" algn="just">
              <a:buNone/>
            </a:pPr>
            <a:r>
              <a:rPr lang="en-US" sz="4000" dirty="0" smtClean="0">
                <a:latin typeface="Times New Roman" panose="02020603050405020304" pitchFamily="18" charset="0"/>
                <a:cs typeface="Times New Roman" panose="02020603050405020304" pitchFamily="18" charset="0"/>
              </a:rPr>
              <a:t>An investor buys shares because others are buying(herd behavior),not because of analysis.</a:t>
            </a:r>
            <a:endParaRPr lang="en-US" sz="4000" dirty="0">
              <a:latin typeface="Times New Roman" panose="02020603050405020304" pitchFamily="18" charset="0"/>
              <a:cs typeface="Times New Roman" panose="02020603050405020304" pitchFamily="18" charset="0"/>
            </a:endParaRPr>
          </a:p>
          <a:p>
            <a:pPr marL="0" indent="0" algn="just">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222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B647-617C-BCCE-B649-49CB558B4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B7D90-EB53-6823-7D72-88C8E0706011}"/>
              </a:ext>
            </a:extLst>
          </p:cNvPr>
          <p:cNvSpPr>
            <a:spLocks noGrp="1"/>
          </p:cNvSpPr>
          <p:nvPr>
            <p:ph type="title"/>
          </p:nvPr>
        </p:nvSpPr>
        <p:spPr>
          <a:xfrm>
            <a:off x="184935" y="15809"/>
            <a:ext cx="11856377" cy="1247911"/>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Financial Engineering</a:t>
            </a:r>
          </a:p>
        </p:txBody>
      </p:sp>
      <p:sp>
        <p:nvSpPr>
          <p:cNvPr id="3" name="Content Placeholder 2">
            <a:extLst>
              <a:ext uri="{FF2B5EF4-FFF2-40B4-BE49-F238E27FC236}">
                <a16:creationId xmlns:a16="http://schemas.microsoft.com/office/drawing/2014/main" id="{E0868A4A-C58F-405D-3219-6D832138833F}"/>
              </a:ext>
            </a:extLst>
          </p:cNvPr>
          <p:cNvSpPr>
            <a:spLocks noGrp="1"/>
          </p:cNvSpPr>
          <p:nvPr>
            <p:ph idx="1"/>
          </p:nvPr>
        </p:nvSpPr>
        <p:spPr>
          <a:xfrm>
            <a:off x="113016" y="1438382"/>
            <a:ext cx="11856376" cy="5270248"/>
          </a:xfrm>
        </p:spPr>
        <p:txBody>
          <a:bodyPr>
            <a:normAutofit/>
          </a:bodyPr>
          <a:lstStyle/>
          <a:p>
            <a:pPr algn="just"/>
            <a:r>
              <a:rPr lang="en-IN" sz="4000" dirty="0">
                <a:latin typeface="Times New Roman" panose="02020603050405020304" pitchFamily="18" charset="0"/>
                <a:cs typeface="Times New Roman" panose="02020603050405020304" pitchFamily="18" charset="0"/>
              </a:rPr>
              <a:t>Financial</a:t>
            </a:r>
            <a:r>
              <a:rPr lang="en-IN" sz="4000" dirty="0">
                <a:solidFill>
                  <a:srgbClr val="C00000"/>
                </a:solidFill>
                <a:latin typeface="Times New Roman" panose="02020603050405020304" pitchFamily="18" charset="0"/>
                <a:cs typeface="Times New Roman" panose="02020603050405020304" pitchFamily="18" charset="0"/>
              </a:rPr>
              <a:t> </a:t>
            </a:r>
            <a:r>
              <a:rPr lang="en-IN" sz="4000" dirty="0" smtClean="0">
                <a:latin typeface="Times New Roman" panose="02020603050405020304" pitchFamily="18" charset="0"/>
                <a:cs typeface="Times New Roman" panose="02020603050405020304" pitchFamily="18" charset="0"/>
              </a:rPr>
              <a:t>Engineering is a multidisciplinary field using mathematical modelling, programming and economic theory to solve complex financial problems, design innovative products and manage risks.</a:t>
            </a:r>
          </a:p>
          <a:p>
            <a:pPr algn="just"/>
            <a:r>
              <a:rPr lang="en-IN" sz="4000" dirty="0" smtClean="0">
                <a:latin typeface="Times New Roman" panose="02020603050405020304" pitchFamily="18" charset="0"/>
                <a:cs typeface="Times New Roman" panose="02020603050405020304" pitchFamily="18" charset="0"/>
              </a:rPr>
              <a:t>Example</a:t>
            </a:r>
          </a:p>
          <a:p>
            <a:pPr marL="0" indent="0" algn="just">
              <a:buNone/>
            </a:pPr>
            <a:r>
              <a:rPr lang="en-IN" sz="4000" dirty="0" smtClean="0">
                <a:latin typeface="Times New Roman" panose="02020603050405020304" pitchFamily="18" charset="0"/>
                <a:cs typeface="Times New Roman" panose="02020603050405020304" pitchFamily="18" charset="0"/>
              </a:rPr>
              <a:t>Designing new investment instrument.</a:t>
            </a:r>
          </a:p>
          <a:p>
            <a:pPr marL="0" indent="0" algn="just">
              <a:buNone/>
            </a:pPr>
            <a:r>
              <a:rPr lang="en-IN" sz="4000" dirty="0" smtClean="0">
                <a:latin typeface="Times New Roman" panose="02020603050405020304" pitchFamily="18" charset="0"/>
                <a:cs typeface="Times New Roman" panose="02020603050405020304" pitchFamily="18" charset="0"/>
              </a:rPr>
              <a:t>Structured product</a:t>
            </a:r>
          </a:p>
          <a:p>
            <a:pPr marL="0" indent="0" algn="just">
              <a:buNone/>
            </a:pPr>
            <a:r>
              <a:rPr lang="en-IN" sz="4000" dirty="0" smtClean="0">
                <a:latin typeface="Times New Roman" panose="02020603050405020304" pitchFamily="18" charset="0"/>
                <a:cs typeface="Times New Roman" panose="02020603050405020304" pitchFamily="18" charset="0"/>
              </a:rPr>
              <a:t>Risk management</a:t>
            </a:r>
          </a:p>
          <a:p>
            <a:pPr marL="0" indent="0" algn="just">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700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9853A-7F72-AC49-8FD1-8F8ECD582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7E58B-A894-0655-09F2-152BB9FD4AC3}"/>
              </a:ext>
            </a:extLst>
          </p:cNvPr>
          <p:cNvSpPr>
            <a:spLocks noGrp="1"/>
          </p:cNvSpPr>
          <p:nvPr>
            <p:ph type="title"/>
          </p:nvPr>
        </p:nvSpPr>
        <p:spPr>
          <a:xfrm>
            <a:off x="184935" y="15809"/>
            <a:ext cx="11856377" cy="817909"/>
          </a:xfrm>
        </p:spPr>
        <p:txBody>
          <a:bodyPr>
            <a:normAutofit/>
          </a:bodyPr>
          <a:lstStyle/>
          <a:p>
            <a:pPr algn="ctr"/>
            <a:r>
              <a:rPr lang="en-IN" sz="4800" b="1" dirty="0">
                <a:solidFill>
                  <a:srgbClr val="C00000"/>
                </a:solidFill>
                <a:latin typeface="Times New Roman" panose="02020603050405020304" pitchFamily="18" charset="0"/>
                <a:cs typeface="Times New Roman" panose="02020603050405020304" pitchFamily="18" charset="0"/>
              </a:rPr>
              <a:t>Derivatives</a:t>
            </a:r>
          </a:p>
        </p:txBody>
      </p:sp>
      <p:sp>
        <p:nvSpPr>
          <p:cNvPr id="3" name="Content Placeholder 2">
            <a:extLst>
              <a:ext uri="{FF2B5EF4-FFF2-40B4-BE49-F238E27FC236}">
                <a16:creationId xmlns:a16="http://schemas.microsoft.com/office/drawing/2014/main" id="{ADF5A540-745B-8E3B-15C1-B537C141C0CE}"/>
              </a:ext>
            </a:extLst>
          </p:cNvPr>
          <p:cNvSpPr>
            <a:spLocks noGrp="1"/>
          </p:cNvSpPr>
          <p:nvPr>
            <p:ph idx="1"/>
          </p:nvPr>
        </p:nvSpPr>
        <p:spPr>
          <a:xfrm>
            <a:off x="184935" y="833718"/>
            <a:ext cx="11856376" cy="5632865"/>
          </a:xfrm>
        </p:spPr>
        <p:txBody>
          <a:bodyPr>
            <a:normAutofit fontScale="92500"/>
          </a:bodyPr>
          <a:lstStyle/>
          <a:p>
            <a:pPr algn="just"/>
            <a:r>
              <a:rPr lang="en-US" sz="4000" dirty="0" smtClean="0">
                <a:latin typeface="Times New Roman" panose="02020603050405020304" pitchFamily="18" charset="0"/>
                <a:cs typeface="Times New Roman" panose="02020603050405020304" pitchFamily="18" charset="0"/>
              </a:rPr>
              <a:t>It is a financial instrument,</a:t>
            </a:r>
          </a:p>
          <a:p>
            <a:pPr algn="just"/>
            <a:r>
              <a:rPr lang="en-US" sz="4000" dirty="0" smtClean="0">
                <a:latin typeface="Times New Roman" panose="02020603050405020304" pitchFamily="18" charset="0"/>
                <a:cs typeface="Times New Roman" panose="02020603050405020304" pitchFamily="18" charset="0"/>
              </a:rPr>
              <a:t>Which derives its value from the basic variables called bases</a:t>
            </a:r>
          </a:p>
          <a:p>
            <a:pPr algn="just"/>
            <a:r>
              <a:rPr lang="en-US" sz="3200" dirty="0" smtClean="0">
                <a:solidFill>
                  <a:srgbClr val="FF0000"/>
                </a:solidFill>
                <a:latin typeface="Times New Roman" panose="02020603050405020304" pitchFamily="18" charset="0"/>
                <a:cs typeface="Times New Roman" panose="02020603050405020304" pitchFamily="18" charset="0"/>
              </a:rPr>
              <a:t>Bases may be underlying asset, index, or reference rate</a:t>
            </a:r>
          </a:p>
          <a:p>
            <a:pPr algn="just"/>
            <a:r>
              <a:rPr lang="en-US" sz="4000" dirty="0">
                <a:latin typeface="Times New Roman" panose="02020603050405020304" pitchFamily="18" charset="0"/>
                <a:cs typeface="Times New Roman" panose="02020603050405020304" pitchFamily="18" charset="0"/>
              </a:rPr>
              <a:t>The Securities Contracts (Regulation) Act 1956 defines "</a:t>
            </a:r>
            <a:r>
              <a:rPr lang="en-US" sz="4000" dirty="0" smtClean="0">
                <a:latin typeface="Times New Roman" panose="02020603050405020304" pitchFamily="18" charset="0"/>
                <a:cs typeface="Times New Roman" panose="02020603050405020304" pitchFamily="18" charset="0"/>
              </a:rPr>
              <a:t>derivative“</a:t>
            </a:r>
          </a:p>
          <a:p>
            <a:pPr algn="just"/>
            <a:r>
              <a:rPr lang="en-US" sz="3500" dirty="0" smtClean="0">
                <a:solidFill>
                  <a:srgbClr val="00B0F0"/>
                </a:solidFill>
                <a:latin typeface="Times New Roman" panose="02020603050405020304" pitchFamily="18" charset="0"/>
                <a:cs typeface="Times New Roman" panose="02020603050405020304" pitchFamily="18" charset="0"/>
              </a:rPr>
              <a:t>"</a:t>
            </a:r>
            <a:r>
              <a:rPr lang="en-US" sz="3500" dirty="0">
                <a:solidFill>
                  <a:srgbClr val="00B0F0"/>
                </a:solidFill>
                <a:latin typeface="Times New Roman" panose="02020603050405020304" pitchFamily="18" charset="0"/>
                <a:cs typeface="Times New Roman" panose="02020603050405020304" pitchFamily="18" charset="0"/>
              </a:rPr>
              <a:t>Derivative" </a:t>
            </a:r>
            <a:r>
              <a:rPr lang="en-US" sz="3500" dirty="0" smtClean="0">
                <a:solidFill>
                  <a:srgbClr val="00B0F0"/>
                </a:solidFill>
                <a:latin typeface="Times New Roman" panose="02020603050405020304" pitchFamily="18" charset="0"/>
                <a:cs typeface="Times New Roman" panose="02020603050405020304" pitchFamily="18" charset="0"/>
              </a:rPr>
              <a:t>include</a:t>
            </a:r>
            <a:r>
              <a:rPr lang="en-US" sz="3500" dirty="0" smtClean="0">
                <a:latin typeface="Times New Roman" panose="02020603050405020304" pitchFamily="18" charset="0"/>
                <a:cs typeface="Times New Roman" panose="02020603050405020304" pitchFamily="18" charset="0"/>
              </a:rPr>
              <a:t> 1</a:t>
            </a:r>
            <a:r>
              <a:rPr lang="en-US" sz="3500" dirty="0">
                <a:latin typeface="Times New Roman" panose="02020603050405020304" pitchFamily="18" charset="0"/>
                <a:cs typeface="Times New Roman" panose="02020603050405020304" pitchFamily="18" charset="0"/>
              </a:rPr>
              <a:t>. Security derived from a debt instrument, share, loan whether secured or unsecured, risk instrument or contract for differences or any other form of security</a:t>
            </a:r>
            <a:r>
              <a:rPr lang="en-US" sz="3500" dirty="0" smtClean="0">
                <a:latin typeface="Times New Roman" panose="02020603050405020304" pitchFamily="18" charset="0"/>
                <a:cs typeface="Times New Roman" panose="02020603050405020304" pitchFamily="18" charset="0"/>
              </a:rPr>
              <a:t>.</a:t>
            </a:r>
          </a:p>
          <a:p>
            <a:pPr algn="just"/>
            <a:r>
              <a:rPr lang="en-US" sz="3500" dirty="0" smtClean="0">
                <a:latin typeface="Times New Roman" panose="02020603050405020304" pitchFamily="18" charset="0"/>
                <a:cs typeface="Times New Roman" panose="02020603050405020304" pitchFamily="18" charset="0"/>
              </a:rPr>
              <a:t>2</a:t>
            </a:r>
            <a:r>
              <a:rPr lang="en-US" sz="3500" dirty="0">
                <a:latin typeface="Times New Roman" panose="02020603050405020304" pitchFamily="18" charset="0"/>
                <a:cs typeface="Times New Roman" panose="02020603050405020304" pitchFamily="18" charset="0"/>
              </a:rPr>
              <a:t>. A contract which derives its value from the prices, or index of prices of underlying securities.</a:t>
            </a:r>
            <a:endParaRPr lang="en-US" sz="3500" dirty="0" smtClean="0">
              <a:latin typeface="Times New Roman" panose="02020603050405020304" pitchFamily="18" charset="0"/>
              <a:cs typeface="Times New Roman" panose="02020603050405020304" pitchFamily="18" charset="0"/>
            </a:endParaRPr>
          </a:p>
          <a:p>
            <a:pPr algn="just"/>
            <a:endParaRPr lang="en-US"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873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9624" y="268941"/>
            <a:ext cx="11255188" cy="5632311"/>
          </a:xfrm>
          <a:prstGeom prst="rect">
            <a:avLst/>
          </a:prstGeom>
        </p:spPr>
        <p:txBody>
          <a:bodyPr wrap="square">
            <a:spAutoFit/>
          </a:bodyPr>
          <a:lstStyle/>
          <a:p>
            <a:r>
              <a:rPr lang="en-US" sz="3600" dirty="0">
                <a:solidFill>
                  <a:srgbClr val="FF0000"/>
                </a:solidFill>
              </a:rPr>
              <a:t>Consider a farmer</a:t>
            </a:r>
            <a:r>
              <a:rPr lang="en-US" sz="3600" dirty="0" smtClean="0">
                <a:solidFill>
                  <a:srgbClr val="FF0000"/>
                </a:solidFill>
              </a:rPr>
              <a:t>,</a:t>
            </a:r>
          </a:p>
          <a:p>
            <a:r>
              <a:rPr lang="en-US" sz="3600" dirty="0" smtClean="0"/>
              <a:t>whose </a:t>
            </a:r>
            <a:r>
              <a:rPr lang="en-US" sz="3600" dirty="0"/>
              <a:t>fresh crop of corn will be harvested in three months from now</a:t>
            </a:r>
            <a:r>
              <a:rPr lang="en-US" sz="3600" dirty="0" smtClean="0"/>
              <a:t>.</a:t>
            </a:r>
          </a:p>
          <a:p>
            <a:r>
              <a:rPr lang="en-US" sz="3600" dirty="0" smtClean="0"/>
              <a:t>He </a:t>
            </a:r>
            <a:r>
              <a:rPr lang="en-US" sz="3600" dirty="0"/>
              <a:t>is unsure about the price he will receive at that at that time. Will he get a buyer when he is in the market to sell corn, three months later? </a:t>
            </a:r>
            <a:r>
              <a:rPr lang="en-US" sz="3600" dirty="0" smtClean="0"/>
              <a:t>Uncertain</a:t>
            </a:r>
          </a:p>
          <a:p>
            <a:r>
              <a:rPr lang="en-US" sz="3600" dirty="0" smtClean="0">
                <a:solidFill>
                  <a:srgbClr val="FF0000"/>
                </a:solidFill>
              </a:rPr>
              <a:t>A </a:t>
            </a:r>
            <a:r>
              <a:rPr lang="en-US" sz="3600" dirty="0">
                <a:solidFill>
                  <a:srgbClr val="FF0000"/>
                </a:solidFill>
              </a:rPr>
              <a:t>derivative contract will enable him to enter into a firm contract today, to sell a fixed quantity of corn, of an agreed upon quality, at a mutually agreed price, at the time specified (in his case, three months). Uncertainty removed</a:t>
            </a:r>
          </a:p>
        </p:txBody>
      </p:sp>
    </p:spTree>
    <p:extLst>
      <p:ext uri="{BB962C8B-B14F-4D97-AF65-F5344CB8AC3E}">
        <p14:creationId xmlns:p14="http://schemas.microsoft.com/office/powerpoint/2010/main" val="1227825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2012" y="242047"/>
            <a:ext cx="10313894" cy="3970318"/>
          </a:xfrm>
          <a:prstGeom prst="rect">
            <a:avLst/>
          </a:prstGeom>
        </p:spPr>
        <p:txBody>
          <a:bodyPr wrap="square">
            <a:spAutoFit/>
          </a:bodyPr>
          <a:lstStyle/>
          <a:p>
            <a:r>
              <a:rPr lang="en-US" sz="3600" b="1" dirty="0"/>
              <a:t>Type of Financial </a:t>
            </a:r>
            <a:r>
              <a:rPr lang="en-US" sz="3600" b="1" dirty="0" smtClean="0"/>
              <a:t>Derivatives</a:t>
            </a:r>
          </a:p>
          <a:p>
            <a:r>
              <a:rPr lang="en-US" sz="3600" dirty="0" smtClean="0"/>
              <a:t>There </a:t>
            </a:r>
            <a:r>
              <a:rPr lang="en-US" sz="3600" dirty="0"/>
              <a:t>are generally considered to be 4 types of derivatives</a:t>
            </a:r>
            <a:r>
              <a:rPr lang="en-US" sz="3600" dirty="0" smtClean="0"/>
              <a:t>:</a:t>
            </a:r>
          </a:p>
          <a:p>
            <a:pPr marL="571500" indent="-571500">
              <a:buFont typeface="Arial" panose="020B0604020202020204" pitchFamily="34" charset="0"/>
              <a:buChar char="•"/>
            </a:pPr>
            <a:r>
              <a:rPr lang="en-US" sz="3600" dirty="0" smtClean="0"/>
              <a:t>Forward,</a:t>
            </a:r>
          </a:p>
          <a:p>
            <a:pPr marL="571500" indent="-571500">
              <a:buFont typeface="Arial" panose="020B0604020202020204" pitchFamily="34" charset="0"/>
              <a:buChar char="•"/>
            </a:pPr>
            <a:r>
              <a:rPr lang="en-US" sz="3600" dirty="0" smtClean="0"/>
              <a:t>Futures,</a:t>
            </a:r>
          </a:p>
          <a:p>
            <a:pPr marL="571500" indent="-571500">
              <a:buFont typeface="Arial" panose="020B0604020202020204" pitchFamily="34" charset="0"/>
              <a:buChar char="•"/>
            </a:pPr>
            <a:r>
              <a:rPr lang="en-US" sz="3600" dirty="0" smtClean="0"/>
              <a:t>Swaps, and</a:t>
            </a:r>
          </a:p>
          <a:p>
            <a:pPr marL="571500" indent="-571500">
              <a:buFont typeface="Arial" panose="020B0604020202020204" pitchFamily="34" charset="0"/>
              <a:buChar char="•"/>
            </a:pPr>
            <a:r>
              <a:rPr lang="en-US" sz="3600" dirty="0" smtClean="0"/>
              <a:t>Options</a:t>
            </a:r>
            <a:endParaRPr lang="en-US" sz="3600" dirty="0"/>
          </a:p>
        </p:txBody>
      </p:sp>
    </p:spTree>
    <p:extLst>
      <p:ext uri="{BB962C8B-B14F-4D97-AF65-F5344CB8AC3E}">
        <p14:creationId xmlns:p14="http://schemas.microsoft.com/office/powerpoint/2010/main" val="776394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0305" y="470647"/>
            <a:ext cx="10838329" cy="5078313"/>
          </a:xfrm>
          <a:prstGeom prst="rect">
            <a:avLst/>
          </a:prstGeom>
        </p:spPr>
        <p:txBody>
          <a:bodyPr wrap="square">
            <a:spAutoFit/>
          </a:bodyPr>
          <a:lstStyle/>
          <a:p>
            <a:pPr algn="ctr"/>
            <a:r>
              <a:rPr lang="en-US" sz="3600" dirty="0"/>
              <a:t>Type of Financial </a:t>
            </a:r>
            <a:r>
              <a:rPr lang="en-US" sz="3600" dirty="0" smtClean="0"/>
              <a:t>Derivatives</a:t>
            </a:r>
          </a:p>
          <a:p>
            <a:r>
              <a:rPr lang="en-US" sz="3600" dirty="0" smtClean="0"/>
              <a:t>Forward Contract</a:t>
            </a:r>
          </a:p>
          <a:p>
            <a:pPr marL="457200" indent="-457200">
              <a:buFont typeface="Arial" panose="020B0604020202020204" pitchFamily="34" charset="0"/>
              <a:buChar char="•"/>
            </a:pPr>
            <a:r>
              <a:rPr lang="en-US" sz="3600" dirty="0" smtClean="0"/>
              <a:t>A contract </a:t>
            </a:r>
            <a:r>
              <a:rPr lang="en-US" sz="3600" dirty="0"/>
              <a:t>between two </a:t>
            </a:r>
            <a:r>
              <a:rPr lang="en-US" sz="3600" dirty="0" smtClean="0"/>
              <a:t>parties </a:t>
            </a:r>
          </a:p>
          <a:p>
            <a:pPr marL="457200" indent="-457200">
              <a:buFont typeface="Arial" panose="020B0604020202020204" pitchFamily="34" charset="0"/>
              <a:buChar char="•"/>
            </a:pPr>
            <a:r>
              <a:rPr lang="en-US" sz="3600" dirty="0" smtClean="0"/>
              <a:t>completed </a:t>
            </a:r>
            <a:r>
              <a:rPr lang="en-US" sz="3600" dirty="0"/>
              <a:t>with one buyer and one </a:t>
            </a:r>
            <a:r>
              <a:rPr lang="en-US" sz="3600" dirty="0" smtClean="0"/>
              <a:t>seller </a:t>
            </a:r>
          </a:p>
          <a:p>
            <a:pPr marL="457200" indent="-457200">
              <a:buFont typeface="Arial" panose="020B0604020202020204" pitchFamily="34" charset="0"/>
              <a:buChar char="•"/>
            </a:pPr>
            <a:r>
              <a:rPr lang="en-US" sz="3600" dirty="0" smtClean="0"/>
              <a:t>specific </a:t>
            </a:r>
            <a:r>
              <a:rPr lang="en-US" sz="3600" dirty="0"/>
              <a:t>in terms </a:t>
            </a:r>
            <a:r>
              <a:rPr lang="en-US" sz="3600" dirty="0" smtClean="0"/>
              <a:t>of,</a:t>
            </a:r>
          </a:p>
          <a:p>
            <a:pPr marL="457200" indent="-457200">
              <a:buFont typeface="Courier New" panose="02070309020205020404" pitchFamily="49" charset="0"/>
              <a:buChar char="o"/>
            </a:pPr>
            <a:r>
              <a:rPr lang="en-US" sz="3600" dirty="0" smtClean="0">
                <a:solidFill>
                  <a:srgbClr val="FF0000"/>
                </a:solidFill>
              </a:rPr>
              <a:t>The price of the  </a:t>
            </a:r>
            <a:r>
              <a:rPr lang="en-US" sz="3600" dirty="0">
                <a:solidFill>
                  <a:srgbClr val="FF0000"/>
                </a:solidFill>
              </a:rPr>
              <a:t>underlying to be exchanged</a:t>
            </a:r>
            <a:r>
              <a:rPr lang="en-US" sz="3600" dirty="0" smtClean="0">
                <a:solidFill>
                  <a:srgbClr val="FF0000"/>
                </a:solidFill>
              </a:rPr>
              <a:t>,</a:t>
            </a:r>
          </a:p>
          <a:p>
            <a:pPr marL="457200" indent="-457200">
              <a:buFont typeface="Courier New" panose="02070309020205020404" pitchFamily="49" charset="0"/>
              <a:buChar char="o"/>
            </a:pPr>
            <a:r>
              <a:rPr lang="en-US" sz="3600" dirty="0" smtClean="0">
                <a:solidFill>
                  <a:srgbClr val="FF0000"/>
                </a:solidFill>
              </a:rPr>
              <a:t>the </a:t>
            </a:r>
            <a:r>
              <a:rPr lang="en-US" sz="3600" dirty="0">
                <a:solidFill>
                  <a:srgbClr val="FF0000"/>
                </a:solidFill>
              </a:rPr>
              <a:t>quality/type of the underlying</a:t>
            </a:r>
            <a:r>
              <a:rPr lang="en-US" sz="3600" dirty="0" smtClean="0">
                <a:solidFill>
                  <a:srgbClr val="FF0000"/>
                </a:solidFill>
              </a:rPr>
              <a:t>, the </a:t>
            </a:r>
            <a:r>
              <a:rPr lang="en-US" sz="3600" dirty="0">
                <a:solidFill>
                  <a:srgbClr val="FF0000"/>
                </a:solidFill>
              </a:rPr>
              <a:t>date of delivery</a:t>
            </a:r>
            <a:r>
              <a:rPr lang="en-US" sz="3600" dirty="0" smtClean="0">
                <a:solidFill>
                  <a:srgbClr val="FF0000"/>
                </a:solidFill>
              </a:rPr>
              <a:t>,</a:t>
            </a:r>
          </a:p>
          <a:p>
            <a:pPr marL="457200" indent="-457200">
              <a:buFont typeface="Courier New" panose="02070309020205020404" pitchFamily="49" charset="0"/>
              <a:buChar char="o"/>
            </a:pPr>
            <a:r>
              <a:rPr lang="en-US" sz="3600" dirty="0" smtClean="0">
                <a:solidFill>
                  <a:srgbClr val="FF0000"/>
                </a:solidFill>
              </a:rPr>
              <a:t>the </a:t>
            </a:r>
            <a:r>
              <a:rPr lang="en-US" sz="3600" dirty="0">
                <a:solidFill>
                  <a:srgbClr val="FF0000"/>
                </a:solidFill>
              </a:rPr>
              <a:t>quantity, </a:t>
            </a:r>
            <a:r>
              <a:rPr lang="en-US" sz="3600" dirty="0" smtClean="0">
                <a:solidFill>
                  <a:srgbClr val="FF0000"/>
                </a:solidFill>
              </a:rPr>
              <a:t>and</a:t>
            </a:r>
          </a:p>
          <a:p>
            <a:pPr marL="457200" indent="-457200">
              <a:buFont typeface="Courier New" panose="02070309020205020404" pitchFamily="49" charset="0"/>
              <a:buChar char="o"/>
            </a:pPr>
            <a:r>
              <a:rPr lang="en-US" sz="3600" dirty="0" smtClean="0">
                <a:solidFill>
                  <a:srgbClr val="FF0000"/>
                </a:solidFill>
              </a:rPr>
              <a:t>where </a:t>
            </a:r>
            <a:r>
              <a:rPr lang="en-US" sz="3600" dirty="0">
                <a:solidFill>
                  <a:srgbClr val="FF0000"/>
                </a:solidFill>
              </a:rPr>
              <a:t>applicable, the place and mode of delivery</a:t>
            </a:r>
          </a:p>
        </p:txBody>
      </p:sp>
    </p:spTree>
    <p:extLst>
      <p:ext uri="{BB962C8B-B14F-4D97-AF65-F5344CB8AC3E}">
        <p14:creationId xmlns:p14="http://schemas.microsoft.com/office/powerpoint/2010/main" val="3816340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3412" y="457200"/>
            <a:ext cx="10972800" cy="4031873"/>
          </a:xfrm>
          <a:prstGeom prst="rect">
            <a:avLst/>
          </a:prstGeom>
        </p:spPr>
        <p:txBody>
          <a:bodyPr wrap="square">
            <a:spAutoFit/>
          </a:bodyPr>
          <a:lstStyle/>
          <a:p>
            <a:pPr algn="ctr"/>
            <a:r>
              <a:rPr lang="en-US" sz="3200" b="1" dirty="0"/>
              <a:t>Type of Financial </a:t>
            </a:r>
            <a:r>
              <a:rPr lang="en-US" sz="3200" b="1" dirty="0" smtClean="0"/>
              <a:t>Derivatives</a:t>
            </a:r>
          </a:p>
          <a:p>
            <a:pPr marL="457200" indent="-457200">
              <a:buFont typeface="Arial" panose="020B0604020202020204" pitchFamily="34" charset="0"/>
              <a:buChar char="•"/>
            </a:pPr>
            <a:r>
              <a:rPr lang="en-US" sz="3200" dirty="0" smtClean="0">
                <a:solidFill>
                  <a:srgbClr val="FF0000"/>
                </a:solidFill>
              </a:rPr>
              <a:t>Example –if  "</a:t>
            </a:r>
            <a:r>
              <a:rPr lang="en-US" sz="3200" dirty="0">
                <a:solidFill>
                  <a:srgbClr val="FF0000"/>
                </a:solidFill>
              </a:rPr>
              <a:t>A" agrees to purchase 100 kg of wheat from "B" at </a:t>
            </a:r>
            <a:r>
              <a:rPr lang="en-US" sz="3200" dirty="0" err="1">
                <a:solidFill>
                  <a:srgbClr val="FF0000"/>
                </a:solidFill>
              </a:rPr>
              <a:t>Rs</a:t>
            </a:r>
            <a:r>
              <a:rPr lang="en-US" sz="3200" dirty="0">
                <a:solidFill>
                  <a:srgbClr val="FF0000"/>
                </a:solidFill>
              </a:rPr>
              <a:t>. 40/ per kg, after 6 it is a forward contract. </a:t>
            </a:r>
          </a:p>
          <a:p>
            <a:pPr marL="457200" indent="-457200">
              <a:buFont typeface="Arial" panose="020B0604020202020204" pitchFamily="34" charset="0"/>
              <a:buChar char="•"/>
            </a:pPr>
            <a:r>
              <a:rPr lang="en-US" sz="3200" dirty="0" smtClean="0"/>
              <a:t>Note </a:t>
            </a:r>
            <a:r>
              <a:rPr lang="en-US" sz="3200" dirty="0"/>
              <a:t>that the quality, specifications, delivery terms are all clearly specified in the contract</a:t>
            </a:r>
            <a:r>
              <a:rPr lang="en-US" sz="3200" dirty="0" smtClean="0"/>
              <a:t>)</a:t>
            </a:r>
          </a:p>
          <a:p>
            <a:pPr marL="457200" indent="-457200">
              <a:buFont typeface="Arial" panose="020B0604020202020204" pitchFamily="34" charset="0"/>
              <a:buChar char="•"/>
            </a:pPr>
            <a:r>
              <a:rPr lang="en-US" sz="3200" dirty="0" smtClean="0"/>
              <a:t>"</a:t>
            </a:r>
            <a:r>
              <a:rPr lang="en-US" sz="3200" dirty="0"/>
              <a:t>A" is assured of a buyer of 100 kg, @ 40/ per kg, 6 months from </a:t>
            </a:r>
            <a:r>
              <a:rPr lang="en-US" sz="3200" dirty="0" smtClean="0"/>
              <a:t>now</a:t>
            </a:r>
          </a:p>
          <a:p>
            <a:pPr marL="457200" indent="-457200">
              <a:buFont typeface="Arial" panose="020B0604020202020204" pitchFamily="34" charset="0"/>
              <a:buChar char="•"/>
            </a:pPr>
            <a:r>
              <a:rPr lang="en-US" sz="3200" dirty="0" smtClean="0"/>
              <a:t>"</a:t>
            </a:r>
            <a:r>
              <a:rPr lang="en-US" sz="3200" dirty="0"/>
              <a:t>B" is assured of supply of 100 kg, 40/ per kg, 6 months</a:t>
            </a:r>
          </a:p>
        </p:txBody>
      </p:sp>
    </p:spTree>
    <p:extLst>
      <p:ext uri="{BB962C8B-B14F-4D97-AF65-F5344CB8AC3E}">
        <p14:creationId xmlns:p14="http://schemas.microsoft.com/office/powerpoint/2010/main" val="3946421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6517" y="363072"/>
            <a:ext cx="11134165" cy="3416320"/>
          </a:xfrm>
          <a:prstGeom prst="rect">
            <a:avLst/>
          </a:prstGeom>
        </p:spPr>
        <p:txBody>
          <a:bodyPr wrap="square">
            <a:spAutoFit/>
          </a:bodyPr>
          <a:lstStyle/>
          <a:p>
            <a:pPr algn="ctr"/>
            <a:r>
              <a:rPr lang="en-US" sz="3600" dirty="0"/>
              <a:t>Type of Financial </a:t>
            </a:r>
            <a:r>
              <a:rPr lang="en-US" sz="3600" dirty="0" smtClean="0"/>
              <a:t>Derivatives</a:t>
            </a:r>
          </a:p>
          <a:p>
            <a:r>
              <a:rPr lang="en-US" sz="3600" b="1" dirty="0" smtClean="0"/>
              <a:t>Future Contract</a:t>
            </a:r>
          </a:p>
          <a:p>
            <a:pPr marL="285750" indent="-285750" algn="just">
              <a:buFont typeface="Arial" panose="020B0604020202020204" pitchFamily="34" charset="0"/>
              <a:buChar char="•"/>
            </a:pPr>
            <a:r>
              <a:rPr lang="en-US" sz="3600" dirty="0"/>
              <a:t>A</a:t>
            </a:r>
            <a:r>
              <a:rPr lang="en-US" sz="3600" dirty="0" smtClean="0"/>
              <a:t>n </a:t>
            </a:r>
            <a:r>
              <a:rPr lang="en-US" sz="3600" dirty="0"/>
              <a:t>agreement between two parties </a:t>
            </a:r>
            <a:r>
              <a:rPr lang="en-US" sz="3600" dirty="0" smtClean="0"/>
              <a:t>– a buyer and </a:t>
            </a:r>
            <a:r>
              <a:rPr lang="en-US" sz="3600" dirty="0"/>
              <a:t>a </a:t>
            </a:r>
            <a:r>
              <a:rPr lang="en-US" sz="3600" dirty="0" smtClean="0"/>
              <a:t>seller</a:t>
            </a:r>
          </a:p>
          <a:p>
            <a:pPr marL="285750" indent="-285750" algn="just">
              <a:buFont typeface="Arial" panose="020B0604020202020204" pitchFamily="34" charset="0"/>
              <a:buChar char="•"/>
            </a:pPr>
            <a:r>
              <a:rPr lang="en-US" sz="3600" dirty="0"/>
              <a:t>T</a:t>
            </a:r>
            <a:r>
              <a:rPr lang="en-US" sz="3600" dirty="0" smtClean="0"/>
              <a:t>o </a:t>
            </a:r>
            <a:r>
              <a:rPr lang="en-US" sz="3600" dirty="0"/>
              <a:t>buy or sell something at a future </a:t>
            </a:r>
            <a:r>
              <a:rPr lang="en-US" sz="3600" dirty="0" smtClean="0"/>
              <a:t>date</a:t>
            </a:r>
          </a:p>
          <a:p>
            <a:pPr marL="285750" indent="-285750" algn="just">
              <a:buFont typeface="Arial" panose="020B0604020202020204" pitchFamily="34" charset="0"/>
              <a:buChar char="•"/>
            </a:pPr>
            <a:r>
              <a:rPr lang="en-US" sz="3600" dirty="0" smtClean="0"/>
              <a:t>The </a:t>
            </a:r>
            <a:r>
              <a:rPr lang="en-US" sz="3600" dirty="0"/>
              <a:t>contact trades on a futures exchange and is subject to a daily settlement procedure.</a:t>
            </a:r>
          </a:p>
        </p:txBody>
      </p:sp>
      <p:sp>
        <p:nvSpPr>
          <p:cNvPr id="3" name="Rectangle 2"/>
          <p:cNvSpPr/>
          <p:nvPr/>
        </p:nvSpPr>
        <p:spPr>
          <a:xfrm>
            <a:off x="376516" y="3779392"/>
            <a:ext cx="11134165" cy="1754326"/>
          </a:xfrm>
          <a:prstGeom prst="rect">
            <a:avLst/>
          </a:prstGeom>
        </p:spPr>
        <p:txBody>
          <a:bodyPr wrap="square">
            <a:spAutoFit/>
          </a:bodyPr>
          <a:lstStyle/>
          <a:p>
            <a:pPr marL="285750" indent="-285750">
              <a:buFont typeface="Arial" panose="020B0604020202020204" pitchFamily="34" charset="0"/>
              <a:buChar char="•"/>
            </a:pPr>
            <a:r>
              <a:rPr lang="en-US" sz="3600" dirty="0" smtClean="0">
                <a:solidFill>
                  <a:srgbClr val="FF0000"/>
                </a:solidFill>
              </a:rPr>
              <a:t>The </a:t>
            </a:r>
            <a:r>
              <a:rPr lang="en-US" sz="3600" dirty="0">
                <a:solidFill>
                  <a:srgbClr val="FF0000"/>
                </a:solidFill>
              </a:rPr>
              <a:t>stock exchange becomes the buyer seller, and the seller for the </a:t>
            </a:r>
            <a:r>
              <a:rPr lang="en-US" sz="3600" dirty="0" smtClean="0">
                <a:solidFill>
                  <a:srgbClr val="FF0000"/>
                </a:solidFill>
              </a:rPr>
              <a:t>buyer</a:t>
            </a:r>
          </a:p>
          <a:p>
            <a:pPr marL="285750" indent="-285750">
              <a:buFont typeface="Arial" panose="020B0604020202020204" pitchFamily="34" charset="0"/>
              <a:buChar char="•"/>
            </a:pPr>
            <a:r>
              <a:rPr lang="en-US" sz="3600" dirty="0" smtClean="0">
                <a:solidFill>
                  <a:srgbClr val="FF0000"/>
                </a:solidFill>
              </a:rPr>
              <a:t>Future contracts </a:t>
            </a:r>
            <a:r>
              <a:rPr lang="en-US" sz="3600" dirty="0">
                <a:solidFill>
                  <a:srgbClr val="FF0000"/>
                </a:solidFill>
              </a:rPr>
              <a:t>trade on </a:t>
            </a:r>
            <a:r>
              <a:rPr lang="en-US" sz="3600" dirty="0" smtClean="0">
                <a:solidFill>
                  <a:srgbClr val="FF0000"/>
                </a:solidFill>
              </a:rPr>
              <a:t>organized </a:t>
            </a:r>
            <a:r>
              <a:rPr lang="en-US" sz="3600" dirty="0">
                <a:solidFill>
                  <a:srgbClr val="FF0000"/>
                </a:solidFill>
              </a:rPr>
              <a:t>exchanges, markets</a:t>
            </a:r>
          </a:p>
        </p:txBody>
      </p:sp>
    </p:spTree>
    <p:extLst>
      <p:ext uri="{BB962C8B-B14F-4D97-AF65-F5344CB8AC3E}">
        <p14:creationId xmlns:p14="http://schemas.microsoft.com/office/powerpoint/2010/main" val="12722500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459" y="537882"/>
            <a:ext cx="10824882" cy="3970318"/>
          </a:xfrm>
          <a:prstGeom prst="rect">
            <a:avLst/>
          </a:prstGeom>
        </p:spPr>
        <p:txBody>
          <a:bodyPr wrap="square">
            <a:spAutoFit/>
          </a:bodyPr>
          <a:lstStyle/>
          <a:p>
            <a:pPr algn="ctr"/>
            <a:r>
              <a:rPr lang="en-US" sz="3600" dirty="0"/>
              <a:t>Type of Financial Derivatives</a:t>
            </a:r>
          </a:p>
          <a:p>
            <a:pPr algn="just"/>
            <a:r>
              <a:rPr lang="en-US" sz="3600" b="1" dirty="0" smtClean="0"/>
              <a:t>Option Contract</a:t>
            </a:r>
          </a:p>
          <a:p>
            <a:pPr marL="285750" indent="-285750" algn="just">
              <a:buFont typeface="Arial" panose="020B0604020202020204" pitchFamily="34" charset="0"/>
              <a:buChar char="•"/>
            </a:pPr>
            <a:r>
              <a:rPr lang="en-US" sz="3600" dirty="0" smtClean="0"/>
              <a:t> </a:t>
            </a:r>
            <a:r>
              <a:rPr lang="en-US" sz="3600" dirty="0"/>
              <a:t>one-sided contract: only one </a:t>
            </a:r>
            <a:r>
              <a:rPr lang="en-US" sz="3600" dirty="0" smtClean="0"/>
              <a:t> party seems to benefit</a:t>
            </a:r>
          </a:p>
          <a:p>
            <a:pPr marL="285750" indent="-285750" algn="just">
              <a:buFont typeface="Arial" panose="020B0604020202020204" pitchFamily="34" charset="0"/>
              <a:buChar char="•"/>
            </a:pPr>
            <a:r>
              <a:rPr lang="en-US" sz="3600" dirty="0" smtClean="0"/>
              <a:t> </a:t>
            </a:r>
            <a:r>
              <a:rPr lang="en-US" sz="3600" dirty="0"/>
              <a:t>Options are of two types - calls </a:t>
            </a:r>
            <a:r>
              <a:rPr lang="en-US" sz="3600" dirty="0" smtClean="0"/>
              <a:t>and puts.</a:t>
            </a:r>
          </a:p>
          <a:p>
            <a:pPr marL="285750" indent="-285750" algn="just">
              <a:buFont typeface="Arial" panose="020B0604020202020204" pitchFamily="34" charset="0"/>
              <a:buChar char="•"/>
            </a:pPr>
            <a:r>
              <a:rPr lang="en-US" sz="3600" b="1" dirty="0" smtClean="0">
                <a:solidFill>
                  <a:srgbClr val="FF0000"/>
                </a:solidFill>
              </a:rPr>
              <a:t>Call </a:t>
            </a:r>
            <a:r>
              <a:rPr lang="en-US" sz="3600" dirty="0" smtClean="0">
                <a:solidFill>
                  <a:srgbClr val="FF0000"/>
                </a:solidFill>
              </a:rPr>
              <a:t> </a:t>
            </a:r>
            <a:r>
              <a:rPr lang="en-US" sz="3600" dirty="0">
                <a:solidFill>
                  <a:srgbClr val="FF0000"/>
                </a:solidFill>
              </a:rPr>
              <a:t>give the </a:t>
            </a:r>
            <a:r>
              <a:rPr lang="en-US" sz="3600" b="1" dirty="0">
                <a:solidFill>
                  <a:srgbClr val="FF0000"/>
                </a:solidFill>
              </a:rPr>
              <a:t>buyer the right </a:t>
            </a:r>
            <a:r>
              <a:rPr lang="en-US" sz="3600" dirty="0">
                <a:solidFill>
                  <a:srgbClr val="FF0000"/>
                </a:solidFill>
              </a:rPr>
              <a:t>but not the obligation </a:t>
            </a:r>
            <a:r>
              <a:rPr lang="en-US" sz="3600" b="1" dirty="0">
                <a:solidFill>
                  <a:srgbClr val="FF0000"/>
                </a:solidFill>
              </a:rPr>
              <a:t>to buy </a:t>
            </a:r>
            <a:r>
              <a:rPr lang="en-US" sz="3600" dirty="0">
                <a:solidFill>
                  <a:srgbClr val="FF0000"/>
                </a:solidFill>
              </a:rPr>
              <a:t>a given quantity of the underlying asset, at a given price on or before a given future date.</a:t>
            </a:r>
          </a:p>
        </p:txBody>
      </p:sp>
    </p:spTree>
    <p:extLst>
      <p:ext uri="{BB962C8B-B14F-4D97-AF65-F5344CB8AC3E}">
        <p14:creationId xmlns:p14="http://schemas.microsoft.com/office/powerpoint/2010/main" val="1357040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6481" y="605118"/>
            <a:ext cx="10421471" cy="2862322"/>
          </a:xfrm>
          <a:prstGeom prst="rect">
            <a:avLst/>
          </a:prstGeom>
        </p:spPr>
        <p:txBody>
          <a:bodyPr wrap="square">
            <a:spAutoFit/>
          </a:bodyPr>
          <a:lstStyle/>
          <a:p>
            <a:r>
              <a:rPr lang="en-US" sz="3600" b="1" dirty="0"/>
              <a:t>Option Contract</a:t>
            </a:r>
          </a:p>
          <a:p>
            <a:pPr marL="285750" indent="-285750">
              <a:buFont typeface="Arial" panose="020B0604020202020204" pitchFamily="34" charset="0"/>
              <a:buChar char="•"/>
            </a:pPr>
            <a:r>
              <a:rPr lang="en-US" sz="3600" b="1" dirty="0" smtClean="0"/>
              <a:t>Puts</a:t>
            </a:r>
            <a:r>
              <a:rPr lang="en-US" sz="3600" dirty="0" smtClean="0"/>
              <a:t> </a:t>
            </a:r>
            <a:r>
              <a:rPr lang="en-US" sz="3600" dirty="0"/>
              <a:t>give the </a:t>
            </a:r>
            <a:r>
              <a:rPr lang="en-US" sz="3600" b="1" dirty="0"/>
              <a:t>buyer the right</a:t>
            </a:r>
            <a:r>
              <a:rPr lang="en-US" sz="3600" dirty="0"/>
              <a:t>, but not the obligation </a:t>
            </a:r>
            <a:r>
              <a:rPr lang="en-US" sz="3600" b="1" dirty="0"/>
              <a:t>to sell </a:t>
            </a:r>
            <a:r>
              <a:rPr lang="en-US" sz="3600" dirty="0"/>
              <a:t>a given quantity of the underlying asset at a given price on or before a given </a:t>
            </a:r>
            <a:r>
              <a:rPr lang="en-US" sz="3600" dirty="0" smtClean="0"/>
              <a:t>date.</a:t>
            </a:r>
          </a:p>
          <a:p>
            <a:pPr marL="285750" indent="-285750">
              <a:buFont typeface="Arial" panose="020B0604020202020204" pitchFamily="34" charset="0"/>
              <a:buChar char="•"/>
            </a:pPr>
            <a:r>
              <a:rPr lang="en-US" sz="3600" dirty="0" smtClean="0">
                <a:solidFill>
                  <a:srgbClr val="FF0000"/>
                </a:solidFill>
              </a:rPr>
              <a:t>There </a:t>
            </a:r>
            <a:r>
              <a:rPr lang="en-US" sz="3600" dirty="0">
                <a:solidFill>
                  <a:srgbClr val="FF0000"/>
                </a:solidFill>
              </a:rPr>
              <a:t>is a buyer seller for both, call &amp; </a:t>
            </a:r>
            <a:r>
              <a:rPr lang="en-US" sz="3600" dirty="0" smtClean="0">
                <a:solidFill>
                  <a:srgbClr val="FF0000"/>
                </a:solidFill>
              </a:rPr>
              <a:t>put options</a:t>
            </a:r>
            <a:endParaRPr lang="en-US" sz="3600" dirty="0">
              <a:solidFill>
                <a:srgbClr val="FF0000"/>
              </a:solidFill>
            </a:endParaRPr>
          </a:p>
        </p:txBody>
      </p:sp>
    </p:spTree>
    <p:extLst>
      <p:ext uri="{BB962C8B-B14F-4D97-AF65-F5344CB8AC3E}">
        <p14:creationId xmlns:p14="http://schemas.microsoft.com/office/powerpoint/2010/main" val="1981542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2729" y="524436"/>
            <a:ext cx="11147612" cy="3970318"/>
          </a:xfrm>
          <a:prstGeom prst="rect">
            <a:avLst/>
          </a:prstGeom>
        </p:spPr>
        <p:txBody>
          <a:bodyPr wrap="square">
            <a:spAutoFit/>
          </a:bodyPr>
          <a:lstStyle/>
          <a:p>
            <a:pPr algn="ctr"/>
            <a:r>
              <a:rPr lang="en-US" sz="3600" dirty="0"/>
              <a:t>Type of Financial </a:t>
            </a:r>
            <a:r>
              <a:rPr lang="en-US" sz="3600" dirty="0" smtClean="0"/>
              <a:t>Derivatives</a:t>
            </a:r>
          </a:p>
          <a:p>
            <a:pPr algn="just"/>
            <a:r>
              <a:rPr lang="en-US" sz="3600" b="1" dirty="0" smtClean="0"/>
              <a:t>Swaps</a:t>
            </a:r>
          </a:p>
          <a:p>
            <a:pPr marL="285750" indent="-285750" algn="just">
              <a:buFont typeface="Arial" panose="020B0604020202020204" pitchFamily="34" charset="0"/>
              <a:buChar char="•"/>
            </a:pPr>
            <a:r>
              <a:rPr lang="en-US" sz="3600" dirty="0" smtClean="0"/>
              <a:t>an </a:t>
            </a:r>
            <a:r>
              <a:rPr lang="en-US" sz="3600" dirty="0"/>
              <a:t>agreement between two </a:t>
            </a:r>
            <a:r>
              <a:rPr lang="en-US" sz="3600" dirty="0" smtClean="0"/>
              <a:t>counterparties</a:t>
            </a:r>
          </a:p>
          <a:p>
            <a:pPr marL="285750" indent="-285750" algn="just">
              <a:buFont typeface="Arial" panose="020B0604020202020204" pitchFamily="34" charset="0"/>
              <a:buChar char="•"/>
            </a:pPr>
            <a:r>
              <a:rPr lang="en-US" sz="3600" dirty="0" smtClean="0"/>
              <a:t>to </a:t>
            </a:r>
            <a:r>
              <a:rPr lang="en-US" sz="3600" dirty="0"/>
              <a:t>exchange cash flows on specific dates, based on the terms of the contract entered </a:t>
            </a:r>
            <a:r>
              <a:rPr lang="en-US" sz="3600" dirty="0" smtClean="0"/>
              <a:t>into</a:t>
            </a:r>
          </a:p>
          <a:p>
            <a:pPr marL="285750" indent="-285750" algn="just">
              <a:buFont typeface="Arial" panose="020B0604020202020204" pitchFamily="34" charset="0"/>
              <a:buChar char="•"/>
            </a:pPr>
            <a:r>
              <a:rPr lang="en-US" sz="3600" dirty="0" smtClean="0"/>
              <a:t>are </a:t>
            </a:r>
            <a:r>
              <a:rPr lang="en-US" sz="3600" dirty="0"/>
              <a:t>private </a:t>
            </a:r>
            <a:r>
              <a:rPr lang="en-US" sz="3600" dirty="0" smtClean="0"/>
              <a:t>agreements</a:t>
            </a:r>
          </a:p>
          <a:p>
            <a:pPr marL="285750" indent="-285750" algn="just">
              <a:buFont typeface="Arial" panose="020B0604020202020204" pitchFamily="34" charset="0"/>
              <a:buChar char="•"/>
            </a:pPr>
            <a:r>
              <a:rPr lang="en-US" sz="3600" dirty="0" smtClean="0"/>
              <a:t>can </a:t>
            </a:r>
            <a:r>
              <a:rPr lang="en-US" sz="3600" dirty="0"/>
              <a:t>be regarded as portfolios of forward contracts</a:t>
            </a:r>
          </a:p>
        </p:txBody>
      </p:sp>
    </p:spTree>
    <p:extLst>
      <p:ext uri="{BB962C8B-B14F-4D97-AF65-F5344CB8AC3E}">
        <p14:creationId xmlns:p14="http://schemas.microsoft.com/office/powerpoint/2010/main" val="225096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1020</TotalTime>
  <Words>1432</Words>
  <Application>Microsoft Office PowerPoint</Application>
  <PresentationFormat>Widescreen</PresentationFormat>
  <Paragraphs>185</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Courier New</vt:lpstr>
      <vt:lpstr>Times New Roman</vt:lpstr>
      <vt:lpstr>Wingdings</vt:lpstr>
      <vt:lpstr>Office Theme</vt:lpstr>
      <vt:lpstr>Introduction to Financial Management</vt:lpstr>
      <vt:lpstr>Introduction to Financial Management</vt:lpstr>
      <vt:lpstr>Scope of Financial Management</vt:lpstr>
      <vt:lpstr> Objectives of Financial Management  </vt:lpstr>
      <vt:lpstr> Objectives of Financial Management  </vt:lpstr>
      <vt:lpstr> Objectives of Financial Management  </vt:lpstr>
      <vt:lpstr>Role of Finance Managers</vt:lpstr>
      <vt:lpstr>Functions of Finance Managers</vt:lpstr>
      <vt:lpstr>Interface of Financial Management with other Functional areas</vt:lpstr>
      <vt:lpstr>Indian Financial System</vt:lpstr>
      <vt:lpstr>Structure-types-Financial markets</vt:lpstr>
      <vt:lpstr>Financial system- </vt:lpstr>
      <vt:lpstr>Financial Instruments</vt:lpstr>
      <vt:lpstr>PowerPoint Presentation</vt:lpstr>
      <vt:lpstr>PowerPoint Presentation</vt:lpstr>
      <vt:lpstr>2. Capital Market Instruments Capital Market an organized market in which both individuals and business entities buy and sell debt and equity securities BSE, NSE, NIFTY the buyers use funds for longer-term investment Stocks, Bonds, Debentures</vt:lpstr>
      <vt:lpstr>PowerPoint Presentation</vt:lpstr>
      <vt:lpstr>Financial institutions and financial services</vt:lpstr>
      <vt:lpstr>Non-Banking Financial Companies (NBFCs)</vt:lpstr>
      <vt:lpstr>Emerging areas in Financial Management</vt:lpstr>
      <vt:lpstr>Risk Management</vt:lpstr>
      <vt:lpstr>Behavioural Finance</vt:lpstr>
      <vt:lpstr>Financial Engineering</vt:lpstr>
      <vt:lpstr>Derivatives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Financial Management</dc:title>
  <dc:creator>Mahesh Ganagi</dc:creator>
  <cp:lastModifiedBy>hp</cp:lastModifiedBy>
  <cp:revision>51</cp:revision>
  <dcterms:created xsi:type="dcterms:W3CDTF">2026-04-08T15:26:22Z</dcterms:created>
  <dcterms:modified xsi:type="dcterms:W3CDTF">2026-05-04T04:51:21Z</dcterms:modified>
</cp:coreProperties>
</file>