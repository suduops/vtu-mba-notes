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5" r:id="rId12"/>
    <p:sldId id="266" r:id="rId13"/>
    <p:sldId id="267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3" autoAdjust="0"/>
    <p:restoredTop sz="94660"/>
  </p:normalViewPr>
  <p:slideViewPr>
    <p:cSldViewPr>
      <p:cViewPr varScale="1">
        <p:scale>
          <a:sx n="71" d="100"/>
          <a:sy n="71" d="100"/>
        </p:scale>
        <p:origin x="128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228601"/>
            <a:ext cx="7772400" cy="9906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49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Module-1 :    Introduction </a:t>
            </a:r>
            <a:r>
              <a:rPr lang="en-US" b="1" dirty="0" smtClean="0"/>
              <a:t>	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1295400"/>
            <a:ext cx="8610600" cy="5334000"/>
          </a:xfrm>
        </p:spPr>
        <p:txBody>
          <a:bodyPr>
            <a:normAutofit fontScale="92500"/>
          </a:bodyPr>
          <a:lstStyle/>
          <a:p>
            <a:pPr algn="just">
              <a:buFont typeface="Wingdings" pitchFamily="2" charset="2"/>
              <a:buChar char="ü"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Human Resource Management and Personnel Management.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Importance of Human Resource Management. Models of Human Resource Management.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Evolution of Human Resource Management.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HRM in India and the Factors Influencing Human Resource Management.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Human Resource Management and Line Managers.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The HR Competencies, Human Resource Management and Firm Performance. </a:t>
            </a:r>
            <a:r>
              <a:rPr lang="en-US" dirty="0" smtClean="0"/>
              <a:t>	</a:t>
            </a:r>
          </a:p>
          <a:p>
            <a:pPr algn="l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pPr algn="l"/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Human Resource Management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25780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 smtClean="0"/>
              <a:t>		</a:t>
            </a:r>
          </a:p>
          <a:p>
            <a:pPr algn="just">
              <a:buNone/>
            </a:pPr>
            <a:r>
              <a:rPr lang="en-US" sz="45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Human Resource Management (HRM) is a process of </a:t>
            </a:r>
            <a:r>
              <a:rPr lang="en-US" sz="4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management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 which develops and manages the human elements of an enterprise.</a:t>
            </a:r>
          </a:p>
          <a:p>
            <a:pPr algn="just">
              <a:buNone/>
            </a:pP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		It is not only the  management of skills but also the </a:t>
            </a:r>
            <a:r>
              <a:rPr lang="en-US" sz="4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attitudes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4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aspirations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 of people.</a:t>
            </a:r>
          </a:p>
          <a:p>
            <a:pPr algn="just">
              <a:buNone/>
            </a:pP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		Management is the process of dealing with or controlling things or people.</a:t>
            </a:r>
          </a:p>
          <a:p>
            <a:pPr algn="just">
              <a:buNone/>
            </a:pP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		Attitude is a settled way of thinking or feeling about something.</a:t>
            </a:r>
          </a:p>
          <a:p>
            <a:pPr algn="just">
              <a:buNone/>
            </a:pP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		Aspiration is a hope or ambition of achieving something.</a:t>
            </a:r>
            <a:r>
              <a:rPr lang="en-US" sz="2900" dirty="0" smtClean="0"/>
              <a:t>		</a:t>
            </a:r>
            <a:endParaRPr lang="en-US" sz="2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dirty="0" smtClean="0"/>
              <a:t>		</a:t>
            </a:r>
            <a:r>
              <a:rPr 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Edwin </a:t>
            </a:r>
            <a:r>
              <a:rPr lang="en-US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Flippo</a:t>
            </a:r>
            <a:r>
              <a:rPr 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defines- Human Resource Management as “planning, organizing, directing, controlling of procurement, development, compensation, integration , maintenance and separation of human resources to the end that individual, organizational and social objectives are achieved.” </a:t>
            </a:r>
          </a:p>
          <a:p>
            <a:pPr algn="just"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	HRM may be defined as “set of polices, practices and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programmes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deigned and implemented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maximize both </a:t>
            </a:r>
            <a:r>
              <a:rPr 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personal and organization goals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”.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92162"/>
          </a:xfrm>
        </p:spPr>
        <p:txBody>
          <a:bodyPr>
            <a:normAutofit fontScale="90000"/>
          </a:bodyPr>
          <a:lstStyle/>
          <a:p>
            <a:r>
              <a:rPr lang="en-US" sz="49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9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9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9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9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HRM v/s Personnel Management </a:t>
            </a:r>
            <a:r>
              <a:rPr lang="en-US" dirty="0" smtClean="0"/>
              <a:t>	</a:t>
            </a:r>
            <a:br>
              <a:rPr lang="en-US" dirty="0" smtClean="0"/>
            </a:b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0" y="838200"/>
          <a:ext cx="9144000" cy="5791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6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0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77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67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HRM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Basis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Personnel Management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455">
                <a:tc>
                  <a:txBody>
                    <a:bodyPr/>
                    <a:lstStyle/>
                    <a:p>
                      <a:r>
                        <a:rPr lang="en-US" sz="2000" b="0" i="0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Modern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Approach</a:t>
                      </a:r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Traditional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4583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Its philosophy</a:t>
                      </a:r>
                      <a:r>
                        <a:rPr lang="en-US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is to develop the people as per their aspiration, Goals and motivate them to achieve the organizational goals.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Meaning</a:t>
                      </a:r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It is concerned with procurement</a:t>
                      </a:r>
                      <a:r>
                        <a:rPr lang="en-US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and development of personnel to achieve the organization objectives.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498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Resources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Employee Treatment</a:t>
                      </a:r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 Machines/Tools/</a:t>
                      </a:r>
                      <a:r>
                        <a:rPr lang="en-US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Product.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455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On</a:t>
                      </a:r>
                      <a:r>
                        <a:rPr lang="en-US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the basis of Performance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Salary</a:t>
                      </a:r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On the basis of Job Evaluation.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8498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Fast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Decision Making</a:t>
                      </a:r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Slow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165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Business </a:t>
                      </a:r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needs or need base.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Management Actions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Procedure/ Routine.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08498">
                <a:tc>
                  <a:txBody>
                    <a:bodyPr/>
                    <a:lstStyle/>
                    <a:p>
                      <a:r>
                        <a:rPr lang="en-US" sz="2000" b="0" i="0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Transactional.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Management Role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Transformational .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/>
            </a:r>
            <a:br>
              <a:rPr lang="en-US" dirty="0" smtClean="0"/>
            </a:br>
            <a:r>
              <a:rPr lang="en-US" sz="49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Importance of HRM</a:t>
            </a:r>
            <a:r>
              <a:rPr lang="en-US" dirty="0" smtClean="0"/>
              <a:t>	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610600" cy="5410200"/>
          </a:xfrm>
        </p:spPr>
        <p:txBody>
          <a:bodyPr/>
          <a:lstStyle/>
          <a:p>
            <a:pPr algn="just">
              <a:buNone/>
            </a:pPr>
            <a:r>
              <a:rPr lang="en-US" dirty="0" smtClean="0"/>
              <a:t>		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All the of any enterprise are initiated and determined by </a:t>
            </a:r>
            <a:r>
              <a:rPr lang="en-US" sz="28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persons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who make up that institution.</a:t>
            </a:r>
          </a:p>
          <a:p>
            <a:pPr algn="just"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	The importance of HRM are broadly grouped in to three categories. They are : </a:t>
            </a:r>
          </a:p>
          <a:p>
            <a:pPr algn="just"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 algn="just">
              <a:buAutoNum type="arabi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For the organization.</a:t>
            </a:r>
          </a:p>
          <a:p>
            <a:pPr marL="514350" indent="-514350" algn="just">
              <a:buAutoNum type="arabi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For the Employees.</a:t>
            </a:r>
          </a:p>
          <a:p>
            <a:pPr marL="514350" indent="-514350" algn="just">
              <a:buAutoNum type="arabi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For the Society.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28600"/>
            <a:ext cx="8839200" cy="6477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For the Organization:</a:t>
            </a:r>
          </a:p>
          <a:p>
            <a:pPr>
              <a:buNone/>
            </a:pPr>
            <a:endParaRPr lang="en-US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AutoNum type="arabi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Good HR practices help in attracting and retaining the best people.</a:t>
            </a:r>
          </a:p>
          <a:p>
            <a:pPr marL="514350" indent="-514350">
              <a:buAutoNum type="arabi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intervention of the latest technology in the business is possible only with best and right type of people.</a:t>
            </a:r>
          </a:p>
          <a:p>
            <a:pPr marL="514350" indent="-514350">
              <a:buAutoNum type="arabi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HRP alerts the organization with the type of people it will need in the short, medium and long run.</a:t>
            </a:r>
          </a:p>
          <a:p>
            <a:pPr marL="514350" indent="-514350">
              <a:buAutoNum type="arabi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HRD is essential for beating the challenges of future.</a:t>
            </a:r>
          </a:p>
          <a:p>
            <a:pPr marL="514350" indent="-514350">
              <a:buAutoNum type="arabi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performance of the depends upon the quality of employees and this has further increased the importance of HRM.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763000" cy="6553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For the Employees:</a:t>
            </a:r>
          </a:p>
          <a:p>
            <a:pPr marL="514350" indent="-514350" algn="just"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HRM stresses on the motivation of employees by providing Financial and Non financial incentives.</a:t>
            </a:r>
          </a:p>
          <a:p>
            <a:pPr marL="514350" indent="-514350" algn="just"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HRM promotes the culture of team work and Team spirit among the employees. </a:t>
            </a:r>
          </a:p>
          <a:p>
            <a:pPr marL="514350" indent="-514350" algn="just"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offers growth opportunities.</a:t>
            </a:r>
          </a:p>
          <a:p>
            <a:pPr marL="514350" indent="-514350" algn="just"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encourages people to work with diligence and commitment.</a:t>
            </a:r>
          </a:p>
          <a:p>
            <a:pPr marL="514350" indent="-514350" algn="just">
              <a:buNone/>
            </a:pP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For the Society:</a:t>
            </a:r>
          </a:p>
          <a:p>
            <a:pPr marL="514350" indent="-514350"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Good HR efforts lead to </a:t>
            </a:r>
            <a:r>
              <a:rPr lang="en-US" sz="2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productivity gains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(Ratio of Output to Input) to the Society and accordingly : </a:t>
            </a:r>
          </a:p>
          <a:p>
            <a:pPr marL="514350" indent="-514350" algn="just"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helps managers to reduce the costs.</a:t>
            </a:r>
          </a:p>
          <a:p>
            <a:pPr marL="514350" indent="-514350" algn="just"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helps to save the scares resources.</a:t>
            </a:r>
          </a:p>
          <a:p>
            <a:pPr marL="514350" indent="-514350" algn="just"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helps to enhance the profits and offer better pay, benefits and best working conditions to employees.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/>
            </a:r>
            <a:br>
              <a:rPr lang="en-US" dirty="0" smtClean="0"/>
            </a:br>
            <a:r>
              <a:rPr lang="en-US" sz="49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Evolution of HRM </a:t>
            </a:r>
            <a:r>
              <a:rPr lang="en-US" dirty="0" smtClean="0"/>
              <a:t>	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763000" cy="5486400"/>
          </a:xfrm>
        </p:spPr>
        <p:txBody>
          <a:bodyPr/>
          <a:lstStyle/>
          <a:p>
            <a:pPr algn="just">
              <a:buNone/>
            </a:pPr>
            <a:r>
              <a:rPr lang="en-US" dirty="0" smtClean="0"/>
              <a:t>		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concept of HRM has developed through a  number of stages. They are as follows : </a:t>
            </a:r>
          </a:p>
          <a:p>
            <a:pPr algn="just"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 algn="just">
              <a:buAutoNum type="arabi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Commodity Concept.</a:t>
            </a:r>
          </a:p>
          <a:p>
            <a:pPr marL="514350" indent="-514350" algn="just">
              <a:buAutoNum type="arabi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Factor of Production Concept.</a:t>
            </a:r>
          </a:p>
          <a:p>
            <a:pPr marL="514350" indent="-514350" algn="just">
              <a:buAutoNum type="arabi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Paternalistic Approach.</a:t>
            </a:r>
          </a:p>
          <a:p>
            <a:pPr marL="514350" indent="-514350" algn="just">
              <a:buAutoNum type="arabi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Humanitarian Approach.</a:t>
            </a:r>
          </a:p>
          <a:p>
            <a:pPr marL="514350" indent="-514350" algn="just">
              <a:buAutoNum type="arabi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Behavioural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Human Resource Concept.</a:t>
            </a:r>
          </a:p>
          <a:p>
            <a:pPr marL="514350" indent="-514350" algn="just">
              <a:buAutoNum type="arabi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Emerging Concept.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/>
            </a:r>
            <a:br>
              <a:rPr lang="en-US" dirty="0" smtClean="0"/>
            </a:br>
            <a:r>
              <a:rPr lang="en-US" sz="49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HRM in India 	</a:t>
            </a:r>
            <a:br>
              <a:rPr lang="en-US" sz="49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49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10600" cy="5486400"/>
          </a:xfrm>
        </p:spPr>
        <p:txBody>
          <a:bodyPr/>
          <a:lstStyle/>
          <a:p>
            <a:pPr algn="just">
              <a:buNone/>
            </a:pPr>
            <a:r>
              <a:rPr lang="en-US" dirty="0" smtClean="0"/>
              <a:t>	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growth of personnel human resource management in India has to pass through various phases to reach at the development phase. The different phases were as follows : </a:t>
            </a:r>
          </a:p>
          <a:p>
            <a:pPr marL="514350" indent="-514350" algn="just"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Early Phase.</a:t>
            </a:r>
          </a:p>
          <a:p>
            <a:pPr marL="514350" indent="-514350" algn="just"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Legal Phase.</a:t>
            </a:r>
          </a:p>
          <a:p>
            <a:pPr marL="514350" indent="-514350" algn="just"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Welfare Phase.</a:t>
            </a:r>
          </a:p>
          <a:p>
            <a:pPr marL="514350" indent="-514350" algn="just">
              <a:buAutoNum type="arabicPeriod"/>
            </a:pPr>
            <a:r>
              <a:rPr lang="en-US" smtClean="0">
                <a:latin typeface="Times New Roman" pitchFamily="18" charset="0"/>
                <a:cs typeface="Times New Roman" pitchFamily="18" charset="0"/>
              </a:rPr>
              <a:t>Development Phase.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MODELS of HRM	</a:t>
            </a:r>
            <a:b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715000"/>
          </a:xfrm>
        </p:spPr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Assignment  and need to submit on or before 14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July 2022.</a:t>
            </a: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Individual Presentation by Group Wise ( Two member each from a group), Every Wednesday during Practical Session.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/>
            </a:r>
            <a:br>
              <a:rPr lang="en-US" dirty="0" smtClean="0"/>
            </a:br>
            <a:r>
              <a:rPr lang="en-US" sz="49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Factors Influencing HRM	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5334000"/>
          </a:xfrm>
        </p:spPr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External factors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affecting human resource management are economic, socio-cultural, technological, political-legal, and professional association.</a:t>
            </a:r>
          </a:p>
          <a:p>
            <a:pPr algn="just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Internal factors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(also known as </a:t>
            </a:r>
            <a:r>
              <a:rPr 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organizational factors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lie within the organization and affect human resource management practices. It includes, organization’s strategy, organizational culture, trade unions, and organization’s financial position.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pPr algn="l"/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 HR Competencies</a:t>
            </a: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5486400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Interpersonal skills.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Confidentiality.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Active listening.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Event organizing.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Recruiting.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Conflict resolution.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Communication.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Team building skills .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Emotional intelligence .</a:t>
            </a:r>
          </a:p>
          <a:p>
            <a:pPr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The ability to accurately identify and respond to emotions.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HRM and Firm Performance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10600" cy="5715000"/>
          </a:xfrm>
        </p:spPr>
        <p:txBody>
          <a:bodyPr/>
          <a:lstStyle/>
          <a:p>
            <a:pPr algn="just">
              <a:buNone/>
            </a:pPr>
            <a:r>
              <a:rPr lang="en-US" dirty="0" smtClean="0"/>
              <a:t>	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we are looking for ways to change the perception of employees to improve relations and impact operational performance, here are five strategies to consider : 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Conduct yourself as a leader.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Use work to engage employees.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Initiate growth and development opportunities.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Encourage diversity in hiring and promotion.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Measure the efforts and outcomes.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			</a:t>
            </a:r>
            <a:r>
              <a:rPr lang="en-US" sz="3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Thank You…..</a:t>
            </a:r>
            <a:endParaRPr lang="en-US" sz="3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2784</TotalTime>
  <Words>345</Words>
  <Application>Microsoft Office PowerPoint</Application>
  <PresentationFormat>On-screen Show (4:3)</PresentationFormat>
  <Paragraphs>113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Times New Roman</vt:lpstr>
      <vt:lpstr>Wingdings</vt:lpstr>
      <vt:lpstr>Office Theme</vt:lpstr>
      <vt:lpstr> Module-1 :    Introduction   </vt:lpstr>
      <vt:lpstr>Human Resource Management</vt:lpstr>
      <vt:lpstr>PowerPoint Presentation</vt:lpstr>
      <vt:lpstr>  HRM v/s Personnel Management   </vt:lpstr>
      <vt:lpstr> Importance of HRM  </vt:lpstr>
      <vt:lpstr>PowerPoint Presentation</vt:lpstr>
      <vt:lpstr>PowerPoint Presentation</vt:lpstr>
      <vt:lpstr> Evolution of HRM   </vt:lpstr>
      <vt:lpstr> HRM in India   </vt:lpstr>
      <vt:lpstr>MODELS of HRM  </vt:lpstr>
      <vt:lpstr> Factors Influencing HRM  </vt:lpstr>
      <vt:lpstr>The HR Competencies</vt:lpstr>
      <vt:lpstr> HRM and Firm Performance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Module-1 :    Introduction   </dc:title>
  <dc:creator>vtu</dc:creator>
  <cp:lastModifiedBy>hp</cp:lastModifiedBy>
  <cp:revision>58</cp:revision>
  <dcterms:created xsi:type="dcterms:W3CDTF">2006-08-16T00:00:00Z</dcterms:created>
  <dcterms:modified xsi:type="dcterms:W3CDTF">2026-04-19T14:22:10Z</dcterms:modified>
</cp:coreProperties>
</file>