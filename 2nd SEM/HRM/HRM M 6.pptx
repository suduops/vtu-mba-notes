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74" r:id="rId13"/>
    <p:sldId id="266" r:id="rId14"/>
    <p:sldId id="268" r:id="rId15"/>
    <p:sldId id="273"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95277-3C91-C83B-61F5-C9FBAB1561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2B10BF7-7504-CC3E-0681-0E4B6C8C1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6C240F-06F4-0B5C-B205-1F0F86F741ED}"/>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5" name="Footer Placeholder 4">
            <a:extLst>
              <a:ext uri="{FF2B5EF4-FFF2-40B4-BE49-F238E27FC236}">
                <a16:creationId xmlns:a16="http://schemas.microsoft.com/office/drawing/2014/main" id="{A1C8B637-7D12-7F0E-800A-D07520787F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9447E0-F9D5-A6BF-FA95-9429758E8C52}"/>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1217354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5F04C-EB8A-90F7-86A5-ED54C87CCA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F2C919-110B-5BFE-6A80-BEFC1443D7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C3348F-9D2E-B36B-8AE0-B8DCA2CEB3CA}"/>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5" name="Footer Placeholder 4">
            <a:extLst>
              <a:ext uri="{FF2B5EF4-FFF2-40B4-BE49-F238E27FC236}">
                <a16:creationId xmlns:a16="http://schemas.microsoft.com/office/drawing/2014/main" id="{3FF9D190-BC59-F4AC-4B9A-F4667BAF30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8075BD-C1D1-98F7-739A-864B2153797A}"/>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52762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48615-14B1-4F58-C73E-66B7A791D5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0F3464-73AC-3646-4115-1E97BF7601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48E0BB-78DD-218F-FB3A-DB7CC1C5D305}"/>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5" name="Footer Placeholder 4">
            <a:extLst>
              <a:ext uri="{FF2B5EF4-FFF2-40B4-BE49-F238E27FC236}">
                <a16:creationId xmlns:a16="http://schemas.microsoft.com/office/drawing/2014/main" id="{1E63850A-1494-3F88-C090-2D73D6BEA7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2FE9E-B793-BC3C-2A6A-B96192803BD0}"/>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2454587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E038B-CDC3-06C2-5895-EEAF50349E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044069-FB1A-77DF-7748-134641D050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462DEA-CA25-37B6-CA4E-9ED3CDCAA1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1F24BF-8DC3-ECF4-CE9D-2BE08320AE93}"/>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6" name="Footer Placeholder 5">
            <a:extLst>
              <a:ext uri="{FF2B5EF4-FFF2-40B4-BE49-F238E27FC236}">
                <a16:creationId xmlns:a16="http://schemas.microsoft.com/office/drawing/2014/main" id="{AD973103-EA4C-AE58-DB7F-C41E176375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17AB9F-2CAB-0942-67C7-406AF2E24BF4}"/>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1349947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41A65-8D4D-D182-051A-5397E13B16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46AFBD-9742-DF99-2A08-FE55F0E54A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0D72EC-4258-B1D7-80BF-720187AE9A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04345F-E6FC-E429-58D3-4F9E47D35B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727E38-5AA2-FCFD-5981-1EB8ABE2BF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57FA92-FE28-EB42-1E61-6D3D064A418C}"/>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8" name="Footer Placeholder 7">
            <a:extLst>
              <a:ext uri="{FF2B5EF4-FFF2-40B4-BE49-F238E27FC236}">
                <a16:creationId xmlns:a16="http://schemas.microsoft.com/office/drawing/2014/main" id="{3EF3A637-8477-77EC-3991-D6EB480244C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502E32D-CBEA-3FB2-335A-9D150B18FE61}"/>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1609344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F4DE7-9E88-CFD3-A5D4-B1C279B079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2DFF55-E082-7B35-3CCE-E5459DBBCF08}"/>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4" name="Footer Placeholder 3">
            <a:extLst>
              <a:ext uri="{FF2B5EF4-FFF2-40B4-BE49-F238E27FC236}">
                <a16:creationId xmlns:a16="http://schemas.microsoft.com/office/drawing/2014/main" id="{23BA5104-D5BB-6DC6-8827-13EA7E67AB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E773B36-4105-01C7-362E-A81A88F794A0}"/>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77686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D98EFD-C882-7E64-AC8A-4F466C48008D}"/>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3" name="Footer Placeholder 2">
            <a:extLst>
              <a:ext uri="{FF2B5EF4-FFF2-40B4-BE49-F238E27FC236}">
                <a16:creationId xmlns:a16="http://schemas.microsoft.com/office/drawing/2014/main" id="{F4FA4134-3913-8BBE-75AA-8FC145C515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D080A8-94D4-17EB-39F1-8FDF5E4F9FFD}"/>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3669225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FCE7E-80E0-A349-129D-DE67BE1FD9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80567E-6468-393D-FB8E-18F8081512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9C57374-35F3-DB06-4FB4-C25D838BB6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5D6398-5EFB-0D18-32F2-FF8E886A7D48}"/>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6" name="Footer Placeholder 5">
            <a:extLst>
              <a:ext uri="{FF2B5EF4-FFF2-40B4-BE49-F238E27FC236}">
                <a16:creationId xmlns:a16="http://schemas.microsoft.com/office/drawing/2014/main" id="{A5769B0D-4FFE-098F-8301-21ADBED178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64E37D-544E-455E-36B0-68BEF9C280CA}"/>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3465226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EA0D-1433-F1FC-3608-00CE5FAAF5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642DAB-C85E-07AD-E1F3-AE2DCF243B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0505A9-4C74-48C3-91AF-75AA9AF308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91913-96E9-0872-DC10-E4CBABB494CF}"/>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6" name="Footer Placeholder 5">
            <a:extLst>
              <a:ext uri="{FF2B5EF4-FFF2-40B4-BE49-F238E27FC236}">
                <a16:creationId xmlns:a16="http://schemas.microsoft.com/office/drawing/2014/main" id="{552A1991-FDE4-FD1F-B2AD-A9E0F3ED6F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FEB35D-6035-EEF9-A304-F2947CEEEA1D}"/>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490213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9E5BF-A62D-49FD-A9F2-FCFA27C50D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CE61C0-5E6C-49CF-9514-58A11C4FAD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25DF52-7133-CB0F-92EC-892A8868ED64}"/>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5" name="Footer Placeholder 4">
            <a:extLst>
              <a:ext uri="{FF2B5EF4-FFF2-40B4-BE49-F238E27FC236}">
                <a16:creationId xmlns:a16="http://schemas.microsoft.com/office/drawing/2014/main" id="{7F17D764-A45F-4E6E-6981-294269741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29F6C5-E369-A648-7CBB-3E94F85379DB}"/>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2159184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29ABD8-279A-4A4D-0B4B-6F5A6F429B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5B6CD0-2F90-92CB-550C-9610160895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E29AD6-AC4B-C20E-9954-BBCC9DC7F945}"/>
              </a:ext>
            </a:extLst>
          </p:cNvPr>
          <p:cNvSpPr>
            <a:spLocks noGrp="1"/>
          </p:cNvSpPr>
          <p:nvPr>
            <p:ph type="dt" sz="half" idx="10"/>
          </p:nvPr>
        </p:nvSpPr>
        <p:spPr/>
        <p:txBody>
          <a:bodyPr/>
          <a:lstStyle/>
          <a:p>
            <a:fld id="{747D0DCC-B84D-45C7-A0CA-40B9360FED99}" type="datetimeFigureOut">
              <a:rPr lang="en-IN" smtClean="0"/>
              <a:pPr/>
              <a:t>28-06-2026</a:t>
            </a:fld>
            <a:endParaRPr lang="en-IN"/>
          </a:p>
        </p:txBody>
      </p:sp>
      <p:sp>
        <p:nvSpPr>
          <p:cNvPr id="5" name="Footer Placeholder 4">
            <a:extLst>
              <a:ext uri="{FF2B5EF4-FFF2-40B4-BE49-F238E27FC236}">
                <a16:creationId xmlns:a16="http://schemas.microsoft.com/office/drawing/2014/main" id="{DD9B8828-7726-F2ED-05FD-8A1F501783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4472C3-7CB8-9E33-C046-9C614F567592}"/>
              </a:ext>
            </a:extLst>
          </p:cNvPr>
          <p:cNvSpPr>
            <a:spLocks noGrp="1"/>
          </p:cNvSpPr>
          <p:nvPr>
            <p:ph type="sldNum" sz="quarter" idx="12"/>
          </p:nvPr>
        </p:nvSpPr>
        <p:spPr/>
        <p:txBody>
          <a:bodyPr/>
          <a:lstStyle/>
          <a:p>
            <a:fld id="{BB5DCDF1-0C63-406E-9CA7-7CA6CB88F75A}" type="slidenum">
              <a:rPr lang="en-IN" smtClean="0"/>
              <a:pPr/>
              <a:t>‹#›</a:t>
            </a:fld>
            <a:endParaRPr lang="en-IN"/>
          </a:p>
        </p:txBody>
      </p:sp>
    </p:spTree>
    <p:extLst>
      <p:ext uri="{BB962C8B-B14F-4D97-AF65-F5344CB8AC3E}">
        <p14:creationId xmlns:p14="http://schemas.microsoft.com/office/powerpoint/2010/main" val="2126826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829C28-7FCE-4F11-9110-C215EBB00E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36195F-AA45-B1B6-7145-85B9147224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DE6107-F7EB-A7C5-A7B9-52A315B4F3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7D0DCC-B84D-45C7-A0CA-40B9360FED99}" type="datetimeFigureOut">
              <a:rPr lang="en-IN" smtClean="0"/>
              <a:pPr/>
              <a:t>28-06-2026</a:t>
            </a:fld>
            <a:endParaRPr lang="en-IN"/>
          </a:p>
        </p:txBody>
      </p:sp>
      <p:sp>
        <p:nvSpPr>
          <p:cNvPr id="5" name="Footer Placeholder 4">
            <a:extLst>
              <a:ext uri="{FF2B5EF4-FFF2-40B4-BE49-F238E27FC236}">
                <a16:creationId xmlns:a16="http://schemas.microsoft.com/office/drawing/2014/main" id="{C68237EB-97A4-3FAC-B5AD-DFFED33F70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5FD4A4C-D7E2-7ADF-E26B-969521871D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5DCDF1-0C63-406E-9CA7-7CA6CB88F75A}" type="slidenum">
              <a:rPr lang="en-IN" smtClean="0"/>
              <a:pPr/>
              <a:t>‹#›</a:t>
            </a:fld>
            <a:endParaRPr lang="en-IN"/>
          </a:p>
        </p:txBody>
      </p:sp>
    </p:spTree>
    <p:extLst>
      <p:ext uri="{BB962C8B-B14F-4D97-AF65-F5344CB8AC3E}">
        <p14:creationId xmlns:p14="http://schemas.microsoft.com/office/powerpoint/2010/main" val="3459236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64886-1E84-D129-C0B0-71FD50BEFD80}"/>
              </a:ext>
            </a:extLst>
          </p:cNvPr>
          <p:cNvSpPr>
            <a:spLocks noGrp="1"/>
          </p:cNvSpPr>
          <p:nvPr>
            <p:ph type="title"/>
          </p:nvPr>
        </p:nvSpPr>
        <p:spPr>
          <a:xfrm>
            <a:off x="102742" y="36357"/>
            <a:ext cx="11989941" cy="970515"/>
          </a:xfrm>
        </p:spPr>
        <p:txBody>
          <a:bodyPr/>
          <a:lstStyle/>
          <a:p>
            <a:pPr algn="ctr"/>
            <a:r>
              <a:rPr lang="en-US" b="1" dirty="0">
                <a:solidFill>
                  <a:srgbClr val="C00000"/>
                </a:solidFill>
                <a:latin typeface="Times New Roman" panose="02020603050405020304" pitchFamily="18" charset="0"/>
                <a:cs typeface="Times New Roman" pitchFamily="18" charset="0"/>
              </a:rPr>
              <a:t>Future Trends in Human Resource Management</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818595-C592-BFC3-166D-9235AF27240D}"/>
              </a:ext>
            </a:extLst>
          </p:cNvPr>
          <p:cNvSpPr>
            <a:spLocks noGrp="1"/>
          </p:cNvSpPr>
          <p:nvPr>
            <p:ph idx="1"/>
          </p:nvPr>
        </p:nvSpPr>
        <p:spPr>
          <a:xfrm>
            <a:off x="102742" y="1181528"/>
            <a:ext cx="11989940" cy="5548045"/>
          </a:xfrm>
        </p:spPr>
        <p:txBody>
          <a:bodyPr>
            <a:normAutofit/>
          </a:bodyPr>
          <a:lstStyle/>
          <a:p>
            <a:pPr marL="0" indent="0" algn="just">
              <a:lnSpc>
                <a:spcPct val="100000"/>
              </a:lnSpc>
              <a:buNone/>
            </a:pPr>
            <a:r>
              <a:rPr lang="en-US" sz="3400" dirty="0">
                <a:latin typeface="Times New Roman" panose="02020603050405020304" pitchFamily="18" charset="0"/>
                <a:cs typeface="Times New Roman" panose="02020603050405020304" pitchFamily="18" charset="0"/>
              </a:rPr>
              <a:t>Human Resource Management is undergoing rapid transformation due to technological advancements, globalization, demographic changes and evolving employee expectations. Modern HR managers must adapt to new workplace trends to attract, develop and retain talent effectively.</a:t>
            </a:r>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20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FD2E4-7654-45C4-A69A-37CF145DD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D0E06-09C2-3095-A21C-6D9770D79D1D}"/>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Hybrid Work Model</a:t>
            </a:r>
          </a:p>
        </p:txBody>
      </p:sp>
      <p:sp>
        <p:nvSpPr>
          <p:cNvPr id="3" name="Content Placeholder 2">
            <a:extLst>
              <a:ext uri="{FF2B5EF4-FFF2-40B4-BE49-F238E27FC236}">
                <a16:creationId xmlns:a16="http://schemas.microsoft.com/office/drawing/2014/main" id="{A3F3A96A-0748-51BB-600B-08BDAD560940}"/>
              </a:ext>
            </a:extLst>
          </p:cNvPr>
          <p:cNvSpPr>
            <a:spLocks noGrp="1"/>
          </p:cNvSpPr>
          <p:nvPr>
            <p:ph idx="1"/>
          </p:nvPr>
        </p:nvSpPr>
        <p:spPr>
          <a:xfrm>
            <a:off x="102742" y="1181528"/>
            <a:ext cx="11989940" cy="5548045"/>
          </a:xfrm>
        </p:spPr>
        <p:txBody>
          <a:bodyPr>
            <a:normAutofit/>
          </a:bodyPr>
          <a:lstStyle/>
          <a:p>
            <a:pPr marL="0" indent="0" algn="just">
              <a:lnSpc>
                <a:spcPct val="100000"/>
              </a:lnSpc>
              <a:buNone/>
            </a:pPr>
            <a:r>
              <a:rPr lang="en-US" sz="3400" dirty="0">
                <a:latin typeface="Times New Roman" panose="02020603050405020304" pitchFamily="18" charset="0"/>
                <a:cs typeface="Times New Roman" panose="02020603050405020304" pitchFamily="18" charset="0"/>
              </a:rPr>
              <a:t>A Hybrid Work Model is a flexible work arrangement where employees divide their time between working remotely and working from the office.</a:t>
            </a:r>
          </a:p>
          <a:p>
            <a:pPr marL="0" indent="0">
              <a:buNone/>
            </a:pPr>
            <a:r>
              <a:rPr lang="en-US" sz="3600" b="1" dirty="0">
                <a:latin typeface="Times New Roman" panose="02020603050405020304" pitchFamily="18" charset="0"/>
                <a:cs typeface="Times New Roman" panose="02020603050405020304" pitchFamily="18" charset="0"/>
              </a:rPr>
              <a:t>It combines the advantages of:</a:t>
            </a:r>
          </a:p>
          <a:p>
            <a:r>
              <a:rPr lang="en-US" sz="3600" dirty="0">
                <a:latin typeface="Times New Roman" panose="02020603050405020304" pitchFamily="18" charset="0"/>
                <a:cs typeface="Times New Roman" panose="02020603050405020304" pitchFamily="18" charset="0"/>
              </a:rPr>
              <a:t>Traditional office work </a:t>
            </a:r>
          </a:p>
          <a:p>
            <a:r>
              <a:rPr lang="en-US" sz="3600" dirty="0">
                <a:latin typeface="Times New Roman" panose="02020603050405020304" pitchFamily="18" charset="0"/>
                <a:cs typeface="Times New Roman" panose="02020603050405020304" pitchFamily="18" charset="0"/>
              </a:rPr>
              <a:t>Remote work (Work From Home)</a:t>
            </a:r>
          </a:p>
          <a:p>
            <a:pPr marL="0" indent="0" algn="just">
              <a:lnSpc>
                <a:spcPct val="100000"/>
              </a:lnSpc>
              <a:buNone/>
            </a:pPr>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95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0DB82-CC25-0B7C-2DE7-EFA20C62AA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1E08B-3809-636A-10B8-54E6292562FA}"/>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Types of Hybrid Models</a:t>
            </a:r>
          </a:p>
        </p:txBody>
      </p:sp>
      <p:sp>
        <p:nvSpPr>
          <p:cNvPr id="3" name="Content Placeholder 2">
            <a:extLst>
              <a:ext uri="{FF2B5EF4-FFF2-40B4-BE49-F238E27FC236}">
                <a16:creationId xmlns:a16="http://schemas.microsoft.com/office/drawing/2014/main" id="{6BC36459-20E1-7614-DB10-8AC102E0BCDD}"/>
              </a:ext>
            </a:extLst>
          </p:cNvPr>
          <p:cNvSpPr>
            <a:spLocks noGrp="1"/>
          </p:cNvSpPr>
          <p:nvPr>
            <p:ph idx="1"/>
          </p:nvPr>
        </p:nvSpPr>
        <p:spPr>
          <a:xfrm>
            <a:off x="102742" y="1181528"/>
            <a:ext cx="11989940" cy="5548045"/>
          </a:xfrm>
        </p:spPr>
        <p:txBody>
          <a:bodyPr>
            <a:normAutofit/>
          </a:bodyPr>
          <a:lstStyle/>
          <a:p>
            <a:pPr marL="0" indent="0">
              <a:buNone/>
            </a:pPr>
            <a:r>
              <a:rPr lang="en-IN" sz="3400" b="1" dirty="0">
                <a:latin typeface="Times New Roman" panose="02020603050405020304" pitchFamily="18" charset="0"/>
                <a:cs typeface="Times New Roman" panose="02020603050405020304" pitchFamily="18" charset="0"/>
              </a:rPr>
              <a:t>Fixed Hybrid Model</a:t>
            </a:r>
          </a:p>
          <a:p>
            <a:r>
              <a:rPr lang="en-US" sz="3400" dirty="0">
                <a:latin typeface="Times New Roman" panose="02020603050405020304" pitchFamily="18" charset="0"/>
                <a:cs typeface="Times New Roman" panose="02020603050405020304" pitchFamily="18" charset="0"/>
              </a:rPr>
              <a:t>Employees work specific days in the office.</a:t>
            </a:r>
          </a:p>
          <a:p>
            <a:pPr marL="0" indent="0">
              <a:buNone/>
            </a:pPr>
            <a:r>
              <a:rPr lang="en-IN" sz="3400" b="1" dirty="0">
                <a:latin typeface="Times New Roman" panose="02020603050405020304" pitchFamily="18" charset="0"/>
                <a:cs typeface="Times New Roman" panose="02020603050405020304" pitchFamily="18" charset="0"/>
              </a:rPr>
              <a:t>Flexible Hybrid Model</a:t>
            </a:r>
          </a:p>
          <a:p>
            <a:r>
              <a:rPr lang="en-US" sz="3400" dirty="0">
                <a:latin typeface="Times New Roman" panose="02020603050405020304" pitchFamily="18" charset="0"/>
                <a:cs typeface="Times New Roman" panose="02020603050405020304" pitchFamily="18" charset="0"/>
              </a:rPr>
              <a:t>Employees choose when to work remotely or in office.</a:t>
            </a:r>
          </a:p>
          <a:p>
            <a:pPr marL="0" indent="0">
              <a:buNone/>
            </a:pPr>
            <a:r>
              <a:rPr lang="en-IN" sz="3400" b="1" dirty="0">
                <a:latin typeface="Times New Roman" panose="02020603050405020304" pitchFamily="18" charset="0"/>
                <a:cs typeface="Times New Roman" panose="02020603050405020304" pitchFamily="18" charset="0"/>
              </a:rPr>
              <a:t>Remote-First Model</a:t>
            </a:r>
          </a:p>
          <a:p>
            <a:r>
              <a:rPr lang="en-US" sz="3400" dirty="0">
                <a:latin typeface="Times New Roman" panose="02020603050405020304" pitchFamily="18" charset="0"/>
                <a:cs typeface="Times New Roman" panose="02020603050405020304" pitchFamily="18" charset="0"/>
              </a:rPr>
              <a:t>Most work is performed remotely.</a:t>
            </a:r>
          </a:p>
          <a:p>
            <a:r>
              <a:rPr lang="en-US" sz="3400" dirty="0">
                <a:latin typeface="Times New Roman" panose="02020603050405020304" pitchFamily="18" charset="0"/>
                <a:cs typeface="Times New Roman" panose="02020603050405020304" pitchFamily="18" charset="0"/>
              </a:rPr>
              <a:t>Office used only for meetings and collaboration.</a:t>
            </a:r>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106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FCE57-CC86-4E44-EDD7-A68263B0A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1EA65-EF2A-FC39-25AF-615D4395D491}"/>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Importance of Hybrid Work</a:t>
            </a:r>
          </a:p>
        </p:txBody>
      </p:sp>
      <p:sp>
        <p:nvSpPr>
          <p:cNvPr id="3" name="Content Placeholder 2">
            <a:extLst>
              <a:ext uri="{FF2B5EF4-FFF2-40B4-BE49-F238E27FC236}">
                <a16:creationId xmlns:a16="http://schemas.microsoft.com/office/drawing/2014/main" id="{67431AB2-95CE-D02F-98E4-722116EF3288}"/>
              </a:ext>
            </a:extLst>
          </p:cNvPr>
          <p:cNvSpPr>
            <a:spLocks noGrp="1"/>
          </p:cNvSpPr>
          <p:nvPr>
            <p:ph idx="1"/>
          </p:nvPr>
        </p:nvSpPr>
        <p:spPr>
          <a:xfrm>
            <a:off x="102742" y="1017144"/>
            <a:ext cx="11989940" cy="5548045"/>
          </a:xfrm>
        </p:spPr>
        <p:txBody>
          <a:bodyPr>
            <a:noAutofit/>
          </a:bodyPr>
          <a:lstStyle/>
          <a:p>
            <a:pPr marL="0" indent="0">
              <a:buNone/>
            </a:pPr>
            <a:r>
              <a:rPr lang="en-IN" sz="3200" b="1" dirty="0">
                <a:latin typeface="Times New Roman" panose="02020603050405020304" pitchFamily="18" charset="0"/>
                <a:cs typeface="Times New Roman" panose="02020603050405020304" pitchFamily="18" charset="0"/>
              </a:rPr>
              <a:t>For Employees</a:t>
            </a:r>
          </a:p>
          <a:p>
            <a:r>
              <a:rPr lang="en-IN" sz="3200" dirty="0">
                <a:latin typeface="Times New Roman" panose="02020603050405020304" pitchFamily="18" charset="0"/>
                <a:cs typeface="Times New Roman" panose="02020603050405020304" pitchFamily="18" charset="0"/>
              </a:rPr>
              <a:t>Better work-life balance</a:t>
            </a:r>
          </a:p>
          <a:p>
            <a:r>
              <a:rPr lang="en-IN" sz="3200" dirty="0">
                <a:latin typeface="Times New Roman" panose="02020603050405020304" pitchFamily="18" charset="0"/>
                <a:cs typeface="Times New Roman" panose="02020603050405020304" pitchFamily="18" charset="0"/>
              </a:rPr>
              <a:t>Reduced commuting time</a:t>
            </a:r>
          </a:p>
          <a:p>
            <a:r>
              <a:rPr lang="en-IN" sz="3200" dirty="0">
                <a:latin typeface="Times New Roman" panose="02020603050405020304" pitchFamily="18" charset="0"/>
                <a:cs typeface="Times New Roman" panose="02020603050405020304" pitchFamily="18" charset="0"/>
              </a:rPr>
              <a:t>Greater flexibility</a:t>
            </a:r>
          </a:p>
          <a:p>
            <a:r>
              <a:rPr lang="en-IN" sz="3200" dirty="0">
                <a:latin typeface="Times New Roman" panose="02020603050405020304" pitchFamily="18" charset="0"/>
                <a:cs typeface="Times New Roman" panose="02020603050405020304" pitchFamily="18" charset="0"/>
              </a:rPr>
              <a:t>Increased job satisfaction</a:t>
            </a:r>
          </a:p>
          <a:p>
            <a:pPr marL="0" indent="0">
              <a:buNone/>
            </a:pPr>
            <a:r>
              <a:rPr lang="en-IN" sz="3200" b="1" dirty="0">
                <a:latin typeface="Times New Roman" panose="02020603050405020304" pitchFamily="18" charset="0"/>
                <a:cs typeface="Times New Roman" panose="02020603050405020304" pitchFamily="18" charset="0"/>
              </a:rPr>
              <a:t>For Organizations</a:t>
            </a:r>
          </a:p>
          <a:p>
            <a:r>
              <a:rPr lang="en-IN" sz="3200" dirty="0">
                <a:latin typeface="Times New Roman" panose="02020603050405020304" pitchFamily="18" charset="0"/>
                <a:cs typeface="Times New Roman" panose="02020603050405020304" pitchFamily="18" charset="0"/>
              </a:rPr>
              <a:t>Lower infrastructure costs</a:t>
            </a:r>
          </a:p>
          <a:p>
            <a:r>
              <a:rPr lang="en-IN" sz="3200" dirty="0">
                <a:latin typeface="Times New Roman" panose="02020603050405020304" pitchFamily="18" charset="0"/>
                <a:cs typeface="Times New Roman" panose="02020603050405020304" pitchFamily="18" charset="0"/>
              </a:rPr>
              <a:t>Access to global talent</a:t>
            </a:r>
          </a:p>
          <a:p>
            <a:r>
              <a:rPr lang="en-IN" sz="3200" dirty="0">
                <a:latin typeface="Times New Roman" panose="02020603050405020304" pitchFamily="18" charset="0"/>
                <a:cs typeface="Times New Roman" panose="02020603050405020304" pitchFamily="18" charset="0"/>
              </a:rPr>
              <a:t>Increased productivity</a:t>
            </a:r>
          </a:p>
          <a:p>
            <a:r>
              <a:rPr lang="en-IN" sz="3200" dirty="0">
                <a:latin typeface="Times New Roman" panose="02020603050405020304" pitchFamily="18" charset="0"/>
                <a:cs typeface="Times New Roman" panose="02020603050405020304" pitchFamily="18" charset="0"/>
              </a:rPr>
              <a:t>Higher employee retention</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532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1F81A-4AF7-BDCA-802B-FA2C19FB8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7700D-0A34-D463-D2A2-20DE777FE034}"/>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Employee Skill Development</a:t>
            </a:r>
          </a:p>
        </p:txBody>
      </p:sp>
      <p:sp>
        <p:nvSpPr>
          <p:cNvPr id="3" name="Content Placeholder 2">
            <a:extLst>
              <a:ext uri="{FF2B5EF4-FFF2-40B4-BE49-F238E27FC236}">
                <a16:creationId xmlns:a16="http://schemas.microsoft.com/office/drawing/2014/main" id="{238783EA-B467-510B-E14F-758F14CA1664}"/>
              </a:ext>
            </a:extLst>
          </p:cNvPr>
          <p:cNvSpPr>
            <a:spLocks noGrp="1"/>
          </p:cNvSpPr>
          <p:nvPr>
            <p:ph idx="1"/>
          </p:nvPr>
        </p:nvSpPr>
        <p:spPr>
          <a:xfrm>
            <a:off x="102742" y="1181528"/>
            <a:ext cx="11989940" cy="5548045"/>
          </a:xfrm>
        </p:spPr>
        <p:txBody>
          <a:bodyPr>
            <a:normAutofit/>
          </a:bodyPr>
          <a:lstStyle/>
          <a:p>
            <a:pPr marL="0" indent="0" algn="just">
              <a:lnSpc>
                <a:spcPct val="100000"/>
              </a:lnSpc>
              <a:buNone/>
            </a:pPr>
            <a:r>
              <a:rPr lang="en-US" sz="3400" dirty="0">
                <a:latin typeface="Times New Roman" panose="02020603050405020304" pitchFamily="18" charset="0"/>
                <a:cs typeface="Times New Roman" panose="02020603050405020304" pitchFamily="18" charset="0"/>
              </a:rPr>
              <a:t>Employee Skill Development refers to systematic efforts by organizations to enhance employees’ knowledge, skills and competencies to meet current and future job requirements.</a:t>
            </a:r>
          </a:p>
          <a:p>
            <a:pPr marL="0" indent="0" algn="just">
              <a:lnSpc>
                <a:spcPct val="100000"/>
              </a:lnSpc>
              <a:buNone/>
            </a:pPr>
            <a:r>
              <a:rPr lang="en-IN" sz="3600" b="1" dirty="0">
                <a:latin typeface="Times New Roman" panose="02020603050405020304" pitchFamily="18" charset="0"/>
                <a:cs typeface="Times New Roman" panose="02020603050405020304" pitchFamily="18" charset="0"/>
              </a:rPr>
              <a:t>Types of Skills</a:t>
            </a:r>
          </a:p>
          <a:p>
            <a:pPr algn="just">
              <a:lnSpc>
                <a:spcPct val="100000"/>
              </a:lnSpc>
            </a:pPr>
            <a:r>
              <a:rPr lang="en-IN" sz="3600" dirty="0">
                <a:latin typeface="Times New Roman" panose="02020603050405020304" pitchFamily="18" charset="0"/>
                <a:cs typeface="Times New Roman" panose="02020603050405020304" pitchFamily="18" charset="0"/>
              </a:rPr>
              <a:t>Technical Skills</a:t>
            </a:r>
          </a:p>
          <a:p>
            <a:pPr algn="just">
              <a:lnSpc>
                <a:spcPct val="100000"/>
              </a:lnSpc>
            </a:pPr>
            <a:r>
              <a:rPr lang="en-IN" sz="3600" dirty="0">
                <a:latin typeface="Times New Roman" panose="02020603050405020304" pitchFamily="18" charset="0"/>
                <a:cs typeface="Times New Roman" panose="02020603050405020304" pitchFamily="18" charset="0"/>
              </a:rPr>
              <a:t>Soft Skills</a:t>
            </a:r>
          </a:p>
          <a:p>
            <a:pPr algn="just">
              <a:lnSpc>
                <a:spcPct val="100000"/>
              </a:lnSpc>
            </a:pPr>
            <a:r>
              <a:rPr lang="en-IN" sz="3600" dirty="0">
                <a:latin typeface="Times New Roman" panose="02020603050405020304" pitchFamily="18" charset="0"/>
                <a:cs typeface="Times New Roman" panose="02020603050405020304" pitchFamily="18" charset="0"/>
              </a:rPr>
              <a:t>Digital Skills</a:t>
            </a:r>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636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CFE58-0B6B-4735-3280-678848940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D3B70-1B94-8F09-C313-B63467EF5096}"/>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Internal Mobility</a:t>
            </a:r>
          </a:p>
        </p:txBody>
      </p:sp>
      <p:sp>
        <p:nvSpPr>
          <p:cNvPr id="3" name="Content Placeholder 2">
            <a:extLst>
              <a:ext uri="{FF2B5EF4-FFF2-40B4-BE49-F238E27FC236}">
                <a16:creationId xmlns:a16="http://schemas.microsoft.com/office/drawing/2014/main" id="{C5CC494B-8A52-9DFE-90C4-19C55D97D60E}"/>
              </a:ext>
            </a:extLst>
          </p:cNvPr>
          <p:cNvSpPr>
            <a:spLocks noGrp="1"/>
          </p:cNvSpPr>
          <p:nvPr>
            <p:ph idx="1"/>
          </p:nvPr>
        </p:nvSpPr>
        <p:spPr>
          <a:xfrm>
            <a:off x="102742" y="1181528"/>
            <a:ext cx="11989940" cy="5548045"/>
          </a:xfrm>
        </p:spPr>
        <p:txBody>
          <a:bodyPr>
            <a:normAutofit/>
          </a:bodyPr>
          <a:lstStyle/>
          <a:p>
            <a:pPr marL="0" indent="0" algn="just">
              <a:lnSpc>
                <a:spcPct val="100000"/>
              </a:lnSpc>
              <a:buNone/>
            </a:pPr>
            <a:r>
              <a:rPr lang="en-US" sz="3600" dirty="0">
                <a:latin typeface="Times New Roman" panose="02020603050405020304" pitchFamily="18" charset="0"/>
                <a:cs typeface="Times New Roman" panose="02020603050405020304" pitchFamily="18" charset="0"/>
              </a:rPr>
              <a:t>Internal Mobility is the movement of employees within an organization through promotions, transfers, job rotations or project assignments.</a:t>
            </a:r>
          </a:p>
          <a:p>
            <a:pPr algn="just">
              <a:lnSpc>
                <a:spcPct val="100000"/>
              </a:lnSpc>
            </a:pPr>
            <a:r>
              <a:rPr lang="en-IN" sz="3600" dirty="0">
                <a:latin typeface="Times New Roman" panose="02020603050405020304" pitchFamily="18" charset="0"/>
                <a:cs typeface="Times New Roman" panose="02020603050405020304" pitchFamily="18" charset="0"/>
              </a:rPr>
              <a:t>Vertical Mobility</a:t>
            </a:r>
          </a:p>
          <a:p>
            <a:pPr algn="just">
              <a:lnSpc>
                <a:spcPct val="100000"/>
              </a:lnSpc>
            </a:pPr>
            <a:r>
              <a:rPr lang="en-IN" sz="3600" dirty="0">
                <a:latin typeface="Times New Roman" panose="02020603050405020304" pitchFamily="18" charset="0"/>
                <a:cs typeface="Times New Roman" panose="02020603050405020304" pitchFamily="18" charset="0"/>
              </a:rPr>
              <a:t>Horizontal Mobility</a:t>
            </a:r>
          </a:p>
          <a:p>
            <a:pPr algn="just">
              <a:lnSpc>
                <a:spcPct val="100000"/>
              </a:lnSpc>
            </a:pPr>
            <a:r>
              <a:rPr lang="en-IN" sz="3600" dirty="0">
                <a:latin typeface="Times New Roman" panose="02020603050405020304" pitchFamily="18" charset="0"/>
                <a:cs typeface="Times New Roman" panose="02020603050405020304" pitchFamily="18" charset="0"/>
              </a:rPr>
              <a:t>Project-Based Mobility</a:t>
            </a:r>
          </a:p>
        </p:txBody>
      </p:sp>
    </p:spTree>
    <p:extLst>
      <p:ext uri="{BB962C8B-B14F-4D97-AF65-F5344CB8AC3E}">
        <p14:creationId xmlns:p14="http://schemas.microsoft.com/office/powerpoint/2010/main" val="101439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55590-269C-092B-F9BD-232951BBC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A6C21-54DA-3937-464E-8615C22798EF}"/>
              </a:ext>
            </a:extLst>
          </p:cNvPr>
          <p:cNvSpPr>
            <a:spLocks noGrp="1"/>
          </p:cNvSpPr>
          <p:nvPr>
            <p:ph type="title"/>
          </p:nvPr>
        </p:nvSpPr>
        <p:spPr>
          <a:xfrm>
            <a:off x="102742" y="36357"/>
            <a:ext cx="11989941" cy="970515"/>
          </a:xfrm>
        </p:spPr>
        <p:txBody>
          <a:bodyPr/>
          <a:lstStyle/>
          <a:p>
            <a:pPr algn="ctr"/>
            <a:r>
              <a:rPr lang="en-US" b="1" dirty="0">
                <a:solidFill>
                  <a:srgbClr val="C00000"/>
                </a:solidFill>
                <a:latin typeface="Times New Roman" panose="02020603050405020304" pitchFamily="18" charset="0"/>
                <a:cs typeface="Times New Roman" panose="02020603050405020304" pitchFamily="18" charset="0"/>
              </a:rPr>
              <a:t>Diversity and Inclusion (D&amp;I) in Workforce</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017CF2-CE08-2D4C-11FB-F6F31E9EC0A1}"/>
              </a:ext>
            </a:extLst>
          </p:cNvPr>
          <p:cNvSpPr>
            <a:spLocks noGrp="1"/>
          </p:cNvSpPr>
          <p:nvPr>
            <p:ph idx="1"/>
          </p:nvPr>
        </p:nvSpPr>
        <p:spPr>
          <a:xfrm>
            <a:off x="102742" y="1181528"/>
            <a:ext cx="11989940" cy="5548045"/>
          </a:xfrm>
        </p:spPr>
        <p:txBody>
          <a:bodyPr>
            <a:normAutofit/>
          </a:bodyPr>
          <a:lstStyle/>
          <a:p>
            <a:pPr marL="0" indent="0" algn="just">
              <a:lnSpc>
                <a:spcPct val="100000"/>
              </a:lnSpc>
              <a:buNone/>
            </a:pPr>
            <a:r>
              <a:rPr lang="en-US" sz="3600" dirty="0">
                <a:latin typeface="Times New Roman" pitchFamily="18" charset="0"/>
                <a:cs typeface="Times New Roman" pitchFamily="18" charset="0"/>
              </a:rPr>
              <a:t>Diversity and inclusion (D&amp;I) in the workforce refer to the intentional effort to create a workplace environment that values and embraces differences among employees, including those related to race, ethnicity, gender, age, disability, religion and more.</a:t>
            </a:r>
          </a:p>
          <a:p>
            <a:pPr marL="0" indent="0" algn="just">
              <a:lnSpc>
                <a:spcPct val="100000"/>
              </a:lnSpc>
              <a:buNone/>
            </a:pPr>
            <a:r>
              <a:rPr lang="en-IN" sz="3600" dirty="0">
                <a:latin typeface="Times New Roman" panose="02020603050405020304" pitchFamily="18" charset="0"/>
                <a:cs typeface="Times New Roman" panose="02020603050405020304" pitchFamily="18" charset="0"/>
              </a:rPr>
              <a:t>Diversity: </a:t>
            </a:r>
            <a:r>
              <a:rPr lang="en-US" sz="3600" dirty="0">
                <a:latin typeface="Times New Roman" panose="02020603050405020304" pitchFamily="18" charset="0"/>
                <a:cs typeface="Times New Roman" panose="02020603050405020304" pitchFamily="18" charset="0"/>
              </a:rPr>
              <a:t>Presence of differences among employees.</a:t>
            </a:r>
          </a:p>
          <a:p>
            <a:pPr marL="0" indent="0" algn="just">
              <a:lnSpc>
                <a:spcPct val="100000"/>
              </a:lnSpc>
              <a:buNone/>
            </a:pPr>
            <a:r>
              <a:rPr lang="en-IN" sz="3600" dirty="0">
                <a:latin typeface="Times New Roman" panose="02020603050405020304" pitchFamily="18" charset="0"/>
                <a:cs typeface="Times New Roman" panose="02020603050405020304" pitchFamily="18" charset="0"/>
              </a:rPr>
              <a:t>Inclusion: </a:t>
            </a:r>
            <a:r>
              <a:rPr lang="en-US" sz="3600" dirty="0">
                <a:latin typeface="Times New Roman" panose="02020603050405020304" pitchFamily="18" charset="0"/>
                <a:cs typeface="Times New Roman" panose="02020603050405020304" pitchFamily="18" charset="0"/>
              </a:rPr>
              <a:t>Creating a workplace where all employees feel respected, valued and involved.</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126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1D290-CEE4-D710-7527-1B98CF980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826C9-A34E-4BCA-E91D-C3977D2908B9}"/>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People Analytics</a:t>
            </a:r>
          </a:p>
        </p:txBody>
      </p:sp>
      <p:sp>
        <p:nvSpPr>
          <p:cNvPr id="3" name="Content Placeholder 2">
            <a:extLst>
              <a:ext uri="{FF2B5EF4-FFF2-40B4-BE49-F238E27FC236}">
                <a16:creationId xmlns:a16="http://schemas.microsoft.com/office/drawing/2014/main" id="{0EF21383-B5A8-0ED6-A233-642DC86FAB3A}"/>
              </a:ext>
            </a:extLst>
          </p:cNvPr>
          <p:cNvSpPr>
            <a:spLocks noGrp="1"/>
          </p:cNvSpPr>
          <p:nvPr>
            <p:ph idx="1"/>
          </p:nvPr>
        </p:nvSpPr>
        <p:spPr>
          <a:xfrm>
            <a:off x="102742" y="1006872"/>
            <a:ext cx="11989940" cy="5722701"/>
          </a:xfrm>
        </p:spPr>
        <p:txBody>
          <a:bodyPr>
            <a:normAutofit/>
          </a:bodyPr>
          <a:lstStyle/>
          <a:p>
            <a:pPr marL="0" indent="0" algn="just">
              <a:lnSpc>
                <a:spcPct val="100000"/>
              </a:lnSpc>
              <a:buNone/>
            </a:pPr>
            <a:r>
              <a:rPr lang="en-US" sz="3600" dirty="0">
                <a:latin typeface="Times New Roman" pitchFamily="18" charset="0"/>
                <a:cs typeface="Times New Roman" pitchFamily="18" charset="0"/>
              </a:rPr>
              <a:t>HR analytics or workforce analytics, refers to the use of data and advanced analytical techniques to inform and improve human resource management (HRM) decisions and strategies within an organization.</a:t>
            </a:r>
          </a:p>
          <a:p>
            <a:pPr marL="0" indent="0" algn="just">
              <a:lnSpc>
                <a:spcPct val="100000"/>
              </a:lnSpc>
              <a:buNone/>
            </a:pPr>
            <a:r>
              <a:rPr lang="en-IN" sz="3600" b="1" dirty="0">
                <a:latin typeface="Times New Roman" panose="02020603050405020304" pitchFamily="18" charset="0"/>
                <a:cs typeface="Times New Roman" panose="02020603050405020304" pitchFamily="18" charset="0"/>
              </a:rPr>
              <a:t>Objectives</a:t>
            </a:r>
          </a:p>
          <a:p>
            <a:pPr algn="just">
              <a:lnSpc>
                <a:spcPct val="100000"/>
              </a:lnSpc>
            </a:pPr>
            <a:r>
              <a:rPr lang="en-IN" sz="3600" dirty="0">
                <a:latin typeface="Times New Roman" panose="02020603050405020304" pitchFamily="18" charset="0"/>
                <a:cs typeface="Times New Roman" panose="02020603050405020304" pitchFamily="18" charset="0"/>
              </a:rPr>
              <a:t>Improve hiring decisions</a:t>
            </a:r>
          </a:p>
          <a:p>
            <a:pPr algn="just">
              <a:lnSpc>
                <a:spcPct val="100000"/>
              </a:lnSpc>
            </a:pPr>
            <a:r>
              <a:rPr lang="en-IN" sz="3600" dirty="0">
                <a:latin typeface="Times New Roman" panose="02020603050405020304" pitchFamily="18" charset="0"/>
                <a:cs typeface="Times New Roman" panose="02020603050405020304" pitchFamily="18" charset="0"/>
              </a:rPr>
              <a:t>Predict employee turnover</a:t>
            </a:r>
          </a:p>
          <a:p>
            <a:pPr algn="just">
              <a:lnSpc>
                <a:spcPct val="100000"/>
              </a:lnSpc>
            </a:pPr>
            <a:r>
              <a:rPr lang="en-IN" sz="3600" dirty="0">
                <a:latin typeface="Times New Roman" panose="02020603050405020304" pitchFamily="18" charset="0"/>
                <a:cs typeface="Times New Roman" panose="02020603050405020304" pitchFamily="18" charset="0"/>
              </a:rPr>
              <a:t>Measure productivity</a:t>
            </a:r>
          </a:p>
          <a:p>
            <a:pPr algn="just">
              <a:lnSpc>
                <a:spcPct val="100000"/>
              </a:lnSpc>
            </a:pPr>
            <a:r>
              <a:rPr lang="en-IN" sz="3600" dirty="0">
                <a:latin typeface="Times New Roman" panose="02020603050405020304" pitchFamily="18" charset="0"/>
                <a:cs typeface="Times New Roman" panose="02020603050405020304" pitchFamily="18" charset="0"/>
              </a:rPr>
              <a:t>Enhance employee engagement</a:t>
            </a:r>
          </a:p>
        </p:txBody>
      </p:sp>
      <p:sp>
        <p:nvSpPr>
          <p:cNvPr id="4" name="Content Placeholder 2">
            <a:extLst>
              <a:ext uri="{FF2B5EF4-FFF2-40B4-BE49-F238E27FC236}">
                <a16:creationId xmlns:a16="http://schemas.microsoft.com/office/drawing/2014/main" id="{8766A9FA-8FDE-05B9-D76D-E0B2935C7910}"/>
              </a:ext>
            </a:extLst>
          </p:cNvPr>
          <p:cNvSpPr txBox="1">
            <a:spLocks/>
          </p:cNvSpPr>
          <p:nvPr/>
        </p:nvSpPr>
        <p:spPr>
          <a:xfrm>
            <a:off x="6647380" y="3226085"/>
            <a:ext cx="5178175" cy="35034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IN" sz="3600" b="1" dirty="0">
                <a:latin typeface="Times New Roman" panose="02020603050405020304" pitchFamily="18" charset="0"/>
                <a:cs typeface="Times New Roman" panose="02020603050405020304" pitchFamily="18" charset="0"/>
              </a:rPr>
              <a:t>Types of People Analytics</a:t>
            </a:r>
          </a:p>
          <a:p>
            <a:pPr marL="0" indent="0" algn="just">
              <a:lnSpc>
                <a:spcPct val="100000"/>
              </a:lnSpc>
              <a:buFont typeface="Arial" panose="020B0604020202020204" pitchFamily="34" charset="0"/>
              <a:buNone/>
            </a:pPr>
            <a:r>
              <a:rPr lang="en-IN" sz="3600" dirty="0">
                <a:latin typeface="Times New Roman" panose="02020603050405020304" pitchFamily="18" charset="0"/>
                <a:cs typeface="Times New Roman" panose="02020603050405020304" pitchFamily="18" charset="0"/>
              </a:rPr>
              <a:t>Descriptive Analytics</a:t>
            </a:r>
          </a:p>
          <a:p>
            <a:pPr marL="0" indent="0" algn="just">
              <a:lnSpc>
                <a:spcPct val="100000"/>
              </a:lnSpc>
              <a:buFont typeface="Arial" panose="020B0604020202020204" pitchFamily="34" charset="0"/>
              <a:buNone/>
            </a:pPr>
            <a:r>
              <a:rPr lang="en-IN" sz="3600" dirty="0">
                <a:latin typeface="Times New Roman" panose="02020603050405020304" pitchFamily="18" charset="0"/>
                <a:cs typeface="Times New Roman" panose="02020603050405020304" pitchFamily="18" charset="0"/>
              </a:rPr>
              <a:t>Diagnostic Analytics</a:t>
            </a:r>
          </a:p>
          <a:p>
            <a:pPr marL="0" indent="0" algn="just">
              <a:lnSpc>
                <a:spcPct val="100000"/>
              </a:lnSpc>
              <a:buFont typeface="Arial" panose="020B0604020202020204" pitchFamily="34" charset="0"/>
              <a:buNone/>
            </a:pPr>
            <a:r>
              <a:rPr lang="en-IN" sz="3600" dirty="0">
                <a:latin typeface="Times New Roman" panose="02020603050405020304" pitchFamily="18" charset="0"/>
                <a:cs typeface="Times New Roman" panose="02020603050405020304" pitchFamily="18" charset="0"/>
              </a:rPr>
              <a:t>Predictive Analytics</a:t>
            </a:r>
          </a:p>
          <a:p>
            <a:pPr marL="0" indent="0" algn="just">
              <a:lnSpc>
                <a:spcPct val="100000"/>
              </a:lnSpc>
              <a:buFont typeface="Arial" panose="020B0604020202020204" pitchFamily="34" charset="0"/>
              <a:buNone/>
            </a:pPr>
            <a:r>
              <a:rPr lang="en-IN" sz="3600" dirty="0">
                <a:latin typeface="Times New Roman" panose="02020603050405020304" pitchFamily="18" charset="0"/>
                <a:cs typeface="Times New Roman" panose="02020603050405020304" pitchFamily="18" charset="0"/>
              </a:rPr>
              <a:t>Prescriptive Analytics</a:t>
            </a:r>
          </a:p>
        </p:txBody>
      </p:sp>
    </p:spTree>
    <p:extLst>
      <p:ext uri="{BB962C8B-B14F-4D97-AF65-F5344CB8AC3E}">
        <p14:creationId xmlns:p14="http://schemas.microsoft.com/office/powerpoint/2010/main" val="251465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fade">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fade">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fade">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fade">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F784-7E5D-4BB1-2BCC-AC9BA9CD8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A55AA-52BA-7DA8-29F8-84BABF644C58}"/>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Employee Well-being</a:t>
            </a:r>
          </a:p>
        </p:txBody>
      </p:sp>
      <p:sp>
        <p:nvSpPr>
          <p:cNvPr id="3" name="Content Placeholder 2">
            <a:extLst>
              <a:ext uri="{FF2B5EF4-FFF2-40B4-BE49-F238E27FC236}">
                <a16:creationId xmlns:a16="http://schemas.microsoft.com/office/drawing/2014/main" id="{7D0A07F7-78C5-E877-8783-95D7B27F45C4}"/>
              </a:ext>
            </a:extLst>
          </p:cNvPr>
          <p:cNvSpPr>
            <a:spLocks noGrp="1"/>
          </p:cNvSpPr>
          <p:nvPr>
            <p:ph idx="1"/>
          </p:nvPr>
        </p:nvSpPr>
        <p:spPr>
          <a:xfrm>
            <a:off x="102742" y="1181528"/>
            <a:ext cx="11989941" cy="5506947"/>
          </a:xfrm>
        </p:spPr>
        <p:txBody>
          <a:bodyPr>
            <a:normAutofit/>
          </a:bodyPr>
          <a:lstStyle/>
          <a:p>
            <a:pPr marL="0" indent="0" algn="just">
              <a:lnSpc>
                <a:spcPct val="100000"/>
              </a:lnSpc>
              <a:buNone/>
            </a:pPr>
            <a:r>
              <a:rPr lang="en-US" sz="3600" dirty="0">
                <a:latin typeface="Times New Roman" pitchFamily="18" charset="0"/>
                <a:cs typeface="Times New Roman" pitchFamily="18" charset="0"/>
              </a:rPr>
              <a:t>Employee well-being refers to the physical, mental and emotional health and happiness of employees within an organization. It encompasses various aspects of an employee's life, both inside and outside of work, that can impact their overall well-being and job performance. </a:t>
            </a:r>
          </a:p>
          <a:p>
            <a:pPr marL="0" indent="0" algn="just">
              <a:lnSpc>
                <a:spcPct val="100000"/>
              </a:lnSpc>
              <a:buNone/>
            </a:pPr>
            <a:r>
              <a:rPr lang="en-US" sz="3600" dirty="0">
                <a:latin typeface="Times New Roman" pitchFamily="18" charset="0"/>
                <a:cs typeface="Times New Roman" pitchFamily="18" charset="0"/>
              </a:rPr>
              <a:t>Modern organizations recognize that employee well-being directly impacts productivity and engagement.</a:t>
            </a:r>
          </a:p>
          <a:p>
            <a:pPr marL="0" indent="0" algn="just">
              <a:lnSpc>
                <a:spcPct val="100000"/>
              </a:lnSpc>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42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B24CE-6BC2-3BA8-40F3-CFD277967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5E074-C43C-BCF8-9BDF-21654682C13D}"/>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Multi-Generational Workforce</a:t>
            </a:r>
          </a:p>
        </p:txBody>
      </p:sp>
      <p:sp>
        <p:nvSpPr>
          <p:cNvPr id="3" name="Content Placeholder 2">
            <a:extLst>
              <a:ext uri="{FF2B5EF4-FFF2-40B4-BE49-F238E27FC236}">
                <a16:creationId xmlns:a16="http://schemas.microsoft.com/office/drawing/2014/main" id="{93FEEDC1-83F8-0949-9EAF-5705AB0275B5}"/>
              </a:ext>
            </a:extLst>
          </p:cNvPr>
          <p:cNvSpPr>
            <a:spLocks noGrp="1"/>
          </p:cNvSpPr>
          <p:nvPr>
            <p:ph idx="1"/>
          </p:nvPr>
        </p:nvSpPr>
        <p:spPr>
          <a:xfrm>
            <a:off x="102742" y="1181528"/>
            <a:ext cx="11989940" cy="5548045"/>
          </a:xfrm>
        </p:spPr>
        <p:txBody>
          <a:bodyPr>
            <a:normAutofit/>
          </a:bodyPr>
          <a:lstStyle/>
          <a:p>
            <a:pPr marL="0" indent="0" algn="just">
              <a:lnSpc>
                <a:spcPct val="100000"/>
              </a:lnSpc>
              <a:buNone/>
            </a:pPr>
            <a:r>
              <a:rPr lang="en-US" sz="3600" dirty="0">
                <a:latin typeface="Times New Roman" pitchFamily="18" charset="0"/>
                <a:cs typeface="Times New Roman" pitchFamily="18" charset="0"/>
              </a:rPr>
              <a:t>Multi-Generational workforce consists of employees from various age groups, spanning different generations, such as;</a:t>
            </a:r>
          </a:p>
          <a:p>
            <a:pPr marL="0" indent="0" algn="just">
              <a:lnSpc>
                <a:spcPct val="100000"/>
              </a:lnSpc>
              <a:buNone/>
            </a:pPr>
            <a:endParaRPr lang="en-US" sz="3600" dirty="0">
              <a:latin typeface="Times New Roman" pitchFamily="18" charset="0"/>
              <a:cs typeface="Times New Roman" pitchFamily="18" charset="0"/>
            </a:endParaRPr>
          </a:p>
          <a:p>
            <a:pPr marL="0" indent="0" algn="just">
              <a:lnSpc>
                <a:spcPct val="100000"/>
              </a:lnSpc>
              <a:buNone/>
            </a:pPr>
            <a:endParaRPr lang="en-US" sz="3600" dirty="0">
              <a:latin typeface="Times New Roman" pitchFamily="18" charset="0"/>
              <a:cs typeface="Times New Roman" pitchFamily="18" charset="0"/>
            </a:endParaRPr>
          </a:p>
          <a:p>
            <a:pPr marL="0" indent="0" algn="just">
              <a:lnSpc>
                <a:spcPct val="100000"/>
              </a:lnSpc>
              <a:buNone/>
            </a:pPr>
            <a:endParaRPr lang="en-US" sz="3600" dirty="0">
              <a:latin typeface="Times New Roman" pitchFamily="18" charset="0"/>
              <a:cs typeface="Times New Roman" pitchFamily="18" charset="0"/>
            </a:endParaRPr>
          </a:p>
          <a:p>
            <a:pPr marL="0" indent="0" algn="just">
              <a:lnSpc>
                <a:spcPct val="100000"/>
              </a:lnSpc>
              <a:buNone/>
            </a:pPr>
            <a:endParaRPr lang="en-US" sz="3600" dirty="0">
              <a:latin typeface="Times New Roman" pitchFamily="18" charset="0"/>
              <a:cs typeface="Times New Roman" pitchFamily="18" charset="0"/>
            </a:endParaRPr>
          </a:p>
          <a:p>
            <a:pPr marL="0" indent="0" algn="just">
              <a:lnSpc>
                <a:spcPct val="100000"/>
              </a:lnSpc>
              <a:buNone/>
            </a:pPr>
            <a:endParaRPr lang="en-US" sz="3600" dirty="0">
              <a:latin typeface="Times New Roman" pitchFamily="18" charset="0"/>
              <a:cs typeface="Times New Roman" pitchFamily="18" charset="0"/>
            </a:endParaRPr>
          </a:p>
          <a:p>
            <a:pPr marL="0" indent="0" algn="just">
              <a:lnSpc>
                <a:spcPct val="100000"/>
              </a:lnSpc>
              <a:buNone/>
            </a:pP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B719DCDC-9123-ADBA-BE1C-F64FE0CACC2B}"/>
              </a:ext>
            </a:extLst>
          </p:cNvPr>
          <p:cNvGraphicFramePr>
            <a:graphicFrameLocks/>
          </p:cNvGraphicFramePr>
          <p:nvPr>
            <p:extLst>
              <p:ext uri="{D42A27DB-BD31-4B8C-83A1-F6EECF244321}">
                <p14:modId xmlns:p14="http://schemas.microsoft.com/office/powerpoint/2010/main" val="3384799209"/>
              </p:ext>
            </p:extLst>
          </p:nvPr>
        </p:nvGraphicFramePr>
        <p:xfrm>
          <a:off x="99318" y="2403857"/>
          <a:ext cx="11911173" cy="2895600"/>
        </p:xfrm>
        <a:graphic>
          <a:graphicData uri="http://schemas.openxmlformats.org/drawingml/2006/table">
            <a:tbl>
              <a:tblPr>
                <a:tableStyleId>{5940675A-B579-460E-94D1-54222C63F5DA}</a:tableStyleId>
              </a:tblPr>
              <a:tblGrid>
                <a:gridCol w="3650749">
                  <a:extLst>
                    <a:ext uri="{9D8B030D-6E8A-4147-A177-3AD203B41FA5}">
                      <a16:colId xmlns:a16="http://schemas.microsoft.com/office/drawing/2014/main" val="1414850421"/>
                    </a:ext>
                  </a:extLst>
                </a:gridCol>
                <a:gridCol w="2856216">
                  <a:extLst>
                    <a:ext uri="{9D8B030D-6E8A-4147-A177-3AD203B41FA5}">
                      <a16:colId xmlns:a16="http://schemas.microsoft.com/office/drawing/2014/main" val="1033413539"/>
                    </a:ext>
                  </a:extLst>
                </a:gridCol>
                <a:gridCol w="5404208">
                  <a:extLst>
                    <a:ext uri="{9D8B030D-6E8A-4147-A177-3AD203B41FA5}">
                      <a16:colId xmlns:a16="http://schemas.microsoft.com/office/drawing/2014/main" val="981315105"/>
                    </a:ext>
                  </a:extLst>
                </a:gridCol>
              </a:tblGrid>
              <a:tr h="577467">
                <a:tc>
                  <a:txBody>
                    <a:bodyPr/>
                    <a:lstStyle/>
                    <a:p>
                      <a:pPr algn="ctr">
                        <a:buNone/>
                      </a:pPr>
                      <a:r>
                        <a:rPr lang="en-IN" sz="3200" b="1" dirty="0">
                          <a:latin typeface="Times New Roman" panose="02020603050405020304" pitchFamily="18" charset="0"/>
                          <a:cs typeface="Times New Roman" panose="02020603050405020304" pitchFamily="18" charset="0"/>
                        </a:rPr>
                        <a:t>Generation</a:t>
                      </a:r>
                    </a:p>
                  </a:txBody>
                  <a:tcPr anchor="ctr"/>
                </a:tc>
                <a:tc>
                  <a:txBody>
                    <a:bodyPr/>
                    <a:lstStyle/>
                    <a:p>
                      <a:pPr algn="ctr">
                        <a:buNone/>
                      </a:pPr>
                      <a:r>
                        <a:rPr lang="en-IN" sz="3200" b="1">
                          <a:latin typeface="Times New Roman" panose="02020603050405020304" pitchFamily="18" charset="0"/>
                          <a:cs typeface="Times New Roman" panose="02020603050405020304" pitchFamily="18" charset="0"/>
                        </a:rPr>
                        <a:t>Birth Years</a:t>
                      </a:r>
                    </a:p>
                  </a:txBody>
                  <a:tcPr anchor="ctr"/>
                </a:tc>
                <a:tc>
                  <a:txBody>
                    <a:bodyPr/>
                    <a:lstStyle/>
                    <a:p>
                      <a:pPr algn="ctr">
                        <a:buNone/>
                      </a:pPr>
                      <a:r>
                        <a:rPr lang="en-IN" sz="3200" b="1" dirty="0">
                          <a:latin typeface="Times New Roman" panose="02020603050405020304" pitchFamily="18" charset="0"/>
                          <a:cs typeface="Times New Roman" panose="02020603050405020304" pitchFamily="18" charset="0"/>
                        </a:rPr>
                        <a:t>Characteristics</a:t>
                      </a:r>
                    </a:p>
                  </a:txBody>
                  <a:tcPr anchor="ctr"/>
                </a:tc>
                <a:extLst>
                  <a:ext uri="{0D108BD9-81ED-4DB2-BD59-A6C34878D82A}">
                    <a16:rowId xmlns:a16="http://schemas.microsoft.com/office/drawing/2014/main" val="3712615265"/>
                  </a:ext>
                </a:extLst>
              </a:tr>
              <a:tr h="577467">
                <a:tc>
                  <a:txBody>
                    <a:bodyPr/>
                    <a:lstStyle/>
                    <a:p>
                      <a:pPr>
                        <a:buNone/>
                      </a:pPr>
                      <a:r>
                        <a:rPr lang="en-IN" sz="3200" dirty="0">
                          <a:latin typeface="Times New Roman" panose="02020603050405020304" pitchFamily="18" charset="0"/>
                          <a:cs typeface="Times New Roman" panose="02020603050405020304" pitchFamily="18" charset="0"/>
                        </a:rPr>
                        <a:t>Baby Boomers</a:t>
                      </a:r>
                    </a:p>
                  </a:txBody>
                  <a:tcPr anchor="ctr"/>
                </a:tc>
                <a:tc>
                  <a:txBody>
                    <a:bodyPr/>
                    <a:lstStyle/>
                    <a:p>
                      <a:pPr algn="ctr">
                        <a:buNone/>
                      </a:pPr>
                      <a:r>
                        <a:rPr lang="en-IN" sz="3200">
                          <a:latin typeface="Times New Roman" panose="02020603050405020304" pitchFamily="18" charset="0"/>
                          <a:cs typeface="Times New Roman" panose="02020603050405020304" pitchFamily="18" charset="0"/>
                        </a:rPr>
                        <a:t>1946–1964</a:t>
                      </a:r>
                    </a:p>
                  </a:txBody>
                  <a:tcPr anchor="ctr"/>
                </a:tc>
                <a:tc>
                  <a:txBody>
                    <a:bodyPr/>
                    <a:lstStyle/>
                    <a:p>
                      <a:pPr>
                        <a:buNone/>
                      </a:pPr>
                      <a:r>
                        <a:rPr lang="en-IN" sz="3200">
                          <a:latin typeface="Times New Roman" panose="02020603050405020304" pitchFamily="18" charset="0"/>
                          <a:cs typeface="Times New Roman" panose="02020603050405020304" pitchFamily="18" charset="0"/>
                        </a:rPr>
                        <a:t>Loyal, experienced</a:t>
                      </a:r>
                    </a:p>
                  </a:txBody>
                  <a:tcPr anchor="ctr"/>
                </a:tc>
                <a:extLst>
                  <a:ext uri="{0D108BD9-81ED-4DB2-BD59-A6C34878D82A}">
                    <a16:rowId xmlns:a16="http://schemas.microsoft.com/office/drawing/2014/main" val="813410492"/>
                  </a:ext>
                </a:extLst>
              </a:tr>
              <a:tr h="577467">
                <a:tc>
                  <a:txBody>
                    <a:bodyPr/>
                    <a:lstStyle/>
                    <a:p>
                      <a:pPr>
                        <a:buNone/>
                      </a:pPr>
                      <a:r>
                        <a:rPr lang="en-IN" sz="3200">
                          <a:latin typeface="Times New Roman" panose="02020603050405020304" pitchFamily="18" charset="0"/>
                          <a:cs typeface="Times New Roman" panose="02020603050405020304" pitchFamily="18" charset="0"/>
                        </a:rPr>
                        <a:t>Generation X</a:t>
                      </a:r>
                    </a:p>
                  </a:txBody>
                  <a:tcPr anchor="ctr"/>
                </a:tc>
                <a:tc>
                  <a:txBody>
                    <a:bodyPr/>
                    <a:lstStyle/>
                    <a:p>
                      <a:pPr algn="ctr">
                        <a:buNone/>
                      </a:pPr>
                      <a:r>
                        <a:rPr lang="en-IN" sz="3200">
                          <a:latin typeface="Times New Roman" panose="02020603050405020304" pitchFamily="18" charset="0"/>
                          <a:cs typeface="Times New Roman" panose="02020603050405020304" pitchFamily="18" charset="0"/>
                        </a:rPr>
                        <a:t>1965–1980</a:t>
                      </a:r>
                    </a:p>
                  </a:txBody>
                  <a:tcPr anchor="ctr"/>
                </a:tc>
                <a:tc>
                  <a:txBody>
                    <a:bodyPr/>
                    <a:lstStyle/>
                    <a:p>
                      <a:pPr>
                        <a:buNone/>
                      </a:pPr>
                      <a:r>
                        <a:rPr lang="en-IN" sz="3200">
                          <a:latin typeface="Times New Roman" panose="02020603050405020304" pitchFamily="18" charset="0"/>
                          <a:cs typeface="Times New Roman" panose="02020603050405020304" pitchFamily="18" charset="0"/>
                        </a:rPr>
                        <a:t>Independent, adaptable</a:t>
                      </a:r>
                    </a:p>
                  </a:txBody>
                  <a:tcPr anchor="ctr"/>
                </a:tc>
                <a:extLst>
                  <a:ext uri="{0D108BD9-81ED-4DB2-BD59-A6C34878D82A}">
                    <a16:rowId xmlns:a16="http://schemas.microsoft.com/office/drawing/2014/main" val="39817227"/>
                  </a:ext>
                </a:extLst>
              </a:tr>
              <a:tr h="577467">
                <a:tc>
                  <a:txBody>
                    <a:bodyPr/>
                    <a:lstStyle/>
                    <a:p>
                      <a:pPr>
                        <a:buNone/>
                      </a:pPr>
                      <a:r>
                        <a:rPr lang="en-IN" sz="3200">
                          <a:latin typeface="Times New Roman" panose="02020603050405020304" pitchFamily="18" charset="0"/>
                          <a:cs typeface="Times New Roman" panose="02020603050405020304" pitchFamily="18" charset="0"/>
                        </a:rPr>
                        <a:t>Millennials (Gen Y)</a:t>
                      </a:r>
                    </a:p>
                  </a:txBody>
                  <a:tcPr anchor="ctr"/>
                </a:tc>
                <a:tc>
                  <a:txBody>
                    <a:bodyPr/>
                    <a:lstStyle/>
                    <a:p>
                      <a:pPr algn="ctr">
                        <a:buNone/>
                      </a:pPr>
                      <a:r>
                        <a:rPr lang="en-IN" sz="3200">
                          <a:latin typeface="Times New Roman" panose="02020603050405020304" pitchFamily="18" charset="0"/>
                          <a:cs typeface="Times New Roman" panose="02020603050405020304" pitchFamily="18" charset="0"/>
                        </a:rPr>
                        <a:t>1981–1996</a:t>
                      </a:r>
                    </a:p>
                  </a:txBody>
                  <a:tcPr anchor="ctr"/>
                </a:tc>
                <a:tc>
                  <a:txBody>
                    <a:bodyPr/>
                    <a:lstStyle/>
                    <a:p>
                      <a:pPr>
                        <a:buNone/>
                      </a:pPr>
                      <a:r>
                        <a:rPr lang="en-IN" sz="3200" dirty="0">
                          <a:latin typeface="Times New Roman" panose="02020603050405020304" pitchFamily="18" charset="0"/>
                          <a:cs typeface="Times New Roman" panose="02020603050405020304" pitchFamily="18" charset="0"/>
                        </a:rPr>
                        <a:t>Tech-savvy, collaborative</a:t>
                      </a:r>
                    </a:p>
                  </a:txBody>
                  <a:tcPr anchor="ctr"/>
                </a:tc>
                <a:extLst>
                  <a:ext uri="{0D108BD9-81ED-4DB2-BD59-A6C34878D82A}">
                    <a16:rowId xmlns:a16="http://schemas.microsoft.com/office/drawing/2014/main" val="2343692765"/>
                  </a:ext>
                </a:extLst>
              </a:tr>
              <a:tr h="577467">
                <a:tc>
                  <a:txBody>
                    <a:bodyPr/>
                    <a:lstStyle/>
                    <a:p>
                      <a:pPr>
                        <a:buNone/>
                      </a:pPr>
                      <a:r>
                        <a:rPr lang="en-IN" sz="3200">
                          <a:latin typeface="Times New Roman" panose="02020603050405020304" pitchFamily="18" charset="0"/>
                          <a:cs typeface="Times New Roman" panose="02020603050405020304" pitchFamily="18" charset="0"/>
                        </a:rPr>
                        <a:t>Generation Z</a:t>
                      </a:r>
                    </a:p>
                  </a:txBody>
                  <a:tcPr anchor="ctr"/>
                </a:tc>
                <a:tc>
                  <a:txBody>
                    <a:bodyPr/>
                    <a:lstStyle/>
                    <a:p>
                      <a:pPr algn="ctr">
                        <a:buNone/>
                      </a:pPr>
                      <a:r>
                        <a:rPr lang="en-IN" sz="3200" dirty="0">
                          <a:latin typeface="Times New Roman" panose="02020603050405020304" pitchFamily="18" charset="0"/>
                          <a:cs typeface="Times New Roman" panose="02020603050405020304" pitchFamily="18" charset="0"/>
                        </a:rPr>
                        <a:t>1997–2012</a:t>
                      </a:r>
                    </a:p>
                  </a:txBody>
                  <a:tcPr anchor="ctr"/>
                </a:tc>
                <a:tc>
                  <a:txBody>
                    <a:bodyPr/>
                    <a:lstStyle/>
                    <a:p>
                      <a:pPr>
                        <a:buNone/>
                      </a:pPr>
                      <a:r>
                        <a:rPr lang="en-IN" sz="3200" dirty="0">
                          <a:latin typeface="Times New Roman" panose="02020603050405020304" pitchFamily="18" charset="0"/>
                          <a:cs typeface="Times New Roman" panose="02020603050405020304" pitchFamily="18" charset="0"/>
                        </a:rPr>
                        <a:t>Digital natives, innovative</a:t>
                      </a:r>
                    </a:p>
                  </a:txBody>
                  <a:tcPr anchor="ctr"/>
                </a:tc>
                <a:extLst>
                  <a:ext uri="{0D108BD9-81ED-4DB2-BD59-A6C34878D82A}">
                    <a16:rowId xmlns:a16="http://schemas.microsoft.com/office/drawing/2014/main" val="2649442008"/>
                  </a:ext>
                </a:extLst>
              </a:tr>
            </a:tbl>
          </a:graphicData>
        </a:graphic>
      </p:graphicFrame>
      <p:sp>
        <p:nvSpPr>
          <p:cNvPr id="5" name="Content Placeholder 2">
            <a:extLst>
              <a:ext uri="{FF2B5EF4-FFF2-40B4-BE49-F238E27FC236}">
                <a16:creationId xmlns:a16="http://schemas.microsoft.com/office/drawing/2014/main" id="{F8EF7F3F-1C9F-F854-AFF2-09EFA7DB0425}"/>
              </a:ext>
            </a:extLst>
          </p:cNvPr>
          <p:cNvSpPr txBox="1">
            <a:spLocks/>
          </p:cNvSpPr>
          <p:nvPr/>
        </p:nvSpPr>
        <p:spPr>
          <a:xfrm>
            <a:off x="102742" y="5527502"/>
            <a:ext cx="11989940" cy="12637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US" sz="3600">
                <a:latin typeface="Times New Roman" pitchFamily="18" charset="0"/>
                <a:cs typeface="Times New Roman" pitchFamily="18" charset="0"/>
              </a:rPr>
              <a:t>Each generation brings its unique perspectives, values, work styles and communication preferences to the workplace.</a:t>
            </a:r>
            <a:endParaRPr lang="en-US" sz="3600" dirty="0">
              <a:latin typeface="Times New Roman" pitchFamily="18" charset="0"/>
              <a:cs typeface="Times New Roman" pitchFamily="18" charset="0"/>
            </a:endParaRPr>
          </a:p>
        </p:txBody>
      </p:sp>
    </p:spTree>
    <p:extLst>
      <p:ext uri="{BB962C8B-B14F-4D97-AF65-F5344CB8AC3E}">
        <p14:creationId xmlns:p14="http://schemas.microsoft.com/office/powerpoint/2010/main" val="104212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3F882-B06C-CA44-E2F0-6C98342BB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64D7E-CB37-1257-F0DE-5B420376BD88}"/>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All-in-One HR Tools</a:t>
            </a:r>
          </a:p>
        </p:txBody>
      </p:sp>
      <p:sp>
        <p:nvSpPr>
          <p:cNvPr id="3" name="Content Placeholder 2">
            <a:extLst>
              <a:ext uri="{FF2B5EF4-FFF2-40B4-BE49-F238E27FC236}">
                <a16:creationId xmlns:a16="http://schemas.microsoft.com/office/drawing/2014/main" id="{9782D038-9908-6E88-7FAE-2F22D0D91C29}"/>
              </a:ext>
            </a:extLst>
          </p:cNvPr>
          <p:cNvSpPr>
            <a:spLocks noGrp="1"/>
          </p:cNvSpPr>
          <p:nvPr>
            <p:ph idx="1"/>
          </p:nvPr>
        </p:nvSpPr>
        <p:spPr>
          <a:xfrm>
            <a:off x="102742" y="1181528"/>
            <a:ext cx="11989940" cy="5517223"/>
          </a:xfrm>
        </p:spPr>
        <p:txBody>
          <a:bodyPr>
            <a:normAutofit lnSpcReduction="10000"/>
          </a:bodyPr>
          <a:lstStyle/>
          <a:p>
            <a:pPr marL="0" indent="0" algn="just">
              <a:lnSpc>
                <a:spcPct val="100000"/>
              </a:lnSpc>
              <a:buNone/>
            </a:pPr>
            <a:r>
              <a:rPr lang="en-US" sz="3600" dirty="0">
                <a:latin typeface="Times New Roman" pitchFamily="18" charset="0"/>
                <a:cs typeface="Times New Roman" pitchFamily="18" charset="0"/>
              </a:rPr>
              <a:t>All-in-One HR Tools are integrated software platforms that manage multiple HR functions through a single system.</a:t>
            </a:r>
          </a:p>
          <a:p>
            <a:pPr marL="0" indent="0" algn="just">
              <a:lnSpc>
                <a:spcPct val="100000"/>
              </a:lnSpc>
              <a:buNone/>
            </a:pPr>
            <a:r>
              <a:rPr lang="en-US" sz="3600" dirty="0">
                <a:latin typeface="Times New Roman" pitchFamily="18" charset="0"/>
                <a:cs typeface="Times New Roman" pitchFamily="18" charset="0"/>
              </a:rPr>
              <a:t>Also known as integrated Human Resource Management Systems </a:t>
            </a:r>
            <a:r>
              <a:rPr lang="en-US" sz="3600" i="1" dirty="0">
                <a:solidFill>
                  <a:srgbClr val="FF0000"/>
                </a:solidFill>
                <a:latin typeface="Times New Roman" pitchFamily="18" charset="0"/>
                <a:cs typeface="Times New Roman" pitchFamily="18" charset="0"/>
              </a:rPr>
              <a:t>(HRMS)</a:t>
            </a:r>
            <a:r>
              <a:rPr lang="en-US" sz="3600" dirty="0">
                <a:latin typeface="Times New Roman" pitchFamily="18" charset="0"/>
                <a:cs typeface="Times New Roman" pitchFamily="18" charset="0"/>
              </a:rPr>
              <a:t> or Human Capital Management </a:t>
            </a:r>
            <a:r>
              <a:rPr lang="en-US" sz="3600" i="1" dirty="0">
                <a:solidFill>
                  <a:srgbClr val="FF0000"/>
                </a:solidFill>
                <a:latin typeface="Times New Roman" pitchFamily="18" charset="0"/>
                <a:cs typeface="Times New Roman" pitchFamily="18" charset="0"/>
              </a:rPr>
              <a:t>(HCM) </a:t>
            </a:r>
            <a:r>
              <a:rPr lang="en-US" sz="3600" dirty="0">
                <a:latin typeface="Times New Roman" pitchFamily="18" charset="0"/>
                <a:cs typeface="Times New Roman" pitchFamily="18" charset="0"/>
              </a:rPr>
              <a:t>platforms, are comprehensive software solutions designed to streamline and centralize various HR functions within an organization. These tools consolidate HR processes, data and functions into a single platform, providing HR professionals with a more efficient and holistic way to manage their workforce.</a:t>
            </a:r>
          </a:p>
        </p:txBody>
      </p:sp>
    </p:spTree>
    <p:extLst>
      <p:ext uri="{BB962C8B-B14F-4D97-AF65-F5344CB8AC3E}">
        <p14:creationId xmlns:p14="http://schemas.microsoft.com/office/powerpoint/2010/main" val="76288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FF654-6D8C-1FB2-4C72-AF7C99CC8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A00F7-E8E0-4DA5-EA10-98B47345743C}"/>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The Concept of HRIS</a:t>
            </a:r>
          </a:p>
        </p:txBody>
      </p:sp>
      <p:sp>
        <p:nvSpPr>
          <p:cNvPr id="5" name="Content Placeholder 4">
            <a:extLst>
              <a:ext uri="{FF2B5EF4-FFF2-40B4-BE49-F238E27FC236}">
                <a16:creationId xmlns:a16="http://schemas.microsoft.com/office/drawing/2014/main" id="{6DCA7078-AA88-5F46-BB34-76C5B243D1FF}"/>
              </a:ext>
            </a:extLst>
          </p:cNvPr>
          <p:cNvSpPr>
            <a:spLocks noGrp="1"/>
          </p:cNvSpPr>
          <p:nvPr>
            <p:ph idx="1"/>
          </p:nvPr>
        </p:nvSpPr>
        <p:spPr>
          <a:xfrm>
            <a:off x="212833" y="884953"/>
            <a:ext cx="11792607" cy="3737847"/>
          </a:xfrm>
        </p:spPr>
        <p:txBody>
          <a:bodyPr>
            <a:normAutofit/>
          </a:bodyPr>
          <a:lstStyle/>
          <a:p>
            <a:r>
              <a:rPr lang="en-IN" sz="3200" dirty="0">
                <a:latin typeface="Times New Roman" pitchFamily="18" charset="0"/>
                <a:cs typeface="Times New Roman" pitchFamily="18" charset="0"/>
              </a:rPr>
              <a:t>People</a:t>
            </a:r>
          </a:p>
          <a:p>
            <a:r>
              <a:rPr lang="en-IN" sz="3200" dirty="0">
                <a:latin typeface="Times New Roman" pitchFamily="18" charset="0"/>
                <a:cs typeface="Times New Roman" pitchFamily="18" charset="0"/>
              </a:rPr>
              <a:t>Processes</a:t>
            </a:r>
          </a:p>
          <a:p>
            <a:r>
              <a:rPr lang="en-IN" sz="3200" dirty="0">
                <a:latin typeface="Times New Roman" pitchFamily="18" charset="0"/>
                <a:cs typeface="Times New Roman" pitchFamily="18" charset="0"/>
              </a:rPr>
              <a:t>Technology</a:t>
            </a:r>
          </a:p>
          <a:p>
            <a:pPr marL="0" indent="0">
              <a:buNone/>
            </a:pPr>
            <a:endParaRPr lang="en-IN" sz="3200" dirty="0">
              <a:latin typeface="Times New Roman" pitchFamily="18" charset="0"/>
              <a:cs typeface="Times New Roman"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Instead of maintaining separate Excel files for attendance, salary, leave and employee details, an organization stores everything in one HR database.</a:t>
            </a:r>
          </a:p>
          <a:p>
            <a:pPr marL="0" indent="0">
              <a:buNone/>
            </a:pPr>
            <a:endParaRPr lang="en-IN" sz="3200" dirty="0">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BCB824F1-2055-26CC-F221-31B5146FA048}"/>
              </a:ext>
            </a:extLst>
          </p:cNvPr>
          <p:cNvGraphicFramePr>
            <a:graphicFrameLocks noGrp="1"/>
          </p:cNvGraphicFramePr>
          <p:nvPr>
            <p:extLst>
              <p:ext uri="{D42A27DB-BD31-4B8C-83A1-F6EECF244321}">
                <p14:modId xmlns:p14="http://schemas.microsoft.com/office/powerpoint/2010/main" val="1516380054"/>
              </p:ext>
            </p:extLst>
          </p:nvPr>
        </p:nvGraphicFramePr>
        <p:xfrm>
          <a:off x="181303" y="4714260"/>
          <a:ext cx="11839905" cy="1539240"/>
        </p:xfrm>
        <a:graphic>
          <a:graphicData uri="http://schemas.openxmlformats.org/drawingml/2006/table">
            <a:tbl>
              <a:tblPr>
                <a:tableStyleId>{5940675A-B579-460E-94D1-54222C63F5DA}</a:tableStyleId>
              </a:tblPr>
              <a:tblGrid>
                <a:gridCol w="2367981">
                  <a:extLst>
                    <a:ext uri="{9D8B030D-6E8A-4147-A177-3AD203B41FA5}">
                      <a16:colId xmlns:a16="http://schemas.microsoft.com/office/drawing/2014/main" val="3234330753"/>
                    </a:ext>
                  </a:extLst>
                </a:gridCol>
                <a:gridCol w="2367981">
                  <a:extLst>
                    <a:ext uri="{9D8B030D-6E8A-4147-A177-3AD203B41FA5}">
                      <a16:colId xmlns:a16="http://schemas.microsoft.com/office/drawing/2014/main" val="3814350889"/>
                    </a:ext>
                  </a:extLst>
                </a:gridCol>
                <a:gridCol w="2367981">
                  <a:extLst>
                    <a:ext uri="{9D8B030D-6E8A-4147-A177-3AD203B41FA5}">
                      <a16:colId xmlns:a16="http://schemas.microsoft.com/office/drawing/2014/main" val="2271351310"/>
                    </a:ext>
                  </a:extLst>
                </a:gridCol>
                <a:gridCol w="2367981">
                  <a:extLst>
                    <a:ext uri="{9D8B030D-6E8A-4147-A177-3AD203B41FA5}">
                      <a16:colId xmlns:a16="http://schemas.microsoft.com/office/drawing/2014/main" val="2445377113"/>
                    </a:ext>
                  </a:extLst>
                </a:gridCol>
                <a:gridCol w="2367981">
                  <a:extLst>
                    <a:ext uri="{9D8B030D-6E8A-4147-A177-3AD203B41FA5}">
                      <a16:colId xmlns:a16="http://schemas.microsoft.com/office/drawing/2014/main" val="2393950565"/>
                    </a:ext>
                  </a:extLst>
                </a:gridCol>
              </a:tblGrid>
              <a:tr h="0">
                <a:tc>
                  <a:txBody>
                    <a:bodyPr/>
                    <a:lstStyle/>
                    <a:p>
                      <a:pPr>
                        <a:buNone/>
                      </a:pPr>
                      <a:r>
                        <a:rPr lang="en-IN" sz="2700" b="1" dirty="0">
                          <a:latin typeface="Times New Roman" panose="02020603050405020304" pitchFamily="18" charset="0"/>
                          <a:cs typeface="Times New Roman" panose="02020603050405020304" pitchFamily="18" charset="0"/>
                        </a:rPr>
                        <a:t>Employee ID</a:t>
                      </a:r>
                    </a:p>
                  </a:txBody>
                  <a:tcPr anchor="ctr"/>
                </a:tc>
                <a:tc>
                  <a:txBody>
                    <a:bodyPr/>
                    <a:lstStyle/>
                    <a:p>
                      <a:pPr>
                        <a:buNone/>
                      </a:pPr>
                      <a:r>
                        <a:rPr lang="en-IN" sz="2700" b="1" dirty="0">
                          <a:latin typeface="Times New Roman" panose="02020603050405020304" pitchFamily="18" charset="0"/>
                          <a:cs typeface="Times New Roman" panose="02020603050405020304" pitchFamily="18" charset="0"/>
                        </a:rPr>
                        <a:t>Name</a:t>
                      </a:r>
                    </a:p>
                  </a:txBody>
                  <a:tcPr anchor="ctr"/>
                </a:tc>
                <a:tc>
                  <a:txBody>
                    <a:bodyPr/>
                    <a:lstStyle/>
                    <a:p>
                      <a:pPr>
                        <a:buNone/>
                      </a:pPr>
                      <a:r>
                        <a:rPr lang="en-IN" sz="2700" b="1">
                          <a:latin typeface="Times New Roman" panose="02020603050405020304" pitchFamily="18" charset="0"/>
                          <a:cs typeface="Times New Roman" panose="02020603050405020304" pitchFamily="18" charset="0"/>
                        </a:rPr>
                        <a:t>Department</a:t>
                      </a:r>
                    </a:p>
                  </a:txBody>
                  <a:tcPr anchor="ctr"/>
                </a:tc>
                <a:tc>
                  <a:txBody>
                    <a:bodyPr/>
                    <a:lstStyle/>
                    <a:p>
                      <a:pPr>
                        <a:buNone/>
                      </a:pPr>
                      <a:r>
                        <a:rPr lang="en-IN" sz="2700" b="1">
                          <a:latin typeface="Times New Roman" panose="02020603050405020304" pitchFamily="18" charset="0"/>
                          <a:cs typeface="Times New Roman" panose="02020603050405020304" pitchFamily="18" charset="0"/>
                        </a:rPr>
                        <a:t>Salary</a:t>
                      </a:r>
                    </a:p>
                  </a:txBody>
                  <a:tcPr anchor="ctr"/>
                </a:tc>
                <a:tc>
                  <a:txBody>
                    <a:bodyPr/>
                    <a:lstStyle/>
                    <a:p>
                      <a:pPr>
                        <a:buNone/>
                      </a:pPr>
                      <a:r>
                        <a:rPr lang="en-IN" sz="2700" b="1" dirty="0">
                          <a:latin typeface="Times New Roman" panose="02020603050405020304" pitchFamily="18" charset="0"/>
                          <a:cs typeface="Times New Roman" panose="02020603050405020304" pitchFamily="18" charset="0"/>
                        </a:rPr>
                        <a:t>Leave Balance</a:t>
                      </a:r>
                    </a:p>
                  </a:txBody>
                  <a:tcPr anchor="ctr"/>
                </a:tc>
                <a:extLst>
                  <a:ext uri="{0D108BD9-81ED-4DB2-BD59-A6C34878D82A}">
                    <a16:rowId xmlns:a16="http://schemas.microsoft.com/office/drawing/2014/main" val="3991838948"/>
                  </a:ext>
                </a:extLst>
              </a:tr>
              <a:tr h="0">
                <a:tc>
                  <a:txBody>
                    <a:bodyPr/>
                    <a:lstStyle/>
                    <a:p>
                      <a:pPr>
                        <a:buNone/>
                      </a:pPr>
                      <a:r>
                        <a:rPr lang="en-IN" sz="2800">
                          <a:latin typeface="Times New Roman" panose="02020603050405020304" pitchFamily="18" charset="0"/>
                          <a:cs typeface="Times New Roman" panose="02020603050405020304" pitchFamily="18" charset="0"/>
                        </a:rPr>
                        <a:t>E101</a:t>
                      </a:r>
                    </a:p>
                  </a:txBody>
                  <a:tcPr anchor="ctr"/>
                </a:tc>
                <a:tc>
                  <a:txBody>
                    <a:bodyPr/>
                    <a:lstStyle/>
                    <a:p>
                      <a:pPr>
                        <a:buNone/>
                      </a:pPr>
                      <a:r>
                        <a:rPr lang="en-IN" sz="2800">
                          <a:latin typeface="Times New Roman" panose="02020603050405020304" pitchFamily="18" charset="0"/>
                          <a:cs typeface="Times New Roman" panose="02020603050405020304" pitchFamily="18" charset="0"/>
                        </a:rPr>
                        <a:t>Rahul</a:t>
                      </a:r>
                    </a:p>
                  </a:txBody>
                  <a:tcPr anchor="ctr"/>
                </a:tc>
                <a:tc>
                  <a:txBody>
                    <a:bodyPr/>
                    <a:lstStyle/>
                    <a:p>
                      <a:pPr>
                        <a:buNone/>
                      </a:pPr>
                      <a:r>
                        <a:rPr lang="en-IN" sz="2800">
                          <a:latin typeface="Times New Roman" panose="02020603050405020304" pitchFamily="18" charset="0"/>
                          <a:cs typeface="Times New Roman" panose="02020603050405020304" pitchFamily="18" charset="0"/>
                        </a:rPr>
                        <a:t>HR</a:t>
                      </a:r>
                    </a:p>
                  </a:txBody>
                  <a:tcPr anchor="ctr"/>
                </a:tc>
                <a:tc>
                  <a:txBody>
                    <a:bodyPr/>
                    <a:lstStyle/>
                    <a:p>
                      <a:pPr>
                        <a:buNone/>
                      </a:pPr>
                      <a:r>
                        <a:rPr lang="en-IN" sz="2800">
                          <a:latin typeface="Times New Roman" panose="02020603050405020304" pitchFamily="18" charset="0"/>
                          <a:cs typeface="Times New Roman" panose="02020603050405020304" pitchFamily="18" charset="0"/>
                        </a:rPr>
                        <a:t>₹45,000</a:t>
                      </a:r>
                    </a:p>
                  </a:txBody>
                  <a:tcPr anchor="ctr"/>
                </a:tc>
                <a:tc>
                  <a:txBody>
                    <a:bodyPr/>
                    <a:lstStyle/>
                    <a:p>
                      <a:pPr>
                        <a:buNone/>
                      </a:pPr>
                      <a:r>
                        <a:rPr lang="en-IN" sz="2800">
                          <a:latin typeface="Times New Roman" panose="02020603050405020304" pitchFamily="18" charset="0"/>
                          <a:cs typeface="Times New Roman" panose="02020603050405020304" pitchFamily="18" charset="0"/>
                        </a:rPr>
                        <a:t>12 Days</a:t>
                      </a:r>
                    </a:p>
                  </a:txBody>
                  <a:tcPr anchor="ctr"/>
                </a:tc>
                <a:extLst>
                  <a:ext uri="{0D108BD9-81ED-4DB2-BD59-A6C34878D82A}">
                    <a16:rowId xmlns:a16="http://schemas.microsoft.com/office/drawing/2014/main" val="511106720"/>
                  </a:ext>
                </a:extLst>
              </a:tr>
              <a:tr h="0">
                <a:tc>
                  <a:txBody>
                    <a:bodyPr/>
                    <a:lstStyle/>
                    <a:p>
                      <a:pPr>
                        <a:buNone/>
                      </a:pPr>
                      <a:r>
                        <a:rPr lang="en-IN" sz="2800" dirty="0">
                          <a:latin typeface="Times New Roman" panose="02020603050405020304" pitchFamily="18" charset="0"/>
                          <a:cs typeface="Times New Roman" panose="02020603050405020304" pitchFamily="18" charset="0"/>
                        </a:rPr>
                        <a:t>E102</a:t>
                      </a:r>
                    </a:p>
                  </a:txBody>
                  <a:tcPr anchor="ctr"/>
                </a:tc>
                <a:tc>
                  <a:txBody>
                    <a:bodyPr/>
                    <a:lstStyle/>
                    <a:p>
                      <a:pPr>
                        <a:buNone/>
                      </a:pPr>
                      <a:r>
                        <a:rPr lang="en-IN" sz="2800">
                          <a:latin typeface="Times New Roman" panose="02020603050405020304" pitchFamily="18" charset="0"/>
                          <a:cs typeface="Times New Roman" panose="02020603050405020304" pitchFamily="18" charset="0"/>
                        </a:rPr>
                        <a:t>Priya</a:t>
                      </a:r>
                    </a:p>
                  </a:txBody>
                  <a:tcPr anchor="ctr"/>
                </a:tc>
                <a:tc>
                  <a:txBody>
                    <a:bodyPr/>
                    <a:lstStyle/>
                    <a:p>
                      <a:pPr>
                        <a:buNone/>
                      </a:pPr>
                      <a:r>
                        <a:rPr lang="en-IN" sz="2800">
                          <a:latin typeface="Times New Roman" panose="02020603050405020304" pitchFamily="18" charset="0"/>
                          <a:cs typeface="Times New Roman" panose="02020603050405020304" pitchFamily="18" charset="0"/>
                        </a:rPr>
                        <a:t>Finance</a:t>
                      </a:r>
                    </a:p>
                  </a:txBody>
                  <a:tcPr anchor="ctr"/>
                </a:tc>
                <a:tc>
                  <a:txBody>
                    <a:bodyPr/>
                    <a:lstStyle/>
                    <a:p>
                      <a:pPr>
                        <a:buNone/>
                      </a:pPr>
                      <a:r>
                        <a:rPr lang="en-IN" sz="2800">
                          <a:latin typeface="Times New Roman" panose="02020603050405020304" pitchFamily="18" charset="0"/>
                          <a:cs typeface="Times New Roman" panose="02020603050405020304" pitchFamily="18" charset="0"/>
                        </a:rPr>
                        <a:t>₹60,000</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18 Days</a:t>
                      </a:r>
                    </a:p>
                  </a:txBody>
                  <a:tcPr anchor="ctr"/>
                </a:tc>
                <a:extLst>
                  <a:ext uri="{0D108BD9-81ED-4DB2-BD59-A6C34878D82A}">
                    <a16:rowId xmlns:a16="http://schemas.microsoft.com/office/drawing/2014/main" val="817944756"/>
                  </a:ext>
                </a:extLst>
              </a:tr>
            </a:tbl>
          </a:graphicData>
        </a:graphic>
      </p:graphicFrame>
    </p:spTree>
    <p:extLst>
      <p:ext uri="{BB962C8B-B14F-4D97-AF65-F5344CB8AC3E}">
        <p14:creationId xmlns:p14="http://schemas.microsoft.com/office/powerpoint/2010/main" val="547295289"/>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1761-4BF6-95AF-D5CC-BBCBE5380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D7627-1EB5-22AB-CF50-D0D13CA23DE1}"/>
              </a:ext>
            </a:extLst>
          </p:cNvPr>
          <p:cNvSpPr>
            <a:spLocks noGrp="1"/>
          </p:cNvSpPr>
          <p:nvPr>
            <p:ph type="title"/>
          </p:nvPr>
        </p:nvSpPr>
        <p:spPr>
          <a:xfrm>
            <a:off x="102742" y="36357"/>
            <a:ext cx="11989941" cy="970515"/>
          </a:xfrm>
        </p:spPr>
        <p:txBody>
          <a:bodyPr/>
          <a:lstStyle/>
          <a:p>
            <a:pPr algn="ctr"/>
            <a:r>
              <a:rPr lang="en-US" b="1" dirty="0">
                <a:solidFill>
                  <a:srgbClr val="C00000"/>
                </a:solidFill>
                <a:latin typeface="Times New Roman" panose="02020603050405020304" pitchFamily="18" charset="0"/>
                <a:cs typeface="Times New Roman" panose="02020603050405020304" pitchFamily="18" charset="0"/>
              </a:rPr>
              <a:t>Major Functions or Applications of HRIS</a:t>
            </a:r>
          </a:p>
        </p:txBody>
      </p:sp>
      <p:sp>
        <p:nvSpPr>
          <p:cNvPr id="5" name="Content Placeholder 4">
            <a:extLst>
              <a:ext uri="{FF2B5EF4-FFF2-40B4-BE49-F238E27FC236}">
                <a16:creationId xmlns:a16="http://schemas.microsoft.com/office/drawing/2014/main" id="{D6EC16B5-CF0B-CFA6-94C5-6F56105869F1}"/>
              </a:ext>
            </a:extLst>
          </p:cNvPr>
          <p:cNvSpPr>
            <a:spLocks noGrp="1"/>
          </p:cNvSpPr>
          <p:nvPr>
            <p:ph idx="1"/>
          </p:nvPr>
        </p:nvSpPr>
        <p:spPr>
          <a:xfrm>
            <a:off x="212833" y="1324303"/>
            <a:ext cx="11792607" cy="5415456"/>
          </a:xfrm>
        </p:spPr>
        <p:txBody>
          <a:bodyPr>
            <a:normAutofit/>
          </a:bodyPr>
          <a:lstStyle/>
          <a:p>
            <a:r>
              <a:rPr lang="en-IN" sz="3200" dirty="0">
                <a:latin typeface="Times New Roman" pitchFamily="18" charset="0"/>
                <a:cs typeface="Times New Roman" pitchFamily="18" charset="0"/>
              </a:rPr>
              <a:t>Employee Information Management </a:t>
            </a:r>
          </a:p>
          <a:p>
            <a:r>
              <a:rPr lang="en-IN" sz="3200" dirty="0">
                <a:latin typeface="Times New Roman" pitchFamily="18" charset="0"/>
                <a:cs typeface="Times New Roman" pitchFamily="18" charset="0"/>
              </a:rPr>
              <a:t>Recruitment Management</a:t>
            </a:r>
          </a:p>
          <a:p>
            <a:r>
              <a:rPr lang="en-IN" sz="3200" dirty="0">
                <a:latin typeface="Times New Roman" pitchFamily="18" charset="0"/>
                <a:cs typeface="Times New Roman" pitchFamily="18" charset="0"/>
              </a:rPr>
              <a:t>Attendance Management</a:t>
            </a:r>
          </a:p>
          <a:p>
            <a:r>
              <a:rPr lang="en-IN" sz="3200" dirty="0">
                <a:latin typeface="Times New Roman" pitchFamily="18" charset="0"/>
                <a:cs typeface="Times New Roman" pitchFamily="18" charset="0"/>
              </a:rPr>
              <a:t>Payroll Management</a:t>
            </a:r>
          </a:p>
          <a:p>
            <a:r>
              <a:rPr lang="en-IN" sz="3200" dirty="0">
                <a:latin typeface="Times New Roman" pitchFamily="18" charset="0"/>
                <a:cs typeface="Times New Roman" pitchFamily="18" charset="0"/>
              </a:rPr>
              <a:t>Performance Management</a:t>
            </a:r>
          </a:p>
          <a:p>
            <a:r>
              <a:rPr lang="en-IN" sz="3200" dirty="0">
                <a:latin typeface="Times New Roman" pitchFamily="18" charset="0"/>
                <a:cs typeface="Times New Roman" pitchFamily="18" charset="0"/>
              </a:rPr>
              <a:t>Training Management</a:t>
            </a:r>
          </a:p>
        </p:txBody>
      </p:sp>
    </p:spTree>
    <p:extLst>
      <p:ext uri="{BB962C8B-B14F-4D97-AF65-F5344CB8AC3E}">
        <p14:creationId xmlns:p14="http://schemas.microsoft.com/office/powerpoint/2010/main" val="161790440"/>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1761-4BF6-95AF-D5CC-BBCBE5380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D7627-1EB5-22AB-CF50-D0D13CA23DE1}"/>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The role of IT</a:t>
            </a:r>
          </a:p>
        </p:txBody>
      </p:sp>
      <p:sp>
        <p:nvSpPr>
          <p:cNvPr id="5" name="Content Placeholder 4">
            <a:extLst>
              <a:ext uri="{FF2B5EF4-FFF2-40B4-BE49-F238E27FC236}">
                <a16:creationId xmlns:a16="http://schemas.microsoft.com/office/drawing/2014/main" id="{D6EC16B5-CF0B-CFA6-94C5-6F56105869F1}"/>
              </a:ext>
            </a:extLst>
          </p:cNvPr>
          <p:cNvSpPr>
            <a:spLocks noGrp="1"/>
          </p:cNvSpPr>
          <p:nvPr>
            <p:ph idx="1"/>
          </p:nvPr>
        </p:nvSpPr>
        <p:spPr>
          <a:xfrm>
            <a:off x="118241" y="1198179"/>
            <a:ext cx="11942380" cy="5541580"/>
          </a:xfrm>
        </p:spPr>
        <p:txBody>
          <a:bodyPr/>
          <a:lstStyle/>
          <a:p>
            <a:r>
              <a:rPr lang="en-IN" dirty="0">
                <a:latin typeface="Times New Roman" pitchFamily="18" charset="0"/>
                <a:cs typeface="Times New Roman" pitchFamily="18" charset="0"/>
              </a:rPr>
              <a:t>Data Collection</a:t>
            </a:r>
          </a:p>
          <a:p>
            <a:r>
              <a:rPr lang="en-IN" dirty="0">
                <a:latin typeface="Times New Roman" pitchFamily="18" charset="0"/>
                <a:cs typeface="Times New Roman" pitchFamily="18" charset="0"/>
              </a:rPr>
              <a:t>Data Storage</a:t>
            </a:r>
          </a:p>
          <a:p>
            <a:r>
              <a:rPr lang="en-IN" dirty="0">
                <a:latin typeface="Times New Roman" pitchFamily="18" charset="0"/>
                <a:cs typeface="Times New Roman" pitchFamily="18" charset="0"/>
              </a:rPr>
              <a:t>Data Processing</a:t>
            </a:r>
          </a:p>
          <a:p>
            <a:r>
              <a:rPr lang="en-IN" dirty="0">
                <a:latin typeface="Times New Roman" pitchFamily="18" charset="0"/>
                <a:cs typeface="Times New Roman" pitchFamily="18" charset="0"/>
              </a:rPr>
              <a:t>Communication</a:t>
            </a:r>
          </a:p>
          <a:p>
            <a:r>
              <a:rPr lang="en-IN" dirty="0">
                <a:latin typeface="Times New Roman" pitchFamily="18" charset="0"/>
                <a:cs typeface="Times New Roman" pitchFamily="18" charset="0"/>
              </a:rPr>
              <a:t>Decision Support</a:t>
            </a:r>
          </a:p>
          <a:p>
            <a:pPr algn="ctr">
              <a:buNone/>
            </a:pPr>
            <a:r>
              <a:rPr lang="en-IN" sz="3200" b="1" dirty="0">
                <a:latin typeface="Times New Roman" pitchFamily="18" charset="0"/>
                <a:cs typeface="Times New Roman" pitchFamily="18" charset="0"/>
              </a:rPr>
              <a:t>Modern Technologies in HRIS</a:t>
            </a:r>
          </a:p>
          <a:p>
            <a:r>
              <a:rPr lang="en-IN" dirty="0">
                <a:latin typeface="Times New Roman" pitchFamily="18" charset="0"/>
                <a:cs typeface="Times New Roman" pitchFamily="18" charset="0"/>
              </a:rPr>
              <a:t>Cloud Computing</a:t>
            </a:r>
          </a:p>
          <a:p>
            <a:r>
              <a:rPr lang="en-IN" dirty="0">
                <a:latin typeface="Times New Roman" pitchFamily="18" charset="0"/>
                <a:cs typeface="Times New Roman" pitchFamily="18" charset="0"/>
              </a:rPr>
              <a:t>AI</a:t>
            </a:r>
          </a:p>
          <a:p>
            <a:r>
              <a:rPr lang="en-IN" dirty="0">
                <a:latin typeface="Times New Roman" pitchFamily="18" charset="0"/>
                <a:cs typeface="Times New Roman" pitchFamily="18" charset="0"/>
              </a:rPr>
              <a:t>Mobile application</a:t>
            </a:r>
          </a:p>
          <a:p>
            <a:r>
              <a:rPr lang="en-IN" dirty="0">
                <a:latin typeface="Times New Roman" pitchFamily="18" charset="0"/>
                <a:cs typeface="Times New Roman" pitchFamily="18" charset="0"/>
              </a:rPr>
              <a:t>Chatbots</a:t>
            </a:r>
          </a:p>
        </p:txBody>
      </p:sp>
    </p:spTree>
    <p:extLst>
      <p:ext uri="{BB962C8B-B14F-4D97-AF65-F5344CB8AC3E}">
        <p14:creationId xmlns:p14="http://schemas.microsoft.com/office/powerpoint/2010/main" val="16179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20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20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20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20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C67FD-020B-3A60-A03F-E38D2CED5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93240-2900-3ABF-795C-F81861ED25E2}"/>
              </a:ext>
            </a:extLst>
          </p:cNvPr>
          <p:cNvSpPr>
            <a:spLocks noGrp="1"/>
          </p:cNvSpPr>
          <p:nvPr>
            <p:ph type="title"/>
          </p:nvPr>
        </p:nvSpPr>
        <p:spPr>
          <a:xfrm>
            <a:off x="102742" y="36357"/>
            <a:ext cx="11989941" cy="970515"/>
          </a:xfrm>
        </p:spPr>
        <p:txBody>
          <a:bodyPr/>
          <a:lstStyle/>
          <a:p>
            <a:pPr algn="ctr"/>
            <a:r>
              <a:rPr lang="en-US" b="1" dirty="0">
                <a:solidFill>
                  <a:srgbClr val="C00000"/>
                </a:solidFill>
                <a:latin typeface="Times New Roman" panose="02020603050405020304" pitchFamily="18" charset="0"/>
                <a:cs typeface="Times New Roman" panose="02020603050405020304" pitchFamily="18" charset="0"/>
              </a:rPr>
              <a:t>Key Aspects or Elements of an HRIS</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1A8AC75-78A8-D428-ADCE-17F49B81798E}"/>
              </a:ext>
            </a:extLst>
          </p:cNvPr>
          <p:cNvSpPr>
            <a:spLocks noGrp="1"/>
          </p:cNvSpPr>
          <p:nvPr>
            <p:ph idx="1"/>
          </p:nvPr>
        </p:nvSpPr>
        <p:spPr>
          <a:xfrm>
            <a:off x="181303" y="1174530"/>
            <a:ext cx="11839904" cy="5517931"/>
          </a:xfrm>
        </p:spPr>
        <p:txBody>
          <a:bodyPr>
            <a:normAutofit/>
          </a:bodyPr>
          <a:lstStyle/>
          <a:p>
            <a:pPr>
              <a:lnSpc>
                <a:spcPct val="100000"/>
              </a:lnSpc>
            </a:pPr>
            <a:r>
              <a:rPr lang="en-US" sz="3200" dirty="0">
                <a:latin typeface="Times New Roman" pitchFamily="18" charset="0"/>
                <a:cs typeface="Times New Roman" pitchFamily="18" charset="0"/>
              </a:rPr>
              <a:t>Centralized Data Management.</a:t>
            </a:r>
          </a:p>
          <a:p>
            <a:pPr>
              <a:lnSpc>
                <a:spcPct val="100000"/>
              </a:lnSpc>
            </a:pPr>
            <a:r>
              <a:rPr lang="en-US" sz="3200" dirty="0">
                <a:latin typeface="Times New Roman" pitchFamily="18" charset="0"/>
                <a:cs typeface="Times New Roman" pitchFamily="18" charset="0"/>
              </a:rPr>
              <a:t>Improved Efficiency.</a:t>
            </a:r>
          </a:p>
          <a:p>
            <a:pPr>
              <a:lnSpc>
                <a:spcPct val="100000"/>
              </a:lnSpc>
            </a:pPr>
            <a:r>
              <a:rPr lang="en-US" sz="3200" dirty="0">
                <a:latin typeface="Times New Roman" pitchFamily="18" charset="0"/>
                <a:cs typeface="Times New Roman" pitchFamily="18" charset="0"/>
              </a:rPr>
              <a:t>Data-Driven Decision Making.</a:t>
            </a:r>
          </a:p>
          <a:p>
            <a:pPr>
              <a:lnSpc>
                <a:spcPct val="100000"/>
              </a:lnSpc>
            </a:pPr>
            <a:r>
              <a:rPr lang="en-US" sz="3200" dirty="0">
                <a:latin typeface="Times New Roman" pitchFamily="18" charset="0"/>
                <a:cs typeface="Times New Roman" pitchFamily="18" charset="0"/>
              </a:rPr>
              <a:t>Enhanced Employee Experience.</a:t>
            </a:r>
          </a:p>
          <a:p>
            <a:pPr>
              <a:lnSpc>
                <a:spcPct val="100000"/>
              </a:lnSpc>
            </a:pPr>
            <a:r>
              <a:rPr lang="en-US" sz="3200" dirty="0">
                <a:latin typeface="Times New Roman" pitchFamily="18" charset="0"/>
                <a:cs typeface="Times New Roman" pitchFamily="18" charset="0"/>
              </a:rPr>
              <a:t>Automation of Processes.</a:t>
            </a:r>
          </a:p>
          <a:p>
            <a:pPr>
              <a:lnSpc>
                <a:spcPct val="100000"/>
              </a:lnSpc>
            </a:pPr>
            <a:r>
              <a:rPr lang="en-US" sz="3200" dirty="0">
                <a:latin typeface="Times New Roman" pitchFamily="18" charset="0"/>
                <a:cs typeface="Times New Roman" pitchFamily="18" charset="0"/>
              </a:rPr>
              <a:t>Reporting and Analytics.</a:t>
            </a:r>
          </a:p>
          <a:p>
            <a:pPr>
              <a:lnSpc>
                <a:spcPct val="100000"/>
              </a:lnSpc>
            </a:pPr>
            <a:r>
              <a:rPr lang="en-US" sz="3200" dirty="0">
                <a:latin typeface="Times New Roman" pitchFamily="18" charset="0"/>
                <a:cs typeface="Times New Roman" pitchFamily="18" charset="0"/>
              </a:rPr>
              <a:t>Performance Management.</a:t>
            </a:r>
          </a:p>
          <a:p>
            <a:pPr>
              <a:lnSpc>
                <a:spcPct val="100000"/>
              </a:lnSpc>
              <a:buNone/>
            </a:pPr>
            <a:endParaRPr lang="en-IN" sz="3200" dirty="0"/>
          </a:p>
        </p:txBody>
      </p:sp>
    </p:spTree>
    <p:extLst>
      <p:ext uri="{BB962C8B-B14F-4D97-AF65-F5344CB8AC3E}">
        <p14:creationId xmlns:p14="http://schemas.microsoft.com/office/powerpoint/2010/main" val="3036011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20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1761-4BF6-95AF-D5CC-BBCBE5380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D7627-1EB5-22AB-CF50-D0D13CA23DE1}"/>
              </a:ext>
            </a:extLst>
          </p:cNvPr>
          <p:cNvSpPr>
            <a:spLocks noGrp="1"/>
          </p:cNvSpPr>
          <p:nvPr>
            <p:ph type="title"/>
          </p:nvPr>
        </p:nvSpPr>
        <p:spPr>
          <a:xfrm>
            <a:off x="102742" y="36357"/>
            <a:ext cx="11989941" cy="970515"/>
          </a:xfrm>
        </p:spPr>
        <p:txBody>
          <a:bodyPr/>
          <a:lstStyle/>
          <a:p>
            <a:pPr algn="ctr"/>
            <a:r>
              <a:rPr lang="en-US" b="1" dirty="0">
                <a:solidFill>
                  <a:srgbClr val="C00000"/>
                </a:solidFill>
                <a:latin typeface="Times New Roman" panose="02020603050405020304" pitchFamily="18" charset="0"/>
                <a:cs typeface="Times New Roman" panose="02020603050405020304" pitchFamily="18" charset="0"/>
              </a:rPr>
              <a:t>Steps in Implementing an HRIS</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6EC16B5-CF0B-CFA6-94C5-6F56105869F1}"/>
              </a:ext>
            </a:extLst>
          </p:cNvPr>
          <p:cNvSpPr>
            <a:spLocks noGrp="1"/>
          </p:cNvSpPr>
          <p:nvPr>
            <p:ph idx="1"/>
          </p:nvPr>
        </p:nvSpPr>
        <p:spPr>
          <a:xfrm>
            <a:off x="181303" y="1143000"/>
            <a:ext cx="11847787" cy="5596759"/>
          </a:xfrm>
        </p:spPr>
        <p:txBody>
          <a:bodyPr>
            <a:normAutofit/>
          </a:bodyPr>
          <a:lstStyle/>
          <a:p>
            <a:r>
              <a:rPr lang="en-IN" sz="3200" dirty="0">
                <a:latin typeface="Times New Roman" pitchFamily="18" charset="0"/>
                <a:cs typeface="Times New Roman" pitchFamily="18" charset="0"/>
              </a:rPr>
              <a:t>Identify Organizational Needs</a:t>
            </a:r>
          </a:p>
          <a:p>
            <a:r>
              <a:rPr lang="en-IN" sz="3200" dirty="0">
                <a:latin typeface="Times New Roman" pitchFamily="18" charset="0"/>
                <a:cs typeface="Times New Roman" pitchFamily="18" charset="0"/>
              </a:rPr>
              <a:t>Define Objectives</a:t>
            </a:r>
          </a:p>
          <a:p>
            <a:r>
              <a:rPr lang="en-IN" sz="3200" dirty="0">
                <a:latin typeface="Times New Roman" pitchFamily="18" charset="0"/>
                <a:cs typeface="Times New Roman" pitchFamily="18" charset="0"/>
              </a:rPr>
              <a:t>Analyze Existing HR Processes</a:t>
            </a:r>
          </a:p>
          <a:p>
            <a:r>
              <a:rPr lang="en-IN" sz="3200" dirty="0">
                <a:latin typeface="Times New Roman" pitchFamily="18" charset="0"/>
                <a:cs typeface="Times New Roman" pitchFamily="18" charset="0"/>
              </a:rPr>
              <a:t>Select Appropriate HRIS Software</a:t>
            </a:r>
          </a:p>
          <a:p>
            <a:r>
              <a:rPr lang="en-IN" sz="3200" dirty="0">
                <a:latin typeface="Times New Roman" pitchFamily="18" charset="0"/>
                <a:cs typeface="Times New Roman" pitchFamily="18" charset="0"/>
              </a:rPr>
              <a:t>Design Database Structure</a:t>
            </a:r>
          </a:p>
          <a:p>
            <a:r>
              <a:rPr lang="en-IN" sz="3200" dirty="0">
                <a:latin typeface="Times New Roman" pitchFamily="18" charset="0"/>
                <a:cs typeface="Times New Roman" pitchFamily="18" charset="0"/>
              </a:rPr>
              <a:t>Training Users</a:t>
            </a:r>
          </a:p>
          <a:p>
            <a:r>
              <a:rPr lang="en-IN" sz="3200" dirty="0">
                <a:latin typeface="Times New Roman" pitchFamily="18" charset="0"/>
                <a:cs typeface="Times New Roman" pitchFamily="18" charset="0"/>
              </a:rPr>
              <a:t>Testing the System</a:t>
            </a:r>
          </a:p>
          <a:p>
            <a:r>
              <a:rPr lang="en-IN" sz="3200" dirty="0">
                <a:latin typeface="Times New Roman" pitchFamily="18" charset="0"/>
                <a:cs typeface="Times New Roman" pitchFamily="18" charset="0"/>
              </a:rPr>
              <a:t>Implementation</a:t>
            </a:r>
          </a:p>
          <a:p>
            <a:r>
              <a:rPr lang="en-IN" sz="3200" dirty="0">
                <a:latin typeface="Times New Roman" pitchFamily="18" charset="0"/>
                <a:cs typeface="Times New Roman" pitchFamily="18" charset="0"/>
              </a:rPr>
              <a:t>Evaluation and Maintenance</a:t>
            </a:r>
          </a:p>
        </p:txBody>
      </p:sp>
    </p:spTree>
    <p:extLst>
      <p:ext uri="{BB962C8B-B14F-4D97-AF65-F5344CB8AC3E}">
        <p14:creationId xmlns:p14="http://schemas.microsoft.com/office/powerpoint/2010/main" val="16179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20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20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20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1761-4BF6-95AF-D5CC-BBCBE5380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D7627-1EB5-22AB-CF50-D0D13CA23DE1}"/>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Benefits of HRIS</a:t>
            </a:r>
          </a:p>
        </p:txBody>
      </p:sp>
      <p:sp>
        <p:nvSpPr>
          <p:cNvPr id="5" name="Content Placeholder 4">
            <a:extLst>
              <a:ext uri="{FF2B5EF4-FFF2-40B4-BE49-F238E27FC236}">
                <a16:creationId xmlns:a16="http://schemas.microsoft.com/office/drawing/2014/main" id="{D6EC16B5-CF0B-CFA6-94C5-6F56105869F1}"/>
              </a:ext>
            </a:extLst>
          </p:cNvPr>
          <p:cNvSpPr>
            <a:spLocks noGrp="1"/>
          </p:cNvSpPr>
          <p:nvPr>
            <p:ph idx="1"/>
          </p:nvPr>
        </p:nvSpPr>
        <p:spPr>
          <a:xfrm>
            <a:off x="189186" y="1064172"/>
            <a:ext cx="11847786" cy="5651938"/>
          </a:xfrm>
        </p:spPr>
        <p:txBody>
          <a:bodyPr>
            <a:normAutofit/>
          </a:bodyPr>
          <a:lstStyle/>
          <a:p>
            <a:pPr>
              <a:lnSpc>
                <a:spcPct val="100000"/>
              </a:lnSpc>
            </a:pPr>
            <a:r>
              <a:rPr lang="en-US" sz="3200" dirty="0">
                <a:latin typeface="Times New Roman" pitchFamily="18" charset="0"/>
                <a:cs typeface="Times New Roman" pitchFamily="18" charset="0"/>
              </a:rPr>
              <a:t>Increased Efficiency.</a:t>
            </a:r>
          </a:p>
          <a:p>
            <a:pPr>
              <a:lnSpc>
                <a:spcPct val="100000"/>
              </a:lnSpc>
            </a:pPr>
            <a:r>
              <a:rPr lang="en-US" sz="3200" dirty="0">
                <a:latin typeface="Times New Roman" pitchFamily="18" charset="0"/>
                <a:cs typeface="Times New Roman" pitchFamily="18" charset="0"/>
              </a:rPr>
              <a:t>Better Decision Making.</a:t>
            </a:r>
          </a:p>
          <a:p>
            <a:pPr>
              <a:lnSpc>
                <a:spcPct val="100000"/>
              </a:lnSpc>
            </a:pPr>
            <a:r>
              <a:rPr lang="en-US" sz="3200" dirty="0">
                <a:latin typeface="Times New Roman" pitchFamily="18" charset="0"/>
                <a:cs typeface="Times New Roman" pitchFamily="18" charset="0"/>
              </a:rPr>
              <a:t>Improved Data Management.</a:t>
            </a:r>
          </a:p>
          <a:p>
            <a:pPr>
              <a:lnSpc>
                <a:spcPct val="100000"/>
              </a:lnSpc>
            </a:pPr>
            <a:r>
              <a:rPr lang="en-US" sz="3200" dirty="0">
                <a:latin typeface="Times New Roman" pitchFamily="18" charset="0"/>
                <a:cs typeface="Times New Roman" pitchFamily="18" charset="0"/>
              </a:rPr>
              <a:t>Enhanced Compliance.</a:t>
            </a:r>
          </a:p>
          <a:p>
            <a:pPr>
              <a:lnSpc>
                <a:spcPct val="100000"/>
              </a:lnSpc>
            </a:pPr>
            <a:r>
              <a:rPr lang="en-US" sz="3200" dirty="0">
                <a:latin typeface="Times New Roman" pitchFamily="18" charset="0"/>
                <a:cs typeface="Times New Roman" pitchFamily="18" charset="0"/>
              </a:rPr>
              <a:t>Improved Employee Experience.</a:t>
            </a:r>
          </a:p>
          <a:p>
            <a:pPr>
              <a:lnSpc>
                <a:spcPct val="100000"/>
              </a:lnSpc>
            </a:pPr>
            <a:r>
              <a:rPr lang="en-IN" sz="3200" dirty="0">
                <a:latin typeface="Times New Roman" pitchFamily="18" charset="0"/>
                <a:cs typeface="Times New Roman" pitchFamily="18" charset="0"/>
              </a:rPr>
              <a:t>Cost reduction.</a:t>
            </a:r>
            <a:endParaRPr lang="en-US" sz="3200" dirty="0">
              <a:latin typeface="Times New Roman" pitchFamily="18" charset="0"/>
              <a:cs typeface="Times New Roman" pitchFamily="18" charset="0"/>
            </a:endParaRPr>
          </a:p>
          <a:p>
            <a:pPr>
              <a:lnSpc>
                <a:spcPct val="100000"/>
              </a:lnSpc>
            </a:pPr>
            <a:r>
              <a:rPr lang="en-US" sz="3200" dirty="0">
                <a:latin typeface="Times New Roman" pitchFamily="18" charset="0"/>
                <a:cs typeface="Times New Roman" pitchFamily="18" charset="0"/>
              </a:rPr>
              <a:t>Data Security.</a:t>
            </a:r>
          </a:p>
        </p:txBody>
      </p:sp>
    </p:spTree>
    <p:extLst>
      <p:ext uri="{BB962C8B-B14F-4D97-AF65-F5344CB8AC3E}">
        <p14:creationId xmlns:p14="http://schemas.microsoft.com/office/powerpoint/2010/main" val="16179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20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1761-4BF6-95AF-D5CC-BBCBE5380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D7627-1EB5-22AB-CF50-D0D13CA23DE1}"/>
              </a:ext>
            </a:extLst>
          </p:cNvPr>
          <p:cNvSpPr>
            <a:spLocks noGrp="1"/>
          </p:cNvSpPr>
          <p:nvPr>
            <p:ph type="title"/>
          </p:nvPr>
        </p:nvSpPr>
        <p:spPr>
          <a:xfrm>
            <a:off x="102742" y="36357"/>
            <a:ext cx="11989941" cy="970515"/>
          </a:xfrm>
        </p:spPr>
        <p:txBody>
          <a:bodyPr/>
          <a:lstStyle/>
          <a:p>
            <a:pPr algn="ctr"/>
            <a:r>
              <a:rPr lang="en-IN" b="1" dirty="0">
                <a:solidFill>
                  <a:srgbClr val="C00000"/>
                </a:solidFill>
                <a:latin typeface="Times New Roman" panose="02020603050405020304" pitchFamily="18" charset="0"/>
                <a:cs typeface="Times New Roman" panose="02020603050405020304" pitchFamily="18" charset="0"/>
              </a:rPr>
              <a:t>Limitations of HRIS : </a:t>
            </a:r>
          </a:p>
        </p:txBody>
      </p:sp>
      <p:sp>
        <p:nvSpPr>
          <p:cNvPr id="5" name="Content Placeholder 4">
            <a:extLst>
              <a:ext uri="{FF2B5EF4-FFF2-40B4-BE49-F238E27FC236}">
                <a16:creationId xmlns:a16="http://schemas.microsoft.com/office/drawing/2014/main" id="{D6EC16B5-CF0B-CFA6-94C5-6F56105869F1}"/>
              </a:ext>
            </a:extLst>
          </p:cNvPr>
          <p:cNvSpPr>
            <a:spLocks noGrp="1"/>
          </p:cNvSpPr>
          <p:nvPr>
            <p:ph idx="1"/>
          </p:nvPr>
        </p:nvSpPr>
        <p:spPr>
          <a:xfrm>
            <a:off x="165537" y="1237593"/>
            <a:ext cx="11855669" cy="5446986"/>
          </a:xfrm>
        </p:spPr>
        <p:txBody>
          <a:bodyPr>
            <a:normAutofit/>
          </a:bodyPr>
          <a:lstStyle/>
          <a:p>
            <a:r>
              <a:rPr lang="en-IN" sz="3200" dirty="0">
                <a:latin typeface="Times New Roman" pitchFamily="18" charset="0"/>
                <a:cs typeface="Times New Roman" pitchFamily="18" charset="0"/>
              </a:rPr>
              <a:t>High Initial Cost</a:t>
            </a:r>
          </a:p>
          <a:p>
            <a:r>
              <a:rPr lang="en-IN" sz="3200" dirty="0">
                <a:latin typeface="Times New Roman" pitchFamily="18" charset="0"/>
                <a:cs typeface="Times New Roman" pitchFamily="18" charset="0"/>
              </a:rPr>
              <a:t>Training Requirements</a:t>
            </a:r>
          </a:p>
          <a:p>
            <a:r>
              <a:rPr lang="en-IN" sz="3200" dirty="0">
                <a:latin typeface="Times New Roman" pitchFamily="18" charset="0"/>
                <a:cs typeface="Times New Roman" pitchFamily="18" charset="0"/>
              </a:rPr>
              <a:t>Data Security Risk</a:t>
            </a:r>
          </a:p>
          <a:p>
            <a:r>
              <a:rPr lang="en-IN" sz="3200" dirty="0">
                <a:latin typeface="Times New Roman" pitchFamily="18" charset="0"/>
                <a:cs typeface="Times New Roman" pitchFamily="18" charset="0"/>
              </a:rPr>
              <a:t>Resistance to Change</a:t>
            </a:r>
          </a:p>
          <a:p>
            <a:r>
              <a:rPr lang="en-IN" sz="3200" dirty="0">
                <a:latin typeface="Times New Roman" pitchFamily="18" charset="0"/>
                <a:cs typeface="Times New Roman" pitchFamily="18" charset="0"/>
              </a:rPr>
              <a:t>System Failure Risk</a:t>
            </a:r>
          </a:p>
          <a:p>
            <a:r>
              <a:rPr lang="en-IN" sz="3200" dirty="0">
                <a:latin typeface="Times New Roman" pitchFamily="18" charset="0"/>
                <a:cs typeface="Times New Roman" pitchFamily="18" charset="0"/>
              </a:rPr>
              <a:t>Dependence on Technology</a:t>
            </a:r>
          </a:p>
          <a:p>
            <a:endParaRPr lang="en-IN" sz="3200" dirty="0">
              <a:latin typeface="Times New Roman" pitchFamily="18" charset="0"/>
              <a:cs typeface="Times New Roman" pitchFamily="18" charset="0"/>
            </a:endParaRPr>
          </a:p>
        </p:txBody>
      </p:sp>
    </p:spTree>
    <p:extLst>
      <p:ext uri="{BB962C8B-B14F-4D97-AF65-F5344CB8AC3E}">
        <p14:creationId xmlns:p14="http://schemas.microsoft.com/office/powerpoint/2010/main" val="16179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2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787</Words>
  <Application>Microsoft Office PowerPoint</Application>
  <PresentationFormat>Widescreen</PresentationFormat>
  <Paragraphs>153</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Future Trends in Human Resource Management</vt:lpstr>
      <vt:lpstr>Hybrid Work Model</vt:lpstr>
      <vt:lpstr>Types of Hybrid Models</vt:lpstr>
      <vt:lpstr>Importance of Hybrid Work</vt:lpstr>
      <vt:lpstr>Employee Skill Development</vt:lpstr>
      <vt:lpstr>Internal Mobility</vt:lpstr>
      <vt:lpstr>Diversity and Inclusion (D&amp;I) in Workforce</vt:lpstr>
      <vt:lpstr>People Analytics</vt:lpstr>
      <vt:lpstr>Employee Well-being</vt:lpstr>
      <vt:lpstr>Multi-Generational Workforce</vt:lpstr>
      <vt:lpstr>All-in-One HR Tools</vt:lpstr>
      <vt:lpstr>The Concept of HRIS</vt:lpstr>
      <vt:lpstr>Major Functions or Applications of HRIS</vt:lpstr>
      <vt:lpstr>The role of IT</vt:lpstr>
      <vt:lpstr>Key Aspects or Elements of an HRIS</vt:lpstr>
      <vt:lpstr>Steps in Implementing an HRIS</vt:lpstr>
      <vt:lpstr>Benefits of HRIS</vt:lpstr>
      <vt:lpstr>Limitations of HRIS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Trends in Human Resource Management</dc:title>
  <dc:creator>Mahesh Ganagi</dc:creator>
  <cp:lastModifiedBy>Mahesh Ganagi</cp:lastModifiedBy>
  <cp:revision>21</cp:revision>
  <dcterms:created xsi:type="dcterms:W3CDTF">2026-06-17T03:48:58Z</dcterms:created>
  <dcterms:modified xsi:type="dcterms:W3CDTF">2026-06-28T15:17:45Z</dcterms:modified>
</cp:coreProperties>
</file>