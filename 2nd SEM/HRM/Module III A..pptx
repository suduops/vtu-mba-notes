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02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7352E8-DB30-4B69-AE95-293CCF680EE4}" type="datetimeFigureOut">
              <a:rPr lang="en-US" smtClean="0"/>
              <a:pPr/>
              <a:t>6/6/2025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49058D-B195-4D91-9878-1E1794988D6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249058D-B195-4D91-9878-1E1794988D69}"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600" b="1" dirty="0" smtClean="0">
                <a:solidFill>
                  <a:srgbClr val="FF0000"/>
                </a:solidFill>
                <a:latin typeface="Times New Roman" pitchFamily="18" charset="0"/>
                <a:cs typeface="Times New Roman" pitchFamily="18" charset="0"/>
              </a:rPr>
              <a:t>Performance Management &amp;Appraisal</a:t>
            </a:r>
            <a:endParaRPr lang="en-US" sz="3600" dirty="0"/>
          </a:p>
        </p:txBody>
      </p:sp>
      <p:sp>
        <p:nvSpPr>
          <p:cNvPr id="3" name="Content Placeholder 2"/>
          <p:cNvSpPr>
            <a:spLocks noGrp="1"/>
          </p:cNvSpPr>
          <p:nvPr>
            <p:ph idx="1"/>
          </p:nvPr>
        </p:nvSpPr>
        <p:spPr>
          <a:xfrm>
            <a:off x="457200" y="1219200"/>
            <a:ext cx="8229600" cy="5410200"/>
          </a:xfrm>
        </p:spPr>
        <p:txBody>
          <a:bodyPr>
            <a:normAutofit/>
          </a:bodyPr>
          <a:lstStyle/>
          <a:p>
            <a:pPr algn="just">
              <a:buNone/>
            </a:pPr>
            <a:r>
              <a:rPr lang="en-US" dirty="0" smtClean="0"/>
              <a:t>		</a:t>
            </a:r>
            <a:r>
              <a:rPr lang="en-US" sz="2800" b="1" dirty="0" smtClean="0">
                <a:latin typeface="Times New Roman" pitchFamily="18" charset="0"/>
                <a:cs typeface="Times New Roman" pitchFamily="18" charset="0"/>
              </a:rPr>
              <a:t>Performance Management </a:t>
            </a:r>
            <a:r>
              <a:rPr lang="en-US" sz="2800" dirty="0" smtClean="0">
                <a:latin typeface="Times New Roman" pitchFamily="18" charset="0"/>
                <a:cs typeface="Times New Roman" pitchFamily="18" charset="0"/>
              </a:rPr>
              <a:t>is a continuous and systematic approach that ensures the achievement of organizational business goals by streamlining employee performance and efforts to match the set goals efficiently.</a:t>
            </a:r>
          </a:p>
          <a:p>
            <a:pPr algn="just">
              <a:buNone/>
            </a:pP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Performance Appraisal </a:t>
            </a:r>
            <a:r>
              <a:rPr lang="en-US" sz="2800" dirty="0" smtClean="0">
                <a:latin typeface="Times New Roman" pitchFamily="18" charset="0"/>
                <a:cs typeface="Times New Roman" pitchFamily="18" charset="0"/>
              </a:rPr>
              <a:t>is a process for evaluating and documenting how well an employee is carrying out his or her job. Performance appraisals are based on the employee's progress against goals set once a year with his or her manager.</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a:bodyPr>
          <a:lstStyle/>
          <a:p>
            <a:r>
              <a:rPr lang="en-US" sz="3600" b="1" dirty="0" smtClean="0">
                <a:solidFill>
                  <a:srgbClr val="FF0000"/>
                </a:solidFill>
                <a:latin typeface="Times New Roman" pitchFamily="18" charset="0"/>
                <a:cs typeface="Times New Roman" pitchFamily="18" charset="0"/>
              </a:rPr>
              <a:t>Objectives of Performance Management</a:t>
            </a:r>
          </a:p>
        </p:txBody>
      </p:sp>
      <p:sp>
        <p:nvSpPr>
          <p:cNvPr id="3" name="Content Placeholder 2"/>
          <p:cNvSpPr>
            <a:spLocks noGrp="1"/>
          </p:cNvSpPr>
          <p:nvPr>
            <p:ph idx="1"/>
          </p:nvPr>
        </p:nvSpPr>
        <p:spPr/>
        <p:txBody>
          <a:bodyPr>
            <a:normAutofit lnSpcReduction="10000"/>
          </a:bodyPr>
          <a:lstStyle/>
          <a:p>
            <a:pPr>
              <a:buFont typeface="Wingdings" pitchFamily="2" charset="2"/>
              <a:buChar char="ü"/>
            </a:pPr>
            <a:r>
              <a:rPr lang="en-US" dirty="0" smtClean="0">
                <a:latin typeface="Times New Roman" pitchFamily="18" charset="0"/>
                <a:cs typeface="Times New Roman" pitchFamily="18" charset="0"/>
              </a:rPr>
              <a:t>Develop clear role definitions, expectations and goals.</a:t>
            </a:r>
          </a:p>
          <a:p>
            <a:pPr>
              <a:buFont typeface="Wingdings" pitchFamily="2" charset="2"/>
              <a:buChar char="ü"/>
            </a:pPr>
            <a:r>
              <a:rPr lang="en-US" dirty="0" smtClean="0">
                <a:latin typeface="Times New Roman" pitchFamily="18" charset="0"/>
                <a:cs typeface="Times New Roman" pitchFamily="18" charset="0"/>
              </a:rPr>
              <a:t>Increase employee engagement.</a:t>
            </a:r>
          </a:p>
          <a:p>
            <a:pPr>
              <a:buFont typeface="Wingdings" pitchFamily="2" charset="2"/>
              <a:buChar char="ü"/>
            </a:pPr>
            <a:r>
              <a:rPr lang="en-US" dirty="0" smtClean="0">
                <a:latin typeface="Times New Roman" pitchFamily="18" charset="0"/>
                <a:cs typeface="Times New Roman" pitchFamily="18" charset="0"/>
              </a:rPr>
              <a:t>Develop managerial leadership and coaching skills.</a:t>
            </a:r>
          </a:p>
          <a:p>
            <a:pPr>
              <a:buFont typeface="Wingdings" pitchFamily="2" charset="2"/>
              <a:buChar char="ü"/>
            </a:pPr>
            <a:r>
              <a:rPr lang="en-US" dirty="0" smtClean="0">
                <a:latin typeface="Times New Roman" pitchFamily="18" charset="0"/>
                <a:cs typeface="Times New Roman" pitchFamily="18" charset="0"/>
              </a:rPr>
              <a:t>Boost productivity through improved performance.</a:t>
            </a:r>
          </a:p>
          <a:p>
            <a:pPr>
              <a:buFont typeface="Wingdings" pitchFamily="2" charset="2"/>
              <a:buChar char="ü"/>
            </a:pPr>
            <a:r>
              <a:rPr lang="en-US" dirty="0" smtClean="0">
                <a:latin typeface="Times New Roman" pitchFamily="18" charset="0"/>
                <a:cs typeface="Times New Roman" pitchFamily="18" charset="0"/>
              </a:rPr>
              <a:t>Develop a performance reward program that incentivizes accomplishment.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fontScale="90000"/>
          </a:bodyPr>
          <a:lstStyle/>
          <a:p>
            <a:pPr algn="l"/>
            <a:r>
              <a:rPr lang="en-US" dirty="0" smtClean="0"/>
              <a:t/>
            </a:r>
            <a:br>
              <a:rPr lang="en-US" dirty="0" smtClean="0"/>
            </a:br>
            <a:r>
              <a:rPr lang="en-US" sz="4000" b="1" dirty="0" smtClean="0">
                <a:solidFill>
                  <a:srgbClr val="FF0000"/>
                </a:solidFill>
                <a:latin typeface="Times New Roman" pitchFamily="18" charset="0"/>
                <a:cs typeface="Times New Roman" pitchFamily="18" charset="0"/>
              </a:rPr>
              <a:t>P. Management v/s P. Appraisal </a:t>
            </a:r>
            <a:r>
              <a:rPr lang="en-US" dirty="0" smtClean="0"/>
              <a:t>	</a:t>
            </a:r>
            <a:br>
              <a:rPr lang="en-US" dirty="0" smtClean="0"/>
            </a:br>
            <a:endParaRPr lang="en-US" dirty="0"/>
          </a:p>
        </p:txBody>
      </p:sp>
      <p:pic>
        <p:nvPicPr>
          <p:cNvPr id="4" name="Content Placeholder 3" descr="PvsAppraisal.png"/>
          <p:cNvPicPr>
            <a:picLocks noGrp="1" noChangeAspect="1"/>
          </p:cNvPicPr>
          <p:nvPr>
            <p:ph idx="1"/>
          </p:nvPr>
        </p:nvPicPr>
        <p:blipFill>
          <a:blip r:embed="rId2"/>
          <a:stretch>
            <a:fillRect/>
          </a:stretch>
        </p:blipFill>
        <p:spPr>
          <a:xfrm>
            <a:off x="152400" y="1219200"/>
            <a:ext cx="8686800" cy="52578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
            </a:r>
            <a:br>
              <a:rPr lang="en-US" dirty="0" smtClean="0"/>
            </a:br>
            <a:r>
              <a:rPr lang="en-US" dirty="0" smtClean="0"/>
              <a:t/>
            </a:r>
            <a:br>
              <a:rPr lang="en-US" dirty="0" smtClean="0"/>
            </a:br>
            <a:r>
              <a:rPr lang="en-US" sz="4000" b="1" dirty="0" smtClean="0">
                <a:solidFill>
                  <a:srgbClr val="FF0000"/>
                </a:solidFill>
                <a:latin typeface="Times New Roman" pitchFamily="18" charset="0"/>
                <a:cs typeface="Times New Roman" pitchFamily="18" charset="0"/>
              </a:rPr>
              <a:t>Common Problems with P. Appraisals </a:t>
            </a:r>
            <a:r>
              <a:rPr lang="en-US" dirty="0" smtClean="0"/>
              <a:t>	</a:t>
            </a:r>
            <a:br>
              <a:rPr lang="en-US" dirty="0" smtClean="0"/>
            </a:br>
            <a:endParaRPr lang="en-US" dirty="0"/>
          </a:p>
        </p:txBody>
      </p:sp>
      <p:sp>
        <p:nvSpPr>
          <p:cNvPr id="3" name="Content Placeholder 2"/>
          <p:cNvSpPr>
            <a:spLocks noGrp="1"/>
          </p:cNvSpPr>
          <p:nvPr>
            <p:ph idx="1"/>
          </p:nvPr>
        </p:nvSpPr>
        <p:spPr>
          <a:xfrm>
            <a:off x="457200" y="1143000"/>
            <a:ext cx="8229600" cy="5715000"/>
          </a:xfrm>
        </p:spPr>
        <p:txBody>
          <a:bodyPr>
            <a:normAutofit/>
          </a:bodyPr>
          <a:lstStyle/>
          <a:p>
            <a:pPr>
              <a:lnSpc>
                <a:spcPct val="120000"/>
              </a:lnSpc>
              <a:buFont typeface="Wingdings" pitchFamily="2" charset="2"/>
              <a:buChar char="ü"/>
            </a:pPr>
            <a:r>
              <a:rPr lang="en-US" sz="2400" dirty="0" smtClean="0">
                <a:latin typeface="Times New Roman" pitchFamily="18" charset="0"/>
                <a:cs typeface="Times New Roman" pitchFamily="18" charset="0"/>
              </a:rPr>
              <a:t>Manager’s judgment or assessment based on preferences.</a:t>
            </a:r>
            <a:endParaRPr lang="en-US" sz="2400" b="1" dirty="0" smtClean="0">
              <a:latin typeface="Times New Roman" pitchFamily="18" charset="0"/>
              <a:cs typeface="Times New Roman" pitchFamily="18" charset="0"/>
            </a:endParaRPr>
          </a:p>
          <a:p>
            <a:pPr>
              <a:lnSpc>
                <a:spcPct val="120000"/>
              </a:lnSpc>
              <a:buFont typeface="Wingdings" pitchFamily="2" charset="2"/>
              <a:buChar char="ü"/>
            </a:pPr>
            <a:r>
              <a:rPr lang="en-US" sz="2400" dirty="0" smtClean="0">
                <a:latin typeface="Times New Roman" pitchFamily="18" charset="0"/>
                <a:cs typeface="Times New Roman" pitchFamily="18" charset="0"/>
              </a:rPr>
              <a:t>Unstructured methods of performance appraisal systems.</a:t>
            </a:r>
            <a:endParaRPr lang="en-US" sz="2400" b="1" dirty="0" smtClean="0">
              <a:latin typeface="Times New Roman" pitchFamily="18" charset="0"/>
              <a:cs typeface="Times New Roman" pitchFamily="18" charset="0"/>
            </a:endParaRPr>
          </a:p>
          <a:p>
            <a:pPr>
              <a:lnSpc>
                <a:spcPct val="120000"/>
              </a:lnSpc>
              <a:buFont typeface="Wingdings" pitchFamily="2" charset="2"/>
              <a:buChar char="ü"/>
            </a:pPr>
            <a:r>
              <a:rPr lang="en-US" sz="2400" dirty="0" smtClean="0">
                <a:latin typeface="Times New Roman" pitchFamily="18" charset="0"/>
                <a:cs typeface="Times New Roman" pitchFamily="18" charset="0"/>
              </a:rPr>
              <a:t>Lack of interest and ownership of manager.</a:t>
            </a:r>
            <a:endParaRPr lang="en-US" sz="2400" b="1" dirty="0" smtClean="0">
              <a:latin typeface="Times New Roman" pitchFamily="18" charset="0"/>
              <a:cs typeface="Times New Roman" pitchFamily="18" charset="0"/>
            </a:endParaRPr>
          </a:p>
          <a:p>
            <a:pPr>
              <a:lnSpc>
                <a:spcPct val="120000"/>
              </a:lnSpc>
              <a:buFont typeface="Wingdings" pitchFamily="2" charset="2"/>
              <a:buChar char="ü"/>
            </a:pPr>
            <a:r>
              <a:rPr lang="en-US" sz="2400" dirty="0" smtClean="0">
                <a:latin typeface="Times New Roman" pitchFamily="18" charset="0"/>
                <a:cs typeface="Times New Roman" pitchFamily="18" charset="0"/>
              </a:rPr>
              <a:t>Lack of a proper channel of communication.</a:t>
            </a:r>
            <a:endParaRPr lang="en-US" sz="2400" b="1" dirty="0" smtClean="0">
              <a:latin typeface="Times New Roman" pitchFamily="18" charset="0"/>
              <a:cs typeface="Times New Roman" pitchFamily="18" charset="0"/>
            </a:endParaRPr>
          </a:p>
          <a:p>
            <a:pPr>
              <a:lnSpc>
                <a:spcPct val="120000"/>
              </a:lnSpc>
              <a:buFont typeface="Wingdings" pitchFamily="2" charset="2"/>
              <a:buChar char="ü"/>
            </a:pPr>
            <a:r>
              <a:rPr lang="en-US" sz="2400" dirty="0" smtClean="0">
                <a:latin typeface="Times New Roman" pitchFamily="18" charset="0"/>
                <a:cs typeface="Times New Roman" pitchFamily="18" charset="0"/>
              </a:rPr>
              <a:t>Lack of reward and recognition policy.</a:t>
            </a:r>
          </a:p>
          <a:p>
            <a:pPr>
              <a:lnSpc>
                <a:spcPct val="120000"/>
              </a:lnSpc>
              <a:buFont typeface="Wingdings" pitchFamily="2" charset="2"/>
              <a:buChar char="ü"/>
            </a:pPr>
            <a:r>
              <a:rPr lang="en-US" sz="2400" dirty="0" smtClean="0">
                <a:latin typeface="Times New Roman" pitchFamily="18" charset="0"/>
                <a:cs typeface="Times New Roman" pitchFamily="18" charset="0"/>
              </a:rPr>
              <a:t>Lack of leadership.</a:t>
            </a:r>
          </a:p>
          <a:p>
            <a:pPr>
              <a:lnSpc>
                <a:spcPct val="120000"/>
              </a:lnSpc>
              <a:buFont typeface="Wingdings" pitchFamily="2" charset="2"/>
              <a:buChar char="ü"/>
            </a:pPr>
            <a:r>
              <a:rPr lang="en-US" sz="2400" dirty="0" smtClean="0">
                <a:latin typeface="Times New Roman" pitchFamily="18" charset="0"/>
                <a:cs typeface="Times New Roman" pitchFamily="18" charset="0"/>
              </a:rPr>
              <a:t>Lack of designing, monitoring and measuring the performance appraisal standards.</a:t>
            </a:r>
          </a:p>
          <a:p>
            <a:pPr>
              <a:lnSpc>
                <a:spcPct val="120000"/>
              </a:lnSpc>
              <a:buFont typeface="Wingdings" pitchFamily="2" charset="2"/>
              <a:buChar char="ü"/>
            </a:pPr>
            <a:r>
              <a:rPr lang="en-US" sz="2400" dirty="0" smtClean="0">
                <a:latin typeface="Times New Roman" pitchFamily="18" charset="0"/>
                <a:cs typeface="Times New Roman" pitchFamily="18" charset="0"/>
              </a:rPr>
              <a:t>Lack of communication.</a:t>
            </a:r>
          </a:p>
          <a:p>
            <a:pPr>
              <a:lnSpc>
                <a:spcPct val="120000"/>
              </a:lnSpc>
              <a:buFont typeface="Wingdings" pitchFamily="2" charset="2"/>
              <a:buChar char="ü"/>
            </a:pPr>
            <a:r>
              <a:rPr lang="en-US" sz="2400" dirty="0" smtClean="0">
                <a:latin typeface="Times New Roman" pitchFamily="18" charset="0"/>
                <a:cs typeface="Times New Roman" pitchFamily="18" charset="0"/>
              </a:rPr>
              <a:t>Overemphasizing recent performances.</a:t>
            </a:r>
          </a:p>
          <a:p>
            <a:pPr>
              <a:lnSpc>
                <a:spcPct val="120000"/>
              </a:lnSpc>
              <a:buFont typeface="Wingdings" pitchFamily="2" charset="2"/>
              <a:buChar char="ü"/>
            </a:pPr>
            <a:r>
              <a:rPr lang="en-US" sz="2400" dirty="0" smtClean="0">
                <a:latin typeface="Times New Roman" pitchFamily="18" charset="0"/>
                <a:cs typeface="Times New Roman" pitchFamily="18" charset="0"/>
              </a:rPr>
              <a:t>No recognition/ rewards.</a:t>
            </a:r>
          </a:p>
          <a:p>
            <a:pPr>
              <a:buNone/>
            </a:pPr>
            <a:endParaRPr lang="en-US" sz="2400" b="1" dirty="0" smtClean="0">
              <a:latin typeface="Times New Roman" pitchFamily="18" charset="0"/>
              <a:cs typeface="Times New Roman" pitchFamily="18" charset="0"/>
            </a:endParaRPr>
          </a:p>
          <a:p>
            <a:endParaRPr lang="en-US" b="1" dirty="0" smtClean="0"/>
          </a:p>
          <a:p>
            <a:endParaRPr lang="en-US" b="1"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05800" cy="868362"/>
          </a:xfrm>
        </p:spPr>
        <p:txBody>
          <a:bodyPr>
            <a:normAutofit fontScale="90000"/>
          </a:bodyPr>
          <a:lstStyle/>
          <a:p>
            <a:pPr algn="l"/>
            <a:r>
              <a:rPr lang="en-US" dirty="0" smtClean="0"/>
              <a:t/>
            </a:r>
            <a:br>
              <a:rPr lang="en-US" dirty="0" smtClean="0"/>
            </a:br>
            <a:r>
              <a:rPr lang="en-US" sz="4000" b="1" dirty="0" smtClean="0">
                <a:solidFill>
                  <a:srgbClr val="FF0000"/>
                </a:solidFill>
                <a:latin typeface="Times New Roman" pitchFamily="18" charset="0"/>
                <a:cs typeface="Times New Roman" pitchFamily="18" charset="0"/>
              </a:rPr>
              <a:t>Performance Management Process 	</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5334000"/>
          </a:xfrm>
        </p:spPr>
        <p:txBody>
          <a:bodyPr/>
          <a:lstStyle/>
          <a:p>
            <a:pPr algn="just">
              <a:buNone/>
            </a:pPr>
            <a:r>
              <a:rPr lang="en-US" dirty="0" smtClean="0"/>
              <a:t>		</a:t>
            </a:r>
            <a:r>
              <a:rPr lang="en-US" sz="2800" dirty="0" smtClean="0">
                <a:latin typeface="Times New Roman" pitchFamily="18" charset="0"/>
                <a:cs typeface="Times New Roman" pitchFamily="18" charset="0"/>
              </a:rPr>
              <a:t>Performance Management requires that the manager should define the performance, facilitate performance and encourage performance.</a:t>
            </a:r>
          </a:p>
          <a:p>
            <a:pPr algn="just">
              <a:buNone/>
            </a:pPr>
            <a:endParaRPr lang="en-US" sz="2800" dirty="0" smtClean="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pic>
        <p:nvPicPr>
          <p:cNvPr id="5" name="Picture 4" descr="11.jpg"/>
          <p:cNvPicPr>
            <a:picLocks noChangeAspect="1"/>
          </p:cNvPicPr>
          <p:nvPr/>
        </p:nvPicPr>
        <p:blipFill>
          <a:blip r:embed="rId2"/>
          <a:stretch>
            <a:fillRect/>
          </a:stretch>
        </p:blipFill>
        <p:spPr>
          <a:xfrm>
            <a:off x="381000" y="2819400"/>
            <a:ext cx="8382000" cy="381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715962"/>
          </a:xfrm>
        </p:spPr>
        <p:txBody>
          <a:bodyPr>
            <a:normAutofit/>
          </a:bodyPr>
          <a:lstStyle/>
          <a:p>
            <a:r>
              <a:rPr lang="en-US" sz="4000" b="1" dirty="0" smtClean="0">
                <a:solidFill>
                  <a:srgbClr val="FF0000"/>
                </a:solidFill>
                <a:latin typeface="Times New Roman" pitchFamily="18" charset="0"/>
                <a:cs typeface="Times New Roman" pitchFamily="18" charset="0"/>
              </a:rPr>
              <a:t>Types of Performance Rating Systems</a:t>
            </a:r>
          </a:p>
        </p:txBody>
      </p:sp>
      <p:sp>
        <p:nvSpPr>
          <p:cNvPr id="3" name="Content Placeholder 2"/>
          <p:cNvSpPr>
            <a:spLocks noGrp="1"/>
          </p:cNvSpPr>
          <p:nvPr>
            <p:ph idx="1"/>
          </p:nvPr>
        </p:nvSpPr>
        <p:spPr>
          <a:xfrm>
            <a:off x="228600" y="1219200"/>
            <a:ext cx="8610600" cy="5334000"/>
          </a:xfrm>
        </p:spPr>
        <p:txBody>
          <a:bodyPr>
            <a:normAutofit lnSpcReduction="10000"/>
          </a:bodyPr>
          <a:lstStyle/>
          <a:p>
            <a:pPr algn="just">
              <a:buNone/>
            </a:pPr>
            <a:r>
              <a:rPr lang="en-US" dirty="0" smtClean="0"/>
              <a:t>		</a:t>
            </a:r>
            <a:r>
              <a:rPr lang="en-US" dirty="0" smtClean="0">
                <a:latin typeface="Times New Roman" pitchFamily="18" charset="0"/>
                <a:cs typeface="Times New Roman" pitchFamily="18" charset="0"/>
              </a:rPr>
              <a:t>Performance Appraisal can be broadly classified into two categories. They are : </a:t>
            </a:r>
          </a:p>
          <a:p>
            <a:pPr marL="514350" indent="-514350" algn="just">
              <a:buAutoNum type="arabicPeriod"/>
            </a:pPr>
            <a:r>
              <a:rPr lang="en-US" dirty="0" smtClean="0">
                <a:solidFill>
                  <a:srgbClr val="FF0000"/>
                </a:solidFill>
                <a:latin typeface="Times New Roman" pitchFamily="18" charset="0"/>
                <a:cs typeface="Times New Roman" pitchFamily="18" charset="0"/>
              </a:rPr>
              <a:t>Traditional Methods:</a:t>
            </a:r>
          </a:p>
          <a:p>
            <a:pPr marL="514350" indent="-514350" algn="just">
              <a:buNone/>
            </a:pP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Ranking Method , Graphic Rating Scales , Critical Incident Method , Narrative Essays </a:t>
            </a:r>
            <a:r>
              <a:rPr lang="en-US" dirty="0" smtClean="0">
                <a:latin typeface="Times New Roman" pitchFamily="18" charset="0"/>
                <a:cs typeface="Times New Roman" pitchFamily="18" charset="0"/>
              </a:rPr>
              <a:t>)</a:t>
            </a:r>
          </a:p>
          <a:p>
            <a:pPr marL="514350" indent="-514350" algn="just">
              <a:buNone/>
            </a:pPr>
            <a:r>
              <a:rPr lang="en-US" dirty="0" smtClean="0">
                <a:solidFill>
                  <a:srgbClr val="FF0000"/>
                </a:solidFill>
                <a:latin typeface="Times New Roman" pitchFamily="18" charset="0"/>
                <a:cs typeface="Times New Roman" pitchFamily="18" charset="0"/>
              </a:rPr>
              <a:t>2.  Modern Methods:</a:t>
            </a:r>
          </a:p>
          <a:p>
            <a:pPr marL="514350" indent="-514350" algn="just">
              <a:buNone/>
            </a:pP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Management by Objectives , Behaviorally Anchored Rating Scale (BARS) , Humans Resource Accounting , Assessment Centers , 360 Degree </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lstStyle/>
          <a:p>
            <a:pPr algn="just">
              <a:buNone/>
            </a:pPr>
            <a:r>
              <a:rPr lang="en-US" b="1" i="1" dirty="0" smtClean="0">
                <a:latin typeface="Times New Roman" pitchFamily="18" charset="0"/>
                <a:cs typeface="Times New Roman" pitchFamily="18" charset="0"/>
              </a:rPr>
              <a:t>1. Ranking Method :</a:t>
            </a:r>
          </a:p>
          <a:p>
            <a:pPr algn="just">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According to </a:t>
            </a:r>
            <a:r>
              <a:rPr lang="en-US" sz="2800" dirty="0" err="1" smtClean="0">
                <a:latin typeface="Times New Roman" pitchFamily="18" charset="0"/>
                <a:cs typeface="Times New Roman" pitchFamily="18" charset="0"/>
              </a:rPr>
              <a:t>Dessler</a:t>
            </a:r>
            <a:r>
              <a:rPr lang="en-US" sz="2800" dirty="0" smtClean="0">
                <a:latin typeface="Times New Roman" pitchFamily="18" charset="0"/>
                <a:cs typeface="Times New Roman" pitchFamily="18" charset="0"/>
              </a:rPr>
              <a:t> et al. (2011), ranking method is ranking employees from best to worst on a particular trait, choosing highest, then lowest, until all ranked.</a:t>
            </a:r>
          </a:p>
          <a:p>
            <a:pPr algn="just">
              <a:buNone/>
            </a:pPr>
            <a:endParaRPr lang="en-US" dirty="0" smtClean="0">
              <a:latin typeface="Times New Roman" pitchFamily="18" charset="0"/>
              <a:cs typeface="Times New Roman" pitchFamily="18" charset="0"/>
            </a:endParaRPr>
          </a:p>
          <a:p>
            <a:pPr algn="just">
              <a:buNone/>
            </a:pPr>
            <a:r>
              <a:rPr lang="en-US" b="1" i="1" dirty="0" smtClean="0">
                <a:latin typeface="Times New Roman" pitchFamily="18" charset="0"/>
                <a:cs typeface="Times New Roman" pitchFamily="18" charset="0"/>
              </a:rPr>
              <a:t>2.Graphic Rating Scales : </a:t>
            </a:r>
          </a:p>
          <a:p>
            <a:pPr algn="just">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According to </a:t>
            </a:r>
            <a:r>
              <a:rPr lang="en-US" sz="2800" dirty="0" err="1" smtClean="0">
                <a:latin typeface="Times New Roman" pitchFamily="18" charset="0"/>
                <a:cs typeface="Times New Roman" pitchFamily="18" charset="0"/>
              </a:rPr>
              <a:t>Dessler</a:t>
            </a:r>
            <a:r>
              <a:rPr lang="en-US" sz="2800" dirty="0" smtClean="0">
                <a:latin typeface="Times New Roman" pitchFamily="18" charset="0"/>
                <a:cs typeface="Times New Roman" pitchFamily="18" charset="0"/>
              </a:rPr>
              <a:t> et al. (2011), Graphic Rating Scale is a scale that lists a number of traits and a range of performance for each. The employee is then rated by identifying the score that best describes his or her level of performance for each trait.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a:bodyPr>
          <a:lstStyle/>
          <a:p>
            <a:pPr algn="just">
              <a:buNone/>
            </a:pPr>
            <a:r>
              <a:rPr lang="en-US" b="1" i="1" dirty="0" smtClean="0">
                <a:latin typeface="Times New Roman" pitchFamily="18" charset="0"/>
                <a:cs typeface="Times New Roman" pitchFamily="18" charset="0"/>
              </a:rPr>
              <a:t>3. Critical Incident Method</a:t>
            </a:r>
          </a:p>
          <a:p>
            <a:pPr algn="just">
              <a:buNone/>
            </a:pPr>
            <a:r>
              <a:rPr lang="en-US" b="1"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According to </a:t>
            </a:r>
            <a:r>
              <a:rPr lang="en-US" sz="2800" dirty="0" err="1" smtClean="0">
                <a:latin typeface="Times New Roman" pitchFamily="18" charset="0"/>
                <a:cs typeface="Times New Roman" pitchFamily="18" charset="0"/>
              </a:rPr>
              <a:t>Dessler</a:t>
            </a:r>
            <a:r>
              <a:rPr lang="en-US" sz="2800" dirty="0" smtClean="0">
                <a:latin typeface="Times New Roman" pitchFamily="18" charset="0"/>
                <a:cs typeface="Times New Roman" pitchFamily="18" charset="0"/>
              </a:rPr>
              <a:t> et. al.(2011),Critical Incident method is keeping a record of uncommonly good or undesirable examples of an employee’s work related behavior and reviewing it with the employee at predetermined times.</a:t>
            </a:r>
            <a:endParaRPr lang="en-US" dirty="0" smtClean="0">
              <a:latin typeface="Times New Roman" pitchFamily="18" charset="0"/>
              <a:cs typeface="Times New Roman" pitchFamily="18" charset="0"/>
            </a:endParaRPr>
          </a:p>
          <a:p>
            <a:pPr algn="just">
              <a:buNone/>
            </a:pPr>
            <a:r>
              <a:rPr lang="en-US" dirty="0" smtClean="0">
                <a:latin typeface="Times New Roman" pitchFamily="18" charset="0"/>
                <a:cs typeface="Times New Roman" pitchFamily="18" charset="0"/>
              </a:rPr>
              <a:t>4. </a:t>
            </a:r>
            <a:r>
              <a:rPr lang="en-US" b="1" i="1" dirty="0" smtClean="0">
                <a:latin typeface="Times New Roman" pitchFamily="18" charset="0"/>
                <a:cs typeface="Times New Roman" pitchFamily="18" charset="0"/>
              </a:rPr>
              <a:t>Narrative Essays : </a:t>
            </a:r>
          </a:p>
          <a:p>
            <a:pPr algn="just">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This technique mainly attempt to focus on behavior. Evaluator writes an explanation about employee’s strength and weakness points, previous performance, positional and suggestion for his (her) improvement at the end of evaluation time.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92500"/>
          </a:bodyPr>
          <a:lstStyle/>
          <a:p>
            <a:pPr algn="just">
              <a:buNone/>
            </a:pPr>
            <a:r>
              <a:rPr lang="en-US" b="1" i="1" dirty="0" smtClean="0">
                <a:latin typeface="Times New Roman" pitchFamily="18" charset="0"/>
                <a:cs typeface="Times New Roman" pitchFamily="18" charset="0"/>
              </a:rPr>
              <a:t>1. Management by Objectives:</a:t>
            </a:r>
          </a:p>
          <a:p>
            <a:pPr algn="just">
              <a:buNone/>
            </a:pPr>
            <a:r>
              <a:rPr lang="en-US" b="1" i="1"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Management by objectives (MBO) is the appraisal method where managers and employees together identify, plan, organize, and communicate objectives to focus on during a specific appraisal period.</a:t>
            </a:r>
            <a:endParaRPr lang="en-US" dirty="0" smtClean="0">
              <a:latin typeface="Times New Roman" pitchFamily="18" charset="0"/>
              <a:cs typeface="Times New Roman" pitchFamily="18" charset="0"/>
            </a:endParaRPr>
          </a:p>
          <a:p>
            <a:pPr algn="just">
              <a:buNone/>
            </a:pPr>
            <a:r>
              <a:rPr lang="en-US" b="1" i="1" dirty="0" smtClean="0">
                <a:latin typeface="Times New Roman" pitchFamily="18" charset="0"/>
                <a:cs typeface="Times New Roman" pitchFamily="18" charset="0"/>
              </a:rPr>
              <a:t>2. Behaviorally Anchored Rating Scale (BARS) :</a:t>
            </a:r>
          </a:p>
          <a:p>
            <a:pPr algn="just">
              <a:buNone/>
            </a:pPr>
            <a:r>
              <a:rPr lang="en-US" b="1" i="1"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Behavioral anchor scales are more informative than simple numbers. BARS is a tool for evaluating employees in a defined set of performance dimensions by comparing their behaviors with specific behavior examples that anchor each performance level, usually on a five-, seven- or nine-point scale.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lstStyle/>
          <a:p>
            <a:pPr>
              <a:buNone/>
            </a:pPr>
            <a:endParaRPr lang="en-US" b="1" i="1" dirty="0" smtClean="0">
              <a:latin typeface="Times New Roman" pitchFamily="18" charset="0"/>
              <a:cs typeface="Times New Roman" pitchFamily="18" charset="0"/>
            </a:endParaRPr>
          </a:p>
          <a:p>
            <a:pPr>
              <a:buNone/>
            </a:pPr>
            <a:r>
              <a:rPr lang="en-US" b="1" i="1" dirty="0" smtClean="0">
                <a:latin typeface="Times New Roman" pitchFamily="18" charset="0"/>
                <a:cs typeface="Times New Roman" pitchFamily="18" charset="0"/>
              </a:rPr>
              <a:t>3. Humans Resource Accounting :</a:t>
            </a:r>
          </a:p>
          <a:p>
            <a:pPr algn="just">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HRA is the process of Assigning, budgeting, and reporting the cost of human resources incurred in an organization, including wages and salaries and training expenses. </a:t>
            </a:r>
          </a:p>
          <a:p>
            <a:pPr algn="just">
              <a:buNone/>
            </a:pPr>
            <a:r>
              <a:rPr lang="en-US" sz="2800" dirty="0" smtClean="0">
                <a:latin typeface="Times New Roman" pitchFamily="18" charset="0"/>
                <a:cs typeface="Times New Roman" pitchFamily="18" charset="0"/>
              </a:rPr>
              <a:t>		It analyses an employee's performance through the monetary benefits he/she yields to the company. It is obtained by comparing the cost of retaining an employee (cost to company) and the monetary benefits (contributions) an organization has ascertained from that specific employee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6400800"/>
          </a:xfrm>
        </p:spPr>
        <p:txBody>
          <a:bodyPr>
            <a:normAutofit/>
          </a:bodyPr>
          <a:lstStyle/>
          <a:p>
            <a:pPr algn="just">
              <a:buNone/>
            </a:pPr>
            <a:r>
              <a:rPr lang="en-US" b="1" i="1" dirty="0" smtClean="0">
                <a:latin typeface="Times New Roman" pitchFamily="18" charset="0"/>
                <a:cs typeface="Times New Roman" pitchFamily="18" charset="0"/>
              </a:rPr>
              <a:t>4. Assessment Centers :</a:t>
            </a:r>
          </a:p>
          <a:p>
            <a:pPr algn="just">
              <a:buNone/>
            </a:pPr>
            <a:r>
              <a:rPr lang="en-US" b="1"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Under this an employee  is evaluated on critical competencies necessary for their job using job-related simulations and exercises. </a:t>
            </a:r>
            <a:endParaRPr lang="en-US" dirty="0" smtClean="0">
              <a:latin typeface="Times New Roman" pitchFamily="18" charset="0"/>
              <a:cs typeface="Times New Roman" pitchFamily="18" charset="0"/>
            </a:endParaRPr>
          </a:p>
          <a:p>
            <a:pPr algn="just">
              <a:buNone/>
            </a:pPr>
            <a:r>
              <a:rPr lang="en-US" b="1" i="1" dirty="0" smtClean="0">
                <a:latin typeface="Times New Roman" pitchFamily="18" charset="0"/>
                <a:cs typeface="Times New Roman" pitchFamily="18" charset="0"/>
              </a:rPr>
              <a:t>5. 360 Degree : </a:t>
            </a:r>
          </a:p>
          <a:p>
            <a:pPr algn="just">
              <a:buNone/>
            </a:pPr>
            <a:r>
              <a:rPr lang="en-US" b="1" i="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It involves evaluation input from multiple levels within the firm as well as external sources.360 Degree feedback relies on the input of an employee’s superior, colleagues, subordinates, sometimes customers, suppliers and/or spouses.</a:t>
            </a:r>
          </a:p>
          <a:p>
            <a:pPr algn="just">
              <a:buNone/>
            </a:pPr>
            <a:r>
              <a:rPr lang="en-US" sz="2800" dirty="0" smtClean="0">
                <a:latin typeface="Times New Roman" pitchFamily="18" charset="0"/>
                <a:cs typeface="Times New Roman" pitchFamily="18" charset="0"/>
              </a:rPr>
              <a:t>	It provides people with information about the effect of their action on others in the workplace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algn="l"/>
            <a:r>
              <a:rPr lang="en-IN" sz="3600" b="1" dirty="0" smtClean="0">
                <a:solidFill>
                  <a:srgbClr val="FF0000"/>
                </a:solidFill>
                <a:latin typeface="Times New Roman" pitchFamily="18" charset="0"/>
                <a:cs typeface="Times New Roman" pitchFamily="18" charset="0"/>
              </a:rPr>
              <a:t>Future of Performance Management</a:t>
            </a:r>
            <a:endParaRPr lang="en-US" sz="3600" b="1" dirty="0" smtClean="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371600"/>
            <a:ext cx="8610600" cy="5181600"/>
          </a:xfrm>
        </p:spPr>
        <p:txBody>
          <a:bodyPr>
            <a:normAutofit/>
          </a:bodyPr>
          <a:lstStyle/>
          <a:p>
            <a:pPr algn="just">
              <a:buFont typeface="Wingdings" pitchFamily="2" charset="2"/>
              <a:buChar char="ü"/>
            </a:pPr>
            <a:r>
              <a:rPr lang="en-US" dirty="0" smtClean="0">
                <a:latin typeface="Times New Roman" pitchFamily="18" charset="0"/>
                <a:cs typeface="Times New Roman" pitchFamily="18" charset="0"/>
              </a:rPr>
              <a:t>The end of the annual review ( Continuous Performance Reviews Are the New Normal).</a:t>
            </a:r>
          </a:p>
          <a:p>
            <a:pPr algn="just">
              <a:buFont typeface="Wingdings" pitchFamily="2" charset="2"/>
              <a:buChar char="ü"/>
            </a:pPr>
            <a:r>
              <a:rPr lang="en-US" dirty="0" smtClean="0">
                <a:latin typeface="Times New Roman" pitchFamily="18" charset="0"/>
                <a:cs typeface="Times New Roman" pitchFamily="18" charset="0"/>
              </a:rPr>
              <a:t>The future lies in tech (AI-Powered Performance Insights &amp; Predictive Analytics).</a:t>
            </a:r>
          </a:p>
          <a:p>
            <a:pPr algn="just">
              <a:buFont typeface="Wingdings" pitchFamily="2" charset="2"/>
              <a:buChar char="ü"/>
            </a:pPr>
            <a:r>
              <a:rPr lang="en-US" dirty="0" smtClean="0">
                <a:latin typeface="Times New Roman" pitchFamily="18" charset="0"/>
                <a:cs typeface="Times New Roman" pitchFamily="18" charset="0"/>
              </a:rPr>
              <a:t>An equitable system.</a:t>
            </a:r>
          </a:p>
          <a:p>
            <a:pPr algn="just">
              <a:buFont typeface="Wingdings" pitchFamily="2" charset="2"/>
              <a:buChar char="ü"/>
            </a:pPr>
            <a:r>
              <a:rPr lang="en-US" dirty="0" smtClean="0">
                <a:latin typeface="Times New Roman" pitchFamily="18" charset="0"/>
                <a:cs typeface="Times New Roman" pitchFamily="18" charset="0"/>
              </a:rPr>
              <a:t>Linking Performance with Well-Being.</a:t>
            </a:r>
          </a:p>
          <a:p>
            <a:pPr algn="just">
              <a:buFont typeface="Wingdings" pitchFamily="2" charset="2"/>
              <a:buChar char="ü"/>
            </a:pPr>
            <a:r>
              <a:rPr lang="en-US" dirty="0" smtClean="0">
                <a:latin typeface="Times New Roman" pitchFamily="18" charset="0"/>
                <a:cs typeface="Times New Roman" pitchFamily="18" charset="0"/>
              </a:rPr>
              <a:t>Transparent &amp; Data-Driven Evaluation Systems.</a:t>
            </a:r>
          </a:p>
          <a:p>
            <a:pPr algn="just">
              <a:buFont typeface="Wingdings" pitchFamily="2" charset="2"/>
              <a:buChar char="ü"/>
            </a:pPr>
            <a:r>
              <a:rPr lang="en-US" dirty="0" smtClean="0">
                <a:latin typeface="Times New Roman" pitchFamily="18" charset="0"/>
                <a:cs typeface="Times New Roman" pitchFamily="18" charset="0"/>
              </a:rPr>
              <a:t>Multi-Dimensional Feedback: 360° Is Here to Stay.</a:t>
            </a:r>
          </a:p>
          <a:p>
            <a:pPr>
              <a:buNone/>
            </a:pPr>
            <a:endParaRPr lang="en-US" dirty="0" smtClean="0"/>
          </a:p>
          <a:p>
            <a:pPr>
              <a:buNone/>
            </a:pPr>
            <a:endParaRPr lang="en-US" b="1" dirty="0" smtClean="0"/>
          </a:p>
          <a:p>
            <a:pPr>
              <a:buNone/>
            </a:pPr>
            <a:endParaRPr lang="en-US" dirty="0" smtClean="0"/>
          </a:p>
          <a:p>
            <a:pPr>
              <a:buNone/>
            </a:pPr>
            <a:endParaRPr lang="en-US" dirty="0" smtClean="0"/>
          </a:p>
          <a:p>
            <a:pPr>
              <a:buNone/>
            </a:pPr>
            <a:endParaRPr lang="en-US" b="1" dirty="0" smtClean="0"/>
          </a:p>
          <a:p>
            <a:pPr>
              <a:buNone/>
            </a:pPr>
            <a:endParaRPr lang="en-US" b="1" dirty="0" smtClean="0"/>
          </a:p>
          <a:p>
            <a:pPr>
              <a:buNone/>
            </a:pPr>
            <a:endParaRPr lang="en-US" b="1"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20661</TotalTime>
  <Words>154</Words>
  <Application>Microsoft Office PowerPoint</Application>
  <PresentationFormat>On-screen Show (4:3)</PresentationFormat>
  <Paragraphs>67</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Performance Management &amp;Appraisal</vt:lpstr>
      <vt:lpstr>Objectives of Performance Management</vt:lpstr>
      <vt:lpstr> P. Management v/s P. Appraisal   </vt:lpstr>
      <vt:lpstr>  Common Problems with P. Appraisals   </vt:lpstr>
      <vt:lpstr> Performance Management Process   </vt:lpstr>
      <vt:lpstr>Types of Performance Rating Systems</vt:lpstr>
      <vt:lpstr>Slide 7</vt:lpstr>
      <vt:lpstr>Slide 8</vt:lpstr>
      <vt:lpstr>Slide 9</vt:lpstr>
      <vt:lpstr>Slide 10</vt:lpstr>
      <vt:lpstr>Slide 11</vt:lpstr>
      <vt:lpstr>Future of Performance Management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vtu</dc:creator>
  <cp:lastModifiedBy>HP</cp:lastModifiedBy>
  <cp:revision>26</cp:revision>
  <dcterms:created xsi:type="dcterms:W3CDTF">2006-08-16T00:00:00Z</dcterms:created>
  <dcterms:modified xsi:type="dcterms:W3CDTF">2025-06-06T04:47:00Z</dcterms:modified>
</cp:coreProperties>
</file>