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838200"/>
          </a:xfrm>
        </p:spPr>
        <p:txBody>
          <a:bodyPr>
            <a:noAutofit/>
          </a:bodyPr>
          <a:lstStyle/>
          <a:p>
            <a:pPr algn="l"/>
            <a:r>
              <a:rPr lang="en-US" dirty="0" smtClean="0">
                <a:solidFill>
                  <a:srgbClr val="FF0000"/>
                </a:solidFill>
                <a:latin typeface="Times New Roman" pitchFamily="18" charset="0"/>
                <a:cs typeface="Times New Roman" pitchFamily="18" charset="0"/>
              </a:rPr>
              <a:t>Future Trends in H R M</a:t>
            </a:r>
            <a:endParaRPr lang="en-US"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09600" y="1219200"/>
            <a:ext cx="8001000" cy="5410200"/>
          </a:xfrm>
        </p:spPr>
        <p:txBody>
          <a:bodyPr>
            <a:normAutofit lnSpcReduction="10000"/>
          </a:bodyPr>
          <a:lstStyle/>
          <a:p>
            <a:pPr algn="just"/>
            <a:r>
              <a:rPr lang="en-US" b="1" dirty="0" smtClean="0">
                <a:solidFill>
                  <a:schemeClr val="tx1"/>
                </a:solidFill>
                <a:latin typeface="Times New Roman" pitchFamily="18" charset="0"/>
                <a:cs typeface="Times New Roman" pitchFamily="18" charset="0"/>
              </a:rPr>
              <a:t>Future Trends in Human Resource Management: </a:t>
            </a:r>
            <a:r>
              <a:rPr lang="en-US" dirty="0" smtClean="0">
                <a:solidFill>
                  <a:schemeClr val="tx1"/>
                </a:solidFill>
                <a:latin typeface="Times New Roman" pitchFamily="18" charset="0"/>
                <a:cs typeface="Times New Roman" pitchFamily="18" charset="0"/>
              </a:rPr>
              <a:t>Hybrid work model, Employee Skill Development, Internal mobility, Diversity and inclusion in workforce, People analytics,</a:t>
            </a:r>
          </a:p>
          <a:p>
            <a:pPr algn="just"/>
            <a:r>
              <a:rPr lang="en-US" dirty="0" smtClean="0">
                <a:solidFill>
                  <a:schemeClr val="tx1"/>
                </a:solidFill>
                <a:latin typeface="Times New Roman" pitchFamily="18" charset="0"/>
                <a:cs typeface="Times New Roman" pitchFamily="18" charset="0"/>
              </a:rPr>
              <a:t>Employee well-being, Multi-generational workforces and All-in-One HR tools.</a:t>
            </a:r>
          </a:p>
          <a:p>
            <a:pPr algn="just"/>
            <a:r>
              <a:rPr lang="en-US" b="1" dirty="0" smtClean="0">
                <a:solidFill>
                  <a:schemeClr val="tx1"/>
                </a:solidFill>
                <a:latin typeface="Times New Roman" pitchFamily="18" charset="0"/>
                <a:cs typeface="Times New Roman" pitchFamily="18" charset="0"/>
              </a:rPr>
              <a:t>Introduction to Human Resource Information System (HRIS): </a:t>
            </a:r>
            <a:r>
              <a:rPr lang="en-US" dirty="0" smtClean="0">
                <a:solidFill>
                  <a:schemeClr val="tx1"/>
                </a:solidFill>
                <a:latin typeface="Times New Roman" pitchFamily="18" charset="0"/>
                <a:cs typeface="Times New Roman" pitchFamily="18" charset="0"/>
              </a:rPr>
              <a:t>The Concept of HRIS, The role of IT, Database concepts and applications in HRIS, Steps in implementing an HRIS, Benefits and limitations of HRIS.</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solidFill>
                  <a:srgbClr val="FF0000"/>
                </a:solidFill>
                <a:latin typeface="Times New Roman" pitchFamily="18" charset="0"/>
                <a:cs typeface="Times New Roman" pitchFamily="18" charset="0"/>
              </a:rPr>
              <a:t>Future Trends in Human Resource Management</a:t>
            </a:r>
            <a:endParaRPr lang="en-US" dirty="0">
              <a:solidFill>
                <a:srgbClr val="FF0000"/>
              </a:solidFill>
            </a:endParaRPr>
          </a:p>
        </p:txBody>
      </p:sp>
      <p:sp>
        <p:nvSpPr>
          <p:cNvPr id="3" name="Content Placeholder 2"/>
          <p:cNvSpPr>
            <a:spLocks noGrp="1"/>
          </p:cNvSpPr>
          <p:nvPr>
            <p:ph idx="1"/>
          </p:nvPr>
        </p:nvSpPr>
        <p:spPr>
          <a:xfrm>
            <a:off x="457200" y="1524000"/>
            <a:ext cx="8229600" cy="5105400"/>
          </a:xfrm>
        </p:spPr>
        <p:txBody>
          <a:bodyPr>
            <a:normAutofit/>
          </a:bodyPr>
          <a:lstStyle/>
          <a:p>
            <a:pPr algn="just">
              <a:buNone/>
            </a:pPr>
            <a:r>
              <a:rPr lang="en-US" dirty="0" smtClean="0"/>
              <a:t>		</a:t>
            </a:r>
            <a:r>
              <a:rPr lang="en-US" sz="2800" dirty="0" smtClean="0">
                <a:latin typeface="Times New Roman" pitchFamily="18" charset="0"/>
                <a:cs typeface="Times New Roman" pitchFamily="18" charset="0"/>
              </a:rPr>
              <a:t>HRM is continually evolving to adapt to changes in the workplace, technology, and society. To stay competitive and effectively manage human capital, HR professionals must anticipate and embrace emerging trends.</a:t>
            </a:r>
            <a:endParaRPr lang="en-US" dirty="0" smtClean="0">
              <a:latin typeface="Times New Roman" pitchFamily="18" charset="0"/>
              <a:cs typeface="Times New Roman" pitchFamily="18" charset="0"/>
            </a:endParaRPr>
          </a:p>
          <a:p>
            <a:pPr marL="514350" indent="-514350">
              <a:buAutoNum type="arabicPeriod"/>
            </a:pPr>
            <a:r>
              <a:rPr lang="en-US" b="1" dirty="0" smtClean="0">
                <a:latin typeface="Times New Roman" pitchFamily="18" charset="0"/>
                <a:cs typeface="Times New Roman" pitchFamily="18" charset="0"/>
              </a:rPr>
              <a:t>Hybrid Work Model </a:t>
            </a:r>
          </a:p>
          <a:p>
            <a:pPr>
              <a:buNone/>
            </a:pPr>
            <a:r>
              <a:rPr lang="en-US" dirty="0" smtClean="0"/>
              <a:t>	</a:t>
            </a:r>
            <a:r>
              <a:rPr lang="en-US" sz="2800" dirty="0" smtClean="0">
                <a:latin typeface="Times New Roman" pitchFamily="18" charset="0"/>
                <a:cs typeface="Times New Roman" pitchFamily="18" charset="0"/>
              </a:rPr>
              <a:t>(Remote Work Infrastructure, Well-being and Mental Health, Cost Management, Employee Engagement). </a:t>
            </a:r>
          </a:p>
          <a:p>
            <a:pPr>
              <a:buNone/>
            </a:pPr>
            <a:r>
              <a:rPr lang="en-US" sz="2800" dirty="0" smtClean="0">
                <a:latin typeface="Times New Roman" pitchFamily="18" charset="0"/>
                <a:cs typeface="Times New Roman" pitchFamily="18" charset="0"/>
              </a:rPr>
              <a:t> </a:t>
            </a:r>
          </a:p>
          <a:p>
            <a:pPr marL="514350" indent="-51435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fontScale="85000" lnSpcReduction="10000"/>
          </a:bodyPr>
          <a:lstStyle/>
          <a:p>
            <a:pPr algn="just">
              <a:buNone/>
            </a:pPr>
            <a:r>
              <a:rPr lang="en-US" b="1" dirty="0" smtClean="0"/>
              <a:t>2. </a:t>
            </a:r>
            <a:r>
              <a:rPr lang="en-US" sz="3800" b="1" dirty="0" smtClean="0">
                <a:latin typeface="Times New Roman" pitchFamily="18" charset="0"/>
                <a:cs typeface="Times New Roman" pitchFamily="18" charset="0"/>
              </a:rPr>
              <a:t>Employee Skill Development </a:t>
            </a:r>
          </a:p>
          <a:p>
            <a:pPr algn="just">
              <a:buNone/>
            </a:pPr>
            <a:r>
              <a:rPr lang="en-IN" b="1" dirty="0" smtClean="0"/>
              <a:t>		</a:t>
            </a: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Assessment of Skill Gaps ,Training and Development Programs ,Individual Development Plans (IDPs) ,Mentorship and Coaching ,Feedback and Performance Reviews ,Collaboration and Knowledge Sharing, Continuous Learning Culture, Recognition and Rewards).</a:t>
            </a:r>
          </a:p>
          <a:p>
            <a:pPr algn="just">
              <a:buNone/>
            </a:pPr>
            <a:r>
              <a:rPr lang="en-IN" sz="3800" b="1" dirty="0" smtClean="0">
                <a:latin typeface="Times New Roman" pitchFamily="18" charset="0"/>
                <a:cs typeface="Times New Roman" pitchFamily="18" charset="0"/>
              </a:rPr>
              <a:t>3. </a:t>
            </a:r>
            <a:r>
              <a:rPr lang="en-US" sz="3800" b="1" dirty="0" smtClean="0">
                <a:latin typeface="Times New Roman" pitchFamily="18" charset="0"/>
                <a:cs typeface="Times New Roman" pitchFamily="18" charset="0"/>
              </a:rPr>
              <a:t>Internal Mobility </a:t>
            </a:r>
            <a:r>
              <a:rPr lang="en-US" dirty="0" smtClean="0">
                <a:latin typeface="Times New Roman" pitchFamily="18" charset="0"/>
                <a:cs typeface="Times New Roman" pitchFamily="18" charset="0"/>
              </a:rPr>
              <a:t>: </a:t>
            </a:r>
          </a:p>
          <a:p>
            <a:pPr algn="just">
              <a:buNone/>
            </a:pPr>
            <a:r>
              <a:rPr lang="en-US" dirty="0" smtClean="0"/>
              <a:t>		</a:t>
            </a:r>
            <a:r>
              <a:rPr lang="en-US" dirty="0" smtClean="0">
                <a:latin typeface="Times New Roman" pitchFamily="18" charset="0"/>
                <a:cs typeface="Times New Roman" pitchFamily="18" charset="0"/>
              </a:rPr>
              <a:t>Internal talent mobility or career development within an organization, is a strategic HRM concept that focuses on facilitating the movement of employees within the company to various roles, departments, or locations.</a:t>
            </a:r>
          </a:p>
          <a:p>
            <a:pPr algn="just">
              <a:buNone/>
            </a:pPr>
            <a:r>
              <a:rPr lang="en-US" dirty="0" smtClean="0">
                <a:latin typeface="Times New Roman" pitchFamily="18" charset="0"/>
                <a:cs typeface="Times New Roman" pitchFamily="18" charset="0"/>
              </a:rPr>
              <a:t>	(Career Development Plans ,Skill Assessments ,Job Postings and Internal Job Boards ,Cross-Training ,Mentorship and Coaching ,Succession Planning ,Feedback and Evaluation </a:t>
            </a:r>
            <a:r>
              <a:rPr lang="en-US" dirty="0" smtClean="0"/>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Times New Roman" pitchFamily="18" charset="0"/>
                <a:ea typeface="+mn-ea"/>
                <a:cs typeface="Times New Roman" pitchFamily="18" charset="0"/>
              </a:rPr>
              <a:t>4.Diversity and Inclusion (D&amp;I) in the Workforce </a:t>
            </a:r>
          </a:p>
        </p:txBody>
      </p:sp>
      <p:sp>
        <p:nvSpPr>
          <p:cNvPr id="3" name="Content Placeholder 2"/>
          <p:cNvSpPr>
            <a:spLocks noGrp="1"/>
          </p:cNvSpPr>
          <p:nvPr>
            <p:ph idx="1"/>
          </p:nvPr>
        </p:nvSpPr>
        <p:spPr>
          <a:xfrm>
            <a:off x="457200" y="1600200"/>
            <a:ext cx="8229600" cy="5105400"/>
          </a:xfrm>
        </p:spPr>
        <p:txBody>
          <a:bodyPr>
            <a:normAutofit lnSpcReduction="10000"/>
          </a:bodyPr>
          <a:lstStyle/>
          <a:p>
            <a:pPr algn="just">
              <a:buNone/>
            </a:pPr>
            <a:r>
              <a:rPr lang="en-US" dirty="0" smtClean="0"/>
              <a:t>	</a:t>
            </a:r>
            <a:r>
              <a:rPr lang="en-US" sz="2800" dirty="0" smtClean="0">
                <a:latin typeface="Times New Roman" pitchFamily="18" charset="0"/>
                <a:cs typeface="Times New Roman" pitchFamily="18" charset="0"/>
              </a:rPr>
              <a:t>	</a:t>
            </a:r>
            <a:r>
              <a:rPr lang="en-US" sz="2700" dirty="0" smtClean="0">
                <a:latin typeface="Times New Roman" pitchFamily="18" charset="0"/>
                <a:cs typeface="Times New Roman" pitchFamily="18" charset="0"/>
              </a:rPr>
              <a:t>Diversity and inclusion (D&amp;I) in the workforce refer to the intentional effort to create a workplace environment that values and embraces differences among employees, including those related to race, ethnicity, gender, age, sexual orientation, disability, religion, and more. </a:t>
            </a:r>
          </a:p>
          <a:p>
            <a:pPr algn="just">
              <a:buNone/>
            </a:pPr>
            <a:r>
              <a:rPr lang="en-US" sz="2700" dirty="0" smtClean="0">
                <a:latin typeface="Times New Roman" pitchFamily="18" charset="0"/>
                <a:cs typeface="Times New Roman" pitchFamily="18" charset="0"/>
              </a:rPr>
              <a:t>		It goes beyond compliance with equal opportunity laws and focuses on fostering a culture of respect, fairness, and equality.</a:t>
            </a:r>
          </a:p>
          <a:p>
            <a:pPr algn="just">
              <a:buNone/>
            </a:pPr>
            <a:r>
              <a:rPr lang="en-US" sz="2700" dirty="0" smtClean="0">
                <a:latin typeface="Times New Roman" pitchFamily="18" charset="0"/>
                <a:cs typeface="Times New Roman" pitchFamily="18" charset="0"/>
              </a:rPr>
              <a:t>		(Innovation, Enhanced Decision-Making, Employee Engagement, Improved Problem-Solving ,Market Competitiveness)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600" b="1" dirty="0" smtClean="0">
                <a:latin typeface="Times New Roman" pitchFamily="18" charset="0"/>
                <a:ea typeface="+mn-ea"/>
                <a:cs typeface="Times New Roman" pitchFamily="18" charset="0"/>
              </a:rPr>
              <a:t>5. People Analytics </a:t>
            </a:r>
          </a:p>
        </p:txBody>
      </p:sp>
      <p:sp>
        <p:nvSpPr>
          <p:cNvPr id="3" name="Content Placeholder 2"/>
          <p:cNvSpPr>
            <a:spLocks noGrp="1"/>
          </p:cNvSpPr>
          <p:nvPr>
            <p:ph idx="1"/>
          </p:nvPr>
        </p:nvSpPr>
        <p:spPr>
          <a:xfrm>
            <a:off x="457200" y="1143000"/>
            <a:ext cx="8229600" cy="5562600"/>
          </a:xfrm>
        </p:spPr>
        <p:txBody>
          <a:bodyPr>
            <a:normAutofit/>
          </a:bodyPr>
          <a:lstStyle/>
          <a:p>
            <a:pPr algn="just">
              <a:buNone/>
            </a:pPr>
            <a:r>
              <a:rPr lang="en-US" sz="2700" dirty="0" smtClean="0">
                <a:latin typeface="Times New Roman" pitchFamily="18" charset="0"/>
                <a:cs typeface="Times New Roman" pitchFamily="18" charset="0"/>
              </a:rPr>
              <a:t>		HR analytics or workforce analytics, refers to the use of data and advanced analytical techniques to inform and improve human resource management (HRM) decisions and strategies within an organization.</a:t>
            </a:r>
          </a:p>
          <a:p>
            <a:pPr algn="just">
              <a:buNone/>
            </a:pPr>
            <a:endParaRPr lang="en-US" sz="2700" dirty="0" smtClean="0">
              <a:latin typeface="Times New Roman" pitchFamily="18" charset="0"/>
              <a:cs typeface="Times New Roman" pitchFamily="18" charset="0"/>
            </a:endParaRPr>
          </a:p>
          <a:p>
            <a:pPr algn="just">
              <a:buNone/>
            </a:pPr>
            <a:r>
              <a:rPr lang="en-IN" sz="2700" dirty="0" smtClean="0">
                <a:latin typeface="Times New Roman" pitchFamily="18" charset="0"/>
                <a:cs typeface="Times New Roman" pitchFamily="18" charset="0"/>
              </a:rPr>
              <a:t>		(</a:t>
            </a:r>
            <a:r>
              <a:rPr lang="en-US" sz="2700" dirty="0" smtClean="0">
                <a:latin typeface="Times New Roman" pitchFamily="18" charset="0"/>
                <a:cs typeface="Times New Roman" pitchFamily="18" charset="0"/>
              </a:rPr>
              <a:t>Data Collection, Data Analysis, Metrics and KPIs, Employee Engagement, Retention and Turnover Analysis ,Performance Management, Cost Reduction ,Data Governance ,Ethical Considerations ,Continuous Improvement </a:t>
            </a:r>
            <a:r>
              <a:rPr lang="en-IN" sz="2700" dirty="0" smtClean="0">
                <a:latin typeface="Times New Roman" pitchFamily="18" charset="0"/>
                <a:cs typeface="Times New Roman" pitchFamily="18" charset="0"/>
              </a:rPr>
              <a:t>)</a:t>
            </a:r>
            <a:endParaRPr lang="en-US" sz="27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200" b="1" dirty="0" smtClean="0">
                <a:latin typeface="Times New Roman" pitchFamily="18" charset="0"/>
                <a:ea typeface="+mn-ea"/>
                <a:cs typeface="Times New Roman" pitchFamily="18" charset="0"/>
              </a:rPr>
              <a:t>6.Employee Well-Being </a:t>
            </a:r>
          </a:p>
        </p:txBody>
      </p:sp>
      <p:sp>
        <p:nvSpPr>
          <p:cNvPr id="3" name="Content Placeholder 2"/>
          <p:cNvSpPr>
            <a:spLocks noGrp="1"/>
          </p:cNvSpPr>
          <p:nvPr>
            <p:ph idx="1"/>
          </p:nvPr>
        </p:nvSpPr>
        <p:spPr>
          <a:xfrm>
            <a:off x="457200" y="1219200"/>
            <a:ext cx="8229600" cy="5257800"/>
          </a:xfrm>
        </p:spPr>
        <p:txBody>
          <a:bodyPr>
            <a:noAutofit/>
          </a:bodyPr>
          <a:lstStyle/>
          <a:p>
            <a:pPr algn="just">
              <a:buNone/>
            </a:pPr>
            <a:r>
              <a:rPr lang="en-US" sz="2700" dirty="0" smtClean="0">
                <a:latin typeface="Times New Roman" pitchFamily="18" charset="0"/>
                <a:cs typeface="Times New Roman" pitchFamily="18" charset="0"/>
              </a:rPr>
              <a:t>		Employee well-being refers to the physical, mental, and emotional health and happiness of employees within an organization. It encompasses various aspects of an employee's life, both inside and outside of work, that can impact their overall well-being and job performance. </a:t>
            </a:r>
          </a:p>
          <a:p>
            <a:pPr algn="just">
              <a:buNone/>
            </a:pPr>
            <a:r>
              <a:rPr lang="en-US" sz="2700" dirty="0" smtClean="0">
                <a:latin typeface="Times New Roman" pitchFamily="18" charset="0"/>
                <a:cs typeface="Times New Roman" pitchFamily="18" charset="0"/>
              </a:rPr>
              <a:t>		(Physical Well-being, Mental and Emotional Well-being, Financial Well-Being, Social Well-being ,Workplace Policies ,Communication and Support, Recognition and Appreciation, Feedback and Surveys)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3200" b="1" dirty="0" smtClean="0">
                <a:latin typeface="Times New Roman" pitchFamily="18" charset="0"/>
                <a:cs typeface="Times New Roman" pitchFamily="18" charset="0"/>
              </a:rPr>
              <a:t>7.MULTI-GENERATIONAL WORKFORCE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1066800"/>
            <a:ext cx="8229600" cy="5562600"/>
          </a:xfrm>
        </p:spPr>
        <p:txBody>
          <a:bodyPr>
            <a:normAutofit lnSpcReduction="10000"/>
          </a:bodyPr>
          <a:lstStyle/>
          <a:p>
            <a:pPr algn="just">
              <a:buNone/>
            </a:pPr>
            <a:r>
              <a:rPr lang="en-US" sz="2700" dirty="0" smtClean="0">
                <a:latin typeface="Times New Roman" pitchFamily="18" charset="0"/>
                <a:cs typeface="Times New Roman" pitchFamily="18" charset="0"/>
              </a:rPr>
              <a:t>		Multi-Generational workforce consists of employees from various age groups, spanning different generations, such as Baby Boomers (Born 1946-1964), Generation X (Born 1965-1980), </a:t>
            </a:r>
            <a:r>
              <a:rPr lang="en-US" sz="2700" dirty="0" err="1" smtClean="0">
                <a:latin typeface="Times New Roman" pitchFamily="18" charset="0"/>
                <a:cs typeface="Times New Roman" pitchFamily="18" charset="0"/>
              </a:rPr>
              <a:t>Millennials</a:t>
            </a:r>
            <a:r>
              <a:rPr lang="en-US" sz="2700" dirty="0" smtClean="0">
                <a:latin typeface="Times New Roman" pitchFamily="18" charset="0"/>
                <a:cs typeface="Times New Roman" pitchFamily="18" charset="0"/>
              </a:rPr>
              <a:t> (Born 1981-1996), and Generation Z (Born 1997-Present) </a:t>
            </a:r>
          </a:p>
          <a:p>
            <a:pPr algn="just">
              <a:buNone/>
            </a:pPr>
            <a:r>
              <a:rPr lang="en-US" sz="2700" dirty="0" smtClean="0">
                <a:latin typeface="Times New Roman" pitchFamily="18" charset="0"/>
                <a:cs typeface="Times New Roman" pitchFamily="18" charset="0"/>
              </a:rPr>
              <a:t>		Each generation brings its unique perspectives, values, work styles, and communication preferences to the workplace.</a:t>
            </a:r>
          </a:p>
          <a:p>
            <a:pPr algn="just">
              <a:buNone/>
            </a:pPr>
            <a:r>
              <a:rPr lang="en-US" sz="2700" dirty="0" smtClean="0">
                <a:latin typeface="Times New Roman" pitchFamily="18" charset="0"/>
                <a:cs typeface="Times New Roman" pitchFamily="18" charset="0"/>
              </a:rPr>
              <a:t>		(Understanding Generational Differences,  Communication, Feedback and Recognition, Technology and Tools,  Work-Life Balance,  Career Development, Mentorship and Knowledge Transfer, Benefits and Perks,  Continuous Learning)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IN" sz="3200" b="1" dirty="0" smtClean="0">
                <a:latin typeface="Times New Roman" pitchFamily="18" charset="0"/>
                <a:cs typeface="Times New Roman" pitchFamily="18" charset="0"/>
              </a:rPr>
              <a:t>8. </a:t>
            </a:r>
            <a:r>
              <a:rPr lang="en-US" sz="3200" b="1" dirty="0" smtClean="0">
                <a:latin typeface="Times New Roman" pitchFamily="18" charset="0"/>
                <a:cs typeface="Times New Roman" pitchFamily="18" charset="0"/>
              </a:rPr>
              <a:t>ALL-IN-ONE HR TOOLS (HRMS)</a:t>
            </a:r>
          </a:p>
        </p:txBody>
      </p:sp>
      <p:sp>
        <p:nvSpPr>
          <p:cNvPr id="3" name="Content Placeholder 2"/>
          <p:cNvSpPr>
            <a:spLocks noGrp="1"/>
          </p:cNvSpPr>
          <p:nvPr>
            <p:ph idx="1"/>
          </p:nvPr>
        </p:nvSpPr>
        <p:spPr>
          <a:xfrm>
            <a:off x="228600" y="1143000"/>
            <a:ext cx="8686800" cy="5562600"/>
          </a:xfrm>
        </p:spPr>
        <p:txBody>
          <a:bodyPr>
            <a:normAutofit lnSpcReduction="10000"/>
          </a:bodyPr>
          <a:lstStyle/>
          <a:p>
            <a:pPr algn="just">
              <a:buNone/>
            </a:pPr>
            <a:r>
              <a:rPr lang="en-US" dirty="0" smtClean="0"/>
              <a:t>		</a:t>
            </a:r>
            <a:r>
              <a:rPr lang="en-US" sz="2700" dirty="0" smtClean="0">
                <a:latin typeface="Times New Roman" pitchFamily="18" charset="0"/>
                <a:cs typeface="Times New Roman" pitchFamily="18" charset="0"/>
              </a:rPr>
              <a:t>Also known as integrated Human Resource Management Systems </a:t>
            </a:r>
            <a:r>
              <a:rPr lang="en-US" sz="2700" i="1" dirty="0" smtClean="0">
                <a:solidFill>
                  <a:srgbClr val="FF0000"/>
                </a:solidFill>
                <a:latin typeface="Times New Roman" pitchFamily="18" charset="0"/>
                <a:cs typeface="Times New Roman" pitchFamily="18" charset="0"/>
              </a:rPr>
              <a:t>(HRMS)</a:t>
            </a:r>
            <a:r>
              <a:rPr lang="en-US" sz="2700" dirty="0" smtClean="0">
                <a:latin typeface="Times New Roman" pitchFamily="18" charset="0"/>
                <a:cs typeface="Times New Roman" pitchFamily="18" charset="0"/>
              </a:rPr>
              <a:t> or Human Capital Management </a:t>
            </a:r>
            <a:r>
              <a:rPr lang="en-US" sz="2700" i="1" dirty="0" smtClean="0">
                <a:solidFill>
                  <a:srgbClr val="FF0000"/>
                </a:solidFill>
                <a:latin typeface="Times New Roman" pitchFamily="18" charset="0"/>
                <a:cs typeface="Times New Roman" pitchFamily="18" charset="0"/>
              </a:rPr>
              <a:t>(HCM) </a:t>
            </a:r>
            <a:r>
              <a:rPr lang="en-US" sz="2700" dirty="0" smtClean="0">
                <a:latin typeface="Times New Roman" pitchFamily="18" charset="0"/>
                <a:cs typeface="Times New Roman" pitchFamily="18" charset="0"/>
              </a:rPr>
              <a:t>platforms, are comprehensive software solutions designed to streamline and centralize various HR functions within an organization. These tools consolidate HR processes, data, and functions into a single platform, providing HR professionals with a more efficient and holistic way to manage their workforce.</a:t>
            </a:r>
          </a:p>
          <a:p>
            <a:pPr algn="just">
              <a:buNone/>
            </a:pPr>
            <a:r>
              <a:rPr lang="en-IN" sz="2700" dirty="0" smtClean="0">
                <a:latin typeface="Times New Roman" pitchFamily="18" charset="0"/>
                <a:cs typeface="Times New Roman" pitchFamily="18" charset="0"/>
              </a:rPr>
              <a:t>		(</a:t>
            </a:r>
            <a:r>
              <a:rPr lang="en-US" sz="2700" dirty="0" smtClean="0">
                <a:latin typeface="Times New Roman" pitchFamily="18" charset="0"/>
                <a:cs typeface="Times New Roman" pitchFamily="18" charset="0"/>
              </a:rPr>
              <a:t>Core HR Management, Recruitment and Applicant Tracking, Employee Self-Service (ESS), Time and Attendance, Payroll and Compensation Management, Benefits Administration, Performance Management, Workforce Analytics and Reporting, Employee Engagement and Surveys</a:t>
            </a:r>
            <a:r>
              <a:rPr lang="en-IN" sz="2700" dirty="0" smtClean="0">
                <a:latin typeface="Times New Roman" pitchFamily="18" charset="0"/>
                <a:cs typeface="Times New Roman" pitchFamily="18" charset="0"/>
              </a:rPr>
              <a:t>).</a:t>
            </a:r>
            <a:endParaRPr lang="en-US" sz="27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b="1" dirty="0" smtClean="0">
                <a:solidFill>
                  <a:srgbClr val="FF0000"/>
                </a:solidFill>
                <a:latin typeface="Times New Roman" pitchFamily="18" charset="0"/>
                <a:cs typeface="Times New Roman" pitchFamily="18" charset="0"/>
              </a:rPr>
              <a:t>HRIS</a:t>
            </a:r>
            <a:endParaRPr lang="en-US" dirty="0">
              <a:solidFill>
                <a:srgbClr val="FF0000"/>
              </a:solidFill>
            </a:endParaRPr>
          </a:p>
        </p:txBody>
      </p:sp>
      <p:sp>
        <p:nvSpPr>
          <p:cNvPr id="3" name="Content Placeholder 2"/>
          <p:cNvSpPr>
            <a:spLocks noGrp="1"/>
          </p:cNvSpPr>
          <p:nvPr>
            <p:ph idx="1"/>
          </p:nvPr>
        </p:nvSpPr>
        <p:spPr>
          <a:xfrm>
            <a:off x="457200" y="1143000"/>
            <a:ext cx="8229600" cy="5410200"/>
          </a:xfrm>
        </p:spPr>
        <p:txBody>
          <a:bodyPr/>
          <a:lstStyle/>
          <a:p>
            <a:pPr algn="just">
              <a:buNone/>
            </a:pPr>
            <a:r>
              <a:rPr lang="en-US" dirty="0" smtClean="0"/>
              <a:t>		</a:t>
            </a:r>
          </a:p>
          <a:p>
            <a:pPr algn="just">
              <a:buNone/>
            </a:pP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		A </a:t>
            </a:r>
            <a:r>
              <a:rPr lang="en-US" sz="2800" i="1" dirty="0" smtClean="0">
                <a:solidFill>
                  <a:srgbClr val="FF0000"/>
                </a:solidFill>
                <a:latin typeface="Times New Roman" pitchFamily="18" charset="0"/>
                <a:cs typeface="Times New Roman" pitchFamily="18" charset="0"/>
              </a:rPr>
              <a:t>Human Resources Information System </a:t>
            </a:r>
            <a:r>
              <a:rPr lang="en-US" sz="2800" dirty="0" smtClean="0">
                <a:latin typeface="Times New Roman" pitchFamily="18" charset="0"/>
                <a:cs typeface="Times New Roman" pitchFamily="18" charset="0"/>
              </a:rPr>
              <a:t>(HRIS) is a software solution used to manage and automate various HR processes within an organization</a:t>
            </a:r>
            <a:r>
              <a:rPr lang="en-US" sz="2800" dirty="0" smtClean="0">
                <a:latin typeface="Times New Roman" pitchFamily="18" charset="0"/>
                <a:cs typeface="Times New Roman" pitchFamily="18" charset="0"/>
              </a:rPr>
              <a:t>.</a:t>
            </a:r>
          </a:p>
          <a:p>
            <a:pPr algn="just">
              <a:buNone/>
            </a:pP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	It </a:t>
            </a:r>
            <a:r>
              <a:rPr lang="en-US" sz="2800" dirty="0" smtClean="0">
                <a:latin typeface="Times New Roman" pitchFamily="18" charset="0"/>
                <a:cs typeface="Times New Roman" pitchFamily="18" charset="0"/>
              </a:rPr>
              <a:t>centralizes employee data, streamlines HR tasks, and facilitates more efficient decision-making. Essentially, it's a digital platform for managing all aspects of the employee lifecycle, from recruitment to </a:t>
            </a:r>
            <a:r>
              <a:rPr lang="en-US" sz="2800" dirty="0" smtClean="0">
                <a:latin typeface="Times New Roman" pitchFamily="18" charset="0"/>
                <a:cs typeface="Times New Roman" pitchFamily="18" charset="0"/>
              </a:rPr>
              <a:t>retirement.</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dirty="0" smtClean="0">
                <a:solidFill>
                  <a:srgbClr val="FF0000"/>
                </a:solidFill>
                <a:latin typeface="Times New Roman" pitchFamily="18" charset="0"/>
                <a:cs typeface="Times New Roman" pitchFamily="18" charset="0"/>
              </a:rPr>
              <a:t>Key </a:t>
            </a:r>
            <a:r>
              <a:rPr lang="en-US" sz="4000" dirty="0" smtClean="0">
                <a:solidFill>
                  <a:srgbClr val="FF0000"/>
                </a:solidFill>
                <a:latin typeface="Times New Roman" pitchFamily="18" charset="0"/>
                <a:cs typeface="Times New Roman" pitchFamily="18" charset="0"/>
              </a:rPr>
              <a:t>Aspects or Elements </a:t>
            </a:r>
            <a:r>
              <a:rPr lang="en-US" sz="4000" dirty="0" smtClean="0">
                <a:solidFill>
                  <a:srgbClr val="FF0000"/>
                </a:solidFill>
                <a:latin typeface="Times New Roman" pitchFamily="18" charset="0"/>
                <a:cs typeface="Times New Roman" pitchFamily="18" charset="0"/>
              </a:rPr>
              <a:t>of an HRIS</a:t>
            </a: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105400"/>
          </a:xfrm>
        </p:spPr>
        <p:txBody>
          <a:bodyPr>
            <a:normAutofit fontScale="92500" lnSpcReduction="20000"/>
          </a:bodyPr>
          <a:lstStyle/>
          <a:p>
            <a:pPr>
              <a:lnSpc>
                <a:spcPct val="150000"/>
              </a:lnSpc>
            </a:pPr>
            <a:r>
              <a:rPr lang="en-US" dirty="0" smtClean="0">
                <a:latin typeface="Times New Roman" pitchFamily="18" charset="0"/>
                <a:cs typeface="Times New Roman" pitchFamily="18" charset="0"/>
              </a:rPr>
              <a:t>Centralized Data </a:t>
            </a:r>
            <a:r>
              <a:rPr lang="en-US" dirty="0" smtClean="0">
                <a:latin typeface="Times New Roman" pitchFamily="18" charset="0"/>
                <a:cs typeface="Times New Roman" pitchFamily="18" charset="0"/>
              </a:rPr>
              <a:t>Management.</a:t>
            </a:r>
          </a:p>
          <a:p>
            <a:pPr>
              <a:lnSpc>
                <a:spcPct val="150000"/>
              </a:lnSpc>
            </a:pPr>
            <a:r>
              <a:rPr lang="en-US" dirty="0" smtClean="0">
                <a:latin typeface="Times New Roman" pitchFamily="18" charset="0"/>
                <a:cs typeface="Times New Roman" pitchFamily="18" charset="0"/>
              </a:rPr>
              <a:t>Improved </a:t>
            </a:r>
            <a:r>
              <a:rPr lang="en-US" dirty="0" smtClean="0">
                <a:latin typeface="Times New Roman" pitchFamily="18" charset="0"/>
                <a:cs typeface="Times New Roman" pitchFamily="18" charset="0"/>
              </a:rPr>
              <a:t>Efficiency.</a:t>
            </a:r>
          </a:p>
          <a:p>
            <a:pPr>
              <a:lnSpc>
                <a:spcPct val="150000"/>
              </a:lnSpc>
            </a:pPr>
            <a:r>
              <a:rPr lang="en-US" dirty="0" smtClean="0">
                <a:latin typeface="Times New Roman" pitchFamily="18" charset="0"/>
                <a:cs typeface="Times New Roman" pitchFamily="18" charset="0"/>
              </a:rPr>
              <a:t>Data-Driven Decision </a:t>
            </a:r>
            <a:r>
              <a:rPr lang="en-US" dirty="0" smtClean="0">
                <a:latin typeface="Times New Roman" pitchFamily="18" charset="0"/>
                <a:cs typeface="Times New Roman" pitchFamily="18" charset="0"/>
              </a:rPr>
              <a:t>Making.</a:t>
            </a:r>
          </a:p>
          <a:p>
            <a:pPr>
              <a:lnSpc>
                <a:spcPct val="150000"/>
              </a:lnSpc>
            </a:pPr>
            <a:r>
              <a:rPr lang="en-US" dirty="0" smtClean="0">
                <a:latin typeface="Times New Roman" pitchFamily="18" charset="0"/>
                <a:cs typeface="Times New Roman" pitchFamily="18" charset="0"/>
              </a:rPr>
              <a:t>Enhanced Employee </a:t>
            </a:r>
            <a:r>
              <a:rPr lang="en-US" dirty="0" smtClean="0">
                <a:latin typeface="Times New Roman" pitchFamily="18" charset="0"/>
                <a:cs typeface="Times New Roman" pitchFamily="18" charset="0"/>
              </a:rPr>
              <a:t>Experience.</a:t>
            </a:r>
          </a:p>
          <a:p>
            <a:pPr>
              <a:lnSpc>
                <a:spcPct val="150000"/>
              </a:lnSpc>
            </a:pPr>
            <a:r>
              <a:rPr lang="en-US" dirty="0" smtClean="0">
                <a:latin typeface="Times New Roman" pitchFamily="18" charset="0"/>
                <a:cs typeface="Times New Roman" pitchFamily="18" charset="0"/>
              </a:rPr>
              <a:t>Automation </a:t>
            </a:r>
            <a:r>
              <a:rPr lang="en-US" dirty="0" smtClean="0">
                <a:latin typeface="Times New Roman" pitchFamily="18" charset="0"/>
                <a:cs typeface="Times New Roman" pitchFamily="18" charset="0"/>
              </a:rPr>
              <a:t>of </a:t>
            </a:r>
            <a:r>
              <a:rPr lang="en-US" dirty="0" smtClean="0">
                <a:latin typeface="Times New Roman" pitchFamily="18" charset="0"/>
                <a:cs typeface="Times New Roman" pitchFamily="18" charset="0"/>
              </a:rPr>
              <a:t>Processes.</a:t>
            </a:r>
          </a:p>
          <a:p>
            <a:pPr>
              <a:lnSpc>
                <a:spcPct val="150000"/>
              </a:lnSpc>
            </a:pPr>
            <a:r>
              <a:rPr lang="en-US" dirty="0" smtClean="0">
                <a:latin typeface="Times New Roman" pitchFamily="18" charset="0"/>
                <a:cs typeface="Times New Roman" pitchFamily="18" charset="0"/>
              </a:rPr>
              <a:t>Reporting and </a:t>
            </a:r>
            <a:r>
              <a:rPr lang="en-US" dirty="0" smtClean="0">
                <a:latin typeface="Times New Roman" pitchFamily="18" charset="0"/>
                <a:cs typeface="Times New Roman" pitchFamily="18" charset="0"/>
              </a:rPr>
              <a:t>Analytics.</a:t>
            </a:r>
          </a:p>
          <a:p>
            <a:pPr>
              <a:lnSpc>
                <a:spcPct val="150000"/>
              </a:lnSpc>
            </a:pPr>
            <a:r>
              <a:rPr lang="en-US" dirty="0" smtClean="0">
                <a:latin typeface="Times New Roman" pitchFamily="18" charset="0"/>
                <a:cs typeface="Times New Roman" pitchFamily="18" charset="0"/>
              </a:rPr>
              <a:t>Performance </a:t>
            </a:r>
            <a:r>
              <a:rPr lang="en-US" dirty="0" smtClean="0">
                <a:latin typeface="Times New Roman" pitchFamily="18" charset="0"/>
                <a:cs typeface="Times New Roman" pitchFamily="18" charset="0"/>
              </a:rPr>
              <a:t>Management.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Times New Roman" pitchFamily="18" charset="0"/>
                <a:cs typeface="Times New Roman" pitchFamily="18" charset="0"/>
              </a:rPr>
              <a:t>Steps in </a:t>
            </a:r>
            <a:r>
              <a:rPr lang="en-US" dirty="0" smtClean="0">
                <a:solidFill>
                  <a:srgbClr val="FF0000"/>
                </a:solidFill>
                <a:latin typeface="Times New Roman" pitchFamily="18" charset="0"/>
                <a:cs typeface="Times New Roman" pitchFamily="18" charset="0"/>
              </a:rPr>
              <a:t>Implementing </a:t>
            </a:r>
            <a:r>
              <a:rPr lang="en-US" dirty="0" smtClean="0">
                <a:solidFill>
                  <a:srgbClr val="FF0000"/>
                </a:solidFill>
                <a:latin typeface="Times New Roman" pitchFamily="18" charset="0"/>
                <a:cs typeface="Times New Roman" pitchFamily="18" charset="0"/>
              </a:rPr>
              <a:t>an HRIS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pPr>
              <a:buFont typeface="Wingdings" pitchFamily="2" charset="2"/>
              <a:buChar char="ü"/>
            </a:pPr>
            <a:r>
              <a:rPr lang="en-US" dirty="0" smtClean="0">
                <a:latin typeface="Times New Roman" pitchFamily="18" charset="0"/>
                <a:cs typeface="Times New Roman" pitchFamily="18" charset="0"/>
              </a:rPr>
              <a:t>Planning and </a:t>
            </a:r>
            <a:r>
              <a:rPr lang="en-US" dirty="0" smtClean="0">
                <a:latin typeface="Times New Roman" pitchFamily="18" charset="0"/>
                <a:cs typeface="Times New Roman" pitchFamily="18" charset="0"/>
              </a:rPr>
              <a:t>Preparation.</a:t>
            </a:r>
          </a:p>
          <a:p>
            <a:pPr>
              <a:buNone/>
            </a:pP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Goals and </a:t>
            </a:r>
            <a:r>
              <a:rPr lang="en-US" dirty="0" smtClean="0">
                <a:latin typeface="Times New Roman" pitchFamily="18" charset="0"/>
                <a:cs typeface="Times New Roman" pitchFamily="18" charset="0"/>
              </a:rPr>
              <a:t>Objectives, </a:t>
            </a:r>
            <a:r>
              <a:rPr lang="en-US" dirty="0" smtClean="0">
                <a:latin typeface="Times New Roman" pitchFamily="18" charset="0"/>
                <a:cs typeface="Times New Roman" pitchFamily="18" charset="0"/>
              </a:rPr>
              <a:t>Budget and Timeline</a:t>
            </a:r>
            <a:r>
              <a:rPr lang="en-I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buFont typeface="Wingdings" pitchFamily="2" charset="2"/>
              <a:buChar char="ü"/>
            </a:pPr>
            <a:r>
              <a:rPr lang="en-US" dirty="0" smtClean="0">
                <a:latin typeface="Times New Roman" pitchFamily="18" charset="0"/>
                <a:cs typeface="Times New Roman" pitchFamily="18" charset="0"/>
              </a:rPr>
              <a:t>Vendor </a:t>
            </a:r>
            <a:r>
              <a:rPr lang="en-US" dirty="0" smtClean="0">
                <a:latin typeface="Times New Roman" pitchFamily="18" charset="0"/>
                <a:cs typeface="Times New Roman" pitchFamily="18" charset="0"/>
              </a:rPr>
              <a:t>Selection.</a:t>
            </a:r>
          </a:p>
          <a:p>
            <a:pPr>
              <a:buNone/>
            </a:pP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Research and Shortlist </a:t>
            </a:r>
            <a:r>
              <a:rPr lang="en-US" dirty="0" smtClean="0">
                <a:latin typeface="Times New Roman" pitchFamily="18" charset="0"/>
                <a:cs typeface="Times New Roman" pitchFamily="18" charset="0"/>
              </a:rPr>
              <a:t>Vendors, </a:t>
            </a:r>
            <a:r>
              <a:rPr lang="en-US" dirty="0" smtClean="0">
                <a:latin typeface="Times New Roman" pitchFamily="18" charset="0"/>
                <a:cs typeface="Times New Roman" pitchFamily="18" charset="0"/>
              </a:rPr>
              <a:t>Negotiate Contracts and Agreements</a:t>
            </a:r>
            <a:r>
              <a:rPr lang="en-I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buFont typeface="Wingdings" pitchFamily="2" charset="2"/>
              <a:buChar char="ü"/>
            </a:pPr>
            <a:r>
              <a:rPr lang="en-US" dirty="0" smtClean="0">
                <a:latin typeface="Times New Roman" pitchFamily="18" charset="0"/>
                <a:cs typeface="Times New Roman" pitchFamily="18" charset="0"/>
              </a:rPr>
              <a:t>System </a:t>
            </a:r>
            <a:r>
              <a:rPr lang="en-US" dirty="0" smtClean="0">
                <a:latin typeface="Times New Roman" pitchFamily="18" charset="0"/>
                <a:cs typeface="Times New Roman" pitchFamily="18" charset="0"/>
              </a:rPr>
              <a:t>Configuration.</a:t>
            </a:r>
          </a:p>
          <a:p>
            <a:pPr>
              <a:buNone/>
            </a:pP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Tailor the </a:t>
            </a:r>
            <a:r>
              <a:rPr lang="en-US" dirty="0" smtClean="0">
                <a:latin typeface="Times New Roman" pitchFamily="18" charset="0"/>
                <a:cs typeface="Times New Roman" pitchFamily="18" charset="0"/>
              </a:rPr>
              <a:t>System, </a:t>
            </a:r>
            <a:r>
              <a:rPr lang="en-US" dirty="0" smtClean="0">
                <a:latin typeface="Times New Roman" pitchFamily="18" charset="0"/>
                <a:cs typeface="Times New Roman" pitchFamily="18" charset="0"/>
              </a:rPr>
              <a:t>Set up Security Protocols</a:t>
            </a:r>
            <a:r>
              <a:rPr lang="en-I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buFont typeface="Wingdings" pitchFamily="2" charset="2"/>
              <a:buChar char="ü"/>
            </a:pPr>
            <a:r>
              <a:rPr lang="en-US" dirty="0" smtClean="0">
                <a:latin typeface="Times New Roman" pitchFamily="18" charset="0"/>
                <a:cs typeface="Times New Roman" pitchFamily="18" charset="0"/>
              </a:rPr>
              <a:t> Data </a:t>
            </a:r>
            <a:r>
              <a:rPr lang="en-US" dirty="0" smtClean="0">
                <a:latin typeface="Times New Roman" pitchFamily="18" charset="0"/>
                <a:cs typeface="Times New Roman" pitchFamily="18" charset="0"/>
              </a:rPr>
              <a:t>Migration.</a:t>
            </a:r>
          </a:p>
          <a:p>
            <a:pPr>
              <a:buNone/>
            </a:pPr>
            <a:r>
              <a:rPr lang="en-US" dirty="0" smtClean="0">
                <a:latin typeface="Times New Roman" pitchFamily="18" charset="0"/>
                <a:cs typeface="Times New Roman" pitchFamily="18" charset="0"/>
              </a:rPr>
              <a:t>    (Clean </a:t>
            </a:r>
            <a:r>
              <a:rPr lang="en-US" dirty="0" smtClean="0">
                <a:latin typeface="Times New Roman" pitchFamily="18" charset="0"/>
                <a:cs typeface="Times New Roman" pitchFamily="18" charset="0"/>
              </a:rPr>
              <a:t>and Validate Existing </a:t>
            </a:r>
            <a:r>
              <a:rPr lang="en-US" dirty="0" smtClean="0">
                <a:latin typeface="Times New Roman" pitchFamily="18" charset="0"/>
                <a:cs typeface="Times New Roman" pitchFamily="18" charset="0"/>
              </a:rPr>
              <a:t>Data, </a:t>
            </a:r>
            <a:r>
              <a:rPr lang="en-US" dirty="0" smtClean="0">
                <a:latin typeface="Times New Roman" pitchFamily="18" charset="0"/>
                <a:cs typeface="Times New Roman" pitchFamily="18" charset="0"/>
              </a:rPr>
              <a:t>Migrate Data to the New </a:t>
            </a:r>
            <a:r>
              <a:rPr lang="en-US" dirty="0" smtClean="0">
                <a:latin typeface="Times New Roman" pitchFamily="18" charset="0"/>
                <a:cs typeface="Times New Roman" pitchFamily="18" charset="0"/>
              </a:rPr>
              <a:t>System)</a:t>
            </a:r>
          </a:p>
          <a:p>
            <a:pPr>
              <a:buFont typeface="Wingdings" pitchFamily="2" charset="2"/>
              <a:buChar char="ü"/>
            </a:pPr>
            <a:r>
              <a:rPr lang="en-US" dirty="0" smtClean="0">
                <a:latin typeface="Times New Roman" pitchFamily="18" charset="0"/>
                <a:cs typeface="Times New Roman" pitchFamily="18" charset="0"/>
              </a:rPr>
              <a:t>Testing and </a:t>
            </a:r>
            <a:r>
              <a:rPr lang="en-US" dirty="0" smtClean="0">
                <a:latin typeface="Times New Roman" pitchFamily="18" charset="0"/>
                <a:cs typeface="Times New Roman" pitchFamily="18" charset="0"/>
              </a:rPr>
              <a:t>Training.</a:t>
            </a:r>
          </a:p>
          <a:p>
            <a:pPr>
              <a:buNone/>
            </a:pP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Conduct Thorough </a:t>
            </a:r>
            <a:r>
              <a:rPr lang="en-US" dirty="0" smtClean="0">
                <a:latin typeface="Times New Roman" pitchFamily="18" charset="0"/>
                <a:cs typeface="Times New Roman" pitchFamily="18" charset="0"/>
              </a:rPr>
              <a:t>Testing, </a:t>
            </a:r>
            <a:r>
              <a:rPr lang="en-US" dirty="0" smtClean="0">
                <a:latin typeface="Times New Roman" pitchFamily="18" charset="0"/>
                <a:cs typeface="Times New Roman" pitchFamily="18" charset="0"/>
              </a:rPr>
              <a:t>Offer Different Training Methods:</a:t>
            </a:r>
            <a:r>
              <a:rPr lang="en-I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buFont typeface="Wingdings" pitchFamily="2" charset="2"/>
              <a:buChar char="ü"/>
            </a:pPr>
            <a:r>
              <a:rPr lang="en-US" dirty="0" smtClean="0">
                <a:latin typeface="Times New Roman" pitchFamily="18" charset="0"/>
                <a:cs typeface="Times New Roman" pitchFamily="18" charset="0"/>
              </a:rPr>
              <a:t>Go-Live and Evaluation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Times New Roman" pitchFamily="18" charset="0"/>
                <a:cs typeface="Times New Roman" pitchFamily="18" charset="0"/>
              </a:rPr>
              <a:t>Benefits of HRIS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lstStyle/>
          <a:p>
            <a:pPr>
              <a:lnSpc>
                <a:spcPct val="150000"/>
              </a:lnSpc>
              <a:buFont typeface="Wingdings" pitchFamily="2" charset="2"/>
              <a:buChar char="ü"/>
            </a:pPr>
            <a:r>
              <a:rPr lang="en-US" dirty="0" smtClean="0">
                <a:latin typeface="Times New Roman" pitchFamily="18" charset="0"/>
                <a:cs typeface="Times New Roman" pitchFamily="18" charset="0"/>
              </a:rPr>
              <a:t>Increased </a:t>
            </a:r>
            <a:r>
              <a:rPr lang="en-US" dirty="0" smtClean="0">
                <a:latin typeface="Times New Roman" pitchFamily="18" charset="0"/>
                <a:cs typeface="Times New Roman" pitchFamily="18" charset="0"/>
              </a:rPr>
              <a:t>Efficiency.</a:t>
            </a:r>
          </a:p>
          <a:p>
            <a:pPr>
              <a:lnSpc>
                <a:spcPct val="150000"/>
              </a:lnSpc>
              <a:buFont typeface="Wingdings" pitchFamily="2" charset="2"/>
              <a:buChar char="ü"/>
            </a:pPr>
            <a:r>
              <a:rPr lang="en-US" dirty="0" smtClean="0">
                <a:latin typeface="Times New Roman" pitchFamily="18" charset="0"/>
                <a:cs typeface="Times New Roman" pitchFamily="18" charset="0"/>
              </a:rPr>
              <a:t>Better Decision </a:t>
            </a:r>
            <a:r>
              <a:rPr lang="en-US" dirty="0" smtClean="0">
                <a:latin typeface="Times New Roman" pitchFamily="18" charset="0"/>
                <a:cs typeface="Times New Roman" pitchFamily="18" charset="0"/>
              </a:rPr>
              <a:t>Making.</a:t>
            </a:r>
          </a:p>
          <a:p>
            <a:pPr>
              <a:lnSpc>
                <a:spcPct val="150000"/>
              </a:lnSpc>
              <a:buFont typeface="Wingdings" pitchFamily="2" charset="2"/>
              <a:buChar char="ü"/>
            </a:pPr>
            <a:r>
              <a:rPr lang="en-US" dirty="0" smtClean="0">
                <a:latin typeface="Times New Roman" pitchFamily="18" charset="0"/>
                <a:cs typeface="Times New Roman" pitchFamily="18" charset="0"/>
              </a:rPr>
              <a:t>Improved Data </a:t>
            </a:r>
            <a:r>
              <a:rPr lang="en-US" dirty="0" smtClean="0">
                <a:latin typeface="Times New Roman" pitchFamily="18" charset="0"/>
                <a:cs typeface="Times New Roman" pitchFamily="18" charset="0"/>
              </a:rPr>
              <a:t>Management.</a:t>
            </a:r>
          </a:p>
          <a:p>
            <a:pPr>
              <a:lnSpc>
                <a:spcPct val="150000"/>
              </a:lnSpc>
              <a:buFont typeface="Wingdings" pitchFamily="2" charset="2"/>
              <a:buChar char="ü"/>
            </a:pPr>
            <a:r>
              <a:rPr lang="en-US" dirty="0" smtClean="0">
                <a:latin typeface="Times New Roman" pitchFamily="18" charset="0"/>
                <a:cs typeface="Times New Roman" pitchFamily="18" charset="0"/>
              </a:rPr>
              <a:t>Enhanced </a:t>
            </a:r>
            <a:r>
              <a:rPr lang="en-US" dirty="0" smtClean="0">
                <a:latin typeface="Times New Roman" pitchFamily="18" charset="0"/>
                <a:cs typeface="Times New Roman" pitchFamily="18" charset="0"/>
              </a:rPr>
              <a:t>Compliance.</a:t>
            </a:r>
          </a:p>
          <a:p>
            <a:pPr>
              <a:lnSpc>
                <a:spcPct val="150000"/>
              </a:lnSpc>
              <a:buFont typeface="Wingdings" pitchFamily="2" charset="2"/>
              <a:buChar char="ü"/>
            </a:pPr>
            <a:r>
              <a:rPr lang="en-US" dirty="0" smtClean="0">
                <a:latin typeface="Times New Roman" pitchFamily="18" charset="0"/>
                <a:cs typeface="Times New Roman" pitchFamily="18" charset="0"/>
              </a:rPr>
              <a:t>Improved Employee </a:t>
            </a:r>
            <a:r>
              <a:rPr lang="en-US" dirty="0" smtClean="0">
                <a:latin typeface="Times New Roman" pitchFamily="18" charset="0"/>
                <a:cs typeface="Times New Roman" pitchFamily="18" charset="0"/>
              </a:rPr>
              <a:t>Experience.</a:t>
            </a:r>
          </a:p>
          <a:p>
            <a:pPr>
              <a:lnSpc>
                <a:spcPct val="150000"/>
              </a:lnSpc>
              <a:buFont typeface="Wingdings" pitchFamily="2" charset="2"/>
              <a:buChar char="ü"/>
            </a:pPr>
            <a:r>
              <a:rPr lang="en-US" dirty="0" smtClean="0">
                <a:latin typeface="Times New Roman" pitchFamily="18" charset="0"/>
                <a:cs typeface="Times New Roman" pitchFamily="18" charset="0"/>
              </a:rPr>
              <a:t>Streamlined </a:t>
            </a:r>
            <a:r>
              <a:rPr lang="en-US" dirty="0" smtClean="0">
                <a:latin typeface="Times New Roman" pitchFamily="18" charset="0"/>
                <a:cs typeface="Times New Roman" pitchFamily="18" charset="0"/>
              </a:rPr>
              <a:t>Processes.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Times New Roman" pitchFamily="18" charset="0"/>
                <a:cs typeface="Times New Roman" pitchFamily="18" charset="0"/>
              </a:rPr>
              <a:t>Limitations of </a:t>
            </a:r>
            <a:r>
              <a:rPr lang="en-US" dirty="0" smtClean="0">
                <a:solidFill>
                  <a:srgbClr val="FF0000"/>
                </a:solidFill>
                <a:latin typeface="Times New Roman" pitchFamily="18" charset="0"/>
                <a:cs typeface="Times New Roman" pitchFamily="18" charset="0"/>
              </a:rPr>
              <a:t>HRIS :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830763"/>
          </a:xfrm>
        </p:spPr>
        <p:txBody>
          <a:bodyPr/>
          <a:lstStyle/>
          <a:p>
            <a:pPr>
              <a:buFont typeface="Wingdings" pitchFamily="2" charset="2"/>
              <a:buChar char="ü"/>
            </a:pPr>
            <a:r>
              <a:rPr lang="en-US" dirty="0" smtClean="0">
                <a:latin typeface="Times New Roman" pitchFamily="18" charset="0"/>
                <a:cs typeface="Times New Roman" pitchFamily="18" charset="0"/>
              </a:rPr>
              <a:t>High Initial </a:t>
            </a:r>
            <a:r>
              <a:rPr lang="en-US" dirty="0" smtClean="0">
                <a:latin typeface="Times New Roman" pitchFamily="18" charset="0"/>
                <a:cs typeface="Times New Roman" pitchFamily="18" charset="0"/>
              </a:rPr>
              <a:t>Costs.</a:t>
            </a:r>
          </a:p>
          <a:p>
            <a:pPr>
              <a:buFont typeface="Wingdings" pitchFamily="2" charset="2"/>
              <a:buChar char="ü"/>
            </a:pPr>
            <a:r>
              <a:rPr lang="en-US" dirty="0" smtClean="0">
                <a:latin typeface="Times New Roman" pitchFamily="18" charset="0"/>
                <a:cs typeface="Times New Roman" pitchFamily="18" charset="0"/>
              </a:rPr>
              <a:t>Potential Security </a:t>
            </a:r>
            <a:r>
              <a:rPr lang="en-US" dirty="0" smtClean="0">
                <a:latin typeface="Times New Roman" pitchFamily="18" charset="0"/>
                <a:cs typeface="Times New Roman" pitchFamily="18" charset="0"/>
              </a:rPr>
              <a:t>Risks.</a:t>
            </a:r>
          </a:p>
          <a:p>
            <a:pPr>
              <a:buFont typeface="Wingdings" pitchFamily="2" charset="2"/>
              <a:buChar char="ü"/>
            </a:pPr>
            <a:r>
              <a:rPr lang="en-US" dirty="0" smtClean="0">
                <a:latin typeface="Times New Roman" pitchFamily="18" charset="0"/>
                <a:cs typeface="Times New Roman" pitchFamily="18" charset="0"/>
              </a:rPr>
              <a:t>Data Entry </a:t>
            </a:r>
            <a:r>
              <a:rPr lang="en-US" dirty="0" smtClean="0">
                <a:latin typeface="Times New Roman" pitchFamily="18" charset="0"/>
                <a:cs typeface="Times New Roman" pitchFamily="18" charset="0"/>
              </a:rPr>
              <a:t>Errors.</a:t>
            </a:r>
          </a:p>
          <a:p>
            <a:pPr>
              <a:buFont typeface="Wingdings" pitchFamily="2" charset="2"/>
              <a:buChar char="ü"/>
            </a:pPr>
            <a:r>
              <a:rPr lang="en-US" dirty="0" smtClean="0">
                <a:latin typeface="Times New Roman" pitchFamily="18" charset="0"/>
                <a:cs typeface="Times New Roman" pitchFamily="18" charset="0"/>
              </a:rPr>
              <a:t>Reliance on </a:t>
            </a:r>
            <a:r>
              <a:rPr lang="en-US" dirty="0" smtClean="0">
                <a:latin typeface="Times New Roman" pitchFamily="18" charset="0"/>
                <a:cs typeface="Times New Roman" pitchFamily="18" charset="0"/>
              </a:rPr>
              <a:t>Technology.</a:t>
            </a:r>
          </a:p>
          <a:p>
            <a:pPr>
              <a:buFont typeface="Wingdings" pitchFamily="2" charset="2"/>
              <a:buChar char="ü"/>
            </a:pPr>
            <a:r>
              <a:rPr lang="en-US" dirty="0" smtClean="0">
                <a:latin typeface="Times New Roman" pitchFamily="18" charset="0"/>
                <a:cs typeface="Times New Roman" pitchFamily="18" charset="0"/>
              </a:rPr>
              <a:t>Limited Support for Strategic </a:t>
            </a:r>
            <a:r>
              <a:rPr lang="en-US" dirty="0" smtClean="0">
                <a:latin typeface="Times New Roman" pitchFamily="18" charset="0"/>
                <a:cs typeface="Times New Roman" pitchFamily="18" charset="0"/>
              </a:rPr>
              <a:t>Initiatives.</a:t>
            </a:r>
          </a:p>
          <a:p>
            <a:pPr>
              <a:buFont typeface="Wingdings" pitchFamily="2" charset="2"/>
              <a:buChar char="ü"/>
            </a:pPr>
            <a:r>
              <a:rPr lang="en-US" dirty="0" smtClean="0">
                <a:latin typeface="Times New Roman" pitchFamily="18" charset="0"/>
                <a:cs typeface="Times New Roman" pitchFamily="18" charset="0"/>
              </a:rPr>
              <a:t>Integration </a:t>
            </a:r>
            <a:r>
              <a:rPr lang="en-US" dirty="0" smtClean="0">
                <a:latin typeface="Times New Roman" pitchFamily="18" charset="0"/>
                <a:cs typeface="Times New Roman" pitchFamily="18" charset="0"/>
              </a:rPr>
              <a:t>Challenges.</a:t>
            </a:r>
          </a:p>
          <a:p>
            <a:pPr>
              <a:buFont typeface="Wingdings" pitchFamily="2" charset="2"/>
              <a:buChar char="ü"/>
            </a:pPr>
            <a:r>
              <a:rPr lang="en-US" dirty="0" smtClean="0">
                <a:latin typeface="Times New Roman" pitchFamily="18" charset="0"/>
                <a:cs typeface="Times New Roman" pitchFamily="18" charset="0"/>
              </a:rPr>
              <a:t>Potential for User Adoption Issues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257</Words>
  <Application>Microsoft Office PowerPoint</Application>
  <PresentationFormat>On-screen Show (4:3)</PresentationFormat>
  <Paragraphs>71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Future Trends in H R M</vt:lpstr>
      <vt:lpstr>Future Trends in Human Resource Management</vt:lpstr>
      <vt:lpstr>Slide 3</vt:lpstr>
      <vt:lpstr>4.Diversity and Inclusion (D&amp;I) in the Workforce </vt:lpstr>
      <vt:lpstr>5. People Analytics </vt:lpstr>
      <vt:lpstr>6.Employee Well-Being </vt:lpstr>
      <vt:lpstr>7.MULTI-GENERATIONAL WORKFORCE </vt:lpstr>
      <vt:lpstr>8. ALL-IN-ONE HR TOOLS (HRMS)</vt:lpstr>
      <vt:lpstr>HRIS</vt:lpstr>
      <vt:lpstr>Key Aspects or Elements of an HRIS</vt:lpstr>
      <vt:lpstr>Steps in Implementing an HRIS</vt:lpstr>
      <vt:lpstr>Benefits of HRIS</vt:lpstr>
      <vt:lpstr>Limitations of HRIS :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Trends in H R M</dc:title>
  <dc:creator>HP</dc:creator>
  <cp:lastModifiedBy>HP</cp:lastModifiedBy>
  <cp:revision>15</cp:revision>
  <dcterms:created xsi:type="dcterms:W3CDTF">2006-08-16T00:00:00Z</dcterms:created>
  <dcterms:modified xsi:type="dcterms:W3CDTF">2025-07-28T05:18:50Z</dcterms:modified>
</cp:coreProperties>
</file>