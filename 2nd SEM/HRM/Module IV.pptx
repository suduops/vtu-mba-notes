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3" r:id="rId8"/>
    <p:sldId id="264" r:id="rId9"/>
    <p:sldId id="265" r:id="rId10"/>
    <p:sldId id="266" r:id="rId11"/>
    <p:sldId id="267" r:id="rId12"/>
    <p:sldId id="268"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109" d="100"/>
          <a:sy n="109" d="100"/>
        </p:scale>
        <p:origin x="-1674" y="-8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7/19/2025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7/19/2025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7/19/2025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7/19/2025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1"/>
            <a:ext cx="7772400" cy="838200"/>
          </a:xfrm>
        </p:spPr>
        <p:txBody>
          <a:bodyPr/>
          <a:lstStyle/>
          <a:p>
            <a:r>
              <a:rPr lang="en-IN" dirty="0" smtClean="0">
                <a:solidFill>
                  <a:srgbClr val="FF0000"/>
                </a:solidFill>
                <a:latin typeface="Times New Roman" pitchFamily="18" charset="0"/>
                <a:cs typeface="Times New Roman" pitchFamily="18" charset="0"/>
              </a:rPr>
              <a:t>Module IV</a:t>
            </a:r>
            <a:endParaRPr lang="en-US" dirty="0">
              <a:solidFill>
                <a:srgbClr val="FF0000"/>
              </a:solidFill>
              <a:latin typeface="Times New Roman" pitchFamily="18" charset="0"/>
              <a:cs typeface="Times New Roman" pitchFamily="18" charset="0"/>
            </a:endParaRPr>
          </a:p>
        </p:txBody>
      </p:sp>
      <p:sp>
        <p:nvSpPr>
          <p:cNvPr id="3" name="Subtitle 2"/>
          <p:cNvSpPr>
            <a:spLocks noGrp="1"/>
          </p:cNvSpPr>
          <p:nvPr>
            <p:ph type="subTitle" idx="1"/>
          </p:nvPr>
        </p:nvSpPr>
        <p:spPr>
          <a:xfrm>
            <a:off x="457200" y="1066800"/>
            <a:ext cx="8305800" cy="5486400"/>
          </a:xfrm>
        </p:spPr>
        <p:txBody>
          <a:bodyPr>
            <a:noAutofit/>
          </a:bodyPr>
          <a:lstStyle/>
          <a:p>
            <a:pPr algn="just"/>
            <a:r>
              <a:rPr lang="en-US" sz="2400" b="1" dirty="0" smtClean="0">
                <a:solidFill>
                  <a:schemeClr val="tx1"/>
                </a:solidFill>
                <a:latin typeface="Times New Roman" pitchFamily="18" charset="0"/>
                <a:cs typeface="Times New Roman" pitchFamily="18" charset="0"/>
              </a:rPr>
              <a:t>Human Resource Management in Small and Medium Enterprises: </a:t>
            </a:r>
            <a:r>
              <a:rPr lang="en-US" sz="2400" dirty="0" smtClean="0">
                <a:solidFill>
                  <a:schemeClr val="tx1"/>
                </a:solidFill>
                <a:latin typeface="Times New Roman" pitchFamily="18" charset="0"/>
                <a:cs typeface="Times New Roman" pitchFamily="18" charset="0"/>
              </a:rPr>
              <a:t>Introduction to SMEs, The Difference in Adoption of Human Resource Management, SMEs and Large Firms, Indian Experience, Impact of Weak Adoption of Human Resource Management in SMEs,</a:t>
            </a:r>
          </a:p>
          <a:p>
            <a:pPr algn="just"/>
            <a:r>
              <a:rPr lang="en-US" sz="2400" b="1" dirty="0" smtClean="0">
                <a:solidFill>
                  <a:schemeClr val="tx1"/>
                </a:solidFill>
                <a:latin typeface="Times New Roman" pitchFamily="18" charset="0"/>
                <a:cs typeface="Times New Roman" pitchFamily="18" charset="0"/>
              </a:rPr>
              <a:t>Human Resource Management in the Service Sector: </a:t>
            </a:r>
            <a:r>
              <a:rPr lang="en-US" sz="2400" dirty="0" smtClean="0">
                <a:solidFill>
                  <a:schemeClr val="tx1"/>
                </a:solidFill>
                <a:latin typeface="Times New Roman" pitchFamily="18" charset="0"/>
                <a:cs typeface="Times New Roman" pitchFamily="18" charset="0"/>
              </a:rPr>
              <a:t>Introduction, The Emergence of the Services Sector, Implications for Human Resource, Management Function, Differences Between Services Sector and the Manufacturing Sector, Difference in Human Resource Management in Services and Manufacturing Sectors, Human Resource Management and Service Quality Correlation, Trade Unions in Services Sector, Models of Union Strategies.</a:t>
            </a:r>
            <a:endParaRPr lang="en-US" sz="2400"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sz="3600" b="1" dirty="0" smtClean="0">
                <a:solidFill>
                  <a:srgbClr val="FF0000"/>
                </a:solidFill>
                <a:latin typeface="Times New Roman" pitchFamily="18" charset="0"/>
                <a:cs typeface="Times New Roman" pitchFamily="18" charset="0"/>
              </a:rPr>
              <a:t>HRM in Small and Medium Enterprises</a:t>
            </a:r>
            <a:endParaRPr lang="en-US" sz="3600" dirty="0">
              <a:solidFill>
                <a:srgbClr val="FF0000"/>
              </a:solidFill>
            </a:endParaRPr>
          </a:p>
        </p:txBody>
      </p:sp>
      <p:sp>
        <p:nvSpPr>
          <p:cNvPr id="3" name="Content Placeholder 2"/>
          <p:cNvSpPr>
            <a:spLocks noGrp="1"/>
          </p:cNvSpPr>
          <p:nvPr>
            <p:ph idx="1"/>
          </p:nvPr>
        </p:nvSpPr>
        <p:spPr>
          <a:xfrm>
            <a:off x="457200" y="1219200"/>
            <a:ext cx="8382000" cy="5257800"/>
          </a:xfrm>
        </p:spPr>
        <p:txBody>
          <a:bodyPr/>
          <a:lstStyle/>
          <a:p>
            <a:pPr>
              <a:buNone/>
            </a:pPr>
            <a:r>
              <a:rPr lang="en-IN" dirty="0" smtClean="0">
                <a:latin typeface="Times New Roman" pitchFamily="18" charset="0"/>
                <a:cs typeface="Times New Roman" pitchFamily="18" charset="0"/>
              </a:rPr>
              <a:t>What is MSM Enterprises ??</a:t>
            </a:r>
          </a:p>
          <a:p>
            <a:pPr>
              <a:buNone/>
            </a:pPr>
            <a:endParaRPr lang="en-IN" dirty="0" smtClean="0"/>
          </a:p>
          <a:p>
            <a:pPr>
              <a:buNone/>
            </a:pPr>
            <a:endParaRPr lang="en-US" dirty="0"/>
          </a:p>
        </p:txBody>
      </p:sp>
      <p:graphicFrame>
        <p:nvGraphicFramePr>
          <p:cNvPr id="4" name="Table 3"/>
          <p:cNvGraphicFramePr>
            <a:graphicFrameLocks noGrp="1"/>
          </p:cNvGraphicFramePr>
          <p:nvPr/>
        </p:nvGraphicFramePr>
        <p:xfrm>
          <a:off x="533400" y="2286000"/>
          <a:ext cx="8229600" cy="3923557"/>
        </p:xfrm>
        <a:graphic>
          <a:graphicData uri="http://schemas.openxmlformats.org/drawingml/2006/table">
            <a:tbl>
              <a:tblPr firstRow="1" bandRow="1">
                <a:tableStyleId>{5C22544A-7EE6-4342-B048-85BDC9FD1C3A}</a:tableStyleId>
              </a:tblPr>
              <a:tblGrid>
                <a:gridCol w="2743200"/>
                <a:gridCol w="2743200"/>
                <a:gridCol w="2743200"/>
              </a:tblGrid>
              <a:tr h="906037">
                <a:tc>
                  <a:txBody>
                    <a:bodyPr/>
                    <a:lstStyle/>
                    <a:p>
                      <a:r>
                        <a:rPr lang="en-US" sz="2800" b="1" i="0" kern="1200" cap="all" smtClean="0">
                          <a:solidFill>
                            <a:srgbClr val="FF0000"/>
                          </a:solidFill>
                          <a:latin typeface="Times New Roman" pitchFamily="18" charset="0"/>
                          <a:ea typeface="+mn-ea"/>
                          <a:cs typeface="Times New Roman" pitchFamily="18" charset="0"/>
                        </a:rPr>
                        <a:t>Micro </a:t>
                      </a:r>
                      <a:endParaRPr lang="en-US" sz="2800" dirty="0">
                        <a:solidFill>
                          <a:srgbClr val="FF0000"/>
                        </a:solidFill>
                        <a:latin typeface="Times New Roman" pitchFamily="18" charset="0"/>
                        <a:cs typeface="Times New Roman" pitchFamily="18" charset="0"/>
                      </a:endParaRPr>
                    </a:p>
                  </a:txBody>
                  <a:tcPr/>
                </a:tc>
                <a:tc>
                  <a:txBody>
                    <a:bodyPr/>
                    <a:lstStyle/>
                    <a:p>
                      <a:r>
                        <a:rPr lang="en-US" sz="2800" b="1" i="0" kern="1200" cap="all" dirty="0" smtClean="0">
                          <a:solidFill>
                            <a:srgbClr val="FF0000"/>
                          </a:solidFill>
                          <a:latin typeface="Times New Roman" pitchFamily="18" charset="0"/>
                          <a:ea typeface="+mn-ea"/>
                          <a:cs typeface="Times New Roman" pitchFamily="18" charset="0"/>
                        </a:rPr>
                        <a:t>Small</a:t>
                      </a:r>
                      <a:endParaRPr lang="en-US" sz="2800" dirty="0">
                        <a:solidFill>
                          <a:srgbClr val="FF0000"/>
                        </a:solidFill>
                        <a:latin typeface="Times New Roman" pitchFamily="18" charset="0"/>
                        <a:cs typeface="Times New Roman" pitchFamily="18" charset="0"/>
                      </a:endParaRPr>
                    </a:p>
                  </a:txBody>
                  <a:tcPr/>
                </a:tc>
                <a:tc>
                  <a:txBody>
                    <a:bodyPr/>
                    <a:lstStyle/>
                    <a:p>
                      <a:pPr algn="l" fontAlgn="base"/>
                      <a:r>
                        <a:rPr lang="en-US" sz="2800" b="1" cap="all" dirty="0" smtClean="0">
                          <a:solidFill>
                            <a:srgbClr val="FF0000"/>
                          </a:solidFill>
                          <a:latin typeface="Times New Roman" pitchFamily="18" charset="0"/>
                          <a:cs typeface="Times New Roman" pitchFamily="18" charset="0"/>
                        </a:rPr>
                        <a:t>Medium</a:t>
                      </a:r>
                      <a:endParaRPr lang="en-US" sz="2800" b="1" cap="all" dirty="0">
                        <a:solidFill>
                          <a:srgbClr val="FF0000"/>
                        </a:solidFill>
                        <a:latin typeface="Times New Roman" pitchFamily="18" charset="0"/>
                        <a:cs typeface="Times New Roman" pitchFamily="18" charset="0"/>
                      </a:endParaRPr>
                    </a:p>
                  </a:txBody>
                  <a:tcPr marL="95250" marR="95250" marT="95250" marB="95250"/>
                </a:tc>
              </a:tr>
              <a:tr h="2065763">
                <a:tc>
                  <a:txBody>
                    <a:bodyPr/>
                    <a:lstStyle/>
                    <a:p>
                      <a:r>
                        <a:rPr lang="en-US" sz="2400" b="0" i="0" kern="1200" dirty="0" smtClean="0">
                          <a:solidFill>
                            <a:schemeClr val="dk1"/>
                          </a:solidFill>
                          <a:latin typeface="Times New Roman" pitchFamily="18" charset="0"/>
                          <a:ea typeface="+mn-ea"/>
                          <a:cs typeface="Times New Roman" pitchFamily="18" charset="0"/>
                        </a:rPr>
                        <a:t>Investment in Plant and Machinery or Equipment:</a:t>
                      </a:r>
                      <a:r>
                        <a:rPr lang="en-US" sz="2400" dirty="0" smtClean="0">
                          <a:latin typeface="Times New Roman" pitchFamily="18" charset="0"/>
                          <a:cs typeface="Times New Roman" pitchFamily="18" charset="0"/>
                        </a:rPr>
                        <a:t/>
                      </a:r>
                      <a:br>
                        <a:rPr lang="en-US" sz="2400" dirty="0" smtClean="0">
                          <a:latin typeface="Times New Roman" pitchFamily="18" charset="0"/>
                          <a:cs typeface="Times New Roman" pitchFamily="18" charset="0"/>
                        </a:rPr>
                      </a:br>
                      <a:r>
                        <a:rPr lang="en-US" sz="2400" b="0" i="0" kern="1200" dirty="0" smtClean="0">
                          <a:solidFill>
                            <a:schemeClr val="dk1"/>
                          </a:solidFill>
                          <a:latin typeface="Times New Roman" pitchFamily="18" charset="0"/>
                          <a:ea typeface="+mn-ea"/>
                          <a:cs typeface="Times New Roman" pitchFamily="18" charset="0"/>
                        </a:rPr>
                        <a:t>Not more than Rs. 2.5 </a:t>
                      </a:r>
                      <a:r>
                        <a:rPr lang="en-US" sz="2400" b="0" i="0" kern="1200" dirty="0" err="1" smtClean="0">
                          <a:solidFill>
                            <a:schemeClr val="dk1"/>
                          </a:solidFill>
                          <a:latin typeface="Times New Roman" pitchFamily="18" charset="0"/>
                          <a:ea typeface="+mn-ea"/>
                          <a:cs typeface="Times New Roman" pitchFamily="18" charset="0"/>
                        </a:rPr>
                        <a:t>crore</a:t>
                      </a:r>
                      <a:r>
                        <a:rPr lang="en-US" sz="2400" b="0" i="0" kern="1200" dirty="0" smtClean="0">
                          <a:solidFill>
                            <a:schemeClr val="dk1"/>
                          </a:solidFill>
                          <a:latin typeface="Times New Roman" pitchFamily="18" charset="0"/>
                          <a:ea typeface="+mn-ea"/>
                          <a:cs typeface="Times New Roman" pitchFamily="18" charset="0"/>
                        </a:rPr>
                        <a:t> and Annual Turnover not more than Rs. 10 </a:t>
                      </a:r>
                      <a:r>
                        <a:rPr lang="en-US" sz="2400" b="0" i="0" kern="1200" dirty="0" err="1" smtClean="0">
                          <a:solidFill>
                            <a:schemeClr val="dk1"/>
                          </a:solidFill>
                          <a:latin typeface="Times New Roman" pitchFamily="18" charset="0"/>
                          <a:ea typeface="+mn-ea"/>
                          <a:cs typeface="Times New Roman" pitchFamily="18" charset="0"/>
                        </a:rPr>
                        <a:t>crore</a:t>
                      </a:r>
                      <a:endParaRPr lang="en-US" sz="2400" dirty="0">
                        <a:latin typeface="Times New Roman" pitchFamily="18" charset="0"/>
                        <a:cs typeface="Times New Roman" pitchFamily="18" charset="0"/>
                      </a:endParaRPr>
                    </a:p>
                  </a:txBody>
                  <a:tcPr/>
                </a:tc>
                <a:tc>
                  <a:txBody>
                    <a:bodyPr/>
                    <a:lstStyle/>
                    <a:p>
                      <a:r>
                        <a:rPr lang="en-US" sz="2400" b="0" i="0" kern="1200" dirty="0" smtClean="0">
                          <a:solidFill>
                            <a:schemeClr val="dk1"/>
                          </a:solidFill>
                          <a:latin typeface="Times New Roman" pitchFamily="18" charset="0"/>
                          <a:ea typeface="+mn-ea"/>
                          <a:cs typeface="Times New Roman" pitchFamily="18" charset="0"/>
                        </a:rPr>
                        <a:t>Investment in Plant and Machinery or Equipment:</a:t>
                      </a:r>
                      <a:r>
                        <a:rPr lang="en-US" sz="2400" dirty="0" smtClean="0">
                          <a:latin typeface="Times New Roman" pitchFamily="18" charset="0"/>
                          <a:cs typeface="Times New Roman" pitchFamily="18" charset="0"/>
                        </a:rPr>
                        <a:t/>
                      </a:r>
                      <a:br>
                        <a:rPr lang="en-US" sz="2400" dirty="0" smtClean="0">
                          <a:latin typeface="Times New Roman" pitchFamily="18" charset="0"/>
                          <a:cs typeface="Times New Roman" pitchFamily="18" charset="0"/>
                        </a:rPr>
                      </a:br>
                      <a:r>
                        <a:rPr lang="en-US" sz="2400" b="0" i="0" kern="1200" dirty="0" smtClean="0">
                          <a:solidFill>
                            <a:schemeClr val="dk1"/>
                          </a:solidFill>
                          <a:latin typeface="Times New Roman" pitchFamily="18" charset="0"/>
                          <a:ea typeface="+mn-ea"/>
                          <a:cs typeface="Times New Roman" pitchFamily="18" charset="0"/>
                        </a:rPr>
                        <a:t>Not more than Rs. 25 </a:t>
                      </a:r>
                      <a:r>
                        <a:rPr lang="en-US" sz="2400" b="0" i="0" kern="1200" dirty="0" err="1" smtClean="0">
                          <a:solidFill>
                            <a:schemeClr val="dk1"/>
                          </a:solidFill>
                          <a:latin typeface="Times New Roman" pitchFamily="18" charset="0"/>
                          <a:ea typeface="+mn-ea"/>
                          <a:cs typeface="Times New Roman" pitchFamily="18" charset="0"/>
                        </a:rPr>
                        <a:t>crore</a:t>
                      </a:r>
                      <a:r>
                        <a:rPr lang="en-US" sz="2400" b="0" i="0" kern="1200" dirty="0" smtClean="0">
                          <a:solidFill>
                            <a:schemeClr val="dk1"/>
                          </a:solidFill>
                          <a:latin typeface="Times New Roman" pitchFamily="18" charset="0"/>
                          <a:ea typeface="+mn-ea"/>
                          <a:cs typeface="Times New Roman" pitchFamily="18" charset="0"/>
                        </a:rPr>
                        <a:t> and Annual Turnover not more than Rs. 100 </a:t>
                      </a:r>
                      <a:r>
                        <a:rPr lang="en-US" sz="2400" b="0" i="0" kern="1200" dirty="0" err="1" smtClean="0">
                          <a:solidFill>
                            <a:schemeClr val="dk1"/>
                          </a:solidFill>
                          <a:latin typeface="Times New Roman" pitchFamily="18" charset="0"/>
                          <a:ea typeface="+mn-ea"/>
                          <a:cs typeface="Times New Roman" pitchFamily="18" charset="0"/>
                        </a:rPr>
                        <a:t>crore</a:t>
                      </a:r>
                      <a:endParaRPr lang="en-US" sz="2400" dirty="0">
                        <a:latin typeface="Times New Roman" pitchFamily="18" charset="0"/>
                        <a:cs typeface="Times New Roman" pitchFamily="18" charset="0"/>
                      </a:endParaRPr>
                    </a:p>
                  </a:txBody>
                  <a:tcPr/>
                </a:tc>
                <a:tc>
                  <a:txBody>
                    <a:bodyPr/>
                    <a:lstStyle/>
                    <a:p>
                      <a:r>
                        <a:rPr lang="en-US" sz="2400" b="0" i="0" kern="1200" dirty="0" smtClean="0">
                          <a:solidFill>
                            <a:schemeClr val="dk1"/>
                          </a:solidFill>
                          <a:latin typeface="Times New Roman" pitchFamily="18" charset="0"/>
                          <a:ea typeface="+mn-ea"/>
                          <a:cs typeface="Times New Roman" pitchFamily="18" charset="0"/>
                        </a:rPr>
                        <a:t>Investment in Plant and Machinery or Equipment:</a:t>
                      </a:r>
                      <a:r>
                        <a:rPr lang="en-US" sz="2400" dirty="0" smtClean="0">
                          <a:latin typeface="Times New Roman" pitchFamily="18" charset="0"/>
                          <a:cs typeface="Times New Roman" pitchFamily="18" charset="0"/>
                        </a:rPr>
                        <a:t/>
                      </a:r>
                      <a:br>
                        <a:rPr lang="en-US" sz="2400" dirty="0" smtClean="0">
                          <a:latin typeface="Times New Roman" pitchFamily="18" charset="0"/>
                          <a:cs typeface="Times New Roman" pitchFamily="18" charset="0"/>
                        </a:rPr>
                      </a:br>
                      <a:r>
                        <a:rPr lang="en-US" sz="2400" b="0" i="0" kern="1200" dirty="0" smtClean="0">
                          <a:solidFill>
                            <a:schemeClr val="dk1"/>
                          </a:solidFill>
                          <a:latin typeface="Times New Roman" pitchFamily="18" charset="0"/>
                          <a:ea typeface="+mn-ea"/>
                          <a:cs typeface="Times New Roman" pitchFamily="18" charset="0"/>
                        </a:rPr>
                        <a:t>Not more than Rs. 125 </a:t>
                      </a:r>
                      <a:r>
                        <a:rPr lang="en-US" sz="2400" b="0" i="0" kern="1200" dirty="0" err="1" smtClean="0">
                          <a:solidFill>
                            <a:schemeClr val="dk1"/>
                          </a:solidFill>
                          <a:latin typeface="Times New Roman" pitchFamily="18" charset="0"/>
                          <a:ea typeface="+mn-ea"/>
                          <a:cs typeface="Times New Roman" pitchFamily="18" charset="0"/>
                        </a:rPr>
                        <a:t>crore</a:t>
                      </a:r>
                      <a:r>
                        <a:rPr lang="en-US" sz="2400" b="0" i="0" kern="1200" dirty="0" smtClean="0">
                          <a:solidFill>
                            <a:schemeClr val="dk1"/>
                          </a:solidFill>
                          <a:latin typeface="Times New Roman" pitchFamily="18" charset="0"/>
                          <a:ea typeface="+mn-ea"/>
                          <a:cs typeface="Times New Roman" pitchFamily="18" charset="0"/>
                        </a:rPr>
                        <a:t> and Annual Turnover not more than Rs. 500 </a:t>
                      </a:r>
                      <a:r>
                        <a:rPr lang="en-US" sz="2400" b="0" i="0" kern="1200" dirty="0" err="1" smtClean="0">
                          <a:solidFill>
                            <a:schemeClr val="dk1"/>
                          </a:solidFill>
                          <a:latin typeface="Times New Roman" pitchFamily="18" charset="0"/>
                          <a:ea typeface="+mn-ea"/>
                          <a:cs typeface="Times New Roman" pitchFamily="18" charset="0"/>
                        </a:rPr>
                        <a:t>crore</a:t>
                      </a:r>
                      <a:endParaRPr lang="en-US" sz="2400" dirty="0">
                        <a:latin typeface="Times New Roman" pitchFamily="18" charset="0"/>
                        <a:cs typeface="Times New Roman" pitchFamily="18" charset="0"/>
                      </a:endParaRPr>
                    </a:p>
                  </a:txBody>
                  <a:tcPr/>
                </a:tc>
              </a:tr>
            </a:tbl>
          </a:graphicData>
        </a:graphic>
      </p:graphicFrame>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IN" dirty="0" smtClean="0">
                <a:solidFill>
                  <a:srgbClr val="FF0000"/>
                </a:solidFill>
                <a:latin typeface="Times New Roman" pitchFamily="18" charset="0"/>
                <a:cs typeface="Times New Roman" pitchFamily="18" charset="0"/>
              </a:rPr>
              <a:t>Differences in HRM </a:t>
            </a:r>
            <a:endParaRPr lang="en-US" dirty="0">
              <a:solidFill>
                <a:srgbClr val="FF0000"/>
              </a:solidFill>
              <a:latin typeface="Times New Roman" pitchFamily="18" charset="0"/>
              <a:cs typeface="Times New Roman" pitchFamily="18" charset="0"/>
            </a:endParaRPr>
          </a:p>
        </p:txBody>
      </p:sp>
      <p:graphicFrame>
        <p:nvGraphicFramePr>
          <p:cNvPr id="4" name="Content Placeholder 3"/>
          <p:cNvGraphicFramePr>
            <a:graphicFrameLocks noGrp="1"/>
          </p:cNvGraphicFramePr>
          <p:nvPr>
            <p:ph idx="1"/>
          </p:nvPr>
        </p:nvGraphicFramePr>
        <p:xfrm>
          <a:off x="228600" y="1066800"/>
          <a:ext cx="8686800" cy="5577840"/>
        </p:xfrm>
        <a:graphic>
          <a:graphicData uri="http://schemas.openxmlformats.org/drawingml/2006/table">
            <a:tbl>
              <a:tblPr firstRow="1" bandRow="1">
                <a:tableStyleId>{5C22544A-7EE6-4342-B048-85BDC9FD1C3A}</a:tableStyleId>
              </a:tblPr>
              <a:tblGrid>
                <a:gridCol w="4343400"/>
                <a:gridCol w="4343400"/>
              </a:tblGrid>
              <a:tr h="370840">
                <a:tc>
                  <a:txBody>
                    <a:bodyPr/>
                    <a:lstStyle/>
                    <a:p>
                      <a:pPr algn="ctr"/>
                      <a:r>
                        <a:rPr lang="en-IN" sz="2400" dirty="0" smtClean="0">
                          <a:solidFill>
                            <a:srgbClr val="FF0000"/>
                          </a:solidFill>
                          <a:latin typeface="Times New Roman" pitchFamily="18" charset="0"/>
                          <a:cs typeface="Times New Roman" pitchFamily="18" charset="0"/>
                        </a:rPr>
                        <a:t>Small Scale Industries</a:t>
                      </a:r>
                      <a:endParaRPr lang="en-US" sz="2400" dirty="0">
                        <a:solidFill>
                          <a:srgbClr val="FF0000"/>
                        </a:solidFill>
                        <a:latin typeface="Times New Roman" pitchFamily="18" charset="0"/>
                        <a:cs typeface="Times New Roman" pitchFamily="18" charset="0"/>
                      </a:endParaRPr>
                    </a:p>
                  </a:txBody>
                  <a:tcPr/>
                </a:tc>
                <a:tc>
                  <a:txBody>
                    <a:bodyPr/>
                    <a:lstStyle/>
                    <a:p>
                      <a:pPr algn="ctr"/>
                      <a:r>
                        <a:rPr lang="en-IN" sz="2400" dirty="0" smtClean="0">
                          <a:solidFill>
                            <a:srgbClr val="FF0000"/>
                          </a:solidFill>
                          <a:latin typeface="Times New Roman" pitchFamily="18" charset="0"/>
                          <a:cs typeface="Times New Roman" pitchFamily="18" charset="0"/>
                        </a:rPr>
                        <a:t>Large Scale Industries</a:t>
                      </a:r>
                      <a:endParaRPr lang="en-US" sz="2400" dirty="0">
                        <a:solidFill>
                          <a:srgbClr val="FF0000"/>
                        </a:solidFill>
                        <a:latin typeface="Times New Roman" pitchFamily="18" charset="0"/>
                        <a:cs typeface="Times New Roman" pitchFamily="18" charset="0"/>
                      </a:endParaRPr>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kern="1200" baseline="0" dirty="0" smtClean="0">
                          <a:solidFill>
                            <a:schemeClr val="dk1"/>
                          </a:solidFill>
                          <a:latin typeface="Times New Roman" pitchFamily="18" charset="0"/>
                          <a:ea typeface="+mn-ea"/>
                          <a:cs typeface="Times New Roman" pitchFamily="18" charset="0"/>
                        </a:rPr>
                        <a:t>These have more Non-Structured recruitment practices </a:t>
                      </a:r>
                    </a:p>
                    <a:p>
                      <a:endParaRPr lang="en-US" b="0" dirty="0">
                        <a:latin typeface="Times New Roman" pitchFamily="18" charset="0"/>
                        <a:cs typeface="Times New Roman" pitchFamily="18" charset="0"/>
                      </a:endParaRPr>
                    </a:p>
                  </a:txBody>
                  <a:tcPr/>
                </a:tc>
                <a:tc>
                  <a:txBody>
                    <a:bodyPr/>
                    <a:lstStyle/>
                    <a:p>
                      <a:r>
                        <a:rPr lang="en-US" sz="1800" b="0" kern="1200" baseline="0" dirty="0" smtClean="0">
                          <a:solidFill>
                            <a:schemeClr val="dk1"/>
                          </a:solidFill>
                          <a:latin typeface="Times New Roman" pitchFamily="18" charset="0"/>
                          <a:ea typeface="+mn-ea"/>
                          <a:cs typeface="Times New Roman" pitchFamily="18" charset="0"/>
                        </a:rPr>
                        <a:t>These have more Structured recruitment practices </a:t>
                      </a:r>
                    </a:p>
                    <a:p>
                      <a:endParaRPr lang="en-US" b="0" dirty="0">
                        <a:latin typeface="Times New Roman" pitchFamily="18" charset="0"/>
                        <a:cs typeface="Times New Roman" pitchFamily="18" charset="0"/>
                      </a:endParaRPr>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kern="1200" baseline="0" dirty="0" smtClean="0">
                          <a:solidFill>
                            <a:schemeClr val="dk1"/>
                          </a:solidFill>
                          <a:latin typeface="Times New Roman" pitchFamily="18" charset="0"/>
                          <a:ea typeface="+mn-ea"/>
                          <a:cs typeface="Times New Roman" pitchFamily="18" charset="0"/>
                        </a:rPr>
                        <a:t>Negligible level of overall HRM sophistication. </a:t>
                      </a:r>
                    </a:p>
                    <a:p>
                      <a:endParaRPr lang="en-US" b="0" dirty="0">
                        <a:latin typeface="Times New Roman" pitchFamily="18" charset="0"/>
                        <a:cs typeface="Times New Roman" pitchFamily="18" charset="0"/>
                      </a:endParaRPr>
                    </a:p>
                  </a:txBody>
                  <a:tcPr/>
                </a:tc>
                <a:tc>
                  <a:txBody>
                    <a:bodyPr/>
                    <a:lstStyle/>
                    <a:p>
                      <a:r>
                        <a:rPr lang="en-US" sz="1800" b="0" kern="1200" baseline="0" dirty="0" smtClean="0">
                          <a:solidFill>
                            <a:schemeClr val="dk1"/>
                          </a:solidFill>
                          <a:latin typeface="Times New Roman" pitchFamily="18" charset="0"/>
                          <a:ea typeface="+mn-ea"/>
                          <a:cs typeface="Times New Roman" pitchFamily="18" charset="0"/>
                        </a:rPr>
                        <a:t>Higher level of overall HRM sophistication. </a:t>
                      </a:r>
                    </a:p>
                    <a:p>
                      <a:endParaRPr lang="en-US" b="0" dirty="0">
                        <a:latin typeface="Times New Roman" pitchFamily="18" charset="0"/>
                        <a:cs typeface="Times New Roman" pitchFamily="18" charset="0"/>
                      </a:endParaRPr>
                    </a:p>
                  </a:txBody>
                  <a:tcPr/>
                </a:tc>
              </a:tr>
              <a:tr h="370840">
                <a:tc>
                  <a:txBody>
                    <a:bodyPr/>
                    <a:lstStyle/>
                    <a:p>
                      <a:r>
                        <a:rPr lang="en-US" sz="1800" b="0" kern="1200" baseline="0" dirty="0" smtClean="0">
                          <a:solidFill>
                            <a:schemeClr val="dk1"/>
                          </a:solidFill>
                          <a:latin typeface="Times New Roman" pitchFamily="18" charset="0"/>
                          <a:ea typeface="+mn-ea"/>
                          <a:cs typeface="Times New Roman" pitchFamily="18" charset="0"/>
                        </a:rPr>
                        <a:t>Fewer probabilities for formal training for both managers and employees </a:t>
                      </a:r>
                    </a:p>
                    <a:p>
                      <a:endParaRPr lang="en-US" b="0" dirty="0">
                        <a:latin typeface="Times New Roman" pitchFamily="18" charset="0"/>
                        <a:cs typeface="Times New Roman" pitchFamily="18" charset="0"/>
                      </a:endParaRPr>
                    </a:p>
                  </a:txBody>
                  <a:tcPr/>
                </a:tc>
                <a:tc>
                  <a:txBody>
                    <a:bodyPr/>
                    <a:lstStyle/>
                    <a:p>
                      <a:r>
                        <a:rPr lang="en-US" sz="1800" b="0" kern="1200" baseline="0" dirty="0" smtClean="0">
                          <a:solidFill>
                            <a:schemeClr val="dk1"/>
                          </a:solidFill>
                          <a:latin typeface="Times New Roman" pitchFamily="18" charset="0"/>
                          <a:ea typeface="+mn-ea"/>
                          <a:cs typeface="Times New Roman" pitchFamily="18" charset="0"/>
                        </a:rPr>
                        <a:t>Structured Training and Development practices were carried out.</a:t>
                      </a:r>
                      <a:endParaRPr lang="en-US" b="0" dirty="0">
                        <a:latin typeface="Times New Roman" pitchFamily="18" charset="0"/>
                        <a:cs typeface="Times New Roman" pitchFamily="18" charset="0"/>
                      </a:endParaRPr>
                    </a:p>
                  </a:txBody>
                  <a:tcPr/>
                </a:tc>
              </a:tr>
              <a:tr h="370840">
                <a:tc>
                  <a:txBody>
                    <a:bodyPr/>
                    <a:lstStyle/>
                    <a:p>
                      <a:r>
                        <a:rPr lang="en-US" sz="1800" b="0" kern="1200" baseline="0" dirty="0" smtClean="0">
                          <a:solidFill>
                            <a:schemeClr val="dk1"/>
                          </a:solidFill>
                          <a:latin typeface="Times New Roman" pitchFamily="18" charset="0"/>
                          <a:ea typeface="+mn-ea"/>
                          <a:cs typeface="Times New Roman" pitchFamily="18" charset="0"/>
                        </a:rPr>
                        <a:t>Have less formalized performance appraisals, less likelihood of bonuses based on company productivity </a:t>
                      </a:r>
                    </a:p>
                    <a:p>
                      <a:endParaRPr lang="en-US" b="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kern="1200" baseline="0" dirty="0" smtClean="0">
                          <a:solidFill>
                            <a:schemeClr val="dk1"/>
                          </a:solidFill>
                          <a:latin typeface="Times New Roman" pitchFamily="18" charset="0"/>
                          <a:ea typeface="+mn-ea"/>
                          <a:cs typeface="Times New Roman" pitchFamily="18" charset="0"/>
                        </a:rPr>
                        <a:t>Have formalized performance appraisals, less likelihood of bonuses based on company productivity </a:t>
                      </a:r>
                    </a:p>
                    <a:p>
                      <a:endParaRPr lang="en-US" b="0" dirty="0">
                        <a:latin typeface="Times New Roman" pitchFamily="18" charset="0"/>
                        <a:cs typeface="Times New Roman" pitchFamily="18" charset="0"/>
                      </a:endParaRPr>
                    </a:p>
                  </a:txBody>
                  <a:tcPr/>
                </a:tc>
              </a:tr>
              <a:tr h="370840">
                <a:tc>
                  <a:txBody>
                    <a:bodyPr/>
                    <a:lstStyle/>
                    <a:p>
                      <a:r>
                        <a:rPr lang="en-US" sz="1800" b="0" kern="1200" baseline="0" dirty="0" smtClean="0">
                          <a:solidFill>
                            <a:schemeClr val="dk1"/>
                          </a:solidFill>
                          <a:latin typeface="Times New Roman" pitchFamily="18" charset="0"/>
                          <a:ea typeface="+mn-ea"/>
                          <a:cs typeface="Times New Roman" pitchFamily="18" charset="0"/>
                        </a:rPr>
                        <a:t>Provide more power to the managers, making the managerial prerogative largely unrestricted. </a:t>
                      </a:r>
                    </a:p>
                    <a:p>
                      <a:endParaRPr lang="en-US" b="0" dirty="0">
                        <a:latin typeface="Times New Roman" pitchFamily="18" charset="0"/>
                        <a:cs typeface="Times New Roman" pitchFamily="18" charset="0"/>
                      </a:endParaRPr>
                    </a:p>
                  </a:txBody>
                  <a:tcPr/>
                </a:tc>
                <a:tc>
                  <a:txBody>
                    <a:bodyPr/>
                    <a:lstStyle/>
                    <a:p>
                      <a:r>
                        <a:rPr lang="en-US" sz="1800" b="0" kern="1200" baseline="0" dirty="0" smtClean="0">
                          <a:solidFill>
                            <a:schemeClr val="dk1"/>
                          </a:solidFill>
                          <a:latin typeface="Times New Roman" pitchFamily="18" charset="0"/>
                          <a:ea typeface="+mn-ea"/>
                          <a:cs typeface="Times New Roman" pitchFamily="18" charset="0"/>
                        </a:rPr>
                        <a:t>Power to make decision is limited the managers</a:t>
                      </a:r>
                      <a:endParaRPr lang="en-US" b="0" dirty="0">
                        <a:latin typeface="Times New Roman" pitchFamily="18" charset="0"/>
                        <a:cs typeface="Times New Roman" pitchFamily="18" charset="0"/>
                      </a:endParaRPr>
                    </a:p>
                  </a:txBody>
                  <a:tcPr/>
                </a:tc>
              </a:tr>
            </a:tbl>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IN" sz="3600" dirty="0" smtClean="0">
                <a:solidFill>
                  <a:srgbClr val="FF0000"/>
                </a:solidFill>
                <a:latin typeface="Times New Roman" pitchFamily="18" charset="0"/>
                <a:cs typeface="Times New Roman" pitchFamily="18" charset="0"/>
              </a:rPr>
              <a:t>Impact of Weak Adoption of HRM in SME</a:t>
            </a:r>
            <a:endParaRPr lang="en-US" sz="36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371600"/>
            <a:ext cx="8229600" cy="5105400"/>
          </a:xfrm>
        </p:spPr>
        <p:txBody>
          <a:bodyPr>
            <a:normAutofit fontScale="92500" lnSpcReduction="10000"/>
          </a:bodyPr>
          <a:lstStyle/>
          <a:p>
            <a:pPr algn="just">
              <a:lnSpc>
                <a:spcPct val="150000"/>
              </a:lnSpc>
              <a:buFont typeface="Wingdings" pitchFamily="2" charset="2"/>
              <a:buChar char="ü"/>
            </a:pPr>
            <a:r>
              <a:rPr lang="en-US" sz="2800" dirty="0" smtClean="0">
                <a:latin typeface="Times New Roman" pitchFamily="18" charset="0"/>
                <a:cs typeface="Times New Roman" pitchFamily="18" charset="0"/>
              </a:rPr>
              <a:t>Hiring new employees is a major time and financial commitment for a small business.</a:t>
            </a:r>
          </a:p>
          <a:p>
            <a:pPr algn="just">
              <a:lnSpc>
                <a:spcPct val="150000"/>
              </a:lnSpc>
              <a:buFont typeface="Wingdings" pitchFamily="2" charset="2"/>
              <a:buChar char="ü"/>
            </a:pPr>
            <a:r>
              <a:rPr lang="en-US" sz="2800" dirty="0" smtClean="0">
                <a:latin typeface="Times New Roman" pitchFamily="18" charset="0"/>
                <a:cs typeface="Times New Roman" pitchFamily="18" charset="0"/>
              </a:rPr>
              <a:t>Don't have the time to properly train new hires.</a:t>
            </a:r>
          </a:p>
          <a:p>
            <a:pPr algn="just">
              <a:lnSpc>
                <a:spcPct val="150000"/>
              </a:lnSpc>
              <a:buFont typeface="Wingdings" pitchFamily="2" charset="2"/>
              <a:buChar char="ü"/>
            </a:pPr>
            <a:r>
              <a:rPr lang="en-US" sz="2800" dirty="0" smtClean="0">
                <a:latin typeface="Times New Roman" pitchFamily="18" charset="0"/>
                <a:cs typeface="Times New Roman" pitchFamily="18" charset="0"/>
              </a:rPr>
              <a:t>Managing payroll and filing taxes can be a time-consuming and challenging task.</a:t>
            </a:r>
          </a:p>
          <a:p>
            <a:pPr algn="just">
              <a:lnSpc>
                <a:spcPct val="150000"/>
              </a:lnSpc>
              <a:buFont typeface="Wingdings" pitchFamily="2" charset="2"/>
              <a:buChar char="ü"/>
            </a:pPr>
            <a:r>
              <a:rPr lang="en-US" sz="2800" dirty="0" smtClean="0">
                <a:latin typeface="Times New Roman" pitchFamily="18" charset="0"/>
                <a:cs typeface="Times New Roman" pitchFamily="18" charset="0"/>
              </a:rPr>
              <a:t>Poor Employee benefits Scheme.</a:t>
            </a:r>
          </a:p>
          <a:p>
            <a:pPr algn="just">
              <a:lnSpc>
                <a:spcPct val="150000"/>
              </a:lnSpc>
              <a:buFont typeface="Wingdings" pitchFamily="2" charset="2"/>
              <a:buChar char="ü"/>
            </a:pPr>
            <a:r>
              <a:rPr lang="en-US" sz="2800" dirty="0" smtClean="0">
                <a:latin typeface="Times New Roman" pitchFamily="18" charset="0"/>
                <a:cs typeface="Times New Roman" pitchFamily="18" charset="0"/>
              </a:rPr>
              <a:t>it is difficult for small businesses to retain quality employees.</a:t>
            </a:r>
          </a:p>
          <a:p>
            <a:pPr>
              <a:buNone/>
            </a:pPr>
            <a:endParaRPr lang="en-US" dirty="0" smtClean="0"/>
          </a:p>
          <a:p>
            <a:pPr>
              <a:buNone/>
            </a:pPr>
            <a:endParaRPr lang="en-US" dirty="0" smtClean="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a:bodyPr>
          <a:lstStyle/>
          <a:p>
            <a:pPr algn="l"/>
            <a:r>
              <a:rPr lang="en-US" b="1" dirty="0" smtClean="0">
                <a:solidFill>
                  <a:srgbClr val="FF0000"/>
                </a:solidFill>
                <a:latin typeface="Times New Roman" pitchFamily="18" charset="0"/>
                <a:cs typeface="Times New Roman" pitchFamily="18" charset="0"/>
              </a:rPr>
              <a:t>HRM in the Service Sector</a:t>
            </a:r>
            <a:endParaRPr lang="en-US" dirty="0">
              <a:solidFill>
                <a:srgbClr val="FF0000"/>
              </a:solidFill>
            </a:endParaRPr>
          </a:p>
        </p:txBody>
      </p:sp>
      <p:sp>
        <p:nvSpPr>
          <p:cNvPr id="3" name="Content Placeholder 2"/>
          <p:cNvSpPr>
            <a:spLocks noGrp="1"/>
          </p:cNvSpPr>
          <p:nvPr>
            <p:ph idx="1"/>
          </p:nvPr>
        </p:nvSpPr>
        <p:spPr>
          <a:xfrm>
            <a:off x="457200" y="1295400"/>
            <a:ext cx="8229600" cy="5334000"/>
          </a:xfrm>
        </p:spPr>
        <p:txBody>
          <a:bodyPr>
            <a:normAutofit fontScale="92500" lnSpcReduction="10000"/>
          </a:bodyPr>
          <a:lstStyle/>
          <a:p>
            <a:pPr algn="just">
              <a:buNone/>
            </a:pPr>
            <a:r>
              <a:rPr lang="en-US" dirty="0" smtClean="0">
                <a:latin typeface="Times New Roman" pitchFamily="18" charset="0"/>
                <a:cs typeface="Times New Roman" pitchFamily="18" charset="0"/>
              </a:rPr>
              <a:t>		Service can be defined as the production of intangible benefits and experience, either alone or as part of a tangible product, through some form of exchange, with the intention of satisfying the needs, wants and desires of the consumers.</a:t>
            </a:r>
          </a:p>
          <a:p>
            <a:pPr algn="just">
              <a:buNone/>
            </a:pPr>
            <a:r>
              <a:rPr lang="en-US" dirty="0" smtClean="0">
                <a:latin typeface="Times New Roman" pitchFamily="18" charset="0"/>
                <a:cs typeface="Times New Roman" pitchFamily="18" charset="0"/>
              </a:rPr>
              <a:t>		According to Philip </a:t>
            </a:r>
            <a:r>
              <a:rPr lang="en-US" dirty="0" err="1" smtClean="0">
                <a:latin typeface="Times New Roman" pitchFamily="18" charset="0"/>
                <a:cs typeface="Times New Roman" pitchFamily="18" charset="0"/>
              </a:rPr>
              <a:t>Kotler</a:t>
            </a:r>
            <a:r>
              <a:rPr lang="en-US" dirty="0" smtClean="0">
                <a:latin typeface="Times New Roman" pitchFamily="18" charset="0"/>
                <a:cs typeface="Times New Roman" pitchFamily="18" charset="0"/>
              </a:rPr>
              <a:t> “A Service is an act of performance that one party can offer to another that is essentially intangible and does not result in the ownership of anything. Its production may or may not be tied to a physical product.”</a:t>
            </a:r>
          </a:p>
          <a:p>
            <a:pPr algn="just">
              <a:buNone/>
            </a:pPr>
            <a:r>
              <a:rPr lang="en-US" dirty="0" smtClean="0">
                <a:latin typeface="Times New Roman" pitchFamily="18" charset="0"/>
                <a:cs typeface="Times New Roman" pitchFamily="18" charset="0"/>
              </a:rPr>
              <a:t>		In short, services are deeds, processes and performances.</a:t>
            </a:r>
          </a:p>
          <a:p>
            <a:pPr>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smtClean="0">
                <a:solidFill>
                  <a:srgbClr val="FF0000"/>
                </a:solidFill>
                <a:latin typeface="Times New Roman" pitchFamily="18" charset="0"/>
                <a:cs typeface="Times New Roman" pitchFamily="18" charset="0"/>
              </a:rPr>
              <a:t>Services Sector V/s Manufacturing Sector</a:t>
            </a:r>
            <a:endParaRPr lang="en-US" dirty="0">
              <a:solidFill>
                <a:srgbClr val="FF0000"/>
              </a:solidFill>
              <a:latin typeface="Times New Roman" pitchFamily="18" charset="0"/>
              <a:cs typeface="Times New Roman" pitchFamily="18" charset="0"/>
            </a:endParaRPr>
          </a:p>
        </p:txBody>
      </p:sp>
      <p:graphicFrame>
        <p:nvGraphicFramePr>
          <p:cNvPr id="4" name="Content Placeholder 3"/>
          <p:cNvGraphicFramePr>
            <a:graphicFrameLocks noGrp="1"/>
          </p:cNvGraphicFramePr>
          <p:nvPr>
            <p:ph idx="1"/>
          </p:nvPr>
        </p:nvGraphicFramePr>
        <p:xfrm>
          <a:off x="457200" y="1447800"/>
          <a:ext cx="8305800" cy="4800600"/>
        </p:xfrm>
        <a:graphic>
          <a:graphicData uri="http://schemas.openxmlformats.org/drawingml/2006/table">
            <a:tbl>
              <a:tblPr firstRow="1" bandRow="1">
                <a:tableStyleId>{5C22544A-7EE6-4342-B048-85BDC9FD1C3A}</a:tableStyleId>
              </a:tblPr>
              <a:tblGrid>
                <a:gridCol w="4152900"/>
                <a:gridCol w="4152900"/>
              </a:tblGrid>
              <a:tr h="587008">
                <a:tc>
                  <a:txBody>
                    <a:bodyPr/>
                    <a:lstStyle/>
                    <a:p>
                      <a:r>
                        <a:rPr lang="en-US" sz="2400" dirty="0" smtClean="0">
                          <a:solidFill>
                            <a:srgbClr val="FF0000"/>
                          </a:solidFill>
                          <a:latin typeface="Times New Roman" pitchFamily="18" charset="0"/>
                          <a:cs typeface="Times New Roman" pitchFamily="18" charset="0"/>
                        </a:rPr>
                        <a:t>Services Sector </a:t>
                      </a:r>
                      <a:endParaRPr lang="en-US" sz="2400" dirty="0">
                        <a:solidFill>
                          <a:srgbClr val="FF0000"/>
                        </a:solidFill>
                        <a:latin typeface="Times New Roman" pitchFamily="18" charset="0"/>
                        <a:cs typeface="Times New Roman" pitchFamily="18" charset="0"/>
                      </a:endParaRPr>
                    </a:p>
                  </a:txBody>
                  <a:tcPr/>
                </a:tc>
                <a:tc>
                  <a:txBody>
                    <a:bodyPr/>
                    <a:lstStyle/>
                    <a:p>
                      <a:r>
                        <a:rPr lang="en-US" sz="2400" dirty="0" smtClean="0">
                          <a:solidFill>
                            <a:srgbClr val="FF0000"/>
                          </a:solidFill>
                          <a:latin typeface="Times New Roman" pitchFamily="18" charset="0"/>
                          <a:cs typeface="Times New Roman" pitchFamily="18" charset="0"/>
                        </a:rPr>
                        <a:t>Manufacturing Sector</a:t>
                      </a:r>
                      <a:endParaRPr lang="en-US" sz="2400" dirty="0">
                        <a:solidFill>
                          <a:srgbClr val="FF0000"/>
                        </a:solidFill>
                        <a:latin typeface="Times New Roman" pitchFamily="18" charset="0"/>
                        <a:cs typeface="Times New Roman" pitchFamily="18" charset="0"/>
                      </a:endParaRPr>
                    </a:p>
                  </a:txBody>
                  <a:tcPr/>
                </a:tc>
              </a:tr>
              <a:tr h="587008">
                <a:tc>
                  <a:txBody>
                    <a:bodyPr/>
                    <a:lstStyle/>
                    <a:p>
                      <a:r>
                        <a:rPr lang="en-US" sz="2400" kern="1200" dirty="0" smtClean="0">
                          <a:solidFill>
                            <a:schemeClr val="dk1"/>
                          </a:solidFill>
                          <a:latin typeface="Times New Roman" pitchFamily="18" charset="0"/>
                          <a:ea typeface="+mn-ea"/>
                          <a:cs typeface="Times New Roman" pitchFamily="18" charset="0"/>
                        </a:rPr>
                        <a:t>Intangibility</a:t>
                      </a:r>
                      <a:endParaRPr lang="en-US" sz="2400" dirty="0">
                        <a:latin typeface="Times New Roman" pitchFamily="18" charset="0"/>
                        <a:cs typeface="Times New Roman" pitchFamily="18" charset="0"/>
                      </a:endParaRPr>
                    </a:p>
                  </a:txBody>
                  <a:tcPr/>
                </a:tc>
                <a:tc>
                  <a:txBody>
                    <a:bodyPr/>
                    <a:lstStyle/>
                    <a:p>
                      <a:r>
                        <a:rPr lang="en-US" sz="2400" kern="1200" dirty="0" smtClean="0">
                          <a:solidFill>
                            <a:schemeClr val="dk1"/>
                          </a:solidFill>
                          <a:latin typeface="Times New Roman" pitchFamily="18" charset="0"/>
                          <a:ea typeface="+mn-ea"/>
                          <a:cs typeface="Times New Roman" pitchFamily="18" charset="0"/>
                        </a:rPr>
                        <a:t>Tangibility</a:t>
                      </a:r>
                      <a:endParaRPr lang="en-US" sz="2400" dirty="0">
                        <a:latin typeface="Times New Roman" pitchFamily="18" charset="0"/>
                        <a:cs typeface="Times New Roman" pitchFamily="18" charset="0"/>
                      </a:endParaRPr>
                    </a:p>
                  </a:txBody>
                  <a:tcPr/>
                </a:tc>
              </a:tr>
              <a:tr h="1013192">
                <a:tc>
                  <a:txBody>
                    <a:bodyPr/>
                    <a:lstStyle/>
                    <a:p>
                      <a:r>
                        <a:rPr lang="en-US" sz="2400" kern="1200" dirty="0" smtClean="0">
                          <a:solidFill>
                            <a:schemeClr val="dk1"/>
                          </a:solidFill>
                          <a:latin typeface="Times New Roman" pitchFamily="18" charset="0"/>
                          <a:ea typeface="+mn-ea"/>
                          <a:cs typeface="Times New Roman" pitchFamily="18" charset="0"/>
                        </a:rPr>
                        <a:t>Heterogeneity &amp; Difficult to Standardized</a:t>
                      </a:r>
                      <a:endParaRPr lang="en-US" sz="2400" dirty="0">
                        <a:latin typeface="Times New Roman" pitchFamily="18" charset="0"/>
                        <a:cs typeface="Times New Roman" pitchFamily="18" charset="0"/>
                      </a:endParaRPr>
                    </a:p>
                  </a:txBody>
                  <a:tcPr/>
                </a:tc>
                <a:tc>
                  <a:txBody>
                    <a:bodyPr/>
                    <a:lstStyle/>
                    <a:p>
                      <a:r>
                        <a:rPr lang="en-US" sz="2400" dirty="0" smtClean="0">
                          <a:latin typeface="Times New Roman" pitchFamily="18" charset="0"/>
                          <a:cs typeface="Times New Roman" pitchFamily="18" charset="0"/>
                        </a:rPr>
                        <a:t>Easy</a:t>
                      </a:r>
                      <a:r>
                        <a:rPr lang="en-US" sz="2400" baseline="0" dirty="0" smtClean="0">
                          <a:latin typeface="Times New Roman" pitchFamily="18" charset="0"/>
                          <a:cs typeface="Times New Roman" pitchFamily="18" charset="0"/>
                        </a:rPr>
                        <a:t> to Standardized</a:t>
                      </a:r>
                      <a:endParaRPr lang="en-US" sz="2400" dirty="0">
                        <a:latin typeface="Times New Roman" pitchFamily="18" charset="0"/>
                        <a:cs typeface="Times New Roman" pitchFamily="18" charset="0"/>
                      </a:endParaRPr>
                    </a:p>
                  </a:txBody>
                  <a:tcPr/>
                </a:tc>
              </a:tr>
              <a:tr h="1013192">
                <a:tc>
                  <a:txBody>
                    <a:bodyPr/>
                    <a:lstStyle/>
                    <a:p>
                      <a:r>
                        <a:rPr lang="en-US" sz="2400" dirty="0" smtClean="0">
                          <a:latin typeface="Times New Roman" pitchFamily="18" charset="0"/>
                          <a:cs typeface="Times New Roman" pitchFamily="18" charset="0"/>
                        </a:rPr>
                        <a:t>Simultaneous Production and Consumption</a:t>
                      </a:r>
                      <a:endParaRPr lang="en-US" sz="2400" dirty="0">
                        <a:latin typeface="Times New Roman" pitchFamily="18" charset="0"/>
                        <a:cs typeface="Times New Roman" pitchFamily="18" charset="0"/>
                      </a:endParaRPr>
                    </a:p>
                  </a:txBody>
                  <a:tcPr/>
                </a:tc>
                <a:tc>
                  <a:txBody>
                    <a:bodyPr/>
                    <a:lstStyle/>
                    <a:p>
                      <a:r>
                        <a:rPr lang="en-US" sz="2400" dirty="0" smtClean="0">
                          <a:latin typeface="Times New Roman" pitchFamily="18" charset="0"/>
                          <a:cs typeface="Times New Roman" pitchFamily="18" charset="0"/>
                        </a:rPr>
                        <a:t>Production and Consumption occurs separately.</a:t>
                      </a:r>
                      <a:endParaRPr lang="en-US" sz="2400" dirty="0">
                        <a:latin typeface="Times New Roman" pitchFamily="18" charset="0"/>
                        <a:cs typeface="Times New Roman" pitchFamily="18" charset="0"/>
                      </a:endParaRPr>
                    </a:p>
                  </a:txBody>
                  <a:tcPr/>
                </a:tc>
              </a:tr>
              <a:tr h="587008">
                <a:tc>
                  <a:txBody>
                    <a:bodyPr/>
                    <a:lstStyle/>
                    <a:p>
                      <a:r>
                        <a:rPr lang="en-US" sz="2400" kern="1200" dirty="0" smtClean="0">
                          <a:solidFill>
                            <a:schemeClr val="dk1"/>
                          </a:solidFill>
                          <a:latin typeface="Times New Roman" pitchFamily="18" charset="0"/>
                          <a:ea typeface="+mn-ea"/>
                          <a:cs typeface="Times New Roman" pitchFamily="18" charset="0"/>
                        </a:rPr>
                        <a:t>Perishable</a:t>
                      </a:r>
                      <a:endParaRPr lang="en-US" sz="2400" dirty="0">
                        <a:latin typeface="Times New Roman" pitchFamily="18" charset="0"/>
                        <a:cs typeface="Times New Roman" pitchFamily="18" charset="0"/>
                      </a:endParaRPr>
                    </a:p>
                  </a:txBody>
                  <a:tcPr/>
                </a:tc>
                <a:tc>
                  <a:txBody>
                    <a:bodyPr/>
                    <a:lstStyle/>
                    <a:p>
                      <a:r>
                        <a:rPr lang="en-US" sz="2400" dirty="0" smtClean="0">
                          <a:latin typeface="Times New Roman" pitchFamily="18" charset="0"/>
                          <a:cs typeface="Times New Roman" pitchFamily="18" charset="0"/>
                        </a:rPr>
                        <a:t>Non-Perishable (Durable)</a:t>
                      </a:r>
                      <a:endParaRPr lang="en-US" sz="2400" dirty="0">
                        <a:latin typeface="Times New Roman" pitchFamily="18" charset="0"/>
                        <a:cs typeface="Times New Roman" pitchFamily="18" charset="0"/>
                      </a:endParaRPr>
                    </a:p>
                  </a:txBody>
                  <a:tcPr/>
                </a:tc>
              </a:tr>
              <a:tr h="101319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kern="1200" dirty="0" smtClean="0">
                          <a:solidFill>
                            <a:schemeClr val="dk1"/>
                          </a:solidFill>
                          <a:latin typeface="Times New Roman" pitchFamily="18" charset="0"/>
                          <a:ea typeface="+mn-ea"/>
                          <a:cs typeface="Times New Roman" pitchFamily="18" charset="0"/>
                        </a:rPr>
                        <a:t>Ownership  can be transferred</a:t>
                      </a:r>
                      <a:endParaRPr lang="en-US" sz="2400" dirty="0" smtClean="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txBody>
                  <a:tcPr/>
                </a:tc>
                <a:tc>
                  <a:txBody>
                    <a:bodyPr/>
                    <a:lstStyle/>
                    <a:p>
                      <a:r>
                        <a:rPr lang="en-US" sz="2400" kern="1200" dirty="0" smtClean="0">
                          <a:solidFill>
                            <a:schemeClr val="dk1"/>
                          </a:solidFill>
                          <a:latin typeface="Times New Roman" pitchFamily="18" charset="0"/>
                          <a:ea typeface="+mn-ea"/>
                          <a:cs typeface="Times New Roman" pitchFamily="18" charset="0"/>
                        </a:rPr>
                        <a:t>Ownership  can be transferred</a:t>
                      </a:r>
                      <a:endParaRPr lang="en-US" sz="2400" dirty="0">
                        <a:latin typeface="Times New Roman" pitchFamily="18" charset="0"/>
                        <a:cs typeface="Times New Roman" pitchFamily="18" charset="0"/>
                      </a:endParaRPr>
                    </a:p>
                  </a:txBody>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rgbClr val="FF0000"/>
                </a:solidFill>
                <a:latin typeface="Times New Roman" pitchFamily="18" charset="0"/>
                <a:cs typeface="Times New Roman" pitchFamily="18" charset="0"/>
              </a:rPr>
              <a:t>The Emergence of the Services Sector</a:t>
            </a:r>
            <a:endParaRPr lang="en-US"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371600"/>
            <a:ext cx="8229600" cy="5257800"/>
          </a:xfrm>
        </p:spPr>
        <p:txBody>
          <a:bodyPr>
            <a:normAutofit fontScale="85000" lnSpcReduction="10000"/>
          </a:bodyPr>
          <a:lstStyle/>
          <a:p>
            <a:pPr algn="just">
              <a:buNone/>
            </a:pPr>
            <a:r>
              <a:rPr lang="en-US" dirty="0" smtClean="0">
                <a:latin typeface="Times New Roman" pitchFamily="18" charset="0"/>
                <a:cs typeface="Times New Roman" pitchFamily="18" charset="0"/>
              </a:rPr>
              <a:t>		The service sector in India has the highest employment elasticity among all sectors. Thus, it has the potential for huge growth as well as the capability to deliver highly productive jobs - leading to revenue generation. </a:t>
            </a:r>
          </a:p>
          <a:p>
            <a:pPr algn="just">
              <a:buNone/>
            </a:pPr>
            <a:r>
              <a:rPr lang="en-US" dirty="0" smtClean="0">
                <a:latin typeface="Times New Roman" pitchFamily="18" charset="0"/>
                <a:cs typeface="Times New Roman" pitchFamily="18" charset="0"/>
              </a:rPr>
              <a:t>		India should closely look into the development of the service industry, given the potential and need for sustained large scale investment.</a:t>
            </a:r>
          </a:p>
          <a:p>
            <a:pPr algn="just">
              <a:buNone/>
            </a:pPr>
            <a:r>
              <a:rPr lang="en-US" dirty="0" smtClean="0">
                <a:latin typeface="Times New Roman" pitchFamily="18" charset="0"/>
                <a:cs typeface="Times New Roman" pitchFamily="18" charset="0"/>
              </a:rPr>
              <a:t>		The emerging sector in Indian Economy today are </a:t>
            </a:r>
            <a:r>
              <a:rPr lang="en-US" i="1" dirty="0" smtClean="0">
                <a:latin typeface="Times New Roman" pitchFamily="18" charset="0"/>
                <a:cs typeface="Times New Roman" pitchFamily="18" charset="0"/>
              </a:rPr>
              <a:t>Food Processing, Manufacturing Sector, Health Care, Organized Retailing, Education and Training, Tourism, Entertainment, Insurance, Knowledge Process Outsourcing etc.</a:t>
            </a:r>
            <a:endParaRPr lang="en-US" i="1"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rgbClr val="FF0000"/>
                </a:solidFill>
                <a:latin typeface="Times New Roman" pitchFamily="18" charset="0"/>
                <a:cs typeface="Times New Roman" pitchFamily="18" charset="0"/>
              </a:rPr>
              <a:t>HRM in Services Sector V/s HRM in Manufacturing Sector</a:t>
            </a:r>
            <a:endParaRPr lang="en-US" b="1" dirty="0"/>
          </a:p>
        </p:txBody>
      </p:sp>
      <p:sp>
        <p:nvSpPr>
          <p:cNvPr id="3" name="Content Placeholder 2"/>
          <p:cNvSpPr>
            <a:spLocks noGrp="1"/>
          </p:cNvSpPr>
          <p:nvPr>
            <p:ph idx="1"/>
          </p:nvPr>
        </p:nvSpPr>
        <p:spPr/>
        <p:txBody>
          <a:bodyPr>
            <a:normAutofit fontScale="77500" lnSpcReduction="20000"/>
          </a:bodyPr>
          <a:lstStyle/>
          <a:p>
            <a:pPr algn="just">
              <a:lnSpc>
                <a:spcPct val="150000"/>
              </a:lnSpc>
              <a:buNone/>
            </a:pPr>
            <a:r>
              <a:rPr lang="en-US" dirty="0" smtClean="0">
                <a:latin typeface="Times New Roman" pitchFamily="18" charset="0"/>
                <a:cs typeface="Times New Roman" pitchFamily="18" charset="0"/>
              </a:rPr>
              <a:t> Major differentiators between the HR of these sectors are:</a:t>
            </a:r>
          </a:p>
          <a:p>
            <a:pPr algn="just">
              <a:lnSpc>
                <a:spcPct val="150000"/>
              </a:lnSpc>
              <a:buNone/>
            </a:pPr>
            <a:r>
              <a:rPr lang="en-US" dirty="0" smtClean="0">
                <a:latin typeface="Times New Roman" pitchFamily="18" charset="0"/>
                <a:cs typeface="Times New Roman" pitchFamily="18" charset="0"/>
              </a:rPr>
              <a:t>1) Level of education of employees.</a:t>
            </a:r>
          </a:p>
          <a:p>
            <a:pPr algn="just">
              <a:lnSpc>
                <a:spcPct val="150000"/>
              </a:lnSpc>
              <a:buNone/>
            </a:pPr>
            <a:r>
              <a:rPr lang="en-US" dirty="0" smtClean="0">
                <a:latin typeface="Times New Roman" pitchFamily="18" charset="0"/>
                <a:cs typeface="Times New Roman" pitchFamily="18" charset="0"/>
              </a:rPr>
              <a:t>2) Training to represent themselves in the company's desired profile.</a:t>
            </a:r>
          </a:p>
          <a:p>
            <a:pPr algn="just">
              <a:lnSpc>
                <a:spcPct val="150000"/>
              </a:lnSpc>
              <a:buNone/>
            </a:pPr>
            <a:r>
              <a:rPr lang="en-US" dirty="0" smtClean="0">
                <a:latin typeface="Times New Roman" pitchFamily="18" charset="0"/>
                <a:cs typeface="Times New Roman" pitchFamily="18" charset="0"/>
              </a:rPr>
              <a:t> 3) Customer contact (this is also changing due to competition anyway!) </a:t>
            </a:r>
          </a:p>
          <a:p>
            <a:pPr algn="just">
              <a:lnSpc>
                <a:spcPct val="150000"/>
              </a:lnSpc>
              <a:buNone/>
            </a:pPr>
            <a:r>
              <a:rPr lang="en-US" dirty="0" smtClean="0">
                <a:latin typeface="Times New Roman" pitchFamily="18" charset="0"/>
                <a:cs typeface="Times New Roman" pitchFamily="18" charset="0"/>
              </a:rPr>
              <a:t>4) The nature of actually performed by the employees and their awareness to customer response. </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solidFill>
                  <a:srgbClr val="FF0000"/>
                </a:solidFill>
                <a:latin typeface="Times New Roman" pitchFamily="18" charset="0"/>
                <a:cs typeface="Times New Roman" pitchFamily="18" charset="0"/>
              </a:rPr>
              <a:t>Human Resource Management and Service Quality Correlation</a:t>
            </a:r>
            <a:endParaRPr lang="en-US" sz="3600" dirty="0">
              <a:solidFill>
                <a:srgbClr val="FF0000"/>
              </a:solidFill>
            </a:endParaRPr>
          </a:p>
        </p:txBody>
      </p:sp>
      <p:sp>
        <p:nvSpPr>
          <p:cNvPr id="3" name="Content Placeholder 2"/>
          <p:cNvSpPr>
            <a:spLocks noGrp="1"/>
          </p:cNvSpPr>
          <p:nvPr>
            <p:ph idx="1"/>
          </p:nvPr>
        </p:nvSpPr>
        <p:spPr/>
        <p:txBody>
          <a:bodyPr>
            <a:noAutofit/>
          </a:bodyPr>
          <a:lstStyle/>
          <a:p>
            <a:pPr algn="just"/>
            <a:r>
              <a:rPr lang="en-US" sz="2500" dirty="0" smtClean="0">
                <a:latin typeface="Times New Roman" pitchFamily="18" charset="0"/>
                <a:cs typeface="Times New Roman" pitchFamily="18" charset="0"/>
              </a:rPr>
              <a:t>In the service organization , the key stakeholder  is the customer and the key activity is to deliver service of quality .</a:t>
            </a:r>
          </a:p>
          <a:p>
            <a:pPr algn="just"/>
            <a:r>
              <a:rPr lang="en-US" sz="2500" dirty="0" smtClean="0">
                <a:latin typeface="Times New Roman" pitchFamily="18" charset="0"/>
                <a:cs typeface="Times New Roman" pitchFamily="18" charset="0"/>
              </a:rPr>
              <a:t>The very nature of service, that is , their intangibility , poses difficulty in evaluation of quality .</a:t>
            </a:r>
          </a:p>
          <a:p>
            <a:pPr algn="just"/>
            <a:r>
              <a:rPr lang="en-US" sz="2500" dirty="0" smtClean="0">
                <a:latin typeface="Times New Roman" pitchFamily="18" charset="0"/>
                <a:cs typeface="Times New Roman" pitchFamily="18" charset="0"/>
              </a:rPr>
              <a:t> Service organization is “ in need of mechanism  by which it can reduce this input of uncertainty and acquire the information necessary for effective service  production an delivery “</a:t>
            </a:r>
          </a:p>
          <a:p>
            <a:pPr algn="just"/>
            <a:r>
              <a:rPr lang="en-US" sz="2500" dirty="0" smtClean="0">
                <a:latin typeface="Times New Roman" pitchFamily="18" charset="0"/>
                <a:cs typeface="Times New Roman" pitchFamily="18" charset="0"/>
              </a:rPr>
              <a:t>Sustained quality of service  can only happen  in a service climate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610600" cy="6172200"/>
          </a:xfrm>
        </p:spPr>
        <p:txBody>
          <a:bodyPr/>
          <a:lstStyle/>
          <a:p>
            <a:pPr algn="just"/>
            <a:endParaRPr lang="en-US" sz="2500" dirty="0" smtClean="0">
              <a:latin typeface="Times New Roman" pitchFamily="18" charset="0"/>
              <a:cs typeface="Times New Roman" pitchFamily="18" charset="0"/>
            </a:endParaRPr>
          </a:p>
          <a:p>
            <a:pPr algn="just">
              <a:buNone/>
            </a:pPr>
            <a:r>
              <a:rPr lang="en-US" sz="2500" dirty="0" smtClean="0">
                <a:latin typeface="Times New Roman" pitchFamily="18" charset="0"/>
                <a:cs typeface="Times New Roman" pitchFamily="18" charset="0"/>
              </a:rPr>
              <a:t>		Service climate has been defined as  employee's perception that : </a:t>
            </a:r>
          </a:p>
          <a:p>
            <a:pPr algn="just">
              <a:lnSpc>
                <a:spcPct val="150000"/>
              </a:lnSpc>
              <a:buNone/>
            </a:pPr>
            <a:r>
              <a:rPr lang="en-US" sz="2500" dirty="0" smtClean="0">
                <a:latin typeface="Times New Roman" pitchFamily="18" charset="0"/>
                <a:cs typeface="Times New Roman" pitchFamily="18" charset="0"/>
              </a:rPr>
              <a:t>		a) Practices and procedure were in place to facilitate the delivery of excellent service. </a:t>
            </a:r>
          </a:p>
          <a:p>
            <a:pPr algn="just">
              <a:lnSpc>
                <a:spcPct val="150000"/>
              </a:lnSpc>
              <a:buNone/>
            </a:pPr>
            <a:r>
              <a:rPr lang="en-US" sz="2500" dirty="0" smtClean="0">
                <a:latin typeface="Times New Roman" pitchFamily="18" charset="0"/>
                <a:cs typeface="Times New Roman" pitchFamily="18" charset="0"/>
              </a:rPr>
              <a:t>		b) Management rewarded , supported and expected excellent service .</a:t>
            </a:r>
          </a:p>
          <a:p>
            <a:endParaRPr lang="en-US" dirty="0" smtClean="0">
              <a:latin typeface="Times New Roman" pitchFamily="18" charset="0"/>
              <a:cs typeface="Times New Roman" pitchFamily="18" charset="0"/>
            </a:endParaRP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20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a:bodyPr>
          <a:lstStyle/>
          <a:p>
            <a:r>
              <a:rPr lang="en-US" sz="3600" dirty="0" smtClean="0">
                <a:solidFill>
                  <a:srgbClr val="FF0000"/>
                </a:solidFill>
                <a:latin typeface="Times New Roman" pitchFamily="18" charset="0"/>
                <a:cs typeface="Times New Roman" pitchFamily="18" charset="0"/>
              </a:rPr>
              <a:t>Models of Union strategies </a:t>
            </a:r>
          </a:p>
        </p:txBody>
      </p:sp>
      <p:sp>
        <p:nvSpPr>
          <p:cNvPr id="3" name="Content Placeholder 2"/>
          <p:cNvSpPr>
            <a:spLocks noGrp="1"/>
          </p:cNvSpPr>
          <p:nvPr>
            <p:ph idx="1"/>
          </p:nvPr>
        </p:nvSpPr>
        <p:spPr>
          <a:xfrm>
            <a:off x="457200" y="1219200"/>
            <a:ext cx="8229600" cy="5334000"/>
          </a:xfrm>
        </p:spPr>
        <p:txBody>
          <a:bodyPr>
            <a:noAutofit/>
          </a:bodyPr>
          <a:lstStyle/>
          <a:p>
            <a:pPr algn="just"/>
            <a:r>
              <a:rPr lang="en-US" sz="2400" dirty="0" smtClean="0">
                <a:latin typeface="Times New Roman" pitchFamily="18" charset="0"/>
                <a:cs typeface="Times New Roman" pitchFamily="18" charset="0"/>
              </a:rPr>
              <a:t>This framework posits that union strategies can be analyzed in terms of four dimensions: </a:t>
            </a:r>
            <a:r>
              <a:rPr lang="en-US" sz="2400" b="1" dirty="0" smtClean="0">
                <a:latin typeface="Times New Roman" pitchFamily="18" charset="0"/>
                <a:cs typeface="Times New Roman" pitchFamily="18" charset="0"/>
              </a:rPr>
              <a:t>objectives, methods, tactics and the level at which strategies are formulated and implemented</a:t>
            </a:r>
            <a:r>
              <a:rPr lang="en-US" sz="2400" dirty="0" smtClean="0">
                <a:latin typeface="Times New Roman" pitchFamily="18" charset="0"/>
                <a:cs typeface="Times New Roman" pitchFamily="18" charset="0"/>
              </a:rPr>
              <a:t>.</a:t>
            </a:r>
          </a:p>
          <a:p>
            <a:pPr algn="just">
              <a:buNone/>
            </a:pPr>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 It also considers the nature of the strategy formulation process. </a:t>
            </a:r>
          </a:p>
          <a:p>
            <a:pPr algn="just">
              <a:buNone/>
            </a:pPr>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This model, it is argued, could be operationalised in cross-national research on union strategy to investigate specific strategic patterns, the determinants of specific strategic patterns, and the relationship between different strategies and measures of union effectivenes</a:t>
            </a:r>
            <a:r>
              <a:rPr lang="en-US" sz="2400" dirty="0" smtClean="0"/>
              <a:t>s.</a:t>
            </a:r>
          </a:p>
          <a:p>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endParaRPr lang="en-IN" dirty="0" smtClean="0">
              <a:solidFill>
                <a:srgbClr val="FF0000"/>
              </a:solidFill>
              <a:latin typeface="Times New Roman" pitchFamily="18" charset="0"/>
              <a:cs typeface="Times New Roman" pitchFamily="18" charset="0"/>
            </a:endParaRPr>
          </a:p>
          <a:p>
            <a:pPr>
              <a:buNone/>
            </a:pPr>
            <a:endParaRPr lang="en-IN" dirty="0" smtClean="0">
              <a:solidFill>
                <a:srgbClr val="FF0000"/>
              </a:solidFill>
              <a:latin typeface="Times New Roman" pitchFamily="18" charset="0"/>
              <a:cs typeface="Times New Roman" pitchFamily="18" charset="0"/>
            </a:endParaRPr>
          </a:p>
          <a:p>
            <a:pPr>
              <a:buNone/>
            </a:pPr>
            <a:endParaRPr lang="en-IN" dirty="0" smtClean="0">
              <a:solidFill>
                <a:srgbClr val="FF0000"/>
              </a:solidFill>
              <a:latin typeface="Times New Roman" pitchFamily="18" charset="0"/>
              <a:cs typeface="Times New Roman" pitchFamily="18" charset="0"/>
            </a:endParaRPr>
          </a:p>
          <a:p>
            <a:pPr>
              <a:buNone/>
            </a:pPr>
            <a:r>
              <a:rPr lang="en-IN" dirty="0" smtClean="0">
                <a:solidFill>
                  <a:srgbClr val="FF0000"/>
                </a:solidFill>
                <a:latin typeface="Times New Roman" pitchFamily="18" charset="0"/>
                <a:cs typeface="Times New Roman" pitchFamily="18" charset="0"/>
              </a:rPr>
              <a:t>				Thank You…..</a:t>
            </a:r>
            <a:endParaRPr lang="en-US" dirty="0">
              <a:solidFill>
                <a:srgbClr val="FF0000"/>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163</TotalTime>
  <Words>613</Words>
  <Application>Microsoft Office PowerPoint</Application>
  <PresentationFormat>On-screen Show (4:3)</PresentationFormat>
  <Paragraphs>77</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Module IV</vt:lpstr>
      <vt:lpstr>HRM in Small and Medium Enterprises</vt:lpstr>
      <vt:lpstr>Differences in HRM </vt:lpstr>
      <vt:lpstr>Impact of Weak Adoption of HRM in SME</vt:lpstr>
      <vt:lpstr>HRM in the Service Sector</vt:lpstr>
      <vt:lpstr>Services Sector V/s Manufacturing Sector</vt:lpstr>
      <vt:lpstr>The Emergence of the Services Sector</vt:lpstr>
      <vt:lpstr>HRM in Services Sector V/s HRM in Manufacturing Sector</vt:lpstr>
      <vt:lpstr>Human Resource Management and Service Quality Correlation</vt:lpstr>
      <vt:lpstr>Slide 10</vt:lpstr>
      <vt:lpstr>Models of Union strategies </vt:lpstr>
      <vt:lpstr>Slide 12</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IV</dc:title>
  <dc:creator>HP</dc:creator>
  <cp:lastModifiedBy>HP</cp:lastModifiedBy>
  <cp:revision>23</cp:revision>
  <dcterms:created xsi:type="dcterms:W3CDTF">2006-08-16T00:00:00Z</dcterms:created>
  <dcterms:modified xsi:type="dcterms:W3CDTF">2025-07-19T07:12:13Z</dcterms:modified>
</cp:coreProperties>
</file>