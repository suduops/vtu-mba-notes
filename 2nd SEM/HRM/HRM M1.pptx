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1" r:id="rId5"/>
    <p:sldId id="260" r:id="rId6"/>
    <p:sldId id="259" r:id="rId7"/>
    <p:sldId id="262" r:id="rId8"/>
    <p:sldId id="263" r:id="rId9"/>
    <p:sldId id="269" r:id="rId10"/>
    <p:sldId id="266" r:id="rId11"/>
    <p:sldId id="265"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109" d="100"/>
          <a:sy n="109" d="100"/>
        </p:scale>
        <p:origin x="-594" y="-8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Ganagi" userId="696741978f092c3b" providerId="LiveId" clId="{DCE5B858-66CB-4909-86DC-219AB4239DB2}"/>
    <pc:docChg chg="undo custSel addSld modSld">
      <pc:chgData name="Mahesh Ganagi" userId="696741978f092c3b" providerId="LiveId" clId="{DCE5B858-66CB-4909-86DC-219AB4239DB2}" dt="2025-05-25T15:19:25.697" v="437"/>
      <pc:docMkLst>
        <pc:docMk/>
      </pc:docMkLst>
      <pc:sldChg chg="modSp new mod modAnim">
        <pc:chgData name="Mahesh Ganagi" userId="696741978f092c3b" providerId="LiveId" clId="{DCE5B858-66CB-4909-86DC-219AB4239DB2}" dt="2025-05-21T04:31:54.253" v="207"/>
        <pc:sldMkLst>
          <pc:docMk/>
          <pc:sldMk cId="3932535675" sldId="256"/>
        </pc:sldMkLst>
        <pc:spChg chg="mod">
          <ac:chgData name="Mahesh Ganagi" userId="696741978f092c3b" providerId="LiveId" clId="{DCE5B858-66CB-4909-86DC-219AB4239DB2}" dt="2025-05-21T04:01:19.703" v="76" actId="1076"/>
          <ac:spMkLst>
            <pc:docMk/>
            <pc:sldMk cId="3932535675" sldId="256"/>
            <ac:spMk id="2" creationId="{9908FAB9-D347-ADCB-2A9C-6D015E76E845}"/>
          </ac:spMkLst>
        </pc:spChg>
        <pc:spChg chg="mod">
          <ac:chgData name="Mahesh Ganagi" userId="696741978f092c3b" providerId="LiveId" clId="{DCE5B858-66CB-4909-86DC-219AB4239DB2}" dt="2025-05-21T04:01:37.183" v="81" actId="14100"/>
          <ac:spMkLst>
            <pc:docMk/>
            <pc:sldMk cId="3932535675" sldId="256"/>
            <ac:spMk id="3" creationId="{1A2F237B-6B00-1422-9DB9-6A32306967E0}"/>
          </ac:spMkLst>
        </pc:spChg>
      </pc:sldChg>
      <pc:sldChg chg="modSp new mod modAnim modNotesTx">
        <pc:chgData name="Mahesh Ganagi" userId="696741978f092c3b" providerId="LiveId" clId="{DCE5B858-66CB-4909-86DC-219AB4239DB2}" dt="2025-05-21T04:32:02.688" v="208"/>
        <pc:sldMkLst>
          <pc:docMk/>
          <pc:sldMk cId="618349714" sldId="257"/>
        </pc:sldMkLst>
        <pc:spChg chg="mod">
          <ac:chgData name="Mahesh Ganagi" userId="696741978f092c3b" providerId="LiveId" clId="{DCE5B858-66CB-4909-86DC-219AB4239DB2}" dt="2025-05-21T04:05:10.048" v="134" actId="27636"/>
          <ac:spMkLst>
            <pc:docMk/>
            <pc:sldMk cId="618349714" sldId="257"/>
            <ac:spMk id="2" creationId="{1C9DA50B-E544-F480-C8DA-FD6DD34858DF}"/>
          </ac:spMkLst>
        </pc:spChg>
        <pc:spChg chg="mod">
          <ac:chgData name="Mahesh Ganagi" userId="696741978f092c3b" providerId="LiveId" clId="{DCE5B858-66CB-4909-86DC-219AB4239DB2}" dt="2025-05-21T04:21:53.863" v="190" actId="20577"/>
          <ac:spMkLst>
            <pc:docMk/>
            <pc:sldMk cId="618349714" sldId="257"/>
            <ac:spMk id="3" creationId="{7EC790FE-2A8A-F0C0-ABEF-27BB07113EA2}"/>
          </ac:spMkLst>
        </pc:spChg>
      </pc:sldChg>
      <pc:sldChg chg="addSp delSp modSp new mod modAnim">
        <pc:chgData name="Mahesh Ganagi" userId="696741978f092c3b" providerId="LiveId" clId="{DCE5B858-66CB-4909-86DC-219AB4239DB2}" dt="2025-05-21T04:32:07.607" v="209"/>
        <pc:sldMkLst>
          <pc:docMk/>
          <pc:sldMk cId="1393756192" sldId="258"/>
        </pc:sldMkLst>
        <pc:spChg chg="mod">
          <ac:chgData name="Mahesh Ganagi" userId="696741978f092c3b" providerId="LiveId" clId="{DCE5B858-66CB-4909-86DC-219AB4239DB2}" dt="2025-05-21T04:06:18.253" v="151" actId="14100"/>
          <ac:spMkLst>
            <pc:docMk/>
            <pc:sldMk cId="1393756192" sldId="258"/>
            <ac:spMk id="3" creationId="{956C41D0-36B9-EED2-5A2C-BD4CC025C22C}"/>
          </ac:spMkLst>
        </pc:spChg>
        <pc:spChg chg="add mod">
          <ac:chgData name="Mahesh Ganagi" userId="696741978f092c3b" providerId="LiveId" clId="{DCE5B858-66CB-4909-86DC-219AB4239DB2}" dt="2025-05-21T04:06:14.229" v="150"/>
          <ac:spMkLst>
            <pc:docMk/>
            <pc:sldMk cId="1393756192" sldId="258"/>
            <ac:spMk id="4" creationId="{F99E1354-6D2B-3828-55E4-BD4AF02E9FF3}"/>
          </ac:spMkLst>
        </pc:spChg>
      </pc:sldChg>
      <pc:sldChg chg="addSp delSp modSp new mod modAnim modNotesTx">
        <pc:chgData name="Mahesh Ganagi" userId="696741978f092c3b" providerId="LiveId" clId="{DCE5B858-66CB-4909-86DC-219AB4239DB2}" dt="2025-05-21T04:32:15.123" v="211"/>
        <pc:sldMkLst>
          <pc:docMk/>
          <pc:sldMk cId="3674219813" sldId="259"/>
        </pc:sldMkLst>
        <pc:spChg chg="mod">
          <ac:chgData name="Mahesh Ganagi" userId="696741978f092c3b" providerId="LiveId" clId="{DCE5B858-66CB-4909-86DC-219AB4239DB2}" dt="2025-05-21T04:10:23.171" v="184" actId="403"/>
          <ac:spMkLst>
            <pc:docMk/>
            <pc:sldMk cId="3674219813" sldId="259"/>
            <ac:spMk id="3" creationId="{DC5DDD9C-56B3-4F80-188E-6512BFEC5887}"/>
          </ac:spMkLst>
        </pc:spChg>
        <pc:spChg chg="add mod">
          <ac:chgData name="Mahesh Ganagi" userId="696741978f092c3b" providerId="LiveId" clId="{DCE5B858-66CB-4909-86DC-219AB4239DB2}" dt="2025-05-21T04:08:48.766" v="158"/>
          <ac:spMkLst>
            <pc:docMk/>
            <pc:sldMk cId="3674219813" sldId="259"/>
            <ac:spMk id="4" creationId="{40843B9F-BB20-B381-50AE-8FBBD7209542}"/>
          </ac:spMkLst>
        </pc:spChg>
      </pc:sldChg>
      <pc:sldChg chg="addSp delSp modSp new mod modAnim">
        <pc:chgData name="Mahesh Ganagi" userId="696741978f092c3b" providerId="LiveId" clId="{DCE5B858-66CB-4909-86DC-219AB4239DB2}" dt="2025-05-21T04:32:11.258" v="210"/>
        <pc:sldMkLst>
          <pc:docMk/>
          <pc:sldMk cId="1989503707" sldId="260"/>
        </pc:sldMkLst>
        <pc:picChg chg="add mod">
          <ac:chgData name="Mahesh Ganagi" userId="696741978f092c3b" providerId="LiveId" clId="{DCE5B858-66CB-4909-86DC-219AB4239DB2}" dt="2025-05-21T04:25:40.230" v="206" actId="14100"/>
          <ac:picMkLst>
            <pc:docMk/>
            <pc:sldMk cId="1989503707" sldId="260"/>
            <ac:picMk id="5" creationId="{AAB3EA53-70BA-87B3-608D-718CC7C1891F}"/>
          </ac:picMkLst>
        </pc:picChg>
      </pc:sldChg>
      <pc:sldChg chg="addSp delSp modSp new mod modAnim">
        <pc:chgData name="Mahesh Ganagi" userId="696741978f092c3b" providerId="LiveId" clId="{DCE5B858-66CB-4909-86DC-219AB4239DB2}" dt="2025-05-25T14:44:56.065" v="395" actId="313"/>
        <pc:sldMkLst>
          <pc:docMk/>
          <pc:sldMk cId="1285985961" sldId="261"/>
        </pc:sldMkLst>
        <pc:spChg chg="del">
          <ac:chgData name="Mahesh Ganagi" userId="696741978f092c3b" providerId="LiveId" clId="{DCE5B858-66CB-4909-86DC-219AB4239DB2}" dt="2025-05-25T13:59:06.151" v="213" actId="478"/>
          <ac:spMkLst>
            <pc:docMk/>
            <pc:sldMk cId="1285985961" sldId="261"/>
            <ac:spMk id="2" creationId="{172513F6-E8EE-1FCF-691E-47035270EEDD}"/>
          </ac:spMkLst>
        </pc:spChg>
        <pc:spChg chg="mod">
          <ac:chgData name="Mahesh Ganagi" userId="696741978f092c3b" providerId="LiveId" clId="{DCE5B858-66CB-4909-86DC-219AB4239DB2}" dt="2025-05-25T14:44:56.065" v="395" actId="313"/>
          <ac:spMkLst>
            <pc:docMk/>
            <pc:sldMk cId="1285985961" sldId="261"/>
            <ac:spMk id="3" creationId="{6C9C9EFD-C2BB-0027-6A2F-0286C42E31E3}"/>
          </ac:spMkLst>
        </pc:spChg>
        <pc:spChg chg="add mod">
          <ac:chgData name="Mahesh Ganagi" userId="696741978f092c3b" providerId="LiveId" clId="{DCE5B858-66CB-4909-86DC-219AB4239DB2}" dt="2025-05-25T14:42:42.846" v="377"/>
          <ac:spMkLst>
            <pc:docMk/>
            <pc:sldMk cId="1285985961" sldId="261"/>
            <ac:spMk id="4" creationId="{4B905C75-BC7E-A49B-A9E8-8318B406916D}"/>
          </ac:spMkLst>
        </pc:spChg>
      </pc:sldChg>
      <pc:sldChg chg="addSp delSp modSp new mod modAnim">
        <pc:chgData name="Mahesh Ganagi" userId="696741978f092c3b" providerId="LiveId" clId="{DCE5B858-66CB-4909-86DC-219AB4239DB2}" dt="2025-05-25T14:45:22.670" v="396"/>
        <pc:sldMkLst>
          <pc:docMk/>
          <pc:sldMk cId="869813492" sldId="262"/>
        </pc:sldMkLst>
        <pc:spChg chg="del">
          <ac:chgData name="Mahesh Ganagi" userId="696741978f092c3b" providerId="LiveId" clId="{DCE5B858-66CB-4909-86DC-219AB4239DB2}" dt="2025-05-25T14:41:29.383" v="369" actId="478"/>
          <ac:spMkLst>
            <pc:docMk/>
            <pc:sldMk cId="869813492" sldId="262"/>
            <ac:spMk id="2" creationId="{EB49A90F-B50D-56B4-5B79-A002F8B71450}"/>
          </ac:spMkLst>
        </pc:spChg>
        <pc:spChg chg="mod">
          <ac:chgData name="Mahesh Ganagi" userId="696741978f092c3b" providerId="LiveId" clId="{DCE5B858-66CB-4909-86DC-219AB4239DB2}" dt="2025-05-25T14:44:10.426" v="393" actId="403"/>
          <ac:spMkLst>
            <pc:docMk/>
            <pc:sldMk cId="869813492" sldId="262"/>
            <ac:spMk id="3" creationId="{77F7E1C2-2B84-EBD0-B1F8-E9207DDF1741}"/>
          </ac:spMkLst>
        </pc:spChg>
        <pc:spChg chg="add mod">
          <ac:chgData name="Mahesh Ganagi" userId="696741978f092c3b" providerId="LiveId" clId="{DCE5B858-66CB-4909-86DC-219AB4239DB2}" dt="2025-05-25T14:42:24.049" v="375"/>
          <ac:spMkLst>
            <pc:docMk/>
            <pc:sldMk cId="869813492" sldId="262"/>
            <ac:spMk id="4" creationId="{49D59F1C-0F95-5456-EC25-709ADCA229A0}"/>
          </ac:spMkLst>
        </pc:spChg>
      </pc:sldChg>
      <pc:sldChg chg="addSp delSp modSp new mod">
        <pc:chgData name="Mahesh Ganagi" userId="696741978f092c3b" providerId="LiveId" clId="{DCE5B858-66CB-4909-86DC-219AB4239DB2}" dt="2025-05-25T14:48:35.234" v="420" actId="20577"/>
        <pc:sldMkLst>
          <pc:docMk/>
          <pc:sldMk cId="1011802289" sldId="263"/>
        </pc:sldMkLst>
        <pc:spChg chg="del">
          <ac:chgData name="Mahesh Ganagi" userId="696741978f092c3b" providerId="LiveId" clId="{DCE5B858-66CB-4909-86DC-219AB4239DB2}" dt="2025-05-25T14:47:24.607" v="399" actId="478"/>
          <ac:spMkLst>
            <pc:docMk/>
            <pc:sldMk cId="1011802289" sldId="263"/>
            <ac:spMk id="2" creationId="{06C2A2B2-8EF7-7CFF-E515-E10A54EFC3A1}"/>
          </ac:spMkLst>
        </pc:spChg>
        <pc:spChg chg="mod">
          <ac:chgData name="Mahesh Ganagi" userId="696741978f092c3b" providerId="LiveId" clId="{DCE5B858-66CB-4909-86DC-219AB4239DB2}" dt="2025-05-25T14:47:35.874" v="401" actId="21"/>
          <ac:spMkLst>
            <pc:docMk/>
            <pc:sldMk cId="1011802289" sldId="263"/>
            <ac:spMk id="3" creationId="{FF24AAEB-DDB0-11CB-381D-4A906CB4BF5C}"/>
          </ac:spMkLst>
        </pc:spChg>
        <pc:spChg chg="add mod">
          <ac:chgData name="Mahesh Ganagi" userId="696741978f092c3b" providerId="LiveId" clId="{DCE5B858-66CB-4909-86DC-219AB4239DB2}" dt="2025-05-25T14:48:35.234" v="420" actId="20577"/>
          <ac:spMkLst>
            <pc:docMk/>
            <pc:sldMk cId="1011802289" sldId="263"/>
            <ac:spMk id="4" creationId="{0D334063-635B-AF2F-273C-9496CBF127D0}"/>
          </ac:spMkLst>
        </pc:spChg>
      </pc:sldChg>
      <pc:sldChg chg="addSp delSp modSp new mod">
        <pc:chgData name="Mahesh Ganagi" userId="696741978f092c3b" providerId="LiveId" clId="{DCE5B858-66CB-4909-86DC-219AB4239DB2}" dt="2025-05-25T15:16:44.704" v="431" actId="20577"/>
        <pc:sldMkLst>
          <pc:docMk/>
          <pc:sldMk cId="4057970601" sldId="264"/>
        </pc:sldMkLst>
        <pc:spChg chg="del">
          <ac:chgData name="Mahesh Ganagi" userId="696741978f092c3b" providerId="LiveId" clId="{DCE5B858-66CB-4909-86DC-219AB4239DB2}" dt="2025-05-25T15:16:12.662" v="422" actId="478"/>
          <ac:spMkLst>
            <pc:docMk/>
            <pc:sldMk cId="4057970601" sldId="264"/>
            <ac:spMk id="2" creationId="{C09F9511-0D74-2F90-4988-8D5B4AD87065}"/>
          </ac:spMkLst>
        </pc:spChg>
        <pc:spChg chg="add mod">
          <ac:chgData name="Mahesh Ganagi" userId="696741978f092c3b" providerId="LiveId" clId="{DCE5B858-66CB-4909-86DC-219AB4239DB2}" dt="2025-05-25T15:16:44.704" v="431" actId="20577"/>
          <ac:spMkLst>
            <pc:docMk/>
            <pc:sldMk cId="4057970601" sldId="264"/>
            <ac:spMk id="4" creationId="{C011BEDB-5520-580B-02C5-ECCF83042087}"/>
          </ac:spMkLst>
        </pc:spChg>
      </pc:sldChg>
      <pc:sldChg chg="addSp delSp modSp new mod">
        <pc:chgData name="Mahesh Ganagi" userId="696741978f092c3b" providerId="LiveId" clId="{DCE5B858-66CB-4909-86DC-219AB4239DB2}" dt="2025-05-25T15:19:25.697" v="437"/>
        <pc:sldMkLst>
          <pc:docMk/>
          <pc:sldMk cId="4079293132" sldId="265"/>
        </pc:sldMkLst>
        <pc:spChg chg="del">
          <ac:chgData name="Mahesh Ganagi" userId="696741978f092c3b" providerId="LiveId" clId="{DCE5B858-66CB-4909-86DC-219AB4239DB2}" dt="2025-05-25T15:18:52.952" v="433" actId="478"/>
          <ac:spMkLst>
            <pc:docMk/>
            <pc:sldMk cId="4079293132" sldId="265"/>
            <ac:spMk id="2" creationId="{7AD72B0D-692F-48C9-4ED4-24521DA3EF60}"/>
          </ac:spMkLst>
        </pc:spChg>
        <pc:spChg chg="add mod">
          <ac:chgData name="Mahesh Ganagi" userId="696741978f092c3b" providerId="LiveId" clId="{DCE5B858-66CB-4909-86DC-219AB4239DB2}" dt="2025-05-25T15:19:25.697" v="437"/>
          <ac:spMkLst>
            <pc:docMk/>
            <pc:sldMk cId="4079293132" sldId="265"/>
            <ac:spMk id="4" creationId="{E9F0D05D-9EAA-4632-D01B-27538EA568C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3320D1-E03E-4E6C-9045-23F373AD4512}" type="datetimeFigureOut">
              <a:rPr lang="en-IN" smtClean="0"/>
              <a:pPr/>
              <a:t>21-04-2026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A19EA-5064-49B1-9585-B999408E0D52}" type="slidenum">
              <a:rPr lang="en-IN" smtClean="0"/>
              <a:pPr/>
              <a:t>‹#›</a:t>
            </a:fld>
            <a:endParaRPr lang="en-IN"/>
          </a:p>
        </p:txBody>
      </p:sp>
    </p:spTree>
    <p:extLst>
      <p:ext uri="{BB962C8B-B14F-4D97-AF65-F5344CB8AC3E}">
        <p14:creationId xmlns:p14="http://schemas.microsoft.com/office/powerpoint/2010/main" xmlns="" val="263032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HR is not restricted to just a collection of people as such, rather it has the philosophy of treating a person in totality with all the talents and creative potential.</a:t>
            </a:r>
            <a:endParaRPr lang="en-IN" dirty="0"/>
          </a:p>
        </p:txBody>
      </p:sp>
      <p:sp>
        <p:nvSpPr>
          <p:cNvPr id="4" name="Slide Number Placeholder 3"/>
          <p:cNvSpPr>
            <a:spLocks noGrp="1"/>
          </p:cNvSpPr>
          <p:nvPr>
            <p:ph type="sldNum" sz="quarter" idx="5"/>
          </p:nvPr>
        </p:nvSpPr>
        <p:spPr/>
        <p:txBody>
          <a:bodyPr/>
          <a:lstStyle/>
          <a:p>
            <a:fld id="{61FA19EA-5064-49B1-9585-B999408E0D52}" type="slidenum">
              <a:rPr lang="en-IN" smtClean="0"/>
              <a:pPr/>
              <a:t>2</a:t>
            </a:fld>
            <a:endParaRPr lang="en-IN"/>
          </a:p>
        </p:txBody>
      </p:sp>
    </p:spTree>
    <p:extLst>
      <p:ext uri="{BB962C8B-B14F-4D97-AF65-F5344CB8AC3E}">
        <p14:creationId xmlns:p14="http://schemas.microsoft.com/office/powerpoint/2010/main" xmlns="" val="2252943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Source: </a:t>
            </a:r>
            <a:r>
              <a:rPr lang="en-US" dirty="0"/>
              <a:t>American Society for Training and Development</a:t>
            </a:r>
            <a:endParaRPr lang="en-IN" dirty="0"/>
          </a:p>
        </p:txBody>
      </p:sp>
      <p:sp>
        <p:nvSpPr>
          <p:cNvPr id="4" name="Slide Number Placeholder 3"/>
          <p:cNvSpPr>
            <a:spLocks noGrp="1"/>
          </p:cNvSpPr>
          <p:nvPr>
            <p:ph type="sldNum" sz="quarter" idx="5"/>
          </p:nvPr>
        </p:nvSpPr>
        <p:spPr/>
        <p:txBody>
          <a:bodyPr/>
          <a:lstStyle/>
          <a:p>
            <a:fld id="{61FA19EA-5064-49B1-9585-B999408E0D52}" type="slidenum">
              <a:rPr lang="en-IN" smtClean="0"/>
              <a:pPr/>
              <a:t>6</a:t>
            </a:fld>
            <a:endParaRPr lang="en-IN"/>
          </a:p>
        </p:txBody>
      </p:sp>
    </p:spTree>
    <p:extLst>
      <p:ext uri="{BB962C8B-B14F-4D97-AF65-F5344CB8AC3E}">
        <p14:creationId xmlns:p14="http://schemas.microsoft.com/office/powerpoint/2010/main" xmlns="" val="3050773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E68F2C-BE24-BE73-D13B-D8505263CB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B5996B8-7075-D198-A3F3-E3DAD1BE1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D5244CD-55D3-4055-B5FA-F72CA544E357}"/>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872336EE-75D4-06E7-D3B6-5CB500A487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56B9B02-1A0D-2CC1-434C-D36CA439CC2E}"/>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1036839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1FFE89-B06A-62D2-0A1E-72CADA3375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3FCA46F-91D8-6700-5FC9-03D0CF8D44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2CE353-D64F-2559-84AA-19EA681D3CC3}"/>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B2BE0CA2-93F1-A1FE-E860-4CDB30800F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9E307FB-B1C4-3BC6-ADCA-6A2555EFCE35}"/>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1606211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CF9B47-373A-41EB-3AE5-6042A68C33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868BE96-2612-0E96-367A-3F8A1C687D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322E68D-7795-7ACC-69C2-5F56B40C2479}"/>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A265A612-F011-52FE-9234-926046EEAA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CF44E68-7D25-597E-E2C2-02EA6471F9B2}"/>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274471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1084B1-C1E6-A826-FBD3-A2A19E0A46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38A85D3-D1F4-38FF-0DF5-58F3EA51D8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D3FB887-F7B8-DD05-A99F-0B9581E5B1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4369F9E-ECAA-7DFA-494E-2DB22029C6C9}"/>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6" name="Footer Placeholder 5">
            <a:extLst>
              <a:ext uri="{FF2B5EF4-FFF2-40B4-BE49-F238E27FC236}">
                <a16:creationId xmlns:a16="http://schemas.microsoft.com/office/drawing/2014/main" xmlns="" id="{11F9DE93-1AA1-4881-20ED-4DEBA68254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0F871D2-CAB7-F10F-71D2-F3EBFC4EE184}"/>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487158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98EA64-C6CA-147C-1265-003E5A566FA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4C3F745-0342-B96B-D109-A655567905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4EC7ED6-4CE8-4DD2-E67E-F2A78E5F2C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8474800-67F5-7C0D-31E1-99523C4979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1D34E70D-F574-E714-FA55-409008A64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5DC6279-B593-1693-4D33-9B3EAB271222}"/>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8" name="Footer Placeholder 7">
            <a:extLst>
              <a:ext uri="{FF2B5EF4-FFF2-40B4-BE49-F238E27FC236}">
                <a16:creationId xmlns:a16="http://schemas.microsoft.com/office/drawing/2014/main" xmlns="" id="{1A7872D3-C235-E5B8-36C2-FD2E1D969E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4268884-64D1-EB28-DC77-1D722C6B6F73}"/>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4115006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FC7356-889E-66E3-8E1E-B9274B2219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6DC78710-2A60-CDD1-8865-19D8A65B017B}"/>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4" name="Footer Placeholder 3">
            <a:extLst>
              <a:ext uri="{FF2B5EF4-FFF2-40B4-BE49-F238E27FC236}">
                <a16:creationId xmlns:a16="http://schemas.microsoft.com/office/drawing/2014/main" xmlns="" id="{CA5D94A1-C120-D1D7-05CE-F6A38F07DB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16C487DF-03BE-3845-BAB7-59DF62CD06E5}"/>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45136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0AA0893-95C9-2202-5042-871667D6B6DD}"/>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3" name="Footer Placeholder 2">
            <a:extLst>
              <a:ext uri="{FF2B5EF4-FFF2-40B4-BE49-F238E27FC236}">
                <a16:creationId xmlns:a16="http://schemas.microsoft.com/office/drawing/2014/main" xmlns="" id="{76ACDA15-D069-0175-5AE8-BE47CA04CB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B9567795-FC10-675D-3417-63EF773FE44F}"/>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1376952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3BFF59-9081-CF04-19AD-9A4524649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F48C2D6-C629-ABA9-B94A-2A2B05EEA7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27741C0-CD91-B0FF-7912-E0E23879C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78AC341-53CD-6C2F-E5C7-D63A3BA9EBCD}"/>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6" name="Footer Placeholder 5">
            <a:extLst>
              <a:ext uri="{FF2B5EF4-FFF2-40B4-BE49-F238E27FC236}">
                <a16:creationId xmlns:a16="http://schemas.microsoft.com/office/drawing/2014/main" xmlns="" id="{841D2408-4837-C869-647A-E167E60796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E876017-E566-6904-FF4C-C3A953C4831E}"/>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2533431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7D892A-323E-45EB-7595-82C2048CE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637147F-48D3-60D0-3FBE-AE0AF49843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99EC09B-D1AA-6AEF-3EAE-35C29EE52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19B6BC9-B4E5-78F5-51CD-23BAD65AA43E}"/>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6" name="Footer Placeholder 5">
            <a:extLst>
              <a:ext uri="{FF2B5EF4-FFF2-40B4-BE49-F238E27FC236}">
                <a16:creationId xmlns:a16="http://schemas.microsoft.com/office/drawing/2014/main" xmlns="" id="{FB6D8D3E-BA79-3523-7363-C0CB4C1D34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6AE5614-0375-CD2F-A695-622D1A568230}"/>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2429501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FE7AF5-FBD4-7241-636C-08280CC67C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714F16BE-260F-1956-2B86-BA5B9C66C5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6EB4C4B-CB2E-2CC4-6E6E-9F73FF574D35}"/>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FE478A55-AAC2-5C14-305F-0919EB5F80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4D84D26-2195-956A-0CA2-EE324427FE18}"/>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162852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904145E-6BB1-3A24-0D5D-09A778C3F9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916FEE5-0705-EDCE-9FFA-9B693CC9A9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37CC3C2-DC2F-2F30-16DE-B625560B3057}"/>
              </a:ext>
            </a:extLst>
          </p:cNvPr>
          <p:cNvSpPr>
            <a:spLocks noGrp="1"/>
          </p:cNvSpPr>
          <p:nvPr>
            <p:ph type="dt" sz="half" idx="10"/>
          </p:nvPr>
        </p:nvSpPr>
        <p:spPr/>
        <p:txBody>
          <a:body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A6D6DC2F-F708-8F68-076A-7C9785B63B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FC43027-9CFD-DFAD-EAB3-69A8EDAB62DA}"/>
              </a:ext>
            </a:extLst>
          </p:cNvPr>
          <p:cNvSpPr>
            <a:spLocks noGrp="1"/>
          </p:cNvSpPr>
          <p:nvPr>
            <p:ph type="sldNum" sz="quarter" idx="12"/>
          </p:nvPr>
        </p:nvSpPr>
        <p:spPr/>
        <p:txBody>
          <a:body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421779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FB7402F-9197-6B1B-5A9A-82FB87AD8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27E0621-0C38-19BC-BE3F-C152939E61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08C0313-31A1-725B-E797-137DE9FE2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43AA30-5B7B-4754-BFBE-78253551550A}" type="datetimeFigureOut">
              <a:rPr lang="en-IN" smtClean="0"/>
              <a:pPr/>
              <a:t>21-04-2026</a:t>
            </a:fld>
            <a:endParaRPr lang="en-IN"/>
          </a:p>
        </p:txBody>
      </p:sp>
      <p:sp>
        <p:nvSpPr>
          <p:cNvPr id="5" name="Footer Placeholder 4">
            <a:extLst>
              <a:ext uri="{FF2B5EF4-FFF2-40B4-BE49-F238E27FC236}">
                <a16:creationId xmlns:a16="http://schemas.microsoft.com/office/drawing/2014/main" xmlns="" id="{DD895F5E-468A-8191-C4B9-C3E18FB840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AB1D92C4-63A2-0FA1-809B-B91A4CC8C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FE5DB7-D5A3-43B2-9E65-B7B9E1D064E5}" type="slidenum">
              <a:rPr lang="en-IN" smtClean="0"/>
              <a:pPr/>
              <a:t>‹#›</a:t>
            </a:fld>
            <a:endParaRPr lang="en-IN"/>
          </a:p>
        </p:txBody>
      </p:sp>
    </p:spTree>
    <p:extLst>
      <p:ext uri="{BB962C8B-B14F-4D97-AF65-F5344CB8AC3E}">
        <p14:creationId xmlns:p14="http://schemas.microsoft.com/office/powerpoint/2010/main" xmlns="" val="3925074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08FAB9-D347-ADCB-2A9C-6D015E76E845}"/>
              </a:ext>
            </a:extLst>
          </p:cNvPr>
          <p:cNvSpPr>
            <a:spLocks noGrp="1"/>
          </p:cNvSpPr>
          <p:nvPr>
            <p:ph type="title"/>
          </p:nvPr>
        </p:nvSpPr>
        <p:spPr>
          <a:xfrm>
            <a:off x="142240" y="0"/>
            <a:ext cx="11907520" cy="1057275"/>
          </a:xfrm>
        </p:spPr>
        <p:txBody>
          <a:bodyPr>
            <a:normAutofit/>
          </a:bodyPr>
          <a:lstStyle/>
          <a:p>
            <a:pPr algn="ctr"/>
            <a:r>
              <a:rPr lang="en-IN" sz="6600" b="1" dirty="0">
                <a:solidFill>
                  <a:srgbClr val="C00000"/>
                </a:solidFill>
                <a:latin typeface="Times New Roman" panose="02020603050405020304" pitchFamily="18" charset="0"/>
                <a:cs typeface="Times New Roman" panose="02020603050405020304" pitchFamily="18" charset="0"/>
              </a:rPr>
              <a:t>Human Resource Management</a:t>
            </a:r>
          </a:p>
        </p:txBody>
      </p:sp>
      <p:sp>
        <p:nvSpPr>
          <p:cNvPr id="3" name="Content Placeholder 2">
            <a:extLst>
              <a:ext uri="{FF2B5EF4-FFF2-40B4-BE49-F238E27FC236}">
                <a16:creationId xmlns:a16="http://schemas.microsoft.com/office/drawing/2014/main" xmlns="" id="{1A2F237B-6B00-1422-9DB9-6A32306967E0}"/>
              </a:ext>
            </a:extLst>
          </p:cNvPr>
          <p:cNvSpPr>
            <a:spLocks noGrp="1"/>
          </p:cNvSpPr>
          <p:nvPr>
            <p:ph idx="1"/>
          </p:nvPr>
        </p:nvSpPr>
        <p:spPr>
          <a:xfrm>
            <a:off x="142240" y="1198880"/>
            <a:ext cx="11907520" cy="5517515"/>
          </a:xfrm>
        </p:spPr>
        <p:txBody>
          <a:bodyPr>
            <a:noAutofit/>
          </a:bodyPr>
          <a:lstStyle/>
          <a:p>
            <a:pPr algn="just">
              <a:lnSpc>
                <a:spcPct val="100000"/>
              </a:lnSpc>
            </a:pPr>
            <a:r>
              <a:rPr lang="en-US" sz="3400" dirty="0">
                <a:latin typeface="Times New Roman" panose="02020603050405020304" pitchFamily="18" charset="0"/>
                <a:cs typeface="Times New Roman" panose="02020603050405020304" pitchFamily="18" charset="0"/>
              </a:rPr>
              <a:t>Human resource management (HRM) is the process of employing people, training them, compensating them, developing policies relating to them, and developing strategies to retain them.</a:t>
            </a:r>
          </a:p>
          <a:p>
            <a:pPr algn="just">
              <a:lnSpc>
                <a:spcPct val="100000"/>
              </a:lnSpc>
            </a:pPr>
            <a:r>
              <a:rPr lang="en-US" sz="3400" dirty="0">
                <a:latin typeface="Times New Roman" panose="02020603050405020304" pitchFamily="18" charset="0"/>
                <a:cs typeface="Times New Roman" panose="02020603050405020304" pitchFamily="18" charset="0"/>
              </a:rPr>
              <a:t>People with relevant skills and values are generally called as Human Resources.</a:t>
            </a:r>
          </a:p>
          <a:p>
            <a:pPr algn="just">
              <a:lnSpc>
                <a:spcPct val="100000"/>
              </a:lnSpc>
            </a:pPr>
            <a:r>
              <a:rPr lang="en-US" sz="3400" dirty="0">
                <a:latin typeface="Times New Roman" panose="02020603050405020304" pitchFamily="18" charset="0"/>
                <a:cs typeface="Times New Roman" panose="02020603050405020304" pitchFamily="18" charset="0"/>
              </a:rPr>
              <a:t>Many changes over the last twenty years.</a:t>
            </a:r>
          </a:p>
          <a:p>
            <a:pPr algn="just">
              <a:lnSpc>
                <a:spcPct val="100000"/>
              </a:lnSpc>
            </a:pPr>
            <a:r>
              <a:rPr lang="en-US" sz="3400" dirty="0">
                <a:latin typeface="Times New Roman" panose="02020603050405020304" pitchFamily="18" charset="0"/>
                <a:cs typeface="Times New Roman" panose="02020603050405020304" pitchFamily="18" charset="0"/>
              </a:rPr>
              <a:t>HRM) is concerned with the “people” dimension in </a:t>
            </a:r>
            <a:r>
              <a:rPr lang="en-US" sz="3400" dirty="0" err="1">
                <a:latin typeface="Times New Roman" panose="02020603050405020304" pitchFamily="18" charset="0"/>
                <a:cs typeface="Times New Roman" panose="02020603050405020304" pitchFamily="18" charset="0"/>
              </a:rPr>
              <a:t>organisations</a:t>
            </a:r>
            <a:r>
              <a:rPr lang="en-US" sz="3400" dirty="0">
                <a:latin typeface="Times New Roman" panose="02020603050405020304" pitchFamily="18" charset="0"/>
                <a:cs typeface="Times New Roman" panose="02020603050405020304" pitchFamily="18" charset="0"/>
              </a:rPr>
              <a:t>.</a:t>
            </a:r>
          </a:p>
          <a:p>
            <a:pPr algn="just">
              <a:lnSpc>
                <a:spcPct val="100000"/>
              </a:lnSpc>
            </a:pPr>
            <a:r>
              <a:rPr lang="en-US" sz="3400" dirty="0">
                <a:latin typeface="Times New Roman" panose="02020603050405020304" pitchFamily="18" charset="0"/>
                <a:cs typeface="Times New Roman" panose="02020603050405020304" pitchFamily="18" charset="0"/>
              </a:rPr>
              <a:t>The goal of HRM is to maximize employees’ contributions in order to achieve optimal productivity and effectiveness</a:t>
            </a:r>
          </a:p>
          <a:p>
            <a:pPr algn="just">
              <a:lnSpc>
                <a:spcPct val="100000"/>
              </a:lnSpc>
            </a:pPr>
            <a:endParaRPr lang="en-IN" sz="3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3253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9DA50B-E544-F480-C8DA-FD6DD34858DF}"/>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Definition</a:t>
            </a:r>
            <a:endParaRPr lang="en-IN" sz="6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EC790FE-2A8A-F0C0-ABEF-27BB07113EA2}"/>
              </a:ext>
            </a:extLst>
          </p:cNvPr>
          <p:cNvSpPr>
            <a:spLocks noGrp="1"/>
          </p:cNvSpPr>
          <p:nvPr>
            <p:ph idx="1"/>
          </p:nvPr>
        </p:nvSpPr>
        <p:spPr>
          <a:xfrm>
            <a:off x="142240" y="1158874"/>
            <a:ext cx="11907520" cy="5495927"/>
          </a:xfrm>
        </p:spPr>
        <p:txBody>
          <a:bodyPr>
            <a:noAutofit/>
          </a:bodyPr>
          <a:lstStyle/>
          <a:p>
            <a:pPr marL="0" indent="0" algn="just">
              <a:lnSpc>
                <a:spcPct val="100000"/>
              </a:lnSpc>
              <a:buNone/>
            </a:pPr>
            <a:r>
              <a:rPr lang="en-US" sz="3200" b="1" dirty="0">
                <a:latin typeface="Times New Roman" panose="02020603050405020304" pitchFamily="18" charset="0"/>
                <a:cs typeface="Times New Roman" panose="02020603050405020304" pitchFamily="18" charset="0"/>
              </a:rPr>
              <a:t>Leon C. Megginson </a:t>
            </a:r>
            <a:r>
              <a:rPr lang="en-US" sz="3200" dirty="0">
                <a:latin typeface="Times New Roman" panose="02020603050405020304" pitchFamily="18" charset="0"/>
                <a:cs typeface="Times New Roman" panose="02020603050405020304" pitchFamily="18" charset="0"/>
              </a:rPr>
              <a:t>explained the term human resources as “the total knowledge, skills, creative abilities, talents and aptitudes of an organization's workforce, as well as the value, attitudes and beliefs of the individuals involved.</a:t>
            </a:r>
          </a:p>
          <a:p>
            <a:pPr marL="0" indent="0" algn="just">
              <a:lnSpc>
                <a:spcPct val="100000"/>
              </a:lnSpc>
              <a:buNone/>
            </a:pPr>
            <a:endParaRPr lang="en-US" sz="3200" dirty="0">
              <a:latin typeface="Times New Roman" panose="02020603050405020304" pitchFamily="18" charset="0"/>
              <a:cs typeface="Times New Roman" panose="02020603050405020304" pitchFamily="18" charset="0"/>
            </a:endParaRPr>
          </a:p>
          <a:p>
            <a:pPr marL="0" indent="0" algn="just">
              <a:lnSpc>
                <a:spcPct val="100000"/>
              </a:lnSpc>
              <a:buNone/>
            </a:pPr>
            <a:r>
              <a:rPr lang="en-US" sz="3200" b="1" dirty="0">
                <a:latin typeface="Times New Roman" panose="02020603050405020304" pitchFamily="18" charset="0"/>
                <a:cs typeface="Times New Roman" panose="02020603050405020304" pitchFamily="18" charset="0"/>
              </a:rPr>
              <a:t>Edwin Flippo </a:t>
            </a:r>
            <a:r>
              <a:rPr lang="en-US" sz="3200" dirty="0">
                <a:latin typeface="Times New Roman" panose="02020603050405020304" pitchFamily="18" charset="0"/>
                <a:cs typeface="Times New Roman" panose="02020603050405020304" pitchFamily="18" charset="0"/>
              </a:rPr>
              <a:t>as “planning, organizing, directing, controlling of procurement, development, compensation, integration, maintenance and separation of human resources to the end that individual, organizational and social objectives are achieved.”</a:t>
            </a:r>
          </a:p>
          <a:p>
            <a:pPr marL="0" indent="0" algn="just">
              <a:lnSpc>
                <a:spcPct val="100000"/>
              </a:lnSpc>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61834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56C41D0-36B9-EED2-5A2C-BD4CC025C22C}"/>
              </a:ext>
            </a:extLst>
          </p:cNvPr>
          <p:cNvSpPr>
            <a:spLocks noGrp="1"/>
          </p:cNvSpPr>
          <p:nvPr>
            <p:ph idx="1"/>
          </p:nvPr>
        </p:nvSpPr>
        <p:spPr>
          <a:xfrm>
            <a:off x="152400" y="1412240"/>
            <a:ext cx="11877040" cy="5303519"/>
          </a:xfrm>
        </p:spPr>
        <p:txBody>
          <a:bodyPr>
            <a:normAutofit/>
          </a:bodyPr>
          <a:lstStyle/>
          <a:p>
            <a:pPr marL="0" indent="0" algn="just">
              <a:lnSpc>
                <a:spcPct val="100000"/>
              </a:lnSpc>
              <a:buNone/>
            </a:pPr>
            <a:r>
              <a:rPr lang="en-US" sz="3600" b="1" dirty="0">
                <a:latin typeface="Times New Roman" panose="02020603050405020304" pitchFamily="18" charset="0"/>
                <a:cs typeface="Times New Roman" panose="02020603050405020304" pitchFamily="18" charset="0"/>
              </a:rPr>
              <a:t>The National Institute of Personnel Management (NIPM) of India </a:t>
            </a:r>
            <a:r>
              <a:rPr lang="en-US" sz="3600" dirty="0">
                <a:latin typeface="Times New Roman" panose="02020603050405020304" pitchFamily="18" charset="0"/>
                <a:cs typeface="Times New Roman" panose="02020603050405020304" pitchFamily="18" charset="0"/>
              </a:rPr>
              <a:t>has defined human resource as “that part of management which is concerned with people at work and with their relationship within an enterprise. Its aim is to bring together and develop into an effective organization of the men and women who make up an enterprise and having regard for the well-being of the individuals and of working groups, to enable them to make their best contribution to organizational success.” </a:t>
            </a:r>
          </a:p>
          <a:p>
            <a:pPr marL="0" indent="0" algn="just">
              <a:lnSpc>
                <a:spcPct val="100000"/>
              </a:lnSpc>
              <a:buNone/>
            </a:pPr>
            <a:endParaRPr lang="en-IN" sz="3600" dirty="0"/>
          </a:p>
        </p:txBody>
      </p:sp>
      <p:sp>
        <p:nvSpPr>
          <p:cNvPr id="4" name="Title 1">
            <a:extLst>
              <a:ext uri="{FF2B5EF4-FFF2-40B4-BE49-F238E27FC236}">
                <a16:creationId xmlns:a16="http://schemas.microsoft.com/office/drawing/2014/main" xmlns="" id="{F99E1354-6D2B-3828-55E4-BD4AF02E9FF3}"/>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Definition</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9375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C9C9EFD-C2BB-0027-6A2F-0286C42E31E3}"/>
              </a:ext>
            </a:extLst>
          </p:cNvPr>
          <p:cNvSpPr>
            <a:spLocks noGrp="1"/>
          </p:cNvSpPr>
          <p:nvPr>
            <p:ph idx="1"/>
          </p:nvPr>
        </p:nvSpPr>
        <p:spPr>
          <a:xfrm>
            <a:off x="121920" y="1280160"/>
            <a:ext cx="11927840" cy="5384799"/>
          </a:xfrm>
        </p:spPr>
        <p:txBody>
          <a:bodyPr>
            <a:normAutofit/>
          </a:bodyPr>
          <a:lstStyle/>
          <a:p>
            <a:r>
              <a:rPr lang="en-US" sz="4400" dirty="0">
                <a:latin typeface="Times New Roman" panose="02020603050405020304" pitchFamily="18" charset="0"/>
                <a:cs typeface="Times New Roman" panose="02020603050405020304" pitchFamily="18" charset="0"/>
              </a:rPr>
              <a:t>Universal Force </a:t>
            </a:r>
          </a:p>
          <a:p>
            <a:r>
              <a:rPr lang="en-US" sz="4400" dirty="0">
                <a:latin typeface="Times New Roman" panose="02020603050405020304" pitchFamily="18" charset="0"/>
                <a:cs typeface="Times New Roman" panose="02020603050405020304" pitchFamily="18" charset="0"/>
              </a:rPr>
              <a:t>Action Oriented </a:t>
            </a:r>
          </a:p>
          <a:p>
            <a:r>
              <a:rPr lang="en-US" sz="4400" dirty="0">
                <a:latin typeface="Times New Roman" panose="02020603050405020304" pitchFamily="18" charset="0"/>
                <a:cs typeface="Times New Roman" panose="02020603050405020304" pitchFamily="18" charset="0"/>
              </a:rPr>
              <a:t>Individual Oriented</a:t>
            </a:r>
          </a:p>
          <a:p>
            <a:r>
              <a:rPr lang="en-US" sz="4400" dirty="0">
                <a:latin typeface="Times New Roman" panose="02020603050405020304" pitchFamily="18" charset="0"/>
                <a:cs typeface="Times New Roman" panose="02020603050405020304" pitchFamily="18" charset="0"/>
              </a:rPr>
              <a:t>People Oriented </a:t>
            </a:r>
          </a:p>
          <a:p>
            <a:r>
              <a:rPr lang="en-US" sz="4400" dirty="0">
                <a:latin typeface="Times New Roman" panose="02020603050405020304" pitchFamily="18" charset="0"/>
                <a:cs typeface="Times New Roman" panose="02020603050405020304" pitchFamily="18" charset="0"/>
              </a:rPr>
              <a:t>Future Oriented </a:t>
            </a:r>
          </a:p>
          <a:p>
            <a:r>
              <a:rPr lang="en-US" sz="4400" dirty="0">
                <a:latin typeface="Times New Roman" panose="02020603050405020304" pitchFamily="18" charset="0"/>
                <a:cs typeface="Times New Roman" panose="02020603050405020304" pitchFamily="18" charset="0"/>
              </a:rPr>
              <a:t>Development Oriented </a:t>
            </a:r>
          </a:p>
          <a:p>
            <a:r>
              <a:rPr lang="en-US" sz="4400" dirty="0">
                <a:latin typeface="Times New Roman" panose="02020603050405020304" pitchFamily="18" charset="0"/>
                <a:cs typeface="Times New Roman" panose="02020603050405020304" pitchFamily="18" charset="0"/>
              </a:rPr>
              <a:t>Integration Mechanism </a:t>
            </a:r>
            <a:endParaRPr lang="en-IN" sz="4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4B905C75-BC7E-A49B-A9E8-8318B406916D}"/>
              </a:ext>
            </a:extLst>
          </p:cNvPr>
          <p:cNvSpPr>
            <a:spLocks noGrp="1"/>
          </p:cNvSpPr>
          <p:nvPr>
            <p:ph type="title"/>
          </p:nvPr>
        </p:nvSpPr>
        <p:spPr>
          <a:xfrm>
            <a:off x="0" y="1"/>
            <a:ext cx="1204976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Nature of HRM</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28598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AAB3EA53-70BA-87B3-608D-718CC7C1891F}"/>
              </a:ext>
            </a:extLst>
          </p:cNvPr>
          <p:cNvPicPr>
            <a:picLocks noChangeAspect="1"/>
          </p:cNvPicPr>
          <p:nvPr/>
        </p:nvPicPr>
        <p:blipFill>
          <a:blip r:embed="rId2"/>
          <a:stretch>
            <a:fillRect/>
          </a:stretch>
        </p:blipFill>
        <p:spPr>
          <a:xfrm>
            <a:off x="91440" y="81280"/>
            <a:ext cx="11998960" cy="6583680"/>
          </a:xfrm>
          <a:prstGeom prst="rect">
            <a:avLst/>
          </a:prstGeom>
        </p:spPr>
      </p:pic>
    </p:spTree>
    <p:extLst>
      <p:ext uri="{BB962C8B-B14F-4D97-AF65-F5344CB8AC3E}">
        <p14:creationId xmlns:p14="http://schemas.microsoft.com/office/powerpoint/2010/main" xmlns="" val="198950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5DDD9C-56B3-4F80-188E-6512BFEC5887}"/>
              </a:ext>
            </a:extLst>
          </p:cNvPr>
          <p:cNvSpPr>
            <a:spLocks noGrp="1"/>
          </p:cNvSpPr>
          <p:nvPr>
            <p:ph idx="1"/>
          </p:nvPr>
        </p:nvSpPr>
        <p:spPr>
          <a:xfrm>
            <a:off x="142240" y="1209040"/>
            <a:ext cx="11907520" cy="5527039"/>
          </a:xfrm>
        </p:spPr>
        <p:txBody>
          <a:bodyPr>
            <a:normAutofit/>
          </a:bodyPr>
          <a:lstStyle/>
          <a:p>
            <a:r>
              <a:rPr lang="en-IN" sz="4800" dirty="0">
                <a:latin typeface="Times New Roman" panose="02020603050405020304" pitchFamily="18" charset="0"/>
                <a:cs typeface="Times New Roman" panose="02020603050405020304" pitchFamily="18" charset="0"/>
              </a:rPr>
              <a:t>Manpower Planning</a:t>
            </a:r>
          </a:p>
          <a:p>
            <a:r>
              <a:rPr lang="en-IN" sz="4800" dirty="0">
                <a:latin typeface="Times New Roman" panose="02020603050405020304" pitchFamily="18" charset="0"/>
                <a:cs typeface="Times New Roman" panose="02020603050405020304" pitchFamily="18" charset="0"/>
              </a:rPr>
              <a:t>Employee Hiring </a:t>
            </a:r>
          </a:p>
          <a:p>
            <a:r>
              <a:rPr lang="en-IN" sz="4800" dirty="0">
                <a:latin typeface="Times New Roman" panose="02020603050405020304" pitchFamily="18" charset="0"/>
                <a:cs typeface="Times New Roman" panose="02020603050405020304" pitchFamily="18" charset="0"/>
              </a:rPr>
              <a:t>Employee Rewards </a:t>
            </a:r>
          </a:p>
          <a:p>
            <a:r>
              <a:rPr lang="en-IN" sz="4800" dirty="0">
                <a:latin typeface="Times New Roman" panose="02020603050405020304" pitchFamily="18" charset="0"/>
                <a:cs typeface="Times New Roman" panose="02020603050405020304" pitchFamily="18" charset="0"/>
              </a:rPr>
              <a:t>Employee Development </a:t>
            </a:r>
          </a:p>
          <a:p>
            <a:r>
              <a:rPr lang="en-IN" sz="4800" dirty="0">
                <a:latin typeface="Times New Roman" panose="02020603050405020304" pitchFamily="18" charset="0"/>
                <a:cs typeface="Times New Roman" panose="02020603050405020304" pitchFamily="18" charset="0"/>
              </a:rPr>
              <a:t>Performance Management </a:t>
            </a:r>
          </a:p>
          <a:p>
            <a:r>
              <a:rPr lang="en-IN" sz="4800" dirty="0">
                <a:latin typeface="Times New Roman" panose="02020603050405020304" pitchFamily="18" charset="0"/>
                <a:cs typeface="Times New Roman" panose="02020603050405020304" pitchFamily="18" charset="0"/>
              </a:rPr>
              <a:t>Industrial Relations</a:t>
            </a:r>
          </a:p>
          <a:p>
            <a:endParaRPr lang="en-IN" sz="4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40843B9F-BB20-B381-50AE-8FBBD7209542}"/>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Scope of HRM</a:t>
            </a:r>
            <a:endParaRPr lang="en-IN" sz="6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674219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7F7E1C2-2B84-EBD0-B1F8-E9207DDF1741}"/>
              </a:ext>
            </a:extLst>
          </p:cNvPr>
          <p:cNvSpPr>
            <a:spLocks noGrp="1"/>
          </p:cNvSpPr>
          <p:nvPr>
            <p:ph idx="1"/>
          </p:nvPr>
        </p:nvSpPr>
        <p:spPr>
          <a:xfrm>
            <a:off x="142240" y="1381760"/>
            <a:ext cx="11907520" cy="5323839"/>
          </a:xfrm>
        </p:spPr>
        <p:txBody>
          <a:bodyPr>
            <a:normAutofit/>
          </a:bodyPr>
          <a:lstStyle/>
          <a:p>
            <a:r>
              <a:rPr lang="en-IN" sz="4800" dirty="0">
                <a:latin typeface="Times New Roman" panose="02020603050405020304" pitchFamily="18" charset="0"/>
                <a:cs typeface="Times New Roman" panose="02020603050405020304" pitchFamily="18" charset="0"/>
              </a:rPr>
              <a:t>Social Significance</a:t>
            </a:r>
          </a:p>
          <a:p>
            <a:r>
              <a:rPr lang="en-IN" sz="4800" dirty="0">
                <a:latin typeface="Times New Roman" panose="02020603050405020304" pitchFamily="18" charset="0"/>
                <a:cs typeface="Times New Roman" panose="02020603050405020304" pitchFamily="18" charset="0"/>
              </a:rPr>
              <a:t>Professional Significance</a:t>
            </a:r>
          </a:p>
          <a:p>
            <a:r>
              <a:rPr lang="en-IN" sz="4800" dirty="0">
                <a:latin typeface="Times New Roman" panose="02020603050405020304" pitchFamily="18" charset="0"/>
                <a:cs typeface="Times New Roman" panose="02020603050405020304" pitchFamily="18" charset="0"/>
              </a:rPr>
              <a:t>Organisational Significance</a:t>
            </a:r>
          </a:p>
        </p:txBody>
      </p:sp>
      <p:sp>
        <p:nvSpPr>
          <p:cNvPr id="4" name="Title 1">
            <a:extLst>
              <a:ext uri="{FF2B5EF4-FFF2-40B4-BE49-F238E27FC236}">
                <a16:creationId xmlns:a16="http://schemas.microsoft.com/office/drawing/2014/main" xmlns="" id="{49D59F1C-0F95-5456-EC25-709ADCA229A0}"/>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Importance of HRM</a:t>
            </a:r>
          </a:p>
        </p:txBody>
      </p:sp>
    </p:spTree>
    <p:extLst>
      <p:ext uri="{BB962C8B-B14F-4D97-AF65-F5344CB8AC3E}">
        <p14:creationId xmlns:p14="http://schemas.microsoft.com/office/powerpoint/2010/main" xmlns="" val="86981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F24AAEB-DDB0-11CB-381D-4A906CB4BF5C}"/>
              </a:ext>
            </a:extLst>
          </p:cNvPr>
          <p:cNvSpPr>
            <a:spLocks noGrp="1"/>
          </p:cNvSpPr>
          <p:nvPr>
            <p:ph idx="1"/>
          </p:nvPr>
        </p:nvSpPr>
        <p:spPr>
          <a:xfrm>
            <a:off x="582706" y="985519"/>
            <a:ext cx="10515600" cy="5482515"/>
          </a:xfrm>
        </p:spPr>
        <p:txBody>
          <a:bodyPr>
            <a:normAutofit/>
          </a:bodyPr>
          <a:lstStyle/>
          <a:p>
            <a:pPr algn="just">
              <a:buNone/>
            </a:pPr>
            <a:r>
              <a:rPr lang="en-US" dirty="0">
                <a:latin typeface="Times New Roman" pitchFamily="18" charset="0"/>
                <a:cs typeface="Times New Roman" pitchFamily="18" charset="0"/>
              </a:rPr>
              <a:t>The concept of HRM has developed through a  number of stages. They are as follows : </a:t>
            </a:r>
          </a:p>
          <a:p>
            <a:pPr marL="514350" indent="-514350" algn="just">
              <a:buFont typeface="+mj-lt"/>
              <a:buAutoNum type="arabicPeriod"/>
            </a:pPr>
            <a:r>
              <a:rPr lang="en-US" dirty="0" smtClean="0">
                <a:solidFill>
                  <a:srgbClr val="FF0000"/>
                </a:solidFill>
                <a:latin typeface="Times New Roman" pitchFamily="18" charset="0"/>
                <a:cs typeface="Times New Roman" pitchFamily="18" charset="0"/>
              </a:rPr>
              <a:t>Industrial revolution (late </a:t>
            </a:r>
            <a:r>
              <a:rPr lang="en-US" dirty="0" smtClean="0">
                <a:solidFill>
                  <a:srgbClr val="FF0000"/>
                </a:solidFill>
              </a:rPr>
              <a:t>18th </a:t>
            </a:r>
            <a:r>
              <a:rPr lang="en-US" dirty="0">
                <a:solidFill>
                  <a:srgbClr val="FF0000"/>
                </a:solidFill>
              </a:rPr>
              <a:t>to early 19th </a:t>
            </a:r>
            <a:r>
              <a:rPr lang="en-US" dirty="0" smtClean="0">
                <a:solidFill>
                  <a:srgbClr val="FF0000"/>
                </a:solidFill>
              </a:rPr>
              <a:t>century)</a:t>
            </a:r>
          </a:p>
          <a:p>
            <a:pPr>
              <a:buFont typeface="Wingdings" panose="05000000000000000000" pitchFamily="2" charset="2"/>
              <a:buChar char="v"/>
            </a:pPr>
            <a:r>
              <a:rPr lang="en-US" dirty="0"/>
              <a:t>Workers moved from farms to </a:t>
            </a:r>
            <a:r>
              <a:rPr lang="en-US" dirty="0" smtClean="0"/>
              <a:t>factories.</a:t>
            </a:r>
          </a:p>
          <a:p>
            <a:pPr>
              <a:buFont typeface="Wingdings" panose="05000000000000000000" pitchFamily="2" charset="2"/>
              <a:buChar char="v"/>
            </a:pPr>
            <a:r>
              <a:rPr lang="en-US" dirty="0"/>
              <a:t>Workers were treated like machines</a:t>
            </a:r>
            <a:r>
              <a:rPr lang="en-US" dirty="0" smtClean="0"/>
              <a:t>.</a:t>
            </a:r>
          </a:p>
          <a:p>
            <a:pPr>
              <a:buFont typeface="Wingdings" panose="05000000000000000000" pitchFamily="2" charset="2"/>
              <a:buChar char="v"/>
            </a:pPr>
            <a:r>
              <a:rPr lang="en-US" dirty="0"/>
              <a:t>Management focused mainly on productivity, not employee </a:t>
            </a:r>
            <a:r>
              <a:rPr lang="en-US" dirty="0" smtClean="0"/>
              <a:t>welfare.</a:t>
            </a:r>
          </a:p>
          <a:p>
            <a:pPr marL="0" indent="0">
              <a:buNone/>
            </a:pPr>
            <a:endParaRPr lang="en-US" dirty="0" smtClean="0">
              <a:latin typeface="Times New Roman" pitchFamily="18" charset="0"/>
              <a:cs typeface="Times New Roman" pitchFamily="18" charset="0"/>
            </a:endParaRPr>
          </a:p>
          <a:p>
            <a:pPr marL="0" indent="0" algn="just">
              <a:buNone/>
            </a:pPr>
            <a:r>
              <a:rPr lang="en-US" dirty="0" smtClean="0">
                <a:solidFill>
                  <a:srgbClr val="FF0000"/>
                </a:solidFill>
                <a:latin typeface="Times New Roman" pitchFamily="18" charset="0"/>
                <a:cs typeface="Times New Roman" pitchFamily="18" charset="0"/>
              </a:rPr>
              <a:t>2. Scientific management (</a:t>
            </a:r>
            <a:r>
              <a:rPr lang="en-US" dirty="0">
                <a:solidFill>
                  <a:srgbClr val="FF0000"/>
                </a:solidFill>
              </a:rPr>
              <a:t>early 20th </a:t>
            </a:r>
            <a:r>
              <a:rPr lang="en-US" dirty="0" smtClean="0">
                <a:solidFill>
                  <a:srgbClr val="FF0000"/>
                </a:solidFill>
              </a:rPr>
              <a:t>century)</a:t>
            </a:r>
            <a:endParaRPr lang="en-US" dirty="0" smtClean="0">
              <a:solidFill>
                <a:srgbClr val="FF0000"/>
              </a:solidFill>
              <a:latin typeface="Times New Roman" pitchFamily="18" charset="0"/>
              <a:cs typeface="Times New Roman" pitchFamily="18" charset="0"/>
            </a:endParaRPr>
          </a:p>
          <a:p>
            <a:pPr algn="just">
              <a:buFont typeface="Wingdings" panose="05000000000000000000" pitchFamily="2" charset="2"/>
              <a:buChar char="v"/>
            </a:pPr>
            <a:r>
              <a:rPr lang="en-US" dirty="0"/>
              <a:t>Focused on improving efficiency through scientific </a:t>
            </a:r>
            <a:r>
              <a:rPr lang="en-US" dirty="0" smtClean="0"/>
              <a:t>methods</a:t>
            </a:r>
          </a:p>
          <a:p>
            <a:pPr algn="just">
              <a:buFont typeface="Wingdings" panose="05000000000000000000" pitchFamily="2" charset="2"/>
              <a:buChar char="v"/>
            </a:pPr>
            <a:r>
              <a:rPr lang="en-US" dirty="0"/>
              <a:t>Workers followed fixed methods to increase productivity</a:t>
            </a:r>
            <a:r>
              <a:rPr lang="en-US" dirty="0" smtClean="0"/>
              <a:t>.</a:t>
            </a:r>
          </a:p>
          <a:p>
            <a:pPr algn="just">
              <a:buFont typeface="Wingdings" panose="05000000000000000000" pitchFamily="2" charset="2"/>
              <a:buChar char="v"/>
            </a:pPr>
            <a:r>
              <a:rPr lang="en-US" dirty="0"/>
              <a:t>Workers were trained to follow precise instructions</a:t>
            </a:r>
            <a:endParaRPr lang="en-US" dirty="0" smtClean="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xmlns="" id="{0D334063-635B-AF2F-273C-9496CBF127D0}"/>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Evolution Of HRM</a:t>
            </a:r>
          </a:p>
        </p:txBody>
      </p:sp>
    </p:spTree>
    <p:extLst>
      <p:ext uri="{BB962C8B-B14F-4D97-AF65-F5344CB8AC3E}">
        <p14:creationId xmlns:p14="http://schemas.microsoft.com/office/powerpoint/2010/main" xmlns="" val="101180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5118" y="645459"/>
            <a:ext cx="11026588" cy="6124754"/>
          </a:xfrm>
          <a:prstGeom prst="rect">
            <a:avLst/>
          </a:prstGeom>
        </p:spPr>
        <p:txBody>
          <a:bodyPr wrap="square">
            <a:spAutoFit/>
          </a:bodyPr>
          <a:lstStyle/>
          <a:p>
            <a:pPr algn="just"/>
            <a:r>
              <a:rPr lang="en-US" sz="2800" dirty="0" smtClean="0">
                <a:solidFill>
                  <a:srgbClr val="FF0000"/>
                </a:solidFill>
                <a:latin typeface="Times New Roman" pitchFamily="18" charset="0"/>
                <a:cs typeface="Times New Roman" pitchFamily="18" charset="0"/>
              </a:rPr>
              <a:t>3. Trade </a:t>
            </a:r>
            <a:r>
              <a:rPr lang="en-US" sz="2800" dirty="0">
                <a:solidFill>
                  <a:srgbClr val="FF0000"/>
                </a:solidFill>
                <a:latin typeface="Times New Roman" pitchFamily="18" charset="0"/>
                <a:cs typeface="Times New Roman" pitchFamily="18" charset="0"/>
              </a:rPr>
              <a:t>unionism </a:t>
            </a:r>
            <a:endParaRPr lang="en-US" sz="2800" dirty="0" smtClean="0">
              <a:solidFill>
                <a:srgbClr val="FF0000"/>
              </a:solidFill>
              <a:latin typeface="Times New Roman" pitchFamily="18" charset="0"/>
              <a:cs typeface="Times New Roman" pitchFamily="18" charset="0"/>
            </a:endParaRPr>
          </a:p>
          <a:p>
            <a:pPr marL="457200" indent="-457200" algn="just">
              <a:buFont typeface="Wingdings" panose="05000000000000000000" pitchFamily="2" charset="2"/>
              <a:buChar char="v"/>
            </a:pPr>
            <a:r>
              <a:rPr lang="en-US" sz="2800" dirty="0"/>
              <a:t>Workers formed unions to protect their </a:t>
            </a:r>
            <a:r>
              <a:rPr lang="en-US" sz="2800" dirty="0" smtClean="0"/>
              <a:t>rights.</a:t>
            </a:r>
            <a:endParaRPr lang="en-US" sz="2800" dirty="0" smtClean="0">
              <a:latin typeface="Times New Roman" pitchFamily="18" charset="0"/>
              <a:cs typeface="Times New Roman" pitchFamily="18" charset="0"/>
            </a:endParaRPr>
          </a:p>
          <a:p>
            <a:pPr marL="457200" indent="-457200" algn="just">
              <a:buFont typeface="Wingdings" panose="05000000000000000000" pitchFamily="2" charset="2"/>
              <a:buChar char="v"/>
            </a:pPr>
            <a:r>
              <a:rPr lang="en-US" sz="2800" dirty="0"/>
              <a:t>Focus on fair wages, better working conditions, and job </a:t>
            </a:r>
            <a:r>
              <a:rPr lang="en-US" sz="2800" dirty="0" smtClean="0"/>
              <a:t>security.</a:t>
            </a:r>
          </a:p>
          <a:p>
            <a:pPr marL="457200" indent="-457200" algn="just">
              <a:buFont typeface="Wingdings" panose="05000000000000000000" pitchFamily="2" charset="2"/>
              <a:buChar char="v"/>
            </a:pPr>
            <a:r>
              <a:rPr lang="en-US" sz="2800" dirty="0"/>
              <a:t>Collective bargaining became </a:t>
            </a:r>
            <a:r>
              <a:rPr lang="en-US" sz="2800" dirty="0" smtClean="0"/>
              <a:t>important.</a:t>
            </a:r>
          </a:p>
          <a:p>
            <a:pPr marL="457200" indent="-457200" algn="just">
              <a:buFont typeface="Wingdings" panose="05000000000000000000" pitchFamily="2" charset="2"/>
              <a:buChar char="v"/>
            </a:pPr>
            <a:endParaRPr lang="en-US" sz="2800" dirty="0">
              <a:latin typeface="Times New Roman" pitchFamily="18" charset="0"/>
              <a:cs typeface="Times New Roman" pitchFamily="18" charset="0"/>
            </a:endParaRPr>
          </a:p>
          <a:p>
            <a:pPr algn="just"/>
            <a:r>
              <a:rPr lang="en-US" sz="2800" dirty="0" smtClean="0">
                <a:solidFill>
                  <a:srgbClr val="FF0000"/>
                </a:solidFill>
                <a:latin typeface="Times New Roman" pitchFamily="18" charset="0"/>
                <a:cs typeface="Times New Roman" pitchFamily="18" charset="0"/>
              </a:rPr>
              <a:t>4. Human </a:t>
            </a:r>
            <a:r>
              <a:rPr lang="en-US" sz="2800" dirty="0">
                <a:solidFill>
                  <a:srgbClr val="FF0000"/>
                </a:solidFill>
                <a:latin typeface="Times New Roman" pitchFamily="18" charset="0"/>
                <a:cs typeface="Times New Roman" pitchFamily="18" charset="0"/>
              </a:rPr>
              <a:t>relations </a:t>
            </a:r>
            <a:r>
              <a:rPr lang="en-US" sz="2800" dirty="0" smtClean="0">
                <a:solidFill>
                  <a:srgbClr val="FF0000"/>
                </a:solidFill>
                <a:latin typeface="Times New Roman" pitchFamily="18" charset="0"/>
                <a:cs typeface="Times New Roman" pitchFamily="18" charset="0"/>
              </a:rPr>
              <a:t>movement (</a:t>
            </a:r>
            <a:r>
              <a:rPr lang="en-US" sz="2800" dirty="0">
                <a:solidFill>
                  <a:srgbClr val="FF0000"/>
                </a:solidFill>
              </a:rPr>
              <a:t>1920s–1930s</a:t>
            </a:r>
            <a:r>
              <a:rPr lang="en-US" sz="2800" dirty="0" smtClean="0">
                <a:solidFill>
                  <a:srgbClr val="FF0000"/>
                </a:solidFill>
              </a:rPr>
              <a:t>,)</a:t>
            </a:r>
            <a:endParaRPr lang="en-US" sz="2800" dirty="0" smtClean="0">
              <a:solidFill>
                <a:srgbClr val="FF0000"/>
              </a:solidFill>
              <a:latin typeface="Times New Roman" pitchFamily="18" charset="0"/>
              <a:cs typeface="Times New Roman" pitchFamily="18" charset="0"/>
            </a:endParaRPr>
          </a:p>
          <a:p>
            <a:pPr marL="457200" lvl="0" indent="-457200" algn="just">
              <a:buFont typeface="Wingdings" panose="05000000000000000000" pitchFamily="2" charset="2"/>
              <a:buChar char="v"/>
            </a:pPr>
            <a:r>
              <a:rPr lang="en-US" altLang="en-US" sz="2800" dirty="0">
                <a:latin typeface="Arial" panose="020B0604020202020204" pitchFamily="34" charset="0"/>
              </a:rPr>
              <a:t>Focus on teamwork, communication, and </a:t>
            </a:r>
            <a:r>
              <a:rPr lang="en-US" altLang="en-US" sz="2800" dirty="0" smtClean="0">
                <a:latin typeface="Arial" panose="020B0604020202020204" pitchFamily="34" charset="0"/>
              </a:rPr>
              <a:t>leadership.</a:t>
            </a:r>
            <a:endParaRPr lang="en-US" altLang="en-US" sz="2800" dirty="0">
              <a:latin typeface="Arial" panose="020B0604020202020204" pitchFamily="34" charset="0"/>
            </a:endParaRPr>
          </a:p>
          <a:p>
            <a:pPr marL="457200" lvl="0" indent="-457200" algn="just">
              <a:buFont typeface="Wingdings" panose="05000000000000000000" pitchFamily="2" charset="2"/>
              <a:buChar char="v"/>
            </a:pPr>
            <a:r>
              <a:rPr lang="en-US" altLang="en-US" sz="2800" dirty="0">
                <a:latin typeface="Arial" panose="020B0604020202020204" pitchFamily="34" charset="0"/>
              </a:rPr>
              <a:t>Showed that attention to employees improves </a:t>
            </a:r>
            <a:r>
              <a:rPr lang="en-US" altLang="en-US" sz="2800" dirty="0" smtClean="0">
                <a:latin typeface="Arial" panose="020B0604020202020204" pitchFamily="34" charset="0"/>
              </a:rPr>
              <a:t>productivity.</a:t>
            </a:r>
            <a:endParaRPr lang="en-US" altLang="en-US" sz="2800" dirty="0">
              <a:latin typeface="Arial" panose="020B0604020202020204" pitchFamily="34" charset="0"/>
            </a:endParaRPr>
          </a:p>
          <a:p>
            <a:pPr marL="457200" indent="-457200" algn="just">
              <a:buFont typeface="Wingdings" panose="05000000000000000000" pitchFamily="2" charset="2"/>
              <a:buChar char="v"/>
            </a:pPr>
            <a:r>
              <a:rPr lang="en-US" sz="2800" dirty="0"/>
              <a:t>Recognized that employee motivation isn’t just about </a:t>
            </a:r>
            <a:r>
              <a:rPr lang="en-US" sz="2800" dirty="0" smtClean="0"/>
              <a:t>money.</a:t>
            </a:r>
            <a:endParaRPr lang="en-US" sz="2800" dirty="0" smtClean="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a:p>
            <a:pPr algn="just"/>
            <a:r>
              <a:rPr lang="en-US" sz="2800" dirty="0" smtClean="0">
                <a:solidFill>
                  <a:srgbClr val="FF0000"/>
                </a:solidFill>
                <a:latin typeface="Times New Roman" pitchFamily="18" charset="0"/>
                <a:cs typeface="Times New Roman" pitchFamily="18" charset="0"/>
              </a:rPr>
              <a:t>5. Human </a:t>
            </a:r>
            <a:r>
              <a:rPr lang="en-US" sz="2800" dirty="0">
                <a:solidFill>
                  <a:srgbClr val="FF0000"/>
                </a:solidFill>
                <a:latin typeface="Times New Roman" pitchFamily="18" charset="0"/>
                <a:cs typeface="Times New Roman" pitchFamily="18" charset="0"/>
              </a:rPr>
              <a:t>resource approach </a:t>
            </a:r>
            <a:endParaRPr lang="en-US" sz="2800" dirty="0" smtClean="0">
              <a:solidFill>
                <a:srgbClr val="FF0000"/>
              </a:solidFill>
              <a:latin typeface="Times New Roman" pitchFamily="18" charset="0"/>
              <a:cs typeface="Times New Roman" pitchFamily="18" charset="0"/>
            </a:endParaRPr>
          </a:p>
          <a:p>
            <a:pPr marL="457200" indent="-457200" algn="just">
              <a:buFont typeface="Wingdings" panose="05000000000000000000" pitchFamily="2" charset="2"/>
              <a:buChar char="v"/>
            </a:pPr>
            <a:r>
              <a:rPr lang="en-US" sz="2800" dirty="0"/>
              <a:t>Employees are viewed as </a:t>
            </a:r>
            <a:r>
              <a:rPr lang="en-US" sz="2800" b="1" dirty="0"/>
              <a:t>valuable assets</a:t>
            </a:r>
            <a:r>
              <a:rPr lang="en-US" sz="2800" dirty="0"/>
              <a:t> (human capital</a:t>
            </a:r>
            <a:r>
              <a:rPr lang="en-US" sz="2800" dirty="0" smtClean="0"/>
              <a:t>).</a:t>
            </a:r>
          </a:p>
          <a:p>
            <a:pPr marL="457200" indent="-457200" algn="just">
              <a:buFont typeface="Wingdings" panose="05000000000000000000" pitchFamily="2" charset="2"/>
              <a:buChar char="v"/>
            </a:pPr>
            <a:r>
              <a:rPr lang="en-US" sz="2800" dirty="0"/>
              <a:t>Focus on development, engagement, and long-term </a:t>
            </a:r>
            <a:r>
              <a:rPr lang="en-US" sz="2800" dirty="0" smtClean="0"/>
              <a:t>growth.</a:t>
            </a:r>
          </a:p>
          <a:p>
            <a:pPr marL="457200" indent="-457200" algn="just">
              <a:buFont typeface="Wingdings" panose="05000000000000000000" pitchFamily="2" charset="2"/>
              <a:buChar char="v"/>
            </a:pPr>
            <a:r>
              <a:rPr lang="en-US" sz="2800" dirty="0"/>
              <a:t>Aligns employee goals with organizational </a:t>
            </a:r>
            <a:r>
              <a:rPr lang="en-US" sz="2800" dirty="0" smtClean="0"/>
              <a:t>goals.</a:t>
            </a:r>
            <a:endParaRPr lang="en-US"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08184544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Functions of HRM</a:t>
            </a:r>
            <a:endParaRPr lang="en-US" dirty="0"/>
          </a:p>
        </p:txBody>
      </p:sp>
      <p:sp>
        <p:nvSpPr>
          <p:cNvPr id="3" name="Text Placeholder 2"/>
          <p:cNvSpPr>
            <a:spLocks noGrp="1"/>
          </p:cNvSpPr>
          <p:nvPr>
            <p:ph type="body" idx="1"/>
          </p:nvPr>
        </p:nvSpPr>
        <p:spPr>
          <a:xfrm>
            <a:off x="564776" y="1538933"/>
            <a:ext cx="5432799" cy="510708"/>
          </a:xfrm>
        </p:spPr>
        <p:txBody>
          <a:bodyPr>
            <a:normAutofit lnSpcReduction="10000"/>
          </a:bodyPr>
          <a:lstStyle/>
          <a:p>
            <a:pPr marL="457200" indent="-457200">
              <a:buFont typeface="Wingdings" panose="05000000000000000000" pitchFamily="2" charset="2"/>
              <a:buChar char="v"/>
            </a:pPr>
            <a:r>
              <a:rPr lang="en-IN" sz="3200" dirty="0"/>
              <a:t>Managerial function</a:t>
            </a:r>
          </a:p>
        </p:txBody>
      </p:sp>
      <p:sp>
        <p:nvSpPr>
          <p:cNvPr id="4" name="Content Placeholder 3"/>
          <p:cNvSpPr>
            <a:spLocks noGrp="1"/>
          </p:cNvSpPr>
          <p:nvPr>
            <p:ph sz="half" idx="2"/>
          </p:nvPr>
        </p:nvSpPr>
        <p:spPr>
          <a:xfrm>
            <a:off x="564776" y="2308299"/>
            <a:ext cx="5157787" cy="3684588"/>
          </a:xfrm>
        </p:spPr>
        <p:txBody>
          <a:bodyPr/>
          <a:lstStyle/>
          <a:p>
            <a:r>
              <a:rPr lang="en-US" dirty="0" smtClean="0"/>
              <a:t>Planning </a:t>
            </a:r>
          </a:p>
          <a:p>
            <a:r>
              <a:rPr lang="en-US" dirty="0" smtClean="0"/>
              <a:t>Organizing</a:t>
            </a:r>
          </a:p>
          <a:p>
            <a:r>
              <a:rPr lang="en-US" dirty="0" smtClean="0"/>
              <a:t>Directing</a:t>
            </a:r>
          </a:p>
          <a:p>
            <a:r>
              <a:rPr lang="en-US" dirty="0" smtClean="0"/>
              <a:t>Coordinating</a:t>
            </a:r>
          </a:p>
          <a:p>
            <a:r>
              <a:rPr lang="en-US" dirty="0" smtClean="0"/>
              <a:t>controlling</a:t>
            </a:r>
            <a:endParaRPr lang="en-US" dirty="0"/>
          </a:p>
        </p:txBody>
      </p:sp>
      <p:sp>
        <p:nvSpPr>
          <p:cNvPr id="5" name="Text Placeholder 4"/>
          <p:cNvSpPr>
            <a:spLocks noGrp="1"/>
          </p:cNvSpPr>
          <p:nvPr>
            <p:ph type="body" sz="quarter" idx="3"/>
          </p:nvPr>
        </p:nvSpPr>
        <p:spPr>
          <a:xfrm>
            <a:off x="5896069" y="1506070"/>
            <a:ext cx="5183188" cy="617865"/>
          </a:xfrm>
        </p:spPr>
        <p:txBody>
          <a:bodyPr>
            <a:normAutofit/>
          </a:bodyPr>
          <a:lstStyle/>
          <a:p>
            <a:pPr marL="342900" indent="-342900">
              <a:buFont typeface="Wingdings" panose="05000000000000000000" pitchFamily="2" charset="2"/>
              <a:buChar char="v"/>
            </a:pPr>
            <a:r>
              <a:rPr lang="en-US" sz="3200" dirty="0" smtClean="0"/>
              <a:t>Operational function </a:t>
            </a:r>
            <a:endParaRPr lang="en-US" sz="3200" dirty="0"/>
          </a:p>
        </p:txBody>
      </p:sp>
      <p:sp>
        <p:nvSpPr>
          <p:cNvPr id="6" name="Content Placeholder 5"/>
          <p:cNvSpPr>
            <a:spLocks noGrp="1"/>
          </p:cNvSpPr>
          <p:nvPr>
            <p:ph sz="quarter" idx="4"/>
          </p:nvPr>
        </p:nvSpPr>
        <p:spPr>
          <a:xfrm>
            <a:off x="5997575" y="2308299"/>
            <a:ext cx="5459319" cy="2667114"/>
          </a:xfrm>
        </p:spPr>
        <p:txBody>
          <a:bodyPr/>
          <a:lstStyle/>
          <a:p>
            <a:r>
              <a:rPr lang="en-US" dirty="0" smtClean="0"/>
              <a:t>Employment</a:t>
            </a:r>
          </a:p>
          <a:p>
            <a:r>
              <a:rPr lang="en-US" dirty="0" smtClean="0"/>
              <a:t>HR Development</a:t>
            </a:r>
          </a:p>
          <a:p>
            <a:r>
              <a:rPr lang="en-US" dirty="0" smtClean="0"/>
              <a:t>Compensation</a:t>
            </a:r>
          </a:p>
          <a:p>
            <a:r>
              <a:rPr lang="en-US" dirty="0" smtClean="0"/>
              <a:t>Human Relations</a:t>
            </a:r>
          </a:p>
          <a:p>
            <a:pPr marL="0" indent="0">
              <a:buNone/>
            </a:pPr>
            <a:endParaRPr lang="en-US" dirty="0"/>
          </a:p>
        </p:txBody>
      </p:sp>
    </p:spTree>
    <p:extLst>
      <p:ext uri="{BB962C8B-B14F-4D97-AF65-F5344CB8AC3E}">
        <p14:creationId xmlns:p14="http://schemas.microsoft.com/office/powerpoint/2010/main" xmlns="" val="3864501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32358C-8F44-8718-DB91-81D2FACDDC07}"/>
              </a:ext>
            </a:extLst>
          </p:cNvPr>
          <p:cNvSpPr>
            <a:spLocks noGrp="1"/>
          </p:cNvSpPr>
          <p:nvPr>
            <p:ph idx="1"/>
          </p:nvPr>
        </p:nvSpPr>
        <p:spPr>
          <a:xfrm>
            <a:off x="515470" y="1287743"/>
            <a:ext cx="10515600" cy="4351338"/>
          </a:xfrm>
        </p:spPr>
        <p:txBody>
          <a:bodyPr/>
          <a:lstStyle/>
          <a:p>
            <a:r>
              <a:rPr lang="en-IN" dirty="0" smtClean="0"/>
              <a:t>Principles of Individual development</a:t>
            </a:r>
          </a:p>
          <a:p>
            <a:r>
              <a:rPr lang="en-IN" dirty="0" smtClean="0"/>
              <a:t>Scientific selection procedure</a:t>
            </a:r>
          </a:p>
          <a:p>
            <a:r>
              <a:rPr lang="en-IN" dirty="0" smtClean="0"/>
              <a:t>Principles of incentive</a:t>
            </a:r>
          </a:p>
          <a:p>
            <a:r>
              <a:rPr lang="en-IN" dirty="0"/>
              <a:t>Principles </a:t>
            </a:r>
            <a:r>
              <a:rPr lang="en-IN" dirty="0" smtClean="0"/>
              <a:t> of participation</a:t>
            </a:r>
          </a:p>
          <a:p>
            <a:r>
              <a:rPr lang="en-IN" dirty="0" smtClean="0"/>
              <a:t>Principles of team spirit</a:t>
            </a:r>
          </a:p>
          <a:p>
            <a:r>
              <a:rPr lang="en-IN" dirty="0" smtClean="0"/>
              <a:t>Principles of fair compensation</a:t>
            </a:r>
            <a:endParaRPr lang="en-IN" dirty="0"/>
          </a:p>
        </p:txBody>
      </p:sp>
      <p:sp>
        <p:nvSpPr>
          <p:cNvPr id="4" name="Title 1">
            <a:extLst>
              <a:ext uri="{FF2B5EF4-FFF2-40B4-BE49-F238E27FC236}">
                <a16:creationId xmlns:a16="http://schemas.microsoft.com/office/drawing/2014/main" xmlns="" id="{E9F0D05D-9EAA-4632-D01B-27538EA568C2}"/>
              </a:ext>
            </a:extLst>
          </p:cNvPr>
          <p:cNvSpPr>
            <a:spLocks noGrp="1"/>
          </p:cNvSpPr>
          <p:nvPr>
            <p:ph type="title"/>
          </p:nvPr>
        </p:nvSpPr>
        <p:spPr>
          <a:xfrm>
            <a:off x="142240" y="1"/>
            <a:ext cx="11907520" cy="985519"/>
          </a:xfrm>
        </p:spPr>
        <p:txBody>
          <a:bodyPr>
            <a:normAutofit fontScale="90000"/>
          </a:bodyPr>
          <a:lstStyle/>
          <a:p>
            <a:pPr algn="ctr"/>
            <a:r>
              <a:rPr lang="en-US" sz="6600" b="1" dirty="0">
                <a:solidFill>
                  <a:srgbClr val="C00000"/>
                </a:solidFill>
                <a:latin typeface="Times New Roman" panose="02020603050405020304" pitchFamily="18" charset="0"/>
                <a:cs typeface="Times New Roman" panose="02020603050405020304" pitchFamily="18" charset="0"/>
              </a:rPr>
              <a:t>Principles of HRM</a:t>
            </a:r>
          </a:p>
        </p:txBody>
      </p:sp>
    </p:spTree>
    <p:extLst>
      <p:ext uri="{BB962C8B-B14F-4D97-AF65-F5344CB8AC3E}">
        <p14:creationId xmlns:p14="http://schemas.microsoft.com/office/powerpoint/2010/main" xmlns="" val="4079293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5146"/>
          </a:xfrm>
        </p:spPr>
        <p:txBody>
          <a:bodyPr>
            <a:normAutofit fontScale="90000"/>
          </a:bodyPr>
          <a:lstStyle/>
          <a:p>
            <a:pPr algn="ctr"/>
            <a:r>
              <a:rPr lang="en-US" dirty="0">
                <a:solidFill>
                  <a:srgbClr val="FF0000"/>
                </a:solidFill>
                <a:latin typeface="Times New Roman" pitchFamily="18" charset="0"/>
                <a:cs typeface="Times New Roman" pitchFamily="18" charset="0"/>
              </a:rPr>
              <a:t>HRM v/s Personnel Management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xmlns="" val="2379135659"/>
              </p:ext>
            </p:extLst>
          </p:nvPr>
        </p:nvGraphicFramePr>
        <p:xfrm>
          <a:off x="1039906" y="965013"/>
          <a:ext cx="9144000" cy="5425440"/>
        </p:xfrm>
        <a:graphic>
          <a:graphicData uri="http://schemas.openxmlformats.org/drawingml/2006/table">
            <a:tbl>
              <a:tblPr firstRow="1" bandRow="1">
                <a:tableStyleId>{5C22544A-7EE6-4342-B048-85BDC9FD1C3A}</a:tableStyleId>
              </a:tblPr>
              <a:tblGrid>
                <a:gridCol w="3626069">
                  <a:extLst>
                    <a:ext uri="{9D8B030D-6E8A-4147-A177-3AD203B41FA5}">
                      <a16:colId xmlns:a16="http://schemas.microsoft.com/office/drawing/2014/main" xmlns="" val="2641198673"/>
                    </a:ext>
                  </a:extLst>
                </a:gridCol>
                <a:gridCol w="1340069">
                  <a:extLst>
                    <a:ext uri="{9D8B030D-6E8A-4147-A177-3AD203B41FA5}">
                      <a16:colId xmlns:a16="http://schemas.microsoft.com/office/drawing/2014/main" xmlns="" val="796584302"/>
                    </a:ext>
                  </a:extLst>
                </a:gridCol>
                <a:gridCol w="4177862">
                  <a:extLst>
                    <a:ext uri="{9D8B030D-6E8A-4147-A177-3AD203B41FA5}">
                      <a16:colId xmlns:a16="http://schemas.microsoft.com/office/drawing/2014/main" xmlns="" val="1413395932"/>
                    </a:ext>
                  </a:extLst>
                </a:gridCol>
              </a:tblGrid>
              <a:tr h="416138">
                <a:tc>
                  <a:txBody>
                    <a:bodyPr/>
                    <a:lstStyle/>
                    <a:p>
                      <a:pPr algn="ctr"/>
                      <a:r>
                        <a:rPr lang="en-US" sz="2800" dirty="0" smtClean="0">
                          <a:latin typeface="Times New Roman" pitchFamily="18" charset="0"/>
                          <a:cs typeface="Times New Roman" pitchFamily="18" charset="0"/>
                        </a:rPr>
                        <a:t>HRM</a:t>
                      </a:r>
                      <a:endParaRPr lang="en-US" sz="2800" dirty="0">
                        <a:latin typeface="Times New Roman" pitchFamily="18" charset="0"/>
                        <a:cs typeface="Times New Roman" pitchFamily="18" charset="0"/>
                      </a:endParaRPr>
                    </a:p>
                  </a:txBody>
                  <a:tcPr/>
                </a:tc>
                <a:tc>
                  <a:txBody>
                    <a:bodyPr/>
                    <a:lstStyle/>
                    <a:p>
                      <a:pPr algn="ctr"/>
                      <a:r>
                        <a:rPr lang="en-US" sz="2800" dirty="0" smtClean="0">
                          <a:latin typeface="Times New Roman" pitchFamily="18" charset="0"/>
                          <a:cs typeface="Times New Roman" pitchFamily="18" charset="0"/>
                        </a:rPr>
                        <a:t>Basis</a:t>
                      </a:r>
                      <a:endParaRPr lang="en-US" sz="2800" dirty="0">
                        <a:latin typeface="Times New Roman" pitchFamily="18" charset="0"/>
                        <a:cs typeface="Times New Roman" pitchFamily="18" charset="0"/>
                      </a:endParaRPr>
                    </a:p>
                  </a:txBody>
                  <a:tcPr/>
                </a:tc>
                <a:tc>
                  <a:txBody>
                    <a:bodyPr/>
                    <a:lstStyle/>
                    <a:p>
                      <a:pPr marL="0" algn="ctr" defTabSz="914400" rtl="0" eaLnBrk="1" latinLnBrk="0" hangingPunct="1"/>
                      <a:r>
                        <a:rPr lang="en-US" sz="2800" b="1" kern="1200" dirty="0" smtClean="0">
                          <a:solidFill>
                            <a:schemeClr val="lt1"/>
                          </a:solidFill>
                          <a:latin typeface="Times New Roman" pitchFamily="18" charset="0"/>
                          <a:ea typeface="+mn-ea"/>
                          <a:cs typeface="Times New Roman" pitchFamily="18" charset="0"/>
                        </a:rPr>
                        <a:t>Personnel Management</a:t>
                      </a:r>
                    </a:p>
                  </a:txBody>
                  <a:tcPr/>
                </a:tc>
                <a:extLst>
                  <a:ext uri="{0D108BD9-81ED-4DB2-BD59-A6C34878D82A}">
                    <a16:rowId xmlns:a16="http://schemas.microsoft.com/office/drawing/2014/main" xmlns="" val="2157907810"/>
                  </a:ext>
                </a:extLst>
              </a:tr>
              <a:tr h="318223">
                <a:tc>
                  <a:txBody>
                    <a:bodyPr/>
                    <a:lstStyle/>
                    <a:p>
                      <a:r>
                        <a:rPr lang="en-US" sz="2000" b="0" i="0" kern="1200" dirty="0" smtClean="0">
                          <a:solidFill>
                            <a:schemeClr val="dk1"/>
                          </a:solidFill>
                          <a:latin typeface="Times New Roman" pitchFamily="18" charset="0"/>
                          <a:ea typeface="+mn-ea"/>
                          <a:cs typeface="Times New Roman" pitchFamily="18" charset="0"/>
                        </a:rPr>
                        <a:t>Modern</a:t>
                      </a:r>
                      <a:endParaRPr lang="en-US" sz="2000" dirty="0">
                        <a:latin typeface="Times New Roman" pitchFamily="18" charset="0"/>
                        <a:cs typeface="Times New Roman" pitchFamily="18" charset="0"/>
                      </a:endParaRPr>
                    </a:p>
                  </a:txBody>
                  <a:tcPr/>
                </a:tc>
                <a:tc>
                  <a:txBody>
                    <a:bodyPr/>
                    <a:lstStyle/>
                    <a:p>
                      <a:r>
                        <a:rPr lang="en-US" sz="2000" b="0" i="0" kern="1200" dirty="0" smtClean="0">
                          <a:solidFill>
                            <a:srgbClr val="FF0000"/>
                          </a:solidFill>
                          <a:latin typeface="Times New Roman" pitchFamily="18" charset="0"/>
                          <a:ea typeface="+mn-ea"/>
                          <a:cs typeface="Times New Roman" pitchFamily="18" charset="0"/>
                        </a:rPr>
                        <a:t>Approach</a:t>
                      </a:r>
                      <a:endParaRPr lang="en-US" sz="2000" dirty="0">
                        <a:solidFill>
                          <a:srgbClr val="FF0000"/>
                        </a:solidFill>
                        <a:latin typeface="Times New Roman" pitchFamily="18" charset="0"/>
                        <a:cs typeface="Times New Roman" pitchFamily="18" charset="0"/>
                      </a:endParaRPr>
                    </a:p>
                  </a:txBody>
                  <a:tcPr/>
                </a:tc>
                <a:tc>
                  <a:txBody>
                    <a:bodyPr/>
                    <a:lstStyle/>
                    <a:p>
                      <a:r>
                        <a:rPr lang="en-US" sz="2000" b="0" i="0" kern="1200" dirty="0" smtClean="0">
                          <a:solidFill>
                            <a:schemeClr val="dk1"/>
                          </a:solidFill>
                          <a:latin typeface="Times New Roman" pitchFamily="18" charset="0"/>
                          <a:ea typeface="+mn-ea"/>
                          <a:cs typeface="Times New Roman" pitchFamily="18" charset="0"/>
                        </a:rPr>
                        <a:t>Traditional</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282927158"/>
                  </a:ext>
                </a:extLst>
              </a:tr>
              <a:tr h="1052584">
                <a:tc>
                  <a:txBody>
                    <a:bodyPr/>
                    <a:lstStyle/>
                    <a:p>
                      <a:r>
                        <a:rPr lang="en-US" sz="2000" dirty="0" smtClean="0">
                          <a:latin typeface="Times New Roman" pitchFamily="18" charset="0"/>
                          <a:cs typeface="Times New Roman" pitchFamily="18" charset="0"/>
                        </a:rPr>
                        <a:t>Its philosophy</a:t>
                      </a:r>
                      <a:r>
                        <a:rPr lang="en-US" sz="2000" baseline="0" dirty="0" smtClean="0">
                          <a:latin typeface="Times New Roman" pitchFamily="18" charset="0"/>
                          <a:cs typeface="Times New Roman" pitchFamily="18" charset="0"/>
                        </a:rPr>
                        <a:t> is to develop the people as per their aspiration, Goals and motivate them to achieve the organizational goals.</a:t>
                      </a:r>
                      <a:endParaRPr lang="en-US" sz="2000" dirty="0">
                        <a:latin typeface="Times New Roman" pitchFamily="18" charset="0"/>
                        <a:cs typeface="Times New Roman" pitchFamily="18" charset="0"/>
                      </a:endParaRPr>
                    </a:p>
                  </a:txBody>
                  <a:tcPr/>
                </a:tc>
                <a:tc>
                  <a:txBody>
                    <a:bodyPr/>
                    <a:lstStyle/>
                    <a:p>
                      <a:r>
                        <a:rPr lang="en-US" sz="2000" b="0" i="0" kern="1200" dirty="0" smtClean="0">
                          <a:solidFill>
                            <a:srgbClr val="FF0000"/>
                          </a:solidFill>
                          <a:latin typeface="Times New Roman" pitchFamily="18" charset="0"/>
                          <a:ea typeface="+mn-ea"/>
                          <a:cs typeface="Times New Roman" pitchFamily="18" charset="0"/>
                        </a:rPr>
                        <a:t>Meaning</a:t>
                      </a:r>
                      <a:endParaRPr lang="en-US" sz="2000" dirty="0">
                        <a:solidFill>
                          <a:srgbClr val="FF0000"/>
                        </a:solidFill>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It is concerned with procurement</a:t>
                      </a:r>
                      <a:r>
                        <a:rPr lang="en-US" sz="2000" baseline="0" dirty="0" smtClean="0">
                          <a:latin typeface="Times New Roman" pitchFamily="18" charset="0"/>
                          <a:cs typeface="Times New Roman" pitchFamily="18" charset="0"/>
                        </a:rPr>
                        <a:t> and development of personnel to achieve the organization objectives.</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157128500"/>
                  </a:ext>
                </a:extLst>
              </a:tr>
              <a:tr h="563010">
                <a:tc>
                  <a:txBody>
                    <a:bodyPr/>
                    <a:lstStyle/>
                    <a:p>
                      <a:r>
                        <a:rPr lang="en-US" sz="2000" dirty="0" smtClean="0">
                          <a:latin typeface="Times New Roman" pitchFamily="18" charset="0"/>
                          <a:cs typeface="Times New Roman" pitchFamily="18" charset="0"/>
                        </a:rPr>
                        <a:t>Resources</a:t>
                      </a:r>
                      <a:endParaRPr lang="en-US" sz="2000" dirty="0">
                        <a:latin typeface="Times New Roman" pitchFamily="18" charset="0"/>
                        <a:cs typeface="Times New Roman" pitchFamily="18" charset="0"/>
                      </a:endParaRPr>
                    </a:p>
                  </a:txBody>
                  <a:tcPr/>
                </a:tc>
                <a:tc>
                  <a:txBody>
                    <a:bodyPr/>
                    <a:lstStyle/>
                    <a:p>
                      <a:r>
                        <a:rPr lang="en-US" sz="2000" dirty="0" smtClean="0">
                          <a:solidFill>
                            <a:srgbClr val="FF0000"/>
                          </a:solidFill>
                          <a:latin typeface="Times New Roman" pitchFamily="18" charset="0"/>
                          <a:cs typeface="Times New Roman" pitchFamily="18" charset="0"/>
                        </a:rPr>
                        <a:t>Employee Treatment</a:t>
                      </a:r>
                      <a:endParaRPr lang="en-US" sz="2000" dirty="0">
                        <a:solidFill>
                          <a:srgbClr val="FF0000"/>
                        </a:solidFill>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 Machines/Tools/</a:t>
                      </a:r>
                      <a:r>
                        <a:rPr lang="en-US" sz="2000" baseline="0" dirty="0" smtClean="0">
                          <a:latin typeface="Times New Roman" pitchFamily="18" charset="0"/>
                          <a:cs typeface="Times New Roman" pitchFamily="18" charset="0"/>
                        </a:rPr>
                        <a:t>Product.</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4042247082"/>
                  </a:ext>
                </a:extLst>
              </a:tr>
              <a:tr h="318223">
                <a:tc>
                  <a:txBody>
                    <a:bodyPr/>
                    <a:lstStyle/>
                    <a:p>
                      <a:r>
                        <a:rPr lang="en-US" sz="2000" dirty="0" smtClean="0">
                          <a:latin typeface="Times New Roman" pitchFamily="18" charset="0"/>
                          <a:cs typeface="Times New Roman" pitchFamily="18" charset="0"/>
                        </a:rPr>
                        <a:t>On</a:t>
                      </a:r>
                      <a:r>
                        <a:rPr lang="en-US" sz="2000" baseline="0" dirty="0" smtClean="0">
                          <a:latin typeface="Times New Roman" pitchFamily="18" charset="0"/>
                          <a:cs typeface="Times New Roman" pitchFamily="18" charset="0"/>
                        </a:rPr>
                        <a:t> the basis of Performance</a:t>
                      </a:r>
                      <a:endParaRPr lang="en-US" sz="2000" dirty="0">
                        <a:latin typeface="Times New Roman" pitchFamily="18" charset="0"/>
                        <a:cs typeface="Times New Roman" pitchFamily="18" charset="0"/>
                      </a:endParaRPr>
                    </a:p>
                  </a:txBody>
                  <a:tcPr/>
                </a:tc>
                <a:tc>
                  <a:txBody>
                    <a:bodyPr/>
                    <a:lstStyle/>
                    <a:p>
                      <a:r>
                        <a:rPr lang="en-US" sz="2000" dirty="0" smtClean="0">
                          <a:solidFill>
                            <a:srgbClr val="FF0000"/>
                          </a:solidFill>
                          <a:latin typeface="Times New Roman" pitchFamily="18" charset="0"/>
                          <a:cs typeface="Times New Roman" pitchFamily="18" charset="0"/>
                        </a:rPr>
                        <a:t>Salary</a:t>
                      </a:r>
                      <a:endParaRPr lang="en-US" sz="2000" dirty="0">
                        <a:solidFill>
                          <a:srgbClr val="FF0000"/>
                        </a:solidFill>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On the basis of Job Evaluation.</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2970220818"/>
                  </a:ext>
                </a:extLst>
              </a:tr>
              <a:tr h="563010">
                <a:tc>
                  <a:txBody>
                    <a:bodyPr/>
                    <a:lstStyle/>
                    <a:p>
                      <a:r>
                        <a:rPr lang="en-US" sz="2000" dirty="0" smtClean="0">
                          <a:latin typeface="Times New Roman" pitchFamily="18" charset="0"/>
                          <a:cs typeface="Times New Roman" pitchFamily="18" charset="0"/>
                        </a:rPr>
                        <a:t>Fast</a:t>
                      </a:r>
                      <a:endParaRPr lang="en-US" sz="2000" dirty="0">
                        <a:latin typeface="Times New Roman" pitchFamily="18" charset="0"/>
                        <a:cs typeface="Times New Roman" pitchFamily="18" charset="0"/>
                      </a:endParaRPr>
                    </a:p>
                  </a:txBody>
                  <a:tcPr/>
                </a:tc>
                <a:tc>
                  <a:txBody>
                    <a:bodyPr/>
                    <a:lstStyle/>
                    <a:p>
                      <a:r>
                        <a:rPr lang="en-US" sz="2000" dirty="0" smtClean="0">
                          <a:solidFill>
                            <a:srgbClr val="FF0000"/>
                          </a:solidFill>
                          <a:latin typeface="Times New Roman" pitchFamily="18" charset="0"/>
                          <a:cs typeface="Times New Roman" pitchFamily="18" charset="0"/>
                        </a:rPr>
                        <a:t>Decision Making</a:t>
                      </a:r>
                      <a:endParaRPr lang="en-US" sz="2000" dirty="0">
                        <a:solidFill>
                          <a:srgbClr val="FF0000"/>
                        </a:solidFill>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Slow</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446149709"/>
                  </a:ext>
                </a:extLst>
              </a:tr>
              <a:tr h="673401">
                <a:tc>
                  <a:txBody>
                    <a:bodyPr/>
                    <a:lstStyle/>
                    <a:p>
                      <a:r>
                        <a:rPr lang="en-US" sz="2000" dirty="0">
                          <a:latin typeface="Times New Roman" pitchFamily="18" charset="0"/>
                          <a:cs typeface="Times New Roman" pitchFamily="18" charset="0"/>
                        </a:rPr>
                        <a:t>Business </a:t>
                      </a:r>
                      <a:r>
                        <a:rPr lang="en-US" sz="2000" dirty="0" smtClean="0">
                          <a:latin typeface="Times New Roman" pitchFamily="18" charset="0"/>
                          <a:cs typeface="Times New Roman" pitchFamily="18" charset="0"/>
                        </a:rPr>
                        <a:t>needs or need base.</a:t>
                      </a:r>
                      <a:endParaRPr lang="en-US" sz="2000" dirty="0">
                        <a:latin typeface="Times New Roman" pitchFamily="18" charset="0"/>
                        <a:cs typeface="Times New Roman" pitchFamily="18" charset="0"/>
                      </a:endParaRPr>
                    </a:p>
                  </a:txBody>
                  <a:tcPr anchor="ctr"/>
                </a:tc>
                <a:tc>
                  <a:txBody>
                    <a:bodyPr/>
                    <a:lstStyle/>
                    <a:p>
                      <a:r>
                        <a:rPr lang="en-US" sz="2000" dirty="0">
                          <a:solidFill>
                            <a:srgbClr val="FF0000"/>
                          </a:solidFill>
                          <a:latin typeface="Times New Roman" pitchFamily="18" charset="0"/>
                          <a:cs typeface="Times New Roman" pitchFamily="18" charset="0"/>
                        </a:rPr>
                        <a:t>Management Actions </a:t>
                      </a:r>
                    </a:p>
                  </a:txBody>
                  <a:tcPr anchor="ctr"/>
                </a:tc>
                <a:tc>
                  <a:txBody>
                    <a:bodyPr/>
                    <a:lstStyle/>
                    <a:p>
                      <a:r>
                        <a:rPr lang="en-US" sz="2000" b="0" i="0" kern="1200" dirty="0" smtClean="0">
                          <a:solidFill>
                            <a:schemeClr val="dk1"/>
                          </a:solidFill>
                          <a:latin typeface="Times New Roman" pitchFamily="18" charset="0"/>
                          <a:ea typeface="+mn-ea"/>
                          <a:cs typeface="Times New Roman" pitchFamily="18" charset="0"/>
                        </a:rPr>
                        <a:t>Procedure/ Routine.</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792577164"/>
                  </a:ext>
                </a:extLst>
              </a:tr>
              <a:tr h="563010">
                <a:tc>
                  <a:txBody>
                    <a:bodyPr/>
                    <a:lstStyle/>
                    <a:p>
                      <a:r>
                        <a:rPr lang="en-US" sz="2000" b="0" i="0" kern="1200" dirty="0" smtClean="0">
                          <a:solidFill>
                            <a:schemeClr val="dk1"/>
                          </a:solidFill>
                          <a:latin typeface="Times New Roman" pitchFamily="18" charset="0"/>
                          <a:ea typeface="+mn-ea"/>
                          <a:cs typeface="Times New Roman" pitchFamily="18" charset="0"/>
                        </a:rPr>
                        <a:t>Transactional.</a:t>
                      </a:r>
                      <a:endParaRPr lang="en-US" sz="2000" dirty="0">
                        <a:latin typeface="Times New Roman" pitchFamily="18" charset="0"/>
                        <a:cs typeface="Times New Roman" pitchFamily="18" charset="0"/>
                      </a:endParaRPr>
                    </a:p>
                  </a:txBody>
                  <a:tcPr/>
                </a:tc>
                <a:tc>
                  <a:txBody>
                    <a:bodyPr/>
                    <a:lstStyle/>
                    <a:p>
                      <a:r>
                        <a:rPr lang="en-US" sz="2000" dirty="0">
                          <a:solidFill>
                            <a:srgbClr val="FF0000"/>
                          </a:solidFill>
                          <a:latin typeface="Times New Roman" pitchFamily="18" charset="0"/>
                          <a:cs typeface="Times New Roman" pitchFamily="18" charset="0"/>
                        </a:rPr>
                        <a:t>Management Role </a:t>
                      </a:r>
                    </a:p>
                  </a:txBody>
                  <a:tcPr anchor="ctr"/>
                </a:tc>
                <a:tc>
                  <a:txBody>
                    <a:bodyPr/>
                    <a:lstStyle/>
                    <a:p>
                      <a:r>
                        <a:rPr lang="en-US" sz="2000" b="0" i="0" kern="1200" dirty="0" smtClean="0">
                          <a:solidFill>
                            <a:schemeClr val="dk1"/>
                          </a:solidFill>
                          <a:latin typeface="Times New Roman" pitchFamily="18" charset="0"/>
                          <a:ea typeface="+mn-ea"/>
                          <a:cs typeface="Times New Roman" pitchFamily="18" charset="0"/>
                        </a:rPr>
                        <a:t>Transformational .</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xmlns="" val="1426704441"/>
                  </a:ext>
                </a:extLst>
              </a:tr>
            </a:tbl>
          </a:graphicData>
        </a:graphic>
      </p:graphicFrame>
    </p:spTree>
    <p:extLst>
      <p:ext uri="{BB962C8B-B14F-4D97-AF65-F5344CB8AC3E}">
        <p14:creationId xmlns:p14="http://schemas.microsoft.com/office/powerpoint/2010/main" xmlns="" val="2704279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91671"/>
            <a:ext cx="9144000" cy="1008529"/>
          </a:xfrm>
        </p:spPr>
        <p:txBody>
          <a:bodyPr>
            <a:noAutofit/>
          </a:bodyPr>
          <a:lstStyle/>
          <a:p>
            <a:r>
              <a:rPr lang="en-US" sz="4000" b="1" dirty="0" smtClean="0">
                <a:solidFill>
                  <a:srgbClr val="FF0000"/>
                </a:solidFill>
              </a:rPr>
              <a:t>HRM in India </a:t>
            </a:r>
            <a:endParaRPr lang="en-US" sz="4000" b="1" dirty="0">
              <a:solidFill>
                <a:srgbClr val="FF0000"/>
              </a:solidFill>
            </a:endParaRPr>
          </a:p>
        </p:txBody>
      </p:sp>
      <p:sp>
        <p:nvSpPr>
          <p:cNvPr id="3" name="Subtitle 2"/>
          <p:cNvSpPr>
            <a:spLocks noGrp="1"/>
          </p:cNvSpPr>
          <p:nvPr>
            <p:ph type="subTitle" idx="1"/>
          </p:nvPr>
        </p:nvSpPr>
        <p:spPr>
          <a:xfrm>
            <a:off x="1093695" y="1800133"/>
            <a:ext cx="10753164" cy="3874526"/>
          </a:xfrm>
        </p:spPr>
        <p:txBody>
          <a:bodyPr>
            <a:normAutofit/>
          </a:bodyPr>
          <a:lstStyle/>
          <a:p>
            <a:pPr marL="457200" indent="-457200" algn="l">
              <a:buFont typeface="+mj-lt"/>
              <a:buAutoNum type="arabicPeriod"/>
            </a:pPr>
            <a:r>
              <a:rPr lang="en-US" sz="2800" dirty="0" smtClean="0"/>
              <a:t>Recruitment, training and development</a:t>
            </a:r>
          </a:p>
          <a:p>
            <a:pPr marL="457200" indent="-457200" algn="l">
              <a:buFont typeface="+mj-lt"/>
              <a:buAutoNum type="arabicPeriod"/>
            </a:pPr>
            <a:r>
              <a:rPr lang="en-US" sz="2800" dirty="0" smtClean="0"/>
              <a:t>Induction</a:t>
            </a:r>
          </a:p>
          <a:p>
            <a:pPr marL="457200" indent="-457200" algn="l">
              <a:buFont typeface="+mj-lt"/>
              <a:buAutoNum type="arabicPeriod"/>
            </a:pPr>
            <a:r>
              <a:rPr lang="en-US" sz="2800" dirty="0" smtClean="0"/>
              <a:t>Retention strategy</a:t>
            </a:r>
          </a:p>
          <a:p>
            <a:pPr marL="457200" indent="-457200" algn="l">
              <a:buFont typeface="+mj-lt"/>
              <a:buAutoNum type="arabicPeriod"/>
            </a:pPr>
            <a:r>
              <a:rPr lang="en-US" sz="2800" dirty="0" smtClean="0"/>
              <a:t>HR Development </a:t>
            </a:r>
          </a:p>
          <a:p>
            <a:pPr marL="457200" indent="-457200" algn="l">
              <a:buFont typeface="+mj-lt"/>
              <a:buAutoNum type="arabicPeriod"/>
            </a:pPr>
            <a:r>
              <a:rPr lang="en-US" sz="2800" dirty="0" smtClean="0"/>
              <a:t>Leadership</a:t>
            </a:r>
          </a:p>
          <a:p>
            <a:pPr algn="l"/>
            <a:endParaRPr lang="en-US" sz="2800" dirty="0" smtClean="0"/>
          </a:p>
          <a:p>
            <a:pPr algn="l"/>
            <a:endParaRPr lang="en-US" sz="2800" dirty="0"/>
          </a:p>
        </p:txBody>
      </p:sp>
    </p:spTree>
    <p:extLst>
      <p:ext uri="{BB962C8B-B14F-4D97-AF65-F5344CB8AC3E}">
        <p14:creationId xmlns:p14="http://schemas.microsoft.com/office/powerpoint/2010/main" xmlns="" val="864709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663</Words>
  <Application>Microsoft Office PowerPoint</Application>
  <PresentationFormat>Custom</PresentationFormat>
  <Paragraphs>110</Paragraphs>
  <Slides>13</Slides>
  <Notes>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Human Resource Management</vt:lpstr>
      <vt:lpstr>Definition</vt:lpstr>
      <vt:lpstr>Definition</vt:lpstr>
      <vt:lpstr>Nature of HRM</vt:lpstr>
      <vt:lpstr>Slide 5</vt:lpstr>
      <vt:lpstr>Scope of HRM</vt:lpstr>
      <vt:lpstr>Importance of HRM</vt:lpstr>
      <vt:lpstr>Evolution Of HRM</vt:lpstr>
      <vt:lpstr>Slide 9</vt:lpstr>
      <vt:lpstr>Functions of HRM</vt:lpstr>
      <vt:lpstr>Principles of HRM</vt:lpstr>
      <vt:lpstr>HRM v/s Personnel Management</vt:lpstr>
      <vt:lpstr>HRM in India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dc:title>
  <dc:creator>Mahesh Ganagi</dc:creator>
  <cp:lastModifiedBy>Hp</cp:lastModifiedBy>
  <cp:revision>15</cp:revision>
  <dcterms:created xsi:type="dcterms:W3CDTF">2025-05-21T03:54:32Z</dcterms:created>
  <dcterms:modified xsi:type="dcterms:W3CDTF">2026-04-21T04:57:31Z</dcterms:modified>
</cp:coreProperties>
</file>