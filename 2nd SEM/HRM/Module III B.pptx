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6" r:id="rId4"/>
    <p:sldId id="267" r:id="rId5"/>
    <p:sldId id="257" r:id="rId6"/>
    <p:sldId id="258" r:id="rId7"/>
    <p:sldId id="259" r:id="rId8"/>
    <p:sldId id="260" r:id="rId9"/>
    <p:sldId id="261" r:id="rId10"/>
    <p:sldId id="262" r:id="rId11"/>
    <p:sldId id="263" r:id="rId12"/>
    <p:sldId id="264"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ilo.org/node/8721"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1"/>
            <a:ext cx="7772400" cy="1066800"/>
          </a:xfrm>
        </p:spPr>
        <p:txBody>
          <a:bodyPr>
            <a:normAutofit fontScale="90000"/>
          </a:bodyPr>
          <a:lstStyle/>
          <a:p>
            <a:r>
              <a:rPr lang="en-US" sz="7200" dirty="0" smtClean="0">
                <a:solidFill>
                  <a:srgbClr val="FF0000"/>
                </a:solidFill>
                <a:latin typeface="Times New Roman" pitchFamily="18" charset="0"/>
                <a:cs typeface="Times New Roman" pitchFamily="18" charset="0"/>
              </a:rPr>
              <a:t>Industrial Relations</a:t>
            </a:r>
            <a:endParaRPr lang="en-US" sz="7200" dirty="0">
              <a:solidFill>
                <a:srgbClr val="FF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533400" y="1600200"/>
            <a:ext cx="8153400" cy="4648200"/>
          </a:xfrm>
        </p:spPr>
        <p:txBody>
          <a:bodyPr/>
          <a:lstStyle/>
          <a:p>
            <a:pPr algn="just"/>
            <a:r>
              <a:rPr lang="en-US" dirty="0" smtClean="0">
                <a:solidFill>
                  <a:schemeClr val="tx1"/>
                </a:solidFill>
                <a:latin typeface="Times New Roman" pitchFamily="18" charset="0"/>
                <a:cs typeface="Times New Roman" pitchFamily="18" charset="0"/>
              </a:rPr>
              <a:t>Decent Workplace, International Labor </a:t>
            </a:r>
            <a:r>
              <a:rPr lang="en-US" dirty="0" err="1" smtClean="0">
                <a:solidFill>
                  <a:schemeClr val="tx1"/>
                </a:solidFill>
                <a:latin typeface="Times New Roman" pitchFamily="18" charset="0"/>
                <a:cs typeface="Times New Roman" pitchFamily="18" charset="0"/>
              </a:rPr>
              <a:t>Organisation</a:t>
            </a:r>
            <a:r>
              <a:rPr lang="en-US" dirty="0" smtClean="0">
                <a:solidFill>
                  <a:schemeClr val="tx1"/>
                </a:solidFill>
                <a:latin typeface="Times New Roman" pitchFamily="18" charset="0"/>
                <a:cs typeface="Times New Roman" pitchFamily="18" charset="0"/>
              </a:rPr>
              <a:t>, Industrial Relations, The Objectives of Industrial Relations, Approaches of Industrial Relations Systems, The Actors in Industrial Relations, Indian Context, Industrial Relations and Human Resource Management.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r>
              <a:rPr lang="en-US" dirty="0" smtClean="0">
                <a:solidFill>
                  <a:srgbClr val="FF0000"/>
                </a:solidFill>
                <a:latin typeface="Times New Roman" pitchFamily="18" charset="0"/>
                <a:cs typeface="Times New Roman" pitchFamily="18" charset="0"/>
              </a:rPr>
              <a:t>Decent Work</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638800"/>
          </a:xfrm>
        </p:spPr>
        <p:txBody>
          <a:bodyPr>
            <a:normAutofit fontScale="92500"/>
          </a:bodyPr>
          <a:lstStyle/>
          <a:p>
            <a:pPr algn="just">
              <a:buNone/>
            </a:pPr>
            <a:r>
              <a:rPr lang="en-US" dirty="0" smtClean="0"/>
              <a:t>		</a:t>
            </a:r>
            <a:r>
              <a:rPr lang="en-US" sz="2800" dirty="0" smtClean="0">
                <a:latin typeface="Times New Roman" pitchFamily="18" charset="0"/>
                <a:cs typeface="Times New Roman" pitchFamily="18" charset="0"/>
              </a:rPr>
              <a:t>As per ILO </a:t>
            </a:r>
            <a:r>
              <a:rPr lang="en-US" sz="2800" b="1" u="sng" dirty="0" smtClean="0">
                <a:latin typeface="Times New Roman" pitchFamily="18" charset="0"/>
                <a:cs typeface="Times New Roman" pitchFamily="18" charset="0"/>
              </a:rPr>
              <a:t>Decent work </a:t>
            </a:r>
            <a:r>
              <a:rPr lang="en-US" sz="2800" dirty="0" smtClean="0">
                <a:latin typeface="Times New Roman" pitchFamily="18" charset="0"/>
                <a:cs typeface="Times New Roman" pitchFamily="18" charset="0"/>
              </a:rPr>
              <a:t>sums up the aspirations of people in their working lives. It involves :</a:t>
            </a:r>
          </a:p>
          <a:p>
            <a:pPr algn="just">
              <a:buNone/>
            </a:pPr>
            <a:endParaRPr lang="en-US" sz="2800" dirty="0" smtClean="0">
              <a:latin typeface="Times New Roman" pitchFamily="18" charset="0"/>
              <a:cs typeface="Times New Roman" pitchFamily="18" charset="0"/>
            </a:endParaRPr>
          </a:p>
          <a:p>
            <a:pPr algn="just">
              <a:buNone/>
            </a:pPr>
            <a:r>
              <a:rPr lang="en-US" sz="2800" dirty="0" smtClean="0">
                <a:latin typeface="Times New Roman" pitchFamily="18" charset="0"/>
                <a:cs typeface="Times New Roman" pitchFamily="18" charset="0"/>
              </a:rPr>
              <a:t>1.Opportunities for work that is productive and delivers a fair income.</a:t>
            </a:r>
          </a:p>
          <a:p>
            <a:pPr algn="just">
              <a:buNone/>
            </a:pPr>
            <a:r>
              <a:rPr lang="en-US" sz="2800" dirty="0" smtClean="0">
                <a:latin typeface="Times New Roman" pitchFamily="18" charset="0"/>
                <a:cs typeface="Times New Roman" pitchFamily="18" charset="0"/>
              </a:rPr>
              <a:t>2. Security in the workplace and social protection for all.</a:t>
            </a:r>
          </a:p>
          <a:p>
            <a:pPr algn="just">
              <a:buNone/>
            </a:pPr>
            <a:r>
              <a:rPr lang="en-US" sz="2800" dirty="0" smtClean="0">
                <a:latin typeface="Times New Roman" pitchFamily="18" charset="0"/>
                <a:cs typeface="Times New Roman" pitchFamily="18" charset="0"/>
              </a:rPr>
              <a:t>3.Better prospects for personal development and social integration.</a:t>
            </a:r>
          </a:p>
          <a:p>
            <a:pPr algn="just">
              <a:buNone/>
            </a:pPr>
            <a:r>
              <a:rPr lang="en-US" sz="2800" dirty="0" smtClean="0">
                <a:latin typeface="Times New Roman" pitchFamily="18" charset="0"/>
                <a:cs typeface="Times New Roman" pitchFamily="18" charset="0"/>
              </a:rPr>
              <a:t>4.Freedom for people to express their concerns, organize and participate in the decisions that affect their lives.</a:t>
            </a:r>
          </a:p>
          <a:p>
            <a:pPr algn="just">
              <a:buNone/>
            </a:pPr>
            <a:r>
              <a:rPr lang="en-US" sz="2800" dirty="0" smtClean="0">
                <a:latin typeface="Times New Roman" pitchFamily="18" charset="0"/>
                <a:cs typeface="Times New Roman" pitchFamily="18" charset="0"/>
              </a:rPr>
              <a:t>5.Equality of opportunity and treatment for all women and men.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10600" cy="868362"/>
          </a:xfrm>
        </p:spPr>
        <p:txBody>
          <a:bodyPr>
            <a:noAutofit/>
          </a:bodyPr>
          <a:lstStyle/>
          <a:p>
            <a:pPr algn="l"/>
            <a:r>
              <a:rPr lang="en-US" sz="3600" dirty="0" smtClean="0">
                <a:solidFill>
                  <a:srgbClr val="FF0000"/>
                </a:solidFill>
                <a:latin typeface="Times New Roman" pitchFamily="18" charset="0"/>
                <a:cs typeface="Times New Roman" pitchFamily="18" charset="0"/>
              </a:rPr>
              <a:t>The International </a:t>
            </a:r>
            <a:r>
              <a:rPr lang="en-US" sz="3600" dirty="0" err="1" smtClean="0">
                <a:solidFill>
                  <a:srgbClr val="FF0000"/>
                </a:solidFill>
                <a:latin typeface="Times New Roman" pitchFamily="18" charset="0"/>
                <a:cs typeface="Times New Roman" pitchFamily="18" charset="0"/>
              </a:rPr>
              <a:t>Labour</a:t>
            </a:r>
            <a:r>
              <a:rPr lang="en-US" sz="3600" dirty="0" smtClean="0">
                <a:solidFill>
                  <a:srgbClr val="FF0000"/>
                </a:solidFill>
                <a:latin typeface="Times New Roman" pitchFamily="18" charset="0"/>
                <a:cs typeface="Times New Roman" pitchFamily="18" charset="0"/>
              </a:rPr>
              <a:t> Organization (ILO)</a:t>
            </a:r>
            <a:endParaRPr lang="en-US" sz="36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304800" y="1295400"/>
            <a:ext cx="8610600" cy="5334000"/>
          </a:xfrm>
        </p:spPr>
        <p:txBody>
          <a:bodyPr>
            <a:normAutofit/>
          </a:bodyPr>
          <a:lstStyle/>
          <a:p>
            <a:pPr algn="just">
              <a:buNone/>
            </a:pPr>
            <a:r>
              <a:rPr lang="en-US" sz="2800" dirty="0" smtClean="0">
                <a:latin typeface="Times New Roman" pitchFamily="18" charset="0"/>
                <a:cs typeface="Times New Roman" pitchFamily="18" charset="0"/>
              </a:rPr>
              <a:t>		The International </a:t>
            </a:r>
            <a:r>
              <a:rPr lang="en-US" sz="2800" dirty="0" err="1" smtClean="0">
                <a:latin typeface="Times New Roman" pitchFamily="18" charset="0"/>
                <a:cs typeface="Times New Roman" pitchFamily="18" charset="0"/>
              </a:rPr>
              <a:t>Labour</a:t>
            </a:r>
            <a:r>
              <a:rPr lang="en-US" sz="2800" dirty="0" smtClean="0">
                <a:latin typeface="Times New Roman" pitchFamily="18" charset="0"/>
                <a:cs typeface="Times New Roman" pitchFamily="18" charset="0"/>
              </a:rPr>
              <a:t> Organization (ILO) is devoted to promoting social justice and internationally recognized human and </a:t>
            </a:r>
            <a:r>
              <a:rPr lang="en-US" sz="2800" dirty="0" err="1" smtClean="0">
                <a:latin typeface="Times New Roman" pitchFamily="18" charset="0"/>
                <a:cs typeface="Times New Roman" pitchFamily="18" charset="0"/>
              </a:rPr>
              <a:t>labour</a:t>
            </a:r>
            <a:r>
              <a:rPr lang="en-US" sz="2800" dirty="0" smtClean="0">
                <a:latin typeface="Times New Roman" pitchFamily="18" charset="0"/>
                <a:cs typeface="Times New Roman" pitchFamily="18" charset="0"/>
              </a:rPr>
              <a:t> rights, pursuing its founding mission that social justice is essential to universal and lasting peace.</a:t>
            </a:r>
          </a:p>
          <a:p>
            <a:pPr algn="just">
              <a:buNone/>
            </a:pPr>
            <a:r>
              <a:rPr lang="en-US" sz="2800" dirty="0" smtClean="0">
                <a:latin typeface="Times New Roman" pitchFamily="18" charset="0"/>
                <a:cs typeface="Times New Roman" pitchFamily="18" charset="0"/>
              </a:rPr>
              <a:t>		The only tripartite U.N. agency, since 1919 the ILO brings together governments, employers and workers of </a:t>
            </a:r>
            <a:r>
              <a:rPr lang="en-US" sz="2800" dirty="0" smtClean="0">
                <a:latin typeface="Times New Roman" pitchFamily="18" charset="0"/>
                <a:cs typeface="Times New Roman" pitchFamily="18" charset="0"/>
                <a:hlinkClick r:id="rId2"/>
              </a:rPr>
              <a:t>187 Member States</a:t>
            </a:r>
            <a:r>
              <a:rPr lang="en-US" sz="2800" dirty="0" smtClean="0">
                <a:latin typeface="Times New Roman" pitchFamily="18" charset="0"/>
                <a:cs typeface="Times New Roman" pitchFamily="18" charset="0"/>
              </a:rPr>
              <a:t>, to set </a:t>
            </a:r>
            <a:r>
              <a:rPr lang="en-US" sz="2800" dirty="0" err="1" smtClean="0">
                <a:latin typeface="Times New Roman" pitchFamily="18" charset="0"/>
                <a:cs typeface="Times New Roman" pitchFamily="18" charset="0"/>
              </a:rPr>
              <a:t>labour</a:t>
            </a:r>
            <a:r>
              <a:rPr lang="en-US" sz="2800" dirty="0" smtClean="0">
                <a:latin typeface="Times New Roman" pitchFamily="18" charset="0"/>
                <a:cs typeface="Times New Roman" pitchFamily="18" charset="0"/>
              </a:rPr>
              <a:t> standards, develop policies and devise </a:t>
            </a:r>
            <a:r>
              <a:rPr lang="en-US" sz="2800" dirty="0" err="1" smtClean="0">
                <a:latin typeface="Times New Roman" pitchFamily="18" charset="0"/>
                <a:cs typeface="Times New Roman" pitchFamily="18" charset="0"/>
              </a:rPr>
              <a:t>programmes</a:t>
            </a:r>
            <a:r>
              <a:rPr lang="en-US" sz="2800" dirty="0" smtClean="0">
                <a:latin typeface="Times New Roman" pitchFamily="18" charset="0"/>
                <a:cs typeface="Times New Roman" pitchFamily="18" charset="0"/>
              </a:rPr>
              <a:t> promoting decent work for all women and men.</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r>
              <a:rPr lang="en-IN" dirty="0" smtClean="0">
                <a:solidFill>
                  <a:srgbClr val="FF0000"/>
                </a:solidFill>
                <a:latin typeface="Times New Roman" pitchFamily="18" charset="0"/>
                <a:cs typeface="Times New Roman" pitchFamily="18" charset="0"/>
              </a:rPr>
              <a:t>ILO : Objectives</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410200"/>
          </a:xfrm>
        </p:spPr>
        <p:txBody>
          <a:bodyPr>
            <a:normAutofit fontScale="85000" lnSpcReduction="20000"/>
          </a:bodyPr>
          <a:lstStyle/>
          <a:p>
            <a:pPr algn="just">
              <a:buNone/>
            </a:pPr>
            <a:r>
              <a:rPr lang="en-US" dirty="0" smtClean="0"/>
              <a:t>		</a:t>
            </a:r>
            <a:r>
              <a:rPr lang="en-US" dirty="0" smtClean="0">
                <a:latin typeface="Times New Roman" pitchFamily="18" charset="0"/>
                <a:cs typeface="Times New Roman" pitchFamily="18" charset="0"/>
              </a:rPr>
              <a:t>The ILO is a meeting point for governments, workers and employers of ILO’s member States to set </a:t>
            </a:r>
            <a:r>
              <a:rPr lang="en-US" dirty="0" err="1" smtClean="0">
                <a:latin typeface="Times New Roman" pitchFamily="18" charset="0"/>
                <a:cs typeface="Times New Roman" pitchFamily="18" charset="0"/>
              </a:rPr>
              <a:t>labour</a:t>
            </a:r>
            <a:r>
              <a:rPr lang="en-US" dirty="0" smtClean="0">
                <a:latin typeface="Times New Roman" pitchFamily="18" charset="0"/>
                <a:cs typeface="Times New Roman" pitchFamily="18" charset="0"/>
              </a:rPr>
              <a:t> standards, improve upon policies and create programs that promote decent work for people. The four strategic objectives at the heart of the Decent Work agenda are:</a:t>
            </a:r>
          </a:p>
          <a:p>
            <a:pPr algn="just">
              <a:buFont typeface="Wingdings" pitchFamily="2" charset="2"/>
              <a:buChar char="ü"/>
            </a:pPr>
            <a:r>
              <a:rPr lang="en-US" dirty="0" smtClean="0">
                <a:latin typeface="Times New Roman" pitchFamily="18" charset="0"/>
                <a:cs typeface="Times New Roman" pitchFamily="18" charset="0"/>
              </a:rPr>
              <a:t>To develop and effectuate standards, fundamental principles, and fundamental rights at work.</a:t>
            </a:r>
          </a:p>
          <a:p>
            <a:pPr algn="just">
              <a:buFont typeface="Wingdings" pitchFamily="2" charset="2"/>
              <a:buChar char="ü"/>
            </a:pPr>
            <a:r>
              <a:rPr lang="en-US" dirty="0" smtClean="0">
                <a:latin typeface="Times New Roman" pitchFamily="18" charset="0"/>
                <a:cs typeface="Times New Roman" pitchFamily="18" charset="0"/>
              </a:rPr>
              <a:t>To ensure that men and women have equal access to decent work while enhancing opportunities for the same.</a:t>
            </a:r>
          </a:p>
          <a:p>
            <a:pPr algn="just">
              <a:buFont typeface="Wingdings" pitchFamily="2" charset="2"/>
              <a:buChar char="ü"/>
            </a:pPr>
            <a:r>
              <a:rPr lang="en-US" dirty="0" smtClean="0">
                <a:latin typeface="Times New Roman" pitchFamily="18" charset="0"/>
                <a:cs typeface="Times New Roman" pitchFamily="18" charset="0"/>
              </a:rPr>
              <a:t>To magnify the coverage and effectiveness of social protection for everyone.</a:t>
            </a:r>
          </a:p>
          <a:p>
            <a:pPr algn="just">
              <a:buFont typeface="Wingdings" pitchFamily="2" charset="2"/>
              <a:buChar char="ü"/>
            </a:pPr>
            <a:r>
              <a:rPr lang="en-US" dirty="0" smtClean="0">
                <a:latin typeface="Times New Roman" pitchFamily="18" charset="0"/>
                <a:cs typeface="Times New Roman" pitchFamily="18" charset="0"/>
              </a:rPr>
              <a:t>To strengthen </a:t>
            </a:r>
            <a:r>
              <a:rPr lang="en-US" dirty="0" err="1" smtClean="0">
                <a:latin typeface="Times New Roman" pitchFamily="18" charset="0"/>
                <a:cs typeface="Times New Roman" pitchFamily="18" charset="0"/>
              </a:rPr>
              <a:t>Tripartism</a:t>
            </a:r>
            <a:r>
              <a:rPr lang="en-US" dirty="0" smtClean="0">
                <a:latin typeface="Times New Roman" pitchFamily="18" charset="0"/>
                <a:cs typeface="Times New Roman" pitchFamily="18" charset="0"/>
              </a:rPr>
              <a:t> and social dialogue.</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dirty="0" smtClean="0">
                <a:solidFill>
                  <a:srgbClr val="FF0000"/>
                </a:solidFill>
                <a:latin typeface="Times New Roman" pitchFamily="18" charset="0"/>
                <a:cs typeface="Times New Roman" pitchFamily="18" charset="0"/>
              </a:rPr>
              <a:t>MEANING </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562600"/>
          </a:xfrm>
        </p:spPr>
        <p:txBody>
          <a:bodyPr>
            <a:normAutofit/>
          </a:bodyPr>
          <a:lstStyle/>
          <a:p>
            <a:pPr algn="just">
              <a:buNone/>
            </a:pPr>
            <a:r>
              <a:rPr lang="en-US" dirty="0" smtClean="0"/>
              <a:t>		</a:t>
            </a:r>
            <a:r>
              <a:rPr lang="en-US" sz="2400" dirty="0" smtClean="0">
                <a:latin typeface="Times New Roman" pitchFamily="18" charset="0"/>
                <a:cs typeface="Times New Roman" pitchFamily="18" charset="0"/>
              </a:rPr>
              <a:t>It is in the interest of everyone to create and maintain good relations between Employees and Employees.</a:t>
            </a:r>
          </a:p>
          <a:p>
            <a:pPr algn="just">
              <a:buNone/>
            </a:pPr>
            <a:r>
              <a:rPr lang="en-US" sz="2400" dirty="0" smtClean="0">
                <a:latin typeface="Times New Roman" pitchFamily="18" charset="0"/>
                <a:cs typeface="Times New Roman" pitchFamily="18" charset="0"/>
              </a:rPr>
              <a:t>		According to </a:t>
            </a:r>
            <a:r>
              <a:rPr lang="en-US" sz="2400" i="1" dirty="0" smtClean="0">
                <a:solidFill>
                  <a:srgbClr val="FF0000"/>
                </a:solidFill>
                <a:latin typeface="Times New Roman" pitchFamily="18" charset="0"/>
                <a:cs typeface="Times New Roman" pitchFamily="18" charset="0"/>
              </a:rPr>
              <a:t>Dale Yoder</a:t>
            </a:r>
            <a:r>
              <a:rPr lang="en-US" sz="2400" dirty="0" smtClean="0">
                <a:latin typeface="Times New Roman" pitchFamily="18" charset="0"/>
                <a:cs typeface="Times New Roman" pitchFamily="18" charset="0"/>
              </a:rPr>
              <a:t>, “ IR refers to  the </a:t>
            </a:r>
            <a:r>
              <a:rPr lang="en-US" sz="2400" i="1" dirty="0" smtClean="0">
                <a:latin typeface="Times New Roman" pitchFamily="18" charset="0"/>
                <a:cs typeface="Times New Roman" pitchFamily="18" charset="0"/>
              </a:rPr>
              <a:t>relationship between management and employees or among employees</a:t>
            </a:r>
            <a:r>
              <a:rPr lang="en-US" sz="2400" dirty="0" smtClean="0">
                <a:latin typeface="Times New Roman" pitchFamily="18" charset="0"/>
                <a:cs typeface="Times New Roman" pitchFamily="18" charset="0"/>
              </a:rPr>
              <a:t> and their organization that arise out of employment”.</a:t>
            </a:r>
          </a:p>
          <a:p>
            <a:pPr algn="just">
              <a:buNone/>
            </a:pPr>
            <a:endParaRPr lang="en-US" sz="2400"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a:t>
            </a:r>
            <a:r>
              <a:rPr lang="en-US" sz="2400" dirty="0" smtClean="0">
                <a:solidFill>
                  <a:srgbClr val="FF0000"/>
                </a:solidFill>
                <a:latin typeface="Times New Roman" pitchFamily="18" charset="0"/>
                <a:cs typeface="Times New Roman" pitchFamily="18" charset="0"/>
              </a:rPr>
              <a:t>Actors/Parties to Industrial Relations : </a:t>
            </a:r>
          </a:p>
          <a:p>
            <a:pPr marL="514350" indent="-514350" algn="just">
              <a:buAutoNum type="arabicPeriod"/>
            </a:pPr>
            <a:r>
              <a:rPr lang="en-US" sz="2400" dirty="0" smtClean="0">
                <a:latin typeface="Times New Roman" pitchFamily="18" charset="0"/>
                <a:cs typeface="Times New Roman" pitchFamily="18" charset="0"/>
              </a:rPr>
              <a:t>Employers and their Organization.</a:t>
            </a:r>
          </a:p>
          <a:p>
            <a:pPr marL="514350" indent="-514350" algn="just">
              <a:buAutoNum type="arabicPeriod"/>
            </a:pPr>
            <a:r>
              <a:rPr lang="en-US" sz="2400" dirty="0" smtClean="0">
                <a:latin typeface="Times New Roman" pitchFamily="18" charset="0"/>
                <a:cs typeface="Times New Roman" pitchFamily="18" charset="0"/>
              </a:rPr>
              <a:t> Employees and their Organization.</a:t>
            </a:r>
          </a:p>
          <a:p>
            <a:pPr marL="514350" indent="-514350" algn="just">
              <a:buFont typeface="Arial" pitchFamily="34" charset="0"/>
              <a:buAutoNum type="arabicPeriod"/>
            </a:pPr>
            <a:r>
              <a:rPr lang="en-IN" sz="2400" dirty="0" smtClean="0">
                <a:latin typeface="Times New Roman" pitchFamily="18" charset="0"/>
                <a:cs typeface="Times New Roman" pitchFamily="18" charset="0"/>
              </a:rPr>
              <a:t>Trade Union.</a:t>
            </a:r>
          </a:p>
          <a:p>
            <a:pPr marL="514350" indent="-514350" algn="just">
              <a:buFont typeface="Arial" pitchFamily="34" charset="0"/>
              <a:buAutoNum type="arabicPeriod"/>
            </a:pPr>
            <a:r>
              <a:rPr lang="en-US" sz="2400" dirty="0" smtClean="0">
                <a:latin typeface="Times New Roman" pitchFamily="18" charset="0"/>
                <a:cs typeface="Times New Roman" pitchFamily="18" charset="0"/>
              </a:rPr>
              <a:t>Government (to protect the interest of both parties).</a:t>
            </a:r>
          </a:p>
          <a:p>
            <a:pPr marL="514350" indent="-514350" algn="just">
              <a:buNone/>
            </a:pPr>
            <a:endParaRPr lang="en-US" sz="2400" dirty="0" smtClean="0">
              <a:latin typeface="Times New Roman" pitchFamily="18" charset="0"/>
              <a:cs typeface="Times New Roman" pitchFamily="18" charset="0"/>
            </a:endParaRPr>
          </a:p>
          <a:p>
            <a:pPr marL="514350" indent="-514350" algn="just">
              <a:buAutoNum type="arabicPeriod"/>
            </a:pPr>
            <a:endParaRPr lang="en-US" sz="2400" dirty="0" smtClean="0">
              <a:latin typeface="Times New Roman" pitchFamily="18" charset="0"/>
              <a:cs typeface="Times New Roman" pitchFamily="18" charset="0"/>
            </a:endParaRPr>
          </a:p>
          <a:p>
            <a:pPr marL="514350" indent="-514350" algn="just">
              <a:buAutoNum type="arabicPeriod"/>
            </a:pP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algn="l"/>
            <a:r>
              <a:rPr lang="en-US" dirty="0" smtClean="0">
                <a:solidFill>
                  <a:srgbClr val="FF0000"/>
                </a:solidFill>
                <a:latin typeface="Times New Roman" pitchFamily="18" charset="0"/>
                <a:cs typeface="Times New Roman" pitchFamily="18" charset="0"/>
              </a:rPr>
              <a:t>Objectives of IR : </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410200"/>
          </a:xfrm>
        </p:spPr>
        <p:txBody>
          <a:bodyPr>
            <a:normAutofit fontScale="85000" lnSpcReduction="20000"/>
          </a:bodyPr>
          <a:lstStyle/>
          <a:p>
            <a:pPr marL="514350" indent="-514350" algn="just">
              <a:buAutoNum type="arabicPeriod"/>
            </a:pPr>
            <a:r>
              <a:rPr lang="en-US" dirty="0" smtClean="0">
                <a:latin typeface="Times New Roman" pitchFamily="18" charset="0"/>
                <a:cs typeface="Times New Roman" pitchFamily="18" charset="0"/>
              </a:rPr>
              <a:t>To safeguard the interest of </a:t>
            </a:r>
            <a:r>
              <a:rPr lang="en-US" dirty="0" err="1" smtClean="0">
                <a:latin typeface="Times New Roman" pitchFamily="18" charset="0"/>
                <a:cs typeface="Times New Roman" pitchFamily="18" charset="0"/>
              </a:rPr>
              <a:t>labour</a:t>
            </a:r>
            <a:r>
              <a:rPr lang="en-US" dirty="0" smtClean="0">
                <a:latin typeface="Times New Roman" pitchFamily="18" charset="0"/>
                <a:cs typeface="Times New Roman" pitchFamily="18" charset="0"/>
              </a:rPr>
              <a:t> as well as management.</a:t>
            </a:r>
          </a:p>
          <a:p>
            <a:pPr marL="514350" indent="-514350" algn="just">
              <a:buAutoNum type="arabicPeriod"/>
            </a:pPr>
            <a:r>
              <a:rPr lang="en-US" dirty="0" smtClean="0">
                <a:latin typeface="Times New Roman" pitchFamily="18" charset="0"/>
                <a:cs typeface="Times New Roman" pitchFamily="18" charset="0"/>
              </a:rPr>
              <a:t>To raise productivity to the higher level.</a:t>
            </a:r>
          </a:p>
          <a:p>
            <a:pPr marL="514350" indent="-514350" algn="just">
              <a:buAutoNum type="arabicPeriod"/>
            </a:pPr>
            <a:r>
              <a:rPr lang="en-US" dirty="0" smtClean="0">
                <a:latin typeface="Times New Roman" pitchFamily="18" charset="0"/>
                <a:cs typeface="Times New Roman" pitchFamily="18" charset="0"/>
              </a:rPr>
              <a:t>To ensure industrial peace by eliminating the industrial disputes.</a:t>
            </a:r>
          </a:p>
          <a:p>
            <a:pPr marL="514350" indent="-514350" algn="just">
              <a:buAutoNum type="arabicPeriod"/>
            </a:pPr>
            <a:r>
              <a:rPr lang="en-US" dirty="0" smtClean="0">
                <a:latin typeface="Times New Roman" pitchFamily="18" charset="0"/>
                <a:cs typeface="Times New Roman" pitchFamily="18" charset="0"/>
              </a:rPr>
              <a:t>To establish and maintain the industrial democracy by WPM.</a:t>
            </a:r>
          </a:p>
          <a:p>
            <a:pPr marL="514350" indent="-514350" algn="just">
              <a:buAutoNum type="arabicPeriod"/>
            </a:pPr>
            <a:r>
              <a:rPr lang="en-US" dirty="0" smtClean="0">
                <a:latin typeface="Times New Roman" pitchFamily="18" charset="0"/>
                <a:cs typeface="Times New Roman" pitchFamily="18" charset="0"/>
              </a:rPr>
              <a:t>To reduce the </a:t>
            </a:r>
            <a:r>
              <a:rPr lang="en-US" dirty="0" err="1" smtClean="0">
                <a:latin typeface="Times New Roman" pitchFamily="18" charset="0"/>
                <a:cs typeface="Times New Roman" pitchFamily="18" charset="0"/>
              </a:rPr>
              <a:t>labour</a:t>
            </a:r>
            <a:r>
              <a:rPr lang="en-US" dirty="0" smtClean="0">
                <a:latin typeface="Times New Roman" pitchFamily="18" charset="0"/>
                <a:cs typeface="Times New Roman" pitchFamily="18" charset="0"/>
              </a:rPr>
              <a:t> turnover and absenteeism by providing Job Satisfaction.</a:t>
            </a:r>
          </a:p>
          <a:p>
            <a:pPr marL="514350" indent="-514350" algn="just">
              <a:buAutoNum type="arabicPeriod"/>
            </a:pPr>
            <a:r>
              <a:rPr lang="en-US" dirty="0" smtClean="0">
                <a:latin typeface="Times New Roman" pitchFamily="18" charset="0"/>
                <a:cs typeface="Times New Roman" pitchFamily="18" charset="0"/>
              </a:rPr>
              <a:t>To eliminate the Strikes, Lockouts, </a:t>
            </a:r>
            <a:r>
              <a:rPr lang="en-US" dirty="0" err="1" smtClean="0">
                <a:latin typeface="Times New Roman" pitchFamily="18" charset="0"/>
                <a:cs typeface="Times New Roman" pitchFamily="18" charset="0"/>
              </a:rPr>
              <a:t>Gheraos</a:t>
            </a:r>
            <a:r>
              <a:rPr lang="en-US" dirty="0" smtClean="0">
                <a:latin typeface="Times New Roman" pitchFamily="18" charset="0"/>
                <a:cs typeface="Times New Roman" pitchFamily="18" charset="0"/>
              </a:rPr>
              <a:t> etc by ensuring reasonable Wages and Fringe benefits.</a:t>
            </a:r>
          </a:p>
          <a:p>
            <a:pPr marL="514350" indent="-514350" algn="just">
              <a:buAutoNum type="arabicPeriod"/>
            </a:pPr>
            <a:r>
              <a:rPr lang="en-US" dirty="0" smtClean="0">
                <a:latin typeface="Times New Roman" pitchFamily="18" charset="0"/>
                <a:cs typeface="Times New Roman" pitchFamily="18" charset="0"/>
              </a:rPr>
              <a:t>To encourage and develop the Trade Union .</a:t>
            </a:r>
          </a:p>
          <a:p>
            <a:pPr marL="514350" indent="-514350" algn="just">
              <a:buAutoNum type="arabicPeriod"/>
            </a:pPr>
            <a:r>
              <a:rPr lang="en-US" dirty="0" smtClean="0">
                <a:latin typeface="Times New Roman" pitchFamily="18" charset="0"/>
                <a:cs typeface="Times New Roman" pitchFamily="18" charset="0"/>
              </a:rPr>
              <a:t>To ensure a healthy and balanced social life.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pPr algn="l"/>
            <a:r>
              <a:rPr lang="en-US" dirty="0" smtClean="0">
                <a:solidFill>
                  <a:srgbClr val="FF0000"/>
                </a:solidFill>
                <a:latin typeface="Times New Roman" pitchFamily="18" charset="0"/>
                <a:cs typeface="Times New Roman" pitchFamily="18" charset="0"/>
              </a:rPr>
              <a:t>HRM And Industrial Relations</a:t>
            </a:r>
            <a:endParaRPr lang="en-US" dirty="0">
              <a:solidFill>
                <a:srgbClr val="FF0000"/>
              </a:solidFill>
              <a:latin typeface="Times New Roman" pitchFamily="18" charset="0"/>
              <a:cs typeface="Times New Roman" pitchFamily="18" charset="0"/>
            </a:endParaRPr>
          </a:p>
        </p:txBody>
      </p:sp>
      <p:pic>
        <p:nvPicPr>
          <p:cNvPr id="4" name="Content Placeholder 3" descr="IR vs HRM.jpg"/>
          <p:cNvPicPr>
            <a:picLocks noGrp="1" noChangeAspect="1"/>
          </p:cNvPicPr>
          <p:nvPr>
            <p:ph idx="1"/>
          </p:nvPr>
        </p:nvPicPr>
        <p:blipFill>
          <a:blip r:embed="rId2"/>
          <a:stretch>
            <a:fillRect/>
          </a:stretch>
        </p:blipFill>
        <p:spPr>
          <a:xfrm>
            <a:off x="228600" y="1066800"/>
            <a:ext cx="8686800" cy="5638800"/>
          </a:xfr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itchFamily="18" charset="0"/>
                <a:cs typeface="Times New Roman" pitchFamily="18" charset="0"/>
              </a:rPr>
              <a:t>Approaches to Industrial Relations</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None/>
            </a:pPr>
            <a:r>
              <a:rPr lang="en-US" dirty="0" smtClean="0"/>
              <a:t>		</a:t>
            </a:r>
            <a:r>
              <a:rPr lang="en-US" dirty="0" smtClean="0">
                <a:latin typeface="Times New Roman" pitchFamily="18" charset="0"/>
                <a:cs typeface="Times New Roman" pitchFamily="18" charset="0"/>
              </a:rPr>
              <a:t>The four popular approaches to industrial relations are :</a:t>
            </a:r>
          </a:p>
          <a:p>
            <a:pPr algn="just">
              <a:buNone/>
            </a:pPr>
            <a:r>
              <a:rPr lang="en-US" dirty="0" smtClean="0">
                <a:latin typeface="Times New Roman" pitchFamily="18" charset="0"/>
                <a:cs typeface="Times New Roman" pitchFamily="18" charset="0"/>
              </a:rPr>
              <a:t>1.  The Unitary Approach.</a:t>
            </a:r>
          </a:p>
          <a:p>
            <a:pPr algn="just">
              <a:buNone/>
            </a:pPr>
            <a:r>
              <a:rPr lang="en-US" dirty="0" smtClean="0">
                <a:latin typeface="Times New Roman" pitchFamily="18" charset="0"/>
                <a:cs typeface="Times New Roman" pitchFamily="18" charset="0"/>
              </a:rPr>
              <a:t>2.  Pluralistic Approach. </a:t>
            </a:r>
          </a:p>
          <a:p>
            <a:pPr marL="514350" indent="-514350" algn="just">
              <a:buAutoNum type="arabicPeriod" startAt="3"/>
            </a:pPr>
            <a:r>
              <a:rPr lang="en-US" dirty="0" smtClean="0">
                <a:latin typeface="Times New Roman" pitchFamily="18" charset="0"/>
                <a:cs typeface="Times New Roman" pitchFamily="18" charset="0"/>
              </a:rPr>
              <a:t>Marxist/ Radical Approach.</a:t>
            </a:r>
          </a:p>
          <a:p>
            <a:pPr marL="514350" indent="-514350" algn="just">
              <a:buAutoNum type="arabicPeriod" startAt="3"/>
            </a:pPr>
            <a:r>
              <a:rPr lang="en-US" dirty="0" smtClean="0">
                <a:latin typeface="Times New Roman" pitchFamily="18" charset="0"/>
                <a:cs typeface="Times New Roman" pitchFamily="18" charset="0"/>
              </a:rPr>
              <a:t>System Approach</a:t>
            </a:r>
            <a:r>
              <a:rPr lang="en-US" dirty="0" smtClean="0"/>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algn="l"/>
            <a:r>
              <a:rPr lang="en-US" dirty="0" smtClean="0">
                <a:solidFill>
                  <a:srgbClr val="FF0000"/>
                </a:solidFill>
                <a:latin typeface="Times New Roman" pitchFamily="18" charset="0"/>
                <a:cs typeface="Times New Roman" pitchFamily="18" charset="0"/>
              </a:rPr>
              <a:t>1. The Unitary Approach</a:t>
            </a:r>
            <a:endParaRPr lang="en-US" dirty="0">
              <a:solidFill>
                <a:srgbClr val="FF0000"/>
              </a:solidFill>
            </a:endParaRPr>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pPr algn="just">
              <a:buNone/>
            </a:pPr>
            <a:r>
              <a:rPr lang="en-US" dirty="0" smtClean="0"/>
              <a:t>		</a:t>
            </a:r>
            <a:r>
              <a:rPr lang="en-US" dirty="0" smtClean="0">
                <a:latin typeface="Times New Roman" pitchFamily="18" charset="0"/>
                <a:cs typeface="Times New Roman" pitchFamily="18" charset="0"/>
              </a:rPr>
              <a:t>Unitary Perspective of Industrial Relations views the industrial organization as an entity unified by one aim, and that is success. In </a:t>
            </a:r>
            <a:r>
              <a:rPr lang="en-US" dirty="0" err="1" smtClean="0">
                <a:latin typeface="Times New Roman" pitchFamily="18" charset="0"/>
                <a:cs typeface="Times New Roman" pitchFamily="18" charset="0"/>
              </a:rPr>
              <a:t>unitarism</a:t>
            </a:r>
            <a:r>
              <a:rPr lang="en-US" dirty="0" smtClean="0">
                <a:latin typeface="Times New Roman" pitchFamily="18" charset="0"/>
                <a:cs typeface="Times New Roman" pitchFamily="18" charset="0"/>
              </a:rPr>
              <a:t>, the organization is perceived as an integrated and harmonious system, </a:t>
            </a:r>
            <a:r>
              <a:rPr lang="en-US" i="1" dirty="0" smtClean="0">
                <a:solidFill>
                  <a:srgbClr val="FF0000"/>
                </a:solidFill>
                <a:latin typeface="Times New Roman" pitchFamily="18" charset="0"/>
                <a:cs typeface="Times New Roman" pitchFamily="18" charset="0"/>
              </a:rPr>
              <a:t>viewed as one happy family.</a:t>
            </a:r>
          </a:p>
          <a:p>
            <a:pPr algn="just">
              <a:buNone/>
            </a:pPr>
            <a:r>
              <a:rPr lang="en-US" dirty="0" smtClean="0">
                <a:latin typeface="Times New Roman" pitchFamily="18" charset="0"/>
                <a:cs typeface="Times New Roman" pitchFamily="18" charset="0"/>
              </a:rPr>
              <a:t>		As per this approach, Management reserve the right to manage and take decisions. And it is considered as legitimate, rational and accepted. And opposition to decision is considered as irrational. </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pPr algn="l"/>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solidFill>
                  <a:srgbClr val="FF0000"/>
                </a:solidFill>
                <a:latin typeface="Times New Roman" pitchFamily="18" charset="0"/>
                <a:cs typeface="Times New Roman" pitchFamily="18" charset="0"/>
              </a:rPr>
              <a:t>2.  Pluralistic Approach</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457200" y="1143000"/>
            <a:ext cx="8229600" cy="5486400"/>
          </a:xfrm>
        </p:spPr>
        <p:txBody>
          <a:bodyPr>
            <a:normAutofit fontScale="92500" lnSpcReduction="10000"/>
          </a:bodyPr>
          <a:lstStyle/>
          <a:p>
            <a:pPr algn="just">
              <a:buNone/>
            </a:pPr>
            <a:r>
              <a:rPr lang="en-US" dirty="0" smtClean="0"/>
              <a:t>		</a:t>
            </a:r>
            <a:r>
              <a:rPr lang="en-US" dirty="0" smtClean="0">
                <a:latin typeface="Times New Roman" pitchFamily="18" charset="0"/>
                <a:cs typeface="Times New Roman" pitchFamily="18" charset="0"/>
              </a:rPr>
              <a:t>This approach perceives organization as a coalition of competing interest between management and different groups, trade unions as legitimate representative of employee's interests and stability in Industrial Relation as the product of concessions and compromises between management and workers.</a:t>
            </a:r>
          </a:p>
          <a:p>
            <a:pPr algn="just">
              <a:buNone/>
            </a:pPr>
            <a:r>
              <a:rPr lang="en-US" dirty="0" smtClean="0">
                <a:latin typeface="Times New Roman" pitchFamily="18" charset="0"/>
                <a:cs typeface="Times New Roman" pitchFamily="18" charset="0"/>
              </a:rPr>
              <a:t>		This approach believes that trade unions are legitimate representatives of employee interest and management authority is nor automatically accepted.</a:t>
            </a:r>
          </a:p>
          <a:p>
            <a:pPr algn="just">
              <a:buNone/>
            </a:pP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algn="l"/>
            <a:r>
              <a:rPr lang="en-US" dirty="0" smtClean="0">
                <a:solidFill>
                  <a:srgbClr val="FF0000"/>
                </a:solidFill>
                <a:latin typeface="Times New Roman" pitchFamily="18" charset="0"/>
                <a:cs typeface="Times New Roman" pitchFamily="18" charset="0"/>
              </a:rPr>
              <a:t>3. Marxist/ Radical Approach</a:t>
            </a:r>
            <a:endParaRPr lang="en-US" dirty="0">
              <a:solidFill>
                <a:srgbClr val="FF0000"/>
              </a:solidFill>
            </a:endParaRPr>
          </a:p>
        </p:txBody>
      </p:sp>
      <p:sp>
        <p:nvSpPr>
          <p:cNvPr id="3" name="Content Placeholder 2"/>
          <p:cNvSpPr>
            <a:spLocks noGrp="1"/>
          </p:cNvSpPr>
          <p:nvPr>
            <p:ph idx="1"/>
          </p:nvPr>
        </p:nvSpPr>
        <p:spPr>
          <a:xfrm>
            <a:off x="457200" y="1066800"/>
            <a:ext cx="8229600" cy="5486400"/>
          </a:xfrm>
        </p:spPr>
        <p:txBody>
          <a:bodyPr>
            <a:normAutofit/>
          </a:bodyPr>
          <a:lstStyle/>
          <a:p>
            <a:pPr algn="just">
              <a:buNone/>
            </a:pPr>
            <a:r>
              <a:rPr lang="en-US" dirty="0" smtClean="0"/>
              <a:t>		</a:t>
            </a:r>
            <a:r>
              <a:rPr lang="en-US" dirty="0" smtClean="0">
                <a:latin typeface="Times New Roman" pitchFamily="18" charset="0"/>
                <a:cs typeface="Times New Roman" pitchFamily="18" charset="0"/>
              </a:rPr>
              <a:t>Marxist approach is based on the proposition that the economic activities of production, manufacturing, and distribution are majorly governed by the objective of profit. </a:t>
            </a:r>
          </a:p>
          <a:p>
            <a:pPr algn="just">
              <a:buNone/>
            </a:pPr>
            <a:r>
              <a:rPr lang="en-US" dirty="0" smtClean="0">
                <a:latin typeface="Times New Roman" pitchFamily="18" charset="0"/>
                <a:cs typeface="Times New Roman" pitchFamily="18" charset="0"/>
              </a:rPr>
              <a:t>		It also regard that conflict between employers and employees as inevitable.</a:t>
            </a:r>
          </a:p>
          <a:p>
            <a:pPr algn="just">
              <a:buNone/>
            </a:pPr>
            <a:r>
              <a:rPr lang="en-US" dirty="0" smtClean="0">
                <a:latin typeface="Times New Roman" pitchFamily="18" charset="0"/>
                <a:cs typeface="Times New Roman" pitchFamily="18" charset="0"/>
              </a:rPr>
              <a:t>		This approach is based on the class conflict between have and have </a:t>
            </a:r>
            <a:r>
              <a:rPr lang="en-US" dirty="0" err="1" smtClean="0">
                <a:latin typeface="Times New Roman" pitchFamily="18" charset="0"/>
                <a:cs typeface="Times New Roman" pitchFamily="18" charset="0"/>
              </a:rPr>
              <a:t>nots</a:t>
            </a:r>
            <a:r>
              <a:rPr lang="en-US" dirty="0" smtClean="0">
                <a:latin typeface="Times New Roman" pitchFamily="18" charset="0"/>
                <a:cs typeface="Times New Roman" pitchFamily="18" charset="0"/>
              </a:rPr>
              <a:t>, controlled and controller, exploiter and exploited.</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pPr algn="l"/>
            <a:r>
              <a:rPr lang="en-US" dirty="0" smtClean="0">
                <a:solidFill>
                  <a:srgbClr val="FF0000"/>
                </a:solidFill>
                <a:latin typeface="Times New Roman" pitchFamily="18" charset="0"/>
                <a:cs typeface="Times New Roman" pitchFamily="18" charset="0"/>
              </a:rPr>
              <a:t>4. System Approach</a:t>
            </a:r>
            <a:endParaRPr lang="en-US" dirty="0">
              <a:solidFill>
                <a:srgbClr val="FF0000"/>
              </a:solidFill>
            </a:endParaRPr>
          </a:p>
        </p:txBody>
      </p:sp>
      <p:sp>
        <p:nvSpPr>
          <p:cNvPr id="3" name="Content Placeholder 2"/>
          <p:cNvSpPr>
            <a:spLocks noGrp="1"/>
          </p:cNvSpPr>
          <p:nvPr>
            <p:ph idx="1"/>
          </p:nvPr>
        </p:nvSpPr>
        <p:spPr>
          <a:xfrm>
            <a:off x="457200" y="1143000"/>
            <a:ext cx="8229600" cy="5486400"/>
          </a:xfrm>
        </p:spPr>
        <p:txBody>
          <a:bodyPr>
            <a:normAutofit lnSpcReduction="10000"/>
          </a:bodyPr>
          <a:lstStyle/>
          <a:p>
            <a:pPr algn="just">
              <a:buNone/>
            </a:pPr>
            <a:r>
              <a:rPr lang="en-US" dirty="0" smtClean="0"/>
              <a:t>		</a:t>
            </a:r>
            <a:r>
              <a:rPr lang="en-US" dirty="0" smtClean="0">
                <a:latin typeface="Times New Roman" pitchFamily="18" charset="0"/>
                <a:cs typeface="Times New Roman" pitchFamily="18" charset="0"/>
              </a:rPr>
              <a:t>As for this , individuals are part of an ongoing but independent social system. The </a:t>
            </a:r>
            <a:r>
              <a:rPr lang="en-US" dirty="0" err="1" smtClean="0">
                <a:latin typeface="Times New Roman" pitchFamily="18" charset="0"/>
                <a:cs typeface="Times New Roman" pitchFamily="18" charset="0"/>
              </a:rPr>
              <a:t>behaviour</a:t>
            </a:r>
            <a:r>
              <a:rPr lang="en-US" dirty="0" smtClean="0">
                <a:latin typeface="Times New Roman" pitchFamily="18" charset="0"/>
                <a:cs typeface="Times New Roman" pitchFamily="18" charset="0"/>
              </a:rPr>
              <a:t>, actions and role of the individuals are shaped by the cultures of the society.</a:t>
            </a:r>
          </a:p>
          <a:p>
            <a:pPr algn="just">
              <a:buNone/>
            </a:pPr>
            <a:r>
              <a:rPr lang="en-US" dirty="0" smtClean="0">
                <a:latin typeface="Times New Roman" pitchFamily="18" charset="0"/>
                <a:cs typeface="Times New Roman" pitchFamily="18" charset="0"/>
              </a:rPr>
              <a:t>        As per this, IR system defines, at any one time in its development is regarded as comprised of certain actors, certain contexts and an ideology that finds the IR </a:t>
            </a:r>
            <a:r>
              <a:rPr lang="en-US" smtClean="0">
                <a:latin typeface="Times New Roman" pitchFamily="18" charset="0"/>
                <a:cs typeface="Times New Roman" pitchFamily="18" charset="0"/>
              </a:rPr>
              <a:t>system together, </a:t>
            </a:r>
            <a:r>
              <a:rPr lang="en-US" dirty="0" smtClean="0">
                <a:latin typeface="Times New Roman" pitchFamily="18" charset="0"/>
                <a:cs typeface="Times New Roman" pitchFamily="18" charset="0"/>
              </a:rPr>
              <a:t>and a body of rules created to govern the as actors at the workplace and the work community.</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TotalTime>
  <Words>163</Words>
  <Application>Microsoft Office PowerPoint</Application>
  <PresentationFormat>On-screen Show (4:3)</PresentationFormat>
  <Paragraphs>59</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Industrial Relations</vt:lpstr>
      <vt:lpstr>Decent Work</vt:lpstr>
      <vt:lpstr>The International Labour Organization (ILO)</vt:lpstr>
      <vt:lpstr>ILO : Objectives</vt:lpstr>
      <vt:lpstr>MEANING </vt:lpstr>
      <vt:lpstr>Objectives of IR : </vt:lpstr>
      <vt:lpstr>HRM And Industrial Relations</vt:lpstr>
      <vt:lpstr>Approaches to Industrial Relations</vt:lpstr>
      <vt:lpstr>1. The Unitary Approach</vt:lpstr>
      <vt:lpstr> 2.  Pluralistic Approach </vt:lpstr>
      <vt:lpstr>3. Marxist/ Radical Approach</vt:lpstr>
      <vt:lpstr>4. System Approach</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Relations</dc:title>
  <dc:creator>ese</dc:creator>
  <cp:lastModifiedBy>HP</cp:lastModifiedBy>
  <cp:revision>24</cp:revision>
  <dcterms:created xsi:type="dcterms:W3CDTF">2006-08-16T00:00:00Z</dcterms:created>
  <dcterms:modified xsi:type="dcterms:W3CDTF">2025-06-23T05:48:56Z</dcterms:modified>
</cp:coreProperties>
</file>