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3" r:id="rId5"/>
    <p:sldId id="262" r:id="rId6"/>
    <p:sldId id="258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33CC"/>
    <a:srgbClr val="00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8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34037-C1B8-4603-BB9C-ABEF6E1B2943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2860A-6AE6-4459-ADDB-C27F2023B69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2860A-6AE6-4459-ADDB-C27F2023B69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B847F-9509-4695-8B46-61D37D0D7670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CF56E-B1DB-4645-8933-C796F253FA9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Linear Programming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L P model / formulation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Many business and economic activities are concerned with the problem of planning. </a:t>
            </a:r>
          </a:p>
          <a:p>
            <a:r>
              <a:rPr lang="en-US" dirty="0" smtClean="0"/>
              <a:t>If the supply of the resources are unlimited, the need for linear programming problems would not arise at all.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Linear Programming?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>
            <a:normAutofit fontScale="55000" lnSpcReduction="20000"/>
          </a:bodyPr>
          <a:lstStyle/>
          <a:p>
            <a:pPr algn="just">
              <a:buNone/>
            </a:pPr>
            <a:endParaRPr lang="en-US" sz="5100" dirty="0" smtClean="0"/>
          </a:p>
          <a:p>
            <a:pPr algn="just"/>
            <a:r>
              <a:rPr lang="en-US" sz="5700" dirty="0" smtClean="0">
                <a:latin typeface="Times New Roman" pitchFamily="18" charset="0"/>
                <a:cs typeface="Times New Roman" pitchFamily="18" charset="0"/>
              </a:rPr>
              <a:t>Linear </a:t>
            </a:r>
            <a:r>
              <a:rPr lang="en-US" sz="5700" dirty="0">
                <a:latin typeface="Times New Roman" pitchFamily="18" charset="0"/>
                <a:cs typeface="Times New Roman" pitchFamily="18" charset="0"/>
              </a:rPr>
              <a:t>Programming is a </a:t>
            </a:r>
            <a:r>
              <a:rPr lang="en-US" sz="5700" b="1" u="sng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mathematical technique</a:t>
            </a:r>
            <a:r>
              <a:rPr lang="en-US" sz="5700" dirty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57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optimum </a:t>
            </a:r>
            <a:r>
              <a:rPr lang="en-US" sz="57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allocation</a:t>
            </a:r>
            <a:r>
              <a:rPr lang="en-US" sz="57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700" b="1" i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200" i="1" dirty="0" smtClean="0"/>
              <a:t>the action of making the best or most effective use of a situation or resource</a:t>
            </a:r>
            <a:r>
              <a:rPr lang="en-US" sz="6700" b="1" i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67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7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5700" b="1" u="db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000099"/>
                  </a:solidFill>
                </a:uFill>
                <a:latin typeface="Times New Roman" pitchFamily="18" charset="0"/>
                <a:cs typeface="Times New Roman" pitchFamily="18" charset="0"/>
              </a:rPr>
              <a:t>limited </a:t>
            </a:r>
            <a:r>
              <a:rPr lang="en-US" sz="5700" b="1" u="dbl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000099"/>
                  </a:solidFill>
                </a:uFill>
                <a:latin typeface="Times New Roman" pitchFamily="18" charset="0"/>
                <a:cs typeface="Times New Roman" pitchFamily="18" charset="0"/>
              </a:rPr>
              <a:t>or scarce </a:t>
            </a:r>
            <a:r>
              <a:rPr lang="en-US" sz="5700" b="1" u="db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000099"/>
                  </a:solidFill>
                </a:uFill>
                <a:latin typeface="Times New Roman" pitchFamily="18" charset="0"/>
                <a:cs typeface="Times New Roman" pitchFamily="18" charset="0"/>
              </a:rPr>
              <a:t>resources</a:t>
            </a:r>
            <a:r>
              <a:rPr lang="en-US" sz="5700" dirty="0">
                <a:latin typeface="Times New Roman" pitchFamily="18" charset="0"/>
                <a:cs typeface="Times New Roman" pitchFamily="18" charset="0"/>
              </a:rPr>
              <a:t>, such as </a:t>
            </a:r>
            <a:r>
              <a:rPr lang="en-US" sz="5700" dirty="0" err="1">
                <a:latin typeface="Times New Roman" pitchFamily="18" charset="0"/>
                <a:cs typeface="Times New Roman" pitchFamily="18" charset="0"/>
              </a:rPr>
              <a:t>labour</a:t>
            </a:r>
            <a:r>
              <a:rPr lang="en-US" sz="5700" dirty="0">
                <a:latin typeface="Times New Roman" pitchFamily="18" charset="0"/>
                <a:cs typeface="Times New Roman" pitchFamily="18" charset="0"/>
              </a:rPr>
              <a:t>, material, machine, money, energy and so on , </a:t>
            </a:r>
            <a:r>
              <a:rPr lang="en-US" sz="5700" dirty="0" smtClean="0">
                <a:latin typeface="Times New Roman" pitchFamily="18" charset="0"/>
                <a:cs typeface="Times New Roman" pitchFamily="18" charset="0"/>
              </a:rPr>
              <a:t>in an optimal manner on the basis of given criterion.</a:t>
            </a:r>
          </a:p>
          <a:p>
            <a:pPr algn="just"/>
            <a:endParaRPr lang="en-US" sz="5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5700" dirty="0" smtClean="0">
                <a:latin typeface="Times New Roman" pitchFamily="18" charset="0"/>
                <a:cs typeface="Times New Roman" pitchFamily="18" charset="0"/>
              </a:rPr>
              <a:t>It deals with </a:t>
            </a:r>
            <a:r>
              <a:rPr lang="en-US" sz="57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optimization</a:t>
            </a:r>
            <a:r>
              <a:rPr lang="en-US" sz="5700" dirty="0" smtClean="0">
                <a:latin typeface="Times New Roman" pitchFamily="18" charset="0"/>
                <a:cs typeface="Times New Roman" pitchFamily="18" charset="0"/>
              </a:rPr>
              <a:t>  (maximization or minimization) of a function of variables known as </a:t>
            </a:r>
            <a:r>
              <a:rPr lang="en-US" sz="5700" b="1" u="sng" dirty="0" smtClean="0">
                <a:latin typeface="Times New Roman" pitchFamily="18" charset="0"/>
                <a:cs typeface="Times New Roman" pitchFamily="18" charset="0"/>
              </a:rPr>
              <a:t>objective functions</a:t>
            </a:r>
            <a:r>
              <a:rPr lang="en-US" sz="5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700" dirty="0" smtClean="0">
                <a:latin typeface="Times New Roman" pitchFamily="18" charset="0"/>
                <a:cs typeface="Times New Roman" pitchFamily="18" charset="0"/>
              </a:rPr>
              <a:t>subject to  linear inequalities or equalities </a:t>
            </a:r>
            <a:r>
              <a:rPr lang="en-US" sz="5700" b="1" u="sng" dirty="0" smtClean="0">
                <a:latin typeface="Times New Roman" pitchFamily="18" charset="0"/>
                <a:cs typeface="Times New Roman" pitchFamily="18" charset="0"/>
              </a:rPr>
              <a:t>known as constraints</a:t>
            </a:r>
            <a:r>
              <a:rPr lang="en-US" sz="57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57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57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8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The word , </a:t>
            </a:r>
            <a:r>
              <a:rPr lang="en-US" sz="2700" b="1" u="sng" dirty="0" smtClean="0">
                <a:latin typeface="Times New Roman" pitchFamily="18" charset="0"/>
                <a:cs typeface="Times New Roman" pitchFamily="18" charset="0"/>
              </a:rPr>
              <a:t>‘programming’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is used to specify a sort of planning that involves in the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economic allocation of limited resources to achieve the desired objective.</a:t>
            </a:r>
            <a:endParaRPr lang="en-US" sz="27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Hence, 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Linear Programming is a mathematical technique for optimum allocation of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limited or scarce resources, such as </a:t>
            </a:r>
            <a:r>
              <a:rPr lang="en-US" sz="2700" dirty="0" err="1" smtClean="0">
                <a:latin typeface="Times New Roman" pitchFamily="18" charset="0"/>
                <a:cs typeface="Times New Roman" pitchFamily="18" charset="0"/>
              </a:rPr>
              <a:t>labour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, material, machine, money energy etc.</a:t>
            </a:r>
          </a:p>
          <a:p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cap="all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MATHEMATICAL FORMULATION OF LINEAR PROGRAMMING PROBLEM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334000"/>
          </a:xfrm>
        </p:spPr>
        <p:txBody>
          <a:bodyPr>
            <a:normAutofit fontScale="55000" lnSpcReduction="20000"/>
          </a:bodyPr>
          <a:lstStyle/>
          <a:p>
            <a:endParaRPr lang="en-US" dirty="0" smtClean="0"/>
          </a:p>
          <a:p>
            <a:pPr algn="just"/>
            <a:r>
              <a:rPr lang="en-US" sz="3800" dirty="0" smtClean="0">
                <a:solidFill>
                  <a:srgbClr val="0033CC"/>
                </a:solidFill>
              </a:rPr>
              <a:t>The procedure for mathematical formulation of LPP consists of the following steps: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sz="3800" b="1" dirty="0" smtClean="0"/>
              <a:t>Step 1:</a:t>
            </a:r>
            <a:r>
              <a:rPr lang="en-US" sz="3800" dirty="0" smtClean="0"/>
              <a:t> Identify the </a:t>
            </a:r>
            <a:r>
              <a:rPr lang="en-US" sz="4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 variables </a:t>
            </a:r>
            <a:r>
              <a:rPr lang="en-US" sz="3800" dirty="0" smtClean="0"/>
              <a:t>of the problem.</a:t>
            </a:r>
          </a:p>
          <a:p>
            <a:pPr algn="just"/>
            <a:endParaRPr lang="en-US" sz="3800" dirty="0" smtClean="0"/>
          </a:p>
          <a:p>
            <a:pPr algn="just"/>
            <a:r>
              <a:rPr lang="en-US" sz="3800" b="1" dirty="0" smtClean="0"/>
              <a:t>Step 2:</a:t>
            </a:r>
            <a:r>
              <a:rPr lang="en-US" sz="3800" dirty="0" smtClean="0"/>
              <a:t> Formulate the </a:t>
            </a:r>
            <a:r>
              <a:rPr lang="en-US" sz="4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 function </a:t>
            </a:r>
            <a:r>
              <a:rPr lang="en-US" sz="3800" dirty="0" smtClean="0"/>
              <a:t>to be </a:t>
            </a:r>
            <a:r>
              <a:rPr lang="en-US" sz="3800" b="1" dirty="0" err="1" smtClean="0">
                <a:solidFill>
                  <a:srgbClr val="0033CC"/>
                </a:solidFill>
              </a:rPr>
              <a:t>optimised</a:t>
            </a:r>
            <a:r>
              <a:rPr lang="en-US" sz="3800" dirty="0" smtClean="0"/>
              <a:t> </a:t>
            </a:r>
            <a:r>
              <a:rPr lang="en-US" sz="4400" b="1" u="sng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4400" b="1" u="sng" dirty="0" err="1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maximised</a:t>
            </a:r>
            <a:r>
              <a:rPr lang="en-US" sz="4400" b="1" u="sng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en-US" sz="4400" b="1" u="sng" dirty="0" err="1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minimised</a:t>
            </a:r>
            <a:r>
              <a:rPr lang="en-US" sz="4400" b="1" u="sng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3800" dirty="0" smtClean="0"/>
              <a:t> as a linear function of the decision variables.</a:t>
            </a:r>
          </a:p>
          <a:p>
            <a:pPr algn="just"/>
            <a:endParaRPr lang="en-US" sz="3800" dirty="0" smtClean="0"/>
          </a:p>
          <a:p>
            <a:pPr algn="just"/>
            <a:r>
              <a:rPr lang="en-US" sz="3800" b="1" dirty="0" smtClean="0"/>
              <a:t>Step 3:</a:t>
            </a:r>
            <a:r>
              <a:rPr lang="en-US" sz="3800" dirty="0" smtClean="0"/>
              <a:t> Formulate the </a:t>
            </a:r>
            <a:r>
              <a:rPr lang="en-US" sz="4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constraints</a:t>
            </a:r>
            <a:r>
              <a:rPr lang="en-US" sz="3800" dirty="0" smtClean="0"/>
              <a:t> of the problem such as resource limitations, market conditions, interrelation between variables and others as linear equation or </a:t>
            </a:r>
            <a:r>
              <a:rPr lang="en-US" sz="3800" dirty="0" err="1" smtClean="0"/>
              <a:t>inequations</a:t>
            </a:r>
            <a:r>
              <a:rPr lang="en-US" sz="3800" dirty="0" smtClean="0"/>
              <a:t> in terms of the decision variables.</a:t>
            </a:r>
          </a:p>
          <a:p>
            <a:pPr algn="just">
              <a:buNone/>
            </a:pPr>
            <a:endParaRPr lang="en-US" sz="3800" dirty="0" smtClean="0"/>
          </a:p>
          <a:p>
            <a:pPr algn="just"/>
            <a:r>
              <a:rPr lang="en-US" sz="3800" b="1" dirty="0" smtClean="0"/>
              <a:t>Step 4:</a:t>
            </a:r>
            <a:r>
              <a:rPr lang="en-US" sz="3800" dirty="0" smtClean="0"/>
              <a:t> Add the </a:t>
            </a:r>
            <a:r>
              <a:rPr lang="en-US" sz="4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non-negativity constraint </a:t>
            </a:r>
            <a:r>
              <a:rPr lang="en-US" sz="3800" dirty="0" smtClean="0"/>
              <a:t>so that negative values of the decisions variables do not have any valid physical interpretation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000099"/>
                </a:solidFill>
              </a:rPr>
              <a:t>PROBLEM</a:t>
            </a:r>
            <a:endParaRPr lang="en-US" sz="4000" b="1" dirty="0">
              <a:solidFill>
                <a:srgbClr val="0000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500" dirty="0" smtClean="0"/>
              <a:t>Consider a small furniture manufacturing unit which produces </a:t>
            </a:r>
            <a:r>
              <a:rPr lang="en-US" sz="2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00"/>
                  </a:solidFill>
                </a:uFill>
              </a:rPr>
              <a:t>Tables </a:t>
            </a:r>
            <a:r>
              <a:rPr lang="en-US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en-US" sz="2500" dirty="0" smtClean="0"/>
              <a:t> </a:t>
            </a:r>
            <a:r>
              <a:rPr lang="en-US" sz="2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0000"/>
                  </a:solidFill>
                </a:uFill>
              </a:rPr>
              <a:t>Chairs</a:t>
            </a:r>
            <a:endParaRPr lang="en-US" sz="2500" dirty="0" smtClean="0"/>
          </a:p>
          <a:p>
            <a:pPr algn="just">
              <a:spcBef>
                <a:spcPts val="0"/>
              </a:spcBef>
            </a:pPr>
            <a:endParaRPr lang="en-US" sz="2500" dirty="0" smtClean="0"/>
          </a:p>
          <a:p>
            <a:pPr algn="just">
              <a:spcBef>
                <a:spcPts val="0"/>
              </a:spcBef>
            </a:pPr>
            <a:r>
              <a:rPr lang="en-US" sz="2500" dirty="0" smtClean="0"/>
              <a:t>Resources required are </a:t>
            </a:r>
            <a:r>
              <a:rPr lang="en-US" sz="2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wood</a:t>
            </a:r>
            <a:r>
              <a:rPr lang="en-US" sz="2500" dirty="0" smtClean="0"/>
              <a:t> and </a:t>
            </a:r>
            <a:r>
              <a:rPr lang="en-US" sz="2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labor hours</a:t>
            </a:r>
            <a:r>
              <a:rPr lang="en-US" sz="2500" dirty="0" smtClean="0"/>
              <a:t>.</a:t>
            </a:r>
          </a:p>
          <a:p>
            <a:pPr algn="just">
              <a:spcBef>
                <a:spcPts val="0"/>
              </a:spcBef>
            </a:pPr>
            <a:endParaRPr lang="en-US" sz="2500" dirty="0" smtClean="0"/>
          </a:p>
          <a:p>
            <a:pPr algn="just">
              <a:spcBef>
                <a:spcPts val="0"/>
              </a:spcBef>
            </a:pPr>
            <a:r>
              <a:rPr lang="en-US" sz="2500" dirty="0" smtClean="0"/>
              <a:t>Max units of </a:t>
            </a:r>
            <a:r>
              <a:rPr lang="en-US" sz="2500" b="1" dirty="0" smtClean="0">
                <a:solidFill>
                  <a:schemeClr val="accent2">
                    <a:lumMod val="75000"/>
                  </a:schemeClr>
                </a:solidFill>
              </a:rPr>
              <a:t>wood</a:t>
            </a:r>
            <a:r>
              <a:rPr lang="en-US" sz="2500" dirty="0" smtClean="0"/>
              <a:t> available is </a:t>
            </a:r>
            <a:r>
              <a:rPr lang="en-US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un</a:t>
            </a:r>
            <a:r>
              <a:rPr lang="en-US" sz="2500" b="1" dirty="0" smtClean="0"/>
              <a:t>its</a:t>
            </a:r>
            <a:r>
              <a:rPr lang="en-US" sz="2500" dirty="0" smtClean="0"/>
              <a:t>.</a:t>
            </a:r>
          </a:p>
          <a:p>
            <a:pPr algn="just">
              <a:spcBef>
                <a:spcPts val="0"/>
              </a:spcBef>
            </a:pPr>
            <a:endParaRPr lang="en-US" sz="2500" dirty="0" smtClean="0"/>
          </a:p>
          <a:p>
            <a:pPr algn="just">
              <a:spcBef>
                <a:spcPts val="0"/>
              </a:spcBef>
            </a:pPr>
            <a:r>
              <a:rPr lang="en-US" sz="2500" dirty="0" smtClean="0"/>
              <a:t>Max units of </a:t>
            </a:r>
            <a:r>
              <a:rPr lang="en-US" sz="2500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labour</a:t>
            </a:r>
            <a:r>
              <a:rPr lang="en-US" sz="25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hours </a:t>
            </a:r>
            <a:r>
              <a:rPr lang="en-US" sz="2500" dirty="0" smtClean="0"/>
              <a:t>available is </a:t>
            </a:r>
            <a:r>
              <a:rPr lang="en-US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 </a:t>
            </a:r>
            <a:r>
              <a:rPr lang="en-US" sz="2500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labour</a:t>
            </a:r>
            <a:r>
              <a:rPr lang="en-US" sz="25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hours.</a:t>
            </a:r>
            <a:endParaRPr lang="en-US" sz="2500" dirty="0" smtClean="0"/>
          </a:p>
          <a:p>
            <a:pPr algn="just">
              <a:spcBef>
                <a:spcPts val="0"/>
              </a:spcBef>
            </a:pPr>
            <a:endParaRPr lang="en-US" sz="2500" dirty="0" smtClean="0"/>
          </a:p>
          <a:p>
            <a:pPr algn="just">
              <a:spcBef>
                <a:spcPts val="0"/>
              </a:spcBef>
            </a:pPr>
            <a:r>
              <a:rPr lang="en-US" sz="2500" dirty="0" smtClean="0"/>
              <a:t>To manufacture a </a:t>
            </a:r>
            <a:r>
              <a:rPr lang="en-US" sz="2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00"/>
                  </a:solidFill>
                </a:uFill>
              </a:rPr>
              <a:t>Tables</a:t>
            </a:r>
            <a:r>
              <a:rPr lang="en-US" sz="25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</a:t>
            </a:r>
            <a:r>
              <a:rPr lang="en-US" sz="2500" dirty="0" smtClean="0"/>
              <a:t>requires </a:t>
            </a:r>
            <a:r>
              <a:rPr lang="en-US" sz="2500" b="1" dirty="0" smtClean="0">
                <a:solidFill>
                  <a:srgbClr val="000099"/>
                </a:solidFill>
              </a:rPr>
              <a:t>2 units of wood</a:t>
            </a:r>
            <a:r>
              <a:rPr lang="en-US" sz="2500" dirty="0" smtClean="0"/>
              <a:t> and </a:t>
            </a:r>
            <a:r>
              <a:rPr lang="en-US" sz="25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en-US" sz="2500" b="1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labour</a:t>
            </a:r>
            <a:r>
              <a:rPr lang="en-US" sz="25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hrs</a:t>
            </a:r>
            <a:r>
              <a:rPr lang="en-US" sz="2500" dirty="0" smtClean="0"/>
              <a:t> and </a:t>
            </a:r>
            <a:r>
              <a:rPr lang="en-US" sz="2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0000"/>
                  </a:solidFill>
                </a:uFill>
              </a:rPr>
              <a:t>Chairs</a:t>
            </a:r>
            <a:r>
              <a:rPr lang="en-US" sz="25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requires</a:t>
            </a:r>
            <a:r>
              <a:rPr lang="en-US" sz="2500" dirty="0" smtClean="0"/>
              <a:t> </a:t>
            </a:r>
            <a:r>
              <a:rPr lang="en-US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units of wood </a:t>
            </a:r>
            <a:r>
              <a:rPr lang="en-US" sz="2500" dirty="0" smtClean="0"/>
              <a:t>and</a:t>
            </a:r>
            <a:r>
              <a:rPr lang="en-US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 </a:t>
            </a:r>
            <a:r>
              <a:rPr lang="en-US" sz="2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labour</a:t>
            </a:r>
            <a:r>
              <a:rPr lang="en-US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hrs. </a:t>
            </a:r>
          </a:p>
          <a:p>
            <a:pPr algn="just">
              <a:spcBef>
                <a:spcPts val="0"/>
              </a:spcBef>
            </a:pPr>
            <a:endParaRPr lang="en-US" sz="25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spcBef>
                <a:spcPts val="0"/>
              </a:spcBef>
            </a:pPr>
            <a:r>
              <a:rPr lang="en-US" sz="2500" dirty="0" smtClean="0"/>
              <a:t>Also we know that by selling a </a:t>
            </a:r>
            <a:r>
              <a:rPr lang="en-US" sz="2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00"/>
                  </a:solidFill>
                </a:uFill>
              </a:rPr>
              <a:t>Tables</a:t>
            </a:r>
            <a:r>
              <a:rPr lang="en-US" sz="2500" dirty="0" smtClean="0"/>
              <a:t> we get a profit of </a:t>
            </a:r>
            <a:r>
              <a:rPr lang="en-US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Rs. 6  </a:t>
            </a:r>
            <a:r>
              <a:rPr lang="en-US" sz="2500" dirty="0" smtClean="0"/>
              <a:t>and by selling a  </a:t>
            </a:r>
            <a:r>
              <a:rPr lang="en-US" sz="2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0000"/>
                  </a:solidFill>
                </a:uFill>
              </a:rPr>
              <a:t>Chairs</a:t>
            </a:r>
            <a:r>
              <a:rPr lang="en-US" sz="25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smtClean="0"/>
              <a:t> we get profit of </a:t>
            </a:r>
            <a:r>
              <a:rPr lang="en-US" sz="2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Rs. 5</a:t>
            </a:r>
            <a:endParaRPr lang="en-US" sz="2500" dirty="0" smtClean="0"/>
          </a:p>
          <a:p>
            <a:pPr algn="just">
              <a:spcBef>
                <a:spcPts val="0"/>
              </a:spcBef>
            </a:pPr>
            <a:endParaRPr lang="en-US" sz="2500" dirty="0" smtClean="0"/>
          </a:p>
          <a:p>
            <a:pPr algn="just">
              <a:spcBef>
                <a:spcPts val="0"/>
              </a:spcBef>
            </a:pPr>
            <a:r>
              <a:rPr lang="en-US" sz="2500" dirty="0" smtClean="0"/>
              <a:t>Formulate a LPP for </a:t>
            </a:r>
            <a:r>
              <a:rPr lang="en-US" sz="2500" b="1" u="sng" dirty="0" smtClean="0"/>
              <a:t>maximizing the profit</a:t>
            </a:r>
            <a:r>
              <a:rPr lang="en-US" sz="2500" dirty="0" smtClean="0"/>
              <a:t> of a manufacturer.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229600" cy="5486400"/>
          </a:xfrm>
        </p:spPr>
        <p:txBody>
          <a:bodyPr>
            <a:normAutofit/>
          </a:bodyPr>
          <a:lstStyle/>
          <a:p>
            <a:pPr algn="just"/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7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Linearity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 it means mathematical expression in which the </a:t>
            </a:r>
            <a:r>
              <a:rPr lang="en-US" sz="27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expression among the variables is linear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Example:  a1X1</a:t>
            </a:r>
            <a:r>
              <a:rPr lang="en-US" sz="27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 + a2X2…… +an </a:t>
            </a:r>
            <a:r>
              <a:rPr lang="en-US" sz="2700" dirty="0" err="1" smtClean="0">
                <a:latin typeface="Times New Roman" pitchFamily="18" charset="0"/>
                <a:cs typeface="Times New Roman" pitchFamily="18" charset="0"/>
              </a:rPr>
              <a:t>Xn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Higher powers of variables do not appear in the expression </a:t>
            </a:r>
            <a:endParaRPr lang="en-US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relationships in the LP model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(i.e. in both objective function and constraints)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must </a:t>
            </a:r>
            <a:r>
              <a:rPr lang="en-US" sz="28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be linear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839200" cy="6629400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b="1" u="sng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GENERAL MATHEMATICAL MODEL OF AN LPP</a:t>
            </a:r>
          </a:p>
          <a:p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Let x1, x2,x3 …..</a:t>
            </a:r>
            <a:r>
              <a:rPr lang="en-US" sz="3000" b="1" dirty="0" err="1" smtClean="0">
                <a:latin typeface="Times New Roman" pitchFamily="18" charset="0"/>
                <a:cs typeface="Times New Roman" pitchFamily="18" charset="0"/>
              </a:rPr>
              <a:t>xn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  be the </a:t>
            </a:r>
            <a:r>
              <a:rPr lang="en-US" sz="3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Decision variables</a:t>
            </a:r>
          </a:p>
          <a:p>
            <a:endParaRPr lang="en-US" sz="3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b="1" u="sng" dirty="0" smtClean="0">
                <a:solidFill>
                  <a:srgbClr val="FF0000"/>
                </a:solidFill>
                <a:uFill>
                  <a:solidFill>
                    <a:srgbClr val="000099"/>
                  </a:solidFill>
                </a:uFill>
                <a:latin typeface="Times New Roman" pitchFamily="18" charset="0"/>
                <a:cs typeface="Times New Roman" pitchFamily="18" charset="0"/>
              </a:rPr>
              <a:t>Objective function </a:t>
            </a:r>
            <a:r>
              <a:rPr lang="en-US" sz="3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to Optimize </a:t>
            </a: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(Maximize or Minimize)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Z = C1 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X1 + C2 X2 +……+</a:t>
            </a:r>
            <a:r>
              <a:rPr lang="en-US" sz="3000" b="1" dirty="0" err="1" smtClean="0">
                <a:latin typeface="Times New Roman" pitchFamily="18" charset="0"/>
                <a:cs typeface="Times New Roman" pitchFamily="18" charset="0"/>
              </a:rPr>
              <a:t>CnXn</a:t>
            </a: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b="1" u="sng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Subject to constraints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r>
              <a:rPr lang="pt-BR" dirty="0">
                <a:latin typeface="Times New Roman" pitchFamily="18" charset="0"/>
                <a:cs typeface="Times New Roman" pitchFamily="18" charset="0"/>
              </a:rPr>
              <a:t>a11X1+ a 12X2+………………+ a </a:t>
            </a:r>
            <a:r>
              <a:rPr lang="pt-BR" dirty="0" smtClean="0">
                <a:latin typeface="Times New Roman" pitchFamily="18" charset="0"/>
                <a:cs typeface="Times New Roman" pitchFamily="18" charset="0"/>
              </a:rPr>
              <a:t>1nXn              b1</a:t>
            </a:r>
            <a:endParaRPr lang="pt-BR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dirty="0">
                <a:latin typeface="Times New Roman" pitchFamily="18" charset="0"/>
                <a:cs typeface="Times New Roman" pitchFamily="18" charset="0"/>
              </a:rPr>
              <a:t>a21X1+ a 22X2+………………+ a 2nXn </a:t>
            </a:r>
            <a:r>
              <a:rPr lang="pt-BR" dirty="0" smtClean="0">
                <a:latin typeface="Times New Roman" pitchFamily="18" charset="0"/>
                <a:cs typeface="Times New Roman" pitchFamily="18" charset="0"/>
              </a:rPr>
              <a:t>             b2</a:t>
            </a:r>
            <a:endParaRPr lang="pt-BR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dirty="0">
                <a:latin typeface="Times New Roman" pitchFamily="18" charset="0"/>
                <a:cs typeface="Times New Roman" pitchFamily="18" charset="0"/>
              </a:rPr>
              <a:t>a31X1+ a 32X2+………………+ a 3nXn </a:t>
            </a:r>
            <a:r>
              <a:rPr lang="pt-BR" dirty="0" smtClean="0">
                <a:latin typeface="Times New Roman" pitchFamily="18" charset="0"/>
                <a:cs typeface="Times New Roman" pitchFamily="18" charset="0"/>
              </a:rPr>
              <a:t>              b3</a:t>
            </a:r>
            <a:endParaRPr lang="pt-BR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am1X1+ a m2X2+………………+ a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mnXn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bm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3000" b="1" u="sng" dirty="0" smtClean="0">
              <a:uFill>
                <a:solidFill>
                  <a:srgbClr val="FF0000"/>
                </a:solidFill>
              </a:u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3000" b="1" u="sng" dirty="0" smtClean="0">
                <a:uFill>
                  <a:solidFill>
                    <a:srgbClr val="FF0000"/>
                  </a:solidFill>
                </a:uFill>
                <a:latin typeface="Times New Roman" pitchFamily="18" charset="0"/>
                <a:cs typeface="Times New Roman" pitchFamily="18" charset="0"/>
              </a:rPr>
              <a:t>Non-Negativity</a:t>
            </a:r>
            <a:endParaRPr lang="en-US" sz="3000" b="1" u="sng" dirty="0">
              <a:uFill>
                <a:solidFill>
                  <a:srgbClr val="FF0000"/>
                </a:solidFill>
              </a:u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and X1, X2 ….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7338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42672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47244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5943600"/>
            <a:ext cx="3143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2766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447</Words>
  <Application>Microsoft Office PowerPoint</Application>
  <PresentationFormat>On-screen Show (4:3)</PresentationFormat>
  <Paragraphs>57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Linear Programming L P model / formulation</vt:lpstr>
      <vt:lpstr>What is Linear Programming?</vt:lpstr>
      <vt:lpstr>Slide 3</vt:lpstr>
      <vt:lpstr>MATHEMATICAL FORMULATION OF LINEAR PROGRAMMING PROBLEM </vt:lpstr>
      <vt:lpstr>PROBLEM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Linear Programming</dc:title>
  <dc:creator>sanjiv</dc:creator>
  <cp:lastModifiedBy>HP</cp:lastModifiedBy>
  <cp:revision>55</cp:revision>
  <dcterms:created xsi:type="dcterms:W3CDTF">2019-02-20T15:03:45Z</dcterms:created>
  <dcterms:modified xsi:type="dcterms:W3CDTF">2026-04-13T09:23:52Z</dcterms:modified>
</cp:coreProperties>
</file>