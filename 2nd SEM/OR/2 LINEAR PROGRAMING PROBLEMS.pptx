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7" r:id="rId7"/>
    <p:sldId id="261" r:id="rId8"/>
    <p:sldId id="274" r:id="rId9"/>
    <p:sldId id="262" r:id="rId10"/>
    <p:sldId id="263" r:id="rId11"/>
    <p:sldId id="264" r:id="rId12"/>
    <p:sldId id="26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82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BE0A2D2-4626-4786-9BE3-46D785F18C03}"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7598D-AD66-4114-9034-7EC32039690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E0A2D2-4626-4786-9BE3-46D785F18C03}"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7598D-AD66-4114-9034-7EC32039690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BE0A2D2-4626-4786-9BE3-46D785F18C03}"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7598D-AD66-4114-9034-7EC32039690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BE0A2D2-4626-4786-9BE3-46D785F18C03}"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67598D-AD66-4114-9034-7EC32039690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BE0A2D2-4626-4786-9BE3-46D785F18C03}" type="datetimeFigureOut">
              <a:rPr lang="en-US" smtClean="0"/>
              <a:pPr/>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67598D-AD66-4114-9034-7EC32039690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BE0A2D2-4626-4786-9BE3-46D785F18C03}" type="datetimeFigureOut">
              <a:rPr lang="en-US" smtClean="0"/>
              <a:pPr/>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67598D-AD66-4114-9034-7EC32039690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E0A2D2-4626-4786-9BE3-46D785F18C03}" type="datetimeFigureOut">
              <a:rPr lang="en-US" smtClean="0"/>
              <a:pPr/>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67598D-AD66-4114-9034-7EC32039690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E0A2D2-4626-4786-9BE3-46D785F18C03}"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67598D-AD66-4114-9034-7EC32039690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E0A2D2-4626-4786-9BE3-46D785F18C03}"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67598D-AD66-4114-9034-7EC32039690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E0A2D2-4626-4786-9BE3-46D785F18C03}"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7598D-AD66-4114-9034-7EC32039690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E0A2D2-4626-4786-9BE3-46D785F18C03}"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67598D-AD66-4114-9034-7EC32039690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E0A2D2-4626-4786-9BE3-46D785F18C03}" type="datetimeFigureOut">
              <a:rPr lang="en-US" smtClean="0"/>
              <a:pPr/>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7598D-AD66-4114-9034-7EC32039690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LINEAR PROGRAMING PROBLEMS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7500" lnSpcReduction="20000"/>
          </a:bodyPr>
          <a:lstStyle/>
          <a:p>
            <a:pPr algn="just">
              <a:buNone/>
            </a:pPr>
            <a:r>
              <a:rPr lang="en-US" b="1" u="sng" dirty="0" smtClean="0">
                <a:solidFill>
                  <a:srgbClr val="FF0000"/>
                </a:solidFill>
              </a:rPr>
              <a:t>PROBLEM 1</a:t>
            </a:r>
          </a:p>
          <a:p>
            <a:pPr algn="just">
              <a:buNone/>
            </a:pPr>
            <a:endParaRPr lang="en-US" dirty="0" smtClean="0"/>
          </a:p>
          <a:p>
            <a:pPr algn="just">
              <a:buNone/>
            </a:pPr>
            <a:r>
              <a:rPr lang="en-US" dirty="0" smtClean="0"/>
              <a:t>A </a:t>
            </a:r>
            <a:r>
              <a:rPr lang="en-US" dirty="0"/>
              <a:t>manufacturer produces two types of models M1 and M2</a:t>
            </a:r>
            <a:r>
              <a:rPr lang="en-US" dirty="0" smtClean="0"/>
              <a:t>. Each </a:t>
            </a:r>
            <a:r>
              <a:rPr lang="en-US" dirty="0"/>
              <a:t>model of the type </a:t>
            </a:r>
            <a:r>
              <a:rPr lang="en-US" dirty="0" smtClean="0"/>
              <a:t>M1 requires </a:t>
            </a:r>
            <a:r>
              <a:rPr lang="en-US" dirty="0"/>
              <a:t>4 hours of grinding and </a:t>
            </a:r>
            <a:r>
              <a:rPr lang="en-US" dirty="0" smtClean="0"/>
              <a:t>            2 </a:t>
            </a:r>
            <a:r>
              <a:rPr lang="en-US" dirty="0"/>
              <a:t>hours of polishing; where as each model of </a:t>
            </a:r>
            <a:r>
              <a:rPr lang="en-US" dirty="0" smtClean="0"/>
              <a:t>M2 requires        2 </a:t>
            </a:r>
            <a:r>
              <a:rPr lang="en-US" dirty="0"/>
              <a:t>hours of grinding and 5 hours of polishing. </a:t>
            </a:r>
            <a:endParaRPr lang="en-US" dirty="0" smtClean="0"/>
          </a:p>
          <a:p>
            <a:pPr algn="just">
              <a:buNone/>
            </a:pPr>
            <a:endParaRPr lang="en-US" dirty="0"/>
          </a:p>
          <a:p>
            <a:pPr algn="just">
              <a:buNone/>
            </a:pPr>
            <a:r>
              <a:rPr lang="en-US" dirty="0" smtClean="0"/>
              <a:t>The </a:t>
            </a:r>
            <a:r>
              <a:rPr lang="en-US" dirty="0"/>
              <a:t>manufacturer has 2 </a:t>
            </a:r>
            <a:r>
              <a:rPr lang="en-US" dirty="0" smtClean="0"/>
              <a:t>grinders and </a:t>
            </a:r>
            <a:r>
              <a:rPr lang="en-US" dirty="0"/>
              <a:t>3 polishers. </a:t>
            </a:r>
            <a:endParaRPr lang="en-US" dirty="0" smtClean="0"/>
          </a:p>
          <a:p>
            <a:pPr algn="just">
              <a:buNone/>
            </a:pPr>
            <a:endParaRPr lang="en-US" dirty="0" smtClean="0"/>
          </a:p>
          <a:p>
            <a:pPr algn="just">
              <a:buNone/>
            </a:pPr>
            <a:r>
              <a:rPr lang="en-US" dirty="0" smtClean="0"/>
              <a:t>Each </a:t>
            </a:r>
            <a:r>
              <a:rPr lang="en-US" dirty="0"/>
              <a:t>grinder works for 40 hours a week and each polisher works </a:t>
            </a:r>
            <a:r>
              <a:rPr lang="en-US" dirty="0" smtClean="0"/>
              <a:t>60 hours </a:t>
            </a:r>
            <a:r>
              <a:rPr lang="en-US" dirty="0"/>
              <a:t>a week. </a:t>
            </a:r>
            <a:endParaRPr lang="en-US" dirty="0" smtClean="0"/>
          </a:p>
          <a:p>
            <a:pPr algn="just">
              <a:buNone/>
            </a:pPr>
            <a:endParaRPr lang="en-US" dirty="0" smtClean="0"/>
          </a:p>
          <a:p>
            <a:pPr algn="just">
              <a:buNone/>
            </a:pPr>
            <a:r>
              <a:rPr lang="en-US" dirty="0" smtClean="0"/>
              <a:t>Profit </a:t>
            </a:r>
            <a:r>
              <a:rPr lang="en-US" dirty="0"/>
              <a:t>on M1 model is Rs.3.00 and on model M2 is </a:t>
            </a:r>
            <a:r>
              <a:rPr lang="en-US" dirty="0" smtClean="0"/>
              <a:t>Rs.4.00.</a:t>
            </a:r>
          </a:p>
          <a:p>
            <a:pPr algn="just">
              <a:buNone/>
            </a:pPr>
            <a:endParaRPr lang="en-US" dirty="0"/>
          </a:p>
          <a:p>
            <a:pPr algn="just">
              <a:buNone/>
            </a:pPr>
            <a:r>
              <a:rPr lang="en-US" dirty="0" smtClean="0"/>
              <a:t>Whatever produced </a:t>
            </a:r>
            <a:r>
              <a:rPr lang="en-US" dirty="0"/>
              <a:t>in a week is sold in the market. </a:t>
            </a:r>
            <a:endParaRPr lang="en-US" dirty="0" smtClean="0"/>
          </a:p>
          <a:p>
            <a:pPr algn="just">
              <a:buNone/>
            </a:pPr>
            <a:endParaRPr lang="en-US" dirty="0"/>
          </a:p>
          <a:p>
            <a:pPr algn="just">
              <a:buNone/>
            </a:pPr>
            <a:r>
              <a:rPr lang="en-US" dirty="0" smtClean="0"/>
              <a:t>How </a:t>
            </a:r>
            <a:r>
              <a:rPr lang="en-US" dirty="0"/>
              <a:t>should the manufacturer allocate </a:t>
            </a:r>
            <a:r>
              <a:rPr lang="en-US" dirty="0" smtClean="0"/>
              <a:t>his production </a:t>
            </a:r>
            <a:r>
              <a:rPr lang="en-US" dirty="0"/>
              <a:t>capacity to the two types of models, so that he makes maximum profit in </a:t>
            </a:r>
            <a:r>
              <a:rPr lang="en-US" dirty="0" smtClean="0"/>
              <a:t>a week</a:t>
            </a:r>
            <a:r>
              <a:rPr lang="en-US"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991600" cy="6629400"/>
          </a:xfrm>
        </p:spPr>
        <p:txBody>
          <a:bodyPr>
            <a:normAutofit fontScale="92500" lnSpcReduction="20000"/>
          </a:bodyPr>
          <a:lstStyle/>
          <a:p>
            <a:pPr>
              <a:buNone/>
            </a:pPr>
            <a:r>
              <a:rPr lang="en-US" b="1" u="sng" dirty="0" smtClean="0">
                <a:solidFill>
                  <a:srgbClr val="FF0000"/>
                </a:solidFill>
              </a:rPr>
              <a:t>PROBLEM 2</a:t>
            </a:r>
          </a:p>
          <a:p>
            <a:pPr algn="just">
              <a:buNone/>
            </a:pPr>
            <a:r>
              <a:rPr lang="en-US" dirty="0" smtClean="0"/>
              <a:t>A </a:t>
            </a:r>
            <a:r>
              <a:rPr lang="en-US" dirty="0"/>
              <a:t>firm can produce 3 types of cloth, A , B and </a:t>
            </a:r>
            <a:r>
              <a:rPr lang="en-US" dirty="0" smtClean="0"/>
              <a:t>C.</a:t>
            </a:r>
            <a:r>
              <a:rPr lang="en-US" dirty="0"/>
              <a:t> </a:t>
            </a:r>
            <a:r>
              <a:rPr lang="en-US" dirty="0" smtClean="0"/>
              <a:t>               3 </a:t>
            </a:r>
            <a:r>
              <a:rPr lang="en-US" dirty="0"/>
              <a:t>kinds of wool are required Red, </a:t>
            </a:r>
            <a:r>
              <a:rPr lang="en-US" dirty="0" smtClean="0"/>
              <a:t>Green and </a:t>
            </a:r>
            <a:r>
              <a:rPr lang="en-US" dirty="0"/>
              <a:t>Blue</a:t>
            </a:r>
            <a:r>
              <a:rPr lang="en-US" dirty="0" smtClean="0"/>
              <a:t>.</a:t>
            </a:r>
          </a:p>
          <a:p>
            <a:pPr algn="just">
              <a:buNone/>
            </a:pPr>
            <a:r>
              <a:rPr lang="en-US" dirty="0" smtClean="0"/>
              <a:t>1 </a:t>
            </a:r>
            <a:r>
              <a:rPr lang="en-US" dirty="0"/>
              <a:t>unit of length of type A cloth needs 2 meters of red wool and 3 meters of </a:t>
            </a:r>
            <a:r>
              <a:rPr lang="en-US" dirty="0" smtClean="0"/>
              <a:t>blue wool.</a:t>
            </a:r>
          </a:p>
          <a:p>
            <a:pPr algn="just">
              <a:buNone/>
            </a:pPr>
            <a:r>
              <a:rPr lang="en-US" dirty="0" smtClean="0"/>
              <a:t>1 </a:t>
            </a:r>
            <a:r>
              <a:rPr lang="en-US" dirty="0"/>
              <a:t>unit of length of type B cloth needs 3 meters of red wool, 2 meters of green </a:t>
            </a:r>
            <a:r>
              <a:rPr lang="en-US" dirty="0" smtClean="0"/>
              <a:t>wool and </a:t>
            </a:r>
            <a:r>
              <a:rPr lang="en-US" dirty="0"/>
              <a:t>2 meters of blue wool</a:t>
            </a:r>
            <a:r>
              <a:rPr lang="en-US" dirty="0" smtClean="0"/>
              <a:t>.</a:t>
            </a:r>
          </a:p>
          <a:p>
            <a:pPr algn="just">
              <a:buNone/>
            </a:pPr>
            <a:r>
              <a:rPr lang="en-US" dirty="0" smtClean="0"/>
              <a:t>1 </a:t>
            </a:r>
            <a:r>
              <a:rPr lang="en-US" dirty="0"/>
              <a:t>unit type of C cloth needs 5 meters of green wool and </a:t>
            </a:r>
            <a:r>
              <a:rPr lang="en-US" dirty="0" smtClean="0"/>
              <a:t>4 meters </a:t>
            </a:r>
            <a:r>
              <a:rPr lang="en-US" dirty="0"/>
              <a:t>of blue wool. </a:t>
            </a:r>
            <a:endParaRPr lang="en-US" dirty="0" smtClean="0"/>
          </a:p>
          <a:p>
            <a:pPr algn="just">
              <a:buNone/>
            </a:pPr>
            <a:r>
              <a:rPr lang="en-US" dirty="0" smtClean="0"/>
              <a:t>The </a:t>
            </a:r>
            <a:r>
              <a:rPr lang="en-US" dirty="0"/>
              <a:t>firm has a stock of 8 meters of red, 10 meters of green and </a:t>
            </a:r>
            <a:r>
              <a:rPr lang="en-US" dirty="0" smtClean="0"/>
              <a:t>15 meters </a:t>
            </a:r>
            <a:r>
              <a:rPr lang="en-US" dirty="0"/>
              <a:t>of blue. </a:t>
            </a:r>
            <a:endParaRPr lang="en-US" dirty="0" smtClean="0"/>
          </a:p>
          <a:p>
            <a:pPr algn="just">
              <a:buNone/>
            </a:pPr>
            <a:r>
              <a:rPr lang="en-US" dirty="0" smtClean="0"/>
              <a:t>It </a:t>
            </a:r>
            <a:r>
              <a:rPr lang="en-US" dirty="0"/>
              <a:t>is assumed that the income obtained from 1 unit of type A is Rs.3, </a:t>
            </a:r>
            <a:r>
              <a:rPr lang="en-US" dirty="0" smtClean="0"/>
              <a:t>from B </a:t>
            </a:r>
            <a:r>
              <a:rPr lang="en-US" dirty="0"/>
              <a:t>is Rs.5 and from C is Rs.4</a:t>
            </a:r>
            <a:r>
              <a:rPr lang="en-US" dirty="0" smtClean="0"/>
              <a:t>. </a:t>
            </a:r>
          </a:p>
          <a:p>
            <a:pPr algn="just">
              <a:buNone/>
            </a:pPr>
            <a:r>
              <a:rPr lang="en-US" dirty="0" smtClean="0"/>
              <a:t>Formulate </a:t>
            </a:r>
            <a:r>
              <a:rPr lang="en-US" dirty="0"/>
              <a:t>this as an LPP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5973763"/>
          </a:xfrm>
        </p:spPr>
        <p:txBody>
          <a:bodyPr>
            <a:normAutofit fontScale="77500" lnSpcReduction="20000"/>
          </a:bodyPr>
          <a:lstStyle/>
          <a:p>
            <a:pPr>
              <a:buNone/>
            </a:pPr>
            <a:r>
              <a:rPr lang="en-US" b="1" u="sng" dirty="0" smtClean="0">
                <a:solidFill>
                  <a:srgbClr val="FF0000"/>
                </a:solidFill>
              </a:rPr>
              <a:t>PROBLEM 3</a:t>
            </a:r>
          </a:p>
          <a:p>
            <a:pPr>
              <a:buNone/>
            </a:pPr>
            <a:endParaRPr lang="en-US" dirty="0"/>
          </a:p>
          <a:p>
            <a:pPr algn="just">
              <a:buNone/>
            </a:pPr>
            <a:r>
              <a:rPr lang="en-US" dirty="0" smtClean="0"/>
              <a:t>The </a:t>
            </a:r>
            <a:r>
              <a:rPr lang="en-US" dirty="0"/>
              <a:t>agricultural research institute suggested the farmer to spread out </a:t>
            </a:r>
            <a:r>
              <a:rPr lang="en-US" dirty="0" err="1"/>
              <a:t>atleast</a:t>
            </a:r>
            <a:r>
              <a:rPr lang="en-US" dirty="0"/>
              <a:t> 4800 kg </a:t>
            </a:r>
            <a:r>
              <a:rPr lang="en-US" dirty="0" smtClean="0"/>
              <a:t>of special </a:t>
            </a:r>
            <a:r>
              <a:rPr lang="en-US" dirty="0"/>
              <a:t>phosphate fertilizer and not less than 7200 kg of a special nitrogen fertilizer </a:t>
            </a:r>
            <a:r>
              <a:rPr lang="en-US" dirty="0" smtClean="0"/>
              <a:t>to raise </a:t>
            </a:r>
            <a:r>
              <a:rPr lang="en-US" dirty="0"/>
              <a:t>the productivity of crops in his fields. There are two sources for obtaining these </a:t>
            </a:r>
            <a:r>
              <a:rPr lang="en-US" dirty="0" smtClean="0"/>
              <a:t>– mixtures </a:t>
            </a:r>
            <a:r>
              <a:rPr lang="en-US" dirty="0"/>
              <a:t>A and mixtures B. </a:t>
            </a:r>
            <a:endParaRPr lang="en-US" dirty="0" smtClean="0"/>
          </a:p>
          <a:p>
            <a:pPr algn="just">
              <a:buNone/>
            </a:pPr>
            <a:endParaRPr lang="en-US" dirty="0"/>
          </a:p>
          <a:p>
            <a:pPr algn="just">
              <a:buNone/>
            </a:pPr>
            <a:r>
              <a:rPr lang="en-US" dirty="0" smtClean="0"/>
              <a:t>Both </a:t>
            </a:r>
            <a:r>
              <a:rPr lang="en-US" dirty="0"/>
              <a:t>of these are available in bags weighing 100kg each </a:t>
            </a:r>
            <a:r>
              <a:rPr lang="en-US" dirty="0" smtClean="0"/>
              <a:t>and they </a:t>
            </a:r>
            <a:r>
              <a:rPr lang="en-US" dirty="0"/>
              <a:t>cost Rs.40 and Rs.24 respectively. </a:t>
            </a:r>
            <a:endParaRPr lang="en-US" dirty="0" smtClean="0"/>
          </a:p>
          <a:p>
            <a:pPr algn="just">
              <a:buNone/>
            </a:pPr>
            <a:endParaRPr lang="en-US" dirty="0"/>
          </a:p>
          <a:p>
            <a:pPr algn="just">
              <a:buNone/>
            </a:pPr>
            <a:r>
              <a:rPr lang="en-US" dirty="0" smtClean="0"/>
              <a:t>Mixture </a:t>
            </a:r>
            <a:r>
              <a:rPr lang="en-US" dirty="0"/>
              <a:t>A contains phosphate and </a:t>
            </a:r>
            <a:r>
              <a:rPr lang="en-US" dirty="0" smtClean="0"/>
              <a:t>nitrogen equivalent </a:t>
            </a:r>
            <a:r>
              <a:rPr lang="en-US" dirty="0"/>
              <a:t>of 20kg and 80 kg respectively, while mixture B contains these </a:t>
            </a:r>
            <a:r>
              <a:rPr lang="en-US" dirty="0" smtClean="0"/>
              <a:t>ingredients equivalent </a:t>
            </a:r>
            <a:r>
              <a:rPr lang="en-US" dirty="0"/>
              <a:t>of 50 kg each. Write this as an LPP and determine how many bags of </a:t>
            </a:r>
            <a:r>
              <a:rPr lang="en-US" dirty="0" smtClean="0"/>
              <a:t>each type </a:t>
            </a:r>
            <a:r>
              <a:rPr lang="en-US" dirty="0"/>
              <a:t>the farmer should buy in order to obtain the required fertilizer at minimum cost.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915400" cy="6477000"/>
          </a:xfrm>
        </p:spPr>
        <p:txBody>
          <a:bodyPr>
            <a:normAutofit fontScale="92500" lnSpcReduction="20000"/>
          </a:bodyPr>
          <a:lstStyle/>
          <a:p>
            <a:pPr>
              <a:buNone/>
            </a:pPr>
            <a:r>
              <a:rPr lang="en-US" b="1" u="sng" dirty="0" smtClean="0">
                <a:solidFill>
                  <a:srgbClr val="FF0000"/>
                </a:solidFill>
              </a:rPr>
              <a:t>PROBLEM 4</a:t>
            </a:r>
          </a:p>
          <a:p>
            <a:pPr>
              <a:buNone/>
            </a:pPr>
            <a:endParaRPr lang="en-US" dirty="0" smtClean="0"/>
          </a:p>
          <a:p>
            <a:pPr algn="just">
              <a:buNone/>
            </a:pPr>
            <a:r>
              <a:rPr lang="en-US" dirty="0" smtClean="0"/>
              <a:t>A </a:t>
            </a:r>
            <a:r>
              <a:rPr lang="en-US" dirty="0"/>
              <a:t>farmer has a 100 acre farm. He can sell all tomatoes, lettuce or radishes and can </a:t>
            </a:r>
            <a:r>
              <a:rPr lang="en-US" dirty="0" smtClean="0"/>
              <a:t>raise the </a:t>
            </a:r>
            <a:r>
              <a:rPr lang="en-US" dirty="0"/>
              <a:t>price to obtain Rs.1.00 per kg. for tomatoes , Rs.0.75 a head for lettuce and </a:t>
            </a:r>
            <a:r>
              <a:rPr lang="en-US" dirty="0" smtClean="0"/>
              <a:t>Rs.2.00 per </a:t>
            </a:r>
            <a:r>
              <a:rPr lang="en-US" dirty="0"/>
              <a:t>kg for radishes. The average yield per acre is 2000kg.of tomatoes, 3000 heads </a:t>
            </a:r>
            <a:r>
              <a:rPr lang="en-US" dirty="0" smtClean="0"/>
              <a:t>of lettuce </a:t>
            </a:r>
            <a:r>
              <a:rPr lang="en-US" dirty="0"/>
              <a:t>and 1000 </a:t>
            </a:r>
            <a:r>
              <a:rPr lang="en-US" dirty="0" err="1"/>
              <a:t>kgs</a:t>
            </a:r>
            <a:r>
              <a:rPr lang="en-US" dirty="0"/>
              <a:t> of radishes. Fertilizers are available at Rs.0.50 per kg and </a:t>
            </a:r>
            <a:r>
              <a:rPr lang="en-US" dirty="0" smtClean="0"/>
              <a:t>the amount </a:t>
            </a:r>
            <a:r>
              <a:rPr lang="en-US" dirty="0"/>
              <a:t>required per acre is 100 </a:t>
            </a:r>
            <a:r>
              <a:rPr lang="en-US" dirty="0" err="1"/>
              <a:t>kgs</a:t>
            </a:r>
            <a:r>
              <a:rPr lang="en-US" dirty="0"/>
              <a:t> for each tomatoes and lettuce and 50kgs for </a:t>
            </a:r>
            <a:r>
              <a:rPr lang="en-US" dirty="0" smtClean="0"/>
              <a:t>radishes. </a:t>
            </a:r>
            <a:r>
              <a:rPr lang="en-US" dirty="0" err="1" smtClean="0"/>
              <a:t>Labour</a:t>
            </a:r>
            <a:r>
              <a:rPr lang="en-US" dirty="0" smtClean="0"/>
              <a:t> </a:t>
            </a:r>
            <a:r>
              <a:rPr lang="en-US" dirty="0"/>
              <a:t>required for sowing, cultivating and harvesting per acre is 5 man-days </a:t>
            </a:r>
            <a:r>
              <a:rPr lang="en-US" dirty="0" smtClean="0"/>
              <a:t>for tomatoes </a:t>
            </a:r>
            <a:r>
              <a:rPr lang="en-US" dirty="0"/>
              <a:t>and radishes and 6 man-days for lettuce. A total of 400 man-days of </a:t>
            </a:r>
            <a:r>
              <a:rPr lang="en-US" dirty="0" err="1"/>
              <a:t>labour</a:t>
            </a:r>
            <a:r>
              <a:rPr lang="en-US" dirty="0"/>
              <a:t> </a:t>
            </a:r>
            <a:r>
              <a:rPr lang="en-US" dirty="0" smtClean="0"/>
              <a:t>are available </a:t>
            </a:r>
            <a:r>
              <a:rPr lang="en-US" dirty="0"/>
              <a:t>at Rs.20.00 per man-day. Formulate this problem as LP model to maximize </a:t>
            </a:r>
            <a:r>
              <a:rPr lang="en-US" dirty="0" smtClean="0"/>
              <a:t>the farmers </a:t>
            </a:r>
            <a:r>
              <a:rPr lang="en-US" dirty="0"/>
              <a:t>profit.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
            <a:ext cx="8991600" cy="6705600"/>
          </a:xfrm>
        </p:spPr>
        <p:txBody>
          <a:bodyPr>
            <a:normAutofit lnSpcReduction="10000"/>
          </a:bodyPr>
          <a:lstStyle/>
          <a:p>
            <a:pPr>
              <a:buNone/>
            </a:pPr>
            <a:r>
              <a:rPr lang="en-US" b="1" u="sng" dirty="0" smtClean="0">
                <a:solidFill>
                  <a:srgbClr val="FF0000"/>
                </a:solidFill>
              </a:rPr>
              <a:t>PROBLEM 4.1</a:t>
            </a:r>
          </a:p>
          <a:p>
            <a:pPr algn="just">
              <a:buNone/>
            </a:pPr>
            <a:r>
              <a:rPr lang="en-US" dirty="0" smtClean="0"/>
              <a:t>A firm manufactures Headache pills in two sizes:       size A and size B.</a:t>
            </a:r>
          </a:p>
          <a:p>
            <a:pPr algn="just">
              <a:buNone/>
            </a:pPr>
            <a:r>
              <a:rPr lang="en-US" dirty="0" smtClean="0"/>
              <a:t>Size  A contains 2 grams of Aspirin, 5 grams               of </a:t>
            </a:r>
            <a:r>
              <a:rPr lang="en-US" dirty="0" err="1" smtClean="0"/>
              <a:t>Bicarbonte</a:t>
            </a:r>
            <a:r>
              <a:rPr lang="en-US" dirty="0" smtClean="0"/>
              <a:t>, 1 gram of </a:t>
            </a:r>
            <a:r>
              <a:rPr lang="en-US" dirty="0" err="1" smtClean="0"/>
              <a:t>Codine</a:t>
            </a:r>
            <a:endParaRPr lang="en-US" dirty="0" smtClean="0"/>
          </a:p>
          <a:p>
            <a:pPr algn="just">
              <a:buNone/>
            </a:pPr>
            <a:r>
              <a:rPr lang="en-US" dirty="0" smtClean="0"/>
              <a:t>Size B contains 1 gram of Aspirin, 8 grams of </a:t>
            </a:r>
            <a:r>
              <a:rPr lang="en-US" dirty="0" err="1" smtClean="0"/>
              <a:t>Bicarbonte</a:t>
            </a:r>
            <a:r>
              <a:rPr lang="en-US" dirty="0" smtClean="0"/>
              <a:t>, 6 grams of </a:t>
            </a:r>
            <a:r>
              <a:rPr lang="en-US" dirty="0" err="1" smtClean="0"/>
              <a:t>Codine</a:t>
            </a:r>
            <a:endParaRPr lang="en-US" dirty="0" smtClean="0"/>
          </a:p>
          <a:p>
            <a:pPr algn="just">
              <a:buNone/>
            </a:pPr>
            <a:r>
              <a:rPr lang="en-US" dirty="0" smtClean="0"/>
              <a:t>It is found that it requires </a:t>
            </a:r>
            <a:r>
              <a:rPr lang="en-US" dirty="0" err="1" smtClean="0"/>
              <a:t>atleast</a:t>
            </a:r>
            <a:r>
              <a:rPr lang="en-US" dirty="0" smtClean="0"/>
              <a:t> 12 grams of Aspirin</a:t>
            </a:r>
          </a:p>
          <a:p>
            <a:pPr algn="just">
              <a:buNone/>
            </a:pPr>
            <a:r>
              <a:rPr lang="en-US" dirty="0" smtClean="0"/>
              <a:t>74 grams of </a:t>
            </a:r>
            <a:r>
              <a:rPr lang="en-US" dirty="0" err="1" smtClean="0"/>
              <a:t>Bicarbonte</a:t>
            </a:r>
            <a:r>
              <a:rPr lang="en-US" dirty="0" smtClean="0"/>
              <a:t>, 24 grams of </a:t>
            </a:r>
            <a:r>
              <a:rPr lang="en-US" dirty="0" err="1" smtClean="0"/>
              <a:t>Codine</a:t>
            </a:r>
            <a:r>
              <a:rPr lang="en-US" dirty="0" smtClean="0"/>
              <a:t> for immediate effect.</a:t>
            </a:r>
          </a:p>
          <a:p>
            <a:pPr algn="just">
              <a:buNone/>
            </a:pPr>
            <a:r>
              <a:rPr lang="en-US" dirty="0" smtClean="0"/>
              <a:t>It is required to determine the least number of pills a patient should take to gat immediate relief. Formulate </a:t>
            </a:r>
            <a:r>
              <a:rPr lang="en-US" smtClean="0"/>
              <a:t>the problem as LPP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991600" cy="6705600"/>
          </a:xfrm>
        </p:spPr>
        <p:txBody>
          <a:bodyPr>
            <a:noAutofit/>
          </a:bodyPr>
          <a:lstStyle/>
          <a:p>
            <a:pPr>
              <a:buNone/>
            </a:pPr>
            <a:r>
              <a:rPr lang="en-US" sz="2400" b="1" u="sng" dirty="0" smtClean="0">
                <a:solidFill>
                  <a:srgbClr val="FF0000"/>
                </a:solidFill>
              </a:rPr>
              <a:t>PROBLEM 5</a:t>
            </a:r>
          </a:p>
          <a:p>
            <a:pPr algn="just">
              <a:buNone/>
            </a:pPr>
            <a:endParaRPr lang="en-US" sz="2400" dirty="0" smtClean="0"/>
          </a:p>
          <a:p>
            <a:pPr algn="just">
              <a:buNone/>
            </a:pPr>
            <a:r>
              <a:rPr lang="en-US" sz="2400" dirty="0" smtClean="0"/>
              <a:t>A Scrap metal dealer has received a bulk order from a customer for a supply of </a:t>
            </a:r>
            <a:r>
              <a:rPr lang="en-US" sz="2400" dirty="0" err="1" smtClean="0"/>
              <a:t>atleast</a:t>
            </a:r>
            <a:r>
              <a:rPr lang="en-US" sz="2400" dirty="0" smtClean="0"/>
              <a:t> 2000 kg of scrap metal. The consumer has specified that </a:t>
            </a:r>
            <a:r>
              <a:rPr lang="en-US" sz="2400" dirty="0" err="1" smtClean="0"/>
              <a:t>atleast</a:t>
            </a:r>
            <a:r>
              <a:rPr lang="en-US" sz="2400" dirty="0" smtClean="0"/>
              <a:t> 1000 </a:t>
            </a:r>
            <a:r>
              <a:rPr lang="en-US" sz="2400" dirty="0" err="1" smtClean="0"/>
              <a:t>kgs</a:t>
            </a:r>
            <a:r>
              <a:rPr lang="en-US" sz="2400" dirty="0" smtClean="0"/>
              <a:t> of the order must be high quality copper that can be melted easily and can be used to produce tubes.  Further, the customer has specified that the order should not contain more than 200 </a:t>
            </a:r>
            <a:r>
              <a:rPr lang="en-US" sz="2400" dirty="0" err="1" smtClean="0"/>
              <a:t>kgs</a:t>
            </a:r>
            <a:r>
              <a:rPr lang="en-US" sz="2400" dirty="0" smtClean="0"/>
              <a:t> of scrap which are unfit for commercial purposes. The scrap metal dealer purchases the scrap from two different sources in an unlimited quantity with the following percentages (by weight) of high quality of copper and unfit scrap The cost of metal purchased from source A and source B are Rs.12.50 and Rs.14.50 per kg respectively. Determine the optimum quantities of metal to be purchased from the two sources by the metal scrap dealer so as to minimize the total cost </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328863" y="2847974"/>
            <a:ext cx="4486275" cy="157162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477000"/>
          </a:xfrm>
        </p:spPr>
        <p:txBody>
          <a:bodyPr>
            <a:normAutofit/>
          </a:bodyPr>
          <a:lstStyle/>
          <a:p>
            <a:pPr>
              <a:buNone/>
            </a:pPr>
            <a:r>
              <a:rPr lang="en-US" b="1" u="sng" dirty="0" smtClean="0">
                <a:solidFill>
                  <a:srgbClr val="FF0000"/>
                </a:solidFill>
              </a:rPr>
              <a:t>PROBLEM 6</a:t>
            </a:r>
          </a:p>
          <a:p>
            <a:pPr algn="just">
              <a:buNone/>
            </a:pPr>
            <a:r>
              <a:rPr lang="en-US" dirty="0" smtClean="0"/>
              <a:t>A </a:t>
            </a:r>
            <a:r>
              <a:rPr lang="en-US" dirty="0"/>
              <a:t>person requires 10, 12, and 12 units chemicals A, B and C respectively for his </a:t>
            </a:r>
            <a:r>
              <a:rPr lang="en-US" dirty="0" err="1" smtClean="0"/>
              <a:t>garden.A</a:t>
            </a:r>
            <a:r>
              <a:rPr lang="en-US" dirty="0" smtClean="0"/>
              <a:t> </a:t>
            </a:r>
            <a:r>
              <a:rPr lang="en-US" dirty="0"/>
              <a:t>liquid product contains 5, 2 and 1 units of A,B and C respectively per jar. A </a:t>
            </a:r>
            <a:r>
              <a:rPr lang="en-US" dirty="0" smtClean="0"/>
              <a:t>dry product </a:t>
            </a:r>
            <a:r>
              <a:rPr lang="en-US" dirty="0"/>
              <a:t>contains 1,2 and 4 units of A,B and C per </a:t>
            </a:r>
            <a:r>
              <a:rPr lang="en-US" dirty="0" smtClean="0"/>
              <a:t>carton. If </a:t>
            </a:r>
            <a:r>
              <a:rPr lang="en-US" dirty="0"/>
              <a:t>the liquid product sells for Rs.3 per jar and the dry product sells for Rs.2 per </a:t>
            </a:r>
            <a:r>
              <a:rPr lang="en-US" dirty="0" smtClean="0"/>
              <a:t>carton, how </a:t>
            </a:r>
            <a:r>
              <a:rPr lang="en-US" dirty="0"/>
              <a:t>many of each should be purchased, in order to minimize the cost and meet </a:t>
            </a:r>
            <a:r>
              <a:rPr lang="en-US" dirty="0" smtClean="0"/>
              <a:t>the requirements</a:t>
            </a:r>
            <a:r>
              <a:rPr lang="en-US"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rmAutofit fontScale="90000"/>
          </a:bodyPr>
          <a:lstStyle/>
          <a:p>
            <a:pPr algn="l"/>
            <a:r>
              <a:rPr lang="en-US" b="1" u="sng" dirty="0" smtClean="0">
                <a:solidFill>
                  <a:srgbClr val="FF0000"/>
                </a:solidFill>
              </a:rPr>
              <a:t/>
            </a:r>
            <a:br>
              <a:rPr lang="en-US" b="1" u="sng" dirty="0" smtClean="0">
                <a:solidFill>
                  <a:srgbClr val="FF0000"/>
                </a:solidFill>
              </a:rPr>
            </a:br>
            <a:r>
              <a:rPr lang="en-US" sz="3600" b="1" u="sng" dirty="0" smtClean="0">
                <a:solidFill>
                  <a:srgbClr val="FF0000"/>
                </a:solidFill>
              </a:rPr>
              <a:t>PROBLEM 7</a:t>
            </a:r>
            <a:r>
              <a:rPr lang="en-US" b="1" u="sng" dirty="0" smtClean="0">
                <a:solidFill>
                  <a:srgbClr val="FF0000"/>
                </a:solidFill>
              </a:rPr>
              <a:t/>
            </a:r>
            <a:br>
              <a:rPr lang="en-US" b="1" u="sng" dirty="0" smtClean="0">
                <a:solidFill>
                  <a:srgbClr val="FF0000"/>
                </a:solidFill>
              </a:rPr>
            </a:b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228600" y="990600"/>
            <a:ext cx="8763000" cy="57150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l"/>
            <a:r>
              <a:rPr lang="en-US" sz="3600" b="1" u="sng" dirty="0" smtClean="0">
                <a:solidFill>
                  <a:srgbClr val="FF0000"/>
                </a:solidFill>
              </a:rPr>
              <a:t>PROBLEM 8</a:t>
            </a:r>
            <a:r>
              <a:rPr lang="en-US" b="1" u="sng" dirty="0" smtClean="0">
                <a:solidFill>
                  <a:srgbClr val="FF0000"/>
                </a:solidFill>
              </a:rPr>
              <a:t/>
            </a:r>
            <a:br>
              <a:rPr lang="en-US" b="1" u="sng" dirty="0" smtClean="0">
                <a:solidFill>
                  <a:srgbClr val="FF0000"/>
                </a:solidFill>
              </a:rPr>
            </a:br>
            <a:endParaRPr lang="en-US"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0" y="762000"/>
            <a:ext cx="9144000" cy="60960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algn="l"/>
            <a:r>
              <a:rPr lang="en-US" sz="3600" b="1" u="sng" dirty="0" smtClean="0">
                <a:solidFill>
                  <a:srgbClr val="FF0000"/>
                </a:solidFill>
              </a:rPr>
              <a:t>PROBLEM 9</a:t>
            </a:r>
            <a:r>
              <a:rPr lang="en-US" b="1" u="sng" dirty="0" smtClean="0">
                <a:solidFill>
                  <a:srgbClr val="FF0000"/>
                </a:solidFill>
              </a:rPr>
              <a:t/>
            </a:r>
            <a:br>
              <a:rPr lang="en-US" b="1" u="sng" dirty="0" smtClean="0">
                <a:solidFill>
                  <a:srgbClr val="FF0000"/>
                </a:solidFill>
              </a:rPr>
            </a:br>
            <a:endParaRPr lang="en-US" dirty="0"/>
          </a:p>
        </p:txBody>
      </p:sp>
      <p:pic>
        <p:nvPicPr>
          <p:cNvPr id="4098" name="Picture 2"/>
          <p:cNvPicPr>
            <a:picLocks noGrp="1" noChangeAspect="1" noChangeArrowheads="1"/>
          </p:cNvPicPr>
          <p:nvPr>
            <p:ph idx="1"/>
          </p:nvPr>
        </p:nvPicPr>
        <p:blipFill>
          <a:blip r:embed="rId2" cstate="print"/>
          <a:srcRect/>
          <a:stretch>
            <a:fillRect/>
          </a:stretch>
        </p:blipFill>
        <p:spPr bwMode="auto">
          <a:xfrm>
            <a:off x="0" y="685800"/>
            <a:ext cx="9144000" cy="57150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TotalTime>
  <Words>888</Words>
  <Application>Microsoft Office PowerPoint</Application>
  <PresentationFormat>On-screen Show (4:3)</PresentationFormat>
  <Paragraphs>47</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LINEAR PROGRAMING PROBLEMS</vt:lpstr>
      <vt:lpstr>Slide 2</vt:lpstr>
      <vt:lpstr>Slide 3</vt:lpstr>
      <vt:lpstr>Slide 4</vt:lpstr>
      <vt:lpstr>Slide 5</vt:lpstr>
      <vt:lpstr>Slide 6</vt:lpstr>
      <vt:lpstr>Slide 7</vt:lpstr>
      <vt:lpstr>Slide 8</vt:lpstr>
      <vt:lpstr>Slide 9</vt:lpstr>
      <vt:lpstr> PROBLEM 7 </vt:lpstr>
      <vt:lpstr>PROBLEM 8 </vt:lpstr>
      <vt:lpstr>PROBLEM 9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PROGRAMING PROBLEMS</dc:title>
  <dc:creator>sanjiv</dc:creator>
  <cp:lastModifiedBy>HP</cp:lastModifiedBy>
  <cp:revision>26</cp:revision>
  <dcterms:created xsi:type="dcterms:W3CDTF">2018-11-23T14:13:56Z</dcterms:created>
  <dcterms:modified xsi:type="dcterms:W3CDTF">2026-04-13T09:22:06Z</dcterms:modified>
</cp:coreProperties>
</file>