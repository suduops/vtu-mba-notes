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docx" ContentType="application/vnd.openxmlformats-officedocument.wordprocessingml.document"/>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 id="2147483696" r:id="rId2"/>
  </p:sldMasterIdLst>
  <p:notesMasterIdLst>
    <p:notesMasterId r:id="rId84"/>
  </p:notesMasterIdLst>
  <p:sldIdLst>
    <p:sldId id="256" r:id="rId3"/>
    <p:sldId id="257" r:id="rId4"/>
    <p:sldId id="283" r:id="rId5"/>
    <p:sldId id="259" r:id="rId6"/>
    <p:sldId id="260" r:id="rId7"/>
    <p:sldId id="261" r:id="rId8"/>
    <p:sldId id="314" r:id="rId9"/>
    <p:sldId id="315" r:id="rId10"/>
    <p:sldId id="316" r:id="rId11"/>
    <p:sldId id="317" r:id="rId12"/>
    <p:sldId id="318" r:id="rId13"/>
    <p:sldId id="319" r:id="rId14"/>
    <p:sldId id="320" r:id="rId15"/>
    <p:sldId id="321" r:id="rId16"/>
    <p:sldId id="322" r:id="rId17"/>
    <p:sldId id="323" r:id="rId18"/>
    <p:sldId id="375" r:id="rId19"/>
    <p:sldId id="325" r:id="rId20"/>
    <p:sldId id="326" r:id="rId21"/>
    <p:sldId id="327" r:id="rId22"/>
    <p:sldId id="386" r:id="rId23"/>
    <p:sldId id="387" r:id="rId24"/>
    <p:sldId id="388" r:id="rId25"/>
    <p:sldId id="389" r:id="rId26"/>
    <p:sldId id="390" r:id="rId27"/>
    <p:sldId id="391" r:id="rId28"/>
    <p:sldId id="392" r:id="rId29"/>
    <p:sldId id="394" r:id="rId30"/>
    <p:sldId id="395" r:id="rId31"/>
    <p:sldId id="333" r:id="rId32"/>
    <p:sldId id="334" r:id="rId33"/>
    <p:sldId id="336" r:id="rId34"/>
    <p:sldId id="337" r:id="rId35"/>
    <p:sldId id="338" r:id="rId36"/>
    <p:sldId id="372" r:id="rId37"/>
    <p:sldId id="339" r:id="rId38"/>
    <p:sldId id="341" r:id="rId39"/>
    <p:sldId id="373" r:id="rId40"/>
    <p:sldId id="342" r:id="rId41"/>
    <p:sldId id="374" r:id="rId42"/>
    <p:sldId id="346" r:id="rId43"/>
    <p:sldId id="347" r:id="rId44"/>
    <p:sldId id="348" r:id="rId45"/>
    <p:sldId id="349" r:id="rId46"/>
    <p:sldId id="350" r:id="rId47"/>
    <p:sldId id="380" r:id="rId48"/>
    <p:sldId id="355" r:id="rId49"/>
    <p:sldId id="356" r:id="rId50"/>
    <p:sldId id="357" r:id="rId51"/>
    <p:sldId id="361" r:id="rId52"/>
    <p:sldId id="362" r:id="rId53"/>
    <p:sldId id="363" r:id="rId54"/>
    <p:sldId id="369" r:id="rId55"/>
    <p:sldId id="292" r:id="rId56"/>
    <p:sldId id="313" r:id="rId57"/>
    <p:sldId id="284" r:id="rId58"/>
    <p:sldId id="291" r:id="rId59"/>
    <p:sldId id="287" r:id="rId60"/>
    <p:sldId id="383" r:id="rId61"/>
    <p:sldId id="288" r:id="rId62"/>
    <p:sldId id="384" r:id="rId63"/>
    <p:sldId id="289" r:id="rId64"/>
    <p:sldId id="290" r:id="rId65"/>
    <p:sldId id="385" r:id="rId66"/>
    <p:sldId id="310" r:id="rId67"/>
    <p:sldId id="303" r:id="rId68"/>
    <p:sldId id="293" r:id="rId69"/>
    <p:sldId id="311" r:id="rId70"/>
    <p:sldId id="304" r:id="rId71"/>
    <p:sldId id="294" r:id="rId72"/>
    <p:sldId id="309" r:id="rId73"/>
    <p:sldId id="298" r:id="rId74"/>
    <p:sldId id="297" r:id="rId75"/>
    <p:sldId id="299" r:id="rId76"/>
    <p:sldId id="376" r:id="rId77"/>
    <p:sldId id="301" r:id="rId78"/>
    <p:sldId id="305" r:id="rId79"/>
    <p:sldId id="307" r:id="rId80"/>
    <p:sldId id="302" r:id="rId81"/>
    <p:sldId id="308" r:id="rId82"/>
    <p:sldId id="312" r:id="rId8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66"/>
    <a:srgbClr val="CC00FF"/>
    <a:srgbClr val="FFFFFF"/>
    <a:srgbClr val="9966FF"/>
    <a:srgbClr val="0000FF"/>
    <a:srgbClr val="0033CC"/>
    <a:srgbClr val="FFCCCC"/>
    <a:srgbClr val="00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5" autoAdjust="0"/>
    <p:restoredTop sz="94560" autoAdjust="0"/>
  </p:normalViewPr>
  <p:slideViewPr>
    <p:cSldViewPr>
      <p:cViewPr varScale="1">
        <p:scale>
          <a:sx n="70" d="100"/>
          <a:sy n="70" d="100"/>
        </p:scale>
        <p:origin x="516"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notesMaster" Target="notesMasters/notesMaster1.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presProps" Target="pres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theme" Target="theme/theme1.xml"/><Relationship Id="rId61" Type="http://schemas.openxmlformats.org/officeDocument/2006/relationships/slide" Target="slides/slide59.xml"/><Relationship Id="rId82" Type="http://schemas.openxmlformats.org/officeDocument/2006/relationships/slide" Target="slides/slide80.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13.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85EAED8-C744-4957-903B-7ACB42AB40CE}" type="datetimeFigureOut">
              <a:rPr lang="en-US" smtClean="0"/>
              <a:pPr/>
              <a:t>10/11/2025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A9D225B-1F80-4A06-997E-FEBFC346C7F6}" type="slidenum">
              <a:rPr lang="en-US" smtClean="0"/>
              <a:pPr/>
              <a:t>‹#›</a:t>
            </a:fld>
            <a:endParaRPr lang="en-US"/>
          </a:p>
        </p:txBody>
      </p:sp>
    </p:spTree>
    <p:extLst>
      <p:ext uri="{BB962C8B-B14F-4D97-AF65-F5344CB8AC3E}">
        <p14:creationId xmlns:p14="http://schemas.microsoft.com/office/powerpoint/2010/main" val="27867891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660FBFF-3916-49FD-8EA4-83C9601F4368}" type="datetimeFigureOut">
              <a:rPr lang="en-US" smtClean="0"/>
              <a:pPr/>
              <a:t>10/11/2025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223C04-1415-4B1D-84C5-33090A307607}"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660FBFF-3916-49FD-8EA4-83C9601F4368}" type="datetimeFigureOut">
              <a:rPr lang="en-US" smtClean="0"/>
              <a:pPr/>
              <a:t>10/11/2025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223C04-1415-4B1D-84C5-33090A307607}"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660FBFF-3916-49FD-8EA4-83C9601F4368}" type="datetimeFigureOut">
              <a:rPr lang="en-US" smtClean="0"/>
              <a:pPr/>
              <a:t>10/11/2025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223C04-1415-4B1D-84C5-33090A307607}"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660FBFF-3916-49FD-8EA4-83C9601F4368}" type="datetimeFigureOut">
              <a:rPr lang="en-US" smtClean="0"/>
              <a:pPr/>
              <a:t>10/11/2025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9223C04-1415-4B1D-84C5-33090A307607}"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660FBFF-3916-49FD-8EA4-83C9601F4368}" type="datetimeFigureOut">
              <a:rPr lang="en-US" smtClean="0"/>
              <a:pPr/>
              <a:t>10/11/2025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9223C04-1415-4B1D-84C5-33090A307607}"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660FBFF-3916-49FD-8EA4-83C9601F4368}" type="datetimeFigureOut">
              <a:rPr lang="en-US" smtClean="0"/>
              <a:pPr/>
              <a:t>10/11/2025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9223C04-1415-4B1D-84C5-33090A307607}"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660FBFF-3916-49FD-8EA4-83C9601F4368}" type="datetimeFigureOut">
              <a:rPr lang="en-US" smtClean="0"/>
              <a:pPr/>
              <a:t>10/11/2025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9223C04-1415-4B1D-84C5-33090A307607}"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660FBFF-3916-49FD-8EA4-83C9601F4368}" type="datetimeFigureOut">
              <a:rPr lang="en-US" smtClean="0"/>
              <a:pPr/>
              <a:t>10/11/2025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9223C04-1415-4B1D-84C5-33090A307607}"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660FBFF-3916-49FD-8EA4-83C9601F4368}" type="datetimeFigureOut">
              <a:rPr lang="en-US" smtClean="0"/>
              <a:pPr/>
              <a:t>10/11/2025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9223C04-1415-4B1D-84C5-33090A307607}"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660FBFF-3916-49FD-8EA4-83C9601F4368}" type="datetimeFigureOut">
              <a:rPr lang="en-US" smtClean="0"/>
              <a:pPr/>
              <a:t>10/11/2025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223C04-1415-4B1D-84C5-33090A307607}"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660FBFF-3916-49FD-8EA4-83C9601F4368}" type="datetimeFigureOut">
              <a:rPr lang="en-US" smtClean="0"/>
              <a:pPr/>
              <a:t>10/11/2025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223C04-1415-4B1D-84C5-33090A307607}"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660FBFF-3916-49FD-8EA4-83C9601F4368}" type="datetimeFigureOut">
              <a:rPr lang="en-US" smtClean="0">
                <a:solidFill>
                  <a:prstClr val="black">
                    <a:tint val="75000"/>
                  </a:prstClr>
                </a:solidFill>
              </a:rPr>
              <a:pPr/>
              <a:t>10/11/2025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89223C04-1415-4B1D-84C5-33090A307607}"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6724760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660FBFF-3916-49FD-8EA4-83C9601F4368}" type="datetimeFigureOut">
              <a:rPr lang="en-US" smtClean="0">
                <a:solidFill>
                  <a:prstClr val="black">
                    <a:tint val="75000"/>
                  </a:prstClr>
                </a:solidFill>
              </a:rPr>
              <a:pPr/>
              <a:t>10/11/2025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89223C04-1415-4B1D-84C5-33090A307607}"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4292221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660FBFF-3916-49FD-8EA4-83C9601F4368}" type="datetimeFigureOut">
              <a:rPr lang="en-US" smtClean="0">
                <a:solidFill>
                  <a:prstClr val="black">
                    <a:tint val="75000"/>
                  </a:prstClr>
                </a:solidFill>
              </a:rPr>
              <a:pPr/>
              <a:t>10/11/2025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89223C04-1415-4B1D-84C5-33090A307607}"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1363329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660FBFF-3916-49FD-8EA4-83C9601F4368}" type="datetimeFigureOut">
              <a:rPr lang="en-US" smtClean="0">
                <a:solidFill>
                  <a:prstClr val="black">
                    <a:tint val="75000"/>
                  </a:prstClr>
                </a:solidFill>
              </a:rPr>
              <a:pPr/>
              <a:t>10/11/2025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89223C04-1415-4B1D-84C5-33090A307607}"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681291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660FBFF-3916-49FD-8EA4-83C9601F4368}" type="datetimeFigureOut">
              <a:rPr lang="en-US" smtClean="0">
                <a:solidFill>
                  <a:prstClr val="black">
                    <a:tint val="75000"/>
                  </a:prstClr>
                </a:solidFill>
              </a:rPr>
              <a:pPr/>
              <a:t>10/11/2025</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89223C04-1415-4B1D-84C5-33090A307607}"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0491258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660FBFF-3916-49FD-8EA4-83C9601F4368}" type="datetimeFigureOut">
              <a:rPr lang="en-US" smtClean="0">
                <a:solidFill>
                  <a:prstClr val="black">
                    <a:tint val="75000"/>
                  </a:prstClr>
                </a:solidFill>
              </a:rPr>
              <a:pPr/>
              <a:t>10/11/2025</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89223C04-1415-4B1D-84C5-33090A307607}"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9470095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660FBFF-3916-49FD-8EA4-83C9601F4368}" type="datetimeFigureOut">
              <a:rPr lang="en-US" smtClean="0">
                <a:solidFill>
                  <a:prstClr val="black">
                    <a:tint val="75000"/>
                  </a:prstClr>
                </a:solidFill>
              </a:rPr>
              <a:pPr/>
              <a:t>10/11/2025</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89223C04-1415-4B1D-84C5-33090A307607}"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6080728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660FBFF-3916-49FD-8EA4-83C9601F4368}" type="datetimeFigureOut">
              <a:rPr lang="en-US" smtClean="0">
                <a:solidFill>
                  <a:prstClr val="black">
                    <a:tint val="75000"/>
                  </a:prstClr>
                </a:solidFill>
              </a:rPr>
              <a:pPr/>
              <a:t>10/11/2025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89223C04-1415-4B1D-84C5-33090A307607}"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3651318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660FBFF-3916-49FD-8EA4-83C9601F4368}" type="datetimeFigureOut">
              <a:rPr lang="en-US" smtClean="0">
                <a:solidFill>
                  <a:prstClr val="black">
                    <a:tint val="75000"/>
                  </a:prstClr>
                </a:solidFill>
              </a:rPr>
              <a:pPr/>
              <a:t>10/11/2025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89223C04-1415-4B1D-84C5-33090A307607}"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56544439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660FBFF-3916-49FD-8EA4-83C9601F4368}" type="datetimeFigureOut">
              <a:rPr lang="en-US" smtClean="0">
                <a:solidFill>
                  <a:prstClr val="black">
                    <a:tint val="75000"/>
                  </a:prstClr>
                </a:solidFill>
              </a:rPr>
              <a:pPr/>
              <a:t>10/11/2025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89223C04-1415-4B1D-84C5-33090A307607}"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8181853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660FBFF-3916-49FD-8EA4-83C9601F4368}" type="datetimeFigureOut">
              <a:rPr lang="en-US" smtClean="0">
                <a:solidFill>
                  <a:prstClr val="black">
                    <a:tint val="75000"/>
                  </a:prstClr>
                </a:solidFill>
              </a:rPr>
              <a:pPr/>
              <a:t>10/11/2025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89223C04-1415-4B1D-84C5-33090A307607}"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528515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660FBFF-3916-49FD-8EA4-83C9601F4368}" type="datetimeFigureOut">
              <a:rPr lang="en-US" smtClean="0"/>
              <a:pPr/>
              <a:t>10/11/2025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9223C04-1415-4B1D-84C5-33090A307607}"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660FBFF-3916-49FD-8EA4-83C9601F4368}" type="datetimeFigureOut">
              <a:rPr lang="en-US" smtClean="0">
                <a:solidFill>
                  <a:prstClr val="black">
                    <a:tint val="75000"/>
                  </a:prstClr>
                </a:solidFill>
              </a:rPr>
              <a:pPr/>
              <a:t>10/11/2025</a:t>
            </a:fld>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9223C04-1415-4B1D-84C5-33090A307607}"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443959146"/>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3.xml"/><Relationship Id="rId4" Type="http://schemas.openxmlformats.org/officeDocument/2006/relationships/image" Target="../media/image15.emf"/></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0.emf"/><Relationship Id="rId2" Type="http://schemas.openxmlformats.org/officeDocument/2006/relationships/image" Target="../media/image16.png"/><Relationship Id="rId1" Type="http://schemas.openxmlformats.org/officeDocument/2006/relationships/slideLayout" Target="../slideLayouts/slideLayout13.xml"/><Relationship Id="rId6" Type="http://schemas.openxmlformats.org/officeDocument/2006/relationships/image" Target="../media/image19.png"/><Relationship Id="rId5" Type="http://schemas.openxmlformats.org/officeDocument/2006/relationships/image" Target="../media/image8.png"/><Relationship Id="rId4" Type="http://schemas.openxmlformats.org/officeDocument/2006/relationships/image" Target="../media/image18.png"/></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3.xml"/><Relationship Id="rId5" Type="http://schemas.openxmlformats.org/officeDocument/2006/relationships/image" Target="../media/image25.png"/><Relationship Id="rId4" Type="http://schemas.openxmlformats.org/officeDocument/2006/relationships/image" Target="../media/image24.png"/></Relationships>
</file>

<file path=ppt/slides/_rels/slide2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3.xml"/><Relationship Id="rId4" Type="http://schemas.openxmlformats.org/officeDocument/2006/relationships/image" Target="../media/image27.png"/></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3.xml"/><Relationship Id="rId6" Type="http://schemas.openxmlformats.org/officeDocument/2006/relationships/image" Target="../media/image32.emf"/><Relationship Id="rId5" Type="http://schemas.openxmlformats.org/officeDocument/2006/relationships/image" Target="../media/image31.emf"/><Relationship Id="rId4" Type="http://schemas.openxmlformats.org/officeDocument/2006/relationships/image" Target="../media/image30.png"/></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3.emf"/><Relationship Id="rId2" Type="http://schemas.openxmlformats.org/officeDocument/2006/relationships/image" Target="../media/image28.png"/><Relationship Id="rId1" Type="http://schemas.openxmlformats.org/officeDocument/2006/relationships/slideLayout" Target="../slideLayouts/slideLayout13.xml"/><Relationship Id="rId6" Type="http://schemas.openxmlformats.org/officeDocument/2006/relationships/image" Target="../media/image32.emf"/><Relationship Id="rId5" Type="http://schemas.openxmlformats.org/officeDocument/2006/relationships/image" Target="../media/image31.emf"/><Relationship Id="rId4" Type="http://schemas.openxmlformats.org/officeDocument/2006/relationships/image" Target="../media/image30.png"/></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5.emf"/><Relationship Id="rId4" Type="http://schemas.openxmlformats.org/officeDocument/2006/relationships/image" Target="../media/image34.png"/></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3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38.png"/><Relationship Id="rId7" Type="http://schemas.openxmlformats.org/officeDocument/2006/relationships/image" Target="../media/image42.png"/><Relationship Id="rId12" Type="http://schemas.openxmlformats.org/officeDocument/2006/relationships/image" Target="../media/image47.png"/><Relationship Id="rId2" Type="http://schemas.openxmlformats.org/officeDocument/2006/relationships/image" Target="../media/image37.png"/><Relationship Id="rId1" Type="http://schemas.openxmlformats.org/officeDocument/2006/relationships/slideLayout" Target="../slideLayouts/slideLayout2.xml"/><Relationship Id="rId6" Type="http://schemas.openxmlformats.org/officeDocument/2006/relationships/image" Target="../media/image41.png"/><Relationship Id="rId11" Type="http://schemas.openxmlformats.org/officeDocument/2006/relationships/image" Target="../media/image46.png"/><Relationship Id="rId5" Type="http://schemas.openxmlformats.org/officeDocument/2006/relationships/image" Target="../media/image40.png"/><Relationship Id="rId10" Type="http://schemas.openxmlformats.org/officeDocument/2006/relationships/image" Target="../media/image45.png"/><Relationship Id="rId4" Type="http://schemas.openxmlformats.org/officeDocument/2006/relationships/image" Target="../media/image39.png"/><Relationship Id="rId9" Type="http://schemas.openxmlformats.org/officeDocument/2006/relationships/image" Target="../media/image44.png"/></Relationships>
</file>

<file path=ppt/slides/_rels/slide35.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44.png"/><Relationship Id="rId7" Type="http://schemas.openxmlformats.org/officeDocument/2006/relationships/image" Target="../media/image51.png"/><Relationship Id="rId2" Type="http://schemas.openxmlformats.org/officeDocument/2006/relationships/image" Target="../media/image37.png"/><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50.png"/><Relationship Id="rId10" Type="http://schemas.openxmlformats.org/officeDocument/2006/relationships/image" Target="../media/image45.png"/><Relationship Id="rId4" Type="http://schemas.openxmlformats.org/officeDocument/2006/relationships/image" Target="../media/image49.png"/><Relationship Id="rId9" Type="http://schemas.openxmlformats.org/officeDocument/2006/relationships/image" Target="../media/image53.png"/></Relationships>
</file>

<file path=ppt/slides/_rels/slide37.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55.png"/><Relationship Id="rId7" Type="http://schemas.openxmlformats.org/officeDocument/2006/relationships/image" Target="../media/image49.png"/><Relationship Id="rId2" Type="http://schemas.openxmlformats.org/officeDocument/2006/relationships/image" Target="../media/image54.png"/><Relationship Id="rId1" Type="http://schemas.openxmlformats.org/officeDocument/2006/relationships/slideLayout" Target="../slideLayouts/slideLayout2.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 Id="rId9" Type="http://schemas.openxmlformats.org/officeDocument/2006/relationships/image" Target="../media/image39.png"/></Relationships>
</file>

<file path=ppt/slides/_rels/slide38.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image" Target="../media/image62.png"/><Relationship Id="rId7" Type="http://schemas.openxmlformats.org/officeDocument/2006/relationships/image" Target="../media/image65.png"/><Relationship Id="rId2" Type="http://schemas.openxmlformats.org/officeDocument/2006/relationships/image" Target="../media/image61.png"/><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image" Target="../media/image64.png"/><Relationship Id="rId4" Type="http://schemas.openxmlformats.org/officeDocument/2006/relationships/image" Target="../media/image63.png"/><Relationship Id="rId9" Type="http://schemas.openxmlformats.org/officeDocument/2006/relationships/image" Target="../media/image40.png"/></Relationships>
</file>

<file path=ppt/slides/_rels/slide40.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2.xml"/><Relationship Id="rId4" Type="http://schemas.openxmlformats.org/officeDocument/2006/relationships/image" Target="../media/image71.png"/></Relationships>
</file>

<file path=ppt/slides/_rels/slide46.xml.rels><?xml version="1.0" encoding="UTF-8" standalone="yes"?>
<Relationships xmlns="http://schemas.openxmlformats.org/package/2006/relationships"><Relationship Id="rId8" Type="http://schemas.openxmlformats.org/officeDocument/2006/relationships/image" Target="../media/image71.png"/><Relationship Id="rId3" Type="http://schemas.openxmlformats.org/officeDocument/2006/relationships/image" Target="../media/image69.png"/><Relationship Id="rId7" Type="http://schemas.openxmlformats.org/officeDocument/2006/relationships/image" Target="../media/image75.png"/><Relationship Id="rId2" Type="http://schemas.openxmlformats.org/officeDocument/2006/relationships/image" Target="../media/image72.png"/><Relationship Id="rId1" Type="http://schemas.openxmlformats.org/officeDocument/2006/relationships/slideLayout" Target="../slideLayouts/slideLayout2.xml"/><Relationship Id="rId6" Type="http://schemas.openxmlformats.org/officeDocument/2006/relationships/image" Target="../media/image74.png"/><Relationship Id="rId5" Type="http://schemas.openxmlformats.org/officeDocument/2006/relationships/image" Target="../media/image70.png"/><Relationship Id="rId4" Type="http://schemas.openxmlformats.org/officeDocument/2006/relationships/image" Target="../media/image73.png"/></Relationships>
</file>

<file path=ppt/slides/_rels/slide47.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2.xml"/><Relationship Id="rId4" Type="http://schemas.openxmlformats.org/officeDocument/2006/relationships/image" Target="../media/image78.png"/></Relationships>
</file>

<file path=ppt/slides/_rels/slide48.xml.rels><?xml version="1.0" encoding="UTF-8" standalone="yes"?>
<Relationships xmlns="http://schemas.openxmlformats.org/package/2006/relationships"><Relationship Id="rId8" Type="http://schemas.openxmlformats.org/officeDocument/2006/relationships/image" Target="../media/image84.png"/><Relationship Id="rId3" Type="http://schemas.openxmlformats.org/officeDocument/2006/relationships/image" Target="../media/image80.png"/><Relationship Id="rId7" Type="http://schemas.openxmlformats.org/officeDocument/2006/relationships/image" Target="../media/image83.png"/><Relationship Id="rId2" Type="http://schemas.openxmlformats.org/officeDocument/2006/relationships/image" Target="../media/image79.png"/><Relationship Id="rId1" Type="http://schemas.openxmlformats.org/officeDocument/2006/relationships/slideLayout" Target="../slideLayouts/slideLayout2.xml"/><Relationship Id="rId6" Type="http://schemas.openxmlformats.org/officeDocument/2006/relationships/image" Target="../media/image76.png"/><Relationship Id="rId5" Type="http://schemas.openxmlformats.org/officeDocument/2006/relationships/image" Target="../media/image82.png"/><Relationship Id="rId4" Type="http://schemas.openxmlformats.org/officeDocument/2006/relationships/image" Target="../media/image81.png"/></Relationships>
</file>

<file path=ppt/slides/_rels/slide49.xml.rels><?xml version="1.0" encoding="UTF-8" standalone="yes"?>
<Relationships xmlns="http://schemas.openxmlformats.org/package/2006/relationships"><Relationship Id="rId3" Type="http://schemas.openxmlformats.org/officeDocument/2006/relationships/image" Target="../media/image77.png"/><Relationship Id="rId7" Type="http://schemas.openxmlformats.org/officeDocument/2006/relationships/image" Target="../media/image86.png"/><Relationship Id="rId2" Type="http://schemas.openxmlformats.org/officeDocument/2006/relationships/image" Target="../media/image76.png"/><Relationship Id="rId1" Type="http://schemas.openxmlformats.org/officeDocument/2006/relationships/slideLayout" Target="../slideLayouts/slideLayout2.xml"/><Relationship Id="rId6" Type="http://schemas.openxmlformats.org/officeDocument/2006/relationships/image" Target="../media/image84.png"/><Relationship Id="rId5" Type="http://schemas.openxmlformats.org/officeDocument/2006/relationships/image" Target="../media/image78.png"/><Relationship Id="rId4" Type="http://schemas.openxmlformats.org/officeDocument/2006/relationships/image" Target="../media/image85.png"/></Relationships>
</file>

<file path=ppt/slides/_rels/slide50.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2.xml"/><Relationship Id="rId4" Type="http://schemas.openxmlformats.org/officeDocument/2006/relationships/image" Target="../media/image87.png"/></Relationships>
</file>

<file path=ppt/slides/_rels/slide51.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2.xml"/><Relationship Id="rId4" Type="http://schemas.openxmlformats.org/officeDocument/2006/relationships/image" Target="../media/image87.png"/></Relationships>
</file>

<file path=ppt/slides/_rels/slide52.xml.rels><?xml version="1.0" encoding="UTF-8" standalone="yes"?>
<Relationships xmlns="http://schemas.openxmlformats.org/package/2006/relationships"><Relationship Id="rId3" Type="http://schemas.openxmlformats.org/officeDocument/2006/relationships/image" Target="../media/image89.png"/><Relationship Id="rId7" Type="http://schemas.openxmlformats.org/officeDocument/2006/relationships/image" Target="../media/image91.png"/><Relationship Id="rId2" Type="http://schemas.openxmlformats.org/officeDocument/2006/relationships/image" Target="../media/image87.png"/><Relationship Id="rId1" Type="http://schemas.openxmlformats.org/officeDocument/2006/relationships/slideLayout" Target="../slideLayouts/slideLayout2.xml"/><Relationship Id="rId6" Type="http://schemas.openxmlformats.org/officeDocument/2006/relationships/image" Target="../media/image78.png"/><Relationship Id="rId5" Type="http://schemas.openxmlformats.org/officeDocument/2006/relationships/image" Target="../media/image90.png"/><Relationship Id="rId4" Type="http://schemas.openxmlformats.org/officeDocument/2006/relationships/image" Target="../media/image77.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92.emf"/><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hyperlink" Target="http://www.investopedia.com/terms/d/dispersion.asp" TargetMode="External"/><Relationship Id="rId2" Type="http://schemas.openxmlformats.org/officeDocument/2006/relationships/image" Target="../media/image93.png"/><Relationship Id="rId1" Type="http://schemas.openxmlformats.org/officeDocument/2006/relationships/slideLayout" Target="../slideLayouts/slideLayout2.xml"/><Relationship Id="rId5" Type="http://schemas.openxmlformats.org/officeDocument/2006/relationships/image" Target="../media/image92.emf"/><Relationship Id="rId4" Type="http://schemas.openxmlformats.org/officeDocument/2006/relationships/image" Target="../media/image94.png"/></Relationships>
</file>

<file path=ppt/slides/_rels/slide56.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96.png"/><Relationship Id="rId1" Type="http://schemas.openxmlformats.org/officeDocument/2006/relationships/slideLayout" Target="../slideLayouts/slideLayout2.xml"/><Relationship Id="rId6" Type="http://schemas.openxmlformats.org/officeDocument/2006/relationships/image" Target="../media/image100.emf"/><Relationship Id="rId5" Type="http://schemas.openxmlformats.org/officeDocument/2006/relationships/image" Target="../media/image99.emf"/><Relationship Id="rId4" Type="http://schemas.openxmlformats.org/officeDocument/2006/relationships/image" Target="../media/image98.emf"/></Relationships>
</file>

<file path=ppt/slides/_rels/slide58.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102.png"/><Relationship Id="rId1" Type="http://schemas.openxmlformats.org/officeDocument/2006/relationships/slideLayout" Target="../slideLayouts/slideLayout2.xml"/><Relationship Id="rId4" Type="http://schemas.openxmlformats.org/officeDocument/2006/relationships/image" Target="../media/image104.emf"/></Relationships>
</file>

<file path=ppt/slides/_rels/slide60.xml.rels><?xml version="1.0" encoding="UTF-8" standalone="yes"?>
<Relationships xmlns="http://schemas.openxmlformats.org/package/2006/relationships"><Relationship Id="rId3" Type="http://schemas.openxmlformats.org/officeDocument/2006/relationships/image" Target="../media/image104.emf"/><Relationship Id="rId7" Type="http://schemas.openxmlformats.org/officeDocument/2006/relationships/image" Target="../media/image103.png"/><Relationship Id="rId2" Type="http://schemas.openxmlformats.org/officeDocument/2006/relationships/image" Target="../media/image102.png"/><Relationship Id="rId1" Type="http://schemas.openxmlformats.org/officeDocument/2006/relationships/slideLayout" Target="../slideLayouts/slideLayout2.xml"/><Relationship Id="rId6" Type="http://schemas.openxmlformats.org/officeDocument/2006/relationships/image" Target="../media/image107.png"/><Relationship Id="rId5" Type="http://schemas.openxmlformats.org/officeDocument/2006/relationships/image" Target="../media/image106.png"/><Relationship Id="rId4" Type="http://schemas.openxmlformats.org/officeDocument/2006/relationships/image" Target="../media/image105.png"/></Relationships>
</file>

<file path=ppt/slides/_rels/slide61.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image" Target="../media/image108.emf"/><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108.emf"/><Relationship Id="rId1" Type="http://schemas.openxmlformats.org/officeDocument/2006/relationships/slideLayout" Target="../slideLayouts/slideLayout2.xml"/><Relationship Id="rId6" Type="http://schemas.openxmlformats.org/officeDocument/2006/relationships/image" Target="../media/image112.png"/><Relationship Id="rId5" Type="http://schemas.openxmlformats.org/officeDocument/2006/relationships/image" Target="../media/image111.png"/><Relationship Id="rId4" Type="http://schemas.openxmlformats.org/officeDocument/2006/relationships/image" Target="../media/image109.png"/></Relationships>
</file>

<file path=ppt/slides/_rels/slide63.xml.rels><?xml version="1.0" encoding="UTF-8" standalone="yes"?>
<Relationships xmlns="http://schemas.openxmlformats.org/package/2006/relationships"><Relationship Id="rId3" Type="http://schemas.openxmlformats.org/officeDocument/2006/relationships/package" Target="../embeddings/Microsoft_Word_Document1.docx"/><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115.png"/><Relationship Id="rId5" Type="http://schemas.openxmlformats.org/officeDocument/2006/relationships/image" Target="../media/image114.png"/><Relationship Id="rId4" Type="http://schemas.openxmlformats.org/officeDocument/2006/relationships/image" Target="../media/image113.emf"/></Relationships>
</file>

<file path=ppt/slides/_rels/slide64.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image" Target="../media/image116.png"/><Relationship Id="rId1" Type="http://schemas.openxmlformats.org/officeDocument/2006/relationships/slideLayout" Target="../slideLayouts/slideLayout2.xml"/><Relationship Id="rId4" Type="http://schemas.openxmlformats.org/officeDocument/2006/relationships/image" Target="../media/image118.png"/></Relationships>
</file>

<file path=ppt/slides/_rels/slide65.xml.rels><?xml version="1.0" encoding="UTF-8" standalone="yes"?>
<Relationships xmlns="http://schemas.openxmlformats.org/package/2006/relationships"><Relationship Id="rId3" Type="http://schemas.openxmlformats.org/officeDocument/2006/relationships/image" Target="../media/image76.png"/><Relationship Id="rId7" Type="http://schemas.openxmlformats.org/officeDocument/2006/relationships/image" Target="../media/image115.png"/><Relationship Id="rId2" Type="http://schemas.openxmlformats.org/officeDocument/2006/relationships/image" Target="../media/image119.emf"/><Relationship Id="rId1" Type="http://schemas.openxmlformats.org/officeDocument/2006/relationships/slideLayout" Target="../slideLayouts/slideLayout2.xml"/><Relationship Id="rId6" Type="http://schemas.openxmlformats.org/officeDocument/2006/relationships/image" Target="../media/image101.png"/><Relationship Id="rId5" Type="http://schemas.openxmlformats.org/officeDocument/2006/relationships/image" Target="../media/image121.png"/><Relationship Id="rId4" Type="http://schemas.openxmlformats.org/officeDocument/2006/relationships/image" Target="../media/image120.emf"/></Relationships>
</file>

<file path=ppt/slides/_rels/slide66.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image" Target="../media/image122.emf"/><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image" Target="../media/image122.emf"/><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image" Target="../media/image122.emf"/><Relationship Id="rId1" Type="http://schemas.openxmlformats.org/officeDocument/2006/relationships/slideLayout" Target="../slideLayouts/slideLayout2.xml"/><Relationship Id="rId5" Type="http://schemas.openxmlformats.org/officeDocument/2006/relationships/image" Target="../media/image125.png"/><Relationship Id="rId4" Type="http://schemas.openxmlformats.org/officeDocument/2006/relationships/image" Target="../media/image123.png"/></Relationships>
</file>

<file path=ppt/slides/_rels/slide69.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image" Target="../media/image126.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image" Target="../media/image126.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image" Target="../media/image128.png"/><Relationship Id="rId1" Type="http://schemas.openxmlformats.org/officeDocument/2006/relationships/slideLayout" Target="../slideLayouts/slideLayout2.xml"/><Relationship Id="rId5" Type="http://schemas.openxmlformats.org/officeDocument/2006/relationships/image" Target="../media/image127.png"/><Relationship Id="rId4" Type="http://schemas.openxmlformats.org/officeDocument/2006/relationships/image" Target="../media/image126.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106.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8" Type="http://schemas.openxmlformats.org/officeDocument/2006/relationships/image" Target="../media/image136.png"/><Relationship Id="rId3" Type="http://schemas.openxmlformats.org/officeDocument/2006/relationships/image" Target="../media/image101.png"/><Relationship Id="rId7" Type="http://schemas.openxmlformats.org/officeDocument/2006/relationships/image" Target="../media/image135.png"/><Relationship Id="rId12" Type="http://schemas.openxmlformats.org/officeDocument/2006/relationships/image" Target="../media/image139.png"/><Relationship Id="rId2" Type="http://schemas.openxmlformats.org/officeDocument/2006/relationships/image" Target="../media/image131.png"/><Relationship Id="rId1" Type="http://schemas.openxmlformats.org/officeDocument/2006/relationships/slideLayout" Target="../slideLayouts/slideLayout2.xml"/><Relationship Id="rId6" Type="http://schemas.openxmlformats.org/officeDocument/2006/relationships/image" Target="../media/image134.png"/><Relationship Id="rId11" Type="http://schemas.openxmlformats.org/officeDocument/2006/relationships/image" Target="../media/image103.png"/><Relationship Id="rId5" Type="http://schemas.openxmlformats.org/officeDocument/2006/relationships/image" Target="../media/image133.png"/><Relationship Id="rId10" Type="http://schemas.openxmlformats.org/officeDocument/2006/relationships/image" Target="../media/image138.png"/><Relationship Id="rId4" Type="http://schemas.openxmlformats.org/officeDocument/2006/relationships/image" Target="../media/image132.png"/><Relationship Id="rId9" Type="http://schemas.openxmlformats.org/officeDocument/2006/relationships/image" Target="../media/image137.png"/></Relationships>
</file>

<file path=ppt/slides/_rels/slide75.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image" Target="../media/image101.png"/><Relationship Id="rId1" Type="http://schemas.openxmlformats.org/officeDocument/2006/relationships/slideLayout" Target="../slideLayouts/slideLayout2.xml"/><Relationship Id="rId5" Type="http://schemas.openxmlformats.org/officeDocument/2006/relationships/image" Target="../media/image142.png"/><Relationship Id="rId4" Type="http://schemas.openxmlformats.org/officeDocument/2006/relationships/image" Target="../media/image141.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image" Target="../media/image143.png"/><Relationship Id="rId1" Type="http://schemas.openxmlformats.org/officeDocument/2006/relationships/slideLayout" Target="../slideLayouts/slideLayout2.xml"/><Relationship Id="rId5" Type="http://schemas.openxmlformats.org/officeDocument/2006/relationships/image" Target="../media/image146.emf"/><Relationship Id="rId4" Type="http://schemas.openxmlformats.org/officeDocument/2006/relationships/image" Target="../media/image145.emf"/></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image" Target="../media/image147.png"/><Relationship Id="rId1" Type="http://schemas.openxmlformats.org/officeDocument/2006/relationships/slideLayout" Target="../slideLayouts/slideLayout2.xml"/><Relationship Id="rId4" Type="http://schemas.openxmlformats.org/officeDocument/2006/relationships/image" Target="../media/image148.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149.png"/><Relationship Id="rId2" Type="http://schemas.openxmlformats.org/officeDocument/2006/relationships/image" Target="../media/image12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MEASURES OF DISPERSION</a:t>
            </a:r>
            <a:endParaRPr lang="en-US" dirty="0"/>
          </a:p>
        </p:txBody>
      </p:sp>
      <p:sp>
        <p:nvSpPr>
          <p:cNvPr id="5" name="Subtitle 4"/>
          <p:cNvSpPr>
            <a:spLocks noGrp="1"/>
          </p:cNvSpPr>
          <p:nvPr>
            <p:ph type="subTitle" idx="1"/>
          </p:nvPr>
        </p:nvSpPr>
        <p:spPr/>
        <p:txBody>
          <a:bodyPr/>
          <a:lstStyle/>
          <a:p>
            <a:endParaRPr lang="en-US"/>
          </a:p>
        </p:txBody>
      </p:sp>
    </p:spTree>
    <p:extLst>
      <p:ext uri="{BB962C8B-B14F-4D97-AF65-F5344CB8AC3E}">
        <p14:creationId xmlns:p14="http://schemas.microsoft.com/office/powerpoint/2010/main" val="147753615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7288" y="30804"/>
            <a:ext cx="9030511" cy="6827196"/>
          </a:xfrm>
        </p:spPr>
        <p:txBody>
          <a:bodyPr>
            <a:normAutofit/>
          </a:bodyPr>
          <a:lstStyle/>
          <a:p>
            <a:pPr algn="just"/>
            <a:r>
              <a:rPr lang="en-US" sz="3600" dirty="0"/>
              <a:t>The </a:t>
            </a:r>
            <a:r>
              <a:rPr lang="en-US" sz="3600" b="1" i="1" u="sng" dirty="0"/>
              <a:t>measures of central tendency</a:t>
            </a:r>
            <a:r>
              <a:rPr lang="en-US" sz="3600" dirty="0"/>
              <a:t> </a:t>
            </a:r>
            <a:r>
              <a:rPr lang="en-US" sz="3600" u="sng" dirty="0">
                <a:solidFill>
                  <a:srgbClr val="FF0000"/>
                </a:solidFill>
                <a:effectLst>
                  <a:outerShdw blurRad="38100" dist="38100" dir="2700000" algn="tl">
                    <a:srgbClr val="000000">
                      <a:alpha val="43137"/>
                    </a:srgbClr>
                  </a:outerShdw>
                </a:effectLst>
              </a:rPr>
              <a:t>describe</a:t>
            </a:r>
            <a:r>
              <a:rPr lang="en-US" sz="3600" dirty="0"/>
              <a:t> that the </a:t>
            </a:r>
            <a:r>
              <a:rPr lang="en-US" sz="3600" dirty="0">
                <a:solidFill>
                  <a:srgbClr val="0033CC"/>
                </a:solidFill>
                <a:effectLst>
                  <a:outerShdw blurRad="38100" dist="38100" dir="2700000" algn="tl">
                    <a:srgbClr val="000000">
                      <a:alpha val="43137"/>
                    </a:srgbClr>
                  </a:outerShdw>
                </a:effectLst>
              </a:rPr>
              <a:t>major part of values in the data set </a:t>
            </a:r>
            <a:r>
              <a:rPr lang="en-US" sz="3600" b="1" dirty="0">
                <a:solidFill>
                  <a:srgbClr val="7030A0"/>
                </a:solidFill>
              </a:rPr>
              <a:t>appears to concentrate </a:t>
            </a:r>
            <a:r>
              <a:rPr lang="en-US" sz="3600" b="1" dirty="0" smtClean="0">
                <a:solidFill>
                  <a:srgbClr val="7030A0"/>
                </a:solidFill>
              </a:rPr>
              <a:t>( or cluster</a:t>
            </a:r>
            <a:r>
              <a:rPr lang="en-US" sz="3600" b="1" dirty="0">
                <a:solidFill>
                  <a:srgbClr val="7030A0"/>
                </a:solidFill>
              </a:rPr>
              <a:t>) around a central value called </a:t>
            </a:r>
            <a:r>
              <a:rPr lang="en-US" sz="3600" b="1" i="1" dirty="0">
                <a:solidFill>
                  <a:srgbClr val="7030A0"/>
                </a:solidFill>
              </a:rPr>
              <a:t>average</a:t>
            </a:r>
            <a:r>
              <a:rPr lang="en-US" sz="3600" dirty="0"/>
              <a:t> with the </a:t>
            </a:r>
            <a:r>
              <a:rPr lang="en-US" sz="3600" dirty="0">
                <a:effectLst>
                  <a:outerShdw blurRad="38100" dist="38100" dir="2700000" algn="tl">
                    <a:srgbClr val="000000">
                      <a:alpha val="43137"/>
                    </a:srgbClr>
                  </a:outerShdw>
                </a:effectLst>
              </a:rPr>
              <a:t>remaining values scattered (spread or distributed) on either sides of that value</a:t>
            </a:r>
            <a:r>
              <a:rPr lang="en-US" sz="3600" dirty="0"/>
              <a:t>. </a:t>
            </a:r>
            <a:endParaRPr lang="en-US" sz="3600" dirty="0" smtClean="0"/>
          </a:p>
          <a:p>
            <a:pPr algn="just"/>
            <a:endParaRPr lang="en-US" sz="3600" dirty="0" smtClean="0"/>
          </a:p>
          <a:p>
            <a:pPr algn="just"/>
            <a:r>
              <a:rPr lang="en-US" sz="3600" dirty="0" smtClean="0"/>
              <a:t>But </a:t>
            </a:r>
            <a:r>
              <a:rPr lang="en-US" sz="3600" dirty="0"/>
              <a:t>these measures </a:t>
            </a:r>
            <a:r>
              <a:rPr lang="en-US" sz="3600" i="1" dirty="0">
                <a:solidFill>
                  <a:srgbClr val="FF0000"/>
                </a:solidFill>
                <a:effectLst>
                  <a:outerShdw blurRad="38100" dist="38100" dir="2700000" algn="tl">
                    <a:srgbClr val="000000">
                      <a:alpha val="43137"/>
                    </a:srgbClr>
                  </a:outerShdw>
                </a:effectLst>
              </a:rPr>
              <a:t>do not reveal how these values are dispersed</a:t>
            </a:r>
            <a:r>
              <a:rPr lang="en-US" sz="3600" dirty="0"/>
              <a:t> </a:t>
            </a:r>
            <a:r>
              <a:rPr lang="en-US" sz="3600" u="sng" dirty="0">
                <a:solidFill>
                  <a:srgbClr val="CC00FF"/>
                </a:solidFill>
                <a:effectLst>
                  <a:outerShdw blurRad="38100" dist="38100" dir="2700000" algn="tl">
                    <a:srgbClr val="000000">
                      <a:alpha val="43137"/>
                    </a:srgbClr>
                  </a:outerShdw>
                </a:effectLst>
              </a:rPr>
              <a:t>(spread or scatter) </a:t>
            </a:r>
            <a:r>
              <a:rPr lang="en-US" sz="3600" dirty="0"/>
              <a:t>on each side of the central value. </a:t>
            </a:r>
            <a:endParaRPr lang="en-US" dirty="0" smtClean="0"/>
          </a:p>
          <a:p>
            <a:pPr marL="0" indent="0" algn="just">
              <a:buNone/>
            </a:pPr>
            <a:endParaRPr lang="en-US" dirty="0" smtClean="0"/>
          </a:p>
        </p:txBody>
      </p:sp>
    </p:spTree>
    <p:extLst>
      <p:ext uri="{BB962C8B-B14F-4D97-AF65-F5344CB8AC3E}">
        <p14:creationId xmlns:p14="http://schemas.microsoft.com/office/powerpoint/2010/main" val="121871963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fontScale="85000" lnSpcReduction="10000"/>
          </a:bodyPr>
          <a:lstStyle/>
          <a:p>
            <a:pPr marL="0" indent="0" algn="ctr">
              <a:buNone/>
            </a:pPr>
            <a:r>
              <a:rPr lang="en-US" sz="3500" b="1" dirty="0" smtClean="0">
                <a:solidFill>
                  <a:srgbClr val="00CCFF"/>
                </a:solidFill>
                <a:effectLst>
                  <a:outerShdw blurRad="38100" dist="38100" dir="2700000" algn="tl">
                    <a:srgbClr val="000000">
                      <a:alpha val="43137"/>
                    </a:srgbClr>
                  </a:outerShdw>
                </a:effectLst>
              </a:rPr>
              <a:t>THE STATISTICAL TECHNIQUES TO MEASURE SUCH DISPERSION ARE OF TWO TYPES</a:t>
            </a:r>
          </a:p>
          <a:p>
            <a:pPr marL="0" indent="0" algn="just">
              <a:buNone/>
            </a:pPr>
            <a:endParaRPr lang="en-US" dirty="0" smtClean="0"/>
          </a:p>
          <a:p>
            <a:pPr lvl="0" algn="just"/>
            <a:r>
              <a:rPr lang="en-US" dirty="0" smtClean="0"/>
              <a:t>Techniques that are used to </a:t>
            </a:r>
            <a:r>
              <a:rPr lang="en-US" b="1" dirty="0" smtClean="0">
                <a:effectLst>
                  <a:outerShdw blurRad="38100" dist="38100" dir="2700000" algn="tl">
                    <a:srgbClr val="000000">
                      <a:alpha val="43137"/>
                    </a:srgbClr>
                  </a:outerShdw>
                </a:effectLst>
              </a:rPr>
              <a:t>measure the extent of variation</a:t>
            </a:r>
            <a:r>
              <a:rPr lang="en-US" dirty="0" smtClean="0"/>
              <a:t> or </a:t>
            </a:r>
            <a:r>
              <a:rPr lang="en-US" b="1" dirty="0" smtClean="0">
                <a:solidFill>
                  <a:srgbClr val="FF0000"/>
                </a:solidFill>
              </a:rPr>
              <a:t>the deviation</a:t>
            </a:r>
            <a:r>
              <a:rPr lang="en-US" dirty="0" smtClean="0"/>
              <a:t> </a:t>
            </a:r>
            <a:r>
              <a:rPr lang="en-US" sz="3000" i="1" u="sng" dirty="0" smtClean="0">
                <a:effectLst>
                  <a:outerShdw blurRad="38100" dist="38100" dir="2700000" algn="tl">
                    <a:srgbClr val="000000">
                      <a:alpha val="43137"/>
                    </a:srgbClr>
                  </a:outerShdw>
                </a:effectLst>
              </a:rPr>
              <a:t>(also called degree of variation)</a:t>
            </a:r>
            <a:r>
              <a:rPr lang="en-US" sz="3000" i="1" dirty="0" smtClean="0">
                <a:effectLst>
                  <a:outerShdw blurRad="38100" dist="38100" dir="2700000" algn="tl">
                    <a:srgbClr val="000000">
                      <a:alpha val="43137"/>
                    </a:srgbClr>
                  </a:outerShdw>
                </a:effectLst>
              </a:rPr>
              <a:t> </a:t>
            </a:r>
            <a:r>
              <a:rPr lang="en-US" b="1" dirty="0" smtClean="0">
                <a:solidFill>
                  <a:srgbClr val="0033CC"/>
                </a:solidFill>
              </a:rPr>
              <a:t>of each value</a:t>
            </a:r>
            <a:r>
              <a:rPr lang="en-US" dirty="0" smtClean="0"/>
              <a:t> </a:t>
            </a:r>
            <a:r>
              <a:rPr lang="en-US" b="1" dirty="0" smtClean="0">
                <a:solidFill>
                  <a:srgbClr val="FF0066"/>
                </a:solidFill>
              </a:rPr>
              <a:t>in the data set</a:t>
            </a:r>
            <a:r>
              <a:rPr lang="en-US" dirty="0" smtClean="0"/>
              <a:t> </a:t>
            </a:r>
            <a:r>
              <a:rPr lang="en-US" dirty="0" smtClean="0">
                <a:solidFill>
                  <a:schemeClr val="bg2">
                    <a:lumMod val="25000"/>
                  </a:schemeClr>
                </a:solidFill>
                <a:effectLst>
                  <a:outerShdw blurRad="38100" dist="38100" dir="2700000" algn="tl">
                    <a:srgbClr val="000000">
                      <a:alpha val="43137"/>
                    </a:srgbClr>
                  </a:outerShdw>
                </a:effectLst>
              </a:rPr>
              <a:t>from a measure of central tendency</a:t>
            </a:r>
            <a:r>
              <a:rPr lang="en-US" dirty="0" smtClean="0"/>
              <a:t> usually the mean or median.        Such statistical techniques are called </a:t>
            </a:r>
            <a:r>
              <a:rPr lang="en-US" b="1" i="1" u="sng" dirty="0" smtClean="0">
                <a:solidFill>
                  <a:srgbClr val="9966FF"/>
                </a:solidFill>
              </a:rPr>
              <a:t>measures of dispersion</a:t>
            </a:r>
            <a:r>
              <a:rPr lang="en-US" b="1" u="sng" dirty="0" smtClean="0">
                <a:solidFill>
                  <a:srgbClr val="9966FF"/>
                </a:solidFill>
              </a:rPr>
              <a:t> (or </a:t>
            </a:r>
            <a:r>
              <a:rPr lang="en-US" b="1" i="1" u="sng" dirty="0" smtClean="0">
                <a:solidFill>
                  <a:srgbClr val="9966FF"/>
                </a:solidFill>
              </a:rPr>
              <a:t>variation</a:t>
            </a:r>
            <a:r>
              <a:rPr lang="en-US" b="1" u="sng" dirty="0" smtClean="0">
                <a:solidFill>
                  <a:srgbClr val="9966FF"/>
                </a:solidFill>
              </a:rPr>
              <a:t>).</a:t>
            </a:r>
          </a:p>
          <a:p>
            <a:pPr lvl="0" algn="just"/>
            <a:endParaRPr lang="en-US" b="1" u="sng" dirty="0" smtClean="0">
              <a:solidFill>
                <a:srgbClr val="9966FF"/>
              </a:solidFill>
            </a:endParaRPr>
          </a:p>
          <a:p>
            <a:pPr algn="just"/>
            <a:r>
              <a:rPr lang="en-US" dirty="0" smtClean="0"/>
              <a:t>To measure the dispersion, understanding it, and identifying its causes is very important in statistical inference. </a:t>
            </a:r>
          </a:p>
          <a:p>
            <a:pPr algn="just"/>
            <a:endParaRPr lang="en-US" dirty="0" smtClean="0"/>
          </a:p>
          <a:p>
            <a:pPr algn="just"/>
            <a:r>
              <a:rPr lang="en-US" dirty="0" smtClean="0"/>
              <a:t>Conversely, </a:t>
            </a:r>
            <a:r>
              <a:rPr lang="en-US" u="sng" dirty="0" smtClean="0">
                <a:effectLst>
                  <a:outerShdw blurRad="38100" dist="38100" dir="2700000" algn="tl">
                    <a:srgbClr val="000000">
                      <a:alpha val="43137"/>
                    </a:srgbClr>
                  </a:outerShdw>
                </a:effectLst>
              </a:rPr>
              <a:t>a large dispersion among values in the data set indicates </a:t>
            </a:r>
            <a:r>
              <a:rPr lang="en-US" b="1" dirty="0" smtClean="0">
                <a:solidFill>
                  <a:srgbClr val="FF0000"/>
                </a:solidFill>
                <a:effectLst>
                  <a:outerShdw blurRad="38100" dist="38100" dir="2700000" algn="tl">
                    <a:srgbClr val="000000">
                      <a:alpha val="43137"/>
                    </a:srgbClr>
                  </a:outerShdw>
                </a:effectLst>
              </a:rPr>
              <a:t>that the mean is not reliable</a:t>
            </a:r>
            <a:r>
              <a:rPr lang="en-US" dirty="0" smtClean="0"/>
              <a:t>, </a:t>
            </a:r>
            <a:r>
              <a:rPr lang="en-US" b="1" dirty="0" smtClean="0"/>
              <a:t>i.e. it is not representative of the data.</a:t>
            </a:r>
          </a:p>
          <a:p>
            <a:pPr lvl="0" algn="just"/>
            <a:endParaRPr lang="en-US" b="1" u="sng" dirty="0" smtClean="0">
              <a:solidFill>
                <a:srgbClr val="9966FF"/>
              </a:solidFill>
            </a:endParaRPr>
          </a:p>
          <a:p>
            <a:pPr marL="0" lvl="0" indent="0" algn="just">
              <a:buNone/>
            </a:pPr>
            <a:endParaRPr lang="en-US" dirty="0" smtClean="0"/>
          </a:p>
          <a:p>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934200"/>
          </a:xfrm>
        </p:spPr>
        <p:txBody>
          <a:bodyPr>
            <a:normAutofit fontScale="92500" lnSpcReduction="20000"/>
          </a:bodyPr>
          <a:lstStyle/>
          <a:p>
            <a:pPr marL="0" indent="0" algn="ctr">
              <a:buNone/>
            </a:pPr>
            <a:r>
              <a:rPr lang="en-US" sz="3000" b="1" dirty="0" smtClean="0">
                <a:solidFill>
                  <a:srgbClr val="FF0000"/>
                </a:solidFill>
              </a:rPr>
              <a:t>SIGNIFICANCE OF MEASURING DISPERSION (VARIATION)</a:t>
            </a:r>
          </a:p>
          <a:p>
            <a:pPr marL="0" indent="0" algn="ctr">
              <a:buNone/>
            </a:pPr>
            <a:endParaRPr lang="en-US" sz="2800" b="1" dirty="0" smtClean="0">
              <a:solidFill>
                <a:srgbClr val="FF0000"/>
              </a:solidFill>
            </a:endParaRPr>
          </a:p>
          <a:p>
            <a:pPr marL="514350" indent="-514350" algn="just">
              <a:buAutoNum type="arabicPeriod"/>
            </a:pPr>
            <a:r>
              <a:rPr lang="en-US" b="1" dirty="0" smtClean="0">
                <a:solidFill>
                  <a:srgbClr val="0070C0"/>
                </a:solidFill>
              </a:rPr>
              <a:t>Test the reliability of an average: </a:t>
            </a:r>
          </a:p>
          <a:p>
            <a:pPr marL="0" indent="0" algn="just">
              <a:buNone/>
            </a:pPr>
            <a:r>
              <a:rPr lang="en-US" b="1" u="sng" dirty="0" smtClean="0"/>
              <a:t>Measures of variation</a:t>
            </a:r>
            <a:r>
              <a:rPr lang="en-US" b="1" dirty="0" smtClean="0"/>
              <a:t> </a:t>
            </a:r>
            <a:r>
              <a:rPr lang="en-US" dirty="0" smtClean="0"/>
              <a:t>are used to test to </a:t>
            </a:r>
            <a:r>
              <a:rPr lang="en-US" i="1" dirty="0" smtClean="0">
                <a:effectLst>
                  <a:outerShdw blurRad="38100" dist="38100" dir="2700000" algn="tl">
                    <a:srgbClr val="000000">
                      <a:alpha val="43137"/>
                    </a:srgbClr>
                  </a:outerShdw>
                </a:effectLst>
              </a:rPr>
              <a:t>what extent an average represents the characteristic of a data set</a:t>
            </a:r>
            <a:r>
              <a:rPr lang="en-US" dirty="0" smtClean="0"/>
              <a:t>. </a:t>
            </a:r>
          </a:p>
          <a:p>
            <a:pPr marL="0" indent="0" algn="just">
              <a:buNone/>
            </a:pPr>
            <a:endParaRPr lang="en-US" dirty="0" smtClean="0"/>
          </a:p>
          <a:p>
            <a:pPr marL="0" indent="0" algn="just">
              <a:buNone/>
            </a:pPr>
            <a:r>
              <a:rPr lang="en-US" u="sng" dirty="0" smtClean="0">
                <a:solidFill>
                  <a:srgbClr val="9966FF"/>
                </a:solidFill>
                <a:effectLst>
                  <a:outerShdw blurRad="38100" dist="38100" dir="2700000" algn="tl">
                    <a:srgbClr val="000000">
                      <a:alpha val="43137"/>
                    </a:srgbClr>
                  </a:outerShdw>
                </a:effectLst>
              </a:rPr>
              <a:t>If the variation is small</a:t>
            </a:r>
            <a:r>
              <a:rPr lang="en-US" dirty="0" smtClean="0"/>
              <a:t>, that is, </a:t>
            </a:r>
            <a:r>
              <a:rPr lang="en-US" b="1" u="dbl" dirty="0" smtClean="0">
                <a:effectLst>
                  <a:outerShdw blurRad="38100" dist="38100" dir="2700000" algn="tl">
                    <a:srgbClr val="000000">
                      <a:alpha val="43137"/>
                    </a:srgbClr>
                  </a:outerShdw>
                </a:effectLst>
                <a:uFill>
                  <a:solidFill>
                    <a:srgbClr val="FF0066"/>
                  </a:solidFill>
                </a:uFill>
              </a:rPr>
              <a:t>extent of dispersion</a:t>
            </a:r>
            <a:r>
              <a:rPr lang="en-US" dirty="0" smtClean="0"/>
              <a:t> or </a:t>
            </a:r>
            <a:r>
              <a:rPr lang="en-US" b="1" u="dbl" dirty="0" smtClean="0">
                <a:solidFill>
                  <a:srgbClr val="0000FF"/>
                </a:solidFill>
                <a:uFill>
                  <a:solidFill>
                    <a:srgbClr val="FFFF00"/>
                  </a:solidFill>
                </a:uFill>
              </a:rPr>
              <a:t>scatter is less on each side</a:t>
            </a:r>
            <a:r>
              <a:rPr lang="en-US" dirty="0" smtClean="0"/>
              <a:t> </a:t>
            </a:r>
            <a:r>
              <a:rPr lang="en-US" i="1" dirty="0" smtClean="0">
                <a:effectLst>
                  <a:outerShdw blurRad="38100" dist="38100" dir="2700000" algn="tl">
                    <a:srgbClr val="000000">
                      <a:alpha val="43137"/>
                    </a:srgbClr>
                  </a:outerShdw>
                </a:effectLst>
              </a:rPr>
              <a:t>of an average</a:t>
            </a:r>
            <a:r>
              <a:rPr lang="en-US" dirty="0" smtClean="0"/>
              <a:t>, </a:t>
            </a:r>
            <a:r>
              <a:rPr lang="en-US" u="sng" dirty="0" smtClean="0">
                <a:solidFill>
                  <a:srgbClr val="FF0000"/>
                </a:solidFill>
              </a:rPr>
              <a:t>then it indicates</a:t>
            </a:r>
            <a:r>
              <a:rPr lang="en-US" dirty="0" smtClean="0"/>
              <a:t> </a:t>
            </a:r>
            <a:r>
              <a:rPr lang="en-US" i="1" u="dbl" dirty="0" smtClean="0">
                <a:solidFill>
                  <a:srgbClr val="CC00FF"/>
                </a:solidFill>
                <a:effectLst>
                  <a:outerShdw blurRad="38100" dist="38100" dir="2700000" algn="tl">
                    <a:srgbClr val="000000">
                      <a:alpha val="43137"/>
                    </a:srgbClr>
                  </a:outerShdw>
                </a:effectLst>
                <a:uFill>
                  <a:solidFill>
                    <a:srgbClr val="0000FF"/>
                  </a:solidFill>
                </a:uFill>
              </a:rPr>
              <a:t>high uniformity of values in the distribution </a:t>
            </a:r>
            <a:r>
              <a:rPr lang="en-US" dirty="0" smtClean="0"/>
              <a:t>and the </a:t>
            </a:r>
            <a:r>
              <a:rPr lang="en-US" u="sng" dirty="0" smtClean="0">
                <a:effectLst>
                  <a:outerShdw blurRad="38100" dist="38100" dir="2700000" algn="tl">
                    <a:srgbClr val="000000">
                      <a:alpha val="43137"/>
                    </a:srgbClr>
                  </a:outerShdw>
                </a:effectLst>
              </a:rPr>
              <a:t>average represents</a:t>
            </a:r>
            <a:r>
              <a:rPr lang="en-US" dirty="0" smtClean="0"/>
              <a:t> an </a:t>
            </a:r>
            <a:r>
              <a:rPr lang="en-US" u="sng" dirty="0" smtClean="0">
                <a:solidFill>
                  <a:srgbClr val="FF0000"/>
                </a:solidFill>
                <a:effectLst>
                  <a:outerShdw blurRad="38100" dist="38100" dir="2700000" algn="tl">
                    <a:srgbClr val="000000">
                      <a:alpha val="43137"/>
                    </a:srgbClr>
                  </a:outerShdw>
                </a:effectLst>
              </a:rPr>
              <a:t>individual value</a:t>
            </a:r>
            <a:r>
              <a:rPr lang="en-US" dirty="0" smtClean="0"/>
              <a:t> in the data set. </a:t>
            </a:r>
          </a:p>
          <a:p>
            <a:pPr marL="0" indent="0" algn="just">
              <a:buNone/>
            </a:pPr>
            <a:endParaRPr lang="en-US" dirty="0" smtClean="0"/>
          </a:p>
          <a:p>
            <a:pPr marL="0" indent="0" algn="just">
              <a:buNone/>
            </a:pPr>
            <a:r>
              <a:rPr lang="en-US" dirty="0" smtClean="0"/>
              <a:t>On the other hand, </a:t>
            </a:r>
            <a:r>
              <a:rPr lang="en-US" b="1" u="sng" dirty="0" smtClean="0">
                <a:solidFill>
                  <a:srgbClr val="CC00FF"/>
                </a:solidFill>
                <a:effectLst>
                  <a:outerShdw blurRad="38100" dist="38100" dir="2700000" algn="tl">
                    <a:srgbClr val="000000">
                      <a:alpha val="43137"/>
                    </a:srgbClr>
                  </a:outerShdw>
                </a:effectLst>
              </a:rPr>
              <a:t>if the variation is large</a:t>
            </a:r>
            <a:r>
              <a:rPr lang="en-US" dirty="0" smtClean="0"/>
              <a:t>, then it </a:t>
            </a:r>
            <a:r>
              <a:rPr lang="en-US" u="sng" dirty="0" smtClean="0">
                <a:solidFill>
                  <a:srgbClr val="0000FF"/>
                </a:solidFill>
                <a:effectLst>
                  <a:outerShdw blurRad="38100" dist="38100" dir="2700000" algn="tl">
                    <a:srgbClr val="000000">
                      <a:alpha val="43137"/>
                    </a:srgbClr>
                  </a:outerShdw>
                </a:effectLst>
              </a:rPr>
              <a:t>indicates a lower degree of uniformity</a:t>
            </a:r>
            <a:r>
              <a:rPr lang="en-US" dirty="0" smtClean="0">
                <a:solidFill>
                  <a:srgbClr val="0000FF"/>
                </a:solidFill>
                <a:effectLst>
                  <a:outerShdw blurRad="38100" dist="38100" dir="2700000" algn="tl">
                    <a:srgbClr val="000000">
                      <a:alpha val="43137"/>
                    </a:srgbClr>
                  </a:outerShdw>
                </a:effectLst>
              </a:rPr>
              <a:t> </a:t>
            </a:r>
            <a:r>
              <a:rPr lang="en-US" dirty="0" smtClean="0"/>
              <a:t>in values in the data set, and the average may be unreliable. No variation indicates perfect uniformity and, therefore, values in the data set are identical.</a:t>
            </a:r>
          </a:p>
          <a:p>
            <a:endParaRPr lang="en-US" dirty="0"/>
          </a:p>
        </p:txBody>
      </p:sp>
    </p:spTree>
    <p:extLst>
      <p:ext uri="{BB962C8B-B14F-4D97-AF65-F5344CB8AC3E}">
        <p14:creationId xmlns:p14="http://schemas.microsoft.com/office/powerpoint/2010/main" val="392372540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fontScale="92500" lnSpcReduction="10000"/>
          </a:bodyPr>
          <a:lstStyle/>
          <a:p>
            <a:pPr marL="514350" indent="-514350" algn="just">
              <a:buAutoNum type="arabicPeriod" startAt="2"/>
            </a:pPr>
            <a:r>
              <a:rPr lang="en-US" b="1" dirty="0" smtClean="0">
                <a:solidFill>
                  <a:srgbClr val="0070C0"/>
                </a:solidFill>
              </a:rPr>
              <a:t>Control the variability</a:t>
            </a:r>
          </a:p>
          <a:p>
            <a:pPr marL="0" indent="0" algn="just">
              <a:buNone/>
            </a:pPr>
            <a:r>
              <a:rPr lang="en-US" dirty="0" smtClean="0"/>
              <a:t>Measuring of variation </a:t>
            </a:r>
            <a:r>
              <a:rPr lang="en-US" b="1" u="sng" dirty="0" smtClean="0"/>
              <a:t>helps to identify the nature and causes of variation</a:t>
            </a:r>
            <a:r>
              <a:rPr lang="en-US" dirty="0" smtClean="0"/>
              <a:t>. </a:t>
            </a:r>
            <a:r>
              <a:rPr lang="en-US" dirty="0" smtClean="0">
                <a:solidFill>
                  <a:srgbClr val="0033CC"/>
                </a:solidFill>
                <a:effectLst>
                  <a:outerShdw blurRad="38100" dist="38100" dir="2700000" algn="tl">
                    <a:srgbClr val="000000">
                      <a:alpha val="43137"/>
                    </a:srgbClr>
                  </a:outerShdw>
                </a:effectLst>
              </a:rPr>
              <a:t>Such information is useful in controlling the variations. </a:t>
            </a:r>
          </a:p>
          <a:p>
            <a:pPr marL="0" indent="0" algn="just">
              <a:buNone/>
            </a:pPr>
            <a:endParaRPr lang="en-US" dirty="0">
              <a:solidFill>
                <a:srgbClr val="0033CC"/>
              </a:solidFill>
              <a:effectLst>
                <a:outerShdw blurRad="38100" dist="38100" dir="2700000" algn="tl">
                  <a:srgbClr val="000000">
                    <a:alpha val="43137"/>
                  </a:srgbClr>
                </a:outerShdw>
              </a:effectLst>
            </a:endParaRPr>
          </a:p>
          <a:p>
            <a:pPr marL="514350" indent="-514350" algn="just">
              <a:buAutoNum type="arabicPeriod" startAt="3"/>
            </a:pPr>
            <a:r>
              <a:rPr lang="en-US" b="1" dirty="0">
                <a:solidFill>
                  <a:srgbClr val="0070C0"/>
                </a:solidFill>
              </a:rPr>
              <a:t>Compare two or more sets of data with respect to their variability</a:t>
            </a:r>
          </a:p>
          <a:p>
            <a:pPr marL="0" indent="0" algn="just">
              <a:buNone/>
            </a:pPr>
            <a:r>
              <a:rPr lang="en-US" dirty="0"/>
              <a:t>Measures of variation help in the comparison of the spread in two or more sets of data with respect to their uniformity or consistency</a:t>
            </a:r>
            <a:r>
              <a:rPr lang="en-US" dirty="0" smtClean="0"/>
              <a:t>.</a:t>
            </a:r>
          </a:p>
          <a:p>
            <a:pPr marL="0" indent="0" algn="just">
              <a:buNone/>
            </a:pPr>
            <a:r>
              <a:rPr lang="en-US" b="1" dirty="0">
                <a:solidFill>
                  <a:srgbClr val="0033CC"/>
                </a:solidFill>
              </a:rPr>
              <a:t>For example</a:t>
            </a:r>
            <a:r>
              <a:rPr lang="en-US" dirty="0"/>
              <a:t>, </a:t>
            </a:r>
          </a:p>
          <a:p>
            <a:pPr marL="0" indent="0" algn="just">
              <a:buNone/>
            </a:pPr>
            <a:r>
              <a:rPr lang="en-US" dirty="0"/>
              <a:t>the measurement of variation in share prices and their comparison with respect to different companies over a period of time requires the measurement of variation</a:t>
            </a:r>
            <a:endParaRPr lang="en-US" dirty="0" smtClean="0">
              <a:solidFill>
                <a:srgbClr val="0033CC"/>
              </a:solidFill>
              <a:effectLst>
                <a:outerShdw blurRad="38100" dist="38100" dir="2700000" algn="tl">
                  <a:srgbClr val="000000">
                    <a:alpha val="43137"/>
                  </a:srgbClr>
                </a:outerShdw>
              </a:effectLst>
            </a:endParaRPr>
          </a:p>
          <a:p>
            <a:pPr marL="0" indent="0" algn="just">
              <a:buNone/>
            </a:pPr>
            <a:endParaRPr lang="en-US" dirty="0"/>
          </a:p>
        </p:txBody>
      </p:sp>
    </p:spTree>
    <p:extLst>
      <p:ext uri="{BB962C8B-B14F-4D97-AF65-F5344CB8AC3E}">
        <p14:creationId xmlns:p14="http://schemas.microsoft.com/office/powerpoint/2010/main" val="156775595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a:bodyPr>
          <a:lstStyle/>
          <a:p>
            <a:pPr marL="0" indent="0" algn="just">
              <a:buNone/>
            </a:pPr>
            <a:endParaRPr lang="en-US" dirty="0" smtClean="0"/>
          </a:p>
          <a:p>
            <a:pPr marL="0" indent="0" algn="just">
              <a:buNone/>
            </a:pPr>
            <a:r>
              <a:rPr lang="en-US" b="1" dirty="0" smtClean="0">
                <a:solidFill>
                  <a:srgbClr val="0070C0"/>
                </a:solidFill>
              </a:rPr>
              <a:t>4.	Facilitate the use of other statistical techniques: </a:t>
            </a:r>
            <a:r>
              <a:rPr lang="en-US" dirty="0" smtClean="0"/>
              <a:t>Measures of variation </a:t>
            </a:r>
            <a:r>
              <a:rPr lang="en-US" b="1" dirty="0" smtClean="0">
                <a:solidFill>
                  <a:srgbClr val="FF0000"/>
                </a:solidFill>
              </a:rPr>
              <a:t>facilitate the use of other statistical techniques</a:t>
            </a:r>
            <a:r>
              <a:rPr lang="en-US" dirty="0" smtClean="0"/>
              <a:t> such as correlation and regression analysis, hypothesis testing, forecasting, quality control, and so on.</a:t>
            </a:r>
          </a:p>
          <a:p>
            <a:endParaRPr lang="en-US" dirty="0" smtClean="0"/>
          </a:p>
          <a:p>
            <a:endParaRPr lang="en-US" dirty="0"/>
          </a:p>
        </p:txBody>
      </p:sp>
    </p:spTree>
    <p:extLst>
      <p:ext uri="{BB962C8B-B14F-4D97-AF65-F5344CB8AC3E}">
        <p14:creationId xmlns:p14="http://schemas.microsoft.com/office/powerpoint/2010/main" val="307127225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lnSpcReduction="10000"/>
          </a:bodyPr>
          <a:lstStyle/>
          <a:p>
            <a:pPr marL="0" indent="0">
              <a:buNone/>
            </a:pPr>
            <a:r>
              <a:rPr lang="en-US" b="1" dirty="0" smtClean="0">
                <a:solidFill>
                  <a:srgbClr val="0070C0"/>
                </a:solidFill>
              </a:rPr>
              <a:t>CLASSIFICATION OF MEASURES OF DISPERSION</a:t>
            </a:r>
          </a:p>
          <a:p>
            <a:pPr marL="0" indent="0" algn="just">
              <a:buNone/>
            </a:pPr>
            <a:r>
              <a:rPr lang="en-US" dirty="0" smtClean="0"/>
              <a:t>The various measures of dispersion (variation) can be classified into two categories:</a:t>
            </a:r>
          </a:p>
          <a:p>
            <a:pPr marL="0" indent="0" algn="just">
              <a:buNone/>
            </a:pPr>
            <a:r>
              <a:rPr lang="en-US" dirty="0" smtClean="0"/>
              <a:t>1.	Absolute measures, and</a:t>
            </a:r>
          </a:p>
          <a:p>
            <a:pPr marL="0" indent="0" algn="just">
              <a:buNone/>
            </a:pPr>
            <a:r>
              <a:rPr lang="en-US" dirty="0" smtClean="0"/>
              <a:t>2.	Relative measures</a:t>
            </a:r>
          </a:p>
          <a:p>
            <a:pPr marL="0" indent="0" algn="just">
              <a:buNone/>
            </a:pPr>
            <a:endParaRPr lang="en-US" b="1" u="sng" dirty="0" smtClean="0">
              <a:solidFill>
                <a:srgbClr val="FF0000"/>
              </a:solidFill>
              <a:effectLst>
                <a:outerShdw blurRad="38100" dist="38100" dir="2700000" algn="tl">
                  <a:srgbClr val="000000">
                    <a:alpha val="43137"/>
                  </a:srgbClr>
                </a:outerShdw>
              </a:effectLst>
            </a:endParaRPr>
          </a:p>
          <a:p>
            <a:pPr marL="0" indent="0" algn="just">
              <a:buNone/>
            </a:pPr>
            <a:r>
              <a:rPr lang="en-US" b="1" u="sng" dirty="0" smtClean="0">
                <a:solidFill>
                  <a:srgbClr val="FF0000"/>
                </a:solidFill>
                <a:effectLst>
                  <a:outerShdw blurRad="38100" dist="38100" dir="2700000" algn="tl">
                    <a:srgbClr val="000000">
                      <a:alpha val="43137"/>
                    </a:srgbClr>
                  </a:outerShdw>
                </a:effectLst>
              </a:rPr>
              <a:t>Absolute measures</a:t>
            </a:r>
            <a:r>
              <a:rPr lang="en-US" b="1" dirty="0" smtClean="0">
                <a:solidFill>
                  <a:srgbClr val="FF0000"/>
                </a:solidFill>
                <a:effectLst>
                  <a:outerShdw blurRad="38100" dist="38100" dir="2700000" algn="tl">
                    <a:srgbClr val="000000">
                      <a:alpha val="43137"/>
                    </a:srgbClr>
                  </a:outerShdw>
                </a:effectLst>
              </a:rPr>
              <a:t> </a:t>
            </a:r>
            <a:r>
              <a:rPr lang="en-US" dirty="0" smtClean="0"/>
              <a:t>are </a:t>
            </a:r>
            <a:r>
              <a:rPr lang="en-US" b="1" u="sng" dirty="0" smtClean="0">
                <a:solidFill>
                  <a:srgbClr val="0000FF"/>
                </a:solidFill>
                <a:effectLst>
                  <a:outerShdw blurRad="38100" dist="38100" dir="2700000" algn="tl">
                    <a:srgbClr val="000000">
                      <a:alpha val="43137"/>
                    </a:srgbClr>
                  </a:outerShdw>
                </a:effectLst>
              </a:rPr>
              <a:t>described by a number</a:t>
            </a:r>
            <a:r>
              <a:rPr lang="en-US" dirty="0" smtClean="0"/>
              <a:t> or </a:t>
            </a:r>
            <a:r>
              <a:rPr lang="en-US" b="1" u="sng" dirty="0" smtClean="0">
                <a:solidFill>
                  <a:srgbClr val="0000FF"/>
                </a:solidFill>
                <a:effectLst>
                  <a:outerShdw blurRad="38100" dist="38100" dir="2700000" algn="tl">
                    <a:srgbClr val="000000">
                      <a:alpha val="43137"/>
                    </a:srgbClr>
                  </a:outerShdw>
                </a:effectLst>
              </a:rPr>
              <a:t>value</a:t>
            </a:r>
            <a:r>
              <a:rPr lang="en-US" dirty="0" smtClean="0"/>
              <a:t> to </a:t>
            </a:r>
            <a:r>
              <a:rPr lang="en-US" u="sng" dirty="0" smtClean="0">
                <a:effectLst>
                  <a:outerShdw blurRad="38100" dist="38100" dir="2700000" algn="tl">
                    <a:srgbClr val="000000">
                      <a:alpha val="43137"/>
                    </a:srgbClr>
                  </a:outerShdw>
                </a:effectLst>
              </a:rPr>
              <a:t>represent the amount of variation</a:t>
            </a:r>
            <a:r>
              <a:rPr lang="en-US" dirty="0" smtClean="0">
                <a:effectLst>
                  <a:outerShdw blurRad="38100" dist="38100" dir="2700000" algn="tl">
                    <a:srgbClr val="000000">
                      <a:alpha val="43137"/>
                    </a:srgbClr>
                  </a:outerShdw>
                </a:effectLst>
              </a:rPr>
              <a:t> </a:t>
            </a:r>
            <a:r>
              <a:rPr lang="en-US" dirty="0" smtClean="0"/>
              <a:t>or </a:t>
            </a:r>
            <a:r>
              <a:rPr lang="en-US" dirty="0" smtClean="0">
                <a:effectLst>
                  <a:outerShdw blurRad="38100" dist="38100" dir="2700000" algn="tl">
                    <a:srgbClr val="000000">
                      <a:alpha val="43137"/>
                    </a:srgbClr>
                  </a:outerShdw>
                </a:effectLst>
              </a:rPr>
              <a:t>differences among values in a data set. </a:t>
            </a:r>
          </a:p>
          <a:p>
            <a:pPr marL="0" indent="0" algn="just">
              <a:buNone/>
            </a:pPr>
            <a:endParaRPr lang="en-US" dirty="0"/>
          </a:p>
          <a:p>
            <a:pPr marL="0" indent="0" algn="just">
              <a:buNone/>
            </a:pPr>
            <a:r>
              <a:rPr lang="en-US" dirty="0" smtClean="0"/>
              <a:t>Such a number or value is expressed in the same unit of measurement as the set of values in the data such as rupees, inches, feet, kilograms, or </a:t>
            </a:r>
            <a:r>
              <a:rPr lang="en-US" dirty="0" err="1" smtClean="0"/>
              <a:t>tonnes</a:t>
            </a:r>
            <a:r>
              <a:rPr lang="en-US" dirty="0" smtClean="0"/>
              <a:t>. </a:t>
            </a:r>
          </a:p>
          <a:p>
            <a:pPr marL="0" indent="0" algn="just">
              <a:buNone/>
            </a:pPr>
            <a:endParaRPr lang="en-US" dirty="0"/>
          </a:p>
          <a:p>
            <a:endParaRPr lang="en-US" dirty="0"/>
          </a:p>
        </p:txBody>
      </p:sp>
    </p:spTree>
    <p:extLst>
      <p:ext uri="{BB962C8B-B14F-4D97-AF65-F5344CB8AC3E}">
        <p14:creationId xmlns:p14="http://schemas.microsoft.com/office/powerpoint/2010/main" val="81093393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76200"/>
            <a:ext cx="9144000" cy="6705600"/>
          </a:xfrm>
        </p:spPr>
        <p:txBody>
          <a:bodyPr>
            <a:normAutofit fontScale="55000" lnSpcReduction="20000"/>
          </a:bodyPr>
          <a:lstStyle/>
          <a:p>
            <a:pPr algn="just"/>
            <a:r>
              <a:rPr lang="en-US" sz="4400" dirty="0" smtClean="0"/>
              <a:t>The </a:t>
            </a:r>
            <a:r>
              <a:rPr lang="en-US" sz="4400" b="1" u="sng" dirty="0" smtClean="0">
                <a:solidFill>
                  <a:srgbClr val="FF0000"/>
                </a:solidFill>
                <a:effectLst>
                  <a:outerShdw blurRad="38100" dist="38100" dir="2700000" algn="tl">
                    <a:srgbClr val="000000">
                      <a:alpha val="43137"/>
                    </a:srgbClr>
                  </a:outerShdw>
                </a:effectLst>
              </a:rPr>
              <a:t>relative measures </a:t>
            </a:r>
            <a:r>
              <a:rPr lang="en-US" sz="4400" dirty="0" smtClean="0"/>
              <a:t>are described as the </a:t>
            </a:r>
            <a:r>
              <a:rPr lang="en-US" sz="4400" b="1" u="sng" dirty="0" smtClean="0">
                <a:effectLst>
                  <a:outerShdw blurRad="38100" dist="38100" dir="2700000" algn="tl">
                    <a:srgbClr val="000000">
                      <a:alpha val="43137"/>
                    </a:srgbClr>
                  </a:outerShdw>
                </a:effectLst>
              </a:rPr>
              <a:t>ratio</a:t>
            </a:r>
            <a:r>
              <a:rPr lang="en-US" sz="4400" dirty="0" smtClean="0"/>
              <a:t> of </a:t>
            </a:r>
            <a:r>
              <a:rPr lang="en-US" sz="4400" i="1" dirty="0" smtClean="0">
                <a:solidFill>
                  <a:srgbClr val="FFC000"/>
                </a:solidFill>
                <a:effectLst>
                  <a:outerShdw blurRad="38100" dist="38100" dir="2700000" algn="tl">
                    <a:srgbClr val="000000">
                      <a:alpha val="43137"/>
                    </a:srgbClr>
                  </a:outerShdw>
                </a:effectLst>
              </a:rPr>
              <a:t>a measure of absolute variation</a:t>
            </a:r>
            <a:r>
              <a:rPr lang="en-US" sz="4400" dirty="0" smtClean="0"/>
              <a:t> to </a:t>
            </a:r>
            <a:r>
              <a:rPr lang="en-US" sz="4400" b="1" i="1" dirty="0" smtClean="0">
                <a:solidFill>
                  <a:srgbClr val="FF0000"/>
                </a:solidFill>
                <a:effectLst>
                  <a:outerShdw blurRad="38100" dist="38100" dir="2700000" algn="tl">
                    <a:srgbClr val="000000">
                      <a:alpha val="43137"/>
                    </a:srgbClr>
                  </a:outerShdw>
                </a:effectLst>
              </a:rPr>
              <a:t>an average</a:t>
            </a:r>
            <a:r>
              <a:rPr lang="en-US" sz="4400" dirty="0" smtClean="0"/>
              <a:t>      and is termed as </a:t>
            </a:r>
            <a:r>
              <a:rPr lang="en-US" sz="4400" b="1" dirty="0" smtClean="0">
                <a:solidFill>
                  <a:srgbClr val="FF0000"/>
                </a:solidFill>
              </a:rPr>
              <a:t>coefficient of variation. </a:t>
            </a:r>
          </a:p>
          <a:p>
            <a:pPr algn="just"/>
            <a:endParaRPr lang="en-US" sz="4400" dirty="0"/>
          </a:p>
          <a:p>
            <a:pPr algn="just"/>
            <a:r>
              <a:rPr lang="en-US" sz="4400" dirty="0" smtClean="0"/>
              <a:t>The word ‘coefficient’ means a number that is independent of any unit of measurement. </a:t>
            </a:r>
          </a:p>
          <a:p>
            <a:pPr algn="just">
              <a:buNone/>
            </a:pPr>
            <a:endParaRPr lang="en-US" sz="4400" dirty="0" smtClean="0"/>
          </a:p>
          <a:p>
            <a:r>
              <a:rPr lang="en-US" sz="4400" dirty="0" smtClean="0"/>
              <a:t>Example</a:t>
            </a:r>
            <a:r>
              <a:rPr lang="en-US" sz="4400" dirty="0"/>
              <a:t>: 6z means 6 times z, and "z" is a variable, so 6 is a coefficient</a:t>
            </a:r>
            <a:r>
              <a:rPr lang="en-US" sz="4400" dirty="0" smtClean="0"/>
              <a:t>.</a:t>
            </a:r>
            <a:endParaRPr lang="en-IN" sz="4400" dirty="0" smtClean="0"/>
          </a:p>
          <a:p>
            <a:pPr>
              <a:buNone/>
            </a:pPr>
            <a:endParaRPr lang="en-US" sz="4400" dirty="0" smtClean="0"/>
          </a:p>
          <a:p>
            <a:pPr>
              <a:buNone/>
            </a:pPr>
            <a:r>
              <a:rPr lang="en-US" sz="4400" dirty="0" smtClean="0"/>
              <a:t>What is coefficient example?</a:t>
            </a:r>
          </a:p>
          <a:p>
            <a:pPr algn="just"/>
            <a:r>
              <a:rPr lang="en-US" sz="4400" b="1" dirty="0" smtClean="0">
                <a:solidFill>
                  <a:srgbClr val="CC00FF"/>
                </a:solidFill>
              </a:rPr>
              <a:t>A coefficient is an integer </a:t>
            </a:r>
            <a:r>
              <a:rPr lang="en-US" sz="4400" b="1" dirty="0" smtClean="0"/>
              <a:t>that is </a:t>
            </a:r>
            <a:r>
              <a:rPr lang="en-US" sz="4400" b="1" dirty="0" smtClean="0">
                <a:solidFill>
                  <a:srgbClr val="FF0066"/>
                </a:solidFill>
              </a:rPr>
              <a:t>written along with a variable</a:t>
            </a:r>
            <a:endParaRPr lang="en-US" sz="4400" dirty="0" smtClean="0"/>
          </a:p>
          <a:p>
            <a:pPr algn="just">
              <a:buNone/>
            </a:pPr>
            <a:endParaRPr lang="en-US" sz="4400" dirty="0" smtClean="0"/>
          </a:p>
          <a:p>
            <a:pPr algn="just">
              <a:buNone/>
            </a:pPr>
            <a:r>
              <a:rPr lang="en-US" sz="4400" dirty="0" smtClean="0"/>
              <a:t>In other words, a </a:t>
            </a:r>
            <a:r>
              <a:rPr lang="en-US" sz="4400" b="1" dirty="0" smtClean="0">
                <a:solidFill>
                  <a:srgbClr val="FF0066"/>
                </a:solidFill>
              </a:rPr>
              <a:t>coefficient</a:t>
            </a:r>
            <a:r>
              <a:rPr lang="en-US" sz="4400" dirty="0" smtClean="0"/>
              <a:t> is </a:t>
            </a:r>
            <a:r>
              <a:rPr lang="en-US" sz="4400" b="1" dirty="0" smtClean="0"/>
              <a:t>the </a:t>
            </a:r>
            <a:r>
              <a:rPr lang="en-US" sz="4400" b="1" dirty="0" smtClean="0">
                <a:solidFill>
                  <a:srgbClr val="FF0066"/>
                </a:solidFill>
              </a:rPr>
              <a:t>numerical factor </a:t>
            </a:r>
            <a:r>
              <a:rPr lang="en-US" sz="4400" b="1" dirty="0" smtClean="0"/>
              <a:t>of a term containing </a:t>
            </a:r>
            <a:r>
              <a:rPr lang="en-US" sz="4400" b="1" dirty="0" smtClean="0">
                <a:solidFill>
                  <a:srgbClr val="FF0066"/>
                </a:solidFill>
              </a:rPr>
              <a:t>constant </a:t>
            </a:r>
            <a:r>
              <a:rPr lang="en-US" sz="4400" b="1" dirty="0" smtClean="0"/>
              <a:t>and variables</a:t>
            </a:r>
            <a:r>
              <a:rPr lang="en-US" sz="4400" dirty="0" smtClean="0"/>
              <a:t>. </a:t>
            </a:r>
          </a:p>
          <a:p>
            <a:pPr algn="just">
              <a:buNone/>
            </a:pPr>
            <a:endParaRPr lang="en-US" sz="4400" dirty="0" smtClean="0"/>
          </a:p>
          <a:p>
            <a:pPr algn="just">
              <a:buNone/>
            </a:pPr>
            <a:r>
              <a:rPr lang="en-US" sz="4400" dirty="0" smtClean="0"/>
              <a:t>For example, in the term </a:t>
            </a:r>
            <a:r>
              <a:rPr lang="en-US" sz="4400" dirty="0" smtClean="0">
                <a:solidFill>
                  <a:srgbClr val="FF0066"/>
                </a:solidFill>
              </a:rPr>
              <a:t>2</a:t>
            </a:r>
            <a:r>
              <a:rPr lang="en-US" sz="4400" dirty="0" smtClean="0"/>
              <a:t> </a:t>
            </a:r>
            <a:r>
              <a:rPr lang="en-US" sz="4400" b="1" dirty="0" smtClean="0"/>
              <a:t>x</a:t>
            </a:r>
            <a:r>
              <a:rPr lang="en-US" sz="4400" dirty="0" smtClean="0"/>
              <a:t>, 2 is the coefficient. </a:t>
            </a:r>
          </a:p>
          <a:p>
            <a:pPr>
              <a:buNone/>
            </a:pPr>
            <a:r>
              <a:rPr lang="en-US" dirty="0" smtClean="0"/>
              <a:t/>
            </a:r>
            <a:br>
              <a:rPr lang="en-US" dirty="0" smtClean="0"/>
            </a:br>
            <a:endParaRPr lang="en-US" dirty="0" smtClean="0"/>
          </a:p>
        </p:txBody>
      </p:sp>
    </p:spTree>
    <p:extLst>
      <p:ext uri="{BB962C8B-B14F-4D97-AF65-F5344CB8AC3E}">
        <p14:creationId xmlns:p14="http://schemas.microsoft.com/office/powerpoint/2010/main" val="95350489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067800" cy="6858000"/>
          </a:xfrm>
        </p:spPr>
        <p:txBody>
          <a:bodyPr>
            <a:normAutofit/>
          </a:bodyPr>
          <a:lstStyle/>
          <a:p>
            <a:pPr marL="0" indent="0" algn="just">
              <a:buNone/>
            </a:pPr>
            <a:r>
              <a:rPr lang="en-US" b="1" dirty="0" smtClean="0">
                <a:solidFill>
                  <a:srgbClr val="FF0000"/>
                </a:solidFill>
              </a:rPr>
              <a:t>Another classification of the measures of variation </a:t>
            </a:r>
            <a:r>
              <a:rPr lang="en-US" dirty="0" smtClean="0"/>
              <a:t>is based on the method employed for their calculations:</a:t>
            </a:r>
          </a:p>
          <a:p>
            <a:pPr marL="0" indent="0" algn="just">
              <a:buNone/>
            </a:pPr>
            <a:endParaRPr lang="en-US" dirty="0" smtClean="0"/>
          </a:p>
          <a:p>
            <a:pPr marL="0" indent="0" algn="just">
              <a:buNone/>
            </a:pPr>
            <a:r>
              <a:rPr lang="en-US" dirty="0" smtClean="0"/>
              <a:t>1.	Distance measures</a:t>
            </a:r>
          </a:p>
          <a:p>
            <a:pPr marL="0" indent="0" algn="just">
              <a:buNone/>
            </a:pPr>
            <a:r>
              <a:rPr lang="en-US" dirty="0" smtClean="0"/>
              <a:t>2.	Average deviation measures</a:t>
            </a:r>
          </a:p>
          <a:p>
            <a:pPr marL="0" indent="0" algn="just">
              <a:buNone/>
            </a:pPr>
            <a:endParaRPr lang="en-US" dirty="0" smtClean="0"/>
          </a:p>
          <a:p>
            <a:pPr marL="0" indent="0" algn="just">
              <a:buNone/>
            </a:pPr>
            <a:r>
              <a:rPr lang="en-US" dirty="0" smtClean="0"/>
              <a:t>The </a:t>
            </a:r>
            <a:r>
              <a:rPr lang="en-US" b="1" u="sng" dirty="0" smtClean="0">
                <a:effectLst>
                  <a:outerShdw blurRad="38100" dist="38100" dir="2700000" algn="tl">
                    <a:srgbClr val="000000">
                      <a:alpha val="43137"/>
                    </a:srgbClr>
                  </a:outerShdw>
                </a:effectLst>
              </a:rPr>
              <a:t>distance measures</a:t>
            </a:r>
            <a:r>
              <a:rPr lang="en-US" b="1" dirty="0" smtClean="0">
                <a:effectLst>
                  <a:outerShdw blurRad="38100" dist="38100" dir="2700000" algn="tl">
                    <a:srgbClr val="000000">
                      <a:alpha val="43137"/>
                    </a:srgbClr>
                  </a:outerShdw>
                </a:effectLst>
              </a:rPr>
              <a:t> </a:t>
            </a:r>
            <a:r>
              <a:rPr lang="en-US" b="1" u="sng" dirty="0" smtClean="0">
                <a:solidFill>
                  <a:srgbClr val="0000FF"/>
                </a:solidFill>
                <a:effectLst>
                  <a:outerShdw blurRad="38100" dist="38100" dir="2700000" algn="tl">
                    <a:srgbClr val="000000">
                      <a:alpha val="43137"/>
                    </a:srgbClr>
                  </a:outerShdw>
                </a:effectLst>
              </a:rPr>
              <a:t>describe the spread</a:t>
            </a:r>
            <a:r>
              <a:rPr lang="en-US" b="1" dirty="0" smtClean="0">
                <a:solidFill>
                  <a:srgbClr val="0000FF"/>
                </a:solidFill>
                <a:effectLst>
                  <a:outerShdw blurRad="38100" dist="38100" dir="2700000" algn="tl">
                    <a:srgbClr val="000000">
                      <a:alpha val="43137"/>
                    </a:srgbClr>
                  </a:outerShdw>
                </a:effectLst>
              </a:rPr>
              <a:t> </a:t>
            </a:r>
            <a:r>
              <a:rPr lang="en-US" dirty="0" smtClean="0"/>
              <a:t>or </a:t>
            </a:r>
            <a:r>
              <a:rPr lang="en-US" u="sng" dirty="0" smtClean="0">
                <a:solidFill>
                  <a:srgbClr val="C00000"/>
                </a:solidFill>
                <a:effectLst>
                  <a:outerShdw blurRad="38100" dist="38100" dir="2700000" algn="tl">
                    <a:srgbClr val="000000">
                      <a:alpha val="43137"/>
                    </a:srgbClr>
                  </a:outerShdw>
                </a:effectLst>
              </a:rPr>
              <a:t>dispersion of values of a variable </a:t>
            </a:r>
            <a:r>
              <a:rPr lang="en-US" dirty="0" smtClean="0"/>
              <a:t>in the data set. </a:t>
            </a:r>
          </a:p>
          <a:p>
            <a:pPr marL="0" indent="0" algn="just">
              <a:buNone/>
            </a:pPr>
            <a:endParaRPr lang="en-US" dirty="0"/>
          </a:p>
          <a:p>
            <a:pPr marL="0" indent="0" algn="just">
              <a:buNone/>
            </a:pPr>
            <a:r>
              <a:rPr lang="en-US" dirty="0" smtClean="0"/>
              <a:t>The </a:t>
            </a:r>
            <a:r>
              <a:rPr lang="en-US" b="1" u="sng" dirty="0" smtClean="0">
                <a:effectLst>
                  <a:outerShdw blurRad="38100" dist="38100" dir="2700000" algn="tl">
                    <a:srgbClr val="000000">
                      <a:alpha val="43137"/>
                    </a:srgbClr>
                  </a:outerShdw>
                </a:effectLst>
              </a:rPr>
              <a:t>average deviation</a:t>
            </a:r>
            <a:r>
              <a:rPr lang="en-US" dirty="0" smtClean="0"/>
              <a:t> </a:t>
            </a:r>
            <a:r>
              <a:rPr lang="en-US" b="1" u="sng" dirty="0" smtClean="0">
                <a:effectLst>
                  <a:outerShdw blurRad="38100" dist="38100" dir="2700000" algn="tl">
                    <a:srgbClr val="000000">
                      <a:alpha val="43137"/>
                    </a:srgbClr>
                  </a:outerShdw>
                </a:effectLst>
              </a:rPr>
              <a:t>measures</a:t>
            </a:r>
            <a:r>
              <a:rPr lang="en-US" dirty="0" smtClean="0"/>
              <a:t> </a:t>
            </a:r>
            <a:r>
              <a:rPr lang="en-US" b="1" u="sng" dirty="0" smtClean="0">
                <a:solidFill>
                  <a:srgbClr val="C00000"/>
                </a:solidFill>
                <a:effectLst>
                  <a:outerShdw blurRad="38100" dist="38100" dir="2700000" algn="tl">
                    <a:srgbClr val="000000">
                      <a:alpha val="43137"/>
                    </a:srgbClr>
                  </a:outerShdw>
                </a:effectLst>
              </a:rPr>
              <a:t>describe the average deviation</a:t>
            </a:r>
            <a:r>
              <a:rPr lang="en-US" dirty="0" smtClean="0"/>
              <a:t> </a:t>
            </a:r>
            <a:r>
              <a:rPr lang="en-US" dirty="0" smtClean="0">
                <a:solidFill>
                  <a:srgbClr val="0033CC"/>
                </a:solidFill>
                <a:effectLst>
                  <a:outerShdw blurRad="38100" dist="38100" dir="2700000" algn="tl">
                    <a:srgbClr val="000000">
                      <a:alpha val="43137"/>
                    </a:srgbClr>
                  </a:outerShdw>
                </a:effectLst>
              </a:rPr>
              <a:t>for a given measure of central tendency.</a:t>
            </a:r>
          </a:p>
          <a:p>
            <a:endParaRPr lang="en-US" dirty="0"/>
          </a:p>
        </p:txBody>
      </p:sp>
    </p:spTree>
    <p:extLst>
      <p:ext uri="{BB962C8B-B14F-4D97-AF65-F5344CB8AC3E}">
        <p14:creationId xmlns:p14="http://schemas.microsoft.com/office/powerpoint/2010/main" val="153284994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0" y="990600"/>
            <a:ext cx="9144000" cy="464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1131701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76200"/>
            <a:ext cx="9067800" cy="6781800"/>
          </a:xfrm>
        </p:spPr>
        <p:txBody>
          <a:bodyPr/>
          <a:lstStyle/>
          <a:p>
            <a:pPr marL="0" indent="0" algn="just">
              <a:buNone/>
            </a:pPr>
            <a:r>
              <a:rPr lang="en-US" b="1" u="sng" dirty="0" smtClean="0">
                <a:effectLst>
                  <a:outerShdw blurRad="38100" dist="38100" dir="2700000" algn="tl">
                    <a:srgbClr val="000000">
                      <a:alpha val="43137"/>
                    </a:srgbClr>
                  </a:outerShdw>
                </a:effectLst>
              </a:rPr>
              <a:t>Range</a:t>
            </a:r>
          </a:p>
          <a:p>
            <a:pPr marL="0" indent="0" algn="just">
              <a:buNone/>
            </a:pPr>
            <a:r>
              <a:rPr lang="en-US" sz="2400" dirty="0" smtClean="0"/>
              <a:t>The </a:t>
            </a:r>
            <a:r>
              <a:rPr lang="en-US" sz="2800" u="sng" dirty="0" smtClean="0">
                <a:solidFill>
                  <a:srgbClr val="FF0000"/>
                </a:solidFill>
                <a:effectLst>
                  <a:outerShdw blurRad="38100" dist="38100" dir="2700000" algn="tl">
                    <a:srgbClr val="000000">
                      <a:alpha val="43137"/>
                    </a:srgbClr>
                  </a:outerShdw>
                </a:effectLst>
              </a:rPr>
              <a:t>range</a:t>
            </a:r>
            <a:r>
              <a:rPr lang="en-US" sz="2400" dirty="0" smtClean="0"/>
              <a:t> is the </a:t>
            </a:r>
            <a:r>
              <a:rPr lang="en-US" sz="2400" b="1" u="sng" dirty="0" smtClean="0">
                <a:solidFill>
                  <a:srgbClr val="0033CC"/>
                </a:solidFill>
                <a:effectLst>
                  <a:outerShdw blurRad="38100" dist="38100" dir="2700000" algn="tl">
                    <a:srgbClr val="000000">
                      <a:alpha val="43137"/>
                    </a:srgbClr>
                  </a:outerShdw>
                </a:effectLst>
              </a:rPr>
              <a:t>most simple measure of dispersion </a:t>
            </a:r>
            <a:r>
              <a:rPr lang="en-US" sz="2400" dirty="0" smtClean="0"/>
              <a:t>and </a:t>
            </a:r>
            <a:r>
              <a:rPr lang="en-US" sz="2400" u="sng" dirty="0" smtClean="0">
                <a:solidFill>
                  <a:srgbClr val="FF0000"/>
                </a:solidFill>
                <a:effectLst>
                  <a:outerShdw blurRad="38100" dist="38100" dir="2700000" algn="tl">
                    <a:srgbClr val="000000">
                      <a:alpha val="43137"/>
                    </a:srgbClr>
                  </a:outerShdw>
                </a:effectLst>
              </a:rPr>
              <a:t>is based on </a:t>
            </a:r>
            <a:r>
              <a:rPr lang="en-US" sz="2400" dirty="0" smtClean="0"/>
              <a:t>the </a:t>
            </a:r>
            <a:r>
              <a:rPr lang="en-US" sz="2400" b="1" u="sng" dirty="0" smtClean="0">
                <a:effectLst>
                  <a:outerShdw blurRad="38100" dist="38100" dir="2700000" algn="tl">
                    <a:srgbClr val="000000">
                      <a:alpha val="43137"/>
                    </a:srgbClr>
                  </a:outerShdw>
                </a:effectLst>
              </a:rPr>
              <a:t>location</a:t>
            </a:r>
            <a:r>
              <a:rPr lang="en-US" sz="2400" dirty="0" smtClean="0"/>
              <a:t> of the </a:t>
            </a:r>
            <a:r>
              <a:rPr lang="en-US" sz="2400" b="1" u="sng" dirty="0" smtClean="0">
                <a:solidFill>
                  <a:srgbClr val="CC00FF"/>
                </a:solidFill>
                <a:effectLst>
                  <a:outerShdw blurRad="38100" dist="38100" dir="2700000" algn="tl">
                    <a:srgbClr val="000000">
                      <a:alpha val="43137"/>
                    </a:srgbClr>
                  </a:outerShdw>
                </a:effectLst>
              </a:rPr>
              <a:t>largest </a:t>
            </a:r>
            <a:r>
              <a:rPr lang="en-US" sz="2400" b="1" u="sng" dirty="0" smtClean="0">
                <a:solidFill>
                  <a:srgbClr val="0033CC"/>
                </a:solidFill>
                <a:effectLst>
                  <a:outerShdw blurRad="38100" dist="38100" dir="2700000" algn="tl">
                    <a:srgbClr val="000000">
                      <a:alpha val="43137"/>
                    </a:srgbClr>
                  </a:outerShdw>
                </a:effectLst>
              </a:rPr>
              <a:t>and the </a:t>
            </a:r>
            <a:r>
              <a:rPr lang="en-US" sz="2400" b="1" u="sng" dirty="0" smtClean="0">
                <a:solidFill>
                  <a:srgbClr val="CC00FF"/>
                </a:solidFill>
                <a:effectLst>
                  <a:outerShdw blurRad="38100" dist="38100" dir="2700000" algn="tl">
                    <a:srgbClr val="000000">
                      <a:alpha val="43137"/>
                    </a:srgbClr>
                  </a:outerShdw>
                </a:effectLst>
              </a:rPr>
              <a:t>smallest values </a:t>
            </a:r>
            <a:r>
              <a:rPr lang="en-US" sz="2400" b="1" u="sng" dirty="0" smtClean="0">
                <a:solidFill>
                  <a:srgbClr val="0033CC"/>
                </a:solidFill>
                <a:effectLst>
                  <a:outerShdw blurRad="38100" dist="38100" dir="2700000" algn="tl">
                    <a:srgbClr val="000000">
                      <a:alpha val="43137"/>
                    </a:srgbClr>
                  </a:outerShdw>
                </a:effectLst>
              </a:rPr>
              <a:t>in the data</a:t>
            </a:r>
            <a:r>
              <a:rPr lang="en-US" sz="2400" dirty="0" smtClean="0"/>
              <a:t>. Thus the range is defined to be the </a:t>
            </a:r>
            <a:r>
              <a:rPr lang="en-US" sz="2400" b="1" i="1" dirty="0" smtClean="0">
                <a:effectLst>
                  <a:outerShdw blurRad="38100" dist="38100" dir="2700000" algn="tl">
                    <a:srgbClr val="000000">
                      <a:alpha val="43137"/>
                    </a:srgbClr>
                  </a:outerShdw>
                </a:effectLst>
              </a:rPr>
              <a:t>difference between the </a:t>
            </a:r>
            <a:r>
              <a:rPr lang="en-US" sz="2400" b="1" i="1" u="dbl" dirty="0" smtClean="0">
                <a:solidFill>
                  <a:srgbClr val="FF0000"/>
                </a:solidFill>
                <a:effectLst>
                  <a:outerShdw blurRad="38100" dist="38100" dir="2700000" algn="tl">
                    <a:srgbClr val="000000">
                      <a:alpha val="43137"/>
                    </a:srgbClr>
                  </a:outerShdw>
                </a:effectLst>
              </a:rPr>
              <a:t>largest and lowest</a:t>
            </a:r>
            <a:r>
              <a:rPr lang="en-US" sz="2400" b="1" i="1" dirty="0" smtClean="0">
                <a:effectLst>
                  <a:outerShdw blurRad="38100" dist="38100" dir="2700000" algn="tl">
                    <a:srgbClr val="000000">
                      <a:alpha val="43137"/>
                    </a:srgbClr>
                  </a:outerShdw>
                </a:effectLst>
              </a:rPr>
              <a:t> observed values in a data set.</a:t>
            </a:r>
          </a:p>
          <a:p>
            <a:pPr marL="0" indent="0" algn="just">
              <a:buNone/>
            </a:pPr>
            <a:endParaRPr lang="en-US" sz="2400" dirty="0"/>
          </a:p>
          <a:p>
            <a:pPr marL="0" indent="0" algn="just">
              <a:buNone/>
            </a:pPr>
            <a:endParaRPr lang="en-US" sz="2400" i="1" dirty="0" smtClean="0"/>
          </a:p>
          <a:p>
            <a:pPr marL="0" indent="0" algn="just">
              <a:buNone/>
            </a:pPr>
            <a:endParaRPr lang="en-US" sz="2400" i="1" dirty="0"/>
          </a:p>
          <a:p>
            <a:pPr marL="0" indent="0" algn="just">
              <a:buNone/>
            </a:pPr>
            <a:endParaRPr lang="en-US" sz="2400" i="1" dirty="0" smtClean="0"/>
          </a:p>
          <a:p>
            <a:pPr marL="0" indent="0" algn="just">
              <a:buNone/>
            </a:pPr>
            <a:r>
              <a:rPr lang="en-US" sz="2400" b="1" u="sng" dirty="0" smtClean="0">
                <a:effectLst>
                  <a:outerShdw blurRad="38100" dist="38100" dir="2700000" algn="tl">
                    <a:srgbClr val="000000">
                      <a:alpha val="43137"/>
                    </a:srgbClr>
                  </a:outerShdw>
                </a:effectLst>
              </a:rPr>
              <a:t>Coefficient </a:t>
            </a:r>
            <a:r>
              <a:rPr lang="en-US" sz="2400" b="1" u="sng" dirty="0">
                <a:effectLst>
                  <a:outerShdw blurRad="38100" dist="38100" dir="2700000" algn="tl">
                    <a:srgbClr val="000000">
                      <a:alpha val="43137"/>
                    </a:srgbClr>
                  </a:outerShdw>
                </a:effectLst>
              </a:rPr>
              <a:t>of Range</a:t>
            </a:r>
          </a:p>
          <a:p>
            <a:pPr algn="just"/>
            <a:r>
              <a:rPr lang="en-US" sz="2400" dirty="0"/>
              <a:t>The relative measure of range, called the coefficient of range is obtained by applying the following formula:</a:t>
            </a:r>
          </a:p>
          <a:p>
            <a:pPr marL="0" indent="0" algn="just">
              <a:buNone/>
            </a:pPr>
            <a:endParaRPr lang="en-US" dirty="0" smtClean="0"/>
          </a:p>
          <a:p>
            <a:pPr marL="0" indent="0" algn="just">
              <a:buNone/>
            </a:pPr>
            <a:endParaRPr lang="en-US" dirty="0"/>
          </a:p>
        </p:txBody>
      </p:sp>
      <p:pic>
        <p:nvPicPr>
          <p:cNvPr id="63490" name="Picture 2"/>
          <p:cNvPicPr>
            <a:picLocks noChangeAspect="1" noChangeArrowheads="1"/>
          </p:cNvPicPr>
          <p:nvPr/>
        </p:nvPicPr>
        <p:blipFill>
          <a:blip r:embed="rId2" cstate="print"/>
          <a:srcRect/>
          <a:stretch>
            <a:fillRect/>
          </a:stretch>
        </p:blipFill>
        <p:spPr bwMode="auto">
          <a:xfrm>
            <a:off x="838200" y="2514600"/>
            <a:ext cx="7667625" cy="1047750"/>
          </a:xfrm>
          <a:prstGeom prst="rect">
            <a:avLst/>
          </a:prstGeom>
          <a:noFill/>
          <a:ln w="9525">
            <a:noFill/>
            <a:miter lim="800000"/>
            <a:headEnd/>
            <a:tailEnd/>
          </a:ln>
          <a:effectLst/>
        </p:spPr>
      </p:pic>
      <p:pic>
        <p:nvPicPr>
          <p:cNvPr id="63491" name="Picture 3"/>
          <p:cNvPicPr>
            <a:picLocks noChangeAspect="1" noChangeArrowheads="1"/>
          </p:cNvPicPr>
          <p:nvPr/>
        </p:nvPicPr>
        <p:blipFill>
          <a:blip r:embed="rId3" cstate="print"/>
          <a:srcRect/>
          <a:stretch>
            <a:fillRect/>
          </a:stretch>
        </p:blipFill>
        <p:spPr bwMode="auto">
          <a:xfrm>
            <a:off x="3048000" y="5486400"/>
            <a:ext cx="4038600" cy="904875"/>
          </a:xfrm>
          <a:prstGeom prst="rect">
            <a:avLst/>
          </a:prstGeom>
          <a:noFill/>
          <a:ln w="9525">
            <a:noFill/>
            <a:miter lim="800000"/>
            <a:headEnd/>
            <a:tailEnd/>
          </a:ln>
          <a:effectLst/>
        </p:spPr>
      </p:pic>
    </p:spTree>
    <p:extLst>
      <p:ext uri="{BB962C8B-B14F-4D97-AF65-F5344CB8AC3E}">
        <p14:creationId xmlns:p14="http://schemas.microsoft.com/office/powerpoint/2010/main" val="233149376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lstStyle/>
          <a:p>
            <a:pPr marL="0" indent="0" algn="just">
              <a:buNone/>
            </a:pPr>
            <a:r>
              <a:rPr lang="en-US" b="1" u="sng" dirty="0" smtClean="0">
                <a:effectLst>
                  <a:outerShdw blurRad="38100" dist="38100" dir="2700000" algn="tl">
                    <a:srgbClr val="000000">
                      <a:alpha val="43137"/>
                    </a:srgbClr>
                  </a:outerShdw>
                </a:effectLst>
              </a:rPr>
              <a:t>EX</a:t>
            </a:r>
            <a:r>
              <a:rPr lang="en-US" dirty="0" smtClean="0"/>
              <a:t>. </a:t>
            </a:r>
            <a:r>
              <a:rPr lang="en-US" sz="2800" dirty="0" smtClean="0"/>
              <a:t>The following are the sales figures of a firm for the last 12 months</a:t>
            </a:r>
          </a:p>
          <a:p>
            <a:pPr algn="just"/>
            <a:r>
              <a:rPr lang="en-US" sz="2800" dirty="0"/>
              <a:t>Calculate the range and coefficient of range for sales.</a:t>
            </a:r>
          </a:p>
          <a:p>
            <a:pPr algn="just"/>
            <a:r>
              <a:rPr lang="en-US" sz="2800" b="1" dirty="0"/>
              <a:t>Solution:</a:t>
            </a:r>
            <a:r>
              <a:rPr lang="en-US" sz="2800" dirty="0"/>
              <a:t> </a:t>
            </a:r>
            <a:r>
              <a:rPr lang="en-US" sz="2800" dirty="0">
                <a:solidFill>
                  <a:srgbClr val="FF0066"/>
                </a:solidFill>
              </a:rPr>
              <a:t>Given that H = 92 and L = 80. </a:t>
            </a:r>
            <a:r>
              <a:rPr lang="en-US" sz="2800" dirty="0" smtClean="0">
                <a:solidFill>
                  <a:srgbClr val="FF0066"/>
                </a:solidFill>
              </a:rPr>
              <a:t>Therefore</a:t>
            </a:r>
          </a:p>
          <a:p>
            <a:endParaRPr lang="en-US" dirty="0"/>
          </a:p>
        </p:txBody>
      </p:sp>
      <p:pic>
        <p:nvPicPr>
          <p:cNvPr id="4" name="img-136_2" descr="images"/>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9600" y="2624603"/>
            <a:ext cx="7848600" cy="1490197"/>
          </a:xfrm>
          <a:prstGeom prst="rect">
            <a:avLst/>
          </a:prstGeom>
          <a:noFill/>
          <a:ln>
            <a:noFill/>
          </a:ln>
        </p:spPr>
      </p:pic>
      <p:pic>
        <p:nvPicPr>
          <p:cNvPr id="5" name="img-136_3" descr="images"/>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4400" y="4572000"/>
            <a:ext cx="7391400" cy="1524000"/>
          </a:xfrm>
          <a:prstGeom prst="rect">
            <a:avLst/>
          </a:prstGeom>
          <a:noFill/>
          <a:ln>
            <a:noFill/>
          </a:ln>
        </p:spPr>
      </p:pic>
    </p:spTree>
    <p:extLst>
      <p:ext uri="{BB962C8B-B14F-4D97-AF65-F5344CB8AC3E}">
        <p14:creationId xmlns:p14="http://schemas.microsoft.com/office/powerpoint/2010/main" val="137155905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0" y="2209801"/>
            <a:ext cx="9143999" cy="213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343711" y="457200"/>
            <a:ext cx="8153400" cy="1231106"/>
          </a:xfrm>
          <a:prstGeom prst="rect">
            <a:avLst/>
          </a:prstGeom>
        </p:spPr>
        <p:txBody>
          <a:bodyPr wrap="square">
            <a:spAutoFit/>
          </a:bodyPr>
          <a:lstStyle/>
          <a:p>
            <a:pPr algn="just"/>
            <a:r>
              <a:rPr lang="en-US" sz="2800" dirty="0" smtClean="0">
                <a:solidFill>
                  <a:srgbClr val="0033CC"/>
                </a:solidFill>
              </a:rPr>
              <a:t>The following data show the waiting time of telephone calls. Calculate </a:t>
            </a:r>
            <a:r>
              <a:rPr lang="en-US" sz="2800" dirty="0">
                <a:solidFill>
                  <a:srgbClr val="0033CC"/>
                </a:solidFill>
              </a:rPr>
              <a:t>the range and coefficient of range.</a:t>
            </a:r>
          </a:p>
          <a:p>
            <a:endParaRPr lang="en-US" dirty="0"/>
          </a:p>
        </p:txBody>
      </p:sp>
      <p:pic>
        <p:nvPicPr>
          <p:cNvPr id="2051"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19200" y="5105400"/>
            <a:ext cx="6477000" cy="1493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3657891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76200"/>
            <a:ext cx="9144000" cy="6781800"/>
          </a:xfrm>
        </p:spPr>
        <p:txBody>
          <a:bodyPr>
            <a:normAutofit/>
          </a:bodyPr>
          <a:lstStyle/>
          <a:p>
            <a:pPr marL="0" indent="0" algn="just">
              <a:buNone/>
            </a:pPr>
            <a:r>
              <a:rPr lang="en-US" dirty="0" smtClean="0"/>
              <a:t>Advantages, Disadvantages and Applications of Range The major advantages and disadvantages of range may be summarized as follows:</a:t>
            </a:r>
          </a:p>
          <a:p>
            <a:pPr marL="0" indent="0" algn="just">
              <a:buNone/>
            </a:pPr>
            <a:endParaRPr lang="en-US" dirty="0" smtClean="0"/>
          </a:p>
          <a:p>
            <a:pPr marL="0" indent="0" algn="just">
              <a:buNone/>
            </a:pPr>
            <a:r>
              <a:rPr lang="en-US" b="1" dirty="0" smtClean="0"/>
              <a:t>Advantages</a:t>
            </a:r>
          </a:p>
          <a:p>
            <a:pPr marL="514350" indent="-514350" algn="just">
              <a:buAutoNum type="arabicPeriod"/>
            </a:pPr>
            <a:r>
              <a:rPr lang="en-US" dirty="0" smtClean="0"/>
              <a:t>It is independent of the measure of central tendency and easy to calculate and understand.</a:t>
            </a:r>
          </a:p>
          <a:p>
            <a:pPr marL="0" indent="0" algn="just">
              <a:buNone/>
            </a:pPr>
            <a:endParaRPr lang="en-US" dirty="0" smtClean="0"/>
          </a:p>
          <a:p>
            <a:pPr marL="0" indent="0" algn="just">
              <a:buNone/>
            </a:pPr>
            <a:r>
              <a:rPr lang="en-US" dirty="0" smtClean="0"/>
              <a:t>2.	It is quite useful in cases where the purpose is only to find out the extent of extreme variation, such as industrial quality control, temperature, rainfall, and so on.</a:t>
            </a:r>
          </a:p>
          <a:p>
            <a:pPr marL="0" indent="0">
              <a:buNone/>
            </a:pPr>
            <a:endParaRPr lang="en-US" dirty="0" smtClean="0"/>
          </a:p>
          <a:p>
            <a:pPr marL="0" indent="0">
              <a:buNone/>
            </a:pPr>
            <a:endParaRPr lang="en-US" dirty="0"/>
          </a:p>
        </p:txBody>
      </p:sp>
    </p:spTree>
    <p:extLst>
      <p:ext uri="{BB962C8B-B14F-4D97-AF65-F5344CB8AC3E}">
        <p14:creationId xmlns:p14="http://schemas.microsoft.com/office/powerpoint/2010/main" val="128291737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76200"/>
            <a:ext cx="8610600" cy="6705600"/>
          </a:xfrm>
        </p:spPr>
        <p:txBody>
          <a:bodyPr>
            <a:normAutofit fontScale="70000" lnSpcReduction="20000"/>
          </a:bodyPr>
          <a:lstStyle/>
          <a:p>
            <a:pPr marL="0" indent="0" algn="just">
              <a:buNone/>
            </a:pPr>
            <a:r>
              <a:rPr lang="en-US" sz="4500" dirty="0" smtClean="0">
                <a:solidFill>
                  <a:srgbClr val="FF0000"/>
                </a:solidFill>
              </a:rPr>
              <a:t>Disadvantages</a:t>
            </a:r>
          </a:p>
          <a:p>
            <a:pPr marL="0" indent="0" algn="just">
              <a:buNone/>
            </a:pPr>
            <a:endParaRPr lang="en-US" sz="4500" dirty="0" smtClean="0">
              <a:solidFill>
                <a:srgbClr val="FF0000"/>
              </a:solidFill>
            </a:endParaRPr>
          </a:p>
          <a:p>
            <a:pPr algn="just"/>
            <a:r>
              <a:rPr lang="en-US" dirty="0" smtClean="0"/>
              <a:t>The calculation of range is based on only two values—largest and smallest in the data set and fail to take account of any other observations.</a:t>
            </a:r>
          </a:p>
          <a:p>
            <a:pPr algn="just"/>
            <a:endParaRPr lang="en-US" dirty="0" smtClean="0"/>
          </a:p>
          <a:p>
            <a:pPr algn="just"/>
            <a:r>
              <a:rPr lang="en-US" dirty="0" smtClean="0"/>
              <a:t> It is largely influenced by two extreme values and completely independent of the other values. </a:t>
            </a:r>
          </a:p>
          <a:p>
            <a:pPr algn="just"/>
            <a:endParaRPr lang="en-US" dirty="0"/>
          </a:p>
          <a:p>
            <a:pPr algn="just"/>
            <a:r>
              <a:rPr lang="en-US" dirty="0" smtClean="0"/>
              <a:t>Its value is sensitive to changes in sampling, that is, different samples of the same size from the same population may have widely different ranges.</a:t>
            </a:r>
          </a:p>
          <a:p>
            <a:pPr algn="just"/>
            <a:endParaRPr lang="en-US" dirty="0" smtClean="0"/>
          </a:p>
          <a:p>
            <a:pPr algn="just"/>
            <a:r>
              <a:rPr lang="en-US" b="1" dirty="0" smtClean="0"/>
              <a:t>It cannot be computed </a:t>
            </a:r>
            <a:r>
              <a:rPr lang="en-US" dirty="0" smtClean="0"/>
              <a:t>in case of open-end frequency distributions because no highest or lowest value exists in </a:t>
            </a:r>
            <a:r>
              <a:rPr lang="en-US" b="1" u="sng" dirty="0" smtClean="0"/>
              <a:t>open-ended class</a:t>
            </a:r>
            <a:r>
              <a:rPr lang="en-US" dirty="0" smtClean="0"/>
              <a:t>.</a:t>
            </a:r>
          </a:p>
          <a:p>
            <a:pPr algn="just"/>
            <a:endParaRPr lang="en-US" dirty="0"/>
          </a:p>
          <a:p>
            <a:pPr algn="just"/>
            <a:r>
              <a:rPr lang="en-US" dirty="0" smtClean="0"/>
              <a:t>It does not describe the variation among values in the data between two extremes. For example, each of the following set of data has a range of 21 – 9 = 12, but the variation of values is quite different in each case between the </a:t>
            </a:r>
            <a:r>
              <a:rPr lang="en-US" dirty="0" err="1" smtClean="0"/>
              <a:t>hightest</a:t>
            </a:r>
            <a:r>
              <a:rPr lang="en-US" dirty="0" smtClean="0"/>
              <a:t> and lowest values.</a:t>
            </a:r>
            <a:endParaRPr lang="en-US" dirty="0"/>
          </a:p>
        </p:txBody>
      </p:sp>
    </p:spTree>
    <p:extLst>
      <p:ext uri="{BB962C8B-B14F-4D97-AF65-F5344CB8AC3E}">
        <p14:creationId xmlns:p14="http://schemas.microsoft.com/office/powerpoint/2010/main" val="300437273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8991600" cy="6858000"/>
          </a:xfrm>
        </p:spPr>
        <p:txBody>
          <a:bodyPr>
            <a:normAutofit fontScale="85000" lnSpcReduction="20000"/>
          </a:bodyPr>
          <a:lstStyle/>
          <a:p>
            <a:pPr marL="0" indent="0" algn="just">
              <a:buNone/>
            </a:pPr>
            <a:r>
              <a:rPr lang="en-US" b="1" dirty="0" smtClean="0">
                <a:solidFill>
                  <a:srgbClr val="0070C0"/>
                </a:solidFill>
                <a:effectLst>
                  <a:outerShdw blurRad="38100" dist="38100" dir="2700000" algn="tl">
                    <a:srgbClr val="000000">
                      <a:alpha val="43137"/>
                    </a:srgbClr>
                  </a:outerShdw>
                </a:effectLst>
              </a:rPr>
              <a:t>Applications of Range</a:t>
            </a:r>
          </a:p>
          <a:p>
            <a:pPr marL="0" indent="0" algn="just">
              <a:buNone/>
            </a:pPr>
            <a:endParaRPr lang="en-US" b="1" dirty="0" smtClean="0">
              <a:solidFill>
                <a:srgbClr val="0070C0"/>
              </a:solidFill>
              <a:effectLst>
                <a:outerShdw blurRad="38100" dist="38100" dir="2700000" algn="tl">
                  <a:srgbClr val="000000">
                    <a:alpha val="43137"/>
                  </a:srgbClr>
                </a:outerShdw>
              </a:effectLst>
            </a:endParaRPr>
          </a:p>
          <a:p>
            <a:pPr marL="0" indent="0" algn="just">
              <a:buNone/>
            </a:pPr>
            <a:r>
              <a:rPr lang="en-US" dirty="0" smtClean="0"/>
              <a:t>1.	</a:t>
            </a:r>
            <a:r>
              <a:rPr lang="en-US" b="1" u="sng" dirty="0" smtClean="0"/>
              <a:t>Fluctuation in share prices</a:t>
            </a:r>
            <a:r>
              <a:rPr lang="en-US" dirty="0" smtClean="0"/>
              <a:t>: The range is useful in the study of small variations among values in a data set, such as variation in share prices and other commodities that are very sensitive to price changes from one period to another.</a:t>
            </a:r>
          </a:p>
          <a:p>
            <a:pPr marL="0" indent="0" algn="just">
              <a:buNone/>
            </a:pPr>
            <a:endParaRPr lang="en-US" dirty="0" smtClean="0"/>
          </a:p>
          <a:p>
            <a:pPr marL="0" indent="0" algn="just">
              <a:buNone/>
            </a:pPr>
            <a:r>
              <a:rPr lang="en-US" dirty="0" smtClean="0"/>
              <a:t>2.	</a:t>
            </a:r>
            <a:r>
              <a:rPr lang="en-US" b="1" u="sng" dirty="0" smtClean="0"/>
              <a:t>Quality control</a:t>
            </a:r>
            <a:r>
              <a:rPr lang="en-US" dirty="0" smtClean="0"/>
              <a:t>: It is widely used in industrial quality control. Quality control is exercised by preparing suitable control charts. These charts are based on setting an upper control limit (range) and a lower control limit (range) within which produced items shall be accepted. The variation in the quality beyond these ranges requires necessary correction in the production process or system.</a:t>
            </a:r>
          </a:p>
          <a:p>
            <a:pPr marL="0" indent="0" algn="just">
              <a:buNone/>
            </a:pPr>
            <a:endParaRPr lang="en-US" dirty="0" smtClean="0"/>
          </a:p>
          <a:p>
            <a:pPr marL="0" indent="0" algn="just">
              <a:buNone/>
            </a:pPr>
            <a:r>
              <a:rPr lang="en-US" dirty="0" smtClean="0"/>
              <a:t>3.	</a:t>
            </a:r>
            <a:r>
              <a:rPr lang="en-US" b="1" u="sng" dirty="0" smtClean="0"/>
              <a:t>Weather forecasts</a:t>
            </a:r>
            <a:r>
              <a:rPr lang="en-US" dirty="0" smtClean="0"/>
              <a:t>: The concept of range is used to determine the difference between maximum and minimum temperature or rainfall by meteorological departments to announce for the knowledge of the general public.</a:t>
            </a:r>
          </a:p>
          <a:p>
            <a:endParaRPr lang="en-US" dirty="0"/>
          </a:p>
        </p:txBody>
      </p:sp>
    </p:spTree>
    <p:extLst>
      <p:ext uri="{BB962C8B-B14F-4D97-AF65-F5344CB8AC3E}">
        <p14:creationId xmlns:p14="http://schemas.microsoft.com/office/powerpoint/2010/main" val="105332749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04800"/>
            <a:ext cx="8382000" cy="5821363"/>
          </a:xfrm>
        </p:spPr>
        <p:txBody>
          <a:bodyPr>
            <a:normAutofit fontScale="85000" lnSpcReduction="20000"/>
          </a:bodyPr>
          <a:lstStyle/>
          <a:p>
            <a:pPr marL="0" indent="0" algn="ctr">
              <a:buNone/>
            </a:pPr>
            <a:r>
              <a:rPr lang="en-US" b="1" u="sng" dirty="0">
                <a:solidFill>
                  <a:srgbClr val="FF0066"/>
                </a:solidFill>
                <a:effectLst>
                  <a:outerShdw blurRad="38100" dist="38100" dir="2700000" algn="tl">
                    <a:srgbClr val="000000">
                      <a:alpha val="43137"/>
                    </a:srgbClr>
                  </a:outerShdw>
                </a:effectLst>
              </a:rPr>
              <a:t>Interquartile Range or Deviation</a:t>
            </a:r>
          </a:p>
          <a:p>
            <a:pPr algn="just"/>
            <a:endParaRPr lang="en-US" dirty="0" smtClean="0"/>
          </a:p>
          <a:p>
            <a:pPr algn="just"/>
            <a:r>
              <a:rPr lang="en-US" dirty="0" smtClean="0"/>
              <a:t>To compute this value, the entire </a:t>
            </a:r>
            <a:r>
              <a:rPr lang="en-US" b="1" u="sng" dirty="0" smtClean="0">
                <a:solidFill>
                  <a:srgbClr val="FF0000"/>
                </a:solidFill>
                <a:effectLst>
                  <a:outerShdw blurRad="38100" dist="38100" dir="2700000" algn="tl">
                    <a:srgbClr val="000000">
                      <a:alpha val="43137"/>
                    </a:srgbClr>
                  </a:outerShdw>
                </a:effectLst>
              </a:rPr>
              <a:t>data set is divided into four parts</a:t>
            </a:r>
            <a:r>
              <a:rPr lang="en-US" dirty="0" smtClean="0"/>
              <a:t> each of which contains 25 per cent of the observed values. </a:t>
            </a:r>
          </a:p>
          <a:p>
            <a:pPr algn="just"/>
            <a:endParaRPr lang="en-US" dirty="0" smtClean="0"/>
          </a:p>
          <a:p>
            <a:pPr algn="just"/>
            <a:r>
              <a:rPr lang="en-US" dirty="0" smtClean="0"/>
              <a:t>The </a:t>
            </a:r>
            <a:r>
              <a:rPr lang="en-US" b="1" u="sng" dirty="0" smtClean="0">
                <a:solidFill>
                  <a:srgbClr val="FF0000"/>
                </a:solidFill>
                <a:effectLst>
                  <a:outerShdw blurRad="38100" dist="38100" dir="2700000" algn="tl">
                    <a:srgbClr val="000000">
                      <a:alpha val="43137"/>
                    </a:srgbClr>
                  </a:outerShdw>
                </a:effectLst>
              </a:rPr>
              <a:t>quartiles</a:t>
            </a:r>
            <a:r>
              <a:rPr lang="en-US" dirty="0" smtClean="0"/>
              <a:t> are the highest values in each of these four parts. </a:t>
            </a:r>
          </a:p>
          <a:p>
            <a:pPr algn="just"/>
            <a:endParaRPr lang="en-US" dirty="0" smtClean="0"/>
          </a:p>
          <a:p>
            <a:pPr algn="just"/>
            <a:r>
              <a:rPr lang="en-US" b="1" dirty="0" smtClean="0">
                <a:solidFill>
                  <a:srgbClr val="FF0000"/>
                </a:solidFill>
              </a:rPr>
              <a:t>Quartiles are the measures of central tendency that divide a group of data into four sub-groups. </a:t>
            </a:r>
          </a:p>
          <a:p>
            <a:pPr algn="just"/>
            <a:endParaRPr lang="en-US" dirty="0" smtClean="0"/>
          </a:p>
          <a:p>
            <a:pPr algn="just"/>
            <a:r>
              <a:rPr lang="en-US" b="1" dirty="0" smtClean="0">
                <a:effectLst>
                  <a:outerShdw blurRad="38100" dist="38100" dir="2700000" algn="tl">
                    <a:srgbClr val="000000">
                      <a:alpha val="43137"/>
                    </a:srgbClr>
                  </a:outerShdw>
                </a:effectLst>
              </a:rPr>
              <a:t>The </a:t>
            </a:r>
            <a:r>
              <a:rPr lang="en-US" b="1" dirty="0" err="1" smtClean="0">
                <a:effectLst>
                  <a:outerShdw blurRad="38100" dist="38100" dir="2700000" algn="tl">
                    <a:srgbClr val="000000">
                      <a:alpha val="43137"/>
                    </a:srgbClr>
                  </a:outerShdw>
                </a:effectLst>
              </a:rPr>
              <a:t>interquartile</a:t>
            </a:r>
            <a:r>
              <a:rPr lang="en-US" b="1" dirty="0" smtClean="0">
                <a:effectLst>
                  <a:outerShdw blurRad="38100" dist="38100" dir="2700000" algn="tl">
                    <a:srgbClr val="000000">
                      <a:alpha val="43137"/>
                    </a:srgbClr>
                  </a:outerShdw>
                </a:effectLst>
              </a:rPr>
              <a:t> range is a measure of dispersion or spread of values in the data set between the third quartile, Q3 and the first quartile, Q1</a:t>
            </a:r>
          </a:p>
          <a:p>
            <a:pPr>
              <a:buNone/>
            </a:pPr>
            <a:endParaRPr lang="en-US" b="1"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0"/>
            <a:ext cx="8229600" cy="4525963"/>
          </a:xfrm>
        </p:spPr>
        <p:txBody>
          <a:bodyPr/>
          <a:lstStyle/>
          <a:p>
            <a:pPr algn="just"/>
            <a:r>
              <a:rPr lang="en-US" sz="2800" dirty="0" smtClean="0"/>
              <a:t>In other words, the </a:t>
            </a:r>
            <a:r>
              <a:rPr lang="en-US" sz="2800" b="1" i="1" u="dbl" dirty="0" err="1" smtClean="0">
                <a:solidFill>
                  <a:srgbClr val="FF0066"/>
                </a:solidFill>
                <a:effectLst>
                  <a:outerShdw blurRad="38100" dist="38100" dir="2700000" algn="tl">
                    <a:srgbClr val="000000">
                      <a:alpha val="43137"/>
                    </a:srgbClr>
                  </a:outerShdw>
                </a:effectLst>
                <a:uFill>
                  <a:solidFill>
                    <a:srgbClr val="0000FF"/>
                  </a:solidFill>
                </a:uFill>
              </a:rPr>
              <a:t>interquartile</a:t>
            </a:r>
            <a:r>
              <a:rPr lang="en-US" sz="2800" b="1" i="1" u="dbl" dirty="0" smtClean="0">
                <a:solidFill>
                  <a:srgbClr val="FF0066"/>
                </a:solidFill>
                <a:effectLst>
                  <a:outerShdw blurRad="38100" dist="38100" dir="2700000" algn="tl">
                    <a:srgbClr val="000000">
                      <a:alpha val="43137"/>
                    </a:srgbClr>
                  </a:outerShdw>
                </a:effectLst>
                <a:uFill>
                  <a:solidFill>
                    <a:srgbClr val="0000FF"/>
                  </a:solidFill>
                </a:uFill>
              </a:rPr>
              <a:t> range or deviation</a:t>
            </a:r>
            <a:r>
              <a:rPr lang="en-US" sz="2800" b="1" u="dbl" dirty="0" smtClean="0">
                <a:solidFill>
                  <a:srgbClr val="FF0066"/>
                </a:solidFill>
                <a:effectLst>
                  <a:outerShdw blurRad="38100" dist="38100" dir="2700000" algn="tl">
                    <a:srgbClr val="000000">
                      <a:alpha val="43137"/>
                    </a:srgbClr>
                  </a:outerShdw>
                </a:effectLst>
                <a:uFill>
                  <a:solidFill>
                    <a:srgbClr val="0000FF"/>
                  </a:solidFill>
                </a:uFill>
              </a:rPr>
              <a:t> (IQR)</a:t>
            </a:r>
            <a:r>
              <a:rPr lang="en-US" sz="2800" dirty="0" smtClean="0"/>
              <a:t> is the range for the middle 50 per cent of the data. The concept of IQR is shown in </a:t>
            </a:r>
          </a:p>
          <a:p>
            <a:endParaRPr lang="en-US" dirty="0"/>
          </a:p>
        </p:txBody>
      </p:sp>
      <p:pic>
        <p:nvPicPr>
          <p:cNvPr id="4" name="img-c04f003" descr="Figure 4.3 Interquartile Range"/>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1000" y="1828800"/>
            <a:ext cx="8534400" cy="2667000"/>
          </a:xfrm>
          <a:prstGeom prst="rect">
            <a:avLst/>
          </a:prstGeom>
          <a:noFill/>
          <a:ln>
            <a:noFill/>
          </a:ln>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err="1" smtClean="0"/>
              <a:t>Interquartile</a:t>
            </a:r>
            <a:r>
              <a:rPr lang="en-US" b="1" dirty="0" smtClean="0"/>
              <a:t> range:</a:t>
            </a:r>
            <a:r>
              <a:rPr lang="en-US" dirty="0" smtClean="0"/>
              <a:t> A measure of variability, defined to be the difference between the quartiles Q</a:t>
            </a:r>
            <a:r>
              <a:rPr lang="en-US" baseline="-25000" dirty="0" smtClean="0"/>
              <a:t>3</a:t>
            </a:r>
            <a:r>
              <a:rPr lang="en-US" dirty="0" smtClean="0"/>
              <a:t>and Q</a:t>
            </a:r>
            <a:r>
              <a:rPr lang="en-US" baseline="-25000" dirty="0" smtClean="0"/>
              <a:t>1</a:t>
            </a:r>
            <a:r>
              <a:rPr lang="en-US" dirty="0" smtClean="0"/>
              <a:t>.</a:t>
            </a:r>
          </a:p>
          <a:p>
            <a:endParaRPr lang="en-US" dirty="0"/>
          </a:p>
        </p:txBody>
      </p:sp>
      <p:sp>
        <p:nvSpPr>
          <p:cNvPr id="6145" name="Rectangle 1"/>
          <p:cNvSpPr>
            <a:spLocks noChangeArrowheads="1"/>
          </p:cNvSpPr>
          <p:nvPr/>
        </p:nvSpPr>
        <p:spPr bwMode="auto">
          <a:xfrm>
            <a:off x="0" y="4684811"/>
            <a:ext cx="9144000" cy="83099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rgbClr val="333333"/>
                </a:solidFill>
                <a:effectLst/>
                <a:latin typeface="Georgia" pitchFamily="18" charset="0"/>
                <a:ea typeface="Times New Roman" pitchFamily="18" charset="0"/>
                <a:cs typeface="Times New Roman" pitchFamily="18" charset="0"/>
              </a:rPr>
              <a:t>Half the distance between Q</a:t>
            </a:r>
            <a:r>
              <a:rPr kumimoji="0" lang="en-US" sz="1400" b="0" i="0" u="none" strike="noStrike" cap="none" normalizeH="0" baseline="-30000" dirty="0" smtClean="0">
                <a:ln>
                  <a:noFill/>
                </a:ln>
                <a:solidFill>
                  <a:srgbClr val="333333"/>
                </a:solidFill>
                <a:effectLst/>
                <a:latin typeface="Georgia" pitchFamily="18" charset="0"/>
                <a:ea typeface="Times New Roman" pitchFamily="18" charset="0"/>
                <a:cs typeface="Times New Roman" pitchFamily="18" charset="0"/>
              </a:rPr>
              <a:t>1</a:t>
            </a:r>
            <a:r>
              <a:rPr kumimoji="0" lang="en-US" sz="2400" b="0" i="0" u="none" strike="noStrike" cap="none" normalizeH="0" baseline="0" dirty="0" smtClean="0">
                <a:ln>
                  <a:noFill/>
                </a:ln>
                <a:solidFill>
                  <a:srgbClr val="333333"/>
                </a:solidFill>
                <a:effectLst/>
                <a:latin typeface="Calibri"/>
                <a:ea typeface="Times New Roman" pitchFamily="18" charset="0"/>
                <a:cs typeface="Times New Roman" pitchFamily="18" charset="0"/>
              </a:rPr>
              <a:t> </a:t>
            </a:r>
            <a:r>
              <a:rPr kumimoji="0" lang="en-US" sz="2400" b="0" i="0" u="none" strike="noStrike" cap="none" normalizeH="0" baseline="0" dirty="0" smtClean="0">
                <a:ln>
                  <a:noFill/>
                </a:ln>
                <a:solidFill>
                  <a:srgbClr val="333333"/>
                </a:solidFill>
                <a:effectLst/>
                <a:latin typeface="Georgia" pitchFamily="18" charset="0"/>
                <a:ea typeface="Times New Roman" pitchFamily="18" charset="0"/>
                <a:cs typeface="Times New Roman" pitchFamily="18" charset="0"/>
              </a:rPr>
              <a:t>and Q</a:t>
            </a:r>
            <a:r>
              <a:rPr kumimoji="0" lang="en-US" sz="1400" b="0" i="0" u="none" strike="noStrike" cap="none" normalizeH="0" baseline="-30000" dirty="0" smtClean="0">
                <a:ln>
                  <a:noFill/>
                </a:ln>
                <a:solidFill>
                  <a:srgbClr val="333333"/>
                </a:solidFill>
                <a:effectLst/>
                <a:latin typeface="Georgia" pitchFamily="18" charset="0"/>
                <a:ea typeface="Times New Roman" pitchFamily="18" charset="0"/>
                <a:cs typeface="Times New Roman" pitchFamily="18" charset="0"/>
              </a:rPr>
              <a:t>3</a:t>
            </a:r>
            <a:r>
              <a:rPr kumimoji="0" lang="en-US" sz="2400" b="0" i="0" u="none" strike="noStrike" cap="none" normalizeH="0" baseline="0" dirty="0" smtClean="0">
                <a:ln>
                  <a:noFill/>
                </a:ln>
                <a:solidFill>
                  <a:srgbClr val="333333"/>
                </a:solidFill>
                <a:effectLst/>
                <a:latin typeface="Calibri"/>
                <a:ea typeface="Times New Roman" pitchFamily="18" charset="0"/>
                <a:cs typeface="Times New Roman" pitchFamily="18" charset="0"/>
              </a:rPr>
              <a:t> </a:t>
            </a:r>
            <a:r>
              <a:rPr kumimoji="0" lang="en-US" sz="2400" b="0" i="0" u="none" strike="noStrike" cap="none" normalizeH="0" baseline="0" dirty="0" smtClean="0">
                <a:ln>
                  <a:noFill/>
                </a:ln>
                <a:solidFill>
                  <a:srgbClr val="333333"/>
                </a:solidFill>
                <a:effectLst/>
                <a:latin typeface="Georgia" pitchFamily="18" charset="0"/>
                <a:ea typeface="Times New Roman" pitchFamily="18" charset="0"/>
                <a:cs typeface="Times New Roman" pitchFamily="18" charset="0"/>
              </a:rPr>
              <a:t>is called the</a:t>
            </a:r>
            <a:r>
              <a:rPr kumimoji="0" lang="en-US" sz="2400" b="0" i="0" u="none" strike="noStrike" cap="none" normalizeH="0" baseline="0" dirty="0" smtClean="0">
                <a:ln>
                  <a:noFill/>
                </a:ln>
                <a:solidFill>
                  <a:srgbClr val="333333"/>
                </a:solidFill>
                <a:effectLst/>
                <a:latin typeface="Calibri"/>
                <a:ea typeface="Times New Roman" pitchFamily="18" charset="0"/>
                <a:cs typeface="Times New Roman" pitchFamily="18" charset="0"/>
              </a:rPr>
              <a:t> </a:t>
            </a:r>
            <a:r>
              <a:rPr kumimoji="0" lang="en-US" sz="2400" b="0" i="1" u="none" strike="noStrike" cap="none" normalizeH="0" baseline="0" dirty="0" smtClean="0">
                <a:ln>
                  <a:noFill/>
                </a:ln>
                <a:solidFill>
                  <a:srgbClr val="333333"/>
                </a:solidFill>
                <a:effectLst/>
                <a:latin typeface="Georgia" pitchFamily="18" charset="0"/>
                <a:ea typeface="Times New Roman" pitchFamily="18" charset="0"/>
                <a:cs typeface="Times New Roman" pitchFamily="18" charset="0"/>
              </a:rPr>
              <a:t>semi-inter quartile range</a:t>
            </a:r>
            <a:r>
              <a:rPr kumimoji="0" lang="en-US" sz="2400" b="0" i="0" u="none" strike="noStrike" cap="none" normalizeH="0" baseline="0" dirty="0" smtClean="0">
                <a:ln>
                  <a:noFill/>
                </a:ln>
                <a:solidFill>
                  <a:srgbClr val="333333"/>
                </a:solidFill>
                <a:effectLst/>
                <a:latin typeface="Calibri"/>
                <a:ea typeface="Times New Roman" pitchFamily="18" charset="0"/>
                <a:cs typeface="Times New Roman" pitchFamily="18" charset="0"/>
              </a:rPr>
              <a:t> </a:t>
            </a:r>
            <a:r>
              <a:rPr kumimoji="0" lang="en-US" sz="2400" b="0" i="0" u="none" strike="noStrike" cap="none" normalizeH="0" baseline="0" dirty="0" smtClean="0">
                <a:ln>
                  <a:noFill/>
                </a:ln>
                <a:solidFill>
                  <a:srgbClr val="333333"/>
                </a:solidFill>
                <a:effectLst/>
                <a:latin typeface="Georgia" pitchFamily="18" charset="0"/>
                <a:ea typeface="Times New Roman" pitchFamily="18" charset="0"/>
                <a:cs typeface="Times New Roman" pitchFamily="18" charset="0"/>
              </a:rPr>
              <a:t>or the</a:t>
            </a:r>
            <a:r>
              <a:rPr kumimoji="0" lang="en-US" sz="2400" b="0" i="0" u="none" strike="noStrike" cap="none" normalizeH="0" baseline="0" dirty="0" smtClean="0">
                <a:ln>
                  <a:noFill/>
                </a:ln>
                <a:solidFill>
                  <a:srgbClr val="333333"/>
                </a:solidFill>
                <a:effectLst/>
                <a:latin typeface="Calibri"/>
                <a:ea typeface="Times New Roman" pitchFamily="18" charset="0"/>
                <a:cs typeface="Times New Roman" pitchFamily="18" charset="0"/>
              </a:rPr>
              <a:t> </a:t>
            </a:r>
            <a:r>
              <a:rPr kumimoji="0" lang="en-US" sz="2400" b="0" i="1" u="none" strike="noStrike" cap="none" normalizeH="0" baseline="0" dirty="0" smtClean="0">
                <a:ln>
                  <a:noFill/>
                </a:ln>
                <a:solidFill>
                  <a:srgbClr val="333333"/>
                </a:solidFill>
                <a:effectLst/>
                <a:latin typeface="Georgia" pitchFamily="18" charset="0"/>
                <a:ea typeface="Times New Roman" pitchFamily="18" charset="0"/>
                <a:cs typeface="Times New Roman" pitchFamily="18" charset="0"/>
              </a:rPr>
              <a:t>quartile deviation</a:t>
            </a:r>
            <a:r>
              <a:rPr kumimoji="0" lang="en-US" sz="2400" b="0" i="0" u="none" strike="noStrike" cap="none" normalizeH="0" baseline="0" dirty="0" smtClean="0">
                <a:ln>
                  <a:noFill/>
                </a:ln>
                <a:solidFill>
                  <a:srgbClr val="333333"/>
                </a:solidFill>
                <a:effectLst/>
                <a:latin typeface="Georgia" pitchFamily="18" charset="0"/>
                <a:ea typeface="Times New Roman" pitchFamily="18" charset="0"/>
                <a:cs typeface="Times New Roman" pitchFamily="18" charset="0"/>
              </a:rPr>
              <a:t>(QD</a:t>
            </a:r>
            <a:r>
              <a:rPr kumimoji="0" lang="en-US" sz="1400" b="0" i="0" u="none" strike="noStrike" cap="none" normalizeH="0" baseline="0" dirty="0" smtClean="0">
                <a:ln>
                  <a:noFill/>
                </a:ln>
                <a:solidFill>
                  <a:srgbClr val="333333"/>
                </a:solidFill>
                <a:effectLst/>
                <a:latin typeface="Georgia" pitchFamily="18" charset="0"/>
                <a:ea typeface="Times New Roman" pitchFamily="18" charset="0"/>
                <a:cs typeface="Times New Roman" pitchFamily="18" charset="0"/>
              </a:rPr>
              <a:t>).</a:t>
            </a: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pic>
        <p:nvPicPr>
          <p:cNvPr id="55297" name="Picture 1"/>
          <p:cNvPicPr>
            <a:picLocks noChangeAspect="1" noChangeArrowheads="1"/>
          </p:cNvPicPr>
          <p:nvPr/>
        </p:nvPicPr>
        <p:blipFill>
          <a:blip r:embed="rId2" cstate="print"/>
          <a:srcRect/>
          <a:stretch>
            <a:fillRect/>
          </a:stretch>
        </p:blipFill>
        <p:spPr bwMode="auto">
          <a:xfrm>
            <a:off x="2438400" y="3429000"/>
            <a:ext cx="5257800" cy="609600"/>
          </a:xfrm>
          <a:prstGeom prst="rect">
            <a:avLst/>
          </a:prstGeom>
          <a:noFill/>
          <a:ln w="9525">
            <a:noFill/>
            <a:miter lim="800000"/>
            <a:headEnd/>
            <a:tailEnd/>
          </a:ln>
          <a:effectLst/>
        </p:spPr>
      </p:pic>
      <p:pic>
        <p:nvPicPr>
          <p:cNvPr id="55298" name="Picture 2"/>
          <p:cNvPicPr>
            <a:picLocks noChangeAspect="1" noChangeArrowheads="1"/>
          </p:cNvPicPr>
          <p:nvPr/>
        </p:nvPicPr>
        <p:blipFill>
          <a:blip r:embed="rId3" cstate="print"/>
          <a:srcRect/>
          <a:stretch>
            <a:fillRect/>
          </a:stretch>
        </p:blipFill>
        <p:spPr bwMode="auto">
          <a:xfrm>
            <a:off x="2971800" y="5791200"/>
            <a:ext cx="5181600" cy="809625"/>
          </a:xfrm>
          <a:prstGeom prst="rect">
            <a:avLst/>
          </a:prstGeom>
          <a:noFill/>
          <a:ln w="9525">
            <a:noFill/>
            <a:miter lim="800000"/>
            <a:headEnd/>
            <a:tailEnd/>
          </a:ln>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0"/>
            <a:ext cx="8229600" cy="4525963"/>
          </a:xfrm>
        </p:spPr>
        <p:txBody>
          <a:bodyPr>
            <a:normAutofit fontScale="92500" lnSpcReduction="10000"/>
          </a:bodyPr>
          <a:lstStyle/>
          <a:p>
            <a:r>
              <a:rPr lang="en-US" i="1" dirty="0" smtClean="0"/>
              <a:t>Coefficient of Quartile Deviation</a:t>
            </a:r>
            <a:endParaRPr lang="en-US" dirty="0" smtClean="0"/>
          </a:p>
          <a:p>
            <a:pPr algn="just"/>
            <a:r>
              <a:rPr lang="en-US" dirty="0" smtClean="0"/>
              <a:t>Since quartile deviation is an absolute measure of variation, therefore its value gets affected by the size and number of observed values in the data set. Thus, the Q.D. of two or more than two sets of data may differ. Due to this reason, to compare the degree of variation in different sets of data, we compute the relative measure corresponding to Q.D., called the </a:t>
            </a:r>
            <a:r>
              <a:rPr lang="en-US" i="1" dirty="0" smtClean="0"/>
              <a:t>coefficient of Q.D.</a:t>
            </a:r>
            <a:r>
              <a:rPr lang="en-US" dirty="0" smtClean="0"/>
              <a:t>, and it is calculated as follows:</a:t>
            </a:r>
          </a:p>
          <a:p>
            <a:endParaRPr lang="en-US" dirty="0"/>
          </a:p>
        </p:txBody>
      </p:sp>
      <p:pic>
        <p:nvPicPr>
          <p:cNvPr id="54274" name="Picture 2"/>
          <p:cNvPicPr>
            <a:picLocks noChangeAspect="1" noChangeArrowheads="1"/>
          </p:cNvPicPr>
          <p:nvPr/>
        </p:nvPicPr>
        <p:blipFill>
          <a:blip r:embed="rId2" cstate="print"/>
          <a:srcRect/>
          <a:stretch>
            <a:fillRect/>
          </a:stretch>
        </p:blipFill>
        <p:spPr bwMode="auto">
          <a:xfrm>
            <a:off x="2590800" y="5029200"/>
            <a:ext cx="4038600" cy="1447800"/>
          </a:xfrm>
          <a:prstGeom prst="rect">
            <a:avLst/>
          </a:prstGeom>
          <a:noFill/>
          <a:ln w="9525">
            <a:noFill/>
            <a:miter lim="800000"/>
            <a:headEnd/>
            <a:tailEnd/>
          </a:ln>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b="1" dirty="0" smtClean="0">
                <a:solidFill>
                  <a:srgbClr val="FF0000"/>
                </a:solidFill>
              </a:rPr>
              <a:t>Individual series Quartile deviation</a:t>
            </a:r>
            <a:endParaRPr lang="en-US" b="1" dirty="0">
              <a:solidFill>
                <a:srgbClr val="FF0000"/>
              </a:solidFill>
            </a:endParaRPr>
          </a:p>
        </p:txBody>
      </p:sp>
      <p:sp>
        <p:nvSpPr>
          <p:cNvPr id="3" name="Content Placeholder 2"/>
          <p:cNvSpPr>
            <a:spLocks noGrp="1"/>
          </p:cNvSpPr>
          <p:nvPr>
            <p:ph idx="1"/>
          </p:nvPr>
        </p:nvSpPr>
        <p:spPr>
          <a:xfrm>
            <a:off x="457200" y="990600"/>
            <a:ext cx="8229600" cy="4525963"/>
          </a:xfrm>
        </p:spPr>
        <p:txBody>
          <a:bodyPr/>
          <a:lstStyle/>
          <a:p>
            <a:r>
              <a:rPr lang="en-US" dirty="0" smtClean="0"/>
              <a:t>Following are the responses from 55 students to the question about how much money they spent every day.</a:t>
            </a:r>
          </a:p>
          <a:p>
            <a:endParaRPr lang="en-US" dirty="0"/>
          </a:p>
        </p:txBody>
      </p:sp>
      <p:pic>
        <p:nvPicPr>
          <p:cNvPr id="4" name="img-138_1" descr="images"/>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14400" y="2984500"/>
            <a:ext cx="7391399" cy="2120900"/>
          </a:xfrm>
          <a:prstGeom prst="rect">
            <a:avLst/>
          </a:prstGeom>
          <a:noFill/>
          <a:ln>
            <a:noFill/>
          </a:ln>
        </p:spPr>
      </p:pic>
      <p:sp>
        <p:nvSpPr>
          <p:cNvPr id="60417" name="Rectangle 1"/>
          <p:cNvSpPr>
            <a:spLocks noChangeArrowheads="1"/>
          </p:cNvSpPr>
          <p:nvPr/>
        </p:nvSpPr>
        <p:spPr bwMode="auto">
          <a:xfrm>
            <a:off x="0" y="5657671"/>
            <a:ext cx="9144000" cy="120032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fontAlgn="base">
              <a:spcBef>
                <a:spcPct val="0"/>
              </a:spcBef>
              <a:spcAft>
                <a:spcPct val="0"/>
              </a:spcAft>
            </a:pPr>
            <a:r>
              <a:rPr lang="en-US" sz="2400" dirty="0" smtClean="0">
                <a:solidFill>
                  <a:srgbClr val="333333"/>
                </a:solidFill>
                <a:latin typeface="Georgia" pitchFamily="18" charset="0"/>
                <a:ea typeface="Times New Roman" pitchFamily="18" charset="0"/>
                <a:cs typeface="Times New Roman" pitchFamily="18" charset="0"/>
              </a:rPr>
              <a:t>Calculate the range and </a:t>
            </a:r>
            <a:r>
              <a:rPr lang="en-US" sz="2400" dirty="0" err="1" smtClean="0">
                <a:solidFill>
                  <a:srgbClr val="333333"/>
                </a:solidFill>
                <a:latin typeface="Georgia" pitchFamily="18" charset="0"/>
                <a:ea typeface="Times New Roman" pitchFamily="18" charset="0"/>
                <a:cs typeface="Times New Roman" pitchFamily="18" charset="0"/>
              </a:rPr>
              <a:t>interquartile</a:t>
            </a:r>
            <a:r>
              <a:rPr lang="en-US" sz="2400" dirty="0" smtClean="0">
                <a:solidFill>
                  <a:srgbClr val="333333"/>
                </a:solidFill>
                <a:latin typeface="Georgia" pitchFamily="18" charset="0"/>
                <a:ea typeface="Times New Roman" pitchFamily="18" charset="0"/>
                <a:cs typeface="Times New Roman" pitchFamily="18" charset="0"/>
              </a:rPr>
              <a:t> range and interpret your result.</a:t>
            </a:r>
          </a:p>
          <a:p>
            <a:pPr fontAlgn="base">
              <a:spcBef>
                <a:spcPct val="0"/>
              </a:spcBef>
              <a:spcAft>
                <a:spcPct val="0"/>
              </a:spcAft>
            </a:pPr>
            <a:r>
              <a:rPr lang="en-US" sz="2400" b="1" dirty="0" smtClean="0">
                <a:solidFill>
                  <a:srgbClr val="0033CC"/>
                </a:solidFill>
                <a:latin typeface="Georgia" pitchFamily="18" charset="0"/>
                <a:cs typeface="Times New Roman" pitchFamily="18" charset="0"/>
              </a:rPr>
              <a:t>NOTE: SEE THAT THEY ARE IN ASCENDING ORDER</a:t>
            </a:r>
            <a:endParaRPr lang="en-US" sz="3200" b="1" dirty="0" smtClean="0">
              <a:solidFill>
                <a:srgbClr val="0033CC"/>
              </a:solidFill>
              <a:latin typeface="Arial" pitchFamily="34" charset="0"/>
              <a:cs typeface="Arial" pitchFamily="34" charset="0"/>
            </a:endParaRPr>
          </a:p>
        </p:txBody>
      </p:sp>
    </p:spTree>
    <p:extLst>
      <p:ext uri="{BB962C8B-B14F-4D97-AF65-F5344CB8AC3E}">
        <p14:creationId xmlns:p14="http://schemas.microsoft.com/office/powerpoint/2010/main" val="20912633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9393" name="Picture 1"/>
          <p:cNvPicPr>
            <a:picLocks noGrp="1" noChangeAspect="1" noChangeArrowheads="1"/>
          </p:cNvPicPr>
          <p:nvPr>
            <p:ph idx="1"/>
          </p:nvPr>
        </p:nvPicPr>
        <p:blipFill>
          <a:blip r:embed="rId2" cstate="print"/>
          <a:srcRect/>
          <a:stretch>
            <a:fillRect/>
          </a:stretch>
        </p:blipFill>
        <p:spPr bwMode="auto">
          <a:xfrm>
            <a:off x="2286000" y="1828800"/>
            <a:ext cx="3505200" cy="885825"/>
          </a:xfrm>
          <a:prstGeom prst="rect">
            <a:avLst/>
          </a:prstGeom>
          <a:noFill/>
          <a:ln w="9525">
            <a:noFill/>
            <a:miter lim="800000"/>
            <a:headEnd/>
            <a:tailEnd/>
          </a:ln>
          <a:effectLst/>
        </p:spPr>
      </p:pic>
      <p:pic>
        <p:nvPicPr>
          <p:cNvPr id="59394" name="Picture 2"/>
          <p:cNvPicPr>
            <a:picLocks noChangeAspect="1" noChangeArrowheads="1"/>
          </p:cNvPicPr>
          <p:nvPr/>
        </p:nvPicPr>
        <p:blipFill>
          <a:blip r:embed="rId3" cstate="print"/>
          <a:srcRect/>
          <a:stretch>
            <a:fillRect/>
          </a:stretch>
        </p:blipFill>
        <p:spPr bwMode="auto">
          <a:xfrm>
            <a:off x="2514600" y="3048000"/>
            <a:ext cx="3200400" cy="990600"/>
          </a:xfrm>
          <a:prstGeom prst="rect">
            <a:avLst/>
          </a:prstGeom>
          <a:noFill/>
          <a:ln w="9525">
            <a:noFill/>
            <a:miter lim="800000"/>
            <a:headEnd/>
            <a:tailEnd/>
          </a:ln>
          <a:effectLst/>
        </p:spPr>
      </p:pic>
      <p:pic>
        <p:nvPicPr>
          <p:cNvPr id="3" name="Picture 2"/>
          <p:cNvPicPr>
            <a:picLocks noChangeAspect="1"/>
          </p:cNvPicPr>
          <p:nvPr/>
        </p:nvPicPr>
        <p:blipFill>
          <a:blip r:embed="rId4"/>
          <a:stretch>
            <a:fillRect/>
          </a:stretch>
        </p:blipFill>
        <p:spPr>
          <a:xfrm>
            <a:off x="1981200" y="4648200"/>
            <a:ext cx="4573126" cy="1322672"/>
          </a:xfrm>
          <a:prstGeom prst="rect">
            <a:avLst/>
          </a:prstGeom>
        </p:spPr>
      </p:pic>
    </p:spTree>
    <p:extLst>
      <p:ext uri="{BB962C8B-B14F-4D97-AF65-F5344CB8AC3E}">
        <p14:creationId xmlns:p14="http://schemas.microsoft.com/office/powerpoint/2010/main" val="34101098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369" name="Picture 1"/>
          <p:cNvPicPr>
            <a:picLocks noGrp="1" noChangeAspect="1" noChangeArrowheads="1"/>
          </p:cNvPicPr>
          <p:nvPr>
            <p:ph idx="1"/>
          </p:nvPr>
        </p:nvPicPr>
        <p:blipFill>
          <a:blip r:embed="rId2" cstate="print"/>
          <a:srcRect/>
          <a:stretch>
            <a:fillRect/>
          </a:stretch>
        </p:blipFill>
        <p:spPr bwMode="auto">
          <a:xfrm>
            <a:off x="609600" y="1752600"/>
            <a:ext cx="7115175" cy="1066800"/>
          </a:xfrm>
          <a:prstGeom prst="rect">
            <a:avLst/>
          </a:prstGeom>
          <a:noFill/>
          <a:ln w="9525">
            <a:noFill/>
            <a:miter lim="800000"/>
            <a:headEnd/>
            <a:tailEnd/>
          </a:ln>
          <a:effectLst/>
        </p:spPr>
      </p:pic>
      <p:pic>
        <p:nvPicPr>
          <p:cNvPr id="58370" name="Picture 2"/>
          <p:cNvPicPr>
            <a:picLocks noChangeAspect="1" noChangeArrowheads="1"/>
          </p:cNvPicPr>
          <p:nvPr/>
        </p:nvPicPr>
        <p:blipFill>
          <a:blip r:embed="rId3" cstate="print"/>
          <a:srcRect/>
          <a:stretch>
            <a:fillRect/>
          </a:stretch>
        </p:blipFill>
        <p:spPr bwMode="auto">
          <a:xfrm>
            <a:off x="533400" y="914400"/>
            <a:ext cx="6724650" cy="838200"/>
          </a:xfrm>
          <a:prstGeom prst="rect">
            <a:avLst/>
          </a:prstGeom>
          <a:noFill/>
          <a:ln w="9525">
            <a:noFill/>
            <a:miter lim="800000"/>
            <a:headEnd/>
            <a:tailEnd/>
          </a:ln>
          <a:effectLst/>
        </p:spPr>
      </p:pic>
      <p:pic>
        <p:nvPicPr>
          <p:cNvPr id="58371" name="Picture 3"/>
          <p:cNvPicPr>
            <a:picLocks noChangeAspect="1" noChangeArrowheads="1"/>
          </p:cNvPicPr>
          <p:nvPr/>
        </p:nvPicPr>
        <p:blipFill>
          <a:blip r:embed="rId4" cstate="print"/>
          <a:srcRect/>
          <a:stretch>
            <a:fillRect/>
          </a:stretch>
        </p:blipFill>
        <p:spPr bwMode="auto">
          <a:xfrm>
            <a:off x="609600" y="0"/>
            <a:ext cx="6705600" cy="990600"/>
          </a:xfrm>
          <a:prstGeom prst="rect">
            <a:avLst/>
          </a:prstGeom>
          <a:noFill/>
          <a:ln w="9525">
            <a:noFill/>
            <a:miter lim="800000"/>
            <a:headEnd/>
            <a:tailEnd/>
          </a:ln>
          <a:effectLst/>
        </p:spPr>
      </p:pic>
      <p:pic>
        <p:nvPicPr>
          <p:cNvPr id="7" name="img-c04f003" descr="Figure 4.3 Interquartile Range"/>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85800" y="4953000"/>
            <a:ext cx="7391400" cy="1905000"/>
          </a:xfrm>
          <a:prstGeom prst="rect">
            <a:avLst/>
          </a:prstGeom>
          <a:noFill/>
          <a:ln>
            <a:noFill/>
          </a:ln>
        </p:spPr>
      </p:pic>
      <p:pic>
        <p:nvPicPr>
          <p:cNvPr id="53249" name="Picture 1"/>
          <p:cNvPicPr>
            <a:picLocks noChangeAspect="1" noChangeArrowheads="1"/>
          </p:cNvPicPr>
          <p:nvPr/>
        </p:nvPicPr>
        <p:blipFill>
          <a:blip r:embed="rId6" cstate="print"/>
          <a:srcRect/>
          <a:stretch>
            <a:fillRect/>
          </a:stretch>
        </p:blipFill>
        <p:spPr bwMode="auto">
          <a:xfrm>
            <a:off x="609600" y="3124200"/>
            <a:ext cx="8001000" cy="1771650"/>
          </a:xfrm>
          <a:prstGeom prst="rect">
            <a:avLst/>
          </a:prstGeom>
          <a:noFill/>
          <a:ln w="9525">
            <a:noFill/>
            <a:miter lim="800000"/>
            <a:headEnd/>
            <a:tailEnd/>
          </a:ln>
          <a:effectLst/>
        </p:spPr>
      </p:pic>
      <p:pic>
        <p:nvPicPr>
          <p:cNvPr id="2" name="Picture 1"/>
          <p:cNvPicPr>
            <a:picLocks noChangeAspect="1"/>
          </p:cNvPicPr>
          <p:nvPr/>
        </p:nvPicPr>
        <p:blipFill>
          <a:blip r:embed="rId7"/>
          <a:stretch>
            <a:fillRect/>
          </a:stretch>
        </p:blipFill>
        <p:spPr>
          <a:xfrm>
            <a:off x="677839" y="1944112"/>
            <a:ext cx="7231255" cy="1027688"/>
          </a:xfrm>
          <a:prstGeom prst="rect">
            <a:avLst/>
          </a:prstGeom>
        </p:spPr>
      </p:pic>
    </p:spTree>
    <p:extLst>
      <p:ext uri="{BB962C8B-B14F-4D97-AF65-F5344CB8AC3E}">
        <p14:creationId xmlns:p14="http://schemas.microsoft.com/office/powerpoint/2010/main" val="3825809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346" name="Picture 2"/>
          <p:cNvPicPr>
            <a:picLocks noGrp="1" noChangeAspect="1" noChangeArrowheads="1"/>
          </p:cNvPicPr>
          <p:nvPr>
            <p:ph idx="1"/>
          </p:nvPr>
        </p:nvPicPr>
        <p:blipFill>
          <a:blip r:embed="rId2" cstate="print"/>
          <a:srcRect/>
          <a:stretch>
            <a:fillRect/>
          </a:stretch>
        </p:blipFill>
        <p:spPr bwMode="auto">
          <a:xfrm>
            <a:off x="685800" y="0"/>
            <a:ext cx="4495800" cy="457200"/>
          </a:xfrm>
          <a:prstGeom prst="rect">
            <a:avLst/>
          </a:prstGeom>
          <a:noFill/>
          <a:ln w="9525">
            <a:noFill/>
            <a:miter lim="800000"/>
            <a:headEnd/>
            <a:tailEnd/>
          </a:ln>
          <a:effectLst/>
        </p:spPr>
      </p:pic>
      <p:sp>
        <p:nvSpPr>
          <p:cNvPr id="10" name="Rectangle 9"/>
          <p:cNvSpPr/>
          <p:nvPr/>
        </p:nvSpPr>
        <p:spPr>
          <a:xfrm>
            <a:off x="0" y="685800"/>
            <a:ext cx="9144000" cy="954107"/>
          </a:xfrm>
          <a:prstGeom prst="rect">
            <a:avLst/>
          </a:prstGeom>
        </p:spPr>
        <p:txBody>
          <a:bodyPr wrap="square">
            <a:spAutoFit/>
          </a:bodyPr>
          <a:lstStyle/>
          <a:p>
            <a:r>
              <a:rPr lang="en-US" sz="2800" b="1" dirty="0" smtClean="0">
                <a:solidFill>
                  <a:srgbClr val="0000FF"/>
                </a:solidFill>
                <a:effectLst>
                  <a:outerShdw blurRad="38100" dist="38100" dir="2700000" algn="tl">
                    <a:srgbClr val="000000">
                      <a:alpha val="43137"/>
                    </a:srgbClr>
                  </a:outerShdw>
                </a:effectLst>
              </a:rPr>
              <a:t>The </a:t>
            </a:r>
            <a:r>
              <a:rPr lang="en-US" sz="2800" b="1" dirty="0" err="1" smtClean="0">
                <a:solidFill>
                  <a:srgbClr val="0000FF"/>
                </a:solidFill>
                <a:effectLst>
                  <a:outerShdw blurRad="38100" dist="38100" dir="2700000" algn="tl">
                    <a:srgbClr val="000000">
                      <a:alpha val="43137"/>
                    </a:srgbClr>
                  </a:outerShdw>
                </a:effectLst>
              </a:rPr>
              <a:t>interquartile</a:t>
            </a:r>
            <a:r>
              <a:rPr lang="en-US" sz="2800" b="1" dirty="0" smtClean="0">
                <a:solidFill>
                  <a:srgbClr val="0000FF"/>
                </a:solidFill>
                <a:effectLst>
                  <a:outerShdw blurRad="38100" dist="38100" dir="2700000" algn="tl">
                    <a:srgbClr val="000000">
                      <a:alpha val="43137"/>
                    </a:srgbClr>
                  </a:outerShdw>
                </a:effectLst>
              </a:rPr>
              <a:t> range is, IQR = 120 – 94 = 26 </a:t>
            </a:r>
          </a:p>
          <a:p>
            <a:r>
              <a:rPr lang="en-US" sz="2800" b="1" dirty="0" smtClean="0">
                <a:solidFill>
                  <a:srgbClr val="0000FF"/>
                </a:solidFill>
                <a:effectLst>
                  <a:outerShdw blurRad="38100" dist="38100" dir="2700000" algn="tl">
                    <a:srgbClr val="000000">
                      <a:alpha val="43137"/>
                    </a:srgbClr>
                  </a:outerShdw>
                </a:effectLst>
              </a:rPr>
              <a:t>while the range is R = 150 - 55 = 95</a:t>
            </a:r>
            <a:r>
              <a:rPr lang="en-US" sz="2800" dirty="0" smtClean="0">
                <a:solidFill>
                  <a:prstClr val="black"/>
                </a:solidFill>
              </a:rPr>
              <a:t>. </a:t>
            </a:r>
            <a:endParaRPr lang="en-US" sz="2800" dirty="0">
              <a:solidFill>
                <a:prstClr val="black"/>
              </a:solidFill>
            </a:endParaRPr>
          </a:p>
        </p:txBody>
      </p:sp>
      <p:sp>
        <p:nvSpPr>
          <p:cNvPr id="57347" name="Rectangle 3"/>
          <p:cNvSpPr>
            <a:spLocks noChangeArrowheads="1"/>
          </p:cNvSpPr>
          <p:nvPr/>
        </p:nvSpPr>
        <p:spPr bwMode="auto">
          <a:xfrm>
            <a:off x="0" y="1688068"/>
            <a:ext cx="9144000" cy="526297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just" fontAlgn="base">
              <a:spcBef>
                <a:spcPct val="0"/>
              </a:spcBef>
              <a:spcAft>
                <a:spcPct val="0"/>
              </a:spcAft>
            </a:pPr>
            <a:r>
              <a:rPr lang="en-US" sz="2400" dirty="0" smtClean="0">
                <a:solidFill>
                  <a:srgbClr val="333333"/>
                </a:solidFill>
                <a:latin typeface="Georgia" pitchFamily="18" charset="0"/>
                <a:ea typeface="Times New Roman" pitchFamily="18" charset="0"/>
                <a:cs typeface="Times New Roman" pitchFamily="18" charset="0"/>
              </a:rPr>
              <a:t>For instance, lowest 25% of the students had responses, ranging over 55 to 94, i.e. Rs 39,  </a:t>
            </a:r>
            <a:r>
              <a:rPr lang="en-US" sz="2400" b="1" dirty="0" smtClean="0">
                <a:solidFill>
                  <a:srgbClr val="FF0066"/>
                </a:solidFill>
                <a:effectLst>
                  <a:outerShdw blurRad="38100" dist="38100" dir="2700000" algn="tl">
                    <a:srgbClr val="000000">
                      <a:alpha val="43137"/>
                    </a:srgbClr>
                  </a:outerShdw>
                </a:effectLst>
                <a:latin typeface="Georgia" pitchFamily="18" charset="0"/>
                <a:ea typeface="Times New Roman" pitchFamily="18" charset="0"/>
                <a:cs typeface="Times New Roman" pitchFamily="18" charset="0"/>
              </a:rPr>
              <a:t>94 – 55 = 39</a:t>
            </a:r>
          </a:p>
          <a:p>
            <a:pPr algn="just" fontAlgn="base">
              <a:spcBef>
                <a:spcPct val="0"/>
              </a:spcBef>
              <a:spcAft>
                <a:spcPct val="0"/>
              </a:spcAft>
            </a:pPr>
            <a:endParaRPr lang="en-US" sz="2400" dirty="0" smtClean="0">
              <a:solidFill>
                <a:srgbClr val="333333"/>
              </a:solidFill>
              <a:latin typeface="Georgia" pitchFamily="18" charset="0"/>
              <a:ea typeface="Times New Roman" pitchFamily="18" charset="0"/>
              <a:cs typeface="Times New Roman" pitchFamily="18" charset="0"/>
            </a:endParaRPr>
          </a:p>
          <a:p>
            <a:pPr algn="just" fontAlgn="base">
              <a:spcBef>
                <a:spcPct val="0"/>
              </a:spcBef>
              <a:spcAft>
                <a:spcPct val="0"/>
              </a:spcAft>
            </a:pPr>
            <a:r>
              <a:rPr lang="en-US" sz="2400" dirty="0" smtClean="0">
                <a:solidFill>
                  <a:srgbClr val="333333"/>
                </a:solidFill>
                <a:latin typeface="Georgia" pitchFamily="18" charset="0"/>
                <a:ea typeface="Times New Roman" pitchFamily="18" charset="0"/>
                <a:cs typeface="Times New Roman" pitchFamily="18" charset="0"/>
              </a:rPr>
              <a:t>while the next 25% had responses ranging over 94 to 105, i.e. only Rs 11.   </a:t>
            </a:r>
            <a:r>
              <a:rPr lang="en-US" sz="2400" b="1" dirty="0" smtClean="0">
                <a:solidFill>
                  <a:srgbClr val="FF0066"/>
                </a:solidFill>
                <a:effectLst>
                  <a:outerShdw blurRad="38100" dist="38100" dir="2700000" algn="tl">
                    <a:srgbClr val="000000">
                      <a:alpha val="43137"/>
                    </a:srgbClr>
                  </a:outerShdw>
                </a:effectLst>
                <a:latin typeface="Georgia" pitchFamily="18" charset="0"/>
                <a:ea typeface="Times New Roman" pitchFamily="18" charset="0"/>
                <a:cs typeface="Times New Roman" pitchFamily="18" charset="0"/>
              </a:rPr>
              <a:t>105 – 94  = 11</a:t>
            </a:r>
          </a:p>
          <a:p>
            <a:pPr algn="just" fontAlgn="base">
              <a:spcBef>
                <a:spcPct val="0"/>
              </a:spcBef>
              <a:spcAft>
                <a:spcPct val="0"/>
              </a:spcAft>
            </a:pPr>
            <a:endParaRPr lang="en-US" sz="2400" dirty="0" smtClean="0">
              <a:solidFill>
                <a:srgbClr val="333333"/>
              </a:solidFill>
              <a:latin typeface="Georgia" pitchFamily="18" charset="0"/>
              <a:ea typeface="Times New Roman" pitchFamily="18" charset="0"/>
              <a:cs typeface="Times New Roman" pitchFamily="18" charset="0"/>
            </a:endParaRPr>
          </a:p>
          <a:p>
            <a:pPr algn="just" fontAlgn="base">
              <a:spcBef>
                <a:spcPct val="0"/>
              </a:spcBef>
              <a:spcAft>
                <a:spcPct val="0"/>
              </a:spcAft>
            </a:pPr>
            <a:r>
              <a:rPr lang="en-US" sz="2400" dirty="0" smtClean="0">
                <a:solidFill>
                  <a:srgbClr val="333333"/>
                </a:solidFill>
                <a:latin typeface="Georgia" pitchFamily="18" charset="0"/>
                <a:ea typeface="Times New Roman" pitchFamily="18" charset="0"/>
                <a:cs typeface="Times New Roman" pitchFamily="18" charset="0"/>
              </a:rPr>
              <a:t>Similarly, the third quarter had responses from 105 to 120, i.e. only Rs 5,    </a:t>
            </a:r>
            <a:r>
              <a:rPr lang="en-US" sz="2400" b="1" dirty="0" smtClean="0">
                <a:solidFill>
                  <a:srgbClr val="FF0066"/>
                </a:solidFill>
                <a:effectLst>
                  <a:outerShdw blurRad="38100" dist="38100" dir="2700000" algn="tl">
                    <a:srgbClr val="000000">
                      <a:alpha val="43137"/>
                    </a:srgbClr>
                  </a:outerShdw>
                </a:effectLst>
                <a:latin typeface="Georgia" pitchFamily="18" charset="0"/>
                <a:ea typeface="Times New Roman" pitchFamily="18" charset="0"/>
                <a:cs typeface="Times New Roman" pitchFamily="18" charset="0"/>
              </a:rPr>
              <a:t>120 – 105 = 15</a:t>
            </a:r>
          </a:p>
          <a:p>
            <a:pPr algn="just" fontAlgn="base">
              <a:spcBef>
                <a:spcPct val="0"/>
              </a:spcBef>
              <a:spcAft>
                <a:spcPct val="0"/>
              </a:spcAft>
            </a:pPr>
            <a:endParaRPr lang="en-US" sz="2400" dirty="0" smtClean="0">
              <a:solidFill>
                <a:srgbClr val="333333"/>
              </a:solidFill>
              <a:latin typeface="Georgia" pitchFamily="18" charset="0"/>
              <a:ea typeface="Times New Roman" pitchFamily="18" charset="0"/>
              <a:cs typeface="Times New Roman" pitchFamily="18" charset="0"/>
            </a:endParaRPr>
          </a:p>
          <a:p>
            <a:pPr algn="just" fontAlgn="base">
              <a:spcBef>
                <a:spcPct val="0"/>
              </a:spcBef>
              <a:spcAft>
                <a:spcPct val="0"/>
              </a:spcAft>
            </a:pPr>
            <a:r>
              <a:rPr lang="en-US" sz="2400" dirty="0" smtClean="0">
                <a:solidFill>
                  <a:srgbClr val="333333"/>
                </a:solidFill>
                <a:latin typeface="Georgia" pitchFamily="18" charset="0"/>
                <a:ea typeface="Times New Roman" pitchFamily="18" charset="0"/>
                <a:cs typeface="Times New Roman" pitchFamily="18" charset="0"/>
              </a:rPr>
              <a:t>while the top 25% had responses in the interval (120 to 150), i.e. Rs 30.  </a:t>
            </a:r>
            <a:r>
              <a:rPr lang="en-US" sz="2400" b="1" dirty="0" smtClean="0">
                <a:solidFill>
                  <a:srgbClr val="FF0066"/>
                </a:solidFill>
                <a:effectLst>
                  <a:outerShdw blurRad="38100" dist="38100" dir="2700000" algn="tl">
                    <a:srgbClr val="000000">
                      <a:alpha val="43137"/>
                    </a:srgbClr>
                  </a:outerShdw>
                </a:effectLst>
                <a:latin typeface="Georgia" pitchFamily="18" charset="0"/>
                <a:ea typeface="Times New Roman" pitchFamily="18" charset="0"/>
                <a:cs typeface="Times New Roman" pitchFamily="18" charset="0"/>
              </a:rPr>
              <a:t>150-120 = 30</a:t>
            </a:r>
          </a:p>
          <a:p>
            <a:pPr algn="just" eaLnBrk="0" fontAlgn="base" hangingPunct="0">
              <a:spcBef>
                <a:spcPct val="0"/>
              </a:spcBef>
              <a:spcAft>
                <a:spcPct val="0"/>
              </a:spcAft>
            </a:pPr>
            <a:endParaRPr lang="en-US" sz="2400" dirty="0" smtClean="0">
              <a:solidFill>
                <a:srgbClr val="333333"/>
              </a:solidFill>
              <a:latin typeface="Georgia" pitchFamily="18" charset="0"/>
              <a:ea typeface="Times New Roman" pitchFamily="18" charset="0"/>
              <a:cs typeface="Times New Roman" pitchFamily="18" charset="0"/>
            </a:endParaRPr>
          </a:p>
          <a:p>
            <a:pPr algn="just" eaLnBrk="0" fontAlgn="base" hangingPunct="0">
              <a:spcBef>
                <a:spcPct val="0"/>
              </a:spcBef>
              <a:spcAft>
                <a:spcPct val="0"/>
              </a:spcAft>
            </a:pPr>
            <a:r>
              <a:rPr lang="en-US" sz="2400" dirty="0" smtClean="0">
                <a:solidFill>
                  <a:srgbClr val="333333"/>
                </a:solidFill>
                <a:latin typeface="Georgia" pitchFamily="18" charset="0"/>
                <a:ea typeface="Times New Roman" pitchFamily="18" charset="0"/>
                <a:cs typeface="Times New Roman" pitchFamily="18" charset="0"/>
              </a:rPr>
              <a:t>The median and quartiles divide the data into equal numbers of values </a:t>
            </a:r>
            <a:endParaRPr lang="en-US" sz="3200" dirty="0" smtClean="0">
              <a:solidFill>
                <a:prstClr val="black"/>
              </a:solidFill>
              <a:latin typeface="Arial" pitchFamily="34" charset="0"/>
              <a:cs typeface="Arial" pitchFamily="34" charset="0"/>
            </a:endParaRPr>
          </a:p>
        </p:txBody>
      </p:sp>
    </p:spTree>
    <p:extLst>
      <p:ext uri="{BB962C8B-B14F-4D97-AF65-F5344CB8AC3E}">
        <p14:creationId xmlns:p14="http://schemas.microsoft.com/office/powerpoint/2010/main" val="40116535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321" name="Picture 1"/>
          <p:cNvPicPr>
            <a:picLocks noGrp="1" noChangeAspect="1" noChangeArrowheads="1"/>
          </p:cNvPicPr>
          <p:nvPr>
            <p:ph idx="1"/>
          </p:nvPr>
        </p:nvPicPr>
        <p:blipFill>
          <a:blip r:embed="rId2" cstate="print"/>
          <a:srcRect/>
          <a:stretch>
            <a:fillRect/>
          </a:stretch>
        </p:blipFill>
        <p:spPr bwMode="auto">
          <a:xfrm>
            <a:off x="2362200" y="685800"/>
            <a:ext cx="3657600" cy="809625"/>
          </a:xfrm>
          <a:prstGeom prst="rect">
            <a:avLst/>
          </a:prstGeom>
          <a:noFill/>
          <a:ln w="9525">
            <a:noFill/>
            <a:miter lim="800000"/>
            <a:headEnd/>
            <a:tailEnd/>
          </a:ln>
          <a:effectLst/>
        </p:spPr>
      </p:pic>
      <p:pic>
        <p:nvPicPr>
          <p:cNvPr id="56322" name="Picture 2"/>
          <p:cNvPicPr>
            <a:picLocks noChangeAspect="1" noChangeArrowheads="1"/>
          </p:cNvPicPr>
          <p:nvPr/>
        </p:nvPicPr>
        <p:blipFill>
          <a:blip r:embed="rId3" cstate="print"/>
          <a:srcRect/>
          <a:stretch>
            <a:fillRect/>
          </a:stretch>
        </p:blipFill>
        <p:spPr bwMode="auto">
          <a:xfrm>
            <a:off x="1905000" y="1524000"/>
            <a:ext cx="5105400" cy="1219200"/>
          </a:xfrm>
          <a:prstGeom prst="rect">
            <a:avLst/>
          </a:prstGeom>
          <a:noFill/>
          <a:ln w="9525">
            <a:noFill/>
            <a:miter lim="800000"/>
            <a:headEnd/>
            <a:tailEnd/>
          </a:ln>
          <a:effectLst/>
        </p:spPr>
      </p:pic>
      <p:pic>
        <p:nvPicPr>
          <p:cNvPr id="56323" name="Picture 3"/>
          <p:cNvPicPr>
            <a:picLocks noChangeAspect="1" noChangeArrowheads="1"/>
          </p:cNvPicPr>
          <p:nvPr/>
        </p:nvPicPr>
        <p:blipFill>
          <a:blip r:embed="rId4" cstate="print"/>
          <a:srcRect/>
          <a:stretch>
            <a:fillRect/>
          </a:stretch>
        </p:blipFill>
        <p:spPr bwMode="auto">
          <a:xfrm>
            <a:off x="1524000" y="5334000"/>
            <a:ext cx="6781800" cy="933450"/>
          </a:xfrm>
          <a:prstGeom prst="rect">
            <a:avLst/>
          </a:prstGeom>
          <a:noFill/>
          <a:ln w="9525">
            <a:noFill/>
            <a:miter lim="800000"/>
            <a:headEnd/>
            <a:tailEnd/>
          </a:ln>
          <a:effectLst/>
        </p:spPr>
      </p:pic>
      <p:pic>
        <p:nvPicPr>
          <p:cNvPr id="56324" name="Picture 4"/>
          <p:cNvPicPr>
            <a:picLocks noChangeAspect="1" noChangeArrowheads="1"/>
          </p:cNvPicPr>
          <p:nvPr/>
        </p:nvPicPr>
        <p:blipFill>
          <a:blip r:embed="rId5" cstate="print"/>
          <a:srcRect/>
          <a:stretch>
            <a:fillRect/>
          </a:stretch>
        </p:blipFill>
        <p:spPr bwMode="auto">
          <a:xfrm>
            <a:off x="3200400" y="4038600"/>
            <a:ext cx="3143250" cy="952500"/>
          </a:xfrm>
          <a:prstGeom prst="rect">
            <a:avLst/>
          </a:prstGeom>
          <a:noFill/>
          <a:ln w="9525">
            <a:noFill/>
            <a:miter lim="800000"/>
            <a:headEnd/>
            <a:tailEnd/>
          </a:ln>
          <a:effectLst/>
        </p:spPr>
      </p:pic>
    </p:spTree>
    <p:extLst>
      <p:ext uri="{BB962C8B-B14F-4D97-AF65-F5344CB8AC3E}">
        <p14:creationId xmlns:p14="http://schemas.microsoft.com/office/powerpoint/2010/main" val="33574839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b="1" dirty="0" smtClean="0">
                <a:solidFill>
                  <a:srgbClr val="FF0000"/>
                </a:solidFill>
              </a:rPr>
              <a:t>DISCRETE SERIES QD</a:t>
            </a:r>
            <a:endParaRPr lang="en-US" b="1" dirty="0">
              <a:solidFill>
                <a:srgbClr val="FF0000"/>
              </a:solidFill>
            </a:endParaRPr>
          </a:p>
        </p:txBody>
      </p:sp>
      <p:pic>
        <p:nvPicPr>
          <p:cNvPr id="50179" name="Picture 3"/>
          <p:cNvPicPr>
            <a:picLocks noChangeAspect="1" noChangeArrowheads="1"/>
          </p:cNvPicPr>
          <p:nvPr/>
        </p:nvPicPr>
        <p:blipFill>
          <a:blip r:embed="rId2" cstate="print"/>
          <a:srcRect/>
          <a:stretch>
            <a:fillRect/>
          </a:stretch>
        </p:blipFill>
        <p:spPr bwMode="auto">
          <a:xfrm>
            <a:off x="914400" y="1295400"/>
            <a:ext cx="7448550" cy="4638675"/>
          </a:xfrm>
          <a:prstGeom prst="rect">
            <a:avLst/>
          </a:prstGeom>
          <a:noFill/>
          <a:ln w="9525">
            <a:noFill/>
            <a:miter lim="800000"/>
            <a:headEnd/>
            <a:tailEnd/>
          </a:ln>
          <a:effectLst/>
        </p:spPr>
      </p:pic>
    </p:spTree>
    <p:extLst>
      <p:ext uri="{BB962C8B-B14F-4D97-AF65-F5344CB8AC3E}">
        <p14:creationId xmlns:p14="http://schemas.microsoft.com/office/powerpoint/2010/main" val="26576437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9393" name="Picture 1"/>
          <p:cNvPicPr>
            <a:picLocks noGrp="1" noChangeAspect="1" noChangeArrowheads="1"/>
          </p:cNvPicPr>
          <p:nvPr>
            <p:ph idx="1"/>
          </p:nvPr>
        </p:nvPicPr>
        <p:blipFill>
          <a:blip r:embed="rId2" cstate="print"/>
          <a:srcRect/>
          <a:stretch>
            <a:fillRect/>
          </a:stretch>
        </p:blipFill>
        <p:spPr bwMode="auto">
          <a:xfrm>
            <a:off x="2286000" y="1828800"/>
            <a:ext cx="3505200" cy="885825"/>
          </a:xfrm>
          <a:prstGeom prst="rect">
            <a:avLst/>
          </a:prstGeom>
          <a:noFill/>
          <a:ln w="9525">
            <a:noFill/>
            <a:miter lim="800000"/>
            <a:headEnd/>
            <a:tailEnd/>
          </a:ln>
          <a:effectLst/>
        </p:spPr>
      </p:pic>
      <p:pic>
        <p:nvPicPr>
          <p:cNvPr id="59394" name="Picture 2"/>
          <p:cNvPicPr>
            <a:picLocks noChangeAspect="1" noChangeArrowheads="1"/>
          </p:cNvPicPr>
          <p:nvPr/>
        </p:nvPicPr>
        <p:blipFill>
          <a:blip r:embed="rId3" cstate="print"/>
          <a:srcRect/>
          <a:stretch>
            <a:fillRect/>
          </a:stretch>
        </p:blipFill>
        <p:spPr bwMode="auto">
          <a:xfrm>
            <a:off x="2514600" y="3048000"/>
            <a:ext cx="3200400" cy="990600"/>
          </a:xfrm>
          <a:prstGeom prst="rect">
            <a:avLst/>
          </a:prstGeom>
          <a:noFill/>
          <a:ln w="9525">
            <a:noFill/>
            <a:miter lim="800000"/>
            <a:headEnd/>
            <a:tailEnd/>
          </a:ln>
          <a:effectLst/>
        </p:spPr>
      </p:pic>
      <p:pic>
        <p:nvPicPr>
          <p:cNvPr id="3" name="Picture 2"/>
          <p:cNvPicPr>
            <a:picLocks noChangeAspect="1"/>
          </p:cNvPicPr>
          <p:nvPr/>
        </p:nvPicPr>
        <p:blipFill>
          <a:blip r:embed="rId4"/>
          <a:stretch>
            <a:fillRect/>
          </a:stretch>
        </p:blipFill>
        <p:spPr>
          <a:xfrm>
            <a:off x="1981200" y="4371975"/>
            <a:ext cx="4572396" cy="1316850"/>
          </a:xfrm>
          <a:prstGeom prst="rect">
            <a:avLst/>
          </a:prstGeom>
        </p:spPr>
      </p:pic>
    </p:spTree>
    <p:extLst>
      <p:ext uri="{BB962C8B-B14F-4D97-AF65-F5344CB8AC3E}">
        <p14:creationId xmlns:p14="http://schemas.microsoft.com/office/powerpoint/2010/main" val="12995105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2466" name="Picture 2"/>
          <p:cNvPicPr>
            <a:picLocks noGrp="1" noChangeAspect="1" noChangeArrowheads="1"/>
          </p:cNvPicPr>
          <p:nvPr>
            <p:ph idx="1"/>
          </p:nvPr>
        </p:nvPicPr>
        <p:blipFill>
          <a:blip r:embed="rId2" cstate="print"/>
          <a:srcRect/>
          <a:stretch>
            <a:fillRect/>
          </a:stretch>
        </p:blipFill>
        <p:spPr bwMode="auto">
          <a:xfrm>
            <a:off x="609600" y="0"/>
            <a:ext cx="7010400" cy="990600"/>
          </a:xfrm>
          <a:prstGeom prst="rect">
            <a:avLst/>
          </a:prstGeom>
          <a:noFill/>
          <a:ln w="9525">
            <a:noFill/>
            <a:miter lim="800000"/>
            <a:headEnd/>
            <a:tailEnd/>
          </a:ln>
          <a:effectLst/>
        </p:spPr>
      </p:pic>
      <p:pic>
        <p:nvPicPr>
          <p:cNvPr id="62467" name="Picture 3"/>
          <p:cNvPicPr>
            <a:picLocks noChangeAspect="1" noChangeArrowheads="1"/>
          </p:cNvPicPr>
          <p:nvPr/>
        </p:nvPicPr>
        <p:blipFill>
          <a:blip r:embed="rId3" cstate="print"/>
          <a:srcRect/>
          <a:stretch>
            <a:fillRect/>
          </a:stretch>
        </p:blipFill>
        <p:spPr bwMode="auto">
          <a:xfrm>
            <a:off x="609600" y="1066800"/>
            <a:ext cx="7267575" cy="990600"/>
          </a:xfrm>
          <a:prstGeom prst="rect">
            <a:avLst/>
          </a:prstGeom>
          <a:noFill/>
          <a:ln w="9525">
            <a:noFill/>
            <a:miter lim="800000"/>
            <a:headEnd/>
            <a:tailEnd/>
          </a:ln>
          <a:effectLst/>
        </p:spPr>
      </p:pic>
      <p:pic>
        <p:nvPicPr>
          <p:cNvPr id="2" name="Picture 1"/>
          <p:cNvPicPr>
            <a:picLocks noChangeAspect="1" noChangeArrowheads="1"/>
          </p:cNvPicPr>
          <p:nvPr/>
        </p:nvPicPr>
        <p:blipFill>
          <a:blip r:embed="rId4" cstate="print"/>
          <a:srcRect/>
          <a:stretch>
            <a:fillRect/>
          </a:stretch>
        </p:blipFill>
        <p:spPr bwMode="auto">
          <a:xfrm>
            <a:off x="228600" y="3124200"/>
            <a:ext cx="8620125" cy="3590925"/>
          </a:xfrm>
          <a:prstGeom prst="rect">
            <a:avLst/>
          </a:prstGeom>
          <a:noFill/>
          <a:ln w="9525">
            <a:noFill/>
            <a:miter lim="800000"/>
            <a:headEnd/>
            <a:tailEnd/>
          </a:ln>
          <a:effectLst/>
        </p:spPr>
      </p:pic>
      <p:pic>
        <p:nvPicPr>
          <p:cNvPr id="4" name="Picture 3"/>
          <p:cNvPicPr>
            <a:picLocks noChangeAspect="1"/>
          </p:cNvPicPr>
          <p:nvPr/>
        </p:nvPicPr>
        <p:blipFill>
          <a:blip r:embed="rId5"/>
          <a:stretch>
            <a:fillRect/>
          </a:stretch>
        </p:blipFill>
        <p:spPr>
          <a:xfrm>
            <a:off x="654203" y="-26522"/>
            <a:ext cx="7240782" cy="1075266"/>
          </a:xfrm>
          <a:prstGeom prst="rect">
            <a:avLst/>
          </a:prstGeom>
        </p:spPr>
      </p:pic>
      <p:pic>
        <p:nvPicPr>
          <p:cNvPr id="6" name="Picture 5"/>
          <p:cNvPicPr>
            <a:picLocks noChangeAspect="1"/>
          </p:cNvPicPr>
          <p:nvPr/>
        </p:nvPicPr>
        <p:blipFill>
          <a:blip r:embed="rId6"/>
          <a:stretch>
            <a:fillRect/>
          </a:stretch>
        </p:blipFill>
        <p:spPr>
          <a:xfrm>
            <a:off x="609600" y="2133600"/>
            <a:ext cx="7240782" cy="951563"/>
          </a:xfrm>
          <a:prstGeom prst="rect">
            <a:avLst/>
          </a:prstGeom>
        </p:spPr>
      </p:pic>
    </p:spTree>
    <p:extLst>
      <p:ext uri="{BB962C8B-B14F-4D97-AF65-F5344CB8AC3E}">
        <p14:creationId xmlns:p14="http://schemas.microsoft.com/office/powerpoint/2010/main" val="10883519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2466" name="Picture 2"/>
          <p:cNvPicPr>
            <a:picLocks noGrp="1" noChangeAspect="1" noChangeArrowheads="1"/>
          </p:cNvPicPr>
          <p:nvPr>
            <p:ph idx="1"/>
          </p:nvPr>
        </p:nvPicPr>
        <p:blipFill>
          <a:blip r:embed="rId2" cstate="print"/>
          <a:srcRect/>
          <a:stretch>
            <a:fillRect/>
          </a:stretch>
        </p:blipFill>
        <p:spPr bwMode="auto">
          <a:xfrm>
            <a:off x="609600" y="0"/>
            <a:ext cx="7010400" cy="990600"/>
          </a:xfrm>
          <a:prstGeom prst="rect">
            <a:avLst/>
          </a:prstGeom>
          <a:noFill/>
          <a:ln w="9525">
            <a:noFill/>
            <a:miter lim="800000"/>
            <a:headEnd/>
            <a:tailEnd/>
          </a:ln>
          <a:effectLst/>
        </p:spPr>
      </p:pic>
      <p:pic>
        <p:nvPicPr>
          <p:cNvPr id="62467" name="Picture 3"/>
          <p:cNvPicPr>
            <a:picLocks noChangeAspect="1" noChangeArrowheads="1"/>
          </p:cNvPicPr>
          <p:nvPr/>
        </p:nvPicPr>
        <p:blipFill>
          <a:blip r:embed="rId3" cstate="print"/>
          <a:srcRect/>
          <a:stretch>
            <a:fillRect/>
          </a:stretch>
        </p:blipFill>
        <p:spPr bwMode="auto">
          <a:xfrm>
            <a:off x="609600" y="1066800"/>
            <a:ext cx="7267575" cy="990600"/>
          </a:xfrm>
          <a:prstGeom prst="rect">
            <a:avLst/>
          </a:prstGeom>
          <a:noFill/>
          <a:ln w="9525">
            <a:noFill/>
            <a:miter lim="800000"/>
            <a:headEnd/>
            <a:tailEnd/>
          </a:ln>
          <a:effectLst/>
        </p:spPr>
      </p:pic>
      <p:pic>
        <p:nvPicPr>
          <p:cNvPr id="2" name="Picture 1"/>
          <p:cNvPicPr>
            <a:picLocks noChangeAspect="1" noChangeArrowheads="1"/>
          </p:cNvPicPr>
          <p:nvPr/>
        </p:nvPicPr>
        <p:blipFill>
          <a:blip r:embed="rId4" cstate="print"/>
          <a:srcRect/>
          <a:stretch>
            <a:fillRect/>
          </a:stretch>
        </p:blipFill>
        <p:spPr bwMode="auto">
          <a:xfrm>
            <a:off x="228600" y="3124200"/>
            <a:ext cx="8620125" cy="3590925"/>
          </a:xfrm>
          <a:prstGeom prst="rect">
            <a:avLst/>
          </a:prstGeom>
          <a:noFill/>
          <a:ln w="9525">
            <a:noFill/>
            <a:miter lim="800000"/>
            <a:headEnd/>
            <a:tailEnd/>
          </a:ln>
          <a:effectLst/>
        </p:spPr>
      </p:pic>
      <p:pic>
        <p:nvPicPr>
          <p:cNvPr id="4" name="Picture 3"/>
          <p:cNvPicPr>
            <a:picLocks noChangeAspect="1"/>
          </p:cNvPicPr>
          <p:nvPr/>
        </p:nvPicPr>
        <p:blipFill>
          <a:blip r:embed="rId5"/>
          <a:stretch>
            <a:fillRect/>
          </a:stretch>
        </p:blipFill>
        <p:spPr>
          <a:xfrm>
            <a:off x="654203" y="-26522"/>
            <a:ext cx="7240782" cy="1075266"/>
          </a:xfrm>
          <a:prstGeom prst="rect">
            <a:avLst/>
          </a:prstGeom>
        </p:spPr>
      </p:pic>
      <p:pic>
        <p:nvPicPr>
          <p:cNvPr id="6" name="Picture 5"/>
          <p:cNvPicPr>
            <a:picLocks noChangeAspect="1"/>
          </p:cNvPicPr>
          <p:nvPr/>
        </p:nvPicPr>
        <p:blipFill>
          <a:blip r:embed="rId6"/>
          <a:stretch>
            <a:fillRect/>
          </a:stretch>
        </p:blipFill>
        <p:spPr>
          <a:xfrm>
            <a:off x="609600" y="2133600"/>
            <a:ext cx="7240782" cy="951563"/>
          </a:xfrm>
          <a:prstGeom prst="rect">
            <a:avLst/>
          </a:prstGeom>
        </p:spPr>
      </p:pic>
      <p:pic>
        <p:nvPicPr>
          <p:cNvPr id="7" name="Picture 6"/>
          <p:cNvPicPr>
            <a:picLocks noChangeAspect="1"/>
          </p:cNvPicPr>
          <p:nvPr/>
        </p:nvPicPr>
        <p:blipFill>
          <a:blip r:embed="rId7"/>
          <a:stretch>
            <a:fillRect/>
          </a:stretch>
        </p:blipFill>
        <p:spPr>
          <a:xfrm>
            <a:off x="198446" y="3161363"/>
            <a:ext cx="8584138" cy="3558844"/>
          </a:xfrm>
          <a:prstGeom prst="rect">
            <a:avLst/>
          </a:prstGeom>
        </p:spPr>
      </p:pic>
    </p:spTree>
    <p:extLst>
      <p:ext uri="{BB962C8B-B14F-4D97-AF65-F5344CB8AC3E}">
        <p14:creationId xmlns:p14="http://schemas.microsoft.com/office/powerpoint/2010/main" val="26373178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b="1" dirty="0" smtClean="0">
                <a:solidFill>
                  <a:srgbClr val="FF0000"/>
                </a:solidFill>
              </a:rPr>
              <a:t>DISCRETE SERIES QD</a:t>
            </a:r>
            <a:endParaRPr lang="en-US" b="1" dirty="0">
              <a:solidFill>
                <a:srgbClr val="FF0000"/>
              </a:solidFill>
            </a:endParaRPr>
          </a:p>
        </p:txBody>
      </p:sp>
      <p:pic>
        <p:nvPicPr>
          <p:cNvPr id="50179" name="Picture 3"/>
          <p:cNvPicPr>
            <a:picLocks noChangeAspect="1" noChangeArrowheads="1"/>
          </p:cNvPicPr>
          <p:nvPr/>
        </p:nvPicPr>
        <p:blipFill>
          <a:blip r:embed="rId2" cstate="print"/>
          <a:srcRect/>
          <a:stretch>
            <a:fillRect/>
          </a:stretch>
        </p:blipFill>
        <p:spPr bwMode="auto">
          <a:xfrm>
            <a:off x="914400" y="1295400"/>
            <a:ext cx="7448550" cy="4638675"/>
          </a:xfrm>
          <a:prstGeom prst="rect">
            <a:avLst/>
          </a:prstGeom>
          <a:noFill/>
          <a:ln w="9525">
            <a:noFill/>
            <a:miter lim="800000"/>
            <a:headEnd/>
            <a:tailEnd/>
          </a:ln>
          <a:effec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9393" name="Picture 1"/>
          <p:cNvPicPr>
            <a:picLocks noGrp="1" noChangeAspect="1" noChangeArrowheads="1"/>
          </p:cNvPicPr>
          <p:nvPr>
            <p:ph idx="1"/>
          </p:nvPr>
        </p:nvPicPr>
        <p:blipFill>
          <a:blip r:embed="rId2" cstate="print"/>
          <a:srcRect/>
          <a:stretch>
            <a:fillRect/>
          </a:stretch>
        </p:blipFill>
        <p:spPr bwMode="auto">
          <a:xfrm>
            <a:off x="2286000" y="1828800"/>
            <a:ext cx="3505200" cy="885825"/>
          </a:xfrm>
          <a:prstGeom prst="rect">
            <a:avLst/>
          </a:prstGeom>
          <a:noFill/>
          <a:ln w="9525">
            <a:noFill/>
            <a:miter lim="800000"/>
            <a:headEnd/>
            <a:tailEnd/>
          </a:ln>
          <a:effectLst/>
        </p:spPr>
      </p:pic>
      <p:pic>
        <p:nvPicPr>
          <p:cNvPr id="59394" name="Picture 2"/>
          <p:cNvPicPr>
            <a:picLocks noChangeAspect="1" noChangeArrowheads="1"/>
          </p:cNvPicPr>
          <p:nvPr/>
        </p:nvPicPr>
        <p:blipFill>
          <a:blip r:embed="rId3" cstate="print"/>
          <a:srcRect/>
          <a:stretch>
            <a:fillRect/>
          </a:stretch>
        </p:blipFill>
        <p:spPr bwMode="auto">
          <a:xfrm>
            <a:off x="2514600" y="3048000"/>
            <a:ext cx="3200400" cy="990600"/>
          </a:xfrm>
          <a:prstGeom prst="rect">
            <a:avLst/>
          </a:prstGeom>
          <a:noFill/>
          <a:ln w="9525">
            <a:noFill/>
            <a:miter lim="800000"/>
            <a:headEnd/>
            <a:tailEnd/>
          </a:ln>
          <a:effectLst/>
        </p:spPr>
      </p:pic>
      <p:pic>
        <p:nvPicPr>
          <p:cNvPr id="59396" name="Picture 4"/>
          <p:cNvPicPr>
            <a:picLocks noChangeAspect="1" noChangeArrowheads="1"/>
          </p:cNvPicPr>
          <p:nvPr/>
        </p:nvPicPr>
        <p:blipFill>
          <a:blip r:embed="rId4" cstate="print"/>
          <a:srcRect/>
          <a:stretch>
            <a:fillRect/>
          </a:stretch>
        </p:blipFill>
        <p:spPr bwMode="auto">
          <a:xfrm>
            <a:off x="2514600" y="4343400"/>
            <a:ext cx="3448050" cy="1323975"/>
          </a:xfrm>
          <a:prstGeom prst="rect">
            <a:avLst/>
          </a:prstGeom>
          <a:noFill/>
          <a:ln w="9525">
            <a:noFill/>
            <a:miter lim="800000"/>
            <a:headEnd/>
            <a:tailEnd/>
          </a:ln>
          <a:effectLst/>
        </p:spPr>
      </p:pic>
      <p:pic>
        <p:nvPicPr>
          <p:cNvPr id="6" name="Picture 5"/>
          <p:cNvPicPr>
            <a:picLocks noChangeAspect="1"/>
          </p:cNvPicPr>
          <p:nvPr/>
        </p:nvPicPr>
        <p:blipFill>
          <a:blip r:embed="rId5"/>
          <a:stretch>
            <a:fillRect/>
          </a:stretch>
        </p:blipFill>
        <p:spPr>
          <a:xfrm>
            <a:off x="2051720" y="4509120"/>
            <a:ext cx="4573126" cy="1322672"/>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Picture 1"/>
          <p:cNvPicPr>
            <a:picLocks noGrp="1" noChangeAspect="1" noChangeArrowheads="1"/>
          </p:cNvPicPr>
          <p:nvPr>
            <p:ph idx="1"/>
          </p:nvPr>
        </p:nvPicPr>
        <p:blipFill>
          <a:blip r:embed="rId2" cstate="print"/>
          <a:srcRect/>
          <a:stretch>
            <a:fillRect/>
          </a:stretch>
        </p:blipFill>
        <p:spPr bwMode="auto">
          <a:xfrm>
            <a:off x="3886200" y="2362200"/>
            <a:ext cx="3276600" cy="1219200"/>
          </a:xfrm>
          <a:prstGeom prst="rect">
            <a:avLst/>
          </a:prstGeom>
          <a:noFill/>
          <a:ln w="9525">
            <a:noFill/>
            <a:miter lim="800000"/>
            <a:headEnd/>
            <a:tailEnd/>
          </a:ln>
          <a:effectLst/>
        </p:spPr>
      </p:pic>
      <p:pic>
        <p:nvPicPr>
          <p:cNvPr id="5" name="Picture 4"/>
          <p:cNvPicPr>
            <a:picLocks noChangeAspect="1" noChangeArrowheads="1"/>
          </p:cNvPicPr>
          <p:nvPr/>
        </p:nvPicPr>
        <p:blipFill>
          <a:blip r:embed="rId3" cstate="print"/>
          <a:srcRect/>
          <a:stretch>
            <a:fillRect/>
          </a:stretch>
        </p:blipFill>
        <p:spPr bwMode="auto">
          <a:xfrm>
            <a:off x="3352800" y="4419600"/>
            <a:ext cx="4438650" cy="1600200"/>
          </a:xfrm>
          <a:prstGeom prst="rect">
            <a:avLst/>
          </a:prstGeom>
          <a:noFill/>
          <a:ln w="9525">
            <a:noFill/>
            <a:miter lim="800000"/>
            <a:headEnd/>
            <a:tailEnd/>
          </a:ln>
          <a:effectLst/>
        </p:spPr>
      </p:pic>
      <p:pic>
        <p:nvPicPr>
          <p:cNvPr id="44033" name="Picture 1"/>
          <p:cNvPicPr>
            <a:picLocks noChangeAspect="1" noChangeArrowheads="1"/>
          </p:cNvPicPr>
          <p:nvPr/>
        </p:nvPicPr>
        <p:blipFill>
          <a:blip r:embed="rId4"/>
          <a:srcRect/>
          <a:stretch>
            <a:fillRect/>
          </a:stretch>
        </p:blipFill>
        <p:spPr bwMode="auto">
          <a:xfrm>
            <a:off x="457200" y="1676400"/>
            <a:ext cx="2133600" cy="1981200"/>
          </a:xfrm>
          <a:prstGeom prst="rect">
            <a:avLst/>
          </a:prstGeom>
          <a:noFill/>
          <a:ln w="9525">
            <a:noFill/>
            <a:miter lim="800000"/>
            <a:headEnd/>
            <a:tailEnd/>
          </a:ln>
          <a:effec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CONTINUOUS SERIES QD</a:t>
            </a:r>
            <a:endParaRPr lang="en-US" dirty="0"/>
          </a:p>
        </p:txBody>
      </p:sp>
      <p:pic>
        <p:nvPicPr>
          <p:cNvPr id="65538" name="Picture 2"/>
          <p:cNvPicPr>
            <a:picLocks noGrp="1" noChangeAspect="1" noChangeArrowheads="1"/>
          </p:cNvPicPr>
          <p:nvPr>
            <p:ph idx="1"/>
          </p:nvPr>
        </p:nvPicPr>
        <p:blipFill>
          <a:blip r:embed="rId2" cstate="print"/>
          <a:stretch>
            <a:fillRect/>
          </a:stretch>
        </p:blipFill>
        <p:spPr bwMode="auto">
          <a:xfrm>
            <a:off x="381000" y="1447800"/>
            <a:ext cx="7924800" cy="4000341"/>
          </a:xfrm>
          <a:prstGeom prst="rect">
            <a:avLst/>
          </a:prstGeom>
          <a:noFill/>
          <a:ln w="9525">
            <a:noFill/>
            <a:miter lim="800000"/>
            <a:headEnd/>
            <a:tailEnd/>
          </a:ln>
          <a:effec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514" name="Picture 2"/>
          <p:cNvPicPr>
            <a:picLocks noGrp="1" noChangeAspect="1" noChangeArrowheads="1"/>
          </p:cNvPicPr>
          <p:nvPr>
            <p:ph idx="1"/>
          </p:nvPr>
        </p:nvPicPr>
        <p:blipFill>
          <a:blip r:embed="rId2" cstate="print"/>
          <a:srcRect/>
          <a:stretch>
            <a:fillRect/>
          </a:stretch>
        </p:blipFill>
        <p:spPr bwMode="auto">
          <a:xfrm>
            <a:off x="304800" y="228600"/>
            <a:ext cx="3657600" cy="1171575"/>
          </a:xfrm>
          <a:prstGeom prst="rect">
            <a:avLst/>
          </a:prstGeom>
          <a:noFill/>
          <a:ln w="9525">
            <a:noFill/>
            <a:miter lim="800000"/>
            <a:headEnd/>
            <a:tailEnd/>
          </a:ln>
          <a:effectLst/>
        </p:spPr>
      </p:pic>
      <p:pic>
        <p:nvPicPr>
          <p:cNvPr id="64521" name="Picture 9"/>
          <p:cNvPicPr>
            <a:picLocks noChangeAspect="1" noChangeArrowheads="1"/>
          </p:cNvPicPr>
          <p:nvPr/>
        </p:nvPicPr>
        <p:blipFill>
          <a:blip r:embed="rId3" cstate="print"/>
          <a:srcRect/>
          <a:stretch>
            <a:fillRect/>
          </a:stretch>
        </p:blipFill>
        <p:spPr bwMode="auto">
          <a:xfrm>
            <a:off x="4572000" y="304800"/>
            <a:ext cx="1752600" cy="790575"/>
          </a:xfrm>
          <a:prstGeom prst="rect">
            <a:avLst/>
          </a:prstGeom>
          <a:ln w="88900" cap="sq" cmpd="thickThin">
            <a:solidFill>
              <a:srgbClr val="000000"/>
            </a:solidFill>
            <a:prstDash val="solid"/>
            <a:miter lim="800000"/>
          </a:ln>
          <a:effectLst>
            <a:innerShdw blurRad="76200">
              <a:srgbClr val="000000"/>
            </a:innerShdw>
          </a:effectLst>
        </p:spPr>
      </p:pic>
      <p:pic>
        <p:nvPicPr>
          <p:cNvPr id="64522" name="Picture 10"/>
          <p:cNvPicPr>
            <a:picLocks noChangeAspect="1" noChangeArrowheads="1"/>
          </p:cNvPicPr>
          <p:nvPr/>
        </p:nvPicPr>
        <p:blipFill>
          <a:blip r:embed="rId4" cstate="print"/>
          <a:srcRect/>
          <a:stretch>
            <a:fillRect/>
          </a:stretch>
        </p:blipFill>
        <p:spPr bwMode="auto">
          <a:xfrm>
            <a:off x="4572000" y="1676400"/>
            <a:ext cx="1733550" cy="771525"/>
          </a:xfrm>
          <a:prstGeom prst="rect">
            <a:avLst/>
          </a:prstGeom>
          <a:ln w="88900" cap="sq" cmpd="thickThin">
            <a:solidFill>
              <a:srgbClr val="000000"/>
            </a:solidFill>
            <a:prstDash val="solid"/>
            <a:miter lim="800000"/>
          </a:ln>
          <a:effectLst>
            <a:innerShdw blurRad="76200">
              <a:srgbClr val="000000"/>
            </a:innerShdw>
          </a:effectLst>
        </p:spPr>
      </p:pic>
      <p:pic>
        <p:nvPicPr>
          <p:cNvPr id="64523" name="Picture 11"/>
          <p:cNvPicPr>
            <a:picLocks noChangeAspect="1" noChangeArrowheads="1"/>
          </p:cNvPicPr>
          <p:nvPr/>
        </p:nvPicPr>
        <p:blipFill>
          <a:blip r:embed="rId5" cstate="print"/>
          <a:srcRect/>
          <a:stretch>
            <a:fillRect/>
          </a:stretch>
        </p:blipFill>
        <p:spPr bwMode="auto">
          <a:xfrm>
            <a:off x="4495800" y="3048000"/>
            <a:ext cx="1752600" cy="695325"/>
          </a:xfrm>
          <a:prstGeom prst="rect">
            <a:avLst/>
          </a:prstGeom>
          <a:ln w="88900" cap="sq" cmpd="thickThin">
            <a:solidFill>
              <a:srgbClr val="000000"/>
            </a:solidFill>
            <a:prstDash val="solid"/>
            <a:miter lim="800000"/>
          </a:ln>
          <a:effectLst>
            <a:innerShdw blurRad="76200">
              <a:srgbClr val="000000"/>
            </a:innerShdw>
          </a:effectLst>
        </p:spPr>
      </p:pic>
      <p:pic>
        <p:nvPicPr>
          <p:cNvPr id="11" name="Picture 10"/>
          <p:cNvPicPr/>
          <p:nvPr/>
        </p:nvPicPr>
        <p:blipFill>
          <a:blip r:embed="rId6" cstate="print"/>
          <a:srcRect/>
          <a:stretch>
            <a:fillRect/>
          </a:stretch>
        </p:blipFill>
        <p:spPr bwMode="auto">
          <a:xfrm>
            <a:off x="762000" y="4648200"/>
            <a:ext cx="2971800" cy="800100"/>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pic>
        <p:nvPicPr>
          <p:cNvPr id="14" name="Picture 13"/>
          <p:cNvPicPr/>
          <p:nvPr/>
        </p:nvPicPr>
        <p:blipFill>
          <a:blip r:embed="rId7" cstate="print"/>
          <a:srcRect/>
          <a:stretch>
            <a:fillRect/>
          </a:stretch>
        </p:blipFill>
        <p:spPr bwMode="auto">
          <a:xfrm>
            <a:off x="5486400" y="4953000"/>
            <a:ext cx="2971800" cy="103822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5" name="Picture 14"/>
          <p:cNvPicPr/>
          <p:nvPr/>
        </p:nvPicPr>
        <p:blipFill>
          <a:blip r:embed="rId8" cstate="print"/>
          <a:srcRect/>
          <a:stretch>
            <a:fillRect/>
          </a:stretch>
        </p:blipFill>
        <p:spPr bwMode="auto">
          <a:xfrm>
            <a:off x="304800" y="6019800"/>
            <a:ext cx="4648200" cy="49530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pic>
        <p:nvPicPr>
          <p:cNvPr id="12" name="Picture 2"/>
          <p:cNvPicPr>
            <a:picLocks noChangeAspect="1" noChangeArrowheads="1"/>
          </p:cNvPicPr>
          <p:nvPr/>
        </p:nvPicPr>
        <p:blipFill>
          <a:blip r:embed="rId9" cstate="print"/>
          <a:srcRect/>
          <a:stretch>
            <a:fillRect/>
          </a:stretch>
        </p:blipFill>
        <p:spPr bwMode="auto">
          <a:xfrm>
            <a:off x="6629400" y="0"/>
            <a:ext cx="2286000" cy="914400"/>
          </a:xfrm>
          <a:prstGeom prst="rect">
            <a:avLst/>
          </a:prstGeom>
          <a:noFill/>
          <a:ln w="9525">
            <a:noFill/>
            <a:miter lim="800000"/>
            <a:headEnd/>
            <a:tailEnd/>
          </a:ln>
          <a:effectLst/>
        </p:spPr>
      </p:pic>
      <p:pic>
        <p:nvPicPr>
          <p:cNvPr id="41985" name="Picture 1"/>
          <p:cNvPicPr>
            <a:picLocks noChangeAspect="1" noChangeArrowheads="1"/>
          </p:cNvPicPr>
          <p:nvPr/>
        </p:nvPicPr>
        <p:blipFill>
          <a:blip r:embed="rId10"/>
          <a:srcRect/>
          <a:stretch>
            <a:fillRect/>
          </a:stretch>
        </p:blipFill>
        <p:spPr bwMode="auto">
          <a:xfrm>
            <a:off x="0" y="0"/>
            <a:ext cx="4191000" cy="1476375"/>
          </a:xfrm>
          <a:prstGeom prst="rect">
            <a:avLst/>
          </a:prstGeom>
          <a:noFill/>
          <a:ln w="9525">
            <a:noFill/>
            <a:miter lim="800000"/>
            <a:headEnd/>
            <a:tailEnd/>
          </a:ln>
          <a:effectLst/>
        </p:spPr>
      </p:pic>
      <p:pic>
        <p:nvPicPr>
          <p:cNvPr id="2" name="Picture 1"/>
          <p:cNvPicPr>
            <a:picLocks noChangeAspect="1" noChangeArrowheads="1"/>
          </p:cNvPicPr>
          <p:nvPr/>
        </p:nvPicPr>
        <p:blipFill>
          <a:blip r:embed="rId11"/>
          <a:srcRect/>
          <a:stretch>
            <a:fillRect/>
          </a:stretch>
        </p:blipFill>
        <p:spPr bwMode="auto">
          <a:xfrm>
            <a:off x="0" y="1447800"/>
            <a:ext cx="4267200" cy="1381125"/>
          </a:xfrm>
          <a:prstGeom prst="rect">
            <a:avLst/>
          </a:prstGeom>
          <a:noFill/>
          <a:ln w="9525">
            <a:noFill/>
            <a:miter lim="800000"/>
            <a:headEnd/>
            <a:tailEnd/>
          </a:ln>
          <a:effectLst/>
        </p:spPr>
      </p:pic>
      <p:pic>
        <p:nvPicPr>
          <p:cNvPr id="41986" name="Picture 2"/>
          <p:cNvPicPr>
            <a:picLocks noChangeAspect="1" noChangeArrowheads="1"/>
          </p:cNvPicPr>
          <p:nvPr/>
        </p:nvPicPr>
        <p:blipFill>
          <a:blip r:embed="rId12"/>
          <a:srcRect/>
          <a:stretch>
            <a:fillRect/>
          </a:stretch>
        </p:blipFill>
        <p:spPr bwMode="auto">
          <a:xfrm>
            <a:off x="0" y="2819400"/>
            <a:ext cx="4219575" cy="1419225"/>
          </a:xfrm>
          <a:prstGeom prst="rect">
            <a:avLst/>
          </a:prstGeom>
          <a:noFill/>
          <a:ln w="9525">
            <a:noFill/>
            <a:miter lim="800000"/>
            <a:headEnd/>
            <a:tailEnd/>
          </a:ln>
          <a:effec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0114" name="Picture 2"/>
          <p:cNvPicPr>
            <a:picLocks noGrp="1" noChangeAspect="1" noChangeArrowheads="1"/>
          </p:cNvPicPr>
          <p:nvPr>
            <p:ph idx="1"/>
          </p:nvPr>
        </p:nvPicPr>
        <p:blipFill>
          <a:blip r:embed="rId2" cstate="print"/>
          <a:srcRect/>
          <a:stretch>
            <a:fillRect/>
          </a:stretch>
        </p:blipFill>
        <p:spPr bwMode="auto">
          <a:xfrm>
            <a:off x="228600" y="304800"/>
            <a:ext cx="8915400" cy="5973763"/>
          </a:xfrm>
          <a:prstGeom prst="rect">
            <a:avLst/>
          </a:prstGeom>
          <a:noFill/>
          <a:ln w="9525">
            <a:noFill/>
            <a:miter lim="800000"/>
            <a:headEnd/>
            <a:tailEnd/>
          </a:ln>
          <a:effec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Grp="1" noChangeAspect="1" noChangeArrowheads="1"/>
          </p:cNvPicPr>
          <p:nvPr>
            <p:ph idx="1"/>
          </p:nvPr>
        </p:nvPicPr>
        <p:blipFill>
          <a:blip r:embed="rId2" cstate="print"/>
          <a:srcRect/>
          <a:stretch>
            <a:fillRect/>
          </a:stretch>
        </p:blipFill>
        <p:spPr bwMode="auto">
          <a:xfrm>
            <a:off x="228600" y="5486400"/>
            <a:ext cx="3657600" cy="1171575"/>
          </a:xfrm>
          <a:prstGeom prst="rect">
            <a:avLst/>
          </a:prstGeom>
          <a:noFill/>
          <a:ln w="9525">
            <a:noFill/>
            <a:miter lim="800000"/>
            <a:headEnd/>
            <a:tailEnd/>
          </a:ln>
          <a:effectLst/>
        </p:spPr>
      </p:pic>
      <p:pic>
        <p:nvPicPr>
          <p:cNvPr id="66562" name="Picture 2"/>
          <p:cNvPicPr>
            <a:picLocks noChangeAspect="1" noChangeArrowheads="1"/>
          </p:cNvPicPr>
          <p:nvPr/>
        </p:nvPicPr>
        <p:blipFill>
          <a:blip r:embed="rId3" cstate="print"/>
          <a:srcRect/>
          <a:stretch>
            <a:fillRect/>
          </a:stretch>
        </p:blipFill>
        <p:spPr bwMode="auto">
          <a:xfrm>
            <a:off x="6477000" y="228600"/>
            <a:ext cx="2286000" cy="914400"/>
          </a:xfrm>
          <a:prstGeom prst="rect">
            <a:avLst/>
          </a:prstGeom>
          <a:ln>
            <a:solidFill>
              <a:srgbClr val="CC00FF"/>
            </a:solidFill>
          </a:ln>
          <a:effectLst>
            <a:outerShdw blurRad="190500" algn="tl" rotWithShape="0">
              <a:srgbClr val="000000">
                <a:alpha val="70000"/>
              </a:srgbClr>
            </a:outerShdw>
          </a:effectLst>
        </p:spPr>
      </p:pic>
      <p:pic>
        <p:nvPicPr>
          <p:cNvPr id="66566" name="Picture 6"/>
          <p:cNvPicPr>
            <a:picLocks noChangeAspect="1" noChangeArrowheads="1"/>
          </p:cNvPicPr>
          <p:nvPr/>
        </p:nvPicPr>
        <p:blipFill>
          <a:blip r:embed="rId4" cstate="print"/>
          <a:srcRect/>
          <a:stretch>
            <a:fillRect/>
          </a:stretch>
        </p:blipFill>
        <p:spPr bwMode="auto">
          <a:xfrm>
            <a:off x="2971800" y="4114800"/>
            <a:ext cx="3733800" cy="762000"/>
          </a:xfrm>
          <a:prstGeom prst="rect">
            <a:avLst/>
          </a:prstGeom>
          <a:ln>
            <a:noFill/>
          </a:ln>
          <a:effectLst>
            <a:outerShdw blurRad="190500" algn="tl" rotWithShape="0">
              <a:srgbClr val="000000">
                <a:alpha val="70000"/>
              </a:srgbClr>
            </a:outerShdw>
          </a:effectLst>
        </p:spPr>
      </p:pic>
      <p:pic>
        <p:nvPicPr>
          <p:cNvPr id="44033" name="Picture 1"/>
          <p:cNvPicPr>
            <a:picLocks noChangeAspect="1" noChangeArrowheads="1"/>
          </p:cNvPicPr>
          <p:nvPr/>
        </p:nvPicPr>
        <p:blipFill>
          <a:blip r:embed="rId5" cstate="print"/>
          <a:srcRect/>
          <a:stretch>
            <a:fillRect/>
          </a:stretch>
        </p:blipFill>
        <p:spPr bwMode="auto">
          <a:xfrm>
            <a:off x="4572000" y="5172075"/>
            <a:ext cx="4191000" cy="1685925"/>
          </a:xfrm>
          <a:prstGeom prst="rect">
            <a:avLst/>
          </a:prstGeom>
          <a:noFill/>
          <a:ln w="9525">
            <a:noFill/>
            <a:miter lim="800000"/>
            <a:headEnd/>
            <a:tailEnd/>
          </a:ln>
          <a:effectLst/>
        </p:spPr>
      </p:pic>
      <p:pic>
        <p:nvPicPr>
          <p:cNvPr id="8" name="Picture 9"/>
          <p:cNvPicPr>
            <a:picLocks noChangeAspect="1" noChangeArrowheads="1"/>
          </p:cNvPicPr>
          <p:nvPr/>
        </p:nvPicPr>
        <p:blipFill>
          <a:blip r:embed="rId6" cstate="print"/>
          <a:srcRect/>
          <a:stretch>
            <a:fillRect/>
          </a:stretch>
        </p:blipFill>
        <p:spPr bwMode="auto">
          <a:xfrm>
            <a:off x="4419600" y="304800"/>
            <a:ext cx="1190625" cy="790575"/>
          </a:xfrm>
          <a:prstGeom prst="rect">
            <a:avLst/>
          </a:prstGeom>
          <a:ln w="88900" cap="sq" cmpd="thickThin">
            <a:solidFill>
              <a:srgbClr val="CC00FF"/>
            </a:solidFill>
            <a:prstDash val="solid"/>
            <a:miter lim="800000"/>
          </a:ln>
          <a:effectLst>
            <a:innerShdw blurRad="76200">
              <a:srgbClr val="000000"/>
            </a:innerShdw>
          </a:effectLst>
        </p:spPr>
      </p:pic>
      <p:pic>
        <p:nvPicPr>
          <p:cNvPr id="40961" name="Picture 1"/>
          <p:cNvPicPr>
            <a:picLocks noChangeAspect="1" noChangeArrowheads="1"/>
          </p:cNvPicPr>
          <p:nvPr/>
        </p:nvPicPr>
        <p:blipFill>
          <a:blip r:embed="rId7" cstate="print"/>
          <a:srcRect/>
          <a:stretch>
            <a:fillRect/>
          </a:stretch>
        </p:blipFill>
        <p:spPr bwMode="auto">
          <a:xfrm>
            <a:off x="3352800" y="1600200"/>
            <a:ext cx="3438525" cy="790575"/>
          </a:xfrm>
          <a:prstGeom prst="rect">
            <a:avLst/>
          </a:prstGeom>
          <a:ln>
            <a:solidFill>
              <a:srgbClr val="9966FF"/>
            </a:solidFill>
          </a:ln>
          <a:effectLst>
            <a:outerShdw blurRad="190500" algn="tl" rotWithShape="0">
              <a:srgbClr val="000000">
                <a:alpha val="70000"/>
              </a:srgbClr>
            </a:outerShdw>
          </a:effectLst>
        </p:spPr>
      </p:pic>
      <p:pic>
        <p:nvPicPr>
          <p:cNvPr id="40962" name="Picture 2"/>
          <p:cNvPicPr>
            <a:picLocks noChangeAspect="1" noChangeArrowheads="1"/>
          </p:cNvPicPr>
          <p:nvPr/>
        </p:nvPicPr>
        <p:blipFill>
          <a:blip r:embed="rId8" cstate="print"/>
          <a:srcRect/>
          <a:stretch>
            <a:fillRect/>
          </a:stretch>
        </p:blipFill>
        <p:spPr bwMode="auto">
          <a:xfrm>
            <a:off x="2057400" y="2438400"/>
            <a:ext cx="5600700" cy="485775"/>
          </a:xfrm>
          <a:prstGeom prst="rect">
            <a:avLst/>
          </a:prstGeom>
          <a:ln>
            <a:solidFill>
              <a:srgbClr val="FFFF00"/>
            </a:solidFill>
          </a:ln>
          <a:effectLst>
            <a:outerShdw blurRad="190500" algn="tl" rotWithShape="0">
              <a:srgbClr val="000000">
                <a:alpha val="70000"/>
              </a:srgbClr>
            </a:outerShdw>
          </a:effectLst>
        </p:spPr>
      </p:pic>
      <p:pic>
        <p:nvPicPr>
          <p:cNvPr id="40963" name="Picture 3"/>
          <p:cNvPicPr>
            <a:picLocks noChangeAspect="1" noChangeArrowheads="1"/>
          </p:cNvPicPr>
          <p:nvPr/>
        </p:nvPicPr>
        <p:blipFill>
          <a:blip r:embed="rId9" cstate="print"/>
          <a:srcRect/>
          <a:stretch>
            <a:fillRect/>
          </a:stretch>
        </p:blipFill>
        <p:spPr bwMode="auto">
          <a:xfrm>
            <a:off x="2133600" y="3200400"/>
            <a:ext cx="5286375" cy="771525"/>
          </a:xfrm>
          <a:prstGeom prst="roundRect">
            <a:avLst>
              <a:gd name="adj" fmla="val 16667"/>
            </a:avLst>
          </a:prstGeom>
          <a:ln>
            <a:solidFill>
              <a:srgbClr val="FF0066"/>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10" name="Picture 1"/>
          <p:cNvPicPr>
            <a:picLocks noChangeAspect="1" noChangeArrowheads="1"/>
          </p:cNvPicPr>
          <p:nvPr/>
        </p:nvPicPr>
        <p:blipFill>
          <a:blip r:embed="rId10"/>
          <a:srcRect/>
          <a:stretch>
            <a:fillRect/>
          </a:stretch>
        </p:blipFill>
        <p:spPr bwMode="auto">
          <a:xfrm>
            <a:off x="0" y="0"/>
            <a:ext cx="4191000" cy="1476375"/>
          </a:xfrm>
          <a:prstGeom prst="rect">
            <a:avLst/>
          </a:prstGeom>
          <a:noFill/>
          <a:ln w="9525">
            <a:noFill/>
            <a:miter lim="800000"/>
            <a:headEnd/>
            <a:tailEnd/>
          </a:ln>
          <a:effec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noChangeArrowheads="1"/>
          </p:cNvPicPr>
          <p:nvPr>
            <p:ph idx="1"/>
          </p:nvPr>
        </p:nvPicPr>
        <p:blipFill>
          <a:blip r:embed="rId2" cstate="print"/>
          <a:srcRect/>
          <a:stretch>
            <a:fillRect/>
          </a:stretch>
        </p:blipFill>
        <p:spPr bwMode="auto">
          <a:xfrm>
            <a:off x="685800" y="5105400"/>
            <a:ext cx="3733800" cy="144780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pic>
        <p:nvPicPr>
          <p:cNvPr id="1026" name="Picture 2"/>
          <p:cNvPicPr>
            <a:picLocks noChangeAspect="1" noChangeArrowheads="1"/>
          </p:cNvPicPr>
          <p:nvPr/>
        </p:nvPicPr>
        <p:blipFill>
          <a:blip r:embed="rId3" cstate="print"/>
          <a:srcRect/>
          <a:stretch>
            <a:fillRect/>
          </a:stretch>
        </p:blipFill>
        <p:spPr bwMode="auto">
          <a:xfrm>
            <a:off x="3352800" y="152400"/>
            <a:ext cx="2895600" cy="1219200"/>
          </a:xfrm>
          <a:prstGeom prst="rect">
            <a:avLst/>
          </a:prstGeom>
          <a:ln>
            <a:solidFill>
              <a:srgbClr val="FF0000"/>
            </a:solidFill>
          </a:ln>
          <a:effectLst>
            <a:outerShdw blurRad="190500" algn="tl" rotWithShape="0">
              <a:srgbClr val="000000">
                <a:alpha val="70000"/>
              </a:srgbClr>
            </a:outerShdw>
          </a:effectLst>
        </p:spPr>
      </p:pic>
      <p:pic>
        <p:nvPicPr>
          <p:cNvPr id="1027" name="Picture 3"/>
          <p:cNvPicPr>
            <a:picLocks noChangeAspect="1" noChangeArrowheads="1"/>
          </p:cNvPicPr>
          <p:nvPr/>
        </p:nvPicPr>
        <p:blipFill>
          <a:blip r:embed="rId4" cstate="print"/>
          <a:srcRect/>
          <a:stretch>
            <a:fillRect/>
          </a:stretch>
        </p:blipFill>
        <p:spPr bwMode="auto">
          <a:xfrm>
            <a:off x="914400" y="1600200"/>
            <a:ext cx="3581400" cy="1066800"/>
          </a:xfrm>
          <a:prstGeom prst="rect">
            <a:avLst/>
          </a:prstGeom>
          <a:ln>
            <a:solidFill>
              <a:srgbClr val="FF0000"/>
            </a:solid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p:spPr>
      </p:pic>
      <p:pic>
        <p:nvPicPr>
          <p:cNvPr id="1028" name="Picture 4"/>
          <p:cNvPicPr>
            <a:picLocks noChangeAspect="1" noChangeArrowheads="1"/>
          </p:cNvPicPr>
          <p:nvPr/>
        </p:nvPicPr>
        <p:blipFill>
          <a:blip r:embed="rId5" cstate="print"/>
          <a:srcRect/>
          <a:stretch>
            <a:fillRect/>
          </a:stretch>
        </p:blipFill>
        <p:spPr bwMode="auto">
          <a:xfrm>
            <a:off x="4800600" y="1676400"/>
            <a:ext cx="3305175" cy="771525"/>
          </a:xfrm>
          <a:prstGeom prst="rect">
            <a:avLst/>
          </a:prstGeom>
          <a:noFill/>
          <a:ln w="9525">
            <a:solidFill>
              <a:srgbClr val="FF0000"/>
            </a:solidFill>
            <a:miter lim="800000"/>
            <a:headEnd/>
            <a:tailEnd/>
          </a:ln>
          <a:effectLst/>
        </p:spPr>
      </p:pic>
      <p:pic>
        <p:nvPicPr>
          <p:cNvPr id="1029" name="Picture 5"/>
          <p:cNvPicPr>
            <a:picLocks noChangeAspect="1" noChangeArrowheads="1"/>
          </p:cNvPicPr>
          <p:nvPr/>
        </p:nvPicPr>
        <p:blipFill>
          <a:blip r:embed="rId6" cstate="print"/>
          <a:srcRect/>
          <a:stretch>
            <a:fillRect/>
          </a:stretch>
        </p:blipFill>
        <p:spPr bwMode="auto">
          <a:xfrm>
            <a:off x="1905000" y="3124200"/>
            <a:ext cx="5105400" cy="647700"/>
          </a:xfrm>
          <a:prstGeom prst="rect">
            <a:avLst/>
          </a:prstGeom>
          <a:ln w="38100" cap="sq">
            <a:solidFill>
              <a:srgbClr val="0000FF"/>
            </a:solidFill>
            <a:prstDash val="solid"/>
            <a:miter lim="800000"/>
          </a:ln>
          <a:effectLst>
            <a:outerShdw blurRad="50800" dist="38100" dir="2700000" algn="tl" rotWithShape="0">
              <a:srgbClr val="000000">
                <a:alpha val="43000"/>
              </a:srgbClr>
            </a:outerShdw>
          </a:effectLst>
        </p:spPr>
      </p:pic>
      <p:pic>
        <p:nvPicPr>
          <p:cNvPr id="10" name="Picture 6"/>
          <p:cNvPicPr>
            <a:picLocks noChangeAspect="1" noChangeArrowheads="1"/>
          </p:cNvPicPr>
          <p:nvPr/>
        </p:nvPicPr>
        <p:blipFill>
          <a:blip r:embed="rId7" cstate="print"/>
          <a:srcRect/>
          <a:stretch>
            <a:fillRect/>
          </a:stretch>
        </p:blipFill>
        <p:spPr bwMode="auto">
          <a:xfrm>
            <a:off x="2362200" y="4191000"/>
            <a:ext cx="3733800" cy="533400"/>
          </a:xfrm>
          <a:prstGeom prst="rect">
            <a:avLst/>
          </a:prstGeom>
          <a:ln>
            <a:noFill/>
          </a:ln>
          <a:effectLst>
            <a:outerShdw blurRad="190500" algn="tl" rotWithShape="0">
              <a:srgbClr val="000000">
                <a:alpha val="70000"/>
              </a:srgbClr>
            </a:outerShdw>
          </a:effectLst>
        </p:spPr>
      </p:pic>
      <p:pic>
        <p:nvPicPr>
          <p:cNvPr id="1030" name="Picture 6"/>
          <p:cNvPicPr>
            <a:picLocks noChangeAspect="1" noChangeArrowheads="1"/>
          </p:cNvPicPr>
          <p:nvPr/>
        </p:nvPicPr>
        <p:blipFill>
          <a:blip r:embed="rId8" cstate="print"/>
          <a:srcRect/>
          <a:stretch>
            <a:fillRect/>
          </a:stretch>
        </p:blipFill>
        <p:spPr bwMode="auto">
          <a:xfrm>
            <a:off x="4876800" y="5029200"/>
            <a:ext cx="3886200" cy="1600200"/>
          </a:xfrm>
          <a:prstGeom prst="round2DiagRect">
            <a:avLst>
              <a:gd name="adj1" fmla="val 16667"/>
              <a:gd name="adj2" fmla="val 0"/>
            </a:avLst>
          </a:prstGeom>
          <a:ln w="88900" cap="sq">
            <a:solidFill>
              <a:srgbClr val="FFC000"/>
            </a:solidFill>
            <a:miter lim="800000"/>
          </a:ln>
          <a:effectLst>
            <a:outerShdw blurRad="254000" algn="tl" rotWithShape="0">
              <a:srgbClr val="000000">
                <a:alpha val="43000"/>
              </a:srgbClr>
            </a:outerShdw>
          </a:effectLst>
        </p:spPr>
      </p:pic>
      <p:pic>
        <p:nvPicPr>
          <p:cNvPr id="11" name="Picture 10"/>
          <p:cNvPicPr>
            <a:picLocks noChangeAspect="1" noChangeArrowheads="1"/>
          </p:cNvPicPr>
          <p:nvPr/>
        </p:nvPicPr>
        <p:blipFill>
          <a:blip r:embed="rId9" cstate="print"/>
          <a:srcRect/>
          <a:stretch>
            <a:fillRect/>
          </a:stretch>
        </p:blipFill>
        <p:spPr bwMode="auto">
          <a:xfrm>
            <a:off x="609600" y="381000"/>
            <a:ext cx="1276350" cy="771525"/>
          </a:xfrm>
          <a:prstGeom prst="rect">
            <a:avLst/>
          </a:prstGeom>
          <a:ln w="88900" cap="sq" cmpd="thickThin">
            <a:solidFill>
              <a:srgbClr val="FF0066"/>
            </a:solidFill>
            <a:prstDash val="solid"/>
            <a:miter lim="800000"/>
          </a:ln>
          <a:effectLst>
            <a:innerShdw blurRad="76200">
              <a:srgbClr val="000000"/>
            </a:innerShdw>
          </a:effec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91139" name="Picture 3"/>
          <p:cNvPicPr>
            <a:picLocks noGrp="1" noChangeAspect="1" noChangeArrowheads="1"/>
          </p:cNvPicPr>
          <p:nvPr>
            <p:ph idx="1"/>
          </p:nvPr>
        </p:nvPicPr>
        <p:blipFill>
          <a:blip r:embed="rId2" cstate="print"/>
          <a:srcRect/>
          <a:stretch>
            <a:fillRect/>
          </a:stretch>
        </p:blipFill>
        <p:spPr bwMode="auto">
          <a:xfrm>
            <a:off x="0" y="0"/>
            <a:ext cx="9144000" cy="6858000"/>
          </a:xfrm>
          <a:prstGeom prst="rect">
            <a:avLst/>
          </a:prstGeom>
          <a:noFill/>
          <a:ln w="9525">
            <a:noFill/>
            <a:miter lim="800000"/>
            <a:headEnd/>
            <a:tailEnd/>
          </a:ln>
          <a:effec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p:cNvPicPr>
            <a:picLocks noGrp="1" noChangeAspect="1" noChangeArrowheads="1"/>
          </p:cNvPicPr>
          <p:nvPr>
            <p:ph idx="1"/>
          </p:nvPr>
        </p:nvPicPr>
        <p:blipFill>
          <a:blip r:embed="rId2" cstate="print"/>
          <a:srcRect/>
          <a:stretch>
            <a:fillRect/>
          </a:stretch>
        </p:blipFill>
        <p:spPr bwMode="auto">
          <a:xfrm>
            <a:off x="533400" y="4876800"/>
            <a:ext cx="3457575" cy="1304925"/>
          </a:xfrm>
          <a:prstGeom prst="round2DiagRect">
            <a:avLst>
              <a:gd name="adj1" fmla="val 16667"/>
              <a:gd name="adj2" fmla="val 0"/>
            </a:avLst>
          </a:prstGeom>
          <a:ln w="88900" cap="sq">
            <a:solidFill>
              <a:schemeClr val="bg1"/>
            </a:solidFill>
            <a:miter lim="800000"/>
          </a:ln>
          <a:effectLst>
            <a:outerShdw blurRad="254000" algn="tl" rotWithShape="0">
              <a:srgbClr val="000000">
                <a:alpha val="43000"/>
              </a:srgbClr>
            </a:outerShdw>
          </a:effectLst>
        </p:spPr>
      </p:pic>
      <p:pic>
        <p:nvPicPr>
          <p:cNvPr id="2051" name="Picture 3"/>
          <p:cNvPicPr>
            <a:picLocks noChangeAspect="1" noChangeArrowheads="1"/>
          </p:cNvPicPr>
          <p:nvPr/>
        </p:nvPicPr>
        <p:blipFill>
          <a:blip r:embed="rId3" cstate="print"/>
          <a:srcRect/>
          <a:stretch>
            <a:fillRect/>
          </a:stretch>
        </p:blipFill>
        <p:spPr bwMode="auto">
          <a:xfrm>
            <a:off x="3048000" y="228600"/>
            <a:ext cx="1647825" cy="1371600"/>
          </a:xfrm>
          <a:prstGeom prst="rect">
            <a:avLst/>
          </a:prstGeom>
          <a:ln>
            <a:solidFill>
              <a:srgbClr val="92D050"/>
            </a:solidFill>
          </a:ln>
          <a:effectLst>
            <a:outerShdw blurRad="292100" dist="139700" dir="2700000" algn="tl" rotWithShape="0">
              <a:srgbClr val="333333">
                <a:alpha val="65000"/>
              </a:srgbClr>
            </a:outerShdw>
          </a:effectLst>
        </p:spPr>
      </p:pic>
      <p:pic>
        <p:nvPicPr>
          <p:cNvPr id="2052" name="Picture 4"/>
          <p:cNvPicPr>
            <a:picLocks noChangeAspect="1" noChangeArrowheads="1"/>
          </p:cNvPicPr>
          <p:nvPr/>
        </p:nvPicPr>
        <p:blipFill>
          <a:blip r:embed="rId4" cstate="print"/>
          <a:srcRect/>
          <a:stretch>
            <a:fillRect/>
          </a:stretch>
        </p:blipFill>
        <p:spPr bwMode="auto">
          <a:xfrm>
            <a:off x="5410200" y="533400"/>
            <a:ext cx="2943225" cy="904875"/>
          </a:xfrm>
          <a:prstGeom prst="rect">
            <a:avLst/>
          </a:prstGeom>
          <a:ln>
            <a:solidFill>
              <a:srgbClr val="0070C0"/>
            </a:solidFill>
          </a:ln>
          <a:effectLst>
            <a:outerShdw blurRad="190500" algn="tl" rotWithShape="0">
              <a:srgbClr val="000000">
                <a:alpha val="70000"/>
              </a:srgbClr>
            </a:outerShdw>
          </a:effectLst>
        </p:spPr>
      </p:pic>
      <p:pic>
        <p:nvPicPr>
          <p:cNvPr id="2053" name="Picture 5"/>
          <p:cNvPicPr>
            <a:picLocks noChangeAspect="1" noChangeArrowheads="1"/>
          </p:cNvPicPr>
          <p:nvPr/>
        </p:nvPicPr>
        <p:blipFill>
          <a:blip r:embed="rId5" cstate="print"/>
          <a:srcRect/>
          <a:stretch>
            <a:fillRect/>
          </a:stretch>
        </p:blipFill>
        <p:spPr bwMode="auto">
          <a:xfrm>
            <a:off x="2590800" y="1981200"/>
            <a:ext cx="5391150" cy="676275"/>
          </a:xfrm>
          <a:prstGeom prst="rect">
            <a:avLst/>
          </a:prstGeom>
          <a:ln>
            <a:solidFill>
              <a:srgbClr val="FF0066"/>
            </a:solidFill>
          </a:ln>
          <a:effectLst>
            <a:outerShdw blurRad="190500" algn="tl" rotWithShape="0">
              <a:srgbClr val="000000">
                <a:alpha val="70000"/>
              </a:srgbClr>
            </a:outerShdw>
          </a:effectLst>
        </p:spPr>
      </p:pic>
      <p:pic>
        <p:nvPicPr>
          <p:cNvPr id="10" name="Picture 6"/>
          <p:cNvPicPr>
            <a:picLocks noChangeAspect="1" noChangeArrowheads="1"/>
          </p:cNvPicPr>
          <p:nvPr/>
        </p:nvPicPr>
        <p:blipFill>
          <a:blip r:embed="rId6" cstate="print"/>
          <a:srcRect/>
          <a:stretch>
            <a:fillRect/>
          </a:stretch>
        </p:blipFill>
        <p:spPr bwMode="auto">
          <a:xfrm>
            <a:off x="3429000" y="3124200"/>
            <a:ext cx="3733800" cy="685800"/>
          </a:xfrm>
          <a:prstGeom prst="rect">
            <a:avLst/>
          </a:prstGeom>
          <a:ln>
            <a:solidFill>
              <a:schemeClr val="accent4">
                <a:lumMod val="75000"/>
              </a:schemeClr>
            </a:solidFill>
          </a:ln>
          <a:effectLst>
            <a:outerShdw blurRad="190500" algn="tl" rotWithShape="0">
              <a:srgbClr val="000000">
                <a:alpha val="70000"/>
              </a:srgbClr>
            </a:outerShdw>
          </a:effectLst>
        </p:spPr>
      </p:pic>
      <p:pic>
        <p:nvPicPr>
          <p:cNvPr id="2054" name="Picture 6"/>
          <p:cNvPicPr>
            <a:picLocks noChangeAspect="1" noChangeArrowheads="1"/>
          </p:cNvPicPr>
          <p:nvPr/>
        </p:nvPicPr>
        <p:blipFill>
          <a:blip r:embed="rId7" cstate="print"/>
          <a:srcRect/>
          <a:stretch>
            <a:fillRect/>
          </a:stretch>
        </p:blipFill>
        <p:spPr bwMode="auto">
          <a:xfrm>
            <a:off x="5324475" y="4648200"/>
            <a:ext cx="3819525" cy="1190625"/>
          </a:xfrm>
          <a:prstGeom prst="rect">
            <a:avLst/>
          </a:prstGeom>
          <a:ln>
            <a:noFill/>
          </a:ln>
          <a:effectLst>
            <a:outerShdw blurRad="190500" algn="tl" rotWithShape="0">
              <a:srgbClr val="000000">
                <a:alpha val="70000"/>
              </a:srgbClr>
            </a:outerShdw>
          </a:effectLst>
        </p:spPr>
      </p:pic>
      <p:pic>
        <p:nvPicPr>
          <p:cNvPr id="2055" name="Picture 7"/>
          <p:cNvPicPr>
            <a:picLocks noChangeAspect="1" noChangeArrowheads="1"/>
          </p:cNvPicPr>
          <p:nvPr/>
        </p:nvPicPr>
        <p:blipFill>
          <a:blip r:embed="rId8" cstate="print"/>
          <a:srcRect/>
          <a:stretch>
            <a:fillRect/>
          </a:stretch>
        </p:blipFill>
        <p:spPr bwMode="auto">
          <a:xfrm>
            <a:off x="6629400" y="6248400"/>
            <a:ext cx="1047750" cy="400050"/>
          </a:xfrm>
          <a:prstGeom prst="rect">
            <a:avLst/>
          </a:prstGeom>
          <a:solidFill>
            <a:srgbClr val="FFFFFF">
              <a:shade val="85000"/>
            </a:srgbClr>
          </a:solid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1" name="Picture 11"/>
          <p:cNvPicPr>
            <a:picLocks noChangeAspect="1" noChangeArrowheads="1"/>
          </p:cNvPicPr>
          <p:nvPr/>
        </p:nvPicPr>
        <p:blipFill>
          <a:blip r:embed="rId9" cstate="print"/>
          <a:srcRect/>
          <a:stretch>
            <a:fillRect/>
          </a:stretch>
        </p:blipFill>
        <p:spPr bwMode="auto">
          <a:xfrm>
            <a:off x="609600" y="381000"/>
            <a:ext cx="1447800" cy="838200"/>
          </a:xfrm>
          <a:prstGeom prst="rect">
            <a:avLst/>
          </a:prstGeom>
          <a:ln w="88900" cap="sq" cmpd="thickThin">
            <a:solidFill>
              <a:srgbClr val="0000FF"/>
            </a:solidFill>
            <a:prstDash val="solid"/>
            <a:miter lim="800000"/>
          </a:ln>
          <a:effectLst>
            <a:innerShdw blurRad="76200">
              <a:srgbClr val="000000"/>
            </a:innerShdw>
          </a:effec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92162" name="Picture 2"/>
          <p:cNvPicPr>
            <a:picLocks noGrp="1" noChangeAspect="1" noChangeArrowheads="1"/>
          </p:cNvPicPr>
          <p:nvPr>
            <p:ph idx="1"/>
          </p:nvPr>
        </p:nvPicPr>
        <p:blipFill>
          <a:blip r:embed="rId2" cstate="print"/>
          <a:srcRect/>
          <a:stretch>
            <a:fillRect/>
          </a:stretch>
        </p:blipFill>
        <p:spPr bwMode="auto">
          <a:xfrm>
            <a:off x="0" y="0"/>
            <a:ext cx="9144000" cy="6629400"/>
          </a:xfrm>
          <a:prstGeom prst="rect">
            <a:avLst/>
          </a:prstGeom>
          <a:noFill/>
          <a:ln w="9525">
            <a:noFill/>
            <a:miter lim="800000"/>
            <a:headEnd/>
            <a:tailEnd/>
          </a:ln>
          <a:effec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52400"/>
            <a:ext cx="9144000" cy="6705600"/>
          </a:xfrm>
        </p:spPr>
        <p:txBody>
          <a:bodyPr>
            <a:normAutofit fontScale="70000" lnSpcReduction="20000"/>
          </a:bodyPr>
          <a:lstStyle/>
          <a:p>
            <a:pPr algn="just"/>
            <a:r>
              <a:rPr lang="en-US" b="1" dirty="0" smtClean="0"/>
              <a:t>Advantages</a:t>
            </a:r>
            <a:endParaRPr lang="en-US" dirty="0" smtClean="0"/>
          </a:p>
          <a:p>
            <a:pPr lvl="0" algn="just"/>
            <a:r>
              <a:rPr lang="en-US" dirty="0" smtClean="0"/>
              <a:t>It is not difficult to calculate but can only be used to evaluate variation among observed values within the middle of the data set. Its value is not affected by the extreme (highest and lowest) values in the data set.</a:t>
            </a:r>
          </a:p>
          <a:p>
            <a:pPr lvl="0" algn="just"/>
            <a:r>
              <a:rPr lang="en-US" dirty="0" smtClean="0"/>
              <a:t>It is an appropriate measure of variation for a data set summarized in open-end class intervals.</a:t>
            </a:r>
          </a:p>
          <a:p>
            <a:pPr lvl="0" algn="just"/>
            <a:r>
              <a:rPr lang="en-US" dirty="0" smtClean="0"/>
              <a:t>Since it is a positional measure of variation, therefore it is useful in case of erratic or highly skewed distributions, where other measures of variation get affected by extreme values in the data set.</a:t>
            </a:r>
          </a:p>
          <a:p>
            <a:pPr lvl="0" algn="just">
              <a:buNone/>
            </a:pPr>
            <a:endParaRPr lang="en-US" dirty="0" smtClean="0"/>
          </a:p>
          <a:p>
            <a:pPr algn="just"/>
            <a:r>
              <a:rPr lang="en-US" b="1" dirty="0" smtClean="0"/>
              <a:t>Disadvantages</a:t>
            </a:r>
            <a:endParaRPr lang="en-US" dirty="0" smtClean="0"/>
          </a:p>
          <a:p>
            <a:pPr lvl="0" algn="just"/>
            <a:r>
              <a:rPr lang="en-US" dirty="0" smtClean="0"/>
              <a:t>The value of Q.D. is based on the middle 50 per cent observed values in the data set, therefore it cannot be considered as a good measure of variation as it is not based on all the observations.</a:t>
            </a:r>
          </a:p>
          <a:p>
            <a:pPr lvl="0" algn="just"/>
            <a:r>
              <a:rPr lang="en-US" dirty="0" smtClean="0"/>
              <a:t>The value of Q.D. is very much affected by sampling fluctuations.</a:t>
            </a:r>
          </a:p>
          <a:p>
            <a:pPr lvl="0" algn="just"/>
            <a:r>
              <a:rPr lang="en-US" dirty="0" smtClean="0"/>
              <a:t>The Q.D. has no relationship to any particular value or an average in the data set for measuring the variation. Its value is not affected by the distribution of the individual values within the interval of the middle 50 per cent observed values.</a:t>
            </a:r>
          </a:p>
          <a:p>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fontScale="92500" lnSpcReduction="20000"/>
          </a:bodyPr>
          <a:lstStyle/>
          <a:p>
            <a:pPr marL="0" indent="0">
              <a:buNone/>
            </a:pPr>
            <a:r>
              <a:rPr lang="en-US" b="1" u="sng" dirty="0" smtClean="0">
                <a:solidFill>
                  <a:srgbClr val="0070C0"/>
                </a:solidFill>
                <a:effectLst>
                  <a:outerShdw blurRad="38100" dist="38100" dir="2700000" algn="tl">
                    <a:srgbClr val="000000">
                      <a:alpha val="43137"/>
                    </a:srgbClr>
                  </a:outerShdw>
                </a:effectLst>
              </a:rPr>
              <a:t>AVERAGE DEVIATION MEASURES</a:t>
            </a:r>
          </a:p>
          <a:p>
            <a:pPr algn="just"/>
            <a:r>
              <a:rPr lang="en-US" dirty="0" smtClean="0"/>
              <a:t>The </a:t>
            </a:r>
            <a:r>
              <a:rPr lang="en-US" b="1" dirty="0" smtClean="0"/>
              <a:t>range and quartile deviation indicate overall variation in a data set</a:t>
            </a:r>
            <a:r>
              <a:rPr lang="en-US" dirty="0" smtClean="0"/>
              <a:t>, </a:t>
            </a:r>
            <a:r>
              <a:rPr lang="en-US" b="1" u="dbl" dirty="0" smtClean="0">
                <a:solidFill>
                  <a:srgbClr val="CC00FF"/>
                </a:solidFill>
                <a:effectLst>
                  <a:outerShdw blurRad="38100" dist="38100" dir="2700000" algn="tl">
                    <a:srgbClr val="000000">
                      <a:alpha val="43137"/>
                    </a:srgbClr>
                  </a:outerShdw>
                </a:effectLst>
                <a:uFill>
                  <a:solidFill>
                    <a:srgbClr val="0000FF"/>
                  </a:solidFill>
                </a:uFill>
              </a:rPr>
              <a:t>but do not indicate spread</a:t>
            </a:r>
            <a:r>
              <a:rPr lang="en-US" dirty="0" smtClean="0"/>
              <a:t> or </a:t>
            </a:r>
            <a:r>
              <a:rPr lang="en-US" b="1" dirty="0" err="1" smtClean="0">
                <a:solidFill>
                  <a:srgbClr val="CC00FF"/>
                </a:solidFill>
                <a:effectLst>
                  <a:outerShdw blurRad="38100" dist="38100" dir="2700000" algn="tl">
                    <a:srgbClr val="000000">
                      <a:alpha val="43137"/>
                    </a:srgbClr>
                  </a:outerShdw>
                </a:effectLst>
              </a:rPr>
              <a:t>scatteredness</a:t>
            </a:r>
            <a:r>
              <a:rPr lang="en-US" dirty="0" smtClean="0"/>
              <a:t> </a:t>
            </a:r>
            <a:r>
              <a:rPr lang="en-US" b="1" dirty="0" smtClean="0">
                <a:solidFill>
                  <a:srgbClr val="CC00FF"/>
                </a:solidFill>
              </a:rPr>
              <a:t>around the centre </a:t>
            </a:r>
            <a:r>
              <a:rPr lang="en-US" dirty="0" smtClean="0"/>
              <a:t>(i.e. mean, median or mode). </a:t>
            </a:r>
          </a:p>
          <a:p>
            <a:pPr algn="just">
              <a:buNone/>
            </a:pPr>
            <a:endParaRPr lang="en-US" dirty="0" smtClean="0"/>
          </a:p>
          <a:p>
            <a:pPr algn="just"/>
            <a:r>
              <a:rPr lang="en-US" dirty="0" smtClean="0"/>
              <a:t>However, </a:t>
            </a:r>
            <a:r>
              <a:rPr lang="en-US" dirty="0" smtClean="0">
                <a:solidFill>
                  <a:srgbClr val="0000FF"/>
                </a:solidFill>
                <a:effectLst>
                  <a:outerShdw blurRad="38100" dist="38100" dir="2700000" algn="tl">
                    <a:srgbClr val="000000">
                      <a:alpha val="43137"/>
                    </a:srgbClr>
                  </a:outerShdw>
                </a:effectLst>
              </a:rPr>
              <a:t>to understand the nature of distribution of values in the data set</a:t>
            </a:r>
            <a:r>
              <a:rPr lang="en-US" dirty="0" smtClean="0"/>
              <a:t>, </a:t>
            </a:r>
            <a:r>
              <a:rPr lang="en-US" u="dbl" dirty="0" smtClean="0">
                <a:solidFill>
                  <a:srgbClr val="FF0066"/>
                </a:solidFill>
                <a:effectLst>
                  <a:outerShdw blurRad="38100" dist="38100" dir="2700000" algn="tl">
                    <a:srgbClr val="000000">
                      <a:alpha val="43137"/>
                    </a:srgbClr>
                  </a:outerShdw>
                </a:effectLst>
                <a:uFill>
                  <a:solidFill>
                    <a:srgbClr val="FFFF00"/>
                  </a:solidFill>
                </a:uFill>
              </a:rPr>
              <a:t>we need to measure the ‘spread’ of values around the mean</a:t>
            </a:r>
            <a:r>
              <a:rPr lang="en-US" dirty="0" smtClean="0"/>
              <a:t> </a:t>
            </a:r>
            <a:r>
              <a:rPr lang="en-US" b="1" u="sng" dirty="0" smtClean="0">
                <a:effectLst>
                  <a:outerShdw blurRad="38100" dist="38100" dir="2700000" algn="tl">
                    <a:srgbClr val="000000">
                      <a:alpha val="43137"/>
                    </a:srgbClr>
                  </a:outerShdw>
                </a:effectLst>
              </a:rPr>
              <a:t>to indicate how representative the mean is</a:t>
            </a:r>
            <a:r>
              <a:rPr lang="en-US" dirty="0" smtClean="0"/>
              <a:t>.</a:t>
            </a:r>
          </a:p>
          <a:p>
            <a:pPr algn="just">
              <a:buNone/>
            </a:pPr>
            <a:endParaRPr lang="en-US" dirty="0" smtClean="0"/>
          </a:p>
          <a:p>
            <a:pPr algn="just"/>
            <a:r>
              <a:rPr lang="en-US" dirty="0" smtClean="0"/>
              <a:t>Therefore the </a:t>
            </a:r>
            <a:r>
              <a:rPr lang="en-US" b="1" u="sng" dirty="0" smtClean="0">
                <a:solidFill>
                  <a:srgbClr val="0070C0"/>
                </a:solidFill>
                <a:effectLst>
                  <a:outerShdw blurRad="38100" dist="38100" dir="2700000" algn="tl">
                    <a:srgbClr val="000000">
                      <a:alpha val="43137"/>
                    </a:srgbClr>
                  </a:outerShdw>
                </a:effectLst>
              </a:rPr>
              <a:t>DEVIATION MEASURES</a:t>
            </a:r>
            <a:r>
              <a:rPr lang="en-US" b="1" dirty="0" smtClean="0">
                <a:solidFill>
                  <a:srgbClr val="0070C0"/>
                </a:solidFill>
                <a:effectLst>
                  <a:outerShdw blurRad="38100" dist="38100" dir="2700000" algn="tl">
                    <a:srgbClr val="000000">
                      <a:alpha val="43137"/>
                    </a:srgbClr>
                  </a:outerShdw>
                </a:effectLst>
              </a:rPr>
              <a:t>   used </a:t>
            </a:r>
            <a:r>
              <a:rPr lang="en-US" dirty="0" smtClean="0"/>
              <a:t>are:</a:t>
            </a:r>
          </a:p>
          <a:p>
            <a:pPr algn="just">
              <a:buNone/>
            </a:pPr>
            <a:endParaRPr lang="en-US" dirty="0"/>
          </a:p>
          <a:p>
            <a:pPr lvl="0"/>
            <a:r>
              <a:rPr lang="en-US" b="1" dirty="0">
                <a:solidFill>
                  <a:srgbClr val="CC00FF"/>
                </a:solidFill>
              </a:rPr>
              <a:t>Mean Absolute Deviation or Average Deviation</a:t>
            </a:r>
          </a:p>
          <a:p>
            <a:r>
              <a:rPr lang="en-US" b="1" dirty="0">
                <a:solidFill>
                  <a:srgbClr val="CC00FF"/>
                </a:solidFill>
              </a:rPr>
              <a:t>Variance and Standard Deviation</a:t>
            </a:r>
            <a:endParaRPr lang="en-US" b="1" dirty="0" smtClean="0">
              <a:solidFill>
                <a:srgbClr val="CC00FF"/>
              </a:solidFill>
            </a:endParaRPr>
          </a:p>
          <a:p>
            <a:endParaRPr lang="en-US" dirty="0"/>
          </a:p>
        </p:txBody>
      </p:sp>
    </p:spTree>
    <p:extLst>
      <p:ext uri="{BB962C8B-B14F-4D97-AF65-F5344CB8AC3E}">
        <p14:creationId xmlns:p14="http://schemas.microsoft.com/office/powerpoint/2010/main" val="153718536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a:bodyPr>
          <a:lstStyle/>
          <a:p>
            <a:pPr marL="0" indent="0">
              <a:buNone/>
            </a:pPr>
            <a:r>
              <a:rPr lang="en-US" sz="2800" b="1" dirty="0" smtClean="0">
                <a:solidFill>
                  <a:srgbClr val="0070C0"/>
                </a:solidFill>
              </a:rPr>
              <a:t>Mean Absolute Deviation</a:t>
            </a:r>
          </a:p>
          <a:p>
            <a:pPr algn="just"/>
            <a:r>
              <a:rPr lang="en-US" sz="2200" dirty="0" smtClean="0"/>
              <a:t>Since two measures of variation, range and quartile deviation, do not show how values in a data set are scattered about a central value or disperse themselves throughout the range, therefore it is quite reasonable to measure the variation as a degree (amount) to which values within a data set </a:t>
            </a:r>
            <a:r>
              <a:rPr lang="en-US" sz="2200" b="1" u="sng" dirty="0" smtClean="0">
                <a:solidFill>
                  <a:srgbClr val="CC00FF"/>
                </a:solidFill>
                <a:effectLst>
                  <a:outerShdw blurRad="38100" dist="38100" dir="2700000" algn="tl">
                    <a:srgbClr val="000000">
                      <a:alpha val="43137"/>
                    </a:srgbClr>
                  </a:outerShdw>
                </a:effectLst>
              </a:rPr>
              <a:t>deviate from either mean or median</a:t>
            </a:r>
            <a:r>
              <a:rPr lang="en-US" sz="2200" dirty="0" smtClean="0"/>
              <a:t>.</a:t>
            </a:r>
          </a:p>
          <a:p>
            <a:pPr algn="just"/>
            <a:r>
              <a:rPr lang="en-US" sz="2200" dirty="0" smtClean="0"/>
              <a:t>The mean of deviations of individual values in the data set from their actual mean is always zero so such a measure (zero) would be useless as an indicator of variation. This problem can be solved in two ways:</a:t>
            </a:r>
            <a:endParaRPr lang="en-US" sz="2200" dirty="0"/>
          </a:p>
          <a:p>
            <a:pPr marL="0" indent="0" algn="just">
              <a:buNone/>
            </a:pPr>
            <a:r>
              <a:rPr lang="en-US" sz="2200" b="1" dirty="0" smtClean="0">
                <a:solidFill>
                  <a:srgbClr val="FF0000"/>
                </a:solidFill>
              </a:rPr>
              <a:t>1.Ignore the signs of the deviations by taking their absolute value, or</a:t>
            </a:r>
          </a:p>
          <a:p>
            <a:pPr marL="0" indent="0" algn="just">
              <a:buNone/>
            </a:pPr>
            <a:r>
              <a:rPr lang="en-US" sz="2200" dirty="0" smtClean="0">
                <a:solidFill>
                  <a:srgbClr val="FF0000"/>
                </a:solidFill>
              </a:rPr>
              <a:t>2.Square the deviations because the square of a negative number is positive.</a:t>
            </a:r>
          </a:p>
          <a:p>
            <a:pPr marL="0" indent="0" algn="just">
              <a:buNone/>
            </a:pPr>
            <a:r>
              <a:rPr lang="en-US" sz="2200" dirty="0">
                <a:solidFill>
                  <a:srgbClr val="FF0000"/>
                </a:solidFill>
              </a:rPr>
              <a:t>where | | indicates the absolute value. That is, the signs of deviations from the mean are disregarded.</a:t>
            </a:r>
          </a:p>
          <a:p>
            <a:pPr marL="0" indent="0" algn="just">
              <a:buNone/>
            </a:pPr>
            <a:endParaRPr lang="en-US" sz="2400" dirty="0" smtClean="0"/>
          </a:p>
          <a:p>
            <a:endParaRPr lang="en-US" sz="2600" dirty="0"/>
          </a:p>
        </p:txBody>
      </p:sp>
      <p:pic>
        <p:nvPicPr>
          <p:cNvPr id="32770" name="Picture 2"/>
          <p:cNvPicPr>
            <a:picLocks noChangeAspect="1" noChangeArrowheads="1"/>
          </p:cNvPicPr>
          <p:nvPr/>
        </p:nvPicPr>
        <p:blipFill>
          <a:blip r:embed="rId2" cstate="print"/>
          <a:srcRect/>
          <a:stretch>
            <a:fillRect/>
          </a:stretch>
        </p:blipFill>
        <p:spPr bwMode="auto">
          <a:xfrm>
            <a:off x="1828800" y="4953000"/>
            <a:ext cx="4876800" cy="1619250"/>
          </a:xfrm>
          <a:prstGeom prst="rect">
            <a:avLst/>
          </a:prstGeom>
          <a:noFill/>
          <a:ln w="9525">
            <a:noFill/>
            <a:miter lim="800000"/>
            <a:headEnd/>
            <a:tailEnd/>
          </a:ln>
          <a:effectLst/>
        </p:spPr>
      </p:pic>
    </p:spTree>
    <p:extLst>
      <p:ext uri="{BB962C8B-B14F-4D97-AF65-F5344CB8AC3E}">
        <p14:creationId xmlns:p14="http://schemas.microsoft.com/office/powerpoint/2010/main" val="266991778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685800"/>
            <a:ext cx="8229600" cy="4525963"/>
          </a:xfrm>
        </p:spPr>
        <p:txBody>
          <a:bodyPr/>
          <a:lstStyle/>
          <a:p>
            <a:pPr algn="just"/>
            <a:r>
              <a:rPr lang="en-US" b="1" dirty="0" smtClean="0">
                <a:solidFill>
                  <a:srgbClr val="FF0000"/>
                </a:solidFill>
              </a:rPr>
              <a:t>MEAN Absolute DEVIATION or MEAN DEVIATION  -- CALCULATED BY THREE METHODS</a:t>
            </a:r>
          </a:p>
          <a:p>
            <a:pPr algn="just"/>
            <a:endParaRPr lang="en-US" dirty="0" smtClean="0">
              <a:solidFill>
                <a:srgbClr val="FF0000"/>
              </a:solidFill>
            </a:endParaRPr>
          </a:p>
          <a:p>
            <a:pPr algn="just"/>
            <a:r>
              <a:rPr lang="en-US" dirty="0" smtClean="0">
                <a:solidFill>
                  <a:srgbClr val="FF0000"/>
                </a:solidFill>
              </a:rPr>
              <a:t>INDIVIDUAL SERIES</a:t>
            </a:r>
          </a:p>
          <a:p>
            <a:pPr algn="just"/>
            <a:r>
              <a:rPr lang="en-US" dirty="0" smtClean="0">
                <a:solidFill>
                  <a:srgbClr val="00B050"/>
                </a:solidFill>
              </a:rPr>
              <a:t>DISCREIT SERIES</a:t>
            </a:r>
          </a:p>
          <a:p>
            <a:pPr algn="just"/>
            <a:r>
              <a:rPr lang="en-US" dirty="0" smtClean="0">
                <a:solidFill>
                  <a:srgbClr val="0070C0"/>
                </a:solidFill>
              </a:rPr>
              <a:t>CONTINUOUS SERIES</a:t>
            </a:r>
          </a:p>
          <a:p>
            <a:endParaRPr lang="en-US" dirty="0"/>
          </a:p>
        </p:txBody>
      </p:sp>
    </p:spTree>
    <p:extLst>
      <p:ext uri="{BB962C8B-B14F-4D97-AF65-F5344CB8AC3E}">
        <p14:creationId xmlns:p14="http://schemas.microsoft.com/office/powerpoint/2010/main" val="1732453180"/>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15962"/>
          </a:xfrm>
        </p:spPr>
        <p:txBody>
          <a:bodyPr>
            <a:normAutofit fontScale="90000"/>
          </a:bodyPr>
          <a:lstStyle/>
          <a:p>
            <a:r>
              <a:rPr lang="en-US" b="1" dirty="0" smtClean="0">
                <a:solidFill>
                  <a:srgbClr val="FF0000"/>
                </a:solidFill>
              </a:rPr>
              <a:t>INDIVIDUAL SERIES</a:t>
            </a:r>
          </a:p>
        </p:txBody>
      </p:sp>
      <p:sp>
        <p:nvSpPr>
          <p:cNvPr id="3" name="Content Placeholder 2"/>
          <p:cNvSpPr>
            <a:spLocks noGrp="1"/>
          </p:cNvSpPr>
          <p:nvPr>
            <p:ph idx="1"/>
          </p:nvPr>
        </p:nvSpPr>
        <p:spPr>
          <a:xfrm>
            <a:off x="381000" y="990600"/>
            <a:ext cx="8229600" cy="4525963"/>
          </a:xfrm>
        </p:spPr>
        <p:txBody>
          <a:bodyPr/>
          <a:lstStyle/>
          <a:p>
            <a:r>
              <a:rPr lang="en-US" b="1" dirty="0" smtClean="0">
                <a:solidFill>
                  <a:srgbClr val="FF0000"/>
                </a:solidFill>
              </a:rPr>
              <a:t>Formula: from Mean</a:t>
            </a:r>
          </a:p>
          <a:p>
            <a:endParaRPr lang="en-US" dirty="0" smtClean="0"/>
          </a:p>
        </p:txBody>
      </p:sp>
      <p:pic>
        <p:nvPicPr>
          <p:cNvPr id="1027" name="Picture 3"/>
          <p:cNvPicPr>
            <a:picLocks noChangeAspect="1" noChangeArrowheads="1"/>
          </p:cNvPicPr>
          <p:nvPr/>
        </p:nvPicPr>
        <p:blipFill>
          <a:blip r:embed="rId2" cstate="print"/>
          <a:srcRect/>
          <a:stretch>
            <a:fillRect/>
          </a:stretch>
        </p:blipFill>
        <p:spPr bwMode="auto">
          <a:xfrm>
            <a:off x="838200" y="1676400"/>
            <a:ext cx="1371600" cy="1219200"/>
          </a:xfrm>
          <a:prstGeom prst="rect">
            <a:avLst/>
          </a:prstGeom>
          <a:noFill/>
          <a:ln w="9525">
            <a:noFill/>
            <a:miter lim="800000"/>
            <a:headEnd/>
            <a:tailEnd/>
          </a:ln>
          <a:effectLst/>
        </p:spPr>
      </p:pic>
      <p:pic>
        <p:nvPicPr>
          <p:cNvPr id="1028" name="Picture 4"/>
          <p:cNvPicPr>
            <a:picLocks noChangeAspect="1" noChangeArrowheads="1"/>
          </p:cNvPicPr>
          <p:nvPr/>
        </p:nvPicPr>
        <p:blipFill>
          <a:blip r:embed="rId3" cstate="print"/>
          <a:srcRect/>
          <a:stretch>
            <a:fillRect/>
          </a:stretch>
        </p:blipFill>
        <p:spPr bwMode="auto">
          <a:xfrm>
            <a:off x="3505200" y="1600200"/>
            <a:ext cx="4343400" cy="1143000"/>
          </a:xfrm>
          <a:prstGeom prst="rect">
            <a:avLst/>
          </a:prstGeom>
          <a:noFill/>
          <a:ln w="9525">
            <a:noFill/>
            <a:miter lim="800000"/>
            <a:headEnd/>
            <a:tailEnd/>
          </a:ln>
          <a:effectLst/>
        </p:spPr>
      </p:pic>
      <p:pic>
        <p:nvPicPr>
          <p:cNvPr id="1029" name="Picture 5"/>
          <p:cNvPicPr>
            <a:picLocks noChangeAspect="1" noChangeArrowheads="1"/>
          </p:cNvPicPr>
          <p:nvPr/>
        </p:nvPicPr>
        <p:blipFill>
          <a:blip r:embed="rId4" cstate="print"/>
          <a:srcRect/>
          <a:stretch>
            <a:fillRect/>
          </a:stretch>
        </p:blipFill>
        <p:spPr bwMode="auto">
          <a:xfrm>
            <a:off x="685800" y="3352800"/>
            <a:ext cx="7620000" cy="17526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8686800" cy="1143000"/>
          </a:xfrm>
        </p:spPr>
        <p:txBody>
          <a:bodyPr>
            <a:normAutofit fontScale="90000"/>
          </a:bodyPr>
          <a:lstStyle/>
          <a:p>
            <a:pPr algn="l"/>
            <a:r>
              <a:rPr lang="en-US" b="1" dirty="0" smtClean="0">
                <a:solidFill>
                  <a:srgbClr val="FF0000"/>
                </a:solidFill>
              </a:rPr>
              <a:t/>
            </a:r>
            <a:br>
              <a:rPr lang="en-US" b="1" dirty="0" smtClean="0">
                <a:solidFill>
                  <a:srgbClr val="FF0000"/>
                </a:solidFill>
              </a:rPr>
            </a:br>
            <a:r>
              <a:rPr lang="en-US" sz="3100" b="1" dirty="0" smtClean="0">
                <a:solidFill>
                  <a:srgbClr val="FF0000"/>
                </a:solidFill>
              </a:rPr>
              <a:t>Find out mean deviation from MEAN and MEDIAN</a:t>
            </a:r>
            <a:br>
              <a:rPr lang="en-US" sz="3100" b="1" dirty="0" smtClean="0">
                <a:solidFill>
                  <a:srgbClr val="FF0000"/>
                </a:solidFill>
              </a:rPr>
            </a:br>
            <a:r>
              <a:rPr lang="en-US" sz="3100" b="1" dirty="0" smtClean="0">
                <a:solidFill>
                  <a:srgbClr val="FF0000"/>
                </a:solidFill>
              </a:rPr>
              <a:t>X = 2, 6, 11, 14, 16, 19, 23</a:t>
            </a:r>
            <a:r>
              <a:rPr lang="en-US" dirty="0" smtClean="0"/>
              <a:t/>
            </a:r>
            <a:br>
              <a:rPr lang="en-US" dirty="0" smtClean="0"/>
            </a:br>
            <a:endParaRPr lang="en-US" dirty="0"/>
          </a:p>
        </p:txBody>
      </p:sp>
      <p:pic>
        <p:nvPicPr>
          <p:cNvPr id="90114" name="Picture 2"/>
          <p:cNvPicPr>
            <a:picLocks noGrp="1" noChangeAspect="1" noChangeArrowheads="1"/>
          </p:cNvPicPr>
          <p:nvPr>
            <p:ph idx="1"/>
          </p:nvPr>
        </p:nvPicPr>
        <p:blipFill>
          <a:blip r:embed="rId2"/>
          <a:srcRect/>
          <a:stretch>
            <a:fillRect/>
          </a:stretch>
        </p:blipFill>
        <p:spPr bwMode="auto">
          <a:xfrm>
            <a:off x="0" y="1524000"/>
            <a:ext cx="4648200" cy="5334000"/>
          </a:xfrm>
          <a:prstGeom prst="rect">
            <a:avLst/>
          </a:prstGeom>
          <a:noFill/>
          <a:ln w="9525">
            <a:noFill/>
            <a:miter lim="800000"/>
            <a:headEnd/>
            <a:tailEnd/>
          </a:ln>
          <a:effectLst/>
        </p:spPr>
      </p:pic>
      <p:pic>
        <p:nvPicPr>
          <p:cNvPr id="5" name="Content Placeholder 3"/>
          <p:cNvPicPr>
            <a:picLocks noChangeAspect="1" noChangeArrowheads="1"/>
          </p:cNvPicPr>
          <p:nvPr/>
        </p:nvPicPr>
        <p:blipFill>
          <a:blip r:embed="rId3" cstate="print"/>
          <a:srcRect/>
          <a:stretch>
            <a:fillRect/>
          </a:stretch>
        </p:blipFill>
        <p:spPr bwMode="auto">
          <a:xfrm>
            <a:off x="4800600" y="1371600"/>
            <a:ext cx="1981200" cy="914400"/>
          </a:xfrm>
          <a:prstGeom prst="rect">
            <a:avLst/>
          </a:prstGeom>
          <a:noFill/>
          <a:ln w="9525">
            <a:noFill/>
            <a:miter lim="800000"/>
            <a:headEnd/>
            <a:tailEnd/>
          </a:ln>
          <a:effectLst/>
        </p:spPr>
      </p:pic>
      <p:pic>
        <p:nvPicPr>
          <p:cNvPr id="6" name="Picture 2"/>
          <p:cNvPicPr>
            <a:picLocks noChangeAspect="1" noChangeArrowheads="1"/>
          </p:cNvPicPr>
          <p:nvPr/>
        </p:nvPicPr>
        <p:blipFill>
          <a:blip r:embed="rId4" cstate="print"/>
          <a:srcRect/>
          <a:stretch>
            <a:fillRect/>
          </a:stretch>
        </p:blipFill>
        <p:spPr bwMode="auto">
          <a:xfrm>
            <a:off x="7010400" y="1295400"/>
            <a:ext cx="1828800" cy="838200"/>
          </a:xfrm>
          <a:prstGeom prst="rect">
            <a:avLst/>
          </a:prstGeom>
          <a:noFill/>
          <a:ln w="9525">
            <a:noFill/>
            <a:miter lim="800000"/>
            <a:headEnd/>
            <a:tailEnd/>
          </a:ln>
          <a:effectLst/>
        </p:spPr>
      </p:pic>
      <p:pic>
        <p:nvPicPr>
          <p:cNvPr id="7" name="Picture 4"/>
          <p:cNvPicPr>
            <a:picLocks noChangeAspect="1" noChangeArrowheads="1"/>
          </p:cNvPicPr>
          <p:nvPr/>
        </p:nvPicPr>
        <p:blipFill>
          <a:blip r:embed="rId5" cstate="print"/>
          <a:srcRect/>
          <a:stretch>
            <a:fillRect/>
          </a:stretch>
        </p:blipFill>
        <p:spPr bwMode="auto">
          <a:xfrm>
            <a:off x="5029200" y="2362200"/>
            <a:ext cx="3733800" cy="838200"/>
          </a:xfrm>
          <a:prstGeom prst="rect">
            <a:avLst/>
          </a:prstGeom>
          <a:noFill/>
          <a:ln w="9525">
            <a:noFill/>
            <a:miter lim="800000"/>
            <a:headEnd/>
            <a:tailEnd/>
          </a:ln>
          <a:effectLst/>
        </p:spPr>
      </p:pic>
      <p:pic>
        <p:nvPicPr>
          <p:cNvPr id="9" name="Picture 3"/>
          <p:cNvPicPr>
            <a:picLocks noChangeAspect="1" noChangeArrowheads="1"/>
          </p:cNvPicPr>
          <p:nvPr/>
        </p:nvPicPr>
        <p:blipFill>
          <a:blip r:embed="rId6" cstate="print"/>
          <a:srcRect/>
          <a:stretch>
            <a:fillRect/>
          </a:stretch>
        </p:blipFill>
        <p:spPr bwMode="auto">
          <a:xfrm>
            <a:off x="6705600" y="3124200"/>
            <a:ext cx="1905000" cy="762000"/>
          </a:xfrm>
          <a:prstGeom prst="rect">
            <a:avLst/>
          </a:prstGeom>
          <a:noFill/>
          <a:ln w="9525">
            <a:noFill/>
            <a:miter lim="800000"/>
            <a:headEnd/>
            <a:tailEnd/>
          </a:ln>
          <a:effectLst/>
        </p:spPr>
      </p:pic>
      <p:pic>
        <p:nvPicPr>
          <p:cNvPr id="10" name="Picture 4"/>
          <p:cNvPicPr>
            <a:picLocks noChangeAspect="1" noChangeArrowheads="1"/>
          </p:cNvPicPr>
          <p:nvPr/>
        </p:nvPicPr>
        <p:blipFill>
          <a:blip r:embed="rId7" cstate="print"/>
          <a:srcRect/>
          <a:stretch>
            <a:fillRect/>
          </a:stretch>
        </p:blipFill>
        <p:spPr bwMode="auto">
          <a:xfrm>
            <a:off x="6096000" y="5943600"/>
            <a:ext cx="1905000" cy="914400"/>
          </a:xfrm>
          <a:prstGeom prst="rect">
            <a:avLst/>
          </a:prstGeom>
          <a:noFill/>
          <a:ln w="9525">
            <a:noFill/>
            <a:miter lim="800000"/>
            <a:headEnd/>
            <a:tailEnd/>
          </a:ln>
          <a:effectLst/>
        </p:spPr>
      </p:pic>
      <p:sp>
        <p:nvSpPr>
          <p:cNvPr id="11" name="Rectangle 10"/>
          <p:cNvSpPr/>
          <p:nvPr/>
        </p:nvSpPr>
        <p:spPr>
          <a:xfrm>
            <a:off x="4419600" y="609600"/>
            <a:ext cx="4495800" cy="646331"/>
          </a:xfrm>
          <a:prstGeom prst="rect">
            <a:avLst/>
          </a:prstGeom>
        </p:spPr>
        <p:txBody>
          <a:bodyPr wrap="square">
            <a:spAutoFit/>
          </a:bodyPr>
          <a:lstStyle/>
          <a:p>
            <a:r>
              <a:rPr lang="en-US" sz="3600" b="1" dirty="0" smtClean="0">
                <a:solidFill>
                  <a:srgbClr val="FF0000"/>
                </a:solidFill>
              </a:rPr>
              <a:t>Formula: from Mean</a:t>
            </a:r>
          </a:p>
        </p:txBody>
      </p:sp>
      <p:pic>
        <p:nvPicPr>
          <p:cNvPr id="12" name="Picture 5"/>
          <p:cNvPicPr>
            <a:picLocks noChangeAspect="1" noChangeArrowheads="1"/>
          </p:cNvPicPr>
          <p:nvPr/>
        </p:nvPicPr>
        <p:blipFill>
          <a:blip r:embed="rId8" cstate="print"/>
          <a:srcRect/>
          <a:stretch>
            <a:fillRect/>
          </a:stretch>
        </p:blipFill>
        <p:spPr bwMode="auto">
          <a:xfrm>
            <a:off x="4495800" y="4191000"/>
            <a:ext cx="4648200" cy="14478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b="1" dirty="0" smtClean="0">
                <a:solidFill>
                  <a:srgbClr val="FF0000"/>
                </a:solidFill>
              </a:rPr>
              <a:t>DISCRETE SERIES</a:t>
            </a:r>
            <a:endParaRPr lang="en-US" b="1" dirty="0">
              <a:solidFill>
                <a:srgbClr val="FF0000"/>
              </a:solidFill>
            </a:endParaRPr>
          </a:p>
        </p:txBody>
      </p:sp>
      <p:sp>
        <p:nvSpPr>
          <p:cNvPr id="3" name="Content Placeholder 2"/>
          <p:cNvSpPr>
            <a:spLocks noGrp="1"/>
          </p:cNvSpPr>
          <p:nvPr>
            <p:ph idx="1"/>
          </p:nvPr>
        </p:nvSpPr>
        <p:spPr>
          <a:xfrm>
            <a:off x="457200" y="990600"/>
            <a:ext cx="8229600" cy="5135563"/>
          </a:xfrm>
        </p:spPr>
        <p:txBody>
          <a:bodyPr/>
          <a:lstStyle/>
          <a:p>
            <a:r>
              <a:rPr lang="en-US" b="1" dirty="0" smtClean="0">
                <a:solidFill>
                  <a:srgbClr val="FF0000"/>
                </a:solidFill>
              </a:rPr>
              <a:t>Formula: from Mean</a:t>
            </a:r>
          </a:p>
          <a:p>
            <a:endParaRPr lang="en-US" dirty="0"/>
          </a:p>
        </p:txBody>
      </p:sp>
      <p:pic>
        <p:nvPicPr>
          <p:cNvPr id="4"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95400" y="1676400"/>
            <a:ext cx="1752600" cy="1292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6" name="Picture 2"/>
          <p:cNvPicPr>
            <a:picLocks noChangeAspect="1" noChangeArrowheads="1"/>
          </p:cNvPicPr>
          <p:nvPr/>
        </p:nvPicPr>
        <p:blipFill>
          <a:blip r:embed="rId3" cstate="print"/>
          <a:srcRect/>
          <a:stretch>
            <a:fillRect/>
          </a:stretch>
        </p:blipFill>
        <p:spPr bwMode="auto">
          <a:xfrm>
            <a:off x="685800" y="3505200"/>
            <a:ext cx="3638550" cy="1162050"/>
          </a:xfrm>
          <a:prstGeom prst="rect">
            <a:avLst/>
          </a:prstGeom>
          <a:noFill/>
          <a:ln w="9525">
            <a:noFill/>
            <a:miter lim="800000"/>
            <a:headEnd/>
            <a:tailEnd/>
          </a:ln>
          <a:effectLst/>
        </p:spPr>
      </p:pic>
      <p:pic>
        <p:nvPicPr>
          <p:cNvPr id="6147" name="Picture 3"/>
          <p:cNvPicPr>
            <a:picLocks noChangeAspect="1" noChangeArrowheads="1"/>
          </p:cNvPicPr>
          <p:nvPr/>
        </p:nvPicPr>
        <p:blipFill>
          <a:blip r:embed="rId4" cstate="print"/>
          <a:srcRect/>
          <a:stretch>
            <a:fillRect/>
          </a:stretch>
        </p:blipFill>
        <p:spPr bwMode="auto">
          <a:xfrm>
            <a:off x="914400" y="5257800"/>
            <a:ext cx="5114925" cy="1143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dirty="0" smtClean="0">
                <a:solidFill>
                  <a:srgbClr val="FF0000"/>
                </a:solidFill>
                <a:effectLst>
                  <a:outerShdw blurRad="38100" dist="38100" dir="2700000" algn="tl">
                    <a:srgbClr val="000000">
                      <a:alpha val="43137"/>
                    </a:srgbClr>
                  </a:outerShdw>
                </a:effectLst>
              </a:rPr>
              <a:t>mean</a:t>
            </a:r>
            <a:endParaRPr lang="en-US" dirty="0">
              <a:solidFill>
                <a:srgbClr val="FF0000"/>
              </a:solidFill>
              <a:effectLst>
                <a:outerShdw blurRad="38100" dist="38100" dir="2700000" algn="tl">
                  <a:srgbClr val="000000">
                    <a:alpha val="43137"/>
                  </a:srgbClr>
                </a:outerShdw>
              </a:effectLst>
            </a:endParaRPr>
          </a:p>
        </p:txBody>
      </p:sp>
      <p:graphicFrame>
        <p:nvGraphicFramePr>
          <p:cNvPr id="6" name="Content Placeholder 5"/>
          <p:cNvGraphicFramePr>
            <a:graphicFrameLocks noGrp="1"/>
          </p:cNvGraphicFramePr>
          <p:nvPr>
            <p:ph idx="1"/>
          </p:nvPr>
        </p:nvGraphicFramePr>
        <p:xfrm>
          <a:off x="457200" y="1066800"/>
          <a:ext cx="8229600" cy="3733802"/>
        </p:xfrm>
        <a:graphic>
          <a:graphicData uri="http://schemas.openxmlformats.org/drawingml/2006/table">
            <a:tbl>
              <a:tblPr firstRow="1" bandRow="1">
                <a:tableStyleId>{5C22544A-7EE6-4342-B048-85BDC9FD1C3A}</a:tableStyleId>
              </a:tblPr>
              <a:tblGrid>
                <a:gridCol w="1645920"/>
                <a:gridCol w="1645920"/>
                <a:gridCol w="1645920"/>
                <a:gridCol w="1645920"/>
                <a:gridCol w="1645920"/>
              </a:tblGrid>
              <a:tr h="650846">
                <a:tc>
                  <a:txBody>
                    <a:bodyPr/>
                    <a:lstStyle/>
                    <a:p>
                      <a:r>
                        <a:rPr lang="en-US" sz="3200" dirty="0" smtClean="0">
                          <a:solidFill>
                            <a:srgbClr val="FF0000"/>
                          </a:solidFill>
                          <a:effectLst>
                            <a:outerShdw blurRad="38100" dist="38100" dir="2700000" algn="tl">
                              <a:srgbClr val="000000">
                                <a:alpha val="43137"/>
                              </a:srgbClr>
                            </a:outerShdw>
                          </a:effectLst>
                        </a:rPr>
                        <a:t>x</a:t>
                      </a:r>
                      <a:endParaRPr lang="en-US" sz="3200" dirty="0">
                        <a:solidFill>
                          <a:srgbClr val="FF0000"/>
                        </a:solidFill>
                        <a:effectLst>
                          <a:outerShdw blurRad="38100" dist="38100" dir="2700000" algn="tl">
                            <a:srgbClr val="000000">
                              <a:alpha val="43137"/>
                            </a:srgbClr>
                          </a:outerShdw>
                        </a:effectLst>
                      </a:endParaRPr>
                    </a:p>
                  </a:txBody>
                  <a:tcPr/>
                </a:tc>
                <a:tc>
                  <a:txBody>
                    <a:bodyPr/>
                    <a:lstStyle/>
                    <a:p>
                      <a:r>
                        <a:rPr lang="en-US" sz="3200" dirty="0" smtClean="0">
                          <a:solidFill>
                            <a:srgbClr val="FF0000"/>
                          </a:solidFill>
                          <a:effectLst>
                            <a:outerShdw blurRad="38100" dist="38100" dir="2700000" algn="tl">
                              <a:srgbClr val="000000">
                                <a:alpha val="43137"/>
                              </a:srgbClr>
                            </a:outerShdw>
                          </a:effectLst>
                        </a:rPr>
                        <a:t>f</a:t>
                      </a:r>
                      <a:endParaRPr lang="en-US" sz="3200" dirty="0">
                        <a:solidFill>
                          <a:srgbClr val="FF0000"/>
                        </a:solidFill>
                        <a:effectLst>
                          <a:outerShdw blurRad="38100" dist="38100" dir="2700000" algn="tl">
                            <a:srgbClr val="000000">
                              <a:alpha val="43137"/>
                            </a:srgbClr>
                          </a:outerShdw>
                        </a:effectLst>
                      </a:endParaRPr>
                    </a:p>
                  </a:txBody>
                  <a:tcPr/>
                </a:tc>
                <a:tc>
                  <a:txBody>
                    <a:bodyPr/>
                    <a:lstStyle/>
                    <a:p>
                      <a:r>
                        <a:rPr lang="en-US" sz="3200" dirty="0" err="1" smtClean="0"/>
                        <a:t>fx</a:t>
                      </a:r>
                      <a:endParaRPr lang="en-US" sz="3200" dirty="0"/>
                    </a:p>
                  </a:txBody>
                  <a:tcPr/>
                </a:tc>
                <a:tc>
                  <a:txBody>
                    <a:bodyPr/>
                    <a:lstStyle/>
                    <a:p>
                      <a:endParaRPr lang="en-US" dirty="0"/>
                    </a:p>
                  </a:txBody>
                  <a:tcPr/>
                </a:tc>
                <a:tc>
                  <a:txBody>
                    <a:bodyPr/>
                    <a:lstStyle/>
                    <a:p>
                      <a:endParaRPr lang="en-US" dirty="0"/>
                    </a:p>
                  </a:txBody>
                  <a:tcPr/>
                </a:tc>
              </a:tr>
              <a:tr h="513826">
                <a:tc>
                  <a:txBody>
                    <a:bodyPr/>
                    <a:lstStyle/>
                    <a:p>
                      <a:r>
                        <a:rPr lang="en-US" sz="2400" dirty="0" smtClean="0">
                          <a:solidFill>
                            <a:srgbClr val="FF0000"/>
                          </a:solidFill>
                          <a:effectLst>
                            <a:outerShdw blurRad="38100" dist="38100" dir="2700000" algn="tl">
                              <a:srgbClr val="000000">
                                <a:alpha val="43137"/>
                              </a:srgbClr>
                            </a:outerShdw>
                          </a:effectLst>
                        </a:rPr>
                        <a:t>4</a:t>
                      </a:r>
                      <a:endParaRPr lang="en-US" sz="2400" dirty="0">
                        <a:solidFill>
                          <a:srgbClr val="FF0000"/>
                        </a:solidFill>
                        <a:effectLst>
                          <a:outerShdw blurRad="38100" dist="38100" dir="2700000" algn="tl">
                            <a:srgbClr val="000000">
                              <a:alpha val="43137"/>
                            </a:srgbClr>
                          </a:outerShdw>
                        </a:effectLst>
                      </a:endParaRPr>
                    </a:p>
                  </a:txBody>
                  <a:tcPr/>
                </a:tc>
                <a:tc>
                  <a:txBody>
                    <a:bodyPr/>
                    <a:lstStyle/>
                    <a:p>
                      <a:r>
                        <a:rPr lang="en-US" sz="2400" dirty="0" smtClean="0">
                          <a:solidFill>
                            <a:srgbClr val="FF0000"/>
                          </a:solidFill>
                          <a:effectLst>
                            <a:outerShdw blurRad="38100" dist="38100" dir="2700000" algn="tl">
                              <a:srgbClr val="000000">
                                <a:alpha val="43137"/>
                              </a:srgbClr>
                            </a:outerShdw>
                          </a:effectLst>
                        </a:rPr>
                        <a:t>06</a:t>
                      </a:r>
                      <a:endParaRPr lang="en-US" sz="2400" dirty="0">
                        <a:solidFill>
                          <a:srgbClr val="FF0000"/>
                        </a:solidFill>
                        <a:effectLst>
                          <a:outerShdw blurRad="38100" dist="38100" dir="2700000" algn="tl">
                            <a:srgbClr val="000000">
                              <a:alpha val="43137"/>
                            </a:srgbClr>
                          </a:outerShdw>
                        </a:effectLst>
                      </a:endParaRPr>
                    </a:p>
                  </a:txBody>
                  <a:tcPr/>
                </a:tc>
                <a:tc>
                  <a:txBody>
                    <a:bodyPr/>
                    <a:lstStyle/>
                    <a:p>
                      <a:r>
                        <a:rPr lang="en-US" sz="2400" dirty="0" smtClean="0"/>
                        <a:t>24</a:t>
                      </a:r>
                      <a:endParaRPr lang="en-US" sz="2400" dirty="0"/>
                    </a:p>
                  </a:txBody>
                  <a:tcPr/>
                </a:tc>
                <a:tc>
                  <a:txBody>
                    <a:bodyPr/>
                    <a:lstStyle/>
                    <a:p>
                      <a:r>
                        <a:rPr lang="en-US" sz="2400" dirty="0" smtClean="0"/>
                        <a:t>3.68</a:t>
                      </a:r>
                      <a:endParaRPr lang="en-US" sz="2400" dirty="0"/>
                    </a:p>
                  </a:txBody>
                  <a:tcPr/>
                </a:tc>
                <a:tc>
                  <a:txBody>
                    <a:bodyPr/>
                    <a:lstStyle/>
                    <a:p>
                      <a:r>
                        <a:rPr lang="en-US" sz="2400" dirty="0" smtClean="0"/>
                        <a:t>22.08</a:t>
                      </a:r>
                      <a:endParaRPr lang="en-US" sz="2400" dirty="0"/>
                    </a:p>
                  </a:txBody>
                  <a:tcPr/>
                </a:tc>
              </a:tr>
              <a:tr h="513826">
                <a:tc>
                  <a:txBody>
                    <a:bodyPr/>
                    <a:lstStyle/>
                    <a:p>
                      <a:r>
                        <a:rPr lang="en-US" sz="2400" dirty="0" smtClean="0">
                          <a:solidFill>
                            <a:srgbClr val="FF0000"/>
                          </a:solidFill>
                          <a:effectLst>
                            <a:outerShdw blurRad="38100" dist="38100" dir="2700000" algn="tl">
                              <a:srgbClr val="000000">
                                <a:alpha val="43137"/>
                              </a:srgbClr>
                            </a:outerShdw>
                          </a:effectLst>
                        </a:rPr>
                        <a:t>6</a:t>
                      </a:r>
                      <a:endParaRPr lang="en-US" sz="2400" dirty="0">
                        <a:solidFill>
                          <a:srgbClr val="FF0000"/>
                        </a:solidFill>
                        <a:effectLst>
                          <a:outerShdw blurRad="38100" dist="38100" dir="2700000" algn="tl">
                            <a:srgbClr val="000000">
                              <a:alpha val="43137"/>
                            </a:srgbClr>
                          </a:outerShdw>
                        </a:effectLst>
                      </a:endParaRPr>
                    </a:p>
                  </a:txBody>
                  <a:tcPr/>
                </a:tc>
                <a:tc>
                  <a:txBody>
                    <a:bodyPr/>
                    <a:lstStyle/>
                    <a:p>
                      <a:r>
                        <a:rPr lang="en-US" sz="2400" dirty="0" smtClean="0">
                          <a:solidFill>
                            <a:srgbClr val="FF0000"/>
                          </a:solidFill>
                          <a:effectLst>
                            <a:outerShdw blurRad="38100" dist="38100" dir="2700000" algn="tl">
                              <a:srgbClr val="000000">
                                <a:alpha val="43137"/>
                              </a:srgbClr>
                            </a:outerShdw>
                          </a:effectLst>
                        </a:rPr>
                        <a:t>14</a:t>
                      </a:r>
                      <a:endParaRPr lang="en-US" sz="2400" dirty="0">
                        <a:solidFill>
                          <a:srgbClr val="FF0000"/>
                        </a:solidFill>
                        <a:effectLst>
                          <a:outerShdw blurRad="38100" dist="38100" dir="2700000" algn="tl">
                            <a:srgbClr val="000000">
                              <a:alpha val="43137"/>
                            </a:srgbClr>
                          </a:outerShdw>
                        </a:effectLst>
                      </a:endParaRPr>
                    </a:p>
                  </a:txBody>
                  <a:tcPr/>
                </a:tc>
                <a:tc>
                  <a:txBody>
                    <a:bodyPr/>
                    <a:lstStyle/>
                    <a:p>
                      <a:r>
                        <a:rPr lang="en-US" sz="2400" dirty="0" smtClean="0"/>
                        <a:t>84</a:t>
                      </a:r>
                      <a:endParaRPr lang="en-US" sz="2400" dirty="0"/>
                    </a:p>
                  </a:txBody>
                  <a:tcPr/>
                </a:tc>
                <a:tc>
                  <a:txBody>
                    <a:bodyPr/>
                    <a:lstStyle/>
                    <a:p>
                      <a:r>
                        <a:rPr lang="en-US" sz="2400" dirty="0" smtClean="0"/>
                        <a:t>1.68</a:t>
                      </a:r>
                      <a:endParaRPr lang="en-US" sz="2400" dirty="0"/>
                    </a:p>
                  </a:txBody>
                  <a:tcPr/>
                </a:tc>
                <a:tc>
                  <a:txBody>
                    <a:bodyPr/>
                    <a:lstStyle/>
                    <a:p>
                      <a:r>
                        <a:rPr lang="en-US" sz="2400" dirty="0" smtClean="0"/>
                        <a:t>23.52</a:t>
                      </a:r>
                      <a:endParaRPr lang="en-US" sz="2400" dirty="0"/>
                    </a:p>
                  </a:txBody>
                  <a:tcPr/>
                </a:tc>
              </a:tr>
              <a:tr h="513826">
                <a:tc>
                  <a:txBody>
                    <a:bodyPr/>
                    <a:lstStyle/>
                    <a:p>
                      <a:r>
                        <a:rPr lang="en-US" sz="2400" dirty="0" smtClean="0">
                          <a:solidFill>
                            <a:srgbClr val="FF0000"/>
                          </a:solidFill>
                          <a:effectLst>
                            <a:outerShdw blurRad="38100" dist="38100" dir="2700000" algn="tl">
                              <a:srgbClr val="000000">
                                <a:alpha val="43137"/>
                              </a:srgbClr>
                            </a:outerShdw>
                          </a:effectLst>
                        </a:rPr>
                        <a:t>8</a:t>
                      </a:r>
                      <a:endParaRPr lang="en-US" sz="2400" dirty="0">
                        <a:solidFill>
                          <a:srgbClr val="FF0000"/>
                        </a:solidFill>
                        <a:effectLst>
                          <a:outerShdw blurRad="38100" dist="38100" dir="2700000" algn="tl">
                            <a:srgbClr val="000000">
                              <a:alpha val="43137"/>
                            </a:srgbClr>
                          </a:outerShdw>
                        </a:effectLst>
                      </a:endParaRPr>
                    </a:p>
                  </a:txBody>
                  <a:tcPr/>
                </a:tc>
                <a:tc>
                  <a:txBody>
                    <a:bodyPr/>
                    <a:lstStyle/>
                    <a:p>
                      <a:r>
                        <a:rPr lang="en-US" sz="2400" dirty="0" smtClean="0">
                          <a:solidFill>
                            <a:srgbClr val="FF0000"/>
                          </a:solidFill>
                          <a:effectLst>
                            <a:outerShdw blurRad="38100" dist="38100" dir="2700000" algn="tl">
                              <a:srgbClr val="000000">
                                <a:alpha val="43137"/>
                              </a:srgbClr>
                            </a:outerShdw>
                          </a:effectLst>
                        </a:rPr>
                        <a:t>16</a:t>
                      </a:r>
                      <a:endParaRPr lang="en-US" sz="2400" dirty="0">
                        <a:solidFill>
                          <a:srgbClr val="FF0000"/>
                        </a:solidFill>
                        <a:effectLst>
                          <a:outerShdw blurRad="38100" dist="38100" dir="2700000" algn="tl">
                            <a:srgbClr val="000000">
                              <a:alpha val="43137"/>
                            </a:srgbClr>
                          </a:outerShdw>
                        </a:effectLst>
                      </a:endParaRPr>
                    </a:p>
                  </a:txBody>
                  <a:tcPr/>
                </a:tc>
                <a:tc>
                  <a:txBody>
                    <a:bodyPr/>
                    <a:lstStyle/>
                    <a:p>
                      <a:r>
                        <a:rPr lang="en-US" sz="2400" dirty="0" smtClean="0"/>
                        <a:t>128</a:t>
                      </a:r>
                      <a:endParaRPr lang="en-US" sz="2400" dirty="0"/>
                    </a:p>
                  </a:txBody>
                  <a:tcPr/>
                </a:tc>
                <a:tc>
                  <a:txBody>
                    <a:bodyPr/>
                    <a:lstStyle/>
                    <a:p>
                      <a:r>
                        <a:rPr lang="en-US" sz="2400" dirty="0" smtClean="0"/>
                        <a:t>0.32</a:t>
                      </a:r>
                      <a:endParaRPr lang="en-US" sz="2400" dirty="0"/>
                    </a:p>
                  </a:txBody>
                  <a:tcPr/>
                </a:tc>
                <a:tc>
                  <a:txBody>
                    <a:bodyPr/>
                    <a:lstStyle/>
                    <a:p>
                      <a:r>
                        <a:rPr lang="en-US" sz="2400" dirty="0" smtClean="0"/>
                        <a:t>5.12</a:t>
                      </a:r>
                      <a:endParaRPr lang="en-US" sz="2400" dirty="0"/>
                    </a:p>
                  </a:txBody>
                  <a:tcPr/>
                </a:tc>
              </a:tr>
              <a:tr h="513826">
                <a:tc>
                  <a:txBody>
                    <a:bodyPr/>
                    <a:lstStyle/>
                    <a:p>
                      <a:r>
                        <a:rPr lang="en-US" sz="2400" dirty="0" smtClean="0">
                          <a:solidFill>
                            <a:srgbClr val="FF0000"/>
                          </a:solidFill>
                          <a:effectLst>
                            <a:outerShdw blurRad="38100" dist="38100" dir="2700000" algn="tl">
                              <a:srgbClr val="000000">
                                <a:alpha val="43137"/>
                              </a:srgbClr>
                            </a:outerShdw>
                          </a:effectLst>
                        </a:rPr>
                        <a:t>10</a:t>
                      </a:r>
                      <a:endParaRPr lang="en-US" sz="2400" dirty="0">
                        <a:solidFill>
                          <a:srgbClr val="FF0000"/>
                        </a:solidFill>
                        <a:effectLst>
                          <a:outerShdw blurRad="38100" dist="38100" dir="2700000" algn="tl">
                            <a:srgbClr val="000000">
                              <a:alpha val="43137"/>
                            </a:srgbClr>
                          </a:outerShdw>
                        </a:effectLst>
                      </a:endParaRPr>
                    </a:p>
                  </a:txBody>
                  <a:tcPr/>
                </a:tc>
                <a:tc>
                  <a:txBody>
                    <a:bodyPr/>
                    <a:lstStyle/>
                    <a:p>
                      <a:r>
                        <a:rPr lang="en-US" sz="2400" dirty="0" smtClean="0">
                          <a:solidFill>
                            <a:srgbClr val="FF0000"/>
                          </a:solidFill>
                          <a:effectLst>
                            <a:outerShdw blurRad="38100" dist="38100" dir="2700000" algn="tl">
                              <a:srgbClr val="000000">
                                <a:alpha val="43137"/>
                              </a:srgbClr>
                            </a:outerShdw>
                          </a:effectLst>
                        </a:rPr>
                        <a:t>10</a:t>
                      </a:r>
                      <a:endParaRPr lang="en-US" sz="2400" dirty="0">
                        <a:solidFill>
                          <a:srgbClr val="FF0000"/>
                        </a:solidFill>
                        <a:effectLst>
                          <a:outerShdw blurRad="38100" dist="38100" dir="2700000" algn="tl">
                            <a:srgbClr val="000000">
                              <a:alpha val="43137"/>
                            </a:srgbClr>
                          </a:outerShdw>
                        </a:effectLst>
                      </a:endParaRPr>
                    </a:p>
                  </a:txBody>
                  <a:tcPr/>
                </a:tc>
                <a:tc>
                  <a:txBody>
                    <a:bodyPr/>
                    <a:lstStyle/>
                    <a:p>
                      <a:r>
                        <a:rPr lang="en-US" sz="2400" dirty="0" smtClean="0"/>
                        <a:t>100</a:t>
                      </a:r>
                      <a:endParaRPr lang="en-US" sz="2400" dirty="0"/>
                    </a:p>
                  </a:txBody>
                  <a:tcPr/>
                </a:tc>
                <a:tc>
                  <a:txBody>
                    <a:bodyPr/>
                    <a:lstStyle/>
                    <a:p>
                      <a:r>
                        <a:rPr lang="en-US" sz="2400" dirty="0" smtClean="0"/>
                        <a:t>2.32</a:t>
                      </a:r>
                      <a:endParaRPr lang="en-US" sz="2400" dirty="0"/>
                    </a:p>
                  </a:txBody>
                  <a:tcPr/>
                </a:tc>
                <a:tc>
                  <a:txBody>
                    <a:bodyPr/>
                    <a:lstStyle/>
                    <a:p>
                      <a:r>
                        <a:rPr lang="en-US" sz="2400" dirty="0" smtClean="0"/>
                        <a:t>23.20</a:t>
                      </a:r>
                      <a:endParaRPr lang="en-US" sz="2400" dirty="0"/>
                    </a:p>
                  </a:txBody>
                  <a:tcPr/>
                </a:tc>
              </a:tr>
              <a:tr h="513826">
                <a:tc>
                  <a:txBody>
                    <a:bodyPr/>
                    <a:lstStyle/>
                    <a:p>
                      <a:r>
                        <a:rPr lang="en-US" sz="2400" dirty="0" smtClean="0">
                          <a:solidFill>
                            <a:srgbClr val="FF0000"/>
                          </a:solidFill>
                          <a:effectLst>
                            <a:outerShdw blurRad="38100" dist="38100" dir="2700000" algn="tl">
                              <a:srgbClr val="000000">
                                <a:alpha val="43137"/>
                              </a:srgbClr>
                            </a:outerShdw>
                          </a:effectLst>
                        </a:rPr>
                        <a:t>12</a:t>
                      </a:r>
                      <a:endParaRPr lang="en-US" sz="2400" dirty="0">
                        <a:solidFill>
                          <a:srgbClr val="FF0000"/>
                        </a:solidFill>
                        <a:effectLst>
                          <a:outerShdw blurRad="38100" dist="38100" dir="2700000" algn="tl">
                            <a:srgbClr val="000000">
                              <a:alpha val="43137"/>
                            </a:srgbClr>
                          </a:outerShdw>
                        </a:effectLst>
                      </a:endParaRPr>
                    </a:p>
                  </a:txBody>
                  <a:tcPr/>
                </a:tc>
                <a:tc>
                  <a:txBody>
                    <a:bodyPr/>
                    <a:lstStyle/>
                    <a:p>
                      <a:r>
                        <a:rPr lang="en-US" sz="2400" dirty="0" smtClean="0">
                          <a:solidFill>
                            <a:srgbClr val="FF0000"/>
                          </a:solidFill>
                          <a:effectLst>
                            <a:outerShdw blurRad="38100" dist="38100" dir="2700000" algn="tl">
                              <a:srgbClr val="000000">
                                <a:alpha val="43137"/>
                              </a:srgbClr>
                            </a:outerShdw>
                          </a:effectLst>
                        </a:rPr>
                        <a:t>04</a:t>
                      </a:r>
                      <a:endParaRPr lang="en-US" sz="2400" dirty="0">
                        <a:solidFill>
                          <a:srgbClr val="FF0000"/>
                        </a:solidFill>
                        <a:effectLst>
                          <a:outerShdw blurRad="38100" dist="38100" dir="2700000" algn="tl">
                            <a:srgbClr val="000000">
                              <a:alpha val="43137"/>
                            </a:srgbClr>
                          </a:outerShdw>
                        </a:effectLst>
                      </a:endParaRPr>
                    </a:p>
                  </a:txBody>
                  <a:tcPr/>
                </a:tc>
                <a:tc>
                  <a:txBody>
                    <a:bodyPr/>
                    <a:lstStyle/>
                    <a:p>
                      <a:r>
                        <a:rPr lang="en-US" sz="2400" dirty="0" smtClean="0"/>
                        <a:t>48</a:t>
                      </a:r>
                      <a:endParaRPr lang="en-US" sz="2400" dirty="0"/>
                    </a:p>
                  </a:txBody>
                  <a:tcPr/>
                </a:tc>
                <a:tc>
                  <a:txBody>
                    <a:bodyPr/>
                    <a:lstStyle/>
                    <a:p>
                      <a:r>
                        <a:rPr lang="en-US" sz="2400" dirty="0" smtClean="0"/>
                        <a:t>4.32</a:t>
                      </a:r>
                      <a:endParaRPr lang="en-US" sz="2400" dirty="0"/>
                    </a:p>
                  </a:txBody>
                  <a:tcPr/>
                </a:tc>
                <a:tc>
                  <a:txBody>
                    <a:bodyPr/>
                    <a:lstStyle/>
                    <a:p>
                      <a:r>
                        <a:rPr lang="en-US" sz="2400" dirty="0" smtClean="0"/>
                        <a:t>17.29</a:t>
                      </a:r>
                      <a:endParaRPr lang="en-US" sz="2400" dirty="0"/>
                    </a:p>
                  </a:txBody>
                  <a:tcPr/>
                </a:tc>
              </a:tr>
              <a:tr h="513826">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dirty="0"/>
                    </a:p>
                  </a:txBody>
                  <a:tcPr/>
                </a:tc>
              </a:tr>
            </a:tbl>
          </a:graphicData>
        </a:graphic>
      </p:graphicFrame>
      <p:pic>
        <p:nvPicPr>
          <p:cNvPr id="7170" name="Picture 2"/>
          <p:cNvPicPr>
            <a:picLocks noChangeAspect="1" noChangeArrowheads="1"/>
          </p:cNvPicPr>
          <p:nvPr/>
        </p:nvPicPr>
        <p:blipFill>
          <a:blip r:embed="rId2" cstate="print"/>
          <a:srcRect/>
          <a:stretch>
            <a:fillRect/>
          </a:stretch>
        </p:blipFill>
        <p:spPr bwMode="auto">
          <a:xfrm>
            <a:off x="5486400" y="990600"/>
            <a:ext cx="1352550" cy="628650"/>
          </a:xfrm>
          <a:prstGeom prst="rect">
            <a:avLst/>
          </a:prstGeom>
          <a:noFill/>
          <a:ln w="9525">
            <a:noFill/>
            <a:miter lim="800000"/>
            <a:headEnd/>
            <a:tailEnd/>
          </a:ln>
          <a:effectLst/>
        </p:spPr>
      </p:pic>
      <p:pic>
        <p:nvPicPr>
          <p:cNvPr id="7172" name="Picture 4"/>
          <p:cNvPicPr>
            <a:picLocks noChangeAspect="1" noChangeArrowheads="1"/>
          </p:cNvPicPr>
          <p:nvPr/>
        </p:nvPicPr>
        <p:blipFill>
          <a:blip r:embed="rId3" cstate="print"/>
          <a:srcRect/>
          <a:stretch>
            <a:fillRect/>
          </a:stretch>
        </p:blipFill>
        <p:spPr bwMode="auto">
          <a:xfrm>
            <a:off x="7239000" y="990600"/>
            <a:ext cx="1219200" cy="609600"/>
          </a:xfrm>
          <a:prstGeom prst="rect">
            <a:avLst/>
          </a:prstGeom>
          <a:noFill/>
          <a:ln w="9525">
            <a:noFill/>
            <a:miter lim="800000"/>
            <a:headEnd/>
            <a:tailEnd/>
          </a:ln>
          <a:effectLst/>
        </p:spPr>
      </p:pic>
      <p:pic>
        <p:nvPicPr>
          <p:cNvPr id="7173" name="Picture 5"/>
          <p:cNvPicPr>
            <a:picLocks noChangeAspect="1" noChangeArrowheads="1"/>
          </p:cNvPicPr>
          <p:nvPr/>
        </p:nvPicPr>
        <p:blipFill>
          <a:blip r:embed="rId4" cstate="print"/>
          <a:srcRect/>
          <a:stretch>
            <a:fillRect/>
          </a:stretch>
        </p:blipFill>
        <p:spPr bwMode="auto">
          <a:xfrm>
            <a:off x="2209800" y="4267200"/>
            <a:ext cx="1066800" cy="609600"/>
          </a:xfrm>
          <a:prstGeom prst="rect">
            <a:avLst/>
          </a:prstGeom>
          <a:noFill/>
          <a:ln w="9525">
            <a:noFill/>
            <a:miter lim="800000"/>
            <a:headEnd/>
            <a:tailEnd/>
          </a:ln>
          <a:effectLst/>
        </p:spPr>
      </p:pic>
      <p:pic>
        <p:nvPicPr>
          <p:cNvPr id="7175" name="Picture 7"/>
          <p:cNvPicPr>
            <a:picLocks noChangeAspect="1" noChangeArrowheads="1"/>
          </p:cNvPicPr>
          <p:nvPr/>
        </p:nvPicPr>
        <p:blipFill>
          <a:blip r:embed="rId5" cstate="print"/>
          <a:srcRect/>
          <a:stretch>
            <a:fillRect/>
          </a:stretch>
        </p:blipFill>
        <p:spPr bwMode="auto">
          <a:xfrm>
            <a:off x="7010400" y="4343400"/>
            <a:ext cx="1657350" cy="485775"/>
          </a:xfrm>
          <a:prstGeom prst="rect">
            <a:avLst/>
          </a:prstGeom>
          <a:noFill/>
          <a:ln w="9525">
            <a:noFill/>
            <a:miter lim="800000"/>
            <a:headEnd/>
            <a:tailEnd/>
          </a:ln>
          <a:effectLst/>
        </p:spPr>
      </p:pic>
      <p:pic>
        <p:nvPicPr>
          <p:cNvPr id="9" name="Picture 4"/>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90600" y="5410200"/>
            <a:ext cx="1828959" cy="10607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4577" name="Picture 1"/>
          <p:cNvPicPr>
            <a:picLocks noChangeAspect="1" noChangeArrowheads="1"/>
          </p:cNvPicPr>
          <p:nvPr/>
        </p:nvPicPr>
        <p:blipFill>
          <a:blip r:embed="rId7"/>
          <a:srcRect/>
          <a:stretch>
            <a:fillRect/>
          </a:stretch>
        </p:blipFill>
        <p:spPr bwMode="auto">
          <a:xfrm>
            <a:off x="3810000" y="4267200"/>
            <a:ext cx="1447800" cy="552450"/>
          </a:xfrm>
          <a:prstGeom prst="rect">
            <a:avLst/>
          </a:prstGeom>
          <a:noFill/>
          <a:ln w="9525">
            <a:noFill/>
            <a:miter lim="800000"/>
            <a:headEnd/>
            <a:tailEnd/>
          </a:ln>
          <a:effectLst/>
        </p:spPr>
      </p:pic>
      <p:pic>
        <p:nvPicPr>
          <p:cNvPr id="24578" name="Picture 2"/>
          <p:cNvPicPr>
            <a:picLocks noChangeAspect="1" noChangeArrowheads="1"/>
          </p:cNvPicPr>
          <p:nvPr/>
        </p:nvPicPr>
        <p:blipFill>
          <a:blip r:embed="rId8"/>
          <a:srcRect/>
          <a:stretch>
            <a:fillRect/>
          </a:stretch>
        </p:blipFill>
        <p:spPr bwMode="auto">
          <a:xfrm>
            <a:off x="3352800" y="5181600"/>
            <a:ext cx="2819400" cy="12954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52400" y="381000"/>
            <a:ext cx="220980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2"/>
          <p:cNvPicPr>
            <a:picLocks noChangeAspect="1" noChangeArrowheads="1"/>
          </p:cNvPicPr>
          <p:nvPr/>
        </p:nvPicPr>
        <p:blipFill>
          <a:blip r:embed="rId3" cstate="print"/>
          <a:srcRect/>
          <a:stretch>
            <a:fillRect/>
          </a:stretch>
        </p:blipFill>
        <p:spPr bwMode="auto">
          <a:xfrm>
            <a:off x="152400" y="2057400"/>
            <a:ext cx="3810000" cy="1447800"/>
          </a:xfrm>
          <a:prstGeom prst="rect">
            <a:avLst/>
          </a:prstGeom>
          <a:noFill/>
          <a:ln w="9525">
            <a:noFill/>
            <a:miter lim="800000"/>
            <a:headEnd/>
            <a:tailEnd/>
          </a:ln>
          <a:effectLst/>
        </p:spPr>
      </p:pic>
      <p:pic>
        <p:nvPicPr>
          <p:cNvPr id="8196" name="Picture 4"/>
          <p:cNvPicPr>
            <a:picLocks noChangeAspect="1" noChangeArrowheads="1"/>
          </p:cNvPicPr>
          <p:nvPr/>
        </p:nvPicPr>
        <p:blipFill>
          <a:blip r:embed="rId4" cstate="print"/>
          <a:srcRect/>
          <a:stretch>
            <a:fillRect/>
          </a:stretch>
        </p:blipFill>
        <p:spPr bwMode="auto">
          <a:xfrm>
            <a:off x="4800600" y="2286000"/>
            <a:ext cx="1828800" cy="838200"/>
          </a:xfrm>
          <a:prstGeom prst="rect">
            <a:avLst/>
          </a:prstGeom>
          <a:noFill/>
          <a:ln w="9525">
            <a:noFill/>
            <a:miter lim="800000"/>
            <a:headEnd/>
            <a:tailEnd/>
          </a:ln>
          <a:effectLst/>
        </p:spPr>
      </p:pic>
      <p:pic>
        <p:nvPicPr>
          <p:cNvPr id="11" name="Picture 3"/>
          <p:cNvPicPr>
            <a:picLocks noChangeAspect="1" noChangeArrowheads="1"/>
          </p:cNvPicPr>
          <p:nvPr/>
        </p:nvPicPr>
        <p:blipFill>
          <a:blip r:embed="rId5" cstate="print"/>
          <a:srcRect/>
          <a:stretch>
            <a:fillRect/>
          </a:stretch>
        </p:blipFill>
        <p:spPr bwMode="auto">
          <a:xfrm>
            <a:off x="381000" y="4343400"/>
            <a:ext cx="5257800" cy="1371600"/>
          </a:xfrm>
          <a:prstGeom prst="rect">
            <a:avLst/>
          </a:prstGeom>
          <a:noFill/>
          <a:ln w="9525">
            <a:noFill/>
            <a:miter lim="800000"/>
            <a:headEnd/>
            <a:tailEnd/>
          </a:ln>
          <a:effectLst/>
        </p:spPr>
      </p:pic>
      <p:pic>
        <p:nvPicPr>
          <p:cNvPr id="8" name="Picture 2"/>
          <p:cNvPicPr>
            <a:picLocks noChangeAspect="1" noChangeArrowheads="1"/>
          </p:cNvPicPr>
          <p:nvPr/>
        </p:nvPicPr>
        <p:blipFill>
          <a:blip r:embed="rId6"/>
          <a:srcRect/>
          <a:stretch>
            <a:fillRect/>
          </a:stretch>
        </p:blipFill>
        <p:spPr bwMode="auto">
          <a:xfrm>
            <a:off x="2743200" y="228600"/>
            <a:ext cx="3352800" cy="1295400"/>
          </a:xfrm>
          <a:prstGeom prst="rect">
            <a:avLst/>
          </a:prstGeom>
          <a:noFill/>
          <a:ln w="9525">
            <a:noFill/>
            <a:miter lim="800000"/>
            <a:headEnd/>
            <a:tailEnd/>
          </a:ln>
          <a:effectLst/>
        </p:spPr>
      </p:pic>
      <p:pic>
        <p:nvPicPr>
          <p:cNvPr id="23553" name="Picture 1"/>
          <p:cNvPicPr>
            <a:picLocks noChangeAspect="1" noChangeArrowheads="1"/>
          </p:cNvPicPr>
          <p:nvPr/>
        </p:nvPicPr>
        <p:blipFill>
          <a:blip r:embed="rId7"/>
          <a:srcRect/>
          <a:stretch>
            <a:fillRect/>
          </a:stretch>
        </p:blipFill>
        <p:spPr bwMode="auto">
          <a:xfrm>
            <a:off x="6248400" y="4191000"/>
            <a:ext cx="2409825" cy="13716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28600"/>
            <a:ext cx="8229600" cy="1143000"/>
          </a:xfrm>
        </p:spPr>
        <p:txBody>
          <a:bodyPr>
            <a:normAutofit/>
          </a:bodyPr>
          <a:lstStyle/>
          <a:p>
            <a:r>
              <a:rPr lang="en-US" sz="3600" b="1" dirty="0" smtClean="0">
                <a:solidFill>
                  <a:srgbClr val="FF0000"/>
                </a:solidFill>
              </a:rPr>
              <a:t>CONTINUOUS SERIES</a:t>
            </a:r>
            <a:endParaRPr lang="en-US" sz="3600" b="1" dirty="0">
              <a:solidFill>
                <a:srgbClr val="FF0000"/>
              </a:solidFill>
            </a:endParaRPr>
          </a:p>
        </p:txBody>
      </p:sp>
      <p:sp>
        <p:nvSpPr>
          <p:cNvPr id="3" name="Content Placeholder 2"/>
          <p:cNvSpPr>
            <a:spLocks noGrp="1"/>
          </p:cNvSpPr>
          <p:nvPr>
            <p:ph idx="1"/>
          </p:nvPr>
        </p:nvSpPr>
        <p:spPr>
          <a:xfrm>
            <a:off x="0" y="990600"/>
            <a:ext cx="9144000" cy="5638800"/>
          </a:xfrm>
        </p:spPr>
        <p:txBody>
          <a:bodyPr/>
          <a:lstStyle/>
          <a:p>
            <a:r>
              <a:rPr lang="en-US" b="1" dirty="0" smtClean="0">
                <a:solidFill>
                  <a:srgbClr val="FF0000"/>
                </a:solidFill>
                <a:effectLst>
                  <a:outerShdw blurRad="38100" dist="38100" dir="2700000" algn="tl">
                    <a:srgbClr val="000000">
                      <a:alpha val="43137"/>
                    </a:srgbClr>
                  </a:outerShdw>
                </a:effectLst>
              </a:rPr>
              <a:t>Mean </a:t>
            </a:r>
            <a:endParaRPr lang="en-US" b="1" dirty="0">
              <a:solidFill>
                <a:srgbClr val="FF0000"/>
              </a:solidFill>
              <a:effectLst>
                <a:outerShdw blurRad="38100" dist="38100" dir="2700000" algn="tl">
                  <a:srgbClr val="000000">
                    <a:alpha val="43137"/>
                  </a:srgbClr>
                </a:outerShdw>
              </a:effectLst>
            </a:endParaRPr>
          </a:p>
        </p:txBody>
      </p:sp>
      <p:pic>
        <p:nvPicPr>
          <p:cNvPr id="6" name="Picture 2"/>
          <p:cNvPicPr>
            <a:picLocks noChangeAspect="1" noChangeArrowheads="1"/>
          </p:cNvPicPr>
          <p:nvPr/>
        </p:nvPicPr>
        <p:blipFill>
          <a:blip r:embed="rId2" cstate="print"/>
          <a:srcRect/>
          <a:stretch>
            <a:fillRect/>
          </a:stretch>
        </p:blipFill>
        <p:spPr bwMode="auto">
          <a:xfrm>
            <a:off x="1905000" y="3200400"/>
            <a:ext cx="4114800" cy="1295400"/>
          </a:xfrm>
          <a:prstGeom prst="rect">
            <a:avLst/>
          </a:prstGeom>
          <a:noFill/>
          <a:ln w="9525">
            <a:noFill/>
            <a:miter lim="800000"/>
            <a:headEnd/>
            <a:tailEnd/>
          </a:ln>
          <a:effectLst/>
        </p:spPr>
      </p:pic>
      <p:pic>
        <p:nvPicPr>
          <p:cNvPr id="7" name="Picture 3"/>
          <p:cNvPicPr>
            <a:picLocks noChangeAspect="1" noChangeArrowheads="1"/>
          </p:cNvPicPr>
          <p:nvPr/>
        </p:nvPicPr>
        <p:blipFill>
          <a:blip r:embed="rId3" cstate="print"/>
          <a:srcRect/>
          <a:stretch>
            <a:fillRect/>
          </a:stretch>
        </p:blipFill>
        <p:spPr bwMode="auto">
          <a:xfrm>
            <a:off x="1295400" y="5257800"/>
            <a:ext cx="5114925" cy="1143000"/>
          </a:xfrm>
          <a:prstGeom prst="rect">
            <a:avLst/>
          </a:prstGeom>
          <a:noFill/>
          <a:ln w="9525">
            <a:noFill/>
            <a:miter lim="800000"/>
            <a:headEnd/>
            <a:tailEnd/>
          </a:ln>
          <a:effectLst/>
        </p:spPr>
      </p:pic>
      <p:pic>
        <p:nvPicPr>
          <p:cNvPr id="1027" name="Picture 3"/>
          <p:cNvPicPr>
            <a:picLocks noChangeAspect="1" noChangeArrowheads="1"/>
          </p:cNvPicPr>
          <p:nvPr/>
        </p:nvPicPr>
        <p:blipFill>
          <a:blip r:embed="rId4" cstate="print"/>
          <a:srcRect/>
          <a:stretch>
            <a:fillRect/>
          </a:stretch>
        </p:blipFill>
        <p:spPr bwMode="auto">
          <a:xfrm>
            <a:off x="1981200" y="1676400"/>
            <a:ext cx="4343400" cy="12001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09600"/>
          </a:xfrm>
        </p:spPr>
        <p:txBody>
          <a:bodyPr>
            <a:normAutofit fontScale="90000"/>
          </a:bodyPr>
          <a:lstStyle/>
          <a:p>
            <a:r>
              <a:rPr lang="en-US" b="1" dirty="0" smtClean="0">
                <a:solidFill>
                  <a:srgbClr val="FF0000"/>
                </a:solidFill>
                <a:effectLst>
                  <a:outerShdw blurRad="38100" dist="38100" dir="2700000" algn="tl">
                    <a:srgbClr val="000000">
                      <a:alpha val="43137"/>
                    </a:srgbClr>
                  </a:outerShdw>
                </a:effectLst>
              </a:rPr>
              <a:t>Mean</a:t>
            </a:r>
            <a:r>
              <a:rPr lang="en-US" dirty="0" smtClean="0"/>
              <a:t/>
            </a:r>
            <a:br>
              <a:rPr lang="en-US" dirty="0" smtClean="0"/>
            </a:br>
            <a:endParaRPr lang="en-US" dirty="0"/>
          </a:p>
        </p:txBody>
      </p:sp>
      <p:pic>
        <p:nvPicPr>
          <p:cNvPr id="18434" name="Picture 2"/>
          <p:cNvPicPr>
            <a:picLocks noGrp="1" noChangeAspect="1" noChangeArrowheads="1"/>
          </p:cNvPicPr>
          <p:nvPr>
            <p:ph idx="1"/>
          </p:nvPr>
        </p:nvPicPr>
        <p:blipFill>
          <a:blip r:embed="rId2" cstate="print"/>
          <a:srcRect/>
          <a:stretch>
            <a:fillRect/>
          </a:stretch>
        </p:blipFill>
        <p:spPr bwMode="auto">
          <a:xfrm>
            <a:off x="152400" y="838200"/>
            <a:ext cx="8991600" cy="3810000"/>
          </a:xfrm>
          <a:prstGeom prst="rect">
            <a:avLst/>
          </a:prstGeom>
          <a:noFill/>
          <a:ln w="9525">
            <a:noFill/>
            <a:miter lim="800000"/>
            <a:headEnd/>
            <a:tailEnd/>
          </a:ln>
          <a:effectLst/>
        </p:spPr>
      </p:pic>
      <p:pic>
        <p:nvPicPr>
          <p:cNvPr id="16" name="Picture 2"/>
          <p:cNvPicPr>
            <a:picLocks noChangeAspect="1" noChangeArrowheads="1"/>
          </p:cNvPicPr>
          <p:nvPr/>
        </p:nvPicPr>
        <p:blipFill>
          <a:blip r:embed="rId3" cstate="print"/>
          <a:srcRect/>
          <a:stretch>
            <a:fillRect/>
          </a:stretch>
        </p:blipFill>
        <p:spPr bwMode="auto">
          <a:xfrm>
            <a:off x="4800600" y="5181600"/>
            <a:ext cx="3810000" cy="1447800"/>
          </a:xfrm>
          <a:prstGeom prst="rect">
            <a:avLst/>
          </a:prstGeom>
          <a:noFill/>
          <a:ln w="9525">
            <a:noFill/>
            <a:miter lim="800000"/>
            <a:headEnd/>
            <a:tailEnd/>
          </a:ln>
          <a:effectLst/>
        </p:spPr>
      </p:pic>
      <p:pic>
        <p:nvPicPr>
          <p:cNvPr id="13" name="Content Placeholder 3"/>
          <p:cNvPicPr>
            <a:picLocks noChangeAspect="1" noChangeArrowheads="1"/>
          </p:cNvPicPr>
          <p:nvPr/>
        </p:nvPicPr>
        <p:blipFill>
          <a:blip r:embed="rId4" cstate="print"/>
          <a:srcRect/>
          <a:stretch>
            <a:fillRect/>
          </a:stretch>
        </p:blipFill>
        <p:spPr bwMode="auto">
          <a:xfrm>
            <a:off x="381000" y="5181600"/>
            <a:ext cx="3390900" cy="12192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p:cNvSpPr>
            <a:spLocks noGrp="1"/>
          </p:cNvSpPr>
          <p:nvPr>
            <p:ph type="title"/>
          </p:nvPr>
        </p:nvSpPr>
        <p:spPr>
          <a:xfrm>
            <a:off x="457200" y="152400"/>
            <a:ext cx="8229600" cy="609600"/>
          </a:xfrm>
        </p:spPr>
        <p:txBody>
          <a:bodyPr>
            <a:normAutofit fontScale="90000"/>
          </a:bodyPr>
          <a:lstStyle/>
          <a:p>
            <a:r>
              <a:rPr lang="en-US" b="1" dirty="0" smtClean="0">
                <a:solidFill>
                  <a:srgbClr val="FF0000"/>
                </a:solidFill>
                <a:effectLst>
                  <a:outerShdw blurRad="38100" dist="38100" dir="2700000" algn="tl">
                    <a:srgbClr val="000000">
                      <a:alpha val="43137"/>
                    </a:srgbClr>
                  </a:outerShdw>
                </a:effectLst>
              </a:rPr>
              <a:t>Mean</a:t>
            </a:r>
            <a:r>
              <a:rPr lang="en-US" dirty="0" smtClean="0"/>
              <a:t/>
            </a:r>
            <a:br>
              <a:rPr lang="en-US" dirty="0" smtClean="0"/>
            </a:br>
            <a:endParaRPr lang="en-US" dirty="0"/>
          </a:p>
        </p:txBody>
      </p:sp>
      <p:pic>
        <p:nvPicPr>
          <p:cNvPr id="4" name="Content Placeholder 3"/>
          <p:cNvPicPr>
            <a:picLocks noGrp="1" noChangeAspect="1" noChangeArrowheads="1"/>
          </p:cNvPicPr>
          <p:nvPr>
            <p:ph idx="1"/>
          </p:nvPr>
        </p:nvPicPr>
        <p:blipFill>
          <a:blip r:embed="rId2" cstate="print"/>
          <a:srcRect/>
          <a:stretch>
            <a:fillRect/>
          </a:stretch>
        </p:blipFill>
        <p:spPr bwMode="auto">
          <a:xfrm>
            <a:off x="457200" y="533400"/>
            <a:ext cx="3390900" cy="1200150"/>
          </a:xfrm>
          <a:prstGeom prst="rect">
            <a:avLst/>
          </a:prstGeom>
          <a:noFill/>
          <a:ln w="9525">
            <a:noFill/>
            <a:miter lim="800000"/>
            <a:headEnd/>
            <a:tailEnd/>
          </a:ln>
          <a:effectLst/>
        </p:spPr>
      </p:pic>
      <p:pic>
        <p:nvPicPr>
          <p:cNvPr id="3074" name="Picture 2"/>
          <p:cNvPicPr>
            <a:picLocks noChangeAspect="1" noChangeArrowheads="1"/>
          </p:cNvPicPr>
          <p:nvPr/>
        </p:nvPicPr>
        <p:blipFill>
          <a:blip r:embed="rId3" cstate="print"/>
          <a:srcRect/>
          <a:stretch>
            <a:fillRect/>
          </a:stretch>
        </p:blipFill>
        <p:spPr bwMode="auto">
          <a:xfrm>
            <a:off x="4419600" y="533400"/>
            <a:ext cx="3552825" cy="1371600"/>
          </a:xfrm>
          <a:prstGeom prst="rect">
            <a:avLst/>
          </a:prstGeom>
          <a:noFill/>
          <a:ln w="9525">
            <a:noFill/>
            <a:miter lim="800000"/>
            <a:headEnd/>
            <a:tailEnd/>
          </a:ln>
          <a:effectLst/>
        </p:spPr>
      </p:pic>
      <p:pic>
        <p:nvPicPr>
          <p:cNvPr id="6" name="Picture 2"/>
          <p:cNvPicPr>
            <a:picLocks noChangeAspect="1" noChangeArrowheads="1"/>
          </p:cNvPicPr>
          <p:nvPr/>
        </p:nvPicPr>
        <p:blipFill>
          <a:blip r:embed="rId4" cstate="print"/>
          <a:srcRect/>
          <a:stretch>
            <a:fillRect/>
          </a:stretch>
        </p:blipFill>
        <p:spPr bwMode="auto">
          <a:xfrm>
            <a:off x="533400" y="2438400"/>
            <a:ext cx="3733800" cy="1295400"/>
          </a:xfrm>
          <a:prstGeom prst="rect">
            <a:avLst/>
          </a:prstGeom>
          <a:noFill/>
          <a:ln w="9525">
            <a:noFill/>
            <a:miter lim="800000"/>
            <a:headEnd/>
            <a:tailEnd/>
          </a:ln>
          <a:effectLst/>
        </p:spPr>
      </p:pic>
      <p:pic>
        <p:nvPicPr>
          <p:cNvPr id="3075" name="Picture 3"/>
          <p:cNvPicPr>
            <a:picLocks noChangeAspect="1" noChangeArrowheads="1"/>
          </p:cNvPicPr>
          <p:nvPr/>
        </p:nvPicPr>
        <p:blipFill>
          <a:blip r:embed="rId5" cstate="print"/>
          <a:srcRect/>
          <a:stretch>
            <a:fillRect/>
          </a:stretch>
        </p:blipFill>
        <p:spPr bwMode="auto">
          <a:xfrm>
            <a:off x="4724400" y="2514600"/>
            <a:ext cx="3562350" cy="1314450"/>
          </a:xfrm>
          <a:prstGeom prst="rect">
            <a:avLst/>
          </a:prstGeom>
          <a:noFill/>
          <a:ln w="9525">
            <a:noFill/>
            <a:miter lim="800000"/>
            <a:headEnd/>
            <a:tailEnd/>
          </a:ln>
          <a:effectLst/>
        </p:spPr>
      </p:pic>
      <p:pic>
        <p:nvPicPr>
          <p:cNvPr id="8" name="Picture 3"/>
          <p:cNvPicPr>
            <a:picLocks noChangeAspect="1" noChangeArrowheads="1"/>
          </p:cNvPicPr>
          <p:nvPr/>
        </p:nvPicPr>
        <p:blipFill>
          <a:blip r:embed="rId6" cstate="print"/>
          <a:srcRect/>
          <a:stretch>
            <a:fillRect/>
          </a:stretch>
        </p:blipFill>
        <p:spPr bwMode="auto">
          <a:xfrm>
            <a:off x="457200" y="4419600"/>
            <a:ext cx="5114925" cy="1143000"/>
          </a:xfrm>
          <a:prstGeom prst="rect">
            <a:avLst/>
          </a:prstGeom>
          <a:noFill/>
          <a:ln w="9525">
            <a:noFill/>
            <a:miter lim="800000"/>
            <a:headEnd/>
            <a:tailEnd/>
          </a:ln>
          <a:effectLst/>
        </p:spPr>
      </p:pic>
      <p:pic>
        <p:nvPicPr>
          <p:cNvPr id="3076" name="Picture 4"/>
          <p:cNvPicPr>
            <a:picLocks noChangeAspect="1" noChangeArrowheads="1"/>
          </p:cNvPicPr>
          <p:nvPr/>
        </p:nvPicPr>
        <p:blipFill>
          <a:blip r:embed="rId7" cstate="print"/>
          <a:srcRect/>
          <a:stretch>
            <a:fillRect/>
          </a:stretch>
        </p:blipFill>
        <p:spPr bwMode="auto">
          <a:xfrm>
            <a:off x="6019800" y="4572000"/>
            <a:ext cx="2152650" cy="6572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lnSpcReduction="10000"/>
          </a:bodyPr>
          <a:lstStyle/>
          <a:p>
            <a:pPr algn="just">
              <a:buNone/>
            </a:pPr>
            <a:r>
              <a:rPr lang="en-US" b="1" i="1" dirty="0" smtClean="0">
                <a:solidFill>
                  <a:srgbClr val="FF0000"/>
                </a:solidFill>
              </a:rPr>
              <a:t>STANDARD DEVIATION</a:t>
            </a:r>
            <a:endParaRPr lang="en-US" dirty="0" smtClean="0">
              <a:solidFill>
                <a:srgbClr val="FF0000"/>
              </a:solidFill>
            </a:endParaRPr>
          </a:p>
          <a:p>
            <a:pPr algn="just"/>
            <a:r>
              <a:rPr lang="en-US" dirty="0" smtClean="0"/>
              <a:t>The </a:t>
            </a:r>
            <a:r>
              <a:rPr lang="en-US" dirty="0"/>
              <a:t>numerical value of population or a sample variance is difficult to interpret because it is expressed in square units. </a:t>
            </a:r>
            <a:endParaRPr lang="en-US" dirty="0" smtClean="0"/>
          </a:p>
          <a:p>
            <a:pPr algn="just"/>
            <a:r>
              <a:rPr lang="en-US" dirty="0" smtClean="0"/>
              <a:t>To </a:t>
            </a:r>
            <a:r>
              <a:rPr lang="en-US" dirty="0"/>
              <a:t>reach a interpretable measure of variance expressed in the units of original data, we take a positive square root of the variance, which is known as the </a:t>
            </a:r>
            <a:r>
              <a:rPr lang="en-US" b="1" dirty="0"/>
              <a:t>standard deviation</a:t>
            </a:r>
            <a:r>
              <a:rPr lang="en-US" dirty="0"/>
              <a:t> or </a:t>
            </a:r>
            <a:r>
              <a:rPr lang="en-US" i="1" dirty="0"/>
              <a:t>root-mean square deviation.</a:t>
            </a:r>
            <a:r>
              <a:rPr lang="en-US" dirty="0"/>
              <a:t> </a:t>
            </a:r>
            <a:endParaRPr lang="en-US" dirty="0" smtClean="0"/>
          </a:p>
          <a:p>
            <a:pPr algn="just"/>
            <a:endParaRPr lang="en-US" dirty="0" smtClean="0"/>
          </a:p>
          <a:p>
            <a:pPr algn="just"/>
            <a:r>
              <a:rPr lang="en-US" dirty="0" smtClean="0"/>
              <a:t>The </a:t>
            </a:r>
            <a:r>
              <a:rPr lang="en-US" dirty="0"/>
              <a:t>standard deviation of population and sample is denoted by </a:t>
            </a:r>
            <a:r>
              <a:rPr lang="en-US" b="1" dirty="0"/>
              <a:t>σ</a:t>
            </a:r>
            <a:r>
              <a:rPr lang="en-US" dirty="0"/>
              <a:t> and </a:t>
            </a:r>
            <a:r>
              <a:rPr lang="en-US" i="1" dirty="0"/>
              <a:t>s</a:t>
            </a:r>
            <a:r>
              <a:rPr lang="en-US" dirty="0"/>
              <a:t>, respectively. We can think of the standard deviation as roughly the </a:t>
            </a:r>
            <a:r>
              <a:rPr lang="en-US" i="1" dirty="0"/>
              <a:t>average distance values fall from the mean.</a:t>
            </a:r>
            <a:endParaRPr lang="en-US" dirty="0"/>
          </a:p>
          <a:p>
            <a:endParaRPr lang="en-US" dirty="0"/>
          </a:p>
        </p:txBody>
      </p:sp>
    </p:spTree>
    <p:extLst>
      <p:ext uri="{BB962C8B-B14F-4D97-AF65-F5344CB8AC3E}">
        <p14:creationId xmlns:p14="http://schemas.microsoft.com/office/powerpoint/2010/main" val="182991013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76200"/>
            <a:ext cx="8915400" cy="6781800"/>
          </a:xfrm>
        </p:spPr>
        <p:txBody>
          <a:bodyPr>
            <a:normAutofit/>
          </a:bodyPr>
          <a:lstStyle/>
          <a:p>
            <a:pPr algn="just"/>
            <a:r>
              <a:rPr lang="en-US" sz="3500" dirty="0">
                <a:solidFill>
                  <a:srgbClr val="FF0000"/>
                </a:solidFill>
              </a:rPr>
              <a:t>What is 'Variance'</a:t>
            </a:r>
          </a:p>
          <a:p>
            <a:pPr algn="just"/>
            <a:r>
              <a:rPr lang="en-US" dirty="0"/>
              <a:t>Variance is a measurement of the </a:t>
            </a:r>
            <a:r>
              <a:rPr lang="en-US" u="sng" dirty="0">
                <a:solidFill>
                  <a:srgbClr val="9966FF"/>
                </a:solidFill>
                <a:effectLst>
                  <a:outerShdw blurRad="38100" dist="38100" dir="2700000" algn="tl">
                    <a:srgbClr val="000000">
                      <a:alpha val="43137"/>
                    </a:srgbClr>
                  </a:outerShdw>
                </a:effectLst>
                <a:uFill>
                  <a:solidFill>
                    <a:srgbClr val="FF0000"/>
                  </a:solidFill>
                </a:uFill>
              </a:rPr>
              <a:t>spread between numbers</a:t>
            </a:r>
            <a:r>
              <a:rPr lang="en-US" dirty="0"/>
              <a:t> in a data set. </a:t>
            </a:r>
            <a:endParaRPr lang="en-US" dirty="0" smtClean="0"/>
          </a:p>
          <a:p>
            <a:pPr algn="just"/>
            <a:r>
              <a:rPr lang="en-US" dirty="0" smtClean="0"/>
              <a:t>The </a:t>
            </a:r>
            <a:r>
              <a:rPr lang="en-US" dirty="0"/>
              <a:t>variance measures how far each number in the set is </a:t>
            </a:r>
            <a:r>
              <a:rPr lang="en-US" u="sng" dirty="0">
                <a:solidFill>
                  <a:srgbClr val="9966FF"/>
                </a:solidFill>
                <a:effectLst>
                  <a:outerShdw blurRad="38100" dist="38100" dir="2700000" algn="tl">
                    <a:srgbClr val="000000">
                      <a:alpha val="43137"/>
                    </a:srgbClr>
                  </a:outerShdw>
                </a:effectLst>
                <a:uFill>
                  <a:solidFill>
                    <a:srgbClr val="FFFF00"/>
                  </a:solidFill>
                </a:uFill>
              </a:rPr>
              <a:t>from the mean</a:t>
            </a:r>
            <a:r>
              <a:rPr lang="en-US" dirty="0"/>
              <a:t>. </a:t>
            </a:r>
            <a:endParaRPr lang="en-US" dirty="0" smtClean="0"/>
          </a:p>
          <a:p>
            <a:pPr algn="just"/>
            <a:r>
              <a:rPr lang="en-US" dirty="0" smtClean="0"/>
              <a:t>Variance </a:t>
            </a:r>
            <a:r>
              <a:rPr lang="en-US" dirty="0"/>
              <a:t>is calculated by </a:t>
            </a:r>
            <a:r>
              <a:rPr lang="en-US" u="sng" dirty="0">
                <a:solidFill>
                  <a:srgbClr val="0033CC"/>
                </a:solidFill>
                <a:effectLst>
                  <a:outerShdw blurRad="38100" dist="38100" dir="2700000" algn="tl">
                    <a:srgbClr val="000000">
                      <a:alpha val="43137"/>
                    </a:srgbClr>
                  </a:outerShdw>
                </a:effectLst>
                <a:uFill>
                  <a:solidFill>
                    <a:srgbClr val="FFC000"/>
                  </a:solidFill>
                </a:uFill>
              </a:rPr>
              <a:t>taking the differences </a:t>
            </a:r>
            <a:r>
              <a:rPr lang="en-US" dirty="0"/>
              <a:t>between </a:t>
            </a:r>
            <a:r>
              <a:rPr lang="en-US" u="sng" dirty="0">
                <a:solidFill>
                  <a:srgbClr val="FF0000"/>
                </a:solidFill>
                <a:effectLst>
                  <a:outerShdw blurRad="38100" dist="38100" dir="2700000" algn="tl">
                    <a:srgbClr val="000000">
                      <a:alpha val="43137"/>
                    </a:srgbClr>
                  </a:outerShdw>
                </a:effectLst>
              </a:rPr>
              <a:t>each number</a:t>
            </a:r>
            <a:r>
              <a:rPr lang="en-US" dirty="0">
                <a:solidFill>
                  <a:srgbClr val="FF0000"/>
                </a:solidFill>
                <a:effectLst>
                  <a:outerShdw blurRad="38100" dist="38100" dir="2700000" algn="tl">
                    <a:srgbClr val="000000">
                      <a:alpha val="43137"/>
                    </a:srgbClr>
                  </a:outerShdw>
                </a:effectLst>
              </a:rPr>
              <a:t> </a:t>
            </a:r>
            <a:r>
              <a:rPr lang="en-US" dirty="0"/>
              <a:t>in the set </a:t>
            </a:r>
            <a:r>
              <a:rPr lang="en-US" i="1" u="sng" dirty="0">
                <a:solidFill>
                  <a:srgbClr val="FF0000"/>
                </a:solidFill>
                <a:effectLst>
                  <a:outerShdw blurRad="38100" dist="38100" dir="2700000" algn="tl">
                    <a:srgbClr val="000000">
                      <a:alpha val="43137"/>
                    </a:srgbClr>
                  </a:outerShdw>
                </a:effectLst>
              </a:rPr>
              <a:t>and the mean</a:t>
            </a:r>
            <a:r>
              <a:rPr lang="en-US" dirty="0"/>
              <a:t>, squaring the differences (to make them positive) and </a:t>
            </a:r>
            <a:r>
              <a:rPr lang="en-US" i="1" u="sng" dirty="0">
                <a:effectLst>
                  <a:outerShdw blurRad="38100" dist="38100" dir="2700000" algn="tl">
                    <a:srgbClr val="000000">
                      <a:alpha val="43137"/>
                    </a:srgbClr>
                  </a:outerShdw>
                </a:effectLst>
              </a:rPr>
              <a:t>dividing the sum of the squares</a:t>
            </a:r>
            <a:r>
              <a:rPr lang="en-US" dirty="0"/>
              <a:t> by the </a:t>
            </a:r>
            <a:r>
              <a:rPr lang="en-US" dirty="0">
                <a:solidFill>
                  <a:srgbClr val="9966FF"/>
                </a:solidFill>
                <a:effectLst>
                  <a:outerShdw blurRad="38100" dist="38100" dir="2700000" algn="tl">
                    <a:srgbClr val="000000">
                      <a:alpha val="43137"/>
                    </a:srgbClr>
                  </a:outerShdw>
                </a:effectLst>
              </a:rPr>
              <a:t>number of values in the set</a:t>
            </a:r>
            <a:r>
              <a:rPr lang="en-US" dirty="0"/>
              <a:t>.</a:t>
            </a:r>
          </a:p>
          <a:p>
            <a:endParaRPr lang="en-US" dirty="0"/>
          </a:p>
          <a:p>
            <a:endParaRPr lang="en-US" dirty="0"/>
          </a:p>
        </p:txBody>
      </p:sp>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67000" y="5410200"/>
            <a:ext cx="35052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15868265"/>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2"/>
          <p:cNvPicPr>
            <a:picLocks noGrp="1" noChangeAspect="1" noChangeArrowheads="1"/>
          </p:cNvPicPr>
          <p:nvPr>
            <p:ph idx="1"/>
          </p:nvPr>
        </p:nvPicPr>
        <p:blipFill>
          <a:blip r:embed="rId2" cstate="print"/>
          <a:stretch>
            <a:fillRect/>
          </a:stretch>
        </p:blipFill>
        <p:spPr bwMode="auto">
          <a:xfrm>
            <a:off x="3135630" y="3173571"/>
            <a:ext cx="2872740" cy="1379220"/>
          </a:xfrm>
          <a:prstGeom prst="rect">
            <a:avLst/>
          </a:prstGeom>
          <a:noFill/>
          <a:ln w="9525">
            <a:noFill/>
            <a:miter lim="800000"/>
            <a:headEnd/>
            <a:tailEnd/>
          </a:ln>
          <a:effectLst/>
        </p:spPr>
      </p:pic>
      <p:sp>
        <p:nvSpPr>
          <p:cNvPr id="5" name="Rectangle 4"/>
          <p:cNvSpPr/>
          <p:nvPr/>
        </p:nvSpPr>
        <p:spPr>
          <a:xfrm>
            <a:off x="0" y="0"/>
            <a:ext cx="9144000" cy="6784241"/>
          </a:xfrm>
          <a:prstGeom prst="rect">
            <a:avLst/>
          </a:prstGeom>
        </p:spPr>
        <p:txBody>
          <a:bodyPr wrap="square">
            <a:spAutoFit/>
          </a:bodyPr>
          <a:lstStyle/>
          <a:p>
            <a:pPr algn="just"/>
            <a:r>
              <a:rPr lang="en-US" sz="2800" b="1" u="sng" dirty="0" smtClean="0">
                <a:solidFill>
                  <a:srgbClr val="0000FF"/>
                </a:solidFill>
                <a:effectLst>
                  <a:outerShdw blurRad="38100" dist="38100" dir="2700000" algn="tl">
                    <a:srgbClr val="000000">
                      <a:alpha val="43137"/>
                    </a:srgbClr>
                  </a:outerShdw>
                </a:effectLst>
              </a:rPr>
              <a:t>Standard deviation</a:t>
            </a:r>
            <a:r>
              <a:rPr lang="en-US" sz="2800" b="1" dirty="0" smtClean="0">
                <a:solidFill>
                  <a:srgbClr val="0000FF"/>
                </a:solidFill>
                <a:effectLst>
                  <a:outerShdw blurRad="38100" dist="38100" dir="2700000" algn="tl">
                    <a:srgbClr val="000000">
                      <a:alpha val="43137"/>
                    </a:srgbClr>
                  </a:outerShdw>
                </a:effectLst>
              </a:rPr>
              <a:t> </a:t>
            </a:r>
            <a:r>
              <a:rPr lang="en-US" sz="2800" dirty="0" smtClean="0"/>
              <a:t>is a measure of the </a:t>
            </a:r>
            <a:r>
              <a:rPr lang="en-US" sz="2800" dirty="0" smtClean="0">
                <a:hlinkClick r:id="rId3"/>
              </a:rPr>
              <a:t>dispersion</a:t>
            </a:r>
            <a:r>
              <a:rPr lang="en-US" sz="2800" dirty="0" smtClean="0"/>
              <a:t> </a:t>
            </a:r>
            <a:r>
              <a:rPr lang="en-US" sz="2800" i="1" u="sng" dirty="0" smtClean="0">
                <a:effectLst>
                  <a:outerShdw blurRad="38100" dist="38100" dir="2700000" algn="tl">
                    <a:srgbClr val="000000">
                      <a:alpha val="43137"/>
                    </a:srgbClr>
                  </a:outerShdw>
                </a:effectLst>
              </a:rPr>
              <a:t>of a set of data</a:t>
            </a:r>
            <a:r>
              <a:rPr lang="en-US" sz="2800" dirty="0" smtClean="0"/>
              <a:t> </a:t>
            </a:r>
            <a:r>
              <a:rPr lang="en-US" sz="2800" b="1" u="sng" dirty="0" smtClean="0">
                <a:solidFill>
                  <a:srgbClr val="9966FF"/>
                </a:solidFill>
                <a:uFill>
                  <a:solidFill>
                    <a:srgbClr val="FFFF00"/>
                  </a:solidFill>
                </a:uFill>
              </a:rPr>
              <a:t>from its mean</a:t>
            </a:r>
            <a:r>
              <a:rPr lang="en-US" sz="2800" dirty="0" smtClean="0"/>
              <a:t>. </a:t>
            </a:r>
          </a:p>
          <a:p>
            <a:pPr algn="just"/>
            <a:endParaRPr lang="en-US" sz="2800" dirty="0" smtClean="0"/>
          </a:p>
          <a:p>
            <a:pPr algn="just"/>
            <a:r>
              <a:rPr lang="en-US" sz="2800" dirty="0" smtClean="0"/>
              <a:t>Standard deviation is calculated as the </a:t>
            </a:r>
            <a:r>
              <a:rPr lang="en-US" sz="2800" u="dbl" dirty="0" smtClean="0">
                <a:solidFill>
                  <a:srgbClr val="FF0000"/>
                </a:solidFill>
                <a:effectLst>
                  <a:outerShdw blurRad="38100" dist="38100" dir="2700000" algn="tl">
                    <a:srgbClr val="000000">
                      <a:alpha val="43137"/>
                    </a:srgbClr>
                  </a:outerShdw>
                </a:effectLst>
                <a:uFill>
                  <a:solidFill>
                    <a:srgbClr val="9966FF"/>
                  </a:solidFill>
                </a:uFill>
              </a:rPr>
              <a:t>square root of variance</a:t>
            </a:r>
            <a:r>
              <a:rPr lang="en-US" sz="2800" dirty="0" smtClean="0"/>
              <a:t> by determining the variation between </a:t>
            </a:r>
            <a:r>
              <a:rPr lang="en-US" sz="2800" u="sng" dirty="0" smtClean="0">
                <a:effectLst>
                  <a:outerShdw blurRad="38100" dist="38100" dir="2700000" algn="tl">
                    <a:srgbClr val="000000">
                      <a:alpha val="43137"/>
                    </a:srgbClr>
                  </a:outerShdw>
                </a:effectLst>
              </a:rPr>
              <a:t>each data point relative to  the mean.</a:t>
            </a:r>
          </a:p>
          <a:p>
            <a:r>
              <a:rPr lang="en-US" sz="2800" dirty="0" smtClean="0"/>
              <a:t/>
            </a:r>
            <a:br>
              <a:rPr lang="en-US" sz="2800" dirty="0" smtClean="0"/>
            </a:br>
            <a:endParaRPr lang="en-US" sz="2800" dirty="0" smtClean="0"/>
          </a:p>
          <a:p>
            <a:endParaRPr lang="en-US" sz="2800" dirty="0" smtClean="0"/>
          </a:p>
          <a:p>
            <a:endParaRPr lang="en-US" sz="2800" dirty="0" smtClean="0"/>
          </a:p>
          <a:p>
            <a:endParaRPr lang="en-US" sz="2800" dirty="0" smtClean="0"/>
          </a:p>
          <a:p>
            <a:pPr algn="just"/>
            <a:endParaRPr lang="en-US" sz="2800" b="1" dirty="0" smtClean="0">
              <a:solidFill>
                <a:srgbClr val="0033CC"/>
              </a:solidFill>
            </a:endParaRPr>
          </a:p>
          <a:p>
            <a:pPr algn="just"/>
            <a:r>
              <a:rPr lang="en-US" sz="2800" b="1" dirty="0" smtClean="0">
                <a:solidFill>
                  <a:srgbClr val="0033CC"/>
                </a:solidFill>
              </a:rPr>
              <a:t>Standard deviation </a:t>
            </a:r>
            <a:r>
              <a:rPr lang="en-US" sz="2800" dirty="0" smtClean="0"/>
              <a:t>is an </a:t>
            </a:r>
            <a:r>
              <a:rPr lang="en-US" sz="2800" u="sng" dirty="0" smtClean="0">
                <a:solidFill>
                  <a:srgbClr val="0033CC"/>
                </a:solidFill>
              </a:rPr>
              <a:t>absolute measure of variation </a:t>
            </a:r>
            <a:r>
              <a:rPr lang="en-US" sz="2800" dirty="0" smtClean="0"/>
              <a:t>and expresses variation in the </a:t>
            </a:r>
            <a:r>
              <a:rPr lang="en-US" sz="2800" b="1" dirty="0" smtClean="0">
                <a:solidFill>
                  <a:srgbClr val="FF0000"/>
                </a:solidFill>
              </a:rPr>
              <a:t>same unit of measurement </a:t>
            </a:r>
            <a:r>
              <a:rPr lang="en-US" sz="2800" dirty="0" smtClean="0"/>
              <a:t>as the </a:t>
            </a:r>
            <a:r>
              <a:rPr lang="en-US" sz="2800" b="1" dirty="0" smtClean="0"/>
              <a:t>arithmetic mean </a:t>
            </a:r>
            <a:r>
              <a:rPr lang="en-US" sz="2800" dirty="0" smtClean="0"/>
              <a:t>or the original data. </a:t>
            </a:r>
          </a:p>
        </p:txBody>
      </p:sp>
      <p:pic>
        <p:nvPicPr>
          <p:cNvPr id="31747" name="Picture 3"/>
          <p:cNvPicPr>
            <a:picLocks noChangeAspect="1" noChangeArrowheads="1"/>
          </p:cNvPicPr>
          <p:nvPr/>
        </p:nvPicPr>
        <p:blipFill>
          <a:blip r:embed="rId4" cstate="print"/>
          <a:srcRect/>
          <a:stretch>
            <a:fillRect/>
          </a:stretch>
        </p:blipFill>
        <p:spPr bwMode="auto">
          <a:xfrm>
            <a:off x="3200400" y="2438400"/>
            <a:ext cx="3295650" cy="495300"/>
          </a:xfrm>
          <a:prstGeom prst="rect">
            <a:avLst/>
          </a:prstGeom>
          <a:noFill/>
          <a:ln w="9525">
            <a:noFill/>
            <a:miter lim="800000"/>
            <a:headEnd/>
            <a:tailEnd/>
          </a:ln>
          <a:effectLst/>
        </p:spPr>
      </p:pic>
      <p:pic>
        <p:nvPicPr>
          <p:cNvPr id="7" name="Picture 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0" y="3200400"/>
            <a:ext cx="2590800" cy="121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g-157_2" descr="images"/>
          <p:cNvPicPr>
            <a:picLocks noGrp="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533400" y="4114800"/>
            <a:ext cx="7315200" cy="838200"/>
          </a:xfrm>
          <a:prstGeom prst="rect">
            <a:avLst/>
          </a:prstGeom>
          <a:noFill/>
          <a:ln>
            <a:noFill/>
          </a:ln>
        </p:spPr>
      </p:pic>
      <p:sp>
        <p:nvSpPr>
          <p:cNvPr id="5" name="Rectangle 4"/>
          <p:cNvSpPr/>
          <p:nvPr/>
        </p:nvSpPr>
        <p:spPr>
          <a:xfrm>
            <a:off x="222115" y="152400"/>
            <a:ext cx="8915400" cy="2677656"/>
          </a:xfrm>
          <a:prstGeom prst="rect">
            <a:avLst/>
          </a:prstGeom>
        </p:spPr>
        <p:txBody>
          <a:bodyPr wrap="square">
            <a:spAutoFit/>
          </a:bodyPr>
          <a:lstStyle/>
          <a:p>
            <a:pPr algn="just"/>
            <a:r>
              <a:rPr lang="en-US" sz="2800" b="1" u="sng" dirty="0" smtClean="0">
                <a:solidFill>
                  <a:srgbClr val="FF0000"/>
                </a:solidFill>
              </a:rPr>
              <a:t>Coefficient of variation:</a:t>
            </a:r>
            <a:r>
              <a:rPr lang="en-US" sz="2800" b="1" dirty="0" smtClean="0">
                <a:solidFill>
                  <a:srgbClr val="FF0000"/>
                </a:solidFill>
              </a:rPr>
              <a:t> </a:t>
            </a:r>
          </a:p>
          <a:p>
            <a:pPr algn="just"/>
            <a:r>
              <a:rPr lang="en-US" sz="2800" dirty="0"/>
              <a:t>The coefficient of variation is a measure of spread that describes the amount </a:t>
            </a:r>
            <a:r>
              <a:rPr lang="en-US" sz="2800" dirty="0" smtClean="0"/>
              <a:t>of </a:t>
            </a:r>
            <a:r>
              <a:rPr lang="en-US" sz="2800" b="1" dirty="0" smtClean="0"/>
              <a:t>variability</a:t>
            </a:r>
            <a:r>
              <a:rPr lang="en-US" sz="2800" dirty="0"/>
              <a:t> relative to the </a:t>
            </a:r>
            <a:r>
              <a:rPr lang="en-US" sz="2800" dirty="0" smtClean="0"/>
              <a:t>mean.</a:t>
            </a:r>
          </a:p>
          <a:p>
            <a:pPr algn="just"/>
            <a:endParaRPr lang="en-US" sz="2800" dirty="0"/>
          </a:p>
          <a:p>
            <a:pPr algn="just"/>
            <a:r>
              <a:rPr lang="en-US" sz="2800" dirty="0" smtClean="0"/>
              <a:t>A measure of relative variability computed by dividing the standard deviation by the mean, then multiplying by 100.</a:t>
            </a: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lstStyle/>
          <a:p>
            <a:pPr marL="0" indent="0" algn="just">
              <a:buNone/>
            </a:pPr>
            <a:r>
              <a:rPr lang="en-US" sz="2000" b="1" u="sng" dirty="0" smtClean="0">
                <a:solidFill>
                  <a:srgbClr val="FF0000"/>
                </a:solidFill>
              </a:rPr>
              <a:t>EX:</a:t>
            </a:r>
            <a:r>
              <a:rPr lang="en-US" sz="2000" b="1" dirty="0" smtClean="0">
                <a:solidFill>
                  <a:srgbClr val="FF0000"/>
                </a:solidFill>
              </a:rPr>
              <a:t> </a:t>
            </a:r>
            <a:r>
              <a:rPr lang="en-US" sz="2400" dirty="0" smtClean="0"/>
              <a:t>The </a:t>
            </a:r>
            <a:r>
              <a:rPr lang="en-US" sz="2400" dirty="0"/>
              <a:t>wholesale prices of a commodity for seven consecutive days in a month is as follows</a:t>
            </a:r>
            <a:r>
              <a:rPr lang="en-US" sz="2400" dirty="0" smtClean="0"/>
              <a:t>:  </a:t>
            </a:r>
            <a:r>
              <a:rPr lang="en-US" sz="2400" b="1" dirty="0" smtClean="0">
                <a:solidFill>
                  <a:srgbClr val="FF0000"/>
                </a:solidFill>
              </a:rPr>
              <a:t>Calculate </a:t>
            </a:r>
            <a:r>
              <a:rPr lang="en-US" sz="2400" b="1" dirty="0">
                <a:solidFill>
                  <a:srgbClr val="FF0000"/>
                </a:solidFill>
              </a:rPr>
              <a:t>the variance and standard </a:t>
            </a:r>
            <a:r>
              <a:rPr lang="en-US" sz="2400" b="1" dirty="0" smtClean="0">
                <a:solidFill>
                  <a:srgbClr val="FF0000"/>
                </a:solidFill>
              </a:rPr>
              <a:t>deviation and coefficient of variation</a:t>
            </a:r>
          </a:p>
          <a:p>
            <a:pPr marL="0" indent="0" algn="just">
              <a:buNone/>
            </a:pPr>
            <a:endParaRPr lang="en-US" sz="2000" dirty="0"/>
          </a:p>
          <a:p>
            <a:pPr marL="0" indent="0" algn="just">
              <a:buNone/>
            </a:pPr>
            <a:endParaRPr lang="en-US" sz="2000" dirty="0" smtClean="0"/>
          </a:p>
          <a:p>
            <a:pPr marL="0" indent="0" algn="just">
              <a:buNone/>
            </a:pPr>
            <a:endParaRPr lang="en-US" sz="2000" dirty="0"/>
          </a:p>
          <a:p>
            <a:pPr marL="0" indent="0" algn="just">
              <a:buNone/>
            </a:pPr>
            <a:r>
              <a:rPr lang="en-US" sz="2000" b="1" u="sng" dirty="0" err="1" smtClean="0">
                <a:solidFill>
                  <a:srgbClr val="FF0000"/>
                </a:solidFill>
                <a:effectLst>
                  <a:outerShdw blurRad="38100" dist="38100" dir="2700000" algn="tl">
                    <a:srgbClr val="000000">
                      <a:alpha val="43137"/>
                    </a:srgbClr>
                  </a:outerShdw>
                </a:effectLst>
              </a:rPr>
              <a:t>Soln</a:t>
            </a:r>
            <a:r>
              <a:rPr lang="en-US" sz="2000" b="1" u="sng" dirty="0" smtClean="0">
                <a:solidFill>
                  <a:srgbClr val="FF0000"/>
                </a:solidFill>
                <a:effectLst>
                  <a:outerShdw blurRad="38100" dist="38100" dir="2700000" algn="tl">
                    <a:srgbClr val="000000">
                      <a:alpha val="43137"/>
                    </a:srgbClr>
                  </a:outerShdw>
                </a:effectLst>
              </a:rPr>
              <a:t>: </a:t>
            </a:r>
            <a:r>
              <a:rPr lang="en-US" sz="2000" b="1" dirty="0" smtClean="0">
                <a:effectLst>
                  <a:outerShdw blurRad="38100" dist="38100" dir="2700000" algn="tl">
                    <a:srgbClr val="000000">
                      <a:alpha val="43137"/>
                    </a:srgbClr>
                  </a:outerShdw>
                </a:effectLst>
              </a:rPr>
              <a:t>Computations </a:t>
            </a:r>
            <a:r>
              <a:rPr lang="en-US" sz="2000" b="1" dirty="0">
                <a:effectLst>
                  <a:outerShdw blurRad="38100" dist="38100" dir="2700000" algn="tl">
                    <a:srgbClr val="000000">
                      <a:alpha val="43137"/>
                    </a:srgbClr>
                  </a:outerShdw>
                </a:effectLst>
              </a:rPr>
              <a:t>of Variance and Standard Deviation by Actual Mean </a:t>
            </a:r>
            <a:r>
              <a:rPr lang="en-US" sz="2000" b="1" dirty="0" smtClean="0">
                <a:effectLst>
                  <a:outerShdw blurRad="38100" dist="38100" dir="2700000" algn="tl">
                    <a:srgbClr val="000000">
                      <a:alpha val="43137"/>
                    </a:srgbClr>
                  </a:outerShdw>
                </a:effectLst>
              </a:rPr>
              <a:t>Method</a:t>
            </a:r>
          </a:p>
          <a:p>
            <a:pPr marL="0" indent="0" algn="just">
              <a:buNone/>
            </a:pPr>
            <a:endParaRPr lang="en-US" sz="2000" dirty="0"/>
          </a:p>
          <a:p>
            <a:pPr marL="0" indent="0" algn="just">
              <a:buNone/>
            </a:pPr>
            <a:endParaRPr lang="en-US" dirty="0" smtClean="0"/>
          </a:p>
          <a:p>
            <a:endParaRPr lang="en-US" dirty="0"/>
          </a:p>
        </p:txBody>
      </p:sp>
      <p:pic>
        <p:nvPicPr>
          <p:cNvPr id="4" name="img-148_1" descr="images"/>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9017" y="1143000"/>
            <a:ext cx="7162800" cy="838200"/>
          </a:xfrm>
          <a:prstGeom prst="rect">
            <a:avLst/>
          </a:prstGeom>
          <a:noFill/>
          <a:ln>
            <a:noFill/>
          </a:ln>
        </p:spPr>
      </p:pic>
      <p:pic>
        <p:nvPicPr>
          <p:cNvPr id="5"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5800" y="2667001"/>
            <a:ext cx="7315200" cy="24197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0"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09018" y="5257800"/>
            <a:ext cx="2574592" cy="7806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7833" y="6189664"/>
            <a:ext cx="4554167" cy="668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827832" y="5257800"/>
            <a:ext cx="4706568" cy="9318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31815537"/>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dirty="0" smtClean="0"/>
              <a:t> </a:t>
            </a:r>
          </a:p>
          <a:p>
            <a:pPr marL="0" indent="0">
              <a:buNone/>
            </a:pPr>
            <a:r>
              <a:rPr lang="en-US" dirty="0" smtClean="0"/>
              <a:t> </a:t>
            </a:r>
            <a:r>
              <a:rPr lang="en-US" dirty="0"/>
              <a:t> </a:t>
            </a:r>
            <a:r>
              <a:rPr lang="en-US" dirty="0" smtClean="0"/>
              <a:t>              </a:t>
            </a:r>
            <a:r>
              <a:rPr lang="en-US" dirty="0" err="1" smtClean="0"/>
              <a:t>Cv</a:t>
            </a:r>
            <a:r>
              <a:rPr lang="en-US" dirty="0" smtClean="0"/>
              <a:t> = (14.352 / 260) x 100 =  5.52 </a:t>
            </a:r>
          </a:p>
        </p:txBody>
      </p:sp>
      <p:pic>
        <p:nvPicPr>
          <p:cNvPr id="409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90600" y="685801"/>
            <a:ext cx="64008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99241857"/>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639762"/>
          </a:xfrm>
        </p:spPr>
        <p:txBody>
          <a:bodyPr>
            <a:noAutofit/>
          </a:bodyPr>
          <a:lstStyle/>
          <a:p>
            <a:r>
              <a:rPr lang="en-US" sz="3200" i="1" dirty="0" smtClean="0">
                <a:effectLst>
                  <a:outerShdw blurRad="38100" dist="38100" dir="2700000" algn="tl">
                    <a:srgbClr val="000000">
                      <a:alpha val="43137"/>
                    </a:srgbClr>
                  </a:outerShdw>
                </a:effectLst>
              </a:rPr>
              <a:t>INDIVIDUAL SERIES  </a:t>
            </a:r>
            <a:r>
              <a:rPr lang="en-US" sz="3200" u="sng" dirty="0" smtClean="0">
                <a:solidFill>
                  <a:srgbClr val="0033CC"/>
                </a:solidFill>
                <a:effectLst>
                  <a:outerShdw blurRad="38100" dist="38100" dir="2700000" algn="tl">
                    <a:srgbClr val="000000">
                      <a:alpha val="43137"/>
                    </a:srgbClr>
                  </a:outerShdw>
                </a:effectLst>
              </a:rPr>
              <a:t>direct method ungrouped data</a:t>
            </a:r>
            <a:r>
              <a:rPr lang="en-US" sz="3200" dirty="0" smtClean="0"/>
              <a:t/>
            </a:r>
            <a:br>
              <a:rPr lang="en-US" sz="3200" dirty="0" smtClean="0"/>
            </a:br>
            <a:endParaRPr lang="en-US" sz="3200" dirty="0"/>
          </a:p>
        </p:txBody>
      </p:sp>
      <p:pic>
        <p:nvPicPr>
          <p:cNvPr id="4"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2286000" y="1219200"/>
            <a:ext cx="19812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1"/>
          <p:cNvPicPr>
            <a:picLocks noChangeAspect="1" noChangeArrowheads="1"/>
          </p:cNvPicPr>
          <p:nvPr/>
        </p:nvPicPr>
        <p:blipFill>
          <a:blip r:embed="rId3" cstate="print"/>
          <a:srcRect/>
          <a:stretch>
            <a:fillRect/>
          </a:stretch>
        </p:blipFill>
        <p:spPr bwMode="auto">
          <a:xfrm>
            <a:off x="1752600" y="2667000"/>
            <a:ext cx="3171825" cy="1704975"/>
          </a:xfrm>
          <a:prstGeom prst="rect">
            <a:avLst/>
          </a:prstGeom>
          <a:noFill/>
          <a:ln w="9525">
            <a:noFill/>
            <a:miter lim="800000"/>
            <a:headEnd/>
            <a:tailEnd/>
          </a:ln>
          <a:effectLst/>
        </p:spPr>
      </p:pic>
      <p:pic>
        <p:nvPicPr>
          <p:cNvPr id="6" name="Picture 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438400" y="4953000"/>
            <a:ext cx="40386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2676896117"/>
              </p:ext>
            </p:extLst>
          </p:nvPr>
        </p:nvGraphicFramePr>
        <p:xfrm>
          <a:off x="1" y="1828801"/>
          <a:ext cx="5029200" cy="4313404"/>
        </p:xfrm>
        <a:graphic>
          <a:graphicData uri="http://schemas.openxmlformats.org/drawingml/2006/table">
            <a:tbl>
              <a:tblPr firstRow="1" firstCol="1" bandRow="1"/>
              <a:tblGrid>
                <a:gridCol w="1696844"/>
                <a:gridCol w="1696844"/>
                <a:gridCol w="1635512"/>
              </a:tblGrid>
              <a:tr h="1507076">
                <a:tc>
                  <a:txBody>
                    <a:bodyPr/>
                    <a:lstStyle/>
                    <a:p>
                      <a:pPr marL="0" marR="0" algn="ctr">
                        <a:lnSpc>
                          <a:spcPct val="115000"/>
                        </a:lnSpc>
                        <a:spcBef>
                          <a:spcPts val="0"/>
                        </a:spcBef>
                        <a:spcAft>
                          <a:spcPts val="0"/>
                        </a:spcAft>
                      </a:pPr>
                      <a:endParaRPr lang="en-US" sz="2400" dirty="0" smtClean="0">
                        <a:effectLst/>
                        <a:latin typeface="Times New Roman"/>
                        <a:ea typeface="Calibri"/>
                        <a:cs typeface="Times New Roman"/>
                      </a:endParaRPr>
                    </a:p>
                    <a:p>
                      <a:pPr marL="0" marR="0" algn="ctr">
                        <a:lnSpc>
                          <a:spcPct val="115000"/>
                        </a:lnSpc>
                        <a:spcBef>
                          <a:spcPts val="0"/>
                        </a:spcBef>
                        <a:spcAft>
                          <a:spcPts val="0"/>
                        </a:spcAft>
                      </a:pPr>
                      <a:r>
                        <a:rPr lang="en-US" sz="2400" dirty="0" smtClean="0">
                          <a:solidFill>
                            <a:schemeClr val="tx1"/>
                          </a:solidFill>
                          <a:effectLst/>
                          <a:latin typeface="Times New Roman"/>
                          <a:ea typeface="Calibri"/>
                          <a:cs typeface="Times New Roman"/>
                        </a:rPr>
                        <a:t>X</a:t>
                      </a:r>
                      <a:endParaRPr lang="en-US" sz="2400" dirty="0">
                        <a:solidFill>
                          <a:schemeClr val="tx1"/>
                        </a:solidFill>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75000"/>
                      </a:schemeClr>
                    </a:solidFill>
                  </a:tcPr>
                </a:tc>
                <a:tc>
                  <a:txBody>
                    <a:bodyPr/>
                    <a:lstStyle/>
                    <a:p>
                      <a:pPr marL="0" marR="0" algn="ctr">
                        <a:spcBef>
                          <a:spcPts val="0"/>
                        </a:spcBef>
                        <a:spcAft>
                          <a:spcPts val="300"/>
                        </a:spcAft>
                      </a:pPr>
                      <a:endParaRPr lang="en-US" sz="2400" b="1" dirty="0" smtClean="0">
                        <a:effectLst/>
                        <a:latin typeface="Batang"/>
                        <a:ea typeface="Times New Roman"/>
                      </a:endParaRPr>
                    </a:p>
                    <a:p>
                      <a:pPr marL="0" marR="0" algn="ctr">
                        <a:spcBef>
                          <a:spcPts val="0"/>
                        </a:spcBef>
                        <a:spcAft>
                          <a:spcPts val="300"/>
                        </a:spcAft>
                      </a:pPr>
                      <a:r>
                        <a:rPr lang="en-US" sz="2400" b="1" dirty="0" smtClean="0">
                          <a:effectLst/>
                          <a:latin typeface="Calibri"/>
                          <a:ea typeface="Times New Roman"/>
                        </a:rPr>
                        <a:t>X </a:t>
                      </a:r>
                      <a:r>
                        <a:rPr lang="en-US" sz="2400" b="1" dirty="0">
                          <a:effectLst/>
                          <a:latin typeface="Calibri"/>
                          <a:ea typeface="Times New Roman"/>
                        </a:rPr>
                        <a:t>-   </a:t>
                      </a:r>
                      <a:r>
                        <a:rPr lang="en-US" sz="2400" b="1" dirty="0">
                          <a:solidFill>
                            <a:srgbClr val="003366"/>
                          </a:solidFill>
                          <a:effectLst/>
                          <a:latin typeface="Calibri"/>
                          <a:ea typeface="Arial Unicode MS"/>
                        </a:rPr>
                        <a:t>X̄</a:t>
                      </a:r>
                      <a:endParaRPr lang="en-US" sz="2400" b="1" dirty="0">
                        <a:effectLst/>
                        <a:latin typeface="Calibri"/>
                        <a:ea typeface="Times New Roman"/>
                      </a:endParaRPr>
                    </a:p>
                    <a:p>
                      <a:pPr marL="0" marR="0" algn="ctr">
                        <a:lnSpc>
                          <a:spcPct val="115000"/>
                        </a:lnSpc>
                        <a:spcBef>
                          <a:spcPts val="0"/>
                        </a:spcBef>
                        <a:spcAft>
                          <a:spcPts val="0"/>
                        </a:spcAft>
                      </a:pPr>
                      <a:r>
                        <a:rPr lang="en-US" sz="2400" dirty="0">
                          <a:effectLst/>
                          <a:latin typeface="Calibri"/>
                          <a:ea typeface="Calibri"/>
                          <a:cs typeface="Times New Roman"/>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2400" b="1" dirty="0" smtClean="0">
                        <a:effectLst/>
                        <a:latin typeface="Batang"/>
                        <a:ea typeface="Calibri"/>
                        <a:cs typeface="Times New Roman"/>
                      </a:endParaRPr>
                    </a:p>
                    <a:p>
                      <a:pPr marL="0" marR="0" algn="ctr">
                        <a:lnSpc>
                          <a:spcPct val="115000"/>
                        </a:lnSpc>
                        <a:spcBef>
                          <a:spcPts val="0"/>
                        </a:spcBef>
                        <a:spcAft>
                          <a:spcPts val="0"/>
                        </a:spcAft>
                      </a:pPr>
                      <a:r>
                        <a:rPr lang="en-US" sz="2400" b="1" dirty="0" smtClean="0">
                          <a:solidFill>
                            <a:srgbClr val="FF0066"/>
                          </a:solidFill>
                          <a:effectLst/>
                          <a:latin typeface="Batang"/>
                          <a:ea typeface="Calibri"/>
                          <a:cs typeface="Times New Roman"/>
                        </a:rPr>
                        <a:t>x</a:t>
                      </a:r>
                      <a:r>
                        <a:rPr lang="en-US" sz="2400" b="1" baseline="30000" dirty="0" smtClean="0">
                          <a:solidFill>
                            <a:srgbClr val="FF0066"/>
                          </a:solidFill>
                          <a:effectLst/>
                          <a:latin typeface="Batang"/>
                          <a:ea typeface="Calibri"/>
                          <a:cs typeface="Times New Roman"/>
                        </a:rPr>
                        <a:t>2</a:t>
                      </a:r>
                      <a:endParaRPr lang="en-US" sz="2400" dirty="0">
                        <a:solidFill>
                          <a:srgbClr val="FF0066"/>
                        </a:solidFill>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00223">
                <a:tc>
                  <a:txBody>
                    <a:bodyPr/>
                    <a:lstStyle/>
                    <a:p>
                      <a:pPr marL="0" marR="0" algn="ctr">
                        <a:lnSpc>
                          <a:spcPct val="115000"/>
                        </a:lnSpc>
                        <a:spcBef>
                          <a:spcPts val="0"/>
                        </a:spcBef>
                        <a:spcAft>
                          <a:spcPts val="0"/>
                        </a:spcAft>
                      </a:pPr>
                      <a:r>
                        <a:rPr lang="en-US" sz="2400" dirty="0">
                          <a:solidFill>
                            <a:srgbClr val="0070C0"/>
                          </a:solidFill>
                          <a:effectLst/>
                          <a:latin typeface="Calibri"/>
                          <a:ea typeface="Calibri"/>
                          <a:cs typeface="Times New Roman"/>
                        </a:rPr>
                        <a:t>130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75000"/>
                      </a:schemeClr>
                    </a:solidFill>
                  </a:tcPr>
                </a:tc>
                <a:tc>
                  <a:txBody>
                    <a:bodyPr/>
                    <a:lstStyle/>
                    <a:p>
                      <a:pPr marL="0" marR="0" algn="ctr">
                        <a:lnSpc>
                          <a:spcPct val="115000"/>
                        </a:lnSpc>
                        <a:spcBef>
                          <a:spcPts val="0"/>
                        </a:spcBef>
                        <a:spcAft>
                          <a:spcPts val="0"/>
                        </a:spcAft>
                      </a:pPr>
                      <a:r>
                        <a:rPr lang="en-US" sz="2400" dirty="0">
                          <a:effectLst/>
                          <a:latin typeface="Calibri"/>
                          <a:ea typeface="Calibri"/>
                          <a:cs typeface="Times New Roman"/>
                        </a:rPr>
                        <a:t>-6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a:effectLst/>
                          <a:latin typeface="Calibri"/>
                          <a:ea typeface="Calibri"/>
                          <a:cs typeface="Times New Roman"/>
                        </a:rPr>
                        <a:t>36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00223">
                <a:tc>
                  <a:txBody>
                    <a:bodyPr/>
                    <a:lstStyle/>
                    <a:p>
                      <a:pPr marL="0" marR="0" algn="ctr">
                        <a:lnSpc>
                          <a:spcPct val="115000"/>
                        </a:lnSpc>
                        <a:spcBef>
                          <a:spcPts val="0"/>
                        </a:spcBef>
                        <a:spcAft>
                          <a:spcPts val="0"/>
                        </a:spcAft>
                      </a:pPr>
                      <a:r>
                        <a:rPr lang="en-US" sz="2400" dirty="0">
                          <a:solidFill>
                            <a:srgbClr val="0070C0"/>
                          </a:solidFill>
                          <a:effectLst/>
                          <a:latin typeface="Calibri"/>
                          <a:ea typeface="Calibri"/>
                          <a:cs typeface="Times New Roman"/>
                        </a:rPr>
                        <a:t>137</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75000"/>
                      </a:schemeClr>
                    </a:solidFill>
                  </a:tcPr>
                </a:tc>
                <a:tc>
                  <a:txBody>
                    <a:bodyPr/>
                    <a:lstStyle/>
                    <a:p>
                      <a:pPr marL="0" marR="0" algn="ctr">
                        <a:lnSpc>
                          <a:spcPct val="115000"/>
                        </a:lnSpc>
                        <a:spcBef>
                          <a:spcPts val="0"/>
                        </a:spcBef>
                        <a:spcAft>
                          <a:spcPts val="0"/>
                        </a:spcAft>
                      </a:pPr>
                      <a:r>
                        <a:rPr lang="en-US" sz="2400" dirty="0">
                          <a:effectLst/>
                          <a:latin typeface="Calibri"/>
                          <a:ea typeface="Calibri"/>
                          <a:cs typeface="Times New Roman"/>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a:effectLst/>
                          <a:latin typeface="Calibri"/>
                          <a:ea typeface="Calibri"/>
                          <a:cs typeface="Times New Roman"/>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00223">
                <a:tc>
                  <a:txBody>
                    <a:bodyPr/>
                    <a:lstStyle/>
                    <a:p>
                      <a:pPr marL="0" marR="0" algn="ctr">
                        <a:lnSpc>
                          <a:spcPct val="115000"/>
                        </a:lnSpc>
                        <a:spcBef>
                          <a:spcPts val="0"/>
                        </a:spcBef>
                        <a:spcAft>
                          <a:spcPts val="0"/>
                        </a:spcAft>
                      </a:pPr>
                      <a:r>
                        <a:rPr lang="en-US" sz="2400" dirty="0">
                          <a:solidFill>
                            <a:srgbClr val="0070C0"/>
                          </a:solidFill>
                          <a:effectLst/>
                          <a:latin typeface="Calibri"/>
                          <a:ea typeface="Calibri"/>
                          <a:cs typeface="Times New Roman"/>
                        </a:rPr>
                        <a:t>136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75000"/>
                      </a:schemeClr>
                    </a:solidFill>
                  </a:tcPr>
                </a:tc>
                <a:tc>
                  <a:txBody>
                    <a:bodyPr/>
                    <a:lstStyle/>
                    <a:p>
                      <a:pPr marL="0" marR="0" algn="ctr">
                        <a:lnSpc>
                          <a:spcPct val="115000"/>
                        </a:lnSpc>
                        <a:spcBef>
                          <a:spcPts val="0"/>
                        </a:spcBef>
                        <a:spcAft>
                          <a:spcPts val="0"/>
                        </a:spcAft>
                      </a:pPr>
                      <a:r>
                        <a:rPr lang="en-US" sz="2400" dirty="0">
                          <a:effectLst/>
                          <a:latin typeface="Calibri"/>
                          <a:ea typeface="Calibri"/>
                          <a:cs typeface="Times New Roman"/>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a:effectLst/>
                          <a:latin typeface="Calibri"/>
                          <a:ea typeface="Calibri"/>
                          <a:cs typeface="Times New Roman"/>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00223">
                <a:tc>
                  <a:txBody>
                    <a:bodyPr/>
                    <a:lstStyle/>
                    <a:p>
                      <a:pPr marL="0" marR="0" algn="ctr">
                        <a:lnSpc>
                          <a:spcPct val="115000"/>
                        </a:lnSpc>
                        <a:spcBef>
                          <a:spcPts val="0"/>
                        </a:spcBef>
                        <a:spcAft>
                          <a:spcPts val="0"/>
                        </a:spcAft>
                      </a:pPr>
                      <a:r>
                        <a:rPr lang="en-US" sz="2400" dirty="0">
                          <a:solidFill>
                            <a:srgbClr val="0070C0"/>
                          </a:solidFill>
                          <a:effectLst/>
                          <a:latin typeface="Calibri"/>
                          <a:ea typeface="Calibri"/>
                          <a:cs typeface="Times New Roman"/>
                        </a:rPr>
                        <a:t>142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75000"/>
                      </a:schemeClr>
                    </a:solidFill>
                  </a:tcPr>
                </a:tc>
                <a:tc>
                  <a:txBody>
                    <a:bodyPr/>
                    <a:lstStyle/>
                    <a:p>
                      <a:pPr marL="0" marR="0" algn="ctr">
                        <a:lnSpc>
                          <a:spcPct val="115000"/>
                        </a:lnSpc>
                        <a:spcBef>
                          <a:spcPts val="0"/>
                        </a:spcBef>
                        <a:spcAft>
                          <a:spcPts val="0"/>
                        </a:spcAft>
                      </a:pPr>
                      <a:r>
                        <a:rPr lang="en-US" sz="2400" dirty="0">
                          <a:effectLst/>
                          <a:latin typeface="Calibri"/>
                          <a:ea typeface="Calibri"/>
                          <a:cs typeface="Times New Roman"/>
                        </a:rPr>
                        <a:t>+6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dirty="0">
                          <a:effectLst/>
                          <a:latin typeface="Calibri"/>
                          <a:ea typeface="Calibri"/>
                          <a:cs typeface="Times New Roman"/>
                        </a:rPr>
                        <a:t>36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00223">
                <a:tc>
                  <a:txBody>
                    <a:bodyPr/>
                    <a:lstStyle/>
                    <a:p>
                      <a:pPr marL="0" marR="0" algn="ctr">
                        <a:lnSpc>
                          <a:spcPct val="115000"/>
                        </a:lnSpc>
                        <a:spcBef>
                          <a:spcPts val="0"/>
                        </a:spcBef>
                        <a:spcAft>
                          <a:spcPts val="0"/>
                        </a:spcAft>
                      </a:pPr>
                      <a:r>
                        <a:rPr lang="en-US" sz="2400" dirty="0">
                          <a:solidFill>
                            <a:srgbClr val="0070C0"/>
                          </a:solidFill>
                          <a:effectLst/>
                          <a:latin typeface="Calibri"/>
                          <a:ea typeface="Calibri"/>
                          <a:cs typeface="Times New Roman"/>
                        </a:rPr>
                        <a:t>135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75000"/>
                      </a:schemeClr>
                    </a:solidFill>
                  </a:tcPr>
                </a:tc>
                <a:tc>
                  <a:txBody>
                    <a:bodyPr/>
                    <a:lstStyle/>
                    <a:p>
                      <a:pPr marL="0" marR="0" algn="ctr">
                        <a:lnSpc>
                          <a:spcPct val="115000"/>
                        </a:lnSpc>
                        <a:spcBef>
                          <a:spcPts val="0"/>
                        </a:spcBef>
                        <a:spcAft>
                          <a:spcPts val="0"/>
                        </a:spcAft>
                      </a:pPr>
                      <a:r>
                        <a:rPr lang="en-US" sz="2400" dirty="0">
                          <a:effectLst/>
                          <a:latin typeface="Calibri"/>
                          <a:ea typeface="Calibri"/>
                          <a:cs typeface="Times New Roman"/>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dirty="0">
                          <a:effectLst/>
                          <a:latin typeface="Calibri"/>
                          <a:ea typeface="Calibri"/>
                          <a:cs typeface="Times New Roman"/>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00223">
                <a:tc>
                  <a:txBody>
                    <a:bodyPr/>
                    <a:lstStyle/>
                    <a:p>
                      <a:pPr marL="0" marR="0" algn="ctr">
                        <a:lnSpc>
                          <a:spcPct val="115000"/>
                        </a:lnSpc>
                        <a:spcBef>
                          <a:spcPts val="0"/>
                        </a:spcBef>
                        <a:spcAft>
                          <a:spcPts val="0"/>
                        </a:spcAft>
                      </a:pPr>
                      <a:r>
                        <a:rPr lang="en-US" sz="2400" dirty="0">
                          <a:solidFill>
                            <a:schemeClr val="tx1"/>
                          </a:solidFill>
                          <a:effectLst/>
                          <a:latin typeface="Calibri"/>
                          <a:ea typeface="Calibri"/>
                          <a:cs typeface="Times New Roman"/>
                        </a:rPr>
                        <a:t>∑</a:t>
                      </a:r>
                      <a:r>
                        <a:rPr lang="en-US" sz="2400" baseline="-25000" dirty="0">
                          <a:solidFill>
                            <a:schemeClr val="tx1"/>
                          </a:solidFill>
                          <a:effectLst/>
                          <a:latin typeface="Times New Roman"/>
                          <a:ea typeface="Calibri"/>
                          <a:cs typeface="Times New Roman"/>
                        </a:rPr>
                        <a:t>X</a:t>
                      </a:r>
                      <a:r>
                        <a:rPr lang="en-US" sz="2400" dirty="0">
                          <a:solidFill>
                            <a:schemeClr val="tx1"/>
                          </a:solidFill>
                          <a:effectLst/>
                          <a:latin typeface="Calibri"/>
                          <a:ea typeface="Calibri"/>
                          <a:cs typeface="Times New Roman"/>
                        </a:rPr>
                        <a:t>  = 680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75000"/>
                      </a:schemeClr>
                    </a:solidFill>
                  </a:tcPr>
                </a:tc>
                <a:tc>
                  <a:txBody>
                    <a:bodyPr/>
                    <a:lstStyle/>
                    <a:p>
                      <a:pPr marL="0" marR="0" algn="ctr">
                        <a:lnSpc>
                          <a:spcPct val="115000"/>
                        </a:lnSpc>
                        <a:spcBef>
                          <a:spcPts val="0"/>
                        </a:spcBef>
                        <a:spcAft>
                          <a:spcPts val="0"/>
                        </a:spcAft>
                      </a:pPr>
                      <a:r>
                        <a:rPr lang="en-US" sz="2400" dirty="0">
                          <a:solidFill>
                            <a:srgbClr val="FF0000"/>
                          </a:solidFill>
                          <a:effectLst/>
                          <a:latin typeface="Calibri"/>
                          <a:ea typeface="Calibri"/>
                          <a:cs typeface="Times New Roman"/>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dirty="0" smtClean="0">
                          <a:solidFill>
                            <a:srgbClr val="FF0000"/>
                          </a:solidFill>
                          <a:effectLst/>
                          <a:latin typeface="Calibri"/>
                          <a:ea typeface="Calibri"/>
                          <a:cs typeface="Times New Roman"/>
                        </a:rPr>
                        <a:t>74</a:t>
                      </a:r>
                      <a:endParaRPr lang="en-US" sz="2400" dirty="0">
                        <a:solidFill>
                          <a:srgbClr val="FF0000"/>
                        </a:solidFill>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2584">
                <a:tc>
                  <a:txBody>
                    <a:bodyPr/>
                    <a:lstStyle/>
                    <a:p>
                      <a:pPr marL="0" marR="0" algn="ctr">
                        <a:lnSpc>
                          <a:spcPct val="115000"/>
                        </a:lnSpc>
                        <a:spcBef>
                          <a:spcPts val="0"/>
                        </a:spcBef>
                        <a:spcAft>
                          <a:spcPts val="0"/>
                        </a:spcAft>
                      </a:pPr>
                      <a:r>
                        <a:rPr lang="en-US" sz="1400" dirty="0">
                          <a:effectLst/>
                          <a:latin typeface="Calibri"/>
                          <a:ea typeface="Calibri"/>
                          <a:cs typeface="Times New Roman"/>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75000"/>
                      </a:schemeClr>
                    </a:solidFill>
                  </a:tcPr>
                </a:tc>
                <a:tc>
                  <a:txBody>
                    <a:bodyPr/>
                    <a:lstStyle/>
                    <a:p>
                      <a:pPr marL="0" marR="0" algn="ctr">
                        <a:lnSpc>
                          <a:spcPct val="115000"/>
                        </a:lnSpc>
                        <a:spcBef>
                          <a:spcPts val="0"/>
                        </a:spcBef>
                        <a:spcAft>
                          <a:spcPts val="0"/>
                        </a:spcAft>
                      </a:pPr>
                      <a:r>
                        <a:rPr lang="en-US" sz="1400" dirty="0">
                          <a:effectLst/>
                          <a:latin typeface="Calibri"/>
                          <a:ea typeface="Calibri"/>
                          <a:cs typeface="Times New Roman"/>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400" dirty="0">
                          <a:effectLst/>
                          <a:latin typeface="Calibri"/>
                          <a:ea typeface="Calibri"/>
                          <a:cs typeface="Times New Roman"/>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5" name="Rectangle 4"/>
          <p:cNvSpPr/>
          <p:nvPr/>
        </p:nvSpPr>
        <p:spPr>
          <a:xfrm>
            <a:off x="2286000" y="6396335"/>
            <a:ext cx="3581400" cy="461665"/>
          </a:xfrm>
          <a:prstGeom prst="rect">
            <a:avLst/>
          </a:prstGeom>
        </p:spPr>
        <p:txBody>
          <a:bodyPr wrap="square">
            <a:spAutoFit/>
          </a:bodyPr>
          <a:lstStyle/>
          <a:p>
            <a:r>
              <a:rPr lang="en-US" sz="2400" dirty="0"/>
              <a:t> X̄ = 680 / 5  = 136</a:t>
            </a:r>
          </a:p>
        </p:txBody>
      </p:sp>
      <p:sp>
        <p:nvSpPr>
          <p:cNvPr id="3" name="Rectangle 2"/>
          <p:cNvSpPr/>
          <p:nvPr/>
        </p:nvSpPr>
        <p:spPr>
          <a:xfrm>
            <a:off x="0" y="0"/>
            <a:ext cx="9144000" cy="1200329"/>
          </a:xfrm>
          <a:prstGeom prst="rect">
            <a:avLst/>
          </a:prstGeom>
        </p:spPr>
        <p:txBody>
          <a:bodyPr wrap="square">
            <a:spAutoFit/>
          </a:bodyPr>
          <a:lstStyle/>
          <a:p>
            <a:r>
              <a:rPr lang="en-US" sz="2400" i="1" dirty="0">
                <a:effectLst>
                  <a:outerShdw blurRad="38100" dist="38100" dir="2700000" algn="tl">
                    <a:srgbClr val="000000">
                      <a:alpha val="43137"/>
                    </a:srgbClr>
                  </a:outerShdw>
                </a:effectLst>
              </a:rPr>
              <a:t>INDIVIDUAL SERIES  </a:t>
            </a:r>
            <a:r>
              <a:rPr lang="en-US" sz="2400" u="sng" dirty="0">
                <a:solidFill>
                  <a:srgbClr val="0033CC"/>
                </a:solidFill>
                <a:effectLst>
                  <a:outerShdw blurRad="38100" dist="38100" dir="2700000" algn="tl">
                    <a:srgbClr val="000000">
                      <a:alpha val="43137"/>
                    </a:srgbClr>
                  </a:outerShdw>
                </a:effectLst>
              </a:rPr>
              <a:t>direct </a:t>
            </a:r>
            <a:r>
              <a:rPr lang="en-US" sz="2400" u="sng" dirty="0" smtClean="0">
                <a:solidFill>
                  <a:srgbClr val="0033CC"/>
                </a:solidFill>
                <a:effectLst>
                  <a:outerShdw blurRad="38100" dist="38100" dir="2700000" algn="tl">
                    <a:srgbClr val="000000">
                      <a:alpha val="43137"/>
                    </a:srgbClr>
                  </a:outerShdw>
                </a:effectLst>
              </a:rPr>
              <a:t>method ungrouped data</a:t>
            </a:r>
            <a:endParaRPr lang="en-US" sz="2400" dirty="0" smtClean="0"/>
          </a:p>
          <a:p>
            <a:r>
              <a:rPr lang="en-US" sz="2400" dirty="0" smtClean="0"/>
              <a:t>Find </a:t>
            </a:r>
            <a:r>
              <a:rPr lang="en-US" sz="2400" dirty="0"/>
              <a:t>SD and Co-efficient of variance of:</a:t>
            </a:r>
            <a:br>
              <a:rPr lang="en-US" sz="2400" dirty="0"/>
            </a:br>
            <a:r>
              <a:rPr lang="en-US" sz="2400" dirty="0"/>
              <a:t>130  137  136  142  135</a:t>
            </a:r>
          </a:p>
        </p:txBody>
      </p:sp>
      <p:pic>
        <p:nvPicPr>
          <p:cNvPr id="512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4800" y="6096000"/>
            <a:ext cx="1292225"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5"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32863" y="4724400"/>
            <a:ext cx="3428999"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8"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867400" y="2438400"/>
            <a:ext cx="2990850" cy="1352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2"/>
          <p:cNvPicPr>
            <a:picLocks noChangeAspect="1" noChangeArrowheads="1"/>
          </p:cNvPicPr>
          <p:nvPr/>
        </p:nvPicPr>
        <p:blipFill>
          <a:blip r:embed="rId5" cstate="print"/>
          <a:srcRect/>
          <a:stretch>
            <a:fillRect/>
          </a:stretch>
        </p:blipFill>
        <p:spPr bwMode="auto">
          <a:xfrm>
            <a:off x="3733800" y="2133600"/>
            <a:ext cx="1143000" cy="609600"/>
          </a:xfrm>
          <a:prstGeom prst="rect">
            <a:avLst/>
          </a:prstGeom>
          <a:noFill/>
          <a:ln w="9525">
            <a:noFill/>
            <a:miter lim="800000"/>
            <a:headEnd/>
            <a:tailEnd/>
          </a:ln>
          <a:effectLst/>
        </p:spPr>
      </p:pic>
      <p:pic>
        <p:nvPicPr>
          <p:cNvPr id="10" name="Picture 3"/>
          <p:cNvPicPr>
            <a:picLocks noChangeAspect="1" noChangeArrowheads="1"/>
          </p:cNvPicPr>
          <p:nvPr/>
        </p:nvPicPr>
        <p:blipFill>
          <a:blip r:embed="rId6" cstate="print"/>
          <a:srcRect/>
          <a:stretch>
            <a:fillRect/>
          </a:stretch>
        </p:blipFill>
        <p:spPr bwMode="auto">
          <a:xfrm>
            <a:off x="1981200" y="2209800"/>
            <a:ext cx="1219200" cy="428625"/>
          </a:xfrm>
          <a:prstGeom prst="rect">
            <a:avLst/>
          </a:prstGeom>
          <a:noFill/>
          <a:ln w="9525">
            <a:noFill/>
            <a:miter lim="800000"/>
            <a:headEnd/>
            <a:tailEnd/>
          </a:ln>
          <a:effectLst/>
        </p:spPr>
      </p:pic>
      <p:pic>
        <p:nvPicPr>
          <p:cNvPr id="5121" name="Picture 1"/>
          <p:cNvPicPr>
            <a:picLocks noChangeAspect="1" noChangeArrowheads="1"/>
          </p:cNvPicPr>
          <p:nvPr/>
        </p:nvPicPr>
        <p:blipFill>
          <a:blip r:embed="rId7" cstate="print"/>
          <a:srcRect/>
          <a:stretch>
            <a:fillRect/>
          </a:stretch>
        </p:blipFill>
        <p:spPr bwMode="auto">
          <a:xfrm>
            <a:off x="5410200" y="838200"/>
            <a:ext cx="3171825" cy="1704975"/>
          </a:xfrm>
          <a:prstGeom prst="rect">
            <a:avLst/>
          </a:prstGeom>
          <a:noFill/>
          <a:ln w="9525">
            <a:noFill/>
            <a:miter lim="800000"/>
            <a:headEnd/>
            <a:tailEnd/>
          </a:ln>
          <a:effectLst/>
        </p:spPr>
      </p:pic>
    </p:spTree>
    <p:extLst>
      <p:ext uri="{BB962C8B-B14F-4D97-AF65-F5344CB8AC3E}">
        <p14:creationId xmlns:p14="http://schemas.microsoft.com/office/powerpoint/2010/main" val="3901791376"/>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600" dirty="0" smtClean="0">
                <a:effectLst>
                  <a:outerShdw blurRad="38100" dist="38100" dir="2700000" algn="tl">
                    <a:srgbClr val="000000">
                      <a:alpha val="43137"/>
                    </a:srgbClr>
                  </a:outerShdw>
                </a:effectLst>
              </a:rPr>
              <a:t>INDIVIDUAL SERIES  </a:t>
            </a:r>
            <a:r>
              <a:rPr lang="en-US" sz="3600" u="sng" dirty="0" smtClean="0">
                <a:solidFill>
                  <a:srgbClr val="0033CC"/>
                </a:solidFill>
                <a:effectLst>
                  <a:outerShdw blurRad="38100" dist="38100" dir="2700000" algn="tl">
                    <a:srgbClr val="000000">
                      <a:alpha val="43137"/>
                    </a:srgbClr>
                  </a:outerShdw>
                </a:effectLst>
              </a:rPr>
              <a:t>short cut Method ungrouped data</a:t>
            </a:r>
            <a:r>
              <a:rPr lang="en-US" u="sng" dirty="0" smtClean="0">
                <a:solidFill>
                  <a:srgbClr val="0033CC"/>
                </a:solidFill>
                <a:effectLst>
                  <a:outerShdw blurRad="38100" dist="38100" dir="2700000" algn="tl">
                    <a:srgbClr val="000000">
                      <a:alpha val="43137"/>
                    </a:srgbClr>
                  </a:outerShdw>
                </a:effectLst>
              </a:rPr>
              <a:t/>
            </a:r>
            <a:br>
              <a:rPr lang="en-US" u="sng" dirty="0" smtClean="0">
                <a:solidFill>
                  <a:srgbClr val="0033CC"/>
                </a:solidFill>
                <a:effectLst>
                  <a:outerShdw blurRad="38100" dist="38100" dir="2700000" algn="tl">
                    <a:srgbClr val="000000">
                      <a:alpha val="43137"/>
                    </a:srgbClr>
                  </a:outerShdw>
                </a:effectLst>
              </a:rPr>
            </a:br>
            <a:endParaRPr lang="en-US" dirty="0"/>
          </a:p>
        </p:txBody>
      </p:sp>
      <p:pic>
        <p:nvPicPr>
          <p:cNvPr id="4" name="Picture 5"/>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2667000" y="1447800"/>
            <a:ext cx="34290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38400" y="3581400"/>
            <a:ext cx="3810000" cy="167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lstStyle/>
          <a:p>
            <a:pPr marL="0" indent="0">
              <a:buNone/>
            </a:pPr>
            <a:r>
              <a:rPr lang="en-US" dirty="0" smtClean="0">
                <a:effectLst>
                  <a:outerShdw blurRad="38100" dist="38100" dir="2700000" algn="tl">
                    <a:srgbClr val="000000">
                      <a:alpha val="43137"/>
                    </a:srgbClr>
                  </a:outerShdw>
                </a:effectLst>
              </a:rPr>
              <a:t>INDIVIDUAL SERIES  </a:t>
            </a:r>
            <a:r>
              <a:rPr lang="en-US" u="sng" dirty="0" smtClean="0">
                <a:solidFill>
                  <a:srgbClr val="0033CC"/>
                </a:solidFill>
                <a:effectLst>
                  <a:outerShdw blurRad="38100" dist="38100" dir="2700000" algn="tl">
                    <a:srgbClr val="000000">
                      <a:alpha val="43137"/>
                    </a:srgbClr>
                  </a:outerShdw>
                </a:effectLst>
              </a:rPr>
              <a:t>short cut </a:t>
            </a:r>
            <a:r>
              <a:rPr lang="en-US" u="sng" dirty="0">
                <a:solidFill>
                  <a:srgbClr val="0033CC"/>
                </a:solidFill>
                <a:effectLst>
                  <a:outerShdw blurRad="38100" dist="38100" dir="2700000" algn="tl">
                    <a:srgbClr val="000000">
                      <a:alpha val="43137"/>
                    </a:srgbClr>
                  </a:outerShdw>
                </a:effectLst>
              </a:rPr>
              <a:t>Method ungrouped data</a:t>
            </a:r>
          </a:p>
        </p:txBody>
      </p:sp>
      <p:graphicFrame>
        <p:nvGraphicFramePr>
          <p:cNvPr id="4" name="Table 3"/>
          <p:cNvGraphicFramePr>
            <a:graphicFrameLocks noGrp="1"/>
          </p:cNvGraphicFramePr>
          <p:nvPr>
            <p:extLst>
              <p:ext uri="{D42A27DB-BD31-4B8C-83A1-F6EECF244321}">
                <p14:modId xmlns:p14="http://schemas.microsoft.com/office/powerpoint/2010/main" val="724620459"/>
              </p:ext>
            </p:extLst>
          </p:nvPr>
        </p:nvGraphicFramePr>
        <p:xfrm>
          <a:off x="0" y="1012206"/>
          <a:ext cx="5181600" cy="4821275"/>
        </p:xfrm>
        <a:graphic>
          <a:graphicData uri="http://schemas.openxmlformats.org/drawingml/2006/table">
            <a:tbl>
              <a:tblPr firstRow="1" firstCol="1" bandRow="1"/>
              <a:tblGrid>
                <a:gridCol w="1524000"/>
                <a:gridCol w="2133600"/>
                <a:gridCol w="1524000"/>
              </a:tblGrid>
              <a:tr h="1197201">
                <a:tc>
                  <a:txBody>
                    <a:bodyPr/>
                    <a:lstStyle/>
                    <a:p>
                      <a:pPr marL="0" marR="0" algn="ctr">
                        <a:lnSpc>
                          <a:spcPct val="115000"/>
                        </a:lnSpc>
                        <a:spcBef>
                          <a:spcPts val="0"/>
                        </a:spcBef>
                        <a:spcAft>
                          <a:spcPts val="0"/>
                        </a:spcAft>
                      </a:pPr>
                      <a:r>
                        <a:rPr lang="en-US" sz="2800" dirty="0">
                          <a:effectLst/>
                          <a:latin typeface="Times New Roman"/>
                          <a:ea typeface="Calibri"/>
                          <a:cs typeface="Times New Roman"/>
                        </a:rPr>
                        <a:t>X</a:t>
                      </a:r>
                      <a:endParaRPr lang="en-US" sz="20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75000"/>
                      </a:schemeClr>
                    </a:solidFill>
                  </a:tcPr>
                </a:tc>
                <a:tc>
                  <a:txBody>
                    <a:bodyPr/>
                    <a:lstStyle/>
                    <a:p>
                      <a:pPr marL="0" marR="0" algn="ctr">
                        <a:spcBef>
                          <a:spcPts val="0"/>
                        </a:spcBef>
                        <a:spcAft>
                          <a:spcPts val="300"/>
                        </a:spcAft>
                      </a:pPr>
                      <a:r>
                        <a:rPr lang="en-US" sz="2800" b="1" dirty="0" smtClean="0">
                          <a:effectLst/>
                          <a:latin typeface="Batang"/>
                          <a:ea typeface="Times New Roman"/>
                        </a:rPr>
                        <a:t>d</a:t>
                      </a:r>
                      <a:r>
                        <a:rPr lang="en-US" sz="2800" b="1" dirty="0" smtClean="0">
                          <a:effectLst/>
                          <a:latin typeface="Calibri"/>
                          <a:ea typeface="Times New Roman"/>
                        </a:rPr>
                        <a:t> = </a:t>
                      </a:r>
                      <a:r>
                        <a:rPr lang="en-US" sz="2800" b="1" dirty="0">
                          <a:effectLst/>
                          <a:latin typeface="Calibri"/>
                          <a:ea typeface="Times New Roman"/>
                        </a:rPr>
                        <a:t>X -   </a:t>
                      </a:r>
                      <a:r>
                        <a:rPr lang="en-US" sz="2800" b="1" dirty="0">
                          <a:solidFill>
                            <a:srgbClr val="003366"/>
                          </a:solidFill>
                          <a:effectLst/>
                          <a:latin typeface="Calibri"/>
                          <a:ea typeface="Arial Unicode MS"/>
                        </a:rPr>
                        <a:t>A</a:t>
                      </a:r>
                      <a:endParaRPr lang="en-US" sz="2000" b="1" dirty="0">
                        <a:effectLst/>
                        <a:latin typeface="Calibri"/>
                        <a:ea typeface="Times New Roman"/>
                      </a:endParaRPr>
                    </a:p>
                    <a:p>
                      <a:pPr marL="0" marR="0" algn="ctr">
                        <a:lnSpc>
                          <a:spcPct val="115000"/>
                        </a:lnSpc>
                        <a:spcBef>
                          <a:spcPts val="0"/>
                        </a:spcBef>
                        <a:spcAft>
                          <a:spcPts val="0"/>
                        </a:spcAft>
                      </a:pPr>
                      <a:r>
                        <a:rPr lang="en-US" sz="2800" dirty="0">
                          <a:effectLst/>
                          <a:latin typeface="Calibri"/>
                          <a:ea typeface="Calibri"/>
                          <a:cs typeface="Times New Roman"/>
                        </a:rPr>
                        <a:t> </a:t>
                      </a:r>
                      <a:endParaRPr lang="en-US" sz="20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marL="0" marR="0" algn="ctr">
                        <a:lnSpc>
                          <a:spcPct val="115000"/>
                        </a:lnSpc>
                        <a:spcBef>
                          <a:spcPts val="0"/>
                        </a:spcBef>
                        <a:spcAft>
                          <a:spcPts val="0"/>
                        </a:spcAft>
                      </a:pPr>
                      <a:r>
                        <a:rPr lang="en-US" sz="2800" b="1" dirty="0" smtClean="0">
                          <a:effectLst/>
                          <a:latin typeface="Batang"/>
                          <a:ea typeface="Calibri"/>
                          <a:cs typeface="Times New Roman"/>
                        </a:rPr>
                        <a:t>d</a:t>
                      </a:r>
                      <a:r>
                        <a:rPr lang="en-US" sz="2800" b="1" baseline="30000" dirty="0" smtClean="0">
                          <a:effectLst/>
                          <a:latin typeface="Batang"/>
                          <a:ea typeface="Calibri"/>
                          <a:cs typeface="Times New Roman"/>
                        </a:rPr>
                        <a:t>2</a:t>
                      </a:r>
                      <a:endParaRPr lang="en-US" sz="20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r>
              <a:tr h="449835">
                <a:tc>
                  <a:txBody>
                    <a:bodyPr/>
                    <a:lstStyle/>
                    <a:p>
                      <a:pPr marL="0" marR="0" algn="ctr">
                        <a:lnSpc>
                          <a:spcPct val="115000"/>
                        </a:lnSpc>
                        <a:spcBef>
                          <a:spcPts val="0"/>
                        </a:spcBef>
                        <a:spcAft>
                          <a:spcPts val="0"/>
                        </a:spcAft>
                      </a:pPr>
                      <a:r>
                        <a:rPr lang="en-US" sz="2000" dirty="0">
                          <a:effectLst/>
                          <a:latin typeface="Calibri"/>
                          <a:ea typeface="Calibri"/>
                          <a:cs typeface="Times New Roman"/>
                        </a:rPr>
                        <a:t>130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75000"/>
                      </a:schemeClr>
                    </a:solidFill>
                  </a:tcPr>
                </a:tc>
                <a:tc>
                  <a:txBody>
                    <a:bodyPr/>
                    <a:lstStyle/>
                    <a:p>
                      <a:pPr marL="0" marR="0" algn="ctr">
                        <a:lnSpc>
                          <a:spcPct val="115000"/>
                        </a:lnSpc>
                        <a:spcBef>
                          <a:spcPts val="0"/>
                        </a:spcBef>
                        <a:spcAft>
                          <a:spcPts val="0"/>
                        </a:spcAft>
                      </a:pPr>
                      <a:r>
                        <a:rPr lang="en-US" sz="2000" dirty="0">
                          <a:effectLst/>
                          <a:latin typeface="Calibri"/>
                          <a:ea typeface="Calibri"/>
                          <a:cs typeface="Times New Roman"/>
                        </a:rPr>
                        <a:t>-6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effectLst/>
                          <a:latin typeface="Calibri"/>
                          <a:ea typeface="Calibri"/>
                          <a:cs typeface="Times New Roman"/>
                        </a:rPr>
                        <a:t>36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49835">
                <a:tc>
                  <a:txBody>
                    <a:bodyPr/>
                    <a:lstStyle/>
                    <a:p>
                      <a:pPr marL="0" marR="0" algn="ctr">
                        <a:lnSpc>
                          <a:spcPct val="115000"/>
                        </a:lnSpc>
                        <a:spcBef>
                          <a:spcPts val="0"/>
                        </a:spcBef>
                        <a:spcAft>
                          <a:spcPts val="0"/>
                        </a:spcAft>
                      </a:pPr>
                      <a:r>
                        <a:rPr lang="en-US" sz="2000" dirty="0">
                          <a:effectLst/>
                          <a:latin typeface="Calibri"/>
                          <a:ea typeface="Calibri"/>
                          <a:cs typeface="Times New Roman"/>
                        </a:rPr>
                        <a:t>137</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75000"/>
                      </a:schemeClr>
                    </a:solidFill>
                  </a:tcPr>
                </a:tc>
                <a:tc>
                  <a:txBody>
                    <a:bodyPr/>
                    <a:lstStyle/>
                    <a:p>
                      <a:pPr marL="0" marR="0" algn="ctr">
                        <a:lnSpc>
                          <a:spcPct val="115000"/>
                        </a:lnSpc>
                        <a:spcBef>
                          <a:spcPts val="0"/>
                        </a:spcBef>
                        <a:spcAft>
                          <a:spcPts val="0"/>
                        </a:spcAft>
                      </a:pPr>
                      <a:r>
                        <a:rPr lang="en-US" sz="2000" dirty="0">
                          <a:effectLst/>
                          <a:latin typeface="Calibri"/>
                          <a:ea typeface="Calibri"/>
                          <a:cs typeface="Times New Roman"/>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a:effectLst/>
                          <a:latin typeface="Calibri"/>
                          <a:ea typeface="Calibri"/>
                          <a:cs typeface="Times New Roman"/>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925064">
                <a:tc>
                  <a:txBody>
                    <a:bodyPr/>
                    <a:lstStyle/>
                    <a:p>
                      <a:pPr marL="0" marR="0" algn="l">
                        <a:lnSpc>
                          <a:spcPct val="115000"/>
                        </a:lnSpc>
                        <a:spcBef>
                          <a:spcPts val="0"/>
                        </a:spcBef>
                        <a:spcAft>
                          <a:spcPts val="0"/>
                        </a:spcAft>
                      </a:pPr>
                      <a:r>
                        <a:rPr lang="en-US" sz="2000" b="1" dirty="0" smtClean="0">
                          <a:solidFill>
                            <a:srgbClr val="FF0000"/>
                          </a:solidFill>
                          <a:effectLst/>
                          <a:latin typeface="Calibri"/>
                          <a:ea typeface="Calibri"/>
                          <a:cs typeface="Times New Roman"/>
                        </a:rPr>
                        <a:t>                 </a:t>
                      </a:r>
                    </a:p>
                    <a:p>
                      <a:pPr marL="0" marR="0" algn="l">
                        <a:lnSpc>
                          <a:spcPct val="115000"/>
                        </a:lnSpc>
                        <a:spcBef>
                          <a:spcPts val="0"/>
                        </a:spcBef>
                        <a:spcAft>
                          <a:spcPts val="0"/>
                        </a:spcAft>
                      </a:pPr>
                      <a:r>
                        <a:rPr lang="en-US" sz="2000" b="1" dirty="0" smtClean="0">
                          <a:solidFill>
                            <a:srgbClr val="FF0000"/>
                          </a:solidFill>
                          <a:effectLst/>
                          <a:latin typeface="Calibri"/>
                          <a:ea typeface="Calibri"/>
                          <a:cs typeface="Times New Roman"/>
                        </a:rPr>
                        <a:t>    A </a:t>
                      </a:r>
                      <a:r>
                        <a:rPr lang="en-US" sz="2000" b="1" dirty="0">
                          <a:solidFill>
                            <a:srgbClr val="FF0000"/>
                          </a:solidFill>
                          <a:effectLst/>
                          <a:latin typeface="Calibri"/>
                          <a:ea typeface="Calibri"/>
                          <a:cs typeface="Times New Roman"/>
                          <a:sym typeface="Wingdings"/>
                        </a:rPr>
                        <a:t></a:t>
                      </a:r>
                      <a:r>
                        <a:rPr lang="en-US" sz="2000" b="1" dirty="0">
                          <a:solidFill>
                            <a:srgbClr val="FF0000"/>
                          </a:solidFill>
                          <a:effectLst/>
                          <a:latin typeface="Calibri"/>
                          <a:ea typeface="Calibri"/>
                          <a:cs typeface="Times New Roman"/>
                        </a:rPr>
                        <a:t>136</a:t>
                      </a:r>
                      <a:endParaRPr lang="en-US" sz="20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75000"/>
                      </a:schemeClr>
                    </a:solidFill>
                  </a:tcPr>
                </a:tc>
                <a:tc>
                  <a:txBody>
                    <a:bodyPr/>
                    <a:lstStyle/>
                    <a:p>
                      <a:pPr marL="0" marR="0" algn="ctr">
                        <a:lnSpc>
                          <a:spcPct val="115000"/>
                        </a:lnSpc>
                        <a:spcBef>
                          <a:spcPts val="0"/>
                        </a:spcBef>
                        <a:spcAft>
                          <a:spcPts val="0"/>
                        </a:spcAft>
                      </a:pPr>
                      <a:endParaRPr lang="en-US" sz="2000" dirty="0" smtClean="0">
                        <a:effectLst/>
                        <a:latin typeface="Calibri"/>
                        <a:ea typeface="Calibri"/>
                        <a:cs typeface="Times New Roman"/>
                      </a:endParaRPr>
                    </a:p>
                    <a:p>
                      <a:pPr marL="0" marR="0" algn="ctr">
                        <a:lnSpc>
                          <a:spcPct val="115000"/>
                        </a:lnSpc>
                        <a:spcBef>
                          <a:spcPts val="0"/>
                        </a:spcBef>
                        <a:spcAft>
                          <a:spcPts val="0"/>
                        </a:spcAft>
                      </a:pPr>
                      <a:r>
                        <a:rPr lang="en-US" sz="2000" dirty="0" smtClean="0">
                          <a:effectLst/>
                          <a:latin typeface="Calibri"/>
                          <a:ea typeface="Calibri"/>
                          <a:cs typeface="Times New Roman"/>
                        </a:rPr>
                        <a:t>0</a:t>
                      </a:r>
                      <a:endParaRPr lang="en-US" sz="20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2000" dirty="0" smtClean="0">
                        <a:effectLst/>
                        <a:latin typeface="Calibri"/>
                        <a:ea typeface="Calibri"/>
                        <a:cs typeface="Times New Roman"/>
                      </a:endParaRPr>
                    </a:p>
                    <a:p>
                      <a:pPr marL="0" marR="0" algn="ctr">
                        <a:lnSpc>
                          <a:spcPct val="115000"/>
                        </a:lnSpc>
                        <a:spcBef>
                          <a:spcPts val="0"/>
                        </a:spcBef>
                        <a:spcAft>
                          <a:spcPts val="0"/>
                        </a:spcAft>
                      </a:pPr>
                      <a:r>
                        <a:rPr lang="en-US" sz="2000" dirty="0" smtClean="0">
                          <a:effectLst/>
                          <a:latin typeface="Calibri"/>
                          <a:ea typeface="Calibri"/>
                          <a:cs typeface="Times New Roman"/>
                        </a:rPr>
                        <a:t>0</a:t>
                      </a:r>
                      <a:endParaRPr lang="en-US" sz="20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49835">
                <a:tc>
                  <a:txBody>
                    <a:bodyPr/>
                    <a:lstStyle/>
                    <a:p>
                      <a:pPr marL="0" marR="0" algn="ctr">
                        <a:lnSpc>
                          <a:spcPct val="115000"/>
                        </a:lnSpc>
                        <a:spcBef>
                          <a:spcPts val="0"/>
                        </a:spcBef>
                        <a:spcAft>
                          <a:spcPts val="0"/>
                        </a:spcAft>
                      </a:pPr>
                      <a:r>
                        <a:rPr lang="en-US" sz="2000" dirty="0">
                          <a:effectLst/>
                          <a:latin typeface="Calibri"/>
                          <a:ea typeface="Calibri"/>
                          <a:cs typeface="Times New Roman"/>
                        </a:rPr>
                        <a:t>142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75000"/>
                      </a:schemeClr>
                    </a:solidFill>
                  </a:tcPr>
                </a:tc>
                <a:tc>
                  <a:txBody>
                    <a:bodyPr/>
                    <a:lstStyle/>
                    <a:p>
                      <a:pPr marL="0" marR="0" algn="ctr">
                        <a:lnSpc>
                          <a:spcPct val="115000"/>
                        </a:lnSpc>
                        <a:spcBef>
                          <a:spcPts val="0"/>
                        </a:spcBef>
                        <a:spcAft>
                          <a:spcPts val="0"/>
                        </a:spcAft>
                      </a:pPr>
                      <a:r>
                        <a:rPr lang="en-US" sz="2000" dirty="0">
                          <a:effectLst/>
                          <a:latin typeface="Calibri"/>
                          <a:ea typeface="Calibri"/>
                          <a:cs typeface="Times New Roman"/>
                        </a:rPr>
                        <a:t>+6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effectLst/>
                          <a:latin typeface="Calibri"/>
                          <a:ea typeface="Calibri"/>
                          <a:cs typeface="Times New Roman"/>
                        </a:rPr>
                        <a:t>36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49835">
                <a:tc>
                  <a:txBody>
                    <a:bodyPr/>
                    <a:lstStyle/>
                    <a:p>
                      <a:pPr marL="0" marR="0" algn="ctr">
                        <a:lnSpc>
                          <a:spcPct val="115000"/>
                        </a:lnSpc>
                        <a:spcBef>
                          <a:spcPts val="0"/>
                        </a:spcBef>
                        <a:spcAft>
                          <a:spcPts val="0"/>
                        </a:spcAft>
                      </a:pPr>
                      <a:r>
                        <a:rPr lang="en-US" sz="2000" dirty="0">
                          <a:effectLst/>
                          <a:latin typeface="Calibri"/>
                          <a:ea typeface="Calibri"/>
                          <a:cs typeface="Times New Roman"/>
                        </a:rPr>
                        <a:t>135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75000"/>
                      </a:schemeClr>
                    </a:solidFill>
                  </a:tcPr>
                </a:tc>
                <a:tc>
                  <a:txBody>
                    <a:bodyPr/>
                    <a:lstStyle/>
                    <a:p>
                      <a:pPr marL="0" marR="0" algn="ctr">
                        <a:lnSpc>
                          <a:spcPct val="115000"/>
                        </a:lnSpc>
                        <a:spcBef>
                          <a:spcPts val="0"/>
                        </a:spcBef>
                        <a:spcAft>
                          <a:spcPts val="0"/>
                        </a:spcAft>
                      </a:pPr>
                      <a:r>
                        <a:rPr lang="en-US" sz="2000" dirty="0">
                          <a:effectLst/>
                          <a:latin typeface="Calibri"/>
                          <a:ea typeface="Calibri"/>
                          <a:cs typeface="Times New Roman"/>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effectLst/>
                          <a:latin typeface="Calibri"/>
                          <a:ea typeface="Calibri"/>
                          <a:cs typeface="Times New Roman"/>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49835">
                <a:tc>
                  <a:txBody>
                    <a:bodyPr/>
                    <a:lstStyle/>
                    <a:p>
                      <a:pPr marL="0" marR="0" algn="ctr">
                        <a:lnSpc>
                          <a:spcPct val="115000"/>
                        </a:lnSpc>
                        <a:spcBef>
                          <a:spcPts val="0"/>
                        </a:spcBef>
                        <a:spcAft>
                          <a:spcPts val="0"/>
                        </a:spcAft>
                      </a:pPr>
                      <a:r>
                        <a:rPr lang="en-US" sz="2000" dirty="0">
                          <a:effectLst/>
                          <a:latin typeface="Calibri"/>
                          <a:ea typeface="Calibri"/>
                          <a:cs typeface="Times New Roman"/>
                        </a:rPr>
                        <a:t>∑</a:t>
                      </a:r>
                      <a:r>
                        <a:rPr lang="en-US" sz="2800" baseline="-25000" dirty="0">
                          <a:effectLst/>
                          <a:latin typeface="Times New Roman"/>
                          <a:ea typeface="Calibri"/>
                          <a:cs typeface="Times New Roman"/>
                        </a:rPr>
                        <a:t>X</a:t>
                      </a:r>
                      <a:r>
                        <a:rPr lang="en-US" sz="2000" dirty="0">
                          <a:effectLst/>
                          <a:latin typeface="Calibri"/>
                          <a:ea typeface="Calibri"/>
                          <a:cs typeface="Times New Roman"/>
                        </a:rPr>
                        <a:t>  = 680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60000"/>
                        <a:lumOff val="40000"/>
                      </a:schemeClr>
                    </a:solidFill>
                  </a:tcPr>
                </a:tc>
                <a:tc>
                  <a:txBody>
                    <a:bodyPr/>
                    <a:lstStyle/>
                    <a:p>
                      <a:pPr marL="0" marR="0" algn="ctr">
                        <a:lnSpc>
                          <a:spcPct val="115000"/>
                        </a:lnSpc>
                        <a:spcBef>
                          <a:spcPts val="0"/>
                        </a:spcBef>
                        <a:spcAft>
                          <a:spcPts val="0"/>
                        </a:spcAft>
                      </a:pPr>
                      <a:r>
                        <a:rPr lang="en-US" sz="2000" dirty="0" smtClean="0">
                          <a:effectLst/>
                          <a:latin typeface="+mn-lt"/>
                          <a:ea typeface="Calibri"/>
                          <a:cs typeface="Times New Roman"/>
                        </a:rPr>
                        <a:t>∑d</a:t>
                      </a:r>
                      <a:r>
                        <a:rPr lang="en-US" sz="2000" baseline="0" dirty="0" smtClean="0">
                          <a:effectLst/>
                          <a:latin typeface="+mn-lt"/>
                          <a:ea typeface="Calibri"/>
                          <a:cs typeface="Times New Roman"/>
                        </a:rPr>
                        <a:t> = 0</a:t>
                      </a:r>
                      <a:r>
                        <a:rPr lang="en-US" sz="2000" dirty="0">
                          <a:effectLst/>
                          <a:latin typeface="Calibri"/>
                          <a:ea typeface="Calibri"/>
                          <a:cs typeface="Times New Roman"/>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60000"/>
                        <a:lumOff val="40000"/>
                      </a:schemeClr>
                    </a:solidFill>
                  </a:tcPr>
                </a:tc>
                <a:tc>
                  <a:txBody>
                    <a:bodyPr/>
                    <a:lstStyle/>
                    <a:p>
                      <a:pPr marL="0" marR="0" algn="ctr">
                        <a:lnSpc>
                          <a:spcPct val="115000"/>
                        </a:lnSpc>
                        <a:spcBef>
                          <a:spcPts val="0"/>
                        </a:spcBef>
                        <a:spcAft>
                          <a:spcPts val="0"/>
                        </a:spcAft>
                      </a:pPr>
                      <a:r>
                        <a:rPr lang="en-US" sz="2000" dirty="0">
                          <a:effectLst/>
                          <a:latin typeface="Calibri"/>
                          <a:ea typeface="Calibri"/>
                          <a:cs typeface="Times New Roman"/>
                        </a:rPr>
                        <a:t>∑</a:t>
                      </a:r>
                      <a:r>
                        <a:rPr lang="en-US" sz="2800" baseline="-25000" dirty="0" smtClean="0">
                          <a:effectLst/>
                          <a:latin typeface="Times New Roman"/>
                          <a:ea typeface="Calibri"/>
                          <a:cs typeface="Times New Roman"/>
                        </a:rPr>
                        <a:t>d</a:t>
                      </a:r>
                      <a:r>
                        <a:rPr lang="en-US" sz="2800" baseline="30000" dirty="0" smtClean="0">
                          <a:effectLst/>
                          <a:latin typeface="Times New Roman"/>
                          <a:ea typeface="Calibri"/>
                          <a:cs typeface="Times New Roman"/>
                        </a:rPr>
                        <a:t>2</a:t>
                      </a:r>
                      <a:r>
                        <a:rPr lang="en-US" sz="2000" dirty="0" smtClean="0">
                          <a:effectLst/>
                          <a:latin typeface="Calibri"/>
                          <a:ea typeface="Calibri"/>
                          <a:cs typeface="Times New Roman"/>
                        </a:rPr>
                        <a:t>  </a:t>
                      </a:r>
                      <a:r>
                        <a:rPr lang="en-US" sz="2000" dirty="0">
                          <a:effectLst/>
                          <a:latin typeface="Calibri"/>
                          <a:ea typeface="Calibri"/>
                          <a:cs typeface="Times New Roman"/>
                        </a:rPr>
                        <a:t>= 74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60000"/>
                        <a:lumOff val="40000"/>
                      </a:schemeClr>
                    </a:solidFill>
                  </a:tcPr>
                </a:tc>
              </a:tr>
              <a:tr h="449835">
                <a:tc>
                  <a:txBody>
                    <a:bodyPr/>
                    <a:lstStyle/>
                    <a:p>
                      <a:pPr marL="0" marR="0" algn="ctr">
                        <a:lnSpc>
                          <a:spcPct val="115000"/>
                        </a:lnSpc>
                        <a:spcBef>
                          <a:spcPts val="0"/>
                        </a:spcBef>
                        <a:spcAft>
                          <a:spcPts val="0"/>
                        </a:spcAft>
                      </a:pPr>
                      <a:r>
                        <a:rPr lang="en-US" sz="2400" dirty="0">
                          <a:effectLst/>
                          <a:latin typeface="Calibri"/>
                          <a:ea typeface="Calibri"/>
                          <a:cs typeface="Times New Roman"/>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a:effectLst/>
                          <a:latin typeface="Calibri"/>
                          <a:ea typeface="Calibri"/>
                          <a:cs typeface="Times New Roman"/>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dirty="0">
                          <a:effectLst/>
                          <a:latin typeface="Calibri"/>
                          <a:ea typeface="Calibri"/>
                          <a:cs typeface="Times New Roman"/>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pic>
        <p:nvPicPr>
          <p:cNvPr id="6149"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56312" y="685801"/>
            <a:ext cx="2706688"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50" name="Picture 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78487" y="5791200"/>
            <a:ext cx="3349625" cy="9269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754414" y="3048000"/>
            <a:ext cx="2962275" cy="1009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 name="Picture 4"/>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811642" y="4543075"/>
            <a:ext cx="3048000" cy="1228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5"/>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867400" y="1752600"/>
            <a:ext cx="29718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69580830"/>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0"/>
            <a:ext cx="8610600" cy="6126163"/>
          </a:xfrm>
        </p:spPr>
        <p:txBody>
          <a:bodyPr/>
          <a:lstStyle/>
          <a:p>
            <a:pPr marL="0" indent="0">
              <a:buNone/>
            </a:pPr>
            <a:r>
              <a:rPr lang="en-US" sz="2800" b="1" dirty="0">
                <a:effectLst>
                  <a:outerShdw blurRad="38100" dist="38100" dir="2700000" algn="tl">
                    <a:srgbClr val="000000">
                      <a:alpha val="43137"/>
                    </a:srgbClr>
                  </a:outerShdw>
                </a:effectLst>
              </a:rPr>
              <a:t>DISCRIET SERIES </a:t>
            </a:r>
            <a:r>
              <a:rPr lang="en-US" sz="2800" b="1" u="sng" dirty="0" smtClean="0">
                <a:solidFill>
                  <a:srgbClr val="0033CC"/>
                </a:solidFill>
                <a:effectLst>
                  <a:outerShdw blurRad="38100" dist="38100" dir="2700000" algn="tl">
                    <a:srgbClr val="000000">
                      <a:alpha val="43137"/>
                    </a:srgbClr>
                  </a:outerShdw>
                </a:effectLst>
              </a:rPr>
              <a:t>direct method </a:t>
            </a:r>
            <a:r>
              <a:rPr lang="en-US" sz="2800" u="sng" dirty="0">
                <a:solidFill>
                  <a:srgbClr val="0033CC"/>
                </a:solidFill>
                <a:effectLst>
                  <a:outerShdw blurRad="38100" dist="38100" dir="2700000" algn="tl">
                    <a:srgbClr val="000000">
                      <a:alpha val="43137"/>
                    </a:srgbClr>
                  </a:outerShdw>
                </a:effectLst>
              </a:rPr>
              <a:t>ungrouped data</a:t>
            </a:r>
            <a:endParaRPr lang="en-US" sz="2800" b="1" u="sng" dirty="0" smtClean="0">
              <a:solidFill>
                <a:srgbClr val="0033CC"/>
              </a:solidFill>
              <a:effectLst>
                <a:outerShdw blurRad="38100" dist="38100" dir="2700000" algn="tl">
                  <a:srgbClr val="000000">
                    <a:alpha val="43137"/>
                  </a:srgbClr>
                </a:outerShdw>
              </a:effectLst>
            </a:endParaRPr>
          </a:p>
          <a:p>
            <a:pPr marL="0" indent="0" algn="just">
              <a:buNone/>
            </a:pPr>
            <a:endParaRPr lang="en-US" dirty="0" smtClean="0">
              <a:solidFill>
                <a:srgbClr val="0033CC"/>
              </a:solidFill>
              <a:effectLst>
                <a:outerShdw blurRad="38100" dist="38100" dir="2700000" algn="tl">
                  <a:srgbClr val="000000">
                    <a:alpha val="43137"/>
                  </a:srgbClr>
                </a:outerShdw>
              </a:effectLst>
            </a:endParaRPr>
          </a:p>
          <a:p>
            <a:pPr marL="0" indent="0" algn="just">
              <a:buNone/>
            </a:pPr>
            <a:endParaRPr lang="en-US" sz="2800" dirty="0" smtClean="0">
              <a:solidFill>
                <a:srgbClr val="0033CC"/>
              </a:solidFill>
              <a:effectLst>
                <a:outerShdw blurRad="38100" dist="38100" dir="2700000" algn="tl">
                  <a:srgbClr val="000000">
                    <a:alpha val="43137"/>
                  </a:srgbClr>
                </a:outerShdw>
              </a:effectLst>
            </a:endParaRPr>
          </a:p>
          <a:p>
            <a:pPr marL="0" indent="0" algn="just">
              <a:buNone/>
            </a:pPr>
            <a:endParaRPr lang="en-US" sz="2800" dirty="0" smtClean="0">
              <a:solidFill>
                <a:srgbClr val="0033CC"/>
              </a:solidFill>
              <a:effectLst>
                <a:outerShdw blurRad="38100" dist="38100" dir="2700000" algn="tl">
                  <a:srgbClr val="000000">
                    <a:alpha val="43137"/>
                  </a:srgbClr>
                </a:outerShdw>
              </a:effectLst>
            </a:endParaRPr>
          </a:p>
          <a:p>
            <a:pPr marL="0" indent="0" algn="just">
              <a:buNone/>
            </a:pPr>
            <a:r>
              <a:rPr lang="en-US" sz="2800" dirty="0" smtClean="0">
                <a:solidFill>
                  <a:srgbClr val="0033CC"/>
                </a:solidFill>
                <a:effectLst>
                  <a:outerShdw blurRad="38100" dist="38100" dir="2700000" algn="tl">
                    <a:srgbClr val="000000">
                      <a:alpha val="43137"/>
                    </a:srgbClr>
                  </a:outerShdw>
                </a:effectLst>
              </a:rPr>
              <a:t>Find out SD regarding daily sales of cooker in a </a:t>
            </a:r>
            <a:r>
              <a:rPr lang="en-US" dirty="0" smtClean="0">
                <a:solidFill>
                  <a:srgbClr val="0033CC"/>
                </a:solidFill>
                <a:effectLst>
                  <a:outerShdw blurRad="38100" dist="38100" dir="2700000" algn="tl">
                    <a:srgbClr val="000000">
                      <a:alpha val="43137"/>
                    </a:srgbClr>
                  </a:outerShdw>
                </a:effectLst>
              </a:rPr>
              <a:t>shop</a:t>
            </a:r>
            <a:endParaRPr lang="en-US" sz="2800" dirty="0" smtClean="0">
              <a:solidFill>
                <a:srgbClr val="0033CC"/>
              </a:solidFill>
              <a:effectLst>
                <a:outerShdw blurRad="38100" dist="38100" dir="2700000" algn="tl">
                  <a:srgbClr val="000000">
                    <a:alpha val="43137"/>
                  </a:srgbClr>
                </a:outerShdw>
              </a:effectLst>
            </a:endParaRPr>
          </a:p>
          <a:p>
            <a:endParaRPr lang="en-US" dirty="0"/>
          </a:p>
          <a:p>
            <a:endParaRPr lang="en-US" dirty="0" smtClean="0"/>
          </a:p>
          <a:p>
            <a:endParaRPr lang="en-US" dirty="0"/>
          </a:p>
          <a:p>
            <a:endParaRPr lang="en-US" dirty="0" smtClean="0"/>
          </a:p>
          <a:p>
            <a:endParaRPr lang="en-US" dirty="0"/>
          </a:p>
          <a:p>
            <a:endParaRPr lang="en-US" dirty="0" smtClean="0"/>
          </a:p>
          <a:p>
            <a:endParaRPr lang="en-US" dirty="0"/>
          </a:p>
        </p:txBody>
      </p:sp>
      <p:graphicFrame>
        <p:nvGraphicFramePr>
          <p:cNvPr id="4" name="Object 3"/>
          <p:cNvGraphicFramePr>
            <a:graphicFrameLocks noChangeAspect="1"/>
          </p:cNvGraphicFramePr>
          <p:nvPr>
            <p:extLst>
              <p:ext uri="{D42A27DB-BD31-4B8C-83A1-F6EECF244321}">
                <p14:modId xmlns:p14="http://schemas.microsoft.com/office/powerpoint/2010/main" val="3660518728"/>
              </p:ext>
            </p:extLst>
          </p:nvPr>
        </p:nvGraphicFramePr>
        <p:xfrm>
          <a:off x="1307016" y="2743200"/>
          <a:ext cx="7829550" cy="4708525"/>
        </p:xfrm>
        <a:graphic>
          <a:graphicData uri="http://schemas.openxmlformats.org/presentationml/2006/ole">
            <mc:AlternateContent xmlns:mc="http://schemas.openxmlformats.org/markup-compatibility/2006">
              <mc:Choice xmlns:v="urn:schemas-microsoft-com:vml" Requires="v">
                <p:oleObj spid="_x0000_s3212" name="Document" r:id="rId3" imgW="6217702" imgH="3740551" progId="Word.Document.12">
                  <p:embed/>
                </p:oleObj>
              </mc:Choice>
              <mc:Fallback>
                <p:oleObj name="Document" r:id="rId3" imgW="6217702" imgH="3740551" progId="Word.Document.12">
                  <p:embed/>
                  <p:pic>
                    <p:nvPicPr>
                      <p:cNvPr id="0" name="Picture 13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07016" y="2743200"/>
                        <a:ext cx="7829550" cy="4708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3167" name="Picture 95"/>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38200" y="847725"/>
            <a:ext cx="1828800" cy="1438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204" name="Picture 132"/>
          <p:cNvPicPr>
            <a:picLocks noChangeAspect="1" noChangeArrowheads="1"/>
          </p:cNvPicPr>
          <p:nvPr/>
        </p:nvPicPr>
        <p:blipFill>
          <a:blip r:embed="rId6" cstate="print"/>
          <a:srcRect/>
          <a:stretch>
            <a:fillRect/>
          </a:stretch>
        </p:blipFill>
        <p:spPr bwMode="auto">
          <a:xfrm>
            <a:off x="4038600" y="533400"/>
            <a:ext cx="3267075" cy="1685925"/>
          </a:xfrm>
          <a:prstGeom prst="rect">
            <a:avLst/>
          </a:prstGeom>
          <a:noFill/>
          <a:ln w="9525">
            <a:noFill/>
            <a:miter lim="800000"/>
            <a:headEnd/>
            <a:tailEnd/>
          </a:ln>
          <a:effectLst/>
        </p:spPr>
      </p:pic>
    </p:spTree>
    <p:extLst>
      <p:ext uri="{BB962C8B-B14F-4D97-AF65-F5344CB8AC3E}">
        <p14:creationId xmlns:p14="http://schemas.microsoft.com/office/powerpoint/2010/main" val="4229570640"/>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8229600" cy="334962"/>
          </a:xfrm>
        </p:spPr>
        <p:txBody>
          <a:bodyPr>
            <a:noAutofit/>
          </a:bodyPr>
          <a:lstStyle/>
          <a:p>
            <a:pPr algn="l"/>
            <a:r>
              <a:rPr lang="en-US" sz="3200" b="1" dirty="0" smtClean="0">
                <a:effectLst>
                  <a:outerShdw blurRad="38100" dist="38100" dir="2700000" algn="tl">
                    <a:srgbClr val="000000">
                      <a:alpha val="43137"/>
                    </a:srgbClr>
                  </a:outerShdw>
                </a:effectLst>
              </a:rPr>
              <a:t>SOLN.</a:t>
            </a:r>
            <a:endParaRPr lang="en-US" sz="3200" b="1" dirty="0">
              <a:effectLst>
                <a:outerShdw blurRad="38100" dist="38100" dir="2700000" algn="tl">
                  <a:srgbClr val="000000">
                    <a:alpha val="43137"/>
                  </a:srgbClr>
                </a:outerShdw>
              </a:effectLst>
            </a:endParaRPr>
          </a:p>
        </p:txBody>
      </p:sp>
      <p:pic>
        <p:nvPicPr>
          <p:cNvPr id="88066" name="Picture 2"/>
          <p:cNvPicPr>
            <a:picLocks noGrp="1" noChangeAspect="1" noChangeArrowheads="1"/>
          </p:cNvPicPr>
          <p:nvPr>
            <p:ph idx="1"/>
          </p:nvPr>
        </p:nvPicPr>
        <p:blipFill>
          <a:blip r:embed="rId2"/>
          <a:srcRect/>
          <a:stretch>
            <a:fillRect/>
          </a:stretch>
        </p:blipFill>
        <p:spPr bwMode="auto">
          <a:xfrm>
            <a:off x="0" y="381000"/>
            <a:ext cx="9144000" cy="4830763"/>
          </a:xfrm>
          <a:prstGeom prst="rect">
            <a:avLst/>
          </a:prstGeom>
          <a:noFill/>
          <a:ln w="9525">
            <a:noFill/>
            <a:miter lim="800000"/>
            <a:headEnd/>
            <a:tailEnd/>
          </a:ln>
          <a:effectLst/>
        </p:spPr>
      </p:pic>
      <p:pic>
        <p:nvPicPr>
          <p:cNvPr id="88067" name="Picture 3"/>
          <p:cNvPicPr>
            <a:picLocks noChangeAspect="1" noChangeArrowheads="1"/>
          </p:cNvPicPr>
          <p:nvPr/>
        </p:nvPicPr>
        <p:blipFill>
          <a:blip r:embed="rId3"/>
          <a:srcRect/>
          <a:stretch>
            <a:fillRect/>
          </a:stretch>
        </p:blipFill>
        <p:spPr bwMode="auto">
          <a:xfrm>
            <a:off x="0" y="5257800"/>
            <a:ext cx="4038600" cy="1600200"/>
          </a:xfrm>
          <a:prstGeom prst="rect">
            <a:avLst/>
          </a:prstGeom>
          <a:noFill/>
          <a:ln w="9525">
            <a:noFill/>
            <a:miter lim="800000"/>
            <a:headEnd/>
            <a:tailEnd/>
          </a:ln>
          <a:effectLst/>
        </p:spPr>
      </p:pic>
      <p:pic>
        <p:nvPicPr>
          <p:cNvPr id="88069" name="Picture 5"/>
          <p:cNvPicPr>
            <a:picLocks noChangeAspect="1" noChangeArrowheads="1"/>
          </p:cNvPicPr>
          <p:nvPr/>
        </p:nvPicPr>
        <p:blipFill>
          <a:blip r:embed="rId4"/>
          <a:srcRect/>
          <a:stretch>
            <a:fillRect/>
          </a:stretch>
        </p:blipFill>
        <p:spPr bwMode="auto">
          <a:xfrm>
            <a:off x="4038600" y="5257800"/>
            <a:ext cx="4953000" cy="1600200"/>
          </a:xfrm>
          <a:prstGeom prst="rect">
            <a:avLst/>
          </a:prstGeom>
          <a:noFill/>
          <a:ln w="9525">
            <a:noFill/>
            <a:miter lim="800000"/>
            <a:headEnd/>
            <a:tailEnd/>
          </a:ln>
          <a:effectLst/>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flipV="1">
            <a:off x="533400" y="4146209"/>
            <a:ext cx="123860"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0"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8600" y="152400"/>
            <a:ext cx="2286000" cy="1292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4" name="Picture 8"/>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730673" y="1905000"/>
            <a:ext cx="34290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5" name="Picture 9"/>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114800" y="152400"/>
            <a:ext cx="3209925"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 name="Picture 2"/>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38200" y="3886200"/>
            <a:ext cx="6869965"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132"/>
          <p:cNvPicPr>
            <a:picLocks noChangeAspect="1" noChangeArrowheads="1"/>
          </p:cNvPicPr>
          <p:nvPr/>
        </p:nvPicPr>
        <p:blipFill>
          <a:blip r:embed="rId7" cstate="print"/>
          <a:srcRect/>
          <a:stretch>
            <a:fillRect/>
          </a:stretch>
        </p:blipFill>
        <p:spPr bwMode="auto">
          <a:xfrm>
            <a:off x="457200" y="1981200"/>
            <a:ext cx="3267075" cy="1685925"/>
          </a:xfrm>
          <a:prstGeom prst="rect">
            <a:avLst/>
          </a:prstGeom>
          <a:noFill/>
          <a:ln w="9525">
            <a:noFill/>
            <a:miter lim="800000"/>
            <a:headEnd/>
            <a:tailEnd/>
          </a:ln>
          <a:effectLst/>
        </p:spPr>
      </p:pic>
    </p:spTree>
    <p:extLst>
      <p:ext uri="{BB962C8B-B14F-4D97-AF65-F5344CB8AC3E}">
        <p14:creationId xmlns:p14="http://schemas.microsoft.com/office/powerpoint/2010/main" val="584921301"/>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r>
              <a:rPr lang="en-US" b="1" dirty="0">
                <a:solidFill>
                  <a:prstClr val="black"/>
                </a:solidFill>
                <a:effectLst>
                  <a:outerShdw blurRad="38100" dist="38100" dir="2700000" algn="tl">
                    <a:srgbClr val="000000">
                      <a:alpha val="43137"/>
                    </a:srgbClr>
                  </a:outerShdw>
                </a:effectLst>
              </a:rPr>
              <a:t>DISCRIET SERIES </a:t>
            </a:r>
            <a:r>
              <a:rPr lang="en-US" b="1" u="sng" dirty="0">
                <a:solidFill>
                  <a:srgbClr val="0033CC"/>
                </a:solidFill>
                <a:effectLst>
                  <a:outerShdw blurRad="38100" dist="38100" dir="2700000" algn="tl">
                    <a:srgbClr val="000000">
                      <a:alpha val="43137"/>
                    </a:srgbClr>
                  </a:outerShdw>
                </a:effectLst>
              </a:rPr>
              <a:t>short cut method</a:t>
            </a:r>
          </a:p>
          <a:p>
            <a:endParaRPr lang="en-US" dirty="0"/>
          </a:p>
        </p:txBody>
      </p:sp>
      <p:pic>
        <p:nvPicPr>
          <p:cNvPr id="717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76400" y="2514600"/>
            <a:ext cx="3657600" cy="13715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2"/>
          <p:cNvPicPr>
            <a:picLocks noChangeAspect="1" noChangeArrowheads="1"/>
          </p:cNvPicPr>
          <p:nvPr/>
        </p:nvPicPr>
        <p:blipFill>
          <a:blip r:embed="rId3" cstate="print"/>
          <a:srcRect/>
          <a:stretch>
            <a:fillRect/>
          </a:stretch>
        </p:blipFill>
        <p:spPr bwMode="auto">
          <a:xfrm>
            <a:off x="2209800" y="4419600"/>
            <a:ext cx="3686175" cy="1447800"/>
          </a:xfrm>
          <a:prstGeom prst="rect">
            <a:avLst/>
          </a:prstGeom>
          <a:noFill/>
          <a:ln w="9525">
            <a:noFill/>
            <a:miter lim="800000"/>
            <a:headEnd/>
            <a:tailEnd/>
          </a:ln>
          <a:effectLst/>
        </p:spPr>
      </p:pic>
    </p:spTree>
    <p:extLst>
      <p:ext uri="{BB962C8B-B14F-4D97-AF65-F5344CB8AC3E}">
        <p14:creationId xmlns:p14="http://schemas.microsoft.com/office/powerpoint/2010/main" val="3455549342"/>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067800" cy="6858000"/>
          </a:xfrm>
        </p:spPr>
        <p:txBody>
          <a:bodyPr/>
          <a:lstStyle/>
          <a:p>
            <a:r>
              <a:rPr lang="en-US" sz="2800" b="1" dirty="0">
                <a:effectLst>
                  <a:outerShdw blurRad="38100" dist="38100" dir="2700000" algn="tl">
                    <a:srgbClr val="000000">
                      <a:alpha val="43137"/>
                    </a:srgbClr>
                  </a:outerShdw>
                </a:effectLst>
              </a:rPr>
              <a:t>DISCRIET SERIES </a:t>
            </a:r>
            <a:r>
              <a:rPr lang="en-US" sz="2800" b="1" u="sng" dirty="0" smtClean="0">
                <a:solidFill>
                  <a:srgbClr val="0033CC"/>
                </a:solidFill>
                <a:effectLst>
                  <a:outerShdw blurRad="38100" dist="38100" dir="2700000" algn="tl">
                    <a:srgbClr val="000000">
                      <a:alpha val="43137"/>
                    </a:srgbClr>
                  </a:outerShdw>
                </a:effectLst>
              </a:rPr>
              <a:t>short cut method </a:t>
            </a:r>
            <a:r>
              <a:rPr lang="en-US" sz="2800" u="sng" dirty="0">
                <a:solidFill>
                  <a:srgbClr val="0033CC"/>
                </a:solidFill>
                <a:effectLst>
                  <a:outerShdw blurRad="38100" dist="38100" dir="2700000" algn="tl">
                    <a:srgbClr val="000000">
                      <a:alpha val="43137"/>
                    </a:srgbClr>
                  </a:outerShdw>
                </a:effectLst>
              </a:rPr>
              <a:t>ungrouped data</a:t>
            </a:r>
            <a:endParaRPr lang="en-US" sz="2800" b="1" u="sng" dirty="0">
              <a:solidFill>
                <a:srgbClr val="0033CC"/>
              </a:solidFill>
              <a:effectLst>
                <a:outerShdw blurRad="38100" dist="38100" dir="2700000" algn="tl">
                  <a:srgbClr val="000000">
                    <a:alpha val="43137"/>
                  </a:srgbClr>
                </a:outerShdw>
              </a:effectLst>
            </a:endParaRPr>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468327536"/>
              </p:ext>
            </p:extLst>
          </p:nvPr>
        </p:nvGraphicFramePr>
        <p:xfrm>
          <a:off x="0" y="1676398"/>
          <a:ext cx="9067800" cy="5398008"/>
        </p:xfrm>
        <a:graphic>
          <a:graphicData uri="http://schemas.openxmlformats.org/drawingml/2006/table">
            <a:tbl>
              <a:tblPr firstRow="1" firstCol="1" bandRow="1"/>
              <a:tblGrid>
                <a:gridCol w="1511300"/>
                <a:gridCol w="1308100"/>
                <a:gridCol w="1828800"/>
                <a:gridCol w="1397000"/>
                <a:gridCol w="1511300"/>
                <a:gridCol w="1511300"/>
              </a:tblGrid>
              <a:tr h="494162">
                <a:tc>
                  <a:txBody>
                    <a:bodyPr/>
                    <a:lstStyle/>
                    <a:p>
                      <a:pPr marL="0" marR="0" algn="ctr">
                        <a:lnSpc>
                          <a:spcPct val="115000"/>
                        </a:lnSpc>
                        <a:spcBef>
                          <a:spcPts val="0"/>
                        </a:spcBef>
                        <a:spcAft>
                          <a:spcPts val="0"/>
                        </a:spcAft>
                      </a:pPr>
                      <a:r>
                        <a:rPr lang="en-US" sz="3600" b="1" dirty="0">
                          <a:effectLst/>
                          <a:latin typeface="Calibri"/>
                          <a:ea typeface="Calibri"/>
                          <a:cs typeface="Times New Roman"/>
                        </a:rPr>
                        <a:t>x</a:t>
                      </a:r>
                      <a:endParaRPr lang="en-US" sz="20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marL="0" marR="0" algn="ctr">
                        <a:lnSpc>
                          <a:spcPct val="115000"/>
                        </a:lnSpc>
                        <a:spcBef>
                          <a:spcPts val="0"/>
                        </a:spcBef>
                        <a:spcAft>
                          <a:spcPts val="0"/>
                        </a:spcAft>
                      </a:pPr>
                      <a:r>
                        <a:rPr lang="en-US" sz="3600" b="1" dirty="0">
                          <a:effectLst/>
                          <a:latin typeface="Calibri"/>
                          <a:ea typeface="Calibri"/>
                          <a:cs typeface="Times New Roman"/>
                        </a:rPr>
                        <a:t>f</a:t>
                      </a:r>
                      <a:endParaRPr lang="en-US" sz="20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marL="0" marR="0" algn="ctr">
                        <a:lnSpc>
                          <a:spcPct val="115000"/>
                        </a:lnSpc>
                        <a:spcBef>
                          <a:spcPts val="0"/>
                        </a:spcBef>
                        <a:spcAft>
                          <a:spcPts val="0"/>
                        </a:spcAft>
                      </a:pPr>
                      <a:r>
                        <a:rPr lang="en-US" sz="3600" b="1" dirty="0" smtClean="0">
                          <a:effectLst/>
                          <a:latin typeface="Calibri"/>
                          <a:ea typeface="Calibri"/>
                          <a:cs typeface="Times New Roman"/>
                        </a:rPr>
                        <a:t>d= </a:t>
                      </a:r>
                      <a:r>
                        <a:rPr lang="en-US" sz="3600" b="1" dirty="0">
                          <a:effectLst/>
                          <a:latin typeface="Calibri"/>
                          <a:ea typeface="Calibri"/>
                          <a:cs typeface="Times New Roman"/>
                        </a:rPr>
                        <a:t>x - A</a:t>
                      </a:r>
                      <a:endParaRPr lang="en-US" sz="20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marL="0" marR="0" algn="ctr">
                        <a:lnSpc>
                          <a:spcPct val="115000"/>
                        </a:lnSpc>
                        <a:spcBef>
                          <a:spcPts val="0"/>
                        </a:spcBef>
                        <a:spcAft>
                          <a:spcPts val="0"/>
                        </a:spcAft>
                      </a:pPr>
                      <a:r>
                        <a:rPr lang="en-US" sz="3600" b="1" dirty="0" err="1" smtClean="0">
                          <a:solidFill>
                            <a:srgbClr val="FF0000"/>
                          </a:solidFill>
                          <a:effectLst/>
                          <a:latin typeface="Calibri"/>
                          <a:ea typeface="Calibri"/>
                          <a:cs typeface="Times New Roman"/>
                        </a:rPr>
                        <a:t>f.d</a:t>
                      </a:r>
                      <a:endParaRPr lang="en-US" sz="20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marL="0" marR="0" algn="ctr">
                        <a:lnSpc>
                          <a:spcPct val="115000"/>
                        </a:lnSpc>
                        <a:spcBef>
                          <a:spcPts val="0"/>
                        </a:spcBef>
                        <a:spcAft>
                          <a:spcPts val="0"/>
                        </a:spcAft>
                      </a:pPr>
                      <a:r>
                        <a:rPr lang="en-US" sz="3600" b="1" dirty="0" smtClean="0">
                          <a:solidFill>
                            <a:srgbClr val="FF0000"/>
                          </a:solidFill>
                          <a:effectLst/>
                          <a:latin typeface="Calibri"/>
                          <a:ea typeface="Batang"/>
                          <a:cs typeface="Times New Roman"/>
                        </a:rPr>
                        <a:t>d</a:t>
                      </a:r>
                      <a:r>
                        <a:rPr lang="en-US" sz="3600" b="1" baseline="30000" dirty="0" smtClean="0">
                          <a:solidFill>
                            <a:srgbClr val="FF0000"/>
                          </a:solidFill>
                          <a:effectLst/>
                          <a:latin typeface="Calibri"/>
                          <a:ea typeface="Batang"/>
                          <a:cs typeface="Times New Roman"/>
                        </a:rPr>
                        <a:t>2</a:t>
                      </a:r>
                      <a:endParaRPr lang="en-US" sz="20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marL="0" marR="0" algn="ctr">
                        <a:lnSpc>
                          <a:spcPct val="115000"/>
                        </a:lnSpc>
                        <a:spcBef>
                          <a:spcPts val="0"/>
                        </a:spcBef>
                        <a:spcAft>
                          <a:spcPts val="0"/>
                        </a:spcAft>
                      </a:pPr>
                      <a:r>
                        <a:rPr lang="en-US" sz="3600" b="1" dirty="0">
                          <a:effectLst/>
                          <a:latin typeface="Calibri"/>
                          <a:ea typeface="Calibri"/>
                          <a:cs typeface="Times New Roman"/>
                        </a:rPr>
                        <a:t>f.</a:t>
                      </a:r>
                      <a:r>
                        <a:rPr lang="en-US" sz="3600" b="1" dirty="0">
                          <a:effectLst/>
                          <a:latin typeface="Calibri"/>
                          <a:ea typeface="Batang"/>
                          <a:cs typeface="Times New Roman"/>
                        </a:rPr>
                        <a:t> </a:t>
                      </a:r>
                      <a:r>
                        <a:rPr lang="en-US" sz="3600" b="1" dirty="0" smtClean="0">
                          <a:solidFill>
                            <a:srgbClr val="FF0000"/>
                          </a:solidFill>
                          <a:effectLst/>
                          <a:latin typeface="Calibri"/>
                          <a:ea typeface="Batang"/>
                          <a:cs typeface="Times New Roman"/>
                        </a:rPr>
                        <a:t>d</a:t>
                      </a:r>
                      <a:r>
                        <a:rPr lang="en-US" sz="3600" b="1" baseline="30000" dirty="0" smtClean="0">
                          <a:solidFill>
                            <a:srgbClr val="FF0000"/>
                          </a:solidFill>
                          <a:effectLst/>
                          <a:latin typeface="Calibri"/>
                          <a:ea typeface="Batang"/>
                          <a:cs typeface="Times New Roman"/>
                        </a:rPr>
                        <a:t>2</a:t>
                      </a:r>
                      <a:endParaRPr lang="en-US" sz="20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r>
              <a:tr h="301988">
                <a:tc>
                  <a:txBody>
                    <a:bodyPr/>
                    <a:lstStyle/>
                    <a:p>
                      <a:pPr marL="0" marR="0" algn="ctr">
                        <a:lnSpc>
                          <a:spcPct val="115000"/>
                        </a:lnSpc>
                        <a:spcBef>
                          <a:spcPts val="0"/>
                        </a:spcBef>
                        <a:spcAft>
                          <a:spcPts val="0"/>
                        </a:spcAft>
                      </a:pPr>
                      <a:r>
                        <a:rPr lang="en-US" sz="2400" b="1" dirty="0">
                          <a:effectLst>
                            <a:outerShdw blurRad="38100" dist="38100" dir="2700000" algn="tl">
                              <a:srgbClr val="000000">
                                <a:alpha val="43137"/>
                              </a:srgbClr>
                            </a:outerShdw>
                          </a:effectLst>
                          <a:latin typeface="Calibri"/>
                          <a:ea typeface="Calibri"/>
                          <a:cs typeface="Times New Roman"/>
                        </a:rPr>
                        <a:t>12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marL="0" marR="0" algn="ctr">
                        <a:lnSpc>
                          <a:spcPct val="115000"/>
                        </a:lnSpc>
                        <a:spcBef>
                          <a:spcPts val="0"/>
                        </a:spcBef>
                        <a:spcAft>
                          <a:spcPts val="0"/>
                        </a:spcAft>
                      </a:pPr>
                      <a:r>
                        <a:rPr lang="en-US" sz="2400" b="1" dirty="0">
                          <a:effectLst>
                            <a:outerShdw blurRad="38100" dist="38100" dir="2700000" algn="tl">
                              <a:srgbClr val="000000">
                                <a:alpha val="43137"/>
                              </a:srgbClr>
                            </a:outerShdw>
                          </a:effectLst>
                          <a:latin typeface="Calibri"/>
                          <a:ea typeface="Calibri"/>
                          <a:cs typeface="Times New Roman"/>
                        </a:rPr>
                        <a:t>01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marL="0" marR="0" algn="ctr">
                        <a:lnSpc>
                          <a:spcPct val="115000"/>
                        </a:lnSpc>
                        <a:spcBef>
                          <a:spcPts val="0"/>
                        </a:spcBef>
                        <a:spcAft>
                          <a:spcPts val="0"/>
                        </a:spcAft>
                      </a:pPr>
                      <a:r>
                        <a:rPr lang="en-US" sz="2400" dirty="0">
                          <a:effectLst/>
                          <a:latin typeface="Calibri"/>
                          <a:ea typeface="Calibri"/>
                          <a:cs typeface="Times New Roman"/>
                        </a:rPr>
                        <a:t>-3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a:effectLst/>
                          <a:latin typeface="Calibri"/>
                          <a:ea typeface="Calibri"/>
                          <a:cs typeface="Times New Roman"/>
                        </a:rPr>
                        <a:t>-03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a:effectLst/>
                          <a:latin typeface="Calibri"/>
                          <a:ea typeface="Calibri"/>
                          <a:cs typeface="Times New Roman"/>
                        </a:rPr>
                        <a:t>9</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a:effectLst/>
                          <a:latin typeface="Calibri"/>
                          <a:ea typeface="Calibri"/>
                          <a:cs typeface="Times New Roman"/>
                        </a:rPr>
                        <a:t>9</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01988">
                <a:tc>
                  <a:txBody>
                    <a:bodyPr/>
                    <a:lstStyle/>
                    <a:p>
                      <a:pPr marL="0" marR="0" algn="ctr">
                        <a:lnSpc>
                          <a:spcPct val="115000"/>
                        </a:lnSpc>
                        <a:spcBef>
                          <a:spcPts val="0"/>
                        </a:spcBef>
                        <a:spcAft>
                          <a:spcPts val="0"/>
                        </a:spcAft>
                      </a:pPr>
                      <a:r>
                        <a:rPr lang="en-US" sz="2400" b="1" dirty="0">
                          <a:effectLst>
                            <a:outerShdw blurRad="38100" dist="38100" dir="2700000" algn="tl">
                              <a:srgbClr val="000000">
                                <a:alpha val="43137"/>
                              </a:srgbClr>
                            </a:outerShdw>
                          </a:effectLst>
                          <a:latin typeface="Calibri"/>
                          <a:ea typeface="Calibri"/>
                          <a:cs typeface="Times New Roman"/>
                        </a:rPr>
                        <a:t>13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marL="0" marR="0" algn="ctr">
                        <a:lnSpc>
                          <a:spcPct val="115000"/>
                        </a:lnSpc>
                        <a:spcBef>
                          <a:spcPts val="0"/>
                        </a:spcBef>
                        <a:spcAft>
                          <a:spcPts val="0"/>
                        </a:spcAft>
                      </a:pPr>
                      <a:r>
                        <a:rPr lang="en-US" sz="2400" b="1">
                          <a:effectLst>
                            <a:outerShdw blurRad="38100" dist="38100" dir="2700000" algn="tl">
                              <a:srgbClr val="000000">
                                <a:alpha val="43137"/>
                              </a:srgbClr>
                            </a:outerShdw>
                          </a:effectLst>
                          <a:latin typeface="Calibri"/>
                          <a:ea typeface="Calibri"/>
                          <a:cs typeface="Times New Roman"/>
                        </a:rPr>
                        <a:t>00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marL="0" marR="0" algn="ctr">
                        <a:lnSpc>
                          <a:spcPct val="115000"/>
                        </a:lnSpc>
                        <a:spcBef>
                          <a:spcPts val="0"/>
                        </a:spcBef>
                        <a:spcAft>
                          <a:spcPts val="0"/>
                        </a:spcAft>
                      </a:pPr>
                      <a:r>
                        <a:rPr lang="en-US" sz="2400" dirty="0">
                          <a:effectLst/>
                          <a:latin typeface="Calibri"/>
                          <a:ea typeface="Calibri"/>
                          <a:cs typeface="Times New Roman"/>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a:effectLst/>
                          <a:latin typeface="Calibri"/>
                          <a:ea typeface="Calibri"/>
                          <a:cs typeface="Times New Roman"/>
                        </a:rPr>
                        <a:t>-00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a:effectLst/>
                          <a:latin typeface="Calibri"/>
                          <a:ea typeface="Calibri"/>
                          <a:cs typeface="Times New Roman"/>
                        </a:rPr>
                        <a:t>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a:effectLst/>
                          <a:latin typeface="Calibri"/>
                          <a:ea typeface="Calibri"/>
                          <a:cs typeface="Times New Roman"/>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01988">
                <a:tc>
                  <a:txBody>
                    <a:bodyPr/>
                    <a:lstStyle/>
                    <a:p>
                      <a:pPr marL="0" marR="0" algn="ctr">
                        <a:lnSpc>
                          <a:spcPct val="115000"/>
                        </a:lnSpc>
                        <a:spcBef>
                          <a:spcPts val="0"/>
                        </a:spcBef>
                        <a:spcAft>
                          <a:spcPts val="0"/>
                        </a:spcAft>
                      </a:pPr>
                      <a:r>
                        <a:rPr lang="en-US" sz="2400" b="1" dirty="0">
                          <a:effectLst>
                            <a:outerShdw blurRad="38100" dist="38100" dir="2700000" algn="tl">
                              <a:srgbClr val="000000">
                                <a:alpha val="43137"/>
                              </a:srgbClr>
                            </a:outerShdw>
                          </a:effectLst>
                          <a:latin typeface="Calibri"/>
                          <a:ea typeface="Calibri"/>
                          <a:cs typeface="Times New Roman"/>
                        </a:rPr>
                        <a:t>14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marL="0" marR="0" algn="ctr">
                        <a:lnSpc>
                          <a:spcPct val="115000"/>
                        </a:lnSpc>
                        <a:spcBef>
                          <a:spcPts val="0"/>
                        </a:spcBef>
                        <a:spcAft>
                          <a:spcPts val="0"/>
                        </a:spcAft>
                      </a:pPr>
                      <a:r>
                        <a:rPr lang="en-US" sz="2400" b="1" dirty="0">
                          <a:effectLst>
                            <a:outerShdw blurRad="38100" dist="38100" dir="2700000" algn="tl">
                              <a:srgbClr val="000000">
                                <a:alpha val="43137"/>
                              </a:srgbClr>
                            </a:outerShdw>
                          </a:effectLst>
                          <a:latin typeface="Calibri"/>
                          <a:ea typeface="Calibri"/>
                          <a:cs typeface="Times New Roman"/>
                        </a:rPr>
                        <a:t>04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marL="0" marR="0" algn="ctr">
                        <a:lnSpc>
                          <a:spcPct val="115000"/>
                        </a:lnSpc>
                        <a:spcBef>
                          <a:spcPts val="0"/>
                        </a:spcBef>
                        <a:spcAft>
                          <a:spcPts val="0"/>
                        </a:spcAft>
                      </a:pPr>
                      <a:r>
                        <a:rPr lang="en-US" sz="2400" dirty="0">
                          <a:effectLst/>
                          <a:latin typeface="Calibri"/>
                          <a:ea typeface="Calibri"/>
                          <a:cs typeface="Times New Roman"/>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dirty="0">
                          <a:effectLst/>
                          <a:latin typeface="Calibri"/>
                          <a:ea typeface="Calibri"/>
                          <a:cs typeface="Times New Roman"/>
                        </a:rPr>
                        <a:t>-04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a:effectLst/>
                          <a:latin typeface="Calibri"/>
                          <a:ea typeface="Calibri"/>
                          <a:cs typeface="Times New Roman"/>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a:effectLst/>
                          <a:latin typeface="Calibri"/>
                          <a:ea typeface="Calibri"/>
                          <a:cs typeface="Times New Roman"/>
                        </a:rPr>
                        <a:t>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01988">
                <a:tc>
                  <a:txBody>
                    <a:bodyPr/>
                    <a:lstStyle/>
                    <a:p>
                      <a:pPr marL="0" marR="0">
                        <a:lnSpc>
                          <a:spcPct val="115000"/>
                        </a:lnSpc>
                        <a:spcBef>
                          <a:spcPts val="0"/>
                        </a:spcBef>
                        <a:spcAft>
                          <a:spcPts val="0"/>
                        </a:spcAft>
                      </a:pPr>
                      <a:r>
                        <a:rPr lang="en-US" sz="2400" b="1" dirty="0">
                          <a:solidFill>
                            <a:srgbClr val="FF0000"/>
                          </a:solidFill>
                          <a:effectLst>
                            <a:outerShdw blurRad="38100" dist="38100" dir="2700000" algn="tl">
                              <a:srgbClr val="000000">
                                <a:alpha val="43137"/>
                              </a:srgbClr>
                            </a:outerShdw>
                          </a:effectLst>
                          <a:latin typeface="Calibri"/>
                          <a:ea typeface="Calibri"/>
                          <a:cs typeface="Times New Roman"/>
                        </a:rPr>
                        <a:t>   A </a:t>
                      </a:r>
                      <a:r>
                        <a:rPr lang="en-US" sz="2400" b="1" dirty="0">
                          <a:solidFill>
                            <a:srgbClr val="FF0000"/>
                          </a:solidFill>
                          <a:effectLst>
                            <a:outerShdw blurRad="38100" dist="38100" dir="2700000" algn="tl">
                              <a:srgbClr val="000000">
                                <a:alpha val="43137"/>
                              </a:srgbClr>
                            </a:outerShdw>
                          </a:effectLst>
                          <a:latin typeface="Calibri"/>
                          <a:ea typeface="Calibri"/>
                          <a:cs typeface="Times New Roman"/>
                          <a:sym typeface="Wingdings"/>
                        </a:rPr>
                        <a:t></a:t>
                      </a:r>
                      <a:r>
                        <a:rPr lang="en-US" sz="2400" b="1" dirty="0">
                          <a:solidFill>
                            <a:srgbClr val="FF0000"/>
                          </a:solidFill>
                          <a:effectLst>
                            <a:outerShdw blurRad="38100" dist="38100" dir="2700000" algn="tl">
                              <a:srgbClr val="000000">
                                <a:alpha val="43137"/>
                              </a:srgbClr>
                            </a:outerShdw>
                          </a:effectLst>
                          <a:latin typeface="Calibri"/>
                          <a:ea typeface="Calibri"/>
                          <a:cs typeface="Times New Roman"/>
                        </a:rPr>
                        <a:t>15</a:t>
                      </a:r>
                      <a:endParaRPr lang="en-US" sz="2400" b="1" dirty="0">
                        <a:effectLst>
                          <a:outerShdw blurRad="38100" dist="38100" dir="2700000" algn="tl">
                            <a:srgbClr val="000000">
                              <a:alpha val="43137"/>
                            </a:srgbClr>
                          </a:outerShdw>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marL="0" marR="0" algn="ctr">
                        <a:lnSpc>
                          <a:spcPct val="115000"/>
                        </a:lnSpc>
                        <a:spcBef>
                          <a:spcPts val="0"/>
                        </a:spcBef>
                        <a:spcAft>
                          <a:spcPts val="0"/>
                        </a:spcAft>
                      </a:pPr>
                      <a:r>
                        <a:rPr lang="en-US" sz="2400" b="1" dirty="0">
                          <a:effectLst>
                            <a:outerShdw blurRad="38100" dist="38100" dir="2700000" algn="tl">
                              <a:srgbClr val="000000">
                                <a:alpha val="43137"/>
                              </a:srgbClr>
                            </a:outerShdw>
                          </a:effectLst>
                          <a:latin typeface="Calibri"/>
                          <a:ea typeface="Calibri"/>
                          <a:cs typeface="Times New Roman"/>
                        </a:rPr>
                        <a:t>12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marL="0" marR="0" algn="ctr">
                        <a:lnSpc>
                          <a:spcPct val="115000"/>
                        </a:lnSpc>
                        <a:spcBef>
                          <a:spcPts val="0"/>
                        </a:spcBef>
                        <a:spcAft>
                          <a:spcPts val="0"/>
                        </a:spcAft>
                      </a:pPr>
                      <a:r>
                        <a:rPr lang="en-US" sz="2400" dirty="0">
                          <a:effectLst/>
                          <a:latin typeface="Calibri"/>
                          <a:ea typeface="Calibri"/>
                          <a:cs typeface="Times New Roman"/>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dirty="0">
                          <a:effectLst/>
                          <a:latin typeface="Calibri"/>
                          <a:ea typeface="Calibri"/>
                          <a:cs typeface="Times New Roman"/>
                        </a:rPr>
                        <a:t>00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a:effectLst/>
                          <a:latin typeface="Calibri"/>
                          <a:ea typeface="Calibri"/>
                          <a:cs typeface="Times New Roman"/>
                        </a:rPr>
                        <a:t>00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a:effectLst/>
                          <a:latin typeface="Calibri"/>
                          <a:ea typeface="Calibri"/>
                          <a:cs typeface="Times New Roman"/>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01988">
                <a:tc>
                  <a:txBody>
                    <a:bodyPr/>
                    <a:lstStyle/>
                    <a:p>
                      <a:pPr marL="0" marR="0" algn="ctr">
                        <a:lnSpc>
                          <a:spcPct val="115000"/>
                        </a:lnSpc>
                        <a:spcBef>
                          <a:spcPts val="0"/>
                        </a:spcBef>
                        <a:spcAft>
                          <a:spcPts val="0"/>
                        </a:spcAft>
                      </a:pPr>
                      <a:r>
                        <a:rPr lang="en-US" sz="2400" b="1" dirty="0">
                          <a:effectLst>
                            <a:outerShdw blurRad="38100" dist="38100" dir="2700000" algn="tl">
                              <a:srgbClr val="000000">
                                <a:alpha val="43137"/>
                              </a:srgbClr>
                            </a:outerShdw>
                          </a:effectLst>
                          <a:latin typeface="Calibri"/>
                          <a:ea typeface="Calibri"/>
                          <a:cs typeface="Times New Roman"/>
                        </a:rPr>
                        <a:t>16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marL="0" marR="0" algn="ctr">
                        <a:lnSpc>
                          <a:spcPct val="115000"/>
                        </a:lnSpc>
                        <a:spcBef>
                          <a:spcPts val="0"/>
                        </a:spcBef>
                        <a:spcAft>
                          <a:spcPts val="0"/>
                        </a:spcAft>
                      </a:pPr>
                      <a:r>
                        <a:rPr lang="en-US" sz="2400" b="1" dirty="0">
                          <a:effectLst>
                            <a:outerShdw blurRad="38100" dist="38100" dir="2700000" algn="tl">
                              <a:srgbClr val="000000">
                                <a:alpha val="43137"/>
                              </a:srgbClr>
                            </a:outerShdw>
                          </a:effectLst>
                          <a:latin typeface="Calibri"/>
                          <a:ea typeface="Calibri"/>
                          <a:cs typeface="Times New Roman"/>
                        </a:rPr>
                        <a:t>20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marL="0" marR="0" algn="ctr">
                        <a:lnSpc>
                          <a:spcPct val="115000"/>
                        </a:lnSpc>
                        <a:spcBef>
                          <a:spcPts val="0"/>
                        </a:spcBef>
                        <a:spcAft>
                          <a:spcPts val="0"/>
                        </a:spcAft>
                      </a:pPr>
                      <a:r>
                        <a:rPr lang="en-US" sz="2400" dirty="0">
                          <a:effectLst/>
                          <a:latin typeface="Calibri"/>
                          <a:ea typeface="Calibri"/>
                          <a:cs typeface="Times New Roman"/>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a:effectLst/>
                          <a:latin typeface="Calibri"/>
                          <a:ea typeface="Calibri"/>
                          <a:cs typeface="Times New Roman"/>
                        </a:rPr>
                        <a:t>+20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dirty="0">
                          <a:effectLst/>
                          <a:latin typeface="Calibri"/>
                          <a:ea typeface="Calibri"/>
                          <a:cs typeface="Times New Roman"/>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a:effectLst/>
                          <a:latin typeface="Calibri"/>
                          <a:ea typeface="Calibri"/>
                          <a:cs typeface="Times New Roman"/>
                        </a:rPr>
                        <a:t>20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01988">
                <a:tc>
                  <a:txBody>
                    <a:bodyPr/>
                    <a:lstStyle/>
                    <a:p>
                      <a:pPr marL="0" marR="0" algn="ctr">
                        <a:lnSpc>
                          <a:spcPct val="115000"/>
                        </a:lnSpc>
                        <a:spcBef>
                          <a:spcPts val="0"/>
                        </a:spcBef>
                        <a:spcAft>
                          <a:spcPts val="0"/>
                        </a:spcAft>
                      </a:pPr>
                      <a:r>
                        <a:rPr lang="en-US" sz="2400" b="1" dirty="0">
                          <a:effectLst>
                            <a:outerShdw blurRad="38100" dist="38100" dir="2700000" algn="tl">
                              <a:srgbClr val="000000">
                                <a:alpha val="43137"/>
                              </a:srgbClr>
                            </a:outerShdw>
                          </a:effectLst>
                          <a:latin typeface="Calibri"/>
                          <a:ea typeface="Calibri"/>
                          <a:cs typeface="Times New Roman"/>
                        </a:rPr>
                        <a:t>17</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marL="0" marR="0" algn="ctr">
                        <a:lnSpc>
                          <a:spcPct val="115000"/>
                        </a:lnSpc>
                        <a:spcBef>
                          <a:spcPts val="0"/>
                        </a:spcBef>
                        <a:spcAft>
                          <a:spcPts val="0"/>
                        </a:spcAft>
                      </a:pPr>
                      <a:r>
                        <a:rPr lang="en-US" sz="2400" b="1" dirty="0">
                          <a:effectLst>
                            <a:outerShdw blurRad="38100" dist="38100" dir="2700000" algn="tl">
                              <a:srgbClr val="000000">
                                <a:alpha val="43137"/>
                              </a:srgbClr>
                            </a:outerShdw>
                          </a:effectLst>
                          <a:latin typeface="Calibri"/>
                          <a:ea typeface="Calibri"/>
                          <a:cs typeface="Times New Roman"/>
                        </a:rPr>
                        <a:t>15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marL="0" marR="0" algn="ctr">
                        <a:lnSpc>
                          <a:spcPct val="115000"/>
                        </a:lnSpc>
                        <a:spcBef>
                          <a:spcPts val="0"/>
                        </a:spcBef>
                        <a:spcAft>
                          <a:spcPts val="0"/>
                        </a:spcAft>
                      </a:pPr>
                      <a:r>
                        <a:rPr lang="en-US" sz="2400" dirty="0">
                          <a:effectLst/>
                          <a:latin typeface="Calibri"/>
                          <a:ea typeface="Calibri"/>
                          <a:cs typeface="Times New Roman"/>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dirty="0">
                          <a:effectLst/>
                          <a:latin typeface="Calibri"/>
                          <a:ea typeface="Calibri"/>
                          <a:cs typeface="Times New Roman"/>
                        </a:rPr>
                        <a:t>+30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dirty="0">
                          <a:effectLst/>
                          <a:latin typeface="Calibri"/>
                          <a:ea typeface="Calibri"/>
                          <a:cs typeface="Times New Roman"/>
                        </a:rPr>
                        <a:t>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a:effectLst/>
                          <a:latin typeface="Calibri"/>
                          <a:ea typeface="Calibri"/>
                          <a:cs typeface="Times New Roman"/>
                        </a:rPr>
                        <a:t>60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01988">
                <a:tc>
                  <a:txBody>
                    <a:bodyPr/>
                    <a:lstStyle/>
                    <a:p>
                      <a:pPr marL="0" marR="0" algn="ctr">
                        <a:lnSpc>
                          <a:spcPct val="115000"/>
                        </a:lnSpc>
                        <a:spcBef>
                          <a:spcPts val="0"/>
                        </a:spcBef>
                        <a:spcAft>
                          <a:spcPts val="0"/>
                        </a:spcAft>
                      </a:pPr>
                      <a:r>
                        <a:rPr lang="en-US" sz="2400" b="1" dirty="0">
                          <a:effectLst>
                            <a:outerShdw blurRad="38100" dist="38100" dir="2700000" algn="tl">
                              <a:srgbClr val="000000">
                                <a:alpha val="43137"/>
                              </a:srgbClr>
                            </a:outerShdw>
                          </a:effectLst>
                          <a:latin typeface="Calibri"/>
                          <a:ea typeface="Calibri"/>
                          <a:cs typeface="Times New Roman"/>
                        </a:rPr>
                        <a:t>18</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marL="0" marR="0" algn="ctr">
                        <a:lnSpc>
                          <a:spcPct val="115000"/>
                        </a:lnSpc>
                        <a:spcBef>
                          <a:spcPts val="0"/>
                        </a:spcBef>
                        <a:spcAft>
                          <a:spcPts val="0"/>
                        </a:spcAft>
                      </a:pPr>
                      <a:r>
                        <a:rPr lang="en-US" sz="2400" b="1" dirty="0">
                          <a:effectLst>
                            <a:outerShdw blurRad="38100" dist="38100" dir="2700000" algn="tl">
                              <a:srgbClr val="000000">
                                <a:alpha val="43137"/>
                              </a:srgbClr>
                            </a:outerShdw>
                          </a:effectLst>
                          <a:latin typeface="Calibri"/>
                          <a:ea typeface="Calibri"/>
                          <a:cs typeface="Times New Roman"/>
                        </a:rPr>
                        <a:t>06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marL="0" marR="0" algn="ctr">
                        <a:lnSpc>
                          <a:spcPct val="115000"/>
                        </a:lnSpc>
                        <a:spcBef>
                          <a:spcPts val="0"/>
                        </a:spcBef>
                        <a:spcAft>
                          <a:spcPts val="0"/>
                        </a:spcAft>
                      </a:pPr>
                      <a:r>
                        <a:rPr lang="en-US" sz="2400">
                          <a:effectLst/>
                          <a:latin typeface="Calibri"/>
                          <a:ea typeface="Calibri"/>
                          <a:cs typeface="Times New Roman"/>
                        </a:rPr>
                        <a:t>+3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dirty="0">
                          <a:effectLst/>
                          <a:latin typeface="Calibri"/>
                          <a:ea typeface="Calibri"/>
                          <a:cs typeface="Times New Roman"/>
                        </a:rPr>
                        <a:t>+18</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dirty="0">
                          <a:effectLst/>
                          <a:latin typeface="Calibri"/>
                          <a:ea typeface="Calibri"/>
                          <a:cs typeface="Times New Roman"/>
                        </a:rPr>
                        <a:t>9</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dirty="0">
                          <a:effectLst/>
                          <a:latin typeface="Calibri"/>
                          <a:ea typeface="Calibri"/>
                          <a:cs typeface="Times New Roman"/>
                        </a:rPr>
                        <a:t>54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01988">
                <a:tc>
                  <a:txBody>
                    <a:bodyPr/>
                    <a:lstStyle/>
                    <a:p>
                      <a:pPr marL="0" marR="0" algn="ctr">
                        <a:lnSpc>
                          <a:spcPct val="115000"/>
                        </a:lnSpc>
                        <a:spcBef>
                          <a:spcPts val="0"/>
                        </a:spcBef>
                        <a:spcAft>
                          <a:spcPts val="0"/>
                        </a:spcAft>
                      </a:pPr>
                      <a:r>
                        <a:rPr lang="en-US" sz="2400" b="1" dirty="0">
                          <a:effectLst>
                            <a:outerShdw blurRad="38100" dist="38100" dir="2700000" algn="tl">
                              <a:srgbClr val="000000">
                                <a:alpha val="43137"/>
                              </a:srgbClr>
                            </a:outerShdw>
                          </a:effectLst>
                          <a:latin typeface="Calibri"/>
                          <a:ea typeface="Calibri"/>
                          <a:cs typeface="Times New Roman"/>
                        </a:rPr>
                        <a:t>19</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marL="0" marR="0" algn="ctr">
                        <a:lnSpc>
                          <a:spcPct val="115000"/>
                        </a:lnSpc>
                        <a:spcBef>
                          <a:spcPts val="0"/>
                        </a:spcBef>
                        <a:spcAft>
                          <a:spcPts val="0"/>
                        </a:spcAft>
                      </a:pPr>
                      <a:r>
                        <a:rPr lang="en-US" sz="2400" b="1" dirty="0">
                          <a:effectLst>
                            <a:outerShdw blurRad="38100" dist="38100" dir="2700000" algn="tl">
                              <a:srgbClr val="000000">
                                <a:alpha val="43137"/>
                              </a:srgbClr>
                            </a:outerShdw>
                          </a:effectLst>
                          <a:latin typeface="Calibri"/>
                          <a:ea typeface="Calibri"/>
                          <a:cs typeface="Times New Roman"/>
                        </a:rPr>
                        <a:t>02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75000"/>
                      </a:schemeClr>
                    </a:solidFill>
                  </a:tcPr>
                </a:tc>
                <a:tc>
                  <a:txBody>
                    <a:bodyPr/>
                    <a:lstStyle/>
                    <a:p>
                      <a:pPr marL="0" marR="0" algn="ctr">
                        <a:lnSpc>
                          <a:spcPct val="115000"/>
                        </a:lnSpc>
                        <a:spcBef>
                          <a:spcPts val="0"/>
                        </a:spcBef>
                        <a:spcAft>
                          <a:spcPts val="0"/>
                        </a:spcAft>
                      </a:pPr>
                      <a:r>
                        <a:rPr lang="en-US" sz="2400">
                          <a:effectLst/>
                          <a:latin typeface="Calibri"/>
                          <a:ea typeface="Calibri"/>
                          <a:cs typeface="Times New Roman"/>
                        </a:rPr>
                        <a:t>+4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dirty="0">
                          <a:effectLst/>
                          <a:latin typeface="Calibri"/>
                          <a:ea typeface="Calibri"/>
                          <a:cs typeface="Times New Roman"/>
                        </a:rPr>
                        <a:t>+08</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dirty="0">
                          <a:effectLst/>
                          <a:latin typeface="Calibri"/>
                          <a:ea typeface="Calibri"/>
                          <a:cs typeface="Times New Roman"/>
                        </a:rPr>
                        <a:t>16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dirty="0">
                          <a:effectLst/>
                          <a:latin typeface="Calibri"/>
                          <a:ea typeface="Calibri"/>
                          <a:cs typeface="Times New Roman"/>
                        </a:rPr>
                        <a:t>32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01988">
                <a:tc>
                  <a:txBody>
                    <a:bodyPr/>
                    <a:lstStyle/>
                    <a:p>
                      <a:pPr marL="0" marR="0" algn="ctr">
                        <a:lnSpc>
                          <a:spcPct val="115000"/>
                        </a:lnSpc>
                        <a:spcBef>
                          <a:spcPts val="0"/>
                        </a:spcBef>
                        <a:spcAft>
                          <a:spcPts val="0"/>
                        </a:spcAft>
                      </a:pPr>
                      <a:r>
                        <a:rPr lang="en-US" sz="2400" dirty="0">
                          <a:effectLst/>
                          <a:latin typeface="Calibri"/>
                          <a:ea typeface="Calibri"/>
                          <a:cs typeface="Times New Roman"/>
                        </a:rPr>
                        <a:t> </a:t>
                      </a:r>
                      <a:endParaRPr lang="en-US" sz="2400" dirty="0" smtClean="0">
                        <a:effectLst/>
                        <a:latin typeface="Calibri"/>
                        <a:ea typeface="Calibri"/>
                        <a:cs typeface="Times New Roman"/>
                      </a:endParaRPr>
                    </a:p>
                    <a:p>
                      <a:pPr marL="0" marR="0" algn="ctr">
                        <a:lnSpc>
                          <a:spcPct val="115000"/>
                        </a:lnSpc>
                        <a:spcBef>
                          <a:spcPts val="0"/>
                        </a:spcBef>
                        <a:spcAft>
                          <a:spcPts val="0"/>
                        </a:spcAft>
                      </a:pPr>
                      <a:r>
                        <a:rPr lang="en-US" sz="2400" b="1" dirty="0" smtClean="0">
                          <a:solidFill>
                            <a:srgbClr val="FF0000"/>
                          </a:solidFill>
                          <a:effectLst/>
                          <a:latin typeface="Calibri"/>
                          <a:ea typeface="Calibri"/>
                          <a:cs typeface="Times New Roman"/>
                        </a:rPr>
                        <a:t>124</a:t>
                      </a:r>
                      <a:endParaRPr lang="en-US" sz="2400" b="1" dirty="0">
                        <a:solidFill>
                          <a:srgbClr val="FF0000"/>
                        </a:solidFill>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2400" dirty="0" smtClean="0">
                        <a:effectLst/>
                        <a:latin typeface="Calibri"/>
                        <a:ea typeface="Calibri"/>
                        <a:cs typeface="Times New Roman"/>
                      </a:endParaRPr>
                    </a:p>
                    <a:p>
                      <a:pPr marL="0" marR="0" indent="0" algn="ctr" defTabSz="914400" rtl="0" eaLnBrk="1" fontAlgn="auto" latinLnBrk="0" hangingPunct="1">
                        <a:lnSpc>
                          <a:spcPct val="115000"/>
                        </a:lnSpc>
                        <a:spcBef>
                          <a:spcPts val="0"/>
                        </a:spcBef>
                        <a:spcAft>
                          <a:spcPts val="0"/>
                        </a:spcAft>
                        <a:buClrTx/>
                        <a:buSzTx/>
                        <a:buFontTx/>
                        <a:buNone/>
                        <a:tabLst/>
                        <a:defRPr/>
                      </a:pPr>
                      <a:r>
                        <a:rPr lang="en-US" sz="3200" b="1" dirty="0" smtClean="0">
                          <a:effectLst>
                            <a:outerShdw blurRad="38100" dist="38100" dir="2700000" algn="tl">
                              <a:srgbClr val="000000">
                                <a:alpha val="43137"/>
                              </a:srgbClr>
                            </a:outerShdw>
                          </a:effectLst>
                        </a:rPr>
                        <a:t>∑</a:t>
                      </a:r>
                      <a:r>
                        <a:rPr lang="en-US" sz="4000" b="1" baseline="-25000" dirty="0" smtClean="0">
                          <a:effectLst>
                            <a:outerShdw blurRad="38100" dist="38100" dir="2700000" algn="tl">
                              <a:srgbClr val="000000">
                                <a:alpha val="43137"/>
                              </a:srgbClr>
                            </a:outerShdw>
                          </a:effectLst>
                        </a:rPr>
                        <a:t>f</a:t>
                      </a:r>
                      <a:r>
                        <a:rPr lang="en-US" sz="3200" b="1" dirty="0" smtClean="0">
                          <a:effectLst>
                            <a:outerShdw blurRad="38100" dist="38100" dir="2700000" algn="tl">
                              <a:srgbClr val="000000">
                                <a:alpha val="43137"/>
                              </a:srgbClr>
                            </a:outerShdw>
                          </a:effectLst>
                        </a:rPr>
                        <a:t> </a:t>
                      </a:r>
                      <a:r>
                        <a:rPr lang="en-US" sz="2400" b="1" dirty="0" smtClean="0">
                          <a:effectLst/>
                        </a:rPr>
                        <a:t>= 60</a:t>
                      </a:r>
                      <a:endParaRPr lang="en-US" sz="2400" b="1" dirty="0" smtClean="0">
                        <a:effectLst/>
                        <a:latin typeface="+mn-lt"/>
                        <a:ea typeface="Calibri"/>
                        <a:cs typeface="Times New Roman"/>
                      </a:endParaRPr>
                    </a:p>
                    <a:p>
                      <a:pPr marL="0" marR="0" algn="ctr">
                        <a:lnSpc>
                          <a:spcPct val="115000"/>
                        </a:lnSpc>
                        <a:spcBef>
                          <a:spcPts val="0"/>
                        </a:spcBef>
                        <a:spcAft>
                          <a:spcPts val="0"/>
                        </a:spcAft>
                      </a:pPr>
                      <a:r>
                        <a:rPr lang="en-US" sz="2400" dirty="0">
                          <a:effectLst/>
                          <a:latin typeface="Calibri"/>
                          <a:ea typeface="Calibri"/>
                          <a:cs typeface="Times New Roman"/>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a:effectLst/>
                          <a:latin typeface="Calibri"/>
                          <a:ea typeface="Calibri"/>
                          <a:cs typeface="Times New Roman"/>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dirty="0">
                          <a:effectLst/>
                          <a:latin typeface="Calibri"/>
                          <a:ea typeface="Calibri"/>
                          <a:cs typeface="Times New Roman"/>
                        </a:rPr>
                        <a:t>∑</a:t>
                      </a:r>
                      <a:r>
                        <a:rPr lang="en-US" sz="3200" baseline="-25000" dirty="0" err="1" smtClean="0">
                          <a:effectLst/>
                          <a:latin typeface="Times New Roman"/>
                          <a:ea typeface="Calibri"/>
                          <a:cs typeface="Times New Roman"/>
                        </a:rPr>
                        <a:t>f.d</a:t>
                      </a:r>
                      <a:r>
                        <a:rPr lang="en-US" sz="2400" dirty="0" smtClean="0">
                          <a:effectLst/>
                          <a:latin typeface="Calibri"/>
                          <a:ea typeface="Calibri"/>
                          <a:cs typeface="Times New Roman"/>
                        </a:rPr>
                        <a:t>  </a:t>
                      </a:r>
                      <a:r>
                        <a:rPr lang="en-US" sz="2400" dirty="0">
                          <a:effectLst/>
                          <a:latin typeface="Calibri"/>
                          <a:ea typeface="Calibri"/>
                          <a:cs typeface="Times New Roman"/>
                        </a:rPr>
                        <a:t>= </a:t>
                      </a:r>
                      <a:r>
                        <a:rPr lang="en-US" sz="2400" dirty="0">
                          <a:solidFill>
                            <a:srgbClr val="FF0000"/>
                          </a:solidFill>
                          <a:effectLst>
                            <a:outerShdw blurRad="38100" dist="38100" dir="2700000" algn="tl">
                              <a:srgbClr val="000000">
                                <a:alpha val="43137"/>
                              </a:srgbClr>
                            </a:outerShdw>
                          </a:effectLst>
                          <a:latin typeface="Calibri"/>
                          <a:ea typeface="Calibri"/>
                          <a:cs typeface="Times New Roman"/>
                        </a:rPr>
                        <a:t>69</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dirty="0">
                          <a:effectLst/>
                          <a:latin typeface="Calibri"/>
                          <a:ea typeface="Calibri"/>
                          <a:cs typeface="Times New Roman"/>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dirty="0">
                          <a:effectLst/>
                          <a:latin typeface="Calibri"/>
                          <a:ea typeface="Calibri"/>
                          <a:cs typeface="Times New Roman"/>
                        </a:rPr>
                        <a:t>∑</a:t>
                      </a:r>
                      <a:r>
                        <a:rPr lang="en-US" sz="3200" baseline="-25000" dirty="0" smtClean="0">
                          <a:effectLst/>
                          <a:latin typeface="Times New Roman"/>
                          <a:ea typeface="Calibri"/>
                          <a:cs typeface="Times New Roman"/>
                        </a:rPr>
                        <a:t>f.d</a:t>
                      </a:r>
                      <a:r>
                        <a:rPr lang="en-US" sz="3200" baseline="30000" dirty="0" smtClean="0">
                          <a:effectLst/>
                          <a:latin typeface="Times New Roman"/>
                          <a:ea typeface="Calibri"/>
                          <a:cs typeface="Times New Roman"/>
                        </a:rPr>
                        <a:t>2</a:t>
                      </a:r>
                      <a:r>
                        <a:rPr lang="en-US" sz="2400" dirty="0" smtClean="0">
                          <a:effectLst/>
                          <a:latin typeface="Calibri"/>
                          <a:ea typeface="Calibri"/>
                          <a:cs typeface="Times New Roman"/>
                        </a:rPr>
                        <a:t>  </a:t>
                      </a:r>
                      <a:r>
                        <a:rPr lang="en-US" sz="2400" dirty="0">
                          <a:effectLst/>
                          <a:latin typeface="Calibri"/>
                          <a:ea typeface="Calibri"/>
                          <a:cs typeface="Times New Roman"/>
                        </a:rPr>
                        <a:t>= </a:t>
                      </a:r>
                      <a:r>
                        <a:rPr lang="en-US" sz="2400" dirty="0">
                          <a:solidFill>
                            <a:srgbClr val="FF0000"/>
                          </a:solidFill>
                          <a:effectLst>
                            <a:outerShdw blurRad="38100" dist="38100" dir="2700000" algn="tl">
                              <a:srgbClr val="000000">
                                <a:alpha val="43137"/>
                              </a:srgbClr>
                            </a:outerShdw>
                          </a:effectLst>
                          <a:latin typeface="Calibri"/>
                          <a:ea typeface="Calibri"/>
                          <a:cs typeface="Times New Roman"/>
                        </a:rPr>
                        <a:t>179</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pic>
        <p:nvPicPr>
          <p:cNvPr id="5"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4800" y="685800"/>
            <a:ext cx="28194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2"/>
          <p:cNvPicPr>
            <a:picLocks noChangeAspect="1" noChangeArrowheads="1"/>
          </p:cNvPicPr>
          <p:nvPr/>
        </p:nvPicPr>
        <p:blipFill>
          <a:blip r:embed="rId3" cstate="print"/>
          <a:srcRect/>
          <a:stretch>
            <a:fillRect/>
          </a:stretch>
        </p:blipFill>
        <p:spPr bwMode="auto">
          <a:xfrm>
            <a:off x="4800600" y="457200"/>
            <a:ext cx="3686175" cy="1143000"/>
          </a:xfrm>
          <a:prstGeom prst="rect">
            <a:avLst/>
          </a:prstGeom>
          <a:noFill/>
          <a:ln w="9525">
            <a:noFill/>
            <a:miter lim="800000"/>
            <a:headEnd/>
            <a:tailEnd/>
          </a:ln>
          <a:effectLst/>
        </p:spPr>
      </p:pic>
    </p:spTree>
    <p:extLst>
      <p:ext uri="{BB962C8B-B14F-4D97-AF65-F5344CB8AC3E}">
        <p14:creationId xmlns:p14="http://schemas.microsoft.com/office/powerpoint/2010/main" val="4221174602"/>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457200" y="1828800"/>
            <a:ext cx="26670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2"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400" y="3886200"/>
            <a:ext cx="3657600" cy="1099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22" name="Picture 2"/>
          <p:cNvPicPr>
            <a:picLocks noChangeAspect="1" noChangeArrowheads="1"/>
          </p:cNvPicPr>
          <p:nvPr/>
        </p:nvPicPr>
        <p:blipFill>
          <a:blip r:embed="rId4" cstate="print"/>
          <a:srcRect/>
          <a:stretch>
            <a:fillRect/>
          </a:stretch>
        </p:blipFill>
        <p:spPr bwMode="auto">
          <a:xfrm>
            <a:off x="4876800" y="1905000"/>
            <a:ext cx="3686175" cy="1447800"/>
          </a:xfrm>
          <a:prstGeom prst="rect">
            <a:avLst/>
          </a:prstGeom>
          <a:noFill/>
          <a:ln w="9525">
            <a:noFill/>
            <a:miter lim="800000"/>
            <a:headEnd/>
            <a:tailEnd/>
          </a:ln>
          <a:effectLst/>
        </p:spPr>
      </p:pic>
      <p:pic>
        <p:nvPicPr>
          <p:cNvPr id="89090" name="Picture 2"/>
          <p:cNvPicPr>
            <a:picLocks noChangeAspect="1" noChangeArrowheads="1"/>
          </p:cNvPicPr>
          <p:nvPr/>
        </p:nvPicPr>
        <p:blipFill>
          <a:blip r:embed="rId5"/>
          <a:srcRect/>
          <a:stretch>
            <a:fillRect/>
          </a:stretch>
        </p:blipFill>
        <p:spPr bwMode="auto">
          <a:xfrm>
            <a:off x="4857750" y="3886200"/>
            <a:ext cx="4286250" cy="1343025"/>
          </a:xfrm>
          <a:prstGeom prst="rect">
            <a:avLst/>
          </a:prstGeom>
          <a:noFill/>
          <a:ln w="9525">
            <a:noFill/>
            <a:miter lim="800000"/>
            <a:headEnd/>
            <a:tailEnd/>
          </a:ln>
          <a:effectLst/>
        </p:spPr>
      </p:pic>
    </p:spTree>
    <p:extLst>
      <p:ext uri="{BB962C8B-B14F-4D97-AF65-F5344CB8AC3E}">
        <p14:creationId xmlns:p14="http://schemas.microsoft.com/office/powerpoint/2010/main" val="4186755578"/>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lstStyle/>
          <a:p>
            <a:r>
              <a:rPr lang="en-US" b="1" dirty="0">
                <a:solidFill>
                  <a:srgbClr val="FF0000"/>
                </a:solidFill>
                <a:effectLst>
                  <a:outerShdw blurRad="38100" dist="38100" dir="2700000" algn="tl">
                    <a:srgbClr val="000000">
                      <a:alpha val="43137"/>
                    </a:srgbClr>
                  </a:outerShdw>
                </a:effectLst>
              </a:rPr>
              <a:t>CONTINUOUS </a:t>
            </a:r>
            <a:r>
              <a:rPr lang="en-US" b="1" dirty="0" smtClean="0">
                <a:solidFill>
                  <a:srgbClr val="FF0000"/>
                </a:solidFill>
                <a:effectLst>
                  <a:outerShdw blurRad="38100" dist="38100" dir="2700000" algn="tl">
                    <a:srgbClr val="000000">
                      <a:alpha val="43137"/>
                    </a:srgbClr>
                  </a:outerShdw>
                </a:effectLst>
              </a:rPr>
              <a:t>SERIES  GROUPED DATA </a:t>
            </a:r>
            <a:endParaRPr lang="en-US" b="1" dirty="0">
              <a:solidFill>
                <a:srgbClr val="FF0000"/>
              </a:solidFill>
              <a:effectLst>
                <a:outerShdw blurRad="38100" dist="38100" dir="2700000" algn="tl">
                  <a:srgbClr val="000000">
                    <a:alpha val="43137"/>
                  </a:srgbClr>
                </a:outerShdw>
              </a:effectLst>
            </a:endParaRPr>
          </a:p>
          <a:p>
            <a:endParaRPr lang="en-US" dirty="0"/>
          </a:p>
        </p:txBody>
      </p:sp>
      <p:pic>
        <p:nvPicPr>
          <p:cNvPr id="33794" name="Picture 2"/>
          <p:cNvPicPr>
            <a:picLocks noChangeAspect="1" noChangeArrowheads="1"/>
          </p:cNvPicPr>
          <p:nvPr/>
        </p:nvPicPr>
        <p:blipFill>
          <a:blip r:embed="rId2" cstate="print"/>
          <a:srcRect/>
          <a:stretch>
            <a:fillRect/>
          </a:stretch>
        </p:blipFill>
        <p:spPr bwMode="auto">
          <a:xfrm>
            <a:off x="2057400" y="1524000"/>
            <a:ext cx="4229100" cy="1400175"/>
          </a:xfrm>
          <a:prstGeom prst="rect">
            <a:avLst/>
          </a:prstGeom>
          <a:noFill/>
          <a:ln w="9525">
            <a:noFill/>
            <a:miter lim="800000"/>
            <a:headEnd/>
            <a:tailEnd/>
          </a:ln>
          <a:effectLst/>
        </p:spPr>
      </p:pic>
      <p:pic>
        <p:nvPicPr>
          <p:cNvPr id="31746" name="Picture 2"/>
          <p:cNvPicPr>
            <a:picLocks noChangeAspect="1" noChangeArrowheads="1"/>
          </p:cNvPicPr>
          <p:nvPr/>
        </p:nvPicPr>
        <p:blipFill>
          <a:blip r:embed="rId3" cstate="print"/>
          <a:srcRect/>
          <a:stretch>
            <a:fillRect/>
          </a:stretch>
        </p:blipFill>
        <p:spPr bwMode="auto">
          <a:xfrm>
            <a:off x="2286000" y="3962400"/>
            <a:ext cx="4533900" cy="1600200"/>
          </a:xfrm>
          <a:prstGeom prst="rect">
            <a:avLst/>
          </a:prstGeom>
          <a:noFill/>
          <a:ln w="9525">
            <a:noFill/>
            <a:miter lim="800000"/>
            <a:headEnd/>
            <a:tailEnd/>
          </a:ln>
          <a:effectLst/>
        </p:spPr>
      </p:pic>
    </p:spTree>
    <p:extLst>
      <p:ext uri="{BB962C8B-B14F-4D97-AF65-F5344CB8AC3E}">
        <p14:creationId xmlns:p14="http://schemas.microsoft.com/office/powerpoint/2010/main" val="2218347342"/>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lstStyle/>
          <a:p>
            <a:r>
              <a:rPr lang="en-US" sz="2000" dirty="0" smtClean="0"/>
              <a:t>CONTINUOUS SERIES</a:t>
            </a:r>
          </a:p>
          <a:p>
            <a:pPr>
              <a:buNone/>
            </a:pP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19530780"/>
              </p:ext>
            </p:extLst>
          </p:nvPr>
        </p:nvGraphicFramePr>
        <p:xfrm>
          <a:off x="76197" y="1447798"/>
          <a:ext cx="9067803" cy="5410202"/>
        </p:xfrm>
        <a:graphic>
          <a:graphicData uri="http://schemas.openxmlformats.org/drawingml/2006/table">
            <a:tbl>
              <a:tblPr firstRow="1" firstCol="1" bandRow="1">
                <a:tableStyleId>{5C22544A-7EE6-4342-B048-85BDC9FD1C3A}</a:tableStyleId>
              </a:tblPr>
              <a:tblGrid>
                <a:gridCol w="1162707"/>
                <a:gridCol w="1315694"/>
                <a:gridCol w="1253781"/>
                <a:gridCol w="1752600"/>
                <a:gridCol w="753840"/>
                <a:gridCol w="1255592"/>
                <a:gridCol w="1573589"/>
              </a:tblGrid>
              <a:tr h="571677">
                <a:tc>
                  <a:txBody>
                    <a:bodyPr/>
                    <a:lstStyle/>
                    <a:p>
                      <a:pPr marL="0" marR="0" algn="ctr">
                        <a:lnSpc>
                          <a:spcPct val="115000"/>
                        </a:lnSpc>
                        <a:spcBef>
                          <a:spcPts val="0"/>
                        </a:spcBef>
                        <a:spcAft>
                          <a:spcPts val="0"/>
                        </a:spcAft>
                      </a:pPr>
                      <a:r>
                        <a:rPr lang="en-US" sz="2800" dirty="0">
                          <a:effectLst/>
                        </a:rPr>
                        <a:t>x</a:t>
                      </a:r>
                      <a:endParaRPr lang="en-US" sz="1600" dirty="0">
                        <a:effectLst/>
                        <a:latin typeface="Calibri"/>
                        <a:ea typeface="Calibri"/>
                        <a:cs typeface="Times New Roman"/>
                      </a:endParaRPr>
                    </a:p>
                  </a:txBody>
                  <a:tcPr marL="68580" marR="68580" marT="0" marB="0">
                    <a:solidFill>
                      <a:schemeClr val="bg2">
                        <a:lumMod val="25000"/>
                      </a:schemeClr>
                    </a:solidFill>
                  </a:tcPr>
                </a:tc>
                <a:tc>
                  <a:txBody>
                    <a:bodyPr/>
                    <a:lstStyle/>
                    <a:p>
                      <a:pPr marL="0" marR="0" algn="ctr">
                        <a:lnSpc>
                          <a:spcPct val="115000"/>
                        </a:lnSpc>
                        <a:spcBef>
                          <a:spcPts val="0"/>
                        </a:spcBef>
                        <a:spcAft>
                          <a:spcPts val="0"/>
                        </a:spcAft>
                      </a:pPr>
                      <a:r>
                        <a:rPr lang="en-US" sz="2800" dirty="0">
                          <a:solidFill>
                            <a:srgbClr val="FFFF00"/>
                          </a:solidFill>
                          <a:effectLst/>
                        </a:rPr>
                        <a:t>f</a:t>
                      </a:r>
                      <a:endParaRPr lang="en-US" sz="1600" dirty="0">
                        <a:solidFill>
                          <a:srgbClr val="FFFF00"/>
                        </a:solidFill>
                        <a:effectLst/>
                        <a:latin typeface="Calibri"/>
                        <a:ea typeface="Calibri"/>
                        <a:cs typeface="Times New Roman"/>
                      </a:endParaRPr>
                    </a:p>
                  </a:txBody>
                  <a:tcPr marL="68580" marR="68580" marT="0" marB="0">
                    <a:solidFill>
                      <a:schemeClr val="bg2">
                        <a:lumMod val="25000"/>
                      </a:schemeClr>
                    </a:solidFill>
                  </a:tcPr>
                </a:tc>
                <a:tc>
                  <a:txBody>
                    <a:bodyPr/>
                    <a:lstStyle/>
                    <a:p>
                      <a:pPr marL="0" marR="0" algn="ctr">
                        <a:lnSpc>
                          <a:spcPct val="115000"/>
                        </a:lnSpc>
                        <a:spcBef>
                          <a:spcPts val="0"/>
                        </a:spcBef>
                        <a:spcAft>
                          <a:spcPts val="0"/>
                        </a:spcAft>
                      </a:pPr>
                      <a:r>
                        <a:rPr lang="en-US" sz="2800" dirty="0" smtClean="0">
                          <a:effectLst/>
                        </a:rPr>
                        <a:t>mi</a:t>
                      </a:r>
                      <a:endParaRPr lang="en-US" sz="1600" dirty="0">
                        <a:effectLst/>
                        <a:latin typeface="Calibri"/>
                        <a:ea typeface="Calibri"/>
                        <a:cs typeface="Times New Roman"/>
                      </a:endParaRPr>
                    </a:p>
                  </a:txBody>
                  <a:tcPr marL="68580" marR="68580" marT="0" marB="0"/>
                </a:tc>
                <a:tc>
                  <a:txBody>
                    <a:bodyPr/>
                    <a:lstStyle/>
                    <a:p>
                      <a:pPr marL="0" marR="0" algn="ctr">
                        <a:lnSpc>
                          <a:spcPct val="115000"/>
                        </a:lnSpc>
                        <a:spcBef>
                          <a:spcPts val="0"/>
                        </a:spcBef>
                        <a:spcAft>
                          <a:spcPts val="0"/>
                        </a:spcAft>
                      </a:pPr>
                      <a:r>
                        <a:rPr lang="en-US" sz="2000" dirty="0" smtClean="0">
                          <a:solidFill>
                            <a:srgbClr val="FFFF00"/>
                          </a:solidFill>
                          <a:effectLst/>
                        </a:rPr>
                        <a:t>d </a:t>
                      </a:r>
                      <a:r>
                        <a:rPr lang="en-US" sz="2000" dirty="0">
                          <a:solidFill>
                            <a:srgbClr val="FFFF00"/>
                          </a:solidFill>
                          <a:effectLst/>
                        </a:rPr>
                        <a:t>= mi </a:t>
                      </a:r>
                      <a:r>
                        <a:rPr lang="en-US" sz="2000" dirty="0" smtClean="0">
                          <a:solidFill>
                            <a:srgbClr val="FFFF00"/>
                          </a:solidFill>
                          <a:effectLst/>
                        </a:rPr>
                        <a:t>– A </a:t>
                      </a:r>
                      <a:r>
                        <a:rPr lang="en-US" sz="2000" dirty="0">
                          <a:solidFill>
                            <a:srgbClr val="FFFF00"/>
                          </a:solidFill>
                          <a:effectLst/>
                        </a:rPr>
                        <a:t>/ 2</a:t>
                      </a:r>
                      <a:endParaRPr lang="en-US" sz="1600" dirty="0">
                        <a:solidFill>
                          <a:srgbClr val="FFFF00"/>
                        </a:solidFill>
                        <a:effectLst/>
                        <a:latin typeface="Calibri"/>
                        <a:ea typeface="Calibri"/>
                        <a:cs typeface="Times New Roman"/>
                      </a:endParaRPr>
                    </a:p>
                  </a:txBody>
                  <a:tcPr marL="68580" marR="68580" marT="0" marB="0"/>
                </a:tc>
                <a:tc>
                  <a:txBody>
                    <a:bodyPr/>
                    <a:lstStyle/>
                    <a:p>
                      <a:pPr marL="0" marR="0" algn="ctr">
                        <a:lnSpc>
                          <a:spcPct val="115000"/>
                        </a:lnSpc>
                        <a:spcBef>
                          <a:spcPts val="0"/>
                        </a:spcBef>
                        <a:spcAft>
                          <a:spcPts val="0"/>
                        </a:spcAft>
                      </a:pPr>
                      <a:r>
                        <a:rPr lang="en-US" sz="2800" dirty="0" err="1" smtClean="0">
                          <a:solidFill>
                            <a:srgbClr val="FFFF00"/>
                          </a:solidFill>
                          <a:effectLst/>
                        </a:rPr>
                        <a:t>f</a:t>
                      </a:r>
                      <a:r>
                        <a:rPr lang="en-US" sz="2800" dirty="0" err="1" smtClean="0">
                          <a:effectLst/>
                        </a:rPr>
                        <a:t>.d</a:t>
                      </a:r>
                      <a:endParaRPr lang="en-US" sz="1600" dirty="0">
                        <a:effectLst/>
                        <a:latin typeface="Calibri"/>
                        <a:ea typeface="Calibri"/>
                        <a:cs typeface="Times New Roman"/>
                      </a:endParaRPr>
                    </a:p>
                  </a:txBody>
                  <a:tcPr marL="68580" marR="68580" marT="0" marB="0"/>
                </a:tc>
                <a:tc>
                  <a:txBody>
                    <a:bodyPr/>
                    <a:lstStyle/>
                    <a:p>
                      <a:pPr marL="0" marR="0" algn="ctr">
                        <a:lnSpc>
                          <a:spcPct val="115000"/>
                        </a:lnSpc>
                        <a:spcBef>
                          <a:spcPts val="0"/>
                        </a:spcBef>
                        <a:spcAft>
                          <a:spcPts val="0"/>
                        </a:spcAft>
                      </a:pPr>
                      <a:r>
                        <a:rPr lang="en-US" sz="2800" dirty="0" smtClean="0">
                          <a:solidFill>
                            <a:srgbClr val="FFC000"/>
                          </a:solidFill>
                          <a:effectLst/>
                        </a:rPr>
                        <a:t>d</a:t>
                      </a:r>
                      <a:r>
                        <a:rPr lang="en-US" sz="2800" baseline="30000" dirty="0" smtClean="0">
                          <a:solidFill>
                            <a:srgbClr val="FFC000"/>
                          </a:solidFill>
                          <a:effectLst/>
                        </a:rPr>
                        <a:t>2</a:t>
                      </a:r>
                      <a:endParaRPr lang="en-US" sz="1600" dirty="0">
                        <a:solidFill>
                          <a:srgbClr val="FFC000"/>
                        </a:solidFill>
                        <a:effectLst/>
                        <a:latin typeface="Calibri"/>
                        <a:ea typeface="Calibri"/>
                        <a:cs typeface="Times New Roman"/>
                      </a:endParaRPr>
                    </a:p>
                  </a:txBody>
                  <a:tcPr marL="68580" marR="68580" marT="0" marB="0"/>
                </a:tc>
                <a:tc>
                  <a:txBody>
                    <a:bodyPr/>
                    <a:lstStyle/>
                    <a:p>
                      <a:pPr marL="0" marR="0" algn="ctr">
                        <a:lnSpc>
                          <a:spcPct val="115000"/>
                        </a:lnSpc>
                        <a:spcBef>
                          <a:spcPts val="0"/>
                        </a:spcBef>
                        <a:spcAft>
                          <a:spcPts val="0"/>
                        </a:spcAft>
                      </a:pPr>
                      <a:r>
                        <a:rPr lang="en-US" sz="2800" dirty="0">
                          <a:solidFill>
                            <a:srgbClr val="FFFF00"/>
                          </a:solidFill>
                          <a:effectLst/>
                        </a:rPr>
                        <a:t>f.</a:t>
                      </a:r>
                      <a:r>
                        <a:rPr lang="en-US" sz="2800" dirty="0">
                          <a:solidFill>
                            <a:schemeClr val="accent2"/>
                          </a:solidFill>
                          <a:effectLst/>
                        </a:rPr>
                        <a:t> </a:t>
                      </a:r>
                      <a:r>
                        <a:rPr lang="en-US" sz="2800" dirty="0" smtClean="0">
                          <a:solidFill>
                            <a:srgbClr val="FFC000"/>
                          </a:solidFill>
                          <a:effectLst/>
                        </a:rPr>
                        <a:t>d</a:t>
                      </a:r>
                      <a:r>
                        <a:rPr lang="en-US" sz="2800" baseline="30000" dirty="0" smtClean="0">
                          <a:solidFill>
                            <a:srgbClr val="FFC000"/>
                          </a:solidFill>
                          <a:effectLst/>
                        </a:rPr>
                        <a:t>2</a:t>
                      </a:r>
                      <a:endParaRPr lang="en-US" sz="1600" dirty="0">
                        <a:solidFill>
                          <a:srgbClr val="FFC000"/>
                        </a:solidFill>
                        <a:effectLst/>
                        <a:latin typeface="Calibri"/>
                        <a:ea typeface="Calibri"/>
                        <a:cs typeface="Times New Roman"/>
                      </a:endParaRPr>
                    </a:p>
                  </a:txBody>
                  <a:tcPr marL="68580" marR="68580" marT="0" marB="0"/>
                </a:tc>
              </a:tr>
              <a:tr h="571677">
                <a:tc>
                  <a:txBody>
                    <a:bodyPr/>
                    <a:lstStyle/>
                    <a:p>
                      <a:pPr marL="0" marR="0" algn="ctr">
                        <a:lnSpc>
                          <a:spcPct val="115000"/>
                        </a:lnSpc>
                        <a:spcBef>
                          <a:spcPts val="0"/>
                        </a:spcBef>
                        <a:spcAft>
                          <a:spcPts val="0"/>
                        </a:spcAft>
                      </a:pPr>
                      <a:r>
                        <a:rPr lang="en-US" sz="2400">
                          <a:effectLst/>
                        </a:rPr>
                        <a:t>78-80</a:t>
                      </a:r>
                      <a:endParaRPr lang="en-US" sz="1600">
                        <a:effectLst/>
                        <a:latin typeface="Calibri"/>
                        <a:ea typeface="Calibri"/>
                        <a:cs typeface="Times New Roman"/>
                      </a:endParaRPr>
                    </a:p>
                  </a:txBody>
                  <a:tcPr marL="68580" marR="68580" marT="0" marB="0">
                    <a:solidFill>
                      <a:schemeClr val="bg2">
                        <a:lumMod val="25000"/>
                      </a:schemeClr>
                    </a:solidFill>
                  </a:tcPr>
                </a:tc>
                <a:tc>
                  <a:txBody>
                    <a:bodyPr/>
                    <a:lstStyle/>
                    <a:p>
                      <a:pPr marL="0" marR="0" algn="ctr">
                        <a:lnSpc>
                          <a:spcPct val="115000"/>
                        </a:lnSpc>
                        <a:spcBef>
                          <a:spcPts val="0"/>
                        </a:spcBef>
                        <a:spcAft>
                          <a:spcPts val="0"/>
                        </a:spcAft>
                      </a:pPr>
                      <a:r>
                        <a:rPr lang="en-US" sz="2400" b="1" dirty="0">
                          <a:solidFill>
                            <a:schemeClr val="bg1"/>
                          </a:solidFill>
                          <a:effectLst/>
                        </a:rPr>
                        <a:t>03</a:t>
                      </a:r>
                      <a:endParaRPr lang="en-US" sz="1600" b="1" dirty="0">
                        <a:solidFill>
                          <a:schemeClr val="bg1"/>
                        </a:solidFill>
                        <a:effectLst/>
                        <a:latin typeface="Calibri"/>
                        <a:ea typeface="Calibri"/>
                        <a:cs typeface="Times New Roman"/>
                      </a:endParaRPr>
                    </a:p>
                  </a:txBody>
                  <a:tcPr marL="68580" marR="68580" marT="0" marB="0">
                    <a:solidFill>
                      <a:schemeClr val="bg2">
                        <a:lumMod val="25000"/>
                      </a:schemeClr>
                    </a:solidFill>
                  </a:tcPr>
                </a:tc>
                <a:tc>
                  <a:txBody>
                    <a:bodyPr/>
                    <a:lstStyle/>
                    <a:p>
                      <a:pPr marL="0" marR="0" algn="ctr">
                        <a:lnSpc>
                          <a:spcPct val="115000"/>
                        </a:lnSpc>
                        <a:spcBef>
                          <a:spcPts val="0"/>
                        </a:spcBef>
                        <a:spcAft>
                          <a:spcPts val="0"/>
                        </a:spcAft>
                      </a:pPr>
                      <a:r>
                        <a:rPr lang="en-US" sz="2400" dirty="0">
                          <a:effectLst/>
                        </a:rPr>
                        <a:t>79</a:t>
                      </a:r>
                      <a:endParaRPr lang="en-US" sz="1600" dirty="0">
                        <a:effectLst/>
                        <a:latin typeface="Calibri"/>
                        <a:ea typeface="Calibri"/>
                        <a:cs typeface="Times New Roman"/>
                      </a:endParaRPr>
                    </a:p>
                  </a:txBody>
                  <a:tcPr marL="68580" marR="68580" marT="0" marB="0"/>
                </a:tc>
                <a:tc>
                  <a:txBody>
                    <a:bodyPr/>
                    <a:lstStyle/>
                    <a:p>
                      <a:pPr marL="0" marR="0" algn="ctr">
                        <a:lnSpc>
                          <a:spcPct val="115000"/>
                        </a:lnSpc>
                        <a:spcBef>
                          <a:spcPts val="0"/>
                        </a:spcBef>
                        <a:spcAft>
                          <a:spcPts val="0"/>
                        </a:spcAft>
                      </a:pPr>
                      <a:r>
                        <a:rPr lang="en-US" sz="2400" dirty="0">
                          <a:effectLst/>
                        </a:rPr>
                        <a:t>-02</a:t>
                      </a:r>
                      <a:endParaRPr lang="en-US" sz="16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800">
                          <a:effectLst/>
                        </a:rPr>
                        <a:t>-06</a:t>
                      </a:r>
                      <a:endParaRPr lang="en-US" sz="1600">
                        <a:effectLst/>
                        <a:latin typeface="Calibri"/>
                        <a:ea typeface="Calibri"/>
                        <a:cs typeface="Times New Roman"/>
                      </a:endParaRPr>
                    </a:p>
                  </a:txBody>
                  <a:tcPr marL="68580" marR="68580" marT="0" marB="0"/>
                </a:tc>
                <a:tc>
                  <a:txBody>
                    <a:bodyPr/>
                    <a:lstStyle/>
                    <a:p>
                      <a:pPr marL="0" marR="0" algn="ctr">
                        <a:lnSpc>
                          <a:spcPct val="115000"/>
                        </a:lnSpc>
                        <a:spcBef>
                          <a:spcPts val="0"/>
                        </a:spcBef>
                        <a:spcAft>
                          <a:spcPts val="0"/>
                        </a:spcAft>
                      </a:pPr>
                      <a:r>
                        <a:rPr lang="en-US" sz="2800" dirty="0">
                          <a:effectLst/>
                        </a:rPr>
                        <a:t>4</a:t>
                      </a:r>
                      <a:endParaRPr lang="en-US" sz="1600" dirty="0">
                        <a:effectLst/>
                        <a:latin typeface="Calibri"/>
                        <a:ea typeface="Calibri"/>
                        <a:cs typeface="Times New Roman"/>
                      </a:endParaRPr>
                    </a:p>
                  </a:txBody>
                  <a:tcPr marL="68580" marR="68580" marT="0" marB="0"/>
                </a:tc>
                <a:tc>
                  <a:txBody>
                    <a:bodyPr/>
                    <a:lstStyle/>
                    <a:p>
                      <a:pPr marL="0" marR="0" algn="ctr">
                        <a:lnSpc>
                          <a:spcPct val="115000"/>
                        </a:lnSpc>
                        <a:spcBef>
                          <a:spcPts val="0"/>
                        </a:spcBef>
                        <a:spcAft>
                          <a:spcPts val="0"/>
                        </a:spcAft>
                      </a:pPr>
                      <a:r>
                        <a:rPr lang="en-US" sz="2800" dirty="0">
                          <a:effectLst/>
                        </a:rPr>
                        <a:t>12</a:t>
                      </a:r>
                      <a:endParaRPr lang="en-US" sz="1600" dirty="0">
                        <a:effectLst/>
                        <a:latin typeface="Calibri"/>
                        <a:ea typeface="Calibri"/>
                        <a:cs typeface="Times New Roman"/>
                      </a:endParaRPr>
                    </a:p>
                  </a:txBody>
                  <a:tcPr marL="68580" marR="68580" marT="0" marB="0"/>
                </a:tc>
              </a:tr>
              <a:tr h="571677">
                <a:tc>
                  <a:txBody>
                    <a:bodyPr/>
                    <a:lstStyle/>
                    <a:p>
                      <a:pPr marL="0" marR="0" algn="ctr">
                        <a:lnSpc>
                          <a:spcPct val="115000"/>
                        </a:lnSpc>
                        <a:spcBef>
                          <a:spcPts val="0"/>
                        </a:spcBef>
                        <a:spcAft>
                          <a:spcPts val="0"/>
                        </a:spcAft>
                      </a:pPr>
                      <a:r>
                        <a:rPr lang="en-US" sz="2400">
                          <a:effectLst/>
                        </a:rPr>
                        <a:t>80-82</a:t>
                      </a:r>
                      <a:endParaRPr lang="en-US" sz="1600">
                        <a:effectLst/>
                        <a:latin typeface="Calibri"/>
                        <a:ea typeface="Calibri"/>
                        <a:cs typeface="Times New Roman"/>
                      </a:endParaRPr>
                    </a:p>
                  </a:txBody>
                  <a:tcPr marL="68580" marR="68580" marT="0" marB="0">
                    <a:solidFill>
                      <a:schemeClr val="bg2">
                        <a:lumMod val="25000"/>
                      </a:schemeClr>
                    </a:solidFill>
                  </a:tcPr>
                </a:tc>
                <a:tc>
                  <a:txBody>
                    <a:bodyPr/>
                    <a:lstStyle/>
                    <a:p>
                      <a:pPr marL="0" marR="0" algn="ctr">
                        <a:lnSpc>
                          <a:spcPct val="115000"/>
                        </a:lnSpc>
                        <a:spcBef>
                          <a:spcPts val="0"/>
                        </a:spcBef>
                        <a:spcAft>
                          <a:spcPts val="0"/>
                        </a:spcAft>
                      </a:pPr>
                      <a:r>
                        <a:rPr lang="en-US" sz="2400" b="1" dirty="0">
                          <a:solidFill>
                            <a:schemeClr val="bg1"/>
                          </a:solidFill>
                          <a:effectLst/>
                        </a:rPr>
                        <a:t>15</a:t>
                      </a:r>
                      <a:endParaRPr lang="en-US" sz="1600" b="1" dirty="0">
                        <a:solidFill>
                          <a:schemeClr val="bg1"/>
                        </a:solidFill>
                        <a:effectLst/>
                        <a:latin typeface="Calibri"/>
                        <a:ea typeface="Calibri"/>
                        <a:cs typeface="Times New Roman"/>
                      </a:endParaRPr>
                    </a:p>
                  </a:txBody>
                  <a:tcPr marL="68580" marR="68580" marT="0" marB="0">
                    <a:solidFill>
                      <a:schemeClr val="bg2">
                        <a:lumMod val="25000"/>
                      </a:schemeClr>
                    </a:solidFill>
                  </a:tcPr>
                </a:tc>
                <a:tc>
                  <a:txBody>
                    <a:bodyPr/>
                    <a:lstStyle/>
                    <a:p>
                      <a:pPr marL="0" marR="0" algn="ctr">
                        <a:lnSpc>
                          <a:spcPct val="115000"/>
                        </a:lnSpc>
                        <a:spcBef>
                          <a:spcPts val="0"/>
                        </a:spcBef>
                        <a:spcAft>
                          <a:spcPts val="0"/>
                        </a:spcAft>
                      </a:pPr>
                      <a:r>
                        <a:rPr lang="en-US" sz="2400" dirty="0">
                          <a:effectLst/>
                        </a:rPr>
                        <a:t>81</a:t>
                      </a:r>
                      <a:endParaRPr lang="en-US" sz="1600" dirty="0">
                        <a:effectLst/>
                        <a:latin typeface="Calibri"/>
                        <a:ea typeface="Calibri"/>
                        <a:cs typeface="Times New Roman"/>
                      </a:endParaRPr>
                    </a:p>
                  </a:txBody>
                  <a:tcPr marL="68580" marR="68580" marT="0" marB="0"/>
                </a:tc>
                <a:tc>
                  <a:txBody>
                    <a:bodyPr/>
                    <a:lstStyle/>
                    <a:p>
                      <a:pPr marL="0" marR="0" algn="ctr">
                        <a:lnSpc>
                          <a:spcPct val="115000"/>
                        </a:lnSpc>
                        <a:spcBef>
                          <a:spcPts val="0"/>
                        </a:spcBef>
                        <a:spcAft>
                          <a:spcPts val="0"/>
                        </a:spcAft>
                      </a:pPr>
                      <a:r>
                        <a:rPr lang="en-US" sz="2400" dirty="0">
                          <a:effectLst/>
                        </a:rPr>
                        <a:t>-01</a:t>
                      </a:r>
                      <a:endParaRPr lang="en-US" sz="16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800">
                          <a:effectLst/>
                        </a:rPr>
                        <a:t>-15</a:t>
                      </a:r>
                      <a:endParaRPr lang="en-US" sz="1600">
                        <a:effectLst/>
                        <a:latin typeface="Calibri"/>
                        <a:ea typeface="Calibri"/>
                        <a:cs typeface="Times New Roman"/>
                      </a:endParaRPr>
                    </a:p>
                  </a:txBody>
                  <a:tcPr marL="68580" marR="68580" marT="0" marB="0"/>
                </a:tc>
                <a:tc>
                  <a:txBody>
                    <a:bodyPr/>
                    <a:lstStyle/>
                    <a:p>
                      <a:pPr marL="0" marR="0" algn="ctr">
                        <a:lnSpc>
                          <a:spcPct val="115000"/>
                        </a:lnSpc>
                        <a:spcBef>
                          <a:spcPts val="0"/>
                        </a:spcBef>
                        <a:spcAft>
                          <a:spcPts val="0"/>
                        </a:spcAft>
                      </a:pPr>
                      <a:r>
                        <a:rPr lang="en-US" sz="2800" dirty="0">
                          <a:effectLst/>
                        </a:rPr>
                        <a:t>1</a:t>
                      </a:r>
                      <a:endParaRPr lang="en-US" sz="1600" dirty="0">
                        <a:effectLst/>
                        <a:latin typeface="Calibri"/>
                        <a:ea typeface="Calibri"/>
                        <a:cs typeface="Times New Roman"/>
                      </a:endParaRPr>
                    </a:p>
                  </a:txBody>
                  <a:tcPr marL="68580" marR="68580" marT="0" marB="0"/>
                </a:tc>
                <a:tc>
                  <a:txBody>
                    <a:bodyPr/>
                    <a:lstStyle/>
                    <a:p>
                      <a:pPr marL="0" marR="0" algn="ctr">
                        <a:lnSpc>
                          <a:spcPct val="115000"/>
                        </a:lnSpc>
                        <a:spcBef>
                          <a:spcPts val="0"/>
                        </a:spcBef>
                        <a:spcAft>
                          <a:spcPts val="0"/>
                        </a:spcAft>
                      </a:pPr>
                      <a:r>
                        <a:rPr lang="en-US" sz="2800" dirty="0">
                          <a:effectLst/>
                        </a:rPr>
                        <a:t>15</a:t>
                      </a:r>
                      <a:endParaRPr lang="en-US" sz="1600" dirty="0">
                        <a:effectLst/>
                        <a:latin typeface="Calibri"/>
                        <a:ea typeface="Calibri"/>
                        <a:cs typeface="Times New Roman"/>
                      </a:endParaRPr>
                    </a:p>
                  </a:txBody>
                  <a:tcPr marL="68580" marR="68580" marT="0" marB="0"/>
                </a:tc>
              </a:tr>
              <a:tr h="571677">
                <a:tc>
                  <a:txBody>
                    <a:bodyPr/>
                    <a:lstStyle/>
                    <a:p>
                      <a:pPr marL="0" marR="0" algn="ctr">
                        <a:lnSpc>
                          <a:spcPct val="115000"/>
                        </a:lnSpc>
                        <a:spcBef>
                          <a:spcPts val="0"/>
                        </a:spcBef>
                        <a:spcAft>
                          <a:spcPts val="0"/>
                        </a:spcAft>
                      </a:pPr>
                      <a:r>
                        <a:rPr lang="en-US" sz="2400">
                          <a:effectLst/>
                        </a:rPr>
                        <a:t>82-84</a:t>
                      </a:r>
                      <a:endParaRPr lang="en-US" sz="1600">
                        <a:effectLst/>
                        <a:latin typeface="Calibri"/>
                        <a:ea typeface="Calibri"/>
                        <a:cs typeface="Times New Roman"/>
                      </a:endParaRPr>
                    </a:p>
                  </a:txBody>
                  <a:tcPr marL="68580" marR="68580" marT="0" marB="0">
                    <a:solidFill>
                      <a:schemeClr val="bg2">
                        <a:lumMod val="25000"/>
                      </a:schemeClr>
                    </a:solidFill>
                  </a:tcPr>
                </a:tc>
                <a:tc>
                  <a:txBody>
                    <a:bodyPr/>
                    <a:lstStyle/>
                    <a:p>
                      <a:pPr marL="0" marR="0" algn="ctr">
                        <a:lnSpc>
                          <a:spcPct val="115000"/>
                        </a:lnSpc>
                        <a:spcBef>
                          <a:spcPts val="0"/>
                        </a:spcBef>
                        <a:spcAft>
                          <a:spcPts val="0"/>
                        </a:spcAft>
                      </a:pPr>
                      <a:r>
                        <a:rPr lang="en-US" sz="2400" b="1" dirty="0">
                          <a:solidFill>
                            <a:schemeClr val="bg1"/>
                          </a:solidFill>
                          <a:effectLst/>
                        </a:rPr>
                        <a:t>26</a:t>
                      </a:r>
                      <a:endParaRPr lang="en-US" sz="1600" b="1" dirty="0">
                        <a:solidFill>
                          <a:schemeClr val="bg1"/>
                        </a:solidFill>
                        <a:effectLst/>
                        <a:latin typeface="Calibri"/>
                        <a:ea typeface="Calibri"/>
                        <a:cs typeface="Times New Roman"/>
                      </a:endParaRPr>
                    </a:p>
                  </a:txBody>
                  <a:tcPr marL="68580" marR="68580" marT="0" marB="0">
                    <a:solidFill>
                      <a:schemeClr val="bg2">
                        <a:lumMod val="25000"/>
                      </a:schemeClr>
                    </a:solidFill>
                  </a:tcPr>
                </a:tc>
                <a:tc>
                  <a:txBody>
                    <a:bodyPr/>
                    <a:lstStyle/>
                    <a:p>
                      <a:pPr marL="0" marR="0">
                        <a:lnSpc>
                          <a:spcPct val="115000"/>
                        </a:lnSpc>
                        <a:spcBef>
                          <a:spcPts val="0"/>
                        </a:spcBef>
                        <a:spcAft>
                          <a:spcPts val="0"/>
                        </a:spcAft>
                      </a:pPr>
                      <a:r>
                        <a:rPr lang="en-US" sz="2400" dirty="0">
                          <a:solidFill>
                            <a:srgbClr val="FF0000"/>
                          </a:solidFill>
                          <a:effectLst/>
                        </a:rPr>
                        <a:t>A </a:t>
                      </a:r>
                      <a:r>
                        <a:rPr lang="en-US" sz="2400" dirty="0">
                          <a:solidFill>
                            <a:srgbClr val="FF0000"/>
                          </a:solidFill>
                          <a:effectLst/>
                          <a:sym typeface="Wingdings"/>
                        </a:rPr>
                        <a:t></a:t>
                      </a:r>
                      <a:r>
                        <a:rPr lang="en-US" sz="2400" b="1" dirty="0">
                          <a:solidFill>
                            <a:srgbClr val="FF0000"/>
                          </a:solidFill>
                          <a:effectLst/>
                        </a:rPr>
                        <a:t>83</a:t>
                      </a:r>
                      <a:endParaRPr lang="en-US" sz="1600" b="1" dirty="0">
                        <a:solidFill>
                          <a:srgbClr val="FF0000"/>
                        </a:solidFill>
                        <a:effectLst/>
                        <a:latin typeface="Calibri"/>
                        <a:ea typeface="Calibri"/>
                        <a:cs typeface="Times New Roman"/>
                      </a:endParaRPr>
                    </a:p>
                  </a:txBody>
                  <a:tcPr marL="68580" marR="68580" marT="0" marB="0"/>
                </a:tc>
                <a:tc>
                  <a:txBody>
                    <a:bodyPr/>
                    <a:lstStyle/>
                    <a:p>
                      <a:pPr marL="0" marR="0" algn="ctr">
                        <a:lnSpc>
                          <a:spcPct val="115000"/>
                        </a:lnSpc>
                        <a:spcBef>
                          <a:spcPts val="0"/>
                        </a:spcBef>
                        <a:spcAft>
                          <a:spcPts val="0"/>
                        </a:spcAft>
                      </a:pPr>
                      <a:r>
                        <a:rPr lang="en-US" sz="2400" dirty="0">
                          <a:effectLst/>
                        </a:rPr>
                        <a:t>00</a:t>
                      </a:r>
                      <a:endParaRPr lang="en-US" sz="16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800" dirty="0" smtClean="0">
                          <a:effectLst/>
                        </a:rPr>
                        <a:t> 00</a:t>
                      </a:r>
                      <a:endParaRPr lang="en-US" sz="1600" dirty="0">
                        <a:effectLst/>
                        <a:latin typeface="Calibri"/>
                        <a:ea typeface="Calibri"/>
                        <a:cs typeface="Times New Roman"/>
                      </a:endParaRPr>
                    </a:p>
                  </a:txBody>
                  <a:tcPr marL="68580" marR="68580" marT="0" marB="0"/>
                </a:tc>
                <a:tc>
                  <a:txBody>
                    <a:bodyPr/>
                    <a:lstStyle/>
                    <a:p>
                      <a:pPr marL="0" marR="0" algn="ctr">
                        <a:lnSpc>
                          <a:spcPct val="115000"/>
                        </a:lnSpc>
                        <a:spcBef>
                          <a:spcPts val="0"/>
                        </a:spcBef>
                        <a:spcAft>
                          <a:spcPts val="0"/>
                        </a:spcAft>
                      </a:pPr>
                      <a:r>
                        <a:rPr lang="en-US" sz="2800" dirty="0">
                          <a:effectLst/>
                        </a:rPr>
                        <a:t>0</a:t>
                      </a:r>
                      <a:endParaRPr lang="en-US" sz="1600" dirty="0">
                        <a:effectLst/>
                        <a:latin typeface="Calibri"/>
                        <a:ea typeface="Calibri"/>
                        <a:cs typeface="Times New Roman"/>
                      </a:endParaRPr>
                    </a:p>
                  </a:txBody>
                  <a:tcPr marL="68580" marR="68580" marT="0" marB="0"/>
                </a:tc>
                <a:tc>
                  <a:txBody>
                    <a:bodyPr/>
                    <a:lstStyle/>
                    <a:p>
                      <a:pPr marL="0" marR="0" algn="ctr">
                        <a:lnSpc>
                          <a:spcPct val="115000"/>
                        </a:lnSpc>
                        <a:spcBef>
                          <a:spcPts val="0"/>
                        </a:spcBef>
                        <a:spcAft>
                          <a:spcPts val="0"/>
                        </a:spcAft>
                      </a:pPr>
                      <a:r>
                        <a:rPr lang="en-US" sz="2800" dirty="0">
                          <a:effectLst/>
                        </a:rPr>
                        <a:t>00</a:t>
                      </a:r>
                      <a:endParaRPr lang="en-US" sz="1600" dirty="0">
                        <a:effectLst/>
                        <a:latin typeface="Calibri"/>
                        <a:ea typeface="Calibri"/>
                        <a:cs typeface="Times New Roman"/>
                      </a:endParaRPr>
                    </a:p>
                  </a:txBody>
                  <a:tcPr marL="68580" marR="68580" marT="0" marB="0"/>
                </a:tc>
              </a:tr>
              <a:tr h="571677">
                <a:tc>
                  <a:txBody>
                    <a:bodyPr/>
                    <a:lstStyle/>
                    <a:p>
                      <a:pPr marL="0" marR="0" algn="ctr">
                        <a:lnSpc>
                          <a:spcPct val="115000"/>
                        </a:lnSpc>
                        <a:spcBef>
                          <a:spcPts val="0"/>
                        </a:spcBef>
                        <a:spcAft>
                          <a:spcPts val="0"/>
                        </a:spcAft>
                      </a:pPr>
                      <a:r>
                        <a:rPr lang="en-US" sz="2400">
                          <a:effectLst/>
                        </a:rPr>
                        <a:t>84-86</a:t>
                      </a:r>
                      <a:endParaRPr lang="en-US" sz="1600">
                        <a:effectLst/>
                        <a:latin typeface="Calibri"/>
                        <a:ea typeface="Calibri"/>
                        <a:cs typeface="Times New Roman"/>
                      </a:endParaRPr>
                    </a:p>
                  </a:txBody>
                  <a:tcPr marL="68580" marR="68580" marT="0" marB="0">
                    <a:solidFill>
                      <a:schemeClr val="bg2">
                        <a:lumMod val="25000"/>
                      </a:schemeClr>
                    </a:solidFill>
                  </a:tcPr>
                </a:tc>
                <a:tc>
                  <a:txBody>
                    <a:bodyPr/>
                    <a:lstStyle/>
                    <a:p>
                      <a:pPr marL="0" marR="0" algn="ctr">
                        <a:lnSpc>
                          <a:spcPct val="115000"/>
                        </a:lnSpc>
                        <a:spcBef>
                          <a:spcPts val="0"/>
                        </a:spcBef>
                        <a:spcAft>
                          <a:spcPts val="0"/>
                        </a:spcAft>
                      </a:pPr>
                      <a:r>
                        <a:rPr lang="en-US" sz="2400" b="1" dirty="0">
                          <a:solidFill>
                            <a:schemeClr val="bg1"/>
                          </a:solidFill>
                          <a:effectLst/>
                        </a:rPr>
                        <a:t>23</a:t>
                      </a:r>
                      <a:endParaRPr lang="en-US" sz="1600" b="1" dirty="0">
                        <a:solidFill>
                          <a:schemeClr val="bg1"/>
                        </a:solidFill>
                        <a:effectLst/>
                        <a:latin typeface="Calibri"/>
                        <a:ea typeface="Calibri"/>
                        <a:cs typeface="Times New Roman"/>
                      </a:endParaRPr>
                    </a:p>
                  </a:txBody>
                  <a:tcPr marL="68580" marR="68580" marT="0" marB="0">
                    <a:solidFill>
                      <a:schemeClr val="bg2">
                        <a:lumMod val="25000"/>
                      </a:schemeClr>
                    </a:solidFill>
                  </a:tcPr>
                </a:tc>
                <a:tc>
                  <a:txBody>
                    <a:bodyPr/>
                    <a:lstStyle/>
                    <a:p>
                      <a:pPr marL="0" marR="0" algn="ctr">
                        <a:lnSpc>
                          <a:spcPct val="115000"/>
                        </a:lnSpc>
                        <a:spcBef>
                          <a:spcPts val="0"/>
                        </a:spcBef>
                        <a:spcAft>
                          <a:spcPts val="0"/>
                        </a:spcAft>
                      </a:pPr>
                      <a:r>
                        <a:rPr lang="en-US" sz="2400">
                          <a:effectLst/>
                        </a:rPr>
                        <a:t>85</a:t>
                      </a:r>
                      <a:endParaRPr lang="en-US" sz="1600">
                        <a:effectLst/>
                        <a:latin typeface="Calibri"/>
                        <a:ea typeface="Calibri"/>
                        <a:cs typeface="Times New Roman"/>
                      </a:endParaRPr>
                    </a:p>
                  </a:txBody>
                  <a:tcPr marL="68580" marR="68580" marT="0" marB="0"/>
                </a:tc>
                <a:tc>
                  <a:txBody>
                    <a:bodyPr/>
                    <a:lstStyle/>
                    <a:p>
                      <a:pPr marL="0" marR="0" algn="ctr">
                        <a:lnSpc>
                          <a:spcPct val="115000"/>
                        </a:lnSpc>
                        <a:spcBef>
                          <a:spcPts val="0"/>
                        </a:spcBef>
                        <a:spcAft>
                          <a:spcPts val="0"/>
                        </a:spcAft>
                      </a:pPr>
                      <a:r>
                        <a:rPr lang="en-US" sz="2400" dirty="0">
                          <a:effectLst/>
                        </a:rPr>
                        <a:t>+01</a:t>
                      </a:r>
                      <a:endParaRPr lang="en-US" sz="16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800">
                          <a:effectLst/>
                        </a:rPr>
                        <a:t>+23</a:t>
                      </a:r>
                      <a:endParaRPr lang="en-US" sz="1600">
                        <a:effectLst/>
                        <a:latin typeface="Calibri"/>
                        <a:ea typeface="Calibri"/>
                        <a:cs typeface="Times New Roman"/>
                      </a:endParaRPr>
                    </a:p>
                  </a:txBody>
                  <a:tcPr marL="68580" marR="68580" marT="0" marB="0"/>
                </a:tc>
                <a:tc>
                  <a:txBody>
                    <a:bodyPr/>
                    <a:lstStyle/>
                    <a:p>
                      <a:pPr marL="0" marR="0" algn="ctr">
                        <a:lnSpc>
                          <a:spcPct val="115000"/>
                        </a:lnSpc>
                        <a:spcBef>
                          <a:spcPts val="0"/>
                        </a:spcBef>
                        <a:spcAft>
                          <a:spcPts val="0"/>
                        </a:spcAft>
                      </a:pPr>
                      <a:r>
                        <a:rPr lang="en-US" sz="2800" dirty="0">
                          <a:effectLst/>
                        </a:rPr>
                        <a:t>1</a:t>
                      </a:r>
                      <a:endParaRPr lang="en-US" sz="1600" dirty="0">
                        <a:effectLst/>
                        <a:latin typeface="Calibri"/>
                        <a:ea typeface="Calibri"/>
                        <a:cs typeface="Times New Roman"/>
                      </a:endParaRPr>
                    </a:p>
                  </a:txBody>
                  <a:tcPr marL="68580" marR="68580" marT="0" marB="0"/>
                </a:tc>
                <a:tc>
                  <a:txBody>
                    <a:bodyPr/>
                    <a:lstStyle/>
                    <a:p>
                      <a:pPr marL="0" marR="0" algn="ctr">
                        <a:lnSpc>
                          <a:spcPct val="115000"/>
                        </a:lnSpc>
                        <a:spcBef>
                          <a:spcPts val="0"/>
                        </a:spcBef>
                        <a:spcAft>
                          <a:spcPts val="0"/>
                        </a:spcAft>
                      </a:pPr>
                      <a:r>
                        <a:rPr lang="en-US" sz="2800" dirty="0">
                          <a:effectLst/>
                        </a:rPr>
                        <a:t>23</a:t>
                      </a:r>
                      <a:endParaRPr lang="en-US" sz="1600" dirty="0">
                        <a:effectLst/>
                        <a:latin typeface="Calibri"/>
                        <a:ea typeface="Calibri"/>
                        <a:cs typeface="Times New Roman"/>
                      </a:endParaRPr>
                    </a:p>
                  </a:txBody>
                  <a:tcPr marL="68580" marR="68580" marT="0" marB="0"/>
                </a:tc>
              </a:tr>
              <a:tr h="571677">
                <a:tc>
                  <a:txBody>
                    <a:bodyPr/>
                    <a:lstStyle/>
                    <a:p>
                      <a:pPr marL="0" marR="0" algn="ctr">
                        <a:lnSpc>
                          <a:spcPct val="115000"/>
                        </a:lnSpc>
                        <a:spcBef>
                          <a:spcPts val="0"/>
                        </a:spcBef>
                        <a:spcAft>
                          <a:spcPts val="0"/>
                        </a:spcAft>
                      </a:pPr>
                      <a:r>
                        <a:rPr lang="en-US" sz="2400">
                          <a:effectLst/>
                        </a:rPr>
                        <a:t>86-88</a:t>
                      </a:r>
                      <a:endParaRPr lang="en-US" sz="1600">
                        <a:effectLst/>
                        <a:latin typeface="Calibri"/>
                        <a:ea typeface="Calibri"/>
                        <a:cs typeface="Times New Roman"/>
                      </a:endParaRPr>
                    </a:p>
                  </a:txBody>
                  <a:tcPr marL="68580" marR="68580" marT="0" marB="0">
                    <a:solidFill>
                      <a:schemeClr val="bg2">
                        <a:lumMod val="25000"/>
                      </a:schemeClr>
                    </a:solidFill>
                  </a:tcPr>
                </a:tc>
                <a:tc>
                  <a:txBody>
                    <a:bodyPr/>
                    <a:lstStyle/>
                    <a:p>
                      <a:pPr marL="0" marR="0" algn="ctr">
                        <a:lnSpc>
                          <a:spcPct val="115000"/>
                        </a:lnSpc>
                        <a:spcBef>
                          <a:spcPts val="0"/>
                        </a:spcBef>
                        <a:spcAft>
                          <a:spcPts val="0"/>
                        </a:spcAft>
                      </a:pPr>
                      <a:r>
                        <a:rPr lang="en-US" sz="2400" b="1" dirty="0">
                          <a:solidFill>
                            <a:schemeClr val="bg1"/>
                          </a:solidFill>
                          <a:effectLst/>
                        </a:rPr>
                        <a:t>09</a:t>
                      </a:r>
                      <a:endParaRPr lang="en-US" sz="1600" b="1" dirty="0">
                        <a:solidFill>
                          <a:schemeClr val="bg1"/>
                        </a:solidFill>
                        <a:effectLst/>
                        <a:latin typeface="Calibri"/>
                        <a:ea typeface="Calibri"/>
                        <a:cs typeface="Times New Roman"/>
                      </a:endParaRPr>
                    </a:p>
                  </a:txBody>
                  <a:tcPr marL="68580" marR="68580" marT="0" marB="0">
                    <a:solidFill>
                      <a:schemeClr val="bg2">
                        <a:lumMod val="25000"/>
                      </a:schemeClr>
                    </a:solidFill>
                  </a:tcPr>
                </a:tc>
                <a:tc>
                  <a:txBody>
                    <a:bodyPr/>
                    <a:lstStyle/>
                    <a:p>
                      <a:pPr marL="0" marR="0" algn="ctr">
                        <a:lnSpc>
                          <a:spcPct val="115000"/>
                        </a:lnSpc>
                        <a:spcBef>
                          <a:spcPts val="0"/>
                        </a:spcBef>
                        <a:spcAft>
                          <a:spcPts val="0"/>
                        </a:spcAft>
                      </a:pPr>
                      <a:r>
                        <a:rPr lang="en-US" sz="2400" dirty="0">
                          <a:effectLst/>
                        </a:rPr>
                        <a:t>87</a:t>
                      </a:r>
                      <a:endParaRPr lang="en-US" sz="1600" dirty="0">
                        <a:effectLst/>
                        <a:latin typeface="Calibri"/>
                        <a:ea typeface="Calibri"/>
                        <a:cs typeface="Times New Roman"/>
                      </a:endParaRPr>
                    </a:p>
                  </a:txBody>
                  <a:tcPr marL="68580" marR="68580" marT="0" marB="0"/>
                </a:tc>
                <a:tc>
                  <a:txBody>
                    <a:bodyPr/>
                    <a:lstStyle/>
                    <a:p>
                      <a:pPr marL="0" marR="0" algn="ctr">
                        <a:lnSpc>
                          <a:spcPct val="115000"/>
                        </a:lnSpc>
                        <a:spcBef>
                          <a:spcPts val="0"/>
                        </a:spcBef>
                        <a:spcAft>
                          <a:spcPts val="0"/>
                        </a:spcAft>
                      </a:pPr>
                      <a:r>
                        <a:rPr lang="en-US" sz="2400" dirty="0">
                          <a:effectLst/>
                        </a:rPr>
                        <a:t>+02</a:t>
                      </a:r>
                      <a:endParaRPr lang="en-US" sz="16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800" dirty="0">
                          <a:effectLst/>
                        </a:rPr>
                        <a:t>+18</a:t>
                      </a:r>
                      <a:endParaRPr lang="en-US" sz="1600" dirty="0">
                        <a:effectLst/>
                        <a:latin typeface="Calibri"/>
                        <a:ea typeface="Calibri"/>
                        <a:cs typeface="Times New Roman"/>
                      </a:endParaRPr>
                    </a:p>
                  </a:txBody>
                  <a:tcPr marL="68580" marR="68580" marT="0" marB="0"/>
                </a:tc>
                <a:tc>
                  <a:txBody>
                    <a:bodyPr/>
                    <a:lstStyle/>
                    <a:p>
                      <a:pPr marL="0" marR="0" algn="ctr">
                        <a:lnSpc>
                          <a:spcPct val="115000"/>
                        </a:lnSpc>
                        <a:spcBef>
                          <a:spcPts val="0"/>
                        </a:spcBef>
                        <a:spcAft>
                          <a:spcPts val="0"/>
                        </a:spcAft>
                      </a:pPr>
                      <a:r>
                        <a:rPr lang="en-US" sz="2800" dirty="0">
                          <a:effectLst/>
                        </a:rPr>
                        <a:t>4</a:t>
                      </a:r>
                      <a:endParaRPr lang="en-US" sz="1600" dirty="0">
                        <a:effectLst/>
                        <a:latin typeface="Calibri"/>
                        <a:ea typeface="Calibri"/>
                        <a:cs typeface="Times New Roman"/>
                      </a:endParaRPr>
                    </a:p>
                  </a:txBody>
                  <a:tcPr marL="68580" marR="68580" marT="0" marB="0"/>
                </a:tc>
                <a:tc>
                  <a:txBody>
                    <a:bodyPr/>
                    <a:lstStyle/>
                    <a:p>
                      <a:pPr marL="0" marR="0" algn="ctr">
                        <a:lnSpc>
                          <a:spcPct val="115000"/>
                        </a:lnSpc>
                        <a:spcBef>
                          <a:spcPts val="0"/>
                        </a:spcBef>
                        <a:spcAft>
                          <a:spcPts val="0"/>
                        </a:spcAft>
                      </a:pPr>
                      <a:r>
                        <a:rPr lang="en-US" sz="2800" dirty="0">
                          <a:effectLst/>
                        </a:rPr>
                        <a:t>36</a:t>
                      </a:r>
                      <a:endParaRPr lang="en-US" sz="1600" dirty="0">
                        <a:effectLst/>
                        <a:latin typeface="Calibri"/>
                        <a:ea typeface="Calibri"/>
                        <a:cs typeface="Times New Roman"/>
                      </a:endParaRPr>
                    </a:p>
                  </a:txBody>
                  <a:tcPr marL="68580" marR="68580" marT="0" marB="0"/>
                </a:tc>
              </a:tr>
              <a:tr h="571677">
                <a:tc>
                  <a:txBody>
                    <a:bodyPr/>
                    <a:lstStyle/>
                    <a:p>
                      <a:pPr marL="0" marR="0" algn="ctr">
                        <a:lnSpc>
                          <a:spcPct val="115000"/>
                        </a:lnSpc>
                        <a:spcBef>
                          <a:spcPts val="0"/>
                        </a:spcBef>
                        <a:spcAft>
                          <a:spcPts val="0"/>
                        </a:spcAft>
                      </a:pPr>
                      <a:r>
                        <a:rPr lang="en-US" sz="2400">
                          <a:effectLst/>
                        </a:rPr>
                        <a:t>88-90</a:t>
                      </a:r>
                      <a:endParaRPr lang="en-US" sz="1600">
                        <a:effectLst/>
                        <a:latin typeface="Calibri"/>
                        <a:ea typeface="Calibri"/>
                        <a:cs typeface="Times New Roman"/>
                      </a:endParaRPr>
                    </a:p>
                  </a:txBody>
                  <a:tcPr marL="68580" marR="68580" marT="0" marB="0">
                    <a:solidFill>
                      <a:schemeClr val="bg2">
                        <a:lumMod val="25000"/>
                      </a:schemeClr>
                    </a:solidFill>
                  </a:tcPr>
                </a:tc>
                <a:tc>
                  <a:txBody>
                    <a:bodyPr/>
                    <a:lstStyle/>
                    <a:p>
                      <a:pPr marL="0" marR="0" algn="ctr">
                        <a:lnSpc>
                          <a:spcPct val="115000"/>
                        </a:lnSpc>
                        <a:spcBef>
                          <a:spcPts val="0"/>
                        </a:spcBef>
                        <a:spcAft>
                          <a:spcPts val="0"/>
                        </a:spcAft>
                      </a:pPr>
                      <a:r>
                        <a:rPr lang="en-US" sz="2400" b="1" dirty="0">
                          <a:solidFill>
                            <a:schemeClr val="bg1"/>
                          </a:solidFill>
                          <a:effectLst/>
                        </a:rPr>
                        <a:t>04</a:t>
                      </a:r>
                      <a:endParaRPr lang="en-US" sz="1600" b="1" dirty="0">
                        <a:solidFill>
                          <a:schemeClr val="bg1"/>
                        </a:solidFill>
                        <a:effectLst/>
                        <a:latin typeface="Calibri"/>
                        <a:ea typeface="Calibri"/>
                        <a:cs typeface="Times New Roman"/>
                      </a:endParaRPr>
                    </a:p>
                  </a:txBody>
                  <a:tcPr marL="68580" marR="68580" marT="0" marB="0">
                    <a:solidFill>
                      <a:schemeClr val="bg2">
                        <a:lumMod val="25000"/>
                      </a:schemeClr>
                    </a:solidFill>
                  </a:tcPr>
                </a:tc>
                <a:tc>
                  <a:txBody>
                    <a:bodyPr/>
                    <a:lstStyle/>
                    <a:p>
                      <a:pPr marL="0" marR="0" algn="ctr">
                        <a:lnSpc>
                          <a:spcPct val="115000"/>
                        </a:lnSpc>
                        <a:spcBef>
                          <a:spcPts val="0"/>
                        </a:spcBef>
                        <a:spcAft>
                          <a:spcPts val="0"/>
                        </a:spcAft>
                      </a:pPr>
                      <a:r>
                        <a:rPr lang="en-US" sz="2400">
                          <a:effectLst/>
                        </a:rPr>
                        <a:t>89</a:t>
                      </a:r>
                      <a:endParaRPr lang="en-US" sz="1600">
                        <a:effectLst/>
                        <a:latin typeface="Calibri"/>
                        <a:ea typeface="Calibri"/>
                        <a:cs typeface="Times New Roman"/>
                      </a:endParaRPr>
                    </a:p>
                  </a:txBody>
                  <a:tcPr marL="68580" marR="68580" marT="0" marB="0"/>
                </a:tc>
                <a:tc>
                  <a:txBody>
                    <a:bodyPr/>
                    <a:lstStyle/>
                    <a:p>
                      <a:pPr marL="0" marR="0" algn="ctr">
                        <a:lnSpc>
                          <a:spcPct val="115000"/>
                        </a:lnSpc>
                        <a:spcBef>
                          <a:spcPts val="0"/>
                        </a:spcBef>
                        <a:spcAft>
                          <a:spcPts val="0"/>
                        </a:spcAft>
                      </a:pPr>
                      <a:r>
                        <a:rPr lang="en-US" sz="2400">
                          <a:effectLst/>
                        </a:rPr>
                        <a:t>+03</a:t>
                      </a:r>
                      <a:endParaRPr lang="en-US" sz="16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800" dirty="0">
                          <a:effectLst/>
                        </a:rPr>
                        <a:t>+12</a:t>
                      </a:r>
                      <a:endParaRPr lang="en-US" sz="16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800" dirty="0" smtClean="0">
                          <a:effectLst/>
                        </a:rPr>
                        <a:t>      9</a:t>
                      </a:r>
                      <a:endParaRPr lang="en-US" sz="1600" dirty="0">
                        <a:effectLst/>
                        <a:latin typeface="Calibri"/>
                        <a:ea typeface="Calibri"/>
                        <a:cs typeface="Times New Roman"/>
                      </a:endParaRPr>
                    </a:p>
                  </a:txBody>
                  <a:tcPr marL="68580" marR="68580" marT="0" marB="0"/>
                </a:tc>
                <a:tc>
                  <a:txBody>
                    <a:bodyPr/>
                    <a:lstStyle/>
                    <a:p>
                      <a:pPr marL="0" marR="0" algn="ctr">
                        <a:lnSpc>
                          <a:spcPct val="115000"/>
                        </a:lnSpc>
                        <a:spcBef>
                          <a:spcPts val="0"/>
                        </a:spcBef>
                        <a:spcAft>
                          <a:spcPts val="0"/>
                        </a:spcAft>
                      </a:pPr>
                      <a:r>
                        <a:rPr lang="en-US" sz="2800" dirty="0">
                          <a:effectLst/>
                        </a:rPr>
                        <a:t>36</a:t>
                      </a:r>
                      <a:endParaRPr lang="en-US" sz="1600" dirty="0">
                        <a:effectLst/>
                        <a:latin typeface="Calibri"/>
                        <a:ea typeface="Calibri"/>
                        <a:cs typeface="Times New Roman"/>
                      </a:endParaRPr>
                    </a:p>
                  </a:txBody>
                  <a:tcPr marL="68580" marR="68580" marT="0" marB="0"/>
                </a:tc>
              </a:tr>
              <a:tr h="1408463">
                <a:tc>
                  <a:txBody>
                    <a:bodyPr/>
                    <a:lstStyle/>
                    <a:p>
                      <a:pPr marL="0" marR="0">
                        <a:lnSpc>
                          <a:spcPct val="115000"/>
                        </a:lnSpc>
                        <a:spcBef>
                          <a:spcPts val="0"/>
                        </a:spcBef>
                        <a:spcAft>
                          <a:spcPts val="0"/>
                        </a:spcAft>
                      </a:pPr>
                      <a:r>
                        <a:rPr lang="en-US" sz="1600">
                          <a:effectLst/>
                        </a:rPr>
                        <a:t> </a:t>
                      </a:r>
                      <a:endParaRPr lang="en-US" sz="16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400" b="1" dirty="0">
                          <a:effectLst/>
                        </a:rPr>
                        <a:t>∑</a:t>
                      </a:r>
                      <a:r>
                        <a:rPr lang="en-US" sz="3200" b="1" baseline="-25000" dirty="0">
                          <a:effectLst/>
                        </a:rPr>
                        <a:t>f</a:t>
                      </a:r>
                      <a:r>
                        <a:rPr lang="en-US" sz="2400" b="1" dirty="0">
                          <a:effectLst/>
                        </a:rPr>
                        <a:t> = </a:t>
                      </a:r>
                      <a:r>
                        <a:rPr lang="en-US" sz="2400" b="1" dirty="0" smtClean="0">
                          <a:solidFill>
                            <a:srgbClr val="0033CC"/>
                          </a:solidFill>
                          <a:effectLst/>
                        </a:rPr>
                        <a:t>80</a:t>
                      </a:r>
                      <a:endParaRPr lang="en-US" sz="2400" b="1" dirty="0">
                        <a:solidFill>
                          <a:srgbClr val="0033CC"/>
                        </a:solidFill>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400" b="1" dirty="0">
                          <a:effectLst/>
                        </a:rPr>
                        <a:t> </a:t>
                      </a:r>
                      <a:endParaRPr lang="en-US" sz="2400" b="1"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400" b="1" dirty="0">
                          <a:effectLst/>
                        </a:rPr>
                        <a:t> </a:t>
                      </a:r>
                      <a:endParaRPr lang="en-US" sz="2400" b="1"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400" b="1" dirty="0">
                          <a:effectLst/>
                        </a:rPr>
                        <a:t>∑</a:t>
                      </a:r>
                      <a:r>
                        <a:rPr lang="en-US" sz="3200" b="1" baseline="-25000" dirty="0" err="1" smtClean="0">
                          <a:effectLst/>
                        </a:rPr>
                        <a:t>f.d</a:t>
                      </a:r>
                      <a:r>
                        <a:rPr lang="en-US" sz="2400" b="1" dirty="0" smtClean="0">
                          <a:effectLst/>
                        </a:rPr>
                        <a:t> </a:t>
                      </a:r>
                      <a:r>
                        <a:rPr lang="en-US" sz="2400" b="1" dirty="0">
                          <a:effectLst/>
                        </a:rPr>
                        <a:t>= +</a:t>
                      </a:r>
                      <a:r>
                        <a:rPr lang="en-US" sz="2800" b="1" dirty="0">
                          <a:solidFill>
                            <a:srgbClr val="FF0066"/>
                          </a:solidFill>
                          <a:effectLst/>
                        </a:rPr>
                        <a:t>32</a:t>
                      </a:r>
                      <a:endParaRPr lang="en-US" sz="2800" b="1" dirty="0">
                        <a:solidFill>
                          <a:srgbClr val="FF0066"/>
                        </a:solidFill>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400" b="1" dirty="0">
                          <a:effectLst/>
                        </a:rPr>
                        <a:t> </a:t>
                      </a:r>
                      <a:endParaRPr lang="en-US" sz="2400" b="1"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400" b="1" dirty="0">
                          <a:effectLst/>
                        </a:rPr>
                        <a:t>∑</a:t>
                      </a:r>
                      <a:r>
                        <a:rPr lang="en-US" sz="3200" b="1" baseline="-25000" dirty="0" smtClean="0">
                          <a:effectLst/>
                        </a:rPr>
                        <a:t>f.d</a:t>
                      </a:r>
                      <a:r>
                        <a:rPr lang="en-US" sz="3200" b="1" baseline="30000" dirty="0" smtClean="0">
                          <a:effectLst/>
                        </a:rPr>
                        <a:t>2</a:t>
                      </a:r>
                      <a:r>
                        <a:rPr lang="en-US" sz="2400" b="1" dirty="0" smtClean="0">
                          <a:effectLst/>
                        </a:rPr>
                        <a:t>  </a:t>
                      </a:r>
                      <a:r>
                        <a:rPr lang="en-US" sz="2400" b="1" dirty="0">
                          <a:effectLst/>
                        </a:rPr>
                        <a:t>= </a:t>
                      </a:r>
                      <a:r>
                        <a:rPr lang="en-US" sz="2400" b="1" dirty="0">
                          <a:solidFill>
                            <a:srgbClr val="FF0000"/>
                          </a:solidFill>
                          <a:effectLst/>
                        </a:rPr>
                        <a:t>122</a:t>
                      </a:r>
                      <a:endParaRPr lang="en-US" sz="2400" b="1" dirty="0">
                        <a:solidFill>
                          <a:srgbClr val="FF0000"/>
                        </a:solidFill>
                        <a:effectLst/>
                        <a:latin typeface="Calibri"/>
                        <a:ea typeface="Calibri"/>
                        <a:cs typeface="Times New Roman"/>
                      </a:endParaRPr>
                    </a:p>
                  </a:txBody>
                  <a:tcPr marL="68580" marR="68580" marT="0" marB="0"/>
                </a:tc>
              </a:tr>
            </a:tbl>
          </a:graphicData>
        </a:graphic>
      </p:graphicFrame>
      <p:pic>
        <p:nvPicPr>
          <p:cNvPr id="5" name="Picture 2"/>
          <p:cNvPicPr>
            <a:picLocks noChangeAspect="1" noChangeArrowheads="1"/>
          </p:cNvPicPr>
          <p:nvPr/>
        </p:nvPicPr>
        <p:blipFill>
          <a:blip r:embed="rId2" cstate="print"/>
          <a:srcRect/>
          <a:stretch>
            <a:fillRect/>
          </a:stretch>
        </p:blipFill>
        <p:spPr bwMode="auto">
          <a:xfrm>
            <a:off x="0" y="381000"/>
            <a:ext cx="3200400" cy="990600"/>
          </a:xfrm>
          <a:prstGeom prst="rect">
            <a:avLst/>
          </a:prstGeom>
          <a:noFill/>
          <a:ln w="9525">
            <a:noFill/>
            <a:miter lim="800000"/>
            <a:headEnd/>
            <a:tailEnd/>
          </a:ln>
          <a:effectLst/>
        </p:spPr>
      </p:pic>
      <p:pic>
        <p:nvPicPr>
          <p:cNvPr id="6" name="Picture 2"/>
          <p:cNvPicPr>
            <a:picLocks noChangeAspect="1" noChangeArrowheads="1"/>
          </p:cNvPicPr>
          <p:nvPr/>
        </p:nvPicPr>
        <p:blipFill>
          <a:blip r:embed="rId3" cstate="print"/>
          <a:srcRect/>
          <a:stretch>
            <a:fillRect/>
          </a:stretch>
        </p:blipFill>
        <p:spPr bwMode="auto">
          <a:xfrm>
            <a:off x="4572000" y="0"/>
            <a:ext cx="4229100" cy="1228725"/>
          </a:xfrm>
          <a:prstGeom prst="rect">
            <a:avLst/>
          </a:prstGeom>
          <a:noFill/>
          <a:ln w="9525">
            <a:noFill/>
            <a:miter lim="800000"/>
            <a:headEnd/>
            <a:tailEnd/>
          </a:ln>
          <a:effectLst/>
        </p:spPr>
      </p:pic>
    </p:spTree>
    <p:extLst>
      <p:ext uri="{BB962C8B-B14F-4D97-AF65-F5344CB8AC3E}">
        <p14:creationId xmlns:p14="http://schemas.microsoft.com/office/powerpoint/2010/main" val="2910175490"/>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72000" y="2286000"/>
            <a:ext cx="4572000" cy="16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4800" y="2590800"/>
            <a:ext cx="3343275" cy="1476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2"/>
          <p:cNvPicPr>
            <a:picLocks noChangeAspect="1" noChangeArrowheads="1"/>
          </p:cNvPicPr>
          <p:nvPr/>
        </p:nvPicPr>
        <p:blipFill>
          <a:blip r:embed="rId4" cstate="print"/>
          <a:srcRect/>
          <a:stretch>
            <a:fillRect/>
          </a:stretch>
        </p:blipFill>
        <p:spPr bwMode="auto">
          <a:xfrm>
            <a:off x="381000" y="762000"/>
            <a:ext cx="3200400" cy="1143000"/>
          </a:xfrm>
          <a:prstGeom prst="rect">
            <a:avLst/>
          </a:prstGeom>
          <a:noFill/>
          <a:ln w="9525">
            <a:noFill/>
            <a:miter lim="800000"/>
            <a:headEnd/>
            <a:tailEnd/>
          </a:ln>
          <a:effectLst/>
        </p:spPr>
      </p:pic>
      <p:pic>
        <p:nvPicPr>
          <p:cNvPr id="13" name="Picture 2"/>
          <p:cNvPicPr>
            <a:picLocks noGrp="1" noChangeAspect="1" noChangeArrowheads="1"/>
          </p:cNvPicPr>
          <p:nvPr>
            <p:ph idx="1"/>
          </p:nvPr>
        </p:nvPicPr>
        <p:blipFill>
          <a:blip r:embed="rId5" cstate="print"/>
          <a:srcRect/>
          <a:stretch>
            <a:fillRect/>
          </a:stretch>
        </p:blipFill>
        <p:spPr bwMode="auto">
          <a:xfrm>
            <a:off x="4648200" y="533400"/>
            <a:ext cx="4229100" cy="1228725"/>
          </a:xfrm>
          <a:prstGeom prst="rect">
            <a:avLst/>
          </a:prstGeom>
          <a:noFill/>
          <a:ln w="9525">
            <a:noFill/>
            <a:miter lim="800000"/>
            <a:headEnd/>
            <a:tailEnd/>
          </a:ln>
          <a:effectLst/>
        </p:spPr>
      </p:pic>
    </p:spTree>
    <p:extLst>
      <p:ext uri="{BB962C8B-B14F-4D97-AF65-F5344CB8AC3E}">
        <p14:creationId xmlns:p14="http://schemas.microsoft.com/office/powerpoint/2010/main" val="4035355106"/>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1219200"/>
          </a:xfrm>
        </p:spPr>
        <p:txBody>
          <a:bodyPr/>
          <a:lstStyle/>
          <a:p>
            <a:pPr marL="0" indent="0" algn="just">
              <a:buNone/>
            </a:pPr>
            <a:r>
              <a:rPr lang="en-US" b="1" dirty="0" smtClean="0">
                <a:solidFill>
                  <a:srgbClr val="FF0000"/>
                </a:solidFill>
              </a:rPr>
              <a:t>EX: </a:t>
            </a:r>
            <a:r>
              <a:rPr lang="en-US" dirty="0" smtClean="0"/>
              <a:t>From the prices of shares of X and Y, Find out which is </a:t>
            </a:r>
            <a:r>
              <a:rPr lang="en-US" b="1" dirty="0" smtClean="0">
                <a:solidFill>
                  <a:srgbClr val="FF0000"/>
                </a:solidFill>
                <a:effectLst>
                  <a:outerShdw blurRad="38100" dist="38100" dir="2700000" algn="tl">
                    <a:srgbClr val="000000">
                      <a:alpha val="43137"/>
                    </a:srgbClr>
                  </a:outerShdw>
                </a:effectLst>
              </a:rPr>
              <a:t>more stable in value</a:t>
            </a:r>
            <a:r>
              <a:rPr lang="en-US" dirty="0" smtClean="0"/>
              <a:t>?</a:t>
            </a:r>
          </a:p>
          <a:p>
            <a:endParaRPr lang="en-US" dirty="0"/>
          </a:p>
        </p:txBody>
      </p:sp>
      <p:graphicFrame>
        <p:nvGraphicFramePr>
          <p:cNvPr id="4" name="Table 3"/>
          <p:cNvGraphicFramePr>
            <a:graphicFrameLocks noGrp="1"/>
          </p:cNvGraphicFramePr>
          <p:nvPr/>
        </p:nvGraphicFramePr>
        <p:xfrm>
          <a:off x="2743200" y="1371600"/>
          <a:ext cx="3276600" cy="5398008"/>
        </p:xfrm>
        <a:graphic>
          <a:graphicData uri="http://schemas.openxmlformats.org/drawingml/2006/table">
            <a:tbl>
              <a:tblPr/>
              <a:tblGrid>
                <a:gridCol w="1948249"/>
                <a:gridCol w="1328351"/>
              </a:tblGrid>
              <a:tr h="289236">
                <a:tc>
                  <a:txBody>
                    <a:bodyPr/>
                    <a:lstStyle/>
                    <a:p>
                      <a:pPr marL="0" marR="0" algn="ctr">
                        <a:lnSpc>
                          <a:spcPct val="115000"/>
                        </a:lnSpc>
                        <a:spcBef>
                          <a:spcPts val="0"/>
                        </a:spcBef>
                        <a:spcAft>
                          <a:spcPts val="0"/>
                        </a:spcAft>
                      </a:pPr>
                      <a:r>
                        <a:rPr lang="en-US" sz="2800" dirty="0">
                          <a:solidFill>
                            <a:srgbClr val="FF0000"/>
                          </a:solidFill>
                          <a:latin typeface="Calibri"/>
                          <a:ea typeface="Calibri"/>
                          <a:cs typeface="Times New Roman"/>
                        </a:rPr>
                        <a:t>x</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800" dirty="0">
                          <a:solidFill>
                            <a:srgbClr val="FF0000"/>
                          </a:solidFill>
                          <a:latin typeface="Calibri"/>
                          <a:ea typeface="Calibri"/>
                          <a:cs typeface="Times New Roman"/>
                        </a:rPr>
                        <a:t>y</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9236">
                <a:tc>
                  <a:txBody>
                    <a:bodyPr/>
                    <a:lstStyle/>
                    <a:p>
                      <a:pPr marL="0" marR="0" algn="ctr">
                        <a:lnSpc>
                          <a:spcPct val="115000"/>
                        </a:lnSpc>
                        <a:spcBef>
                          <a:spcPts val="0"/>
                        </a:spcBef>
                        <a:spcAft>
                          <a:spcPts val="0"/>
                        </a:spcAft>
                      </a:pPr>
                      <a:r>
                        <a:rPr lang="en-US" sz="2800" dirty="0">
                          <a:latin typeface="Calibri"/>
                          <a:ea typeface="Calibri"/>
                          <a:cs typeface="Times New Roman"/>
                        </a:rPr>
                        <a:t>35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800" dirty="0">
                          <a:latin typeface="Calibri"/>
                          <a:ea typeface="Calibri"/>
                          <a:cs typeface="Times New Roman"/>
                        </a:rPr>
                        <a:t>108</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9236">
                <a:tc>
                  <a:txBody>
                    <a:bodyPr/>
                    <a:lstStyle/>
                    <a:p>
                      <a:pPr marL="0" marR="0" algn="ctr">
                        <a:lnSpc>
                          <a:spcPct val="115000"/>
                        </a:lnSpc>
                        <a:spcBef>
                          <a:spcPts val="0"/>
                        </a:spcBef>
                        <a:spcAft>
                          <a:spcPts val="0"/>
                        </a:spcAft>
                      </a:pPr>
                      <a:r>
                        <a:rPr lang="en-US" sz="2800" dirty="0">
                          <a:latin typeface="Calibri"/>
                          <a:ea typeface="Calibri"/>
                          <a:cs typeface="Times New Roman"/>
                        </a:rPr>
                        <a:t>54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800" dirty="0">
                          <a:latin typeface="Calibri"/>
                          <a:ea typeface="Calibri"/>
                          <a:cs typeface="Times New Roman"/>
                        </a:rPr>
                        <a:t>107</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9236">
                <a:tc>
                  <a:txBody>
                    <a:bodyPr/>
                    <a:lstStyle/>
                    <a:p>
                      <a:pPr marL="0" marR="0" algn="ctr">
                        <a:lnSpc>
                          <a:spcPct val="115000"/>
                        </a:lnSpc>
                        <a:spcBef>
                          <a:spcPts val="0"/>
                        </a:spcBef>
                        <a:spcAft>
                          <a:spcPts val="0"/>
                        </a:spcAft>
                      </a:pPr>
                      <a:r>
                        <a:rPr lang="en-US" sz="2800" dirty="0">
                          <a:latin typeface="Calibri"/>
                          <a:ea typeface="Calibri"/>
                          <a:cs typeface="Times New Roman"/>
                        </a:rPr>
                        <a:t>52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800" dirty="0">
                          <a:latin typeface="Calibri"/>
                          <a:ea typeface="Calibri"/>
                          <a:cs typeface="Times New Roman"/>
                        </a:rPr>
                        <a:t>105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9236">
                <a:tc>
                  <a:txBody>
                    <a:bodyPr/>
                    <a:lstStyle/>
                    <a:p>
                      <a:pPr marL="0" marR="0" algn="ctr">
                        <a:lnSpc>
                          <a:spcPct val="115000"/>
                        </a:lnSpc>
                        <a:spcBef>
                          <a:spcPts val="0"/>
                        </a:spcBef>
                        <a:spcAft>
                          <a:spcPts val="0"/>
                        </a:spcAft>
                      </a:pPr>
                      <a:r>
                        <a:rPr lang="en-US" sz="2800" dirty="0">
                          <a:latin typeface="Calibri"/>
                          <a:ea typeface="Calibri"/>
                          <a:cs typeface="Times New Roman"/>
                        </a:rPr>
                        <a:t>53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800" dirty="0">
                          <a:latin typeface="Calibri"/>
                          <a:ea typeface="Calibri"/>
                          <a:cs typeface="Times New Roman"/>
                        </a:rPr>
                        <a:t>105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9236">
                <a:tc>
                  <a:txBody>
                    <a:bodyPr/>
                    <a:lstStyle/>
                    <a:p>
                      <a:pPr marL="0" marR="0" algn="ctr">
                        <a:lnSpc>
                          <a:spcPct val="115000"/>
                        </a:lnSpc>
                        <a:spcBef>
                          <a:spcPts val="0"/>
                        </a:spcBef>
                        <a:spcAft>
                          <a:spcPts val="0"/>
                        </a:spcAft>
                      </a:pPr>
                      <a:r>
                        <a:rPr lang="en-US" sz="2800" dirty="0">
                          <a:latin typeface="Calibri"/>
                          <a:ea typeface="Calibri"/>
                          <a:cs typeface="Times New Roman"/>
                        </a:rPr>
                        <a:t>56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800" dirty="0">
                          <a:latin typeface="Calibri"/>
                          <a:ea typeface="Calibri"/>
                          <a:cs typeface="Times New Roman"/>
                        </a:rPr>
                        <a:t>106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9236">
                <a:tc>
                  <a:txBody>
                    <a:bodyPr/>
                    <a:lstStyle/>
                    <a:p>
                      <a:pPr marL="0" marR="0" algn="ctr">
                        <a:lnSpc>
                          <a:spcPct val="115000"/>
                        </a:lnSpc>
                        <a:spcBef>
                          <a:spcPts val="0"/>
                        </a:spcBef>
                        <a:spcAft>
                          <a:spcPts val="0"/>
                        </a:spcAft>
                      </a:pPr>
                      <a:r>
                        <a:rPr lang="en-US" sz="2800" dirty="0">
                          <a:latin typeface="Calibri"/>
                          <a:ea typeface="Calibri"/>
                          <a:cs typeface="Times New Roman"/>
                        </a:rPr>
                        <a:t>58</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800" dirty="0">
                          <a:latin typeface="Calibri"/>
                          <a:ea typeface="Calibri"/>
                          <a:cs typeface="Times New Roman"/>
                        </a:rPr>
                        <a:t>107</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07719">
                <a:tc>
                  <a:txBody>
                    <a:bodyPr/>
                    <a:lstStyle/>
                    <a:p>
                      <a:pPr marL="0" marR="0" algn="ctr">
                        <a:lnSpc>
                          <a:spcPct val="115000"/>
                        </a:lnSpc>
                        <a:spcBef>
                          <a:spcPts val="0"/>
                        </a:spcBef>
                        <a:spcAft>
                          <a:spcPts val="0"/>
                        </a:spcAft>
                      </a:pPr>
                      <a:r>
                        <a:rPr lang="en-US" sz="2800">
                          <a:latin typeface="Calibri"/>
                          <a:ea typeface="Calibri"/>
                          <a:cs typeface="Times New Roman"/>
                        </a:rPr>
                        <a:t>52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800" dirty="0">
                          <a:latin typeface="Calibri"/>
                          <a:ea typeface="Calibri"/>
                          <a:cs typeface="Times New Roman"/>
                        </a:rPr>
                        <a:t>104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9236">
                <a:tc>
                  <a:txBody>
                    <a:bodyPr/>
                    <a:lstStyle/>
                    <a:p>
                      <a:pPr marL="0" marR="0" algn="ctr">
                        <a:lnSpc>
                          <a:spcPct val="115000"/>
                        </a:lnSpc>
                        <a:spcBef>
                          <a:spcPts val="0"/>
                        </a:spcBef>
                        <a:spcAft>
                          <a:spcPts val="0"/>
                        </a:spcAft>
                      </a:pPr>
                      <a:r>
                        <a:rPr lang="en-US" sz="2800">
                          <a:latin typeface="Calibri"/>
                          <a:ea typeface="Calibri"/>
                          <a:cs typeface="Times New Roman"/>
                        </a:rPr>
                        <a:t>50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800" dirty="0">
                          <a:latin typeface="Calibri"/>
                          <a:ea typeface="Calibri"/>
                          <a:cs typeface="Times New Roman"/>
                        </a:rPr>
                        <a:t>103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9236">
                <a:tc>
                  <a:txBody>
                    <a:bodyPr/>
                    <a:lstStyle/>
                    <a:p>
                      <a:pPr marL="0" marR="0" algn="ctr">
                        <a:lnSpc>
                          <a:spcPct val="115000"/>
                        </a:lnSpc>
                        <a:spcBef>
                          <a:spcPts val="0"/>
                        </a:spcBef>
                        <a:spcAft>
                          <a:spcPts val="0"/>
                        </a:spcAft>
                      </a:pPr>
                      <a:r>
                        <a:rPr lang="en-US" sz="2800">
                          <a:latin typeface="Calibri"/>
                          <a:ea typeface="Calibri"/>
                          <a:cs typeface="Times New Roman"/>
                        </a:rPr>
                        <a:t>51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800" dirty="0">
                          <a:latin typeface="Calibri"/>
                          <a:ea typeface="Calibri"/>
                          <a:cs typeface="Times New Roman"/>
                        </a:rPr>
                        <a:t>104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9236">
                <a:tc>
                  <a:txBody>
                    <a:bodyPr/>
                    <a:lstStyle/>
                    <a:p>
                      <a:pPr marL="0" marR="0" algn="ctr">
                        <a:lnSpc>
                          <a:spcPct val="115000"/>
                        </a:lnSpc>
                        <a:spcBef>
                          <a:spcPts val="0"/>
                        </a:spcBef>
                        <a:spcAft>
                          <a:spcPts val="0"/>
                        </a:spcAft>
                      </a:pPr>
                      <a:r>
                        <a:rPr lang="en-US" sz="2800" dirty="0">
                          <a:latin typeface="Calibri"/>
                          <a:ea typeface="Calibri"/>
                          <a:cs typeface="Times New Roman"/>
                        </a:rPr>
                        <a:t>49</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800" dirty="0">
                          <a:latin typeface="Calibri"/>
                          <a:ea typeface="Calibri"/>
                          <a:cs typeface="Times New Roman"/>
                        </a:rPr>
                        <a:t>101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1577597070"/>
              </p:ext>
            </p:extLst>
          </p:nvPr>
        </p:nvGraphicFramePr>
        <p:xfrm>
          <a:off x="762000" y="1066800"/>
          <a:ext cx="7696200" cy="5468112"/>
        </p:xfrm>
        <a:graphic>
          <a:graphicData uri="http://schemas.openxmlformats.org/drawingml/2006/table">
            <a:tbl>
              <a:tblPr/>
              <a:tblGrid>
                <a:gridCol w="1282700"/>
                <a:gridCol w="1282700"/>
                <a:gridCol w="1282700"/>
                <a:gridCol w="1282700"/>
                <a:gridCol w="1282700"/>
                <a:gridCol w="1282700"/>
              </a:tblGrid>
              <a:tr h="0">
                <a:tc>
                  <a:txBody>
                    <a:bodyPr/>
                    <a:lstStyle/>
                    <a:p>
                      <a:pPr marL="0" marR="0" algn="ctr">
                        <a:lnSpc>
                          <a:spcPct val="115000"/>
                        </a:lnSpc>
                        <a:spcBef>
                          <a:spcPts val="0"/>
                        </a:spcBef>
                        <a:spcAft>
                          <a:spcPts val="0"/>
                        </a:spcAft>
                      </a:pPr>
                      <a:r>
                        <a:rPr lang="en-US" sz="2400" dirty="0">
                          <a:latin typeface="Calibri"/>
                          <a:ea typeface="Calibri"/>
                          <a:cs typeface="Times New Roman"/>
                        </a:rPr>
                        <a:t>x</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CC"/>
                    </a:solidFill>
                  </a:tcPr>
                </a:tc>
                <a:tc>
                  <a:txBody>
                    <a:bodyPr/>
                    <a:lstStyle/>
                    <a:p>
                      <a:pPr marL="0" marR="0" algn="ctr">
                        <a:lnSpc>
                          <a:spcPct val="115000"/>
                        </a:lnSpc>
                        <a:spcBef>
                          <a:spcPts val="0"/>
                        </a:spcBef>
                        <a:spcAft>
                          <a:spcPts val="0"/>
                        </a:spcAft>
                      </a:pPr>
                      <a:r>
                        <a:rPr lang="en-US" sz="2400" b="1" dirty="0">
                          <a:solidFill>
                            <a:srgbClr val="FF0000"/>
                          </a:solidFill>
                          <a:latin typeface="Calibri"/>
                          <a:ea typeface="Calibri"/>
                          <a:cs typeface="Times New Roman"/>
                        </a:rPr>
                        <a:t>X</a:t>
                      </a:r>
                      <a:r>
                        <a:rPr lang="en-US" sz="2400" b="1" dirty="0">
                          <a:latin typeface="Calibri"/>
                          <a:ea typeface="Calibri"/>
                          <a:cs typeface="Times New Roman"/>
                        </a:rPr>
                        <a:t>= X -   X̄ </a:t>
                      </a:r>
                      <a:endParaRPr lang="en-US" sz="2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b="1" dirty="0">
                          <a:solidFill>
                            <a:srgbClr val="FF0066"/>
                          </a:solidFill>
                          <a:latin typeface="Calibri"/>
                          <a:ea typeface="Calibri"/>
                          <a:cs typeface="Times New Roman"/>
                        </a:rPr>
                        <a:t>x</a:t>
                      </a:r>
                      <a:r>
                        <a:rPr lang="en-US" sz="2400" b="1" baseline="30000" dirty="0">
                          <a:solidFill>
                            <a:srgbClr val="FF0066"/>
                          </a:solidFill>
                          <a:latin typeface="Calibri"/>
                          <a:ea typeface="Calibri"/>
                          <a:cs typeface="Times New Roman"/>
                        </a:rPr>
                        <a:t>2</a:t>
                      </a:r>
                      <a:r>
                        <a:rPr lang="en-US" sz="2400" b="1" dirty="0">
                          <a:latin typeface="Calibri"/>
                          <a:ea typeface="Calibri"/>
                          <a:cs typeface="Times New Roman"/>
                        </a:rPr>
                        <a:t> </a:t>
                      </a:r>
                      <a:endParaRPr lang="en-US" sz="2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dirty="0">
                          <a:latin typeface="Calibri"/>
                          <a:ea typeface="Calibri"/>
                          <a:cs typeface="Times New Roman"/>
                        </a:rPr>
                        <a:t>y</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CC"/>
                    </a:solidFill>
                  </a:tcPr>
                </a:tc>
                <a:tc>
                  <a:txBody>
                    <a:bodyPr/>
                    <a:lstStyle/>
                    <a:p>
                      <a:pPr marL="0" marR="0" algn="ctr">
                        <a:lnSpc>
                          <a:spcPct val="115000"/>
                        </a:lnSpc>
                        <a:spcBef>
                          <a:spcPts val="0"/>
                        </a:spcBef>
                        <a:spcAft>
                          <a:spcPts val="0"/>
                        </a:spcAft>
                      </a:pPr>
                      <a:r>
                        <a:rPr lang="en-US" sz="2400" b="1" dirty="0">
                          <a:solidFill>
                            <a:srgbClr val="FF0000"/>
                          </a:solidFill>
                          <a:latin typeface="Calibri"/>
                          <a:ea typeface="Calibri"/>
                          <a:cs typeface="Times New Roman"/>
                        </a:rPr>
                        <a:t>Y</a:t>
                      </a:r>
                      <a:r>
                        <a:rPr lang="en-US" sz="2400" dirty="0">
                          <a:latin typeface="Calibri"/>
                          <a:ea typeface="Calibri"/>
                          <a:cs typeface="Times New Roman"/>
                        </a:rPr>
                        <a:t> = y-</a:t>
                      </a:r>
                      <a:r>
                        <a:rPr lang="en-US" sz="2400" dirty="0">
                          <a:latin typeface="Calibri"/>
                          <a:ea typeface="Calibri"/>
                          <a:cs typeface="Calibri"/>
                        </a:rPr>
                        <a:t>Ȳ</a:t>
                      </a:r>
                      <a:endParaRPr lang="en-US" sz="2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dirty="0">
                          <a:solidFill>
                            <a:srgbClr val="FF0066"/>
                          </a:solidFill>
                          <a:latin typeface="Calibri"/>
                          <a:ea typeface="Calibri"/>
                          <a:cs typeface="Times New Roman"/>
                        </a:rPr>
                        <a:t>y</a:t>
                      </a:r>
                      <a:r>
                        <a:rPr lang="en-US" sz="2400" b="1" baseline="30000" dirty="0">
                          <a:solidFill>
                            <a:srgbClr val="FF0066"/>
                          </a:solidFill>
                          <a:latin typeface="Calibri"/>
                          <a:ea typeface="Calibri"/>
                          <a:cs typeface="Times New Roman"/>
                        </a:rPr>
                        <a:t>2</a:t>
                      </a:r>
                      <a:endParaRPr lang="en-US" sz="2400" dirty="0">
                        <a:solidFill>
                          <a:srgbClr val="FF0066"/>
                        </a:solidFill>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marL="0" marR="0" algn="ctr">
                        <a:lnSpc>
                          <a:spcPct val="115000"/>
                        </a:lnSpc>
                        <a:spcBef>
                          <a:spcPts val="0"/>
                        </a:spcBef>
                        <a:spcAft>
                          <a:spcPts val="0"/>
                        </a:spcAft>
                      </a:pPr>
                      <a:r>
                        <a:rPr lang="en-US" sz="2400" dirty="0">
                          <a:latin typeface="Calibri"/>
                          <a:ea typeface="Calibri"/>
                          <a:cs typeface="Times New Roman"/>
                        </a:rPr>
                        <a:t>35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CC"/>
                    </a:solidFill>
                  </a:tcPr>
                </a:tc>
                <a:tc>
                  <a:txBody>
                    <a:bodyPr/>
                    <a:lstStyle/>
                    <a:p>
                      <a:pPr marL="0" marR="0" algn="ctr">
                        <a:lnSpc>
                          <a:spcPct val="115000"/>
                        </a:lnSpc>
                        <a:spcBef>
                          <a:spcPts val="0"/>
                        </a:spcBef>
                        <a:spcAft>
                          <a:spcPts val="0"/>
                        </a:spcAft>
                      </a:pPr>
                      <a:r>
                        <a:rPr lang="en-US" sz="2400" dirty="0">
                          <a:latin typeface="Calibri"/>
                          <a:ea typeface="Calibri"/>
                          <a:cs typeface="Times New Roman"/>
                        </a:rPr>
                        <a:t>-16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dirty="0" smtClean="0">
                          <a:latin typeface="Calibri"/>
                          <a:ea typeface="Calibri"/>
                          <a:cs typeface="Times New Roman"/>
                        </a:rPr>
                        <a:t>256</a:t>
                      </a:r>
                      <a:endParaRPr lang="en-US" sz="2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dirty="0">
                          <a:latin typeface="Calibri"/>
                          <a:ea typeface="Calibri"/>
                          <a:cs typeface="Times New Roman"/>
                        </a:rPr>
                        <a:t>108</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CC"/>
                    </a:solidFill>
                  </a:tcPr>
                </a:tc>
                <a:tc>
                  <a:txBody>
                    <a:bodyPr/>
                    <a:lstStyle/>
                    <a:p>
                      <a:pPr marL="0" marR="0" algn="ctr">
                        <a:lnSpc>
                          <a:spcPct val="115000"/>
                        </a:lnSpc>
                        <a:spcBef>
                          <a:spcPts val="0"/>
                        </a:spcBef>
                        <a:spcAft>
                          <a:spcPts val="0"/>
                        </a:spcAft>
                      </a:pPr>
                      <a:r>
                        <a:rPr lang="en-US" sz="2400">
                          <a:latin typeface="Calibri"/>
                          <a:ea typeface="Calibri"/>
                          <a:cs typeface="Times New Roman"/>
                        </a:rPr>
                        <a:t>+3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a:latin typeface="Calibri"/>
                          <a:ea typeface="Calibri"/>
                          <a:cs typeface="Times New Roman"/>
                        </a:rPr>
                        <a:t>9</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marL="0" marR="0" algn="ctr">
                        <a:lnSpc>
                          <a:spcPct val="115000"/>
                        </a:lnSpc>
                        <a:spcBef>
                          <a:spcPts val="0"/>
                        </a:spcBef>
                        <a:spcAft>
                          <a:spcPts val="0"/>
                        </a:spcAft>
                      </a:pPr>
                      <a:r>
                        <a:rPr lang="en-US" sz="2400" dirty="0">
                          <a:latin typeface="Calibri"/>
                          <a:ea typeface="Calibri"/>
                          <a:cs typeface="Times New Roman"/>
                        </a:rPr>
                        <a:t>54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CC"/>
                    </a:solidFill>
                  </a:tcPr>
                </a:tc>
                <a:tc>
                  <a:txBody>
                    <a:bodyPr/>
                    <a:lstStyle/>
                    <a:p>
                      <a:pPr marL="0" marR="0" algn="ctr">
                        <a:lnSpc>
                          <a:spcPct val="115000"/>
                        </a:lnSpc>
                        <a:spcBef>
                          <a:spcPts val="0"/>
                        </a:spcBef>
                        <a:spcAft>
                          <a:spcPts val="0"/>
                        </a:spcAft>
                      </a:pPr>
                      <a:r>
                        <a:rPr lang="en-US" sz="2400" dirty="0">
                          <a:latin typeface="Calibri"/>
                          <a:ea typeface="Calibri"/>
                          <a:cs typeface="Times New Roman"/>
                        </a:rPr>
                        <a:t>+3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a:latin typeface="Calibri"/>
                          <a:ea typeface="Calibri"/>
                          <a:cs typeface="Times New Roman"/>
                        </a:rPr>
                        <a:t>9</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dirty="0">
                          <a:latin typeface="Calibri"/>
                          <a:ea typeface="Calibri"/>
                          <a:cs typeface="Times New Roman"/>
                        </a:rPr>
                        <a:t>107</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CC"/>
                    </a:solidFill>
                  </a:tcPr>
                </a:tc>
                <a:tc>
                  <a:txBody>
                    <a:bodyPr/>
                    <a:lstStyle/>
                    <a:p>
                      <a:pPr marL="0" marR="0" algn="ctr">
                        <a:lnSpc>
                          <a:spcPct val="115000"/>
                        </a:lnSpc>
                        <a:spcBef>
                          <a:spcPts val="0"/>
                        </a:spcBef>
                        <a:spcAft>
                          <a:spcPts val="0"/>
                        </a:spcAft>
                      </a:pPr>
                      <a:r>
                        <a:rPr lang="en-US" sz="2400">
                          <a:latin typeface="Calibri"/>
                          <a:ea typeface="Calibri"/>
                          <a:cs typeface="Times New Roman"/>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a:latin typeface="Calibri"/>
                          <a:ea typeface="Calibri"/>
                          <a:cs typeface="Times New Roman"/>
                        </a:rPr>
                        <a:t>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marL="0" marR="0" algn="ctr">
                        <a:lnSpc>
                          <a:spcPct val="115000"/>
                        </a:lnSpc>
                        <a:spcBef>
                          <a:spcPts val="0"/>
                        </a:spcBef>
                        <a:spcAft>
                          <a:spcPts val="0"/>
                        </a:spcAft>
                      </a:pPr>
                      <a:r>
                        <a:rPr lang="en-US" sz="2400" dirty="0">
                          <a:latin typeface="Calibri"/>
                          <a:ea typeface="Calibri"/>
                          <a:cs typeface="Times New Roman"/>
                        </a:rPr>
                        <a:t>52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CC"/>
                    </a:solidFill>
                  </a:tcPr>
                </a:tc>
                <a:tc>
                  <a:txBody>
                    <a:bodyPr/>
                    <a:lstStyle/>
                    <a:p>
                      <a:pPr marL="0" marR="0" algn="ctr">
                        <a:lnSpc>
                          <a:spcPct val="115000"/>
                        </a:lnSpc>
                        <a:spcBef>
                          <a:spcPts val="0"/>
                        </a:spcBef>
                        <a:spcAft>
                          <a:spcPts val="0"/>
                        </a:spcAft>
                      </a:pPr>
                      <a:r>
                        <a:rPr lang="en-US" sz="2400" dirty="0">
                          <a:latin typeface="Calibri"/>
                          <a:ea typeface="Calibri"/>
                          <a:cs typeface="Times New Roman"/>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a:latin typeface="Calibri"/>
                          <a:ea typeface="Calibri"/>
                          <a:cs typeface="Times New Roman"/>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dirty="0">
                          <a:latin typeface="Calibri"/>
                          <a:ea typeface="Calibri"/>
                          <a:cs typeface="Times New Roman"/>
                        </a:rPr>
                        <a:t>105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CC"/>
                    </a:solidFill>
                  </a:tcPr>
                </a:tc>
                <a:tc>
                  <a:txBody>
                    <a:bodyPr/>
                    <a:lstStyle/>
                    <a:p>
                      <a:pPr marL="0" marR="0" algn="ctr">
                        <a:lnSpc>
                          <a:spcPct val="115000"/>
                        </a:lnSpc>
                        <a:spcBef>
                          <a:spcPts val="0"/>
                        </a:spcBef>
                        <a:spcAft>
                          <a:spcPts val="0"/>
                        </a:spcAft>
                      </a:pPr>
                      <a:r>
                        <a:rPr lang="en-US" sz="2400">
                          <a:latin typeface="Calibri"/>
                          <a:ea typeface="Calibri"/>
                          <a:cs typeface="Times New Roman"/>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a:latin typeface="Calibri"/>
                          <a:ea typeface="Calibri"/>
                          <a:cs typeface="Times New Roman"/>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marL="0" marR="0" algn="ctr">
                        <a:lnSpc>
                          <a:spcPct val="115000"/>
                        </a:lnSpc>
                        <a:spcBef>
                          <a:spcPts val="0"/>
                        </a:spcBef>
                        <a:spcAft>
                          <a:spcPts val="0"/>
                        </a:spcAft>
                      </a:pPr>
                      <a:r>
                        <a:rPr lang="en-US" sz="2400" dirty="0">
                          <a:latin typeface="Calibri"/>
                          <a:ea typeface="Calibri"/>
                          <a:cs typeface="Times New Roman"/>
                        </a:rPr>
                        <a:t>53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CC"/>
                    </a:solidFill>
                  </a:tcPr>
                </a:tc>
                <a:tc>
                  <a:txBody>
                    <a:bodyPr/>
                    <a:lstStyle/>
                    <a:p>
                      <a:pPr marL="0" marR="0" algn="ctr">
                        <a:lnSpc>
                          <a:spcPct val="115000"/>
                        </a:lnSpc>
                        <a:spcBef>
                          <a:spcPts val="0"/>
                        </a:spcBef>
                        <a:spcAft>
                          <a:spcPts val="0"/>
                        </a:spcAft>
                      </a:pPr>
                      <a:r>
                        <a:rPr lang="en-US" sz="2400" dirty="0">
                          <a:latin typeface="Calibri"/>
                          <a:ea typeface="Calibri"/>
                          <a:cs typeface="Times New Roman"/>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dirty="0">
                          <a:latin typeface="Calibri"/>
                          <a:ea typeface="Calibri"/>
                          <a:cs typeface="Times New Roman"/>
                        </a:rPr>
                        <a:t>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dirty="0">
                          <a:latin typeface="Calibri"/>
                          <a:ea typeface="Calibri"/>
                          <a:cs typeface="Times New Roman"/>
                        </a:rPr>
                        <a:t>105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CC"/>
                    </a:solidFill>
                  </a:tcPr>
                </a:tc>
                <a:tc>
                  <a:txBody>
                    <a:bodyPr/>
                    <a:lstStyle/>
                    <a:p>
                      <a:pPr marL="0" marR="0" algn="ctr">
                        <a:lnSpc>
                          <a:spcPct val="115000"/>
                        </a:lnSpc>
                        <a:spcBef>
                          <a:spcPts val="0"/>
                        </a:spcBef>
                        <a:spcAft>
                          <a:spcPts val="0"/>
                        </a:spcAft>
                      </a:pPr>
                      <a:r>
                        <a:rPr lang="en-US" sz="2400">
                          <a:latin typeface="Calibri"/>
                          <a:ea typeface="Calibri"/>
                          <a:cs typeface="Times New Roman"/>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a:latin typeface="Calibri"/>
                          <a:ea typeface="Calibri"/>
                          <a:cs typeface="Times New Roman"/>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marL="0" marR="0" algn="ctr">
                        <a:lnSpc>
                          <a:spcPct val="115000"/>
                        </a:lnSpc>
                        <a:spcBef>
                          <a:spcPts val="0"/>
                        </a:spcBef>
                        <a:spcAft>
                          <a:spcPts val="0"/>
                        </a:spcAft>
                      </a:pPr>
                      <a:r>
                        <a:rPr lang="en-US" sz="2400" dirty="0">
                          <a:latin typeface="Calibri"/>
                          <a:ea typeface="Calibri"/>
                          <a:cs typeface="Times New Roman"/>
                        </a:rPr>
                        <a:t>56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CC"/>
                    </a:solidFill>
                  </a:tcPr>
                </a:tc>
                <a:tc>
                  <a:txBody>
                    <a:bodyPr/>
                    <a:lstStyle/>
                    <a:p>
                      <a:pPr marL="0" marR="0" algn="ctr">
                        <a:lnSpc>
                          <a:spcPct val="115000"/>
                        </a:lnSpc>
                        <a:spcBef>
                          <a:spcPts val="0"/>
                        </a:spcBef>
                        <a:spcAft>
                          <a:spcPts val="0"/>
                        </a:spcAft>
                      </a:pPr>
                      <a:r>
                        <a:rPr lang="en-US" sz="2400">
                          <a:latin typeface="Calibri"/>
                          <a:ea typeface="Calibri"/>
                          <a:cs typeface="Times New Roman"/>
                        </a:rPr>
                        <a:t>+5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dirty="0">
                          <a:latin typeface="Calibri"/>
                          <a:ea typeface="Calibri"/>
                          <a:cs typeface="Times New Roman"/>
                        </a:rPr>
                        <a:t>25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dirty="0">
                          <a:latin typeface="Calibri"/>
                          <a:ea typeface="Calibri"/>
                          <a:cs typeface="Times New Roman"/>
                        </a:rPr>
                        <a:t>106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CC"/>
                    </a:solidFill>
                  </a:tcPr>
                </a:tc>
                <a:tc>
                  <a:txBody>
                    <a:bodyPr/>
                    <a:lstStyle/>
                    <a:p>
                      <a:pPr marL="0" marR="0" algn="ctr">
                        <a:lnSpc>
                          <a:spcPct val="115000"/>
                        </a:lnSpc>
                        <a:spcBef>
                          <a:spcPts val="0"/>
                        </a:spcBef>
                        <a:spcAft>
                          <a:spcPts val="0"/>
                        </a:spcAft>
                      </a:pPr>
                      <a:r>
                        <a:rPr lang="en-US" sz="2400">
                          <a:latin typeface="Calibri"/>
                          <a:ea typeface="Calibri"/>
                          <a:cs typeface="Times New Roman"/>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a:latin typeface="Calibri"/>
                          <a:ea typeface="Calibri"/>
                          <a:cs typeface="Times New Roman"/>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marL="0" marR="0" algn="ctr">
                        <a:lnSpc>
                          <a:spcPct val="115000"/>
                        </a:lnSpc>
                        <a:spcBef>
                          <a:spcPts val="0"/>
                        </a:spcBef>
                        <a:spcAft>
                          <a:spcPts val="0"/>
                        </a:spcAft>
                      </a:pPr>
                      <a:r>
                        <a:rPr lang="en-US" sz="2400" dirty="0">
                          <a:latin typeface="Calibri"/>
                          <a:ea typeface="Calibri"/>
                          <a:cs typeface="Times New Roman"/>
                        </a:rPr>
                        <a:t>58</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CC"/>
                    </a:solidFill>
                  </a:tcPr>
                </a:tc>
                <a:tc>
                  <a:txBody>
                    <a:bodyPr/>
                    <a:lstStyle/>
                    <a:p>
                      <a:pPr marL="0" marR="0" algn="ctr">
                        <a:lnSpc>
                          <a:spcPct val="115000"/>
                        </a:lnSpc>
                        <a:spcBef>
                          <a:spcPts val="0"/>
                        </a:spcBef>
                        <a:spcAft>
                          <a:spcPts val="0"/>
                        </a:spcAft>
                      </a:pPr>
                      <a:r>
                        <a:rPr lang="en-US" sz="2400" dirty="0">
                          <a:latin typeface="Calibri"/>
                          <a:ea typeface="Calibri"/>
                          <a:cs typeface="Times New Roman"/>
                        </a:rPr>
                        <a:t>+7</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dirty="0">
                          <a:latin typeface="Calibri"/>
                          <a:ea typeface="Calibri"/>
                          <a:cs typeface="Times New Roman"/>
                        </a:rPr>
                        <a:t>49</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dirty="0">
                          <a:latin typeface="Calibri"/>
                          <a:ea typeface="Calibri"/>
                          <a:cs typeface="Times New Roman"/>
                        </a:rPr>
                        <a:t>107</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CC"/>
                    </a:solidFill>
                  </a:tcPr>
                </a:tc>
                <a:tc>
                  <a:txBody>
                    <a:bodyPr/>
                    <a:lstStyle/>
                    <a:p>
                      <a:pPr marL="0" marR="0" algn="ctr">
                        <a:lnSpc>
                          <a:spcPct val="115000"/>
                        </a:lnSpc>
                        <a:spcBef>
                          <a:spcPts val="0"/>
                        </a:spcBef>
                        <a:spcAft>
                          <a:spcPts val="0"/>
                        </a:spcAft>
                      </a:pPr>
                      <a:r>
                        <a:rPr lang="en-US" sz="2400">
                          <a:latin typeface="Calibri"/>
                          <a:ea typeface="Calibri"/>
                          <a:cs typeface="Times New Roman"/>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a:latin typeface="Calibri"/>
                          <a:ea typeface="Calibri"/>
                          <a:cs typeface="Times New Roman"/>
                        </a:rPr>
                        <a:t>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marL="0" marR="0" algn="ctr">
                        <a:lnSpc>
                          <a:spcPct val="115000"/>
                        </a:lnSpc>
                        <a:spcBef>
                          <a:spcPts val="0"/>
                        </a:spcBef>
                        <a:spcAft>
                          <a:spcPts val="0"/>
                        </a:spcAft>
                      </a:pPr>
                      <a:r>
                        <a:rPr lang="en-US" sz="2400" dirty="0">
                          <a:latin typeface="Calibri"/>
                          <a:ea typeface="Calibri"/>
                          <a:cs typeface="Times New Roman"/>
                        </a:rPr>
                        <a:t>52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CC"/>
                    </a:solidFill>
                  </a:tcPr>
                </a:tc>
                <a:tc>
                  <a:txBody>
                    <a:bodyPr/>
                    <a:lstStyle/>
                    <a:p>
                      <a:pPr marL="0" marR="0" algn="ctr">
                        <a:lnSpc>
                          <a:spcPct val="115000"/>
                        </a:lnSpc>
                        <a:spcBef>
                          <a:spcPts val="0"/>
                        </a:spcBef>
                        <a:spcAft>
                          <a:spcPts val="0"/>
                        </a:spcAft>
                      </a:pPr>
                      <a:r>
                        <a:rPr lang="en-US" sz="2400" dirty="0">
                          <a:latin typeface="Calibri"/>
                          <a:ea typeface="Calibri"/>
                          <a:cs typeface="Times New Roman"/>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a:latin typeface="Calibri"/>
                          <a:ea typeface="Calibri"/>
                          <a:cs typeface="Times New Roman"/>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dirty="0">
                          <a:latin typeface="Calibri"/>
                          <a:ea typeface="Calibri"/>
                          <a:cs typeface="Times New Roman"/>
                        </a:rPr>
                        <a:t>104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CC"/>
                    </a:solidFill>
                  </a:tcPr>
                </a:tc>
                <a:tc>
                  <a:txBody>
                    <a:bodyPr/>
                    <a:lstStyle/>
                    <a:p>
                      <a:pPr marL="0" marR="0" algn="ctr">
                        <a:lnSpc>
                          <a:spcPct val="115000"/>
                        </a:lnSpc>
                        <a:spcBef>
                          <a:spcPts val="0"/>
                        </a:spcBef>
                        <a:spcAft>
                          <a:spcPts val="0"/>
                        </a:spcAft>
                      </a:pPr>
                      <a:r>
                        <a:rPr lang="en-US" sz="2400">
                          <a:latin typeface="Calibri"/>
                          <a:ea typeface="Calibri"/>
                          <a:cs typeface="Times New Roman"/>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a:latin typeface="Calibri"/>
                          <a:ea typeface="Calibri"/>
                          <a:cs typeface="Times New Roman"/>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marL="0" marR="0" algn="ctr">
                        <a:lnSpc>
                          <a:spcPct val="115000"/>
                        </a:lnSpc>
                        <a:spcBef>
                          <a:spcPts val="0"/>
                        </a:spcBef>
                        <a:spcAft>
                          <a:spcPts val="0"/>
                        </a:spcAft>
                      </a:pPr>
                      <a:r>
                        <a:rPr lang="en-US" sz="2400" dirty="0">
                          <a:latin typeface="Calibri"/>
                          <a:ea typeface="Calibri"/>
                          <a:cs typeface="Times New Roman"/>
                        </a:rPr>
                        <a:t>50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CC"/>
                    </a:solidFill>
                  </a:tcPr>
                </a:tc>
                <a:tc>
                  <a:txBody>
                    <a:bodyPr/>
                    <a:lstStyle/>
                    <a:p>
                      <a:pPr marL="0" marR="0" algn="ctr">
                        <a:lnSpc>
                          <a:spcPct val="115000"/>
                        </a:lnSpc>
                        <a:spcBef>
                          <a:spcPts val="0"/>
                        </a:spcBef>
                        <a:spcAft>
                          <a:spcPts val="0"/>
                        </a:spcAft>
                      </a:pPr>
                      <a:r>
                        <a:rPr lang="en-US" sz="2400">
                          <a:latin typeface="Calibri"/>
                          <a:ea typeface="Calibri"/>
                          <a:cs typeface="Times New Roman"/>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a:latin typeface="Calibri"/>
                          <a:ea typeface="Calibri"/>
                          <a:cs typeface="Times New Roman"/>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dirty="0">
                          <a:latin typeface="Calibri"/>
                          <a:ea typeface="Calibri"/>
                          <a:cs typeface="Times New Roman"/>
                        </a:rPr>
                        <a:t>103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CC"/>
                    </a:solidFill>
                  </a:tcPr>
                </a:tc>
                <a:tc>
                  <a:txBody>
                    <a:bodyPr/>
                    <a:lstStyle/>
                    <a:p>
                      <a:pPr marL="0" marR="0" algn="ctr">
                        <a:lnSpc>
                          <a:spcPct val="115000"/>
                        </a:lnSpc>
                        <a:spcBef>
                          <a:spcPts val="0"/>
                        </a:spcBef>
                        <a:spcAft>
                          <a:spcPts val="0"/>
                        </a:spcAft>
                      </a:pPr>
                      <a:r>
                        <a:rPr lang="en-US" sz="2400" dirty="0">
                          <a:latin typeface="Calibri"/>
                          <a:ea typeface="Calibri"/>
                          <a:cs typeface="Times New Roman"/>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a:latin typeface="Calibri"/>
                          <a:ea typeface="Calibri"/>
                          <a:cs typeface="Times New Roman"/>
                        </a:rPr>
                        <a:t>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marL="0" marR="0" algn="ctr">
                        <a:lnSpc>
                          <a:spcPct val="115000"/>
                        </a:lnSpc>
                        <a:spcBef>
                          <a:spcPts val="0"/>
                        </a:spcBef>
                        <a:spcAft>
                          <a:spcPts val="0"/>
                        </a:spcAft>
                      </a:pPr>
                      <a:r>
                        <a:rPr lang="en-US" sz="2400" dirty="0">
                          <a:latin typeface="Calibri"/>
                          <a:ea typeface="Calibri"/>
                          <a:cs typeface="Times New Roman"/>
                        </a:rPr>
                        <a:t>51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CC"/>
                    </a:solidFill>
                  </a:tcPr>
                </a:tc>
                <a:tc>
                  <a:txBody>
                    <a:bodyPr/>
                    <a:lstStyle/>
                    <a:p>
                      <a:pPr marL="0" marR="0" algn="ctr">
                        <a:lnSpc>
                          <a:spcPct val="115000"/>
                        </a:lnSpc>
                        <a:spcBef>
                          <a:spcPts val="0"/>
                        </a:spcBef>
                        <a:spcAft>
                          <a:spcPts val="0"/>
                        </a:spcAft>
                      </a:pPr>
                      <a:r>
                        <a:rPr lang="en-US" sz="2400">
                          <a:latin typeface="Calibri"/>
                          <a:ea typeface="Calibri"/>
                          <a:cs typeface="Times New Roman"/>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a:latin typeface="Calibri"/>
                          <a:ea typeface="Calibri"/>
                          <a:cs typeface="Times New Roman"/>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dirty="0">
                          <a:latin typeface="Calibri"/>
                          <a:ea typeface="Calibri"/>
                          <a:cs typeface="Times New Roman"/>
                        </a:rPr>
                        <a:t>104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CC"/>
                    </a:solidFill>
                  </a:tcPr>
                </a:tc>
                <a:tc>
                  <a:txBody>
                    <a:bodyPr/>
                    <a:lstStyle/>
                    <a:p>
                      <a:pPr marL="0" marR="0" algn="ctr">
                        <a:lnSpc>
                          <a:spcPct val="115000"/>
                        </a:lnSpc>
                        <a:spcBef>
                          <a:spcPts val="0"/>
                        </a:spcBef>
                        <a:spcAft>
                          <a:spcPts val="0"/>
                        </a:spcAft>
                      </a:pPr>
                      <a:r>
                        <a:rPr lang="en-US" sz="2400" dirty="0">
                          <a:latin typeface="Calibri"/>
                          <a:ea typeface="Calibri"/>
                          <a:cs typeface="Times New Roman"/>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a:latin typeface="Calibri"/>
                          <a:ea typeface="Calibri"/>
                          <a:cs typeface="Times New Roman"/>
                        </a:rPr>
                        <a:t>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marL="0" marR="0" algn="ctr">
                        <a:lnSpc>
                          <a:spcPct val="115000"/>
                        </a:lnSpc>
                        <a:spcBef>
                          <a:spcPts val="0"/>
                        </a:spcBef>
                        <a:spcAft>
                          <a:spcPts val="0"/>
                        </a:spcAft>
                      </a:pPr>
                      <a:r>
                        <a:rPr lang="en-US" sz="2400" dirty="0">
                          <a:latin typeface="Calibri"/>
                          <a:ea typeface="Calibri"/>
                          <a:cs typeface="Times New Roman"/>
                        </a:rPr>
                        <a:t>49</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CC"/>
                    </a:solidFill>
                  </a:tcPr>
                </a:tc>
                <a:tc>
                  <a:txBody>
                    <a:bodyPr/>
                    <a:lstStyle/>
                    <a:p>
                      <a:pPr marL="0" marR="0" algn="ctr">
                        <a:lnSpc>
                          <a:spcPct val="115000"/>
                        </a:lnSpc>
                        <a:spcBef>
                          <a:spcPts val="0"/>
                        </a:spcBef>
                        <a:spcAft>
                          <a:spcPts val="0"/>
                        </a:spcAft>
                      </a:pPr>
                      <a:r>
                        <a:rPr lang="en-US" sz="2400">
                          <a:latin typeface="Calibri"/>
                          <a:ea typeface="Calibri"/>
                          <a:cs typeface="Times New Roman"/>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a:latin typeface="Calibri"/>
                          <a:ea typeface="Calibri"/>
                          <a:cs typeface="Times New Roman"/>
                        </a:rPr>
                        <a:t>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dirty="0">
                          <a:latin typeface="Calibri"/>
                          <a:ea typeface="Calibri"/>
                          <a:cs typeface="Times New Roman"/>
                        </a:rPr>
                        <a:t>101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CC"/>
                    </a:solidFill>
                  </a:tcPr>
                </a:tc>
                <a:tc>
                  <a:txBody>
                    <a:bodyPr/>
                    <a:lstStyle/>
                    <a:p>
                      <a:pPr marL="0" marR="0" algn="ctr">
                        <a:lnSpc>
                          <a:spcPct val="115000"/>
                        </a:lnSpc>
                        <a:spcBef>
                          <a:spcPts val="0"/>
                        </a:spcBef>
                        <a:spcAft>
                          <a:spcPts val="0"/>
                        </a:spcAft>
                      </a:pPr>
                      <a:r>
                        <a:rPr lang="en-US" sz="2400" dirty="0">
                          <a:latin typeface="Calibri"/>
                          <a:ea typeface="Calibri"/>
                          <a:cs typeface="Times New Roman"/>
                        </a:rPr>
                        <a:t>-4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dirty="0">
                          <a:latin typeface="Calibri"/>
                          <a:ea typeface="Calibri"/>
                          <a:cs typeface="Times New Roman"/>
                        </a:rPr>
                        <a:t>16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marL="0" marR="0" algn="ctr">
                        <a:lnSpc>
                          <a:spcPct val="115000"/>
                        </a:lnSpc>
                        <a:spcBef>
                          <a:spcPts val="0"/>
                        </a:spcBef>
                        <a:spcAft>
                          <a:spcPts val="0"/>
                        </a:spcAft>
                      </a:pPr>
                      <a:r>
                        <a:rPr lang="en-US" sz="2400" b="1" dirty="0">
                          <a:latin typeface="Calibri"/>
                          <a:ea typeface="Calibri"/>
                          <a:cs typeface="Times New Roman"/>
                        </a:rPr>
                        <a:t>∑x</a:t>
                      </a:r>
                      <a:r>
                        <a:rPr lang="en-US" sz="2400" dirty="0">
                          <a:latin typeface="Calibri"/>
                          <a:ea typeface="Calibri"/>
                          <a:cs typeface="Times New Roman"/>
                        </a:rPr>
                        <a:t>= </a:t>
                      </a:r>
                      <a:r>
                        <a:rPr lang="en-US" sz="2400" b="1" dirty="0">
                          <a:solidFill>
                            <a:srgbClr val="002060"/>
                          </a:solidFill>
                          <a:effectLst>
                            <a:outerShdw blurRad="38100" dist="38100" dir="2700000" algn="tl">
                              <a:srgbClr val="000000">
                                <a:alpha val="43137"/>
                              </a:srgbClr>
                            </a:outerShdw>
                          </a:effectLst>
                          <a:latin typeface="Calibri"/>
                          <a:ea typeface="Calibri"/>
                          <a:cs typeface="Times New Roman"/>
                        </a:rPr>
                        <a:t>510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b="1" dirty="0">
                          <a:latin typeface="Calibri"/>
                          <a:ea typeface="Calibri"/>
                          <a:cs typeface="Times New Roman"/>
                        </a:rPr>
                        <a:t>∑</a:t>
                      </a:r>
                      <a:r>
                        <a:rPr lang="en-US" sz="2400" b="1" dirty="0">
                          <a:solidFill>
                            <a:srgbClr val="FF0000"/>
                          </a:solidFill>
                          <a:latin typeface="Calibri"/>
                          <a:ea typeface="Calibri"/>
                          <a:cs typeface="Times New Roman"/>
                        </a:rPr>
                        <a:t>x</a:t>
                      </a:r>
                      <a:r>
                        <a:rPr lang="en-US" sz="2400" b="1" dirty="0">
                          <a:solidFill>
                            <a:schemeClr val="tx1"/>
                          </a:solidFill>
                          <a:latin typeface="Calibri"/>
                          <a:ea typeface="Calibri"/>
                          <a:cs typeface="Times New Roman"/>
                        </a:rPr>
                        <a:t> </a:t>
                      </a:r>
                      <a:r>
                        <a:rPr lang="en-US" sz="2400" b="1" dirty="0">
                          <a:latin typeface="Calibri"/>
                          <a:ea typeface="Calibri"/>
                          <a:cs typeface="Times New Roman"/>
                        </a:rPr>
                        <a:t>= 0</a:t>
                      </a:r>
                      <a:endParaRPr lang="en-US" sz="2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b="1" dirty="0">
                          <a:latin typeface="Calibri"/>
                          <a:ea typeface="Calibri"/>
                          <a:cs typeface="Times New Roman"/>
                        </a:rPr>
                        <a:t>∑</a:t>
                      </a:r>
                      <a:r>
                        <a:rPr lang="en-US" sz="2400" b="1" dirty="0" smtClean="0">
                          <a:solidFill>
                            <a:srgbClr val="FF0000"/>
                          </a:solidFill>
                          <a:latin typeface="Calibri"/>
                          <a:ea typeface="Calibri"/>
                          <a:cs typeface="Times New Roman"/>
                        </a:rPr>
                        <a:t>x</a:t>
                      </a:r>
                      <a:r>
                        <a:rPr lang="en-US" sz="2400" b="1" baseline="30000" dirty="0" smtClean="0">
                          <a:solidFill>
                            <a:srgbClr val="FF0000"/>
                          </a:solidFill>
                          <a:latin typeface="Calibri"/>
                          <a:ea typeface="Calibri"/>
                          <a:cs typeface="Times New Roman"/>
                        </a:rPr>
                        <a:t>2</a:t>
                      </a:r>
                      <a:r>
                        <a:rPr lang="en-US" sz="2400" b="1" baseline="0" dirty="0" smtClean="0">
                          <a:solidFill>
                            <a:srgbClr val="FF0000"/>
                          </a:solidFill>
                          <a:latin typeface="Calibri"/>
                          <a:ea typeface="Calibri"/>
                          <a:cs typeface="Times New Roman"/>
                        </a:rPr>
                        <a:t> = 350</a:t>
                      </a:r>
                      <a:r>
                        <a:rPr lang="en-US" sz="2400" b="1" baseline="30000" dirty="0" smtClean="0">
                          <a:solidFill>
                            <a:srgbClr val="FF0000"/>
                          </a:solidFill>
                          <a:latin typeface="Calibri"/>
                          <a:ea typeface="Calibri"/>
                          <a:cs typeface="Times New Roman"/>
                        </a:rPr>
                        <a:t>    </a:t>
                      </a:r>
                      <a:endParaRPr lang="en-US" sz="2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b="1" dirty="0" smtClean="0">
                          <a:latin typeface="Calibri"/>
                          <a:ea typeface="Calibri"/>
                          <a:cs typeface="Times New Roman"/>
                        </a:rPr>
                        <a:t>∑y</a:t>
                      </a:r>
                      <a:r>
                        <a:rPr lang="en-US" sz="2400" dirty="0" smtClean="0">
                          <a:latin typeface="Calibri"/>
                          <a:ea typeface="Calibri"/>
                          <a:cs typeface="Times New Roman"/>
                        </a:rPr>
                        <a:t>= 1050</a:t>
                      </a:r>
                      <a:endParaRPr lang="en-US" sz="2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b="1" dirty="0">
                          <a:latin typeface="Calibri"/>
                          <a:ea typeface="Calibri"/>
                          <a:cs typeface="Times New Roman"/>
                        </a:rPr>
                        <a:t>∑</a:t>
                      </a:r>
                      <a:r>
                        <a:rPr lang="en-US" sz="2400" b="1" dirty="0">
                          <a:solidFill>
                            <a:srgbClr val="FF0000"/>
                          </a:solidFill>
                          <a:latin typeface="Calibri"/>
                          <a:ea typeface="Calibri"/>
                          <a:cs typeface="Times New Roman"/>
                        </a:rPr>
                        <a:t>y</a:t>
                      </a:r>
                      <a:r>
                        <a:rPr lang="en-US" sz="2400" b="1" dirty="0">
                          <a:solidFill>
                            <a:schemeClr val="tx1"/>
                          </a:solidFill>
                          <a:latin typeface="Calibri"/>
                          <a:ea typeface="Calibri"/>
                          <a:cs typeface="Times New Roman"/>
                        </a:rPr>
                        <a:t> </a:t>
                      </a:r>
                      <a:r>
                        <a:rPr lang="en-US" sz="2400" b="1" dirty="0">
                          <a:latin typeface="Calibri"/>
                          <a:ea typeface="Calibri"/>
                          <a:cs typeface="Times New Roman"/>
                        </a:rPr>
                        <a:t>= 0</a:t>
                      </a:r>
                      <a:endParaRPr lang="en-US" sz="2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b="1" dirty="0">
                          <a:latin typeface="Calibri"/>
                          <a:ea typeface="Calibri"/>
                          <a:cs typeface="Times New Roman"/>
                        </a:rPr>
                        <a:t>∑</a:t>
                      </a:r>
                      <a:r>
                        <a:rPr lang="en-US" sz="2400" b="1" dirty="0">
                          <a:solidFill>
                            <a:srgbClr val="FF0000"/>
                          </a:solidFill>
                          <a:latin typeface="Calibri"/>
                          <a:ea typeface="Calibri"/>
                          <a:cs typeface="Times New Roman"/>
                        </a:rPr>
                        <a:t>y</a:t>
                      </a:r>
                      <a:r>
                        <a:rPr lang="en-US" sz="2400" b="1" baseline="30000" dirty="0">
                          <a:solidFill>
                            <a:srgbClr val="FF0000"/>
                          </a:solidFill>
                          <a:latin typeface="Calibri"/>
                          <a:ea typeface="Calibri"/>
                          <a:cs typeface="Times New Roman"/>
                        </a:rPr>
                        <a:t>2</a:t>
                      </a:r>
                      <a:r>
                        <a:rPr lang="en-US" sz="2400" b="1" dirty="0">
                          <a:solidFill>
                            <a:srgbClr val="FF0000"/>
                          </a:solidFill>
                          <a:latin typeface="Calibri"/>
                          <a:ea typeface="Calibri"/>
                          <a:cs typeface="Times New Roman"/>
                        </a:rPr>
                        <a:t> = 40</a:t>
                      </a:r>
                      <a:endParaRPr lang="en-US" sz="2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6" name="TextBox 5"/>
          <p:cNvSpPr txBox="1"/>
          <p:nvPr/>
        </p:nvSpPr>
        <p:spPr>
          <a:xfrm>
            <a:off x="457200" y="228600"/>
            <a:ext cx="7696200" cy="584775"/>
          </a:xfrm>
          <a:prstGeom prst="rect">
            <a:avLst/>
          </a:prstGeom>
          <a:noFill/>
        </p:spPr>
        <p:txBody>
          <a:bodyPr wrap="square" rtlCol="0">
            <a:spAutoFit/>
          </a:bodyPr>
          <a:lstStyle/>
          <a:p>
            <a:r>
              <a:rPr lang="en-US" sz="3200" dirty="0" err="1" smtClean="0"/>
              <a:t>Soln</a:t>
            </a:r>
            <a:r>
              <a:rPr lang="en-US" sz="3200" dirty="0" smtClean="0"/>
              <a:t>: </a:t>
            </a:r>
            <a:endParaRPr lang="en-US" sz="3200" dirty="0"/>
          </a:p>
        </p:txBody>
      </p:sp>
      <p:pic>
        <p:nvPicPr>
          <p:cNvPr id="5" name="Picture 2"/>
          <p:cNvPicPr>
            <a:picLocks noChangeAspect="1" noChangeArrowheads="1"/>
          </p:cNvPicPr>
          <p:nvPr/>
        </p:nvPicPr>
        <p:blipFill>
          <a:blip r:embed="rId2" cstate="print"/>
          <a:srcRect/>
          <a:stretch>
            <a:fillRect/>
          </a:stretch>
        </p:blipFill>
        <p:spPr bwMode="auto">
          <a:xfrm>
            <a:off x="3429000" y="948690"/>
            <a:ext cx="1066800" cy="480060"/>
          </a:xfrm>
          <a:prstGeom prst="rect">
            <a:avLst/>
          </a:prstGeom>
          <a:noFill/>
          <a:ln w="9525">
            <a:noFill/>
            <a:miter lim="800000"/>
            <a:headEnd/>
            <a:tailEnd/>
          </a:ln>
          <a:effectLst/>
        </p:spPr>
      </p:pic>
      <p:pic>
        <p:nvPicPr>
          <p:cNvPr id="92162" name="Picture 2"/>
          <p:cNvPicPr>
            <a:picLocks noChangeAspect="1" noChangeArrowheads="1"/>
          </p:cNvPicPr>
          <p:nvPr/>
        </p:nvPicPr>
        <p:blipFill>
          <a:blip r:embed="rId3" cstate="print"/>
          <a:srcRect/>
          <a:stretch>
            <a:fillRect/>
          </a:stretch>
        </p:blipFill>
        <p:spPr bwMode="auto">
          <a:xfrm>
            <a:off x="7315200" y="838200"/>
            <a:ext cx="1000125" cy="6953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2"/>
          <p:cNvPicPr>
            <a:picLocks noGrp="1" noChangeAspect="1" noChangeArrowheads="1"/>
          </p:cNvPicPr>
          <p:nvPr>
            <p:ph idx="1"/>
          </p:nvPr>
        </p:nvPicPr>
        <p:blipFill>
          <a:blip r:embed="rId2" cstate="print"/>
          <a:srcRect/>
          <a:stretch>
            <a:fillRect/>
          </a:stretch>
        </p:blipFill>
        <p:spPr bwMode="auto">
          <a:xfrm>
            <a:off x="923925" y="468584"/>
            <a:ext cx="1676400" cy="1057275"/>
          </a:xfrm>
          <a:prstGeom prst="rect">
            <a:avLst/>
          </a:prstGeom>
          <a:noFill/>
          <a:ln w="9525">
            <a:noFill/>
            <a:miter lim="800000"/>
            <a:headEnd/>
            <a:tailEnd/>
          </a:ln>
          <a:effectLst/>
        </p:spPr>
      </p:pic>
      <p:pic>
        <p:nvPicPr>
          <p:cNvPr id="5"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19200" y="5867400"/>
            <a:ext cx="64008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6867" name="Picture 3"/>
          <p:cNvPicPr>
            <a:picLocks noChangeAspect="1" noChangeArrowheads="1"/>
          </p:cNvPicPr>
          <p:nvPr/>
        </p:nvPicPr>
        <p:blipFill>
          <a:blip r:embed="rId4" cstate="print"/>
          <a:srcRect/>
          <a:stretch>
            <a:fillRect/>
          </a:stretch>
        </p:blipFill>
        <p:spPr bwMode="auto">
          <a:xfrm>
            <a:off x="5742878" y="228600"/>
            <a:ext cx="1600200" cy="1066800"/>
          </a:xfrm>
          <a:prstGeom prst="rect">
            <a:avLst/>
          </a:prstGeom>
          <a:noFill/>
          <a:ln w="9525">
            <a:noFill/>
            <a:miter lim="800000"/>
            <a:headEnd/>
            <a:tailEnd/>
          </a:ln>
          <a:effectLst/>
        </p:spPr>
      </p:pic>
      <p:pic>
        <p:nvPicPr>
          <p:cNvPr id="36870" name="Picture 6"/>
          <p:cNvPicPr>
            <a:picLocks noChangeAspect="1" noChangeArrowheads="1"/>
          </p:cNvPicPr>
          <p:nvPr/>
        </p:nvPicPr>
        <p:blipFill>
          <a:blip r:embed="rId5" cstate="print"/>
          <a:srcRect/>
          <a:stretch>
            <a:fillRect/>
          </a:stretch>
        </p:blipFill>
        <p:spPr bwMode="auto">
          <a:xfrm>
            <a:off x="762000" y="2958558"/>
            <a:ext cx="2152650" cy="1019175"/>
          </a:xfrm>
          <a:prstGeom prst="rect">
            <a:avLst/>
          </a:prstGeom>
          <a:noFill/>
          <a:ln w="9525">
            <a:noFill/>
            <a:miter lim="800000"/>
            <a:headEnd/>
            <a:tailEnd/>
          </a:ln>
          <a:effectLst/>
        </p:spPr>
      </p:pic>
      <p:pic>
        <p:nvPicPr>
          <p:cNvPr id="36871" name="Picture 7"/>
          <p:cNvPicPr>
            <a:picLocks noChangeAspect="1" noChangeArrowheads="1"/>
          </p:cNvPicPr>
          <p:nvPr/>
        </p:nvPicPr>
        <p:blipFill>
          <a:blip r:embed="rId6" cstate="print"/>
          <a:srcRect/>
          <a:stretch>
            <a:fillRect/>
          </a:stretch>
        </p:blipFill>
        <p:spPr bwMode="auto">
          <a:xfrm>
            <a:off x="5742878" y="3048000"/>
            <a:ext cx="2009775" cy="1143000"/>
          </a:xfrm>
          <a:prstGeom prst="rect">
            <a:avLst/>
          </a:prstGeom>
          <a:noFill/>
          <a:ln w="9525">
            <a:noFill/>
            <a:miter lim="800000"/>
            <a:headEnd/>
            <a:tailEnd/>
          </a:ln>
          <a:effectLst/>
        </p:spPr>
      </p:pic>
      <p:pic>
        <p:nvPicPr>
          <p:cNvPr id="8194" name="Picture 2"/>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62000" y="1625523"/>
            <a:ext cx="2352675" cy="742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5" name="Picture 3"/>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71293" y="4343400"/>
            <a:ext cx="3009900" cy="1162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6" name="Picture 4"/>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5742878" y="1528414"/>
            <a:ext cx="24384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7" name="Picture 5"/>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5715000" y="4495800"/>
            <a:ext cx="2686050" cy="1095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1"/>
          <p:cNvPicPr>
            <a:picLocks noChangeAspect="1" noChangeArrowheads="1"/>
          </p:cNvPicPr>
          <p:nvPr/>
        </p:nvPicPr>
        <p:blipFill>
          <a:blip r:embed="rId11" cstate="print"/>
          <a:srcRect/>
          <a:stretch>
            <a:fillRect/>
          </a:stretch>
        </p:blipFill>
        <p:spPr bwMode="auto">
          <a:xfrm>
            <a:off x="304800" y="2514600"/>
            <a:ext cx="3171825" cy="1704975"/>
          </a:xfrm>
          <a:prstGeom prst="rect">
            <a:avLst/>
          </a:prstGeom>
          <a:noFill/>
          <a:ln w="9525">
            <a:noFill/>
            <a:miter lim="800000"/>
            <a:headEnd/>
            <a:tailEnd/>
          </a:ln>
          <a:effectLst/>
        </p:spPr>
      </p:pic>
      <p:pic>
        <p:nvPicPr>
          <p:cNvPr id="93186" name="Picture 2"/>
          <p:cNvPicPr>
            <a:picLocks noChangeAspect="1" noChangeArrowheads="1"/>
          </p:cNvPicPr>
          <p:nvPr/>
        </p:nvPicPr>
        <p:blipFill>
          <a:blip r:embed="rId12" cstate="print"/>
          <a:srcRect/>
          <a:stretch>
            <a:fillRect/>
          </a:stretch>
        </p:blipFill>
        <p:spPr bwMode="auto">
          <a:xfrm>
            <a:off x="5181600" y="2819400"/>
            <a:ext cx="3333750" cy="1524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533400" y="1752600"/>
            <a:ext cx="6401355" cy="841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1139" name="Picture 3"/>
          <p:cNvPicPr>
            <a:picLocks noChangeAspect="1" noChangeArrowheads="1"/>
          </p:cNvPicPr>
          <p:nvPr/>
        </p:nvPicPr>
        <p:blipFill>
          <a:blip r:embed="rId3" cstate="print"/>
          <a:srcRect/>
          <a:stretch>
            <a:fillRect/>
          </a:stretch>
        </p:blipFill>
        <p:spPr bwMode="auto">
          <a:xfrm>
            <a:off x="2057400" y="4114800"/>
            <a:ext cx="4267200" cy="914400"/>
          </a:xfrm>
          <a:prstGeom prst="rect">
            <a:avLst/>
          </a:prstGeom>
          <a:noFill/>
          <a:ln w="9525">
            <a:noFill/>
            <a:miter lim="800000"/>
            <a:headEnd/>
            <a:tailEnd/>
          </a:ln>
          <a:effectLst/>
        </p:spPr>
      </p:pic>
      <p:pic>
        <p:nvPicPr>
          <p:cNvPr id="91140" name="Picture 4"/>
          <p:cNvPicPr>
            <a:picLocks noChangeAspect="1" noChangeArrowheads="1"/>
          </p:cNvPicPr>
          <p:nvPr/>
        </p:nvPicPr>
        <p:blipFill>
          <a:blip r:embed="rId4" cstate="print"/>
          <a:srcRect/>
          <a:stretch>
            <a:fillRect/>
          </a:stretch>
        </p:blipFill>
        <p:spPr bwMode="auto">
          <a:xfrm>
            <a:off x="1905000" y="2971800"/>
            <a:ext cx="4629150" cy="933450"/>
          </a:xfrm>
          <a:prstGeom prst="rect">
            <a:avLst/>
          </a:prstGeom>
          <a:noFill/>
          <a:ln w="9525">
            <a:noFill/>
            <a:miter lim="800000"/>
            <a:headEnd/>
            <a:tailEnd/>
          </a:ln>
          <a:effectLst/>
        </p:spPr>
      </p:pic>
      <p:pic>
        <p:nvPicPr>
          <p:cNvPr id="91141" name="Picture 5"/>
          <p:cNvPicPr>
            <a:picLocks noChangeAspect="1" noChangeArrowheads="1"/>
          </p:cNvPicPr>
          <p:nvPr/>
        </p:nvPicPr>
        <p:blipFill>
          <a:blip r:embed="rId5" cstate="print"/>
          <a:srcRect/>
          <a:stretch>
            <a:fillRect/>
          </a:stretch>
        </p:blipFill>
        <p:spPr bwMode="auto">
          <a:xfrm>
            <a:off x="2514600" y="5562600"/>
            <a:ext cx="3467100" cy="714375"/>
          </a:xfrm>
          <a:prstGeom prst="rect">
            <a:avLst/>
          </a:prstGeom>
          <a:noFill/>
          <a:ln w="9525">
            <a:noFill/>
            <a:miter lim="800000"/>
            <a:headEnd/>
            <a:tailEnd/>
          </a:ln>
          <a:effectLst/>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844206531"/>
              </p:ext>
            </p:extLst>
          </p:nvPr>
        </p:nvGraphicFramePr>
        <p:xfrm>
          <a:off x="609600" y="2438400"/>
          <a:ext cx="5029200" cy="3962400"/>
        </p:xfrm>
        <a:graphic>
          <a:graphicData uri="http://schemas.openxmlformats.org/drawingml/2006/table">
            <a:tbl>
              <a:tblPr firstRow="1" bandRow="1">
                <a:tableStyleId>{073A0DAA-6AF3-43AB-8588-CEC1D06C72B9}</a:tableStyleId>
              </a:tblPr>
              <a:tblGrid>
                <a:gridCol w="1676400"/>
                <a:gridCol w="1676400"/>
                <a:gridCol w="1676400"/>
              </a:tblGrid>
              <a:tr h="753460">
                <a:tc>
                  <a:txBody>
                    <a:bodyPr/>
                    <a:lstStyle/>
                    <a:p>
                      <a:pPr algn="ctr"/>
                      <a:r>
                        <a:rPr lang="en-US" sz="2800" dirty="0" smtClean="0"/>
                        <a:t>LIFE</a:t>
                      </a:r>
                      <a:r>
                        <a:rPr lang="en-US" sz="2800" baseline="0" dirty="0" smtClean="0"/>
                        <a:t> (NO. OF YEARS)</a:t>
                      </a:r>
                      <a:endParaRPr lang="en-US" sz="2800" dirty="0"/>
                    </a:p>
                  </a:txBody>
                  <a:tcPr/>
                </a:tc>
                <a:tc>
                  <a:txBody>
                    <a:bodyPr/>
                    <a:lstStyle/>
                    <a:p>
                      <a:pPr algn="ctr"/>
                      <a:r>
                        <a:rPr lang="en-US" sz="2800" dirty="0" smtClean="0"/>
                        <a:t>MAKE  X</a:t>
                      </a:r>
                      <a:endParaRPr lang="en-US" sz="2800" dirty="0"/>
                    </a:p>
                  </a:txBody>
                  <a:tcPr/>
                </a:tc>
                <a:tc>
                  <a:txBody>
                    <a:bodyPr/>
                    <a:lstStyle/>
                    <a:p>
                      <a:pPr algn="ctr"/>
                      <a:r>
                        <a:rPr lang="en-US" sz="2800" dirty="0" smtClean="0"/>
                        <a:t>MAKE  Y</a:t>
                      </a:r>
                      <a:endParaRPr lang="en-US" sz="2800" dirty="0"/>
                    </a:p>
                  </a:txBody>
                  <a:tcPr/>
                </a:tc>
              </a:tr>
              <a:tr h="413188">
                <a:tc>
                  <a:txBody>
                    <a:bodyPr/>
                    <a:lstStyle/>
                    <a:p>
                      <a:pPr algn="ctr"/>
                      <a:r>
                        <a:rPr lang="en-US" sz="2800" dirty="0" smtClean="0"/>
                        <a:t>0 - 5</a:t>
                      </a:r>
                      <a:endParaRPr lang="en-US" sz="2800" dirty="0"/>
                    </a:p>
                  </a:txBody>
                  <a:tcPr/>
                </a:tc>
                <a:tc>
                  <a:txBody>
                    <a:bodyPr/>
                    <a:lstStyle/>
                    <a:p>
                      <a:pPr algn="ctr"/>
                      <a:r>
                        <a:rPr lang="en-US" sz="2800" dirty="0" smtClean="0"/>
                        <a:t>8</a:t>
                      </a:r>
                      <a:endParaRPr lang="en-US" sz="2800" dirty="0"/>
                    </a:p>
                  </a:txBody>
                  <a:tcPr/>
                </a:tc>
                <a:tc>
                  <a:txBody>
                    <a:bodyPr/>
                    <a:lstStyle/>
                    <a:p>
                      <a:pPr algn="ctr"/>
                      <a:r>
                        <a:rPr lang="en-US" sz="2800" dirty="0" smtClean="0"/>
                        <a:t>6</a:t>
                      </a:r>
                      <a:endParaRPr lang="en-US" sz="2800" dirty="0"/>
                    </a:p>
                  </a:txBody>
                  <a:tcPr/>
                </a:tc>
              </a:tr>
              <a:tr h="413188">
                <a:tc>
                  <a:txBody>
                    <a:bodyPr/>
                    <a:lstStyle/>
                    <a:p>
                      <a:pPr algn="ctr"/>
                      <a:r>
                        <a:rPr lang="en-US" sz="2800" dirty="0" smtClean="0"/>
                        <a:t>5 - 10</a:t>
                      </a:r>
                      <a:endParaRPr lang="en-US" sz="2800" dirty="0"/>
                    </a:p>
                  </a:txBody>
                  <a:tcPr/>
                </a:tc>
                <a:tc>
                  <a:txBody>
                    <a:bodyPr/>
                    <a:lstStyle/>
                    <a:p>
                      <a:pPr algn="ctr"/>
                      <a:r>
                        <a:rPr lang="en-US" sz="2800" dirty="0" smtClean="0"/>
                        <a:t>12</a:t>
                      </a:r>
                      <a:endParaRPr lang="en-US" sz="2800" dirty="0"/>
                    </a:p>
                  </a:txBody>
                  <a:tcPr/>
                </a:tc>
                <a:tc>
                  <a:txBody>
                    <a:bodyPr/>
                    <a:lstStyle/>
                    <a:p>
                      <a:pPr algn="ctr"/>
                      <a:r>
                        <a:rPr lang="en-US" sz="2800" dirty="0" smtClean="0"/>
                        <a:t>10</a:t>
                      </a:r>
                      <a:endParaRPr lang="en-US" sz="2800" dirty="0"/>
                    </a:p>
                  </a:txBody>
                  <a:tcPr/>
                </a:tc>
              </a:tr>
              <a:tr h="413188">
                <a:tc>
                  <a:txBody>
                    <a:bodyPr/>
                    <a:lstStyle/>
                    <a:p>
                      <a:pPr algn="ctr"/>
                      <a:r>
                        <a:rPr lang="en-US" sz="2800" dirty="0" smtClean="0"/>
                        <a:t>10 - 15</a:t>
                      </a:r>
                      <a:endParaRPr lang="en-US" sz="2800" dirty="0"/>
                    </a:p>
                  </a:txBody>
                  <a:tcPr/>
                </a:tc>
                <a:tc>
                  <a:txBody>
                    <a:bodyPr/>
                    <a:lstStyle/>
                    <a:p>
                      <a:pPr algn="ctr"/>
                      <a:r>
                        <a:rPr lang="en-US" sz="2800" dirty="0" smtClean="0"/>
                        <a:t>17</a:t>
                      </a:r>
                      <a:endParaRPr lang="en-US" sz="2800" dirty="0"/>
                    </a:p>
                  </a:txBody>
                  <a:tcPr/>
                </a:tc>
                <a:tc>
                  <a:txBody>
                    <a:bodyPr/>
                    <a:lstStyle/>
                    <a:p>
                      <a:pPr algn="ctr"/>
                      <a:r>
                        <a:rPr lang="en-US" sz="2800" dirty="0" smtClean="0"/>
                        <a:t>20</a:t>
                      </a:r>
                      <a:endParaRPr lang="en-US" sz="2800" dirty="0"/>
                    </a:p>
                  </a:txBody>
                  <a:tcPr/>
                </a:tc>
              </a:tr>
              <a:tr h="413188">
                <a:tc>
                  <a:txBody>
                    <a:bodyPr/>
                    <a:lstStyle/>
                    <a:p>
                      <a:pPr algn="ctr"/>
                      <a:r>
                        <a:rPr lang="en-US" sz="2800" dirty="0" smtClean="0"/>
                        <a:t>15</a:t>
                      </a:r>
                      <a:r>
                        <a:rPr lang="en-US" sz="2800" baseline="0" dirty="0" smtClean="0"/>
                        <a:t> - 20</a:t>
                      </a:r>
                      <a:endParaRPr lang="en-US" sz="2800" dirty="0"/>
                    </a:p>
                  </a:txBody>
                  <a:tcPr/>
                </a:tc>
                <a:tc>
                  <a:txBody>
                    <a:bodyPr/>
                    <a:lstStyle/>
                    <a:p>
                      <a:pPr algn="ctr"/>
                      <a:r>
                        <a:rPr lang="en-US" sz="2800" dirty="0" smtClean="0"/>
                        <a:t>10</a:t>
                      </a:r>
                      <a:endParaRPr lang="en-US" sz="2800" dirty="0"/>
                    </a:p>
                  </a:txBody>
                  <a:tcPr/>
                </a:tc>
                <a:tc>
                  <a:txBody>
                    <a:bodyPr/>
                    <a:lstStyle/>
                    <a:p>
                      <a:pPr algn="ctr"/>
                      <a:r>
                        <a:rPr lang="en-US" sz="2800" dirty="0" smtClean="0"/>
                        <a:t>12</a:t>
                      </a:r>
                      <a:endParaRPr lang="en-US" sz="2800" dirty="0"/>
                    </a:p>
                  </a:txBody>
                  <a:tcPr/>
                </a:tc>
              </a:tr>
              <a:tr h="413188">
                <a:tc>
                  <a:txBody>
                    <a:bodyPr/>
                    <a:lstStyle/>
                    <a:p>
                      <a:pPr algn="ctr"/>
                      <a:r>
                        <a:rPr lang="en-US" sz="2800" dirty="0" smtClean="0"/>
                        <a:t>20</a:t>
                      </a:r>
                      <a:r>
                        <a:rPr lang="en-US" sz="2800" baseline="0" dirty="0" smtClean="0"/>
                        <a:t> - 25</a:t>
                      </a:r>
                      <a:endParaRPr lang="en-US" sz="2800" dirty="0"/>
                    </a:p>
                  </a:txBody>
                  <a:tcPr/>
                </a:tc>
                <a:tc>
                  <a:txBody>
                    <a:bodyPr/>
                    <a:lstStyle/>
                    <a:p>
                      <a:pPr algn="ctr"/>
                      <a:r>
                        <a:rPr lang="en-US" sz="2800" dirty="0" smtClean="0"/>
                        <a:t>3</a:t>
                      </a:r>
                      <a:endParaRPr lang="en-US" sz="2800" dirty="0"/>
                    </a:p>
                  </a:txBody>
                  <a:tcPr/>
                </a:tc>
                <a:tc>
                  <a:txBody>
                    <a:bodyPr/>
                    <a:lstStyle/>
                    <a:p>
                      <a:pPr algn="ctr"/>
                      <a:r>
                        <a:rPr lang="en-US" sz="2800" dirty="0" smtClean="0"/>
                        <a:t>2</a:t>
                      </a:r>
                      <a:endParaRPr lang="en-US" sz="2800" dirty="0"/>
                    </a:p>
                  </a:txBody>
                  <a:tcPr/>
                </a:tc>
              </a:tr>
            </a:tbl>
          </a:graphicData>
        </a:graphic>
      </p:graphicFrame>
      <p:sp>
        <p:nvSpPr>
          <p:cNvPr id="6" name="TextBox 5"/>
          <p:cNvSpPr txBox="1"/>
          <p:nvPr/>
        </p:nvSpPr>
        <p:spPr>
          <a:xfrm>
            <a:off x="0" y="0"/>
            <a:ext cx="9144000" cy="2246769"/>
          </a:xfrm>
          <a:prstGeom prst="rect">
            <a:avLst/>
          </a:prstGeom>
          <a:noFill/>
        </p:spPr>
        <p:txBody>
          <a:bodyPr wrap="square" rtlCol="0">
            <a:spAutoFit/>
          </a:bodyPr>
          <a:lstStyle/>
          <a:p>
            <a:pPr algn="just"/>
            <a:r>
              <a:rPr lang="en-US" sz="2800" dirty="0" smtClean="0">
                <a:solidFill>
                  <a:srgbClr val="0033CC"/>
                </a:solidFill>
              </a:rPr>
              <a:t>A sample of 50 cars each of 2 makes X and Y  is taken and average running life is recorded.</a:t>
            </a:r>
          </a:p>
          <a:p>
            <a:pPr algn="just"/>
            <a:r>
              <a:rPr lang="en-US" sz="2800" dirty="0" smtClean="0">
                <a:solidFill>
                  <a:srgbClr val="0033CC"/>
                </a:solidFill>
              </a:rPr>
              <a:t>a) Which of these two makes gives higher average life</a:t>
            </a:r>
          </a:p>
          <a:p>
            <a:pPr algn="just"/>
            <a:r>
              <a:rPr lang="en-US" sz="2800" dirty="0" smtClean="0">
                <a:solidFill>
                  <a:srgbClr val="0033CC"/>
                </a:solidFill>
              </a:rPr>
              <a:t>b) Which of these makes has shown greater consistent performance? Use SD</a:t>
            </a:r>
            <a:endParaRPr lang="en-US" sz="2800" dirty="0">
              <a:solidFill>
                <a:srgbClr val="0033CC"/>
              </a:solidFill>
            </a:endParaRPr>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002233744"/>
              </p:ext>
            </p:extLst>
          </p:nvPr>
        </p:nvGraphicFramePr>
        <p:xfrm>
          <a:off x="190500" y="152400"/>
          <a:ext cx="7511140" cy="4095413"/>
        </p:xfrm>
        <a:graphic>
          <a:graphicData uri="http://schemas.openxmlformats.org/drawingml/2006/table">
            <a:tbl>
              <a:tblPr firstRow="1" firstCol="1" bandRow="1"/>
              <a:tblGrid>
                <a:gridCol w="1073020"/>
                <a:gridCol w="1073020"/>
                <a:gridCol w="1073020"/>
                <a:gridCol w="1073020"/>
                <a:gridCol w="1073020"/>
                <a:gridCol w="1073020"/>
                <a:gridCol w="1073020"/>
              </a:tblGrid>
              <a:tr h="361613">
                <a:tc gridSpan="4">
                  <a:txBody>
                    <a:bodyPr/>
                    <a:lstStyle/>
                    <a:p>
                      <a:pPr marL="0" marR="0">
                        <a:lnSpc>
                          <a:spcPct val="115000"/>
                        </a:lnSpc>
                        <a:spcBef>
                          <a:spcPts val="0"/>
                        </a:spcBef>
                        <a:spcAft>
                          <a:spcPts val="0"/>
                        </a:spcAft>
                      </a:pPr>
                      <a:r>
                        <a:rPr lang="en-US" sz="2000" b="1" dirty="0">
                          <a:effectLst/>
                          <a:latin typeface="Calibri"/>
                          <a:ea typeface="Calibri"/>
                          <a:cs typeface="Times New Roman"/>
                        </a:rPr>
                        <a:t>                            </a:t>
                      </a:r>
                      <a:r>
                        <a:rPr lang="en-US" sz="2000" b="1" dirty="0" smtClean="0">
                          <a:effectLst/>
                          <a:highlight>
                            <a:srgbClr val="FFFF00"/>
                          </a:highlight>
                          <a:latin typeface="Calibri"/>
                          <a:ea typeface="Calibri"/>
                          <a:cs typeface="Times New Roman"/>
                        </a:rPr>
                        <a:t>MAKE </a:t>
                      </a:r>
                      <a:r>
                        <a:rPr lang="en-US" sz="2000" b="1" dirty="0">
                          <a:effectLst/>
                          <a:highlight>
                            <a:srgbClr val="FFFF00"/>
                          </a:highlight>
                          <a:latin typeface="Calibri"/>
                          <a:ea typeface="Calibri"/>
                          <a:cs typeface="Times New Roman"/>
                        </a:rPr>
                        <a:t>X</a:t>
                      </a:r>
                      <a:endParaRPr lang="en-US" sz="20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gridSpan="3">
                  <a:txBody>
                    <a:bodyPr/>
                    <a:lstStyle/>
                    <a:p>
                      <a:pPr marL="0" marR="0">
                        <a:lnSpc>
                          <a:spcPct val="115000"/>
                        </a:lnSpc>
                        <a:spcBef>
                          <a:spcPts val="0"/>
                        </a:spcBef>
                        <a:spcAft>
                          <a:spcPts val="0"/>
                        </a:spcAft>
                      </a:pPr>
                      <a:r>
                        <a:rPr lang="en-US" sz="2000" b="1" dirty="0">
                          <a:effectLst/>
                          <a:latin typeface="Calibri"/>
                          <a:ea typeface="Calibri"/>
                          <a:cs typeface="Times New Roman"/>
                        </a:rPr>
                        <a:t>                           </a:t>
                      </a:r>
                      <a:r>
                        <a:rPr lang="en-US" sz="2000" b="1" dirty="0">
                          <a:effectLst/>
                          <a:highlight>
                            <a:srgbClr val="FFFF00"/>
                          </a:highlight>
                          <a:latin typeface="Calibri"/>
                          <a:ea typeface="Calibri"/>
                          <a:cs typeface="Times New Roman"/>
                        </a:rPr>
                        <a:t>MAKE Y</a:t>
                      </a:r>
                      <a:endParaRPr lang="en-US" sz="20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r h="723225">
                <a:tc>
                  <a:txBody>
                    <a:bodyPr/>
                    <a:lstStyle/>
                    <a:p>
                      <a:pPr marL="0" marR="0" algn="ctr">
                        <a:lnSpc>
                          <a:spcPct val="115000"/>
                        </a:lnSpc>
                        <a:spcBef>
                          <a:spcPts val="0"/>
                        </a:spcBef>
                        <a:spcAft>
                          <a:spcPts val="0"/>
                        </a:spcAft>
                      </a:pPr>
                      <a:r>
                        <a:rPr lang="en-US" sz="2000" b="1" dirty="0">
                          <a:effectLst/>
                          <a:latin typeface="Calibri"/>
                          <a:ea typeface="Calibri"/>
                          <a:cs typeface="Times New Roman"/>
                        </a:rPr>
                        <a:t>LIFE (NO. OF YEARS)</a:t>
                      </a:r>
                      <a:endParaRPr lang="en-US" sz="20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75000"/>
                      </a:schemeClr>
                    </a:solidFill>
                  </a:tcPr>
                </a:tc>
                <a:tc>
                  <a:txBody>
                    <a:bodyPr/>
                    <a:lstStyle/>
                    <a:p>
                      <a:pPr marL="0" marR="0" algn="ctr">
                        <a:lnSpc>
                          <a:spcPct val="115000"/>
                        </a:lnSpc>
                        <a:spcBef>
                          <a:spcPts val="0"/>
                        </a:spcBef>
                        <a:spcAft>
                          <a:spcPts val="0"/>
                        </a:spcAft>
                      </a:pPr>
                      <a:r>
                        <a:rPr lang="en-US" sz="2000" b="1" dirty="0">
                          <a:effectLst/>
                          <a:latin typeface="Calibri"/>
                          <a:ea typeface="Calibri"/>
                          <a:cs typeface="Times New Roman"/>
                        </a:rPr>
                        <a:t>MAKE  X</a:t>
                      </a:r>
                      <a:endParaRPr lang="en-US" sz="2000" dirty="0">
                        <a:effectLst/>
                        <a:latin typeface="Calibri"/>
                        <a:ea typeface="Calibri"/>
                        <a:cs typeface="Times New Roman"/>
                      </a:endParaRPr>
                    </a:p>
                    <a:p>
                      <a:pPr marL="0" marR="0" algn="ctr">
                        <a:lnSpc>
                          <a:spcPct val="115000"/>
                        </a:lnSpc>
                        <a:spcBef>
                          <a:spcPts val="0"/>
                        </a:spcBef>
                        <a:spcAft>
                          <a:spcPts val="0"/>
                        </a:spcAft>
                      </a:pPr>
                      <a:r>
                        <a:rPr lang="en-US" sz="2000" b="1" dirty="0">
                          <a:effectLst/>
                          <a:latin typeface="Calibri"/>
                          <a:ea typeface="Calibri"/>
                          <a:cs typeface="Times New Roman"/>
                        </a:rPr>
                        <a:t>f</a:t>
                      </a:r>
                      <a:endParaRPr lang="en-US" sz="20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marL="0" marR="0" algn="ctr">
                        <a:lnSpc>
                          <a:spcPct val="115000"/>
                        </a:lnSpc>
                        <a:spcBef>
                          <a:spcPts val="0"/>
                        </a:spcBef>
                        <a:spcAft>
                          <a:spcPts val="0"/>
                        </a:spcAft>
                      </a:pPr>
                      <a:r>
                        <a:rPr lang="en-US" sz="2000" b="1" i="0" dirty="0">
                          <a:solidFill>
                            <a:srgbClr val="FF0000"/>
                          </a:solidFill>
                          <a:effectLst>
                            <a:outerShdw blurRad="38100" dist="38100" dir="2700000" algn="tl">
                              <a:srgbClr val="000000">
                                <a:alpha val="43137"/>
                              </a:srgbClr>
                            </a:outerShdw>
                          </a:effectLst>
                          <a:latin typeface="Calibri"/>
                          <a:ea typeface="Calibri"/>
                          <a:cs typeface="Times New Roman"/>
                        </a:rPr>
                        <a:t>mi</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dirty="0" err="1">
                          <a:effectLst/>
                          <a:latin typeface="Calibri"/>
                          <a:ea typeface="Calibri"/>
                          <a:cs typeface="Times New Roman"/>
                        </a:rPr>
                        <a:t>Fi</a:t>
                      </a:r>
                      <a:r>
                        <a:rPr lang="en-US" sz="2000" b="1" dirty="0">
                          <a:effectLst/>
                          <a:latin typeface="Calibri"/>
                          <a:ea typeface="Calibri"/>
                          <a:cs typeface="Times New Roman"/>
                        </a:rPr>
                        <a:t> mi</a:t>
                      </a:r>
                      <a:endParaRPr lang="en-US" sz="20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marL="0" marR="0" algn="ctr">
                        <a:lnSpc>
                          <a:spcPct val="115000"/>
                        </a:lnSpc>
                        <a:spcBef>
                          <a:spcPts val="0"/>
                        </a:spcBef>
                        <a:spcAft>
                          <a:spcPts val="0"/>
                        </a:spcAft>
                      </a:pPr>
                      <a:r>
                        <a:rPr lang="en-US" sz="2000" b="1" dirty="0" smtClean="0">
                          <a:effectLst/>
                          <a:latin typeface="Calibri"/>
                          <a:ea typeface="Calibri"/>
                          <a:cs typeface="Times New Roman"/>
                        </a:rPr>
                        <a:t>MAKE  Y</a:t>
                      </a:r>
                    </a:p>
                    <a:p>
                      <a:pPr marL="0" marR="0" indent="0" algn="ctr" defTabSz="914400" rtl="0" eaLnBrk="1" fontAlgn="auto" latinLnBrk="0" hangingPunct="1">
                        <a:lnSpc>
                          <a:spcPct val="115000"/>
                        </a:lnSpc>
                        <a:spcBef>
                          <a:spcPts val="0"/>
                        </a:spcBef>
                        <a:spcAft>
                          <a:spcPts val="0"/>
                        </a:spcAft>
                        <a:buClrTx/>
                        <a:buSzTx/>
                        <a:buFontTx/>
                        <a:buNone/>
                        <a:tabLst/>
                        <a:defRPr/>
                      </a:pPr>
                      <a:r>
                        <a:rPr lang="en-US" sz="2000" b="1" dirty="0" smtClean="0">
                          <a:effectLst/>
                          <a:latin typeface="+mn-lt"/>
                          <a:ea typeface="Calibri"/>
                          <a:cs typeface="Times New Roman"/>
                        </a:rPr>
                        <a:t>f</a:t>
                      </a:r>
                      <a:endParaRPr lang="en-US" sz="2000" dirty="0" smtClean="0">
                        <a:effectLst/>
                        <a:latin typeface="+mn-lt"/>
                        <a:ea typeface="Calibri"/>
                        <a:cs typeface="Times New Roman"/>
                      </a:endParaRPr>
                    </a:p>
                    <a:p>
                      <a:pPr marL="0" marR="0" algn="ctr">
                        <a:lnSpc>
                          <a:spcPct val="115000"/>
                        </a:lnSpc>
                        <a:spcBef>
                          <a:spcPts val="0"/>
                        </a:spcBef>
                        <a:spcAft>
                          <a:spcPts val="0"/>
                        </a:spcAft>
                      </a:pPr>
                      <a:endParaRPr lang="en-US" sz="20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i="0" dirty="0">
                          <a:solidFill>
                            <a:srgbClr val="FF0000"/>
                          </a:solidFill>
                          <a:effectLst>
                            <a:outerShdw blurRad="38100" dist="38100" dir="2700000" algn="tl">
                              <a:srgbClr val="000000">
                                <a:alpha val="43137"/>
                              </a:srgbClr>
                            </a:outerShdw>
                          </a:effectLst>
                          <a:latin typeface="Calibri"/>
                          <a:ea typeface="Calibri"/>
                          <a:cs typeface="Times New Roman"/>
                        </a:rPr>
                        <a:t>mi</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dirty="0" err="1">
                          <a:effectLst/>
                          <a:latin typeface="Calibri"/>
                          <a:ea typeface="Calibri"/>
                          <a:cs typeface="Times New Roman"/>
                        </a:rPr>
                        <a:t>Fi</a:t>
                      </a:r>
                      <a:r>
                        <a:rPr lang="en-US" sz="2000" b="1" dirty="0">
                          <a:effectLst/>
                          <a:latin typeface="Calibri"/>
                          <a:ea typeface="Calibri"/>
                          <a:cs typeface="Times New Roman"/>
                        </a:rPr>
                        <a:t> mi</a:t>
                      </a:r>
                      <a:endParaRPr lang="en-US" sz="20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61613">
                <a:tc>
                  <a:txBody>
                    <a:bodyPr/>
                    <a:lstStyle/>
                    <a:p>
                      <a:pPr marL="0" marR="0" algn="ctr">
                        <a:lnSpc>
                          <a:spcPct val="115000"/>
                        </a:lnSpc>
                        <a:spcBef>
                          <a:spcPts val="0"/>
                        </a:spcBef>
                        <a:spcAft>
                          <a:spcPts val="0"/>
                        </a:spcAft>
                      </a:pPr>
                      <a:r>
                        <a:rPr lang="en-US" sz="2000" b="1" dirty="0">
                          <a:effectLst/>
                          <a:latin typeface="Calibri"/>
                          <a:ea typeface="Calibri"/>
                          <a:cs typeface="Times New Roman"/>
                        </a:rPr>
                        <a:t>0 - 5</a:t>
                      </a:r>
                      <a:endParaRPr lang="en-US" sz="20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75000"/>
                      </a:schemeClr>
                    </a:solidFill>
                  </a:tcPr>
                </a:tc>
                <a:tc>
                  <a:txBody>
                    <a:bodyPr/>
                    <a:lstStyle/>
                    <a:p>
                      <a:pPr algn="ctr"/>
                      <a:r>
                        <a:rPr lang="en-US" sz="2000" b="1" dirty="0" smtClean="0"/>
                        <a:t>8</a:t>
                      </a:r>
                      <a:endParaRPr lang="en-US" sz="2000" b="1" dirty="0"/>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marL="0" marR="0" algn="ctr">
                        <a:lnSpc>
                          <a:spcPct val="115000"/>
                        </a:lnSpc>
                        <a:spcBef>
                          <a:spcPts val="0"/>
                        </a:spcBef>
                        <a:spcAft>
                          <a:spcPts val="0"/>
                        </a:spcAft>
                      </a:pPr>
                      <a:r>
                        <a:rPr lang="en-US" sz="2000" b="1" i="0" dirty="0" smtClean="0">
                          <a:solidFill>
                            <a:srgbClr val="FF0000"/>
                          </a:solidFill>
                          <a:effectLst>
                            <a:outerShdw blurRad="38100" dist="38100" dir="2700000" algn="tl">
                              <a:srgbClr val="000000">
                                <a:alpha val="43137"/>
                              </a:srgbClr>
                            </a:outerShdw>
                          </a:effectLst>
                          <a:latin typeface="Calibri"/>
                          <a:ea typeface="Calibri"/>
                          <a:cs typeface="Times New Roman"/>
                        </a:rPr>
                        <a:t>2.5</a:t>
                      </a:r>
                      <a:endParaRPr lang="en-US" sz="2000" b="1" i="0" dirty="0">
                        <a:solidFill>
                          <a:srgbClr val="FF0000"/>
                        </a:solidFill>
                        <a:effectLst>
                          <a:outerShdw blurRad="38100" dist="38100" dir="2700000" algn="tl">
                            <a:srgbClr val="000000">
                              <a:alpha val="43137"/>
                            </a:srgbClr>
                          </a:outerShdw>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dirty="0" smtClean="0">
                          <a:effectLst/>
                          <a:latin typeface="Calibri"/>
                          <a:ea typeface="Calibri"/>
                          <a:cs typeface="Times New Roman"/>
                        </a:rPr>
                        <a:t>20</a:t>
                      </a:r>
                      <a:endParaRPr lang="en-US" sz="20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marL="0" marR="0" algn="ctr">
                        <a:lnSpc>
                          <a:spcPct val="115000"/>
                        </a:lnSpc>
                        <a:spcBef>
                          <a:spcPts val="0"/>
                        </a:spcBef>
                        <a:spcAft>
                          <a:spcPts val="0"/>
                        </a:spcAft>
                      </a:pPr>
                      <a:r>
                        <a:rPr lang="en-US" sz="2000" b="1">
                          <a:effectLst/>
                          <a:latin typeface="Calibri"/>
                          <a:ea typeface="Calibri"/>
                          <a:cs typeface="Times New Roman"/>
                        </a:rPr>
                        <a:t>6</a:t>
                      </a:r>
                      <a:endParaRPr lang="en-US" sz="20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i="0" dirty="0" smtClean="0">
                          <a:solidFill>
                            <a:srgbClr val="FF0000"/>
                          </a:solidFill>
                          <a:effectLst>
                            <a:outerShdw blurRad="38100" dist="38100" dir="2700000" algn="tl">
                              <a:srgbClr val="000000">
                                <a:alpha val="43137"/>
                              </a:srgbClr>
                            </a:outerShdw>
                          </a:effectLst>
                          <a:latin typeface="Calibri"/>
                          <a:ea typeface="Calibri"/>
                          <a:cs typeface="Times New Roman"/>
                        </a:rPr>
                        <a:t>2.5</a:t>
                      </a:r>
                      <a:endParaRPr lang="en-US" sz="2000" b="1" i="0" dirty="0">
                        <a:solidFill>
                          <a:srgbClr val="FF0000"/>
                        </a:solidFill>
                        <a:effectLst>
                          <a:outerShdw blurRad="38100" dist="38100" dir="2700000" algn="tl">
                            <a:srgbClr val="000000">
                              <a:alpha val="43137"/>
                            </a:srgbClr>
                          </a:outerShdw>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dirty="0" smtClean="0">
                          <a:effectLst/>
                          <a:latin typeface="Calibri"/>
                          <a:ea typeface="Calibri"/>
                          <a:cs typeface="Times New Roman"/>
                        </a:rPr>
                        <a:t>15</a:t>
                      </a:r>
                      <a:endParaRPr lang="en-US" sz="20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61613">
                <a:tc>
                  <a:txBody>
                    <a:bodyPr/>
                    <a:lstStyle/>
                    <a:p>
                      <a:pPr marL="0" marR="0" algn="ctr">
                        <a:lnSpc>
                          <a:spcPct val="115000"/>
                        </a:lnSpc>
                        <a:spcBef>
                          <a:spcPts val="0"/>
                        </a:spcBef>
                        <a:spcAft>
                          <a:spcPts val="0"/>
                        </a:spcAft>
                      </a:pPr>
                      <a:r>
                        <a:rPr lang="en-US" sz="2000" b="1" dirty="0">
                          <a:effectLst/>
                          <a:latin typeface="Calibri"/>
                          <a:ea typeface="Calibri"/>
                          <a:cs typeface="Times New Roman"/>
                        </a:rPr>
                        <a:t>5 - 10</a:t>
                      </a:r>
                      <a:endParaRPr lang="en-US" sz="20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75000"/>
                      </a:schemeClr>
                    </a:solidFill>
                  </a:tcPr>
                </a:tc>
                <a:tc>
                  <a:txBody>
                    <a:bodyPr/>
                    <a:lstStyle/>
                    <a:p>
                      <a:pPr algn="ctr"/>
                      <a:r>
                        <a:rPr lang="en-US" sz="2000" b="1" dirty="0" smtClean="0"/>
                        <a:t>12</a:t>
                      </a:r>
                      <a:endParaRPr lang="en-US" sz="2000" b="1" dirty="0"/>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marL="0" marR="0" algn="ctr">
                        <a:lnSpc>
                          <a:spcPct val="115000"/>
                        </a:lnSpc>
                        <a:spcBef>
                          <a:spcPts val="0"/>
                        </a:spcBef>
                        <a:spcAft>
                          <a:spcPts val="0"/>
                        </a:spcAft>
                      </a:pPr>
                      <a:r>
                        <a:rPr lang="en-US" sz="2000" b="1" i="0" dirty="0" smtClean="0">
                          <a:solidFill>
                            <a:srgbClr val="FF0000"/>
                          </a:solidFill>
                          <a:effectLst>
                            <a:outerShdw blurRad="38100" dist="38100" dir="2700000" algn="tl">
                              <a:srgbClr val="000000">
                                <a:alpha val="43137"/>
                              </a:srgbClr>
                            </a:outerShdw>
                          </a:effectLst>
                          <a:latin typeface="Calibri"/>
                          <a:ea typeface="Calibri"/>
                          <a:cs typeface="Times New Roman"/>
                        </a:rPr>
                        <a:t>7.5</a:t>
                      </a:r>
                      <a:endParaRPr lang="en-US" sz="2000" b="1" i="0" dirty="0">
                        <a:solidFill>
                          <a:srgbClr val="FF0000"/>
                        </a:solidFill>
                        <a:effectLst>
                          <a:outerShdw blurRad="38100" dist="38100" dir="2700000" algn="tl">
                            <a:srgbClr val="000000">
                              <a:alpha val="43137"/>
                            </a:srgbClr>
                          </a:outerShdw>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dirty="0" smtClean="0">
                          <a:effectLst/>
                          <a:latin typeface="Calibri"/>
                          <a:ea typeface="Calibri"/>
                          <a:cs typeface="Times New Roman"/>
                        </a:rPr>
                        <a:t>90</a:t>
                      </a:r>
                      <a:endParaRPr lang="en-US" sz="20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marL="0" marR="0" algn="ctr">
                        <a:lnSpc>
                          <a:spcPct val="115000"/>
                        </a:lnSpc>
                        <a:spcBef>
                          <a:spcPts val="0"/>
                        </a:spcBef>
                        <a:spcAft>
                          <a:spcPts val="0"/>
                        </a:spcAft>
                      </a:pPr>
                      <a:r>
                        <a:rPr lang="en-US" sz="2000" b="1" dirty="0">
                          <a:effectLst/>
                          <a:latin typeface="Calibri"/>
                          <a:ea typeface="Calibri"/>
                          <a:cs typeface="Times New Roman"/>
                        </a:rPr>
                        <a:t>10</a:t>
                      </a:r>
                      <a:endParaRPr lang="en-US" sz="20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i="0" dirty="0" smtClean="0">
                          <a:solidFill>
                            <a:srgbClr val="FF0000"/>
                          </a:solidFill>
                          <a:effectLst>
                            <a:outerShdw blurRad="38100" dist="38100" dir="2700000" algn="tl">
                              <a:srgbClr val="000000">
                                <a:alpha val="43137"/>
                              </a:srgbClr>
                            </a:outerShdw>
                          </a:effectLst>
                          <a:latin typeface="Calibri"/>
                          <a:ea typeface="Calibri"/>
                          <a:cs typeface="Times New Roman"/>
                        </a:rPr>
                        <a:t>7.5</a:t>
                      </a:r>
                      <a:endParaRPr lang="en-US" sz="2000" b="1" i="0" dirty="0">
                        <a:solidFill>
                          <a:srgbClr val="FF0000"/>
                        </a:solidFill>
                        <a:effectLst>
                          <a:outerShdw blurRad="38100" dist="38100" dir="2700000" algn="tl">
                            <a:srgbClr val="000000">
                              <a:alpha val="43137"/>
                            </a:srgbClr>
                          </a:outerShdw>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dirty="0" smtClean="0">
                          <a:effectLst/>
                          <a:latin typeface="Calibri"/>
                          <a:ea typeface="Calibri"/>
                          <a:cs typeface="Times New Roman"/>
                        </a:rPr>
                        <a:t>75</a:t>
                      </a:r>
                      <a:endParaRPr lang="en-US" sz="20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61613">
                <a:tc>
                  <a:txBody>
                    <a:bodyPr/>
                    <a:lstStyle/>
                    <a:p>
                      <a:pPr marL="0" marR="0" algn="ctr">
                        <a:lnSpc>
                          <a:spcPct val="115000"/>
                        </a:lnSpc>
                        <a:spcBef>
                          <a:spcPts val="0"/>
                        </a:spcBef>
                        <a:spcAft>
                          <a:spcPts val="0"/>
                        </a:spcAft>
                      </a:pPr>
                      <a:r>
                        <a:rPr lang="en-US" sz="2000" b="1" dirty="0">
                          <a:effectLst/>
                          <a:latin typeface="Calibri"/>
                          <a:ea typeface="Calibri"/>
                          <a:cs typeface="Times New Roman"/>
                        </a:rPr>
                        <a:t>10 - 15</a:t>
                      </a:r>
                      <a:endParaRPr lang="en-US" sz="20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75000"/>
                      </a:schemeClr>
                    </a:solidFill>
                  </a:tcPr>
                </a:tc>
                <a:tc>
                  <a:txBody>
                    <a:bodyPr/>
                    <a:lstStyle/>
                    <a:p>
                      <a:pPr algn="ctr"/>
                      <a:r>
                        <a:rPr lang="en-US" sz="2000" b="1" dirty="0" smtClean="0"/>
                        <a:t>17</a:t>
                      </a:r>
                      <a:endParaRPr lang="en-US" sz="2000" b="1" dirty="0"/>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marL="0" marR="0" algn="ctr">
                        <a:lnSpc>
                          <a:spcPct val="115000"/>
                        </a:lnSpc>
                        <a:spcBef>
                          <a:spcPts val="0"/>
                        </a:spcBef>
                        <a:spcAft>
                          <a:spcPts val="0"/>
                        </a:spcAft>
                      </a:pPr>
                      <a:r>
                        <a:rPr lang="en-US" sz="2000" b="1" i="0" dirty="0" smtClean="0">
                          <a:solidFill>
                            <a:srgbClr val="FF0000"/>
                          </a:solidFill>
                          <a:effectLst>
                            <a:outerShdw blurRad="38100" dist="38100" dir="2700000" algn="tl">
                              <a:srgbClr val="000000">
                                <a:alpha val="43137"/>
                              </a:srgbClr>
                            </a:outerShdw>
                          </a:effectLst>
                          <a:latin typeface="Calibri"/>
                          <a:ea typeface="Calibri"/>
                          <a:cs typeface="Times New Roman"/>
                        </a:rPr>
                        <a:t>12.5</a:t>
                      </a:r>
                      <a:endParaRPr lang="en-US" sz="2000" b="1" i="0" dirty="0">
                        <a:solidFill>
                          <a:srgbClr val="FF0000"/>
                        </a:solidFill>
                        <a:effectLst>
                          <a:outerShdw blurRad="38100" dist="38100" dir="2700000" algn="tl">
                            <a:srgbClr val="000000">
                              <a:alpha val="43137"/>
                            </a:srgbClr>
                          </a:outerShdw>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dirty="0" smtClean="0">
                          <a:effectLst/>
                          <a:latin typeface="Calibri"/>
                          <a:ea typeface="Calibri"/>
                          <a:cs typeface="Times New Roman"/>
                        </a:rPr>
                        <a:t>212.5</a:t>
                      </a:r>
                      <a:endParaRPr lang="en-US" sz="20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marL="0" marR="0" algn="ctr">
                        <a:lnSpc>
                          <a:spcPct val="115000"/>
                        </a:lnSpc>
                        <a:spcBef>
                          <a:spcPts val="0"/>
                        </a:spcBef>
                        <a:spcAft>
                          <a:spcPts val="0"/>
                        </a:spcAft>
                      </a:pPr>
                      <a:r>
                        <a:rPr lang="en-US" sz="2000" b="1" dirty="0">
                          <a:effectLst/>
                          <a:latin typeface="Calibri"/>
                          <a:ea typeface="Calibri"/>
                          <a:cs typeface="Times New Roman"/>
                        </a:rPr>
                        <a:t>20</a:t>
                      </a:r>
                      <a:endParaRPr lang="en-US" sz="20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i="0" dirty="0" smtClean="0">
                          <a:solidFill>
                            <a:srgbClr val="FF0000"/>
                          </a:solidFill>
                          <a:effectLst>
                            <a:outerShdw blurRad="38100" dist="38100" dir="2700000" algn="tl">
                              <a:srgbClr val="000000">
                                <a:alpha val="43137"/>
                              </a:srgbClr>
                            </a:outerShdw>
                          </a:effectLst>
                          <a:latin typeface="Calibri"/>
                          <a:ea typeface="Calibri"/>
                          <a:cs typeface="Times New Roman"/>
                        </a:rPr>
                        <a:t>12.5</a:t>
                      </a:r>
                      <a:endParaRPr lang="en-US" sz="2000" b="1" i="0" dirty="0">
                        <a:solidFill>
                          <a:srgbClr val="FF0000"/>
                        </a:solidFill>
                        <a:effectLst>
                          <a:outerShdw blurRad="38100" dist="38100" dir="2700000" algn="tl">
                            <a:srgbClr val="000000">
                              <a:alpha val="43137"/>
                            </a:srgbClr>
                          </a:outerShdw>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dirty="0" smtClean="0">
                          <a:effectLst/>
                          <a:latin typeface="Calibri"/>
                          <a:ea typeface="Calibri"/>
                          <a:cs typeface="Times New Roman"/>
                        </a:rPr>
                        <a:t>250</a:t>
                      </a:r>
                      <a:endParaRPr lang="en-US" sz="20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61613">
                <a:tc>
                  <a:txBody>
                    <a:bodyPr/>
                    <a:lstStyle/>
                    <a:p>
                      <a:pPr marL="0" marR="0" algn="ctr">
                        <a:lnSpc>
                          <a:spcPct val="115000"/>
                        </a:lnSpc>
                        <a:spcBef>
                          <a:spcPts val="0"/>
                        </a:spcBef>
                        <a:spcAft>
                          <a:spcPts val="0"/>
                        </a:spcAft>
                      </a:pPr>
                      <a:r>
                        <a:rPr lang="en-US" sz="2000" b="1" dirty="0">
                          <a:effectLst/>
                          <a:latin typeface="Calibri"/>
                          <a:ea typeface="Calibri"/>
                          <a:cs typeface="Times New Roman"/>
                        </a:rPr>
                        <a:t>15 - 20</a:t>
                      </a:r>
                      <a:endParaRPr lang="en-US" sz="20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75000"/>
                      </a:schemeClr>
                    </a:solidFill>
                  </a:tcPr>
                </a:tc>
                <a:tc>
                  <a:txBody>
                    <a:bodyPr/>
                    <a:lstStyle/>
                    <a:p>
                      <a:pPr algn="ctr"/>
                      <a:r>
                        <a:rPr lang="en-US" sz="2000" b="1" dirty="0" smtClean="0"/>
                        <a:t>10</a:t>
                      </a:r>
                      <a:endParaRPr lang="en-US" sz="2000" b="1" dirty="0"/>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marL="0" marR="0" algn="ctr">
                        <a:lnSpc>
                          <a:spcPct val="115000"/>
                        </a:lnSpc>
                        <a:spcBef>
                          <a:spcPts val="0"/>
                        </a:spcBef>
                        <a:spcAft>
                          <a:spcPts val="0"/>
                        </a:spcAft>
                      </a:pPr>
                      <a:r>
                        <a:rPr lang="en-US" sz="2000" b="1" i="0" dirty="0" smtClean="0">
                          <a:solidFill>
                            <a:srgbClr val="FF0000"/>
                          </a:solidFill>
                          <a:effectLst>
                            <a:outerShdw blurRad="38100" dist="38100" dir="2700000" algn="tl">
                              <a:srgbClr val="000000">
                                <a:alpha val="43137"/>
                              </a:srgbClr>
                            </a:outerShdw>
                          </a:effectLst>
                          <a:latin typeface="Calibri"/>
                          <a:ea typeface="Calibri"/>
                          <a:cs typeface="Times New Roman"/>
                        </a:rPr>
                        <a:t>17.5</a:t>
                      </a:r>
                      <a:endParaRPr lang="en-US" sz="2000" b="1" i="0" dirty="0">
                        <a:solidFill>
                          <a:srgbClr val="FF0000"/>
                        </a:solidFill>
                        <a:effectLst>
                          <a:outerShdw blurRad="38100" dist="38100" dir="2700000" algn="tl">
                            <a:srgbClr val="000000">
                              <a:alpha val="43137"/>
                            </a:srgbClr>
                          </a:outerShdw>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dirty="0" smtClean="0">
                          <a:effectLst/>
                          <a:latin typeface="Calibri"/>
                          <a:ea typeface="Calibri"/>
                          <a:cs typeface="Times New Roman"/>
                        </a:rPr>
                        <a:t>175</a:t>
                      </a:r>
                      <a:endParaRPr lang="en-US" sz="20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marL="0" marR="0" algn="ctr">
                        <a:lnSpc>
                          <a:spcPct val="115000"/>
                        </a:lnSpc>
                        <a:spcBef>
                          <a:spcPts val="0"/>
                        </a:spcBef>
                        <a:spcAft>
                          <a:spcPts val="0"/>
                        </a:spcAft>
                      </a:pPr>
                      <a:r>
                        <a:rPr lang="en-US" sz="2000" b="1">
                          <a:effectLst/>
                          <a:latin typeface="Calibri"/>
                          <a:ea typeface="Calibri"/>
                          <a:cs typeface="Times New Roman"/>
                        </a:rPr>
                        <a:t>12</a:t>
                      </a:r>
                      <a:endParaRPr lang="en-US" sz="20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i="0" dirty="0" smtClean="0">
                          <a:solidFill>
                            <a:srgbClr val="FF0000"/>
                          </a:solidFill>
                          <a:effectLst>
                            <a:outerShdw blurRad="38100" dist="38100" dir="2700000" algn="tl">
                              <a:srgbClr val="000000">
                                <a:alpha val="43137"/>
                              </a:srgbClr>
                            </a:outerShdw>
                          </a:effectLst>
                          <a:latin typeface="Calibri"/>
                          <a:ea typeface="Calibri"/>
                          <a:cs typeface="Times New Roman"/>
                        </a:rPr>
                        <a:t>17.5</a:t>
                      </a:r>
                      <a:endParaRPr lang="en-US" sz="2000" b="1" i="0" dirty="0">
                        <a:solidFill>
                          <a:srgbClr val="FF0000"/>
                        </a:solidFill>
                        <a:effectLst>
                          <a:outerShdw blurRad="38100" dist="38100" dir="2700000" algn="tl">
                            <a:srgbClr val="000000">
                              <a:alpha val="43137"/>
                            </a:srgbClr>
                          </a:outerShdw>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dirty="0" smtClean="0">
                          <a:effectLst/>
                          <a:latin typeface="Calibri"/>
                          <a:ea typeface="Calibri"/>
                          <a:cs typeface="Times New Roman"/>
                        </a:rPr>
                        <a:t>210</a:t>
                      </a:r>
                      <a:endParaRPr lang="en-US" sz="20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61613">
                <a:tc>
                  <a:txBody>
                    <a:bodyPr/>
                    <a:lstStyle/>
                    <a:p>
                      <a:pPr marL="0" marR="0" algn="ctr">
                        <a:lnSpc>
                          <a:spcPct val="115000"/>
                        </a:lnSpc>
                        <a:spcBef>
                          <a:spcPts val="0"/>
                        </a:spcBef>
                        <a:spcAft>
                          <a:spcPts val="0"/>
                        </a:spcAft>
                      </a:pPr>
                      <a:r>
                        <a:rPr lang="en-US" sz="2000" b="1" dirty="0">
                          <a:effectLst/>
                          <a:latin typeface="Calibri"/>
                          <a:ea typeface="Calibri"/>
                          <a:cs typeface="Times New Roman"/>
                        </a:rPr>
                        <a:t>20 - 25</a:t>
                      </a:r>
                      <a:endParaRPr lang="en-US" sz="20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75000"/>
                      </a:schemeClr>
                    </a:solidFill>
                  </a:tcPr>
                </a:tc>
                <a:tc>
                  <a:txBody>
                    <a:bodyPr/>
                    <a:lstStyle/>
                    <a:p>
                      <a:pPr algn="ctr"/>
                      <a:r>
                        <a:rPr lang="en-US" sz="2000" b="1" dirty="0" smtClean="0"/>
                        <a:t>3</a:t>
                      </a:r>
                      <a:endParaRPr lang="en-US" sz="2000" b="1" dirty="0"/>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marL="0" marR="0" algn="ctr">
                        <a:lnSpc>
                          <a:spcPct val="115000"/>
                        </a:lnSpc>
                        <a:spcBef>
                          <a:spcPts val="0"/>
                        </a:spcBef>
                        <a:spcAft>
                          <a:spcPts val="0"/>
                        </a:spcAft>
                      </a:pPr>
                      <a:r>
                        <a:rPr lang="en-US" sz="2000" b="1" i="0" dirty="0" smtClean="0">
                          <a:solidFill>
                            <a:srgbClr val="FF0000"/>
                          </a:solidFill>
                          <a:effectLst>
                            <a:outerShdw blurRad="38100" dist="38100" dir="2700000" algn="tl">
                              <a:srgbClr val="000000">
                                <a:alpha val="43137"/>
                              </a:srgbClr>
                            </a:outerShdw>
                          </a:effectLst>
                          <a:latin typeface="Calibri"/>
                          <a:ea typeface="Calibri"/>
                          <a:cs typeface="Times New Roman"/>
                        </a:rPr>
                        <a:t>22.5</a:t>
                      </a:r>
                      <a:endParaRPr lang="en-US" sz="2000" b="1" i="0" dirty="0">
                        <a:solidFill>
                          <a:srgbClr val="FF0000"/>
                        </a:solidFill>
                        <a:effectLst>
                          <a:outerShdw blurRad="38100" dist="38100" dir="2700000" algn="tl">
                            <a:srgbClr val="000000">
                              <a:alpha val="43137"/>
                            </a:srgbClr>
                          </a:outerShdw>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dirty="0" smtClean="0">
                          <a:effectLst/>
                          <a:latin typeface="Calibri"/>
                          <a:ea typeface="Calibri"/>
                          <a:cs typeface="Times New Roman"/>
                        </a:rPr>
                        <a:t>67.5</a:t>
                      </a:r>
                      <a:endParaRPr lang="en-US" sz="20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marL="0" marR="0" algn="ctr">
                        <a:lnSpc>
                          <a:spcPct val="115000"/>
                        </a:lnSpc>
                        <a:spcBef>
                          <a:spcPts val="0"/>
                        </a:spcBef>
                        <a:spcAft>
                          <a:spcPts val="0"/>
                        </a:spcAft>
                      </a:pPr>
                      <a:r>
                        <a:rPr lang="en-US" sz="2000" b="1">
                          <a:effectLst/>
                          <a:latin typeface="Calibri"/>
                          <a:ea typeface="Calibri"/>
                          <a:cs typeface="Times New Roman"/>
                        </a:rPr>
                        <a:t>2</a:t>
                      </a:r>
                      <a:endParaRPr lang="en-US" sz="20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i="0" dirty="0" smtClean="0">
                          <a:solidFill>
                            <a:srgbClr val="FF0000"/>
                          </a:solidFill>
                          <a:effectLst>
                            <a:outerShdw blurRad="38100" dist="38100" dir="2700000" algn="tl">
                              <a:srgbClr val="000000">
                                <a:alpha val="43137"/>
                              </a:srgbClr>
                            </a:outerShdw>
                          </a:effectLst>
                          <a:latin typeface="Calibri"/>
                          <a:ea typeface="Calibri"/>
                          <a:cs typeface="Times New Roman"/>
                        </a:rPr>
                        <a:t>22.5</a:t>
                      </a:r>
                      <a:endParaRPr lang="en-US" sz="2000" b="1" i="0" dirty="0">
                        <a:solidFill>
                          <a:srgbClr val="FF0000"/>
                        </a:solidFill>
                        <a:effectLst>
                          <a:outerShdw blurRad="38100" dist="38100" dir="2700000" algn="tl">
                            <a:srgbClr val="000000">
                              <a:alpha val="43137"/>
                            </a:srgbClr>
                          </a:outerShdw>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dirty="0" smtClean="0">
                          <a:effectLst/>
                          <a:latin typeface="Calibri"/>
                          <a:ea typeface="Calibri"/>
                          <a:cs typeface="Times New Roman"/>
                        </a:rPr>
                        <a:t>45</a:t>
                      </a:r>
                      <a:endParaRPr lang="en-US" sz="20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71380">
                <a:tc>
                  <a:txBody>
                    <a:bodyPr/>
                    <a:lstStyle/>
                    <a:p>
                      <a:pPr marL="0" marR="0">
                        <a:lnSpc>
                          <a:spcPct val="115000"/>
                        </a:lnSpc>
                        <a:spcBef>
                          <a:spcPts val="0"/>
                        </a:spcBef>
                        <a:spcAft>
                          <a:spcPts val="0"/>
                        </a:spcAft>
                      </a:pPr>
                      <a:r>
                        <a:rPr lang="en-US" sz="2000">
                          <a:effectLst/>
                          <a:latin typeface="Calibri"/>
                          <a:ea typeface="Calibri"/>
                          <a:cs typeface="Times New Roman"/>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000" dirty="0">
                          <a:effectLst/>
                          <a:latin typeface="Calibri"/>
                          <a:ea typeface="Calibri"/>
                          <a:cs typeface="Times New Roman"/>
                        </a:rPr>
                        <a:t> </a:t>
                      </a:r>
                      <a:r>
                        <a:rPr lang="en-US" sz="2400" kern="1200" dirty="0" smtClean="0">
                          <a:solidFill>
                            <a:schemeClr val="tx1"/>
                          </a:solidFill>
                          <a:effectLst/>
                          <a:latin typeface="+mn-lt"/>
                          <a:ea typeface="+mn-ea"/>
                          <a:cs typeface="+mn-cs"/>
                        </a:rPr>
                        <a:t>∑</a:t>
                      </a:r>
                      <a:r>
                        <a:rPr lang="en-US" sz="2400" kern="1200" baseline="-25000" dirty="0" smtClean="0">
                          <a:solidFill>
                            <a:schemeClr val="tx1"/>
                          </a:solidFill>
                          <a:effectLst/>
                          <a:latin typeface="+mn-lt"/>
                          <a:ea typeface="+mn-ea"/>
                          <a:cs typeface="+mn-cs"/>
                        </a:rPr>
                        <a:t>f</a:t>
                      </a:r>
                      <a:r>
                        <a:rPr lang="en-US" sz="2400" kern="1200" dirty="0" smtClean="0">
                          <a:solidFill>
                            <a:schemeClr val="tx1"/>
                          </a:solidFill>
                          <a:effectLst/>
                          <a:latin typeface="+mn-lt"/>
                          <a:ea typeface="+mn-ea"/>
                          <a:cs typeface="+mn-cs"/>
                        </a:rPr>
                        <a:t> = 50</a:t>
                      </a:r>
                      <a:endParaRPr lang="en-US" sz="20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000" b="1" i="0" dirty="0">
                          <a:solidFill>
                            <a:srgbClr val="FF0000"/>
                          </a:solidFill>
                          <a:effectLst>
                            <a:outerShdw blurRad="38100" dist="38100" dir="2700000" algn="tl">
                              <a:srgbClr val="000000">
                                <a:alpha val="43137"/>
                              </a:srgbClr>
                            </a:outerShdw>
                          </a:effectLst>
                          <a:latin typeface="Calibri"/>
                          <a:ea typeface="Calibri"/>
                          <a:cs typeface="Times New Roman"/>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000" dirty="0">
                          <a:effectLst/>
                          <a:latin typeface="Calibri"/>
                          <a:ea typeface="Calibri"/>
                          <a:cs typeface="Times New Roman"/>
                        </a:rPr>
                        <a:t> </a:t>
                      </a:r>
                      <a:r>
                        <a:rPr lang="en-US" sz="2000" b="1" dirty="0">
                          <a:effectLst/>
                          <a:latin typeface="Calibri"/>
                          <a:ea typeface="Calibri"/>
                          <a:cs typeface="Times New Roman"/>
                        </a:rPr>
                        <a:t>∑</a:t>
                      </a:r>
                      <a:r>
                        <a:rPr lang="en-US" sz="2800" b="1" baseline="-25000" dirty="0" err="1">
                          <a:effectLst/>
                          <a:latin typeface="Times New Roman"/>
                          <a:ea typeface="Calibri"/>
                          <a:cs typeface="Times New Roman"/>
                        </a:rPr>
                        <a:t>fi.mi</a:t>
                      </a:r>
                      <a:r>
                        <a:rPr lang="en-US" sz="2000" b="1" dirty="0">
                          <a:effectLst/>
                          <a:latin typeface="Calibri"/>
                          <a:ea typeface="Calibri"/>
                          <a:cs typeface="Times New Roman"/>
                        </a:rPr>
                        <a:t>  = </a:t>
                      </a:r>
                      <a:r>
                        <a:rPr lang="en-US" sz="2000" b="1" dirty="0" smtClean="0">
                          <a:effectLst/>
                          <a:latin typeface="Calibri"/>
                          <a:ea typeface="Calibri"/>
                          <a:cs typeface="Times New Roman"/>
                        </a:rPr>
                        <a:t>565</a:t>
                      </a:r>
                      <a:endParaRPr lang="en-US" sz="20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400" dirty="0">
                          <a:effectLst/>
                          <a:latin typeface="Calibri"/>
                          <a:ea typeface="Calibri"/>
                          <a:cs typeface="Times New Roman"/>
                        </a:rPr>
                        <a:t> </a:t>
                      </a:r>
                      <a:r>
                        <a:rPr lang="en-US" sz="2400" kern="1200" dirty="0" smtClean="0">
                          <a:solidFill>
                            <a:schemeClr val="tx1"/>
                          </a:solidFill>
                          <a:effectLst/>
                          <a:latin typeface="+mn-lt"/>
                          <a:ea typeface="+mn-ea"/>
                          <a:cs typeface="+mn-cs"/>
                        </a:rPr>
                        <a:t>∑</a:t>
                      </a:r>
                      <a:r>
                        <a:rPr lang="en-US" sz="2400" kern="1200" baseline="-25000" dirty="0" smtClean="0">
                          <a:solidFill>
                            <a:schemeClr val="tx1"/>
                          </a:solidFill>
                          <a:effectLst/>
                          <a:latin typeface="+mn-lt"/>
                          <a:ea typeface="+mn-ea"/>
                          <a:cs typeface="+mn-cs"/>
                        </a:rPr>
                        <a:t>f</a:t>
                      </a:r>
                      <a:r>
                        <a:rPr lang="en-US" sz="2400" kern="1200" dirty="0" smtClean="0">
                          <a:solidFill>
                            <a:schemeClr val="tx1"/>
                          </a:solidFill>
                          <a:effectLst/>
                          <a:latin typeface="+mn-lt"/>
                          <a:ea typeface="+mn-ea"/>
                          <a:cs typeface="+mn-cs"/>
                        </a:rPr>
                        <a:t> = 50</a:t>
                      </a:r>
                      <a:endParaRPr lang="en-US" sz="14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endParaRPr lang="en-US" sz="20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000" b="1" dirty="0">
                          <a:effectLst/>
                          <a:latin typeface="Calibri"/>
                          <a:ea typeface="Calibri"/>
                          <a:cs typeface="Times New Roman"/>
                        </a:rPr>
                        <a:t>∑</a:t>
                      </a:r>
                      <a:r>
                        <a:rPr lang="en-US" sz="2800" b="1" baseline="-25000" dirty="0" err="1">
                          <a:effectLst/>
                          <a:latin typeface="Times New Roman"/>
                          <a:ea typeface="Calibri"/>
                          <a:cs typeface="Times New Roman"/>
                        </a:rPr>
                        <a:t>fi.mi</a:t>
                      </a:r>
                      <a:r>
                        <a:rPr lang="en-US" sz="2000" b="1" dirty="0">
                          <a:effectLst/>
                          <a:latin typeface="Calibri"/>
                          <a:ea typeface="Calibri"/>
                          <a:cs typeface="Times New Roman"/>
                        </a:rPr>
                        <a:t>  = </a:t>
                      </a:r>
                      <a:r>
                        <a:rPr lang="en-US" sz="2000" b="1" dirty="0" smtClean="0">
                          <a:effectLst/>
                          <a:latin typeface="Calibri"/>
                          <a:ea typeface="Calibri"/>
                          <a:cs typeface="Times New Roman"/>
                        </a:rPr>
                        <a:t>595</a:t>
                      </a:r>
                      <a:endParaRPr lang="en-US" sz="20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6" name="TextBox 5"/>
          <p:cNvSpPr txBox="1"/>
          <p:nvPr/>
        </p:nvSpPr>
        <p:spPr>
          <a:xfrm>
            <a:off x="0" y="5062654"/>
            <a:ext cx="9067800" cy="584775"/>
          </a:xfrm>
          <a:prstGeom prst="rect">
            <a:avLst/>
          </a:prstGeom>
          <a:noFill/>
        </p:spPr>
        <p:txBody>
          <a:bodyPr wrap="square" rtlCol="0">
            <a:spAutoFit/>
          </a:bodyPr>
          <a:lstStyle/>
          <a:p>
            <a:r>
              <a:rPr lang="en-US" sz="3200" dirty="0" smtClean="0"/>
              <a:t>Part  ‘a’ </a:t>
            </a:r>
            <a:r>
              <a:rPr lang="en-US" sz="3200" dirty="0" err="1" smtClean="0"/>
              <a:t>Soln</a:t>
            </a:r>
            <a:r>
              <a:rPr lang="en-US" sz="3200" dirty="0" smtClean="0"/>
              <a:t>:       =  565 / 50  = 11.3 yrs. life  </a:t>
            </a:r>
            <a:r>
              <a:rPr lang="en-US" sz="3200" dirty="0" smtClean="0">
                <a:sym typeface="Wingdings" pitchFamily="2" charset="2"/>
              </a:rPr>
              <a:t> make x </a:t>
            </a:r>
            <a:r>
              <a:rPr lang="en-US" sz="3200" dirty="0" smtClean="0"/>
              <a:t> </a:t>
            </a:r>
            <a:endParaRPr lang="en-US" sz="3200" dirty="0"/>
          </a:p>
        </p:txBody>
      </p:sp>
      <p:pic>
        <p:nvPicPr>
          <p:cNvPr id="9217" name="Picture 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90600" y="4419600"/>
            <a:ext cx="2739485" cy="7192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1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81803" y="5181600"/>
            <a:ext cx="304800" cy="295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6"/>
          <p:cNvSpPr txBox="1"/>
          <p:nvPr/>
        </p:nvSpPr>
        <p:spPr>
          <a:xfrm>
            <a:off x="228600" y="5903893"/>
            <a:ext cx="8458200" cy="954107"/>
          </a:xfrm>
          <a:prstGeom prst="rect">
            <a:avLst/>
          </a:prstGeom>
          <a:noFill/>
        </p:spPr>
        <p:txBody>
          <a:bodyPr wrap="square" rtlCol="0">
            <a:spAutoFit/>
          </a:bodyPr>
          <a:lstStyle/>
          <a:p>
            <a:pPr algn="r"/>
            <a:r>
              <a:rPr lang="en-US" dirty="0" smtClean="0"/>
              <a:t>       </a:t>
            </a:r>
            <a:r>
              <a:rPr lang="en-US" sz="2400" b="1" dirty="0" smtClean="0">
                <a:effectLst>
                  <a:outerShdw blurRad="38100" dist="38100" dir="2700000" algn="tl">
                    <a:srgbClr val="000000">
                      <a:alpha val="43137"/>
                    </a:srgbClr>
                  </a:outerShdw>
                </a:effectLst>
              </a:rPr>
              <a:t>= </a:t>
            </a:r>
            <a:r>
              <a:rPr lang="en-US" dirty="0" smtClean="0"/>
              <a:t>    </a:t>
            </a:r>
            <a:r>
              <a:rPr lang="en-US" sz="2800" dirty="0" smtClean="0"/>
              <a:t>595 / 50 </a:t>
            </a:r>
            <a:r>
              <a:rPr lang="en-US" sz="2800" smtClean="0"/>
              <a:t>= 11.9 </a:t>
            </a:r>
            <a:r>
              <a:rPr lang="en-US" sz="2800" dirty="0" smtClean="0"/>
              <a:t>yrs. Life </a:t>
            </a:r>
            <a:r>
              <a:rPr lang="en-US" sz="2800" dirty="0" smtClean="0">
                <a:sym typeface="Wingdings" pitchFamily="2" charset="2"/>
              </a:rPr>
              <a:t> make y (gives higher avg. life)</a:t>
            </a:r>
            <a:r>
              <a:rPr lang="en-US" sz="2800" dirty="0" smtClean="0"/>
              <a:t> </a:t>
            </a:r>
            <a:endParaRPr lang="en-US" sz="2800" dirty="0"/>
          </a:p>
        </p:txBody>
      </p:sp>
      <p:pic>
        <p:nvPicPr>
          <p:cNvPr id="9220"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52399" y="5903892"/>
            <a:ext cx="418985" cy="5413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21" name="Picture 5"/>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724400" y="4648200"/>
            <a:ext cx="2819400" cy="334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09446540"/>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smtClean="0"/>
              <a:t>Make x</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237261089"/>
              </p:ext>
            </p:extLst>
          </p:nvPr>
        </p:nvGraphicFramePr>
        <p:xfrm>
          <a:off x="76200" y="1447800"/>
          <a:ext cx="8915400" cy="3505197"/>
        </p:xfrm>
        <a:graphic>
          <a:graphicData uri="http://schemas.openxmlformats.org/drawingml/2006/table">
            <a:tbl>
              <a:tblPr firstRow="1" firstCol="1" bandRow="1"/>
              <a:tblGrid>
                <a:gridCol w="1301096"/>
                <a:gridCol w="1148026"/>
                <a:gridCol w="1935777"/>
                <a:gridCol w="504011"/>
                <a:gridCol w="1344030"/>
                <a:gridCol w="1344030"/>
                <a:gridCol w="1338430"/>
              </a:tblGrid>
              <a:tr h="1107931">
                <a:tc>
                  <a:txBody>
                    <a:bodyPr/>
                    <a:lstStyle/>
                    <a:p>
                      <a:pPr marL="0" marR="0" algn="ctr">
                        <a:lnSpc>
                          <a:spcPct val="115000"/>
                        </a:lnSpc>
                        <a:spcBef>
                          <a:spcPts val="0"/>
                        </a:spcBef>
                        <a:spcAft>
                          <a:spcPts val="0"/>
                        </a:spcAft>
                      </a:pPr>
                      <a:r>
                        <a:rPr lang="en-US" sz="2000" b="1" dirty="0">
                          <a:effectLst/>
                          <a:latin typeface="Times New Roman"/>
                          <a:ea typeface="Calibri"/>
                          <a:cs typeface="Times New Roman"/>
                        </a:rPr>
                        <a:t>LIFE (NO. OF YEARS)</a:t>
                      </a:r>
                      <a:endParaRPr lang="en-US" sz="16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90000"/>
                      </a:schemeClr>
                    </a:solidFill>
                  </a:tcPr>
                </a:tc>
                <a:tc>
                  <a:txBody>
                    <a:bodyPr/>
                    <a:lstStyle/>
                    <a:p>
                      <a:pPr marL="0" marR="0" algn="ctr">
                        <a:lnSpc>
                          <a:spcPct val="115000"/>
                        </a:lnSpc>
                        <a:spcBef>
                          <a:spcPts val="0"/>
                        </a:spcBef>
                        <a:spcAft>
                          <a:spcPts val="0"/>
                        </a:spcAft>
                      </a:pPr>
                      <a:r>
                        <a:rPr lang="en-US" sz="2000" b="1" dirty="0">
                          <a:effectLst/>
                          <a:latin typeface="Times New Roman"/>
                          <a:ea typeface="Calibri"/>
                          <a:cs typeface="Times New Roman"/>
                        </a:rPr>
                        <a:t>mi</a:t>
                      </a:r>
                      <a:endParaRPr lang="en-US" sz="16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smtClean="0">
                          <a:effectLst/>
                          <a:latin typeface="Times New Roman"/>
                          <a:ea typeface="Calibri"/>
                          <a:cs typeface="Times New Roman"/>
                        </a:rPr>
                        <a:t>d </a:t>
                      </a:r>
                      <a:r>
                        <a:rPr lang="en-US" sz="2000" b="1" dirty="0">
                          <a:effectLst/>
                          <a:latin typeface="Times New Roman"/>
                          <a:ea typeface="Calibri"/>
                          <a:cs typeface="Times New Roman"/>
                        </a:rPr>
                        <a:t>= mi – </a:t>
                      </a:r>
                      <a:r>
                        <a:rPr lang="en-US" sz="2000" b="1" dirty="0" smtClean="0">
                          <a:effectLst/>
                          <a:latin typeface="Times New Roman"/>
                          <a:ea typeface="Calibri"/>
                          <a:cs typeface="Times New Roman"/>
                        </a:rPr>
                        <a:t>12.5 </a:t>
                      </a:r>
                      <a:r>
                        <a:rPr lang="en-US" sz="2000" b="1" dirty="0">
                          <a:effectLst/>
                          <a:latin typeface="Times New Roman"/>
                          <a:ea typeface="Calibri"/>
                          <a:cs typeface="Times New Roman"/>
                        </a:rPr>
                        <a:t>/ 5</a:t>
                      </a:r>
                      <a:endParaRPr lang="en-US" sz="1600" dirty="0">
                        <a:effectLst/>
                        <a:latin typeface="Calibri"/>
                        <a:ea typeface="Calibri"/>
                        <a:cs typeface="Times New Roman"/>
                      </a:endParaRPr>
                    </a:p>
                    <a:p>
                      <a:pPr marL="0" marR="0" algn="ctr">
                        <a:lnSpc>
                          <a:spcPct val="115000"/>
                        </a:lnSpc>
                        <a:spcBef>
                          <a:spcPts val="0"/>
                        </a:spcBef>
                        <a:spcAft>
                          <a:spcPts val="0"/>
                        </a:spcAft>
                      </a:pPr>
                      <a:r>
                        <a:rPr lang="en-US" sz="2000" b="1" dirty="0">
                          <a:effectLst/>
                          <a:latin typeface="Times New Roman"/>
                          <a:ea typeface="Calibri"/>
                          <a:cs typeface="Times New Roman"/>
                        </a:rPr>
                        <a:t> </a:t>
                      </a:r>
                      <a:endParaRPr lang="en-US" sz="16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dirty="0" smtClean="0">
                          <a:effectLst/>
                          <a:latin typeface="Times New Roman"/>
                          <a:ea typeface="Calibri"/>
                          <a:cs typeface="Times New Roman"/>
                        </a:rPr>
                        <a:t>d</a:t>
                      </a:r>
                      <a:r>
                        <a:rPr lang="en-US" sz="2000" b="1" baseline="30000" dirty="0" smtClean="0">
                          <a:effectLst/>
                          <a:latin typeface="Times New Roman"/>
                          <a:ea typeface="Calibri"/>
                          <a:cs typeface="Times New Roman"/>
                        </a:rPr>
                        <a:t>2</a:t>
                      </a:r>
                      <a:endParaRPr lang="en-US" sz="1600" dirty="0">
                        <a:effectLst/>
                        <a:latin typeface="Calibri"/>
                        <a:ea typeface="Calibri"/>
                        <a:cs typeface="Times New Roman"/>
                      </a:endParaRPr>
                    </a:p>
                    <a:p>
                      <a:pPr marL="0" marR="0" algn="ctr">
                        <a:lnSpc>
                          <a:spcPct val="115000"/>
                        </a:lnSpc>
                        <a:spcBef>
                          <a:spcPts val="0"/>
                        </a:spcBef>
                        <a:spcAft>
                          <a:spcPts val="0"/>
                        </a:spcAft>
                      </a:pPr>
                      <a:r>
                        <a:rPr lang="en-US" sz="2000" b="1" dirty="0">
                          <a:effectLst/>
                          <a:latin typeface="Times New Roman"/>
                          <a:ea typeface="Calibri"/>
                          <a:cs typeface="Times New Roman"/>
                        </a:rPr>
                        <a:t> </a:t>
                      </a:r>
                      <a:endParaRPr lang="en-US" sz="16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dirty="0">
                          <a:effectLst/>
                          <a:latin typeface="Times New Roman"/>
                          <a:ea typeface="Calibri"/>
                          <a:cs typeface="Times New Roman"/>
                        </a:rPr>
                        <a:t>MAKE  X</a:t>
                      </a:r>
                      <a:endParaRPr lang="en-US" sz="1600" dirty="0">
                        <a:effectLst/>
                        <a:latin typeface="Calibri"/>
                        <a:ea typeface="Calibri"/>
                        <a:cs typeface="Times New Roman"/>
                      </a:endParaRPr>
                    </a:p>
                    <a:p>
                      <a:pPr marL="0" marR="0" algn="ctr">
                        <a:lnSpc>
                          <a:spcPct val="115000"/>
                        </a:lnSpc>
                        <a:spcBef>
                          <a:spcPts val="0"/>
                        </a:spcBef>
                        <a:spcAft>
                          <a:spcPts val="0"/>
                        </a:spcAft>
                      </a:pPr>
                      <a:r>
                        <a:rPr lang="en-US" sz="2000" b="1" dirty="0" smtClean="0">
                          <a:effectLst/>
                          <a:latin typeface="Times New Roman"/>
                          <a:ea typeface="Calibri"/>
                          <a:cs typeface="Times New Roman"/>
                        </a:rPr>
                        <a:t>f</a:t>
                      </a:r>
                      <a:endParaRPr lang="en-US" sz="16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dirty="0">
                          <a:effectLst/>
                          <a:latin typeface="Times New Roman"/>
                          <a:ea typeface="Calibri"/>
                          <a:cs typeface="Times New Roman"/>
                        </a:rPr>
                        <a:t>MAKE X</a:t>
                      </a:r>
                      <a:endParaRPr lang="en-US" sz="1600" dirty="0">
                        <a:effectLst/>
                        <a:latin typeface="Calibri"/>
                        <a:ea typeface="Calibri"/>
                        <a:cs typeface="Times New Roman"/>
                      </a:endParaRPr>
                    </a:p>
                    <a:p>
                      <a:pPr marL="0" marR="0" algn="ctr">
                        <a:lnSpc>
                          <a:spcPct val="115000"/>
                        </a:lnSpc>
                        <a:spcBef>
                          <a:spcPts val="0"/>
                        </a:spcBef>
                        <a:spcAft>
                          <a:spcPts val="0"/>
                        </a:spcAft>
                      </a:pPr>
                      <a:r>
                        <a:rPr lang="en-US" sz="2000" b="1" dirty="0" err="1" smtClean="0">
                          <a:effectLst/>
                          <a:latin typeface="Times New Roman"/>
                          <a:ea typeface="Calibri"/>
                          <a:cs typeface="Times New Roman"/>
                        </a:rPr>
                        <a:t>F.d</a:t>
                      </a:r>
                      <a:endParaRPr lang="en-US" sz="16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dirty="0">
                          <a:effectLst/>
                          <a:latin typeface="Times New Roman"/>
                          <a:ea typeface="Calibri"/>
                          <a:cs typeface="Times New Roman"/>
                        </a:rPr>
                        <a:t>MAKE X</a:t>
                      </a:r>
                      <a:endParaRPr lang="en-US" sz="1600" dirty="0">
                        <a:effectLst/>
                        <a:latin typeface="Calibri"/>
                        <a:ea typeface="Calibri"/>
                        <a:cs typeface="Times New Roman"/>
                      </a:endParaRPr>
                    </a:p>
                    <a:p>
                      <a:pPr marL="0" marR="0">
                        <a:lnSpc>
                          <a:spcPct val="115000"/>
                        </a:lnSpc>
                        <a:spcBef>
                          <a:spcPts val="0"/>
                        </a:spcBef>
                        <a:spcAft>
                          <a:spcPts val="0"/>
                        </a:spcAft>
                      </a:pPr>
                      <a:r>
                        <a:rPr lang="en-US" sz="2000" b="1" dirty="0">
                          <a:effectLst/>
                          <a:latin typeface="Times New Roman"/>
                          <a:ea typeface="Calibri"/>
                          <a:cs typeface="Times New Roman"/>
                        </a:rPr>
                        <a:t>    </a:t>
                      </a:r>
                      <a:r>
                        <a:rPr lang="en-US" sz="2000" b="1" dirty="0" smtClean="0">
                          <a:effectLst/>
                          <a:latin typeface="Times New Roman"/>
                          <a:ea typeface="Calibri"/>
                          <a:cs typeface="Times New Roman"/>
                        </a:rPr>
                        <a:t>F. d</a:t>
                      </a:r>
                      <a:r>
                        <a:rPr lang="en-US" sz="2000" b="1" baseline="30000" dirty="0" smtClean="0">
                          <a:effectLst/>
                          <a:latin typeface="Times New Roman"/>
                          <a:ea typeface="Calibri"/>
                          <a:cs typeface="Times New Roman"/>
                        </a:rPr>
                        <a:t>2</a:t>
                      </a:r>
                      <a:endParaRPr lang="en-US" sz="1600" dirty="0">
                        <a:effectLst/>
                        <a:latin typeface="Calibri"/>
                        <a:ea typeface="Calibri"/>
                        <a:cs typeface="Times New Roman"/>
                      </a:endParaRPr>
                    </a:p>
                    <a:p>
                      <a:pPr marL="0" marR="0" algn="ctr">
                        <a:lnSpc>
                          <a:spcPct val="115000"/>
                        </a:lnSpc>
                        <a:spcBef>
                          <a:spcPts val="0"/>
                        </a:spcBef>
                        <a:spcAft>
                          <a:spcPts val="0"/>
                        </a:spcAft>
                      </a:pPr>
                      <a:r>
                        <a:rPr lang="en-US" sz="2000" b="1" dirty="0">
                          <a:effectLst/>
                          <a:latin typeface="Times New Roman"/>
                          <a:ea typeface="Calibri"/>
                          <a:cs typeface="Times New Roman"/>
                        </a:rPr>
                        <a:t> </a:t>
                      </a:r>
                      <a:endParaRPr lang="en-US" sz="16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69310">
                <a:tc>
                  <a:txBody>
                    <a:bodyPr/>
                    <a:lstStyle/>
                    <a:p>
                      <a:pPr marL="0" marR="0" algn="ctr">
                        <a:lnSpc>
                          <a:spcPct val="115000"/>
                        </a:lnSpc>
                        <a:spcBef>
                          <a:spcPts val="0"/>
                        </a:spcBef>
                        <a:spcAft>
                          <a:spcPts val="0"/>
                        </a:spcAft>
                      </a:pPr>
                      <a:r>
                        <a:rPr lang="en-US" sz="2000" b="1" dirty="0">
                          <a:effectLst/>
                          <a:latin typeface="Times New Roman"/>
                          <a:ea typeface="Calibri"/>
                          <a:cs typeface="Times New Roman"/>
                        </a:rPr>
                        <a:t>0 - 5</a:t>
                      </a:r>
                      <a:endParaRPr lang="en-US" sz="16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90000"/>
                      </a:schemeClr>
                    </a:solidFill>
                  </a:tcPr>
                </a:tc>
                <a:tc>
                  <a:txBody>
                    <a:bodyPr/>
                    <a:lstStyle/>
                    <a:p>
                      <a:pPr marL="0" marR="0" algn="ctr">
                        <a:lnSpc>
                          <a:spcPct val="115000"/>
                        </a:lnSpc>
                        <a:spcBef>
                          <a:spcPts val="0"/>
                        </a:spcBef>
                        <a:spcAft>
                          <a:spcPts val="0"/>
                        </a:spcAft>
                      </a:pPr>
                      <a:r>
                        <a:rPr lang="en-US" sz="2000" b="1" dirty="0" smtClean="0">
                          <a:effectLst/>
                          <a:latin typeface="Calibri"/>
                          <a:ea typeface="Calibri"/>
                          <a:cs typeface="Times New Roman"/>
                        </a:rPr>
                        <a:t>2.5</a:t>
                      </a:r>
                      <a:endParaRPr lang="en-US" sz="20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dirty="0">
                          <a:effectLst/>
                          <a:latin typeface="Times New Roman"/>
                          <a:ea typeface="Calibri"/>
                          <a:cs typeface="Times New Roman"/>
                        </a:rPr>
                        <a:t>-2</a:t>
                      </a:r>
                      <a:endParaRPr lang="en-US" sz="16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a:effectLst/>
                          <a:latin typeface="Times New Roman"/>
                          <a:ea typeface="Calibri"/>
                          <a:cs typeface="Times New Roman"/>
                        </a:rPr>
                        <a:t>4</a:t>
                      </a:r>
                      <a:endParaRPr lang="en-US" sz="16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dirty="0">
                          <a:effectLst/>
                          <a:latin typeface="Times New Roman"/>
                          <a:ea typeface="Calibri"/>
                          <a:cs typeface="Times New Roman"/>
                        </a:rPr>
                        <a:t>8</a:t>
                      </a:r>
                      <a:endParaRPr lang="en-US" sz="16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a:effectLst/>
                          <a:latin typeface="Times New Roman"/>
                          <a:ea typeface="Calibri"/>
                          <a:cs typeface="Times New Roman"/>
                        </a:rPr>
                        <a:t>-16</a:t>
                      </a:r>
                      <a:endParaRPr lang="en-US" sz="16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a:effectLst/>
                          <a:latin typeface="Times New Roman"/>
                          <a:ea typeface="Calibri"/>
                          <a:cs typeface="Times New Roman"/>
                        </a:rPr>
                        <a:t>32</a:t>
                      </a:r>
                      <a:endParaRPr lang="en-US" sz="16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69310">
                <a:tc>
                  <a:txBody>
                    <a:bodyPr/>
                    <a:lstStyle/>
                    <a:p>
                      <a:pPr marL="0" marR="0" algn="ctr">
                        <a:lnSpc>
                          <a:spcPct val="115000"/>
                        </a:lnSpc>
                        <a:spcBef>
                          <a:spcPts val="0"/>
                        </a:spcBef>
                        <a:spcAft>
                          <a:spcPts val="0"/>
                        </a:spcAft>
                      </a:pPr>
                      <a:r>
                        <a:rPr lang="en-US" sz="2000" b="1" dirty="0">
                          <a:effectLst/>
                          <a:latin typeface="Times New Roman"/>
                          <a:ea typeface="Calibri"/>
                          <a:cs typeface="Times New Roman"/>
                        </a:rPr>
                        <a:t>5 - 10</a:t>
                      </a:r>
                      <a:endParaRPr lang="en-US" sz="16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90000"/>
                      </a:schemeClr>
                    </a:solidFill>
                  </a:tcPr>
                </a:tc>
                <a:tc>
                  <a:txBody>
                    <a:bodyPr/>
                    <a:lstStyle/>
                    <a:p>
                      <a:pPr marL="0" marR="0" algn="ctr">
                        <a:lnSpc>
                          <a:spcPct val="115000"/>
                        </a:lnSpc>
                        <a:spcBef>
                          <a:spcPts val="0"/>
                        </a:spcBef>
                        <a:spcAft>
                          <a:spcPts val="0"/>
                        </a:spcAft>
                      </a:pPr>
                      <a:r>
                        <a:rPr lang="en-US" sz="2000" b="1" dirty="0" smtClean="0">
                          <a:effectLst/>
                          <a:latin typeface="Calibri"/>
                          <a:ea typeface="Calibri"/>
                          <a:cs typeface="Times New Roman"/>
                        </a:rPr>
                        <a:t>7.5</a:t>
                      </a:r>
                      <a:endParaRPr lang="en-US" sz="20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dirty="0">
                          <a:effectLst/>
                          <a:latin typeface="Times New Roman"/>
                          <a:ea typeface="Calibri"/>
                          <a:cs typeface="Times New Roman"/>
                        </a:rPr>
                        <a:t>-1</a:t>
                      </a:r>
                      <a:endParaRPr lang="en-US" sz="16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a:effectLst/>
                          <a:latin typeface="Times New Roman"/>
                          <a:ea typeface="Calibri"/>
                          <a:cs typeface="Times New Roman"/>
                        </a:rPr>
                        <a:t>1</a:t>
                      </a:r>
                      <a:endParaRPr lang="en-US" sz="16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a:effectLst/>
                          <a:latin typeface="Times New Roman"/>
                          <a:ea typeface="Calibri"/>
                          <a:cs typeface="Times New Roman"/>
                        </a:rPr>
                        <a:t>12</a:t>
                      </a:r>
                      <a:endParaRPr lang="en-US" sz="16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a:effectLst/>
                          <a:latin typeface="Times New Roman"/>
                          <a:ea typeface="Calibri"/>
                          <a:cs typeface="Times New Roman"/>
                        </a:rPr>
                        <a:t>-12</a:t>
                      </a:r>
                      <a:endParaRPr lang="en-US" sz="16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a:effectLst/>
                          <a:latin typeface="Times New Roman"/>
                          <a:ea typeface="Calibri"/>
                          <a:cs typeface="Times New Roman"/>
                        </a:rPr>
                        <a:t>12</a:t>
                      </a:r>
                      <a:endParaRPr lang="en-US" sz="16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97957">
                <a:tc>
                  <a:txBody>
                    <a:bodyPr/>
                    <a:lstStyle/>
                    <a:p>
                      <a:pPr marL="0" marR="0" algn="ctr">
                        <a:lnSpc>
                          <a:spcPct val="115000"/>
                        </a:lnSpc>
                        <a:spcBef>
                          <a:spcPts val="0"/>
                        </a:spcBef>
                        <a:spcAft>
                          <a:spcPts val="0"/>
                        </a:spcAft>
                      </a:pPr>
                      <a:r>
                        <a:rPr lang="en-US" sz="2000" b="1" dirty="0">
                          <a:effectLst/>
                          <a:latin typeface="Times New Roman"/>
                          <a:ea typeface="Calibri"/>
                          <a:cs typeface="Times New Roman"/>
                        </a:rPr>
                        <a:t>10 - 15</a:t>
                      </a:r>
                      <a:endParaRPr lang="en-US" sz="16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90000"/>
                      </a:schemeClr>
                    </a:solidFill>
                  </a:tcPr>
                </a:tc>
                <a:tc>
                  <a:txBody>
                    <a:bodyPr/>
                    <a:lstStyle/>
                    <a:p>
                      <a:pPr marL="0" marR="0" algn="l">
                        <a:lnSpc>
                          <a:spcPct val="115000"/>
                        </a:lnSpc>
                        <a:spcBef>
                          <a:spcPts val="0"/>
                        </a:spcBef>
                        <a:spcAft>
                          <a:spcPts val="0"/>
                        </a:spcAft>
                      </a:pPr>
                      <a:r>
                        <a:rPr lang="en-US" sz="2000" b="1" dirty="0" smtClean="0">
                          <a:solidFill>
                            <a:srgbClr val="FF0000"/>
                          </a:solidFill>
                          <a:effectLst/>
                          <a:latin typeface="Calibri"/>
                          <a:ea typeface="Calibri"/>
                          <a:cs typeface="Times New Roman"/>
                        </a:rPr>
                        <a:t>A</a:t>
                      </a:r>
                      <a:r>
                        <a:rPr lang="en-US" sz="2000" b="1" baseline="0" dirty="0" smtClean="0">
                          <a:solidFill>
                            <a:srgbClr val="FF0000"/>
                          </a:solidFill>
                          <a:effectLst/>
                          <a:latin typeface="Calibri"/>
                          <a:ea typeface="Calibri"/>
                          <a:cs typeface="Times New Roman"/>
                        </a:rPr>
                        <a:t> </a:t>
                      </a:r>
                      <a:r>
                        <a:rPr lang="en-US" sz="2000" b="1" baseline="0" dirty="0" smtClean="0">
                          <a:solidFill>
                            <a:srgbClr val="FF0000"/>
                          </a:solidFill>
                          <a:effectLst/>
                          <a:latin typeface="Calibri"/>
                          <a:ea typeface="Calibri"/>
                          <a:cs typeface="Times New Roman"/>
                          <a:sym typeface="Wingdings" pitchFamily="2" charset="2"/>
                        </a:rPr>
                        <a:t></a:t>
                      </a:r>
                      <a:r>
                        <a:rPr lang="en-US" sz="2000" b="1" dirty="0" smtClean="0">
                          <a:solidFill>
                            <a:srgbClr val="FF0000"/>
                          </a:solidFill>
                          <a:effectLst/>
                          <a:latin typeface="Calibri"/>
                          <a:ea typeface="Calibri"/>
                          <a:cs typeface="Times New Roman"/>
                        </a:rPr>
                        <a:t>12.5</a:t>
                      </a:r>
                      <a:endParaRPr lang="en-US" sz="2000" dirty="0">
                        <a:solidFill>
                          <a:srgbClr val="FF0000"/>
                        </a:solidFill>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a:effectLst/>
                          <a:latin typeface="Times New Roman"/>
                          <a:ea typeface="Calibri"/>
                          <a:cs typeface="Times New Roman"/>
                        </a:rPr>
                        <a:t>0</a:t>
                      </a:r>
                      <a:endParaRPr lang="en-US" sz="16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dirty="0">
                          <a:effectLst/>
                          <a:latin typeface="Times New Roman"/>
                          <a:ea typeface="Calibri"/>
                          <a:cs typeface="Times New Roman"/>
                        </a:rPr>
                        <a:t>0</a:t>
                      </a:r>
                      <a:endParaRPr lang="en-US" sz="16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dirty="0">
                          <a:effectLst/>
                          <a:latin typeface="Times New Roman"/>
                          <a:ea typeface="Calibri"/>
                          <a:cs typeface="Times New Roman"/>
                        </a:rPr>
                        <a:t>17</a:t>
                      </a:r>
                      <a:endParaRPr lang="en-US" sz="16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a:effectLst/>
                          <a:latin typeface="Times New Roman"/>
                          <a:ea typeface="Calibri"/>
                          <a:cs typeface="Times New Roman"/>
                        </a:rPr>
                        <a:t>0</a:t>
                      </a:r>
                      <a:endParaRPr lang="en-US" sz="16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a:effectLst/>
                          <a:latin typeface="Times New Roman"/>
                          <a:ea typeface="Calibri"/>
                          <a:cs typeface="Times New Roman"/>
                        </a:rPr>
                        <a:t>0</a:t>
                      </a:r>
                      <a:endParaRPr lang="en-US" sz="16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69310">
                <a:tc>
                  <a:txBody>
                    <a:bodyPr/>
                    <a:lstStyle/>
                    <a:p>
                      <a:pPr marL="0" marR="0" algn="ctr">
                        <a:lnSpc>
                          <a:spcPct val="115000"/>
                        </a:lnSpc>
                        <a:spcBef>
                          <a:spcPts val="0"/>
                        </a:spcBef>
                        <a:spcAft>
                          <a:spcPts val="0"/>
                        </a:spcAft>
                      </a:pPr>
                      <a:r>
                        <a:rPr lang="en-US" sz="2000" b="1" dirty="0">
                          <a:effectLst/>
                          <a:latin typeface="Times New Roman"/>
                          <a:ea typeface="Calibri"/>
                          <a:cs typeface="Times New Roman"/>
                        </a:rPr>
                        <a:t>15 - 20</a:t>
                      </a:r>
                      <a:endParaRPr lang="en-US" sz="16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90000"/>
                      </a:schemeClr>
                    </a:solidFill>
                  </a:tcPr>
                </a:tc>
                <a:tc>
                  <a:txBody>
                    <a:bodyPr/>
                    <a:lstStyle/>
                    <a:p>
                      <a:pPr marL="0" marR="0" algn="ctr">
                        <a:lnSpc>
                          <a:spcPct val="115000"/>
                        </a:lnSpc>
                        <a:spcBef>
                          <a:spcPts val="0"/>
                        </a:spcBef>
                        <a:spcAft>
                          <a:spcPts val="0"/>
                        </a:spcAft>
                      </a:pPr>
                      <a:r>
                        <a:rPr lang="en-US" sz="2000" b="1" dirty="0" smtClean="0">
                          <a:effectLst/>
                          <a:latin typeface="Calibri"/>
                          <a:ea typeface="Calibri"/>
                          <a:cs typeface="Times New Roman"/>
                        </a:rPr>
                        <a:t>17.5</a:t>
                      </a:r>
                      <a:endParaRPr lang="en-US" sz="20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a:effectLst/>
                          <a:latin typeface="Times New Roman"/>
                          <a:ea typeface="Calibri"/>
                          <a:cs typeface="Times New Roman"/>
                        </a:rPr>
                        <a:t>+1</a:t>
                      </a:r>
                      <a:endParaRPr lang="en-US" sz="16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a:effectLst/>
                          <a:latin typeface="Times New Roman"/>
                          <a:ea typeface="Calibri"/>
                          <a:cs typeface="Times New Roman"/>
                        </a:rPr>
                        <a:t>1</a:t>
                      </a:r>
                      <a:endParaRPr lang="en-US" sz="16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dirty="0">
                          <a:effectLst/>
                          <a:latin typeface="Times New Roman"/>
                          <a:ea typeface="Calibri"/>
                          <a:cs typeface="Times New Roman"/>
                        </a:rPr>
                        <a:t>10</a:t>
                      </a:r>
                      <a:endParaRPr lang="en-US" sz="16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a:effectLst/>
                          <a:latin typeface="Times New Roman"/>
                          <a:ea typeface="Calibri"/>
                          <a:cs typeface="Times New Roman"/>
                        </a:rPr>
                        <a:t>10</a:t>
                      </a:r>
                      <a:endParaRPr lang="en-US" sz="16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a:effectLst/>
                          <a:latin typeface="Times New Roman"/>
                          <a:ea typeface="Calibri"/>
                          <a:cs typeface="Times New Roman"/>
                        </a:rPr>
                        <a:t>10</a:t>
                      </a:r>
                      <a:endParaRPr lang="en-US" sz="16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69310">
                <a:tc>
                  <a:txBody>
                    <a:bodyPr/>
                    <a:lstStyle/>
                    <a:p>
                      <a:pPr marL="0" marR="0" algn="ctr">
                        <a:lnSpc>
                          <a:spcPct val="115000"/>
                        </a:lnSpc>
                        <a:spcBef>
                          <a:spcPts val="0"/>
                        </a:spcBef>
                        <a:spcAft>
                          <a:spcPts val="0"/>
                        </a:spcAft>
                      </a:pPr>
                      <a:r>
                        <a:rPr lang="en-US" sz="2000" b="1" dirty="0">
                          <a:effectLst/>
                          <a:latin typeface="Times New Roman"/>
                          <a:ea typeface="Calibri"/>
                          <a:cs typeface="Times New Roman"/>
                        </a:rPr>
                        <a:t>20 - 25</a:t>
                      </a:r>
                      <a:endParaRPr lang="en-US" sz="16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90000"/>
                      </a:schemeClr>
                    </a:solidFill>
                  </a:tcPr>
                </a:tc>
                <a:tc>
                  <a:txBody>
                    <a:bodyPr/>
                    <a:lstStyle/>
                    <a:p>
                      <a:pPr marL="0" marR="0" algn="ctr">
                        <a:lnSpc>
                          <a:spcPct val="115000"/>
                        </a:lnSpc>
                        <a:spcBef>
                          <a:spcPts val="0"/>
                        </a:spcBef>
                        <a:spcAft>
                          <a:spcPts val="0"/>
                        </a:spcAft>
                      </a:pPr>
                      <a:r>
                        <a:rPr lang="en-US" sz="2000" b="1" dirty="0" smtClean="0">
                          <a:effectLst/>
                          <a:latin typeface="Calibri"/>
                          <a:ea typeface="Calibri"/>
                          <a:cs typeface="Times New Roman"/>
                        </a:rPr>
                        <a:t>22.5</a:t>
                      </a:r>
                      <a:endParaRPr lang="en-US" sz="20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a:effectLst/>
                          <a:latin typeface="Times New Roman"/>
                          <a:ea typeface="Calibri"/>
                          <a:cs typeface="Times New Roman"/>
                        </a:rPr>
                        <a:t>+2</a:t>
                      </a:r>
                      <a:endParaRPr lang="en-US" sz="16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a:effectLst/>
                          <a:latin typeface="Times New Roman"/>
                          <a:ea typeface="Calibri"/>
                          <a:cs typeface="Times New Roman"/>
                        </a:rPr>
                        <a:t>4</a:t>
                      </a:r>
                      <a:endParaRPr lang="en-US" sz="16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a:effectLst/>
                          <a:latin typeface="Times New Roman"/>
                          <a:ea typeface="Calibri"/>
                          <a:cs typeface="Times New Roman"/>
                        </a:rPr>
                        <a:t>3</a:t>
                      </a:r>
                      <a:endParaRPr lang="en-US" sz="16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dirty="0">
                          <a:effectLst/>
                          <a:latin typeface="Times New Roman"/>
                          <a:ea typeface="Calibri"/>
                          <a:cs typeface="Times New Roman"/>
                        </a:rPr>
                        <a:t>6</a:t>
                      </a:r>
                      <a:endParaRPr lang="en-US" sz="16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a:effectLst/>
                          <a:latin typeface="Times New Roman"/>
                          <a:ea typeface="Calibri"/>
                          <a:cs typeface="Times New Roman"/>
                        </a:rPr>
                        <a:t>12</a:t>
                      </a:r>
                      <a:endParaRPr lang="en-US" sz="16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22069">
                <a:tc>
                  <a:txBody>
                    <a:bodyPr/>
                    <a:lstStyle/>
                    <a:p>
                      <a:pPr marL="0" marR="0">
                        <a:lnSpc>
                          <a:spcPct val="115000"/>
                        </a:lnSpc>
                        <a:spcBef>
                          <a:spcPts val="0"/>
                        </a:spcBef>
                        <a:spcAft>
                          <a:spcPts val="0"/>
                        </a:spcAft>
                      </a:pPr>
                      <a:r>
                        <a:rPr lang="en-US" sz="1600" dirty="0">
                          <a:effectLst/>
                          <a:latin typeface="Calibri"/>
                          <a:ea typeface="Calibri"/>
                          <a:cs typeface="Times New Roman"/>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90000"/>
                      </a:schemeClr>
                    </a:solidFill>
                  </a:tcPr>
                </a:tc>
                <a:tc>
                  <a:txBody>
                    <a:bodyPr/>
                    <a:lstStyle/>
                    <a:p>
                      <a:pPr marL="0" marR="0">
                        <a:lnSpc>
                          <a:spcPct val="115000"/>
                        </a:lnSpc>
                        <a:spcBef>
                          <a:spcPts val="0"/>
                        </a:spcBef>
                        <a:spcAft>
                          <a:spcPts val="0"/>
                        </a:spcAft>
                      </a:pPr>
                      <a:r>
                        <a:rPr lang="en-US" sz="1600" dirty="0">
                          <a:effectLst/>
                          <a:latin typeface="Calibri"/>
                          <a:ea typeface="Calibri"/>
                          <a:cs typeface="Times New Roman"/>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600">
                          <a:effectLst/>
                          <a:latin typeface="Calibri"/>
                          <a:ea typeface="Calibri"/>
                          <a:cs typeface="Times New Roman"/>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400" b="1">
                          <a:effectLst/>
                          <a:highlight>
                            <a:srgbClr val="FFFF00"/>
                          </a:highlight>
                          <a:latin typeface="Calibri"/>
                          <a:ea typeface="Calibri"/>
                          <a:cs typeface="Times New Roman"/>
                        </a:rPr>
                        <a:t>10</a:t>
                      </a:r>
                      <a:endParaRPr lang="en-US" sz="16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b="1">
                          <a:effectLst/>
                          <a:highlight>
                            <a:srgbClr val="FFFF00"/>
                          </a:highlight>
                          <a:latin typeface="Calibri"/>
                          <a:ea typeface="Calibri"/>
                          <a:cs typeface="Times New Roman"/>
                        </a:rPr>
                        <a:t>50</a:t>
                      </a:r>
                      <a:endParaRPr lang="en-US" sz="16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b="1" dirty="0">
                          <a:effectLst/>
                          <a:highlight>
                            <a:srgbClr val="FFFF00"/>
                          </a:highlight>
                          <a:latin typeface="Calibri"/>
                          <a:ea typeface="Calibri"/>
                          <a:cs typeface="Times New Roman"/>
                        </a:rPr>
                        <a:t>-12</a:t>
                      </a:r>
                      <a:endParaRPr lang="en-US" sz="16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b="1" dirty="0" smtClean="0">
                          <a:effectLst/>
                          <a:highlight>
                            <a:srgbClr val="FFFF00"/>
                          </a:highlight>
                          <a:latin typeface="Calibri"/>
                          <a:ea typeface="Calibri"/>
                          <a:cs typeface="Times New Roman"/>
                        </a:rPr>
                        <a:t>66</a:t>
                      </a:r>
                      <a:endParaRPr lang="en-US" sz="16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5" name="TextBox 4"/>
          <p:cNvSpPr txBox="1"/>
          <p:nvPr/>
        </p:nvSpPr>
        <p:spPr>
          <a:xfrm>
            <a:off x="1219200" y="5711880"/>
            <a:ext cx="5562600" cy="584775"/>
          </a:xfrm>
          <a:prstGeom prst="rect">
            <a:avLst/>
          </a:prstGeom>
          <a:noFill/>
        </p:spPr>
        <p:txBody>
          <a:bodyPr wrap="square" rtlCol="0">
            <a:spAutoFit/>
          </a:bodyPr>
          <a:lstStyle/>
          <a:p>
            <a:r>
              <a:rPr lang="en-US" sz="3200" dirty="0" smtClean="0"/>
              <a:t>Make x : SD =  5.62</a:t>
            </a:r>
            <a:endParaRPr lang="en-US" sz="3200" dirty="0"/>
          </a:p>
        </p:txBody>
      </p:sp>
    </p:spTree>
    <p:extLst>
      <p:ext uri="{BB962C8B-B14F-4D97-AF65-F5344CB8AC3E}">
        <p14:creationId xmlns:p14="http://schemas.microsoft.com/office/powerpoint/2010/main" val="3251580921"/>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76200"/>
            <a:ext cx="8610600" cy="6705600"/>
          </a:xfrm>
        </p:spPr>
        <p:txBody>
          <a:bodyPr/>
          <a:lstStyle/>
          <a:p>
            <a:r>
              <a:rPr lang="en-US" dirty="0" err="1" smtClean="0"/>
              <a:t>Soln</a:t>
            </a:r>
            <a:r>
              <a:rPr lang="en-US" dirty="0" smtClean="0"/>
              <a:t>: </a:t>
            </a:r>
          </a:p>
          <a:p>
            <a:endParaRPr lang="en-US" dirty="0"/>
          </a:p>
        </p:txBody>
      </p:sp>
      <p:pic>
        <p:nvPicPr>
          <p:cNvPr id="4101"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62200" y="5105400"/>
            <a:ext cx="4386727"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2"/>
          <p:cNvPicPr>
            <a:picLocks noChangeAspect="1" noChangeArrowheads="1"/>
          </p:cNvPicPr>
          <p:nvPr/>
        </p:nvPicPr>
        <p:blipFill>
          <a:blip r:embed="rId3" cstate="print"/>
          <a:srcRect/>
          <a:stretch>
            <a:fillRect/>
          </a:stretch>
        </p:blipFill>
        <p:spPr bwMode="auto">
          <a:xfrm>
            <a:off x="2362200" y="685800"/>
            <a:ext cx="4533900" cy="1295400"/>
          </a:xfrm>
          <a:prstGeom prst="rect">
            <a:avLst/>
          </a:prstGeom>
          <a:noFill/>
          <a:ln w="9525">
            <a:noFill/>
            <a:miter lim="800000"/>
            <a:headEnd/>
            <a:tailEnd/>
          </a:ln>
          <a:effectLst/>
        </p:spPr>
      </p:pic>
      <p:pic>
        <p:nvPicPr>
          <p:cNvPr id="30722" name="Picture 2"/>
          <p:cNvPicPr>
            <a:picLocks noChangeAspect="1" noChangeArrowheads="1"/>
          </p:cNvPicPr>
          <p:nvPr/>
        </p:nvPicPr>
        <p:blipFill>
          <a:blip r:embed="rId4" cstate="print"/>
          <a:srcRect/>
          <a:stretch>
            <a:fillRect/>
          </a:stretch>
        </p:blipFill>
        <p:spPr bwMode="auto">
          <a:xfrm>
            <a:off x="2743200" y="2971800"/>
            <a:ext cx="4467225" cy="1162050"/>
          </a:xfrm>
          <a:prstGeom prst="rect">
            <a:avLst/>
          </a:prstGeom>
          <a:noFill/>
          <a:ln w="9525">
            <a:noFill/>
            <a:miter lim="800000"/>
            <a:headEnd/>
            <a:tailEnd/>
          </a:ln>
          <a:effectLst/>
        </p:spPr>
      </p:pic>
    </p:spTree>
    <p:extLst>
      <p:ext uri="{BB962C8B-B14F-4D97-AF65-F5344CB8AC3E}">
        <p14:creationId xmlns:p14="http://schemas.microsoft.com/office/powerpoint/2010/main" val="2935984503"/>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dirty="0" smtClean="0"/>
              <a:t>Make y</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102145324"/>
              </p:ext>
            </p:extLst>
          </p:nvPr>
        </p:nvGraphicFramePr>
        <p:xfrm>
          <a:off x="25940" y="1295400"/>
          <a:ext cx="9041860" cy="3542326"/>
        </p:xfrm>
        <a:graphic>
          <a:graphicData uri="http://schemas.openxmlformats.org/drawingml/2006/table">
            <a:tbl>
              <a:tblPr firstRow="1" firstCol="1" bandRow="1"/>
              <a:tblGrid>
                <a:gridCol w="1276398"/>
                <a:gridCol w="1126679"/>
                <a:gridCol w="1963397"/>
                <a:gridCol w="682261"/>
                <a:gridCol w="1449806"/>
                <a:gridCol w="1364523"/>
                <a:gridCol w="1178796"/>
              </a:tblGrid>
              <a:tr h="1096260">
                <a:tc>
                  <a:txBody>
                    <a:bodyPr/>
                    <a:lstStyle/>
                    <a:p>
                      <a:pPr marL="0" marR="0" algn="ctr">
                        <a:lnSpc>
                          <a:spcPct val="115000"/>
                        </a:lnSpc>
                        <a:spcBef>
                          <a:spcPts val="0"/>
                        </a:spcBef>
                        <a:spcAft>
                          <a:spcPts val="0"/>
                        </a:spcAft>
                      </a:pPr>
                      <a:r>
                        <a:rPr lang="en-US" sz="2000" b="1" dirty="0">
                          <a:effectLst/>
                          <a:latin typeface="Times New Roman"/>
                          <a:ea typeface="Calibri"/>
                          <a:cs typeface="Times New Roman"/>
                        </a:rPr>
                        <a:t>LIFE (NO. OF YEARS)</a:t>
                      </a:r>
                      <a:endParaRPr lang="en-US" sz="16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90000"/>
                      </a:schemeClr>
                    </a:solidFill>
                  </a:tcPr>
                </a:tc>
                <a:tc>
                  <a:txBody>
                    <a:bodyPr/>
                    <a:lstStyle/>
                    <a:p>
                      <a:pPr marL="0" marR="0" algn="ctr">
                        <a:lnSpc>
                          <a:spcPct val="115000"/>
                        </a:lnSpc>
                        <a:spcBef>
                          <a:spcPts val="0"/>
                        </a:spcBef>
                        <a:spcAft>
                          <a:spcPts val="0"/>
                        </a:spcAft>
                      </a:pPr>
                      <a:r>
                        <a:rPr lang="en-US" sz="2000" b="1" dirty="0">
                          <a:effectLst/>
                          <a:latin typeface="Times New Roman"/>
                          <a:ea typeface="Calibri"/>
                          <a:cs typeface="Times New Roman"/>
                        </a:rPr>
                        <a:t>mi</a:t>
                      </a:r>
                      <a:endParaRPr lang="en-US" sz="16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dirty="0">
                          <a:effectLst/>
                          <a:latin typeface="Times New Roman"/>
                          <a:ea typeface="Calibri"/>
                          <a:cs typeface="Times New Roman"/>
                        </a:rPr>
                        <a:t>di = mi – </a:t>
                      </a:r>
                      <a:r>
                        <a:rPr lang="en-US" sz="2000" b="1" dirty="0" smtClean="0">
                          <a:effectLst/>
                          <a:latin typeface="Times New Roman"/>
                          <a:ea typeface="Calibri"/>
                          <a:cs typeface="Times New Roman"/>
                        </a:rPr>
                        <a:t>12.5 </a:t>
                      </a:r>
                      <a:r>
                        <a:rPr lang="en-US" sz="2000" b="1" dirty="0">
                          <a:effectLst/>
                          <a:latin typeface="Times New Roman"/>
                          <a:ea typeface="Calibri"/>
                          <a:cs typeface="Times New Roman"/>
                        </a:rPr>
                        <a:t>/ 5</a:t>
                      </a:r>
                      <a:endParaRPr lang="en-US" sz="1600" dirty="0">
                        <a:effectLst/>
                        <a:latin typeface="Calibri"/>
                        <a:ea typeface="Calibri"/>
                        <a:cs typeface="Times New Roman"/>
                      </a:endParaRPr>
                    </a:p>
                    <a:p>
                      <a:pPr marL="0" marR="0" algn="ctr">
                        <a:lnSpc>
                          <a:spcPct val="115000"/>
                        </a:lnSpc>
                        <a:spcBef>
                          <a:spcPts val="0"/>
                        </a:spcBef>
                        <a:spcAft>
                          <a:spcPts val="0"/>
                        </a:spcAft>
                      </a:pPr>
                      <a:r>
                        <a:rPr lang="en-US" sz="2000" b="1" dirty="0">
                          <a:effectLst/>
                          <a:latin typeface="Times New Roman"/>
                          <a:ea typeface="Calibri"/>
                          <a:cs typeface="Times New Roman"/>
                        </a:rPr>
                        <a:t> </a:t>
                      </a:r>
                      <a:endParaRPr lang="en-US" sz="16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a:effectLst/>
                          <a:latin typeface="Times New Roman"/>
                          <a:ea typeface="Calibri"/>
                          <a:cs typeface="Times New Roman"/>
                        </a:rPr>
                        <a:t>di</a:t>
                      </a:r>
                      <a:r>
                        <a:rPr lang="en-US" sz="2000" b="1" baseline="30000">
                          <a:effectLst/>
                          <a:latin typeface="Times New Roman"/>
                          <a:ea typeface="Calibri"/>
                          <a:cs typeface="Times New Roman"/>
                        </a:rPr>
                        <a:t>2</a:t>
                      </a:r>
                      <a:endParaRPr lang="en-US" sz="1600">
                        <a:effectLst/>
                        <a:latin typeface="Calibri"/>
                        <a:ea typeface="Calibri"/>
                        <a:cs typeface="Times New Roman"/>
                      </a:endParaRPr>
                    </a:p>
                    <a:p>
                      <a:pPr marL="0" marR="0" algn="ctr">
                        <a:lnSpc>
                          <a:spcPct val="115000"/>
                        </a:lnSpc>
                        <a:spcBef>
                          <a:spcPts val="0"/>
                        </a:spcBef>
                        <a:spcAft>
                          <a:spcPts val="0"/>
                        </a:spcAft>
                      </a:pPr>
                      <a:r>
                        <a:rPr lang="en-US" sz="2000" b="1">
                          <a:effectLst/>
                          <a:latin typeface="Times New Roman"/>
                          <a:ea typeface="Calibri"/>
                          <a:cs typeface="Times New Roman"/>
                        </a:rPr>
                        <a:t> </a:t>
                      </a:r>
                      <a:endParaRPr lang="en-US" sz="16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a:effectLst/>
                          <a:latin typeface="Times New Roman"/>
                          <a:ea typeface="Calibri"/>
                          <a:cs typeface="Times New Roman"/>
                        </a:rPr>
                        <a:t>MAKE</a:t>
                      </a:r>
                      <a:endParaRPr lang="en-US" sz="1600">
                        <a:effectLst/>
                        <a:latin typeface="Calibri"/>
                        <a:ea typeface="Calibri"/>
                        <a:cs typeface="Times New Roman"/>
                      </a:endParaRPr>
                    </a:p>
                    <a:p>
                      <a:pPr marL="0" marR="0" algn="ctr">
                        <a:lnSpc>
                          <a:spcPct val="115000"/>
                        </a:lnSpc>
                        <a:spcBef>
                          <a:spcPts val="0"/>
                        </a:spcBef>
                        <a:spcAft>
                          <a:spcPts val="0"/>
                        </a:spcAft>
                      </a:pPr>
                      <a:r>
                        <a:rPr lang="en-US" sz="2000" b="1">
                          <a:effectLst/>
                          <a:latin typeface="Times New Roman"/>
                          <a:ea typeface="Calibri"/>
                          <a:cs typeface="Times New Roman"/>
                        </a:rPr>
                        <a:t>fi</a:t>
                      </a:r>
                      <a:endParaRPr lang="en-US" sz="16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a:effectLst/>
                          <a:latin typeface="Times New Roman"/>
                          <a:ea typeface="Calibri"/>
                          <a:cs typeface="Times New Roman"/>
                        </a:rPr>
                        <a:t>MAKE </a:t>
                      </a:r>
                      <a:endParaRPr lang="en-US" sz="1600">
                        <a:effectLst/>
                        <a:latin typeface="Calibri"/>
                        <a:ea typeface="Calibri"/>
                        <a:cs typeface="Times New Roman"/>
                      </a:endParaRPr>
                    </a:p>
                    <a:p>
                      <a:pPr marL="0" marR="0" algn="ctr">
                        <a:lnSpc>
                          <a:spcPct val="115000"/>
                        </a:lnSpc>
                        <a:spcBef>
                          <a:spcPts val="0"/>
                        </a:spcBef>
                        <a:spcAft>
                          <a:spcPts val="0"/>
                        </a:spcAft>
                      </a:pPr>
                      <a:r>
                        <a:rPr lang="en-US" sz="2000" b="1">
                          <a:effectLst/>
                          <a:latin typeface="Times New Roman"/>
                          <a:ea typeface="Calibri"/>
                          <a:cs typeface="Times New Roman"/>
                        </a:rPr>
                        <a:t>fi.di</a:t>
                      </a:r>
                      <a:endParaRPr lang="en-US" sz="16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a:effectLst/>
                          <a:latin typeface="Times New Roman"/>
                          <a:ea typeface="Calibri"/>
                          <a:cs typeface="Times New Roman"/>
                        </a:rPr>
                        <a:t>MAKE</a:t>
                      </a:r>
                      <a:endParaRPr lang="en-US" sz="1600">
                        <a:effectLst/>
                        <a:latin typeface="Calibri"/>
                        <a:ea typeface="Calibri"/>
                        <a:cs typeface="Times New Roman"/>
                      </a:endParaRPr>
                    </a:p>
                    <a:p>
                      <a:pPr marL="0" marR="0" algn="ctr">
                        <a:lnSpc>
                          <a:spcPct val="115000"/>
                        </a:lnSpc>
                        <a:spcBef>
                          <a:spcPts val="0"/>
                        </a:spcBef>
                        <a:spcAft>
                          <a:spcPts val="0"/>
                        </a:spcAft>
                      </a:pPr>
                      <a:r>
                        <a:rPr lang="en-US" sz="2000" b="1">
                          <a:effectLst/>
                          <a:latin typeface="Times New Roman"/>
                          <a:ea typeface="Calibri"/>
                          <a:cs typeface="Times New Roman"/>
                        </a:rPr>
                        <a:t>fi. di</a:t>
                      </a:r>
                      <a:r>
                        <a:rPr lang="en-US" sz="2000" b="1" baseline="30000">
                          <a:effectLst/>
                          <a:latin typeface="Times New Roman"/>
                          <a:ea typeface="Calibri"/>
                          <a:cs typeface="Times New Roman"/>
                        </a:rPr>
                        <a:t>2</a:t>
                      </a:r>
                      <a:endParaRPr lang="en-US" sz="1600">
                        <a:effectLst/>
                        <a:latin typeface="Calibri"/>
                        <a:ea typeface="Calibri"/>
                        <a:cs typeface="Times New Roman"/>
                      </a:endParaRPr>
                    </a:p>
                    <a:p>
                      <a:pPr marL="0" marR="0" algn="ctr">
                        <a:lnSpc>
                          <a:spcPct val="115000"/>
                        </a:lnSpc>
                        <a:spcBef>
                          <a:spcPts val="0"/>
                        </a:spcBef>
                        <a:spcAft>
                          <a:spcPts val="0"/>
                        </a:spcAft>
                      </a:pPr>
                      <a:r>
                        <a:rPr lang="en-US" sz="2000" b="1">
                          <a:effectLst/>
                          <a:latin typeface="Times New Roman"/>
                          <a:ea typeface="Calibri"/>
                          <a:cs typeface="Times New Roman"/>
                        </a:rPr>
                        <a:t> </a:t>
                      </a:r>
                      <a:endParaRPr lang="en-US" sz="16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65420">
                <a:tc>
                  <a:txBody>
                    <a:bodyPr/>
                    <a:lstStyle/>
                    <a:p>
                      <a:pPr marL="0" marR="0" algn="ctr">
                        <a:lnSpc>
                          <a:spcPct val="115000"/>
                        </a:lnSpc>
                        <a:spcBef>
                          <a:spcPts val="0"/>
                        </a:spcBef>
                        <a:spcAft>
                          <a:spcPts val="0"/>
                        </a:spcAft>
                      </a:pPr>
                      <a:r>
                        <a:rPr lang="en-US" sz="2000" b="1" dirty="0">
                          <a:effectLst/>
                          <a:latin typeface="Times New Roman"/>
                          <a:ea typeface="Calibri"/>
                          <a:cs typeface="Times New Roman"/>
                        </a:rPr>
                        <a:t>0 - 5</a:t>
                      </a:r>
                      <a:endParaRPr lang="en-US" sz="16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90000"/>
                      </a:schemeClr>
                    </a:solidFill>
                  </a:tcPr>
                </a:tc>
                <a:tc>
                  <a:txBody>
                    <a:bodyPr/>
                    <a:lstStyle/>
                    <a:p>
                      <a:pPr marL="0" marR="0" algn="ctr">
                        <a:lnSpc>
                          <a:spcPct val="115000"/>
                        </a:lnSpc>
                        <a:spcBef>
                          <a:spcPts val="0"/>
                        </a:spcBef>
                        <a:spcAft>
                          <a:spcPts val="0"/>
                        </a:spcAft>
                      </a:pPr>
                      <a:r>
                        <a:rPr lang="en-US" sz="2000" b="1" dirty="0" smtClean="0">
                          <a:effectLst/>
                          <a:latin typeface="Calibri"/>
                          <a:ea typeface="Calibri"/>
                          <a:cs typeface="Times New Roman"/>
                        </a:rPr>
                        <a:t>2.5</a:t>
                      </a:r>
                      <a:endParaRPr lang="en-US" sz="20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a:effectLst/>
                          <a:latin typeface="Times New Roman"/>
                          <a:ea typeface="Calibri"/>
                          <a:cs typeface="Times New Roman"/>
                        </a:rPr>
                        <a:t>-2</a:t>
                      </a:r>
                      <a:endParaRPr lang="en-US" sz="16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a:effectLst/>
                          <a:latin typeface="Times New Roman"/>
                          <a:ea typeface="Calibri"/>
                          <a:cs typeface="Times New Roman"/>
                        </a:rPr>
                        <a:t>4</a:t>
                      </a:r>
                      <a:endParaRPr lang="en-US" sz="16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a:effectLst/>
                          <a:latin typeface="Times New Roman"/>
                          <a:ea typeface="Calibri"/>
                          <a:cs typeface="Times New Roman"/>
                        </a:rPr>
                        <a:t>6</a:t>
                      </a:r>
                      <a:endParaRPr lang="en-US" sz="16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a:effectLst/>
                          <a:latin typeface="Times New Roman"/>
                          <a:ea typeface="Calibri"/>
                          <a:cs typeface="Times New Roman"/>
                        </a:rPr>
                        <a:t>-12</a:t>
                      </a:r>
                      <a:endParaRPr lang="en-US" sz="16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a:effectLst/>
                          <a:latin typeface="Times New Roman"/>
                          <a:ea typeface="Calibri"/>
                          <a:cs typeface="Times New Roman"/>
                        </a:rPr>
                        <a:t>24</a:t>
                      </a:r>
                      <a:endParaRPr lang="en-US" sz="16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65420">
                <a:tc>
                  <a:txBody>
                    <a:bodyPr/>
                    <a:lstStyle/>
                    <a:p>
                      <a:pPr marL="0" marR="0" algn="ctr">
                        <a:lnSpc>
                          <a:spcPct val="115000"/>
                        </a:lnSpc>
                        <a:spcBef>
                          <a:spcPts val="0"/>
                        </a:spcBef>
                        <a:spcAft>
                          <a:spcPts val="0"/>
                        </a:spcAft>
                      </a:pPr>
                      <a:r>
                        <a:rPr lang="en-US" sz="2000" b="1" dirty="0">
                          <a:effectLst/>
                          <a:latin typeface="Times New Roman"/>
                          <a:ea typeface="Calibri"/>
                          <a:cs typeface="Times New Roman"/>
                        </a:rPr>
                        <a:t>5 - 10</a:t>
                      </a:r>
                      <a:endParaRPr lang="en-US" sz="16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90000"/>
                      </a:schemeClr>
                    </a:solidFill>
                  </a:tcPr>
                </a:tc>
                <a:tc>
                  <a:txBody>
                    <a:bodyPr/>
                    <a:lstStyle/>
                    <a:p>
                      <a:pPr marL="0" marR="0" algn="ctr">
                        <a:lnSpc>
                          <a:spcPct val="115000"/>
                        </a:lnSpc>
                        <a:spcBef>
                          <a:spcPts val="0"/>
                        </a:spcBef>
                        <a:spcAft>
                          <a:spcPts val="0"/>
                        </a:spcAft>
                      </a:pPr>
                      <a:r>
                        <a:rPr lang="en-US" sz="2000" b="1" dirty="0" smtClean="0">
                          <a:effectLst/>
                          <a:latin typeface="Calibri"/>
                          <a:ea typeface="Calibri"/>
                          <a:cs typeface="Times New Roman"/>
                        </a:rPr>
                        <a:t>7.5</a:t>
                      </a:r>
                      <a:endParaRPr lang="en-US" sz="20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dirty="0">
                          <a:effectLst/>
                          <a:latin typeface="Times New Roman"/>
                          <a:ea typeface="Calibri"/>
                          <a:cs typeface="Times New Roman"/>
                        </a:rPr>
                        <a:t>-1</a:t>
                      </a:r>
                      <a:endParaRPr lang="en-US" sz="16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a:effectLst/>
                          <a:latin typeface="Times New Roman"/>
                          <a:ea typeface="Calibri"/>
                          <a:cs typeface="Times New Roman"/>
                        </a:rPr>
                        <a:t>1</a:t>
                      </a:r>
                      <a:endParaRPr lang="en-US" sz="16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a:effectLst/>
                          <a:latin typeface="Times New Roman"/>
                          <a:ea typeface="Calibri"/>
                          <a:cs typeface="Times New Roman"/>
                        </a:rPr>
                        <a:t>10</a:t>
                      </a:r>
                      <a:endParaRPr lang="en-US" sz="16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a:effectLst/>
                          <a:latin typeface="Times New Roman"/>
                          <a:ea typeface="Calibri"/>
                          <a:cs typeface="Times New Roman"/>
                        </a:rPr>
                        <a:t>-10</a:t>
                      </a:r>
                      <a:endParaRPr lang="en-US" sz="16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a:effectLst/>
                          <a:latin typeface="Times New Roman"/>
                          <a:ea typeface="Calibri"/>
                          <a:cs typeface="Times New Roman"/>
                        </a:rPr>
                        <a:t>10</a:t>
                      </a:r>
                      <a:endParaRPr lang="en-US" sz="16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93658">
                <a:tc>
                  <a:txBody>
                    <a:bodyPr/>
                    <a:lstStyle/>
                    <a:p>
                      <a:pPr marL="0" marR="0" algn="ctr">
                        <a:lnSpc>
                          <a:spcPct val="115000"/>
                        </a:lnSpc>
                        <a:spcBef>
                          <a:spcPts val="0"/>
                        </a:spcBef>
                        <a:spcAft>
                          <a:spcPts val="0"/>
                        </a:spcAft>
                      </a:pPr>
                      <a:r>
                        <a:rPr lang="en-US" sz="2000" b="1" dirty="0">
                          <a:effectLst/>
                          <a:latin typeface="Times New Roman"/>
                          <a:ea typeface="Calibri"/>
                          <a:cs typeface="Times New Roman"/>
                        </a:rPr>
                        <a:t>10 - 15</a:t>
                      </a:r>
                      <a:endParaRPr lang="en-US" sz="16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90000"/>
                      </a:schemeClr>
                    </a:solidFill>
                  </a:tcPr>
                </a:tc>
                <a:tc>
                  <a:txBody>
                    <a:bodyPr/>
                    <a:lstStyle/>
                    <a:p>
                      <a:pPr marL="0" marR="0" algn="l">
                        <a:lnSpc>
                          <a:spcPct val="115000"/>
                        </a:lnSpc>
                        <a:spcBef>
                          <a:spcPts val="0"/>
                        </a:spcBef>
                        <a:spcAft>
                          <a:spcPts val="0"/>
                        </a:spcAft>
                      </a:pPr>
                      <a:r>
                        <a:rPr lang="en-US" sz="2000" b="1" dirty="0" smtClean="0">
                          <a:solidFill>
                            <a:srgbClr val="FF0000"/>
                          </a:solidFill>
                          <a:effectLst/>
                          <a:latin typeface="Calibri"/>
                          <a:ea typeface="Calibri"/>
                          <a:cs typeface="Times New Roman"/>
                        </a:rPr>
                        <a:t>A</a:t>
                      </a:r>
                      <a:r>
                        <a:rPr lang="en-US" sz="2000" b="1" baseline="0" dirty="0" smtClean="0">
                          <a:solidFill>
                            <a:srgbClr val="FF0000"/>
                          </a:solidFill>
                          <a:effectLst/>
                          <a:latin typeface="Calibri"/>
                          <a:ea typeface="Calibri"/>
                          <a:cs typeface="Times New Roman"/>
                        </a:rPr>
                        <a:t> </a:t>
                      </a:r>
                      <a:r>
                        <a:rPr lang="en-US" sz="2000" b="1" baseline="0" dirty="0" smtClean="0">
                          <a:solidFill>
                            <a:srgbClr val="FF0000"/>
                          </a:solidFill>
                          <a:effectLst/>
                          <a:latin typeface="Calibri"/>
                          <a:ea typeface="Calibri"/>
                          <a:cs typeface="Times New Roman"/>
                          <a:sym typeface="Wingdings" pitchFamily="2" charset="2"/>
                        </a:rPr>
                        <a:t></a:t>
                      </a:r>
                      <a:r>
                        <a:rPr lang="en-US" sz="2000" b="1" dirty="0" smtClean="0">
                          <a:solidFill>
                            <a:srgbClr val="FF0000"/>
                          </a:solidFill>
                          <a:effectLst/>
                          <a:latin typeface="Calibri"/>
                          <a:ea typeface="Calibri"/>
                          <a:cs typeface="Times New Roman"/>
                        </a:rPr>
                        <a:t>12.5</a:t>
                      </a:r>
                      <a:endParaRPr lang="en-US" sz="2000" dirty="0">
                        <a:solidFill>
                          <a:srgbClr val="FF0000"/>
                        </a:solidFill>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dirty="0">
                          <a:effectLst/>
                          <a:latin typeface="Times New Roman"/>
                          <a:ea typeface="Calibri"/>
                          <a:cs typeface="Times New Roman"/>
                        </a:rPr>
                        <a:t>0</a:t>
                      </a:r>
                      <a:endParaRPr lang="en-US" sz="16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a:effectLst/>
                          <a:latin typeface="Times New Roman"/>
                          <a:ea typeface="Calibri"/>
                          <a:cs typeface="Times New Roman"/>
                        </a:rPr>
                        <a:t>0</a:t>
                      </a:r>
                      <a:endParaRPr lang="en-US" sz="16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a:effectLst/>
                          <a:latin typeface="Times New Roman"/>
                          <a:ea typeface="Calibri"/>
                          <a:cs typeface="Times New Roman"/>
                        </a:rPr>
                        <a:t>20</a:t>
                      </a:r>
                      <a:endParaRPr lang="en-US" sz="16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a:effectLst/>
                          <a:latin typeface="Times New Roman"/>
                          <a:ea typeface="Calibri"/>
                          <a:cs typeface="Times New Roman"/>
                        </a:rPr>
                        <a:t>0</a:t>
                      </a:r>
                      <a:endParaRPr lang="en-US" sz="16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a:effectLst/>
                          <a:latin typeface="Times New Roman"/>
                          <a:ea typeface="Calibri"/>
                          <a:cs typeface="Times New Roman"/>
                        </a:rPr>
                        <a:t>0</a:t>
                      </a:r>
                      <a:endParaRPr lang="en-US" sz="16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65420">
                <a:tc>
                  <a:txBody>
                    <a:bodyPr/>
                    <a:lstStyle/>
                    <a:p>
                      <a:pPr marL="0" marR="0" algn="ctr">
                        <a:lnSpc>
                          <a:spcPct val="115000"/>
                        </a:lnSpc>
                        <a:spcBef>
                          <a:spcPts val="0"/>
                        </a:spcBef>
                        <a:spcAft>
                          <a:spcPts val="0"/>
                        </a:spcAft>
                      </a:pPr>
                      <a:r>
                        <a:rPr lang="en-US" sz="2000" b="1" dirty="0">
                          <a:effectLst/>
                          <a:latin typeface="Times New Roman"/>
                          <a:ea typeface="Calibri"/>
                          <a:cs typeface="Times New Roman"/>
                        </a:rPr>
                        <a:t>15 - 20</a:t>
                      </a:r>
                      <a:endParaRPr lang="en-US" sz="16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90000"/>
                      </a:schemeClr>
                    </a:solidFill>
                  </a:tcPr>
                </a:tc>
                <a:tc>
                  <a:txBody>
                    <a:bodyPr/>
                    <a:lstStyle/>
                    <a:p>
                      <a:pPr marL="0" marR="0" algn="ctr">
                        <a:lnSpc>
                          <a:spcPct val="115000"/>
                        </a:lnSpc>
                        <a:spcBef>
                          <a:spcPts val="0"/>
                        </a:spcBef>
                        <a:spcAft>
                          <a:spcPts val="0"/>
                        </a:spcAft>
                      </a:pPr>
                      <a:r>
                        <a:rPr lang="en-US" sz="2000" b="1" dirty="0" smtClean="0">
                          <a:effectLst/>
                          <a:latin typeface="Calibri"/>
                          <a:ea typeface="Calibri"/>
                          <a:cs typeface="Times New Roman"/>
                        </a:rPr>
                        <a:t>17.5</a:t>
                      </a:r>
                      <a:endParaRPr lang="en-US" sz="20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a:effectLst/>
                          <a:latin typeface="Times New Roman"/>
                          <a:ea typeface="Calibri"/>
                          <a:cs typeface="Times New Roman"/>
                        </a:rPr>
                        <a:t>+1</a:t>
                      </a:r>
                      <a:endParaRPr lang="en-US" sz="16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dirty="0">
                          <a:effectLst/>
                          <a:latin typeface="Times New Roman"/>
                          <a:ea typeface="Calibri"/>
                          <a:cs typeface="Times New Roman"/>
                        </a:rPr>
                        <a:t>1</a:t>
                      </a:r>
                      <a:endParaRPr lang="en-US" sz="16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a:effectLst/>
                          <a:latin typeface="Times New Roman"/>
                          <a:ea typeface="Calibri"/>
                          <a:cs typeface="Times New Roman"/>
                        </a:rPr>
                        <a:t>12</a:t>
                      </a:r>
                      <a:endParaRPr lang="en-US" sz="16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a:effectLst/>
                          <a:latin typeface="Times New Roman"/>
                          <a:ea typeface="Calibri"/>
                          <a:cs typeface="Times New Roman"/>
                        </a:rPr>
                        <a:t>12</a:t>
                      </a:r>
                      <a:endParaRPr lang="en-US" sz="16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dirty="0">
                          <a:effectLst/>
                          <a:latin typeface="Times New Roman"/>
                          <a:ea typeface="Calibri"/>
                          <a:cs typeface="Times New Roman"/>
                        </a:rPr>
                        <a:t>12</a:t>
                      </a:r>
                      <a:endParaRPr lang="en-US" sz="16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65420">
                <a:tc>
                  <a:txBody>
                    <a:bodyPr/>
                    <a:lstStyle/>
                    <a:p>
                      <a:pPr marL="0" marR="0" algn="ctr">
                        <a:lnSpc>
                          <a:spcPct val="115000"/>
                        </a:lnSpc>
                        <a:spcBef>
                          <a:spcPts val="0"/>
                        </a:spcBef>
                        <a:spcAft>
                          <a:spcPts val="0"/>
                        </a:spcAft>
                      </a:pPr>
                      <a:r>
                        <a:rPr lang="en-US" sz="2000" b="1" dirty="0">
                          <a:effectLst/>
                          <a:latin typeface="Times New Roman"/>
                          <a:ea typeface="Calibri"/>
                          <a:cs typeface="Times New Roman"/>
                        </a:rPr>
                        <a:t>20 - 25</a:t>
                      </a:r>
                      <a:endParaRPr lang="en-US" sz="16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90000"/>
                      </a:schemeClr>
                    </a:solidFill>
                  </a:tcPr>
                </a:tc>
                <a:tc>
                  <a:txBody>
                    <a:bodyPr/>
                    <a:lstStyle/>
                    <a:p>
                      <a:pPr marL="0" marR="0" algn="ctr">
                        <a:lnSpc>
                          <a:spcPct val="115000"/>
                        </a:lnSpc>
                        <a:spcBef>
                          <a:spcPts val="0"/>
                        </a:spcBef>
                        <a:spcAft>
                          <a:spcPts val="0"/>
                        </a:spcAft>
                      </a:pPr>
                      <a:r>
                        <a:rPr lang="en-US" sz="2000" b="1" dirty="0" smtClean="0">
                          <a:effectLst/>
                          <a:latin typeface="Calibri"/>
                          <a:ea typeface="Calibri"/>
                          <a:cs typeface="Times New Roman"/>
                        </a:rPr>
                        <a:t>22.5</a:t>
                      </a:r>
                      <a:endParaRPr lang="en-US" sz="20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a:effectLst/>
                          <a:latin typeface="Times New Roman"/>
                          <a:ea typeface="Calibri"/>
                          <a:cs typeface="Times New Roman"/>
                        </a:rPr>
                        <a:t>+2</a:t>
                      </a:r>
                      <a:endParaRPr lang="en-US" sz="16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a:effectLst/>
                          <a:latin typeface="Times New Roman"/>
                          <a:ea typeface="Calibri"/>
                          <a:cs typeface="Times New Roman"/>
                        </a:rPr>
                        <a:t>4</a:t>
                      </a:r>
                      <a:endParaRPr lang="en-US" sz="16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dirty="0">
                          <a:effectLst/>
                          <a:latin typeface="Times New Roman"/>
                          <a:ea typeface="Calibri"/>
                          <a:cs typeface="Times New Roman"/>
                        </a:rPr>
                        <a:t>2</a:t>
                      </a:r>
                      <a:endParaRPr lang="en-US" sz="16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dirty="0">
                          <a:effectLst/>
                          <a:latin typeface="Times New Roman"/>
                          <a:ea typeface="Calibri"/>
                          <a:cs typeface="Times New Roman"/>
                        </a:rPr>
                        <a:t>4</a:t>
                      </a:r>
                      <a:endParaRPr lang="en-US" sz="16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dirty="0">
                          <a:effectLst/>
                          <a:latin typeface="Times New Roman"/>
                          <a:ea typeface="Calibri"/>
                          <a:cs typeface="Times New Roman"/>
                        </a:rPr>
                        <a:t>08</a:t>
                      </a:r>
                      <a:endParaRPr lang="en-US" sz="16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69826">
                <a:tc>
                  <a:txBody>
                    <a:bodyPr/>
                    <a:lstStyle/>
                    <a:p>
                      <a:pPr marL="0" marR="0" algn="ctr">
                        <a:lnSpc>
                          <a:spcPct val="115000"/>
                        </a:lnSpc>
                        <a:spcBef>
                          <a:spcPts val="0"/>
                        </a:spcBef>
                        <a:spcAft>
                          <a:spcPts val="0"/>
                        </a:spcAft>
                      </a:pPr>
                      <a:r>
                        <a:rPr lang="en-US" sz="1600" dirty="0">
                          <a:effectLst/>
                          <a:latin typeface="Calibri"/>
                          <a:ea typeface="Calibri"/>
                          <a:cs typeface="Times New Roman"/>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90000"/>
                      </a:schemeClr>
                    </a:solidFill>
                  </a:tcPr>
                </a:tc>
                <a:tc>
                  <a:txBody>
                    <a:bodyPr/>
                    <a:lstStyle/>
                    <a:p>
                      <a:pPr marL="0" marR="0" algn="ctr">
                        <a:lnSpc>
                          <a:spcPct val="115000"/>
                        </a:lnSpc>
                        <a:spcBef>
                          <a:spcPts val="0"/>
                        </a:spcBef>
                        <a:spcAft>
                          <a:spcPts val="0"/>
                        </a:spcAft>
                      </a:pPr>
                      <a:r>
                        <a:rPr lang="en-US" sz="1600">
                          <a:effectLst/>
                          <a:latin typeface="Calibri"/>
                          <a:ea typeface="Calibri"/>
                          <a:cs typeface="Times New Roman"/>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b="1">
                          <a:effectLst/>
                          <a:latin typeface="Calibri"/>
                          <a:ea typeface="Calibri"/>
                          <a:cs typeface="Times New Roman"/>
                        </a:rPr>
                        <a:t> </a:t>
                      </a:r>
                      <a:endParaRPr lang="en-US" sz="160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b="1" dirty="0">
                          <a:effectLst/>
                          <a:highlight>
                            <a:srgbClr val="FFFF00"/>
                          </a:highlight>
                          <a:latin typeface="Calibri"/>
                          <a:ea typeface="Calibri"/>
                          <a:cs typeface="Times New Roman"/>
                        </a:rPr>
                        <a:t>10</a:t>
                      </a:r>
                      <a:endParaRPr lang="en-US" sz="16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b="1" dirty="0">
                          <a:effectLst/>
                          <a:highlight>
                            <a:srgbClr val="FFFF00"/>
                          </a:highlight>
                          <a:latin typeface="Calibri"/>
                          <a:ea typeface="Calibri"/>
                          <a:cs typeface="Times New Roman"/>
                        </a:rPr>
                        <a:t>50</a:t>
                      </a:r>
                      <a:endParaRPr lang="en-US" sz="16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400" b="1" dirty="0">
                          <a:effectLst/>
                          <a:highlight>
                            <a:srgbClr val="FFFF00"/>
                          </a:highlight>
                          <a:latin typeface="Calibri"/>
                          <a:ea typeface="Calibri"/>
                          <a:cs typeface="Times New Roman"/>
                        </a:rPr>
                        <a:t>-6</a:t>
                      </a:r>
                      <a:endParaRPr lang="en-US" sz="16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800" b="1" dirty="0">
                          <a:effectLst/>
                          <a:highlight>
                            <a:srgbClr val="FFFF00"/>
                          </a:highlight>
                          <a:latin typeface="Calibri"/>
                          <a:ea typeface="Calibri"/>
                          <a:cs typeface="Times New Roman"/>
                        </a:rPr>
                        <a:t>54</a:t>
                      </a:r>
                      <a:endParaRPr lang="en-US" sz="16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5" name="TextBox 4"/>
          <p:cNvSpPr txBox="1"/>
          <p:nvPr/>
        </p:nvSpPr>
        <p:spPr>
          <a:xfrm>
            <a:off x="1828800" y="5421868"/>
            <a:ext cx="5867400" cy="523220"/>
          </a:xfrm>
          <a:prstGeom prst="rect">
            <a:avLst/>
          </a:prstGeom>
          <a:noFill/>
        </p:spPr>
        <p:txBody>
          <a:bodyPr wrap="square" rtlCol="0">
            <a:spAutoFit/>
          </a:bodyPr>
          <a:lstStyle/>
          <a:p>
            <a:r>
              <a:rPr lang="en-US" sz="2800" dirty="0" smtClean="0"/>
              <a:t>MAKE Y:  SD = </a:t>
            </a:r>
            <a:r>
              <a:rPr lang="en-US" sz="2800" b="1" dirty="0" smtClean="0">
                <a:solidFill>
                  <a:srgbClr val="FF0000"/>
                </a:solidFill>
              </a:rPr>
              <a:t>5.16</a:t>
            </a:r>
            <a:r>
              <a:rPr lang="en-US" sz="2800" b="1" dirty="0" smtClean="0"/>
              <a:t> </a:t>
            </a:r>
            <a:endParaRPr lang="en-US" sz="2800" b="1" dirty="0"/>
          </a:p>
        </p:txBody>
      </p:sp>
      <p:sp>
        <p:nvSpPr>
          <p:cNvPr id="6" name="TextBox 5"/>
          <p:cNvSpPr txBox="1"/>
          <p:nvPr/>
        </p:nvSpPr>
        <p:spPr>
          <a:xfrm>
            <a:off x="304800" y="6095999"/>
            <a:ext cx="8077200" cy="461665"/>
          </a:xfrm>
          <a:prstGeom prst="rect">
            <a:avLst/>
          </a:prstGeom>
          <a:noFill/>
        </p:spPr>
        <p:txBody>
          <a:bodyPr wrap="square" rtlCol="0">
            <a:spAutoFit/>
          </a:bodyPr>
          <a:lstStyle/>
          <a:p>
            <a:pPr algn="ctr"/>
            <a:r>
              <a:rPr lang="en-US" sz="2400" b="1" dirty="0" smtClean="0">
                <a:effectLst>
                  <a:outerShdw blurRad="38100" dist="38100" dir="2700000" algn="tl">
                    <a:srgbClr val="000000">
                      <a:alpha val="43137"/>
                    </a:srgbClr>
                  </a:outerShdw>
                </a:effectLst>
              </a:rPr>
              <a:t>Therefore MAKE Y is having  greater consistent performance</a:t>
            </a:r>
            <a:endParaRPr lang="en-US" sz="2400"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492383599"/>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9" name="Picture 2"/>
          <p:cNvPicPr>
            <a:picLocks noGrp="1" noChangeAspect="1" noChangeArrowheads="1"/>
          </p:cNvPicPr>
          <p:nvPr>
            <p:ph idx="1"/>
          </p:nvPr>
        </p:nvPicPr>
        <p:blipFill>
          <a:blip r:embed="rId2" cstate="print"/>
          <a:srcRect/>
          <a:stretch>
            <a:fillRect/>
          </a:stretch>
        </p:blipFill>
        <p:spPr bwMode="auto">
          <a:xfrm>
            <a:off x="1676400" y="1828800"/>
            <a:ext cx="5486400" cy="1371600"/>
          </a:xfrm>
          <a:prstGeom prst="rect">
            <a:avLst/>
          </a:prstGeom>
          <a:noFill/>
          <a:ln w="9525">
            <a:noFill/>
            <a:miter lim="800000"/>
            <a:headEnd/>
            <a:tailEnd/>
          </a:ln>
          <a:effectLst/>
        </p:spPr>
      </p:pic>
      <p:pic>
        <p:nvPicPr>
          <p:cNvPr id="7171"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33600" y="4419600"/>
            <a:ext cx="483870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158576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1985</TotalTime>
  <Words>2707</Words>
  <Application>Microsoft Office PowerPoint</Application>
  <PresentationFormat>On-screen Show (4:3)</PresentationFormat>
  <Paragraphs>707</Paragraphs>
  <Slides>81</Slides>
  <Notes>0</Notes>
  <HiddenSlides>0</HiddenSlides>
  <MMClips>0</MMClips>
  <ScaleCrop>false</ScaleCrop>
  <HeadingPairs>
    <vt:vector size="8" baseType="variant">
      <vt:variant>
        <vt:lpstr>Fonts Used</vt:lpstr>
      </vt:variant>
      <vt:variant>
        <vt:i4>7</vt:i4>
      </vt:variant>
      <vt:variant>
        <vt:lpstr>Theme</vt:lpstr>
      </vt:variant>
      <vt:variant>
        <vt:i4>2</vt:i4>
      </vt:variant>
      <vt:variant>
        <vt:lpstr>Embedded OLE Servers</vt:lpstr>
      </vt:variant>
      <vt:variant>
        <vt:i4>1</vt:i4>
      </vt:variant>
      <vt:variant>
        <vt:lpstr>Slide Titles</vt:lpstr>
      </vt:variant>
      <vt:variant>
        <vt:i4>81</vt:i4>
      </vt:variant>
    </vt:vector>
  </HeadingPairs>
  <TitlesOfParts>
    <vt:vector size="91" baseType="lpstr">
      <vt:lpstr>Arial Unicode MS</vt:lpstr>
      <vt:lpstr>Arial</vt:lpstr>
      <vt:lpstr>Batang</vt:lpstr>
      <vt:lpstr>Calibri</vt:lpstr>
      <vt:lpstr>Georgia</vt:lpstr>
      <vt:lpstr>Times New Roman</vt:lpstr>
      <vt:lpstr>Wingdings</vt:lpstr>
      <vt:lpstr>Office Theme</vt:lpstr>
      <vt:lpstr>1_Office Theme</vt:lpstr>
      <vt:lpstr>Document</vt:lpstr>
      <vt:lpstr>MEASURES OF DISPERSION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Individual series Quartile deviation</vt:lpstr>
      <vt:lpstr>PowerPoint Presentation</vt:lpstr>
      <vt:lpstr>PowerPoint Presentation</vt:lpstr>
      <vt:lpstr>PowerPoint Presentation</vt:lpstr>
      <vt:lpstr>PowerPoint Presentation</vt:lpstr>
      <vt:lpstr>DISCRETE SERIES QD</vt:lpstr>
      <vt:lpstr>PowerPoint Presentation</vt:lpstr>
      <vt:lpstr>PowerPoint Presentation</vt:lpstr>
      <vt:lpstr>PowerPoint Presentation</vt:lpstr>
      <vt:lpstr>DISCRETE SERIES QD</vt:lpstr>
      <vt:lpstr>PowerPoint Presentation</vt:lpstr>
      <vt:lpstr>PowerPoint Presentation</vt:lpstr>
      <vt:lpstr>CONTINUOUS SERIES QD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INDIVIDUAL SERIES</vt:lpstr>
      <vt:lpstr> Find out mean deviation from MEAN and MEDIAN X = 2, 6, 11, 14, 16, 19, 23 </vt:lpstr>
      <vt:lpstr>DISCRETE SERIES</vt:lpstr>
      <vt:lpstr>mean</vt:lpstr>
      <vt:lpstr>PowerPoint Presentation</vt:lpstr>
      <vt:lpstr>CONTINUOUS SERIES</vt:lpstr>
      <vt:lpstr>Mean </vt:lpstr>
      <vt:lpstr>Mean </vt:lpstr>
      <vt:lpstr>PowerPoint Presentation</vt:lpstr>
      <vt:lpstr>PowerPoint Presentation</vt:lpstr>
      <vt:lpstr>PowerPoint Presentation</vt:lpstr>
      <vt:lpstr>PowerPoint Presentation</vt:lpstr>
      <vt:lpstr>PowerPoint Presentation</vt:lpstr>
      <vt:lpstr>PowerPoint Presentation</vt:lpstr>
      <vt:lpstr>INDIVIDUAL SERIES  direct method ungrouped data </vt:lpstr>
      <vt:lpstr>PowerPoint Presentation</vt:lpstr>
      <vt:lpstr>INDIVIDUAL SERIES  short cut Method ungrouped data </vt:lpstr>
      <vt:lpstr>PowerPoint Presentation</vt:lpstr>
      <vt:lpstr>PowerPoint Presentation</vt:lpstr>
      <vt:lpstr>SOLN.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Make x</vt:lpstr>
      <vt:lpstr>PowerPoint Presentation</vt:lpstr>
      <vt:lpstr>Make y</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MEASURES OF DISPERSION</dc:title>
  <dc:creator>sanjiv</dc:creator>
  <cp:lastModifiedBy>INTEX</cp:lastModifiedBy>
  <cp:revision>437</cp:revision>
  <dcterms:created xsi:type="dcterms:W3CDTF">2016-08-28T09:17:11Z</dcterms:created>
  <dcterms:modified xsi:type="dcterms:W3CDTF">2025-10-11T04:07:26Z</dcterms:modified>
</cp:coreProperties>
</file>