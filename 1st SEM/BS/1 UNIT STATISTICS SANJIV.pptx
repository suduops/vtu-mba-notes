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5" r:id="rId2"/>
    <p:sldId id="366" r:id="rId3"/>
    <p:sldId id="367" r:id="rId4"/>
    <p:sldId id="368" r:id="rId5"/>
    <p:sldId id="369" r:id="rId6"/>
    <p:sldId id="256" r:id="rId7"/>
    <p:sldId id="390" r:id="rId8"/>
    <p:sldId id="257" r:id="rId9"/>
    <p:sldId id="271" r:id="rId10"/>
    <p:sldId id="355" r:id="rId11"/>
    <p:sldId id="356" r:id="rId12"/>
    <p:sldId id="357" r:id="rId13"/>
    <p:sldId id="314" r:id="rId14"/>
    <p:sldId id="258" r:id="rId15"/>
    <p:sldId id="263" r:id="rId16"/>
    <p:sldId id="358" r:id="rId17"/>
    <p:sldId id="313" r:id="rId18"/>
    <p:sldId id="264" r:id="rId19"/>
    <p:sldId id="312" r:id="rId20"/>
    <p:sldId id="315" r:id="rId21"/>
    <p:sldId id="265" r:id="rId22"/>
    <p:sldId id="266" r:id="rId23"/>
    <p:sldId id="267" r:id="rId24"/>
    <p:sldId id="281" r:id="rId25"/>
    <p:sldId id="268" r:id="rId26"/>
    <p:sldId id="269" r:id="rId27"/>
    <p:sldId id="262" r:id="rId28"/>
    <p:sldId id="259" r:id="rId29"/>
    <p:sldId id="273" r:id="rId30"/>
    <p:sldId id="274" r:id="rId31"/>
    <p:sldId id="280" r:id="rId32"/>
    <p:sldId id="275" r:id="rId33"/>
    <p:sldId id="276" r:id="rId34"/>
    <p:sldId id="370" r:id="rId35"/>
    <p:sldId id="371" r:id="rId36"/>
    <p:sldId id="372" r:id="rId37"/>
    <p:sldId id="277" r:id="rId38"/>
    <p:sldId id="278" r:id="rId39"/>
    <p:sldId id="279" r:id="rId40"/>
    <p:sldId id="282" r:id="rId41"/>
    <p:sldId id="386" r:id="rId42"/>
    <p:sldId id="283" r:id="rId43"/>
    <p:sldId id="293" r:id="rId44"/>
    <p:sldId id="284" r:id="rId45"/>
    <p:sldId id="287" r:id="rId46"/>
    <p:sldId id="286" r:id="rId47"/>
    <p:sldId id="291" r:id="rId48"/>
    <p:sldId id="290" r:id="rId49"/>
    <p:sldId id="289" r:id="rId50"/>
    <p:sldId id="354" r:id="rId51"/>
    <p:sldId id="292" r:id="rId52"/>
    <p:sldId id="294" r:id="rId53"/>
    <p:sldId id="295" r:id="rId54"/>
    <p:sldId id="296" r:id="rId55"/>
    <p:sldId id="297" r:id="rId56"/>
    <p:sldId id="318" r:id="rId57"/>
    <p:sldId id="319" r:id="rId58"/>
    <p:sldId id="299" r:id="rId59"/>
    <p:sldId id="320" r:id="rId60"/>
    <p:sldId id="321" r:id="rId61"/>
    <p:sldId id="322" r:id="rId62"/>
    <p:sldId id="323" r:id="rId63"/>
    <p:sldId id="324" r:id="rId64"/>
    <p:sldId id="325" r:id="rId65"/>
    <p:sldId id="326" r:id="rId66"/>
    <p:sldId id="332" r:id="rId67"/>
    <p:sldId id="329" r:id="rId68"/>
    <p:sldId id="330" r:id="rId69"/>
    <p:sldId id="331" r:id="rId70"/>
    <p:sldId id="363" r:id="rId71"/>
    <p:sldId id="333" r:id="rId72"/>
    <p:sldId id="362" r:id="rId73"/>
    <p:sldId id="336" r:id="rId74"/>
    <p:sldId id="337" r:id="rId75"/>
    <p:sldId id="364" r:id="rId76"/>
    <p:sldId id="338" r:id="rId77"/>
    <p:sldId id="300" r:id="rId78"/>
    <p:sldId id="301" r:id="rId79"/>
    <p:sldId id="302" r:id="rId80"/>
    <p:sldId id="339" r:id="rId81"/>
    <p:sldId id="340" r:id="rId82"/>
    <p:sldId id="383" r:id="rId83"/>
    <p:sldId id="343" r:id="rId84"/>
    <p:sldId id="341" r:id="rId85"/>
    <p:sldId id="352" r:id="rId86"/>
    <p:sldId id="342" r:id="rId87"/>
    <p:sldId id="344" r:id="rId88"/>
    <p:sldId id="304" r:id="rId89"/>
    <p:sldId id="384" r:id="rId90"/>
    <p:sldId id="346" r:id="rId91"/>
    <p:sldId id="388" r:id="rId92"/>
    <p:sldId id="348" r:id="rId93"/>
    <p:sldId id="349" r:id="rId94"/>
    <p:sldId id="353" r:id="rId95"/>
    <p:sldId id="373" r:id="rId96"/>
    <p:sldId id="379" r:id="rId97"/>
    <p:sldId id="374" r:id="rId98"/>
    <p:sldId id="375" r:id="rId99"/>
    <p:sldId id="376" r:id="rId100"/>
    <p:sldId id="387" r:id="rId101"/>
    <p:sldId id="389" r:id="rId10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0033CC"/>
    <a:srgbClr val="CC00FF"/>
    <a:srgbClr val="FF3399"/>
    <a:srgbClr val="0066FF"/>
    <a:srgbClr val="FF0000"/>
    <a:srgbClr val="00FFFF"/>
    <a:srgbClr val="CC0099"/>
    <a:srgbClr val="66FF33"/>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581" autoAdjust="0"/>
  </p:normalViewPr>
  <p:slideViewPr>
    <p:cSldViewPr>
      <p:cViewPr varScale="1">
        <p:scale>
          <a:sx n="70" d="100"/>
          <a:sy n="70" d="100"/>
        </p:scale>
        <p:origin x="5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9.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511465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216812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656453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3332034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1810451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1157785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576445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3290929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3831856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1493819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FF5A19-F193-47CC-B5B0-0E5C34ACFD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1A1C80-32DB-45D4-9020-8014081C96F4}" type="slidenum">
              <a:rPr lang="en-US" smtClean="0"/>
              <a:pPr/>
              <a:t>‹#›</a:t>
            </a:fld>
            <a:endParaRPr lang="en-US"/>
          </a:p>
        </p:txBody>
      </p:sp>
    </p:spTree>
    <p:extLst>
      <p:ext uri="{BB962C8B-B14F-4D97-AF65-F5344CB8AC3E}">
        <p14:creationId xmlns:p14="http://schemas.microsoft.com/office/powerpoint/2010/main" val="809370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FF5A19-F193-47CC-B5B0-0E5C34ACFD0B}" type="datetimeFigureOut">
              <a:rPr lang="en-US" smtClean="0"/>
              <a:pPr/>
              <a:t>10/11/2025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1A1C80-32DB-45D4-9020-8014081C96F4}" type="slidenum">
              <a:rPr lang="en-US" smtClean="0"/>
              <a:pPr/>
              <a:t>‹#›</a:t>
            </a:fld>
            <a:endParaRPr lang="en-US"/>
          </a:p>
        </p:txBody>
      </p:sp>
    </p:spTree>
    <p:extLst>
      <p:ext uri="{BB962C8B-B14F-4D97-AF65-F5344CB8AC3E}">
        <p14:creationId xmlns:p14="http://schemas.microsoft.com/office/powerpoint/2010/main" val="589876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en.wikipedia.org/wiki/Sampling_(statistics)" TargetMode="External"/><Relationship Id="rId2" Type="http://schemas.openxmlformats.org/officeDocument/2006/relationships/hyperlink" Target="https://en.wikipedia.org/wiki/Statistic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slides/_rels/slide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9.emf"/><Relationship Id="rId5" Type="http://schemas.openxmlformats.org/officeDocument/2006/relationships/package" Target="../embeddings/Microsoft_Word_Document1.docx"/><Relationship Id="rId4" Type="http://schemas.openxmlformats.org/officeDocument/2006/relationships/oleObject" Target="../embeddings/oleObject1.bin"/></Relationships>
</file>

<file path=ppt/slides/_rels/slide8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8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Business Statistics</a:t>
            </a:r>
            <a:br>
              <a:rPr lang="en-US" b="1" dirty="0" smtClean="0"/>
            </a:br>
            <a:r>
              <a:rPr lang="en-US" b="1" dirty="0" smtClean="0"/>
              <a:t>MBA104</a:t>
            </a:r>
            <a:endParaRPr lang="en-US" dirty="0"/>
          </a:p>
        </p:txBody>
      </p:sp>
      <p:sp>
        <p:nvSpPr>
          <p:cNvPr id="3" name="Content Placeholder 2"/>
          <p:cNvSpPr>
            <a:spLocks noGrp="1"/>
          </p:cNvSpPr>
          <p:nvPr>
            <p:ph idx="1"/>
          </p:nvPr>
        </p:nvSpPr>
        <p:spPr>
          <a:xfrm>
            <a:off x="228600" y="1600200"/>
            <a:ext cx="8763000" cy="5029200"/>
          </a:xfrm>
        </p:spPr>
        <p:txBody>
          <a:bodyPr>
            <a:normAutofit fontScale="70000" lnSpcReduction="20000"/>
          </a:bodyPr>
          <a:lstStyle/>
          <a:p>
            <a:pPr algn="just">
              <a:buNone/>
            </a:pPr>
            <a:r>
              <a:rPr lang="en-US" b="1" dirty="0" smtClean="0"/>
              <a:t>Unit 1</a:t>
            </a:r>
          </a:p>
          <a:p>
            <a:pPr algn="just">
              <a:buNone/>
            </a:pPr>
            <a:r>
              <a:rPr lang="en-US" b="1" dirty="0" smtClean="0"/>
              <a:t>Introduction to Statistics: Meaning and Definition, functions, scope and limitations, Collection and </a:t>
            </a:r>
            <a:r>
              <a:rPr lang="en-US" dirty="0" smtClean="0"/>
              <a:t>presentation of data, frequency distribution, measures of central tendency - Mean, Median, Mode, Geometric mean, Harmonic mean,</a:t>
            </a:r>
          </a:p>
          <a:p>
            <a:pPr algn="just">
              <a:buNone/>
            </a:pPr>
            <a:r>
              <a:rPr lang="en-US" b="1" dirty="0" smtClean="0"/>
              <a:t>Measures of dispersion: Range – Quartile Deviation – Mean Deviation - Standard Deviation – Variance- </a:t>
            </a:r>
            <a:r>
              <a:rPr lang="en-US" dirty="0" smtClean="0"/>
              <a:t>Coefficient of Variance - Comparison of various measures </a:t>
            </a:r>
            <a:r>
              <a:rPr lang="en-US" smtClean="0"/>
              <a:t>of Dispersion, Moments and Kurtosis</a:t>
            </a:r>
            <a:endParaRPr lang="en-US" dirty="0" smtClean="0"/>
          </a:p>
          <a:p>
            <a:pPr algn="just">
              <a:buNone/>
            </a:pPr>
            <a:endParaRPr lang="en-US" b="1" dirty="0" smtClean="0"/>
          </a:p>
          <a:p>
            <a:pPr algn="just">
              <a:buNone/>
            </a:pPr>
            <a:r>
              <a:rPr lang="en-US" b="1" dirty="0" smtClean="0"/>
              <a:t>Unit 2</a:t>
            </a:r>
          </a:p>
          <a:p>
            <a:pPr algn="just">
              <a:buNone/>
            </a:pPr>
            <a:r>
              <a:rPr lang="en-US" b="1" dirty="0" smtClean="0"/>
              <a:t>Correlation and Regression: Scatter Diagram, Karl Pearson correlation, Spearman’s Rank correlation(one</a:t>
            </a:r>
          </a:p>
          <a:p>
            <a:pPr algn="just">
              <a:buNone/>
            </a:pPr>
            <a:r>
              <a:rPr lang="en-US" dirty="0" smtClean="0"/>
              <a:t>way table only), simple and multiple regression(problems on simple regression only)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b="1" dirty="0" smtClean="0"/>
              <a:t>Unit 3</a:t>
            </a:r>
          </a:p>
          <a:p>
            <a:pPr algn="just">
              <a:buNone/>
            </a:pPr>
            <a:r>
              <a:rPr lang="en-US" b="1" dirty="0" smtClean="0"/>
              <a:t>Probability Distribution: Concept and definition - Rules of probability – Random variables – Concept of </a:t>
            </a:r>
            <a:r>
              <a:rPr lang="en-US" dirty="0" smtClean="0"/>
              <a:t>probability distribution – Theoretical probability distributions: Binomial, Poisson, Normal and Exponential –</a:t>
            </a:r>
          </a:p>
          <a:p>
            <a:pPr algn="just">
              <a:buNone/>
            </a:pPr>
            <a:r>
              <a:rPr lang="en-US" dirty="0" err="1" smtClean="0"/>
              <a:t>Baye’s</a:t>
            </a:r>
            <a:r>
              <a:rPr lang="en-US" dirty="0" smtClean="0"/>
              <a:t> theorem (No derivation) (Problems only on Binomial, Poisson and Normal).</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buNone/>
            </a:pPr>
            <a:r>
              <a:rPr lang="en-US" b="1" dirty="0" smtClean="0"/>
              <a:t>Unit 4</a:t>
            </a:r>
          </a:p>
          <a:p>
            <a:pPr algn="just">
              <a:buNone/>
            </a:pPr>
            <a:r>
              <a:rPr lang="en-US" b="1" dirty="0" smtClean="0"/>
              <a:t>Time Series Analysis: Introduction - Objectives Of Studying Time Series Analysis - Variations In Time Series</a:t>
            </a:r>
          </a:p>
          <a:p>
            <a:pPr algn="just">
              <a:buNone/>
            </a:pPr>
            <a:r>
              <a:rPr lang="en-US" dirty="0" smtClean="0"/>
              <a:t>- Methods Of Estimating Trend: Freehand Method - Moving Average Method - Semi-Average Method - Least</a:t>
            </a:r>
          </a:p>
          <a:p>
            <a:pPr algn="just">
              <a:buNone/>
            </a:pPr>
            <a:r>
              <a:rPr lang="en-US" dirty="0" smtClean="0"/>
              <a:t>Square Method. Methods of Estimating Seasonal Index: Method Of Simple Averages - Ratio To Trend Method</a:t>
            </a:r>
          </a:p>
          <a:p>
            <a:pPr algn="just">
              <a:buNone/>
            </a:pPr>
            <a:r>
              <a:rPr lang="en-US" dirty="0" smtClean="0"/>
              <a:t>- Ratio To Moving Average Method</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buNone/>
            </a:pPr>
            <a:r>
              <a:rPr lang="en-US" b="1" dirty="0" smtClean="0"/>
              <a:t>Unit 5 </a:t>
            </a:r>
          </a:p>
          <a:p>
            <a:pPr algn="just">
              <a:buNone/>
            </a:pPr>
            <a:r>
              <a:rPr lang="en-US" b="1" dirty="0" smtClean="0">
                <a:effectLst>
                  <a:outerShdw blurRad="38100" dist="38100" dir="2700000" algn="tl">
                    <a:srgbClr val="000000">
                      <a:alpha val="43137"/>
                    </a:srgbClr>
                  </a:outerShdw>
                </a:effectLst>
              </a:rPr>
              <a:t>Hypothesis - types, characteristics, source, formulation of hypotheses, errors in hypotheses. Parametric and Non-Parametric Tests- t-test, z-test, f-test, u-test, K-W Test (problems on all tests) Statistical analysis- </a:t>
            </a:r>
            <a:r>
              <a:rPr lang="en-US" b="1" dirty="0" err="1" smtClean="0">
                <a:effectLst>
                  <a:outerShdw blurRad="38100" dist="38100" dir="2700000" algn="tl">
                    <a:srgbClr val="000000">
                      <a:alpha val="43137"/>
                    </a:srgbClr>
                  </a:outerShdw>
                </a:effectLst>
              </a:rPr>
              <a:t>Bivariate</a:t>
            </a:r>
            <a:r>
              <a:rPr lang="en-US" b="1" dirty="0" smtClean="0">
                <a:effectLst>
                  <a:outerShdw blurRad="38100" dist="38100" dir="2700000" algn="tl">
                    <a:srgbClr val="000000">
                      <a:alpha val="43137"/>
                    </a:srgbClr>
                  </a:outerShdw>
                </a:effectLst>
              </a:rPr>
              <a:t> and Multivariate Analysis- ANOVA-one-way and two-way classification (theory only). 	</a:t>
            </a:r>
          </a:p>
          <a:p>
            <a:pPr>
              <a:buNone/>
            </a:pPr>
            <a:endParaRPr lang="en-US" b="1"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Unit 6</a:t>
            </a:r>
          </a:p>
          <a:p>
            <a:pPr>
              <a:buNone/>
            </a:pPr>
            <a:endParaRPr lang="en-US" dirty="0"/>
          </a:p>
        </p:txBody>
      </p:sp>
      <p:sp>
        <p:nvSpPr>
          <p:cNvPr id="4" name="Rectangle 3"/>
          <p:cNvSpPr/>
          <p:nvPr/>
        </p:nvSpPr>
        <p:spPr>
          <a:xfrm>
            <a:off x="228600" y="2610683"/>
            <a:ext cx="8610600" cy="2554545"/>
          </a:xfrm>
          <a:prstGeom prst="rect">
            <a:avLst/>
          </a:prstGeom>
        </p:spPr>
        <p:txBody>
          <a:bodyPr wrap="square">
            <a:spAutoFit/>
          </a:bodyPr>
          <a:lstStyle/>
          <a:p>
            <a:pPr algn="just"/>
            <a:r>
              <a:rPr lang="en-US" sz="2000" b="1" dirty="0" smtClean="0"/>
              <a:t>Computer lab for Statistics: SPSS: Overview of SPSS , Creating, saving and editing files, Importing files </a:t>
            </a:r>
            <a:r>
              <a:rPr lang="en-US" sz="2000" dirty="0" smtClean="0"/>
              <a:t>from other formats. Transforming Variables - Compute, Multiple responses. Organization and Presentation of</a:t>
            </a:r>
          </a:p>
          <a:p>
            <a:pPr algn="just"/>
            <a:r>
              <a:rPr lang="en-US" sz="2000" dirty="0" smtClean="0"/>
              <a:t>Information - Measures of Central Tendency and Variability, Frequency Distributions. Charts and Graphs, Hypotheses testing using means and cross-tabulation , Paired t, Independent sample t, Chi- square. </a:t>
            </a:r>
          </a:p>
          <a:p>
            <a:pPr algn="just"/>
            <a:r>
              <a:rPr lang="en-US" sz="2000" dirty="0" smtClean="0"/>
              <a:t>Correlation, Regression Analysis , Linear, Logistic, Analysis of Variance- One Way ANOVA, ANOVA in regression.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733800"/>
            <a:ext cx="9144000" cy="2667000"/>
          </a:xfrm>
        </p:spPr>
        <p:txBody>
          <a:bodyPr>
            <a:normAutofit fontScale="55000" lnSpcReduction="20000"/>
          </a:bodyPr>
          <a:lstStyle/>
          <a:p>
            <a:pPr algn="just"/>
            <a:r>
              <a:rPr lang="en-US" sz="4000" b="1" dirty="0" smtClean="0">
                <a:solidFill>
                  <a:schemeClr val="tx1"/>
                </a:solidFill>
                <a:effectLst>
                  <a:outerShdw blurRad="38100" dist="38100" dir="2700000" algn="tl">
                    <a:srgbClr val="000000">
                      <a:alpha val="43137"/>
                    </a:srgbClr>
                  </a:outerShdw>
                </a:effectLst>
              </a:rPr>
              <a:t>Introduction to Statistics: Meaning and Definition, Importance, Types, Measures of Central Tendency - Arithmetic mean, Geometric mean, Harmonic mean, Median, Quartiles, Deciles, Percentiles, Mode.</a:t>
            </a:r>
          </a:p>
          <a:p>
            <a:pPr algn="just"/>
            <a:endParaRPr lang="en-US" sz="4000" b="1" dirty="0" smtClean="0">
              <a:solidFill>
                <a:schemeClr val="tx1"/>
              </a:solidFill>
              <a:effectLst>
                <a:outerShdw blurRad="38100" dist="38100" dir="2700000" algn="tl">
                  <a:srgbClr val="000000">
                    <a:alpha val="43137"/>
                  </a:srgbClr>
                </a:outerShdw>
              </a:effectLst>
            </a:endParaRPr>
          </a:p>
          <a:p>
            <a:pPr algn="just"/>
            <a:r>
              <a:rPr lang="en-US" sz="4000" b="1" dirty="0" smtClean="0">
                <a:solidFill>
                  <a:schemeClr val="tx1"/>
                </a:solidFill>
                <a:effectLst>
                  <a:outerShdw blurRad="38100" dist="38100" dir="2700000" algn="tl">
                    <a:srgbClr val="000000">
                      <a:alpha val="43137"/>
                    </a:srgbClr>
                  </a:outerShdw>
                </a:effectLst>
              </a:rPr>
              <a:t>Measures of Dispersion -Range, Quartile deviation, Mean deviation, Standard deviation, Variance, Coefficient of Variation. (Theory and Problem).</a:t>
            </a:r>
            <a:r>
              <a:rPr lang="en-US" sz="8000" b="1" dirty="0" smtClean="0">
                <a:solidFill>
                  <a:schemeClr val="tx1"/>
                </a:solidFill>
                <a:effectLst>
                  <a:outerShdw blurRad="38100" dist="38100" dir="2700000" algn="tl">
                    <a:srgbClr val="000000">
                      <a:alpha val="43137"/>
                    </a:srgbClr>
                  </a:outerShdw>
                </a:effectLst>
              </a:rPr>
              <a:t> </a:t>
            </a:r>
          </a:p>
          <a:p>
            <a:pPr algn="just"/>
            <a:endParaRPr lang="en-US" dirty="0"/>
          </a:p>
        </p:txBody>
      </p:sp>
      <p:sp>
        <p:nvSpPr>
          <p:cNvPr id="4" name="Title 3"/>
          <p:cNvSpPr>
            <a:spLocks noGrp="1"/>
          </p:cNvSpPr>
          <p:nvPr>
            <p:ph type="ctrTitle"/>
          </p:nvPr>
        </p:nvSpPr>
        <p:spPr>
          <a:xfrm>
            <a:off x="762000" y="1066800"/>
            <a:ext cx="7772400" cy="1470025"/>
          </a:xfrm>
        </p:spPr>
        <p:txBody>
          <a:bodyPr>
            <a:normAutofit fontScale="90000"/>
          </a:bodyPr>
          <a:lstStyle/>
          <a:p>
            <a:r>
              <a:rPr lang="en-US" dirty="0" smtClean="0">
                <a:effectLst>
                  <a:outerShdw blurRad="38100" dist="38100" dir="2700000" algn="tl">
                    <a:srgbClr val="000000">
                      <a:alpha val="43137"/>
                    </a:srgbClr>
                  </a:outerShdw>
                </a:effectLst>
              </a:rPr>
              <a:t>Module 1</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STATISTICS</a:t>
            </a:r>
            <a:r>
              <a:rPr lang="en-US" sz="6000" dirty="0" smtClean="0">
                <a:effectLst>
                  <a:outerShdw blurRad="38100" dist="38100" dir="2700000" algn="tl">
                    <a:srgbClr val="000000">
                      <a:alpha val="43137"/>
                    </a:srgbClr>
                  </a:outerShdw>
                </a:effectLst>
              </a:rPr>
              <a:t/>
            </a:r>
            <a:br>
              <a:rPr lang="en-US" sz="6000" dirty="0" smtClean="0">
                <a:effectLst>
                  <a:outerShdw blurRad="38100" dist="38100" dir="2700000" algn="tl">
                    <a:srgbClr val="000000">
                      <a:alpha val="43137"/>
                    </a:srgbClr>
                  </a:outerShdw>
                </a:effectLst>
              </a:rPr>
            </a:br>
            <a:endParaRPr lang="en-US" dirty="0"/>
          </a:p>
        </p:txBody>
      </p:sp>
    </p:spTree>
    <p:extLst>
      <p:ext uri="{BB962C8B-B14F-4D97-AF65-F5344CB8AC3E}">
        <p14:creationId xmlns:p14="http://schemas.microsoft.com/office/powerpoint/2010/main" val="3151111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228600" y="228600"/>
            <a:ext cx="8686800" cy="64008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pPr marL="342900" lvl="0" indent="-342900" fontAlgn="base">
              <a:spcBef>
                <a:spcPct val="20000"/>
              </a:spcBef>
            </a:pPr>
            <a:r>
              <a:rPr lang="en-US" sz="2800" dirty="0">
                <a:solidFill>
                  <a:srgbClr val="E56B08"/>
                </a:solidFill>
                <a:latin typeface="arial"/>
                <a:ea typeface="+mn-ea"/>
                <a:cs typeface="+mn-cs"/>
              </a:rPr>
              <a:t/>
            </a:r>
            <a:br>
              <a:rPr lang="en-US" sz="2800" dirty="0">
                <a:solidFill>
                  <a:srgbClr val="E56B08"/>
                </a:solidFill>
                <a:latin typeface="arial"/>
                <a:ea typeface="+mn-ea"/>
                <a:cs typeface="+mn-cs"/>
              </a:rPr>
            </a:br>
            <a:endParaRPr lang="en-US" dirty="0"/>
          </a:p>
        </p:txBody>
      </p:sp>
      <p:sp>
        <p:nvSpPr>
          <p:cNvPr id="3" name="Content Placeholder 2"/>
          <p:cNvSpPr>
            <a:spLocks noGrp="1"/>
          </p:cNvSpPr>
          <p:nvPr>
            <p:ph idx="1"/>
          </p:nvPr>
        </p:nvSpPr>
        <p:spPr>
          <a:xfrm>
            <a:off x="0" y="14590"/>
            <a:ext cx="9144000" cy="6843409"/>
          </a:xfrm>
        </p:spPr>
        <p:txBody>
          <a:bodyPr>
            <a:normAutofit/>
          </a:bodyPr>
          <a:lstStyle/>
          <a:p>
            <a:pPr marL="0" indent="0" algn="ctr" fontAlgn="base">
              <a:buNone/>
            </a:pPr>
            <a:r>
              <a:rPr lang="en-US" u="sng" dirty="0" smtClean="0">
                <a:solidFill>
                  <a:srgbClr val="CC00FF"/>
                </a:solidFill>
                <a:effectLst>
                  <a:outerShdw blurRad="38100" dist="38100" dir="2700000" algn="tl">
                    <a:srgbClr val="000000">
                      <a:alpha val="43137"/>
                    </a:srgbClr>
                  </a:outerShdw>
                </a:effectLst>
                <a:latin typeface="arial"/>
              </a:rPr>
              <a:t>WHAT IS STATISTICS ?</a:t>
            </a:r>
          </a:p>
          <a:p>
            <a:pPr marL="0" indent="0" algn="ctr" fontAlgn="base">
              <a:buNone/>
            </a:pPr>
            <a:endParaRPr lang="en-US" b="0" i="0" dirty="0" smtClean="0">
              <a:solidFill>
                <a:srgbClr val="4C4940"/>
              </a:solidFill>
              <a:effectLst/>
              <a:latin typeface="arial"/>
            </a:endParaRPr>
          </a:p>
          <a:p>
            <a:pPr algn="just" fontAlgn="base">
              <a:lnSpc>
                <a:spcPct val="150000"/>
              </a:lnSpc>
            </a:pPr>
            <a:r>
              <a:rPr lang="en-US" sz="2800" b="0" i="0" dirty="0" smtClean="0">
                <a:solidFill>
                  <a:srgbClr val="4C4940"/>
                </a:solidFill>
                <a:effectLst/>
                <a:latin typeface="arial"/>
              </a:rPr>
              <a:t>As a discipline it is concerned with the </a:t>
            </a:r>
            <a:r>
              <a:rPr lang="en-US" sz="2800" b="0" i="0" u="sng" dirty="0" smtClean="0">
                <a:solidFill>
                  <a:srgbClr val="FF0000"/>
                </a:solidFill>
                <a:effectLst>
                  <a:outerShdw blurRad="38100" dist="38100" dir="2700000" algn="tl">
                    <a:srgbClr val="000000">
                      <a:alpha val="43137"/>
                    </a:srgbClr>
                  </a:outerShdw>
                </a:effectLst>
                <a:latin typeface="arial"/>
              </a:rPr>
              <a:t>collection</a:t>
            </a:r>
            <a:r>
              <a:rPr lang="en-US" sz="2800" b="0" i="0" dirty="0" smtClean="0">
                <a:solidFill>
                  <a:srgbClr val="4C4940"/>
                </a:solidFill>
                <a:effectLst/>
                <a:latin typeface="arial"/>
              </a:rPr>
              <a:t>, </a:t>
            </a:r>
            <a:r>
              <a:rPr lang="en-US" sz="2800" b="1" i="0" u="sng" dirty="0" smtClean="0">
                <a:solidFill>
                  <a:srgbClr val="4C4940"/>
                </a:solidFill>
                <a:effectLst>
                  <a:outerShdw blurRad="38100" dist="38100" dir="2700000" algn="tl">
                    <a:srgbClr val="000000">
                      <a:alpha val="43137"/>
                    </a:srgbClr>
                  </a:outerShdw>
                </a:effectLst>
                <a:latin typeface="arial"/>
              </a:rPr>
              <a:t>analysis</a:t>
            </a:r>
            <a:r>
              <a:rPr lang="en-US" sz="2800" b="0" i="0" dirty="0" smtClean="0">
                <a:solidFill>
                  <a:srgbClr val="4C4940"/>
                </a:solidFill>
                <a:effectLst/>
                <a:latin typeface="arial"/>
              </a:rPr>
              <a:t>, and </a:t>
            </a:r>
            <a:r>
              <a:rPr lang="en-US" sz="2800" b="1" i="0" u="sng" dirty="0" smtClean="0">
                <a:solidFill>
                  <a:srgbClr val="4C4940"/>
                </a:solidFill>
                <a:effectLst>
                  <a:outerShdw blurRad="38100" dist="38100" dir="2700000" algn="tl">
                    <a:srgbClr val="000000">
                      <a:alpha val="43137"/>
                    </a:srgbClr>
                  </a:outerShdw>
                </a:effectLst>
                <a:latin typeface="arial"/>
              </a:rPr>
              <a:t>interpretation of data</a:t>
            </a:r>
            <a:r>
              <a:rPr lang="en-US" sz="2800" b="0" i="0" dirty="0" smtClean="0">
                <a:solidFill>
                  <a:srgbClr val="4C4940"/>
                </a:solidFill>
                <a:effectLst/>
                <a:latin typeface="arial"/>
              </a:rPr>
              <a:t>, as well as the </a:t>
            </a:r>
            <a:r>
              <a:rPr lang="en-US" sz="2800" b="0" i="0" u="sng" dirty="0" smtClean="0">
                <a:solidFill>
                  <a:srgbClr val="0033CC"/>
                </a:solidFill>
                <a:effectLst>
                  <a:outerShdw blurRad="38100" dist="38100" dir="2700000" algn="tl">
                    <a:srgbClr val="000000">
                      <a:alpha val="43137"/>
                    </a:srgbClr>
                  </a:outerShdw>
                </a:effectLst>
                <a:latin typeface="arial"/>
              </a:rPr>
              <a:t>effective communication</a:t>
            </a:r>
            <a:r>
              <a:rPr lang="en-US" sz="2800" b="0" i="0" dirty="0" smtClean="0">
                <a:solidFill>
                  <a:srgbClr val="4C4940"/>
                </a:solidFill>
                <a:effectLst/>
                <a:latin typeface="arial"/>
              </a:rPr>
              <a:t> and </a:t>
            </a:r>
            <a:r>
              <a:rPr lang="en-US" sz="2800" b="1" i="0" u="sng" dirty="0" smtClean="0">
                <a:solidFill>
                  <a:srgbClr val="4C4940"/>
                </a:solidFill>
                <a:effectLst>
                  <a:outerShdw blurRad="38100" dist="38100" dir="2700000" algn="tl">
                    <a:srgbClr val="000000">
                      <a:alpha val="43137"/>
                    </a:srgbClr>
                  </a:outerShdw>
                </a:effectLst>
                <a:latin typeface="arial"/>
              </a:rPr>
              <a:t>presentation of results</a:t>
            </a:r>
            <a:r>
              <a:rPr lang="en-US" sz="2800" b="0" i="0" dirty="0" smtClean="0">
                <a:solidFill>
                  <a:srgbClr val="4C4940"/>
                </a:solidFill>
                <a:effectLst/>
                <a:latin typeface="arial"/>
              </a:rPr>
              <a:t> </a:t>
            </a:r>
            <a:r>
              <a:rPr lang="en-US" sz="2800" b="1" i="0" dirty="0" smtClean="0">
                <a:solidFill>
                  <a:srgbClr val="4C4940"/>
                </a:solidFill>
                <a:effectLst/>
                <a:latin typeface="arial"/>
              </a:rPr>
              <a:t>relying on data</a:t>
            </a:r>
            <a:r>
              <a:rPr lang="en-US" sz="2800" b="0" i="0" dirty="0" smtClean="0">
                <a:solidFill>
                  <a:srgbClr val="4C4940"/>
                </a:solidFill>
                <a:effectLst/>
                <a:latin typeface="arial"/>
              </a:rPr>
              <a:t>. </a:t>
            </a:r>
          </a:p>
          <a:p>
            <a:pPr algn="just" fontAlgn="base">
              <a:lnSpc>
                <a:spcPct val="150000"/>
              </a:lnSpc>
              <a:buNone/>
            </a:pPr>
            <a:endParaRPr lang="en-US" sz="2800" dirty="0" smtClean="0"/>
          </a:p>
          <a:p>
            <a:pPr marL="0" indent="0">
              <a:lnSpc>
                <a:spcPct val="150000"/>
              </a:lnSpc>
              <a:buNone/>
            </a:pPr>
            <a:endParaRPr lang="en-US" sz="3600" dirty="0"/>
          </a:p>
        </p:txBody>
      </p:sp>
    </p:spTree>
    <p:extLst>
      <p:ext uri="{BB962C8B-B14F-4D97-AF65-F5344CB8AC3E}">
        <p14:creationId xmlns:p14="http://schemas.microsoft.com/office/powerpoint/2010/main" val="1096010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81800"/>
          </a:xfrm>
        </p:spPr>
        <p:txBody>
          <a:bodyPr>
            <a:normAutofit/>
          </a:bodyPr>
          <a:lstStyle/>
          <a:p>
            <a:pPr marL="0" indent="0" algn="just">
              <a:buNone/>
            </a:pPr>
            <a:r>
              <a:rPr lang="en-US" dirty="0" smtClean="0"/>
              <a:t>The </a:t>
            </a:r>
            <a:r>
              <a:rPr lang="en-US" dirty="0"/>
              <a:t>word ‘ Statistics’ and ‘ Statistical’ are all derived from the Latin </a:t>
            </a:r>
            <a:r>
              <a:rPr lang="en-US" dirty="0" smtClean="0"/>
              <a:t>word Status.</a:t>
            </a:r>
          </a:p>
          <a:p>
            <a:pPr marL="0" indent="0" algn="just">
              <a:buNone/>
            </a:pPr>
            <a:r>
              <a:rPr lang="en-US" dirty="0" smtClean="0"/>
              <a:t>Statistics </a:t>
            </a:r>
            <a:r>
              <a:rPr lang="en-US" dirty="0"/>
              <a:t>is concerned with scientific methods for </a:t>
            </a:r>
            <a:endParaRPr lang="en-US" dirty="0" smtClean="0"/>
          </a:p>
          <a:p>
            <a:pPr algn="just"/>
            <a:r>
              <a:rPr lang="en-US" dirty="0" smtClean="0">
                <a:solidFill>
                  <a:srgbClr val="0033CC"/>
                </a:solidFill>
                <a:effectLst>
                  <a:outerShdw blurRad="38100" dist="38100" dir="2700000" algn="tl">
                    <a:srgbClr val="000000">
                      <a:alpha val="43137"/>
                    </a:srgbClr>
                  </a:outerShdw>
                </a:effectLst>
              </a:rPr>
              <a:t>collecting</a:t>
            </a:r>
            <a:r>
              <a:rPr lang="en-US" dirty="0"/>
              <a:t>, </a:t>
            </a:r>
            <a:endParaRPr lang="en-US" dirty="0" smtClean="0"/>
          </a:p>
          <a:p>
            <a:pPr algn="just"/>
            <a:r>
              <a:rPr lang="en-US" dirty="0" err="1" smtClean="0">
                <a:solidFill>
                  <a:srgbClr val="CC00FF"/>
                </a:solidFill>
                <a:effectLst>
                  <a:outerShdw blurRad="38100" dist="38100" dir="2700000" algn="tl">
                    <a:srgbClr val="000000">
                      <a:alpha val="43137"/>
                    </a:srgbClr>
                  </a:outerShdw>
                </a:effectLst>
              </a:rPr>
              <a:t>Organising</a:t>
            </a:r>
            <a:r>
              <a:rPr lang="en-US" dirty="0" smtClean="0"/>
              <a:t> = </a:t>
            </a:r>
            <a:r>
              <a:rPr lang="en-US" dirty="0"/>
              <a:t>arrange </a:t>
            </a:r>
            <a:r>
              <a:rPr lang="en-US" dirty="0" smtClean="0"/>
              <a:t>systematically in </a:t>
            </a:r>
            <a:r>
              <a:rPr lang="en-US" dirty="0"/>
              <a:t>order</a:t>
            </a:r>
            <a:r>
              <a:rPr lang="en-US" dirty="0" smtClean="0"/>
              <a:t>, </a:t>
            </a:r>
          </a:p>
          <a:p>
            <a:pPr algn="just"/>
            <a:r>
              <a:rPr lang="en-US" dirty="0" err="1" smtClean="0">
                <a:solidFill>
                  <a:srgbClr val="FF0000"/>
                </a:solidFill>
                <a:effectLst>
                  <a:outerShdw blurRad="38100" dist="38100" dir="2700000" algn="tl">
                    <a:srgbClr val="000000">
                      <a:alpha val="43137"/>
                    </a:srgbClr>
                  </a:outerShdw>
                </a:effectLst>
              </a:rPr>
              <a:t>Summarising</a:t>
            </a:r>
            <a:r>
              <a:rPr lang="en-US" dirty="0" smtClean="0"/>
              <a:t> = </a:t>
            </a:r>
            <a:r>
              <a:rPr lang="en-US" dirty="0"/>
              <a:t> put in a nutshell</a:t>
            </a:r>
            <a:r>
              <a:rPr lang="en-US" dirty="0" smtClean="0"/>
              <a:t>, </a:t>
            </a:r>
          </a:p>
          <a:p>
            <a:pPr algn="just"/>
            <a:r>
              <a:rPr lang="en-US" b="1" dirty="0" smtClean="0">
                <a:effectLst>
                  <a:outerShdw blurRad="38100" dist="38100" dir="2700000" algn="tl">
                    <a:srgbClr val="000000">
                      <a:alpha val="43137"/>
                    </a:srgbClr>
                  </a:outerShdw>
                </a:effectLst>
              </a:rPr>
              <a:t>presenting</a:t>
            </a:r>
            <a:r>
              <a:rPr lang="en-US" dirty="0" smtClean="0"/>
              <a:t> </a:t>
            </a:r>
            <a:r>
              <a:rPr lang="en-US" dirty="0"/>
              <a:t>and </a:t>
            </a:r>
            <a:endParaRPr lang="en-US" dirty="0" smtClean="0"/>
          </a:p>
          <a:p>
            <a:pPr algn="just"/>
            <a:r>
              <a:rPr lang="en-US" b="1" dirty="0" err="1" smtClean="0">
                <a:solidFill>
                  <a:srgbClr val="00B050"/>
                </a:solidFill>
                <a:effectLst>
                  <a:outerShdw blurRad="38100" dist="38100" dir="2700000" algn="tl">
                    <a:srgbClr val="000000">
                      <a:alpha val="43137"/>
                    </a:srgbClr>
                  </a:outerShdw>
                </a:effectLst>
              </a:rPr>
              <a:t>analysing</a:t>
            </a:r>
            <a:r>
              <a:rPr lang="en-US" b="1" dirty="0" smtClean="0">
                <a:solidFill>
                  <a:srgbClr val="00B050"/>
                </a:solidFill>
                <a:effectLst>
                  <a:outerShdw blurRad="38100" dist="38100" dir="2700000" algn="tl">
                    <a:srgbClr val="000000">
                      <a:alpha val="43137"/>
                    </a:srgbClr>
                  </a:outerShdw>
                </a:effectLst>
              </a:rPr>
              <a:t> </a:t>
            </a:r>
            <a:r>
              <a:rPr lang="en-US" b="1" dirty="0">
                <a:solidFill>
                  <a:srgbClr val="00B050"/>
                </a:solidFill>
                <a:effectLst>
                  <a:outerShdw blurRad="38100" dist="38100" dir="2700000" algn="tl">
                    <a:srgbClr val="000000">
                      <a:alpha val="43137"/>
                    </a:srgbClr>
                  </a:outerShdw>
                </a:effectLst>
              </a:rPr>
              <a:t>data</a:t>
            </a:r>
            <a:r>
              <a:rPr lang="en-US" dirty="0"/>
              <a:t> </a:t>
            </a:r>
            <a:r>
              <a:rPr lang="en-US" dirty="0" smtClean="0"/>
              <a:t>= </a:t>
            </a:r>
            <a:r>
              <a:rPr lang="en-US" sz="2800" dirty="0">
                <a:effectLst>
                  <a:outerShdw blurRad="38100" dist="38100" dir="2700000" algn="tl">
                    <a:srgbClr val="000000">
                      <a:alpha val="43137"/>
                    </a:srgbClr>
                  </a:outerShdw>
                </a:effectLst>
              </a:rPr>
              <a:t>to study or examine something in detail, in order to discover more about it</a:t>
            </a:r>
            <a:endParaRPr lang="en-US" sz="2800" dirty="0" smtClean="0">
              <a:effectLst>
                <a:outerShdw blurRad="38100" dist="38100" dir="2700000" algn="tl">
                  <a:srgbClr val="000000">
                    <a:alpha val="43137"/>
                  </a:srgbClr>
                </a:outerShdw>
              </a:effectLst>
            </a:endParaRPr>
          </a:p>
          <a:p>
            <a:pPr marL="0" indent="0" algn="just"/>
            <a:r>
              <a:rPr lang="en-US" dirty="0" smtClean="0"/>
              <a:t>  as </a:t>
            </a:r>
            <a:r>
              <a:rPr lang="en-US" dirty="0"/>
              <a:t>well as </a:t>
            </a:r>
            <a:r>
              <a:rPr lang="en-US" u="sng" dirty="0">
                <a:solidFill>
                  <a:srgbClr val="CC00FF"/>
                </a:solidFill>
                <a:effectLst>
                  <a:outerShdw blurRad="38100" dist="38100" dir="2700000" algn="tl">
                    <a:srgbClr val="000000">
                      <a:alpha val="43137"/>
                    </a:srgbClr>
                  </a:outerShdw>
                </a:effectLst>
              </a:rPr>
              <a:t>deriving valid conclusions</a:t>
            </a:r>
            <a:r>
              <a:rPr lang="en-US" dirty="0"/>
              <a:t> and </a:t>
            </a:r>
            <a:r>
              <a:rPr lang="en-US" u="sng" dirty="0">
                <a:solidFill>
                  <a:srgbClr val="0033CC"/>
                </a:solidFill>
                <a:effectLst>
                  <a:outerShdw blurRad="38100" dist="38100" dir="2700000" algn="tl">
                    <a:srgbClr val="000000">
                      <a:alpha val="43137"/>
                    </a:srgbClr>
                  </a:outerShdw>
                </a:effectLst>
              </a:rPr>
              <a:t>making reasonable decisions</a:t>
            </a:r>
            <a:r>
              <a:rPr lang="en-US" dirty="0"/>
              <a:t> on the basis of this analysis. </a:t>
            </a:r>
          </a:p>
        </p:txBody>
      </p:sp>
    </p:spTree>
    <p:extLst>
      <p:ext uri="{BB962C8B-B14F-4D97-AF65-F5344CB8AC3E}">
        <p14:creationId xmlns:p14="http://schemas.microsoft.com/office/powerpoint/2010/main" val="2088930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629400"/>
          </a:xfrm>
        </p:spPr>
        <p:txBody>
          <a:bodyPr>
            <a:normAutofit fontScale="92500" lnSpcReduction="10000"/>
          </a:bodyPr>
          <a:lstStyle/>
          <a:p>
            <a:pPr algn="just"/>
            <a:r>
              <a:rPr lang="en-US" u="sng" dirty="0">
                <a:solidFill>
                  <a:srgbClr val="0033CC"/>
                </a:solidFill>
                <a:effectLst>
                  <a:outerShdw blurRad="38100" dist="38100" dir="2700000" algn="tl">
                    <a:srgbClr val="000000">
                      <a:alpha val="43137"/>
                    </a:srgbClr>
                  </a:outerShdw>
                </a:effectLst>
              </a:rPr>
              <a:t>Modern companies</a:t>
            </a:r>
            <a:r>
              <a:rPr lang="en-US" dirty="0">
                <a:solidFill>
                  <a:srgbClr val="0033CC"/>
                </a:solidFill>
                <a:effectLst>
                  <a:outerShdw blurRad="38100" dist="38100" dir="2700000" algn="tl">
                    <a:srgbClr val="000000">
                      <a:alpha val="43137"/>
                    </a:srgbClr>
                  </a:outerShdw>
                </a:effectLst>
              </a:rPr>
              <a:t> </a:t>
            </a:r>
            <a:r>
              <a:rPr lang="en-US" dirty="0"/>
              <a:t>have increasing amounts of internal data in their databases and data warehouses, like accounting data, financial data, sales data, quality performance data, employee productivity data, and so on. </a:t>
            </a:r>
            <a:endParaRPr lang="en-US" dirty="0" smtClean="0"/>
          </a:p>
          <a:p>
            <a:pPr marL="0" indent="0" algn="just">
              <a:buNone/>
            </a:pPr>
            <a:endParaRPr lang="en-US" dirty="0" smtClean="0"/>
          </a:p>
          <a:p>
            <a:pPr algn="just"/>
            <a:r>
              <a:rPr lang="en-US" dirty="0" smtClean="0"/>
              <a:t>These </a:t>
            </a:r>
            <a:r>
              <a:rPr lang="en-US" dirty="0"/>
              <a:t>kinds of data are produced as a </a:t>
            </a:r>
            <a:r>
              <a:rPr lang="en-US" u="sng" dirty="0">
                <a:solidFill>
                  <a:srgbClr val="00B050"/>
                </a:solidFill>
                <a:effectLst>
                  <a:outerShdw blurRad="38100" dist="38100" dir="2700000" algn="tl">
                    <a:srgbClr val="000000">
                      <a:alpha val="43137"/>
                    </a:srgbClr>
                  </a:outerShdw>
                </a:effectLst>
              </a:rPr>
              <a:t>result of daily operations</a:t>
            </a:r>
            <a:r>
              <a:rPr lang="en-US" u="sng" dirty="0" smtClean="0">
                <a:solidFill>
                  <a:srgbClr val="00B050"/>
                </a:solidFill>
                <a:effectLst>
                  <a:outerShdw blurRad="38100" dist="38100" dir="2700000" algn="tl">
                    <a:srgbClr val="000000">
                      <a:alpha val="43137"/>
                    </a:srgbClr>
                  </a:outerShdw>
                </a:effectLst>
              </a:rPr>
              <a:t>.</a:t>
            </a:r>
          </a:p>
          <a:p>
            <a:pPr algn="just"/>
            <a:endParaRPr lang="en-US" dirty="0" smtClean="0"/>
          </a:p>
          <a:p>
            <a:pPr algn="just"/>
            <a:r>
              <a:rPr lang="en-US" dirty="0" smtClean="0"/>
              <a:t>Data may also be purposely generated </a:t>
            </a:r>
            <a:r>
              <a:rPr lang="en-US" dirty="0"/>
              <a:t>like when </a:t>
            </a:r>
            <a:r>
              <a:rPr lang="en-US" u="sng" dirty="0">
                <a:effectLst>
                  <a:outerShdw blurRad="38100" dist="38100" dir="2700000" algn="tl">
                    <a:srgbClr val="000000">
                      <a:alpha val="43137"/>
                    </a:srgbClr>
                  </a:outerShdw>
                </a:effectLst>
              </a:rPr>
              <a:t>doing a marketing research</a:t>
            </a:r>
            <a:r>
              <a:rPr lang="en-US" dirty="0"/>
              <a:t>. </a:t>
            </a:r>
            <a:endParaRPr lang="en-US" dirty="0" smtClean="0"/>
          </a:p>
          <a:p>
            <a:pPr algn="just"/>
            <a:endParaRPr lang="en-US" dirty="0"/>
          </a:p>
          <a:p>
            <a:pPr algn="just"/>
            <a:r>
              <a:rPr lang="en-US" dirty="0" smtClean="0"/>
              <a:t>External </a:t>
            </a:r>
            <a:r>
              <a:rPr lang="en-US" dirty="0"/>
              <a:t>data are available from governmental, industrial, or individual sources. </a:t>
            </a:r>
          </a:p>
        </p:txBody>
      </p:sp>
    </p:spTree>
    <p:extLst>
      <p:ext uri="{BB962C8B-B14F-4D97-AF65-F5344CB8AC3E}">
        <p14:creationId xmlns:p14="http://schemas.microsoft.com/office/powerpoint/2010/main" val="2989159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normAutofit lnSpcReduction="10000"/>
          </a:bodyPr>
          <a:lstStyle/>
          <a:p>
            <a:pPr marL="0" indent="0" algn="ctr">
              <a:buNone/>
            </a:pPr>
            <a:r>
              <a:rPr lang="en-US" b="1" u="sng" dirty="0" smtClean="0">
                <a:solidFill>
                  <a:srgbClr val="FF0000"/>
                </a:solidFill>
                <a:effectLst>
                  <a:outerShdw blurRad="38100" dist="38100" dir="2700000" algn="tl">
                    <a:srgbClr val="000000">
                      <a:alpha val="43137"/>
                    </a:srgbClr>
                  </a:outerShdw>
                </a:effectLst>
              </a:rPr>
              <a:t>DATA SUPPORTING DECISION MAKING</a:t>
            </a:r>
          </a:p>
          <a:p>
            <a:pPr marL="0" indent="0" algn="ctr">
              <a:buNone/>
            </a:pPr>
            <a:endParaRPr lang="en-US" b="1" u="sng" dirty="0" smtClean="0">
              <a:solidFill>
                <a:srgbClr val="FF0000"/>
              </a:solidFill>
              <a:effectLst>
                <a:outerShdw blurRad="38100" dist="38100" dir="2700000" algn="tl">
                  <a:srgbClr val="000000">
                    <a:alpha val="43137"/>
                  </a:srgbClr>
                </a:outerShdw>
              </a:effectLst>
            </a:endParaRPr>
          </a:p>
          <a:p>
            <a:pPr algn="just"/>
            <a:r>
              <a:rPr lang="en-US" dirty="0" smtClean="0"/>
              <a:t> </a:t>
            </a:r>
            <a:r>
              <a:rPr lang="en-US" dirty="0"/>
              <a:t>Business managers and decision makers have access to large amounts of information. </a:t>
            </a:r>
            <a:endParaRPr lang="en-US" dirty="0" smtClean="0"/>
          </a:p>
          <a:p>
            <a:pPr marL="0" indent="0" algn="just">
              <a:buNone/>
            </a:pPr>
            <a:endParaRPr lang="en-US" dirty="0" smtClean="0"/>
          </a:p>
          <a:p>
            <a:pPr algn="just"/>
            <a:r>
              <a:rPr lang="en-US" dirty="0" smtClean="0"/>
              <a:t>A </a:t>
            </a:r>
            <a:r>
              <a:rPr lang="en-US" dirty="0"/>
              <a:t>major issue is </a:t>
            </a:r>
            <a:r>
              <a:rPr lang="en-US" b="1" dirty="0">
                <a:solidFill>
                  <a:srgbClr val="CC00FF"/>
                </a:solidFill>
              </a:rPr>
              <a:t>how to use available information </a:t>
            </a:r>
            <a:r>
              <a:rPr lang="en-US" dirty="0"/>
              <a:t>in order to </a:t>
            </a:r>
            <a:r>
              <a:rPr lang="en-US" dirty="0">
                <a:solidFill>
                  <a:srgbClr val="FF3399"/>
                </a:solidFill>
                <a:effectLst>
                  <a:outerShdw blurRad="38100" dist="38100" dir="2700000" algn="tl">
                    <a:srgbClr val="000000">
                      <a:alpha val="43137"/>
                    </a:srgbClr>
                  </a:outerShdw>
                </a:effectLst>
              </a:rPr>
              <a:t>make better decisions. </a:t>
            </a:r>
          </a:p>
          <a:p>
            <a:pPr algn="just"/>
            <a:endParaRPr lang="en-US" dirty="0" smtClean="0"/>
          </a:p>
          <a:p>
            <a:pPr algn="just"/>
            <a:r>
              <a:rPr lang="en-US" b="1" u="sng" dirty="0" smtClean="0">
                <a:solidFill>
                  <a:srgbClr val="CC00FF"/>
                </a:solidFill>
                <a:effectLst>
                  <a:outerShdw blurRad="38100" dist="38100" dir="2700000" algn="tl">
                    <a:srgbClr val="000000">
                      <a:alpha val="43137"/>
                    </a:srgbClr>
                  </a:outerShdw>
                </a:effectLst>
              </a:rPr>
              <a:t>Quantitative </a:t>
            </a:r>
            <a:r>
              <a:rPr lang="en-US" b="1" u="sng" dirty="0">
                <a:solidFill>
                  <a:srgbClr val="CC00FF"/>
                </a:solidFill>
                <a:effectLst>
                  <a:outerShdw blurRad="38100" dist="38100" dir="2700000" algn="tl">
                    <a:srgbClr val="000000">
                      <a:alpha val="43137"/>
                    </a:srgbClr>
                  </a:outerShdw>
                </a:effectLst>
              </a:rPr>
              <a:t>data</a:t>
            </a:r>
            <a:r>
              <a:rPr lang="en-US" dirty="0"/>
              <a:t> are an </a:t>
            </a:r>
            <a:r>
              <a:rPr lang="en-US" b="1" u="sng" dirty="0">
                <a:solidFill>
                  <a:srgbClr val="FF0000"/>
                </a:solidFill>
                <a:effectLst>
                  <a:outerShdw blurRad="38100" dist="38100" dir="2700000" algn="tl">
                    <a:srgbClr val="000000">
                      <a:alpha val="43137"/>
                    </a:srgbClr>
                  </a:outerShdw>
                </a:effectLst>
              </a:rPr>
              <a:t>essential part</a:t>
            </a:r>
            <a:r>
              <a:rPr lang="en-US" dirty="0"/>
              <a:t> of any business and they help to make better decisions. </a:t>
            </a:r>
            <a:endParaRPr lang="en-US" dirty="0" smtClean="0"/>
          </a:p>
          <a:p>
            <a:pPr marL="0" indent="0" algn="just">
              <a:buNone/>
            </a:pPr>
            <a:endParaRPr lang="en-US" dirty="0" smtClean="0"/>
          </a:p>
          <a:p>
            <a:pPr algn="just"/>
            <a:r>
              <a:rPr lang="en-US" dirty="0" smtClean="0"/>
              <a:t>quantitative </a:t>
            </a:r>
            <a:r>
              <a:rPr lang="en-US" dirty="0"/>
              <a:t>data </a:t>
            </a:r>
            <a:r>
              <a:rPr lang="en-US" dirty="0" smtClean="0"/>
              <a:t>helps </a:t>
            </a:r>
            <a:r>
              <a:rPr lang="en-US" b="1" dirty="0">
                <a:solidFill>
                  <a:srgbClr val="0033CC"/>
                </a:solidFill>
                <a:effectLst>
                  <a:outerShdw blurRad="38100" dist="38100" dir="2700000" algn="tl">
                    <a:srgbClr val="000000">
                      <a:alpha val="43137"/>
                    </a:srgbClr>
                  </a:outerShdw>
                </a:effectLst>
              </a:rPr>
              <a:t>to explain and justify </a:t>
            </a:r>
            <a:r>
              <a:rPr lang="en-US" b="1" dirty="0" smtClean="0">
                <a:solidFill>
                  <a:srgbClr val="0033CC"/>
                </a:solidFill>
                <a:effectLst>
                  <a:outerShdw blurRad="38100" dist="38100" dir="2700000" algn="tl">
                    <a:srgbClr val="000000">
                      <a:alpha val="43137"/>
                    </a:srgbClr>
                  </a:outerShdw>
                </a:effectLst>
              </a:rPr>
              <a:t>decisions.</a:t>
            </a:r>
            <a:endParaRPr lang="en-US" b="1" dirty="0">
              <a:solidFill>
                <a:srgbClr val="0033CC"/>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8401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839200" cy="6629400"/>
          </a:xfrm>
        </p:spPr>
        <p:txBody>
          <a:bodyPr>
            <a:normAutofit fontScale="85000" lnSpcReduction="20000"/>
          </a:bodyPr>
          <a:lstStyle/>
          <a:p>
            <a:pPr marL="0" indent="0" algn="just">
              <a:buNone/>
            </a:pPr>
            <a:r>
              <a:rPr lang="en-US" sz="3600" u="sng" dirty="0" smtClean="0">
                <a:effectLst>
                  <a:outerShdw blurRad="38100" dist="38100" dir="2700000" algn="tl">
                    <a:srgbClr val="000000">
                      <a:alpha val="43137"/>
                    </a:srgbClr>
                  </a:outerShdw>
                </a:effectLst>
              </a:rPr>
              <a:t>SUMMARIZING AND ANALYZING DATA </a:t>
            </a:r>
          </a:p>
          <a:p>
            <a:pPr marL="0" indent="0" algn="just">
              <a:buNone/>
            </a:pPr>
            <a:endParaRPr lang="en-US" dirty="0" smtClean="0">
              <a:effectLst>
                <a:outerShdw blurRad="38100" dist="38100" dir="2700000" algn="tl">
                  <a:srgbClr val="000000">
                    <a:alpha val="43137"/>
                  </a:srgbClr>
                </a:outerShdw>
              </a:effectLst>
            </a:endParaRPr>
          </a:p>
          <a:p>
            <a:pPr algn="just"/>
            <a:r>
              <a:rPr lang="en-US" dirty="0" smtClean="0"/>
              <a:t>Data </a:t>
            </a:r>
            <a:r>
              <a:rPr lang="en-US" dirty="0"/>
              <a:t>have to be </a:t>
            </a:r>
            <a:r>
              <a:rPr lang="en-US" b="1" dirty="0">
                <a:effectLst>
                  <a:outerShdw blurRad="38100" dist="38100" dir="2700000" algn="tl">
                    <a:srgbClr val="000000">
                      <a:alpha val="43137"/>
                    </a:srgbClr>
                  </a:outerShdw>
                </a:effectLst>
              </a:rPr>
              <a:t>collected</a:t>
            </a:r>
            <a:r>
              <a:rPr lang="en-US" dirty="0"/>
              <a:t> and </a:t>
            </a:r>
            <a:r>
              <a:rPr lang="en-US" u="sng" dirty="0">
                <a:effectLst>
                  <a:outerShdw blurRad="38100" dist="38100" dir="2700000" algn="tl">
                    <a:srgbClr val="000000">
                      <a:alpha val="43137"/>
                    </a:srgbClr>
                  </a:outerShdw>
                </a:effectLst>
              </a:rPr>
              <a:t>converted</a:t>
            </a:r>
            <a:r>
              <a:rPr lang="en-US" dirty="0"/>
              <a:t> into </a:t>
            </a:r>
            <a:r>
              <a:rPr lang="en-US" b="1" u="sng" dirty="0">
                <a:solidFill>
                  <a:srgbClr val="FF0000"/>
                </a:solidFill>
                <a:effectLst>
                  <a:outerShdw blurRad="38100" dist="38100" dir="2700000" algn="tl">
                    <a:srgbClr val="000000">
                      <a:alpha val="43137"/>
                    </a:srgbClr>
                  </a:outerShdw>
                </a:effectLst>
              </a:rPr>
              <a:t>understandable</a:t>
            </a:r>
            <a:r>
              <a:rPr lang="en-US" dirty="0"/>
              <a:t> and </a:t>
            </a:r>
            <a:r>
              <a:rPr lang="en-US" u="sng" dirty="0">
                <a:solidFill>
                  <a:srgbClr val="CC00FF"/>
                </a:solidFill>
                <a:effectLst>
                  <a:outerShdw blurRad="38100" dist="38100" dir="2700000" algn="tl">
                    <a:srgbClr val="000000">
                      <a:alpha val="43137"/>
                    </a:srgbClr>
                  </a:outerShdw>
                </a:effectLst>
              </a:rPr>
              <a:t>interpretable</a:t>
            </a:r>
            <a:r>
              <a:rPr lang="en-US" dirty="0"/>
              <a:t> information. </a:t>
            </a:r>
            <a:endParaRPr lang="en-US" dirty="0" smtClean="0"/>
          </a:p>
          <a:p>
            <a:pPr marL="0" indent="0" algn="just">
              <a:buNone/>
            </a:pPr>
            <a:endParaRPr lang="en-US" dirty="0" smtClean="0"/>
          </a:p>
          <a:p>
            <a:pPr algn="just"/>
            <a:r>
              <a:rPr lang="en-US" dirty="0" smtClean="0"/>
              <a:t>A </a:t>
            </a:r>
            <a:r>
              <a:rPr lang="en-US" u="sng" dirty="0">
                <a:solidFill>
                  <a:srgbClr val="CC00FF"/>
                </a:solidFill>
                <a:effectLst>
                  <a:outerShdw blurRad="38100" dist="38100" dir="2700000" algn="tl">
                    <a:srgbClr val="000000">
                      <a:alpha val="43137"/>
                    </a:srgbClr>
                  </a:outerShdw>
                </a:effectLst>
              </a:rPr>
              <a:t>decision maker </a:t>
            </a:r>
            <a:r>
              <a:rPr lang="en-US" b="1" u="sng" dirty="0">
                <a:solidFill>
                  <a:srgbClr val="FF3399"/>
                </a:solidFill>
              </a:rPr>
              <a:t>should</a:t>
            </a:r>
            <a:r>
              <a:rPr lang="en-US" dirty="0"/>
              <a:t> </a:t>
            </a:r>
            <a:r>
              <a:rPr lang="en-US" dirty="0">
                <a:effectLst>
                  <a:outerShdw blurRad="38100" dist="38100" dir="2700000" algn="tl">
                    <a:srgbClr val="000000">
                      <a:alpha val="43137"/>
                    </a:srgbClr>
                  </a:outerShdw>
                </a:effectLst>
              </a:rPr>
              <a:t>be able to read</a:t>
            </a:r>
            <a:r>
              <a:rPr lang="en-US" dirty="0"/>
              <a:t>, </a:t>
            </a:r>
            <a:r>
              <a:rPr lang="en-US" dirty="0">
                <a:solidFill>
                  <a:srgbClr val="0033CC"/>
                </a:solidFill>
                <a:effectLst>
                  <a:outerShdw blurRad="38100" dist="38100" dir="2700000" algn="tl">
                    <a:srgbClr val="000000">
                      <a:alpha val="43137"/>
                    </a:srgbClr>
                  </a:outerShdw>
                </a:effectLst>
              </a:rPr>
              <a:t>interpret and understand information correctly</a:t>
            </a:r>
            <a:r>
              <a:rPr lang="en-US" dirty="0"/>
              <a:t>. </a:t>
            </a:r>
            <a:endParaRPr lang="en-US" dirty="0" smtClean="0"/>
          </a:p>
          <a:p>
            <a:pPr algn="just"/>
            <a:endParaRPr lang="en-US" dirty="0"/>
          </a:p>
          <a:p>
            <a:pPr algn="just"/>
            <a:r>
              <a:rPr lang="en-US" b="1" dirty="0" smtClean="0"/>
              <a:t>Converting </a:t>
            </a:r>
            <a:r>
              <a:rPr lang="en-US" b="1" dirty="0"/>
              <a:t>data</a:t>
            </a:r>
            <a:r>
              <a:rPr lang="en-US" dirty="0"/>
              <a:t> into </a:t>
            </a:r>
            <a:r>
              <a:rPr lang="en-US" dirty="0">
                <a:solidFill>
                  <a:srgbClr val="0033CC"/>
                </a:solidFill>
                <a:effectLst>
                  <a:outerShdw blurRad="38100" dist="38100" dir="2700000" algn="tl">
                    <a:srgbClr val="000000">
                      <a:alpha val="43137"/>
                    </a:srgbClr>
                  </a:outerShdw>
                </a:effectLst>
              </a:rPr>
              <a:t>useful information </a:t>
            </a:r>
            <a:r>
              <a:rPr lang="en-US" dirty="0"/>
              <a:t>can be done by using </a:t>
            </a:r>
            <a:r>
              <a:rPr lang="en-US" dirty="0">
                <a:solidFill>
                  <a:srgbClr val="CC0099"/>
                </a:solidFill>
                <a:effectLst>
                  <a:outerShdw blurRad="38100" dist="38100" dir="2700000" algn="tl">
                    <a:srgbClr val="000000">
                      <a:alpha val="43137"/>
                    </a:srgbClr>
                  </a:outerShdw>
                </a:effectLst>
              </a:rPr>
              <a:t>charts</a:t>
            </a:r>
            <a:r>
              <a:rPr lang="en-US" dirty="0"/>
              <a:t>, </a:t>
            </a:r>
            <a:r>
              <a:rPr lang="en-US" dirty="0">
                <a:solidFill>
                  <a:srgbClr val="0033CC"/>
                </a:solidFill>
              </a:rPr>
              <a:t>tables </a:t>
            </a:r>
            <a:r>
              <a:rPr lang="en-US" dirty="0"/>
              <a:t>and </a:t>
            </a:r>
            <a:r>
              <a:rPr lang="en-US" dirty="0">
                <a:solidFill>
                  <a:srgbClr val="FF3399"/>
                </a:solidFill>
                <a:effectLst>
                  <a:outerShdw blurRad="38100" dist="38100" dir="2700000" algn="tl">
                    <a:srgbClr val="000000">
                      <a:alpha val="43137"/>
                    </a:srgbClr>
                  </a:outerShdw>
                </a:effectLst>
              </a:rPr>
              <a:t>descriptive statistics</a:t>
            </a:r>
            <a:r>
              <a:rPr lang="en-US" dirty="0"/>
              <a:t> (like mean, median, standard </a:t>
            </a:r>
            <a:r>
              <a:rPr lang="en-US" dirty="0" smtClean="0"/>
              <a:t>deviation).  </a:t>
            </a:r>
          </a:p>
          <a:p>
            <a:pPr algn="just"/>
            <a:endParaRPr lang="en-US" dirty="0"/>
          </a:p>
          <a:p>
            <a:pPr algn="just"/>
            <a:r>
              <a:rPr lang="en-US" dirty="0" smtClean="0"/>
              <a:t>Raw </a:t>
            </a:r>
            <a:r>
              <a:rPr lang="en-US" dirty="0"/>
              <a:t>data = Just a collection of numbers. </a:t>
            </a:r>
            <a:endParaRPr lang="en-US" dirty="0" smtClean="0"/>
          </a:p>
          <a:p>
            <a:pPr marL="0" indent="0" algn="just">
              <a:buNone/>
            </a:pPr>
            <a:endParaRPr lang="en-US" dirty="0" smtClean="0"/>
          </a:p>
          <a:p>
            <a:pPr algn="just"/>
            <a:r>
              <a:rPr lang="en-US" dirty="0" smtClean="0"/>
              <a:t> Information = </a:t>
            </a:r>
            <a:r>
              <a:rPr lang="en-US" dirty="0"/>
              <a:t>Data presented in a way one can understand, interpret and use.</a:t>
            </a:r>
          </a:p>
        </p:txBody>
      </p:sp>
    </p:spTree>
    <p:extLst>
      <p:ext uri="{BB962C8B-B14F-4D97-AF65-F5344CB8AC3E}">
        <p14:creationId xmlns:p14="http://schemas.microsoft.com/office/powerpoint/2010/main" val="3563968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6200" y="533400"/>
            <a:ext cx="8991599"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6180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pPr marL="342900" lvl="0" indent="-342900" fontAlgn="base">
              <a:spcBef>
                <a:spcPct val="20000"/>
              </a:spcBef>
            </a:pPr>
            <a:r>
              <a:rPr lang="en-US" sz="2800" b="1" dirty="0">
                <a:solidFill>
                  <a:srgbClr val="FF0000"/>
                </a:solidFill>
                <a:effectLst>
                  <a:outerShdw blurRad="38100" dist="38100" dir="2700000" algn="tl">
                    <a:srgbClr val="000000">
                      <a:alpha val="43137"/>
                    </a:srgbClr>
                  </a:outerShdw>
                </a:effectLst>
                <a:latin typeface="arial"/>
                <a:ea typeface="+mn-ea"/>
                <a:cs typeface="+mn-cs"/>
              </a:rPr>
              <a:t>WHY STUDY STATISTICS </a:t>
            </a:r>
            <a:r>
              <a:rPr lang="en-US" sz="2800" dirty="0">
                <a:solidFill>
                  <a:srgbClr val="E56B08"/>
                </a:solidFill>
                <a:latin typeface="arial"/>
                <a:ea typeface="+mn-ea"/>
                <a:cs typeface="+mn-cs"/>
              </a:rPr>
              <a:t>?</a:t>
            </a:r>
            <a:br>
              <a:rPr lang="en-US" sz="2800" dirty="0">
                <a:solidFill>
                  <a:srgbClr val="E56B08"/>
                </a:solidFill>
                <a:latin typeface="arial"/>
                <a:ea typeface="+mn-ea"/>
                <a:cs typeface="+mn-cs"/>
              </a:rPr>
            </a:br>
            <a:endParaRPr lang="en-US" dirty="0"/>
          </a:p>
        </p:txBody>
      </p:sp>
      <p:sp>
        <p:nvSpPr>
          <p:cNvPr id="3" name="Content Placeholder 2"/>
          <p:cNvSpPr>
            <a:spLocks noGrp="1"/>
          </p:cNvSpPr>
          <p:nvPr>
            <p:ph idx="1"/>
          </p:nvPr>
        </p:nvSpPr>
        <p:spPr/>
        <p:txBody>
          <a:bodyPr>
            <a:normAutofit/>
          </a:bodyPr>
          <a:lstStyle/>
          <a:p>
            <a:pPr algn="just" fontAlgn="base">
              <a:lnSpc>
                <a:spcPct val="170000"/>
              </a:lnSpc>
            </a:pPr>
            <a:r>
              <a:rPr lang="en-US" b="0" i="0" dirty="0" smtClean="0">
                <a:solidFill>
                  <a:srgbClr val="4C4940"/>
                </a:solidFill>
                <a:effectLst/>
                <a:latin typeface="arial"/>
              </a:rPr>
              <a:t>Knowledge in statistics provides you with the necessary tools and conceptual foundations in quantitative reasoning to extract information intelligently from this sea of data.</a:t>
            </a:r>
          </a:p>
          <a:p>
            <a:endParaRPr lang="en-US" dirty="0"/>
          </a:p>
        </p:txBody>
      </p:sp>
    </p:spTree>
    <p:extLst>
      <p:ext uri="{BB962C8B-B14F-4D97-AF65-F5344CB8AC3E}">
        <p14:creationId xmlns:p14="http://schemas.microsoft.com/office/powerpoint/2010/main" val="3687020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7010400"/>
          </a:xfrm>
        </p:spPr>
        <p:txBody>
          <a:bodyPr>
            <a:normAutofit/>
          </a:bodyPr>
          <a:lstStyle/>
          <a:p>
            <a:pPr marL="0" lvl="0" indent="0" algn="just" fontAlgn="base">
              <a:spcBef>
                <a:spcPct val="0"/>
              </a:spcBef>
              <a:spcAft>
                <a:spcPct val="0"/>
              </a:spcAft>
              <a:buNone/>
            </a:pPr>
            <a:endParaRPr lang="en-US" sz="1800" dirty="0">
              <a:solidFill>
                <a:prstClr val="black"/>
              </a:solidFill>
              <a:latin typeface="Arial" charset="0"/>
            </a:endParaRPr>
          </a:p>
          <a:p>
            <a:pPr marL="0" lvl="0" indent="0" algn="ctr" fontAlgn="base">
              <a:spcBef>
                <a:spcPct val="0"/>
              </a:spcBef>
              <a:spcAft>
                <a:spcPct val="0"/>
              </a:spcAft>
              <a:buNone/>
            </a:pPr>
            <a:r>
              <a:rPr lang="en-US" sz="2800" b="1" dirty="0" smtClean="0">
                <a:solidFill>
                  <a:prstClr val="black"/>
                </a:solidFill>
                <a:latin typeface="Times New Roman" pitchFamily="18" charset="0"/>
                <a:cs typeface="Times New Roman" pitchFamily="18" charset="0"/>
              </a:rPr>
              <a:t>STATISTICAL METHODS  </a:t>
            </a:r>
          </a:p>
          <a:p>
            <a:pPr marL="0" lvl="0" indent="0" algn="ctr" fontAlgn="base">
              <a:spcBef>
                <a:spcPct val="0"/>
              </a:spcBef>
              <a:spcAft>
                <a:spcPct val="0"/>
              </a:spcAft>
              <a:buNone/>
            </a:pPr>
            <a:endParaRPr lang="en-US" sz="2800" b="1" dirty="0" smtClean="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800" dirty="0" smtClean="0">
                <a:solidFill>
                  <a:prstClr val="black"/>
                </a:solidFill>
                <a:latin typeface="Times New Roman" pitchFamily="18" charset="0"/>
                <a:cs typeface="Times New Roman" pitchFamily="18" charset="0"/>
              </a:rPr>
              <a:t>Methods </a:t>
            </a:r>
            <a:r>
              <a:rPr lang="en-US" sz="2800" dirty="0">
                <a:solidFill>
                  <a:prstClr val="black"/>
                </a:solidFill>
                <a:latin typeface="Times New Roman" pitchFamily="18" charset="0"/>
                <a:cs typeface="Times New Roman" pitchFamily="18" charset="0"/>
              </a:rPr>
              <a:t>adopted in the </a:t>
            </a:r>
            <a:r>
              <a:rPr lang="en-US" sz="2800" i="1" u="sng" dirty="0">
                <a:solidFill>
                  <a:srgbClr val="FF0000"/>
                </a:solidFill>
                <a:uFill>
                  <a:solidFill>
                    <a:srgbClr val="9900FF"/>
                  </a:solidFill>
                </a:uFill>
                <a:latin typeface="Times New Roman" pitchFamily="18" charset="0"/>
                <a:cs typeface="Times New Roman" pitchFamily="18" charset="0"/>
              </a:rPr>
              <a:t>collection and analysis of numerical information or statistical data</a:t>
            </a:r>
            <a:r>
              <a:rPr lang="en-US" sz="2800" i="1" dirty="0">
                <a:solidFill>
                  <a:srgbClr val="FF0000"/>
                </a:solidFill>
                <a:uFill>
                  <a:solidFill>
                    <a:srgbClr val="9900FF"/>
                  </a:solidFill>
                </a:uFill>
                <a:latin typeface="Times New Roman" pitchFamily="18" charset="0"/>
                <a:cs typeface="Times New Roman" pitchFamily="18" charset="0"/>
              </a:rPr>
              <a:t> </a:t>
            </a:r>
            <a:r>
              <a:rPr lang="en-US" sz="2800" dirty="0">
                <a:solidFill>
                  <a:prstClr val="black"/>
                </a:solidFill>
                <a:latin typeface="Times New Roman" pitchFamily="18" charset="0"/>
                <a:cs typeface="Times New Roman" pitchFamily="18" charset="0"/>
              </a:rPr>
              <a:t>for the </a:t>
            </a:r>
            <a:r>
              <a:rPr lang="en-US" sz="2800" b="1" u="sng"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purpose</a:t>
            </a:r>
            <a:r>
              <a:rPr lang="en-US" sz="2800" dirty="0">
                <a:solidFill>
                  <a:prstClr val="black"/>
                </a:solidFill>
                <a:latin typeface="Times New Roman" pitchFamily="18" charset="0"/>
                <a:cs typeface="Times New Roman" pitchFamily="18" charset="0"/>
              </a:rPr>
              <a:t> of drawing conclusions and making decisions are called </a:t>
            </a:r>
            <a:r>
              <a:rPr lang="en-US" sz="2800" i="1" dirty="0">
                <a:solidFill>
                  <a:prstClr val="black"/>
                </a:solidFill>
                <a:latin typeface="Times New Roman" pitchFamily="18" charset="0"/>
                <a:cs typeface="Times New Roman" pitchFamily="18" charset="0"/>
              </a:rPr>
              <a:t>Statistical Methods</a:t>
            </a:r>
            <a:r>
              <a:rPr lang="en-US" sz="2800" b="1" dirty="0">
                <a:solidFill>
                  <a:prstClr val="black"/>
                </a:solidFill>
                <a:latin typeface="Times New Roman" pitchFamily="18" charset="0"/>
                <a:cs typeface="Times New Roman" pitchFamily="18" charset="0"/>
              </a:rPr>
              <a:t>.</a:t>
            </a:r>
            <a:endParaRPr lang="en-US" sz="2800"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endParaRPr lang="en-US" sz="2800" b="1"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800" b="1" dirty="0" smtClean="0">
                <a:solidFill>
                  <a:prstClr val="black"/>
                </a:solidFill>
                <a:latin typeface="Times New Roman" pitchFamily="18" charset="0"/>
                <a:cs typeface="Times New Roman" pitchFamily="18" charset="0"/>
              </a:rPr>
              <a:t>Types </a:t>
            </a:r>
            <a:r>
              <a:rPr lang="en-US" sz="2800" b="1" dirty="0">
                <a:solidFill>
                  <a:prstClr val="black"/>
                </a:solidFill>
                <a:latin typeface="Times New Roman" pitchFamily="18" charset="0"/>
                <a:cs typeface="Times New Roman" pitchFamily="18" charset="0"/>
              </a:rPr>
              <a:t>of Statistical </a:t>
            </a:r>
            <a:r>
              <a:rPr lang="en-US" sz="2800" b="1" dirty="0" smtClean="0">
                <a:solidFill>
                  <a:prstClr val="black"/>
                </a:solidFill>
                <a:latin typeface="Times New Roman" pitchFamily="18" charset="0"/>
                <a:cs typeface="Times New Roman" pitchFamily="18" charset="0"/>
              </a:rPr>
              <a:t>Methods:</a:t>
            </a:r>
          </a:p>
          <a:p>
            <a:pPr marL="0" lvl="0" indent="0" algn="just" fontAlgn="base">
              <a:spcBef>
                <a:spcPct val="0"/>
              </a:spcBef>
              <a:spcAft>
                <a:spcPct val="0"/>
              </a:spcAft>
              <a:buNone/>
            </a:pPr>
            <a:r>
              <a:rPr lang="en-US" sz="2800" dirty="0" smtClean="0">
                <a:solidFill>
                  <a:prstClr val="black"/>
                </a:solidFill>
                <a:latin typeface="Times New Roman" pitchFamily="18" charset="0"/>
                <a:cs typeface="Times New Roman" pitchFamily="18" charset="0"/>
              </a:rPr>
              <a:t>Statistical </a:t>
            </a:r>
            <a:r>
              <a:rPr lang="en-US" sz="2800" dirty="0">
                <a:solidFill>
                  <a:prstClr val="black"/>
                </a:solidFill>
                <a:latin typeface="Times New Roman" pitchFamily="18" charset="0"/>
                <a:cs typeface="Times New Roman" pitchFamily="18" charset="0"/>
              </a:rPr>
              <a:t>methods fall into two categories:</a:t>
            </a:r>
          </a:p>
          <a:p>
            <a:pPr lvl="0" algn="just" fontAlgn="base">
              <a:spcBef>
                <a:spcPct val="0"/>
              </a:spcBef>
              <a:spcAft>
                <a:spcPct val="0"/>
              </a:spcAft>
              <a:buFont typeface="Wingdings" pitchFamily="2" charset="2"/>
              <a:buChar char="Ø"/>
            </a:pPr>
            <a:r>
              <a:rPr lang="en-US" sz="2800" b="1" dirty="0">
                <a:solidFill>
                  <a:srgbClr val="FF0000"/>
                </a:solidFill>
                <a:latin typeface="Times New Roman" pitchFamily="18" charset="0"/>
                <a:cs typeface="Times New Roman" pitchFamily="18" charset="0"/>
              </a:rPr>
              <a:t>Descriptive Statistics</a:t>
            </a:r>
            <a:r>
              <a:rPr lang="en-US" sz="2800" dirty="0">
                <a:solidFill>
                  <a:srgbClr val="FF0000"/>
                </a:solidFill>
                <a:latin typeface="Times New Roman" pitchFamily="18" charset="0"/>
                <a:cs typeface="Times New Roman" pitchFamily="18" charset="0"/>
              </a:rPr>
              <a:t>   </a:t>
            </a:r>
          </a:p>
          <a:p>
            <a:pPr lvl="0" algn="just" fontAlgn="base">
              <a:spcBef>
                <a:spcPct val="0"/>
              </a:spcBef>
              <a:spcAft>
                <a:spcPct val="0"/>
              </a:spcAft>
              <a:buFont typeface="Wingdings" pitchFamily="2" charset="2"/>
              <a:buChar char="Ø"/>
            </a:pPr>
            <a:r>
              <a:rPr lang="en-US" sz="2800" b="1" dirty="0">
                <a:solidFill>
                  <a:srgbClr val="00B0F0"/>
                </a:solidFill>
                <a:latin typeface="Times New Roman" pitchFamily="18" charset="0"/>
                <a:cs typeface="Times New Roman" pitchFamily="18" charset="0"/>
              </a:rPr>
              <a:t>Inferential Statistics</a:t>
            </a:r>
            <a:endParaRPr lang="en-US" sz="2800" b="1" i="1" dirty="0">
              <a:solidFill>
                <a:srgbClr val="00B0F0"/>
              </a:solidFill>
              <a:latin typeface="Times New Roman" pitchFamily="18" charset="0"/>
              <a:cs typeface="Times New Roman" pitchFamily="18" charset="0"/>
            </a:endParaRPr>
          </a:p>
          <a:p>
            <a:pPr marL="0" lvl="0" indent="0" algn="just" fontAlgn="base">
              <a:spcBef>
                <a:spcPct val="0"/>
              </a:spcBef>
              <a:spcAft>
                <a:spcPct val="0"/>
              </a:spcAft>
              <a:buNone/>
            </a:pPr>
            <a:endParaRPr lang="en-US" sz="2800" i="1" dirty="0" smtClean="0">
              <a:solidFill>
                <a:srgbClr val="FF0000"/>
              </a:solidFill>
              <a:latin typeface="Arial" charset="0"/>
            </a:endParaRPr>
          </a:p>
          <a:p>
            <a:pPr marL="0" lvl="0" indent="0" algn="just" fontAlgn="base">
              <a:spcBef>
                <a:spcPct val="0"/>
              </a:spcBef>
              <a:spcAft>
                <a:spcPct val="0"/>
              </a:spcAft>
              <a:buNone/>
            </a:pPr>
            <a:endParaRPr lang="en-US" sz="2800" i="1" dirty="0" smtClean="0">
              <a:solidFill>
                <a:srgbClr val="FF0000"/>
              </a:solidFill>
              <a:latin typeface="Arial" charset="0"/>
            </a:endParaRPr>
          </a:p>
        </p:txBody>
      </p:sp>
    </p:spTree>
    <p:extLst>
      <p:ext uri="{BB962C8B-B14F-4D97-AF65-F5344CB8AC3E}">
        <p14:creationId xmlns:p14="http://schemas.microsoft.com/office/powerpoint/2010/main" val="2023426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normAutofit fontScale="70000" lnSpcReduction="20000"/>
          </a:bodyPr>
          <a:lstStyle/>
          <a:p>
            <a:pPr marL="0" lvl="0" indent="0" algn="just" fontAlgn="base">
              <a:lnSpc>
                <a:spcPct val="120000"/>
              </a:lnSpc>
              <a:spcBef>
                <a:spcPct val="0"/>
              </a:spcBef>
              <a:spcAft>
                <a:spcPct val="0"/>
              </a:spcAft>
              <a:buNone/>
            </a:pPr>
            <a:r>
              <a:rPr lang="en-US" sz="3600" b="1"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DESCRIPTIVE</a:t>
            </a:r>
            <a:r>
              <a:rPr lang="en-US" sz="3600" i="1" dirty="0" smtClean="0">
                <a:solidFill>
                  <a:srgbClr val="FF0000"/>
                </a:solidFill>
                <a:latin typeface="Times New Roman" pitchFamily="18" charset="0"/>
                <a:cs typeface="Times New Roman" pitchFamily="18" charset="0"/>
              </a:rPr>
              <a:t> </a:t>
            </a:r>
            <a:r>
              <a:rPr lang="en-US" sz="3600"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STATISTICS </a:t>
            </a:r>
            <a:r>
              <a:rPr lang="en-US" sz="3600" i="1" dirty="0">
                <a:solidFill>
                  <a:srgbClr val="FF0000"/>
                </a:solidFill>
                <a:latin typeface="Times New Roman" pitchFamily="18" charset="0"/>
                <a:cs typeface="Times New Roman" pitchFamily="18" charset="0"/>
              </a:rPr>
              <a:t>(</a:t>
            </a:r>
            <a:r>
              <a:rPr lang="en-US" sz="3600" dirty="0">
                <a:solidFill>
                  <a:srgbClr val="0066FF"/>
                </a:solidFill>
                <a:latin typeface="Times New Roman" pitchFamily="18" charset="0"/>
                <a:cs typeface="Times New Roman" pitchFamily="18" charset="0"/>
              </a:rPr>
              <a:t>seeking to describe</a:t>
            </a:r>
            <a:r>
              <a:rPr lang="en-US" sz="3600" i="1" dirty="0">
                <a:solidFill>
                  <a:srgbClr val="0066FF"/>
                </a:solidFill>
                <a:latin typeface="Times New Roman" pitchFamily="18" charset="0"/>
                <a:cs typeface="Times New Roman" pitchFamily="18" charset="0"/>
              </a:rPr>
              <a:t>)</a:t>
            </a:r>
            <a:r>
              <a:rPr lang="en-US" sz="3600" dirty="0" smtClean="0">
                <a:solidFill>
                  <a:srgbClr val="FF0000"/>
                </a:solidFill>
                <a:latin typeface="Times New Roman" pitchFamily="18" charset="0"/>
                <a:cs typeface="Times New Roman" pitchFamily="18" charset="0"/>
              </a:rPr>
              <a:t> </a:t>
            </a:r>
            <a:r>
              <a:rPr lang="en-US" sz="3600" dirty="0">
                <a:solidFill>
                  <a:prstClr val="black"/>
                </a:solidFill>
                <a:latin typeface="Times New Roman" pitchFamily="18" charset="0"/>
                <a:cs typeface="Times New Roman" pitchFamily="18" charset="0"/>
              </a:rPr>
              <a:t>includes statistical methods involving the </a:t>
            </a:r>
            <a:r>
              <a:rPr lang="en-US" sz="3600" b="1"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collection, presentation, and characterization of a set of data</a:t>
            </a:r>
            <a:r>
              <a:rPr lang="en-US" sz="3600" dirty="0">
                <a:solidFill>
                  <a:prstClr val="black"/>
                </a:solidFill>
                <a:latin typeface="Times New Roman" pitchFamily="18" charset="0"/>
                <a:cs typeface="Times New Roman" pitchFamily="18" charset="0"/>
              </a:rPr>
              <a:t> in order to describe the various features of that set of data. </a:t>
            </a:r>
          </a:p>
          <a:p>
            <a:pPr marL="0" lvl="0" indent="0" algn="just" fontAlgn="base">
              <a:lnSpc>
                <a:spcPct val="120000"/>
              </a:lnSpc>
              <a:spcBef>
                <a:spcPct val="0"/>
              </a:spcBef>
              <a:spcAft>
                <a:spcPct val="0"/>
              </a:spcAft>
              <a:buNone/>
            </a:pPr>
            <a:endParaRPr lang="en-US" sz="3600" dirty="0">
              <a:solidFill>
                <a:srgbClr val="009900"/>
              </a:solidFill>
              <a:latin typeface="Times New Roman" pitchFamily="18" charset="0"/>
              <a:cs typeface="Times New Roman" pitchFamily="18" charset="0"/>
            </a:endParaRPr>
          </a:p>
          <a:p>
            <a:pPr marL="0" lvl="0" indent="0" algn="just" fontAlgn="base">
              <a:lnSpc>
                <a:spcPct val="120000"/>
              </a:lnSpc>
              <a:spcBef>
                <a:spcPct val="0"/>
              </a:spcBef>
              <a:spcAft>
                <a:spcPct val="0"/>
              </a:spcAft>
              <a:buNone/>
            </a:pPr>
            <a:r>
              <a:rPr lang="en-US" sz="3600" dirty="0">
                <a:solidFill>
                  <a:srgbClr val="009900"/>
                </a:solidFill>
                <a:latin typeface="Times New Roman" pitchFamily="18" charset="0"/>
                <a:cs typeface="Times New Roman" pitchFamily="18" charset="0"/>
              </a:rPr>
              <a:t>With descriptive statistics you are simply describing </a:t>
            </a:r>
            <a:r>
              <a:rPr lang="en-US" sz="3600" dirty="0" smtClean="0">
                <a:solidFill>
                  <a:srgbClr val="009900"/>
                </a:solidFill>
                <a:latin typeface="Times New Roman" pitchFamily="18" charset="0"/>
                <a:cs typeface="Times New Roman" pitchFamily="18" charset="0"/>
              </a:rPr>
              <a:t>what </a:t>
            </a:r>
            <a:r>
              <a:rPr lang="en-US" sz="3600" dirty="0">
                <a:solidFill>
                  <a:srgbClr val="009900"/>
                </a:solidFill>
                <a:latin typeface="Times New Roman" pitchFamily="18" charset="0"/>
                <a:cs typeface="Times New Roman" pitchFamily="18" charset="0"/>
              </a:rPr>
              <a:t>the data shows</a:t>
            </a:r>
          </a:p>
          <a:p>
            <a:pPr marL="0" lvl="0" indent="0" algn="just" fontAlgn="base">
              <a:lnSpc>
                <a:spcPct val="120000"/>
              </a:lnSpc>
              <a:spcBef>
                <a:spcPct val="0"/>
              </a:spcBef>
              <a:spcAft>
                <a:spcPct val="0"/>
              </a:spcAft>
              <a:buNone/>
            </a:pPr>
            <a:endParaRPr lang="en-US" sz="3600" dirty="0">
              <a:solidFill>
                <a:prstClr val="black"/>
              </a:solidFill>
              <a:latin typeface="Times New Roman" pitchFamily="18" charset="0"/>
              <a:cs typeface="Times New Roman" pitchFamily="18" charset="0"/>
            </a:endParaRPr>
          </a:p>
          <a:p>
            <a:pPr marL="0" lvl="0" indent="0" algn="just" fontAlgn="base">
              <a:lnSpc>
                <a:spcPct val="120000"/>
              </a:lnSpc>
              <a:spcBef>
                <a:spcPct val="0"/>
              </a:spcBef>
              <a:spcAft>
                <a:spcPct val="0"/>
              </a:spcAft>
              <a:buNone/>
            </a:pPr>
            <a:r>
              <a:rPr lang="en-US" sz="3600"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In general, methods of descriptive statistics include </a:t>
            </a:r>
            <a:r>
              <a:rPr lang="en-US" sz="3600"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graphic methods such as Histogram, Frequency Polygon/Curve, Cumulative frequency polygon/Curve, Bar charts, line graphs, pie charts </a:t>
            </a:r>
            <a:r>
              <a:rPr lang="en-US" sz="3600" dirty="0" err="1">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etc</a:t>
            </a:r>
            <a:r>
              <a:rPr lang="en-US" sz="3600"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 </a:t>
            </a:r>
          </a:p>
          <a:p>
            <a:pPr marL="0" lvl="0" indent="0" algn="just" fontAlgn="base">
              <a:lnSpc>
                <a:spcPct val="120000"/>
              </a:lnSpc>
              <a:spcBef>
                <a:spcPct val="0"/>
              </a:spcBef>
              <a:spcAft>
                <a:spcPct val="0"/>
              </a:spcAft>
              <a:buNone/>
            </a:pPr>
            <a:endParaRPr lang="en-US" sz="3600" b="1" dirty="0">
              <a:latin typeface="Times New Roman" pitchFamily="18" charset="0"/>
              <a:cs typeface="Times New Roman" pitchFamily="18" charset="0"/>
            </a:endParaRPr>
          </a:p>
          <a:p>
            <a:pPr marL="0" lvl="0" indent="0" algn="just" fontAlgn="base">
              <a:lnSpc>
                <a:spcPct val="120000"/>
              </a:lnSpc>
              <a:spcBef>
                <a:spcPct val="0"/>
              </a:spcBef>
              <a:spcAft>
                <a:spcPct val="0"/>
              </a:spcAft>
              <a:buNone/>
            </a:pPr>
            <a:r>
              <a:rPr lang="en-US" sz="3600" b="1" dirty="0">
                <a:latin typeface="Times New Roman" pitchFamily="18" charset="0"/>
                <a:cs typeface="Times New Roman" pitchFamily="18" charset="0"/>
              </a:rPr>
              <a:t>Descriptive statistics</a:t>
            </a:r>
            <a:r>
              <a:rPr lang="en-US" sz="3600" dirty="0">
                <a:latin typeface="Times New Roman" pitchFamily="18" charset="0"/>
                <a:cs typeface="Times New Roman" pitchFamily="18" charset="0"/>
              </a:rPr>
              <a:t> is the term given to the analysis of data that helps describe, show or summarize data in a meaningful way such that, for example, patterns might emerge from the dat</a:t>
            </a:r>
            <a:r>
              <a:rPr lang="en-US" dirty="0"/>
              <a:t>a. </a:t>
            </a:r>
            <a:endParaRPr lang="en-US" sz="4400" dirty="0">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7329352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noChangeArrowheads="1"/>
          </p:cNvPicPr>
          <p:nvPr>
            <p:ph idx="1"/>
          </p:nvPr>
        </p:nvPicPr>
        <p:blipFill>
          <a:blip r:embed="rId2" cstate="print"/>
          <a:srcRect/>
          <a:stretch>
            <a:fillRect/>
          </a:stretch>
        </p:blipFill>
        <p:spPr bwMode="auto">
          <a:xfrm>
            <a:off x="-76200" y="990600"/>
            <a:ext cx="10134600" cy="3663732"/>
          </a:xfrm>
          <a:prstGeom prst="rect">
            <a:avLst/>
          </a:prstGeom>
          <a:noFill/>
          <a:ln w="9525">
            <a:noFill/>
            <a:miter lim="800000"/>
            <a:headEnd/>
            <a:tailEnd/>
          </a:ln>
          <a:effectLst/>
        </p:spPr>
      </p:pic>
      <p:sp>
        <p:nvSpPr>
          <p:cNvPr id="3" name="Rectangle 2"/>
          <p:cNvSpPr/>
          <p:nvPr/>
        </p:nvSpPr>
        <p:spPr>
          <a:xfrm>
            <a:off x="228600" y="4800600"/>
            <a:ext cx="8915400" cy="1569660"/>
          </a:xfrm>
          <a:prstGeom prst="rect">
            <a:avLst/>
          </a:prstGeom>
        </p:spPr>
        <p:txBody>
          <a:bodyPr wrap="square">
            <a:spAutoFit/>
          </a:bodyPr>
          <a:lstStyle/>
          <a:p>
            <a:pPr algn="just"/>
            <a:r>
              <a:rPr lang="en-US" sz="2400" dirty="0" smtClean="0">
                <a:solidFill>
                  <a:srgbClr val="0066FF"/>
                </a:solidFill>
              </a:rPr>
              <a:t>For example, if we had the results of 100 pieces of students' coursework, we may be interested in the overall performance of those students. We would also be interested in the distribution or spread of the marks. Descriptive statistics allow us to do this.</a:t>
            </a:r>
            <a:endParaRPr lang="en-US" sz="2400" dirty="0">
              <a:solidFill>
                <a:srgbClr val="0066FF"/>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lvl="0" indent="0" algn="just" fontAlgn="base">
              <a:spcBef>
                <a:spcPct val="0"/>
              </a:spcBef>
              <a:spcAft>
                <a:spcPct val="0"/>
              </a:spcAft>
              <a:buNone/>
            </a:pPr>
            <a:r>
              <a:rPr lang="en-US" sz="3600" dirty="0" smtClean="0">
                <a:solidFill>
                  <a:srgbClr val="0066FF"/>
                </a:solidFill>
                <a:latin typeface="Times New Roman" pitchFamily="18" charset="0"/>
                <a:cs typeface="Times New Roman" pitchFamily="18" charset="0"/>
              </a:rPr>
              <a:t>INFERENTIAL STATISTICS </a:t>
            </a:r>
          </a:p>
          <a:p>
            <a:pPr marL="0" lvl="0" indent="0" algn="just" fontAlgn="base">
              <a:spcBef>
                <a:spcPct val="0"/>
              </a:spcBef>
              <a:spcAft>
                <a:spcPct val="0"/>
              </a:spcAft>
              <a:buNone/>
            </a:pPr>
            <a:endParaRPr lang="en-US" sz="3600" dirty="0" smtClean="0">
              <a:solidFill>
                <a:srgbClr val="0066FF"/>
              </a:solidFill>
              <a:latin typeface="Times New Roman" pitchFamily="18" charset="0"/>
              <a:cs typeface="Times New Roman" pitchFamily="18" charset="0"/>
            </a:endParaRPr>
          </a:p>
          <a:p>
            <a:pPr algn="just" fontAlgn="base">
              <a:spcBef>
                <a:spcPct val="0"/>
              </a:spcBef>
              <a:spcAft>
                <a:spcPct val="0"/>
              </a:spcAft>
              <a:buFont typeface="Wingdings" pitchFamily="2" charset="2"/>
              <a:buChar char="§"/>
            </a:pPr>
            <a:r>
              <a:rPr lang="en-US" dirty="0" smtClean="0">
                <a:solidFill>
                  <a:prstClr val="black"/>
                </a:solidFill>
                <a:latin typeface="Times New Roman" pitchFamily="18" charset="0"/>
                <a:cs typeface="Times New Roman" pitchFamily="18" charset="0"/>
              </a:rPr>
              <a:t>deals </a:t>
            </a:r>
            <a:r>
              <a:rPr lang="en-US" dirty="0">
                <a:solidFill>
                  <a:prstClr val="black"/>
                </a:solidFill>
                <a:latin typeface="Times New Roman" pitchFamily="18" charset="0"/>
                <a:cs typeface="Times New Roman" pitchFamily="18" charset="0"/>
              </a:rPr>
              <a:t>with procedures for making </a:t>
            </a:r>
            <a:r>
              <a:rPr lang="en-US"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inferences about the </a:t>
            </a:r>
            <a:r>
              <a:rPr lang="en-US"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characteristics, </a:t>
            </a:r>
            <a:r>
              <a:rPr lang="en-US" b="1" dirty="0">
                <a:solidFill>
                  <a:srgbClr val="0033CC"/>
                </a:solidFill>
                <a:latin typeface="Times New Roman" pitchFamily="18" charset="0"/>
                <a:cs typeface="Times New Roman" pitchFamily="18" charset="0"/>
              </a:rPr>
              <a:t>from only a part of the data, known as </a:t>
            </a:r>
            <a:r>
              <a:rPr lang="en-US" b="1" dirty="0" smtClean="0">
                <a:solidFill>
                  <a:srgbClr val="0033CC"/>
                </a:solidFill>
                <a:latin typeface="Times New Roman" pitchFamily="18" charset="0"/>
                <a:cs typeface="Times New Roman" pitchFamily="18" charset="0"/>
              </a:rPr>
              <a:t>Sample</a:t>
            </a:r>
            <a:r>
              <a:rPr lang="en-US" dirty="0" smtClean="0">
                <a:solidFill>
                  <a:prstClr val="black"/>
                </a:solidFill>
                <a:latin typeface="Times New Roman" pitchFamily="18" charset="0"/>
                <a:cs typeface="Times New Roman" pitchFamily="18" charset="0"/>
              </a:rPr>
              <a:t> which </a:t>
            </a:r>
            <a:r>
              <a:rPr lang="en-US" b="1" u="sng" dirty="0" smtClean="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describes </a:t>
            </a:r>
            <a:r>
              <a:rPr lang="en-US" b="1" u="sng"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the larger group of data</a:t>
            </a:r>
            <a:r>
              <a:rPr lang="en-US" dirty="0">
                <a:solidFill>
                  <a:prstClr val="black"/>
                </a:solidFill>
                <a:latin typeface="Times New Roman" pitchFamily="18" charset="0"/>
                <a:cs typeface="Times New Roman" pitchFamily="18" charset="0"/>
              </a:rPr>
              <a:t>, called population, </a:t>
            </a:r>
            <a:endParaRPr lang="en-US" dirty="0" smtClean="0">
              <a:solidFill>
                <a:prstClr val="black"/>
              </a:solidFill>
              <a:latin typeface="Times New Roman" pitchFamily="18" charset="0"/>
              <a:cs typeface="Times New Roman" pitchFamily="18" charset="0"/>
            </a:endParaRPr>
          </a:p>
          <a:p>
            <a:pPr lvl="0" algn="just" fontAlgn="base">
              <a:spcBef>
                <a:spcPct val="0"/>
              </a:spcBef>
              <a:spcAft>
                <a:spcPct val="0"/>
              </a:spcAft>
              <a:buFont typeface="Wingdings" pitchFamily="2" charset="2"/>
              <a:buChar char="§"/>
            </a:pPr>
            <a:endParaRPr lang="en-US" b="1" dirty="0">
              <a:solidFill>
                <a:prstClr val="black"/>
              </a:solidFill>
              <a:latin typeface="Times New Roman" pitchFamily="18" charset="0"/>
              <a:cs typeface="Times New Roman" pitchFamily="18" charset="0"/>
            </a:endParaRPr>
          </a:p>
          <a:p>
            <a:pPr lvl="0" algn="just" fontAlgn="base">
              <a:spcBef>
                <a:spcPct val="0"/>
              </a:spcBef>
              <a:spcAft>
                <a:spcPct val="0"/>
              </a:spcAft>
              <a:buFont typeface="Wingdings" pitchFamily="2" charset="2"/>
              <a:buChar char="§"/>
            </a:pPr>
            <a:endParaRPr lang="en-US" b="1"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13544024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cstate="print"/>
          <a:srcRect/>
          <a:stretch>
            <a:fillRect/>
          </a:stretch>
        </p:blipFill>
        <p:spPr bwMode="auto">
          <a:xfrm>
            <a:off x="-152400" y="1752600"/>
            <a:ext cx="10058400" cy="297448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1" y="0"/>
            <a:ext cx="9144000" cy="6858000"/>
          </a:xfrm>
        </p:spPr>
        <p:txBody>
          <a:bodyPr>
            <a:normAutofit fontScale="92500" lnSpcReduction="20000"/>
          </a:bodyPr>
          <a:lstStyle/>
          <a:p>
            <a:pPr marL="0" lvl="0" indent="0" algn="ctr" fontAlgn="base">
              <a:spcBef>
                <a:spcPct val="0"/>
              </a:spcBef>
              <a:spcAft>
                <a:spcPct val="0"/>
              </a:spcAft>
              <a:buNone/>
            </a:pPr>
            <a:r>
              <a:rPr lang="en-US" sz="3000" b="1" dirty="0" smtClean="0">
                <a:solidFill>
                  <a:srgbClr val="7030A0"/>
                </a:solidFill>
                <a:latin typeface="Times New Roman" pitchFamily="18" charset="0"/>
                <a:cs typeface="Times New Roman" pitchFamily="18" charset="0"/>
              </a:rPr>
              <a:t>POPULATIONS AND SAMPLES</a:t>
            </a:r>
          </a:p>
          <a:p>
            <a:pPr marL="0" lvl="0" indent="0" algn="just" fontAlgn="base">
              <a:spcBef>
                <a:spcPct val="0"/>
              </a:spcBef>
              <a:spcAft>
                <a:spcPct val="0"/>
              </a:spcAft>
              <a:buNone/>
            </a:pPr>
            <a:endParaRPr lang="en-US" sz="2200" dirty="0" smtClean="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400" dirty="0" smtClean="0">
                <a:solidFill>
                  <a:prstClr val="black"/>
                </a:solidFill>
                <a:latin typeface="Times New Roman" pitchFamily="18" charset="0"/>
                <a:cs typeface="Times New Roman" pitchFamily="18" charset="0"/>
              </a:rPr>
              <a:t>A </a:t>
            </a:r>
            <a:r>
              <a:rPr lang="en-US" sz="2400" b="1" i="1" dirty="0" smtClean="0">
                <a:solidFill>
                  <a:prstClr val="black"/>
                </a:solidFill>
                <a:latin typeface="Times New Roman" pitchFamily="18" charset="0"/>
                <a:cs typeface="Times New Roman" pitchFamily="18" charset="0"/>
              </a:rPr>
              <a:t>population</a:t>
            </a:r>
            <a:r>
              <a:rPr lang="en-US" sz="2400" dirty="0" smtClean="0">
                <a:solidFill>
                  <a:prstClr val="black"/>
                </a:solidFill>
                <a:latin typeface="Times New Roman" pitchFamily="18" charset="0"/>
                <a:cs typeface="Times New Roman" pitchFamily="18" charset="0"/>
              </a:rPr>
              <a:t> or a </a:t>
            </a:r>
            <a:r>
              <a:rPr lang="en-US" sz="2400" b="1" i="1" dirty="0" smtClean="0">
                <a:solidFill>
                  <a:prstClr val="black"/>
                </a:solidFill>
                <a:latin typeface="Times New Roman" pitchFamily="18" charset="0"/>
                <a:cs typeface="Times New Roman" pitchFamily="18" charset="0"/>
              </a:rPr>
              <a:t>statistical population</a:t>
            </a:r>
            <a:r>
              <a:rPr lang="en-US" sz="2400" dirty="0" smtClean="0">
                <a:solidFill>
                  <a:prstClr val="black"/>
                </a:solidFill>
                <a:latin typeface="Times New Roman" pitchFamily="18" charset="0"/>
                <a:cs typeface="Times New Roman" pitchFamily="18" charset="0"/>
              </a:rPr>
              <a:t> is a </a:t>
            </a:r>
            <a:r>
              <a:rPr lang="en-US" sz="2400" b="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collection or set of all possible observations</a:t>
            </a:r>
            <a:r>
              <a:rPr lang="en-US" sz="2400" dirty="0" smtClean="0">
                <a:solidFill>
                  <a:prstClr val="black"/>
                </a:solidFill>
                <a:latin typeface="Times New Roman" pitchFamily="18" charset="0"/>
                <a:cs typeface="Times New Roman" pitchFamily="18" charset="0"/>
              </a:rPr>
              <a:t> whether from a finite  or infinite population, relevant to some characteristics of interest. </a:t>
            </a:r>
          </a:p>
          <a:p>
            <a:pPr marL="0" lvl="0" indent="0" algn="just" fontAlgn="base">
              <a:spcBef>
                <a:spcPct val="0"/>
              </a:spcBef>
              <a:spcAft>
                <a:spcPct val="0"/>
              </a:spcAft>
              <a:buNone/>
            </a:pPr>
            <a:endParaRPr lang="en-US" sz="2000" dirty="0" smtClean="0">
              <a:solidFill>
                <a:prstClr val="black"/>
              </a:solidFill>
              <a:latin typeface="Times New Roman" pitchFamily="18" charset="0"/>
              <a:cs typeface="Times New Roman" pitchFamily="18" charset="0"/>
            </a:endParaRPr>
          </a:p>
          <a:p>
            <a:pPr marL="571500" indent="-571500" algn="just">
              <a:lnSpc>
                <a:spcPct val="110000"/>
              </a:lnSpc>
            </a:pPr>
            <a:r>
              <a:rPr lang="en-US" sz="2400" dirty="0" smtClean="0">
                <a:latin typeface="Times New Roman" pitchFamily="18" charset="0"/>
                <a:cs typeface="Times New Roman" pitchFamily="18" charset="0"/>
              </a:rPr>
              <a:t>In </a:t>
            </a:r>
            <a:r>
              <a:rPr lang="en-US" sz="2400" b="1" u="sng" dirty="0" smtClean="0">
                <a:effectLst>
                  <a:outerShdw blurRad="38100" dist="38100" dir="2700000" algn="tl">
                    <a:srgbClr val="000000">
                      <a:alpha val="43137"/>
                    </a:srgbClr>
                  </a:outerShdw>
                </a:effectLst>
                <a:latin typeface="Times New Roman" pitchFamily="18" charset="0"/>
                <a:cs typeface="Times New Roman" pitchFamily="18" charset="0"/>
              </a:rPr>
              <a:t>finite universe</a:t>
            </a:r>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sz="2400" dirty="0" smtClean="0">
                <a:latin typeface="Times New Roman" pitchFamily="18" charset="0"/>
                <a:cs typeface="Times New Roman" pitchFamily="18" charset="0"/>
              </a:rPr>
              <a:t>the number of items is certain, </a:t>
            </a:r>
            <a:r>
              <a:rPr lang="en-US" sz="2400" b="1" u="sng" dirty="0" smtClean="0">
                <a:solidFill>
                  <a:srgbClr val="0033CC"/>
                </a:solidFill>
                <a:latin typeface="Times New Roman" pitchFamily="18" charset="0"/>
                <a:cs typeface="Times New Roman" pitchFamily="18" charset="0"/>
              </a:rPr>
              <a:t>Ex. The population of a city</a:t>
            </a:r>
            <a:r>
              <a:rPr lang="en-US" sz="2400" dirty="0" smtClean="0">
                <a:latin typeface="Times New Roman" pitchFamily="18" charset="0"/>
                <a:cs typeface="Times New Roman" pitchFamily="18" charset="0"/>
              </a:rPr>
              <a:t>, </a:t>
            </a:r>
          </a:p>
          <a:p>
            <a:pPr marL="571500" lvl="0" indent="-571500" algn="just">
              <a:lnSpc>
                <a:spcPct val="110000"/>
              </a:lnSpc>
            </a:pPr>
            <a:r>
              <a:rPr lang="en-US" sz="2400" dirty="0">
                <a:solidFill>
                  <a:prstClr val="black"/>
                </a:solidFill>
                <a:latin typeface="Times New Roman" pitchFamily="18" charset="0"/>
                <a:cs typeface="Times New Roman" pitchFamily="18" charset="0"/>
              </a:rPr>
              <a:t>The number of observations in a finite population is called the </a:t>
            </a:r>
            <a:r>
              <a:rPr lang="en-US" sz="2400" i="1" dirty="0">
                <a:solidFill>
                  <a:prstClr val="black"/>
                </a:solidFill>
                <a:latin typeface="Times New Roman" pitchFamily="18" charset="0"/>
                <a:cs typeface="Times New Roman" pitchFamily="18" charset="0"/>
              </a:rPr>
              <a:t>size</a:t>
            </a:r>
            <a:r>
              <a:rPr lang="en-US" sz="2400" dirty="0">
                <a:solidFill>
                  <a:prstClr val="black"/>
                </a:solidFill>
                <a:latin typeface="Times New Roman" pitchFamily="18" charset="0"/>
                <a:cs typeface="Times New Roman" pitchFamily="18" charset="0"/>
              </a:rPr>
              <a:t> of the population (N). </a:t>
            </a:r>
            <a:endParaRPr lang="en-US" sz="2400" dirty="0" smtClean="0">
              <a:latin typeface="Times New Roman" pitchFamily="18" charset="0"/>
              <a:cs typeface="Times New Roman" pitchFamily="18" charset="0"/>
            </a:endParaRPr>
          </a:p>
          <a:p>
            <a:pPr marL="0" indent="0" algn="just">
              <a:lnSpc>
                <a:spcPct val="110000"/>
              </a:lnSpc>
              <a:buNone/>
            </a:pPr>
            <a:endParaRPr lang="en-US" sz="2400" dirty="0" smtClean="0">
              <a:latin typeface="Times New Roman" pitchFamily="18" charset="0"/>
              <a:cs typeface="Times New Roman" pitchFamily="18" charset="0"/>
            </a:endParaRPr>
          </a:p>
          <a:p>
            <a:pPr marL="571500" indent="-571500" algn="just">
              <a:lnSpc>
                <a:spcPct val="110000"/>
              </a:lnSpc>
            </a:pPr>
            <a:r>
              <a:rPr lang="en-US" sz="2400" dirty="0" smtClean="0">
                <a:latin typeface="Times New Roman" pitchFamily="18" charset="0"/>
                <a:cs typeface="Times New Roman" pitchFamily="18" charset="0"/>
              </a:rPr>
              <a:t>In case of an </a:t>
            </a:r>
            <a:r>
              <a:rPr lang="en-US" sz="2400" b="1" u="sng" dirty="0" smtClean="0">
                <a:effectLst>
                  <a:outerShdw blurRad="38100" dist="38100" dir="2700000" algn="tl">
                    <a:srgbClr val="000000">
                      <a:alpha val="43137"/>
                    </a:srgbClr>
                  </a:outerShdw>
                </a:effectLst>
                <a:latin typeface="Times New Roman" pitchFamily="18" charset="0"/>
                <a:cs typeface="Times New Roman" pitchFamily="18" charset="0"/>
              </a:rPr>
              <a:t>infinite universe </a:t>
            </a:r>
            <a:r>
              <a:rPr lang="en-US" sz="2400" dirty="0" smtClean="0">
                <a:latin typeface="Times New Roman" pitchFamily="18" charset="0"/>
                <a:cs typeface="Times New Roman" pitchFamily="18" charset="0"/>
              </a:rPr>
              <a:t>the number of items is infinite, i.e., </a:t>
            </a:r>
            <a:r>
              <a:rPr lang="en-US" sz="2400" u="sng" dirty="0" smtClean="0">
                <a:effectLst>
                  <a:outerShdw blurRad="38100" dist="38100" dir="2700000" algn="tl">
                    <a:srgbClr val="000000">
                      <a:alpha val="43137"/>
                    </a:srgbClr>
                  </a:outerShdw>
                </a:effectLst>
                <a:latin typeface="Times New Roman" pitchFamily="18" charset="0"/>
                <a:cs typeface="Times New Roman" pitchFamily="18" charset="0"/>
              </a:rPr>
              <a:t>we cannot have any idea about the total number of items</a:t>
            </a:r>
            <a:r>
              <a:rPr lang="en-US" sz="2400" dirty="0" smtClean="0">
                <a:latin typeface="Times New Roman" pitchFamily="18" charset="0"/>
                <a:cs typeface="Times New Roman" pitchFamily="18" charset="0"/>
              </a:rPr>
              <a:t>.</a:t>
            </a:r>
            <a:r>
              <a:rPr lang="en-US" sz="2400" b="1" dirty="0" smtClean="0">
                <a:latin typeface="Times New Roman" pitchFamily="18" charset="0"/>
                <a:cs typeface="Times New Roman" pitchFamily="18" charset="0"/>
              </a:rPr>
              <a:t> </a:t>
            </a:r>
            <a:r>
              <a:rPr lang="en-US" sz="2400" b="1" u="sng" dirty="0" smtClean="0">
                <a:effectLst>
                  <a:outerShdw blurRad="38100" dist="38100" dir="2700000" algn="tl">
                    <a:srgbClr val="000000">
                      <a:alpha val="43137"/>
                    </a:srgbClr>
                  </a:outerShdw>
                </a:effectLst>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the number of stars in the sky, listeners of a specific radio </a:t>
            </a:r>
            <a:r>
              <a:rPr lang="en-US" sz="2400" dirty="0" err="1" smtClean="0">
                <a:latin typeface="Times New Roman" pitchFamily="18" charset="0"/>
                <a:cs typeface="Times New Roman" pitchFamily="18" charset="0"/>
              </a:rPr>
              <a:t>programme</a:t>
            </a:r>
            <a:r>
              <a:rPr lang="en-US" sz="2400" dirty="0" smtClean="0">
                <a:latin typeface="Times New Roman" pitchFamily="18" charset="0"/>
                <a:cs typeface="Times New Roman" pitchFamily="18" charset="0"/>
              </a:rPr>
              <a:t>, etc. are examples of infinite universes. </a:t>
            </a:r>
          </a:p>
          <a:p>
            <a:pPr marL="0" indent="0" algn="just">
              <a:lnSpc>
                <a:spcPct val="110000"/>
              </a:lnSpc>
              <a:buNone/>
            </a:pPr>
            <a:endParaRPr lang="en-US" sz="2400" dirty="0" smtClean="0">
              <a:solidFill>
                <a:prstClr val="black"/>
              </a:solidFill>
              <a:latin typeface="Times New Roman" pitchFamily="18" charset="0"/>
              <a:cs typeface="Times New Roman" pitchFamily="18" charset="0"/>
            </a:endParaRPr>
          </a:p>
          <a:p>
            <a:pPr algn="just" fontAlgn="base">
              <a:lnSpc>
                <a:spcPct val="110000"/>
              </a:lnSpc>
              <a:spcBef>
                <a:spcPct val="0"/>
              </a:spcBef>
              <a:spcAft>
                <a:spcPct val="0"/>
              </a:spcAft>
            </a:pPr>
            <a:r>
              <a:rPr lang="en-US" sz="2000" dirty="0" smtClean="0">
                <a:solidFill>
                  <a:prstClr val="black"/>
                </a:solidFill>
                <a:latin typeface="Times New Roman" pitchFamily="18" charset="0"/>
                <a:cs typeface="Times New Roman" pitchFamily="18" charset="0"/>
              </a:rPr>
              <a:t>A </a:t>
            </a:r>
            <a:r>
              <a:rPr lang="en-US" sz="2000" b="1" i="1" dirty="0" smtClean="0">
                <a:solidFill>
                  <a:prstClr val="black"/>
                </a:solidFill>
                <a:latin typeface="Times New Roman" pitchFamily="18" charset="0"/>
                <a:cs typeface="Times New Roman" pitchFamily="18" charset="0"/>
              </a:rPr>
              <a:t>sample</a:t>
            </a:r>
            <a:r>
              <a:rPr lang="en-US" sz="2000" dirty="0" smtClean="0">
                <a:solidFill>
                  <a:prstClr val="black"/>
                </a:solidFill>
                <a:latin typeface="Times New Roman" pitchFamily="18" charset="0"/>
                <a:cs typeface="Times New Roman" pitchFamily="18" charset="0"/>
              </a:rPr>
              <a:t> is a part or a subset of population. The number of observations included in a sample is called the size of the sample (n). </a:t>
            </a:r>
          </a:p>
          <a:p>
            <a:pPr marL="0" lvl="0" indent="0" algn="just" fontAlgn="base">
              <a:lnSpc>
                <a:spcPct val="110000"/>
              </a:lnSpc>
              <a:spcBef>
                <a:spcPct val="0"/>
              </a:spcBef>
              <a:spcAft>
                <a:spcPct val="0"/>
              </a:spcAft>
              <a:buNone/>
            </a:pPr>
            <a:endParaRPr lang="en-US" sz="2000" dirty="0" smtClean="0">
              <a:solidFill>
                <a:prstClr val="black"/>
              </a:solidFill>
              <a:latin typeface="Times New Roman" pitchFamily="18" charset="0"/>
              <a:cs typeface="Times New Roman" pitchFamily="18" charset="0"/>
            </a:endParaRPr>
          </a:p>
          <a:p>
            <a:pPr marL="0" lvl="0" indent="0" algn="ctr" fontAlgn="base">
              <a:lnSpc>
                <a:spcPct val="110000"/>
              </a:lnSpc>
              <a:spcBef>
                <a:spcPct val="0"/>
              </a:spcBef>
              <a:spcAft>
                <a:spcPct val="0"/>
              </a:spcAft>
              <a:buNone/>
            </a:pPr>
            <a:r>
              <a:rPr lang="en-US" sz="2400" i="1" dirty="0" smtClean="0">
                <a:solidFill>
                  <a:srgbClr val="CC00FF"/>
                </a:solidFill>
                <a:effectLst>
                  <a:outerShdw blurRad="38100" dist="38100" dir="2700000" algn="tl">
                    <a:srgbClr val="000000">
                      <a:alpha val="43137"/>
                    </a:srgbClr>
                  </a:outerShdw>
                </a:effectLst>
                <a:latin typeface="Times New Roman" pitchFamily="18" charset="0"/>
                <a:cs typeface="Times New Roman" pitchFamily="18" charset="0"/>
              </a:rPr>
              <a:t>The information derived from sample is used to draw conclusions about the population</a:t>
            </a:r>
            <a:r>
              <a:rPr lang="en-US" sz="2400" dirty="0" smtClean="0">
                <a:solidFill>
                  <a:srgbClr val="CC00FF"/>
                </a:solidFill>
                <a:effectLst>
                  <a:outerShdw blurRad="38100" dist="38100" dir="2700000" algn="tl">
                    <a:srgbClr val="000000">
                      <a:alpha val="43137"/>
                    </a:srgbClr>
                  </a:outerShdw>
                </a:effectLst>
                <a:latin typeface="Times New Roman" pitchFamily="18" charset="0"/>
                <a:cs typeface="Times New Roman" pitchFamily="18" charset="0"/>
              </a:rPr>
              <a:t>.</a:t>
            </a:r>
            <a:endParaRPr lang="en-US" sz="4400" dirty="0" smtClean="0">
              <a:solidFill>
                <a:srgbClr val="CC00FF"/>
              </a:solidFill>
              <a:effectLst>
                <a:outerShdw blurRad="38100" dist="38100" dir="2700000" algn="tl">
                  <a:srgbClr val="000000">
                    <a:alpha val="43137"/>
                  </a:srgbClr>
                </a:outerShdw>
              </a:effectLst>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662385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183" y="-76200"/>
            <a:ext cx="9144000" cy="6934200"/>
          </a:xfrm>
        </p:spPr>
        <p:txBody>
          <a:bodyPr>
            <a:noAutofit/>
          </a:bodyPr>
          <a:lstStyle/>
          <a:p>
            <a:pPr marL="0" lvl="0" indent="0" algn="just" fontAlgn="base">
              <a:spcBef>
                <a:spcPct val="0"/>
              </a:spcBef>
              <a:spcAft>
                <a:spcPct val="0"/>
              </a:spcAft>
              <a:buNone/>
            </a:pPr>
            <a:r>
              <a:rPr lang="en-US" sz="2400" b="1" u="sng" dirty="0" smtClean="0">
                <a:solidFill>
                  <a:srgbClr val="CC00FF"/>
                </a:solidFill>
                <a:effectLst>
                  <a:outerShdw blurRad="38100" dist="38100" dir="2700000" algn="tl">
                    <a:srgbClr val="000000">
                      <a:alpha val="43137"/>
                    </a:srgbClr>
                  </a:outerShdw>
                </a:effectLst>
                <a:latin typeface="Arial" charset="0"/>
              </a:rPr>
              <a:t>OBSERVATIONS, DATA</a:t>
            </a:r>
          </a:p>
          <a:p>
            <a:pPr marL="0" lvl="0" indent="0" algn="just" fontAlgn="base">
              <a:spcBef>
                <a:spcPct val="0"/>
              </a:spcBef>
              <a:spcAft>
                <a:spcPct val="0"/>
              </a:spcAft>
              <a:buNone/>
            </a:pPr>
            <a:endParaRPr lang="en-US" sz="2400" b="1" dirty="0">
              <a:solidFill>
                <a:prstClr val="black"/>
              </a:solidFill>
              <a:latin typeface="Arial" charset="0"/>
            </a:endParaRPr>
          </a:p>
          <a:p>
            <a:pPr marL="0" lvl="0" indent="0" algn="just" fontAlgn="base">
              <a:spcBef>
                <a:spcPct val="0"/>
              </a:spcBef>
              <a:spcAft>
                <a:spcPct val="0"/>
              </a:spcAft>
              <a:buNone/>
            </a:pPr>
            <a:r>
              <a:rPr lang="en-US" sz="2200" dirty="0">
                <a:solidFill>
                  <a:prstClr val="black"/>
                </a:solidFill>
                <a:latin typeface="Times New Roman" pitchFamily="18" charset="0"/>
                <a:cs typeface="Times New Roman" pitchFamily="18" charset="0"/>
              </a:rPr>
              <a:t>In statistics, an </a:t>
            </a:r>
            <a:r>
              <a:rPr lang="en-US" sz="2200"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observation often means any sort of numerically recording of information</a:t>
            </a:r>
            <a:r>
              <a:rPr lang="en-US" sz="2200" dirty="0">
                <a:solidFill>
                  <a:prstClr val="black"/>
                </a:solidFill>
                <a:latin typeface="Times New Roman" pitchFamily="18" charset="0"/>
                <a:cs typeface="Times New Roman" pitchFamily="18" charset="0"/>
              </a:rPr>
              <a:t>, whether it is a </a:t>
            </a:r>
            <a:r>
              <a:rPr lang="en-US" sz="2200"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physical measurement such as height, or weight</a:t>
            </a:r>
            <a:r>
              <a:rPr lang="en-US" sz="2200" dirty="0">
                <a:solidFill>
                  <a:prstClr val="black"/>
                </a:solidFill>
                <a:latin typeface="Times New Roman" pitchFamily="18" charset="0"/>
                <a:cs typeface="Times New Roman" pitchFamily="18" charset="0"/>
              </a:rPr>
              <a:t>; or a classification such as eye color, answer to a question such as yes or no.</a:t>
            </a:r>
          </a:p>
          <a:p>
            <a:pPr marL="0" lvl="0" indent="0" algn="just" fontAlgn="base">
              <a:spcBef>
                <a:spcPct val="0"/>
              </a:spcBef>
              <a:spcAft>
                <a:spcPct val="0"/>
              </a:spcAft>
              <a:buNone/>
            </a:pPr>
            <a:endParaRPr lang="en-US" sz="2200" dirty="0" smtClean="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200" dirty="0" smtClean="0">
                <a:solidFill>
                  <a:prstClr val="black"/>
                </a:solidFill>
                <a:latin typeface="Times New Roman" pitchFamily="18" charset="0"/>
                <a:cs typeface="Times New Roman" pitchFamily="18" charset="0"/>
              </a:rPr>
              <a:t> </a:t>
            </a:r>
            <a:r>
              <a:rPr lang="en-US" sz="2200" b="1" dirty="0">
                <a:solidFill>
                  <a:prstClr val="black"/>
                </a:solidFill>
                <a:latin typeface="Times New Roman" pitchFamily="18" charset="0"/>
                <a:cs typeface="Times New Roman" pitchFamily="18" charset="0"/>
              </a:rPr>
              <a:t>A collection of such observations may be termed as </a:t>
            </a:r>
            <a:r>
              <a:rPr lang="en-US" sz="2200" b="1" i="1" dirty="0">
                <a:solidFill>
                  <a:prstClr val="black"/>
                </a:solidFill>
                <a:latin typeface="Times New Roman" pitchFamily="18" charset="0"/>
                <a:cs typeface="Times New Roman" pitchFamily="18" charset="0"/>
              </a:rPr>
              <a:t>data</a:t>
            </a:r>
            <a:r>
              <a:rPr lang="en-US" sz="2200" b="1" dirty="0">
                <a:solidFill>
                  <a:prstClr val="black"/>
                </a:solidFill>
                <a:latin typeface="Times New Roman" pitchFamily="18" charset="0"/>
                <a:cs typeface="Times New Roman" pitchFamily="18" charset="0"/>
              </a:rPr>
              <a:t> or </a:t>
            </a:r>
            <a:r>
              <a:rPr lang="en-US" sz="2200" b="1" i="1" dirty="0">
                <a:solidFill>
                  <a:prstClr val="black"/>
                </a:solidFill>
                <a:latin typeface="Times New Roman" pitchFamily="18" charset="0"/>
                <a:cs typeface="Times New Roman" pitchFamily="18" charset="0"/>
              </a:rPr>
              <a:t>Statistical data</a:t>
            </a:r>
            <a:r>
              <a:rPr lang="en-US" sz="2200" i="1" dirty="0">
                <a:solidFill>
                  <a:prstClr val="black"/>
                </a:solidFill>
                <a:latin typeface="Times New Roman" pitchFamily="18" charset="0"/>
                <a:cs typeface="Times New Roman" pitchFamily="18" charset="0"/>
              </a:rPr>
              <a:t>. </a:t>
            </a:r>
            <a:endParaRPr lang="en-US" sz="2200" i="1" dirty="0" smtClean="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endParaRPr lang="en-US" sz="2200" i="1"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200" dirty="0" smtClean="0">
                <a:solidFill>
                  <a:prstClr val="black"/>
                </a:solidFill>
                <a:latin typeface="Times New Roman" pitchFamily="18" charset="0"/>
                <a:cs typeface="Times New Roman" pitchFamily="18" charset="0"/>
              </a:rPr>
              <a:t>Data </a:t>
            </a:r>
            <a:r>
              <a:rPr lang="en-US" sz="2200" dirty="0">
                <a:solidFill>
                  <a:prstClr val="black"/>
                </a:solidFill>
                <a:latin typeface="Times New Roman" pitchFamily="18" charset="0"/>
                <a:cs typeface="Times New Roman" pitchFamily="18" charset="0"/>
              </a:rPr>
              <a:t>may</a:t>
            </a:r>
            <a:r>
              <a:rPr lang="en-US" sz="2200" i="1" dirty="0">
                <a:solidFill>
                  <a:prstClr val="black"/>
                </a:solidFill>
                <a:latin typeface="Times New Roman" pitchFamily="18" charset="0"/>
                <a:cs typeface="Times New Roman" pitchFamily="18" charset="0"/>
              </a:rPr>
              <a:t> </a:t>
            </a:r>
            <a:r>
              <a:rPr lang="en-US" sz="2200" dirty="0">
                <a:solidFill>
                  <a:prstClr val="black"/>
                </a:solidFill>
                <a:latin typeface="Times New Roman" pitchFamily="18" charset="0"/>
                <a:cs typeface="Times New Roman" pitchFamily="18" charset="0"/>
              </a:rPr>
              <a:t>be classified into two types, viz.</a:t>
            </a:r>
            <a:r>
              <a:rPr lang="en-US" sz="2200" i="1" dirty="0">
                <a:solidFill>
                  <a:prstClr val="black"/>
                </a:solidFill>
                <a:latin typeface="Times New Roman" pitchFamily="18" charset="0"/>
                <a:cs typeface="Times New Roman" pitchFamily="18" charset="0"/>
              </a:rPr>
              <a:t> </a:t>
            </a:r>
            <a:r>
              <a:rPr lang="en-US" sz="2200" b="1" i="1" dirty="0">
                <a:solidFill>
                  <a:prstClr val="black"/>
                </a:solidFill>
                <a:latin typeface="Times New Roman" pitchFamily="18" charset="0"/>
                <a:cs typeface="Times New Roman" pitchFamily="18" charset="0"/>
              </a:rPr>
              <a:t>Qualitative data </a:t>
            </a:r>
            <a:r>
              <a:rPr lang="en-US" sz="2200" i="1" dirty="0">
                <a:solidFill>
                  <a:prstClr val="black"/>
                </a:solidFill>
                <a:latin typeface="Times New Roman" pitchFamily="18" charset="0"/>
                <a:cs typeface="Times New Roman" pitchFamily="18" charset="0"/>
              </a:rPr>
              <a:t>and </a:t>
            </a:r>
            <a:r>
              <a:rPr lang="en-US" sz="2200" b="1" i="1" dirty="0">
                <a:solidFill>
                  <a:prstClr val="black"/>
                </a:solidFill>
                <a:latin typeface="Times New Roman" pitchFamily="18" charset="0"/>
                <a:cs typeface="Times New Roman" pitchFamily="18" charset="0"/>
              </a:rPr>
              <a:t>Quantitative data.</a:t>
            </a:r>
          </a:p>
          <a:p>
            <a:pPr marL="0" lvl="0" indent="0" algn="just" fontAlgn="base">
              <a:spcBef>
                <a:spcPct val="0"/>
              </a:spcBef>
              <a:spcAft>
                <a:spcPct val="0"/>
              </a:spcAft>
              <a:buNone/>
            </a:pPr>
            <a:endParaRPr lang="en-US" sz="2200" i="1"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200" i="1" u="sng" dirty="0">
                <a:solidFill>
                  <a:srgbClr val="66FF33"/>
                </a:solidFill>
                <a:effectLst>
                  <a:outerShdw blurRad="38100" dist="38100" dir="2700000" algn="tl">
                    <a:srgbClr val="000000">
                      <a:alpha val="43137"/>
                    </a:srgbClr>
                  </a:outerShdw>
                </a:effectLst>
                <a:latin typeface="Times New Roman" pitchFamily="18" charset="0"/>
                <a:cs typeface="Times New Roman" pitchFamily="18" charset="0"/>
              </a:rPr>
              <a:t>Qualitative data. </a:t>
            </a:r>
            <a:r>
              <a:rPr lang="en-US" sz="2200" dirty="0">
                <a:solidFill>
                  <a:prstClr val="black"/>
                </a:solidFill>
                <a:latin typeface="Times New Roman" pitchFamily="18" charset="0"/>
                <a:cs typeface="Times New Roman" pitchFamily="18" charset="0"/>
              </a:rPr>
              <a:t>When the population is divided into </a:t>
            </a:r>
            <a:r>
              <a:rPr lang="en-US" sz="2200" b="1" dirty="0">
                <a:solidFill>
                  <a:srgbClr val="009900"/>
                </a:solidFill>
                <a:effectLst>
                  <a:outerShdw blurRad="38100" dist="38100" dir="2700000" algn="tl">
                    <a:srgbClr val="000000">
                      <a:alpha val="43137"/>
                    </a:srgbClr>
                  </a:outerShdw>
                </a:effectLst>
                <a:latin typeface="Times New Roman" pitchFamily="18" charset="0"/>
                <a:cs typeface="Times New Roman" pitchFamily="18" charset="0"/>
              </a:rPr>
              <a:t>several categories</a:t>
            </a:r>
            <a:r>
              <a:rPr lang="en-US" sz="2200" dirty="0">
                <a:solidFill>
                  <a:prstClr val="black"/>
                </a:solidFill>
                <a:latin typeface="Times New Roman" pitchFamily="18" charset="0"/>
                <a:cs typeface="Times New Roman" pitchFamily="18" charset="0"/>
              </a:rPr>
              <a:t>, it is possible to count the number of individuals in each category. These counts are the Qualitative data. For example, eye color, blood type, gender etc.</a:t>
            </a:r>
          </a:p>
          <a:p>
            <a:pPr marL="0" lvl="0" indent="0" algn="just" fontAlgn="base">
              <a:spcBef>
                <a:spcPct val="0"/>
              </a:spcBef>
              <a:spcAft>
                <a:spcPct val="0"/>
              </a:spcAft>
              <a:buNone/>
            </a:pPr>
            <a:endParaRPr lang="en-US" sz="2200"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200" b="1" i="1" u="sng" dirty="0">
                <a:solidFill>
                  <a:srgbClr val="9900FF"/>
                </a:solidFill>
                <a:latin typeface="Times New Roman" pitchFamily="18" charset="0"/>
                <a:cs typeface="Times New Roman" pitchFamily="18" charset="0"/>
              </a:rPr>
              <a:t>Quantitative data</a:t>
            </a:r>
            <a:r>
              <a:rPr lang="en-US" sz="2200" b="1" i="1" dirty="0">
                <a:solidFill>
                  <a:srgbClr val="9900FF"/>
                </a:solidFill>
                <a:latin typeface="Times New Roman" pitchFamily="18" charset="0"/>
                <a:cs typeface="Times New Roman" pitchFamily="18" charset="0"/>
              </a:rPr>
              <a:t>.</a:t>
            </a:r>
            <a:r>
              <a:rPr lang="en-US" sz="2200" i="1" dirty="0">
                <a:solidFill>
                  <a:srgbClr val="9900FF"/>
                </a:solidFill>
                <a:latin typeface="Times New Roman" pitchFamily="18" charset="0"/>
                <a:cs typeface="Times New Roman" pitchFamily="18" charset="0"/>
              </a:rPr>
              <a:t> </a:t>
            </a:r>
            <a:r>
              <a:rPr lang="en-US" sz="2200" dirty="0">
                <a:solidFill>
                  <a:prstClr val="black"/>
                </a:solidFill>
                <a:latin typeface="Times New Roman" pitchFamily="18" charset="0"/>
                <a:cs typeface="Times New Roman" pitchFamily="18" charset="0"/>
              </a:rPr>
              <a:t>Observations, which are measured quantitatively (numerical measurement) give rise to Quantitative data. such as height, or weight, temperature, time, cholesterol level, blood pressure, etc.</a:t>
            </a:r>
          </a:p>
          <a:p>
            <a:endParaRPr lang="en-US" sz="4000" dirty="0"/>
          </a:p>
        </p:txBody>
      </p:sp>
    </p:spTree>
    <p:extLst>
      <p:ext uri="{BB962C8B-B14F-4D97-AF65-F5344CB8AC3E}">
        <p14:creationId xmlns:p14="http://schemas.microsoft.com/office/powerpoint/2010/main" val="22390639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lvl="0" indent="0" algn="just" fontAlgn="base">
              <a:spcBef>
                <a:spcPct val="0"/>
              </a:spcBef>
              <a:spcAft>
                <a:spcPct val="0"/>
              </a:spcAft>
              <a:buNone/>
            </a:pPr>
            <a:r>
              <a:rPr lang="en-US" sz="2800" b="1" u="sng" dirty="0" smtClean="0">
                <a:solidFill>
                  <a:prstClr val="black"/>
                </a:solidFill>
                <a:latin typeface="Times New Roman" pitchFamily="18" charset="0"/>
                <a:cs typeface="Times New Roman" pitchFamily="18" charset="0"/>
              </a:rPr>
              <a:t>VARIABLES</a:t>
            </a:r>
            <a:endParaRPr lang="en-US" sz="2800" u="sng" dirty="0" smtClean="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endParaRPr lang="en-US" sz="2800"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400" dirty="0">
                <a:solidFill>
                  <a:prstClr val="black"/>
                </a:solidFill>
                <a:latin typeface="Times New Roman" pitchFamily="18" charset="0"/>
                <a:cs typeface="Times New Roman" pitchFamily="18" charset="0"/>
              </a:rPr>
              <a:t>A </a:t>
            </a:r>
            <a:r>
              <a:rPr lang="en-US" sz="2400" b="1"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characteristic that varies </a:t>
            </a:r>
            <a:r>
              <a:rPr lang="en-US" sz="2400" b="1"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with an individual </a:t>
            </a:r>
            <a:r>
              <a:rPr lang="en-US" sz="2400" dirty="0">
                <a:solidFill>
                  <a:prstClr val="black"/>
                </a:solidFill>
                <a:latin typeface="Times New Roman" pitchFamily="18" charset="0"/>
                <a:cs typeface="Times New Roman" pitchFamily="18" charset="0"/>
              </a:rPr>
              <a:t>or </a:t>
            </a:r>
            <a:r>
              <a:rPr lang="en-US" sz="2400" b="1"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an object</a:t>
            </a:r>
            <a:r>
              <a:rPr lang="en-US" sz="2400" dirty="0">
                <a:solidFill>
                  <a:prstClr val="black"/>
                </a:solidFill>
                <a:latin typeface="Times New Roman" pitchFamily="18" charset="0"/>
                <a:cs typeface="Times New Roman" pitchFamily="18" charset="0"/>
              </a:rPr>
              <a:t>, is called a </a:t>
            </a:r>
            <a:r>
              <a:rPr lang="en-US" sz="2400" i="1" dirty="0">
                <a:solidFill>
                  <a:prstClr val="black"/>
                </a:solidFill>
                <a:latin typeface="Times New Roman" pitchFamily="18" charset="0"/>
                <a:cs typeface="Times New Roman" pitchFamily="18" charset="0"/>
              </a:rPr>
              <a:t>variable.</a:t>
            </a:r>
            <a:r>
              <a:rPr lang="en-US" sz="2400" dirty="0">
                <a:solidFill>
                  <a:prstClr val="black"/>
                </a:solidFill>
                <a:latin typeface="Times New Roman" pitchFamily="18" charset="0"/>
                <a:cs typeface="Times New Roman" pitchFamily="18" charset="0"/>
              </a:rPr>
              <a:t> </a:t>
            </a:r>
            <a:endParaRPr lang="en-US" sz="2400" dirty="0" smtClean="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endParaRPr lang="en-US" sz="2400" dirty="0" smtClean="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400" dirty="0" smtClean="0">
                <a:solidFill>
                  <a:srgbClr val="FF0000"/>
                </a:solidFill>
                <a:latin typeface="Times New Roman" pitchFamily="18" charset="0"/>
                <a:cs typeface="Times New Roman" pitchFamily="18" charset="0"/>
              </a:rPr>
              <a:t>For </a:t>
            </a:r>
            <a:r>
              <a:rPr lang="en-US" sz="2400" dirty="0">
                <a:solidFill>
                  <a:srgbClr val="FF0000"/>
                </a:solidFill>
                <a:latin typeface="Times New Roman" pitchFamily="18" charset="0"/>
                <a:cs typeface="Times New Roman" pitchFamily="18" charset="0"/>
              </a:rPr>
              <a:t>example, </a:t>
            </a:r>
            <a:r>
              <a:rPr lang="en-US" sz="2400" dirty="0">
                <a:solidFill>
                  <a:prstClr val="black"/>
                </a:solidFill>
                <a:latin typeface="Times New Roman" pitchFamily="18" charset="0"/>
                <a:cs typeface="Times New Roman" pitchFamily="18" charset="0"/>
              </a:rPr>
              <a:t>age is a variable as it varies from person to person. Variables may be classified into Quantitative and Qualitative. </a:t>
            </a:r>
          </a:p>
          <a:p>
            <a:pPr marL="0" lvl="0" indent="0" algn="just" fontAlgn="base">
              <a:spcBef>
                <a:spcPct val="0"/>
              </a:spcBef>
              <a:spcAft>
                <a:spcPct val="0"/>
              </a:spcAft>
              <a:buNone/>
            </a:pPr>
            <a:endParaRPr lang="en-US" sz="2800"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400"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A variable is called </a:t>
            </a:r>
            <a:r>
              <a:rPr lang="en-US" sz="2400" b="1" u="sng" dirty="0">
                <a:solidFill>
                  <a:srgbClr val="CC00FF"/>
                </a:solidFill>
                <a:effectLst>
                  <a:outerShdw blurRad="38100" dist="38100" dir="2700000" algn="tl">
                    <a:srgbClr val="000000">
                      <a:alpha val="43137"/>
                    </a:srgbClr>
                  </a:outerShdw>
                </a:effectLst>
                <a:latin typeface="Times New Roman" pitchFamily="18" charset="0"/>
                <a:cs typeface="Times New Roman" pitchFamily="18" charset="0"/>
              </a:rPr>
              <a:t>qualitative variable </a:t>
            </a:r>
            <a:r>
              <a:rPr lang="en-US" sz="2400" dirty="0">
                <a:solidFill>
                  <a:prstClr val="black"/>
                </a:solidFill>
                <a:latin typeface="Times New Roman" pitchFamily="18" charset="0"/>
                <a:cs typeface="Times New Roman" pitchFamily="18" charset="0"/>
              </a:rPr>
              <a:t>if the characteristic </a:t>
            </a:r>
            <a:r>
              <a:rPr lang="en-US" sz="2400" dirty="0" smtClean="0">
                <a:solidFill>
                  <a:prstClr val="black"/>
                </a:solidFill>
                <a:latin typeface="Times New Roman" pitchFamily="18" charset="0"/>
                <a:cs typeface="Times New Roman" pitchFamily="18" charset="0"/>
              </a:rPr>
              <a:t>is            </a:t>
            </a:r>
            <a:r>
              <a:rPr lang="en-US" sz="24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non-numerical</a:t>
            </a:r>
            <a:r>
              <a:rPr lang="en-US" sz="2400" dirty="0">
                <a:solidFill>
                  <a:prstClr val="black"/>
                </a:solidFill>
                <a:latin typeface="Times New Roman" pitchFamily="18" charset="0"/>
                <a:cs typeface="Times New Roman" pitchFamily="18" charset="0"/>
              </a:rPr>
              <a:t> such as education, honesty, intelligence, poverty, satisfaction, etc.</a:t>
            </a:r>
          </a:p>
          <a:p>
            <a:pPr marL="0" lvl="0" indent="0" algn="just" fontAlgn="base">
              <a:spcBef>
                <a:spcPct val="0"/>
              </a:spcBef>
              <a:spcAft>
                <a:spcPct val="0"/>
              </a:spcAft>
              <a:buNone/>
            </a:pPr>
            <a:endParaRPr lang="en-US" sz="2400"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400"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A variable is called </a:t>
            </a:r>
            <a:r>
              <a:rPr lang="en-US" sz="2400" b="1" u="sng" dirty="0">
                <a:solidFill>
                  <a:srgbClr val="CC00FF"/>
                </a:solidFill>
                <a:effectLst>
                  <a:outerShdw blurRad="38100" dist="38100" dir="2700000" algn="tl">
                    <a:srgbClr val="000000">
                      <a:alpha val="43137"/>
                    </a:srgbClr>
                  </a:outerShdw>
                </a:effectLst>
                <a:latin typeface="Times New Roman" pitchFamily="18" charset="0"/>
                <a:cs typeface="Times New Roman" pitchFamily="18" charset="0"/>
              </a:rPr>
              <a:t>quantitative variable </a:t>
            </a:r>
            <a:r>
              <a:rPr lang="en-US" sz="2400" dirty="0">
                <a:solidFill>
                  <a:prstClr val="black"/>
                </a:solidFill>
                <a:latin typeface="Times New Roman" pitchFamily="18" charset="0"/>
                <a:cs typeface="Times New Roman" pitchFamily="18" charset="0"/>
              </a:rPr>
              <a:t>when a characteristic can be </a:t>
            </a:r>
            <a:r>
              <a:rPr lang="en-US" sz="24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expressed numerically</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400" dirty="0">
                <a:solidFill>
                  <a:prstClr val="black"/>
                </a:solidFill>
                <a:latin typeface="Times New Roman" pitchFamily="18" charset="0"/>
                <a:cs typeface="Times New Roman" pitchFamily="18" charset="0"/>
              </a:rPr>
              <a:t>such as age, weight, height, income or number of children.</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881900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4319"/>
            <a:ext cx="9144000" cy="6858000"/>
          </a:xfrm>
        </p:spPr>
        <p:txBody>
          <a:bodyPr>
            <a:normAutofit/>
          </a:bodyPr>
          <a:lstStyle/>
          <a:p>
            <a:pPr marL="0" lvl="0" indent="0" algn="ctr" fontAlgn="base">
              <a:spcBef>
                <a:spcPct val="0"/>
              </a:spcBef>
              <a:spcAft>
                <a:spcPct val="0"/>
              </a:spcAft>
              <a:buNone/>
            </a:pPr>
            <a:r>
              <a:rPr lang="en-US" sz="2800" b="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DISCRETE AND CONTINUOUS VARIABLES</a:t>
            </a:r>
          </a:p>
          <a:p>
            <a:pPr marL="0" lvl="0" indent="0" algn="just" fontAlgn="base">
              <a:spcBef>
                <a:spcPct val="0"/>
              </a:spcBef>
              <a:spcAft>
                <a:spcPct val="0"/>
              </a:spcAft>
              <a:buNone/>
            </a:pPr>
            <a:endParaRPr lang="en-US" sz="2400"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400" dirty="0">
                <a:solidFill>
                  <a:srgbClr val="FF0000"/>
                </a:solidFill>
                <a:latin typeface="Times New Roman" pitchFamily="18" charset="0"/>
                <a:cs typeface="Times New Roman" pitchFamily="18" charset="0"/>
              </a:rPr>
              <a:t>A </a:t>
            </a:r>
            <a:r>
              <a:rPr lang="en-US" sz="2400" b="1" dirty="0">
                <a:solidFill>
                  <a:srgbClr val="CC00FF"/>
                </a:solidFill>
                <a:effectLst>
                  <a:outerShdw blurRad="38100" dist="38100" dir="2700000" algn="tl">
                    <a:srgbClr val="000000">
                      <a:alpha val="43137"/>
                    </a:srgbClr>
                  </a:outerShdw>
                </a:effectLst>
                <a:latin typeface="Times New Roman" pitchFamily="18" charset="0"/>
                <a:cs typeface="Times New Roman" pitchFamily="18" charset="0"/>
              </a:rPr>
              <a:t>quantitative variable </a:t>
            </a:r>
            <a:r>
              <a:rPr lang="en-US" sz="2400" dirty="0">
                <a:solidFill>
                  <a:srgbClr val="FF0000"/>
                </a:solidFill>
                <a:latin typeface="Times New Roman" pitchFamily="18" charset="0"/>
                <a:cs typeface="Times New Roman" pitchFamily="18" charset="0"/>
              </a:rPr>
              <a:t>may be classified as </a:t>
            </a:r>
            <a:r>
              <a:rPr lang="en-US" sz="2400" b="1" dirty="0">
                <a:solidFill>
                  <a:srgbClr val="0066FF"/>
                </a:solidFill>
                <a:latin typeface="Times New Roman" pitchFamily="18" charset="0"/>
                <a:cs typeface="Times New Roman" pitchFamily="18" charset="0"/>
              </a:rPr>
              <a:t>discrete</a:t>
            </a:r>
            <a:r>
              <a:rPr lang="en-US" sz="2400" dirty="0">
                <a:solidFill>
                  <a:srgbClr val="FF0000"/>
                </a:solidFill>
                <a:latin typeface="Times New Roman" pitchFamily="18" charset="0"/>
                <a:cs typeface="Times New Roman" pitchFamily="18" charset="0"/>
              </a:rPr>
              <a:t> or </a:t>
            </a:r>
            <a:r>
              <a:rPr lang="en-US" sz="2400" dirty="0">
                <a:solidFill>
                  <a:srgbClr val="0066FF"/>
                </a:solidFill>
                <a:latin typeface="Times New Roman" pitchFamily="18" charset="0"/>
                <a:cs typeface="Times New Roman" pitchFamily="18" charset="0"/>
              </a:rPr>
              <a:t>continuous variable</a:t>
            </a:r>
            <a:r>
              <a:rPr lang="en-US" sz="2400" dirty="0" smtClean="0">
                <a:solidFill>
                  <a:srgbClr val="FF0000"/>
                </a:solidFill>
                <a:latin typeface="Times New Roman" pitchFamily="18" charset="0"/>
                <a:cs typeface="Times New Roman" pitchFamily="18" charset="0"/>
              </a:rPr>
              <a:t>.</a:t>
            </a:r>
            <a:endParaRPr lang="en-US" sz="2000"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endParaRPr lang="en-US" sz="2000" dirty="0" smtClean="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r>
              <a:rPr lang="en-US" sz="2000" dirty="0" smtClean="0">
                <a:solidFill>
                  <a:prstClr val="black"/>
                </a:solidFill>
                <a:latin typeface="Times New Roman" pitchFamily="18" charset="0"/>
                <a:cs typeface="Times New Roman" pitchFamily="18" charset="0"/>
              </a:rPr>
              <a:t>A </a:t>
            </a:r>
            <a:r>
              <a:rPr lang="en-US" sz="2400" dirty="0" smtClean="0">
                <a:solidFill>
                  <a:srgbClr val="0066FF"/>
                </a:solidFill>
                <a:effectLst>
                  <a:outerShdw blurRad="38100" dist="38100" dir="2700000" algn="tl">
                    <a:srgbClr val="000000">
                      <a:alpha val="43137"/>
                    </a:srgbClr>
                  </a:outerShdw>
                </a:effectLst>
                <a:latin typeface="Times New Roman" pitchFamily="18" charset="0"/>
                <a:cs typeface="Times New Roman" pitchFamily="18" charset="0"/>
              </a:rPr>
              <a:t>DISCRETE VARIABLE</a:t>
            </a:r>
            <a:r>
              <a:rPr lang="en-US" sz="2000" dirty="0" smtClean="0">
                <a:solidFill>
                  <a:prstClr val="black"/>
                </a:solidFill>
                <a:latin typeface="Times New Roman" pitchFamily="18" charset="0"/>
                <a:cs typeface="Times New Roman" pitchFamily="18" charset="0"/>
              </a:rPr>
              <a:t> is </a:t>
            </a:r>
            <a:r>
              <a:rPr lang="en-US" sz="2000" dirty="0">
                <a:solidFill>
                  <a:prstClr val="black"/>
                </a:solidFill>
                <a:latin typeface="Times New Roman" pitchFamily="18" charset="0"/>
                <a:cs typeface="Times New Roman" pitchFamily="18" charset="0"/>
              </a:rPr>
              <a:t>one that can </a:t>
            </a:r>
            <a:r>
              <a:rPr lang="en-US" sz="2000" dirty="0">
                <a:latin typeface="Times New Roman" pitchFamily="18" charset="0"/>
                <a:cs typeface="Times New Roman" pitchFamily="18" charset="0"/>
              </a:rPr>
              <a:t>only take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certain fixed integer </a:t>
            </a:r>
            <a:r>
              <a:rPr lang="en-US" sz="2000" dirty="0">
                <a:latin typeface="Times New Roman" pitchFamily="18" charset="0"/>
                <a:cs typeface="Times New Roman" pitchFamily="18" charset="0"/>
              </a:rPr>
              <a:t>numerical values </a:t>
            </a:r>
            <a:r>
              <a:rPr lang="en-US" sz="2400" b="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or </a:t>
            </a:r>
            <a:r>
              <a:rPr lang="en-US" sz="2400" b="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whole </a:t>
            </a:r>
            <a:r>
              <a:rPr lang="en-US" sz="2400" b="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numbers</a:t>
            </a:r>
            <a:r>
              <a:rPr lang="en-US" sz="2000" dirty="0" smtClean="0">
                <a:solidFill>
                  <a:prstClr val="black"/>
                </a:solidFill>
                <a:latin typeface="Times New Roman" pitchFamily="18" charset="0"/>
                <a:cs typeface="Times New Roman" pitchFamily="18" charset="0"/>
              </a:rPr>
              <a:t>. </a:t>
            </a:r>
          </a:p>
          <a:p>
            <a:pPr marL="0" lvl="0" indent="0" algn="just" fontAlgn="base">
              <a:spcBef>
                <a:spcPct val="0"/>
              </a:spcBef>
              <a:spcAft>
                <a:spcPct val="0"/>
              </a:spcAft>
              <a:buNone/>
            </a:pPr>
            <a:r>
              <a:rPr lang="en-US" sz="2400" b="1" i="1" dirty="0" smtClean="0">
                <a:solidFill>
                  <a:srgbClr val="CC00FF"/>
                </a:solidFill>
                <a:effectLst>
                  <a:outerShdw blurRad="38100" dist="38100" dir="2700000" algn="tl">
                    <a:srgbClr val="000000">
                      <a:alpha val="43137"/>
                    </a:srgbClr>
                  </a:outerShdw>
                </a:effectLst>
                <a:latin typeface="Times New Roman" pitchFamily="18" charset="0"/>
                <a:cs typeface="Times New Roman" pitchFamily="18" charset="0"/>
              </a:rPr>
              <a:t>Discrete </a:t>
            </a:r>
            <a:r>
              <a:rPr lang="en-US" sz="2400" b="1" i="1" dirty="0">
                <a:solidFill>
                  <a:srgbClr val="CC00FF"/>
                </a:solidFill>
                <a:effectLst>
                  <a:outerShdw blurRad="38100" dist="38100" dir="2700000" algn="tl">
                    <a:srgbClr val="000000">
                      <a:alpha val="43137"/>
                    </a:srgbClr>
                  </a:outerShdw>
                </a:effectLst>
                <a:latin typeface="Times New Roman" pitchFamily="18" charset="0"/>
                <a:cs typeface="Times New Roman" pitchFamily="18" charset="0"/>
              </a:rPr>
              <a:t>data</a:t>
            </a:r>
            <a:r>
              <a:rPr lang="en-US" sz="2400" b="1" dirty="0">
                <a:solidFill>
                  <a:srgbClr val="CC00FF"/>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400" dirty="0">
                <a:latin typeface="Times New Roman" pitchFamily="18" charset="0"/>
                <a:cs typeface="Times New Roman" pitchFamily="18" charset="0"/>
              </a:rPr>
              <a:t>are numerical measurements that </a:t>
            </a:r>
            <a:r>
              <a:rPr lang="en-US" sz="2400" b="1" u="sng" dirty="0">
                <a:latin typeface="Times New Roman" pitchFamily="18" charset="0"/>
                <a:cs typeface="Times New Roman" pitchFamily="18" charset="0"/>
              </a:rPr>
              <a:t>arise from a process of counting</a:t>
            </a:r>
            <a:r>
              <a:rPr lang="en-US" sz="2400" dirty="0">
                <a:latin typeface="Times New Roman" pitchFamily="18" charset="0"/>
                <a:cs typeface="Times New Roman" pitchFamily="18" charset="0"/>
              </a:rPr>
              <a:t>, </a:t>
            </a:r>
            <a:r>
              <a:rPr lang="en-US" sz="2400" dirty="0" smtClean="0">
                <a:solidFill>
                  <a:prstClr val="black"/>
                </a:solidFill>
                <a:latin typeface="Times New Roman" pitchFamily="18" charset="0"/>
                <a:cs typeface="Times New Roman" pitchFamily="18" charset="0"/>
              </a:rPr>
              <a:t>such </a:t>
            </a:r>
            <a:r>
              <a:rPr lang="en-US" sz="2400" dirty="0">
                <a:solidFill>
                  <a:prstClr val="black"/>
                </a:solidFill>
                <a:latin typeface="Times New Roman" pitchFamily="18" charset="0"/>
                <a:cs typeface="Times New Roman" pitchFamily="18" charset="0"/>
              </a:rPr>
              <a:t>as the </a:t>
            </a:r>
            <a:r>
              <a:rPr lang="en-US" sz="2400" i="1" u="sng" dirty="0">
                <a:solidFill>
                  <a:srgbClr val="009900"/>
                </a:solidFill>
                <a:effectLst>
                  <a:outerShdw blurRad="38100" dist="38100" dir="2700000" algn="tl">
                    <a:srgbClr val="000000">
                      <a:alpha val="43137"/>
                    </a:srgbClr>
                  </a:outerShdw>
                </a:effectLst>
                <a:latin typeface="Times New Roman" pitchFamily="18" charset="0"/>
                <a:cs typeface="Times New Roman" pitchFamily="18" charset="0"/>
              </a:rPr>
              <a:t>number of children in a family</a:t>
            </a:r>
            <a:r>
              <a:rPr lang="en-US" sz="2400" dirty="0">
                <a:solidFill>
                  <a:prstClr val="black"/>
                </a:solidFill>
                <a:latin typeface="Times New Roman" pitchFamily="18" charset="0"/>
                <a:cs typeface="Times New Roman" pitchFamily="18" charset="0"/>
              </a:rPr>
              <a:t>, </a:t>
            </a:r>
            <a:r>
              <a:rPr lang="en-US" sz="2400" i="1" u="sng"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number of rooms in a house</a:t>
            </a:r>
            <a:r>
              <a:rPr lang="en-US" sz="2400" dirty="0">
                <a:solidFill>
                  <a:prstClr val="black"/>
                </a:solidFill>
                <a:latin typeface="Times New Roman" pitchFamily="18" charset="0"/>
                <a:cs typeface="Times New Roman" pitchFamily="18" charset="0"/>
              </a:rPr>
              <a:t>, </a:t>
            </a:r>
            <a:r>
              <a:rPr lang="en-US" sz="2400" b="1" i="1" u="sng" dirty="0" smtClean="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number </a:t>
            </a:r>
            <a:r>
              <a:rPr lang="en-US" sz="2400" b="1" i="1" u="sng" dirty="0">
                <a:solidFill>
                  <a:prstClr val="black"/>
                </a:solidFill>
                <a:effectLst>
                  <a:outerShdw blurRad="38100" dist="38100" dir="2700000" algn="tl">
                    <a:srgbClr val="000000">
                      <a:alpha val="43137"/>
                    </a:srgbClr>
                  </a:outerShdw>
                </a:effectLst>
                <a:latin typeface="Times New Roman" pitchFamily="18" charset="0"/>
                <a:cs typeface="Times New Roman" pitchFamily="18" charset="0"/>
              </a:rPr>
              <a:t>of road accidents</a:t>
            </a:r>
            <a:r>
              <a:rPr lang="en-US" sz="2400" dirty="0">
                <a:solidFill>
                  <a:prstClr val="black"/>
                </a:solidFill>
                <a:latin typeface="Times New Roman" pitchFamily="18" charset="0"/>
                <a:cs typeface="Times New Roman" pitchFamily="18" charset="0"/>
              </a:rPr>
              <a:t>, </a:t>
            </a:r>
            <a:r>
              <a:rPr lang="en-US" sz="2400" b="1" u="sng" dirty="0">
                <a:solidFill>
                  <a:prstClr val="black"/>
                </a:solidFill>
                <a:latin typeface="Times New Roman" pitchFamily="18" charset="0"/>
                <a:cs typeface="Times New Roman" pitchFamily="18" charset="0"/>
              </a:rPr>
              <a:t>births</a:t>
            </a:r>
            <a:r>
              <a:rPr lang="en-US" sz="2400" dirty="0">
                <a:solidFill>
                  <a:prstClr val="black"/>
                </a:solidFill>
                <a:latin typeface="Times New Roman" pitchFamily="18" charset="0"/>
                <a:cs typeface="Times New Roman" pitchFamily="18" charset="0"/>
              </a:rPr>
              <a:t>, </a:t>
            </a:r>
            <a:r>
              <a:rPr lang="en-US" sz="2400" b="1" u="sng" dirty="0">
                <a:solidFill>
                  <a:prstClr val="black"/>
                </a:solidFill>
                <a:latin typeface="Times New Roman" pitchFamily="18" charset="0"/>
                <a:cs typeface="Times New Roman" pitchFamily="18" charset="0"/>
              </a:rPr>
              <a:t>deaths</a:t>
            </a:r>
            <a:r>
              <a:rPr lang="en-US" sz="2400" dirty="0">
                <a:solidFill>
                  <a:prstClr val="black"/>
                </a:solidFill>
                <a:latin typeface="Times New Roman" pitchFamily="18" charset="0"/>
                <a:cs typeface="Times New Roman" pitchFamily="18" charset="0"/>
              </a:rPr>
              <a:t> etc.</a:t>
            </a:r>
          </a:p>
          <a:p>
            <a:pPr marL="0" lvl="0" indent="0" algn="just" fontAlgn="base">
              <a:spcBef>
                <a:spcPct val="0"/>
              </a:spcBef>
              <a:spcAft>
                <a:spcPct val="0"/>
              </a:spcAft>
              <a:buNone/>
            </a:pPr>
            <a:endParaRPr lang="en-US" sz="2400" dirty="0">
              <a:solidFill>
                <a:prstClr val="black"/>
              </a:solidFill>
              <a:latin typeface="Times New Roman" pitchFamily="18" charset="0"/>
              <a:cs typeface="Times New Roman" pitchFamily="18" charset="0"/>
            </a:endParaRPr>
          </a:p>
          <a:p>
            <a:pPr marL="0" lvl="0" indent="0" algn="just" fontAlgn="base">
              <a:spcBef>
                <a:spcPct val="0"/>
              </a:spcBef>
              <a:spcAft>
                <a:spcPct val="0"/>
              </a:spcAft>
              <a:buNone/>
            </a:pPr>
            <a:endParaRPr lang="en-US" sz="2000" dirty="0" smtClean="0">
              <a:solidFill>
                <a:prstClr val="black"/>
              </a:solidFill>
              <a:latin typeface="Times New Roman" pitchFamily="18" charset="0"/>
              <a:cs typeface="Times New Roman" pitchFamily="18" charset="0"/>
            </a:endParaRPr>
          </a:p>
          <a:p>
            <a:pPr marL="0" lvl="0" indent="0" algn="just">
              <a:buNone/>
            </a:pPr>
            <a:r>
              <a:rPr lang="en-US" sz="2400" b="1"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CONTINUOUS VARIABLES — </a:t>
            </a:r>
            <a:r>
              <a:rPr lang="en-US" sz="2400" b="1" u="sng" dirty="0" smtClean="0">
                <a:latin typeface="Times New Roman" pitchFamily="18" charset="0"/>
                <a:cs typeface="Times New Roman" pitchFamily="18" charset="0"/>
              </a:rPr>
              <a:t>which</a:t>
            </a:r>
            <a:r>
              <a:rPr lang="en-US" sz="2400" b="1" u="sng"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sz="2400" b="1" u="sng" dirty="0">
                <a:latin typeface="Times New Roman" pitchFamily="18" charset="0"/>
                <a:cs typeface="Times New Roman" pitchFamily="18" charset="0"/>
              </a:rPr>
              <a:t>can take any numerical value</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en-US" sz="2400" i="1" u="sng" dirty="0" smtClean="0">
                <a:effectLst>
                  <a:outerShdw blurRad="38100" dist="38100" dir="2700000" algn="tl">
                    <a:srgbClr val="000000">
                      <a:alpha val="43137"/>
                    </a:srgbClr>
                  </a:outerShdw>
                </a:effectLst>
                <a:latin typeface="Times New Roman" pitchFamily="18" charset="0"/>
                <a:cs typeface="Times New Roman" pitchFamily="18" charset="0"/>
              </a:rPr>
              <a:t>examples</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Measurement of height, weight, length, in </a:t>
            </a:r>
            <a:r>
              <a:rPr lang="en-US" sz="2400" dirty="0" smtClean="0">
                <a:latin typeface="Times New Roman" pitchFamily="18" charset="0"/>
                <a:cs typeface="Times New Roman" pitchFamily="18" charset="0"/>
              </a:rPr>
              <a:t>centimeters / inches</a:t>
            </a:r>
            <a:r>
              <a:rPr lang="en-US" sz="2400" dirty="0">
                <a:latin typeface="Times New Roman" pitchFamily="18" charset="0"/>
                <a:cs typeface="Times New Roman" pitchFamily="18" charset="0"/>
              </a:rPr>
              <a:t>, grams/kilograms are a </a:t>
            </a:r>
            <a:r>
              <a:rPr lang="en-US" sz="2400" dirty="0" smtClean="0">
                <a:latin typeface="Times New Roman" pitchFamily="18" charset="0"/>
                <a:cs typeface="Times New Roman" pitchFamily="18" charset="0"/>
              </a:rPr>
              <a:t>of </a:t>
            </a:r>
            <a:r>
              <a:rPr lang="en-US" sz="2400" dirty="0">
                <a:latin typeface="Times New Roman" pitchFamily="18" charset="0"/>
                <a:cs typeface="Times New Roman" pitchFamily="18" charset="0"/>
              </a:rPr>
              <a:t>continuous variables</a:t>
            </a:r>
            <a:r>
              <a:rPr lang="en-US" sz="2400" dirty="0" smtClean="0">
                <a:latin typeface="Times New Roman" pitchFamily="18" charset="0"/>
                <a:cs typeface="Times New Roman" pitchFamily="18" charset="0"/>
              </a:rPr>
              <a:t>.</a:t>
            </a:r>
            <a:endParaRPr lang="en-US" sz="2400" dirty="0">
              <a:solidFill>
                <a:prstClr val="black"/>
              </a:solidFill>
              <a:latin typeface="Times New Roman" pitchFamily="18" charset="0"/>
              <a:cs typeface="Times New Roman" pitchFamily="18" charset="0"/>
            </a:endParaRPr>
          </a:p>
          <a:p>
            <a:r>
              <a:rPr lang="en-US" sz="2400" i="1" dirty="0">
                <a:latin typeface="Times New Roman" pitchFamily="18" charset="0"/>
                <a:cs typeface="Times New Roman" pitchFamily="18" charset="0"/>
              </a:rPr>
              <a:t>continuous data</a:t>
            </a:r>
            <a:r>
              <a:rPr lang="en-US" sz="2400" dirty="0">
                <a:latin typeface="Times New Roman" pitchFamily="18" charset="0"/>
                <a:cs typeface="Times New Roman" pitchFamily="18" charset="0"/>
              </a:rPr>
              <a:t> are numerical measurements that arise from a process of measuring.</a:t>
            </a:r>
          </a:p>
          <a:p>
            <a:pPr algn="just"/>
            <a:endParaRPr lang="en-US" sz="4000" dirty="0"/>
          </a:p>
        </p:txBody>
      </p:sp>
    </p:spTree>
    <p:extLst>
      <p:ext uri="{BB962C8B-B14F-4D97-AF65-F5344CB8AC3E}">
        <p14:creationId xmlns:p14="http://schemas.microsoft.com/office/powerpoint/2010/main" val="6619751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g-c02t001" descr="Table 2.1"/>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762000"/>
            <a:ext cx="8305800" cy="5181599"/>
          </a:xfrm>
          <a:prstGeom prst="rect">
            <a:avLst/>
          </a:prstGeom>
          <a:noFill/>
          <a:ln>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lvl="0" indent="0" algn="just" fontAlgn="base">
              <a:spcBef>
                <a:spcPct val="0"/>
              </a:spcBef>
              <a:spcAft>
                <a:spcPct val="0"/>
              </a:spcAft>
              <a:buNone/>
            </a:pPr>
            <a:r>
              <a:rPr lang="en-US" sz="2400" b="1" dirty="0">
                <a:solidFill>
                  <a:srgbClr val="FF0000"/>
                </a:solidFill>
                <a:latin typeface="Arial" charset="0"/>
                <a:ea typeface="+mj-ea"/>
                <a:cs typeface="+mj-cs"/>
              </a:rPr>
              <a:t>Role of Statistics in Business Management</a:t>
            </a:r>
            <a:endParaRPr lang="en-US" sz="2000" dirty="0" smtClean="0">
              <a:solidFill>
                <a:prstClr val="black"/>
              </a:solidFill>
            </a:endParaRPr>
          </a:p>
          <a:p>
            <a:pPr marL="0" lvl="0" indent="0" algn="just" fontAlgn="base">
              <a:spcBef>
                <a:spcPct val="0"/>
              </a:spcBef>
              <a:spcAft>
                <a:spcPct val="0"/>
              </a:spcAft>
              <a:buNone/>
            </a:pPr>
            <a:r>
              <a:rPr lang="en-US" sz="2000" dirty="0" smtClean="0">
                <a:solidFill>
                  <a:prstClr val="black"/>
                </a:solidFill>
              </a:rPr>
              <a:t>Certain </a:t>
            </a:r>
            <a:r>
              <a:rPr lang="en-US" sz="2000" dirty="0">
                <a:solidFill>
                  <a:prstClr val="black"/>
                </a:solidFill>
              </a:rPr>
              <a:t>activities of a typical organization where Statistics plays an important role in their execution are discussed </a:t>
            </a:r>
            <a:r>
              <a:rPr lang="en-US" sz="2000" dirty="0" smtClean="0">
                <a:solidFill>
                  <a:prstClr val="black"/>
                </a:solidFill>
              </a:rPr>
              <a:t>below</a:t>
            </a:r>
            <a:endParaRPr lang="en-US" sz="2400" dirty="0">
              <a:solidFill>
                <a:prstClr val="black"/>
              </a:solidFill>
            </a:endParaRPr>
          </a:p>
          <a:p>
            <a:pPr marL="0" lvl="0" indent="0" algn="just" fontAlgn="base">
              <a:spcBef>
                <a:spcPct val="0"/>
              </a:spcBef>
              <a:spcAft>
                <a:spcPct val="0"/>
              </a:spcAft>
              <a:buNone/>
            </a:pPr>
            <a:endParaRPr lang="en-US" sz="2400" dirty="0">
              <a:solidFill>
                <a:prstClr val="black"/>
              </a:solidFill>
              <a:cs typeface="Arial" charset="0"/>
            </a:endParaRPr>
          </a:p>
          <a:p>
            <a:pPr marL="0" lvl="0" indent="0" algn="just" fontAlgn="base">
              <a:spcBef>
                <a:spcPct val="0"/>
              </a:spcBef>
              <a:spcAft>
                <a:spcPct val="0"/>
              </a:spcAft>
              <a:buNone/>
            </a:pPr>
            <a:r>
              <a:rPr lang="en-US" sz="2400" b="1" dirty="0">
                <a:solidFill>
                  <a:prstClr val="black"/>
                </a:solidFill>
              </a:rPr>
              <a:t>Marketing </a:t>
            </a:r>
          </a:p>
          <a:p>
            <a:pPr marL="0" lvl="0" indent="0" algn="just" fontAlgn="base">
              <a:spcBef>
                <a:spcPct val="0"/>
              </a:spcBef>
              <a:spcAft>
                <a:spcPct val="0"/>
              </a:spcAft>
              <a:buNone/>
            </a:pPr>
            <a:r>
              <a:rPr lang="en-US" sz="2400" b="1" dirty="0">
                <a:solidFill>
                  <a:prstClr val="black"/>
                </a:solidFill>
              </a:rPr>
              <a:t> </a:t>
            </a:r>
          </a:p>
          <a:p>
            <a:pPr marL="0" lvl="0" indent="0" algn="just" fontAlgn="base">
              <a:spcBef>
                <a:spcPct val="0"/>
              </a:spcBef>
              <a:spcAft>
                <a:spcPct val="0"/>
              </a:spcAft>
              <a:buNone/>
            </a:pPr>
            <a:r>
              <a:rPr lang="en-US" sz="2000" dirty="0">
                <a:solidFill>
                  <a:prstClr val="black"/>
                </a:solidFill>
              </a:rPr>
              <a:t>Before a product is launched, the market research team of an organization, through a pilot survey, makes use of various techniques of statistics to analyze data on population, purchasing power, habits of the customers, competitors, pricing etc. such studies reveal the possible market potential for the product to be launched.</a:t>
            </a:r>
          </a:p>
          <a:p>
            <a:pPr marL="0" lvl="0" indent="0" algn="just" fontAlgn="base">
              <a:spcBef>
                <a:spcPct val="0"/>
              </a:spcBef>
              <a:spcAft>
                <a:spcPct val="0"/>
              </a:spcAft>
              <a:buNone/>
            </a:pPr>
            <a:r>
              <a:rPr lang="en-US" sz="2000" dirty="0">
                <a:solidFill>
                  <a:prstClr val="black"/>
                </a:solidFill>
              </a:rPr>
              <a:t>    </a:t>
            </a:r>
            <a:endParaRPr lang="en-US" sz="2000" dirty="0" smtClean="0">
              <a:solidFill>
                <a:prstClr val="black"/>
              </a:solidFill>
            </a:endParaRPr>
          </a:p>
          <a:p>
            <a:pPr marL="0" lvl="0" indent="0" algn="just" fontAlgn="base">
              <a:spcBef>
                <a:spcPct val="0"/>
              </a:spcBef>
              <a:spcAft>
                <a:spcPct val="0"/>
              </a:spcAft>
              <a:buNone/>
            </a:pPr>
            <a:endParaRPr lang="en-US" sz="2400" b="1" dirty="0">
              <a:solidFill>
                <a:prstClr val="black"/>
              </a:solidFill>
            </a:endParaRPr>
          </a:p>
          <a:p>
            <a:pPr marL="0" lvl="0" indent="0" algn="just" fontAlgn="base">
              <a:spcBef>
                <a:spcPct val="0"/>
              </a:spcBef>
              <a:spcAft>
                <a:spcPct val="0"/>
              </a:spcAft>
              <a:buNone/>
            </a:pPr>
            <a:r>
              <a:rPr lang="en-US" sz="2400" b="1" dirty="0">
                <a:solidFill>
                  <a:prstClr val="black"/>
                </a:solidFill>
              </a:rPr>
              <a:t>Production</a:t>
            </a:r>
          </a:p>
          <a:p>
            <a:pPr marL="0" lvl="0" indent="0" algn="just" fontAlgn="base">
              <a:spcBef>
                <a:spcPct val="0"/>
              </a:spcBef>
              <a:spcAft>
                <a:spcPct val="0"/>
              </a:spcAft>
              <a:buNone/>
            </a:pPr>
            <a:endParaRPr lang="en-US" sz="2400" b="1" dirty="0">
              <a:solidFill>
                <a:prstClr val="black"/>
              </a:solidFill>
            </a:endParaRPr>
          </a:p>
          <a:p>
            <a:pPr marL="0" lvl="0" indent="0" algn="just" fontAlgn="base">
              <a:spcBef>
                <a:spcPct val="0"/>
              </a:spcBef>
              <a:spcAft>
                <a:spcPct val="0"/>
              </a:spcAft>
              <a:buNone/>
            </a:pPr>
            <a:r>
              <a:rPr lang="en-US" sz="2000" dirty="0">
                <a:solidFill>
                  <a:prstClr val="black"/>
                </a:solidFill>
              </a:rPr>
              <a:t>Statistical methods are used to carry out R&amp;D programs for the improvement in the quality of the existing products and setting quality control standards for new ones. Decisions about the quantity and time of either self-manufactu</a:t>
            </a:r>
            <a:r>
              <a:rPr lang="en-US" sz="2000" dirty="0">
                <a:solidFill>
                  <a:prstClr val="black"/>
                </a:solidFill>
                <a:latin typeface="Arial" charset="0"/>
              </a:rPr>
              <a:t>ring or buying from out-side are based on statistically analyzed data</a:t>
            </a:r>
            <a:endParaRPr lang="en-US" dirty="0"/>
          </a:p>
        </p:txBody>
      </p:sp>
    </p:spTree>
    <p:extLst>
      <p:ext uri="{BB962C8B-B14F-4D97-AF65-F5344CB8AC3E}">
        <p14:creationId xmlns:p14="http://schemas.microsoft.com/office/powerpoint/2010/main" val="1773552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lvl="0" indent="0" fontAlgn="base">
              <a:spcBef>
                <a:spcPct val="0"/>
              </a:spcBef>
              <a:spcAft>
                <a:spcPct val="0"/>
              </a:spcAft>
              <a:buNone/>
            </a:pPr>
            <a:r>
              <a:rPr lang="en-US" sz="2400" b="1" dirty="0">
                <a:solidFill>
                  <a:prstClr val="black"/>
                </a:solidFill>
              </a:rPr>
              <a:t>Finance</a:t>
            </a:r>
          </a:p>
          <a:p>
            <a:pPr marL="0" lvl="0" indent="0" fontAlgn="base">
              <a:spcBef>
                <a:spcPct val="0"/>
              </a:spcBef>
              <a:spcAft>
                <a:spcPct val="0"/>
              </a:spcAft>
              <a:buNone/>
            </a:pPr>
            <a:endParaRPr lang="en-US" sz="2400" b="1" dirty="0">
              <a:solidFill>
                <a:prstClr val="black"/>
              </a:solidFill>
            </a:endParaRPr>
          </a:p>
          <a:p>
            <a:pPr marL="0" lvl="0" indent="0" algn="just" fontAlgn="base">
              <a:spcBef>
                <a:spcPct val="0"/>
              </a:spcBef>
              <a:spcAft>
                <a:spcPct val="0"/>
              </a:spcAft>
              <a:buNone/>
            </a:pPr>
            <a:r>
              <a:rPr lang="en-US" sz="2000" dirty="0">
                <a:solidFill>
                  <a:prstClr val="black"/>
                </a:solidFill>
              </a:rPr>
              <a:t>A statistical study through correlation analysis of profits and dividends helps to predict and decide probable dividends for future years. Statistics, applied to analysis of data, on assets and liabilities and income and expenditure helps to ascertain the financial results of various operations.</a:t>
            </a:r>
          </a:p>
          <a:p>
            <a:pPr marL="0" lvl="0" indent="0" algn="just" fontAlgn="base">
              <a:spcBef>
                <a:spcPct val="0"/>
              </a:spcBef>
              <a:spcAft>
                <a:spcPct val="0"/>
              </a:spcAft>
              <a:buNone/>
            </a:pPr>
            <a:r>
              <a:rPr lang="en-US" sz="2000" dirty="0">
                <a:solidFill>
                  <a:prstClr val="black"/>
                </a:solidFill>
              </a:rPr>
              <a:t>Financial forecasts, break-even analysis, investment decisions under uncertainty all involve the application of relevant statistical methods for analysis.</a:t>
            </a:r>
          </a:p>
          <a:p>
            <a:pPr marL="0" lvl="0" indent="0" fontAlgn="base">
              <a:spcBef>
                <a:spcPct val="0"/>
              </a:spcBef>
              <a:spcAft>
                <a:spcPct val="0"/>
              </a:spcAft>
              <a:buNone/>
            </a:pPr>
            <a:endParaRPr lang="en-US" sz="2400" b="1" dirty="0">
              <a:solidFill>
                <a:prstClr val="black"/>
              </a:solidFill>
            </a:endParaRPr>
          </a:p>
          <a:p>
            <a:pPr marL="0" lvl="0" indent="0" fontAlgn="base">
              <a:spcBef>
                <a:spcPct val="0"/>
              </a:spcBef>
              <a:spcAft>
                <a:spcPct val="0"/>
              </a:spcAft>
              <a:buNone/>
            </a:pPr>
            <a:r>
              <a:rPr lang="en-US" sz="2400" b="1" dirty="0">
                <a:solidFill>
                  <a:prstClr val="black"/>
                </a:solidFill>
              </a:rPr>
              <a:t>Personnel</a:t>
            </a:r>
          </a:p>
          <a:p>
            <a:pPr marL="0" lvl="0" indent="0" fontAlgn="base">
              <a:spcBef>
                <a:spcPct val="0"/>
              </a:spcBef>
              <a:spcAft>
                <a:spcPct val="0"/>
              </a:spcAft>
              <a:buNone/>
            </a:pPr>
            <a:endParaRPr lang="en-US" sz="2400" b="1" dirty="0">
              <a:solidFill>
                <a:prstClr val="black"/>
              </a:solidFill>
            </a:endParaRPr>
          </a:p>
          <a:p>
            <a:pPr marL="0" lvl="0" indent="0" algn="just" fontAlgn="base">
              <a:spcBef>
                <a:spcPct val="0"/>
              </a:spcBef>
              <a:spcAft>
                <a:spcPct val="0"/>
              </a:spcAft>
              <a:buNone/>
            </a:pPr>
            <a:r>
              <a:rPr lang="en-US" sz="2000" dirty="0">
                <a:solidFill>
                  <a:prstClr val="black"/>
                </a:solidFill>
                <a:cs typeface="Arial" charset="0"/>
              </a:rPr>
              <a:t>In the process of manpower planning, a personnel department makes statistical studies of wage rates, incentive plans, cost of living, labor turnover rates, employment trends, accidents rates, performance appraisal and training and development programs. Employer-employee relationships are studied by statistically analyzing various factors such as wages, grievances handling, welfare, delegation of authority, education and housing facilities, and training and development. </a:t>
            </a:r>
            <a:endParaRPr lang="en-US" sz="2400" dirty="0">
              <a:solidFill>
                <a:prstClr val="black"/>
              </a:solidFill>
              <a:cs typeface="Arial" charset="0"/>
            </a:endParaRPr>
          </a:p>
          <a:p>
            <a:endParaRPr lang="en-US" sz="4000" dirty="0"/>
          </a:p>
        </p:txBody>
      </p:sp>
    </p:spTree>
    <p:extLst>
      <p:ext uri="{BB962C8B-B14F-4D97-AF65-F5344CB8AC3E}">
        <p14:creationId xmlns:p14="http://schemas.microsoft.com/office/powerpoint/2010/main" val="2194132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067800" cy="563562"/>
          </a:xfrm>
        </p:spPr>
        <p:txBody>
          <a:bodyPr>
            <a:noAutofit/>
          </a:bodyPr>
          <a:lstStyle/>
          <a:p>
            <a:r>
              <a:rPr lang="en-US" sz="2400" b="1" dirty="0" smtClean="0">
                <a:effectLst>
                  <a:outerShdw blurRad="38100" dist="38100" dir="2700000" algn="tl">
                    <a:srgbClr val="000000">
                      <a:alpha val="43137"/>
                    </a:srgbClr>
                  </a:outerShdw>
                </a:effectLst>
              </a:rPr>
              <a:t>MEANING OF MUTUALLY EXCLUSIVE AND COLLECTIVELY EXHAUSTIVE</a:t>
            </a:r>
            <a:endParaRPr lang="en-US" sz="2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609600"/>
            <a:ext cx="9067800" cy="6248400"/>
          </a:xfrm>
        </p:spPr>
        <p:txBody>
          <a:bodyPr>
            <a:normAutofit fontScale="55000" lnSpcReduction="20000"/>
          </a:bodyPr>
          <a:lstStyle/>
          <a:p>
            <a:pPr algn="just">
              <a:lnSpc>
                <a:spcPct val="120000"/>
              </a:lnSpc>
            </a:pPr>
            <a:r>
              <a:rPr lang="en-US" dirty="0">
                <a:solidFill>
                  <a:srgbClr val="0066FF"/>
                </a:solidFill>
                <a:latin typeface="Times New Roman" pitchFamily="18" charset="0"/>
                <a:cs typeface="Times New Roman" pitchFamily="18" charset="0"/>
              </a:rPr>
              <a:t>The literal definition of “mutual” means “held in common,” </a:t>
            </a:r>
            <a:r>
              <a:rPr lang="en-US" dirty="0">
                <a:latin typeface="Times New Roman" pitchFamily="18" charset="0"/>
                <a:cs typeface="Times New Roman" pitchFamily="18" charset="0"/>
              </a:rPr>
              <a:t>and </a:t>
            </a:r>
            <a:r>
              <a:rPr lang="en-US" dirty="0">
                <a:solidFill>
                  <a:srgbClr val="00B050"/>
                </a:solidFill>
                <a:latin typeface="Times New Roman" pitchFamily="18" charset="0"/>
                <a:cs typeface="Times New Roman" pitchFamily="18" charset="0"/>
              </a:rPr>
              <a:t>the literal definition of “exclusive is “restricted to.”</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a:lnSpc>
                <a:spcPct val="120000"/>
              </a:lnSpc>
            </a:pPr>
            <a:r>
              <a:rPr lang="en-US" dirty="0" smtClean="0">
                <a:latin typeface="Times New Roman" pitchFamily="18" charset="0"/>
                <a:cs typeface="Times New Roman" pitchFamily="18" charset="0"/>
              </a:rPr>
              <a:t>So</a:t>
            </a:r>
            <a:r>
              <a:rPr lang="en-US" dirty="0">
                <a:latin typeface="Times New Roman" pitchFamily="18" charset="0"/>
                <a:cs typeface="Times New Roman" pitchFamily="18" charset="0"/>
              </a:rPr>
              <a:t>, “mutually exclusive” means that each individual piece, part or object of a group of “something” (whatever that “something” is) should be considered individually, even though the collective group of events have commonalities or common elements</a:t>
            </a:r>
            <a:r>
              <a:rPr lang="en-US" dirty="0" smtClean="0">
                <a:latin typeface="Times New Roman" pitchFamily="18" charset="0"/>
                <a:cs typeface="Times New Roman" pitchFamily="18" charset="0"/>
              </a:rPr>
              <a:t>.</a:t>
            </a:r>
          </a:p>
          <a:p>
            <a:pPr algn="just">
              <a:lnSpc>
                <a:spcPct val="120000"/>
              </a:lnSpc>
            </a:pPr>
            <a:endParaRPr lang="en-US" dirty="0">
              <a:latin typeface="Times New Roman" pitchFamily="18" charset="0"/>
              <a:cs typeface="Times New Roman" pitchFamily="18" charset="0"/>
            </a:endParaRPr>
          </a:p>
          <a:p>
            <a:pPr algn="just">
              <a:lnSpc>
                <a:spcPct val="120000"/>
              </a:lnSpc>
            </a:pPr>
            <a:r>
              <a:rPr lang="en-US" dirty="0">
                <a:solidFill>
                  <a:srgbClr val="0066FF"/>
                </a:solidFill>
                <a:latin typeface="Times New Roman" pitchFamily="18" charset="0"/>
                <a:cs typeface="Times New Roman" pitchFamily="18" charset="0"/>
              </a:rPr>
              <a:t>Whereas “collectively” means the entire collection or group of “something” should be thought of together or as one item</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a:lnSpc>
                <a:spcPct val="120000"/>
              </a:lnSpc>
            </a:pPr>
            <a:r>
              <a:rPr lang="en-US" dirty="0" smtClean="0">
                <a:solidFill>
                  <a:srgbClr val="00B050"/>
                </a:solidFill>
                <a:latin typeface="Times New Roman" pitchFamily="18" charset="0"/>
                <a:cs typeface="Times New Roman" pitchFamily="18" charset="0"/>
              </a:rPr>
              <a:t>“</a:t>
            </a:r>
            <a:r>
              <a:rPr lang="en-US" dirty="0">
                <a:solidFill>
                  <a:srgbClr val="00B050"/>
                </a:solidFill>
                <a:latin typeface="Times New Roman" pitchFamily="18" charset="0"/>
                <a:cs typeface="Times New Roman" pitchFamily="18" charset="0"/>
              </a:rPr>
              <a:t>Exhaustive” means “all elements of something such that nothing is left out, fully comprehensive, complete.”</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a:lnSpc>
                <a:spcPct val="120000"/>
              </a:lnSpc>
            </a:pPr>
            <a:r>
              <a:rPr lang="en-US" dirty="0" smtClean="0">
                <a:latin typeface="Times New Roman" pitchFamily="18" charset="0"/>
                <a:cs typeface="Times New Roman" pitchFamily="18" charset="0"/>
              </a:rPr>
              <a:t>So</a:t>
            </a:r>
            <a:r>
              <a:rPr lang="en-US" dirty="0">
                <a:latin typeface="Times New Roman" pitchFamily="18" charset="0"/>
                <a:cs typeface="Times New Roman" pitchFamily="18" charset="0"/>
              </a:rPr>
              <a:t>, “collectively exhaustive events” means the collection group of events is complete such that no event is left out or no other event can be added to the group of events</a:t>
            </a:r>
            <a:r>
              <a:rPr lang="en-US" dirty="0" smtClean="0">
                <a:latin typeface="Times New Roman" pitchFamily="18" charset="0"/>
                <a:cs typeface="Times New Roman" pitchFamily="18" charset="0"/>
              </a:rPr>
              <a:t>.</a:t>
            </a:r>
          </a:p>
          <a:p>
            <a:pPr algn="just">
              <a:lnSpc>
                <a:spcPct val="120000"/>
              </a:lnSpc>
            </a:pPr>
            <a:endParaRPr lang="en-US" dirty="0" smtClean="0">
              <a:latin typeface="Times New Roman" pitchFamily="18" charset="0"/>
              <a:cs typeface="Times New Roman" pitchFamily="18" charset="0"/>
            </a:endParaRPr>
          </a:p>
          <a:p>
            <a:pPr algn="just">
              <a:lnSpc>
                <a:spcPct val="120000"/>
              </a:lnSpc>
            </a:pPr>
            <a:r>
              <a:rPr lang="en-US" dirty="0" smtClean="0">
                <a:solidFill>
                  <a:srgbClr val="FF0000"/>
                </a:solidFill>
                <a:latin typeface="Times New Roman" pitchFamily="18" charset="0"/>
                <a:cs typeface="Times New Roman" pitchFamily="18" charset="0"/>
              </a:rPr>
              <a:t>EXAMPLE: The </a:t>
            </a:r>
            <a:r>
              <a:rPr lang="en-US" dirty="0">
                <a:solidFill>
                  <a:srgbClr val="FF0000"/>
                </a:solidFill>
                <a:latin typeface="Times New Roman" pitchFamily="18" charset="0"/>
                <a:cs typeface="Times New Roman" pitchFamily="18" charset="0"/>
              </a:rPr>
              <a:t>set of all possible die rolls is both </a:t>
            </a:r>
            <a:r>
              <a:rPr lang="en-US" b="1"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mutually exclusive </a:t>
            </a:r>
            <a:r>
              <a:rPr lang="en-US" b="1" u="dbl" dirty="0" smtClean="0">
                <a:solidFill>
                  <a:srgbClr val="CC00FF"/>
                </a:solidFill>
                <a:uFill>
                  <a:solidFill>
                    <a:srgbClr val="0066FF"/>
                  </a:solidFill>
                </a:uFill>
                <a:latin typeface="Times New Roman" pitchFamily="18" charset="0"/>
                <a:cs typeface="Times New Roman" pitchFamily="18" charset="0"/>
              </a:rPr>
              <a:t>(DIE HAVING 6 FACES – 1….6  HELD IN COMMON but Restricted to (EXCLUSIVELY ONE OUT COME))</a:t>
            </a:r>
            <a:r>
              <a:rPr lang="en-US" dirty="0" smtClean="0">
                <a:solidFill>
                  <a:srgbClr val="FF0000"/>
                </a:solidFill>
                <a:latin typeface="Times New Roman" pitchFamily="18" charset="0"/>
                <a:cs typeface="Times New Roman" pitchFamily="18" charset="0"/>
              </a:rPr>
              <a:t> and </a:t>
            </a:r>
          </a:p>
          <a:p>
            <a:pPr algn="just">
              <a:lnSpc>
                <a:spcPct val="120000"/>
              </a:lnSpc>
            </a:pPr>
            <a:r>
              <a:rPr lang="en-US" b="1" dirty="0" smtClean="0">
                <a:solidFill>
                  <a:srgbClr val="0033CC"/>
                </a:solidFill>
                <a:latin typeface="Times New Roman" pitchFamily="18" charset="0"/>
                <a:cs typeface="Times New Roman" pitchFamily="18" charset="0"/>
              </a:rPr>
              <a:t>collectively</a:t>
            </a:r>
            <a:r>
              <a:rPr lang="en-US" dirty="0" smtClean="0">
                <a:solidFill>
                  <a:srgbClr val="FF0000"/>
                </a:solidFill>
                <a:latin typeface="Times New Roman" pitchFamily="18" charset="0"/>
                <a:cs typeface="Times New Roman" pitchFamily="18" charset="0"/>
              </a:rPr>
              <a:t> ( DIE WHICH IS OF 6 FACES IS THOUGHT OF AN ONE ITEM - WHILE SPINNING EVERY FACE OR EVERY NUMBER HAS EQUAL CHANCE – NO FACE IS LEFT OUT ) </a:t>
            </a:r>
            <a:r>
              <a:rPr lang="en-US" b="1" dirty="0" smtClean="0">
                <a:solidFill>
                  <a:srgbClr val="0033CC"/>
                </a:solidFill>
                <a:latin typeface="Times New Roman" pitchFamily="18" charset="0"/>
                <a:cs typeface="Times New Roman" pitchFamily="18" charset="0"/>
              </a:rPr>
              <a:t>exhaustive</a:t>
            </a:r>
            <a:r>
              <a:rPr lang="en-US" b="1" dirty="0" smtClean="0">
                <a:solidFill>
                  <a:srgbClr val="FF0000"/>
                </a:solidFill>
                <a:effectLst>
                  <a:outerShdw blurRad="38100" dist="38100" dir="2700000" algn="tl">
                    <a:srgbClr val="000000">
                      <a:alpha val="43137"/>
                    </a:srgbClr>
                  </a:outerShdw>
                </a:effectLst>
              </a:rPr>
              <a:t>.  </a:t>
            </a:r>
            <a:endParaRPr lang="en-US"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155219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243"/>
            <a:ext cx="9144000" cy="6778557"/>
          </a:xfrm>
        </p:spPr>
        <p:txBody>
          <a:bodyPr>
            <a:normAutofit fontScale="92500" lnSpcReduction="20000"/>
          </a:bodyPr>
          <a:lstStyle/>
          <a:p>
            <a:pPr algn="just"/>
            <a:r>
              <a:rPr lang="en-US" b="1" u="sng" dirty="0">
                <a:solidFill>
                  <a:srgbClr val="0033CC"/>
                </a:solidFill>
                <a:effectLst>
                  <a:outerShdw blurRad="38100" dist="38100" dir="2700000" algn="tl">
                    <a:srgbClr val="000000">
                      <a:alpha val="43137"/>
                    </a:srgbClr>
                  </a:outerShdw>
                </a:effectLst>
              </a:rPr>
              <a:t>Statisticians are in demand</a:t>
            </a:r>
            <a:r>
              <a:rPr lang="en-US" b="1" dirty="0">
                <a:solidFill>
                  <a:srgbClr val="0033CC"/>
                </a:solidFill>
                <a:effectLst>
                  <a:outerShdw blurRad="38100" dist="38100" dir="2700000" algn="tl">
                    <a:srgbClr val="000000">
                      <a:alpha val="43137"/>
                    </a:srgbClr>
                  </a:outerShdw>
                </a:effectLst>
              </a:rPr>
              <a:t> </a:t>
            </a:r>
            <a:r>
              <a:rPr lang="en-US" dirty="0"/>
              <a:t>in all sectors of society, ranging from government, to business and industry, to universities and research labs. </a:t>
            </a:r>
            <a:endParaRPr lang="en-US" dirty="0" smtClean="0"/>
          </a:p>
          <a:p>
            <a:pPr algn="just"/>
            <a:endParaRPr lang="en-US" dirty="0"/>
          </a:p>
          <a:p>
            <a:pPr algn="just"/>
            <a:r>
              <a:rPr lang="en-US" dirty="0" smtClean="0"/>
              <a:t>As </a:t>
            </a:r>
            <a:r>
              <a:rPr lang="en-US" dirty="0"/>
              <a:t>a statistician you can be involved with the development of new lifesaving drugs in a pharmaceutical, the shaping of public policy in government, the planning of market strategy in business, or the management of investment portfolios in finance. </a:t>
            </a:r>
            <a:endParaRPr lang="en-US" dirty="0" smtClean="0"/>
          </a:p>
          <a:p>
            <a:pPr algn="just"/>
            <a:endParaRPr lang="en-US" dirty="0"/>
          </a:p>
          <a:p>
            <a:pPr algn="just"/>
            <a:r>
              <a:rPr lang="en-US" dirty="0" smtClean="0"/>
              <a:t>Not </a:t>
            </a:r>
            <a:r>
              <a:rPr lang="en-US" dirty="0"/>
              <a:t>only are there a wide variety of exciting opportunities for statisticians, but careers in statistics generally can be quite lucrative, with statisticians of sufficient experience often able to earn six-figure salaries.</a:t>
            </a:r>
          </a:p>
        </p:txBody>
      </p:sp>
    </p:spTree>
    <p:extLst>
      <p:ext uri="{BB962C8B-B14F-4D97-AF65-F5344CB8AC3E}">
        <p14:creationId xmlns:p14="http://schemas.microsoft.com/office/powerpoint/2010/main" val="8619520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349"/>
            <a:ext cx="9144000" cy="6858000"/>
          </a:xfrm>
        </p:spPr>
        <p:txBody>
          <a:bodyPr>
            <a:normAutofit fontScale="70000" lnSpcReduction="20000"/>
          </a:bodyPr>
          <a:lstStyle/>
          <a:p>
            <a:pPr algn="ctr">
              <a:buNone/>
            </a:pPr>
            <a:r>
              <a:rPr lang="en-US" sz="5100" b="1" cap="all" dirty="0">
                <a:solidFill>
                  <a:srgbClr val="FF0000"/>
                </a:solidFill>
                <a:latin typeface="Times New Roman" pitchFamily="18" charset="0"/>
                <a:cs typeface="Times New Roman" pitchFamily="18" charset="0"/>
              </a:rPr>
              <a:t>CLASSIFICATION OF </a:t>
            </a:r>
            <a:r>
              <a:rPr lang="en-US" sz="5100" b="1" cap="all" dirty="0" smtClean="0">
                <a:solidFill>
                  <a:srgbClr val="FF0000"/>
                </a:solidFill>
                <a:latin typeface="Times New Roman" pitchFamily="18" charset="0"/>
                <a:cs typeface="Times New Roman" pitchFamily="18" charset="0"/>
              </a:rPr>
              <a:t>DATA</a:t>
            </a:r>
          </a:p>
          <a:p>
            <a:pPr algn="just">
              <a:buNone/>
            </a:pPr>
            <a:endParaRPr lang="en-US" sz="4000" b="1" dirty="0">
              <a:solidFill>
                <a:srgbClr val="FF0000"/>
              </a:solidFill>
              <a:latin typeface="Times New Roman" pitchFamily="18" charset="0"/>
              <a:cs typeface="Times New Roman" pitchFamily="18" charset="0"/>
            </a:endParaRPr>
          </a:p>
          <a:p>
            <a:pPr algn="just">
              <a:lnSpc>
                <a:spcPct val="120000"/>
              </a:lnSpc>
            </a:pPr>
            <a:r>
              <a:rPr lang="en-US" sz="4200" dirty="0">
                <a:latin typeface="Times New Roman" pitchFamily="18" charset="0"/>
                <a:cs typeface="Times New Roman" pitchFamily="18" charset="0"/>
              </a:rPr>
              <a:t>Classification of data is the </a:t>
            </a:r>
            <a:r>
              <a:rPr lang="en-US" sz="4200" b="1" u="sng" dirty="0">
                <a:latin typeface="Times New Roman" pitchFamily="18" charset="0"/>
                <a:cs typeface="Times New Roman" pitchFamily="18" charset="0"/>
              </a:rPr>
              <a:t>process of arranging data in groups/classes</a:t>
            </a:r>
            <a:r>
              <a:rPr lang="en-US" sz="4200" dirty="0">
                <a:latin typeface="Times New Roman" pitchFamily="18" charset="0"/>
                <a:cs typeface="Times New Roman" pitchFamily="18" charset="0"/>
              </a:rPr>
              <a:t> on the </a:t>
            </a:r>
            <a:r>
              <a:rPr lang="en-US" sz="4200" b="1" u="sng" dirty="0">
                <a:solidFill>
                  <a:srgbClr val="009900"/>
                </a:solidFill>
                <a:effectLst>
                  <a:outerShdw blurRad="38100" dist="38100" dir="2700000" algn="tl">
                    <a:srgbClr val="000000">
                      <a:alpha val="43137"/>
                    </a:srgbClr>
                  </a:outerShdw>
                </a:effectLst>
                <a:latin typeface="Times New Roman" pitchFamily="18" charset="0"/>
                <a:cs typeface="Times New Roman" pitchFamily="18" charset="0"/>
              </a:rPr>
              <a:t>basis of certain properties</a:t>
            </a:r>
            <a:r>
              <a:rPr lang="en-US" sz="4200" dirty="0">
                <a:latin typeface="Times New Roman" pitchFamily="18" charset="0"/>
                <a:cs typeface="Times New Roman" pitchFamily="18" charset="0"/>
              </a:rPr>
              <a:t>. </a:t>
            </a:r>
            <a:r>
              <a:rPr lang="en-US" sz="4200" i="1" dirty="0">
                <a:effectLst>
                  <a:outerShdw blurRad="38100" dist="38100" dir="2700000" algn="tl">
                    <a:srgbClr val="000000">
                      <a:alpha val="43137"/>
                    </a:srgbClr>
                  </a:outerShdw>
                </a:effectLst>
                <a:latin typeface="Times New Roman" pitchFamily="18" charset="0"/>
                <a:cs typeface="Times New Roman" pitchFamily="18" charset="0"/>
              </a:rPr>
              <a:t>The classification of statistical data </a:t>
            </a:r>
            <a:r>
              <a:rPr lang="en-US" sz="4200"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serves the following </a:t>
            </a:r>
            <a:r>
              <a:rPr lang="en-US" sz="4200"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purpose</a:t>
            </a:r>
            <a:r>
              <a:rPr lang="en-US" sz="4200" i="1" dirty="0" smtClean="0">
                <a:effectLst>
                  <a:outerShdw blurRad="38100" dist="38100" dir="2700000" algn="tl">
                    <a:srgbClr val="000000">
                      <a:alpha val="43137"/>
                    </a:srgbClr>
                  </a:outerShdw>
                </a:effectLst>
                <a:latin typeface="Times New Roman" pitchFamily="18" charset="0"/>
                <a:cs typeface="Times New Roman" pitchFamily="18" charset="0"/>
              </a:rPr>
              <a:t>:</a:t>
            </a:r>
            <a:endParaRPr lang="en-US" sz="4200" dirty="0">
              <a:latin typeface="Times New Roman" pitchFamily="18" charset="0"/>
              <a:cs typeface="Times New Roman" pitchFamily="18" charset="0"/>
            </a:endParaRPr>
          </a:p>
          <a:p>
            <a:pPr lvl="0" algn="just">
              <a:lnSpc>
                <a:spcPct val="120000"/>
              </a:lnSpc>
            </a:pPr>
            <a:r>
              <a:rPr lang="en-US" sz="4200" dirty="0">
                <a:latin typeface="Times New Roman" pitchFamily="18" charset="0"/>
                <a:cs typeface="Times New Roman" pitchFamily="18" charset="0"/>
              </a:rPr>
              <a:t>It </a:t>
            </a:r>
            <a:r>
              <a:rPr lang="en-US" sz="4200" b="1" u="sng"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condenses</a:t>
            </a:r>
            <a:r>
              <a:rPr lang="en-US" sz="4200" dirty="0">
                <a:latin typeface="Times New Roman" pitchFamily="18" charset="0"/>
                <a:cs typeface="Times New Roman" pitchFamily="18" charset="0"/>
              </a:rPr>
              <a:t> the raw data into a form </a:t>
            </a:r>
            <a:r>
              <a:rPr lang="en-US" sz="4200" dirty="0" smtClean="0">
                <a:latin typeface="Times New Roman" pitchFamily="18" charset="0"/>
                <a:cs typeface="Times New Roman" pitchFamily="18" charset="0"/>
              </a:rPr>
              <a:t>which is suitable </a:t>
            </a:r>
            <a:r>
              <a:rPr lang="en-US" sz="4200" dirty="0">
                <a:latin typeface="Times New Roman" pitchFamily="18" charset="0"/>
                <a:cs typeface="Times New Roman" pitchFamily="18" charset="0"/>
              </a:rPr>
              <a:t>for statistical analysis</a:t>
            </a:r>
            <a:r>
              <a:rPr lang="en-US" sz="4200" dirty="0" smtClean="0">
                <a:latin typeface="Times New Roman" pitchFamily="18" charset="0"/>
                <a:cs typeface="Times New Roman" pitchFamily="18" charset="0"/>
              </a:rPr>
              <a:t>.</a:t>
            </a:r>
            <a:endParaRPr lang="en-US" sz="4200" dirty="0">
              <a:latin typeface="Times New Roman" pitchFamily="18" charset="0"/>
              <a:cs typeface="Times New Roman" pitchFamily="18" charset="0"/>
            </a:endParaRPr>
          </a:p>
          <a:p>
            <a:pPr lvl="0" algn="just">
              <a:lnSpc>
                <a:spcPct val="120000"/>
              </a:lnSpc>
            </a:pPr>
            <a:r>
              <a:rPr lang="en-US" sz="4200" dirty="0">
                <a:latin typeface="Times New Roman" pitchFamily="18" charset="0"/>
                <a:cs typeface="Times New Roman" pitchFamily="18" charset="0"/>
              </a:rPr>
              <a:t>It </a:t>
            </a:r>
            <a:r>
              <a:rPr lang="en-US" sz="4200" b="1" u="sng"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facilitates comparisons </a:t>
            </a:r>
            <a:r>
              <a:rPr lang="en-US" sz="4200" dirty="0">
                <a:latin typeface="Times New Roman" pitchFamily="18" charset="0"/>
                <a:cs typeface="Times New Roman" pitchFamily="18" charset="0"/>
              </a:rPr>
              <a:t>and in drawing inferences from the data. </a:t>
            </a:r>
            <a:endParaRPr lang="en-US" sz="4200" b="1" dirty="0" smtClean="0">
              <a:latin typeface="Times New Roman" pitchFamily="18" charset="0"/>
              <a:cs typeface="Times New Roman" pitchFamily="18" charset="0"/>
            </a:endParaRPr>
          </a:p>
          <a:p>
            <a:pPr algn="just">
              <a:lnSpc>
                <a:spcPct val="120000"/>
              </a:lnSpc>
            </a:pPr>
            <a:r>
              <a:rPr lang="en-US" sz="4200" b="1" dirty="0" smtClean="0">
                <a:latin typeface="Times New Roman" pitchFamily="18" charset="0"/>
                <a:cs typeface="Times New Roman" pitchFamily="18" charset="0"/>
              </a:rPr>
              <a:t>For </a:t>
            </a:r>
            <a:r>
              <a:rPr lang="en-US" sz="4200" b="1" dirty="0">
                <a:latin typeface="Times New Roman" pitchFamily="18" charset="0"/>
                <a:cs typeface="Times New Roman" pitchFamily="18" charset="0"/>
              </a:rPr>
              <a:t>example, </a:t>
            </a:r>
            <a:r>
              <a:rPr lang="en-US" sz="4200" i="1" dirty="0">
                <a:solidFill>
                  <a:srgbClr val="CC00FF"/>
                </a:solidFill>
                <a:latin typeface="Times New Roman" pitchFamily="18" charset="0"/>
                <a:cs typeface="Times New Roman" pitchFamily="18" charset="0"/>
              </a:rPr>
              <a:t>if university students in a particular course are divided according to </a:t>
            </a:r>
            <a:r>
              <a:rPr lang="en-US" sz="4200" i="1" dirty="0" smtClean="0">
                <a:solidFill>
                  <a:srgbClr val="CC00FF"/>
                </a:solidFill>
                <a:latin typeface="Times New Roman" pitchFamily="18" charset="0"/>
                <a:cs typeface="Times New Roman" pitchFamily="18" charset="0"/>
              </a:rPr>
              <a:t>sex that is male or female, </a:t>
            </a:r>
            <a:r>
              <a:rPr lang="en-US" sz="4200" i="1" dirty="0">
                <a:solidFill>
                  <a:srgbClr val="CC00FF"/>
                </a:solidFill>
                <a:latin typeface="Times New Roman" pitchFamily="18" charset="0"/>
                <a:cs typeface="Times New Roman" pitchFamily="18" charset="0"/>
              </a:rPr>
              <a:t>their results can be compared</a:t>
            </a:r>
            <a:r>
              <a:rPr lang="en-US" sz="4200" i="1" dirty="0" smtClean="0">
                <a:solidFill>
                  <a:srgbClr val="CC00FF"/>
                </a:solidFill>
                <a:latin typeface="Times New Roman" pitchFamily="18" charset="0"/>
                <a:cs typeface="Times New Roman" pitchFamily="18" charset="0"/>
              </a:rPr>
              <a:t>.</a:t>
            </a:r>
          </a:p>
          <a:p>
            <a:pPr marL="0" lvl="0" indent="0" algn="just">
              <a:lnSpc>
                <a:spcPct val="120000"/>
              </a:lnSpc>
              <a:buNone/>
            </a:pPr>
            <a:endParaRPr lang="en-US" sz="4200" dirty="0">
              <a:latin typeface="Times New Roman" pitchFamily="18" charset="0"/>
              <a:cs typeface="Times New Roman" pitchFamily="18" charset="0"/>
            </a:endParaRPr>
          </a:p>
          <a:p>
            <a:pPr>
              <a:lnSpc>
                <a:spcPct val="120000"/>
              </a:lnSpc>
            </a:pPr>
            <a:endParaRPr lang="en-US" sz="4200" dirty="0"/>
          </a:p>
        </p:txBody>
      </p:sp>
    </p:spTree>
    <p:extLst>
      <p:ext uri="{BB962C8B-B14F-4D97-AF65-F5344CB8AC3E}">
        <p14:creationId xmlns:p14="http://schemas.microsoft.com/office/powerpoint/2010/main" val="403813600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05600"/>
          </a:xfrm>
        </p:spPr>
        <p:txBody>
          <a:bodyPr>
            <a:normAutofit fontScale="40000" lnSpcReduction="20000"/>
          </a:bodyPr>
          <a:lstStyle/>
          <a:p>
            <a:pPr marL="0" indent="0" algn="just">
              <a:buNone/>
            </a:pPr>
            <a:r>
              <a:rPr lang="en-US" sz="5900" b="1" dirty="0">
                <a:solidFill>
                  <a:srgbClr val="0066FF"/>
                </a:solidFill>
              </a:rPr>
              <a:t>Basis of Classification</a:t>
            </a:r>
          </a:p>
          <a:p>
            <a:pPr marL="0" indent="0" algn="just">
              <a:buNone/>
            </a:pPr>
            <a:endParaRPr lang="en-US" sz="5000" dirty="0" smtClean="0">
              <a:solidFill>
                <a:srgbClr val="FF0000"/>
              </a:solidFill>
            </a:endParaRPr>
          </a:p>
          <a:p>
            <a:pPr marL="0" indent="0" algn="just">
              <a:buNone/>
            </a:pPr>
            <a:r>
              <a:rPr lang="en-US" sz="5000" dirty="0" smtClean="0">
                <a:solidFill>
                  <a:srgbClr val="FF0000"/>
                </a:solidFill>
              </a:rPr>
              <a:t>Generally</a:t>
            </a:r>
            <a:r>
              <a:rPr lang="en-US" sz="5000" dirty="0">
                <a:solidFill>
                  <a:srgbClr val="FF0000"/>
                </a:solidFill>
              </a:rPr>
              <a:t>, data are classified on the basis of the </a:t>
            </a:r>
            <a:r>
              <a:rPr lang="en-US" sz="5000" b="1" dirty="0">
                <a:solidFill>
                  <a:srgbClr val="0066FF"/>
                </a:solidFill>
              </a:rPr>
              <a:t>following four bases</a:t>
            </a:r>
            <a:r>
              <a:rPr lang="en-US" sz="4200" b="1" dirty="0">
                <a:solidFill>
                  <a:srgbClr val="0066FF"/>
                </a:solidFill>
              </a:rPr>
              <a:t>:</a:t>
            </a:r>
          </a:p>
          <a:p>
            <a:pPr marL="0" indent="0" algn="just">
              <a:buNone/>
            </a:pPr>
            <a:endParaRPr lang="en-US" sz="4200" b="1" dirty="0" smtClean="0"/>
          </a:p>
          <a:p>
            <a:pPr marL="0" indent="0" algn="just">
              <a:buNone/>
            </a:pPr>
            <a:r>
              <a:rPr lang="en-US" sz="5000" b="1" dirty="0" smtClean="0">
                <a:solidFill>
                  <a:srgbClr val="CC00FF"/>
                </a:solidFill>
              </a:rPr>
              <a:t>Geographical </a:t>
            </a:r>
            <a:r>
              <a:rPr lang="en-US" sz="5000" b="1" dirty="0">
                <a:solidFill>
                  <a:srgbClr val="CC00FF"/>
                </a:solidFill>
              </a:rPr>
              <a:t>Classification</a:t>
            </a:r>
            <a:r>
              <a:rPr lang="en-US" sz="5000" dirty="0"/>
              <a:t> In geographical classification, data are classified on the basis of geographical or locational differences such as—cities, districts, or villages between various elements of the data set. The following is an example of a geographical </a:t>
            </a:r>
            <a:r>
              <a:rPr lang="en-US" sz="5000" dirty="0" smtClean="0"/>
              <a:t>distribution</a:t>
            </a:r>
          </a:p>
          <a:p>
            <a:pPr marL="0" indent="0" algn="just">
              <a:buNone/>
            </a:pPr>
            <a:endParaRPr lang="en-US" sz="4200" dirty="0"/>
          </a:p>
          <a:p>
            <a:pPr marL="0" indent="0" algn="just">
              <a:buNone/>
            </a:pPr>
            <a:r>
              <a:rPr lang="en-US" sz="4200" dirty="0"/>
              <a:t> </a:t>
            </a:r>
          </a:p>
          <a:p>
            <a:pPr marL="0" indent="0" algn="just">
              <a:buNone/>
            </a:pPr>
            <a:r>
              <a:rPr lang="en-US" sz="4200" dirty="0"/>
              <a:t> </a:t>
            </a:r>
          </a:p>
          <a:p>
            <a:pPr marL="0" indent="0" algn="just">
              <a:buNone/>
            </a:pPr>
            <a:endParaRPr lang="en-US" sz="4200" dirty="0" smtClean="0"/>
          </a:p>
          <a:p>
            <a:pPr marL="0" indent="0" algn="just">
              <a:buNone/>
            </a:pPr>
            <a:endParaRPr lang="en-US" sz="4200" b="1" dirty="0" smtClean="0"/>
          </a:p>
          <a:p>
            <a:pPr marL="0" indent="0" algn="just">
              <a:buNone/>
            </a:pPr>
            <a:endParaRPr lang="en-US" sz="4200" b="1" dirty="0" smtClean="0"/>
          </a:p>
          <a:p>
            <a:pPr marL="0" indent="0" algn="just">
              <a:buNone/>
            </a:pPr>
            <a:r>
              <a:rPr lang="en-US" sz="5000" b="1" dirty="0" smtClean="0">
                <a:solidFill>
                  <a:srgbClr val="CC00FF"/>
                </a:solidFill>
              </a:rPr>
              <a:t>Chronological </a:t>
            </a:r>
            <a:r>
              <a:rPr lang="en-US" sz="5000" b="1" dirty="0">
                <a:solidFill>
                  <a:srgbClr val="CC00FF"/>
                </a:solidFill>
              </a:rPr>
              <a:t>Classification</a:t>
            </a:r>
            <a:r>
              <a:rPr lang="en-US" sz="5000" dirty="0">
                <a:solidFill>
                  <a:srgbClr val="CC00FF"/>
                </a:solidFill>
              </a:rPr>
              <a:t> </a:t>
            </a:r>
            <a:r>
              <a:rPr lang="en-US" sz="5000" dirty="0"/>
              <a:t>When data are classified on the basis of time, the classification is known as chronological classification. Such classifications are also called </a:t>
            </a:r>
            <a:r>
              <a:rPr lang="en-US" sz="5000" i="1" dirty="0"/>
              <a:t>time series</a:t>
            </a:r>
            <a:r>
              <a:rPr lang="en-US" sz="5000" dirty="0"/>
              <a:t> because data are usually listed in chronological order starting with the earliest period. The following example would give an idea of chronological classification:</a:t>
            </a:r>
          </a:p>
          <a:p>
            <a:pPr marL="0" indent="0" algn="just">
              <a:buNone/>
            </a:pPr>
            <a:r>
              <a:rPr lang="en-US" sz="4200" dirty="0"/>
              <a:t> </a:t>
            </a:r>
            <a:endParaRPr lang="en-US" sz="4200" dirty="0" smtClean="0"/>
          </a:p>
          <a:p>
            <a:pPr marL="0" indent="0" algn="just">
              <a:buNone/>
            </a:pPr>
            <a:endParaRPr lang="en-US" sz="4200" dirty="0"/>
          </a:p>
          <a:p>
            <a:pPr marL="0" indent="0" algn="just">
              <a:buNone/>
            </a:pPr>
            <a:r>
              <a:rPr lang="en-US" dirty="0"/>
              <a:t> </a:t>
            </a:r>
          </a:p>
          <a:p>
            <a:pPr marL="0" indent="0">
              <a:buNone/>
            </a:pPr>
            <a:endParaRPr lang="en-US" dirty="0"/>
          </a:p>
        </p:txBody>
      </p:sp>
      <p:pic>
        <p:nvPicPr>
          <p:cNvPr id="4" name="img-29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7668" y="2590800"/>
            <a:ext cx="7162800" cy="914400"/>
          </a:xfrm>
          <a:prstGeom prst="rect">
            <a:avLst/>
          </a:prstGeom>
          <a:noFill/>
          <a:ln>
            <a:noFill/>
          </a:ln>
        </p:spPr>
      </p:pic>
      <p:pic>
        <p:nvPicPr>
          <p:cNvPr id="5" name="img-29_2"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5867400"/>
            <a:ext cx="7239000" cy="838200"/>
          </a:xfrm>
          <a:prstGeom prst="rect">
            <a:avLst/>
          </a:prstGeom>
          <a:noFill/>
          <a:ln>
            <a:noFill/>
          </a:ln>
        </p:spPr>
      </p:pic>
    </p:spTree>
    <p:extLst>
      <p:ext uri="{BB962C8B-B14F-4D97-AF65-F5344CB8AC3E}">
        <p14:creationId xmlns:p14="http://schemas.microsoft.com/office/powerpoint/2010/main" val="28952466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marL="0" indent="0" algn="just">
              <a:buNone/>
            </a:pPr>
            <a:r>
              <a:rPr lang="en-US" b="1" dirty="0" smtClean="0">
                <a:solidFill>
                  <a:srgbClr val="CC00FF"/>
                </a:solidFill>
                <a:latin typeface="Times New Roman" pitchFamily="18" charset="0"/>
                <a:cs typeface="Times New Roman" pitchFamily="18" charset="0"/>
              </a:rPr>
              <a:t>QUALITATIVE CLASSIFICATION</a:t>
            </a:r>
            <a:r>
              <a:rPr lang="en-US" dirty="0" smtClean="0"/>
              <a:t> </a:t>
            </a:r>
          </a:p>
          <a:p>
            <a:pPr marL="0" indent="0" algn="just">
              <a:buNone/>
            </a:pPr>
            <a:endParaRPr lang="en-US" dirty="0"/>
          </a:p>
          <a:p>
            <a:pPr marL="0" indent="0" algn="just">
              <a:buNone/>
            </a:pPr>
            <a:r>
              <a:rPr lang="en-US" dirty="0" smtClean="0"/>
              <a:t>In qualitative classification, data are classified on the </a:t>
            </a:r>
            <a:r>
              <a:rPr lang="en-US" b="1" u="sng" dirty="0" smtClean="0">
                <a:solidFill>
                  <a:srgbClr val="0033CC"/>
                </a:solidFill>
                <a:effectLst>
                  <a:outerShdw blurRad="38100" dist="38100" dir="2700000" algn="tl">
                    <a:srgbClr val="000000">
                      <a:alpha val="43137"/>
                    </a:srgbClr>
                  </a:outerShdw>
                </a:effectLst>
              </a:rPr>
              <a:t>basis of descriptive characteristics </a:t>
            </a:r>
            <a:r>
              <a:rPr lang="en-US" dirty="0" smtClean="0"/>
              <a:t>or </a:t>
            </a:r>
            <a:r>
              <a:rPr lang="en-US" u="sng" dirty="0" smtClean="0">
                <a:effectLst>
                  <a:outerShdw blurRad="38100" dist="38100" dir="2700000" algn="tl">
                    <a:srgbClr val="000000">
                      <a:alpha val="43137"/>
                    </a:srgbClr>
                  </a:outerShdw>
                </a:effectLst>
              </a:rPr>
              <a:t>on the basis of attributes</a:t>
            </a:r>
            <a:r>
              <a:rPr lang="en-US" dirty="0" smtClean="0"/>
              <a:t> like sex, literacy, region, caste, or education, </a:t>
            </a:r>
            <a:r>
              <a:rPr lang="en-US" b="1" dirty="0" smtClean="0">
                <a:solidFill>
                  <a:srgbClr val="FF0000"/>
                </a:solidFill>
              </a:rPr>
              <a:t>which cannot be quantified</a:t>
            </a:r>
            <a:r>
              <a:rPr lang="en-US" dirty="0" smtClean="0"/>
              <a:t>. This is done in two ways:</a:t>
            </a:r>
          </a:p>
          <a:p>
            <a:pPr marL="0" indent="0" algn="just">
              <a:buNone/>
            </a:pPr>
            <a:endParaRPr lang="en-US" dirty="0" smtClean="0"/>
          </a:p>
          <a:p>
            <a:pPr marL="0" lvl="0" indent="0" algn="just">
              <a:buNone/>
            </a:pPr>
            <a:r>
              <a:rPr lang="en-US" b="1" i="1" dirty="0" smtClean="0">
                <a:solidFill>
                  <a:srgbClr val="FF0000"/>
                </a:solidFill>
              </a:rPr>
              <a:t>Simple classification:</a:t>
            </a:r>
            <a:r>
              <a:rPr lang="en-US" b="1" dirty="0" smtClean="0">
                <a:solidFill>
                  <a:srgbClr val="FF0000"/>
                </a:solidFill>
              </a:rPr>
              <a:t> </a:t>
            </a:r>
            <a:r>
              <a:rPr lang="en-US" dirty="0" smtClean="0"/>
              <a:t>In this type of classification, each class is subdivided into two sub-classes and only one attribute is studied such as: </a:t>
            </a:r>
            <a:r>
              <a:rPr lang="en-US" b="1" u="sng" dirty="0" smtClean="0">
                <a:solidFill>
                  <a:srgbClr val="0033CC"/>
                </a:solidFill>
                <a:effectLst>
                  <a:outerShdw blurRad="38100" dist="38100" dir="2700000" algn="tl">
                    <a:srgbClr val="000000">
                      <a:alpha val="43137"/>
                    </a:srgbClr>
                  </a:outerShdw>
                </a:effectLst>
              </a:rPr>
              <a:t>male and female</a:t>
            </a:r>
            <a:r>
              <a:rPr lang="en-US" dirty="0" smtClean="0"/>
              <a:t>; </a:t>
            </a:r>
            <a:r>
              <a:rPr lang="en-US" b="1" u="sng" dirty="0" smtClean="0">
                <a:solidFill>
                  <a:srgbClr val="CC00FF"/>
                </a:solidFill>
                <a:effectLst>
                  <a:outerShdw blurRad="38100" dist="38100" dir="2700000" algn="tl">
                    <a:srgbClr val="000000">
                      <a:alpha val="43137"/>
                    </a:srgbClr>
                  </a:outerShdw>
                </a:effectLst>
              </a:rPr>
              <a:t>blind and not blind</a:t>
            </a:r>
            <a:r>
              <a:rPr lang="en-US" dirty="0" smtClean="0"/>
              <a:t>, </a:t>
            </a:r>
            <a:r>
              <a:rPr lang="en-US" b="1" u="sng" dirty="0" smtClean="0">
                <a:solidFill>
                  <a:srgbClr val="9900FF"/>
                </a:solidFill>
                <a:effectLst>
                  <a:outerShdw blurRad="38100" dist="38100" dir="2700000" algn="tl">
                    <a:srgbClr val="000000">
                      <a:alpha val="43137"/>
                    </a:srgbClr>
                  </a:outerShdw>
                </a:effectLst>
              </a:rPr>
              <a:t>educated and uneducated</a:t>
            </a:r>
            <a:r>
              <a:rPr lang="en-US" dirty="0" smtClean="0"/>
              <a:t>, and so on.</a:t>
            </a:r>
          </a:p>
          <a:p>
            <a:pPr marL="0" lvl="0" indent="0" algn="just">
              <a:buNone/>
            </a:pPr>
            <a:endParaRPr lang="en-US" dirty="0" smtClean="0"/>
          </a:p>
          <a:p>
            <a:pPr marL="0" lvl="0" indent="0" algn="just">
              <a:buNone/>
            </a:pPr>
            <a:r>
              <a:rPr lang="en-US" b="1" i="1" dirty="0" smtClean="0">
                <a:solidFill>
                  <a:srgbClr val="FF0000"/>
                </a:solidFill>
              </a:rPr>
              <a:t>Manifold classification:</a:t>
            </a:r>
            <a:r>
              <a:rPr lang="en-US" dirty="0" smtClean="0"/>
              <a:t> In this type of classification, a class is subdivided into more than two sub-classes which may be sub-divided further. An example of this form of classification is shown in the box:</a:t>
            </a:r>
          </a:p>
          <a:p>
            <a:pPr marL="0" lvl="0" indent="0" algn="just">
              <a:buNone/>
            </a:pPr>
            <a:endParaRPr lang="en-US" dirty="0" smtClean="0"/>
          </a:p>
          <a:p>
            <a:pPr marL="0" indent="0" algn="just">
              <a:buNone/>
            </a:pPr>
            <a:r>
              <a:rPr lang="en-US" dirty="0" smtClean="0"/>
              <a:t> </a:t>
            </a:r>
          </a:p>
          <a:p>
            <a:pPr marL="0" indent="0" algn="just">
              <a:buNone/>
            </a:pPr>
            <a:r>
              <a:rPr lang="en-US" dirty="0" smtClean="0"/>
              <a:t> </a:t>
            </a:r>
          </a:p>
          <a:p>
            <a:pPr marL="0" indent="0" algn="just">
              <a:buNone/>
            </a:pPr>
            <a:endParaRPr lang="en-US" b="1" dirty="0" smtClean="0"/>
          </a:p>
          <a:p>
            <a:pPr marL="0" indent="0" algn="just">
              <a:buNone/>
            </a:pPr>
            <a:endParaRPr lang="en-US" b="1" dirty="0" smtClean="0">
              <a:solidFill>
                <a:srgbClr val="CC00FF"/>
              </a:solidFill>
            </a:endParaRPr>
          </a:p>
          <a:p>
            <a:pPr marL="0" indent="0" algn="just">
              <a:buNone/>
            </a:pPr>
            <a:r>
              <a:rPr lang="en-US" b="1" dirty="0" smtClean="0">
                <a:solidFill>
                  <a:srgbClr val="CC00FF"/>
                </a:solidFill>
              </a:rPr>
              <a:t>Quantitative Classification</a:t>
            </a:r>
            <a:r>
              <a:rPr lang="en-US" dirty="0" smtClean="0"/>
              <a:t> In this classification, </a:t>
            </a:r>
            <a:r>
              <a:rPr lang="en-US" b="1" u="sng" dirty="0" smtClean="0">
                <a:solidFill>
                  <a:srgbClr val="00B050"/>
                </a:solidFill>
              </a:rPr>
              <a:t>data are classified on the basis of </a:t>
            </a:r>
            <a:r>
              <a:rPr lang="en-US" b="1" u="sng" dirty="0" smtClean="0">
                <a:solidFill>
                  <a:srgbClr val="FF0000"/>
                </a:solidFill>
              </a:rPr>
              <a:t>some characteristics which can be measured</a:t>
            </a:r>
            <a:r>
              <a:rPr lang="en-US" b="1" u="sng" dirty="0" smtClean="0">
                <a:solidFill>
                  <a:srgbClr val="00B050"/>
                </a:solidFill>
              </a:rPr>
              <a:t> such as height, weight, income, expenditure, production, or sales.</a:t>
            </a:r>
          </a:p>
          <a:p>
            <a:endParaRPr lang="en-US" dirty="0"/>
          </a:p>
        </p:txBody>
      </p:sp>
      <p:pic>
        <p:nvPicPr>
          <p:cNvPr id="4" name="img-29_3"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3962400"/>
            <a:ext cx="3810000" cy="1143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7500" lnSpcReduction="20000"/>
          </a:bodyPr>
          <a:lstStyle/>
          <a:p>
            <a:pPr marL="0" indent="0" algn="just">
              <a:buNone/>
            </a:pPr>
            <a:r>
              <a:rPr lang="en-US" sz="5100" b="1" u="dbl" dirty="0" smtClean="0">
                <a:solidFill>
                  <a:srgbClr val="0033CC"/>
                </a:solidFill>
                <a:uFill>
                  <a:solidFill>
                    <a:srgbClr val="C00000"/>
                  </a:solidFill>
                </a:uFill>
              </a:rPr>
              <a:t>FREQUENCY</a:t>
            </a:r>
            <a:endParaRPr lang="en-US" sz="5100" b="1" u="dbl" dirty="0">
              <a:solidFill>
                <a:srgbClr val="0033CC"/>
              </a:solidFill>
              <a:uFill>
                <a:solidFill>
                  <a:srgbClr val="C00000"/>
                </a:solidFill>
              </a:uFill>
            </a:endParaRPr>
          </a:p>
          <a:p>
            <a:pPr marL="0" indent="0" algn="just">
              <a:buNone/>
            </a:pPr>
            <a:endParaRPr lang="en-US" sz="3800" dirty="0" smtClean="0"/>
          </a:p>
          <a:p>
            <a:pPr algn="just"/>
            <a:r>
              <a:rPr lang="en-US" sz="3800" dirty="0" smtClean="0">
                <a:latin typeface="Times New Roman" pitchFamily="18" charset="0"/>
                <a:cs typeface="Times New Roman" pitchFamily="18" charset="0"/>
              </a:rPr>
              <a:t>In </a:t>
            </a:r>
            <a:r>
              <a:rPr lang="en-US" sz="3800" b="1" dirty="0" smtClean="0">
                <a:latin typeface="Times New Roman" pitchFamily="18" charset="0"/>
                <a:cs typeface="Times New Roman" pitchFamily="18" charset="0"/>
              </a:rPr>
              <a:t>statistics</a:t>
            </a:r>
            <a:r>
              <a:rPr lang="en-US" sz="3800" dirty="0" smtClean="0">
                <a:latin typeface="Times New Roman" pitchFamily="18" charset="0"/>
                <a:cs typeface="Times New Roman" pitchFamily="18" charset="0"/>
              </a:rPr>
              <a:t> the </a:t>
            </a:r>
            <a:r>
              <a:rPr lang="en-US" sz="3800" b="1" dirty="0" smtClean="0">
                <a:solidFill>
                  <a:srgbClr val="FF0000"/>
                </a:solidFill>
                <a:latin typeface="Times New Roman" pitchFamily="18" charset="0"/>
                <a:cs typeface="Times New Roman" pitchFamily="18" charset="0"/>
              </a:rPr>
              <a:t>FREQUENCY</a:t>
            </a:r>
            <a:r>
              <a:rPr lang="en-US" sz="3800" dirty="0" smtClean="0">
                <a:latin typeface="Times New Roman" pitchFamily="18" charset="0"/>
                <a:cs typeface="Times New Roman" pitchFamily="18" charset="0"/>
              </a:rPr>
              <a:t> of an event is the number </a:t>
            </a:r>
            <a:r>
              <a:rPr lang="en-US" sz="3800" dirty="0" smtClean="0">
                <a:solidFill>
                  <a:srgbClr val="FF0000"/>
                </a:solidFill>
                <a:latin typeface="Times New Roman" pitchFamily="18" charset="0"/>
                <a:cs typeface="Times New Roman" pitchFamily="18" charset="0"/>
              </a:rPr>
              <a:t>‘n’</a:t>
            </a:r>
            <a:r>
              <a:rPr lang="en-US" sz="3800" dirty="0" smtClean="0">
                <a:latin typeface="Times New Roman" pitchFamily="18" charset="0"/>
                <a:cs typeface="Times New Roman" pitchFamily="18" charset="0"/>
              </a:rPr>
              <a:t> of times the event occurred in an experiment or study</a:t>
            </a:r>
          </a:p>
          <a:p>
            <a:pPr algn="just"/>
            <a:endParaRPr lang="en-US" sz="3800" dirty="0" smtClean="0">
              <a:latin typeface="Times New Roman" pitchFamily="18" charset="0"/>
              <a:cs typeface="Times New Roman" pitchFamily="18" charset="0"/>
            </a:endParaRPr>
          </a:p>
          <a:p>
            <a:pPr algn="just"/>
            <a:r>
              <a:rPr lang="en-US" sz="3800" dirty="0" smtClean="0">
                <a:latin typeface="Times New Roman" pitchFamily="18" charset="0"/>
                <a:cs typeface="Times New Roman" pitchFamily="18" charset="0"/>
              </a:rPr>
              <a:t>In </a:t>
            </a:r>
            <a:r>
              <a:rPr lang="en-US" sz="3800" dirty="0" smtClean="0">
                <a:latin typeface="Times New Roman" pitchFamily="18" charset="0"/>
                <a:cs typeface="Times New Roman" pitchFamily="18" charset="0"/>
                <a:hlinkClick r:id="rId2" tooltip="Statistics"/>
              </a:rPr>
              <a:t>statistics</a:t>
            </a:r>
            <a:r>
              <a:rPr lang="en-US" sz="3800" dirty="0" smtClean="0">
                <a:latin typeface="Times New Roman" pitchFamily="18" charset="0"/>
                <a:cs typeface="Times New Roman" pitchFamily="18" charset="0"/>
              </a:rPr>
              <a:t>, a </a:t>
            </a:r>
            <a:r>
              <a:rPr lang="en-US" sz="3800" b="1" dirty="0" smtClean="0">
                <a:latin typeface="Times New Roman" pitchFamily="18" charset="0"/>
                <a:cs typeface="Times New Roman" pitchFamily="18" charset="0"/>
              </a:rPr>
              <a:t>frequency distribution</a:t>
            </a:r>
            <a:r>
              <a:rPr lang="en-US" sz="3800" dirty="0" smtClean="0">
                <a:latin typeface="Times New Roman" pitchFamily="18" charset="0"/>
                <a:cs typeface="Times New Roman" pitchFamily="18" charset="0"/>
              </a:rPr>
              <a:t> is a table that displays the frequency of various outcomes in a </a:t>
            </a:r>
            <a:r>
              <a:rPr lang="en-US" sz="3800" dirty="0" smtClean="0">
                <a:latin typeface="Times New Roman" pitchFamily="18" charset="0"/>
                <a:cs typeface="Times New Roman" pitchFamily="18" charset="0"/>
                <a:hlinkClick r:id="rId3" tooltip="Sampling (statistics)"/>
              </a:rPr>
              <a:t>sample</a:t>
            </a:r>
            <a:r>
              <a:rPr lang="en-US" sz="3800" dirty="0" smtClean="0">
                <a:latin typeface="Times New Roman" pitchFamily="18" charset="0"/>
                <a:cs typeface="Times New Roman" pitchFamily="18" charset="0"/>
              </a:rPr>
              <a:t>.</a:t>
            </a:r>
            <a:r>
              <a:rPr lang="en-US" sz="3800" baseline="30000" dirty="0" smtClean="0">
                <a:latin typeface="Times New Roman" pitchFamily="18" charset="0"/>
                <a:cs typeface="Times New Roman" pitchFamily="18" charset="0"/>
              </a:rPr>
              <a:t> </a:t>
            </a:r>
            <a:r>
              <a:rPr lang="en-US" sz="3800" dirty="0" smtClean="0">
                <a:latin typeface="Times New Roman" pitchFamily="18" charset="0"/>
                <a:cs typeface="Times New Roman" pitchFamily="18" charset="0"/>
              </a:rPr>
              <a:t> </a:t>
            </a:r>
          </a:p>
          <a:p>
            <a:pPr marL="0" indent="0" algn="just">
              <a:buNone/>
            </a:pPr>
            <a:endParaRPr lang="en-US" sz="3800" b="1" dirty="0" smtClean="0">
              <a:latin typeface="Times New Roman" pitchFamily="18" charset="0"/>
              <a:cs typeface="Times New Roman" pitchFamily="18" charset="0"/>
            </a:endParaRPr>
          </a:p>
          <a:p>
            <a:pPr algn="just"/>
            <a:r>
              <a:rPr lang="en-US" sz="3800" b="1" dirty="0" smtClean="0">
                <a:latin typeface="Times New Roman" pitchFamily="18" charset="0"/>
                <a:cs typeface="Times New Roman" pitchFamily="18" charset="0"/>
              </a:rPr>
              <a:t>A </a:t>
            </a:r>
            <a:r>
              <a:rPr lang="en-US" sz="3800" b="1" dirty="0">
                <a:latin typeface="Times New Roman" pitchFamily="18" charset="0"/>
                <a:cs typeface="Times New Roman" pitchFamily="18" charset="0"/>
              </a:rPr>
              <a:t>frequency distribution</a:t>
            </a:r>
            <a:r>
              <a:rPr lang="en-US" sz="3800" dirty="0">
                <a:latin typeface="Times New Roman" pitchFamily="18" charset="0"/>
                <a:cs typeface="Times New Roman" pitchFamily="18" charset="0"/>
              </a:rPr>
              <a:t> </a:t>
            </a:r>
            <a:r>
              <a:rPr lang="en-US" sz="3800" b="1" u="dbl" dirty="0">
                <a:solidFill>
                  <a:schemeClr val="accent2">
                    <a:lumMod val="75000"/>
                  </a:schemeClr>
                </a:solidFill>
                <a:uFill>
                  <a:solidFill>
                    <a:srgbClr val="0033CC"/>
                  </a:solidFill>
                </a:uFill>
                <a:latin typeface="Times New Roman" pitchFamily="18" charset="0"/>
                <a:cs typeface="Times New Roman" pitchFamily="18" charset="0"/>
              </a:rPr>
              <a:t>divides observations in the data set</a:t>
            </a:r>
            <a:r>
              <a:rPr lang="en-US" sz="3800" dirty="0">
                <a:latin typeface="Times New Roman" pitchFamily="18" charset="0"/>
                <a:cs typeface="Times New Roman" pitchFamily="18" charset="0"/>
              </a:rPr>
              <a:t> </a:t>
            </a:r>
            <a:r>
              <a:rPr lang="en-US" sz="3800" dirty="0" smtClean="0">
                <a:latin typeface="Times New Roman" pitchFamily="18" charset="0"/>
                <a:cs typeface="Times New Roman" pitchFamily="18" charset="0"/>
              </a:rPr>
              <a:t>        </a:t>
            </a:r>
            <a:r>
              <a:rPr lang="en-US" sz="3800" b="1" u="sng" dirty="0" smtClean="0">
                <a:latin typeface="Times New Roman" pitchFamily="18" charset="0"/>
                <a:cs typeface="Times New Roman" pitchFamily="18" charset="0"/>
              </a:rPr>
              <a:t>into </a:t>
            </a:r>
            <a:r>
              <a:rPr lang="en-US" sz="3800" b="1" u="sng" dirty="0">
                <a:latin typeface="Times New Roman" pitchFamily="18" charset="0"/>
                <a:cs typeface="Times New Roman" pitchFamily="18" charset="0"/>
              </a:rPr>
              <a:t>conveniently established</a:t>
            </a:r>
            <a:r>
              <a:rPr lang="en-US" sz="3800" dirty="0">
                <a:latin typeface="Times New Roman" pitchFamily="18" charset="0"/>
                <a:cs typeface="Times New Roman" pitchFamily="18" charset="0"/>
              </a:rPr>
              <a:t>, numerically ordered classes (groups or categories). </a:t>
            </a:r>
            <a:endParaRPr lang="en-US" sz="3800" dirty="0" smtClean="0">
              <a:latin typeface="Times New Roman" pitchFamily="18" charset="0"/>
              <a:cs typeface="Times New Roman" pitchFamily="18" charset="0"/>
            </a:endParaRPr>
          </a:p>
          <a:p>
            <a:pPr algn="just">
              <a:buNone/>
            </a:pPr>
            <a:endParaRPr lang="en-US" sz="3800" dirty="0" smtClean="0">
              <a:latin typeface="Times New Roman" pitchFamily="18" charset="0"/>
              <a:cs typeface="Times New Roman" pitchFamily="18" charset="0"/>
            </a:endParaRPr>
          </a:p>
          <a:p>
            <a:pPr algn="just"/>
            <a:r>
              <a:rPr lang="en-US" sz="3800" dirty="0" smtClean="0">
                <a:latin typeface="Times New Roman" pitchFamily="18" charset="0"/>
                <a:cs typeface="Times New Roman" pitchFamily="18" charset="0"/>
              </a:rPr>
              <a:t>The </a:t>
            </a:r>
            <a:r>
              <a:rPr lang="en-US" sz="3800" dirty="0">
                <a:latin typeface="Times New Roman" pitchFamily="18" charset="0"/>
                <a:cs typeface="Times New Roman" pitchFamily="18" charset="0"/>
              </a:rPr>
              <a:t>number of observations in each class is referred to as </a:t>
            </a:r>
            <a:r>
              <a:rPr lang="en-US" sz="3800" i="1" dirty="0">
                <a:latin typeface="Times New Roman" pitchFamily="18" charset="0"/>
                <a:cs typeface="Times New Roman" pitchFamily="18" charset="0"/>
              </a:rPr>
              <a:t>frequency</a:t>
            </a:r>
            <a:r>
              <a:rPr lang="en-US" sz="3800" dirty="0">
                <a:latin typeface="Times New Roman" pitchFamily="18" charset="0"/>
                <a:cs typeface="Times New Roman" pitchFamily="18" charset="0"/>
              </a:rPr>
              <a:t> denoted as</a:t>
            </a:r>
            <a:r>
              <a:rPr lang="en-US" sz="4500" dirty="0">
                <a:solidFill>
                  <a:schemeClr val="accent2">
                    <a:lumMod val="75000"/>
                  </a:schemeClr>
                </a:solidFill>
                <a:latin typeface="Times New Roman" pitchFamily="18" charset="0"/>
                <a:cs typeface="Times New Roman" pitchFamily="18" charset="0"/>
              </a:rPr>
              <a:t> </a:t>
            </a:r>
            <a:r>
              <a:rPr lang="en-US" sz="4500" i="1" dirty="0">
                <a:solidFill>
                  <a:schemeClr val="accent2">
                    <a:lumMod val="75000"/>
                  </a:schemeClr>
                </a:solidFill>
                <a:latin typeface="Times New Roman" pitchFamily="18" charset="0"/>
                <a:cs typeface="Times New Roman" pitchFamily="18" charset="0"/>
              </a:rPr>
              <a:t>f</a:t>
            </a:r>
            <a:r>
              <a:rPr lang="en-US" sz="3800" dirty="0" smtClean="0">
                <a:latin typeface="Times New Roman" pitchFamily="18" charset="0"/>
                <a:cs typeface="Times New Roman" pitchFamily="18" charset="0"/>
              </a:rPr>
              <a:t>.</a:t>
            </a:r>
          </a:p>
          <a:p>
            <a:pPr algn="just">
              <a:buNone/>
            </a:pPr>
            <a:endParaRPr lang="en-US" sz="3800" dirty="0">
              <a:latin typeface="Times New Roman" pitchFamily="18" charset="0"/>
              <a:cs typeface="Times New Roman" pitchFamily="18" charset="0"/>
            </a:endParaRPr>
          </a:p>
        </p:txBody>
      </p:sp>
    </p:spTree>
    <p:extLst>
      <p:ext uri="{BB962C8B-B14F-4D97-AF65-F5344CB8AC3E}">
        <p14:creationId xmlns:p14="http://schemas.microsoft.com/office/powerpoint/2010/main" val="859642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just">
              <a:buNone/>
            </a:pPr>
            <a:r>
              <a:rPr lang="en-US" sz="2800" b="1" dirty="0" smtClean="0">
                <a:solidFill>
                  <a:srgbClr val="FF0000"/>
                </a:solidFill>
                <a:latin typeface="Times New Roman" pitchFamily="18" charset="0"/>
                <a:cs typeface="Times New Roman" pitchFamily="18" charset="0"/>
              </a:rPr>
              <a:t>CLASS INTERVAL </a:t>
            </a:r>
            <a:r>
              <a:rPr lang="en-US" sz="2800" dirty="0" smtClean="0">
                <a:latin typeface="Times New Roman" pitchFamily="18" charset="0"/>
                <a:cs typeface="Times New Roman" pitchFamily="18" charset="0"/>
              </a:rPr>
              <a:t>refers </a:t>
            </a:r>
            <a:r>
              <a:rPr lang="en-US" sz="2800" dirty="0">
                <a:latin typeface="Times New Roman" pitchFamily="18" charset="0"/>
                <a:cs typeface="Times New Roman" pitchFamily="18" charset="0"/>
              </a:rPr>
              <a:t>to the numerical width of any class in a particular </a:t>
            </a:r>
            <a:r>
              <a:rPr lang="en-US" sz="2800" dirty="0" smtClean="0">
                <a:latin typeface="Times New Roman" pitchFamily="18" charset="0"/>
                <a:cs typeface="Times New Roman" pitchFamily="18" charset="0"/>
              </a:rPr>
              <a:t>distribution.</a:t>
            </a:r>
          </a:p>
          <a:p>
            <a:pPr marL="0" indent="0" algn="just">
              <a:buNone/>
            </a:pPr>
            <a:r>
              <a:rPr lang="en-US" sz="2800" dirty="0">
                <a:latin typeface="Times New Roman" pitchFamily="18" charset="0"/>
                <a:cs typeface="Times New Roman" pitchFamily="18" charset="0"/>
              </a:rPr>
              <a:t>Mathematically it is defined as the difference between the upper class limit and the lower class limit</a:t>
            </a:r>
          </a:p>
          <a:p>
            <a:pPr marL="0" indent="0" algn="just">
              <a:buNone/>
            </a:pPr>
            <a:r>
              <a:rPr lang="en-US" sz="2800" dirty="0">
                <a:latin typeface="Times New Roman" pitchFamily="18" charset="0"/>
                <a:cs typeface="Times New Roman" pitchFamily="18" charset="0"/>
              </a:rPr>
              <a:t> </a:t>
            </a:r>
          </a:p>
          <a:p>
            <a:pPr marL="0" indent="0">
              <a:buNone/>
            </a:pPr>
            <a:r>
              <a:rPr lang="en-US" sz="2400" b="1" dirty="0">
                <a:latin typeface="Times New Roman" pitchFamily="18" charset="0"/>
                <a:cs typeface="Times New Roman" pitchFamily="18" charset="0"/>
              </a:rPr>
              <a:t>Class </a:t>
            </a:r>
            <a:r>
              <a:rPr lang="en-US" sz="2400" b="1" dirty="0" smtClean="0">
                <a:latin typeface="Times New Roman" pitchFamily="18" charset="0"/>
                <a:cs typeface="Times New Roman" pitchFamily="18" charset="0"/>
              </a:rPr>
              <a:t>Interval = </a:t>
            </a:r>
            <a:r>
              <a:rPr lang="en-US" sz="2400" b="1" dirty="0">
                <a:latin typeface="Times New Roman" pitchFamily="18" charset="0"/>
                <a:cs typeface="Times New Roman" pitchFamily="18" charset="0"/>
              </a:rPr>
              <a:t>Upper Class limit – Lower class </a:t>
            </a:r>
            <a:r>
              <a:rPr lang="en-US" sz="2400" b="1" dirty="0" smtClean="0">
                <a:latin typeface="Times New Roman" pitchFamily="18" charset="0"/>
                <a:cs typeface="Times New Roman" pitchFamily="18" charset="0"/>
              </a:rPr>
              <a:t>limit</a:t>
            </a:r>
            <a:endParaRPr lang="en-US" sz="2000" dirty="0">
              <a:latin typeface="Times New Roman" pitchFamily="18" charset="0"/>
              <a:cs typeface="Times New Roman" pitchFamily="18" charset="0"/>
            </a:endParaRPr>
          </a:p>
          <a:p>
            <a:pPr marL="0" indent="0" algn="just">
              <a:buNone/>
            </a:pPr>
            <a:r>
              <a:rPr lang="en-US" sz="2400" dirty="0">
                <a:latin typeface="Times New Roman" pitchFamily="18" charset="0"/>
                <a:cs typeface="Times New Roman" pitchFamily="18" charset="0"/>
              </a:rPr>
              <a:t>In statistics, the data is arranged into different classes and the width of such class is called class interval. Class intervals are </a:t>
            </a:r>
            <a:r>
              <a:rPr lang="en-US" sz="2400" b="1" u="sng" dirty="0">
                <a:latin typeface="Times New Roman" pitchFamily="18" charset="0"/>
                <a:cs typeface="Times New Roman" pitchFamily="18" charset="0"/>
              </a:rPr>
              <a:t>generally equal in width </a:t>
            </a:r>
            <a:r>
              <a:rPr lang="en-US" sz="2400" b="1" dirty="0">
                <a:solidFill>
                  <a:schemeClr val="accent2">
                    <a:lumMod val="75000"/>
                  </a:schemeClr>
                </a:solidFill>
                <a:latin typeface="Times New Roman" pitchFamily="18" charset="0"/>
                <a:cs typeface="Times New Roman" pitchFamily="18" charset="0"/>
              </a:rPr>
              <a:t>but this might not be the case always</a:t>
            </a:r>
            <a:r>
              <a:rPr lang="en-US" sz="2400" b="1" u="sng" dirty="0" smtClean="0">
                <a:latin typeface="Times New Roman" pitchFamily="18" charset="0"/>
                <a:cs typeface="Times New Roman" pitchFamily="18" charset="0"/>
              </a:rPr>
              <a:t>.</a:t>
            </a:r>
          </a:p>
          <a:p>
            <a:pPr marL="0" indent="0">
              <a:buNone/>
            </a:pPr>
            <a:endParaRPr lang="en-US" sz="2000" dirty="0"/>
          </a:p>
          <a:p>
            <a:endParaRPr lang="en-US" dirty="0"/>
          </a:p>
        </p:txBody>
      </p:sp>
      <p:pic>
        <p:nvPicPr>
          <p:cNvPr id="4" name="img-c02t013" descr="Table 2.13 Frequency Distribution"/>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4038600"/>
            <a:ext cx="6553200" cy="2819401"/>
          </a:xfrm>
          <a:prstGeom prst="rect">
            <a:avLst/>
          </a:prstGeom>
          <a:noFill/>
          <a:ln>
            <a:noFill/>
          </a:ln>
        </p:spPr>
      </p:pic>
    </p:spTree>
    <p:extLst>
      <p:ext uri="{BB962C8B-B14F-4D97-AF65-F5344CB8AC3E}">
        <p14:creationId xmlns:p14="http://schemas.microsoft.com/office/powerpoint/2010/main" val="240912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solidFill>
                  <a:srgbClr val="FF0000"/>
                </a:solidFill>
              </a:rPr>
              <a:t>Fixing class interval</a:t>
            </a:r>
            <a:r>
              <a:rPr lang="en-US" dirty="0" smtClean="0"/>
              <a:t/>
            </a:r>
            <a:br>
              <a:rPr lang="en-US" dirty="0" smtClean="0"/>
            </a:br>
            <a:endParaRPr lang="en-US" dirty="0"/>
          </a:p>
        </p:txBody>
      </p:sp>
      <p:sp>
        <p:nvSpPr>
          <p:cNvPr id="3" name="Content Placeholder 2"/>
          <p:cNvSpPr>
            <a:spLocks noGrp="1"/>
          </p:cNvSpPr>
          <p:nvPr>
            <p:ph idx="1"/>
          </p:nvPr>
        </p:nvSpPr>
        <p:spPr>
          <a:xfrm>
            <a:off x="0" y="762000"/>
            <a:ext cx="9144000" cy="5364163"/>
          </a:xfrm>
        </p:spPr>
        <p:txBody>
          <a:bodyPr/>
          <a:lstStyle/>
          <a:p>
            <a:pPr lvl="0" algn="just"/>
            <a:r>
              <a:rPr lang="en-US" dirty="0" smtClean="0"/>
              <a:t>If </a:t>
            </a:r>
            <a:r>
              <a:rPr lang="en-US" i="1" dirty="0" smtClean="0"/>
              <a:t>k</a:t>
            </a:r>
            <a:r>
              <a:rPr lang="en-US" dirty="0" smtClean="0"/>
              <a:t> represents the number of classes and N the total number of observations, then the value of </a:t>
            </a:r>
            <a:r>
              <a:rPr lang="en-US" i="1" dirty="0" smtClean="0"/>
              <a:t>k </a:t>
            </a:r>
            <a:r>
              <a:rPr lang="en-US" dirty="0" smtClean="0"/>
              <a:t>will be the smallest exponent of the number 2, so that 2</a:t>
            </a:r>
            <a:r>
              <a:rPr lang="en-US" i="1" baseline="30000" dirty="0" smtClean="0"/>
              <a:t>k</a:t>
            </a:r>
            <a:r>
              <a:rPr lang="en-US" dirty="0" smtClean="0"/>
              <a:t> ≥ </a:t>
            </a:r>
            <a:r>
              <a:rPr lang="en-US" i="1" dirty="0" smtClean="0"/>
              <a:t>N</a:t>
            </a:r>
            <a:r>
              <a:rPr lang="en-US" dirty="0" smtClean="0"/>
              <a:t>.</a:t>
            </a:r>
          </a:p>
          <a:p>
            <a:pPr algn="just"/>
            <a:r>
              <a:rPr lang="en-US" dirty="0" smtClean="0"/>
              <a:t>If we have N = 30 observations. If we apply this rule, then we shall have</a:t>
            </a:r>
          </a:p>
          <a:p>
            <a:endParaRPr lang="en-US" dirty="0"/>
          </a:p>
        </p:txBody>
      </p:sp>
      <p:pic>
        <p:nvPicPr>
          <p:cNvPr id="4" name="img-32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6600" y="4419600"/>
            <a:ext cx="2895600" cy="1143000"/>
          </a:xfrm>
          <a:prstGeom prst="rect">
            <a:avLst/>
          </a:prstGeom>
          <a:noFill/>
          <a:ln>
            <a:noFill/>
          </a:ln>
        </p:spPr>
      </p:pic>
      <p:sp>
        <p:nvSpPr>
          <p:cNvPr id="6" name="Rectangle 5"/>
          <p:cNvSpPr/>
          <p:nvPr/>
        </p:nvSpPr>
        <p:spPr>
          <a:xfrm>
            <a:off x="685800" y="5943600"/>
            <a:ext cx="8153400" cy="369332"/>
          </a:xfrm>
          <a:prstGeom prst="rect">
            <a:avLst/>
          </a:prstGeom>
        </p:spPr>
        <p:txBody>
          <a:bodyPr wrap="square">
            <a:spAutoFit/>
          </a:bodyPr>
          <a:lstStyle/>
          <a:p>
            <a:pPr lvl="0" indent="152400" algn="just" fontAlgn="base">
              <a:spcBef>
                <a:spcPct val="0"/>
              </a:spcBef>
              <a:spcAft>
                <a:spcPct val="0"/>
              </a:spcAft>
            </a:pPr>
            <a:r>
              <a:rPr lang="en-US" dirty="0" smtClean="0">
                <a:solidFill>
                  <a:srgbClr val="333333"/>
                </a:solidFill>
                <a:latin typeface="Calibri" pitchFamily="34" charset="0"/>
                <a:ea typeface="Times New Roman" pitchFamily="18" charset="0"/>
                <a:cs typeface="Times New Roman" pitchFamily="18" charset="0"/>
              </a:rPr>
              <a:t>Thus we may choose </a:t>
            </a:r>
            <a:r>
              <a:rPr lang="en-US" i="1" dirty="0" smtClean="0">
                <a:solidFill>
                  <a:srgbClr val="333333"/>
                </a:solidFill>
                <a:latin typeface="Calibri" pitchFamily="34" charset="0"/>
                <a:ea typeface="Times New Roman" pitchFamily="18" charset="0"/>
                <a:cs typeface="Times New Roman" pitchFamily="18" charset="0"/>
              </a:rPr>
              <a:t>k</a:t>
            </a:r>
            <a:r>
              <a:rPr lang="en-US" dirty="0" smtClean="0">
                <a:solidFill>
                  <a:srgbClr val="333333"/>
                </a:solidFill>
                <a:latin typeface="Calibri" pitchFamily="34" charset="0"/>
                <a:ea typeface="Times New Roman" pitchFamily="18" charset="0"/>
                <a:cs typeface="Times New Roman" pitchFamily="18" charset="0"/>
              </a:rPr>
              <a:t> = 5 as the number of classes.</a:t>
            </a:r>
            <a:endParaRPr lang="en-US" sz="3200" dirty="0" smtClean="0">
              <a:latin typeface="Arial" pitchFamily="34" charset="0"/>
              <a:cs typeface="Arial"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g-33_1" descr="images"/>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533400"/>
            <a:ext cx="6781800" cy="685800"/>
          </a:xfrm>
          <a:prstGeom prst="rect">
            <a:avLst/>
          </a:prstGeom>
          <a:noFill/>
          <a:ln>
            <a:noFill/>
          </a:ln>
        </p:spPr>
      </p:pic>
      <p:sp>
        <p:nvSpPr>
          <p:cNvPr id="97281" name="Rectangle 1"/>
          <p:cNvSpPr>
            <a:spLocks noChangeArrowheads="1"/>
          </p:cNvSpPr>
          <p:nvPr/>
        </p:nvSpPr>
        <p:spPr bwMode="auto">
          <a:xfrm>
            <a:off x="0" y="1655803"/>
            <a:ext cx="9144000" cy="249299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kumimoji="0" lang="en-US" sz="2800" b="1"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Example:</a:t>
            </a:r>
            <a:r>
              <a:rPr kumimoji="0" lang="en-US" sz="2800" b="0"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 The following set of numbers represents mutual fund prices reported at the end of a week for selected 40 nationally sold funds. </a:t>
            </a:r>
            <a:r>
              <a:rPr lang="en-US" sz="2800" dirty="0" smtClean="0"/>
              <a:t>Arrange these prices into a frequency distribution having a suitable number of classes.</a:t>
            </a:r>
            <a:endParaRPr lang="en-US" sz="4400" dirty="0" smtClean="0"/>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4400" b="0" i="0" u="none" strike="noStrike" cap="none" normalizeH="0" baseline="0" dirty="0" smtClean="0">
              <a:ln>
                <a:noFill/>
              </a:ln>
              <a:solidFill>
                <a:schemeClr val="tx1"/>
              </a:solidFill>
              <a:effectLst/>
              <a:latin typeface="Arial" pitchFamily="34" charset="0"/>
              <a:cs typeface="Arial" pitchFamily="34" charset="0"/>
            </a:endParaRPr>
          </a:p>
        </p:txBody>
      </p:sp>
      <p:pic>
        <p:nvPicPr>
          <p:cNvPr id="6" name="img-36_1"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3886200"/>
            <a:ext cx="7315200" cy="2057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991600" cy="4525963"/>
          </a:xfrm>
        </p:spPr>
        <p:txBody>
          <a:bodyPr/>
          <a:lstStyle/>
          <a:p>
            <a:pPr algn="just"/>
            <a:r>
              <a:rPr lang="en-US" sz="2800" b="1" dirty="0" smtClean="0"/>
              <a:t>Solution:</a:t>
            </a:r>
            <a:r>
              <a:rPr lang="en-US" sz="2800" dirty="0" smtClean="0"/>
              <a:t> Since the number of observations are 40, it seems reasonable to choose 6 (2</a:t>
            </a:r>
            <a:r>
              <a:rPr lang="en-US" sz="2800" baseline="30000" dirty="0" smtClean="0"/>
              <a:t>6</a:t>
            </a:r>
            <a:r>
              <a:rPr lang="en-US" sz="2800" dirty="0" smtClean="0"/>
              <a:t> &gt; 40) class intervals to summarize values in the data set. Again, since the smallest value is 10 and the largest is 38, therefore the class interval is given by</a:t>
            </a:r>
          </a:p>
          <a:p>
            <a:endParaRPr lang="en-US" dirty="0"/>
          </a:p>
        </p:txBody>
      </p:sp>
      <p:pic>
        <p:nvPicPr>
          <p:cNvPr id="4" name="img-36_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2438400"/>
            <a:ext cx="5715000" cy="838200"/>
          </a:xfrm>
          <a:prstGeom prst="rect">
            <a:avLst/>
          </a:prstGeom>
          <a:noFill/>
          <a:ln>
            <a:noFill/>
          </a:ln>
        </p:spPr>
      </p:pic>
      <p:pic>
        <p:nvPicPr>
          <p:cNvPr id="5" name="img-c02t012" descr="Table2.12: Frequency Distribution"/>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3657600"/>
            <a:ext cx="8153400" cy="3200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126163"/>
          </a:xfrm>
        </p:spPr>
        <p:txBody>
          <a:bodyPr>
            <a:normAutofit/>
          </a:bodyPr>
          <a:lstStyle/>
          <a:p>
            <a:pPr algn="just">
              <a:buNone/>
            </a:pPr>
            <a:r>
              <a:rPr lang="en-US" sz="2400" dirty="0">
                <a:latin typeface="Times New Roman" pitchFamily="18" charset="0"/>
                <a:cs typeface="Times New Roman" pitchFamily="18" charset="0"/>
              </a:rPr>
              <a:t>There are </a:t>
            </a:r>
            <a:r>
              <a:rPr lang="en-US" sz="2400"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TWO WAYS IN WHICH OBSERVATIONS </a:t>
            </a: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the data set are classified on the basis of class intervals, namely</a:t>
            </a:r>
          </a:p>
          <a:p>
            <a:pPr lvl="0" algn="just"/>
            <a:r>
              <a:rPr lang="en-US" sz="2400" dirty="0">
                <a:latin typeface="Times New Roman" pitchFamily="18" charset="0"/>
                <a:cs typeface="Times New Roman" pitchFamily="18" charset="0"/>
              </a:rPr>
              <a:t>Exclusive method, and</a:t>
            </a:r>
          </a:p>
          <a:p>
            <a:pPr lvl="0" algn="just"/>
            <a:r>
              <a:rPr lang="en-US" sz="2400" dirty="0">
                <a:latin typeface="Times New Roman" pitchFamily="18" charset="0"/>
                <a:cs typeface="Times New Roman" pitchFamily="18" charset="0"/>
              </a:rPr>
              <a:t>Inclusive method</a:t>
            </a:r>
          </a:p>
          <a:p>
            <a:pPr algn="just"/>
            <a:r>
              <a:rPr lang="en-US" sz="2400" b="1" dirty="0">
                <a:latin typeface="Times New Roman" pitchFamily="18" charset="0"/>
                <a:cs typeface="Times New Roman" pitchFamily="18" charset="0"/>
              </a:rPr>
              <a:t>Exclusive Method</a:t>
            </a:r>
            <a:r>
              <a:rPr lang="en-US" sz="2400" dirty="0">
                <a:latin typeface="Times New Roman" pitchFamily="18" charset="0"/>
                <a:cs typeface="Times New Roman" pitchFamily="18" charset="0"/>
              </a:rPr>
              <a:t> When the data are classified in such a way that the </a:t>
            </a:r>
            <a:r>
              <a:rPr lang="en-US" sz="2400" b="1"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upper limit of a class interval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is</a:t>
            </a:r>
            <a:r>
              <a:rPr lang="en-US" sz="2400" b="1"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 the lower limit of the succeeding class</a:t>
            </a:r>
            <a:r>
              <a:rPr lang="en-US" sz="2400" dirty="0">
                <a:latin typeface="Times New Roman" pitchFamily="18" charset="0"/>
                <a:cs typeface="Times New Roman" pitchFamily="18" charset="0"/>
              </a:rPr>
              <a:t> </a:t>
            </a:r>
            <a:r>
              <a:rPr lang="en-US" sz="2400" b="1" dirty="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interval</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then </a:t>
            </a:r>
            <a:r>
              <a:rPr lang="en-US" sz="2400" dirty="0">
                <a:latin typeface="Times New Roman" pitchFamily="18" charset="0"/>
                <a:cs typeface="Times New Roman" pitchFamily="18" charset="0"/>
              </a:rPr>
              <a:t>it</a:t>
            </a:r>
            <a:r>
              <a:rPr lang="en-US" sz="2800" dirty="0">
                <a:latin typeface="Times New Roman" pitchFamily="18" charset="0"/>
                <a:cs typeface="Times New Roman" pitchFamily="18" charset="0"/>
              </a:rPr>
              <a:t> </a:t>
            </a:r>
            <a:r>
              <a:rPr lang="en-US" sz="2400" dirty="0">
                <a:latin typeface="Times New Roman" pitchFamily="18" charset="0"/>
                <a:cs typeface="Times New Roman" pitchFamily="18" charset="0"/>
              </a:rPr>
              <a:t>is said to be the </a:t>
            </a:r>
            <a:r>
              <a:rPr lang="en-US" sz="2400" b="1" u="sng" dirty="0">
                <a:latin typeface="Times New Roman" pitchFamily="18" charset="0"/>
                <a:cs typeface="Times New Roman" pitchFamily="18" charset="0"/>
              </a:rPr>
              <a:t>exclusive method of classifying </a:t>
            </a:r>
            <a:r>
              <a:rPr lang="en-US" sz="2400" b="1" dirty="0">
                <a:latin typeface="Times New Roman" pitchFamily="18" charset="0"/>
                <a:cs typeface="Times New Roman" pitchFamily="18" charset="0"/>
              </a:rPr>
              <a:t>data.</a:t>
            </a:r>
            <a:endParaRPr lang="en-US" b="1"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057744478"/>
              </p:ext>
            </p:extLst>
          </p:nvPr>
        </p:nvGraphicFramePr>
        <p:xfrm>
          <a:off x="-34047" y="3429000"/>
          <a:ext cx="8991600" cy="3476244"/>
        </p:xfrm>
        <a:graphic>
          <a:graphicData uri="http://schemas.openxmlformats.org/drawingml/2006/table">
            <a:tbl>
              <a:tblPr firstRow="1" firstCol="1" bandRow="1"/>
              <a:tblGrid>
                <a:gridCol w="4495800"/>
                <a:gridCol w="4495800"/>
              </a:tblGrid>
              <a:tr h="514760">
                <a:tc>
                  <a:txBody>
                    <a:bodyPr/>
                    <a:lstStyle/>
                    <a:p>
                      <a:pPr marL="0" marR="0" algn="just">
                        <a:lnSpc>
                          <a:spcPct val="115000"/>
                        </a:lnSpc>
                        <a:spcBef>
                          <a:spcPts val="0"/>
                        </a:spcBef>
                        <a:spcAft>
                          <a:spcPts val="0"/>
                        </a:spcAft>
                      </a:pPr>
                      <a:r>
                        <a:rPr lang="en-US" sz="2400" i="1" dirty="0">
                          <a:effectLst/>
                          <a:latin typeface="Calibri"/>
                          <a:ea typeface="Times New Roman"/>
                          <a:cs typeface="Times New Roman"/>
                        </a:rPr>
                        <a:t>Dividend Declared in per cent Number of Companies</a:t>
                      </a:r>
                      <a:endParaRPr lang="en-US" sz="20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400" i="1" dirty="0">
                          <a:effectLst/>
                          <a:latin typeface="Calibri"/>
                          <a:ea typeface="Times New Roman"/>
                          <a:cs typeface="Times New Roman"/>
                        </a:rPr>
                        <a:t>Number of Companies (Frequencies)</a:t>
                      </a:r>
                      <a:endParaRPr lang="en-US" sz="20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59777">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0–10</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5</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r h="559777">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10–20</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7</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59777">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20–30</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15</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r h="559777">
                <a:tc>
                  <a:txBody>
                    <a:bodyPr/>
                    <a:lstStyle/>
                    <a:p>
                      <a:pPr marL="0" marR="0" algn="just">
                        <a:lnSpc>
                          <a:spcPct val="115000"/>
                        </a:lnSpc>
                        <a:spcBef>
                          <a:spcPts val="0"/>
                        </a:spcBef>
                        <a:spcAft>
                          <a:spcPts val="0"/>
                        </a:spcAft>
                      </a:pPr>
                      <a:r>
                        <a:rPr lang="en-US" sz="2400">
                          <a:effectLst/>
                          <a:latin typeface="Calibri"/>
                          <a:ea typeface="Times New Roman"/>
                          <a:cs typeface="Times New Roman"/>
                        </a:rPr>
                        <a:t>30–40</a:t>
                      </a:r>
                      <a:endParaRPr lang="en-US" sz="18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10</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9987066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a:bodyPr>
          <a:lstStyle/>
          <a:p>
            <a:pPr algn="just"/>
            <a:r>
              <a:rPr lang="en-US" sz="2800" dirty="0">
                <a:solidFill>
                  <a:srgbClr val="FF0000"/>
                </a:solidFill>
                <a:latin typeface="Times New Roman" pitchFamily="18" charset="0"/>
                <a:cs typeface="Times New Roman" pitchFamily="18" charset="0"/>
              </a:rPr>
              <a:t>Inclusive Method </a:t>
            </a:r>
            <a:r>
              <a:rPr lang="en-US" sz="2400" dirty="0">
                <a:latin typeface="Times New Roman" pitchFamily="18" charset="0"/>
                <a:cs typeface="Times New Roman" pitchFamily="18" charset="0"/>
              </a:rPr>
              <a:t>When the data are classified in such a way that both lower and upper limits of a class interval are included in the interval </a:t>
            </a:r>
            <a:r>
              <a:rPr lang="en-US" sz="2400" dirty="0" smtClean="0">
                <a:latin typeface="Times New Roman" pitchFamily="18" charset="0"/>
                <a:cs typeface="Times New Roman" pitchFamily="18" charset="0"/>
              </a:rPr>
              <a:t>itself.</a:t>
            </a:r>
          </a:p>
          <a:p>
            <a:pPr algn="just"/>
            <a:r>
              <a:rPr lang="en-US" sz="2000" dirty="0" smtClean="0">
                <a:latin typeface="Times New Roman" pitchFamily="18" charset="0"/>
                <a:cs typeface="Times New Roman" pitchFamily="18" charset="0"/>
              </a:rPr>
              <a:t>To </a:t>
            </a:r>
            <a:r>
              <a:rPr lang="en-US" sz="2000" dirty="0">
                <a:latin typeface="Times New Roman" pitchFamily="18" charset="0"/>
                <a:cs typeface="Times New Roman" pitchFamily="18" charset="0"/>
              </a:rPr>
              <a:t>ensure continuity, first calculate correction </a:t>
            </a:r>
            <a:r>
              <a:rPr lang="en-US" sz="2000" dirty="0" smtClean="0">
                <a:latin typeface="Times New Roman" pitchFamily="18" charset="0"/>
                <a:cs typeface="Times New Roman" pitchFamily="18" charset="0"/>
              </a:rPr>
              <a:t>factor:</a:t>
            </a:r>
          </a:p>
          <a:p>
            <a:pPr marL="0" indent="0" algn="just">
              <a:buNone/>
            </a:pPr>
            <a:endParaRPr lang="en-US" sz="2200" dirty="0" smtClean="0"/>
          </a:p>
          <a:p>
            <a:pPr marL="0" indent="0" algn="just">
              <a:buNone/>
            </a:pPr>
            <a:r>
              <a:rPr lang="en-US" sz="2200" dirty="0" smtClean="0"/>
              <a:t> </a:t>
            </a:r>
            <a:endParaRPr lang="en-US" sz="2200" dirty="0"/>
          </a:p>
          <a:p>
            <a:pPr marL="0" indent="0" algn="just">
              <a:buNone/>
            </a:pPr>
            <a:r>
              <a:rPr lang="en-US" sz="2200" dirty="0"/>
              <a:t> </a:t>
            </a:r>
          </a:p>
          <a:p>
            <a:pPr marL="0" indent="0" algn="just">
              <a:buNone/>
            </a:pPr>
            <a:endParaRPr lang="en-US" sz="2200" dirty="0" smtClean="0"/>
          </a:p>
          <a:p>
            <a:pPr marL="0" indent="0" algn="just">
              <a:buNone/>
            </a:pPr>
            <a:endParaRPr lang="en-US" sz="2200" dirty="0" smtClean="0"/>
          </a:p>
          <a:p>
            <a:pPr marL="0" indent="0" algn="just">
              <a:buNone/>
            </a:pPr>
            <a:endParaRPr lang="en-US" sz="2200" dirty="0"/>
          </a:p>
          <a:p>
            <a:pPr algn="just"/>
            <a:endParaRPr lang="en-US" sz="2200" dirty="0" smtClean="0"/>
          </a:p>
          <a:p>
            <a:pPr algn="just"/>
            <a:endParaRPr lang="en-US" sz="2200" dirty="0"/>
          </a:p>
          <a:p>
            <a:pPr marL="0" indent="0" algn="just">
              <a:buNone/>
            </a:pPr>
            <a:endParaRPr lang="en-US" sz="2200" dirty="0" smtClean="0"/>
          </a:p>
          <a:p>
            <a:pPr marL="0" indent="0" algn="just">
              <a:buNone/>
            </a:pPr>
            <a:endParaRPr lang="en-US" sz="2200" dirty="0"/>
          </a:p>
          <a:p>
            <a:pPr algn="just"/>
            <a:endParaRPr lang="en-US" sz="2200" dirty="0"/>
          </a:p>
          <a:p>
            <a:pPr algn="just"/>
            <a:endParaRPr lang="en-US" sz="2000" dirty="0" smtClean="0"/>
          </a:p>
          <a:p>
            <a:pPr algn="just"/>
            <a:r>
              <a:rPr lang="en-US" sz="2000" dirty="0" smtClean="0">
                <a:latin typeface="Times New Roman" pitchFamily="18" charset="0"/>
                <a:cs typeface="Times New Roman" pitchFamily="18" charset="0"/>
              </a:rPr>
              <a:t>From Table </a:t>
            </a:r>
            <a:r>
              <a:rPr lang="en-US" sz="2000" dirty="0">
                <a:latin typeface="Times New Roman" pitchFamily="18" charset="0"/>
                <a:cs typeface="Times New Roman" pitchFamily="18" charset="0"/>
              </a:rPr>
              <a:t>we have x = (</a:t>
            </a:r>
            <a:r>
              <a:rPr lang="en-US" sz="2000" dirty="0" smtClean="0">
                <a:latin typeface="Times New Roman" pitchFamily="18" charset="0"/>
                <a:cs typeface="Times New Roman" pitchFamily="18" charset="0"/>
              </a:rPr>
              <a:t>44 </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45) </a:t>
            </a:r>
            <a:r>
              <a:rPr lang="en-US" sz="2000" dirty="0">
                <a:latin typeface="Times New Roman" pitchFamily="18" charset="0"/>
                <a:cs typeface="Times New Roman" pitchFamily="18" charset="0"/>
              </a:rPr>
              <a:t>÷ 2 = </a:t>
            </a:r>
            <a:r>
              <a:rPr lang="en-US" sz="2000" dirty="0" smtClean="0">
                <a:latin typeface="Times New Roman" pitchFamily="18" charset="0"/>
                <a:cs typeface="Times New Roman" pitchFamily="18" charset="0"/>
              </a:rPr>
              <a:t>0.5</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r>
              <a:rPr lang="en-US" sz="2000" b="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Subtract </a:t>
            </a:r>
            <a:r>
              <a:rPr lang="en-US" sz="20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0.5 from the lower limits </a:t>
            </a:r>
            <a:r>
              <a:rPr lang="en-US" sz="2000" b="1" i="1" u="sng" dirty="0">
                <a:solidFill>
                  <a:srgbClr val="0066FF"/>
                </a:solidFill>
                <a:effectLst>
                  <a:outerShdw blurRad="38100" dist="38100" dir="2700000" algn="tl">
                    <a:srgbClr val="000000">
                      <a:alpha val="43137"/>
                    </a:srgbClr>
                  </a:outerShdw>
                </a:effectLst>
                <a:latin typeface="Times New Roman" pitchFamily="18" charset="0"/>
                <a:cs typeface="Times New Roman" pitchFamily="18" charset="0"/>
              </a:rPr>
              <a:t>of all the classes </a:t>
            </a:r>
            <a:r>
              <a:rPr lang="en-US" sz="2000" dirty="0">
                <a:latin typeface="Times New Roman" pitchFamily="18" charset="0"/>
                <a:cs typeface="Times New Roman" pitchFamily="18" charset="0"/>
              </a:rPr>
              <a:t>and </a:t>
            </a:r>
            <a:r>
              <a:rPr lang="en-US" sz="2000" b="1" u="sng"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add 0.5 to the </a:t>
            </a:r>
            <a:r>
              <a:rPr lang="en-US" sz="2400" b="1" u="sng"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upper limits</a:t>
            </a:r>
            <a:r>
              <a:rPr lang="en-US" sz="2400" dirty="0">
                <a:latin typeface="Times New Roman" pitchFamily="18" charset="0"/>
                <a:cs typeface="Times New Roman" pitchFamily="18" charset="0"/>
              </a:rPr>
              <a:t>. is </a:t>
            </a:r>
            <a:r>
              <a:rPr lang="en-US" sz="2400" dirty="0" smtClean="0">
                <a:latin typeface="Times New Roman" pitchFamily="18" charset="0"/>
                <a:cs typeface="Times New Roman" pitchFamily="18" charset="0"/>
              </a:rPr>
              <a:t>said </a:t>
            </a:r>
            <a:r>
              <a:rPr lang="en-US" sz="2400" dirty="0">
                <a:latin typeface="Times New Roman" pitchFamily="18" charset="0"/>
                <a:cs typeface="Times New Roman" pitchFamily="18" charset="0"/>
              </a:rPr>
              <a:t>to be the inclusive method of classifying data. </a:t>
            </a:r>
            <a:endParaRPr lang="en-US" sz="2400" dirty="0" smtClean="0">
              <a:latin typeface="Times New Roman" pitchFamily="18" charset="0"/>
              <a:cs typeface="Times New Roman"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800376700"/>
              </p:ext>
            </p:extLst>
          </p:nvPr>
        </p:nvGraphicFramePr>
        <p:xfrm>
          <a:off x="385053" y="1142239"/>
          <a:ext cx="8229600" cy="3526536"/>
        </p:xfrm>
        <a:graphic>
          <a:graphicData uri="http://schemas.openxmlformats.org/drawingml/2006/table">
            <a:tbl>
              <a:tblPr firstRow="1" firstCol="1" bandRow="1"/>
              <a:tblGrid>
                <a:gridCol w="4114800"/>
                <a:gridCol w="4114800"/>
              </a:tblGrid>
              <a:tr h="468413">
                <a:tc>
                  <a:txBody>
                    <a:bodyPr/>
                    <a:lstStyle/>
                    <a:p>
                      <a:pPr marL="0" marR="0" algn="just">
                        <a:lnSpc>
                          <a:spcPct val="115000"/>
                        </a:lnSpc>
                        <a:spcBef>
                          <a:spcPts val="0"/>
                        </a:spcBef>
                        <a:spcAft>
                          <a:spcPts val="0"/>
                        </a:spcAft>
                      </a:pPr>
                      <a:r>
                        <a:rPr lang="en-US" sz="2000" i="1" dirty="0">
                          <a:effectLst/>
                          <a:latin typeface="Calibri"/>
                          <a:ea typeface="Times New Roman"/>
                          <a:cs typeface="Times New Roman"/>
                        </a:rPr>
                        <a:t>Class Interval</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000" i="1" dirty="0">
                          <a:effectLst/>
                          <a:latin typeface="Calibri"/>
                          <a:ea typeface="Times New Roman"/>
                          <a:cs typeface="Times New Roman"/>
                        </a:rPr>
                        <a:t>Frequency</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27793">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30–44</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ct val="115000"/>
                        </a:lnSpc>
                        <a:spcBef>
                          <a:spcPts val="0"/>
                        </a:spcBef>
                        <a:spcAft>
                          <a:spcPts val="0"/>
                        </a:spcAft>
                      </a:pPr>
                      <a:r>
                        <a:rPr lang="en-US" sz="2400">
                          <a:effectLst/>
                          <a:latin typeface="Calibri"/>
                          <a:ea typeface="Times New Roman"/>
                          <a:cs typeface="Times New Roman"/>
                        </a:rPr>
                        <a:t>28</a:t>
                      </a:r>
                      <a:endParaRPr lang="en-US" sz="18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r h="527793">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45–59</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32</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27793">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60–74</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45</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r h="527793">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75–89</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400" dirty="0">
                          <a:effectLst/>
                          <a:latin typeface="Calibri"/>
                          <a:ea typeface="Times New Roman"/>
                          <a:cs typeface="Times New Roman"/>
                        </a:rPr>
                        <a:t>50</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91083">
                <a:tc>
                  <a:txBody>
                    <a:bodyPr/>
                    <a:lstStyle/>
                    <a:p>
                      <a:pPr marL="0" marR="0" algn="just">
                        <a:lnSpc>
                          <a:spcPct val="115000"/>
                        </a:lnSpc>
                        <a:spcBef>
                          <a:spcPts val="0"/>
                        </a:spcBef>
                        <a:spcAft>
                          <a:spcPts val="0"/>
                        </a:spcAft>
                      </a:pPr>
                      <a:r>
                        <a:rPr lang="en-US" sz="2000" dirty="0">
                          <a:effectLst/>
                          <a:latin typeface="Calibri"/>
                          <a:ea typeface="Times New Roman"/>
                          <a:cs typeface="Times New Roman"/>
                        </a:rPr>
                        <a:t>90–104</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ct val="115000"/>
                        </a:lnSpc>
                        <a:spcBef>
                          <a:spcPts val="0"/>
                        </a:spcBef>
                        <a:spcAft>
                          <a:spcPts val="0"/>
                        </a:spcAft>
                      </a:pPr>
                      <a:r>
                        <a:rPr lang="en-US" sz="2000" dirty="0">
                          <a:effectLst/>
                          <a:latin typeface="Calibri"/>
                          <a:ea typeface="Times New Roman"/>
                          <a:cs typeface="Times New Roman"/>
                        </a:rPr>
                        <a:t>35</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bl>
          </a:graphicData>
        </a:graphic>
      </p:graphicFrame>
      <p:pic>
        <p:nvPicPr>
          <p:cNvPr id="7" name="img-35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81400" y="4724400"/>
            <a:ext cx="4724400" cy="762000"/>
          </a:xfrm>
          <a:prstGeom prst="rect">
            <a:avLst/>
          </a:prstGeom>
          <a:noFill/>
          <a:ln>
            <a:noFill/>
          </a:ln>
        </p:spPr>
      </p:pic>
    </p:spTree>
    <p:extLst>
      <p:ext uri="{BB962C8B-B14F-4D97-AF65-F5344CB8AC3E}">
        <p14:creationId xmlns:p14="http://schemas.microsoft.com/office/powerpoint/2010/main" val="3183475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069290093"/>
              </p:ext>
            </p:extLst>
          </p:nvPr>
        </p:nvGraphicFramePr>
        <p:xfrm>
          <a:off x="0" y="609602"/>
          <a:ext cx="9067800" cy="6180758"/>
        </p:xfrm>
        <a:graphic>
          <a:graphicData uri="http://schemas.openxmlformats.org/drawingml/2006/table">
            <a:tbl>
              <a:tblPr firstRow="1" firstCol="1" bandRow="1"/>
              <a:tblGrid>
                <a:gridCol w="4533900"/>
                <a:gridCol w="4533900"/>
              </a:tblGrid>
              <a:tr h="946987">
                <a:tc>
                  <a:txBody>
                    <a:bodyPr/>
                    <a:lstStyle/>
                    <a:p>
                      <a:pPr marL="0" marR="0" algn="just">
                        <a:lnSpc>
                          <a:spcPct val="115000"/>
                        </a:lnSpc>
                        <a:spcBef>
                          <a:spcPts val="0"/>
                        </a:spcBef>
                        <a:spcAft>
                          <a:spcPts val="0"/>
                        </a:spcAft>
                      </a:pPr>
                      <a:r>
                        <a:rPr lang="en-US" sz="2000" i="1" dirty="0">
                          <a:effectLst/>
                          <a:latin typeface="Calibri"/>
                          <a:ea typeface="Times New Roman"/>
                          <a:cs typeface="Times New Roman"/>
                        </a:rPr>
                        <a:t>Dividend Declared in per cent Number of Companies</a:t>
                      </a:r>
                      <a:endParaRPr lang="en-US" sz="18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400" i="1" dirty="0">
                          <a:effectLst/>
                          <a:latin typeface="Calibri"/>
                          <a:ea typeface="Times New Roman"/>
                          <a:cs typeface="Times New Roman"/>
                        </a:rPr>
                        <a:t>Number of Companies (Frequencies)</a:t>
                      </a:r>
                      <a:endParaRPr lang="en-US" sz="20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029802">
                <a:tc>
                  <a:txBody>
                    <a:bodyPr/>
                    <a:lstStyle/>
                    <a:p>
                      <a:pPr marL="0" marR="0" algn="just">
                        <a:lnSpc>
                          <a:spcPct val="115000"/>
                        </a:lnSpc>
                        <a:spcBef>
                          <a:spcPts val="0"/>
                        </a:spcBef>
                        <a:spcAft>
                          <a:spcPts val="0"/>
                        </a:spcAft>
                      </a:pPr>
                      <a:r>
                        <a:rPr lang="en-US" sz="2800" dirty="0">
                          <a:effectLst/>
                          <a:latin typeface="Calibri"/>
                          <a:ea typeface="Times New Roman"/>
                          <a:cs typeface="Times New Roman"/>
                        </a:rPr>
                        <a:t>29.5 – 44.5</a:t>
                      </a:r>
                      <a:endParaRPr lang="en-US" sz="20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ct val="115000"/>
                        </a:lnSpc>
                        <a:spcBef>
                          <a:spcPts val="0"/>
                        </a:spcBef>
                        <a:spcAft>
                          <a:spcPts val="0"/>
                        </a:spcAft>
                      </a:pPr>
                      <a:r>
                        <a:rPr lang="en-US" sz="3200" dirty="0">
                          <a:effectLst/>
                          <a:latin typeface="Calibri"/>
                          <a:ea typeface="Times New Roman"/>
                          <a:cs typeface="Times New Roman"/>
                        </a:rPr>
                        <a:t>28</a:t>
                      </a:r>
                      <a:endParaRPr lang="en-US" sz="24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r h="1029802">
                <a:tc>
                  <a:txBody>
                    <a:bodyPr/>
                    <a:lstStyle/>
                    <a:p>
                      <a:pPr marL="0" marR="0" algn="just">
                        <a:lnSpc>
                          <a:spcPct val="115000"/>
                        </a:lnSpc>
                        <a:spcBef>
                          <a:spcPts val="0"/>
                        </a:spcBef>
                        <a:spcAft>
                          <a:spcPts val="0"/>
                        </a:spcAft>
                      </a:pPr>
                      <a:r>
                        <a:rPr lang="en-US" sz="2800" dirty="0">
                          <a:effectLst/>
                          <a:latin typeface="Calibri"/>
                          <a:ea typeface="Times New Roman"/>
                          <a:cs typeface="Times New Roman"/>
                        </a:rPr>
                        <a:t>44.5 – 59.5</a:t>
                      </a:r>
                      <a:endParaRPr lang="en-US" sz="20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3200" dirty="0">
                          <a:effectLst/>
                          <a:latin typeface="Calibri"/>
                          <a:ea typeface="Times New Roman"/>
                          <a:cs typeface="Times New Roman"/>
                        </a:rPr>
                        <a:t>32</a:t>
                      </a:r>
                      <a:endParaRPr lang="en-US" sz="24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029802">
                <a:tc>
                  <a:txBody>
                    <a:bodyPr/>
                    <a:lstStyle/>
                    <a:p>
                      <a:pPr marL="0" marR="0" algn="just">
                        <a:lnSpc>
                          <a:spcPct val="115000"/>
                        </a:lnSpc>
                        <a:spcBef>
                          <a:spcPts val="0"/>
                        </a:spcBef>
                        <a:spcAft>
                          <a:spcPts val="0"/>
                        </a:spcAft>
                      </a:pPr>
                      <a:r>
                        <a:rPr lang="en-US" sz="2800" dirty="0">
                          <a:effectLst/>
                          <a:latin typeface="Calibri"/>
                          <a:ea typeface="Times New Roman"/>
                          <a:cs typeface="Times New Roman"/>
                        </a:rPr>
                        <a:t>59.5 – 74.5</a:t>
                      </a:r>
                      <a:endParaRPr lang="en-US" sz="20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ct val="115000"/>
                        </a:lnSpc>
                        <a:spcBef>
                          <a:spcPts val="0"/>
                        </a:spcBef>
                        <a:spcAft>
                          <a:spcPts val="0"/>
                        </a:spcAft>
                      </a:pPr>
                      <a:r>
                        <a:rPr lang="en-US" sz="3200" dirty="0">
                          <a:effectLst/>
                          <a:latin typeface="Calibri"/>
                          <a:ea typeface="Times New Roman"/>
                          <a:cs typeface="Times New Roman"/>
                        </a:rPr>
                        <a:t>45</a:t>
                      </a:r>
                      <a:endParaRPr lang="en-US" sz="24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r h="1029802">
                <a:tc>
                  <a:txBody>
                    <a:bodyPr/>
                    <a:lstStyle/>
                    <a:p>
                      <a:pPr marL="0" marR="0" algn="just">
                        <a:lnSpc>
                          <a:spcPct val="115000"/>
                        </a:lnSpc>
                        <a:spcBef>
                          <a:spcPts val="0"/>
                        </a:spcBef>
                        <a:spcAft>
                          <a:spcPts val="0"/>
                        </a:spcAft>
                      </a:pPr>
                      <a:r>
                        <a:rPr lang="en-US" sz="2800" dirty="0">
                          <a:effectLst/>
                          <a:latin typeface="Calibri"/>
                          <a:ea typeface="Times New Roman"/>
                          <a:cs typeface="Times New Roman"/>
                        </a:rPr>
                        <a:t>74.5 – 89.5</a:t>
                      </a:r>
                      <a:endParaRPr lang="en-US" sz="20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800" dirty="0">
                          <a:effectLst/>
                          <a:latin typeface="Calibri"/>
                          <a:ea typeface="Times New Roman"/>
                          <a:cs typeface="Times New Roman"/>
                        </a:rPr>
                        <a:t>50</a:t>
                      </a:r>
                      <a:endParaRPr lang="en-US" sz="20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029802">
                <a:tc>
                  <a:txBody>
                    <a:bodyPr/>
                    <a:lstStyle/>
                    <a:p>
                      <a:pPr marL="0" marR="0" algn="just">
                        <a:lnSpc>
                          <a:spcPct val="115000"/>
                        </a:lnSpc>
                        <a:spcBef>
                          <a:spcPts val="0"/>
                        </a:spcBef>
                        <a:spcAft>
                          <a:spcPts val="0"/>
                        </a:spcAft>
                      </a:pPr>
                      <a:r>
                        <a:rPr lang="en-US" sz="2800" dirty="0">
                          <a:effectLst/>
                          <a:latin typeface="Calibri"/>
                          <a:ea typeface="Times New Roman"/>
                          <a:cs typeface="Times New Roman"/>
                        </a:rPr>
                        <a:t>89.5 – 104.5</a:t>
                      </a:r>
                      <a:endParaRPr lang="en-US" sz="20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ct val="115000"/>
                        </a:lnSpc>
                        <a:spcBef>
                          <a:spcPts val="0"/>
                        </a:spcBef>
                        <a:spcAft>
                          <a:spcPts val="0"/>
                        </a:spcAft>
                      </a:pPr>
                      <a:r>
                        <a:rPr lang="en-US" sz="3200" dirty="0">
                          <a:effectLst/>
                          <a:latin typeface="Calibri"/>
                          <a:ea typeface="Times New Roman"/>
                          <a:cs typeface="Times New Roman"/>
                        </a:rPr>
                        <a:t>35</a:t>
                      </a:r>
                      <a:endParaRPr lang="en-US" sz="24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bl>
          </a:graphicData>
        </a:graphic>
      </p:graphicFrame>
    </p:spTree>
    <p:extLst>
      <p:ext uri="{BB962C8B-B14F-4D97-AF65-F5344CB8AC3E}">
        <p14:creationId xmlns:p14="http://schemas.microsoft.com/office/powerpoint/2010/main" val="25615352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a:bodyPr>
          <a:lstStyle/>
          <a:p>
            <a:pPr algn="ctr">
              <a:buNone/>
            </a:pPr>
            <a:r>
              <a:rPr lang="en-US" sz="4100" b="1" dirty="0" smtClean="0">
                <a:solidFill>
                  <a:srgbClr val="FF0000"/>
                </a:solidFill>
                <a:latin typeface="Times New Roman" pitchFamily="18" charset="0"/>
                <a:cs typeface="Times New Roman" pitchFamily="18" charset="0"/>
              </a:rPr>
              <a:t>CENTRAL TENDENCY</a:t>
            </a:r>
          </a:p>
          <a:p>
            <a:pPr algn="just"/>
            <a:r>
              <a:rPr lang="en-US" dirty="0" smtClean="0">
                <a:latin typeface="Times New Roman" pitchFamily="18" charset="0"/>
                <a:cs typeface="Times New Roman" pitchFamily="18" charset="0"/>
              </a:rPr>
              <a:t>The term </a:t>
            </a:r>
            <a:r>
              <a:rPr lang="en-US" u="sng" dirty="0" smtClean="0">
                <a:solidFill>
                  <a:srgbClr val="0033CC"/>
                </a:solidFill>
                <a:effectLst>
                  <a:outerShdw blurRad="38100" dist="38100" dir="2700000" algn="tl">
                    <a:srgbClr val="000000">
                      <a:alpha val="43137"/>
                    </a:srgbClr>
                  </a:outerShdw>
                </a:effectLst>
                <a:latin typeface="Times New Roman" pitchFamily="18" charset="0"/>
                <a:cs typeface="Times New Roman" pitchFamily="18" charset="0"/>
              </a:rPr>
              <a:t>‘central tendency</a:t>
            </a:r>
            <a:r>
              <a:rPr lang="en-US" dirty="0" smtClean="0">
                <a:latin typeface="Times New Roman" pitchFamily="18" charset="0"/>
                <a:cs typeface="Times New Roman" pitchFamily="18" charset="0"/>
              </a:rPr>
              <a:t>’ was coined because </a:t>
            </a:r>
            <a:r>
              <a:rPr lang="en-US" dirty="0" smtClean="0">
                <a:solidFill>
                  <a:srgbClr val="CC00FF"/>
                </a:solidFill>
                <a:effectLst>
                  <a:outerShdw blurRad="38100" dist="38100" dir="2700000" algn="tl">
                    <a:srgbClr val="000000">
                      <a:alpha val="43137"/>
                    </a:srgbClr>
                  </a:outerShdw>
                </a:effectLst>
                <a:latin typeface="Times New Roman" pitchFamily="18" charset="0"/>
                <a:cs typeface="Times New Roman" pitchFamily="18" charset="0"/>
              </a:rPr>
              <a:t>observations</a:t>
            </a:r>
            <a:r>
              <a:rPr lang="en-US" dirty="0" smtClean="0">
                <a:latin typeface="Times New Roman" pitchFamily="18" charset="0"/>
                <a:cs typeface="Times New Roman" pitchFamily="18" charset="0"/>
              </a:rPr>
              <a:t> (numerical values) </a:t>
            </a:r>
            <a:r>
              <a:rPr lang="en-US" i="1" dirty="0" smtClean="0">
                <a:effectLst>
                  <a:outerShdw blurRad="38100" dist="38100" dir="2700000" algn="tl">
                    <a:srgbClr val="000000">
                      <a:alpha val="43137"/>
                    </a:srgbClr>
                  </a:outerShdw>
                </a:effectLst>
                <a:latin typeface="Times New Roman" pitchFamily="18" charset="0"/>
                <a:cs typeface="Times New Roman" pitchFamily="18" charset="0"/>
              </a:rPr>
              <a:t>in most data sets show a distinct tendency</a:t>
            </a:r>
            <a:r>
              <a:rPr lang="en-US" dirty="0" smtClean="0">
                <a:latin typeface="Times New Roman" pitchFamily="18" charset="0"/>
                <a:cs typeface="Times New Roman" pitchFamily="18" charset="0"/>
              </a:rPr>
              <a:t> </a:t>
            </a:r>
            <a:r>
              <a:rPr lang="en-US" u="dbl" dirty="0" smtClean="0">
                <a:effectLst>
                  <a:outerShdw blurRad="38100" dist="38100" dir="2700000" algn="tl">
                    <a:srgbClr val="000000">
                      <a:alpha val="43137"/>
                    </a:srgbClr>
                  </a:outerShdw>
                </a:effectLst>
                <a:uFill>
                  <a:solidFill>
                    <a:srgbClr val="FFFF00"/>
                  </a:solidFill>
                </a:uFill>
                <a:latin typeface="Times New Roman" pitchFamily="18" charset="0"/>
                <a:cs typeface="Times New Roman" pitchFamily="18" charset="0"/>
              </a:rPr>
              <a:t>to group or cluster</a:t>
            </a:r>
            <a:r>
              <a:rPr lang="en-US" dirty="0" smtClean="0">
                <a:effectLst>
                  <a:outerShdw blurRad="38100" dist="38100" dir="2700000" algn="tl">
                    <a:srgbClr val="000000">
                      <a:alpha val="43137"/>
                    </a:srgbClr>
                  </a:outerShdw>
                </a:effectLst>
                <a:uFill>
                  <a:solidFill>
                    <a:srgbClr val="FFFF00"/>
                  </a:solidFill>
                </a:uFill>
                <a:latin typeface="Times New Roman" pitchFamily="18" charset="0"/>
                <a:cs typeface="Times New Roman" pitchFamily="18" charset="0"/>
              </a:rPr>
              <a:t> </a:t>
            </a:r>
            <a:r>
              <a:rPr lang="en-US" dirty="0" smtClean="0">
                <a:latin typeface="Times New Roman" pitchFamily="18" charset="0"/>
                <a:cs typeface="Times New Roman" pitchFamily="18" charset="0"/>
              </a:rPr>
              <a:t>around a value somewhere in the middle of all observations.</a:t>
            </a:r>
          </a:p>
          <a:p>
            <a:pPr algn="just">
              <a:buNone/>
            </a:pP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Therefore, it is necessary to identify or calculate this typical </a:t>
            </a:r>
            <a:r>
              <a:rPr lang="en-US" i="1" dirty="0" smtClean="0">
                <a:latin typeface="Times New Roman" pitchFamily="18" charset="0"/>
                <a:cs typeface="Times New Roman" pitchFamily="18" charset="0"/>
              </a:rPr>
              <a:t>central value</a:t>
            </a:r>
            <a:r>
              <a:rPr lang="en-US" dirty="0" smtClean="0">
                <a:latin typeface="Times New Roman" pitchFamily="18" charset="0"/>
                <a:cs typeface="Times New Roman" pitchFamily="18" charset="0"/>
              </a:rPr>
              <a:t> (also called </a:t>
            </a:r>
            <a:r>
              <a:rPr lang="en-US" i="1" dirty="0" smtClean="0">
                <a:latin typeface="Times New Roman" pitchFamily="18" charset="0"/>
                <a:cs typeface="Times New Roman" pitchFamily="18" charset="0"/>
              </a:rPr>
              <a:t>average</a:t>
            </a:r>
            <a:r>
              <a:rPr lang="en-US" dirty="0" smtClean="0">
                <a:latin typeface="Times New Roman" pitchFamily="18" charset="0"/>
                <a:cs typeface="Times New Roman" pitchFamily="18" charset="0"/>
              </a:rPr>
              <a:t>) to describe or project the characteristic of the entire data set. </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This descriptive value is the measure of the </a:t>
            </a:r>
            <a:r>
              <a:rPr lang="en-US" i="1" dirty="0" smtClean="0">
                <a:latin typeface="Times New Roman" pitchFamily="18" charset="0"/>
                <a:cs typeface="Times New Roman" pitchFamily="18" charset="0"/>
              </a:rPr>
              <a:t>central tendency</a:t>
            </a:r>
            <a:r>
              <a:rPr lang="en-US" dirty="0" smtClean="0">
                <a:latin typeface="Times New Roman" pitchFamily="18" charset="0"/>
                <a:cs typeface="Times New Roman" pitchFamily="18" charset="0"/>
              </a:rPr>
              <a:t> or </a:t>
            </a:r>
            <a:r>
              <a:rPr lang="en-US" i="1" dirty="0" smtClean="0">
                <a:latin typeface="Times New Roman" pitchFamily="18" charset="0"/>
                <a:cs typeface="Times New Roman" pitchFamily="18" charset="0"/>
              </a:rPr>
              <a:t>location</a:t>
            </a:r>
            <a:r>
              <a:rPr lang="en-US" dirty="0" smtClean="0">
                <a:latin typeface="Times New Roman" pitchFamily="18" charset="0"/>
                <a:cs typeface="Times New Roman" pitchFamily="18" charset="0"/>
              </a:rPr>
              <a:t> and methods of computing this central value are called </a:t>
            </a:r>
            <a:r>
              <a:rPr lang="en-US" i="1" dirty="0" smtClean="0">
                <a:latin typeface="Times New Roman" pitchFamily="18" charset="0"/>
                <a:cs typeface="Times New Roman" pitchFamily="18" charset="0"/>
              </a:rPr>
              <a:t>measures of central tendency</a:t>
            </a:r>
            <a:r>
              <a:rPr lang="en-US" dirty="0" smtClean="0">
                <a:latin typeface="Times New Roman" pitchFamily="18" charset="0"/>
                <a:cs typeface="Times New Roman" pitchFamily="18" charset="0"/>
              </a:rPr>
              <a:t>.</a:t>
            </a:r>
          </a:p>
          <a:p>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Notes about Central Tendency</a:t>
            </a:r>
          </a:p>
          <a:p>
            <a:pPr algn="just"/>
            <a:r>
              <a:rPr lang="en-US" dirty="0" smtClean="0"/>
              <a:t>The common </a:t>
            </a:r>
            <a:r>
              <a:rPr lang="en-US" b="1" dirty="0" smtClean="0"/>
              <a:t>assumption</a:t>
            </a:r>
            <a:r>
              <a:rPr lang="en-US" dirty="0" smtClean="0"/>
              <a:t> of </a:t>
            </a:r>
            <a:r>
              <a:rPr lang="en-US" b="1" dirty="0" smtClean="0"/>
              <a:t>statistical</a:t>
            </a:r>
            <a:r>
              <a:rPr lang="en-US" dirty="0" smtClean="0"/>
              <a:t> test is that </a:t>
            </a:r>
            <a:r>
              <a:rPr lang="en-US" b="1" dirty="0" smtClean="0"/>
              <a:t>data</a:t>
            </a:r>
            <a:r>
              <a:rPr lang="en-US" dirty="0" smtClean="0"/>
              <a:t> is normally distributed. For normally distributed </a:t>
            </a:r>
            <a:r>
              <a:rPr lang="en-US" b="1" dirty="0" smtClean="0"/>
              <a:t>data</a:t>
            </a:r>
            <a:r>
              <a:rPr lang="en-US" dirty="0" smtClean="0"/>
              <a:t> we can use any of the central tendency method (mean, </a:t>
            </a:r>
            <a:r>
              <a:rPr lang="en-US" b="1" dirty="0" smtClean="0"/>
              <a:t>mode</a:t>
            </a:r>
            <a:r>
              <a:rPr lang="en-US" dirty="0" smtClean="0"/>
              <a:t> or median), because for symmetrical </a:t>
            </a:r>
            <a:r>
              <a:rPr lang="en-US" b="1" dirty="0" smtClean="0"/>
              <a:t>data</a:t>
            </a:r>
            <a:r>
              <a:rPr lang="en-US" dirty="0" smtClean="0"/>
              <a:t> all the three values are equal.</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629400"/>
          </a:xfrm>
        </p:spPr>
        <p:txBody>
          <a:bodyPr>
            <a:normAutofit fontScale="85000" lnSpcReduction="20000"/>
          </a:bodyPr>
          <a:lstStyle/>
          <a:p>
            <a:pPr algn="ctr">
              <a:buNone/>
            </a:pPr>
            <a:r>
              <a:rPr lang="en-US" sz="3800" b="1" i="1" cap="all" dirty="0" smtClean="0">
                <a:solidFill>
                  <a:srgbClr val="FF0000"/>
                </a:solidFill>
                <a:effectLst>
                  <a:outerShdw blurRad="38100" dist="38100" dir="2700000" algn="tl">
                    <a:srgbClr val="000000">
                      <a:alpha val="43137"/>
                    </a:srgbClr>
                  </a:outerShdw>
                </a:effectLst>
              </a:rPr>
              <a:t>MEASURES OF CENTRAL TENDENCY</a:t>
            </a:r>
          </a:p>
          <a:p>
            <a:pPr algn="ctr">
              <a:buNone/>
            </a:pPr>
            <a:endParaRPr lang="en-US" sz="2400" b="1" i="1" dirty="0" smtClean="0">
              <a:solidFill>
                <a:srgbClr val="FF0000"/>
              </a:solidFill>
              <a:effectLst>
                <a:outerShdw blurRad="38100" dist="38100" dir="2700000" algn="tl">
                  <a:srgbClr val="000000">
                    <a:alpha val="43137"/>
                  </a:srgbClr>
                </a:outerShdw>
              </a:effectLst>
            </a:endParaRPr>
          </a:p>
          <a:p>
            <a:pPr algn="just"/>
            <a:r>
              <a:rPr lang="en-US" dirty="0" smtClean="0"/>
              <a:t>The various measures of central tendency or averages commonly used can be broadly classified in the following categories:</a:t>
            </a:r>
          </a:p>
          <a:p>
            <a:pPr algn="just"/>
            <a:endParaRPr lang="en-US" sz="2400" dirty="0" smtClean="0"/>
          </a:p>
          <a:p>
            <a:pPr lvl="0" algn="just"/>
            <a:r>
              <a:rPr lang="en-US" b="1" dirty="0" smtClean="0"/>
              <a:t>Mathematical Averages</a:t>
            </a:r>
            <a:endParaRPr lang="en-US" sz="2800" dirty="0" smtClean="0"/>
          </a:p>
          <a:p>
            <a:pPr lvl="1" algn="just"/>
            <a:r>
              <a:rPr lang="en-US" dirty="0" smtClean="0">
                <a:solidFill>
                  <a:srgbClr val="FF0000"/>
                </a:solidFill>
              </a:rPr>
              <a:t>Arithmetic Mean commonly called the mean or average</a:t>
            </a:r>
            <a:endParaRPr lang="en-US" sz="2000" dirty="0" smtClean="0">
              <a:solidFill>
                <a:srgbClr val="FF0000"/>
              </a:solidFill>
            </a:endParaRPr>
          </a:p>
          <a:p>
            <a:pPr lvl="2" algn="just"/>
            <a:r>
              <a:rPr lang="en-US" dirty="0" smtClean="0"/>
              <a:t>Simple</a:t>
            </a:r>
            <a:endParaRPr lang="en-US" sz="1800" dirty="0" smtClean="0"/>
          </a:p>
          <a:p>
            <a:pPr lvl="2" algn="just"/>
            <a:r>
              <a:rPr lang="en-US" dirty="0" smtClean="0"/>
              <a:t>Weighted</a:t>
            </a:r>
            <a:endParaRPr lang="en-US" sz="1800" dirty="0" smtClean="0"/>
          </a:p>
          <a:p>
            <a:pPr lvl="1" algn="just"/>
            <a:r>
              <a:rPr lang="en-US" dirty="0" smtClean="0"/>
              <a:t>Geometric Mean</a:t>
            </a:r>
            <a:endParaRPr lang="en-US" sz="2000" dirty="0" smtClean="0"/>
          </a:p>
          <a:p>
            <a:pPr lvl="1" algn="just"/>
            <a:r>
              <a:rPr lang="en-US" dirty="0" smtClean="0"/>
              <a:t>Harmonic Mean</a:t>
            </a:r>
            <a:endParaRPr lang="en-US" sz="2000" dirty="0" smtClean="0"/>
          </a:p>
          <a:p>
            <a:pPr lvl="0" algn="just"/>
            <a:r>
              <a:rPr lang="en-US" b="1" dirty="0" smtClean="0"/>
              <a:t>Averages of Position</a:t>
            </a:r>
            <a:endParaRPr lang="en-US" sz="2800" dirty="0" smtClean="0"/>
          </a:p>
          <a:p>
            <a:pPr lvl="1" algn="just"/>
            <a:r>
              <a:rPr lang="en-US" dirty="0" smtClean="0">
                <a:solidFill>
                  <a:srgbClr val="FF0000"/>
                </a:solidFill>
              </a:rPr>
              <a:t>Median</a:t>
            </a:r>
            <a:endParaRPr lang="en-US" sz="2000" dirty="0" smtClean="0">
              <a:solidFill>
                <a:srgbClr val="FF0000"/>
              </a:solidFill>
            </a:endParaRPr>
          </a:p>
          <a:p>
            <a:pPr lvl="1" algn="just"/>
            <a:r>
              <a:rPr lang="en-US" dirty="0" smtClean="0"/>
              <a:t>Quartiles</a:t>
            </a:r>
            <a:endParaRPr lang="en-US" sz="2000" dirty="0" smtClean="0"/>
          </a:p>
          <a:p>
            <a:pPr lvl="1" algn="just"/>
            <a:r>
              <a:rPr lang="en-US" dirty="0" smtClean="0"/>
              <a:t>Deciles</a:t>
            </a:r>
            <a:endParaRPr lang="en-US" sz="2000" dirty="0" smtClean="0"/>
          </a:p>
          <a:p>
            <a:pPr lvl="1" algn="just"/>
            <a:r>
              <a:rPr lang="en-US" dirty="0" smtClean="0"/>
              <a:t>Percentiles</a:t>
            </a:r>
            <a:endParaRPr lang="en-US" sz="2000" dirty="0" smtClean="0"/>
          </a:p>
          <a:p>
            <a:pPr lvl="1" algn="just"/>
            <a:r>
              <a:rPr lang="en-US" dirty="0" smtClean="0">
                <a:solidFill>
                  <a:srgbClr val="FF0000"/>
                </a:solidFill>
              </a:rPr>
              <a:t>Mode</a:t>
            </a:r>
            <a:endParaRPr lang="en-US" sz="2000" dirty="0" smtClean="0">
              <a:solidFill>
                <a:srgbClr val="FF0000"/>
              </a:solidFill>
            </a:endParaRPr>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915400" cy="6629400"/>
          </a:xfrm>
        </p:spPr>
        <p:txBody>
          <a:bodyPr>
            <a:normAutofit/>
          </a:bodyPr>
          <a:lstStyle/>
          <a:p>
            <a:r>
              <a:rPr lang="en-US" dirty="0" smtClean="0"/>
              <a:t>What is the </a:t>
            </a:r>
            <a:r>
              <a:rPr lang="en-US" b="1" dirty="0" smtClean="0">
                <a:solidFill>
                  <a:srgbClr val="0066FF"/>
                </a:solidFill>
              </a:rPr>
              <a:t>difference between </a:t>
            </a:r>
            <a:r>
              <a:rPr lang="en-US" b="1" dirty="0" smtClean="0">
                <a:solidFill>
                  <a:srgbClr val="FF0000"/>
                </a:solidFill>
              </a:rPr>
              <a:t>grouped</a:t>
            </a:r>
            <a:r>
              <a:rPr lang="en-US" b="1" dirty="0" smtClean="0">
                <a:solidFill>
                  <a:srgbClr val="0066FF"/>
                </a:solidFill>
              </a:rPr>
              <a:t> and </a:t>
            </a:r>
            <a:r>
              <a:rPr lang="en-US" b="1" dirty="0" smtClean="0">
                <a:solidFill>
                  <a:srgbClr val="FF0000"/>
                </a:solidFill>
              </a:rPr>
              <a:t>ungrouped</a:t>
            </a:r>
            <a:r>
              <a:rPr lang="en-US" b="1" dirty="0" smtClean="0">
                <a:solidFill>
                  <a:srgbClr val="0066FF"/>
                </a:solidFill>
              </a:rPr>
              <a:t> data?</a:t>
            </a:r>
          </a:p>
          <a:p>
            <a:endParaRPr lang="en-US" b="1" dirty="0" smtClean="0">
              <a:solidFill>
                <a:srgbClr val="0066FF"/>
              </a:solidFill>
            </a:endParaRPr>
          </a:p>
          <a:p>
            <a:pPr algn="just"/>
            <a:r>
              <a:rPr lang="en-US" b="1" dirty="0" smtClean="0">
                <a:solidFill>
                  <a:srgbClr val="00B0F0"/>
                </a:solidFill>
              </a:rPr>
              <a:t>Grouped data </a:t>
            </a:r>
            <a:r>
              <a:rPr lang="en-US" dirty="0" smtClean="0"/>
              <a:t>is data that has been organized into classes. Grouped data has been classified and some data analysis has been done, which means this data is no longer raw. </a:t>
            </a:r>
          </a:p>
          <a:p>
            <a:endParaRPr lang="en-US" dirty="0" smtClean="0"/>
          </a:p>
          <a:p>
            <a:pPr algn="just"/>
            <a:r>
              <a:rPr lang="en-US" dirty="0" smtClean="0">
                <a:solidFill>
                  <a:srgbClr val="009900"/>
                </a:solidFill>
              </a:rPr>
              <a:t>Un-grouped data </a:t>
            </a:r>
            <a:r>
              <a:rPr lang="en-US" dirty="0" smtClean="0"/>
              <a:t>has not been organized into groups. </a:t>
            </a:r>
            <a:r>
              <a:rPr lang="en-US" u="sng" dirty="0" smtClean="0">
                <a:solidFill>
                  <a:srgbClr val="FF0000"/>
                </a:solidFill>
                <a:effectLst>
                  <a:outerShdw blurRad="38100" dist="38100" dir="2700000" algn="tl">
                    <a:srgbClr val="000000">
                      <a:alpha val="43137"/>
                    </a:srgbClr>
                  </a:outerShdw>
                </a:effectLst>
              </a:rPr>
              <a:t>It is just a list of numbers.</a:t>
            </a:r>
            <a:endParaRPr lang="en-US" u="sng" dirty="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991600" cy="6858000"/>
          </a:xfrm>
        </p:spPr>
        <p:txBody>
          <a:bodyPr>
            <a:normAutofit/>
          </a:bodyPr>
          <a:lstStyle/>
          <a:p>
            <a:pPr>
              <a:buNone/>
            </a:pPr>
            <a:r>
              <a:rPr lang="en-US" sz="4200" b="1" dirty="0" smtClean="0">
                <a:effectLst>
                  <a:outerShdw blurRad="38100" dist="38100" dir="2700000" algn="tl">
                    <a:srgbClr val="000000">
                      <a:alpha val="43137"/>
                    </a:srgbClr>
                  </a:outerShdw>
                </a:effectLst>
              </a:rPr>
              <a:t>Notations</a:t>
            </a:r>
            <a:endParaRPr lang="en-US" sz="4200" dirty="0" smtClean="0">
              <a:effectLst>
                <a:outerShdw blurRad="38100" dist="38100" dir="2700000" algn="tl">
                  <a:srgbClr val="000000">
                    <a:alpha val="43137"/>
                  </a:srgbClr>
                </a:outerShdw>
              </a:effectLst>
            </a:endParaRPr>
          </a:p>
          <a:p>
            <a:pPr>
              <a:buNone/>
            </a:pPr>
            <a:r>
              <a:rPr lang="en-US" sz="3600" b="1" i="1" dirty="0" err="1" smtClean="0">
                <a:solidFill>
                  <a:srgbClr val="0033CC"/>
                </a:solidFill>
                <a:effectLst>
                  <a:outerShdw blurRad="38100" dist="38100" dir="2700000" algn="tl">
                    <a:srgbClr val="000000">
                      <a:alpha val="43137"/>
                    </a:srgbClr>
                  </a:outerShdw>
                </a:effectLst>
              </a:rPr>
              <a:t>F</a:t>
            </a:r>
            <a:r>
              <a:rPr lang="en-US" sz="3600" b="1" i="1" baseline="-25000" dirty="0" err="1" smtClean="0">
                <a:solidFill>
                  <a:srgbClr val="0033CC"/>
                </a:solidFill>
                <a:effectLst>
                  <a:outerShdw blurRad="38100" dist="38100" dir="2700000" algn="tl">
                    <a:srgbClr val="000000">
                      <a:alpha val="43137"/>
                    </a:srgbClr>
                  </a:outerShdw>
                </a:effectLst>
              </a:rPr>
              <a:t>i</a:t>
            </a:r>
            <a:r>
              <a:rPr lang="en-US" i="1" dirty="0" smtClean="0"/>
              <a:t>   </a:t>
            </a:r>
            <a:r>
              <a:rPr lang="en-US" dirty="0" smtClean="0"/>
              <a:t>=   number of observations (or frequency) in the </a:t>
            </a:r>
            <a:r>
              <a:rPr lang="en-US" dirty="0" err="1" smtClean="0"/>
              <a:t>ith</a:t>
            </a:r>
            <a:r>
              <a:rPr lang="en-US" dirty="0" smtClean="0"/>
              <a:t> class; (</a:t>
            </a:r>
            <a:r>
              <a:rPr lang="en-US" i="1" dirty="0" err="1" smtClean="0"/>
              <a:t>i</a:t>
            </a:r>
            <a:r>
              <a:rPr lang="en-US" dirty="0" smtClean="0"/>
              <a:t>= 1, 2,…, N)</a:t>
            </a:r>
          </a:p>
          <a:p>
            <a:pPr>
              <a:buNone/>
            </a:pPr>
            <a:r>
              <a:rPr lang="en-US" b="1" dirty="0" smtClean="0">
                <a:solidFill>
                  <a:srgbClr val="FF0000"/>
                </a:solidFill>
                <a:effectLst>
                  <a:outerShdw blurRad="38100" dist="38100" dir="2700000" algn="tl">
                    <a:srgbClr val="000000">
                      <a:alpha val="43137"/>
                    </a:srgbClr>
                  </a:outerShdw>
                </a:effectLst>
              </a:rPr>
              <a:t>N</a:t>
            </a:r>
            <a:r>
              <a:rPr lang="en-US" dirty="0" smtClean="0"/>
              <a:t> = total number of observations in the population</a:t>
            </a:r>
          </a:p>
          <a:p>
            <a:pPr>
              <a:buNone/>
            </a:pPr>
            <a:r>
              <a:rPr lang="en-US" b="1" dirty="0" smtClean="0">
                <a:solidFill>
                  <a:srgbClr val="C00000"/>
                </a:solidFill>
                <a:effectLst>
                  <a:outerShdw blurRad="38100" dist="38100" dir="2700000" algn="tl">
                    <a:srgbClr val="000000">
                      <a:alpha val="43137"/>
                    </a:srgbClr>
                  </a:outerShdw>
                </a:effectLst>
              </a:rPr>
              <a:t>n</a:t>
            </a:r>
            <a:r>
              <a:rPr lang="en-US" i="1" dirty="0" smtClean="0"/>
              <a:t> </a:t>
            </a:r>
            <a:r>
              <a:rPr lang="en-US" dirty="0" smtClean="0"/>
              <a:t>= number of observations in the sample (sample size)</a:t>
            </a:r>
          </a:p>
          <a:p>
            <a:pPr>
              <a:buNone/>
            </a:pPr>
            <a:r>
              <a:rPr lang="en-US" b="1" i="1" dirty="0" smtClean="0">
                <a:solidFill>
                  <a:srgbClr val="002060"/>
                </a:solidFill>
                <a:effectLst>
                  <a:outerShdw blurRad="38100" dist="38100" dir="2700000" algn="tl">
                    <a:srgbClr val="000000">
                      <a:alpha val="43137"/>
                    </a:srgbClr>
                  </a:outerShdw>
                </a:effectLst>
              </a:rPr>
              <a:t>h</a:t>
            </a:r>
            <a:r>
              <a:rPr lang="en-US" i="1" dirty="0" smtClean="0"/>
              <a:t> </a:t>
            </a:r>
            <a:r>
              <a:rPr lang="en-US" dirty="0" smtClean="0"/>
              <a:t>= width (or size) of the class-interval</a:t>
            </a:r>
          </a:p>
          <a:p>
            <a:pPr>
              <a:buNone/>
            </a:pPr>
            <a:r>
              <a:rPr lang="en-US" b="1" i="1" dirty="0" err="1" smtClean="0">
                <a:effectLst>
                  <a:outerShdw blurRad="38100" dist="38100" dir="2700000" algn="tl">
                    <a:srgbClr val="000000">
                      <a:alpha val="43137"/>
                    </a:srgbClr>
                  </a:outerShdw>
                </a:effectLst>
              </a:rPr>
              <a:t>Cf</a:t>
            </a:r>
            <a:r>
              <a:rPr lang="en-US" b="1" i="1" dirty="0" smtClean="0">
                <a:effectLst>
                  <a:outerShdw blurRad="38100" dist="38100" dir="2700000" algn="tl">
                    <a:srgbClr val="000000">
                      <a:alpha val="43137"/>
                    </a:srgbClr>
                  </a:outerShdw>
                </a:effectLst>
              </a:rPr>
              <a:t> </a:t>
            </a:r>
            <a:r>
              <a:rPr lang="en-US" dirty="0" smtClean="0"/>
              <a:t>= cumulative frequency</a:t>
            </a:r>
          </a:p>
          <a:p>
            <a:pPr>
              <a:buNone/>
            </a:pPr>
            <a:r>
              <a:rPr lang="en-US" b="1" dirty="0" smtClean="0">
                <a:solidFill>
                  <a:srgbClr val="CC00FF"/>
                </a:solidFill>
                <a:effectLst>
                  <a:outerShdw blurRad="38100" dist="38100" dir="2700000" algn="tl">
                    <a:srgbClr val="000000">
                      <a:alpha val="43137"/>
                    </a:srgbClr>
                  </a:outerShdw>
                </a:effectLst>
              </a:rPr>
              <a:t>Σ </a:t>
            </a:r>
            <a:r>
              <a:rPr lang="en-US" dirty="0" smtClean="0"/>
              <a:t>= summation (read: sigma) of all values of observations</a:t>
            </a:r>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buNone/>
            </a:pPr>
            <a:r>
              <a:rPr lang="en-US" sz="3300" b="1" dirty="0" smtClean="0">
                <a:solidFill>
                  <a:srgbClr val="FF0000"/>
                </a:solidFill>
              </a:rPr>
              <a:t>ARITHMETIC </a:t>
            </a:r>
            <a:r>
              <a:rPr lang="en-US" sz="3500" b="1" dirty="0" smtClean="0">
                <a:solidFill>
                  <a:srgbClr val="FF0000"/>
                </a:solidFill>
              </a:rPr>
              <a:t>MEAN</a:t>
            </a:r>
          </a:p>
          <a:p>
            <a:pPr marL="0" indent="0">
              <a:buNone/>
            </a:pPr>
            <a:endParaRPr lang="en-US" dirty="0" smtClean="0"/>
          </a:p>
          <a:p>
            <a:r>
              <a:rPr lang="en-US" dirty="0" smtClean="0"/>
              <a:t>A calculated </a:t>
            </a:r>
            <a:r>
              <a:rPr lang="en-US" b="1" u="dbl" dirty="0" smtClean="0">
                <a:solidFill>
                  <a:srgbClr val="0033CC"/>
                </a:solidFill>
                <a:effectLst>
                  <a:outerShdw blurRad="38100" dist="38100" dir="2700000" algn="tl">
                    <a:srgbClr val="000000">
                      <a:alpha val="43137"/>
                    </a:srgbClr>
                  </a:outerShdw>
                </a:effectLst>
                <a:uFill>
                  <a:solidFill>
                    <a:srgbClr val="FFFF00"/>
                  </a:solidFill>
                </a:uFill>
              </a:rPr>
              <a:t>"central</a:t>
            </a:r>
            <a:r>
              <a:rPr lang="en-US" dirty="0" smtClean="0"/>
              <a:t>" </a:t>
            </a:r>
            <a:r>
              <a:rPr lang="en-US" u="sng" dirty="0" smtClean="0">
                <a:solidFill>
                  <a:srgbClr val="0033CC"/>
                </a:solidFill>
                <a:effectLst>
                  <a:outerShdw blurRad="38100" dist="38100" dir="2700000" algn="tl">
                    <a:srgbClr val="000000">
                      <a:alpha val="43137"/>
                    </a:srgbClr>
                  </a:outerShdw>
                </a:effectLst>
              </a:rPr>
              <a:t>value</a:t>
            </a:r>
            <a:r>
              <a:rPr lang="en-US" dirty="0" smtClean="0"/>
              <a:t> of a set of numbers. </a:t>
            </a:r>
            <a:br>
              <a:rPr lang="en-US" dirty="0" smtClean="0"/>
            </a:br>
            <a:r>
              <a:rPr lang="en-US" dirty="0" smtClean="0"/>
              <a:t/>
            </a:r>
            <a:br>
              <a:rPr lang="en-US" dirty="0" smtClean="0"/>
            </a:br>
            <a:r>
              <a:rPr lang="en-US" b="1" u="sng" dirty="0" smtClean="0"/>
              <a:t>To calculate</a:t>
            </a:r>
            <a:r>
              <a:rPr lang="en-US" b="1" dirty="0" smtClean="0"/>
              <a:t>: </a:t>
            </a:r>
            <a:r>
              <a:rPr lang="en-US" dirty="0" smtClean="0"/>
              <a:t>add up all the numbers, then divide by how many numbers there are.</a:t>
            </a:r>
            <a:br>
              <a:rPr lang="en-US" dirty="0" smtClean="0"/>
            </a:br>
            <a:r>
              <a:rPr lang="en-US" dirty="0" smtClean="0"/>
              <a:t/>
            </a:r>
            <a:br>
              <a:rPr lang="en-US" dirty="0" smtClean="0"/>
            </a:br>
            <a:r>
              <a:rPr lang="en-US" dirty="0" smtClean="0"/>
              <a:t>Example: what is the average of 2, 7 and 9?</a:t>
            </a:r>
            <a:br>
              <a:rPr lang="en-US" dirty="0" smtClean="0"/>
            </a:br>
            <a:r>
              <a:rPr lang="en-US" dirty="0" smtClean="0"/>
              <a:t>Add the numbers: 2 + 7 + 9 = 18</a:t>
            </a:r>
            <a:br>
              <a:rPr lang="en-US" dirty="0" smtClean="0"/>
            </a:br>
            <a:endParaRPr lang="en-US" dirty="0" smtClean="0"/>
          </a:p>
          <a:p>
            <a:r>
              <a:rPr lang="en-US" dirty="0" smtClean="0"/>
              <a:t>Divide by how many numbers (i.e. we added 3 numbers):      18 ÷ 3 = 6</a:t>
            </a:r>
            <a:br>
              <a:rPr lang="en-US" dirty="0" smtClean="0"/>
            </a:br>
            <a:r>
              <a:rPr lang="en-US" dirty="0" smtClean="0">
                <a:solidFill>
                  <a:srgbClr val="0066FF"/>
                </a:solidFill>
              </a:rPr>
              <a:t>So the average is 6</a:t>
            </a:r>
          </a:p>
          <a:p>
            <a:endParaRPr lang="en-US" dirty="0" smtClean="0"/>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144000" cy="6781800"/>
          </a:xfrm>
        </p:spPr>
        <p:txBody>
          <a:bodyPr>
            <a:normAutofit/>
          </a:bodyPr>
          <a:lstStyle/>
          <a:p>
            <a:pPr algn="ctr">
              <a:buNone/>
            </a:pPr>
            <a:r>
              <a:rPr lang="en-US" b="1" cap="all" dirty="0" smtClean="0">
                <a:solidFill>
                  <a:srgbClr val="0066FF"/>
                </a:solidFill>
              </a:rPr>
              <a:t>MATHEMATICAL AVERAGES</a:t>
            </a:r>
            <a:endParaRPr lang="en-US" b="1" dirty="0" smtClean="0">
              <a:solidFill>
                <a:srgbClr val="0066FF"/>
              </a:solidFill>
            </a:endParaRPr>
          </a:p>
          <a:p>
            <a:pPr algn="just">
              <a:buNone/>
            </a:pPr>
            <a:endParaRPr lang="en-US" dirty="0" smtClean="0"/>
          </a:p>
          <a:p>
            <a:pPr algn="just">
              <a:buNone/>
            </a:pPr>
            <a:r>
              <a:rPr lang="en-US" dirty="0" smtClean="0"/>
              <a:t>Various methods of calculating mathematical averages of a data set are classified in accordance of the nature of data available, that is, </a:t>
            </a:r>
            <a:r>
              <a:rPr lang="en-US" dirty="0" smtClean="0">
                <a:solidFill>
                  <a:srgbClr val="C00000"/>
                </a:solidFill>
              </a:rPr>
              <a:t>ungrouped (unclassified or raw) </a:t>
            </a:r>
            <a:r>
              <a:rPr lang="en-US" dirty="0" smtClean="0"/>
              <a:t>or </a:t>
            </a:r>
            <a:r>
              <a:rPr lang="en-US" dirty="0" smtClean="0">
                <a:solidFill>
                  <a:srgbClr val="0033CC"/>
                </a:solidFill>
              </a:rPr>
              <a:t>grouped (classified) data</a:t>
            </a:r>
            <a:r>
              <a:rPr lang="en-US" dirty="0" smtClean="0"/>
              <a:t>.</a:t>
            </a:r>
          </a:p>
          <a:p>
            <a:pPr algn="just">
              <a:buNone/>
            </a:pPr>
            <a:endParaRPr lang="en-US" dirty="0" smtClean="0"/>
          </a:p>
          <a:p>
            <a:pPr algn="just">
              <a:buNone/>
            </a:pPr>
            <a:r>
              <a:rPr lang="en-US" b="1" dirty="0" smtClean="0">
                <a:solidFill>
                  <a:srgbClr val="FF0000"/>
                </a:solidFill>
              </a:rPr>
              <a:t>1. Arithmetic Mean of </a:t>
            </a:r>
            <a:r>
              <a:rPr lang="en-US" b="1" u="sng" dirty="0" smtClean="0">
                <a:solidFill>
                  <a:srgbClr val="FF0000"/>
                </a:solidFill>
                <a:effectLst>
                  <a:outerShdw blurRad="38100" dist="38100" dir="2700000" algn="tl">
                    <a:srgbClr val="000000">
                      <a:alpha val="43137"/>
                    </a:srgbClr>
                  </a:outerShdw>
                </a:effectLst>
              </a:rPr>
              <a:t>Ungrouped </a:t>
            </a:r>
            <a:r>
              <a:rPr lang="en-US" b="1" dirty="0" smtClean="0">
                <a:solidFill>
                  <a:srgbClr val="FF0000"/>
                </a:solidFill>
              </a:rPr>
              <a:t>(or Raw) Data</a:t>
            </a:r>
          </a:p>
          <a:p>
            <a:pPr algn="just">
              <a:buNone/>
            </a:pPr>
            <a:r>
              <a:rPr lang="en-US" dirty="0" smtClean="0"/>
              <a:t>There are two methods for calculating </a:t>
            </a:r>
            <a:r>
              <a:rPr lang="en-US" b="1" dirty="0" smtClean="0"/>
              <a:t>arithmetic mean (A.M.)</a:t>
            </a:r>
            <a:r>
              <a:rPr lang="en-US" dirty="0" smtClean="0"/>
              <a:t> for ungrouped or unclassified data:</a:t>
            </a:r>
          </a:p>
          <a:p>
            <a:pPr lvl="0" algn="just">
              <a:buNone/>
            </a:pPr>
            <a:r>
              <a:rPr lang="en-US" b="1" dirty="0" smtClean="0">
                <a:solidFill>
                  <a:srgbClr val="0066FF"/>
                </a:solidFill>
              </a:rPr>
              <a:t>Direct method</a:t>
            </a:r>
            <a:r>
              <a:rPr lang="en-US" dirty="0" smtClean="0"/>
              <a:t>, and </a:t>
            </a:r>
            <a:r>
              <a:rPr lang="en-US" b="1" dirty="0" smtClean="0">
                <a:solidFill>
                  <a:srgbClr val="0066FF"/>
                </a:solidFill>
              </a:rPr>
              <a:t>Indirect or Short-cut method</a:t>
            </a:r>
            <a:r>
              <a:rPr lang="en-US" dirty="0" smtClean="0"/>
              <a:t>.</a:t>
            </a:r>
          </a:p>
          <a:p>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ctr">
              <a:buNone/>
            </a:pPr>
            <a:r>
              <a:rPr lang="en-US" b="1" u="sng" dirty="0" smtClean="0">
                <a:solidFill>
                  <a:srgbClr val="FF0000"/>
                </a:solidFill>
                <a:latin typeface="Times New Roman" pitchFamily="18" charset="0"/>
                <a:cs typeface="Times New Roman" pitchFamily="18" charset="0"/>
              </a:rPr>
              <a:t>ARITHMETIC MEAN </a:t>
            </a:r>
            <a:r>
              <a:rPr lang="en-US" b="1" u="sng" dirty="0" smtClean="0">
                <a:solidFill>
                  <a:srgbClr val="0066FF"/>
                </a:solidFill>
                <a:latin typeface="Times New Roman" pitchFamily="18" charset="0"/>
                <a:cs typeface="Times New Roman" pitchFamily="18" charset="0"/>
              </a:rPr>
              <a:t>DIRECT METHOD </a:t>
            </a:r>
          </a:p>
          <a:p>
            <a:pPr algn="ctr">
              <a:buNone/>
            </a:pPr>
            <a:r>
              <a:rPr lang="en-US" sz="2800" b="1" u="sng" dirty="0" smtClean="0">
                <a:solidFill>
                  <a:srgbClr val="FF0000"/>
                </a:solidFill>
                <a:effectLst>
                  <a:outerShdw blurRad="38100" dist="38100" dir="2700000" algn="tl">
                    <a:srgbClr val="000000">
                      <a:alpha val="43137"/>
                    </a:srgbClr>
                  </a:outerShdw>
                </a:effectLst>
              </a:rPr>
              <a:t>INDIVIDUAL SERIES </a:t>
            </a:r>
            <a:r>
              <a:rPr lang="en-US" sz="2800" b="1" dirty="0" smtClean="0">
                <a:solidFill>
                  <a:srgbClr val="009900"/>
                </a:solidFill>
                <a:effectLst>
                  <a:outerShdw blurRad="38100" dist="38100" dir="2700000" algn="tl">
                    <a:srgbClr val="000000">
                      <a:alpha val="43137"/>
                    </a:srgbClr>
                  </a:outerShdw>
                </a:effectLst>
              </a:rPr>
              <a:t>-- </a:t>
            </a:r>
            <a:r>
              <a:rPr lang="en-US" sz="2800" b="1" dirty="0" smtClean="0">
                <a:solidFill>
                  <a:srgbClr val="0033CC"/>
                </a:solidFill>
                <a:effectLst>
                  <a:outerShdw blurRad="38100" dist="38100" dir="2700000" algn="tl">
                    <a:srgbClr val="000000">
                      <a:alpha val="43137"/>
                    </a:srgbClr>
                  </a:outerShdw>
                </a:effectLst>
              </a:rPr>
              <a:t>implies it is </a:t>
            </a:r>
            <a:r>
              <a:rPr lang="en-US" sz="2800" b="1" u="sng" dirty="0" smtClean="0">
                <a:solidFill>
                  <a:srgbClr val="7030A0"/>
                </a:solidFill>
                <a:effectLst>
                  <a:outerShdw blurRad="38100" dist="38100" dir="2700000" algn="tl">
                    <a:srgbClr val="000000">
                      <a:alpha val="43137"/>
                    </a:srgbClr>
                  </a:outerShdw>
                </a:effectLst>
              </a:rPr>
              <a:t>Ungrouped </a:t>
            </a:r>
            <a:r>
              <a:rPr lang="en-US" sz="2800" b="1" dirty="0">
                <a:solidFill>
                  <a:srgbClr val="7030A0"/>
                </a:solidFill>
              </a:rPr>
              <a:t>(or Raw) Data </a:t>
            </a:r>
            <a:endParaRPr lang="en-US" sz="2800" b="1" dirty="0" smtClean="0">
              <a:solidFill>
                <a:srgbClr val="009900"/>
              </a:solidFill>
              <a:effectLst>
                <a:outerShdw blurRad="38100" dist="38100" dir="2700000" algn="tl">
                  <a:srgbClr val="000000">
                    <a:alpha val="43137"/>
                  </a:srgbClr>
                </a:outerShdw>
              </a:effectLst>
            </a:endParaRPr>
          </a:p>
          <a:p>
            <a:pPr algn="ctr">
              <a:buNone/>
            </a:pPr>
            <a:endParaRPr lang="en-US" sz="1800" dirty="0" smtClean="0">
              <a:solidFill>
                <a:srgbClr val="0066FF"/>
              </a:solidFill>
            </a:endParaRPr>
          </a:p>
          <a:p>
            <a:pPr algn="just"/>
            <a:r>
              <a:rPr lang="en-US" sz="2400" dirty="0" smtClean="0"/>
              <a:t>In this method A.M. is calculated by adding the values of all observations and dividing the total by the number of observations. </a:t>
            </a:r>
          </a:p>
          <a:p>
            <a:pPr algn="just"/>
            <a:r>
              <a:rPr lang="en-US" sz="2400" dirty="0" smtClean="0"/>
              <a:t>Thus if </a:t>
            </a:r>
            <a:r>
              <a:rPr lang="en-US" sz="2400" i="1" dirty="0" smtClean="0"/>
              <a:t>x</a:t>
            </a:r>
            <a:r>
              <a:rPr lang="en-US" sz="2400" baseline="-25000" dirty="0" smtClean="0"/>
              <a:t>1</a:t>
            </a:r>
            <a:r>
              <a:rPr lang="en-US" sz="2400" dirty="0" smtClean="0"/>
              <a:t>, </a:t>
            </a:r>
            <a:r>
              <a:rPr lang="en-US" sz="2400" i="1" dirty="0" smtClean="0"/>
              <a:t>x</a:t>
            </a:r>
            <a:r>
              <a:rPr lang="en-US" sz="2400" baseline="-25000" dirty="0" smtClean="0"/>
              <a:t>2</a:t>
            </a:r>
            <a:r>
              <a:rPr lang="en-US" sz="2400" dirty="0" smtClean="0"/>
              <a:t>,…, </a:t>
            </a:r>
            <a:r>
              <a:rPr lang="en-US" sz="2400" i="1" dirty="0" err="1" smtClean="0"/>
              <a:t>x</a:t>
            </a:r>
            <a:r>
              <a:rPr lang="en-US" sz="2400" baseline="-25000" dirty="0" err="1" smtClean="0"/>
              <a:t>N</a:t>
            </a:r>
            <a:r>
              <a:rPr lang="en-US" sz="2400" dirty="0" smtClean="0"/>
              <a:t> represent the values of N observations, then A.M</a:t>
            </a:r>
            <a:r>
              <a:rPr lang="en-US" sz="2000" dirty="0" smtClean="0"/>
              <a:t>. </a:t>
            </a:r>
            <a:r>
              <a:rPr lang="en-US" sz="2800" b="1" dirty="0" smtClean="0">
                <a:solidFill>
                  <a:srgbClr val="FF0000"/>
                </a:solidFill>
              </a:rPr>
              <a:t>for a population </a:t>
            </a:r>
            <a:r>
              <a:rPr lang="en-US" sz="2400" dirty="0" smtClean="0"/>
              <a:t>of N observations is:</a:t>
            </a:r>
          </a:p>
          <a:p>
            <a:pPr algn="just"/>
            <a:endParaRPr lang="en-US" sz="2000" dirty="0" smtClean="0"/>
          </a:p>
          <a:p>
            <a:pPr algn="just">
              <a:buNone/>
            </a:pPr>
            <a:endParaRPr lang="en-US" sz="2400" b="1" dirty="0" smtClean="0"/>
          </a:p>
          <a:p>
            <a:pPr algn="just">
              <a:spcBef>
                <a:spcPts val="0"/>
              </a:spcBef>
              <a:buNone/>
            </a:pPr>
            <a:endParaRPr lang="en-US" sz="2000" b="1" dirty="0" smtClean="0"/>
          </a:p>
          <a:p>
            <a:pPr algn="just">
              <a:spcBef>
                <a:spcPts val="0"/>
              </a:spcBef>
              <a:buNone/>
            </a:pPr>
            <a:endParaRPr lang="en-US" sz="2000" b="1" dirty="0" smtClean="0"/>
          </a:p>
          <a:p>
            <a:pPr algn="just">
              <a:spcBef>
                <a:spcPts val="0"/>
              </a:spcBef>
              <a:buNone/>
            </a:pPr>
            <a:r>
              <a:rPr lang="en-US" sz="2400" b="1" dirty="0" smtClean="0"/>
              <a:t>Mean:</a:t>
            </a:r>
            <a:r>
              <a:rPr lang="en-US" sz="2400" dirty="0" smtClean="0"/>
              <a:t> The sum of all the data values divided by their number.</a:t>
            </a:r>
          </a:p>
          <a:p>
            <a:pPr algn="just">
              <a:spcBef>
                <a:spcPts val="0"/>
              </a:spcBef>
              <a:buNone/>
            </a:pPr>
            <a:r>
              <a:rPr lang="en-US" sz="2400" dirty="0" smtClean="0"/>
              <a:t>However, for a </a:t>
            </a:r>
            <a:r>
              <a:rPr lang="en-US" b="1" dirty="0" smtClean="0">
                <a:solidFill>
                  <a:srgbClr val="FF0000"/>
                </a:solidFill>
              </a:rPr>
              <a:t>sample </a:t>
            </a:r>
            <a:r>
              <a:rPr lang="en-US" sz="2400" dirty="0" smtClean="0"/>
              <a:t> </a:t>
            </a:r>
            <a:r>
              <a:rPr lang="en-US" sz="2400" i="1" dirty="0" smtClean="0"/>
              <a:t>n</a:t>
            </a:r>
            <a:r>
              <a:rPr lang="en-US" sz="2400" dirty="0" smtClean="0"/>
              <a:t> observations </a:t>
            </a:r>
            <a:r>
              <a:rPr lang="en-US" sz="2400" i="1" dirty="0" smtClean="0"/>
              <a:t>x</a:t>
            </a:r>
            <a:r>
              <a:rPr lang="en-US" sz="2400" baseline="-25000" dirty="0" smtClean="0"/>
              <a:t>1</a:t>
            </a:r>
            <a:r>
              <a:rPr lang="en-US" sz="2400" dirty="0" smtClean="0"/>
              <a:t>, </a:t>
            </a:r>
            <a:r>
              <a:rPr lang="en-US" sz="2400" i="1" dirty="0" smtClean="0"/>
              <a:t>x</a:t>
            </a:r>
            <a:r>
              <a:rPr lang="en-US" sz="2400" baseline="-25000" dirty="0" smtClean="0"/>
              <a:t>2</a:t>
            </a:r>
            <a:r>
              <a:rPr lang="en-US" sz="2400" dirty="0" smtClean="0"/>
              <a:t>,…, </a:t>
            </a:r>
            <a:r>
              <a:rPr lang="en-US" sz="2400" i="1" dirty="0" err="1" smtClean="0"/>
              <a:t>x</a:t>
            </a:r>
            <a:r>
              <a:rPr lang="en-US" sz="2400" i="1" baseline="-25000" dirty="0" err="1" smtClean="0"/>
              <a:t>n</a:t>
            </a:r>
            <a:r>
              <a:rPr lang="en-US" sz="2400" dirty="0" smtClean="0"/>
              <a:t>, the sample A.M. can be written as:</a:t>
            </a:r>
          </a:p>
          <a:p>
            <a:pPr algn="just"/>
            <a:endParaRPr lang="en-US" sz="2400" dirty="0" smtClean="0"/>
          </a:p>
          <a:p>
            <a:pPr algn="just"/>
            <a:endParaRPr lang="en-US" sz="2400" dirty="0" smtClean="0"/>
          </a:p>
          <a:p>
            <a:endParaRPr 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9940" y="3429000"/>
            <a:ext cx="5381625"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5676900"/>
            <a:ext cx="4867275"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a:r>
              <a:rPr lang="en-US" sz="2800" b="1" dirty="0" smtClean="0">
                <a:solidFill>
                  <a:srgbClr val="009900"/>
                </a:solidFill>
                <a:effectLst>
                  <a:outerShdw blurRad="38100" dist="38100" dir="2700000" algn="tl">
                    <a:srgbClr val="000000">
                      <a:alpha val="43137"/>
                    </a:srgbClr>
                  </a:outerShdw>
                </a:effectLst>
              </a:rPr>
              <a:t>Example INDIVIDUAL SERIES</a:t>
            </a:r>
            <a:r>
              <a:rPr lang="en-US" sz="2800" b="1" dirty="0" smtClean="0"/>
              <a:t>:</a:t>
            </a:r>
            <a:r>
              <a:rPr lang="en-US" sz="2800" dirty="0" smtClean="0"/>
              <a:t> The number of new orders received by a company over the last 25 working days were recorded as follows: 3, 0, 1, 4, 4, 4, 2, 5, 3, 6, 4, 5, 1, 4, 2, 3, 0, 2, 0, 5, 4, 2, 3, 3, 1. Calculate the arithmetic mean for the number of orders received over all similar working days.</a:t>
            </a:r>
            <a:endParaRPr lang="en-US" dirty="0" smtClean="0"/>
          </a:p>
          <a:p>
            <a:endParaRPr lang="en-US" dirty="0" smtClean="0"/>
          </a:p>
          <a:p>
            <a:endParaRPr lang="en-US" dirty="0"/>
          </a:p>
        </p:txBody>
      </p:sp>
      <p:pic>
        <p:nvPicPr>
          <p:cNvPr id="4" name="img-84_4"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3200400"/>
            <a:ext cx="8763000" cy="2057400"/>
          </a:xfrm>
          <a:prstGeom prst="rect">
            <a:avLst/>
          </a:prstGeom>
          <a:noFill/>
          <a:ln>
            <a:noFill/>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ctr">
              <a:buNone/>
            </a:pPr>
            <a:r>
              <a:rPr lang="en-US" b="1" u="sng" dirty="0" smtClean="0">
                <a:solidFill>
                  <a:srgbClr val="FF0000"/>
                </a:solidFill>
                <a:latin typeface="Times New Roman" pitchFamily="18" charset="0"/>
                <a:cs typeface="Times New Roman" pitchFamily="18" charset="0"/>
              </a:rPr>
              <a:t>ARITHMETIC MEAN </a:t>
            </a:r>
            <a:r>
              <a:rPr lang="en-US" sz="3600" b="1" dirty="0" smtClean="0">
                <a:solidFill>
                  <a:srgbClr val="FF0000"/>
                </a:solidFill>
              </a:rPr>
              <a:t>SHORT-CUT METHOD </a:t>
            </a:r>
            <a:r>
              <a:rPr lang="en-US" sz="3600" b="1" dirty="0" smtClean="0">
                <a:solidFill>
                  <a:srgbClr val="009900"/>
                </a:solidFill>
                <a:effectLst>
                  <a:outerShdw blurRad="38100" dist="38100" dir="2700000" algn="tl">
                    <a:srgbClr val="000000">
                      <a:alpha val="43137"/>
                    </a:srgbClr>
                  </a:outerShdw>
                </a:effectLst>
              </a:rPr>
              <a:t>INDIVIDUAL SERIES  UN-GROUPED DATA</a:t>
            </a:r>
          </a:p>
          <a:p>
            <a:pPr algn="ctr">
              <a:buNone/>
            </a:pPr>
            <a:endParaRPr lang="en-US" sz="3600" dirty="0" smtClean="0">
              <a:solidFill>
                <a:srgbClr val="FF0000"/>
              </a:solidFill>
            </a:endParaRPr>
          </a:p>
          <a:p>
            <a:pPr algn="just"/>
            <a:r>
              <a:rPr lang="en-US" dirty="0" smtClean="0"/>
              <a:t>In this method an arbitrary </a:t>
            </a:r>
            <a:r>
              <a:rPr lang="en-US" b="1" i="1" u="sng" dirty="0" smtClean="0">
                <a:solidFill>
                  <a:srgbClr val="FF0000"/>
                </a:solidFill>
                <a:effectLst>
                  <a:outerShdw blurRad="38100" dist="38100" dir="2700000" algn="tl">
                    <a:srgbClr val="000000">
                      <a:alpha val="43137"/>
                    </a:srgbClr>
                  </a:outerShdw>
                </a:effectLst>
              </a:rPr>
              <a:t>assumed mean</a:t>
            </a:r>
            <a:r>
              <a:rPr lang="en-US" dirty="0" smtClean="0"/>
              <a:t> is used as a basis for calculating deviations from individual values in the data set. </a:t>
            </a:r>
          </a:p>
          <a:p>
            <a:pPr algn="just"/>
            <a:endParaRPr lang="en-US" dirty="0" smtClean="0"/>
          </a:p>
          <a:p>
            <a:pPr algn="just"/>
            <a:r>
              <a:rPr lang="en-US" dirty="0" smtClean="0"/>
              <a:t>Let </a:t>
            </a:r>
            <a:r>
              <a:rPr lang="en-US" sz="4000" b="1" i="1" dirty="0" smtClean="0">
                <a:solidFill>
                  <a:srgbClr val="FF0000"/>
                </a:solidFill>
                <a:effectLst>
                  <a:outerShdw blurRad="38100" dist="38100" dir="2700000" algn="tl">
                    <a:srgbClr val="000000">
                      <a:alpha val="43137"/>
                    </a:srgbClr>
                  </a:outerShdw>
                </a:effectLst>
              </a:rPr>
              <a:t>A</a:t>
            </a:r>
            <a:r>
              <a:rPr lang="en-US" dirty="0" smtClean="0"/>
              <a:t> be the arbitrary assumed A.M. and let   </a:t>
            </a:r>
            <a:r>
              <a:rPr lang="en-US" b="1" i="1" dirty="0" smtClean="0">
                <a:effectLst>
                  <a:outerShdw blurRad="38100" dist="38100" dir="2700000" algn="tl">
                    <a:srgbClr val="000000">
                      <a:alpha val="43137"/>
                    </a:srgbClr>
                  </a:outerShdw>
                </a:effectLst>
              </a:rPr>
              <a:t>d</a:t>
            </a:r>
            <a:r>
              <a:rPr lang="en-US" b="1" i="1" baseline="-25000" dirty="0" smtClean="0">
                <a:effectLst>
                  <a:outerShdw blurRad="38100" dist="38100" dir="2700000" algn="tl">
                    <a:srgbClr val="000000">
                      <a:alpha val="43137"/>
                    </a:srgbClr>
                  </a:outerShdw>
                </a:effectLst>
              </a:rPr>
              <a:t>i</a:t>
            </a:r>
            <a:r>
              <a:rPr lang="en-US" b="1" dirty="0" smtClean="0">
                <a:effectLst>
                  <a:outerShdw blurRad="38100" dist="38100" dir="2700000" algn="tl">
                    <a:srgbClr val="000000">
                      <a:alpha val="43137"/>
                    </a:srgbClr>
                  </a:outerShdw>
                </a:effectLst>
              </a:rPr>
              <a:t> = </a:t>
            </a:r>
            <a:r>
              <a:rPr lang="en-US" b="1" i="1" dirty="0" smtClean="0">
                <a:effectLst>
                  <a:outerShdw blurRad="38100" dist="38100" dir="2700000" algn="tl">
                    <a:srgbClr val="000000">
                      <a:alpha val="43137"/>
                    </a:srgbClr>
                  </a:outerShdw>
                </a:effectLst>
              </a:rPr>
              <a:t>x</a:t>
            </a:r>
            <a:r>
              <a:rPr lang="en-US" b="1" i="1" baseline="-25000" dirty="0" smtClean="0">
                <a:effectLst>
                  <a:outerShdw blurRad="38100" dist="38100" dir="2700000" algn="tl">
                    <a:srgbClr val="000000">
                      <a:alpha val="43137"/>
                    </a:srgbClr>
                  </a:outerShdw>
                </a:effectLst>
              </a:rPr>
              <a:t>i</a:t>
            </a:r>
            <a:r>
              <a:rPr lang="en-US" b="1" dirty="0" smtClean="0">
                <a:effectLst>
                  <a:outerShdw blurRad="38100" dist="38100" dir="2700000" algn="tl">
                    <a:srgbClr val="000000">
                      <a:alpha val="43137"/>
                    </a:srgbClr>
                  </a:outerShdw>
                </a:effectLst>
              </a:rPr>
              <a:t> – A      </a:t>
            </a:r>
            <a:r>
              <a:rPr lang="en-US" sz="2400" b="1" dirty="0" smtClean="0">
                <a:effectLst>
                  <a:outerShdw blurRad="38100" dist="38100" dir="2700000" algn="tl">
                    <a:srgbClr val="000000">
                      <a:alpha val="43137"/>
                    </a:srgbClr>
                  </a:outerShdw>
                </a:effectLst>
              </a:rPr>
              <a:t>(Where </a:t>
            </a:r>
            <a:r>
              <a:rPr lang="en-US" sz="3600" b="1" i="1" dirty="0" err="1" smtClean="0">
                <a:solidFill>
                  <a:srgbClr val="FF0000"/>
                </a:solidFill>
                <a:effectLst>
                  <a:outerShdw blurRad="38100" dist="38100" dir="2700000" algn="tl">
                    <a:srgbClr val="000000">
                      <a:alpha val="43137"/>
                    </a:srgbClr>
                  </a:outerShdw>
                </a:effectLst>
              </a:rPr>
              <a:t>di</a:t>
            </a:r>
            <a:r>
              <a:rPr lang="en-US" sz="3600" b="1" dirty="0" smtClean="0">
                <a:solidFill>
                  <a:srgbClr val="FF0000"/>
                </a:solidFill>
                <a:effectLst>
                  <a:outerShdw blurRad="38100" dist="38100" dir="2700000" algn="tl">
                    <a:srgbClr val="000000">
                      <a:alpha val="43137"/>
                    </a:srgbClr>
                  </a:outerShdw>
                </a:effectLst>
              </a:rPr>
              <a:t> </a:t>
            </a:r>
            <a:r>
              <a:rPr lang="en-US" sz="2400" b="1" dirty="0" smtClean="0">
                <a:effectLst>
                  <a:outerShdw blurRad="38100" dist="38100" dir="2700000" algn="tl">
                    <a:srgbClr val="000000">
                      <a:alpha val="43137"/>
                    </a:srgbClr>
                  </a:outerShdw>
                </a:effectLst>
              </a:rPr>
              <a:t>is</a:t>
            </a:r>
            <a:r>
              <a:rPr lang="en-US" b="1" dirty="0" smtClean="0">
                <a:effectLst>
                  <a:outerShdw blurRad="38100" dist="38100" dir="2700000" algn="tl">
                    <a:srgbClr val="000000">
                      <a:alpha val="43137"/>
                    </a:srgbClr>
                  </a:outerShdw>
                </a:effectLst>
              </a:rPr>
              <a:t> deviation from AM)</a:t>
            </a:r>
            <a:endParaRPr lang="en-US" b="1" i="1" baseline="-25000" dirty="0" smtClean="0">
              <a:effectLst>
                <a:outerShdw blurRad="38100" dist="38100" dir="2700000" algn="tl">
                  <a:srgbClr val="000000">
                    <a:alpha val="43137"/>
                  </a:srgbClr>
                </a:outerShdw>
              </a:effectLst>
            </a:endParaRPr>
          </a:p>
          <a:p>
            <a:pPr algn="just"/>
            <a:endParaRPr lang="en-US" i="1" baseline="-25000" dirty="0" smtClean="0"/>
          </a:p>
          <a:p>
            <a:endParaRPr lang="en-US" dirty="0"/>
          </a:p>
        </p:txBody>
      </p:sp>
      <p:pic>
        <p:nvPicPr>
          <p:cNvPr id="3077"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1800" y="5334000"/>
            <a:ext cx="2590799"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144000" cy="6781800"/>
          </a:xfrm>
        </p:spPr>
        <p:txBody>
          <a:bodyPr/>
          <a:lstStyle/>
          <a:p>
            <a:pPr marL="0" indent="0">
              <a:buNone/>
            </a:pPr>
            <a:r>
              <a:rPr lang="en-US" dirty="0" smtClean="0">
                <a:solidFill>
                  <a:srgbClr val="FF0000"/>
                </a:solidFill>
              </a:rPr>
              <a:t>EX</a:t>
            </a:r>
            <a:r>
              <a:rPr lang="en-US" smtClean="0">
                <a:solidFill>
                  <a:srgbClr val="FF0000"/>
                </a:solidFill>
              </a:rPr>
              <a:t>: Short cut method</a:t>
            </a:r>
            <a:endParaRPr lang="en-US" dirty="0" smtClean="0">
              <a:solidFill>
                <a:srgbClr val="FF0000"/>
              </a:solidFill>
            </a:endParaRPr>
          </a:p>
          <a:p>
            <a:pPr marL="0" indent="0">
              <a:buNone/>
            </a:pPr>
            <a:endParaRPr lang="en-US" dirty="0" smtClean="0">
              <a:solidFill>
                <a:srgbClr val="FF0000"/>
              </a:solidFill>
            </a:endParaRP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709350890"/>
              </p:ext>
            </p:extLst>
          </p:nvPr>
        </p:nvGraphicFramePr>
        <p:xfrm>
          <a:off x="228600" y="521527"/>
          <a:ext cx="4953000" cy="6336473"/>
        </p:xfrm>
        <a:graphic>
          <a:graphicData uri="http://schemas.openxmlformats.org/drawingml/2006/table">
            <a:tbl>
              <a:tblPr firstRow="1" bandRow="1">
                <a:tableStyleId>{5C22544A-7EE6-4342-B048-85BDC9FD1C3A}</a:tableStyleId>
              </a:tblPr>
              <a:tblGrid>
                <a:gridCol w="1334851"/>
                <a:gridCol w="1926166"/>
                <a:gridCol w="1691983"/>
              </a:tblGrid>
              <a:tr h="990597">
                <a:tc>
                  <a:txBody>
                    <a:bodyPr/>
                    <a:lstStyle/>
                    <a:p>
                      <a:r>
                        <a:rPr lang="en-US" dirty="0" smtClean="0"/>
                        <a:t>ROLL.</a:t>
                      </a:r>
                      <a:r>
                        <a:rPr lang="en-US" baseline="0" dirty="0" smtClean="0"/>
                        <a:t> NO.</a:t>
                      </a:r>
                      <a:endParaRPr lang="en-US" dirty="0"/>
                    </a:p>
                  </a:txBody>
                  <a:tcPr/>
                </a:tc>
                <a:tc>
                  <a:txBody>
                    <a:bodyPr/>
                    <a:lstStyle/>
                    <a:p>
                      <a:pPr algn="ctr"/>
                      <a:r>
                        <a:rPr lang="en-US" dirty="0" smtClean="0"/>
                        <a:t>MARKS</a:t>
                      </a:r>
                    </a:p>
                    <a:p>
                      <a:pPr algn="ctr"/>
                      <a:r>
                        <a:rPr lang="en-US" sz="2400" dirty="0" smtClean="0"/>
                        <a:t>x</a:t>
                      </a:r>
                      <a:r>
                        <a:rPr lang="en-US" sz="1800" dirty="0" smtClean="0"/>
                        <a:t>i</a:t>
                      </a:r>
                      <a:endParaRPr lang="en-US" sz="1800" dirty="0"/>
                    </a:p>
                  </a:txBody>
                  <a:tcPr/>
                </a:tc>
                <a:tc>
                  <a:txBody>
                    <a:bodyPr/>
                    <a:lstStyle/>
                    <a:p>
                      <a:r>
                        <a:rPr lang="en-US" sz="2000" dirty="0" smtClean="0"/>
                        <a:t>di</a:t>
                      </a:r>
                      <a:r>
                        <a:rPr lang="en-US" sz="2000" baseline="0" dirty="0" smtClean="0"/>
                        <a:t> = </a:t>
                      </a:r>
                      <a:r>
                        <a:rPr lang="en-US" sz="2800" baseline="0" dirty="0" smtClean="0"/>
                        <a:t>x</a:t>
                      </a:r>
                      <a:r>
                        <a:rPr lang="en-US" sz="1400" baseline="0" dirty="0" smtClean="0"/>
                        <a:t>i </a:t>
                      </a:r>
                      <a:r>
                        <a:rPr lang="en-US" sz="2000" baseline="0" dirty="0" smtClean="0"/>
                        <a:t>– A</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baseline="0" dirty="0" smtClean="0"/>
                        <a:t>di = </a:t>
                      </a:r>
                      <a:r>
                        <a:rPr lang="en-US" sz="2800" dirty="0" smtClean="0"/>
                        <a:t>x</a:t>
                      </a:r>
                      <a:r>
                        <a:rPr lang="en-US" sz="2000" dirty="0" smtClean="0"/>
                        <a:t>i - 60</a:t>
                      </a:r>
                    </a:p>
                    <a:p>
                      <a:r>
                        <a:rPr lang="en-US" sz="1800" baseline="0" dirty="0" smtClean="0"/>
                        <a:t> </a:t>
                      </a:r>
                      <a:endParaRPr lang="en-US" sz="2800" dirty="0"/>
                    </a:p>
                  </a:txBody>
                  <a:tcPr/>
                </a:tc>
              </a:tr>
              <a:tr h="468642">
                <a:tc>
                  <a:txBody>
                    <a:bodyPr/>
                    <a:lstStyle/>
                    <a:p>
                      <a:pPr algn="ctr"/>
                      <a:r>
                        <a:rPr lang="en-US" sz="2400" dirty="0" smtClean="0">
                          <a:effectLst>
                            <a:outerShdw blurRad="38100" dist="38100" dir="2700000" algn="tl">
                              <a:srgbClr val="000000">
                                <a:alpha val="43137"/>
                              </a:srgbClr>
                            </a:outerShdw>
                          </a:effectLst>
                        </a:rPr>
                        <a:t>1</a:t>
                      </a:r>
                      <a:endParaRPr lang="en-US" sz="2400" dirty="0">
                        <a:effectLst>
                          <a:outerShdw blurRad="38100" dist="38100" dir="2700000" algn="tl">
                            <a:srgbClr val="000000">
                              <a:alpha val="43137"/>
                            </a:srgbClr>
                          </a:outerShdw>
                        </a:effectLst>
                      </a:endParaRPr>
                    </a:p>
                  </a:txBody>
                  <a:tcPr/>
                </a:tc>
                <a:tc>
                  <a:txBody>
                    <a:bodyPr/>
                    <a:lstStyle/>
                    <a:p>
                      <a:pPr algn="ctr"/>
                      <a:r>
                        <a:rPr lang="en-US" sz="2400" dirty="0" smtClean="0"/>
                        <a:t>40</a:t>
                      </a:r>
                      <a:endParaRPr lang="en-US" sz="2400" dirty="0"/>
                    </a:p>
                  </a:txBody>
                  <a:tcPr/>
                </a:tc>
                <a:tc>
                  <a:txBody>
                    <a:bodyPr/>
                    <a:lstStyle/>
                    <a:p>
                      <a:pPr algn="ctr"/>
                      <a:r>
                        <a:rPr lang="en-US" sz="2000" b="1" dirty="0" smtClean="0"/>
                        <a:t>-20</a:t>
                      </a:r>
                      <a:endParaRPr lang="en-US" sz="2000" b="1" dirty="0"/>
                    </a:p>
                  </a:txBody>
                  <a:tcPr/>
                </a:tc>
              </a:tr>
              <a:tr h="468642">
                <a:tc>
                  <a:txBody>
                    <a:bodyPr/>
                    <a:lstStyle/>
                    <a:p>
                      <a:pPr algn="ctr"/>
                      <a:r>
                        <a:rPr lang="en-US" sz="2400" dirty="0" smtClean="0">
                          <a:effectLst>
                            <a:outerShdw blurRad="38100" dist="38100" dir="2700000" algn="tl">
                              <a:srgbClr val="000000">
                                <a:alpha val="43137"/>
                              </a:srgbClr>
                            </a:outerShdw>
                          </a:effectLst>
                        </a:rPr>
                        <a:t>2</a:t>
                      </a:r>
                      <a:endParaRPr lang="en-US" sz="2400" dirty="0">
                        <a:effectLst>
                          <a:outerShdw blurRad="38100" dist="38100" dir="2700000" algn="tl">
                            <a:srgbClr val="000000">
                              <a:alpha val="43137"/>
                            </a:srgbClr>
                          </a:outerShdw>
                        </a:effectLst>
                      </a:endParaRPr>
                    </a:p>
                  </a:txBody>
                  <a:tcPr/>
                </a:tc>
                <a:tc>
                  <a:txBody>
                    <a:bodyPr/>
                    <a:lstStyle/>
                    <a:p>
                      <a:pPr algn="ctr"/>
                      <a:r>
                        <a:rPr lang="en-US" sz="2400" dirty="0" smtClean="0"/>
                        <a:t>50</a:t>
                      </a:r>
                      <a:endParaRPr lang="en-US" sz="2400" dirty="0"/>
                    </a:p>
                  </a:txBody>
                  <a:tcPr/>
                </a:tc>
                <a:tc>
                  <a:txBody>
                    <a:bodyPr/>
                    <a:lstStyle/>
                    <a:p>
                      <a:pPr algn="ctr"/>
                      <a:r>
                        <a:rPr lang="en-US" sz="2000" b="1" dirty="0" smtClean="0"/>
                        <a:t>-10</a:t>
                      </a:r>
                      <a:endParaRPr lang="en-US" sz="2000" b="1" dirty="0"/>
                    </a:p>
                  </a:txBody>
                  <a:tcPr/>
                </a:tc>
              </a:tr>
              <a:tr h="468642">
                <a:tc>
                  <a:txBody>
                    <a:bodyPr/>
                    <a:lstStyle/>
                    <a:p>
                      <a:pPr algn="ctr"/>
                      <a:r>
                        <a:rPr lang="en-US" sz="2400" dirty="0" smtClean="0">
                          <a:effectLst>
                            <a:outerShdw blurRad="38100" dist="38100" dir="2700000" algn="tl">
                              <a:srgbClr val="000000">
                                <a:alpha val="43137"/>
                              </a:srgbClr>
                            </a:outerShdw>
                          </a:effectLst>
                        </a:rPr>
                        <a:t>3</a:t>
                      </a:r>
                      <a:endParaRPr lang="en-US" sz="2400" dirty="0">
                        <a:effectLst>
                          <a:outerShdw blurRad="38100" dist="38100" dir="2700000" algn="tl">
                            <a:srgbClr val="000000">
                              <a:alpha val="43137"/>
                            </a:srgbClr>
                          </a:outerShdw>
                        </a:effectLst>
                      </a:endParaRPr>
                    </a:p>
                  </a:txBody>
                  <a:tcPr/>
                </a:tc>
                <a:tc>
                  <a:txBody>
                    <a:bodyPr/>
                    <a:lstStyle/>
                    <a:p>
                      <a:pPr algn="ctr"/>
                      <a:r>
                        <a:rPr lang="en-US" sz="2400" dirty="0" smtClean="0"/>
                        <a:t>55</a:t>
                      </a:r>
                      <a:endParaRPr lang="en-US" sz="2400" dirty="0"/>
                    </a:p>
                  </a:txBody>
                  <a:tcPr/>
                </a:tc>
                <a:tc>
                  <a:txBody>
                    <a:bodyPr/>
                    <a:lstStyle/>
                    <a:p>
                      <a:pPr algn="ctr"/>
                      <a:r>
                        <a:rPr lang="en-US" sz="2000" b="1" dirty="0" smtClean="0"/>
                        <a:t>-05</a:t>
                      </a:r>
                      <a:endParaRPr lang="en-US" sz="2000" b="1" dirty="0"/>
                    </a:p>
                  </a:txBody>
                  <a:tcPr/>
                </a:tc>
              </a:tr>
              <a:tr h="468642">
                <a:tc>
                  <a:txBody>
                    <a:bodyPr/>
                    <a:lstStyle/>
                    <a:p>
                      <a:pPr algn="ctr"/>
                      <a:r>
                        <a:rPr lang="en-US" sz="2400" dirty="0" smtClean="0">
                          <a:effectLst>
                            <a:outerShdw blurRad="38100" dist="38100" dir="2700000" algn="tl">
                              <a:srgbClr val="000000">
                                <a:alpha val="43137"/>
                              </a:srgbClr>
                            </a:outerShdw>
                          </a:effectLst>
                        </a:rPr>
                        <a:t>4</a:t>
                      </a:r>
                      <a:endParaRPr lang="en-US" sz="2400" dirty="0">
                        <a:effectLst>
                          <a:outerShdw blurRad="38100" dist="38100" dir="2700000" algn="tl">
                            <a:srgbClr val="000000">
                              <a:alpha val="43137"/>
                            </a:srgbClr>
                          </a:outerShdw>
                        </a:effectLst>
                      </a:endParaRPr>
                    </a:p>
                  </a:txBody>
                  <a:tcPr/>
                </a:tc>
                <a:tc>
                  <a:txBody>
                    <a:bodyPr/>
                    <a:lstStyle/>
                    <a:p>
                      <a:pPr algn="ctr"/>
                      <a:r>
                        <a:rPr lang="en-US" sz="2400" dirty="0" smtClean="0"/>
                        <a:t>78</a:t>
                      </a:r>
                      <a:endParaRPr lang="en-US" sz="2400" dirty="0"/>
                    </a:p>
                  </a:txBody>
                  <a:tcPr/>
                </a:tc>
                <a:tc>
                  <a:txBody>
                    <a:bodyPr/>
                    <a:lstStyle/>
                    <a:p>
                      <a:pPr algn="ctr"/>
                      <a:r>
                        <a:rPr lang="en-US" sz="2000" b="1" dirty="0" smtClean="0"/>
                        <a:t>+18</a:t>
                      </a:r>
                      <a:endParaRPr lang="en-US" sz="2000" b="1" dirty="0"/>
                    </a:p>
                  </a:txBody>
                  <a:tcPr/>
                </a:tc>
              </a:tr>
              <a:tr h="468642">
                <a:tc>
                  <a:txBody>
                    <a:bodyPr/>
                    <a:lstStyle/>
                    <a:p>
                      <a:pPr algn="ctr"/>
                      <a:r>
                        <a:rPr lang="en-US" sz="2400" dirty="0" smtClean="0">
                          <a:effectLst>
                            <a:outerShdw blurRad="38100" dist="38100" dir="2700000" algn="tl">
                              <a:srgbClr val="000000">
                                <a:alpha val="43137"/>
                              </a:srgbClr>
                            </a:outerShdw>
                          </a:effectLst>
                        </a:rPr>
                        <a:t>5</a:t>
                      </a:r>
                      <a:endParaRPr lang="en-US" sz="2400" dirty="0">
                        <a:effectLst>
                          <a:outerShdw blurRad="38100" dist="38100" dir="2700000" algn="tl">
                            <a:srgbClr val="000000">
                              <a:alpha val="43137"/>
                            </a:srgbClr>
                          </a:outerShdw>
                        </a:effectLst>
                      </a:endParaRPr>
                    </a:p>
                  </a:txBody>
                  <a:tcPr/>
                </a:tc>
                <a:tc>
                  <a:txBody>
                    <a:bodyPr/>
                    <a:lstStyle/>
                    <a:p>
                      <a:pPr algn="ctr"/>
                      <a:r>
                        <a:rPr lang="en-US" sz="2400" dirty="0" smtClean="0"/>
                        <a:t>58</a:t>
                      </a:r>
                      <a:endParaRPr lang="en-US" sz="2400" dirty="0"/>
                    </a:p>
                  </a:txBody>
                  <a:tcPr/>
                </a:tc>
                <a:tc>
                  <a:txBody>
                    <a:bodyPr/>
                    <a:lstStyle/>
                    <a:p>
                      <a:pPr algn="ctr"/>
                      <a:r>
                        <a:rPr lang="en-US" sz="2000" b="1" dirty="0" smtClean="0"/>
                        <a:t>-02</a:t>
                      </a:r>
                      <a:endParaRPr lang="en-US" sz="2000" b="1" dirty="0"/>
                    </a:p>
                  </a:txBody>
                  <a:tcPr/>
                </a:tc>
              </a:tr>
              <a:tr h="468642">
                <a:tc>
                  <a:txBody>
                    <a:bodyPr/>
                    <a:lstStyle/>
                    <a:p>
                      <a:pPr algn="ctr"/>
                      <a:r>
                        <a:rPr lang="en-US" sz="2400" dirty="0" smtClean="0">
                          <a:effectLst>
                            <a:outerShdw blurRad="38100" dist="38100" dir="2700000" algn="tl">
                              <a:srgbClr val="000000">
                                <a:alpha val="43137"/>
                              </a:srgbClr>
                            </a:outerShdw>
                          </a:effectLst>
                        </a:rPr>
                        <a:t>6</a:t>
                      </a:r>
                      <a:endParaRPr lang="en-US" sz="2400" dirty="0">
                        <a:effectLst>
                          <a:outerShdw blurRad="38100" dist="38100" dir="2700000" algn="tl">
                            <a:srgbClr val="000000">
                              <a:alpha val="43137"/>
                            </a:srgbClr>
                          </a:outerShdw>
                        </a:effectLst>
                      </a:endParaRPr>
                    </a:p>
                  </a:txBody>
                  <a:tcPr/>
                </a:tc>
                <a:tc>
                  <a:txBody>
                    <a:bodyPr/>
                    <a:lstStyle/>
                    <a:p>
                      <a:pPr algn="l"/>
                      <a:r>
                        <a:rPr lang="en-US" sz="2400" dirty="0" smtClean="0">
                          <a:solidFill>
                            <a:srgbClr val="FF0000"/>
                          </a:solidFill>
                        </a:rPr>
                        <a:t>   A </a:t>
                      </a:r>
                      <a:r>
                        <a:rPr lang="en-US" sz="2400" dirty="0" smtClean="0">
                          <a:solidFill>
                            <a:srgbClr val="FF0000"/>
                          </a:solidFill>
                          <a:sym typeface="Wingdings" pitchFamily="2" charset="2"/>
                        </a:rPr>
                        <a:t> </a:t>
                      </a:r>
                      <a:r>
                        <a:rPr lang="en-US" sz="2400" dirty="0" smtClean="0">
                          <a:solidFill>
                            <a:srgbClr val="FF0000"/>
                          </a:solidFill>
                        </a:rPr>
                        <a:t>60</a:t>
                      </a:r>
                      <a:endParaRPr lang="en-US" sz="2400" dirty="0">
                        <a:solidFill>
                          <a:srgbClr val="FF0000"/>
                        </a:solidFill>
                      </a:endParaRPr>
                    </a:p>
                  </a:txBody>
                  <a:tcPr/>
                </a:tc>
                <a:tc>
                  <a:txBody>
                    <a:bodyPr/>
                    <a:lstStyle/>
                    <a:p>
                      <a:pPr algn="ctr"/>
                      <a:r>
                        <a:rPr lang="en-US" sz="2000" b="1" dirty="0" smtClean="0"/>
                        <a:t>00</a:t>
                      </a:r>
                      <a:endParaRPr lang="en-US" sz="2000" b="1" dirty="0"/>
                    </a:p>
                  </a:txBody>
                  <a:tcPr/>
                </a:tc>
              </a:tr>
              <a:tr h="468642">
                <a:tc>
                  <a:txBody>
                    <a:bodyPr/>
                    <a:lstStyle/>
                    <a:p>
                      <a:pPr algn="ctr"/>
                      <a:r>
                        <a:rPr lang="en-US" sz="2400" dirty="0" smtClean="0">
                          <a:effectLst>
                            <a:outerShdw blurRad="38100" dist="38100" dir="2700000" algn="tl">
                              <a:srgbClr val="000000">
                                <a:alpha val="43137"/>
                              </a:srgbClr>
                            </a:outerShdw>
                          </a:effectLst>
                        </a:rPr>
                        <a:t>7</a:t>
                      </a:r>
                      <a:endParaRPr lang="en-US" sz="2400" dirty="0">
                        <a:effectLst>
                          <a:outerShdw blurRad="38100" dist="38100" dir="2700000" algn="tl">
                            <a:srgbClr val="000000">
                              <a:alpha val="43137"/>
                            </a:srgbClr>
                          </a:outerShdw>
                        </a:effectLst>
                      </a:endParaRPr>
                    </a:p>
                  </a:txBody>
                  <a:tcPr/>
                </a:tc>
                <a:tc>
                  <a:txBody>
                    <a:bodyPr/>
                    <a:lstStyle/>
                    <a:p>
                      <a:pPr algn="ctr"/>
                      <a:r>
                        <a:rPr lang="en-US" sz="2400" dirty="0" smtClean="0"/>
                        <a:t>73</a:t>
                      </a:r>
                      <a:endParaRPr lang="en-US" sz="2400" dirty="0"/>
                    </a:p>
                  </a:txBody>
                  <a:tcPr/>
                </a:tc>
                <a:tc>
                  <a:txBody>
                    <a:bodyPr/>
                    <a:lstStyle/>
                    <a:p>
                      <a:pPr algn="ctr"/>
                      <a:r>
                        <a:rPr lang="en-US" sz="2000" b="1" dirty="0" smtClean="0"/>
                        <a:t>+13</a:t>
                      </a:r>
                      <a:endParaRPr lang="en-US" sz="2000" b="1" dirty="0"/>
                    </a:p>
                  </a:txBody>
                  <a:tcPr/>
                </a:tc>
              </a:tr>
              <a:tr h="468642">
                <a:tc>
                  <a:txBody>
                    <a:bodyPr/>
                    <a:lstStyle/>
                    <a:p>
                      <a:pPr algn="ctr"/>
                      <a:r>
                        <a:rPr lang="en-US" sz="2400" dirty="0" smtClean="0">
                          <a:effectLst>
                            <a:outerShdw blurRad="38100" dist="38100" dir="2700000" algn="tl">
                              <a:srgbClr val="000000">
                                <a:alpha val="43137"/>
                              </a:srgbClr>
                            </a:outerShdw>
                          </a:effectLst>
                        </a:rPr>
                        <a:t>8</a:t>
                      </a:r>
                      <a:endParaRPr lang="en-US" sz="2400" dirty="0">
                        <a:effectLst>
                          <a:outerShdw blurRad="38100" dist="38100" dir="2700000" algn="tl">
                            <a:srgbClr val="000000">
                              <a:alpha val="43137"/>
                            </a:srgbClr>
                          </a:outerShdw>
                        </a:effectLst>
                      </a:endParaRPr>
                    </a:p>
                  </a:txBody>
                  <a:tcPr/>
                </a:tc>
                <a:tc>
                  <a:txBody>
                    <a:bodyPr/>
                    <a:lstStyle/>
                    <a:p>
                      <a:pPr algn="ctr"/>
                      <a:r>
                        <a:rPr lang="en-US" sz="2400" dirty="0" smtClean="0"/>
                        <a:t>35</a:t>
                      </a:r>
                      <a:endParaRPr lang="en-US" sz="2400" dirty="0"/>
                    </a:p>
                  </a:txBody>
                  <a:tcPr/>
                </a:tc>
                <a:tc>
                  <a:txBody>
                    <a:bodyPr/>
                    <a:lstStyle/>
                    <a:p>
                      <a:pPr algn="ctr"/>
                      <a:r>
                        <a:rPr lang="en-US" sz="2000" b="1" dirty="0" smtClean="0"/>
                        <a:t>-25</a:t>
                      </a:r>
                      <a:endParaRPr lang="en-US" sz="2000" b="1" dirty="0"/>
                    </a:p>
                  </a:txBody>
                  <a:tcPr/>
                </a:tc>
              </a:tr>
              <a:tr h="468642">
                <a:tc>
                  <a:txBody>
                    <a:bodyPr/>
                    <a:lstStyle/>
                    <a:p>
                      <a:pPr algn="ctr"/>
                      <a:r>
                        <a:rPr lang="en-US" sz="2400" dirty="0" smtClean="0">
                          <a:effectLst>
                            <a:outerShdw blurRad="38100" dist="38100" dir="2700000" algn="tl">
                              <a:srgbClr val="000000">
                                <a:alpha val="43137"/>
                              </a:srgbClr>
                            </a:outerShdw>
                          </a:effectLst>
                        </a:rPr>
                        <a:t>9</a:t>
                      </a:r>
                      <a:endParaRPr lang="en-US" sz="2400" dirty="0">
                        <a:effectLst>
                          <a:outerShdw blurRad="38100" dist="38100" dir="2700000" algn="tl">
                            <a:srgbClr val="000000">
                              <a:alpha val="43137"/>
                            </a:srgbClr>
                          </a:outerShdw>
                        </a:effectLst>
                      </a:endParaRPr>
                    </a:p>
                  </a:txBody>
                  <a:tcPr/>
                </a:tc>
                <a:tc>
                  <a:txBody>
                    <a:bodyPr/>
                    <a:lstStyle/>
                    <a:p>
                      <a:pPr algn="ctr"/>
                      <a:r>
                        <a:rPr lang="en-US" sz="2400" dirty="0" smtClean="0"/>
                        <a:t>43</a:t>
                      </a:r>
                      <a:endParaRPr lang="en-US" sz="2400" dirty="0"/>
                    </a:p>
                  </a:txBody>
                  <a:tcPr/>
                </a:tc>
                <a:tc>
                  <a:txBody>
                    <a:bodyPr/>
                    <a:lstStyle/>
                    <a:p>
                      <a:pPr algn="ctr"/>
                      <a:r>
                        <a:rPr lang="en-US" sz="2000" b="1" dirty="0" smtClean="0"/>
                        <a:t>-17</a:t>
                      </a:r>
                      <a:endParaRPr lang="en-US" sz="2000" b="1" dirty="0"/>
                    </a:p>
                  </a:txBody>
                  <a:tcPr/>
                </a:tc>
              </a:tr>
              <a:tr h="468642">
                <a:tc>
                  <a:txBody>
                    <a:bodyPr/>
                    <a:lstStyle/>
                    <a:p>
                      <a:pPr algn="ctr"/>
                      <a:r>
                        <a:rPr lang="en-US" sz="2400" dirty="0" smtClean="0">
                          <a:effectLst>
                            <a:outerShdw blurRad="38100" dist="38100" dir="2700000" algn="tl">
                              <a:srgbClr val="000000">
                                <a:alpha val="43137"/>
                              </a:srgbClr>
                            </a:outerShdw>
                          </a:effectLst>
                        </a:rPr>
                        <a:t>10</a:t>
                      </a:r>
                      <a:endParaRPr lang="en-US" sz="2400" dirty="0">
                        <a:effectLst>
                          <a:outerShdw blurRad="38100" dist="38100" dir="2700000" algn="tl">
                            <a:srgbClr val="000000">
                              <a:alpha val="43137"/>
                            </a:srgbClr>
                          </a:outerShdw>
                        </a:effectLst>
                      </a:endParaRPr>
                    </a:p>
                  </a:txBody>
                  <a:tcPr/>
                </a:tc>
                <a:tc>
                  <a:txBody>
                    <a:bodyPr/>
                    <a:lstStyle/>
                    <a:p>
                      <a:pPr algn="ctr"/>
                      <a:r>
                        <a:rPr lang="en-US" sz="2400" dirty="0" smtClean="0"/>
                        <a:t>48</a:t>
                      </a:r>
                      <a:endParaRPr lang="en-US" sz="2400" dirty="0"/>
                    </a:p>
                  </a:txBody>
                  <a:tcPr/>
                </a:tc>
                <a:tc>
                  <a:txBody>
                    <a:bodyPr/>
                    <a:lstStyle/>
                    <a:p>
                      <a:pPr algn="ctr"/>
                      <a:r>
                        <a:rPr lang="en-US" sz="2000" b="1" dirty="0" smtClean="0"/>
                        <a:t>-12</a:t>
                      </a:r>
                      <a:endParaRPr lang="en-US" sz="2000" b="1" dirty="0"/>
                    </a:p>
                  </a:txBody>
                  <a:tcPr/>
                </a:tc>
              </a:tr>
              <a:tr h="430853">
                <a:tc>
                  <a:txBody>
                    <a:bodyPr/>
                    <a:lstStyle/>
                    <a:p>
                      <a:endParaRPr lang="en-US" dirty="0"/>
                    </a:p>
                  </a:txBody>
                  <a:tcPr/>
                </a:tc>
                <a:tc>
                  <a:txBody>
                    <a:bodyPr/>
                    <a:lstStyle/>
                    <a:p>
                      <a:endParaRPr lang="en-US" dirty="0"/>
                    </a:p>
                  </a:txBody>
                  <a:tcPr/>
                </a:tc>
                <a:tc>
                  <a:txBody>
                    <a:bodyPr/>
                    <a:lstStyle/>
                    <a:p>
                      <a:r>
                        <a:rPr lang="en-US" sz="2000" b="1" dirty="0" smtClean="0"/>
                        <a:t> ∑d = - 60</a:t>
                      </a:r>
                      <a:endParaRPr lang="en-US" sz="2000" b="1" dirty="0"/>
                    </a:p>
                  </a:txBody>
                  <a:tcPr/>
                </a:tc>
              </a:tr>
            </a:tbl>
          </a:graphicData>
        </a:graphic>
      </p:graphicFrame>
      <p:pic>
        <p:nvPicPr>
          <p:cNvPr id="20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1143000"/>
            <a:ext cx="26670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6096000" y="3352800"/>
            <a:ext cx="2743200" cy="1200329"/>
          </a:xfrm>
          <a:prstGeom prst="rect">
            <a:avLst/>
          </a:prstGeom>
          <a:noFill/>
        </p:spPr>
        <p:txBody>
          <a:bodyPr wrap="square" rtlCol="0">
            <a:spAutoFit/>
          </a:bodyPr>
          <a:lstStyle/>
          <a:p>
            <a:r>
              <a:rPr lang="en-US" dirty="0" smtClean="0"/>
              <a:t>   </a:t>
            </a:r>
            <a:r>
              <a:rPr lang="en-US" sz="2400" dirty="0" smtClean="0"/>
              <a:t>=  60  + (-60 / 10)  </a:t>
            </a:r>
          </a:p>
          <a:p>
            <a:r>
              <a:rPr lang="en-US" sz="2400" dirty="0"/>
              <a:t> </a:t>
            </a:r>
            <a:r>
              <a:rPr lang="en-US" sz="2400" dirty="0" smtClean="0"/>
              <a:t>  =   60  - 6 </a:t>
            </a:r>
          </a:p>
          <a:p>
            <a:r>
              <a:rPr lang="en-US" sz="2400" dirty="0"/>
              <a:t> </a:t>
            </a:r>
            <a:r>
              <a:rPr lang="en-US" sz="2400" dirty="0" smtClean="0"/>
              <a:t>   </a:t>
            </a:r>
            <a:r>
              <a:rPr lang="en-US" sz="2400" smtClean="0"/>
              <a:t>=     54</a:t>
            </a:r>
            <a:endParaRPr lang="en-US" sz="2400" dirty="0"/>
          </a:p>
        </p:txBody>
      </p:sp>
    </p:spTree>
    <p:extLst>
      <p:ext uri="{BB962C8B-B14F-4D97-AF65-F5344CB8AC3E}">
        <p14:creationId xmlns:p14="http://schemas.microsoft.com/office/powerpoint/2010/main" val="262408278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algn="ctr">
              <a:buNone/>
            </a:pPr>
            <a:r>
              <a:rPr lang="en-US" sz="2400" b="1" u="sng" dirty="0" smtClean="0">
                <a:solidFill>
                  <a:srgbClr val="FF0000"/>
                </a:solidFill>
                <a:effectLst>
                  <a:outerShdw blurRad="38100" dist="38100" dir="2700000" algn="tl">
                    <a:srgbClr val="000000">
                      <a:alpha val="43137"/>
                    </a:srgbClr>
                  </a:outerShdw>
                </a:effectLst>
              </a:rPr>
              <a:t>ARITHMETIC MEAN </a:t>
            </a:r>
            <a:r>
              <a:rPr lang="en-US" sz="2800" b="1" dirty="0">
                <a:solidFill>
                  <a:srgbClr val="0066FF"/>
                </a:solidFill>
              </a:rPr>
              <a:t>DESCRITE SERIES </a:t>
            </a:r>
            <a:r>
              <a:rPr lang="en-US" sz="2800" b="1" u="sng" dirty="0" smtClean="0">
                <a:solidFill>
                  <a:srgbClr val="9900FF"/>
                </a:solidFill>
                <a:effectLst>
                  <a:outerShdw blurRad="38100" dist="38100" dir="2700000" algn="tl">
                    <a:srgbClr val="000000">
                      <a:alpha val="43137"/>
                    </a:srgbClr>
                  </a:outerShdw>
                </a:effectLst>
              </a:rPr>
              <a:t>DIRECT METHOD </a:t>
            </a:r>
            <a:endParaRPr lang="en-US" sz="2200" b="1" u="sng" dirty="0" smtClean="0">
              <a:solidFill>
                <a:srgbClr val="9900FF"/>
              </a:solidFill>
              <a:effectLst>
                <a:outerShdw blurRad="38100" dist="38100" dir="2700000" algn="tl">
                  <a:srgbClr val="000000">
                    <a:alpha val="43137"/>
                  </a:srgbClr>
                </a:outerShdw>
              </a:effectLst>
            </a:endParaRPr>
          </a:p>
          <a:p>
            <a:pPr algn="ctr">
              <a:buNone/>
            </a:pPr>
            <a:r>
              <a:rPr lang="en-US" sz="2200" b="1" dirty="0" smtClean="0">
                <a:solidFill>
                  <a:schemeClr val="bg2">
                    <a:lumMod val="10000"/>
                  </a:schemeClr>
                </a:solidFill>
                <a:effectLst>
                  <a:outerShdw blurRad="38100" dist="38100" dir="2700000" algn="tl">
                    <a:srgbClr val="000000">
                      <a:alpha val="43137"/>
                    </a:srgbClr>
                  </a:outerShdw>
                </a:effectLst>
              </a:rPr>
              <a:t>implies </a:t>
            </a:r>
            <a:r>
              <a:rPr lang="en-US" sz="2200" b="1" dirty="0">
                <a:solidFill>
                  <a:schemeClr val="bg2">
                    <a:lumMod val="10000"/>
                  </a:schemeClr>
                </a:solidFill>
                <a:effectLst>
                  <a:outerShdw blurRad="38100" dist="38100" dir="2700000" algn="tl">
                    <a:srgbClr val="000000">
                      <a:alpha val="43137"/>
                    </a:srgbClr>
                  </a:outerShdw>
                </a:effectLst>
              </a:rPr>
              <a:t>it is </a:t>
            </a:r>
            <a:r>
              <a:rPr lang="en-US" sz="2200" b="1" u="sng" dirty="0">
                <a:solidFill>
                  <a:srgbClr val="7030A0"/>
                </a:solidFill>
                <a:effectLst>
                  <a:outerShdw blurRad="38100" dist="38100" dir="2700000" algn="tl">
                    <a:srgbClr val="000000">
                      <a:alpha val="43137"/>
                    </a:srgbClr>
                  </a:outerShdw>
                </a:effectLst>
              </a:rPr>
              <a:t>Ungrouped </a:t>
            </a:r>
            <a:r>
              <a:rPr lang="en-US" sz="2200" b="1" dirty="0">
                <a:solidFill>
                  <a:srgbClr val="7030A0"/>
                </a:solidFill>
              </a:rPr>
              <a:t>(or Raw) Data </a:t>
            </a:r>
            <a:endParaRPr lang="en-US" sz="2200" b="1" dirty="0" smtClean="0">
              <a:solidFill>
                <a:srgbClr val="7030A0"/>
              </a:solidFill>
            </a:endParaRPr>
          </a:p>
          <a:p>
            <a:pPr>
              <a:buNone/>
            </a:pPr>
            <a:r>
              <a:rPr lang="en-US" sz="2200" b="1" u="sng" dirty="0" smtClean="0"/>
              <a:t>EX</a:t>
            </a:r>
            <a:r>
              <a:rPr lang="en-US" sz="2200" dirty="0" smtClean="0"/>
              <a:t>: The </a:t>
            </a:r>
            <a:r>
              <a:rPr lang="en-US" sz="2200" dirty="0"/>
              <a:t>daily earnings (in rupees) of employees working on a daily basis in a firm are</a:t>
            </a:r>
            <a:r>
              <a:rPr lang="en-US" sz="2200" dirty="0" smtClean="0"/>
              <a:t>:</a:t>
            </a:r>
          </a:p>
          <a:p>
            <a:pPr>
              <a:buNone/>
            </a:pPr>
            <a:endParaRPr lang="en-US" sz="2400" dirty="0"/>
          </a:p>
          <a:p>
            <a:pPr algn="ctr">
              <a:buNone/>
            </a:pPr>
            <a:endParaRPr lang="en-US" sz="2400" dirty="0" smtClean="0"/>
          </a:p>
          <a:p>
            <a:pPr algn="ctr">
              <a:buNone/>
            </a:pPr>
            <a:endParaRPr lang="en-US" sz="2400" dirty="0"/>
          </a:p>
          <a:p>
            <a:pPr algn="ctr">
              <a:buNone/>
            </a:pPr>
            <a:endParaRPr lang="en-US" sz="2400" dirty="0" smtClean="0"/>
          </a:p>
          <a:p>
            <a:pPr algn="ctr">
              <a:buNone/>
            </a:pPr>
            <a:endParaRPr lang="en-US" sz="2400" dirty="0"/>
          </a:p>
          <a:p>
            <a:pPr algn="ctr">
              <a:buNone/>
            </a:pPr>
            <a:endParaRPr lang="en-US" sz="2400" dirty="0" smtClean="0"/>
          </a:p>
          <a:p>
            <a:pPr algn="ctr">
              <a:buNone/>
            </a:pPr>
            <a:endParaRPr lang="en-US" sz="2400" dirty="0"/>
          </a:p>
          <a:p>
            <a:pPr algn="ctr">
              <a:buNone/>
            </a:pPr>
            <a:endParaRPr lang="en-US" sz="2400" dirty="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r>
              <a:rPr lang="en-US" sz="2400" dirty="0" smtClean="0"/>
              <a:t>    =     </a:t>
            </a:r>
            <a:r>
              <a:rPr lang="en-US" sz="2400" b="1" dirty="0" smtClean="0">
                <a:solidFill>
                  <a:srgbClr val="FF0000"/>
                </a:solidFill>
                <a:effectLst>
                  <a:outerShdw blurRad="38100" dist="38100" dir="2700000" algn="tl">
                    <a:srgbClr val="000000">
                      <a:alpha val="43137"/>
                    </a:srgbClr>
                  </a:outerShdw>
                </a:effectLst>
              </a:rPr>
              <a:t> ∑   </a:t>
            </a:r>
            <a:r>
              <a:rPr lang="en-US" sz="2400" b="1" dirty="0" smtClean="0">
                <a:solidFill>
                  <a:srgbClr val="CC00FF"/>
                </a:solidFill>
              </a:rPr>
              <a:t>F(X) </a:t>
            </a:r>
            <a:r>
              <a:rPr lang="en-US" sz="2400" dirty="0" smtClean="0"/>
              <a:t>  </a:t>
            </a:r>
            <a:r>
              <a:rPr lang="en-US" sz="2400" b="1" dirty="0" smtClean="0">
                <a:effectLst>
                  <a:outerShdw blurRad="38100" dist="38100" dir="2700000" algn="tl">
                    <a:srgbClr val="000000">
                      <a:alpha val="43137"/>
                    </a:srgbClr>
                  </a:outerShdw>
                </a:effectLst>
              </a:rPr>
              <a:t>/ </a:t>
            </a:r>
            <a:r>
              <a:rPr lang="en-US" sz="2400" dirty="0" smtClean="0"/>
              <a:t>  </a:t>
            </a:r>
            <a:r>
              <a:rPr lang="en-US" sz="2400" b="1" dirty="0" smtClean="0">
                <a:solidFill>
                  <a:srgbClr val="FF0000"/>
                </a:solidFill>
              </a:rPr>
              <a:t>∑</a:t>
            </a:r>
            <a:r>
              <a:rPr lang="en-US" sz="2400" dirty="0" smtClean="0"/>
              <a:t>F  =     </a:t>
            </a:r>
            <a:r>
              <a:rPr lang="en-US" sz="2400" b="1" dirty="0" smtClean="0">
                <a:solidFill>
                  <a:srgbClr val="FF3399"/>
                </a:solidFill>
              </a:rPr>
              <a:t>34040</a:t>
            </a:r>
            <a:r>
              <a:rPr lang="en-US" sz="2400" dirty="0" smtClean="0"/>
              <a:t>  /  </a:t>
            </a:r>
            <a:r>
              <a:rPr lang="en-US" sz="2400" b="1" dirty="0" smtClean="0">
                <a:solidFill>
                  <a:srgbClr val="9900FF"/>
                </a:solidFill>
              </a:rPr>
              <a:t>175</a:t>
            </a:r>
            <a:r>
              <a:rPr lang="en-US" sz="2400" dirty="0" smtClean="0"/>
              <a:t> = 194.51</a:t>
            </a:r>
          </a:p>
          <a:p>
            <a:pPr algn="ctr">
              <a:buNone/>
            </a:pPr>
            <a:endParaRPr lang="en-US" sz="3600" b="1" dirty="0">
              <a:solidFill>
                <a:srgbClr val="0066FF"/>
              </a:solidFill>
            </a:endParaRPr>
          </a:p>
        </p:txBody>
      </p:sp>
      <p:pic>
        <p:nvPicPr>
          <p:cNvPr id="4" name="img-85_5"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447800"/>
            <a:ext cx="7924800" cy="533400"/>
          </a:xfrm>
          <a:prstGeom prst="rect">
            <a:avLst/>
          </a:prstGeom>
          <a:noFill/>
          <a:ln>
            <a:noFill/>
          </a:ln>
        </p:spPr>
      </p:pic>
      <p:graphicFrame>
        <p:nvGraphicFramePr>
          <p:cNvPr id="2" name="Table 1"/>
          <p:cNvGraphicFramePr>
            <a:graphicFrameLocks noGrp="1"/>
          </p:cNvGraphicFramePr>
          <p:nvPr>
            <p:extLst>
              <p:ext uri="{D42A27DB-BD31-4B8C-83A1-F6EECF244321}">
                <p14:modId xmlns:p14="http://schemas.microsoft.com/office/powerpoint/2010/main" val="1236333821"/>
              </p:ext>
            </p:extLst>
          </p:nvPr>
        </p:nvGraphicFramePr>
        <p:xfrm>
          <a:off x="1828800" y="2133600"/>
          <a:ext cx="6553200" cy="3992009"/>
        </p:xfrm>
        <a:graphic>
          <a:graphicData uri="http://schemas.openxmlformats.org/drawingml/2006/table">
            <a:tbl>
              <a:tblPr firstRow="1" firstCol="1" bandRow="1"/>
              <a:tblGrid>
                <a:gridCol w="2184400"/>
                <a:gridCol w="2184400"/>
                <a:gridCol w="2184400"/>
              </a:tblGrid>
              <a:tr h="927600">
                <a:tc>
                  <a:txBody>
                    <a:bodyPr/>
                    <a:lstStyle/>
                    <a:p>
                      <a:pPr marL="0" marR="0" algn="r">
                        <a:lnSpc>
                          <a:spcPct val="115000"/>
                        </a:lnSpc>
                        <a:spcBef>
                          <a:spcPts val="0"/>
                        </a:spcBef>
                        <a:spcAft>
                          <a:spcPts val="0"/>
                        </a:spcAft>
                      </a:pPr>
                      <a:r>
                        <a:rPr lang="en-US" sz="2100" dirty="0">
                          <a:effectLst>
                            <a:outerShdw blurRad="38100" dist="38100" dir="2700000" algn="tl">
                              <a:srgbClr val="000000">
                                <a:alpha val="43137"/>
                              </a:srgbClr>
                            </a:outerShdw>
                          </a:effectLst>
                          <a:latin typeface="Calibri"/>
                          <a:ea typeface="Calibri"/>
                          <a:cs typeface="Times New Roman"/>
                        </a:rPr>
                        <a:t>DAILY EARNINGS (IN </a:t>
                      </a:r>
                      <a:r>
                        <a:rPr lang="en-US" sz="2100" dirty="0" smtClean="0">
                          <a:effectLst>
                            <a:outerShdw blurRad="38100" dist="38100" dir="2700000" algn="tl">
                              <a:srgbClr val="000000">
                                <a:alpha val="43137"/>
                              </a:srgbClr>
                            </a:outerShdw>
                          </a:effectLst>
                          <a:latin typeface="Calibri"/>
                          <a:ea typeface="Calibri"/>
                          <a:cs typeface="Times New Roman"/>
                        </a:rPr>
                        <a:t>RUPEES)</a:t>
                      </a:r>
                      <a:r>
                        <a:rPr lang="en-US" sz="2100" baseline="0" dirty="0" smtClean="0">
                          <a:effectLst>
                            <a:outerShdw blurRad="38100" dist="38100" dir="2700000" algn="tl">
                              <a:srgbClr val="000000">
                                <a:alpha val="43137"/>
                              </a:srgbClr>
                            </a:outerShdw>
                          </a:effectLst>
                          <a:latin typeface="Calibri"/>
                          <a:ea typeface="Calibri"/>
                          <a:cs typeface="Times New Roman"/>
                        </a:rPr>
                        <a:t> </a:t>
                      </a:r>
                      <a:r>
                        <a:rPr lang="en-US" sz="2100" b="1" dirty="0" smtClean="0">
                          <a:solidFill>
                            <a:srgbClr val="FF0000"/>
                          </a:solidFill>
                          <a:effectLst>
                            <a:outerShdw blurRad="38100" dist="38100" dir="2700000" algn="tl">
                              <a:srgbClr val="000000">
                                <a:alpha val="43137"/>
                              </a:srgbClr>
                            </a:outerShdw>
                          </a:effectLst>
                          <a:latin typeface="Calibri"/>
                          <a:ea typeface="Calibri"/>
                          <a:cs typeface="Times New Roman"/>
                        </a:rPr>
                        <a:t>X</a:t>
                      </a:r>
                      <a:endParaRPr lang="en-US" sz="2100" b="1"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dirty="0">
                          <a:effectLst>
                            <a:outerShdw blurRad="38100" dist="38100" dir="2700000" algn="tl">
                              <a:srgbClr val="000000">
                                <a:alpha val="43137"/>
                              </a:srgbClr>
                            </a:outerShdw>
                          </a:effectLst>
                          <a:latin typeface="Calibri"/>
                          <a:ea typeface="Calibri"/>
                          <a:cs typeface="Times New Roman"/>
                        </a:rPr>
                        <a:t>NUMBER OF </a:t>
                      </a:r>
                      <a:r>
                        <a:rPr lang="en-US" sz="2100" dirty="0" smtClean="0">
                          <a:effectLst>
                            <a:outerShdw blurRad="38100" dist="38100" dir="2700000" algn="tl">
                              <a:srgbClr val="000000">
                                <a:alpha val="43137"/>
                              </a:srgbClr>
                            </a:outerShdw>
                          </a:effectLst>
                          <a:latin typeface="Calibri"/>
                          <a:ea typeface="Calibri"/>
                          <a:cs typeface="Times New Roman"/>
                        </a:rPr>
                        <a:t>EMPLOYEES</a:t>
                      </a:r>
                      <a:r>
                        <a:rPr lang="en-US" sz="2100" baseline="0" dirty="0" smtClean="0">
                          <a:effectLst>
                            <a:outerShdw blurRad="38100" dist="38100" dir="2700000" algn="tl">
                              <a:srgbClr val="000000">
                                <a:alpha val="43137"/>
                              </a:srgbClr>
                            </a:outerShdw>
                          </a:effectLst>
                          <a:latin typeface="Calibri"/>
                          <a:ea typeface="Calibri"/>
                          <a:cs typeface="Times New Roman"/>
                        </a:rPr>
                        <a:t>  </a:t>
                      </a:r>
                      <a:r>
                        <a:rPr lang="en-US" sz="2400" b="1" dirty="0" smtClean="0">
                          <a:solidFill>
                            <a:srgbClr val="FF0000"/>
                          </a:solidFill>
                          <a:effectLst/>
                          <a:latin typeface="Calibri"/>
                          <a:ea typeface="Calibri"/>
                          <a:cs typeface="Times New Roman"/>
                        </a:rPr>
                        <a:t>F</a:t>
                      </a:r>
                      <a:endParaRPr lang="en-US" sz="2100" b="1" dirty="0">
                        <a:solidFill>
                          <a:srgbClr val="FF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dirty="0" smtClean="0">
                          <a:solidFill>
                            <a:srgbClr val="FF0000"/>
                          </a:solidFill>
                          <a:effectLst>
                            <a:outerShdw blurRad="38100" dist="38100" dir="2700000" algn="tl">
                              <a:srgbClr val="000000">
                                <a:alpha val="43137"/>
                              </a:srgbClr>
                            </a:outerShdw>
                          </a:effectLst>
                          <a:latin typeface="Calibri"/>
                          <a:ea typeface="Calibri"/>
                          <a:cs typeface="Times New Roman"/>
                        </a:rPr>
                        <a:t>F(X)</a:t>
                      </a:r>
                      <a:endParaRPr lang="en-US" sz="210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860">
                <a:tc>
                  <a:txBody>
                    <a:bodyPr/>
                    <a:lstStyle/>
                    <a:p>
                      <a:pPr marL="0" marR="0" algn="ctr">
                        <a:lnSpc>
                          <a:spcPct val="115000"/>
                        </a:lnSpc>
                        <a:spcBef>
                          <a:spcPts val="0"/>
                        </a:spcBef>
                        <a:spcAft>
                          <a:spcPts val="0"/>
                        </a:spcAft>
                      </a:pPr>
                      <a:r>
                        <a:rPr lang="en-US" sz="2100" b="1" dirty="0">
                          <a:effectLst/>
                          <a:latin typeface="Calibri"/>
                          <a:ea typeface="Calibri"/>
                          <a:cs typeface="Times New Roman"/>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300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860">
                <a:tc>
                  <a:txBody>
                    <a:bodyPr/>
                    <a:lstStyle/>
                    <a:p>
                      <a:pPr marL="0" marR="0" algn="ctr">
                        <a:lnSpc>
                          <a:spcPct val="115000"/>
                        </a:lnSpc>
                        <a:spcBef>
                          <a:spcPts val="0"/>
                        </a:spcBef>
                        <a:spcAft>
                          <a:spcPts val="0"/>
                        </a:spcAft>
                      </a:pPr>
                      <a:r>
                        <a:rPr lang="en-US" sz="2100" b="1" dirty="0">
                          <a:effectLst/>
                          <a:latin typeface="Calibri"/>
                          <a:ea typeface="Calibri"/>
                          <a:cs typeface="Times New Roman"/>
                        </a:rPr>
                        <a:t>120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720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860">
                <a:tc>
                  <a:txBody>
                    <a:bodyPr/>
                    <a:lstStyle/>
                    <a:p>
                      <a:pPr marL="0" marR="0" algn="ctr">
                        <a:lnSpc>
                          <a:spcPct val="115000"/>
                        </a:lnSpc>
                        <a:spcBef>
                          <a:spcPts val="0"/>
                        </a:spcBef>
                        <a:spcAft>
                          <a:spcPts val="0"/>
                        </a:spcAft>
                      </a:pPr>
                      <a:r>
                        <a:rPr lang="en-US" sz="2100" b="1" dirty="0">
                          <a:effectLst/>
                          <a:latin typeface="Calibri"/>
                          <a:ea typeface="Calibri"/>
                          <a:cs typeface="Times New Roman"/>
                        </a:rPr>
                        <a:t>140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1400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860">
                <a:tc>
                  <a:txBody>
                    <a:bodyPr/>
                    <a:lstStyle/>
                    <a:p>
                      <a:pPr marL="0" marR="0" algn="ctr">
                        <a:lnSpc>
                          <a:spcPct val="115000"/>
                        </a:lnSpc>
                        <a:spcBef>
                          <a:spcPts val="0"/>
                        </a:spcBef>
                        <a:spcAft>
                          <a:spcPts val="0"/>
                        </a:spcAft>
                      </a:pPr>
                      <a:r>
                        <a:rPr lang="en-US" sz="2100" b="1" dirty="0">
                          <a:effectLst/>
                          <a:latin typeface="Calibri"/>
                          <a:ea typeface="Calibri"/>
                          <a:cs typeface="Times New Roman"/>
                        </a:rPr>
                        <a:t>160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2400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860">
                <a:tc>
                  <a:txBody>
                    <a:bodyPr/>
                    <a:lstStyle/>
                    <a:p>
                      <a:pPr marL="0" marR="0" algn="ctr">
                        <a:lnSpc>
                          <a:spcPct val="115000"/>
                        </a:lnSpc>
                        <a:spcBef>
                          <a:spcPts val="0"/>
                        </a:spcBef>
                        <a:spcAft>
                          <a:spcPts val="0"/>
                        </a:spcAft>
                      </a:pPr>
                      <a:r>
                        <a:rPr lang="en-US" sz="2100" b="1" dirty="0">
                          <a:effectLst/>
                          <a:latin typeface="Calibri"/>
                          <a:ea typeface="Calibri"/>
                          <a:cs typeface="Times New Roman"/>
                        </a:rPr>
                        <a:t>180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24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4320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860">
                <a:tc>
                  <a:txBody>
                    <a:bodyPr/>
                    <a:lstStyle/>
                    <a:p>
                      <a:pPr marL="0" marR="0" algn="ctr">
                        <a:lnSpc>
                          <a:spcPct val="115000"/>
                        </a:lnSpc>
                        <a:spcBef>
                          <a:spcPts val="0"/>
                        </a:spcBef>
                        <a:spcAft>
                          <a:spcPts val="0"/>
                        </a:spcAft>
                      </a:pPr>
                      <a:r>
                        <a:rPr lang="en-US" sz="2100" b="1" dirty="0">
                          <a:effectLst/>
                          <a:latin typeface="Calibri"/>
                          <a:ea typeface="Calibri"/>
                          <a:cs typeface="Times New Roman"/>
                        </a:rPr>
                        <a:t>200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42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8400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860">
                <a:tc>
                  <a:txBody>
                    <a:bodyPr/>
                    <a:lstStyle/>
                    <a:p>
                      <a:pPr marL="0" marR="0" algn="ctr">
                        <a:lnSpc>
                          <a:spcPct val="115000"/>
                        </a:lnSpc>
                        <a:spcBef>
                          <a:spcPts val="0"/>
                        </a:spcBef>
                        <a:spcAft>
                          <a:spcPts val="0"/>
                        </a:spcAft>
                      </a:pPr>
                      <a:r>
                        <a:rPr lang="en-US" sz="2100" b="1" dirty="0">
                          <a:effectLst/>
                          <a:latin typeface="Calibri"/>
                          <a:ea typeface="Calibri"/>
                          <a:cs typeface="Times New Roman"/>
                        </a:rPr>
                        <a:t>220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75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100" b="1" dirty="0">
                          <a:effectLst/>
                          <a:latin typeface="Calibri"/>
                          <a:ea typeface="Calibri"/>
                          <a:cs typeface="Times New Roman"/>
                        </a:rPr>
                        <a:t>16500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8087">
                <a:tc>
                  <a:txBody>
                    <a:bodyPr/>
                    <a:lstStyle/>
                    <a:p>
                      <a:pPr marL="0" marR="0" algn="ctr">
                        <a:lnSpc>
                          <a:spcPct val="115000"/>
                        </a:lnSpc>
                        <a:spcBef>
                          <a:spcPts val="0"/>
                        </a:spcBef>
                        <a:spcAft>
                          <a:spcPts val="0"/>
                        </a:spcAft>
                      </a:pPr>
                      <a:r>
                        <a:rPr lang="en-US" sz="16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200" b="1" dirty="0" smtClean="0">
                          <a:effectLst/>
                          <a:latin typeface="Calibri"/>
                          <a:ea typeface="Calibri"/>
                          <a:cs typeface="Times New Roman"/>
                        </a:rPr>
                        <a:t>TOTAL</a:t>
                      </a:r>
                      <a:r>
                        <a:rPr lang="en-US" sz="2200" b="1" baseline="0" dirty="0" smtClean="0">
                          <a:effectLst/>
                          <a:latin typeface="Calibri"/>
                          <a:ea typeface="Calibri"/>
                          <a:cs typeface="Times New Roman"/>
                        </a:rPr>
                        <a:t> =</a:t>
                      </a:r>
                      <a:r>
                        <a:rPr lang="en-US" sz="2200" b="1" dirty="0">
                          <a:effectLst/>
                          <a:latin typeface="Calibri"/>
                          <a:ea typeface="Calibri"/>
                          <a:cs typeface="Times New Roman"/>
                        </a:rPr>
                        <a:t> </a:t>
                      </a:r>
                      <a:r>
                        <a:rPr lang="en-US" sz="2200" b="1" dirty="0" smtClean="0">
                          <a:solidFill>
                            <a:srgbClr val="9900FF"/>
                          </a:solidFill>
                          <a:effectLst/>
                          <a:latin typeface="Calibri"/>
                          <a:ea typeface="Calibri"/>
                          <a:cs typeface="Times New Roman"/>
                        </a:rPr>
                        <a:t>175</a:t>
                      </a:r>
                      <a:endParaRPr lang="en-US" sz="2200" b="1" dirty="0">
                        <a:solidFill>
                          <a:srgbClr val="9900FF"/>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15000"/>
                        </a:lnSpc>
                        <a:spcBef>
                          <a:spcPts val="0"/>
                        </a:spcBef>
                        <a:spcAft>
                          <a:spcPts val="0"/>
                        </a:spcAft>
                      </a:pPr>
                      <a:r>
                        <a:rPr lang="en-US" sz="2200" b="1" dirty="0">
                          <a:effectLst/>
                          <a:latin typeface="Calibri"/>
                          <a:ea typeface="Calibri"/>
                          <a:cs typeface="Times New Roman"/>
                        </a:rPr>
                        <a:t> </a:t>
                      </a:r>
                      <a:r>
                        <a:rPr lang="en-US" sz="2200" b="1" dirty="0" smtClean="0">
                          <a:effectLst/>
                          <a:latin typeface="Calibri"/>
                          <a:ea typeface="Calibri"/>
                          <a:cs typeface="Times New Roman"/>
                        </a:rPr>
                        <a:t>TOTAL = </a:t>
                      </a:r>
                      <a:r>
                        <a:rPr lang="en-US" sz="2200" b="1" dirty="0" smtClean="0">
                          <a:solidFill>
                            <a:srgbClr val="FF3399"/>
                          </a:solidFill>
                          <a:effectLst/>
                          <a:latin typeface="Calibri"/>
                          <a:ea typeface="Calibri"/>
                          <a:cs typeface="Times New Roman"/>
                        </a:rPr>
                        <a:t>34040</a:t>
                      </a:r>
                      <a:endParaRPr lang="en-US" sz="2200" b="1" dirty="0">
                        <a:solidFill>
                          <a:srgbClr val="FF3399"/>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0" y="6324600"/>
            <a:ext cx="351817" cy="3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ctr">
              <a:buNone/>
            </a:pPr>
            <a:r>
              <a:rPr lang="en-US" sz="2800" b="1" dirty="0" smtClean="0">
                <a:solidFill>
                  <a:srgbClr val="FF0000"/>
                </a:solidFill>
              </a:rPr>
              <a:t>ARITHMETIC MEAN </a:t>
            </a:r>
            <a:r>
              <a:rPr lang="en-US" sz="2800" b="1" u="sng" dirty="0" smtClean="0">
                <a:solidFill>
                  <a:srgbClr val="7030A0"/>
                </a:solidFill>
              </a:rPr>
              <a:t>IN</a:t>
            </a:r>
            <a:r>
              <a:rPr lang="en-US" sz="2800" b="1" u="sng" dirty="0" smtClean="0">
                <a:solidFill>
                  <a:srgbClr val="0066FF"/>
                </a:solidFill>
              </a:rPr>
              <a:t>DIRECT</a:t>
            </a:r>
            <a:r>
              <a:rPr lang="en-US" sz="2800" b="1" dirty="0" smtClean="0">
                <a:solidFill>
                  <a:srgbClr val="0066FF"/>
                </a:solidFill>
              </a:rPr>
              <a:t> / </a:t>
            </a:r>
            <a:r>
              <a:rPr lang="en-US" sz="2800" b="1" u="sng" dirty="0" smtClean="0">
                <a:solidFill>
                  <a:srgbClr val="9900FF"/>
                </a:solidFill>
                <a:effectLst>
                  <a:outerShdw blurRad="38100" dist="38100" dir="2700000" algn="tl">
                    <a:srgbClr val="000000">
                      <a:alpha val="43137"/>
                    </a:srgbClr>
                  </a:outerShdw>
                </a:effectLst>
              </a:rPr>
              <a:t>SHORT CUT METHOD </a:t>
            </a:r>
          </a:p>
          <a:p>
            <a:pPr algn="ctr">
              <a:buNone/>
            </a:pPr>
            <a:r>
              <a:rPr lang="en-US" sz="2800" b="1" u="sng" dirty="0" smtClean="0">
                <a:solidFill>
                  <a:srgbClr val="0066FF"/>
                </a:solidFill>
                <a:effectLst>
                  <a:outerShdw blurRad="38100" dist="38100" dir="2700000" algn="tl">
                    <a:srgbClr val="000000">
                      <a:alpha val="43137"/>
                    </a:srgbClr>
                  </a:outerShdw>
                </a:effectLst>
              </a:rPr>
              <a:t>DESCRITE SERIES </a:t>
            </a:r>
            <a:r>
              <a:rPr lang="en-US" sz="2800" b="1" dirty="0" smtClean="0">
                <a:solidFill>
                  <a:srgbClr val="009900"/>
                </a:solidFill>
                <a:effectLst>
                  <a:outerShdw blurRad="38100" dist="38100" dir="2700000" algn="tl">
                    <a:srgbClr val="000000">
                      <a:alpha val="43137"/>
                    </a:srgbClr>
                  </a:outerShdw>
                </a:effectLst>
              </a:rPr>
              <a:t>UN-GROUPED DATA</a:t>
            </a:r>
          </a:p>
          <a:p>
            <a:pPr algn="ctr">
              <a:buNone/>
            </a:pPr>
            <a:endParaRPr lang="en-US" sz="2800" b="1" dirty="0" smtClean="0">
              <a:solidFill>
                <a:srgbClr val="009900"/>
              </a:solidFill>
              <a:effectLst>
                <a:outerShdw blurRad="38100" dist="38100" dir="2700000" algn="tl">
                  <a:srgbClr val="000000">
                    <a:alpha val="43137"/>
                  </a:srgbClr>
                </a:outerShdw>
              </a:effectLst>
            </a:endParaRPr>
          </a:p>
          <a:p>
            <a:pPr algn="just">
              <a:buNone/>
            </a:pPr>
            <a:r>
              <a:rPr lang="en-US" sz="2400" dirty="0" smtClean="0"/>
              <a:t>The daily earnings (in rupees) of employees working on a daily basis in a firm are:</a:t>
            </a:r>
          </a:p>
          <a:p>
            <a:pPr algn="just">
              <a:buNone/>
            </a:pPr>
            <a:endParaRPr lang="en-US" sz="2400" dirty="0" smtClean="0"/>
          </a:p>
          <a:p>
            <a:pPr algn="just">
              <a:buNone/>
            </a:pPr>
            <a:endParaRPr lang="en-US" sz="2400" dirty="0" smtClean="0"/>
          </a:p>
          <a:p>
            <a:pPr algn="ctr">
              <a:buNone/>
            </a:pPr>
            <a:endParaRPr lang="en-US" sz="2400" dirty="0" smtClean="0">
              <a:solidFill>
                <a:srgbClr val="FF0000"/>
              </a:solidFill>
            </a:endParaRPr>
          </a:p>
          <a:p>
            <a:pPr algn="just">
              <a:buNone/>
            </a:pPr>
            <a:endParaRPr lang="en-US" sz="2400" dirty="0" smtClean="0"/>
          </a:p>
          <a:p>
            <a:pPr algn="just">
              <a:buNone/>
            </a:pPr>
            <a:r>
              <a:rPr lang="en-US" sz="2400" dirty="0" smtClean="0"/>
              <a:t>Calculate the average daily earning for all employees.</a:t>
            </a:r>
            <a:r>
              <a:rPr lang="en-US" sz="2400" b="1" i="1" dirty="0" smtClean="0">
                <a:effectLst>
                  <a:outerShdw blurRad="38100" dist="38100" dir="2700000" algn="tl">
                    <a:srgbClr val="000000">
                      <a:alpha val="43137"/>
                    </a:srgbClr>
                  </a:outerShdw>
                </a:effectLst>
              </a:rPr>
              <a:t> </a:t>
            </a:r>
          </a:p>
          <a:p>
            <a:pPr algn="just">
              <a:buNone/>
            </a:pPr>
            <a:endParaRPr lang="en-US" sz="2400" b="1" i="1" dirty="0" smtClean="0">
              <a:effectLst>
                <a:outerShdw blurRad="38100" dist="38100" dir="2700000" algn="tl">
                  <a:srgbClr val="000000">
                    <a:alpha val="43137"/>
                  </a:srgbClr>
                </a:outerShdw>
              </a:effectLst>
            </a:endParaRPr>
          </a:p>
          <a:p>
            <a:pPr algn="just">
              <a:buNone/>
            </a:pPr>
            <a:endParaRPr lang="en-US" sz="2400" b="1" i="1" dirty="0" smtClean="0">
              <a:effectLst>
                <a:outerShdw blurRad="38100" dist="38100" dir="2700000" algn="tl">
                  <a:srgbClr val="000000">
                    <a:alpha val="43137"/>
                  </a:srgbClr>
                </a:outerShdw>
              </a:effectLst>
            </a:endParaRPr>
          </a:p>
          <a:p>
            <a:pPr algn="just">
              <a:buNone/>
            </a:pPr>
            <a:endParaRPr lang="en-US" sz="2400" b="1" i="1" dirty="0" smtClean="0">
              <a:effectLst>
                <a:outerShdw blurRad="38100" dist="38100" dir="2700000" algn="tl">
                  <a:srgbClr val="000000">
                    <a:alpha val="43137"/>
                  </a:srgbClr>
                </a:outerShdw>
              </a:effectLst>
            </a:endParaRPr>
          </a:p>
          <a:p>
            <a:pPr algn="just">
              <a:buNone/>
            </a:pPr>
            <a:endParaRPr lang="en-US" sz="2400" b="1" i="1" dirty="0" smtClean="0">
              <a:effectLst>
                <a:outerShdw blurRad="38100" dist="38100" dir="2700000" algn="tl">
                  <a:srgbClr val="000000">
                    <a:alpha val="43137"/>
                  </a:srgbClr>
                </a:outerShdw>
              </a:effectLst>
            </a:endParaRPr>
          </a:p>
          <a:p>
            <a:pPr algn="just">
              <a:buNone/>
            </a:pPr>
            <a:r>
              <a:rPr lang="en-US" sz="2400" b="1" i="1" dirty="0" smtClean="0">
                <a:effectLst>
                  <a:outerShdw blurRad="38100" dist="38100" dir="2700000" algn="tl">
                    <a:srgbClr val="000000">
                      <a:alpha val="43137"/>
                    </a:srgbClr>
                  </a:outerShdw>
                </a:effectLst>
              </a:rPr>
              <a:t>					</a:t>
            </a:r>
            <a:r>
              <a:rPr lang="en-US" sz="2400" b="1" i="1" dirty="0" err="1" smtClean="0">
                <a:effectLst>
                  <a:outerShdw blurRad="38100" dist="38100" dir="2700000" algn="tl">
                    <a:srgbClr val="000000">
                      <a:alpha val="43137"/>
                    </a:srgbClr>
                  </a:outerShdw>
                </a:effectLst>
              </a:rPr>
              <a:t>d</a:t>
            </a:r>
            <a:r>
              <a:rPr lang="en-US" sz="2400" b="1" i="1" baseline="-25000" dirty="0" err="1" smtClean="0">
                <a:effectLst>
                  <a:outerShdw blurRad="38100" dist="38100" dir="2700000" algn="tl">
                    <a:srgbClr val="000000">
                      <a:alpha val="43137"/>
                    </a:srgbClr>
                  </a:outerShdw>
                </a:effectLst>
              </a:rPr>
              <a:t>i</a:t>
            </a:r>
            <a:r>
              <a:rPr lang="en-US" sz="2400" b="1" dirty="0" smtClean="0">
                <a:effectLst>
                  <a:outerShdw blurRad="38100" dist="38100" dir="2700000" algn="tl">
                    <a:srgbClr val="000000">
                      <a:alpha val="43137"/>
                    </a:srgbClr>
                  </a:outerShdw>
                </a:effectLst>
              </a:rPr>
              <a:t> = </a:t>
            </a:r>
            <a:r>
              <a:rPr lang="en-US" sz="2400" b="1" i="1" dirty="0" smtClean="0">
                <a:effectLst>
                  <a:outerShdw blurRad="38100" dist="38100" dir="2700000" algn="tl">
                    <a:srgbClr val="000000">
                      <a:alpha val="43137"/>
                    </a:srgbClr>
                  </a:outerShdw>
                </a:effectLst>
              </a:rPr>
              <a:t>x</a:t>
            </a:r>
            <a:r>
              <a:rPr lang="en-US" sz="2400" b="1" i="1" baseline="-25000" dirty="0" smtClean="0">
                <a:effectLst>
                  <a:outerShdw blurRad="38100" dist="38100" dir="2700000" algn="tl">
                    <a:srgbClr val="000000">
                      <a:alpha val="43137"/>
                    </a:srgbClr>
                  </a:outerShdw>
                </a:effectLst>
              </a:rPr>
              <a:t>i</a:t>
            </a:r>
            <a:r>
              <a:rPr lang="en-US" sz="2400" b="1" dirty="0" smtClean="0">
                <a:effectLst>
                  <a:outerShdw blurRad="38100" dist="38100" dir="2700000" algn="tl">
                    <a:srgbClr val="000000">
                      <a:alpha val="43137"/>
                    </a:srgbClr>
                  </a:outerShdw>
                </a:effectLst>
              </a:rPr>
              <a:t> – A</a:t>
            </a:r>
            <a:endParaRPr lang="en-US" sz="2400" dirty="0" smtClean="0"/>
          </a:p>
          <a:p>
            <a:pPr algn="ctr">
              <a:buNone/>
            </a:pPr>
            <a:endParaRPr lang="en-US" sz="2400" dirty="0" smtClean="0">
              <a:solidFill>
                <a:srgbClr val="FF0000"/>
              </a:solidFill>
            </a:endParaRPr>
          </a:p>
          <a:p>
            <a:endParaRPr lang="en-US" dirty="0"/>
          </a:p>
        </p:txBody>
      </p:sp>
      <p:pic>
        <p:nvPicPr>
          <p:cNvPr id="4" name="img-85_5"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667001"/>
            <a:ext cx="7391400" cy="761999"/>
          </a:xfrm>
          <a:prstGeom prst="rect">
            <a:avLst/>
          </a:prstGeom>
          <a:noFill/>
          <a:ln>
            <a:noFill/>
          </a:ln>
        </p:spPr>
      </p:pic>
      <p:pic>
        <p:nvPicPr>
          <p:cNvPr id="34820" name="Picture 4"/>
          <p:cNvPicPr>
            <a:picLocks noChangeAspect="1" noChangeArrowheads="1"/>
          </p:cNvPicPr>
          <p:nvPr/>
        </p:nvPicPr>
        <p:blipFill>
          <a:blip r:embed="rId3"/>
          <a:srcRect/>
          <a:stretch>
            <a:fillRect/>
          </a:stretch>
        </p:blipFill>
        <p:spPr bwMode="auto">
          <a:xfrm>
            <a:off x="2209800" y="4800600"/>
            <a:ext cx="3810000" cy="1343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buNone/>
            </a:pPr>
            <a:r>
              <a:rPr lang="en-US" sz="2800" b="1" dirty="0" smtClean="0"/>
              <a:t>Solution</a:t>
            </a:r>
            <a:r>
              <a:rPr lang="en-US" b="1" dirty="0" smtClean="0"/>
              <a:t>:</a:t>
            </a:r>
            <a:r>
              <a:rPr lang="en-US" dirty="0" smtClean="0"/>
              <a:t> </a:t>
            </a:r>
            <a:r>
              <a:rPr lang="en-US" sz="2400" dirty="0" smtClean="0"/>
              <a:t>The calculations of average daily earning for employees are: Calculations of </a:t>
            </a:r>
            <a:r>
              <a:rPr lang="en-US" b="1" dirty="0" smtClean="0">
                <a:solidFill>
                  <a:srgbClr val="9900FF"/>
                </a:solidFill>
                <a:effectLst>
                  <a:outerShdw blurRad="38100" dist="38100" dir="2700000" algn="tl">
                    <a:srgbClr val="000000">
                      <a:alpha val="43137"/>
                    </a:srgbClr>
                  </a:outerShdw>
                </a:effectLst>
              </a:rPr>
              <a:t>x</a:t>
            </a:r>
            <a:r>
              <a:rPr lang="en-US" sz="2400" dirty="0" smtClean="0"/>
              <a:t> for Ungrouped Data </a:t>
            </a:r>
          </a:p>
          <a:p>
            <a:pPr>
              <a:buNone/>
            </a:pPr>
            <a:endParaRPr lang="en-US" dirty="0" smtClean="0"/>
          </a:p>
          <a:p>
            <a:pPr>
              <a:buNone/>
            </a:pPr>
            <a:endParaRPr lang="en-US" dirty="0" smtClean="0"/>
          </a:p>
          <a:p>
            <a:pPr>
              <a:buNone/>
            </a:pPr>
            <a:endParaRPr lang="en-US"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r>
              <a:rPr lang="en-US" sz="2000" dirty="0" smtClean="0"/>
              <a:t>Here A = 160 is taken as assumed mean. The required A.M. using the  is given by</a:t>
            </a:r>
          </a:p>
          <a:p>
            <a:pPr>
              <a:buNone/>
            </a:pPr>
            <a:endParaRPr lang="en-US" dirty="0" smtClean="0"/>
          </a:p>
          <a:p>
            <a:pPr>
              <a:buNone/>
            </a:pPr>
            <a:endParaRPr lang="en-US" dirty="0" smtClean="0"/>
          </a:p>
          <a:p>
            <a:pPr>
              <a:buNone/>
            </a:pPr>
            <a:endParaRPr lang="en-US" dirty="0"/>
          </a:p>
        </p:txBody>
      </p:sp>
      <p:pic>
        <p:nvPicPr>
          <p:cNvPr id="4" name="img-c03t003" descr="Table 3.3 Calculations of x for Ungrouped Data"/>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990600"/>
            <a:ext cx="8153400" cy="4089400"/>
          </a:xfrm>
          <a:prstGeom prst="rect">
            <a:avLst/>
          </a:prstGeom>
          <a:noFill/>
          <a:ln>
            <a:noFill/>
          </a:ln>
        </p:spPr>
      </p:pic>
      <p:pic>
        <p:nvPicPr>
          <p:cNvPr id="6" name="img-86_1"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5791200"/>
            <a:ext cx="5867400" cy="80454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algn="ctr">
              <a:buNone/>
            </a:pPr>
            <a:r>
              <a:rPr lang="en-US" sz="3500" b="1" dirty="0" smtClean="0">
                <a:solidFill>
                  <a:srgbClr val="7030A0"/>
                </a:solidFill>
              </a:rPr>
              <a:t>ARITHMETIC MEAN OF GROUPED (OR CLASSIFIED) DATA</a:t>
            </a:r>
          </a:p>
          <a:p>
            <a:pPr algn="just">
              <a:buNone/>
            </a:pPr>
            <a:endParaRPr lang="en-US" sz="2800" b="1" dirty="0" smtClean="0">
              <a:solidFill>
                <a:srgbClr val="7030A0"/>
              </a:solidFill>
            </a:endParaRPr>
          </a:p>
          <a:p>
            <a:pPr algn="just"/>
            <a:r>
              <a:rPr lang="en-US" sz="2800" dirty="0" smtClean="0">
                <a:latin typeface="Times New Roman" pitchFamily="18" charset="0"/>
                <a:cs typeface="Times New Roman" pitchFamily="18" charset="0"/>
              </a:rPr>
              <a:t>Arithmetic mean for grouped data can also be calculated by applying any of the following methods:  </a:t>
            </a:r>
            <a:r>
              <a:rPr lang="en-US" sz="2800" dirty="0" smtClean="0">
                <a:solidFill>
                  <a:srgbClr val="FF0000"/>
                </a:solidFill>
                <a:latin typeface="Times New Roman" pitchFamily="18" charset="0"/>
                <a:cs typeface="Times New Roman" pitchFamily="18" charset="0"/>
              </a:rPr>
              <a:t>Direct method</a:t>
            </a:r>
            <a:r>
              <a:rPr lang="en-US" sz="2800" dirty="0" smtClean="0">
                <a:latin typeface="Times New Roman" pitchFamily="18" charset="0"/>
                <a:cs typeface="Times New Roman" pitchFamily="18" charset="0"/>
              </a:rPr>
              <a:t>, and</a:t>
            </a:r>
          </a:p>
          <a:p>
            <a:pPr lvl="0" algn="just">
              <a:buNone/>
            </a:pPr>
            <a:r>
              <a:rPr lang="en-US" sz="2800" dirty="0" smtClean="0">
                <a:latin typeface="Times New Roman" pitchFamily="18" charset="0"/>
                <a:cs typeface="Times New Roman" pitchFamily="18" charset="0"/>
              </a:rPr>
              <a:t>     </a:t>
            </a:r>
            <a:r>
              <a:rPr lang="en-US" sz="2800" dirty="0" smtClean="0">
                <a:solidFill>
                  <a:srgbClr val="FF0000"/>
                </a:solidFill>
                <a:latin typeface="Times New Roman" pitchFamily="18" charset="0"/>
                <a:cs typeface="Times New Roman" pitchFamily="18" charset="0"/>
              </a:rPr>
              <a:t>Indirect or Step-deviation method</a:t>
            </a:r>
          </a:p>
          <a:p>
            <a:pPr algn="just">
              <a:buNone/>
            </a:pPr>
            <a:endParaRPr lang="en-US" sz="2800" dirty="0" smtClean="0">
              <a:latin typeface="Times New Roman" pitchFamily="18" charset="0"/>
              <a:cs typeface="Times New Roman" pitchFamily="18" charset="0"/>
            </a:endParaRPr>
          </a:p>
          <a:p>
            <a:pPr algn="just"/>
            <a:r>
              <a:rPr lang="en-US" sz="2800" dirty="0" smtClean="0">
                <a:solidFill>
                  <a:srgbClr val="0033CC"/>
                </a:solidFill>
                <a:latin typeface="Times New Roman" pitchFamily="18" charset="0"/>
                <a:cs typeface="Times New Roman" pitchFamily="18" charset="0"/>
              </a:rPr>
              <a:t>For calculating arithmetic mean for a grouped data set, the following assumptions are made</a:t>
            </a:r>
            <a:r>
              <a:rPr lang="en-US" sz="2800" dirty="0" smtClean="0">
                <a:latin typeface="Times New Roman" pitchFamily="18" charset="0"/>
                <a:cs typeface="Times New Roman" pitchFamily="18" charset="0"/>
              </a:rPr>
              <a:t>:</a:t>
            </a:r>
          </a:p>
          <a:p>
            <a:pPr algn="just">
              <a:buNone/>
            </a:pPr>
            <a:endParaRPr lang="en-US" sz="2800" dirty="0" smtClean="0">
              <a:latin typeface="Times New Roman" pitchFamily="18" charset="0"/>
              <a:cs typeface="Times New Roman" pitchFamily="18" charset="0"/>
            </a:endParaRPr>
          </a:p>
          <a:p>
            <a:pPr lvl="0" algn="just">
              <a:buFont typeface="Wingdings" pitchFamily="2" charset="2"/>
              <a:buChar char="Ø"/>
            </a:pPr>
            <a:r>
              <a:rPr lang="en-US" sz="2800" dirty="0" smtClean="0">
                <a:latin typeface="Times New Roman" pitchFamily="18" charset="0"/>
                <a:cs typeface="Times New Roman" pitchFamily="18" charset="0"/>
              </a:rPr>
              <a:t>The class intervals must be closed</a:t>
            </a:r>
          </a:p>
          <a:p>
            <a:pPr lvl="0" algn="just">
              <a:buFont typeface="Wingdings" pitchFamily="2" charset="2"/>
              <a:buChar char="Ø"/>
            </a:pPr>
            <a:r>
              <a:rPr lang="en-US" sz="2800" dirty="0" smtClean="0">
                <a:latin typeface="Times New Roman" pitchFamily="18" charset="0"/>
                <a:cs typeface="Times New Roman" pitchFamily="18" charset="0"/>
              </a:rPr>
              <a:t>The width of each class interval should be equal</a:t>
            </a:r>
          </a:p>
          <a:p>
            <a:pPr lvl="0" algn="just">
              <a:buFont typeface="Wingdings" pitchFamily="2" charset="2"/>
              <a:buChar char="Ø"/>
            </a:pPr>
            <a:r>
              <a:rPr lang="en-US" sz="2800" dirty="0" smtClean="0">
                <a:latin typeface="Times New Roman" pitchFamily="18" charset="0"/>
                <a:cs typeface="Times New Roman" pitchFamily="18" charset="0"/>
              </a:rPr>
              <a:t>The values of the observations in each class interval must be uniformly distributed between its lower and upper limits.</a:t>
            </a:r>
          </a:p>
          <a:p>
            <a:pPr lvl="0" algn="just">
              <a:buFont typeface="Wingdings" pitchFamily="2" charset="2"/>
              <a:buChar char="Ø"/>
            </a:pPr>
            <a:r>
              <a:rPr lang="en-US" sz="2800" dirty="0" smtClean="0">
                <a:latin typeface="Times New Roman" pitchFamily="18" charset="0"/>
                <a:cs typeface="Times New Roman" pitchFamily="18" charset="0"/>
              </a:rPr>
              <a:t>The mid-value of each class interval must represent the average of all values in that class, that is, it is assumed that all values of observations are evenly distributed between the lower and upper class limits.</a:t>
            </a:r>
          </a:p>
          <a:p>
            <a:pPr algn="just">
              <a:buNone/>
            </a:pPr>
            <a:endParaRPr lang="en-US" sz="2800" dirty="0">
              <a:solidFill>
                <a:srgbClr val="7030A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buNone/>
            </a:pPr>
            <a:r>
              <a:rPr lang="en-US" b="1" dirty="0" smtClean="0">
                <a:solidFill>
                  <a:srgbClr val="FF0000"/>
                </a:solidFill>
              </a:rPr>
              <a:t>Direct Method </a:t>
            </a:r>
            <a:r>
              <a:rPr lang="en-US" b="1" dirty="0" smtClean="0">
                <a:solidFill>
                  <a:srgbClr val="0066FF"/>
                </a:solidFill>
              </a:rPr>
              <a:t>GROUPED DATA</a:t>
            </a:r>
          </a:p>
          <a:p>
            <a:pPr algn="just">
              <a:buNone/>
            </a:pPr>
            <a:r>
              <a:rPr lang="en-US" sz="3600" b="1" dirty="0" smtClean="0"/>
              <a:t>Mean value:</a:t>
            </a:r>
            <a:r>
              <a:rPr lang="en-US" sz="2400" dirty="0" smtClean="0"/>
              <a:t> A measure of central location (tendency) for a data set such that the observations in the data set tend to cluster around it.</a:t>
            </a:r>
          </a:p>
          <a:p>
            <a:pPr algn="just">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lgn="just">
              <a:buNone/>
            </a:pPr>
            <a:endParaRPr lang="en-US" sz="2400" b="1" dirty="0" smtClean="0"/>
          </a:p>
          <a:p>
            <a:endParaRPr lang="en-US" dirty="0"/>
          </a:p>
        </p:txBody>
      </p:sp>
      <p:pic>
        <p:nvPicPr>
          <p:cNvPr id="4" name="img-87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4267200"/>
            <a:ext cx="5867400" cy="1369539"/>
          </a:xfrm>
          <a:prstGeom prst="rect">
            <a:avLst/>
          </a:prstGeom>
          <a:noFill/>
          <a:ln>
            <a:noFill/>
          </a:ln>
        </p:spPr>
      </p:pic>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2362200"/>
            <a:ext cx="3352800" cy="1066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144000" cy="6553200"/>
          </a:xfrm>
        </p:spPr>
        <p:txBody>
          <a:bodyPr/>
          <a:lstStyle/>
          <a:p>
            <a:pPr marL="0" indent="0" algn="just">
              <a:buNone/>
            </a:pPr>
            <a:r>
              <a:rPr lang="en-US" b="1" dirty="0" smtClean="0">
                <a:solidFill>
                  <a:srgbClr val="FF0000"/>
                </a:solidFill>
                <a:effectLst>
                  <a:outerShdw blurRad="38100" dist="38100" dir="2700000" algn="tl">
                    <a:srgbClr val="000000">
                      <a:alpha val="43137"/>
                    </a:srgbClr>
                  </a:outerShdw>
                </a:effectLst>
              </a:rPr>
              <a:t>EX</a:t>
            </a:r>
            <a:r>
              <a:rPr lang="en-US" dirty="0" smtClean="0"/>
              <a:t>: </a:t>
            </a:r>
            <a:r>
              <a:rPr lang="en-US" sz="2800" dirty="0" smtClean="0"/>
              <a:t>A </a:t>
            </a:r>
            <a:r>
              <a:rPr lang="en-US" sz="2800" dirty="0"/>
              <a:t>company is planning to improve plant safety. For this, accident data for the last 50 weeks was compiled. These data are grouped into the frequency distribution as shown below. Calculate the A.M. of the number of accidents per week</a:t>
            </a:r>
            <a:r>
              <a:rPr lang="en-US" sz="2800" dirty="0" smtClean="0"/>
              <a:t>. </a:t>
            </a:r>
            <a:endParaRPr lang="en-US" dirty="0" smtClean="0"/>
          </a:p>
          <a:p>
            <a:endParaRPr lang="en-US" dirty="0"/>
          </a:p>
        </p:txBody>
      </p:sp>
      <p:pic>
        <p:nvPicPr>
          <p:cNvPr id="4" name="img-87_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4038600"/>
            <a:ext cx="8153400" cy="838199"/>
          </a:xfrm>
          <a:prstGeom prst="rect">
            <a:avLst/>
          </a:prstGeom>
          <a:noFill/>
          <a:ln>
            <a:noFill/>
          </a:ln>
        </p:spPr>
      </p:pic>
    </p:spTree>
    <p:extLst>
      <p:ext uri="{BB962C8B-B14F-4D97-AF65-F5344CB8AC3E}">
        <p14:creationId xmlns:p14="http://schemas.microsoft.com/office/powerpoint/2010/main" val="36953072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r>
              <a:rPr lang="en-US" sz="2800" b="1" dirty="0">
                <a:solidFill>
                  <a:srgbClr val="FF0000"/>
                </a:solidFill>
                <a:ea typeface="Times New Roman"/>
                <a:cs typeface="Times New Roman"/>
              </a:rPr>
              <a:t>Arithmetic Mean of Accidents</a:t>
            </a:r>
            <a:endParaRPr lang="en-US" sz="2800" b="1" dirty="0">
              <a:solidFill>
                <a:srgbClr val="FF0000"/>
              </a:solidFill>
            </a:endParaRPr>
          </a:p>
        </p:txBody>
      </p:sp>
      <p:pic>
        <p:nvPicPr>
          <p:cNvPr id="4" name="img-c03t005" descr="Table 3.5 Arithmetic Mean of Accident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685800"/>
            <a:ext cx="8305800" cy="3352800"/>
          </a:xfrm>
          <a:prstGeom prst="rect">
            <a:avLst/>
          </a:prstGeom>
          <a:noFill/>
          <a:ln>
            <a:noFill/>
          </a:ln>
        </p:spPr>
      </p:pic>
      <p:sp>
        <p:nvSpPr>
          <p:cNvPr id="5" name="Rectangle 4"/>
          <p:cNvSpPr/>
          <p:nvPr/>
        </p:nvSpPr>
        <p:spPr>
          <a:xfrm>
            <a:off x="457200" y="4343400"/>
            <a:ext cx="7696200" cy="461665"/>
          </a:xfrm>
          <a:prstGeom prst="rect">
            <a:avLst/>
          </a:prstGeom>
        </p:spPr>
        <p:txBody>
          <a:bodyPr wrap="square">
            <a:spAutoFit/>
          </a:bodyPr>
          <a:lstStyle/>
          <a:p>
            <a:r>
              <a:rPr lang="en-US" sz="2400" dirty="0"/>
              <a:t>The A.M. of the number of accidents per week is:</a:t>
            </a:r>
          </a:p>
        </p:txBody>
      </p:sp>
      <p:pic>
        <p:nvPicPr>
          <p:cNvPr id="6" name="img-87_3"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5486400"/>
            <a:ext cx="7010400" cy="838200"/>
          </a:xfrm>
          <a:prstGeom prst="rect">
            <a:avLst/>
          </a:prstGeom>
          <a:noFill/>
          <a:ln>
            <a:noFill/>
          </a:ln>
        </p:spPr>
      </p:pic>
    </p:spTree>
    <p:extLst>
      <p:ext uri="{BB962C8B-B14F-4D97-AF65-F5344CB8AC3E}">
        <p14:creationId xmlns:p14="http://schemas.microsoft.com/office/powerpoint/2010/main" val="11019514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buNone/>
            </a:pPr>
            <a:r>
              <a:rPr lang="en-US" b="1" u="sng" dirty="0" smtClean="0">
                <a:solidFill>
                  <a:srgbClr val="FF0000"/>
                </a:solidFill>
                <a:effectLst>
                  <a:outerShdw blurRad="38100" dist="38100" dir="2700000" algn="tl">
                    <a:srgbClr val="000000">
                      <a:alpha val="43137"/>
                    </a:srgbClr>
                  </a:outerShdw>
                </a:effectLst>
                <a:uFill>
                  <a:solidFill>
                    <a:srgbClr val="0066FF"/>
                  </a:solidFill>
                </a:uFill>
              </a:rPr>
              <a:t>STEP-DEVIATION METHOD (SHORT-CUT) FORMULA</a:t>
            </a:r>
          </a:p>
          <a:p>
            <a:pPr>
              <a:buNone/>
            </a:pPr>
            <a:endParaRPr lang="en-US" dirty="0" smtClean="0">
              <a:solidFill>
                <a:srgbClr val="FF0000"/>
              </a:solidFill>
            </a:endParaRPr>
          </a:p>
          <a:p>
            <a:endParaRPr 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2438400"/>
            <a:ext cx="66294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6400" y="838200"/>
            <a:ext cx="3276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3" name="Picture 1"/>
          <p:cNvPicPr>
            <a:picLocks noChangeAspect="1" noChangeArrowheads="1"/>
          </p:cNvPicPr>
          <p:nvPr/>
        </p:nvPicPr>
        <p:blipFill>
          <a:blip r:embed="rId4" cstate="print"/>
          <a:srcRect/>
          <a:stretch>
            <a:fillRect/>
          </a:stretch>
        </p:blipFill>
        <p:spPr bwMode="auto">
          <a:xfrm>
            <a:off x="1295400" y="2057400"/>
            <a:ext cx="6858000" cy="3352800"/>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126163"/>
          </a:xfrm>
        </p:spPr>
        <p:txBody>
          <a:bodyPr/>
          <a:lstStyle/>
          <a:p>
            <a:pPr marL="0" indent="0" algn="just">
              <a:buNone/>
            </a:pPr>
            <a:r>
              <a:rPr lang="en-US" sz="2400" b="1" u="sng" dirty="0" smtClean="0">
                <a:solidFill>
                  <a:srgbClr val="FF0000"/>
                </a:solidFill>
              </a:rPr>
              <a:t>EX. </a:t>
            </a:r>
            <a:r>
              <a:rPr lang="en-US" sz="2800" dirty="0" smtClean="0"/>
              <a:t>The </a:t>
            </a:r>
            <a:r>
              <a:rPr lang="en-US" sz="2800" dirty="0"/>
              <a:t>following distribution gives the pattern of overtime work done by 100 employees of a company. Calculate the average overtime work done per employee</a:t>
            </a:r>
            <a:r>
              <a:rPr lang="en-US" sz="2800" dirty="0" smtClean="0"/>
              <a:t>.</a:t>
            </a:r>
            <a:endParaRPr lang="en-US" sz="2400" dirty="0" smtClean="0"/>
          </a:p>
          <a:p>
            <a:endParaRPr lang="en-US" dirty="0"/>
          </a:p>
        </p:txBody>
      </p:sp>
      <p:pic>
        <p:nvPicPr>
          <p:cNvPr id="4" name="img-88_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981200"/>
            <a:ext cx="7696200" cy="1447800"/>
          </a:xfrm>
          <a:prstGeom prst="rect">
            <a:avLst/>
          </a:prstGeom>
          <a:noFill/>
          <a:ln>
            <a:noFill/>
          </a:ln>
        </p:spPr>
      </p:pic>
    </p:spTree>
    <p:extLst>
      <p:ext uri="{BB962C8B-B14F-4D97-AF65-F5344CB8AC3E}">
        <p14:creationId xmlns:p14="http://schemas.microsoft.com/office/powerpoint/2010/main" val="21467259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6727"/>
            <a:ext cx="9144000" cy="6858000"/>
          </a:xfrm>
        </p:spPr>
        <p:txBody>
          <a:bodyPr/>
          <a:lstStyle/>
          <a:p>
            <a:r>
              <a:rPr lang="en-US" sz="2800" dirty="0">
                <a:solidFill>
                  <a:srgbClr val="FF0000"/>
                </a:solidFill>
              </a:rPr>
              <a:t>Solution: </a:t>
            </a:r>
            <a:endParaRPr lang="en-US" sz="2800" dirty="0" smtClean="0">
              <a:solidFill>
                <a:srgbClr val="FF0000"/>
              </a:solidFill>
            </a:endParaRPr>
          </a:p>
          <a:p>
            <a:endParaRPr lang="en-US" dirty="0"/>
          </a:p>
          <a:p>
            <a:endParaRPr lang="en-US" dirty="0" smtClean="0"/>
          </a:p>
          <a:p>
            <a:endParaRPr lang="en-US" dirty="0"/>
          </a:p>
          <a:p>
            <a:pPr algn="just"/>
            <a:endParaRPr lang="en-US" sz="2800" dirty="0" smtClean="0"/>
          </a:p>
          <a:p>
            <a:pPr algn="just"/>
            <a:endParaRPr lang="en-US" sz="2800" dirty="0" smtClean="0"/>
          </a:p>
          <a:p>
            <a:pPr algn="just"/>
            <a:endParaRPr lang="en-US" sz="2800" dirty="0" smtClean="0"/>
          </a:p>
          <a:p>
            <a:pPr algn="just"/>
            <a:endParaRPr lang="en-US" sz="2800" dirty="0" smtClean="0"/>
          </a:p>
          <a:p>
            <a:pPr algn="just"/>
            <a:r>
              <a:rPr lang="en-US" sz="2800" dirty="0" smtClean="0"/>
              <a:t>The </a:t>
            </a:r>
            <a:r>
              <a:rPr lang="en-US" sz="2800" dirty="0"/>
              <a:t>calculations of the average overtime work done per employee with </a:t>
            </a:r>
            <a:r>
              <a:rPr lang="en-US" sz="2800" b="1" u="sng" dirty="0">
                <a:solidFill>
                  <a:srgbClr val="FF0000"/>
                </a:solidFill>
                <a:effectLst>
                  <a:outerShdw blurRad="38100" dist="38100" dir="2700000" algn="tl">
                    <a:srgbClr val="000000">
                      <a:alpha val="43137"/>
                    </a:srgbClr>
                  </a:outerShdw>
                </a:effectLst>
              </a:rPr>
              <a:t>assumed mean</a:t>
            </a:r>
            <a:r>
              <a:rPr lang="en-US" sz="2800" dirty="0"/>
              <a:t>, </a:t>
            </a:r>
            <a:r>
              <a:rPr lang="en-US" sz="2800" b="1" dirty="0">
                <a:solidFill>
                  <a:srgbClr val="FF0000"/>
                </a:solidFill>
                <a:effectLst>
                  <a:outerShdw blurRad="38100" dist="38100" dir="2700000" algn="tl">
                    <a:srgbClr val="000000">
                      <a:alpha val="43137"/>
                    </a:srgbClr>
                  </a:outerShdw>
                </a:effectLst>
              </a:rPr>
              <a:t>A = 22.5 </a:t>
            </a:r>
            <a:r>
              <a:rPr lang="en-US" sz="2800" dirty="0"/>
              <a:t>and </a:t>
            </a:r>
            <a:r>
              <a:rPr lang="en-US" sz="2800" b="1" dirty="0">
                <a:solidFill>
                  <a:srgbClr val="FF0000"/>
                </a:solidFill>
                <a:effectLst>
                  <a:outerShdw blurRad="38100" dist="38100" dir="2700000" algn="tl">
                    <a:srgbClr val="000000">
                      <a:alpha val="43137"/>
                    </a:srgbClr>
                  </a:outerShdw>
                </a:effectLst>
              </a:rPr>
              <a:t>h = 5 </a:t>
            </a:r>
            <a:endParaRPr lang="en-US" sz="2800" b="1" dirty="0" smtClean="0">
              <a:solidFill>
                <a:srgbClr val="FF0000"/>
              </a:solidFill>
              <a:effectLst>
                <a:outerShdw blurRad="38100" dist="38100" dir="2700000" algn="tl">
                  <a:srgbClr val="000000">
                    <a:alpha val="43137"/>
                  </a:srgbClr>
                </a:outerShdw>
              </a:effectLst>
            </a:endParaRPr>
          </a:p>
          <a:p>
            <a:pPr algn="just"/>
            <a:endParaRPr lang="en-US" sz="2800" b="1" dirty="0">
              <a:solidFill>
                <a:srgbClr val="FF0000"/>
              </a:solidFill>
              <a:effectLst>
                <a:outerShdw blurRad="38100" dist="38100" dir="2700000" algn="tl">
                  <a:srgbClr val="000000">
                    <a:alpha val="43137"/>
                  </a:srgbClr>
                </a:outerShdw>
              </a:effectLst>
            </a:endParaRPr>
          </a:p>
        </p:txBody>
      </p:sp>
      <p:pic>
        <p:nvPicPr>
          <p:cNvPr id="5" name="img-88_3"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43600"/>
            <a:ext cx="9144000" cy="762000"/>
          </a:xfrm>
          <a:prstGeom prst="rect">
            <a:avLst/>
          </a:prstGeom>
          <a:noFill/>
          <a:ln>
            <a:noFill/>
          </a:ln>
        </p:spPr>
      </p:pic>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609600"/>
            <a:ext cx="81534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05400" y="0"/>
            <a:ext cx="3733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11170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a:r>
              <a:rPr lang="en-US" sz="2800" b="1" dirty="0" smtClean="0">
                <a:solidFill>
                  <a:srgbClr val="FF0000"/>
                </a:solidFill>
                <a:effectLst>
                  <a:outerShdw blurRad="38100" dist="38100" dir="2700000" algn="tl">
                    <a:srgbClr val="000000">
                      <a:alpha val="43137"/>
                    </a:srgbClr>
                  </a:outerShdw>
                </a:effectLst>
              </a:rPr>
              <a:t>Case 1: Frequencies </a:t>
            </a:r>
            <a:r>
              <a:rPr lang="en-US" sz="2800" b="1" dirty="0">
                <a:solidFill>
                  <a:srgbClr val="FF0000"/>
                </a:solidFill>
                <a:effectLst>
                  <a:outerShdw blurRad="38100" dist="38100" dir="2700000" algn="tl">
                    <a:srgbClr val="000000">
                      <a:alpha val="43137"/>
                    </a:srgbClr>
                  </a:outerShdw>
                </a:effectLst>
              </a:rPr>
              <a:t>are Given in Cumulative Form, that is, either ‘More Than Type’ or ‘Less Than Type</a:t>
            </a:r>
            <a:r>
              <a:rPr lang="en-US" sz="2800" b="1" dirty="0" smtClean="0">
                <a:solidFill>
                  <a:srgbClr val="FF0000"/>
                </a:solidFill>
                <a:effectLst>
                  <a:outerShdw blurRad="38100" dist="38100" dir="2700000" algn="tl">
                    <a:srgbClr val="000000">
                      <a:alpha val="43137"/>
                    </a:srgbClr>
                  </a:outerShdw>
                </a:effectLst>
              </a:rPr>
              <a:t>’</a:t>
            </a:r>
          </a:p>
          <a:p>
            <a:pPr algn="just"/>
            <a:r>
              <a:rPr lang="en-US" sz="2800" b="1" u="sng" dirty="0" smtClean="0">
                <a:solidFill>
                  <a:srgbClr val="0033CC"/>
                </a:solidFill>
              </a:rPr>
              <a:t>EX:</a:t>
            </a:r>
            <a:r>
              <a:rPr lang="en-US" sz="2800" b="1" dirty="0" smtClean="0">
                <a:solidFill>
                  <a:srgbClr val="0033CC"/>
                </a:solidFill>
              </a:rPr>
              <a:t> </a:t>
            </a:r>
            <a:r>
              <a:rPr lang="en-US" sz="2800" dirty="0" smtClean="0"/>
              <a:t>In </a:t>
            </a:r>
            <a:r>
              <a:rPr lang="en-US" sz="2800" dirty="0"/>
              <a:t>an examination of 675 candidates, the examiner supplied the following information</a:t>
            </a:r>
            <a:r>
              <a:rPr lang="en-US" sz="2800" dirty="0" smtClean="0"/>
              <a:t>:</a:t>
            </a:r>
          </a:p>
          <a:p>
            <a:pPr algn="just"/>
            <a:endParaRPr lang="en-US" sz="2800" dirty="0"/>
          </a:p>
          <a:p>
            <a:pPr algn="just"/>
            <a:endParaRPr lang="en-US" sz="2800" dirty="0" smtClean="0"/>
          </a:p>
          <a:p>
            <a:pPr algn="just"/>
            <a:endParaRPr lang="en-US" sz="2800" dirty="0"/>
          </a:p>
          <a:p>
            <a:pPr algn="just"/>
            <a:endParaRPr lang="en-US" sz="2800" dirty="0" smtClean="0"/>
          </a:p>
          <a:p>
            <a:pPr algn="just"/>
            <a:endParaRPr lang="en-US" sz="2800" dirty="0"/>
          </a:p>
          <a:p>
            <a:pPr algn="just"/>
            <a:endParaRPr lang="en-US" sz="2800" dirty="0" smtClean="0"/>
          </a:p>
          <a:p>
            <a:pPr algn="just"/>
            <a:endParaRPr lang="en-US" sz="2800" dirty="0"/>
          </a:p>
          <a:p>
            <a:pPr algn="just"/>
            <a:endParaRPr lang="en-US" sz="2800" dirty="0" smtClean="0"/>
          </a:p>
          <a:p>
            <a:pPr algn="just"/>
            <a:r>
              <a:rPr lang="en-US" sz="2800" dirty="0" smtClean="0"/>
              <a:t>Calculate </a:t>
            </a:r>
            <a:r>
              <a:rPr lang="en-US" sz="2800" dirty="0"/>
              <a:t>the mean percentage of marks obtained.</a:t>
            </a:r>
          </a:p>
          <a:p>
            <a:pPr algn="just"/>
            <a:endParaRPr lang="en-US" sz="2800" dirty="0"/>
          </a:p>
          <a:p>
            <a:pPr algn="just"/>
            <a:endParaRPr lang="en-US" sz="2800" b="1" dirty="0">
              <a:solidFill>
                <a:srgbClr val="FF0000"/>
              </a:solidFill>
              <a:effectLst>
                <a:outerShdw blurRad="38100" dist="38100" dir="2700000" algn="tl">
                  <a:srgbClr val="000000">
                    <a:alpha val="43137"/>
                  </a:srgbClr>
                </a:outerShdw>
              </a:effectLst>
            </a:endParaRPr>
          </a:p>
        </p:txBody>
      </p:sp>
      <p:pic>
        <p:nvPicPr>
          <p:cNvPr id="4" name="img-90_4"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2438400"/>
            <a:ext cx="8382000" cy="2819399"/>
          </a:xfrm>
          <a:prstGeom prst="rect">
            <a:avLst/>
          </a:prstGeom>
          <a:noFill/>
          <a:ln>
            <a:noFill/>
          </a:ln>
        </p:spPr>
      </p:pic>
    </p:spTree>
    <p:extLst>
      <p:ext uri="{BB962C8B-B14F-4D97-AF65-F5344CB8AC3E}">
        <p14:creationId xmlns:p14="http://schemas.microsoft.com/office/powerpoint/2010/main" val="20272653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a:r>
              <a:rPr lang="en-US" dirty="0">
                <a:solidFill>
                  <a:srgbClr val="0033CC"/>
                </a:solidFill>
              </a:rPr>
              <a:t>Solution: Arranging the given data into EXCLUSIVE class </a:t>
            </a:r>
            <a:r>
              <a:rPr lang="en-US" dirty="0" smtClean="0">
                <a:solidFill>
                  <a:srgbClr val="0033CC"/>
                </a:solidFill>
              </a:rPr>
              <a:t>interval</a:t>
            </a:r>
          </a:p>
          <a:p>
            <a:endParaRPr lang="en-US" dirty="0"/>
          </a:p>
        </p:txBody>
      </p:sp>
      <p:pic>
        <p:nvPicPr>
          <p:cNvPr id="4" name="img-c03t011" descr="Table 3.11 Calculations of Mean Percentage of Mar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676400"/>
            <a:ext cx="8153400" cy="3945255"/>
          </a:xfrm>
          <a:prstGeom prst="rect">
            <a:avLst/>
          </a:prstGeom>
          <a:noFill/>
          <a:ln>
            <a:noFill/>
          </a:ln>
        </p:spPr>
      </p:pic>
    </p:spTree>
    <p:extLst>
      <p:ext uri="{BB962C8B-B14F-4D97-AF65-F5344CB8AC3E}">
        <p14:creationId xmlns:p14="http://schemas.microsoft.com/office/powerpoint/2010/main" val="42791849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a:r>
              <a:rPr lang="en-US" sz="2400" dirty="0">
                <a:solidFill>
                  <a:srgbClr val="0033CC"/>
                </a:solidFill>
              </a:rPr>
              <a:t>The calculations for mean percentage of </a:t>
            </a:r>
            <a:r>
              <a:rPr lang="en-US" sz="2400" dirty="0" smtClean="0">
                <a:solidFill>
                  <a:srgbClr val="0033CC"/>
                </a:solidFill>
              </a:rPr>
              <a:t>marks </a:t>
            </a:r>
            <a:r>
              <a:rPr lang="en-US" sz="2400" dirty="0">
                <a:solidFill>
                  <a:srgbClr val="0033CC"/>
                </a:solidFill>
              </a:rPr>
              <a:t>obtained by the </a:t>
            </a:r>
            <a:r>
              <a:rPr lang="en-US" sz="2400" dirty="0" smtClean="0">
                <a:solidFill>
                  <a:srgbClr val="0033CC"/>
                </a:solidFill>
              </a:rPr>
              <a:t>candidates </a:t>
            </a:r>
          </a:p>
          <a:p>
            <a:pPr algn="just"/>
            <a:endParaRPr lang="en-US" sz="2400" dirty="0"/>
          </a:p>
          <a:p>
            <a:pPr algn="just"/>
            <a:endParaRPr lang="en-US" sz="2400" dirty="0" smtClean="0"/>
          </a:p>
          <a:p>
            <a:pPr algn="just"/>
            <a:endParaRPr lang="en-US" sz="2400" dirty="0"/>
          </a:p>
          <a:p>
            <a:pPr algn="just"/>
            <a:endParaRPr lang="en-US" sz="2400" dirty="0" smtClean="0"/>
          </a:p>
          <a:p>
            <a:pPr algn="just"/>
            <a:endParaRPr lang="en-US" sz="2400" dirty="0" smtClean="0"/>
          </a:p>
          <a:p>
            <a:pPr algn="just"/>
            <a:endParaRPr lang="en-US" sz="2400" dirty="0"/>
          </a:p>
          <a:p>
            <a:pPr algn="just"/>
            <a:endParaRPr lang="en-US" sz="2400" dirty="0" smtClean="0">
              <a:solidFill>
                <a:srgbClr val="0033CC"/>
              </a:solidFill>
            </a:endParaRPr>
          </a:p>
          <a:p>
            <a:pPr algn="just"/>
            <a:endParaRPr lang="en-US" sz="2400" dirty="0" smtClean="0">
              <a:solidFill>
                <a:srgbClr val="0033CC"/>
              </a:solidFill>
            </a:endParaRPr>
          </a:p>
          <a:p>
            <a:pPr algn="just"/>
            <a:endParaRPr lang="en-US" sz="2400" dirty="0">
              <a:solidFill>
                <a:srgbClr val="0033CC"/>
              </a:solidFill>
            </a:endParaRPr>
          </a:p>
          <a:p>
            <a:pPr algn="just"/>
            <a:endParaRPr lang="en-US" sz="2400" dirty="0" smtClean="0">
              <a:solidFill>
                <a:srgbClr val="0033CC"/>
              </a:solidFill>
            </a:endParaRPr>
          </a:p>
          <a:p>
            <a:pPr algn="just"/>
            <a:r>
              <a:rPr lang="en-US" sz="2400" dirty="0" smtClean="0">
                <a:solidFill>
                  <a:srgbClr val="0033CC"/>
                </a:solidFill>
              </a:rPr>
              <a:t>The </a:t>
            </a:r>
            <a:r>
              <a:rPr lang="en-US" sz="2400" dirty="0">
                <a:solidFill>
                  <a:srgbClr val="0033CC"/>
                </a:solidFill>
              </a:rPr>
              <a:t>mean percentage of marks obtained is</a:t>
            </a:r>
            <a:r>
              <a:rPr lang="en-US" sz="2400" dirty="0" smtClean="0">
                <a:solidFill>
                  <a:srgbClr val="0033CC"/>
                </a:solidFill>
              </a:rPr>
              <a:t>:</a:t>
            </a:r>
          </a:p>
          <a:p>
            <a:pPr algn="just"/>
            <a:endParaRPr lang="en-US" sz="2400" dirty="0">
              <a:solidFill>
                <a:srgbClr val="0033CC"/>
              </a:solidFill>
            </a:endParaRPr>
          </a:p>
          <a:p>
            <a:endParaRPr lang="en-US" dirty="0" smtClean="0"/>
          </a:p>
          <a:p>
            <a:endParaRPr lang="en-US" dirty="0"/>
          </a:p>
        </p:txBody>
      </p:sp>
      <p:pic>
        <p:nvPicPr>
          <p:cNvPr id="4" name="img-c03t012" descr="Table 3.12 Calculations of Mean Percentage of Mar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219200"/>
            <a:ext cx="8153400" cy="3733800"/>
          </a:xfrm>
          <a:prstGeom prst="rect">
            <a:avLst/>
          </a:prstGeom>
          <a:noFill/>
          <a:ln>
            <a:noFill/>
          </a:ln>
        </p:spPr>
      </p:pic>
      <p:pic>
        <p:nvPicPr>
          <p:cNvPr id="5" name="img-91_1"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5943601"/>
            <a:ext cx="7467600" cy="761999"/>
          </a:xfrm>
          <a:prstGeom prst="rect">
            <a:avLst/>
          </a:prstGeom>
          <a:noFill/>
          <a:ln>
            <a:noFill/>
          </a:ln>
        </p:spPr>
      </p:pic>
    </p:spTree>
    <p:extLst>
      <p:ext uri="{BB962C8B-B14F-4D97-AF65-F5344CB8AC3E}">
        <p14:creationId xmlns:p14="http://schemas.microsoft.com/office/powerpoint/2010/main" val="13807396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just">
              <a:buNone/>
            </a:pPr>
            <a:r>
              <a:rPr lang="en-US" sz="2400" b="1" dirty="0">
                <a:solidFill>
                  <a:srgbClr val="FF0000"/>
                </a:solidFill>
              </a:rPr>
              <a:t>Case 2: Frequencies are not Given but have to be Calculated From the Given Data</a:t>
            </a:r>
          </a:p>
          <a:p>
            <a:pPr algn="just"/>
            <a:endParaRPr lang="en-US" sz="2400" dirty="0" smtClean="0"/>
          </a:p>
          <a:p>
            <a:pPr algn="just"/>
            <a:r>
              <a:rPr lang="en-US" sz="2400" dirty="0" smtClean="0"/>
              <a:t>Example:  168 </a:t>
            </a:r>
            <a:r>
              <a:rPr lang="en-US" sz="2400" dirty="0"/>
              <a:t>handloom factories have the following distribution of average number of workers in various income groups</a:t>
            </a:r>
            <a:r>
              <a:rPr lang="en-US" sz="2400" dirty="0" smtClean="0"/>
              <a:t>:</a:t>
            </a:r>
          </a:p>
          <a:p>
            <a:pPr algn="just"/>
            <a:endParaRPr lang="en-US" sz="2400" dirty="0"/>
          </a:p>
          <a:p>
            <a:pPr algn="just"/>
            <a:endParaRPr lang="en-US" sz="2400" dirty="0" smtClean="0"/>
          </a:p>
          <a:p>
            <a:pPr algn="just"/>
            <a:endParaRPr lang="en-US" sz="2400" dirty="0"/>
          </a:p>
          <a:p>
            <a:pPr algn="just"/>
            <a:endParaRPr lang="en-US" sz="2400" dirty="0" smtClean="0"/>
          </a:p>
          <a:p>
            <a:pPr algn="just"/>
            <a:endParaRPr lang="en-US" sz="2400" dirty="0"/>
          </a:p>
          <a:p>
            <a:pPr algn="just"/>
            <a:endParaRPr lang="en-US" sz="2400" dirty="0" smtClean="0"/>
          </a:p>
          <a:p>
            <a:pPr algn="just"/>
            <a:endParaRPr lang="en-US" sz="2400" dirty="0" smtClean="0"/>
          </a:p>
          <a:p>
            <a:pPr algn="just"/>
            <a:r>
              <a:rPr lang="en-US" sz="2400" dirty="0" smtClean="0"/>
              <a:t>Find </a:t>
            </a:r>
            <a:r>
              <a:rPr lang="en-US" sz="2400" dirty="0"/>
              <a:t>the mean salary paid to the workers.</a:t>
            </a:r>
          </a:p>
          <a:p>
            <a:pPr algn="just"/>
            <a:endParaRPr lang="en-US" dirty="0" smtClean="0"/>
          </a:p>
          <a:p>
            <a:pPr algn="just"/>
            <a:endParaRPr lang="en-US" dirty="0"/>
          </a:p>
          <a:p>
            <a:endParaRPr lang="en-US" dirty="0"/>
          </a:p>
        </p:txBody>
      </p:sp>
      <p:pic>
        <p:nvPicPr>
          <p:cNvPr id="4" name="img-91_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2743200"/>
            <a:ext cx="8610600" cy="1752600"/>
          </a:xfrm>
          <a:prstGeom prst="rect">
            <a:avLst/>
          </a:prstGeom>
          <a:noFill/>
          <a:ln>
            <a:noFill/>
          </a:ln>
        </p:spPr>
      </p:pic>
    </p:spTree>
    <p:extLst>
      <p:ext uri="{BB962C8B-B14F-4D97-AF65-F5344CB8AC3E}">
        <p14:creationId xmlns:p14="http://schemas.microsoft.com/office/powerpoint/2010/main" val="17929229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a:r>
              <a:rPr lang="en-US" sz="2200" b="1" u="sng" dirty="0">
                <a:solidFill>
                  <a:srgbClr val="0066FF"/>
                </a:solidFill>
                <a:effectLst>
                  <a:outerShdw blurRad="38100" dist="38100" dir="2700000" algn="tl">
                    <a:srgbClr val="000000">
                      <a:alpha val="43137"/>
                    </a:srgbClr>
                  </a:outerShdw>
                </a:effectLst>
              </a:rPr>
              <a:t>Solution:</a:t>
            </a:r>
            <a:r>
              <a:rPr lang="en-US" sz="2200" b="1" dirty="0">
                <a:solidFill>
                  <a:srgbClr val="FF0000"/>
                </a:solidFill>
                <a:effectLst>
                  <a:outerShdw blurRad="38100" dist="38100" dir="2700000" algn="tl">
                    <a:srgbClr val="000000">
                      <a:alpha val="43137"/>
                    </a:srgbClr>
                  </a:outerShdw>
                </a:effectLst>
              </a:rPr>
              <a:t> </a:t>
            </a:r>
            <a:r>
              <a:rPr lang="en-US" sz="2200" dirty="0">
                <a:solidFill>
                  <a:srgbClr val="0066FF"/>
                </a:solidFill>
              </a:rPr>
              <a:t>Since the total number of workers (i.e. frequencies) working in different income groups are not given, therefore these have to be determined </a:t>
            </a:r>
            <a:endParaRPr lang="en-US" sz="2200" dirty="0" smtClean="0">
              <a:solidFill>
                <a:srgbClr val="0066FF"/>
              </a:solidFill>
            </a:endParaRPr>
          </a:p>
          <a:p>
            <a:endParaRPr lang="en-US" dirty="0"/>
          </a:p>
          <a:p>
            <a:endParaRPr lang="en-US" dirty="0" smtClean="0"/>
          </a:p>
          <a:p>
            <a:endParaRPr lang="en-US" dirty="0"/>
          </a:p>
          <a:p>
            <a:endParaRPr lang="en-US" dirty="0" smtClean="0"/>
          </a:p>
          <a:p>
            <a:endParaRPr lang="en-US" dirty="0" smtClean="0"/>
          </a:p>
          <a:p>
            <a:endParaRPr lang="en-US" dirty="0"/>
          </a:p>
        </p:txBody>
      </p:sp>
      <p:pic>
        <p:nvPicPr>
          <p:cNvPr id="18433" name="Picture 1"/>
          <p:cNvPicPr>
            <a:picLocks noChangeAspect="1" noChangeArrowheads="1"/>
          </p:cNvPicPr>
          <p:nvPr/>
        </p:nvPicPr>
        <p:blipFill>
          <a:blip r:embed="rId2" cstate="print"/>
          <a:srcRect/>
          <a:stretch>
            <a:fillRect/>
          </a:stretch>
        </p:blipFill>
        <p:spPr bwMode="auto">
          <a:xfrm>
            <a:off x="762000" y="5715000"/>
            <a:ext cx="2971800" cy="904875"/>
          </a:xfrm>
          <a:prstGeom prst="rect">
            <a:avLst/>
          </a:prstGeom>
          <a:noFill/>
          <a:ln w="9525">
            <a:noFill/>
            <a:miter lim="800000"/>
            <a:headEnd/>
            <a:tailEnd/>
          </a:ln>
          <a:effectLst/>
        </p:spPr>
      </p:pic>
      <p:pic>
        <p:nvPicPr>
          <p:cNvPr id="18434" name="Picture 2"/>
          <p:cNvPicPr>
            <a:picLocks noChangeAspect="1" noChangeArrowheads="1"/>
          </p:cNvPicPr>
          <p:nvPr/>
        </p:nvPicPr>
        <p:blipFill>
          <a:blip r:embed="rId3" cstate="print"/>
          <a:srcRect/>
          <a:stretch>
            <a:fillRect/>
          </a:stretch>
        </p:blipFill>
        <p:spPr bwMode="auto">
          <a:xfrm>
            <a:off x="4114800" y="5943600"/>
            <a:ext cx="3505200" cy="561975"/>
          </a:xfrm>
          <a:prstGeom prst="rect">
            <a:avLst/>
          </a:prstGeom>
          <a:noFill/>
          <a:ln w="9525">
            <a:noFill/>
            <a:miter lim="800000"/>
            <a:headEnd/>
            <a:tailEnd/>
          </a:ln>
          <a:effectLst/>
        </p:spPr>
      </p:pic>
      <p:pic>
        <p:nvPicPr>
          <p:cNvPr id="21505" name="Picture 1"/>
          <p:cNvPicPr>
            <a:picLocks noChangeAspect="1" noChangeArrowheads="1"/>
          </p:cNvPicPr>
          <p:nvPr/>
        </p:nvPicPr>
        <p:blipFill>
          <a:blip r:embed="rId4" cstate="print"/>
          <a:srcRect/>
          <a:stretch>
            <a:fillRect/>
          </a:stretch>
        </p:blipFill>
        <p:spPr bwMode="auto">
          <a:xfrm>
            <a:off x="1" y="1219200"/>
            <a:ext cx="9144000" cy="4371975"/>
          </a:xfrm>
          <a:prstGeom prst="rect">
            <a:avLst/>
          </a:prstGeom>
          <a:noFill/>
          <a:ln w="9525">
            <a:noFill/>
            <a:miter lim="800000"/>
            <a:headEnd/>
            <a:tailEnd/>
          </a:ln>
          <a:effectLst/>
        </p:spPr>
      </p:pic>
    </p:spTree>
    <p:extLst>
      <p:ext uri="{BB962C8B-B14F-4D97-AF65-F5344CB8AC3E}">
        <p14:creationId xmlns:p14="http://schemas.microsoft.com/office/powerpoint/2010/main" val="31355377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marL="0" indent="0" algn="just">
              <a:buNone/>
            </a:pPr>
            <a:r>
              <a:rPr lang="en-US" sz="2400" b="1" dirty="0">
                <a:solidFill>
                  <a:srgbClr val="FF0000"/>
                </a:solidFill>
                <a:effectLst>
                  <a:outerShdw blurRad="38100" dist="38100" dir="2700000" algn="tl">
                    <a:srgbClr val="000000">
                      <a:alpha val="43137"/>
                    </a:srgbClr>
                  </a:outerShdw>
                </a:effectLst>
              </a:rPr>
              <a:t>Case 3: Complete Data are Not Given</a:t>
            </a:r>
          </a:p>
          <a:p>
            <a:pPr marL="0" indent="0" algn="just">
              <a:buNone/>
            </a:pPr>
            <a:endParaRPr lang="en-US" sz="2400" b="1" u="sng" dirty="0" smtClean="0">
              <a:solidFill>
                <a:srgbClr val="0066FF"/>
              </a:solidFill>
              <a:effectLst>
                <a:outerShdw blurRad="38100" dist="38100" dir="2700000" algn="tl">
                  <a:srgbClr val="000000">
                    <a:alpha val="43137"/>
                  </a:srgbClr>
                </a:outerShdw>
              </a:effectLst>
            </a:endParaRPr>
          </a:p>
          <a:p>
            <a:pPr marL="0" indent="0" algn="just">
              <a:buNone/>
            </a:pPr>
            <a:r>
              <a:rPr lang="en-US" sz="2400" b="1" u="sng" dirty="0" smtClean="0">
                <a:solidFill>
                  <a:srgbClr val="0066FF"/>
                </a:solidFill>
                <a:effectLst>
                  <a:outerShdw blurRad="38100" dist="38100" dir="2700000" algn="tl">
                    <a:srgbClr val="000000">
                      <a:alpha val="43137"/>
                    </a:srgbClr>
                  </a:outerShdw>
                </a:effectLst>
              </a:rPr>
              <a:t>Example</a:t>
            </a:r>
            <a:r>
              <a:rPr lang="en-US" sz="2400" dirty="0" smtClean="0">
                <a:solidFill>
                  <a:srgbClr val="0066FF"/>
                </a:solidFill>
              </a:rPr>
              <a:t>: The </a:t>
            </a:r>
            <a:r>
              <a:rPr lang="en-US" sz="2400" dirty="0">
                <a:solidFill>
                  <a:srgbClr val="0066FF"/>
                </a:solidFill>
              </a:rPr>
              <a:t>pass result of 50 students who took a class test is given below</a:t>
            </a:r>
            <a:r>
              <a:rPr lang="en-US" sz="2400" dirty="0" smtClean="0">
                <a:solidFill>
                  <a:srgbClr val="0066FF"/>
                </a:solidFill>
              </a:rPr>
              <a:t>:</a:t>
            </a:r>
          </a:p>
          <a:p>
            <a:pPr marL="0" indent="0" algn="just">
              <a:buNone/>
            </a:pPr>
            <a:endParaRPr lang="en-US" sz="2400" dirty="0">
              <a:solidFill>
                <a:srgbClr val="0066FF"/>
              </a:solidFill>
            </a:endParaRPr>
          </a:p>
          <a:p>
            <a:pPr marL="0" indent="0" algn="just">
              <a:buNone/>
            </a:pPr>
            <a:endParaRPr lang="en-US" sz="2400" dirty="0" smtClean="0">
              <a:solidFill>
                <a:srgbClr val="0066FF"/>
              </a:solidFill>
            </a:endParaRPr>
          </a:p>
          <a:p>
            <a:pPr marL="0" indent="0" algn="just">
              <a:buNone/>
            </a:pPr>
            <a:endParaRPr lang="en-US" sz="2400" dirty="0">
              <a:solidFill>
                <a:srgbClr val="0066FF"/>
              </a:solidFill>
            </a:endParaRPr>
          </a:p>
          <a:p>
            <a:pPr marL="0" indent="0" algn="just">
              <a:buNone/>
            </a:pPr>
            <a:endParaRPr lang="en-US" sz="2400" dirty="0" smtClean="0">
              <a:solidFill>
                <a:srgbClr val="0066FF"/>
              </a:solidFill>
            </a:endParaRPr>
          </a:p>
          <a:p>
            <a:pPr marL="0" indent="0" algn="just">
              <a:buNone/>
            </a:pPr>
            <a:endParaRPr lang="en-US" sz="2400" dirty="0" smtClean="0"/>
          </a:p>
          <a:p>
            <a:pPr marL="0" indent="0" algn="just">
              <a:buNone/>
            </a:pPr>
            <a:endParaRPr lang="en-US" sz="2400" dirty="0" smtClean="0"/>
          </a:p>
          <a:p>
            <a:pPr marL="0" indent="0" algn="just">
              <a:buNone/>
            </a:pPr>
            <a:r>
              <a:rPr lang="en-US" sz="2400" dirty="0" smtClean="0"/>
              <a:t>If </a:t>
            </a:r>
            <a:r>
              <a:rPr lang="en-US" sz="2400" dirty="0"/>
              <a:t>the </a:t>
            </a:r>
            <a:r>
              <a:rPr lang="en-US" sz="2400" b="1" dirty="0">
                <a:solidFill>
                  <a:srgbClr val="FF0000"/>
                </a:solidFill>
                <a:effectLst>
                  <a:outerShdw blurRad="38100" dist="38100" dir="2700000" algn="tl">
                    <a:srgbClr val="000000">
                      <a:alpha val="43137"/>
                    </a:srgbClr>
                  </a:outerShdw>
                </a:effectLst>
              </a:rPr>
              <a:t>mean marks for all the students was 51.6 </a:t>
            </a:r>
            <a:r>
              <a:rPr lang="en-US" sz="2400" b="1" dirty="0">
                <a:solidFill>
                  <a:srgbClr val="0033CC"/>
                </a:solidFill>
              </a:rPr>
              <a:t>find out the mean marks of the students who failed.</a:t>
            </a:r>
          </a:p>
          <a:p>
            <a:pPr marL="0" indent="0" algn="just">
              <a:buNone/>
            </a:pPr>
            <a:endParaRPr lang="en-US" sz="2400" dirty="0" smtClean="0">
              <a:solidFill>
                <a:srgbClr val="0066FF"/>
              </a:solidFill>
            </a:endParaRPr>
          </a:p>
          <a:p>
            <a:pPr marL="0" indent="0" algn="just">
              <a:buNone/>
            </a:pPr>
            <a:endParaRPr lang="en-US" dirty="0">
              <a:solidFill>
                <a:srgbClr val="0066FF"/>
              </a:solidFill>
            </a:endParaRPr>
          </a:p>
          <a:p>
            <a:endParaRPr lang="en-US" dirty="0"/>
          </a:p>
        </p:txBody>
      </p:sp>
      <p:pic>
        <p:nvPicPr>
          <p:cNvPr id="4" name="img-93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2607627"/>
            <a:ext cx="7543800" cy="643255"/>
          </a:xfrm>
          <a:prstGeom prst="rect">
            <a:avLst/>
          </a:prstGeom>
          <a:noFill/>
          <a:ln>
            <a:noFill/>
          </a:ln>
        </p:spPr>
      </p:pic>
    </p:spTree>
    <p:extLst>
      <p:ext uri="{BB962C8B-B14F-4D97-AF65-F5344CB8AC3E}">
        <p14:creationId xmlns:p14="http://schemas.microsoft.com/office/powerpoint/2010/main" val="15438512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0" y="152400"/>
            <a:ext cx="9144000" cy="6705600"/>
          </a:xfrm>
        </p:spPr>
        <p:txBody>
          <a:bodyPr>
            <a:normAutofit fontScale="55000" lnSpcReduction="2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endParaRPr lang="en-US" dirty="0" smtClean="0"/>
          </a:p>
          <a:p>
            <a:endParaRPr lang="en-US" dirty="0" smtClean="0"/>
          </a:p>
          <a:p>
            <a:endParaRPr lang="en-US" dirty="0" smtClean="0"/>
          </a:p>
          <a:p>
            <a:r>
              <a:rPr lang="en-US" sz="3800" b="1" dirty="0" smtClean="0">
                <a:solidFill>
                  <a:srgbClr val="0033CC"/>
                </a:solidFill>
                <a:effectLst>
                  <a:outerShdw blurRad="38100" dist="38100" dir="2700000" algn="tl">
                    <a:srgbClr val="000000">
                      <a:alpha val="43137"/>
                    </a:srgbClr>
                  </a:outerShdw>
                </a:effectLst>
              </a:rPr>
              <a:t>Total </a:t>
            </a:r>
            <a:r>
              <a:rPr lang="en-US" sz="3800" b="1" dirty="0">
                <a:solidFill>
                  <a:srgbClr val="0033CC"/>
                </a:solidFill>
                <a:effectLst>
                  <a:outerShdw blurRad="38100" dist="38100" dir="2700000" algn="tl">
                    <a:srgbClr val="000000">
                      <a:alpha val="43137"/>
                    </a:srgbClr>
                  </a:outerShdw>
                </a:effectLst>
              </a:rPr>
              <a:t>marks </a:t>
            </a:r>
            <a:r>
              <a:rPr lang="en-US" sz="3800" dirty="0"/>
              <a:t>of </a:t>
            </a:r>
            <a:r>
              <a:rPr lang="en-US" sz="3800" b="1" dirty="0">
                <a:effectLst>
                  <a:outerShdw blurRad="38100" dist="38100" dir="2700000" algn="tl">
                    <a:srgbClr val="000000">
                      <a:alpha val="43137"/>
                    </a:srgbClr>
                  </a:outerShdw>
                </a:effectLst>
              </a:rPr>
              <a:t>all the students </a:t>
            </a:r>
            <a:r>
              <a:rPr lang="en-US" sz="3800" dirty="0"/>
              <a:t>= </a:t>
            </a:r>
            <a:r>
              <a:rPr lang="en-US" sz="3800" b="1" dirty="0">
                <a:solidFill>
                  <a:srgbClr val="FF0000"/>
                </a:solidFill>
              </a:rPr>
              <a:t>50 × 51.6 = </a:t>
            </a:r>
            <a:r>
              <a:rPr lang="en-US" sz="3800" b="1" dirty="0" smtClean="0">
                <a:solidFill>
                  <a:srgbClr val="FF0000"/>
                </a:solidFill>
              </a:rPr>
              <a:t>2580</a:t>
            </a:r>
          </a:p>
          <a:p>
            <a:endParaRPr lang="en-US" sz="3800" dirty="0"/>
          </a:p>
          <a:p>
            <a:r>
              <a:rPr lang="en-US" sz="3800" b="1" dirty="0"/>
              <a:t>Total marks of 40 students who passed </a:t>
            </a:r>
            <a:r>
              <a:rPr lang="en-US" sz="3800" dirty="0"/>
              <a:t>= </a:t>
            </a:r>
            <a:r>
              <a:rPr lang="en-US" sz="4500" b="1" dirty="0">
                <a:solidFill>
                  <a:srgbClr val="CC00FF"/>
                </a:solidFill>
              </a:rPr>
              <a:t>Σ </a:t>
            </a:r>
            <a:r>
              <a:rPr lang="en-US" sz="4500" b="1" i="1" dirty="0" err="1">
                <a:solidFill>
                  <a:srgbClr val="CC00FF"/>
                </a:solidFill>
              </a:rPr>
              <a:t>f</a:t>
            </a:r>
            <a:r>
              <a:rPr lang="en-US" sz="4500" b="1" i="1" baseline="-25000" dirty="0" err="1">
                <a:solidFill>
                  <a:srgbClr val="CC00FF"/>
                </a:solidFill>
              </a:rPr>
              <a:t>i</a:t>
            </a:r>
            <a:r>
              <a:rPr lang="en-US" sz="4500" b="1" i="1" dirty="0" err="1">
                <a:solidFill>
                  <a:srgbClr val="CC00FF"/>
                </a:solidFill>
              </a:rPr>
              <a:t>x</a:t>
            </a:r>
            <a:r>
              <a:rPr lang="en-US" sz="4500" b="1" i="1" baseline="-25000" dirty="0" err="1">
                <a:solidFill>
                  <a:srgbClr val="CC00FF"/>
                </a:solidFill>
              </a:rPr>
              <a:t>i</a:t>
            </a:r>
            <a:r>
              <a:rPr lang="en-US" sz="4500" b="1" dirty="0">
                <a:solidFill>
                  <a:srgbClr val="CC00FF"/>
                </a:solidFill>
              </a:rPr>
              <a:t> = </a:t>
            </a:r>
            <a:r>
              <a:rPr lang="en-US" sz="4500" b="1" dirty="0" smtClean="0">
                <a:solidFill>
                  <a:srgbClr val="CC00FF"/>
                </a:solidFill>
              </a:rPr>
              <a:t>2370</a:t>
            </a:r>
          </a:p>
          <a:p>
            <a:pPr marL="0" indent="0">
              <a:buNone/>
            </a:pPr>
            <a:endParaRPr lang="en-US" sz="3800" dirty="0"/>
          </a:p>
          <a:p>
            <a:r>
              <a:rPr lang="en-US" sz="3800" dirty="0"/>
              <a:t>Thus marks of the </a:t>
            </a:r>
            <a:r>
              <a:rPr lang="en-US" sz="3800" b="1" dirty="0"/>
              <a:t>remaining 10 students </a:t>
            </a:r>
            <a:r>
              <a:rPr lang="en-US" sz="3800" dirty="0"/>
              <a:t>= </a:t>
            </a:r>
            <a:r>
              <a:rPr lang="en-US" sz="3800" b="1" dirty="0">
                <a:solidFill>
                  <a:srgbClr val="0070C0"/>
                </a:solidFill>
              </a:rPr>
              <a:t>2580 – 2370 = </a:t>
            </a:r>
            <a:r>
              <a:rPr lang="en-US" sz="3800" b="1" dirty="0" smtClean="0">
                <a:solidFill>
                  <a:srgbClr val="FF0000"/>
                </a:solidFill>
              </a:rPr>
              <a:t>210</a:t>
            </a:r>
          </a:p>
          <a:p>
            <a:endParaRPr lang="en-US" sz="3800" dirty="0"/>
          </a:p>
          <a:p>
            <a:r>
              <a:rPr lang="en-US" sz="3800" dirty="0"/>
              <a:t>Hence, the average marks of 10 students who failed are </a:t>
            </a:r>
            <a:r>
              <a:rPr lang="en-US" sz="3800" b="1" dirty="0">
                <a:effectLst>
                  <a:outerShdw blurRad="38100" dist="38100" dir="2700000" algn="tl">
                    <a:srgbClr val="000000">
                      <a:alpha val="43137"/>
                    </a:srgbClr>
                  </a:outerShdw>
                </a:effectLst>
              </a:rPr>
              <a:t>210/10 = 21 marks</a:t>
            </a:r>
          </a:p>
          <a:p>
            <a:endParaRPr lang="en-US" sz="3800" dirty="0"/>
          </a:p>
        </p:txBody>
      </p:sp>
      <p:graphicFrame>
        <p:nvGraphicFramePr>
          <p:cNvPr id="11" name="Table 10"/>
          <p:cNvGraphicFramePr>
            <a:graphicFrameLocks noGrp="1"/>
          </p:cNvGraphicFramePr>
          <p:nvPr>
            <p:extLst>
              <p:ext uri="{D42A27DB-BD31-4B8C-83A1-F6EECF244321}">
                <p14:modId xmlns:p14="http://schemas.microsoft.com/office/powerpoint/2010/main" val="3537252391"/>
              </p:ext>
            </p:extLst>
          </p:nvPr>
        </p:nvGraphicFramePr>
        <p:xfrm>
          <a:off x="381000" y="2"/>
          <a:ext cx="8229600" cy="3860800"/>
        </p:xfrm>
        <a:graphic>
          <a:graphicData uri="http://schemas.openxmlformats.org/drawingml/2006/table">
            <a:tbl>
              <a:tblPr firstRow="1" firstCol="1" bandRow="1"/>
              <a:tblGrid>
                <a:gridCol w="2743200"/>
                <a:gridCol w="2743200"/>
                <a:gridCol w="2743200"/>
              </a:tblGrid>
              <a:tr h="469919">
                <a:tc>
                  <a:txBody>
                    <a:bodyPr/>
                    <a:lstStyle/>
                    <a:p>
                      <a:pPr marL="0" marR="0" algn="just">
                        <a:lnSpc>
                          <a:spcPts val="2335"/>
                        </a:lnSpc>
                        <a:spcBef>
                          <a:spcPts val="0"/>
                        </a:spcBef>
                        <a:spcAft>
                          <a:spcPts val="0"/>
                        </a:spcAft>
                      </a:pPr>
                      <a:r>
                        <a:rPr lang="en-US" sz="1800" i="1" dirty="0">
                          <a:solidFill>
                            <a:srgbClr val="333333"/>
                          </a:solidFill>
                          <a:effectLst/>
                          <a:latin typeface="Calibri"/>
                          <a:ea typeface="Times New Roman"/>
                          <a:cs typeface="Times New Roman"/>
                        </a:rPr>
                        <a:t>Marks</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ts val="2335"/>
                        </a:lnSpc>
                        <a:spcBef>
                          <a:spcPts val="0"/>
                        </a:spcBef>
                        <a:spcAft>
                          <a:spcPts val="0"/>
                        </a:spcAft>
                      </a:pPr>
                      <a:r>
                        <a:rPr lang="en-US" sz="1800" i="1" dirty="0">
                          <a:solidFill>
                            <a:srgbClr val="333333"/>
                          </a:solidFill>
                          <a:effectLst/>
                          <a:latin typeface="Calibri"/>
                          <a:ea typeface="Times New Roman"/>
                          <a:cs typeface="Times New Roman"/>
                        </a:rPr>
                        <a:t>Frequency</a:t>
                      </a:r>
                      <a:r>
                        <a:rPr lang="en-US" sz="1800" dirty="0">
                          <a:solidFill>
                            <a:srgbClr val="333333"/>
                          </a:solidFill>
                          <a:effectLst/>
                          <a:latin typeface="Calibri"/>
                          <a:ea typeface="Times New Roman"/>
                          <a:cs typeface="Times New Roman"/>
                        </a:rPr>
                        <a:t> (</a:t>
                      </a:r>
                      <a:r>
                        <a:rPr lang="en-US" sz="1800" i="1" dirty="0">
                          <a:solidFill>
                            <a:srgbClr val="333333"/>
                          </a:solidFill>
                          <a:effectLst/>
                          <a:latin typeface="Calibri"/>
                          <a:ea typeface="Times New Roman"/>
                          <a:cs typeface="Times New Roman"/>
                        </a:rPr>
                        <a:t>f</a:t>
                      </a:r>
                      <a:r>
                        <a:rPr lang="en-US" sz="1100" i="1" baseline="-25000" dirty="0">
                          <a:solidFill>
                            <a:srgbClr val="333333"/>
                          </a:solidFill>
                          <a:effectLst/>
                          <a:latin typeface="Calibri"/>
                          <a:ea typeface="Times New Roman"/>
                          <a:cs typeface="Times New Roman"/>
                        </a:rPr>
                        <a:t>i</a:t>
                      </a:r>
                      <a:r>
                        <a:rPr lang="en-US" sz="1800" dirty="0">
                          <a:solidFill>
                            <a:srgbClr val="333333"/>
                          </a:solidFill>
                          <a:effectLst/>
                          <a:latin typeface="Calibri"/>
                          <a:ea typeface="Times New Roman"/>
                          <a:cs typeface="Times New Roman"/>
                        </a:rPr>
                        <a:t>)</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ts val="2335"/>
                        </a:lnSpc>
                        <a:spcBef>
                          <a:spcPts val="0"/>
                        </a:spcBef>
                        <a:spcAft>
                          <a:spcPts val="0"/>
                        </a:spcAft>
                      </a:pPr>
                      <a:r>
                        <a:rPr lang="en-US" sz="1800" i="1">
                          <a:solidFill>
                            <a:srgbClr val="333333"/>
                          </a:solidFill>
                          <a:effectLst/>
                          <a:latin typeface="Calibri"/>
                          <a:ea typeface="Times New Roman"/>
                          <a:cs typeface="Times New Roman"/>
                        </a:rPr>
                        <a:t>f</a:t>
                      </a:r>
                      <a:r>
                        <a:rPr lang="en-US" sz="1100" i="1" baseline="-25000">
                          <a:solidFill>
                            <a:srgbClr val="333333"/>
                          </a:solidFill>
                          <a:effectLst/>
                          <a:latin typeface="Calibri"/>
                          <a:ea typeface="Times New Roman"/>
                          <a:cs typeface="Times New Roman"/>
                        </a:rPr>
                        <a:t>i</a:t>
                      </a:r>
                      <a:r>
                        <a:rPr lang="en-US" sz="1800" i="1">
                          <a:solidFill>
                            <a:srgbClr val="333333"/>
                          </a:solidFill>
                          <a:effectLst/>
                          <a:latin typeface="Calibri"/>
                          <a:ea typeface="Times New Roman"/>
                          <a:cs typeface="Times New Roman"/>
                        </a:rPr>
                        <a:t> x</a:t>
                      </a:r>
                      <a:r>
                        <a:rPr lang="en-US" sz="1100" i="1" baseline="-25000">
                          <a:solidFill>
                            <a:srgbClr val="333333"/>
                          </a:solidFill>
                          <a:effectLst/>
                          <a:latin typeface="Calibri"/>
                          <a:ea typeface="Times New Roman"/>
                          <a:cs typeface="Times New Roman"/>
                        </a:rPr>
                        <a:t>i</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77154">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40</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ts val="2335"/>
                        </a:lnSpc>
                        <a:spcBef>
                          <a:spcPts val="0"/>
                        </a:spcBef>
                        <a:spcAft>
                          <a:spcPts val="0"/>
                        </a:spcAft>
                      </a:pPr>
                      <a:r>
                        <a:rPr lang="en-US" sz="2000">
                          <a:solidFill>
                            <a:srgbClr val="333333"/>
                          </a:solidFill>
                          <a:effectLst/>
                          <a:latin typeface="Calibri"/>
                          <a:ea typeface="Times New Roman"/>
                          <a:cs typeface="Times New Roman"/>
                        </a:rPr>
                        <a:t>8</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ts val="2335"/>
                        </a:lnSpc>
                        <a:spcBef>
                          <a:spcPts val="0"/>
                        </a:spcBef>
                        <a:spcAft>
                          <a:spcPts val="0"/>
                        </a:spcAft>
                      </a:pPr>
                      <a:r>
                        <a:rPr lang="en-US" sz="2000">
                          <a:solidFill>
                            <a:srgbClr val="333333"/>
                          </a:solidFill>
                          <a:effectLst/>
                          <a:latin typeface="Calibri"/>
                          <a:ea typeface="Times New Roman"/>
                          <a:cs typeface="Times New Roman"/>
                        </a:rPr>
                        <a:t>320</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r h="477154">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50</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10</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ts val="2335"/>
                        </a:lnSpc>
                        <a:spcBef>
                          <a:spcPts val="0"/>
                        </a:spcBef>
                        <a:spcAft>
                          <a:spcPts val="0"/>
                        </a:spcAft>
                      </a:pPr>
                      <a:r>
                        <a:rPr lang="en-US" sz="2000">
                          <a:solidFill>
                            <a:srgbClr val="333333"/>
                          </a:solidFill>
                          <a:effectLst/>
                          <a:latin typeface="Calibri"/>
                          <a:ea typeface="Times New Roman"/>
                          <a:cs typeface="Times New Roman"/>
                        </a:rPr>
                        <a:t>500</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77154">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60</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9</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ts val="2335"/>
                        </a:lnSpc>
                        <a:spcBef>
                          <a:spcPts val="0"/>
                        </a:spcBef>
                        <a:spcAft>
                          <a:spcPts val="0"/>
                        </a:spcAft>
                      </a:pPr>
                      <a:r>
                        <a:rPr lang="en-US" sz="2000">
                          <a:solidFill>
                            <a:srgbClr val="333333"/>
                          </a:solidFill>
                          <a:effectLst/>
                          <a:latin typeface="Calibri"/>
                          <a:ea typeface="Times New Roman"/>
                          <a:cs typeface="Times New Roman"/>
                        </a:rPr>
                        <a:t>540</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r h="477154">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70</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6</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ts val="2335"/>
                        </a:lnSpc>
                        <a:spcBef>
                          <a:spcPts val="0"/>
                        </a:spcBef>
                        <a:spcAft>
                          <a:spcPts val="0"/>
                        </a:spcAft>
                      </a:pPr>
                      <a:r>
                        <a:rPr lang="en-US" sz="2000">
                          <a:solidFill>
                            <a:srgbClr val="333333"/>
                          </a:solidFill>
                          <a:effectLst/>
                          <a:latin typeface="Calibri"/>
                          <a:ea typeface="Times New Roman"/>
                          <a:cs typeface="Times New Roman"/>
                        </a:rPr>
                        <a:t>420</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77154">
                <a:tc>
                  <a:txBody>
                    <a:bodyPr/>
                    <a:lstStyle/>
                    <a:p>
                      <a:pPr marL="0" marR="0" algn="just">
                        <a:lnSpc>
                          <a:spcPts val="2335"/>
                        </a:lnSpc>
                        <a:spcBef>
                          <a:spcPts val="0"/>
                        </a:spcBef>
                        <a:spcAft>
                          <a:spcPts val="0"/>
                        </a:spcAft>
                      </a:pPr>
                      <a:r>
                        <a:rPr lang="en-US" sz="2000">
                          <a:solidFill>
                            <a:srgbClr val="333333"/>
                          </a:solidFill>
                          <a:effectLst/>
                          <a:latin typeface="Calibri"/>
                          <a:ea typeface="Times New Roman"/>
                          <a:cs typeface="Times New Roman"/>
                        </a:rPr>
                        <a:t>80</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4</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320</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r h="477154">
                <a:tc>
                  <a:txBody>
                    <a:bodyPr/>
                    <a:lstStyle/>
                    <a:p>
                      <a:pPr marL="0" marR="0" algn="just">
                        <a:lnSpc>
                          <a:spcPts val="2335"/>
                        </a:lnSpc>
                        <a:spcBef>
                          <a:spcPts val="0"/>
                        </a:spcBef>
                        <a:spcAft>
                          <a:spcPts val="0"/>
                        </a:spcAft>
                      </a:pPr>
                      <a:r>
                        <a:rPr lang="en-US" sz="2000">
                          <a:solidFill>
                            <a:srgbClr val="333333"/>
                          </a:solidFill>
                          <a:effectLst/>
                          <a:latin typeface="Calibri"/>
                          <a:ea typeface="Times New Roman"/>
                          <a:cs typeface="Times New Roman"/>
                        </a:rPr>
                        <a:t>90</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3</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ts val="2335"/>
                        </a:lnSpc>
                        <a:spcBef>
                          <a:spcPts val="0"/>
                        </a:spcBef>
                        <a:spcAft>
                          <a:spcPts val="0"/>
                        </a:spcAft>
                      </a:pPr>
                      <a:r>
                        <a:rPr lang="en-US" sz="2000" dirty="0">
                          <a:solidFill>
                            <a:srgbClr val="333333"/>
                          </a:solidFill>
                          <a:effectLst/>
                          <a:latin typeface="Calibri"/>
                          <a:ea typeface="Times New Roman"/>
                          <a:cs typeface="Times New Roman"/>
                        </a:rPr>
                        <a:t>270</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77154">
                <a:tc>
                  <a:txBody>
                    <a:bodyPr/>
                    <a:lstStyle/>
                    <a:p>
                      <a:pPr marL="0" marR="0" algn="just">
                        <a:lnSpc>
                          <a:spcPts val="2335"/>
                        </a:lnSpc>
                        <a:spcBef>
                          <a:spcPts val="0"/>
                        </a:spcBef>
                        <a:spcAft>
                          <a:spcPts val="0"/>
                        </a:spcAft>
                      </a:pPr>
                      <a:r>
                        <a:rPr lang="en-US" sz="1800" dirty="0">
                          <a:solidFill>
                            <a:srgbClr val="333333"/>
                          </a:solidFill>
                          <a:effectLst/>
                          <a:latin typeface="Calibri"/>
                          <a:ea typeface="Times New Roman"/>
                          <a:cs typeface="Times New Roman"/>
                        </a:rPr>
                        <a:t> </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ts val="2335"/>
                        </a:lnSpc>
                        <a:spcBef>
                          <a:spcPts val="0"/>
                        </a:spcBef>
                        <a:spcAft>
                          <a:spcPts val="0"/>
                        </a:spcAft>
                      </a:pPr>
                      <a:r>
                        <a:rPr lang="en-US" sz="2000" dirty="0">
                          <a:solidFill>
                            <a:srgbClr val="FF0000"/>
                          </a:solidFill>
                          <a:effectLst/>
                          <a:latin typeface="Calibri"/>
                          <a:ea typeface="Times New Roman"/>
                          <a:cs typeface="Times New Roman"/>
                        </a:rPr>
                        <a:t>40</a:t>
                      </a:r>
                      <a:endParaRPr lang="en-US" sz="1600" dirty="0">
                        <a:solidFill>
                          <a:srgbClr val="FF0000"/>
                        </a:solidFill>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just">
                        <a:lnSpc>
                          <a:spcPts val="2335"/>
                        </a:lnSpc>
                        <a:spcBef>
                          <a:spcPts val="0"/>
                        </a:spcBef>
                        <a:spcAft>
                          <a:spcPts val="0"/>
                        </a:spcAft>
                      </a:pPr>
                      <a:r>
                        <a:rPr lang="en-US" sz="2000" dirty="0">
                          <a:solidFill>
                            <a:srgbClr val="FF0000"/>
                          </a:solidFill>
                          <a:effectLst/>
                          <a:latin typeface="Calibri"/>
                          <a:ea typeface="Times New Roman"/>
                          <a:cs typeface="Times New Roman"/>
                        </a:rPr>
                        <a:t>2370</a:t>
                      </a:r>
                      <a:endParaRPr lang="en-US" sz="1600" dirty="0">
                        <a:solidFill>
                          <a:srgbClr val="FF0000"/>
                        </a:solidFill>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r>
            </a:tbl>
          </a:graphicData>
        </a:graphic>
      </p:graphicFrame>
    </p:spTree>
    <p:extLst>
      <p:ext uri="{BB962C8B-B14F-4D97-AF65-F5344CB8AC3E}">
        <p14:creationId xmlns:p14="http://schemas.microsoft.com/office/powerpoint/2010/main" val="12153043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4319"/>
            <a:ext cx="9144000" cy="6757481"/>
          </a:xfrm>
        </p:spPr>
        <p:txBody>
          <a:bodyPr>
            <a:normAutofit/>
          </a:bodyPr>
          <a:lstStyle/>
          <a:p>
            <a:pPr marL="0" indent="0" algn="just">
              <a:buNone/>
            </a:pPr>
            <a:r>
              <a:rPr lang="en-US" sz="2200" b="1" u="sng" dirty="0" smtClean="0">
                <a:solidFill>
                  <a:srgbClr val="FF0000"/>
                </a:solidFill>
              </a:rPr>
              <a:t>EX</a:t>
            </a:r>
            <a:r>
              <a:rPr lang="en-US" sz="2200" b="1" dirty="0" smtClean="0">
                <a:solidFill>
                  <a:srgbClr val="FF0000"/>
                </a:solidFill>
              </a:rPr>
              <a:t>: </a:t>
            </a:r>
            <a:r>
              <a:rPr lang="en-US" sz="2200" dirty="0" smtClean="0"/>
              <a:t>The </a:t>
            </a:r>
            <a:r>
              <a:rPr lang="en-US" sz="2200" dirty="0"/>
              <a:t>mean salary paid to 1500 employees of an organization was found to be </a:t>
            </a:r>
            <a:r>
              <a:rPr lang="en-US" sz="2200" dirty="0" err="1"/>
              <a:t>Rs</a:t>
            </a:r>
            <a:r>
              <a:rPr lang="en-US" sz="2200" dirty="0"/>
              <a:t> 12,500. Later on, after disbursement of salary, it was discovered that the salary of two employees was wrongly entered as </a:t>
            </a:r>
            <a:r>
              <a:rPr lang="en-US" sz="2200" dirty="0" err="1"/>
              <a:t>Rs</a:t>
            </a:r>
            <a:r>
              <a:rPr lang="en-US" sz="2200" dirty="0"/>
              <a:t> 15,760 and 9590. Their correct salaries were </a:t>
            </a:r>
            <a:r>
              <a:rPr lang="en-US" sz="2200" dirty="0" err="1"/>
              <a:t>Rs</a:t>
            </a:r>
            <a:r>
              <a:rPr lang="en-US" sz="2200" dirty="0"/>
              <a:t> 17,760 and 8590. Calculate correct mean</a:t>
            </a:r>
            <a:r>
              <a:rPr lang="en-US" sz="2200" dirty="0" smtClean="0"/>
              <a:t>.</a:t>
            </a:r>
          </a:p>
          <a:p>
            <a:pPr marL="0" indent="0" algn="just">
              <a:buNone/>
            </a:pPr>
            <a:r>
              <a:rPr lang="en-US" sz="2800" b="1" dirty="0" smtClean="0">
                <a:solidFill>
                  <a:srgbClr val="0066FF"/>
                </a:solidFill>
              </a:rPr>
              <a:t>Solution </a:t>
            </a:r>
            <a:r>
              <a:rPr lang="en-US" b="1" dirty="0" smtClean="0"/>
              <a:t> </a:t>
            </a:r>
          </a:p>
          <a:p>
            <a:pPr algn="just"/>
            <a:endParaRPr lang="en-US" b="1" dirty="0"/>
          </a:p>
          <a:p>
            <a:pPr algn="just"/>
            <a:endParaRPr lang="en-US" b="1" dirty="0" smtClean="0"/>
          </a:p>
          <a:p>
            <a:pPr marL="0" indent="0" algn="just">
              <a:buNone/>
            </a:pPr>
            <a:endParaRPr lang="en-US" b="1" dirty="0" smtClean="0"/>
          </a:p>
          <a:p>
            <a:pPr algn="just"/>
            <a:r>
              <a:rPr lang="en-US" sz="2100" dirty="0"/>
              <a:t>This gives the total salary disbursed to all 1500 employees. Now after adding the correct salary figures of two employees and subtracting the wrong salary figures posted against two employees, we </a:t>
            </a:r>
            <a:r>
              <a:rPr lang="en-US" sz="2100" dirty="0" smtClean="0"/>
              <a:t>have</a:t>
            </a:r>
          </a:p>
          <a:p>
            <a:pPr algn="just"/>
            <a:endParaRPr lang="en-US" sz="2100" dirty="0"/>
          </a:p>
          <a:p>
            <a:pPr algn="just"/>
            <a:endParaRPr lang="en-US" dirty="0"/>
          </a:p>
        </p:txBody>
      </p:sp>
      <p:pic>
        <p:nvPicPr>
          <p:cNvPr id="4" name="img-96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981200"/>
            <a:ext cx="6858000" cy="1570673"/>
          </a:xfrm>
          <a:prstGeom prst="rect">
            <a:avLst/>
          </a:prstGeom>
          <a:noFill/>
          <a:ln>
            <a:noFill/>
          </a:ln>
        </p:spPr>
      </p:pic>
      <p:pic>
        <p:nvPicPr>
          <p:cNvPr id="5" name="img-96_2"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3246" y="5029200"/>
            <a:ext cx="6519153" cy="1600200"/>
          </a:xfrm>
          <a:prstGeom prst="rect">
            <a:avLst/>
          </a:prstGeom>
          <a:noFill/>
          <a:ln>
            <a:noFill/>
          </a:ln>
        </p:spPr>
      </p:pic>
    </p:spTree>
    <p:extLst>
      <p:ext uri="{BB962C8B-B14F-4D97-AF65-F5344CB8AC3E}">
        <p14:creationId xmlns:p14="http://schemas.microsoft.com/office/powerpoint/2010/main" val="26606113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Thus the correct mean salary is given by</a:t>
            </a:r>
          </a:p>
          <a:p>
            <a:pPr marL="0" indent="0">
              <a:buNone/>
            </a:pPr>
            <a:r>
              <a:rPr lang="en-US" dirty="0" smtClean="0"/>
              <a:t>1,88,01,700 </a:t>
            </a:r>
            <a:r>
              <a:rPr lang="en-US" dirty="0"/>
              <a:t>÷ 1500 = </a:t>
            </a:r>
            <a:r>
              <a:rPr lang="en-US" dirty="0" err="1"/>
              <a:t>Rs</a:t>
            </a:r>
            <a:r>
              <a:rPr lang="en-US" dirty="0"/>
              <a:t> 12,534.46</a:t>
            </a:r>
          </a:p>
          <a:p>
            <a:endParaRPr lang="en-US" dirty="0"/>
          </a:p>
        </p:txBody>
      </p:sp>
    </p:spTree>
    <p:extLst>
      <p:ext uri="{BB962C8B-B14F-4D97-AF65-F5344CB8AC3E}">
        <p14:creationId xmlns:p14="http://schemas.microsoft.com/office/powerpoint/2010/main" val="34032129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u="sng" dirty="0">
                <a:solidFill>
                  <a:srgbClr val="FF0000"/>
                </a:solidFill>
                <a:effectLst>
                  <a:outerShdw blurRad="38100" dist="38100" dir="2700000" algn="tl">
                    <a:srgbClr val="000000">
                      <a:alpha val="43137"/>
                    </a:srgbClr>
                  </a:outerShdw>
                </a:effectLst>
              </a:rPr>
              <a:t>COMBINED MEAN AND VARIANCE</a:t>
            </a:r>
            <a:endParaRPr lang="en-US" b="1" u="sng"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752601"/>
            <a:ext cx="3352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035" y="3352800"/>
            <a:ext cx="545769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200" y="1658870"/>
            <a:ext cx="3695565" cy="122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0600" y="5410200"/>
            <a:ext cx="2243137"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67200" y="5308600"/>
            <a:ext cx="1914525"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18337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just">
              <a:buNone/>
            </a:pPr>
            <a:r>
              <a:rPr lang="en-US" sz="2400" b="1" dirty="0" smtClean="0">
                <a:solidFill>
                  <a:srgbClr val="C00000"/>
                </a:solidFill>
              </a:rPr>
              <a:t>EX: </a:t>
            </a:r>
            <a:r>
              <a:rPr lang="en-US" sz="2200" dirty="0" smtClean="0"/>
              <a:t>There </a:t>
            </a:r>
            <a:r>
              <a:rPr lang="en-US" sz="2200" dirty="0"/>
              <a:t>are two units of an automobile company in two different cities employing 760 and 800 persons, respectively. The arithmetic means of monthly salaries paid to persons in these two units are Rs 18,750 and </a:t>
            </a:r>
            <a:r>
              <a:rPr lang="en-US" sz="2200" dirty="0" smtClean="0"/>
              <a:t>              Rs </a:t>
            </a:r>
            <a:r>
              <a:rPr lang="en-US" sz="2200" dirty="0"/>
              <a:t>16,950 respectively. Find the combined arithmetic mean of salaries of the employees in both the units</a:t>
            </a:r>
            <a:r>
              <a:rPr lang="en-US" sz="2200" dirty="0" smtClean="0"/>
              <a:t>.</a:t>
            </a:r>
          </a:p>
          <a:p>
            <a:pPr marL="0" indent="0" algn="just">
              <a:buNone/>
            </a:pPr>
            <a:endParaRPr lang="en-US" sz="2200" b="1" dirty="0" smtClean="0">
              <a:solidFill>
                <a:srgbClr val="0033CC"/>
              </a:solidFill>
            </a:endParaRPr>
          </a:p>
          <a:p>
            <a:pPr marL="0" indent="0" algn="just">
              <a:buNone/>
            </a:pPr>
            <a:r>
              <a:rPr lang="en-US" sz="2200" b="1" dirty="0" smtClean="0">
                <a:solidFill>
                  <a:srgbClr val="0033CC"/>
                </a:solidFill>
              </a:rPr>
              <a:t>Solution</a:t>
            </a:r>
            <a:r>
              <a:rPr lang="en-US" sz="2200" b="1" dirty="0">
                <a:solidFill>
                  <a:srgbClr val="0033CC"/>
                </a:solidFill>
              </a:rPr>
              <a:t>:</a:t>
            </a:r>
            <a:r>
              <a:rPr lang="en-US" sz="2200" dirty="0"/>
              <a:t> </a:t>
            </a:r>
            <a:r>
              <a:rPr lang="en-US" sz="2400" dirty="0"/>
              <a:t>Let </a:t>
            </a:r>
            <a:r>
              <a:rPr lang="en-US" sz="2400" i="1" dirty="0"/>
              <a:t>n</a:t>
            </a:r>
            <a:r>
              <a:rPr lang="en-US" sz="2400" i="1" baseline="-25000" dirty="0"/>
              <a:t>1</a:t>
            </a:r>
            <a:r>
              <a:rPr lang="en-US" sz="2400" dirty="0"/>
              <a:t> and </a:t>
            </a:r>
            <a:r>
              <a:rPr lang="en-US" sz="2400" i="1" dirty="0"/>
              <a:t>n</a:t>
            </a:r>
            <a:r>
              <a:rPr lang="en-US" sz="2400" i="1" baseline="-25000" dirty="0"/>
              <a:t>2</a:t>
            </a:r>
            <a:r>
              <a:rPr lang="en-US" sz="2400" dirty="0"/>
              <a:t> be the number of persons working in unit 1 and 2 respectively, and   </a:t>
            </a:r>
            <a:r>
              <a:rPr lang="en-US" sz="2400" dirty="0" err="1"/>
              <a:t>and</a:t>
            </a:r>
            <a:r>
              <a:rPr lang="en-US" sz="2400" dirty="0"/>
              <a:t>   be the arithmetic mean of salaries paid to these persons respectively</a:t>
            </a:r>
            <a:r>
              <a:rPr lang="en-US" sz="2400" dirty="0" smtClean="0"/>
              <a:t>.</a:t>
            </a:r>
          </a:p>
          <a:p>
            <a:pPr algn="just"/>
            <a:endParaRPr lang="en-US" sz="2200" dirty="0"/>
          </a:p>
          <a:p>
            <a:pPr algn="just"/>
            <a:endParaRPr lang="en-US" sz="2200" dirty="0" smtClean="0"/>
          </a:p>
          <a:p>
            <a:pPr marL="0" indent="0" algn="just">
              <a:buNone/>
            </a:pPr>
            <a:endParaRPr lang="en-US" sz="2200" dirty="0"/>
          </a:p>
          <a:p>
            <a:pPr algn="just"/>
            <a:r>
              <a:rPr lang="en-US" sz="2200" dirty="0" smtClean="0"/>
              <a:t>Thus </a:t>
            </a:r>
            <a:r>
              <a:rPr lang="en-US" sz="2200" dirty="0"/>
              <a:t>the combined mean of salaries paid by the company is</a:t>
            </a:r>
            <a:endParaRPr lang="en-US" sz="2200" dirty="0" smtClean="0"/>
          </a:p>
          <a:p>
            <a:pPr algn="just"/>
            <a:endParaRPr lang="en-US" dirty="0"/>
          </a:p>
        </p:txBody>
      </p:sp>
      <p:pic>
        <p:nvPicPr>
          <p:cNvPr id="4" name="img-96_3"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3429000"/>
            <a:ext cx="4571999" cy="762000"/>
          </a:xfrm>
          <a:prstGeom prst="rect">
            <a:avLst/>
          </a:prstGeom>
          <a:noFill/>
          <a:ln>
            <a:noFill/>
          </a:ln>
        </p:spPr>
      </p:pic>
      <p:pic>
        <p:nvPicPr>
          <p:cNvPr id="5" name="img-96_4"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5257800"/>
            <a:ext cx="7239000" cy="1066800"/>
          </a:xfrm>
          <a:prstGeom prst="rect">
            <a:avLst/>
          </a:prstGeom>
          <a:noFill/>
          <a:ln>
            <a:noFill/>
          </a:ln>
        </p:spPr>
      </p:pic>
    </p:spTree>
    <p:extLst>
      <p:ext uri="{BB962C8B-B14F-4D97-AF65-F5344CB8AC3E}">
        <p14:creationId xmlns:p14="http://schemas.microsoft.com/office/powerpoint/2010/main" val="10246905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solidFill>
                  <a:srgbClr val="FF0000"/>
                </a:solidFill>
                <a:effectLst>
                  <a:outerShdw blurRad="38100" dist="38100" dir="2700000" algn="tl">
                    <a:srgbClr val="000000">
                      <a:alpha val="43137"/>
                    </a:srgbClr>
                  </a:outerShdw>
                </a:effectLst>
              </a:rPr>
              <a:t>COMBINED MEAN AND VARIANCE</a:t>
            </a:r>
            <a:endParaRPr lang="en-US"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endParaRPr lang="en-US" dirty="0"/>
          </a:p>
        </p:txBody>
      </p:sp>
      <p:pic>
        <p:nvPicPr>
          <p:cNvPr id="2050" name="Picture 2" descr="C:\Users\sanjiv\Desktop\IMG_20171005_170916.jpg"/>
          <p:cNvPicPr>
            <a:picLocks noChangeAspect="1" noChangeArrowheads="1"/>
          </p:cNvPicPr>
          <p:nvPr/>
        </p:nvPicPr>
        <p:blipFill>
          <a:blip r:embed="rId2" cstate="print">
            <a:lum bright="-36000" contrast="22000"/>
            <a:extLst>
              <a:ext uri="{28A0092B-C50C-407E-A947-70E740481C1C}">
                <a14:useLocalDpi xmlns:a14="http://schemas.microsoft.com/office/drawing/2010/main" val="0"/>
              </a:ext>
            </a:extLst>
          </a:blip>
          <a:srcRect/>
          <a:stretch>
            <a:fillRect/>
          </a:stretch>
        </p:blipFill>
        <p:spPr bwMode="auto">
          <a:xfrm>
            <a:off x="76200" y="990600"/>
            <a:ext cx="9144000" cy="5856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1434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just">
              <a:buNone/>
            </a:pPr>
            <a:r>
              <a:rPr lang="en-US" b="1" dirty="0">
                <a:solidFill>
                  <a:srgbClr val="FF0000"/>
                </a:solidFill>
                <a:effectLst>
                  <a:outerShdw blurRad="38100" dist="38100" dir="2700000" algn="tl">
                    <a:srgbClr val="000000">
                      <a:alpha val="43137"/>
                    </a:srgbClr>
                  </a:outerShdw>
                </a:effectLst>
              </a:rPr>
              <a:t>Advantages</a:t>
            </a:r>
          </a:p>
          <a:p>
            <a:pPr algn="just"/>
            <a:r>
              <a:rPr lang="en-US" dirty="0"/>
              <a:t>1.	The calculation of arithmetic mean is simple and it is unique, that is, every data set has one and only one mean.</a:t>
            </a:r>
          </a:p>
          <a:p>
            <a:pPr algn="just"/>
            <a:r>
              <a:rPr lang="en-US" dirty="0"/>
              <a:t>2.	The calculation of arithmetic mean is based on all values given in the data set.</a:t>
            </a:r>
          </a:p>
          <a:p>
            <a:pPr algn="just"/>
            <a:r>
              <a:rPr lang="en-US" dirty="0"/>
              <a:t>3.	The </a:t>
            </a:r>
            <a:r>
              <a:rPr lang="en-US" u="sng" dirty="0">
                <a:solidFill>
                  <a:srgbClr val="9900FF"/>
                </a:solidFill>
                <a:effectLst>
                  <a:outerShdw blurRad="38100" dist="38100" dir="2700000" algn="tl">
                    <a:srgbClr val="000000">
                      <a:alpha val="43137"/>
                    </a:srgbClr>
                  </a:outerShdw>
                </a:effectLst>
              </a:rPr>
              <a:t>arithmetic mean is reliable single value</a:t>
            </a:r>
            <a:r>
              <a:rPr lang="en-US" dirty="0"/>
              <a:t> that reflects all values in the data set.</a:t>
            </a:r>
          </a:p>
          <a:p>
            <a:pPr algn="just"/>
            <a:r>
              <a:rPr lang="en-US" dirty="0"/>
              <a:t>4.	The arithmetic mean is </a:t>
            </a:r>
            <a:r>
              <a:rPr lang="en-US" u="sng" dirty="0">
                <a:solidFill>
                  <a:srgbClr val="9900FF"/>
                </a:solidFill>
                <a:effectLst>
                  <a:outerShdw blurRad="38100" dist="38100" dir="2700000" algn="tl">
                    <a:srgbClr val="000000">
                      <a:alpha val="43137"/>
                    </a:srgbClr>
                  </a:outerShdw>
                </a:effectLst>
              </a:rPr>
              <a:t>least affected by fluctuations</a:t>
            </a:r>
            <a:r>
              <a:rPr lang="en-US" dirty="0"/>
              <a:t> in the sample size. </a:t>
            </a:r>
          </a:p>
        </p:txBody>
      </p:sp>
    </p:spTree>
    <p:extLst>
      <p:ext uri="{BB962C8B-B14F-4D97-AF65-F5344CB8AC3E}">
        <p14:creationId xmlns:p14="http://schemas.microsoft.com/office/powerpoint/2010/main" val="14770994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just">
              <a:buNone/>
            </a:pPr>
            <a:r>
              <a:rPr lang="en-US" sz="2400" b="1" dirty="0">
                <a:solidFill>
                  <a:srgbClr val="FF0000"/>
                </a:solidFill>
              </a:rPr>
              <a:t>Disadvantages</a:t>
            </a:r>
          </a:p>
          <a:p>
            <a:pPr marL="457200" indent="-457200" algn="just">
              <a:buAutoNum type="arabicPeriod"/>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value of A.M. cannot be calculated accurately for unequal and open-ended class intervals either at the beginning or end of the given frequency distribution</a:t>
            </a:r>
            <a:r>
              <a:rPr lang="en-US" sz="2400" dirty="0" smtClean="0">
                <a:latin typeface="Times New Roman" pitchFamily="18" charset="0"/>
                <a:cs typeface="Times New Roman" pitchFamily="18" charset="0"/>
              </a:rPr>
              <a:t>.</a:t>
            </a:r>
          </a:p>
          <a:p>
            <a:pPr marL="0" indent="0" algn="just">
              <a:buNone/>
            </a:pPr>
            <a:endParaRPr lang="en-US" sz="2400" dirty="0">
              <a:latin typeface="Times New Roman" pitchFamily="18" charset="0"/>
              <a:cs typeface="Times New Roman" pitchFamily="18" charset="0"/>
            </a:endParaRPr>
          </a:p>
          <a:p>
            <a:pPr marL="457200" indent="-457200" algn="just">
              <a:buAutoNum type="arabicPeriod" startAt="2"/>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A.M. is reliable and reflects all the values in the data set. </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However</a:t>
            </a:r>
            <a:r>
              <a:rPr lang="en-US" sz="2400" dirty="0">
                <a:latin typeface="Times New Roman" pitchFamily="18" charset="0"/>
                <a:cs typeface="Times New Roman" pitchFamily="18" charset="0"/>
              </a:rPr>
              <a:t>, it is very much affected by the extreme observations (or outliers) which are not representative of the rest of the data set. Outliers at the high end will increase the mean, while outliers at the lower end will decrease it. For example, if monthly income of four persons is 50, 70, 80, and 1000, then their A.M. will be 300, which does not represent the data</a:t>
            </a:r>
            <a:r>
              <a:rPr lang="en-US" sz="2400" dirty="0" smtClean="0">
                <a:latin typeface="Times New Roman" pitchFamily="18" charset="0"/>
                <a:cs typeface="Times New Roman" pitchFamily="18" charset="0"/>
              </a:rPr>
              <a:t>.</a:t>
            </a:r>
          </a:p>
          <a:p>
            <a:pPr marL="457200" indent="-457200" algn="just">
              <a:buAutoNum type="arabicPeriod" startAt="2"/>
            </a:pPr>
            <a:endParaRPr lang="en-US" sz="2400" dirty="0" smtClean="0">
              <a:latin typeface="Times New Roman" pitchFamily="18" charset="0"/>
              <a:cs typeface="Times New Roman" pitchFamily="18" charset="0"/>
            </a:endParaRPr>
          </a:p>
          <a:p>
            <a:pPr marL="457200" indent="-457200" algn="ctr">
              <a:buNone/>
            </a:pPr>
            <a:r>
              <a:rPr lang="en-US" sz="2400" i="1" dirty="0" smtClean="0">
                <a:solidFill>
                  <a:srgbClr val="9900FF"/>
                </a:solidFill>
              </a:rPr>
              <a:t>An </a:t>
            </a:r>
            <a:r>
              <a:rPr lang="en-US" sz="2400" b="1" i="1" dirty="0" smtClean="0">
                <a:solidFill>
                  <a:srgbClr val="9900FF"/>
                </a:solidFill>
              </a:rPr>
              <a:t>outlier</a:t>
            </a:r>
            <a:r>
              <a:rPr lang="en-US" sz="2400" i="1" dirty="0" smtClean="0">
                <a:solidFill>
                  <a:srgbClr val="9900FF"/>
                </a:solidFill>
              </a:rPr>
              <a:t> is an observation that lies an abnormal distance</a:t>
            </a:r>
            <a:endParaRPr lang="en-US" sz="2400" i="1" dirty="0" smtClean="0">
              <a:solidFill>
                <a:srgbClr val="9900FF"/>
              </a:solidFill>
              <a:latin typeface="Times New Roman" pitchFamily="18" charset="0"/>
              <a:cs typeface="Times New Roman" pitchFamily="18" charset="0"/>
            </a:endParaRPr>
          </a:p>
          <a:p>
            <a:pPr marL="0" indent="0" algn="just">
              <a:buNone/>
            </a:pPr>
            <a:endParaRPr lang="en-US" sz="2200" dirty="0"/>
          </a:p>
        </p:txBody>
      </p:sp>
    </p:spTree>
    <p:extLst>
      <p:ext uri="{BB962C8B-B14F-4D97-AF65-F5344CB8AC3E}">
        <p14:creationId xmlns:p14="http://schemas.microsoft.com/office/powerpoint/2010/main" val="33730424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fontScale="85000" lnSpcReduction="20000"/>
          </a:bodyPr>
          <a:lstStyle/>
          <a:p>
            <a:pPr marL="457200" indent="-457200" algn="just">
              <a:buAutoNum type="arabicPeriod" startAt="3"/>
            </a:pPr>
            <a:r>
              <a:rPr lang="en-US" dirty="0" smtClean="0"/>
              <a:t>The calculations of A.M. sometime become difficult because every data element is used in the calculation (unless the short cut method for grouped data is used to calculate the mean). Moreover the value so obtained may not be among the observations included in the data.</a:t>
            </a:r>
          </a:p>
          <a:p>
            <a:pPr marL="0" indent="0" algn="just">
              <a:buNone/>
            </a:pPr>
            <a:endParaRPr lang="en-US" dirty="0" smtClean="0"/>
          </a:p>
          <a:p>
            <a:pPr marL="457200" indent="-457200" algn="just">
              <a:buAutoNum type="arabicPeriod" startAt="4"/>
            </a:pPr>
            <a:r>
              <a:rPr lang="en-US" dirty="0" smtClean="0"/>
              <a:t>The mean cannot be calculated for qualitative characteristics such as intelligence, honesty, beauty, or loyalty.</a:t>
            </a:r>
          </a:p>
          <a:p>
            <a:pPr marL="0" indent="0" algn="just">
              <a:buNone/>
            </a:pPr>
            <a:endParaRPr lang="en-US" dirty="0" smtClean="0"/>
          </a:p>
          <a:p>
            <a:pPr lvl="0"/>
            <a:r>
              <a:rPr lang="en-US" dirty="0" smtClean="0"/>
              <a:t>5.	The mean cannot be calculated for a data set that has open-ended classes at either the high or low end of the scale.</a:t>
            </a: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just">
              <a:buNone/>
            </a:pPr>
            <a:r>
              <a:rPr lang="en-US" sz="2800" b="1" u="sng" dirty="0" smtClean="0">
                <a:solidFill>
                  <a:srgbClr val="FF0000"/>
                </a:solidFill>
              </a:rPr>
              <a:t>PROPERTIES OF ARITHMETIC MEAN </a:t>
            </a:r>
            <a:endParaRPr lang="en-US" sz="2600" b="1" u="sng" dirty="0" smtClean="0">
              <a:solidFill>
                <a:srgbClr val="FF0000"/>
              </a:solidFill>
            </a:endParaRPr>
          </a:p>
          <a:p>
            <a:pPr marL="0" indent="0" algn="just">
              <a:buNone/>
            </a:pPr>
            <a:r>
              <a:rPr lang="en-US" sz="2400" dirty="0" smtClean="0"/>
              <a:t>1</a:t>
            </a:r>
            <a:r>
              <a:rPr lang="en-US" sz="2100" dirty="0" smtClean="0"/>
              <a:t>. The </a:t>
            </a:r>
            <a:r>
              <a:rPr lang="en-US" sz="2100" dirty="0"/>
              <a:t>algebraic </a:t>
            </a:r>
            <a:r>
              <a:rPr lang="en-US" sz="2100" u="dbl" dirty="0">
                <a:solidFill>
                  <a:srgbClr val="9900FF"/>
                </a:solidFill>
                <a:effectLst>
                  <a:outerShdw blurRad="38100" dist="38100" dir="2700000" algn="tl">
                    <a:srgbClr val="000000">
                      <a:alpha val="43137"/>
                    </a:srgbClr>
                  </a:outerShdw>
                </a:effectLst>
                <a:uFill>
                  <a:solidFill>
                    <a:srgbClr val="CC00FF"/>
                  </a:solidFill>
                </a:uFill>
              </a:rPr>
              <a:t>sum of deviations of all the observations </a:t>
            </a:r>
            <a:r>
              <a:rPr lang="en-US" sz="2100" dirty="0"/>
              <a:t>xi (i = 1, 2…, n) from the A.M. is always zero, Due to this property, the mean is characterized as a </a:t>
            </a:r>
            <a:r>
              <a:rPr lang="en-US" sz="2100" i="1" dirty="0"/>
              <a:t>point of balance</a:t>
            </a:r>
            <a:r>
              <a:rPr lang="en-US" sz="2100" dirty="0"/>
              <a:t>, i.e. sum of the positive deviations from mean is equal to the sum of the negative deviations from mean.</a:t>
            </a:r>
          </a:p>
          <a:p>
            <a:pPr marL="0" lvl="1" indent="0" algn="just">
              <a:buNone/>
            </a:pPr>
            <a:endParaRPr lang="en-US" sz="2100" i="1" dirty="0" smtClean="0"/>
          </a:p>
          <a:p>
            <a:pPr marL="0" lvl="1" indent="0" algn="just">
              <a:buNone/>
            </a:pPr>
            <a:r>
              <a:rPr lang="en-US" sz="2100" i="1" dirty="0" smtClean="0"/>
              <a:t>2. The </a:t>
            </a:r>
            <a:r>
              <a:rPr lang="en-US" sz="2100" i="1" dirty="0"/>
              <a:t>sum of the squares of the deviations of all the observations from the A.M. is less than the sum of the squares of all the observations from any other quantity</a:t>
            </a:r>
            <a:r>
              <a:rPr lang="en-US" sz="2100" i="1" dirty="0" smtClean="0"/>
              <a:t>.</a:t>
            </a:r>
            <a:r>
              <a:rPr lang="en-US" sz="2100" dirty="0"/>
              <a:t> This property of A.M. is also known as the </a:t>
            </a:r>
            <a:r>
              <a:rPr lang="en-US" sz="2100" i="1" dirty="0"/>
              <a:t>least square property</a:t>
            </a:r>
            <a:r>
              <a:rPr lang="en-US" sz="2100" dirty="0"/>
              <a:t> and shall be quite helpful in defining the concept of standard </a:t>
            </a:r>
            <a:r>
              <a:rPr lang="en-US" sz="2100" dirty="0" smtClean="0"/>
              <a:t>deviation</a:t>
            </a:r>
          </a:p>
          <a:p>
            <a:pPr marL="0" lvl="1" indent="0" algn="just">
              <a:buNone/>
            </a:pPr>
            <a:endParaRPr lang="en-US" sz="2100" dirty="0"/>
          </a:p>
          <a:p>
            <a:pPr marL="0" lvl="1" indent="0" algn="just">
              <a:buNone/>
            </a:pPr>
            <a:r>
              <a:rPr lang="en-US" sz="2100" dirty="0" smtClean="0"/>
              <a:t>3. </a:t>
            </a:r>
            <a:r>
              <a:rPr lang="en-US" sz="2100" i="1" dirty="0"/>
              <a:t>It is possible to calculate the combined (or pooled) arithmetic mean of two or more than two sets of data of the same nature.</a:t>
            </a:r>
            <a:endParaRPr lang="en-US" sz="2100" dirty="0"/>
          </a:p>
          <a:p>
            <a:pPr marL="0" indent="0" algn="just">
              <a:buNone/>
            </a:pPr>
            <a:r>
              <a:rPr lang="en-US" sz="2100" dirty="0"/>
              <a:t>Let   and   be arithmetic means of two sets of data of the same nature of size </a:t>
            </a:r>
            <a:r>
              <a:rPr lang="en-US" sz="2100" i="1" dirty="0"/>
              <a:t>n</a:t>
            </a:r>
            <a:r>
              <a:rPr lang="en-US" sz="2100" baseline="-25000" dirty="0"/>
              <a:t>1</a:t>
            </a:r>
            <a:r>
              <a:rPr lang="en-US" sz="2100" dirty="0"/>
              <a:t> and </a:t>
            </a:r>
            <a:r>
              <a:rPr lang="en-US" sz="2100" i="1" dirty="0"/>
              <a:t>n</a:t>
            </a:r>
            <a:r>
              <a:rPr lang="en-US" sz="2100" baseline="-25000" dirty="0"/>
              <a:t>2</a:t>
            </a:r>
            <a:r>
              <a:rPr lang="en-US" sz="2100" dirty="0"/>
              <a:t>respectively. Then their </a:t>
            </a:r>
            <a:r>
              <a:rPr lang="en-US" sz="2100" i="1" dirty="0"/>
              <a:t>combined A.M.</a:t>
            </a:r>
            <a:r>
              <a:rPr lang="en-US" sz="2100" dirty="0"/>
              <a:t> can be calculated as</a:t>
            </a:r>
            <a:r>
              <a:rPr lang="en-US" sz="2100" dirty="0" smtClean="0"/>
              <a:t>:</a:t>
            </a:r>
          </a:p>
          <a:p>
            <a:endParaRPr lang="en-US" sz="2400" dirty="0"/>
          </a:p>
          <a:p>
            <a:pPr marL="0" lvl="1" indent="0">
              <a:buNone/>
            </a:pPr>
            <a:endParaRPr lang="en-US" sz="2000" dirty="0"/>
          </a:p>
          <a:p>
            <a:pPr marL="0" indent="0">
              <a:buNone/>
            </a:pPr>
            <a:endParaRPr 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5715000"/>
            <a:ext cx="3429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01172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144000" cy="6781800"/>
          </a:xfrm>
        </p:spPr>
        <p:txBody>
          <a:bodyPr>
            <a:normAutofit/>
          </a:bodyPr>
          <a:lstStyle/>
          <a:p>
            <a:pPr marL="0" indent="0" algn="just">
              <a:buNone/>
            </a:pPr>
            <a:r>
              <a:rPr lang="en-US" b="1" dirty="0" smtClean="0">
                <a:solidFill>
                  <a:srgbClr val="FF0000"/>
                </a:solidFill>
              </a:rPr>
              <a:t>MEDIAN</a:t>
            </a:r>
          </a:p>
          <a:p>
            <a:pPr algn="just"/>
            <a:r>
              <a:rPr lang="en-US" dirty="0" smtClean="0"/>
              <a:t>Median </a:t>
            </a:r>
            <a:r>
              <a:rPr lang="en-US" dirty="0"/>
              <a:t>may be defined as the </a:t>
            </a:r>
            <a:r>
              <a:rPr lang="en-US" b="1" u="sng" dirty="0">
                <a:effectLst>
                  <a:outerShdw blurRad="38100" dist="38100" dir="2700000" algn="tl">
                    <a:srgbClr val="000000">
                      <a:alpha val="43137"/>
                    </a:srgbClr>
                  </a:outerShdw>
                </a:effectLst>
              </a:rPr>
              <a:t>middle value in the data set</a:t>
            </a:r>
            <a:r>
              <a:rPr lang="en-US" dirty="0"/>
              <a:t> </a:t>
            </a:r>
            <a:r>
              <a:rPr lang="en-US" dirty="0">
                <a:solidFill>
                  <a:srgbClr val="0066FF"/>
                </a:solidFill>
                <a:effectLst>
                  <a:outerShdw blurRad="38100" dist="38100" dir="2700000" algn="tl">
                    <a:srgbClr val="000000">
                      <a:alpha val="43137"/>
                    </a:srgbClr>
                  </a:outerShdw>
                </a:effectLst>
              </a:rPr>
              <a:t>when its elements are arranged in a </a:t>
            </a:r>
            <a:r>
              <a:rPr lang="en-US" u="sng" dirty="0">
                <a:solidFill>
                  <a:srgbClr val="0066FF"/>
                </a:solidFill>
                <a:effectLst>
                  <a:outerShdw blurRad="38100" dist="38100" dir="2700000" algn="tl">
                    <a:srgbClr val="000000">
                      <a:alpha val="43137"/>
                    </a:srgbClr>
                  </a:outerShdw>
                </a:effectLst>
              </a:rPr>
              <a:t>sequential order</a:t>
            </a:r>
            <a:r>
              <a:rPr lang="en-US" dirty="0"/>
              <a:t>, that is, in </a:t>
            </a:r>
            <a:r>
              <a:rPr lang="en-US" b="1" dirty="0">
                <a:effectLst>
                  <a:outerShdw blurRad="38100" dist="38100" dir="2700000" algn="tl">
                    <a:srgbClr val="000000">
                      <a:alpha val="43137"/>
                    </a:srgbClr>
                  </a:outerShdw>
                </a:effectLst>
              </a:rPr>
              <a:t>either ascending or </a:t>
            </a:r>
            <a:r>
              <a:rPr lang="en-US" b="1" dirty="0" smtClean="0">
                <a:effectLst>
                  <a:outerShdw blurRad="38100" dist="38100" dir="2700000" algn="tl">
                    <a:srgbClr val="000000">
                      <a:alpha val="43137"/>
                    </a:srgbClr>
                  </a:outerShdw>
                </a:effectLst>
              </a:rPr>
              <a:t>descending </a:t>
            </a:r>
            <a:r>
              <a:rPr lang="en-US" b="1" dirty="0">
                <a:effectLst>
                  <a:outerShdw blurRad="38100" dist="38100" dir="2700000" algn="tl">
                    <a:srgbClr val="000000">
                      <a:alpha val="43137"/>
                    </a:srgbClr>
                  </a:outerShdw>
                </a:effectLst>
              </a:rPr>
              <a:t>order of magnitude</a:t>
            </a:r>
            <a:r>
              <a:rPr lang="en-US" dirty="0"/>
              <a:t>. </a:t>
            </a:r>
            <a:endParaRPr lang="en-US" dirty="0" smtClean="0"/>
          </a:p>
          <a:p>
            <a:pPr algn="just"/>
            <a:r>
              <a:rPr lang="en-US" dirty="0" smtClean="0"/>
              <a:t>From the  </a:t>
            </a:r>
            <a:r>
              <a:rPr lang="en-US" u="sng" dirty="0" smtClean="0">
                <a:solidFill>
                  <a:srgbClr val="FF0000"/>
                </a:solidFill>
                <a:effectLst>
                  <a:outerShdw blurRad="38100" dist="38100" dir="2700000" algn="tl">
                    <a:srgbClr val="000000">
                      <a:alpha val="43137"/>
                    </a:srgbClr>
                  </a:outerShdw>
                </a:effectLst>
              </a:rPr>
              <a:t>middle value</a:t>
            </a:r>
            <a:r>
              <a:rPr lang="en-US" dirty="0" smtClean="0">
                <a:solidFill>
                  <a:srgbClr val="FF0000"/>
                </a:solidFill>
                <a:effectLst>
                  <a:outerShdw blurRad="38100" dist="38100" dir="2700000" algn="tl">
                    <a:srgbClr val="000000">
                      <a:alpha val="43137"/>
                    </a:srgbClr>
                  </a:outerShdw>
                </a:effectLst>
              </a:rPr>
              <a:t> </a:t>
            </a:r>
            <a:r>
              <a:rPr lang="en-US" dirty="0" smtClean="0"/>
              <a:t>what we observe is half </a:t>
            </a:r>
            <a:r>
              <a:rPr lang="en-US" dirty="0"/>
              <a:t>of the observations are smaller and half are larger than this value. </a:t>
            </a:r>
            <a:endParaRPr lang="en-US" dirty="0" smtClean="0"/>
          </a:p>
          <a:p>
            <a:pPr algn="just"/>
            <a:r>
              <a:rPr lang="en-US" dirty="0" smtClean="0"/>
              <a:t>The </a:t>
            </a:r>
            <a:r>
              <a:rPr lang="en-US" b="1" u="sng" dirty="0">
                <a:effectLst>
                  <a:outerShdw blurRad="38100" dist="38100" dir="2700000" algn="tl">
                    <a:srgbClr val="000000">
                      <a:alpha val="43137"/>
                    </a:srgbClr>
                  </a:outerShdw>
                </a:effectLst>
              </a:rPr>
              <a:t>median is thus a measure of the location </a:t>
            </a:r>
            <a:r>
              <a:rPr lang="en-US" dirty="0"/>
              <a:t>or centrality of the observations</a:t>
            </a:r>
            <a:r>
              <a:rPr lang="en-US" dirty="0" smtClean="0"/>
              <a:t>.</a:t>
            </a:r>
          </a:p>
          <a:p>
            <a:pPr algn="just"/>
            <a:r>
              <a:rPr lang="en-US" dirty="0">
                <a:solidFill>
                  <a:srgbClr val="0033CC"/>
                </a:solidFill>
              </a:rPr>
              <a:t>The median can be calculated for both ungrouped and grouped data sets.</a:t>
            </a:r>
          </a:p>
          <a:p>
            <a:endParaRPr lang="en-US" dirty="0"/>
          </a:p>
          <a:p>
            <a:endParaRPr lang="en-US" dirty="0"/>
          </a:p>
        </p:txBody>
      </p:sp>
    </p:spTree>
    <p:extLst>
      <p:ext uri="{BB962C8B-B14F-4D97-AF65-F5344CB8AC3E}">
        <p14:creationId xmlns:p14="http://schemas.microsoft.com/office/powerpoint/2010/main" val="20199076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pPr marL="0" indent="0" algn="just">
              <a:buNone/>
            </a:pPr>
            <a:r>
              <a:rPr lang="en-US" sz="2800" b="1" dirty="0" smtClean="0">
                <a:solidFill>
                  <a:srgbClr val="FF0000"/>
                </a:solidFill>
              </a:rPr>
              <a:t>MEDIAN </a:t>
            </a:r>
            <a:r>
              <a:rPr lang="en-US" sz="2800" b="1" dirty="0" smtClean="0">
                <a:solidFill>
                  <a:srgbClr val="0033CC"/>
                </a:solidFill>
              </a:rPr>
              <a:t>INDIVIDUAL SERIES </a:t>
            </a:r>
            <a:r>
              <a:rPr lang="en-US" sz="2400" b="1" i="1" u="sng" dirty="0">
                <a:solidFill>
                  <a:schemeClr val="tx1">
                    <a:lumMod val="95000"/>
                    <a:lumOff val="5000"/>
                  </a:schemeClr>
                </a:solidFill>
              </a:rPr>
              <a:t>(</a:t>
            </a:r>
            <a:r>
              <a:rPr lang="en-US" sz="2400" b="1" u="sng" dirty="0">
                <a:solidFill>
                  <a:schemeClr val="tx1">
                    <a:lumMod val="95000"/>
                    <a:lumOff val="5000"/>
                  </a:schemeClr>
                </a:solidFill>
              </a:rPr>
              <a:t>ungrouped</a:t>
            </a:r>
            <a:r>
              <a:rPr lang="en-US" sz="2400" b="1" i="1" u="sng" dirty="0">
                <a:solidFill>
                  <a:schemeClr val="tx1">
                    <a:lumMod val="95000"/>
                    <a:lumOff val="5000"/>
                  </a:schemeClr>
                </a:solidFill>
              </a:rPr>
              <a:t>)</a:t>
            </a:r>
            <a:endParaRPr lang="en-US" sz="2400" b="1" u="sng" dirty="0">
              <a:solidFill>
                <a:schemeClr val="tx1">
                  <a:lumMod val="95000"/>
                  <a:lumOff val="5000"/>
                </a:schemeClr>
              </a:solidFill>
            </a:endParaRPr>
          </a:p>
          <a:p>
            <a:pPr marL="0" indent="0" algn="ctr">
              <a:buNone/>
            </a:pPr>
            <a:r>
              <a:rPr lang="en-US" sz="2400" b="1" dirty="0" smtClean="0">
                <a:solidFill>
                  <a:srgbClr val="FF0000"/>
                </a:solidFill>
                <a:effectLst>
                  <a:outerShdw blurRad="38100" dist="38100" dir="2700000" algn="tl">
                    <a:srgbClr val="000000">
                      <a:alpha val="43137"/>
                    </a:srgbClr>
                  </a:outerShdw>
                </a:effectLst>
              </a:rPr>
              <a:t>If </a:t>
            </a:r>
            <a:r>
              <a:rPr lang="en-US" sz="2400" b="1" dirty="0">
                <a:solidFill>
                  <a:srgbClr val="FF0000"/>
                </a:solidFill>
                <a:effectLst>
                  <a:outerShdw blurRad="38100" dist="38100" dir="2700000" algn="tl">
                    <a:srgbClr val="000000">
                      <a:alpha val="43137"/>
                    </a:srgbClr>
                  </a:outerShdw>
                </a:effectLst>
              </a:rPr>
              <a:t>the number of observations (</a:t>
            </a:r>
            <a:r>
              <a:rPr lang="en-US" sz="2400" b="1" i="1" dirty="0">
                <a:solidFill>
                  <a:srgbClr val="FF0000"/>
                </a:solidFill>
                <a:effectLst>
                  <a:outerShdw blurRad="38100" dist="38100" dir="2700000" algn="tl">
                    <a:srgbClr val="000000">
                      <a:alpha val="43137"/>
                    </a:srgbClr>
                  </a:outerShdw>
                </a:effectLst>
              </a:rPr>
              <a:t>n</a:t>
            </a:r>
            <a:r>
              <a:rPr lang="en-US" sz="2400" b="1" dirty="0">
                <a:solidFill>
                  <a:srgbClr val="FF0000"/>
                </a:solidFill>
                <a:effectLst>
                  <a:outerShdw blurRad="38100" dist="38100" dir="2700000" algn="tl">
                    <a:srgbClr val="000000">
                      <a:alpha val="43137"/>
                    </a:srgbClr>
                  </a:outerShdw>
                </a:effectLst>
              </a:rPr>
              <a:t>) is an</a:t>
            </a:r>
            <a:r>
              <a:rPr lang="en-US" sz="2400" b="1" u="sng" dirty="0">
                <a:solidFill>
                  <a:srgbClr val="FF0000"/>
                </a:solidFill>
                <a:effectLst>
                  <a:outerShdw blurRad="38100" dist="38100" dir="2700000" algn="tl">
                    <a:srgbClr val="000000">
                      <a:alpha val="43137"/>
                    </a:srgbClr>
                  </a:outerShdw>
                </a:effectLst>
              </a:rPr>
              <a:t> </a:t>
            </a:r>
            <a:r>
              <a:rPr lang="en-US" sz="2400" b="1" i="1" u="sng" dirty="0">
                <a:solidFill>
                  <a:srgbClr val="0066FF"/>
                </a:solidFill>
                <a:effectLst>
                  <a:outerShdw blurRad="38100" dist="38100" dir="2700000" algn="tl">
                    <a:srgbClr val="000000">
                      <a:alpha val="43137"/>
                    </a:srgbClr>
                  </a:outerShdw>
                </a:effectLst>
              </a:rPr>
              <a:t>odd </a:t>
            </a:r>
            <a:r>
              <a:rPr lang="en-US" sz="2400" b="1" i="1" u="sng" dirty="0" smtClean="0">
                <a:solidFill>
                  <a:srgbClr val="0066FF"/>
                </a:solidFill>
                <a:effectLst>
                  <a:outerShdw blurRad="38100" dist="38100" dir="2700000" algn="tl">
                    <a:srgbClr val="000000">
                      <a:alpha val="43137"/>
                    </a:srgbClr>
                  </a:outerShdw>
                </a:effectLst>
              </a:rPr>
              <a:t>number</a:t>
            </a:r>
            <a:endParaRPr lang="en-US" sz="2400" u="sng" dirty="0" smtClean="0">
              <a:solidFill>
                <a:srgbClr val="0066FF"/>
              </a:solidFill>
              <a:effectLst>
                <a:outerShdw blurRad="38100" dist="38100" dir="2700000" algn="tl">
                  <a:srgbClr val="000000">
                    <a:alpha val="43137"/>
                  </a:srgbClr>
                </a:outerShdw>
              </a:effectLst>
            </a:endParaRPr>
          </a:p>
          <a:p>
            <a:pPr algn="just"/>
            <a:endParaRPr lang="en-US" sz="2400" b="1" u="sng" dirty="0" smtClean="0">
              <a:solidFill>
                <a:srgbClr val="FF0000"/>
              </a:solidFill>
              <a:effectLst>
                <a:outerShdw blurRad="38100" dist="38100" dir="2700000" algn="tl">
                  <a:srgbClr val="000000">
                    <a:alpha val="43137"/>
                  </a:srgbClr>
                </a:outerShdw>
              </a:effectLst>
            </a:endParaRPr>
          </a:p>
          <a:p>
            <a:pPr algn="just"/>
            <a:r>
              <a:rPr lang="en-US" sz="2400" b="1" u="sng" dirty="0" smtClean="0">
                <a:solidFill>
                  <a:srgbClr val="FF0000"/>
                </a:solidFill>
                <a:effectLst>
                  <a:outerShdw blurRad="38100" dist="38100" dir="2700000" algn="tl">
                    <a:srgbClr val="000000">
                      <a:alpha val="43137"/>
                    </a:srgbClr>
                  </a:outerShdw>
                </a:effectLst>
              </a:rPr>
              <a:t>EX. </a:t>
            </a:r>
            <a:r>
              <a:rPr lang="en-US" sz="2400" dirty="0" smtClean="0"/>
              <a:t>Calculate </a:t>
            </a:r>
            <a:r>
              <a:rPr lang="en-US" sz="2400" dirty="0"/>
              <a:t>the median of the following data that relates to the service time (in minutes) per customer for 7 customers at a railway reservation counter: 3.5, 4.5, 3, 3.8, 5.0, 5.5, </a:t>
            </a:r>
            <a:r>
              <a:rPr lang="en-US" sz="2400" dirty="0" smtClean="0"/>
              <a:t>4</a:t>
            </a:r>
          </a:p>
          <a:p>
            <a:pPr algn="just"/>
            <a:endParaRPr lang="en-US" sz="2400" dirty="0"/>
          </a:p>
          <a:p>
            <a:pPr algn="just"/>
            <a:r>
              <a:rPr lang="en-US" sz="2400" dirty="0"/>
              <a:t>Solution: The </a:t>
            </a:r>
            <a:r>
              <a:rPr lang="en-US" sz="2400" u="sng" dirty="0">
                <a:solidFill>
                  <a:srgbClr val="FF0000"/>
                </a:solidFill>
                <a:effectLst>
                  <a:outerShdw blurRad="38100" dist="38100" dir="2700000" algn="tl">
                    <a:srgbClr val="000000">
                      <a:alpha val="43137"/>
                    </a:srgbClr>
                  </a:outerShdw>
                </a:effectLst>
              </a:rPr>
              <a:t>data are arranged </a:t>
            </a:r>
            <a:r>
              <a:rPr lang="en-US" sz="2400" dirty="0"/>
              <a:t>in </a:t>
            </a:r>
            <a:r>
              <a:rPr lang="en-US" sz="2400" b="1" u="sng" dirty="0">
                <a:effectLst>
                  <a:outerShdw blurRad="38100" dist="38100" dir="2700000" algn="tl">
                    <a:srgbClr val="000000">
                      <a:alpha val="43137"/>
                    </a:srgbClr>
                  </a:outerShdw>
                </a:effectLst>
              </a:rPr>
              <a:t>ascending order</a:t>
            </a:r>
            <a:r>
              <a:rPr lang="en-US" sz="2400" dirty="0"/>
              <a:t> as </a:t>
            </a:r>
            <a:r>
              <a:rPr lang="en-US" sz="2400" dirty="0" smtClean="0"/>
              <a:t>follows: The </a:t>
            </a:r>
            <a:r>
              <a:rPr lang="en-US" sz="2400" dirty="0"/>
              <a:t>median for this data would be</a:t>
            </a:r>
          </a:p>
          <a:p>
            <a:pPr marL="0" indent="0" algn="just">
              <a:buNone/>
            </a:pPr>
            <a:r>
              <a:rPr lang="en-US" sz="2400" dirty="0"/>
              <a:t> </a:t>
            </a:r>
          </a:p>
          <a:p>
            <a:pPr marL="0" indent="0" algn="just">
              <a:buNone/>
            </a:pPr>
            <a:endParaRPr lang="en-US" sz="2400" dirty="0" smtClean="0"/>
          </a:p>
          <a:p>
            <a:pPr marL="0" indent="0" algn="just">
              <a:buNone/>
            </a:pPr>
            <a:endParaRPr lang="en-US" sz="2400" dirty="0"/>
          </a:p>
          <a:p>
            <a:pPr marL="0" indent="0" algn="ctr">
              <a:buNone/>
            </a:pPr>
            <a:endParaRPr lang="en-US" sz="2400" dirty="0" smtClean="0"/>
          </a:p>
          <a:p>
            <a:pPr marL="0" indent="0" algn="ctr">
              <a:buNone/>
            </a:pPr>
            <a:r>
              <a:rPr lang="en-US" sz="2400" dirty="0" smtClean="0"/>
              <a:t> </a:t>
            </a:r>
            <a:r>
              <a:rPr lang="en-US" sz="2400" b="1" dirty="0" smtClean="0">
                <a:solidFill>
                  <a:srgbClr val="CC00FF"/>
                </a:solidFill>
                <a:effectLst>
                  <a:outerShdw blurRad="38100" dist="38100" dir="2700000" algn="tl">
                    <a:srgbClr val="000000">
                      <a:alpha val="43137"/>
                    </a:srgbClr>
                  </a:outerShdw>
                </a:effectLst>
              </a:rPr>
              <a:t>Med </a:t>
            </a:r>
            <a:r>
              <a:rPr lang="en-US" sz="2400" b="1" dirty="0">
                <a:solidFill>
                  <a:srgbClr val="CC00FF"/>
                </a:solidFill>
                <a:effectLst>
                  <a:outerShdw blurRad="38100" dist="38100" dir="2700000" algn="tl">
                    <a:srgbClr val="000000">
                      <a:alpha val="43137"/>
                    </a:srgbClr>
                  </a:outerShdw>
                </a:effectLst>
              </a:rPr>
              <a:t>= </a:t>
            </a:r>
            <a:r>
              <a:rPr lang="en-US" sz="2400" b="1" dirty="0">
                <a:solidFill>
                  <a:schemeClr val="tx1">
                    <a:lumMod val="95000"/>
                    <a:lumOff val="5000"/>
                  </a:schemeClr>
                </a:solidFill>
                <a:effectLst>
                  <a:outerShdw blurRad="38100" dist="38100" dir="2700000" algn="tl">
                    <a:srgbClr val="000000">
                      <a:alpha val="43137"/>
                    </a:srgbClr>
                  </a:outerShdw>
                </a:effectLst>
              </a:rPr>
              <a:t>value of </a:t>
            </a:r>
            <a:r>
              <a:rPr lang="en-US" sz="2400" b="1" dirty="0" smtClean="0">
                <a:solidFill>
                  <a:schemeClr val="tx1">
                    <a:lumMod val="95000"/>
                    <a:lumOff val="5000"/>
                  </a:schemeClr>
                </a:solidFill>
                <a:effectLst>
                  <a:outerShdw blurRad="38100" dist="38100" dir="2700000" algn="tl">
                    <a:srgbClr val="000000">
                      <a:alpha val="43137"/>
                    </a:srgbClr>
                  </a:outerShdw>
                </a:effectLst>
              </a:rPr>
              <a:t> (</a:t>
            </a:r>
            <a:r>
              <a:rPr lang="en-US" sz="2400" b="1" i="1" dirty="0">
                <a:solidFill>
                  <a:schemeClr val="tx1">
                    <a:lumMod val="95000"/>
                    <a:lumOff val="5000"/>
                  </a:schemeClr>
                </a:solidFill>
                <a:effectLst>
                  <a:outerShdw blurRad="38100" dist="38100" dir="2700000" algn="tl">
                    <a:srgbClr val="000000">
                      <a:alpha val="43137"/>
                    </a:srgbClr>
                  </a:outerShdw>
                </a:effectLst>
              </a:rPr>
              <a:t>n</a:t>
            </a:r>
            <a:r>
              <a:rPr lang="en-US" sz="2400" b="1" dirty="0">
                <a:solidFill>
                  <a:schemeClr val="tx1">
                    <a:lumMod val="95000"/>
                    <a:lumOff val="5000"/>
                  </a:schemeClr>
                </a:solidFill>
                <a:effectLst>
                  <a:outerShdw blurRad="38100" dist="38100" dir="2700000" algn="tl">
                    <a:srgbClr val="000000">
                      <a:alpha val="43137"/>
                    </a:srgbClr>
                  </a:outerShdw>
                </a:effectLst>
              </a:rPr>
              <a:t> + 1)/2  </a:t>
            </a:r>
            <a:r>
              <a:rPr lang="en-US" sz="2400" b="1" dirty="0" smtClean="0">
                <a:solidFill>
                  <a:schemeClr val="tx1">
                    <a:lumMod val="95000"/>
                    <a:lumOff val="5000"/>
                  </a:schemeClr>
                </a:solidFill>
                <a:effectLst>
                  <a:outerShdw blurRad="38100" dist="38100" dir="2700000" algn="tl">
                    <a:srgbClr val="000000">
                      <a:alpha val="43137"/>
                    </a:srgbClr>
                  </a:outerShdw>
                </a:effectLst>
              </a:rPr>
              <a:t> </a:t>
            </a:r>
            <a:r>
              <a:rPr lang="en-US" sz="2400" b="1" dirty="0">
                <a:solidFill>
                  <a:srgbClr val="CC00FF"/>
                </a:solidFill>
                <a:effectLst>
                  <a:outerShdw blurRad="38100" dist="38100" dir="2700000" algn="tl">
                    <a:srgbClr val="000000">
                      <a:alpha val="43137"/>
                    </a:srgbClr>
                  </a:outerShdw>
                </a:effectLst>
              </a:rPr>
              <a:t>observation in the data </a:t>
            </a:r>
            <a:r>
              <a:rPr lang="en-US" sz="2400" b="1" dirty="0" smtClean="0">
                <a:solidFill>
                  <a:srgbClr val="CC00FF"/>
                </a:solidFill>
                <a:effectLst>
                  <a:outerShdw blurRad="38100" dist="38100" dir="2700000" algn="tl">
                    <a:srgbClr val="000000">
                      <a:alpha val="43137"/>
                    </a:srgbClr>
                  </a:outerShdw>
                </a:effectLst>
              </a:rPr>
              <a:t>array</a:t>
            </a:r>
          </a:p>
          <a:p>
            <a:pPr marL="0" indent="0" algn="r">
              <a:buNone/>
            </a:pPr>
            <a:r>
              <a:rPr lang="en-US" sz="2400" b="1" dirty="0" smtClean="0">
                <a:solidFill>
                  <a:schemeClr val="tx1">
                    <a:lumMod val="95000"/>
                    <a:lumOff val="5000"/>
                  </a:schemeClr>
                </a:solidFill>
                <a:effectLst>
                  <a:outerShdw blurRad="38100" dist="38100" dir="2700000" algn="tl">
                    <a:srgbClr val="000000">
                      <a:alpha val="43137"/>
                    </a:srgbClr>
                  </a:outerShdw>
                </a:effectLst>
              </a:rPr>
              <a:t>{(</a:t>
            </a:r>
            <a:r>
              <a:rPr lang="en-US" sz="2400" b="1" dirty="0">
                <a:solidFill>
                  <a:schemeClr val="tx1">
                    <a:lumMod val="95000"/>
                    <a:lumOff val="5000"/>
                  </a:schemeClr>
                </a:solidFill>
                <a:effectLst>
                  <a:outerShdw blurRad="38100" dist="38100" dir="2700000" algn="tl">
                    <a:srgbClr val="000000">
                      <a:alpha val="43137"/>
                    </a:srgbClr>
                  </a:outerShdw>
                </a:effectLst>
              </a:rPr>
              <a:t>7 + 1) ÷ 2</a:t>
            </a:r>
            <a:r>
              <a:rPr lang="en-US" sz="2400" b="1" dirty="0" smtClean="0">
                <a:solidFill>
                  <a:schemeClr val="tx1">
                    <a:lumMod val="95000"/>
                    <a:lumOff val="5000"/>
                  </a:schemeClr>
                </a:solidFill>
                <a:effectLst>
                  <a:outerShdw blurRad="38100" dist="38100" dir="2700000" algn="tl">
                    <a:srgbClr val="000000">
                      <a:alpha val="43137"/>
                    </a:srgbClr>
                  </a:outerShdw>
                </a:effectLst>
              </a:rPr>
              <a:t>}  </a:t>
            </a:r>
            <a:r>
              <a:rPr lang="en-US" sz="2400" b="1" dirty="0">
                <a:solidFill>
                  <a:srgbClr val="CC00FF"/>
                </a:solidFill>
                <a:effectLst>
                  <a:outerShdw blurRad="38100" dist="38100" dir="2700000" algn="tl">
                    <a:srgbClr val="000000">
                      <a:alpha val="43137"/>
                    </a:srgbClr>
                  </a:outerShdw>
                </a:effectLst>
              </a:rPr>
              <a:t>= 4</a:t>
            </a:r>
            <a:r>
              <a:rPr lang="en-US" sz="2400" b="1" baseline="30000" dirty="0">
                <a:solidFill>
                  <a:srgbClr val="CC00FF"/>
                </a:solidFill>
                <a:effectLst>
                  <a:outerShdw blurRad="38100" dist="38100" dir="2700000" algn="tl">
                    <a:srgbClr val="000000">
                      <a:alpha val="43137"/>
                    </a:srgbClr>
                  </a:outerShdw>
                </a:effectLst>
              </a:rPr>
              <a:t>th</a:t>
            </a:r>
            <a:r>
              <a:rPr lang="en-US" sz="2400" b="1" dirty="0">
                <a:solidFill>
                  <a:srgbClr val="CC00FF"/>
                </a:solidFill>
                <a:effectLst>
                  <a:outerShdw blurRad="38100" dist="38100" dir="2700000" algn="tl">
                    <a:srgbClr val="000000">
                      <a:alpha val="43137"/>
                    </a:srgbClr>
                  </a:outerShdw>
                </a:effectLst>
              </a:rPr>
              <a:t> </a:t>
            </a:r>
            <a:r>
              <a:rPr lang="en-US" sz="2400" b="1" dirty="0" smtClean="0">
                <a:solidFill>
                  <a:srgbClr val="CC00FF"/>
                </a:solidFill>
                <a:effectLst>
                  <a:outerShdw blurRad="38100" dist="38100" dir="2700000" algn="tl">
                    <a:srgbClr val="000000">
                      <a:alpha val="43137"/>
                    </a:srgbClr>
                  </a:outerShdw>
                </a:effectLst>
              </a:rPr>
              <a:t>observation  </a:t>
            </a:r>
            <a:r>
              <a:rPr lang="en-US" sz="2400" b="1" dirty="0" smtClean="0">
                <a:solidFill>
                  <a:srgbClr val="CC00FF"/>
                </a:solidFill>
                <a:effectLst>
                  <a:outerShdw blurRad="38100" dist="38100" dir="2700000" algn="tl">
                    <a:srgbClr val="000000">
                      <a:alpha val="43137"/>
                    </a:srgbClr>
                  </a:outerShdw>
                </a:effectLst>
                <a:sym typeface="Wingdings" pitchFamily="2" charset="2"/>
              </a:rPr>
              <a:t></a:t>
            </a:r>
            <a:r>
              <a:rPr lang="en-US" sz="2400" b="1" dirty="0" smtClean="0">
                <a:solidFill>
                  <a:srgbClr val="CC00FF"/>
                </a:solidFill>
                <a:effectLst>
                  <a:outerShdw blurRad="38100" dist="38100" dir="2700000" algn="tl">
                    <a:srgbClr val="000000">
                      <a:alpha val="43137"/>
                    </a:srgbClr>
                  </a:outerShdw>
                </a:effectLst>
              </a:rPr>
              <a:t> corresponding item  i.e., in </a:t>
            </a:r>
            <a:r>
              <a:rPr lang="en-US" sz="2400" b="1" dirty="0">
                <a:solidFill>
                  <a:srgbClr val="CC00FF"/>
                </a:solidFill>
                <a:effectLst>
                  <a:outerShdw blurRad="38100" dist="38100" dir="2700000" algn="tl">
                    <a:srgbClr val="000000">
                      <a:alpha val="43137"/>
                    </a:srgbClr>
                  </a:outerShdw>
                </a:effectLst>
              </a:rPr>
              <a:t>the data array = </a:t>
            </a:r>
            <a:r>
              <a:rPr lang="en-US" sz="2400" b="1" dirty="0" smtClean="0">
                <a:solidFill>
                  <a:srgbClr val="CC00FF"/>
                </a:solidFill>
                <a:effectLst>
                  <a:outerShdw blurRad="38100" dist="38100" dir="2700000" algn="tl">
                    <a:srgbClr val="000000">
                      <a:alpha val="43137"/>
                    </a:srgbClr>
                  </a:outerShdw>
                </a:effectLst>
              </a:rPr>
              <a:t> 4  minutes (service)</a:t>
            </a:r>
            <a:endParaRPr lang="en-US" sz="2400" b="1" dirty="0">
              <a:solidFill>
                <a:srgbClr val="CC00FF"/>
              </a:solidFill>
              <a:effectLst>
                <a:outerShdw blurRad="38100" dist="38100" dir="2700000" algn="tl">
                  <a:srgbClr val="000000">
                    <a:alpha val="43137"/>
                  </a:srgbClr>
                </a:outerShdw>
              </a:effectLst>
            </a:endParaRPr>
          </a:p>
          <a:p>
            <a:pPr marL="0" indent="0" algn="just">
              <a:buNone/>
            </a:pPr>
            <a:r>
              <a:rPr lang="en-US" sz="2400" dirty="0"/>
              <a:t> </a:t>
            </a:r>
          </a:p>
          <a:p>
            <a:pPr marL="0" indent="0" algn="ctr">
              <a:buNone/>
            </a:pPr>
            <a:r>
              <a:rPr lang="en-US" sz="2400" b="1" u="sng" dirty="0">
                <a:effectLst>
                  <a:outerShdw blurRad="38100" dist="38100" dir="2700000" algn="tl">
                    <a:srgbClr val="000000">
                      <a:alpha val="43137"/>
                    </a:srgbClr>
                  </a:outerShdw>
                </a:effectLst>
              </a:rPr>
              <a:t>Thus the median service time </a:t>
            </a:r>
            <a:r>
              <a:rPr lang="en-US" sz="2400" dirty="0"/>
              <a:t>is </a:t>
            </a:r>
            <a:r>
              <a:rPr lang="en-US" sz="2400" b="1" u="sng" dirty="0">
                <a:solidFill>
                  <a:schemeClr val="accent4">
                    <a:lumMod val="75000"/>
                  </a:schemeClr>
                </a:solidFill>
                <a:effectLst>
                  <a:outerShdw blurRad="38100" dist="38100" dir="2700000" algn="tl">
                    <a:srgbClr val="000000">
                      <a:alpha val="43137"/>
                    </a:srgbClr>
                  </a:outerShdw>
                </a:effectLst>
              </a:rPr>
              <a:t>4 minutes per customer</a:t>
            </a:r>
            <a:r>
              <a:rPr lang="en-US" sz="2400" dirty="0"/>
              <a:t>.</a:t>
            </a:r>
          </a:p>
          <a:p>
            <a:endParaRPr lang="en-US" sz="2400" dirty="0" smtClean="0"/>
          </a:p>
          <a:p>
            <a:endParaRPr lang="en-US" sz="2400" dirty="0"/>
          </a:p>
          <a:p>
            <a:endParaRPr lang="en-US" sz="2400" dirty="0"/>
          </a:p>
        </p:txBody>
      </p:sp>
      <p:pic>
        <p:nvPicPr>
          <p:cNvPr id="4" name="img-109_3"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3429000"/>
            <a:ext cx="8610600" cy="838200"/>
          </a:xfrm>
          <a:prstGeom prst="rect">
            <a:avLst/>
          </a:prstGeom>
          <a:noFill/>
          <a:ln>
            <a:noFill/>
          </a:ln>
        </p:spPr>
      </p:pic>
    </p:spTree>
    <p:extLst>
      <p:ext uri="{BB962C8B-B14F-4D97-AF65-F5344CB8AC3E}">
        <p14:creationId xmlns:p14="http://schemas.microsoft.com/office/powerpoint/2010/main" val="214995750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marL="0" indent="0" algn="just">
              <a:buNone/>
            </a:pPr>
            <a:r>
              <a:rPr lang="en-US" sz="2400" b="1" dirty="0">
                <a:solidFill>
                  <a:srgbClr val="FF0000"/>
                </a:solidFill>
              </a:rPr>
              <a:t>MEDIAN </a:t>
            </a:r>
            <a:r>
              <a:rPr lang="en-US" sz="2400" b="1" dirty="0" smtClean="0">
                <a:solidFill>
                  <a:srgbClr val="0033CC"/>
                </a:solidFill>
              </a:rPr>
              <a:t>INDIVIDUAL SERIES </a:t>
            </a:r>
            <a:r>
              <a:rPr lang="en-US" sz="2400" i="1" u="sng" dirty="0">
                <a:solidFill>
                  <a:schemeClr val="tx1">
                    <a:lumMod val="95000"/>
                    <a:lumOff val="5000"/>
                  </a:schemeClr>
                </a:solidFill>
                <a:effectLst>
                  <a:outerShdw blurRad="38100" dist="38100" dir="2700000" algn="tl">
                    <a:srgbClr val="000000">
                      <a:alpha val="43137"/>
                    </a:srgbClr>
                  </a:outerShdw>
                </a:effectLst>
              </a:rPr>
              <a:t>(</a:t>
            </a:r>
            <a:r>
              <a:rPr lang="en-US" sz="2400" u="sng" dirty="0">
                <a:solidFill>
                  <a:schemeClr val="tx1">
                    <a:lumMod val="95000"/>
                    <a:lumOff val="5000"/>
                  </a:schemeClr>
                </a:solidFill>
                <a:effectLst>
                  <a:outerShdw blurRad="38100" dist="38100" dir="2700000" algn="tl">
                    <a:srgbClr val="000000">
                      <a:alpha val="43137"/>
                    </a:srgbClr>
                  </a:outerShdw>
                </a:effectLst>
              </a:rPr>
              <a:t>ungrouped</a:t>
            </a:r>
            <a:r>
              <a:rPr lang="en-US" sz="2400" i="1" u="sng" dirty="0">
                <a:solidFill>
                  <a:schemeClr val="tx1">
                    <a:lumMod val="95000"/>
                    <a:lumOff val="5000"/>
                  </a:schemeClr>
                </a:solidFill>
                <a:effectLst>
                  <a:outerShdw blurRad="38100" dist="38100" dir="2700000" algn="tl">
                    <a:srgbClr val="000000">
                      <a:alpha val="43137"/>
                    </a:srgbClr>
                  </a:outerShdw>
                </a:effectLst>
              </a:rPr>
              <a:t>)</a:t>
            </a:r>
            <a:endParaRPr lang="en-US" sz="2400" u="sng" dirty="0">
              <a:solidFill>
                <a:schemeClr val="tx1">
                  <a:lumMod val="95000"/>
                  <a:lumOff val="5000"/>
                </a:schemeClr>
              </a:solidFill>
              <a:effectLst>
                <a:outerShdw blurRad="38100" dist="38100" dir="2700000" algn="tl">
                  <a:srgbClr val="000000">
                    <a:alpha val="43137"/>
                  </a:srgbClr>
                </a:outerShdw>
              </a:effectLst>
            </a:endParaRPr>
          </a:p>
          <a:p>
            <a:pPr marL="0" indent="0" algn="ctr">
              <a:buNone/>
            </a:pPr>
            <a:r>
              <a:rPr lang="en-US" sz="2400" b="1" dirty="0" smtClean="0">
                <a:solidFill>
                  <a:srgbClr val="FF0000"/>
                </a:solidFill>
              </a:rPr>
              <a:t>If </a:t>
            </a:r>
            <a:r>
              <a:rPr lang="en-US" sz="2400" b="1" dirty="0">
                <a:solidFill>
                  <a:srgbClr val="FF0000"/>
                </a:solidFill>
              </a:rPr>
              <a:t>the number of observations (</a:t>
            </a:r>
            <a:r>
              <a:rPr lang="en-US" sz="2400" b="1" i="1" dirty="0">
                <a:solidFill>
                  <a:srgbClr val="FF0000"/>
                </a:solidFill>
              </a:rPr>
              <a:t>n</a:t>
            </a:r>
            <a:r>
              <a:rPr lang="en-US" sz="2400" b="1" dirty="0">
                <a:solidFill>
                  <a:srgbClr val="FF0000"/>
                </a:solidFill>
              </a:rPr>
              <a:t>) is an </a:t>
            </a:r>
            <a:r>
              <a:rPr lang="en-US" sz="2400" b="1" i="1" u="sng" dirty="0" smtClean="0">
                <a:solidFill>
                  <a:schemeClr val="bg2">
                    <a:lumMod val="10000"/>
                  </a:schemeClr>
                </a:solidFill>
              </a:rPr>
              <a:t>Even number</a:t>
            </a:r>
            <a:endParaRPr lang="en-US" sz="2400" u="sng" dirty="0" smtClean="0">
              <a:solidFill>
                <a:schemeClr val="bg2">
                  <a:lumMod val="10000"/>
                </a:schemeClr>
              </a:solidFill>
            </a:endParaRPr>
          </a:p>
          <a:p>
            <a:pPr algn="just"/>
            <a:r>
              <a:rPr lang="en-US" sz="2400" dirty="0" smtClean="0"/>
              <a:t>Calculate </a:t>
            </a:r>
            <a:r>
              <a:rPr lang="en-US" sz="2400" dirty="0"/>
              <a:t>the median of the following data that relates to the number of patients examined per hour in the outpatient </a:t>
            </a:r>
            <a:r>
              <a:rPr lang="en-US" sz="2400" dirty="0" smtClean="0"/>
              <a:t>ward </a:t>
            </a:r>
            <a:r>
              <a:rPr lang="en-US" sz="2400" dirty="0"/>
              <a:t>(OPD) in a hospital: 10, 12, 15, 20, 13, 24, 17, 18</a:t>
            </a:r>
          </a:p>
          <a:p>
            <a:pPr algn="just"/>
            <a:r>
              <a:rPr lang="en-US" sz="2400" b="1" dirty="0">
                <a:solidFill>
                  <a:srgbClr val="00B0F0"/>
                </a:solidFill>
              </a:rPr>
              <a:t>Solution</a:t>
            </a:r>
            <a:r>
              <a:rPr lang="en-US" sz="2400" dirty="0"/>
              <a:t>: The </a:t>
            </a:r>
            <a:r>
              <a:rPr lang="en-US" sz="2400" b="1" dirty="0">
                <a:effectLst>
                  <a:outerShdw blurRad="38100" dist="38100" dir="2700000" algn="tl">
                    <a:srgbClr val="000000">
                      <a:alpha val="43137"/>
                    </a:srgbClr>
                  </a:outerShdw>
                </a:effectLst>
              </a:rPr>
              <a:t>data are arranged </a:t>
            </a:r>
            <a:r>
              <a:rPr lang="en-US" sz="2400" dirty="0"/>
              <a:t>in </a:t>
            </a:r>
            <a:r>
              <a:rPr lang="en-US" sz="2400" b="1" u="sng" dirty="0">
                <a:solidFill>
                  <a:srgbClr val="00B050"/>
                </a:solidFill>
                <a:effectLst>
                  <a:outerShdw blurRad="38100" dist="38100" dir="2700000" algn="tl">
                    <a:srgbClr val="000000">
                      <a:alpha val="43137"/>
                    </a:srgbClr>
                  </a:outerShdw>
                </a:effectLst>
              </a:rPr>
              <a:t>ascending orde</a:t>
            </a:r>
            <a:r>
              <a:rPr lang="en-US" sz="2400" b="1" i="1" u="sng" dirty="0">
                <a:solidFill>
                  <a:srgbClr val="00B050"/>
                </a:solidFill>
                <a:effectLst>
                  <a:outerShdw blurRad="38100" dist="38100" dir="2700000" algn="tl">
                    <a:srgbClr val="000000">
                      <a:alpha val="43137"/>
                    </a:srgbClr>
                  </a:outerShdw>
                </a:effectLst>
              </a:rPr>
              <a:t>r</a:t>
            </a:r>
            <a:r>
              <a:rPr lang="en-US" sz="2400" dirty="0"/>
              <a:t> as follows</a:t>
            </a:r>
            <a:r>
              <a:rPr lang="en-US" sz="2400" dirty="0" smtClean="0"/>
              <a:t>:</a:t>
            </a:r>
          </a:p>
          <a:p>
            <a:pPr algn="just"/>
            <a:endParaRPr lang="en-US" sz="2400" dirty="0" smtClean="0"/>
          </a:p>
          <a:p>
            <a:pPr algn="just"/>
            <a:endParaRPr lang="en-US" sz="2400" dirty="0" smtClean="0"/>
          </a:p>
          <a:p>
            <a:pPr algn="just"/>
            <a:endParaRPr lang="en-US" sz="2400" dirty="0" smtClean="0"/>
          </a:p>
          <a:p>
            <a:pPr marL="0" indent="0" algn="just">
              <a:buNone/>
            </a:pPr>
            <a:r>
              <a:rPr lang="en-US" sz="2400" dirty="0"/>
              <a:t> </a:t>
            </a:r>
            <a:endParaRPr lang="en-US" sz="2400" dirty="0" smtClean="0"/>
          </a:p>
          <a:p>
            <a:pPr algn="just"/>
            <a:r>
              <a:rPr lang="en-US" sz="2000" dirty="0" smtClean="0"/>
              <a:t>Med </a:t>
            </a:r>
            <a:r>
              <a:rPr lang="en-US" sz="2000" dirty="0"/>
              <a:t>= value of </a:t>
            </a:r>
            <a:r>
              <a:rPr lang="en-US" sz="2000" dirty="0" smtClean="0"/>
              <a:t> </a:t>
            </a:r>
            <a:r>
              <a:rPr lang="en-US" sz="2000" b="1" dirty="0" smtClean="0"/>
              <a:t>(</a:t>
            </a:r>
            <a:r>
              <a:rPr lang="en-US" sz="2000" b="1" i="1" dirty="0"/>
              <a:t>n</a:t>
            </a:r>
            <a:r>
              <a:rPr lang="en-US" sz="2000" b="1" dirty="0"/>
              <a:t> + 1)/2 </a:t>
            </a:r>
            <a:r>
              <a:rPr lang="en-US" sz="2000" dirty="0" smtClean="0"/>
              <a:t>observation </a:t>
            </a:r>
            <a:r>
              <a:rPr lang="en-US" sz="2000" dirty="0"/>
              <a:t>in the data </a:t>
            </a:r>
            <a:r>
              <a:rPr lang="en-US" sz="2000" dirty="0" smtClean="0"/>
              <a:t>array , </a:t>
            </a:r>
          </a:p>
          <a:p>
            <a:pPr algn="just"/>
            <a:r>
              <a:rPr lang="en-US" sz="2400" dirty="0" smtClean="0"/>
              <a:t>i.e., </a:t>
            </a:r>
            <a:r>
              <a:rPr lang="en-US" sz="2400" b="1" dirty="0" smtClean="0">
                <a:solidFill>
                  <a:srgbClr val="0066FF"/>
                </a:solidFill>
              </a:rPr>
              <a:t>{(8 </a:t>
            </a:r>
            <a:r>
              <a:rPr lang="en-US" sz="2400" b="1" dirty="0">
                <a:solidFill>
                  <a:srgbClr val="0066FF"/>
                </a:solidFill>
              </a:rPr>
              <a:t>+ 1) ÷ 2</a:t>
            </a:r>
            <a:r>
              <a:rPr lang="en-US" sz="2400" b="1" dirty="0" smtClean="0">
                <a:solidFill>
                  <a:srgbClr val="0066FF"/>
                </a:solidFill>
              </a:rPr>
              <a:t>} </a:t>
            </a:r>
            <a:r>
              <a:rPr lang="en-US" sz="2400" dirty="0"/>
              <a:t>= </a:t>
            </a:r>
            <a:r>
              <a:rPr lang="en-US" sz="2400" dirty="0" smtClean="0">
                <a:solidFill>
                  <a:srgbClr val="7030A0"/>
                </a:solidFill>
                <a:effectLst>
                  <a:outerShdw blurRad="38100" dist="38100" dir="2700000" algn="tl">
                    <a:srgbClr val="000000">
                      <a:alpha val="43137"/>
                    </a:srgbClr>
                  </a:outerShdw>
                </a:effectLst>
              </a:rPr>
              <a:t>4.5</a:t>
            </a:r>
            <a:r>
              <a:rPr lang="en-US" sz="2400" b="1" baseline="30000" dirty="0" smtClean="0">
                <a:solidFill>
                  <a:srgbClr val="CC00FF"/>
                </a:solidFill>
                <a:effectLst>
                  <a:outerShdw blurRad="38100" dist="38100" dir="2700000" algn="tl">
                    <a:srgbClr val="000000">
                      <a:alpha val="43137"/>
                    </a:srgbClr>
                  </a:outerShdw>
                </a:effectLst>
              </a:rPr>
              <a:t>th</a:t>
            </a:r>
            <a:r>
              <a:rPr lang="en-US" sz="2400" b="1" dirty="0" smtClean="0">
                <a:solidFill>
                  <a:srgbClr val="CC00FF"/>
                </a:solidFill>
                <a:effectLst>
                  <a:outerShdw blurRad="38100" dist="38100" dir="2700000" algn="tl">
                    <a:srgbClr val="000000">
                      <a:alpha val="43137"/>
                    </a:srgbClr>
                  </a:outerShdw>
                </a:effectLst>
              </a:rPr>
              <a:t> </a:t>
            </a:r>
            <a:r>
              <a:rPr lang="en-US" sz="2400" b="1" dirty="0">
                <a:solidFill>
                  <a:srgbClr val="CC00FF"/>
                </a:solidFill>
                <a:effectLst>
                  <a:outerShdw blurRad="38100" dist="38100" dir="2700000" algn="tl">
                    <a:srgbClr val="000000">
                      <a:alpha val="43137"/>
                    </a:srgbClr>
                  </a:outerShdw>
                </a:effectLst>
              </a:rPr>
              <a:t>observation </a:t>
            </a:r>
            <a:r>
              <a:rPr lang="en-US" sz="2400" b="1" dirty="0" smtClean="0">
                <a:solidFill>
                  <a:srgbClr val="CC00FF"/>
                </a:solidFill>
                <a:effectLst>
                  <a:outerShdw blurRad="38100" dist="38100" dir="2700000" algn="tl">
                    <a:srgbClr val="000000">
                      <a:alpha val="43137"/>
                    </a:srgbClr>
                  </a:outerShdw>
                </a:effectLst>
              </a:rPr>
              <a:t>in the data array </a:t>
            </a:r>
            <a:r>
              <a:rPr lang="en-US" sz="2400" dirty="0" smtClean="0">
                <a:solidFill>
                  <a:srgbClr val="7030A0"/>
                </a:solidFill>
                <a:effectLst>
                  <a:outerShdw blurRad="38100" dist="38100" dir="2700000" algn="tl">
                    <a:srgbClr val="000000">
                      <a:alpha val="43137"/>
                    </a:srgbClr>
                  </a:outerShdw>
                </a:effectLst>
              </a:rPr>
              <a:t>which lies between       </a:t>
            </a:r>
            <a:r>
              <a:rPr lang="en-US" sz="2400" b="1" dirty="0" smtClean="0">
                <a:solidFill>
                  <a:srgbClr val="FF0000"/>
                </a:solidFill>
                <a:effectLst>
                  <a:outerShdw blurRad="38100" dist="38100" dir="2700000" algn="tl">
                    <a:srgbClr val="000000">
                      <a:alpha val="43137"/>
                    </a:srgbClr>
                  </a:outerShdw>
                </a:effectLst>
              </a:rPr>
              <a:t>4</a:t>
            </a:r>
            <a:r>
              <a:rPr lang="en-US" sz="2400" b="1" baseline="30000" dirty="0" smtClean="0">
                <a:solidFill>
                  <a:srgbClr val="FF0000"/>
                </a:solidFill>
                <a:effectLst>
                  <a:outerShdw blurRad="38100" dist="38100" dir="2700000" algn="tl">
                    <a:srgbClr val="000000">
                      <a:alpha val="43137"/>
                    </a:srgbClr>
                  </a:outerShdw>
                </a:effectLst>
              </a:rPr>
              <a:t>th</a:t>
            </a:r>
            <a:r>
              <a:rPr lang="en-US" sz="2400" b="1" dirty="0" smtClean="0">
                <a:solidFill>
                  <a:srgbClr val="FF0000"/>
                </a:solidFill>
                <a:effectLst>
                  <a:outerShdw blurRad="38100" dist="38100" dir="2700000" algn="tl">
                    <a:srgbClr val="000000">
                      <a:alpha val="43137"/>
                    </a:srgbClr>
                  </a:outerShdw>
                </a:effectLst>
              </a:rPr>
              <a:t> and  5</a:t>
            </a:r>
            <a:r>
              <a:rPr lang="en-US" sz="2400" b="1" baseline="30000" dirty="0" smtClean="0">
                <a:solidFill>
                  <a:srgbClr val="FF0000"/>
                </a:solidFill>
                <a:effectLst>
                  <a:outerShdw blurRad="38100" dist="38100" dir="2700000" algn="tl">
                    <a:srgbClr val="000000">
                      <a:alpha val="43137"/>
                    </a:srgbClr>
                  </a:outerShdw>
                </a:effectLst>
              </a:rPr>
              <a:t>th </a:t>
            </a:r>
            <a:r>
              <a:rPr lang="en-US" sz="2400" b="1" dirty="0" smtClean="0">
                <a:solidFill>
                  <a:srgbClr val="FF0000"/>
                </a:solidFill>
                <a:effectLst>
                  <a:outerShdw blurRad="38100" dist="38100" dir="2700000" algn="tl">
                    <a:srgbClr val="000000">
                      <a:alpha val="43137"/>
                    </a:srgbClr>
                  </a:outerShdw>
                </a:effectLst>
              </a:rPr>
              <a:t> </a:t>
            </a:r>
            <a:r>
              <a:rPr lang="en-US" sz="2400" b="1" dirty="0" err="1" smtClean="0">
                <a:solidFill>
                  <a:srgbClr val="FF0000"/>
                </a:solidFill>
                <a:effectLst>
                  <a:outerShdw blurRad="38100" dist="38100" dir="2700000" algn="tl">
                    <a:srgbClr val="000000">
                      <a:alpha val="43137"/>
                    </a:srgbClr>
                  </a:outerShdw>
                </a:effectLst>
              </a:rPr>
              <a:t>obsn</a:t>
            </a:r>
            <a:r>
              <a:rPr lang="en-US" sz="2400" dirty="0" smtClean="0">
                <a:solidFill>
                  <a:srgbClr val="7030A0"/>
                </a:solidFill>
                <a:effectLst>
                  <a:outerShdw blurRad="38100" dist="38100" dir="2700000" algn="tl">
                    <a:srgbClr val="000000">
                      <a:alpha val="43137"/>
                    </a:srgbClr>
                  </a:outerShdw>
                </a:effectLst>
              </a:rPr>
              <a:t>.</a:t>
            </a:r>
            <a:endParaRPr lang="en-US" sz="2400" dirty="0">
              <a:solidFill>
                <a:srgbClr val="7030A0"/>
              </a:solidFill>
              <a:effectLst>
                <a:outerShdw blurRad="38100" dist="38100" dir="2700000" algn="tl">
                  <a:srgbClr val="000000">
                    <a:alpha val="43137"/>
                  </a:srgbClr>
                </a:outerShdw>
              </a:effectLst>
            </a:endParaRPr>
          </a:p>
          <a:p>
            <a:pPr marL="0" indent="0" algn="just">
              <a:buNone/>
            </a:pPr>
            <a:r>
              <a:rPr lang="en-US" sz="2000" dirty="0" smtClean="0"/>
              <a:t> </a:t>
            </a:r>
            <a:r>
              <a:rPr lang="en-US" sz="2000" b="1" dirty="0">
                <a:solidFill>
                  <a:srgbClr val="CC00FF"/>
                </a:solidFill>
                <a:effectLst>
                  <a:outerShdw blurRad="38100" dist="38100" dir="2700000" algn="tl">
                    <a:srgbClr val="000000">
                      <a:alpha val="43137"/>
                    </a:srgbClr>
                  </a:outerShdw>
                </a:effectLst>
                <a:sym typeface="Wingdings" pitchFamily="2" charset="2"/>
              </a:rPr>
              <a:t></a:t>
            </a:r>
            <a:r>
              <a:rPr lang="en-US" sz="2000" b="1" dirty="0">
                <a:solidFill>
                  <a:srgbClr val="CC00FF"/>
                </a:solidFill>
                <a:effectLst>
                  <a:outerShdw blurRad="38100" dist="38100" dir="2700000" algn="tl">
                    <a:srgbClr val="000000">
                      <a:alpha val="43137"/>
                    </a:srgbClr>
                  </a:outerShdw>
                </a:effectLst>
              </a:rPr>
              <a:t> </a:t>
            </a:r>
            <a:r>
              <a:rPr lang="en-US" sz="2200" b="1" u="sng" dirty="0">
                <a:solidFill>
                  <a:srgbClr val="CC00FF"/>
                </a:solidFill>
                <a:effectLst>
                  <a:outerShdw blurRad="38100" dist="38100" dir="2700000" algn="tl">
                    <a:srgbClr val="000000">
                      <a:alpha val="43137"/>
                    </a:srgbClr>
                  </a:outerShdw>
                </a:effectLst>
              </a:rPr>
              <a:t>corresponding </a:t>
            </a:r>
            <a:r>
              <a:rPr lang="en-US" sz="2200" b="1" u="sng" dirty="0" smtClean="0">
                <a:solidFill>
                  <a:srgbClr val="CC00FF"/>
                </a:solidFill>
                <a:effectLst>
                  <a:outerShdw blurRad="38100" dist="38100" dir="2700000" algn="tl">
                    <a:srgbClr val="000000">
                      <a:alpha val="43137"/>
                    </a:srgbClr>
                  </a:outerShdw>
                </a:effectLst>
              </a:rPr>
              <a:t> item</a:t>
            </a:r>
            <a:r>
              <a:rPr lang="en-US" sz="2200" b="1" u="sng" dirty="0" smtClean="0">
                <a:effectLst>
                  <a:outerShdw blurRad="38100" dist="38100" dir="2700000" algn="tl">
                    <a:srgbClr val="000000">
                      <a:alpha val="43137"/>
                    </a:srgbClr>
                  </a:outerShdw>
                </a:effectLst>
              </a:rPr>
              <a:t>   will be</a:t>
            </a:r>
            <a:r>
              <a:rPr lang="en-US" sz="2200" b="1" dirty="0" smtClean="0">
                <a:effectLst>
                  <a:outerShdw blurRad="38100" dist="38100" dir="2700000" algn="tl">
                    <a:srgbClr val="000000">
                      <a:alpha val="43137"/>
                    </a:srgbClr>
                  </a:outerShdw>
                </a:effectLst>
              </a:rPr>
              <a:t> </a:t>
            </a:r>
            <a:r>
              <a:rPr lang="en-US" sz="2200" b="1" u="sng" dirty="0" smtClean="0">
                <a:effectLst>
                  <a:outerShdw blurRad="38100" dist="38100" dir="2700000" algn="tl">
                    <a:srgbClr val="000000">
                      <a:alpha val="43137"/>
                    </a:srgbClr>
                  </a:outerShdw>
                </a:effectLst>
              </a:rPr>
              <a:t> </a:t>
            </a:r>
            <a:r>
              <a:rPr lang="en-US" sz="2000" dirty="0" smtClean="0"/>
              <a:t>= </a:t>
            </a:r>
            <a:r>
              <a:rPr lang="en-US" sz="2000" b="1" dirty="0" smtClean="0">
                <a:solidFill>
                  <a:srgbClr val="7030A0"/>
                </a:solidFill>
                <a:effectLst>
                  <a:outerShdw blurRad="38100" dist="38100" dir="2700000" algn="tl">
                    <a:srgbClr val="000000">
                      <a:alpha val="43137"/>
                    </a:srgbClr>
                  </a:outerShdw>
                </a:effectLst>
              </a:rPr>
              <a:t>(4</a:t>
            </a:r>
            <a:r>
              <a:rPr lang="en-US" sz="2000" b="1" baseline="30000" dirty="0" smtClean="0">
                <a:solidFill>
                  <a:srgbClr val="7030A0"/>
                </a:solidFill>
                <a:effectLst>
                  <a:outerShdw blurRad="38100" dist="38100" dir="2700000" algn="tl">
                    <a:srgbClr val="000000">
                      <a:alpha val="43137"/>
                    </a:srgbClr>
                  </a:outerShdw>
                </a:effectLst>
              </a:rPr>
              <a:t>th</a:t>
            </a:r>
            <a:r>
              <a:rPr lang="en-US" sz="2000" b="1" dirty="0" smtClean="0">
                <a:solidFill>
                  <a:srgbClr val="7030A0"/>
                </a:solidFill>
                <a:effectLst>
                  <a:outerShdw blurRad="38100" dist="38100" dir="2700000" algn="tl">
                    <a:srgbClr val="000000">
                      <a:alpha val="43137"/>
                    </a:srgbClr>
                  </a:outerShdw>
                </a:effectLst>
              </a:rPr>
              <a:t> </a:t>
            </a:r>
            <a:r>
              <a:rPr lang="en-US" sz="2000" b="1" dirty="0" err="1" smtClean="0">
                <a:solidFill>
                  <a:srgbClr val="7030A0"/>
                </a:solidFill>
                <a:effectLst>
                  <a:outerShdw blurRad="38100" dist="38100" dir="2700000" algn="tl">
                    <a:srgbClr val="000000">
                      <a:alpha val="43137"/>
                    </a:srgbClr>
                  </a:outerShdw>
                </a:effectLst>
              </a:rPr>
              <a:t>Obsn</a:t>
            </a:r>
            <a:r>
              <a:rPr lang="en-US" sz="2000" b="1" dirty="0" smtClean="0">
                <a:solidFill>
                  <a:srgbClr val="7030A0"/>
                </a:solidFill>
                <a:effectLst>
                  <a:outerShdw blurRad="38100" dist="38100" dir="2700000" algn="tl">
                    <a:srgbClr val="000000">
                      <a:alpha val="43137"/>
                    </a:srgbClr>
                  </a:outerShdw>
                </a:effectLst>
              </a:rPr>
              <a:t> </a:t>
            </a:r>
            <a:r>
              <a:rPr lang="en-US" sz="2000" b="1" dirty="0">
                <a:solidFill>
                  <a:srgbClr val="7030A0"/>
                </a:solidFill>
                <a:effectLst>
                  <a:outerShdw blurRad="38100" dist="38100" dir="2700000" algn="tl">
                    <a:srgbClr val="000000">
                      <a:alpha val="43137"/>
                    </a:srgbClr>
                  </a:outerShdw>
                </a:effectLst>
              </a:rPr>
              <a:t>+ </a:t>
            </a:r>
            <a:r>
              <a:rPr lang="en-US" sz="2000" b="1" dirty="0" smtClean="0">
                <a:solidFill>
                  <a:srgbClr val="7030A0"/>
                </a:solidFill>
                <a:effectLst>
                  <a:outerShdw blurRad="38100" dist="38100" dir="2700000" algn="tl">
                    <a:srgbClr val="000000">
                      <a:alpha val="43137"/>
                    </a:srgbClr>
                  </a:outerShdw>
                </a:effectLst>
              </a:rPr>
              <a:t>5</a:t>
            </a:r>
            <a:r>
              <a:rPr lang="en-US" sz="2000" b="1" baseline="30000" dirty="0" smtClean="0">
                <a:solidFill>
                  <a:srgbClr val="7030A0"/>
                </a:solidFill>
                <a:effectLst>
                  <a:outerShdw blurRad="38100" dist="38100" dir="2700000" algn="tl">
                    <a:srgbClr val="000000">
                      <a:alpha val="43137"/>
                    </a:srgbClr>
                  </a:outerShdw>
                </a:effectLst>
              </a:rPr>
              <a:t>th</a:t>
            </a:r>
            <a:r>
              <a:rPr lang="en-US" sz="2000" b="1" dirty="0" smtClean="0">
                <a:solidFill>
                  <a:srgbClr val="7030A0"/>
                </a:solidFill>
                <a:effectLst>
                  <a:outerShdw blurRad="38100" dist="38100" dir="2700000" algn="tl">
                    <a:srgbClr val="000000">
                      <a:alpha val="43137"/>
                    </a:srgbClr>
                  </a:outerShdw>
                </a:effectLst>
              </a:rPr>
              <a:t> </a:t>
            </a:r>
            <a:r>
              <a:rPr lang="en-US" sz="2000" b="1" dirty="0" err="1" smtClean="0">
                <a:solidFill>
                  <a:srgbClr val="7030A0"/>
                </a:solidFill>
                <a:effectLst>
                  <a:outerShdw blurRad="38100" dist="38100" dir="2700000" algn="tl">
                    <a:srgbClr val="000000">
                      <a:alpha val="43137"/>
                    </a:srgbClr>
                  </a:outerShdw>
                </a:effectLst>
              </a:rPr>
              <a:t>Obsn</a:t>
            </a:r>
            <a:r>
              <a:rPr lang="en-US" sz="2000" b="1" dirty="0" smtClean="0">
                <a:solidFill>
                  <a:srgbClr val="7030A0"/>
                </a:solidFill>
                <a:effectLst>
                  <a:outerShdw blurRad="38100" dist="38100" dir="2700000" algn="tl">
                    <a:srgbClr val="000000">
                      <a:alpha val="43137"/>
                    </a:srgbClr>
                  </a:outerShdw>
                </a:effectLst>
              </a:rPr>
              <a:t>) </a:t>
            </a:r>
            <a:r>
              <a:rPr lang="en-US" sz="2000" b="1" dirty="0">
                <a:solidFill>
                  <a:srgbClr val="7030A0"/>
                </a:solidFill>
                <a:effectLst>
                  <a:outerShdw blurRad="38100" dist="38100" dir="2700000" algn="tl">
                    <a:srgbClr val="000000">
                      <a:alpha val="43137"/>
                    </a:srgbClr>
                  </a:outerShdw>
                </a:effectLst>
              </a:rPr>
              <a:t>÷ </a:t>
            </a:r>
            <a:r>
              <a:rPr lang="en-US" sz="2000" b="1" dirty="0" smtClean="0">
                <a:solidFill>
                  <a:srgbClr val="7030A0"/>
                </a:solidFill>
                <a:effectLst>
                  <a:outerShdw blurRad="38100" dist="38100" dir="2700000" algn="tl">
                    <a:srgbClr val="000000">
                      <a:alpha val="43137"/>
                    </a:srgbClr>
                  </a:outerShdw>
                </a:effectLst>
              </a:rPr>
              <a:t>2</a:t>
            </a:r>
          </a:p>
          <a:p>
            <a:pPr marL="0" indent="0" algn="just">
              <a:buNone/>
            </a:pPr>
            <a:r>
              <a:rPr lang="en-US" sz="2400" dirty="0"/>
              <a:t> </a:t>
            </a:r>
            <a:r>
              <a:rPr lang="en-US" sz="2400" dirty="0" smtClean="0"/>
              <a:t>                                                       </a:t>
            </a:r>
            <a:r>
              <a:rPr lang="en-US" sz="2400" b="1" dirty="0" smtClean="0"/>
              <a:t>that </a:t>
            </a:r>
            <a:r>
              <a:rPr lang="en-US" sz="2800" b="1" dirty="0" smtClean="0"/>
              <a:t>is    </a:t>
            </a:r>
            <a:r>
              <a:rPr lang="en-US" sz="2400" b="1" dirty="0" smtClean="0">
                <a:solidFill>
                  <a:srgbClr val="0033CC"/>
                </a:solidFill>
                <a:effectLst>
                  <a:outerShdw blurRad="38100" dist="38100" dir="2700000" algn="tl">
                    <a:srgbClr val="000000">
                      <a:alpha val="43137"/>
                    </a:srgbClr>
                  </a:outerShdw>
                </a:effectLst>
              </a:rPr>
              <a:t>(15   +  17) / 2  = 16</a:t>
            </a:r>
          </a:p>
          <a:p>
            <a:pPr marL="0" indent="0" algn="just">
              <a:buNone/>
            </a:pPr>
            <a:r>
              <a:rPr lang="en-US" sz="2100" b="1" dirty="0" smtClean="0"/>
              <a:t>Thus </a:t>
            </a:r>
            <a:r>
              <a:rPr lang="en-US" sz="2100" b="1" dirty="0"/>
              <a:t>median number of patients examined per hour in </a:t>
            </a:r>
            <a:r>
              <a:rPr lang="en-US" sz="2000" b="1" u="sng" dirty="0">
                <a:solidFill>
                  <a:srgbClr val="0033CC"/>
                </a:solidFill>
                <a:effectLst>
                  <a:outerShdw blurRad="38100" dist="38100" dir="2700000" algn="tl">
                    <a:srgbClr val="000000">
                      <a:alpha val="43137"/>
                    </a:srgbClr>
                  </a:outerShdw>
                </a:effectLst>
              </a:rPr>
              <a:t>OPD in a hospital are 16.</a:t>
            </a:r>
          </a:p>
          <a:p>
            <a:pPr algn="just"/>
            <a:endParaRPr lang="en-US" sz="2400" dirty="0"/>
          </a:p>
          <a:p>
            <a:endParaRPr lang="en-US" sz="2400" dirty="0"/>
          </a:p>
        </p:txBody>
      </p:sp>
      <p:pic>
        <p:nvPicPr>
          <p:cNvPr id="4" name="img-109_4"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2971800"/>
            <a:ext cx="7924800" cy="838200"/>
          </a:xfrm>
          <a:prstGeom prst="rect">
            <a:avLst/>
          </a:prstGeom>
          <a:noFill/>
          <a:ln>
            <a:noFill/>
          </a:ln>
        </p:spPr>
      </p:pic>
    </p:spTree>
    <p:extLst>
      <p:ext uri="{BB962C8B-B14F-4D97-AF65-F5344CB8AC3E}">
        <p14:creationId xmlns:p14="http://schemas.microsoft.com/office/powerpoint/2010/main" val="35520139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7500" lnSpcReduction="20000"/>
          </a:bodyPr>
          <a:lstStyle/>
          <a:p>
            <a:pPr algn="ctr">
              <a:buNone/>
            </a:pPr>
            <a:r>
              <a:rPr lang="en-US" sz="2800" b="1" u="sng" dirty="0" smtClean="0">
                <a:solidFill>
                  <a:srgbClr val="FF0000"/>
                </a:solidFill>
              </a:rPr>
              <a:t>MEDIAN</a:t>
            </a:r>
            <a:r>
              <a:rPr lang="en-US" sz="2200" b="1" u="sng" dirty="0" smtClean="0">
                <a:solidFill>
                  <a:srgbClr val="FF0000"/>
                </a:solidFill>
              </a:rPr>
              <a:t> </a:t>
            </a:r>
            <a:r>
              <a:rPr lang="en-US" sz="2800" b="1" u="sng" dirty="0" smtClean="0">
                <a:solidFill>
                  <a:srgbClr val="0066FF"/>
                </a:solidFill>
              </a:rPr>
              <a:t>DESCRITE </a:t>
            </a:r>
            <a:r>
              <a:rPr lang="en-US" sz="2800" b="1" u="sng" dirty="0">
                <a:solidFill>
                  <a:srgbClr val="0066FF"/>
                </a:solidFill>
              </a:rPr>
              <a:t>SERIES </a:t>
            </a:r>
            <a:r>
              <a:rPr lang="en-US" sz="2600" b="1" u="sng" dirty="0" smtClean="0">
                <a:solidFill>
                  <a:schemeClr val="bg2">
                    <a:lumMod val="10000"/>
                  </a:schemeClr>
                </a:solidFill>
                <a:effectLst>
                  <a:outerShdw blurRad="38100" dist="38100" dir="2700000" algn="tl">
                    <a:srgbClr val="000000">
                      <a:alpha val="43137"/>
                    </a:srgbClr>
                  </a:outerShdw>
                </a:effectLst>
              </a:rPr>
              <a:t>implies </a:t>
            </a:r>
            <a:r>
              <a:rPr lang="en-US" sz="2600" b="1" u="sng" dirty="0">
                <a:solidFill>
                  <a:schemeClr val="bg2">
                    <a:lumMod val="10000"/>
                  </a:schemeClr>
                </a:solidFill>
                <a:effectLst>
                  <a:outerShdw blurRad="38100" dist="38100" dir="2700000" algn="tl">
                    <a:srgbClr val="000000">
                      <a:alpha val="43137"/>
                    </a:srgbClr>
                  </a:outerShdw>
                </a:effectLst>
              </a:rPr>
              <a:t>it is </a:t>
            </a:r>
            <a:r>
              <a:rPr lang="en-US" sz="2600" b="1" u="sng" dirty="0">
                <a:solidFill>
                  <a:srgbClr val="7030A0"/>
                </a:solidFill>
                <a:effectLst>
                  <a:outerShdw blurRad="38100" dist="38100" dir="2700000" algn="tl">
                    <a:srgbClr val="000000">
                      <a:alpha val="43137"/>
                    </a:srgbClr>
                  </a:outerShdw>
                </a:effectLst>
              </a:rPr>
              <a:t>Ungrouped </a:t>
            </a:r>
            <a:r>
              <a:rPr lang="en-US" sz="2600" b="1" u="sng" dirty="0">
                <a:solidFill>
                  <a:srgbClr val="7030A0"/>
                </a:solidFill>
              </a:rPr>
              <a:t>(or Raw) Data </a:t>
            </a:r>
            <a:endParaRPr lang="en-US" sz="2200" b="1" u="sng" dirty="0" smtClean="0"/>
          </a:p>
          <a:p>
            <a:pPr algn="ctr">
              <a:buNone/>
            </a:pPr>
            <a:endParaRPr lang="en-US" sz="2400" dirty="0"/>
          </a:p>
          <a:p>
            <a:pPr algn="ctr">
              <a:buNone/>
            </a:pPr>
            <a:endParaRPr lang="en-US" sz="2400" dirty="0" smtClean="0"/>
          </a:p>
          <a:p>
            <a:pPr algn="ctr">
              <a:buNone/>
            </a:pPr>
            <a:endParaRPr lang="en-US" sz="2400" dirty="0" smtClean="0"/>
          </a:p>
          <a:p>
            <a:pPr algn="ctr">
              <a:buNone/>
            </a:pPr>
            <a:endParaRPr lang="en-US" sz="2400" dirty="0"/>
          </a:p>
          <a:p>
            <a:pPr algn="ctr">
              <a:buNone/>
            </a:pPr>
            <a:endParaRPr lang="en-US" sz="2400" dirty="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lgn="ctr">
              <a:buNone/>
            </a:pPr>
            <a:endParaRPr lang="en-US" sz="2400" dirty="0" smtClean="0"/>
          </a:p>
          <a:p>
            <a:pPr>
              <a:buNone/>
            </a:pPr>
            <a:endParaRPr lang="en-US" sz="2400" dirty="0" smtClean="0"/>
          </a:p>
          <a:p>
            <a:pPr>
              <a:buNone/>
            </a:pPr>
            <a:endParaRPr lang="en-US" sz="2400" dirty="0" smtClean="0"/>
          </a:p>
          <a:p>
            <a:pPr>
              <a:buNone/>
            </a:pPr>
            <a:endParaRPr lang="en-US" sz="2400" dirty="0" smtClean="0"/>
          </a:p>
          <a:p>
            <a:pPr>
              <a:buNone/>
            </a:pPr>
            <a:endParaRPr lang="en-US" sz="2600" dirty="0" smtClean="0"/>
          </a:p>
          <a:p>
            <a:pPr>
              <a:buNone/>
            </a:pPr>
            <a:r>
              <a:rPr lang="en-US" sz="2600" dirty="0" smtClean="0"/>
              <a:t>FORMULA</a:t>
            </a:r>
            <a:r>
              <a:rPr lang="en-US" sz="2600" dirty="0"/>
              <a:t>:  </a:t>
            </a:r>
            <a:r>
              <a:rPr lang="en-US" sz="2600" b="1" dirty="0" smtClean="0">
                <a:solidFill>
                  <a:srgbClr val="0066FF"/>
                </a:solidFill>
              </a:rPr>
              <a:t>{(N </a:t>
            </a:r>
            <a:r>
              <a:rPr lang="en-US" sz="2600" b="1" dirty="0">
                <a:solidFill>
                  <a:srgbClr val="0066FF"/>
                </a:solidFill>
              </a:rPr>
              <a:t>+ 1) ÷ 2} </a:t>
            </a:r>
            <a:r>
              <a:rPr lang="en-US" sz="2600" baseline="30000" dirty="0" err="1" smtClean="0">
                <a:solidFill>
                  <a:srgbClr val="0066FF"/>
                </a:solidFill>
                <a:effectLst>
                  <a:outerShdw blurRad="38100" dist="38100" dir="2700000" algn="tl">
                    <a:srgbClr val="000000">
                      <a:alpha val="43137"/>
                    </a:srgbClr>
                  </a:outerShdw>
                </a:effectLst>
              </a:rPr>
              <a:t>th</a:t>
            </a:r>
            <a:r>
              <a:rPr lang="en-US" sz="2600" dirty="0" smtClean="0">
                <a:solidFill>
                  <a:srgbClr val="0066FF"/>
                </a:solidFill>
              </a:rPr>
              <a:t>  </a:t>
            </a:r>
            <a:r>
              <a:rPr lang="en-US" sz="2600" dirty="0" smtClean="0"/>
              <a:t>=  </a:t>
            </a:r>
            <a:r>
              <a:rPr lang="en-US" sz="2600" b="1" dirty="0" smtClean="0">
                <a:solidFill>
                  <a:srgbClr val="0066FF"/>
                </a:solidFill>
              </a:rPr>
              <a:t>{(175 </a:t>
            </a:r>
            <a:r>
              <a:rPr lang="en-US" sz="2600" b="1" dirty="0">
                <a:solidFill>
                  <a:srgbClr val="0066FF"/>
                </a:solidFill>
              </a:rPr>
              <a:t>+ 1) ÷ 2}</a:t>
            </a:r>
            <a:r>
              <a:rPr lang="en-US" sz="2400" dirty="0" smtClean="0"/>
              <a:t>  =  </a:t>
            </a:r>
            <a:r>
              <a:rPr lang="en-US" sz="2800" b="1" dirty="0" smtClean="0">
                <a:solidFill>
                  <a:srgbClr val="7030A0"/>
                </a:solidFill>
                <a:effectLst>
                  <a:outerShdw blurRad="38100" dist="38100" dir="2700000" algn="tl">
                    <a:srgbClr val="000000">
                      <a:alpha val="43137"/>
                    </a:srgbClr>
                  </a:outerShdw>
                </a:effectLst>
              </a:rPr>
              <a:t>88  </a:t>
            </a:r>
            <a:r>
              <a:rPr lang="en-US" sz="2800" b="1" dirty="0" smtClean="0">
                <a:solidFill>
                  <a:srgbClr val="7030A0"/>
                </a:solidFill>
                <a:effectLst>
                  <a:outerShdw blurRad="38100" dist="38100" dir="2700000" algn="tl">
                    <a:srgbClr val="000000">
                      <a:alpha val="43137"/>
                    </a:srgbClr>
                  </a:outerShdw>
                </a:effectLst>
                <a:sym typeface="Wingdings" pitchFamily="2" charset="2"/>
              </a:rPr>
              <a:t> check where </a:t>
            </a:r>
            <a:r>
              <a:rPr lang="en-US" sz="2800" b="1" u="sng" dirty="0" smtClean="0">
                <a:solidFill>
                  <a:srgbClr val="FF0000"/>
                </a:solidFill>
                <a:effectLst>
                  <a:outerShdw blurRad="38100" dist="38100" dir="2700000" algn="tl">
                    <a:srgbClr val="000000">
                      <a:alpha val="43137"/>
                    </a:srgbClr>
                  </a:outerShdw>
                </a:effectLst>
                <a:sym typeface="Wingdings" pitchFamily="2" charset="2"/>
              </a:rPr>
              <a:t>cumulative frequency </a:t>
            </a:r>
            <a:r>
              <a:rPr lang="en-US" sz="2800" b="1" dirty="0" smtClean="0">
                <a:solidFill>
                  <a:srgbClr val="7030A0"/>
                </a:solidFill>
                <a:effectLst>
                  <a:outerShdw blurRad="38100" dist="38100" dir="2700000" algn="tl">
                    <a:srgbClr val="000000">
                      <a:alpha val="43137"/>
                    </a:srgbClr>
                  </a:outerShdw>
                </a:effectLst>
                <a:sym typeface="Wingdings" pitchFamily="2" charset="2"/>
              </a:rPr>
              <a:t>JUST GREATER than 88 </a:t>
            </a:r>
            <a:r>
              <a:rPr lang="en-US" sz="2400" b="1" dirty="0" smtClean="0">
                <a:solidFill>
                  <a:schemeClr val="accent4"/>
                </a:solidFill>
                <a:effectLst>
                  <a:outerShdw blurRad="38100" dist="38100" dir="2700000" algn="tl">
                    <a:srgbClr val="000000">
                      <a:alpha val="43137"/>
                    </a:srgbClr>
                  </a:outerShdw>
                </a:effectLst>
                <a:sym typeface="Wingdings" pitchFamily="2" charset="2"/>
              </a:rPr>
              <a:t>  which is </a:t>
            </a:r>
            <a:r>
              <a:rPr lang="en-US" sz="2400" b="1" dirty="0" smtClean="0">
                <a:solidFill>
                  <a:srgbClr val="FF0000"/>
                </a:solidFill>
                <a:effectLst>
                  <a:outerShdw blurRad="38100" dist="38100" dir="2700000" algn="tl">
                    <a:srgbClr val="000000">
                      <a:alpha val="43137"/>
                    </a:srgbClr>
                  </a:outerShdw>
                </a:effectLst>
                <a:sym typeface="Wingdings" pitchFamily="2" charset="2"/>
              </a:rPr>
              <a:t>100</a:t>
            </a:r>
            <a:r>
              <a:rPr lang="en-US" sz="2400" b="1" dirty="0" smtClean="0">
                <a:solidFill>
                  <a:schemeClr val="accent4"/>
                </a:solidFill>
                <a:effectLst>
                  <a:outerShdw blurRad="38100" dist="38100" dir="2700000" algn="tl">
                    <a:srgbClr val="000000">
                      <a:alpha val="43137"/>
                    </a:srgbClr>
                  </a:outerShdw>
                </a:effectLst>
                <a:sym typeface="Wingdings" pitchFamily="2" charset="2"/>
              </a:rPr>
              <a:t>. MARK THIS. </a:t>
            </a:r>
          </a:p>
          <a:p>
            <a:pPr>
              <a:buNone/>
            </a:pPr>
            <a:r>
              <a:rPr lang="en-US" sz="2400" b="1" dirty="0" smtClean="0">
                <a:solidFill>
                  <a:schemeClr val="accent4"/>
                </a:solidFill>
                <a:effectLst>
                  <a:outerShdw blurRad="38100" dist="38100" dir="2700000" algn="tl">
                    <a:srgbClr val="000000">
                      <a:alpha val="43137"/>
                    </a:srgbClr>
                  </a:outerShdw>
                </a:effectLst>
                <a:sym typeface="Wingdings" pitchFamily="2" charset="2"/>
              </a:rPr>
              <a:t> Now go in this row check </a:t>
            </a:r>
            <a:r>
              <a:rPr lang="en-US" sz="2400" b="1" dirty="0" smtClean="0">
                <a:solidFill>
                  <a:srgbClr val="FF0000"/>
                </a:solidFill>
                <a:effectLst>
                  <a:outerShdw blurRad="38100" dist="38100" dir="2700000" algn="tl">
                    <a:srgbClr val="000000">
                      <a:alpha val="43137"/>
                    </a:srgbClr>
                  </a:outerShdw>
                </a:effectLst>
                <a:sym typeface="Wingdings" pitchFamily="2" charset="2"/>
              </a:rPr>
              <a:t>‘X’ = 200.  </a:t>
            </a:r>
            <a:r>
              <a:rPr lang="en-US" sz="2400" b="1" u="sng" dirty="0" smtClean="0">
                <a:solidFill>
                  <a:srgbClr val="0033CC"/>
                </a:solidFill>
                <a:effectLst>
                  <a:outerShdw blurRad="38100" dist="38100" dir="2700000" algn="tl">
                    <a:srgbClr val="000000">
                      <a:alpha val="43137"/>
                    </a:srgbClr>
                  </a:outerShdw>
                </a:effectLst>
                <a:sym typeface="Wingdings" pitchFamily="2" charset="2"/>
              </a:rPr>
              <a:t>therefore 200 is median</a:t>
            </a:r>
            <a:endParaRPr lang="en-US" sz="3600" b="1" u="sng" dirty="0">
              <a:solidFill>
                <a:srgbClr val="0033CC"/>
              </a:solidFill>
              <a:effectLst>
                <a:outerShdw blurRad="38100" dist="38100" dir="2700000" algn="tl">
                  <a:srgbClr val="000000">
                    <a:alpha val="43137"/>
                  </a:srgbClr>
                </a:outerShdw>
              </a:effectLst>
            </a:endParaRPr>
          </a:p>
        </p:txBody>
      </p:sp>
      <p:pic>
        <p:nvPicPr>
          <p:cNvPr id="4" name="img-85_5"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457200"/>
            <a:ext cx="7924800" cy="533400"/>
          </a:xfrm>
          <a:prstGeom prst="rect">
            <a:avLst/>
          </a:prstGeom>
          <a:noFill/>
          <a:ln>
            <a:noFill/>
          </a:ln>
        </p:spPr>
      </p:pic>
      <p:graphicFrame>
        <p:nvGraphicFramePr>
          <p:cNvPr id="2" name="Table 1"/>
          <p:cNvGraphicFramePr>
            <a:graphicFrameLocks noGrp="1"/>
          </p:cNvGraphicFramePr>
          <p:nvPr>
            <p:extLst>
              <p:ext uri="{D42A27DB-BD31-4B8C-83A1-F6EECF244321}">
                <p14:modId xmlns:p14="http://schemas.microsoft.com/office/powerpoint/2010/main" val="323505612"/>
              </p:ext>
            </p:extLst>
          </p:nvPr>
        </p:nvGraphicFramePr>
        <p:xfrm>
          <a:off x="990600" y="1143000"/>
          <a:ext cx="6705600" cy="4469130"/>
        </p:xfrm>
        <a:graphic>
          <a:graphicData uri="http://schemas.openxmlformats.org/drawingml/2006/table">
            <a:tbl>
              <a:tblPr firstRow="1" firstCol="1" bandRow="1"/>
              <a:tblGrid>
                <a:gridCol w="2235200"/>
                <a:gridCol w="2235200"/>
                <a:gridCol w="2235200"/>
              </a:tblGrid>
              <a:tr h="995720">
                <a:tc>
                  <a:txBody>
                    <a:bodyPr/>
                    <a:lstStyle/>
                    <a:p>
                      <a:pPr marL="0" marR="0" algn="ctr">
                        <a:lnSpc>
                          <a:spcPct val="115000"/>
                        </a:lnSpc>
                        <a:spcBef>
                          <a:spcPts val="0"/>
                        </a:spcBef>
                        <a:spcAft>
                          <a:spcPts val="0"/>
                        </a:spcAft>
                      </a:pPr>
                      <a:r>
                        <a:rPr lang="en-US" sz="1600" dirty="0">
                          <a:effectLst>
                            <a:outerShdw blurRad="38100" dist="38100" dir="2700000" algn="tl">
                              <a:srgbClr val="000000">
                                <a:alpha val="43137"/>
                              </a:srgbClr>
                            </a:outerShdw>
                          </a:effectLst>
                          <a:latin typeface="Calibri"/>
                          <a:ea typeface="Calibri"/>
                          <a:cs typeface="Times New Roman"/>
                        </a:rPr>
                        <a:t>DAILY EARNINGS (IN RUPEES)</a:t>
                      </a:r>
                      <a:endParaRPr lang="en-US" sz="1400" dirty="0">
                        <a:effectLst>
                          <a:outerShdw blurRad="38100" dist="38100" dir="2700000" algn="tl">
                            <a:srgbClr val="000000">
                              <a:alpha val="43137"/>
                            </a:srgbClr>
                          </a:outerShdw>
                        </a:effectLst>
                        <a:latin typeface="Calibri"/>
                        <a:ea typeface="Calibri"/>
                        <a:cs typeface="Times New Roman"/>
                      </a:endParaRPr>
                    </a:p>
                    <a:p>
                      <a:pPr marL="0" marR="0" algn="ctr">
                        <a:lnSpc>
                          <a:spcPct val="115000"/>
                        </a:lnSpc>
                        <a:spcBef>
                          <a:spcPts val="0"/>
                        </a:spcBef>
                        <a:spcAft>
                          <a:spcPts val="0"/>
                        </a:spcAft>
                      </a:pPr>
                      <a:r>
                        <a:rPr lang="en-US" sz="1600" dirty="0">
                          <a:solidFill>
                            <a:srgbClr val="FF0000"/>
                          </a:solidFill>
                          <a:effectLst/>
                          <a:latin typeface="Calibri"/>
                          <a:ea typeface="Calibri"/>
                          <a:cs typeface="Times New Roman"/>
                        </a:rPr>
                        <a:t>X</a:t>
                      </a:r>
                      <a:endParaRPr lang="en-US" sz="1400" dirty="0">
                        <a:solidFill>
                          <a:srgbClr val="FF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effectLst>
                            <a:outerShdw blurRad="38100" dist="38100" dir="2700000" algn="tl">
                              <a:srgbClr val="000000">
                                <a:alpha val="43137"/>
                              </a:srgbClr>
                            </a:outerShdw>
                          </a:effectLst>
                          <a:latin typeface="Calibri"/>
                          <a:ea typeface="Calibri"/>
                          <a:cs typeface="Times New Roman"/>
                        </a:rPr>
                        <a:t>NUMBER OF EMPLOYEES</a:t>
                      </a:r>
                    </a:p>
                    <a:p>
                      <a:pPr marL="0" marR="0" algn="ctr">
                        <a:lnSpc>
                          <a:spcPct val="115000"/>
                        </a:lnSpc>
                        <a:spcBef>
                          <a:spcPts val="0"/>
                        </a:spcBef>
                        <a:spcAft>
                          <a:spcPts val="0"/>
                        </a:spcAft>
                      </a:pPr>
                      <a:r>
                        <a:rPr lang="en-US" sz="1800" dirty="0">
                          <a:solidFill>
                            <a:srgbClr val="FF0000"/>
                          </a:solidFill>
                          <a:effectLst/>
                          <a:latin typeface="Calibri"/>
                          <a:ea typeface="Calibri"/>
                          <a:cs typeface="Times New Roman"/>
                        </a:rPr>
                        <a:t>F</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smtClean="0">
                        <a:effectLst>
                          <a:outerShdw blurRad="38100" dist="38100" dir="2700000" algn="tl">
                            <a:srgbClr val="000000">
                              <a:alpha val="43137"/>
                            </a:srgbClr>
                          </a:outerShdw>
                        </a:effectLst>
                        <a:latin typeface="Calibri"/>
                        <a:ea typeface="Calibri"/>
                        <a:cs typeface="Times New Roman"/>
                      </a:endParaRPr>
                    </a:p>
                    <a:p>
                      <a:pPr marL="0" marR="0" algn="ctr">
                        <a:lnSpc>
                          <a:spcPct val="115000"/>
                        </a:lnSpc>
                        <a:spcBef>
                          <a:spcPts val="0"/>
                        </a:spcBef>
                        <a:spcAft>
                          <a:spcPts val="0"/>
                        </a:spcAft>
                      </a:pPr>
                      <a:r>
                        <a:rPr lang="en-US" sz="1600" dirty="0" smtClean="0">
                          <a:solidFill>
                            <a:srgbClr val="FF0000"/>
                          </a:solidFill>
                          <a:effectLst>
                            <a:outerShdw blurRad="38100" dist="38100" dir="2700000" algn="tl">
                              <a:srgbClr val="000000">
                                <a:alpha val="43137"/>
                              </a:srgbClr>
                            </a:outerShdw>
                          </a:effectLst>
                          <a:latin typeface="Calibri"/>
                          <a:ea typeface="Calibri"/>
                          <a:cs typeface="Times New Roman"/>
                        </a:rPr>
                        <a:t>CUMULATIVE</a:t>
                      </a:r>
                      <a:r>
                        <a:rPr lang="en-US" sz="1600" baseline="0" dirty="0" smtClean="0">
                          <a:solidFill>
                            <a:srgbClr val="FF0000"/>
                          </a:solidFill>
                          <a:effectLst>
                            <a:outerShdw blurRad="38100" dist="38100" dir="2700000" algn="tl">
                              <a:srgbClr val="000000">
                                <a:alpha val="43137"/>
                              </a:srgbClr>
                            </a:outerShdw>
                          </a:effectLst>
                          <a:latin typeface="Calibri"/>
                          <a:ea typeface="Calibri"/>
                          <a:cs typeface="Times New Roman"/>
                        </a:rPr>
                        <a:t> FREQUENCY </a:t>
                      </a:r>
                      <a:r>
                        <a:rPr lang="en-US" sz="1400" baseline="0" dirty="0" smtClean="0">
                          <a:solidFill>
                            <a:srgbClr val="FF0000"/>
                          </a:solidFill>
                          <a:effectLst>
                            <a:outerShdw blurRad="38100" dist="38100" dir="2700000" algn="tl">
                              <a:srgbClr val="000000">
                                <a:alpha val="43137"/>
                              </a:srgbClr>
                            </a:outerShdw>
                          </a:effectLst>
                          <a:latin typeface="Calibri"/>
                          <a:ea typeface="Calibri"/>
                          <a:cs typeface="Times New Roman"/>
                        </a:rPr>
                        <a:t>(</a:t>
                      </a:r>
                      <a:r>
                        <a:rPr lang="en-US" sz="1400" baseline="0" dirty="0" err="1" smtClean="0">
                          <a:solidFill>
                            <a:srgbClr val="FF0000"/>
                          </a:solidFill>
                          <a:effectLst>
                            <a:outerShdw blurRad="38100" dist="38100" dir="2700000" algn="tl">
                              <a:srgbClr val="000000">
                                <a:alpha val="43137"/>
                              </a:srgbClr>
                            </a:outerShdw>
                          </a:effectLst>
                          <a:latin typeface="Calibri"/>
                          <a:ea typeface="Calibri"/>
                          <a:cs typeface="Times New Roman"/>
                        </a:rPr>
                        <a:t>Cf</a:t>
                      </a:r>
                      <a:r>
                        <a:rPr lang="en-US" sz="1400" baseline="0" dirty="0" smtClean="0">
                          <a:solidFill>
                            <a:srgbClr val="FF0000"/>
                          </a:solidFill>
                          <a:effectLst>
                            <a:outerShdw blurRad="38100" dist="38100" dir="2700000" algn="tl">
                              <a:srgbClr val="000000">
                                <a:alpha val="43137"/>
                              </a:srgbClr>
                            </a:outerShdw>
                          </a:effectLst>
                          <a:latin typeface="Calibri"/>
                          <a:ea typeface="Calibri"/>
                          <a:cs typeface="Times New Roman"/>
                        </a:rPr>
                        <a:t>)</a:t>
                      </a:r>
                      <a:endParaRPr lang="en-US" sz="1400" dirty="0" smtClean="0">
                        <a:solidFill>
                          <a:srgbClr val="FF0000"/>
                        </a:solidFill>
                        <a:effectLst>
                          <a:outerShdw blurRad="38100" dist="38100" dir="2700000" algn="tl">
                            <a:srgbClr val="000000">
                              <a:alpha val="43137"/>
                            </a:srgbClr>
                          </a:outerShdw>
                        </a:effectLst>
                        <a:latin typeface="Calibri"/>
                        <a:ea typeface="Calibri"/>
                        <a:cs typeface="Times New Roman"/>
                      </a:endParaRPr>
                    </a:p>
                    <a:p>
                      <a:pPr marL="0" marR="0">
                        <a:lnSpc>
                          <a:spcPct val="115000"/>
                        </a:lnSpc>
                        <a:spcBef>
                          <a:spcPts val="0"/>
                        </a:spcBef>
                        <a:spcAft>
                          <a:spcPts val="0"/>
                        </a:spcAft>
                      </a:pPr>
                      <a:r>
                        <a:rPr lang="en-US" sz="14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3352">
                <a:tc>
                  <a:txBody>
                    <a:bodyPr/>
                    <a:lstStyle/>
                    <a:p>
                      <a:pPr marL="0" marR="0" algn="ctr">
                        <a:lnSpc>
                          <a:spcPct val="115000"/>
                        </a:lnSpc>
                        <a:spcBef>
                          <a:spcPts val="0"/>
                        </a:spcBef>
                        <a:spcAft>
                          <a:spcPts val="0"/>
                        </a:spcAft>
                      </a:pPr>
                      <a:r>
                        <a:rPr lang="en-US" sz="2000" dirty="0">
                          <a:effectLst/>
                          <a:latin typeface="Calibri"/>
                          <a:ea typeface="Calibri"/>
                          <a:cs typeface="Times New Roman"/>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smtClean="0">
                          <a:solidFill>
                            <a:srgbClr val="0070C0"/>
                          </a:solidFill>
                          <a:effectLst/>
                          <a:latin typeface="Calibri"/>
                          <a:ea typeface="Calibri"/>
                          <a:cs typeface="Times New Roman"/>
                        </a:rPr>
                        <a:t>3</a:t>
                      </a:r>
                      <a:endParaRPr lang="en-US" sz="2000" dirty="0">
                        <a:solidFill>
                          <a:srgbClr val="0070C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3352">
                <a:tc>
                  <a:txBody>
                    <a:bodyPr/>
                    <a:lstStyle/>
                    <a:p>
                      <a:pPr marL="0" marR="0" algn="ctr">
                        <a:lnSpc>
                          <a:spcPct val="115000"/>
                        </a:lnSpc>
                        <a:spcBef>
                          <a:spcPts val="0"/>
                        </a:spcBef>
                        <a:spcAft>
                          <a:spcPts val="0"/>
                        </a:spcAft>
                      </a:pPr>
                      <a:r>
                        <a:rPr lang="en-US" sz="2000" dirty="0">
                          <a:effectLst/>
                          <a:latin typeface="Calibri"/>
                          <a:ea typeface="Calibri"/>
                          <a:cs typeface="Times New Roman"/>
                        </a:rPr>
                        <a:t>120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smtClean="0">
                          <a:solidFill>
                            <a:srgbClr val="0070C0"/>
                          </a:solidFill>
                          <a:effectLst/>
                          <a:latin typeface="Calibri"/>
                          <a:ea typeface="Calibri"/>
                          <a:cs typeface="Times New Roman"/>
                        </a:rPr>
                        <a:t>9</a:t>
                      </a:r>
                      <a:endParaRPr lang="en-US" sz="2000" dirty="0">
                        <a:solidFill>
                          <a:srgbClr val="0070C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3352">
                <a:tc>
                  <a:txBody>
                    <a:bodyPr/>
                    <a:lstStyle/>
                    <a:p>
                      <a:pPr marL="0" marR="0" algn="ctr">
                        <a:lnSpc>
                          <a:spcPct val="115000"/>
                        </a:lnSpc>
                        <a:spcBef>
                          <a:spcPts val="0"/>
                        </a:spcBef>
                        <a:spcAft>
                          <a:spcPts val="0"/>
                        </a:spcAft>
                      </a:pPr>
                      <a:r>
                        <a:rPr lang="en-US" sz="2000" dirty="0">
                          <a:effectLst/>
                          <a:latin typeface="Calibri"/>
                          <a:ea typeface="Calibri"/>
                          <a:cs typeface="Times New Roman"/>
                        </a:rPr>
                        <a:t>140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smtClean="0">
                          <a:solidFill>
                            <a:srgbClr val="0070C0"/>
                          </a:solidFill>
                          <a:effectLst/>
                          <a:latin typeface="Calibri"/>
                          <a:ea typeface="Calibri"/>
                          <a:cs typeface="Times New Roman"/>
                        </a:rPr>
                        <a:t>19</a:t>
                      </a:r>
                      <a:endParaRPr lang="en-US" sz="2000" dirty="0">
                        <a:solidFill>
                          <a:srgbClr val="0070C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3352">
                <a:tc>
                  <a:txBody>
                    <a:bodyPr/>
                    <a:lstStyle/>
                    <a:p>
                      <a:pPr marL="0" marR="0" algn="ctr">
                        <a:lnSpc>
                          <a:spcPct val="115000"/>
                        </a:lnSpc>
                        <a:spcBef>
                          <a:spcPts val="0"/>
                        </a:spcBef>
                        <a:spcAft>
                          <a:spcPts val="0"/>
                        </a:spcAft>
                      </a:pPr>
                      <a:r>
                        <a:rPr lang="en-US" sz="2000">
                          <a:effectLst/>
                          <a:latin typeface="Calibri"/>
                          <a:ea typeface="Calibri"/>
                          <a:cs typeface="Times New Roman"/>
                        </a:rPr>
                        <a:t>160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smtClean="0">
                          <a:solidFill>
                            <a:srgbClr val="0070C0"/>
                          </a:solidFill>
                          <a:effectLst/>
                          <a:latin typeface="Calibri"/>
                          <a:ea typeface="Calibri"/>
                          <a:cs typeface="Times New Roman"/>
                        </a:rPr>
                        <a:t>34</a:t>
                      </a:r>
                      <a:endParaRPr lang="en-US" sz="2000" dirty="0">
                        <a:solidFill>
                          <a:srgbClr val="0070C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3352">
                <a:tc>
                  <a:txBody>
                    <a:bodyPr/>
                    <a:lstStyle/>
                    <a:p>
                      <a:pPr marL="0" marR="0" algn="ctr">
                        <a:lnSpc>
                          <a:spcPct val="115000"/>
                        </a:lnSpc>
                        <a:spcBef>
                          <a:spcPts val="0"/>
                        </a:spcBef>
                        <a:spcAft>
                          <a:spcPts val="0"/>
                        </a:spcAft>
                      </a:pPr>
                      <a:r>
                        <a:rPr lang="en-US" sz="2000">
                          <a:effectLst/>
                          <a:latin typeface="Calibri"/>
                          <a:ea typeface="Calibri"/>
                          <a:cs typeface="Times New Roman"/>
                        </a:rPr>
                        <a:t>180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24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smtClean="0">
                          <a:solidFill>
                            <a:srgbClr val="0070C0"/>
                          </a:solidFill>
                          <a:effectLst/>
                          <a:latin typeface="Calibri"/>
                          <a:ea typeface="Calibri"/>
                          <a:cs typeface="Times New Roman"/>
                        </a:rPr>
                        <a:t>58</a:t>
                      </a:r>
                      <a:endParaRPr lang="en-US" sz="2000" dirty="0">
                        <a:solidFill>
                          <a:srgbClr val="0070C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3352">
                <a:tc>
                  <a:txBody>
                    <a:bodyPr/>
                    <a:lstStyle/>
                    <a:p>
                      <a:pPr marL="0" marR="0" algn="ctr">
                        <a:lnSpc>
                          <a:spcPct val="115000"/>
                        </a:lnSpc>
                        <a:spcBef>
                          <a:spcPts val="0"/>
                        </a:spcBef>
                        <a:spcAft>
                          <a:spcPts val="0"/>
                        </a:spcAft>
                      </a:pPr>
                      <a:r>
                        <a:rPr lang="en-US" sz="2000" b="1" dirty="0">
                          <a:solidFill>
                            <a:srgbClr val="FF0000"/>
                          </a:solidFill>
                          <a:effectLst/>
                          <a:latin typeface="Calibri"/>
                          <a:ea typeface="Calibri"/>
                          <a:cs typeface="Times New Roman"/>
                        </a:rPr>
                        <a:t>200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0" dirty="0">
                          <a:solidFill>
                            <a:schemeClr val="tx1"/>
                          </a:solidFill>
                          <a:effectLst/>
                          <a:latin typeface="Calibri"/>
                          <a:ea typeface="Calibri"/>
                          <a:cs typeface="Times New Roman"/>
                        </a:rPr>
                        <a:t>42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solidFill>
                            <a:srgbClr val="FF0000"/>
                          </a:solidFill>
                          <a:effectLst>
                            <a:outerShdw blurRad="38100" dist="38100" dir="2700000" algn="tl">
                              <a:srgbClr val="000000">
                                <a:alpha val="43137"/>
                              </a:srgbClr>
                            </a:outerShdw>
                          </a:effectLst>
                          <a:latin typeface="Calibri"/>
                          <a:ea typeface="Calibri"/>
                          <a:cs typeface="Times New Roman"/>
                        </a:rPr>
                        <a:t>100</a:t>
                      </a:r>
                      <a:endParaRPr lang="en-US" sz="2000" b="1"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3352">
                <a:tc>
                  <a:txBody>
                    <a:bodyPr/>
                    <a:lstStyle/>
                    <a:p>
                      <a:pPr marL="0" marR="0" algn="ctr">
                        <a:lnSpc>
                          <a:spcPct val="115000"/>
                        </a:lnSpc>
                        <a:spcBef>
                          <a:spcPts val="0"/>
                        </a:spcBef>
                        <a:spcAft>
                          <a:spcPts val="0"/>
                        </a:spcAft>
                      </a:pPr>
                      <a:r>
                        <a:rPr lang="en-US" sz="2000">
                          <a:effectLst/>
                          <a:latin typeface="Calibri"/>
                          <a:ea typeface="Calibri"/>
                          <a:cs typeface="Times New Roman"/>
                        </a:rPr>
                        <a:t>220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75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smtClean="0">
                          <a:solidFill>
                            <a:srgbClr val="0070C0"/>
                          </a:solidFill>
                          <a:effectLst/>
                          <a:latin typeface="Calibri"/>
                          <a:ea typeface="Calibri"/>
                          <a:cs typeface="Times New Roman"/>
                        </a:rPr>
                        <a:t>175</a:t>
                      </a:r>
                      <a:endParaRPr lang="en-US" sz="2000" dirty="0">
                        <a:solidFill>
                          <a:srgbClr val="0070C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5374">
                <a:tc>
                  <a:txBody>
                    <a:bodyPr/>
                    <a:lstStyle/>
                    <a:p>
                      <a:pPr marL="0" marR="0" algn="ctr">
                        <a:lnSpc>
                          <a:spcPct val="115000"/>
                        </a:lnSpc>
                        <a:spcBef>
                          <a:spcPts val="0"/>
                        </a:spcBef>
                        <a:spcAft>
                          <a:spcPts val="0"/>
                        </a:spcAft>
                      </a:pPr>
                      <a:r>
                        <a:rPr lang="en-US" sz="20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endParaRPr lang="en-US" sz="2000" dirty="0" smtClean="0">
                        <a:effectLst/>
                        <a:latin typeface="Calibri"/>
                        <a:ea typeface="Calibri"/>
                        <a:cs typeface="Times New Roman"/>
                      </a:endParaRPr>
                    </a:p>
                    <a:p>
                      <a:pPr marL="0" marR="0" algn="l">
                        <a:lnSpc>
                          <a:spcPct val="115000"/>
                        </a:lnSpc>
                        <a:spcBef>
                          <a:spcPts val="0"/>
                        </a:spcBef>
                        <a:spcAft>
                          <a:spcPts val="0"/>
                        </a:spcAft>
                      </a:pPr>
                      <a:r>
                        <a:rPr lang="en-US" sz="2400" b="1" baseline="0" dirty="0" smtClean="0">
                          <a:effectLst/>
                          <a:latin typeface="Calibri"/>
                          <a:ea typeface="Calibri"/>
                          <a:cs typeface="Times New Roman"/>
                        </a:rPr>
                        <a:t>    </a:t>
                      </a:r>
                      <a:r>
                        <a:rPr lang="en-US" sz="2400" b="1" dirty="0" smtClean="0"/>
                        <a:t>∑F </a:t>
                      </a:r>
                      <a:r>
                        <a:rPr lang="en-US" sz="2400" b="1" baseline="0" dirty="0" smtClean="0">
                          <a:effectLst/>
                          <a:latin typeface="Calibri"/>
                          <a:ea typeface="Calibri"/>
                          <a:cs typeface="Times New Roman"/>
                        </a:rPr>
                        <a:t> =</a:t>
                      </a:r>
                      <a:r>
                        <a:rPr lang="en-US" sz="2400" b="1" dirty="0">
                          <a:effectLst/>
                          <a:latin typeface="Calibri"/>
                          <a:ea typeface="Calibri"/>
                          <a:cs typeface="Times New Roman"/>
                        </a:rPr>
                        <a:t> </a:t>
                      </a:r>
                      <a:r>
                        <a:rPr lang="en-US" sz="2400" b="1" dirty="0" smtClean="0">
                          <a:effectLst/>
                          <a:latin typeface="Calibri"/>
                          <a:ea typeface="Calibri"/>
                          <a:cs typeface="Times New Roman"/>
                        </a:rPr>
                        <a:t> 175</a:t>
                      </a:r>
                      <a:endParaRPr lang="en-US" sz="24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effectLst/>
                          <a:latin typeface="Calibri"/>
                          <a:ea typeface="Calibri"/>
                          <a:cs typeface="Times New Roman"/>
                        </a:rPr>
                        <a:t> </a:t>
                      </a:r>
                    </a:p>
                    <a:p>
                      <a:pPr marL="0" marR="0">
                        <a:lnSpc>
                          <a:spcPct val="115000"/>
                        </a:lnSpc>
                        <a:spcBef>
                          <a:spcPts val="0"/>
                        </a:spcBef>
                        <a:spcAft>
                          <a:spcPts val="0"/>
                        </a:spcAft>
                      </a:pPr>
                      <a:r>
                        <a:rPr lang="en-US" sz="20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8843">
                <a:tc>
                  <a:txBody>
                    <a:bodyPr/>
                    <a:lstStyle/>
                    <a:p>
                      <a:pPr marL="0" marR="0">
                        <a:lnSpc>
                          <a:spcPct val="115000"/>
                        </a:lnSpc>
                        <a:spcBef>
                          <a:spcPts val="0"/>
                        </a:spcBef>
                        <a:spcAft>
                          <a:spcPts val="0"/>
                        </a:spcAft>
                      </a:pPr>
                      <a:r>
                        <a:rPr lang="en-US" sz="11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1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143995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067800" cy="6705600"/>
          </a:xfrm>
        </p:spPr>
        <p:txBody>
          <a:bodyPr/>
          <a:lstStyle/>
          <a:p>
            <a:pPr marL="0" indent="0" algn="ctr">
              <a:buNone/>
            </a:pPr>
            <a:r>
              <a:rPr lang="en-US" sz="2800" b="1" dirty="0" smtClean="0">
                <a:solidFill>
                  <a:srgbClr val="C00000"/>
                </a:solidFill>
              </a:rPr>
              <a:t>TO FIND THE </a:t>
            </a:r>
            <a:r>
              <a:rPr lang="en-US" sz="2800" b="1" dirty="0" smtClean="0">
                <a:solidFill>
                  <a:srgbClr val="0033CC"/>
                </a:solidFill>
              </a:rPr>
              <a:t>MEDIAN</a:t>
            </a:r>
            <a:r>
              <a:rPr lang="en-US" sz="2800" b="1" dirty="0" smtClean="0">
                <a:solidFill>
                  <a:srgbClr val="C00000"/>
                </a:solidFill>
              </a:rPr>
              <a:t> VALUE FOR </a:t>
            </a:r>
            <a:r>
              <a:rPr lang="en-US" b="1" u="sng" dirty="0" smtClean="0">
                <a:solidFill>
                  <a:srgbClr val="0033CC"/>
                </a:solidFill>
                <a:effectLst>
                  <a:outerShdw blurRad="38100" dist="38100" dir="2700000" algn="tl">
                    <a:srgbClr val="000000">
                      <a:alpha val="43137"/>
                    </a:srgbClr>
                  </a:outerShdw>
                </a:effectLst>
              </a:rPr>
              <a:t>GROUPED DATA</a:t>
            </a:r>
            <a:endParaRPr lang="en-US" sz="2800" b="1" u="sng" dirty="0" smtClean="0">
              <a:solidFill>
                <a:srgbClr val="0033CC"/>
              </a:solidFill>
              <a:effectLst>
                <a:outerShdw blurRad="38100" dist="38100" dir="2700000" algn="tl">
                  <a:srgbClr val="000000">
                    <a:alpha val="43137"/>
                  </a:srgbClr>
                </a:outerShdw>
              </a:effectLst>
            </a:endParaRPr>
          </a:p>
          <a:p>
            <a:endParaRPr lang="en-US" dirty="0"/>
          </a:p>
          <a:p>
            <a:endParaRPr lang="en-US" dirty="0" smtClean="0"/>
          </a:p>
          <a:p>
            <a:endParaRPr lang="en-US" dirty="0"/>
          </a:p>
        </p:txBody>
      </p:sp>
      <p:pic>
        <p:nvPicPr>
          <p:cNvPr id="4" name="img-110_1"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7749" y="762000"/>
            <a:ext cx="4191000" cy="914400"/>
          </a:xfrm>
          <a:prstGeom prst="rect">
            <a:avLst/>
          </a:prstGeom>
          <a:noFill/>
          <a:ln>
            <a:noFill/>
          </a:ln>
        </p:spPr>
      </p:pic>
      <p:graphicFrame>
        <p:nvGraphicFramePr>
          <p:cNvPr id="6" name="Object 5"/>
          <p:cNvGraphicFramePr>
            <a:graphicFrameLocks noChangeAspect="1"/>
          </p:cNvGraphicFramePr>
          <p:nvPr>
            <p:extLst>
              <p:ext uri="{D42A27DB-BD31-4B8C-83A1-F6EECF244321}">
                <p14:modId xmlns:p14="http://schemas.microsoft.com/office/powerpoint/2010/main" val="2038382723"/>
              </p:ext>
            </p:extLst>
          </p:nvPr>
        </p:nvGraphicFramePr>
        <p:xfrm>
          <a:off x="1143000" y="1905000"/>
          <a:ext cx="6308725" cy="4678363"/>
        </p:xfrm>
        <a:graphic>
          <a:graphicData uri="http://schemas.openxmlformats.org/presentationml/2006/ole">
            <mc:AlternateContent xmlns:mc="http://schemas.openxmlformats.org/markup-compatibility/2006">
              <mc:Choice xmlns:v="urn:schemas-microsoft-com:vml" Requires="v">
                <p:oleObj spid="_x0000_s1344" name="Document" r:id="rId5" imgW="7001264" imgH="5063449" progId="Word.Document.12">
                  <p:embed/>
                </p:oleObj>
              </mc:Choice>
              <mc:Fallback>
                <p:oleObj name="Document" r:id="rId5" imgW="7001264" imgH="5063449" progId="Word.Document.12">
                  <p:embed/>
                  <p:pic>
                    <p:nvPicPr>
                      <p:cNvPr id="0" name="Picture 3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1905000"/>
                        <a:ext cx="6308725" cy="4678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4123581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p:cNvPicPr>
            <a:picLocks noGrp="1" noChangeAspect="1" noChangeArrowheads="1"/>
          </p:cNvPicPr>
          <p:nvPr>
            <p:ph idx="1"/>
          </p:nvPr>
        </p:nvPicPr>
        <p:blipFill>
          <a:blip r:embed="rId2"/>
          <a:srcRect/>
          <a:stretch>
            <a:fillRect/>
          </a:stretch>
        </p:blipFill>
        <p:spPr bwMode="auto">
          <a:xfrm>
            <a:off x="152400" y="0"/>
            <a:ext cx="8991600" cy="6858000"/>
          </a:xfrm>
          <a:prstGeom prst="rect">
            <a:avLst/>
          </a:prstGeom>
          <a:noFill/>
          <a:ln w="9525">
            <a:noFill/>
            <a:miter lim="800000"/>
            <a:headEnd/>
            <a:tailEnd/>
          </a:ln>
          <a:effec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 y="0"/>
            <a:ext cx="9144000" cy="6858000"/>
          </a:xfrm>
        </p:spPr>
        <p:txBody>
          <a:bodyPr>
            <a:normAutofit/>
          </a:bodyPr>
          <a:lstStyle/>
          <a:p>
            <a:pPr marL="0" indent="0" algn="just">
              <a:buNone/>
            </a:pPr>
            <a:r>
              <a:rPr lang="en-US" sz="2400" b="1" u="sng" dirty="0" smtClean="0">
                <a:solidFill>
                  <a:srgbClr val="FF0000"/>
                </a:solidFill>
              </a:rPr>
              <a:t>EX.</a:t>
            </a:r>
            <a:r>
              <a:rPr lang="en-US" sz="2400" b="1" dirty="0" smtClean="0">
                <a:solidFill>
                  <a:srgbClr val="FF0000"/>
                </a:solidFill>
              </a:rPr>
              <a:t> </a:t>
            </a:r>
            <a:r>
              <a:rPr lang="en-US" sz="2400" dirty="0" smtClean="0">
                <a:solidFill>
                  <a:srgbClr val="0033CC"/>
                </a:solidFill>
              </a:rPr>
              <a:t>A </a:t>
            </a:r>
            <a:r>
              <a:rPr lang="en-US" sz="2400" dirty="0">
                <a:solidFill>
                  <a:srgbClr val="0033CC"/>
                </a:solidFill>
              </a:rPr>
              <a:t>survey was conducted to determine the age (in years) of 120 automobiles</a:t>
            </a:r>
            <a:r>
              <a:rPr lang="en-US" sz="2400" dirty="0" smtClean="0">
                <a:solidFill>
                  <a:srgbClr val="0033CC"/>
                </a:solidFill>
              </a:rPr>
              <a:t>. </a:t>
            </a:r>
            <a:r>
              <a:rPr lang="en-US" sz="2400" dirty="0"/>
              <a:t>What is the </a:t>
            </a:r>
            <a:r>
              <a:rPr lang="en-US" sz="2400" dirty="0">
                <a:solidFill>
                  <a:srgbClr val="FF0000"/>
                </a:solidFill>
                <a:effectLst>
                  <a:outerShdw blurRad="38100" dist="38100" dir="2700000" algn="tl">
                    <a:srgbClr val="000000">
                      <a:alpha val="43137"/>
                    </a:srgbClr>
                  </a:outerShdw>
                </a:effectLst>
              </a:rPr>
              <a:t>median age </a:t>
            </a:r>
            <a:r>
              <a:rPr lang="en-US" sz="2400" dirty="0"/>
              <a:t>for the autos</a:t>
            </a:r>
            <a:r>
              <a:rPr lang="en-US" sz="2400" dirty="0" smtClean="0"/>
              <a:t>?</a:t>
            </a:r>
          </a:p>
          <a:p>
            <a:pPr marL="0" indent="0" algn="just">
              <a:buNone/>
            </a:pPr>
            <a:endParaRPr lang="en-US" sz="2400" dirty="0"/>
          </a:p>
          <a:p>
            <a:pPr marL="0" indent="0" algn="just">
              <a:buNone/>
            </a:pPr>
            <a:endParaRPr lang="en-US" sz="2400" dirty="0" smtClean="0"/>
          </a:p>
          <a:p>
            <a:pPr marL="0" indent="0" algn="just">
              <a:buNone/>
            </a:pPr>
            <a:endParaRPr lang="en-US" sz="2400" dirty="0"/>
          </a:p>
          <a:p>
            <a:pPr marL="0" indent="0" algn="just">
              <a:buNone/>
            </a:pPr>
            <a:endParaRPr lang="en-US" sz="2400" dirty="0" smtClean="0"/>
          </a:p>
          <a:p>
            <a:pPr marL="0" indent="0" algn="just">
              <a:buNone/>
            </a:pPr>
            <a:endParaRPr lang="en-US" sz="2400" dirty="0" smtClean="0"/>
          </a:p>
          <a:p>
            <a:pPr marL="0" indent="0" algn="just">
              <a:buNone/>
            </a:pPr>
            <a:r>
              <a:rPr lang="en-US" sz="2400" dirty="0" err="1" smtClean="0"/>
              <a:t>Soln</a:t>
            </a:r>
            <a:r>
              <a:rPr lang="en-US" sz="2400" dirty="0" smtClean="0"/>
              <a:t>: </a:t>
            </a:r>
            <a:endParaRPr lang="en-US" sz="2400" dirty="0"/>
          </a:p>
          <a:p>
            <a:pPr marL="0" indent="0" algn="just">
              <a:buNone/>
            </a:pPr>
            <a:endParaRPr lang="en-US" sz="2400" dirty="0" smtClean="0">
              <a:solidFill>
                <a:srgbClr val="0033CC"/>
              </a:solidFill>
            </a:endParaRPr>
          </a:p>
          <a:p>
            <a:pPr marL="0" indent="0" algn="just">
              <a:buNone/>
            </a:pPr>
            <a:endParaRPr lang="en-US" sz="2400" dirty="0">
              <a:solidFill>
                <a:srgbClr val="0033CC"/>
              </a:solidFill>
            </a:endParaRPr>
          </a:p>
          <a:p>
            <a:pPr marL="0" indent="0" algn="just">
              <a:buNone/>
            </a:pPr>
            <a:endParaRPr lang="en-US" sz="2400" dirty="0">
              <a:solidFill>
                <a:srgbClr val="0033CC"/>
              </a:solidFill>
            </a:endParaRPr>
          </a:p>
        </p:txBody>
      </p:sp>
      <p:pic>
        <p:nvPicPr>
          <p:cNvPr id="4" name="img-110_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990600"/>
            <a:ext cx="7391400" cy="694717"/>
          </a:xfrm>
          <a:prstGeom prst="rect">
            <a:avLst/>
          </a:prstGeom>
          <a:noFill/>
          <a:ln>
            <a:noFill/>
          </a:ln>
        </p:spPr>
      </p:pic>
      <p:pic>
        <p:nvPicPr>
          <p:cNvPr id="5" name="img-c03t022" descr="Table 3.22 Calculations for Median Value"/>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1981200"/>
            <a:ext cx="6934200" cy="3276600"/>
          </a:xfrm>
          <a:prstGeom prst="rect">
            <a:avLst/>
          </a:prstGeom>
          <a:noFill/>
          <a:ln>
            <a:noFill/>
          </a:ln>
        </p:spPr>
      </p:pic>
      <p:sp>
        <p:nvSpPr>
          <p:cNvPr id="6" name="Rectangle 5"/>
          <p:cNvSpPr/>
          <p:nvPr/>
        </p:nvSpPr>
        <p:spPr>
          <a:xfrm>
            <a:off x="0" y="5486400"/>
            <a:ext cx="9088066" cy="1508105"/>
          </a:xfrm>
          <a:prstGeom prst="rect">
            <a:avLst/>
          </a:prstGeom>
        </p:spPr>
        <p:txBody>
          <a:bodyPr wrap="square">
            <a:spAutoFit/>
          </a:bodyPr>
          <a:lstStyle/>
          <a:p>
            <a:pPr algn="just"/>
            <a:r>
              <a:rPr lang="en-US" sz="2400" dirty="0">
                <a:solidFill>
                  <a:srgbClr val="FF0000"/>
                </a:solidFill>
              </a:rPr>
              <a:t>Here the total number of observations (frequencies) are </a:t>
            </a:r>
            <a:r>
              <a:rPr lang="en-US" sz="2400" b="1" dirty="0">
                <a:solidFill>
                  <a:srgbClr val="0066FF"/>
                </a:solidFill>
                <a:effectLst>
                  <a:outerShdw blurRad="38100" dist="38100" dir="2700000" algn="tl">
                    <a:srgbClr val="000000">
                      <a:alpha val="43137"/>
                    </a:srgbClr>
                  </a:outerShdw>
                </a:effectLst>
              </a:rPr>
              <a:t>n = 120</a:t>
            </a:r>
            <a:r>
              <a:rPr lang="en-US" sz="2400" dirty="0">
                <a:solidFill>
                  <a:srgbClr val="FF0000"/>
                </a:solidFill>
              </a:rPr>
              <a:t>. </a:t>
            </a:r>
            <a:r>
              <a:rPr lang="en-US" sz="2400" b="1" dirty="0">
                <a:solidFill>
                  <a:srgbClr val="0033CC"/>
                </a:solidFill>
                <a:effectLst>
                  <a:outerShdw blurRad="38100" dist="38100" dir="2700000" algn="tl">
                    <a:srgbClr val="000000">
                      <a:alpha val="43137"/>
                    </a:srgbClr>
                  </a:outerShdw>
                </a:effectLst>
              </a:rPr>
              <a:t>Median is the size of (n/2)</a:t>
            </a:r>
            <a:r>
              <a:rPr lang="en-US" sz="2400" b="1" dirty="0" err="1">
                <a:solidFill>
                  <a:srgbClr val="0033CC"/>
                </a:solidFill>
                <a:effectLst>
                  <a:outerShdw blurRad="38100" dist="38100" dir="2700000" algn="tl">
                    <a:srgbClr val="000000">
                      <a:alpha val="43137"/>
                    </a:srgbClr>
                  </a:outerShdw>
                </a:effectLst>
              </a:rPr>
              <a:t>th</a:t>
            </a:r>
            <a:r>
              <a:rPr lang="en-US" sz="2400" dirty="0">
                <a:solidFill>
                  <a:srgbClr val="FF0000"/>
                </a:solidFill>
              </a:rPr>
              <a:t> = </a:t>
            </a:r>
            <a:r>
              <a:rPr lang="en-US" sz="2400" b="1" dirty="0">
                <a:solidFill>
                  <a:schemeClr val="tx2">
                    <a:lumMod val="50000"/>
                  </a:schemeClr>
                </a:solidFill>
                <a:effectLst>
                  <a:outerShdw blurRad="38100" dist="38100" dir="2700000" algn="tl">
                    <a:srgbClr val="000000">
                      <a:alpha val="43137"/>
                    </a:srgbClr>
                  </a:outerShdw>
                </a:effectLst>
              </a:rPr>
              <a:t>120 ÷ 2 = </a:t>
            </a:r>
            <a:r>
              <a:rPr lang="en-US" sz="2400" b="1" dirty="0">
                <a:solidFill>
                  <a:srgbClr val="0033CC"/>
                </a:solidFill>
                <a:effectLst>
                  <a:outerShdw blurRad="38100" dist="38100" dir="2700000" algn="tl">
                    <a:srgbClr val="000000">
                      <a:alpha val="43137"/>
                    </a:srgbClr>
                  </a:outerShdw>
                </a:effectLst>
              </a:rPr>
              <a:t>60</a:t>
            </a:r>
            <a:r>
              <a:rPr lang="en-US" sz="2400" b="1" baseline="30000" dirty="0">
                <a:solidFill>
                  <a:srgbClr val="0033CC"/>
                </a:solidFill>
                <a:effectLst>
                  <a:outerShdw blurRad="38100" dist="38100" dir="2700000" algn="tl">
                    <a:srgbClr val="000000">
                      <a:alpha val="43137"/>
                    </a:srgbClr>
                  </a:outerShdw>
                </a:effectLst>
              </a:rPr>
              <a:t>th</a:t>
            </a:r>
            <a:r>
              <a:rPr lang="en-US" sz="2400" b="1" dirty="0">
                <a:solidFill>
                  <a:schemeClr val="tx2">
                    <a:lumMod val="60000"/>
                    <a:lumOff val="40000"/>
                  </a:schemeClr>
                </a:solidFill>
                <a:effectLst>
                  <a:outerShdw blurRad="38100" dist="38100" dir="2700000" algn="tl">
                    <a:srgbClr val="000000">
                      <a:alpha val="43137"/>
                    </a:srgbClr>
                  </a:outerShdw>
                </a:effectLst>
              </a:rPr>
              <a:t> </a:t>
            </a:r>
            <a:r>
              <a:rPr lang="en-US" sz="2400" b="1" dirty="0">
                <a:solidFill>
                  <a:srgbClr val="7030A0"/>
                </a:solidFill>
                <a:effectLst>
                  <a:outerShdw blurRad="38100" dist="38100" dir="2700000" algn="tl">
                    <a:srgbClr val="000000">
                      <a:alpha val="43137"/>
                    </a:srgbClr>
                  </a:outerShdw>
                </a:effectLst>
                <a:sym typeface="Wingdings" pitchFamily="2" charset="2"/>
              </a:rPr>
              <a:t>check where </a:t>
            </a:r>
            <a:r>
              <a:rPr lang="en-US" sz="2400" b="1" u="sng" dirty="0">
                <a:solidFill>
                  <a:srgbClr val="FF0000"/>
                </a:solidFill>
                <a:effectLst>
                  <a:outerShdw blurRad="38100" dist="38100" dir="2700000" algn="tl">
                    <a:srgbClr val="000000">
                      <a:alpha val="43137"/>
                    </a:srgbClr>
                  </a:outerShdw>
                </a:effectLst>
                <a:sym typeface="Wingdings" pitchFamily="2" charset="2"/>
              </a:rPr>
              <a:t>cumulative frequency</a:t>
            </a:r>
            <a:r>
              <a:rPr lang="en-US" sz="2400" b="1" dirty="0">
                <a:solidFill>
                  <a:srgbClr val="7030A0"/>
                </a:solidFill>
                <a:effectLst>
                  <a:outerShdw blurRad="38100" dist="38100" dir="2700000" algn="tl">
                    <a:srgbClr val="000000">
                      <a:alpha val="43137"/>
                    </a:srgbClr>
                  </a:outerShdw>
                </a:effectLst>
                <a:sym typeface="Wingdings" pitchFamily="2" charset="2"/>
              </a:rPr>
              <a:t> JUST GREATER than </a:t>
            </a:r>
            <a:r>
              <a:rPr lang="en-US" sz="2400" b="1" dirty="0" smtClean="0">
                <a:solidFill>
                  <a:srgbClr val="7030A0"/>
                </a:solidFill>
                <a:effectLst>
                  <a:outerShdw blurRad="38100" dist="38100" dir="2700000" algn="tl">
                    <a:srgbClr val="000000">
                      <a:alpha val="43137"/>
                    </a:srgbClr>
                  </a:outerShdw>
                </a:effectLst>
                <a:sym typeface="Wingdings" pitchFamily="2" charset="2"/>
              </a:rPr>
              <a:t>60 </a:t>
            </a:r>
            <a:r>
              <a:rPr lang="en-US" sz="2400" b="1" dirty="0">
                <a:solidFill>
                  <a:srgbClr val="7030A0"/>
                </a:solidFill>
                <a:effectLst>
                  <a:outerShdw blurRad="38100" dist="38100" dir="2700000" algn="tl">
                    <a:srgbClr val="000000">
                      <a:alpha val="43137"/>
                    </a:srgbClr>
                  </a:outerShdw>
                </a:effectLst>
                <a:sym typeface="Wingdings" pitchFamily="2" charset="2"/>
              </a:rPr>
              <a:t></a:t>
            </a:r>
            <a:r>
              <a:rPr lang="en-US" sz="2000" b="1" dirty="0">
                <a:solidFill>
                  <a:schemeClr val="accent4"/>
                </a:solidFill>
                <a:effectLst>
                  <a:outerShdw blurRad="38100" dist="38100" dir="2700000" algn="tl">
                    <a:srgbClr val="000000">
                      <a:alpha val="43137"/>
                    </a:srgbClr>
                  </a:outerShdw>
                </a:effectLst>
                <a:sym typeface="Wingdings" pitchFamily="2" charset="2"/>
              </a:rPr>
              <a:t>  </a:t>
            </a:r>
            <a:r>
              <a:rPr lang="en-US" sz="2400" b="1" dirty="0">
                <a:effectLst>
                  <a:outerShdw blurRad="38100" dist="38100" dir="2700000" algn="tl">
                    <a:srgbClr val="000000">
                      <a:alpha val="43137"/>
                    </a:srgbClr>
                  </a:outerShdw>
                </a:effectLst>
                <a:sym typeface="Wingdings" pitchFamily="2" charset="2"/>
              </a:rPr>
              <a:t>which is </a:t>
            </a:r>
            <a:r>
              <a:rPr lang="en-US" sz="2400" b="1" dirty="0" smtClean="0">
                <a:solidFill>
                  <a:srgbClr val="FF0000"/>
                </a:solidFill>
                <a:effectLst>
                  <a:outerShdw blurRad="38100" dist="38100" dir="2700000" algn="tl">
                    <a:srgbClr val="000000">
                      <a:alpha val="43137"/>
                    </a:srgbClr>
                  </a:outerShdw>
                </a:effectLst>
                <a:sym typeface="Wingdings" pitchFamily="2" charset="2"/>
              </a:rPr>
              <a:t>90</a:t>
            </a:r>
            <a:r>
              <a:rPr lang="en-US" sz="2000" b="1" dirty="0" smtClean="0">
                <a:solidFill>
                  <a:schemeClr val="accent4"/>
                </a:solidFill>
                <a:effectLst>
                  <a:outerShdw blurRad="38100" dist="38100" dir="2700000" algn="tl">
                    <a:srgbClr val="000000">
                      <a:alpha val="43137"/>
                    </a:srgbClr>
                  </a:outerShdw>
                </a:effectLst>
                <a:sym typeface="Wingdings" pitchFamily="2" charset="2"/>
              </a:rPr>
              <a:t>. </a:t>
            </a:r>
            <a:r>
              <a:rPr lang="en-US" sz="2000" b="1" dirty="0">
                <a:solidFill>
                  <a:schemeClr val="accent4"/>
                </a:solidFill>
                <a:effectLst>
                  <a:outerShdw blurRad="38100" dist="38100" dir="2700000" algn="tl">
                    <a:srgbClr val="000000">
                      <a:alpha val="43137"/>
                    </a:srgbClr>
                  </a:outerShdw>
                </a:effectLst>
                <a:sym typeface="Wingdings" pitchFamily="2" charset="2"/>
              </a:rPr>
              <a:t>MARK </a:t>
            </a:r>
            <a:r>
              <a:rPr lang="en-US" sz="2000" b="1" dirty="0" smtClean="0">
                <a:solidFill>
                  <a:schemeClr val="accent4"/>
                </a:solidFill>
                <a:effectLst>
                  <a:outerShdw blurRad="38100" dist="38100" dir="2700000" algn="tl">
                    <a:srgbClr val="000000">
                      <a:alpha val="43137"/>
                    </a:srgbClr>
                  </a:outerShdw>
                </a:effectLst>
                <a:sym typeface="Wingdings" pitchFamily="2" charset="2"/>
              </a:rPr>
              <a:t>THIS MEDIAN CLASS. </a:t>
            </a:r>
          </a:p>
        </p:txBody>
      </p:sp>
    </p:spTree>
    <p:extLst>
      <p:ext uri="{BB962C8B-B14F-4D97-AF65-F5344CB8AC3E}">
        <p14:creationId xmlns:p14="http://schemas.microsoft.com/office/powerpoint/2010/main" val="190731549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52536" y="4876800"/>
            <a:ext cx="4043464"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5943600"/>
            <a:ext cx="5638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234" name="Picture 2"/>
          <p:cNvPicPr>
            <a:picLocks noChangeAspect="1" noChangeArrowheads="1"/>
          </p:cNvPicPr>
          <p:nvPr/>
        </p:nvPicPr>
        <p:blipFill>
          <a:blip r:embed="rId4" cstate="print"/>
          <a:srcRect/>
          <a:stretch>
            <a:fillRect/>
          </a:stretch>
        </p:blipFill>
        <p:spPr bwMode="auto">
          <a:xfrm>
            <a:off x="0" y="0"/>
            <a:ext cx="9144000" cy="3962400"/>
          </a:xfrm>
          <a:prstGeom prst="rect">
            <a:avLst/>
          </a:prstGeom>
          <a:noFill/>
          <a:ln w="9525">
            <a:noFill/>
            <a:miter lim="800000"/>
            <a:headEnd/>
            <a:tailEnd/>
          </a:ln>
          <a:effectLst/>
        </p:spPr>
      </p:pic>
    </p:spTree>
    <p:extLst>
      <p:ext uri="{BB962C8B-B14F-4D97-AF65-F5344CB8AC3E}">
        <p14:creationId xmlns:p14="http://schemas.microsoft.com/office/powerpoint/2010/main" val="116513765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81800"/>
          </a:xfrm>
        </p:spPr>
        <p:txBody>
          <a:bodyPr/>
          <a:lstStyle/>
          <a:p>
            <a:r>
              <a:rPr lang="en-US" dirty="0" smtClean="0">
                <a:effectLst>
                  <a:outerShdw blurRad="38100" dist="38100" dir="2700000" algn="tl">
                    <a:srgbClr val="000000">
                      <a:alpha val="43137"/>
                    </a:srgbClr>
                  </a:outerShdw>
                </a:effectLst>
              </a:rPr>
              <a:t>Median in case of Inclusive</a:t>
            </a:r>
          </a:p>
          <a:p>
            <a:endParaRPr lang="en-US" dirty="0">
              <a:effectLst>
                <a:outerShdw blurRad="38100" dist="38100" dir="2700000" algn="tl">
                  <a:srgbClr val="000000">
                    <a:alpha val="43137"/>
                  </a:srgbClr>
                </a:outerShdw>
              </a:effectLst>
            </a:endParaRPr>
          </a:p>
          <a:p>
            <a:endParaRPr lang="en-US" dirty="0" smtClean="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a:p>
            <a:endParaRPr lang="en-US" dirty="0" smtClean="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a:p>
            <a:endParaRPr lang="en-US" dirty="0" smtClean="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a:p>
            <a:endParaRPr lang="en-US" dirty="0" smtClean="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p:txBody>
      </p:sp>
      <p:pic>
        <p:nvPicPr>
          <p:cNvPr id="4101"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786" y="5228644"/>
            <a:ext cx="34321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115" name="Picture 3"/>
          <p:cNvPicPr>
            <a:picLocks noChangeAspect="1" noChangeArrowheads="1"/>
          </p:cNvPicPr>
          <p:nvPr/>
        </p:nvPicPr>
        <p:blipFill>
          <a:blip r:embed="rId3" cstate="print"/>
          <a:srcRect/>
          <a:stretch>
            <a:fillRect/>
          </a:stretch>
        </p:blipFill>
        <p:spPr bwMode="auto">
          <a:xfrm>
            <a:off x="4267200" y="4953000"/>
            <a:ext cx="4876800" cy="1905000"/>
          </a:xfrm>
          <a:prstGeom prst="rect">
            <a:avLst/>
          </a:prstGeom>
          <a:noFill/>
          <a:ln w="9525">
            <a:noFill/>
            <a:miter lim="800000"/>
            <a:headEnd/>
            <a:tailEnd/>
          </a:ln>
          <a:effectLst/>
        </p:spPr>
      </p:pic>
      <p:pic>
        <p:nvPicPr>
          <p:cNvPr id="98306" name="Picture 2"/>
          <p:cNvPicPr>
            <a:picLocks noChangeAspect="1" noChangeArrowheads="1"/>
          </p:cNvPicPr>
          <p:nvPr/>
        </p:nvPicPr>
        <p:blipFill>
          <a:blip r:embed="rId4" cstate="print"/>
          <a:srcRect/>
          <a:stretch>
            <a:fillRect/>
          </a:stretch>
        </p:blipFill>
        <p:spPr bwMode="auto">
          <a:xfrm>
            <a:off x="0" y="838200"/>
            <a:ext cx="9124950" cy="3962400"/>
          </a:xfrm>
          <a:prstGeom prst="rect">
            <a:avLst/>
          </a:prstGeom>
          <a:noFill/>
          <a:ln w="9525">
            <a:noFill/>
            <a:miter lim="800000"/>
            <a:headEnd/>
            <a:tailEnd/>
          </a:ln>
          <a:effectLst/>
        </p:spPr>
      </p:pic>
    </p:spTree>
    <p:extLst>
      <p:ext uri="{BB962C8B-B14F-4D97-AF65-F5344CB8AC3E}">
        <p14:creationId xmlns:p14="http://schemas.microsoft.com/office/powerpoint/2010/main" val="358160592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noAutofit/>
          </a:bodyPr>
          <a:lstStyle/>
          <a:p>
            <a:pPr marL="0" indent="0" algn="just">
              <a:buNone/>
            </a:pPr>
            <a:r>
              <a:rPr lang="en-US" sz="2400" dirty="0" smtClean="0"/>
              <a:t>Advantages</a:t>
            </a:r>
          </a:p>
          <a:p>
            <a:pPr marL="0" indent="0" algn="just">
              <a:buNone/>
            </a:pPr>
            <a:r>
              <a:rPr lang="en-US" sz="2400" dirty="0" smtClean="0"/>
              <a:t>1</a:t>
            </a:r>
            <a:r>
              <a:rPr lang="en-US" sz="2400" dirty="0"/>
              <a:t>.	Median is unique, i.e. like mean, there is only one median for a set of data.</a:t>
            </a:r>
          </a:p>
          <a:p>
            <a:pPr marL="0" indent="0" algn="just">
              <a:buNone/>
            </a:pPr>
            <a:r>
              <a:rPr lang="en-US" sz="2400" dirty="0"/>
              <a:t>2.	The value of median is easy to understand and may be calculated from any type of data. The median in many situations can be located simply by inspection.</a:t>
            </a:r>
          </a:p>
          <a:p>
            <a:pPr marL="0" indent="0" algn="just">
              <a:buNone/>
            </a:pPr>
            <a:r>
              <a:rPr lang="en-US" sz="2400" dirty="0"/>
              <a:t>3.	The sum of the absolute differences of all observations in the data set from median value is minimum. In other words, the absolute difference of observations from the median is less than from any other value in the distribution. That is, Σ |x – Med| = a minimum value.</a:t>
            </a:r>
          </a:p>
          <a:p>
            <a:pPr marL="0" indent="0" algn="just">
              <a:buNone/>
            </a:pPr>
            <a:r>
              <a:rPr lang="en-US" sz="2400" dirty="0"/>
              <a:t>4.	The extreme values in the data set does not affect the calculation of the median value and therefore it is the useful measure of central tendency when such values do occur.</a:t>
            </a:r>
          </a:p>
          <a:p>
            <a:pPr marL="0" indent="0" algn="just">
              <a:buNone/>
            </a:pPr>
            <a:r>
              <a:rPr lang="en-US" sz="2400" dirty="0"/>
              <a:t>5.	The median is considered the best statistical technique for studying the qualitative attribute of a an observation in the data set.</a:t>
            </a:r>
          </a:p>
          <a:p>
            <a:pPr marL="0" indent="0" algn="just">
              <a:buNone/>
            </a:pPr>
            <a:r>
              <a:rPr lang="en-US" sz="2400" dirty="0"/>
              <a:t>6.	The median value may be calculated for an open-end distribution of data set.</a:t>
            </a:r>
          </a:p>
          <a:p>
            <a:pPr marL="0" indent="0" algn="just">
              <a:buNone/>
            </a:pPr>
            <a:endParaRPr lang="en-US" sz="2400" dirty="0"/>
          </a:p>
        </p:txBody>
      </p:sp>
    </p:spTree>
    <p:extLst>
      <p:ext uri="{BB962C8B-B14F-4D97-AF65-F5344CB8AC3E}">
        <p14:creationId xmlns:p14="http://schemas.microsoft.com/office/powerpoint/2010/main" val="74867216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62500" lnSpcReduction="20000"/>
          </a:bodyPr>
          <a:lstStyle/>
          <a:p>
            <a:pPr marL="0" indent="0" algn="just">
              <a:buNone/>
            </a:pPr>
            <a:r>
              <a:rPr lang="en-US" sz="3800" dirty="0">
                <a:solidFill>
                  <a:srgbClr val="0033CC"/>
                </a:solidFill>
              </a:rPr>
              <a:t>Disadvantages</a:t>
            </a:r>
          </a:p>
          <a:p>
            <a:pPr marL="514350" indent="-514350" algn="just">
              <a:buAutoNum type="arabicPeriod"/>
            </a:pPr>
            <a:r>
              <a:rPr lang="en-US" dirty="0" smtClean="0"/>
              <a:t>The </a:t>
            </a:r>
            <a:r>
              <a:rPr lang="en-US" dirty="0"/>
              <a:t>median is not capable of algebraic treatment. For example, the median of two or more sets of data cannot be determined</a:t>
            </a:r>
            <a:r>
              <a:rPr lang="en-US" dirty="0" smtClean="0"/>
              <a:t>.</a:t>
            </a:r>
          </a:p>
          <a:p>
            <a:pPr marL="0" indent="0" algn="just">
              <a:buNone/>
            </a:pPr>
            <a:endParaRPr lang="en-US" dirty="0"/>
          </a:p>
          <a:p>
            <a:pPr marL="514350" indent="-514350" algn="just">
              <a:buAutoNum type="arabicPeriod" startAt="2"/>
            </a:pPr>
            <a:r>
              <a:rPr lang="en-US" dirty="0" smtClean="0"/>
              <a:t>The </a:t>
            </a:r>
            <a:r>
              <a:rPr lang="en-US" dirty="0"/>
              <a:t>value of median is affected more by sampling variations, that is, it is affected by the number of observations rather than the values of the observations. Any observation selected at random is just as likely to exceed the median as it is to be exceeded by </a:t>
            </a:r>
            <a:r>
              <a:rPr lang="en-US" dirty="0" smtClean="0"/>
              <a:t>it</a:t>
            </a:r>
          </a:p>
          <a:p>
            <a:pPr marL="0" indent="0" algn="just">
              <a:buNone/>
            </a:pPr>
            <a:endParaRPr lang="en-US" dirty="0"/>
          </a:p>
          <a:p>
            <a:pPr marL="514350" indent="-514350" algn="just">
              <a:buAutoNum type="arabicPeriod" startAt="3"/>
            </a:pPr>
            <a:r>
              <a:rPr lang="en-US" dirty="0" smtClean="0"/>
              <a:t>Since </a:t>
            </a:r>
            <a:r>
              <a:rPr lang="en-US" dirty="0"/>
              <a:t>median is an average of position, therefore arranging the data in ascending or descending order of magnitude is time consuming in case of a large number of observations</a:t>
            </a:r>
            <a:r>
              <a:rPr lang="en-US" dirty="0" smtClean="0"/>
              <a:t>.</a:t>
            </a:r>
          </a:p>
          <a:p>
            <a:pPr marL="0" indent="0" algn="just">
              <a:buNone/>
            </a:pPr>
            <a:endParaRPr lang="en-US" dirty="0"/>
          </a:p>
          <a:p>
            <a:pPr marL="514350" indent="-514350" algn="just">
              <a:buAutoNum type="arabicPeriod" startAt="4"/>
            </a:pPr>
            <a:r>
              <a:rPr lang="en-US" dirty="0" smtClean="0"/>
              <a:t>The </a:t>
            </a:r>
            <a:r>
              <a:rPr lang="en-US" dirty="0"/>
              <a:t>calculation of median in case of grouped data is based on the assumption that values of observations are evenly spaced over the entire class-interval</a:t>
            </a:r>
            <a:r>
              <a:rPr lang="en-US" dirty="0" smtClean="0"/>
              <a:t>.</a:t>
            </a:r>
          </a:p>
          <a:p>
            <a:pPr marL="0" indent="0" algn="just">
              <a:buNone/>
            </a:pPr>
            <a:endParaRPr lang="en-US" dirty="0"/>
          </a:p>
          <a:p>
            <a:pPr marL="0" indent="0" algn="just">
              <a:buNone/>
            </a:pPr>
            <a:r>
              <a:rPr lang="en-US" sz="3800" dirty="0">
                <a:solidFill>
                  <a:srgbClr val="0033CC"/>
                </a:solidFill>
              </a:rPr>
              <a:t>Applications</a:t>
            </a:r>
          </a:p>
          <a:p>
            <a:pPr marL="0" indent="0" algn="just">
              <a:buNone/>
            </a:pPr>
            <a:r>
              <a:rPr lang="en-US" dirty="0"/>
              <a:t>The median is helpful in understanding the characteristic of a data set when</a:t>
            </a:r>
          </a:p>
          <a:p>
            <a:pPr marL="0" indent="0" algn="just">
              <a:buNone/>
            </a:pPr>
            <a:r>
              <a:rPr lang="en-US" dirty="0"/>
              <a:t>1.	observations are qualitative in nature</a:t>
            </a:r>
          </a:p>
          <a:p>
            <a:pPr marL="0" indent="0" algn="just">
              <a:buNone/>
            </a:pPr>
            <a:r>
              <a:rPr lang="en-US" dirty="0"/>
              <a:t>2.	extreme values are present in the data set</a:t>
            </a:r>
          </a:p>
          <a:p>
            <a:pPr marL="0" indent="0" algn="just">
              <a:buNone/>
            </a:pPr>
            <a:r>
              <a:rPr lang="en-US" dirty="0"/>
              <a:t>3.	a quick estimate of an average is desired.</a:t>
            </a:r>
          </a:p>
          <a:p>
            <a:pPr marL="0" indent="0">
              <a:buNone/>
            </a:pPr>
            <a:endParaRPr lang="en-US" dirty="0"/>
          </a:p>
        </p:txBody>
      </p:sp>
    </p:spTree>
    <p:extLst>
      <p:ext uri="{BB962C8B-B14F-4D97-AF65-F5344CB8AC3E}">
        <p14:creationId xmlns:p14="http://schemas.microsoft.com/office/powerpoint/2010/main" val="243706341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pPr marL="0" indent="0">
              <a:buNone/>
            </a:pPr>
            <a:r>
              <a:rPr lang="en-US" b="1" dirty="0">
                <a:solidFill>
                  <a:srgbClr val="0033CC"/>
                </a:solidFill>
              </a:rPr>
              <a:t>MODE</a:t>
            </a:r>
          </a:p>
          <a:p>
            <a:pPr marL="0" indent="0" algn="just">
              <a:buNone/>
            </a:pPr>
            <a:endParaRPr lang="en-US" dirty="0"/>
          </a:p>
          <a:p>
            <a:pPr algn="just"/>
            <a:r>
              <a:rPr lang="en-US" sz="2400" dirty="0"/>
              <a:t>The mode is that value of an observation </a:t>
            </a:r>
            <a:r>
              <a:rPr lang="en-US" sz="2800" b="1" dirty="0">
                <a:solidFill>
                  <a:srgbClr val="FF0000"/>
                </a:solidFill>
                <a:effectLst>
                  <a:outerShdw blurRad="38100" dist="38100" dir="2700000" algn="tl">
                    <a:srgbClr val="000000">
                      <a:alpha val="43137"/>
                    </a:srgbClr>
                  </a:outerShdw>
                </a:effectLst>
              </a:rPr>
              <a:t>which occurs most frequently in the data set</a:t>
            </a:r>
            <a:r>
              <a:rPr lang="en-US" sz="2400" dirty="0"/>
              <a:t>, that is, </a:t>
            </a:r>
            <a:r>
              <a:rPr lang="en-US" sz="2800" b="1" dirty="0">
                <a:solidFill>
                  <a:srgbClr val="CC00FF"/>
                </a:solidFill>
                <a:effectLst>
                  <a:outerShdw blurRad="38100" dist="38100" dir="2700000" algn="tl">
                    <a:srgbClr val="000000">
                      <a:alpha val="43137"/>
                    </a:srgbClr>
                  </a:outerShdw>
                </a:effectLst>
              </a:rPr>
              <a:t>the point (or class mark) with the highest frequency</a:t>
            </a:r>
            <a:r>
              <a:rPr lang="en-US" sz="2800" b="1" dirty="0" smtClean="0">
                <a:solidFill>
                  <a:srgbClr val="CC00FF"/>
                </a:solidFill>
                <a:effectLst>
                  <a:outerShdw blurRad="38100" dist="38100" dir="2700000" algn="tl">
                    <a:srgbClr val="000000">
                      <a:alpha val="43137"/>
                    </a:srgbClr>
                  </a:outerShdw>
                </a:effectLst>
              </a:rPr>
              <a:t>.  This method can be applied with ease and simplicity if the distribution is UNIMODAL  - having only one mode. </a:t>
            </a:r>
          </a:p>
          <a:p>
            <a:pPr algn="just"/>
            <a:endParaRPr lang="en-US" sz="2800" b="1" dirty="0" smtClean="0">
              <a:solidFill>
                <a:srgbClr val="CC00FF"/>
              </a:solidFill>
              <a:effectLst>
                <a:outerShdw blurRad="38100" dist="38100" dir="2700000" algn="tl">
                  <a:srgbClr val="000000">
                    <a:alpha val="43137"/>
                  </a:srgbClr>
                </a:outerShdw>
              </a:effectLst>
            </a:endParaRPr>
          </a:p>
          <a:p>
            <a:pPr algn="just"/>
            <a:r>
              <a:rPr lang="en-US" sz="2800" b="1" dirty="0" smtClean="0">
                <a:solidFill>
                  <a:srgbClr val="CC00FF"/>
                </a:solidFill>
                <a:effectLst>
                  <a:outerShdw blurRad="38100" dist="38100" dir="2700000" algn="tl">
                    <a:srgbClr val="000000">
                      <a:alpha val="43137"/>
                    </a:srgbClr>
                  </a:outerShdw>
                </a:effectLst>
              </a:rPr>
              <a:t>However, </a:t>
            </a:r>
            <a:r>
              <a:rPr lang="en-US" sz="2400" dirty="0" smtClean="0"/>
              <a:t>the mode is not necessarily unique, unlike arithmetic mean and median. You can have data with two modes (bi-modal) or more than two modes (multi-modal). It may be possible that there may be no mode if no value appears more frequent than any other value in the distribution</a:t>
            </a:r>
            <a:endParaRPr lang="en-US" sz="2400" b="1" dirty="0" smtClean="0">
              <a:solidFill>
                <a:srgbClr val="CC00FF"/>
              </a:solidFill>
              <a:effectLst>
                <a:outerShdw blurRad="38100" dist="38100" dir="2700000" algn="tl">
                  <a:srgbClr val="000000">
                    <a:alpha val="43137"/>
                  </a:srgbClr>
                </a:outerShdw>
              </a:effectLst>
            </a:endParaRPr>
          </a:p>
          <a:p>
            <a:pPr algn="just"/>
            <a:endParaRPr lang="en-US" sz="2400" dirty="0"/>
          </a:p>
          <a:p>
            <a:pPr algn="just"/>
            <a:r>
              <a:rPr lang="en-US" sz="2400" dirty="0">
                <a:effectLst>
                  <a:outerShdw blurRad="38100" dist="38100" dir="2700000" algn="tl">
                    <a:srgbClr val="000000">
                      <a:alpha val="43137"/>
                    </a:srgbClr>
                  </a:outerShdw>
                </a:effectLst>
              </a:rPr>
              <a:t>The concept of mode is of great use to large scale manufacturers of consumable items </a:t>
            </a:r>
            <a:r>
              <a:rPr lang="en-US" sz="2400" u="sng" dirty="0">
                <a:solidFill>
                  <a:srgbClr val="FF0000"/>
                </a:solidFill>
                <a:effectLst>
                  <a:outerShdw blurRad="38100" dist="38100" dir="2700000" algn="tl">
                    <a:srgbClr val="000000">
                      <a:alpha val="43137"/>
                    </a:srgbClr>
                  </a:outerShdw>
                </a:effectLst>
              </a:rPr>
              <a:t>such as ready-made garments</a:t>
            </a:r>
            <a:r>
              <a:rPr lang="en-US" sz="2400" dirty="0"/>
              <a:t>, shoe-makers, and so on. </a:t>
            </a:r>
            <a:r>
              <a:rPr lang="en-US" sz="2400" b="1" dirty="0">
                <a:solidFill>
                  <a:srgbClr val="CC00FF"/>
                </a:solidFill>
              </a:rPr>
              <a:t>In all such cases it is important to know the size that fits most persons rather than ‘mean’ size</a:t>
            </a:r>
            <a:r>
              <a:rPr lang="en-US" sz="2400" b="1" dirty="0" smtClean="0">
                <a:solidFill>
                  <a:srgbClr val="CC00FF"/>
                </a:solidFill>
              </a:rPr>
              <a:t>.</a:t>
            </a:r>
          </a:p>
          <a:p>
            <a:pPr algn="just"/>
            <a:endParaRPr lang="en-US" sz="2400" dirty="0" smtClean="0"/>
          </a:p>
          <a:p>
            <a:pPr algn="just"/>
            <a:endParaRPr lang="en-US" dirty="0"/>
          </a:p>
          <a:p>
            <a:endParaRPr lang="en-US" dirty="0"/>
          </a:p>
        </p:txBody>
      </p:sp>
    </p:spTree>
    <p:extLst>
      <p:ext uri="{BB962C8B-B14F-4D97-AF65-F5344CB8AC3E}">
        <p14:creationId xmlns:p14="http://schemas.microsoft.com/office/powerpoint/2010/main" val="388327042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382000" cy="4525963"/>
          </a:xfrm>
        </p:spPr>
        <p:txBody>
          <a:bodyPr/>
          <a:lstStyle/>
          <a:p>
            <a:pPr algn="just"/>
            <a:r>
              <a:rPr lang="en-US" sz="2400" dirty="0" smtClean="0"/>
              <a:t>A distribution that is not symmetrical, but rather has most of its values either to the right or to the left of the mode, is said to be </a:t>
            </a:r>
            <a:r>
              <a:rPr lang="en-US" sz="2400" i="1" dirty="0" smtClean="0"/>
              <a:t>skewed</a:t>
            </a:r>
            <a:r>
              <a:rPr lang="en-US" sz="2400" dirty="0" smtClean="0"/>
              <a:t>. For such asymmetrical distribution, Karl Pearson has suggested a relationship between these three measures of central tendency as:</a:t>
            </a:r>
            <a:endParaRPr lang="en-US" dirty="0" smtClean="0"/>
          </a:p>
          <a:p>
            <a:endParaRPr lang="en-US" dirty="0"/>
          </a:p>
        </p:txBody>
      </p:sp>
      <p:pic>
        <p:nvPicPr>
          <p:cNvPr id="4" name="Picture 3"/>
          <p:cNvPicPr>
            <a:picLocks noChangeAspect="1" noChangeArrowheads="1"/>
          </p:cNvPicPr>
          <p:nvPr/>
        </p:nvPicPr>
        <p:blipFill>
          <a:blip r:embed="rId2" cstate="print"/>
          <a:srcRect/>
          <a:stretch>
            <a:fillRect/>
          </a:stretch>
        </p:blipFill>
        <p:spPr bwMode="auto">
          <a:xfrm>
            <a:off x="2286000" y="5562600"/>
            <a:ext cx="4495800" cy="800100"/>
          </a:xfrm>
          <a:prstGeom prst="rect">
            <a:avLst/>
          </a:prstGeom>
          <a:noFill/>
          <a:ln w="9525">
            <a:noFill/>
            <a:miter lim="800000"/>
            <a:headEnd/>
            <a:tailEnd/>
          </a:ln>
          <a:effectLst/>
        </p:spPr>
      </p:pic>
      <p:pic>
        <p:nvPicPr>
          <p:cNvPr id="5" name="img-c03f005" descr="Figure 3.5 A comparison of Mean, Median, and Mode for three Distributional Shap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2590800"/>
            <a:ext cx="8077200" cy="24892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marL="0" indent="0" algn="just">
              <a:buNone/>
            </a:pPr>
            <a:r>
              <a:rPr lang="en-US" sz="2400" dirty="0">
                <a:solidFill>
                  <a:srgbClr val="0033CC"/>
                </a:solidFill>
              </a:rPr>
              <a:t>In the case of </a:t>
            </a:r>
            <a:r>
              <a:rPr lang="en-US" sz="2400" b="1" u="sng" dirty="0">
                <a:solidFill>
                  <a:srgbClr val="0033CC"/>
                </a:solidFill>
                <a:effectLst>
                  <a:outerShdw blurRad="38100" dist="38100" dir="2700000" algn="tl">
                    <a:srgbClr val="000000">
                      <a:alpha val="43137"/>
                    </a:srgbClr>
                  </a:outerShdw>
                </a:effectLst>
              </a:rPr>
              <a:t>grouped data</a:t>
            </a:r>
            <a:r>
              <a:rPr lang="en-US" sz="2400" dirty="0">
                <a:solidFill>
                  <a:srgbClr val="0033CC"/>
                </a:solidFill>
              </a:rPr>
              <a:t>, the following formula is used for calculating </a:t>
            </a:r>
            <a:r>
              <a:rPr lang="en-US" sz="2800" b="1" u="sng" dirty="0">
                <a:solidFill>
                  <a:srgbClr val="FF0000"/>
                </a:solidFill>
              </a:rPr>
              <a:t>mode</a:t>
            </a:r>
            <a:r>
              <a:rPr lang="en-US" sz="2800" b="1" u="sng" dirty="0" smtClean="0">
                <a:solidFill>
                  <a:srgbClr val="FF0000"/>
                </a:solidFill>
              </a:rPr>
              <a:t>:</a:t>
            </a:r>
          </a:p>
          <a:p>
            <a:pPr marL="0" indent="0" algn="just">
              <a:buNone/>
            </a:pPr>
            <a:endParaRPr lang="en-US" dirty="0">
              <a:solidFill>
                <a:srgbClr val="0033CC"/>
              </a:solidFill>
            </a:endParaRP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685800"/>
            <a:ext cx="5181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18288" y="2413337"/>
            <a:ext cx="8725711" cy="3785652"/>
          </a:xfrm>
          <a:prstGeom prst="rect">
            <a:avLst/>
          </a:prstGeom>
        </p:spPr>
        <p:txBody>
          <a:bodyPr wrap="square">
            <a:spAutoFit/>
          </a:bodyPr>
          <a:lstStyle/>
          <a:p>
            <a:pPr marL="457200" indent="-457200" algn="just">
              <a:buFont typeface="Arial" pitchFamily="34" charset="0"/>
              <a:buChar char="•"/>
            </a:pPr>
            <a:r>
              <a:rPr lang="en-US" sz="2400" dirty="0"/>
              <a:t>where     </a:t>
            </a:r>
            <a:r>
              <a:rPr lang="en-US" sz="2400" b="1" dirty="0">
                <a:solidFill>
                  <a:srgbClr val="CC00FF"/>
                </a:solidFill>
              </a:rPr>
              <a:t>l</a:t>
            </a:r>
            <a:r>
              <a:rPr lang="en-US" sz="2400" b="1" dirty="0"/>
              <a:t> = </a:t>
            </a:r>
            <a:r>
              <a:rPr lang="en-US" sz="2400" b="1" dirty="0">
                <a:effectLst>
                  <a:outerShdw blurRad="38100" dist="38100" dir="2700000" algn="tl">
                    <a:srgbClr val="000000">
                      <a:alpha val="43137"/>
                    </a:srgbClr>
                  </a:outerShdw>
                </a:effectLst>
              </a:rPr>
              <a:t>lower limit of the model class </a:t>
            </a:r>
            <a:r>
              <a:rPr lang="en-US" sz="2400" b="1" dirty="0" smtClean="0">
                <a:effectLst>
                  <a:outerShdw blurRad="38100" dist="38100" dir="2700000" algn="tl">
                    <a:srgbClr val="000000">
                      <a:alpha val="43137"/>
                    </a:srgbClr>
                  </a:outerShdw>
                </a:effectLst>
              </a:rPr>
              <a:t>interval</a:t>
            </a:r>
          </a:p>
          <a:p>
            <a:pPr marL="457200" indent="-457200" algn="just">
              <a:buFont typeface="Arial" pitchFamily="34" charset="0"/>
              <a:buChar char="•"/>
            </a:pPr>
            <a:endParaRPr lang="en-US" sz="2400" dirty="0"/>
          </a:p>
          <a:p>
            <a:pPr marL="457200" indent="-457200" algn="just">
              <a:buFont typeface="Arial" pitchFamily="34" charset="0"/>
              <a:buChar char="•"/>
            </a:pPr>
            <a:r>
              <a:rPr lang="en-US" sz="2400" b="1" dirty="0" smtClean="0">
                <a:solidFill>
                  <a:srgbClr val="FF0000"/>
                </a:solidFill>
              </a:rPr>
              <a:t>fm </a:t>
            </a:r>
            <a:r>
              <a:rPr lang="en-US" sz="2400" b="1" dirty="0" smtClean="0"/>
              <a:t>=  modal frequency  ( MAXIMUM FREQUENCY OCCURANCE)</a:t>
            </a:r>
          </a:p>
          <a:p>
            <a:pPr marL="457200" indent="-457200" algn="just">
              <a:buFont typeface="Arial" pitchFamily="34" charset="0"/>
              <a:buChar char="•"/>
            </a:pPr>
            <a:endParaRPr lang="en-US" sz="2400" dirty="0"/>
          </a:p>
          <a:p>
            <a:pPr marL="457200" indent="-457200" algn="just">
              <a:buFont typeface="Arial" pitchFamily="34" charset="0"/>
              <a:buChar char="•"/>
            </a:pPr>
            <a:r>
              <a:rPr lang="en-US" sz="2400" b="1" dirty="0" err="1" smtClean="0">
                <a:solidFill>
                  <a:srgbClr val="0066FF"/>
                </a:solidFill>
                <a:effectLst>
                  <a:outerShdw blurRad="38100" dist="38100" dir="2700000" algn="tl">
                    <a:srgbClr val="000000">
                      <a:alpha val="43137"/>
                    </a:srgbClr>
                  </a:outerShdw>
                </a:effectLst>
              </a:rPr>
              <a:t>fm</a:t>
            </a:r>
            <a:r>
              <a:rPr lang="en-US" sz="2400" b="1" dirty="0" smtClean="0">
                <a:solidFill>
                  <a:srgbClr val="0066FF"/>
                </a:solidFill>
                <a:effectLst>
                  <a:outerShdw blurRad="38100" dist="38100" dir="2700000" algn="tl">
                    <a:srgbClr val="000000">
                      <a:alpha val="43137"/>
                    </a:srgbClr>
                  </a:outerShdw>
                </a:effectLst>
              </a:rPr>
              <a:t> </a:t>
            </a:r>
            <a:r>
              <a:rPr lang="en-US" sz="2400" b="1" dirty="0">
                <a:solidFill>
                  <a:srgbClr val="0066FF"/>
                </a:solidFill>
                <a:effectLst>
                  <a:outerShdw blurRad="38100" dist="38100" dir="2700000" algn="tl">
                    <a:srgbClr val="000000">
                      <a:alpha val="43137"/>
                    </a:srgbClr>
                  </a:outerShdw>
                </a:effectLst>
              </a:rPr>
              <a:t>– 1 </a:t>
            </a:r>
            <a:r>
              <a:rPr lang="en-US" sz="2400" b="1" dirty="0">
                <a:effectLst>
                  <a:outerShdw blurRad="38100" dist="38100" dir="2700000" algn="tl">
                    <a:srgbClr val="000000">
                      <a:alpha val="43137"/>
                    </a:srgbClr>
                  </a:outerShdw>
                </a:effectLst>
              </a:rPr>
              <a:t>= frequency of the </a:t>
            </a:r>
            <a:r>
              <a:rPr lang="en-US" sz="2400" b="1" dirty="0">
                <a:solidFill>
                  <a:srgbClr val="0033CC"/>
                </a:solidFill>
                <a:effectLst>
                  <a:outerShdw blurRad="38100" dist="38100" dir="2700000" algn="tl">
                    <a:srgbClr val="000000">
                      <a:alpha val="43137"/>
                    </a:srgbClr>
                  </a:outerShdw>
                </a:effectLst>
              </a:rPr>
              <a:t>class preceding the mode class </a:t>
            </a:r>
            <a:r>
              <a:rPr lang="en-US" sz="2400" b="1" dirty="0" smtClean="0">
                <a:solidFill>
                  <a:srgbClr val="0033CC"/>
                </a:solidFill>
                <a:effectLst>
                  <a:outerShdw blurRad="38100" dist="38100" dir="2700000" algn="tl">
                    <a:srgbClr val="000000">
                      <a:alpha val="43137"/>
                    </a:srgbClr>
                  </a:outerShdw>
                </a:effectLst>
              </a:rPr>
              <a:t>interval</a:t>
            </a:r>
          </a:p>
          <a:p>
            <a:pPr marL="457200" indent="-457200" algn="just">
              <a:buFont typeface="Arial" pitchFamily="34" charset="0"/>
              <a:buChar char="•"/>
            </a:pPr>
            <a:endParaRPr lang="en-US" sz="2400" dirty="0" smtClean="0"/>
          </a:p>
          <a:p>
            <a:pPr marL="457200" indent="-457200" algn="just">
              <a:buFont typeface="Arial" pitchFamily="34" charset="0"/>
              <a:buChar char="•"/>
            </a:pPr>
            <a:r>
              <a:rPr lang="en-US" sz="2400" b="1" dirty="0" err="1" smtClean="0">
                <a:solidFill>
                  <a:srgbClr val="FF0000"/>
                </a:solidFill>
              </a:rPr>
              <a:t>fm</a:t>
            </a:r>
            <a:r>
              <a:rPr lang="en-US" sz="2400" b="1" dirty="0" smtClean="0">
                <a:solidFill>
                  <a:srgbClr val="FF0000"/>
                </a:solidFill>
              </a:rPr>
              <a:t> </a:t>
            </a:r>
            <a:r>
              <a:rPr lang="en-US" sz="2400" b="1" dirty="0">
                <a:solidFill>
                  <a:srgbClr val="FF0000"/>
                </a:solidFill>
              </a:rPr>
              <a:t>+ 1 </a:t>
            </a:r>
            <a:r>
              <a:rPr lang="en-US" sz="2400" b="1" dirty="0"/>
              <a:t>= frequency of the </a:t>
            </a:r>
            <a:r>
              <a:rPr lang="en-US" sz="2400" b="1" dirty="0">
                <a:solidFill>
                  <a:srgbClr val="FF0000"/>
                </a:solidFill>
              </a:rPr>
              <a:t>class following the mode class interval</a:t>
            </a:r>
          </a:p>
          <a:p>
            <a:pPr algn="just"/>
            <a:r>
              <a:rPr lang="en-US" sz="2400" dirty="0"/>
              <a:t>      </a:t>
            </a:r>
            <a:endParaRPr lang="en-US" sz="2400" dirty="0" smtClean="0"/>
          </a:p>
          <a:p>
            <a:pPr marL="457200" indent="-457200" algn="just">
              <a:buFont typeface="Arial" pitchFamily="34" charset="0"/>
              <a:buChar char="•"/>
            </a:pPr>
            <a:r>
              <a:rPr lang="en-US" sz="2400" b="1" dirty="0" smtClean="0">
                <a:solidFill>
                  <a:srgbClr val="0066FF"/>
                </a:solidFill>
              </a:rPr>
              <a:t>h</a:t>
            </a:r>
            <a:r>
              <a:rPr lang="en-US" sz="2400" b="1" dirty="0" smtClean="0"/>
              <a:t> </a:t>
            </a:r>
            <a:r>
              <a:rPr lang="en-US" sz="2400" b="1" dirty="0"/>
              <a:t>= width of the mode class interval</a:t>
            </a:r>
            <a:endParaRPr lang="en-US" sz="2800" b="1" dirty="0"/>
          </a:p>
        </p:txBody>
      </p:sp>
    </p:spTree>
    <p:extLst>
      <p:ext uri="{BB962C8B-B14F-4D97-AF65-F5344CB8AC3E}">
        <p14:creationId xmlns:p14="http://schemas.microsoft.com/office/powerpoint/2010/main" val="252918384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62500" lnSpcReduction="20000"/>
          </a:bodyPr>
          <a:lstStyle/>
          <a:p>
            <a:pPr algn="ctr">
              <a:buNone/>
            </a:pPr>
            <a:r>
              <a:rPr lang="en-US" sz="3800" dirty="0" smtClean="0">
                <a:solidFill>
                  <a:srgbClr val="FF0000"/>
                </a:solidFill>
              </a:rPr>
              <a:t>FOR COMPUTING MODE  WE HAVE FOLLOWING ASSUMPTIONS : </a:t>
            </a:r>
          </a:p>
          <a:p>
            <a:pPr marL="571500" indent="-571500" algn="just">
              <a:buAutoNum type="romanLcParenBoth"/>
            </a:pPr>
            <a:r>
              <a:rPr lang="en-US" sz="3400" dirty="0" smtClean="0"/>
              <a:t>The frequency distribution must be continuous with exclusive type classes without any gaps. If the data are not given in the form of continuous classes, it must first be converted into continuous classes before applying formula  </a:t>
            </a:r>
          </a:p>
          <a:p>
            <a:pPr marL="571500" indent="-571500" algn="just">
              <a:buNone/>
            </a:pPr>
            <a:endParaRPr lang="en-US" sz="3400" dirty="0" smtClean="0"/>
          </a:p>
          <a:p>
            <a:pPr algn="just">
              <a:buNone/>
            </a:pPr>
            <a:r>
              <a:rPr lang="en-US" sz="3400" dirty="0" smtClean="0"/>
              <a:t>(ii) The class intervals must be uniform throughout i.e., the width of all the class intervals must be the same. </a:t>
            </a:r>
          </a:p>
          <a:p>
            <a:pPr algn="just">
              <a:buNone/>
            </a:pPr>
            <a:endParaRPr lang="en-US" sz="3400" dirty="0" smtClean="0"/>
          </a:p>
          <a:p>
            <a:pPr algn="just">
              <a:buNone/>
            </a:pPr>
            <a:r>
              <a:rPr lang="en-US" sz="3400" dirty="0" smtClean="0"/>
              <a:t>In case of the distribution with unequal class intervals, they should be made equal under the assumption that the frequencies are uniformly distributed over all the classes, otherwise the value of mode computed from will give misleading results. </a:t>
            </a:r>
          </a:p>
          <a:p>
            <a:pPr algn="just"/>
            <a:endParaRPr lang="en-US" sz="3400" dirty="0" smtClean="0"/>
          </a:p>
          <a:p>
            <a:pPr algn="just">
              <a:buNone/>
            </a:pPr>
            <a:r>
              <a:rPr lang="en-US" sz="3400" dirty="0" smtClean="0"/>
              <a:t> </a:t>
            </a:r>
            <a:r>
              <a:rPr lang="en-US" sz="3800" dirty="0" smtClean="0">
                <a:solidFill>
                  <a:srgbClr val="FF0000"/>
                </a:solidFill>
              </a:rPr>
              <a:t>However, the above technique of locating mode is not practicable in the following situations </a:t>
            </a:r>
            <a:r>
              <a:rPr lang="en-US" sz="3800" dirty="0" smtClean="0"/>
              <a:t>: </a:t>
            </a:r>
            <a:endParaRPr lang="en-US" sz="3400" dirty="0" smtClean="0"/>
          </a:p>
          <a:p>
            <a:pPr algn="just">
              <a:buNone/>
            </a:pPr>
            <a:r>
              <a:rPr lang="en-US" sz="3400" dirty="0" smtClean="0"/>
              <a:t>(</a:t>
            </a:r>
            <a:r>
              <a:rPr lang="en-US" sz="3400" dirty="0" err="1" smtClean="0"/>
              <a:t>i</a:t>
            </a:r>
            <a:r>
              <a:rPr lang="en-US" sz="3400" dirty="0" smtClean="0"/>
              <a:t>) If the maximum frequency is repeated or approximately equal concentration is found in two or more </a:t>
            </a:r>
            <a:r>
              <a:rPr lang="en-US" sz="3400" dirty="0" err="1" smtClean="0"/>
              <a:t>neighbouring</a:t>
            </a:r>
            <a:r>
              <a:rPr lang="en-US" sz="3400" dirty="0" smtClean="0"/>
              <a:t> values. </a:t>
            </a:r>
          </a:p>
          <a:p>
            <a:pPr algn="just">
              <a:buNone/>
            </a:pPr>
            <a:r>
              <a:rPr lang="en-US" sz="3400" dirty="0" smtClean="0"/>
              <a:t>(ii) If the maximum frequency occurs either in the very beginning or at the end of the distribution. </a:t>
            </a:r>
          </a:p>
          <a:p>
            <a:pPr algn="just">
              <a:buNone/>
            </a:pPr>
            <a:r>
              <a:rPr lang="en-US" sz="3400" dirty="0" smtClean="0"/>
              <a:t>(iii) If there are irregularities in the distribution i.e., the frequencies of the variable increase or decrease in a haphazard way.</a:t>
            </a:r>
            <a:endParaRPr lang="en-US" sz="3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a:r>
              <a:rPr lang="en-US" sz="2400" b="1" dirty="0" smtClean="0">
                <a:effectLst>
                  <a:outerShdw blurRad="38100" dist="38100" dir="2700000" algn="tl">
                    <a:srgbClr val="000000">
                      <a:alpha val="43137"/>
                    </a:srgbClr>
                  </a:outerShdw>
                </a:effectLst>
              </a:rPr>
              <a:t>EX:</a:t>
            </a:r>
          </a:p>
          <a:p>
            <a:pPr algn="just"/>
            <a:endParaRPr lang="en-US" sz="2400" b="1" dirty="0">
              <a:effectLst>
                <a:outerShdw blurRad="38100" dist="38100" dir="2700000" algn="tl">
                  <a:srgbClr val="000000">
                    <a:alpha val="43137"/>
                  </a:srgbClr>
                </a:outerShdw>
              </a:effectLst>
            </a:endParaRPr>
          </a:p>
          <a:p>
            <a:pPr algn="just"/>
            <a:endParaRPr lang="en-US" sz="2400" b="1" dirty="0" smtClean="0">
              <a:effectLst>
                <a:outerShdw blurRad="38100" dist="38100" dir="2700000" algn="tl">
                  <a:srgbClr val="000000">
                    <a:alpha val="43137"/>
                  </a:srgbClr>
                </a:outerShdw>
              </a:effectLst>
            </a:endParaRPr>
          </a:p>
          <a:p>
            <a:pPr algn="just"/>
            <a:endParaRPr lang="en-US" sz="2400" b="1" dirty="0">
              <a:effectLst>
                <a:outerShdw blurRad="38100" dist="38100" dir="2700000" algn="tl">
                  <a:srgbClr val="000000">
                    <a:alpha val="43137"/>
                  </a:srgbClr>
                </a:outerShdw>
              </a:effectLst>
            </a:endParaRPr>
          </a:p>
          <a:p>
            <a:pPr algn="just"/>
            <a:endParaRPr lang="en-US" sz="2400" b="1" dirty="0" smtClean="0">
              <a:effectLst>
                <a:outerShdw blurRad="38100" dist="38100" dir="2700000" algn="tl">
                  <a:srgbClr val="000000">
                    <a:alpha val="43137"/>
                  </a:srgbClr>
                </a:outerShdw>
              </a:effectLst>
            </a:endParaRPr>
          </a:p>
          <a:p>
            <a:pPr algn="just"/>
            <a:endParaRPr lang="en-US" sz="2400" b="1" dirty="0">
              <a:effectLst>
                <a:outerShdw blurRad="38100" dist="38100" dir="2700000" algn="tl">
                  <a:srgbClr val="000000">
                    <a:alpha val="43137"/>
                  </a:srgbClr>
                </a:outerShdw>
              </a:effectLst>
            </a:endParaRPr>
          </a:p>
          <a:p>
            <a:pPr algn="just"/>
            <a:endParaRPr lang="en-US" sz="2400" b="1" dirty="0" smtClean="0">
              <a:effectLst>
                <a:outerShdw blurRad="38100" dist="38100" dir="2700000" algn="tl">
                  <a:srgbClr val="000000">
                    <a:alpha val="43137"/>
                  </a:srgbClr>
                </a:outerShdw>
              </a:effectLst>
            </a:endParaRPr>
          </a:p>
          <a:p>
            <a:pPr algn="just"/>
            <a:endParaRPr lang="en-US" sz="2400" b="1" dirty="0">
              <a:effectLst>
                <a:outerShdw blurRad="38100" dist="38100" dir="2700000" algn="tl">
                  <a:srgbClr val="000000">
                    <a:alpha val="43137"/>
                  </a:srgbClr>
                </a:outerShdw>
              </a:effectLst>
            </a:endParaRPr>
          </a:p>
          <a:p>
            <a:pPr algn="just"/>
            <a:endParaRPr lang="en-US" sz="2400" b="1" dirty="0" smtClean="0">
              <a:effectLst>
                <a:outerShdw blurRad="38100" dist="38100" dir="2700000" algn="tl">
                  <a:srgbClr val="000000">
                    <a:alpha val="43137"/>
                  </a:srgbClr>
                </a:outerShdw>
              </a:effectLst>
            </a:endParaRPr>
          </a:p>
          <a:p>
            <a:pPr algn="just"/>
            <a:endParaRPr lang="en-US" sz="2400" b="1" dirty="0">
              <a:effectLst>
                <a:outerShdw blurRad="38100" dist="38100" dir="2700000" algn="tl">
                  <a:srgbClr val="000000">
                    <a:alpha val="43137"/>
                  </a:srgbClr>
                </a:outerShdw>
              </a:effectLst>
            </a:endParaRPr>
          </a:p>
          <a:p>
            <a:pPr algn="just"/>
            <a:endParaRPr lang="en-US" sz="2400" b="1" dirty="0" smtClean="0">
              <a:effectLst>
                <a:outerShdw blurRad="38100" dist="38100" dir="2700000" algn="tl">
                  <a:srgbClr val="000000">
                    <a:alpha val="43137"/>
                  </a:srgbClr>
                </a:outerShdw>
              </a:effectLst>
            </a:endParaRPr>
          </a:p>
          <a:p>
            <a:pPr algn="just"/>
            <a:endParaRPr lang="en-US" sz="2400" b="1" dirty="0">
              <a:effectLst>
                <a:outerShdw blurRad="38100" dist="38100" dir="2700000" algn="tl">
                  <a:srgbClr val="000000">
                    <a:alpha val="43137"/>
                  </a:srgbClr>
                </a:outerShdw>
              </a:effectLst>
            </a:endParaRPr>
          </a:p>
          <a:p>
            <a:pPr algn="just"/>
            <a:endParaRPr lang="en-US" sz="2400" b="1" dirty="0" smtClean="0">
              <a:effectLst>
                <a:outerShdw blurRad="38100" dist="38100" dir="2700000" algn="tl">
                  <a:srgbClr val="000000">
                    <a:alpha val="43137"/>
                  </a:srgbClr>
                </a:outerShdw>
              </a:effectLst>
            </a:endParaRPr>
          </a:p>
          <a:p>
            <a:pPr algn="just"/>
            <a:endParaRPr lang="en-US" sz="2400" b="1" dirty="0" smtClean="0">
              <a:effectLst>
                <a:outerShdw blurRad="38100" dist="38100" dir="2700000" algn="tl">
                  <a:srgbClr val="000000">
                    <a:alpha val="43137"/>
                  </a:srgbClr>
                </a:outerShdw>
              </a:effectLst>
            </a:endParaRPr>
          </a:p>
        </p:txBody>
      </p:sp>
      <p:pic>
        <p:nvPicPr>
          <p:cNvPr id="8193"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3886200"/>
            <a:ext cx="5486400" cy="1335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138" name="Picture 2"/>
          <p:cNvPicPr>
            <a:picLocks noChangeAspect="1" noChangeArrowheads="1"/>
          </p:cNvPicPr>
          <p:nvPr/>
        </p:nvPicPr>
        <p:blipFill>
          <a:blip r:embed="rId3" cstate="print"/>
          <a:srcRect/>
          <a:stretch>
            <a:fillRect/>
          </a:stretch>
        </p:blipFill>
        <p:spPr bwMode="auto">
          <a:xfrm>
            <a:off x="1371600" y="5105400"/>
            <a:ext cx="6324600" cy="1752600"/>
          </a:xfrm>
          <a:prstGeom prst="rect">
            <a:avLst/>
          </a:prstGeom>
          <a:noFill/>
          <a:ln w="9525">
            <a:noFill/>
            <a:miter lim="800000"/>
            <a:headEnd/>
            <a:tailEnd/>
          </a:ln>
          <a:effectLst/>
        </p:spPr>
      </p:pic>
      <p:pic>
        <p:nvPicPr>
          <p:cNvPr id="98306" name="Picture 2"/>
          <p:cNvPicPr>
            <a:picLocks noChangeAspect="1" noChangeArrowheads="1"/>
          </p:cNvPicPr>
          <p:nvPr/>
        </p:nvPicPr>
        <p:blipFill>
          <a:blip r:embed="rId4" cstate="print"/>
          <a:srcRect/>
          <a:stretch>
            <a:fillRect/>
          </a:stretch>
        </p:blipFill>
        <p:spPr bwMode="auto">
          <a:xfrm>
            <a:off x="914400" y="0"/>
            <a:ext cx="7772400" cy="3886200"/>
          </a:xfrm>
          <a:prstGeom prst="rect">
            <a:avLst/>
          </a:prstGeom>
          <a:noFill/>
          <a:ln w="9525">
            <a:noFill/>
            <a:miter lim="800000"/>
            <a:headEnd/>
            <a:tailEnd/>
          </a:ln>
          <a:effectLst/>
        </p:spPr>
      </p:pic>
    </p:spTree>
    <p:extLst>
      <p:ext uri="{BB962C8B-B14F-4D97-AF65-F5344CB8AC3E}">
        <p14:creationId xmlns:p14="http://schemas.microsoft.com/office/powerpoint/2010/main" val="115959885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06" y="0"/>
            <a:ext cx="9144000" cy="6858000"/>
          </a:xfrm>
        </p:spPr>
        <p:txBody>
          <a:bodyPr>
            <a:normAutofit fontScale="70000" lnSpcReduction="20000"/>
          </a:bodyPr>
          <a:lstStyle/>
          <a:p>
            <a:pPr marL="0" indent="0" algn="just">
              <a:buNone/>
            </a:pPr>
            <a:r>
              <a:rPr lang="en-US" b="1" dirty="0"/>
              <a:t>Advantages</a:t>
            </a:r>
          </a:p>
          <a:p>
            <a:pPr marL="0" indent="0" algn="just">
              <a:buNone/>
            </a:pPr>
            <a:r>
              <a:rPr lang="en-US" dirty="0"/>
              <a:t>1.	Mode value is easy to understand and to calculate. Mode class can also be located by inspection.</a:t>
            </a:r>
          </a:p>
          <a:p>
            <a:pPr marL="0" indent="0" algn="just">
              <a:buNone/>
            </a:pPr>
            <a:r>
              <a:rPr lang="en-US" dirty="0"/>
              <a:t>2.	The mode is not affected by the extreme values in the distribution. The mode value can also be calculated for open-end frequency distributions.</a:t>
            </a:r>
          </a:p>
          <a:p>
            <a:pPr marL="0" indent="0" algn="just">
              <a:buNone/>
            </a:pPr>
            <a:r>
              <a:rPr lang="en-US" dirty="0"/>
              <a:t>3.	The mode can be used to describe quantitative as well as qualitative data. For example, its value is used for comparing consumer preferences for various types of products, say cigarettes, soaps, toothpastes, or other products.</a:t>
            </a:r>
          </a:p>
          <a:p>
            <a:pPr marL="0" indent="0" algn="just">
              <a:buNone/>
            </a:pPr>
            <a:endParaRPr lang="en-US" b="1" dirty="0" smtClean="0"/>
          </a:p>
          <a:p>
            <a:pPr marL="0" indent="0" algn="just">
              <a:buNone/>
            </a:pPr>
            <a:endParaRPr lang="en-US" b="1" dirty="0"/>
          </a:p>
          <a:p>
            <a:pPr marL="0" indent="0" algn="just">
              <a:buNone/>
            </a:pPr>
            <a:r>
              <a:rPr lang="en-US" b="1" dirty="0" smtClean="0"/>
              <a:t>Disadvantages</a:t>
            </a:r>
            <a:endParaRPr lang="en-US" b="1" dirty="0"/>
          </a:p>
          <a:p>
            <a:pPr marL="0" indent="0" algn="just">
              <a:buNone/>
            </a:pPr>
            <a:r>
              <a:rPr lang="en-US" dirty="0"/>
              <a:t>1.	Mode is not a rigidly defined measure as there are several methods for calculating its value.</a:t>
            </a:r>
          </a:p>
          <a:p>
            <a:pPr marL="0" indent="0" algn="just">
              <a:buNone/>
            </a:pPr>
            <a:r>
              <a:rPr lang="en-US" dirty="0"/>
              <a:t>2.	</a:t>
            </a:r>
            <a:r>
              <a:rPr lang="en-US" b="1" dirty="0">
                <a:solidFill>
                  <a:srgbClr val="FF0000"/>
                </a:solidFill>
                <a:effectLst>
                  <a:outerShdw blurRad="38100" dist="38100" dir="2700000" algn="tl">
                    <a:srgbClr val="000000">
                      <a:alpha val="43137"/>
                    </a:srgbClr>
                  </a:outerShdw>
                </a:effectLst>
              </a:rPr>
              <a:t>It is difficult to locate modal class in the case of multi-modal frequency distributions.</a:t>
            </a:r>
          </a:p>
          <a:p>
            <a:pPr marL="0" indent="0" algn="just">
              <a:buNone/>
            </a:pPr>
            <a:r>
              <a:rPr lang="en-US" dirty="0"/>
              <a:t>3.	Mode is not suitable for algebraic manipulations.</a:t>
            </a:r>
          </a:p>
          <a:p>
            <a:pPr marL="0" indent="0" algn="just">
              <a:buNone/>
            </a:pPr>
            <a:r>
              <a:rPr lang="en-US" dirty="0"/>
              <a:t>4.	When data sets contain more than one modes, such values are difficult to interpret and compare.</a:t>
            </a:r>
          </a:p>
          <a:p>
            <a:endParaRPr lang="en-US" dirty="0"/>
          </a:p>
        </p:txBody>
      </p:sp>
    </p:spTree>
    <p:extLst>
      <p:ext uri="{BB962C8B-B14F-4D97-AF65-F5344CB8AC3E}">
        <p14:creationId xmlns:p14="http://schemas.microsoft.com/office/powerpoint/2010/main" val="142696733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b="1" dirty="0" smtClean="0"/>
              <a:t>NOTE: </a:t>
            </a:r>
            <a:r>
              <a:rPr lang="en-US" dirty="0" smtClean="0"/>
              <a:t>When Inclusive CI is given </a:t>
            </a:r>
            <a:r>
              <a:rPr lang="en-US" dirty="0" smtClean="0">
                <a:sym typeface="Wingdings" pitchFamily="2" charset="2"/>
              </a:rPr>
              <a:t> Convert to exclusive  when we are solving for MEDIAN and MODE  because </a:t>
            </a:r>
          </a:p>
          <a:p>
            <a:pPr algn="just"/>
            <a:r>
              <a:rPr lang="en-US" dirty="0" smtClean="0">
                <a:sym typeface="Wingdings" pitchFamily="2" charset="2"/>
              </a:rPr>
              <a:t>the formula has lower limits of class interval of median class for </a:t>
            </a:r>
            <a:r>
              <a:rPr lang="en-US" b="1" dirty="0" smtClean="0">
                <a:solidFill>
                  <a:srgbClr val="FF0000"/>
                </a:solidFill>
                <a:effectLst>
                  <a:outerShdw blurRad="38100" dist="38100" dir="2700000" algn="tl">
                    <a:srgbClr val="000000">
                      <a:alpha val="43137"/>
                    </a:srgbClr>
                  </a:outerShdw>
                </a:effectLst>
                <a:sym typeface="Wingdings" pitchFamily="2" charset="2"/>
              </a:rPr>
              <a:t>median </a:t>
            </a:r>
          </a:p>
          <a:p>
            <a:pPr algn="just"/>
            <a:r>
              <a:rPr lang="en-US" dirty="0">
                <a:sym typeface="Wingdings" pitchFamily="2" charset="2"/>
              </a:rPr>
              <a:t>the formula has lower limits of class interval of </a:t>
            </a:r>
            <a:r>
              <a:rPr lang="en-US" dirty="0" smtClean="0">
                <a:sym typeface="Wingdings" pitchFamily="2" charset="2"/>
              </a:rPr>
              <a:t>frequency modal for calculating </a:t>
            </a:r>
            <a:r>
              <a:rPr lang="en-US" dirty="0" smtClean="0">
                <a:solidFill>
                  <a:srgbClr val="FF0000"/>
                </a:solidFill>
                <a:effectLst>
                  <a:outerShdw blurRad="38100" dist="38100" dir="2700000" algn="tl">
                    <a:srgbClr val="000000">
                      <a:alpha val="43137"/>
                    </a:srgbClr>
                  </a:outerShdw>
                </a:effectLst>
                <a:sym typeface="Wingdings" pitchFamily="2" charset="2"/>
              </a:rPr>
              <a:t>MODE </a:t>
            </a:r>
            <a:endParaRPr lang="en-US"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004912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Grp="1" noChangeAspect="1" noChangeArrowheads="1"/>
          </p:cNvPicPr>
          <p:nvPr>
            <p:ph idx="1"/>
          </p:nvPr>
        </p:nvPicPr>
        <p:blipFill>
          <a:blip r:embed="rId2" cstate="print"/>
          <a:srcRect/>
          <a:stretch>
            <a:fillRect/>
          </a:stretch>
        </p:blipFill>
        <p:spPr bwMode="auto">
          <a:xfrm>
            <a:off x="228600" y="381000"/>
            <a:ext cx="8686800" cy="1295400"/>
          </a:xfrm>
          <a:prstGeom prst="rect">
            <a:avLst/>
          </a:prstGeom>
          <a:noFill/>
          <a:ln w="9525">
            <a:noFill/>
            <a:miter lim="800000"/>
            <a:headEnd/>
            <a:tailEnd/>
          </a:ln>
          <a:effectLst/>
        </p:spPr>
      </p:pic>
      <p:graphicFrame>
        <p:nvGraphicFramePr>
          <p:cNvPr id="5" name="Table 4"/>
          <p:cNvGraphicFramePr>
            <a:graphicFrameLocks noGrp="1"/>
          </p:cNvGraphicFramePr>
          <p:nvPr/>
        </p:nvGraphicFramePr>
        <p:xfrm>
          <a:off x="1295400" y="2209800"/>
          <a:ext cx="6705600" cy="4038600"/>
        </p:xfrm>
        <a:graphic>
          <a:graphicData uri="http://schemas.openxmlformats.org/drawingml/2006/table">
            <a:tbl>
              <a:tblPr firstRow="1" bandRow="1">
                <a:tableStyleId>{5C22544A-7EE6-4342-B048-85BDC9FD1C3A}</a:tableStyleId>
              </a:tblPr>
              <a:tblGrid>
                <a:gridCol w="2235200"/>
                <a:gridCol w="3022600"/>
                <a:gridCol w="1447800"/>
              </a:tblGrid>
              <a:tr h="504825">
                <a:tc>
                  <a:txBody>
                    <a:bodyPr/>
                    <a:lstStyle/>
                    <a:p>
                      <a:r>
                        <a:rPr lang="en-US" dirty="0" smtClean="0"/>
                        <a:t>CLASS INTERVAL</a:t>
                      </a:r>
                      <a:endParaRPr lang="en-US" dirty="0"/>
                    </a:p>
                  </a:txBody>
                  <a:tcPr/>
                </a:tc>
                <a:tc>
                  <a:txBody>
                    <a:bodyPr/>
                    <a:lstStyle/>
                    <a:p>
                      <a:r>
                        <a:rPr lang="en-US" dirty="0" smtClean="0"/>
                        <a:t> FREQUENCY</a:t>
                      </a:r>
                      <a:endParaRPr lang="en-US" dirty="0"/>
                    </a:p>
                  </a:txBody>
                  <a:tcPr/>
                </a:tc>
                <a:tc>
                  <a:txBody>
                    <a:bodyPr/>
                    <a:lstStyle/>
                    <a:p>
                      <a:r>
                        <a:rPr lang="en-US" sz="2000" dirty="0" smtClean="0"/>
                        <a:t>Cum </a:t>
                      </a:r>
                      <a:r>
                        <a:rPr lang="en-US" sz="2000" dirty="0" err="1" smtClean="0"/>
                        <a:t>Fre</a:t>
                      </a:r>
                      <a:endParaRPr lang="en-US" sz="2000" dirty="0"/>
                    </a:p>
                  </a:txBody>
                  <a:tcPr/>
                </a:tc>
              </a:tr>
              <a:tr h="504825">
                <a:tc>
                  <a:txBody>
                    <a:bodyPr/>
                    <a:lstStyle/>
                    <a:p>
                      <a:r>
                        <a:rPr lang="en-US" sz="2400" dirty="0" smtClean="0"/>
                        <a:t>&lt;</a:t>
                      </a:r>
                      <a:r>
                        <a:rPr lang="en-US" sz="2400" baseline="0" dirty="0" smtClean="0"/>
                        <a:t> 150</a:t>
                      </a:r>
                      <a:endParaRPr lang="en-US" sz="2400" dirty="0"/>
                    </a:p>
                  </a:txBody>
                  <a:tcPr/>
                </a:tc>
                <a:tc>
                  <a:txBody>
                    <a:bodyPr/>
                    <a:lstStyle/>
                    <a:p>
                      <a:r>
                        <a:rPr lang="en-US" sz="2400" dirty="0" smtClean="0"/>
                        <a:t>5% of</a:t>
                      </a:r>
                      <a:r>
                        <a:rPr lang="en-US" sz="2400" baseline="0" dirty="0" smtClean="0"/>
                        <a:t> 3000 =    </a:t>
                      </a:r>
                      <a:r>
                        <a:rPr lang="en-US" sz="2400" dirty="0" smtClean="0"/>
                        <a:t>150</a:t>
                      </a:r>
                      <a:endParaRPr lang="en-US" sz="2400" dirty="0"/>
                    </a:p>
                  </a:txBody>
                  <a:tcPr/>
                </a:tc>
                <a:tc>
                  <a:txBody>
                    <a:bodyPr/>
                    <a:lstStyle/>
                    <a:p>
                      <a:r>
                        <a:rPr lang="en-US" sz="2400" dirty="0" smtClean="0"/>
                        <a:t>150</a:t>
                      </a:r>
                      <a:endParaRPr lang="en-US" sz="2400" dirty="0"/>
                    </a:p>
                  </a:txBody>
                  <a:tcPr/>
                </a:tc>
              </a:tr>
              <a:tr h="504825">
                <a:tc>
                  <a:txBody>
                    <a:bodyPr/>
                    <a:lstStyle/>
                    <a:p>
                      <a:r>
                        <a:rPr lang="en-US" sz="2400" dirty="0" smtClean="0"/>
                        <a:t>150 - 200</a:t>
                      </a:r>
                      <a:endParaRPr lang="en-US" sz="2400" dirty="0"/>
                    </a:p>
                  </a:txBody>
                  <a:tcPr/>
                </a:tc>
                <a:tc>
                  <a:txBody>
                    <a:bodyPr/>
                    <a:lstStyle/>
                    <a:p>
                      <a:r>
                        <a:rPr lang="en-US" sz="2400" dirty="0" smtClean="0"/>
                        <a:t>                           580</a:t>
                      </a:r>
                      <a:endParaRPr lang="en-US" sz="2400" dirty="0"/>
                    </a:p>
                  </a:txBody>
                  <a:tcPr/>
                </a:tc>
                <a:tc>
                  <a:txBody>
                    <a:bodyPr/>
                    <a:lstStyle/>
                    <a:p>
                      <a:r>
                        <a:rPr lang="en-US" sz="2400" dirty="0" smtClean="0"/>
                        <a:t>730</a:t>
                      </a:r>
                      <a:endParaRPr lang="en-US" sz="2400" dirty="0"/>
                    </a:p>
                  </a:txBody>
                  <a:tcPr/>
                </a:tc>
              </a:tr>
              <a:tr h="504825">
                <a:tc>
                  <a:txBody>
                    <a:bodyPr/>
                    <a:lstStyle/>
                    <a:p>
                      <a:r>
                        <a:rPr lang="en-US" sz="2400" dirty="0" smtClean="0"/>
                        <a:t>200 - 250</a:t>
                      </a:r>
                      <a:endParaRPr lang="en-US" sz="2400" dirty="0"/>
                    </a:p>
                  </a:txBody>
                  <a:tcPr/>
                </a:tc>
                <a:tc>
                  <a:txBody>
                    <a:bodyPr/>
                    <a:lstStyle/>
                    <a:p>
                      <a:r>
                        <a:rPr lang="en-US" sz="2400" dirty="0" smtClean="0"/>
                        <a:t>30%</a:t>
                      </a:r>
                      <a:r>
                        <a:rPr lang="en-US" sz="2400" baseline="0" dirty="0" smtClean="0"/>
                        <a:t> of 3000 = </a:t>
                      </a:r>
                      <a:r>
                        <a:rPr lang="en-US" sz="2400" baseline="0" dirty="0" smtClean="0">
                          <a:solidFill>
                            <a:srgbClr val="FF0000"/>
                          </a:solidFill>
                        </a:rPr>
                        <a:t>900</a:t>
                      </a:r>
                      <a:endParaRPr lang="en-US" sz="2400" dirty="0">
                        <a:solidFill>
                          <a:srgbClr val="FF0000"/>
                        </a:solidFill>
                      </a:endParaRPr>
                    </a:p>
                  </a:txBody>
                  <a:tcPr/>
                </a:tc>
                <a:tc>
                  <a:txBody>
                    <a:bodyPr/>
                    <a:lstStyle/>
                    <a:p>
                      <a:r>
                        <a:rPr lang="en-US" sz="2400" dirty="0" smtClean="0">
                          <a:solidFill>
                            <a:srgbClr val="0033CC"/>
                          </a:solidFill>
                        </a:rPr>
                        <a:t>1630</a:t>
                      </a:r>
                      <a:endParaRPr lang="en-US" sz="2400" dirty="0">
                        <a:solidFill>
                          <a:srgbClr val="0033CC"/>
                        </a:solidFill>
                      </a:endParaRPr>
                    </a:p>
                  </a:txBody>
                  <a:tcPr/>
                </a:tc>
              </a:tr>
              <a:tr h="504825">
                <a:tc>
                  <a:txBody>
                    <a:bodyPr/>
                    <a:lstStyle/>
                    <a:p>
                      <a:r>
                        <a:rPr lang="en-US" sz="2400" dirty="0" smtClean="0"/>
                        <a:t>250 - 300</a:t>
                      </a:r>
                      <a:endParaRPr lang="en-US" sz="2400" dirty="0"/>
                    </a:p>
                  </a:txBody>
                  <a:tcPr/>
                </a:tc>
                <a:tc>
                  <a:txBody>
                    <a:bodyPr/>
                    <a:lstStyle/>
                    <a:p>
                      <a:r>
                        <a:rPr lang="en-US" sz="2400" dirty="0" smtClean="0"/>
                        <a:t>                           500</a:t>
                      </a:r>
                      <a:endParaRPr lang="en-US" sz="2400" dirty="0"/>
                    </a:p>
                  </a:txBody>
                  <a:tcPr/>
                </a:tc>
                <a:tc>
                  <a:txBody>
                    <a:bodyPr/>
                    <a:lstStyle/>
                    <a:p>
                      <a:r>
                        <a:rPr lang="en-US" sz="2400" dirty="0" smtClean="0"/>
                        <a:t>2130</a:t>
                      </a:r>
                      <a:endParaRPr lang="en-US" sz="2400" dirty="0"/>
                    </a:p>
                  </a:txBody>
                  <a:tcPr/>
                </a:tc>
              </a:tr>
              <a:tr h="504825">
                <a:tc>
                  <a:txBody>
                    <a:bodyPr/>
                    <a:lstStyle/>
                    <a:p>
                      <a:r>
                        <a:rPr lang="en-US" sz="2400" dirty="0" smtClean="0"/>
                        <a:t>300 - 350</a:t>
                      </a:r>
                      <a:endParaRPr lang="en-US" sz="2400" dirty="0"/>
                    </a:p>
                  </a:txBody>
                  <a:tcPr/>
                </a:tc>
                <a:tc>
                  <a:txBody>
                    <a:bodyPr/>
                    <a:lstStyle/>
                    <a:p>
                      <a:r>
                        <a:rPr lang="en-US" sz="2400" dirty="0" smtClean="0"/>
                        <a:t>20% of 3000 =  600</a:t>
                      </a:r>
                      <a:endParaRPr lang="en-US" sz="2400" dirty="0"/>
                    </a:p>
                  </a:txBody>
                  <a:tcPr/>
                </a:tc>
                <a:tc>
                  <a:txBody>
                    <a:bodyPr/>
                    <a:lstStyle/>
                    <a:p>
                      <a:r>
                        <a:rPr lang="en-US" sz="2400" dirty="0" smtClean="0"/>
                        <a:t>2730</a:t>
                      </a:r>
                      <a:endParaRPr lang="en-US" sz="2400" dirty="0"/>
                    </a:p>
                  </a:txBody>
                  <a:tcPr/>
                </a:tc>
              </a:tr>
              <a:tr h="504825">
                <a:tc>
                  <a:txBody>
                    <a:bodyPr/>
                    <a:lstStyle/>
                    <a:p>
                      <a:r>
                        <a:rPr lang="en-US" sz="2400" dirty="0" smtClean="0"/>
                        <a:t>&gt;350</a:t>
                      </a:r>
                      <a:endParaRPr lang="en-US" sz="2400" dirty="0"/>
                    </a:p>
                  </a:txBody>
                  <a:tcPr/>
                </a:tc>
                <a:tc>
                  <a:txBody>
                    <a:bodyPr/>
                    <a:lstStyle/>
                    <a:p>
                      <a:r>
                        <a:rPr lang="en-US" sz="2400" dirty="0" smtClean="0"/>
                        <a:t>                           270</a:t>
                      </a:r>
                      <a:endParaRPr lang="en-US" sz="2400" dirty="0"/>
                    </a:p>
                  </a:txBody>
                  <a:tcPr/>
                </a:tc>
                <a:tc>
                  <a:txBody>
                    <a:bodyPr/>
                    <a:lstStyle/>
                    <a:p>
                      <a:r>
                        <a:rPr lang="en-US" sz="2400" dirty="0" smtClean="0"/>
                        <a:t>3000</a:t>
                      </a:r>
                      <a:endParaRPr lang="en-US" sz="2400" dirty="0"/>
                    </a:p>
                  </a:txBody>
                  <a:tcPr/>
                </a:tc>
              </a:tr>
              <a:tr h="504825">
                <a:tc>
                  <a:txBody>
                    <a:bodyPr/>
                    <a:lstStyle/>
                    <a:p>
                      <a:endParaRPr lang="en-US" sz="2000"/>
                    </a:p>
                  </a:txBody>
                  <a:tcPr/>
                </a:tc>
                <a:tc>
                  <a:txBody>
                    <a:bodyPr/>
                    <a:lstStyle/>
                    <a:p>
                      <a:endParaRPr lang="en-US" sz="2000" dirty="0"/>
                    </a:p>
                  </a:txBody>
                  <a:tcPr/>
                </a:tc>
                <a:tc>
                  <a:txBody>
                    <a:bodyPr/>
                    <a:lstStyle/>
                    <a:p>
                      <a:endParaRPr lang="en-US" sz="2000" dirty="0"/>
                    </a:p>
                  </a:txBody>
                  <a:tcPr/>
                </a:tc>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2770" name="Picture 2"/>
          <p:cNvPicPr>
            <a:picLocks noGrp="1" noChangeAspect="1" noChangeArrowheads="1"/>
          </p:cNvPicPr>
          <p:nvPr>
            <p:ph idx="1"/>
          </p:nvPr>
        </p:nvPicPr>
        <p:blipFill>
          <a:blip r:embed="rId2" cstate="print"/>
          <a:srcRect/>
          <a:stretch>
            <a:fillRect/>
          </a:stretch>
        </p:blipFill>
        <p:spPr bwMode="auto">
          <a:xfrm>
            <a:off x="533400" y="1295400"/>
            <a:ext cx="8001000" cy="4724400"/>
          </a:xfrm>
          <a:prstGeom prst="rect">
            <a:avLst/>
          </a:prstGeom>
          <a:noFill/>
          <a:ln w="9525">
            <a:noFill/>
            <a:miter lim="800000"/>
            <a:headEnd/>
            <a:tailEnd/>
          </a:ln>
          <a:effec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5"/>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752600" y="1752600"/>
            <a:ext cx="4041998" cy="914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400" y="2971800"/>
            <a:ext cx="5181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stretch>
            <a:fillRect/>
          </a:stretch>
        </p:blipFill>
        <p:spPr>
          <a:xfrm>
            <a:off x="1729433" y="2826666"/>
            <a:ext cx="7517463" cy="159293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54342793"/>
              </p:ext>
            </p:extLst>
          </p:nvPr>
        </p:nvGraphicFramePr>
        <p:xfrm>
          <a:off x="457200" y="1600200"/>
          <a:ext cx="8000999" cy="3733800"/>
        </p:xfrm>
        <a:graphic>
          <a:graphicData uri="http://schemas.openxmlformats.org/drawingml/2006/table">
            <a:tbl>
              <a:tblPr firstRow="1" bandRow="1">
                <a:tableStyleId>{5C22544A-7EE6-4342-B048-85BDC9FD1C3A}</a:tableStyleId>
              </a:tblPr>
              <a:tblGrid>
                <a:gridCol w="1887876"/>
                <a:gridCol w="2067674"/>
                <a:gridCol w="4045449"/>
              </a:tblGrid>
              <a:tr h="533400">
                <a:tc>
                  <a:txBody>
                    <a:bodyPr/>
                    <a:lstStyle/>
                    <a:p>
                      <a:pPr algn="ctr"/>
                      <a:r>
                        <a:rPr lang="en-US" sz="2400" dirty="0" smtClean="0">
                          <a:solidFill>
                            <a:srgbClr val="FF0000"/>
                          </a:solidFill>
                        </a:rPr>
                        <a:t>Marks</a:t>
                      </a:r>
                      <a:endParaRPr lang="en-US" sz="2400" dirty="0">
                        <a:solidFill>
                          <a:srgbClr val="FF0000"/>
                        </a:solidFill>
                      </a:endParaRPr>
                    </a:p>
                  </a:txBody>
                  <a:tcPr/>
                </a:tc>
                <a:tc>
                  <a:txBody>
                    <a:bodyPr/>
                    <a:lstStyle/>
                    <a:p>
                      <a:r>
                        <a:rPr lang="en-US" b="1" baseline="0" dirty="0" smtClean="0">
                          <a:latin typeface="Agency FB" pitchFamily="34" charset="0"/>
                        </a:rPr>
                        <a:t>  </a:t>
                      </a:r>
                      <a:r>
                        <a:rPr lang="en-US" sz="2400" b="1" baseline="0" dirty="0" smtClean="0">
                          <a:latin typeface="Agency FB" pitchFamily="34" charset="0"/>
                        </a:rPr>
                        <a:t>Frequency</a:t>
                      </a:r>
                      <a:endParaRPr lang="en-US" sz="2400" b="1" baseline="0" dirty="0">
                        <a:latin typeface="Agency FB" pitchFamily="34" charset="0"/>
                      </a:endParaRPr>
                    </a:p>
                  </a:txBody>
                  <a:tcPr/>
                </a:tc>
                <a:tc>
                  <a:txBody>
                    <a:bodyPr/>
                    <a:lstStyle/>
                    <a:p>
                      <a:r>
                        <a:rPr lang="en-US" dirty="0" smtClean="0"/>
                        <a:t>  </a:t>
                      </a:r>
                      <a:r>
                        <a:rPr lang="en-US" sz="2400" dirty="0" smtClean="0">
                          <a:solidFill>
                            <a:srgbClr val="FF0000"/>
                          </a:solidFill>
                        </a:rPr>
                        <a:t>Cumulative </a:t>
                      </a:r>
                      <a:r>
                        <a:rPr lang="en-US" sz="2400" b="1" dirty="0" smtClean="0">
                          <a:solidFill>
                            <a:srgbClr val="FF0000"/>
                          </a:solidFill>
                        </a:rPr>
                        <a:t>Frequency</a:t>
                      </a:r>
                      <a:endParaRPr lang="en-US" sz="2400" b="1" dirty="0">
                        <a:solidFill>
                          <a:srgbClr val="FF0000"/>
                        </a:solidFill>
                      </a:endParaRPr>
                    </a:p>
                  </a:txBody>
                  <a:tcPr/>
                </a:tc>
              </a:tr>
              <a:tr h="533400">
                <a:tc>
                  <a:txBody>
                    <a:bodyPr/>
                    <a:lstStyle/>
                    <a:p>
                      <a:pPr algn="ctr"/>
                      <a:r>
                        <a:rPr lang="en-US" sz="2400" b="1" dirty="0" smtClean="0">
                          <a:solidFill>
                            <a:srgbClr val="9900FF"/>
                          </a:solidFill>
                          <a:effectLst>
                            <a:outerShdw blurRad="38100" dist="38100" dir="2700000" algn="tl">
                              <a:srgbClr val="000000">
                                <a:alpha val="43137"/>
                              </a:srgbClr>
                            </a:outerShdw>
                          </a:effectLst>
                        </a:rPr>
                        <a:t>0</a:t>
                      </a:r>
                      <a:r>
                        <a:rPr lang="en-US" sz="2400" b="1" baseline="0" dirty="0" smtClean="0">
                          <a:solidFill>
                            <a:srgbClr val="9900FF"/>
                          </a:solidFill>
                          <a:effectLst>
                            <a:outerShdw blurRad="38100" dist="38100" dir="2700000" algn="tl">
                              <a:srgbClr val="000000">
                                <a:alpha val="43137"/>
                              </a:srgbClr>
                            </a:outerShdw>
                          </a:effectLst>
                        </a:rPr>
                        <a:t>  -  10</a:t>
                      </a:r>
                      <a:endParaRPr lang="en-US" sz="2400" b="1" dirty="0">
                        <a:solidFill>
                          <a:srgbClr val="9900FF"/>
                        </a:solidFill>
                        <a:effectLst>
                          <a:outerShdw blurRad="38100" dist="38100" dir="2700000" algn="tl">
                            <a:srgbClr val="000000">
                              <a:alpha val="43137"/>
                            </a:srgbClr>
                          </a:outerShdw>
                        </a:effectLst>
                      </a:endParaRPr>
                    </a:p>
                  </a:txBody>
                  <a:tcPr/>
                </a:tc>
                <a:tc>
                  <a:txBody>
                    <a:bodyPr/>
                    <a:lstStyle/>
                    <a:p>
                      <a:pPr algn="ctr"/>
                      <a:r>
                        <a:rPr lang="en-US" sz="2400" b="1" baseline="0" dirty="0" smtClean="0">
                          <a:latin typeface="Agency FB" pitchFamily="34" charset="0"/>
                        </a:rPr>
                        <a:t>8</a:t>
                      </a:r>
                      <a:endParaRPr lang="en-US" sz="2400" b="1" baseline="0" dirty="0">
                        <a:latin typeface="Agency FB" pitchFamily="34" charset="0"/>
                      </a:endParaRPr>
                    </a:p>
                  </a:txBody>
                  <a:tcPr/>
                </a:tc>
                <a:tc>
                  <a:txBody>
                    <a:bodyPr/>
                    <a:lstStyle/>
                    <a:p>
                      <a:pPr algn="ctr"/>
                      <a:r>
                        <a:rPr lang="en-US" sz="2400" b="1" dirty="0" smtClean="0">
                          <a:solidFill>
                            <a:srgbClr val="9900FF"/>
                          </a:solidFill>
                          <a:effectLst>
                            <a:outerShdw blurRad="38100" dist="38100" dir="2700000" algn="tl">
                              <a:srgbClr val="000000">
                                <a:alpha val="43137"/>
                              </a:srgbClr>
                            </a:outerShdw>
                          </a:effectLst>
                        </a:rPr>
                        <a:t>8</a:t>
                      </a:r>
                      <a:endParaRPr lang="en-US" sz="2400" b="1" dirty="0">
                        <a:solidFill>
                          <a:srgbClr val="9900FF"/>
                        </a:solidFill>
                        <a:effectLst>
                          <a:outerShdw blurRad="38100" dist="38100" dir="2700000" algn="tl">
                            <a:srgbClr val="000000">
                              <a:alpha val="43137"/>
                            </a:srgbClr>
                          </a:outerShdw>
                        </a:effectLst>
                      </a:endParaRPr>
                    </a:p>
                  </a:txBody>
                  <a:tcPr/>
                </a:tc>
              </a:tr>
              <a:tr h="533400">
                <a:tc>
                  <a:txBody>
                    <a:bodyPr/>
                    <a:lstStyle/>
                    <a:p>
                      <a:pPr algn="ctr"/>
                      <a:r>
                        <a:rPr lang="en-US" sz="2400" b="1" dirty="0" smtClean="0">
                          <a:solidFill>
                            <a:srgbClr val="9900FF"/>
                          </a:solidFill>
                          <a:effectLst>
                            <a:outerShdw blurRad="38100" dist="38100" dir="2700000" algn="tl">
                              <a:srgbClr val="000000">
                                <a:alpha val="43137"/>
                              </a:srgbClr>
                            </a:outerShdw>
                          </a:effectLst>
                        </a:rPr>
                        <a:t>10 – 20</a:t>
                      </a:r>
                    </a:p>
                  </a:txBody>
                  <a:tcPr/>
                </a:tc>
                <a:tc>
                  <a:txBody>
                    <a:bodyPr/>
                    <a:lstStyle/>
                    <a:p>
                      <a:pPr algn="ctr"/>
                      <a:r>
                        <a:rPr lang="en-US" sz="2400" b="1" baseline="0" dirty="0" smtClean="0">
                          <a:latin typeface="Agency FB" pitchFamily="34" charset="0"/>
                        </a:rPr>
                        <a:t>15</a:t>
                      </a:r>
                      <a:endParaRPr lang="en-US" sz="2400" b="1" baseline="0" dirty="0">
                        <a:latin typeface="Agency FB" pitchFamily="34" charset="0"/>
                      </a:endParaRPr>
                    </a:p>
                  </a:txBody>
                  <a:tcPr/>
                </a:tc>
                <a:tc>
                  <a:txBody>
                    <a:bodyPr/>
                    <a:lstStyle/>
                    <a:p>
                      <a:pPr algn="ctr"/>
                      <a:r>
                        <a:rPr lang="en-US" sz="2400" b="1" dirty="0" smtClean="0">
                          <a:solidFill>
                            <a:srgbClr val="9900FF"/>
                          </a:solidFill>
                          <a:effectLst>
                            <a:outerShdw blurRad="38100" dist="38100" dir="2700000" algn="tl">
                              <a:srgbClr val="000000">
                                <a:alpha val="43137"/>
                              </a:srgbClr>
                            </a:outerShdw>
                          </a:effectLst>
                        </a:rPr>
                        <a:t>23</a:t>
                      </a:r>
                      <a:endParaRPr lang="en-US" sz="2400" b="1" dirty="0">
                        <a:solidFill>
                          <a:srgbClr val="9900FF"/>
                        </a:solidFill>
                        <a:effectLst>
                          <a:outerShdw blurRad="38100" dist="38100" dir="2700000" algn="tl">
                            <a:srgbClr val="000000">
                              <a:alpha val="43137"/>
                            </a:srgbClr>
                          </a:outerShdw>
                        </a:effectLst>
                      </a:endParaRPr>
                    </a:p>
                  </a:txBody>
                  <a:tcPr/>
                </a:tc>
              </a:tr>
              <a:tr h="533400">
                <a:tc>
                  <a:txBody>
                    <a:bodyPr/>
                    <a:lstStyle/>
                    <a:p>
                      <a:pPr algn="ctr"/>
                      <a:r>
                        <a:rPr lang="en-US" sz="2400" b="1" dirty="0" smtClean="0">
                          <a:solidFill>
                            <a:srgbClr val="9900FF"/>
                          </a:solidFill>
                          <a:effectLst>
                            <a:outerShdw blurRad="38100" dist="38100" dir="2700000" algn="tl">
                              <a:srgbClr val="000000">
                                <a:alpha val="43137"/>
                              </a:srgbClr>
                            </a:outerShdw>
                          </a:effectLst>
                        </a:rPr>
                        <a:t>20 - 30</a:t>
                      </a:r>
                      <a:r>
                        <a:rPr lang="en-US" sz="2400" b="1" baseline="0" dirty="0" smtClean="0">
                          <a:solidFill>
                            <a:srgbClr val="9900FF"/>
                          </a:solidFill>
                          <a:effectLst>
                            <a:outerShdw blurRad="38100" dist="38100" dir="2700000" algn="tl">
                              <a:srgbClr val="000000">
                                <a:alpha val="43137"/>
                              </a:srgbClr>
                            </a:outerShdw>
                          </a:effectLst>
                        </a:rPr>
                        <a:t> </a:t>
                      </a:r>
                      <a:endParaRPr lang="en-US" sz="2400" b="1" dirty="0">
                        <a:solidFill>
                          <a:srgbClr val="9900FF"/>
                        </a:solidFill>
                        <a:effectLst>
                          <a:outerShdw blurRad="38100" dist="38100" dir="2700000" algn="tl">
                            <a:srgbClr val="000000">
                              <a:alpha val="43137"/>
                            </a:srgbClr>
                          </a:outerShdw>
                        </a:effectLst>
                      </a:endParaRPr>
                    </a:p>
                  </a:txBody>
                  <a:tcPr/>
                </a:tc>
                <a:tc>
                  <a:txBody>
                    <a:bodyPr/>
                    <a:lstStyle/>
                    <a:p>
                      <a:pPr algn="ctr"/>
                      <a:r>
                        <a:rPr lang="en-US" sz="2400" b="1" baseline="0" dirty="0" smtClean="0">
                          <a:latin typeface="Agency FB" pitchFamily="34" charset="0"/>
                        </a:rPr>
                        <a:t>30</a:t>
                      </a:r>
                      <a:endParaRPr lang="en-US" sz="2400" b="1" baseline="0" dirty="0">
                        <a:latin typeface="Agency FB" pitchFamily="34" charset="0"/>
                      </a:endParaRPr>
                    </a:p>
                  </a:txBody>
                  <a:tcPr/>
                </a:tc>
                <a:tc>
                  <a:txBody>
                    <a:bodyPr/>
                    <a:lstStyle/>
                    <a:p>
                      <a:pPr algn="ctr"/>
                      <a:r>
                        <a:rPr lang="en-US" sz="2400" b="1" dirty="0" smtClean="0">
                          <a:solidFill>
                            <a:srgbClr val="9900FF"/>
                          </a:solidFill>
                          <a:effectLst>
                            <a:outerShdw blurRad="38100" dist="38100" dir="2700000" algn="tl">
                              <a:srgbClr val="000000">
                                <a:alpha val="43137"/>
                              </a:srgbClr>
                            </a:outerShdw>
                          </a:effectLst>
                        </a:rPr>
                        <a:t>45</a:t>
                      </a:r>
                      <a:endParaRPr lang="en-US" sz="2400" b="1" dirty="0">
                        <a:solidFill>
                          <a:srgbClr val="9900FF"/>
                        </a:solidFill>
                        <a:effectLst>
                          <a:outerShdw blurRad="38100" dist="38100" dir="2700000" algn="tl">
                            <a:srgbClr val="000000">
                              <a:alpha val="43137"/>
                            </a:srgbClr>
                          </a:outerShdw>
                        </a:effectLst>
                      </a:endParaRPr>
                    </a:p>
                  </a:txBody>
                  <a:tcPr/>
                </a:tc>
              </a:tr>
              <a:tr h="533400">
                <a:tc>
                  <a:txBody>
                    <a:bodyPr/>
                    <a:lstStyle/>
                    <a:p>
                      <a:pPr algn="ctr"/>
                      <a:r>
                        <a:rPr lang="en-US" sz="2400" b="1" dirty="0" smtClean="0">
                          <a:solidFill>
                            <a:srgbClr val="9900FF"/>
                          </a:solidFill>
                          <a:effectLst>
                            <a:outerShdw blurRad="38100" dist="38100" dir="2700000" algn="tl">
                              <a:srgbClr val="000000">
                                <a:alpha val="43137"/>
                              </a:srgbClr>
                            </a:outerShdw>
                          </a:effectLst>
                        </a:rPr>
                        <a:t>30 - 40</a:t>
                      </a:r>
                      <a:endParaRPr lang="en-US" sz="2400" b="1" dirty="0">
                        <a:solidFill>
                          <a:srgbClr val="9900FF"/>
                        </a:solidFill>
                        <a:effectLst>
                          <a:outerShdw blurRad="38100" dist="38100" dir="2700000" algn="tl">
                            <a:srgbClr val="000000">
                              <a:alpha val="43137"/>
                            </a:srgbClr>
                          </a:outerShdw>
                        </a:effectLst>
                      </a:endParaRPr>
                    </a:p>
                  </a:txBody>
                  <a:tcPr/>
                </a:tc>
                <a:tc>
                  <a:txBody>
                    <a:bodyPr/>
                    <a:lstStyle/>
                    <a:p>
                      <a:pPr algn="ctr"/>
                      <a:r>
                        <a:rPr lang="en-US" sz="2400" b="1" baseline="0" dirty="0" smtClean="0">
                          <a:latin typeface="Agency FB" pitchFamily="34" charset="0"/>
                        </a:rPr>
                        <a:t>35</a:t>
                      </a:r>
                      <a:endParaRPr lang="en-US" sz="2400" b="1" baseline="0" dirty="0">
                        <a:latin typeface="Agency FB" pitchFamily="34" charset="0"/>
                      </a:endParaRPr>
                    </a:p>
                  </a:txBody>
                  <a:tcPr/>
                </a:tc>
                <a:tc>
                  <a:txBody>
                    <a:bodyPr/>
                    <a:lstStyle/>
                    <a:p>
                      <a:pPr algn="ctr"/>
                      <a:r>
                        <a:rPr lang="en-US" sz="2400" b="1" dirty="0" smtClean="0">
                          <a:solidFill>
                            <a:srgbClr val="9900FF"/>
                          </a:solidFill>
                          <a:effectLst>
                            <a:outerShdw blurRad="38100" dist="38100" dir="2700000" algn="tl">
                              <a:srgbClr val="000000">
                                <a:alpha val="43137"/>
                              </a:srgbClr>
                            </a:outerShdw>
                          </a:effectLst>
                        </a:rPr>
                        <a:t>65</a:t>
                      </a:r>
                      <a:endParaRPr lang="en-US" sz="2400" b="1" dirty="0">
                        <a:solidFill>
                          <a:srgbClr val="9900FF"/>
                        </a:solidFill>
                        <a:effectLst>
                          <a:outerShdw blurRad="38100" dist="38100" dir="2700000" algn="tl">
                            <a:srgbClr val="000000">
                              <a:alpha val="43137"/>
                            </a:srgbClr>
                          </a:outerShdw>
                        </a:effectLst>
                      </a:endParaRPr>
                    </a:p>
                  </a:txBody>
                  <a:tcPr/>
                </a:tc>
              </a:tr>
              <a:tr h="533400">
                <a:tc>
                  <a:txBody>
                    <a:bodyPr/>
                    <a:lstStyle/>
                    <a:p>
                      <a:pPr algn="ctr"/>
                      <a:r>
                        <a:rPr lang="en-US" sz="2400" b="1" dirty="0" smtClean="0">
                          <a:solidFill>
                            <a:srgbClr val="9900FF"/>
                          </a:solidFill>
                          <a:effectLst>
                            <a:outerShdw blurRad="38100" dist="38100" dir="2700000" algn="tl">
                              <a:srgbClr val="000000">
                                <a:alpha val="43137"/>
                              </a:srgbClr>
                            </a:outerShdw>
                          </a:effectLst>
                        </a:rPr>
                        <a:t>40  -</a:t>
                      </a:r>
                      <a:r>
                        <a:rPr lang="en-US" sz="2400" b="1" baseline="0" dirty="0" smtClean="0">
                          <a:solidFill>
                            <a:srgbClr val="9900FF"/>
                          </a:solidFill>
                          <a:effectLst>
                            <a:outerShdw blurRad="38100" dist="38100" dir="2700000" algn="tl">
                              <a:srgbClr val="000000">
                                <a:alpha val="43137"/>
                              </a:srgbClr>
                            </a:outerShdw>
                          </a:effectLst>
                        </a:rPr>
                        <a:t> 50</a:t>
                      </a:r>
                      <a:endParaRPr lang="en-US" sz="2400" b="1" dirty="0">
                        <a:solidFill>
                          <a:srgbClr val="9900FF"/>
                        </a:solidFill>
                        <a:effectLst>
                          <a:outerShdw blurRad="38100" dist="38100" dir="2700000" algn="tl">
                            <a:srgbClr val="000000">
                              <a:alpha val="43137"/>
                            </a:srgbClr>
                          </a:outerShdw>
                        </a:effectLst>
                      </a:endParaRPr>
                    </a:p>
                  </a:txBody>
                  <a:tcPr/>
                </a:tc>
                <a:tc>
                  <a:txBody>
                    <a:bodyPr/>
                    <a:lstStyle/>
                    <a:p>
                      <a:pPr algn="ctr"/>
                      <a:r>
                        <a:rPr lang="en-US" sz="2400" b="1" baseline="0" dirty="0" smtClean="0">
                          <a:latin typeface="Agency FB" pitchFamily="34" charset="0"/>
                        </a:rPr>
                        <a:t>40</a:t>
                      </a:r>
                      <a:endParaRPr lang="en-US" sz="2400" b="1" baseline="0" dirty="0">
                        <a:latin typeface="Agency FB" pitchFamily="34" charset="0"/>
                      </a:endParaRPr>
                    </a:p>
                  </a:txBody>
                  <a:tcPr/>
                </a:tc>
                <a:tc>
                  <a:txBody>
                    <a:bodyPr/>
                    <a:lstStyle/>
                    <a:p>
                      <a:pPr algn="ctr"/>
                      <a:r>
                        <a:rPr lang="en-US" sz="2400" b="1" dirty="0" smtClean="0">
                          <a:solidFill>
                            <a:srgbClr val="9900FF"/>
                          </a:solidFill>
                          <a:effectLst>
                            <a:outerShdw blurRad="38100" dist="38100" dir="2700000" algn="tl">
                              <a:srgbClr val="000000">
                                <a:alpha val="43137"/>
                              </a:srgbClr>
                            </a:outerShdw>
                          </a:effectLst>
                        </a:rPr>
                        <a:t>75</a:t>
                      </a:r>
                      <a:endParaRPr lang="en-US" sz="2400" b="1" dirty="0">
                        <a:solidFill>
                          <a:srgbClr val="9900FF"/>
                        </a:solidFill>
                        <a:effectLst>
                          <a:outerShdw blurRad="38100" dist="38100" dir="2700000" algn="tl">
                            <a:srgbClr val="000000">
                              <a:alpha val="43137"/>
                            </a:srgbClr>
                          </a:outerShdw>
                        </a:effectLst>
                      </a:endParaRPr>
                    </a:p>
                  </a:txBody>
                  <a:tcPr/>
                </a:tc>
              </a:tr>
              <a:tr h="533400">
                <a:tc>
                  <a:txBody>
                    <a:bodyPr/>
                    <a:lstStyle/>
                    <a:p>
                      <a:pPr algn="ctr"/>
                      <a:r>
                        <a:rPr lang="en-US" sz="2400" b="1" dirty="0" smtClean="0">
                          <a:solidFill>
                            <a:srgbClr val="9900FF"/>
                          </a:solidFill>
                          <a:effectLst>
                            <a:outerShdw blurRad="38100" dist="38100" dir="2700000" algn="tl">
                              <a:srgbClr val="000000">
                                <a:alpha val="43137"/>
                              </a:srgbClr>
                            </a:outerShdw>
                          </a:effectLst>
                        </a:rPr>
                        <a:t>50 -</a:t>
                      </a:r>
                      <a:r>
                        <a:rPr lang="en-US" sz="2400" b="1" baseline="0" dirty="0" smtClean="0">
                          <a:solidFill>
                            <a:srgbClr val="9900FF"/>
                          </a:solidFill>
                          <a:effectLst>
                            <a:outerShdw blurRad="38100" dist="38100" dir="2700000" algn="tl">
                              <a:srgbClr val="000000">
                                <a:alpha val="43137"/>
                              </a:srgbClr>
                            </a:outerShdw>
                          </a:effectLst>
                        </a:rPr>
                        <a:t> 60</a:t>
                      </a:r>
                      <a:endParaRPr lang="en-US" sz="2400" b="1" dirty="0">
                        <a:solidFill>
                          <a:srgbClr val="9900FF"/>
                        </a:solidFill>
                        <a:effectLst>
                          <a:outerShdw blurRad="38100" dist="38100" dir="2700000" algn="tl">
                            <a:srgbClr val="000000">
                              <a:alpha val="43137"/>
                            </a:srgbClr>
                          </a:outerShdw>
                        </a:effectLst>
                      </a:endParaRPr>
                    </a:p>
                  </a:txBody>
                  <a:tcPr/>
                </a:tc>
                <a:tc>
                  <a:txBody>
                    <a:bodyPr/>
                    <a:lstStyle/>
                    <a:p>
                      <a:pPr algn="ctr"/>
                      <a:r>
                        <a:rPr lang="en-US" sz="2400" b="1" baseline="0" dirty="0" smtClean="0">
                          <a:latin typeface="Agency FB" pitchFamily="34" charset="0"/>
                        </a:rPr>
                        <a:t>40</a:t>
                      </a:r>
                      <a:endParaRPr lang="en-US" sz="2400" b="1" baseline="0" dirty="0">
                        <a:latin typeface="Agency FB" pitchFamily="34" charset="0"/>
                      </a:endParaRPr>
                    </a:p>
                  </a:txBody>
                  <a:tcPr/>
                </a:tc>
                <a:tc>
                  <a:txBody>
                    <a:bodyPr/>
                    <a:lstStyle/>
                    <a:p>
                      <a:pPr algn="ctr"/>
                      <a:r>
                        <a:rPr lang="en-US" sz="2400" b="1" dirty="0" smtClean="0">
                          <a:solidFill>
                            <a:srgbClr val="9900FF"/>
                          </a:solidFill>
                          <a:effectLst>
                            <a:outerShdw blurRad="38100" dist="38100" dir="2700000" algn="tl">
                              <a:srgbClr val="000000">
                                <a:alpha val="43137"/>
                              </a:srgbClr>
                            </a:outerShdw>
                          </a:effectLst>
                        </a:rPr>
                        <a:t>80</a:t>
                      </a:r>
                      <a:endParaRPr lang="en-US" sz="2400" b="1" dirty="0">
                        <a:solidFill>
                          <a:srgbClr val="9900FF"/>
                        </a:solidFill>
                        <a:effectLst>
                          <a:outerShdw blurRad="38100" dist="38100" dir="2700000" algn="tl">
                            <a:srgbClr val="000000">
                              <a:alpha val="43137"/>
                            </a:srgbClr>
                          </a:outerShdw>
                        </a:effectLst>
                      </a:endParaRPr>
                    </a:p>
                  </a:txBody>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28600"/>
            <a:ext cx="8229600" cy="4876800"/>
          </a:xfrm>
        </p:spPr>
        <p:txBody>
          <a:bodyPr/>
          <a:lstStyle/>
          <a:p>
            <a:pPr algn="ctr">
              <a:buNone/>
            </a:pPr>
            <a:r>
              <a:rPr lang="en-US" dirty="0" smtClean="0">
                <a:solidFill>
                  <a:srgbClr val="FF0000"/>
                </a:solidFill>
              </a:rPr>
              <a:t>RELATIVE POSITION OF ARITHMETIC MEAN, MEDIAN AND MODE </a:t>
            </a:r>
          </a:p>
          <a:p>
            <a:r>
              <a:rPr lang="en-US" dirty="0" smtClean="0"/>
              <a:t>Suppose we express, </a:t>
            </a:r>
          </a:p>
          <a:p>
            <a:r>
              <a:rPr lang="en-US" dirty="0" smtClean="0"/>
              <a:t>Arithmetic Mean = Me </a:t>
            </a:r>
          </a:p>
          <a:p>
            <a:r>
              <a:rPr lang="en-US" dirty="0" smtClean="0"/>
              <a:t>Median = Mi          </a:t>
            </a:r>
          </a:p>
          <a:p>
            <a:r>
              <a:rPr lang="en-US" dirty="0" smtClean="0"/>
              <a:t>Mode = Mo The relative magnitude of the three are</a:t>
            </a:r>
          </a:p>
        </p:txBody>
      </p:sp>
      <p:pic>
        <p:nvPicPr>
          <p:cNvPr id="98307" name="Picture 3"/>
          <p:cNvPicPr>
            <a:picLocks noChangeAspect="1" noChangeArrowheads="1"/>
          </p:cNvPicPr>
          <p:nvPr/>
        </p:nvPicPr>
        <p:blipFill>
          <a:blip r:embed="rId2"/>
          <a:srcRect/>
          <a:stretch>
            <a:fillRect/>
          </a:stretch>
        </p:blipFill>
        <p:spPr bwMode="auto">
          <a:xfrm>
            <a:off x="2743200" y="3810000"/>
            <a:ext cx="4191000" cy="619125"/>
          </a:xfrm>
          <a:prstGeom prst="rect">
            <a:avLst/>
          </a:prstGeom>
          <a:noFill/>
          <a:ln w="9525">
            <a:noFill/>
            <a:miter lim="800000"/>
            <a:headEnd/>
            <a:tailEnd/>
          </a:ln>
          <a:effectLst/>
        </p:spPr>
      </p:pic>
      <p:sp>
        <p:nvSpPr>
          <p:cNvPr id="9" name="Rectangle 8"/>
          <p:cNvSpPr/>
          <p:nvPr/>
        </p:nvSpPr>
        <p:spPr>
          <a:xfrm>
            <a:off x="381000" y="4724400"/>
            <a:ext cx="8763000" cy="954107"/>
          </a:xfrm>
          <a:prstGeom prst="rect">
            <a:avLst/>
          </a:prstGeom>
        </p:spPr>
        <p:txBody>
          <a:bodyPr wrap="square">
            <a:spAutoFit/>
          </a:bodyPr>
          <a:lstStyle/>
          <a:p>
            <a:r>
              <a:rPr lang="en-US" sz="2800" dirty="0" smtClean="0"/>
              <a:t>The median is always between the arithmetic mean and the mode. </a:t>
            </a:r>
            <a:endParaRPr lang="en-US" sz="2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28600"/>
            <a:ext cx="8229600" cy="4876800"/>
          </a:xfrm>
        </p:spPr>
        <p:txBody>
          <a:bodyPr/>
          <a:lstStyle/>
          <a:p>
            <a:pPr algn="ctr">
              <a:buNone/>
            </a:pPr>
            <a:r>
              <a:rPr lang="en-US" dirty="0" smtClean="0">
                <a:solidFill>
                  <a:srgbClr val="FF0000"/>
                </a:solidFill>
              </a:rPr>
              <a:t>RELATIVE POSITION OF ARITHMETIC MEAN, MEDIAN AND MODE </a:t>
            </a:r>
          </a:p>
          <a:p>
            <a:r>
              <a:rPr lang="en-US" dirty="0" smtClean="0"/>
              <a:t>Suppose we express, </a:t>
            </a:r>
          </a:p>
          <a:p>
            <a:r>
              <a:rPr lang="en-US" dirty="0" smtClean="0"/>
              <a:t>Arithmetic Mean = Me </a:t>
            </a:r>
          </a:p>
          <a:p>
            <a:r>
              <a:rPr lang="en-US" dirty="0" smtClean="0"/>
              <a:t>Median = Mi          </a:t>
            </a:r>
          </a:p>
          <a:p>
            <a:r>
              <a:rPr lang="en-US" dirty="0" smtClean="0"/>
              <a:t>Mode = Mo The relative magnitude of the three are</a:t>
            </a:r>
          </a:p>
        </p:txBody>
      </p:sp>
      <p:pic>
        <p:nvPicPr>
          <p:cNvPr id="98307" name="Picture 3"/>
          <p:cNvPicPr>
            <a:picLocks noChangeAspect="1" noChangeArrowheads="1"/>
          </p:cNvPicPr>
          <p:nvPr/>
        </p:nvPicPr>
        <p:blipFill>
          <a:blip r:embed="rId2"/>
          <a:srcRect/>
          <a:stretch>
            <a:fillRect/>
          </a:stretch>
        </p:blipFill>
        <p:spPr bwMode="auto">
          <a:xfrm>
            <a:off x="2743200" y="3810000"/>
            <a:ext cx="4191000" cy="619125"/>
          </a:xfrm>
          <a:prstGeom prst="rect">
            <a:avLst/>
          </a:prstGeom>
          <a:noFill/>
          <a:ln w="9525">
            <a:noFill/>
            <a:miter lim="800000"/>
            <a:headEnd/>
            <a:tailEnd/>
          </a:ln>
          <a:effectLst/>
        </p:spPr>
      </p:pic>
      <p:sp>
        <p:nvSpPr>
          <p:cNvPr id="9" name="Rectangle 8"/>
          <p:cNvSpPr/>
          <p:nvPr/>
        </p:nvSpPr>
        <p:spPr>
          <a:xfrm>
            <a:off x="381000" y="4724400"/>
            <a:ext cx="8763000" cy="954107"/>
          </a:xfrm>
          <a:prstGeom prst="rect">
            <a:avLst/>
          </a:prstGeom>
        </p:spPr>
        <p:txBody>
          <a:bodyPr wrap="square">
            <a:spAutoFit/>
          </a:bodyPr>
          <a:lstStyle/>
          <a:p>
            <a:r>
              <a:rPr lang="en-US" sz="2800" dirty="0" smtClean="0"/>
              <a:t>The median is always between the arithmetic mean and the mode. </a:t>
            </a:r>
            <a:endParaRPr lang="en-US" sz="2800" dirty="0"/>
          </a:p>
        </p:txBody>
      </p:sp>
      <p:pic>
        <p:nvPicPr>
          <p:cNvPr id="5" name="Picture 4"/>
          <p:cNvPicPr>
            <a:picLocks noChangeAspect="1" noChangeArrowheads="1"/>
          </p:cNvPicPr>
          <p:nvPr/>
        </p:nvPicPr>
        <p:blipFill>
          <a:blip r:embed="rId3" cstate="print"/>
          <a:srcRect/>
          <a:stretch>
            <a:fillRect/>
          </a:stretch>
        </p:blipFill>
        <p:spPr bwMode="auto">
          <a:xfrm>
            <a:off x="1600200" y="5943600"/>
            <a:ext cx="6172200" cy="9144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3943</TotalTime>
  <Words>4697</Words>
  <Application>Microsoft Office PowerPoint</Application>
  <PresentationFormat>On-screen Show (4:3)</PresentationFormat>
  <Paragraphs>862</Paragraphs>
  <Slides>101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101</vt:i4>
      </vt:variant>
    </vt:vector>
  </HeadingPairs>
  <TitlesOfParts>
    <vt:vector size="109" baseType="lpstr">
      <vt:lpstr>Agency FB</vt:lpstr>
      <vt:lpstr>arial</vt:lpstr>
      <vt:lpstr>arial</vt:lpstr>
      <vt:lpstr>Calibri</vt:lpstr>
      <vt:lpstr>Times New Roman</vt:lpstr>
      <vt:lpstr>Wingdings</vt:lpstr>
      <vt:lpstr>Office Theme</vt:lpstr>
      <vt:lpstr>Document</vt:lpstr>
      <vt:lpstr>Business Statistics MBA104</vt:lpstr>
      <vt:lpstr>PowerPoint Presentation</vt:lpstr>
      <vt:lpstr>PowerPoint Presentation</vt:lpstr>
      <vt:lpstr>PowerPoint Presentation</vt:lpstr>
      <vt:lpstr>PowerPoint Presentation</vt:lpstr>
      <vt:lpstr>Module 1 STATISTICS </vt:lpstr>
      <vt:lpstr>PowerPoint Presentation</vt:lpstr>
      <vt:lpstr> </vt:lpstr>
      <vt:lpstr>PowerPoint Presentation</vt:lpstr>
      <vt:lpstr>PowerPoint Presentation</vt:lpstr>
      <vt:lpstr>PowerPoint Presentation</vt:lpstr>
      <vt:lpstr>PowerPoint Presentation</vt:lpstr>
      <vt:lpstr>PowerPoint Presentation</vt:lpstr>
      <vt:lpstr>WHY STUDY STATISTICS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MEANING OF MUTUALLY EXCLUSIVE AND COLLECTIVELY EXHAUSTIVE</vt:lpstr>
      <vt:lpstr>PowerPoint Presentation</vt:lpstr>
      <vt:lpstr>PowerPoint Presentation</vt:lpstr>
      <vt:lpstr>PowerPoint Presentation</vt:lpstr>
      <vt:lpstr>PowerPoint Presentation</vt:lpstr>
      <vt:lpstr>PowerPoint Presentation</vt:lpstr>
      <vt:lpstr>PowerPoint Presentation</vt:lpstr>
      <vt:lpstr>Fixing class interval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COMBINED MEAN AND VARIANCE</vt:lpstr>
      <vt:lpstr>PowerPoint Presentation</vt:lpstr>
      <vt:lpstr>COMBINED MEAN AND VARIANCE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sanjiv</dc:creator>
  <cp:lastModifiedBy>INTEX</cp:lastModifiedBy>
  <cp:revision>720</cp:revision>
  <dcterms:created xsi:type="dcterms:W3CDTF">2016-07-24T07:16:20Z</dcterms:created>
  <dcterms:modified xsi:type="dcterms:W3CDTF">2025-10-11T04:01:48Z</dcterms:modified>
</cp:coreProperties>
</file>