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  <p:sldId id="273" r:id="rId12"/>
    <p:sldId id="274" r:id="rId13"/>
    <p:sldId id="276" r:id="rId14"/>
    <p:sldId id="277" r:id="rId15"/>
    <p:sldId id="278" r:id="rId16"/>
    <p:sldId id="281" r:id="rId17"/>
    <p:sldId id="280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1000" y="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2061A-68A0-4990-A7B7-FAC44FD409EC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C36A-E20A-44B4-9B21-8D1321C063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2061A-68A0-4990-A7B7-FAC44FD409EC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C36A-E20A-44B4-9B21-8D1321C063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2061A-68A0-4990-A7B7-FAC44FD409EC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C36A-E20A-44B4-9B21-8D1321C063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2061A-68A0-4990-A7B7-FAC44FD409EC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C36A-E20A-44B4-9B21-8D1321C063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2061A-68A0-4990-A7B7-FAC44FD409EC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C36A-E20A-44B4-9B21-8D1321C063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2061A-68A0-4990-A7B7-FAC44FD409EC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C36A-E20A-44B4-9B21-8D1321C063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2061A-68A0-4990-A7B7-FAC44FD409EC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C36A-E20A-44B4-9B21-8D1321C063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2061A-68A0-4990-A7B7-FAC44FD409EC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C36A-E20A-44B4-9B21-8D1321C063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2061A-68A0-4990-A7B7-FAC44FD409EC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C36A-E20A-44B4-9B21-8D1321C063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2061A-68A0-4990-A7B7-FAC44FD409EC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C36A-E20A-44B4-9B21-8D1321C063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2061A-68A0-4990-A7B7-FAC44FD409EC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C36A-E20A-44B4-9B21-8D1321C063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2061A-68A0-4990-A7B7-FAC44FD409EC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A9C36A-E20A-44B4-9B21-8D1321C0632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DECILE n</a:t>
            </a:r>
            <a:br>
              <a:rPr lang="en-US" dirty="0"/>
            </a:br>
            <a:r>
              <a:rPr lang="en-US" dirty="0"/>
              <a:t> PERCENTILE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A5924E-5EDD-74F1-B01F-07B362BEF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76200"/>
            <a:ext cx="4077269" cy="12765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970D17-8D7B-5A63-350E-CD1BD90BE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616" y="1290766"/>
            <a:ext cx="3048425" cy="11241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A30784-95B1-D7C2-E810-4B7827C4B9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3977" y="1543215"/>
            <a:ext cx="4239217" cy="6192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2D2B58-B9F2-5C8A-2184-3FD844B74D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0420" y="3582341"/>
            <a:ext cx="4541031" cy="14574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F6DEC6-0B5D-A22C-4723-F49B36E82F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570987"/>
            <a:ext cx="3458058" cy="1371791"/>
          </a:xfrm>
          <a:prstGeom prst="rect">
            <a:avLst/>
          </a:prstGeom>
        </p:spPr>
      </p:pic>
      <p:pic>
        <p:nvPicPr>
          <p:cNvPr id="12" name="img-c04f003" descr="Figure 4.3 Interquartile Range">
            <a:extLst>
              <a:ext uri="{FF2B5EF4-FFF2-40B4-BE49-F238E27FC236}">
                <a16:creationId xmlns:a16="http://schemas.microsoft.com/office/drawing/2014/main" id="{FC40621E-87B3-83D6-88FB-7519AC5F6BF4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476" y="4800600"/>
            <a:ext cx="7658523" cy="16949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12541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775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b="1" dirty="0"/>
              <a:t>Deciles:</a:t>
            </a:r>
            <a:r>
              <a:rPr lang="en-US" dirty="0"/>
              <a:t> The values which divides an ordered data set into 10 equal parts. The 5th </a:t>
            </a:r>
            <a:r>
              <a:rPr lang="en-US" dirty="0" err="1"/>
              <a:t>decile</a:t>
            </a:r>
            <a:r>
              <a:rPr lang="en-US" dirty="0"/>
              <a:t> is the median.</a:t>
            </a:r>
          </a:p>
          <a:p>
            <a:pPr algn="just"/>
            <a:r>
              <a:rPr lang="en-US" b="1" dirty="0"/>
              <a:t>Deciles</a:t>
            </a:r>
            <a:r>
              <a:rPr lang="en-US" dirty="0"/>
              <a:t> The values of observations in a data set when arranged in an ordered sequence can be divided into ten equal parts, using nine deciles, D</a:t>
            </a:r>
            <a:r>
              <a:rPr lang="en-US" i="1" baseline="-25000" dirty="0"/>
              <a:t>i</a:t>
            </a:r>
            <a:r>
              <a:rPr lang="en-US" dirty="0"/>
              <a:t> (</a:t>
            </a:r>
            <a:r>
              <a:rPr lang="en-US" i="1" dirty="0" err="1"/>
              <a:t>i</a:t>
            </a:r>
            <a:r>
              <a:rPr lang="en-US" dirty="0"/>
              <a:t> = 1, 2,…, 9). The generalized formula for calculating deciles in case of grouped data is: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where the symbols have their usual meaning and interpretation.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4214818"/>
            <a:ext cx="7000924" cy="1143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00634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b="1" dirty="0"/>
              <a:t>Percentiles</a:t>
            </a:r>
            <a:r>
              <a:rPr lang="en-US" dirty="0"/>
              <a:t> The values of observations in a data when arranged in an ordered sequence can be divided into hundred equal parts using ninety nine percentiles, P</a:t>
            </a:r>
            <a:r>
              <a:rPr lang="en-US" i="1" baseline="-25000" dirty="0"/>
              <a:t>i</a:t>
            </a:r>
            <a:r>
              <a:rPr lang="en-US" dirty="0"/>
              <a:t> (</a:t>
            </a:r>
            <a:r>
              <a:rPr lang="en-US" dirty="0" err="1"/>
              <a:t>i</a:t>
            </a:r>
            <a:r>
              <a:rPr lang="en-US" dirty="0"/>
              <a:t> = 1, 2,…, 99).</a:t>
            </a:r>
          </a:p>
          <a:p>
            <a:pPr algn="just"/>
            <a:r>
              <a:rPr lang="en-US" b="1" dirty="0"/>
              <a:t>Percentiles:</a:t>
            </a:r>
            <a:r>
              <a:rPr lang="en-US" dirty="0"/>
              <a:t> The values which divides an ordered data set into 100 equal parts. The 50th percentile is the median.</a:t>
            </a:r>
          </a:p>
          <a:p>
            <a:pPr algn="just"/>
            <a:endParaRPr lang="en-US" dirty="0"/>
          </a:p>
          <a:p>
            <a:pPr algn="just">
              <a:buNone/>
            </a:pPr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where the symbols have their usual meaning and interpretation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4071942"/>
            <a:ext cx="7143800" cy="1219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3509"/>
          </a:xfrm>
        </p:spPr>
        <p:txBody>
          <a:bodyPr/>
          <a:lstStyle/>
          <a:p>
            <a:r>
              <a:rPr lang="en-US" b="1" dirty="0"/>
              <a:t>Example :</a:t>
            </a:r>
            <a:r>
              <a:rPr lang="en-US" dirty="0"/>
              <a:t> The following distribution gives the pattern of overtime work per week done by 100 employees of a company. Calculate median, </a:t>
            </a:r>
            <a:r>
              <a:rPr lang="en-US" dirty="0">
                <a:solidFill>
                  <a:srgbClr val="00B050"/>
                </a:solidFill>
              </a:rPr>
              <a:t>first quartile</a:t>
            </a:r>
            <a:r>
              <a:rPr lang="en-US" dirty="0"/>
              <a:t>, and </a:t>
            </a:r>
            <a:r>
              <a:rPr lang="en-US" dirty="0">
                <a:solidFill>
                  <a:srgbClr val="00B0F0"/>
                </a:solidFill>
              </a:rPr>
              <a:t>seventh </a:t>
            </a:r>
            <a:r>
              <a:rPr lang="en-US" dirty="0" err="1">
                <a:solidFill>
                  <a:srgbClr val="00B0F0"/>
                </a:solidFill>
              </a:rPr>
              <a:t>decile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/>
              <a:t>&amp;  </a:t>
            </a:r>
            <a:r>
              <a:rPr lang="en-US" dirty="0">
                <a:solidFill>
                  <a:srgbClr val="FF0000"/>
                </a:solidFill>
              </a:rPr>
              <a:t>60 Percentile</a:t>
            </a:r>
            <a:r>
              <a:rPr lang="en-US" dirty="0"/>
              <a:t>.</a:t>
            </a:r>
          </a:p>
          <a:p>
            <a:r>
              <a:rPr lang="en-US" dirty="0"/>
              <a:t>Calculate MEAN, MEDIAN, MODE, Q</a:t>
            </a:r>
            <a:r>
              <a:rPr lang="en-US" baseline="-25000" dirty="0"/>
              <a:t>1</a:t>
            </a:r>
            <a:r>
              <a:rPr lang="en-US" dirty="0"/>
              <a:t>, Q2, Q3, D</a:t>
            </a:r>
            <a:r>
              <a:rPr lang="en-US" baseline="-25000" dirty="0"/>
              <a:t>7</a:t>
            </a:r>
            <a:r>
              <a:rPr lang="en-US" dirty="0"/>
              <a:t> and P</a:t>
            </a:r>
            <a:r>
              <a:rPr lang="en-US" baseline="-25000" dirty="0"/>
              <a:t>60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4" name="img-115_2" descr="images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24" y="5429264"/>
            <a:ext cx="7429552" cy="714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0" y="5072074"/>
            <a:ext cx="91440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Times New Roman" pitchFamily="18" charset="0"/>
                <a:cs typeface="Times New Roman" pitchFamily="18" charset="0"/>
              </a:rPr>
              <a:t>MEDIAN: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Since the number of observations in this data set are 100, the median value is (</a:t>
            </a:r>
            <a:r>
              <a:rPr kumimoji="0" lang="en-US" sz="2400" b="0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n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/2)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th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= (100 ÷ 2)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th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= 50th observation. This observation lies in the class interval 20–25. </a:t>
            </a:r>
            <a:endParaRPr kumimoji="0" 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4643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Applying the formula to get median overtime hours value, we have</a:t>
            </a:r>
            <a:endParaRPr lang="en-US" dirty="0"/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2924174"/>
            <a:ext cx="7215237" cy="22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85720" y="5143512"/>
            <a:ext cx="821537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42910" y="4286256"/>
            <a:ext cx="18076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First quartile</a:t>
            </a:r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5715016"/>
            <a:ext cx="8286840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5720" y="0"/>
            <a:ext cx="8858280" cy="3552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en-US" dirty="0"/>
              <a:t>DECILE</a:t>
            </a:r>
            <a:br>
              <a:rPr lang="en-US" dirty="0"/>
            </a:br>
            <a:endParaRPr lang="en-US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lum bright="-28000" contrast="42000"/>
          </a:blip>
          <a:srcRect/>
          <a:stretch>
            <a:fillRect/>
          </a:stretch>
        </p:blipFill>
        <p:spPr bwMode="auto">
          <a:xfrm>
            <a:off x="214282" y="4500570"/>
            <a:ext cx="8715436" cy="604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>
            <a:lum bright="-29000" contrast="28000"/>
          </a:blip>
          <a:srcRect/>
          <a:stretch>
            <a:fillRect/>
          </a:stretch>
        </p:blipFill>
        <p:spPr bwMode="auto">
          <a:xfrm>
            <a:off x="428596" y="5429264"/>
            <a:ext cx="8001056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428604"/>
            <a:ext cx="9144000" cy="371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en-US" dirty="0"/>
              <a:t>PERCENTILE</a:t>
            </a:r>
            <a:br>
              <a:rPr lang="en-US" dirty="0"/>
            </a:br>
            <a:endParaRPr lang="en-US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lum bright="-14000" contrast="27000"/>
          </a:blip>
          <a:srcRect/>
          <a:stretch>
            <a:fillRect/>
          </a:stretch>
        </p:blipFill>
        <p:spPr bwMode="auto">
          <a:xfrm>
            <a:off x="428596" y="4357694"/>
            <a:ext cx="8501122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0" y="5286388"/>
            <a:ext cx="7929618" cy="1019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00042"/>
            <a:ext cx="8929718" cy="3643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1600" y="260648"/>
            <a:ext cx="6696744" cy="18669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848" y="2411118"/>
            <a:ext cx="2880320" cy="94587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9833" y="3212976"/>
            <a:ext cx="4104456" cy="151216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9834" y="5306244"/>
            <a:ext cx="3024334" cy="1291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047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536" y="116632"/>
            <a:ext cx="7704856" cy="403244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4581128"/>
            <a:ext cx="4608512" cy="226442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144" y="1628800"/>
            <a:ext cx="2591438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947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3688" y="908720"/>
            <a:ext cx="5760640" cy="4604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661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536" y="620688"/>
            <a:ext cx="7776863" cy="590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425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561" y="548681"/>
            <a:ext cx="6117852" cy="451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556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A7A9B-60F9-8E0F-EFBF-CE438929B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E74DCF-F33F-BD4F-DAB5-1763632C7C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496743"/>
              </p:ext>
            </p:extLst>
          </p:nvPr>
        </p:nvGraphicFramePr>
        <p:xfrm>
          <a:off x="457200" y="1752600"/>
          <a:ext cx="3955550" cy="469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7876">
                  <a:extLst>
                    <a:ext uri="{9D8B030D-6E8A-4147-A177-3AD203B41FA5}">
                      <a16:colId xmlns:a16="http://schemas.microsoft.com/office/drawing/2014/main" val="2624116040"/>
                    </a:ext>
                  </a:extLst>
                </a:gridCol>
                <a:gridCol w="2067674">
                  <a:extLst>
                    <a:ext uri="{9D8B030D-6E8A-4147-A177-3AD203B41FA5}">
                      <a16:colId xmlns:a16="http://schemas.microsoft.com/office/drawing/2014/main" val="3628121890"/>
                    </a:ext>
                  </a:extLst>
                </a:gridCol>
              </a:tblGrid>
              <a:tr h="5867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rgbClr val="FF0000"/>
                          </a:solidFill>
                        </a:rPr>
                        <a:t>Marks</a:t>
                      </a:r>
                    </a:p>
                  </a:txBody>
                  <a:tcPr marT="50292" marB="50292"/>
                </a:tc>
                <a:tc>
                  <a:txBody>
                    <a:bodyPr/>
                    <a:lstStyle/>
                    <a:p>
                      <a:r>
                        <a:rPr lang="en-US" sz="2000" b="1" baseline="0" dirty="0">
                          <a:latin typeface="Agency FB" pitchFamily="34" charset="0"/>
                        </a:rPr>
                        <a:t>  </a:t>
                      </a:r>
                      <a:r>
                        <a:rPr lang="en-US" sz="2600" b="1" baseline="0" dirty="0">
                          <a:latin typeface="Agency FB" pitchFamily="34" charset="0"/>
                        </a:rPr>
                        <a:t>Frequency</a:t>
                      </a:r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1400943583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b="1" dirty="0">
                          <a:solidFill>
                            <a:srgbClr val="99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10 – 20</a:t>
                      </a:r>
                    </a:p>
                  </a:txBody>
                  <a:tcPr marT="50292" marB="50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baseline="0" dirty="0">
                          <a:latin typeface="Agency FB" pitchFamily="34" charset="0"/>
                        </a:rPr>
                        <a:t>1</a:t>
                      </a:r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885568391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b="1" dirty="0">
                          <a:solidFill>
                            <a:srgbClr val="99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20 - 30</a:t>
                      </a:r>
                      <a:r>
                        <a:rPr lang="en-US" sz="2600" b="1" baseline="0" dirty="0">
                          <a:solidFill>
                            <a:srgbClr val="99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</a:t>
                      </a:r>
                      <a:endParaRPr lang="en-US" sz="2600" b="1" dirty="0">
                        <a:solidFill>
                          <a:srgbClr val="99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T="50292" marB="50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baseline="0" dirty="0">
                          <a:latin typeface="Agency FB" pitchFamily="34" charset="0"/>
                        </a:rPr>
                        <a:t>3</a:t>
                      </a:r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2843220849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b="1" dirty="0">
                          <a:solidFill>
                            <a:srgbClr val="99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30 - 40</a:t>
                      </a:r>
                    </a:p>
                  </a:txBody>
                  <a:tcPr marT="50292" marB="50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baseline="0" dirty="0">
                          <a:latin typeface="Agency FB" pitchFamily="34" charset="0"/>
                        </a:rPr>
                        <a:t>11</a:t>
                      </a:r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2701957427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b="1" dirty="0">
                          <a:solidFill>
                            <a:srgbClr val="99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40  -</a:t>
                      </a:r>
                      <a:r>
                        <a:rPr lang="en-US" sz="2600" b="1" baseline="0" dirty="0">
                          <a:solidFill>
                            <a:srgbClr val="99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50</a:t>
                      </a:r>
                      <a:endParaRPr lang="en-US" sz="2600" b="1" dirty="0">
                        <a:solidFill>
                          <a:srgbClr val="99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T="50292" marB="50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baseline="0" dirty="0">
                          <a:latin typeface="Agency FB" pitchFamily="34" charset="0"/>
                        </a:rPr>
                        <a:t>21</a:t>
                      </a:r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1790263887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b="1" dirty="0">
                          <a:solidFill>
                            <a:srgbClr val="99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50 -</a:t>
                      </a:r>
                      <a:r>
                        <a:rPr lang="en-US" sz="2600" b="1" baseline="0" dirty="0">
                          <a:solidFill>
                            <a:srgbClr val="99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60</a:t>
                      </a:r>
                      <a:endParaRPr lang="en-US" sz="2600" b="1" dirty="0">
                        <a:solidFill>
                          <a:srgbClr val="99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T="50292" marB="50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baseline="0" dirty="0">
                          <a:latin typeface="Agency FB" pitchFamily="34" charset="0"/>
                        </a:rPr>
                        <a:t>43</a:t>
                      </a:r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3521799500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>
                          <a:solidFill>
                            <a:srgbClr val="99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60-70</a:t>
                      </a:r>
                    </a:p>
                  </a:txBody>
                  <a:tcPr marT="50292" marB="50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baseline="0" dirty="0">
                          <a:latin typeface="Agency FB" pitchFamily="34" charset="0"/>
                        </a:rPr>
                        <a:t>32</a:t>
                      </a:r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699751606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>
                          <a:solidFill>
                            <a:srgbClr val="99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70-80</a:t>
                      </a:r>
                    </a:p>
                  </a:txBody>
                  <a:tcPr marT="50292" marB="50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baseline="0" dirty="0">
                          <a:latin typeface="Agency FB" pitchFamily="34" charset="0"/>
                        </a:rPr>
                        <a:t>9</a:t>
                      </a:r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26268788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83A782A-50DE-7C8E-4E17-0B6E69E12734}"/>
              </a:ext>
            </a:extLst>
          </p:cNvPr>
          <p:cNvSpPr txBox="1"/>
          <p:nvPr/>
        </p:nvSpPr>
        <p:spPr>
          <a:xfrm>
            <a:off x="685800" y="457200"/>
            <a:ext cx="6477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Find the  following for a data of patients who have visited  hospital on a particular day</a:t>
            </a:r>
          </a:p>
          <a:p>
            <a:endParaRPr lang="en-US" b="1" dirty="0">
              <a:highlight>
                <a:srgbClr val="FFFF00"/>
              </a:highlight>
            </a:endParaRPr>
          </a:p>
          <a:p>
            <a:r>
              <a:rPr lang="en-US" b="1" dirty="0">
                <a:highlight>
                  <a:srgbClr val="FFFF00"/>
                </a:highlight>
              </a:rPr>
              <a:t>Calculate MEAN, MEDIAN, MODE, Q</a:t>
            </a:r>
            <a:r>
              <a:rPr lang="en-US" b="1" baseline="-25000" dirty="0">
                <a:highlight>
                  <a:srgbClr val="FFFF00"/>
                </a:highlight>
              </a:rPr>
              <a:t>1</a:t>
            </a:r>
            <a:r>
              <a:rPr lang="en-US" b="1" dirty="0">
                <a:highlight>
                  <a:srgbClr val="FFFF00"/>
                </a:highlight>
              </a:rPr>
              <a:t>, Q2, Q3, D</a:t>
            </a:r>
            <a:r>
              <a:rPr lang="en-US" b="1" baseline="-25000" dirty="0">
                <a:highlight>
                  <a:srgbClr val="FFFF00"/>
                </a:highlight>
              </a:rPr>
              <a:t>7 </a:t>
            </a:r>
            <a:r>
              <a:rPr lang="en-US" b="1" dirty="0">
                <a:highlight>
                  <a:srgbClr val="FFFF00"/>
                </a:highlight>
              </a:rPr>
              <a:t>and P</a:t>
            </a:r>
            <a:r>
              <a:rPr lang="en-US" b="1" baseline="-25000" dirty="0">
                <a:highlight>
                  <a:srgbClr val="FFFF00"/>
                </a:highlight>
              </a:rPr>
              <a:t>60</a:t>
            </a:r>
            <a:r>
              <a:rPr lang="en-US" b="1" dirty="0">
                <a:highlight>
                  <a:srgbClr val="FFFF00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53552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11F220D-EA52-34FC-1B07-399328C2A0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699223"/>
              </p:ext>
            </p:extLst>
          </p:nvPr>
        </p:nvGraphicFramePr>
        <p:xfrm>
          <a:off x="457200" y="1600200"/>
          <a:ext cx="3955550" cy="373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7876">
                  <a:extLst>
                    <a:ext uri="{9D8B030D-6E8A-4147-A177-3AD203B41FA5}">
                      <a16:colId xmlns:a16="http://schemas.microsoft.com/office/drawing/2014/main" val="2624116040"/>
                    </a:ext>
                  </a:extLst>
                </a:gridCol>
                <a:gridCol w="2067674">
                  <a:extLst>
                    <a:ext uri="{9D8B030D-6E8A-4147-A177-3AD203B41FA5}">
                      <a16:colId xmlns:a16="http://schemas.microsoft.com/office/drawing/2014/main" val="362812189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baseline="0" dirty="0">
                          <a:latin typeface="Agency FB" pitchFamily="34" charset="0"/>
                        </a:rPr>
                        <a:t>  </a:t>
                      </a:r>
                      <a:r>
                        <a:rPr lang="en-US" sz="2400" b="1" baseline="0" dirty="0">
                          <a:latin typeface="Agency FB" pitchFamily="34" charset="0"/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094358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99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</a:t>
                      </a:r>
                      <a:r>
                        <a:rPr lang="en-US" sz="2400" b="1" baseline="0" dirty="0">
                          <a:solidFill>
                            <a:srgbClr val="99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 -  10</a:t>
                      </a:r>
                      <a:endParaRPr lang="en-US" sz="2400" b="1" dirty="0">
                        <a:solidFill>
                          <a:srgbClr val="99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Agency FB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56839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99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10 –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Agency FB" pitchFamily="34" charset="0"/>
                        </a:rPr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220849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99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20 - 30</a:t>
                      </a:r>
                      <a:r>
                        <a:rPr lang="en-US" sz="2400" b="1" baseline="0" dirty="0">
                          <a:solidFill>
                            <a:srgbClr val="99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</a:t>
                      </a:r>
                      <a:endParaRPr lang="en-US" sz="2400" b="1" dirty="0">
                        <a:solidFill>
                          <a:srgbClr val="99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Agency FB" pitchFamily="34" charset="0"/>
                        </a:rP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95742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99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30 - 40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Agency FB" pitchFamily="34" charset="0"/>
                        </a:rPr>
                        <a:t>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26388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99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40  -</a:t>
                      </a:r>
                      <a:r>
                        <a:rPr lang="en-US" sz="2400" b="1" baseline="0" dirty="0">
                          <a:solidFill>
                            <a:srgbClr val="99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50</a:t>
                      </a:r>
                      <a:endParaRPr lang="en-US" sz="2400" b="1" dirty="0">
                        <a:solidFill>
                          <a:srgbClr val="99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Agency FB" pitchFamily="34" charset="0"/>
                        </a:rPr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7995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99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50 -</a:t>
                      </a:r>
                      <a:r>
                        <a:rPr lang="en-US" sz="2400" b="1" baseline="0" dirty="0">
                          <a:solidFill>
                            <a:srgbClr val="99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60</a:t>
                      </a:r>
                      <a:endParaRPr lang="en-US" sz="2400" b="1" dirty="0">
                        <a:solidFill>
                          <a:srgbClr val="99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Agency FB" pitchFamily="34" charset="0"/>
                        </a:rPr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75160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8880162-AB0A-CE8B-1F44-4F87BE9B827E}"/>
              </a:ext>
            </a:extLst>
          </p:cNvPr>
          <p:cNvSpPr txBox="1"/>
          <p:nvPr/>
        </p:nvSpPr>
        <p:spPr>
          <a:xfrm>
            <a:off x="685800" y="457200"/>
            <a:ext cx="6477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Calculate MEAN, MEDIAN, MODE, Q</a:t>
            </a:r>
            <a:r>
              <a:rPr lang="en-US" b="1" baseline="-25000" dirty="0">
                <a:highlight>
                  <a:srgbClr val="FFFF00"/>
                </a:highlight>
              </a:rPr>
              <a:t>1</a:t>
            </a:r>
            <a:r>
              <a:rPr lang="en-US" b="1" dirty="0">
                <a:highlight>
                  <a:srgbClr val="FFFF00"/>
                </a:highlight>
              </a:rPr>
              <a:t>, Q2, Q3, D</a:t>
            </a:r>
            <a:r>
              <a:rPr lang="en-US" b="1" baseline="-25000" dirty="0">
                <a:highlight>
                  <a:srgbClr val="FFFF00"/>
                </a:highlight>
              </a:rPr>
              <a:t>6 </a:t>
            </a:r>
            <a:r>
              <a:rPr lang="en-US" b="1" dirty="0">
                <a:highlight>
                  <a:srgbClr val="FFFF00"/>
                </a:highlight>
              </a:rPr>
              <a:t>and P</a:t>
            </a:r>
            <a:r>
              <a:rPr lang="en-US" b="1" baseline="-25000" dirty="0">
                <a:highlight>
                  <a:srgbClr val="FFFF00"/>
                </a:highlight>
              </a:rPr>
              <a:t>80</a:t>
            </a:r>
            <a:r>
              <a:rPr lang="en-US" b="1" dirty="0">
                <a:highlight>
                  <a:srgbClr val="FFFF00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3607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1510</TotalTime>
  <Words>371</Words>
  <Application>Microsoft Office PowerPoint</Application>
  <PresentationFormat>On-screen Show (4:3)</PresentationFormat>
  <Paragraphs>54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Agency FB</vt:lpstr>
      <vt:lpstr>Arial</vt:lpstr>
      <vt:lpstr>Calibri</vt:lpstr>
      <vt:lpstr>Office Theme</vt:lpstr>
      <vt:lpstr>DECILE n  PERCENTILE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DECILE </vt:lpstr>
      <vt:lpstr>PERCENTILE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ZEBRONICS</dc:creator>
  <cp:lastModifiedBy>Umesh Bhushi</cp:lastModifiedBy>
  <cp:revision>40</cp:revision>
  <dcterms:created xsi:type="dcterms:W3CDTF">2023-01-22T14:27:14Z</dcterms:created>
  <dcterms:modified xsi:type="dcterms:W3CDTF">2025-11-28T05:24:59Z</dcterms:modified>
</cp:coreProperties>
</file>