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5" r:id="rId5"/>
    <p:sldId id="266" r:id="rId6"/>
    <p:sldId id="263" r:id="rId7"/>
    <p:sldId id="267" r:id="rId8"/>
    <p:sldId id="268" r:id="rId9"/>
    <p:sldId id="302" r:id="rId10"/>
    <p:sldId id="303" r:id="rId11"/>
    <p:sldId id="271" r:id="rId12"/>
    <p:sldId id="273" r:id="rId13"/>
    <p:sldId id="274" r:id="rId14"/>
    <p:sldId id="272" r:id="rId15"/>
    <p:sldId id="306" r:id="rId16"/>
    <p:sldId id="278" r:id="rId17"/>
    <p:sldId id="279" r:id="rId18"/>
    <p:sldId id="280" r:id="rId19"/>
    <p:sldId id="281" r:id="rId20"/>
    <p:sldId id="283" r:id="rId21"/>
    <p:sldId id="284" r:id="rId22"/>
    <p:sldId id="282" r:id="rId23"/>
    <p:sldId id="304" r:id="rId24"/>
    <p:sldId id="305" r:id="rId25"/>
    <p:sldId id="285" r:id="rId26"/>
    <p:sldId id="286" r:id="rId27"/>
    <p:sldId id="287"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00F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5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523446-5809-4D20-B3B4-7933EE13520B}"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BD32C-725B-4FD6-92F8-556AF8D6F7C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23446-5809-4D20-B3B4-7933EE13520B}" type="datetimeFigureOut">
              <a:rPr lang="en-US" smtClean="0"/>
              <a:pPr/>
              <a:t>10/11/2025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6BD32C-725B-4FD6-92F8-556AF8D6F7C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safaribooksonline.com/library/view/business-statistics-second/9789332503434/xhtml/chapter003.xhtml"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afaribooksonline.com/library/view/business-statistics-second/9789332503434/xhtml/chapter003.x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GEOMETRIC MEAN AND HARMONIC MEAN</a:t>
            </a:r>
            <a:br>
              <a:rPr lang="en-US" dirty="0" smtClean="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5791200"/>
          </a:xfrm>
          <a:solidFill>
            <a:schemeClr val="bg1"/>
          </a:solidFill>
          <a:ln>
            <a:solidFill>
              <a:srgbClr val="FF5050"/>
            </a:solidFill>
          </a:ln>
        </p:spPr>
        <p:txBody>
          <a:bodyPr>
            <a:normAutofit fontScale="70000" lnSpcReduction="20000"/>
          </a:bodyPr>
          <a:lstStyle/>
          <a:p>
            <a:r>
              <a:rPr lang="en-US" sz="4500" b="1" cap="all" dirty="0">
                <a:solidFill>
                  <a:srgbClr val="FF0000"/>
                </a:solidFill>
              </a:rPr>
              <a:t>GEOMETRIC MEAN</a:t>
            </a:r>
            <a:endParaRPr lang="en-US" sz="4500" b="1" dirty="0">
              <a:solidFill>
                <a:srgbClr val="FF0000"/>
              </a:solidFill>
            </a:endParaRPr>
          </a:p>
          <a:p>
            <a:pPr algn="just"/>
            <a:r>
              <a:rPr lang="en-US" sz="4500" dirty="0"/>
              <a:t>In many business and economics problems, we deal with quantities (variables) that change over a period of time. </a:t>
            </a:r>
            <a:endParaRPr lang="en-US" sz="4500" dirty="0" smtClean="0"/>
          </a:p>
          <a:p>
            <a:pPr algn="just"/>
            <a:endParaRPr lang="en-US" sz="4500" dirty="0" smtClean="0"/>
          </a:p>
          <a:p>
            <a:pPr algn="just"/>
            <a:r>
              <a:rPr lang="en-US" sz="4500" dirty="0" smtClean="0"/>
              <a:t>In </a:t>
            </a:r>
            <a:r>
              <a:rPr lang="en-US" sz="4500" dirty="0"/>
              <a:t>such cases </a:t>
            </a:r>
            <a:r>
              <a:rPr lang="en-US" sz="4500" b="1" u="sng" dirty="0">
                <a:solidFill>
                  <a:srgbClr val="FF0000"/>
                </a:solidFill>
                <a:effectLst>
                  <a:outerShdw blurRad="38100" dist="38100" dir="2700000" algn="tl">
                    <a:srgbClr val="000000">
                      <a:alpha val="43137"/>
                    </a:srgbClr>
                  </a:outerShdw>
                </a:effectLst>
              </a:rPr>
              <a:t>the aim is to know an </a:t>
            </a:r>
            <a:r>
              <a:rPr lang="en-US" sz="4500" b="1" u="sng" dirty="0">
                <a:solidFill>
                  <a:srgbClr val="CC00FF"/>
                </a:solidFill>
                <a:effectLst>
                  <a:outerShdw blurRad="38100" dist="38100" dir="2700000" algn="tl">
                    <a:srgbClr val="000000">
                      <a:alpha val="43137"/>
                    </a:srgbClr>
                  </a:outerShdw>
                </a:effectLst>
              </a:rPr>
              <a:t>average </a:t>
            </a:r>
            <a:r>
              <a:rPr lang="en-US" sz="4500" b="1" u="dbl" dirty="0">
                <a:solidFill>
                  <a:srgbClr val="CC00FF"/>
                </a:solidFill>
                <a:effectLst>
                  <a:outerShdw blurRad="38100" dist="38100" dir="2700000" algn="tl">
                    <a:srgbClr val="000000">
                      <a:alpha val="43137"/>
                    </a:srgbClr>
                  </a:outerShdw>
                </a:effectLst>
                <a:uFill>
                  <a:solidFill>
                    <a:srgbClr val="0033CC"/>
                  </a:solidFill>
                </a:uFill>
              </a:rPr>
              <a:t>percentage change</a:t>
            </a:r>
            <a:r>
              <a:rPr lang="en-US" sz="4500" dirty="0">
                <a:effectLst>
                  <a:outerShdw blurRad="38100" dist="38100" dir="2700000" algn="tl">
                    <a:srgbClr val="000000">
                      <a:alpha val="43137"/>
                    </a:srgbClr>
                  </a:outerShdw>
                </a:effectLst>
                <a:uFill>
                  <a:solidFill>
                    <a:srgbClr val="0033CC"/>
                  </a:solidFill>
                </a:uFill>
              </a:rPr>
              <a:t> </a:t>
            </a:r>
            <a:r>
              <a:rPr lang="en-US" sz="4600" b="1" u="sng" dirty="0">
                <a:solidFill>
                  <a:srgbClr val="FF0000"/>
                </a:solidFill>
                <a:effectLst>
                  <a:outerShdw blurRad="38100" dist="38100" dir="2700000" algn="tl">
                    <a:srgbClr val="000000">
                      <a:alpha val="43137"/>
                    </a:srgbClr>
                  </a:outerShdw>
                </a:effectLst>
              </a:rPr>
              <a:t>rather</a:t>
            </a:r>
            <a:r>
              <a:rPr lang="en-US" sz="4500" b="1" u="sng" dirty="0">
                <a:effectLst>
                  <a:outerShdw blurRad="38100" dist="38100" dir="2700000" algn="tl">
                    <a:srgbClr val="000000">
                      <a:alpha val="43137"/>
                    </a:srgbClr>
                  </a:outerShdw>
                </a:effectLst>
              </a:rPr>
              <a:t> than simple average</a:t>
            </a:r>
            <a:r>
              <a:rPr lang="en-US" sz="4500" dirty="0"/>
              <a:t> </a:t>
            </a:r>
            <a:r>
              <a:rPr lang="en-US" sz="4500" b="1" dirty="0">
                <a:effectLst>
                  <a:outerShdw blurRad="38100" dist="38100" dir="2700000" algn="tl">
                    <a:srgbClr val="000000">
                      <a:alpha val="43137"/>
                    </a:srgbClr>
                  </a:outerShdw>
                </a:effectLst>
              </a:rPr>
              <a:t>value</a:t>
            </a:r>
            <a:r>
              <a:rPr lang="en-US" sz="4500" dirty="0"/>
              <a:t> </a:t>
            </a:r>
            <a:r>
              <a:rPr lang="en-US" sz="4500" dirty="0" smtClean="0"/>
              <a:t>so that we could </a:t>
            </a:r>
            <a:r>
              <a:rPr lang="en-US" sz="4500" u="sng" dirty="0" smtClean="0">
                <a:solidFill>
                  <a:srgbClr val="0033CC"/>
                </a:solidFill>
                <a:effectLst>
                  <a:outerShdw blurRad="38100" dist="38100" dir="2700000" algn="tl">
                    <a:srgbClr val="000000">
                      <a:alpha val="43137"/>
                    </a:srgbClr>
                  </a:outerShdw>
                </a:effectLst>
              </a:rPr>
              <a:t>identify and represent </a:t>
            </a:r>
            <a:r>
              <a:rPr lang="en-US" sz="4500" u="sng" dirty="0">
                <a:solidFill>
                  <a:srgbClr val="0033CC"/>
                </a:solidFill>
                <a:effectLst>
                  <a:outerShdw blurRad="38100" dist="38100" dir="2700000" algn="tl">
                    <a:srgbClr val="000000">
                      <a:alpha val="43137"/>
                    </a:srgbClr>
                  </a:outerShdw>
                </a:effectLst>
              </a:rPr>
              <a:t>the average growth</a:t>
            </a:r>
            <a:r>
              <a:rPr lang="en-US" sz="4500" dirty="0">
                <a:solidFill>
                  <a:srgbClr val="0033CC"/>
                </a:solidFill>
                <a:effectLst>
                  <a:outerShdw blurRad="38100" dist="38100" dir="2700000" algn="tl">
                    <a:srgbClr val="000000">
                      <a:alpha val="43137"/>
                    </a:srgbClr>
                  </a:outerShdw>
                </a:effectLst>
              </a:rPr>
              <a:t> or </a:t>
            </a:r>
            <a:r>
              <a:rPr lang="en-US" sz="4500" b="1" dirty="0">
                <a:solidFill>
                  <a:srgbClr val="FF0000"/>
                </a:solidFill>
                <a:effectLst>
                  <a:outerShdw blurRad="38100" dist="38100" dir="2700000" algn="tl">
                    <a:srgbClr val="000000">
                      <a:alpha val="43137"/>
                    </a:srgbClr>
                  </a:outerShdw>
                </a:effectLst>
              </a:rPr>
              <a:t>decline rate </a:t>
            </a:r>
            <a:r>
              <a:rPr lang="en-US" sz="4500" dirty="0"/>
              <a:t>in the variable value over a period of time. </a:t>
            </a:r>
            <a:endParaRPr lang="en-US" sz="4500" dirty="0" smtClean="0"/>
          </a:p>
          <a:p>
            <a:pPr algn="just"/>
            <a:endParaRPr lang="en-US" sz="4500" dirty="0" smtClean="0"/>
          </a:p>
          <a:p>
            <a:pPr algn="just"/>
            <a:r>
              <a:rPr lang="en-US" sz="4500" dirty="0" smtClean="0"/>
              <a:t>Thus </a:t>
            </a:r>
            <a:r>
              <a:rPr lang="en-US" sz="4500" dirty="0"/>
              <a:t>we need to calculate another measure of central tendency called </a:t>
            </a:r>
            <a:r>
              <a:rPr lang="en-US" sz="4500" b="1" dirty="0"/>
              <a:t>geometric mean</a:t>
            </a:r>
            <a:r>
              <a:rPr lang="en-US" sz="4500" dirty="0"/>
              <a:t> (</a:t>
            </a:r>
            <a:r>
              <a:rPr lang="en-US" sz="4500" i="1" dirty="0"/>
              <a:t>G.M.</a:t>
            </a:r>
            <a:r>
              <a:rPr lang="en-US" sz="4500" dirty="0"/>
              <a:t>). </a:t>
            </a:r>
            <a:endParaRPr lang="en-US" sz="4000"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4525963"/>
          </a:xfrm>
        </p:spPr>
        <p:txBody>
          <a:bodyPr/>
          <a:lstStyle/>
          <a:p>
            <a:pPr>
              <a:buNone/>
            </a:pPr>
            <a:r>
              <a:rPr lang="en-US" sz="2800" b="1" dirty="0">
                <a:solidFill>
                  <a:srgbClr val="0033CC"/>
                </a:solidFill>
              </a:rPr>
              <a:t>Calculation of G.M.</a:t>
            </a:r>
            <a:endParaRPr lang="en-US" sz="2800" dirty="0">
              <a:solidFill>
                <a:srgbClr val="0033CC"/>
              </a:solidFill>
            </a:endParaRPr>
          </a:p>
          <a:p>
            <a:pPr algn="just"/>
            <a:r>
              <a:rPr lang="en-US" sz="2400" dirty="0"/>
              <a:t>When the </a:t>
            </a:r>
            <a:r>
              <a:rPr lang="en-US" sz="2400" b="1" u="sng" dirty="0">
                <a:solidFill>
                  <a:srgbClr val="FF0000"/>
                </a:solidFill>
              </a:rPr>
              <a:t>number of observations are more than three</a:t>
            </a:r>
            <a:r>
              <a:rPr lang="en-US" sz="2400" dirty="0"/>
              <a:t>, the G.M. can be calculated by taking logarithm on both sides of the equation. The </a:t>
            </a:r>
            <a:r>
              <a:rPr lang="en-US" sz="2400" dirty="0">
                <a:hlinkClick r:id="rId2"/>
              </a:rPr>
              <a:t>formula </a:t>
            </a:r>
            <a:r>
              <a:rPr lang="en-US" sz="2400" dirty="0"/>
              <a:t> for G.M. for </a:t>
            </a:r>
            <a:r>
              <a:rPr lang="en-US" sz="2400" b="1" dirty="0">
                <a:solidFill>
                  <a:srgbClr val="FF0000"/>
                </a:solidFill>
                <a:effectLst>
                  <a:outerShdw blurRad="38100" dist="38100" dir="2700000" algn="tl">
                    <a:srgbClr val="000000">
                      <a:alpha val="43137"/>
                    </a:srgbClr>
                  </a:outerShdw>
                </a:effectLst>
              </a:rPr>
              <a:t>ungrouped data </a:t>
            </a:r>
            <a:r>
              <a:rPr lang="en-US" sz="2400" dirty="0"/>
              <a:t>can be expressed in terms of logarithm as shown below:</a:t>
            </a:r>
          </a:p>
          <a:p>
            <a:r>
              <a:rPr lang="en-US" dirty="0"/>
              <a:t> </a:t>
            </a:r>
          </a:p>
          <a:p>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1905000" y="2286000"/>
            <a:ext cx="4695825" cy="1647825"/>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3124200" y="4267200"/>
            <a:ext cx="1485900" cy="923925"/>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cstate="print"/>
          <a:srcRect/>
          <a:stretch>
            <a:fillRect/>
          </a:stretch>
        </p:blipFill>
        <p:spPr bwMode="auto">
          <a:xfrm>
            <a:off x="1905000" y="5486400"/>
            <a:ext cx="4505325" cy="1057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1"/>
            <a:ext cx="8686800" cy="3505200"/>
          </a:xfrm>
        </p:spPr>
        <p:txBody>
          <a:bodyPr>
            <a:normAutofit/>
          </a:bodyPr>
          <a:lstStyle/>
          <a:p>
            <a:pPr algn="just"/>
            <a:r>
              <a:rPr lang="en-US" sz="2400" b="1" dirty="0" smtClean="0"/>
              <a:t>Example:</a:t>
            </a:r>
            <a:r>
              <a:rPr lang="en-US" sz="2400" dirty="0"/>
              <a:t> The rate of increase in population of a country during the last three decades is </a:t>
            </a:r>
            <a:r>
              <a:rPr lang="en-US" sz="2400" dirty="0">
                <a:solidFill>
                  <a:srgbClr val="0033CC"/>
                </a:solidFill>
              </a:rPr>
              <a:t>5 per cent, 8 per cent, and 12 per cent. </a:t>
            </a:r>
            <a:r>
              <a:rPr lang="en-US" sz="2400" dirty="0"/>
              <a:t>Find the </a:t>
            </a:r>
            <a:r>
              <a:rPr lang="en-US" sz="2400" dirty="0">
                <a:solidFill>
                  <a:srgbClr val="FF0000"/>
                </a:solidFill>
                <a:effectLst>
                  <a:outerShdw blurRad="38100" dist="38100" dir="2700000" algn="tl">
                    <a:srgbClr val="000000">
                      <a:alpha val="43137"/>
                    </a:srgbClr>
                  </a:outerShdw>
                </a:effectLst>
              </a:rPr>
              <a:t>average rate of growth during the last three decades</a:t>
            </a:r>
            <a:r>
              <a:rPr lang="en-US" sz="2400" dirty="0" smtClean="0">
                <a:solidFill>
                  <a:srgbClr val="FF0000"/>
                </a:solidFill>
                <a:effectLst>
                  <a:outerShdw blurRad="38100" dist="38100" dir="2700000" algn="tl">
                    <a:srgbClr val="000000">
                      <a:alpha val="43137"/>
                    </a:srgbClr>
                  </a:outerShdw>
                </a:effectLst>
              </a:rPr>
              <a:t>.</a:t>
            </a:r>
          </a:p>
          <a:p>
            <a:pPr algn="just"/>
            <a:endParaRPr lang="en-US" sz="2400" dirty="0"/>
          </a:p>
          <a:p>
            <a:pPr algn="just"/>
            <a:r>
              <a:rPr lang="en-US" sz="2400" b="1" dirty="0"/>
              <a:t>Solution:</a:t>
            </a:r>
            <a:r>
              <a:rPr lang="en-US" sz="2400" dirty="0"/>
              <a:t> Since the data is given in terms of percentage, therefore geometric mean is a more appropriate measure. The calculations of geometric mean are shown in </a:t>
            </a:r>
          </a:p>
          <a:p>
            <a:endParaRPr lang="en-US" dirty="0"/>
          </a:p>
        </p:txBody>
      </p:sp>
      <p:pic>
        <p:nvPicPr>
          <p:cNvPr id="4" name="img-c03t018" descr="Table 3.18 Calculations of G.M."/>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3733800"/>
            <a:ext cx="8153400" cy="2532889"/>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c03t018" descr="Table 3.18 Calculations of G.M."/>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533400"/>
            <a:ext cx="8153400" cy="2532889"/>
          </a:xfrm>
          <a:prstGeom prst="rect">
            <a:avLst/>
          </a:prstGeom>
          <a:noFill/>
          <a:ln>
            <a:noFill/>
          </a:ln>
        </p:spPr>
      </p:pic>
      <p:sp>
        <p:nvSpPr>
          <p:cNvPr id="5" name="Rectangle 4"/>
          <p:cNvSpPr/>
          <p:nvPr/>
        </p:nvSpPr>
        <p:spPr>
          <a:xfrm>
            <a:off x="381000" y="0"/>
            <a:ext cx="3119637" cy="523220"/>
          </a:xfrm>
          <a:prstGeom prst="rect">
            <a:avLst/>
          </a:prstGeom>
        </p:spPr>
        <p:txBody>
          <a:bodyPr wrap="none">
            <a:spAutoFit/>
          </a:bodyPr>
          <a:lstStyle/>
          <a:p>
            <a:r>
              <a:rPr lang="en-US" sz="2800" dirty="0" smtClean="0">
                <a:solidFill>
                  <a:srgbClr val="FF0000"/>
                </a:solidFill>
              </a:rPr>
              <a:t>Calculations </a:t>
            </a:r>
            <a:r>
              <a:rPr lang="en-US" sz="2800" dirty="0">
                <a:solidFill>
                  <a:srgbClr val="FF0000"/>
                </a:solidFill>
              </a:rPr>
              <a:t>of G.M</a:t>
            </a:r>
            <a:r>
              <a:rPr lang="en-US" sz="2800" dirty="0" smtClean="0">
                <a:solidFill>
                  <a:srgbClr val="FF0000"/>
                </a:solidFill>
              </a:rPr>
              <a:t>.</a:t>
            </a:r>
            <a:endParaRPr lang="en-US" sz="2800" dirty="0">
              <a:solidFill>
                <a:srgbClr val="FF0000"/>
              </a:solidFill>
            </a:endParaRPr>
          </a:p>
        </p:txBody>
      </p:sp>
      <p:pic>
        <p:nvPicPr>
          <p:cNvPr id="6" name="img-103_1"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3733800"/>
            <a:ext cx="6400800" cy="1066800"/>
          </a:xfrm>
          <a:prstGeom prst="rect">
            <a:avLst/>
          </a:prstGeom>
          <a:noFill/>
          <a:ln>
            <a:noFill/>
          </a:ln>
        </p:spPr>
      </p:pic>
      <p:sp>
        <p:nvSpPr>
          <p:cNvPr id="2049" name="Rectangle 1"/>
          <p:cNvSpPr>
            <a:spLocks noChangeArrowheads="1"/>
          </p:cNvSpPr>
          <p:nvPr/>
        </p:nvSpPr>
        <p:spPr bwMode="auto">
          <a:xfrm>
            <a:off x="84521" y="5900663"/>
            <a:ext cx="8974957"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Hence the average rate of increase in population over the last three decades is 108.2 – 100 = 8.2 per cent</a:t>
            </a:r>
            <a:r>
              <a:rPr kumimoji="0" lang="en-US" sz="1600" b="0"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9697" name="Picture 1"/>
          <p:cNvPicPr>
            <a:picLocks noChangeAspect="1" noChangeArrowheads="1"/>
          </p:cNvPicPr>
          <p:nvPr/>
        </p:nvPicPr>
        <p:blipFill>
          <a:blip r:embed="rId4" cstate="print"/>
          <a:srcRect/>
          <a:stretch>
            <a:fillRect/>
          </a:stretch>
        </p:blipFill>
        <p:spPr bwMode="auto">
          <a:xfrm>
            <a:off x="1676400" y="3200400"/>
            <a:ext cx="4457700" cy="457200"/>
          </a:xfrm>
          <a:prstGeom prst="rect">
            <a:avLst/>
          </a:prstGeom>
          <a:noFill/>
          <a:ln w="9525">
            <a:noFill/>
            <a:miter lim="800000"/>
            <a:headEnd/>
            <a:tailEnd/>
          </a:ln>
          <a:effectLst/>
        </p:spPr>
      </p:pic>
      <p:pic>
        <p:nvPicPr>
          <p:cNvPr id="29698" name="Picture 2"/>
          <p:cNvPicPr>
            <a:picLocks noChangeAspect="1" noChangeArrowheads="1"/>
          </p:cNvPicPr>
          <p:nvPr/>
        </p:nvPicPr>
        <p:blipFill>
          <a:blip r:embed="rId5" cstate="print"/>
          <a:srcRect/>
          <a:stretch>
            <a:fillRect/>
          </a:stretch>
        </p:blipFill>
        <p:spPr bwMode="auto">
          <a:xfrm>
            <a:off x="0" y="5029200"/>
            <a:ext cx="5753100" cy="723900"/>
          </a:xfrm>
          <a:prstGeom prst="rect">
            <a:avLst/>
          </a:prstGeom>
          <a:noFill/>
          <a:ln w="9525">
            <a:noFill/>
            <a:miter lim="800000"/>
            <a:headEnd/>
            <a:tailEnd/>
          </a:ln>
          <a:effectLst/>
        </p:spPr>
      </p:pic>
      <p:pic>
        <p:nvPicPr>
          <p:cNvPr id="29699" name="Picture 3"/>
          <p:cNvPicPr>
            <a:picLocks noChangeAspect="1" noChangeArrowheads="1"/>
          </p:cNvPicPr>
          <p:nvPr/>
        </p:nvPicPr>
        <p:blipFill>
          <a:blip r:embed="rId6" cstate="print"/>
          <a:srcRect/>
          <a:stretch>
            <a:fillRect/>
          </a:stretch>
        </p:blipFill>
        <p:spPr bwMode="auto">
          <a:xfrm>
            <a:off x="5943600" y="5105400"/>
            <a:ext cx="2838450" cy="552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0" y="228600"/>
            <a:ext cx="91440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If the observations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x</a:t>
            </a:r>
            <a:r>
              <a:rPr kumimoji="0" lang="en-US" sz="1400" b="1" i="0" u="none" strike="noStrike" cap="none" normalizeH="0" baseline="-3000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1</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x</a:t>
            </a:r>
            <a:r>
              <a:rPr kumimoji="0" lang="en-US" sz="1400" b="1" i="0" u="none" strike="noStrike" cap="none" normalizeH="0" baseline="-3000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2</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a:t>
            </a:r>
            <a:r>
              <a:rPr kumimoji="0" lang="en-US" sz="2400" b="1" i="1" u="none" strike="noStrike" cap="none" normalizeH="0" baseline="0" dirty="0" err="1"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x</a:t>
            </a:r>
            <a:r>
              <a:rPr kumimoji="0" lang="en-US" sz="1400" b="1" i="1" u="none" strike="noStrike" cap="none" normalizeH="0" baseline="-30000" dirty="0" err="1"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n</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occur with frequencies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f</a:t>
            </a:r>
            <a:r>
              <a:rPr kumimoji="0" lang="en-US" sz="1400" b="1" i="0" u="none" strike="noStrike" cap="none" normalizeH="0" baseline="-3000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1</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f</a:t>
            </a:r>
            <a:r>
              <a:rPr kumimoji="0" lang="en-US" sz="1400" b="1" i="0" u="none" strike="noStrike" cap="none" normalizeH="0" baseline="-3000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2</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f</a:t>
            </a:r>
            <a:r>
              <a:rPr kumimoji="0" lang="en-US" sz="1400" b="1" i="1" u="none" strike="noStrike" cap="none" normalizeH="0" baseline="-3000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n</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respectively, and the total of frequencies is </a:t>
            </a:r>
            <a:r>
              <a:rPr kumimoji="0" lang="en-US" sz="2400" b="1" i="1"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n</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 Σ </a:t>
            </a:r>
            <a:r>
              <a:rPr kumimoji="0" lang="en-US" sz="2400" b="1" i="1" u="none" strike="noStrike" cap="none" normalizeH="0" baseline="0" dirty="0" err="1"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f</a:t>
            </a:r>
            <a:r>
              <a:rPr kumimoji="0" lang="en-US" sz="1400" b="1" i="1" u="none" strike="noStrike" cap="none" normalizeH="0" baseline="-30000" dirty="0" err="1"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i</a:t>
            </a:r>
            <a:r>
              <a:rPr kumimoji="0" lang="en-US" sz="2400" b="1" i="0" u="none" strike="noStrike" cap="none" normalizeH="0" baseline="0" dirty="0" smtClean="0">
                <a:ln>
                  <a:noFill/>
                </a:ln>
                <a:solidFill>
                  <a:srgbClr val="0033CC"/>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 then the G.M. for such data is given by</a:t>
            </a:r>
            <a:endParaRPr kumimoji="0" lang="en-US" sz="3200" b="1" i="0" u="none" strike="noStrike" cap="none" normalizeH="0" baseline="0" dirty="0" smtClean="0">
              <a:ln>
                <a:noFill/>
              </a:ln>
              <a:solidFill>
                <a:srgbClr val="0033CC"/>
              </a:solidFill>
              <a:effectLst>
                <a:outerShdw blurRad="38100" dist="38100" dir="2700000" algn="tl">
                  <a:srgbClr val="000000">
                    <a:alpha val="43137"/>
                  </a:srgbClr>
                </a:outerShdw>
              </a:effectLst>
              <a:latin typeface="Arial" pitchFamily="34" charset="0"/>
              <a:cs typeface="Arial" pitchFamily="34" charset="0"/>
            </a:endParaRPr>
          </a:p>
        </p:txBody>
      </p:sp>
      <p:pic>
        <p:nvPicPr>
          <p:cNvPr id="5122" name="Picture 2"/>
          <p:cNvPicPr>
            <a:picLocks noChangeAspect="1" noChangeArrowheads="1"/>
          </p:cNvPicPr>
          <p:nvPr/>
        </p:nvPicPr>
        <p:blipFill>
          <a:blip r:embed="rId2" cstate="print"/>
          <a:srcRect/>
          <a:stretch>
            <a:fillRect/>
          </a:stretch>
        </p:blipFill>
        <p:spPr bwMode="auto">
          <a:xfrm>
            <a:off x="762000" y="1981200"/>
            <a:ext cx="7924800" cy="434340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2057400" y="5105400"/>
            <a:ext cx="4800600"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4525963"/>
          </a:xfrm>
        </p:spPr>
        <p:txBody>
          <a:bodyPr>
            <a:normAutofit/>
          </a:bodyPr>
          <a:lstStyle/>
          <a:p>
            <a:pPr algn="just"/>
            <a:r>
              <a:rPr lang="en-US" sz="2400" b="1" dirty="0"/>
              <a:t>Example </a:t>
            </a:r>
            <a:r>
              <a:rPr lang="en-US" sz="2400" b="1" dirty="0" smtClean="0"/>
              <a:t>:</a:t>
            </a:r>
            <a:r>
              <a:rPr lang="en-US" sz="2400" dirty="0"/>
              <a:t> A given machine is assumed to</a:t>
            </a:r>
            <a:r>
              <a:rPr lang="en-US" sz="2400" b="1" dirty="0">
                <a:solidFill>
                  <a:srgbClr val="FF0000"/>
                </a:solidFill>
                <a:effectLst>
                  <a:outerShdw blurRad="38100" dist="38100" dir="2700000" algn="tl">
                    <a:srgbClr val="000000">
                      <a:alpha val="43137"/>
                    </a:srgbClr>
                  </a:outerShdw>
                </a:effectLst>
              </a:rPr>
              <a:t> depreciate 40 per cent </a:t>
            </a:r>
            <a:r>
              <a:rPr lang="en-US" sz="2400" dirty="0"/>
              <a:t>in value in the </a:t>
            </a:r>
            <a:r>
              <a:rPr lang="en-US" sz="2400" b="1" dirty="0">
                <a:solidFill>
                  <a:srgbClr val="FF0000"/>
                </a:solidFill>
                <a:effectLst>
                  <a:outerShdw blurRad="38100" dist="38100" dir="2700000" algn="tl">
                    <a:srgbClr val="000000">
                      <a:alpha val="43137"/>
                    </a:srgbClr>
                  </a:outerShdw>
                </a:effectLst>
              </a:rPr>
              <a:t>first year</a:t>
            </a:r>
            <a:r>
              <a:rPr lang="en-US" sz="2400" dirty="0"/>
              <a:t>, </a:t>
            </a:r>
            <a:r>
              <a:rPr lang="en-US" sz="2400" b="1" dirty="0">
                <a:solidFill>
                  <a:srgbClr val="0033CC"/>
                </a:solidFill>
                <a:effectLst>
                  <a:outerShdw blurRad="38100" dist="38100" dir="2700000" algn="tl">
                    <a:srgbClr val="000000">
                      <a:alpha val="43137"/>
                    </a:srgbClr>
                  </a:outerShdw>
                </a:effectLst>
              </a:rPr>
              <a:t>25 per cent </a:t>
            </a:r>
            <a:r>
              <a:rPr lang="en-US" sz="2400" dirty="0"/>
              <a:t>in the </a:t>
            </a:r>
            <a:r>
              <a:rPr lang="en-US" sz="2400" b="1" dirty="0">
                <a:solidFill>
                  <a:srgbClr val="0033CC"/>
                </a:solidFill>
                <a:effectLst>
                  <a:outerShdw blurRad="38100" dist="38100" dir="2700000" algn="tl">
                    <a:srgbClr val="000000">
                      <a:alpha val="43137"/>
                    </a:srgbClr>
                  </a:outerShdw>
                </a:effectLst>
              </a:rPr>
              <a:t>second year</a:t>
            </a:r>
            <a:r>
              <a:rPr lang="en-US" sz="2400" dirty="0"/>
              <a:t>, and </a:t>
            </a:r>
            <a:r>
              <a:rPr lang="en-US" sz="2400" b="1" dirty="0">
                <a:solidFill>
                  <a:srgbClr val="7030A0"/>
                </a:solidFill>
                <a:effectLst>
                  <a:outerShdw blurRad="38100" dist="38100" dir="2700000" algn="tl">
                    <a:srgbClr val="000000">
                      <a:alpha val="43137"/>
                    </a:srgbClr>
                  </a:outerShdw>
                </a:effectLst>
              </a:rPr>
              <a:t>10 per cent</a:t>
            </a:r>
            <a:r>
              <a:rPr lang="en-US" sz="2400" dirty="0"/>
              <a:t> per year for the </a:t>
            </a:r>
            <a:r>
              <a:rPr lang="en-US" sz="2400" b="1" dirty="0">
                <a:solidFill>
                  <a:srgbClr val="7030A0"/>
                </a:solidFill>
                <a:effectLst>
                  <a:outerShdw blurRad="38100" dist="38100" dir="2700000" algn="tl">
                    <a:srgbClr val="000000">
                      <a:alpha val="43137"/>
                    </a:srgbClr>
                  </a:outerShdw>
                </a:effectLst>
              </a:rPr>
              <a:t>next three years</a:t>
            </a:r>
            <a:r>
              <a:rPr lang="en-US" sz="2400" dirty="0"/>
              <a:t>, each percentage being calculated on the diminishing value. What is the average depreciation recorded on the diminishing value for the period of five years?</a:t>
            </a:r>
          </a:p>
          <a:p>
            <a:pPr algn="just"/>
            <a:r>
              <a:rPr lang="en-US" sz="2400" b="1" dirty="0"/>
              <a:t>Solution:</a:t>
            </a:r>
            <a:r>
              <a:rPr lang="en-US" sz="2400" dirty="0"/>
              <a:t> The calculations of geometric mean is shown</a:t>
            </a:r>
          </a:p>
        </p:txBody>
      </p:sp>
      <p:pic>
        <p:nvPicPr>
          <p:cNvPr id="4" name="img-c03t019" descr="Table 3.19 Calculations of G.M."/>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3352800"/>
            <a:ext cx="8077200" cy="2637886"/>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g-103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352801"/>
            <a:ext cx="6400800" cy="1219200"/>
          </a:xfrm>
          <a:prstGeom prst="rect">
            <a:avLst/>
          </a:prstGeom>
          <a:noFill/>
          <a:ln>
            <a:noFill/>
          </a:ln>
        </p:spPr>
      </p:pic>
      <p:sp>
        <p:nvSpPr>
          <p:cNvPr id="33793" name="Rectangle 1"/>
          <p:cNvSpPr>
            <a:spLocks noChangeArrowheads="1"/>
          </p:cNvSpPr>
          <p:nvPr/>
        </p:nvSpPr>
        <p:spPr bwMode="auto">
          <a:xfrm>
            <a:off x="228600" y="5869327"/>
            <a:ext cx="83058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Hence, the average rate of depreciation for first five years is 15.85 per cent</a:t>
            </a:r>
            <a:r>
              <a:rPr kumimoji="0" lang="en-US" sz="2400" b="0"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7649" name="Picture 1"/>
          <p:cNvPicPr>
            <a:picLocks noChangeAspect="1" noChangeArrowheads="1"/>
          </p:cNvPicPr>
          <p:nvPr/>
        </p:nvPicPr>
        <p:blipFill>
          <a:blip r:embed="rId3" cstate="print"/>
          <a:srcRect/>
          <a:stretch>
            <a:fillRect/>
          </a:stretch>
        </p:blipFill>
        <p:spPr bwMode="auto">
          <a:xfrm>
            <a:off x="5867400" y="4953000"/>
            <a:ext cx="2771775" cy="666750"/>
          </a:xfrm>
          <a:prstGeom prst="rect">
            <a:avLst/>
          </a:prstGeom>
          <a:noFill/>
          <a:ln w="9525">
            <a:noFill/>
            <a:miter lim="800000"/>
            <a:headEnd/>
            <a:tailEnd/>
          </a:ln>
          <a:effectLst/>
        </p:spPr>
      </p:pic>
      <p:pic>
        <p:nvPicPr>
          <p:cNvPr id="27650" name="Picture 2"/>
          <p:cNvPicPr>
            <a:picLocks noChangeAspect="1" noChangeArrowheads="1"/>
          </p:cNvPicPr>
          <p:nvPr/>
        </p:nvPicPr>
        <p:blipFill>
          <a:blip r:embed="rId4" cstate="print"/>
          <a:srcRect/>
          <a:stretch>
            <a:fillRect/>
          </a:stretch>
        </p:blipFill>
        <p:spPr bwMode="auto">
          <a:xfrm>
            <a:off x="0" y="4800600"/>
            <a:ext cx="5886450" cy="923925"/>
          </a:xfrm>
          <a:prstGeom prst="rect">
            <a:avLst/>
          </a:prstGeom>
          <a:noFill/>
          <a:ln w="9525">
            <a:noFill/>
            <a:miter lim="800000"/>
            <a:headEnd/>
            <a:tailEnd/>
          </a:ln>
          <a:effectLst/>
        </p:spPr>
      </p:pic>
      <p:pic>
        <p:nvPicPr>
          <p:cNvPr id="1026" name="Picture 2"/>
          <p:cNvPicPr>
            <a:picLocks noGrp="1" noChangeAspect="1" noChangeArrowheads="1"/>
          </p:cNvPicPr>
          <p:nvPr>
            <p:ph idx="1"/>
          </p:nvPr>
        </p:nvPicPr>
        <p:blipFill>
          <a:blip r:embed="rId5" cstate="print"/>
          <a:srcRect/>
          <a:stretch>
            <a:fillRect/>
          </a:stretch>
        </p:blipFill>
        <p:spPr bwMode="auto">
          <a:xfrm>
            <a:off x="457200" y="0"/>
            <a:ext cx="7924800"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304800" y="457200"/>
            <a:ext cx="8610600"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Autofit/>
          </a:bodyPr>
          <a:lstStyle/>
          <a:p>
            <a:r>
              <a:rPr lang="en-US" sz="2800" b="1" dirty="0" smtClean="0">
                <a:solidFill>
                  <a:srgbClr val="0033CC"/>
                </a:solidFill>
              </a:rPr>
              <a:t>Solution</a:t>
            </a:r>
            <a:endParaRPr lang="en-US" sz="2800" b="1" dirty="0">
              <a:solidFill>
                <a:srgbClr val="0033CC"/>
              </a:solidFill>
            </a:endParaRPr>
          </a:p>
        </p:txBody>
      </p:sp>
      <p:pic>
        <p:nvPicPr>
          <p:cNvPr id="8194" name="Picture 2"/>
          <p:cNvPicPr>
            <a:picLocks noGrp="1" noChangeAspect="1" noChangeArrowheads="1"/>
          </p:cNvPicPr>
          <p:nvPr>
            <p:ph idx="1"/>
          </p:nvPr>
        </p:nvPicPr>
        <p:blipFill>
          <a:blip r:embed="rId2"/>
          <a:srcRect/>
          <a:stretch>
            <a:fillRect/>
          </a:stretch>
        </p:blipFill>
        <p:spPr bwMode="auto">
          <a:xfrm>
            <a:off x="0" y="457200"/>
            <a:ext cx="9144000" cy="3733800"/>
          </a:xfrm>
          <a:prstGeom prst="rect">
            <a:avLst/>
          </a:prstGeom>
          <a:noFill/>
          <a:ln w="9525">
            <a:noFill/>
            <a:miter lim="800000"/>
            <a:headEnd/>
            <a:tailEnd/>
          </a:ln>
          <a:effectLst/>
        </p:spPr>
      </p:pic>
      <p:sp>
        <p:nvSpPr>
          <p:cNvPr id="5" name="Rectangle 4"/>
          <p:cNvSpPr/>
          <p:nvPr/>
        </p:nvSpPr>
        <p:spPr>
          <a:xfrm>
            <a:off x="0" y="4191000"/>
            <a:ext cx="3429000" cy="415498"/>
          </a:xfrm>
          <a:prstGeom prst="rect">
            <a:avLst/>
          </a:prstGeom>
        </p:spPr>
        <p:txBody>
          <a:bodyPr wrap="square">
            <a:spAutoFit/>
          </a:bodyPr>
          <a:lstStyle/>
          <a:p>
            <a:pPr algn="just"/>
            <a:r>
              <a:rPr lang="en-US" sz="2100" dirty="0" smtClean="0">
                <a:solidFill>
                  <a:srgbClr val="FF0000"/>
                </a:solidFill>
              </a:rPr>
              <a:t>From the given data, n = 160</a:t>
            </a:r>
          </a:p>
        </p:txBody>
      </p:sp>
      <p:pic>
        <p:nvPicPr>
          <p:cNvPr id="8195" name="Picture 3"/>
          <p:cNvPicPr>
            <a:picLocks noChangeAspect="1" noChangeArrowheads="1"/>
          </p:cNvPicPr>
          <p:nvPr/>
        </p:nvPicPr>
        <p:blipFill>
          <a:blip r:embed="rId3"/>
          <a:srcRect/>
          <a:stretch>
            <a:fillRect/>
          </a:stretch>
        </p:blipFill>
        <p:spPr bwMode="auto">
          <a:xfrm>
            <a:off x="3657600" y="4572000"/>
            <a:ext cx="3886200" cy="1295400"/>
          </a:xfrm>
          <a:prstGeom prst="rect">
            <a:avLst/>
          </a:prstGeom>
          <a:noFill/>
          <a:ln w="9525">
            <a:noFill/>
            <a:miter lim="800000"/>
            <a:headEnd/>
            <a:tailEnd/>
          </a:ln>
          <a:effectLst/>
        </p:spPr>
      </p:pic>
      <p:sp>
        <p:nvSpPr>
          <p:cNvPr id="7" name="Rectangle 6"/>
          <p:cNvSpPr/>
          <p:nvPr/>
        </p:nvSpPr>
        <p:spPr>
          <a:xfrm>
            <a:off x="3276600" y="4191000"/>
            <a:ext cx="5213747" cy="400110"/>
          </a:xfrm>
          <a:prstGeom prst="rect">
            <a:avLst/>
          </a:prstGeom>
        </p:spPr>
        <p:txBody>
          <a:bodyPr wrap="square">
            <a:spAutoFit/>
          </a:bodyPr>
          <a:lstStyle/>
          <a:p>
            <a:pPr algn="just"/>
            <a:r>
              <a:rPr lang="en-US" sz="2000" dirty="0" smtClean="0">
                <a:solidFill>
                  <a:srgbClr val="FF0000"/>
                </a:solidFill>
              </a:rPr>
              <a:t>We know that the G.M for the grouped data is</a:t>
            </a:r>
            <a:endParaRPr lang="en-US" sz="2000" dirty="0">
              <a:solidFill>
                <a:srgbClr val="FF0000"/>
              </a:solidFill>
            </a:endParaRPr>
          </a:p>
        </p:txBody>
      </p:sp>
      <p:pic>
        <p:nvPicPr>
          <p:cNvPr id="8197" name="Picture 5"/>
          <p:cNvPicPr>
            <a:picLocks noChangeAspect="1" noChangeArrowheads="1"/>
          </p:cNvPicPr>
          <p:nvPr/>
        </p:nvPicPr>
        <p:blipFill>
          <a:blip r:embed="rId4"/>
          <a:srcRect/>
          <a:stretch>
            <a:fillRect/>
          </a:stretch>
        </p:blipFill>
        <p:spPr bwMode="auto">
          <a:xfrm>
            <a:off x="3429000" y="5867400"/>
            <a:ext cx="4419600" cy="99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
            <a:ext cx="8229600" cy="3809999"/>
          </a:xfrm>
        </p:spPr>
        <p:txBody>
          <a:bodyPr/>
          <a:lstStyle/>
          <a:p>
            <a:pPr algn="just"/>
            <a:r>
              <a:rPr lang="en-US" b="1" dirty="0">
                <a:solidFill>
                  <a:srgbClr val="FF0000"/>
                </a:solidFill>
              </a:rPr>
              <a:t>Combined Geometric Mean</a:t>
            </a:r>
          </a:p>
          <a:p>
            <a:pPr algn="just"/>
            <a:r>
              <a:rPr lang="en-US" dirty="0"/>
              <a:t>The combined geometric mean of observations formed by pooling the geometric means of different sets of data is defined as:</a:t>
            </a:r>
          </a:p>
          <a:p>
            <a:r>
              <a:rPr lang="en-US" dirty="0"/>
              <a:t> </a:t>
            </a:r>
          </a:p>
          <a:p>
            <a:endParaRPr lang="en-US" dirty="0"/>
          </a:p>
        </p:txBody>
      </p:sp>
      <p:sp>
        <p:nvSpPr>
          <p:cNvPr id="30721" name="Rectangle 1"/>
          <p:cNvSpPr>
            <a:spLocks noChangeArrowheads="1"/>
          </p:cNvSpPr>
          <p:nvPr/>
        </p:nvSpPr>
        <p:spPr bwMode="auto">
          <a:xfrm>
            <a:off x="0" y="4343400"/>
            <a:ext cx="9144000" cy="11387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where </a:t>
            </a:r>
            <a:r>
              <a:rPr kumimoji="0" lang="en-US" sz="3200" b="1" i="0" u="none" strike="noStrike" cap="none" normalizeH="0" baseline="0" dirty="0" err="1" smtClean="0">
                <a:ln>
                  <a:noFill/>
                </a:ln>
                <a:solidFill>
                  <a:srgbClr val="FF0000"/>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G</a:t>
            </a:r>
            <a:r>
              <a:rPr kumimoji="0" lang="en-US" sz="1400" b="1" i="1" u="none" strike="noStrike" cap="none" normalizeH="0" baseline="-30000" dirty="0" err="1" smtClean="0">
                <a:ln>
                  <a:noFill/>
                </a:ln>
                <a:solidFill>
                  <a:srgbClr val="333333"/>
                </a:solidFill>
                <a:effectLst/>
                <a:latin typeface="Calibri" pitchFamily="34" charset="0"/>
                <a:ea typeface="Times New Roman" pitchFamily="18" charset="0"/>
                <a:cs typeface="Times New Roman" pitchFamily="18" charset="0"/>
              </a:rPr>
              <a:t>i</a:t>
            </a:r>
            <a:r>
              <a:rPr kumimoji="0" lang="en-US" sz="24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 is the </a:t>
            </a:r>
            <a:r>
              <a:rPr kumimoji="0" lang="en-US" sz="2800" b="1" i="0" u="none" strike="noStrike" cap="none" normalizeH="0" baseline="0" dirty="0" smtClean="0">
                <a:ln>
                  <a:noFill/>
                </a:ln>
                <a:solidFill>
                  <a:srgbClr val="FF0000"/>
                </a:solidFill>
                <a:effectLst>
                  <a:outerShdw blurRad="38100" dist="38100" dir="2700000" algn="tl">
                    <a:srgbClr val="000000">
                      <a:alpha val="43137"/>
                    </a:srgbClr>
                  </a:outerShdw>
                </a:effectLst>
                <a:latin typeface="Calibri" pitchFamily="34" charset="0"/>
                <a:ea typeface="Times New Roman" pitchFamily="18" charset="0"/>
                <a:cs typeface="Times New Roman" pitchFamily="18" charset="0"/>
              </a:rPr>
              <a:t>geometric mean </a:t>
            </a:r>
            <a:r>
              <a:rPr kumimoji="0" lang="en-US" sz="24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of the </a:t>
            </a:r>
            <a:r>
              <a:rPr kumimoji="0" lang="en-US" sz="3200" b="1" i="1" u="none" strike="noStrike" cap="none" normalizeH="0" baseline="0" dirty="0" err="1" smtClean="0">
                <a:ln>
                  <a:noFill/>
                </a:ln>
                <a:solidFill>
                  <a:srgbClr val="FF0000"/>
                </a:solidFill>
                <a:effectLst/>
                <a:latin typeface="Calibri" pitchFamily="34" charset="0"/>
                <a:ea typeface="Times New Roman" pitchFamily="18" charset="0"/>
                <a:cs typeface="Times New Roman" pitchFamily="18" charset="0"/>
              </a:rPr>
              <a:t>i</a:t>
            </a:r>
            <a:r>
              <a:rPr kumimoji="0" lang="en-US" sz="3200" b="1" i="0" u="none" strike="noStrike" cap="none" normalizeH="0" baseline="0" dirty="0" err="1" smtClean="0">
                <a:ln>
                  <a:noFill/>
                </a:ln>
                <a:solidFill>
                  <a:srgbClr val="FF0000"/>
                </a:solidFill>
                <a:effectLst/>
                <a:latin typeface="Calibri" pitchFamily="34" charset="0"/>
                <a:ea typeface="Times New Roman" pitchFamily="18" charset="0"/>
                <a:cs typeface="Times New Roman" pitchFamily="18" charset="0"/>
              </a:rPr>
              <a:t>th</a:t>
            </a:r>
            <a:r>
              <a:rPr kumimoji="0" lang="en-US" sz="24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 data set having </a:t>
            </a:r>
            <a:r>
              <a:rPr kumimoji="0" lang="en-US" sz="3600" b="1" i="1" u="none" strike="noStrike" cap="none" normalizeH="0" baseline="0" dirty="0" err="1" smtClean="0">
                <a:ln>
                  <a:noFill/>
                </a:ln>
                <a:solidFill>
                  <a:srgbClr val="FF0000"/>
                </a:solidFill>
                <a:effectLst/>
                <a:latin typeface="Calibri" pitchFamily="34" charset="0"/>
                <a:ea typeface="Times New Roman" pitchFamily="18" charset="0"/>
                <a:cs typeface="Times New Roman" pitchFamily="18" charset="0"/>
              </a:rPr>
              <a:t>n</a:t>
            </a:r>
            <a:r>
              <a:rPr kumimoji="0" lang="en-US" sz="1400" b="1" i="1" u="none" strike="noStrike" cap="none" normalizeH="0" baseline="-30000" dirty="0" err="1" smtClean="0">
                <a:ln>
                  <a:noFill/>
                </a:ln>
                <a:solidFill>
                  <a:srgbClr val="333333"/>
                </a:solidFill>
                <a:effectLst/>
                <a:latin typeface="Calibri" pitchFamily="34" charset="0"/>
                <a:ea typeface="Times New Roman" pitchFamily="18" charset="0"/>
                <a:cs typeface="Times New Roman" pitchFamily="18" charset="0"/>
              </a:rPr>
              <a:t>i</a:t>
            </a:r>
            <a:r>
              <a:rPr kumimoji="0" lang="en-US" sz="2400" b="1" i="0" u="none" strike="noStrike" cap="none" normalizeH="0" baseline="0" dirty="0" smtClean="0">
                <a:ln>
                  <a:noFill/>
                </a:ln>
                <a:solidFill>
                  <a:srgbClr val="333333"/>
                </a:solidFill>
                <a:effectLst/>
                <a:latin typeface="Calibri" pitchFamily="34" charset="0"/>
                <a:ea typeface="Times New Roman" pitchFamily="18" charset="0"/>
                <a:cs typeface="Times New Roman" pitchFamily="18" charset="0"/>
              </a:rPr>
              <a:t> number of observations.</a:t>
            </a:r>
            <a:endParaRPr kumimoji="0" lang="en-US" sz="3200" b="1" i="0" u="none" strike="noStrike" cap="none" normalizeH="0" baseline="0" dirty="0" smtClean="0">
              <a:ln>
                <a:noFill/>
              </a:ln>
              <a:solidFill>
                <a:schemeClr val="tx1"/>
              </a:solidFill>
              <a:effectLst/>
              <a:latin typeface="Arial" pitchFamily="34" charset="0"/>
              <a:cs typeface="Arial" pitchFamily="34" charset="0"/>
            </a:endParaRPr>
          </a:p>
        </p:txBody>
      </p:sp>
      <p:pic>
        <p:nvPicPr>
          <p:cNvPr id="2051" name="Picture 3"/>
          <p:cNvPicPr>
            <a:picLocks noChangeAspect="1" noChangeArrowheads="1"/>
          </p:cNvPicPr>
          <p:nvPr/>
        </p:nvPicPr>
        <p:blipFill>
          <a:blip r:embed="rId2" cstate="print"/>
          <a:srcRect/>
          <a:stretch>
            <a:fillRect/>
          </a:stretch>
        </p:blipFill>
        <p:spPr bwMode="auto">
          <a:xfrm>
            <a:off x="1676400" y="2409825"/>
            <a:ext cx="4724400" cy="1781175"/>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1371600" y="5486400"/>
            <a:ext cx="6629400" cy="137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4525963"/>
          </a:xfrm>
        </p:spPr>
        <p:txBody>
          <a:bodyPr/>
          <a:lstStyle/>
          <a:p>
            <a:pPr algn="just"/>
            <a:r>
              <a:rPr lang="en-US" b="1" dirty="0"/>
              <a:t>Example </a:t>
            </a:r>
            <a:r>
              <a:rPr lang="en-US" b="1" dirty="0" smtClean="0"/>
              <a:t>:</a:t>
            </a:r>
            <a:r>
              <a:rPr lang="en-US" dirty="0"/>
              <a:t> Three sets of data contain 8, 7, and 5 observations and their geometric means are 8.52, 10.12, and 7.75, respectively. Find the combined geometric mean of 20 observations.</a:t>
            </a:r>
          </a:p>
          <a:p>
            <a:pPr algn="just"/>
            <a:r>
              <a:rPr lang="en-US" b="1" dirty="0"/>
              <a:t>Solution:</a:t>
            </a:r>
            <a:r>
              <a:rPr lang="en-US" dirty="0"/>
              <a:t> Applying the </a:t>
            </a:r>
            <a:r>
              <a:rPr lang="en-US" dirty="0">
                <a:hlinkClick r:id="rId2"/>
              </a:rPr>
              <a:t>formula </a:t>
            </a:r>
            <a:r>
              <a:rPr lang="en-US" dirty="0" smtClean="0"/>
              <a:t>the </a:t>
            </a:r>
            <a:r>
              <a:rPr lang="en-US" dirty="0"/>
              <a:t>combined geometric mean can be obtained as follows:</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104_1" descr="images"/>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04800"/>
            <a:ext cx="6858000" cy="3962399"/>
          </a:xfrm>
          <a:prstGeom prst="rect">
            <a:avLst/>
          </a:prstGeom>
          <a:noFill/>
          <a:ln>
            <a:noFill/>
          </a:ln>
        </p:spPr>
      </p:pic>
      <p:sp>
        <p:nvSpPr>
          <p:cNvPr id="5" name="Rectangle 4"/>
          <p:cNvSpPr/>
          <p:nvPr/>
        </p:nvSpPr>
        <p:spPr>
          <a:xfrm>
            <a:off x="1600200" y="5410200"/>
            <a:ext cx="6096000" cy="954107"/>
          </a:xfrm>
          <a:prstGeom prst="rect">
            <a:avLst/>
          </a:prstGeom>
        </p:spPr>
        <p:txBody>
          <a:bodyPr wrap="square">
            <a:spAutoFit/>
          </a:bodyPr>
          <a:lstStyle/>
          <a:p>
            <a:pPr algn="just"/>
            <a:r>
              <a:rPr lang="en-US" sz="2800" dirty="0">
                <a:solidFill>
                  <a:srgbClr val="FF0000"/>
                </a:solidFill>
              </a:rPr>
              <a:t>Hence, the combined G.M. of 20 observations is 8.835</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1"/>
            <a:ext cx="8229600" cy="3048000"/>
          </a:xfrm>
        </p:spPr>
        <p:txBody>
          <a:bodyPr/>
          <a:lstStyle/>
          <a:p>
            <a:pPr algn="just"/>
            <a:r>
              <a:rPr lang="en-US" b="1" dirty="0">
                <a:solidFill>
                  <a:srgbClr val="FF0000"/>
                </a:solidFill>
              </a:rPr>
              <a:t>Weighted Geometric Mean</a:t>
            </a:r>
          </a:p>
          <a:p>
            <a:pPr algn="just"/>
            <a:r>
              <a:rPr lang="en-US" dirty="0"/>
              <a:t>If different observations </a:t>
            </a:r>
            <a:r>
              <a:rPr lang="en-US" i="1" dirty="0"/>
              <a:t>x</a:t>
            </a:r>
            <a:r>
              <a:rPr lang="en-US" i="1" baseline="-25000" dirty="0"/>
              <a:t>i</a:t>
            </a:r>
            <a:r>
              <a:rPr lang="en-US" dirty="0"/>
              <a:t> (</a:t>
            </a:r>
            <a:r>
              <a:rPr lang="en-US" i="1" dirty="0" err="1"/>
              <a:t>i</a:t>
            </a:r>
            <a:r>
              <a:rPr lang="en-US" dirty="0"/>
              <a:t> = 1, 2,…, </a:t>
            </a:r>
            <a:r>
              <a:rPr lang="en-US" i="1" dirty="0"/>
              <a:t>n</a:t>
            </a:r>
            <a:r>
              <a:rPr lang="en-US" dirty="0"/>
              <a:t>) are given different weights (importance), say </a:t>
            </a:r>
            <a:r>
              <a:rPr lang="en-US" i="1" dirty="0" err="1"/>
              <a:t>w</a:t>
            </a:r>
            <a:r>
              <a:rPr lang="en-US" i="1" baseline="-25000" dirty="0" err="1"/>
              <a:t>i</a:t>
            </a:r>
            <a:r>
              <a:rPr lang="en-US" dirty="0"/>
              <a:t> (</a:t>
            </a:r>
            <a:r>
              <a:rPr lang="en-US" i="1" dirty="0" err="1"/>
              <a:t>i</a:t>
            </a:r>
            <a:r>
              <a:rPr lang="en-US" dirty="0"/>
              <a:t> = 1, 2,…, </a:t>
            </a:r>
            <a:r>
              <a:rPr lang="en-US" i="1" dirty="0"/>
              <a:t>n</a:t>
            </a:r>
            <a:r>
              <a:rPr lang="en-US" dirty="0"/>
              <a:t>) respectively, then their weighted geometric mean is defined as:</a:t>
            </a:r>
          </a:p>
          <a:p>
            <a:endParaRPr lang="en-US" dirty="0"/>
          </a:p>
        </p:txBody>
      </p:sp>
      <p:pic>
        <p:nvPicPr>
          <p:cNvPr id="4" name="img-c03e01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3505200"/>
            <a:ext cx="7391400" cy="241300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0" y="228600"/>
            <a:ext cx="9144000" cy="7010400"/>
          </a:xfrm>
          <a:prstGeom prst="rect">
            <a:avLst/>
          </a:prstGeom>
          <a:noFill/>
          <a:ln w="9525">
            <a:noFill/>
            <a:miter lim="800000"/>
            <a:headEnd/>
            <a:tailEnd/>
          </a:ln>
          <a:effectLst/>
        </p:spPr>
      </p:pic>
      <p:sp>
        <p:nvSpPr>
          <p:cNvPr id="4" name="Content Placeholder 3"/>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5867400"/>
          </a:xfrm>
        </p:spPr>
        <p:txBody>
          <a:bodyPr>
            <a:noAutofit/>
          </a:bodyPr>
          <a:lstStyle/>
          <a:p>
            <a:pPr algn="just"/>
            <a:r>
              <a:rPr lang="en-US" sz="2400" b="1" dirty="0"/>
              <a:t>Advantages</a:t>
            </a:r>
            <a:endParaRPr lang="en-US" sz="2400" dirty="0"/>
          </a:p>
          <a:p>
            <a:pPr lvl="0" algn="just"/>
            <a:r>
              <a:rPr lang="en-US" sz="2400" dirty="0"/>
              <a:t>The value of G.M. is not much affected by extreme observations and is computed by taking all the observations into account</a:t>
            </a:r>
            <a:r>
              <a:rPr lang="en-US" sz="2400" dirty="0" smtClean="0"/>
              <a:t>.</a:t>
            </a:r>
          </a:p>
          <a:p>
            <a:pPr lvl="0" algn="just"/>
            <a:endParaRPr lang="en-US" sz="2400" dirty="0"/>
          </a:p>
          <a:p>
            <a:pPr lvl="0" algn="just"/>
            <a:r>
              <a:rPr lang="en-US" sz="2400" dirty="0"/>
              <a:t>It is useful for averaging ratio and percentage as well as in determining rate of increase and decrease</a:t>
            </a:r>
            <a:r>
              <a:rPr lang="en-US" sz="2400" dirty="0" smtClean="0"/>
              <a:t>.</a:t>
            </a:r>
          </a:p>
          <a:p>
            <a:pPr lvl="0" algn="just"/>
            <a:endParaRPr lang="en-US" sz="2400" dirty="0"/>
          </a:p>
          <a:p>
            <a:pPr lvl="0" algn="just"/>
            <a:r>
              <a:rPr lang="en-US" sz="2400" dirty="0"/>
              <a:t>In the calculation of G.M. more weight is given to smaller values and less weight to higher values. For example, it is useful in the study of price fluctuations where the lower limit can touch zero whereas the upper limit may go </a:t>
            </a:r>
            <a:r>
              <a:rPr lang="en-US" sz="2400" dirty="0" err="1"/>
              <a:t>upto</a:t>
            </a:r>
            <a:r>
              <a:rPr lang="en-US" sz="2400" dirty="0"/>
              <a:t> any number</a:t>
            </a:r>
            <a:r>
              <a:rPr lang="en-US" sz="2400" dirty="0" smtClean="0"/>
              <a:t>.</a:t>
            </a:r>
          </a:p>
          <a:p>
            <a:pPr lvl="0" algn="just"/>
            <a:endParaRPr lang="en-US" sz="2400" dirty="0"/>
          </a:p>
          <a:p>
            <a:pPr lvl="0" algn="just"/>
            <a:r>
              <a:rPr lang="en-US" sz="2400" dirty="0"/>
              <a:t>It is suitable for algebraic manipulations. The calculation of weighted G.M. and combined G.M. are two examples of algebraic manipulations of the original formula of geometric mean.</a:t>
            </a:r>
          </a:p>
          <a:p>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r>
              <a:rPr lang="en-US" b="1" dirty="0"/>
              <a:t>Disadvantages</a:t>
            </a:r>
            <a:endParaRPr lang="en-US" dirty="0"/>
          </a:p>
          <a:p>
            <a:pPr lvl="0" algn="just"/>
            <a:r>
              <a:rPr lang="en-US" dirty="0"/>
              <a:t>The calculation of G.M. as compared to A.M., is more difficult and intricate.</a:t>
            </a:r>
          </a:p>
          <a:p>
            <a:pPr lvl="0" algn="just"/>
            <a:r>
              <a:rPr lang="en-US" dirty="0"/>
              <a:t>The value of G.M. cannot be calculated when any of the observation in the data set is either negative or zero.</a:t>
            </a:r>
          </a:p>
          <a:p>
            <a:pPr lvl="0" algn="just"/>
            <a:r>
              <a:rPr lang="en-US" dirty="0"/>
              <a:t>While calculating weighted geometric, mean equal importance (or weight) is not given to each observation in the data set.</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229600" cy="6248400"/>
          </a:xfrm>
        </p:spPr>
        <p:txBody>
          <a:bodyPr>
            <a:noAutofit/>
          </a:bodyPr>
          <a:lstStyle/>
          <a:p>
            <a:pPr algn="just"/>
            <a:r>
              <a:rPr lang="en-US" sz="2400" b="1" dirty="0"/>
              <a:t>Applications</a:t>
            </a:r>
            <a:endParaRPr lang="en-US" sz="2400" dirty="0"/>
          </a:p>
          <a:p>
            <a:pPr lvl="0" algn="just"/>
            <a:r>
              <a:rPr lang="en-US" sz="2400" dirty="0"/>
              <a:t>The concept of G.M. is used in the construction of index numbers</a:t>
            </a:r>
            <a:r>
              <a:rPr lang="en-US" sz="2400" dirty="0" smtClean="0"/>
              <a:t>.</a:t>
            </a:r>
          </a:p>
          <a:p>
            <a:pPr lvl="0" algn="just">
              <a:buNone/>
            </a:pPr>
            <a:endParaRPr lang="en-US" sz="2400" dirty="0"/>
          </a:p>
          <a:p>
            <a:pPr lvl="0" algn="just"/>
            <a:r>
              <a:rPr lang="en-US" sz="2400" dirty="0"/>
              <a:t>Since G.M. ≤ A.M., therefore G.M. is useful in those cases where smaller observations are to be given importance. Such cases usually occur in social and economic areas of study</a:t>
            </a:r>
            <a:r>
              <a:rPr lang="en-US" sz="2400" dirty="0" smtClean="0"/>
              <a:t>.</a:t>
            </a:r>
          </a:p>
          <a:p>
            <a:pPr lvl="0" algn="just"/>
            <a:endParaRPr lang="en-US" sz="2400" dirty="0"/>
          </a:p>
          <a:p>
            <a:pPr algn="just"/>
            <a:r>
              <a:rPr lang="en-US" sz="2400" dirty="0"/>
              <a:t>The G.M. of a data set is useful in estimating the average rate of growth in the initial value of an observation per unit per period. For example, it is useful in finding the percentage increase in sales, profit, production, population, and so on. It is also useful in calculating the amount of money accumulated at the end of </a:t>
            </a:r>
            <a:r>
              <a:rPr lang="en-US" sz="2400" i="1" dirty="0"/>
              <a:t>n</a:t>
            </a:r>
            <a:r>
              <a:rPr lang="en-US" sz="2400" dirty="0"/>
              <a:t> periods, with an original principal amount of P</a:t>
            </a:r>
            <a:r>
              <a:rPr lang="en-US" sz="2400" baseline="-25000" dirty="0"/>
              <a:t>0</a:t>
            </a:r>
            <a:r>
              <a:rPr lang="en-US" sz="2400" dirty="0"/>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5973763"/>
          </a:xfrm>
        </p:spPr>
        <p:txBody>
          <a:bodyPr/>
          <a:lstStyle/>
          <a:p>
            <a:r>
              <a:rPr lang="en-US" b="1" cap="all" dirty="0">
                <a:solidFill>
                  <a:srgbClr val="FF0000"/>
                </a:solidFill>
              </a:rPr>
              <a:t>HARMONIC MEAN</a:t>
            </a:r>
            <a:endParaRPr lang="en-US" b="1" dirty="0">
              <a:solidFill>
                <a:srgbClr val="FF0000"/>
              </a:solidFill>
            </a:endParaRPr>
          </a:p>
          <a:p>
            <a:pPr algn="just"/>
            <a:r>
              <a:rPr lang="en-US" sz="2400" dirty="0"/>
              <a:t>The </a:t>
            </a:r>
            <a:r>
              <a:rPr lang="en-US" sz="2400" b="1" dirty="0"/>
              <a:t>harmonic mean</a:t>
            </a:r>
            <a:r>
              <a:rPr lang="en-US" sz="2400" dirty="0"/>
              <a:t> (H.M.) of a set of observations is defined as the reciprocal of the arithmetic mean of the reciprocal of the individual observations, that is,</a:t>
            </a:r>
          </a:p>
          <a:p>
            <a:pPr>
              <a:buNone/>
            </a:pPr>
            <a:endParaRPr lang="en-US" dirty="0"/>
          </a:p>
          <a:p>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381000" y="1981200"/>
            <a:ext cx="8763000" cy="2314575"/>
          </a:xfrm>
          <a:prstGeom prst="rect">
            <a:avLst/>
          </a:prstGeom>
          <a:noFill/>
          <a:ln w="9525">
            <a:noFill/>
            <a:miter lim="800000"/>
            <a:headEnd/>
            <a:tailEnd/>
          </a:ln>
          <a:effectLst/>
        </p:spPr>
      </p:pic>
      <p:pic>
        <p:nvPicPr>
          <p:cNvPr id="7173" name="Picture 5"/>
          <p:cNvPicPr>
            <a:picLocks noChangeAspect="1" noChangeArrowheads="1"/>
          </p:cNvPicPr>
          <p:nvPr/>
        </p:nvPicPr>
        <p:blipFill>
          <a:blip r:embed="rId3" cstate="print"/>
          <a:srcRect/>
          <a:stretch>
            <a:fillRect/>
          </a:stretch>
        </p:blipFill>
        <p:spPr bwMode="auto">
          <a:xfrm>
            <a:off x="762000" y="4419600"/>
            <a:ext cx="7162800" cy="213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229600" cy="4525963"/>
          </a:xfrm>
        </p:spPr>
        <p:txBody>
          <a:bodyPr>
            <a:normAutofit fontScale="77500" lnSpcReduction="20000"/>
          </a:bodyPr>
          <a:lstStyle/>
          <a:p>
            <a:pPr algn="just"/>
            <a:r>
              <a:rPr lang="en-US" b="1" dirty="0"/>
              <a:t>Example </a:t>
            </a:r>
            <a:r>
              <a:rPr lang="en-US" b="1" dirty="0" smtClean="0"/>
              <a:t>:</a:t>
            </a:r>
            <a:r>
              <a:rPr lang="en-US" dirty="0"/>
              <a:t> An investor buys Rs 20,000 worth of shares of a company each month. During the first 3 months he bought the shares at a price of Rs 120, Rs 160, and Rs 210. After 3 months </a:t>
            </a:r>
            <a:r>
              <a:rPr lang="en-US" b="1" dirty="0">
                <a:solidFill>
                  <a:srgbClr val="FF0000"/>
                </a:solidFill>
              </a:rPr>
              <a:t>what is the average price paid by him for the shares</a:t>
            </a:r>
            <a:r>
              <a:rPr lang="en-US" b="1" dirty="0" smtClean="0">
                <a:solidFill>
                  <a:srgbClr val="FF0000"/>
                </a:solidFill>
              </a:rPr>
              <a:t>?</a:t>
            </a:r>
          </a:p>
          <a:p>
            <a:pPr algn="just"/>
            <a:endParaRPr lang="en-US" dirty="0"/>
          </a:p>
          <a:p>
            <a:pPr algn="just"/>
            <a:r>
              <a:rPr lang="en-US" b="1" dirty="0"/>
              <a:t>Solution:</a:t>
            </a:r>
            <a:r>
              <a:rPr lang="en-US" dirty="0"/>
              <a:t> Since the value of shares is changing after every one month, therefore the required average price per share is the harmonic mean of the prices paid in first three months</a:t>
            </a:r>
            <a:r>
              <a:rPr lang="en-US" dirty="0" smtClean="0"/>
              <a:t>.</a:t>
            </a:r>
          </a:p>
          <a:p>
            <a:pPr algn="just"/>
            <a:endParaRPr lang="en-US" dirty="0"/>
          </a:p>
          <a:p>
            <a:pPr algn="just"/>
            <a:r>
              <a:rPr lang="en-US" b="1" dirty="0"/>
              <a:t>Harmonic mean:</a:t>
            </a:r>
            <a:r>
              <a:rPr lang="en-US" dirty="0"/>
              <a:t> A value that is the reciprocal of the mean of the reciprocals of a set of numbers.</a:t>
            </a:r>
          </a:p>
          <a:p>
            <a:endParaRPr lang="en-US" dirty="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107_2" descr="images"/>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200400"/>
            <a:ext cx="7315200" cy="2049621"/>
          </a:xfrm>
          <a:prstGeom prst="rect">
            <a:avLst/>
          </a:prstGeom>
          <a:noFill/>
          <a:ln>
            <a:noFill/>
          </a:ln>
        </p:spPr>
      </p:pic>
      <p:pic>
        <p:nvPicPr>
          <p:cNvPr id="5" name="Picture 5"/>
          <p:cNvPicPr>
            <a:picLocks noChangeAspect="1" noChangeArrowheads="1"/>
          </p:cNvPicPr>
          <p:nvPr/>
        </p:nvPicPr>
        <p:blipFill>
          <a:blip r:embed="rId3" cstate="print"/>
          <a:srcRect/>
          <a:stretch>
            <a:fillRect/>
          </a:stretch>
        </p:blipFill>
        <p:spPr bwMode="auto">
          <a:xfrm>
            <a:off x="1143000" y="685800"/>
            <a:ext cx="6629400" cy="205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p:cNvSpPr>
            <a:spLocks noChangeArrowheads="1"/>
          </p:cNvSpPr>
          <p:nvPr/>
        </p:nvSpPr>
        <p:spPr bwMode="auto">
          <a:xfrm>
            <a:off x="381000" y="685800"/>
            <a:ext cx="8186857"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If </a:t>
            </a:r>
            <a:r>
              <a:rPr kumimoji="0" lang="en-US" sz="2800" b="1" i="1"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f</a:t>
            </a:r>
            <a:r>
              <a:rPr kumimoji="0" lang="en-US" sz="1600" b="1" i="0" u="none" strike="noStrike" cap="none" normalizeH="0" baseline="-30000" dirty="0" smtClean="0">
                <a:ln>
                  <a:noFill/>
                </a:ln>
                <a:solidFill>
                  <a:srgbClr val="7030A0"/>
                </a:solidFill>
                <a:effectLst/>
                <a:latin typeface="Calibri" pitchFamily="34" charset="0"/>
                <a:ea typeface="Times New Roman" pitchFamily="18" charset="0"/>
                <a:cs typeface="Times New Roman" pitchFamily="18" charset="0"/>
              </a:rPr>
              <a:t>1</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a:t>
            </a:r>
            <a:r>
              <a:rPr kumimoji="0" lang="en-US" sz="2800" b="1" i="1"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f</a:t>
            </a:r>
            <a:r>
              <a:rPr kumimoji="0" lang="en-US" sz="1600" b="1" i="0" u="none" strike="noStrike" cap="none" normalizeH="0" baseline="-30000" dirty="0" smtClean="0">
                <a:ln>
                  <a:noFill/>
                </a:ln>
                <a:solidFill>
                  <a:srgbClr val="7030A0"/>
                </a:solidFill>
                <a:effectLst/>
                <a:latin typeface="Calibri" pitchFamily="34" charset="0"/>
                <a:ea typeface="Times New Roman" pitchFamily="18" charset="0"/>
                <a:cs typeface="Times New Roman" pitchFamily="18" charset="0"/>
              </a:rPr>
              <a:t>2</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a:t>
            </a:r>
            <a:r>
              <a:rPr kumimoji="0" lang="en-US" sz="2800" b="1" i="1"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f</a:t>
            </a:r>
            <a:r>
              <a:rPr kumimoji="0" lang="en-US" sz="1600" b="1" i="1" u="none" strike="noStrike" cap="none" normalizeH="0" baseline="-30000" dirty="0" smtClean="0">
                <a:ln>
                  <a:noFill/>
                </a:ln>
                <a:solidFill>
                  <a:srgbClr val="7030A0"/>
                </a:solidFill>
                <a:effectLst/>
                <a:latin typeface="Calibri" pitchFamily="34" charset="0"/>
                <a:ea typeface="Times New Roman" pitchFamily="18" charset="0"/>
                <a:cs typeface="Times New Roman" pitchFamily="18" charset="0"/>
              </a:rPr>
              <a:t>n</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are the frequencies of observations </a:t>
            </a:r>
            <a:r>
              <a:rPr kumimoji="0" lang="en-US" sz="2800" b="1" i="1"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x</a:t>
            </a:r>
            <a:r>
              <a:rPr kumimoji="0" lang="en-US" sz="1600" b="1" i="0" u="none" strike="noStrike" cap="none" normalizeH="0" baseline="-30000" dirty="0" smtClean="0">
                <a:ln>
                  <a:noFill/>
                </a:ln>
                <a:solidFill>
                  <a:srgbClr val="7030A0"/>
                </a:solidFill>
                <a:effectLst/>
                <a:latin typeface="Calibri" pitchFamily="34" charset="0"/>
                <a:ea typeface="Times New Roman" pitchFamily="18" charset="0"/>
                <a:cs typeface="Times New Roman" pitchFamily="18" charset="0"/>
              </a:rPr>
              <a:t>1</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a:t>
            </a:r>
            <a:r>
              <a:rPr kumimoji="0" lang="en-US" sz="2800" b="1" i="1"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x</a:t>
            </a:r>
            <a:r>
              <a:rPr kumimoji="0" lang="en-US" sz="1600" b="1" i="0" u="none" strike="noStrike" cap="none" normalizeH="0" baseline="-30000" dirty="0" smtClean="0">
                <a:ln>
                  <a:noFill/>
                </a:ln>
                <a:solidFill>
                  <a:srgbClr val="7030A0"/>
                </a:solidFill>
                <a:effectLst/>
                <a:latin typeface="Calibri" pitchFamily="34" charset="0"/>
                <a:ea typeface="Times New Roman" pitchFamily="18" charset="0"/>
                <a:cs typeface="Times New Roman" pitchFamily="18" charset="0"/>
              </a:rPr>
              <a:t>2</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a:t>
            </a:r>
            <a:r>
              <a:rPr kumimoji="0" lang="en-US" sz="2800" b="1" i="1" u="none" strike="noStrike" cap="none" normalizeH="0" baseline="0" dirty="0" err="1" smtClean="0">
                <a:ln>
                  <a:noFill/>
                </a:ln>
                <a:solidFill>
                  <a:srgbClr val="7030A0"/>
                </a:solidFill>
                <a:effectLst/>
                <a:latin typeface="Calibri" pitchFamily="34" charset="0"/>
                <a:ea typeface="Times New Roman" pitchFamily="18" charset="0"/>
                <a:cs typeface="Times New Roman" pitchFamily="18" charset="0"/>
              </a:rPr>
              <a:t>x</a:t>
            </a:r>
            <a:r>
              <a:rPr kumimoji="0" lang="en-US" sz="1600" b="1" i="1" u="none" strike="noStrike" cap="none" normalizeH="0" baseline="-30000" dirty="0" err="1" smtClean="0">
                <a:ln>
                  <a:noFill/>
                </a:ln>
                <a:solidFill>
                  <a:srgbClr val="7030A0"/>
                </a:solidFill>
                <a:effectLst/>
                <a:latin typeface="Calibri" pitchFamily="34" charset="0"/>
                <a:ea typeface="Times New Roman" pitchFamily="18" charset="0"/>
                <a:cs typeface="Times New Roman" pitchFamily="18" charset="0"/>
              </a:rPr>
              <a:t>n</a:t>
            </a:r>
            <a:r>
              <a:rPr kumimoji="0" lang="en-US" sz="2800" b="1" i="0" u="none" strike="noStrike" cap="none" normalizeH="0" baseline="0" dirty="0" smtClean="0">
                <a:ln>
                  <a:noFill/>
                </a:ln>
                <a:solidFill>
                  <a:srgbClr val="7030A0"/>
                </a:solidFill>
                <a:effectLst/>
                <a:latin typeface="Calibri" pitchFamily="34" charset="0"/>
                <a:ea typeface="Times New Roman" pitchFamily="18" charset="0"/>
                <a:cs typeface="Times New Roman" pitchFamily="18" charset="0"/>
              </a:rPr>
              <a:t>, then the harmonic mean is defined as:</a:t>
            </a:r>
            <a:endParaRPr kumimoji="0" lang="en-US" sz="3600" b="1" i="0" u="none" strike="noStrike" cap="none" normalizeH="0" baseline="0" dirty="0" smtClean="0">
              <a:ln>
                <a:noFill/>
              </a:ln>
              <a:solidFill>
                <a:srgbClr val="7030A0"/>
              </a:solidFill>
              <a:effectLst/>
              <a:latin typeface="Arial" pitchFamily="34" charset="0"/>
              <a:cs typeface="Arial" pitchFamily="34" charset="0"/>
            </a:endParaRPr>
          </a:p>
        </p:txBody>
      </p:sp>
      <p:pic>
        <p:nvPicPr>
          <p:cNvPr id="4" name="Picture 3"/>
          <p:cNvPicPr>
            <a:picLocks noChangeAspect="1" noChangeArrowheads="1"/>
          </p:cNvPicPr>
          <p:nvPr/>
        </p:nvPicPr>
        <p:blipFill>
          <a:blip r:embed="rId2"/>
          <a:srcRect/>
          <a:stretch>
            <a:fillRect/>
          </a:stretch>
        </p:blipFill>
        <p:spPr bwMode="auto">
          <a:xfrm>
            <a:off x="2819400" y="3048000"/>
            <a:ext cx="4267200" cy="1562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srcRect/>
          <a:stretch>
            <a:fillRect/>
          </a:stretch>
        </p:blipFill>
        <p:spPr bwMode="auto">
          <a:xfrm>
            <a:off x="152400" y="0"/>
            <a:ext cx="8839200" cy="1828800"/>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0" y="2667000"/>
            <a:ext cx="9144000" cy="4191000"/>
          </a:xfrm>
          <a:prstGeom prst="rect">
            <a:avLst/>
          </a:prstGeom>
          <a:noFill/>
          <a:ln w="9525">
            <a:noFill/>
            <a:miter lim="800000"/>
            <a:headEnd/>
            <a:tailEnd/>
          </a:ln>
          <a:effectLst/>
        </p:spPr>
      </p:pic>
      <p:pic>
        <p:nvPicPr>
          <p:cNvPr id="4" name="Picture 3"/>
          <p:cNvPicPr>
            <a:picLocks noChangeAspect="1" noChangeArrowheads="1"/>
          </p:cNvPicPr>
          <p:nvPr/>
        </p:nvPicPr>
        <p:blipFill>
          <a:blip r:embed="rId4"/>
          <a:srcRect/>
          <a:stretch>
            <a:fillRect/>
          </a:stretch>
        </p:blipFill>
        <p:spPr bwMode="auto">
          <a:xfrm>
            <a:off x="3276600" y="1828800"/>
            <a:ext cx="3352800" cy="83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p:cNvPicPr>
            <a:picLocks noGrp="1" noChangeAspect="1" noChangeArrowheads="1"/>
          </p:cNvPicPr>
          <p:nvPr>
            <p:ph idx="1"/>
          </p:nvPr>
        </p:nvPicPr>
        <p:blipFill>
          <a:blip r:embed="rId2"/>
          <a:srcRect/>
          <a:stretch>
            <a:fillRect/>
          </a:stretch>
        </p:blipFill>
        <p:spPr bwMode="auto">
          <a:xfrm>
            <a:off x="990600" y="3810000"/>
            <a:ext cx="6629400" cy="2129631"/>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a:srcRect/>
          <a:stretch>
            <a:fillRect/>
          </a:stretch>
        </p:blipFill>
        <p:spPr bwMode="auto">
          <a:xfrm>
            <a:off x="2590800" y="1676400"/>
            <a:ext cx="2771775" cy="1562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4525963"/>
          </a:xfrm>
        </p:spPr>
        <p:txBody>
          <a:bodyPr/>
          <a:lstStyle/>
          <a:p>
            <a:pPr algn="just"/>
            <a:r>
              <a:rPr lang="en-US" sz="2400" b="1" dirty="0"/>
              <a:t>Example </a:t>
            </a:r>
            <a:r>
              <a:rPr lang="en-US" sz="2400" b="1" dirty="0" smtClean="0"/>
              <a:t>:</a:t>
            </a:r>
            <a:r>
              <a:rPr lang="en-US" sz="2400" dirty="0"/>
              <a:t> Find the harmonic mean of the following distribution of data</a:t>
            </a:r>
          </a:p>
          <a:p>
            <a:endParaRPr lang="en-US" dirty="0"/>
          </a:p>
        </p:txBody>
      </p:sp>
      <p:pic>
        <p:nvPicPr>
          <p:cNvPr id="4" name="img-107_3"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371600"/>
            <a:ext cx="6553200" cy="685800"/>
          </a:xfrm>
          <a:prstGeom prst="rect">
            <a:avLst/>
          </a:prstGeom>
          <a:noFill/>
          <a:ln>
            <a:noFill/>
          </a:ln>
        </p:spPr>
      </p:pic>
      <p:pic>
        <p:nvPicPr>
          <p:cNvPr id="6" name="img-107_4"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5029200"/>
            <a:ext cx="5943600" cy="1143000"/>
          </a:xfrm>
          <a:prstGeom prst="rect">
            <a:avLst/>
          </a:prstGeom>
          <a:noFill/>
          <a:ln>
            <a:noFill/>
          </a:ln>
        </p:spPr>
      </p:pic>
      <p:sp>
        <p:nvSpPr>
          <p:cNvPr id="47105" name="Rectangle 1"/>
          <p:cNvSpPr>
            <a:spLocks noChangeArrowheads="1"/>
          </p:cNvSpPr>
          <p:nvPr/>
        </p:nvSpPr>
        <p:spPr bwMode="auto">
          <a:xfrm>
            <a:off x="228600" y="6359724"/>
            <a:ext cx="85344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FF0000"/>
                </a:solidFill>
                <a:effectLst/>
                <a:latin typeface="Calibri" pitchFamily="34" charset="0"/>
                <a:ea typeface="Times New Roman" pitchFamily="18" charset="0"/>
                <a:cs typeface="Times New Roman" pitchFamily="18" charset="0"/>
              </a:rPr>
              <a:t>Hence the average dividend yield of 40 companies is 7.27 per cent.</a:t>
            </a:r>
            <a:endParaRPr kumimoji="0" lang="en-US" sz="3200" b="0" i="0" u="none" strike="noStrike" cap="none" normalizeH="0" baseline="0" dirty="0" smtClean="0">
              <a:ln>
                <a:noFill/>
              </a:ln>
              <a:solidFill>
                <a:srgbClr val="FF0000"/>
              </a:solidFill>
              <a:effectLst/>
              <a:latin typeface="Arial" pitchFamily="34" charset="0"/>
              <a:cs typeface="Arial" pitchFamily="34" charset="0"/>
            </a:endParaRPr>
          </a:p>
        </p:txBody>
      </p:sp>
      <p:pic>
        <p:nvPicPr>
          <p:cNvPr id="12289" name="Picture 1"/>
          <p:cNvPicPr>
            <a:picLocks noChangeAspect="1" noChangeArrowheads="1"/>
          </p:cNvPicPr>
          <p:nvPr/>
        </p:nvPicPr>
        <p:blipFill>
          <a:blip r:embed="rId4" cstate="print"/>
          <a:srcRect/>
          <a:stretch>
            <a:fillRect/>
          </a:stretch>
        </p:blipFill>
        <p:spPr bwMode="auto">
          <a:xfrm>
            <a:off x="457200" y="2362200"/>
            <a:ext cx="8143875" cy="2552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9144000" cy="6705600"/>
          </a:xfrm>
        </p:spPr>
        <p:txBody>
          <a:bodyPr>
            <a:normAutofit fontScale="77500" lnSpcReduction="20000"/>
          </a:bodyPr>
          <a:lstStyle/>
          <a:p>
            <a:pPr>
              <a:buNone/>
            </a:pPr>
            <a:endParaRPr lang="en-US" dirty="0"/>
          </a:p>
          <a:p>
            <a:pPr algn="just">
              <a:buNone/>
            </a:pPr>
            <a:r>
              <a:rPr lang="en-US" b="1" dirty="0"/>
              <a:t>Advantages</a:t>
            </a:r>
            <a:endParaRPr lang="en-US" dirty="0"/>
          </a:p>
          <a:p>
            <a:pPr lvl="0" algn="just"/>
            <a:r>
              <a:rPr lang="en-US" dirty="0"/>
              <a:t>The H.M. of the given data set is also computed based on its every element.</a:t>
            </a:r>
          </a:p>
          <a:p>
            <a:pPr lvl="0" algn="just"/>
            <a:r>
              <a:rPr lang="en-US" dirty="0"/>
              <a:t>While calculating H.M., more </a:t>
            </a:r>
            <a:r>
              <a:rPr lang="en-US" dirty="0" err="1"/>
              <a:t>weightage</a:t>
            </a:r>
            <a:r>
              <a:rPr lang="en-US" dirty="0"/>
              <a:t> is given to smaller values in a data set because in this case the reciprocal of given values is taken for the calculation of H.M.</a:t>
            </a:r>
          </a:p>
          <a:p>
            <a:pPr lvl="0" algn="just"/>
            <a:r>
              <a:rPr lang="en-US" dirty="0"/>
              <a:t>The original formula of H.M. can be extended to accommodate further analysis of data by certain algebraic manipulations</a:t>
            </a:r>
            <a:r>
              <a:rPr lang="en-US" dirty="0" smtClean="0"/>
              <a:t>.</a:t>
            </a:r>
          </a:p>
          <a:p>
            <a:pPr lvl="0" algn="just"/>
            <a:endParaRPr lang="en-US" dirty="0"/>
          </a:p>
          <a:p>
            <a:pPr algn="just">
              <a:buNone/>
            </a:pPr>
            <a:r>
              <a:rPr lang="en-US" b="1" dirty="0"/>
              <a:t>Disadvantages</a:t>
            </a:r>
            <a:endParaRPr lang="en-US" dirty="0"/>
          </a:p>
          <a:p>
            <a:pPr lvl="0" algn="just"/>
            <a:r>
              <a:rPr lang="en-US" dirty="0"/>
              <a:t>The H.M. is not often used for </a:t>
            </a:r>
            <a:r>
              <a:rPr lang="en-US" dirty="0" err="1"/>
              <a:t>analysing</a:t>
            </a:r>
            <a:r>
              <a:rPr lang="en-US" dirty="0"/>
              <a:t> business problems.</a:t>
            </a:r>
          </a:p>
          <a:p>
            <a:pPr lvl="0" algn="just"/>
            <a:r>
              <a:rPr lang="en-US" dirty="0"/>
              <a:t>The H.M. of any data set cannot be calculated if it has negative and/or zero elements.</a:t>
            </a:r>
          </a:p>
          <a:p>
            <a:pPr lvl="0" algn="just"/>
            <a:r>
              <a:rPr lang="en-US" dirty="0"/>
              <a:t>The calculation of H.M. involves complicated calculations. For calculating the H.M. of a data set, the largest weight is given to smaller values of elements, therefore it does not represent the true characteristic of the data set.</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smtClean="0"/>
              <a:t>Applications </a:t>
            </a:r>
            <a:r>
              <a:rPr lang="en-US" smtClean="0"/>
              <a:t>The </a:t>
            </a:r>
            <a:r>
              <a:rPr lang="en-US" dirty="0" smtClean="0"/>
              <a:t>harmonic mean is particularly useful for computation of average rates and ratios. Such rates and ratios are generally used to express relations between two different types of measuring units that can be expressed reciprocally. For example, distance (in km), and time (in hours).</a:t>
            </a:r>
          </a:p>
          <a:p>
            <a:endParaRPr lang="en-US" dirty="0"/>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TotalTime>
  <Words>627</Words>
  <Application>Microsoft Office PowerPoint</Application>
  <PresentationFormat>On-screen Show (4:3)</PresentationFormat>
  <Paragraphs>70</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GEOMETRIC MEAN AND HARMONIC MEAN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GEOMETRIC MEAN AND HARMONIC MEAN </dc:title>
  <dc:creator>sanjiv</dc:creator>
  <cp:lastModifiedBy>INTEX</cp:lastModifiedBy>
  <cp:revision>129</cp:revision>
  <dcterms:created xsi:type="dcterms:W3CDTF">2018-09-21T16:03:25Z</dcterms:created>
  <dcterms:modified xsi:type="dcterms:W3CDTF">2025-10-11T04:11:04Z</dcterms:modified>
</cp:coreProperties>
</file>