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20" r:id="rId3"/>
    <p:sldId id="322" r:id="rId4"/>
    <p:sldId id="323" r:id="rId5"/>
    <p:sldId id="317" r:id="rId6"/>
    <p:sldId id="257" r:id="rId7"/>
    <p:sldId id="259" r:id="rId8"/>
    <p:sldId id="260" r:id="rId9"/>
    <p:sldId id="262" r:id="rId10"/>
    <p:sldId id="264" r:id="rId11"/>
    <p:sldId id="319" r:id="rId12"/>
    <p:sldId id="310" r:id="rId13"/>
    <p:sldId id="311" r:id="rId14"/>
    <p:sldId id="271" r:id="rId15"/>
    <p:sldId id="281" r:id="rId16"/>
    <p:sldId id="282" r:id="rId17"/>
    <p:sldId id="283" r:id="rId18"/>
    <p:sldId id="284" r:id="rId19"/>
    <p:sldId id="285" r:id="rId20"/>
    <p:sldId id="318" r:id="rId21"/>
    <p:sldId id="286" r:id="rId22"/>
    <p:sldId id="287" r:id="rId23"/>
    <p:sldId id="288" r:id="rId24"/>
    <p:sldId id="289" r:id="rId25"/>
    <p:sldId id="312" r:id="rId26"/>
    <p:sldId id="291" r:id="rId27"/>
    <p:sldId id="292" r:id="rId28"/>
    <p:sldId id="308" r:id="rId29"/>
    <p:sldId id="293" r:id="rId30"/>
    <p:sldId id="295" r:id="rId31"/>
    <p:sldId id="301"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2EE73DF-59BD-4DF7-A8FE-1A0C24F1F2C5}" type="datetimeFigureOut">
              <a:rPr lang="en-US" smtClean="0"/>
              <a:pPr/>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21258-4D1E-40EA-B420-CF2F7BA2A37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EE73DF-59BD-4DF7-A8FE-1A0C24F1F2C5}" type="datetimeFigureOut">
              <a:rPr lang="en-US" smtClean="0"/>
              <a:pPr/>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21258-4D1E-40EA-B420-CF2F7BA2A37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EE73DF-59BD-4DF7-A8FE-1A0C24F1F2C5}" type="datetimeFigureOut">
              <a:rPr lang="en-US" smtClean="0"/>
              <a:pPr/>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21258-4D1E-40EA-B420-CF2F7BA2A37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2EE73DF-59BD-4DF7-A8FE-1A0C24F1F2C5}" type="datetimeFigureOut">
              <a:rPr lang="en-US" smtClean="0"/>
              <a:pPr/>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E21258-4D1E-40EA-B420-CF2F7BA2A37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2EE73DF-59BD-4DF7-A8FE-1A0C24F1F2C5}" type="datetimeFigureOut">
              <a:rPr lang="en-US" smtClean="0"/>
              <a:pPr/>
              <a:t>12/23/2025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E21258-4D1E-40EA-B420-CF2F7BA2A37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2EE73DF-59BD-4DF7-A8FE-1A0C24F1F2C5}" type="datetimeFigureOut">
              <a:rPr lang="en-US" smtClean="0"/>
              <a:pPr/>
              <a:t>12/23/2025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E21258-4D1E-40EA-B420-CF2F7BA2A37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EE73DF-59BD-4DF7-A8FE-1A0C24F1F2C5}" type="datetimeFigureOut">
              <a:rPr lang="en-US" smtClean="0"/>
              <a:pPr/>
              <a:t>12/23/2025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E21258-4D1E-40EA-B420-CF2F7BA2A37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EE73DF-59BD-4DF7-A8FE-1A0C24F1F2C5}" type="datetimeFigureOut">
              <a:rPr lang="en-US" smtClean="0"/>
              <a:pPr/>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E21258-4D1E-40EA-B420-CF2F7BA2A37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EE73DF-59BD-4DF7-A8FE-1A0C24F1F2C5}" type="datetimeFigureOut">
              <a:rPr lang="en-US" smtClean="0"/>
              <a:pPr/>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E21258-4D1E-40EA-B420-CF2F7BA2A37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EE73DF-59BD-4DF7-A8FE-1A0C24F1F2C5}" type="datetimeFigureOut">
              <a:rPr lang="en-US" smtClean="0"/>
              <a:pPr/>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21258-4D1E-40EA-B420-CF2F7BA2A37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EE73DF-59BD-4DF7-A8FE-1A0C24F1F2C5}" type="datetimeFigureOut">
              <a:rPr lang="en-US" smtClean="0"/>
              <a:pPr/>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E21258-4D1E-40EA-B420-CF2F7BA2A37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EE73DF-59BD-4DF7-A8FE-1A0C24F1F2C5}" type="datetimeFigureOut">
              <a:rPr lang="en-US" smtClean="0"/>
              <a:pPr/>
              <a:t>12/23/2025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E21258-4D1E-40EA-B420-CF2F7BA2A37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Fundamentals of Probability</a:t>
            </a:r>
            <a:br>
              <a:rPr lang="en-US" dirty="0"/>
            </a:b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51CDE0-6477-3A00-B9A3-687A43A46720}"/>
              </a:ext>
            </a:extLst>
          </p:cNvPr>
          <p:cNvSpPr>
            <a:spLocks noGrp="1"/>
          </p:cNvSpPr>
          <p:nvPr>
            <p:ph sz="half" idx="1"/>
          </p:nvPr>
        </p:nvSpPr>
        <p:spPr>
          <a:xfrm>
            <a:off x="457200" y="76200"/>
            <a:ext cx="8077200" cy="6049963"/>
          </a:xfrm>
        </p:spPr>
        <p:txBody>
          <a:bodyPr>
            <a:normAutofit fontScale="32500" lnSpcReduction="20000"/>
          </a:bodyPr>
          <a:lstStyle/>
          <a:p>
            <a:pPr marL="0" indent="0">
              <a:buNone/>
            </a:pPr>
            <a:r>
              <a:rPr lang="en-IN" sz="4300" b="1" dirty="0"/>
              <a:t>1. Coin Toss</a:t>
            </a:r>
            <a:endParaRPr lang="en-IN" sz="4300" dirty="0"/>
          </a:p>
          <a:p>
            <a:pPr marL="0" indent="0">
              <a:buNone/>
            </a:pPr>
            <a:r>
              <a:rPr lang="en-IN" sz="4300" dirty="0"/>
              <a:t>           Outcomes: {Head, Tail} → 2 possible outcomes.    </a:t>
            </a:r>
            <a:r>
              <a:rPr lang="en-IN" sz="4300" dirty="0" err="1"/>
              <a:t>Favorable</a:t>
            </a:r>
            <a:r>
              <a:rPr lang="en-IN" sz="4300" dirty="0"/>
              <a:t> outcome: Head → 1. </a:t>
            </a:r>
            <a:r>
              <a:rPr lang="en-IN" sz="4300" b="1" dirty="0"/>
              <a:t>Probability = 1/2.</a:t>
            </a:r>
            <a:endParaRPr lang="en-IN" sz="4300" dirty="0"/>
          </a:p>
          <a:p>
            <a:pPr marL="0" indent="0">
              <a:buNone/>
            </a:pPr>
            <a:r>
              <a:rPr lang="en-IN" sz="4300" b="1" dirty="0"/>
              <a:t>2. Dice Roll</a:t>
            </a:r>
            <a:endParaRPr lang="en-IN" sz="4300" dirty="0"/>
          </a:p>
          <a:p>
            <a:pPr marL="0" indent="0">
              <a:buNone/>
            </a:pPr>
            <a:r>
              <a:rPr lang="en-IN" sz="4300" dirty="0"/>
              <a:t>Outcomes: {1, 2, 3, 4, 5, 6} → 6 possible outcomes. </a:t>
            </a:r>
            <a:r>
              <a:rPr lang="en-IN" sz="4300" dirty="0" err="1"/>
              <a:t>Favorable</a:t>
            </a:r>
            <a:r>
              <a:rPr lang="en-IN" sz="4300" dirty="0"/>
              <a:t> outcomes: {5, 6} → 2. </a:t>
            </a:r>
            <a:r>
              <a:rPr lang="en-IN" sz="4300" b="1" dirty="0"/>
              <a:t>Probability = 2/6 = 1/3.</a:t>
            </a:r>
            <a:endParaRPr lang="en-IN" sz="4300" dirty="0"/>
          </a:p>
          <a:p>
            <a:pPr marL="0" indent="0">
              <a:buNone/>
            </a:pPr>
            <a:endParaRPr lang="en-IN" sz="4300" b="1" dirty="0"/>
          </a:p>
          <a:p>
            <a:pPr marL="0" indent="0">
              <a:buNone/>
            </a:pPr>
            <a:r>
              <a:rPr lang="en-IN" sz="4300" b="1" dirty="0"/>
              <a:t>3. Picking a Ball </a:t>
            </a:r>
            <a:r>
              <a:rPr lang="en-IN" sz="4300" dirty="0"/>
              <a:t>Total balls = 5. </a:t>
            </a:r>
            <a:r>
              <a:rPr lang="en-IN" sz="4300" dirty="0" err="1"/>
              <a:t>Favorable</a:t>
            </a:r>
            <a:r>
              <a:rPr lang="en-IN" sz="4300" dirty="0"/>
              <a:t> outcomes (red) = 3. </a:t>
            </a:r>
            <a:r>
              <a:rPr lang="en-IN" sz="4300" b="1" dirty="0"/>
              <a:t>Probability = 3/5.</a:t>
            </a:r>
            <a:endParaRPr lang="en-IN" sz="4300" dirty="0"/>
          </a:p>
          <a:p>
            <a:pPr marL="0" indent="0">
              <a:buNone/>
            </a:pPr>
            <a:endParaRPr lang="en-IN" sz="4300" b="1" dirty="0"/>
          </a:p>
          <a:p>
            <a:pPr marL="0" indent="0">
              <a:buNone/>
            </a:pPr>
            <a:r>
              <a:rPr lang="en-IN" sz="4300" b="1" dirty="0"/>
              <a:t>4. Playing Cards </a:t>
            </a:r>
            <a:r>
              <a:rPr lang="en-IN" sz="4300" dirty="0"/>
              <a:t>Total cards = 52. Kings = 4. </a:t>
            </a:r>
            <a:r>
              <a:rPr lang="en-IN" sz="4300" b="1" dirty="0"/>
              <a:t>Probability = 4/52 = 1/13.</a:t>
            </a:r>
            <a:endParaRPr lang="en-IN" sz="4300" dirty="0"/>
          </a:p>
          <a:p>
            <a:pPr marL="0" indent="0">
              <a:buNone/>
            </a:pPr>
            <a:r>
              <a:rPr lang="en-IN" sz="4300" b="1" dirty="0"/>
              <a:t>5. Weather Forecast   </a:t>
            </a:r>
            <a:r>
              <a:rPr lang="en-IN" sz="4300" dirty="0"/>
              <a:t>Probability of rain = 0.7.                Probability of no rain = 1 - 0.7 = 0.3.</a:t>
            </a:r>
            <a:br>
              <a:rPr lang="en-IN" sz="4300" dirty="0"/>
            </a:br>
            <a:r>
              <a:rPr lang="en-IN" sz="4300" b="1" dirty="0"/>
              <a:t>Probability = 0.3 (30%).</a:t>
            </a:r>
            <a:endParaRPr lang="en-IN" sz="4300" dirty="0"/>
          </a:p>
          <a:p>
            <a:pPr marL="0" indent="0">
              <a:buNone/>
            </a:pPr>
            <a:endParaRPr lang="en-IN" sz="4300" b="1" dirty="0"/>
          </a:p>
          <a:p>
            <a:pPr marL="0" indent="0">
              <a:buNone/>
            </a:pPr>
            <a:r>
              <a:rPr lang="en-IN" sz="4300" b="1" dirty="0"/>
              <a:t>6. Two Coin Tosses  </a:t>
            </a:r>
            <a:r>
              <a:rPr lang="en-IN" sz="4300" dirty="0"/>
              <a:t>Outcomes: {HH, HT, TH, TT} → 4 possible outcomes.</a:t>
            </a:r>
            <a:br>
              <a:rPr lang="en-IN" sz="4300" dirty="0"/>
            </a:br>
            <a:r>
              <a:rPr lang="en-IN" sz="4300" dirty="0" err="1"/>
              <a:t>Favorable</a:t>
            </a:r>
            <a:r>
              <a:rPr lang="en-IN" sz="4300" dirty="0"/>
              <a:t> outcomes = {HT, TH} → </a:t>
            </a:r>
            <a:r>
              <a:rPr lang="en-IN" sz="4300" b="1" dirty="0"/>
              <a:t>Probability = 2/4 = 1/2.</a:t>
            </a:r>
            <a:endParaRPr lang="en-IN" sz="4300" dirty="0"/>
          </a:p>
          <a:p>
            <a:pPr marL="0" indent="0">
              <a:buNone/>
            </a:pPr>
            <a:endParaRPr lang="en-IN" sz="4300" b="1" dirty="0"/>
          </a:p>
          <a:p>
            <a:pPr marL="0" indent="0">
              <a:buNone/>
            </a:pPr>
            <a:r>
              <a:rPr lang="en-IN" sz="4300" b="1" dirty="0"/>
              <a:t>7. Rolling Two Dice    </a:t>
            </a:r>
            <a:r>
              <a:rPr lang="en-IN" sz="4300" dirty="0"/>
              <a:t>Total outcomes = 36. </a:t>
            </a:r>
            <a:r>
              <a:rPr lang="en-IN" sz="4300" dirty="0" err="1"/>
              <a:t>Favorable</a:t>
            </a:r>
            <a:r>
              <a:rPr lang="en-IN" sz="4300" dirty="0"/>
              <a:t> outcomes for sum = 7 → 6.</a:t>
            </a:r>
            <a:br>
              <a:rPr lang="en-IN" sz="4300" dirty="0"/>
            </a:br>
            <a:r>
              <a:rPr lang="en-IN" sz="4300" b="1" dirty="0"/>
              <a:t>Probability = 6/36 = 1/6.</a:t>
            </a:r>
            <a:endParaRPr lang="en-IN" sz="4300" dirty="0"/>
          </a:p>
          <a:p>
            <a:pPr marL="0" indent="0">
              <a:buNone/>
            </a:pPr>
            <a:endParaRPr lang="en-IN" sz="4300" b="1" dirty="0"/>
          </a:p>
          <a:p>
            <a:pPr marL="0" indent="0">
              <a:buNone/>
            </a:pPr>
            <a:r>
              <a:rPr lang="en-IN" sz="4300" b="1" dirty="0"/>
              <a:t>8. Classroom Example:       </a:t>
            </a:r>
            <a:r>
              <a:rPr lang="en-IN" sz="4300" dirty="0"/>
              <a:t>Total students = 30. Girls = 12. </a:t>
            </a:r>
            <a:r>
              <a:rPr lang="en-IN" sz="4300" b="1" dirty="0"/>
              <a:t>Probability of girls  = 12/30 = 2/5.</a:t>
            </a:r>
            <a:endParaRPr lang="en-IN" sz="4300" dirty="0"/>
          </a:p>
          <a:p>
            <a:pPr marL="0" indent="0">
              <a:buNone/>
            </a:pPr>
            <a:endParaRPr lang="en-IN" sz="4300" b="1" dirty="0"/>
          </a:p>
          <a:p>
            <a:pPr marL="0" indent="0">
              <a:buNone/>
            </a:pPr>
            <a:r>
              <a:rPr lang="en-IN" sz="4300" b="1" dirty="0"/>
              <a:t>9. Lottery Ticket    </a:t>
            </a:r>
            <a:r>
              <a:rPr lang="en-IN" sz="4300" dirty="0"/>
              <a:t>Total tickets = 100. Winning tickets = 1. </a:t>
            </a:r>
            <a:r>
              <a:rPr lang="en-IN" sz="4300" b="1" dirty="0"/>
              <a:t>Probability = 1/100.</a:t>
            </a:r>
            <a:endParaRPr lang="en-IN" sz="4300" dirty="0"/>
          </a:p>
          <a:p>
            <a:pPr marL="0" indent="0">
              <a:buNone/>
            </a:pPr>
            <a:endParaRPr lang="en-IN" sz="4300" b="1" dirty="0"/>
          </a:p>
          <a:p>
            <a:pPr marL="0" indent="0">
              <a:buNone/>
            </a:pPr>
            <a:r>
              <a:rPr lang="en-IN" sz="4300" b="1" dirty="0"/>
              <a:t>10. Traffic Light </a:t>
            </a:r>
            <a:r>
              <a:rPr lang="en-IN" sz="4300" dirty="0"/>
              <a:t>Outcomes: {Red, Yellow, Green} → 3 possible outcomes.</a:t>
            </a:r>
            <a:br>
              <a:rPr lang="en-IN" sz="4300" dirty="0"/>
            </a:br>
            <a:r>
              <a:rPr lang="en-IN" sz="4300" dirty="0" err="1"/>
              <a:t>Favorable</a:t>
            </a:r>
            <a:r>
              <a:rPr lang="en-IN" sz="4300" dirty="0"/>
              <a:t> outcome = Green → 1.</a:t>
            </a:r>
            <a:br>
              <a:rPr lang="en-IN" sz="4300" dirty="0"/>
            </a:br>
            <a:r>
              <a:rPr lang="en-IN" sz="4300" b="1" dirty="0"/>
              <a:t>Probability = 1/3.</a:t>
            </a:r>
            <a:endParaRPr lang="en-IN" sz="4300" dirty="0"/>
          </a:p>
          <a:p>
            <a:pPr marL="0" indent="0">
              <a:buNone/>
            </a:pPr>
            <a:br>
              <a:rPr lang="en-IN" sz="3400" dirty="0"/>
            </a:br>
            <a:endParaRPr lang="en-IN" sz="3400" dirty="0"/>
          </a:p>
          <a:p>
            <a:pPr marL="0" indent="0">
              <a:buNone/>
            </a:pPr>
            <a:r>
              <a:rPr lang="en-IN" sz="6000" b="1" dirty="0"/>
              <a:t>Probability = (Number of </a:t>
            </a:r>
            <a:r>
              <a:rPr lang="en-IN" sz="6000" b="1" dirty="0" err="1"/>
              <a:t>favorable</a:t>
            </a:r>
            <a:r>
              <a:rPr lang="en-IN" sz="6000" b="1" dirty="0"/>
              <a:t> outcomes) ÷ (Total outcomes).</a:t>
            </a:r>
            <a:br>
              <a:rPr lang="en-IN" sz="3400" dirty="0"/>
            </a:br>
            <a:endParaRPr lang="en-IN" sz="3700" dirty="0"/>
          </a:p>
          <a:p>
            <a:r>
              <a:rPr lang="en-IN" sz="3700" dirty="0"/>
              <a:t>It helps us measure uncertainty and predict chances in everyday life.</a:t>
            </a:r>
          </a:p>
          <a:p>
            <a:endParaRPr lang="en-IN" dirty="0"/>
          </a:p>
        </p:txBody>
      </p:sp>
    </p:spTree>
    <p:extLst>
      <p:ext uri="{BB962C8B-B14F-4D97-AF65-F5344CB8AC3E}">
        <p14:creationId xmlns:p14="http://schemas.microsoft.com/office/powerpoint/2010/main" val="1626503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A1170-128F-6F2B-B2DB-06057D52C76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A3FAE1-19AF-EE60-23EA-B7A9376BD4D1}"/>
              </a:ext>
            </a:extLst>
          </p:cNvPr>
          <p:cNvSpPr>
            <a:spLocks noGrp="1"/>
          </p:cNvSpPr>
          <p:nvPr>
            <p:ph idx="1"/>
          </p:nvPr>
        </p:nvSpPr>
        <p:spPr>
          <a:xfrm>
            <a:off x="0" y="0"/>
            <a:ext cx="9144000" cy="6858000"/>
          </a:xfrm>
        </p:spPr>
        <p:txBody>
          <a:bodyPr>
            <a:normAutofit/>
          </a:bodyPr>
          <a:lstStyle/>
          <a:p>
            <a:pPr algn="just"/>
            <a:r>
              <a:rPr lang="en-US" sz="2400" b="1" u="sng" dirty="0">
                <a:effectLst>
                  <a:outerShdw blurRad="38100" dist="38100" dir="2700000" algn="tl">
                    <a:srgbClr val="000000">
                      <a:alpha val="43137"/>
                    </a:srgbClr>
                  </a:outerShdw>
                </a:effectLst>
              </a:rPr>
              <a:t>Illustration:</a:t>
            </a:r>
            <a:r>
              <a:rPr lang="en-US" sz="2400" b="1" dirty="0">
                <a:effectLst>
                  <a:outerShdw blurRad="38100" dist="38100" dir="2700000" algn="tl">
                    <a:srgbClr val="000000">
                      <a:alpha val="43137"/>
                    </a:srgbClr>
                  </a:outerShdw>
                </a:effectLst>
              </a:rPr>
              <a:t> </a:t>
            </a:r>
            <a:r>
              <a:rPr lang="en-US" sz="2400" dirty="0"/>
              <a:t>Consider the pattern of arrival of customers at a service counter during first hour it is open along with its probability:</a:t>
            </a:r>
          </a:p>
          <a:p>
            <a:pPr algn="just"/>
            <a:endParaRPr lang="en-US" sz="2400" dirty="0"/>
          </a:p>
          <a:p>
            <a:pPr algn="just"/>
            <a:endParaRPr lang="en-US" sz="2400" dirty="0"/>
          </a:p>
          <a:p>
            <a:pPr algn="just"/>
            <a:endParaRPr lang="en-US" sz="2400" dirty="0"/>
          </a:p>
          <a:p>
            <a:pPr algn="just"/>
            <a:r>
              <a:rPr lang="en-US" sz="2400" dirty="0"/>
              <a:t>To understand the probability that either 2 or 3 persons will be there during the first hour, we have</a:t>
            </a:r>
          </a:p>
          <a:p>
            <a:pPr algn="just"/>
            <a:r>
              <a:rPr lang="en-US" sz="2400" dirty="0"/>
              <a:t>P(2 or 3) = P(2) + P(3) = 0.3 + 0.3 = 0.6</a:t>
            </a:r>
          </a:p>
          <a:p>
            <a:pPr marL="0" indent="0" algn="just">
              <a:buNone/>
            </a:pPr>
            <a:endParaRPr lang="en-US" sz="2400" dirty="0"/>
          </a:p>
          <a:p>
            <a:pPr algn="just"/>
            <a:r>
              <a:rPr lang="en-US" sz="2400" b="1" dirty="0">
                <a:solidFill>
                  <a:srgbClr val="0070C0"/>
                </a:solidFill>
                <a:effectLst>
                  <a:outerShdw blurRad="38100" dist="38100" dir="2700000" algn="tl">
                    <a:srgbClr val="000000">
                      <a:alpha val="43137"/>
                    </a:srgbClr>
                  </a:outerShdw>
                </a:effectLst>
              </a:rPr>
              <a:t>For example</a:t>
            </a:r>
            <a:r>
              <a:rPr lang="en-US" sz="2400" dirty="0"/>
              <a:t>, if we are interested in knowing the probability that there will be two or more persons during the first hour, then using we have</a:t>
            </a:r>
            <a:endParaRPr lang="en-US" dirty="0"/>
          </a:p>
          <a:p>
            <a:endParaRPr lang="en-US" dirty="0"/>
          </a:p>
          <a:p>
            <a:endParaRPr lang="en-US" dirty="0"/>
          </a:p>
        </p:txBody>
      </p:sp>
      <p:pic>
        <p:nvPicPr>
          <p:cNvPr id="4" name="img-205_1" descr="images">
            <a:extLst>
              <a:ext uri="{FF2B5EF4-FFF2-40B4-BE49-F238E27FC236}">
                <a16:creationId xmlns:a16="http://schemas.microsoft.com/office/drawing/2014/main" id="{B1C17604-4510-CE52-974A-6822E232DBE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1600" y="1055302"/>
            <a:ext cx="6858000" cy="922655"/>
          </a:xfrm>
          <a:prstGeom prst="rect">
            <a:avLst/>
          </a:prstGeom>
          <a:noFill/>
          <a:ln>
            <a:noFill/>
          </a:ln>
        </p:spPr>
      </p:pic>
      <p:pic>
        <p:nvPicPr>
          <p:cNvPr id="5" name="img-205_2" descr="images">
            <a:extLst>
              <a:ext uri="{FF2B5EF4-FFF2-40B4-BE49-F238E27FC236}">
                <a16:creationId xmlns:a16="http://schemas.microsoft.com/office/drawing/2014/main" id="{B93DDDFA-2AD0-3099-A309-2E841FC2491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3000" y="5486400"/>
            <a:ext cx="7162800" cy="762000"/>
          </a:xfrm>
          <a:prstGeom prst="rect">
            <a:avLst/>
          </a:prstGeom>
          <a:noFill/>
          <a:ln>
            <a:noFill/>
          </a:ln>
        </p:spPr>
      </p:pic>
    </p:spTree>
    <p:extLst>
      <p:ext uri="{BB962C8B-B14F-4D97-AF65-F5344CB8AC3E}">
        <p14:creationId xmlns:p14="http://schemas.microsoft.com/office/powerpoint/2010/main" val="2082380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cstate="print"/>
          <a:srcRect/>
          <a:stretch>
            <a:fillRect/>
          </a:stretch>
        </p:blipFill>
        <p:spPr bwMode="auto">
          <a:xfrm>
            <a:off x="990600" y="1219200"/>
            <a:ext cx="7162800" cy="4724401"/>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77500" lnSpcReduction="20000"/>
          </a:bodyPr>
          <a:lstStyle/>
          <a:p>
            <a:pPr algn="just">
              <a:buNone/>
            </a:pPr>
            <a:r>
              <a:rPr lang="en-US" sz="3800" b="1" dirty="0">
                <a:solidFill>
                  <a:srgbClr val="0000FF"/>
                </a:solidFill>
                <a:effectLst>
                  <a:outerShdw blurRad="38100" dist="38100" dir="2700000" algn="tl">
                    <a:srgbClr val="000000">
                      <a:alpha val="43137"/>
                    </a:srgbClr>
                  </a:outerShdw>
                </a:effectLst>
              </a:rPr>
              <a:t>INTRODUCTION </a:t>
            </a:r>
          </a:p>
          <a:p>
            <a:pPr algn="just"/>
            <a:r>
              <a:rPr lang="en-US" dirty="0"/>
              <a:t>Making </a:t>
            </a:r>
            <a:r>
              <a:rPr lang="en-US" b="1" u="sng" dirty="0">
                <a:solidFill>
                  <a:srgbClr val="FF0000"/>
                </a:solidFill>
              </a:rPr>
              <a:t>inferences</a:t>
            </a:r>
            <a:r>
              <a:rPr lang="en-US" dirty="0"/>
              <a:t> from </a:t>
            </a:r>
            <a:r>
              <a:rPr lang="en-US" b="1" u="sng" dirty="0">
                <a:effectLst>
                  <a:outerShdw blurRad="38100" dist="38100" dir="2700000" algn="tl">
                    <a:srgbClr val="000000">
                      <a:alpha val="43137"/>
                    </a:srgbClr>
                  </a:outerShdw>
                </a:effectLst>
              </a:rPr>
              <a:t>sample data</a:t>
            </a:r>
            <a:r>
              <a:rPr lang="en-US" dirty="0"/>
              <a:t>, involve </a:t>
            </a:r>
            <a:r>
              <a:rPr lang="en-US" b="1" i="1" u="sng" dirty="0">
                <a:solidFill>
                  <a:srgbClr val="0000FF"/>
                </a:solidFill>
                <a:effectLst>
                  <a:outerShdw blurRad="38100" dist="38100" dir="2700000" algn="tl">
                    <a:srgbClr val="000000">
                      <a:alpha val="43137"/>
                    </a:srgbClr>
                  </a:outerShdw>
                </a:effectLst>
              </a:rPr>
              <a:t>uncertainties</a:t>
            </a:r>
            <a:r>
              <a:rPr lang="en-US" dirty="0"/>
              <a:t>. Thus decision-makers always face some degree of risk while selecting a particular course of action or strategy to solve a decision problem involving uncertainty. </a:t>
            </a:r>
          </a:p>
          <a:p>
            <a:pPr algn="just">
              <a:buNone/>
            </a:pPr>
            <a:endParaRPr lang="en-US" dirty="0"/>
          </a:p>
          <a:p>
            <a:pPr algn="just"/>
            <a:r>
              <a:rPr lang="en-US" dirty="0"/>
              <a:t>Thus it is necessary for the decision-makers:</a:t>
            </a:r>
          </a:p>
          <a:p>
            <a:pPr algn="just">
              <a:buNone/>
            </a:pPr>
            <a:endParaRPr lang="en-US" dirty="0"/>
          </a:p>
          <a:p>
            <a:pPr marL="0" indent="0" algn="just">
              <a:buNone/>
            </a:pPr>
            <a:r>
              <a:rPr lang="en-US" dirty="0">
                <a:solidFill>
                  <a:srgbClr val="0000FF"/>
                </a:solidFill>
              </a:rPr>
              <a:t>a) </a:t>
            </a:r>
            <a:r>
              <a:rPr lang="en-US" b="1" u="sng" dirty="0">
                <a:solidFill>
                  <a:srgbClr val="FF0000"/>
                </a:solidFill>
                <a:effectLst>
                  <a:outerShdw blurRad="38100" dist="38100" dir="2700000" algn="tl">
                    <a:srgbClr val="000000">
                      <a:alpha val="43137"/>
                    </a:srgbClr>
                  </a:outerShdw>
                </a:effectLst>
              </a:rPr>
              <a:t>to enhance their capability of grasping the probabilistic situation </a:t>
            </a:r>
          </a:p>
          <a:p>
            <a:pPr marL="0" indent="0" algn="just">
              <a:buNone/>
            </a:pPr>
            <a:r>
              <a:rPr lang="en-US" dirty="0"/>
              <a:t>b) </a:t>
            </a:r>
            <a:r>
              <a:rPr lang="en-US" b="1" dirty="0"/>
              <a:t>to gain a deeper understanding </a:t>
            </a:r>
            <a:r>
              <a:rPr lang="en-US" dirty="0"/>
              <a:t>of the decision problem and </a:t>
            </a:r>
          </a:p>
          <a:p>
            <a:pPr marL="0" indent="0" algn="just">
              <a:buNone/>
            </a:pPr>
            <a:r>
              <a:rPr lang="en-US" dirty="0"/>
              <a:t>c) </a:t>
            </a:r>
            <a:r>
              <a:rPr lang="en-US" b="1" dirty="0"/>
              <a:t>To base their decisions on rational considerations</a:t>
            </a:r>
            <a:r>
              <a:rPr lang="en-US" dirty="0"/>
              <a:t>. </a:t>
            </a:r>
          </a:p>
          <a:p>
            <a:pPr algn="just"/>
            <a:endParaRPr lang="en-US" dirty="0"/>
          </a:p>
          <a:p>
            <a:pPr algn="just"/>
            <a:r>
              <a:rPr lang="en-US" b="1" u="sng" dirty="0">
                <a:solidFill>
                  <a:srgbClr val="0000FF"/>
                </a:solidFill>
              </a:rPr>
              <a:t>To do this we need</a:t>
            </a:r>
            <a:r>
              <a:rPr lang="en-US" b="1" dirty="0">
                <a:solidFill>
                  <a:srgbClr val="0000FF"/>
                </a:solidFill>
              </a:rPr>
              <a:t> </a:t>
            </a:r>
            <a:r>
              <a:rPr lang="en-US" b="1" u="sng" dirty="0">
                <a:effectLst>
                  <a:outerShdw blurRad="38100" dist="38100" dir="2700000" algn="tl">
                    <a:srgbClr val="000000">
                      <a:alpha val="43137"/>
                    </a:srgbClr>
                  </a:outerShdw>
                </a:effectLst>
              </a:rPr>
              <a:t>knowledge</a:t>
            </a:r>
            <a:r>
              <a:rPr lang="en-US" dirty="0"/>
              <a:t> of the </a:t>
            </a:r>
            <a:r>
              <a:rPr lang="en-US" b="1" u="sng" dirty="0">
                <a:solidFill>
                  <a:srgbClr val="0000FF"/>
                </a:solidFill>
                <a:effectLst>
                  <a:outerShdw blurRad="38100" dist="38100" dir="2700000" algn="tl">
                    <a:srgbClr val="000000">
                      <a:alpha val="43137"/>
                    </a:srgbClr>
                  </a:outerShdw>
                </a:effectLst>
              </a:rPr>
              <a:t>concepts of probability</a:t>
            </a:r>
            <a:r>
              <a:rPr lang="en-US" dirty="0"/>
              <a:t>, </a:t>
            </a:r>
            <a:r>
              <a:rPr lang="en-US" b="1" u="sng" dirty="0">
                <a:effectLst>
                  <a:outerShdw blurRad="38100" dist="38100" dir="2700000" algn="tl">
                    <a:srgbClr val="000000">
                      <a:alpha val="43137"/>
                    </a:srgbClr>
                  </a:outerShdw>
                </a:effectLst>
              </a:rPr>
              <a:t>probability distributions</a:t>
            </a:r>
            <a:r>
              <a:rPr lang="en-US" dirty="0"/>
              <a:t>, and various related statistical techniques is therefore needed. </a:t>
            </a:r>
          </a:p>
          <a:p>
            <a:pPr algn="just">
              <a:buNone/>
            </a:pPr>
            <a:endParaRPr lang="en-US" dirty="0"/>
          </a:p>
          <a:p>
            <a:pPr algn="just"/>
            <a:r>
              <a:rPr lang="en-US" dirty="0"/>
              <a:t>A special </a:t>
            </a:r>
            <a:r>
              <a:rPr lang="en-US" b="1" u="sng" dirty="0">
                <a:solidFill>
                  <a:srgbClr val="FF0000"/>
                </a:solidFill>
                <a:effectLst>
                  <a:outerShdw blurRad="38100" dist="38100" dir="2700000" algn="tl">
                    <a:srgbClr val="000000">
                      <a:alpha val="43137"/>
                    </a:srgbClr>
                  </a:outerShdw>
                </a:effectLst>
              </a:rPr>
              <a:t>type of phenomenon known as </a:t>
            </a:r>
            <a:r>
              <a:rPr lang="en-US" b="1" i="1" u="sng" dirty="0">
                <a:effectLst>
                  <a:outerShdw blurRad="38100" dist="38100" dir="2700000" algn="tl">
                    <a:srgbClr val="000000">
                      <a:alpha val="43137"/>
                    </a:srgbClr>
                  </a:outerShdw>
                </a:effectLst>
              </a:rPr>
              <a:t>randomness</a:t>
            </a:r>
            <a:r>
              <a:rPr lang="en-US" b="1" u="sng" dirty="0">
                <a:effectLst>
                  <a:outerShdw blurRad="38100" dist="38100" dir="2700000" algn="tl">
                    <a:srgbClr val="000000">
                      <a:alpha val="43137"/>
                    </a:srgbClr>
                  </a:outerShdw>
                </a:effectLst>
              </a:rPr>
              <a:t> or </a:t>
            </a:r>
            <a:r>
              <a:rPr lang="en-US" b="1" i="1" u="sng" dirty="0">
                <a:effectLst>
                  <a:outerShdw blurRad="38100" dist="38100" dir="2700000" algn="tl">
                    <a:srgbClr val="000000">
                      <a:alpha val="43137"/>
                    </a:srgbClr>
                  </a:outerShdw>
                </a:effectLst>
              </a:rPr>
              <a:t>random variations</a:t>
            </a:r>
            <a:r>
              <a:rPr lang="en-US" i="1" dirty="0"/>
              <a:t> is</a:t>
            </a:r>
            <a:r>
              <a:rPr lang="en-US" dirty="0"/>
              <a:t> of fundamental importance in probability theory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lgn="just"/>
            <a:r>
              <a:rPr lang="en-US" b="1" dirty="0"/>
              <a:t>Random experiment</a:t>
            </a:r>
            <a:r>
              <a:rPr lang="en-US" dirty="0"/>
              <a:t> (</a:t>
            </a:r>
            <a:r>
              <a:rPr lang="en-US" dirty="0">
                <a:solidFill>
                  <a:srgbClr val="FF0000"/>
                </a:solidFill>
                <a:effectLst>
                  <a:outerShdw blurRad="38100" dist="38100" dir="2700000" algn="tl">
                    <a:srgbClr val="000000">
                      <a:alpha val="43137"/>
                    </a:srgbClr>
                  </a:outerShdw>
                </a:effectLst>
              </a:rPr>
              <a:t>also called </a:t>
            </a:r>
            <a:r>
              <a:rPr lang="en-US" i="1" u="sng" dirty="0">
                <a:solidFill>
                  <a:srgbClr val="FF0000"/>
                </a:solidFill>
                <a:effectLst>
                  <a:outerShdw blurRad="38100" dist="38100" dir="2700000" algn="tl">
                    <a:srgbClr val="000000">
                      <a:alpha val="43137"/>
                    </a:srgbClr>
                  </a:outerShdw>
                </a:effectLst>
              </a:rPr>
              <a:t>act</a:t>
            </a:r>
            <a:r>
              <a:rPr lang="en-US" i="1" dirty="0">
                <a:solidFill>
                  <a:srgbClr val="FF0000"/>
                </a:solidFill>
                <a:effectLst>
                  <a:outerShdw blurRad="38100" dist="38100" dir="2700000" algn="tl">
                    <a:srgbClr val="000000">
                      <a:alpha val="43137"/>
                    </a:srgbClr>
                  </a:outerShdw>
                </a:effectLst>
              </a:rPr>
              <a:t>, </a:t>
            </a:r>
            <a:r>
              <a:rPr lang="en-US" i="1" u="sng" dirty="0">
                <a:solidFill>
                  <a:srgbClr val="FF0000"/>
                </a:solidFill>
                <a:effectLst>
                  <a:outerShdw blurRad="38100" dist="38100" dir="2700000" algn="tl">
                    <a:srgbClr val="000000">
                      <a:alpha val="43137"/>
                    </a:srgbClr>
                  </a:outerShdw>
                </a:effectLst>
                <a:uFill>
                  <a:solidFill>
                    <a:srgbClr val="0000FF"/>
                  </a:solidFill>
                </a:uFill>
              </a:rPr>
              <a:t>trial</a:t>
            </a:r>
            <a:r>
              <a:rPr lang="en-US" i="1" dirty="0">
                <a:solidFill>
                  <a:srgbClr val="FF0000"/>
                </a:solidFill>
                <a:effectLst>
                  <a:outerShdw blurRad="38100" dist="38100" dir="2700000" algn="tl">
                    <a:srgbClr val="000000">
                      <a:alpha val="43137"/>
                    </a:srgbClr>
                  </a:outerShdw>
                </a:effectLst>
              </a:rPr>
              <a:t>, </a:t>
            </a:r>
            <a:r>
              <a:rPr lang="en-US" i="1" u="sng" dirty="0">
                <a:solidFill>
                  <a:srgbClr val="FF0000"/>
                </a:solidFill>
                <a:effectLst>
                  <a:outerShdw blurRad="38100" dist="38100" dir="2700000" algn="tl">
                    <a:srgbClr val="000000">
                      <a:alpha val="43137"/>
                    </a:srgbClr>
                  </a:outerShdw>
                </a:effectLst>
              </a:rPr>
              <a:t>operation</a:t>
            </a:r>
            <a:r>
              <a:rPr lang="en-US" dirty="0">
                <a:solidFill>
                  <a:srgbClr val="FF0000"/>
                </a:solidFill>
                <a:effectLst>
                  <a:outerShdw blurRad="38100" dist="38100" dir="2700000" algn="tl">
                    <a:srgbClr val="000000">
                      <a:alpha val="43137"/>
                    </a:srgbClr>
                  </a:outerShdw>
                </a:effectLst>
              </a:rPr>
              <a:t> or </a:t>
            </a:r>
            <a:r>
              <a:rPr lang="en-US" i="1" u="sng" dirty="0">
                <a:solidFill>
                  <a:srgbClr val="FF0000"/>
                </a:solidFill>
                <a:effectLst>
                  <a:outerShdw blurRad="38100" dist="38100" dir="2700000" algn="tl">
                    <a:srgbClr val="000000">
                      <a:alpha val="43137"/>
                    </a:srgbClr>
                  </a:outerShdw>
                </a:effectLst>
              </a:rPr>
              <a:t>process</a:t>
            </a:r>
            <a:r>
              <a:rPr lang="en-US" dirty="0"/>
              <a:t>) is an activity that leads to the occurrence of </a:t>
            </a:r>
            <a:r>
              <a:rPr lang="en-US" u="sng" dirty="0">
                <a:solidFill>
                  <a:srgbClr val="0000FF"/>
                </a:solidFill>
                <a:effectLst>
                  <a:outerShdw blurRad="38100" dist="38100" dir="2700000" algn="tl">
                    <a:srgbClr val="000000">
                      <a:alpha val="43137"/>
                    </a:srgbClr>
                  </a:outerShdw>
                </a:effectLst>
              </a:rPr>
              <a:t>one and only one of several possible outcomes</a:t>
            </a:r>
            <a:r>
              <a:rPr lang="en-US" dirty="0"/>
              <a:t> </a:t>
            </a:r>
            <a:r>
              <a:rPr lang="en-US" b="1" dirty="0">
                <a:solidFill>
                  <a:srgbClr val="FF0000"/>
                </a:solidFill>
              </a:rPr>
              <a:t>which is not likely to be known until its completion</a:t>
            </a:r>
            <a:r>
              <a:rPr lang="en-US" dirty="0"/>
              <a:t>. It is conducted under homogeneous  conditions.</a:t>
            </a:r>
          </a:p>
          <a:p>
            <a:pPr algn="just">
              <a:buNone/>
            </a:pPr>
            <a:endParaRPr lang="en-US" dirty="0"/>
          </a:p>
          <a:p>
            <a:pPr algn="just"/>
            <a:r>
              <a:rPr lang="en-US" u="sng" dirty="0">
                <a:solidFill>
                  <a:srgbClr val="0000FF"/>
                </a:solidFill>
                <a:effectLst>
                  <a:outerShdw blurRad="38100" dist="38100" dir="2700000" algn="tl">
                    <a:srgbClr val="000000">
                      <a:alpha val="43137"/>
                    </a:srgbClr>
                  </a:outerShdw>
                </a:effectLst>
              </a:rPr>
              <a:t>Few examples of experiments are as follows</a:t>
            </a:r>
            <a:r>
              <a:rPr lang="en-US" dirty="0"/>
              <a:t>:</a:t>
            </a:r>
          </a:p>
          <a:p>
            <a:pPr lvl="0" algn="just"/>
            <a:r>
              <a:rPr lang="en-US" dirty="0"/>
              <a:t>Tossing a coin and observing the face that appears.</a:t>
            </a:r>
          </a:p>
          <a:p>
            <a:pPr lvl="0" algn="just"/>
            <a:r>
              <a:rPr lang="en-US" dirty="0"/>
              <a:t>Testing a product to determine whether it is defective or an acceptable product.</a:t>
            </a:r>
          </a:p>
          <a:p>
            <a:pPr lvl="0" algn="just"/>
            <a:r>
              <a:rPr lang="en-US" dirty="0"/>
              <a:t>Measuring daily rainfall, and so on.</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457200" lvl="1" indent="0" algn="just">
              <a:buNone/>
            </a:pPr>
            <a:r>
              <a:rPr lang="en-US" b="1" dirty="0"/>
              <a:t>TRIAL AND EVENT : </a:t>
            </a:r>
            <a:r>
              <a:rPr lang="en-US" u="sng" dirty="0">
                <a:solidFill>
                  <a:srgbClr val="FF0000"/>
                </a:solidFill>
                <a:effectLst>
                  <a:outerShdw blurRad="38100" dist="38100" dir="2700000" algn="tl">
                    <a:srgbClr val="000000">
                      <a:alpha val="43137"/>
                    </a:srgbClr>
                  </a:outerShdw>
                </a:effectLst>
              </a:rPr>
              <a:t>performing of a Random experiment</a:t>
            </a:r>
            <a:r>
              <a:rPr lang="en-US" dirty="0"/>
              <a:t> </a:t>
            </a:r>
            <a:r>
              <a:rPr lang="en-US" b="1" u="sng" dirty="0">
                <a:solidFill>
                  <a:srgbClr val="0000FF"/>
                </a:solidFill>
                <a:effectLst>
                  <a:outerShdw blurRad="38100" dist="38100" dir="2700000" algn="tl">
                    <a:srgbClr val="000000">
                      <a:alpha val="43137"/>
                    </a:srgbClr>
                  </a:outerShdw>
                </a:effectLst>
              </a:rPr>
              <a:t>is called trial </a:t>
            </a:r>
            <a:r>
              <a:rPr lang="en-US" dirty="0"/>
              <a:t>and the </a:t>
            </a:r>
            <a:r>
              <a:rPr lang="en-US" b="1" u="sng" dirty="0">
                <a:effectLst>
                  <a:outerShdw blurRad="38100" dist="38100" dir="2700000" algn="tl">
                    <a:srgbClr val="000000">
                      <a:alpha val="43137"/>
                    </a:srgbClr>
                  </a:outerShdw>
                </a:effectLst>
              </a:rPr>
              <a:t>outcome is called an event</a:t>
            </a:r>
            <a:r>
              <a:rPr lang="en-US" dirty="0"/>
              <a:t>.</a:t>
            </a:r>
          </a:p>
          <a:p>
            <a:pPr marL="457200" lvl="1" indent="0" algn="just">
              <a:buNone/>
            </a:pPr>
            <a:r>
              <a:rPr lang="en-US" dirty="0"/>
              <a:t>Each experiment may result in one or more outcomes, which are called </a:t>
            </a:r>
            <a:r>
              <a:rPr lang="en-US" b="1" dirty="0"/>
              <a:t>events</a:t>
            </a:r>
            <a:r>
              <a:rPr lang="en-US" dirty="0"/>
              <a:t> </a:t>
            </a:r>
          </a:p>
          <a:p>
            <a:pPr marL="457200" lvl="1" indent="0" algn="just">
              <a:buNone/>
            </a:pPr>
            <a:endParaRPr lang="en-US" b="1" dirty="0"/>
          </a:p>
          <a:p>
            <a:pPr algn="just"/>
            <a:r>
              <a:rPr lang="en-US" b="1" dirty="0"/>
              <a:t>Sample space:</a:t>
            </a:r>
            <a:r>
              <a:rPr lang="en-US" dirty="0"/>
              <a:t> The </a:t>
            </a:r>
            <a:r>
              <a:rPr lang="en-US" b="1" u="sng" dirty="0">
                <a:solidFill>
                  <a:srgbClr val="0000FF"/>
                </a:solidFill>
                <a:effectLst>
                  <a:outerShdw blurRad="38100" dist="38100" dir="2700000" algn="tl">
                    <a:srgbClr val="000000">
                      <a:alpha val="43137"/>
                    </a:srgbClr>
                  </a:outerShdw>
                </a:effectLst>
              </a:rPr>
              <a:t>set of all possible outcomes</a:t>
            </a:r>
            <a:r>
              <a:rPr lang="en-US" dirty="0"/>
              <a:t> or </a:t>
            </a:r>
            <a:r>
              <a:rPr lang="en-US" b="1" u="sng" dirty="0">
                <a:solidFill>
                  <a:srgbClr val="0000FF"/>
                </a:solidFill>
                <a:effectLst>
                  <a:outerShdw blurRad="38100" dist="38100" dir="2700000" algn="tl">
                    <a:srgbClr val="000000">
                      <a:alpha val="43137"/>
                    </a:srgbClr>
                  </a:outerShdw>
                </a:effectLst>
              </a:rPr>
              <a:t>simple events</a:t>
            </a:r>
            <a:r>
              <a:rPr lang="en-US" dirty="0"/>
              <a:t> of a given experiment.</a:t>
            </a:r>
          </a:p>
          <a:p>
            <a:pPr algn="just"/>
            <a:r>
              <a:rPr lang="en-US" dirty="0"/>
              <a:t>Sample space is denoted by the capital letter </a:t>
            </a:r>
            <a:r>
              <a:rPr lang="en-US" b="1" dirty="0">
                <a:solidFill>
                  <a:srgbClr val="FF0000"/>
                </a:solidFill>
              </a:rPr>
              <a:t>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85000" lnSpcReduction="20000"/>
          </a:bodyPr>
          <a:lstStyle/>
          <a:p>
            <a:pPr marL="0" indent="0" algn="just">
              <a:buNone/>
            </a:pPr>
            <a:r>
              <a:rPr lang="en-US" b="1" u="heavy" dirty="0"/>
              <a:t>MUTUALLY EXCLUSIVE EVENTS</a:t>
            </a:r>
            <a:r>
              <a:rPr lang="en-US" dirty="0"/>
              <a:t> </a:t>
            </a:r>
          </a:p>
          <a:p>
            <a:pPr marL="0" indent="0" algn="just">
              <a:buNone/>
            </a:pPr>
            <a:r>
              <a:rPr lang="en-US" dirty="0"/>
              <a:t>If </a:t>
            </a:r>
            <a:r>
              <a:rPr lang="en-US" b="1" u="sng" dirty="0">
                <a:solidFill>
                  <a:srgbClr val="FF0000"/>
                </a:solidFill>
                <a:effectLst>
                  <a:outerShdw blurRad="38100" dist="38100" dir="2700000" algn="tl">
                    <a:srgbClr val="000000">
                      <a:alpha val="43137"/>
                    </a:srgbClr>
                  </a:outerShdw>
                </a:effectLst>
              </a:rPr>
              <a:t>two or more events</a:t>
            </a:r>
            <a:r>
              <a:rPr lang="en-US" b="1" dirty="0">
                <a:solidFill>
                  <a:srgbClr val="FF0000"/>
                </a:solidFill>
                <a:effectLst>
                  <a:outerShdw blurRad="38100" dist="38100" dir="2700000" algn="tl">
                    <a:srgbClr val="000000">
                      <a:alpha val="43137"/>
                    </a:srgbClr>
                  </a:outerShdw>
                </a:effectLst>
              </a:rPr>
              <a:t> </a:t>
            </a:r>
            <a:r>
              <a:rPr lang="en-US" b="1" u="sng" dirty="0">
                <a:solidFill>
                  <a:srgbClr val="0000FF"/>
                </a:solidFill>
              </a:rPr>
              <a:t>cannot occur simultaneously</a:t>
            </a:r>
            <a:r>
              <a:rPr lang="en-US" dirty="0"/>
              <a:t> </a:t>
            </a:r>
            <a:r>
              <a:rPr lang="en-US" b="1" u="dbl" dirty="0">
                <a:effectLst>
                  <a:outerShdw blurRad="38100" dist="38100" dir="2700000" algn="tl">
                    <a:srgbClr val="000000">
                      <a:alpha val="43137"/>
                    </a:srgbClr>
                  </a:outerShdw>
                </a:effectLst>
                <a:uFill>
                  <a:solidFill>
                    <a:srgbClr val="FF0000"/>
                  </a:solidFill>
                </a:uFill>
              </a:rPr>
              <a:t>in a single trial </a:t>
            </a:r>
            <a:r>
              <a:rPr lang="en-US" b="1" dirty="0">
                <a:solidFill>
                  <a:srgbClr val="00B050"/>
                </a:solidFill>
                <a:effectLst>
                  <a:outerShdw blurRad="38100" dist="38100" dir="2700000" algn="tl">
                    <a:srgbClr val="000000">
                      <a:alpha val="43137"/>
                    </a:srgbClr>
                  </a:outerShdw>
                </a:effectLst>
              </a:rPr>
              <a:t>of an experiment</a:t>
            </a:r>
            <a:r>
              <a:rPr lang="en-US" dirty="0"/>
              <a:t>, then such events are called mutually exclusive events or disjoint events. </a:t>
            </a:r>
          </a:p>
          <a:p>
            <a:pPr marL="0" indent="0" algn="just">
              <a:buNone/>
            </a:pPr>
            <a:endParaRPr lang="en-US" dirty="0"/>
          </a:p>
          <a:p>
            <a:pPr marL="0" indent="0" algn="just">
              <a:buNone/>
            </a:pPr>
            <a:r>
              <a:rPr lang="en-US" dirty="0"/>
              <a:t>In other words, two events are mutually exclusive if the </a:t>
            </a:r>
            <a:r>
              <a:rPr lang="en-US" b="1" u="sng" dirty="0">
                <a:effectLst>
                  <a:outerShdw blurRad="38100" dist="38100" dir="2700000" algn="tl">
                    <a:srgbClr val="000000">
                      <a:alpha val="43137"/>
                    </a:srgbClr>
                  </a:outerShdw>
                </a:effectLst>
              </a:rPr>
              <a:t>occurrence of one of them</a:t>
            </a:r>
            <a:r>
              <a:rPr lang="en-US" dirty="0"/>
              <a:t> </a:t>
            </a:r>
            <a:r>
              <a:rPr lang="en-US" b="1" u="sng" dirty="0">
                <a:solidFill>
                  <a:srgbClr val="FF0000"/>
                </a:solidFill>
              </a:rPr>
              <a:t>prevents</a:t>
            </a:r>
            <a:r>
              <a:rPr lang="en-US" dirty="0"/>
              <a:t> or </a:t>
            </a:r>
            <a:r>
              <a:rPr lang="en-US" b="1" u="sng" dirty="0">
                <a:solidFill>
                  <a:srgbClr val="FF0000"/>
                </a:solidFill>
                <a:effectLst>
                  <a:outerShdw blurRad="38100" dist="38100" dir="2700000" algn="tl">
                    <a:srgbClr val="000000">
                      <a:alpha val="43137"/>
                    </a:srgbClr>
                  </a:outerShdw>
                </a:effectLst>
              </a:rPr>
              <a:t>rules ou</a:t>
            </a:r>
            <a:r>
              <a:rPr lang="en-US" i="1" u="sng" dirty="0">
                <a:solidFill>
                  <a:srgbClr val="FF0000"/>
                </a:solidFill>
                <a:effectLst>
                  <a:outerShdw blurRad="38100" dist="38100" dir="2700000" algn="tl">
                    <a:srgbClr val="000000">
                      <a:alpha val="43137"/>
                    </a:srgbClr>
                  </a:outerShdw>
                </a:effectLst>
              </a:rPr>
              <a:t>t</a:t>
            </a:r>
            <a:r>
              <a:rPr lang="en-US" dirty="0"/>
              <a:t> the </a:t>
            </a:r>
            <a:r>
              <a:rPr lang="en-US" b="1" u="sng" dirty="0">
                <a:effectLst>
                  <a:outerShdw blurRad="38100" dist="38100" dir="2700000" algn="tl">
                    <a:srgbClr val="000000">
                      <a:alpha val="43137"/>
                    </a:srgbClr>
                  </a:outerShdw>
                </a:effectLst>
              </a:rPr>
              <a:t>occurrence of the other</a:t>
            </a:r>
            <a:r>
              <a:rPr lang="en-US" dirty="0"/>
              <a:t>. </a:t>
            </a:r>
          </a:p>
          <a:p>
            <a:pPr marL="0" indent="0" algn="just">
              <a:buNone/>
            </a:pPr>
            <a:endParaRPr lang="en-US" b="1" i="1" dirty="0">
              <a:effectLst>
                <a:outerShdw blurRad="38100" dist="38100" dir="2700000" algn="tl">
                  <a:srgbClr val="000000">
                    <a:alpha val="43137"/>
                  </a:srgbClr>
                </a:outerShdw>
              </a:effectLst>
            </a:endParaRPr>
          </a:p>
          <a:p>
            <a:pPr marL="0" indent="0" algn="just">
              <a:buNone/>
            </a:pPr>
            <a:r>
              <a:rPr lang="en-US" b="1" i="1" dirty="0">
                <a:effectLst>
                  <a:outerShdw blurRad="38100" dist="38100" dir="2700000" algn="tl">
                    <a:srgbClr val="000000">
                      <a:alpha val="43137"/>
                    </a:srgbClr>
                  </a:outerShdw>
                </a:effectLst>
              </a:rPr>
              <a:t>For example</a:t>
            </a:r>
            <a:r>
              <a:rPr lang="en-US" dirty="0"/>
              <a:t>, </a:t>
            </a:r>
            <a:r>
              <a:rPr lang="en-US" u="sng" dirty="0">
                <a:solidFill>
                  <a:srgbClr val="FF00FF"/>
                </a:solidFill>
                <a:effectLst>
                  <a:outerShdw blurRad="38100" dist="38100" dir="2700000" algn="tl">
                    <a:srgbClr val="000000">
                      <a:alpha val="43137"/>
                    </a:srgbClr>
                  </a:outerShdw>
                </a:effectLst>
              </a:rPr>
              <a:t>the </a:t>
            </a:r>
            <a:r>
              <a:rPr lang="en-US" u="sng" dirty="0">
                <a:solidFill>
                  <a:srgbClr val="FF00FF"/>
                </a:solidFill>
                <a:effectLst>
                  <a:outerShdw blurRad="38100" dist="38100" dir="2700000" algn="tl">
                    <a:srgbClr val="000000">
                      <a:alpha val="43137"/>
                    </a:srgbClr>
                  </a:outerShdw>
                </a:effectLst>
                <a:uFill>
                  <a:solidFill>
                    <a:srgbClr val="FF0000"/>
                  </a:solidFill>
                </a:uFill>
              </a:rPr>
              <a:t>numbers 2 and 3 </a:t>
            </a:r>
            <a:r>
              <a:rPr lang="en-US" u="sng" dirty="0">
                <a:solidFill>
                  <a:srgbClr val="FF00FF"/>
                </a:solidFill>
                <a:effectLst>
                  <a:outerShdw blurRad="38100" dist="38100" dir="2700000" algn="tl">
                    <a:srgbClr val="000000">
                      <a:alpha val="43137"/>
                    </a:srgbClr>
                  </a:outerShdw>
                </a:effectLst>
              </a:rPr>
              <a:t>cannot occur simultaneously on the roll of a dice.</a:t>
            </a:r>
          </a:p>
          <a:p>
            <a:pPr marL="0" indent="0" algn="just">
              <a:buNone/>
            </a:pPr>
            <a:endParaRPr lang="en-US" dirty="0"/>
          </a:p>
          <a:p>
            <a:pPr marL="0" indent="0" algn="just">
              <a:buNone/>
            </a:pPr>
            <a:r>
              <a:rPr lang="en-US" b="1" u="sng" dirty="0">
                <a:effectLst>
                  <a:outerShdw blurRad="38100" dist="38100" dir="2700000" algn="tl">
                    <a:srgbClr val="000000">
                      <a:alpha val="43137"/>
                    </a:srgbClr>
                  </a:outerShdw>
                </a:effectLst>
              </a:rPr>
              <a:t>COLLECTIVELY EXHAUSTIVE EVENTS</a:t>
            </a:r>
            <a:r>
              <a:rPr lang="en-US" dirty="0"/>
              <a:t> </a:t>
            </a:r>
          </a:p>
          <a:p>
            <a:pPr marL="0" indent="0" algn="just">
              <a:buNone/>
            </a:pPr>
            <a:r>
              <a:rPr lang="en-US" dirty="0"/>
              <a:t>A  </a:t>
            </a:r>
            <a:r>
              <a:rPr lang="en-US" b="1" u="dbl" dirty="0">
                <a:solidFill>
                  <a:srgbClr val="FF0000"/>
                </a:solidFill>
                <a:effectLst>
                  <a:outerShdw blurRad="38100" dist="38100" dir="2700000" algn="tl">
                    <a:srgbClr val="000000">
                      <a:alpha val="43137"/>
                    </a:srgbClr>
                  </a:outerShdw>
                </a:effectLst>
                <a:uFill>
                  <a:solidFill>
                    <a:srgbClr val="0000FF"/>
                  </a:solidFill>
                </a:uFill>
              </a:rPr>
              <a:t>total number of possible outcomes</a:t>
            </a:r>
            <a:r>
              <a:rPr lang="en-US" dirty="0"/>
              <a:t> of an Random experiment is called </a:t>
            </a:r>
            <a:r>
              <a:rPr lang="en-US" b="1" u="sng" dirty="0">
                <a:effectLst>
                  <a:outerShdw blurRad="38100" dist="38100" dir="2700000" algn="tl">
                    <a:srgbClr val="000000">
                      <a:alpha val="43137"/>
                    </a:srgbClr>
                  </a:outerShdw>
                </a:effectLst>
              </a:rPr>
              <a:t>exhaustive event</a:t>
            </a:r>
            <a:r>
              <a:rPr lang="en-US" dirty="0"/>
              <a:t>. </a:t>
            </a:r>
          </a:p>
          <a:p>
            <a:pPr marL="0" indent="0" algn="just">
              <a:buNone/>
            </a:pPr>
            <a:r>
              <a:rPr lang="en-US" b="1" i="1" u="sng" dirty="0">
                <a:effectLst>
                  <a:outerShdw blurRad="38100" dist="38100" dir="2700000" algn="tl">
                    <a:srgbClr val="000000">
                      <a:alpha val="43137"/>
                    </a:srgbClr>
                  </a:outerShdw>
                </a:effectLst>
              </a:rPr>
              <a:t>Ex:</a:t>
            </a:r>
            <a:r>
              <a:rPr lang="en-US" b="1" i="1" dirty="0">
                <a:effectLst>
                  <a:outerShdw blurRad="38100" dist="38100" dir="2700000" algn="tl">
                    <a:srgbClr val="000000">
                      <a:alpha val="43137"/>
                    </a:srgbClr>
                  </a:outerShdw>
                </a:effectLst>
              </a:rPr>
              <a:t> </a:t>
            </a:r>
            <a:r>
              <a:rPr lang="en-US" dirty="0"/>
              <a:t>if a coin is tossed we get either H or T …. Hence exhaustive number of cases are two.</a:t>
            </a:r>
          </a:p>
          <a:p>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8229600" cy="4525963"/>
          </a:xfrm>
        </p:spPr>
        <p:txBody>
          <a:bodyPr/>
          <a:lstStyle/>
          <a:p>
            <a:pPr algn="just"/>
            <a:r>
              <a:rPr lang="en-US" b="1" dirty="0"/>
              <a:t>Independent and Dependent Events</a:t>
            </a:r>
            <a:r>
              <a:rPr lang="en-US" dirty="0"/>
              <a:t> Two events are said to be </a:t>
            </a:r>
            <a:r>
              <a:rPr lang="en-US" i="1" dirty="0"/>
              <a:t>independent</a:t>
            </a:r>
            <a:r>
              <a:rPr lang="en-US" dirty="0"/>
              <a:t> if information about one tells nothing about the occurrence of the other.</a:t>
            </a:r>
          </a:p>
          <a:p>
            <a:pPr algn="just"/>
            <a:endParaRPr lang="en-US" dirty="0"/>
          </a:p>
          <a:p>
            <a:pPr algn="just"/>
            <a:r>
              <a:rPr lang="en-US" dirty="0"/>
              <a:t>However, two or more events are said to be dependent if information about one tells something about the other.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781800"/>
          </a:xfrm>
        </p:spPr>
        <p:txBody>
          <a:bodyPr>
            <a:normAutofit fontScale="85000" lnSpcReduction="10000"/>
          </a:bodyPr>
          <a:lstStyle/>
          <a:p>
            <a:pPr marL="0" indent="0" algn="just">
              <a:buNone/>
            </a:pPr>
            <a:r>
              <a:rPr lang="en-US" b="1" u="sng" dirty="0">
                <a:solidFill>
                  <a:srgbClr val="FF0000"/>
                </a:solidFill>
                <a:effectLst>
                  <a:outerShdw blurRad="38100" dist="38100" dir="2700000" algn="tl">
                    <a:srgbClr val="000000">
                      <a:alpha val="43137"/>
                    </a:srgbClr>
                  </a:outerShdw>
                </a:effectLst>
              </a:rPr>
              <a:t>PROBABILITY</a:t>
            </a:r>
          </a:p>
          <a:p>
            <a:pPr algn="just"/>
            <a:r>
              <a:rPr lang="en-US" dirty="0"/>
              <a:t>A general definition of probability states that </a:t>
            </a:r>
            <a:r>
              <a:rPr lang="en-US" b="1" dirty="0"/>
              <a:t>probability</a:t>
            </a:r>
            <a:r>
              <a:rPr lang="en-US" dirty="0"/>
              <a:t> is a numerical measure </a:t>
            </a:r>
            <a:r>
              <a:rPr lang="en-US" u="sng" dirty="0">
                <a:solidFill>
                  <a:srgbClr val="0000FF"/>
                </a:solidFill>
                <a:effectLst>
                  <a:outerShdw blurRad="38100" dist="38100" dir="2700000" algn="tl">
                    <a:srgbClr val="000000">
                      <a:alpha val="43137"/>
                    </a:srgbClr>
                  </a:outerShdw>
                </a:effectLst>
              </a:rPr>
              <a:t>(between 0 and 1 inclusively)</a:t>
            </a:r>
            <a:r>
              <a:rPr lang="en-US" dirty="0"/>
              <a:t> of the likelihood or chance of occurrence </a:t>
            </a:r>
            <a:r>
              <a:rPr lang="en-US" b="1" u="sng" dirty="0">
                <a:effectLst>
                  <a:outerShdw blurRad="38100" dist="38100" dir="2700000" algn="tl">
                    <a:srgbClr val="000000">
                      <a:alpha val="43137"/>
                    </a:srgbClr>
                  </a:outerShdw>
                </a:effectLst>
              </a:rPr>
              <a:t>of an uncertain event</a:t>
            </a:r>
            <a:r>
              <a:rPr lang="en-US" dirty="0"/>
              <a:t>.</a:t>
            </a:r>
          </a:p>
          <a:p>
            <a:pPr marL="0" indent="0" algn="just">
              <a:buNone/>
            </a:pPr>
            <a:endParaRPr lang="en-US" dirty="0"/>
          </a:p>
          <a:p>
            <a:pPr algn="just"/>
            <a:r>
              <a:rPr lang="en-US" dirty="0"/>
              <a:t>If there </a:t>
            </a:r>
          </a:p>
          <a:p>
            <a:pPr algn="just"/>
            <a:r>
              <a:rPr lang="en-US" b="1" i="1" u="sng" dirty="0">
                <a:effectLst>
                  <a:outerShdw blurRad="38100" dist="38100" dir="2700000" algn="tl">
                    <a:srgbClr val="000000">
                      <a:alpha val="43137"/>
                    </a:srgbClr>
                  </a:outerShdw>
                </a:effectLst>
              </a:rPr>
              <a:t>are </a:t>
            </a:r>
            <a:r>
              <a:rPr lang="en-US" sz="3900" b="1" i="1" u="sng" dirty="0">
                <a:solidFill>
                  <a:srgbClr val="0000FF"/>
                </a:solidFill>
                <a:effectLst>
                  <a:outerShdw blurRad="38100" dist="38100" dir="2700000" algn="tl">
                    <a:srgbClr val="000000">
                      <a:alpha val="43137"/>
                    </a:srgbClr>
                  </a:outerShdw>
                </a:effectLst>
              </a:rPr>
              <a:t>n</a:t>
            </a:r>
            <a:r>
              <a:rPr lang="en-US" b="1" i="1" u="sng" dirty="0">
                <a:effectLst>
                  <a:outerShdw blurRad="38100" dist="38100" dir="2700000" algn="tl">
                    <a:srgbClr val="000000">
                      <a:alpha val="43137"/>
                    </a:srgbClr>
                  </a:outerShdw>
                </a:effectLst>
              </a:rPr>
              <a:t> mutually  </a:t>
            </a:r>
            <a:r>
              <a:rPr lang="en-US" b="1" i="1" u="sng" dirty="0">
                <a:solidFill>
                  <a:srgbClr val="0000FF"/>
                </a:solidFill>
                <a:effectLst>
                  <a:outerShdw blurRad="38100" dist="38100" dir="2700000" algn="tl">
                    <a:srgbClr val="000000">
                      <a:alpha val="43137"/>
                    </a:srgbClr>
                  </a:outerShdw>
                </a:effectLst>
              </a:rPr>
              <a:t>exhaustive</a:t>
            </a:r>
            <a:r>
              <a:rPr lang="en-US" b="1" i="1" u="sng" dirty="0">
                <a:effectLst>
                  <a:outerShdw blurRad="38100" dist="38100" dir="2700000" algn="tl">
                    <a:srgbClr val="000000">
                      <a:alpha val="43137"/>
                    </a:srgbClr>
                  </a:outerShdw>
                </a:effectLst>
              </a:rPr>
              <a:t> and equally likely</a:t>
            </a:r>
            <a:r>
              <a:rPr lang="en-US" b="1" i="1" dirty="0">
                <a:effectLst>
                  <a:outerShdw blurRad="38100" dist="38100" dir="2700000" algn="tl">
                    <a:srgbClr val="000000">
                      <a:alpha val="43137"/>
                    </a:srgbClr>
                  </a:outerShdw>
                </a:effectLst>
              </a:rPr>
              <a:t> </a:t>
            </a:r>
            <a:r>
              <a:rPr lang="en-US" b="1" i="1" u="sng" dirty="0">
                <a:effectLst>
                  <a:outerShdw blurRad="38100" dist="38100" dir="2700000" algn="tl">
                    <a:srgbClr val="000000">
                      <a:alpha val="43137"/>
                    </a:srgbClr>
                  </a:outerShdw>
                </a:effectLst>
              </a:rPr>
              <a:t>outcomes</a:t>
            </a:r>
            <a:r>
              <a:rPr lang="en-US" dirty="0"/>
              <a:t> of an experiment and </a:t>
            </a:r>
          </a:p>
          <a:p>
            <a:pPr algn="just"/>
            <a:r>
              <a:rPr lang="en-US" dirty="0"/>
              <a:t>if </a:t>
            </a:r>
            <a:r>
              <a:rPr lang="en-US" sz="4200" b="1" i="1" u="sng" dirty="0">
                <a:solidFill>
                  <a:srgbClr val="FF0000"/>
                </a:solidFill>
              </a:rPr>
              <a:t>m</a:t>
            </a:r>
            <a:r>
              <a:rPr lang="en-US" b="1" u="sng" dirty="0">
                <a:solidFill>
                  <a:srgbClr val="FF0000"/>
                </a:solidFill>
              </a:rPr>
              <a:t> </a:t>
            </a:r>
            <a:r>
              <a:rPr lang="en-US" b="1" u="sng" dirty="0">
                <a:solidFill>
                  <a:srgbClr val="0000FF"/>
                </a:solidFill>
              </a:rPr>
              <a:t>of them are </a:t>
            </a:r>
            <a:r>
              <a:rPr lang="en-US" b="1" u="sng" dirty="0">
                <a:solidFill>
                  <a:srgbClr val="FF0000"/>
                </a:solidFill>
              </a:rPr>
              <a:t>favorable</a:t>
            </a:r>
            <a:r>
              <a:rPr lang="en-US" dirty="0"/>
              <a:t> to an event </a:t>
            </a:r>
            <a:r>
              <a:rPr lang="en-US" sz="4200" b="1" dirty="0">
                <a:solidFill>
                  <a:srgbClr val="FF0000"/>
                </a:solidFill>
              </a:rPr>
              <a:t>A</a:t>
            </a:r>
            <a:r>
              <a:rPr lang="en-US" dirty="0"/>
              <a:t>, then the probability of occurrence of </a:t>
            </a:r>
            <a:r>
              <a:rPr lang="en-US" sz="4200" dirty="0">
                <a:solidFill>
                  <a:srgbClr val="FF0000"/>
                </a:solidFill>
              </a:rPr>
              <a:t>A</a:t>
            </a:r>
            <a:r>
              <a:rPr lang="en-US" dirty="0"/>
              <a:t> is </a:t>
            </a:r>
            <a:r>
              <a:rPr lang="en-US" dirty="0" err="1"/>
              <a:t>dentoed</a:t>
            </a:r>
            <a:r>
              <a:rPr lang="en-US" dirty="0"/>
              <a:t> by </a:t>
            </a:r>
            <a:r>
              <a:rPr lang="en-US" b="1" dirty="0">
                <a:solidFill>
                  <a:srgbClr val="0070C0"/>
                </a:solidFill>
              </a:rPr>
              <a:t>P(A) =  is defined as the ratio </a:t>
            </a:r>
            <a:r>
              <a:rPr lang="en-US" sz="3500" b="1" dirty="0">
                <a:solidFill>
                  <a:srgbClr val="FF00FF"/>
                </a:solidFill>
                <a:effectLst>
                  <a:outerShdw blurRad="38100" dist="38100" dir="2700000" algn="tl">
                    <a:srgbClr val="000000">
                      <a:alpha val="43137"/>
                    </a:srgbClr>
                  </a:outerShdw>
                </a:effectLst>
              </a:rPr>
              <a:t>m / n </a:t>
            </a:r>
            <a:endParaRPr lang="en-US" b="1" dirty="0">
              <a:solidFill>
                <a:srgbClr val="FF00FF"/>
              </a:solidFill>
              <a:effectLst>
                <a:outerShdw blurRad="38100" dist="38100" dir="2700000" algn="tl">
                  <a:srgbClr val="000000">
                    <a:alpha val="43137"/>
                  </a:srgbClr>
                </a:outerShdw>
              </a:effectLst>
            </a:endParaRPr>
          </a:p>
          <a:p>
            <a:pPr marL="0" indent="0" algn="just">
              <a:buNone/>
            </a:pPr>
            <a:endParaRPr lang="en-US" b="1" dirty="0">
              <a:solidFill>
                <a:srgbClr val="0070C0"/>
              </a:solidFill>
            </a:endParaRPr>
          </a:p>
          <a:p>
            <a:pPr algn="just"/>
            <a:r>
              <a:rPr lang="en-US" dirty="0">
                <a:solidFill>
                  <a:schemeClr val="accent2"/>
                </a:solidFill>
              </a:rPr>
              <a:t>THE PROBABILITY OF THE OCCURRENCE of an event A is expressed as:                 </a:t>
            </a:r>
          </a:p>
          <a:p>
            <a:pPr algn="just"/>
            <a:r>
              <a:rPr lang="en-US" b="1" dirty="0">
                <a:solidFill>
                  <a:srgbClr val="0070C0"/>
                </a:solidFill>
              </a:rPr>
              <a:t>P(A) = probability of event A occurrence</a:t>
            </a:r>
          </a:p>
          <a:p>
            <a:pPr algn="just"/>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20000"/>
          </a:bodyPr>
          <a:lstStyle/>
          <a:p>
            <a:pPr marL="0" indent="0">
              <a:buNone/>
            </a:pPr>
            <a:r>
              <a:rPr lang="en-US" b="1" dirty="0">
                <a:solidFill>
                  <a:srgbClr val="FF0000"/>
                </a:solidFill>
                <a:effectLst>
                  <a:outerShdw blurRad="38100" dist="38100" dir="2700000" algn="tl">
                    <a:srgbClr val="000000">
                      <a:alpha val="43137"/>
                    </a:srgbClr>
                  </a:outerShdw>
                </a:effectLst>
              </a:rPr>
              <a:t>1st Law </a:t>
            </a:r>
          </a:p>
          <a:p>
            <a:pPr marL="0" indent="0" algn="just">
              <a:buNone/>
            </a:pPr>
            <a:r>
              <a:rPr lang="en-US" dirty="0"/>
              <a:t>If p is the probability of event A and q is the probability of its complementary event A , then           p = 1 – q or P (A) = 1 – P ( Ā )</a:t>
            </a:r>
          </a:p>
          <a:p>
            <a:pPr marL="0" indent="0" algn="just">
              <a:buNone/>
            </a:pPr>
            <a:endParaRPr lang="en-US" dirty="0"/>
          </a:p>
          <a:p>
            <a:pPr marL="0" indent="0" algn="just">
              <a:buNone/>
            </a:pPr>
            <a:r>
              <a:rPr lang="en-US" b="1" dirty="0">
                <a:solidFill>
                  <a:srgbClr val="FF0000"/>
                </a:solidFill>
                <a:effectLst>
                  <a:outerShdw blurRad="38100" dist="38100" dir="2700000" algn="tl">
                    <a:srgbClr val="000000">
                      <a:alpha val="43137"/>
                    </a:srgbClr>
                  </a:outerShdw>
                </a:effectLst>
              </a:rPr>
              <a:t>2nd Law </a:t>
            </a:r>
            <a:r>
              <a:rPr lang="en-US" dirty="0"/>
              <a:t>(Law of Addition) </a:t>
            </a:r>
          </a:p>
          <a:p>
            <a:pPr marL="0" indent="0" algn="just">
              <a:buNone/>
            </a:pPr>
            <a:r>
              <a:rPr lang="en-US" dirty="0"/>
              <a:t>If A and B are two mutually exclusive events with probabilities P1 and p2 respectively, then </a:t>
            </a:r>
          </a:p>
          <a:p>
            <a:pPr marL="0" indent="0" algn="just">
              <a:buNone/>
            </a:pPr>
            <a:r>
              <a:rPr lang="en-US" dirty="0"/>
              <a:t>• the probability of either of them (A or B) is equal to the sum of their individual probabilities. i.e., p = p1 + P2 or P (A or B) = P (A) + P (B)</a:t>
            </a:r>
          </a:p>
          <a:p>
            <a:pPr marL="0" indent="0" algn="just">
              <a:buNone/>
            </a:pPr>
            <a:endParaRPr lang="en-US" dirty="0"/>
          </a:p>
          <a:p>
            <a:pPr marL="0" indent="0" algn="just">
              <a:buNone/>
            </a:pPr>
            <a:r>
              <a:rPr lang="en-US" b="1" dirty="0">
                <a:solidFill>
                  <a:srgbClr val="FF0000"/>
                </a:solidFill>
                <a:effectLst>
                  <a:outerShdw blurRad="38100" dist="38100" dir="2700000" algn="tl">
                    <a:srgbClr val="000000">
                      <a:alpha val="43137"/>
                    </a:srgbClr>
                  </a:outerShdw>
                </a:effectLst>
              </a:rPr>
              <a:t>3rd Law </a:t>
            </a:r>
          </a:p>
          <a:p>
            <a:pPr marL="0" indent="0" algn="just">
              <a:buNone/>
            </a:pPr>
            <a:r>
              <a:rPr lang="en-US" dirty="0"/>
              <a:t>If A1, A2, A3, ..., </a:t>
            </a:r>
            <a:r>
              <a:rPr lang="en-US" b="1" i="1" dirty="0">
                <a:effectLst>
                  <a:outerShdw blurRad="38100" dist="38100" dir="2700000" algn="tl">
                    <a:srgbClr val="000000">
                      <a:alpha val="43137"/>
                    </a:srgbClr>
                  </a:outerShdw>
                </a:effectLst>
              </a:rPr>
              <a:t>A</a:t>
            </a:r>
            <a:r>
              <a:rPr lang="en-US" sz="3900" b="1" i="1" baseline="-25000" dirty="0">
                <a:effectLst>
                  <a:outerShdw blurRad="38100" dist="38100" dir="2700000" algn="tl">
                    <a:srgbClr val="000000">
                      <a:alpha val="43137"/>
                    </a:srgbClr>
                  </a:outerShdw>
                </a:effectLst>
              </a:rPr>
              <a:t>n</a:t>
            </a:r>
            <a:r>
              <a:rPr lang="en-US" baseline="-25000" dirty="0"/>
              <a:t> </a:t>
            </a:r>
            <a:r>
              <a:rPr lang="en-US" dirty="0"/>
              <a:t>are n mutually exclusive and exhaustive events with probabilities p1, p2, ….  </a:t>
            </a:r>
            <a:r>
              <a:rPr lang="en-US" dirty="0" err="1"/>
              <a:t>p</a:t>
            </a:r>
            <a:r>
              <a:rPr lang="en-US" baseline="-25000" dirty="0" err="1"/>
              <a:t>n</a:t>
            </a:r>
            <a:r>
              <a:rPr lang="en-US" dirty="0"/>
              <a:t> respectively, then P1 + P2+ P3+ ... + </a:t>
            </a:r>
            <a:r>
              <a:rPr lang="en-US" dirty="0" err="1"/>
              <a:t>P</a:t>
            </a:r>
            <a:r>
              <a:rPr lang="en-US" baseline="-25000" dirty="0" err="1"/>
              <a:t>n</a:t>
            </a:r>
            <a:r>
              <a:rPr lang="en-US" dirty="0"/>
              <a:t> = 1. </a:t>
            </a:r>
          </a:p>
          <a:p>
            <a:pPr marL="0" indent="0" algn="just">
              <a:buNone/>
            </a:pPr>
            <a:endParaRPr lang="en-US" b="1" dirty="0">
              <a:solidFill>
                <a:srgbClr val="FF0000"/>
              </a:solidFill>
              <a:effectLst>
                <a:outerShdw blurRad="38100" dist="38100" dir="2700000" algn="tl">
                  <a:srgbClr val="000000">
                    <a:alpha val="43137"/>
                  </a:srgbClr>
                </a:outerShdw>
              </a:effectLst>
            </a:endParaRPr>
          </a:p>
          <a:p>
            <a:pPr marL="0" indent="0" algn="just">
              <a:buNone/>
            </a:pPr>
            <a:endParaRPr lang="en-US" dirty="0"/>
          </a:p>
          <a:p>
            <a:endParaRPr lang="en-US" dirty="0"/>
          </a:p>
        </p:txBody>
      </p:sp>
    </p:spTree>
    <p:extLst>
      <p:ext uri="{BB962C8B-B14F-4D97-AF65-F5344CB8AC3E}">
        <p14:creationId xmlns:p14="http://schemas.microsoft.com/office/powerpoint/2010/main" val="3548748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marL="0" indent="0" algn="just">
              <a:buNone/>
            </a:pPr>
            <a:r>
              <a:rPr lang="en-US" sz="3300" b="1" dirty="0">
                <a:solidFill>
                  <a:srgbClr val="FF0000"/>
                </a:solidFill>
                <a:effectLst>
                  <a:outerShdw blurRad="38100" dist="38100" dir="2700000" algn="tl">
                    <a:srgbClr val="000000">
                      <a:alpha val="43137"/>
                    </a:srgbClr>
                  </a:outerShdw>
                </a:effectLst>
              </a:rPr>
              <a:t>4th Law </a:t>
            </a:r>
          </a:p>
          <a:p>
            <a:pPr marL="0" indent="0" algn="just">
              <a:buNone/>
            </a:pPr>
            <a:r>
              <a:rPr lang="en-US" sz="3300" dirty="0"/>
              <a:t>If two events A and B are mutually independent with individual probabilities p1 and p2 respectively, then the probability </a:t>
            </a:r>
            <a:r>
              <a:rPr lang="en-US" sz="4700" b="1" dirty="0">
                <a:solidFill>
                  <a:srgbClr val="FF0000"/>
                </a:solidFill>
                <a:effectLst>
                  <a:outerShdw blurRad="38100" dist="38100" dir="2700000" algn="tl">
                    <a:srgbClr val="000000">
                      <a:alpha val="43137"/>
                    </a:srgbClr>
                  </a:outerShdw>
                </a:effectLst>
              </a:rPr>
              <a:t>p</a:t>
            </a:r>
            <a:r>
              <a:rPr lang="en-US" sz="3300" dirty="0"/>
              <a:t> of their simultaneous occurrence is equal to the product of their individual probabilities. i.e., </a:t>
            </a:r>
          </a:p>
          <a:p>
            <a:pPr marL="0" indent="0" algn="just">
              <a:buNone/>
            </a:pPr>
            <a:r>
              <a:rPr lang="en-US" sz="3500" b="1" dirty="0">
                <a:solidFill>
                  <a:srgbClr val="FF0000"/>
                </a:solidFill>
                <a:effectLst>
                  <a:outerShdw blurRad="38100" dist="38100" dir="2700000" algn="tl">
                    <a:srgbClr val="000000">
                      <a:alpha val="43137"/>
                    </a:srgbClr>
                  </a:outerShdw>
                </a:effectLst>
              </a:rPr>
              <a:t>P (A and B) </a:t>
            </a:r>
            <a:r>
              <a:rPr lang="en-US" sz="3500" b="1" dirty="0">
                <a:solidFill>
                  <a:srgbClr val="0000FF"/>
                </a:solidFill>
                <a:effectLst>
                  <a:outerShdw blurRad="38100" dist="38100" dir="2700000" algn="tl">
                    <a:srgbClr val="000000">
                      <a:alpha val="43137"/>
                    </a:srgbClr>
                  </a:outerShdw>
                </a:effectLst>
              </a:rPr>
              <a:t>= P (A) • P (B) </a:t>
            </a:r>
            <a:r>
              <a:rPr lang="en-US" sz="3900" b="1" dirty="0">
                <a:solidFill>
                  <a:srgbClr val="0000FF"/>
                </a:solidFill>
                <a:effectLst>
                  <a:outerShdw blurRad="38100" dist="38100" dir="2700000" algn="tl">
                    <a:srgbClr val="000000">
                      <a:alpha val="43137"/>
                    </a:srgbClr>
                  </a:outerShdw>
                </a:effectLst>
              </a:rPr>
              <a:t>or</a:t>
            </a:r>
            <a:r>
              <a:rPr lang="en-US" sz="3500" b="1" dirty="0">
                <a:solidFill>
                  <a:srgbClr val="0000FF"/>
                </a:solidFill>
                <a:effectLst>
                  <a:outerShdw blurRad="38100" dist="38100" dir="2700000" algn="tl">
                    <a:srgbClr val="000000">
                      <a:alpha val="43137"/>
                    </a:srgbClr>
                  </a:outerShdw>
                </a:effectLst>
              </a:rPr>
              <a:t> P (AB) = P (A) • P (B) </a:t>
            </a:r>
            <a:r>
              <a:rPr lang="en-US" sz="3900" b="1" dirty="0">
                <a:solidFill>
                  <a:srgbClr val="0000FF"/>
                </a:solidFill>
                <a:effectLst>
                  <a:outerShdw blurRad="38100" dist="38100" dir="2700000" algn="tl">
                    <a:srgbClr val="000000">
                      <a:alpha val="43137"/>
                    </a:srgbClr>
                  </a:outerShdw>
                </a:effectLst>
              </a:rPr>
              <a:t>or</a:t>
            </a:r>
            <a:r>
              <a:rPr lang="en-US" sz="3500" b="1" dirty="0">
                <a:solidFill>
                  <a:srgbClr val="0000FF"/>
                </a:solidFill>
                <a:effectLst>
                  <a:outerShdw blurRad="38100" dist="38100" dir="2700000" algn="tl">
                    <a:srgbClr val="000000">
                      <a:alpha val="43137"/>
                    </a:srgbClr>
                  </a:outerShdw>
                </a:effectLst>
              </a:rPr>
              <a:t> p = P1 • P2</a:t>
            </a:r>
          </a:p>
          <a:p>
            <a:pPr marL="0" indent="0">
              <a:buNone/>
            </a:pPr>
            <a:endParaRPr lang="en-US" sz="3300"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48499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lgn="just"/>
            <a:r>
              <a:rPr lang="en-US" sz="2400" b="1" u="sng" dirty="0">
                <a:effectLst>
                  <a:outerShdw blurRad="38100" dist="38100" dir="2700000" algn="tl">
                    <a:srgbClr val="000000">
                      <a:alpha val="43137"/>
                    </a:srgbClr>
                  </a:outerShdw>
                </a:effectLst>
              </a:rPr>
              <a:t>Illustration:</a:t>
            </a:r>
            <a:r>
              <a:rPr lang="en-US" sz="2400" b="1" dirty="0">
                <a:effectLst>
                  <a:outerShdw blurRad="38100" dist="38100" dir="2700000" algn="tl">
                    <a:srgbClr val="000000">
                      <a:alpha val="43137"/>
                    </a:srgbClr>
                  </a:outerShdw>
                </a:effectLst>
              </a:rPr>
              <a:t> </a:t>
            </a:r>
            <a:r>
              <a:rPr lang="en-US" sz="2400" dirty="0"/>
              <a:t>Consider the pattern of arrival of customers at a service counter during first hour it is open along with its probability:</a:t>
            </a:r>
          </a:p>
          <a:p>
            <a:pPr algn="just"/>
            <a:endParaRPr lang="en-US" sz="2400" dirty="0"/>
          </a:p>
          <a:p>
            <a:pPr algn="just"/>
            <a:endParaRPr lang="en-US" sz="2400" dirty="0"/>
          </a:p>
          <a:p>
            <a:pPr algn="just"/>
            <a:endParaRPr lang="en-US" sz="2400" dirty="0"/>
          </a:p>
          <a:p>
            <a:pPr algn="just"/>
            <a:r>
              <a:rPr lang="en-US" sz="2400" dirty="0"/>
              <a:t>To understand the probability that either 2 or 3 persons will be there during the first hour, we have</a:t>
            </a:r>
          </a:p>
          <a:p>
            <a:pPr algn="just"/>
            <a:r>
              <a:rPr lang="en-US" sz="2400" dirty="0"/>
              <a:t>P(2 or 3) = P(2) + P(3) = 0.3 + 0.3 = 0.6</a:t>
            </a:r>
          </a:p>
          <a:p>
            <a:pPr marL="0" indent="0" algn="just">
              <a:buNone/>
            </a:pPr>
            <a:endParaRPr lang="en-US" sz="2400" dirty="0"/>
          </a:p>
          <a:p>
            <a:pPr algn="just"/>
            <a:r>
              <a:rPr lang="en-US" sz="2400" b="1" dirty="0">
                <a:solidFill>
                  <a:srgbClr val="0070C0"/>
                </a:solidFill>
                <a:effectLst>
                  <a:outerShdw blurRad="38100" dist="38100" dir="2700000" algn="tl">
                    <a:srgbClr val="000000">
                      <a:alpha val="43137"/>
                    </a:srgbClr>
                  </a:outerShdw>
                </a:effectLst>
              </a:rPr>
              <a:t>For example</a:t>
            </a:r>
            <a:r>
              <a:rPr lang="en-US" sz="2400" dirty="0"/>
              <a:t>, if we are interested in knowing the probability that there will be two or more persons during the first hour, then using we have</a:t>
            </a:r>
            <a:endParaRPr lang="en-US" dirty="0"/>
          </a:p>
          <a:p>
            <a:endParaRPr lang="en-US" dirty="0"/>
          </a:p>
          <a:p>
            <a:endParaRPr lang="en-US" dirty="0"/>
          </a:p>
        </p:txBody>
      </p:sp>
      <p:pic>
        <p:nvPicPr>
          <p:cNvPr id="4" name="img-205_1"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1600" y="1055302"/>
            <a:ext cx="6858000" cy="922655"/>
          </a:xfrm>
          <a:prstGeom prst="rect">
            <a:avLst/>
          </a:prstGeom>
          <a:noFill/>
          <a:ln>
            <a:noFill/>
          </a:ln>
        </p:spPr>
      </p:pic>
      <p:pic>
        <p:nvPicPr>
          <p:cNvPr id="5" name="img-205_2" descr="image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3000" y="5486400"/>
            <a:ext cx="7162800" cy="762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067800" cy="6858000"/>
          </a:xfrm>
        </p:spPr>
        <p:txBody>
          <a:bodyPr>
            <a:normAutofit fontScale="70000" lnSpcReduction="20000"/>
          </a:bodyPr>
          <a:lstStyle/>
          <a:p>
            <a:pPr marL="0" indent="0" algn="just">
              <a:buNone/>
            </a:pPr>
            <a:r>
              <a:rPr lang="en-US" sz="5100" b="1" dirty="0">
                <a:solidFill>
                  <a:srgbClr val="FF0000"/>
                </a:solidFill>
                <a:effectLst>
                  <a:outerShdw blurRad="38100" dist="38100" dir="2700000" algn="tl">
                    <a:srgbClr val="000000">
                      <a:alpha val="43137"/>
                    </a:srgbClr>
                  </a:outerShdw>
                </a:effectLst>
              </a:rPr>
              <a:t>PROBABILITY DISTRIBUTION </a:t>
            </a:r>
          </a:p>
          <a:p>
            <a:pPr marL="0" indent="0" algn="just">
              <a:buNone/>
            </a:pPr>
            <a:endParaRPr lang="en-US" b="1" dirty="0">
              <a:solidFill>
                <a:srgbClr val="FF0000"/>
              </a:solidFill>
              <a:effectLst>
                <a:outerShdw blurRad="38100" dist="38100" dir="2700000" algn="tl">
                  <a:srgbClr val="000000">
                    <a:alpha val="43137"/>
                  </a:srgbClr>
                </a:outerShdw>
              </a:effectLst>
            </a:endParaRPr>
          </a:p>
          <a:p>
            <a:pPr algn="just"/>
            <a:r>
              <a:rPr lang="en-US" sz="3800" b="1" dirty="0">
                <a:effectLst>
                  <a:outerShdw blurRad="38100" dist="38100" dir="2700000" algn="tl">
                    <a:srgbClr val="000000">
                      <a:alpha val="43137"/>
                    </a:srgbClr>
                  </a:outerShdw>
                </a:effectLst>
              </a:rPr>
              <a:t>In any probabilistic situation each strategy (course of action) may lead to a number of different possible outcomes</a:t>
            </a:r>
            <a:r>
              <a:rPr lang="en-US" sz="3800" dirty="0"/>
              <a:t>. </a:t>
            </a:r>
          </a:p>
          <a:p>
            <a:pPr marL="0" indent="0" algn="just">
              <a:buNone/>
            </a:pPr>
            <a:endParaRPr lang="en-US" sz="3800" dirty="0"/>
          </a:p>
          <a:p>
            <a:pPr algn="just"/>
            <a:r>
              <a:rPr lang="en-US" sz="3400" dirty="0">
                <a:solidFill>
                  <a:srgbClr val="0000FF"/>
                </a:solidFill>
              </a:rPr>
              <a:t>For example, a product whose sale is estimated around 100 units, </a:t>
            </a:r>
            <a:r>
              <a:rPr lang="en-US" sz="3400" u="sng" dirty="0">
                <a:solidFill>
                  <a:srgbClr val="0000FF"/>
                </a:solidFill>
                <a:effectLst>
                  <a:outerShdw blurRad="38100" dist="38100" dir="2700000" algn="tl">
                    <a:srgbClr val="000000">
                      <a:alpha val="43137"/>
                    </a:srgbClr>
                  </a:outerShdw>
                </a:effectLst>
              </a:rPr>
              <a:t>may be equal to </a:t>
            </a:r>
            <a:r>
              <a:rPr lang="en-US" sz="3400" u="sng" dirty="0">
                <a:solidFill>
                  <a:srgbClr val="92D050"/>
                </a:solidFill>
                <a:effectLst>
                  <a:outerShdw blurRad="38100" dist="38100" dir="2700000" algn="tl">
                    <a:srgbClr val="000000">
                      <a:alpha val="43137"/>
                    </a:srgbClr>
                  </a:outerShdw>
                </a:effectLst>
              </a:rPr>
              <a:t>100</a:t>
            </a:r>
            <a:r>
              <a:rPr lang="en-US" sz="3400" dirty="0">
                <a:solidFill>
                  <a:srgbClr val="0000FF"/>
                </a:solidFill>
              </a:rPr>
              <a:t>, </a:t>
            </a:r>
            <a:r>
              <a:rPr lang="en-US" sz="3400" b="1" dirty="0">
                <a:solidFill>
                  <a:srgbClr val="7030A0"/>
                </a:solidFill>
                <a:effectLst>
                  <a:outerShdw blurRad="38100" dist="38100" dir="2700000" algn="tl">
                    <a:srgbClr val="000000">
                      <a:alpha val="43137"/>
                    </a:srgbClr>
                  </a:outerShdw>
                </a:effectLst>
              </a:rPr>
              <a:t>less</a:t>
            </a:r>
            <a:r>
              <a:rPr lang="en-US" sz="3400" dirty="0">
                <a:solidFill>
                  <a:srgbClr val="0000FF"/>
                </a:solidFill>
              </a:rPr>
              <a:t>, or </a:t>
            </a:r>
            <a:r>
              <a:rPr lang="en-US" sz="3400" b="1" dirty="0">
                <a:solidFill>
                  <a:srgbClr val="FF0000"/>
                </a:solidFill>
                <a:effectLst>
                  <a:outerShdw blurRad="38100" dist="38100" dir="2700000" algn="tl">
                    <a:srgbClr val="000000">
                      <a:alpha val="43137"/>
                    </a:srgbClr>
                  </a:outerShdw>
                </a:effectLst>
              </a:rPr>
              <a:t>more</a:t>
            </a:r>
            <a:r>
              <a:rPr lang="en-US" sz="3400" dirty="0">
                <a:solidFill>
                  <a:srgbClr val="0000FF"/>
                </a:solidFill>
              </a:rPr>
              <a:t>. </a:t>
            </a:r>
          </a:p>
          <a:p>
            <a:pPr algn="just"/>
            <a:endParaRPr lang="en-US" dirty="0"/>
          </a:p>
          <a:p>
            <a:pPr algn="just"/>
            <a:r>
              <a:rPr lang="en-US" dirty="0">
                <a:solidFill>
                  <a:srgbClr val="0000FF"/>
                </a:solidFill>
                <a:effectLst>
                  <a:outerShdw blurRad="38100" dist="38100" dir="2700000" algn="tl">
                    <a:srgbClr val="000000">
                      <a:alpha val="43137"/>
                    </a:srgbClr>
                  </a:outerShdw>
                </a:effectLst>
              </a:rPr>
              <a:t>Here the sale (i.e., an outcome) of the product is measured in real numbers but the volume of the sales is uncertain. </a:t>
            </a:r>
          </a:p>
          <a:p>
            <a:pPr algn="just"/>
            <a:endParaRPr lang="en-US" dirty="0"/>
          </a:p>
          <a:p>
            <a:pPr algn="just"/>
            <a:r>
              <a:rPr lang="en-US" dirty="0">
                <a:solidFill>
                  <a:srgbClr val="C00000"/>
                </a:solidFill>
                <a:effectLst>
                  <a:outerShdw blurRad="38100" dist="38100" dir="2700000" algn="tl">
                    <a:srgbClr val="000000">
                      <a:alpha val="43137"/>
                    </a:srgbClr>
                  </a:outerShdw>
                </a:effectLst>
              </a:rPr>
              <a:t>The volume of sale which is an uncertain quantity and </a:t>
            </a:r>
            <a:r>
              <a:rPr lang="en-US" b="1" u="sng" dirty="0">
                <a:solidFill>
                  <a:srgbClr val="0000FF"/>
                </a:solidFill>
                <a:effectLst>
                  <a:outerShdw blurRad="38100" dist="38100" dir="2700000" algn="tl">
                    <a:srgbClr val="000000">
                      <a:alpha val="43137"/>
                    </a:srgbClr>
                  </a:outerShdw>
                </a:effectLst>
              </a:rPr>
              <a:t>whose definite value is determined by chance</a:t>
            </a:r>
            <a:r>
              <a:rPr lang="en-US" dirty="0">
                <a:solidFill>
                  <a:srgbClr val="C00000"/>
                </a:solidFill>
                <a:effectLst>
                  <a:outerShdw blurRad="38100" dist="38100" dir="2700000" algn="tl">
                    <a:srgbClr val="000000">
                      <a:alpha val="43137"/>
                    </a:srgbClr>
                  </a:outerShdw>
                </a:effectLst>
              </a:rPr>
              <a:t> is termed as random (chance or stochastic) variable. </a:t>
            </a:r>
          </a:p>
          <a:p>
            <a:pPr algn="just"/>
            <a:endParaRPr lang="en-US" dirty="0"/>
          </a:p>
          <a:p>
            <a:pPr algn="just"/>
            <a:r>
              <a:rPr lang="en-US" dirty="0">
                <a:solidFill>
                  <a:srgbClr val="7030A0"/>
                </a:solidFill>
                <a:effectLst>
                  <a:outerShdw blurRad="38100" dist="38100" dir="2700000" algn="tl">
                    <a:srgbClr val="000000">
                      <a:alpha val="43137"/>
                    </a:srgbClr>
                  </a:outerShdw>
                </a:effectLst>
              </a:rPr>
              <a:t>A listing of all the possible outcomes of a random variable with each outcome's associated probability of occurrence is called probability distribution. </a:t>
            </a:r>
          </a:p>
          <a:p>
            <a:pPr algn="just"/>
            <a:endParaRPr lang="en-US" dirty="0"/>
          </a:p>
          <a:p>
            <a:endParaRPr lang="en-US" dirty="0"/>
          </a:p>
        </p:txBody>
      </p:sp>
    </p:spTree>
    <p:extLst>
      <p:ext uri="{BB962C8B-B14F-4D97-AF65-F5344CB8AC3E}">
        <p14:creationId xmlns:p14="http://schemas.microsoft.com/office/powerpoint/2010/main" val="1627488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85000" lnSpcReduction="20000"/>
          </a:bodyPr>
          <a:lstStyle/>
          <a:p>
            <a:pPr marL="0" indent="0" algn="just">
              <a:buNone/>
            </a:pPr>
            <a:r>
              <a:rPr lang="en-US" sz="3600" b="1" dirty="0">
                <a:solidFill>
                  <a:srgbClr val="FF0000"/>
                </a:solidFill>
                <a:effectLst>
                  <a:outerShdw blurRad="38100" dist="38100" dir="2700000" algn="tl">
                    <a:srgbClr val="000000">
                      <a:alpha val="43137"/>
                    </a:srgbClr>
                  </a:outerShdw>
                </a:effectLst>
              </a:rPr>
              <a:t>BROAD CLASSES OF RANDOM VARIABLE </a:t>
            </a:r>
          </a:p>
          <a:p>
            <a:pPr algn="just"/>
            <a:endParaRPr lang="en-US" dirty="0"/>
          </a:p>
          <a:p>
            <a:pPr marL="0" indent="0" algn="ctr">
              <a:buNone/>
            </a:pPr>
            <a:r>
              <a:rPr lang="en-US" b="1" dirty="0">
                <a:effectLst>
                  <a:outerShdw blurRad="38100" dist="38100" dir="2700000" algn="tl">
                    <a:srgbClr val="000000">
                      <a:alpha val="43137"/>
                    </a:srgbClr>
                  </a:outerShdw>
                </a:effectLst>
              </a:rPr>
              <a:t>A random variable may be either </a:t>
            </a:r>
            <a:r>
              <a:rPr lang="en-US" sz="4100" b="1" dirty="0">
                <a:solidFill>
                  <a:srgbClr val="0000FF"/>
                </a:solidFill>
                <a:effectLst>
                  <a:outerShdw blurRad="38100" dist="38100" dir="2700000" algn="tl">
                    <a:srgbClr val="000000">
                      <a:alpha val="43137"/>
                    </a:srgbClr>
                  </a:outerShdw>
                </a:effectLst>
              </a:rPr>
              <a:t>discrete</a:t>
            </a:r>
            <a:r>
              <a:rPr lang="en-US" sz="3600" b="1" dirty="0">
                <a:solidFill>
                  <a:srgbClr val="FF0000"/>
                </a:solidFill>
                <a:effectLst>
                  <a:outerShdw blurRad="38100" dist="38100" dir="2700000" algn="tl">
                    <a:srgbClr val="000000">
                      <a:alpha val="43137"/>
                    </a:srgbClr>
                  </a:outerShdw>
                </a:effectLst>
              </a:rPr>
              <a:t> or </a:t>
            </a:r>
            <a:r>
              <a:rPr lang="en-US" sz="4600" b="1" dirty="0">
                <a:solidFill>
                  <a:schemeClr val="accent4">
                    <a:lumMod val="75000"/>
                  </a:schemeClr>
                </a:solidFill>
                <a:effectLst>
                  <a:outerShdw blurRad="38100" dist="38100" dir="2700000" algn="tl">
                    <a:srgbClr val="000000">
                      <a:alpha val="43137"/>
                    </a:srgbClr>
                  </a:outerShdw>
                </a:effectLst>
              </a:rPr>
              <a:t>continuous</a:t>
            </a:r>
            <a:r>
              <a:rPr lang="en-US" dirty="0"/>
              <a:t>. </a:t>
            </a:r>
          </a:p>
          <a:p>
            <a:pPr algn="just"/>
            <a:endParaRPr lang="en-US" dirty="0"/>
          </a:p>
          <a:p>
            <a:pPr algn="just"/>
            <a:r>
              <a:rPr lang="en-US" sz="3600" b="1" u="sng" dirty="0">
                <a:solidFill>
                  <a:srgbClr val="FF0000"/>
                </a:solidFill>
                <a:effectLst>
                  <a:outerShdw blurRad="38100" dist="38100" dir="2700000" algn="tl">
                    <a:srgbClr val="000000">
                      <a:alpha val="43137"/>
                    </a:srgbClr>
                  </a:outerShdw>
                </a:effectLst>
              </a:rPr>
              <a:t>A discrete</a:t>
            </a:r>
            <a:r>
              <a:rPr lang="en-US" sz="3600" b="1" dirty="0">
                <a:solidFill>
                  <a:srgbClr val="FF0000"/>
                </a:solidFill>
                <a:effectLst>
                  <a:outerShdw blurRad="38100" dist="38100" dir="2700000" algn="tl">
                    <a:srgbClr val="000000">
                      <a:alpha val="43137"/>
                    </a:srgbClr>
                  </a:outerShdw>
                </a:effectLst>
              </a:rPr>
              <a:t> </a:t>
            </a:r>
            <a:r>
              <a:rPr lang="en-US" dirty="0"/>
              <a:t>random variable can take on </a:t>
            </a:r>
            <a:r>
              <a:rPr lang="en-US" b="1" u="sng" dirty="0">
                <a:solidFill>
                  <a:srgbClr val="0000FF"/>
                </a:solidFill>
                <a:effectLst>
                  <a:outerShdw blurRad="38100" dist="38100" dir="2700000" algn="tl">
                    <a:srgbClr val="000000">
                      <a:alpha val="43137"/>
                    </a:srgbClr>
                  </a:outerShdw>
                </a:effectLst>
              </a:rPr>
              <a:t>only a finite</a:t>
            </a:r>
            <a:r>
              <a:rPr lang="en-US" dirty="0"/>
              <a:t> or </a:t>
            </a:r>
            <a:r>
              <a:rPr lang="en-US" b="1" u="dbl" dirty="0">
                <a:uFill>
                  <a:solidFill>
                    <a:srgbClr val="FF0000"/>
                  </a:solidFill>
                </a:uFill>
              </a:rPr>
              <a:t>countable infinite number</a:t>
            </a:r>
            <a:r>
              <a:rPr lang="en-US" b="1" dirty="0"/>
              <a:t> </a:t>
            </a:r>
            <a:r>
              <a:rPr lang="en-US" dirty="0"/>
              <a:t>of distinct values </a:t>
            </a:r>
            <a:r>
              <a:rPr lang="en-US" b="1" dirty="0">
                <a:solidFill>
                  <a:srgbClr val="0000FF"/>
                </a:solidFill>
                <a:effectLst>
                  <a:outerShdw blurRad="38100" dist="38100" dir="2700000" algn="tl">
                    <a:srgbClr val="000000">
                      <a:alpha val="43137"/>
                    </a:srgbClr>
                  </a:outerShdw>
                </a:effectLst>
              </a:rPr>
              <a:t>such as 0, 1, 2,…,. </a:t>
            </a:r>
          </a:p>
          <a:p>
            <a:pPr algn="just"/>
            <a:r>
              <a:rPr lang="en-US" dirty="0"/>
              <a:t>A discrete random variable </a:t>
            </a:r>
            <a:r>
              <a:rPr lang="en-US" b="1" u="dbl" dirty="0">
                <a:solidFill>
                  <a:schemeClr val="accent4">
                    <a:lumMod val="75000"/>
                  </a:schemeClr>
                </a:solidFill>
                <a:effectLst>
                  <a:outerShdw blurRad="38100" dist="38100" dir="2700000" algn="tl">
                    <a:srgbClr val="000000">
                      <a:alpha val="43137"/>
                    </a:srgbClr>
                  </a:outerShdw>
                </a:effectLst>
                <a:uFill>
                  <a:solidFill>
                    <a:srgbClr val="FF0000"/>
                  </a:solidFill>
                </a:uFill>
              </a:rPr>
              <a:t>is usually the result of counting</a:t>
            </a:r>
            <a:r>
              <a:rPr lang="en-US" dirty="0"/>
              <a:t>. </a:t>
            </a:r>
          </a:p>
          <a:p>
            <a:pPr algn="just"/>
            <a:r>
              <a:rPr lang="en-US" dirty="0"/>
              <a:t>The number of letters received by a post office during a particular time period, </a:t>
            </a:r>
          </a:p>
          <a:p>
            <a:pPr algn="just"/>
            <a:r>
              <a:rPr lang="en-US" dirty="0"/>
              <a:t>the number of machines breaking down on a given day, </a:t>
            </a:r>
          </a:p>
          <a:p>
            <a:pPr algn="just"/>
            <a:r>
              <a:rPr lang="en-US" dirty="0"/>
              <a:t>the number of vehicles arriving at a toll bridge, and so on, are a few examples of discrete random variables.</a:t>
            </a:r>
          </a:p>
          <a:p>
            <a:pPr algn="just"/>
            <a:r>
              <a:rPr lang="en-US" dirty="0">
                <a:solidFill>
                  <a:srgbClr val="0000FF"/>
                </a:solidFill>
              </a:rPr>
              <a:t>Discrete random variable: A variable that is allowed to take on only integer values.</a:t>
            </a:r>
          </a:p>
          <a:p>
            <a:endParaRPr lang="en-US" dirty="0"/>
          </a:p>
        </p:txBody>
      </p:sp>
    </p:spTree>
    <p:extLst>
      <p:ext uri="{BB962C8B-B14F-4D97-AF65-F5344CB8AC3E}">
        <p14:creationId xmlns:p14="http://schemas.microsoft.com/office/powerpoint/2010/main" val="1960125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067800" cy="6858000"/>
          </a:xfrm>
        </p:spPr>
        <p:txBody>
          <a:bodyPr>
            <a:normAutofit lnSpcReduction="10000"/>
          </a:bodyPr>
          <a:lstStyle/>
          <a:p>
            <a:pPr algn="just"/>
            <a:r>
              <a:rPr lang="en-US" b="1" dirty="0">
                <a:solidFill>
                  <a:srgbClr val="FF0000"/>
                </a:solidFill>
                <a:effectLst>
                  <a:outerShdw blurRad="38100" dist="38100" dir="2700000" algn="tl">
                    <a:srgbClr val="000000">
                      <a:alpha val="43137"/>
                    </a:srgbClr>
                  </a:outerShdw>
                </a:effectLst>
              </a:rPr>
              <a:t>A CONTINUOUS RANDOM VARIABLE </a:t>
            </a:r>
            <a:r>
              <a:rPr lang="en-US" dirty="0"/>
              <a:t>can take any numerical value in an interval or collection of intervals.</a:t>
            </a:r>
          </a:p>
          <a:p>
            <a:pPr algn="just">
              <a:buNone/>
            </a:pPr>
            <a:endParaRPr lang="en-US" dirty="0"/>
          </a:p>
          <a:p>
            <a:pPr algn="just"/>
            <a:r>
              <a:rPr lang="en-US" dirty="0"/>
              <a:t>A continuous random variable is usually the result of experimental outcomes that are </a:t>
            </a:r>
            <a:r>
              <a:rPr lang="en-US" b="1" u="sng" dirty="0">
                <a:effectLst>
                  <a:outerShdw blurRad="38100" dist="38100" dir="2700000" algn="tl">
                    <a:srgbClr val="000000">
                      <a:alpha val="43137"/>
                    </a:srgbClr>
                  </a:outerShdw>
                </a:effectLst>
              </a:rPr>
              <a:t>based on measurement scales. </a:t>
            </a:r>
          </a:p>
          <a:p>
            <a:pPr algn="just"/>
            <a:endParaRPr lang="en-US" dirty="0"/>
          </a:p>
          <a:p>
            <a:pPr algn="just"/>
            <a:r>
              <a:rPr lang="en-US" b="1" u="sng" dirty="0">
                <a:solidFill>
                  <a:srgbClr val="0000FF"/>
                </a:solidFill>
              </a:rPr>
              <a:t>For instance</a:t>
            </a:r>
            <a:r>
              <a:rPr lang="en-US" dirty="0"/>
              <a:t>, measurement of time, weight, distance, temperature, and so on are all treated as continuous random variables. </a:t>
            </a:r>
          </a:p>
          <a:p>
            <a:pPr marL="0" indent="0" algn="just">
              <a:buNone/>
            </a:pPr>
            <a:endParaRPr lang="en-US" dirty="0"/>
          </a:p>
          <a:p>
            <a:pPr algn="just"/>
            <a:r>
              <a:rPr lang="en-US" b="1" dirty="0"/>
              <a:t>Continuous random variable</a:t>
            </a:r>
            <a:r>
              <a:rPr lang="en-US" dirty="0"/>
              <a:t>: A variable that is allowed to take on any value within a given range</a:t>
            </a:r>
          </a:p>
          <a:p>
            <a:pPr algn="just"/>
            <a:endParaRPr lang="en-US" dirty="0"/>
          </a:p>
        </p:txBody>
      </p:sp>
    </p:spTree>
    <p:extLst>
      <p:ext uri="{BB962C8B-B14F-4D97-AF65-F5344CB8AC3E}">
        <p14:creationId xmlns:p14="http://schemas.microsoft.com/office/powerpoint/2010/main" val="2111452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8915400" cy="6553200"/>
          </a:xfrm>
        </p:spPr>
        <p:txBody>
          <a:bodyPr>
            <a:normAutofit fontScale="92500" lnSpcReduction="10000"/>
          </a:bodyPr>
          <a:lstStyle/>
          <a:p>
            <a:pPr marL="0" indent="0" algn="ctr">
              <a:buNone/>
            </a:pPr>
            <a:r>
              <a:rPr lang="en-US" b="1" dirty="0">
                <a:solidFill>
                  <a:srgbClr val="FF0000"/>
                </a:solidFill>
                <a:effectLst>
                  <a:outerShdw blurRad="38100" dist="38100" dir="2700000" algn="tl">
                    <a:srgbClr val="000000">
                      <a:alpha val="43137"/>
                    </a:srgbClr>
                  </a:outerShdw>
                </a:effectLst>
              </a:rPr>
              <a:t>Probability distribution functions can be classified into two categories</a:t>
            </a:r>
            <a:r>
              <a:rPr lang="en-US" dirty="0"/>
              <a:t>:</a:t>
            </a:r>
          </a:p>
          <a:p>
            <a:pPr marL="0" indent="0">
              <a:buNone/>
            </a:pPr>
            <a:r>
              <a:rPr lang="en-US" dirty="0"/>
              <a:t>•	Discrete probability distributions</a:t>
            </a:r>
          </a:p>
          <a:p>
            <a:pPr marL="0" indent="0">
              <a:buNone/>
            </a:pPr>
            <a:r>
              <a:rPr lang="en-US" dirty="0"/>
              <a:t>•	Continuous probability distributions</a:t>
            </a:r>
          </a:p>
          <a:p>
            <a:pPr marL="0" indent="0" algn="just">
              <a:buNone/>
            </a:pPr>
            <a:endParaRPr lang="en-US" b="1" dirty="0"/>
          </a:p>
          <a:p>
            <a:pPr marL="0" indent="0" algn="just">
              <a:buNone/>
            </a:pPr>
            <a:r>
              <a:rPr lang="en-US" b="1" dirty="0"/>
              <a:t>A discrete probability </a:t>
            </a:r>
            <a:r>
              <a:rPr lang="en-US" dirty="0"/>
              <a:t>distribution assumes that the outcomes of a random variable under study can take on only integer values, such as:</a:t>
            </a:r>
          </a:p>
          <a:p>
            <a:pPr marL="0" indent="0" algn="just">
              <a:buNone/>
            </a:pPr>
            <a:r>
              <a:rPr lang="en-US" dirty="0"/>
              <a:t>•	A book shop has only 0, 1, 2,…copies of a particular title of a book</a:t>
            </a:r>
          </a:p>
          <a:p>
            <a:pPr marL="0" indent="0" algn="just">
              <a:buNone/>
            </a:pPr>
            <a:r>
              <a:rPr lang="en-US" dirty="0"/>
              <a:t>•	A consumer can buy 0, 1, 2,…shirts, pants, etc.</a:t>
            </a:r>
          </a:p>
          <a:p>
            <a:pPr marL="0" indent="0" algn="just">
              <a:buNone/>
            </a:pPr>
            <a:r>
              <a:rPr lang="en-US" b="1" dirty="0"/>
              <a:t>Discrete probability distribution</a:t>
            </a:r>
            <a:r>
              <a:rPr lang="en-US" dirty="0"/>
              <a:t>: A probability distribution in which the random variable is permitted to take on only integer values.</a:t>
            </a:r>
          </a:p>
          <a:p>
            <a:endParaRPr lang="en-US" dirty="0"/>
          </a:p>
        </p:txBody>
      </p:sp>
    </p:spTree>
    <p:extLst>
      <p:ext uri="{BB962C8B-B14F-4D97-AF65-F5344CB8AC3E}">
        <p14:creationId xmlns:p14="http://schemas.microsoft.com/office/powerpoint/2010/main" val="2423734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28" y="-17834"/>
            <a:ext cx="9134272" cy="6875834"/>
          </a:xfrm>
        </p:spPr>
        <p:txBody>
          <a:bodyPr>
            <a:normAutofit fontScale="85000" lnSpcReduction="10000"/>
          </a:bodyPr>
          <a:lstStyle/>
          <a:p>
            <a:pPr marL="0" indent="0" algn="just">
              <a:buNone/>
            </a:pPr>
            <a:r>
              <a:rPr lang="en-US" sz="4000" b="1" dirty="0">
                <a:solidFill>
                  <a:srgbClr val="FF0000"/>
                </a:solidFill>
                <a:effectLst>
                  <a:outerShdw blurRad="38100" dist="38100" dir="2700000" algn="tl">
                    <a:srgbClr val="000000">
                      <a:alpha val="43137"/>
                    </a:srgbClr>
                  </a:outerShdw>
                </a:effectLst>
              </a:rPr>
              <a:t>BINOMIAL PROBABILITY DISTRIBUTION</a:t>
            </a:r>
          </a:p>
          <a:p>
            <a:pPr algn="just"/>
            <a:r>
              <a:rPr lang="en-US" dirty="0"/>
              <a:t>Binomial probability distribution is a widely used probability distribution for a </a:t>
            </a:r>
            <a:r>
              <a:rPr lang="en-US" b="1" u="sng" dirty="0"/>
              <a:t>discrete random variable.</a:t>
            </a:r>
          </a:p>
          <a:p>
            <a:pPr algn="just">
              <a:buNone/>
            </a:pPr>
            <a:r>
              <a:rPr lang="en-US" b="1" u="sng" dirty="0"/>
              <a:t> </a:t>
            </a:r>
          </a:p>
          <a:p>
            <a:pPr algn="just"/>
            <a:r>
              <a:rPr lang="en-US" dirty="0"/>
              <a:t>This distribution describes </a:t>
            </a:r>
            <a:r>
              <a:rPr lang="en-US" b="1" u="sng" dirty="0">
                <a:effectLst>
                  <a:outerShdw blurRad="38100" dist="38100" dir="2700000" algn="tl">
                    <a:srgbClr val="000000">
                      <a:alpha val="43137"/>
                    </a:srgbClr>
                  </a:outerShdw>
                </a:effectLst>
              </a:rPr>
              <a:t>discrete data</a:t>
            </a:r>
            <a:r>
              <a:rPr lang="en-US" b="1" dirty="0">
                <a:effectLst>
                  <a:outerShdw blurRad="38100" dist="38100" dir="2700000" algn="tl">
                    <a:srgbClr val="000000">
                      <a:alpha val="43137"/>
                    </a:srgbClr>
                  </a:outerShdw>
                </a:effectLst>
              </a:rPr>
              <a:t> </a:t>
            </a:r>
            <a:r>
              <a:rPr lang="en-US" dirty="0"/>
              <a:t>resulting from an experiment called a Bernoulli process (named after Jacob Bernoulli, 1654–1705, the first of the Bernoulli family of Swiss mathematicians). </a:t>
            </a:r>
          </a:p>
          <a:p>
            <a:pPr algn="just"/>
            <a:endParaRPr lang="en-US" dirty="0"/>
          </a:p>
          <a:p>
            <a:pPr algn="just"/>
            <a:r>
              <a:rPr lang="en-US" dirty="0"/>
              <a:t>For each trial of an experiment, </a:t>
            </a:r>
            <a:r>
              <a:rPr lang="en-US" b="1" u="sng" dirty="0">
                <a:effectLst>
                  <a:outerShdw blurRad="38100" dist="38100" dir="2700000" algn="tl">
                    <a:srgbClr val="000000">
                      <a:alpha val="43137"/>
                    </a:srgbClr>
                  </a:outerShdw>
                </a:effectLst>
              </a:rPr>
              <a:t>there are </a:t>
            </a:r>
            <a:r>
              <a:rPr lang="en-US" sz="3800" b="1" u="sng" dirty="0">
                <a:solidFill>
                  <a:srgbClr val="FF0000"/>
                </a:solidFill>
                <a:effectLst>
                  <a:outerShdw blurRad="38100" dist="38100" dir="2700000" algn="tl">
                    <a:srgbClr val="000000">
                      <a:alpha val="43137"/>
                    </a:srgbClr>
                  </a:outerShdw>
                </a:effectLst>
              </a:rPr>
              <a:t>only two </a:t>
            </a:r>
            <a:r>
              <a:rPr lang="en-US" b="1" u="sng" dirty="0">
                <a:effectLst>
                  <a:outerShdw blurRad="38100" dist="38100" dir="2700000" algn="tl">
                    <a:srgbClr val="000000">
                      <a:alpha val="43137"/>
                    </a:srgbClr>
                  </a:outerShdw>
                </a:effectLst>
              </a:rPr>
              <a:t>possible complementary (mutually exclusive) outcomes</a:t>
            </a:r>
            <a:r>
              <a:rPr lang="en-US" b="1" dirty="0">
                <a:effectLst>
                  <a:outerShdw blurRad="38100" dist="38100" dir="2700000" algn="tl">
                    <a:srgbClr val="000000">
                      <a:alpha val="43137"/>
                    </a:srgbClr>
                  </a:outerShdw>
                </a:effectLst>
              </a:rPr>
              <a:t> </a:t>
            </a:r>
            <a:r>
              <a:rPr lang="en-US" b="1" dirty="0">
                <a:solidFill>
                  <a:srgbClr val="0000FF"/>
                </a:solidFill>
                <a:effectLst>
                  <a:outerShdw blurRad="38100" dist="38100" dir="2700000" algn="tl">
                    <a:srgbClr val="000000">
                      <a:alpha val="43137"/>
                    </a:srgbClr>
                  </a:outerShdw>
                </a:effectLst>
              </a:rPr>
              <a:t>such as, </a:t>
            </a:r>
            <a:r>
              <a:rPr lang="en-US" b="1" u="dbl" dirty="0">
                <a:solidFill>
                  <a:srgbClr val="0000FF"/>
                </a:solidFill>
                <a:effectLst>
                  <a:outerShdw blurRad="38100" dist="38100" dir="2700000" algn="tl">
                    <a:srgbClr val="000000">
                      <a:alpha val="43137"/>
                    </a:srgbClr>
                  </a:outerShdw>
                </a:effectLst>
                <a:uFill>
                  <a:solidFill>
                    <a:srgbClr val="FF0000"/>
                  </a:solidFill>
                </a:uFill>
              </a:rPr>
              <a:t>defective or good</a:t>
            </a:r>
            <a:r>
              <a:rPr lang="en-US" b="1" dirty="0">
                <a:solidFill>
                  <a:srgbClr val="0000FF"/>
                </a:solidFill>
                <a:effectLst>
                  <a:outerShdw blurRad="38100" dist="38100" dir="2700000" algn="tl">
                    <a:srgbClr val="000000">
                      <a:alpha val="43137"/>
                    </a:srgbClr>
                  </a:outerShdw>
                </a:effectLst>
              </a:rPr>
              <a:t>, </a:t>
            </a:r>
            <a:r>
              <a:rPr lang="en-US" b="1" u="dbl" dirty="0">
                <a:solidFill>
                  <a:srgbClr val="0000FF"/>
                </a:solidFill>
                <a:effectLst>
                  <a:outerShdw blurRad="38100" dist="38100" dir="2700000" algn="tl">
                    <a:srgbClr val="000000">
                      <a:alpha val="43137"/>
                    </a:srgbClr>
                  </a:outerShdw>
                </a:effectLst>
                <a:uFill>
                  <a:solidFill>
                    <a:srgbClr val="C00000"/>
                  </a:solidFill>
                </a:uFill>
              </a:rPr>
              <a:t>head or tail</a:t>
            </a:r>
            <a:r>
              <a:rPr lang="en-US" b="1" dirty="0">
                <a:solidFill>
                  <a:srgbClr val="0000FF"/>
                </a:solidFill>
                <a:effectLst>
                  <a:outerShdw blurRad="38100" dist="38100" dir="2700000" algn="tl">
                    <a:srgbClr val="000000">
                      <a:alpha val="43137"/>
                    </a:srgbClr>
                  </a:outerShdw>
                </a:effectLst>
              </a:rPr>
              <a:t>, </a:t>
            </a:r>
            <a:r>
              <a:rPr lang="en-US" b="1" u="dbl" dirty="0">
                <a:solidFill>
                  <a:srgbClr val="0000FF"/>
                </a:solidFill>
                <a:effectLst>
                  <a:outerShdw blurRad="38100" dist="38100" dir="2700000" algn="tl">
                    <a:srgbClr val="000000">
                      <a:alpha val="43137"/>
                    </a:srgbClr>
                  </a:outerShdw>
                </a:effectLst>
                <a:uFill>
                  <a:solidFill>
                    <a:schemeClr val="tx1"/>
                  </a:solidFill>
                </a:uFill>
              </a:rPr>
              <a:t>zero or one</a:t>
            </a:r>
            <a:r>
              <a:rPr lang="en-US" b="1" dirty="0">
                <a:solidFill>
                  <a:srgbClr val="0000FF"/>
                </a:solidFill>
                <a:effectLst>
                  <a:outerShdw blurRad="38100" dist="38100" dir="2700000" algn="tl">
                    <a:srgbClr val="000000">
                      <a:alpha val="43137"/>
                    </a:srgbClr>
                  </a:outerShdw>
                </a:effectLst>
              </a:rPr>
              <a:t>, </a:t>
            </a:r>
            <a:r>
              <a:rPr lang="en-US" b="1" u="sng" dirty="0">
                <a:solidFill>
                  <a:srgbClr val="0000FF"/>
                </a:solidFill>
                <a:effectLst>
                  <a:outerShdw blurRad="38100" dist="38100" dir="2700000" algn="tl">
                    <a:srgbClr val="000000">
                      <a:alpha val="43137"/>
                    </a:srgbClr>
                  </a:outerShdw>
                </a:effectLst>
              </a:rPr>
              <a:t>boy or girl</a:t>
            </a:r>
            <a:r>
              <a:rPr lang="en-US" b="1" dirty="0">
                <a:solidFill>
                  <a:srgbClr val="0000FF"/>
                </a:solidFill>
                <a:effectLst>
                  <a:outerShdw blurRad="38100" dist="38100" dir="2700000" algn="tl">
                    <a:srgbClr val="000000">
                      <a:alpha val="43137"/>
                    </a:srgbClr>
                  </a:outerShdw>
                </a:effectLst>
              </a:rPr>
              <a:t>. </a:t>
            </a:r>
          </a:p>
          <a:p>
            <a:pPr algn="just">
              <a:buNone/>
            </a:pPr>
            <a:endParaRPr lang="en-US" b="1" dirty="0">
              <a:solidFill>
                <a:srgbClr val="0000FF"/>
              </a:solidFill>
              <a:effectLst>
                <a:outerShdw blurRad="38100" dist="38100" dir="2700000" algn="tl">
                  <a:srgbClr val="000000">
                    <a:alpha val="43137"/>
                  </a:srgbClr>
                </a:outerShdw>
              </a:effectLst>
            </a:endParaRPr>
          </a:p>
          <a:p>
            <a:pPr algn="just"/>
            <a:r>
              <a:rPr lang="en-US" dirty="0"/>
              <a:t>In such cases the outcome of interest is referred to as a </a:t>
            </a:r>
            <a:r>
              <a:rPr lang="en-US" sz="3400" b="1" u="sng" dirty="0">
                <a:solidFill>
                  <a:srgbClr val="0000FF"/>
                </a:solidFill>
                <a:effectLst>
                  <a:outerShdw blurRad="38100" dist="38100" dir="2700000" algn="tl">
                    <a:srgbClr val="000000">
                      <a:alpha val="43137"/>
                    </a:srgbClr>
                  </a:outerShdw>
                </a:effectLst>
              </a:rPr>
              <a:t>‘success</a:t>
            </a:r>
            <a:r>
              <a:rPr lang="en-US" dirty="0"/>
              <a:t>’ and the other as a </a:t>
            </a:r>
            <a:r>
              <a:rPr lang="en-US" sz="3400" b="1" dirty="0">
                <a:solidFill>
                  <a:srgbClr val="FF0000"/>
                </a:solidFill>
                <a:effectLst>
                  <a:outerShdw blurRad="38100" dist="38100" dir="2700000" algn="tl">
                    <a:srgbClr val="000000">
                      <a:alpha val="43137"/>
                    </a:srgbClr>
                  </a:outerShdw>
                </a:effectLst>
              </a:rPr>
              <a:t>‘failure’. </a:t>
            </a:r>
            <a:r>
              <a:rPr lang="en-US" sz="3400" dirty="0">
                <a:solidFill>
                  <a:schemeClr val="bg2">
                    <a:lumMod val="25000"/>
                  </a:schemeClr>
                </a:solidFill>
                <a:effectLst>
                  <a:outerShdw blurRad="38100" dist="38100" dir="2700000" algn="tl">
                    <a:srgbClr val="000000">
                      <a:alpha val="43137"/>
                    </a:srgbClr>
                  </a:outerShdw>
                </a:effectLst>
              </a:rPr>
              <a:t>The term ‘binomial’ literally means two names</a:t>
            </a:r>
            <a:r>
              <a:rPr lang="en-US" dirty="0"/>
              <a:t>.</a:t>
            </a:r>
          </a:p>
          <a:p>
            <a:pPr marL="0" indent="0" algn="just">
              <a:buNone/>
            </a:pPr>
            <a:endParaRPr lang="en-US" dirty="0"/>
          </a:p>
          <a:p>
            <a:pPr algn="just"/>
            <a:endParaRPr lang="en-US" dirty="0"/>
          </a:p>
        </p:txBody>
      </p:sp>
    </p:spTree>
    <p:extLst>
      <p:ext uri="{BB962C8B-B14F-4D97-AF65-F5344CB8AC3E}">
        <p14:creationId xmlns:p14="http://schemas.microsoft.com/office/powerpoint/2010/main" val="13946908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28600"/>
            <a:ext cx="8991600" cy="6400800"/>
          </a:xfrm>
        </p:spPr>
        <p:txBody>
          <a:bodyPr>
            <a:normAutofit fontScale="92500" lnSpcReduction="20000"/>
          </a:bodyPr>
          <a:lstStyle/>
          <a:p>
            <a:pPr algn="just"/>
            <a:r>
              <a:rPr lang="en-US" b="1" u="sng" dirty="0">
                <a:effectLst>
                  <a:outerShdw blurRad="38100" dist="38100" dir="2700000" algn="tl">
                    <a:srgbClr val="000000">
                      <a:alpha val="43137"/>
                    </a:srgbClr>
                  </a:outerShdw>
                </a:effectLst>
              </a:rPr>
              <a:t>Bernoulli process:</a:t>
            </a:r>
            <a:r>
              <a:rPr lang="en-US" b="1" dirty="0">
                <a:effectLst>
                  <a:outerShdw blurRad="38100" dist="38100" dir="2700000" algn="tl">
                    <a:srgbClr val="000000">
                      <a:alpha val="43137"/>
                    </a:srgbClr>
                  </a:outerShdw>
                </a:effectLst>
              </a:rPr>
              <a:t> </a:t>
            </a:r>
            <a:r>
              <a:rPr lang="en-US" dirty="0"/>
              <a:t>A process in which </a:t>
            </a:r>
            <a:r>
              <a:rPr lang="en-US" b="1" u="sng" dirty="0">
                <a:solidFill>
                  <a:srgbClr val="0000FF"/>
                </a:solidFill>
                <a:effectLst>
                  <a:outerShdw blurRad="38100" dist="38100" dir="2700000" algn="tl">
                    <a:srgbClr val="000000">
                      <a:alpha val="43137"/>
                    </a:srgbClr>
                  </a:outerShdw>
                </a:effectLst>
              </a:rPr>
              <a:t>each trial has only two possible outcomes</a:t>
            </a:r>
            <a:r>
              <a:rPr lang="en-US" dirty="0"/>
              <a:t>, </a:t>
            </a:r>
          </a:p>
          <a:p>
            <a:pPr algn="just"/>
            <a:r>
              <a:rPr lang="en-US" dirty="0"/>
              <a:t>the probability of the </a:t>
            </a:r>
            <a:r>
              <a:rPr lang="en-US" b="1" u="sng" dirty="0">
                <a:effectLst>
                  <a:outerShdw blurRad="38100" dist="38100" dir="2700000" algn="tl">
                    <a:srgbClr val="000000">
                      <a:alpha val="43137"/>
                    </a:srgbClr>
                  </a:outerShdw>
                </a:effectLst>
              </a:rPr>
              <a:t>outcome at any trial remains fixed </a:t>
            </a:r>
            <a:r>
              <a:rPr lang="en-US" dirty="0"/>
              <a:t>over time, </a:t>
            </a:r>
          </a:p>
          <a:p>
            <a:pPr algn="just"/>
            <a:r>
              <a:rPr lang="en-US" dirty="0"/>
              <a:t>and </a:t>
            </a:r>
            <a:r>
              <a:rPr lang="en-US" u="sng" dirty="0"/>
              <a:t>the </a:t>
            </a:r>
            <a:r>
              <a:rPr lang="en-US" b="1" u="sng" dirty="0">
                <a:effectLst>
                  <a:outerShdw blurRad="38100" dist="38100" dir="2700000" algn="tl">
                    <a:srgbClr val="000000">
                      <a:alpha val="43137"/>
                    </a:srgbClr>
                  </a:outerShdw>
                </a:effectLst>
              </a:rPr>
              <a:t>trials are statistically independent</a:t>
            </a:r>
            <a:r>
              <a:rPr lang="en-US" dirty="0"/>
              <a:t>.</a:t>
            </a:r>
          </a:p>
          <a:p>
            <a:pPr algn="just"/>
            <a:endParaRPr lang="en-US" dirty="0"/>
          </a:p>
          <a:p>
            <a:pPr algn="just"/>
            <a:r>
              <a:rPr lang="en-US" dirty="0"/>
              <a:t>It is a process wherein an experiment is performed repeatedly, yielding either a success or a failure in each trial and </a:t>
            </a:r>
            <a:r>
              <a:rPr lang="en-US" b="1" u="sng" dirty="0">
                <a:effectLst>
                  <a:outerShdw blurRad="38100" dist="38100" dir="2700000" algn="tl">
                    <a:srgbClr val="000000">
                      <a:alpha val="43137"/>
                    </a:srgbClr>
                  </a:outerShdw>
                </a:effectLst>
              </a:rPr>
              <a:t>where there is absolutely no pattern </a:t>
            </a:r>
            <a:r>
              <a:rPr lang="en-US" dirty="0"/>
              <a:t>in the occurrence of successes and failures. </a:t>
            </a:r>
          </a:p>
          <a:p>
            <a:pPr algn="just"/>
            <a:endParaRPr lang="en-US" dirty="0"/>
          </a:p>
          <a:p>
            <a:pPr algn="just"/>
            <a:r>
              <a:rPr lang="en-US" b="1" dirty="0">
                <a:solidFill>
                  <a:srgbClr val="0000FF"/>
                </a:solidFill>
              </a:rPr>
              <a:t>That is, the occurrence of a success or a failure in a particular trial does not affect, and is not affected by, the outcomes in any previous or subsequent trials. The trials are independent.</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067800" cy="6858000"/>
          </a:xfrm>
        </p:spPr>
        <p:txBody>
          <a:bodyPr>
            <a:normAutofit fontScale="70000" lnSpcReduction="20000"/>
          </a:bodyPr>
          <a:lstStyle/>
          <a:p>
            <a:pPr algn="just"/>
            <a:r>
              <a:rPr lang="en-US" b="1" u="sng" dirty="0"/>
              <a:t>Conditions for Binomial Experiment</a:t>
            </a:r>
            <a:r>
              <a:rPr lang="en-US" dirty="0"/>
              <a:t> </a:t>
            </a:r>
          </a:p>
          <a:p>
            <a:pPr algn="just"/>
            <a:endParaRPr lang="en-US" dirty="0"/>
          </a:p>
          <a:p>
            <a:pPr algn="just"/>
            <a:r>
              <a:rPr lang="en-US" dirty="0"/>
              <a:t>1.	There are only </a:t>
            </a:r>
            <a:r>
              <a:rPr lang="en-US" b="1" u="sng" dirty="0">
                <a:solidFill>
                  <a:srgbClr val="0000FF"/>
                </a:solidFill>
                <a:effectLst>
                  <a:outerShdw blurRad="38100" dist="38100" dir="2700000" algn="tl">
                    <a:srgbClr val="000000">
                      <a:alpha val="43137"/>
                    </a:srgbClr>
                  </a:outerShdw>
                </a:effectLst>
              </a:rPr>
              <a:t>two mutually exclusive and collective exhaustive outcome</a:t>
            </a:r>
            <a:r>
              <a:rPr lang="en-US" dirty="0"/>
              <a:t>s of the random variable and one of them is referred to as a </a:t>
            </a:r>
            <a:r>
              <a:rPr lang="en-US" b="1" u="sng" dirty="0">
                <a:effectLst>
                  <a:outerShdw blurRad="38100" dist="38100" dir="2700000" algn="tl">
                    <a:srgbClr val="000000">
                      <a:alpha val="43137"/>
                    </a:srgbClr>
                  </a:outerShdw>
                </a:effectLst>
              </a:rPr>
              <a:t>success</a:t>
            </a:r>
            <a:r>
              <a:rPr lang="en-US" dirty="0"/>
              <a:t> and the other as a </a:t>
            </a:r>
            <a:r>
              <a:rPr lang="en-US" b="1" u="sng" dirty="0">
                <a:solidFill>
                  <a:srgbClr val="FF0000"/>
                </a:solidFill>
                <a:effectLst>
                  <a:outerShdw blurRad="38100" dist="38100" dir="2700000" algn="tl">
                    <a:srgbClr val="000000">
                      <a:alpha val="43137"/>
                    </a:srgbClr>
                  </a:outerShdw>
                </a:effectLst>
              </a:rPr>
              <a:t>failure</a:t>
            </a:r>
            <a:r>
              <a:rPr lang="en-US" dirty="0"/>
              <a:t>.</a:t>
            </a:r>
          </a:p>
          <a:p>
            <a:pPr marL="0" indent="0" algn="just">
              <a:buNone/>
            </a:pPr>
            <a:endParaRPr lang="en-US" dirty="0"/>
          </a:p>
          <a:p>
            <a:pPr algn="just"/>
            <a:r>
              <a:rPr lang="en-US" dirty="0"/>
              <a:t>2.	The random </a:t>
            </a:r>
            <a:r>
              <a:rPr lang="en-US" b="1" dirty="0">
                <a:effectLst>
                  <a:outerShdw blurRad="38100" dist="38100" dir="2700000" algn="tl">
                    <a:srgbClr val="000000">
                      <a:alpha val="43137"/>
                    </a:srgbClr>
                  </a:outerShdw>
                </a:effectLst>
              </a:rPr>
              <a:t>experiment is performed under the same conditions for a fixed and finite (also discrete) number of times, say n.</a:t>
            </a:r>
            <a:r>
              <a:rPr lang="en-US" dirty="0"/>
              <a:t> Each observation is called a trial. Each trial generates either a </a:t>
            </a:r>
            <a:r>
              <a:rPr lang="en-US" b="1" u="sng" dirty="0">
                <a:solidFill>
                  <a:srgbClr val="FF0000"/>
                </a:solidFill>
                <a:effectLst>
                  <a:outerShdw blurRad="38100" dist="38100" dir="2700000" algn="tl">
                    <a:srgbClr val="000000">
                      <a:alpha val="43137"/>
                    </a:srgbClr>
                  </a:outerShdw>
                </a:effectLst>
              </a:rPr>
              <a:t>success</a:t>
            </a:r>
            <a:r>
              <a:rPr lang="en-US" b="1" u="sng" dirty="0">
                <a:effectLst>
                  <a:outerShdw blurRad="38100" dist="38100" dir="2700000" algn="tl">
                    <a:srgbClr val="000000">
                      <a:alpha val="43137"/>
                    </a:srgbClr>
                  </a:outerShdw>
                </a:effectLst>
              </a:rPr>
              <a:t> denoted by </a:t>
            </a:r>
            <a:r>
              <a:rPr lang="en-US" sz="4100" b="1" u="sng" dirty="0">
                <a:solidFill>
                  <a:srgbClr val="FF0000"/>
                </a:solidFill>
                <a:effectLst>
                  <a:outerShdw blurRad="38100" dist="38100" dir="2700000" algn="tl">
                    <a:srgbClr val="000000">
                      <a:alpha val="43137"/>
                    </a:srgbClr>
                  </a:outerShdw>
                </a:effectLst>
              </a:rPr>
              <a:t>p</a:t>
            </a:r>
            <a:r>
              <a:rPr lang="en-US" b="1" dirty="0">
                <a:effectLst>
                  <a:outerShdw blurRad="38100" dist="38100" dir="2700000" algn="tl">
                    <a:srgbClr val="000000">
                      <a:alpha val="43137"/>
                    </a:srgbClr>
                  </a:outerShdw>
                </a:effectLst>
              </a:rPr>
              <a:t> </a:t>
            </a:r>
            <a:r>
              <a:rPr lang="en-US" dirty="0"/>
              <a:t>or </a:t>
            </a:r>
            <a:r>
              <a:rPr lang="en-US" b="1" u="sng" dirty="0">
                <a:effectLst>
                  <a:outerShdw blurRad="38100" dist="38100" dir="2700000" algn="tl">
                    <a:srgbClr val="000000">
                      <a:alpha val="43137"/>
                    </a:srgbClr>
                  </a:outerShdw>
                </a:effectLst>
              </a:rPr>
              <a:t>a </a:t>
            </a:r>
            <a:r>
              <a:rPr lang="en-US" b="1" u="sng" dirty="0">
                <a:solidFill>
                  <a:srgbClr val="FF0000"/>
                </a:solidFill>
                <a:effectLst>
                  <a:outerShdw blurRad="38100" dist="38100" dir="2700000" algn="tl">
                    <a:srgbClr val="000000">
                      <a:alpha val="43137"/>
                    </a:srgbClr>
                  </a:outerShdw>
                </a:effectLst>
              </a:rPr>
              <a:t>failure</a:t>
            </a:r>
            <a:r>
              <a:rPr lang="en-US" b="1" u="sng" dirty="0">
                <a:effectLst>
                  <a:outerShdw blurRad="38100" dist="38100" dir="2700000" algn="tl">
                    <a:srgbClr val="000000">
                      <a:alpha val="43137"/>
                    </a:srgbClr>
                  </a:outerShdw>
                </a:effectLst>
              </a:rPr>
              <a:t> denoted by </a:t>
            </a:r>
            <a:r>
              <a:rPr lang="en-US" sz="4100" b="1" u="sng" dirty="0">
                <a:solidFill>
                  <a:srgbClr val="FF0000"/>
                </a:solidFill>
                <a:effectLst>
                  <a:outerShdw blurRad="38100" dist="38100" dir="2700000" algn="tl">
                    <a:srgbClr val="000000">
                      <a:alpha val="43137"/>
                    </a:srgbClr>
                  </a:outerShdw>
                </a:effectLst>
              </a:rPr>
              <a:t>q</a:t>
            </a:r>
            <a:r>
              <a:rPr lang="en-US" b="1" u="sng" dirty="0">
                <a:effectLst>
                  <a:outerShdw blurRad="38100" dist="38100" dir="2700000" algn="tl">
                    <a:srgbClr val="000000">
                      <a:alpha val="43137"/>
                    </a:srgbClr>
                  </a:outerShdw>
                </a:effectLst>
              </a:rPr>
              <a:t>.</a:t>
            </a:r>
          </a:p>
          <a:p>
            <a:pPr marL="0" indent="0" algn="just">
              <a:buNone/>
            </a:pPr>
            <a:endParaRPr lang="en-US" dirty="0"/>
          </a:p>
          <a:p>
            <a:pPr algn="just"/>
            <a:r>
              <a:rPr lang="en-US" dirty="0"/>
              <a:t>3.	The outcome (i.e., success or failure) of any trial is not affected by the outcome of any other trial. Trials are Independent.</a:t>
            </a:r>
          </a:p>
          <a:p>
            <a:pPr marL="0" indent="0" algn="just">
              <a:buNone/>
            </a:pPr>
            <a:endParaRPr lang="en-US" dirty="0"/>
          </a:p>
          <a:p>
            <a:pPr algn="just"/>
            <a:r>
              <a:rPr lang="en-US" dirty="0"/>
              <a:t>4.	All the observations are assumed to be independent of each of each other. This means that the </a:t>
            </a:r>
            <a:r>
              <a:rPr lang="en-US" b="1" i="1" u="sng" dirty="0">
                <a:effectLst>
                  <a:outerShdw blurRad="38100" dist="38100" dir="2700000" algn="tl">
                    <a:srgbClr val="000000">
                      <a:alpha val="43137"/>
                    </a:srgbClr>
                  </a:outerShdw>
                </a:effectLst>
              </a:rPr>
              <a:t>probability of outcomes remains constant</a:t>
            </a:r>
            <a:r>
              <a:rPr lang="en-US" dirty="0"/>
              <a:t> throughout the process. </a:t>
            </a:r>
          </a:p>
          <a:p>
            <a:pPr algn="just">
              <a:buNone/>
            </a:pPr>
            <a:endParaRPr lang="en-US" dirty="0"/>
          </a:p>
          <a:p>
            <a:pPr algn="just"/>
            <a:r>
              <a:rPr lang="en-US" b="1" dirty="0">
                <a:solidFill>
                  <a:srgbClr val="7030A0"/>
                </a:solidFill>
                <a:effectLst>
                  <a:outerShdw blurRad="38100" dist="38100" dir="2700000" algn="tl">
                    <a:srgbClr val="000000">
                      <a:alpha val="43137"/>
                    </a:srgbClr>
                  </a:outerShdw>
                </a:effectLst>
              </a:rPr>
              <a:t>Thus, the probability of a </a:t>
            </a:r>
            <a:r>
              <a:rPr lang="en-US" b="1" dirty="0" err="1">
                <a:solidFill>
                  <a:srgbClr val="7030A0"/>
                </a:solidFill>
                <a:effectLst>
                  <a:outerShdw blurRad="38100" dist="38100" dir="2700000" algn="tl">
                    <a:srgbClr val="000000">
                      <a:alpha val="43137"/>
                    </a:srgbClr>
                  </a:outerShdw>
                </a:effectLst>
              </a:rPr>
              <a:t>sucess</a:t>
            </a:r>
            <a:r>
              <a:rPr lang="en-US" b="1" dirty="0">
                <a:solidFill>
                  <a:srgbClr val="7030A0"/>
                </a:solidFill>
                <a:effectLst>
                  <a:outerShdw blurRad="38100" dist="38100" dir="2700000" algn="tl">
                    <a:srgbClr val="000000">
                      <a:alpha val="43137"/>
                    </a:srgbClr>
                  </a:outerShdw>
                </a:effectLst>
              </a:rPr>
              <a:t>, denoted by p, remains constant from trial to trial. The possibility of a failure is q = 1 – p.</a:t>
            </a:r>
          </a:p>
          <a:p>
            <a:endParaRPr lang="en-US" dirty="0"/>
          </a:p>
        </p:txBody>
      </p:sp>
    </p:spTree>
    <p:extLst>
      <p:ext uri="{BB962C8B-B14F-4D97-AF65-F5344CB8AC3E}">
        <p14:creationId xmlns:p14="http://schemas.microsoft.com/office/powerpoint/2010/main" val="2822101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2209799"/>
          </a:xfrm>
        </p:spPr>
        <p:txBody>
          <a:bodyPr>
            <a:normAutofit fontScale="92500" lnSpcReduction="10000"/>
          </a:bodyPr>
          <a:lstStyle/>
          <a:p>
            <a:pPr algn="just"/>
            <a:r>
              <a:rPr lang="en-US" sz="2400" dirty="0">
                <a:solidFill>
                  <a:srgbClr val="0000FF"/>
                </a:solidFill>
                <a:effectLst>
                  <a:outerShdw blurRad="38100" dist="38100" dir="2700000" algn="tl">
                    <a:srgbClr val="000000">
                      <a:alpha val="43137"/>
                    </a:srgbClr>
                  </a:outerShdw>
                </a:effectLst>
              </a:rPr>
              <a:t>Binomial Probability Function </a:t>
            </a:r>
          </a:p>
          <a:p>
            <a:pPr algn="just"/>
            <a:r>
              <a:rPr lang="en-US" sz="2400" dirty="0"/>
              <a:t>In general, for a binomial random variable, </a:t>
            </a:r>
            <a:r>
              <a:rPr lang="en-US" sz="3600" dirty="0">
                <a:solidFill>
                  <a:srgbClr val="0000FF"/>
                </a:solidFill>
              </a:rPr>
              <a:t>x</a:t>
            </a:r>
            <a:r>
              <a:rPr lang="en-US" sz="2400" dirty="0"/>
              <a:t> the probability of success (occurrence of desired outcome) </a:t>
            </a:r>
            <a:r>
              <a:rPr lang="en-US" sz="3600" dirty="0">
                <a:solidFill>
                  <a:srgbClr val="0000FF"/>
                </a:solidFill>
              </a:rPr>
              <a:t>r</a:t>
            </a:r>
            <a:r>
              <a:rPr lang="en-US" sz="2400" dirty="0"/>
              <a:t> number of times in </a:t>
            </a:r>
            <a:r>
              <a:rPr lang="en-US" sz="3600" dirty="0">
                <a:solidFill>
                  <a:srgbClr val="0000FF"/>
                </a:solidFill>
              </a:rPr>
              <a:t>n</a:t>
            </a:r>
            <a:r>
              <a:rPr lang="en-US" sz="2400" dirty="0"/>
              <a:t> independent trials,  is given by the formula:  and is also called as probability density function of Binomial distribution</a:t>
            </a:r>
            <a:r>
              <a:rPr lang="en-US" sz="2800" dirty="0"/>
              <a:t>.</a:t>
            </a:r>
          </a:p>
          <a:p>
            <a:endParaRPr lang="en-US" sz="2400" dirty="0"/>
          </a:p>
          <a:p>
            <a:endParaRPr lang="en-US" sz="2400" dirty="0"/>
          </a:p>
          <a:p>
            <a:endParaRPr lang="en-US" sz="2400" dirty="0"/>
          </a:p>
          <a:p>
            <a:endParaRPr lang="en-US" sz="2400" dirty="0"/>
          </a:p>
        </p:txBody>
      </p:sp>
      <p:pic>
        <p:nvPicPr>
          <p:cNvPr id="8193"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3505200"/>
            <a:ext cx="9144000" cy="3352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3" cstate="print"/>
          <a:srcRect/>
          <a:stretch>
            <a:fillRect/>
          </a:stretch>
        </p:blipFill>
        <p:spPr bwMode="auto">
          <a:xfrm>
            <a:off x="152400" y="2133600"/>
            <a:ext cx="8686800" cy="1143000"/>
          </a:xfrm>
          <a:prstGeom prst="rect">
            <a:avLst/>
          </a:prstGeom>
          <a:noFill/>
          <a:ln w="9525">
            <a:noFill/>
            <a:miter lim="800000"/>
            <a:headEnd/>
            <a:tailEnd/>
          </a:ln>
          <a:effectLst/>
        </p:spPr>
      </p:pic>
    </p:spTree>
    <p:extLst>
      <p:ext uri="{BB962C8B-B14F-4D97-AF65-F5344CB8AC3E}">
        <p14:creationId xmlns:p14="http://schemas.microsoft.com/office/powerpoint/2010/main" val="673137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562" y="0"/>
            <a:ext cx="9116438" cy="6858000"/>
          </a:xfrm>
        </p:spPr>
        <p:txBody>
          <a:bodyPr>
            <a:normAutofit fontScale="92500" lnSpcReduction="20000"/>
          </a:bodyPr>
          <a:lstStyle/>
          <a:p>
            <a:pPr marL="0" indent="0" algn="just">
              <a:buNone/>
            </a:pPr>
            <a:r>
              <a:rPr lang="en-US" b="1" dirty="0">
                <a:solidFill>
                  <a:srgbClr val="0000FF"/>
                </a:solidFill>
                <a:effectLst>
                  <a:outerShdw blurRad="38100" dist="38100" dir="2700000" algn="tl">
                    <a:srgbClr val="000000">
                      <a:alpha val="43137"/>
                    </a:srgbClr>
                  </a:outerShdw>
                </a:effectLst>
              </a:rPr>
              <a:t>Characteristics of the </a:t>
            </a:r>
            <a:r>
              <a:rPr lang="en-US" b="1" dirty="0" err="1">
                <a:solidFill>
                  <a:srgbClr val="0000FF"/>
                </a:solidFill>
                <a:effectLst>
                  <a:outerShdw blurRad="38100" dist="38100" dir="2700000" algn="tl">
                    <a:srgbClr val="000000">
                      <a:alpha val="43137"/>
                    </a:srgbClr>
                  </a:outerShdw>
                </a:effectLst>
              </a:rPr>
              <a:t>Bionomial</a:t>
            </a:r>
            <a:r>
              <a:rPr lang="en-US" b="1" dirty="0">
                <a:solidFill>
                  <a:srgbClr val="0000FF"/>
                </a:solidFill>
                <a:effectLst>
                  <a:outerShdw blurRad="38100" dist="38100" dir="2700000" algn="tl">
                    <a:srgbClr val="000000">
                      <a:alpha val="43137"/>
                    </a:srgbClr>
                  </a:outerShdw>
                </a:effectLst>
              </a:rPr>
              <a:t> Distribution </a:t>
            </a:r>
          </a:p>
          <a:p>
            <a:pPr marL="0" indent="0" algn="just">
              <a:buNone/>
            </a:pPr>
            <a:r>
              <a:rPr lang="en-US" dirty="0"/>
              <a:t>The expression is known as binomial distribution with </a:t>
            </a:r>
            <a:r>
              <a:rPr lang="en-US" dirty="0">
                <a:solidFill>
                  <a:srgbClr val="FF0000"/>
                </a:solidFill>
              </a:rPr>
              <a:t>parameters </a:t>
            </a:r>
            <a:r>
              <a:rPr lang="en-US" dirty="0">
                <a:solidFill>
                  <a:srgbClr val="0000FF"/>
                </a:solidFill>
              </a:rPr>
              <a:t>n</a:t>
            </a:r>
            <a:r>
              <a:rPr lang="en-US" dirty="0">
                <a:solidFill>
                  <a:srgbClr val="FF0000"/>
                </a:solidFill>
              </a:rPr>
              <a:t> and </a:t>
            </a:r>
            <a:r>
              <a:rPr lang="en-US" dirty="0">
                <a:solidFill>
                  <a:srgbClr val="0000FF"/>
                </a:solidFill>
              </a:rPr>
              <a:t>p</a:t>
            </a:r>
            <a:r>
              <a:rPr lang="en-US" dirty="0"/>
              <a:t>. </a:t>
            </a:r>
          </a:p>
          <a:p>
            <a:pPr marL="0" indent="0" algn="just">
              <a:buNone/>
            </a:pPr>
            <a:endParaRPr lang="en-US" dirty="0"/>
          </a:p>
          <a:p>
            <a:pPr marL="0" indent="0" algn="just">
              <a:buNone/>
            </a:pPr>
            <a:r>
              <a:rPr lang="en-US" dirty="0"/>
              <a:t>Different values of </a:t>
            </a:r>
            <a:r>
              <a:rPr lang="en-US" dirty="0">
                <a:solidFill>
                  <a:srgbClr val="0000FF"/>
                </a:solidFill>
              </a:rPr>
              <a:t>n</a:t>
            </a:r>
            <a:r>
              <a:rPr lang="en-US" dirty="0"/>
              <a:t> and </a:t>
            </a:r>
            <a:r>
              <a:rPr lang="en-US" dirty="0">
                <a:solidFill>
                  <a:srgbClr val="0000FF"/>
                </a:solidFill>
              </a:rPr>
              <a:t>p</a:t>
            </a:r>
            <a:r>
              <a:rPr lang="en-US" dirty="0"/>
              <a:t> identify different binomial distributions which lead to different probabilities of         </a:t>
            </a:r>
            <a:r>
              <a:rPr lang="en-US" dirty="0" err="1">
                <a:solidFill>
                  <a:srgbClr val="0000FF"/>
                </a:solidFill>
                <a:effectLst>
                  <a:outerShdw blurRad="38100" dist="38100" dir="2700000" algn="tl">
                    <a:srgbClr val="000000">
                      <a:alpha val="43137"/>
                    </a:srgbClr>
                  </a:outerShdw>
                </a:effectLst>
              </a:rPr>
              <a:t>r-values</a:t>
            </a:r>
            <a:r>
              <a:rPr lang="en-US" dirty="0"/>
              <a:t>. </a:t>
            </a:r>
          </a:p>
          <a:p>
            <a:pPr marL="0" indent="0" algn="just">
              <a:buNone/>
            </a:pPr>
            <a:endParaRPr lang="en-US" dirty="0"/>
          </a:p>
          <a:p>
            <a:pPr marL="0" indent="0" algn="just">
              <a:buNone/>
            </a:pPr>
            <a:r>
              <a:rPr lang="en-US" b="1" u="sng" dirty="0">
                <a:effectLst>
                  <a:outerShdw blurRad="38100" dist="38100" dir="2700000" algn="tl">
                    <a:srgbClr val="000000">
                      <a:alpha val="43137"/>
                    </a:srgbClr>
                  </a:outerShdw>
                </a:effectLst>
              </a:rPr>
              <a:t>The mean and standard deviation</a:t>
            </a:r>
            <a:r>
              <a:rPr lang="en-US" dirty="0"/>
              <a:t> of a binomial distribution are computed in a shortcut manner as follows:</a:t>
            </a:r>
          </a:p>
          <a:p>
            <a:pPr algn="just"/>
            <a:r>
              <a:rPr lang="en-US" dirty="0"/>
              <a:t>Mean , μ = </a:t>
            </a:r>
            <a:r>
              <a:rPr lang="en-US" dirty="0" err="1"/>
              <a:t>np</a:t>
            </a:r>
            <a:r>
              <a:rPr lang="en-US" dirty="0"/>
              <a:t>,</a:t>
            </a:r>
          </a:p>
          <a:p>
            <a:pPr algn="just"/>
            <a:r>
              <a:rPr lang="en-US" dirty="0"/>
              <a:t>Standard deviation</a:t>
            </a:r>
          </a:p>
          <a:p>
            <a:pPr algn="just"/>
            <a:r>
              <a:rPr lang="en-US" dirty="0"/>
              <a:t>Variance = </a:t>
            </a:r>
            <a:r>
              <a:rPr lang="en-US" dirty="0" err="1"/>
              <a:t>n.p.q</a:t>
            </a:r>
            <a:r>
              <a:rPr lang="en-US" dirty="0"/>
              <a:t>  where q = 1-p</a:t>
            </a:r>
          </a:p>
          <a:p>
            <a:pPr algn="just"/>
            <a:r>
              <a:rPr lang="en-US" dirty="0"/>
              <a:t>If f(x)= </a:t>
            </a:r>
            <a:r>
              <a:rPr lang="en-US" dirty="0" err="1"/>
              <a:t>np</a:t>
            </a:r>
            <a:r>
              <a:rPr lang="en-US" dirty="0"/>
              <a:t>(x)  where n is trials, p(x) = probability density function</a:t>
            </a:r>
          </a:p>
          <a:p>
            <a:endParaRPr lang="en-US" dirty="0"/>
          </a:p>
        </p:txBody>
      </p:sp>
      <p:pic>
        <p:nvPicPr>
          <p:cNvPr id="4" name="img-212" descr="image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57600" y="5084667"/>
            <a:ext cx="1752600" cy="363855"/>
          </a:xfrm>
          <a:prstGeom prst="rect">
            <a:avLst/>
          </a:prstGeom>
          <a:noFill/>
          <a:ln>
            <a:noFill/>
          </a:ln>
        </p:spPr>
      </p:pic>
    </p:spTree>
    <p:extLst>
      <p:ext uri="{BB962C8B-B14F-4D97-AF65-F5344CB8AC3E}">
        <p14:creationId xmlns:p14="http://schemas.microsoft.com/office/powerpoint/2010/main" val="398821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55000" lnSpcReduction="20000"/>
          </a:bodyPr>
          <a:lstStyle/>
          <a:p>
            <a:pPr marL="0" indent="0" algn="just">
              <a:buNone/>
            </a:pPr>
            <a:r>
              <a:rPr lang="en-US" sz="4500" b="1" dirty="0">
                <a:solidFill>
                  <a:srgbClr val="0000FF"/>
                </a:solidFill>
              </a:rPr>
              <a:t>POISSON PROBABILITY DISTRIBUTION</a:t>
            </a:r>
          </a:p>
          <a:p>
            <a:pPr marL="0" indent="0" algn="just">
              <a:buNone/>
            </a:pPr>
            <a:endParaRPr lang="en-US" sz="4500" b="1" dirty="0">
              <a:solidFill>
                <a:srgbClr val="0000FF"/>
              </a:solidFill>
            </a:endParaRPr>
          </a:p>
          <a:p>
            <a:pPr algn="just">
              <a:spcBef>
                <a:spcPts val="0"/>
              </a:spcBef>
            </a:pPr>
            <a:r>
              <a:rPr lang="en-US" sz="3800" dirty="0"/>
              <a:t>Poisson distribution is named after the French mathematician S. Poisson (1781–1840)</a:t>
            </a:r>
          </a:p>
          <a:p>
            <a:pPr algn="just">
              <a:spcBef>
                <a:spcPts val="0"/>
              </a:spcBef>
            </a:pPr>
            <a:endParaRPr lang="en-US" sz="3800" dirty="0"/>
          </a:p>
          <a:p>
            <a:pPr algn="just">
              <a:spcBef>
                <a:spcPts val="0"/>
              </a:spcBef>
            </a:pPr>
            <a:r>
              <a:rPr lang="en-US" sz="3800" dirty="0"/>
              <a:t>The Poisson process measures the number of occurrences of a particular outcome of a </a:t>
            </a:r>
            <a:r>
              <a:rPr lang="en-US" sz="4400" b="1" u="sng" dirty="0">
                <a:solidFill>
                  <a:srgbClr val="FF0000"/>
                </a:solidFill>
                <a:effectLst>
                  <a:outerShdw blurRad="38100" dist="38100" dir="2700000" algn="tl">
                    <a:srgbClr val="000000">
                      <a:alpha val="43137"/>
                    </a:srgbClr>
                  </a:outerShdw>
                </a:effectLst>
              </a:rPr>
              <a:t>discrete random variable </a:t>
            </a:r>
            <a:r>
              <a:rPr lang="en-US" sz="4400" u="dbl" dirty="0">
                <a:effectLst>
                  <a:outerShdw blurRad="38100" dist="38100" dir="2700000" algn="tl">
                    <a:srgbClr val="000000">
                      <a:alpha val="43137"/>
                    </a:srgbClr>
                  </a:outerShdw>
                </a:effectLst>
                <a:uFill>
                  <a:solidFill>
                    <a:srgbClr val="FF0000"/>
                  </a:solidFill>
                </a:uFill>
              </a:rPr>
              <a:t>in a predetermined time interval, space, or volume</a:t>
            </a:r>
            <a:r>
              <a:rPr lang="en-US" sz="3800" dirty="0">
                <a:effectLst>
                  <a:outerShdw blurRad="38100" dist="38100" dir="2700000" algn="tl">
                    <a:srgbClr val="000000">
                      <a:alpha val="43137"/>
                    </a:srgbClr>
                  </a:outerShdw>
                </a:effectLst>
              </a:rPr>
              <a:t>,</a:t>
            </a:r>
            <a:r>
              <a:rPr lang="en-US" sz="3800" dirty="0"/>
              <a:t> for which an </a:t>
            </a:r>
            <a:r>
              <a:rPr lang="en-US" sz="4500" b="1" dirty="0">
                <a:effectLst>
                  <a:outerShdw blurRad="38100" dist="38100" dir="2700000" algn="tl">
                    <a:srgbClr val="000000">
                      <a:alpha val="43137"/>
                    </a:srgbClr>
                  </a:outerShdw>
                </a:effectLst>
              </a:rPr>
              <a:t>average number of occurrences of the outcome is known or can be determined</a:t>
            </a:r>
            <a:r>
              <a:rPr lang="en-US" dirty="0"/>
              <a:t>. </a:t>
            </a:r>
          </a:p>
          <a:p>
            <a:pPr marL="0" indent="0" algn="just">
              <a:spcBef>
                <a:spcPts val="0"/>
              </a:spcBef>
              <a:buNone/>
            </a:pPr>
            <a:r>
              <a:rPr lang="en-US" dirty="0"/>
              <a:t> </a:t>
            </a:r>
          </a:p>
          <a:p>
            <a:pPr algn="just">
              <a:spcBef>
                <a:spcPts val="0"/>
              </a:spcBef>
            </a:pPr>
            <a:r>
              <a:rPr lang="en-US" dirty="0"/>
              <a:t>A probability distribution which has a following probability function is called as Poisson distribution</a:t>
            </a:r>
          </a:p>
          <a:p>
            <a:pPr algn="just">
              <a:spcBef>
                <a:spcPts val="0"/>
              </a:spcBef>
            </a:pPr>
            <a:endParaRPr lang="en-US" dirty="0"/>
          </a:p>
          <a:p>
            <a:pPr marL="0" indent="0" algn="just">
              <a:spcBef>
                <a:spcPts val="0"/>
              </a:spcBef>
              <a:buNone/>
            </a:pPr>
            <a:endParaRPr lang="en-US" dirty="0"/>
          </a:p>
          <a:p>
            <a:pPr marL="0" indent="0" algn="just">
              <a:spcBef>
                <a:spcPts val="0"/>
              </a:spcBef>
              <a:buNone/>
            </a:pPr>
            <a:endParaRPr lang="en-US" sz="3600" dirty="0"/>
          </a:p>
          <a:p>
            <a:pPr algn="just">
              <a:spcBef>
                <a:spcPts val="0"/>
              </a:spcBef>
            </a:pPr>
            <a:endParaRPr lang="en-US" sz="3600" dirty="0"/>
          </a:p>
          <a:p>
            <a:pPr algn="just">
              <a:spcBef>
                <a:spcPts val="0"/>
              </a:spcBef>
            </a:pPr>
            <a:r>
              <a:rPr lang="en-US" sz="3600" dirty="0"/>
              <a:t>Where  </a:t>
            </a:r>
            <a:r>
              <a:rPr lang="en-US" sz="5100" b="1" dirty="0">
                <a:effectLst>
                  <a:outerShdw blurRad="38100" dist="38100" dir="2700000" algn="tl">
                    <a:srgbClr val="000000">
                      <a:alpha val="43137"/>
                    </a:srgbClr>
                  </a:outerShdw>
                </a:effectLst>
              </a:rPr>
              <a:t>r = 0,1,2,3</a:t>
            </a:r>
            <a:r>
              <a:rPr lang="en-US" sz="3600" dirty="0"/>
              <a:t>…… and  </a:t>
            </a:r>
            <a:r>
              <a:rPr lang="en-US" sz="5100" b="1" dirty="0">
                <a:solidFill>
                  <a:srgbClr val="FF0000"/>
                </a:solidFill>
                <a:effectLst>
                  <a:outerShdw blurRad="38100" dist="38100" dir="2700000" algn="tl">
                    <a:srgbClr val="000000">
                      <a:alpha val="43137"/>
                    </a:srgbClr>
                  </a:outerShdw>
                </a:effectLst>
              </a:rPr>
              <a:t>m </a:t>
            </a:r>
            <a:r>
              <a:rPr lang="en-US" sz="5100" b="1" dirty="0">
                <a:solidFill>
                  <a:srgbClr val="FF0000"/>
                </a:solidFill>
                <a:effectLst>
                  <a:outerShdw blurRad="38100" dist="38100" dir="2700000" algn="tl">
                    <a:srgbClr val="000000">
                      <a:alpha val="43137"/>
                    </a:srgbClr>
                  </a:outerShdw>
                </a:effectLst>
                <a:sym typeface="Wingdings" pitchFamily="2" charset="2"/>
              </a:rPr>
              <a:t> ≥ </a:t>
            </a:r>
            <a:r>
              <a:rPr lang="en-US" sz="5100" b="1" dirty="0">
                <a:solidFill>
                  <a:srgbClr val="FF0000"/>
                </a:solidFill>
                <a:effectLst>
                  <a:outerShdw blurRad="38100" dist="38100" dir="2700000" algn="tl">
                    <a:srgbClr val="000000">
                      <a:alpha val="43137"/>
                    </a:srgbClr>
                  </a:outerShdw>
                </a:effectLst>
              </a:rPr>
              <a:t> 0,  </a:t>
            </a:r>
            <a:r>
              <a:rPr lang="en-US" sz="5100" b="1" dirty="0">
                <a:solidFill>
                  <a:srgbClr val="00B0F0"/>
                </a:solidFill>
                <a:effectLst>
                  <a:outerShdw blurRad="38100" dist="38100" dir="2700000" algn="tl">
                    <a:srgbClr val="000000">
                      <a:alpha val="43137"/>
                    </a:srgbClr>
                  </a:outerShdw>
                </a:effectLst>
              </a:rPr>
              <a:t>r</a:t>
            </a:r>
            <a:r>
              <a:rPr lang="en-US" sz="5100" b="1" dirty="0">
                <a:solidFill>
                  <a:srgbClr val="FF0000"/>
                </a:solidFill>
                <a:effectLst>
                  <a:outerShdw blurRad="38100" dist="38100" dir="2700000" algn="tl">
                    <a:srgbClr val="000000">
                      <a:alpha val="43137"/>
                    </a:srgbClr>
                  </a:outerShdw>
                </a:effectLst>
              </a:rPr>
              <a:t>  </a:t>
            </a:r>
            <a:r>
              <a:rPr lang="en-US" sz="3600" dirty="0">
                <a:sym typeface="Wingdings" pitchFamily="2" charset="2"/>
              </a:rPr>
              <a:t> </a:t>
            </a:r>
            <a:r>
              <a:rPr lang="en-US" sz="3600" b="1" dirty="0">
                <a:solidFill>
                  <a:srgbClr val="00B0F0"/>
                </a:solidFill>
                <a:effectLst>
                  <a:outerShdw blurRad="38100" dist="38100" dir="2700000" algn="tl">
                    <a:srgbClr val="000000">
                      <a:alpha val="43137"/>
                    </a:srgbClr>
                  </a:outerShdw>
                </a:effectLst>
                <a:sym typeface="Wingdings" pitchFamily="2" charset="2"/>
              </a:rPr>
              <a:t>known as </a:t>
            </a:r>
            <a:r>
              <a:rPr lang="en-US" sz="3600" b="1" dirty="0" err="1">
                <a:solidFill>
                  <a:srgbClr val="00B0F0"/>
                </a:solidFill>
                <a:effectLst>
                  <a:outerShdw blurRad="38100" dist="38100" dir="2700000" algn="tl">
                    <a:srgbClr val="000000">
                      <a:alpha val="43137"/>
                    </a:srgbClr>
                  </a:outerShdw>
                </a:effectLst>
                <a:sym typeface="Wingdings" pitchFamily="2" charset="2"/>
              </a:rPr>
              <a:t>poisson</a:t>
            </a:r>
            <a:r>
              <a:rPr lang="en-US" sz="3600" b="1" dirty="0">
                <a:solidFill>
                  <a:srgbClr val="00B0F0"/>
                </a:solidFill>
                <a:effectLst>
                  <a:outerShdw blurRad="38100" dist="38100" dir="2700000" algn="tl">
                    <a:srgbClr val="000000">
                      <a:alpha val="43137"/>
                    </a:srgbClr>
                  </a:outerShdw>
                </a:effectLst>
                <a:sym typeface="Wingdings" pitchFamily="2" charset="2"/>
              </a:rPr>
              <a:t> </a:t>
            </a:r>
            <a:r>
              <a:rPr lang="en-US" sz="3600" b="1" dirty="0" err="1">
                <a:solidFill>
                  <a:srgbClr val="00B0F0"/>
                </a:solidFill>
                <a:effectLst>
                  <a:outerShdw blurRad="38100" dist="38100" dir="2700000" algn="tl">
                    <a:srgbClr val="000000">
                      <a:alpha val="43137"/>
                    </a:srgbClr>
                  </a:outerShdw>
                </a:effectLst>
                <a:sym typeface="Wingdings" pitchFamily="2" charset="2"/>
              </a:rPr>
              <a:t>variate</a:t>
            </a:r>
            <a:r>
              <a:rPr lang="en-US" sz="3600" dirty="0">
                <a:sym typeface="Wingdings" pitchFamily="2" charset="2"/>
              </a:rPr>
              <a:t>. Since </a:t>
            </a:r>
            <a:r>
              <a:rPr lang="en-US" sz="5100" b="1" dirty="0">
                <a:solidFill>
                  <a:srgbClr val="00B0F0"/>
                </a:solidFill>
                <a:effectLst>
                  <a:outerShdw blurRad="38100" dist="38100" dir="2700000" algn="tl">
                    <a:srgbClr val="000000">
                      <a:alpha val="43137"/>
                    </a:srgbClr>
                  </a:outerShdw>
                </a:effectLst>
                <a:sym typeface="Wingdings" pitchFamily="2" charset="2"/>
              </a:rPr>
              <a:t>r </a:t>
            </a:r>
            <a:r>
              <a:rPr lang="en-US" sz="3600" dirty="0">
                <a:sym typeface="Wingdings" pitchFamily="2" charset="2"/>
              </a:rPr>
              <a:t>takes discontinuous  value the </a:t>
            </a:r>
            <a:r>
              <a:rPr lang="en-US" sz="3600" dirty="0" err="1">
                <a:sym typeface="Wingdings" pitchFamily="2" charset="2"/>
              </a:rPr>
              <a:t>poisson</a:t>
            </a:r>
            <a:r>
              <a:rPr lang="en-US" sz="3600" dirty="0">
                <a:sym typeface="Wingdings" pitchFamily="2" charset="2"/>
              </a:rPr>
              <a:t>  distribution is discontinuous distribution or discrete distribution. </a:t>
            </a:r>
            <a:r>
              <a:rPr lang="en-US" sz="5100" b="1" dirty="0">
                <a:solidFill>
                  <a:srgbClr val="00B0F0"/>
                </a:solidFill>
                <a:sym typeface="Wingdings" pitchFamily="2" charset="2"/>
              </a:rPr>
              <a:t>m</a:t>
            </a:r>
            <a:r>
              <a:rPr lang="en-US" sz="3600" dirty="0">
                <a:sym typeface="Wingdings" pitchFamily="2" charset="2"/>
              </a:rPr>
              <a:t> is known as parameter for </a:t>
            </a:r>
            <a:r>
              <a:rPr lang="en-US" sz="3600" dirty="0" err="1">
                <a:sym typeface="Wingdings" pitchFamily="2" charset="2"/>
              </a:rPr>
              <a:t>poisson</a:t>
            </a:r>
            <a:r>
              <a:rPr lang="en-US" sz="3600" dirty="0">
                <a:sym typeface="Wingdings" pitchFamily="2" charset="2"/>
              </a:rPr>
              <a:t> distribution</a:t>
            </a:r>
          </a:p>
          <a:p>
            <a:pPr marL="0" indent="0" algn="just">
              <a:spcBef>
                <a:spcPts val="0"/>
              </a:spcBef>
              <a:buNone/>
            </a:pPr>
            <a:endParaRPr lang="en-US" sz="3600" dirty="0">
              <a:sym typeface="Wingdings" pitchFamily="2" charset="2"/>
            </a:endParaRPr>
          </a:p>
          <a:p>
            <a:pPr marL="0" indent="0" algn="just">
              <a:spcBef>
                <a:spcPts val="0"/>
              </a:spcBef>
              <a:buNone/>
            </a:pPr>
            <a:endParaRPr lang="en-US" sz="3600" dirty="0">
              <a:sym typeface="Wingdings" pitchFamily="2" charset="2"/>
            </a:endParaRPr>
          </a:p>
          <a:p>
            <a:pPr marL="0" indent="0" algn="just">
              <a:spcBef>
                <a:spcPts val="0"/>
              </a:spcBef>
              <a:buNone/>
            </a:pPr>
            <a:endParaRPr lang="en-US" sz="3600" dirty="0">
              <a:sym typeface="Wingdings" pitchFamily="2" charset="2"/>
            </a:endParaRPr>
          </a:p>
          <a:p>
            <a:pPr marL="0" indent="0" algn="just">
              <a:spcBef>
                <a:spcPts val="0"/>
              </a:spcBef>
              <a:buNone/>
            </a:pPr>
            <a:r>
              <a:rPr lang="en-US" sz="3600" dirty="0">
                <a:solidFill>
                  <a:srgbClr val="0000FF"/>
                </a:solidFill>
                <a:effectLst>
                  <a:outerShdw blurRad="38100" dist="38100" dir="2700000" algn="tl">
                    <a:srgbClr val="000000">
                      <a:alpha val="43137"/>
                    </a:srgbClr>
                  </a:outerShdw>
                </a:effectLst>
                <a:sym typeface="Wingdings" pitchFamily="2" charset="2"/>
              </a:rPr>
              <a:t>The Poisson distribution is limiting form of binomial distribution when  P  0  and</a:t>
            </a:r>
          </a:p>
          <a:p>
            <a:pPr marL="0" indent="0" algn="just">
              <a:spcBef>
                <a:spcPts val="0"/>
              </a:spcBef>
              <a:buNone/>
            </a:pPr>
            <a:endParaRPr lang="en-US" sz="3600" dirty="0">
              <a:sym typeface="Wingdings" pitchFamily="2" charset="2"/>
            </a:endParaRPr>
          </a:p>
          <a:p>
            <a:pPr marL="0" indent="0" algn="just">
              <a:spcBef>
                <a:spcPts val="0"/>
              </a:spcBef>
              <a:buNone/>
            </a:pPr>
            <a:r>
              <a:rPr lang="en-US" sz="3600" dirty="0">
                <a:sym typeface="Wingdings" pitchFamily="2" charset="2"/>
              </a:rPr>
              <a:t>                        In that case  </a:t>
            </a:r>
            <a:r>
              <a:rPr lang="en-US" sz="5100" b="1" dirty="0">
                <a:solidFill>
                  <a:srgbClr val="FF0000"/>
                </a:solidFill>
                <a:effectLst>
                  <a:outerShdw blurRad="38100" dist="38100" dir="2700000" algn="tl">
                    <a:srgbClr val="000000">
                      <a:alpha val="43137"/>
                    </a:srgbClr>
                  </a:outerShdw>
                </a:effectLst>
                <a:sym typeface="Wingdings" pitchFamily="2" charset="2"/>
              </a:rPr>
              <a:t>m  = n . p</a:t>
            </a:r>
            <a:endParaRPr lang="en-US" sz="5100" b="1" dirty="0">
              <a:solidFill>
                <a:srgbClr val="FF0000"/>
              </a:solidFill>
              <a:effectLst>
                <a:outerShdw blurRad="38100" dist="38100" dir="2700000" algn="tl">
                  <a:srgbClr val="000000">
                    <a:alpha val="43137"/>
                  </a:srgbClr>
                </a:outerShdw>
              </a:effectLst>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71800" y="3048000"/>
            <a:ext cx="3429000" cy="1181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107" y="6172200"/>
            <a:ext cx="1143000" cy="468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6506" y="5291330"/>
            <a:ext cx="6867294"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00945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8991600" cy="6705600"/>
          </a:xfrm>
        </p:spPr>
        <p:txBody>
          <a:bodyPr>
            <a:normAutofit fontScale="77500" lnSpcReduction="20000"/>
          </a:bodyPr>
          <a:lstStyle/>
          <a:p>
            <a:pPr marL="0" indent="0">
              <a:buNone/>
            </a:pPr>
            <a:r>
              <a:rPr lang="en-US" sz="3800" b="1" dirty="0">
                <a:solidFill>
                  <a:srgbClr val="0000FF"/>
                </a:solidFill>
                <a:effectLst>
                  <a:outerShdw blurRad="38100" dist="38100" dir="2700000" algn="tl">
                    <a:srgbClr val="000000">
                      <a:alpha val="43137"/>
                    </a:srgbClr>
                  </a:outerShdw>
                </a:effectLst>
              </a:rPr>
              <a:t>In the Poisson process, the random variable values need counting. Such a count might be </a:t>
            </a:r>
          </a:p>
          <a:p>
            <a:endParaRPr lang="en-US" sz="3800" dirty="0"/>
          </a:p>
          <a:p>
            <a:pPr marL="0" indent="0" algn="just">
              <a:buNone/>
            </a:pPr>
            <a:r>
              <a:rPr lang="en-US" sz="3800" dirty="0"/>
              <a:t>(i) number of telephone calls per hour coming into the switchboard, </a:t>
            </a:r>
          </a:p>
          <a:p>
            <a:pPr algn="just"/>
            <a:endParaRPr lang="en-US" sz="3800" dirty="0"/>
          </a:p>
          <a:p>
            <a:pPr marL="0" indent="0" algn="just">
              <a:buNone/>
            </a:pPr>
            <a:r>
              <a:rPr lang="en-US" sz="3800" dirty="0"/>
              <a:t>(ii) number of fatal traffic accidents per week in a city/state, </a:t>
            </a:r>
          </a:p>
          <a:p>
            <a:pPr algn="just"/>
            <a:endParaRPr lang="en-US" sz="3800" dirty="0"/>
          </a:p>
          <a:p>
            <a:pPr marL="0" indent="0" algn="just">
              <a:buNone/>
            </a:pPr>
            <a:r>
              <a:rPr lang="en-US" sz="3800" dirty="0"/>
              <a:t>(iii) number of patients arriving at a health center every hour, </a:t>
            </a:r>
          </a:p>
          <a:p>
            <a:pPr marL="0" indent="0" algn="just">
              <a:buNone/>
            </a:pPr>
            <a:endParaRPr lang="en-US" sz="3800" dirty="0"/>
          </a:p>
          <a:p>
            <a:pPr marL="0" indent="0" algn="just">
              <a:buNone/>
            </a:pPr>
            <a:r>
              <a:rPr lang="en-US" sz="3800" dirty="0"/>
              <a:t>(iv) number of cars waiting for service in a workshop, </a:t>
            </a:r>
          </a:p>
          <a:p>
            <a:pPr algn="just"/>
            <a:endParaRPr lang="en-US" sz="3800" dirty="0"/>
          </a:p>
          <a:p>
            <a:pPr marL="0" indent="0" algn="just">
              <a:buNone/>
            </a:pPr>
            <a:r>
              <a:rPr lang="en-US" sz="3800" dirty="0"/>
              <a:t>(vi) number of flaws per unit length of some wire, and so on</a:t>
            </a:r>
          </a:p>
          <a:p>
            <a:endParaRPr lang="en-US" dirty="0"/>
          </a:p>
        </p:txBody>
      </p:sp>
    </p:spTree>
    <p:extLst>
      <p:ext uri="{BB962C8B-B14F-4D97-AF65-F5344CB8AC3E}">
        <p14:creationId xmlns:p14="http://schemas.microsoft.com/office/powerpoint/2010/main" val="23801456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20000"/>
          </a:bodyPr>
          <a:lstStyle/>
          <a:p>
            <a:pPr marL="0" indent="0">
              <a:buNone/>
            </a:pPr>
            <a:r>
              <a:rPr lang="en-US" b="1" dirty="0">
                <a:solidFill>
                  <a:srgbClr val="FF0000"/>
                </a:solidFill>
              </a:rPr>
              <a:t>Conditions for Poisson Process </a:t>
            </a:r>
          </a:p>
          <a:p>
            <a:pPr lvl="0" algn="just"/>
            <a:r>
              <a:rPr lang="en-US" dirty="0"/>
              <a:t>The outcomes within any interval occur randomly and independently of one another.</a:t>
            </a:r>
          </a:p>
          <a:p>
            <a:pPr marL="0" lvl="0" indent="0" algn="just">
              <a:buNone/>
            </a:pPr>
            <a:endParaRPr lang="en-US" dirty="0"/>
          </a:p>
          <a:p>
            <a:pPr lvl="0" algn="just"/>
            <a:r>
              <a:rPr lang="en-US" dirty="0"/>
              <a:t>The probability of one occurrence in a small time interval is proportional to the length of the interval and independent of the specific time interval.</a:t>
            </a:r>
          </a:p>
          <a:p>
            <a:pPr marL="0" lvl="0" indent="0" algn="just">
              <a:buNone/>
            </a:pPr>
            <a:endParaRPr lang="en-US" dirty="0"/>
          </a:p>
          <a:p>
            <a:pPr lvl="0" algn="just"/>
            <a:r>
              <a:rPr lang="en-US" dirty="0"/>
              <a:t>The probability of more than one occurrence in a small time interval is negligible when compared to the probability of just one occurrence in the same time interval.</a:t>
            </a:r>
          </a:p>
          <a:p>
            <a:pPr marL="0" lvl="0" indent="0" algn="just">
              <a:buNone/>
            </a:pPr>
            <a:endParaRPr lang="en-US" dirty="0"/>
          </a:p>
          <a:p>
            <a:pPr lvl="0" algn="just"/>
            <a:r>
              <a:rPr lang="en-US" dirty="0"/>
              <a:t>The average number of occurrences is constant for all time intervals of the same size.</a:t>
            </a:r>
          </a:p>
          <a:p>
            <a:endParaRPr lang="en-US" dirty="0"/>
          </a:p>
        </p:txBody>
      </p:sp>
    </p:spTree>
    <p:extLst>
      <p:ext uri="{BB962C8B-B14F-4D97-AF65-F5344CB8AC3E}">
        <p14:creationId xmlns:p14="http://schemas.microsoft.com/office/powerpoint/2010/main" val="41091000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Autofit/>
          </a:bodyPr>
          <a:lstStyle/>
          <a:p>
            <a:pPr algn="just"/>
            <a:r>
              <a:rPr lang="en-US" sz="2800" b="1" dirty="0">
                <a:solidFill>
                  <a:srgbClr val="0000FF"/>
                </a:solidFill>
                <a:effectLst>
                  <a:outerShdw blurRad="38100" dist="38100" dir="2700000" algn="tl">
                    <a:srgbClr val="000000">
                      <a:alpha val="43137"/>
                    </a:srgbClr>
                  </a:outerShdw>
                </a:effectLst>
              </a:rPr>
              <a:t>Continuous random variables </a:t>
            </a:r>
            <a:r>
              <a:rPr lang="en-US" sz="2800" dirty="0"/>
              <a:t>such as </a:t>
            </a:r>
            <a:r>
              <a:rPr lang="en-US" sz="2800" dirty="0">
                <a:solidFill>
                  <a:srgbClr val="FF0000"/>
                </a:solidFill>
                <a:effectLst>
                  <a:outerShdw blurRad="38100" dist="38100" dir="2700000" algn="tl">
                    <a:srgbClr val="000000">
                      <a:alpha val="43137"/>
                    </a:srgbClr>
                  </a:outerShdw>
                </a:effectLst>
              </a:rPr>
              <a:t>height</a:t>
            </a:r>
            <a:r>
              <a:rPr lang="en-US" sz="2800" dirty="0">
                <a:effectLst>
                  <a:outerShdw blurRad="38100" dist="38100" dir="2700000" algn="tl">
                    <a:srgbClr val="000000">
                      <a:alpha val="43137"/>
                    </a:srgbClr>
                  </a:outerShdw>
                </a:effectLst>
              </a:rPr>
              <a:t>, </a:t>
            </a:r>
            <a:r>
              <a:rPr lang="en-US" sz="2800" dirty="0">
                <a:solidFill>
                  <a:srgbClr val="00B050"/>
                </a:solidFill>
                <a:effectLst>
                  <a:outerShdw blurRad="38100" dist="38100" dir="2700000" algn="tl">
                    <a:srgbClr val="000000">
                      <a:alpha val="43137"/>
                    </a:srgbClr>
                  </a:outerShdw>
                </a:effectLst>
              </a:rPr>
              <a:t>time</a:t>
            </a:r>
            <a:r>
              <a:rPr lang="en-US" sz="2800" dirty="0">
                <a:effectLst>
                  <a:outerShdw blurRad="38100" dist="38100" dir="2700000" algn="tl">
                    <a:srgbClr val="000000">
                      <a:alpha val="43137"/>
                    </a:srgbClr>
                  </a:outerShdw>
                </a:effectLst>
              </a:rPr>
              <a:t>, </a:t>
            </a:r>
            <a:r>
              <a:rPr lang="en-US" sz="2800" dirty="0">
                <a:solidFill>
                  <a:schemeClr val="accent2">
                    <a:lumMod val="50000"/>
                  </a:schemeClr>
                </a:solidFill>
                <a:effectLst>
                  <a:outerShdw blurRad="38100" dist="38100" dir="2700000" algn="tl">
                    <a:srgbClr val="000000">
                      <a:alpha val="43137"/>
                    </a:srgbClr>
                  </a:outerShdw>
                </a:effectLst>
              </a:rPr>
              <a:t>weight</a:t>
            </a:r>
            <a:r>
              <a:rPr lang="en-US" sz="2800" dirty="0">
                <a:effectLst>
                  <a:outerShdw blurRad="38100" dist="38100" dir="2700000" algn="tl">
                    <a:srgbClr val="000000">
                      <a:alpha val="43137"/>
                    </a:srgbClr>
                  </a:outerShdw>
                </a:effectLst>
              </a:rPr>
              <a:t>, </a:t>
            </a:r>
            <a:r>
              <a:rPr lang="en-US" sz="2800" dirty="0">
                <a:solidFill>
                  <a:schemeClr val="accent6">
                    <a:lumMod val="75000"/>
                  </a:schemeClr>
                </a:solidFill>
                <a:effectLst>
                  <a:outerShdw blurRad="38100" dist="38100" dir="2700000" algn="tl">
                    <a:srgbClr val="000000">
                      <a:alpha val="43137"/>
                    </a:srgbClr>
                  </a:outerShdw>
                </a:effectLst>
              </a:rPr>
              <a:t>monetary values</a:t>
            </a:r>
            <a:r>
              <a:rPr lang="en-US" sz="2800" dirty="0">
                <a:effectLst>
                  <a:outerShdw blurRad="38100" dist="38100" dir="2700000" algn="tl">
                    <a:srgbClr val="000000">
                      <a:alpha val="43137"/>
                    </a:srgbClr>
                  </a:outerShdw>
                </a:effectLst>
              </a:rPr>
              <a:t>, </a:t>
            </a:r>
            <a:r>
              <a:rPr lang="en-US" sz="2800" dirty="0">
                <a:solidFill>
                  <a:srgbClr val="7030A0"/>
                </a:solidFill>
                <a:effectLst>
                  <a:outerShdw blurRad="38100" dist="38100" dir="2700000" algn="tl">
                    <a:srgbClr val="000000">
                      <a:alpha val="43137"/>
                    </a:srgbClr>
                  </a:outerShdw>
                </a:effectLst>
              </a:rPr>
              <a:t>length of life of a particular product</a:t>
            </a:r>
            <a:r>
              <a:rPr lang="en-US" sz="2800" dirty="0"/>
              <a:t>, etc. can take large number of observable values corresponding to points on a line interval much like the infinite number of grains of sand on a beach. </a:t>
            </a:r>
          </a:p>
          <a:p>
            <a:pPr algn="just"/>
            <a:r>
              <a:rPr lang="en-US" sz="2800" dirty="0"/>
              <a:t>The sum of probability to each of these infinitely large values is </a:t>
            </a:r>
            <a:r>
              <a:rPr lang="en-US" sz="2800" b="1" u="sng" dirty="0">
                <a:effectLst>
                  <a:outerShdw blurRad="38100" dist="38100" dir="2700000" algn="tl">
                    <a:srgbClr val="000000">
                      <a:alpha val="43137"/>
                    </a:srgbClr>
                  </a:outerShdw>
                </a:effectLst>
              </a:rPr>
              <a:t>no longer sum to 1</a:t>
            </a:r>
            <a:r>
              <a:rPr lang="en-US" sz="2800" dirty="0"/>
              <a:t>.</a:t>
            </a:r>
          </a:p>
          <a:p>
            <a:pPr algn="just"/>
            <a:r>
              <a:rPr lang="en-US" sz="2800" dirty="0"/>
              <a:t>Nature seems to follow a predictable pattern for many kinds of measurements. </a:t>
            </a:r>
          </a:p>
          <a:p>
            <a:pPr algn="just"/>
            <a:r>
              <a:rPr lang="en-US" sz="2800" dirty="0"/>
              <a:t>A frequency distribution of values of random variable observed in nature which follows this pattern is approximately bell shaped. </a:t>
            </a:r>
          </a:p>
          <a:p>
            <a:pPr algn="just"/>
            <a:r>
              <a:rPr lang="en-US" sz="2800" dirty="0"/>
              <a:t>A special case of distribution of measurements is called a </a:t>
            </a:r>
            <a:r>
              <a:rPr lang="en-US" sz="2800" b="1" dirty="0">
                <a:solidFill>
                  <a:srgbClr val="0000FF"/>
                </a:solidFill>
              </a:rPr>
              <a:t>normal curve (or distribution</a:t>
            </a:r>
            <a:r>
              <a:rPr lang="en-US" sz="2800" b="1" dirty="0"/>
              <a:t>).</a:t>
            </a:r>
            <a:endParaRPr lang="en-US" sz="2800" dirty="0"/>
          </a:p>
        </p:txBody>
      </p:sp>
    </p:spTree>
    <p:extLst>
      <p:ext uri="{BB962C8B-B14F-4D97-AF65-F5344CB8AC3E}">
        <p14:creationId xmlns:p14="http://schemas.microsoft.com/office/powerpoint/2010/main" val="3793584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0" y="152400"/>
            <a:ext cx="5105400" cy="6629400"/>
          </a:xfrm>
        </p:spPr>
        <p:txBody>
          <a:bodyPr>
            <a:normAutofit fontScale="92500" lnSpcReduction="10000"/>
          </a:bodyPr>
          <a:lstStyle/>
          <a:p>
            <a:pPr marL="0" indent="0" algn="just">
              <a:buNone/>
            </a:pPr>
            <a:r>
              <a:rPr lang="en-US" sz="3500" b="1" dirty="0">
                <a:solidFill>
                  <a:srgbClr val="0000FF"/>
                </a:solidFill>
                <a:effectLst>
                  <a:outerShdw blurRad="38100" dist="38100" dir="2700000" algn="tl">
                    <a:srgbClr val="000000">
                      <a:alpha val="43137"/>
                    </a:srgbClr>
                  </a:outerShdw>
                </a:effectLst>
              </a:rPr>
              <a:t>NORMAL DISTRIBUTION</a:t>
            </a:r>
            <a:r>
              <a:rPr lang="en-US" sz="3000" dirty="0"/>
              <a:t>: </a:t>
            </a:r>
          </a:p>
          <a:p>
            <a:pPr marL="0" indent="0" algn="just">
              <a:buNone/>
            </a:pPr>
            <a:r>
              <a:rPr lang="en-US" dirty="0"/>
              <a:t>Is one of the most important continuous theoretical distribution in statistics. </a:t>
            </a:r>
          </a:p>
          <a:p>
            <a:pPr marL="0" indent="0" algn="just">
              <a:buNone/>
            </a:pPr>
            <a:endParaRPr lang="en-US" dirty="0"/>
          </a:p>
          <a:p>
            <a:pPr marL="0" indent="0" algn="just">
              <a:buNone/>
            </a:pPr>
            <a:r>
              <a:rPr lang="en-US" dirty="0"/>
              <a:t>A continuous probability distribution in which the curve is bell-shaped having a single peak. </a:t>
            </a:r>
          </a:p>
          <a:p>
            <a:pPr algn="just"/>
            <a:endParaRPr lang="en-US" dirty="0"/>
          </a:p>
          <a:p>
            <a:pPr marL="0" indent="0" algn="just">
              <a:buNone/>
            </a:pPr>
            <a:r>
              <a:rPr lang="en-US" dirty="0"/>
              <a:t>The mean of the distribution lies at the center of the curve and the curve is symmetrical around a vertical line recognized at the mean. The tails of the curve extend indefinitely parallel to the horizontal axis.</a:t>
            </a:r>
          </a:p>
          <a:p>
            <a:endParaRPr lang="en-US" dirty="0"/>
          </a:p>
        </p:txBody>
      </p:sp>
      <p:pic>
        <p:nvPicPr>
          <p:cNvPr id="6146" name="Picture 2"/>
          <p:cNvPicPr>
            <a:picLocks noGrp="1" noChangeAspect="1" noChangeArrowheads="1"/>
          </p:cNvPicPr>
          <p:nvPr>
            <p:ph sz="half" idx="2"/>
          </p:nvPr>
        </p:nvPicPr>
        <p:blipFill>
          <a:blip r:embed="rId2" cstate="print">
            <a:extLst>
              <a:ext uri="{28A0092B-C50C-407E-A947-70E740481C1C}">
                <a14:useLocalDpi xmlns:a14="http://schemas.microsoft.com/office/drawing/2010/main" val="0"/>
              </a:ext>
            </a:extLst>
          </a:blip>
          <a:srcRect/>
          <a:stretch>
            <a:fillRect/>
          </a:stretch>
        </p:blipFill>
        <p:spPr bwMode="auto">
          <a:xfrm>
            <a:off x="5127553" y="990600"/>
            <a:ext cx="4035902"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95591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229600" cy="6248400"/>
          </a:xfrm>
        </p:spPr>
        <p:txBody>
          <a:bodyPr>
            <a:normAutofit lnSpcReduction="10000"/>
          </a:bodyPr>
          <a:lstStyle/>
          <a:p>
            <a:pPr marL="0" indent="0" algn="just">
              <a:buNone/>
            </a:pPr>
            <a:endParaRPr lang="en-US" dirty="0"/>
          </a:p>
          <a:p>
            <a:pPr algn="just"/>
            <a:r>
              <a:rPr lang="en-US" dirty="0"/>
              <a:t>The normal distribution also known as </a:t>
            </a:r>
            <a:r>
              <a:rPr lang="en-US" i="1" dirty="0"/>
              <a:t>Gaussian distribution</a:t>
            </a:r>
            <a:r>
              <a:rPr lang="en-US" dirty="0"/>
              <a:t> is due to the work of German mathematician Karl Friedrich Gauss during the early part of the 19th century. </a:t>
            </a:r>
          </a:p>
          <a:p>
            <a:pPr algn="just"/>
            <a:endParaRPr lang="en-US" dirty="0"/>
          </a:p>
          <a:p>
            <a:pPr algn="just"/>
            <a:r>
              <a:rPr lang="en-US" dirty="0"/>
              <a:t>Normal distribution provides an adequate representation of a continuous phenomenon or process such as daily changes in the stock market index, frequency of arrivals of customers at a bank, frequency of telephone calls into a switch board, customer servicing times, and so on.</a:t>
            </a:r>
          </a:p>
        </p:txBody>
      </p:sp>
    </p:spTree>
    <p:extLst>
      <p:ext uri="{BB962C8B-B14F-4D97-AF65-F5344CB8AC3E}">
        <p14:creationId xmlns:p14="http://schemas.microsoft.com/office/powerpoint/2010/main" val="4293903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067800" cy="6858000"/>
          </a:xfrm>
        </p:spPr>
        <p:txBody>
          <a:bodyPr>
            <a:normAutofit fontScale="85000" lnSpcReduction="10000"/>
          </a:bodyPr>
          <a:lstStyle/>
          <a:p>
            <a:pPr algn="just"/>
            <a:r>
              <a:rPr lang="en-US" b="1" u="sng" dirty="0">
                <a:solidFill>
                  <a:srgbClr val="0000FF"/>
                </a:solidFill>
                <a:effectLst>
                  <a:outerShdw blurRad="38100" dist="38100" dir="2700000" algn="tl">
                    <a:srgbClr val="000000">
                      <a:alpha val="43137"/>
                    </a:srgbClr>
                  </a:outerShdw>
                </a:effectLst>
              </a:rPr>
              <a:t>Standard Normal Probability Distribution</a:t>
            </a:r>
            <a:r>
              <a:rPr lang="en-US" dirty="0"/>
              <a:t>: To deal with problems where the normal probability distribution is applicable more simply, it is necessary that a random variable </a:t>
            </a:r>
            <a:r>
              <a:rPr lang="en-US" sz="4100" b="1" dirty="0">
                <a:solidFill>
                  <a:srgbClr val="0000FF"/>
                </a:solidFill>
                <a:effectLst>
                  <a:outerShdw blurRad="38100" dist="38100" dir="2700000" algn="tl">
                    <a:srgbClr val="000000">
                      <a:alpha val="43137"/>
                    </a:srgbClr>
                  </a:outerShdw>
                </a:effectLst>
              </a:rPr>
              <a:t>x</a:t>
            </a:r>
            <a:r>
              <a:rPr lang="en-US" dirty="0"/>
              <a:t> is standardized by expressing its value as the number of standard deviations </a:t>
            </a:r>
            <a:r>
              <a:rPr lang="en-US" sz="4100" b="1" dirty="0">
                <a:solidFill>
                  <a:srgbClr val="0000FF"/>
                </a:solidFill>
                <a:effectLst>
                  <a:outerShdw blurRad="38100" dist="38100" dir="2700000" algn="tl">
                    <a:srgbClr val="000000">
                      <a:alpha val="43137"/>
                    </a:srgbClr>
                  </a:outerShdw>
                </a:effectLst>
              </a:rPr>
              <a:t>(σ)</a:t>
            </a:r>
            <a:r>
              <a:rPr lang="en-US" dirty="0"/>
              <a:t> it lies to the left or right of its mean </a:t>
            </a:r>
            <a:r>
              <a:rPr lang="en-US" b="1" dirty="0">
                <a:solidFill>
                  <a:srgbClr val="0000FF"/>
                </a:solidFill>
                <a:effectLst>
                  <a:outerShdw blurRad="38100" dist="38100" dir="2700000" algn="tl">
                    <a:srgbClr val="000000">
                      <a:alpha val="43137"/>
                    </a:srgbClr>
                  </a:outerShdw>
                </a:effectLst>
              </a:rPr>
              <a:t>(μ)</a:t>
            </a:r>
            <a:r>
              <a:rPr lang="en-US" dirty="0"/>
              <a:t>. The standardized normal random variable, z (also called z–statistic, z–score or normal </a:t>
            </a:r>
            <a:r>
              <a:rPr lang="en-US" dirty="0" err="1"/>
              <a:t>variate</a:t>
            </a:r>
            <a:r>
              <a:rPr lang="en-US" dirty="0"/>
              <a:t>) is defined as:</a:t>
            </a:r>
          </a:p>
          <a:p>
            <a:pPr algn="just"/>
            <a:endParaRPr lang="en-US" dirty="0"/>
          </a:p>
          <a:p>
            <a:pPr algn="just"/>
            <a:endParaRPr lang="en-US" dirty="0"/>
          </a:p>
          <a:p>
            <a:pPr algn="just"/>
            <a:endParaRPr lang="en-US" dirty="0"/>
          </a:p>
          <a:p>
            <a:pPr algn="just"/>
            <a:endParaRPr lang="en-US" dirty="0"/>
          </a:p>
          <a:p>
            <a:pPr algn="just"/>
            <a:r>
              <a:rPr lang="en-US" dirty="0"/>
              <a:t>we may conclude that</a:t>
            </a:r>
          </a:p>
          <a:p>
            <a:pPr lvl="0" algn="just"/>
            <a:r>
              <a:rPr lang="en-US" dirty="0"/>
              <a:t>When </a:t>
            </a:r>
            <a:r>
              <a:rPr lang="en-US" i="1" dirty="0"/>
              <a:t>x</a:t>
            </a:r>
            <a:r>
              <a:rPr lang="en-US" dirty="0"/>
              <a:t> is less than the mean (μ), the value of </a:t>
            </a:r>
            <a:r>
              <a:rPr lang="en-US" i="1" dirty="0"/>
              <a:t>z</a:t>
            </a:r>
            <a:r>
              <a:rPr lang="en-US" dirty="0"/>
              <a:t> is negative</a:t>
            </a:r>
          </a:p>
          <a:p>
            <a:pPr lvl="0" algn="just"/>
            <a:r>
              <a:rPr lang="en-US" dirty="0"/>
              <a:t>When </a:t>
            </a:r>
            <a:r>
              <a:rPr lang="en-US" i="1" dirty="0"/>
              <a:t>x</a:t>
            </a:r>
            <a:r>
              <a:rPr lang="en-US" dirty="0"/>
              <a:t> is more than the mean (μ), the value of </a:t>
            </a:r>
            <a:r>
              <a:rPr lang="en-US" i="1" dirty="0"/>
              <a:t>z</a:t>
            </a:r>
            <a:r>
              <a:rPr lang="en-US" dirty="0"/>
              <a:t> is positive</a:t>
            </a:r>
          </a:p>
          <a:p>
            <a:pPr lvl="0" algn="just"/>
            <a:r>
              <a:rPr lang="en-US" dirty="0"/>
              <a:t>When </a:t>
            </a:r>
            <a:r>
              <a:rPr lang="en-US" i="1" dirty="0"/>
              <a:t>x</a:t>
            </a:r>
            <a:r>
              <a:rPr lang="en-US" dirty="0"/>
              <a:t> = μ, the value of </a:t>
            </a:r>
            <a:r>
              <a:rPr lang="en-US" i="1" dirty="0"/>
              <a:t>z</a:t>
            </a:r>
            <a:r>
              <a:rPr lang="en-US" dirty="0"/>
              <a:t> = 0.</a:t>
            </a:r>
          </a:p>
          <a:p>
            <a:endParaRPr lang="en-US" dirty="0"/>
          </a:p>
          <a:p>
            <a:endParaRPr lang="en-US" dirty="0"/>
          </a:p>
        </p:txBody>
      </p:sp>
      <p:pic>
        <p:nvPicPr>
          <p:cNvPr id="6154" name="Picture 10"/>
          <p:cNvPicPr>
            <a:picLocks noChangeAspect="1" noChangeArrowheads="1"/>
          </p:cNvPicPr>
          <p:nvPr/>
        </p:nvPicPr>
        <p:blipFill>
          <a:blip r:embed="rId2" cstate="print"/>
          <a:srcRect/>
          <a:stretch>
            <a:fillRect/>
          </a:stretch>
        </p:blipFill>
        <p:spPr bwMode="auto">
          <a:xfrm>
            <a:off x="1981200" y="3505200"/>
            <a:ext cx="2057400" cy="781050"/>
          </a:xfrm>
          <a:prstGeom prst="rect">
            <a:avLst/>
          </a:prstGeom>
          <a:noFill/>
          <a:ln w="9525">
            <a:noFill/>
            <a:miter lim="800000"/>
            <a:headEnd/>
            <a:tailEnd/>
          </a:ln>
          <a:effectLst/>
        </p:spPr>
      </p:pic>
    </p:spTree>
    <p:extLst>
      <p:ext uri="{BB962C8B-B14F-4D97-AF65-F5344CB8AC3E}">
        <p14:creationId xmlns:p14="http://schemas.microsoft.com/office/powerpoint/2010/main" val="42693075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81000"/>
            <a:ext cx="8839200" cy="6248400"/>
          </a:xfrm>
        </p:spPr>
        <p:txBody>
          <a:bodyPr>
            <a:normAutofit fontScale="77500" lnSpcReduction="20000"/>
          </a:bodyPr>
          <a:lstStyle/>
          <a:p>
            <a:pPr marL="0" indent="0" algn="just">
              <a:buNone/>
            </a:pPr>
            <a:r>
              <a:rPr lang="en-US" sz="4100" b="1" dirty="0">
                <a:solidFill>
                  <a:srgbClr val="0000FF"/>
                </a:solidFill>
              </a:rPr>
              <a:t>BAYES' THEOREM</a:t>
            </a:r>
          </a:p>
          <a:p>
            <a:pPr algn="just"/>
            <a:r>
              <a:rPr lang="en-US" sz="3400" dirty="0"/>
              <a:t>In the 18th Century Reverend Thomas Bayes, an English Presbyterian minister, raised a question: Does God really exist? To answer this question, he attempted to develop a formula to determine the probability that God does exist based on evidence that was available to him on earth. Later Laplace refined Bayes' work and gave it the name Bayes' Theorem.</a:t>
            </a:r>
          </a:p>
          <a:p>
            <a:pPr algn="just"/>
            <a:endParaRPr lang="en-US" sz="3400" dirty="0"/>
          </a:p>
          <a:p>
            <a:pPr algn="just"/>
            <a:r>
              <a:rPr lang="en-US" sz="3400" dirty="0"/>
              <a:t>Bayes' theorem: A method to compute posterior probabilities (conditional probabilities under statistical dependence).</a:t>
            </a:r>
          </a:p>
          <a:p>
            <a:pPr algn="just"/>
            <a:endParaRPr lang="en-US" sz="3400" dirty="0"/>
          </a:p>
          <a:p>
            <a:pPr algn="just"/>
            <a:r>
              <a:rPr lang="en-US" sz="3400" dirty="0"/>
              <a:t>The Bayes' theorem is useful in revising the original probability estimates of known outcomes as we gain additional information about these outcomes. The prior probabilities, when changed in the light of new information, are c</a:t>
            </a:r>
            <a:r>
              <a:rPr lang="en-US" dirty="0"/>
              <a:t>alled revised or posterior probabilities.</a:t>
            </a:r>
          </a:p>
        </p:txBody>
      </p:sp>
    </p:spTree>
    <p:extLst>
      <p:ext uri="{BB962C8B-B14F-4D97-AF65-F5344CB8AC3E}">
        <p14:creationId xmlns:p14="http://schemas.microsoft.com/office/powerpoint/2010/main" val="8377650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1855</TotalTime>
  <Words>3071</Words>
  <Application>Microsoft Office PowerPoint</Application>
  <PresentationFormat>On-screen Show (4:3)</PresentationFormat>
  <Paragraphs>240</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Wingdings</vt:lpstr>
      <vt:lpstr>Office Theme</vt:lpstr>
      <vt:lpstr>Fundamentals of Probability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Probability</dc:title>
  <dc:creator>vtu</dc:creator>
  <cp:lastModifiedBy>Umesh Bhushi</cp:lastModifiedBy>
  <cp:revision>287</cp:revision>
  <dcterms:created xsi:type="dcterms:W3CDTF">2016-08-30T10:02:08Z</dcterms:created>
  <dcterms:modified xsi:type="dcterms:W3CDTF">2025-12-23T07:34:18Z</dcterms:modified>
</cp:coreProperties>
</file>