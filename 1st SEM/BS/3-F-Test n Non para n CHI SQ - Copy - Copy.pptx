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2" r:id="rId11"/>
    <p:sldId id="265" r:id="rId12"/>
    <p:sldId id="266" r:id="rId13"/>
    <p:sldId id="267" r:id="rId14"/>
    <p:sldId id="268" r:id="rId15"/>
    <p:sldId id="269" r:id="rId16"/>
    <p:sldId id="270" r:id="rId17"/>
    <p:sldId id="271"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90" r:id="rId35"/>
    <p:sldId id="291" r:id="rId36"/>
    <p:sldId id="292" r:id="rId37"/>
    <p:sldId id="313" r:id="rId38"/>
    <p:sldId id="314"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15" r:id="rId56"/>
    <p:sldId id="310" r:id="rId57"/>
    <p:sldId id="311" r:id="rId58"/>
    <p:sldId id="312"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21C9148-6C95-45EE-9179-9FC6D59F3254}" type="datetimeFigureOut">
              <a:rPr lang="en-US" smtClean="0"/>
              <a:pPr/>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9172D0-0DEA-4627-B9AB-BAC9D3960C5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1C9148-6C95-45EE-9179-9FC6D59F3254}" type="datetimeFigureOut">
              <a:rPr lang="en-US" smtClean="0"/>
              <a:pPr/>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9172D0-0DEA-4627-B9AB-BAC9D3960C5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21C9148-6C95-45EE-9179-9FC6D59F3254}" type="datetimeFigureOut">
              <a:rPr lang="en-US" smtClean="0"/>
              <a:pPr/>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9172D0-0DEA-4627-B9AB-BAC9D3960C5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21C9148-6C95-45EE-9179-9FC6D59F3254}" type="datetimeFigureOut">
              <a:rPr lang="en-US" smtClean="0"/>
              <a:pPr/>
              <a:t>4/30/2023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9172D0-0DEA-4627-B9AB-BAC9D3960C5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21C9148-6C95-45EE-9179-9FC6D59F3254}" type="datetimeFigureOut">
              <a:rPr lang="en-US" smtClean="0"/>
              <a:pPr/>
              <a:t>4/30/2023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9172D0-0DEA-4627-B9AB-BAC9D3960C5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1C9148-6C95-45EE-9179-9FC6D59F3254}" type="datetimeFigureOut">
              <a:rPr lang="en-US" smtClean="0"/>
              <a:pPr/>
              <a:t>4/30/2023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9172D0-0DEA-4627-B9AB-BAC9D3960C5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1C9148-6C95-45EE-9179-9FC6D59F3254}" type="datetimeFigureOut">
              <a:rPr lang="en-US" smtClean="0"/>
              <a:pPr/>
              <a:t>4/30/2023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9172D0-0DEA-4627-B9AB-BAC9D3960C5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1C9148-6C95-45EE-9179-9FC6D59F3254}" type="datetimeFigureOut">
              <a:rPr lang="en-US" smtClean="0"/>
              <a:pPr/>
              <a:t>4/30/2023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9172D0-0DEA-4627-B9AB-BAC9D3960C5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1C9148-6C95-45EE-9179-9FC6D59F3254}" type="datetimeFigureOut">
              <a:rPr lang="en-US" smtClean="0"/>
              <a:pPr/>
              <a:t>4/30/2023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9172D0-0DEA-4627-B9AB-BAC9D3960C5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1C9148-6C95-45EE-9179-9FC6D59F3254}" type="datetimeFigureOut">
              <a:rPr lang="en-US" smtClean="0"/>
              <a:pPr/>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9172D0-0DEA-4627-B9AB-BAC9D3960C5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1C9148-6C95-45EE-9179-9FC6D59F3254}" type="datetimeFigureOut">
              <a:rPr lang="en-US" smtClean="0"/>
              <a:pPr/>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9172D0-0DEA-4627-B9AB-BAC9D3960C5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1C9148-6C95-45EE-9179-9FC6D59F3254}" type="datetimeFigureOut">
              <a:rPr lang="en-US" smtClean="0"/>
              <a:pPr/>
              <a:t>4/30/2023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9172D0-0DEA-4627-B9AB-BAC9D3960C5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F-Test</a:t>
            </a:r>
            <a:br>
              <a:rPr lang="en-US" dirty="0" smtClean="0"/>
            </a:br>
            <a:r>
              <a:rPr lang="en-US" dirty="0" smtClean="0"/>
              <a:t>Non-PARA</a:t>
            </a:r>
            <a:br>
              <a:rPr lang="en-US" dirty="0" smtClean="0"/>
            </a:br>
            <a:r>
              <a:rPr lang="en-US" dirty="0" err="1" smtClean="0"/>
              <a:t>Kruskal</a:t>
            </a:r>
            <a:r>
              <a:rPr lang="en-US" dirty="0" smtClean="0"/>
              <a:t> </a:t>
            </a:r>
            <a:r>
              <a:rPr lang="en-US" dirty="0" err="1" smtClean="0"/>
              <a:t>wallis</a:t>
            </a:r>
            <a:r>
              <a:rPr lang="en-US" dirty="0" smtClean="0"/>
              <a:t> &amp; Man-Whitney U Test</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just">
              <a:buNone/>
            </a:pPr>
            <a:r>
              <a:rPr lang="en-US" sz="2800" b="1" dirty="0" smtClean="0">
                <a:solidFill>
                  <a:srgbClr val="0066FF"/>
                </a:solidFill>
              </a:rPr>
              <a:t>TESTING THE EQUALITY OF VARIANCES OF TWO NORMAL POPULATIONS </a:t>
            </a:r>
            <a:r>
              <a:rPr lang="en-US" sz="3600" b="1" dirty="0" smtClean="0">
                <a:solidFill>
                  <a:srgbClr val="FF0000"/>
                </a:solidFill>
              </a:rPr>
              <a:t>F- TEST</a:t>
            </a:r>
            <a:endParaRPr lang="en-US" sz="1800" b="1" dirty="0" smtClean="0">
              <a:solidFill>
                <a:srgbClr val="FF0000"/>
              </a:solidFill>
            </a:endParaRPr>
          </a:p>
          <a:p>
            <a:pPr algn="just"/>
            <a:r>
              <a:rPr lang="en-US" sz="2400" b="1" dirty="0" smtClean="0"/>
              <a:t>When we want to test the equality of variances of two normal populations, we make use of </a:t>
            </a:r>
            <a:r>
              <a:rPr lang="en-US" sz="2400" b="1" i="1" dirty="0" smtClean="0"/>
              <a:t>F-test </a:t>
            </a:r>
            <a:r>
              <a:rPr lang="en-US" sz="2400" b="1" dirty="0" smtClean="0"/>
              <a:t>based on </a:t>
            </a:r>
            <a:r>
              <a:rPr lang="en-US" sz="2400" b="1" i="1" dirty="0" smtClean="0"/>
              <a:t>F-distribution. In such a situation, the null hypothesis happens to be :</a:t>
            </a:r>
          </a:p>
          <a:p>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2971800" y="2286000"/>
            <a:ext cx="2514600" cy="6858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cstate="print"/>
          <a:srcRect/>
          <a:stretch>
            <a:fillRect/>
          </a:stretch>
        </p:blipFill>
        <p:spPr bwMode="auto">
          <a:xfrm>
            <a:off x="6781800" y="5334000"/>
            <a:ext cx="2362200" cy="1295400"/>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cstate="print"/>
          <a:srcRect/>
          <a:stretch>
            <a:fillRect/>
          </a:stretch>
        </p:blipFill>
        <p:spPr bwMode="auto">
          <a:xfrm>
            <a:off x="0" y="2895600"/>
            <a:ext cx="8991600" cy="838200"/>
          </a:xfrm>
          <a:prstGeom prst="rect">
            <a:avLst/>
          </a:prstGeom>
          <a:noFill/>
          <a:ln w="9525">
            <a:noFill/>
            <a:miter lim="800000"/>
            <a:headEnd/>
            <a:tailEnd/>
          </a:ln>
          <a:effectLst/>
        </p:spPr>
      </p:pic>
      <p:sp>
        <p:nvSpPr>
          <p:cNvPr id="9" name="Rectangle 8"/>
          <p:cNvSpPr/>
          <p:nvPr/>
        </p:nvSpPr>
        <p:spPr>
          <a:xfrm>
            <a:off x="0" y="3886200"/>
            <a:ext cx="8991600" cy="830997"/>
          </a:xfrm>
          <a:prstGeom prst="rect">
            <a:avLst/>
          </a:prstGeom>
        </p:spPr>
        <p:txBody>
          <a:bodyPr wrap="square">
            <a:spAutoFit/>
          </a:bodyPr>
          <a:lstStyle/>
          <a:p>
            <a:pPr algn="just"/>
            <a:r>
              <a:rPr lang="en-US" sz="2400" dirty="0" smtClean="0"/>
              <a:t>This hypothesis is tested on </a:t>
            </a:r>
            <a:r>
              <a:rPr lang="en-US" sz="2400" smtClean="0"/>
              <a:t>the basis of </a:t>
            </a:r>
            <a:r>
              <a:rPr lang="en-US" sz="2400" dirty="0" smtClean="0"/>
              <a:t>sample data and the test statistic </a:t>
            </a:r>
            <a:r>
              <a:rPr lang="en-US" sz="2400" i="1" dirty="0" smtClean="0"/>
              <a:t>F is found,</a:t>
            </a:r>
            <a:endParaRPr lang="en-US" sz="2400" dirty="0"/>
          </a:p>
        </p:txBody>
      </p:sp>
      <p:pic>
        <p:nvPicPr>
          <p:cNvPr id="1032" name="Picture 8"/>
          <p:cNvPicPr>
            <a:picLocks noChangeAspect="1" noChangeArrowheads="1"/>
          </p:cNvPicPr>
          <p:nvPr/>
        </p:nvPicPr>
        <p:blipFill>
          <a:blip r:embed="rId5" cstate="print"/>
          <a:srcRect/>
          <a:stretch>
            <a:fillRect/>
          </a:stretch>
        </p:blipFill>
        <p:spPr bwMode="auto">
          <a:xfrm>
            <a:off x="2514600" y="4267200"/>
            <a:ext cx="6477000" cy="1143000"/>
          </a:xfrm>
          <a:prstGeom prst="rect">
            <a:avLst/>
          </a:prstGeom>
          <a:noFill/>
          <a:ln w="9525">
            <a:noFill/>
            <a:miter lim="800000"/>
            <a:headEnd/>
            <a:tailEnd/>
          </a:ln>
          <a:effectLst/>
        </p:spPr>
      </p:pic>
      <p:pic>
        <p:nvPicPr>
          <p:cNvPr id="1034" name="Picture 10"/>
          <p:cNvPicPr>
            <a:picLocks noChangeAspect="1" noChangeArrowheads="1"/>
          </p:cNvPicPr>
          <p:nvPr/>
        </p:nvPicPr>
        <p:blipFill>
          <a:blip r:embed="rId6" cstate="print"/>
          <a:srcRect/>
          <a:stretch>
            <a:fillRect/>
          </a:stretch>
        </p:blipFill>
        <p:spPr bwMode="auto">
          <a:xfrm>
            <a:off x="0" y="5562600"/>
            <a:ext cx="6248400" cy="129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126163"/>
          </a:xfrm>
        </p:spPr>
        <p:txBody>
          <a:bodyPr>
            <a:normAutofit/>
          </a:bodyPr>
          <a:lstStyle/>
          <a:p>
            <a:pPr algn="just"/>
            <a:r>
              <a:rPr lang="en-US" b="1" dirty="0" smtClean="0">
                <a:solidFill>
                  <a:srgbClr val="0000FF"/>
                </a:solidFill>
                <a:effectLst>
                  <a:outerShdw blurRad="38100" dist="38100" dir="2700000" algn="tl">
                    <a:srgbClr val="000000">
                      <a:alpha val="43137"/>
                    </a:srgbClr>
                  </a:outerShdw>
                </a:effectLst>
              </a:rPr>
              <a:t>When we use the </a:t>
            </a:r>
            <a:r>
              <a:rPr lang="en-US" b="1" i="1" dirty="0" smtClean="0">
                <a:solidFill>
                  <a:srgbClr val="0000FF"/>
                </a:solidFill>
                <a:effectLst>
                  <a:outerShdw blurRad="38100" dist="38100" dir="2700000" algn="tl">
                    <a:srgbClr val="000000">
                      <a:alpha val="43137"/>
                    </a:srgbClr>
                  </a:outerShdw>
                </a:effectLst>
              </a:rPr>
              <a:t>F-test, we presume that</a:t>
            </a:r>
          </a:p>
          <a:p>
            <a:pPr>
              <a:buNone/>
            </a:pPr>
            <a:r>
              <a:rPr lang="en-US" dirty="0" smtClean="0"/>
              <a:t>(</a:t>
            </a:r>
            <a:r>
              <a:rPr lang="en-US" dirty="0" err="1" smtClean="0"/>
              <a:t>i</a:t>
            </a:r>
            <a:r>
              <a:rPr lang="en-US" dirty="0" smtClean="0"/>
              <a:t>) the populations are normal;</a:t>
            </a:r>
          </a:p>
          <a:p>
            <a:pPr>
              <a:buNone/>
            </a:pPr>
            <a:r>
              <a:rPr lang="en-US" dirty="0" smtClean="0"/>
              <a:t>(ii) samples have been drawn randomly;</a:t>
            </a:r>
          </a:p>
          <a:p>
            <a:pPr>
              <a:buNone/>
            </a:pPr>
            <a:r>
              <a:rPr lang="en-US" dirty="0" smtClean="0"/>
              <a:t>(iii) observations are independent; and</a:t>
            </a:r>
          </a:p>
          <a:p>
            <a:pPr>
              <a:buNone/>
            </a:pPr>
            <a:r>
              <a:rPr lang="en-US" dirty="0" smtClean="0"/>
              <a:t>(iv) there is no measurement error.</a:t>
            </a:r>
          </a:p>
          <a:p>
            <a:pPr algn="just"/>
            <a:r>
              <a:rPr lang="en-US" b="1" u="sng" dirty="0" smtClean="0">
                <a:solidFill>
                  <a:srgbClr val="FF0000"/>
                </a:solidFill>
                <a:effectLst>
                  <a:outerShdw blurRad="38100" dist="38100" dir="2700000" algn="tl">
                    <a:srgbClr val="000000">
                      <a:alpha val="43137"/>
                    </a:srgbClr>
                  </a:outerShdw>
                </a:effectLst>
              </a:rPr>
              <a:t>The object</a:t>
            </a:r>
            <a:r>
              <a:rPr lang="en-US" b="1" dirty="0" smtClean="0">
                <a:solidFill>
                  <a:srgbClr val="FF0000"/>
                </a:solidFill>
                <a:effectLst>
                  <a:outerShdw blurRad="38100" dist="38100" dir="2700000" algn="tl">
                    <a:srgbClr val="000000">
                      <a:alpha val="43137"/>
                    </a:srgbClr>
                  </a:outerShdw>
                </a:effectLst>
              </a:rPr>
              <a:t> </a:t>
            </a:r>
            <a:r>
              <a:rPr lang="en-US" dirty="0" smtClean="0">
                <a:solidFill>
                  <a:srgbClr val="0066FF"/>
                </a:solidFill>
                <a:effectLst>
                  <a:outerShdw blurRad="38100" dist="38100" dir="2700000" algn="tl">
                    <a:srgbClr val="000000">
                      <a:alpha val="43137"/>
                    </a:srgbClr>
                  </a:outerShdw>
                </a:effectLst>
              </a:rPr>
              <a:t>of </a:t>
            </a:r>
            <a:r>
              <a:rPr lang="en-US" i="1" dirty="0" smtClean="0">
                <a:solidFill>
                  <a:srgbClr val="0066FF"/>
                </a:solidFill>
                <a:effectLst>
                  <a:outerShdw blurRad="38100" dist="38100" dir="2700000" algn="tl">
                    <a:srgbClr val="000000">
                      <a:alpha val="43137"/>
                    </a:srgbClr>
                  </a:outerShdw>
                </a:effectLst>
              </a:rPr>
              <a:t>F-test is to test the hypothesis whether the </a:t>
            </a:r>
            <a:r>
              <a:rPr lang="en-US" i="1" u="dbl" dirty="0" smtClean="0">
                <a:solidFill>
                  <a:srgbClr val="0000FF"/>
                </a:solidFill>
                <a:effectLst>
                  <a:outerShdw blurRad="38100" dist="38100" dir="2700000" algn="tl">
                    <a:srgbClr val="000000">
                      <a:alpha val="43137"/>
                    </a:srgbClr>
                  </a:outerShdw>
                </a:effectLst>
                <a:uFill>
                  <a:solidFill>
                    <a:srgbClr val="00B050"/>
                  </a:solidFill>
                </a:uFill>
              </a:rPr>
              <a:t>two samples are from the same normal </a:t>
            </a:r>
            <a:r>
              <a:rPr lang="en-US" u="dbl" dirty="0" smtClean="0">
                <a:solidFill>
                  <a:srgbClr val="0000FF"/>
                </a:solidFill>
                <a:effectLst>
                  <a:outerShdw blurRad="38100" dist="38100" dir="2700000" algn="tl">
                    <a:srgbClr val="000000">
                      <a:alpha val="43137"/>
                    </a:srgbClr>
                  </a:outerShdw>
                </a:effectLst>
                <a:uFill>
                  <a:solidFill>
                    <a:srgbClr val="00B050"/>
                  </a:solidFill>
                </a:uFill>
              </a:rPr>
              <a:t>population</a:t>
            </a:r>
            <a:r>
              <a:rPr lang="en-US" u="dbl" dirty="0" smtClean="0">
                <a:solidFill>
                  <a:srgbClr val="0066FF"/>
                </a:solidFill>
                <a:effectLst>
                  <a:outerShdw blurRad="38100" dist="38100" dir="2700000" algn="tl">
                    <a:srgbClr val="000000">
                      <a:alpha val="43137"/>
                    </a:srgbClr>
                  </a:outerShdw>
                </a:effectLst>
                <a:uFill>
                  <a:solidFill>
                    <a:srgbClr val="00B050"/>
                  </a:solidFill>
                </a:uFill>
              </a:rPr>
              <a:t> </a:t>
            </a:r>
            <a:r>
              <a:rPr lang="en-US" u="dbl" dirty="0" smtClean="0">
                <a:solidFill>
                  <a:srgbClr val="FF00FF"/>
                </a:solidFill>
                <a:effectLst>
                  <a:outerShdw blurRad="38100" dist="38100" dir="2700000" algn="tl">
                    <a:srgbClr val="000000">
                      <a:alpha val="43137"/>
                    </a:srgbClr>
                  </a:outerShdw>
                </a:effectLst>
                <a:uFill>
                  <a:solidFill>
                    <a:srgbClr val="00B050"/>
                  </a:solidFill>
                </a:uFill>
              </a:rPr>
              <a:t>with equal variance</a:t>
            </a:r>
            <a:r>
              <a:rPr lang="en-US" dirty="0" smtClean="0">
                <a:solidFill>
                  <a:srgbClr val="FF00FF"/>
                </a:solidFill>
                <a:effectLst>
                  <a:outerShdw blurRad="38100" dist="38100" dir="2700000" algn="tl">
                    <a:srgbClr val="000000">
                      <a:alpha val="43137"/>
                    </a:srgbClr>
                  </a:outerShdw>
                </a:effectLst>
              </a:rPr>
              <a:t> </a:t>
            </a:r>
            <a:r>
              <a:rPr lang="en-US" dirty="0" smtClean="0">
                <a:solidFill>
                  <a:srgbClr val="0066FF"/>
                </a:solidFill>
                <a:effectLst>
                  <a:outerShdw blurRad="38100" dist="38100" dir="2700000" algn="tl">
                    <a:srgbClr val="000000">
                      <a:alpha val="43137"/>
                    </a:srgbClr>
                  </a:outerShdw>
                </a:effectLst>
              </a:rPr>
              <a:t>or </a:t>
            </a:r>
            <a:r>
              <a:rPr lang="en-US" dirty="0" smtClean="0">
                <a:solidFill>
                  <a:srgbClr val="FF0000"/>
                </a:solidFill>
                <a:effectLst>
                  <a:outerShdw blurRad="38100" dist="38100" dir="2700000" algn="tl">
                    <a:srgbClr val="000000">
                      <a:alpha val="43137"/>
                    </a:srgbClr>
                  </a:outerShdw>
                </a:effectLst>
              </a:rPr>
              <a:t>from two normal populations with equal variances.</a:t>
            </a:r>
            <a:endParaRPr lang="en-US" b="1" dirty="0">
              <a:solidFill>
                <a:srgbClr val="FF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buNone/>
            </a:pPr>
            <a:r>
              <a:rPr lang="en-US" b="1" i="1" dirty="0"/>
              <a:t>Illustration 19</a:t>
            </a:r>
          </a:p>
          <a:p>
            <a:pPr algn="just">
              <a:buNone/>
            </a:pPr>
            <a:r>
              <a:rPr lang="en-US" dirty="0"/>
              <a:t>Two random samples drawn from two normal populations </a:t>
            </a:r>
            <a:r>
              <a:rPr lang="en-US" dirty="0" smtClean="0"/>
              <a:t>are: </a:t>
            </a:r>
            <a:r>
              <a:rPr lang="en-US" i="1" dirty="0" smtClean="0"/>
              <a:t>Sample </a:t>
            </a:r>
            <a:r>
              <a:rPr lang="en-US" i="1" dirty="0">
                <a:solidFill>
                  <a:srgbClr val="FF0000"/>
                </a:solidFill>
              </a:rPr>
              <a:t>1</a:t>
            </a:r>
            <a:r>
              <a:rPr lang="en-US" i="1" dirty="0"/>
              <a:t> </a:t>
            </a:r>
            <a:r>
              <a:rPr lang="en-US" i="1" dirty="0" smtClean="0"/>
              <a:t> </a:t>
            </a:r>
            <a:r>
              <a:rPr lang="en-US" i="1" dirty="0" smtClean="0">
                <a:sym typeface="Wingdings" pitchFamily="2" charset="2"/>
              </a:rPr>
              <a:t> </a:t>
            </a:r>
            <a:r>
              <a:rPr lang="en-US" dirty="0" smtClean="0"/>
              <a:t>20 </a:t>
            </a:r>
            <a:r>
              <a:rPr lang="en-US" dirty="0"/>
              <a:t>16 26 27 23 22 18 24 25 </a:t>
            </a:r>
            <a:r>
              <a:rPr lang="en-US" dirty="0" smtClean="0"/>
              <a:t>19 </a:t>
            </a:r>
          </a:p>
          <a:p>
            <a:pPr algn="just">
              <a:buNone/>
            </a:pPr>
            <a:r>
              <a:rPr lang="en-US" i="1" smtClean="0"/>
              <a:t>Sample </a:t>
            </a:r>
            <a:r>
              <a:rPr lang="en-US" i="1" smtClean="0">
                <a:solidFill>
                  <a:srgbClr val="FF0000"/>
                </a:solidFill>
              </a:rPr>
              <a:t>2 </a:t>
            </a:r>
            <a:r>
              <a:rPr lang="en-US" i="1" smtClean="0">
                <a:solidFill>
                  <a:srgbClr val="FF0000"/>
                </a:solidFill>
                <a:sym typeface="Wingdings" pitchFamily="2" charset="2"/>
              </a:rPr>
              <a:t> </a:t>
            </a:r>
            <a:r>
              <a:rPr lang="en-US" i="1" smtClean="0"/>
              <a:t> </a:t>
            </a:r>
            <a:r>
              <a:rPr lang="en-US" dirty="0"/>
              <a:t>27 33 42 35 32 34 38 28 41 43 30 37</a:t>
            </a:r>
          </a:p>
          <a:p>
            <a:pPr algn="just">
              <a:buNone/>
            </a:pPr>
            <a:r>
              <a:rPr lang="en-US" dirty="0"/>
              <a:t>Test using variance ratio at 5 per cent and 1 per cent level of significance whether the two</a:t>
            </a:r>
          </a:p>
          <a:p>
            <a:pPr algn="just">
              <a:buNone/>
            </a:pPr>
            <a:r>
              <a:rPr lang="en-US" dirty="0"/>
              <a:t>populations have the same variances.</a:t>
            </a:r>
          </a:p>
        </p:txBody>
      </p:sp>
    </p:spTree>
    <p:extLst>
      <p:ext uri="{BB962C8B-B14F-4D97-AF65-F5344CB8AC3E}">
        <p14:creationId xmlns="" xmlns:p14="http://schemas.microsoft.com/office/powerpoint/2010/main" val="36785316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rcRect/>
          <a:stretch>
            <a:fillRect/>
          </a:stretch>
        </p:blipFill>
        <p:spPr bwMode="auto">
          <a:xfrm>
            <a:off x="0" y="152400"/>
            <a:ext cx="9144000" cy="1600200"/>
          </a:xfrm>
          <a:prstGeom prst="rect">
            <a:avLst/>
          </a:prstGeom>
          <a:noFill/>
          <a:ln w="9525">
            <a:noFill/>
            <a:miter lim="800000"/>
            <a:headEnd/>
            <a:tailEnd/>
          </a:ln>
          <a:effectLst/>
        </p:spPr>
      </p:pic>
      <p:pic>
        <p:nvPicPr>
          <p:cNvPr id="6" name="Picture 2"/>
          <p:cNvPicPr>
            <a:picLocks noChangeAspect="1" noChangeArrowheads="1"/>
          </p:cNvPicPr>
          <p:nvPr/>
        </p:nvPicPr>
        <p:blipFill>
          <a:blip r:embed="rId3" cstate="print"/>
          <a:srcRect/>
          <a:stretch>
            <a:fillRect/>
          </a:stretch>
        </p:blipFill>
        <p:spPr bwMode="auto">
          <a:xfrm>
            <a:off x="0" y="1752600"/>
            <a:ext cx="9144000" cy="510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Grp="1" noChangeAspect="1" noChangeArrowheads="1"/>
          </p:cNvPicPr>
          <p:nvPr>
            <p:ph idx="1"/>
          </p:nvPr>
        </p:nvPicPr>
        <p:blipFill>
          <a:blip r:embed="rId2" cstate="print"/>
          <a:srcRect/>
          <a:stretch>
            <a:fillRect/>
          </a:stretch>
        </p:blipFill>
        <p:spPr bwMode="auto">
          <a:xfrm>
            <a:off x="228600" y="228600"/>
            <a:ext cx="6705600" cy="2133600"/>
          </a:xfrm>
          <a:prstGeom prst="rect">
            <a:avLst/>
          </a:prstGeom>
          <a:noFill/>
          <a:ln w="9525">
            <a:noFill/>
            <a:miter lim="800000"/>
            <a:headEnd/>
            <a:tailEnd/>
          </a:ln>
          <a:effectLst/>
        </p:spPr>
      </p:pic>
      <p:pic>
        <p:nvPicPr>
          <p:cNvPr id="3076" name="Picture 4"/>
          <p:cNvPicPr>
            <a:picLocks noChangeAspect="1" noChangeArrowheads="1"/>
          </p:cNvPicPr>
          <p:nvPr/>
        </p:nvPicPr>
        <p:blipFill>
          <a:blip r:embed="rId3" cstate="print"/>
          <a:srcRect/>
          <a:stretch>
            <a:fillRect/>
          </a:stretch>
        </p:blipFill>
        <p:spPr bwMode="auto">
          <a:xfrm>
            <a:off x="0" y="3124200"/>
            <a:ext cx="7086600" cy="3733800"/>
          </a:xfrm>
          <a:prstGeom prst="rect">
            <a:avLst/>
          </a:prstGeom>
          <a:noFill/>
          <a:ln w="9525">
            <a:noFill/>
            <a:miter lim="800000"/>
            <a:headEnd/>
            <a:tailEnd/>
          </a:ln>
          <a:effectLst/>
        </p:spPr>
      </p:pic>
      <p:pic>
        <p:nvPicPr>
          <p:cNvPr id="3078" name="Picture 6"/>
          <p:cNvPicPr>
            <a:picLocks noChangeAspect="1" noChangeArrowheads="1"/>
          </p:cNvPicPr>
          <p:nvPr/>
        </p:nvPicPr>
        <p:blipFill>
          <a:blip r:embed="rId4" cstate="print"/>
          <a:srcRect/>
          <a:stretch>
            <a:fillRect/>
          </a:stretch>
        </p:blipFill>
        <p:spPr bwMode="auto">
          <a:xfrm>
            <a:off x="4800600" y="5638800"/>
            <a:ext cx="4076700" cy="6953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457200" y="457200"/>
            <a:ext cx="8229600" cy="190500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cstate="print"/>
          <a:srcRect/>
          <a:stretch>
            <a:fillRect/>
          </a:stretch>
        </p:blipFill>
        <p:spPr bwMode="auto">
          <a:xfrm>
            <a:off x="1" y="3505200"/>
            <a:ext cx="9143999" cy="1142999"/>
          </a:xfrm>
          <a:prstGeom prst="rect">
            <a:avLst/>
          </a:prstGeom>
          <a:noFill/>
          <a:ln w="9525">
            <a:noFill/>
            <a:miter lim="800000"/>
            <a:headEnd/>
            <a:tailEnd/>
          </a:ln>
          <a:effectLst/>
        </p:spPr>
      </p:pic>
      <p:pic>
        <p:nvPicPr>
          <p:cNvPr id="6" name="Picture 6"/>
          <p:cNvPicPr>
            <a:picLocks noChangeAspect="1" noChangeArrowheads="1"/>
          </p:cNvPicPr>
          <p:nvPr/>
        </p:nvPicPr>
        <p:blipFill>
          <a:blip r:embed="rId4" cstate="print"/>
          <a:srcRect/>
          <a:stretch>
            <a:fillRect/>
          </a:stretch>
        </p:blipFill>
        <p:spPr bwMode="auto">
          <a:xfrm>
            <a:off x="228600" y="2590800"/>
            <a:ext cx="4076700" cy="695325"/>
          </a:xfrm>
          <a:prstGeom prst="rect">
            <a:avLst/>
          </a:prstGeom>
          <a:noFill/>
          <a:ln w="9525">
            <a:noFill/>
            <a:miter lim="800000"/>
            <a:headEnd/>
            <a:tailEnd/>
          </a:ln>
          <a:effectLst/>
        </p:spPr>
      </p:pic>
      <p:sp>
        <p:nvSpPr>
          <p:cNvPr id="7" name="Rectangle 6"/>
          <p:cNvSpPr/>
          <p:nvPr/>
        </p:nvSpPr>
        <p:spPr>
          <a:xfrm>
            <a:off x="0" y="4919008"/>
            <a:ext cx="9144000" cy="1200329"/>
          </a:xfrm>
          <a:prstGeom prst="rect">
            <a:avLst/>
          </a:prstGeom>
        </p:spPr>
        <p:txBody>
          <a:bodyPr wrap="square">
            <a:spAutoFit/>
          </a:bodyPr>
          <a:lstStyle/>
          <a:p>
            <a:pPr algn="just"/>
            <a:r>
              <a:rPr lang="en-US" sz="2400" dirty="0" smtClean="0">
                <a:solidFill>
                  <a:srgbClr val="0000FF"/>
                </a:solidFill>
              </a:rPr>
              <a:t>Since the calculated value of </a:t>
            </a:r>
            <a:r>
              <a:rPr lang="en-US" sz="2400" i="1" dirty="0" smtClean="0">
                <a:solidFill>
                  <a:srgbClr val="0000FF"/>
                </a:solidFill>
              </a:rPr>
              <a:t>F = 2.14 which is less than 3.11 </a:t>
            </a:r>
            <a:r>
              <a:rPr lang="en-US" sz="2400" dirty="0" smtClean="0">
                <a:solidFill>
                  <a:srgbClr val="0000FF"/>
                </a:solidFill>
              </a:rPr>
              <a:t>as such we accept the null hypothesis and conclude that samples have been drawn from two populations having the same variances.</a:t>
            </a:r>
            <a:endParaRPr lang="en-US" dirty="0">
              <a:solidFill>
                <a:srgbClr val="0000FF"/>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cstate="print"/>
          <a:srcRect/>
          <a:stretch>
            <a:fillRect/>
          </a:stretch>
        </p:blipFill>
        <p:spPr bwMode="auto">
          <a:xfrm>
            <a:off x="0" y="0"/>
            <a:ext cx="9144000" cy="3581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noChangeArrowheads="1"/>
          </p:cNvPicPr>
          <p:nvPr>
            <p:ph idx="1"/>
          </p:nvPr>
        </p:nvPicPr>
        <p:blipFill>
          <a:blip r:embed="rId2" cstate="print"/>
          <a:srcRect/>
          <a:stretch>
            <a:fillRect/>
          </a:stretch>
        </p:blipFill>
        <p:spPr bwMode="auto">
          <a:xfrm>
            <a:off x="0" y="0"/>
            <a:ext cx="9144000" cy="4800600"/>
          </a:xfrm>
          <a:prstGeom prst="rect">
            <a:avLst/>
          </a:prstGeom>
          <a:noFill/>
          <a:ln w="9525">
            <a:noFill/>
            <a:miter lim="800000"/>
            <a:headEnd/>
            <a:tailEnd/>
          </a:ln>
          <a:effectLst/>
        </p:spPr>
      </p:pic>
      <p:pic>
        <p:nvPicPr>
          <p:cNvPr id="6146" name="Picture 2"/>
          <p:cNvPicPr>
            <a:picLocks noChangeAspect="1" noChangeArrowheads="1"/>
          </p:cNvPicPr>
          <p:nvPr/>
        </p:nvPicPr>
        <p:blipFill>
          <a:blip r:embed="rId3" cstate="print"/>
          <a:srcRect/>
          <a:stretch>
            <a:fillRect/>
          </a:stretch>
        </p:blipFill>
        <p:spPr bwMode="auto">
          <a:xfrm>
            <a:off x="409575" y="5181600"/>
            <a:ext cx="8734425" cy="12954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417638"/>
          </a:xfrm>
        </p:spPr>
        <p:txBody>
          <a:bodyPr/>
          <a:lstStyle/>
          <a:p>
            <a:r>
              <a:rPr lang="en-US" dirty="0" smtClean="0">
                <a:solidFill>
                  <a:srgbClr val="FF0000"/>
                </a:solidFill>
                <a:effectLst>
                  <a:outerShdw blurRad="38100" dist="38100" dir="2700000" algn="tl">
                    <a:srgbClr val="000000">
                      <a:alpha val="43137"/>
                    </a:srgbClr>
                  </a:outerShdw>
                </a:effectLst>
              </a:rPr>
              <a:t>Mann-Whitney U-test</a:t>
            </a:r>
            <a:endParaRPr lang="en-US"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52400" y="1066800"/>
            <a:ext cx="8991600" cy="5562600"/>
          </a:xfrm>
        </p:spPr>
        <p:txBody>
          <a:bodyPr>
            <a:normAutofit fontScale="77500" lnSpcReduction="20000"/>
          </a:bodyPr>
          <a:lstStyle/>
          <a:p>
            <a:pPr marL="0" indent="0" algn="just">
              <a:spcBef>
                <a:spcPts val="580"/>
              </a:spcBef>
              <a:buNone/>
              <a:defRPr/>
            </a:pPr>
            <a:r>
              <a:rPr lang="en-US" sz="3400" dirty="0"/>
              <a:t>This was developed by H B Mann and R Whitney in 1940’s</a:t>
            </a:r>
          </a:p>
          <a:p>
            <a:pPr marL="0" indent="0" algn="just">
              <a:spcBef>
                <a:spcPts val="580"/>
              </a:spcBef>
              <a:buNone/>
              <a:defRPr/>
            </a:pPr>
            <a:r>
              <a:rPr lang="en-US" sz="3400" dirty="0"/>
              <a:t>Mann-Whitney U-Test is a non-parametric test used to test whether two independent samples were selected from population having the same distribution. </a:t>
            </a:r>
          </a:p>
          <a:p>
            <a:pPr algn="just"/>
            <a:endParaRPr lang="en-US" sz="3400" dirty="0" smtClean="0"/>
          </a:p>
          <a:p>
            <a:pPr algn="just"/>
            <a:endParaRPr lang="en-US" sz="3400" dirty="0"/>
          </a:p>
          <a:p>
            <a:pPr algn="just"/>
            <a:r>
              <a:rPr lang="en-US" sz="3400" dirty="0" smtClean="0"/>
              <a:t>If </a:t>
            </a:r>
            <a:r>
              <a:rPr lang="en-US" sz="3400" dirty="0"/>
              <a:t>sample size is small and we cannot or do not wish to make the assumption that the data is taken from normally distributed population, then Mann-Whitney U-test or simply U-test is used to test the equality of two population means. </a:t>
            </a:r>
            <a:endParaRPr lang="en-US" sz="3400" dirty="0" smtClean="0"/>
          </a:p>
          <a:p>
            <a:pPr algn="just"/>
            <a:r>
              <a:rPr lang="en-US" sz="3400" dirty="0" smtClean="0"/>
              <a:t>This </a:t>
            </a:r>
            <a:r>
              <a:rPr lang="en-US" sz="3400" dirty="0"/>
              <a:t>test is the substitute for t-test statistic </a:t>
            </a:r>
            <a:r>
              <a:rPr lang="en-US" sz="3400" dirty="0" smtClean="0">
                <a:solidFill>
                  <a:srgbClr val="FF0000"/>
                </a:solidFill>
                <a:effectLst>
                  <a:outerShdw blurRad="38100" dist="38100" dir="2700000" algn="tl">
                    <a:srgbClr val="000000">
                      <a:alpha val="43137"/>
                    </a:srgbClr>
                  </a:outerShdw>
                </a:effectLst>
              </a:rPr>
              <a:t>when </a:t>
            </a:r>
            <a:r>
              <a:rPr lang="en-US" sz="3400" dirty="0">
                <a:solidFill>
                  <a:srgbClr val="FF0000"/>
                </a:solidFill>
                <a:effectLst>
                  <a:outerShdw blurRad="38100" dist="38100" dir="2700000" algn="tl">
                    <a:srgbClr val="000000">
                      <a:alpha val="43137"/>
                    </a:srgbClr>
                  </a:outerShdw>
                </a:effectLst>
              </a:rPr>
              <a:t>the stringent </a:t>
            </a:r>
            <a:r>
              <a:rPr lang="en-US" sz="3400" dirty="0" smtClean="0">
                <a:solidFill>
                  <a:srgbClr val="FF0000"/>
                </a:solidFill>
                <a:effectLst>
                  <a:outerShdw blurRad="38100" dist="38100" dir="2700000" algn="tl">
                    <a:srgbClr val="000000">
                      <a:alpha val="43137"/>
                    </a:srgbClr>
                  </a:outerShdw>
                </a:effectLst>
              </a:rPr>
              <a:t>assumptions </a:t>
            </a:r>
            <a:r>
              <a:rPr lang="en-US" sz="3400" dirty="0">
                <a:solidFill>
                  <a:srgbClr val="FF0000"/>
                </a:solidFill>
                <a:effectLst>
                  <a:outerShdw blurRad="38100" dist="38100" dir="2700000" algn="tl">
                    <a:srgbClr val="000000">
                      <a:alpha val="43137"/>
                    </a:srgbClr>
                  </a:outerShdw>
                </a:effectLst>
              </a:rPr>
              <a:t>of parent population being normally distributed with equal variance </a:t>
            </a:r>
            <a:r>
              <a:rPr lang="en-US" sz="3400" b="1" u="sng" dirty="0">
                <a:effectLst>
                  <a:outerShdw blurRad="38100" dist="38100" dir="2700000" algn="tl">
                    <a:srgbClr val="000000">
                      <a:alpha val="43137"/>
                    </a:srgbClr>
                  </a:outerShdw>
                </a:effectLst>
              </a:rPr>
              <a:t>are not met </a:t>
            </a:r>
            <a:r>
              <a:rPr lang="en-US" sz="3400" dirty="0"/>
              <a:t>or </a:t>
            </a:r>
            <a:r>
              <a:rPr lang="en-US" sz="3400" b="1" u="sng" dirty="0">
                <a:effectLst>
                  <a:outerShdw blurRad="38100" dist="38100" dir="2700000" algn="tl">
                    <a:srgbClr val="000000">
                      <a:alpha val="43137"/>
                    </a:srgbClr>
                  </a:outerShdw>
                </a:effectLst>
              </a:rPr>
              <a:t>when the data are only ordinal in measurem</a:t>
            </a:r>
            <a:r>
              <a:rPr lang="en-US" b="1" u="sng" dirty="0">
                <a:effectLst>
                  <a:outerShdw blurRad="38100" dist="38100" dir="2700000" algn="tl">
                    <a:srgbClr val="000000">
                      <a:alpha val="43137"/>
                    </a:srgbClr>
                  </a:outerShdw>
                </a:effectLst>
              </a:rPr>
              <a:t>ent.</a:t>
            </a:r>
          </a:p>
          <a:p>
            <a:pPr algn="just"/>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2"/>
          <p:cNvSpPr>
            <a:spLocks noGrp="1"/>
          </p:cNvSpPr>
          <p:nvPr>
            <p:ph sz="quarter" idx="1"/>
          </p:nvPr>
        </p:nvSpPr>
        <p:spPr>
          <a:xfrm>
            <a:off x="457200" y="304800"/>
            <a:ext cx="8229600" cy="5821363"/>
          </a:xfrm>
        </p:spPr>
        <p:txBody>
          <a:bodyPr/>
          <a:lstStyle/>
          <a:p>
            <a:pPr marL="0" indent="0" eaLnBrk="1" hangingPunct="1">
              <a:buFont typeface="Wingdings 2" pitchFamily="18" charset="2"/>
              <a:buNone/>
            </a:pPr>
            <a:r>
              <a:rPr lang="en-US" sz="3200" b="1" dirty="0" smtClean="0"/>
              <a:t>Example</a:t>
            </a:r>
          </a:p>
          <a:p>
            <a:pPr marL="0" indent="0" algn="just" eaLnBrk="1" hangingPunct="1">
              <a:buFont typeface="Wingdings 2" pitchFamily="18" charset="2"/>
              <a:buNone/>
            </a:pPr>
            <a:r>
              <a:rPr lang="en-US" sz="2400" dirty="0" smtClean="0"/>
              <a:t>The below data represents the number of bounced </a:t>
            </a:r>
            <a:r>
              <a:rPr lang="en-US" sz="2400" dirty="0" err="1" smtClean="0"/>
              <a:t>cheques</a:t>
            </a:r>
            <a:r>
              <a:rPr lang="en-US" sz="2400" dirty="0" smtClean="0"/>
              <a:t> in two banks – Bank A and Bank –B on randomly chosen 12 days for Bank A and 15 days for Bank B. Use a </a:t>
            </a:r>
            <a:r>
              <a:rPr lang="en-US" sz="2400" dirty="0" err="1" smtClean="0"/>
              <a:t>mann</a:t>
            </a:r>
            <a:r>
              <a:rPr lang="en-US" sz="2400" dirty="0" smtClean="0"/>
              <a:t>-Whitney U test to examine at a 5 per cent level of significance whether Bank A has more Bounced </a:t>
            </a:r>
            <a:r>
              <a:rPr lang="en-US" sz="2400" dirty="0" err="1" smtClean="0"/>
              <a:t>Cheques</a:t>
            </a:r>
            <a:r>
              <a:rPr lang="en-US" sz="2400" dirty="0" smtClean="0"/>
              <a:t> as compared to Bank B:</a:t>
            </a:r>
          </a:p>
          <a:p>
            <a:pPr marL="0" indent="0" eaLnBrk="1" hangingPunct="1">
              <a:buFont typeface="Wingdings 2" pitchFamily="18" charset="2"/>
              <a:buNone/>
            </a:pPr>
            <a:endParaRPr lang="en-US" sz="2400" dirty="0" smtClean="0"/>
          </a:p>
        </p:txBody>
      </p:sp>
      <p:graphicFrame>
        <p:nvGraphicFramePr>
          <p:cNvPr id="4" name="Table 3"/>
          <p:cNvGraphicFramePr>
            <a:graphicFrameLocks noGrp="1"/>
          </p:cNvGraphicFramePr>
          <p:nvPr/>
        </p:nvGraphicFramePr>
        <p:xfrm>
          <a:off x="71438" y="3830638"/>
          <a:ext cx="8929744" cy="741680"/>
        </p:xfrm>
        <a:graphic>
          <a:graphicData uri="http://schemas.openxmlformats.org/drawingml/2006/table">
            <a:tbl>
              <a:tblPr firstRow="1" bandRow="1">
                <a:tableStyleId>{5C22544A-7EE6-4342-B048-85BDC9FD1C3A}</a:tableStyleId>
              </a:tblPr>
              <a:tblGrid>
                <a:gridCol w="759034"/>
                <a:gridCol w="544714"/>
                <a:gridCol w="544714"/>
                <a:gridCol w="544714"/>
                <a:gridCol w="544714"/>
                <a:gridCol w="544714"/>
                <a:gridCol w="544714"/>
                <a:gridCol w="544714"/>
                <a:gridCol w="544714"/>
                <a:gridCol w="544714"/>
                <a:gridCol w="544714"/>
                <a:gridCol w="544714"/>
                <a:gridCol w="544714"/>
                <a:gridCol w="544714"/>
                <a:gridCol w="544714"/>
                <a:gridCol w="544714"/>
              </a:tblGrid>
              <a:tr h="370840">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Bank A </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42</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65</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38</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55</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71</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60</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47</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59</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68</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57</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76</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42</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 </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 </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 </a:t>
                      </a:r>
                    </a:p>
                  </a:txBody>
                  <a:tcPr marL="9525" marR="9525" marT="9525" marB="0" anchor="ctr"/>
                </a:tc>
              </a:tr>
              <a:tr h="370840">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Bank B</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22</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17</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35</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19</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8</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24</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42</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14</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28</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17</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10</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15</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20</a:t>
                      </a:r>
                    </a:p>
                  </a:txBody>
                  <a:tcPr marL="9525" marR="9525" marT="9525" marB="0" anchor="ctr"/>
                </a:tc>
                <a:tc>
                  <a:txBody>
                    <a:bodyPr/>
                    <a:lstStyle/>
                    <a:p>
                      <a:pPr algn="ctr" fontAlgn="b"/>
                      <a:r>
                        <a:rPr lang="en-IN" sz="1800" b="0" i="0" u="none" strike="noStrike">
                          <a:solidFill>
                            <a:srgbClr val="000000"/>
                          </a:solidFill>
                          <a:latin typeface="Tahoma" pitchFamily="34" charset="0"/>
                          <a:ea typeface="Tahoma" pitchFamily="34" charset="0"/>
                          <a:cs typeface="Tahoma" pitchFamily="34" charset="0"/>
                        </a:rPr>
                        <a:t>45</a:t>
                      </a:r>
                    </a:p>
                  </a:txBody>
                  <a:tcPr marL="9525" marR="9525" marT="9525" marB="0" anchor="ctr"/>
                </a:tc>
                <a:tc>
                  <a:txBody>
                    <a:bodyPr/>
                    <a:lstStyle/>
                    <a:p>
                      <a:pPr algn="ctr" fontAlgn="b"/>
                      <a:r>
                        <a:rPr lang="en-IN" sz="1800" b="0" i="0" u="none" strike="noStrike" dirty="0">
                          <a:solidFill>
                            <a:srgbClr val="000000"/>
                          </a:solidFill>
                          <a:latin typeface="Tahoma" pitchFamily="34" charset="0"/>
                          <a:ea typeface="Tahoma" pitchFamily="34" charset="0"/>
                          <a:cs typeface="Tahoma" pitchFamily="34" charset="0"/>
                        </a:rPr>
                        <a:t>50</a:t>
                      </a:r>
                    </a:p>
                  </a:txBody>
                  <a:tcPr marL="9525" marR="9525" marT="9525" marB="0"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p:cNvSpPr>
            <a:spLocks noGrp="1"/>
          </p:cNvSpPr>
          <p:nvPr>
            <p:ph sz="quarter" idx="1"/>
          </p:nvPr>
        </p:nvSpPr>
        <p:spPr>
          <a:xfrm>
            <a:off x="0" y="0"/>
            <a:ext cx="9144000" cy="5745163"/>
          </a:xfrm>
        </p:spPr>
        <p:txBody>
          <a:bodyPr>
            <a:normAutofit/>
          </a:bodyPr>
          <a:lstStyle/>
          <a:p>
            <a:pPr marL="0" indent="0" algn="just" eaLnBrk="1" hangingPunct="1">
              <a:buFont typeface="Wingdings 2" pitchFamily="18" charset="2"/>
              <a:buNone/>
            </a:pPr>
            <a:r>
              <a:rPr lang="en-US" sz="2400" b="1" dirty="0" smtClean="0">
                <a:solidFill>
                  <a:srgbClr val="FF0000"/>
                </a:solidFill>
              </a:rPr>
              <a:t>H0 = There is no difference in the bounce </a:t>
            </a:r>
            <a:r>
              <a:rPr lang="en-US" sz="2400" b="1" dirty="0" err="1" smtClean="0">
                <a:solidFill>
                  <a:srgbClr val="FF0000"/>
                </a:solidFill>
              </a:rPr>
              <a:t>cheques</a:t>
            </a:r>
            <a:r>
              <a:rPr lang="en-US" sz="2400" b="1" dirty="0" smtClean="0">
                <a:solidFill>
                  <a:srgbClr val="FF0000"/>
                </a:solidFill>
              </a:rPr>
              <a:t> of both the banks</a:t>
            </a:r>
          </a:p>
          <a:p>
            <a:pPr marL="0" indent="0" algn="just" eaLnBrk="1" hangingPunct="1">
              <a:buFont typeface="Wingdings 2" pitchFamily="18" charset="2"/>
              <a:buNone/>
            </a:pPr>
            <a:r>
              <a:rPr lang="en-US" sz="2400" b="1" dirty="0" smtClean="0">
                <a:solidFill>
                  <a:srgbClr val="FF0000"/>
                </a:solidFill>
              </a:rPr>
              <a:t>Ha = Bank</a:t>
            </a:r>
            <a:r>
              <a:rPr lang="en-US" sz="2400" b="1" dirty="0" smtClean="0">
                <a:solidFill>
                  <a:srgbClr val="0033CC"/>
                </a:solidFill>
              </a:rPr>
              <a:t> A </a:t>
            </a:r>
            <a:r>
              <a:rPr lang="en-US" sz="2400" b="1" dirty="0" smtClean="0">
                <a:solidFill>
                  <a:srgbClr val="FF0000"/>
                </a:solidFill>
              </a:rPr>
              <a:t>has more </a:t>
            </a:r>
            <a:r>
              <a:rPr lang="en-US" sz="2400" b="1" dirty="0" err="1" smtClean="0">
                <a:solidFill>
                  <a:srgbClr val="FF0000"/>
                </a:solidFill>
              </a:rPr>
              <a:t>boucned</a:t>
            </a:r>
            <a:r>
              <a:rPr lang="en-US" sz="2400" b="1" dirty="0" smtClean="0">
                <a:solidFill>
                  <a:srgbClr val="FF0000"/>
                </a:solidFill>
              </a:rPr>
              <a:t> </a:t>
            </a:r>
            <a:r>
              <a:rPr lang="en-US" sz="2400" b="1" dirty="0" err="1" smtClean="0">
                <a:solidFill>
                  <a:srgbClr val="FF0000"/>
                </a:solidFill>
              </a:rPr>
              <a:t>cheques</a:t>
            </a:r>
            <a:r>
              <a:rPr lang="en-US" sz="2400" b="1" dirty="0" smtClean="0">
                <a:solidFill>
                  <a:srgbClr val="FF0000"/>
                </a:solidFill>
              </a:rPr>
              <a:t> then Bank  </a:t>
            </a:r>
            <a:r>
              <a:rPr lang="en-US" sz="2800" b="1" dirty="0" smtClean="0">
                <a:solidFill>
                  <a:srgbClr val="0033CC"/>
                </a:solidFill>
              </a:rPr>
              <a:t>B</a:t>
            </a:r>
            <a:endParaRPr lang="en-US" sz="2800" b="1" dirty="0" smtClean="0">
              <a:solidFill>
                <a:srgbClr val="FF0000"/>
              </a:solidFill>
            </a:endParaRPr>
          </a:p>
          <a:p>
            <a:pPr marL="0" indent="0" algn="just" eaLnBrk="1" hangingPunct="1">
              <a:buFont typeface="Wingdings 2" pitchFamily="18" charset="2"/>
              <a:buNone/>
            </a:pPr>
            <a:r>
              <a:rPr lang="en-US" sz="2400" b="1" dirty="0" smtClean="0"/>
              <a:t>We Pool both the samples and rank them shown in slide number 39.</a:t>
            </a:r>
          </a:p>
          <a:p>
            <a:pPr marL="0" indent="0" algn="just" eaLnBrk="1" hangingPunct="1">
              <a:buFont typeface="Wingdings 2" pitchFamily="18" charset="2"/>
              <a:buNone/>
            </a:pPr>
            <a:endParaRPr lang="en-US" b="1" dirty="0" smtClean="0">
              <a:solidFill>
                <a:srgbClr val="FF0000"/>
              </a:solidFill>
            </a:endParaRPr>
          </a:p>
          <a:p>
            <a:pPr marL="0" indent="0" algn="just" eaLnBrk="1" hangingPunct="1">
              <a:buFont typeface="Wingdings 2" pitchFamily="18" charset="2"/>
              <a:buNone/>
            </a:pPr>
            <a:endParaRPr lang="en-US" b="1" dirty="0" smtClean="0">
              <a:solidFill>
                <a:srgbClr val="FF0000"/>
              </a:solidFill>
            </a:endParaRPr>
          </a:p>
        </p:txBody>
      </p:sp>
      <p:pic>
        <p:nvPicPr>
          <p:cNvPr id="1027" name="Picture 3"/>
          <p:cNvPicPr>
            <a:picLocks noChangeAspect="1" noChangeArrowheads="1"/>
          </p:cNvPicPr>
          <p:nvPr/>
        </p:nvPicPr>
        <p:blipFill>
          <a:blip r:embed="rId2"/>
          <a:srcRect/>
          <a:stretch>
            <a:fillRect/>
          </a:stretch>
        </p:blipFill>
        <p:spPr bwMode="auto">
          <a:xfrm>
            <a:off x="0" y="1600200"/>
            <a:ext cx="3952875" cy="8001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4572000" y="1600200"/>
            <a:ext cx="3914775" cy="866775"/>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533400" y="3048000"/>
            <a:ext cx="2438400" cy="723900"/>
          </a:xfrm>
          <a:prstGeom prst="rect">
            <a:avLst/>
          </a:prstGeom>
          <a:noFill/>
          <a:ln w="9525">
            <a:noFill/>
            <a:miter lim="800000"/>
            <a:headEnd/>
            <a:tailEnd/>
          </a:ln>
          <a:effectLst/>
        </p:spPr>
      </p:pic>
      <p:pic>
        <p:nvPicPr>
          <p:cNvPr id="1030" name="Picture 6"/>
          <p:cNvPicPr>
            <a:picLocks noChangeAspect="1" noChangeArrowheads="1"/>
          </p:cNvPicPr>
          <p:nvPr/>
        </p:nvPicPr>
        <p:blipFill>
          <a:blip r:embed="rId5"/>
          <a:srcRect/>
          <a:stretch>
            <a:fillRect/>
          </a:stretch>
        </p:blipFill>
        <p:spPr bwMode="auto">
          <a:xfrm>
            <a:off x="4724400" y="2819400"/>
            <a:ext cx="3581400" cy="1085850"/>
          </a:xfrm>
          <a:prstGeom prst="rect">
            <a:avLst/>
          </a:prstGeom>
          <a:noFill/>
          <a:ln w="9525">
            <a:noFill/>
            <a:miter lim="800000"/>
            <a:headEnd/>
            <a:tailEnd/>
          </a:ln>
          <a:effectLst/>
        </p:spPr>
      </p:pic>
      <p:sp>
        <p:nvSpPr>
          <p:cNvPr id="8" name="Rectangle 7"/>
          <p:cNvSpPr/>
          <p:nvPr/>
        </p:nvSpPr>
        <p:spPr>
          <a:xfrm>
            <a:off x="0" y="4495800"/>
            <a:ext cx="9144000" cy="954107"/>
          </a:xfrm>
          <a:prstGeom prst="rect">
            <a:avLst/>
          </a:prstGeom>
        </p:spPr>
        <p:txBody>
          <a:bodyPr wrap="square">
            <a:spAutoFit/>
          </a:bodyPr>
          <a:lstStyle/>
          <a:p>
            <a:pPr algn="just"/>
            <a:r>
              <a:rPr lang="en-US" sz="2400" b="1" dirty="0" smtClean="0">
                <a:solidFill>
                  <a:srgbClr val="FF0000"/>
                </a:solidFill>
                <a:effectLst>
                  <a:outerShdw blurRad="38100" dist="38100" dir="2700000" algn="tl">
                    <a:srgbClr val="000000">
                      <a:alpha val="43137"/>
                    </a:srgbClr>
                  </a:outerShdw>
                </a:effectLst>
              </a:rPr>
              <a:t>Consider the lower value between U</a:t>
            </a:r>
            <a:r>
              <a:rPr lang="en-US" sz="2400" b="1" baseline="-25000" dirty="0" smtClean="0">
                <a:solidFill>
                  <a:srgbClr val="FF0000"/>
                </a:solidFill>
                <a:effectLst>
                  <a:outerShdw blurRad="38100" dist="38100" dir="2700000" algn="tl">
                    <a:srgbClr val="000000">
                      <a:alpha val="43137"/>
                    </a:srgbClr>
                  </a:outerShdw>
                </a:effectLst>
              </a:rPr>
              <a:t>1</a:t>
            </a:r>
            <a:r>
              <a:rPr lang="en-US" sz="2400" b="1" dirty="0" smtClean="0">
                <a:solidFill>
                  <a:srgbClr val="FF0000"/>
                </a:solidFill>
                <a:effectLst>
                  <a:outerShdw blurRad="38100" dist="38100" dir="2700000" algn="tl">
                    <a:srgbClr val="000000">
                      <a:alpha val="43137"/>
                    </a:srgbClr>
                  </a:outerShdw>
                </a:effectLst>
              </a:rPr>
              <a:t> and U</a:t>
            </a:r>
            <a:r>
              <a:rPr lang="en-US" sz="2400" b="1" baseline="-25000" dirty="0" smtClean="0">
                <a:solidFill>
                  <a:srgbClr val="FF0000"/>
                </a:solidFill>
                <a:effectLst>
                  <a:outerShdw blurRad="38100" dist="38100" dir="2700000" algn="tl">
                    <a:srgbClr val="000000">
                      <a:alpha val="43137"/>
                    </a:srgbClr>
                  </a:outerShdw>
                </a:effectLst>
              </a:rPr>
              <a:t>2</a:t>
            </a:r>
            <a:r>
              <a:rPr lang="en-US" sz="2400" b="1" dirty="0" smtClean="0">
                <a:solidFill>
                  <a:srgbClr val="FF0000"/>
                </a:solidFill>
                <a:effectLst>
                  <a:outerShdw blurRad="38100" dist="38100" dir="2700000" algn="tl">
                    <a:srgbClr val="000000">
                      <a:alpha val="43137"/>
                    </a:srgbClr>
                  </a:outerShdw>
                </a:effectLst>
              </a:rPr>
              <a:t> i.e.,  and substitute in </a:t>
            </a:r>
            <a:r>
              <a:rPr lang="en-US" sz="3200" b="1" dirty="0" smtClean="0">
                <a:effectLst>
                  <a:outerShdw blurRad="38100" dist="38100" dir="2700000" algn="tl">
                    <a:srgbClr val="000000">
                      <a:alpha val="43137"/>
                    </a:srgbClr>
                  </a:outerShdw>
                </a:effectLst>
              </a:rPr>
              <a:t>U </a:t>
            </a:r>
            <a:r>
              <a:rPr lang="en-US" sz="2400" dirty="0" smtClean="0">
                <a:effectLst>
                  <a:outerShdw blurRad="38100" dist="38100" dir="2700000" algn="tl">
                    <a:srgbClr val="000000">
                      <a:alpha val="43137"/>
                    </a:srgbClr>
                  </a:outerShdw>
                </a:effectLst>
              </a:rPr>
              <a:t>below</a:t>
            </a:r>
            <a:endParaRPr lang="en-US" sz="2400" dirty="0">
              <a:solidFill>
                <a:srgbClr val="FF0000"/>
              </a:solidFill>
              <a:effectLst>
                <a:outerShdw blurRad="38100" dist="38100" dir="2700000" algn="tl">
                  <a:srgbClr val="000000">
                    <a:alpha val="43137"/>
                  </a:srgbClr>
                </a:outerShdw>
              </a:effectLst>
            </a:endParaRPr>
          </a:p>
        </p:txBody>
      </p:sp>
      <p:pic>
        <p:nvPicPr>
          <p:cNvPr id="1031" name="Picture 7"/>
          <p:cNvPicPr>
            <a:picLocks noChangeAspect="1" noChangeArrowheads="1"/>
          </p:cNvPicPr>
          <p:nvPr/>
        </p:nvPicPr>
        <p:blipFill>
          <a:blip r:embed="rId6"/>
          <a:srcRect/>
          <a:stretch>
            <a:fillRect/>
          </a:stretch>
        </p:blipFill>
        <p:spPr bwMode="auto">
          <a:xfrm>
            <a:off x="3048000" y="5486400"/>
            <a:ext cx="1676400" cy="104775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285750" y="95250"/>
          <a:ext cx="5286411" cy="6549088"/>
        </p:xfrm>
        <a:graphic>
          <a:graphicData uri="http://schemas.openxmlformats.org/drawingml/2006/table">
            <a:tbl>
              <a:tblPr firstRow="1" bandRow="1">
                <a:tableStyleId>{5C22544A-7EE6-4342-B048-85BDC9FD1C3A}</a:tableStyleId>
              </a:tblPr>
              <a:tblGrid>
                <a:gridCol w="2803271"/>
                <a:gridCol w="1157873"/>
                <a:gridCol w="1325267"/>
              </a:tblGrid>
              <a:tr h="233896">
                <a:tc>
                  <a:txBody>
                    <a:bodyPr/>
                    <a:lstStyle/>
                    <a:p>
                      <a:pPr algn="ctr" fontAlgn="b"/>
                      <a:r>
                        <a:rPr lang="en-IN" sz="1400" b="0" i="0" u="none" strike="noStrike" dirty="0">
                          <a:solidFill>
                            <a:srgbClr val="000000"/>
                          </a:solidFill>
                          <a:latin typeface="Tahoma"/>
                        </a:rPr>
                        <a:t>Number of Bounced Cheques</a:t>
                      </a:r>
                    </a:p>
                  </a:txBody>
                  <a:tcPr marL="9525" marR="9525" marT="9525" marB="0" anchor="b"/>
                </a:tc>
                <a:tc>
                  <a:txBody>
                    <a:bodyPr/>
                    <a:lstStyle/>
                    <a:p>
                      <a:pPr algn="ctr" fontAlgn="b"/>
                      <a:r>
                        <a:rPr lang="en-IN" sz="1400" b="0" i="0" u="none" strike="noStrike" dirty="0">
                          <a:solidFill>
                            <a:srgbClr val="000000"/>
                          </a:solidFill>
                          <a:latin typeface="Tahoma"/>
                        </a:rPr>
                        <a:t>Bank</a:t>
                      </a:r>
                    </a:p>
                  </a:txBody>
                  <a:tcPr marL="9525" marR="9525" marT="9525" marB="0" anchor="b"/>
                </a:tc>
                <a:tc>
                  <a:txBody>
                    <a:bodyPr/>
                    <a:lstStyle/>
                    <a:p>
                      <a:pPr algn="ctr" fontAlgn="b"/>
                      <a:r>
                        <a:rPr lang="en-IN" sz="1400" b="0" i="0" u="none" strike="noStrike" dirty="0">
                          <a:solidFill>
                            <a:srgbClr val="000000"/>
                          </a:solidFill>
                          <a:latin typeface="Tahoma"/>
                        </a:rPr>
                        <a:t>Rank</a:t>
                      </a:r>
                    </a:p>
                  </a:txBody>
                  <a:tcPr marL="9525" marR="9525" marT="9525" marB="0" anchor="b"/>
                </a:tc>
              </a:tr>
              <a:tr h="233896">
                <a:tc>
                  <a:txBody>
                    <a:bodyPr/>
                    <a:lstStyle/>
                    <a:p>
                      <a:pPr algn="ctr" fontAlgn="b"/>
                      <a:r>
                        <a:rPr lang="en-IN" sz="1400" b="0" i="0" u="none" strike="noStrike" dirty="0">
                          <a:solidFill>
                            <a:srgbClr val="000000"/>
                          </a:solidFill>
                          <a:latin typeface="Tahoma"/>
                        </a:rPr>
                        <a:t>8</a:t>
                      </a:r>
                    </a:p>
                  </a:txBody>
                  <a:tcPr marL="9525" marR="9525" marT="9525" marB="0" anchor="b"/>
                </a:tc>
                <a:tc>
                  <a:txBody>
                    <a:bodyPr/>
                    <a:lstStyle/>
                    <a:p>
                      <a:pPr algn="ctr" fontAlgn="b"/>
                      <a:r>
                        <a:rPr lang="en-IN" sz="1400" b="0" i="0" u="none" strike="noStrike">
                          <a:solidFill>
                            <a:srgbClr val="000000"/>
                          </a:solidFill>
                          <a:latin typeface="Tahoma"/>
                        </a:rPr>
                        <a:t>B</a:t>
                      </a:r>
                    </a:p>
                  </a:txBody>
                  <a:tcPr marL="9525" marR="9525" marT="9525" marB="0" anchor="b"/>
                </a:tc>
                <a:tc>
                  <a:txBody>
                    <a:bodyPr/>
                    <a:lstStyle/>
                    <a:p>
                      <a:pPr algn="ctr" fontAlgn="b"/>
                      <a:r>
                        <a:rPr lang="en-IN" sz="1400" b="0" i="0" u="none" strike="noStrike">
                          <a:solidFill>
                            <a:srgbClr val="000000"/>
                          </a:solidFill>
                          <a:latin typeface="Tahoma"/>
                        </a:rPr>
                        <a:t>1</a:t>
                      </a:r>
                    </a:p>
                  </a:txBody>
                  <a:tcPr marL="9525" marR="9525" marT="9525" marB="0" anchor="b"/>
                </a:tc>
              </a:tr>
              <a:tr h="233896">
                <a:tc>
                  <a:txBody>
                    <a:bodyPr/>
                    <a:lstStyle/>
                    <a:p>
                      <a:pPr algn="ctr" fontAlgn="b"/>
                      <a:r>
                        <a:rPr lang="en-IN" sz="1400" b="0" i="0" u="none" strike="noStrike" dirty="0">
                          <a:solidFill>
                            <a:srgbClr val="000000"/>
                          </a:solidFill>
                          <a:latin typeface="Tahoma"/>
                        </a:rPr>
                        <a:t>10</a:t>
                      </a:r>
                    </a:p>
                  </a:txBody>
                  <a:tcPr marL="9525" marR="9525" marT="9525" marB="0" anchor="b"/>
                </a:tc>
                <a:tc>
                  <a:txBody>
                    <a:bodyPr/>
                    <a:lstStyle/>
                    <a:p>
                      <a:pPr algn="ctr" fontAlgn="b"/>
                      <a:r>
                        <a:rPr lang="en-IN" sz="1400" b="0" i="0" u="none" strike="noStrike" dirty="0">
                          <a:solidFill>
                            <a:srgbClr val="000000"/>
                          </a:solidFill>
                          <a:latin typeface="Tahoma"/>
                        </a:rPr>
                        <a:t>B</a:t>
                      </a:r>
                    </a:p>
                  </a:txBody>
                  <a:tcPr marL="9525" marR="9525" marT="9525" marB="0" anchor="b"/>
                </a:tc>
                <a:tc>
                  <a:txBody>
                    <a:bodyPr/>
                    <a:lstStyle/>
                    <a:p>
                      <a:pPr algn="ctr" fontAlgn="b"/>
                      <a:r>
                        <a:rPr lang="en-IN" sz="1400" b="0" i="0" u="none" strike="noStrike">
                          <a:solidFill>
                            <a:srgbClr val="000000"/>
                          </a:solidFill>
                          <a:latin typeface="Tahoma"/>
                        </a:rPr>
                        <a:t>2</a:t>
                      </a:r>
                    </a:p>
                  </a:txBody>
                  <a:tcPr marL="9525" marR="9525" marT="9525" marB="0" anchor="b"/>
                </a:tc>
              </a:tr>
              <a:tr h="233896">
                <a:tc>
                  <a:txBody>
                    <a:bodyPr/>
                    <a:lstStyle/>
                    <a:p>
                      <a:pPr algn="ctr" fontAlgn="b"/>
                      <a:r>
                        <a:rPr lang="en-IN" sz="1400" b="0" i="0" u="none" strike="noStrike">
                          <a:solidFill>
                            <a:srgbClr val="000000"/>
                          </a:solidFill>
                          <a:latin typeface="Tahoma"/>
                        </a:rPr>
                        <a:t>14</a:t>
                      </a:r>
                    </a:p>
                  </a:txBody>
                  <a:tcPr marL="9525" marR="9525" marT="9525" marB="0" anchor="b"/>
                </a:tc>
                <a:tc>
                  <a:txBody>
                    <a:bodyPr/>
                    <a:lstStyle/>
                    <a:p>
                      <a:pPr algn="ctr" fontAlgn="b"/>
                      <a:r>
                        <a:rPr lang="en-IN" sz="1400" b="0" i="0" u="none" strike="noStrike" dirty="0">
                          <a:solidFill>
                            <a:srgbClr val="000000"/>
                          </a:solidFill>
                          <a:latin typeface="Tahoma"/>
                        </a:rPr>
                        <a:t>B</a:t>
                      </a:r>
                    </a:p>
                  </a:txBody>
                  <a:tcPr marL="9525" marR="9525" marT="9525" marB="0" anchor="b"/>
                </a:tc>
                <a:tc>
                  <a:txBody>
                    <a:bodyPr/>
                    <a:lstStyle/>
                    <a:p>
                      <a:pPr algn="ctr" fontAlgn="b"/>
                      <a:r>
                        <a:rPr lang="en-IN" sz="1400" b="0" i="0" u="none" strike="noStrike">
                          <a:solidFill>
                            <a:srgbClr val="000000"/>
                          </a:solidFill>
                          <a:latin typeface="Tahoma"/>
                        </a:rPr>
                        <a:t>3</a:t>
                      </a:r>
                    </a:p>
                  </a:txBody>
                  <a:tcPr marL="9525" marR="9525" marT="9525" marB="0" anchor="b"/>
                </a:tc>
              </a:tr>
              <a:tr h="233896">
                <a:tc>
                  <a:txBody>
                    <a:bodyPr/>
                    <a:lstStyle/>
                    <a:p>
                      <a:pPr algn="ctr" fontAlgn="b"/>
                      <a:r>
                        <a:rPr lang="en-IN" sz="1400" b="0" i="0" u="none" strike="noStrike">
                          <a:solidFill>
                            <a:srgbClr val="000000"/>
                          </a:solidFill>
                          <a:latin typeface="Tahoma"/>
                        </a:rPr>
                        <a:t>15</a:t>
                      </a:r>
                    </a:p>
                  </a:txBody>
                  <a:tcPr marL="9525" marR="9525" marT="9525" marB="0" anchor="b"/>
                </a:tc>
                <a:tc>
                  <a:txBody>
                    <a:bodyPr/>
                    <a:lstStyle/>
                    <a:p>
                      <a:pPr algn="ctr" fontAlgn="b"/>
                      <a:r>
                        <a:rPr lang="en-IN" sz="1400" b="0" i="0" u="none" strike="noStrike" dirty="0">
                          <a:solidFill>
                            <a:srgbClr val="000000"/>
                          </a:solidFill>
                          <a:latin typeface="Tahoma"/>
                        </a:rPr>
                        <a:t>B</a:t>
                      </a:r>
                    </a:p>
                  </a:txBody>
                  <a:tcPr marL="9525" marR="9525" marT="9525" marB="0" anchor="b"/>
                </a:tc>
                <a:tc>
                  <a:txBody>
                    <a:bodyPr/>
                    <a:lstStyle/>
                    <a:p>
                      <a:pPr algn="ctr" fontAlgn="b"/>
                      <a:r>
                        <a:rPr lang="en-IN" sz="1400" b="0" i="0" u="none" strike="noStrike">
                          <a:solidFill>
                            <a:srgbClr val="000000"/>
                          </a:solidFill>
                          <a:latin typeface="Tahoma"/>
                        </a:rPr>
                        <a:t>4</a:t>
                      </a:r>
                    </a:p>
                  </a:txBody>
                  <a:tcPr marL="9525" marR="9525" marT="9525" marB="0" anchor="b"/>
                </a:tc>
              </a:tr>
              <a:tr h="233896">
                <a:tc>
                  <a:txBody>
                    <a:bodyPr/>
                    <a:lstStyle/>
                    <a:p>
                      <a:pPr algn="ctr" fontAlgn="b"/>
                      <a:r>
                        <a:rPr lang="en-IN" sz="1400" b="0" i="0" u="none" strike="noStrike">
                          <a:solidFill>
                            <a:srgbClr val="000000"/>
                          </a:solidFill>
                          <a:latin typeface="Tahoma"/>
                        </a:rPr>
                        <a:t>17</a:t>
                      </a:r>
                    </a:p>
                  </a:txBody>
                  <a:tcPr marL="9525" marR="9525" marT="9525" marB="0" anchor="b"/>
                </a:tc>
                <a:tc>
                  <a:txBody>
                    <a:bodyPr/>
                    <a:lstStyle/>
                    <a:p>
                      <a:pPr algn="ctr" fontAlgn="b"/>
                      <a:r>
                        <a:rPr lang="en-IN" sz="1400" b="0" i="0" u="none" strike="noStrike" dirty="0">
                          <a:solidFill>
                            <a:srgbClr val="000000"/>
                          </a:solidFill>
                          <a:latin typeface="Tahoma"/>
                        </a:rPr>
                        <a:t>B</a:t>
                      </a:r>
                    </a:p>
                  </a:txBody>
                  <a:tcPr marL="9525" marR="9525" marT="9525" marB="0" anchor="b"/>
                </a:tc>
                <a:tc>
                  <a:txBody>
                    <a:bodyPr/>
                    <a:lstStyle/>
                    <a:p>
                      <a:pPr algn="ctr" fontAlgn="b"/>
                      <a:r>
                        <a:rPr lang="en-IN" sz="1400" b="0" i="0" u="none" strike="noStrike">
                          <a:solidFill>
                            <a:srgbClr val="000000"/>
                          </a:solidFill>
                          <a:latin typeface="Tahoma"/>
                        </a:rPr>
                        <a:t>5.5</a:t>
                      </a:r>
                    </a:p>
                  </a:txBody>
                  <a:tcPr marL="9525" marR="9525" marT="9525" marB="0" anchor="b"/>
                </a:tc>
              </a:tr>
              <a:tr h="233896">
                <a:tc>
                  <a:txBody>
                    <a:bodyPr/>
                    <a:lstStyle/>
                    <a:p>
                      <a:pPr algn="ctr" fontAlgn="b"/>
                      <a:r>
                        <a:rPr lang="en-IN" sz="1400" b="0" i="0" u="none" strike="noStrike">
                          <a:solidFill>
                            <a:srgbClr val="000000"/>
                          </a:solidFill>
                          <a:latin typeface="Tahoma"/>
                        </a:rPr>
                        <a:t>17</a:t>
                      </a:r>
                    </a:p>
                  </a:txBody>
                  <a:tcPr marL="9525" marR="9525" marT="9525" marB="0" anchor="b"/>
                </a:tc>
                <a:tc>
                  <a:txBody>
                    <a:bodyPr/>
                    <a:lstStyle/>
                    <a:p>
                      <a:pPr algn="ctr" fontAlgn="b"/>
                      <a:r>
                        <a:rPr lang="en-IN" sz="1400" b="0" i="0" u="none" strike="noStrike" dirty="0">
                          <a:solidFill>
                            <a:srgbClr val="000000"/>
                          </a:solidFill>
                          <a:latin typeface="Tahoma"/>
                        </a:rPr>
                        <a:t>B</a:t>
                      </a:r>
                    </a:p>
                  </a:txBody>
                  <a:tcPr marL="9525" marR="9525" marT="9525" marB="0" anchor="b"/>
                </a:tc>
                <a:tc>
                  <a:txBody>
                    <a:bodyPr/>
                    <a:lstStyle/>
                    <a:p>
                      <a:pPr algn="ctr" fontAlgn="b"/>
                      <a:r>
                        <a:rPr lang="en-IN" sz="1400" b="0" i="0" u="none" strike="noStrike" dirty="0">
                          <a:solidFill>
                            <a:srgbClr val="000000"/>
                          </a:solidFill>
                          <a:latin typeface="Tahoma"/>
                        </a:rPr>
                        <a:t>5.5</a:t>
                      </a:r>
                    </a:p>
                  </a:txBody>
                  <a:tcPr marL="9525" marR="9525" marT="9525" marB="0" anchor="b"/>
                </a:tc>
              </a:tr>
              <a:tr h="233896">
                <a:tc>
                  <a:txBody>
                    <a:bodyPr/>
                    <a:lstStyle/>
                    <a:p>
                      <a:pPr algn="ctr" fontAlgn="b"/>
                      <a:r>
                        <a:rPr lang="en-IN" sz="1400" b="0" i="0" u="none" strike="noStrike">
                          <a:solidFill>
                            <a:srgbClr val="000000"/>
                          </a:solidFill>
                          <a:latin typeface="Tahoma"/>
                        </a:rPr>
                        <a:t>19</a:t>
                      </a:r>
                    </a:p>
                  </a:txBody>
                  <a:tcPr marL="9525" marR="9525" marT="9525" marB="0" anchor="b"/>
                </a:tc>
                <a:tc>
                  <a:txBody>
                    <a:bodyPr/>
                    <a:lstStyle/>
                    <a:p>
                      <a:pPr algn="ctr" fontAlgn="b"/>
                      <a:r>
                        <a:rPr lang="en-IN" sz="1400" b="0" i="0" u="none" strike="noStrike">
                          <a:solidFill>
                            <a:srgbClr val="000000"/>
                          </a:solidFill>
                          <a:latin typeface="Tahoma"/>
                        </a:rPr>
                        <a:t>B</a:t>
                      </a:r>
                    </a:p>
                  </a:txBody>
                  <a:tcPr marL="9525" marR="9525" marT="9525" marB="0" anchor="b"/>
                </a:tc>
                <a:tc>
                  <a:txBody>
                    <a:bodyPr/>
                    <a:lstStyle/>
                    <a:p>
                      <a:pPr algn="ctr" fontAlgn="b"/>
                      <a:r>
                        <a:rPr lang="en-IN" sz="1400" b="0" i="0" u="none" strike="noStrike" dirty="0">
                          <a:solidFill>
                            <a:srgbClr val="000000"/>
                          </a:solidFill>
                          <a:latin typeface="Tahoma"/>
                        </a:rPr>
                        <a:t>7</a:t>
                      </a:r>
                    </a:p>
                  </a:txBody>
                  <a:tcPr marL="9525" marR="9525" marT="9525" marB="0" anchor="b"/>
                </a:tc>
              </a:tr>
              <a:tr h="233896">
                <a:tc>
                  <a:txBody>
                    <a:bodyPr/>
                    <a:lstStyle/>
                    <a:p>
                      <a:pPr algn="ctr" fontAlgn="b"/>
                      <a:r>
                        <a:rPr lang="en-IN" sz="1400" b="0" i="0" u="none" strike="noStrike">
                          <a:solidFill>
                            <a:srgbClr val="000000"/>
                          </a:solidFill>
                          <a:latin typeface="Tahoma"/>
                        </a:rPr>
                        <a:t>20</a:t>
                      </a:r>
                    </a:p>
                  </a:txBody>
                  <a:tcPr marL="9525" marR="9525" marT="9525" marB="0" anchor="b"/>
                </a:tc>
                <a:tc>
                  <a:txBody>
                    <a:bodyPr/>
                    <a:lstStyle/>
                    <a:p>
                      <a:pPr algn="ctr" fontAlgn="b"/>
                      <a:r>
                        <a:rPr lang="en-IN" sz="1400" b="0" i="0" u="none" strike="noStrike">
                          <a:solidFill>
                            <a:srgbClr val="000000"/>
                          </a:solidFill>
                          <a:latin typeface="Tahoma"/>
                        </a:rPr>
                        <a:t>B</a:t>
                      </a:r>
                    </a:p>
                  </a:txBody>
                  <a:tcPr marL="9525" marR="9525" marT="9525" marB="0" anchor="b"/>
                </a:tc>
                <a:tc>
                  <a:txBody>
                    <a:bodyPr/>
                    <a:lstStyle/>
                    <a:p>
                      <a:pPr algn="ctr" fontAlgn="b"/>
                      <a:r>
                        <a:rPr lang="en-IN" sz="1400" b="0" i="0" u="none" strike="noStrike">
                          <a:solidFill>
                            <a:srgbClr val="000000"/>
                          </a:solidFill>
                          <a:latin typeface="Tahoma"/>
                        </a:rPr>
                        <a:t>8</a:t>
                      </a:r>
                    </a:p>
                  </a:txBody>
                  <a:tcPr marL="9525" marR="9525" marT="9525" marB="0" anchor="b"/>
                </a:tc>
              </a:tr>
              <a:tr h="233896">
                <a:tc>
                  <a:txBody>
                    <a:bodyPr/>
                    <a:lstStyle/>
                    <a:p>
                      <a:pPr algn="ctr" fontAlgn="b"/>
                      <a:r>
                        <a:rPr lang="en-IN" sz="1400" b="0" i="0" u="none" strike="noStrike">
                          <a:solidFill>
                            <a:srgbClr val="000000"/>
                          </a:solidFill>
                          <a:latin typeface="Tahoma"/>
                        </a:rPr>
                        <a:t>22</a:t>
                      </a:r>
                    </a:p>
                  </a:txBody>
                  <a:tcPr marL="9525" marR="9525" marT="9525" marB="0" anchor="b"/>
                </a:tc>
                <a:tc>
                  <a:txBody>
                    <a:bodyPr/>
                    <a:lstStyle/>
                    <a:p>
                      <a:pPr algn="ctr" fontAlgn="b"/>
                      <a:r>
                        <a:rPr lang="en-IN" sz="1400" b="0" i="0" u="none" strike="noStrike">
                          <a:solidFill>
                            <a:srgbClr val="000000"/>
                          </a:solidFill>
                          <a:latin typeface="Tahoma"/>
                        </a:rPr>
                        <a:t>B</a:t>
                      </a:r>
                    </a:p>
                  </a:txBody>
                  <a:tcPr marL="9525" marR="9525" marT="9525" marB="0" anchor="b"/>
                </a:tc>
                <a:tc>
                  <a:txBody>
                    <a:bodyPr/>
                    <a:lstStyle/>
                    <a:p>
                      <a:pPr algn="ctr" fontAlgn="b"/>
                      <a:r>
                        <a:rPr lang="en-IN" sz="1400" b="0" i="0" u="none" strike="noStrike" dirty="0">
                          <a:solidFill>
                            <a:srgbClr val="000000"/>
                          </a:solidFill>
                          <a:latin typeface="Tahoma"/>
                        </a:rPr>
                        <a:t>9</a:t>
                      </a:r>
                    </a:p>
                  </a:txBody>
                  <a:tcPr marL="9525" marR="9525" marT="9525" marB="0" anchor="b"/>
                </a:tc>
              </a:tr>
              <a:tr h="233896">
                <a:tc>
                  <a:txBody>
                    <a:bodyPr/>
                    <a:lstStyle/>
                    <a:p>
                      <a:pPr algn="ctr" fontAlgn="b"/>
                      <a:r>
                        <a:rPr lang="en-IN" sz="1400" b="0" i="0" u="none" strike="noStrike">
                          <a:solidFill>
                            <a:srgbClr val="000000"/>
                          </a:solidFill>
                          <a:latin typeface="Tahoma"/>
                        </a:rPr>
                        <a:t>24</a:t>
                      </a:r>
                    </a:p>
                  </a:txBody>
                  <a:tcPr marL="9525" marR="9525" marT="9525" marB="0" anchor="b"/>
                </a:tc>
                <a:tc>
                  <a:txBody>
                    <a:bodyPr/>
                    <a:lstStyle/>
                    <a:p>
                      <a:pPr algn="ctr" fontAlgn="b"/>
                      <a:r>
                        <a:rPr lang="en-IN" sz="1400" b="0" i="0" u="none" strike="noStrike">
                          <a:solidFill>
                            <a:srgbClr val="000000"/>
                          </a:solidFill>
                          <a:latin typeface="Tahoma"/>
                        </a:rPr>
                        <a:t>B</a:t>
                      </a:r>
                    </a:p>
                  </a:txBody>
                  <a:tcPr marL="9525" marR="9525" marT="9525" marB="0" anchor="b"/>
                </a:tc>
                <a:tc>
                  <a:txBody>
                    <a:bodyPr/>
                    <a:lstStyle/>
                    <a:p>
                      <a:pPr algn="ctr" fontAlgn="b"/>
                      <a:r>
                        <a:rPr lang="en-IN" sz="1400" b="0" i="0" u="none" strike="noStrike">
                          <a:solidFill>
                            <a:srgbClr val="000000"/>
                          </a:solidFill>
                          <a:latin typeface="Tahoma"/>
                        </a:rPr>
                        <a:t>10</a:t>
                      </a:r>
                    </a:p>
                  </a:txBody>
                  <a:tcPr marL="9525" marR="9525" marT="9525" marB="0" anchor="b"/>
                </a:tc>
              </a:tr>
              <a:tr h="233896">
                <a:tc>
                  <a:txBody>
                    <a:bodyPr/>
                    <a:lstStyle/>
                    <a:p>
                      <a:pPr algn="ctr" fontAlgn="b"/>
                      <a:r>
                        <a:rPr lang="en-IN" sz="1400" b="0" i="0" u="none" strike="noStrike">
                          <a:solidFill>
                            <a:srgbClr val="000000"/>
                          </a:solidFill>
                          <a:latin typeface="Tahoma"/>
                        </a:rPr>
                        <a:t>28</a:t>
                      </a:r>
                    </a:p>
                  </a:txBody>
                  <a:tcPr marL="9525" marR="9525" marT="9525" marB="0" anchor="b"/>
                </a:tc>
                <a:tc>
                  <a:txBody>
                    <a:bodyPr/>
                    <a:lstStyle/>
                    <a:p>
                      <a:pPr algn="ctr" fontAlgn="b"/>
                      <a:r>
                        <a:rPr lang="en-IN" sz="1400" b="0" i="0" u="none" strike="noStrike">
                          <a:solidFill>
                            <a:srgbClr val="000000"/>
                          </a:solidFill>
                          <a:latin typeface="Tahoma"/>
                        </a:rPr>
                        <a:t>B</a:t>
                      </a:r>
                    </a:p>
                  </a:txBody>
                  <a:tcPr marL="9525" marR="9525" marT="9525" marB="0" anchor="b"/>
                </a:tc>
                <a:tc>
                  <a:txBody>
                    <a:bodyPr/>
                    <a:lstStyle/>
                    <a:p>
                      <a:pPr algn="ctr" fontAlgn="b"/>
                      <a:r>
                        <a:rPr lang="en-IN" sz="1400" b="0" i="0" u="none" strike="noStrike" dirty="0">
                          <a:solidFill>
                            <a:srgbClr val="000000"/>
                          </a:solidFill>
                          <a:latin typeface="Tahoma"/>
                        </a:rPr>
                        <a:t>11</a:t>
                      </a:r>
                    </a:p>
                  </a:txBody>
                  <a:tcPr marL="9525" marR="9525" marT="9525" marB="0" anchor="b"/>
                </a:tc>
              </a:tr>
              <a:tr h="233896">
                <a:tc>
                  <a:txBody>
                    <a:bodyPr/>
                    <a:lstStyle/>
                    <a:p>
                      <a:pPr algn="ctr" fontAlgn="b"/>
                      <a:r>
                        <a:rPr lang="en-IN" sz="1400" b="0" i="0" u="none" strike="noStrike">
                          <a:solidFill>
                            <a:srgbClr val="000000"/>
                          </a:solidFill>
                          <a:latin typeface="Tahoma"/>
                        </a:rPr>
                        <a:t>35</a:t>
                      </a:r>
                    </a:p>
                  </a:txBody>
                  <a:tcPr marL="9525" marR="9525" marT="9525" marB="0" anchor="b"/>
                </a:tc>
                <a:tc>
                  <a:txBody>
                    <a:bodyPr/>
                    <a:lstStyle/>
                    <a:p>
                      <a:pPr algn="ctr" fontAlgn="b"/>
                      <a:r>
                        <a:rPr lang="en-IN" sz="1400" b="0" i="0" u="none" strike="noStrike">
                          <a:solidFill>
                            <a:srgbClr val="000000"/>
                          </a:solidFill>
                          <a:latin typeface="Tahoma"/>
                        </a:rPr>
                        <a:t>B</a:t>
                      </a:r>
                    </a:p>
                  </a:txBody>
                  <a:tcPr marL="9525" marR="9525" marT="9525" marB="0" anchor="b"/>
                </a:tc>
                <a:tc>
                  <a:txBody>
                    <a:bodyPr/>
                    <a:lstStyle/>
                    <a:p>
                      <a:pPr algn="ctr" fontAlgn="b"/>
                      <a:r>
                        <a:rPr lang="en-IN" sz="1400" b="0" i="0" u="none" strike="noStrike" dirty="0">
                          <a:solidFill>
                            <a:srgbClr val="000000"/>
                          </a:solidFill>
                          <a:latin typeface="Tahoma"/>
                        </a:rPr>
                        <a:t>12</a:t>
                      </a:r>
                    </a:p>
                  </a:txBody>
                  <a:tcPr marL="9525" marR="9525" marT="9525" marB="0" anchor="b"/>
                </a:tc>
              </a:tr>
              <a:tr h="233896">
                <a:tc>
                  <a:txBody>
                    <a:bodyPr/>
                    <a:lstStyle/>
                    <a:p>
                      <a:pPr algn="ctr" fontAlgn="b"/>
                      <a:r>
                        <a:rPr lang="en-IN" sz="1400" b="0" i="0" u="none" strike="noStrike">
                          <a:solidFill>
                            <a:srgbClr val="000000"/>
                          </a:solidFill>
                          <a:latin typeface="Tahoma"/>
                        </a:rPr>
                        <a:t>38</a:t>
                      </a:r>
                    </a:p>
                  </a:txBody>
                  <a:tcPr marL="9525" marR="9525" marT="9525" marB="0" anchor="b"/>
                </a:tc>
                <a:tc>
                  <a:txBody>
                    <a:bodyPr/>
                    <a:lstStyle/>
                    <a:p>
                      <a:pPr algn="ctr" fontAlgn="b"/>
                      <a:r>
                        <a:rPr lang="en-IN" sz="1400" b="0" i="0" u="none" strike="noStrike">
                          <a:solidFill>
                            <a:srgbClr val="000000"/>
                          </a:solidFill>
                          <a:latin typeface="Tahoma"/>
                        </a:rPr>
                        <a:t>A</a:t>
                      </a:r>
                    </a:p>
                  </a:txBody>
                  <a:tcPr marL="9525" marR="9525" marT="9525" marB="0" anchor="b"/>
                </a:tc>
                <a:tc>
                  <a:txBody>
                    <a:bodyPr/>
                    <a:lstStyle/>
                    <a:p>
                      <a:pPr algn="ctr" fontAlgn="b"/>
                      <a:r>
                        <a:rPr lang="en-IN" sz="1400" b="0" i="0" u="none" strike="noStrike">
                          <a:solidFill>
                            <a:srgbClr val="000000"/>
                          </a:solidFill>
                          <a:latin typeface="Tahoma"/>
                        </a:rPr>
                        <a:t>13</a:t>
                      </a:r>
                    </a:p>
                  </a:txBody>
                  <a:tcPr marL="9525" marR="9525" marT="9525" marB="0" anchor="b"/>
                </a:tc>
              </a:tr>
              <a:tr h="233896">
                <a:tc>
                  <a:txBody>
                    <a:bodyPr/>
                    <a:lstStyle/>
                    <a:p>
                      <a:pPr algn="ctr" fontAlgn="b"/>
                      <a:r>
                        <a:rPr lang="en-IN" sz="1400" b="0" i="0" u="none" strike="noStrike">
                          <a:solidFill>
                            <a:srgbClr val="000000"/>
                          </a:solidFill>
                          <a:latin typeface="Tahoma"/>
                        </a:rPr>
                        <a:t>42</a:t>
                      </a:r>
                    </a:p>
                  </a:txBody>
                  <a:tcPr marL="9525" marR="9525" marT="9525" marB="0" anchor="b"/>
                </a:tc>
                <a:tc>
                  <a:txBody>
                    <a:bodyPr/>
                    <a:lstStyle/>
                    <a:p>
                      <a:pPr algn="ctr" fontAlgn="b"/>
                      <a:r>
                        <a:rPr lang="en-IN" sz="1400" b="0" i="0" u="none" strike="noStrike">
                          <a:solidFill>
                            <a:srgbClr val="000000"/>
                          </a:solidFill>
                          <a:latin typeface="Tahoma"/>
                        </a:rPr>
                        <a:t>A</a:t>
                      </a:r>
                    </a:p>
                  </a:txBody>
                  <a:tcPr marL="9525" marR="9525" marT="9525" marB="0" anchor="b"/>
                </a:tc>
                <a:tc>
                  <a:txBody>
                    <a:bodyPr/>
                    <a:lstStyle/>
                    <a:p>
                      <a:pPr algn="ctr" fontAlgn="b"/>
                      <a:r>
                        <a:rPr lang="en-IN" sz="1400" b="0" i="0" u="none" strike="noStrike" dirty="0">
                          <a:solidFill>
                            <a:srgbClr val="000000"/>
                          </a:solidFill>
                          <a:latin typeface="Tahoma"/>
                        </a:rPr>
                        <a:t>15</a:t>
                      </a:r>
                    </a:p>
                  </a:txBody>
                  <a:tcPr marL="9525" marR="9525" marT="9525" marB="0" anchor="b"/>
                </a:tc>
              </a:tr>
              <a:tr h="233896">
                <a:tc>
                  <a:txBody>
                    <a:bodyPr/>
                    <a:lstStyle/>
                    <a:p>
                      <a:pPr algn="ctr" fontAlgn="b"/>
                      <a:r>
                        <a:rPr lang="en-IN" sz="1400" b="0" i="0" u="none" strike="noStrike">
                          <a:solidFill>
                            <a:srgbClr val="000000"/>
                          </a:solidFill>
                          <a:latin typeface="Tahoma"/>
                        </a:rPr>
                        <a:t>42</a:t>
                      </a:r>
                    </a:p>
                  </a:txBody>
                  <a:tcPr marL="9525" marR="9525" marT="9525" marB="0" anchor="b"/>
                </a:tc>
                <a:tc>
                  <a:txBody>
                    <a:bodyPr/>
                    <a:lstStyle/>
                    <a:p>
                      <a:pPr algn="ctr" fontAlgn="b"/>
                      <a:r>
                        <a:rPr lang="en-IN" sz="1400" b="0" i="0" u="none" strike="noStrike">
                          <a:solidFill>
                            <a:srgbClr val="000000"/>
                          </a:solidFill>
                          <a:latin typeface="Tahoma"/>
                        </a:rPr>
                        <a:t>A</a:t>
                      </a:r>
                    </a:p>
                  </a:txBody>
                  <a:tcPr marL="9525" marR="9525" marT="9525" marB="0" anchor="b"/>
                </a:tc>
                <a:tc>
                  <a:txBody>
                    <a:bodyPr/>
                    <a:lstStyle/>
                    <a:p>
                      <a:pPr algn="ctr" fontAlgn="b"/>
                      <a:r>
                        <a:rPr lang="en-IN" sz="1400" b="0" i="0" u="none" strike="noStrike" dirty="0">
                          <a:solidFill>
                            <a:srgbClr val="000000"/>
                          </a:solidFill>
                          <a:latin typeface="Tahoma"/>
                        </a:rPr>
                        <a:t>15</a:t>
                      </a:r>
                    </a:p>
                  </a:txBody>
                  <a:tcPr marL="9525" marR="9525" marT="9525" marB="0" anchor="b"/>
                </a:tc>
              </a:tr>
              <a:tr h="233896">
                <a:tc>
                  <a:txBody>
                    <a:bodyPr/>
                    <a:lstStyle/>
                    <a:p>
                      <a:pPr algn="ctr" fontAlgn="b"/>
                      <a:r>
                        <a:rPr lang="en-IN" sz="1400" b="0" i="0" u="none" strike="noStrike">
                          <a:solidFill>
                            <a:srgbClr val="000000"/>
                          </a:solidFill>
                          <a:latin typeface="Tahoma"/>
                        </a:rPr>
                        <a:t>42</a:t>
                      </a:r>
                    </a:p>
                  </a:txBody>
                  <a:tcPr marL="9525" marR="9525" marT="9525" marB="0" anchor="b"/>
                </a:tc>
                <a:tc>
                  <a:txBody>
                    <a:bodyPr/>
                    <a:lstStyle/>
                    <a:p>
                      <a:pPr algn="ctr" fontAlgn="b"/>
                      <a:r>
                        <a:rPr lang="en-IN" sz="1400" b="0" i="0" u="none" strike="noStrike">
                          <a:solidFill>
                            <a:srgbClr val="000000"/>
                          </a:solidFill>
                          <a:latin typeface="Tahoma"/>
                        </a:rPr>
                        <a:t>B</a:t>
                      </a:r>
                    </a:p>
                  </a:txBody>
                  <a:tcPr marL="9525" marR="9525" marT="9525" marB="0" anchor="b"/>
                </a:tc>
                <a:tc>
                  <a:txBody>
                    <a:bodyPr/>
                    <a:lstStyle/>
                    <a:p>
                      <a:pPr algn="ctr" fontAlgn="b"/>
                      <a:r>
                        <a:rPr lang="en-IN" sz="1400" b="0" i="0" u="none" strike="noStrike">
                          <a:solidFill>
                            <a:srgbClr val="000000"/>
                          </a:solidFill>
                          <a:latin typeface="Tahoma"/>
                        </a:rPr>
                        <a:t>15</a:t>
                      </a:r>
                    </a:p>
                  </a:txBody>
                  <a:tcPr marL="9525" marR="9525" marT="9525" marB="0" anchor="b"/>
                </a:tc>
              </a:tr>
              <a:tr h="233896">
                <a:tc>
                  <a:txBody>
                    <a:bodyPr/>
                    <a:lstStyle/>
                    <a:p>
                      <a:pPr algn="ctr" fontAlgn="b"/>
                      <a:r>
                        <a:rPr lang="en-IN" sz="1400" b="0" i="0" u="none" strike="noStrike">
                          <a:solidFill>
                            <a:srgbClr val="000000"/>
                          </a:solidFill>
                          <a:latin typeface="Tahoma"/>
                        </a:rPr>
                        <a:t>45</a:t>
                      </a:r>
                    </a:p>
                  </a:txBody>
                  <a:tcPr marL="9525" marR="9525" marT="9525" marB="0" anchor="b"/>
                </a:tc>
                <a:tc>
                  <a:txBody>
                    <a:bodyPr/>
                    <a:lstStyle/>
                    <a:p>
                      <a:pPr algn="ctr" fontAlgn="b"/>
                      <a:r>
                        <a:rPr lang="en-IN" sz="1400" b="0" i="0" u="none" strike="noStrike">
                          <a:solidFill>
                            <a:srgbClr val="000000"/>
                          </a:solidFill>
                          <a:latin typeface="Tahoma"/>
                        </a:rPr>
                        <a:t>B</a:t>
                      </a:r>
                    </a:p>
                  </a:txBody>
                  <a:tcPr marL="9525" marR="9525" marT="9525" marB="0" anchor="b"/>
                </a:tc>
                <a:tc>
                  <a:txBody>
                    <a:bodyPr/>
                    <a:lstStyle/>
                    <a:p>
                      <a:pPr algn="ctr" fontAlgn="b"/>
                      <a:r>
                        <a:rPr lang="en-IN" sz="1400" b="0" i="0" u="none" strike="noStrike">
                          <a:solidFill>
                            <a:srgbClr val="000000"/>
                          </a:solidFill>
                          <a:latin typeface="Tahoma"/>
                        </a:rPr>
                        <a:t>17</a:t>
                      </a:r>
                    </a:p>
                  </a:txBody>
                  <a:tcPr marL="9525" marR="9525" marT="9525" marB="0" anchor="b"/>
                </a:tc>
              </a:tr>
              <a:tr h="233896">
                <a:tc>
                  <a:txBody>
                    <a:bodyPr/>
                    <a:lstStyle/>
                    <a:p>
                      <a:pPr algn="ctr" fontAlgn="b"/>
                      <a:r>
                        <a:rPr lang="en-IN" sz="1400" b="0" i="0" u="none" strike="noStrike">
                          <a:solidFill>
                            <a:srgbClr val="000000"/>
                          </a:solidFill>
                          <a:latin typeface="Tahoma"/>
                        </a:rPr>
                        <a:t>47</a:t>
                      </a:r>
                    </a:p>
                  </a:txBody>
                  <a:tcPr marL="9525" marR="9525" marT="9525" marB="0" anchor="b"/>
                </a:tc>
                <a:tc>
                  <a:txBody>
                    <a:bodyPr/>
                    <a:lstStyle/>
                    <a:p>
                      <a:pPr algn="ctr" fontAlgn="b"/>
                      <a:r>
                        <a:rPr lang="en-IN" sz="1400" b="0" i="0" u="none" strike="noStrike">
                          <a:solidFill>
                            <a:srgbClr val="000000"/>
                          </a:solidFill>
                          <a:latin typeface="Tahoma"/>
                        </a:rPr>
                        <a:t>A</a:t>
                      </a:r>
                    </a:p>
                  </a:txBody>
                  <a:tcPr marL="9525" marR="9525" marT="9525" marB="0" anchor="b"/>
                </a:tc>
                <a:tc>
                  <a:txBody>
                    <a:bodyPr/>
                    <a:lstStyle/>
                    <a:p>
                      <a:pPr algn="ctr" fontAlgn="b"/>
                      <a:r>
                        <a:rPr lang="en-IN" sz="1400" b="0" i="0" u="none" strike="noStrike" dirty="0">
                          <a:solidFill>
                            <a:srgbClr val="000000"/>
                          </a:solidFill>
                          <a:latin typeface="Tahoma"/>
                        </a:rPr>
                        <a:t>18</a:t>
                      </a:r>
                    </a:p>
                  </a:txBody>
                  <a:tcPr marL="9525" marR="9525" marT="9525" marB="0" anchor="b"/>
                </a:tc>
              </a:tr>
              <a:tr h="233896">
                <a:tc>
                  <a:txBody>
                    <a:bodyPr/>
                    <a:lstStyle/>
                    <a:p>
                      <a:pPr algn="ctr" fontAlgn="b"/>
                      <a:r>
                        <a:rPr lang="en-IN" sz="1400" b="0" i="0" u="none" strike="noStrike">
                          <a:solidFill>
                            <a:srgbClr val="000000"/>
                          </a:solidFill>
                          <a:latin typeface="Tahoma"/>
                        </a:rPr>
                        <a:t>50</a:t>
                      </a:r>
                    </a:p>
                  </a:txBody>
                  <a:tcPr marL="9525" marR="9525" marT="9525" marB="0" anchor="b"/>
                </a:tc>
                <a:tc>
                  <a:txBody>
                    <a:bodyPr/>
                    <a:lstStyle/>
                    <a:p>
                      <a:pPr algn="ctr" fontAlgn="b"/>
                      <a:r>
                        <a:rPr lang="en-IN" sz="1400" b="0" i="0" u="none" strike="noStrike">
                          <a:solidFill>
                            <a:srgbClr val="000000"/>
                          </a:solidFill>
                          <a:latin typeface="Tahoma"/>
                        </a:rPr>
                        <a:t>B</a:t>
                      </a:r>
                    </a:p>
                  </a:txBody>
                  <a:tcPr marL="9525" marR="9525" marT="9525" marB="0" anchor="b"/>
                </a:tc>
                <a:tc>
                  <a:txBody>
                    <a:bodyPr/>
                    <a:lstStyle/>
                    <a:p>
                      <a:pPr algn="ctr" fontAlgn="b"/>
                      <a:r>
                        <a:rPr lang="en-IN" sz="1400" b="0" i="0" u="none" strike="noStrike" dirty="0">
                          <a:solidFill>
                            <a:srgbClr val="000000"/>
                          </a:solidFill>
                          <a:latin typeface="Tahoma"/>
                        </a:rPr>
                        <a:t>19</a:t>
                      </a:r>
                    </a:p>
                  </a:txBody>
                  <a:tcPr marL="9525" marR="9525" marT="9525" marB="0" anchor="b"/>
                </a:tc>
              </a:tr>
              <a:tr h="233896">
                <a:tc>
                  <a:txBody>
                    <a:bodyPr/>
                    <a:lstStyle/>
                    <a:p>
                      <a:pPr algn="ctr" fontAlgn="b"/>
                      <a:r>
                        <a:rPr lang="en-IN" sz="1400" b="0" i="0" u="none" strike="noStrike">
                          <a:solidFill>
                            <a:srgbClr val="000000"/>
                          </a:solidFill>
                          <a:latin typeface="Tahoma"/>
                        </a:rPr>
                        <a:t>55</a:t>
                      </a:r>
                    </a:p>
                  </a:txBody>
                  <a:tcPr marL="9525" marR="9525" marT="9525" marB="0" anchor="b"/>
                </a:tc>
                <a:tc>
                  <a:txBody>
                    <a:bodyPr/>
                    <a:lstStyle/>
                    <a:p>
                      <a:pPr algn="ctr" fontAlgn="b"/>
                      <a:r>
                        <a:rPr lang="en-IN" sz="1400" b="0" i="0" u="none" strike="noStrike">
                          <a:solidFill>
                            <a:srgbClr val="000000"/>
                          </a:solidFill>
                          <a:latin typeface="Tahoma"/>
                        </a:rPr>
                        <a:t>A</a:t>
                      </a:r>
                    </a:p>
                  </a:txBody>
                  <a:tcPr marL="9525" marR="9525" marT="9525" marB="0" anchor="b"/>
                </a:tc>
                <a:tc>
                  <a:txBody>
                    <a:bodyPr/>
                    <a:lstStyle/>
                    <a:p>
                      <a:pPr algn="ctr" fontAlgn="b"/>
                      <a:r>
                        <a:rPr lang="en-IN" sz="1400" b="0" i="0" u="none" strike="noStrike" dirty="0">
                          <a:solidFill>
                            <a:srgbClr val="000000"/>
                          </a:solidFill>
                          <a:latin typeface="Tahoma"/>
                        </a:rPr>
                        <a:t>20</a:t>
                      </a:r>
                    </a:p>
                  </a:txBody>
                  <a:tcPr marL="9525" marR="9525" marT="9525" marB="0" anchor="b"/>
                </a:tc>
              </a:tr>
              <a:tr h="233896">
                <a:tc>
                  <a:txBody>
                    <a:bodyPr/>
                    <a:lstStyle/>
                    <a:p>
                      <a:pPr algn="ctr" fontAlgn="b"/>
                      <a:r>
                        <a:rPr lang="en-IN" sz="1400" b="0" i="0" u="none" strike="noStrike">
                          <a:solidFill>
                            <a:srgbClr val="000000"/>
                          </a:solidFill>
                          <a:latin typeface="Tahoma"/>
                        </a:rPr>
                        <a:t>57</a:t>
                      </a:r>
                    </a:p>
                  </a:txBody>
                  <a:tcPr marL="9525" marR="9525" marT="9525" marB="0" anchor="b"/>
                </a:tc>
                <a:tc>
                  <a:txBody>
                    <a:bodyPr/>
                    <a:lstStyle/>
                    <a:p>
                      <a:pPr algn="ctr" fontAlgn="b"/>
                      <a:r>
                        <a:rPr lang="en-IN" sz="1400" b="0" i="0" u="none" strike="noStrike">
                          <a:solidFill>
                            <a:srgbClr val="000000"/>
                          </a:solidFill>
                          <a:latin typeface="Tahoma"/>
                        </a:rPr>
                        <a:t>A</a:t>
                      </a:r>
                    </a:p>
                  </a:txBody>
                  <a:tcPr marL="9525" marR="9525" marT="9525" marB="0" anchor="b"/>
                </a:tc>
                <a:tc>
                  <a:txBody>
                    <a:bodyPr/>
                    <a:lstStyle/>
                    <a:p>
                      <a:pPr algn="ctr" fontAlgn="b"/>
                      <a:r>
                        <a:rPr lang="en-IN" sz="1400" b="0" i="0" u="none" strike="noStrike" dirty="0">
                          <a:solidFill>
                            <a:srgbClr val="000000"/>
                          </a:solidFill>
                          <a:latin typeface="Tahoma"/>
                        </a:rPr>
                        <a:t>21</a:t>
                      </a:r>
                    </a:p>
                  </a:txBody>
                  <a:tcPr marL="9525" marR="9525" marT="9525" marB="0" anchor="b"/>
                </a:tc>
              </a:tr>
              <a:tr h="233896">
                <a:tc>
                  <a:txBody>
                    <a:bodyPr/>
                    <a:lstStyle/>
                    <a:p>
                      <a:pPr algn="ctr" fontAlgn="b"/>
                      <a:r>
                        <a:rPr lang="en-IN" sz="1400" b="0" i="0" u="none" strike="noStrike">
                          <a:solidFill>
                            <a:srgbClr val="000000"/>
                          </a:solidFill>
                          <a:latin typeface="Tahoma"/>
                        </a:rPr>
                        <a:t>59</a:t>
                      </a:r>
                    </a:p>
                  </a:txBody>
                  <a:tcPr marL="9525" marR="9525" marT="9525" marB="0" anchor="b"/>
                </a:tc>
                <a:tc>
                  <a:txBody>
                    <a:bodyPr/>
                    <a:lstStyle/>
                    <a:p>
                      <a:pPr algn="ctr" fontAlgn="b"/>
                      <a:r>
                        <a:rPr lang="en-IN" sz="1400" b="0" i="0" u="none" strike="noStrike">
                          <a:solidFill>
                            <a:srgbClr val="000000"/>
                          </a:solidFill>
                          <a:latin typeface="Tahoma"/>
                        </a:rPr>
                        <a:t>A</a:t>
                      </a:r>
                    </a:p>
                  </a:txBody>
                  <a:tcPr marL="9525" marR="9525" marT="9525" marB="0" anchor="b"/>
                </a:tc>
                <a:tc>
                  <a:txBody>
                    <a:bodyPr/>
                    <a:lstStyle/>
                    <a:p>
                      <a:pPr algn="ctr" fontAlgn="b"/>
                      <a:r>
                        <a:rPr lang="en-IN" sz="1400" b="0" i="0" u="none" strike="noStrike" dirty="0">
                          <a:solidFill>
                            <a:srgbClr val="000000"/>
                          </a:solidFill>
                          <a:latin typeface="Tahoma"/>
                        </a:rPr>
                        <a:t>22</a:t>
                      </a:r>
                    </a:p>
                  </a:txBody>
                  <a:tcPr marL="9525" marR="9525" marT="9525" marB="0" anchor="b"/>
                </a:tc>
              </a:tr>
              <a:tr h="233896">
                <a:tc>
                  <a:txBody>
                    <a:bodyPr/>
                    <a:lstStyle/>
                    <a:p>
                      <a:pPr algn="ctr" fontAlgn="b"/>
                      <a:r>
                        <a:rPr lang="en-IN" sz="1400" b="0" i="0" u="none" strike="noStrike">
                          <a:solidFill>
                            <a:srgbClr val="000000"/>
                          </a:solidFill>
                          <a:latin typeface="Tahoma"/>
                        </a:rPr>
                        <a:t>60</a:t>
                      </a:r>
                    </a:p>
                  </a:txBody>
                  <a:tcPr marL="9525" marR="9525" marT="9525" marB="0" anchor="b"/>
                </a:tc>
                <a:tc>
                  <a:txBody>
                    <a:bodyPr/>
                    <a:lstStyle/>
                    <a:p>
                      <a:pPr algn="ctr" fontAlgn="b"/>
                      <a:r>
                        <a:rPr lang="en-IN" sz="1400" b="0" i="0" u="none" strike="noStrike">
                          <a:solidFill>
                            <a:srgbClr val="000000"/>
                          </a:solidFill>
                          <a:latin typeface="Tahoma"/>
                        </a:rPr>
                        <a:t>A</a:t>
                      </a:r>
                    </a:p>
                  </a:txBody>
                  <a:tcPr marL="9525" marR="9525" marT="9525" marB="0" anchor="b"/>
                </a:tc>
                <a:tc>
                  <a:txBody>
                    <a:bodyPr/>
                    <a:lstStyle/>
                    <a:p>
                      <a:pPr algn="ctr" fontAlgn="b"/>
                      <a:r>
                        <a:rPr lang="en-IN" sz="1400" b="0" i="0" u="none" strike="noStrike">
                          <a:solidFill>
                            <a:srgbClr val="000000"/>
                          </a:solidFill>
                          <a:latin typeface="Tahoma"/>
                        </a:rPr>
                        <a:t>23</a:t>
                      </a:r>
                    </a:p>
                  </a:txBody>
                  <a:tcPr marL="9525" marR="9525" marT="9525" marB="0" anchor="b"/>
                </a:tc>
              </a:tr>
              <a:tr h="233896">
                <a:tc>
                  <a:txBody>
                    <a:bodyPr/>
                    <a:lstStyle/>
                    <a:p>
                      <a:pPr algn="ctr" fontAlgn="b"/>
                      <a:r>
                        <a:rPr lang="en-IN" sz="1400" b="0" i="0" u="none" strike="noStrike">
                          <a:solidFill>
                            <a:srgbClr val="000000"/>
                          </a:solidFill>
                          <a:latin typeface="Tahoma"/>
                        </a:rPr>
                        <a:t>65</a:t>
                      </a:r>
                    </a:p>
                  </a:txBody>
                  <a:tcPr marL="9525" marR="9525" marT="9525" marB="0" anchor="b"/>
                </a:tc>
                <a:tc>
                  <a:txBody>
                    <a:bodyPr/>
                    <a:lstStyle/>
                    <a:p>
                      <a:pPr algn="ctr" fontAlgn="b"/>
                      <a:r>
                        <a:rPr lang="en-IN" sz="1400" b="0" i="0" u="none" strike="noStrike">
                          <a:solidFill>
                            <a:srgbClr val="000000"/>
                          </a:solidFill>
                          <a:latin typeface="Tahoma"/>
                        </a:rPr>
                        <a:t>A</a:t>
                      </a:r>
                    </a:p>
                  </a:txBody>
                  <a:tcPr marL="9525" marR="9525" marT="9525" marB="0" anchor="b"/>
                </a:tc>
                <a:tc>
                  <a:txBody>
                    <a:bodyPr/>
                    <a:lstStyle/>
                    <a:p>
                      <a:pPr algn="ctr" fontAlgn="b"/>
                      <a:r>
                        <a:rPr lang="en-IN" sz="1400" b="0" i="0" u="none" strike="noStrike">
                          <a:solidFill>
                            <a:srgbClr val="000000"/>
                          </a:solidFill>
                          <a:latin typeface="Tahoma"/>
                        </a:rPr>
                        <a:t>24</a:t>
                      </a:r>
                    </a:p>
                  </a:txBody>
                  <a:tcPr marL="9525" marR="9525" marT="9525" marB="0" anchor="b"/>
                </a:tc>
              </a:tr>
              <a:tr h="233896">
                <a:tc>
                  <a:txBody>
                    <a:bodyPr/>
                    <a:lstStyle/>
                    <a:p>
                      <a:pPr algn="ctr" fontAlgn="b"/>
                      <a:r>
                        <a:rPr lang="en-IN" sz="1400" b="0" i="0" u="none" strike="noStrike">
                          <a:solidFill>
                            <a:srgbClr val="000000"/>
                          </a:solidFill>
                          <a:latin typeface="Tahoma"/>
                        </a:rPr>
                        <a:t>68</a:t>
                      </a:r>
                    </a:p>
                  </a:txBody>
                  <a:tcPr marL="9525" marR="9525" marT="9525" marB="0" anchor="b"/>
                </a:tc>
                <a:tc>
                  <a:txBody>
                    <a:bodyPr/>
                    <a:lstStyle/>
                    <a:p>
                      <a:pPr algn="ctr" fontAlgn="b"/>
                      <a:r>
                        <a:rPr lang="en-IN" sz="1400" b="0" i="0" u="none" strike="noStrike">
                          <a:solidFill>
                            <a:srgbClr val="000000"/>
                          </a:solidFill>
                          <a:latin typeface="Tahoma"/>
                        </a:rPr>
                        <a:t>A</a:t>
                      </a:r>
                    </a:p>
                  </a:txBody>
                  <a:tcPr marL="9525" marR="9525" marT="9525" marB="0" anchor="b"/>
                </a:tc>
                <a:tc>
                  <a:txBody>
                    <a:bodyPr/>
                    <a:lstStyle/>
                    <a:p>
                      <a:pPr algn="ctr" fontAlgn="b"/>
                      <a:r>
                        <a:rPr lang="en-IN" sz="1400" b="0" i="0" u="none" strike="noStrike" dirty="0">
                          <a:solidFill>
                            <a:srgbClr val="000000"/>
                          </a:solidFill>
                          <a:latin typeface="Tahoma"/>
                        </a:rPr>
                        <a:t>25</a:t>
                      </a:r>
                    </a:p>
                  </a:txBody>
                  <a:tcPr marL="9525" marR="9525" marT="9525" marB="0" anchor="b"/>
                </a:tc>
              </a:tr>
              <a:tr h="233896">
                <a:tc>
                  <a:txBody>
                    <a:bodyPr/>
                    <a:lstStyle/>
                    <a:p>
                      <a:pPr algn="ctr" fontAlgn="b"/>
                      <a:r>
                        <a:rPr lang="en-IN" sz="1400" b="0" i="0" u="none" strike="noStrike">
                          <a:solidFill>
                            <a:srgbClr val="000000"/>
                          </a:solidFill>
                          <a:latin typeface="Tahoma"/>
                        </a:rPr>
                        <a:t>71</a:t>
                      </a:r>
                    </a:p>
                  </a:txBody>
                  <a:tcPr marL="9525" marR="9525" marT="9525" marB="0" anchor="b"/>
                </a:tc>
                <a:tc>
                  <a:txBody>
                    <a:bodyPr/>
                    <a:lstStyle/>
                    <a:p>
                      <a:pPr algn="ctr" fontAlgn="b"/>
                      <a:r>
                        <a:rPr lang="en-IN" sz="1400" b="0" i="0" u="none" strike="noStrike">
                          <a:solidFill>
                            <a:srgbClr val="000000"/>
                          </a:solidFill>
                          <a:latin typeface="Tahoma"/>
                        </a:rPr>
                        <a:t>A</a:t>
                      </a:r>
                    </a:p>
                  </a:txBody>
                  <a:tcPr marL="9525" marR="9525" marT="9525" marB="0" anchor="b"/>
                </a:tc>
                <a:tc>
                  <a:txBody>
                    <a:bodyPr/>
                    <a:lstStyle/>
                    <a:p>
                      <a:pPr algn="ctr" fontAlgn="b"/>
                      <a:r>
                        <a:rPr lang="en-IN" sz="1400" b="0" i="0" u="none" strike="noStrike" dirty="0">
                          <a:solidFill>
                            <a:srgbClr val="000000"/>
                          </a:solidFill>
                          <a:latin typeface="Tahoma"/>
                        </a:rPr>
                        <a:t>26</a:t>
                      </a:r>
                    </a:p>
                  </a:txBody>
                  <a:tcPr marL="9525" marR="9525" marT="9525" marB="0" anchor="b"/>
                </a:tc>
              </a:tr>
              <a:tr h="233896">
                <a:tc>
                  <a:txBody>
                    <a:bodyPr/>
                    <a:lstStyle/>
                    <a:p>
                      <a:pPr algn="ctr" fontAlgn="b"/>
                      <a:r>
                        <a:rPr lang="en-IN" sz="1400" b="0" i="0" u="none" strike="noStrike">
                          <a:solidFill>
                            <a:srgbClr val="000000"/>
                          </a:solidFill>
                          <a:latin typeface="Tahoma"/>
                        </a:rPr>
                        <a:t>76</a:t>
                      </a:r>
                    </a:p>
                  </a:txBody>
                  <a:tcPr marL="9525" marR="9525" marT="9525" marB="0" anchor="b"/>
                </a:tc>
                <a:tc>
                  <a:txBody>
                    <a:bodyPr/>
                    <a:lstStyle/>
                    <a:p>
                      <a:pPr algn="ctr" fontAlgn="b"/>
                      <a:r>
                        <a:rPr lang="en-IN" sz="1400" b="0" i="0" u="none" strike="noStrike">
                          <a:solidFill>
                            <a:srgbClr val="000000"/>
                          </a:solidFill>
                          <a:latin typeface="Tahoma"/>
                        </a:rPr>
                        <a:t>A</a:t>
                      </a:r>
                    </a:p>
                  </a:txBody>
                  <a:tcPr marL="9525" marR="9525" marT="9525" marB="0" anchor="b"/>
                </a:tc>
                <a:tc>
                  <a:txBody>
                    <a:bodyPr/>
                    <a:lstStyle/>
                    <a:p>
                      <a:pPr algn="ctr" fontAlgn="b"/>
                      <a:r>
                        <a:rPr lang="en-IN" sz="1400" b="0" i="0" u="none" strike="noStrike" dirty="0">
                          <a:solidFill>
                            <a:srgbClr val="000000"/>
                          </a:solidFill>
                          <a:latin typeface="Tahoma"/>
                        </a:rPr>
                        <a:t>27</a:t>
                      </a:r>
                    </a:p>
                  </a:txBody>
                  <a:tcPr marL="9525" marR="9525" marT="9525" marB="0" anchor="b"/>
                </a:tc>
              </a:tr>
            </a:tbl>
          </a:graphicData>
        </a:graphic>
      </p:graphicFrame>
      <p:sp>
        <p:nvSpPr>
          <p:cNvPr id="47224" name="TextBox 4"/>
          <p:cNvSpPr txBox="1">
            <a:spLocks noChangeArrowheads="1"/>
          </p:cNvSpPr>
          <p:nvPr/>
        </p:nvSpPr>
        <p:spPr bwMode="auto">
          <a:xfrm>
            <a:off x="5715000" y="714375"/>
            <a:ext cx="3214688" cy="5016500"/>
          </a:xfrm>
          <a:prstGeom prst="rect">
            <a:avLst/>
          </a:prstGeom>
          <a:noFill/>
          <a:ln w="9525">
            <a:noFill/>
            <a:miter lim="800000"/>
            <a:headEnd/>
            <a:tailEnd/>
          </a:ln>
        </p:spPr>
        <p:txBody>
          <a:bodyPr>
            <a:spAutoFit/>
          </a:bodyPr>
          <a:lstStyle/>
          <a:p>
            <a:pPr algn="just"/>
            <a:r>
              <a:rPr lang="en-US" sz="2000" b="1">
                <a:latin typeface="Perpetua" pitchFamily="18" charset="0"/>
              </a:rPr>
              <a:t>Total number of observation is 27, so we need to rank the observations from 1 to 27</a:t>
            </a:r>
          </a:p>
          <a:p>
            <a:endParaRPr lang="en-US" sz="2000" b="1">
              <a:latin typeface="Perpetua" pitchFamily="18" charset="0"/>
            </a:endParaRPr>
          </a:p>
          <a:p>
            <a:r>
              <a:rPr lang="en-US" sz="2000" b="1">
                <a:latin typeface="Perpetua" pitchFamily="18" charset="0"/>
              </a:rPr>
              <a:t>Step 3: Calculate the Rank Sums</a:t>
            </a:r>
          </a:p>
          <a:p>
            <a:r>
              <a:rPr lang="en-US" sz="2000">
                <a:latin typeface="Perpetua" pitchFamily="18" charset="0"/>
              </a:rPr>
              <a:t>We calculate the sum of the ranks for the two groups</a:t>
            </a:r>
          </a:p>
          <a:p>
            <a:endParaRPr lang="en-IN" sz="2000" b="1">
              <a:latin typeface="Perpetua" pitchFamily="18" charset="0"/>
            </a:endParaRPr>
          </a:p>
          <a:p>
            <a:r>
              <a:rPr lang="en-IN" sz="2000" b="1">
                <a:latin typeface="Perpetua" pitchFamily="18" charset="0"/>
              </a:rPr>
              <a:t>R1 = Sum of the ranks of Bank A =249</a:t>
            </a:r>
          </a:p>
          <a:p>
            <a:endParaRPr lang="en-IN" sz="2000" b="1">
              <a:latin typeface="Perpetua" pitchFamily="18" charset="0"/>
            </a:endParaRPr>
          </a:p>
          <a:p>
            <a:endParaRPr lang="en-IN" sz="2000" b="1">
              <a:latin typeface="Perpetua" pitchFamily="18" charset="0"/>
            </a:endParaRPr>
          </a:p>
          <a:p>
            <a:r>
              <a:rPr lang="en-IN" sz="2000" b="1">
                <a:latin typeface="Perpetua" pitchFamily="18" charset="0"/>
              </a:rPr>
              <a:t>R2 = Sum of the ranks of Bank B =129</a:t>
            </a:r>
            <a:endParaRPr lang="en-IN">
              <a:latin typeface="Perpetua"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0" y="457200"/>
            <a:ext cx="4971429" cy="26670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228600" y="3476625"/>
            <a:ext cx="4781550" cy="3381375"/>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5486400" y="4114800"/>
            <a:ext cx="3448050" cy="11430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990600" y="1828800"/>
            <a:ext cx="6629399" cy="3386781"/>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effectLst>
                  <a:outerShdw blurRad="38100" dist="38100" dir="2700000" algn="tl">
                    <a:srgbClr val="000000">
                      <a:alpha val="43137"/>
                    </a:srgbClr>
                  </a:outerShdw>
                </a:effectLst>
              </a:rPr>
              <a:t>Consider the lower value between U</a:t>
            </a:r>
            <a:r>
              <a:rPr lang="en-US" b="1" baseline="-25000" dirty="0" smtClean="0">
                <a:solidFill>
                  <a:srgbClr val="FF0000"/>
                </a:solidFill>
                <a:effectLst>
                  <a:outerShdw blurRad="38100" dist="38100" dir="2700000" algn="tl">
                    <a:srgbClr val="000000">
                      <a:alpha val="43137"/>
                    </a:srgbClr>
                  </a:outerShdw>
                </a:effectLst>
              </a:rPr>
              <a:t>1</a:t>
            </a:r>
            <a:r>
              <a:rPr lang="en-US" b="1" dirty="0" smtClean="0">
                <a:solidFill>
                  <a:srgbClr val="FF0000"/>
                </a:solidFill>
                <a:effectLst>
                  <a:outerShdw blurRad="38100" dist="38100" dir="2700000" algn="tl">
                    <a:srgbClr val="000000">
                      <a:alpha val="43137"/>
                    </a:srgbClr>
                  </a:outerShdw>
                </a:effectLst>
              </a:rPr>
              <a:t> and U</a:t>
            </a:r>
            <a:r>
              <a:rPr lang="en-US" b="1" baseline="-25000" dirty="0" smtClean="0">
                <a:solidFill>
                  <a:srgbClr val="FF0000"/>
                </a:solidFill>
                <a:effectLst>
                  <a:outerShdw blurRad="38100" dist="38100" dir="2700000" algn="tl">
                    <a:srgbClr val="000000">
                      <a:alpha val="43137"/>
                    </a:srgbClr>
                  </a:outerShdw>
                </a:effectLst>
              </a:rPr>
              <a:t>2</a:t>
            </a:r>
            <a:r>
              <a:rPr lang="en-US" b="1" dirty="0" smtClean="0">
                <a:solidFill>
                  <a:srgbClr val="FF0000"/>
                </a:solidFill>
                <a:effectLst>
                  <a:outerShdw blurRad="38100" dist="38100" dir="2700000" algn="tl">
                    <a:srgbClr val="000000">
                      <a:alpha val="43137"/>
                    </a:srgbClr>
                  </a:outerShdw>
                </a:effectLst>
              </a:rPr>
              <a:t> i.e. U</a:t>
            </a:r>
            <a:r>
              <a:rPr lang="en-US" b="1" baseline="-25000" dirty="0" smtClean="0">
                <a:solidFill>
                  <a:srgbClr val="FF0000"/>
                </a:solidFill>
                <a:effectLst>
                  <a:outerShdw blurRad="38100" dist="38100" dir="2700000" algn="tl">
                    <a:srgbClr val="000000">
                      <a:alpha val="43137"/>
                    </a:srgbClr>
                  </a:outerShdw>
                </a:effectLst>
              </a:rPr>
              <a:t>2</a:t>
            </a:r>
            <a:r>
              <a:rPr lang="en-US" b="1" dirty="0" smtClean="0">
                <a:solidFill>
                  <a:srgbClr val="FF0000"/>
                </a:solidFill>
                <a:effectLst>
                  <a:outerShdw blurRad="38100" dist="38100" dir="2700000" algn="tl">
                    <a:srgbClr val="000000">
                      <a:alpha val="43137"/>
                    </a:srgbClr>
                  </a:outerShdw>
                </a:effectLst>
              </a:rPr>
              <a:t> = 9 so that</a:t>
            </a:r>
            <a:br>
              <a:rPr lang="en-US" b="1" dirty="0" smtClean="0">
                <a:solidFill>
                  <a:srgbClr val="FF0000"/>
                </a:solidFill>
                <a:effectLst>
                  <a:outerShdw blurRad="38100" dist="38100" dir="2700000" algn="tl">
                    <a:srgbClr val="000000">
                      <a:alpha val="43137"/>
                    </a:srgbClr>
                  </a:outerShdw>
                </a:effectLst>
              </a:rPr>
            </a:b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2133600" y="1524000"/>
            <a:ext cx="5328962" cy="3824896"/>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srcRect/>
          <a:stretch>
            <a:fillRect/>
          </a:stretch>
        </p:blipFill>
        <p:spPr bwMode="auto">
          <a:xfrm>
            <a:off x="381000" y="838200"/>
            <a:ext cx="8229600" cy="52879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all" dirty="0" smtClean="0">
                <a:solidFill>
                  <a:srgbClr val="FF0000"/>
                </a:solidFill>
                <a:effectLst>
                  <a:outerShdw blurRad="38100" dist="38100" dir="2700000" algn="tl">
                    <a:srgbClr val="000000">
                      <a:alpha val="43137"/>
                    </a:srgbClr>
                  </a:outerShdw>
                </a:effectLst>
              </a:rPr>
              <a:t>KRUSKAL-WALLIS TEST</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algn="just"/>
            <a:r>
              <a:rPr lang="en-US" cap="all" dirty="0"/>
              <a:t>KRUSKAL-WALLIS TEST</a:t>
            </a:r>
            <a:endParaRPr lang="en-US" dirty="0"/>
          </a:p>
          <a:p>
            <a:pPr algn="just"/>
            <a:r>
              <a:rPr lang="en-US" dirty="0"/>
              <a:t>This test is the non-parametric alternative to the one-way analysis of variance to identify differences among populations that does not require any assumption about the shape of the population distribution. This test uses the ranks of the observations rather than the data themselves with the assumption that the observations are on an interval scale.</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descr="C:\Users\Hp\Desktop\KW-H-Formula.jpg"/>
          <p:cNvPicPr>
            <a:picLocks noChangeAspect="1" noChangeArrowheads="1"/>
          </p:cNvPicPr>
          <p:nvPr/>
        </p:nvPicPr>
        <p:blipFill>
          <a:blip r:embed="rId2"/>
          <a:srcRect/>
          <a:stretch>
            <a:fillRect/>
          </a:stretch>
        </p:blipFill>
        <p:spPr bwMode="auto">
          <a:xfrm>
            <a:off x="1714500" y="1643063"/>
            <a:ext cx="4429125" cy="1714500"/>
          </a:xfrm>
          <a:prstGeom prst="rect">
            <a:avLst/>
          </a:prstGeom>
          <a:noFill/>
          <a:ln w="9525">
            <a:noFill/>
            <a:miter lim="800000"/>
            <a:headEnd/>
            <a:tailEnd/>
          </a:ln>
        </p:spPr>
      </p:pic>
      <p:sp>
        <p:nvSpPr>
          <p:cNvPr id="56323" name="Rectangle 7"/>
          <p:cNvSpPr>
            <a:spLocks noChangeArrowheads="1"/>
          </p:cNvSpPr>
          <p:nvPr/>
        </p:nvSpPr>
        <p:spPr bwMode="auto">
          <a:xfrm>
            <a:off x="214313" y="571500"/>
            <a:ext cx="8643937" cy="584200"/>
          </a:xfrm>
          <a:prstGeom prst="rect">
            <a:avLst/>
          </a:prstGeom>
          <a:noFill/>
          <a:ln w="9525">
            <a:noFill/>
            <a:miter lim="800000"/>
            <a:headEnd/>
            <a:tailEnd/>
          </a:ln>
        </p:spPr>
        <p:txBody>
          <a:bodyPr>
            <a:spAutoFit/>
          </a:bodyPr>
          <a:lstStyle/>
          <a:p>
            <a:pPr algn="just"/>
            <a:r>
              <a:rPr lang="en-US" sz="3200">
                <a:latin typeface="Perpetua" pitchFamily="18" charset="0"/>
              </a:rPr>
              <a:t>The test statistic used in this test is called the H statistic. </a:t>
            </a:r>
          </a:p>
        </p:txBody>
      </p:sp>
      <p:sp>
        <p:nvSpPr>
          <p:cNvPr id="56324" name="Rectangle 8"/>
          <p:cNvSpPr>
            <a:spLocks noChangeArrowheads="1"/>
          </p:cNvSpPr>
          <p:nvPr/>
        </p:nvSpPr>
        <p:spPr bwMode="auto">
          <a:xfrm>
            <a:off x="304800" y="3429000"/>
            <a:ext cx="8643938" cy="1938337"/>
          </a:xfrm>
          <a:prstGeom prst="rect">
            <a:avLst/>
          </a:prstGeom>
          <a:noFill/>
          <a:ln w="9525">
            <a:noFill/>
            <a:miter lim="800000"/>
            <a:headEnd/>
            <a:tailEnd/>
          </a:ln>
        </p:spPr>
        <p:txBody>
          <a:bodyPr>
            <a:spAutoFit/>
          </a:bodyPr>
          <a:lstStyle/>
          <a:p>
            <a:pPr algn="just"/>
            <a:r>
              <a:rPr lang="en-US" sz="2400" dirty="0">
                <a:latin typeface="Perpetua" pitchFamily="18" charset="0"/>
              </a:rPr>
              <a:t>Obtain random samples of size n1, ….. </a:t>
            </a:r>
            <a:r>
              <a:rPr lang="en-US" sz="2400" dirty="0" err="1">
                <a:latin typeface="Perpetua" pitchFamily="18" charset="0"/>
              </a:rPr>
              <a:t>Nk</a:t>
            </a:r>
            <a:r>
              <a:rPr lang="en-US" sz="2400" dirty="0">
                <a:latin typeface="Perpetua" pitchFamily="18" charset="0"/>
              </a:rPr>
              <a:t> from each of the k population</a:t>
            </a:r>
          </a:p>
          <a:p>
            <a:pPr algn="just"/>
            <a:r>
              <a:rPr lang="en-US" sz="2400" dirty="0">
                <a:latin typeface="Perpetua" pitchFamily="18" charset="0"/>
              </a:rPr>
              <a:t>Pool all the samples and rank them</a:t>
            </a:r>
          </a:p>
          <a:p>
            <a:pPr algn="just"/>
            <a:r>
              <a:rPr lang="en-US" sz="2400" dirty="0">
                <a:latin typeface="Perpetua" pitchFamily="18" charset="0"/>
              </a:rPr>
              <a:t>Let </a:t>
            </a:r>
            <a:r>
              <a:rPr lang="en-US" sz="2400" dirty="0" err="1">
                <a:latin typeface="Perpetua" pitchFamily="18" charset="0"/>
              </a:rPr>
              <a:t>ri</a:t>
            </a:r>
            <a:r>
              <a:rPr lang="en-US" sz="2400" dirty="0">
                <a:latin typeface="Perpetua" pitchFamily="18" charset="0"/>
              </a:rPr>
              <a:t> = the total of the ranks from the </a:t>
            </a:r>
            <a:r>
              <a:rPr lang="en-US" sz="2400" dirty="0" err="1">
                <a:latin typeface="Perpetua" pitchFamily="18" charset="0"/>
              </a:rPr>
              <a:t>ith</a:t>
            </a:r>
            <a:r>
              <a:rPr lang="en-US" sz="2400" dirty="0">
                <a:latin typeface="Perpetua" pitchFamily="18" charset="0"/>
              </a:rPr>
              <a:t> sample</a:t>
            </a:r>
          </a:p>
          <a:p>
            <a:pPr algn="just"/>
            <a:r>
              <a:rPr lang="en-US" sz="2400" dirty="0">
                <a:latin typeface="Perpetua" pitchFamily="18" charset="0"/>
              </a:rPr>
              <a:t>k = number of samples</a:t>
            </a:r>
          </a:p>
          <a:p>
            <a:pPr algn="just"/>
            <a:r>
              <a:rPr lang="en-US" sz="2400" dirty="0">
                <a:latin typeface="Perpetua" pitchFamily="18" charset="0"/>
              </a:rPr>
              <a:t>n = total number of elements in k samples</a:t>
            </a:r>
          </a:p>
        </p:txBody>
      </p:sp>
      <p:sp>
        <p:nvSpPr>
          <p:cNvPr id="21505" name="Rectangle 1"/>
          <p:cNvSpPr>
            <a:spLocks noChangeArrowheads="1"/>
          </p:cNvSpPr>
          <p:nvPr/>
        </p:nvSpPr>
        <p:spPr bwMode="auto">
          <a:xfrm>
            <a:off x="0" y="5657671"/>
            <a:ext cx="91440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FF0000"/>
                </a:solidFill>
                <a:effectLst/>
                <a:latin typeface="Georgia" pitchFamily="18" charset="0"/>
                <a:ea typeface="Times New Roman" pitchFamily="18" charset="0"/>
                <a:cs typeface="Times New Roman" pitchFamily="18" charset="0"/>
              </a:rPr>
              <a:t>This</a:t>
            </a:r>
            <a:r>
              <a:rPr kumimoji="0" lang="en-US" sz="2400" b="0" i="0" u="none" strike="noStrike" cap="none" normalizeH="0" baseline="0" dirty="0" smtClean="0">
                <a:ln>
                  <a:noFill/>
                </a:ln>
                <a:solidFill>
                  <a:srgbClr val="FF0000"/>
                </a:solidFill>
                <a:effectLst/>
                <a:latin typeface="Calibri"/>
                <a:ea typeface="Times New Roman" pitchFamily="18" charset="0"/>
                <a:cs typeface="Times New Roman" pitchFamily="18" charset="0"/>
              </a:rPr>
              <a:t> </a:t>
            </a:r>
            <a:r>
              <a:rPr kumimoji="0" lang="en-US" sz="2400" b="0" i="1" u="none" strike="noStrike" cap="none" normalizeH="0" baseline="0" dirty="0" smtClean="0">
                <a:ln>
                  <a:noFill/>
                </a:ln>
                <a:effectLst/>
                <a:latin typeface="Georgia" pitchFamily="18" charset="0"/>
                <a:ea typeface="Times New Roman" pitchFamily="18" charset="0"/>
                <a:cs typeface="Times New Roman" pitchFamily="18" charset="0"/>
              </a:rPr>
              <a:t>H</a:t>
            </a:r>
            <a:r>
              <a:rPr kumimoji="0" lang="en-US" sz="2400" b="0" i="0" u="none" strike="noStrike" cap="none" normalizeH="0" baseline="0" dirty="0" smtClean="0">
                <a:ln>
                  <a:noFill/>
                </a:ln>
                <a:effectLst/>
                <a:latin typeface="Calibri"/>
                <a:ea typeface="Times New Roman" pitchFamily="18" charset="0"/>
                <a:cs typeface="Times New Roman" pitchFamily="18" charset="0"/>
              </a:rPr>
              <a:t> </a:t>
            </a:r>
            <a:r>
              <a:rPr kumimoji="0" lang="en-US" sz="2400" b="0" i="0" u="none" strike="noStrike" cap="none" normalizeH="0" baseline="0" dirty="0" smtClean="0">
                <a:ln>
                  <a:noFill/>
                </a:ln>
                <a:solidFill>
                  <a:srgbClr val="FF0000"/>
                </a:solidFill>
                <a:effectLst/>
                <a:latin typeface="Georgia" pitchFamily="18" charset="0"/>
                <a:ea typeface="Times New Roman" pitchFamily="18" charset="0"/>
                <a:cs typeface="Times New Roman" pitchFamily="18" charset="0"/>
              </a:rPr>
              <a:t>value is approximately Chi-square distributed with</a:t>
            </a:r>
            <a:r>
              <a:rPr kumimoji="0" lang="en-US" sz="2400" b="0" i="0" u="none" strike="noStrike" cap="none" normalizeH="0" baseline="0" dirty="0" smtClean="0">
                <a:ln>
                  <a:noFill/>
                </a:ln>
                <a:solidFill>
                  <a:srgbClr val="FF0000"/>
                </a:solidFill>
                <a:effectLst/>
                <a:latin typeface="Calibri"/>
                <a:ea typeface="Times New Roman" pitchFamily="18" charset="0"/>
                <a:cs typeface="Times New Roman" pitchFamily="18" charset="0"/>
              </a:rPr>
              <a:t> </a:t>
            </a:r>
            <a:r>
              <a:rPr kumimoji="0" lang="en-US" sz="2400" b="0" i="1" u="none" strike="noStrike" cap="none" normalizeH="0" baseline="0" dirty="0" smtClean="0">
                <a:ln>
                  <a:noFill/>
                </a:ln>
                <a:solidFill>
                  <a:srgbClr val="0033CC"/>
                </a:solidFill>
                <a:effectLst/>
                <a:latin typeface="Georgia" pitchFamily="18" charset="0"/>
                <a:ea typeface="Times New Roman" pitchFamily="18" charset="0"/>
                <a:cs typeface="Times New Roman" pitchFamily="18" charset="0"/>
              </a:rPr>
              <a:t>k</a:t>
            </a:r>
            <a:r>
              <a:rPr kumimoji="0" lang="en-US" sz="2400" b="0" i="0" u="none" strike="noStrike" cap="none" normalizeH="0" baseline="0" dirty="0" smtClean="0">
                <a:ln>
                  <a:noFill/>
                </a:ln>
                <a:solidFill>
                  <a:srgbClr val="0033CC"/>
                </a:solidFill>
                <a:effectLst/>
                <a:latin typeface="Calibri"/>
                <a:ea typeface="Times New Roman" pitchFamily="18" charset="0"/>
                <a:cs typeface="Times New Roman" pitchFamily="18" charset="0"/>
              </a:rPr>
              <a:t> –</a:t>
            </a:r>
            <a:r>
              <a:rPr kumimoji="0" lang="en-US" sz="2400" b="0" i="0" u="none" strike="noStrike" cap="none" normalizeH="0" baseline="0" dirty="0" smtClean="0">
                <a:ln>
                  <a:noFill/>
                </a:ln>
                <a:solidFill>
                  <a:srgbClr val="0033CC"/>
                </a:solidFill>
                <a:effectLst/>
                <a:latin typeface="Georgia" pitchFamily="18" charset="0"/>
                <a:ea typeface="Times New Roman" pitchFamily="18" charset="0"/>
                <a:cs typeface="Times New Roman" pitchFamily="18" charset="0"/>
              </a:rPr>
              <a:t> 1 degrees of freedom</a:t>
            </a:r>
            <a:r>
              <a:rPr kumimoji="0" lang="en-US" sz="2400" b="0" i="0" u="none" strike="noStrike" cap="none" normalizeH="0" baseline="0" dirty="0" smtClean="0">
                <a:ln>
                  <a:noFill/>
                </a:ln>
                <a:solidFill>
                  <a:srgbClr val="FF0000"/>
                </a:solidFill>
                <a:effectLst/>
                <a:latin typeface="Georgia" pitchFamily="18" charset="0"/>
                <a:ea typeface="Times New Roman" pitchFamily="18" charset="0"/>
                <a:cs typeface="Times New Roman" pitchFamily="18" charset="0"/>
              </a:rPr>
              <a:t> as long as</a:t>
            </a:r>
            <a:r>
              <a:rPr kumimoji="0" lang="en-US" sz="2400" b="0" i="0" u="none" strike="noStrike" cap="none" normalizeH="0" baseline="0" dirty="0" smtClean="0">
                <a:ln>
                  <a:noFill/>
                </a:ln>
                <a:solidFill>
                  <a:srgbClr val="FF0000"/>
                </a:solidFill>
                <a:effectLst/>
                <a:latin typeface="Calibri"/>
                <a:ea typeface="Times New Roman" pitchFamily="18" charset="0"/>
                <a:cs typeface="Times New Roman" pitchFamily="18" charset="0"/>
              </a:rPr>
              <a:t> </a:t>
            </a:r>
            <a:r>
              <a:rPr kumimoji="0" lang="en-US" sz="2400" b="0" i="1" u="none" strike="noStrike" cap="none" normalizeH="0" baseline="0" dirty="0" err="1" smtClean="0">
                <a:ln>
                  <a:noFill/>
                </a:ln>
                <a:effectLst/>
                <a:latin typeface="Georgia" pitchFamily="18" charset="0"/>
                <a:ea typeface="Times New Roman" pitchFamily="18" charset="0"/>
                <a:cs typeface="Times New Roman" pitchFamily="18" charset="0"/>
              </a:rPr>
              <a:t>n</a:t>
            </a:r>
            <a:r>
              <a:rPr kumimoji="0" lang="en-US" sz="1400" b="0" i="1" u="none" strike="noStrike" cap="none" normalizeH="0" baseline="-30000" dirty="0" err="1" smtClean="0">
                <a:ln>
                  <a:noFill/>
                </a:ln>
                <a:solidFill>
                  <a:srgbClr val="FF0000"/>
                </a:solidFill>
                <a:effectLst/>
                <a:latin typeface="Georgia" pitchFamily="18" charset="0"/>
                <a:ea typeface="Times New Roman" pitchFamily="18" charset="0"/>
                <a:cs typeface="Times New Roman" pitchFamily="18" charset="0"/>
              </a:rPr>
              <a:t>j</a:t>
            </a:r>
            <a:r>
              <a:rPr kumimoji="0" lang="en-US" sz="2400" b="0" i="0" u="none" strike="noStrike" cap="none" normalizeH="0" baseline="0" dirty="0" smtClean="0">
                <a:ln>
                  <a:noFill/>
                </a:ln>
                <a:solidFill>
                  <a:srgbClr val="FF0000"/>
                </a:solidFill>
                <a:effectLst/>
                <a:latin typeface="Calibri"/>
                <a:ea typeface="Times New Roman" pitchFamily="18" charset="0"/>
                <a:cs typeface="Times New Roman" pitchFamily="18" charset="0"/>
              </a:rPr>
              <a:t> </a:t>
            </a:r>
            <a:r>
              <a:rPr kumimoji="0" lang="en-US" sz="2400" b="0" i="0" u="none" strike="noStrike" cap="none" normalizeH="0" baseline="0" dirty="0" smtClean="0">
                <a:ln>
                  <a:noFill/>
                </a:ln>
                <a:solidFill>
                  <a:srgbClr val="FF0000"/>
                </a:solidFill>
                <a:effectLst/>
                <a:latin typeface="Georgia" pitchFamily="18" charset="0"/>
                <a:ea typeface="Times New Roman" pitchFamily="18" charset="0"/>
                <a:cs typeface="Times New Roman" pitchFamily="18" charset="0"/>
              </a:rPr>
              <a:t>is </a:t>
            </a:r>
            <a:r>
              <a:rPr kumimoji="0" lang="en-US" sz="2400" i="0" u="none" strike="noStrike" cap="none" normalizeH="0" baseline="0" dirty="0" smtClean="0">
                <a:ln>
                  <a:noFill/>
                </a:ln>
                <a:solidFill>
                  <a:srgbClr val="0033CC"/>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not less than 5 observations </a:t>
            </a:r>
            <a:r>
              <a:rPr kumimoji="0" lang="en-US" sz="2400" b="0" i="0" u="none" strike="noStrike" cap="none" normalizeH="0" baseline="0" dirty="0" smtClean="0">
                <a:ln>
                  <a:noFill/>
                </a:ln>
                <a:solidFill>
                  <a:srgbClr val="FF0000"/>
                </a:solidFill>
                <a:effectLst/>
                <a:latin typeface="Georgia" pitchFamily="18" charset="0"/>
                <a:ea typeface="Times New Roman" pitchFamily="18" charset="0"/>
                <a:cs typeface="Times New Roman" pitchFamily="18" charset="0"/>
              </a:rPr>
              <a:t>for any population</a:t>
            </a:r>
            <a:endParaRPr kumimoji="0" lang="en-US" sz="3600" b="0" i="0" u="none" strike="noStrike" cap="none" normalizeH="0" baseline="0" dirty="0" smtClean="0">
              <a:ln>
                <a:noFill/>
              </a:ln>
              <a:solidFill>
                <a:srgbClr val="FF0000"/>
              </a:solidFill>
              <a:effectLst/>
              <a:latin typeface="Arial" pitchFamily="34" charset="0"/>
              <a:cs typeface="Arial"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2"/>
          <p:cNvSpPr>
            <a:spLocks noGrp="1"/>
          </p:cNvSpPr>
          <p:nvPr>
            <p:ph sz="quarter" idx="1"/>
          </p:nvPr>
        </p:nvSpPr>
        <p:spPr>
          <a:xfrm>
            <a:off x="457200" y="381000"/>
            <a:ext cx="8229600" cy="5745163"/>
          </a:xfrm>
        </p:spPr>
        <p:txBody>
          <a:bodyPr>
            <a:normAutofit fontScale="85000" lnSpcReduction="20000"/>
          </a:bodyPr>
          <a:lstStyle/>
          <a:p>
            <a:pPr marL="0" indent="0" eaLnBrk="1" hangingPunct="1">
              <a:buFont typeface="Wingdings 2" pitchFamily="18" charset="2"/>
              <a:buNone/>
            </a:pPr>
            <a:r>
              <a:rPr lang="en-IN" sz="2800" b="1" dirty="0" smtClean="0"/>
              <a:t>Example </a:t>
            </a:r>
          </a:p>
          <a:p>
            <a:pPr marL="0" indent="0" algn="just" eaLnBrk="1" hangingPunct="1">
              <a:buFont typeface="Wingdings 2" pitchFamily="18" charset="2"/>
              <a:buNone/>
            </a:pPr>
            <a:r>
              <a:rPr lang="en-IN" dirty="0" smtClean="0"/>
              <a:t>Three machines are used in the packaging of 10 kg of wheat flour. Each machine is designed so as to pack on an average 10 kg of flour per bag. Samples of six bags were selected from each machine and the amount of wheat packaged in each bag is shown below;</a:t>
            </a:r>
          </a:p>
          <a:p>
            <a:pPr marL="0" indent="0" algn="just" eaLnBrk="1" hangingPunct="1">
              <a:buFont typeface="Wingdings 2" pitchFamily="18" charset="2"/>
              <a:buNone/>
            </a:pPr>
            <a:endParaRPr lang="en-IN" dirty="0" smtClean="0"/>
          </a:p>
          <a:p>
            <a:pPr marL="0" indent="0" algn="just" eaLnBrk="1" hangingPunct="1">
              <a:buFont typeface="Wingdings 2" pitchFamily="18" charset="2"/>
              <a:buNone/>
            </a:pPr>
            <a:endParaRPr lang="en-IN" dirty="0" smtClean="0"/>
          </a:p>
          <a:p>
            <a:pPr marL="0" indent="0" algn="just" eaLnBrk="1" hangingPunct="1">
              <a:buFont typeface="Wingdings 2" pitchFamily="18" charset="2"/>
              <a:buNone/>
            </a:pPr>
            <a:endParaRPr lang="en-IN" dirty="0" smtClean="0"/>
          </a:p>
          <a:p>
            <a:pPr marL="0" indent="0" algn="just" eaLnBrk="1" hangingPunct="1">
              <a:buFont typeface="Wingdings 2" pitchFamily="18" charset="2"/>
              <a:buNone/>
            </a:pPr>
            <a:endParaRPr lang="en-IN" dirty="0" smtClean="0"/>
          </a:p>
          <a:p>
            <a:pPr marL="0" indent="0" algn="just" eaLnBrk="1" hangingPunct="1">
              <a:buFont typeface="Wingdings 2" pitchFamily="18" charset="2"/>
              <a:buNone/>
            </a:pPr>
            <a:endParaRPr lang="en-IN" dirty="0" smtClean="0"/>
          </a:p>
          <a:p>
            <a:pPr marL="0" indent="0" algn="just" eaLnBrk="1" hangingPunct="1">
              <a:buFont typeface="Wingdings 2" pitchFamily="18" charset="2"/>
              <a:buNone/>
            </a:pPr>
            <a:r>
              <a:rPr lang="en-IN" dirty="0" smtClean="0"/>
              <a:t>Use a 5 per cent level of significance to test the hypothesis that the amount of wheat packaged by the three machines in the same</a:t>
            </a:r>
          </a:p>
          <a:p>
            <a:pPr marL="0" indent="0" algn="just" eaLnBrk="1" hangingPunct="1">
              <a:buFont typeface="Wingdings 2" pitchFamily="18" charset="2"/>
              <a:buNone/>
            </a:pPr>
            <a:endParaRPr lang="en-IN" dirty="0" smtClean="0"/>
          </a:p>
        </p:txBody>
      </p:sp>
      <p:graphicFrame>
        <p:nvGraphicFramePr>
          <p:cNvPr id="4" name="Table 3"/>
          <p:cNvGraphicFramePr>
            <a:graphicFrameLocks noGrp="1"/>
          </p:cNvGraphicFramePr>
          <p:nvPr/>
        </p:nvGraphicFramePr>
        <p:xfrm>
          <a:off x="357188" y="2816225"/>
          <a:ext cx="8358245" cy="1755462"/>
        </p:xfrm>
        <a:graphic>
          <a:graphicData uri="http://schemas.openxmlformats.org/drawingml/2006/table">
            <a:tbl>
              <a:tblPr firstRow="1" bandRow="1">
                <a:tableStyleId>{5C22544A-7EE6-4342-B048-85BDC9FD1C3A}</a:tableStyleId>
              </a:tblPr>
              <a:tblGrid>
                <a:gridCol w="1315650"/>
                <a:gridCol w="1072420"/>
                <a:gridCol w="1194035"/>
                <a:gridCol w="1194035"/>
                <a:gridCol w="1194035"/>
                <a:gridCol w="1194035"/>
                <a:gridCol w="1194035"/>
              </a:tblGrid>
              <a:tr h="585154">
                <a:tc>
                  <a:txBody>
                    <a:bodyPr/>
                    <a:lstStyle/>
                    <a:p>
                      <a:r>
                        <a:rPr lang="en-IN" b="1" dirty="0" smtClean="0"/>
                        <a:t>Machine 1</a:t>
                      </a:r>
                      <a:endParaRPr lang="en-IN" b="1" dirty="0"/>
                    </a:p>
                  </a:txBody>
                  <a:tcPr/>
                </a:tc>
                <a:tc>
                  <a:txBody>
                    <a:bodyPr/>
                    <a:lstStyle/>
                    <a:p>
                      <a:pPr algn="ctr"/>
                      <a:r>
                        <a:rPr lang="en-IN" dirty="0" smtClean="0"/>
                        <a:t>15.8</a:t>
                      </a:r>
                      <a:endParaRPr lang="en-IN" dirty="0"/>
                    </a:p>
                  </a:txBody>
                  <a:tcPr/>
                </a:tc>
                <a:tc>
                  <a:txBody>
                    <a:bodyPr/>
                    <a:lstStyle/>
                    <a:p>
                      <a:pPr algn="ctr"/>
                      <a:r>
                        <a:rPr lang="en-IN" dirty="0" smtClean="0"/>
                        <a:t>15.9</a:t>
                      </a:r>
                      <a:endParaRPr lang="en-IN" dirty="0"/>
                    </a:p>
                  </a:txBody>
                  <a:tcPr/>
                </a:tc>
                <a:tc>
                  <a:txBody>
                    <a:bodyPr/>
                    <a:lstStyle/>
                    <a:p>
                      <a:pPr algn="ctr"/>
                      <a:r>
                        <a:rPr lang="en-IN" dirty="0" smtClean="0"/>
                        <a:t>16.2</a:t>
                      </a:r>
                      <a:endParaRPr lang="en-IN" dirty="0"/>
                    </a:p>
                  </a:txBody>
                  <a:tcPr/>
                </a:tc>
                <a:tc>
                  <a:txBody>
                    <a:bodyPr/>
                    <a:lstStyle/>
                    <a:p>
                      <a:pPr algn="ctr"/>
                      <a:r>
                        <a:rPr lang="en-IN" dirty="0" smtClean="0"/>
                        <a:t>15.7</a:t>
                      </a:r>
                      <a:endParaRPr lang="en-IN" dirty="0"/>
                    </a:p>
                  </a:txBody>
                  <a:tcPr/>
                </a:tc>
                <a:tc>
                  <a:txBody>
                    <a:bodyPr/>
                    <a:lstStyle/>
                    <a:p>
                      <a:pPr algn="ctr"/>
                      <a:r>
                        <a:rPr lang="en-IN" dirty="0" smtClean="0"/>
                        <a:t>16.3</a:t>
                      </a:r>
                      <a:endParaRPr lang="en-IN" dirty="0"/>
                    </a:p>
                  </a:txBody>
                  <a:tcPr/>
                </a:tc>
                <a:tc>
                  <a:txBody>
                    <a:bodyPr/>
                    <a:lstStyle/>
                    <a:p>
                      <a:pPr algn="ctr"/>
                      <a:r>
                        <a:rPr lang="en-IN" dirty="0" smtClean="0"/>
                        <a:t>15.8</a:t>
                      </a:r>
                      <a:endParaRPr lang="en-IN" dirty="0"/>
                    </a:p>
                  </a:txBody>
                  <a:tcPr/>
                </a:tc>
              </a:tr>
              <a:tr h="585154">
                <a:tc>
                  <a:txBody>
                    <a:bodyPr/>
                    <a:lstStyle/>
                    <a:p>
                      <a:r>
                        <a:rPr lang="en-IN" b="1" dirty="0" smtClean="0"/>
                        <a:t>Machine 2</a:t>
                      </a:r>
                      <a:endParaRPr lang="en-IN" b="1" dirty="0"/>
                    </a:p>
                  </a:txBody>
                  <a:tcPr/>
                </a:tc>
                <a:tc>
                  <a:txBody>
                    <a:bodyPr/>
                    <a:lstStyle/>
                    <a:p>
                      <a:pPr algn="ctr"/>
                      <a:r>
                        <a:rPr lang="en-IN" dirty="0" smtClean="0"/>
                        <a:t>16.5</a:t>
                      </a:r>
                      <a:endParaRPr lang="en-IN" dirty="0"/>
                    </a:p>
                  </a:txBody>
                  <a:tcPr/>
                </a:tc>
                <a:tc>
                  <a:txBody>
                    <a:bodyPr/>
                    <a:lstStyle/>
                    <a:p>
                      <a:pPr algn="ctr"/>
                      <a:r>
                        <a:rPr lang="en-IN" dirty="0" smtClean="0"/>
                        <a:t>16</a:t>
                      </a:r>
                      <a:endParaRPr lang="en-IN" dirty="0"/>
                    </a:p>
                  </a:txBody>
                  <a:tcPr/>
                </a:tc>
                <a:tc>
                  <a:txBody>
                    <a:bodyPr/>
                    <a:lstStyle/>
                    <a:p>
                      <a:pPr algn="ctr"/>
                      <a:r>
                        <a:rPr lang="en-IN" dirty="0" smtClean="0"/>
                        <a:t>15.4</a:t>
                      </a:r>
                      <a:endParaRPr lang="en-IN" dirty="0"/>
                    </a:p>
                  </a:txBody>
                  <a:tcPr/>
                </a:tc>
                <a:tc>
                  <a:txBody>
                    <a:bodyPr/>
                    <a:lstStyle/>
                    <a:p>
                      <a:pPr algn="ctr"/>
                      <a:r>
                        <a:rPr lang="en-IN" dirty="0" smtClean="0"/>
                        <a:t>15.9</a:t>
                      </a:r>
                      <a:endParaRPr lang="en-IN" dirty="0"/>
                    </a:p>
                  </a:txBody>
                  <a:tcPr/>
                </a:tc>
                <a:tc>
                  <a:txBody>
                    <a:bodyPr/>
                    <a:lstStyle/>
                    <a:p>
                      <a:pPr algn="ctr"/>
                      <a:r>
                        <a:rPr lang="en-IN" dirty="0" smtClean="0"/>
                        <a:t>16.2</a:t>
                      </a:r>
                      <a:endParaRPr lang="en-IN" dirty="0"/>
                    </a:p>
                  </a:txBody>
                  <a:tcPr/>
                </a:tc>
                <a:tc>
                  <a:txBody>
                    <a:bodyPr/>
                    <a:lstStyle/>
                    <a:p>
                      <a:pPr algn="ctr"/>
                      <a:r>
                        <a:rPr lang="en-IN" dirty="0" smtClean="0"/>
                        <a:t>16.1</a:t>
                      </a:r>
                      <a:endParaRPr lang="en-IN" dirty="0"/>
                    </a:p>
                  </a:txBody>
                  <a:tcPr/>
                </a:tc>
              </a:tr>
              <a:tr h="585154">
                <a:tc>
                  <a:txBody>
                    <a:bodyPr/>
                    <a:lstStyle/>
                    <a:p>
                      <a:r>
                        <a:rPr lang="en-IN" b="1" dirty="0" smtClean="0"/>
                        <a:t>Machine 3</a:t>
                      </a:r>
                      <a:endParaRPr lang="en-IN" b="1" dirty="0"/>
                    </a:p>
                  </a:txBody>
                  <a:tcPr/>
                </a:tc>
                <a:tc>
                  <a:txBody>
                    <a:bodyPr/>
                    <a:lstStyle/>
                    <a:p>
                      <a:pPr algn="ctr"/>
                      <a:r>
                        <a:rPr lang="en-IN" dirty="0" smtClean="0"/>
                        <a:t>15.7</a:t>
                      </a:r>
                      <a:endParaRPr lang="en-IN" dirty="0"/>
                    </a:p>
                  </a:txBody>
                  <a:tcPr/>
                </a:tc>
                <a:tc>
                  <a:txBody>
                    <a:bodyPr/>
                    <a:lstStyle/>
                    <a:p>
                      <a:pPr algn="ctr"/>
                      <a:r>
                        <a:rPr lang="en-IN" dirty="0" smtClean="0"/>
                        <a:t>16.4</a:t>
                      </a:r>
                      <a:endParaRPr lang="en-IN" dirty="0"/>
                    </a:p>
                  </a:txBody>
                  <a:tcPr/>
                </a:tc>
                <a:tc>
                  <a:txBody>
                    <a:bodyPr/>
                    <a:lstStyle/>
                    <a:p>
                      <a:pPr algn="ctr"/>
                      <a:r>
                        <a:rPr lang="en-IN" dirty="0" smtClean="0"/>
                        <a:t>16.2</a:t>
                      </a:r>
                      <a:endParaRPr lang="en-IN" dirty="0"/>
                    </a:p>
                  </a:txBody>
                  <a:tcPr/>
                </a:tc>
                <a:tc>
                  <a:txBody>
                    <a:bodyPr/>
                    <a:lstStyle/>
                    <a:p>
                      <a:pPr algn="ctr"/>
                      <a:r>
                        <a:rPr lang="en-IN" dirty="0" smtClean="0"/>
                        <a:t>15.9</a:t>
                      </a:r>
                      <a:endParaRPr lang="en-IN" dirty="0"/>
                    </a:p>
                  </a:txBody>
                  <a:tcPr/>
                </a:tc>
                <a:tc>
                  <a:txBody>
                    <a:bodyPr/>
                    <a:lstStyle/>
                    <a:p>
                      <a:pPr algn="ctr"/>
                      <a:r>
                        <a:rPr lang="en-IN" dirty="0" smtClean="0"/>
                        <a:t>15.7</a:t>
                      </a:r>
                      <a:endParaRPr lang="en-IN" dirty="0"/>
                    </a:p>
                  </a:txBody>
                  <a:tcPr/>
                </a:tc>
                <a:tc>
                  <a:txBody>
                    <a:bodyPr/>
                    <a:lstStyle/>
                    <a:p>
                      <a:pPr algn="ctr"/>
                      <a:r>
                        <a:rPr lang="en-IN" dirty="0" smtClean="0"/>
                        <a:t>16.3</a:t>
                      </a:r>
                      <a:endParaRPr lang="en-IN" dirty="0"/>
                    </a:p>
                  </a:txBody>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2"/>
          <p:cNvSpPr>
            <a:spLocks noGrp="1"/>
          </p:cNvSpPr>
          <p:nvPr>
            <p:ph sz="quarter" idx="1"/>
          </p:nvPr>
        </p:nvSpPr>
        <p:spPr>
          <a:xfrm>
            <a:off x="428625" y="357188"/>
            <a:ext cx="8258175" cy="5857875"/>
          </a:xfrm>
        </p:spPr>
        <p:txBody>
          <a:bodyPr/>
          <a:lstStyle/>
          <a:p>
            <a:pPr eaLnBrk="1" hangingPunct="1">
              <a:buFont typeface="Wingdings 2" pitchFamily="18" charset="2"/>
              <a:buNone/>
            </a:pPr>
            <a:endParaRPr lang="en-IN" smtClean="0"/>
          </a:p>
          <a:p>
            <a:pPr eaLnBrk="1" hangingPunct="1">
              <a:buFont typeface="Wingdings 2" pitchFamily="18" charset="2"/>
              <a:buNone/>
            </a:pPr>
            <a:endParaRPr lang="en-IN" smtClean="0"/>
          </a:p>
        </p:txBody>
      </p:sp>
      <p:graphicFrame>
        <p:nvGraphicFramePr>
          <p:cNvPr id="5" name="Table 4"/>
          <p:cNvGraphicFramePr>
            <a:graphicFrameLocks noGrp="1"/>
          </p:cNvGraphicFramePr>
          <p:nvPr/>
        </p:nvGraphicFramePr>
        <p:xfrm>
          <a:off x="142875" y="-71438"/>
          <a:ext cx="4357719" cy="6949440"/>
        </p:xfrm>
        <a:graphic>
          <a:graphicData uri="http://schemas.openxmlformats.org/drawingml/2006/table">
            <a:tbl>
              <a:tblPr firstRow="1" bandRow="1">
                <a:tableStyleId>{5C22544A-7EE6-4342-B048-85BDC9FD1C3A}</a:tableStyleId>
              </a:tblPr>
              <a:tblGrid>
                <a:gridCol w="1452573"/>
                <a:gridCol w="1452573"/>
                <a:gridCol w="1452573"/>
              </a:tblGrid>
              <a:tr h="343201">
                <a:tc>
                  <a:txBody>
                    <a:bodyPr/>
                    <a:lstStyle/>
                    <a:p>
                      <a:pPr algn="ctr"/>
                      <a:r>
                        <a:rPr lang="en-IN" sz="1800" dirty="0" smtClean="0">
                          <a:latin typeface="Tahoma" pitchFamily="34" charset="0"/>
                          <a:ea typeface="Tahoma" pitchFamily="34" charset="0"/>
                          <a:cs typeface="Tahoma" pitchFamily="34" charset="0"/>
                        </a:rPr>
                        <a:t>Weight</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Rank</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Machine</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15.4</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2</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15.7</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3</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15.7</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3</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3</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15.7</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3</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3</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15.8</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5.5</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15.8</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5.5</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15.9</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8</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15.9</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8</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3</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15.9</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8</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2</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16</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10</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2</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16.1</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11</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2</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16.2</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13</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16.2</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13</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2</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16.2</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13</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3</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16.3</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15.5</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16.3</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15.5</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3</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16.4</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17</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3</a:t>
                      </a:r>
                      <a:endParaRPr lang="en-IN" sz="1800" dirty="0">
                        <a:latin typeface="Tahoma" pitchFamily="34" charset="0"/>
                        <a:ea typeface="Tahoma" pitchFamily="34" charset="0"/>
                        <a:cs typeface="Tahoma" pitchFamily="34" charset="0"/>
                      </a:endParaRPr>
                    </a:p>
                  </a:txBody>
                  <a:tcPr/>
                </a:tc>
              </a:tr>
              <a:tr h="343201">
                <a:tc>
                  <a:txBody>
                    <a:bodyPr/>
                    <a:lstStyle/>
                    <a:p>
                      <a:pPr algn="ctr"/>
                      <a:r>
                        <a:rPr lang="en-IN" sz="1800" dirty="0" smtClean="0">
                          <a:latin typeface="Tahoma" pitchFamily="34" charset="0"/>
                          <a:ea typeface="Tahoma" pitchFamily="34" charset="0"/>
                          <a:cs typeface="Tahoma" pitchFamily="34" charset="0"/>
                        </a:rPr>
                        <a:t>16.5</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18</a:t>
                      </a:r>
                      <a:endParaRPr lang="en-IN" sz="1800" dirty="0">
                        <a:latin typeface="Tahoma" pitchFamily="34" charset="0"/>
                        <a:ea typeface="Tahoma" pitchFamily="34" charset="0"/>
                        <a:cs typeface="Tahoma" pitchFamily="34" charset="0"/>
                      </a:endParaRPr>
                    </a:p>
                  </a:txBody>
                  <a:tcPr/>
                </a:tc>
                <a:tc>
                  <a:txBody>
                    <a:bodyPr/>
                    <a:lstStyle/>
                    <a:p>
                      <a:pPr algn="ctr"/>
                      <a:r>
                        <a:rPr lang="en-IN" sz="1800" dirty="0" smtClean="0">
                          <a:latin typeface="Tahoma" pitchFamily="34" charset="0"/>
                          <a:ea typeface="Tahoma" pitchFamily="34" charset="0"/>
                          <a:cs typeface="Tahoma" pitchFamily="34" charset="0"/>
                        </a:rPr>
                        <a:t>2</a:t>
                      </a:r>
                      <a:endParaRPr lang="en-IN" sz="1800" dirty="0">
                        <a:latin typeface="Tahoma" pitchFamily="34" charset="0"/>
                        <a:ea typeface="Tahoma" pitchFamily="34" charset="0"/>
                        <a:cs typeface="Tahoma" pitchFamily="34" charset="0"/>
                      </a:endParaRPr>
                    </a:p>
                  </a:txBody>
                  <a:tcPr/>
                </a:tc>
              </a:tr>
            </a:tbl>
          </a:graphicData>
        </a:graphic>
      </p:graphicFrame>
      <p:sp>
        <p:nvSpPr>
          <p:cNvPr id="58453" name="TextBox 5"/>
          <p:cNvSpPr txBox="1">
            <a:spLocks noChangeArrowheads="1"/>
          </p:cNvSpPr>
          <p:nvPr/>
        </p:nvSpPr>
        <p:spPr bwMode="auto">
          <a:xfrm>
            <a:off x="4643438" y="1071563"/>
            <a:ext cx="4214812" cy="4800600"/>
          </a:xfrm>
          <a:prstGeom prst="rect">
            <a:avLst/>
          </a:prstGeom>
          <a:noFill/>
          <a:ln w="9525">
            <a:noFill/>
            <a:miter lim="800000"/>
            <a:headEnd/>
            <a:tailEnd/>
          </a:ln>
        </p:spPr>
        <p:txBody>
          <a:bodyPr>
            <a:spAutoFit/>
          </a:bodyPr>
          <a:lstStyle/>
          <a:p>
            <a:r>
              <a:rPr lang="en-IN" b="1">
                <a:latin typeface="Perpetua" pitchFamily="18" charset="0"/>
              </a:rPr>
              <a:t>r1 (Total of ranks from machine 1) = 50.5</a:t>
            </a:r>
          </a:p>
          <a:p>
            <a:endParaRPr lang="en-IN" b="1">
              <a:latin typeface="Perpetua" pitchFamily="18" charset="0"/>
            </a:endParaRPr>
          </a:p>
          <a:p>
            <a:r>
              <a:rPr lang="en-IN" b="1">
                <a:latin typeface="Perpetua" pitchFamily="18" charset="0"/>
              </a:rPr>
              <a:t>r2 (Total of ranks from machine 2) = 61</a:t>
            </a:r>
          </a:p>
          <a:p>
            <a:endParaRPr lang="en-IN" b="1">
              <a:latin typeface="Perpetua" pitchFamily="18" charset="0"/>
            </a:endParaRPr>
          </a:p>
          <a:p>
            <a:r>
              <a:rPr lang="en-IN" b="1">
                <a:latin typeface="Perpetua" pitchFamily="18" charset="0"/>
              </a:rPr>
              <a:t>r3 (Total of ranks from machine 3) = 59.5</a:t>
            </a:r>
          </a:p>
          <a:p>
            <a:endParaRPr lang="en-IN" b="1">
              <a:latin typeface="Perpetua" pitchFamily="18" charset="0"/>
            </a:endParaRPr>
          </a:p>
          <a:p>
            <a:endParaRPr lang="en-IN" b="1">
              <a:latin typeface="Perpetua" pitchFamily="18" charset="0"/>
            </a:endParaRPr>
          </a:p>
          <a:p>
            <a:pPr algn="just"/>
            <a:r>
              <a:rPr lang="en-IN" sz="2400" b="1">
                <a:latin typeface="Perpetua" pitchFamily="18" charset="0"/>
              </a:rPr>
              <a:t>Solution:</a:t>
            </a:r>
          </a:p>
          <a:p>
            <a:pPr algn="just"/>
            <a:r>
              <a:rPr lang="en-IN" sz="2400">
                <a:latin typeface="Perpetua" pitchFamily="18" charset="0"/>
              </a:rPr>
              <a:t>H0: Amount of wheat packaged by the three machines is same</a:t>
            </a:r>
          </a:p>
          <a:p>
            <a:pPr algn="just"/>
            <a:endParaRPr lang="en-IN" sz="2400">
              <a:latin typeface="Perpetua" pitchFamily="18" charset="0"/>
            </a:endParaRPr>
          </a:p>
          <a:p>
            <a:pPr algn="just"/>
            <a:r>
              <a:rPr lang="en-IN" sz="2400">
                <a:latin typeface="Perpetua" pitchFamily="18" charset="0"/>
              </a:rPr>
              <a:t>H1: Amount of wheat packaged by at least two machines is different</a:t>
            </a:r>
          </a:p>
          <a:p>
            <a:endParaRPr lang="en-IN" b="1">
              <a:latin typeface="Perpetua" pitchFamily="18" charset="0"/>
            </a:endParaRPr>
          </a:p>
          <a:p>
            <a:endParaRPr lang="en-IN" b="1">
              <a:latin typeface="Perpetua"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2"/>
          <p:cNvSpPr>
            <a:spLocks noGrp="1"/>
          </p:cNvSpPr>
          <p:nvPr>
            <p:ph sz="quarter" idx="1"/>
          </p:nvPr>
        </p:nvSpPr>
        <p:spPr>
          <a:xfrm>
            <a:off x="214313" y="1571625"/>
            <a:ext cx="8472487" cy="4786313"/>
          </a:xfrm>
        </p:spPr>
        <p:txBody>
          <a:bodyPr/>
          <a:lstStyle/>
          <a:p>
            <a:pPr eaLnBrk="1" hangingPunct="1">
              <a:buFont typeface="Wingdings 2" pitchFamily="18" charset="2"/>
              <a:buNone/>
            </a:pPr>
            <a:r>
              <a:rPr lang="en-IN" dirty="0" smtClean="0"/>
              <a:t> </a:t>
            </a:r>
          </a:p>
          <a:p>
            <a:pPr eaLnBrk="1" hangingPunct="1">
              <a:buFont typeface="Wingdings 2" pitchFamily="18" charset="2"/>
              <a:buNone/>
            </a:pPr>
            <a:endParaRPr lang="en-IN" sz="1400" dirty="0" smtClean="0">
              <a:latin typeface="Tahoma" pitchFamily="34" charset="0"/>
              <a:cs typeface="Tahoma" pitchFamily="34" charset="0"/>
            </a:endParaRPr>
          </a:p>
          <a:p>
            <a:pPr eaLnBrk="1" hangingPunct="1">
              <a:buFont typeface="Wingdings 2" pitchFamily="18" charset="2"/>
              <a:buNone/>
            </a:pPr>
            <a:endParaRPr lang="en-IN" sz="1400" baseline="30000" dirty="0" smtClean="0">
              <a:latin typeface="Tahoma" pitchFamily="34" charset="0"/>
              <a:cs typeface="Tahoma" pitchFamily="34" charset="0"/>
            </a:endParaRPr>
          </a:p>
          <a:p>
            <a:pPr eaLnBrk="1" hangingPunct="1">
              <a:buFont typeface="Wingdings 2" pitchFamily="18" charset="2"/>
              <a:buNone/>
            </a:pPr>
            <a:endParaRPr lang="en-IN" dirty="0" smtClean="0"/>
          </a:p>
          <a:p>
            <a:pPr eaLnBrk="1" hangingPunct="1">
              <a:buFont typeface="Wingdings 2" pitchFamily="18" charset="2"/>
              <a:buNone/>
            </a:pPr>
            <a:endParaRPr lang="en-IN" baseline="30000" dirty="0" smtClean="0">
              <a:latin typeface="Tahoma" pitchFamily="34" charset="0"/>
              <a:cs typeface="Tahoma" pitchFamily="34" charset="0"/>
            </a:endParaRPr>
          </a:p>
        </p:txBody>
      </p:sp>
      <p:pic>
        <p:nvPicPr>
          <p:cNvPr id="59395" name="Picture 2" descr="C:\Users\Hp\Desktop\KW-H-Formula.jpg"/>
          <p:cNvPicPr>
            <a:picLocks noChangeAspect="1" noChangeArrowheads="1"/>
          </p:cNvPicPr>
          <p:nvPr/>
        </p:nvPicPr>
        <p:blipFill>
          <a:blip r:embed="rId2"/>
          <a:srcRect/>
          <a:stretch>
            <a:fillRect/>
          </a:stretch>
        </p:blipFill>
        <p:spPr bwMode="auto">
          <a:xfrm>
            <a:off x="457200" y="0"/>
            <a:ext cx="5138738" cy="1624012"/>
          </a:xfrm>
          <a:prstGeom prst="rect">
            <a:avLst/>
          </a:prstGeom>
          <a:noFill/>
          <a:ln w="9525">
            <a:noFill/>
            <a:miter lim="800000"/>
            <a:headEnd/>
            <a:tailEnd/>
          </a:ln>
        </p:spPr>
      </p:pic>
      <p:pic>
        <p:nvPicPr>
          <p:cNvPr id="1026" name="Picture 2"/>
          <p:cNvPicPr>
            <a:picLocks noChangeAspect="1" noChangeArrowheads="1"/>
          </p:cNvPicPr>
          <p:nvPr/>
        </p:nvPicPr>
        <p:blipFill>
          <a:blip r:embed="rId3"/>
          <a:srcRect/>
          <a:stretch>
            <a:fillRect/>
          </a:stretch>
        </p:blipFill>
        <p:spPr bwMode="auto">
          <a:xfrm>
            <a:off x="228600" y="1600200"/>
            <a:ext cx="7981950" cy="1390650"/>
          </a:xfrm>
          <a:prstGeom prst="rect">
            <a:avLst/>
          </a:prstGeom>
          <a:noFill/>
          <a:ln w="9525">
            <a:noFill/>
            <a:miter lim="800000"/>
            <a:headEnd/>
            <a:tailEnd/>
          </a:ln>
          <a:effectLst/>
        </p:spPr>
      </p:pic>
      <p:pic>
        <p:nvPicPr>
          <p:cNvPr id="2050" name="Picture 2"/>
          <p:cNvPicPr>
            <a:picLocks noChangeAspect="1" noChangeArrowheads="1"/>
          </p:cNvPicPr>
          <p:nvPr/>
        </p:nvPicPr>
        <p:blipFill>
          <a:blip r:embed="rId4"/>
          <a:srcRect/>
          <a:stretch>
            <a:fillRect/>
          </a:stretch>
        </p:blipFill>
        <p:spPr bwMode="auto">
          <a:xfrm>
            <a:off x="2362200" y="2895600"/>
            <a:ext cx="4267200" cy="1219200"/>
          </a:xfrm>
          <a:prstGeom prst="rect">
            <a:avLst/>
          </a:prstGeom>
          <a:noFill/>
          <a:ln w="9525">
            <a:noFill/>
            <a:miter lim="800000"/>
            <a:headEnd/>
            <a:tailEnd/>
          </a:ln>
          <a:effectLst/>
        </p:spPr>
      </p:pic>
      <p:sp>
        <p:nvSpPr>
          <p:cNvPr id="6" name="Rectangle 5"/>
          <p:cNvSpPr/>
          <p:nvPr/>
        </p:nvSpPr>
        <p:spPr>
          <a:xfrm>
            <a:off x="0" y="4180344"/>
            <a:ext cx="9144000" cy="2677656"/>
          </a:xfrm>
          <a:prstGeom prst="rect">
            <a:avLst/>
          </a:prstGeom>
        </p:spPr>
        <p:txBody>
          <a:bodyPr wrap="square">
            <a:spAutoFit/>
          </a:bodyPr>
          <a:lstStyle/>
          <a:p>
            <a:pPr algn="just"/>
            <a:r>
              <a:rPr lang="en-IN" sz="2400" dirty="0" smtClean="0">
                <a:solidFill>
                  <a:srgbClr val="0000FF"/>
                </a:solidFill>
                <a:latin typeface="Tahoma" pitchFamily="34" charset="0"/>
                <a:cs typeface="Tahoma" pitchFamily="34" charset="0"/>
              </a:rPr>
              <a:t>H follows a </a:t>
            </a:r>
            <a:r>
              <a:rPr lang="el-GR" sz="2400" dirty="0" smtClean="0">
                <a:solidFill>
                  <a:srgbClr val="0000FF"/>
                </a:solidFill>
                <a:latin typeface="Tahoma" pitchFamily="34" charset="0"/>
                <a:cs typeface="Tahoma" pitchFamily="34" charset="0"/>
              </a:rPr>
              <a:t>χ</a:t>
            </a:r>
            <a:r>
              <a:rPr lang="en-IN" sz="2400" baseline="30000" dirty="0" smtClean="0">
                <a:solidFill>
                  <a:srgbClr val="0000FF"/>
                </a:solidFill>
                <a:latin typeface="Tahoma" pitchFamily="34" charset="0"/>
                <a:cs typeface="Tahoma" pitchFamily="34" charset="0"/>
              </a:rPr>
              <a:t>2</a:t>
            </a:r>
            <a:r>
              <a:rPr lang="en-IN" sz="2400" dirty="0" smtClean="0">
                <a:solidFill>
                  <a:srgbClr val="0000FF"/>
                </a:solidFill>
                <a:latin typeface="Tahoma" pitchFamily="34" charset="0"/>
                <a:cs typeface="Tahoma" pitchFamily="34" charset="0"/>
              </a:rPr>
              <a:t> distribution with 2 </a:t>
            </a:r>
            <a:r>
              <a:rPr lang="en-IN" sz="2400" dirty="0" err="1" smtClean="0">
                <a:solidFill>
                  <a:srgbClr val="0000FF"/>
                </a:solidFill>
                <a:latin typeface="Tahoma" pitchFamily="34" charset="0"/>
                <a:cs typeface="Tahoma" pitchFamily="34" charset="0"/>
              </a:rPr>
              <a:t>df</a:t>
            </a:r>
            <a:r>
              <a:rPr lang="en-IN" sz="2400" dirty="0" smtClean="0">
                <a:solidFill>
                  <a:srgbClr val="0000FF"/>
                </a:solidFill>
                <a:latin typeface="Tahoma" pitchFamily="34" charset="0"/>
                <a:cs typeface="Tahoma" pitchFamily="34" charset="0"/>
              </a:rPr>
              <a:t>. The same value of </a:t>
            </a:r>
            <a:r>
              <a:rPr lang="el-GR" sz="2400" dirty="0" smtClean="0">
                <a:solidFill>
                  <a:srgbClr val="0000FF"/>
                </a:solidFill>
                <a:latin typeface="Tahoma" pitchFamily="34" charset="0"/>
                <a:cs typeface="Tahoma" pitchFamily="34" charset="0"/>
              </a:rPr>
              <a:t>χ</a:t>
            </a:r>
            <a:r>
              <a:rPr lang="en-IN" sz="2400" baseline="30000" dirty="0" smtClean="0">
                <a:solidFill>
                  <a:srgbClr val="0000FF"/>
                </a:solidFill>
                <a:latin typeface="Tahoma" pitchFamily="34" charset="0"/>
                <a:cs typeface="Tahoma" pitchFamily="34" charset="0"/>
              </a:rPr>
              <a:t>2</a:t>
            </a:r>
            <a:r>
              <a:rPr lang="en-IN" sz="2400" dirty="0" smtClean="0">
                <a:solidFill>
                  <a:srgbClr val="0000FF"/>
                </a:solidFill>
                <a:latin typeface="Tahoma" pitchFamily="34" charset="0"/>
                <a:cs typeface="Tahoma" pitchFamily="34" charset="0"/>
              </a:rPr>
              <a:t> of 0.41 is to be compared with the critical value of </a:t>
            </a:r>
            <a:r>
              <a:rPr lang="el-GR" sz="2400" dirty="0" smtClean="0">
                <a:solidFill>
                  <a:srgbClr val="0000FF"/>
                </a:solidFill>
                <a:latin typeface="Tahoma" pitchFamily="34" charset="0"/>
                <a:cs typeface="Tahoma" pitchFamily="34" charset="0"/>
              </a:rPr>
              <a:t>χ</a:t>
            </a:r>
            <a:r>
              <a:rPr lang="en-IN" sz="2400" baseline="30000" dirty="0" smtClean="0">
                <a:solidFill>
                  <a:srgbClr val="0000FF"/>
                </a:solidFill>
                <a:latin typeface="Tahoma" pitchFamily="34" charset="0"/>
                <a:cs typeface="Tahoma" pitchFamily="34" charset="0"/>
              </a:rPr>
              <a:t>2</a:t>
            </a:r>
            <a:r>
              <a:rPr lang="en-IN" sz="2400" dirty="0" smtClean="0">
                <a:solidFill>
                  <a:srgbClr val="0000FF"/>
                </a:solidFill>
                <a:latin typeface="Tahoma" pitchFamily="34" charset="0"/>
                <a:cs typeface="Tahoma" pitchFamily="34" charset="0"/>
              </a:rPr>
              <a:t> , which in the present case is 5.99. As sample </a:t>
            </a:r>
            <a:r>
              <a:rPr lang="el-GR" sz="2400" dirty="0" smtClean="0">
                <a:solidFill>
                  <a:srgbClr val="0000FF"/>
                </a:solidFill>
                <a:latin typeface="Tahoma" pitchFamily="34" charset="0"/>
                <a:cs typeface="Tahoma" pitchFamily="34" charset="0"/>
              </a:rPr>
              <a:t>χ</a:t>
            </a:r>
            <a:r>
              <a:rPr lang="en-IN" sz="2400" baseline="30000" dirty="0" smtClean="0">
                <a:solidFill>
                  <a:srgbClr val="0000FF"/>
                </a:solidFill>
                <a:latin typeface="Tahoma" pitchFamily="34" charset="0"/>
                <a:cs typeface="Tahoma" pitchFamily="34" charset="0"/>
              </a:rPr>
              <a:t>2</a:t>
            </a:r>
            <a:r>
              <a:rPr lang="en-IN" sz="2400" dirty="0" smtClean="0">
                <a:solidFill>
                  <a:srgbClr val="0000FF"/>
                </a:solidFill>
                <a:latin typeface="Tahoma" pitchFamily="34" charset="0"/>
                <a:cs typeface="Tahoma" pitchFamily="34" charset="0"/>
              </a:rPr>
              <a:t> is less than the critical </a:t>
            </a:r>
            <a:r>
              <a:rPr lang="el-GR" sz="2400" dirty="0" smtClean="0">
                <a:solidFill>
                  <a:srgbClr val="0000FF"/>
                </a:solidFill>
                <a:latin typeface="Tahoma" pitchFamily="34" charset="0"/>
                <a:cs typeface="Tahoma" pitchFamily="34" charset="0"/>
              </a:rPr>
              <a:t>χ</a:t>
            </a:r>
            <a:r>
              <a:rPr lang="en-IN" sz="2400" baseline="30000" dirty="0" smtClean="0">
                <a:solidFill>
                  <a:srgbClr val="0000FF"/>
                </a:solidFill>
                <a:latin typeface="Tahoma" pitchFamily="34" charset="0"/>
                <a:cs typeface="Tahoma" pitchFamily="34" charset="0"/>
              </a:rPr>
              <a:t>2</a:t>
            </a:r>
            <a:r>
              <a:rPr lang="en-IN" sz="2400" dirty="0" smtClean="0">
                <a:solidFill>
                  <a:srgbClr val="0000FF"/>
                </a:solidFill>
                <a:latin typeface="Tahoma" pitchFamily="34" charset="0"/>
                <a:cs typeface="Tahoma" pitchFamily="34" charset="0"/>
              </a:rPr>
              <a:t> the null hypothesis is accepted. </a:t>
            </a:r>
          </a:p>
          <a:p>
            <a:pPr algn="just"/>
            <a:endParaRPr lang="en-IN" sz="2400" dirty="0">
              <a:solidFill>
                <a:srgbClr val="0000FF"/>
              </a:solidFill>
              <a:latin typeface="Tahoma" pitchFamily="34" charset="0"/>
              <a:cs typeface="Tahoma" pitchFamily="34" charset="0"/>
            </a:endParaRPr>
          </a:p>
          <a:p>
            <a:pPr algn="just"/>
            <a:r>
              <a:rPr lang="en-IN" sz="2400" dirty="0" smtClean="0">
                <a:solidFill>
                  <a:srgbClr val="0000FF"/>
                </a:solidFill>
                <a:latin typeface="Tahoma" pitchFamily="34" charset="0"/>
                <a:cs typeface="Tahoma" pitchFamily="34" charset="0"/>
              </a:rPr>
              <a:t>Therefore, there is no significant difference in the amount of wheat packaged by the three machines.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cstate="print"/>
          <a:srcRect/>
          <a:stretch>
            <a:fillRect/>
          </a:stretch>
        </p:blipFill>
        <p:spPr bwMode="auto">
          <a:xfrm>
            <a:off x="0" y="304801"/>
            <a:ext cx="9144000" cy="4267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cstate="print"/>
          <a:srcRect/>
          <a:stretch>
            <a:fillRect/>
          </a:stretch>
        </p:blipFill>
        <p:spPr bwMode="auto">
          <a:xfrm>
            <a:off x="0" y="0"/>
            <a:ext cx="89916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cstate="print"/>
          <a:srcRect/>
          <a:stretch>
            <a:fillRect/>
          </a:stretch>
        </p:blipFill>
        <p:spPr bwMode="auto">
          <a:xfrm>
            <a:off x="381000" y="381000"/>
            <a:ext cx="8534400" cy="385953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cstate="print"/>
          <a:srcRect/>
          <a:stretch>
            <a:fillRect/>
          </a:stretch>
        </p:blipFill>
        <p:spPr bwMode="auto">
          <a:xfrm>
            <a:off x="0" y="0"/>
            <a:ext cx="8991600" cy="6629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algn="just"/>
            <a:r>
              <a:rPr lang="en-US" b="1" u="sng" dirty="0" smtClean="0"/>
              <a:t>CHI-SQUARE TEST</a:t>
            </a:r>
            <a:endParaRPr lang="en-US" dirty="0" smtClean="0"/>
          </a:p>
          <a:p>
            <a:pPr algn="just">
              <a:buNone/>
            </a:pPr>
            <a:r>
              <a:rPr lang="en-US" dirty="0" smtClean="0"/>
              <a:t>The chi-square test is an important test amongst the several tests of significance developed by statisticians. </a:t>
            </a:r>
          </a:p>
          <a:p>
            <a:pPr algn="just">
              <a:buNone/>
            </a:pPr>
            <a:r>
              <a:rPr lang="en-US" dirty="0" smtClean="0"/>
              <a:t> </a:t>
            </a:r>
          </a:p>
          <a:p>
            <a:pPr algn="just">
              <a:buNone/>
            </a:pPr>
            <a:r>
              <a:rPr lang="en-US" dirty="0" smtClean="0"/>
              <a:t>Chi-square, </a:t>
            </a:r>
            <a:r>
              <a:rPr lang="en-US" u="sng" dirty="0" smtClean="0"/>
              <a:t>symbolically written as X</a:t>
            </a:r>
            <a:r>
              <a:rPr lang="en-US" u="sng" baseline="30000" dirty="0" smtClean="0"/>
              <a:t>2 </a:t>
            </a:r>
            <a:r>
              <a:rPr lang="en-US" dirty="0" smtClean="0"/>
              <a:t>(Pronounced as </a:t>
            </a:r>
            <a:r>
              <a:rPr lang="en-US" u="sng" dirty="0" smtClean="0"/>
              <a:t>Ki-square</a:t>
            </a:r>
            <a:r>
              <a:rPr lang="en-US" dirty="0" smtClean="0"/>
              <a:t>), is a statistical measure </a:t>
            </a:r>
            <a:r>
              <a:rPr lang="en-US" b="1" i="1" u="sng" dirty="0" smtClean="0"/>
              <a:t>used in the context of sampling analysis</a:t>
            </a:r>
            <a:r>
              <a:rPr lang="en-US" dirty="0" smtClean="0"/>
              <a:t> for </a:t>
            </a:r>
            <a:r>
              <a:rPr lang="en-US" b="1" i="1" u="sng" dirty="0" smtClean="0"/>
              <a:t>comparing </a:t>
            </a:r>
            <a:r>
              <a:rPr lang="en-US" b="1" i="1" u="dbl" dirty="0" smtClean="0"/>
              <a:t>actual variance (observed) </a:t>
            </a:r>
            <a:r>
              <a:rPr lang="en-US" b="1" i="1" u="sng" dirty="0" smtClean="0"/>
              <a:t>to a </a:t>
            </a:r>
            <a:r>
              <a:rPr lang="en-US" b="1" i="1" u="dbl" dirty="0" smtClean="0"/>
              <a:t>theoretical variance (expected)</a:t>
            </a:r>
            <a:r>
              <a:rPr lang="en-US" b="1" dirty="0" smtClean="0"/>
              <a:t>. </a:t>
            </a:r>
            <a:endParaRPr lang="en-US" dirty="0" smtClean="0"/>
          </a:p>
          <a:p>
            <a:pPr algn="just">
              <a:buNone/>
            </a:pPr>
            <a:r>
              <a:rPr lang="en-US" dirty="0" smtClean="0"/>
              <a:t> </a:t>
            </a:r>
          </a:p>
          <a:p>
            <a:pPr algn="just">
              <a:buNone/>
            </a:pPr>
            <a:r>
              <a:rPr lang="en-US" dirty="0" smtClean="0"/>
              <a:t>It is particularly useful in tests involving </a:t>
            </a:r>
            <a:r>
              <a:rPr lang="en-US" u="sng" dirty="0" smtClean="0"/>
              <a:t>nominal data</a:t>
            </a:r>
            <a:endParaRPr lang="en-US" dirty="0" smtClean="0"/>
          </a:p>
          <a:p>
            <a:pPr algn="just">
              <a:buNone/>
            </a:pPr>
            <a:r>
              <a:rPr lang="en-US" b="1" dirty="0" smtClean="0"/>
              <a:t> </a:t>
            </a:r>
            <a:endParaRPr lang="en-US" dirty="0" smtClean="0"/>
          </a:p>
          <a:p>
            <a:pPr algn="just">
              <a:buNone/>
            </a:pPr>
            <a:r>
              <a:rPr lang="en-US" b="1" u="sng" dirty="0" smtClean="0"/>
              <a:t>Typical are cases </a:t>
            </a:r>
            <a:r>
              <a:rPr lang="en-US" dirty="0" smtClean="0"/>
              <a:t>where </a:t>
            </a:r>
            <a:r>
              <a:rPr lang="en-US" u="sng" dirty="0" smtClean="0"/>
              <a:t>persons</a:t>
            </a:r>
            <a:r>
              <a:rPr lang="en-US" dirty="0" smtClean="0"/>
              <a:t>, </a:t>
            </a:r>
            <a:r>
              <a:rPr lang="en-US" u="sng" dirty="0" smtClean="0"/>
              <a:t>events</a:t>
            </a:r>
            <a:r>
              <a:rPr lang="en-US" dirty="0" smtClean="0"/>
              <a:t>, or </a:t>
            </a:r>
            <a:r>
              <a:rPr lang="en-US" u="sng" dirty="0" smtClean="0"/>
              <a:t>objects</a:t>
            </a:r>
            <a:r>
              <a:rPr lang="en-US" dirty="0" smtClean="0"/>
              <a:t> are </a:t>
            </a:r>
            <a:r>
              <a:rPr lang="en-US" u="sng" dirty="0" smtClean="0"/>
              <a:t>grouped in two or more nominal categories </a:t>
            </a:r>
            <a:r>
              <a:rPr lang="en-US" dirty="0" smtClean="0"/>
              <a:t>such as </a:t>
            </a:r>
            <a:r>
              <a:rPr lang="en-US" u="sng" dirty="0" smtClean="0"/>
              <a:t>"yes-no," true false,  male female, "favor-undecided-against" </a:t>
            </a:r>
            <a:r>
              <a:rPr lang="en-US" dirty="0" smtClean="0"/>
              <a:t>or </a:t>
            </a:r>
            <a:r>
              <a:rPr lang="en-US" u="sng" dirty="0" smtClean="0"/>
              <a:t>class ‘A,B,C, or D’. </a:t>
            </a:r>
            <a:endParaRPr lang="en-US" dirty="0" smtClean="0"/>
          </a:p>
          <a:p>
            <a:pPr algn="just">
              <a:buNone/>
            </a:pPr>
            <a:r>
              <a:rPr lang="en-US" dirty="0" smtClean="0"/>
              <a:t>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Autofit/>
          </a:bodyPr>
          <a:lstStyle/>
          <a:p>
            <a:pPr algn="just">
              <a:spcBef>
                <a:spcPts val="0"/>
              </a:spcBef>
              <a:buNone/>
            </a:pPr>
            <a:r>
              <a:rPr lang="en-US" sz="2400" dirty="0" smtClean="0"/>
              <a:t>Using this technique, </a:t>
            </a:r>
            <a:r>
              <a:rPr lang="en-US" sz="2400" b="1" u="sng" dirty="0" smtClean="0"/>
              <a:t>we test </a:t>
            </a:r>
            <a:r>
              <a:rPr lang="en-US" sz="2400" i="1" dirty="0" smtClean="0"/>
              <a:t>for significant differences</a:t>
            </a:r>
            <a:r>
              <a:rPr lang="en-US" sz="2400" dirty="0" smtClean="0"/>
              <a:t> between the </a:t>
            </a:r>
            <a:r>
              <a:rPr lang="en-US" sz="2400" u="sng" dirty="0" smtClean="0"/>
              <a:t>observed distribution</a:t>
            </a:r>
            <a:r>
              <a:rPr lang="en-US" sz="2400" dirty="0" smtClean="0"/>
              <a:t> and the </a:t>
            </a:r>
            <a:r>
              <a:rPr lang="en-US" sz="2400" u="sng" dirty="0" smtClean="0"/>
              <a:t>expected distribution </a:t>
            </a:r>
            <a:r>
              <a:rPr lang="en-US" sz="2400" i="1" u="dbl" dirty="0" smtClean="0"/>
              <a:t>based on the null hypothesis</a:t>
            </a:r>
            <a:r>
              <a:rPr lang="en-US" sz="2400" dirty="0" smtClean="0"/>
              <a:t>. </a:t>
            </a:r>
          </a:p>
          <a:p>
            <a:pPr algn="just">
              <a:spcBef>
                <a:spcPts val="0"/>
              </a:spcBef>
              <a:buNone/>
            </a:pPr>
            <a:endParaRPr lang="en-US" sz="2400" dirty="0" smtClean="0"/>
          </a:p>
          <a:p>
            <a:pPr algn="just">
              <a:spcBef>
                <a:spcPts val="0"/>
              </a:spcBef>
              <a:buNone/>
            </a:pPr>
            <a:r>
              <a:rPr lang="en-US" sz="2400" dirty="0" smtClean="0"/>
              <a:t>When we use chi-square </a:t>
            </a:r>
            <a:r>
              <a:rPr lang="en-US" sz="2400" dirty="0" smtClean="0">
                <a:solidFill>
                  <a:srgbClr val="FF0000"/>
                </a:solidFill>
                <a:effectLst>
                  <a:outerShdw blurRad="38100" dist="38100" dir="2700000" algn="tl">
                    <a:srgbClr val="000000">
                      <a:alpha val="43137"/>
                    </a:srgbClr>
                  </a:outerShdw>
                </a:effectLst>
              </a:rPr>
              <a:t>as a test for population variance</a:t>
            </a:r>
            <a:r>
              <a:rPr lang="en-US" sz="2400" dirty="0" smtClean="0"/>
              <a:t>, we have to work out the value of </a:t>
            </a:r>
            <a:r>
              <a:rPr lang="en-US" sz="2400" b="1" dirty="0" smtClean="0"/>
              <a:t>X</a:t>
            </a:r>
            <a:r>
              <a:rPr lang="en-US" sz="2400" b="1" baseline="30000" dirty="0" smtClean="0"/>
              <a:t>2 </a:t>
            </a:r>
            <a:r>
              <a:rPr lang="en-US" sz="2400" dirty="0" smtClean="0"/>
              <a:t>to test the null hypothesis.</a:t>
            </a:r>
          </a:p>
          <a:p>
            <a:pPr algn="just">
              <a:spcBef>
                <a:spcPts val="0"/>
              </a:spcBef>
              <a:buNone/>
            </a:pPr>
            <a:endParaRPr lang="en-US" sz="2400" dirty="0" smtClean="0"/>
          </a:p>
          <a:p>
            <a:pPr algn="just">
              <a:spcBef>
                <a:spcPts val="0"/>
              </a:spcBef>
              <a:buNone/>
            </a:pPr>
            <a:r>
              <a:rPr lang="en-US" sz="2400" dirty="0" smtClean="0"/>
              <a:t>Then by comparing the calculated value with the table value of </a:t>
            </a:r>
            <a:r>
              <a:rPr lang="en-US" sz="2400" b="1" dirty="0" smtClean="0"/>
              <a:t>X</a:t>
            </a:r>
            <a:r>
              <a:rPr lang="en-US" sz="2400" b="1" baseline="30000" dirty="0" smtClean="0"/>
              <a:t>2 </a:t>
            </a:r>
            <a:r>
              <a:rPr lang="en-US" sz="2400" dirty="0" smtClean="0"/>
              <a:t>for     (</a:t>
            </a:r>
            <a:r>
              <a:rPr lang="en-US" sz="2400" i="1" dirty="0" smtClean="0"/>
              <a:t>n </a:t>
            </a:r>
            <a:r>
              <a:rPr lang="en-US" sz="2400" dirty="0" smtClean="0"/>
              <a:t>– 1) degrees of freedom at a given level of significance, we may either accept or reject the null hypothesis. </a:t>
            </a:r>
          </a:p>
          <a:p>
            <a:pPr algn="just">
              <a:spcBef>
                <a:spcPts val="0"/>
              </a:spcBef>
              <a:buNone/>
            </a:pPr>
            <a:endParaRPr lang="en-US" sz="2400" dirty="0" smtClean="0"/>
          </a:p>
          <a:p>
            <a:pPr algn="just">
              <a:spcBef>
                <a:spcPts val="0"/>
              </a:spcBef>
              <a:buNone/>
            </a:pPr>
            <a:r>
              <a:rPr lang="en-US" sz="2400" dirty="0" smtClean="0"/>
              <a:t> If the calculated value of </a:t>
            </a:r>
            <a:r>
              <a:rPr lang="en-US" sz="2400" b="1" dirty="0" smtClean="0"/>
              <a:t>X</a:t>
            </a:r>
            <a:r>
              <a:rPr lang="en-US" sz="2400" b="1" baseline="30000" dirty="0" smtClean="0"/>
              <a:t>2 </a:t>
            </a:r>
            <a:r>
              <a:rPr lang="en-US" sz="2400" dirty="0" smtClean="0"/>
              <a:t>is less than the table value, the null hypothesis is accepted, but if the calculated value is equal or greater than the table value, the hypothesis is rejected. </a:t>
            </a:r>
          </a:p>
          <a:p>
            <a:pPr algn="just">
              <a:spcBef>
                <a:spcPts val="0"/>
              </a:spcBef>
              <a:buNone/>
            </a:pPr>
            <a:r>
              <a:rPr lang="en-US" sz="2400" b="1" dirty="0" smtClean="0">
                <a:solidFill>
                  <a:srgbClr val="FF0000"/>
                </a:solidFill>
              </a:rPr>
              <a:t>This test is evaluated to see whether the difference between the observed frequencies and the expected frequencies </a:t>
            </a:r>
            <a:r>
              <a:rPr lang="en-US" sz="2400" b="1" u="dbl" dirty="0" smtClean="0">
                <a:solidFill>
                  <a:srgbClr val="FF0000"/>
                </a:solidFill>
              </a:rPr>
              <a:t>under the null hypothesis</a:t>
            </a:r>
            <a:r>
              <a:rPr lang="en-US" sz="2400" b="1" u="sng" dirty="0" smtClean="0">
                <a:solidFill>
                  <a:srgbClr val="FF0000"/>
                </a:solidFill>
              </a:rPr>
              <a:t> </a:t>
            </a:r>
            <a:r>
              <a:rPr lang="en-US" sz="2400" b="1" i="1" u="sng" dirty="0" smtClean="0">
                <a:solidFill>
                  <a:srgbClr val="FF0000"/>
                </a:solidFill>
              </a:rPr>
              <a:t>can be attributed to chance</a:t>
            </a:r>
            <a:r>
              <a:rPr lang="en-US" sz="2400" b="1" dirty="0" smtClean="0">
                <a:solidFill>
                  <a:srgbClr val="FF0000"/>
                </a:solidFill>
              </a:rPr>
              <a:t> or </a:t>
            </a:r>
            <a:r>
              <a:rPr lang="en-US" sz="2400" b="1" i="1" u="sng" dirty="0" smtClean="0">
                <a:solidFill>
                  <a:srgbClr val="FF0000"/>
                </a:solidFill>
              </a:rPr>
              <a:t>actual population differences</a:t>
            </a:r>
            <a:endParaRPr lang="en-US" sz="2400" b="1" dirty="0" smtClean="0">
              <a:solidFill>
                <a:srgbClr val="FF0000"/>
              </a:solidFill>
            </a:endParaRPr>
          </a:p>
          <a:p>
            <a:pPr algn="just">
              <a:spcBef>
                <a:spcPts val="0"/>
              </a:spcBef>
              <a:buNone/>
            </a:pPr>
            <a:r>
              <a:rPr lang="en-US" sz="2400" dirty="0" smtClean="0"/>
              <a:t> </a:t>
            </a:r>
          </a:p>
          <a:p>
            <a:pPr>
              <a:spcBef>
                <a:spcPts val="0"/>
              </a:spcBef>
            </a:pPr>
            <a:endParaRPr lang="en-US" sz="24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705600"/>
          </a:xfrm>
        </p:spPr>
        <p:txBody>
          <a:bodyPr>
            <a:normAutofit/>
          </a:bodyPr>
          <a:lstStyle/>
          <a:p>
            <a:pPr>
              <a:buNone/>
            </a:pPr>
            <a:r>
              <a:rPr lang="en-US" dirty="0" smtClean="0"/>
              <a:t>The </a:t>
            </a:r>
            <a:r>
              <a:rPr lang="en-US" b="1" dirty="0" smtClean="0"/>
              <a:t>X</a:t>
            </a:r>
            <a:r>
              <a:rPr lang="en-US" b="1" baseline="30000" dirty="0" smtClean="0"/>
              <a:t>2</a:t>
            </a:r>
            <a:r>
              <a:rPr lang="en-US" dirty="0" smtClean="0"/>
              <a:t>-distribution is </a:t>
            </a:r>
            <a:r>
              <a:rPr lang="en-US" b="1" u="dbl" dirty="0" smtClean="0"/>
              <a:t>not symmetrical</a:t>
            </a:r>
            <a:r>
              <a:rPr lang="en-US" dirty="0" smtClean="0"/>
              <a:t> and all the </a:t>
            </a:r>
            <a:r>
              <a:rPr lang="en-US" b="1" u="dbl" dirty="0" smtClean="0"/>
              <a:t>values are positive</a:t>
            </a:r>
            <a:r>
              <a:rPr lang="en-US" dirty="0" smtClean="0"/>
              <a:t>. </a:t>
            </a:r>
          </a:p>
          <a:p>
            <a:pPr>
              <a:buNone/>
            </a:pPr>
            <a:r>
              <a:rPr lang="en-US" dirty="0" smtClean="0"/>
              <a:t> </a:t>
            </a:r>
          </a:p>
          <a:p>
            <a:pPr>
              <a:buNone/>
            </a:pPr>
            <a:r>
              <a:rPr lang="en-US" dirty="0" smtClean="0">
                <a:solidFill>
                  <a:srgbClr val="FF0000"/>
                </a:solidFill>
              </a:rPr>
              <a:t>Table value specifies critical values of </a:t>
            </a:r>
            <a:r>
              <a:rPr lang="en-US" b="1" dirty="0" smtClean="0">
                <a:solidFill>
                  <a:srgbClr val="FF0000"/>
                </a:solidFill>
              </a:rPr>
              <a:t>X</a:t>
            </a:r>
            <a:r>
              <a:rPr lang="en-US" b="1" baseline="30000" dirty="0" smtClean="0">
                <a:solidFill>
                  <a:srgbClr val="FF0000"/>
                </a:solidFill>
              </a:rPr>
              <a:t>2</a:t>
            </a:r>
            <a:r>
              <a:rPr lang="en-US" dirty="0" smtClean="0">
                <a:solidFill>
                  <a:srgbClr val="FF0000"/>
                </a:solidFill>
              </a:rPr>
              <a:t> for the different degrees of freedom.</a:t>
            </a:r>
          </a:p>
          <a:p>
            <a:pPr>
              <a:buNone/>
            </a:pPr>
            <a:r>
              <a:rPr lang="en-US" dirty="0" smtClean="0"/>
              <a:t> </a:t>
            </a:r>
          </a:p>
          <a:p>
            <a:pPr>
              <a:buNone/>
            </a:pPr>
            <a:r>
              <a:rPr lang="en-US" dirty="0" smtClean="0"/>
              <a:t>Chi-square is useful in cases of </a:t>
            </a:r>
            <a:r>
              <a:rPr lang="en-US" u="sng" dirty="0" smtClean="0"/>
              <a:t>one-sample analysis</a:t>
            </a:r>
            <a:r>
              <a:rPr lang="en-US" dirty="0" smtClean="0"/>
              <a:t>, </a:t>
            </a:r>
            <a:r>
              <a:rPr lang="en-US" u="sng" dirty="0" smtClean="0"/>
              <a:t>two independent samples</a:t>
            </a:r>
            <a:r>
              <a:rPr lang="en-US" dirty="0" smtClean="0"/>
              <a:t>, or </a:t>
            </a:r>
            <a:r>
              <a:rPr lang="en-US" u="sng" dirty="0" smtClean="0"/>
              <a:t>k independent samples</a:t>
            </a:r>
            <a:r>
              <a:rPr lang="en-US" dirty="0" smtClean="0"/>
              <a:t>. </a:t>
            </a:r>
          </a:p>
          <a:p>
            <a:pPr>
              <a:buNone/>
            </a:pPr>
            <a:r>
              <a:rPr lang="en-US" dirty="0" smtClean="0"/>
              <a:t> </a:t>
            </a:r>
          </a:p>
          <a:p>
            <a:pPr>
              <a:buNone/>
            </a:pPr>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
            <a:ext cx="9144000" cy="6477000"/>
          </a:xfrm>
        </p:spPr>
        <p:txBody>
          <a:bodyPr>
            <a:normAutofit fontScale="85000" lnSpcReduction="20000"/>
          </a:bodyPr>
          <a:lstStyle/>
          <a:p>
            <a:pPr algn="just">
              <a:buNone/>
            </a:pPr>
            <a:r>
              <a:rPr lang="en-US" u="sng" dirty="0" smtClean="0"/>
              <a:t>As a non-parametric test</a:t>
            </a:r>
            <a:r>
              <a:rPr lang="en-US" dirty="0" smtClean="0"/>
              <a:t>, chi-square can be used (</a:t>
            </a:r>
            <a:r>
              <a:rPr lang="en-US" dirty="0" err="1" smtClean="0"/>
              <a:t>i</a:t>
            </a:r>
            <a:r>
              <a:rPr lang="en-US" dirty="0" smtClean="0"/>
              <a:t>) as a test of goodness of fit and (ii) as a test of independence</a:t>
            </a:r>
          </a:p>
          <a:p>
            <a:pPr algn="just">
              <a:buNone/>
            </a:pPr>
            <a:endParaRPr lang="en-US" b="1" u="sng" dirty="0" smtClean="0"/>
          </a:p>
          <a:p>
            <a:pPr algn="just">
              <a:buNone/>
            </a:pPr>
            <a:r>
              <a:rPr lang="en-US" b="1" u="sng" dirty="0" smtClean="0"/>
              <a:t>As a test of goodness of fit</a:t>
            </a:r>
            <a:r>
              <a:rPr lang="en-US" dirty="0" smtClean="0"/>
              <a:t>, X</a:t>
            </a:r>
            <a:r>
              <a:rPr lang="en-US" baseline="30000" dirty="0" smtClean="0"/>
              <a:t>2</a:t>
            </a:r>
            <a:r>
              <a:rPr lang="en-US" dirty="0" smtClean="0"/>
              <a:t> test enables us to see how well does </a:t>
            </a:r>
            <a:r>
              <a:rPr lang="en-US" b="1" dirty="0" smtClean="0">
                <a:solidFill>
                  <a:srgbClr val="FF0000"/>
                </a:solidFill>
              </a:rPr>
              <a:t>the assumed theoretical distribution </a:t>
            </a:r>
            <a:r>
              <a:rPr lang="en-US" dirty="0" smtClean="0"/>
              <a:t>(such as Binomial distribution, Poisson distribution or Normal distribution) </a:t>
            </a:r>
            <a:r>
              <a:rPr lang="en-US" b="1" dirty="0" smtClean="0">
                <a:solidFill>
                  <a:srgbClr val="0000FF"/>
                </a:solidFill>
              </a:rPr>
              <a:t>fit to the observed data.</a:t>
            </a:r>
          </a:p>
          <a:p>
            <a:pPr algn="just">
              <a:buNone/>
            </a:pPr>
            <a:r>
              <a:rPr lang="en-US" dirty="0" smtClean="0"/>
              <a:t> </a:t>
            </a:r>
          </a:p>
          <a:p>
            <a:pPr algn="just">
              <a:buNone/>
            </a:pPr>
            <a:r>
              <a:rPr lang="en-US" b="1" dirty="0" smtClean="0">
                <a:solidFill>
                  <a:srgbClr val="FF0000"/>
                </a:solidFill>
              </a:rPr>
              <a:t>If the calculated value of X</a:t>
            </a:r>
            <a:r>
              <a:rPr lang="en-US" b="1" baseline="30000" dirty="0" smtClean="0">
                <a:solidFill>
                  <a:srgbClr val="FF0000"/>
                </a:solidFill>
              </a:rPr>
              <a:t>2</a:t>
            </a:r>
            <a:r>
              <a:rPr lang="en-US" b="1" dirty="0" smtClean="0">
                <a:solidFill>
                  <a:srgbClr val="FF0000"/>
                </a:solidFill>
              </a:rPr>
              <a:t> is less than the table value </a:t>
            </a:r>
            <a:r>
              <a:rPr lang="en-US" b="1" dirty="0" smtClean="0">
                <a:solidFill>
                  <a:srgbClr val="0000FF"/>
                </a:solidFill>
              </a:rPr>
              <a:t>at a certain level of significance,</a:t>
            </a:r>
            <a:r>
              <a:rPr lang="en-US" b="1" dirty="0" smtClean="0"/>
              <a:t> the fit is considered to be a good one which means that the divergence between the observed and expected frequencies is </a:t>
            </a:r>
            <a:r>
              <a:rPr lang="en-US" b="1" u="sng" dirty="0" smtClean="0"/>
              <a:t>attributable to fluctuations of sampling</a:t>
            </a:r>
            <a:r>
              <a:rPr lang="en-US" b="1" dirty="0" smtClean="0"/>
              <a:t>. </a:t>
            </a:r>
          </a:p>
          <a:p>
            <a:pPr algn="just">
              <a:buNone/>
            </a:pPr>
            <a:r>
              <a:rPr lang="en-US" b="1" dirty="0" smtClean="0"/>
              <a:t> </a:t>
            </a:r>
          </a:p>
          <a:p>
            <a:pPr algn="just">
              <a:buNone/>
            </a:pPr>
            <a:r>
              <a:rPr lang="en-US" b="1" dirty="0" smtClean="0"/>
              <a:t>But </a:t>
            </a:r>
            <a:r>
              <a:rPr lang="en-US" b="1" dirty="0" smtClean="0">
                <a:solidFill>
                  <a:srgbClr val="FF0000"/>
                </a:solidFill>
              </a:rPr>
              <a:t>if the calculated value of X</a:t>
            </a:r>
            <a:r>
              <a:rPr lang="en-US" b="1" baseline="30000" dirty="0" smtClean="0">
                <a:solidFill>
                  <a:srgbClr val="FF0000"/>
                </a:solidFill>
              </a:rPr>
              <a:t>2</a:t>
            </a:r>
            <a:r>
              <a:rPr lang="en-US" b="1" dirty="0" smtClean="0">
                <a:solidFill>
                  <a:srgbClr val="FF0000"/>
                </a:solidFill>
              </a:rPr>
              <a:t> is greater</a:t>
            </a:r>
            <a:r>
              <a:rPr lang="en-US" b="1" dirty="0" smtClean="0"/>
              <a:t> than its table value, </a:t>
            </a:r>
            <a:r>
              <a:rPr lang="en-US" b="1" dirty="0" smtClean="0">
                <a:solidFill>
                  <a:srgbClr val="0000FF"/>
                </a:solidFill>
              </a:rPr>
              <a:t>the fit is not considered to be a good on</a:t>
            </a:r>
          </a:p>
          <a:p>
            <a:pPr>
              <a:buNone/>
            </a:pPr>
            <a:r>
              <a:rPr lang="en-US" b="1" dirty="0" smtClean="0">
                <a:solidFill>
                  <a:srgbClr val="0000FF"/>
                </a:solidFill>
              </a:rPr>
              <a:t> </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705600"/>
          </a:xfrm>
        </p:spPr>
        <p:txBody>
          <a:bodyPr>
            <a:normAutofit fontScale="77500" lnSpcReduction="20000"/>
          </a:bodyPr>
          <a:lstStyle/>
          <a:p>
            <a:pPr algn="just">
              <a:buNone/>
            </a:pPr>
            <a:r>
              <a:rPr lang="en-US" b="1" u="sng" dirty="0" smtClean="0"/>
              <a:t>As a test of independence</a:t>
            </a:r>
            <a:r>
              <a:rPr lang="en-US" dirty="0" smtClean="0"/>
              <a:t>, </a:t>
            </a:r>
            <a:r>
              <a:rPr lang="en-US" b="1" dirty="0" smtClean="0">
                <a:solidFill>
                  <a:srgbClr val="0000FF"/>
                </a:solidFill>
              </a:rPr>
              <a:t>X</a:t>
            </a:r>
            <a:r>
              <a:rPr lang="en-US" b="1" baseline="30000" dirty="0" smtClean="0">
                <a:solidFill>
                  <a:srgbClr val="0000FF"/>
                </a:solidFill>
              </a:rPr>
              <a:t>2</a:t>
            </a:r>
            <a:r>
              <a:rPr lang="en-US" b="1" dirty="0" smtClean="0">
                <a:solidFill>
                  <a:srgbClr val="0000FF"/>
                </a:solidFill>
              </a:rPr>
              <a:t> test enables us to explain whether or not </a:t>
            </a:r>
            <a:r>
              <a:rPr lang="en-US" b="1" u="sng" dirty="0" smtClean="0">
                <a:solidFill>
                  <a:srgbClr val="FF0000"/>
                </a:solidFill>
              </a:rPr>
              <a:t>two attributes </a:t>
            </a:r>
            <a:r>
              <a:rPr lang="en-US" b="1" dirty="0" smtClean="0">
                <a:solidFill>
                  <a:srgbClr val="0000FF"/>
                </a:solidFill>
              </a:rPr>
              <a:t>are associated. </a:t>
            </a:r>
          </a:p>
          <a:p>
            <a:pPr algn="just">
              <a:buNone/>
            </a:pPr>
            <a:endParaRPr lang="en-US" dirty="0" smtClean="0"/>
          </a:p>
          <a:p>
            <a:pPr algn="just">
              <a:buNone/>
            </a:pPr>
            <a:r>
              <a:rPr lang="en-US" dirty="0" smtClean="0"/>
              <a:t>For instance, we may be interested in knowing whether a new medicine is effective in controlling fever or not, X</a:t>
            </a:r>
            <a:r>
              <a:rPr lang="en-US" baseline="30000" dirty="0" smtClean="0"/>
              <a:t>2</a:t>
            </a:r>
            <a:r>
              <a:rPr lang="en-US" dirty="0" smtClean="0"/>
              <a:t> test will helps us in deciding this issue.</a:t>
            </a:r>
          </a:p>
          <a:p>
            <a:pPr algn="just">
              <a:buNone/>
            </a:pPr>
            <a:endParaRPr lang="en-US" dirty="0" smtClean="0"/>
          </a:p>
          <a:p>
            <a:pPr algn="just">
              <a:buNone/>
            </a:pPr>
            <a:r>
              <a:rPr lang="en-US" dirty="0" smtClean="0"/>
              <a:t> In such a situation, we proceed with the null hypothesis that the two attributes (viz., new medicine and control of fever) are independent which means that new medicine is not effective in controlling fever. </a:t>
            </a:r>
          </a:p>
          <a:p>
            <a:pPr algn="just">
              <a:buNone/>
            </a:pPr>
            <a:endParaRPr lang="en-US" dirty="0" smtClean="0"/>
          </a:p>
          <a:p>
            <a:pPr algn="just">
              <a:buNone/>
            </a:pPr>
            <a:r>
              <a:rPr lang="en-US" dirty="0" smtClean="0"/>
              <a:t>On this basis we first calculate the expected frequencies and then work out the value of X</a:t>
            </a:r>
            <a:r>
              <a:rPr lang="en-US" baseline="30000" dirty="0" smtClean="0"/>
              <a:t>2</a:t>
            </a:r>
            <a:r>
              <a:rPr lang="en-US" dirty="0" smtClean="0"/>
              <a:t>.  If the calculated value of X</a:t>
            </a:r>
            <a:r>
              <a:rPr lang="en-US" baseline="30000" dirty="0" smtClean="0"/>
              <a:t>2 </a:t>
            </a:r>
            <a:r>
              <a:rPr lang="en-US" dirty="0" smtClean="0"/>
              <a:t>is less than the table value at a certain level of significance for given degrees of freedom, we conclude that null hypothesis stands, which means that the two attributes are independent or not associated  (i.e., the new medicine is not effective in controlling the fever).</a:t>
            </a:r>
          </a:p>
          <a:p>
            <a:pPr algn="just">
              <a:buNone/>
            </a:pPr>
            <a:r>
              <a:rPr lang="en-US" dirty="0" smtClean="0"/>
              <a:t> </a:t>
            </a:r>
          </a:p>
          <a:p>
            <a:pPr>
              <a:buNone/>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8915400" cy="6553200"/>
          </a:xfrm>
        </p:spPr>
        <p:txBody>
          <a:bodyPr>
            <a:normAutofit fontScale="85000" lnSpcReduction="20000"/>
          </a:bodyPr>
          <a:lstStyle/>
          <a:p>
            <a:pPr>
              <a:buNone/>
            </a:pPr>
            <a:r>
              <a:rPr lang="en-US" b="1" u="sng" dirty="0" smtClean="0"/>
              <a:t>CONDITIONS FOR THE APPLICATION OF X</a:t>
            </a:r>
            <a:r>
              <a:rPr lang="en-US" b="1" u="sng" baseline="30000" dirty="0" smtClean="0"/>
              <a:t>2</a:t>
            </a:r>
            <a:r>
              <a:rPr lang="en-US" b="1" u="sng" dirty="0" smtClean="0"/>
              <a:t>TEST</a:t>
            </a:r>
            <a:endParaRPr lang="en-US" b="1" dirty="0" smtClean="0"/>
          </a:p>
          <a:p>
            <a:pPr algn="just">
              <a:buNone/>
            </a:pPr>
            <a:r>
              <a:rPr lang="en-US" dirty="0" smtClean="0"/>
              <a:t>The following conditions should be satisfied before X</a:t>
            </a:r>
            <a:r>
              <a:rPr lang="en-US" baseline="30000" dirty="0" smtClean="0"/>
              <a:t>2</a:t>
            </a:r>
            <a:r>
              <a:rPr lang="en-US" dirty="0" smtClean="0"/>
              <a:t> test can be applied: </a:t>
            </a:r>
          </a:p>
          <a:p>
            <a:pPr lvl="0" algn="just">
              <a:buNone/>
            </a:pPr>
            <a:r>
              <a:rPr lang="en-US" dirty="0" smtClean="0"/>
              <a:t>(i)  Observations recorded are </a:t>
            </a:r>
            <a:r>
              <a:rPr lang="en-US" b="1" u="dbl" dirty="0" smtClean="0"/>
              <a:t>collected on a random basis</a:t>
            </a:r>
            <a:r>
              <a:rPr lang="en-US" dirty="0" smtClean="0"/>
              <a:t>. </a:t>
            </a:r>
          </a:p>
          <a:p>
            <a:pPr algn="just">
              <a:buNone/>
            </a:pPr>
            <a:r>
              <a:rPr lang="en-US" dirty="0" smtClean="0"/>
              <a:t>(ii) All the items in the </a:t>
            </a:r>
            <a:r>
              <a:rPr lang="en-US" b="1" u="sng" dirty="0" smtClean="0"/>
              <a:t>sample must be independent</a:t>
            </a:r>
            <a:r>
              <a:rPr lang="en-US" dirty="0" smtClean="0"/>
              <a:t>. </a:t>
            </a:r>
          </a:p>
          <a:p>
            <a:pPr algn="just">
              <a:buNone/>
            </a:pPr>
            <a:endParaRPr lang="en-US" dirty="0" smtClean="0"/>
          </a:p>
          <a:p>
            <a:pPr algn="just">
              <a:buNone/>
            </a:pPr>
            <a:r>
              <a:rPr lang="en-US" dirty="0" smtClean="0"/>
              <a:t>(iii) </a:t>
            </a:r>
            <a:r>
              <a:rPr lang="en-US" u="sng" dirty="0" smtClean="0"/>
              <a:t>No group should contain very few items, </a:t>
            </a:r>
            <a:r>
              <a:rPr lang="en-US" b="1" u="sng" dirty="0" smtClean="0">
                <a:solidFill>
                  <a:srgbClr val="FF0000"/>
                </a:solidFill>
                <a:effectLst>
                  <a:outerShdw blurRad="38100" dist="38100" dir="2700000" algn="tl">
                    <a:srgbClr val="000000">
                      <a:alpha val="43137"/>
                    </a:srgbClr>
                  </a:outerShdw>
                </a:effectLst>
              </a:rPr>
              <a:t>say less than 10</a:t>
            </a:r>
            <a:r>
              <a:rPr lang="en-US" b="1" dirty="0" smtClean="0">
                <a:solidFill>
                  <a:srgbClr val="FF0000"/>
                </a:solidFill>
                <a:effectLst>
                  <a:outerShdw blurRad="38100" dist="38100" dir="2700000" algn="tl">
                    <a:srgbClr val="000000">
                      <a:alpha val="43137"/>
                    </a:srgbClr>
                  </a:outerShdw>
                </a:effectLst>
              </a:rPr>
              <a:t>.</a:t>
            </a:r>
          </a:p>
          <a:p>
            <a:pPr algn="just">
              <a:buNone/>
            </a:pPr>
            <a:r>
              <a:rPr lang="en-US" dirty="0" smtClean="0"/>
              <a:t> 10 is regarded as better by most of the statisticians. </a:t>
            </a:r>
          </a:p>
          <a:p>
            <a:pPr algn="just">
              <a:buNone/>
            </a:pPr>
            <a:endParaRPr lang="en-US" dirty="0" smtClean="0"/>
          </a:p>
          <a:p>
            <a:pPr algn="just">
              <a:buNone/>
            </a:pPr>
            <a:r>
              <a:rPr lang="en-US" dirty="0" smtClean="0"/>
              <a:t>(iv) The overall number of items must also be reasonably large. It should normally be at least 50.</a:t>
            </a:r>
          </a:p>
          <a:p>
            <a:pPr algn="just">
              <a:buNone/>
            </a:pPr>
            <a:endParaRPr lang="en-US" dirty="0" smtClean="0"/>
          </a:p>
          <a:p>
            <a:pPr algn="just">
              <a:buNone/>
            </a:pPr>
            <a:r>
              <a:rPr lang="en-US" dirty="0" smtClean="0"/>
              <a:t>(v) The constraints </a:t>
            </a:r>
            <a:r>
              <a:rPr lang="en-US" b="1" dirty="0" smtClean="0">
                <a:solidFill>
                  <a:srgbClr val="0000FF"/>
                </a:solidFill>
              </a:rPr>
              <a:t>must be linear. (i.e., equations containing no squares or higher powers of the frequencies</a:t>
            </a:r>
            <a:r>
              <a:rPr lang="en-US" dirty="0" smtClean="0"/>
              <a:t>) are known as </a:t>
            </a:r>
            <a:r>
              <a:rPr lang="en-US" b="1" dirty="0" smtClean="0"/>
              <a:t>linear constraints. </a:t>
            </a:r>
          </a:p>
          <a:p>
            <a:pPr>
              <a:buNone/>
            </a:pPr>
            <a:r>
              <a:rPr lang="en-US" dirty="0" smtClean="0"/>
              <a:t> </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lstStyle/>
          <a:p>
            <a:r>
              <a:rPr lang="en-US" b="1" dirty="0" smtClean="0">
                <a:solidFill>
                  <a:srgbClr val="FF0000"/>
                </a:solidFill>
                <a:effectLst>
                  <a:outerShdw blurRad="38100" dist="38100" dir="2700000" algn="tl">
                    <a:srgbClr val="000000">
                      <a:alpha val="43137"/>
                    </a:srgbClr>
                  </a:outerShdw>
                </a:effectLst>
              </a:rPr>
              <a:t>CHI-SQUARE AS A TEST FOR COMPARING population VARIANCE</a:t>
            </a:r>
          </a:p>
        </p:txBody>
      </p:sp>
    </p:spTree>
    <p:extLst>
      <p:ext uri="{BB962C8B-B14F-4D97-AF65-F5344CB8AC3E}">
        <p14:creationId xmlns="" xmlns:p14="http://schemas.microsoft.com/office/powerpoint/2010/main" val="42757144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5212" y="373930"/>
            <a:ext cx="8229600" cy="4525963"/>
          </a:xfrm>
        </p:spPr>
        <p:txBody>
          <a:bodyPr/>
          <a:lstStyle/>
          <a:p>
            <a:r>
              <a:rPr lang="en-US" dirty="0" smtClean="0"/>
              <a:t>Illustration 1 Weight of 10 students is as follows:</a:t>
            </a:r>
            <a:endParaRPr lang="en-IN" dirty="0"/>
          </a:p>
        </p:txBody>
      </p:sp>
      <p:pic>
        <p:nvPicPr>
          <p:cNvPr id="4098"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0" y="1857364"/>
            <a:ext cx="9144000" cy="40005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7334037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0"/>
            <a:ext cx="9144000" cy="657227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603187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0"/>
            <a:ext cx="9144000" cy="21431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0" y="2214554"/>
            <a:ext cx="9144000" cy="22860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4929198"/>
            <a:ext cx="9144000" cy="1938992"/>
          </a:xfrm>
          <a:prstGeom prst="rect">
            <a:avLst/>
          </a:prstGeom>
        </p:spPr>
        <p:txBody>
          <a:bodyPr wrap="square">
            <a:spAutoFit/>
          </a:bodyPr>
          <a:lstStyle/>
          <a:p>
            <a:pPr algn="just"/>
            <a:r>
              <a:rPr lang="en-US" sz="2400" dirty="0" smtClean="0"/>
              <a:t>Since calculated value is less than the table value we accept the null hypothesis and conclude that the variance of the given distribution can be taken as 20 </a:t>
            </a:r>
            <a:r>
              <a:rPr lang="en-US" sz="2400" dirty="0" err="1" smtClean="0"/>
              <a:t>kgs</a:t>
            </a:r>
            <a:r>
              <a:rPr lang="en-US" sz="2400" dirty="0" smtClean="0"/>
              <a:t> at 5 per cent as also at 1 per cent level of significance. In other words, the sample can be said to have been taken from a population with variance 20 </a:t>
            </a:r>
            <a:r>
              <a:rPr lang="en-US" sz="2400" dirty="0" err="1" smtClean="0"/>
              <a:t>kgs</a:t>
            </a:r>
            <a:endParaRPr lang="en-US" sz="2400" dirty="0"/>
          </a:p>
        </p:txBody>
      </p:sp>
    </p:spTree>
    <p:extLst>
      <p:ext uri="{BB962C8B-B14F-4D97-AF65-F5344CB8AC3E}">
        <p14:creationId xmlns="" xmlns:p14="http://schemas.microsoft.com/office/powerpoint/2010/main" val="16445249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i="1" dirty="0" smtClean="0"/>
              <a:t>Illustration 2</a:t>
            </a:r>
          </a:p>
          <a:p>
            <a:r>
              <a:rPr lang="en-US" dirty="0" smtClean="0"/>
              <a:t>A sample of 10 is drawn randomly from a certain population. The sum of the squared deviations from the mean of the given sample is 50. Test the hypothesis that the variance of the population is 5 at 5 per cent level of significance.</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685800" y="0"/>
            <a:ext cx="7239000" cy="21336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0" y="2057400"/>
            <a:ext cx="9144000" cy="48006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8686800" cy="6126163"/>
          </a:xfrm>
        </p:spPr>
        <p:txBody>
          <a:bodyPr/>
          <a:lstStyle/>
          <a:p>
            <a:r>
              <a:rPr lang="it-IT" b="1" dirty="0" smtClean="0">
                <a:solidFill>
                  <a:srgbClr val="FF0000"/>
                </a:solidFill>
              </a:rPr>
              <a:t>CHI-SQUARE AS A NON-PARAMETRIC TEST</a:t>
            </a:r>
          </a:p>
          <a:p>
            <a:r>
              <a:rPr lang="en-US" sz="2800" dirty="0" smtClean="0"/>
              <a:t>As a non-parametric test, chi-square can be used (i) as a test of goodness of fit and (ii) as a test of independence.</a:t>
            </a:r>
            <a:endParaRPr lang="en-IN" sz="2800" dirty="0"/>
          </a:p>
        </p:txBody>
      </p:sp>
      <p:pic>
        <p:nvPicPr>
          <p:cNvPr id="7170"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0" y="1785926"/>
            <a:ext cx="9144000" cy="507207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4781113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10000"/>
          </a:bodyPr>
          <a:lstStyle/>
          <a:p>
            <a:pPr algn="just">
              <a:buNone/>
            </a:pPr>
            <a:r>
              <a:rPr lang="en-US" dirty="0" smtClean="0"/>
              <a:t>If there are 10 frequency classes and there is one independent constraint, then there are (10 – 1) = 9 degrees of freedom. </a:t>
            </a:r>
          </a:p>
          <a:p>
            <a:pPr algn="just">
              <a:buNone/>
            </a:pPr>
            <a:endParaRPr lang="en-US" dirty="0" smtClean="0"/>
          </a:p>
          <a:p>
            <a:pPr algn="just">
              <a:buNone/>
            </a:pPr>
            <a:r>
              <a:rPr lang="en-US" dirty="0" smtClean="0"/>
              <a:t>Thus, if ‘n’ is the number of groups and one constraint is placed by making the totals of observed and expected frequencies equal, the </a:t>
            </a:r>
            <a:r>
              <a:rPr lang="en-US" dirty="0" err="1" smtClean="0"/>
              <a:t>d.f</a:t>
            </a:r>
            <a:r>
              <a:rPr lang="en-US" dirty="0" smtClean="0"/>
              <a:t>. would be equal to (n – 1). </a:t>
            </a:r>
          </a:p>
          <a:p>
            <a:pPr algn="just">
              <a:buNone/>
            </a:pPr>
            <a:endParaRPr lang="en-US" dirty="0" smtClean="0"/>
          </a:p>
          <a:p>
            <a:pPr algn="just">
              <a:buNone/>
            </a:pPr>
            <a:r>
              <a:rPr lang="en-US" dirty="0" smtClean="0"/>
              <a:t>In the case of a contingency table (i.e., a table with 2 columns and 2 rows or a table with two columns and more than two rows or a table with two rows but more than two columns or a table with more than two rows and more than two columns), the </a:t>
            </a:r>
            <a:r>
              <a:rPr lang="en-US" dirty="0" err="1" smtClean="0"/>
              <a:t>d.f</a:t>
            </a:r>
            <a:r>
              <a:rPr lang="en-US" dirty="0" smtClean="0"/>
              <a:t>. is worked out as follows: </a:t>
            </a:r>
            <a:r>
              <a:rPr lang="en-US" dirty="0" err="1" smtClean="0"/>
              <a:t>d.f</a:t>
            </a:r>
            <a:r>
              <a:rPr lang="en-US" dirty="0" smtClean="0"/>
              <a:t>. = (c – 1) (r – 1) where ‘c’ means the number of columns and ‘r’ means the number of rows.</a:t>
            </a:r>
            <a:endParaRPr lang="en-IN" dirty="0"/>
          </a:p>
        </p:txBody>
      </p:sp>
    </p:spTree>
    <p:extLst>
      <p:ext uri="{BB962C8B-B14F-4D97-AF65-F5344CB8AC3E}">
        <p14:creationId xmlns="" xmlns:p14="http://schemas.microsoft.com/office/powerpoint/2010/main" val="33476636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6072809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1"/>
            <a:ext cx="9144000" cy="58578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4009231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142852"/>
            <a:ext cx="8715435" cy="139003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0" y="1928802"/>
            <a:ext cx="9144000" cy="471490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8198010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214291"/>
            <a:ext cx="9143999" cy="44291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40474960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0"/>
            <a:ext cx="9143999" cy="6857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0424485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0"/>
            <a:ext cx="8929718" cy="38576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6949363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214282" y="1"/>
            <a:ext cx="8715436" cy="7857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0" y="857232"/>
            <a:ext cx="9144000" cy="600076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7436022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214291"/>
            <a:ext cx="9144000" cy="45005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9254685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0"/>
            <a:ext cx="9144000" cy="196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0" y="2285992"/>
            <a:ext cx="9144000" cy="457200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0653565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0"/>
            <a:ext cx="9144000" cy="42862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9017113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0"/>
            <a:ext cx="9144000" cy="30718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2928934"/>
            <a:ext cx="9144000" cy="3539430"/>
          </a:xfrm>
          <a:prstGeom prst="rect">
            <a:avLst/>
          </a:prstGeom>
        </p:spPr>
        <p:txBody>
          <a:bodyPr wrap="square">
            <a:spAutoFit/>
          </a:bodyPr>
          <a:lstStyle/>
          <a:p>
            <a:pPr algn="just"/>
            <a:r>
              <a:rPr lang="en-US" sz="2800" dirty="0" smtClean="0"/>
              <a:t>Show that the sampling technique of at least one research worker is defective.</a:t>
            </a:r>
          </a:p>
          <a:p>
            <a:pPr algn="just"/>
            <a:endParaRPr lang="en-US" sz="2800" dirty="0" smtClean="0"/>
          </a:p>
          <a:p>
            <a:pPr algn="just"/>
            <a:r>
              <a:rPr lang="en-US" sz="2800" dirty="0" smtClean="0">
                <a:solidFill>
                  <a:srgbClr val="FF0000"/>
                </a:solidFill>
              </a:rPr>
              <a:t>Solution: </a:t>
            </a:r>
            <a:r>
              <a:rPr lang="en-US" sz="2800" dirty="0" smtClean="0"/>
              <a:t>Let us take the hypothesis that the sampling techniques adopted by research workers are similar (i.e., there is no difference between the techniques adopted by research workers). This being so, the expectation of A investigator classifying the people in</a:t>
            </a:r>
            <a:endParaRPr lang="en-IN" dirty="0"/>
          </a:p>
        </p:txBody>
      </p:sp>
    </p:spTree>
    <p:extLst>
      <p:ext uri="{BB962C8B-B14F-4D97-AF65-F5344CB8AC3E}">
        <p14:creationId xmlns="" xmlns:p14="http://schemas.microsoft.com/office/powerpoint/2010/main" val="33186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0"/>
            <a:ext cx="9144000" cy="54063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9353707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0"/>
            <a:ext cx="9144000" cy="60722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9427328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500043"/>
            <a:ext cx="8929718" cy="447762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147468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214290"/>
            <a:ext cx="9143999" cy="5000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srcRect/>
          <a:stretch>
            <a:fillRect/>
          </a:stretch>
        </p:blipFill>
        <p:spPr bwMode="auto">
          <a:xfrm>
            <a:off x="1428728" y="5643578"/>
            <a:ext cx="2500330" cy="823915"/>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a:srcRect/>
          <a:stretch>
            <a:fillRect/>
          </a:stretch>
        </p:blipFill>
        <p:spPr bwMode="auto">
          <a:xfrm>
            <a:off x="5715008" y="5929330"/>
            <a:ext cx="2000264" cy="552451"/>
          </a:xfrm>
          <a:prstGeom prst="rect">
            <a:avLst/>
          </a:prstGeom>
          <a:noFill/>
          <a:ln w="9525">
            <a:noFill/>
            <a:miter lim="800000"/>
            <a:headEnd/>
            <a:tailEnd/>
          </a:ln>
          <a:effectLst/>
        </p:spPr>
      </p:pic>
    </p:spTree>
    <p:extLst>
      <p:ext uri="{BB962C8B-B14F-4D97-AF65-F5344CB8AC3E}">
        <p14:creationId xmlns="" xmlns:p14="http://schemas.microsoft.com/office/powerpoint/2010/main" val="686247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3554"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17646"/>
            <a:ext cx="9144000" cy="248265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23555" name="Picture 3"/>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0" y="2500306"/>
            <a:ext cx="9144000" cy="43576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4523568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0"/>
            <a:ext cx="9143999" cy="53809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2405386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1428736"/>
            <a:ext cx="9144000" cy="30758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582146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1915</Words>
  <Application>Microsoft Office PowerPoint</Application>
  <PresentationFormat>On-screen Show (4:3)</PresentationFormat>
  <Paragraphs>336</Paragraphs>
  <Slides>58</Slides>
  <Notes>0</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Office Theme</vt:lpstr>
      <vt:lpstr>F-Test Non-PARA Kruskal wallis &amp; Man-Whitney U Test</vt:lpstr>
      <vt:lpstr>Slide 2</vt:lpstr>
      <vt:lpstr>Slide 3</vt:lpstr>
      <vt:lpstr>Slide 4</vt:lpstr>
      <vt:lpstr>Slide 5</vt:lpstr>
      <vt:lpstr>Slide 6</vt:lpstr>
      <vt:lpstr>Slide 7</vt:lpstr>
      <vt:lpstr>Slide 8</vt:lpstr>
      <vt:lpstr>Slide 9</vt:lpstr>
      <vt:lpstr>Mann-Whitney U-test</vt:lpstr>
      <vt:lpstr>Slide 11</vt:lpstr>
      <vt:lpstr>Slide 12</vt:lpstr>
      <vt:lpstr>Slide 13</vt:lpstr>
      <vt:lpstr>Slide 14</vt:lpstr>
      <vt:lpstr>Slide 15</vt:lpstr>
      <vt:lpstr>Consider the lower value between U1 and U2 i.e. U2 = 9 so that </vt:lpstr>
      <vt:lpstr>Slide 17</vt:lpstr>
      <vt:lpstr>KRUSKAL-WALLIS TEST </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F-Test Non-PARA Kruskal wallis &amp; Man-Whitney U Test</dc:title>
  <dc:creator>vtu</dc:creator>
  <cp:lastModifiedBy>ZEBRONICS</cp:lastModifiedBy>
  <cp:revision>25</cp:revision>
  <dcterms:created xsi:type="dcterms:W3CDTF">2021-04-20T08:17:03Z</dcterms:created>
  <dcterms:modified xsi:type="dcterms:W3CDTF">2023-04-30T08:06:49Z</dcterms:modified>
</cp:coreProperties>
</file>