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56" r:id="rId2"/>
    <p:sldId id="316" r:id="rId3"/>
    <p:sldId id="318" r:id="rId4"/>
    <p:sldId id="319" r:id="rId5"/>
    <p:sldId id="321" r:id="rId6"/>
    <p:sldId id="323" r:id="rId7"/>
    <p:sldId id="257" r:id="rId8"/>
    <p:sldId id="258" r:id="rId9"/>
    <p:sldId id="259" r:id="rId10"/>
    <p:sldId id="260" r:id="rId11"/>
    <p:sldId id="331" r:id="rId12"/>
    <p:sldId id="262" r:id="rId13"/>
    <p:sldId id="263" r:id="rId14"/>
    <p:sldId id="333" r:id="rId15"/>
    <p:sldId id="264" r:id="rId16"/>
    <p:sldId id="307" r:id="rId17"/>
    <p:sldId id="308" r:id="rId18"/>
    <p:sldId id="265" r:id="rId19"/>
    <p:sldId id="267" r:id="rId20"/>
    <p:sldId id="268" r:id="rId21"/>
    <p:sldId id="272" r:id="rId22"/>
    <p:sldId id="332" r:id="rId23"/>
    <p:sldId id="274" r:id="rId24"/>
    <p:sldId id="275" r:id="rId25"/>
    <p:sldId id="276" r:id="rId26"/>
    <p:sldId id="360" r:id="rId27"/>
    <p:sldId id="354" r:id="rId28"/>
    <p:sldId id="355" r:id="rId29"/>
    <p:sldId id="342" r:id="rId30"/>
    <p:sldId id="343" r:id="rId31"/>
    <p:sldId id="339" r:id="rId32"/>
    <p:sldId id="340" r:id="rId33"/>
    <p:sldId id="350" r:id="rId34"/>
    <p:sldId id="349" r:id="rId35"/>
    <p:sldId id="348" r:id="rId36"/>
    <p:sldId id="345" r:id="rId37"/>
    <p:sldId id="335" r:id="rId38"/>
    <p:sldId id="336" r:id="rId39"/>
    <p:sldId id="359" r:id="rId40"/>
    <p:sldId id="337" r:id="rId41"/>
    <p:sldId id="281" r:id="rId42"/>
    <p:sldId id="361" r:id="rId43"/>
    <p:sldId id="288" r:id="rId44"/>
    <p:sldId id="289" r:id="rId45"/>
    <p:sldId id="291" r:id="rId46"/>
    <p:sldId id="292" r:id="rId47"/>
    <p:sldId id="364" r:id="rId48"/>
    <p:sldId id="293" r:id="rId49"/>
    <p:sldId id="294" r:id="rId50"/>
    <p:sldId id="295" r:id="rId51"/>
    <p:sldId id="296" r:id="rId52"/>
    <p:sldId id="297" r:id="rId53"/>
    <p:sldId id="298" r:id="rId54"/>
    <p:sldId id="299" r:id="rId55"/>
    <p:sldId id="300" r:id="rId56"/>
    <p:sldId id="334" r:id="rId57"/>
    <p:sldId id="301" r:id="rId58"/>
    <p:sldId id="302" r:id="rId59"/>
    <p:sldId id="303" r:id="rId60"/>
    <p:sldId id="304" r:id="rId61"/>
    <p:sldId id="305" r:id="rId62"/>
    <p:sldId id="324" r:id="rId63"/>
    <p:sldId id="326" r:id="rId64"/>
    <p:sldId id="327" r:id="rId65"/>
    <p:sldId id="328" r:id="rId66"/>
    <p:sldId id="330" r:id="rId67"/>
    <p:sldId id="329" r:id="rId68"/>
    <p:sldId id="357" r:id="rId69"/>
    <p:sldId id="358" r:id="rId70"/>
    <p:sldId id="356" r:id="rId71"/>
    <p:sldId id="362" r:id="rId72"/>
    <p:sldId id="363" r:id="rId7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CC66FF"/>
    <a:srgbClr val="0000FF"/>
    <a:srgbClr val="0066FF"/>
    <a:srgbClr val="CC0000"/>
    <a:srgbClr val="9E2234"/>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710" autoAdjust="0"/>
  </p:normalViewPr>
  <p:slideViewPr>
    <p:cSldViewPr>
      <p:cViewPr varScale="1">
        <p:scale>
          <a:sx n="83" d="100"/>
          <a:sy n="83" d="100"/>
        </p:scale>
        <p:origin x="824" y="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AA3D75-E0B1-45EF-9674-6A465F63258F}" type="datetimeFigureOut">
              <a:rPr lang="en-US" smtClean="0"/>
              <a:pPr/>
              <a:t>12/18/2025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4F3D64-2C71-463A-8778-02EDC67B1A4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84F3D64-2C71-463A-8778-02EDC67B1A4D}" type="slidenum">
              <a:rPr lang="en-US" smtClean="0"/>
              <a:pPr/>
              <a:t>38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80AD798-A849-4E8A-BDAC-87C2E5AC14C6}"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2F2DB6-A487-41E8-8265-F852256E299F}" type="slidenum">
              <a:rPr lang="en-US" smtClean="0"/>
              <a:pPr/>
              <a:t>‹#›</a:t>
            </a:fld>
            <a:endParaRPr lang="en-US"/>
          </a:p>
        </p:txBody>
      </p:sp>
    </p:spTree>
    <p:extLst>
      <p:ext uri="{BB962C8B-B14F-4D97-AF65-F5344CB8AC3E}">
        <p14:creationId xmlns:p14="http://schemas.microsoft.com/office/powerpoint/2010/main" val="868731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0AD798-A849-4E8A-BDAC-87C2E5AC14C6}"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2F2DB6-A487-41E8-8265-F852256E299F}" type="slidenum">
              <a:rPr lang="en-US" smtClean="0"/>
              <a:pPr/>
              <a:t>‹#›</a:t>
            </a:fld>
            <a:endParaRPr lang="en-US"/>
          </a:p>
        </p:txBody>
      </p:sp>
    </p:spTree>
    <p:extLst>
      <p:ext uri="{BB962C8B-B14F-4D97-AF65-F5344CB8AC3E}">
        <p14:creationId xmlns:p14="http://schemas.microsoft.com/office/powerpoint/2010/main" val="4057046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0AD798-A849-4E8A-BDAC-87C2E5AC14C6}"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2F2DB6-A487-41E8-8265-F852256E299F}" type="slidenum">
              <a:rPr lang="en-US" smtClean="0"/>
              <a:pPr/>
              <a:t>‹#›</a:t>
            </a:fld>
            <a:endParaRPr lang="en-US"/>
          </a:p>
        </p:txBody>
      </p:sp>
    </p:spTree>
    <p:extLst>
      <p:ext uri="{BB962C8B-B14F-4D97-AF65-F5344CB8AC3E}">
        <p14:creationId xmlns:p14="http://schemas.microsoft.com/office/powerpoint/2010/main" val="2997154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80AD798-A849-4E8A-BDAC-87C2E5AC14C6}"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2F2DB6-A487-41E8-8265-F852256E299F}" type="slidenum">
              <a:rPr lang="en-US" smtClean="0"/>
              <a:pPr/>
              <a:t>‹#›</a:t>
            </a:fld>
            <a:endParaRPr lang="en-US"/>
          </a:p>
        </p:txBody>
      </p:sp>
    </p:spTree>
    <p:extLst>
      <p:ext uri="{BB962C8B-B14F-4D97-AF65-F5344CB8AC3E}">
        <p14:creationId xmlns:p14="http://schemas.microsoft.com/office/powerpoint/2010/main" val="3674699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80AD798-A849-4E8A-BDAC-87C2E5AC14C6}" type="datetimeFigureOut">
              <a:rPr lang="en-US" smtClean="0"/>
              <a:pPr/>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2F2DB6-A487-41E8-8265-F852256E299F}" type="slidenum">
              <a:rPr lang="en-US" smtClean="0"/>
              <a:pPr/>
              <a:t>‹#›</a:t>
            </a:fld>
            <a:endParaRPr lang="en-US"/>
          </a:p>
        </p:txBody>
      </p:sp>
    </p:spTree>
    <p:extLst>
      <p:ext uri="{BB962C8B-B14F-4D97-AF65-F5344CB8AC3E}">
        <p14:creationId xmlns:p14="http://schemas.microsoft.com/office/powerpoint/2010/main" val="391785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80AD798-A849-4E8A-BDAC-87C2E5AC14C6}" type="datetimeFigureOut">
              <a:rPr lang="en-US" smtClean="0"/>
              <a:pPr/>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2F2DB6-A487-41E8-8265-F852256E299F}" type="slidenum">
              <a:rPr lang="en-US" smtClean="0"/>
              <a:pPr/>
              <a:t>‹#›</a:t>
            </a:fld>
            <a:endParaRPr lang="en-US"/>
          </a:p>
        </p:txBody>
      </p:sp>
    </p:spTree>
    <p:extLst>
      <p:ext uri="{BB962C8B-B14F-4D97-AF65-F5344CB8AC3E}">
        <p14:creationId xmlns:p14="http://schemas.microsoft.com/office/powerpoint/2010/main" val="3438622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0AD798-A849-4E8A-BDAC-87C2E5AC14C6}" type="datetimeFigureOut">
              <a:rPr lang="en-US" smtClean="0"/>
              <a:pPr/>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2F2DB6-A487-41E8-8265-F852256E299F}" type="slidenum">
              <a:rPr lang="en-US" smtClean="0"/>
              <a:pPr/>
              <a:t>‹#›</a:t>
            </a:fld>
            <a:endParaRPr lang="en-US"/>
          </a:p>
        </p:txBody>
      </p:sp>
    </p:spTree>
    <p:extLst>
      <p:ext uri="{BB962C8B-B14F-4D97-AF65-F5344CB8AC3E}">
        <p14:creationId xmlns:p14="http://schemas.microsoft.com/office/powerpoint/2010/main" val="856003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0AD798-A849-4E8A-BDAC-87C2E5AC14C6}"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2F2DB6-A487-41E8-8265-F852256E299F}" type="slidenum">
              <a:rPr lang="en-US" smtClean="0"/>
              <a:pPr/>
              <a:t>‹#›</a:t>
            </a:fld>
            <a:endParaRPr lang="en-US"/>
          </a:p>
        </p:txBody>
      </p:sp>
    </p:spTree>
    <p:extLst>
      <p:ext uri="{BB962C8B-B14F-4D97-AF65-F5344CB8AC3E}">
        <p14:creationId xmlns:p14="http://schemas.microsoft.com/office/powerpoint/2010/main" val="1931253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0AD798-A849-4E8A-BDAC-87C2E5AC14C6}"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2F2DB6-A487-41E8-8265-F852256E299F}" type="slidenum">
              <a:rPr lang="en-US" smtClean="0"/>
              <a:pPr/>
              <a:t>‹#›</a:t>
            </a:fld>
            <a:endParaRPr lang="en-US"/>
          </a:p>
        </p:txBody>
      </p:sp>
    </p:spTree>
    <p:extLst>
      <p:ext uri="{BB962C8B-B14F-4D97-AF65-F5344CB8AC3E}">
        <p14:creationId xmlns:p14="http://schemas.microsoft.com/office/powerpoint/2010/main" val="1540846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0AD798-A849-4E8A-BDAC-87C2E5AC14C6}"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2F2DB6-A487-41E8-8265-F852256E299F}" type="slidenum">
              <a:rPr lang="en-US" smtClean="0"/>
              <a:pPr/>
              <a:t>‹#›</a:t>
            </a:fld>
            <a:endParaRPr lang="en-US"/>
          </a:p>
        </p:txBody>
      </p:sp>
    </p:spTree>
    <p:extLst>
      <p:ext uri="{BB962C8B-B14F-4D97-AF65-F5344CB8AC3E}">
        <p14:creationId xmlns:p14="http://schemas.microsoft.com/office/powerpoint/2010/main" val="312671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0AD798-A849-4E8A-BDAC-87C2E5AC14C6}"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2F2DB6-A487-41E8-8265-F852256E299F}" type="slidenum">
              <a:rPr lang="en-US" smtClean="0"/>
              <a:pPr/>
              <a:t>‹#›</a:t>
            </a:fld>
            <a:endParaRPr lang="en-US"/>
          </a:p>
        </p:txBody>
      </p:sp>
    </p:spTree>
    <p:extLst>
      <p:ext uri="{BB962C8B-B14F-4D97-AF65-F5344CB8AC3E}">
        <p14:creationId xmlns:p14="http://schemas.microsoft.com/office/powerpoint/2010/main" val="4131555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0AD798-A849-4E8A-BDAC-87C2E5AC14C6}" type="datetimeFigureOut">
              <a:rPr lang="en-US" smtClean="0"/>
              <a:pPr/>
              <a:t>12/18/2025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2F2DB6-A487-41E8-8265-F852256E299F}" type="slidenum">
              <a:rPr lang="en-US" smtClean="0"/>
              <a:pPr/>
              <a:t>‹#›</a:t>
            </a:fld>
            <a:endParaRPr lang="en-US"/>
          </a:p>
        </p:txBody>
      </p:sp>
    </p:spTree>
    <p:extLst>
      <p:ext uri="{BB962C8B-B14F-4D97-AF65-F5344CB8AC3E}">
        <p14:creationId xmlns:p14="http://schemas.microsoft.com/office/powerpoint/2010/main" val="575607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4.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17.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18.png"/><Relationship Id="rId9"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0.emf"/><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6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6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80.emf"/><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77.png"/></Relationships>
</file>

<file path=ppt/slides/_rels/slide6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6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nSpc>
                <a:spcPct val="115000"/>
              </a:lnSpc>
              <a:spcBef>
                <a:spcPts val="0"/>
              </a:spcBef>
              <a:spcAft>
                <a:spcPts val="2400"/>
              </a:spcAft>
            </a:pPr>
            <a:r>
              <a:rPr lang="en-US" dirty="0">
                <a:solidFill>
                  <a:srgbClr val="4A3C31"/>
                </a:solidFill>
                <a:effectLst/>
                <a:latin typeface="Times New Roman"/>
                <a:ea typeface="Times New Roman"/>
                <a:cs typeface="Times New Roman"/>
              </a:rPr>
              <a:t>CORRELATION ANALYSIS</a:t>
            </a:r>
            <a:br>
              <a:rPr lang="en-US" sz="2400" dirty="0">
                <a:ea typeface="Calibri"/>
                <a:cs typeface="Times New Roman"/>
              </a:rPr>
            </a:b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144148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algn="just"/>
            <a:r>
              <a:rPr lang="en-US" dirty="0"/>
              <a:t>In our daily life - we use some yardstick to determine weight, height, or some other feature of a physical object. </a:t>
            </a:r>
          </a:p>
          <a:p>
            <a:pPr algn="just"/>
            <a:r>
              <a:rPr lang="en-US" dirty="0"/>
              <a:t>We also measure when we judge how well we like a song, a painting or the personalities of our friends. </a:t>
            </a:r>
          </a:p>
          <a:p>
            <a:pPr algn="just"/>
            <a:r>
              <a:rPr lang="en-US" dirty="0"/>
              <a:t>We, thus, measure physical objects as well as abstract concepts. </a:t>
            </a:r>
          </a:p>
          <a:p>
            <a:pPr algn="just"/>
            <a:r>
              <a:rPr lang="en-US" dirty="0"/>
              <a:t>The most widely used classification of measurement scales are: (a) nominal scale; (b) ordinal scale;        (c) interval scale; and (d) ratio scale.</a:t>
            </a:r>
          </a:p>
          <a:p>
            <a:pPr algn="just"/>
            <a:endParaRPr lang="en-US" dirty="0"/>
          </a:p>
          <a:p>
            <a:endParaRPr lang="en-US" dirty="0"/>
          </a:p>
        </p:txBody>
      </p:sp>
    </p:spTree>
    <p:extLst>
      <p:ext uri="{BB962C8B-B14F-4D97-AF65-F5344CB8AC3E}">
        <p14:creationId xmlns:p14="http://schemas.microsoft.com/office/powerpoint/2010/main" val="9509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lnSpcReduction="10000"/>
          </a:bodyPr>
          <a:lstStyle/>
          <a:p>
            <a:pPr algn="ctr">
              <a:buNone/>
            </a:pPr>
            <a:r>
              <a:rPr lang="en-US" sz="2200" b="1" dirty="0">
                <a:solidFill>
                  <a:srgbClr val="0000FF"/>
                </a:solidFill>
              </a:rPr>
              <a:t>MEASUREMENT SCALES</a:t>
            </a:r>
          </a:p>
          <a:p>
            <a:pPr algn="just"/>
            <a:r>
              <a:rPr lang="en-US" sz="2200" dirty="0"/>
              <a:t>The most widely used classification of measurement scales are:                    </a:t>
            </a:r>
            <a:r>
              <a:rPr lang="en-US" sz="2200" b="1" dirty="0"/>
              <a:t>(a) nominal scale; (b) ordinal scale; (c) interval scale; and (d) ratio scale.</a:t>
            </a:r>
          </a:p>
          <a:p>
            <a:pPr algn="just">
              <a:buNone/>
            </a:pPr>
            <a:endParaRPr lang="en-US" sz="2200" b="1" dirty="0"/>
          </a:p>
          <a:p>
            <a:pPr marL="514350" indent="-514350" algn="just">
              <a:buAutoNum type="alphaLcParenBoth"/>
            </a:pPr>
            <a:r>
              <a:rPr lang="en-US" sz="2200" b="1" dirty="0">
                <a:solidFill>
                  <a:srgbClr val="FF0000"/>
                </a:solidFill>
              </a:rPr>
              <a:t>Nominal scale: </a:t>
            </a:r>
          </a:p>
          <a:p>
            <a:pPr algn="just"/>
            <a:r>
              <a:rPr lang="en-US" sz="2400" dirty="0"/>
              <a:t>the nominal scale allows us to qualitatively distinguish groups by categorizing  them. </a:t>
            </a:r>
          </a:p>
          <a:p>
            <a:pPr algn="just"/>
            <a:r>
              <a:rPr lang="en-US" sz="2200" dirty="0"/>
              <a:t>Nominal scale is simply a system of </a:t>
            </a:r>
            <a:r>
              <a:rPr lang="en-US" sz="2200" b="1" dirty="0">
                <a:solidFill>
                  <a:srgbClr val="0000FF"/>
                </a:solidFill>
              </a:rPr>
              <a:t>assigning number symbols to events in order to label them</a:t>
            </a:r>
            <a:r>
              <a:rPr lang="en-US" sz="2200" dirty="0"/>
              <a:t>. </a:t>
            </a:r>
          </a:p>
          <a:p>
            <a:pPr algn="just"/>
            <a:r>
              <a:rPr lang="en-US" sz="2200" dirty="0"/>
              <a:t>The </a:t>
            </a:r>
            <a:r>
              <a:rPr lang="en-US" sz="2200" dirty="0">
                <a:solidFill>
                  <a:srgbClr val="00B0F0"/>
                </a:solidFill>
              </a:rPr>
              <a:t>usual example of this is the </a:t>
            </a:r>
            <a:r>
              <a:rPr lang="en-US" sz="2200" u="sng" dirty="0">
                <a:solidFill>
                  <a:srgbClr val="FF0000"/>
                </a:solidFill>
                <a:effectLst>
                  <a:outerShdw blurRad="38100" dist="38100" dir="2700000" algn="tl">
                    <a:srgbClr val="000000">
                      <a:alpha val="43137"/>
                    </a:srgbClr>
                  </a:outerShdw>
                </a:effectLst>
              </a:rPr>
              <a:t>assignment of numbers of basketball players </a:t>
            </a:r>
            <a:r>
              <a:rPr lang="en-US" sz="2200" dirty="0"/>
              <a:t>in order to identify them. </a:t>
            </a:r>
          </a:p>
          <a:p>
            <a:pPr marL="514350" indent="-514350" algn="just"/>
            <a:r>
              <a:rPr lang="en-US" sz="2200" b="1" i="1" dirty="0">
                <a:solidFill>
                  <a:srgbClr val="0000FF"/>
                </a:solidFill>
              </a:rPr>
              <a:t>Such numbers cannot be considered to be associated with any ordered scale</a:t>
            </a:r>
            <a:r>
              <a:rPr lang="en-US" sz="2200" dirty="0"/>
              <a:t>; </a:t>
            </a:r>
          </a:p>
          <a:p>
            <a:pPr marL="514350" indent="-514350" algn="just"/>
            <a:r>
              <a:rPr lang="en-US" sz="2200" dirty="0"/>
              <a:t>the </a:t>
            </a:r>
            <a:r>
              <a:rPr lang="en-US" sz="2200" b="1" dirty="0"/>
              <a:t>numbers are just convenient labels </a:t>
            </a:r>
            <a:r>
              <a:rPr lang="en-US" sz="2200" dirty="0"/>
              <a:t>for the particular class of events and as such have no quantitative value or resemblance.</a:t>
            </a:r>
          </a:p>
          <a:p>
            <a:pPr marL="514350" indent="-514350" algn="just"/>
            <a:r>
              <a:rPr lang="en-US" sz="2200" i="1" dirty="0">
                <a:solidFill>
                  <a:srgbClr val="0000FF"/>
                </a:solidFill>
                <a:effectLst>
                  <a:outerShdw blurRad="38100" dist="38100" dir="2700000" algn="tl">
                    <a:srgbClr val="000000">
                      <a:alpha val="43137"/>
                    </a:srgbClr>
                  </a:outerShdw>
                </a:effectLst>
              </a:rPr>
              <a:t>Nominal scales provide convenient ways of keeping track of people, objects and events.  (it can be names as well)</a:t>
            </a:r>
          </a:p>
          <a:p>
            <a:pPr marL="514350" indent="-514350" algn="just"/>
            <a:r>
              <a:rPr lang="en-US" sz="2200" dirty="0">
                <a:solidFill>
                  <a:srgbClr val="FF00FF"/>
                </a:solidFill>
              </a:rPr>
              <a:t>Ex: </a:t>
            </a:r>
            <a:r>
              <a:rPr lang="en-US" sz="2200" u="sng" dirty="0">
                <a:effectLst>
                  <a:outerShdw blurRad="38100" dist="38100" dir="2700000" algn="tl">
                    <a:srgbClr val="000000">
                      <a:alpha val="43137"/>
                    </a:srgbClr>
                  </a:outerShdw>
                </a:effectLst>
              </a:rPr>
              <a:t>nominal</a:t>
            </a:r>
            <a:r>
              <a:rPr lang="en-US" sz="2200" dirty="0">
                <a:solidFill>
                  <a:srgbClr val="FF00FF"/>
                </a:solidFill>
              </a:rPr>
              <a:t> </a:t>
            </a:r>
            <a:r>
              <a:rPr lang="en-US" sz="2200" dirty="0">
                <a:solidFill>
                  <a:srgbClr val="FF00FF"/>
                </a:solidFill>
                <a:sym typeface="Wingdings" pitchFamily="2" charset="2"/>
              </a:rPr>
              <a:t> </a:t>
            </a:r>
            <a:r>
              <a:rPr lang="en-US" sz="2200" i="1" u="sng" dirty="0">
                <a:solidFill>
                  <a:srgbClr val="FF00FF"/>
                </a:solidFill>
                <a:sym typeface="Wingdings" pitchFamily="2" charset="2"/>
              </a:rPr>
              <a:t>the </a:t>
            </a:r>
            <a:r>
              <a:rPr lang="en-US" sz="2200" b="1" i="1" u="sng" dirty="0">
                <a:solidFill>
                  <a:srgbClr val="FF00FF"/>
                </a:solidFill>
                <a:effectLst>
                  <a:outerShdw blurRad="38100" dist="38100" dir="2700000" algn="tl">
                    <a:srgbClr val="000000">
                      <a:alpha val="43137"/>
                    </a:srgbClr>
                  </a:outerShdw>
                </a:effectLst>
                <a:sym typeface="Wingdings" pitchFamily="2" charset="2"/>
              </a:rPr>
              <a:t>country</a:t>
            </a:r>
            <a:r>
              <a:rPr lang="en-US" sz="2200" i="1" u="sng" dirty="0">
                <a:solidFill>
                  <a:srgbClr val="FF00FF"/>
                </a:solidFill>
                <a:effectLst>
                  <a:outerShdw blurRad="38100" dist="38100" dir="2700000" algn="tl">
                    <a:srgbClr val="000000">
                      <a:alpha val="43137"/>
                    </a:srgbClr>
                  </a:outerShdw>
                </a:effectLst>
                <a:sym typeface="Wingdings" pitchFamily="2" charset="2"/>
              </a:rPr>
              <a:t> of origin of a product  (named categories)</a:t>
            </a:r>
            <a:endParaRPr lang="en-US" sz="2200" dirty="0"/>
          </a:p>
          <a:p>
            <a:pPr algn="just"/>
            <a:r>
              <a:rPr lang="en-US" sz="2200" dirty="0"/>
              <a:t> </a:t>
            </a:r>
          </a:p>
          <a:p>
            <a:pPr algn="just"/>
            <a:endParaRPr lang="en-US" sz="2200" dirty="0"/>
          </a:p>
        </p:txBody>
      </p:sp>
    </p:spTree>
    <p:extLst>
      <p:ext uri="{BB962C8B-B14F-4D97-AF65-F5344CB8AC3E}">
        <p14:creationId xmlns:p14="http://schemas.microsoft.com/office/powerpoint/2010/main" val="2146676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0000" lnSpcReduction="20000"/>
          </a:bodyPr>
          <a:lstStyle/>
          <a:p>
            <a:pPr algn="just">
              <a:buNone/>
            </a:pPr>
            <a:r>
              <a:rPr lang="en-US" b="1" dirty="0">
                <a:solidFill>
                  <a:srgbClr val="FF0000"/>
                </a:solidFill>
              </a:rPr>
              <a:t>(b) Ordinal scale: </a:t>
            </a:r>
          </a:p>
          <a:p>
            <a:pPr algn="just"/>
            <a:r>
              <a:rPr lang="en-US" dirty="0"/>
              <a:t>In ordinal scaling the numerical values are categorized </a:t>
            </a:r>
            <a:r>
              <a:rPr lang="en-US" b="1" u="sng" dirty="0">
                <a:effectLst>
                  <a:outerShdw blurRad="38100" dist="38100" dir="2700000" algn="tl">
                    <a:srgbClr val="000000">
                      <a:alpha val="43137"/>
                    </a:srgbClr>
                  </a:outerShdw>
                </a:effectLst>
              </a:rPr>
              <a:t>to denote qualitative differences among the various categories.</a:t>
            </a:r>
          </a:p>
          <a:p>
            <a:pPr marL="0" indent="0" algn="just">
              <a:buNone/>
            </a:pPr>
            <a:endParaRPr lang="en-US" dirty="0"/>
          </a:p>
          <a:p>
            <a:pPr algn="just"/>
            <a:r>
              <a:rPr lang="en-US" dirty="0"/>
              <a:t>they are rank-ordered in some meaningful way according to some preference. </a:t>
            </a:r>
          </a:p>
          <a:p>
            <a:pPr marL="0" indent="0" algn="just">
              <a:buNone/>
            </a:pPr>
            <a:endParaRPr lang="en-US" dirty="0"/>
          </a:p>
          <a:p>
            <a:pPr algn="just"/>
            <a:r>
              <a:rPr lang="en-US" dirty="0"/>
              <a:t>The preferences would be ranked from best to worst, first to last, numbered 1, 2, and so on.</a:t>
            </a:r>
          </a:p>
          <a:p>
            <a:pPr algn="just"/>
            <a:endParaRPr lang="en-US" dirty="0"/>
          </a:p>
          <a:p>
            <a:pPr algn="just"/>
            <a:r>
              <a:rPr lang="en-US" dirty="0" err="1"/>
              <a:t>Oridinal</a:t>
            </a:r>
            <a:r>
              <a:rPr lang="en-US" dirty="0"/>
              <a:t> scale is usually used to rate the preference or usage of various brands of a product by individuals.</a:t>
            </a:r>
          </a:p>
          <a:p>
            <a:pPr marL="0" indent="0" algn="just">
              <a:buNone/>
            </a:pPr>
            <a:endParaRPr lang="en-US" dirty="0"/>
          </a:p>
          <a:p>
            <a:pPr algn="just"/>
            <a:r>
              <a:rPr lang="en-US" dirty="0"/>
              <a:t>Ordinal scales </a:t>
            </a:r>
            <a:r>
              <a:rPr lang="en-US" b="1" u="sng" dirty="0">
                <a:solidFill>
                  <a:srgbClr val="FF0000"/>
                </a:solidFill>
              </a:rPr>
              <a:t>only permit the ranking of items </a:t>
            </a:r>
            <a:r>
              <a:rPr lang="en-US" dirty="0"/>
              <a:t>from </a:t>
            </a:r>
            <a:r>
              <a:rPr lang="en-US" b="1" u="sng" dirty="0">
                <a:solidFill>
                  <a:srgbClr val="FF0000"/>
                </a:solidFill>
                <a:effectLst>
                  <a:outerShdw blurRad="38100" dist="38100" dir="2700000" algn="tl">
                    <a:srgbClr val="000000">
                      <a:alpha val="43137"/>
                    </a:srgbClr>
                  </a:outerShdw>
                </a:effectLst>
              </a:rPr>
              <a:t>highest to lowest</a:t>
            </a:r>
          </a:p>
          <a:p>
            <a:pPr algn="just">
              <a:buNone/>
            </a:pPr>
            <a:endParaRPr lang="en-US" dirty="0"/>
          </a:p>
          <a:p>
            <a:pPr algn="just"/>
            <a:r>
              <a:rPr lang="en-US" dirty="0"/>
              <a:t>Since the numbers of this scale have </a:t>
            </a:r>
            <a:r>
              <a:rPr lang="en-US" b="1" dirty="0"/>
              <a:t>only a rank meaning</a:t>
            </a:r>
            <a:r>
              <a:rPr lang="en-US" dirty="0"/>
              <a:t>, the </a:t>
            </a:r>
            <a:r>
              <a:rPr lang="en-US" b="1" dirty="0">
                <a:solidFill>
                  <a:srgbClr val="FF0000"/>
                </a:solidFill>
              </a:rPr>
              <a:t>appropriate measure </a:t>
            </a:r>
            <a:r>
              <a:rPr lang="en-US" b="1" dirty="0">
                <a:solidFill>
                  <a:srgbClr val="0000FF"/>
                </a:solidFill>
              </a:rPr>
              <a:t>of central tendency is the median</a:t>
            </a:r>
            <a:r>
              <a:rPr lang="en-US" dirty="0"/>
              <a:t>.</a:t>
            </a:r>
          </a:p>
          <a:p>
            <a:pPr algn="just"/>
            <a:endParaRPr lang="en-US" dirty="0"/>
          </a:p>
          <a:p>
            <a:pPr algn="just"/>
            <a:r>
              <a:rPr lang="en-US" dirty="0">
                <a:solidFill>
                  <a:srgbClr val="0000FF"/>
                </a:solidFill>
              </a:rPr>
              <a:t>Ex: </a:t>
            </a:r>
            <a:r>
              <a:rPr lang="en-US" u="sng" dirty="0">
                <a:solidFill>
                  <a:srgbClr val="0000FF"/>
                </a:solidFill>
                <a:effectLst>
                  <a:outerShdw blurRad="38100" dist="38100" dir="2700000" algn="tl">
                    <a:srgbClr val="000000">
                      <a:alpha val="43137"/>
                    </a:srgbClr>
                  </a:outerShdw>
                </a:effectLst>
              </a:rPr>
              <a:t>ordinal </a:t>
            </a:r>
            <a:r>
              <a:rPr lang="en-US" dirty="0">
                <a:solidFill>
                  <a:srgbClr val="0000FF"/>
                </a:solidFill>
                <a:sym typeface="Wingdings" pitchFamily="2" charset="2"/>
              </a:rPr>
              <a:t> </a:t>
            </a:r>
            <a:r>
              <a:rPr lang="en-US" b="1" dirty="0">
                <a:solidFill>
                  <a:srgbClr val="FF0000"/>
                </a:solidFill>
                <a:sym typeface="Wingdings" pitchFamily="2" charset="2"/>
              </a:rPr>
              <a:t>High Income group</a:t>
            </a:r>
            <a:r>
              <a:rPr lang="en-US" i="1" u="sng" dirty="0">
                <a:solidFill>
                  <a:srgbClr val="0000FF"/>
                </a:solidFill>
                <a:sym typeface="Wingdings" pitchFamily="2" charset="2"/>
              </a:rPr>
              <a:t>,</a:t>
            </a:r>
            <a:r>
              <a:rPr lang="en-US" i="1" dirty="0">
                <a:solidFill>
                  <a:srgbClr val="0000FF"/>
                </a:solidFill>
                <a:sym typeface="Wingdings" pitchFamily="2" charset="2"/>
              </a:rPr>
              <a:t> </a:t>
            </a:r>
            <a:r>
              <a:rPr lang="en-US" b="1" dirty="0">
                <a:solidFill>
                  <a:srgbClr val="0000FF"/>
                </a:solidFill>
                <a:sym typeface="Wingdings" pitchFamily="2" charset="2"/>
              </a:rPr>
              <a:t>middle income group</a:t>
            </a:r>
            <a:r>
              <a:rPr lang="en-US" i="1" u="sng" dirty="0">
                <a:solidFill>
                  <a:srgbClr val="0000FF"/>
                </a:solidFill>
                <a:sym typeface="Wingdings" pitchFamily="2" charset="2"/>
              </a:rPr>
              <a:t>,     </a:t>
            </a:r>
            <a:r>
              <a:rPr lang="en-US" b="1" dirty="0">
                <a:solidFill>
                  <a:srgbClr val="00B050"/>
                </a:solidFill>
                <a:sym typeface="Wingdings" pitchFamily="2" charset="2"/>
              </a:rPr>
              <a:t>low income</a:t>
            </a:r>
            <a:r>
              <a:rPr lang="en-US" i="1" u="sng" dirty="0">
                <a:solidFill>
                  <a:srgbClr val="0000FF"/>
                </a:solidFill>
                <a:sym typeface="Wingdings" pitchFamily="2" charset="2"/>
              </a:rPr>
              <a:t> </a:t>
            </a:r>
            <a:r>
              <a:rPr lang="en-US" b="1" dirty="0">
                <a:solidFill>
                  <a:srgbClr val="00B050"/>
                </a:solidFill>
                <a:sym typeface="Wingdings" pitchFamily="2" charset="2"/>
              </a:rPr>
              <a:t>group</a:t>
            </a:r>
            <a:r>
              <a:rPr lang="en-US" i="1" u="sng" dirty="0">
                <a:solidFill>
                  <a:srgbClr val="0000FF"/>
                </a:solidFill>
                <a:sym typeface="Wingdings" pitchFamily="2" charset="2"/>
              </a:rPr>
              <a:t> </a:t>
            </a:r>
            <a:r>
              <a:rPr lang="en-US" i="1" u="sng" dirty="0">
                <a:solidFill>
                  <a:srgbClr val="0000FF"/>
                </a:solidFill>
                <a:effectLst>
                  <a:outerShdw blurRad="38100" dist="38100" dir="2700000" algn="tl">
                    <a:srgbClr val="000000">
                      <a:alpha val="43137"/>
                    </a:srgbClr>
                  </a:outerShdw>
                </a:effectLst>
                <a:sym typeface="Wingdings" pitchFamily="2" charset="2"/>
              </a:rPr>
              <a:t>(ordered categories: ranked according to order)</a:t>
            </a:r>
          </a:p>
          <a:p>
            <a:pPr algn="just">
              <a:buNone/>
            </a:pPr>
            <a:endParaRPr lang="en-US" i="1" u="sng" dirty="0">
              <a:solidFill>
                <a:srgbClr val="0000FF"/>
              </a:solidFill>
              <a:effectLst>
                <a:outerShdw blurRad="38100" dist="38100" dir="2700000" algn="tl">
                  <a:srgbClr val="000000">
                    <a:alpha val="43137"/>
                  </a:srgbClr>
                </a:outerShdw>
              </a:effectLst>
              <a:sym typeface="Wingdings" pitchFamily="2" charset="2"/>
            </a:endParaRPr>
          </a:p>
          <a:p>
            <a:endParaRPr lang="en-US" dirty="0"/>
          </a:p>
        </p:txBody>
      </p:sp>
    </p:spTree>
    <p:extLst>
      <p:ext uri="{BB962C8B-B14F-4D97-AF65-F5344CB8AC3E}">
        <p14:creationId xmlns:p14="http://schemas.microsoft.com/office/powerpoint/2010/main" val="3313474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55000" lnSpcReduction="20000"/>
          </a:bodyPr>
          <a:lstStyle/>
          <a:p>
            <a:pPr marL="0" indent="0" algn="just">
              <a:buNone/>
            </a:pPr>
            <a:r>
              <a:rPr lang="en-US" b="1" dirty="0">
                <a:solidFill>
                  <a:srgbClr val="FF0000"/>
                </a:solidFill>
              </a:rPr>
              <a:t>(c) </a:t>
            </a:r>
            <a:r>
              <a:rPr lang="en-US" sz="3800" b="1" dirty="0">
                <a:solidFill>
                  <a:srgbClr val="FF0000"/>
                </a:solidFill>
              </a:rPr>
              <a:t>Interval scale:  </a:t>
            </a:r>
            <a:r>
              <a:rPr lang="en-US" sz="3800" dirty="0"/>
              <a:t>the interval scale</a:t>
            </a:r>
          </a:p>
          <a:p>
            <a:pPr marL="0" indent="0" algn="just">
              <a:buNone/>
            </a:pPr>
            <a:endParaRPr lang="en-US" sz="3800" dirty="0">
              <a:effectLst>
                <a:outerShdw blurRad="38100" dist="38100" dir="2700000" algn="tl">
                  <a:srgbClr val="000000">
                    <a:alpha val="43137"/>
                  </a:srgbClr>
                </a:outerShdw>
              </a:effectLst>
            </a:endParaRPr>
          </a:p>
          <a:p>
            <a:pPr algn="just"/>
            <a:r>
              <a:rPr lang="en-US" sz="3800" dirty="0">
                <a:effectLst>
                  <a:outerShdw blurRad="38100" dist="38100" dir="2700000" algn="tl">
                    <a:srgbClr val="000000">
                      <a:alpha val="43137"/>
                    </a:srgbClr>
                  </a:outerShdw>
                </a:effectLst>
              </a:rPr>
              <a:t>classify individuals according to certain categories</a:t>
            </a:r>
            <a:r>
              <a:rPr lang="en-US" sz="3800" dirty="0"/>
              <a:t> </a:t>
            </a:r>
          </a:p>
          <a:p>
            <a:pPr algn="just"/>
            <a:r>
              <a:rPr lang="en-US" sz="3800" dirty="0"/>
              <a:t>determines order of these categories; </a:t>
            </a:r>
          </a:p>
          <a:p>
            <a:pPr algn="just"/>
            <a:r>
              <a:rPr lang="en-US" sz="3800" dirty="0"/>
              <a:t>it also measure the magnitude of the differences in the preferences among the individuals.</a:t>
            </a:r>
          </a:p>
          <a:p>
            <a:pPr algn="just"/>
            <a:r>
              <a:rPr lang="en-US" sz="3800" dirty="0"/>
              <a:t>the interval scale </a:t>
            </a:r>
            <a:r>
              <a:rPr lang="en-US" sz="3800" dirty="0">
                <a:effectLst>
                  <a:outerShdw blurRad="38100" dist="38100" dir="2700000" algn="tl">
                    <a:srgbClr val="000000">
                      <a:alpha val="43137"/>
                    </a:srgbClr>
                  </a:outerShdw>
                </a:effectLst>
              </a:rPr>
              <a:t>allows us to compute the mean and the standard deviation of the responses on the variables</a:t>
            </a:r>
            <a:r>
              <a:rPr lang="en-US" sz="3800" dirty="0"/>
              <a:t>.</a:t>
            </a:r>
          </a:p>
          <a:p>
            <a:pPr algn="just"/>
            <a:r>
              <a:rPr lang="en-US" sz="3800" dirty="0"/>
              <a:t>In interval measurement the distance between attributes does have meaning. </a:t>
            </a:r>
          </a:p>
          <a:p>
            <a:pPr algn="just"/>
            <a:endParaRPr lang="en-US" sz="3800" dirty="0"/>
          </a:p>
          <a:p>
            <a:pPr algn="just"/>
            <a:r>
              <a:rPr lang="en-US" sz="3800" dirty="0"/>
              <a:t>For example, when we measure temperature (in Fahrenheit), the distance from 30–40 is same as distance from 70–80. The interval values in interpretable. </a:t>
            </a:r>
          </a:p>
          <a:p>
            <a:pPr algn="just"/>
            <a:endParaRPr lang="en-US" sz="3800" b="1" dirty="0">
              <a:solidFill>
                <a:srgbClr val="0000FF"/>
              </a:solidFill>
            </a:endParaRPr>
          </a:p>
          <a:p>
            <a:pPr algn="just"/>
            <a:r>
              <a:rPr lang="en-US" sz="3800" b="1" dirty="0">
                <a:solidFill>
                  <a:srgbClr val="0000FF"/>
                </a:solidFill>
              </a:rPr>
              <a:t>the intervals are adjusted in terms of some rule</a:t>
            </a:r>
          </a:p>
          <a:p>
            <a:pPr algn="just"/>
            <a:endParaRPr lang="en-US" sz="3800" dirty="0"/>
          </a:p>
          <a:p>
            <a:pPr algn="just"/>
            <a:r>
              <a:rPr lang="en-US" sz="3800" dirty="0"/>
              <a:t>It also incorporates the concept of equality of interval</a:t>
            </a:r>
          </a:p>
          <a:p>
            <a:pPr marL="0" indent="0" algn="just">
              <a:buNone/>
            </a:pPr>
            <a:endParaRPr lang="en-US" sz="3800" b="1" dirty="0">
              <a:solidFill>
                <a:srgbClr val="0000FF"/>
              </a:solidFill>
            </a:endParaRPr>
          </a:p>
          <a:p>
            <a:pPr algn="just"/>
            <a:r>
              <a:rPr lang="en-US" sz="3800" dirty="0">
                <a:solidFill>
                  <a:srgbClr val="FF00FF"/>
                </a:solidFill>
              </a:rPr>
              <a:t>Ex: </a:t>
            </a:r>
            <a:r>
              <a:rPr lang="en-US" sz="3800" u="sng" dirty="0">
                <a:solidFill>
                  <a:srgbClr val="FF00FF"/>
                </a:solidFill>
                <a:effectLst>
                  <a:outerShdw blurRad="38100" dist="38100" dir="2700000" algn="tl">
                    <a:srgbClr val="000000">
                      <a:alpha val="43137"/>
                    </a:srgbClr>
                  </a:outerShdw>
                </a:effectLst>
              </a:rPr>
              <a:t>Interval</a:t>
            </a:r>
            <a:r>
              <a:rPr lang="en-US" sz="3800" dirty="0">
                <a:solidFill>
                  <a:srgbClr val="FF00FF"/>
                </a:solidFill>
              </a:rPr>
              <a:t> </a:t>
            </a:r>
            <a:r>
              <a:rPr lang="en-US" sz="3800" dirty="0">
                <a:solidFill>
                  <a:srgbClr val="FF00FF"/>
                </a:solidFill>
                <a:sym typeface="Wingdings" pitchFamily="2" charset="2"/>
              </a:rPr>
              <a:t> </a:t>
            </a:r>
            <a:r>
              <a:rPr lang="en-US" sz="3800" i="1" u="sng" dirty="0">
                <a:solidFill>
                  <a:srgbClr val="FF00FF"/>
                </a:solidFill>
                <a:sym typeface="Wingdings" pitchFamily="2" charset="2"/>
              </a:rPr>
              <a:t>the </a:t>
            </a:r>
            <a:r>
              <a:rPr lang="en-US" sz="3800" i="1" u="sng" dirty="0">
                <a:solidFill>
                  <a:srgbClr val="FF00FF"/>
                </a:solidFill>
                <a:effectLst>
                  <a:outerShdw blurRad="38100" dist="38100" dir="2700000" algn="tl">
                    <a:srgbClr val="000000">
                      <a:alpha val="43137"/>
                    </a:srgbClr>
                  </a:outerShdw>
                </a:effectLst>
                <a:sym typeface="Wingdings" pitchFamily="2" charset="2"/>
              </a:rPr>
              <a:t>number of times</a:t>
            </a:r>
            <a:r>
              <a:rPr lang="en-US" sz="3800" i="1" u="sng" dirty="0">
                <a:solidFill>
                  <a:srgbClr val="FF00FF"/>
                </a:solidFill>
                <a:sym typeface="Wingdings" pitchFamily="2" charset="2"/>
              </a:rPr>
              <a:t> an individual makes a complaint (</a:t>
            </a:r>
            <a:r>
              <a:rPr lang="en-US" sz="3800" b="1" i="1" u="sng" dirty="0">
                <a:solidFill>
                  <a:srgbClr val="FF00FF"/>
                </a:solidFill>
                <a:sym typeface="Wingdings" pitchFamily="2" charset="2"/>
              </a:rPr>
              <a:t>occurrence</a:t>
            </a:r>
            <a:r>
              <a:rPr lang="en-US" sz="3800" i="1" u="sng" dirty="0">
                <a:solidFill>
                  <a:srgbClr val="FF00FF"/>
                </a:solidFill>
                <a:sym typeface="Wingdings" pitchFamily="2" charset="2"/>
              </a:rPr>
              <a:t>)</a:t>
            </a:r>
          </a:p>
          <a:p>
            <a:pPr algn="just">
              <a:buNone/>
            </a:pPr>
            <a:endParaRPr lang="en-US" sz="3800" i="1" u="sng" dirty="0">
              <a:solidFill>
                <a:srgbClr val="FF00FF"/>
              </a:solidFill>
              <a:sym typeface="Wingdings" pitchFamily="2" charset="2"/>
            </a:endParaRPr>
          </a:p>
          <a:p>
            <a:pPr algn="just"/>
            <a:r>
              <a:rPr lang="en-US" sz="3800" dirty="0"/>
              <a:t>Interval scales provide </a:t>
            </a:r>
            <a:r>
              <a:rPr lang="en-US" sz="3800" b="1" dirty="0">
                <a:solidFill>
                  <a:srgbClr val="0000FF"/>
                </a:solidFill>
              </a:rPr>
              <a:t>more powerful measurement</a:t>
            </a:r>
            <a:r>
              <a:rPr lang="en-US" sz="3800" dirty="0"/>
              <a:t> than ordinal scales, interval scale </a:t>
            </a:r>
          </a:p>
          <a:p>
            <a:pPr algn="just">
              <a:buNone/>
            </a:pPr>
            <a:endParaRPr lang="en-US" dirty="0"/>
          </a:p>
          <a:p>
            <a:pPr algn="just">
              <a:buNone/>
            </a:pPr>
            <a:endParaRPr lang="en-US" dirty="0"/>
          </a:p>
        </p:txBody>
      </p:sp>
    </p:spTree>
    <p:extLst>
      <p:ext uri="{BB962C8B-B14F-4D97-AF65-F5344CB8AC3E}">
        <p14:creationId xmlns:p14="http://schemas.microsoft.com/office/powerpoint/2010/main" val="1094048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8000"/>
          </a:xfrm>
        </p:spPr>
        <p:txBody>
          <a:bodyPr>
            <a:normAutofit fontScale="92500"/>
          </a:bodyPr>
          <a:lstStyle/>
          <a:p>
            <a:pPr algn="just">
              <a:buNone/>
            </a:pPr>
            <a:r>
              <a:rPr lang="en-US" b="1" dirty="0">
                <a:solidFill>
                  <a:srgbClr val="FF0000"/>
                </a:solidFill>
              </a:rPr>
              <a:t>(d) Ratio scale: </a:t>
            </a:r>
          </a:p>
          <a:p>
            <a:pPr algn="just">
              <a:buNone/>
            </a:pPr>
            <a:r>
              <a:rPr lang="en-US" dirty="0"/>
              <a:t>The ratio scale has an absolute measurement point.  Thus the ratio scale not only measures the magnitude of the differences between points on the scale but also </a:t>
            </a:r>
            <a:r>
              <a:rPr lang="en-US" u="sng" dirty="0">
                <a:effectLst>
                  <a:outerShdw blurRad="38100" dist="38100" dir="2700000" algn="tl">
                    <a:srgbClr val="000000">
                      <a:alpha val="43137"/>
                    </a:srgbClr>
                  </a:outerShdw>
                </a:effectLst>
              </a:rPr>
              <a:t>provides the proportions in the differences</a:t>
            </a:r>
            <a:r>
              <a:rPr lang="en-US" dirty="0"/>
              <a:t>. </a:t>
            </a:r>
          </a:p>
          <a:p>
            <a:pPr algn="just">
              <a:buNone/>
            </a:pPr>
            <a:r>
              <a:rPr lang="en-US" dirty="0"/>
              <a:t>It is the most powerful of the four scales because it has a unique zero origin</a:t>
            </a:r>
          </a:p>
          <a:p>
            <a:pPr algn="just">
              <a:buNone/>
            </a:pPr>
            <a:endParaRPr lang="en-US" dirty="0"/>
          </a:p>
          <a:p>
            <a:pPr algn="just">
              <a:buNone/>
            </a:pPr>
            <a:endParaRPr lang="en-US" dirty="0"/>
          </a:p>
          <a:p>
            <a:pPr algn="just">
              <a:buNone/>
            </a:pPr>
            <a:r>
              <a:rPr lang="en-US" dirty="0">
                <a:solidFill>
                  <a:srgbClr val="0000FF"/>
                </a:solidFill>
              </a:rPr>
              <a:t>Ex of </a:t>
            </a:r>
            <a:r>
              <a:rPr lang="en-US" u="sng" dirty="0">
                <a:solidFill>
                  <a:srgbClr val="0000FF"/>
                </a:solidFill>
                <a:effectLst>
                  <a:outerShdw blurRad="38100" dist="38100" dir="2700000" algn="tl">
                    <a:srgbClr val="000000">
                      <a:alpha val="43137"/>
                    </a:srgbClr>
                  </a:outerShdw>
                </a:effectLst>
              </a:rPr>
              <a:t>ratio </a:t>
            </a:r>
            <a:r>
              <a:rPr lang="en-US" dirty="0">
                <a:solidFill>
                  <a:srgbClr val="0000FF"/>
                </a:solidFill>
              </a:rPr>
              <a:t>  scale </a:t>
            </a:r>
            <a:r>
              <a:rPr lang="en-US" dirty="0">
                <a:solidFill>
                  <a:srgbClr val="0000FF"/>
                </a:solidFill>
                <a:sym typeface="Wingdings" pitchFamily="2" charset="2"/>
              </a:rPr>
              <a:t> </a:t>
            </a:r>
            <a:r>
              <a:rPr lang="en-US" i="1" u="sng" dirty="0">
                <a:solidFill>
                  <a:srgbClr val="0000FF"/>
                </a:solidFill>
                <a:sym typeface="Wingdings" pitchFamily="2" charset="2"/>
              </a:rPr>
              <a:t>the </a:t>
            </a:r>
            <a:r>
              <a:rPr lang="en-US" i="1" u="sng" dirty="0">
                <a:solidFill>
                  <a:srgbClr val="0000FF"/>
                </a:solidFill>
                <a:effectLst>
                  <a:outerShdw blurRad="38100" dist="38100" dir="2700000" algn="tl">
                    <a:srgbClr val="000000">
                      <a:alpha val="43137"/>
                    </a:srgbClr>
                  </a:outerShdw>
                </a:effectLst>
                <a:sym typeface="Wingdings" pitchFamily="2" charset="2"/>
              </a:rPr>
              <a:t>grades of test</a:t>
            </a:r>
          </a:p>
          <a:p>
            <a:pPr algn="just">
              <a:buNone/>
            </a:pPr>
            <a:r>
              <a:rPr lang="en-US" b="1" dirty="0"/>
              <a:t>Measures of physical dimensions </a:t>
            </a:r>
            <a:r>
              <a:rPr lang="en-US" dirty="0"/>
              <a:t>such as weight</a:t>
            </a:r>
          </a:p>
          <a:p>
            <a:pPr algn="just"/>
            <a:r>
              <a:rPr lang="en-US" dirty="0"/>
              <a:t>Generally, all statistical techniques are usable with ratio scales</a:t>
            </a:r>
            <a:endParaRPr lang="en-US" i="1" u="sng" dirty="0">
              <a:solidFill>
                <a:srgbClr val="FF0000"/>
              </a:solidFill>
              <a:sym typeface="Wingdings" pitchFamily="2" charset="2"/>
            </a:endParaRPr>
          </a:p>
          <a:p>
            <a:pPr algn="just">
              <a:buNone/>
            </a:pPr>
            <a:endParaRPr lang="en-US" dirty="0"/>
          </a:p>
        </p:txBody>
      </p:sp>
    </p:spTree>
    <p:extLst>
      <p:ext uri="{BB962C8B-B14F-4D97-AF65-F5344CB8AC3E}">
        <p14:creationId xmlns:p14="http://schemas.microsoft.com/office/powerpoint/2010/main" val="1618976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rmAutofit fontScale="90000"/>
          </a:bodyPr>
          <a:lstStyle/>
          <a:p>
            <a:r>
              <a:rPr lang="en-US" b="1" dirty="0">
                <a:solidFill>
                  <a:srgbClr val="FF0000"/>
                </a:solidFill>
              </a:rPr>
              <a:t>INTRODUCTION</a:t>
            </a:r>
          </a:p>
        </p:txBody>
      </p:sp>
      <p:sp>
        <p:nvSpPr>
          <p:cNvPr id="3" name="Content Placeholder 2"/>
          <p:cNvSpPr>
            <a:spLocks noGrp="1"/>
          </p:cNvSpPr>
          <p:nvPr>
            <p:ph idx="1"/>
          </p:nvPr>
        </p:nvSpPr>
        <p:spPr>
          <a:xfrm>
            <a:off x="0" y="533400"/>
            <a:ext cx="9144000" cy="6324600"/>
          </a:xfrm>
        </p:spPr>
        <p:txBody>
          <a:bodyPr>
            <a:noAutofit/>
          </a:bodyPr>
          <a:lstStyle/>
          <a:p>
            <a:pPr algn="just"/>
            <a:r>
              <a:rPr lang="en-US" sz="2400" dirty="0"/>
              <a:t>The statistical methods, discussed so far that is mean, median mode and SD, are used to </a:t>
            </a:r>
            <a:r>
              <a:rPr lang="en-US" sz="2400" dirty="0" err="1"/>
              <a:t>analyse</a:t>
            </a:r>
            <a:r>
              <a:rPr lang="en-US" sz="2400" dirty="0"/>
              <a:t> the </a:t>
            </a:r>
            <a:r>
              <a:rPr lang="en-US" sz="2400" b="1" u="sng" dirty="0"/>
              <a:t>data involving only one variable</a:t>
            </a:r>
            <a:r>
              <a:rPr lang="en-US" sz="2400" dirty="0"/>
              <a:t>. </a:t>
            </a:r>
          </a:p>
          <a:p>
            <a:pPr algn="just"/>
            <a:r>
              <a:rPr lang="en-US" sz="2400" dirty="0"/>
              <a:t>Often an analysis of </a:t>
            </a:r>
            <a:r>
              <a:rPr lang="en-US" sz="2400" b="1" u="sng" dirty="0"/>
              <a:t>data concerning two or more quantitative variables</a:t>
            </a:r>
            <a:r>
              <a:rPr lang="en-US" sz="2400" dirty="0"/>
              <a:t> are </a:t>
            </a:r>
            <a:r>
              <a:rPr lang="en-US" sz="2400" dirty="0">
                <a:solidFill>
                  <a:srgbClr val="0070C0"/>
                </a:solidFill>
              </a:rPr>
              <a:t>needed </a:t>
            </a:r>
            <a:r>
              <a:rPr lang="en-US" sz="2800" b="1" u="sng" dirty="0">
                <a:solidFill>
                  <a:srgbClr val="0070C0"/>
                </a:solidFill>
                <a:effectLst>
                  <a:outerShdw blurRad="38100" dist="38100" dir="2700000" algn="tl">
                    <a:srgbClr val="000000">
                      <a:alpha val="43137"/>
                    </a:srgbClr>
                  </a:outerShdw>
                </a:effectLst>
              </a:rPr>
              <a:t>to look for any statistical relationship</a:t>
            </a:r>
            <a:r>
              <a:rPr lang="en-US" sz="2800" b="1" dirty="0">
                <a:solidFill>
                  <a:srgbClr val="0070C0"/>
                </a:solidFill>
                <a:effectLst>
                  <a:outerShdw blurRad="38100" dist="38100" dir="2700000" algn="tl">
                    <a:srgbClr val="000000">
                      <a:alpha val="43137"/>
                    </a:srgbClr>
                  </a:outerShdw>
                </a:effectLst>
              </a:rPr>
              <a:t> </a:t>
            </a:r>
            <a:r>
              <a:rPr lang="en-US" sz="2400" dirty="0">
                <a:solidFill>
                  <a:srgbClr val="0070C0"/>
                </a:solidFill>
              </a:rPr>
              <a:t>or </a:t>
            </a:r>
            <a:r>
              <a:rPr lang="en-US" sz="2800" b="1" u="sng" dirty="0">
                <a:solidFill>
                  <a:srgbClr val="0000FF"/>
                </a:solidFill>
                <a:effectLst>
                  <a:outerShdw blurRad="38100" dist="38100" dir="2700000" algn="tl">
                    <a:srgbClr val="000000">
                      <a:alpha val="43137"/>
                    </a:srgbClr>
                  </a:outerShdw>
                </a:effectLst>
              </a:rPr>
              <a:t>association between them</a:t>
            </a:r>
            <a:r>
              <a:rPr lang="en-US" sz="2800" dirty="0">
                <a:solidFill>
                  <a:srgbClr val="0070C0"/>
                </a:solidFill>
              </a:rPr>
              <a:t>.</a:t>
            </a:r>
            <a:r>
              <a:rPr lang="en-US" sz="2800" dirty="0"/>
              <a:t> </a:t>
            </a:r>
            <a:endParaRPr lang="en-US" sz="2400" dirty="0"/>
          </a:p>
          <a:p>
            <a:pPr algn="just"/>
            <a:endParaRPr lang="en-US" sz="2400" dirty="0"/>
          </a:p>
          <a:p>
            <a:pPr algn="just"/>
            <a:r>
              <a:rPr lang="en-US" sz="2300" dirty="0">
                <a:solidFill>
                  <a:srgbClr val="FF0000"/>
                </a:solidFill>
                <a:effectLst>
                  <a:outerShdw blurRad="38100" dist="38100" dir="2700000" algn="tl">
                    <a:srgbClr val="000000">
                      <a:alpha val="43137"/>
                    </a:srgbClr>
                  </a:outerShdw>
                </a:effectLst>
              </a:rPr>
              <a:t>Few instances </a:t>
            </a:r>
            <a:r>
              <a:rPr lang="en-US" sz="2300" u="sng" dirty="0">
                <a:solidFill>
                  <a:srgbClr val="0000FF"/>
                </a:solidFill>
                <a:effectLst>
                  <a:outerShdw blurRad="38100" dist="38100" dir="2700000" algn="tl">
                    <a:srgbClr val="000000">
                      <a:alpha val="43137"/>
                    </a:srgbClr>
                  </a:outerShdw>
                </a:effectLst>
              </a:rPr>
              <a:t>where the knowledge of an association</a:t>
            </a:r>
            <a:r>
              <a:rPr lang="en-US" sz="2300" dirty="0">
                <a:solidFill>
                  <a:srgbClr val="FF0000"/>
                </a:solidFill>
                <a:effectLst>
                  <a:outerShdw blurRad="38100" dist="38100" dir="2700000" algn="tl">
                    <a:srgbClr val="000000">
                      <a:alpha val="43137"/>
                    </a:srgbClr>
                  </a:outerShdw>
                </a:effectLst>
              </a:rPr>
              <a:t> or </a:t>
            </a:r>
            <a:r>
              <a:rPr lang="en-US" sz="2300" u="sng" dirty="0">
                <a:solidFill>
                  <a:srgbClr val="0000FF"/>
                </a:solidFill>
                <a:effectLst>
                  <a:outerShdw blurRad="38100" dist="38100" dir="2700000" algn="tl">
                    <a:srgbClr val="000000">
                      <a:alpha val="43137"/>
                    </a:srgbClr>
                  </a:outerShdw>
                </a:effectLst>
                <a:uFill>
                  <a:solidFill>
                    <a:srgbClr val="FF00FF"/>
                  </a:solidFill>
                </a:uFill>
              </a:rPr>
              <a:t>relationship between two variables</a:t>
            </a:r>
            <a:r>
              <a:rPr lang="en-US" sz="2300" dirty="0">
                <a:solidFill>
                  <a:srgbClr val="FF0000"/>
                </a:solidFill>
                <a:effectLst>
                  <a:outerShdw blurRad="38100" dist="38100" dir="2700000" algn="tl">
                    <a:srgbClr val="000000">
                      <a:alpha val="43137"/>
                    </a:srgbClr>
                  </a:outerShdw>
                </a:effectLst>
              </a:rPr>
              <a:t> would prove vital - to make certain decision.  Like: </a:t>
            </a:r>
          </a:p>
          <a:p>
            <a:pPr lvl="0" algn="just"/>
            <a:r>
              <a:rPr lang="en-US" sz="2300" b="1" dirty="0">
                <a:effectLst>
                  <a:outerShdw blurRad="38100" dist="38100" dir="2700000" algn="tl">
                    <a:srgbClr val="000000">
                      <a:alpha val="43137"/>
                    </a:srgbClr>
                  </a:outerShdw>
                </a:effectLst>
              </a:rPr>
              <a:t>Family income </a:t>
            </a:r>
            <a:r>
              <a:rPr lang="en-US" sz="2300" dirty="0"/>
              <a:t>and </a:t>
            </a:r>
            <a:r>
              <a:rPr lang="en-US" sz="2300" b="1" dirty="0">
                <a:solidFill>
                  <a:srgbClr val="0000FF"/>
                </a:solidFill>
                <a:effectLst>
                  <a:outerShdw blurRad="38100" dist="38100" dir="2700000" algn="tl">
                    <a:srgbClr val="000000">
                      <a:alpha val="43137"/>
                    </a:srgbClr>
                  </a:outerShdw>
                </a:effectLst>
              </a:rPr>
              <a:t>expenditure on luxury items</a:t>
            </a:r>
            <a:r>
              <a:rPr lang="en-US" sz="2300" dirty="0">
                <a:solidFill>
                  <a:srgbClr val="0000FF"/>
                </a:solidFill>
                <a:effectLst>
                  <a:outerShdw blurRad="38100" dist="38100" dir="2700000" algn="tl">
                    <a:srgbClr val="000000">
                      <a:alpha val="43137"/>
                    </a:srgbClr>
                  </a:outerShdw>
                </a:effectLst>
              </a:rPr>
              <a:t>.</a:t>
            </a:r>
          </a:p>
          <a:p>
            <a:pPr lvl="0" algn="just"/>
            <a:r>
              <a:rPr lang="en-US" sz="2300" b="1" dirty="0">
                <a:effectLst>
                  <a:outerShdw blurRad="38100" dist="38100" dir="2700000" algn="tl">
                    <a:srgbClr val="000000">
                      <a:alpha val="43137"/>
                    </a:srgbClr>
                  </a:outerShdw>
                </a:effectLst>
              </a:rPr>
              <a:t>Yield of a crop </a:t>
            </a:r>
            <a:r>
              <a:rPr lang="en-US" sz="2300" dirty="0"/>
              <a:t>and </a:t>
            </a:r>
            <a:r>
              <a:rPr lang="en-US" sz="2300" b="1" dirty="0">
                <a:solidFill>
                  <a:srgbClr val="0000FF"/>
                </a:solidFill>
                <a:effectLst>
                  <a:outerShdw blurRad="38100" dist="38100" dir="2700000" algn="tl">
                    <a:srgbClr val="000000">
                      <a:alpha val="43137"/>
                    </a:srgbClr>
                  </a:outerShdw>
                </a:effectLst>
              </a:rPr>
              <a:t>quantity of fertilizer used</a:t>
            </a:r>
            <a:r>
              <a:rPr lang="en-US" sz="2300" dirty="0"/>
              <a:t>.</a:t>
            </a:r>
          </a:p>
          <a:p>
            <a:pPr lvl="0" algn="just"/>
            <a:r>
              <a:rPr lang="en-US" sz="2300" b="1" dirty="0">
                <a:effectLst>
                  <a:outerShdw blurRad="38100" dist="38100" dir="2700000" algn="tl">
                    <a:srgbClr val="000000">
                      <a:alpha val="43137"/>
                    </a:srgbClr>
                  </a:outerShdw>
                </a:effectLst>
              </a:rPr>
              <a:t>Sales revenue </a:t>
            </a:r>
            <a:r>
              <a:rPr lang="en-US" sz="2300" dirty="0"/>
              <a:t>and </a:t>
            </a:r>
            <a:r>
              <a:rPr lang="en-US" sz="2300" b="1" dirty="0">
                <a:solidFill>
                  <a:srgbClr val="0000FF"/>
                </a:solidFill>
                <a:effectLst>
                  <a:outerShdw blurRad="38100" dist="38100" dir="2700000" algn="tl">
                    <a:srgbClr val="000000">
                      <a:alpha val="43137"/>
                    </a:srgbClr>
                  </a:outerShdw>
                </a:effectLst>
              </a:rPr>
              <a:t>expenses incurred on advertising</a:t>
            </a:r>
            <a:r>
              <a:rPr lang="en-US" sz="2300" dirty="0"/>
              <a:t>.</a:t>
            </a:r>
          </a:p>
          <a:p>
            <a:pPr lvl="0" algn="just"/>
            <a:r>
              <a:rPr lang="en-US" sz="2300" b="1" dirty="0">
                <a:effectLst>
                  <a:outerShdw blurRad="38100" dist="38100" dir="2700000" algn="tl">
                    <a:srgbClr val="000000">
                      <a:alpha val="43137"/>
                    </a:srgbClr>
                  </a:outerShdw>
                </a:effectLst>
              </a:rPr>
              <a:t>Frequency of smoking</a:t>
            </a:r>
            <a:r>
              <a:rPr lang="en-US" sz="2300" dirty="0"/>
              <a:t> and </a:t>
            </a:r>
            <a:r>
              <a:rPr lang="en-US" sz="2300" b="1" dirty="0">
                <a:solidFill>
                  <a:srgbClr val="0000FF"/>
                </a:solidFill>
                <a:effectLst>
                  <a:outerShdw blurRad="38100" dist="38100" dir="2700000" algn="tl">
                    <a:srgbClr val="000000">
                      <a:alpha val="43137"/>
                    </a:srgbClr>
                  </a:outerShdw>
                </a:effectLst>
              </a:rPr>
              <a:t>lung damage</a:t>
            </a:r>
            <a:r>
              <a:rPr lang="en-US" sz="2300" dirty="0"/>
              <a:t>.</a:t>
            </a:r>
          </a:p>
          <a:p>
            <a:pPr marL="0" lvl="0" indent="0" algn="just">
              <a:buNone/>
            </a:pPr>
            <a:r>
              <a:rPr lang="en-US" sz="2300" dirty="0">
                <a:solidFill>
                  <a:srgbClr val="002060"/>
                </a:solidFill>
                <a:effectLst>
                  <a:outerShdw blurRad="38100" dist="38100" dir="2700000" algn="tl">
                    <a:srgbClr val="000000">
                      <a:alpha val="43137"/>
                    </a:srgbClr>
                  </a:outerShdw>
                </a:effectLst>
              </a:rPr>
              <a:t>A statistical technique that is </a:t>
            </a:r>
            <a:r>
              <a:rPr lang="en-US" sz="2300" b="1" u="sng" dirty="0">
                <a:solidFill>
                  <a:srgbClr val="FF00FF"/>
                </a:solidFill>
                <a:effectLst>
                  <a:outerShdw blurRad="38100" dist="38100" dir="2700000" algn="tl">
                    <a:srgbClr val="000000">
                      <a:alpha val="43137"/>
                    </a:srgbClr>
                  </a:outerShdw>
                </a:effectLst>
              </a:rPr>
              <a:t>used to</a:t>
            </a:r>
            <a:r>
              <a:rPr lang="en-US" sz="2300" b="1" dirty="0">
                <a:solidFill>
                  <a:srgbClr val="FF00FF"/>
                </a:solidFill>
                <a:effectLst>
                  <a:outerShdw blurRad="38100" dist="38100" dir="2700000" algn="tl">
                    <a:srgbClr val="000000">
                      <a:alpha val="43137"/>
                    </a:srgbClr>
                  </a:outerShdw>
                </a:effectLst>
              </a:rPr>
              <a:t> </a:t>
            </a:r>
            <a:r>
              <a:rPr lang="en-US" sz="2300" b="1" u="sng" dirty="0">
                <a:solidFill>
                  <a:srgbClr val="002060"/>
                </a:solidFill>
                <a:effectLst>
                  <a:outerShdw blurRad="38100" dist="38100" dir="2700000" algn="tl">
                    <a:srgbClr val="000000">
                      <a:alpha val="43137"/>
                    </a:srgbClr>
                  </a:outerShdw>
                </a:effectLst>
              </a:rPr>
              <a:t>analyze the strength</a:t>
            </a:r>
            <a:r>
              <a:rPr lang="en-US" sz="2300" dirty="0">
                <a:solidFill>
                  <a:srgbClr val="002060"/>
                </a:solidFill>
                <a:effectLst>
                  <a:outerShdw blurRad="38100" dist="38100" dir="2700000" algn="tl">
                    <a:srgbClr val="000000">
                      <a:alpha val="43137"/>
                    </a:srgbClr>
                  </a:outerShdw>
                </a:effectLst>
              </a:rPr>
              <a:t> and </a:t>
            </a:r>
            <a:r>
              <a:rPr lang="en-US" sz="2300" b="1" u="sng" dirty="0">
                <a:solidFill>
                  <a:srgbClr val="FF00FF"/>
                </a:solidFill>
                <a:effectLst>
                  <a:outerShdw blurRad="38100" dist="38100" dir="2700000" algn="tl">
                    <a:srgbClr val="000000">
                      <a:alpha val="43137"/>
                    </a:srgbClr>
                  </a:outerShdw>
                </a:effectLst>
              </a:rPr>
              <a:t>direction of the relationship</a:t>
            </a:r>
            <a:r>
              <a:rPr lang="en-US" sz="2300" dirty="0">
                <a:solidFill>
                  <a:srgbClr val="002060"/>
                </a:solidFill>
                <a:effectLst>
                  <a:outerShdw blurRad="38100" dist="38100" dir="2700000" algn="tl">
                    <a:srgbClr val="000000">
                      <a:alpha val="43137"/>
                    </a:srgbClr>
                  </a:outerShdw>
                </a:effectLst>
              </a:rPr>
              <a:t> between two quantitative variables, is called </a:t>
            </a:r>
            <a:r>
              <a:rPr lang="en-US" sz="2300" b="1" i="1" dirty="0">
                <a:solidFill>
                  <a:srgbClr val="FF00FF"/>
                </a:solidFill>
                <a:effectLst>
                  <a:outerShdw blurRad="38100" dist="38100" dir="2700000" algn="tl">
                    <a:srgbClr val="000000">
                      <a:alpha val="43137"/>
                    </a:srgbClr>
                  </a:outerShdw>
                </a:effectLst>
              </a:rPr>
              <a:t>correlation analysis</a:t>
            </a:r>
            <a:endParaRPr lang="en-US" sz="2300" b="1" dirty="0">
              <a:solidFill>
                <a:srgbClr val="FF00FF"/>
              </a:solidFill>
              <a:effectLst>
                <a:outerShdw blurRad="38100" dist="38100" dir="2700000" algn="tl">
                  <a:srgbClr val="000000">
                    <a:alpha val="43137"/>
                  </a:srgbClr>
                </a:outerShdw>
              </a:effectLst>
            </a:endParaRPr>
          </a:p>
          <a:p>
            <a:pPr algn="just"/>
            <a:endParaRPr lang="en-US" sz="2400" dirty="0"/>
          </a:p>
        </p:txBody>
      </p:sp>
    </p:spTree>
    <p:extLst>
      <p:ext uri="{BB962C8B-B14F-4D97-AF65-F5344CB8AC3E}">
        <p14:creationId xmlns:p14="http://schemas.microsoft.com/office/powerpoint/2010/main" val="4154384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0000" lnSpcReduction="20000"/>
          </a:bodyPr>
          <a:lstStyle/>
          <a:p>
            <a:pPr algn="just"/>
            <a:r>
              <a:rPr lang="en-US" sz="4400" dirty="0"/>
              <a:t>The </a:t>
            </a:r>
            <a:r>
              <a:rPr lang="en-US" sz="4400" b="1" u="sng" dirty="0">
                <a:effectLst>
                  <a:outerShdw blurRad="38100" dist="38100" dir="2700000" algn="tl">
                    <a:srgbClr val="000000">
                      <a:alpha val="43137"/>
                    </a:srgbClr>
                  </a:outerShdw>
                </a:effectLst>
              </a:rPr>
              <a:t>coefficient of correlation</a:t>
            </a:r>
            <a:r>
              <a:rPr lang="en-US" sz="4400" dirty="0"/>
              <a:t>, </a:t>
            </a:r>
            <a:r>
              <a:rPr lang="en-US" sz="4400" b="1" u="sng" dirty="0">
                <a:solidFill>
                  <a:srgbClr val="CC0000"/>
                </a:solidFill>
                <a:effectLst>
                  <a:outerShdw blurRad="38100" dist="38100" dir="2700000" algn="tl">
                    <a:srgbClr val="000000">
                      <a:alpha val="43137"/>
                    </a:srgbClr>
                  </a:outerShdw>
                </a:effectLst>
              </a:rPr>
              <a:t>is a number</a:t>
            </a:r>
            <a:r>
              <a:rPr lang="en-US" sz="4400" dirty="0"/>
              <a:t> that indicates the </a:t>
            </a:r>
            <a:r>
              <a:rPr lang="en-US" sz="4400" b="1" u="sng" dirty="0">
                <a:solidFill>
                  <a:srgbClr val="0000FF"/>
                </a:solidFill>
                <a:effectLst>
                  <a:outerShdw blurRad="38100" dist="38100" dir="2700000" algn="tl">
                    <a:srgbClr val="000000">
                      <a:alpha val="43137"/>
                    </a:srgbClr>
                  </a:outerShdw>
                </a:effectLst>
              </a:rPr>
              <a:t>strength (magnitude) and direction</a:t>
            </a:r>
            <a:r>
              <a:rPr lang="en-US" sz="4400" dirty="0"/>
              <a:t> of statistical </a:t>
            </a:r>
            <a:r>
              <a:rPr lang="en-US" sz="4400" b="1" u="sng" dirty="0">
                <a:effectLst>
                  <a:outerShdw blurRad="38100" dist="38100" dir="2700000" algn="tl">
                    <a:srgbClr val="000000">
                      <a:alpha val="43137"/>
                    </a:srgbClr>
                  </a:outerShdw>
                </a:effectLst>
              </a:rPr>
              <a:t>relationship between two varia</a:t>
            </a:r>
            <a:r>
              <a:rPr lang="en-US" sz="3800" b="1" u="sng" dirty="0">
                <a:effectLst>
                  <a:outerShdw blurRad="38100" dist="38100" dir="2700000" algn="tl">
                    <a:srgbClr val="000000">
                      <a:alpha val="43137"/>
                    </a:srgbClr>
                  </a:outerShdw>
                </a:effectLst>
              </a:rPr>
              <a:t>bles</a:t>
            </a:r>
            <a:r>
              <a:rPr lang="en-US" sz="3800" dirty="0"/>
              <a:t>.</a:t>
            </a:r>
          </a:p>
          <a:p>
            <a:pPr marL="0" indent="0" algn="just">
              <a:buNone/>
            </a:pPr>
            <a:endParaRPr lang="en-US" sz="3800" dirty="0"/>
          </a:p>
          <a:p>
            <a:pPr algn="just"/>
            <a:r>
              <a:rPr lang="en-US" sz="3800" dirty="0">
                <a:solidFill>
                  <a:srgbClr val="FF0000"/>
                </a:solidFill>
                <a:effectLst>
                  <a:outerShdw blurRad="38100" dist="38100" dir="2700000" algn="tl">
                    <a:srgbClr val="000000">
                      <a:alpha val="43137"/>
                    </a:srgbClr>
                  </a:outerShdw>
                </a:effectLst>
              </a:rPr>
              <a:t>The importance of examining the statistical relationship between two or more variables answer these questions</a:t>
            </a:r>
            <a:r>
              <a:rPr lang="en-US" sz="3800" dirty="0"/>
              <a:t>:</a:t>
            </a:r>
          </a:p>
          <a:p>
            <a:pPr marL="0" indent="0" algn="just">
              <a:buNone/>
            </a:pPr>
            <a:endParaRPr lang="en-US" sz="3800" dirty="0"/>
          </a:p>
          <a:p>
            <a:pPr marL="0" indent="0" algn="just">
              <a:buNone/>
            </a:pPr>
            <a:r>
              <a:rPr lang="en-US" sz="3800" dirty="0"/>
              <a:t>1.	</a:t>
            </a:r>
            <a:r>
              <a:rPr lang="en-US" sz="3800" b="1" dirty="0"/>
              <a:t>Is there an association </a:t>
            </a:r>
            <a:r>
              <a:rPr lang="en-US" sz="3800" dirty="0"/>
              <a:t>between two or more variables? If yes, what is form and degree of that relationship?</a:t>
            </a:r>
          </a:p>
          <a:p>
            <a:pPr marL="0" indent="0" algn="just">
              <a:buNone/>
            </a:pPr>
            <a:endParaRPr lang="en-US" sz="3800" dirty="0"/>
          </a:p>
          <a:p>
            <a:pPr marL="0" indent="0" algn="just">
              <a:buNone/>
            </a:pPr>
            <a:r>
              <a:rPr lang="en-US" sz="3800" dirty="0"/>
              <a:t>2.	</a:t>
            </a:r>
            <a:r>
              <a:rPr lang="en-US" sz="3800" b="1" dirty="0"/>
              <a:t>Is the relationship strong</a:t>
            </a:r>
            <a:r>
              <a:rPr lang="en-US" sz="3800" dirty="0"/>
              <a:t> or significant enough to be useful to arrive at a </a:t>
            </a:r>
            <a:r>
              <a:rPr lang="en-US" sz="3800" b="1" dirty="0"/>
              <a:t>desirable conclusion</a:t>
            </a:r>
            <a:r>
              <a:rPr lang="en-US" sz="3800" dirty="0"/>
              <a:t>?</a:t>
            </a:r>
          </a:p>
          <a:p>
            <a:pPr marL="0" indent="0" algn="just">
              <a:buNone/>
            </a:pPr>
            <a:endParaRPr lang="en-US" sz="3800" dirty="0"/>
          </a:p>
          <a:p>
            <a:pPr marL="0" indent="0" algn="just">
              <a:buNone/>
            </a:pPr>
            <a:r>
              <a:rPr lang="en-US" sz="3800" dirty="0"/>
              <a:t>3.	</a:t>
            </a:r>
            <a:r>
              <a:rPr lang="en-US" sz="3800" b="1" dirty="0"/>
              <a:t>Can the relationship be used for predictive purposes</a:t>
            </a:r>
            <a:r>
              <a:rPr lang="en-US" sz="3800" dirty="0"/>
              <a:t>, that is, to predict the most likely value of a dependent variable corresponding to the given value of independent variable or variables?</a:t>
            </a:r>
            <a:endParaRPr lang="en-US" sz="3400" dirty="0"/>
          </a:p>
          <a:p>
            <a:pPr algn="just"/>
            <a:endParaRPr lang="en-US" dirty="0"/>
          </a:p>
          <a:p>
            <a:endParaRPr lang="en-US" dirty="0"/>
          </a:p>
        </p:txBody>
      </p:sp>
    </p:spTree>
    <p:extLst>
      <p:ext uri="{BB962C8B-B14F-4D97-AF65-F5344CB8AC3E}">
        <p14:creationId xmlns:p14="http://schemas.microsoft.com/office/powerpoint/2010/main" val="1079220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85800"/>
            <a:ext cx="8610600" cy="5791200"/>
          </a:xfrm>
        </p:spPr>
        <p:txBody>
          <a:bodyPr/>
          <a:lstStyle/>
          <a:p>
            <a:pPr algn="just">
              <a:buNone/>
            </a:pPr>
            <a:r>
              <a:rPr lang="en-US" b="1" dirty="0">
                <a:solidFill>
                  <a:srgbClr val="FF0000"/>
                </a:solidFill>
              </a:rPr>
              <a:t>SIGNIFICANCE OF MEASURING CORRELATION</a:t>
            </a:r>
          </a:p>
          <a:p>
            <a:pPr algn="just"/>
            <a:r>
              <a:rPr lang="en-US" dirty="0"/>
              <a:t>The objective of any scientific and clinical research is to establish relationships between two or more sets of observations or variables to arrive at some conclusion which is also near to reality. </a:t>
            </a:r>
          </a:p>
          <a:p>
            <a:pPr algn="just"/>
            <a:r>
              <a:rPr lang="en-US" dirty="0"/>
              <a:t>Finding such relationships is often an initial step for identifying causal relationships. </a:t>
            </a:r>
          </a:p>
        </p:txBody>
      </p:sp>
    </p:spTree>
    <p:extLst>
      <p:ext uri="{BB962C8B-B14F-4D97-AF65-F5344CB8AC3E}">
        <p14:creationId xmlns:p14="http://schemas.microsoft.com/office/powerpoint/2010/main" val="2511069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85000" lnSpcReduction="20000"/>
          </a:bodyPr>
          <a:lstStyle/>
          <a:p>
            <a:pPr marL="0" indent="0">
              <a:buNone/>
            </a:pPr>
            <a:r>
              <a:rPr lang="en-US" dirty="0"/>
              <a:t> </a:t>
            </a:r>
            <a:r>
              <a:rPr lang="en-US" b="1" u="sng" dirty="0">
                <a:solidFill>
                  <a:srgbClr val="FF0000"/>
                </a:solidFill>
              </a:rPr>
              <a:t>TYPES OF CORRELATIONS</a:t>
            </a:r>
          </a:p>
          <a:p>
            <a:pPr marL="0" indent="0" algn="just">
              <a:buNone/>
            </a:pPr>
            <a:r>
              <a:rPr lang="en-US" dirty="0"/>
              <a:t>There are three broad types of correlations:</a:t>
            </a:r>
          </a:p>
          <a:p>
            <a:pPr marL="0" indent="0" algn="just">
              <a:buNone/>
            </a:pPr>
            <a:r>
              <a:rPr lang="en-US" dirty="0"/>
              <a:t>1.	Positive and negative,</a:t>
            </a:r>
          </a:p>
          <a:p>
            <a:pPr marL="0" indent="0" algn="just">
              <a:buNone/>
            </a:pPr>
            <a:r>
              <a:rPr lang="en-US" dirty="0"/>
              <a:t>2.	Linear and non-linear,</a:t>
            </a:r>
          </a:p>
          <a:p>
            <a:pPr marL="0" indent="0" algn="just">
              <a:buNone/>
            </a:pPr>
            <a:r>
              <a:rPr lang="en-US" dirty="0"/>
              <a:t>3.	Simple, partial, and multiple.</a:t>
            </a:r>
          </a:p>
          <a:p>
            <a:pPr algn="just">
              <a:buNone/>
            </a:pPr>
            <a:endParaRPr lang="en-US" sz="3500" dirty="0"/>
          </a:p>
          <a:p>
            <a:pPr algn="just">
              <a:buNone/>
            </a:pPr>
            <a:r>
              <a:rPr lang="en-US" sz="3500" b="1" dirty="0">
                <a:solidFill>
                  <a:srgbClr val="0000FF"/>
                </a:solidFill>
              </a:rPr>
              <a:t>Positive and Negative Correlation</a:t>
            </a:r>
          </a:p>
          <a:p>
            <a:pPr algn="just">
              <a:buNone/>
            </a:pPr>
            <a:endParaRPr lang="en-US" sz="3500" b="1" dirty="0">
              <a:solidFill>
                <a:srgbClr val="0000FF"/>
              </a:solidFill>
            </a:endParaRPr>
          </a:p>
          <a:p>
            <a:pPr algn="just"/>
            <a:r>
              <a:rPr lang="en-US" dirty="0"/>
              <a:t>A </a:t>
            </a:r>
            <a:r>
              <a:rPr lang="en-US" u="sng" dirty="0">
                <a:effectLst>
                  <a:outerShdw blurRad="38100" dist="38100" dir="2700000" algn="tl">
                    <a:srgbClr val="000000">
                      <a:alpha val="43137"/>
                    </a:srgbClr>
                  </a:outerShdw>
                </a:effectLst>
              </a:rPr>
              <a:t>positive (or direct)</a:t>
            </a:r>
            <a:r>
              <a:rPr lang="en-US" dirty="0"/>
              <a:t> correlation refers </a:t>
            </a:r>
            <a:r>
              <a:rPr lang="en-US" u="sng" dirty="0">
                <a:solidFill>
                  <a:srgbClr val="FF0000"/>
                </a:solidFill>
                <a:effectLst>
                  <a:outerShdw blurRad="38100" dist="38100" dir="2700000" algn="tl">
                    <a:srgbClr val="000000">
                      <a:alpha val="43137"/>
                    </a:srgbClr>
                  </a:outerShdw>
                </a:effectLst>
              </a:rPr>
              <a:t>to the same direction of change in the values of variables</a:t>
            </a:r>
            <a:r>
              <a:rPr lang="en-US" dirty="0"/>
              <a:t>. In other words, if values of variables are varying </a:t>
            </a:r>
            <a:r>
              <a:rPr lang="en-US" b="1" u="sng" dirty="0"/>
              <a:t>(i.e., increasing or decreasing) </a:t>
            </a:r>
            <a:r>
              <a:rPr lang="en-US" b="1" u="sng" dirty="0">
                <a:solidFill>
                  <a:srgbClr val="0000FF"/>
                </a:solidFill>
                <a:effectLst>
                  <a:outerShdw blurRad="38100" dist="38100" dir="2700000" algn="tl">
                    <a:srgbClr val="000000">
                      <a:alpha val="43137"/>
                    </a:srgbClr>
                  </a:outerShdw>
                </a:effectLst>
              </a:rPr>
              <a:t>in the same direction,</a:t>
            </a:r>
            <a:r>
              <a:rPr lang="en-US" dirty="0"/>
              <a:t> then such correlation is referred to as </a:t>
            </a:r>
            <a:r>
              <a:rPr lang="en-US" b="1" dirty="0"/>
              <a:t>positive correlation</a:t>
            </a:r>
            <a:r>
              <a:rPr lang="en-US" dirty="0"/>
              <a:t>.</a:t>
            </a:r>
          </a:p>
          <a:p>
            <a:pPr algn="just">
              <a:buNone/>
            </a:pPr>
            <a:endParaRPr lang="en-US" dirty="0"/>
          </a:p>
          <a:p>
            <a:pPr algn="just"/>
            <a:r>
              <a:rPr lang="en-US" dirty="0"/>
              <a:t>A </a:t>
            </a:r>
            <a:r>
              <a:rPr lang="en-US" b="1" u="sng" dirty="0">
                <a:effectLst>
                  <a:outerShdw blurRad="38100" dist="38100" dir="2700000" algn="tl">
                    <a:srgbClr val="000000">
                      <a:alpha val="43137"/>
                    </a:srgbClr>
                  </a:outerShdw>
                </a:effectLst>
              </a:rPr>
              <a:t>negative (or inverse) correlation</a:t>
            </a:r>
            <a:r>
              <a:rPr lang="en-US" dirty="0"/>
              <a:t> refers to the change in the values of variables in opposite direction.</a:t>
            </a:r>
          </a:p>
          <a:p>
            <a:pPr marL="0" indent="0">
              <a:buNone/>
            </a:pPr>
            <a:endParaRPr lang="en-US" dirty="0"/>
          </a:p>
        </p:txBody>
      </p:sp>
    </p:spTree>
    <p:extLst>
      <p:ext uri="{BB962C8B-B14F-4D97-AF65-F5344CB8AC3E}">
        <p14:creationId xmlns:p14="http://schemas.microsoft.com/office/powerpoint/2010/main" val="1316912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981200"/>
            <a:ext cx="72390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buNone/>
            </a:pPr>
            <a:r>
              <a:rPr lang="en-US" b="1" dirty="0">
                <a:solidFill>
                  <a:srgbClr val="0000FF"/>
                </a:solidFill>
              </a:rPr>
              <a:t>Linear and Non-Linear Correlation</a:t>
            </a:r>
          </a:p>
          <a:p>
            <a:pPr algn="just"/>
            <a:r>
              <a:rPr lang="en-US" sz="2800" dirty="0"/>
              <a:t>A </a:t>
            </a:r>
            <a:r>
              <a:rPr lang="en-US" sz="2800" u="sng" dirty="0">
                <a:effectLst>
                  <a:outerShdw blurRad="38100" dist="38100" dir="2700000" algn="tl">
                    <a:srgbClr val="000000">
                      <a:alpha val="43137"/>
                    </a:srgbClr>
                  </a:outerShdw>
                </a:effectLst>
              </a:rPr>
              <a:t>linear correlation implies a constant change</a:t>
            </a:r>
            <a:r>
              <a:rPr lang="en-US" sz="2800" dirty="0"/>
              <a:t> </a:t>
            </a:r>
            <a:r>
              <a:rPr lang="en-US" sz="2800" b="1" u="sng" dirty="0">
                <a:solidFill>
                  <a:srgbClr val="0000FF"/>
                </a:solidFill>
              </a:rPr>
              <a:t>in one of the variable values</a:t>
            </a:r>
            <a:r>
              <a:rPr lang="en-US" sz="2800" dirty="0"/>
              <a:t> </a:t>
            </a:r>
            <a:r>
              <a:rPr lang="en-US" sz="2800" i="1" dirty="0">
                <a:solidFill>
                  <a:srgbClr val="FF0000"/>
                </a:solidFill>
              </a:rPr>
              <a:t>with respect to </a:t>
            </a:r>
            <a:r>
              <a:rPr lang="en-US" sz="2800" dirty="0"/>
              <a:t>a change in the </a:t>
            </a:r>
            <a:r>
              <a:rPr lang="en-US" sz="2800" b="1" u="sng" dirty="0"/>
              <a:t>corresponding values of another variable</a:t>
            </a:r>
            <a:r>
              <a:rPr lang="en-US" sz="2800" dirty="0"/>
              <a:t>. </a:t>
            </a:r>
          </a:p>
          <a:p>
            <a:pPr algn="just"/>
            <a:r>
              <a:rPr lang="en-US" sz="2800" dirty="0"/>
              <a:t>In other words, a correlation is referred to as linear when variations in the </a:t>
            </a:r>
            <a:r>
              <a:rPr lang="en-US" sz="2800" u="dbl" dirty="0">
                <a:solidFill>
                  <a:srgbClr val="CC66FF"/>
                </a:solidFill>
                <a:effectLst>
                  <a:outerShdw blurRad="38100" dist="38100" dir="2700000" algn="tl">
                    <a:srgbClr val="000000">
                      <a:alpha val="43137"/>
                    </a:srgbClr>
                  </a:outerShdw>
                </a:effectLst>
                <a:uFill>
                  <a:solidFill>
                    <a:srgbClr val="FFC000"/>
                  </a:solidFill>
                </a:uFill>
              </a:rPr>
              <a:t>values of two variables</a:t>
            </a:r>
            <a:r>
              <a:rPr lang="en-US" sz="2800" dirty="0"/>
              <a:t> </a:t>
            </a:r>
            <a:r>
              <a:rPr lang="en-US" sz="2800" b="1" u="sng" dirty="0">
                <a:solidFill>
                  <a:srgbClr val="0066FF"/>
                </a:solidFill>
                <a:effectLst>
                  <a:outerShdw blurRad="38100" dist="38100" dir="2700000" algn="tl">
                    <a:srgbClr val="000000">
                      <a:alpha val="43137"/>
                    </a:srgbClr>
                  </a:outerShdw>
                </a:effectLst>
                <a:uFill>
                  <a:solidFill>
                    <a:srgbClr val="FF0000"/>
                  </a:solidFill>
                </a:uFill>
              </a:rPr>
              <a:t>have a constant ratio</a:t>
            </a:r>
            <a:r>
              <a:rPr lang="en-US" sz="2800" dirty="0">
                <a:solidFill>
                  <a:srgbClr val="0066FF"/>
                </a:solidFill>
                <a:effectLst>
                  <a:outerShdw blurRad="38100" dist="38100" dir="2700000" algn="tl">
                    <a:srgbClr val="000000">
                      <a:alpha val="43137"/>
                    </a:srgbClr>
                  </a:outerShdw>
                </a:effectLst>
                <a:uFill>
                  <a:solidFill>
                    <a:srgbClr val="FF0000"/>
                  </a:solidFill>
                </a:uFill>
              </a:rPr>
              <a:t>. </a:t>
            </a:r>
          </a:p>
          <a:p>
            <a:pPr algn="just"/>
            <a:r>
              <a:rPr lang="en-US" sz="2800" dirty="0"/>
              <a:t>The following example illustrates a linear correlation between two variables x and y.</a:t>
            </a:r>
          </a:p>
          <a:p>
            <a:endParaRPr lang="en-US" dirty="0"/>
          </a:p>
        </p:txBody>
      </p:sp>
      <p:pic>
        <p:nvPicPr>
          <p:cNvPr id="4" name="img-450_1"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4336" y="5105401"/>
            <a:ext cx="7239000" cy="914400"/>
          </a:xfrm>
          <a:prstGeom prst="rect">
            <a:avLst/>
          </a:prstGeom>
          <a:noFill/>
          <a:ln>
            <a:noFill/>
          </a:ln>
        </p:spPr>
      </p:pic>
    </p:spTree>
    <p:extLst>
      <p:ext uri="{BB962C8B-B14F-4D97-AF65-F5344CB8AC3E}">
        <p14:creationId xmlns:p14="http://schemas.microsoft.com/office/powerpoint/2010/main" val="193687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lnSpcReduction="10000"/>
          </a:bodyPr>
          <a:lstStyle/>
          <a:p>
            <a:pPr algn="just"/>
            <a:r>
              <a:rPr lang="en-US" b="1" u="sng" dirty="0">
                <a:solidFill>
                  <a:srgbClr val="0000FF"/>
                </a:solidFill>
              </a:rPr>
              <a:t> </a:t>
            </a:r>
            <a:r>
              <a:rPr lang="en-US" sz="2800" b="1" u="sng" dirty="0">
                <a:solidFill>
                  <a:srgbClr val="0000FF"/>
                </a:solidFill>
              </a:rPr>
              <a:t>A correlation is referred to as a non-linear </a:t>
            </a:r>
            <a:r>
              <a:rPr lang="en-US" sz="2800" dirty="0"/>
              <a:t>correlation when the </a:t>
            </a:r>
            <a:r>
              <a:rPr lang="en-US" sz="2800" b="1" u="sng" dirty="0">
                <a:solidFill>
                  <a:srgbClr val="FF0000"/>
                </a:solidFill>
              </a:rPr>
              <a:t>amount of change in the values of one variable</a:t>
            </a:r>
            <a:r>
              <a:rPr lang="en-US" sz="2800" dirty="0"/>
              <a:t> </a:t>
            </a:r>
            <a:r>
              <a:rPr lang="en-US" b="1" u="sng" dirty="0">
                <a:solidFill>
                  <a:srgbClr val="0000FF"/>
                </a:solidFill>
              </a:rPr>
              <a:t>does not bear a</a:t>
            </a:r>
            <a:r>
              <a:rPr lang="en-US" dirty="0">
                <a:solidFill>
                  <a:srgbClr val="0000FF"/>
                </a:solidFill>
              </a:rPr>
              <a:t> </a:t>
            </a:r>
            <a:r>
              <a:rPr lang="en-US" u="sng" dirty="0">
                <a:solidFill>
                  <a:srgbClr val="0000FF"/>
                </a:solidFill>
                <a:effectLst>
                  <a:outerShdw blurRad="38100" dist="38100" dir="2700000" algn="tl">
                    <a:srgbClr val="000000">
                      <a:alpha val="43137"/>
                    </a:srgbClr>
                  </a:outerShdw>
                </a:effectLst>
                <a:uFill>
                  <a:solidFill>
                    <a:srgbClr val="0000FF"/>
                  </a:solidFill>
                </a:uFill>
              </a:rPr>
              <a:t>constant ratio</a:t>
            </a:r>
            <a:r>
              <a:rPr lang="en-US" sz="2800" dirty="0">
                <a:solidFill>
                  <a:srgbClr val="0000FF"/>
                </a:solidFill>
              </a:rPr>
              <a:t> </a:t>
            </a:r>
            <a:r>
              <a:rPr lang="en-US" sz="2800" dirty="0"/>
              <a:t>to the amount of change in the corresponding values of another variable. </a:t>
            </a:r>
          </a:p>
          <a:p>
            <a:pPr algn="just"/>
            <a:endParaRPr lang="en-US" sz="2800" dirty="0"/>
          </a:p>
          <a:p>
            <a:pPr algn="just"/>
            <a:r>
              <a:rPr lang="en-US" sz="2800" dirty="0"/>
              <a:t>The following example illustrates a non-linear correlation between two variables x and y</a:t>
            </a:r>
            <a:r>
              <a:rPr lang="en-US" dirty="0"/>
              <a:t>.</a:t>
            </a:r>
          </a:p>
          <a:p>
            <a:pPr algn="just"/>
            <a:endParaRPr lang="en-US" dirty="0"/>
          </a:p>
          <a:p>
            <a:pPr algn="just"/>
            <a:endParaRPr lang="en-US" dirty="0"/>
          </a:p>
          <a:p>
            <a:pPr algn="just"/>
            <a:endParaRPr lang="en-US" sz="2800" dirty="0"/>
          </a:p>
          <a:p>
            <a:pPr algn="just"/>
            <a:endParaRPr lang="en-US" sz="2800" dirty="0"/>
          </a:p>
          <a:p>
            <a:pPr algn="just"/>
            <a:r>
              <a:rPr lang="en-US" sz="2800" dirty="0"/>
              <a:t>When these pair of values of </a:t>
            </a:r>
            <a:r>
              <a:rPr lang="en-US" b="1" i="1" dirty="0">
                <a:solidFill>
                  <a:srgbClr val="FF0000"/>
                </a:solidFill>
                <a:effectLst>
                  <a:outerShdw blurRad="38100" dist="38100" dir="2700000" algn="tl">
                    <a:srgbClr val="000000">
                      <a:alpha val="43137"/>
                    </a:srgbClr>
                  </a:outerShdw>
                </a:effectLst>
              </a:rPr>
              <a:t>x</a:t>
            </a:r>
            <a:r>
              <a:rPr lang="en-US" sz="2800" dirty="0"/>
              <a:t> and </a:t>
            </a:r>
            <a:r>
              <a:rPr lang="en-US" b="1" i="1" dirty="0">
                <a:solidFill>
                  <a:srgbClr val="FF0000"/>
                </a:solidFill>
                <a:effectLst>
                  <a:outerShdw blurRad="38100" dist="38100" dir="2700000" algn="tl">
                    <a:srgbClr val="000000">
                      <a:alpha val="43137"/>
                    </a:srgbClr>
                  </a:outerShdw>
                </a:effectLst>
              </a:rPr>
              <a:t>y</a:t>
            </a:r>
            <a:r>
              <a:rPr lang="en-US" sz="2800" dirty="0"/>
              <a:t> are plotted on a graph paper, the line joining these points would not be a straight line, rather </a:t>
            </a:r>
            <a:r>
              <a:rPr lang="en-US" sz="2800" b="1" u="sng" dirty="0">
                <a:solidFill>
                  <a:srgbClr val="0000FF"/>
                </a:solidFill>
                <a:effectLst>
                  <a:outerShdw blurRad="38100" dist="38100" dir="2700000" algn="tl">
                    <a:srgbClr val="000000">
                      <a:alpha val="43137"/>
                    </a:srgbClr>
                  </a:outerShdw>
                </a:effectLst>
              </a:rPr>
              <a:t>it would be </a:t>
            </a:r>
            <a:r>
              <a:rPr lang="en-US" sz="2800" b="1" u="sng" dirty="0" err="1">
                <a:solidFill>
                  <a:srgbClr val="0000FF"/>
                </a:solidFill>
                <a:effectLst>
                  <a:outerShdw blurRad="38100" dist="38100" dir="2700000" algn="tl">
                    <a:srgbClr val="000000">
                      <a:alpha val="43137"/>
                    </a:srgbClr>
                  </a:outerShdw>
                </a:effectLst>
              </a:rPr>
              <a:t>curvi</a:t>
            </a:r>
            <a:r>
              <a:rPr lang="en-US" sz="2800" b="1" u="sng" dirty="0">
                <a:solidFill>
                  <a:srgbClr val="0000FF"/>
                </a:solidFill>
                <a:effectLst>
                  <a:outerShdw blurRad="38100" dist="38100" dir="2700000" algn="tl">
                    <a:srgbClr val="000000">
                      <a:alpha val="43137"/>
                    </a:srgbClr>
                  </a:outerShdw>
                </a:effectLst>
              </a:rPr>
              <a:t>-linear</a:t>
            </a:r>
            <a:r>
              <a:rPr lang="en-US" sz="2800" dirty="0"/>
              <a:t>.</a:t>
            </a:r>
          </a:p>
          <a:p>
            <a:endParaRPr lang="en-US" dirty="0"/>
          </a:p>
        </p:txBody>
      </p:sp>
      <p:pic>
        <p:nvPicPr>
          <p:cNvPr id="4" name="img-450_2"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3505201"/>
            <a:ext cx="6858000" cy="914400"/>
          </a:xfrm>
          <a:prstGeom prst="rect">
            <a:avLst/>
          </a:prstGeom>
          <a:noFill/>
          <a:ln>
            <a:noFill/>
          </a:ln>
        </p:spPr>
      </p:pic>
    </p:spTree>
    <p:extLst>
      <p:ext uri="{BB962C8B-B14F-4D97-AF65-F5344CB8AC3E}">
        <p14:creationId xmlns:p14="http://schemas.microsoft.com/office/powerpoint/2010/main" val="2969804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1659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20000"/>
          </a:bodyPr>
          <a:lstStyle/>
          <a:p>
            <a:pPr>
              <a:buNone/>
            </a:pPr>
            <a:r>
              <a:rPr lang="en-US" sz="4300" b="1" dirty="0">
                <a:solidFill>
                  <a:srgbClr val="FF0000"/>
                </a:solidFill>
              </a:rPr>
              <a:t>Simple, Partial, and Multiple Correlation</a:t>
            </a:r>
          </a:p>
          <a:p>
            <a:pPr>
              <a:buNone/>
            </a:pPr>
            <a:endParaRPr lang="en-US" sz="4600" b="1" dirty="0">
              <a:solidFill>
                <a:srgbClr val="FF0000"/>
              </a:solidFill>
            </a:endParaRPr>
          </a:p>
          <a:p>
            <a:pPr algn="just"/>
            <a:r>
              <a:rPr lang="en-US" dirty="0"/>
              <a:t>The </a:t>
            </a:r>
            <a:r>
              <a:rPr lang="en-US" b="1" u="sng" dirty="0">
                <a:solidFill>
                  <a:srgbClr val="FF00FF"/>
                </a:solidFill>
                <a:effectLst>
                  <a:outerShdw blurRad="38100" dist="38100" dir="2700000" algn="tl">
                    <a:srgbClr val="000000">
                      <a:alpha val="43137"/>
                    </a:srgbClr>
                  </a:outerShdw>
                </a:effectLst>
              </a:rPr>
              <a:t>distinction</a:t>
            </a:r>
            <a:r>
              <a:rPr lang="en-US" dirty="0"/>
              <a:t> between simple, partial, and multiple correlation is </a:t>
            </a:r>
            <a:r>
              <a:rPr lang="en-US" u="sng" dirty="0">
                <a:effectLst>
                  <a:outerShdw blurRad="38100" dist="38100" dir="2700000" algn="tl">
                    <a:srgbClr val="000000">
                      <a:alpha val="43137"/>
                    </a:srgbClr>
                  </a:outerShdw>
                </a:effectLst>
              </a:rPr>
              <a:t>based upon the number of variables involved in the correlation analysis</a:t>
            </a:r>
            <a:r>
              <a:rPr lang="en-US" dirty="0"/>
              <a:t>.</a:t>
            </a:r>
          </a:p>
          <a:p>
            <a:pPr marL="0" indent="0" algn="just">
              <a:buNone/>
            </a:pPr>
            <a:endParaRPr lang="en-US" dirty="0"/>
          </a:p>
          <a:p>
            <a:pPr algn="just"/>
            <a:r>
              <a:rPr lang="en-US" dirty="0"/>
              <a:t> </a:t>
            </a:r>
            <a:r>
              <a:rPr lang="en-US" b="1" u="sng" dirty="0">
                <a:solidFill>
                  <a:srgbClr val="0000FF"/>
                </a:solidFill>
                <a:effectLst>
                  <a:outerShdw blurRad="38100" dist="38100" dir="2700000" algn="tl">
                    <a:srgbClr val="000000">
                      <a:alpha val="43137"/>
                    </a:srgbClr>
                  </a:outerShdw>
                </a:effectLst>
              </a:rPr>
              <a:t>simple correlation</a:t>
            </a:r>
            <a:r>
              <a:rPr lang="en-US" b="1" dirty="0">
                <a:solidFill>
                  <a:srgbClr val="0000FF"/>
                </a:solidFill>
                <a:effectLst>
                  <a:outerShdw blurRad="38100" dist="38100" dir="2700000" algn="tl">
                    <a:srgbClr val="000000">
                      <a:alpha val="43137"/>
                    </a:srgbClr>
                  </a:outerShdw>
                </a:effectLst>
              </a:rPr>
              <a:t>  </a:t>
            </a:r>
            <a:r>
              <a:rPr lang="en-US" dirty="0"/>
              <a:t>If </a:t>
            </a:r>
            <a:r>
              <a:rPr lang="en-US" i="1" u="dbl" dirty="0">
                <a:solidFill>
                  <a:srgbClr val="009900"/>
                </a:solidFill>
                <a:effectLst>
                  <a:outerShdw blurRad="38100" dist="38100" dir="2700000" algn="tl">
                    <a:srgbClr val="000000">
                      <a:alpha val="43137"/>
                    </a:srgbClr>
                  </a:outerShdw>
                </a:effectLst>
                <a:uFill>
                  <a:solidFill>
                    <a:schemeClr val="accent6">
                      <a:lumMod val="75000"/>
                    </a:schemeClr>
                  </a:solidFill>
                </a:uFill>
              </a:rPr>
              <a:t>only two variables</a:t>
            </a:r>
            <a:r>
              <a:rPr lang="en-US" u="dbl" dirty="0">
                <a:uFill>
                  <a:solidFill>
                    <a:schemeClr val="accent6">
                      <a:lumMod val="75000"/>
                    </a:schemeClr>
                  </a:solidFill>
                </a:uFill>
              </a:rPr>
              <a:t> </a:t>
            </a:r>
            <a:r>
              <a:rPr lang="en-US" dirty="0"/>
              <a:t>are chosen to study correlation between them, then such a correlation is referred to as simple correlation. </a:t>
            </a:r>
          </a:p>
          <a:p>
            <a:pPr algn="just"/>
            <a:endParaRPr lang="en-US" dirty="0"/>
          </a:p>
          <a:p>
            <a:pPr algn="just"/>
            <a:r>
              <a:rPr lang="en-US" b="1" u="sng" dirty="0">
                <a:solidFill>
                  <a:srgbClr val="FF00FF"/>
                </a:solidFill>
                <a:effectLst>
                  <a:outerShdw blurRad="38100" dist="38100" dir="2700000" algn="tl">
                    <a:srgbClr val="000000">
                      <a:alpha val="43137"/>
                    </a:srgbClr>
                  </a:outerShdw>
                </a:effectLst>
              </a:rPr>
              <a:t>EX: </a:t>
            </a:r>
            <a:r>
              <a:rPr lang="en-US" dirty="0"/>
              <a:t>A </a:t>
            </a:r>
            <a:r>
              <a:rPr lang="en-US" b="1" u="sng" dirty="0">
                <a:effectLst>
                  <a:outerShdw blurRad="38100" dist="38100" dir="2700000" algn="tl">
                    <a:srgbClr val="000000">
                      <a:alpha val="43137"/>
                    </a:srgbClr>
                  </a:outerShdw>
                </a:effectLst>
              </a:rPr>
              <a:t>study on the yield of a crop</a:t>
            </a:r>
            <a:r>
              <a:rPr lang="en-US" dirty="0"/>
              <a:t> </a:t>
            </a:r>
            <a:r>
              <a:rPr lang="en-US" sz="3500" u="sng" dirty="0">
                <a:solidFill>
                  <a:srgbClr val="CC0000"/>
                </a:solidFill>
                <a:effectLst>
                  <a:outerShdw blurRad="38100" dist="38100" dir="2700000" algn="tl">
                    <a:srgbClr val="000000">
                      <a:alpha val="43137"/>
                    </a:srgbClr>
                  </a:outerShdw>
                </a:effectLst>
              </a:rPr>
              <a:t>with respect to</a:t>
            </a:r>
            <a:r>
              <a:rPr lang="en-US" dirty="0"/>
              <a:t>     </a:t>
            </a:r>
            <a:r>
              <a:rPr lang="en-US" b="1" i="1" u="sng" dirty="0">
                <a:effectLst>
                  <a:outerShdw blurRad="38100" dist="38100" dir="2700000" algn="tl">
                    <a:srgbClr val="000000">
                      <a:alpha val="43137"/>
                    </a:srgbClr>
                  </a:outerShdw>
                </a:effectLst>
              </a:rPr>
              <a:t>only amount of fertilizer</a:t>
            </a:r>
            <a:r>
              <a:rPr lang="en-US" dirty="0"/>
              <a:t>, </a:t>
            </a:r>
          </a:p>
          <a:p>
            <a:pPr marL="0" indent="0" algn="just">
              <a:buNone/>
            </a:pPr>
            <a:endParaRPr lang="en-US" dirty="0"/>
          </a:p>
          <a:p>
            <a:pPr algn="just"/>
            <a:r>
              <a:rPr lang="en-US" b="1" u="sng" dirty="0">
                <a:solidFill>
                  <a:srgbClr val="FF00FF"/>
                </a:solidFill>
                <a:effectLst>
                  <a:outerShdw blurRad="38100" dist="38100" dir="2700000" algn="tl">
                    <a:srgbClr val="000000">
                      <a:alpha val="43137"/>
                    </a:srgbClr>
                  </a:outerShdw>
                </a:effectLst>
              </a:rPr>
              <a:t>EX: </a:t>
            </a:r>
            <a:r>
              <a:rPr lang="en-US" dirty="0"/>
              <a:t>sales revenue with respect to amount of money spent on advertisement</a:t>
            </a:r>
          </a:p>
          <a:p>
            <a:pPr algn="just"/>
            <a:endParaRPr lang="en-US" dirty="0"/>
          </a:p>
          <a:p>
            <a:endParaRPr lang="en-US" dirty="0"/>
          </a:p>
        </p:txBody>
      </p:sp>
    </p:spTree>
    <p:extLst>
      <p:ext uri="{BB962C8B-B14F-4D97-AF65-F5344CB8AC3E}">
        <p14:creationId xmlns:p14="http://schemas.microsoft.com/office/powerpoint/2010/main" val="341079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lnSpcReduction="10000"/>
          </a:bodyPr>
          <a:lstStyle/>
          <a:p>
            <a:pPr algn="just"/>
            <a:r>
              <a:rPr lang="en-US" b="1" dirty="0">
                <a:solidFill>
                  <a:srgbClr val="FF0000"/>
                </a:solidFill>
              </a:rPr>
              <a:t>In partial correlation</a:t>
            </a:r>
            <a:r>
              <a:rPr lang="en-US" dirty="0"/>
              <a:t>, </a:t>
            </a:r>
            <a:r>
              <a:rPr lang="en-US" i="1" dirty="0">
                <a:effectLst>
                  <a:outerShdw blurRad="38100" dist="38100" dir="2700000" algn="tl">
                    <a:srgbClr val="000000">
                      <a:alpha val="43137"/>
                    </a:srgbClr>
                  </a:outerShdw>
                </a:effectLst>
              </a:rPr>
              <a:t>two variables are chosen to study the correlation</a:t>
            </a:r>
            <a:r>
              <a:rPr lang="en-US" dirty="0"/>
              <a:t> - </a:t>
            </a:r>
            <a:r>
              <a:rPr lang="en-US" i="1" u="sng" dirty="0">
                <a:effectLst>
                  <a:outerShdw blurRad="38100" dist="38100" dir="2700000" algn="tl">
                    <a:srgbClr val="000000">
                      <a:alpha val="43137"/>
                    </a:srgbClr>
                  </a:outerShdw>
                </a:effectLst>
              </a:rPr>
              <a:t>between them</a:t>
            </a:r>
            <a:r>
              <a:rPr lang="en-US" dirty="0"/>
              <a:t>, </a:t>
            </a:r>
            <a:r>
              <a:rPr lang="en-US" b="1" u="sng" dirty="0">
                <a:solidFill>
                  <a:srgbClr val="CC0000"/>
                </a:solidFill>
              </a:rPr>
              <a:t>but the effect of </a:t>
            </a:r>
            <a:r>
              <a:rPr lang="en-US" b="1" u="sng" dirty="0">
                <a:solidFill>
                  <a:srgbClr val="009900"/>
                </a:solidFill>
                <a:effectLst>
                  <a:outerShdw blurRad="38100" dist="38100" dir="2700000" algn="tl">
                    <a:srgbClr val="000000">
                      <a:alpha val="43137"/>
                    </a:srgbClr>
                  </a:outerShdw>
                </a:effectLst>
              </a:rPr>
              <a:t>other influencing variables </a:t>
            </a:r>
            <a:r>
              <a:rPr lang="en-US" b="1" u="sng" dirty="0">
                <a:solidFill>
                  <a:srgbClr val="CC0000"/>
                </a:solidFill>
              </a:rPr>
              <a:t>is </a:t>
            </a:r>
            <a:r>
              <a:rPr lang="en-US" b="1" u="sng" dirty="0">
                <a:solidFill>
                  <a:srgbClr val="009900"/>
                </a:solidFill>
                <a:effectLst>
                  <a:outerShdw blurRad="38100" dist="38100" dir="2700000" algn="tl">
                    <a:srgbClr val="000000">
                      <a:alpha val="43137"/>
                    </a:srgbClr>
                  </a:outerShdw>
                </a:effectLst>
              </a:rPr>
              <a:t>kept constant</a:t>
            </a:r>
            <a:r>
              <a:rPr lang="en-US" dirty="0"/>
              <a:t>. </a:t>
            </a:r>
          </a:p>
          <a:p>
            <a:pPr algn="just"/>
            <a:endParaRPr lang="en-US" dirty="0"/>
          </a:p>
          <a:p>
            <a:pPr algn="just"/>
            <a:r>
              <a:rPr lang="en-US" b="1" u="sng" dirty="0"/>
              <a:t>For example </a:t>
            </a:r>
          </a:p>
          <a:p>
            <a:pPr marL="0" indent="0" algn="just">
              <a:buNone/>
            </a:pPr>
            <a:r>
              <a:rPr lang="en-US" dirty="0"/>
              <a:t>yield of a crop is influenced by the amount of fertilizer applied, rainfall, quality of seed, type of soil, and pesticides, </a:t>
            </a:r>
          </a:p>
          <a:p>
            <a:pPr marL="0" indent="0" algn="just">
              <a:buNone/>
            </a:pPr>
            <a:endParaRPr lang="en-US" dirty="0"/>
          </a:p>
          <a:p>
            <a:pPr marL="0" indent="0" algn="just">
              <a:buNone/>
            </a:pPr>
            <a:r>
              <a:rPr lang="en-US" dirty="0"/>
              <a:t>In such cases an attempt to measure the correlation between yield and seed quality, </a:t>
            </a:r>
            <a:r>
              <a:rPr lang="en-US" i="1" dirty="0">
                <a:effectLst>
                  <a:outerShdw blurRad="38100" dist="38100" dir="2700000" algn="tl">
                    <a:srgbClr val="000000">
                      <a:alpha val="43137"/>
                    </a:srgbClr>
                  </a:outerShdw>
                </a:effectLst>
              </a:rPr>
              <a:t>assuming that the average values of other factors exist</a:t>
            </a:r>
            <a:r>
              <a:rPr lang="en-US" dirty="0"/>
              <a:t>, becomes a problem of partial correlation.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4525963"/>
          </a:xfrm>
        </p:spPr>
        <p:txBody>
          <a:bodyPr>
            <a:normAutofit fontScale="92500" lnSpcReduction="10000"/>
          </a:bodyPr>
          <a:lstStyle/>
          <a:p>
            <a:pPr algn="just"/>
            <a:r>
              <a:rPr lang="en-US" sz="3600" b="1" dirty="0">
                <a:solidFill>
                  <a:srgbClr val="FF0000"/>
                </a:solidFill>
              </a:rPr>
              <a:t>In multiple correlation</a:t>
            </a:r>
            <a:r>
              <a:rPr lang="en-US" dirty="0"/>
              <a:t>, the relationship between </a:t>
            </a:r>
            <a:r>
              <a:rPr lang="en-US" b="1" u="sng" dirty="0">
                <a:solidFill>
                  <a:srgbClr val="FF00FF"/>
                </a:solidFill>
                <a:effectLst>
                  <a:outerShdw blurRad="38100" dist="38100" dir="2700000" algn="tl">
                    <a:srgbClr val="000000">
                      <a:alpha val="43137"/>
                    </a:srgbClr>
                  </a:outerShdw>
                </a:effectLst>
              </a:rPr>
              <a:t>more than three variables</a:t>
            </a:r>
            <a:r>
              <a:rPr lang="en-US" dirty="0">
                <a:solidFill>
                  <a:srgbClr val="FF00FF"/>
                </a:solidFill>
              </a:rPr>
              <a:t> is considered simultaneously for study.</a:t>
            </a:r>
            <a:r>
              <a:rPr lang="en-US" dirty="0"/>
              <a:t> </a:t>
            </a:r>
          </a:p>
          <a:p>
            <a:pPr algn="just"/>
            <a:endParaRPr lang="en-US" dirty="0"/>
          </a:p>
          <a:p>
            <a:pPr algn="just"/>
            <a:r>
              <a:rPr lang="en-US" b="1" dirty="0">
                <a:solidFill>
                  <a:srgbClr val="0000FF"/>
                </a:solidFill>
              </a:rPr>
              <a:t>For example</a:t>
            </a:r>
            <a:r>
              <a:rPr lang="en-US" dirty="0"/>
              <a:t>, employer-employee relationship in any organization may be examined with reference to, </a:t>
            </a:r>
            <a:r>
              <a:rPr lang="en-US" b="1" dirty="0"/>
              <a:t>training and development facilities</a:t>
            </a:r>
            <a:r>
              <a:rPr lang="en-US" dirty="0"/>
              <a:t>; </a:t>
            </a:r>
            <a:r>
              <a:rPr lang="en-US" b="1" dirty="0">
                <a:solidFill>
                  <a:srgbClr val="CC0000"/>
                </a:solidFill>
              </a:rPr>
              <a:t>medical</a:t>
            </a:r>
            <a:r>
              <a:rPr lang="en-US" dirty="0"/>
              <a:t>, </a:t>
            </a:r>
            <a:r>
              <a:rPr lang="en-US" b="1" dirty="0">
                <a:solidFill>
                  <a:srgbClr val="0070C0"/>
                </a:solidFill>
                <a:effectLst>
                  <a:outerShdw blurRad="38100" dist="38100" dir="2700000" algn="tl">
                    <a:srgbClr val="000000">
                      <a:alpha val="43137"/>
                    </a:srgbClr>
                  </a:outerShdw>
                </a:effectLst>
              </a:rPr>
              <a:t>housing</a:t>
            </a:r>
            <a:r>
              <a:rPr lang="en-US" dirty="0"/>
              <a:t>, and </a:t>
            </a:r>
            <a:r>
              <a:rPr lang="en-US" b="1" dirty="0">
                <a:solidFill>
                  <a:srgbClr val="7030A0"/>
                </a:solidFill>
              </a:rPr>
              <a:t>education to children</a:t>
            </a:r>
            <a:r>
              <a:rPr lang="en-US" dirty="0"/>
              <a:t> facilities; </a:t>
            </a:r>
            <a:r>
              <a:rPr lang="en-US" b="1" dirty="0">
                <a:solidFill>
                  <a:schemeClr val="accent6">
                    <a:lumMod val="75000"/>
                  </a:schemeClr>
                </a:solidFill>
                <a:effectLst>
                  <a:outerShdw blurRad="38100" dist="38100" dir="2700000" algn="tl">
                    <a:srgbClr val="000000">
                      <a:alpha val="43137"/>
                    </a:srgbClr>
                  </a:outerShdw>
                </a:effectLst>
              </a:rPr>
              <a:t>salary structure</a:t>
            </a:r>
            <a:r>
              <a:rPr lang="en-US" dirty="0"/>
              <a:t>; </a:t>
            </a:r>
            <a:r>
              <a:rPr lang="en-US" dirty="0">
                <a:solidFill>
                  <a:srgbClr val="FF00FF"/>
                </a:solidFill>
                <a:effectLst>
                  <a:outerShdw blurRad="38100" dist="38100" dir="2700000" algn="tl">
                    <a:srgbClr val="000000">
                      <a:alpha val="43137"/>
                    </a:srgbClr>
                  </a:outerShdw>
                </a:effectLst>
              </a:rPr>
              <a:t>grievances handling system</a:t>
            </a:r>
            <a:r>
              <a:rPr lang="en-US" dirty="0"/>
              <a:t>; and so on.</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10000"/>
          </a:bodyPr>
          <a:lstStyle/>
          <a:p>
            <a:pPr algn="just">
              <a:buNone/>
            </a:pPr>
            <a:r>
              <a:rPr lang="en-US" b="1" dirty="0">
                <a:solidFill>
                  <a:srgbClr val="FF0000"/>
                </a:solidFill>
                <a:effectLst>
                  <a:outerShdw blurRad="38100" dist="38100" dir="2700000" algn="tl">
                    <a:srgbClr val="000000">
                      <a:alpha val="43137"/>
                    </a:srgbClr>
                  </a:outerShdw>
                </a:effectLst>
              </a:rPr>
              <a:t>METHODS OF CORRELATION ANALYSIS</a:t>
            </a:r>
          </a:p>
          <a:p>
            <a:pPr algn="just"/>
            <a:r>
              <a:rPr lang="en-US" dirty="0"/>
              <a:t>The correlation between two </a:t>
            </a:r>
            <a:r>
              <a:rPr lang="en-US" b="1" u="sng" dirty="0"/>
              <a:t>ratio-scaled</a:t>
            </a:r>
            <a:r>
              <a:rPr lang="en-US" dirty="0"/>
              <a:t> (numeric) variables is represented by the letter </a:t>
            </a:r>
            <a:r>
              <a:rPr lang="en-US" sz="3900" dirty="0">
                <a:solidFill>
                  <a:srgbClr val="FF00FF"/>
                </a:solidFill>
              </a:rPr>
              <a:t>‘</a:t>
            </a:r>
            <a:r>
              <a:rPr lang="en-US" sz="4300" dirty="0">
                <a:solidFill>
                  <a:srgbClr val="FF00FF"/>
                </a:solidFill>
              </a:rPr>
              <a:t>r’</a:t>
            </a:r>
            <a:r>
              <a:rPr lang="en-US" dirty="0"/>
              <a:t> which takes on values between </a:t>
            </a:r>
            <a:r>
              <a:rPr lang="en-US" b="1" u="sng" dirty="0">
                <a:solidFill>
                  <a:srgbClr val="FF00FF"/>
                </a:solidFill>
              </a:rPr>
              <a:t>–1 and +1 only</a:t>
            </a:r>
            <a:r>
              <a:rPr lang="en-US" dirty="0"/>
              <a:t>. Sometimes this measure is called the </a:t>
            </a:r>
            <a:r>
              <a:rPr lang="en-US" u="sng" dirty="0">
                <a:solidFill>
                  <a:srgbClr val="009900"/>
                </a:solidFill>
                <a:effectLst>
                  <a:outerShdw blurRad="38100" dist="38100" dir="2700000" algn="tl">
                    <a:srgbClr val="000000">
                      <a:alpha val="43137"/>
                    </a:srgbClr>
                  </a:outerShdw>
                </a:effectLst>
              </a:rPr>
              <a:t>‘Pearson product moment correction’</a:t>
            </a:r>
            <a:r>
              <a:rPr lang="en-US" dirty="0"/>
              <a:t> or the </a:t>
            </a:r>
            <a:r>
              <a:rPr lang="en-US" b="1" dirty="0">
                <a:effectLst>
                  <a:outerShdw blurRad="38100" dist="38100" dir="2700000" algn="tl">
                    <a:srgbClr val="000000">
                      <a:alpha val="43137"/>
                    </a:srgbClr>
                  </a:outerShdw>
                </a:effectLst>
              </a:rPr>
              <a:t>correlation coefficient</a:t>
            </a:r>
            <a:r>
              <a:rPr lang="en-US" dirty="0"/>
              <a:t>. </a:t>
            </a:r>
          </a:p>
          <a:p>
            <a:pPr algn="just"/>
            <a:endParaRPr lang="en-US" dirty="0"/>
          </a:p>
          <a:p>
            <a:pPr algn="just"/>
            <a:r>
              <a:rPr lang="en-US" dirty="0"/>
              <a:t>the following methods of finding the correlation coefficient between two variables </a:t>
            </a:r>
            <a:r>
              <a:rPr lang="en-US" sz="3500" b="1" i="1" dirty="0">
                <a:solidFill>
                  <a:srgbClr val="0000FF"/>
                </a:solidFill>
                <a:effectLst>
                  <a:outerShdw blurRad="38100" dist="38100" dir="2700000" algn="tl">
                    <a:srgbClr val="000000">
                      <a:alpha val="43137"/>
                    </a:srgbClr>
                  </a:outerShdw>
                </a:effectLst>
              </a:rPr>
              <a:t>x</a:t>
            </a:r>
            <a:r>
              <a:rPr lang="en-US" dirty="0"/>
              <a:t> and </a:t>
            </a:r>
            <a:r>
              <a:rPr lang="en-US" b="1" i="1" dirty="0">
                <a:solidFill>
                  <a:srgbClr val="CC0000"/>
                </a:solidFill>
                <a:effectLst>
                  <a:outerShdw blurRad="38100" dist="38100" dir="2700000" algn="tl">
                    <a:srgbClr val="000000">
                      <a:alpha val="43137"/>
                    </a:srgbClr>
                  </a:outerShdw>
                </a:effectLst>
              </a:rPr>
              <a:t>y</a:t>
            </a:r>
            <a:r>
              <a:rPr lang="en-US" dirty="0"/>
              <a:t> are discussed:</a:t>
            </a:r>
          </a:p>
          <a:p>
            <a:pPr algn="just"/>
            <a:endParaRPr lang="en-US" dirty="0"/>
          </a:p>
          <a:p>
            <a:pPr lvl="0" algn="just"/>
            <a:r>
              <a:rPr lang="en-US" b="1" dirty="0">
                <a:solidFill>
                  <a:srgbClr val="0000FF"/>
                </a:solidFill>
              </a:rPr>
              <a:t>Scatter Diagram method</a:t>
            </a:r>
          </a:p>
          <a:p>
            <a:pPr lvl="0" algn="just"/>
            <a:r>
              <a:rPr lang="en-US" b="1" dirty="0">
                <a:solidFill>
                  <a:srgbClr val="0000FF"/>
                </a:solidFill>
              </a:rPr>
              <a:t>Karl Pearson's Coefficient of Correlation method</a:t>
            </a:r>
          </a:p>
          <a:p>
            <a:pPr lvl="0" algn="just"/>
            <a:r>
              <a:rPr lang="en-US" b="1" dirty="0">
                <a:solidFill>
                  <a:srgbClr val="0000FF"/>
                </a:solidFill>
              </a:rPr>
              <a:t>Spearman's Rank Correlation method</a:t>
            </a:r>
          </a:p>
          <a:p>
            <a:endParaRPr lang="en-US" dirty="0"/>
          </a:p>
        </p:txBody>
      </p:sp>
    </p:spTree>
    <p:extLst>
      <p:ext uri="{BB962C8B-B14F-4D97-AF65-F5344CB8AC3E}">
        <p14:creationId xmlns:p14="http://schemas.microsoft.com/office/powerpoint/2010/main" val="6016681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20000"/>
          </a:bodyPr>
          <a:lstStyle/>
          <a:p>
            <a:pPr>
              <a:buNone/>
            </a:pPr>
            <a:r>
              <a:rPr lang="en-US" sz="3600" b="1" dirty="0">
                <a:solidFill>
                  <a:srgbClr val="FF0000"/>
                </a:solidFill>
              </a:rPr>
              <a:t>SCATTER DIAGRAM METHOD</a:t>
            </a:r>
          </a:p>
          <a:p>
            <a:pPr algn="just"/>
            <a:r>
              <a:rPr lang="en-US" dirty="0"/>
              <a:t>The scatter diagram method is a </a:t>
            </a:r>
            <a:r>
              <a:rPr lang="en-US" u="sng" dirty="0">
                <a:effectLst>
                  <a:outerShdw blurRad="38100" dist="38100" dir="2700000" algn="tl">
                    <a:srgbClr val="000000">
                      <a:alpha val="43137"/>
                    </a:srgbClr>
                  </a:outerShdw>
                </a:effectLst>
              </a:rPr>
              <a:t>quick at-a-glance method</a:t>
            </a:r>
            <a:r>
              <a:rPr lang="en-US" dirty="0"/>
              <a:t> of determining of an </a:t>
            </a:r>
            <a:r>
              <a:rPr lang="en-US" b="1" dirty="0">
                <a:solidFill>
                  <a:srgbClr val="0000FF"/>
                </a:solidFill>
                <a:effectLst>
                  <a:outerShdw blurRad="38100" dist="38100" dir="2700000" algn="tl">
                    <a:srgbClr val="000000">
                      <a:alpha val="43137"/>
                    </a:srgbClr>
                  </a:outerShdw>
                </a:effectLst>
              </a:rPr>
              <a:t>apparent</a:t>
            </a:r>
            <a:r>
              <a:rPr lang="en-US" dirty="0"/>
              <a:t> relationship </a:t>
            </a:r>
            <a:r>
              <a:rPr lang="en-US" b="1" u="sng" dirty="0">
                <a:solidFill>
                  <a:srgbClr val="FF00FF"/>
                </a:solidFill>
                <a:effectLst>
                  <a:outerShdw blurRad="38100" dist="38100" dir="2700000" algn="tl">
                    <a:srgbClr val="000000">
                      <a:alpha val="43137"/>
                    </a:srgbClr>
                  </a:outerShdw>
                </a:effectLst>
              </a:rPr>
              <a:t>between two variables</a:t>
            </a:r>
            <a:r>
              <a:rPr lang="en-US" dirty="0"/>
              <a:t>, if any. </a:t>
            </a:r>
          </a:p>
          <a:p>
            <a:pPr marL="0" indent="0" algn="just">
              <a:buNone/>
            </a:pPr>
            <a:endParaRPr lang="en-US" b="1" dirty="0">
              <a:solidFill>
                <a:srgbClr val="0000FF"/>
              </a:solidFill>
              <a:effectLst>
                <a:outerShdw blurRad="38100" dist="38100" dir="2700000" algn="tl">
                  <a:srgbClr val="000000">
                    <a:alpha val="43137"/>
                  </a:srgbClr>
                </a:outerShdw>
              </a:effectLst>
            </a:endParaRPr>
          </a:p>
          <a:p>
            <a:pPr algn="just"/>
            <a:r>
              <a:rPr lang="en-US" b="1" dirty="0">
                <a:solidFill>
                  <a:srgbClr val="0000FF"/>
                </a:solidFill>
                <a:effectLst>
                  <a:outerShdw blurRad="38100" dist="38100" dir="2700000" algn="tl">
                    <a:srgbClr val="000000">
                      <a:alpha val="43137"/>
                    </a:srgbClr>
                  </a:outerShdw>
                </a:effectLst>
              </a:rPr>
              <a:t>Apparent = Not certain whether it is true </a:t>
            </a:r>
            <a:endParaRPr lang="en-US" dirty="0"/>
          </a:p>
          <a:p>
            <a:pPr algn="just"/>
            <a:endParaRPr lang="en-US" dirty="0"/>
          </a:p>
          <a:p>
            <a:pPr algn="just"/>
            <a:r>
              <a:rPr lang="en-US" dirty="0"/>
              <a:t>A scatter diagram (or a graph) can be </a:t>
            </a:r>
            <a:r>
              <a:rPr lang="en-US" b="1" u="sng" dirty="0"/>
              <a:t>obtained on a graph paper</a:t>
            </a:r>
            <a:r>
              <a:rPr lang="en-US" dirty="0"/>
              <a:t> </a:t>
            </a:r>
          </a:p>
          <a:p>
            <a:pPr algn="just"/>
            <a:endParaRPr lang="en-US" dirty="0"/>
          </a:p>
          <a:p>
            <a:pPr algn="just"/>
            <a:r>
              <a:rPr lang="en-US" dirty="0"/>
              <a:t>Plotting </a:t>
            </a:r>
            <a:r>
              <a:rPr lang="en-US" i="1" u="dbl" dirty="0">
                <a:solidFill>
                  <a:srgbClr val="0066FF"/>
                </a:solidFill>
                <a:effectLst>
                  <a:outerShdw blurRad="38100" dist="38100" dir="2700000" algn="tl">
                    <a:srgbClr val="000000">
                      <a:alpha val="43137"/>
                    </a:srgbClr>
                  </a:outerShdw>
                </a:effectLst>
                <a:uFill>
                  <a:solidFill>
                    <a:srgbClr val="FFFF00"/>
                  </a:solidFill>
                </a:uFill>
              </a:rPr>
              <a:t>observed (or known) pairs of values</a:t>
            </a:r>
            <a:r>
              <a:rPr lang="en-US" dirty="0"/>
              <a:t> of variables </a:t>
            </a:r>
            <a:r>
              <a:rPr lang="en-US" sz="3500" b="1" i="1" dirty="0">
                <a:solidFill>
                  <a:srgbClr val="0000FF"/>
                </a:solidFill>
                <a:effectLst>
                  <a:outerShdw blurRad="38100" dist="38100" dir="2700000" algn="tl">
                    <a:srgbClr val="000000">
                      <a:alpha val="43137"/>
                    </a:srgbClr>
                  </a:outerShdw>
                </a:effectLst>
              </a:rPr>
              <a:t>x</a:t>
            </a:r>
            <a:r>
              <a:rPr lang="en-US" dirty="0"/>
              <a:t> and </a:t>
            </a:r>
            <a:r>
              <a:rPr lang="en-US" b="1" i="1" dirty="0">
                <a:solidFill>
                  <a:srgbClr val="CC0000"/>
                </a:solidFill>
                <a:effectLst>
                  <a:outerShdw blurRad="38100" dist="38100" dir="2700000" algn="tl">
                    <a:srgbClr val="000000">
                      <a:alpha val="43137"/>
                    </a:srgbClr>
                  </a:outerShdw>
                </a:effectLst>
              </a:rPr>
              <a:t>y </a:t>
            </a:r>
            <a:r>
              <a:rPr lang="en-US" dirty="0"/>
              <a:t>scaled in units corresponding to the variables </a:t>
            </a:r>
            <a:r>
              <a:rPr lang="en-US" sz="3500" b="1" i="1" dirty="0">
                <a:solidFill>
                  <a:srgbClr val="0000FF"/>
                </a:solidFill>
                <a:effectLst>
                  <a:outerShdw blurRad="38100" dist="38100" dir="2700000" algn="tl">
                    <a:srgbClr val="000000">
                      <a:alpha val="43137"/>
                    </a:srgbClr>
                  </a:outerShdw>
                </a:effectLst>
              </a:rPr>
              <a:t>x</a:t>
            </a:r>
            <a:r>
              <a:rPr lang="en-US" dirty="0"/>
              <a:t> and </a:t>
            </a:r>
            <a:r>
              <a:rPr lang="en-US" b="1" i="1" dirty="0">
                <a:solidFill>
                  <a:srgbClr val="CC0000"/>
                </a:solidFill>
                <a:effectLst>
                  <a:outerShdw blurRad="38100" dist="38100" dir="2700000" algn="tl">
                    <a:srgbClr val="000000">
                      <a:alpha val="43137"/>
                    </a:srgbClr>
                  </a:outerShdw>
                </a:effectLst>
              </a:rPr>
              <a:t>y</a:t>
            </a:r>
            <a:endParaRPr lang="en-US" dirty="0"/>
          </a:p>
          <a:p>
            <a:pPr marL="0" indent="0" algn="just">
              <a:buNone/>
            </a:pPr>
            <a:endParaRPr lang="en-US" dirty="0"/>
          </a:p>
          <a:p>
            <a:pPr algn="just"/>
            <a:r>
              <a:rPr lang="en-US" dirty="0"/>
              <a:t>taking the </a:t>
            </a:r>
            <a:r>
              <a:rPr lang="en-US" b="1" u="sng" dirty="0">
                <a:solidFill>
                  <a:srgbClr val="0000FF"/>
                </a:solidFill>
                <a:effectLst>
                  <a:outerShdw blurRad="38100" dist="38100" dir="2700000" algn="tl">
                    <a:srgbClr val="000000">
                      <a:alpha val="43137"/>
                    </a:srgbClr>
                  </a:outerShdw>
                </a:effectLst>
              </a:rPr>
              <a:t>independent variable</a:t>
            </a:r>
            <a:r>
              <a:rPr lang="en-US" u="sng" dirty="0">
                <a:solidFill>
                  <a:srgbClr val="0000FF"/>
                </a:solidFill>
                <a:effectLst>
                  <a:outerShdw blurRad="38100" dist="38100" dir="2700000" algn="tl">
                    <a:srgbClr val="000000">
                      <a:alpha val="43137"/>
                    </a:srgbClr>
                  </a:outerShdw>
                </a:effectLst>
              </a:rPr>
              <a:t> values on the </a:t>
            </a:r>
            <a:r>
              <a:rPr lang="en-US" b="1" u="sng" dirty="0">
                <a:solidFill>
                  <a:srgbClr val="FF00FF"/>
                </a:solidFill>
                <a:effectLst>
                  <a:outerShdw blurRad="38100" dist="38100" dir="2700000" algn="tl">
                    <a:srgbClr val="000000">
                      <a:alpha val="43137"/>
                    </a:srgbClr>
                  </a:outerShdw>
                </a:effectLst>
              </a:rPr>
              <a:t>x-axis</a:t>
            </a:r>
            <a:r>
              <a:rPr lang="en-US" u="sng" dirty="0">
                <a:solidFill>
                  <a:srgbClr val="0000FF"/>
                </a:solidFill>
                <a:effectLst>
                  <a:outerShdw blurRad="38100" dist="38100" dir="2700000" algn="tl">
                    <a:srgbClr val="000000">
                      <a:alpha val="43137"/>
                    </a:srgbClr>
                  </a:outerShdw>
                </a:effectLst>
              </a:rPr>
              <a:t> </a:t>
            </a:r>
            <a:r>
              <a:rPr lang="en-US" dirty="0"/>
              <a:t>and the </a:t>
            </a:r>
            <a:r>
              <a:rPr lang="en-US" b="1" u="sng" dirty="0">
                <a:solidFill>
                  <a:schemeClr val="accent4">
                    <a:lumMod val="75000"/>
                  </a:schemeClr>
                </a:solidFill>
                <a:effectLst>
                  <a:outerShdw blurRad="38100" dist="38100" dir="2700000" algn="tl">
                    <a:srgbClr val="000000">
                      <a:alpha val="43137"/>
                    </a:srgbClr>
                  </a:outerShdw>
                </a:effectLst>
              </a:rPr>
              <a:t>dependent variable</a:t>
            </a:r>
            <a:r>
              <a:rPr lang="en-US" u="sng" dirty="0">
                <a:solidFill>
                  <a:srgbClr val="FF0000"/>
                </a:solidFill>
                <a:effectLst>
                  <a:outerShdw blurRad="38100" dist="38100" dir="2700000" algn="tl">
                    <a:srgbClr val="000000">
                      <a:alpha val="43137"/>
                    </a:srgbClr>
                  </a:outerShdw>
                </a:effectLst>
              </a:rPr>
              <a:t> values on the </a:t>
            </a:r>
            <a:r>
              <a:rPr lang="en-US" u="sng" dirty="0">
                <a:solidFill>
                  <a:srgbClr val="FF00FF"/>
                </a:solidFill>
                <a:effectLst>
                  <a:outerShdw blurRad="38100" dist="38100" dir="2700000" algn="tl">
                    <a:srgbClr val="000000">
                      <a:alpha val="43137"/>
                    </a:srgbClr>
                  </a:outerShdw>
                </a:effectLst>
              </a:rPr>
              <a:t>y-axis</a:t>
            </a:r>
            <a:r>
              <a:rPr lang="en-US" dirty="0"/>
              <a:t>.</a:t>
            </a:r>
          </a:p>
          <a:p>
            <a:endParaRPr lang="en-US" dirty="0"/>
          </a:p>
        </p:txBody>
      </p:sp>
    </p:spTree>
    <p:extLst>
      <p:ext uri="{BB962C8B-B14F-4D97-AF65-F5344CB8AC3E}">
        <p14:creationId xmlns:p14="http://schemas.microsoft.com/office/powerpoint/2010/main" val="2943659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gn="just"/>
            <a:r>
              <a:rPr lang="en-US" dirty="0">
                <a:effectLst>
                  <a:outerShdw blurRad="38100" dist="38100" dir="2700000" algn="tl">
                    <a:srgbClr val="000000">
                      <a:alpha val="43137"/>
                    </a:srgbClr>
                  </a:outerShdw>
                </a:effectLst>
              </a:rPr>
              <a:t>to indicate a visual display of the pattern of their relationship.</a:t>
            </a:r>
          </a:p>
          <a:p>
            <a:pPr algn="just"/>
            <a:endParaRPr lang="en-US" dirty="0"/>
          </a:p>
          <a:p>
            <a:pPr algn="just"/>
            <a:r>
              <a:rPr lang="en-US" dirty="0"/>
              <a:t>try to draw a straight line through data points so that an </a:t>
            </a:r>
            <a:r>
              <a:rPr lang="en-US" u="sng" dirty="0">
                <a:solidFill>
                  <a:srgbClr val="0000FF"/>
                </a:solidFill>
                <a:effectLst>
                  <a:outerShdw blurRad="38100" dist="38100" dir="2700000" algn="tl">
                    <a:srgbClr val="000000">
                      <a:alpha val="43137"/>
                    </a:srgbClr>
                  </a:outerShdw>
                </a:effectLst>
              </a:rPr>
              <a:t>equal number of points</a:t>
            </a:r>
            <a:r>
              <a:rPr lang="en-US" dirty="0">
                <a:solidFill>
                  <a:srgbClr val="0000FF"/>
                </a:solidFill>
                <a:effectLst>
                  <a:outerShdw blurRad="38100" dist="38100" dir="2700000" algn="tl">
                    <a:srgbClr val="000000">
                      <a:alpha val="43137"/>
                    </a:srgbClr>
                  </a:outerShdw>
                </a:effectLst>
              </a:rPr>
              <a:t> </a:t>
            </a:r>
            <a:r>
              <a:rPr lang="en-US" dirty="0">
                <a:solidFill>
                  <a:srgbClr val="FF0000"/>
                </a:solidFill>
                <a:effectLst>
                  <a:outerShdw blurRad="38100" dist="38100" dir="2700000" algn="tl">
                    <a:srgbClr val="000000">
                      <a:alpha val="43137"/>
                    </a:srgbClr>
                  </a:outerShdw>
                </a:effectLst>
              </a:rPr>
              <a:t>lie on either side of the line. </a:t>
            </a:r>
          </a:p>
          <a:p>
            <a:pPr algn="just"/>
            <a:endParaRPr lang="en-US" dirty="0"/>
          </a:p>
          <a:p>
            <a:pPr algn="just"/>
            <a:r>
              <a:rPr lang="en-US" dirty="0"/>
              <a:t>The </a:t>
            </a:r>
            <a:r>
              <a:rPr lang="en-US" b="1" dirty="0"/>
              <a:t>relationship between two variables </a:t>
            </a:r>
            <a:r>
              <a:rPr lang="en-US" sz="3500" b="1" i="1" dirty="0">
                <a:solidFill>
                  <a:srgbClr val="0000FF"/>
                </a:solidFill>
                <a:effectLst>
                  <a:outerShdw blurRad="38100" dist="38100" dir="2700000" algn="tl">
                    <a:srgbClr val="000000">
                      <a:alpha val="43137"/>
                    </a:srgbClr>
                  </a:outerShdw>
                </a:effectLst>
              </a:rPr>
              <a:t>x</a:t>
            </a:r>
            <a:r>
              <a:rPr lang="en-US" dirty="0"/>
              <a:t> and </a:t>
            </a:r>
            <a:r>
              <a:rPr lang="en-US" b="1" i="1" dirty="0">
                <a:solidFill>
                  <a:srgbClr val="CC0000"/>
                </a:solidFill>
                <a:effectLst>
                  <a:outerShdw blurRad="38100" dist="38100" dir="2700000" algn="tl">
                    <a:srgbClr val="000000">
                      <a:alpha val="43137"/>
                    </a:srgbClr>
                  </a:outerShdw>
                </a:effectLst>
              </a:rPr>
              <a:t>y </a:t>
            </a:r>
            <a:r>
              <a:rPr lang="en-US" dirty="0"/>
              <a:t>described by the data points is </a:t>
            </a:r>
            <a:r>
              <a:rPr lang="en-US" b="1" u="sng" dirty="0"/>
              <a:t>defined by this straight line.</a:t>
            </a:r>
          </a:p>
          <a:p>
            <a:pPr marL="0" indent="0" algn="just">
              <a:buNone/>
            </a:pPr>
            <a:endParaRPr lang="en-US" dirty="0"/>
          </a:p>
        </p:txBody>
      </p:sp>
    </p:spTree>
    <p:extLst>
      <p:ext uri="{BB962C8B-B14F-4D97-AF65-F5344CB8AC3E}">
        <p14:creationId xmlns:p14="http://schemas.microsoft.com/office/powerpoint/2010/main" val="1817855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marL="0" indent="0">
              <a:buNone/>
            </a:pPr>
            <a:r>
              <a:rPr lang="en-US" sz="2400" b="1" dirty="0">
                <a:solidFill>
                  <a:srgbClr val="0000FF"/>
                </a:solidFill>
                <a:effectLst>
                  <a:outerShdw blurRad="38100" dist="38100" dir="2700000" algn="tl">
                    <a:srgbClr val="000000">
                      <a:alpha val="43137"/>
                    </a:srgbClr>
                  </a:outerShdw>
                </a:effectLst>
              </a:rPr>
              <a:t>Example Scatter: Given the following data:</a:t>
            </a:r>
          </a:p>
          <a:p>
            <a:pPr marL="0" indent="0">
              <a:buNone/>
            </a:pPr>
            <a:endParaRPr lang="en-US" sz="2400" b="1" dirty="0">
              <a:solidFill>
                <a:srgbClr val="0000FF"/>
              </a:solidFill>
              <a:effectLst>
                <a:outerShdw blurRad="38100" dist="38100" dir="2700000" algn="tl">
                  <a:srgbClr val="000000">
                    <a:alpha val="43137"/>
                  </a:srgbClr>
                </a:outerShdw>
              </a:effectLst>
            </a:endParaRPr>
          </a:p>
          <a:p>
            <a:pPr lvl="0"/>
            <a:endParaRPr lang="en-US" sz="2000" dirty="0"/>
          </a:p>
          <a:p>
            <a:pPr lvl="0"/>
            <a:endParaRPr lang="en-US" sz="2000" dirty="0"/>
          </a:p>
          <a:p>
            <a:pPr lvl="0"/>
            <a:endParaRPr lang="en-US" sz="2000" dirty="0"/>
          </a:p>
          <a:p>
            <a:pPr lvl="0"/>
            <a:endParaRPr lang="en-US" sz="2000" dirty="0"/>
          </a:p>
          <a:p>
            <a:pPr lvl="0"/>
            <a:endParaRPr lang="en-US" sz="2000" dirty="0"/>
          </a:p>
          <a:p>
            <a:pPr lvl="0"/>
            <a:endParaRPr lang="en-US" sz="2000" dirty="0"/>
          </a:p>
          <a:p>
            <a:pPr lvl="0"/>
            <a:r>
              <a:rPr lang="en-US" dirty="0"/>
              <a:t>Draw this data on a graph paper.</a:t>
            </a:r>
          </a:p>
          <a:p>
            <a:pPr lvl="0"/>
            <a:r>
              <a:rPr lang="en-US" dirty="0"/>
              <a:t>Grade Points depends upon Aptitude therefore </a:t>
            </a:r>
          </a:p>
          <a:p>
            <a:pPr lvl="0"/>
            <a:r>
              <a:rPr lang="en-US" dirty="0"/>
              <a:t>Aptitude is Independent Variable</a:t>
            </a:r>
          </a:p>
          <a:p>
            <a:pPr lvl="0"/>
            <a:r>
              <a:rPr lang="en-US" dirty="0"/>
              <a:t>Grade Points are dependent variable</a:t>
            </a:r>
          </a:p>
          <a:p>
            <a:pPr lvl="0"/>
            <a:endParaRPr lang="en-US" dirty="0"/>
          </a:p>
          <a:p>
            <a:pPr algn="just"/>
            <a:endParaRPr lang="en-US" sz="2000" b="1" dirty="0"/>
          </a:p>
          <a:p>
            <a:pPr algn="just">
              <a:buNone/>
            </a:pPr>
            <a:endParaRPr lang="en-US" sz="2000" dirty="0"/>
          </a:p>
        </p:txBody>
      </p:sp>
      <p:pic>
        <p:nvPicPr>
          <p:cNvPr id="4" name="img-453_1"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990600"/>
            <a:ext cx="9144000" cy="1524000"/>
          </a:xfrm>
          <a:prstGeom prst="rect">
            <a:avLst/>
          </a:prstGeom>
          <a:noFill/>
          <a:ln>
            <a:noFill/>
          </a:ln>
        </p:spPr>
      </p:pic>
    </p:spTree>
    <p:extLst>
      <p:ext uri="{BB962C8B-B14F-4D97-AF65-F5344CB8AC3E}">
        <p14:creationId xmlns:p14="http://schemas.microsoft.com/office/powerpoint/2010/main" val="1033598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4754563"/>
          </a:xfrm>
        </p:spPr>
        <p:txBody>
          <a:bodyPr/>
          <a:lstStyle/>
          <a:p>
            <a:pPr algn="just"/>
            <a:r>
              <a:rPr lang="en-US" sz="2400" b="1" dirty="0"/>
              <a:t>Solution:</a:t>
            </a:r>
            <a:r>
              <a:rPr lang="en-US" sz="2400" dirty="0"/>
              <a:t> By taking an appropriate scale on the </a:t>
            </a:r>
            <a:r>
              <a:rPr lang="en-US" sz="2400" i="1" dirty="0"/>
              <a:t>x</a:t>
            </a:r>
            <a:r>
              <a:rPr lang="en-US" sz="2400" dirty="0"/>
              <a:t> and </a:t>
            </a:r>
            <a:r>
              <a:rPr lang="en-US" sz="2400" i="1" dirty="0"/>
              <a:t>y</a:t>
            </a:r>
            <a:r>
              <a:rPr lang="en-US" sz="2400" dirty="0"/>
              <a:t> axes, the pair of observations are plotted on a graph paper as shown in </a:t>
            </a:r>
            <a:r>
              <a:rPr lang="en-US" sz="2400" u="sng" dirty="0"/>
              <a:t>Fig</a:t>
            </a:r>
            <a:r>
              <a:rPr lang="en-US" sz="2400" dirty="0"/>
              <a:t>. The scatter diagram in </a:t>
            </a:r>
            <a:r>
              <a:rPr lang="en-US" sz="2400" u="sng" dirty="0"/>
              <a:t>Fig.</a:t>
            </a:r>
            <a:r>
              <a:rPr lang="en-US" sz="2400" dirty="0"/>
              <a:t> with straight line represents the relationship between </a:t>
            </a:r>
            <a:r>
              <a:rPr lang="en-US" sz="2400" i="1" dirty="0"/>
              <a:t>x</a:t>
            </a:r>
            <a:r>
              <a:rPr lang="en-US" sz="2400" dirty="0"/>
              <a:t> and </a:t>
            </a:r>
            <a:r>
              <a:rPr lang="en-US" sz="2400" i="1" dirty="0"/>
              <a:t>y</a:t>
            </a:r>
            <a:r>
              <a:rPr lang="en-US" sz="2400" dirty="0"/>
              <a:t> ‘fitted’ through it. </a:t>
            </a:r>
            <a:r>
              <a:rPr lang="en-US" sz="2800" dirty="0">
                <a:solidFill>
                  <a:srgbClr val="0000FF"/>
                </a:solidFill>
              </a:rPr>
              <a:t>(your grade point depends upon aptitude score)</a:t>
            </a:r>
            <a:endParaRPr lang="en-US" sz="2400" dirty="0">
              <a:solidFill>
                <a:srgbClr val="0000FF"/>
              </a:solidFill>
            </a:endParaRPr>
          </a:p>
          <a:p>
            <a:pPr algn="just"/>
            <a:endParaRPr lang="en-US" dirty="0"/>
          </a:p>
          <a:p>
            <a:endParaRPr lang="en-US" dirty="0"/>
          </a:p>
        </p:txBody>
      </p:sp>
      <p:pic>
        <p:nvPicPr>
          <p:cNvPr id="4" name="img-c013f003" descr="Figure 13.3 Scatter Diagram"/>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057400"/>
            <a:ext cx="9144000" cy="4800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629400"/>
          </a:xfrm>
        </p:spPr>
        <p:txBody>
          <a:bodyPr/>
          <a:lstStyle/>
          <a:p>
            <a:pPr algn="just"/>
            <a:r>
              <a:rPr lang="en-US" b="1" dirty="0">
                <a:solidFill>
                  <a:srgbClr val="0000FF"/>
                </a:solidFill>
              </a:rPr>
              <a:t>Interpretation: </a:t>
            </a:r>
            <a:r>
              <a:rPr lang="en-US" dirty="0"/>
              <a:t>From the scatter diagram shown in Fig. it appears that there is a </a:t>
            </a:r>
            <a:r>
              <a:rPr lang="en-US" b="1" dirty="0">
                <a:effectLst>
                  <a:outerShdw blurRad="38100" dist="38100" dir="2700000" algn="tl">
                    <a:srgbClr val="000000">
                      <a:alpha val="43137"/>
                    </a:srgbClr>
                  </a:outerShdw>
                </a:effectLst>
              </a:rPr>
              <a:t>high degree of association between two variable values</a:t>
            </a:r>
            <a:r>
              <a:rPr lang="en-US" dirty="0"/>
              <a:t>. </a:t>
            </a:r>
          </a:p>
          <a:p>
            <a:pPr algn="just"/>
            <a:r>
              <a:rPr lang="en-US" dirty="0"/>
              <a:t>It is because the data points are very close to a straight line passing through the points. </a:t>
            </a:r>
          </a:p>
          <a:p>
            <a:pPr algn="just"/>
            <a:r>
              <a:rPr lang="en-US" dirty="0"/>
              <a:t>This pattern of dotted points also indicates a high degree of linear positive correlation.</a:t>
            </a:r>
          </a:p>
          <a:p>
            <a:pPr algn="just"/>
            <a:endParaRPr lang="en-US" dirty="0"/>
          </a:p>
        </p:txBody>
      </p:sp>
    </p:spTree>
    <p:extLst>
      <p:ext uri="{BB962C8B-B14F-4D97-AF65-F5344CB8AC3E}">
        <p14:creationId xmlns:p14="http://schemas.microsoft.com/office/powerpoint/2010/main" val="2157370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20000"/>
          </a:bodyPr>
          <a:lstStyle/>
          <a:p>
            <a:pPr marL="0" indent="0">
              <a:buNone/>
            </a:pPr>
            <a:r>
              <a:rPr lang="en-US" sz="3300" b="1" dirty="0">
                <a:solidFill>
                  <a:srgbClr val="FF0000"/>
                </a:solidFill>
              </a:rPr>
              <a:t>KARL PEARSON'S CORRELATION COEFFICIENT</a:t>
            </a:r>
          </a:p>
          <a:p>
            <a:endParaRPr lang="en-US" dirty="0"/>
          </a:p>
          <a:p>
            <a:pPr algn="just"/>
            <a:r>
              <a:rPr lang="en-US" dirty="0"/>
              <a:t>Karl Pearson's correlation coefficient </a:t>
            </a:r>
            <a:r>
              <a:rPr lang="en-US" b="1" dirty="0">
                <a:effectLst>
                  <a:outerShdw blurRad="38100" dist="38100" dir="2700000" algn="tl">
                    <a:srgbClr val="000000">
                      <a:alpha val="43137"/>
                    </a:srgbClr>
                  </a:outerShdw>
                </a:effectLst>
              </a:rPr>
              <a:t>measures quantitatively</a:t>
            </a:r>
            <a:r>
              <a:rPr lang="en-US" dirty="0"/>
              <a:t> the </a:t>
            </a:r>
            <a:r>
              <a:rPr lang="en-US" b="1" dirty="0">
                <a:solidFill>
                  <a:srgbClr val="0000FF"/>
                </a:solidFill>
                <a:effectLst>
                  <a:outerShdw blurRad="38100" dist="38100" dir="2700000" algn="tl">
                    <a:srgbClr val="000000">
                      <a:alpha val="43137"/>
                    </a:srgbClr>
                  </a:outerShdw>
                </a:effectLst>
              </a:rPr>
              <a:t>extent to which</a:t>
            </a:r>
            <a:r>
              <a:rPr lang="en-US" dirty="0"/>
              <a:t> </a:t>
            </a:r>
            <a:r>
              <a:rPr lang="en-US" b="1" u="sng" dirty="0">
                <a:solidFill>
                  <a:srgbClr val="FF0000"/>
                </a:solidFill>
                <a:effectLst>
                  <a:outerShdw blurRad="38100" dist="38100" dir="2700000" algn="tl">
                    <a:srgbClr val="000000">
                      <a:alpha val="43137"/>
                    </a:srgbClr>
                  </a:outerShdw>
                </a:effectLst>
              </a:rPr>
              <a:t>two variables  </a:t>
            </a:r>
            <a:r>
              <a:rPr lang="en-US" sz="4300" b="1" i="1" u="sng" dirty="0">
                <a:solidFill>
                  <a:srgbClr val="0000FF"/>
                </a:solidFill>
                <a:effectLst>
                  <a:outerShdw blurRad="38100" dist="38100" dir="2700000" algn="tl">
                    <a:srgbClr val="000000">
                      <a:alpha val="43137"/>
                    </a:srgbClr>
                  </a:outerShdw>
                </a:effectLst>
              </a:rPr>
              <a:t>x</a:t>
            </a:r>
            <a:r>
              <a:rPr lang="en-US" b="1" u="sng" dirty="0">
                <a:solidFill>
                  <a:srgbClr val="FF0000"/>
                </a:solidFill>
                <a:effectLst>
                  <a:outerShdw blurRad="38100" dist="38100" dir="2700000" algn="tl">
                    <a:srgbClr val="000000">
                      <a:alpha val="43137"/>
                    </a:srgbClr>
                  </a:outerShdw>
                </a:effectLst>
              </a:rPr>
              <a:t> and  </a:t>
            </a:r>
            <a:r>
              <a:rPr lang="en-US" sz="3900" b="1" i="1" u="sng" dirty="0">
                <a:solidFill>
                  <a:srgbClr val="0000FF"/>
                </a:solidFill>
                <a:effectLst>
                  <a:outerShdw blurRad="38100" dist="38100" dir="2700000" algn="tl">
                    <a:srgbClr val="000000">
                      <a:alpha val="43137"/>
                    </a:srgbClr>
                  </a:outerShdw>
                </a:effectLst>
              </a:rPr>
              <a:t>y</a:t>
            </a:r>
            <a:r>
              <a:rPr lang="en-US" b="1" i="1" u="sng" dirty="0">
                <a:effectLst>
                  <a:outerShdw blurRad="38100" dist="38100" dir="2700000" algn="tl">
                    <a:srgbClr val="000000">
                      <a:alpha val="43137"/>
                    </a:srgbClr>
                  </a:outerShdw>
                </a:effectLst>
              </a:rPr>
              <a:t> </a:t>
            </a:r>
            <a:r>
              <a:rPr lang="en-US" dirty="0"/>
              <a:t>are </a:t>
            </a:r>
            <a:r>
              <a:rPr lang="en-US" b="1" dirty="0">
                <a:effectLst>
                  <a:outerShdw blurRad="38100" dist="38100" dir="2700000" algn="tl">
                    <a:srgbClr val="000000">
                      <a:alpha val="43137"/>
                    </a:srgbClr>
                  </a:outerShdw>
                </a:effectLst>
              </a:rPr>
              <a:t>correlated.</a:t>
            </a:r>
            <a:r>
              <a:rPr lang="en-US" dirty="0"/>
              <a:t> </a:t>
            </a:r>
          </a:p>
          <a:p>
            <a:pPr algn="just">
              <a:buNone/>
            </a:pPr>
            <a:endParaRPr lang="en-US" dirty="0"/>
          </a:p>
          <a:p>
            <a:pPr marL="0" indent="0" algn="just">
              <a:buNone/>
            </a:pPr>
            <a:r>
              <a:rPr lang="en-US" b="1" dirty="0"/>
              <a:t>Assumptions of Using Pearson's Correlation Coefficient</a:t>
            </a:r>
          </a:p>
          <a:p>
            <a:pPr marL="0" indent="0" algn="just">
              <a:buNone/>
            </a:pPr>
            <a:endParaRPr lang="en-US" dirty="0"/>
          </a:p>
          <a:p>
            <a:pPr lvl="0" algn="just"/>
            <a:r>
              <a:rPr lang="en-US" dirty="0"/>
              <a:t>Pearson's correlation coefficient is appropriate to calculate when both variables </a:t>
            </a:r>
            <a:r>
              <a:rPr lang="en-US" b="1" i="1" u="sng" dirty="0">
                <a:effectLst>
                  <a:outerShdw blurRad="38100" dist="38100" dir="2700000" algn="tl">
                    <a:srgbClr val="000000">
                      <a:alpha val="43137"/>
                    </a:srgbClr>
                  </a:outerShdw>
                </a:effectLst>
              </a:rPr>
              <a:t>x</a:t>
            </a:r>
            <a:r>
              <a:rPr lang="en-US" b="1" u="sng" dirty="0">
                <a:effectLst>
                  <a:outerShdw blurRad="38100" dist="38100" dir="2700000" algn="tl">
                    <a:srgbClr val="000000">
                      <a:alpha val="43137"/>
                    </a:srgbClr>
                  </a:outerShdw>
                </a:effectLst>
              </a:rPr>
              <a:t> and </a:t>
            </a:r>
            <a:r>
              <a:rPr lang="en-US" b="1" i="1" u="sng" dirty="0">
                <a:effectLst>
                  <a:outerShdw blurRad="38100" dist="38100" dir="2700000" algn="tl">
                    <a:srgbClr val="000000">
                      <a:alpha val="43137"/>
                    </a:srgbClr>
                  </a:outerShdw>
                </a:effectLst>
              </a:rPr>
              <a:t>y</a:t>
            </a:r>
            <a:r>
              <a:rPr lang="en-US" dirty="0"/>
              <a:t> are </a:t>
            </a:r>
            <a:r>
              <a:rPr lang="en-US" b="1" u="sng" dirty="0">
                <a:solidFill>
                  <a:srgbClr val="0000FF"/>
                </a:solidFill>
              </a:rPr>
              <a:t>measured on an interval or a ratio scale</a:t>
            </a:r>
            <a:r>
              <a:rPr lang="en-US" dirty="0">
                <a:solidFill>
                  <a:srgbClr val="0000FF"/>
                </a:solidFill>
              </a:rPr>
              <a:t>.</a:t>
            </a:r>
          </a:p>
          <a:p>
            <a:pPr marL="0" lvl="0" indent="0" algn="just">
              <a:buNone/>
            </a:pPr>
            <a:endParaRPr lang="en-US" dirty="0"/>
          </a:p>
          <a:p>
            <a:pPr lvl="0" algn="just"/>
            <a:r>
              <a:rPr lang="en-US" dirty="0"/>
              <a:t>Both variables </a:t>
            </a:r>
            <a:r>
              <a:rPr lang="en-US" b="1" i="1" u="sng" dirty="0">
                <a:solidFill>
                  <a:srgbClr val="0000FF"/>
                </a:solidFill>
              </a:rPr>
              <a:t>x</a:t>
            </a:r>
            <a:r>
              <a:rPr lang="en-US" b="1" u="sng" dirty="0">
                <a:solidFill>
                  <a:srgbClr val="0000FF"/>
                </a:solidFill>
              </a:rPr>
              <a:t> and </a:t>
            </a:r>
            <a:r>
              <a:rPr lang="en-US" b="1" i="1" u="sng" dirty="0">
                <a:solidFill>
                  <a:srgbClr val="0000FF"/>
                </a:solidFill>
              </a:rPr>
              <a:t>y</a:t>
            </a:r>
            <a:r>
              <a:rPr lang="en-US" b="1" u="sng" dirty="0">
                <a:solidFill>
                  <a:srgbClr val="0000FF"/>
                </a:solidFill>
              </a:rPr>
              <a:t> are normally distributed</a:t>
            </a:r>
            <a:r>
              <a:rPr lang="en-US" dirty="0"/>
              <a:t>, and that </a:t>
            </a:r>
            <a:r>
              <a:rPr lang="en-US" dirty="0">
                <a:effectLst>
                  <a:outerShdw blurRad="38100" dist="38100" dir="2700000" algn="tl">
                    <a:srgbClr val="000000">
                      <a:alpha val="43137"/>
                    </a:srgbClr>
                  </a:outerShdw>
                </a:effectLst>
              </a:rPr>
              <a:t>there is a linear relationship between these variables.</a:t>
            </a:r>
          </a:p>
          <a:p>
            <a:pPr lvl="0" algn="just"/>
            <a:endParaRPr lang="en-US" dirty="0">
              <a:effectLst>
                <a:outerShdw blurRad="38100" dist="38100" dir="2700000" algn="tl">
                  <a:srgbClr val="000000">
                    <a:alpha val="43137"/>
                  </a:srgbClr>
                </a:outerShdw>
              </a:effectLst>
            </a:endParaRPr>
          </a:p>
          <a:p>
            <a:pPr algn="just"/>
            <a:endParaRPr lang="en-US" dirty="0"/>
          </a:p>
        </p:txBody>
      </p:sp>
    </p:spTree>
    <p:extLst>
      <p:ext uri="{BB962C8B-B14F-4D97-AF65-F5344CB8AC3E}">
        <p14:creationId xmlns:p14="http://schemas.microsoft.com/office/powerpoint/2010/main" val="3611946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067800" cy="533400"/>
          </a:xfrm>
        </p:spPr>
        <p:txBody>
          <a:bodyPr>
            <a:noAutofit/>
          </a:bodyPr>
          <a:lstStyle/>
          <a:p>
            <a:r>
              <a:rPr lang="en-US" sz="2400" b="1" dirty="0">
                <a:solidFill>
                  <a:srgbClr val="FF0000"/>
                </a:solidFill>
                <a:effectLst>
                  <a:outerShdw blurRad="38100" dist="38100" dir="2700000" algn="tl">
                    <a:srgbClr val="000000">
                      <a:alpha val="43137"/>
                    </a:srgbClr>
                  </a:outerShdw>
                </a:effectLst>
              </a:rPr>
              <a:t>For a set of</a:t>
            </a:r>
            <a:r>
              <a:rPr lang="en-US" sz="2400" b="1" dirty="0">
                <a:solidFill>
                  <a:srgbClr val="FF0000"/>
                </a:solidFill>
              </a:rPr>
              <a:t> </a:t>
            </a:r>
            <a:r>
              <a:rPr lang="en-US" sz="2800" b="1" dirty="0">
                <a:solidFill>
                  <a:srgbClr val="FF0000"/>
                </a:solidFill>
              </a:rPr>
              <a:t>n </a:t>
            </a:r>
            <a:r>
              <a:rPr lang="en-US" sz="2800" b="1" u="sng" dirty="0">
                <a:solidFill>
                  <a:schemeClr val="accent4">
                    <a:lumMod val="75000"/>
                  </a:schemeClr>
                </a:solidFill>
                <a:effectLst>
                  <a:outerShdw blurRad="38100" dist="38100" dir="2700000" algn="tl">
                    <a:srgbClr val="000000">
                      <a:alpha val="43137"/>
                    </a:srgbClr>
                  </a:outerShdw>
                </a:effectLst>
              </a:rPr>
              <a:t>pairs </a:t>
            </a:r>
            <a:r>
              <a:rPr lang="en-US" sz="2400" b="1" dirty="0">
                <a:solidFill>
                  <a:srgbClr val="FF0000"/>
                </a:solidFill>
                <a:effectLst>
                  <a:outerShdw blurRad="38100" dist="38100" dir="2700000" algn="tl">
                    <a:srgbClr val="000000">
                      <a:alpha val="43137"/>
                    </a:srgbClr>
                  </a:outerShdw>
                </a:effectLst>
              </a:rPr>
              <a:t>of values of x and y, Pearson's correlation coefficient   </a:t>
            </a:r>
            <a:r>
              <a:rPr lang="en-US" sz="3200" b="1" dirty="0">
                <a:solidFill>
                  <a:srgbClr val="0000FF"/>
                </a:solidFill>
                <a:effectLst>
                  <a:outerShdw blurRad="38100" dist="38100" dir="2700000" algn="tl">
                    <a:srgbClr val="000000">
                      <a:alpha val="43137"/>
                    </a:srgbClr>
                  </a:outerShdw>
                </a:effectLst>
              </a:rPr>
              <a:t>r </a:t>
            </a:r>
            <a:r>
              <a:rPr lang="en-US" sz="2400" b="1" dirty="0">
                <a:solidFill>
                  <a:srgbClr val="FF0000"/>
                </a:solidFill>
                <a:effectLst>
                  <a:outerShdw blurRad="38100" dist="38100" dir="2700000" algn="tl">
                    <a:srgbClr val="000000">
                      <a:alpha val="43137"/>
                    </a:srgbClr>
                  </a:outerShdw>
                </a:effectLst>
              </a:rPr>
              <a:t>  is given by </a:t>
            </a:r>
            <a:r>
              <a:rPr lang="en-US" sz="2400" b="1" dirty="0">
                <a:solidFill>
                  <a:srgbClr val="7030A0"/>
                </a:solidFill>
                <a:effectLst>
                  <a:outerShdw blurRad="38100" dist="38100" dir="2700000" algn="tl">
                    <a:srgbClr val="000000">
                      <a:alpha val="43137"/>
                    </a:srgbClr>
                  </a:outerShdw>
                </a:effectLst>
              </a:rPr>
              <a:t>DIRECT METHOD</a:t>
            </a:r>
          </a:p>
        </p:txBody>
      </p:sp>
      <p:pic>
        <p:nvPicPr>
          <p:cNvPr id="5123" name="Picture 3"/>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990600"/>
            <a:ext cx="91440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82102" y="4648200"/>
            <a:ext cx="8839200" cy="707886"/>
          </a:xfrm>
          <a:prstGeom prst="rect">
            <a:avLst/>
          </a:prstGeom>
        </p:spPr>
        <p:txBody>
          <a:bodyPr wrap="square">
            <a:spAutoFit/>
          </a:bodyPr>
          <a:lstStyle/>
          <a:p>
            <a:pPr algn="ctr"/>
            <a:endParaRPr lang="en-US" b="1" dirty="0">
              <a:solidFill>
                <a:srgbClr val="FF0000"/>
              </a:solidFill>
              <a:effectLst>
                <a:outerShdw blurRad="38100" dist="38100" dir="2700000" algn="tl">
                  <a:srgbClr val="000000">
                    <a:alpha val="43137"/>
                  </a:srgbClr>
                </a:outerShdw>
              </a:effectLst>
            </a:endParaRPr>
          </a:p>
          <a:p>
            <a:pPr algn="ctr"/>
            <a:r>
              <a:rPr lang="en-US" sz="2200" b="1" dirty="0">
                <a:solidFill>
                  <a:srgbClr val="FF0000"/>
                </a:solidFill>
                <a:effectLst>
                  <a:outerShdw blurRad="38100" dist="38100" dir="2700000" algn="tl">
                    <a:srgbClr val="000000">
                      <a:alpha val="43137"/>
                    </a:srgbClr>
                  </a:outerShdw>
                </a:effectLst>
              </a:rPr>
              <a:t>Substituting mathematical formula for </a:t>
            </a:r>
            <a:r>
              <a:rPr lang="en-US" sz="2200" b="1" dirty="0" err="1">
                <a:solidFill>
                  <a:srgbClr val="FF0000"/>
                </a:solidFill>
                <a:effectLst>
                  <a:outerShdw blurRad="38100" dist="38100" dir="2700000" algn="tl">
                    <a:srgbClr val="000000">
                      <a:alpha val="43137"/>
                    </a:srgbClr>
                  </a:outerShdw>
                </a:effectLst>
              </a:rPr>
              <a:t>Cov</a:t>
            </a:r>
            <a:r>
              <a:rPr lang="en-US" sz="2200" b="1" dirty="0">
                <a:solidFill>
                  <a:srgbClr val="FF0000"/>
                </a:solidFill>
                <a:effectLst>
                  <a:outerShdw blurRad="38100" dist="38100" dir="2700000" algn="tl">
                    <a:srgbClr val="000000">
                      <a:alpha val="43137"/>
                    </a:srgbClr>
                  </a:outerShdw>
                </a:effectLst>
              </a:rPr>
              <a:t> (x, y) and </a:t>
            </a:r>
            <a:r>
              <a:rPr lang="en-US" sz="2200" b="1" dirty="0" err="1">
                <a:solidFill>
                  <a:srgbClr val="FF0000"/>
                </a:solidFill>
                <a:effectLst>
                  <a:outerShdw blurRad="38100" dist="38100" dir="2700000" algn="tl">
                    <a:srgbClr val="000000">
                      <a:alpha val="43137"/>
                    </a:srgbClr>
                  </a:outerShdw>
                </a:effectLst>
              </a:rPr>
              <a:t>σx</a:t>
            </a:r>
            <a:r>
              <a:rPr lang="en-US" sz="2200" b="1" dirty="0">
                <a:solidFill>
                  <a:srgbClr val="FF0000"/>
                </a:solidFill>
                <a:effectLst>
                  <a:outerShdw blurRad="38100" dist="38100" dir="2700000" algn="tl">
                    <a:srgbClr val="000000">
                      <a:alpha val="43137"/>
                    </a:srgbClr>
                  </a:outerShdw>
                </a:effectLst>
              </a:rPr>
              <a:t> and </a:t>
            </a:r>
            <a:r>
              <a:rPr lang="en-US" sz="2200" b="1" dirty="0" err="1">
                <a:solidFill>
                  <a:srgbClr val="FF0000"/>
                </a:solidFill>
                <a:effectLst>
                  <a:outerShdw blurRad="38100" dist="38100" dir="2700000" algn="tl">
                    <a:srgbClr val="000000">
                      <a:alpha val="43137"/>
                    </a:srgbClr>
                  </a:outerShdw>
                </a:effectLst>
              </a:rPr>
              <a:t>σy</a:t>
            </a:r>
            <a:r>
              <a:rPr lang="en-US" sz="2200" b="1" dirty="0">
                <a:solidFill>
                  <a:srgbClr val="FF0000"/>
                </a:solidFill>
                <a:effectLst>
                  <a:outerShdw blurRad="38100" dist="38100" dir="2700000" algn="tl">
                    <a:srgbClr val="000000">
                      <a:alpha val="43137"/>
                    </a:srgbClr>
                  </a:outerShdw>
                </a:effectLst>
              </a:rPr>
              <a:t>, we have</a:t>
            </a:r>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5410200"/>
            <a:ext cx="80772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25496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2057401"/>
            <a:ext cx="8915400" cy="2434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417638"/>
          </a:xfrm>
        </p:spPr>
        <p:txBody>
          <a:bodyPr>
            <a:normAutofit fontScale="90000"/>
          </a:bodyPr>
          <a:lstStyle/>
          <a:p>
            <a:pPr algn="just"/>
            <a:r>
              <a:rPr lang="en-US" sz="2400" b="1" u="sng" dirty="0">
                <a:solidFill>
                  <a:srgbClr val="FF00FF"/>
                </a:solidFill>
              </a:rPr>
              <a:t>Ex: </a:t>
            </a:r>
            <a:r>
              <a:rPr lang="en-US" sz="2400" dirty="0"/>
              <a:t>Calculate the product movement </a:t>
            </a:r>
            <a:r>
              <a:rPr lang="en-US" sz="2400" b="1" u="sng" dirty="0">
                <a:effectLst>
                  <a:outerShdw blurRad="38100" dist="38100" dir="2700000" algn="tl">
                    <a:srgbClr val="000000">
                      <a:alpha val="43137"/>
                    </a:srgbClr>
                  </a:outerShdw>
                </a:effectLst>
              </a:rPr>
              <a:t>co-efficient of correlation </a:t>
            </a:r>
            <a:r>
              <a:rPr lang="en-US" sz="2400" dirty="0"/>
              <a:t>between the following marks in Statistic's and </a:t>
            </a:r>
            <a:r>
              <a:rPr lang="en-US" sz="2400" dirty="0" err="1"/>
              <a:t>Maths</a:t>
            </a:r>
            <a:br>
              <a:rPr lang="en-US" sz="2400" dirty="0"/>
            </a:br>
            <a:r>
              <a:rPr lang="en-US" sz="2400" i="1" dirty="0">
                <a:effectLst>
                  <a:outerShdw blurRad="38100" dist="38100" dir="2700000" algn="tl">
                    <a:srgbClr val="000000">
                      <a:alpha val="43137"/>
                    </a:srgbClr>
                  </a:outerShdw>
                </a:effectLst>
              </a:rPr>
              <a:t>statistics: 4  7  8  3  4 </a:t>
            </a:r>
            <a:r>
              <a:rPr lang="en-US" sz="2400" dirty="0"/>
              <a:t>  </a:t>
            </a:r>
            <a:r>
              <a:rPr lang="en-US" sz="2400" i="1" dirty="0" err="1">
                <a:solidFill>
                  <a:srgbClr val="FF00FF"/>
                </a:solidFill>
                <a:effectLst>
                  <a:outerShdw blurRad="38100" dist="38100" dir="2700000" algn="tl">
                    <a:srgbClr val="000000">
                      <a:alpha val="43137"/>
                    </a:srgbClr>
                  </a:outerShdw>
                </a:effectLst>
              </a:rPr>
              <a:t>Maths</a:t>
            </a:r>
            <a:r>
              <a:rPr lang="en-US" sz="2400" i="1" dirty="0">
                <a:solidFill>
                  <a:srgbClr val="FF00FF"/>
                </a:solidFill>
                <a:effectLst>
                  <a:outerShdw blurRad="38100" dist="38100" dir="2700000" algn="tl">
                    <a:srgbClr val="000000">
                      <a:alpha val="43137"/>
                    </a:srgbClr>
                  </a:outerShdw>
                </a:effectLst>
              </a:rPr>
              <a:t> : 5  8  6  3  5      (direct method)</a:t>
            </a:r>
            <a:br>
              <a:rPr lang="en-US" sz="2400" i="1" dirty="0">
                <a:solidFill>
                  <a:srgbClr val="FF00FF"/>
                </a:solidFill>
                <a:effectLst>
                  <a:outerShdw blurRad="38100" dist="38100" dir="2700000" algn="tl">
                    <a:srgbClr val="000000">
                      <a:alpha val="43137"/>
                    </a:srgbClr>
                  </a:outerShdw>
                </a:effectLst>
              </a:rPr>
            </a:br>
            <a:r>
              <a:rPr lang="en-US" sz="2700" b="1" i="1" dirty="0" err="1">
                <a:solidFill>
                  <a:srgbClr val="0000FF"/>
                </a:solidFill>
                <a:effectLst>
                  <a:outerShdw blurRad="38100" dist="38100" dir="2700000" algn="tl">
                    <a:srgbClr val="000000">
                      <a:alpha val="43137"/>
                    </a:srgbClr>
                  </a:outerShdw>
                </a:effectLst>
              </a:rPr>
              <a:t>soln</a:t>
            </a:r>
            <a:r>
              <a:rPr lang="en-US" sz="2700" b="1" i="1" dirty="0">
                <a:solidFill>
                  <a:srgbClr val="0000FF"/>
                </a:solidFill>
                <a:effectLst>
                  <a:outerShdw blurRad="38100" dist="38100" dir="2700000" algn="tl">
                    <a:srgbClr val="000000">
                      <a:alpha val="43137"/>
                    </a:srgbClr>
                  </a:outerShdw>
                </a:effectLst>
              </a:rPr>
              <a:t>:  r = 0.799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078332"/>
              </p:ext>
            </p:extLst>
          </p:nvPr>
        </p:nvGraphicFramePr>
        <p:xfrm>
          <a:off x="838200" y="1600200"/>
          <a:ext cx="7391400" cy="3566160"/>
        </p:xfrm>
        <a:graphic>
          <a:graphicData uri="http://schemas.openxmlformats.org/drawingml/2006/table">
            <a:tbl>
              <a:tblPr firstRow="1" bandRow="1">
                <a:tableStyleId>{073A0DAA-6AF3-43AB-8588-CEC1D06C72B9}</a:tableStyleId>
              </a:tblPr>
              <a:tblGrid>
                <a:gridCol w="13716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14168">
                  <a:extLst>
                    <a:ext uri="{9D8B030D-6E8A-4147-A177-3AD203B41FA5}">
                      <a16:colId xmlns:a16="http://schemas.microsoft.com/office/drawing/2014/main" val="20004"/>
                    </a:ext>
                  </a:extLst>
                </a:gridCol>
                <a:gridCol w="238432">
                  <a:extLst>
                    <a:ext uri="{9D8B030D-6E8A-4147-A177-3AD203B41FA5}">
                      <a16:colId xmlns:a16="http://schemas.microsoft.com/office/drawing/2014/main" val="20005"/>
                    </a:ext>
                  </a:extLst>
                </a:gridCol>
              </a:tblGrid>
              <a:tr h="370840">
                <a:tc>
                  <a:txBody>
                    <a:bodyPr/>
                    <a:lstStyle/>
                    <a:p>
                      <a:pPr algn="ctr"/>
                      <a:r>
                        <a:rPr lang="en-US" sz="2400" dirty="0"/>
                        <a:t>X</a:t>
                      </a:r>
                    </a:p>
                  </a:txBody>
                  <a:tcPr/>
                </a:tc>
                <a:tc>
                  <a:txBody>
                    <a:bodyPr/>
                    <a:lstStyle/>
                    <a:p>
                      <a:pPr algn="ctr"/>
                      <a:r>
                        <a:rPr lang="en-US" sz="2400" dirty="0"/>
                        <a:t>Y</a:t>
                      </a:r>
                    </a:p>
                  </a:txBody>
                  <a:tcPr/>
                </a:tc>
                <a:tc>
                  <a:txBody>
                    <a:bodyPr/>
                    <a:lstStyle/>
                    <a:p>
                      <a:pPr algn="ctr"/>
                      <a:r>
                        <a:rPr lang="en-US" sz="2400" dirty="0"/>
                        <a:t>XY</a:t>
                      </a:r>
                    </a:p>
                  </a:txBody>
                  <a:tcPr/>
                </a:tc>
                <a:tc>
                  <a:txBody>
                    <a:bodyPr/>
                    <a:lstStyle/>
                    <a:p>
                      <a:pPr algn="ctr"/>
                      <a:r>
                        <a:rPr lang="en-US" sz="2400" dirty="0"/>
                        <a:t>X</a:t>
                      </a:r>
                      <a:r>
                        <a:rPr lang="en-US" sz="2400" baseline="30000" dirty="0"/>
                        <a:t>2</a:t>
                      </a:r>
                      <a:endParaRPr lang="en-US" sz="2400" dirty="0"/>
                    </a:p>
                  </a:txBody>
                  <a:tcPr/>
                </a:tc>
                <a:tc>
                  <a:txBody>
                    <a:bodyPr/>
                    <a:lstStyle/>
                    <a:p>
                      <a:pPr algn="ctr"/>
                      <a:r>
                        <a:rPr lang="en-US" sz="2400" dirty="0"/>
                        <a:t>Y</a:t>
                      </a:r>
                      <a:r>
                        <a:rPr lang="en-US" sz="2400" baseline="30000" dirty="0"/>
                        <a:t>2</a:t>
                      </a:r>
                      <a:endParaRPr lang="en-US" sz="2400" dirty="0"/>
                    </a:p>
                  </a:txBody>
                  <a:tcPr/>
                </a:tc>
                <a:tc>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sz="2400" dirty="0"/>
                        <a:t>04</a:t>
                      </a:r>
                    </a:p>
                  </a:txBody>
                  <a:tcPr>
                    <a:solidFill>
                      <a:schemeClr val="bg2">
                        <a:lumMod val="75000"/>
                      </a:schemeClr>
                    </a:solidFill>
                  </a:tcPr>
                </a:tc>
                <a:tc>
                  <a:txBody>
                    <a:bodyPr/>
                    <a:lstStyle/>
                    <a:p>
                      <a:pPr algn="ctr"/>
                      <a:r>
                        <a:rPr lang="en-US" sz="2400" dirty="0"/>
                        <a:t>05</a:t>
                      </a:r>
                    </a:p>
                  </a:txBody>
                  <a:tcPr>
                    <a:solidFill>
                      <a:schemeClr val="bg2">
                        <a:lumMod val="75000"/>
                      </a:schemeClr>
                    </a:solidFill>
                  </a:tcPr>
                </a:tc>
                <a:tc>
                  <a:txBody>
                    <a:bodyPr/>
                    <a:lstStyle/>
                    <a:p>
                      <a:pPr algn="ctr"/>
                      <a:r>
                        <a:rPr lang="en-US" sz="2400" dirty="0"/>
                        <a:t>20</a:t>
                      </a:r>
                    </a:p>
                  </a:txBody>
                  <a:tcPr/>
                </a:tc>
                <a:tc>
                  <a:txBody>
                    <a:bodyPr/>
                    <a:lstStyle/>
                    <a:p>
                      <a:pPr algn="ctr"/>
                      <a:r>
                        <a:rPr lang="en-US" sz="2400" dirty="0"/>
                        <a:t>16</a:t>
                      </a:r>
                    </a:p>
                  </a:txBody>
                  <a:tcPr/>
                </a:tc>
                <a:tc>
                  <a:txBody>
                    <a:bodyPr/>
                    <a:lstStyle/>
                    <a:p>
                      <a:pPr algn="ctr"/>
                      <a:r>
                        <a:rPr lang="en-US" sz="2400" dirty="0"/>
                        <a:t>25</a:t>
                      </a:r>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pPr algn="ctr"/>
                      <a:r>
                        <a:rPr lang="en-US" sz="2400" dirty="0"/>
                        <a:t>07</a:t>
                      </a:r>
                    </a:p>
                  </a:txBody>
                  <a:tcPr>
                    <a:solidFill>
                      <a:schemeClr val="bg2">
                        <a:lumMod val="75000"/>
                      </a:schemeClr>
                    </a:solidFill>
                  </a:tcPr>
                </a:tc>
                <a:tc>
                  <a:txBody>
                    <a:bodyPr/>
                    <a:lstStyle/>
                    <a:p>
                      <a:pPr algn="ctr"/>
                      <a:r>
                        <a:rPr lang="en-US" sz="2400" dirty="0"/>
                        <a:t>08</a:t>
                      </a:r>
                    </a:p>
                  </a:txBody>
                  <a:tcPr>
                    <a:solidFill>
                      <a:schemeClr val="bg2">
                        <a:lumMod val="75000"/>
                      </a:schemeClr>
                    </a:solidFill>
                  </a:tcPr>
                </a:tc>
                <a:tc>
                  <a:txBody>
                    <a:bodyPr/>
                    <a:lstStyle/>
                    <a:p>
                      <a:pPr algn="ctr"/>
                      <a:r>
                        <a:rPr lang="en-US" sz="2400" dirty="0"/>
                        <a:t>56</a:t>
                      </a:r>
                    </a:p>
                  </a:txBody>
                  <a:tcPr/>
                </a:tc>
                <a:tc>
                  <a:txBody>
                    <a:bodyPr/>
                    <a:lstStyle/>
                    <a:p>
                      <a:pPr algn="ctr"/>
                      <a:r>
                        <a:rPr lang="en-US" sz="2400" dirty="0"/>
                        <a:t>49</a:t>
                      </a:r>
                    </a:p>
                  </a:txBody>
                  <a:tcPr/>
                </a:tc>
                <a:tc>
                  <a:txBody>
                    <a:bodyPr/>
                    <a:lstStyle/>
                    <a:p>
                      <a:pPr algn="ctr"/>
                      <a:r>
                        <a:rPr lang="en-US" sz="2400" dirty="0"/>
                        <a:t>64</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pPr algn="ctr"/>
                      <a:r>
                        <a:rPr lang="en-US" sz="2400" dirty="0"/>
                        <a:t>08</a:t>
                      </a:r>
                    </a:p>
                  </a:txBody>
                  <a:tcPr>
                    <a:solidFill>
                      <a:schemeClr val="bg2">
                        <a:lumMod val="75000"/>
                      </a:schemeClr>
                    </a:solidFill>
                  </a:tcPr>
                </a:tc>
                <a:tc>
                  <a:txBody>
                    <a:bodyPr/>
                    <a:lstStyle/>
                    <a:p>
                      <a:pPr algn="ctr"/>
                      <a:r>
                        <a:rPr lang="en-US" sz="2400" dirty="0"/>
                        <a:t>06</a:t>
                      </a:r>
                    </a:p>
                  </a:txBody>
                  <a:tcPr>
                    <a:solidFill>
                      <a:schemeClr val="bg2">
                        <a:lumMod val="75000"/>
                      </a:schemeClr>
                    </a:solidFill>
                  </a:tcPr>
                </a:tc>
                <a:tc>
                  <a:txBody>
                    <a:bodyPr/>
                    <a:lstStyle/>
                    <a:p>
                      <a:pPr algn="ctr"/>
                      <a:r>
                        <a:rPr lang="en-US" sz="2400" dirty="0"/>
                        <a:t>48</a:t>
                      </a:r>
                    </a:p>
                  </a:txBody>
                  <a:tcPr/>
                </a:tc>
                <a:tc>
                  <a:txBody>
                    <a:bodyPr/>
                    <a:lstStyle/>
                    <a:p>
                      <a:pPr algn="ctr"/>
                      <a:r>
                        <a:rPr lang="en-US" sz="2400" dirty="0"/>
                        <a:t>64</a:t>
                      </a:r>
                    </a:p>
                  </a:txBody>
                  <a:tcPr/>
                </a:tc>
                <a:tc>
                  <a:txBody>
                    <a:bodyPr/>
                    <a:lstStyle/>
                    <a:p>
                      <a:pPr algn="ctr"/>
                      <a:r>
                        <a:rPr lang="en-US" sz="2400" dirty="0"/>
                        <a:t>36</a:t>
                      </a:r>
                    </a:p>
                  </a:txBody>
                  <a:tcPr/>
                </a:tc>
                <a:tc>
                  <a:txBody>
                    <a:bodyPr/>
                    <a:lstStyle/>
                    <a:p>
                      <a:endParaRPr lang="en-US" dirty="0"/>
                    </a:p>
                  </a:txBody>
                  <a:tcPr/>
                </a:tc>
                <a:extLst>
                  <a:ext uri="{0D108BD9-81ED-4DB2-BD59-A6C34878D82A}">
                    <a16:rowId xmlns:a16="http://schemas.microsoft.com/office/drawing/2014/main" val="10003"/>
                  </a:ext>
                </a:extLst>
              </a:tr>
              <a:tr h="370840">
                <a:tc>
                  <a:txBody>
                    <a:bodyPr/>
                    <a:lstStyle/>
                    <a:p>
                      <a:pPr algn="ctr"/>
                      <a:r>
                        <a:rPr lang="en-US" sz="2400" dirty="0"/>
                        <a:t>03</a:t>
                      </a:r>
                    </a:p>
                  </a:txBody>
                  <a:tcPr>
                    <a:solidFill>
                      <a:schemeClr val="bg2">
                        <a:lumMod val="75000"/>
                      </a:schemeClr>
                    </a:solidFill>
                  </a:tcPr>
                </a:tc>
                <a:tc>
                  <a:txBody>
                    <a:bodyPr/>
                    <a:lstStyle/>
                    <a:p>
                      <a:pPr algn="ctr"/>
                      <a:r>
                        <a:rPr lang="en-US" sz="2400" dirty="0"/>
                        <a:t>03</a:t>
                      </a:r>
                    </a:p>
                  </a:txBody>
                  <a:tcPr>
                    <a:solidFill>
                      <a:schemeClr val="bg2">
                        <a:lumMod val="75000"/>
                      </a:schemeClr>
                    </a:solidFill>
                  </a:tcPr>
                </a:tc>
                <a:tc>
                  <a:txBody>
                    <a:bodyPr/>
                    <a:lstStyle/>
                    <a:p>
                      <a:pPr algn="ctr"/>
                      <a:r>
                        <a:rPr lang="en-US" sz="2400" dirty="0"/>
                        <a:t>09</a:t>
                      </a:r>
                    </a:p>
                  </a:txBody>
                  <a:tcPr/>
                </a:tc>
                <a:tc>
                  <a:txBody>
                    <a:bodyPr/>
                    <a:lstStyle/>
                    <a:p>
                      <a:pPr algn="ctr"/>
                      <a:r>
                        <a:rPr lang="en-US" sz="2400" dirty="0"/>
                        <a:t>09</a:t>
                      </a:r>
                    </a:p>
                  </a:txBody>
                  <a:tcPr/>
                </a:tc>
                <a:tc>
                  <a:txBody>
                    <a:bodyPr/>
                    <a:lstStyle/>
                    <a:p>
                      <a:pPr algn="ctr"/>
                      <a:r>
                        <a:rPr lang="en-US" sz="2400" dirty="0"/>
                        <a:t>09</a:t>
                      </a:r>
                    </a:p>
                  </a:txBody>
                  <a:tcPr/>
                </a:tc>
                <a:tc>
                  <a:txBody>
                    <a:bodyPr/>
                    <a:lstStyle/>
                    <a:p>
                      <a:endParaRPr lang="en-US" dirty="0"/>
                    </a:p>
                  </a:txBody>
                  <a:tcPr/>
                </a:tc>
                <a:extLst>
                  <a:ext uri="{0D108BD9-81ED-4DB2-BD59-A6C34878D82A}">
                    <a16:rowId xmlns:a16="http://schemas.microsoft.com/office/drawing/2014/main" val="10004"/>
                  </a:ext>
                </a:extLst>
              </a:tr>
              <a:tr h="370840">
                <a:tc>
                  <a:txBody>
                    <a:bodyPr/>
                    <a:lstStyle/>
                    <a:p>
                      <a:pPr algn="ctr"/>
                      <a:r>
                        <a:rPr lang="en-US" sz="2400" dirty="0"/>
                        <a:t>04</a:t>
                      </a:r>
                    </a:p>
                  </a:txBody>
                  <a:tcPr>
                    <a:solidFill>
                      <a:schemeClr val="bg2">
                        <a:lumMod val="75000"/>
                      </a:schemeClr>
                    </a:solidFill>
                  </a:tcPr>
                </a:tc>
                <a:tc>
                  <a:txBody>
                    <a:bodyPr/>
                    <a:lstStyle/>
                    <a:p>
                      <a:pPr algn="ctr"/>
                      <a:r>
                        <a:rPr lang="en-US" sz="2400" dirty="0"/>
                        <a:t>05</a:t>
                      </a:r>
                    </a:p>
                  </a:txBody>
                  <a:tcPr>
                    <a:solidFill>
                      <a:schemeClr val="bg2">
                        <a:lumMod val="75000"/>
                      </a:schemeClr>
                    </a:solidFill>
                  </a:tcPr>
                </a:tc>
                <a:tc>
                  <a:txBody>
                    <a:bodyPr/>
                    <a:lstStyle/>
                    <a:p>
                      <a:pPr algn="ctr"/>
                      <a:r>
                        <a:rPr lang="en-US" sz="2400" dirty="0"/>
                        <a:t>20</a:t>
                      </a:r>
                    </a:p>
                  </a:txBody>
                  <a:tcPr/>
                </a:tc>
                <a:tc>
                  <a:txBody>
                    <a:bodyPr/>
                    <a:lstStyle/>
                    <a:p>
                      <a:pPr algn="ctr"/>
                      <a:r>
                        <a:rPr lang="en-US" sz="2400" dirty="0"/>
                        <a:t>16</a:t>
                      </a:r>
                    </a:p>
                  </a:txBody>
                  <a:tcPr/>
                </a:tc>
                <a:tc>
                  <a:txBody>
                    <a:bodyPr/>
                    <a:lstStyle/>
                    <a:p>
                      <a:pPr algn="ctr"/>
                      <a:r>
                        <a:rPr lang="en-US" sz="2400" dirty="0"/>
                        <a:t>25</a:t>
                      </a: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sz="2400" dirty="0"/>
                        <a:t>  ∑</a:t>
                      </a:r>
                      <a:r>
                        <a:rPr lang="en-US" sz="2400" baseline="0" dirty="0"/>
                        <a:t>X = 26</a:t>
                      </a:r>
                      <a:endParaRPr lang="en-US" sz="2400" dirty="0"/>
                    </a:p>
                  </a:txBody>
                  <a:tcPr/>
                </a:tc>
                <a:tc>
                  <a:txBody>
                    <a:bodyPr/>
                    <a:lstStyle/>
                    <a:p>
                      <a:r>
                        <a:rPr lang="en-US" sz="2400" dirty="0"/>
                        <a:t> ∑</a:t>
                      </a:r>
                      <a:r>
                        <a:rPr lang="en-US" sz="2400" baseline="0" dirty="0"/>
                        <a:t>Y = 27</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 ∑X</a:t>
                      </a:r>
                      <a:r>
                        <a:rPr lang="en-US" sz="2400" baseline="0" dirty="0"/>
                        <a:t>Y = 153</a:t>
                      </a:r>
                      <a:endParaRPr lang="en-US" sz="2400" dirty="0"/>
                    </a:p>
                    <a:p>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∑X</a:t>
                      </a:r>
                      <a:r>
                        <a:rPr lang="en-US" sz="2400" baseline="30000" dirty="0"/>
                        <a:t>2</a:t>
                      </a:r>
                      <a:r>
                        <a:rPr lang="en-US" sz="2400" baseline="0" dirty="0"/>
                        <a:t> = 154</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 ∑Y</a:t>
                      </a:r>
                      <a:r>
                        <a:rPr lang="en-US" sz="2400" baseline="30000" dirty="0"/>
                        <a:t>2 </a:t>
                      </a:r>
                      <a:r>
                        <a:rPr lang="en-US" sz="2400" baseline="0" dirty="0"/>
                        <a:t>= 159</a:t>
                      </a:r>
                      <a:endParaRPr lang="en-US" sz="2400" dirty="0"/>
                    </a:p>
                    <a:p>
                      <a:endParaRPr lang="en-US" sz="2400" dirty="0"/>
                    </a:p>
                  </a:txBody>
                  <a:tcPr/>
                </a:tc>
                <a:tc>
                  <a:txBody>
                    <a:bodyPr/>
                    <a:lstStyle/>
                    <a:p>
                      <a:endParaRPr lang="en-US" dirty="0"/>
                    </a:p>
                  </a:txBody>
                  <a:tcPr/>
                </a:tc>
                <a:extLst>
                  <a:ext uri="{0D108BD9-81ED-4DB2-BD59-A6C34878D82A}">
                    <a16:rowId xmlns:a16="http://schemas.microsoft.com/office/drawing/2014/main" val="10006"/>
                  </a:ext>
                </a:extLst>
              </a:tr>
            </a:tbl>
          </a:graphicData>
        </a:graphic>
      </p:graphicFrame>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52600" y="5378450"/>
            <a:ext cx="5638800" cy="125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82910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733800"/>
            <a:ext cx="9144000" cy="3505200"/>
          </a:xfrm>
        </p:spPr>
        <p:txBody>
          <a:bodyPr>
            <a:normAutofit fontScale="40000" lnSpcReduction="20000"/>
          </a:bodyPr>
          <a:lstStyle/>
          <a:p>
            <a:pPr marL="0" indent="0" algn="just">
              <a:buNone/>
            </a:pPr>
            <a:endParaRPr lang="en-US" dirty="0">
              <a:solidFill>
                <a:srgbClr val="0000FF"/>
              </a:solidFill>
            </a:endParaRPr>
          </a:p>
          <a:p>
            <a:pPr marL="0" indent="0" algn="just">
              <a:buNone/>
            </a:pPr>
            <a:r>
              <a:rPr lang="en-US" sz="5900" b="1" dirty="0">
                <a:solidFill>
                  <a:srgbClr val="0000FF"/>
                </a:solidFill>
              </a:rPr>
              <a:t>Interpretation</a:t>
            </a:r>
            <a:r>
              <a:rPr lang="en-US" sz="5900" dirty="0">
                <a:solidFill>
                  <a:srgbClr val="0000FF"/>
                </a:solidFill>
              </a:rPr>
              <a:t>: </a:t>
            </a:r>
          </a:p>
          <a:p>
            <a:pPr marL="0" indent="0" algn="just">
              <a:buNone/>
            </a:pPr>
            <a:endParaRPr lang="en-US" sz="5900" dirty="0">
              <a:solidFill>
                <a:srgbClr val="0000FF"/>
              </a:solidFill>
            </a:endParaRPr>
          </a:p>
          <a:p>
            <a:pPr marL="0" indent="0" algn="just">
              <a:buNone/>
            </a:pPr>
            <a:r>
              <a:rPr lang="en-US" sz="5900" b="1" dirty="0"/>
              <a:t>Since coefficient of correlation </a:t>
            </a:r>
            <a:r>
              <a:rPr lang="en-US" sz="7600" b="1" u="sng" dirty="0">
                <a:solidFill>
                  <a:srgbClr val="FF0000"/>
                </a:solidFill>
                <a:effectLst>
                  <a:outerShdw blurRad="38100" dist="38100" dir="2700000" algn="tl">
                    <a:srgbClr val="000000">
                      <a:alpha val="43137"/>
                    </a:srgbClr>
                  </a:outerShdw>
                </a:effectLst>
              </a:rPr>
              <a:t>r = +0.799</a:t>
            </a:r>
            <a:r>
              <a:rPr lang="en-US" sz="5900" b="1" dirty="0"/>
              <a:t>, it indicates that there is a high degree of POSITIVE  correlation between the two variables. </a:t>
            </a:r>
          </a:p>
          <a:p>
            <a:pPr marL="0" indent="0" algn="just">
              <a:buNone/>
            </a:pPr>
            <a:endParaRPr lang="en-US" sz="5900" b="1" dirty="0"/>
          </a:p>
          <a:p>
            <a:pPr marL="0" indent="0" algn="just">
              <a:buNone/>
            </a:pPr>
            <a:r>
              <a:rPr lang="en-US" sz="5900" b="1" dirty="0"/>
              <a:t>Hence we conclude that as the marks in statistics increased, the marks in </a:t>
            </a:r>
            <a:r>
              <a:rPr lang="en-US" sz="5900" b="1" i="1" dirty="0" err="1"/>
              <a:t>maths</a:t>
            </a:r>
            <a:r>
              <a:rPr lang="en-US" sz="5900" b="1" dirty="0"/>
              <a:t> also increased positively.</a:t>
            </a:r>
          </a:p>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295400" y="1905000"/>
            <a:ext cx="5800725" cy="1828800"/>
          </a:xfrm>
          <a:prstGeom prst="rect">
            <a:avLst/>
          </a:prstGeom>
          <a:noFill/>
          <a:ln w="9525">
            <a:noFill/>
            <a:miter lim="800000"/>
            <a:headEnd/>
            <a:tailEnd/>
          </a:ln>
          <a:effectLst/>
        </p:spPr>
      </p:pic>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228600"/>
            <a:ext cx="5638800" cy="125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cstate="print"/>
          <a:srcRect/>
          <a:stretch>
            <a:fillRect/>
          </a:stretch>
        </p:blipFill>
        <p:spPr bwMode="auto">
          <a:xfrm>
            <a:off x="7543800" y="2057400"/>
            <a:ext cx="1352550" cy="1038225"/>
          </a:xfrm>
          <a:prstGeom prst="rect">
            <a:avLst/>
          </a:prstGeom>
          <a:noFill/>
          <a:ln w="9525">
            <a:noFill/>
            <a:miter lim="800000"/>
            <a:headEnd/>
            <a:tailEnd/>
          </a:ln>
          <a:effectLst/>
        </p:spPr>
      </p:pic>
    </p:spTree>
    <p:extLst>
      <p:ext uri="{BB962C8B-B14F-4D97-AF65-F5344CB8AC3E}">
        <p14:creationId xmlns:p14="http://schemas.microsoft.com/office/powerpoint/2010/main" val="42360854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dirty="0">
                <a:solidFill>
                  <a:srgbClr val="FF0000"/>
                </a:solidFill>
                <a:effectLst>
                  <a:outerShdw blurRad="38100" dist="38100" dir="2700000" algn="tl">
                    <a:srgbClr val="000000">
                      <a:alpha val="43137"/>
                    </a:srgbClr>
                  </a:outerShdw>
                </a:effectLst>
              </a:rPr>
              <a:t>KARL PEARSON'S CORRELATION COEFFICIENT</a:t>
            </a:r>
            <a:br>
              <a:rPr lang="en-US" sz="2800" b="1" dirty="0">
                <a:solidFill>
                  <a:srgbClr val="FF0000"/>
                </a:solidFill>
              </a:rPr>
            </a:br>
            <a:r>
              <a:rPr lang="en-US" sz="2800" b="1" dirty="0">
                <a:solidFill>
                  <a:srgbClr val="CC0000"/>
                </a:solidFill>
                <a:effectLst>
                  <a:outerShdw blurRad="38100" dist="38100" dir="2700000" algn="tl">
                    <a:srgbClr val="000000">
                      <a:alpha val="43137"/>
                    </a:srgbClr>
                  </a:outerShdw>
                </a:effectLst>
              </a:rPr>
              <a:t>DIRECT METHOD</a:t>
            </a:r>
            <a:endParaRPr lang="en-US" sz="2800" dirty="0"/>
          </a:p>
        </p:txBody>
      </p:sp>
      <p:pic>
        <p:nvPicPr>
          <p:cNvPr id="78850" name="Picture 2"/>
          <p:cNvPicPr>
            <a:picLocks noGrp="1" noChangeAspect="1" noChangeArrowheads="1"/>
          </p:cNvPicPr>
          <p:nvPr>
            <p:ph idx="1"/>
          </p:nvPr>
        </p:nvPicPr>
        <p:blipFill>
          <a:blip r:embed="rId2" cstate="print"/>
          <a:srcRect/>
          <a:stretch>
            <a:fillRect/>
          </a:stretch>
        </p:blipFill>
        <p:spPr bwMode="auto">
          <a:xfrm>
            <a:off x="2286000" y="1600200"/>
            <a:ext cx="4572000" cy="1447800"/>
          </a:xfrm>
          <a:prstGeom prst="rect">
            <a:avLst/>
          </a:prstGeom>
          <a:noFill/>
          <a:ln w="9525">
            <a:noFill/>
            <a:miter lim="800000"/>
            <a:headEnd/>
            <a:tailEnd/>
          </a:ln>
          <a:effectLst/>
        </p:spPr>
      </p:pic>
      <p:pic>
        <p:nvPicPr>
          <p:cNvPr id="5" name="Picture 3"/>
          <p:cNvPicPr>
            <a:picLocks noChangeAspect="1" noChangeArrowheads="1"/>
          </p:cNvPicPr>
          <p:nvPr/>
        </p:nvPicPr>
        <p:blipFill>
          <a:blip r:embed="rId3" cstate="print"/>
          <a:srcRect/>
          <a:stretch>
            <a:fillRect/>
          </a:stretch>
        </p:blipFill>
        <p:spPr bwMode="auto">
          <a:xfrm>
            <a:off x="3200400" y="5105400"/>
            <a:ext cx="2209800" cy="609600"/>
          </a:xfrm>
          <a:prstGeom prst="rect">
            <a:avLst/>
          </a:prstGeom>
          <a:noFill/>
          <a:ln w="9525">
            <a:noFill/>
            <a:miter lim="800000"/>
            <a:headEnd/>
            <a:tailEnd/>
          </a:ln>
          <a:effectLst/>
        </p:spPr>
      </p:pic>
      <p:pic>
        <p:nvPicPr>
          <p:cNvPr id="6" name="Picture 5"/>
          <p:cNvPicPr>
            <a:picLocks noChangeAspect="1" noChangeArrowheads="1"/>
          </p:cNvPicPr>
          <p:nvPr/>
        </p:nvPicPr>
        <p:blipFill>
          <a:blip r:embed="rId4" cstate="print"/>
          <a:srcRect/>
          <a:stretch>
            <a:fillRect/>
          </a:stretch>
        </p:blipFill>
        <p:spPr bwMode="auto">
          <a:xfrm>
            <a:off x="3048000" y="3810000"/>
            <a:ext cx="2057400" cy="60960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p:cNvPicPr>
            <a:picLocks noGrp="1" noChangeAspect="1" noChangeArrowheads="1"/>
          </p:cNvPicPr>
          <p:nvPr>
            <p:ph idx="1"/>
          </p:nvPr>
        </p:nvPicPr>
        <p:blipFill>
          <a:blip r:embed="rId2" cstate="print"/>
          <a:srcRect/>
          <a:stretch>
            <a:fillRect/>
          </a:stretch>
        </p:blipFill>
        <p:spPr bwMode="auto">
          <a:xfrm>
            <a:off x="381000" y="1828800"/>
            <a:ext cx="2819400" cy="4572000"/>
          </a:xfrm>
          <a:prstGeom prst="rect">
            <a:avLst/>
          </a:prstGeom>
          <a:noFill/>
          <a:ln w="9525">
            <a:noFill/>
            <a:miter lim="800000"/>
            <a:headEnd/>
            <a:tailEnd/>
          </a:ln>
          <a:effectLst/>
        </p:spPr>
      </p:pic>
      <p:sp>
        <p:nvSpPr>
          <p:cNvPr id="5" name="Content Placeholder 2"/>
          <p:cNvSpPr txBox="1">
            <a:spLocks/>
          </p:cNvSpPr>
          <p:nvPr/>
        </p:nvSpPr>
        <p:spPr>
          <a:xfrm>
            <a:off x="0" y="0"/>
            <a:ext cx="9144000" cy="30480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lang="en-US" sz="3200" b="1" u="sng" dirty="0">
                <a:solidFill>
                  <a:srgbClr val="0000FF"/>
                </a:solidFill>
                <a:effectLst>
                  <a:outerShdw blurRad="38100" dist="38100" dir="2700000" algn="tl">
                    <a:srgbClr val="000000">
                      <a:alpha val="43137"/>
                    </a:srgbClr>
                  </a:outerShdw>
                </a:effectLst>
              </a:rPr>
              <a:t>Problem:</a:t>
            </a:r>
            <a:r>
              <a:rPr lang="en-US" sz="3200" b="1" dirty="0">
                <a:solidFill>
                  <a:srgbClr val="0000FF"/>
                </a:solidFill>
                <a:effectLst>
                  <a:outerShdw blurRad="38100" dist="38100" dir="2700000" algn="tl">
                    <a:srgbClr val="000000">
                      <a:alpha val="43137"/>
                    </a:srgbClr>
                  </a:outerShdw>
                </a:effectLst>
              </a:rPr>
              <a:t> </a:t>
            </a:r>
            <a:r>
              <a:rPr lang="en-US" sz="3200" dirty="0">
                <a:solidFill>
                  <a:srgbClr val="0000FF"/>
                </a:solidFill>
              </a:rPr>
              <a:t>Calculate Karl PEARSONS’S  coefficient of correlation between expenditure on advertising from the given data </a:t>
            </a:r>
            <a:r>
              <a:rPr lang="en-US" sz="3200" b="1" i="1" dirty="0">
                <a:solidFill>
                  <a:srgbClr val="FF0000"/>
                </a:solidFill>
                <a:effectLst>
                  <a:outerShdw blurRad="38100" dist="38100" dir="2700000" algn="tl">
                    <a:srgbClr val="000000">
                      <a:alpha val="43137"/>
                    </a:srgbClr>
                  </a:outerShdw>
                </a:effectLst>
              </a:rPr>
              <a:t>(direct method)</a:t>
            </a:r>
            <a:endParaRPr kumimoji="0" lang="en-US" sz="3200" b="1" i="1"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mn-lt"/>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5962"/>
          </a:xfrm>
        </p:spPr>
        <p:txBody>
          <a:bodyPr>
            <a:noAutofit/>
          </a:bodyPr>
          <a:lstStyle/>
          <a:p>
            <a:r>
              <a:rPr lang="en-US" sz="2800" b="1" dirty="0">
                <a:solidFill>
                  <a:srgbClr val="CC0000"/>
                </a:solidFill>
                <a:effectLst>
                  <a:outerShdw blurRad="38100" dist="38100" dir="2700000" algn="tl">
                    <a:srgbClr val="000000">
                      <a:alpha val="43137"/>
                    </a:srgbClr>
                  </a:outerShdw>
                </a:effectLst>
              </a:rPr>
              <a:t>DIRECT METHOD WITH TRUE MEAN WHEN NUMERICALS ARE BIG</a:t>
            </a:r>
          </a:p>
        </p:txBody>
      </p:sp>
      <p:graphicFrame>
        <p:nvGraphicFramePr>
          <p:cNvPr id="4" name="Content Placeholder 3"/>
          <p:cNvGraphicFramePr>
            <a:graphicFrameLocks noGrp="1"/>
          </p:cNvGraphicFramePr>
          <p:nvPr>
            <p:ph idx="1"/>
          </p:nvPr>
        </p:nvGraphicFramePr>
        <p:xfrm>
          <a:off x="152401" y="914403"/>
          <a:ext cx="8991598" cy="5943600"/>
        </p:xfrm>
        <a:graphic>
          <a:graphicData uri="http://schemas.openxmlformats.org/drawingml/2006/table">
            <a:tbl>
              <a:tblPr firstRow="1" bandRow="1">
                <a:tableStyleId>{5C22544A-7EE6-4342-B048-85BDC9FD1C3A}</a:tableStyleId>
              </a:tblPr>
              <a:tblGrid>
                <a:gridCol w="1284514">
                  <a:extLst>
                    <a:ext uri="{9D8B030D-6E8A-4147-A177-3AD203B41FA5}">
                      <a16:colId xmlns:a16="http://schemas.microsoft.com/office/drawing/2014/main" val="20000"/>
                    </a:ext>
                  </a:extLst>
                </a:gridCol>
                <a:gridCol w="1284514">
                  <a:extLst>
                    <a:ext uri="{9D8B030D-6E8A-4147-A177-3AD203B41FA5}">
                      <a16:colId xmlns:a16="http://schemas.microsoft.com/office/drawing/2014/main" val="20001"/>
                    </a:ext>
                  </a:extLst>
                </a:gridCol>
                <a:gridCol w="1284514">
                  <a:extLst>
                    <a:ext uri="{9D8B030D-6E8A-4147-A177-3AD203B41FA5}">
                      <a16:colId xmlns:a16="http://schemas.microsoft.com/office/drawing/2014/main" val="20002"/>
                    </a:ext>
                  </a:extLst>
                </a:gridCol>
                <a:gridCol w="1284514">
                  <a:extLst>
                    <a:ext uri="{9D8B030D-6E8A-4147-A177-3AD203B41FA5}">
                      <a16:colId xmlns:a16="http://schemas.microsoft.com/office/drawing/2014/main" val="20003"/>
                    </a:ext>
                  </a:extLst>
                </a:gridCol>
                <a:gridCol w="1284514">
                  <a:extLst>
                    <a:ext uri="{9D8B030D-6E8A-4147-A177-3AD203B41FA5}">
                      <a16:colId xmlns:a16="http://schemas.microsoft.com/office/drawing/2014/main" val="20004"/>
                    </a:ext>
                  </a:extLst>
                </a:gridCol>
                <a:gridCol w="1284514">
                  <a:extLst>
                    <a:ext uri="{9D8B030D-6E8A-4147-A177-3AD203B41FA5}">
                      <a16:colId xmlns:a16="http://schemas.microsoft.com/office/drawing/2014/main" val="20005"/>
                    </a:ext>
                  </a:extLst>
                </a:gridCol>
                <a:gridCol w="1284514">
                  <a:extLst>
                    <a:ext uri="{9D8B030D-6E8A-4147-A177-3AD203B41FA5}">
                      <a16:colId xmlns:a16="http://schemas.microsoft.com/office/drawing/2014/main" val="20006"/>
                    </a:ext>
                  </a:extLst>
                </a:gridCol>
              </a:tblGrid>
              <a:tr h="457200">
                <a:tc>
                  <a:txBody>
                    <a:bodyPr/>
                    <a:lstStyle/>
                    <a:p>
                      <a:r>
                        <a:rPr lang="en-US" dirty="0"/>
                        <a:t>X</a:t>
                      </a:r>
                    </a:p>
                  </a:txBody>
                  <a:tcPr/>
                </a:tc>
                <a:tc>
                  <a:txBody>
                    <a:bodyPr/>
                    <a:lstStyle/>
                    <a:p>
                      <a:r>
                        <a:rPr lang="en-US" dirty="0"/>
                        <a:t>Y</a:t>
                      </a:r>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0"/>
                  </a:ext>
                </a:extLst>
              </a:tr>
              <a:tr h="457200">
                <a:tc>
                  <a:txBody>
                    <a:bodyPr/>
                    <a:lstStyle/>
                    <a:p>
                      <a:r>
                        <a:rPr lang="en-US" b="1" dirty="0">
                          <a:effectLst>
                            <a:outerShdw blurRad="38100" dist="38100" dir="2700000" algn="tl">
                              <a:srgbClr val="000000">
                                <a:alpha val="43137"/>
                              </a:srgbClr>
                            </a:outerShdw>
                          </a:effectLst>
                        </a:rPr>
                        <a:t>39</a:t>
                      </a:r>
                    </a:p>
                  </a:txBody>
                  <a:tcPr/>
                </a:tc>
                <a:tc>
                  <a:txBody>
                    <a:bodyPr/>
                    <a:lstStyle/>
                    <a:p>
                      <a:r>
                        <a:rPr lang="en-US" b="1" dirty="0">
                          <a:effectLst>
                            <a:outerShdw blurRad="38100" dist="38100" dir="2700000" algn="tl">
                              <a:srgbClr val="000000">
                                <a:alpha val="43137"/>
                              </a:srgbClr>
                            </a:outerShdw>
                          </a:effectLst>
                        </a:rPr>
                        <a:t>47</a:t>
                      </a:r>
                    </a:p>
                  </a:txBody>
                  <a:tcPr/>
                </a:tc>
                <a:tc>
                  <a:txBody>
                    <a:bodyPr/>
                    <a:lstStyle/>
                    <a:p>
                      <a:r>
                        <a:rPr lang="en-US" b="1" dirty="0">
                          <a:effectLst>
                            <a:outerShdw blurRad="38100" dist="38100" dir="2700000" algn="tl">
                              <a:srgbClr val="000000">
                                <a:alpha val="43137"/>
                              </a:srgbClr>
                            </a:outerShdw>
                          </a:effectLst>
                        </a:rPr>
                        <a:t>- 26</a:t>
                      </a:r>
                    </a:p>
                  </a:txBody>
                  <a:tcPr/>
                </a:tc>
                <a:tc>
                  <a:txBody>
                    <a:bodyPr/>
                    <a:lstStyle/>
                    <a:p>
                      <a:r>
                        <a:rPr lang="en-US" b="1" dirty="0">
                          <a:effectLst>
                            <a:outerShdw blurRad="38100" dist="38100" dir="2700000" algn="tl">
                              <a:srgbClr val="000000">
                                <a:alpha val="43137"/>
                              </a:srgbClr>
                            </a:outerShdw>
                          </a:effectLst>
                        </a:rPr>
                        <a:t>- 19</a:t>
                      </a:r>
                    </a:p>
                  </a:txBody>
                  <a:tcPr/>
                </a:tc>
                <a:tc>
                  <a:txBody>
                    <a:bodyPr/>
                    <a:lstStyle/>
                    <a:p>
                      <a:r>
                        <a:rPr lang="en-US" b="1" dirty="0">
                          <a:effectLst>
                            <a:outerShdw blurRad="38100" dist="38100" dir="2700000" algn="tl">
                              <a:srgbClr val="000000">
                                <a:alpha val="43137"/>
                              </a:srgbClr>
                            </a:outerShdw>
                          </a:effectLst>
                        </a:rPr>
                        <a:t>676</a:t>
                      </a:r>
                    </a:p>
                  </a:txBody>
                  <a:tcPr/>
                </a:tc>
                <a:tc>
                  <a:txBody>
                    <a:bodyPr/>
                    <a:lstStyle/>
                    <a:p>
                      <a:r>
                        <a:rPr lang="en-US" b="1" dirty="0">
                          <a:effectLst>
                            <a:outerShdw blurRad="38100" dist="38100" dir="2700000" algn="tl">
                              <a:srgbClr val="000000">
                                <a:alpha val="43137"/>
                              </a:srgbClr>
                            </a:outerShdw>
                          </a:effectLst>
                        </a:rPr>
                        <a:t>361</a:t>
                      </a:r>
                    </a:p>
                  </a:txBody>
                  <a:tcPr/>
                </a:tc>
                <a:tc>
                  <a:txBody>
                    <a:bodyPr/>
                    <a:lstStyle/>
                    <a:p>
                      <a:r>
                        <a:rPr lang="en-US" b="1" dirty="0">
                          <a:effectLst>
                            <a:outerShdw blurRad="38100" dist="38100" dir="2700000" algn="tl">
                              <a:srgbClr val="000000">
                                <a:alpha val="43137"/>
                              </a:srgbClr>
                            </a:outerShdw>
                          </a:effectLst>
                        </a:rPr>
                        <a:t>494</a:t>
                      </a:r>
                    </a:p>
                  </a:txBody>
                  <a:tcPr/>
                </a:tc>
                <a:extLst>
                  <a:ext uri="{0D108BD9-81ED-4DB2-BD59-A6C34878D82A}">
                    <a16:rowId xmlns:a16="http://schemas.microsoft.com/office/drawing/2014/main" val="10001"/>
                  </a:ext>
                </a:extLst>
              </a:tr>
              <a:tr h="457200">
                <a:tc>
                  <a:txBody>
                    <a:bodyPr/>
                    <a:lstStyle/>
                    <a:p>
                      <a:r>
                        <a:rPr lang="en-US" b="1" dirty="0">
                          <a:effectLst>
                            <a:outerShdw blurRad="38100" dist="38100" dir="2700000" algn="tl">
                              <a:srgbClr val="000000">
                                <a:alpha val="43137"/>
                              </a:srgbClr>
                            </a:outerShdw>
                          </a:effectLst>
                        </a:rPr>
                        <a:t>65</a:t>
                      </a:r>
                    </a:p>
                  </a:txBody>
                  <a:tcPr/>
                </a:tc>
                <a:tc>
                  <a:txBody>
                    <a:bodyPr/>
                    <a:lstStyle/>
                    <a:p>
                      <a:r>
                        <a:rPr lang="en-US" b="1" dirty="0">
                          <a:effectLst>
                            <a:outerShdw blurRad="38100" dist="38100" dir="2700000" algn="tl">
                              <a:srgbClr val="000000">
                                <a:alpha val="43137"/>
                              </a:srgbClr>
                            </a:outerShdw>
                          </a:effectLst>
                        </a:rPr>
                        <a:t>53</a:t>
                      </a:r>
                    </a:p>
                  </a:txBody>
                  <a:tcPr/>
                </a:tc>
                <a:tc>
                  <a:txBody>
                    <a:bodyPr/>
                    <a:lstStyle/>
                    <a:p>
                      <a:r>
                        <a:rPr lang="en-US" b="1" dirty="0">
                          <a:effectLst>
                            <a:outerShdw blurRad="38100" dist="38100" dir="2700000" algn="tl">
                              <a:srgbClr val="000000">
                                <a:alpha val="43137"/>
                              </a:srgbClr>
                            </a:outerShdw>
                          </a:effectLst>
                        </a:rPr>
                        <a:t>0</a:t>
                      </a:r>
                    </a:p>
                  </a:txBody>
                  <a:tcPr/>
                </a:tc>
                <a:tc>
                  <a:txBody>
                    <a:bodyPr/>
                    <a:lstStyle/>
                    <a:p>
                      <a:r>
                        <a:rPr lang="en-US" b="1" dirty="0">
                          <a:effectLst>
                            <a:outerShdw blurRad="38100" dist="38100" dir="2700000" algn="tl">
                              <a:srgbClr val="000000">
                                <a:alpha val="43137"/>
                              </a:srgbClr>
                            </a:outerShdw>
                          </a:effectLst>
                        </a:rPr>
                        <a:t>- 13</a:t>
                      </a:r>
                    </a:p>
                  </a:txBody>
                  <a:tcPr/>
                </a:tc>
                <a:tc>
                  <a:txBody>
                    <a:bodyPr/>
                    <a:lstStyle/>
                    <a:p>
                      <a:r>
                        <a:rPr lang="en-US" b="1" dirty="0">
                          <a:effectLst>
                            <a:outerShdw blurRad="38100" dist="38100" dir="2700000" algn="tl">
                              <a:srgbClr val="000000">
                                <a:alpha val="43137"/>
                              </a:srgbClr>
                            </a:outerShdw>
                          </a:effectLst>
                        </a:rPr>
                        <a:t>0</a:t>
                      </a:r>
                    </a:p>
                  </a:txBody>
                  <a:tcPr/>
                </a:tc>
                <a:tc>
                  <a:txBody>
                    <a:bodyPr/>
                    <a:lstStyle/>
                    <a:p>
                      <a:r>
                        <a:rPr lang="en-US" b="1" dirty="0">
                          <a:effectLst>
                            <a:outerShdw blurRad="38100" dist="38100" dir="2700000" algn="tl">
                              <a:srgbClr val="000000">
                                <a:alpha val="43137"/>
                              </a:srgbClr>
                            </a:outerShdw>
                          </a:effectLst>
                        </a:rPr>
                        <a:t>169</a:t>
                      </a:r>
                    </a:p>
                  </a:txBody>
                  <a:tcPr/>
                </a:tc>
                <a:tc>
                  <a:txBody>
                    <a:bodyPr/>
                    <a:lstStyle/>
                    <a:p>
                      <a:r>
                        <a:rPr lang="en-US" b="1" dirty="0">
                          <a:effectLst>
                            <a:outerShdw blurRad="38100" dist="38100" dir="2700000" algn="tl">
                              <a:srgbClr val="000000">
                                <a:alpha val="43137"/>
                              </a:srgbClr>
                            </a:outerShdw>
                          </a:effectLst>
                        </a:rPr>
                        <a:t>0</a:t>
                      </a:r>
                    </a:p>
                  </a:txBody>
                  <a:tcPr/>
                </a:tc>
                <a:extLst>
                  <a:ext uri="{0D108BD9-81ED-4DB2-BD59-A6C34878D82A}">
                    <a16:rowId xmlns:a16="http://schemas.microsoft.com/office/drawing/2014/main" val="10002"/>
                  </a:ext>
                </a:extLst>
              </a:tr>
              <a:tr h="457200">
                <a:tc>
                  <a:txBody>
                    <a:bodyPr/>
                    <a:lstStyle/>
                    <a:p>
                      <a:r>
                        <a:rPr lang="en-US" b="1" dirty="0">
                          <a:effectLst>
                            <a:outerShdw blurRad="38100" dist="38100" dir="2700000" algn="tl">
                              <a:srgbClr val="000000">
                                <a:alpha val="43137"/>
                              </a:srgbClr>
                            </a:outerShdw>
                          </a:effectLst>
                        </a:rPr>
                        <a:t>62</a:t>
                      </a:r>
                    </a:p>
                  </a:txBody>
                  <a:tcPr/>
                </a:tc>
                <a:tc>
                  <a:txBody>
                    <a:bodyPr/>
                    <a:lstStyle/>
                    <a:p>
                      <a:r>
                        <a:rPr lang="en-US" b="1" dirty="0">
                          <a:effectLst>
                            <a:outerShdw blurRad="38100" dist="38100" dir="2700000" algn="tl">
                              <a:srgbClr val="000000">
                                <a:alpha val="43137"/>
                              </a:srgbClr>
                            </a:outerShdw>
                          </a:effectLst>
                        </a:rPr>
                        <a:t>58</a:t>
                      </a:r>
                    </a:p>
                  </a:txBody>
                  <a:tcPr/>
                </a:tc>
                <a:tc>
                  <a:txBody>
                    <a:bodyPr/>
                    <a:lstStyle/>
                    <a:p>
                      <a:r>
                        <a:rPr lang="en-US" b="1" dirty="0">
                          <a:effectLst>
                            <a:outerShdw blurRad="38100" dist="38100" dir="2700000" algn="tl">
                              <a:srgbClr val="000000">
                                <a:alpha val="43137"/>
                              </a:srgbClr>
                            </a:outerShdw>
                          </a:effectLst>
                        </a:rPr>
                        <a:t>- 3</a:t>
                      </a:r>
                    </a:p>
                  </a:txBody>
                  <a:tcPr/>
                </a:tc>
                <a:tc>
                  <a:txBody>
                    <a:bodyPr/>
                    <a:lstStyle/>
                    <a:p>
                      <a:r>
                        <a:rPr lang="en-US" b="1" dirty="0">
                          <a:effectLst>
                            <a:outerShdw blurRad="38100" dist="38100" dir="2700000" algn="tl">
                              <a:srgbClr val="000000">
                                <a:alpha val="43137"/>
                              </a:srgbClr>
                            </a:outerShdw>
                          </a:effectLst>
                        </a:rPr>
                        <a:t>- 8</a:t>
                      </a:r>
                    </a:p>
                  </a:txBody>
                  <a:tcPr/>
                </a:tc>
                <a:tc>
                  <a:txBody>
                    <a:bodyPr/>
                    <a:lstStyle/>
                    <a:p>
                      <a:r>
                        <a:rPr lang="en-US" b="1" dirty="0">
                          <a:effectLst>
                            <a:outerShdw blurRad="38100" dist="38100" dir="2700000" algn="tl">
                              <a:srgbClr val="000000">
                                <a:alpha val="43137"/>
                              </a:srgbClr>
                            </a:outerShdw>
                          </a:effectLst>
                        </a:rPr>
                        <a:t>9</a:t>
                      </a:r>
                    </a:p>
                  </a:txBody>
                  <a:tcPr/>
                </a:tc>
                <a:tc>
                  <a:txBody>
                    <a:bodyPr/>
                    <a:lstStyle/>
                    <a:p>
                      <a:r>
                        <a:rPr lang="en-US" b="1" dirty="0">
                          <a:effectLst>
                            <a:outerShdw blurRad="38100" dist="38100" dir="2700000" algn="tl">
                              <a:srgbClr val="000000">
                                <a:alpha val="43137"/>
                              </a:srgbClr>
                            </a:outerShdw>
                          </a:effectLst>
                        </a:rPr>
                        <a:t>64</a:t>
                      </a:r>
                    </a:p>
                  </a:txBody>
                  <a:tcPr/>
                </a:tc>
                <a:tc>
                  <a:txBody>
                    <a:bodyPr/>
                    <a:lstStyle/>
                    <a:p>
                      <a:r>
                        <a:rPr lang="en-US" b="1" dirty="0">
                          <a:effectLst>
                            <a:outerShdw blurRad="38100" dist="38100" dir="2700000" algn="tl">
                              <a:srgbClr val="000000">
                                <a:alpha val="43137"/>
                              </a:srgbClr>
                            </a:outerShdw>
                          </a:effectLst>
                        </a:rPr>
                        <a:t>24</a:t>
                      </a:r>
                    </a:p>
                  </a:txBody>
                  <a:tcPr/>
                </a:tc>
                <a:extLst>
                  <a:ext uri="{0D108BD9-81ED-4DB2-BD59-A6C34878D82A}">
                    <a16:rowId xmlns:a16="http://schemas.microsoft.com/office/drawing/2014/main" val="10003"/>
                  </a:ext>
                </a:extLst>
              </a:tr>
              <a:tr h="457200">
                <a:tc>
                  <a:txBody>
                    <a:bodyPr/>
                    <a:lstStyle/>
                    <a:p>
                      <a:r>
                        <a:rPr lang="en-US" b="1" dirty="0">
                          <a:effectLst>
                            <a:outerShdw blurRad="38100" dist="38100" dir="2700000" algn="tl">
                              <a:srgbClr val="000000">
                                <a:alpha val="43137"/>
                              </a:srgbClr>
                            </a:outerShdw>
                          </a:effectLst>
                        </a:rPr>
                        <a:t>90</a:t>
                      </a:r>
                    </a:p>
                  </a:txBody>
                  <a:tcPr/>
                </a:tc>
                <a:tc>
                  <a:txBody>
                    <a:bodyPr/>
                    <a:lstStyle/>
                    <a:p>
                      <a:r>
                        <a:rPr lang="en-US" b="1" dirty="0">
                          <a:effectLst>
                            <a:outerShdw blurRad="38100" dist="38100" dir="2700000" algn="tl">
                              <a:srgbClr val="000000">
                                <a:alpha val="43137"/>
                              </a:srgbClr>
                            </a:outerShdw>
                          </a:effectLst>
                        </a:rPr>
                        <a:t>86</a:t>
                      </a:r>
                    </a:p>
                  </a:txBody>
                  <a:tcPr/>
                </a:tc>
                <a:tc>
                  <a:txBody>
                    <a:bodyPr/>
                    <a:lstStyle/>
                    <a:p>
                      <a:r>
                        <a:rPr lang="en-US" b="1" dirty="0">
                          <a:effectLst>
                            <a:outerShdw blurRad="38100" dist="38100" dir="2700000" algn="tl">
                              <a:srgbClr val="000000">
                                <a:alpha val="43137"/>
                              </a:srgbClr>
                            </a:outerShdw>
                          </a:effectLst>
                        </a:rPr>
                        <a:t>25</a:t>
                      </a:r>
                    </a:p>
                  </a:txBody>
                  <a:tcPr/>
                </a:tc>
                <a:tc>
                  <a:txBody>
                    <a:bodyPr/>
                    <a:lstStyle/>
                    <a:p>
                      <a:r>
                        <a:rPr lang="en-US" b="1" dirty="0">
                          <a:effectLst>
                            <a:outerShdw blurRad="38100" dist="38100" dir="2700000" algn="tl">
                              <a:srgbClr val="000000">
                                <a:alpha val="43137"/>
                              </a:srgbClr>
                            </a:outerShdw>
                          </a:effectLst>
                        </a:rPr>
                        <a:t> 20</a:t>
                      </a:r>
                    </a:p>
                  </a:txBody>
                  <a:tcPr/>
                </a:tc>
                <a:tc>
                  <a:txBody>
                    <a:bodyPr/>
                    <a:lstStyle/>
                    <a:p>
                      <a:r>
                        <a:rPr lang="en-US" b="1" dirty="0">
                          <a:effectLst>
                            <a:outerShdw blurRad="38100" dist="38100" dir="2700000" algn="tl">
                              <a:srgbClr val="000000">
                                <a:alpha val="43137"/>
                              </a:srgbClr>
                            </a:outerShdw>
                          </a:effectLst>
                        </a:rPr>
                        <a:t>625</a:t>
                      </a:r>
                    </a:p>
                  </a:txBody>
                  <a:tcPr/>
                </a:tc>
                <a:tc>
                  <a:txBody>
                    <a:bodyPr/>
                    <a:lstStyle/>
                    <a:p>
                      <a:r>
                        <a:rPr lang="en-US" b="1" dirty="0">
                          <a:effectLst>
                            <a:outerShdw blurRad="38100" dist="38100" dir="2700000" algn="tl">
                              <a:srgbClr val="000000">
                                <a:alpha val="43137"/>
                              </a:srgbClr>
                            </a:outerShdw>
                          </a:effectLst>
                        </a:rPr>
                        <a:t>400</a:t>
                      </a:r>
                    </a:p>
                  </a:txBody>
                  <a:tcPr/>
                </a:tc>
                <a:tc>
                  <a:txBody>
                    <a:bodyPr/>
                    <a:lstStyle/>
                    <a:p>
                      <a:r>
                        <a:rPr lang="en-US" b="1" dirty="0">
                          <a:effectLst>
                            <a:outerShdw blurRad="38100" dist="38100" dir="2700000" algn="tl">
                              <a:srgbClr val="000000">
                                <a:alpha val="43137"/>
                              </a:srgbClr>
                            </a:outerShdw>
                          </a:effectLst>
                        </a:rPr>
                        <a:t>500</a:t>
                      </a:r>
                    </a:p>
                  </a:txBody>
                  <a:tcPr/>
                </a:tc>
                <a:extLst>
                  <a:ext uri="{0D108BD9-81ED-4DB2-BD59-A6C34878D82A}">
                    <a16:rowId xmlns:a16="http://schemas.microsoft.com/office/drawing/2014/main" val="10004"/>
                  </a:ext>
                </a:extLst>
              </a:tr>
              <a:tr h="457200">
                <a:tc>
                  <a:txBody>
                    <a:bodyPr/>
                    <a:lstStyle/>
                    <a:p>
                      <a:r>
                        <a:rPr lang="en-US" b="1" dirty="0">
                          <a:effectLst>
                            <a:outerShdw blurRad="38100" dist="38100" dir="2700000" algn="tl">
                              <a:srgbClr val="000000">
                                <a:alpha val="43137"/>
                              </a:srgbClr>
                            </a:outerShdw>
                          </a:effectLst>
                        </a:rPr>
                        <a:t>82</a:t>
                      </a:r>
                    </a:p>
                  </a:txBody>
                  <a:tcPr/>
                </a:tc>
                <a:tc>
                  <a:txBody>
                    <a:bodyPr/>
                    <a:lstStyle/>
                    <a:p>
                      <a:r>
                        <a:rPr lang="en-US" b="1" dirty="0">
                          <a:effectLst>
                            <a:outerShdw blurRad="38100" dist="38100" dir="2700000" algn="tl">
                              <a:srgbClr val="000000">
                                <a:alpha val="43137"/>
                              </a:srgbClr>
                            </a:outerShdw>
                          </a:effectLst>
                        </a:rPr>
                        <a:t>62</a:t>
                      </a:r>
                    </a:p>
                  </a:txBody>
                  <a:tcPr/>
                </a:tc>
                <a:tc>
                  <a:txBody>
                    <a:bodyPr/>
                    <a:lstStyle/>
                    <a:p>
                      <a:r>
                        <a:rPr lang="en-US" b="1" dirty="0">
                          <a:effectLst>
                            <a:outerShdw blurRad="38100" dist="38100" dir="2700000" algn="tl">
                              <a:srgbClr val="000000">
                                <a:alpha val="43137"/>
                              </a:srgbClr>
                            </a:outerShdw>
                          </a:effectLst>
                        </a:rPr>
                        <a:t>17</a:t>
                      </a:r>
                    </a:p>
                  </a:txBody>
                  <a:tcPr/>
                </a:tc>
                <a:tc>
                  <a:txBody>
                    <a:bodyPr/>
                    <a:lstStyle/>
                    <a:p>
                      <a:r>
                        <a:rPr lang="en-US" b="1" dirty="0">
                          <a:effectLst>
                            <a:outerShdw blurRad="38100" dist="38100" dir="2700000" algn="tl">
                              <a:srgbClr val="000000">
                                <a:alpha val="43137"/>
                              </a:srgbClr>
                            </a:outerShdw>
                          </a:effectLst>
                        </a:rPr>
                        <a:t>- 4</a:t>
                      </a:r>
                    </a:p>
                  </a:txBody>
                  <a:tcPr/>
                </a:tc>
                <a:tc>
                  <a:txBody>
                    <a:bodyPr/>
                    <a:lstStyle/>
                    <a:p>
                      <a:r>
                        <a:rPr lang="en-US" b="1" dirty="0">
                          <a:effectLst>
                            <a:outerShdw blurRad="38100" dist="38100" dir="2700000" algn="tl">
                              <a:srgbClr val="000000">
                                <a:alpha val="43137"/>
                              </a:srgbClr>
                            </a:outerShdw>
                          </a:effectLst>
                        </a:rPr>
                        <a:t>289</a:t>
                      </a:r>
                    </a:p>
                  </a:txBody>
                  <a:tcPr/>
                </a:tc>
                <a:tc>
                  <a:txBody>
                    <a:bodyPr/>
                    <a:lstStyle/>
                    <a:p>
                      <a:r>
                        <a:rPr lang="en-US" b="1" dirty="0">
                          <a:effectLst>
                            <a:outerShdw blurRad="38100" dist="38100" dir="2700000" algn="tl">
                              <a:srgbClr val="000000">
                                <a:alpha val="43137"/>
                              </a:srgbClr>
                            </a:outerShdw>
                          </a:effectLst>
                        </a:rPr>
                        <a:t>16</a:t>
                      </a:r>
                    </a:p>
                  </a:txBody>
                  <a:tcPr/>
                </a:tc>
                <a:tc>
                  <a:txBody>
                    <a:bodyPr/>
                    <a:lstStyle/>
                    <a:p>
                      <a:r>
                        <a:rPr lang="en-US" b="1" dirty="0">
                          <a:effectLst>
                            <a:outerShdw blurRad="38100" dist="38100" dir="2700000" algn="tl">
                              <a:srgbClr val="000000">
                                <a:alpha val="43137"/>
                              </a:srgbClr>
                            </a:outerShdw>
                          </a:effectLst>
                        </a:rPr>
                        <a:t>- 68</a:t>
                      </a:r>
                    </a:p>
                  </a:txBody>
                  <a:tcPr/>
                </a:tc>
                <a:extLst>
                  <a:ext uri="{0D108BD9-81ED-4DB2-BD59-A6C34878D82A}">
                    <a16:rowId xmlns:a16="http://schemas.microsoft.com/office/drawing/2014/main" val="10005"/>
                  </a:ext>
                </a:extLst>
              </a:tr>
              <a:tr h="457200">
                <a:tc>
                  <a:txBody>
                    <a:bodyPr/>
                    <a:lstStyle/>
                    <a:p>
                      <a:r>
                        <a:rPr lang="en-US" b="1" dirty="0">
                          <a:effectLst>
                            <a:outerShdw blurRad="38100" dist="38100" dir="2700000" algn="tl">
                              <a:srgbClr val="000000">
                                <a:alpha val="43137"/>
                              </a:srgbClr>
                            </a:outerShdw>
                          </a:effectLst>
                        </a:rPr>
                        <a:t>75</a:t>
                      </a:r>
                    </a:p>
                  </a:txBody>
                  <a:tcPr/>
                </a:tc>
                <a:tc>
                  <a:txBody>
                    <a:bodyPr/>
                    <a:lstStyle/>
                    <a:p>
                      <a:r>
                        <a:rPr lang="en-US" b="1" dirty="0">
                          <a:effectLst>
                            <a:outerShdw blurRad="38100" dist="38100" dir="2700000" algn="tl">
                              <a:srgbClr val="000000">
                                <a:alpha val="43137"/>
                              </a:srgbClr>
                            </a:outerShdw>
                          </a:effectLst>
                        </a:rPr>
                        <a:t>68</a:t>
                      </a:r>
                    </a:p>
                  </a:txBody>
                  <a:tcPr/>
                </a:tc>
                <a:tc>
                  <a:txBody>
                    <a:bodyPr/>
                    <a:lstStyle/>
                    <a:p>
                      <a:r>
                        <a:rPr lang="en-US" b="1" dirty="0">
                          <a:effectLst>
                            <a:outerShdw blurRad="38100" dist="38100" dir="2700000" algn="tl">
                              <a:srgbClr val="000000">
                                <a:alpha val="43137"/>
                              </a:srgbClr>
                            </a:outerShdw>
                          </a:effectLst>
                        </a:rPr>
                        <a:t>10</a:t>
                      </a:r>
                    </a:p>
                  </a:txBody>
                  <a:tcPr/>
                </a:tc>
                <a:tc>
                  <a:txBody>
                    <a:bodyPr/>
                    <a:lstStyle/>
                    <a:p>
                      <a:r>
                        <a:rPr lang="en-US" b="1" dirty="0">
                          <a:effectLst>
                            <a:outerShdw blurRad="38100" dist="38100" dir="2700000" algn="tl">
                              <a:srgbClr val="000000">
                                <a:alpha val="43137"/>
                              </a:srgbClr>
                            </a:outerShdw>
                          </a:effectLst>
                        </a:rPr>
                        <a:t> 2</a:t>
                      </a:r>
                    </a:p>
                  </a:txBody>
                  <a:tcPr/>
                </a:tc>
                <a:tc>
                  <a:txBody>
                    <a:bodyPr/>
                    <a:lstStyle/>
                    <a:p>
                      <a:r>
                        <a:rPr lang="en-US" b="1" dirty="0">
                          <a:effectLst>
                            <a:outerShdw blurRad="38100" dist="38100" dir="2700000" algn="tl">
                              <a:srgbClr val="000000">
                                <a:alpha val="43137"/>
                              </a:srgbClr>
                            </a:outerShdw>
                          </a:effectLst>
                        </a:rPr>
                        <a:t>100</a:t>
                      </a:r>
                    </a:p>
                  </a:txBody>
                  <a:tcPr/>
                </a:tc>
                <a:tc>
                  <a:txBody>
                    <a:bodyPr/>
                    <a:lstStyle/>
                    <a:p>
                      <a:r>
                        <a:rPr lang="en-US" b="1" dirty="0">
                          <a:effectLst>
                            <a:outerShdw blurRad="38100" dist="38100" dir="2700000" algn="tl">
                              <a:srgbClr val="000000">
                                <a:alpha val="43137"/>
                              </a:srgbClr>
                            </a:outerShdw>
                          </a:effectLst>
                        </a:rPr>
                        <a:t>4</a:t>
                      </a:r>
                    </a:p>
                  </a:txBody>
                  <a:tcPr/>
                </a:tc>
                <a:tc>
                  <a:txBody>
                    <a:bodyPr/>
                    <a:lstStyle/>
                    <a:p>
                      <a:r>
                        <a:rPr lang="en-US" b="1" dirty="0">
                          <a:effectLst>
                            <a:outerShdw blurRad="38100" dist="38100" dir="2700000" algn="tl">
                              <a:srgbClr val="000000">
                                <a:alpha val="43137"/>
                              </a:srgbClr>
                            </a:outerShdw>
                          </a:effectLst>
                        </a:rPr>
                        <a:t>20 </a:t>
                      </a:r>
                    </a:p>
                  </a:txBody>
                  <a:tcPr/>
                </a:tc>
                <a:extLst>
                  <a:ext uri="{0D108BD9-81ED-4DB2-BD59-A6C34878D82A}">
                    <a16:rowId xmlns:a16="http://schemas.microsoft.com/office/drawing/2014/main" val="10006"/>
                  </a:ext>
                </a:extLst>
              </a:tr>
              <a:tr h="457200">
                <a:tc>
                  <a:txBody>
                    <a:bodyPr/>
                    <a:lstStyle/>
                    <a:p>
                      <a:r>
                        <a:rPr lang="en-US" b="1" dirty="0">
                          <a:effectLst>
                            <a:outerShdw blurRad="38100" dist="38100" dir="2700000" algn="tl">
                              <a:srgbClr val="000000">
                                <a:alpha val="43137"/>
                              </a:srgbClr>
                            </a:outerShdw>
                          </a:effectLst>
                        </a:rPr>
                        <a:t>25</a:t>
                      </a:r>
                    </a:p>
                  </a:txBody>
                  <a:tcPr/>
                </a:tc>
                <a:tc>
                  <a:txBody>
                    <a:bodyPr/>
                    <a:lstStyle/>
                    <a:p>
                      <a:r>
                        <a:rPr lang="en-US" b="1" dirty="0">
                          <a:effectLst>
                            <a:outerShdw blurRad="38100" dist="38100" dir="2700000" algn="tl">
                              <a:srgbClr val="000000">
                                <a:alpha val="43137"/>
                              </a:srgbClr>
                            </a:outerShdw>
                          </a:effectLst>
                        </a:rPr>
                        <a:t>60</a:t>
                      </a:r>
                    </a:p>
                  </a:txBody>
                  <a:tcPr/>
                </a:tc>
                <a:tc>
                  <a:txBody>
                    <a:bodyPr/>
                    <a:lstStyle/>
                    <a:p>
                      <a:r>
                        <a:rPr lang="en-US" b="1" dirty="0">
                          <a:effectLst>
                            <a:outerShdw blurRad="38100" dist="38100" dir="2700000" algn="tl">
                              <a:srgbClr val="000000">
                                <a:alpha val="43137"/>
                              </a:srgbClr>
                            </a:outerShdw>
                          </a:effectLst>
                        </a:rPr>
                        <a:t>- 40</a:t>
                      </a:r>
                    </a:p>
                  </a:txBody>
                  <a:tcPr/>
                </a:tc>
                <a:tc>
                  <a:txBody>
                    <a:bodyPr/>
                    <a:lstStyle/>
                    <a:p>
                      <a:r>
                        <a:rPr lang="en-US" b="1" dirty="0">
                          <a:effectLst>
                            <a:outerShdw blurRad="38100" dist="38100" dir="2700000" algn="tl">
                              <a:srgbClr val="000000">
                                <a:alpha val="43137"/>
                              </a:srgbClr>
                            </a:outerShdw>
                          </a:effectLst>
                        </a:rPr>
                        <a:t>- 6</a:t>
                      </a:r>
                    </a:p>
                  </a:txBody>
                  <a:tcPr/>
                </a:tc>
                <a:tc>
                  <a:txBody>
                    <a:bodyPr/>
                    <a:lstStyle/>
                    <a:p>
                      <a:r>
                        <a:rPr lang="en-US" b="1" dirty="0">
                          <a:effectLst>
                            <a:outerShdw blurRad="38100" dist="38100" dir="2700000" algn="tl">
                              <a:srgbClr val="000000">
                                <a:alpha val="43137"/>
                              </a:srgbClr>
                            </a:outerShdw>
                          </a:effectLst>
                        </a:rPr>
                        <a:t>1600</a:t>
                      </a:r>
                    </a:p>
                  </a:txBody>
                  <a:tcPr/>
                </a:tc>
                <a:tc>
                  <a:txBody>
                    <a:bodyPr/>
                    <a:lstStyle/>
                    <a:p>
                      <a:r>
                        <a:rPr lang="en-US" b="1" dirty="0">
                          <a:effectLst>
                            <a:outerShdw blurRad="38100" dist="38100" dir="2700000" algn="tl">
                              <a:srgbClr val="000000">
                                <a:alpha val="43137"/>
                              </a:srgbClr>
                            </a:outerShdw>
                          </a:effectLst>
                        </a:rPr>
                        <a:t>36</a:t>
                      </a:r>
                    </a:p>
                  </a:txBody>
                  <a:tcPr/>
                </a:tc>
                <a:tc>
                  <a:txBody>
                    <a:bodyPr/>
                    <a:lstStyle/>
                    <a:p>
                      <a:r>
                        <a:rPr lang="en-US" b="1" dirty="0">
                          <a:effectLst>
                            <a:outerShdw blurRad="38100" dist="38100" dir="2700000" algn="tl">
                              <a:srgbClr val="000000">
                                <a:alpha val="43137"/>
                              </a:srgbClr>
                            </a:outerShdw>
                          </a:effectLst>
                        </a:rPr>
                        <a:t>240</a:t>
                      </a:r>
                    </a:p>
                  </a:txBody>
                  <a:tcPr/>
                </a:tc>
                <a:extLst>
                  <a:ext uri="{0D108BD9-81ED-4DB2-BD59-A6C34878D82A}">
                    <a16:rowId xmlns:a16="http://schemas.microsoft.com/office/drawing/2014/main" val="10007"/>
                  </a:ext>
                </a:extLst>
              </a:tr>
              <a:tr h="457200">
                <a:tc>
                  <a:txBody>
                    <a:bodyPr/>
                    <a:lstStyle/>
                    <a:p>
                      <a:r>
                        <a:rPr lang="en-US" b="1" dirty="0">
                          <a:effectLst>
                            <a:outerShdw blurRad="38100" dist="38100" dir="2700000" algn="tl">
                              <a:srgbClr val="000000">
                                <a:alpha val="43137"/>
                              </a:srgbClr>
                            </a:outerShdw>
                          </a:effectLst>
                        </a:rPr>
                        <a:t>98</a:t>
                      </a:r>
                    </a:p>
                  </a:txBody>
                  <a:tcPr/>
                </a:tc>
                <a:tc>
                  <a:txBody>
                    <a:bodyPr/>
                    <a:lstStyle/>
                    <a:p>
                      <a:r>
                        <a:rPr lang="en-US" b="1" dirty="0">
                          <a:effectLst>
                            <a:outerShdw blurRad="38100" dist="38100" dir="2700000" algn="tl">
                              <a:srgbClr val="000000">
                                <a:alpha val="43137"/>
                              </a:srgbClr>
                            </a:outerShdw>
                          </a:effectLst>
                        </a:rPr>
                        <a:t>91</a:t>
                      </a:r>
                    </a:p>
                  </a:txBody>
                  <a:tcPr/>
                </a:tc>
                <a:tc>
                  <a:txBody>
                    <a:bodyPr/>
                    <a:lstStyle/>
                    <a:p>
                      <a:r>
                        <a:rPr lang="en-US" b="1" dirty="0">
                          <a:effectLst>
                            <a:outerShdw blurRad="38100" dist="38100" dir="2700000" algn="tl">
                              <a:srgbClr val="000000">
                                <a:alpha val="43137"/>
                              </a:srgbClr>
                            </a:outerShdw>
                          </a:effectLst>
                        </a:rPr>
                        <a:t>33</a:t>
                      </a:r>
                    </a:p>
                  </a:txBody>
                  <a:tcPr/>
                </a:tc>
                <a:tc>
                  <a:txBody>
                    <a:bodyPr/>
                    <a:lstStyle/>
                    <a:p>
                      <a:r>
                        <a:rPr lang="en-US" b="1" dirty="0">
                          <a:effectLst>
                            <a:outerShdw blurRad="38100" dist="38100" dir="2700000" algn="tl">
                              <a:srgbClr val="000000">
                                <a:alpha val="43137"/>
                              </a:srgbClr>
                            </a:outerShdw>
                          </a:effectLst>
                        </a:rPr>
                        <a:t> 25</a:t>
                      </a:r>
                    </a:p>
                  </a:txBody>
                  <a:tcPr/>
                </a:tc>
                <a:tc>
                  <a:txBody>
                    <a:bodyPr/>
                    <a:lstStyle/>
                    <a:p>
                      <a:r>
                        <a:rPr lang="en-US" b="1" dirty="0">
                          <a:effectLst>
                            <a:outerShdw blurRad="38100" dist="38100" dir="2700000" algn="tl">
                              <a:srgbClr val="000000">
                                <a:alpha val="43137"/>
                              </a:srgbClr>
                            </a:outerShdw>
                          </a:effectLst>
                        </a:rPr>
                        <a:t>1089</a:t>
                      </a:r>
                    </a:p>
                  </a:txBody>
                  <a:tcPr/>
                </a:tc>
                <a:tc>
                  <a:txBody>
                    <a:bodyPr/>
                    <a:lstStyle/>
                    <a:p>
                      <a:r>
                        <a:rPr lang="en-US" b="1" dirty="0">
                          <a:effectLst>
                            <a:outerShdw blurRad="38100" dist="38100" dir="2700000" algn="tl">
                              <a:srgbClr val="000000">
                                <a:alpha val="43137"/>
                              </a:srgbClr>
                            </a:outerShdw>
                          </a:effectLst>
                        </a:rPr>
                        <a:t>625</a:t>
                      </a:r>
                    </a:p>
                  </a:txBody>
                  <a:tcPr/>
                </a:tc>
                <a:tc>
                  <a:txBody>
                    <a:bodyPr/>
                    <a:lstStyle/>
                    <a:p>
                      <a:r>
                        <a:rPr lang="en-US" b="1" dirty="0">
                          <a:effectLst>
                            <a:outerShdw blurRad="38100" dist="38100" dir="2700000" algn="tl">
                              <a:srgbClr val="000000">
                                <a:alpha val="43137"/>
                              </a:srgbClr>
                            </a:outerShdw>
                          </a:effectLst>
                        </a:rPr>
                        <a:t>825</a:t>
                      </a:r>
                    </a:p>
                  </a:txBody>
                  <a:tcPr/>
                </a:tc>
                <a:extLst>
                  <a:ext uri="{0D108BD9-81ED-4DB2-BD59-A6C34878D82A}">
                    <a16:rowId xmlns:a16="http://schemas.microsoft.com/office/drawing/2014/main" val="10008"/>
                  </a:ext>
                </a:extLst>
              </a:tr>
              <a:tr h="457200">
                <a:tc>
                  <a:txBody>
                    <a:bodyPr/>
                    <a:lstStyle/>
                    <a:p>
                      <a:r>
                        <a:rPr lang="en-US" b="1" dirty="0">
                          <a:effectLst>
                            <a:outerShdw blurRad="38100" dist="38100" dir="2700000" algn="tl">
                              <a:srgbClr val="000000">
                                <a:alpha val="43137"/>
                              </a:srgbClr>
                            </a:outerShdw>
                          </a:effectLst>
                        </a:rPr>
                        <a:t>36</a:t>
                      </a:r>
                    </a:p>
                  </a:txBody>
                  <a:tcPr/>
                </a:tc>
                <a:tc>
                  <a:txBody>
                    <a:bodyPr/>
                    <a:lstStyle/>
                    <a:p>
                      <a:r>
                        <a:rPr lang="en-US" b="1" dirty="0">
                          <a:effectLst>
                            <a:outerShdw blurRad="38100" dist="38100" dir="2700000" algn="tl">
                              <a:srgbClr val="000000">
                                <a:alpha val="43137"/>
                              </a:srgbClr>
                            </a:outerShdw>
                          </a:effectLst>
                        </a:rPr>
                        <a:t>51</a:t>
                      </a:r>
                    </a:p>
                  </a:txBody>
                  <a:tcPr/>
                </a:tc>
                <a:tc>
                  <a:txBody>
                    <a:bodyPr/>
                    <a:lstStyle/>
                    <a:p>
                      <a:r>
                        <a:rPr lang="en-US" b="1" dirty="0">
                          <a:effectLst>
                            <a:outerShdw blurRad="38100" dist="38100" dir="2700000" algn="tl">
                              <a:srgbClr val="000000">
                                <a:alpha val="43137"/>
                              </a:srgbClr>
                            </a:outerShdw>
                          </a:effectLst>
                        </a:rPr>
                        <a:t>-29</a:t>
                      </a:r>
                    </a:p>
                  </a:txBody>
                  <a:tcPr/>
                </a:tc>
                <a:tc>
                  <a:txBody>
                    <a:bodyPr/>
                    <a:lstStyle/>
                    <a:p>
                      <a:r>
                        <a:rPr lang="en-US" b="1" dirty="0">
                          <a:effectLst>
                            <a:outerShdw blurRad="38100" dist="38100" dir="2700000" algn="tl">
                              <a:srgbClr val="000000">
                                <a:alpha val="43137"/>
                              </a:srgbClr>
                            </a:outerShdw>
                          </a:effectLst>
                        </a:rPr>
                        <a:t>- 15</a:t>
                      </a:r>
                    </a:p>
                  </a:txBody>
                  <a:tcPr/>
                </a:tc>
                <a:tc>
                  <a:txBody>
                    <a:bodyPr/>
                    <a:lstStyle/>
                    <a:p>
                      <a:r>
                        <a:rPr lang="en-US" b="1" dirty="0">
                          <a:effectLst>
                            <a:outerShdw blurRad="38100" dist="38100" dir="2700000" algn="tl">
                              <a:srgbClr val="000000">
                                <a:alpha val="43137"/>
                              </a:srgbClr>
                            </a:outerShdw>
                          </a:effectLst>
                        </a:rPr>
                        <a:t>841</a:t>
                      </a:r>
                    </a:p>
                  </a:txBody>
                  <a:tcPr/>
                </a:tc>
                <a:tc>
                  <a:txBody>
                    <a:bodyPr/>
                    <a:lstStyle/>
                    <a:p>
                      <a:r>
                        <a:rPr lang="en-US" b="1" dirty="0">
                          <a:effectLst>
                            <a:outerShdw blurRad="38100" dist="38100" dir="2700000" algn="tl">
                              <a:srgbClr val="000000">
                                <a:alpha val="43137"/>
                              </a:srgbClr>
                            </a:outerShdw>
                          </a:effectLst>
                        </a:rPr>
                        <a:t>225</a:t>
                      </a:r>
                    </a:p>
                  </a:txBody>
                  <a:tcPr/>
                </a:tc>
                <a:tc>
                  <a:txBody>
                    <a:bodyPr/>
                    <a:lstStyle/>
                    <a:p>
                      <a:r>
                        <a:rPr lang="en-US" b="1" dirty="0">
                          <a:effectLst>
                            <a:outerShdw blurRad="38100" dist="38100" dir="2700000" algn="tl">
                              <a:srgbClr val="000000">
                                <a:alpha val="43137"/>
                              </a:srgbClr>
                            </a:outerShdw>
                          </a:effectLst>
                        </a:rPr>
                        <a:t>435</a:t>
                      </a:r>
                    </a:p>
                  </a:txBody>
                  <a:tcPr/>
                </a:tc>
                <a:extLst>
                  <a:ext uri="{0D108BD9-81ED-4DB2-BD59-A6C34878D82A}">
                    <a16:rowId xmlns:a16="http://schemas.microsoft.com/office/drawing/2014/main" val="10009"/>
                  </a:ext>
                </a:extLst>
              </a:tr>
              <a:tr h="457200">
                <a:tc>
                  <a:txBody>
                    <a:bodyPr/>
                    <a:lstStyle/>
                    <a:p>
                      <a:r>
                        <a:rPr lang="en-US" b="1" dirty="0">
                          <a:effectLst>
                            <a:outerShdw blurRad="38100" dist="38100" dir="2700000" algn="tl">
                              <a:srgbClr val="000000">
                                <a:alpha val="43137"/>
                              </a:srgbClr>
                            </a:outerShdw>
                          </a:effectLst>
                        </a:rPr>
                        <a:t>78</a:t>
                      </a:r>
                    </a:p>
                  </a:txBody>
                  <a:tcPr/>
                </a:tc>
                <a:tc>
                  <a:txBody>
                    <a:bodyPr/>
                    <a:lstStyle/>
                    <a:p>
                      <a:r>
                        <a:rPr lang="en-US" b="1" dirty="0">
                          <a:effectLst>
                            <a:outerShdw blurRad="38100" dist="38100" dir="2700000" algn="tl">
                              <a:srgbClr val="000000">
                                <a:alpha val="43137"/>
                              </a:srgbClr>
                            </a:outerShdw>
                          </a:effectLst>
                        </a:rPr>
                        <a:t>84</a:t>
                      </a:r>
                    </a:p>
                  </a:txBody>
                  <a:tcPr/>
                </a:tc>
                <a:tc>
                  <a:txBody>
                    <a:bodyPr/>
                    <a:lstStyle/>
                    <a:p>
                      <a:r>
                        <a:rPr lang="en-US" b="1" dirty="0">
                          <a:effectLst>
                            <a:outerShdw blurRad="38100" dist="38100" dir="2700000" algn="tl">
                              <a:srgbClr val="000000">
                                <a:alpha val="43137"/>
                              </a:srgbClr>
                            </a:outerShdw>
                          </a:effectLst>
                        </a:rPr>
                        <a:t>13</a:t>
                      </a:r>
                    </a:p>
                  </a:txBody>
                  <a:tcPr/>
                </a:tc>
                <a:tc>
                  <a:txBody>
                    <a:bodyPr/>
                    <a:lstStyle/>
                    <a:p>
                      <a:r>
                        <a:rPr lang="en-US" b="1" dirty="0">
                          <a:effectLst>
                            <a:outerShdw blurRad="38100" dist="38100" dir="2700000" algn="tl">
                              <a:srgbClr val="000000">
                                <a:alpha val="43137"/>
                              </a:srgbClr>
                            </a:outerShdw>
                          </a:effectLst>
                        </a:rPr>
                        <a:t> 16</a:t>
                      </a:r>
                    </a:p>
                  </a:txBody>
                  <a:tcPr/>
                </a:tc>
                <a:tc>
                  <a:txBody>
                    <a:bodyPr/>
                    <a:lstStyle/>
                    <a:p>
                      <a:r>
                        <a:rPr lang="en-US" b="1" dirty="0">
                          <a:effectLst>
                            <a:outerShdw blurRad="38100" dist="38100" dir="2700000" algn="tl">
                              <a:srgbClr val="000000">
                                <a:alpha val="43137"/>
                              </a:srgbClr>
                            </a:outerShdw>
                          </a:effectLst>
                        </a:rPr>
                        <a:t>169</a:t>
                      </a:r>
                    </a:p>
                  </a:txBody>
                  <a:tcPr/>
                </a:tc>
                <a:tc>
                  <a:txBody>
                    <a:bodyPr/>
                    <a:lstStyle/>
                    <a:p>
                      <a:r>
                        <a:rPr lang="en-US" b="1" dirty="0">
                          <a:effectLst>
                            <a:outerShdw blurRad="38100" dist="38100" dir="2700000" algn="tl">
                              <a:srgbClr val="000000">
                                <a:alpha val="43137"/>
                              </a:srgbClr>
                            </a:outerShdw>
                          </a:effectLst>
                        </a:rPr>
                        <a:t>324</a:t>
                      </a:r>
                    </a:p>
                  </a:txBody>
                  <a:tcPr/>
                </a:tc>
                <a:tc>
                  <a:txBody>
                    <a:bodyPr/>
                    <a:lstStyle/>
                    <a:p>
                      <a:r>
                        <a:rPr lang="en-US" b="1" dirty="0">
                          <a:effectLst>
                            <a:outerShdw blurRad="38100" dist="38100" dir="2700000" algn="tl">
                              <a:srgbClr val="000000">
                                <a:alpha val="43137"/>
                              </a:srgbClr>
                            </a:outerShdw>
                          </a:effectLst>
                        </a:rPr>
                        <a:t>234</a:t>
                      </a:r>
                    </a:p>
                  </a:txBody>
                  <a:tcPr/>
                </a:tc>
                <a:extLst>
                  <a:ext uri="{0D108BD9-81ED-4DB2-BD59-A6C34878D82A}">
                    <a16:rowId xmlns:a16="http://schemas.microsoft.com/office/drawing/2014/main" val="10010"/>
                  </a:ext>
                </a:extLst>
              </a:tr>
              <a:tr h="45720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11"/>
                  </a:ext>
                </a:extLst>
              </a:tr>
              <a:tr h="45720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12"/>
                  </a:ext>
                </a:extLst>
              </a:tr>
            </a:tbl>
          </a:graphicData>
        </a:graphic>
      </p:graphicFrame>
      <p:pic>
        <p:nvPicPr>
          <p:cNvPr id="77827" name="Picture 3"/>
          <p:cNvPicPr>
            <a:picLocks noChangeAspect="1" noChangeArrowheads="1"/>
          </p:cNvPicPr>
          <p:nvPr/>
        </p:nvPicPr>
        <p:blipFill>
          <a:blip r:embed="rId2" cstate="print"/>
          <a:srcRect/>
          <a:stretch>
            <a:fillRect/>
          </a:stretch>
        </p:blipFill>
        <p:spPr bwMode="auto">
          <a:xfrm>
            <a:off x="2743200" y="914400"/>
            <a:ext cx="1219200" cy="381000"/>
          </a:xfrm>
          <a:prstGeom prst="rect">
            <a:avLst/>
          </a:prstGeom>
          <a:noFill/>
          <a:ln w="9525">
            <a:noFill/>
            <a:miter lim="800000"/>
            <a:headEnd/>
            <a:tailEnd/>
          </a:ln>
          <a:effectLst/>
        </p:spPr>
      </p:pic>
      <p:pic>
        <p:nvPicPr>
          <p:cNvPr id="77829" name="Picture 5"/>
          <p:cNvPicPr>
            <a:picLocks noChangeAspect="1" noChangeArrowheads="1"/>
          </p:cNvPicPr>
          <p:nvPr/>
        </p:nvPicPr>
        <p:blipFill>
          <a:blip r:embed="rId3" cstate="print"/>
          <a:srcRect/>
          <a:stretch>
            <a:fillRect/>
          </a:stretch>
        </p:blipFill>
        <p:spPr bwMode="auto">
          <a:xfrm>
            <a:off x="4114800" y="914400"/>
            <a:ext cx="1066800" cy="381000"/>
          </a:xfrm>
          <a:prstGeom prst="rect">
            <a:avLst/>
          </a:prstGeom>
          <a:noFill/>
          <a:ln w="9525">
            <a:noFill/>
            <a:miter lim="800000"/>
            <a:headEnd/>
            <a:tailEnd/>
          </a:ln>
          <a:effectLst/>
        </p:spPr>
      </p:pic>
      <p:pic>
        <p:nvPicPr>
          <p:cNvPr id="77830" name="Picture 6"/>
          <p:cNvPicPr>
            <a:picLocks noChangeAspect="1" noChangeArrowheads="1"/>
          </p:cNvPicPr>
          <p:nvPr/>
        </p:nvPicPr>
        <p:blipFill>
          <a:blip r:embed="rId4" cstate="print"/>
          <a:srcRect/>
          <a:stretch>
            <a:fillRect/>
          </a:stretch>
        </p:blipFill>
        <p:spPr bwMode="auto">
          <a:xfrm>
            <a:off x="5562600" y="914401"/>
            <a:ext cx="628650" cy="457199"/>
          </a:xfrm>
          <a:prstGeom prst="rect">
            <a:avLst/>
          </a:prstGeom>
          <a:noFill/>
          <a:ln w="9525">
            <a:noFill/>
            <a:miter lim="800000"/>
            <a:headEnd/>
            <a:tailEnd/>
          </a:ln>
          <a:effectLst/>
        </p:spPr>
      </p:pic>
      <p:pic>
        <p:nvPicPr>
          <p:cNvPr id="77831" name="Picture 7"/>
          <p:cNvPicPr>
            <a:picLocks noChangeAspect="1" noChangeArrowheads="1"/>
          </p:cNvPicPr>
          <p:nvPr/>
        </p:nvPicPr>
        <p:blipFill>
          <a:blip r:embed="rId5" cstate="print"/>
          <a:srcRect/>
          <a:stretch>
            <a:fillRect/>
          </a:stretch>
        </p:blipFill>
        <p:spPr bwMode="auto">
          <a:xfrm>
            <a:off x="6781800" y="914400"/>
            <a:ext cx="638175" cy="442912"/>
          </a:xfrm>
          <a:prstGeom prst="rect">
            <a:avLst/>
          </a:prstGeom>
          <a:noFill/>
          <a:ln w="9525">
            <a:noFill/>
            <a:miter lim="800000"/>
            <a:headEnd/>
            <a:tailEnd/>
          </a:ln>
          <a:effectLst/>
        </p:spPr>
      </p:pic>
      <p:pic>
        <p:nvPicPr>
          <p:cNvPr id="77832" name="Picture 8"/>
          <p:cNvPicPr>
            <a:picLocks noChangeAspect="1" noChangeArrowheads="1"/>
          </p:cNvPicPr>
          <p:nvPr/>
        </p:nvPicPr>
        <p:blipFill>
          <a:blip r:embed="rId6" cstate="print"/>
          <a:srcRect/>
          <a:stretch>
            <a:fillRect/>
          </a:stretch>
        </p:blipFill>
        <p:spPr bwMode="auto">
          <a:xfrm>
            <a:off x="8077200" y="914400"/>
            <a:ext cx="914400" cy="457199"/>
          </a:xfrm>
          <a:prstGeom prst="rect">
            <a:avLst/>
          </a:prstGeom>
          <a:noFill/>
          <a:ln w="9525">
            <a:noFill/>
            <a:miter lim="800000"/>
            <a:headEnd/>
            <a:tailEnd/>
          </a:ln>
          <a:effectLst/>
        </p:spPr>
      </p:pic>
      <p:pic>
        <p:nvPicPr>
          <p:cNvPr id="77834" name="Picture 10"/>
          <p:cNvPicPr>
            <a:picLocks noChangeAspect="1" noChangeArrowheads="1"/>
          </p:cNvPicPr>
          <p:nvPr/>
        </p:nvPicPr>
        <p:blipFill>
          <a:blip r:embed="rId7" cstate="print"/>
          <a:srcRect/>
          <a:stretch>
            <a:fillRect/>
          </a:stretch>
        </p:blipFill>
        <p:spPr bwMode="auto">
          <a:xfrm>
            <a:off x="152401" y="5943600"/>
            <a:ext cx="1066800" cy="457200"/>
          </a:xfrm>
          <a:prstGeom prst="rect">
            <a:avLst/>
          </a:prstGeom>
          <a:noFill/>
          <a:ln w="9525">
            <a:noFill/>
            <a:miter lim="800000"/>
            <a:headEnd/>
            <a:tailEnd/>
          </a:ln>
          <a:effectLst/>
        </p:spPr>
      </p:pic>
      <p:pic>
        <p:nvPicPr>
          <p:cNvPr id="77835" name="Picture 11"/>
          <p:cNvPicPr>
            <a:picLocks noChangeAspect="1" noChangeArrowheads="1"/>
          </p:cNvPicPr>
          <p:nvPr/>
        </p:nvPicPr>
        <p:blipFill>
          <a:blip r:embed="rId8" cstate="print"/>
          <a:srcRect/>
          <a:stretch>
            <a:fillRect/>
          </a:stretch>
        </p:blipFill>
        <p:spPr bwMode="auto">
          <a:xfrm>
            <a:off x="1524000" y="5943600"/>
            <a:ext cx="1009650" cy="447675"/>
          </a:xfrm>
          <a:prstGeom prst="rect">
            <a:avLst/>
          </a:prstGeom>
          <a:noFill/>
          <a:ln w="9525">
            <a:noFill/>
            <a:miter lim="800000"/>
            <a:headEnd/>
            <a:tailEnd/>
          </a:ln>
          <a:effectLst/>
        </p:spPr>
      </p:pic>
      <p:pic>
        <p:nvPicPr>
          <p:cNvPr id="77836" name="Picture 12"/>
          <p:cNvPicPr>
            <a:picLocks noChangeAspect="1" noChangeArrowheads="1"/>
          </p:cNvPicPr>
          <p:nvPr/>
        </p:nvPicPr>
        <p:blipFill>
          <a:blip r:embed="rId9" cstate="print"/>
          <a:srcRect/>
          <a:stretch>
            <a:fillRect/>
          </a:stretch>
        </p:blipFill>
        <p:spPr bwMode="auto">
          <a:xfrm>
            <a:off x="2743200" y="6019800"/>
            <a:ext cx="962025" cy="371475"/>
          </a:xfrm>
          <a:prstGeom prst="rect">
            <a:avLst/>
          </a:prstGeom>
          <a:noFill/>
          <a:ln w="9525">
            <a:noFill/>
            <a:miter lim="800000"/>
            <a:headEnd/>
            <a:tailEnd/>
          </a:ln>
          <a:effectLst/>
        </p:spPr>
      </p:pic>
      <p:pic>
        <p:nvPicPr>
          <p:cNvPr id="77837" name="Picture 13"/>
          <p:cNvPicPr>
            <a:picLocks noChangeAspect="1" noChangeArrowheads="1"/>
          </p:cNvPicPr>
          <p:nvPr/>
        </p:nvPicPr>
        <p:blipFill>
          <a:blip r:embed="rId10" cstate="print"/>
          <a:srcRect/>
          <a:stretch>
            <a:fillRect/>
          </a:stretch>
        </p:blipFill>
        <p:spPr bwMode="auto">
          <a:xfrm>
            <a:off x="4038601" y="6019800"/>
            <a:ext cx="990600" cy="390525"/>
          </a:xfrm>
          <a:prstGeom prst="rect">
            <a:avLst/>
          </a:prstGeom>
          <a:noFill/>
          <a:ln w="9525">
            <a:noFill/>
            <a:miter lim="800000"/>
            <a:headEnd/>
            <a:tailEnd/>
          </a:ln>
          <a:effectLst/>
        </p:spPr>
      </p:pic>
      <p:pic>
        <p:nvPicPr>
          <p:cNvPr id="77838" name="Picture 14"/>
          <p:cNvPicPr>
            <a:picLocks noChangeAspect="1" noChangeArrowheads="1"/>
          </p:cNvPicPr>
          <p:nvPr/>
        </p:nvPicPr>
        <p:blipFill>
          <a:blip r:embed="rId11" cstate="print"/>
          <a:srcRect/>
          <a:stretch>
            <a:fillRect/>
          </a:stretch>
        </p:blipFill>
        <p:spPr bwMode="auto">
          <a:xfrm>
            <a:off x="5181601" y="5943600"/>
            <a:ext cx="1219199" cy="457200"/>
          </a:xfrm>
          <a:prstGeom prst="rect">
            <a:avLst/>
          </a:prstGeom>
          <a:noFill/>
          <a:ln w="9525">
            <a:noFill/>
            <a:miter lim="800000"/>
            <a:headEnd/>
            <a:tailEnd/>
          </a:ln>
          <a:effectLst/>
        </p:spPr>
      </p:pic>
      <p:pic>
        <p:nvPicPr>
          <p:cNvPr id="77839" name="Picture 15"/>
          <p:cNvPicPr>
            <a:picLocks noChangeAspect="1" noChangeArrowheads="1"/>
          </p:cNvPicPr>
          <p:nvPr/>
        </p:nvPicPr>
        <p:blipFill>
          <a:blip r:embed="rId12" cstate="print"/>
          <a:srcRect/>
          <a:stretch>
            <a:fillRect/>
          </a:stretch>
        </p:blipFill>
        <p:spPr bwMode="auto">
          <a:xfrm>
            <a:off x="6629400" y="6019800"/>
            <a:ext cx="1143000" cy="381000"/>
          </a:xfrm>
          <a:prstGeom prst="rect">
            <a:avLst/>
          </a:prstGeom>
          <a:noFill/>
          <a:ln w="9525">
            <a:noFill/>
            <a:miter lim="800000"/>
            <a:headEnd/>
            <a:tailEnd/>
          </a:ln>
          <a:effectLst/>
        </p:spPr>
      </p:pic>
      <p:pic>
        <p:nvPicPr>
          <p:cNvPr id="77840" name="Picture 16"/>
          <p:cNvPicPr>
            <a:picLocks noChangeAspect="1" noChangeArrowheads="1"/>
          </p:cNvPicPr>
          <p:nvPr/>
        </p:nvPicPr>
        <p:blipFill>
          <a:blip r:embed="rId13" cstate="print"/>
          <a:srcRect/>
          <a:stretch>
            <a:fillRect/>
          </a:stretch>
        </p:blipFill>
        <p:spPr bwMode="auto">
          <a:xfrm>
            <a:off x="7848600" y="6019801"/>
            <a:ext cx="1295400" cy="457200"/>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p:cNvPicPr>
            <a:picLocks noChangeAspect="1" noChangeArrowheads="1"/>
          </p:cNvPicPr>
          <p:nvPr/>
        </p:nvPicPr>
        <p:blipFill>
          <a:blip r:embed="rId2" cstate="print"/>
          <a:srcRect/>
          <a:stretch>
            <a:fillRect/>
          </a:stretch>
        </p:blipFill>
        <p:spPr bwMode="auto">
          <a:xfrm>
            <a:off x="2133600" y="3352800"/>
            <a:ext cx="4572000" cy="1304925"/>
          </a:xfrm>
          <a:prstGeom prst="rect">
            <a:avLst/>
          </a:prstGeom>
          <a:noFill/>
          <a:ln w="9525">
            <a:noFill/>
            <a:miter lim="800000"/>
            <a:headEnd/>
            <a:tailEnd/>
          </a:ln>
          <a:effectLst/>
        </p:spPr>
      </p:pic>
      <p:sp>
        <p:nvSpPr>
          <p:cNvPr id="6" name="Content Placeholder 2"/>
          <p:cNvSpPr txBox="1">
            <a:spLocks/>
          </p:cNvSpPr>
          <p:nvPr/>
        </p:nvSpPr>
        <p:spPr>
          <a:xfrm>
            <a:off x="0" y="4419600"/>
            <a:ext cx="9144000" cy="2590800"/>
          </a:xfrm>
          <a:prstGeom prst="rect">
            <a:avLst/>
          </a:prstGeom>
        </p:spPr>
        <p:txBody>
          <a:bodyPr vert="horz" lIns="91440" tIns="45720" rIns="91440" bIns="45720" rtlCol="0">
            <a:normAutofit fontScale="25000" lnSpcReduction="20000"/>
          </a:bodyPr>
          <a:lstStyle/>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rgbClr val="0000FF"/>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9600" b="1" i="0" u="none" strike="noStrike" kern="1200" cap="none" spc="0" normalizeH="0" baseline="0" noProof="0" dirty="0">
                <a:ln>
                  <a:noFill/>
                </a:ln>
                <a:solidFill>
                  <a:srgbClr val="0000FF"/>
                </a:solidFill>
                <a:effectLst/>
                <a:uLnTx/>
                <a:uFillTx/>
                <a:latin typeface="+mn-lt"/>
                <a:ea typeface="+mn-ea"/>
                <a:cs typeface="+mn-cs"/>
              </a:rPr>
              <a:t>Interpretation</a:t>
            </a:r>
            <a:r>
              <a:rPr kumimoji="0" lang="en-US" sz="9600" b="0" i="0" u="none" strike="noStrike" kern="1200" cap="none" spc="0" normalizeH="0" baseline="0" noProof="0" dirty="0">
                <a:ln>
                  <a:noFill/>
                </a:ln>
                <a:solidFill>
                  <a:srgbClr val="0000FF"/>
                </a:solidFill>
                <a:effectLst/>
                <a:uLnTx/>
                <a:uFillTx/>
                <a:latin typeface="+mn-lt"/>
                <a:ea typeface="+mn-ea"/>
                <a:cs typeface="+mn-cs"/>
              </a:rPr>
              <a:t>: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6400" b="0" i="0" u="none" strike="noStrike" kern="1200" cap="none" spc="0" normalizeH="0" baseline="0" noProof="0" dirty="0">
              <a:ln>
                <a:noFill/>
              </a:ln>
              <a:solidFill>
                <a:srgbClr val="0000FF"/>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8000" b="1" i="0" u="none" strike="noStrike" kern="1200" cap="none" spc="0" normalizeH="0" baseline="0" noProof="0" dirty="0">
                <a:ln>
                  <a:noFill/>
                </a:ln>
                <a:solidFill>
                  <a:schemeClr val="tx1"/>
                </a:solidFill>
                <a:effectLst/>
                <a:uLnTx/>
                <a:uFillTx/>
                <a:latin typeface="+mn-lt"/>
                <a:ea typeface="+mn-ea"/>
                <a:cs typeface="+mn-cs"/>
              </a:rPr>
              <a:t>Since coefficient of correlation </a:t>
            </a:r>
            <a:r>
              <a:rPr kumimoji="0" lang="en-US" sz="11200" b="1" i="0" u="sng"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mn-lt"/>
                <a:ea typeface="+mn-ea"/>
                <a:cs typeface="+mn-cs"/>
              </a:rPr>
              <a:t>r = +0.7804</a:t>
            </a:r>
            <a:r>
              <a:rPr kumimoji="0" lang="en-US" sz="8000" b="1" i="0" u="none" strike="noStrike" kern="1200" cap="none" spc="0" normalizeH="0" baseline="0" noProof="0" dirty="0">
                <a:ln>
                  <a:noFill/>
                </a:ln>
                <a:solidFill>
                  <a:schemeClr val="tx1"/>
                </a:solidFill>
                <a:effectLst/>
                <a:uLnTx/>
                <a:uFillTx/>
                <a:latin typeface="+mn-lt"/>
                <a:ea typeface="+mn-ea"/>
                <a:cs typeface="+mn-cs"/>
              </a:rPr>
              <a:t>, it indicates that there is a high degree of POSITIVE  correlation between the two variables.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8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8000" b="1" i="0" u="none" strike="noStrike" kern="1200" cap="none" spc="0" normalizeH="0" baseline="0" noProof="0" dirty="0">
                <a:ln>
                  <a:noFill/>
                </a:ln>
                <a:solidFill>
                  <a:schemeClr val="tx1"/>
                </a:solidFill>
                <a:effectLst/>
                <a:uLnTx/>
                <a:uFillTx/>
                <a:latin typeface="+mn-lt"/>
                <a:ea typeface="+mn-ea"/>
                <a:cs typeface="+mn-cs"/>
              </a:rPr>
              <a:t>Hence we conclude that sales have</a:t>
            </a:r>
            <a:r>
              <a:rPr kumimoji="0" lang="en-US" sz="8000" b="1" i="0" u="none" strike="noStrike" kern="1200" cap="none" spc="0" normalizeH="0" noProof="0" dirty="0">
                <a:ln>
                  <a:noFill/>
                </a:ln>
                <a:solidFill>
                  <a:schemeClr val="tx1"/>
                </a:solidFill>
                <a:effectLst/>
                <a:uLnTx/>
                <a:uFillTx/>
                <a:latin typeface="+mn-lt"/>
                <a:ea typeface="+mn-ea"/>
                <a:cs typeface="+mn-cs"/>
              </a:rPr>
              <a:t> </a:t>
            </a:r>
            <a:r>
              <a:rPr kumimoji="0" lang="en-US" sz="8000" b="1" i="0" u="none" strike="noStrike" kern="1200" cap="none" spc="0" normalizeH="0" baseline="0" noProof="0" dirty="0">
                <a:ln>
                  <a:noFill/>
                </a:ln>
                <a:solidFill>
                  <a:schemeClr val="tx1"/>
                </a:solidFill>
                <a:effectLst/>
                <a:uLnTx/>
                <a:uFillTx/>
                <a:latin typeface="+mn-lt"/>
                <a:ea typeface="+mn-ea"/>
                <a:cs typeface="+mn-cs"/>
              </a:rPr>
              <a:t>increased, with an increased in advertising</a:t>
            </a:r>
            <a:r>
              <a:rPr kumimoji="0" lang="en-US" sz="8000" b="1" i="0" u="none" strike="noStrike" kern="1200" cap="none" spc="0" normalizeH="0" noProof="0" dirty="0">
                <a:ln>
                  <a:noFill/>
                </a:ln>
                <a:solidFill>
                  <a:schemeClr val="tx1"/>
                </a:solidFill>
                <a:effectLst/>
                <a:uLnTx/>
                <a:uFillTx/>
                <a:latin typeface="+mn-lt"/>
                <a:ea typeface="+mn-ea"/>
                <a:cs typeface="+mn-cs"/>
              </a:rPr>
              <a:t> </a:t>
            </a:r>
            <a:r>
              <a:rPr lang="en-US" sz="8000" b="1" dirty="0"/>
              <a:t>expenditure</a:t>
            </a:r>
            <a:r>
              <a:rPr kumimoji="0" lang="en-US" sz="8000" b="1"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79876" name="Picture 4"/>
          <p:cNvPicPr>
            <a:picLocks noChangeAspect="1" noChangeArrowheads="1"/>
          </p:cNvPicPr>
          <p:nvPr/>
        </p:nvPicPr>
        <p:blipFill>
          <a:blip r:embed="rId3" cstate="print"/>
          <a:srcRect/>
          <a:stretch>
            <a:fillRect/>
          </a:stretch>
        </p:blipFill>
        <p:spPr bwMode="auto">
          <a:xfrm>
            <a:off x="2209800" y="1676400"/>
            <a:ext cx="3695700" cy="1428750"/>
          </a:xfrm>
          <a:prstGeom prst="rect">
            <a:avLst/>
          </a:prstGeom>
          <a:noFill/>
          <a:ln w="9525">
            <a:noFill/>
            <a:miter lim="800000"/>
            <a:headEnd/>
            <a:tailEnd/>
          </a:ln>
          <a:effectLst/>
        </p:spPr>
      </p:pic>
      <p:pic>
        <p:nvPicPr>
          <p:cNvPr id="79877" name="Picture 5"/>
          <p:cNvPicPr>
            <a:picLocks noChangeAspect="1" noChangeArrowheads="1"/>
          </p:cNvPicPr>
          <p:nvPr/>
        </p:nvPicPr>
        <p:blipFill>
          <a:blip r:embed="rId4" cstate="print"/>
          <a:srcRect/>
          <a:stretch>
            <a:fillRect/>
          </a:stretch>
        </p:blipFill>
        <p:spPr bwMode="auto">
          <a:xfrm>
            <a:off x="152400" y="0"/>
            <a:ext cx="3343275" cy="1000125"/>
          </a:xfrm>
          <a:prstGeom prst="rect">
            <a:avLst/>
          </a:prstGeom>
          <a:noFill/>
          <a:ln w="9525">
            <a:noFill/>
            <a:miter lim="800000"/>
            <a:headEnd/>
            <a:tailEnd/>
          </a:ln>
          <a:effectLst/>
        </p:spPr>
      </p:pic>
      <p:pic>
        <p:nvPicPr>
          <p:cNvPr id="79878" name="Picture 6"/>
          <p:cNvPicPr>
            <a:picLocks noChangeAspect="1" noChangeArrowheads="1"/>
          </p:cNvPicPr>
          <p:nvPr/>
        </p:nvPicPr>
        <p:blipFill>
          <a:blip r:embed="rId5" cstate="print"/>
          <a:srcRect/>
          <a:stretch>
            <a:fillRect/>
          </a:stretch>
        </p:blipFill>
        <p:spPr bwMode="auto">
          <a:xfrm>
            <a:off x="4800600" y="152400"/>
            <a:ext cx="3124200" cy="847725"/>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marL="0" indent="0" algn="just">
              <a:buNone/>
            </a:pPr>
            <a:r>
              <a:rPr lang="en-US" sz="2800" b="1" u="sng" dirty="0">
                <a:solidFill>
                  <a:srgbClr val="0000FF"/>
                </a:solidFill>
              </a:rPr>
              <a:t>ASSUMED MEAN METHOD</a:t>
            </a:r>
            <a:r>
              <a:rPr lang="en-US" sz="2800" b="1" dirty="0">
                <a:solidFill>
                  <a:srgbClr val="0000FF"/>
                </a:solidFill>
              </a:rPr>
              <a:t> </a:t>
            </a:r>
          </a:p>
          <a:p>
            <a:pPr marL="0" indent="0" algn="just">
              <a:buNone/>
            </a:pPr>
            <a:r>
              <a:rPr lang="en-US" sz="2400" b="1" dirty="0"/>
              <a:t>formula</a:t>
            </a:r>
            <a:endParaRPr lang="en-US" b="1" dirty="0"/>
          </a:p>
        </p:txBody>
      </p:sp>
      <p:sp>
        <p:nvSpPr>
          <p:cNvPr id="2" name="Rectangle 1"/>
          <p:cNvSpPr/>
          <p:nvPr/>
        </p:nvSpPr>
        <p:spPr>
          <a:xfrm>
            <a:off x="0" y="3429000"/>
            <a:ext cx="8839200" cy="3354765"/>
          </a:xfrm>
          <a:prstGeom prst="rect">
            <a:avLst/>
          </a:prstGeom>
        </p:spPr>
        <p:txBody>
          <a:bodyPr wrap="square">
            <a:spAutoFit/>
          </a:bodyPr>
          <a:lstStyle/>
          <a:p>
            <a:pPr algn="just"/>
            <a:r>
              <a:rPr lang="en-US" sz="2400" dirty="0"/>
              <a:t>The calculation of Pearson's correlation coefficient can be simplified by taking deviations of </a:t>
            </a:r>
            <a:r>
              <a:rPr lang="en-US" sz="3200" b="1" dirty="0"/>
              <a:t>x</a:t>
            </a:r>
            <a:r>
              <a:rPr lang="en-US" sz="2400" b="1" dirty="0"/>
              <a:t> </a:t>
            </a:r>
            <a:r>
              <a:rPr lang="en-US" sz="2400" dirty="0"/>
              <a:t>and </a:t>
            </a:r>
            <a:r>
              <a:rPr lang="en-US" sz="3200" b="1" dirty="0">
                <a:solidFill>
                  <a:srgbClr val="FF0000"/>
                </a:solidFill>
              </a:rPr>
              <a:t>y</a:t>
            </a:r>
            <a:r>
              <a:rPr lang="en-US" sz="2400" dirty="0"/>
              <a:t> values from their </a:t>
            </a:r>
            <a:r>
              <a:rPr lang="en-US" sz="2800" b="1" u="sng" dirty="0">
                <a:effectLst>
                  <a:outerShdw blurRad="38100" dist="38100" dir="2700000" algn="tl">
                    <a:srgbClr val="000000">
                      <a:alpha val="43137"/>
                    </a:srgbClr>
                  </a:outerShdw>
                </a:effectLst>
              </a:rPr>
              <a:t>assumed means </a:t>
            </a:r>
            <a:r>
              <a:rPr lang="en-US" sz="3200" b="1" dirty="0"/>
              <a:t>A </a:t>
            </a:r>
            <a:r>
              <a:rPr lang="en-US" sz="2400" b="1" dirty="0"/>
              <a:t>and </a:t>
            </a:r>
            <a:r>
              <a:rPr lang="en-US" sz="3200" b="1" dirty="0"/>
              <a:t>B</a:t>
            </a:r>
            <a:r>
              <a:rPr lang="en-US" sz="2400" b="1" dirty="0"/>
              <a:t>, </a:t>
            </a:r>
            <a:r>
              <a:rPr lang="en-US" sz="2400" dirty="0"/>
              <a:t>respectively. </a:t>
            </a:r>
          </a:p>
          <a:p>
            <a:pPr algn="just"/>
            <a:r>
              <a:rPr lang="en-US" sz="2400" dirty="0"/>
              <a:t>That is, </a:t>
            </a:r>
            <a:r>
              <a:rPr lang="en-US" sz="2400" b="1" dirty="0">
                <a:solidFill>
                  <a:srgbClr val="FF0000"/>
                </a:solidFill>
                <a:effectLst>
                  <a:outerShdw blurRad="38100" dist="38100" dir="2700000" algn="tl">
                    <a:srgbClr val="000000">
                      <a:alpha val="43137"/>
                    </a:srgbClr>
                  </a:outerShdw>
                </a:effectLst>
              </a:rPr>
              <a:t>dx = x – A </a:t>
            </a:r>
            <a:r>
              <a:rPr lang="en-US" sz="2400" dirty="0"/>
              <a:t>and </a:t>
            </a:r>
            <a:r>
              <a:rPr lang="en-US" sz="2400" b="1" dirty="0" err="1">
                <a:solidFill>
                  <a:srgbClr val="FF00FF"/>
                </a:solidFill>
                <a:effectLst>
                  <a:outerShdw blurRad="38100" dist="38100" dir="2700000" algn="tl">
                    <a:srgbClr val="000000">
                      <a:alpha val="43137"/>
                    </a:srgbClr>
                  </a:outerShdw>
                </a:effectLst>
              </a:rPr>
              <a:t>dy</a:t>
            </a:r>
            <a:r>
              <a:rPr lang="en-US" sz="2400" b="1" dirty="0">
                <a:solidFill>
                  <a:srgbClr val="FF00FF"/>
                </a:solidFill>
                <a:effectLst>
                  <a:outerShdw blurRad="38100" dist="38100" dir="2700000" algn="tl">
                    <a:srgbClr val="000000">
                      <a:alpha val="43137"/>
                    </a:srgbClr>
                  </a:outerShdw>
                </a:effectLst>
              </a:rPr>
              <a:t> = y – B</a:t>
            </a:r>
            <a:r>
              <a:rPr lang="en-US" sz="2400" dirty="0"/>
              <a:t>, where </a:t>
            </a:r>
            <a:r>
              <a:rPr lang="en-US" sz="2400" b="1" dirty="0"/>
              <a:t>A and B are assumed means of x and y values</a:t>
            </a:r>
          </a:p>
          <a:p>
            <a:pPr algn="just"/>
            <a:r>
              <a:rPr lang="en-US" sz="2400" b="1" dirty="0"/>
              <a:t>                                        </a:t>
            </a:r>
            <a:endParaRPr lang="en-US" sz="2400" b="1" dirty="0">
              <a:solidFill>
                <a:srgbClr val="CC0000"/>
              </a:solidFill>
            </a:endParaRPr>
          </a:p>
          <a:p>
            <a:pPr algn="just"/>
            <a:endParaRPr lang="en-US" sz="2400" b="1" dirty="0"/>
          </a:p>
          <a:p>
            <a:pPr algn="just"/>
            <a:r>
              <a:rPr lang="en-US" sz="2400" b="1" dirty="0">
                <a:solidFill>
                  <a:srgbClr val="FF0000"/>
                </a:solidFill>
                <a:effectLst>
                  <a:outerShdw blurRad="38100" dist="38100" dir="2700000" algn="tl">
                    <a:srgbClr val="000000">
                      <a:alpha val="43137"/>
                    </a:srgbClr>
                  </a:outerShdw>
                </a:effectLst>
              </a:rPr>
              <a:t>                 </a:t>
            </a:r>
            <a:endParaRPr lang="en-US" sz="2400" b="1"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7800" y="990600"/>
            <a:ext cx="5791201"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41730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229600" cy="4525963"/>
          </a:xfrm>
        </p:spPr>
        <p:txBody>
          <a:bodyPr/>
          <a:lstStyle/>
          <a:p>
            <a:pPr lvl="0" algn="just"/>
            <a:r>
              <a:rPr lang="en-US" b="1" u="sng" dirty="0">
                <a:solidFill>
                  <a:srgbClr val="0000FF"/>
                </a:solidFill>
                <a:effectLst>
                  <a:outerShdw blurRad="38100" dist="38100" dir="2700000" algn="tl">
                    <a:srgbClr val="000000">
                      <a:alpha val="43137"/>
                    </a:srgbClr>
                  </a:outerShdw>
                </a:effectLst>
              </a:rPr>
              <a:t>Problem:</a:t>
            </a:r>
            <a:r>
              <a:rPr lang="en-US" b="1" dirty="0">
                <a:solidFill>
                  <a:srgbClr val="0000FF"/>
                </a:solidFill>
                <a:effectLst>
                  <a:outerShdw blurRad="38100" dist="38100" dir="2700000" algn="tl">
                    <a:srgbClr val="000000">
                      <a:alpha val="43137"/>
                    </a:srgbClr>
                  </a:outerShdw>
                </a:effectLst>
              </a:rPr>
              <a:t> </a:t>
            </a:r>
            <a:r>
              <a:rPr lang="en-US" dirty="0">
                <a:solidFill>
                  <a:srgbClr val="0000FF"/>
                </a:solidFill>
              </a:rPr>
              <a:t>Calculate Karl PEARSONS’S  coefficient of correlation for the ages of husbands and wives</a:t>
            </a:r>
          </a:p>
          <a:p>
            <a:endParaRPr lang="en-US" dirty="0"/>
          </a:p>
        </p:txBody>
      </p:sp>
      <p:pic>
        <p:nvPicPr>
          <p:cNvPr id="2" name="Picture 1"/>
          <p:cNvPicPr>
            <a:picLocks noChangeAspect="1" noChangeArrowheads="1"/>
          </p:cNvPicPr>
          <p:nvPr/>
        </p:nvPicPr>
        <p:blipFill>
          <a:blip r:embed="rId2" cstate="print"/>
          <a:srcRect/>
          <a:stretch>
            <a:fillRect/>
          </a:stretch>
        </p:blipFill>
        <p:spPr bwMode="auto">
          <a:xfrm>
            <a:off x="990600" y="2209800"/>
            <a:ext cx="2362200" cy="434340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5962"/>
          </a:xfrm>
        </p:spPr>
        <p:txBody>
          <a:bodyPr>
            <a:noAutofit/>
          </a:bodyPr>
          <a:lstStyle/>
          <a:p>
            <a:r>
              <a:rPr lang="en-US" sz="2800" b="1" dirty="0">
                <a:solidFill>
                  <a:srgbClr val="CC0000"/>
                </a:solidFill>
                <a:effectLst>
                  <a:outerShdw blurRad="38100" dist="38100" dir="2700000" algn="tl">
                    <a:srgbClr val="000000">
                      <a:alpha val="43137"/>
                    </a:srgbClr>
                  </a:outerShdw>
                </a:effectLst>
              </a:rPr>
              <a:t>ASSUMED MEAN KARL-PEARSONS’ </a:t>
            </a:r>
          </a:p>
        </p:txBody>
      </p:sp>
      <p:graphicFrame>
        <p:nvGraphicFramePr>
          <p:cNvPr id="4" name="Content Placeholder 3"/>
          <p:cNvGraphicFramePr>
            <a:graphicFrameLocks noGrp="1"/>
          </p:cNvGraphicFramePr>
          <p:nvPr>
            <p:ph idx="1"/>
          </p:nvPr>
        </p:nvGraphicFramePr>
        <p:xfrm>
          <a:off x="152401" y="914403"/>
          <a:ext cx="8991598" cy="5943600"/>
        </p:xfrm>
        <a:graphic>
          <a:graphicData uri="http://schemas.openxmlformats.org/drawingml/2006/table">
            <a:tbl>
              <a:tblPr firstRow="1" bandRow="1">
                <a:tableStyleId>{5C22544A-7EE6-4342-B048-85BDC9FD1C3A}</a:tableStyleId>
              </a:tblPr>
              <a:tblGrid>
                <a:gridCol w="1142999">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164771">
                  <a:extLst>
                    <a:ext uri="{9D8B030D-6E8A-4147-A177-3AD203B41FA5}">
                      <a16:colId xmlns:a16="http://schemas.microsoft.com/office/drawing/2014/main" val="20004"/>
                    </a:ext>
                  </a:extLst>
                </a:gridCol>
                <a:gridCol w="1284514">
                  <a:extLst>
                    <a:ext uri="{9D8B030D-6E8A-4147-A177-3AD203B41FA5}">
                      <a16:colId xmlns:a16="http://schemas.microsoft.com/office/drawing/2014/main" val="20005"/>
                    </a:ext>
                  </a:extLst>
                </a:gridCol>
                <a:gridCol w="1284514">
                  <a:extLst>
                    <a:ext uri="{9D8B030D-6E8A-4147-A177-3AD203B41FA5}">
                      <a16:colId xmlns:a16="http://schemas.microsoft.com/office/drawing/2014/main" val="20006"/>
                    </a:ext>
                  </a:extLst>
                </a:gridCol>
              </a:tblGrid>
              <a:tr h="457200">
                <a:tc>
                  <a:txBody>
                    <a:bodyPr/>
                    <a:lstStyle/>
                    <a:p>
                      <a:r>
                        <a:rPr lang="en-US" dirty="0"/>
                        <a:t>X</a:t>
                      </a:r>
                    </a:p>
                  </a:txBody>
                  <a:tcPr/>
                </a:tc>
                <a:tc>
                  <a:txBody>
                    <a:bodyPr/>
                    <a:lstStyle/>
                    <a:p>
                      <a:r>
                        <a:rPr lang="en-US" dirty="0"/>
                        <a:t>Y</a:t>
                      </a:r>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0"/>
                  </a:ext>
                </a:extLst>
              </a:tr>
              <a:tr h="457200">
                <a:tc>
                  <a:txBody>
                    <a:bodyPr/>
                    <a:lstStyle/>
                    <a:p>
                      <a:r>
                        <a:rPr lang="en-US" b="1" dirty="0">
                          <a:effectLst>
                            <a:outerShdw blurRad="38100" dist="38100" dir="2700000" algn="tl">
                              <a:srgbClr val="000000">
                                <a:alpha val="43137"/>
                              </a:srgbClr>
                            </a:outerShdw>
                          </a:effectLst>
                        </a:rPr>
                        <a:t>23</a:t>
                      </a:r>
                    </a:p>
                  </a:txBody>
                  <a:tcPr/>
                </a:tc>
                <a:tc>
                  <a:txBody>
                    <a:bodyPr/>
                    <a:lstStyle/>
                    <a:p>
                      <a:r>
                        <a:rPr lang="en-US" b="1" dirty="0">
                          <a:effectLst>
                            <a:outerShdw blurRad="38100" dist="38100" dir="2700000" algn="tl">
                              <a:srgbClr val="000000">
                                <a:alpha val="43137"/>
                              </a:srgbClr>
                            </a:outerShdw>
                          </a:effectLst>
                        </a:rPr>
                        <a:t>18</a:t>
                      </a:r>
                    </a:p>
                  </a:txBody>
                  <a:tcPr/>
                </a:tc>
                <a:tc>
                  <a:txBody>
                    <a:bodyPr/>
                    <a:lstStyle/>
                    <a:p>
                      <a:pPr algn="ctr"/>
                      <a:r>
                        <a:rPr lang="en-US" b="1" dirty="0">
                          <a:effectLst>
                            <a:outerShdw blurRad="38100" dist="38100" dir="2700000" algn="tl">
                              <a:srgbClr val="000000">
                                <a:alpha val="43137"/>
                              </a:srgbClr>
                            </a:outerShdw>
                          </a:effectLst>
                        </a:rPr>
                        <a:t>- 8</a:t>
                      </a:r>
                    </a:p>
                  </a:txBody>
                  <a:tcPr/>
                </a:tc>
                <a:tc>
                  <a:txBody>
                    <a:bodyPr/>
                    <a:lstStyle/>
                    <a:p>
                      <a:pPr algn="ctr"/>
                      <a:r>
                        <a:rPr lang="en-US" b="1" dirty="0">
                          <a:effectLst>
                            <a:outerShdw blurRad="38100" dist="38100" dir="2700000" algn="tl">
                              <a:srgbClr val="000000">
                                <a:alpha val="43137"/>
                              </a:srgbClr>
                            </a:outerShdw>
                          </a:effectLst>
                        </a:rPr>
                        <a:t>- 7</a:t>
                      </a:r>
                    </a:p>
                  </a:txBody>
                  <a:tcPr/>
                </a:tc>
                <a:tc>
                  <a:txBody>
                    <a:bodyPr/>
                    <a:lstStyle/>
                    <a:p>
                      <a:pPr algn="ctr"/>
                      <a:r>
                        <a:rPr lang="en-US" b="1" dirty="0">
                          <a:effectLst>
                            <a:outerShdw blurRad="38100" dist="38100" dir="2700000" algn="tl">
                              <a:srgbClr val="000000">
                                <a:alpha val="43137"/>
                              </a:srgbClr>
                            </a:outerShdw>
                          </a:effectLst>
                        </a:rPr>
                        <a:t>64</a:t>
                      </a:r>
                    </a:p>
                  </a:txBody>
                  <a:tcPr/>
                </a:tc>
                <a:tc>
                  <a:txBody>
                    <a:bodyPr/>
                    <a:lstStyle/>
                    <a:p>
                      <a:pPr algn="ctr"/>
                      <a:r>
                        <a:rPr lang="en-US" b="1" dirty="0">
                          <a:effectLst>
                            <a:outerShdw blurRad="38100" dist="38100" dir="2700000" algn="tl">
                              <a:srgbClr val="000000">
                                <a:alpha val="43137"/>
                              </a:srgbClr>
                            </a:outerShdw>
                          </a:effectLst>
                        </a:rPr>
                        <a:t>49</a:t>
                      </a:r>
                    </a:p>
                  </a:txBody>
                  <a:tcPr/>
                </a:tc>
                <a:tc>
                  <a:txBody>
                    <a:bodyPr/>
                    <a:lstStyle/>
                    <a:p>
                      <a:pPr algn="ctr"/>
                      <a:r>
                        <a:rPr lang="en-US" b="1" dirty="0">
                          <a:effectLst>
                            <a:outerShdw blurRad="38100" dist="38100" dir="2700000" algn="tl">
                              <a:srgbClr val="000000">
                                <a:alpha val="43137"/>
                              </a:srgbClr>
                            </a:outerShdw>
                          </a:effectLst>
                        </a:rPr>
                        <a:t>56</a:t>
                      </a:r>
                    </a:p>
                  </a:txBody>
                  <a:tcPr/>
                </a:tc>
                <a:extLst>
                  <a:ext uri="{0D108BD9-81ED-4DB2-BD59-A6C34878D82A}">
                    <a16:rowId xmlns:a16="http://schemas.microsoft.com/office/drawing/2014/main" val="10001"/>
                  </a:ext>
                </a:extLst>
              </a:tr>
              <a:tr h="457200">
                <a:tc>
                  <a:txBody>
                    <a:bodyPr/>
                    <a:lstStyle/>
                    <a:p>
                      <a:r>
                        <a:rPr lang="en-US" b="1" dirty="0">
                          <a:effectLst>
                            <a:outerShdw blurRad="38100" dist="38100" dir="2700000" algn="tl">
                              <a:srgbClr val="000000">
                                <a:alpha val="43137"/>
                              </a:srgbClr>
                            </a:outerShdw>
                          </a:effectLst>
                        </a:rPr>
                        <a:t>27</a:t>
                      </a:r>
                    </a:p>
                  </a:txBody>
                  <a:tcPr/>
                </a:tc>
                <a:tc>
                  <a:txBody>
                    <a:bodyPr/>
                    <a:lstStyle/>
                    <a:p>
                      <a:r>
                        <a:rPr lang="en-US" b="1" dirty="0">
                          <a:effectLst>
                            <a:outerShdw blurRad="38100" dist="38100" dir="2700000" algn="tl">
                              <a:srgbClr val="000000">
                                <a:alpha val="43137"/>
                              </a:srgbClr>
                            </a:outerShdw>
                          </a:effectLst>
                        </a:rPr>
                        <a:t>22</a:t>
                      </a:r>
                    </a:p>
                  </a:txBody>
                  <a:tcPr/>
                </a:tc>
                <a:tc>
                  <a:txBody>
                    <a:bodyPr/>
                    <a:lstStyle/>
                    <a:p>
                      <a:pPr algn="ctr"/>
                      <a:r>
                        <a:rPr lang="en-US" b="1" dirty="0">
                          <a:effectLst>
                            <a:outerShdw blurRad="38100" dist="38100" dir="2700000" algn="tl">
                              <a:srgbClr val="000000">
                                <a:alpha val="43137"/>
                              </a:srgbClr>
                            </a:outerShdw>
                          </a:effectLst>
                        </a:rPr>
                        <a:t>- 4</a:t>
                      </a:r>
                    </a:p>
                  </a:txBody>
                  <a:tcPr/>
                </a:tc>
                <a:tc>
                  <a:txBody>
                    <a:bodyPr/>
                    <a:lstStyle/>
                    <a:p>
                      <a:pPr algn="ctr"/>
                      <a:r>
                        <a:rPr lang="en-US" b="1" dirty="0">
                          <a:effectLst>
                            <a:outerShdw blurRad="38100" dist="38100" dir="2700000" algn="tl">
                              <a:srgbClr val="000000">
                                <a:alpha val="43137"/>
                              </a:srgbClr>
                            </a:outerShdw>
                          </a:effectLst>
                        </a:rPr>
                        <a:t>- 3</a:t>
                      </a:r>
                    </a:p>
                  </a:txBody>
                  <a:tcPr/>
                </a:tc>
                <a:tc>
                  <a:txBody>
                    <a:bodyPr/>
                    <a:lstStyle/>
                    <a:p>
                      <a:pPr algn="ctr"/>
                      <a:r>
                        <a:rPr lang="en-US" b="1" dirty="0">
                          <a:effectLst>
                            <a:outerShdw blurRad="38100" dist="38100" dir="2700000" algn="tl">
                              <a:srgbClr val="000000">
                                <a:alpha val="43137"/>
                              </a:srgbClr>
                            </a:outerShdw>
                          </a:effectLst>
                        </a:rPr>
                        <a:t>16</a:t>
                      </a:r>
                    </a:p>
                  </a:txBody>
                  <a:tcPr/>
                </a:tc>
                <a:tc>
                  <a:txBody>
                    <a:bodyPr/>
                    <a:lstStyle/>
                    <a:p>
                      <a:pPr algn="ctr"/>
                      <a:r>
                        <a:rPr lang="en-US" b="1" dirty="0">
                          <a:effectLst>
                            <a:outerShdw blurRad="38100" dist="38100" dir="2700000" algn="tl">
                              <a:srgbClr val="000000">
                                <a:alpha val="43137"/>
                              </a:srgbClr>
                            </a:outerShdw>
                          </a:effectLst>
                        </a:rPr>
                        <a:t>9</a:t>
                      </a:r>
                    </a:p>
                  </a:txBody>
                  <a:tcPr/>
                </a:tc>
                <a:tc>
                  <a:txBody>
                    <a:bodyPr/>
                    <a:lstStyle/>
                    <a:p>
                      <a:pPr algn="ctr"/>
                      <a:r>
                        <a:rPr lang="en-US" b="1" dirty="0">
                          <a:effectLst>
                            <a:outerShdw blurRad="38100" dist="38100" dir="2700000" algn="tl">
                              <a:srgbClr val="000000">
                                <a:alpha val="43137"/>
                              </a:srgbClr>
                            </a:outerShdw>
                          </a:effectLst>
                        </a:rPr>
                        <a:t>12</a:t>
                      </a:r>
                    </a:p>
                  </a:txBody>
                  <a:tcPr/>
                </a:tc>
                <a:extLst>
                  <a:ext uri="{0D108BD9-81ED-4DB2-BD59-A6C34878D82A}">
                    <a16:rowId xmlns:a16="http://schemas.microsoft.com/office/drawing/2014/main" val="10002"/>
                  </a:ext>
                </a:extLst>
              </a:tr>
              <a:tr h="457200">
                <a:tc>
                  <a:txBody>
                    <a:bodyPr/>
                    <a:lstStyle/>
                    <a:p>
                      <a:r>
                        <a:rPr lang="en-US" b="1" dirty="0">
                          <a:effectLst>
                            <a:outerShdw blurRad="38100" dist="38100" dir="2700000" algn="tl">
                              <a:srgbClr val="000000">
                                <a:alpha val="43137"/>
                              </a:srgbClr>
                            </a:outerShdw>
                          </a:effectLst>
                        </a:rPr>
                        <a:t>28</a:t>
                      </a:r>
                    </a:p>
                  </a:txBody>
                  <a:tcPr/>
                </a:tc>
                <a:tc>
                  <a:txBody>
                    <a:bodyPr/>
                    <a:lstStyle/>
                    <a:p>
                      <a:r>
                        <a:rPr lang="en-US" b="1" dirty="0">
                          <a:effectLst>
                            <a:outerShdw blurRad="38100" dist="38100" dir="2700000" algn="tl">
                              <a:srgbClr val="000000">
                                <a:alpha val="43137"/>
                              </a:srgbClr>
                            </a:outerShdw>
                          </a:effectLst>
                        </a:rPr>
                        <a:t>23</a:t>
                      </a:r>
                    </a:p>
                  </a:txBody>
                  <a:tcPr/>
                </a:tc>
                <a:tc>
                  <a:txBody>
                    <a:bodyPr/>
                    <a:lstStyle/>
                    <a:p>
                      <a:pPr algn="ctr"/>
                      <a:r>
                        <a:rPr lang="en-US" b="1" dirty="0">
                          <a:effectLst>
                            <a:outerShdw blurRad="38100" dist="38100" dir="2700000" algn="tl">
                              <a:srgbClr val="000000">
                                <a:alpha val="43137"/>
                              </a:srgbClr>
                            </a:outerShdw>
                          </a:effectLst>
                        </a:rPr>
                        <a:t>- 3</a:t>
                      </a:r>
                    </a:p>
                  </a:txBody>
                  <a:tcPr/>
                </a:tc>
                <a:tc>
                  <a:txBody>
                    <a:bodyPr/>
                    <a:lstStyle/>
                    <a:p>
                      <a:pPr algn="ctr"/>
                      <a:r>
                        <a:rPr lang="en-US" b="1" dirty="0">
                          <a:effectLst>
                            <a:outerShdw blurRad="38100" dist="38100" dir="2700000" algn="tl">
                              <a:srgbClr val="000000">
                                <a:alpha val="43137"/>
                              </a:srgbClr>
                            </a:outerShdw>
                          </a:effectLst>
                        </a:rPr>
                        <a:t>- 2</a:t>
                      </a:r>
                    </a:p>
                  </a:txBody>
                  <a:tcPr/>
                </a:tc>
                <a:tc>
                  <a:txBody>
                    <a:bodyPr/>
                    <a:lstStyle/>
                    <a:p>
                      <a:pPr algn="ctr"/>
                      <a:r>
                        <a:rPr lang="en-US" b="1" dirty="0">
                          <a:effectLst>
                            <a:outerShdw blurRad="38100" dist="38100" dir="2700000" algn="tl">
                              <a:srgbClr val="000000">
                                <a:alpha val="43137"/>
                              </a:srgbClr>
                            </a:outerShdw>
                          </a:effectLst>
                        </a:rPr>
                        <a:t>9</a:t>
                      </a:r>
                    </a:p>
                  </a:txBody>
                  <a:tcPr/>
                </a:tc>
                <a:tc>
                  <a:txBody>
                    <a:bodyPr/>
                    <a:lstStyle/>
                    <a:p>
                      <a:pPr algn="ctr"/>
                      <a:r>
                        <a:rPr lang="en-US" b="1" dirty="0">
                          <a:effectLst>
                            <a:outerShdw blurRad="38100" dist="38100" dir="2700000" algn="tl">
                              <a:srgbClr val="000000">
                                <a:alpha val="43137"/>
                              </a:srgbClr>
                            </a:outerShdw>
                          </a:effectLst>
                        </a:rPr>
                        <a:t>4</a:t>
                      </a:r>
                    </a:p>
                  </a:txBody>
                  <a:tcPr/>
                </a:tc>
                <a:tc>
                  <a:txBody>
                    <a:bodyPr/>
                    <a:lstStyle/>
                    <a:p>
                      <a:pPr algn="ctr"/>
                      <a:r>
                        <a:rPr lang="en-US" b="1" dirty="0">
                          <a:effectLst>
                            <a:outerShdw blurRad="38100" dist="38100" dir="2700000" algn="tl">
                              <a:srgbClr val="000000">
                                <a:alpha val="43137"/>
                              </a:srgbClr>
                            </a:outerShdw>
                          </a:effectLst>
                        </a:rPr>
                        <a:t>6</a:t>
                      </a:r>
                    </a:p>
                  </a:txBody>
                  <a:tcPr/>
                </a:tc>
                <a:extLst>
                  <a:ext uri="{0D108BD9-81ED-4DB2-BD59-A6C34878D82A}">
                    <a16:rowId xmlns:a16="http://schemas.microsoft.com/office/drawing/2014/main" val="10003"/>
                  </a:ext>
                </a:extLst>
              </a:tr>
              <a:tr h="457200">
                <a:tc>
                  <a:txBody>
                    <a:bodyPr/>
                    <a:lstStyle/>
                    <a:p>
                      <a:r>
                        <a:rPr lang="en-US" b="1" dirty="0">
                          <a:effectLst>
                            <a:outerShdw blurRad="38100" dist="38100" dir="2700000" algn="tl">
                              <a:srgbClr val="000000">
                                <a:alpha val="43137"/>
                              </a:srgbClr>
                            </a:outerShdw>
                          </a:effectLst>
                        </a:rPr>
                        <a:t>29</a:t>
                      </a:r>
                    </a:p>
                  </a:txBody>
                  <a:tcPr/>
                </a:tc>
                <a:tc>
                  <a:txBody>
                    <a:bodyPr/>
                    <a:lstStyle/>
                    <a:p>
                      <a:r>
                        <a:rPr lang="en-US" b="1" dirty="0">
                          <a:effectLst>
                            <a:outerShdw blurRad="38100" dist="38100" dir="2700000" algn="tl">
                              <a:srgbClr val="000000">
                                <a:alpha val="43137"/>
                              </a:srgbClr>
                            </a:outerShdw>
                          </a:effectLst>
                        </a:rPr>
                        <a:t>24</a:t>
                      </a:r>
                    </a:p>
                  </a:txBody>
                  <a:tcPr/>
                </a:tc>
                <a:tc>
                  <a:txBody>
                    <a:bodyPr/>
                    <a:lstStyle/>
                    <a:p>
                      <a:pPr algn="ctr"/>
                      <a:r>
                        <a:rPr lang="en-US" b="1" dirty="0">
                          <a:effectLst>
                            <a:outerShdw blurRad="38100" dist="38100" dir="2700000" algn="tl">
                              <a:srgbClr val="000000">
                                <a:alpha val="43137"/>
                              </a:srgbClr>
                            </a:outerShdw>
                          </a:effectLst>
                        </a:rPr>
                        <a:t>- 2</a:t>
                      </a:r>
                    </a:p>
                  </a:txBody>
                  <a:tcPr/>
                </a:tc>
                <a:tc>
                  <a:txBody>
                    <a:bodyPr/>
                    <a:lstStyle/>
                    <a:p>
                      <a:pPr algn="ctr"/>
                      <a:r>
                        <a:rPr lang="en-US" b="1" dirty="0">
                          <a:effectLst>
                            <a:outerShdw blurRad="38100" dist="38100" dir="2700000" algn="tl">
                              <a:srgbClr val="000000">
                                <a:alpha val="43137"/>
                              </a:srgbClr>
                            </a:outerShdw>
                          </a:effectLst>
                        </a:rPr>
                        <a:t> - 1</a:t>
                      </a:r>
                    </a:p>
                  </a:txBody>
                  <a:tcPr/>
                </a:tc>
                <a:tc>
                  <a:txBody>
                    <a:bodyPr/>
                    <a:lstStyle/>
                    <a:p>
                      <a:pPr algn="ctr"/>
                      <a:r>
                        <a:rPr lang="en-US" b="1" dirty="0">
                          <a:effectLst>
                            <a:outerShdw blurRad="38100" dist="38100" dir="2700000" algn="tl">
                              <a:srgbClr val="000000">
                                <a:alpha val="43137"/>
                              </a:srgbClr>
                            </a:outerShdw>
                          </a:effectLst>
                        </a:rPr>
                        <a:t>4</a:t>
                      </a:r>
                    </a:p>
                  </a:txBody>
                  <a:tcPr/>
                </a:tc>
                <a:tc>
                  <a:txBody>
                    <a:bodyPr/>
                    <a:lstStyle/>
                    <a:p>
                      <a:pPr algn="ctr"/>
                      <a:r>
                        <a:rPr lang="en-US" b="1" dirty="0">
                          <a:effectLst>
                            <a:outerShdw blurRad="38100" dist="38100" dir="2700000" algn="tl">
                              <a:srgbClr val="000000">
                                <a:alpha val="43137"/>
                              </a:srgbClr>
                            </a:outerShdw>
                          </a:effectLst>
                        </a:rPr>
                        <a:t>1</a:t>
                      </a:r>
                    </a:p>
                  </a:txBody>
                  <a:tcPr/>
                </a:tc>
                <a:tc>
                  <a:txBody>
                    <a:bodyPr/>
                    <a:lstStyle/>
                    <a:p>
                      <a:pPr algn="ctr"/>
                      <a:r>
                        <a:rPr lang="en-US" b="1" dirty="0">
                          <a:effectLst>
                            <a:outerShdw blurRad="38100" dist="38100" dir="2700000" algn="tl">
                              <a:srgbClr val="000000">
                                <a:alpha val="43137"/>
                              </a:srgbClr>
                            </a:outerShdw>
                          </a:effectLst>
                        </a:rPr>
                        <a:t>2</a:t>
                      </a:r>
                    </a:p>
                  </a:txBody>
                  <a:tcPr/>
                </a:tc>
                <a:extLst>
                  <a:ext uri="{0D108BD9-81ED-4DB2-BD59-A6C34878D82A}">
                    <a16:rowId xmlns:a16="http://schemas.microsoft.com/office/drawing/2014/main" val="10004"/>
                  </a:ext>
                </a:extLst>
              </a:tr>
              <a:tr h="457200">
                <a:tc>
                  <a:txBody>
                    <a:bodyPr/>
                    <a:lstStyle/>
                    <a:p>
                      <a:r>
                        <a:rPr lang="en-US" b="1" dirty="0">
                          <a:effectLst>
                            <a:outerShdw blurRad="38100" dist="38100" dir="2700000" algn="tl">
                              <a:srgbClr val="000000">
                                <a:alpha val="43137"/>
                              </a:srgbClr>
                            </a:outerShdw>
                          </a:effectLst>
                        </a:rPr>
                        <a:t>30</a:t>
                      </a:r>
                    </a:p>
                  </a:txBody>
                  <a:tcPr/>
                </a:tc>
                <a:tc>
                  <a:txBody>
                    <a:bodyPr/>
                    <a:lstStyle/>
                    <a:p>
                      <a:r>
                        <a:rPr lang="en-US" b="1" dirty="0">
                          <a:solidFill>
                            <a:srgbClr val="FF0000"/>
                          </a:solidFill>
                          <a:effectLst>
                            <a:outerShdw blurRad="38100" dist="38100" dir="2700000" algn="tl">
                              <a:srgbClr val="000000">
                                <a:alpha val="43137"/>
                              </a:srgbClr>
                            </a:outerShdw>
                          </a:effectLst>
                        </a:rPr>
                        <a:t>25 </a:t>
                      </a:r>
                      <a:r>
                        <a:rPr lang="en-US" b="1" dirty="0">
                          <a:solidFill>
                            <a:srgbClr val="FF0000"/>
                          </a:solidFill>
                          <a:effectLst>
                            <a:outerShdw blurRad="38100" dist="38100" dir="2700000" algn="tl">
                              <a:srgbClr val="000000">
                                <a:alpha val="43137"/>
                              </a:srgbClr>
                            </a:outerShdw>
                          </a:effectLst>
                          <a:sym typeface="Wingdings" pitchFamily="2" charset="2"/>
                        </a:rPr>
                        <a:t> Am</a:t>
                      </a:r>
                      <a:endParaRPr lang="en-US" b="1" dirty="0">
                        <a:solidFill>
                          <a:srgbClr val="FF0000"/>
                        </a:solidFill>
                        <a:effectLst>
                          <a:outerShdw blurRad="38100" dist="38100" dir="2700000" algn="tl">
                            <a:srgbClr val="000000">
                              <a:alpha val="43137"/>
                            </a:srgbClr>
                          </a:outerShdw>
                        </a:effectLst>
                      </a:endParaRPr>
                    </a:p>
                  </a:txBody>
                  <a:tcPr/>
                </a:tc>
                <a:tc>
                  <a:txBody>
                    <a:bodyPr/>
                    <a:lstStyle/>
                    <a:p>
                      <a:pPr algn="ctr"/>
                      <a:r>
                        <a:rPr lang="en-US" b="1" dirty="0">
                          <a:effectLst>
                            <a:outerShdw blurRad="38100" dist="38100" dir="2700000" algn="tl">
                              <a:srgbClr val="000000">
                                <a:alpha val="43137"/>
                              </a:srgbClr>
                            </a:outerShdw>
                          </a:effectLst>
                        </a:rPr>
                        <a:t>- 1</a:t>
                      </a:r>
                    </a:p>
                  </a:txBody>
                  <a:tcPr/>
                </a:tc>
                <a:tc>
                  <a:txBody>
                    <a:bodyPr/>
                    <a:lstStyle/>
                    <a:p>
                      <a:pPr algn="ctr"/>
                      <a:r>
                        <a:rPr lang="en-US" b="1" dirty="0">
                          <a:effectLst>
                            <a:outerShdw blurRad="38100" dist="38100" dir="2700000" algn="tl">
                              <a:srgbClr val="000000">
                                <a:alpha val="43137"/>
                              </a:srgbClr>
                            </a:outerShdw>
                          </a:effectLst>
                        </a:rPr>
                        <a:t>0</a:t>
                      </a:r>
                    </a:p>
                  </a:txBody>
                  <a:tcPr/>
                </a:tc>
                <a:tc>
                  <a:txBody>
                    <a:bodyPr/>
                    <a:lstStyle/>
                    <a:p>
                      <a:pPr algn="ctr"/>
                      <a:r>
                        <a:rPr lang="en-US" b="1" dirty="0">
                          <a:effectLst>
                            <a:outerShdw blurRad="38100" dist="38100" dir="2700000" algn="tl">
                              <a:srgbClr val="000000">
                                <a:alpha val="43137"/>
                              </a:srgbClr>
                            </a:outerShdw>
                          </a:effectLst>
                        </a:rPr>
                        <a:t>1</a:t>
                      </a:r>
                    </a:p>
                  </a:txBody>
                  <a:tcPr/>
                </a:tc>
                <a:tc>
                  <a:txBody>
                    <a:bodyPr/>
                    <a:lstStyle/>
                    <a:p>
                      <a:pPr algn="ctr"/>
                      <a:r>
                        <a:rPr lang="en-US" b="1" dirty="0">
                          <a:effectLst>
                            <a:outerShdw blurRad="38100" dist="38100" dir="2700000" algn="tl">
                              <a:srgbClr val="000000">
                                <a:alpha val="43137"/>
                              </a:srgbClr>
                            </a:outerShdw>
                          </a:effectLst>
                        </a:rPr>
                        <a:t>0</a:t>
                      </a:r>
                    </a:p>
                  </a:txBody>
                  <a:tcPr/>
                </a:tc>
                <a:tc>
                  <a:txBody>
                    <a:bodyPr/>
                    <a:lstStyle/>
                    <a:p>
                      <a:pPr algn="ctr"/>
                      <a:r>
                        <a:rPr lang="en-US" b="1" dirty="0">
                          <a:effectLst>
                            <a:outerShdw blurRad="38100" dist="38100" dir="2700000" algn="tl">
                              <a:srgbClr val="000000">
                                <a:alpha val="43137"/>
                              </a:srgbClr>
                            </a:outerShdw>
                          </a:effectLst>
                        </a:rPr>
                        <a:t>0</a:t>
                      </a:r>
                    </a:p>
                  </a:txBody>
                  <a:tcPr/>
                </a:tc>
                <a:extLst>
                  <a:ext uri="{0D108BD9-81ED-4DB2-BD59-A6C34878D82A}">
                    <a16:rowId xmlns:a16="http://schemas.microsoft.com/office/drawing/2014/main" val="10005"/>
                  </a:ext>
                </a:extLst>
              </a:tr>
              <a:tr h="457200">
                <a:tc>
                  <a:txBody>
                    <a:bodyPr/>
                    <a:lstStyle/>
                    <a:p>
                      <a:r>
                        <a:rPr lang="en-US" b="1" dirty="0">
                          <a:solidFill>
                            <a:srgbClr val="FF0000"/>
                          </a:solidFill>
                          <a:effectLst>
                            <a:outerShdw blurRad="38100" dist="38100" dir="2700000" algn="tl">
                              <a:srgbClr val="000000">
                                <a:alpha val="43137"/>
                              </a:srgbClr>
                            </a:outerShdw>
                          </a:effectLst>
                        </a:rPr>
                        <a:t>31 </a:t>
                      </a:r>
                      <a:r>
                        <a:rPr lang="en-US" b="1" dirty="0">
                          <a:solidFill>
                            <a:srgbClr val="FF0000"/>
                          </a:solidFill>
                          <a:effectLst>
                            <a:outerShdw blurRad="38100" dist="38100" dir="2700000" algn="tl">
                              <a:srgbClr val="000000">
                                <a:alpha val="43137"/>
                              </a:srgbClr>
                            </a:outerShdw>
                          </a:effectLst>
                          <a:sym typeface="Wingdings" pitchFamily="2" charset="2"/>
                        </a:rPr>
                        <a:t> Am</a:t>
                      </a:r>
                      <a:endParaRPr lang="en-US" b="1" dirty="0">
                        <a:solidFill>
                          <a:srgbClr val="FF0000"/>
                        </a:solidFill>
                        <a:effectLst>
                          <a:outerShdw blurRad="38100" dist="38100" dir="2700000" algn="tl">
                            <a:srgbClr val="000000">
                              <a:alpha val="43137"/>
                            </a:srgbClr>
                          </a:outerShdw>
                        </a:effectLst>
                      </a:endParaRPr>
                    </a:p>
                  </a:txBody>
                  <a:tcPr/>
                </a:tc>
                <a:tc>
                  <a:txBody>
                    <a:bodyPr/>
                    <a:lstStyle/>
                    <a:p>
                      <a:r>
                        <a:rPr lang="en-US" b="1" dirty="0">
                          <a:effectLst>
                            <a:outerShdw blurRad="38100" dist="38100" dir="2700000" algn="tl">
                              <a:srgbClr val="000000">
                                <a:alpha val="43137"/>
                              </a:srgbClr>
                            </a:outerShdw>
                          </a:effectLst>
                        </a:rPr>
                        <a:t>26</a:t>
                      </a:r>
                    </a:p>
                  </a:txBody>
                  <a:tcPr/>
                </a:tc>
                <a:tc>
                  <a:txBody>
                    <a:bodyPr/>
                    <a:lstStyle/>
                    <a:p>
                      <a:pPr algn="ctr"/>
                      <a:r>
                        <a:rPr lang="en-US" b="1" baseline="0" dirty="0">
                          <a:effectLst>
                            <a:outerShdw blurRad="38100" dist="38100" dir="2700000" algn="tl">
                              <a:srgbClr val="000000">
                                <a:alpha val="43137"/>
                              </a:srgbClr>
                            </a:outerShdw>
                          </a:effectLst>
                        </a:rPr>
                        <a:t>  0</a:t>
                      </a:r>
                      <a:endParaRPr lang="en-US" b="1" dirty="0">
                        <a:effectLst>
                          <a:outerShdw blurRad="38100" dist="38100" dir="2700000" algn="tl">
                            <a:srgbClr val="000000">
                              <a:alpha val="43137"/>
                            </a:srgbClr>
                          </a:outerShdw>
                        </a:effectLst>
                      </a:endParaRPr>
                    </a:p>
                  </a:txBody>
                  <a:tcPr/>
                </a:tc>
                <a:tc>
                  <a:txBody>
                    <a:bodyPr/>
                    <a:lstStyle/>
                    <a:p>
                      <a:pPr algn="ctr"/>
                      <a:r>
                        <a:rPr lang="en-US" b="1" dirty="0">
                          <a:effectLst>
                            <a:outerShdw blurRad="38100" dist="38100" dir="2700000" algn="tl">
                              <a:srgbClr val="000000">
                                <a:alpha val="43137"/>
                              </a:srgbClr>
                            </a:outerShdw>
                          </a:effectLst>
                        </a:rPr>
                        <a:t>1</a:t>
                      </a:r>
                    </a:p>
                  </a:txBody>
                  <a:tcPr/>
                </a:tc>
                <a:tc>
                  <a:txBody>
                    <a:bodyPr/>
                    <a:lstStyle/>
                    <a:p>
                      <a:pPr algn="ctr"/>
                      <a:r>
                        <a:rPr lang="en-US" b="1" dirty="0">
                          <a:effectLst>
                            <a:outerShdw blurRad="38100" dist="38100" dir="2700000" algn="tl">
                              <a:srgbClr val="000000">
                                <a:alpha val="43137"/>
                              </a:srgbClr>
                            </a:outerShdw>
                          </a:effectLst>
                        </a:rPr>
                        <a:t>0</a:t>
                      </a:r>
                    </a:p>
                  </a:txBody>
                  <a:tcPr/>
                </a:tc>
                <a:tc>
                  <a:txBody>
                    <a:bodyPr/>
                    <a:lstStyle/>
                    <a:p>
                      <a:pPr algn="ctr"/>
                      <a:r>
                        <a:rPr lang="en-US" b="1" dirty="0">
                          <a:effectLst>
                            <a:outerShdw blurRad="38100" dist="38100" dir="2700000" algn="tl">
                              <a:srgbClr val="000000">
                                <a:alpha val="43137"/>
                              </a:srgbClr>
                            </a:outerShdw>
                          </a:effectLst>
                        </a:rPr>
                        <a:t>1</a:t>
                      </a:r>
                    </a:p>
                  </a:txBody>
                  <a:tcPr/>
                </a:tc>
                <a:tc>
                  <a:txBody>
                    <a:bodyPr/>
                    <a:lstStyle/>
                    <a:p>
                      <a:pPr algn="ctr"/>
                      <a:r>
                        <a:rPr lang="en-US" b="1" dirty="0">
                          <a:effectLst>
                            <a:outerShdw blurRad="38100" dist="38100" dir="2700000" algn="tl">
                              <a:srgbClr val="000000">
                                <a:alpha val="43137"/>
                              </a:srgbClr>
                            </a:outerShdw>
                          </a:effectLst>
                        </a:rPr>
                        <a:t>0</a:t>
                      </a:r>
                    </a:p>
                  </a:txBody>
                  <a:tcPr/>
                </a:tc>
                <a:extLst>
                  <a:ext uri="{0D108BD9-81ED-4DB2-BD59-A6C34878D82A}">
                    <a16:rowId xmlns:a16="http://schemas.microsoft.com/office/drawing/2014/main" val="10006"/>
                  </a:ext>
                </a:extLst>
              </a:tr>
              <a:tr h="457200">
                <a:tc>
                  <a:txBody>
                    <a:bodyPr/>
                    <a:lstStyle/>
                    <a:p>
                      <a:r>
                        <a:rPr lang="en-US" b="1" dirty="0">
                          <a:effectLst>
                            <a:outerShdw blurRad="38100" dist="38100" dir="2700000" algn="tl">
                              <a:srgbClr val="000000">
                                <a:alpha val="43137"/>
                              </a:srgbClr>
                            </a:outerShdw>
                          </a:effectLst>
                        </a:rPr>
                        <a:t>33</a:t>
                      </a:r>
                    </a:p>
                  </a:txBody>
                  <a:tcPr/>
                </a:tc>
                <a:tc>
                  <a:txBody>
                    <a:bodyPr/>
                    <a:lstStyle/>
                    <a:p>
                      <a:r>
                        <a:rPr lang="en-US" b="1" dirty="0">
                          <a:effectLst>
                            <a:outerShdw blurRad="38100" dist="38100" dir="2700000" algn="tl">
                              <a:srgbClr val="000000">
                                <a:alpha val="43137"/>
                              </a:srgbClr>
                            </a:outerShdw>
                          </a:effectLst>
                        </a:rPr>
                        <a:t>28</a:t>
                      </a:r>
                    </a:p>
                  </a:txBody>
                  <a:tcPr/>
                </a:tc>
                <a:tc>
                  <a:txBody>
                    <a:bodyPr/>
                    <a:lstStyle/>
                    <a:p>
                      <a:pPr algn="ctr"/>
                      <a:r>
                        <a:rPr lang="en-US" b="1" dirty="0">
                          <a:effectLst>
                            <a:outerShdw blurRad="38100" dist="38100" dir="2700000" algn="tl">
                              <a:srgbClr val="000000">
                                <a:alpha val="43137"/>
                              </a:srgbClr>
                            </a:outerShdw>
                          </a:effectLst>
                        </a:rPr>
                        <a:t>  2</a:t>
                      </a:r>
                    </a:p>
                  </a:txBody>
                  <a:tcPr/>
                </a:tc>
                <a:tc>
                  <a:txBody>
                    <a:bodyPr/>
                    <a:lstStyle/>
                    <a:p>
                      <a:pPr algn="ctr"/>
                      <a:r>
                        <a:rPr lang="en-US" b="1" dirty="0">
                          <a:effectLst>
                            <a:outerShdw blurRad="38100" dist="38100" dir="2700000" algn="tl">
                              <a:srgbClr val="000000">
                                <a:alpha val="43137"/>
                              </a:srgbClr>
                            </a:outerShdw>
                          </a:effectLst>
                        </a:rPr>
                        <a:t>3</a:t>
                      </a:r>
                    </a:p>
                  </a:txBody>
                  <a:tcPr/>
                </a:tc>
                <a:tc>
                  <a:txBody>
                    <a:bodyPr/>
                    <a:lstStyle/>
                    <a:p>
                      <a:pPr algn="ctr"/>
                      <a:r>
                        <a:rPr lang="en-US" b="1" dirty="0">
                          <a:effectLst>
                            <a:outerShdw blurRad="38100" dist="38100" dir="2700000" algn="tl">
                              <a:srgbClr val="000000">
                                <a:alpha val="43137"/>
                              </a:srgbClr>
                            </a:outerShdw>
                          </a:effectLst>
                        </a:rPr>
                        <a:t>4</a:t>
                      </a:r>
                    </a:p>
                  </a:txBody>
                  <a:tcPr/>
                </a:tc>
                <a:tc>
                  <a:txBody>
                    <a:bodyPr/>
                    <a:lstStyle/>
                    <a:p>
                      <a:pPr algn="ctr"/>
                      <a:r>
                        <a:rPr lang="en-US" b="1" dirty="0">
                          <a:effectLst>
                            <a:outerShdw blurRad="38100" dist="38100" dir="2700000" algn="tl">
                              <a:srgbClr val="000000">
                                <a:alpha val="43137"/>
                              </a:srgbClr>
                            </a:outerShdw>
                          </a:effectLst>
                        </a:rPr>
                        <a:t>9</a:t>
                      </a:r>
                    </a:p>
                  </a:txBody>
                  <a:tcPr/>
                </a:tc>
                <a:tc>
                  <a:txBody>
                    <a:bodyPr/>
                    <a:lstStyle/>
                    <a:p>
                      <a:pPr algn="ctr"/>
                      <a:r>
                        <a:rPr lang="en-US" b="1" dirty="0">
                          <a:effectLst>
                            <a:outerShdw blurRad="38100" dist="38100" dir="2700000" algn="tl">
                              <a:srgbClr val="000000">
                                <a:alpha val="43137"/>
                              </a:srgbClr>
                            </a:outerShdw>
                          </a:effectLst>
                        </a:rPr>
                        <a:t>6</a:t>
                      </a:r>
                    </a:p>
                  </a:txBody>
                  <a:tcPr/>
                </a:tc>
                <a:extLst>
                  <a:ext uri="{0D108BD9-81ED-4DB2-BD59-A6C34878D82A}">
                    <a16:rowId xmlns:a16="http://schemas.microsoft.com/office/drawing/2014/main" val="10007"/>
                  </a:ext>
                </a:extLst>
              </a:tr>
              <a:tr h="457200">
                <a:tc>
                  <a:txBody>
                    <a:bodyPr/>
                    <a:lstStyle/>
                    <a:p>
                      <a:r>
                        <a:rPr lang="en-US" b="1" dirty="0">
                          <a:effectLst>
                            <a:outerShdw blurRad="38100" dist="38100" dir="2700000" algn="tl">
                              <a:srgbClr val="000000">
                                <a:alpha val="43137"/>
                              </a:srgbClr>
                            </a:outerShdw>
                          </a:effectLst>
                        </a:rPr>
                        <a:t>35</a:t>
                      </a:r>
                    </a:p>
                  </a:txBody>
                  <a:tcPr/>
                </a:tc>
                <a:tc>
                  <a:txBody>
                    <a:bodyPr/>
                    <a:lstStyle/>
                    <a:p>
                      <a:r>
                        <a:rPr lang="en-US" b="1" dirty="0">
                          <a:effectLst>
                            <a:outerShdw blurRad="38100" dist="38100" dir="2700000" algn="tl">
                              <a:srgbClr val="000000">
                                <a:alpha val="43137"/>
                              </a:srgbClr>
                            </a:outerShdw>
                          </a:effectLst>
                        </a:rPr>
                        <a:t>29</a:t>
                      </a:r>
                    </a:p>
                  </a:txBody>
                  <a:tcPr/>
                </a:tc>
                <a:tc>
                  <a:txBody>
                    <a:bodyPr/>
                    <a:lstStyle/>
                    <a:p>
                      <a:pPr algn="ctr"/>
                      <a:r>
                        <a:rPr lang="en-US" b="1" dirty="0">
                          <a:effectLst>
                            <a:outerShdw blurRad="38100" dist="38100" dir="2700000" algn="tl">
                              <a:srgbClr val="000000">
                                <a:alpha val="43137"/>
                              </a:srgbClr>
                            </a:outerShdw>
                          </a:effectLst>
                        </a:rPr>
                        <a:t>4</a:t>
                      </a:r>
                    </a:p>
                  </a:txBody>
                  <a:tcPr/>
                </a:tc>
                <a:tc>
                  <a:txBody>
                    <a:bodyPr/>
                    <a:lstStyle/>
                    <a:p>
                      <a:pPr algn="ctr"/>
                      <a:r>
                        <a:rPr lang="en-US" b="1" dirty="0">
                          <a:effectLst>
                            <a:outerShdw blurRad="38100" dist="38100" dir="2700000" algn="tl">
                              <a:srgbClr val="000000">
                                <a:alpha val="43137"/>
                              </a:srgbClr>
                            </a:outerShdw>
                          </a:effectLst>
                        </a:rPr>
                        <a:t> 4</a:t>
                      </a:r>
                    </a:p>
                  </a:txBody>
                  <a:tcPr/>
                </a:tc>
                <a:tc>
                  <a:txBody>
                    <a:bodyPr/>
                    <a:lstStyle/>
                    <a:p>
                      <a:pPr algn="ctr"/>
                      <a:r>
                        <a:rPr lang="en-US" b="1" dirty="0">
                          <a:effectLst>
                            <a:outerShdw blurRad="38100" dist="38100" dir="2700000" algn="tl">
                              <a:srgbClr val="000000">
                                <a:alpha val="43137"/>
                              </a:srgbClr>
                            </a:outerShdw>
                          </a:effectLst>
                        </a:rPr>
                        <a:t>16</a:t>
                      </a:r>
                    </a:p>
                  </a:txBody>
                  <a:tcPr/>
                </a:tc>
                <a:tc>
                  <a:txBody>
                    <a:bodyPr/>
                    <a:lstStyle/>
                    <a:p>
                      <a:pPr algn="ctr"/>
                      <a:r>
                        <a:rPr lang="en-US" b="1" dirty="0">
                          <a:effectLst>
                            <a:outerShdw blurRad="38100" dist="38100" dir="2700000" algn="tl">
                              <a:srgbClr val="000000">
                                <a:alpha val="43137"/>
                              </a:srgbClr>
                            </a:outerShdw>
                          </a:effectLst>
                        </a:rPr>
                        <a:t>16</a:t>
                      </a:r>
                    </a:p>
                  </a:txBody>
                  <a:tcPr/>
                </a:tc>
                <a:tc>
                  <a:txBody>
                    <a:bodyPr/>
                    <a:lstStyle/>
                    <a:p>
                      <a:pPr algn="ctr"/>
                      <a:r>
                        <a:rPr lang="en-US" b="1" dirty="0">
                          <a:effectLst>
                            <a:outerShdw blurRad="38100" dist="38100" dir="2700000" algn="tl">
                              <a:srgbClr val="000000">
                                <a:alpha val="43137"/>
                              </a:srgbClr>
                            </a:outerShdw>
                          </a:effectLst>
                        </a:rPr>
                        <a:t>16</a:t>
                      </a:r>
                    </a:p>
                  </a:txBody>
                  <a:tcPr/>
                </a:tc>
                <a:extLst>
                  <a:ext uri="{0D108BD9-81ED-4DB2-BD59-A6C34878D82A}">
                    <a16:rowId xmlns:a16="http://schemas.microsoft.com/office/drawing/2014/main" val="10008"/>
                  </a:ext>
                </a:extLst>
              </a:tr>
              <a:tr h="457200">
                <a:tc>
                  <a:txBody>
                    <a:bodyPr/>
                    <a:lstStyle/>
                    <a:p>
                      <a:r>
                        <a:rPr lang="en-US" b="1" dirty="0">
                          <a:effectLst>
                            <a:outerShdw blurRad="38100" dist="38100" dir="2700000" algn="tl">
                              <a:srgbClr val="000000">
                                <a:alpha val="43137"/>
                              </a:srgbClr>
                            </a:outerShdw>
                          </a:effectLst>
                        </a:rPr>
                        <a:t>36</a:t>
                      </a:r>
                    </a:p>
                  </a:txBody>
                  <a:tcPr/>
                </a:tc>
                <a:tc>
                  <a:txBody>
                    <a:bodyPr/>
                    <a:lstStyle/>
                    <a:p>
                      <a:r>
                        <a:rPr lang="en-US" b="1" dirty="0">
                          <a:effectLst>
                            <a:outerShdw blurRad="38100" dist="38100" dir="2700000" algn="tl">
                              <a:srgbClr val="000000">
                                <a:alpha val="43137"/>
                              </a:srgbClr>
                            </a:outerShdw>
                          </a:effectLst>
                        </a:rPr>
                        <a:t>30</a:t>
                      </a:r>
                    </a:p>
                  </a:txBody>
                  <a:tcPr/>
                </a:tc>
                <a:tc>
                  <a:txBody>
                    <a:bodyPr/>
                    <a:lstStyle/>
                    <a:p>
                      <a:pPr algn="ctr"/>
                      <a:r>
                        <a:rPr lang="en-US" b="1" dirty="0">
                          <a:effectLst>
                            <a:outerShdw blurRad="38100" dist="38100" dir="2700000" algn="tl">
                              <a:srgbClr val="000000">
                                <a:alpha val="43137"/>
                              </a:srgbClr>
                            </a:outerShdw>
                          </a:effectLst>
                        </a:rPr>
                        <a:t>5</a:t>
                      </a:r>
                    </a:p>
                  </a:txBody>
                  <a:tcPr/>
                </a:tc>
                <a:tc>
                  <a:txBody>
                    <a:bodyPr/>
                    <a:lstStyle/>
                    <a:p>
                      <a:pPr algn="ctr"/>
                      <a:r>
                        <a:rPr lang="en-US" b="1" dirty="0">
                          <a:effectLst>
                            <a:outerShdw blurRad="38100" dist="38100" dir="2700000" algn="tl">
                              <a:srgbClr val="000000">
                                <a:alpha val="43137"/>
                              </a:srgbClr>
                            </a:outerShdw>
                          </a:effectLst>
                        </a:rPr>
                        <a:t>5</a:t>
                      </a:r>
                    </a:p>
                  </a:txBody>
                  <a:tcPr/>
                </a:tc>
                <a:tc>
                  <a:txBody>
                    <a:bodyPr/>
                    <a:lstStyle/>
                    <a:p>
                      <a:pPr algn="ctr"/>
                      <a:r>
                        <a:rPr lang="en-US" b="1" dirty="0">
                          <a:effectLst>
                            <a:outerShdw blurRad="38100" dist="38100" dir="2700000" algn="tl">
                              <a:srgbClr val="000000">
                                <a:alpha val="43137"/>
                              </a:srgbClr>
                            </a:outerShdw>
                          </a:effectLst>
                        </a:rPr>
                        <a:t>25</a:t>
                      </a:r>
                    </a:p>
                  </a:txBody>
                  <a:tcPr/>
                </a:tc>
                <a:tc>
                  <a:txBody>
                    <a:bodyPr/>
                    <a:lstStyle/>
                    <a:p>
                      <a:pPr algn="ctr"/>
                      <a:r>
                        <a:rPr lang="en-US" b="1" dirty="0">
                          <a:effectLst>
                            <a:outerShdw blurRad="38100" dist="38100" dir="2700000" algn="tl">
                              <a:srgbClr val="000000">
                                <a:alpha val="43137"/>
                              </a:srgbClr>
                            </a:outerShdw>
                          </a:effectLst>
                        </a:rPr>
                        <a:t>25</a:t>
                      </a:r>
                    </a:p>
                  </a:txBody>
                  <a:tcPr/>
                </a:tc>
                <a:tc>
                  <a:txBody>
                    <a:bodyPr/>
                    <a:lstStyle/>
                    <a:p>
                      <a:pPr algn="ctr"/>
                      <a:r>
                        <a:rPr lang="en-US" b="1" dirty="0">
                          <a:effectLst>
                            <a:outerShdw blurRad="38100" dist="38100" dir="2700000" algn="tl">
                              <a:srgbClr val="000000">
                                <a:alpha val="43137"/>
                              </a:srgbClr>
                            </a:outerShdw>
                          </a:effectLst>
                        </a:rPr>
                        <a:t>25</a:t>
                      </a:r>
                    </a:p>
                  </a:txBody>
                  <a:tcPr/>
                </a:tc>
                <a:extLst>
                  <a:ext uri="{0D108BD9-81ED-4DB2-BD59-A6C34878D82A}">
                    <a16:rowId xmlns:a16="http://schemas.microsoft.com/office/drawing/2014/main" val="10009"/>
                  </a:ext>
                </a:extLst>
              </a:tr>
              <a:tr h="457200">
                <a:tc>
                  <a:txBody>
                    <a:bodyPr/>
                    <a:lstStyle/>
                    <a:p>
                      <a:r>
                        <a:rPr lang="en-US" b="1" dirty="0">
                          <a:effectLst>
                            <a:outerShdw blurRad="38100" dist="38100" dir="2700000" algn="tl">
                              <a:srgbClr val="000000">
                                <a:alpha val="43137"/>
                              </a:srgbClr>
                            </a:outerShdw>
                          </a:effectLst>
                        </a:rPr>
                        <a:t>39</a:t>
                      </a:r>
                    </a:p>
                  </a:txBody>
                  <a:tcPr/>
                </a:tc>
                <a:tc>
                  <a:txBody>
                    <a:bodyPr/>
                    <a:lstStyle/>
                    <a:p>
                      <a:r>
                        <a:rPr lang="en-US" b="1" dirty="0">
                          <a:effectLst>
                            <a:outerShdw blurRad="38100" dist="38100" dir="2700000" algn="tl">
                              <a:srgbClr val="000000">
                                <a:alpha val="43137"/>
                              </a:srgbClr>
                            </a:outerShdw>
                          </a:effectLst>
                        </a:rPr>
                        <a:t>32</a:t>
                      </a:r>
                    </a:p>
                  </a:txBody>
                  <a:tcPr/>
                </a:tc>
                <a:tc>
                  <a:txBody>
                    <a:bodyPr/>
                    <a:lstStyle/>
                    <a:p>
                      <a:pPr algn="ctr"/>
                      <a:r>
                        <a:rPr lang="en-US" b="1" dirty="0">
                          <a:effectLst>
                            <a:outerShdw blurRad="38100" dist="38100" dir="2700000" algn="tl">
                              <a:srgbClr val="000000">
                                <a:alpha val="43137"/>
                              </a:srgbClr>
                            </a:outerShdw>
                          </a:effectLst>
                        </a:rPr>
                        <a:t>8</a:t>
                      </a:r>
                    </a:p>
                  </a:txBody>
                  <a:tcPr/>
                </a:tc>
                <a:tc>
                  <a:txBody>
                    <a:bodyPr/>
                    <a:lstStyle/>
                    <a:p>
                      <a:pPr algn="ctr"/>
                      <a:r>
                        <a:rPr lang="en-US" b="1" dirty="0">
                          <a:effectLst>
                            <a:outerShdw blurRad="38100" dist="38100" dir="2700000" algn="tl">
                              <a:srgbClr val="000000">
                                <a:alpha val="43137"/>
                              </a:srgbClr>
                            </a:outerShdw>
                          </a:effectLst>
                        </a:rPr>
                        <a:t>7</a:t>
                      </a:r>
                    </a:p>
                  </a:txBody>
                  <a:tcPr/>
                </a:tc>
                <a:tc>
                  <a:txBody>
                    <a:bodyPr/>
                    <a:lstStyle/>
                    <a:p>
                      <a:pPr algn="ctr"/>
                      <a:r>
                        <a:rPr lang="en-US" b="1" dirty="0">
                          <a:effectLst>
                            <a:outerShdw blurRad="38100" dist="38100" dir="2700000" algn="tl">
                              <a:srgbClr val="000000">
                                <a:alpha val="43137"/>
                              </a:srgbClr>
                            </a:outerShdw>
                          </a:effectLst>
                        </a:rPr>
                        <a:t>64</a:t>
                      </a:r>
                    </a:p>
                  </a:txBody>
                  <a:tcPr/>
                </a:tc>
                <a:tc>
                  <a:txBody>
                    <a:bodyPr/>
                    <a:lstStyle/>
                    <a:p>
                      <a:pPr algn="ctr"/>
                      <a:r>
                        <a:rPr lang="en-US" b="1" dirty="0">
                          <a:effectLst>
                            <a:outerShdw blurRad="38100" dist="38100" dir="2700000" algn="tl">
                              <a:srgbClr val="000000">
                                <a:alpha val="43137"/>
                              </a:srgbClr>
                            </a:outerShdw>
                          </a:effectLst>
                        </a:rPr>
                        <a:t>49</a:t>
                      </a:r>
                    </a:p>
                  </a:txBody>
                  <a:tcPr/>
                </a:tc>
                <a:tc>
                  <a:txBody>
                    <a:bodyPr/>
                    <a:lstStyle/>
                    <a:p>
                      <a:pPr algn="ctr"/>
                      <a:r>
                        <a:rPr lang="en-US" b="1" dirty="0">
                          <a:effectLst>
                            <a:outerShdw blurRad="38100" dist="38100" dir="2700000" algn="tl">
                              <a:srgbClr val="000000">
                                <a:alpha val="43137"/>
                              </a:srgbClr>
                            </a:outerShdw>
                          </a:effectLst>
                        </a:rPr>
                        <a:t>56</a:t>
                      </a:r>
                    </a:p>
                  </a:txBody>
                  <a:tcPr/>
                </a:tc>
                <a:extLst>
                  <a:ext uri="{0D108BD9-81ED-4DB2-BD59-A6C34878D82A}">
                    <a16:rowId xmlns:a16="http://schemas.microsoft.com/office/drawing/2014/main" val="10010"/>
                  </a:ext>
                </a:extLst>
              </a:tr>
              <a:tr h="45720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11"/>
                  </a:ext>
                </a:extLst>
              </a:tr>
              <a:tr h="45720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12"/>
                  </a:ext>
                </a:extLst>
              </a:tr>
            </a:tbl>
          </a:graphicData>
        </a:graphic>
      </p:graphicFrame>
      <p:pic>
        <p:nvPicPr>
          <p:cNvPr id="77830" name="Picture 6"/>
          <p:cNvPicPr>
            <a:picLocks noChangeAspect="1" noChangeArrowheads="1"/>
          </p:cNvPicPr>
          <p:nvPr/>
        </p:nvPicPr>
        <p:blipFill>
          <a:blip r:embed="rId2" cstate="print"/>
          <a:srcRect/>
          <a:stretch>
            <a:fillRect/>
          </a:stretch>
        </p:blipFill>
        <p:spPr bwMode="auto">
          <a:xfrm>
            <a:off x="5562600" y="914401"/>
            <a:ext cx="628650" cy="457199"/>
          </a:xfrm>
          <a:prstGeom prst="rect">
            <a:avLst/>
          </a:prstGeom>
          <a:noFill/>
          <a:ln w="9525">
            <a:noFill/>
            <a:miter lim="800000"/>
            <a:headEnd/>
            <a:tailEnd/>
          </a:ln>
          <a:effectLst/>
        </p:spPr>
      </p:pic>
      <p:pic>
        <p:nvPicPr>
          <p:cNvPr id="77831" name="Picture 7"/>
          <p:cNvPicPr>
            <a:picLocks noChangeAspect="1" noChangeArrowheads="1"/>
          </p:cNvPicPr>
          <p:nvPr/>
        </p:nvPicPr>
        <p:blipFill>
          <a:blip r:embed="rId3" cstate="print"/>
          <a:srcRect/>
          <a:stretch>
            <a:fillRect/>
          </a:stretch>
        </p:blipFill>
        <p:spPr bwMode="auto">
          <a:xfrm>
            <a:off x="6781800" y="914400"/>
            <a:ext cx="638175" cy="442912"/>
          </a:xfrm>
          <a:prstGeom prst="rect">
            <a:avLst/>
          </a:prstGeom>
          <a:noFill/>
          <a:ln w="9525">
            <a:noFill/>
            <a:miter lim="800000"/>
            <a:headEnd/>
            <a:tailEnd/>
          </a:ln>
          <a:effectLst/>
        </p:spPr>
      </p:pic>
      <p:pic>
        <p:nvPicPr>
          <p:cNvPr id="77832" name="Picture 8"/>
          <p:cNvPicPr>
            <a:picLocks noChangeAspect="1" noChangeArrowheads="1"/>
          </p:cNvPicPr>
          <p:nvPr/>
        </p:nvPicPr>
        <p:blipFill>
          <a:blip r:embed="rId4" cstate="print"/>
          <a:srcRect/>
          <a:stretch>
            <a:fillRect/>
          </a:stretch>
        </p:blipFill>
        <p:spPr bwMode="auto">
          <a:xfrm>
            <a:off x="8077200" y="914400"/>
            <a:ext cx="914400" cy="457199"/>
          </a:xfrm>
          <a:prstGeom prst="rect">
            <a:avLst/>
          </a:prstGeom>
          <a:noFill/>
          <a:ln w="9525">
            <a:noFill/>
            <a:miter lim="800000"/>
            <a:headEnd/>
            <a:tailEnd/>
          </a:ln>
          <a:effectLst/>
        </p:spPr>
      </p:pic>
      <p:pic>
        <p:nvPicPr>
          <p:cNvPr id="2055" name="Picture 7"/>
          <p:cNvPicPr>
            <a:picLocks noChangeAspect="1" noChangeArrowheads="1"/>
          </p:cNvPicPr>
          <p:nvPr/>
        </p:nvPicPr>
        <p:blipFill>
          <a:blip r:embed="rId5" cstate="print"/>
          <a:srcRect/>
          <a:stretch>
            <a:fillRect/>
          </a:stretch>
        </p:blipFill>
        <p:spPr bwMode="auto">
          <a:xfrm>
            <a:off x="228600" y="5943600"/>
            <a:ext cx="1038225" cy="428625"/>
          </a:xfrm>
          <a:prstGeom prst="rect">
            <a:avLst/>
          </a:prstGeom>
          <a:noFill/>
          <a:ln w="9525">
            <a:noFill/>
            <a:miter lim="800000"/>
            <a:headEnd/>
            <a:tailEnd/>
          </a:ln>
          <a:effectLst/>
        </p:spPr>
      </p:pic>
      <p:pic>
        <p:nvPicPr>
          <p:cNvPr id="2056" name="Picture 8"/>
          <p:cNvPicPr>
            <a:picLocks noChangeAspect="1" noChangeArrowheads="1"/>
          </p:cNvPicPr>
          <p:nvPr/>
        </p:nvPicPr>
        <p:blipFill>
          <a:blip r:embed="rId6" cstate="print"/>
          <a:srcRect/>
          <a:stretch>
            <a:fillRect/>
          </a:stretch>
        </p:blipFill>
        <p:spPr bwMode="auto">
          <a:xfrm>
            <a:off x="1524000" y="5943600"/>
            <a:ext cx="1019175" cy="428625"/>
          </a:xfrm>
          <a:prstGeom prst="rect">
            <a:avLst/>
          </a:prstGeom>
          <a:noFill/>
          <a:ln w="9525">
            <a:noFill/>
            <a:miter lim="800000"/>
            <a:headEnd/>
            <a:tailEnd/>
          </a:ln>
          <a:effectLst/>
        </p:spPr>
      </p:pic>
      <p:pic>
        <p:nvPicPr>
          <p:cNvPr id="2057" name="Picture 9"/>
          <p:cNvPicPr>
            <a:picLocks noChangeAspect="1" noChangeArrowheads="1"/>
          </p:cNvPicPr>
          <p:nvPr/>
        </p:nvPicPr>
        <p:blipFill>
          <a:blip r:embed="rId7" cstate="print"/>
          <a:srcRect/>
          <a:stretch>
            <a:fillRect/>
          </a:stretch>
        </p:blipFill>
        <p:spPr bwMode="auto">
          <a:xfrm>
            <a:off x="2819400" y="5943600"/>
            <a:ext cx="933450" cy="381000"/>
          </a:xfrm>
          <a:prstGeom prst="rect">
            <a:avLst/>
          </a:prstGeom>
          <a:noFill/>
          <a:ln w="9525">
            <a:noFill/>
            <a:miter lim="800000"/>
            <a:headEnd/>
            <a:tailEnd/>
          </a:ln>
          <a:effectLst/>
        </p:spPr>
      </p:pic>
      <p:pic>
        <p:nvPicPr>
          <p:cNvPr id="2058" name="Picture 10"/>
          <p:cNvPicPr>
            <a:picLocks noChangeAspect="1" noChangeArrowheads="1"/>
          </p:cNvPicPr>
          <p:nvPr/>
        </p:nvPicPr>
        <p:blipFill>
          <a:blip r:embed="rId8" cstate="print"/>
          <a:srcRect/>
          <a:stretch>
            <a:fillRect/>
          </a:stretch>
        </p:blipFill>
        <p:spPr bwMode="auto">
          <a:xfrm>
            <a:off x="4114800" y="6019800"/>
            <a:ext cx="981075" cy="342900"/>
          </a:xfrm>
          <a:prstGeom prst="rect">
            <a:avLst/>
          </a:prstGeom>
          <a:noFill/>
          <a:ln w="9525">
            <a:noFill/>
            <a:miter lim="800000"/>
            <a:headEnd/>
            <a:tailEnd/>
          </a:ln>
          <a:effectLst/>
        </p:spPr>
      </p:pic>
      <p:pic>
        <p:nvPicPr>
          <p:cNvPr id="2059" name="Picture 11"/>
          <p:cNvPicPr>
            <a:picLocks noChangeAspect="1" noChangeArrowheads="1"/>
          </p:cNvPicPr>
          <p:nvPr/>
        </p:nvPicPr>
        <p:blipFill>
          <a:blip r:embed="rId9" cstate="print"/>
          <a:srcRect/>
          <a:stretch>
            <a:fillRect/>
          </a:stretch>
        </p:blipFill>
        <p:spPr bwMode="auto">
          <a:xfrm>
            <a:off x="5334000" y="5943600"/>
            <a:ext cx="1219200" cy="447675"/>
          </a:xfrm>
          <a:prstGeom prst="rect">
            <a:avLst/>
          </a:prstGeom>
          <a:noFill/>
          <a:ln w="9525">
            <a:noFill/>
            <a:miter lim="800000"/>
            <a:headEnd/>
            <a:tailEnd/>
          </a:ln>
          <a:effectLst/>
        </p:spPr>
      </p:pic>
      <p:pic>
        <p:nvPicPr>
          <p:cNvPr id="2061" name="Picture 13"/>
          <p:cNvPicPr>
            <a:picLocks noChangeAspect="1" noChangeArrowheads="1"/>
          </p:cNvPicPr>
          <p:nvPr/>
        </p:nvPicPr>
        <p:blipFill>
          <a:blip r:embed="rId10" cstate="print"/>
          <a:srcRect/>
          <a:stretch>
            <a:fillRect/>
          </a:stretch>
        </p:blipFill>
        <p:spPr bwMode="auto">
          <a:xfrm>
            <a:off x="6629400" y="5943600"/>
            <a:ext cx="1133475" cy="438150"/>
          </a:xfrm>
          <a:prstGeom prst="rect">
            <a:avLst/>
          </a:prstGeom>
          <a:noFill/>
          <a:ln w="9525">
            <a:noFill/>
            <a:miter lim="800000"/>
            <a:headEnd/>
            <a:tailEnd/>
          </a:ln>
          <a:effectLst/>
        </p:spPr>
      </p:pic>
      <p:pic>
        <p:nvPicPr>
          <p:cNvPr id="2062" name="Picture 14"/>
          <p:cNvPicPr>
            <a:picLocks noChangeAspect="1" noChangeArrowheads="1"/>
          </p:cNvPicPr>
          <p:nvPr/>
        </p:nvPicPr>
        <p:blipFill>
          <a:blip r:embed="rId11" cstate="print"/>
          <a:srcRect/>
          <a:stretch>
            <a:fillRect/>
          </a:stretch>
        </p:blipFill>
        <p:spPr bwMode="auto">
          <a:xfrm>
            <a:off x="7924800" y="6019800"/>
            <a:ext cx="1219200" cy="419100"/>
          </a:xfrm>
          <a:prstGeom prst="rect">
            <a:avLst/>
          </a:prstGeom>
          <a:noFill/>
          <a:ln w="9525">
            <a:noFill/>
            <a:miter lim="800000"/>
            <a:headEnd/>
            <a:tailEnd/>
          </a:ln>
          <a:effectLst/>
        </p:spPr>
      </p:pic>
      <p:pic>
        <p:nvPicPr>
          <p:cNvPr id="2064" name="Picture 16"/>
          <p:cNvPicPr>
            <a:picLocks noChangeAspect="1" noChangeArrowheads="1"/>
          </p:cNvPicPr>
          <p:nvPr/>
        </p:nvPicPr>
        <p:blipFill>
          <a:blip r:embed="rId12" cstate="print"/>
          <a:srcRect/>
          <a:stretch>
            <a:fillRect/>
          </a:stretch>
        </p:blipFill>
        <p:spPr bwMode="auto">
          <a:xfrm>
            <a:off x="2514600" y="990600"/>
            <a:ext cx="1295400" cy="323850"/>
          </a:xfrm>
          <a:prstGeom prst="rect">
            <a:avLst/>
          </a:prstGeom>
          <a:noFill/>
          <a:ln w="9525">
            <a:noFill/>
            <a:miter lim="800000"/>
            <a:headEnd/>
            <a:tailEnd/>
          </a:ln>
          <a:effectLst/>
        </p:spPr>
      </p:pic>
      <p:pic>
        <p:nvPicPr>
          <p:cNvPr id="2065" name="Picture 17"/>
          <p:cNvPicPr>
            <a:picLocks noChangeAspect="1" noChangeArrowheads="1"/>
          </p:cNvPicPr>
          <p:nvPr/>
        </p:nvPicPr>
        <p:blipFill>
          <a:blip r:embed="rId13" cstate="print"/>
          <a:srcRect/>
          <a:stretch>
            <a:fillRect/>
          </a:stretch>
        </p:blipFill>
        <p:spPr bwMode="auto">
          <a:xfrm>
            <a:off x="3886200" y="990600"/>
            <a:ext cx="1447800" cy="32385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295400" y="0"/>
            <a:ext cx="60198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3" cstate="print"/>
          <a:srcRect/>
          <a:stretch>
            <a:fillRect/>
          </a:stretch>
        </p:blipFill>
        <p:spPr bwMode="auto">
          <a:xfrm>
            <a:off x="1676400" y="1752600"/>
            <a:ext cx="5943600" cy="15240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4" cstate="print"/>
          <a:srcRect/>
          <a:stretch>
            <a:fillRect/>
          </a:stretch>
        </p:blipFill>
        <p:spPr bwMode="auto">
          <a:xfrm>
            <a:off x="3048000" y="3581400"/>
            <a:ext cx="2276475" cy="466725"/>
          </a:xfrm>
          <a:prstGeom prst="rect">
            <a:avLst/>
          </a:prstGeom>
          <a:noFill/>
          <a:ln w="9525">
            <a:noFill/>
            <a:miter lim="800000"/>
            <a:headEnd/>
            <a:tailEnd/>
          </a:ln>
          <a:effectLst/>
        </p:spPr>
      </p:pic>
      <p:sp>
        <p:nvSpPr>
          <p:cNvPr id="9" name="Rectangle 8"/>
          <p:cNvSpPr/>
          <p:nvPr/>
        </p:nvSpPr>
        <p:spPr>
          <a:xfrm>
            <a:off x="0" y="4419600"/>
            <a:ext cx="9144000" cy="2135969"/>
          </a:xfrm>
          <a:prstGeom prst="rect">
            <a:avLst/>
          </a:prstGeom>
        </p:spPr>
        <p:txBody>
          <a:bodyPr wrap="square">
            <a:spAutoFit/>
          </a:bodyPr>
          <a:lstStyle/>
          <a:p>
            <a:pPr lvl="0" algn="just">
              <a:spcBef>
                <a:spcPct val="20000"/>
              </a:spcBef>
              <a:defRPr/>
            </a:pPr>
            <a:r>
              <a:rPr lang="en-US" sz="2400" b="1" dirty="0">
                <a:solidFill>
                  <a:srgbClr val="0000FF"/>
                </a:solidFill>
              </a:rPr>
              <a:t>Interpretation</a:t>
            </a:r>
            <a:r>
              <a:rPr lang="en-US" sz="2400" dirty="0">
                <a:solidFill>
                  <a:srgbClr val="0000FF"/>
                </a:solidFill>
              </a:rPr>
              <a:t>: </a:t>
            </a:r>
            <a:endParaRPr lang="en-US" sz="1400" dirty="0">
              <a:solidFill>
                <a:srgbClr val="0000FF"/>
              </a:solidFill>
            </a:endParaRPr>
          </a:p>
          <a:p>
            <a:pPr lvl="0" algn="just">
              <a:spcBef>
                <a:spcPct val="20000"/>
              </a:spcBef>
              <a:defRPr/>
            </a:pPr>
            <a:r>
              <a:rPr lang="en-US" sz="2000" b="1" dirty="0"/>
              <a:t>Since coefficient of correlation </a:t>
            </a:r>
            <a:r>
              <a:rPr lang="en-US" sz="2400" b="1" u="sng" dirty="0">
                <a:solidFill>
                  <a:srgbClr val="FF0000"/>
                </a:solidFill>
                <a:effectLst>
                  <a:outerShdw blurRad="38100" dist="38100" dir="2700000" algn="tl">
                    <a:srgbClr val="000000">
                      <a:alpha val="43137"/>
                    </a:srgbClr>
                  </a:outerShdw>
                </a:effectLst>
              </a:rPr>
              <a:t>r = +0.9956</a:t>
            </a:r>
            <a:r>
              <a:rPr lang="en-US" sz="2000" b="1" dirty="0"/>
              <a:t>, it indicates that there is a high degree of POSITIVE  correlation (almost perfect) with the value of </a:t>
            </a:r>
            <a:r>
              <a:rPr lang="en-US" sz="3600" b="1" dirty="0">
                <a:solidFill>
                  <a:srgbClr val="FF0000"/>
                </a:solidFill>
              </a:rPr>
              <a:t>r</a:t>
            </a:r>
            <a:r>
              <a:rPr lang="en-US" sz="2000" b="1" dirty="0"/>
              <a:t> approaching  </a:t>
            </a:r>
            <a:r>
              <a:rPr lang="en-US" sz="2800" b="1" dirty="0">
                <a:solidFill>
                  <a:srgbClr val="FF0000"/>
                </a:solidFill>
              </a:rPr>
              <a:t>+ 1</a:t>
            </a:r>
            <a:r>
              <a:rPr lang="en-US" sz="2000" b="1" dirty="0"/>
              <a:t>. </a:t>
            </a:r>
            <a:endParaRPr lang="en-US" b="1" dirty="0"/>
          </a:p>
          <a:p>
            <a:pPr lvl="0" algn="just">
              <a:spcBef>
                <a:spcPct val="20000"/>
              </a:spcBef>
              <a:defRPr/>
            </a:pPr>
            <a:r>
              <a:rPr lang="en-US" sz="2000" b="1" dirty="0"/>
              <a:t>Hence we conclude as Husbands age  increased </a:t>
            </a:r>
            <a:r>
              <a:rPr lang="en-US" sz="2000" b="1" dirty="0">
                <a:solidFill>
                  <a:srgbClr val="0000FF"/>
                </a:solidFill>
              </a:rPr>
              <a:t>(decreased), </a:t>
            </a:r>
            <a:r>
              <a:rPr lang="en-US" sz="2000" b="1" dirty="0"/>
              <a:t>wives age also increased </a:t>
            </a:r>
            <a:r>
              <a:rPr lang="en-US" sz="2000" b="1" dirty="0">
                <a:solidFill>
                  <a:srgbClr val="0000FF"/>
                </a:solidFill>
              </a:rPr>
              <a:t>(decreased).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0"/>
            <a:ext cx="8229600" cy="6705600"/>
          </a:xfrm>
        </p:spPr>
        <p:txBody>
          <a:bodyPr/>
          <a:lstStyle/>
          <a:p>
            <a:pPr algn="just"/>
            <a:r>
              <a:rPr lang="en-US" b="1" dirty="0"/>
              <a:t>Example :</a:t>
            </a:r>
            <a:r>
              <a:rPr lang="en-US" dirty="0"/>
              <a:t> The following table gives the distribution of items of production and also the </a:t>
            </a:r>
            <a:r>
              <a:rPr lang="en-US" b="1" u="sng" dirty="0">
                <a:solidFill>
                  <a:srgbClr val="FF0000"/>
                </a:solidFill>
                <a:effectLst>
                  <a:outerShdw blurRad="38100" dist="38100" dir="2700000" algn="tl">
                    <a:srgbClr val="000000">
                      <a:alpha val="43137"/>
                    </a:srgbClr>
                  </a:outerShdw>
                </a:effectLst>
              </a:rPr>
              <a:t>relatively defective items</a:t>
            </a:r>
            <a:r>
              <a:rPr lang="en-US" dirty="0"/>
              <a:t> among them, </a:t>
            </a:r>
            <a:r>
              <a:rPr lang="en-US" u="sng" dirty="0">
                <a:solidFill>
                  <a:srgbClr val="FF0000"/>
                </a:solidFill>
                <a:effectLst>
                  <a:outerShdw blurRad="38100" dist="38100" dir="2700000" algn="tl">
                    <a:srgbClr val="000000">
                      <a:alpha val="43137"/>
                    </a:srgbClr>
                  </a:outerShdw>
                </a:effectLst>
              </a:rPr>
              <a:t>according to size groups</a:t>
            </a:r>
            <a:r>
              <a:rPr lang="en-US" dirty="0"/>
              <a:t>. Find the correlation coefficient between </a:t>
            </a:r>
            <a:r>
              <a:rPr lang="en-US" b="1" u="sng" dirty="0">
                <a:solidFill>
                  <a:srgbClr val="0000FF"/>
                </a:solidFill>
                <a:effectLst>
                  <a:outerShdw blurRad="38100" dist="38100" dir="2700000" algn="tl">
                    <a:srgbClr val="000000">
                      <a:alpha val="43137"/>
                    </a:srgbClr>
                  </a:outerShdw>
                </a:effectLst>
              </a:rPr>
              <a:t>size and defect in quality</a:t>
            </a:r>
            <a:r>
              <a:rPr lang="en-US" dirty="0"/>
              <a:t>.</a:t>
            </a:r>
          </a:p>
          <a:p>
            <a:endParaRPr lang="en-US" dirty="0"/>
          </a:p>
        </p:txBody>
      </p:sp>
      <p:pic>
        <p:nvPicPr>
          <p:cNvPr id="4" name="img-456_4"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3170872"/>
            <a:ext cx="8001000" cy="1401128"/>
          </a:xfrm>
          <a:prstGeom prst="rect">
            <a:avLst/>
          </a:prstGeom>
          <a:noFill/>
          <a:ln>
            <a:noFill/>
          </a:ln>
        </p:spPr>
      </p:pic>
      <p:sp>
        <p:nvSpPr>
          <p:cNvPr id="4097" name="Rectangle 1"/>
          <p:cNvSpPr>
            <a:spLocks noChangeArrowheads="1"/>
          </p:cNvSpPr>
          <p:nvPr/>
        </p:nvSpPr>
        <p:spPr bwMode="auto">
          <a:xfrm>
            <a:off x="0" y="5486400"/>
            <a:ext cx="914400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333333"/>
                </a:solidFill>
                <a:effectLst/>
                <a:latin typeface="Georgia" pitchFamily="18" charset="0"/>
                <a:ea typeface="Times New Roman" pitchFamily="18" charset="0"/>
                <a:cs typeface="Times New Roman" pitchFamily="18" charset="0"/>
              </a:rPr>
              <a:t>Solution:</a:t>
            </a:r>
            <a:r>
              <a:rPr kumimoji="0" lang="en-US" sz="2400" b="0" i="0" u="none" strike="noStrike" cap="none" normalizeH="0" baseline="0" dirty="0">
                <a:ln>
                  <a:noFill/>
                </a:ln>
                <a:solidFill>
                  <a:srgbClr val="333333"/>
                </a:solidFill>
                <a:effectLst/>
                <a:latin typeface="Calibri"/>
                <a:ea typeface="Times New Roman" pitchFamily="18" charset="0"/>
                <a:cs typeface="Times New Roman" pitchFamily="18" charset="0"/>
              </a:rPr>
              <a:t> </a:t>
            </a:r>
            <a:r>
              <a:rPr kumimoji="0" lang="en-US" sz="2400" b="0" i="0" u="none" strike="noStrike" cap="none" normalizeH="0" baseline="0" dirty="0">
                <a:ln>
                  <a:noFill/>
                </a:ln>
                <a:solidFill>
                  <a:srgbClr val="333333"/>
                </a:solidFill>
                <a:effectLst/>
                <a:latin typeface="Georgia" pitchFamily="18" charset="0"/>
                <a:ea typeface="Times New Roman" pitchFamily="18" charset="0"/>
                <a:cs typeface="Times New Roman" pitchFamily="18" charset="0"/>
              </a:rPr>
              <a:t>Let </a:t>
            </a:r>
            <a:r>
              <a:rPr kumimoji="0" lang="en-US" sz="2400" b="1" i="0" u="none" strike="noStrike" cap="none" normalizeH="0" baseline="0" dirty="0">
                <a:ln>
                  <a:noFill/>
                </a:ln>
                <a:solidFill>
                  <a:srgbClr val="0000FF"/>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group size </a:t>
            </a:r>
            <a:r>
              <a:rPr kumimoji="0" lang="en-US" sz="2400" b="0" i="0" u="none" strike="noStrike" cap="none" normalizeH="0" baseline="0" dirty="0">
                <a:ln>
                  <a:noFill/>
                </a:ln>
                <a:solidFill>
                  <a:srgbClr val="333333"/>
                </a:solidFill>
                <a:effectLst/>
                <a:latin typeface="Georgia" pitchFamily="18" charset="0"/>
                <a:ea typeface="Times New Roman" pitchFamily="18" charset="0"/>
                <a:cs typeface="Times New Roman" pitchFamily="18" charset="0"/>
              </a:rPr>
              <a:t>be denoted by </a:t>
            </a:r>
            <a:r>
              <a:rPr kumimoji="0" lang="en-US" sz="2400" b="1" i="0" u="none" strike="noStrike" cap="none" normalizeH="0" baseline="0" dirty="0">
                <a:ln>
                  <a:noFill/>
                </a:ln>
                <a:solidFill>
                  <a:srgbClr val="0000FF"/>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variable</a:t>
            </a:r>
            <a:r>
              <a:rPr kumimoji="0" lang="en-US" sz="2400" b="1" i="0" u="none" strike="noStrike" cap="none" normalizeH="0" baseline="0" dirty="0">
                <a:ln>
                  <a:noFill/>
                </a:ln>
                <a:solidFill>
                  <a:srgbClr val="0000FF"/>
                </a:solidFill>
                <a:effectLst>
                  <a:outerShdw blurRad="38100" dist="38100" dir="2700000" algn="tl">
                    <a:srgbClr val="000000">
                      <a:alpha val="43137"/>
                    </a:srgbClr>
                  </a:outerShdw>
                </a:effectLst>
                <a:latin typeface="Calibri"/>
                <a:ea typeface="Times New Roman" pitchFamily="18" charset="0"/>
                <a:cs typeface="Times New Roman" pitchFamily="18" charset="0"/>
              </a:rPr>
              <a:t> </a:t>
            </a:r>
            <a:r>
              <a:rPr kumimoji="0" lang="en-US" sz="2400" b="1" i="1" u="none" strike="noStrike" cap="none" normalizeH="0" baseline="0" dirty="0">
                <a:ln>
                  <a:noFill/>
                </a:ln>
                <a:solidFill>
                  <a:srgbClr val="0000FF"/>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x</a:t>
            </a:r>
            <a:r>
              <a:rPr kumimoji="0" lang="en-US" sz="2400" b="0" i="0" u="none" strike="noStrike" cap="none" normalizeH="0" baseline="0" dirty="0">
                <a:ln>
                  <a:noFill/>
                </a:ln>
                <a:solidFill>
                  <a:srgbClr val="333333"/>
                </a:solidFill>
                <a:effectLst/>
                <a:latin typeface="Calibri"/>
                <a:ea typeface="Times New Roman" pitchFamily="18" charset="0"/>
                <a:cs typeface="Times New Roman" pitchFamily="18" charset="0"/>
              </a:rPr>
              <a:t> </a:t>
            </a:r>
            <a:r>
              <a:rPr kumimoji="0" lang="en-US" sz="2400" b="0" i="0" u="none" strike="noStrike" cap="none" normalizeH="0" baseline="0" dirty="0">
                <a:ln>
                  <a:noFill/>
                </a:ln>
                <a:solidFill>
                  <a:srgbClr val="333333"/>
                </a:solidFill>
                <a:effectLst/>
                <a:latin typeface="Georgia" pitchFamily="18" charset="0"/>
                <a:ea typeface="Times New Roman" pitchFamily="18" charset="0"/>
                <a:cs typeface="Times New Roman" pitchFamily="18" charset="0"/>
              </a:rPr>
              <a:t>and number of </a:t>
            </a:r>
            <a:r>
              <a:rPr kumimoji="0" lang="en-US" sz="2400" b="1" i="0" u="sng" strike="noStrike" cap="none" normalizeH="0" baseline="0" dirty="0">
                <a:ln>
                  <a:noFill/>
                </a:ln>
                <a:solidFill>
                  <a:srgbClr val="CC0000"/>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defective items by variable</a:t>
            </a:r>
            <a:r>
              <a:rPr kumimoji="0" lang="en-US" sz="2400" b="1" i="0" u="sng" strike="noStrike" cap="none" normalizeH="0" baseline="0" dirty="0">
                <a:ln>
                  <a:noFill/>
                </a:ln>
                <a:solidFill>
                  <a:srgbClr val="CC0000"/>
                </a:solidFill>
                <a:effectLst>
                  <a:outerShdw blurRad="38100" dist="38100" dir="2700000" algn="tl">
                    <a:srgbClr val="000000">
                      <a:alpha val="43137"/>
                    </a:srgbClr>
                  </a:outerShdw>
                </a:effectLst>
                <a:latin typeface="Calibri"/>
                <a:ea typeface="Times New Roman" pitchFamily="18" charset="0"/>
                <a:cs typeface="Times New Roman" pitchFamily="18" charset="0"/>
              </a:rPr>
              <a:t> </a:t>
            </a:r>
            <a:r>
              <a:rPr kumimoji="0" lang="en-US" sz="2400" b="1" i="1" u="sng" strike="noStrike" cap="none" normalizeH="0" baseline="0" dirty="0">
                <a:ln>
                  <a:noFill/>
                </a:ln>
                <a:solidFill>
                  <a:srgbClr val="CC0000"/>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y</a:t>
            </a:r>
            <a:r>
              <a:rPr kumimoji="0" lang="en-US" sz="2400" b="0" i="0" u="none" strike="noStrike" cap="none" normalizeH="0" baseline="0" dirty="0">
                <a:ln>
                  <a:noFill/>
                </a:ln>
                <a:solidFill>
                  <a:srgbClr val="333333"/>
                </a:solidFill>
                <a:effectLst/>
                <a:latin typeface="Georgia" pitchFamily="18" charset="0"/>
                <a:ea typeface="Times New Roman" pitchFamily="18" charset="0"/>
                <a:cs typeface="Times New Roman" pitchFamily="18" charset="0"/>
              </a:rPr>
              <a:t>. Calculations for Karl Pearson's correlation coefficient are shown below:</a:t>
            </a: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pic>
        <p:nvPicPr>
          <p:cNvPr id="4099" name="Picture 3"/>
          <p:cNvPicPr>
            <a:picLocks noChangeAspect="1" noChangeArrowheads="1"/>
          </p:cNvPicPr>
          <p:nvPr/>
        </p:nvPicPr>
        <p:blipFill>
          <a:blip r:embed="rId3" cstate="print"/>
          <a:srcRect/>
          <a:stretch>
            <a:fillRect/>
          </a:stretch>
        </p:blipFill>
        <p:spPr bwMode="auto">
          <a:xfrm>
            <a:off x="304800" y="2743200"/>
            <a:ext cx="8448675" cy="2038350"/>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45303"/>
            <a:ext cx="9144000" cy="1015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333333"/>
                </a:solidFill>
                <a:effectLst/>
                <a:latin typeface="Georgia" pitchFamily="18" charset="0"/>
                <a:ea typeface="Times New Roman" pitchFamily="18" charset="0"/>
                <a:cs typeface="Times New Roman" pitchFamily="18" charset="0"/>
              </a:rPr>
              <a:t>Solution:</a:t>
            </a:r>
            <a:r>
              <a:rPr kumimoji="0" lang="en-US" sz="2000" b="0" i="0" u="none" strike="noStrike" cap="none" normalizeH="0" baseline="0" dirty="0">
                <a:ln>
                  <a:noFill/>
                </a:ln>
                <a:solidFill>
                  <a:srgbClr val="333333"/>
                </a:solidFill>
                <a:effectLst/>
                <a:latin typeface="Calibri"/>
                <a:ea typeface="Times New Roman" pitchFamily="18" charset="0"/>
                <a:cs typeface="Times New Roman" pitchFamily="18" charset="0"/>
              </a:rPr>
              <a:t> </a:t>
            </a:r>
            <a:r>
              <a:rPr kumimoji="0" lang="en-US" sz="2000" b="0" i="0" u="none" strike="noStrike" cap="none" normalizeH="0" baseline="0" dirty="0">
                <a:ln>
                  <a:noFill/>
                </a:ln>
                <a:solidFill>
                  <a:srgbClr val="333333"/>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Let group size be denoted by variable</a:t>
            </a:r>
            <a:r>
              <a:rPr kumimoji="0" lang="en-US" sz="2000" b="0" i="0" u="none" strike="noStrike" cap="none" normalizeH="0" baseline="0" dirty="0">
                <a:ln>
                  <a:noFill/>
                </a:ln>
                <a:solidFill>
                  <a:srgbClr val="333333"/>
                </a:solidFill>
                <a:effectLst>
                  <a:outerShdw blurRad="38100" dist="38100" dir="2700000" algn="tl">
                    <a:srgbClr val="000000">
                      <a:alpha val="43137"/>
                    </a:srgbClr>
                  </a:outerShdw>
                </a:effectLst>
                <a:latin typeface="Calibri"/>
                <a:ea typeface="Times New Roman" pitchFamily="18" charset="0"/>
                <a:cs typeface="Times New Roman" pitchFamily="18" charset="0"/>
              </a:rPr>
              <a:t> </a:t>
            </a:r>
            <a:r>
              <a:rPr kumimoji="0" lang="en-US" sz="2000" b="0" i="1" u="none" strike="noStrike" cap="none" normalizeH="0" baseline="0" dirty="0">
                <a:ln>
                  <a:noFill/>
                </a:ln>
                <a:solidFill>
                  <a:srgbClr val="0000FF"/>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x</a:t>
            </a:r>
            <a:r>
              <a:rPr kumimoji="0" lang="en-US" sz="2000" b="0" i="0" u="none" strike="noStrike" cap="none" normalizeH="0" baseline="0" dirty="0">
                <a:ln>
                  <a:noFill/>
                </a:ln>
                <a:solidFill>
                  <a:srgbClr val="333333"/>
                </a:solidFill>
                <a:effectLst>
                  <a:outerShdw blurRad="38100" dist="38100" dir="2700000" algn="tl">
                    <a:srgbClr val="000000">
                      <a:alpha val="43137"/>
                    </a:srgbClr>
                  </a:outerShdw>
                </a:effectLst>
                <a:latin typeface="Calibri"/>
                <a:ea typeface="Times New Roman" pitchFamily="18" charset="0"/>
                <a:cs typeface="Times New Roman" pitchFamily="18" charset="0"/>
              </a:rPr>
              <a:t> </a:t>
            </a:r>
            <a:r>
              <a:rPr kumimoji="0" lang="en-US" sz="2000" b="0" i="0" u="none" strike="noStrike" cap="none" normalizeH="0" baseline="0" dirty="0">
                <a:ln>
                  <a:noFill/>
                </a:ln>
                <a:solidFill>
                  <a:srgbClr val="333333"/>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and number of defective items by variable</a:t>
            </a:r>
            <a:r>
              <a:rPr kumimoji="0" lang="en-US" sz="2000" b="0" i="0" u="none" strike="noStrike" cap="none" normalizeH="0" baseline="0" dirty="0">
                <a:ln>
                  <a:noFill/>
                </a:ln>
                <a:solidFill>
                  <a:srgbClr val="333333"/>
                </a:solidFill>
                <a:effectLst>
                  <a:outerShdw blurRad="38100" dist="38100" dir="2700000" algn="tl">
                    <a:srgbClr val="000000">
                      <a:alpha val="43137"/>
                    </a:srgbClr>
                  </a:outerShdw>
                </a:effectLst>
                <a:latin typeface="Calibri"/>
                <a:ea typeface="Times New Roman" pitchFamily="18" charset="0"/>
                <a:cs typeface="Times New Roman" pitchFamily="18" charset="0"/>
              </a:rPr>
              <a:t> </a:t>
            </a:r>
            <a:r>
              <a:rPr kumimoji="0" lang="en-US" sz="2000" b="0" i="1" u="none" strike="noStrike" cap="none" normalizeH="0" baseline="0" dirty="0">
                <a:ln>
                  <a:noFill/>
                </a:ln>
                <a:solidFill>
                  <a:srgbClr val="CC0000"/>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y</a:t>
            </a:r>
            <a:r>
              <a:rPr kumimoji="0" lang="en-US" sz="2000" b="0" i="0" u="none" strike="noStrike" cap="none" normalizeH="0" baseline="0" dirty="0">
                <a:ln>
                  <a:noFill/>
                </a:ln>
                <a:solidFill>
                  <a:srgbClr val="333333"/>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 Calculations for Karl Pearson's correlation coefficient are shown below:</a:t>
            </a:r>
            <a:endParaRPr kumimoji="0" lang="en-US" sz="2000" b="0" i="0" u="none" strike="noStrike" cap="none" normalizeH="0" baseline="0" dirty="0">
              <a:ln>
                <a:noFill/>
              </a:ln>
              <a:solidFill>
                <a:schemeClr val="tx1"/>
              </a:solidFill>
              <a:effectLst>
                <a:outerShdw blurRad="38100" dist="38100" dir="2700000" algn="tl">
                  <a:srgbClr val="000000">
                    <a:alpha val="43137"/>
                  </a:srgbClr>
                </a:outerShdw>
              </a:effectLst>
              <a:latin typeface="Arial" pitchFamily="34" charset="0"/>
              <a:cs typeface="Arial" pitchFamily="34" charset="0"/>
            </a:endParaRPr>
          </a:p>
        </p:txBody>
      </p:sp>
      <p:pic>
        <p:nvPicPr>
          <p:cNvPr id="5125" name="Picture 5"/>
          <p:cNvPicPr>
            <a:picLocks noChangeAspect="1" noChangeArrowheads="1"/>
          </p:cNvPicPr>
          <p:nvPr/>
        </p:nvPicPr>
        <p:blipFill>
          <a:blip r:embed="rId3" cstate="print"/>
          <a:srcRect/>
          <a:stretch>
            <a:fillRect/>
          </a:stretch>
        </p:blipFill>
        <p:spPr bwMode="auto">
          <a:xfrm>
            <a:off x="0" y="1143000"/>
            <a:ext cx="8915400" cy="4038600"/>
          </a:xfrm>
          <a:prstGeom prst="rect">
            <a:avLst/>
          </a:prstGeom>
          <a:noFill/>
          <a:ln w="9525">
            <a:noFill/>
            <a:miter lim="800000"/>
            <a:headEnd/>
            <a:tailEnd/>
          </a:ln>
          <a:effectLst/>
        </p:spPr>
      </p:pic>
      <p:pic>
        <p:nvPicPr>
          <p:cNvPr id="9" name="img-456_6" descr="images"/>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410200"/>
            <a:ext cx="4191000" cy="1244600"/>
          </a:xfrm>
          <a:prstGeom prst="rect">
            <a:avLst/>
          </a:prstGeom>
          <a:noFill/>
          <a:ln>
            <a:noFill/>
          </a:ln>
        </p:spPr>
      </p:pic>
      <p:pic>
        <p:nvPicPr>
          <p:cNvPr id="1027" name="Picture 3"/>
          <p:cNvPicPr>
            <a:picLocks noChangeAspect="1" noChangeArrowheads="1"/>
          </p:cNvPicPr>
          <p:nvPr/>
        </p:nvPicPr>
        <p:blipFill>
          <a:blip r:embed="rId5" cstate="print"/>
          <a:srcRect/>
          <a:stretch>
            <a:fillRect/>
          </a:stretch>
        </p:blipFill>
        <p:spPr bwMode="auto">
          <a:xfrm>
            <a:off x="4524375" y="5257800"/>
            <a:ext cx="4619625" cy="1600201"/>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585787" y="2120106"/>
            <a:ext cx="7972425" cy="348615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705600"/>
          </a:xfrm>
        </p:spPr>
        <p:txBody>
          <a:bodyPr/>
          <a:lstStyle/>
          <a:p>
            <a:pPr algn="just"/>
            <a:r>
              <a:rPr lang="en-US" sz="2800" dirty="0"/>
              <a:t>Substituting values in the formula of </a:t>
            </a:r>
            <a:r>
              <a:rPr lang="en-US" sz="2800" dirty="0">
                <a:effectLst>
                  <a:outerShdw blurRad="38100" dist="38100" dir="2700000" algn="tl">
                    <a:srgbClr val="000000">
                      <a:alpha val="43137"/>
                    </a:srgbClr>
                  </a:outerShdw>
                </a:effectLst>
              </a:rPr>
              <a:t>Karl Pearson's correlation coefficient</a:t>
            </a:r>
            <a:r>
              <a:rPr lang="en-US" sz="2800" dirty="0"/>
              <a:t> </a:t>
            </a:r>
            <a:r>
              <a:rPr lang="en-US" sz="3600" b="1" i="1" dirty="0">
                <a:solidFill>
                  <a:srgbClr val="0000FF"/>
                </a:solidFill>
              </a:rPr>
              <a:t>r</a:t>
            </a:r>
            <a:r>
              <a:rPr lang="en-US" sz="2800" dirty="0"/>
              <a:t>, we have</a:t>
            </a:r>
          </a:p>
          <a:p>
            <a:pPr>
              <a:buNone/>
            </a:pPr>
            <a:r>
              <a:rPr lang="en-US" dirty="0"/>
              <a:t> </a:t>
            </a:r>
          </a:p>
          <a:p>
            <a:endParaRPr lang="en-US" dirty="0"/>
          </a:p>
        </p:txBody>
      </p:sp>
      <p:pic>
        <p:nvPicPr>
          <p:cNvPr id="4" name="img-456_6"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90800" y="1219200"/>
            <a:ext cx="4419600" cy="1244600"/>
          </a:xfrm>
          <a:prstGeom prst="rect">
            <a:avLst/>
          </a:prstGeom>
          <a:noFill/>
          <a:ln>
            <a:noFill/>
          </a:ln>
        </p:spPr>
      </p:pic>
      <p:pic>
        <p:nvPicPr>
          <p:cNvPr id="5" name="img-458_1" descr="image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1600" y="2895600"/>
            <a:ext cx="6858000" cy="1676400"/>
          </a:xfrm>
          <a:prstGeom prst="rect">
            <a:avLst/>
          </a:prstGeom>
          <a:noFill/>
          <a:ln>
            <a:noFill/>
          </a:ln>
        </p:spPr>
      </p:pic>
      <p:sp>
        <p:nvSpPr>
          <p:cNvPr id="2049" name="Rectangle 1"/>
          <p:cNvSpPr>
            <a:spLocks noChangeArrowheads="1"/>
          </p:cNvSpPr>
          <p:nvPr/>
        </p:nvSpPr>
        <p:spPr bwMode="auto">
          <a:xfrm>
            <a:off x="0" y="4888230"/>
            <a:ext cx="9144000" cy="200054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1" i="1" u="sng" strike="noStrike" cap="none" normalizeH="0" baseline="0" dirty="0">
                <a:ln>
                  <a:noFill/>
                </a:ln>
                <a:solidFill>
                  <a:srgbClr val="0000FF"/>
                </a:solidFill>
                <a:effectLst/>
                <a:latin typeface="Georgia" pitchFamily="18" charset="0"/>
                <a:ea typeface="Times New Roman" pitchFamily="18" charset="0"/>
                <a:cs typeface="Times New Roman" pitchFamily="18" charset="0"/>
              </a:rPr>
              <a:t>Interpretation:</a:t>
            </a:r>
            <a:r>
              <a:rPr kumimoji="0" lang="en-US" sz="2400" b="0" i="0" u="none" strike="noStrike" cap="none" normalizeH="0" baseline="0" dirty="0">
                <a:ln>
                  <a:noFill/>
                </a:ln>
                <a:solidFill>
                  <a:srgbClr val="333333"/>
                </a:solidFill>
                <a:effectLst/>
                <a:latin typeface="Calibri"/>
                <a:ea typeface="Times New Roman" pitchFamily="18" charset="0"/>
                <a:cs typeface="Times New Roman" pitchFamily="18" charset="0"/>
              </a:rPr>
              <a:t> </a:t>
            </a:r>
            <a:r>
              <a:rPr kumimoji="0" lang="en-US" sz="2400" b="0" i="0" u="none" strike="noStrike" cap="none" normalizeH="0" baseline="0" dirty="0">
                <a:ln>
                  <a:noFill/>
                </a:ln>
                <a:solidFill>
                  <a:srgbClr val="333333"/>
                </a:solidFill>
                <a:effectLst/>
                <a:latin typeface="Georgia" pitchFamily="18" charset="0"/>
                <a:ea typeface="Times New Roman" pitchFamily="18" charset="0"/>
                <a:cs typeface="Times New Roman" pitchFamily="18" charset="0"/>
              </a:rPr>
              <a:t>Since value of</a:t>
            </a:r>
            <a:r>
              <a:rPr kumimoji="0" lang="en-US" sz="2400" b="0" i="0" u="none" strike="noStrike" cap="none" normalizeH="0" baseline="0" dirty="0">
                <a:ln>
                  <a:noFill/>
                </a:ln>
                <a:solidFill>
                  <a:srgbClr val="333333"/>
                </a:solidFill>
                <a:effectLst/>
                <a:latin typeface="Calibri"/>
                <a:ea typeface="Times New Roman" pitchFamily="18" charset="0"/>
                <a:cs typeface="Times New Roman" pitchFamily="18" charset="0"/>
              </a:rPr>
              <a:t> </a:t>
            </a:r>
            <a:r>
              <a:rPr kumimoji="0" lang="en-US" sz="2800" b="1" i="1" u="none" strike="noStrike" cap="none" normalizeH="0" baseline="0" dirty="0">
                <a:ln>
                  <a:noFill/>
                </a:ln>
                <a:solidFill>
                  <a:srgbClr val="CC0000"/>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r</a:t>
            </a:r>
            <a:r>
              <a:rPr kumimoji="0" lang="en-US" sz="2400" b="0" i="0" u="none" strike="noStrike" cap="none" normalizeH="0" baseline="0" dirty="0">
                <a:ln>
                  <a:noFill/>
                </a:ln>
                <a:solidFill>
                  <a:srgbClr val="333333"/>
                </a:solidFill>
                <a:effectLst/>
                <a:latin typeface="Calibri"/>
                <a:ea typeface="Times New Roman" pitchFamily="18" charset="0"/>
                <a:cs typeface="Times New Roman" pitchFamily="18" charset="0"/>
              </a:rPr>
              <a:t> </a:t>
            </a:r>
            <a:r>
              <a:rPr kumimoji="0" lang="en-US" sz="2400" b="0" i="0" u="none" strike="noStrike" cap="none" normalizeH="0" baseline="0" dirty="0">
                <a:ln>
                  <a:noFill/>
                </a:ln>
                <a:solidFill>
                  <a:srgbClr val="333333"/>
                </a:solidFill>
                <a:effectLst/>
                <a:latin typeface="Georgia" pitchFamily="18" charset="0"/>
                <a:ea typeface="Times New Roman" pitchFamily="18" charset="0"/>
                <a:cs typeface="Times New Roman" pitchFamily="18" charset="0"/>
              </a:rPr>
              <a:t>is </a:t>
            </a:r>
            <a:r>
              <a:rPr kumimoji="0" lang="en-US" sz="2400" b="1" i="0" u="none" strike="noStrike" cap="none" normalizeH="0" baseline="0" dirty="0">
                <a:ln>
                  <a:noFill/>
                </a:ln>
                <a:solidFill>
                  <a:srgbClr val="CC0000"/>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negative</a:t>
            </a:r>
            <a:r>
              <a:rPr kumimoji="0" lang="en-US" sz="2400" b="0" i="0" u="none" strike="noStrike" cap="none" normalizeH="0" baseline="0" dirty="0">
                <a:ln>
                  <a:noFill/>
                </a:ln>
                <a:solidFill>
                  <a:srgbClr val="333333"/>
                </a:solidFill>
                <a:effectLst/>
                <a:latin typeface="Georgia" pitchFamily="18" charset="0"/>
                <a:ea typeface="Times New Roman" pitchFamily="18" charset="0"/>
                <a:cs typeface="Times New Roman" pitchFamily="18" charset="0"/>
              </a:rPr>
              <a:t>, and is               </a:t>
            </a:r>
            <a:r>
              <a:rPr kumimoji="0" lang="en-US" sz="2400" b="1" i="0" u="none" strike="noStrike" cap="none" normalizeH="0" baseline="0" dirty="0">
                <a:ln>
                  <a:noFill/>
                </a:ln>
                <a:solidFill>
                  <a:srgbClr val="CC0000"/>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close to</a:t>
            </a:r>
            <a:r>
              <a:rPr kumimoji="0" lang="en-US" sz="2400" b="1" i="0" u="none" strike="noStrike" cap="none" normalizeH="0" dirty="0">
                <a:ln>
                  <a:noFill/>
                </a:ln>
                <a:solidFill>
                  <a:srgbClr val="CC0000"/>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 </a:t>
            </a:r>
            <a:r>
              <a:rPr kumimoji="0" lang="en-US" sz="2400" b="1" i="0" u="none" strike="noStrike" cap="none" normalizeH="0" baseline="0" dirty="0">
                <a:ln>
                  <a:noFill/>
                </a:ln>
                <a:solidFill>
                  <a:srgbClr val="CC0000"/>
                </a:solidFill>
                <a:effectLst>
                  <a:outerShdw blurRad="38100" dist="38100" dir="2700000" algn="tl">
                    <a:srgbClr val="000000">
                      <a:alpha val="43137"/>
                    </a:srgbClr>
                  </a:outerShdw>
                </a:effectLst>
                <a:latin typeface="Calibri"/>
                <a:ea typeface="Times New Roman" pitchFamily="18" charset="0"/>
                <a:cs typeface="Times New Roman" pitchFamily="18" charset="0"/>
              </a:rPr>
              <a:t>–</a:t>
            </a:r>
            <a:r>
              <a:rPr kumimoji="0" lang="en-US" sz="2400" b="1" i="0" u="none" strike="noStrike" cap="none" normalizeH="0" baseline="0" dirty="0">
                <a:ln>
                  <a:noFill/>
                </a:ln>
                <a:solidFill>
                  <a:srgbClr val="CC0000"/>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1, </a:t>
            </a:r>
            <a:r>
              <a:rPr kumimoji="0" lang="en-US" sz="2400" b="0" i="0" u="none" strike="noStrike" cap="none" normalizeH="0" baseline="0" dirty="0">
                <a:ln>
                  <a:noFill/>
                </a:ln>
                <a:solidFill>
                  <a:srgbClr val="333333"/>
                </a:solidFill>
                <a:effectLst/>
                <a:latin typeface="Georgia" pitchFamily="18" charset="0"/>
                <a:ea typeface="Times New Roman" pitchFamily="18" charset="0"/>
                <a:cs typeface="Times New Roman" pitchFamily="18" charset="0"/>
              </a:rPr>
              <a:t>statistical association between</a:t>
            </a:r>
            <a:r>
              <a:rPr kumimoji="0" lang="en-US" sz="2400" b="0" i="0" u="none" strike="noStrike" cap="none" normalizeH="0" baseline="0" dirty="0">
                <a:ln>
                  <a:noFill/>
                </a:ln>
                <a:solidFill>
                  <a:srgbClr val="333333"/>
                </a:solidFill>
                <a:effectLst/>
                <a:latin typeface="Calibri"/>
                <a:ea typeface="Times New Roman" pitchFamily="18" charset="0"/>
                <a:cs typeface="Times New Roman" pitchFamily="18" charset="0"/>
              </a:rPr>
              <a:t> </a:t>
            </a:r>
            <a:r>
              <a:rPr kumimoji="0" lang="en-US" sz="2400" b="1" i="1" u="sng" strike="noStrike" cap="none" normalizeH="0" baseline="0" dirty="0">
                <a:ln>
                  <a:noFill/>
                </a:ln>
                <a:solidFill>
                  <a:srgbClr val="333333"/>
                </a:solidFill>
                <a:effectLst/>
                <a:latin typeface="Georgia" pitchFamily="18" charset="0"/>
                <a:ea typeface="Times New Roman" pitchFamily="18" charset="0"/>
                <a:cs typeface="Times New Roman" pitchFamily="18" charset="0"/>
              </a:rPr>
              <a:t>x</a:t>
            </a:r>
            <a:r>
              <a:rPr kumimoji="0" lang="en-US" sz="2400" b="1" i="0" u="sng" strike="noStrike" cap="none" normalizeH="0" baseline="0" dirty="0">
                <a:ln>
                  <a:noFill/>
                </a:ln>
                <a:solidFill>
                  <a:srgbClr val="333333"/>
                </a:solidFill>
                <a:effectLst/>
                <a:latin typeface="Calibri"/>
                <a:ea typeface="Times New Roman" pitchFamily="18" charset="0"/>
                <a:cs typeface="Times New Roman" pitchFamily="18" charset="0"/>
              </a:rPr>
              <a:t> </a:t>
            </a:r>
            <a:r>
              <a:rPr kumimoji="0" lang="en-US" sz="2400" b="1" i="0" u="sng" strike="noStrike" cap="none" normalizeH="0" baseline="0" dirty="0">
                <a:ln>
                  <a:noFill/>
                </a:ln>
                <a:solidFill>
                  <a:srgbClr val="333333"/>
                </a:solidFill>
                <a:effectLst/>
                <a:latin typeface="Georgia" pitchFamily="18" charset="0"/>
                <a:ea typeface="Times New Roman" pitchFamily="18" charset="0"/>
                <a:cs typeface="Times New Roman" pitchFamily="18" charset="0"/>
              </a:rPr>
              <a:t>(size group) </a:t>
            </a:r>
            <a:r>
              <a:rPr kumimoji="0" lang="en-US" sz="2400" b="0" i="0" u="none" strike="noStrike" cap="none" normalizeH="0" baseline="0" dirty="0">
                <a:ln>
                  <a:noFill/>
                </a:ln>
                <a:solidFill>
                  <a:srgbClr val="333333"/>
                </a:solidFill>
                <a:effectLst/>
                <a:latin typeface="Georgia" pitchFamily="18" charset="0"/>
                <a:ea typeface="Times New Roman" pitchFamily="18" charset="0"/>
                <a:cs typeface="Times New Roman" pitchFamily="18" charset="0"/>
              </a:rPr>
              <a:t>and</a:t>
            </a:r>
            <a:r>
              <a:rPr kumimoji="0" lang="en-US" sz="2400" b="0" i="0" u="none" strike="noStrike" cap="none" normalizeH="0" baseline="0" dirty="0">
                <a:ln>
                  <a:noFill/>
                </a:ln>
                <a:solidFill>
                  <a:srgbClr val="333333"/>
                </a:solidFill>
                <a:effectLst/>
                <a:latin typeface="Calibri"/>
                <a:ea typeface="Times New Roman" pitchFamily="18" charset="0"/>
                <a:cs typeface="Times New Roman" pitchFamily="18" charset="0"/>
              </a:rPr>
              <a:t> </a:t>
            </a:r>
            <a:r>
              <a:rPr kumimoji="0" lang="en-US" sz="2400" b="1" i="1" u="sng" strike="noStrike" cap="none" normalizeH="0" baseline="0" dirty="0">
                <a:ln>
                  <a:noFill/>
                </a:ln>
                <a:solidFill>
                  <a:srgbClr val="333333"/>
                </a:solidFill>
                <a:effectLst/>
                <a:latin typeface="Georgia" pitchFamily="18" charset="0"/>
                <a:ea typeface="Times New Roman" pitchFamily="18" charset="0"/>
                <a:cs typeface="Times New Roman" pitchFamily="18" charset="0"/>
              </a:rPr>
              <a:t>y</a:t>
            </a:r>
            <a:r>
              <a:rPr kumimoji="0" lang="en-US" sz="2400" b="1" i="0" u="sng" strike="noStrike" cap="none" normalizeH="0" baseline="0" dirty="0">
                <a:ln>
                  <a:noFill/>
                </a:ln>
                <a:solidFill>
                  <a:srgbClr val="333333"/>
                </a:solidFill>
                <a:effectLst/>
                <a:latin typeface="Calibri"/>
                <a:ea typeface="Times New Roman" pitchFamily="18" charset="0"/>
                <a:cs typeface="Times New Roman" pitchFamily="18" charset="0"/>
              </a:rPr>
              <a:t> </a:t>
            </a:r>
            <a:r>
              <a:rPr kumimoji="0" lang="en-US" sz="2400" b="1" i="0" u="sng" strike="noStrike" cap="none" normalizeH="0" baseline="0" dirty="0">
                <a:ln>
                  <a:noFill/>
                </a:ln>
                <a:solidFill>
                  <a:srgbClr val="333333"/>
                </a:solidFill>
                <a:effectLst/>
                <a:latin typeface="Georgia" pitchFamily="18" charset="0"/>
                <a:ea typeface="Times New Roman" pitchFamily="18" charset="0"/>
                <a:cs typeface="Times New Roman" pitchFamily="18" charset="0"/>
              </a:rPr>
              <a:t>(percent of defective items)</a:t>
            </a:r>
            <a:r>
              <a:rPr kumimoji="0" lang="en-US" sz="2400" b="0" i="0" u="none" strike="noStrike" cap="none" normalizeH="0" baseline="0" dirty="0">
                <a:ln>
                  <a:noFill/>
                </a:ln>
                <a:solidFill>
                  <a:srgbClr val="333333"/>
                </a:solidFill>
                <a:effectLst/>
                <a:latin typeface="Georgia" pitchFamily="18" charset="0"/>
                <a:ea typeface="Times New Roman" pitchFamily="18" charset="0"/>
                <a:cs typeface="Times New Roman" pitchFamily="18" charset="0"/>
              </a:rPr>
              <a:t> is highly negative, we conclude that </a:t>
            </a:r>
            <a:r>
              <a:rPr kumimoji="0" lang="en-US" sz="2400" b="1" i="0" u="sng" strike="noStrike" cap="none" normalizeH="0" baseline="0" dirty="0">
                <a:ln>
                  <a:noFill/>
                </a:ln>
                <a:solidFill>
                  <a:srgbClr val="CC0000"/>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when size of group increases</a:t>
            </a:r>
            <a:r>
              <a:rPr kumimoji="0" lang="en-US" sz="2400" b="0" i="0" u="none" strike="noStrike" cap="none" normalizeH="0" baseline="0" dirty="0">
                <a:ln>
                  <a:noFill/>
                </a:ln>
                <a:solidFill>
                  <a:srgbClr val="333333"/>
                </a:solidFill>
                <a:effectLst/>
                <a:latin typeface="Georgia" pitchFamily="18" charset="0"/>
                <a:ea typeface="Times New Roman" pitchFamily="18" charset="0"/>
                <a:cs typeface="Times New Roman" pitchFamily="18" charset="0"/>
              </a:rPr>
              <a:t>, </a:t>
            </a:r>
            <a:r>
              <a:rPr kumimoji="0" lang="en-US" sz="2400" b="1" i="0" u="sng" strike="noStrike" cap="none" normalizeH="0" baseline="0" dirty="0">
                <a:ln>
                  <a:noFill/>
                </a:ln>
                <a:solidFill>
                  <a:srgbClr val="0066FF"/>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the number of defective items decreases</a:t>
            </a:r>
            <a:r>
              <a:rPr kumimoji="0" lang="en-US" sz="2400" b="0" i="0" u="none" strike="noStrike" cap="none" normalizeH="0" baseline="0" dirty="0">
                <a:ln>
                  <a:noFill/>
                </a:ln>
                <a:solidFill>
                  <a:srgbClr val="333333"/>
                </a:solidFill>
                <a:effectLst/>
                <a:latin typeface="Georgia" pitchFamily="18" charset="0"/>
                <a:ea typeface="Times New Roman" pitchFamily="18" charset="0"/>
                <a:cs typeface="Times New Roman" pitchFamily="18" charset="0"/>
              </a:rPr>
              <a:t> and vice-versa.</a:t>
            </a:r>
            <a:endParaRPr kumimoji="0" lang="en-US" sz="20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0000" lnSpcReduction="20000"/>
          </a:bodyPr>
          <a:lstStyle/>
          <a:p>
            <a:pPr algn="ctr">
              <a:buNone/>
            </a:pPr>
            <a:r>
              <a:rPr lang="en-US" sz="4600" b="1" dirty="0">
                <a:solidFill>
                  <a:srgbClr val="7030A0"/>
                </a:solidFill>
              </a:rPr>
              <a:t>SPEARMAN'S RANK CORRELATION COEFFICIENT</a:t>
            </a:r>
          </a:p>
          <a:p>
            <a:pPr algn="just"/>
            <a:endParaRPr lang="en-US" dirty="0"/>
          </a:p>
          <a:p>
            <a:pPr algn="just"/>
            <a:r>
              <a:rPr lang="en-US" dirty="0"/>
              <a:t>This method of finding the correlation coefficient between two variables was developed by the </a:t>
            </a:r>
            <a:r>
              <a:rPr lang="en-US" b="1" dirty="0">
                <a:solidFill>
                  <a:srgbClr val="FF0000"/>
                </a:solidFill>
                <a:effectLst>
                  <a:outerShdw blurRad="38100" dist="38100" dir="2700000" algn="tl">
                    <a:srgbClr val="000000">
                      <a:alpha val="43137"/>
                    </a:srgbClr>
                  </a:outerShdw>
                </a:effectLst>
              </a:rPr>
              <a:t>British psychologist Charles Edward Spearman</a:t>
            </a:r>
            <a:r>
              <a:rPr lang="en-US" dirty="0"/>
              <a:t> in 1904. </a:t>
            </a:r>
          </a:p>
          <a:p>
            <a:pPr algn="just">
              <a:buNone/>
            </a:pPr>
            <a:endParaRPr lang="en-US" dirty="0"/>
          </a:p>
          <a:p>
            <a:pPr algn="just"/>
            <a:r>
              <a:rPr lang="en-US" b="1" dirty="0">
                <a:solidFill>
                  <a:srgbClr val="0000FF"/>
                </a:solidFill>
              </a:rPr>
              <a:t>This method is applied to measure the association between two variables </a:t>
            </a:r>
            <a:r>
              <a:rPr lang="en-US" b="1" u="dbl" dirty="0">
                <a:solidFill>
                  <a:srgbClr val="FF0000"/>
                </a:solidFill>
              </a:rPr>
              <a:t>when only </a:t>
            </a:r>
            <a:r>
              <a:rPr lang="en-US" b="1" u="dbl" dirty="0"/>
              <a:t>ordinal (or rank) </a:t>
            </a:r>
            <a:r>
              <a:rPr lang="en-US" b="1" u="dbl" dirty="0">
                <a:solidFill>
                  <a:srgbClr val="FF0000"/>
                </a:solidFill>
              </a:rPr>
              <a:t>data are available</a:t>
            </a:r>
            <a:r>
              <a:rPr lang="en-US" dirty="0"/>
              <a:t>. </a:t>
            </a:r>
          </a:p>
          <a:p>
            <a:pPr algn="just"/>
            <a:endParaRPr lang="en-US" dirty="0"/>
          </a:p>
          <a:p>
            <a:pPr algn="just"/>
            <a:r>
              <a:rPr lang="en-US" dirty="0"/>
              <a:t>The ranking is decided by using a set of ordinal rank numbers, </a:t>
            </a:r>
            <a:r>
              <a:rPr lang="en-US" b="1" dirty="0"/>
              <a:t>with </a:t>
            </a:r>
            <a:r>
              <a:rPr lang="en-US" sz="3600" b="1" dirty="0">
                <a:solidFill>
                  <a:srgbClr val="FF0000"/>
                </a:solidFill>
                <a:effectLst>
                  <a:outerShdw blurRad="38100" dist="38100" dir="2700000" algn="tl">
                    <a:srgbClr val="000000">
                      <a:alpha val="43137"/>
                    </a:srgbClr>
                  </a:outerShdw>
                </a:effectLst>
              </a:rPr>
              <a:t>1</a:t>
            </a:r>
            <a:r>
              <a:rPr lang="en-US" b="1" dirty="0"/>
              <a:t> for the individual observation</a:t>
            </a:r>
            <a:r>
              <a:rPr lang="en-US" dirty="0"/>
              <a:t> </a:t>
            </a:r>
            <a:r>
              <a:rPr lang="en-US" b="1" i="1" dirty="0">
                <a:solidFill>
                  <a:srgbClr val="FF0000"/>
                </a:solidFill>
              </a:rPr>
              <a:t>ranked first either in terms of quantity or quality; </a:t>
            </a:r>
          </a:p>
          <a:p>
            <a:pPr algn="just"/>
            <a:r>
              <a:rPr lang="en-US" sz="4100" dirty="0">
                <a:solidFill>
                  <a:srgbClr val="FF0000"/>
                </a:solidFill>
                <a:effectLst>
                  <a:outerShdw blurRad="38100" dist="38100" dir="2700000" algn="tl">
                    <a:srgbClr val="000000">
                      <a:alpha val="43137"/>
                    </a:srgbClr>
                  </a:outerShdw>
                </a:effectLst>
              </a:rPr>
              <a:t>n </a:t>
            </a:r>
            <a:r>
              <a:rPr lang="en-US" dirty="0">
                <a:effectLst>
                  <a:outerShdw blurRad="38100" dist="38100" dir="2700000" algn="tl">
                    <a:srgbClr val="000000">
                      <a:alpha val="43137"/>
                    </a:srgbClr>
                  </a:outerShdw>
                </a:effectLst>
              </a:rPr>
              <a:t>for the individual observation ranked last in a group. </a:t>
            </a:r>
            <a:r>
              <a:rPr lang="en-US" dirty="0"/>
              <a:t>Mathematically, Spearman's rank correlation coefficient is defined as:</a:t>
            </a:r>
          </a:p>
          <a:p>
            <a:pPr algn="just"/>
            <a:endParaRPr lang="en-US" dirty="0"/>
          </a:p>
          <a:p>
            <a:pPr algn="just"/>
            <a:endParaRPr lang="en-US" dirty="0"/>
          </a:p>
          <a:p>
            <a:pPr algn="just"/>
            <a:endParaRPr lang="en-US" dirty="0"/>
          </a:p>
          <a:p>
            <a:pPr algn="just"/>
            <a:endParaRPr lang="en-US" dirty="0"/>
          </a:p>
          <a:p>
            <a:pPr algn="just"/>
            <a:r>
              <a:rPr lang="en-US" dirty="0"/>
              <a:t>The number </a:t>
            </a:r>
            <a:r>
              <a:rPr lang="en-US" sz="3400" b="1" dirty="0">
                <a:solidFill>
                  <a:srgbClr val="FF0000"/>
                </a:solidFill>
                <a:effectLst>
                  <a:outerShdw blurRad="38100" dist="38100" dir="2700000" algn="tl">
                    <a:srgbClr val="000000">
                      <a:alpha val="43137"/>
                    </a:srgbClr>
                  </a:outerShdw>
                </a:effectLst>
              </a:rPr>
              <a:t>‘6’</a:t>
            </a:r>
            <a:r>
              <a:rPr lang="en-US" sz="3400" dirty="0"/>
              <a:t> </a:t>
            </a:r>
            <a:r>
              <a:rPr lang="en-US" dirty="0"/>
              <a:t>is placed in the formula as a </a:t>
            </a:r>
            <a:r>
              <a:rPr lang="en-US" b="1" dirty="0">
                <a:solidFill>
                  <a:srgbClr val="FF0000"/>
                </a:solidFill>
                <a:effectLst>
                  <a:outerShdw blurRad="38100" dist="38100" dir="2700000" algn="tl">
                    <a:srgbClr val="000000">
                      <a:alpha val="43137"/>
                    </a:srgbClr>
                  </a:outerShdw>
                </a:effectLst>
              </a:rPr>
              <a:t>scaling device</a:t>
            </a:r>
            <a:r>
              <a:rPr lang="en-US" dirty="0"/>
              <a:t>, </a:t>
            </a:r>
            <a:r>
              <a:rPr lang="en-US" b="1" dirty="0"/>
              <a:t>it ensures that the possible range of </a:t>
            </a:r>
            <a:r>
              <a:rPr lang="en-US" b="1" dirty="0">
                <a:solidFill>
                  <a:srgbClr val="0000FF"/>
                </a:solidFill>
                <a:effectLst>
                  <a:outerShdw blurRad="38100" dist="38100" dir="2700000" algn="tl">
                    <a:srgbClr val="000000">
                      <a:alpha val="43137"/>
                    </a:srgbClr>
                  </a:outerShdw>
                </a:effectLst>
              </a:rPr>
              <a:t>R is from – 1 to 1</a:t>
            </a:r>
            <a:r>
              <a:rPr lang="en-US" b="1" dirty="0"/>
              <a:t>. </a:t>
            </a:r>
          </a:p>
          <a:p>
            <a:endParaRPr lang="en-US" dirty="0"/>
          </a:p>
          <a:p>
            <a:endParaRPr lang="en-US" dirty="0"/>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1915" y="4724400"/>
            <a:ext cx="2514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29150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56D563-F682-3E33-F1E6-6684493148ED}"/>
              </a:ext>
            </a:extLst>
          </p:cNvPr>
          <p:cNvPicPr>
            <a:picLocks noChangeAspect="1"/>
          </p:cNvPicPr>
          <p:nvPr/>
        </p:nvPicPr>
        <p:blipFill>
          <a:blip r:embed="rId2"/>
          <a:stretch>
            <a:fillRect/>
          </a:stretch>
        </p:blipFill>
        <p:spPr>
          <a:xfrm>
            <a:off x="76200" y="16008"/>
            <a:ext cx="6248400" cy="4096592"/>
          </a:xfrm>
          <a:prstGeom prst="rect">
            <a:avLst/>
          </a:prstGeom>
        </p:spPr>
      </p:pic>
      <p:pic>
        <p:nvPicPr>
          <p:cNvPr id="5" name="Picture 4">
            <a:extLst>
              <a:ext uri="{FF2B5EF4-FFF2-40B4-BE49-F238E27FC236}">
                <a16:creationId xmlns:a16="http://schemas.microsoft.com/office/drawing/2014/main" id="{6FF09521-7E94-64D6-C509-7105B019DFB9}"/>
              </a:ext>
            </a:extLst>
          </p:cNvPr>
          <p:cNvPicPr>
            <a:picLocks noChangeAspect="1"/>
          </p:cNvPicPr>
          <p:nvPr/>
        </p:nvPicPr>
        <p:blipFill>
          <a:blip r:embed="rId3"/>
          <a:stretch>
            <a:fillRect/>
          </a:stretch>
        </p:blipFill>
        <p:spPr>
          <a:xfrm>
            <a:off x="79402" y="4112600"/>
            <a:ext cx="6245198" cy="2547529"/>
          </a:xfrm>
          <a:prstGeom prst="rect">
            <a:avLst/>
          </a:prstGeom>
        </p:spPr>
      </p:pic>
      <p:sp>
        <p:nvSpPr>
          <p:cNvPr id="7" name="TextBox 6">
            <a:extLst>
              <a:ext uri="{FF2B5EF4-FFF2-40B4-BE49-F238E27FC236}">
                <a16:creationId xmlns:a16="http://schemas.microsoft.com/office/drawing/2014/main" id="{821A3755-927F-5771-D0BE-180E8FB1F526}"/>
              </a:ext>
            </a:extLst>
          </p:cNvPr>
          <p:cNvSpPr txBox="1"/>
          <p:nvPr/>
        </p:nvSpPr>
        <p:spPr>
          <a:xfrm>
            <a:off x="6324600" y="1676400"/>
            <a:ext cx="2667000" cy="4247317"/>
          </a:xfrm>
          <a:prstGeom prst="rect">
            <a:avLst/>
          </a:prstGeom>
          <a:noFill/>
        </p:spPr>
        <p:txBody>
          <a:bodyPr wrap="square">
            <a:spAutoFit/>
          </a:bodyPr>
          <a:lstStyle/>
          <a:p>
            <a:pPr>
              <a:buNone/>
            </a:pPr>
            <a:r>
              <a:rPr lang="en-US" dirty="0">
                <a:solidFill>
                  <a:srgbClr val="FF0000"/>
                </a:solidFill>
              </a:rPr>
              <a:t>A </a:t>
            </a:r>
            <a:r>
              <a:rPr lang="en-US" b="1" dirty="0">
                <a:solidFill>
                  <a:srgbClr val="FF0000"/>
                </a:solidFill>
              </a:rPr>
              <a:t>monotonic relationship</a:t>
            </a:r>
            <a:r>
              <a:rPr lang="en-US" dirty="0">
                <a:solidFill>
                  <a:srgbClr val="FF0000"/>
                </a:solidFill>
              </a:rPr>
              <a:t> means the variables move in a </a:t>
            </a:r>
            <a:r>
              <a:rPr lang="en-US" b="1" dirty="0">
                <a:solidFill>
                  <a:srgbClr val="FF0000"/>
                </a:solidFill>
              </a:rPr>
              <a:t>single consistent direction</a:t>
            </a:r>
            <a:r>
              <a:rPr lang="en-US" dirty="0">
                <a:solidFill>
                  <a:srgbClr val="FF0000"/>
                </a:solidFill>
              </a:rPr>
              <a:t>, even if the relationship is </a:t>
            </a:r>
            <a:r>
              <a:rPr lang="en-US" b="1" dirty="0">
                <a:solidFill>
                  <a:srgbClr val="FF0000"/>
                </a:solidFill>
              </a:rPr>
              <a:t>curved, uneven, or non-linear</a:t>
            </a:r>
            <a:r>
              <a:rPr lang="en-US" dirty="0"/>
              <a:t>.</a:t>
            </a:r>
          </a:p>
          <a:p>
            <a:pPr>
              <a:buNone/>
            </a:pPr>
            <a:endParaRPr lang="en-US" dirty="0"/>
          </a:p>
          <a:p>
            <a:pPr>
              <a:buNone/>
            </a:pPr>
            <a:endParaRPr lang="en-US" dirty="0"/>
          </a:p>
          <a:p>
            <a:r>
              <a:rPr lang="en-US" dirty="0"/>
              <a:t>A monotonic relationship is one where the </a:t>
            </a:r>
            <a:r>
              <a:rPr lang="en-US" b="1" dirty="0"/>
              <a:t>direction</a:t>
            </a:r>
            <a:r>
              <a:rPr lang="en-US" dirty="0"/>
              <a:t> of the relationship between two variables is consistent, even if the </a:t>
            </a:r>
            <a:r>
              <a:rPr lang="en-US" b="1" dirty="0"/>
              <a:t>rate</a:t>
            </a:r>
            <a:r>
              <a:rPr lang="en-US" dirty="0"/>
              <a:t> of change is not.</a:t>
            </a:r>
          </a:p>
          <a:p>
            <a:pPr>
              <a:buNone/>
            </a:pPr>
            <a:endParaRPr lang="en-US" dirty="0"/>
          </a:p>
        </p:txBody>
      </p:sp>
    </p:spTree>
    <p:extLst>
      <p:ext uri="{BB962C8B-B14F-4D97-AF65-F5344CB8AC3E}">
        <p14:creationId xmlns:p14="http://schemas.microsoft.com/office/powerpoint/2010/main" val="37354302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1828800"/>
            <a:ext cx="90678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8400" y="838200"/>
            <a:ext cx="3124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44951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55000" lnSpcReduction="20000"/>
          </a:bodyPr>
          <a:lstStyle/>
          <a:p>
            <a:pPr marL="0" indent="0">
              <a:buNone/>
            </a:pPr>
            <a:r>
              <a:rPr lang="en-US" sz="4400" b="1" dirty="0">
                <a:solidFill>
                  <a:srgbClr val="FF0000"/>
                </a:solidFill>
                <a:effectLst>
                  <a:outerShdw blurRad="38100" dist="38100" dir="2700000" algn="tl">
                    <a:srgbClr val="000000">
                      <a:alpha val="43137"/>
                    </a:srgbClr>
                  </a:outerShdw>
                </a:effectLst>
              </a:rPr>
              <a:t>Advantages of spearman's correlation coefficient method</a:t>
            </a:r>
          </a:p>
          <a:p>
            <a:pPr marL="0" indent="0" algn="just">
              <a:buNone/>
            </a:pPr>
            <a:r>
              <a:rPr lang="en-US" sz="4400" dirty="0"/>
              <a:t>1.	this method is easy to understand and its application is simpler than Pearson's method.</a:t>
            </a:r>
          </a:p>
          <a:p>
            <a:pPr marL="0" indent="0" algn="just">
              <a:buNone/>
            </a:pPr>
            <a:r>
              <a:rPr lang="en-US" sz="4400" dirty="0"/>
              <a:t>2.	this method is useful for correlation analysis when variables are </a:t>
            </a:r>
            <a:r>
              <a:rPr lang="en-US" sz="4400" b="1" dirty="0">
                <a:effectLst>
                  <a:outerShdw blurRad="38100" dist="38100" dir="2700000" algn="tl">
                    <a:srgbClr val="000000">
                      <a:alpha val="43137"/>
                    </a:srgbClr>
                  </a:outerShdw>
                </a:effectLst>
              </a:rPr>
              <a:t>expressed in qualitative terms</a:t>
            </a:r>
            <a:r>
              <a:rPr lang="en-US" sz="4400" dirty="0"/>
              <a:t> like beauty, intelligence, honesty, efficiency, and so on.</a:t>
            </a:r>
          </a:p>
          <a:p>
            <a:pPr marL="0" indent="0" algn="just">
              <a:buNone/>
            </a:pPr>
            <a:r>
              <a:rPr lang="en-US" sz="4400" dirty="0"/>
              <a:t>3.	this method is appropriate to measure the association between two variables if the </a:t>
            </a:r>
            <a:r>
              <a:rPr lang="en-US" sz="4400" b="1" dirty="0">
                <a:effectLst>
                  <a:outerShdw blurRad="38100" dist="38100" dir="2700000" algn="tl">
                    <a:srgbClr val="000000">
                      <a:alpha val="43137"/>
                    </a:srgbClr>
                  </a:outerShdw>
                </a:effectLst>
              </a:rPr>
              <a:t>data type is at least ordinal scaled (ranked</a:t>
            </a:r>
            <a:r>
              <a:rPr lang="en-US" sz="4400" dirty="0"/>
              <a:t>)</a:t>
            </a:r>
          </a:p>
          <a:p>
            <a:pPr marL="0" indent="0" algn="just">
              <a:buNone/>
            </a:pPr>
            <a:r>
              <a:rPr lang="en-US" sz="4400" dirty="0"/>
              <a:t>4.	the sample data of values of two variables is converted into ranks either in ascending order or descending order for calculating degree of correlation between two variables.</a:t>
            </a:r>
          </a:p>
          <a:p>
            <a:pPr marL="0" indent="0">
              <a:buNone/>
            </a:pPr>
            <a:endParaRPr lang="en-US" sz="4400" b="1" dirty="0">
              <a:solidFill>
                <a:srgbClr val="FF0000"/>
              </a:solidFill>
            </a:endParaRPr>
          </a:p>
          <a:p>
            <a:pPr marL="0" indent="0">
              <a:buNone/>
            </a:pPr>
            <a:r>
              <a:rPr lang="en-US" sz="4400" b="1" dirty="0">
                <a:solidFill>
                  <a:srgbClr val="FF0000"/>
                </a:solidFill>
              </a:rPr>
              <a:t>disadvantages</a:t>
            </a:r>
          </a:p>
          <a:p>
            <a:pPr marL="0" indent="0" algn="just">
              <a:buNone/>
            </a:pPr>
            <a:r>
              <a:rPr lang="en-US" sz="4400" dirty="0"/>
              <a:t>1.	values of both variables are assumed to be normally distributed and describing a linear relationship rather than non-linear relationship.</a:t>
            </a:r>
          </a:p>
          <a:p>
            <a:pPr marL="0" indent="0" algn="just">
              <a:buNone/>
            </a:pPr>
            <a:r>
              <a:rPr lang="en-US" sz="4400" dirty="0"/>
              <a:t>2.	a large computational time is required when number of pairs of values of two variables exceed 30.</a:t>
            </a:r>
          </a:p>
          <a:p>
            <a:pPr marL="0" indent="0" algn="just">
              <a:buNone/>
            </a:pPr>
            <a:r>
              <a:rPr lang="en-US" sz="4400" dirty="0"/>
              <a:t>3.	this method cannot be applied to measure the association between two variable grouped data.</a:t>
            </a:r>
          </a:p>
          <a:p>
            <a:pPr marL="0" indent="0">
              <a:buNone/>
            </a:pPr>
            <a:endParaRPr lang="en-US" dirty="0"/>
          </a:p>
        </p:txBody>
      </p:sp>
    </p:spTree>
    <p:extLst>
      <p:ext uri="{BB962C8B-B14F-4D97-AF65-F5344CB8AC3E}">
        <p14:creationId xmlns:p14="http://schemas.microsoft.com/office/powerpoint/2010/main" val="20991984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
            <a:ext cx="9144000" cy="6705600"/>
          </a:xfrm>
        </p:spPr>
        <p:txBody>
          <a:bodyPr/>
          <a:lstStyle/>
          <a:p>
            <a:pPr algn="just"/>
            <a:r>
              <a:rPr lang="en-US" dirty="0">
                <a:solidFill>
                  <a:srgbClr val="FF0000"/>
                </a:solidFill>
              </a:rPr>
              <a:t>Example</a:t>
            </a:r>
            <a:r>
              <a:rPr lang="en-US" dirty="0"/>
              <a:t>: The ranks of 15 students in two subjects A and B, are given below. The two numbers within brackets </a:t>
            </a:r>
            <a:r>
              <a:rPr lang="en-US" b="1" u="sng" dirty="0">
                <a:solidFill>
                  <a:srgbClr val="7030A0"/>
                </a:solidFill>
              </a:rPr>
              <a:t>denote the ranks</a:t>
            </a:r>
            <a:r>
              <a:rPr lang="en-US" b="1" dirty="0">
                <a:solidFill>
                  <a:srgbClr val="7030A0"/>
                </a:solidFill>
              </a:rPr>
              <a:t> </a:t>
            </a:r>
            <a:r>
              <a:rPr lang="en-US" dirty="0"/>
              <a:t>of a student in A and B subjects respectively. (note: ranks are not repeated)</a:t>
            </a:r>
          </a:p>
          <a:p>
            <a:pPr algn="just"/>
            <a:endParaRPr lang="en-US" dirty="0"/>
          </a:p>
          <a:p>
            <a:pPr algn="just"/>
            <a:r>
              <a:rPr lang="en-US" u="sng" dirty="0">
                <a:solidFill>
                  <a:srgbClr val="0000FF"/>
                </a:solidFill>
              </a:rPr>
              <a:t>Find Spearman's rank correlation coefficient</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4267200"/>
            <a:ext cx="7467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6688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0804"/>
            <a:ext cx="9144000" cy="6858000"/>
          </a:xfrm>
        </p:spPr>
        <p:txBody>
          <a:bodyPr>
            <a:normAutofit fontScale="92500" lnSpcReduction="10000"/>
          </a:bodyPr>
          <a:lstStyle/>
          <a:p>
            <a:pPr marL="0" indent="0" algn="just">
              <a:buNone/>
            </a:pPr>
            <a:r>
              <a:rPr lang="en-US" sz="2400" b="1" u="sng" dirty="0">
                <a:solidFill>
                  <a:srgbClr val="0000FF"/>
                </a:solidFill>
                <a:effectLst>
                  <a:outerShdw blurRad="38100" dist="38100" dir="2700000" algn="tl">
                    <a:srgbClr val="000000">
                      <a:alpha val="43137"/>
                    </a:srgbClr>
                  </a:outerShdw>
                </a:effectLst>
              </a:rPr>
              <a:t>Solution: </a:t>
            </a:r>
            <a:r>
              <a:rPr lang="en-US" sz="2400" dirty="0"/>
              <a:t>Since ranks of students with respect to their performance in two subjects are given, calculations for rank correlation coefficient are:</a:t>
            </a: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sz="2600" dirty="0"/>
          </a:p>
          <a:p>
            <a:pPr marL="0" indent="0" algn="just">
              <a:buNone/>
            </a:pPr>
            <a:endParaRPr lang="en-US" sz="1900" dirty="0"/>
          </a:p>
          <a:p>
            <a:pPr marL="0" indent="0" algn="just">
              <a:buNone/>
            </a:pPr>
            <a:endParaRPr lang="en-US" sz="1900" dirty="0"/>
          </a:p>
          <a:p>
            <a:pPr marL="0" indent="0" algn="just">
              <a:buNone/>
            </a:pPr>
            <a:endParaRPr lang="en-US" sz="1900" dirty="0"/>
          </a:p>
          <a:p>
            <a:pPr marL="0" indent="0" algn="just">
              <a:buNone/>
            </a:pPr>
            <a:r>
              <a:rPr lang="en-US" sz="1900" b="1" dirty="0">
                <a:solidFill>
                  <a:srgbClr val="FF0000"/>
                </a:solidFill>
              </a:rPr>
              <a:t>The result shows a moderate degree positive correlation between performance of students in two subjects</a:t>
            </a:r>
            <a:r>
              <a:rPr lang="en-US" sz="2600" b="1" dirty="0">
                <a:solidFill>
                  <a:srgbClr val="FF0000"/>
                </a:solidFill>
              </a:rPr>
              <a:t>.</a:t>
            </a:r>
          </a:p>
          <a:p>
            <a:pPr marL="0" indent="0" algn="just">
              <a:buNone/>
            </a:pPr>
            <a:endParaRPr lang="en-US" dirty="0"/>
          </a:p>
        </p:txBody>
      </p:sp>
      <p:pic>
        <p:nvPicPr>
          <p:cNvPr id="4" name="img-464_1"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685800"/>
            <a:ext cx="7848600" cy="3962400"/>
          </a:xfrm>
          <a:prstGeom prst="rect">
            <a:avLst/>
          </a:prstGeom>
          <a:noFill/>
          <a:ln>
            <a:noFill/>
          </a:ln>
        </p:spPr>
      </p:pic>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4648200"/>
            <a:ext cx="58674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38614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3A6F3-9FAC-66FC-8BFB-86AA0EED8BA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27945E7-B35E-E46D-9B7E-E344AA7BF14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1521192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0"/>
            <a:ext cx="9067800" cy="6781800"/>
          </a:xfrm>
        </p:spPr>
        <p:txBody>
          <a:bodyPr/>
          <a:lstStyle/>
          <a:p>
            <a:pPr algn="just"/>
            <a:r>
              <a:rPr lang="en-US" b="1" dirty="0">
                <a:solidFill>
                  <a:srgbClr val="0000FF"/>
                </a:solidFill>
              </a:rPr>
              <a:t>Example : </a:t>
            </a:r>
            <a:r>
              <a:rPr lang="en-US" dirty="0"/>
              <a:t>Ten competitors in a beauty contest are </a:t>
            </a:r>
            <a:r>
              <a:rPr lang="en-US" b="1" u="sng" dirty="0">
                <a:solidFill>
                  <a:srgbClr val="7030A0"/>
                </a:solidFill>
                <a:effectLst>
                  <a:outerShdw blurRad="38100" dist="38100" dir="2700000" algn="tl">
                    <a:srgbClr val="000000">
                      <a:alpha val="43137"/>
                    </a:srgbClr>
                  </a:outerShdw>
                </a:effectLst>
              </a:rPr>
              <a:t>ranked by three judges </a:t>
            </a:r>
            <a:r>
              <a:rPr lang="en-US" dirty="0"/>
              <a:t>in the following order:</a:t>
            </a:r>
          </a:p>
          <a:p>
            <a:pPr algn="just"/>
            <a:endParaRPr lang="en-US" dirty="0"/>
          </a:p>
          <a:p>
            <a:pPr algn="just"/>
            <a:endParaRPr lang="en-US" dirty="0"/>
          </a:p>
          <a:p>
            <a:pPr algn="just"/>
            <a:endParaRPr lang="en-US" dirty="0"/>
          </a:p>
          <a:p>
            <a:pPr algn="just"/>
            <a:endParaRPr lang="en-US" dirty="0"/>
          </a:p>
          <a:p>
            <a:pPr algn="just"/>
            <a:r>
              <a:rPr lang="en-US" dirty="0"/>
              <a:t>Use the rank correlation coefficient to determine which pair of judges has the nearest approach to common tastes in beauty.</a:t>
            </a:r>
          </a:p>
          <a:p>
            <a:endParaRPr lang="en-US" dirty="0"/>
          </a:p>
        </p:txBody>
      </p:sp>
      <p:pic>
        <p:nvPicPr>
          <p:cNvPr id="4" name="img-465_2"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600200"/>
            <a:ext cx="8077200" cy="1524000"/>
          </a:xfrm>
          <a:prstGeom prst="rect">
            <a:avLst/>
          </a:prstGeom>
          <a:noFill/>
          <a:ln>
            <a:noFill/>
          </a:ln>
        </p:spPr>
      </p:pic>
    </p:spTree>
    <p:extLst>
      <p:ext uri="{BB962C8B-B14F-4D97-AF65-F5344CB8AC3E}">
        <p14:creationId xmlns:p14="http://schemas.microsoft.com/office/powerpoint/2010/main" val="14903686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r>
              <a:rPr lang="en-US" sz="2400" b="1" dirty="0">
                <a:solidFill>
                  <a:srgbClr val="0000FF"/>
                </a:solidFill>
              </a:rPr>
              <a:t>Solution: </a:t>
            </a:r>
            <a:r>
              <a:rPr lang="en-US" sz="2100" dirty="0"/>
              <a:t>The pair of judges who have the nearest approach to common taste in beauty can be obtained in 3C</a:t>
            </a:r>
            <a:r>
              <a:rPr lang="en-US" sz="2100" baseline="-25000" dirty="0"/>
              <a:t>2</a:t>
            </a:r>
            <a:r>
              <a:rPr lang="en-US" sz="2100" dirty="0"/>
              <a:t> = 3 ways as follows:</a:t>
            </a:r>
          </a:p>
          <a:p>
            <a:r>
              <a:rPr lang="en-US" sz="2100" dirty="0"/>
              <a:t>1.	Judge 1 and judge 2.</a:t>
            </a:r>
          </a:p>
          <a:p>
            <a:r>
              <a:rPr lang="en-US" sz="2100" dirty="0"/>
              <a:t>2.	Judge 2 and judge 3.</a:t>
            </a:r>
          </a:p>
          <a:p>
            <a:r>
              <a:rPr lang="en-US" sz="2100" dirty="0"/>
              <a:t>3.	Judge 3 and judge 1.</a:t>
            </a:r>
          </a:p>
          <a:p>
            <a:endParaRPr lang="en-US" dirty="0"/>
          </a:p>
        </p:txBody>
      </p:sp>
      <p:pic>
        <p:nvPicPr>
          <p:cNvPr id="4" name="img-465_3"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2057400"/>
            <a:ext cx="9067800" cy="4800600"/>
          </a:xfrm>
          <a:prstGeom prst="rect">
            <a:avLst/>
          </a:prstGeom>
          <a:noFill/>
          <a:ln>
            <a:noFill/>
          </a:ln>
        </p:spPr>
      </p:pic>
    </p:spTree>
    <p:extLst>
      <p:ext uri="{BB962C8B-B14F-4D97-AF65-F5344CB8AC3E}">
        <p14:creationId xmlns:p14="http://schemas.microsoft.com/office/powerpoint/2010/main" val="16841784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0000FF"/>
                </a:solidFill>
              </a:rPr>
              <a:t>Applying the formula</a:t>
            </a:r>
          </a:p>
        </p:txBody>
      </p:sp>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90600" y="1828800"/>
            <a:ext cx="6477000" cy="2750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62000" y="5029200"/>
            <a:ext cx="7391400" cy="1384995"/>
          </a:xfrm>
          <a:prstGeom prst="rect">
            <a:avLst/>
          </a:prstGeom>
        </p:spPr>
        <p:txBody>
          <a:bodyPr wrap="square">
            <a:spAutoFit/>
          </a:bodyPr>
          <a:lstStyle/>
          <a:p>
            <a:pPr algn="ctr"/>
            <a:r>
              <a:rPr lang="en-US" sz="2800" dirty="0"/>
              <a:t>Since the </a:t>
            </a:r>
            <a:r>
              <a:rPr lang="en-US" sz="2800" dirty="0">
                <a:solidFill>
                  <a:srgbClr val="FF0000"/>
                </a:solidFill>
                <a:effectLst>
                  <a:outerShdw blurRad="38100" dist="38100" dir="2700000" algn="tl">
                    <a:srgbClr val="000000">
                      <a:alpha val="43137"/>
                    </a:srgbClr>
                  </a:outerShdw>
                </a:effectLst>
              </a:rPr>
              <a:t>correlation coefficient R</a:t>
            </a:r>
            <a:r>
              <a:rPr lang="en-US" sz="2000" dirty="0">
                <a:solidFill>
                  <a:srgbClr val="FF0000"/>
                </a:solidFill>
                <a:effectLst>
                  <a:outerShdw blurRad="38100" dist="38100" dir="2700000" algn="tl">
                    <a:srgbClr val="000000">
                      <a:alpha val="43137"/>
                    </a:srgbClr>
                  </a:outerShdw>
                </a:effectLst>
              </a:rPr>
              <a:t>13</a:t>
            </a:r>
            <a:r>
              <a:rPr lang="en-US" sz="2800" dirty="0">
                <a:solidFill>
                  <a:srgbClr val="FF0000"/>
                </a:solidFill>
                <a:effectLst>
                  <a:outerShdw blurRad="38100" dist="38100" dir="2700000" algn="tl">
                    <a:srgbClr val="000000">
                      <a:alpha val="43137"/>
                    </a:srgbClr>
                  </a:outerShdw>
                </a:effectLst>
              </a:rPr>
              <a:t> = 0.636 </a:t>
            </a:r>
            <a:r>
              <a:rPr lang="en-US" sz="2800" dirty="0"/>
              <a:t>is largest, the </a:t>
            </a:r>
            <a:r>
              <a:rPr lang="en-US" sz="2800" dirty="0">
                <a:solidFill>
                  <a:srgbClr val="0000FF"/>
                </a:solidFill>
                <a:effectLst>
                  <a:outerShdw blurRad="38100" dist="38100" dir="2700000" algn="tl">
                    <a:srgbClr val="000000">
                      <a:alpha val="43137"/>
                    </a:srgbClr>
                  </a:outerShdw>
                </a:effectLst>
              </a:rPr>
              <a:t>judges 1 and 3 have nearest approach to common tastes in beauty.</a:t>
            </a:r>
            <a:endParaRPr lang="en-US" dirty="0">
              <a:solidFill>
                <a:srgbClr val="0000FF"/>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155568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5940"/>
            <a:ext cx="9144000" cy="6934200"/>
          </a:xfrm>
        </p:spPr>
        <p:txBody>
          <a:bodyPr>
            <a:normAutofit lnSpcReduction="10000"/>
          </a:bodyPr>
          <a:lstStyle/>
          <a:p>
            <a:pPr algn="just"/>
            <a:r>
              <a:rPr lang="en-US" sz="2400" b="1" u="sng" dirty="0">
                <a:solidFill>
                  <a:srgbClr val="FF0000"/>
                </a:solidFill>
              </a:rPr>
              <a:t>EX</a:t>
            </a:r>
            <a:r>
              <a:rPr lang="en-US" sz="2400" dirty="0"/>
              <a:t>: An economist wanted to find out if there was any relationship between the unemployment rate in a country and its inflation rate. Data gathered from 7 countries for the year 2004 are given below:</a:t>
            </a:r>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2400" dirty="0"/>
          </a:p>
          <a:p>
            <a:pPr algn="just"/>
            <a:r>
              <a:rPr lang="en-US" sz="2400" dirty="0"/>
              <a:t>Find the degree of linear association between a country's unemployment rate and its level of inflation.</a:t>
            </a:r>
          </a:p>
          <a:p>
            <a:pPr marL="0" indent="0">
              <a:buNone/>
            </a:pPr>
            <a:endParaRPr lang="en-US" sz="1800" dirty="0"/>
          </a:p>
        </p:txBody>
      </p:sp>
      <p:graphicFrame>
        <p:nvGraphicFramePr>
          <p:cNvPr id="4" name="Table 3"/>
          <p:cNvGraphicFramePr>
            <a:graphicFrameLocks noGrp="1"/>
          </p:cNvGraphicFramePr>
          <p:nvPr>
            <p:extLst>
              <p:ext uri="{D42A27DB-BD31-4B8C-83A1-F6EECF244321}">
                <p14:modId xmlns:p14="http://schemas.microsoft.com/office/powerpoint/2010/main" val="158749987"/>
              </p:ext>
            </p:extLst>
          </p:nvPr>
        </p:nvGraphicFramePr>
        <p:xfrm>
          <a:off x="381000" y="1295400"/>
          <a:ext cx="8229600" cy="4132072"/>
        </p:xfrm>
        <a:graphic>
          <a:graphicData uri="http://schemas.openxmlformats.org/drawingml/2006/table">
            <a:tbl>
              <a:tblPr firstRow="1" firstCol="1" bandRow="1"/>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marR="0" algn="ctr">
                        <a:lnSpc>
                          <a:spcPts val="2335"/>
                        </a:lnSpc>
                        <a:spcBef>
                          <a:spcPts val="0"/>
                        </a:spcBef>
                        <a:spcAft>
                          <a:spcPts val="0"/>
                        </a:spcAft>
                      </a:pPr>
                      <a:r>
                        <a:rPr lang="en-US" sz="1600" i="1" dirty="0">
                          <a:solidFill>
                            <a:srgbClr val="333333"/>
                          </a:solidFill>
                          <a:effectLst/>
                          <a:latin typeface="Georgia"/>
                          <a:ea typeface="Times New Roman"/>
                          <a:cs typeface="Times New Roman"/>
                        </a:rPr>
                        <a:t>Country</a:t>
                      </a:r>
                      <a:endParaRPr lang="en-US" sz="14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ts val="2335"/>
                        </a:lnSpc>
                        <a:spcBef>
                          <a:spcPts val="0"/>
                        </a:spcBef>
                        <a:spcAft>
                          <a:spcPts val="0"/>
                        </a:spcAft>
                      </a:pPr>
                      <a:r>
                        <a:rPr lang="en-US" sz="1600" i="1" dirty="0">
                          <a:solidFill>
                            <a:srgbClr val="333333"/>
                          </a:solidFill>
                          <a:effectLst/>
                          <a:latin typeface="Georgia"/>
                          <a:ea typeface="Times New Roman"/>
                          <a:cs typeface="Times New Roman"/>
                        </a:rPr>
                        <a:t>Unemployment </a:t>
                      </a:r>
                      <a:br>
                        <a:rPr lang="en-US" sz="1600" i="1" dirty="0">
                          <a:solidFill>
                            <a:srgbClr val="333333"/>
                          </a:solidFill>
                          <a:effectLst/>
                          <a:latin typeface="Georgia"/>
                          <a:ea typeface="Times New Roman"/>
                          <a:cs typeface="Times New Roman"/>
                        </a:rPr>
                      </a:br>
                      <a:r>
                        <a:rPr lang="en-US" sz="1600" i="1" dirty="0">
                          <a:solidFill>
                            <a:srgbClr val="333333"/>
                          </a:solidFill>
                          <a:effectLst/>
                          <a:latin typeface="Georgia"/>
                          <a:ea typeface="Times New Roman"/>
                          <a:cs typeface="Times New Roman"/>
                        </a:rPr>
                        <a:t>Rate (Percent)</a:t>
                      </a:r>
                      <a:endParaRPr lang="en-US" sz="14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ts val="2335"/>
                        </a:lnSpc>
                        <a:spcBef>
                          <a:spcPts val="0"/>
                        </a:spcBef>
                        <a:spcAft>
                          <a:spcPts val="0"/>
                        </a:spcAft>
                      </a:pPr>
                      <a:r>
                        <a:rPr lang="en-US" sz="1600" i="1" dirty="0">
                          <a:solidFill>
                            <a:srgbClr val="333333"/>
                          </a:solidFill>
                          <a:effectLst/>
                          <a:latin typeface="Georgia"/>
                          <a:ea typeface="Times New Roman"/>
                          <a:cs typeface="Times New Roman"/>
                        </a:rPr>
                        <a:t>Inflation </a:t>
                      </a:r>
                      <a:br>
                        <a:rPr lang="en-US" sz="1600" i="1" dirty="0">
                          <a:solidFill>
                            <a:srgbClr val="333333"/>
                          </a:solidFill>
                          <a:effectLst/>
                          <a:latin typeface="Georgia"/>
                          <a:ea typeface="Times New Roman"/>
                          <a:cs typeface="Times New Roman"/>
                        </a:rPr>
                      </a:br>
                      <a:r>
                        <a:rPr lang="en-US" sz="1600" i="1" dirty="0">
                          <a:solidFill>
                            <a:srgbClr val="333333"/>
                          </a:solidFill>
                          <a:effectLst/>
                          <a:latin typeface="Georgia"/>
                          <a:ea typeface="Times New Roman"/>
                          <a:cs typeface="Times New Roman"/>
                        </a:rPr>
                        <a:t>Rate (Per cent)</a:t>
                      </a:r>
                      <a:endParaRPr lang="en-US" sz="14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marR="0" algn="ctr">
                        <a:lnSpc>
                          <a:spcPts val="2335"/>
                        </a:lnSpc>
                        <a:spcBef>
                          <a:spcPts val="0"/>
                        </a:spcBef>
                        <a:spcAft>
                          <a:spcPts val="0"/>
                        </a:spcAft>
                      </a:pPr>
                      <a:r>
                        <a:rPr lang="en-US" sz="2000" dirty="0">
                          <a:solidFill>
                            <a:srgbClr val="333333"/>
                          </a:solidFill>
                          <a:effectLst/>
                          <a:latin typeface="inherit"/>
                          <a:ea typeface="Times New Roman"/>
                          <a:cs typeface="Times New Roman"/>
                        </a:rPr>
                        <a:t>A</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ctr">
                        <a:lnSpc>
                          <a:spcPts val="2335"/>
                        </a:lnSpc>
                        <a:spcBef>
                          <a:spcPts val="0"/>
                        </a:spcBef>
                        <a:spcAft>
                          <a:spcPts val="0"/>
                        </a:spcAft>
                      </a:pPr>
                      <a:r>
                        <a:rPr lang="en-US" sz="2000" dirty="0">
                          <a:solidFill>
                            <a:srgbClr val="333333"/>
                          </a:solidFill>
                          <a:effectLst/>
                          <a:latin typeface="inherit"/>
                          <a:ea typeface="Times New Roman"/>
                          <a:cs typeface="Times New Roman"/>
                        </a:rPr>
                        <a:t>4.0</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ctr">
                        <a:lnSpc>
                          <a:spcPts val="2335"/>
                        </a:lnSpc>
                        <a:spcBef>
                          <a:spcPts val="0"/>
                        </a:spcBef>
                        <a:spcAft>
                          <a:spcPts val="0"/>
                        </a:spcAft>
                      </a:pPr>
                      <a:r>
                        <a:rPr lang="en-US" sz="2000">
                          <a:solidFill>
                            <a:srgbClr val="333333"/>
                          </a:solidFill>
                          <a:effectLst/>
                          <a:latin typeface="inherit"/>
                          <a:ea typeface="Times New Roman"/>
                          <a:cs typeface="Times New Roman"/>
                        </a:rPr>
                        <a:t>3.2</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extLst>
                  <a:ext uri="{0D108BD9-81ED-4DB2-BD59-A6C34878D82A}">
                    <a16:rowId xmlns:a16="http://schemas.microsoft.com/office/drawing/2014/main" val="10001"/>
                  </a:ext>
                </a:extLst>
              </a:tr>
              <a:tr h="0">
                <a:tc>
                  <a:txBody>
                    <a:bodyPr/>
                    <a:lstStyle/>
                    <a:p>
                      <a:pPr marL="0" marR="0" algn="ctr">
                        <a:lnSpc>
                          <a:spcPts val="2335"/>
                        </a:lnSpc>
                        <a:spcBef>
                          <a:spcPts val="0"/>
                        </a:spcBef>
                        <a:spcAft>
                          <a:spcPts val="0"/>
                        </a:spcAft>
                      </a:pPr>
                      <a:r>
                        <a:rPr lang="en-US" sz="2000" dirty="0">
                          <a:solidFill>
                            <a:srgbClr val="333333"/>
                          </a:solidFill>
                          <a:effectLst/>
                          <a:latin typeface="inherit"/>
                          <a:ea typeface="Times New Roman"/>
                          <a:cs typeface="Times New Roman"/>
                        </a:rPr>
                        <a:t>B</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ts val="2335"/>
                        </a:lnSpc>
                        <a:spcBef>
                          <a:spcPts val="0"/>
                        </a:spcBef>
                        <a:spcAft>
                          <a:spcPts val="0"/>
                        </a:spcAft>
                      </a:pPr>
                      <a:r>
                        <a:rPr lang="en-US" sz="2000">
                          <a:solidFill>
                            <a:srgbClr val="333333"/>
                          </a:solidFill>
                          <a:effectLst/>
                          <a:latin typeface="inherit"/>
                          <a:ea typeface="Times New Roman"/>
                          <a:cs typeface="Times New Roman"/>
                        </a:rPr>
                        <a:t>8.5</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ts val="2335"/>
                        </a:lnSpc>
                        <a:spcBef>
                          <a:spcPts val="0"/>
                        </a:spcBef>
                        <a:spcAft>
                          <a:spcPts val="0"/>
                        </a:spcAft>
                      </a:pPr>
                      <a:r>
                        <a:rPr lang="en-US" sz="2000">
                          <a:solidFill>
                            <a:srgbClr val="333333"/>
                          </a:solidFill>
                          <a:effectLst/>
                          <a:latin typeface="inherit"/>
                          <a:ea typeface="Times New Roman"/>
                          <a:cs typeface="Times New Roman"/>
                        </a:rPr>
                        <a:t>8.2</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marR="0" algn="ctr">
                        <a:lnSpc>
                          <a:spcPts val="2335"/>
                        </a:lnSpc>
                        <a:spcBef>
                          <a:spcPts val="0"/>
                        </a:spcBef>
                        <a:spcAft>
                          <a:spcPts val="0"/>
                        </a:spcAft>
                      </a:pPr>
                      <a:r>
                        <a:rPr lang="en-US" sz="2000" dirty="0">
                          <a:solidFill>
                            <a:srgbClr val="333333"/>
                          </a:solidFill>
                          <a:effectLst/>
                          <a:latin typeface="inherit"/>
                          <a:ea typeface="Times New Roman"/>
                          <a:cs typeface="Times New Roman"/>
                        </a:rPr>
                        <a:t>C</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ctr">
                        <a:lnSpc>
                          <a:spcPts val="2335"/>
                        </a:lnSpc>
                        <a:spcBef>
                          <a:spcPts val="0"/>
                        </a:spcBef>
                        <a:spcAft>
                          <a:spcPts val="0"/>
                        </a:spcAft>
                      </a:pPr>
                      <a:r>
                        <a:rPr lang="en-US" sz="2000" dirty="0">
                          <a:solidFill>
                            <a:srgbClr val="333333"/>
                          </a:solidFill>
                          <a:effectLst/>
                          <a:latin typeface="inherit"/>
                          <a:ea typeface="Times New Roman"/>
                          <a:cs typeface="Times New Roman"/>
                        </a:rPr>
                        <a:t>5.5</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ctr">
                        <a:lnSpc>
                          <a:spcPts val="2335"/>
                        </a:lnSpc>
                        <a:spcBef>
                          <a:spcPts val="0"/>
                        </a:spcBef>
                        <a:spcAft>
                          <a:spcPts val="0"/>
                        </a:spcAft>
                      </a:pPr>
                      <a:r>
                        <a:rPr lang="en-US" sz="2000">
                          <a:solidFill>
                            <a:srgbClr val="333333"/>
                          </a:solidFill>
                          <a:effectLst/>
                          <a:latin typeface="inherit"/>
                          <a:ea typeface="Times New Roman"/>
                          <a:cs typeface="Times New Roman"/>
                        </a:rPr>
                        <a:t>9.4</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extLst>
                  <a:ext uri="{0D108BD9-81ED-4DB2-BD59-A6C34878D82A}">
                    <a16:rowId xmlns:a16="http://schemas.microsoft.com/office/drawing/2014/main" val="10003"/>
                  </a:ext>
                </a:extLst>
              </a:tr>
              <a:tr h="0">
                <a:tc>
                  <a:txBody>
                    <a:bodyPr/>
                    <a:lstStyle/>
                    <a:p>
                      <a:pPr marL="0" marR="0" algn="ctr">
                        <a:lnSpc>
                          <a:spcPts val="2335"/>
                        </a:lnSpc>
                        <a:spcBef>
                          <a:spcPts val="0"/>
                        </a:spcBef>
                        <a:spcAft>
                          <a:spcPts val="0"/>
                        </a:spcAft>
                      </a:pPr>
                      <a:r>
                        <a:rPr lang="en-US" sz="2000" dirty="0">
                          <a:solidFill>
                            <a:srgbClr val="333333"/>
                          </a:solidFill>
                          <a:effectLst/>
                          <a:latin typeface="inherit"/>
                          <a:ea typeface="Times New Roman"/>
                          <a:cs typeface="Times New Roman"/>
                        </a:rPr>
                        <a:t>D</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ts val="2335"/>
                        </a:lnSpc>
                        <a:spcBef>
                          <a:spcPts val="0"/>
                        </a:spcBef>
                        <a:spcAft>
                          <a:spcPts val="0"/>
                        </a:spcAft>
                      </a:pPr>
                      <a:r>
                        <a:rPr lang="en-US" sz="2000" dirty="0">
                          <a:solidFill>
                            <a:srgbClr val="333333"/>
                          </a:solidFill>
                          <a:effectLst/>
                          <a:latin typeface="inherit"/>
                          <a:ea typeface="Times New Roman"/>
                          <a:cs typeface="Times New Roman"/>
                        </a:rPr>
                        <a:t>0.8</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ts val="2335"/>
                        </a:lnSpc>
                        <a:spcBef>
                          <a:spcPts val="0"/>
                        </a:spcBef>
                        <a:spcAft>
                          <a:spcPts val="0"/>
                        </a:spcAft>
                      </a:pPr>
                      <a:r>
                        <a:rPr lang="en-US" sz="2000">
                          <a:solidFill>
                            <a:srgbClr val="333333"/>
                          </a:solidFill>
                          <a:effectLst/>
                          <a:latin typeface="inherit"/>
                          <a:ea typeface="Times New Roman"/>
                          <a:cs typeface="Times New Roman"/>
                        </a:rPr>
                        <a:t>5.1</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marR="0" algn="ctr">
                        <a:lnSpc>
                          <a:spcPts val="2335"/>
                        </a:lnSpc>
                        <a:spcBef>
                          <a:spcPts val="0"/>
                        </a:spcBef>
                        <a:spcAft>
                          <a:spcPts val="0"/>
                        </a:spcAft>
                      </a:pPr>
                      <a:r>
                        <a:rPr lang="en-US" sz="2000" dirty="0">
                          <a:solidFill>
                            <a:srgbClr val="333333"/>
                          </a:solidFill>
                          <a:effectLst/>
                          <a:latin typeface="inherit"/>
                          <a:ea typeface="Times New Roman"/>
                          <a:cs typeface="Times New Roman"/>
                        </a:rPr>
                        <a:t>E</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ctr">
                        <a:lnSpc>
                          <a:spcPts val="2335"/>
                        </a:lnSpc>
                        <a:spcBef>
                          <a:spcPts val="0"/>
                        </a:spcBef>
                        <a:spcAft>
                          <a:spcPts val="0"/>
                        </a:spcAft>
                      </a:pPr>
                      <a:r>
                        <a:rPr lang="en-US" sz="2000" dirty="0">
                          <a:solidFill>
                            <a:srgbClr val="333333"/>
                          </a:solidFill>
                          <a:effectLst/>
                          <a:latin typeface="inherit"/>
                          <a:ea typeface="Times New Roman"/>
                          <a:cs typeface="Times New Roman"/>
                        </a:rPr>
                        <a:t>7.3</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ctr">
                        <a:lnSpc>
                          <a:spcPts val="2335"/>
                        </a:lnSpc>
                        <a:spcBef>
                          <a:spcPts val="0"/>
                        </a:spcBef>
                        <a:spcAft>
                          <a:spcPts val="0"/>
                        </a:spcAft>
                      </a:pPr>
                      <a:r>
                        <a:rPr lang="en-US" sz="2000" dirty="0">
                          <a:solidFill>
                            <a:srgbClr val="333333"/>
                          </a:solidFill>
                          <a:effectLst/>
                          <a:latin typeface="inherit"/>
                          <a:ea typeface="Times New Roman"/>
                          <a:cs typeface="Times New Roman"/>
                        </a:rPr>
                        <a:t>10.1</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extLst>
                  <a:ext uri="{0D108BD9-81ED-4DB2-BD59-A6C34878D82A}">
                    <a16:rowId xmlns:a16="http://schemas.microsoft.com/office/drawing/2014/main" val="10005"/>
                  </a:ext>
                </a:extLst>
              </a:tr>
              <a:tr h="0">
                <a:tc>
                  <a:txBody>
                    <a:bodyPr/>
                    <a:lstStyle/>
                    <a:p>
                      <a:pPr marL="0" marR="0" algn="ctr">
                        <a:lnSpc>
                          <a:spcPts val="2335"/>
                        </a:lnSpc>
                        <a:spcBef>
                          <a:spcPts val="0"/>
                        </a:spcBef>
                        <a:spcAft>
                          <a:spcPts val="0"/>
                        </a:spcAft>
                      </a:pPr>
                      <a:r>
                        <a:rPr lang="en-US" sz="2000">
                          <a:solidFill>
                            <a:srgbClr val="333333"/>
                          </a:solidFill>
                          <a:effectLst/>
                          <a:latin typeface="inherit"/>
                          <a:ea typeface="Times New Roman"/>
                          <a:cs typeface="Times New Roman"/>
                        </a:rPr>
                        <a:t>F</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ts val="2335"/>
                        </a:lnSpc>
                        <a:spcBef>
                          <a:spcPts val="0"/>
                        </a:spcBef>
                        <a:spcAft>
                          <a:spcPts val="0"/>
                        </a:spcAft>
                      </a:pPr>
                      <a:r>
                        <a:rPr lang="en-US" sz="2000">
                          <a:solidFill>
                            <a:srgbClr val="333333"/>
                          </a:solidFill>
                          <a:effectLst/>
                          <a:latin typeface="inherit"/>
                          <a:ea typeface="Times New Roman"/>
                          <a:cs typeface="Times New Roman"/>
                        </a:rPr>
                        <a:t>5.8</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ts val="2335"/>
                        </a:lnSpc>
                        <a:spcBef>
                          <a:spcPts val="0"/>
                        </a:spcBef>
                        <a:spcAft>
                          <a:spcPts val="0"/>
                        </a:spcAft>
                      </a:pPr>
                      <a:r>
                        <a:rPr lang="en-US" sz="2000" dirty="0">
                          <a:solidFill>
                            <a:srgbClr val="333333"/>
                          </a:solidFill>
                          <a:effectLst/>
                          <a:latin typeface="inherit"/>
                          <a:ea typeface="Times New Roman"/>
                          <a:cs typeface="Times New Roman"/>
                        </a:rPr>
                        <a:t>7.8</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marR="0" algn="ctr">
                        <a:lnSpc>
                          <a:spcPts val="2335"/>
                        </a:lnSpc>
                        <a:spcBef>
                          <a:spcPts val="0"/>
                        </a:spcBef>
                        <a:spcAft>
                          <a:spcPts val="0"/>
                        </a:spcAft>
                      </a:pPr>
                      <a:r>
                        <a:rPr lang="en-US" sz="2000">
                          <a:solidFill>
                            <a:srgbClr val="333333"/>
                          </a:solidFill>
                          <a:effectLst/>
                          <a:latin typeface="inherit"/>
                          <a:ea typeface="Times New Roman"/>
                          <a:cs typeface="Times New Roman"/>
                        </a:rPr>
                        <a:t>G</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ctr">
                        <a:lnSpc>
                          <a:spcPts val="2335"/>
                        </a:lnSpc>
                        <a:spcBef>
                          <a:spcPts val="0"/>
                        </a:spcBef>
                        <a:spcAft>
                          <a:spcPts val="0"/>
                        </a:spcAft>
                      </a:pPr>
                      <a:r>
                        <a:rPr lang="en-US" sz="2000">
                          <a:solidFill>
                            <a:srgbClr val="333333"/>
                          </a:solidFill>
                          <a:effectLst/>
                          <a:latin typeface="inherit"/>
                          <a:ea typeface="Times New Roman"/>
                          <a:cs typeface="Times New Roman"/>
                        </a:rPr>
                        <a:t>2.1</a:t>
                      </a:r>
                      <a:endParaRPr lang="en-US" sz="160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tc>
                  <a:txBody>
                    <a:bodyPr/>
                    <a:lstStyle/>
                    <a:p>
                      <a:pPr marL="0" marR="0" algn="ctr">
                        <a:lnSpc>
                          <a:spcPts val="2335"/>
                        </a:lnSpc>
                        <a:spcBef>
                          <a:spcPts val="0"/>
                        </a:spcBef>
                        <a:spcAft>
                          <a:spcPts val="0"/>
                        </a:spcAft>
                      </a:pPr>
                      <a:r>
                        <a:rPr lang="en-US" sz="2000" dirty="0">
                          <a:solidFill>
                            <a:srgbClr val="333333"/>
                          </a:solidFill>
                          <a:effectLst/>
                          <a:latin typeface="inherit"/>
                          <a:ea typeface="Times New Roman"/>
                          <a:cs typeface="Times New Roman"/>
                        </a:rPr>
                        <a:t>4.7</a:t>
                      </a:r>
                      <a:endParaRPr lang="en-US" sz="1600" dirty="0">
                        <a:effectLst/>
                        <a:latin typeface="Calibri"/>
                        <a:ea typeface="Calibri"/>
                        <a:cs typeface="Times New Roman"/>
                      </a:endParaRPr>
                    </a:p>
                  </a:txBody>
                  <a:tcPr marL="95250" marR="95250" marT="95250" marB="9525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F7F7"/>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912860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marL="0" indent="0" algn="just">
              <a:spcBef>
                <a:spcPts val="0"/>
              </a:spcBef>
              <a:buNone/>
            </a:pPr>
            <a:r>
              <a:rPr lang="en-US" sz="2400" b="1" dirty="0">
                <a:solidFill>
                  <a:srgbClr val="0000FF"/>
                </a:solidFill>
              </a:rPr>
              <a:t>Solution: </a:t>
            </a:r>
            <a:r>
              <a:rPr lang="en-US" sz="2400" dirty="0"/>
              <a:t>Let us start ranking from the lowest value for both the variables as shown below</a:t>
            </a:r>
            <a:r>
              <a:rPr lang="en-US" sz="3600" dirty="0"/>
              <a:t>:</a:t>
            </a:r>
          </a:p>
          <a:p>
            <a:endParaRPr lang="en-US" dirty="0"/>
          </a:p>
        </p:txBody>
      </p:sp>
      <p:pic>
        <p:nvPicPr>
          <p:cNvPr id="4" name="img-467_1"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066800"/>
            <a:ext cx="8915400" cy="3581400"/>
          </a:xfrm>
          <a:prstGeom prst="rect">
            <a:avLst/>
          </a:prstGeom>
          <a:noFill/>
          <a:ln>
            <a:noFill/>
          </a:ln>
        </p:spPr>
      </p:pic>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8800" y="4821473"/>
            <a:ext cx="5943600"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0" y="5867400"/>
            <a:ext cx="9144000" cy="830997"/>
          </a:xfrm>
          <a:prstGeom prst="rect">
            <a:avLst/>
          </a:prstGeom>
        </p:spPr>
        <p:txBody>
          <a:bodyPr wrap="square">
            <a:spAutoFit/>
          </a:bodyPr>
          <a:lstStyle/>
          <a:p>
            <a:pPr algn="just"/>
            <a:r>
              <a:rPr lang="en-US" sz="2400" b="1" dirty="0">
                <a:solidFill>
                  <a:srgbClr val="7030A0"/>
                </a:solidFill>
              </a:rPr>
              <a:t>The </a:t>
            </a:r>
            <a:r>
              <a:rPr lang="en-US" sz="2400" b="1" u="sng" dirty="0">
                <a:solidFill>
                  <a:srgbClr val="7030A0"/>
                </a:solidFill>
                <a:effectLst>
                  <a:outerShdw blurRad="38100" dist="38100" dir="2700000" algn="tl">
                    <a:srgbClr val="000000">
                      <a:alpha val="43137"/>
                    </a:srgbClr>
                  </a:outerShdw>
                </a:effectLst>
              </a:rPr>
              <a:t>result shows a moderately high degree of positive correlation </a:t>
            </a:r>
            <a:r>
              <a:rPr lang="en-US" sz="2400" b="1" dirty="0">
                <a:solidFill>
                  <a:srgbClr val="7030A0"/>
                </a:solidFill>
              </a:rPr>
              <a:t>between unemployment rate and inflation rate of seven countries.</a:t>
            </a:r>
          </a:p>
        </p:txBody>
      </p:sp>
    </p:spTree>
    <p:extLst>
      <p:ext uri="{BB962C8B-B14F-4D97-AF65-F5344CB8AC3E}">
        <p14:creationId xmlns:p14="http://schemas.microsoft.com/office/powerpoint/2010/main" val="7217398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182" y="11349"/>
            <a:ext cx="9038617" cy="6846651"/>
          </a:xfrm>
        </p:spPr>
        <p:txBody>
          <a:bodyPr/>
          <a:lstStyle/>
          <a:p>
            <a:pPr marL="0" indent="0" algn="ctr">
              <a:buNone/>
            </a:pPr>
            <a:r>
              <a:rPr lang="en-US" sz="2800" b="1" u="sng" dirty="0">
                <a:solidFill>
                  <a:srgbClr val="FF0000"/>
                </a:solidFill>
              </a:rPr>
              <a:t>WHEN RANKS ARE EQUAL</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just">
              <a:buNone/>
            </a:pPr>
            <a:r>
              <a:rPr lang="en-US" sz="2400" b="1" dirty="0">
                <a:solidFill>
                  <a:srgbClr val="FF00FF"/>
                </a:solidFill>
                <a:effectLst>
                  <a:outerShdw blurRad="38100" dist="38100" dir="2700000" algn="tl">
                    <a:srgbClr val="000000">
                      <a:alpha val="43137"/>
                    </a:srgbClr>
                  </a:outerShdw>
                </a:effectLst>
              </a:rPr>
              <a:t>where </a:t>
            </a:r>
            <a:r>
              <a:rPr lang="en-US" sz="2400" b="1" i="1" dirty="0">
                <a:solidFill>
                  <a:srgbClr val="FF00FF"/>
                </a:solidFill>
                <a:effectLst>
                  <a:outerShdw blurRad="38100" dist="38100" dir="2700000" algn="tl">
                    <a:srgbClr val="000000">
                      <a:alpha val="43137"/>
                    </a:srgbClr>
                  </a:outerShdw>
                </a:effectLst>
              </a:rPr>
              <a:t>m</a:t>
            </a:r>
            <a:r>
              <a:rPr lang="en-US" sz="2400" b="1" baseline="-25000" dirty="0">
                <a:solidFill>
                  <a:srgbClr val="FF00FF"/>
                </a:solidFill>
                <a:effectLst>
                  <a:outerShdw blurRad="38100" dist="38100" dir="2700000" algn="tl">
                    <a:srgbClr val="000000">
                      <a:alpha val="43137"/>
                    </a:srgbClr>
                  </a:outerShdw>
                </a:effectLst>
              </a:rPr>
              <a:t>i</a:t>
            </a:r>
            <a:r>
              <a:rPr lang="en-US" sz="2400" b="1" dirty="0">
                <a:solidFill>
                  <a:srgbClr val="FF00FF"/>
                </a:solidFill>
                <a:effectLst>
                  <a:outerShdw blurRad="38100" dist="38100" dir="2700000" algn="tl">
                    <a:srgbClr val="000000">
                      <a:alpha val="43137"/>
                    </a:srgbClr>
                  </a:outerShdw>
                </a:effectLst>
              </a:rPr>
              <a:t> (</a:t>
            </a:r>
            <a:r>
              <a:rPr lang="en-US" sz="2400" b="1" i="1" dirty="0">
                <a:solidFill>
                  <a:srgbClr val="FF00FF"/>
                </a:solidFill>
                <a:effectLst>
                  <a:outerShdw blurRad="38100" dist="38100" dir="2700000" algn="tl">
                    <a:srgbClr val="000000">
                      <a:alpha val="43137"/>
                    </a:srgbClr>
                  </a:outerShdw>
                </a:effectLst>
              </a:rPr>
              <a:t>i</a:t>
            </a:r>
            <a:r>
              <a:rPr lang="en-US" sz="2400" b="1" dirty="0">
                <a:solidFill>
                  <a:srgbClr val="FF00FF"/>
                </a:solidFill>
                <a:effectLst>
                  <a:outerShdw blurRad="38100" dist="38100" dir="2700000" algn="tl">
                    <a:srgbClr val="000000">
                      <a:alpha val="43137"/>
                    </a:srgbClr>
                  </a:outerShdw>
                </a:effectLst>
              </a:rPr>
              <a:t> = 1, 2, 3,…) stands for the </a:t>
            </a:r>
            <a:r>
              <a:rPr lang="en-US" sz="2400" b="1" u="dbl" dirty="0">
                <a:solidFill>
                  <a:srgbClr val="0066FF"/>
                </a:solidFill>
                <a:effectLst>
                  <a:outerShdw blurRad="38100" dist="38100" dir="2700000" algn="tl">
                    <a:srgbClr val="000000">
                      <a:alpha val="43137"/>
                    </a:srgbClr>
                  </a:outerShdw>
                </a:effectLst>
                <a:uFill>
                  <a:solidFill>
                    <a:srgbClr val="FF00FF"/>
                  </a:solidFill>
                </a:uFill>
              </a:rPr>
              <a:t>number of times an observation is repeated in the data set </a:t>
            </a:r>
            <a:r>
              <a:rPr lang="en-US" sz="2400" b="1" dirty="0">
                <a:solidFill>
                  <a:srgbClr val="FF00FF"/>
                </a:solidFill>
                <a:effectLst>
                  <a:outerShdw blurRad="38100" dist="38100" dir="2700000" algn="tl">
                    <a:srgbClr val="000000">
                      <a:alpha val="43137"/>
                    </a:srgbClr>
                  </a:outerShdw>
                </a:effectLst>
              </a:rPr>
              <a:t>for </a:t>
            </a:r>
            <a:r>
              <a:rPr lang="en-US" sz="2400" b="1" u="dbl" dirty="0">
                <a:solidFill>
                  <a:srgbClr val="0066FF"/>
                </a:solidFill>
                <a:effectLst>
                  <a:outerShdw blurRad="38100" dist="38100" dir="2700000" algn="tl">
                    <a:srgbClr val="000000">
                      <a:alpha val="43137"/>
                    </a:srgbClr>
                  </a:outerShdw>
                </a:effectLst>
                <a:uFill>
                  <a:solidFill>
                    <a:srgbClr val="FF00FF"/>
                  </a:solidFill>
                </a:uFill>
              </a:rPr>
              <a:t>both variables</a:t>
            </a:r>
            <a:r>
              <a:rPr lang="en-US" sz="2400" b="1" dirty="0">
                <a:solidFill>
                  <a:srgbClr val="FF00FF"/>
                </a:solidFill>
                <a:effectLst>
                  <a:outerShdw blurRad="38100" dist="38100" dir="2700000" algn="tl">
                    <a:srgbClr val="000000">
                      <a:alpha val="43137"/>
                    </a:srgbClr>
                  </a:outerShdw>
                </a:effectLst>
              </a:rPr>
              <a:t>.</a:t>
            </a:r>
          </a:p>
          <a:p>
            <a:pPr marL="0" indent="0" algn="just">
              <a:buNone/>
            </a:pPr>
            <a:endParaRPr lang="en-US" sz="2400" dirty="0"/>
          </a:p>
          <a:p>
            <a:pPr marL="0" indent="0" algn="just">
              <a:buNone/>
            </a:pPr>
            <a:r>
              <a:rPr lang="en-US" sz="2400" b="1" dirty="0">
                <a:solidFill>
                  <a:srgbClr val="CC0000"/>
                </a:solidFill>
                <a:effectLst>
                  <a:outerShdw blurRad="38100" dist="38100" dir="2700000" algn="tl">
                    <a:srgbClr val="000000">
                      <a:alpha val="43137"/>
                    </a:srgbClr>
                  </a:outerShdw>
                </a:effectLst>
              </a:rPr>
              <a:t>EX: </a:t>
            </a:r>
            <a:r>
              <a:rPr lang="en-US" sz="2400" b="1" dirty="0">
                <a:solidFill>
                  <a:srgbClr val="7030A0"/>
                </a:solidFill>
              </a:rPr>
              <a:t>Obtain the rank correlation coefficient between the variables </a:t>
            </a:r>
            <a:r>
              <a:rPr lang="en-US" sz="2400" b="1" i="1" dirty="0">
                <a:solidFill>
                  <a:srgbClr val="7030A0"/>
                </a:solidFill>
              </a:rPr>
              <a:t>x</a:t>
            </a:r>
            <a:r>
              <a:rPr lang="en-US" sz="2400" b="1" dirty="0">
                <a:solidFill>
                  <a:srgbClr val="7030A0"/>
                </a:solidFill>
              </a:rPr>
              <a:t> and </a:t>
            </a:r>
            <a:r>
              <a:rPr lang="en-US" sz="2400" b="1" i="1" dirty="0">
                <a:solidFill>
                  <a:srgbClr val="7030A0"/>
                </a:solidFill>
              </a:rPr>
              <a:t>y</a:t>
            </a:r>
            <a:r>
              <a:rPr lang="en-US" sz="2400" b="1" dirty="0">
                <a:solidFill>
                  <a:srgbClr val="7030A0"/>
                </a:solidFill>
              </a:rPr>
              <a:t> from the following pairs of observed values.</a:t>
            </a:r>
          </a:p>
          <a:p>
            <a:endParaRPr lang="en-US" sz="2400" b="1" dirty="0">
              <a:solidFill>
                <a:srgbClr val="7030A0"/>
              </a:solidFill>
            </a:endParaRPr>
          </a:p>
          <a:p>
            <a:pPr marL="0" indent="0">
              <a:buNone/>
            </a:pPr>
            <a:endParaRPr lang="en-US" dirty="0"/>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990600"/>
            <a:ext cx="716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img-468_3" descr="image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5486400"/>
            <a:ext cx="7543800" cy="677227"/>
          </a:xfrm>
          <a:prstGeom prst="rect">
            <a:avLst/>
          </a:prstGeom>
          <a:noFill/>
          <a:ln>
            <a:noFill/>
          </a:ln>
        </p:spPr>
      </p:pic>
    </p:spTree>
    <p:extLst>
      <p:ext uri="{BB962C8B-B14F-4D97-AF65-F5344CB8AC3E}">
        <p14:creationId xmlns:p14="http://schemas.microsoft.com/office/powerpoint/2010/main" val="9824940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7010400"/>
          </a:xfrm>
        </p:spPr>
        <p:txBody>
          <a:bodyPr>
            <a:normAutofit fontScale="85000" lnSpcReduction="20000"/>
          </a:bodyPr>
          <a:lstStyle/>
          <a:p>
            <a:pPr marL="0" indent="0" algn="just">
              <a:buNone/>
            </a:pPr>
            <a:r>
              <a:rPr lang="en-US" sz="2400" b="1" u="sng" dirty="0">
                <a:solidFill>
                  <a:srgbClr val="0000FF"/>
                </a:solidFill>
                <a:effectLst>
                  <a:outerShdw blurRad="38100" dist="38100" dir="2700000" algn="tl">
                    <a:srgbClr val="000000">
                      <a:alpha val="43137"/>
                    </a:srgbClr>
                  </a:outerShdw>
                </a:effectLst>
              </a:rPr>
              <a:t>Solution:</a:t>
            </a:r>
            <a:r>
              <a:rPr lang="en-US" sz="2400" dirty="0"/>
              <a:t> Let us start ranking from lowest value for both the variables. </a:t>
            </a:r>
            <a:r>
              <a:rPr lang="en-US" sz="2800" b="1" dirty="0">
                <a:solidFill>
                  <a:srgbClr val="FF0000"/>
                </a:solidFill>
              </a:rPr>
              <a:t>Moreover, certain observations in both sets of data are repeated</a:t>
            </a:r>
            <a:r>
              <a:rPr lang="en-US" sz="3300" b="1" dirty="0">
                <a:solidFill>
                  <a:srgbClr val="FF0000"/>
                </a:solidFill>
              </a:rPr>
              <a:t>, </a:t>
            </a:r>
          </a:p>
          <a:p>
            <a:pPr algn="just"/>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600" b="1" u="dbl" dirty="0">
              <a:solidFill>
                <a:srgbClr val="9E2234"/>
              </a:solidFill>
              <a:uFill>
                <a:solidFill>
                  <a:srgbClr val="FFFF00"/>
                </a:solidFill>
              </a:uFill>
            </a:endParaRPr>
          </a:p>
          <a:p>
            <a:pPr marL="0" indent="0" algn="just">
              <a:buNone/>
            </a:pPr>
            <a:endParaRPr lang="en-US" sz="2600" b="1" u="dbl" dirty="0">
              <a:solidFill>
                <a:srgbClr val="9E2234"/>
              </a:solidFill>
              <a:uFill>
                <a:solidFill>
                  <a:srgbClr val="FFFF00"/>
                </a:solidFill>
              </a:uFill>
            </a:endParaRPr>
          </a:p>
          <a:p>
            <a:pPr marL="0" indent="0" algn="just">
              <a:buNone/>
            </a:pPr>
            <a:r>
              <a:rPr lang="en-US" sz="2600" b="1" u="dbl" dirty="0">
                <a:solidFill>
                  <a:srgbClr val="9E2234"/>
                </a:solidFill>
                <a:uFill>
                  <a:solidFill>
                    <a:srgbClr val="FFFF00"/>
                  </a:solidFill>
                </a:uFill>
              </a:rPr>
              <a:t>Go with Lowest to give ranks, </a:t>
            </a:r>
            <a:r>
              <a:rPr lang="en-US" sz="2600" b="1" dirty="0">
                <a:solidFill>
                  <a:srgbClr val="0000FF"/>
                </a:solidFill>
              </a:rPr>
              <a:t>three observations </a:t>
            </a:r>
            <a:r>
              <a:rPr lang="en-US" sz="2600" dirty="0"/>
              <a:t>are ranked equal in case above </a:t>
            </a:r>
            <a:r>
              <a:rPr lang="en-US" sz="2600" b="1" u="sng" dirty="0">
                <a:solidFill>
                  <a:srgbClr val="FF0000"/>
                </a:solidFill>
              </a:rPr>
              <a:t>‘x’ variable</a:t>
            </a:r>
            <a:r>
              <a:rPr lang="en-US" sz="2600" dirty="0"/>
              <a:t> i.e., </a:t>
            </a:r>
            <a:r>
              <a:rPr lang="en-US" sz="2600" b="1" u="sng" dirty="0">
                <a:effectLst>
                  <a:outerShdw blurRad="38100" dist="38100" dir="2700000" algn="tl">
                    <a:srgbClr val="000000">
                      <a:alpha val="43137"/>
                    </a:srgbClr>
                  </a:outerShdw>
                </a:effectLst>
              </a:rPr>
              <a:t>50</a:t>
            </a:r>
            <a:r>
              <a:rPr lang="en-US" sz="2600" dirty="0"/>
              <a:t> which can be ranked as </a:t>
            </a:r>
            <a:r>
              <a:rPr lang="en-US" sz="2600" b="1" dirty="0">
                <a:solidFill>
                  <a:srgbClr val="0070C0"/>
                </a:solidFill>
              </a:rPr>
              <a:t>(1+2+3)/3  = 2 </a:t>
            </a:r>
            <a:r>
              <a:rPr lang="en-US" sz="2600" dirty="0"/>
              <a:t>, then the average rank of 2 is assigned to these three observations.          </a:t>
            </a:r>
            <a:r>
              <a:rPr lang="en-US" sz="2600" b="1" u="sng" dirty="0">
                <a:solidFill>
                  <a:srgbClr val="FF0000"/>
                </a:solidFill>
                <a:effectLst>
                  <a:outerShdw blurRad="38100" dist="38100" dir="2700000" algn="tl">
                    <a:srgbClr val="000000">
                      <a:alpha val="43137"/>
                    </a:srgbClr>
                  </a:outerShdw>
                </a:effectLst>
              </a:rPr>
              <a:t>(3 ranks are exhausted i.e., 1,2,3)</a:t>
            </a:r>
          </a:p>
          <a:p>
            <a:pPr marL="0" indent="0" algn="just">
              <a:buNone/>
            </a:pPr>
            <a:endParaRPr lang="en-US" sz="2600" dirty="0"/>
          </a:p>
          <a:p>
            <a:pPr marL="0" indent="0" algn="just">
              <a:buNone/>
            </a:pPr>
            <a:r>
              <a:rPr lang="en-US" sz="2600" dirty="0"/>
              <a:t>Similarly, </a:t>
            </a:r>
            <a:r>
              <a:rPr lang="en-US" sz="2600" b="1" dirty="0">
                <a:solidFill>
                  <a:srgbClr val="0000FF"/>
                </a:solidFill>
              </a:rPr>
              <a:t>two observations</a:t>
            </a:r>
            <a:r>
              <a:rPr lang="en-US" sz="2600" dirty="0"/>
              <a:t> are ranked equal at fourth place </a:t>
            </a:r>
            <a:r>
              <a:rPr lang="en-US" sz="2600" b="1" u="sng" dirty="0">
                <a:solidFill>
                  <a:srgbClr val="FF0000"/>
                </a:solidFill>
              </a:rPr>
              <a:t>‘x’ variable </a:t>
            </a:r>
            <a:r>
              <a:rPr lang="en-US" sz="2600" b="1" u="sng" dirty="0">
                <a:effectLst>
                  <a:outerShdw blurRad="38100" dist="38100" dir="2700000" algn="tl">
                    <a:srgbClr val="000000">
                      <a:alpha val="43137"/>
                    </a:srgbClr>
                  </a:outerShdw>
                </a:effectLst>
              </a:rPr>
              <a:t>‘55’, </a:t>
            </a:r>
            <a:r>
              <a:rPr lang="en-US" sz="2600" dirty="0"/>
              <a:t>then the average rank of       </a:t>
            </a:r>
            <a:r>
              <a:rPr lang="en-US" sz="2600" b="1" dirty="0">
                <a:solidFill>
                  <a:srgbClr val="7030A0"/>
                </a:solidFill>
                <a:effectLst>
                  <a:outerShdw blurRad="38100" dist="38100" dir="2700000" algn="tl">
                    <a:srgbClr val="000000">
                      <a:alpha val="43137"/>
                    </a:srgbClr>
                  </a:outerShdw>
                </a:effectLst>
              </a:rPr>
              <a:t>(4 + 5)/2 = 4.5  </a:t>
            </a:r>
            <a:r>
              <a:rPr lang="en-US" sz="2600" dirty="0"/>
              <a:t>is assigned to these two observations. </a:t>
            </a:r>
            <a:r>
              <a:rPr lang="en-US" sz="2600" b="1" u="sng" dirty="0">
                <a:solidFill>
                  <a:srgbClr val="FF0000"/>
                </a:solidFill>
                <a:effectLst>
                  <a:outerShdw blurRad="38100" dist="38100" dir="2700000" algn="tl">
                    <a:srgbClr val="000000">
                      <a:alpha val="43137"/>
                    </a:srgbClr>
                  </a:outerShdw>
                </a:effectLst>
              </a:rPr>
              <a:t>(2 ranks are exhausted i.e., 4,5)</a:t>
            </a:r>
            <a:r>
              <a:rPr lang="en-US" sz="2600" dirty="0"/>
              <a:t> </a:t>
            </a:r>
          </a:p>
          <a:p>
            <a:pPr marL="0" indent="0" algn="just">
              <a:buNone/>
            </a:pPr>
            <a:endParaRPr lang="en-US" sz="2000" dirty="0"/>
          </a:p>
          <a:p>
            <a:pPr marL="0" indent="0" algn="just">
              <a:buNone/>
            </a:pPr>
            <a:endParaRPr lang="en-US" sz="2000" dirty="0"/>
          </a:p>
          <a:p>
            <a:pPr algn="just"/>
            <a:endParaRPr lang="en-US" sz="2000" dirty="0"/>
          </a:p>
        </p:txBody>
      </p:sp>
      <p:pic>
        <p:nvPicPr>
          <p:cNvPr id="4" name="img-468_4"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838200"/>
            <a:ext cx="9144000" cy="3505200"/>
          </a:xfrm>
          <a:prstGeom prst="rect">
            <a:avLst/>
          </a:prstGeom>
          <a:noFill/>
          <a:ln>
            <a:noFill/>
          </a:ln>
        </p:spPr>
      </p:pic>
    </p:spTree>
    <p:extLst>
      <p:ext uri="{BB962C8B-B14F-4D97-AF65-F5344CB8AC3E}">
        <p14:creationId xmlns:p14="http://schemas.microsoft.com/office/powerpoint/2010/main" val="10196684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7571303"/>
          </a:xfrm>
          <a:prstGeom prst="rect">
            <a:avLst/>
          </a:prstGeom>
        </p:spPr>
        <p:txBody>
          <a:bodyPr wrap="square">
            <a:spAutoFit/>
          </a:bodyPr>
          <a:lstStyle/>
          <a:p>
            <a:pPr algn="just"/>
            <a:endParaRPr lang="en-US" sz="2200" dirty="0">
              <a:solidFill>
                <a:srgbClr val="FF00FF"/>
              </a:solidFill>
            </a:endParaRPr>
          </a:p>
          <a:p>
            <a:pPr algn="just"/>
            <a:r>
              <a:rPr lang="en-US" sz="2400" b="1" dirty="0">
                <a:solidFill>
                  <a:srgbClr val="FF00FF"/>
                </a:solidFill>
              </a:rPr>
              <a:t>6</a:t>
            </a:r>
            <a:r>
              <a:rPr lang="en-US" sz="2400" b="1" baseline="30000" dirty="0">
                <a:solidFill>
                  <a:srgbClr val="FF00FF"/>
                </a:solidFill>
              </a:rPr>
              <a:t>th</a:t>
            </a:r>
            <a:r>
              <a:rPr lang="en-US" sz="2400" b="1" dirty="0">
                <a:solidFill>
                  <a:srgbClr val="FF00FF"/>
                </a:solidFill>
              </a:rPr>
              <a:t> place</a:t>
            </a:r>
            <a:r>
              <a:rPr lang="en-US" sz="2400" dirty="0">
                <a:solidFill>
                  <a:srgbClr val="FF00FF"/>
                </a:solidFill>
              </a:rPr>
              <a:t> goes to Numerical 60 as it is single value</a:t>
            </a:r>
          </a:p>
          <a:p>
            <a:pPr algn="just"/>
            <a:endParaRPr lang="en-US" sz="2200" dirty="0"/>
          </a:p>
          <a:p>
            <a:pPr algn="just"/>
            <a:r>
              <a:rPr lang="en-US" sz="2200" dirty="0"/>
              <a:t>Similarly, </a:t>
            </a:r>
            <a:r>
              <a:rPr lang="en-US" sz="2200" b="1" dirty="0">
                <a:solidFill>
                  <a:srgbClr val="0000FF"/>
                </a:solidFill>
              </a:rPr>
              <a:t>two observations</a:t>
            </a:r>
            <a:r>
              <a:rPr lang="en-US" sz="2200" dirty="0"/>
              <a:t> are ranked equal at </a:t>
            </a:r>
            <a:r>
              <a:rPr lang="en-US" sz="2400" b="1" u="dbl" dirty="0">
                <a:solidFill>
                  <a:srgbClr val="FF00FF"/>
                </a:solidFill>
                <a:effectLst>
                  <a:outerShdw blurRad="38100" dist="38100" dir="2700000" algn="tl">
                    <a:srgbClr val="000000">
                      <a:alpha val="43137"/>
                    </a:srgbClr>
                  </a:outerShdw>
                </a:effectLst>
                <a:uFill>
                  <a:solidFill>
                    <a:srgbClr val="0000FF"/>
                  </a:solidFill>
                </a:uFill>
              </a:rPr>
              <a:t>7</a:t>
            </a:r>
            <a:r>
              <a:rPr lang="en-US" sz="2400" b="1" u="dbl" baseline="30000" dirty="0">
                <a:solidFill>
                  <a:srgbClr val="FF00FF"/>
                </a:solidFill>
                <a:effectLst>
                  <a:outerShdw blurRad="38100" dist="38100" dir="2700000" algn="tl">
                    <a:srgbClr val="000000">
                      <a:alpha val="43137"/>
                    </a:srgbClr>
                  </a:outerShdw>
                </a:effectLst>
                <a:uFill>
                  <a:solidFill>
                    <a:srgbClr val="0000FF"/>
                  </a:solidFill>
                </a:uFill>
              </a:rPr>
              <a:t>th</a:t>
            </a:r>
            <a:r>
              <a:rPr lang="en-US" sz="2400" b="1" u="dbl" dirty="0">
                <a:solidFill>
                  <a:srgbClr val="FF00FF"/>
                </a:solidFill>
                <a:effectLst>
                  <a:outerShdw blurRad="38100" dist="38100" dir="2700000" algn="tl">
                    <a:srgbClr val="000000">
                      <a:alpha val="43137"/>
                    </a:srgbClr>
                  </a:outerShdw>
                </a:effectLst>
                <a:uFill>
                  <a:solidFill>
                    <a:srgbClr val="0000FF"/>
                  </a:solidFill>
                </a:uFill>
              </a:rPr>
              <a:t> and 8</a:t>
            </a:r>
            <a:r>
              <a:rPr lang="en-US" sz="2400" b="1" u="dbl" baseline="30000" dirty="0">
                <a:solidFill>
                  <a:srgbClr val="FF00FF"/>
                </a:solidFill>
                <a:effectLst>
                  <a:outerShdw blurRad="38100" dist="38100" dir="2700000" algn="tl">
                    <a:srgbClr val="000000">
                      <a:alpha val="43137"/>
                    </a:srgbClr>
                  </a:outerShdw>
                </a:effectLst>
                <a:uFill>
                  <a:solidFill>
                    <a:srgbClr val="0000FF"/>
                  </a:solidFill>
                </a:uFill>
              </a:rPr>
              <a:t>th</a:t>
            </a:r>
            <a:r>
              <a:rPr lang="en-US" sz="2400" b="1" u="dbl" dirty="0">
                <a:solidFill>
                  <a:srgbClr val="FF00FF"/>
                </a:solidFill>
                <a:effectLst>
                  <a:outerShdw blurRad="38100" dist="38100" dir="2700000" algn="tl">
                    <a:srgbClr val="000000">
                      <a:alpha val="43137"/>
                    </a:srgbClr>
                  </a:outerShdw>
                </a:effectLst>
                <a:uFill>
                  <a:solidFill>
                    <a:srgbClr val="0000FF"/>
                  </a:solidFill>
                </a:uFill>
              </a:rPr>
              <a:t> </a:t>
            </a:r>
            <a:r>
              <a:rPr lang="en-US" sz="2200" dirty="0"/>
              <a:t>place </a:t>
            </a:r>
            <a:r>
              <a:rPr lang="en-US" sz="2200" b="1" u="sng" dirty="0">
                <a:solidFill>
                  <a:srgbClr val="FF0000"/>
                </a:solidFill>
              </a:rPr>
              <a:t>‘x’ variable </a:t>
            </a:r>
            <a:r>
              <a:rPr lang="en-US" sz="2200" b="1" u="sng" dirty="0">
                <a:effectLst>
                  <a:outerShdw blurRad="38100" dist="38100" dir="2700000" algn="tl">
                    <a:srgbClr val="000000">
                      <a:alpha val="43137"/>
                    </a:srgbClr>
                  </a:outerShdw>
                </a:effectLst>
              </a:rPr>
              <a:t>‘65’, </a:t>
            </a:r>
            <a:r>
              <a:rPr lang="en-US" sz="2200" dirty="0"/>
              <a:t>then the average rank of  </a:t>
            </a:r>
            <a:r>
              <a:rPr lang="en-US" sz="2200" b="1" dirty="0">
                <a:solidFill>
                  <a:srgbClr val="7030A0"/>
                </a:solidFill>
                <a:effectLst>
                  <a:outerShdw blurRad="38100" dist="38100" dir="2700000" algn="tl">
                    <a:srgbClr val="000000">
                      <a:alpha val="43137"/>
                    </a:srgbClr>
                  </a:outerShdw>
                </a:effectLst>
              </a:rPr>
              <a:t>(7 + 8)/2 = 7.5  </a:t>
            </a:r>
            <a:r>
              <a:rPr lang="en-US" sz="2200" dirty="0"/>
              <a:t>is assigned to these two observations </a:t>
            </a:r>
            <a:r>
              <a:rPr lang="en-US" sz="2400" b="1" u="sng" dirty="0">
                <a:solidFill>
                  <a:srgbClr val="FF0000"/>
                </a:solidFill>
                <a:effectLst>
                  <a:outerShdw blurRad="38100" dist="38100" dir="2700000" algn="tl">
                    <a:srgbClr val="000000">
                      <a:alpha val="43137"/>
                    </a:srgbClr>
                  </a:outerShdw>
                </a:effectLst>
              </a:rPr>
              <a:t>(2 ranks are exhausted i.e., 7, 8)</a:t>
            </a:r>
            <a:endParaRPr lang="en-US" sz="2200" dirty="0"/>
          </a:p>
          <a:p>
            <a:pPr algn="just"/>
            <a:endParaRPr lang="en-US" sz="2400" dirty="0"/>
          </a:p>
          <a:p>
            <a:pPr algn="just"/>
            <a:r>
              <a:rPr lang="en-US" sz="2200" dirty="0"/>
              <a:t>It may be noted that for variable </a:t>
            </a:r>
            <a:r>
              <a:rPr lang="en-US" sz="2800" b="1" i="1" dirty="0">
                <a:effectLst>
                  <a:outerShdw blurRad="38100" dist="38100" dir="2700000" algn="tl">
                    <a:srgbClr val="000000">
                      <a:alpha val="43137"/>
                    </a:srgbClr>
                  </a:outerShdw>
                </a:effectLst>
              </a:rPr>
              <a:t>x</a:t>
            </a:r>
            <a:r>
              <a:rPr lang="en-US" sz="2200" dirty="0"/>
              <a:t>, </a:t>
            </a:r>
            <a:r>
              <a:rPr lang="en-US" sz="2200" dirty="0">
                <a:solidFill>
                  <a:srgbClr val="FF0000"/>
                </a:solidFill>
              </a:rPr>
              <a:t>50 is repeated thrice (</a:t>
            </a:r>
            <a:r>
              <a:rPr lang="en-US" sz="2200" i="1" dirty="0">
                <a:solidFill>
                  <a:srgbClr val="FF0000"/>
                </a:solidFill>
              </a:rPr>
              <a:t>m</a:t>
            </a:r>
            <a:r>
              <a:rPr lang="en-US" sz="2200" baseline="-25000" dirty="0">
                <a:solidFill>
                  <a:srgbClr val="FF0000"/>
                </a:solidFill>
              </a:rPr>
              <a:t>1</a:t>
            </a:r>
            <a:r>
              <a:rPr lang="en-US" sz="2200" dirty="0">
                <a:solidFill>
                  <a:srgbClr val="FF0000"/>
                </a:solidFill>
              </a:rPr>
              <a:t> = 3),                          </a:t>
            </a:r>
            <a:r>
              <a:rPr lang="en-US" sz="2200" b="1" dirty="0">
                <a:solidFill>
                  <a:srgbClr val="0000FF"/>
                </a:solidFill>
              </a:rPr>
              <a:t>55 is repeated twice (</a:t>
            </a:r>
            <a:r>
              <a:rPr lang="en-US" sz="2200" b="1" i="1" dirty="0">
                <a:solidFill>
                  <a:srgbClr val="0000FF"/>
                </a:solidFill>
              </a:rPr>
              <a:t>m</a:t>
            </a:r>
            <a:r>
              <a:rPr lang="en-US" sz="2200" b="1" baseline="-25000" dirty="0">
                <a:solidFill>
                  <a:srgbClr val="0000FF"/>
                </a:solidFill>
              </a:rPr>
              <a:t>2</a:t>
            </a:r>
            <a:r>
              <a:rPr lang="en-US" sz="2200" b="1" dirty="0">
                <a:solidFill>
                  <a:srgbClr val="0000FF"/>
                </a:solidFill>
              </a:rPr>
              <a:t> = 2), </a:t>
            </a:r>
            <a:r>
              <a:rPr lang="en-US" sz="2200" dirty="0"/>
              <a:t>and </a:t>
            </a:r>
            <a:r>
              <a:rPr lang="en-US" sz="2200" b="1" dirty="0">
                <a:solidFill>
                  <a:srgbClr val="7030A0"/>
                </a:solidFill>
              </a:rPr>
              <a:t>65 is repeated twice (</a:t>
            </a:r>
            <a:r>
              <a:rPr lang="en-US" sz="2200" b="1" i="1" dirty="0">
                <a:solidFill>
                  <a:srgbClr val="7030A0"/>
                </a:solidFill>
              </a:rPr>
              <a:t>m</a:t>
            </a:r>
            <a:r>
              <a:rPr lang="en-US" sz="2200" b="1" baseline="-25000" dirty="0">
                <a:solidFill>
                  <a:srgbClr val="7030A0"/>
                </a:solidFill>
              </a:rPr>
              <a:t>3</a:t>
            </a:r>
            <a:r>
              <a:rPr lang="en-US" sz="2200" b="1" dirty="0">
                <a:solidFill>
                  <a:srgbClr val="7030A0"/>
                </a:solidFill>
              </a:rPr>
              <a:t> = 2).    </a:t>
            </a:r>
          </a:p>
          <a:p>
            <a:pPr algn="just"/>
            <a:endParaRPr lang="en-US" sz="2400" b="1" u="dbl" dirty="0">
              <a:solidFill>
                <a:srgbClr val="0000FF"/>
              </a:solidFill>
              <a:uFill>
                <a:solidFill>
                  <a:srgbClr val="FFFF00"/>
                </a:solidFill>
              </a:uFill>
            </a:endParaRPr>
          </a:p>
          <a:p>
            <a:pPr algn="just"/>
            <a:r>
              <a:rPr lang="en-US" sz="2400" b="1" u="dbl" dirty="0">
                <a:solidFill>
                  <a:srgbClr val="9E2234"/>
                </a:solidFill>
                <a:uFill>
                  <a:solidFill>
                    <a:srgbClr val="FFFF00"/>
                  </a:solidFill>
                </a:uFill>
              </a:rPr>
              <a:t>FOR VARIABLE ‘Y’  Go with Lowest to give ranks again</a:t>
            </a:r>
          </a:p>
          <a:p>
            <a:pPr algn="just"/>
            <a:r>
              <a:rPr lang="en-US" sz="2400" b="1" dirty="0">
                <a:solidFill>
                  <a:srgbClr val="0000FF"/>
                </a:solidFill>
              </a:rPr>
              <a:t>two observations </a:t>
            </a:r>
            <a:r>
              <a:rPr lang="en-US" sz="2400" dirty="0"/>
              <a:t>are ranked equal in case above </a:t>
            </a:r>
            <a:r>
              <a:rPr lang="en-US" sz="2400" b="1" u="sng" dirty="0">
                <a:solidFill>
                  <a:srgbClr val="FF0000"/>
                </a:solidFill>
              </a:rPr>
              <a:t>‘y’ variable</a:t>
            </a:r>
            <a:r>
              <a:rPr lang="en-US" sz="2400" dirty="0"/>
              <a:t> i.e., </a:t>
            </a:r>
            <a:r>
              <a:rPr lang="en-US" sz="2400" b="1" u="sng" dirty="0">
                <a:effectLst>
                  <a:outerShdw blurRad="38100" dist="38100" dir="2700000" algn="tl">
                    <a:srgbClr val="000000">
                      <a:alpha val="43137"/>
                    </a:srgbClr>
                  </a:outerShdw>
                </a:effectLst>
              </a:rPr>
              <a:t>110</a:t>
            </a:r>
            <a:r>
              <a:rPr lang="en-US" sz="2400" dirty="0"/>
              <a:t> which can be ranked as </a:t>
            </a:r>
            <a:r>
              <a:rPr lang="en-US" sz="2400" b="1" dirty="0">
                <a:solidFill>
                  <a:srgbClr val="0070C0"/>
                </a:solidFill>
              </a:rPr>
              <a:t>(1+2)/2  = 1.5 </a:t>
            </a:r>
            <a:r>
              <a:rPr lang="en-US" sz="2400" dirty="0"/>
              <a:t>, then the average rank of </a:t>
            </a:r>
            <a:r>
              <a:rPr lang="en-US" sz="2400" b="1" dirty="0">
                <a:solidFill>
                  <a:srgbClr val="FF0000"/>
                </a:solidFill>
              </a:rPr>
              <a:t>1.5</a:t>
            </a:r>
            <a:r>
              <a:rPr lang="en-US" sz="2400" dirty="0"/>
              <a:t> is assigned to these two observations. </a:t>
            </a:r>
            <a:r>
              <a:rPr lang="en-US" sz="2400" b="1" u="sng" dirty="0">
                <a:solidFill>
                  <a:srgbClr val="FF0000"/>
                </a:solidFill>
                <a:effectLst>
                  <a:outerShdw blurRad="38100" dist="38100" dir="2700000" algn="tl">
                    <a:srgbClr val="000000">
                      <a:alpha val="43137"/>
                    </a:srgbClr>
                  </a:outerShdw>
                </a:effectLst>
              </a:rPr>
              <a:t>(2 ranks are exhausted i.e., 1,2)</a:t>
            </a:r>
            <a:r>
              <a:rPr lang="en-US" sz="2400" dirty="0"/>
              <a:t> </a:t>
            </a:r>
          </a:p>
          <a:p>
            <a:pPr algn="just"/>
            <a:r>
              <a:rPr lang="en-US" sz="2200" dirty="0">
                <a:solidFill>
                  <a:srgbClr val="7030A0"/>
                </a:solidFill>
              </a:rPr>
              <a:t> </a:t>
            </a:r>
          </a:p>
          <a:p>
            <a:pPr algn="just"/>
            <a:endParaRPr lang="en-US" sz="2200" dirty="0">
              <a:solidFill>
                <a:srgbClr val="7030A0"/>
              </a:solidFill>
            </a:endParaRPr>
          </a:p>
          <a:p>
            <a:pPr algn="just"/>
            <a:endParaRPr lang="en-US" sz="2200" dirty="0">
              <a:solidFill>
                <a:srgbClr val="7030A0"/>
              </a:solidFill>
            </a:endParaRPr>
          </a:p>
          <a:p>
            <a:pPr algn="just"/>
            <a:endParaRPr lang="en-US" sz="2200" dirty="0">
              <a:solidFill>
                <a:srgbClr val="7030A0"/>
              </a:solidFill>
            </a:endParaRPr>
          </a:p>
          <a:p>
            <a:pPr algn="just"/>
            <a:endParaRPr lang="en-US" sz="2200" dirty="0">
              <a:solidFill>
                <a:srgbClr val="7030A0"/>
              </a:solidFill>
            </a:endParaRPr>
          </a:p>
          <a:p>
            <a:pPr algn="just"/>
            <a:r>
              <a:rPr lang="en-US" sz="2200" dirty="0">
                <a:solidFill>
                  <a:srgbClr val="7030A0"/>
                </a:solidFill>
              </a:rPr>
              <a:t>                 </a:t>
            </a:r>
            <a:endParaRPr lang="en-US" sz="2200" dirty="0"/>
          </a:p>
          <a:p>
            <a:pPr algn="just"/>
            <a:endParaRPr lang="en-US" sz="2400" dirty="0"/>
          </a:p>
        </p:txBody>
      </p:sp>
    </p:spTree>
    <p:extLst>
      <p:ext uri="{BB962C8B-B14F-4D97-AF65-F5344CB8AC3E}">
        <p14:creationId xmlns:p14="http://schemas.microsoft.com/office/powerpoint/2010/main" val="34467590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lgn="just">
              <a:buNone/>
            </a:pPr>
            <a:r>
              <a:rPr lang="en-US" sz="2400" dirty="0"/>
              <a:t>Similarly, </a:t>
            </a:r>
            <a:r>
              <a:rPr lang="en-US" sz="2400" b="1" dirty="0">
                <a:solidFill>
                  <a:srgbClr val="0000FF"/>
                </a:solidFill>
              </a:rPr>
              <a:t>three observations</a:t>
            </a:r>
            <a:r>
              <a:rPr lang="en-US" sz="2400" dirty="0"/>
              <a:t> are ranked equal at 3</a:t>
            </a:r>
            <a:r>
              <a:rPr lang="en-US" sz="2400" baseline="30000" dirty="0"/>
              <a:t>rd</a:t>
            </a:r>
            <a:r>
              <a:rPr lang="en-US" sz="2400" dirty="0"/>
              <a:t>  4</a:t>
            </a:r>
            <a:r>
              <a:rPr lang="en-US" sz="2400" baseline="30000" dirty="0"/>
              <a:t>th</a:t>
            </a:r>
            <a:r>
              <a:rPr lang="en-US" sz="2400" dirty="0"/>
              <a:t> 5</a:t>
            </a:r>
            <a:r>
              <a:rPr lang="en-US" sz="2400" baseline="30000" dirty="0"/>
              <a:t>th</a:t>
            </a:r>
            <a:r>
              <a:rPr lang="en-US" sz="2400" dirty="0"/>
              <a:t> place </a:t>
            </a:r>
            <a:r>
              <a:rPr lang="en-US" sz="2400" b="1" u="sng" dirty="0">
                <a:solidFill>
                  <a:srgbClr val="FF0000"/>
                </a:solidFill>
              </a:rPr>
              <a:t>‘y’ variable </a:t>
            </a:r>
            <a:r>
              <a:rPr lang="en-US" sz="2400" b="1" u="sng" dirty="0">
                <a:effectLst>
                  <a:outerShdw blurRad="38100" dist="38100" dir="2700000" algn="tl">
                    <a:srgbClr val="000000">
                      <a:alpha val="43137"/>
                    </a:srgbClr>
                  </a:outerShdw>
                </a:effectLst>
              </a:rPr>
              <a:t>‘115’,  </a:t>
            </a:r>
            <a:r>
              <a:rPr lang="en-US" sz="2400" dirty="0"/>
              <a:t>then the average rank of  </a:t>
            </a:r>
            <a:r>
              <a:rPr lang="en-US" sz="2400" b="1" dirty="0">
                <a:solidFill>
                  <a:srgbClr val="7030A0"/>
                </a:solidFill>
                <a:effectLst>
                  <a:outerShdw blurRad="38100" dist="38100" dir="2700000" algn="tl">
                    <a:srgbClr val="000000">
                      <a:alpha val="43137"/>
                    </a:srgbClr>
                  </a:outerShdw>
                </a:effectLst>
              </a:rPr>
              <a:t>(3 + 4 + 5)/3 = 4  </a:t>
            </a:r>
            <a:r>
              <a:rPr lang="en-US" sz="2400" dirty="0"/>
              <a:t>is assigned to these three observations </a:t>
            </a:r>
            <a:r>
              <a:rPr lang="en-US" sz="2400" b="1" u="sng" dirty="0">
                <a:solidFill>
                  <a:srgbClr val="FF0000"/>
                </a:solidFill>
                <a:effectLst>
                  <a:outerShdw blurRad="38100" dist="38100" dir="2700000" algn="tl">
                    <a:srgbClr val="000000">
                      <a:alpha val="43137"/>
                    </a:srgbClr>
                  </a:outerShdw>
                </a:effectLst>
              </a:rPr>
              <a:t>(3 ranks are exhausted i.e., 3,4,5)</a:t>
            </a:r>
          </a:p>
          <a:p>
            <a:pPr marL="0" indent="0" algn="just">
              <a:buNone/>
            </a:pPr>
            <a:endParaRPr lang="en-US" b="1" u="sng" dirty="0">
              <a:solidFill>
                <a:srgbClr val="FF0000"/>
              </a:solidFill>
              <a:effectLst>
                <a:outerShdw blurRad="38100" dist="38100" dir="2700000" algn="tl">
                  <a:srgbClr val="000000">
                    <a:alpha val="43137"/>
                  </a:srgbClr>
                </a:outerShdw>
              </a:effectLst>
            </a:endParaRPr>
          </a:p>
          <a:p>
            <a:pPr marL="0" indent="0" algn="just">
              <a:buNone/>
            </a:pPr>
            <a:endParaRPr lang="en-US" b="1" u="sng" dirty="0">
              <a:solidFill>
                <a:srgbClr val="FF0000"/>
              </a:solidFill>
              <a:effectLst>
                <a:outerShdw blurRad="38100" dist="38100" dir="2700000" algn="tl">
                  <a:srgbClr val="000000">
                    <a:alpha val="43137"/>
                  </a:srgbClr>
                </a:outerShdw>
              </a:effectLst>
            </a:endParaRPr>
          </a:p>
          <a:p>
            <a:pPr marL="0" indent="0" algn="just">
              <a:buNone/>
            </a:pPr>
            <a:endParaRPr lang="en-US" b="1" u="sng" dirty="0">
              <a:solidFill>
                <a:srgbClr val="FF0000"/>
              </a:solidFill>
              <a:effectLst>
                <a:outerShdw blurRad="38100" dist="38100" dir="2700000" algn="tl">
                  <a:srgbClr val="000000">
                    <a:alpha val="43137"/>
                  </a:srgbClr>
                </a:outerShdw>
              </a:effectLst>
            </a:endParaRPr>
          </a:p>
          <a:p>
            <a:pPr marL="0" indent="0" algn="just">
              <a:buNone/>
            </a:pPr>
            <a:endParaRPr lang="en-US" b="1" u="sng" dirty="0">
              <a:solidFill>
                <a:srgbClr val="FF0000"/>
              </a:solidFill>
              <a:effectLst>
                <a:outerShdw blurRad="38100" dist="38100" dir="2700000" algn="tl">
                  <a:srgbClr val="000000">
                    <a:alpha val="43137"/>
                  </a:srgbClr>
                </a:outerShdw>
              </a:effectLst>
            </a:endParaRPr>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endParaRPr lang="en-US" dirty="0"/>
          </a:p>
        </p:txBody>
      </p:sp>
      <p:sp>
        <p:nvSpPr>
          <p:cNvPr id="4" name="Rectangle 3"/>
          <p:cNvSpPr/>
          <p:nvPr/>
        </p:nvSpPr>
        <p:spPr>
          <a:xfrm>
            <a:off x="0" y="1447800"/>
            <a:ext cx="9144000" cy="892552"/>
          </a:xfrm>
          <a:prstGeom prst="rect">
            <a:avLst/>
          </a:prstGeom>
        </p:spPr>
        <p:txBody>
          <a:bodyPr wrap="square">
            <a:spAutoFit/>
          </a:bodyPr>
          <a:lstStyle/>
          <a:p>
            <a:r>
              <a:rPr lang="en-US" sz="2400" dirty="0"/>
              <a:t>variable </a:t>
            </a:r>
            <a:r>
              <a:rPr lang="en-US" sz="2800" b="1" i="1" dirty="0">
                <a:solidFill>
                  <a:srgbClr val="FF0000"/>
                </a:solidFill>
                <a:effectLst>
                  <a:outerShdw blurRad="38100" dist="38100" dir="2700000" algn="tl">
                    <a:srgbClr val="000000">
                      <a:alpha val="43137"/>
                    </a:srgbClr>
                  </a:outerShdw>
                </a:effectLst>
              </a:rPr>
              <a:t>y</a:t>
            </a:r>
            <a:r>
              <a:rPr lang="en-US" sz="2400" dirty="0"/>
              <a:t>, </a:t>
            </a:r>
            <a:r>
              <a:rPr lang="en-US" sz="2400" b="1" dirty="0">
                <a:solidFill>
                  <a:srgbClr val="FF00FF"/>
                </a:solidFill>
              </a:rPr>
              <a:t>110 is repeated twice (</a:t>
            </a:r>
            <a:r>
              <a:rPr lang="en-US" sz="2400" b="1" i="1" dirty="0">
                <a:solidFill>
                  <a:srgbClr val="FF00FF"/>
                </a:solidFill>
              </a:rPr>
              <a:t>m</a:t>
            </a:r>
            <a:r>
              <a:rPr lang="en-US" sz="2400" b="1" baseline="-25000" dirty="0">
                <a:solidFill>
                  <a:srgbClr val="FF00FF"/>
                </a:solidFill>
              </a:rPr>
              <a:t>4</a:t>
            </a:r>
            <a:r>
              <a:rPr lang="en-US" sz="2400" b="1" dirty="0">
                <a:solidFill>
                  <a:srgbClr val="FF00FF"/>
                </a:solidFill>
              </a:rPr>
              <a:t>= 2) </a:t>
            </a:r>
            <a:r>
              <a:rPr lang="en-US" sz="2400" dirty="0"/>
              <a:t>and </a:t>
            </a:r>
            <a:r>
              <a:rPr lang="en-US" sz="2400" b="1" dirty="0">
                <a:solidFill>
                  <a:srgbClr val="CC0000"/>
                </a:solidFill>
              </a:rPr>
              <a:t>115 thrice (</a:t>
            </a:r>
            <a:r>
              <a:rPr lang="en-US" sz="2400" b="1" i="1" dirty="0">
                <a:solidFill>
                  <a:srgbClr val="CC0000"/>
                </a:solidFill>
              </a:rPr>
              <a:t>m</a:t>
            </a:r>
            <a:r>
              <a:rPr lang="en-US" sz="2400" b="1" baseline="-25000" dirty="0">
                <a:solidFill>
                  <a:srgbClr val="CC0000"/>
                </a:solidFill>
              </a:rPr>
              <a:t>5</a:t>
            </a:r>
            <a:r>
              <a:rPr lang="en-US" sz="2400" b="1" dirty="0">
                <a:solidFill>
                  <a:srgbClr val="CC0000"/>
                </a:solidFill>
              </a:rPr>
              <a:t> = 3). </a:t>
            </a:r>
            <a:r>
              <a:rPr lang="en-US" sz="2400" b="1" dirty="0">
                <a:solidFill>
                  <a:srgbClr val="7030A0"/>
                </a:solidFill>
              </a:rPr>
              <a:t>Applying the formula</a:t>
            </a:r>
            <a:r>
              <a:rPr lang="en-US" sz="2400" dirty="0"/>
              <a:t>:</a:t>
            </a: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590800"/>
            <a:ext cx="91440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57200" y="6027003"/>
            <a:ext cx="8153400" cy="830997"/>
          </a:xfrm>
          <a:prstGeom prst="rect">
            <a:avLst/>
          </a:prstGeom>
        </p:spPr>
        <p:txBody>
          <a:bodyPr wrap="square">
            <a:spAutoFit/>
          </a:bodyPr>
          <a:lstStyle/>
          <a:p>
            <a:pPr algn="ctr"/>
            <a:r>
              <a:rPr lang="en-US" sz="2400" b="1" dirty="0">
                <a:solidFill>
                  <a:srgbClr val="FF0000"/>
                </a:solidFill>
              </a:rPr>
              <a:t>The result shows a weak positive association between variables x ands y</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lnSpcReduction="10000"/>
          </a:bodyPr>
          <a:lstStyle/>
          <a:p>
            <a:r>
              <a:rPr lang="en-US" b="1" dirty="0">
                <a:solidFill>
                  <a:srgbClr val="FF0000"/>
                </a:solidFill>
              </a:rPr>
              <a:t>Regression Analysis</a:t>
            </a:r>
          </a:p>
          <a:p>
            <a:pPr algn="just"/>
            <a:r>
              <a:rPr lang="en-US" dirty="0"/>
              <a:t>In statistical modeling, </a:t>
            </a:r>
            <a:r>
              <a:rPr lang="en-US" b="1" dirty="0"/>
              <a:t>regression analysis</a:t>
            </a:r>
            <a:r>
              <a:rPr lang="en-US" dirty="0"/>
              <a:t> is a set of statistical processes for estimating the relationships between a dependent variable (often called the 'outcome variable') and one or more independent variables (often called 'predictor Variable)</a:t>
            </a:r>
            <a:endParaRPr lang="en-US" b="1" dirty="0">
              <a:solidFill>
                <a:srgbClr val="FF0000"/>
              </a:solidFill>
            </a:endParaRPr>
          </a:p>
          <a:p>
            <a:pPr algn="just">
              <a:buNone/>
            </a:pPr>
            <a:endParaRPr lang="en-US" sz="2400" dirty="0"/>
          </a:p>
          <a:p>
            <a:pPr algn="just"/>
            <a:r>
              <a:rPr lang="en-US" sz="2800" dirty="0"/>
              <a:t>The </a:t>
            </a:r>
            <a:r>
              <a:rPr lang="en-US" sz="2800" u="sng" dirty="0">
                <a:solidFill>
                  <a:srgbClr val="FF0000"/>
                </a:solidFill>
                <a:effectLst>
                  <a:outerShdw blurRad="38100" dist="38100" dir="2700000" algn="tl">
                    <a:srgbClr val="000000">
                      <a:alpha val="43137"/>
                    </a:srgbClr>
                  </a:outerShdw>
                </a:effectLst>
              </a:rPr>
              <a:t>variable </a:t>
            </a:r>
            <a:r>
              <a:rPr lang="en-US" sz="2800" b="1" u="sng" dirty="0">
                <a:solidFill>
                  <a:srgbClr val="CC66FF"/>
                </a:solidFill>
                <a:effectLst>
                  <a:outerShdw blurRad="38100" dist="38100" dir="2700000" algn="tl">
                    <a:srgbClr val="000000">
                      <a:alpha val="43137"/>
                    </a:srgbClr>
                  </a:outerShdw>
                </a:effectLst>
              </a:rPr>
              <a:t>whose value is estimated </a:t>
            </a:r>
            <a:r>
              <a:rPr lang="en-US" sz="2800" u="sng" dirty="0">
                <a:solidFill>
                  <a:srgbClr val="FF0000"/>
                </a:solidFill>
                <a:effectLst>
                  <a:outerShdw blurRad="38100" dist="38100" dir="2700000" algn="tl">
                    <a:srgbClr val="000000">
                      <a:alpha val="43137"/>
                    </a:srgbClr>
                  </a:outerShdw>
                </a:effectLst>
              </a:rPr>
              <a:t>using the algebraic equation</a:t>
            </a:r>
            <a:r>
              <a:rPr lang="en-US" sz="2800" dirty="0"/>
              <a:t> is called </a:t>
            </a:r>
            <a:r>
              <a:rPr lang="en-US" sz="2800" b="1" i="1" u="dbl" dirty="0">
                <a:solidFill>
                  <a:srgbClr val="0000FF"/>
                </a:solidFill>
                <a:effectLst>
                  <a:outerShdw blurRad="38100" dist="38100" dir="2700000" algn="tl">
                    <a:srgbClr val="000000">
                      <a:alpha val="43137"/>
                    </a:srgbClr>
                  </a:outerShdw>
                </a:effectLst>
                <a:uFill>
                  <a:solidFill>
                    <a:srgbClr val="FFFF00"/>
                  </a:solidFill>
                </a:uFill>
              </a:rPr>
              <a:t>dependent</a:t>
            </a:r>
            <a:r>
              <a:rPr lang="en-US" sz="2800" b="1" u="dbl" dirty="0">
                <a:solidFill>
                  <a:srgbClr val="0000FF"/>
                </a:solidFill>
                <a:effectLst>
                  <a:outerShdw blurRad="38100" dist="38100" dir="2700000" algn="tl">
                    <a:srgbClr val="000000">
                      <a:alpha val="43137"/>
                    </a:srgbClr>
                  </a:outerShdw>
                </a:effectLst>
                <a:uFill>
                  <a:solidFill>
                    <a:srgbClr val="FFFF00"/>
                  </a:solidFill>
                </a:uFill>
              </a:rPr>
              <a:t> (or </a:t>
            </a:r>
            <a:r>
              <a:rPr lang="en-US" sz="2800" b="1" i="1" u="dbl" dirty="0">
                <a:solidFill>
                  <a:srgbClr val="0000FF"/>
                </a:solidFill>
                <a:effectLst>
                  <a:outerShdw blurRad="38100" dist="38100" dir="2700000" algn="tl">
                    <a:srgbClr val="000000">
                      <a:alpha val="43137"/>
                    </a:srgbClr>
                  </a:outerShdw>
                </a:effectLst>
                <a:uFill>
                  <a:solidFill>
                    <a:srgbClr val="FFFF00"/>
                  </a:solidFill>
                </a:uFill>
              </a:rPr>
              <a:t>response</a:t>
            </a:r>
            <a:r>
              <a:rPr lang="en-US" sz="2800" b="1" u="dbl" dirty="0">
                <a:solidFill>
                  <a:srgbClr val="0000FF"/>
                </a:solidFill>
                <a:effectLst>
                  <a:outerShdw blurRad="38100" dist="38100" dir="2700000" algn="tl">
                    <a:srgbClr val="000000">
                      <a:alpha val="43137"/>
                    </a:srgbClr>
                  </a:outerShdw>
                </a:effectLst>
                <a:uFill>
                  <a:solidFill>
                    <a:srgbClr val="FFFF00"/>
                  </a:solidFill>
                </a:uFill>
              </a:rPr>
              <a:t>) </a:t>
            </a:r>
            <a:r>
              <a:rPr lang="en-US" sz="2800" b="1" i="1" u="dbl" dirty="0">
                <a:solidFill>
                  <a:srgbClr val="0000FF"/>
                </a:solidFill>
                <a:effectLst>
                  <a:outerShdw blurRad="38100" dist="38100" dir="2700000" algn="tl">
                    <a:srgbClr val="000000">
                      <a:alpha val="43137"/>
                    </a:srgbClr>
                  </a:outerShdw>
                </a:effectLst>
                <a:uFill>
                  <a:solidFill>
                    <a:srgbClr val="FFFF00"/>
                  </a:solidFill>
                </a:uFill>
              </a:rPr>
              <a:t>variable</a:t>
            </a:r>
            <a:r>
              <a:rPr lang="en-US" sz="2800" dirty="0"/>
              <a:t> and </a:t>
            </a:r>
            <a:r>
              <a:rPr lang="en-US" sz="2800" b="1" dirty="0"/>
              <a:t>the variable whose value is used</a:t>
            </a:r>
            <a:r>
              <a:rPr lang="en-US" sz="2800" dirty="0"/>
              <a:t> </a:t>
            </a:r>
            <a:r>
              <a:rPr lang="en-US" sz="2800" b="1" dirty="0">
                <a:solidFill>
                  <a:srgbClr val="FF00FF"/>
                </a:solidFill>
                <a:effectLst>
                  <a:outerShdw blurRad="38100" dist="38100" dir="2700000" algn="tl">
                    <a:srgbClr val="000000">
                      <a:alpha val="43137"/>
                    </a:srgbClr>
                  </a:outerShdw>
                </a:effectLst>
              </a:rPr>
              <a:t>to estimate</a:t>
            </a:r>
            <a:r>
              <a:rPr lang="en-US" sz="2800" dirty="0"/>
              <a:t> this value is </a:t>
            </a:r>
            <a:r>
              <a:rPr lang="en-US" sz="2800" b="1" u="sng" dirty="0">
                <a:effectLst>
                  <a:outerShdw blurRad="38100" dist="38100" dir="2700000" algn="tl">
                    <a:srgbClr val="000000">
                      <a:alpha val="43137"/>
                    </a:srgbClr>
                  </a:outerShdw>
                </a:effectLst>
              </a:rPr>
              <a:t>called </a:t>
            </a:r>
            <a:r>
              <a:rPr lang="en-US" sz="2800" b="1" i="1" u="sng" dirty="0">
                <a:effectLst>
                  <a:outerShdw blurRad="38100" dist="38100" dir="2700000" algn="tl">
                    <a:srgbClr val="000000">
                      <a:alpha val="43137"/>
                    </a:srgbClr>
                  </a:outerShdw>
                </a:effectLst>
              </a:rPr>
              <a:t>independent</a:t>
            </a:r>
            <a:r>
              <a:rPr lang="en-US" sz="2800" b="1" u="sng" dirty="0">
                <a:effectLst>
                  <a:outerShdw blurRad="38100" dist="38100" dir="2700000" algn="tl">
                    <a:srgbClr val="000000">
                      <a:alpha val="43137"/>
                    </a:srgbClr>
                  </a:outerShdw>
                </a:effectLst>
              </a:rPr>
              <a:t> (</a:t>
            </a:r>
            <a:r>
              <a:rPr lang="en-US" sz="2800" b="1" i="1" u="sng" dirty="0" err="1">
                <a:effectLst>
                  <a:outerShdw blurRad="38100" dist="38100" dir="2700000" algn="tl">
                    <a:srgbClr val="000000">
                      <a:alpha val="43137"/>
                    </a:srgbClr>
                  </a:outerShdw>
                </a:effectLst>
              </a:rPr>
              <a:t>regressor</a:t>
            </a:r>
            <a:r>
              <a:rPr lang="en-US" sz="2800" b="1" u="sng" dirty="0">
                <a:effectLst>
                  <a:outerShdw blurRad="38100" dist="38100" dir="2700000" algn="tl">
                    <a:srgbClr val="000000">
                      <a:alpha val="43137"/>
                    </a:srgbClr>
                  </a:outerShdw>
                </a:effectLst>
              </a:rPr>
              <a:t> or </a:t>
            </a:r>
            <a:r>
              <a:rPr lang="en-US" sz="2800" b="1" i="1" u="sng" dirty="0">
                <a:effectLst>
                  <a:outerShdw blurRad="38100" dist="38100" dir="2700000" algn="tl">
                    <a:srgbClr val="000000">
                      <a:alpha val="43137"/>
                    </a:srgbClr>
                  </a:outerShdw>
                </a:effectLst>
              </a:rPr>
              <a:t>predictor</a:t>
            </a:r>
            <a:r>
              <a:rPr lang="en-US" sz="2800" b="1" u="sng" dirty="0">
                <a:effectLst>
                  <a:outerShdw blurRad="38100" dist="38100" dir="2700000" algn="tl">
                    <a:srgbClr val="000000">
                      <a:alpha val="43137"/>
                    </a:srgbClr>
                  </a:outerShdw>
                </a:effectLst>
              </a:rPr>
              <a:t>) </a:t>
            </a:r>
            <a:r>
              <a:rPr lang="en-US" sz="2800" b="1" i="1" u="sng" dirty="0">
                <a:effectLst>
                  <a:outerShdw blurRad="38100" dist="38100" dir="2700000" algn="tl">
                    <a:srgbClr val="000000">
                      <a:alpha val="43137"/>
                    </a:srgbClr>
                  </a:outerShdw>
                </a:effectLst>
              </a:rPr>
              <a:t>variable</a:t>
            </a:r>
            <a:r>
              <a:rPr lang="en-US" sz="2800" b="1" u="sng" dirty="0">
                <a:effectLst>
                  <a:outerShdw blurRad="38100" dist="38100" dir="2700000" algn="tl">
                    <a:srgbClr val="000000">
                      <a:alpha val="43137"/>
                    </a:srgbClr>
                  </a:outerShdw>
                </a:effectLst>
              </a:rPr>
              <a:t>. </a:t>
            </a:r>
          </a:p>
          <a:p>
            <a:pPr algn="just"/>
            <a:endParaRPr lang="en-US" sz="2800" dirty="0"/>
          </a:p>
          <a:p>
            <a:pPr algn="just"/>
            <a:r>
              <a:rPr lang="en-US" sz="2800" dirty="0"/>
              <a:t>The term regression was used in 1877 by Sir Francis Galton while studying the relationship between the height of father and sons</a:t>
            </a:r>
            <a:endParaRPr lang="en-US" sz="2800" dirty="0">
              <a:solidFill>
                <a:srgbClr val="FF0000"/>
              </a:solidFill>
            </a:endParaRPr>
          </a:p>
        </p:txBody>
      </p:sp>
    </p:spTree>
    <p:extLst>
      <p:ext uri="{BB962C8B-B14F-4D97-AF65-F5344CB8AC3E}">
        <p14:creationId xmlns:p14="http://schemas.microsoft.com/office/powerpoint/2010/main" val="42133397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Autofit/>
          </a:bodyPr>
          <a:lstStyle/>
          <a:p>
            <a:pPr algn="just"/>
            <a:r>
              <a:rPr lang="en-US" sz="2800" dirty="0"/>
              <a:t>The </a:t>
            </a:r>
            <a:r>
              <a:rPr lang="en-US" sz="2800" b="1" u="sng" dirty="0">
                <a:solidFill>
                  <a:srgbClr val="FF0000"/>
                </a:solidFill>
                <a:effectLst>
                  <a:outerShdw blurRad="38100" dist="38100" dir="2700000" algn="tl">
                    <a:srgbClr val="000000">
                      <a:alpha val="43137"/>
                    </a:srgbClr>
                  </a:outerShdw>
                </a:effectLst>
              </a:rPr>
              <a:t>basic differences between correlation and regression analysis</a:t>
            </a:r>
            <a:r>
              <a:rPr lang="en-US" sz="2800" dirty="0"/>
              <a:t> are summarized as follows:</a:t>
            </a:r>
          </a:p>
          <a:p>
            <a:pPr algn="just"/>
            <a:endParaRPr lang="en-US" sz="2800" dirty="0"/>
          </a:p>
          <a:p>
            <a:pPr marL="914400" lvl="1" indent="-514350" algn="just">
              <a:buAutoNum type="arabicPeriod"/>
            </a:pPr>
            <a:r>
              <a:rPr lang="en-US" sz="2400" dirty="0"/>
              <a:t>Developing an algebraic equation between two variables from sample data and predicting the value of one variable, given the value of the other variable is referred to as regression analysis, </a:t>
            </a:r>
          </a:p>
          <a:p>
            <a:pPr marL="0" indent="0" algn="just">
              <a:buNone/>
            </a:pPr>
            <a:endParaRPr lang="en-US" sz="2400" dirty="0"/>
          </a:p>
          <a:p>
            <a:pPr marL="0" indent="0" algn="just">
              <a:buNone/>
            </a:pPr>
            <a:r>
              <a:rPr lang="en-US" sz="2400" dirty="0"/>
              <a:t>	while measuring the strength (or degree) of the relationship 	between two variables is referred as correlation analysis. </a:t>
            </a:r>
          </a:p>
          <a:p>
            <a:pPr marL="0" indent="0" algn="just">
              <a:buNone/>
            </a:pPr>
            <a:endParaRPr lang="en-US" sz="2400" dirty="0"/>
          </a:p>
          <a:p>
            <a:pPr marL="0" indent="0" algn="just">
              <a:buNone/>
            </a:pPr>
            <a:r>
              <a:rPr lang="en-US" sz="2400" dirty="0"/>
              <a:t>	The sign of correlation coefficient indicates the nature (direct or 	inverse) of relationship between two variables, while the 	absolute value of correlation coefficient indicates the extent of 	relationship.</a:t>
            </a:r>
          </a:p>
          <a:p>
            <a:pPr algn="just"/>
            <a:endParaRPr lang="en-US" sz="2400" dirty="0"/>
          </a:p>
        </p:txBody>
      </p:sp>
    </p:spTree>
    <p:extLst>
      <p:ext uri="{BB962C8B-B14F-4D97-AF65-F5344CB8AC3E}">
        <p14:creationId xmlns:p14="http://schemas.microsoft.com/office/powerpoint/2010/main" val="42137312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
            <a:ext cx="9144000" cy="6705600"/>
          </a:xfrm>
        </p:spPr>
        <p:txBody>
          <a:bodyPr>
            <a:normAutofit/>
          </a:bodyPr>
          <a:lstStyle/>
          <a:p>
            <a:pPr marL="457200" indent="-457200" algn="just">
              <a:buAutoNum type="arabicPeriod" startAt="2"/>
            </a:pPr>
            <a:r>
              <a:rPr lang="en-US" sz="2400" dirty="0"/>
              <a:t>Correlation analysis determines an association between two variables x and y but not that they have a cause-and-effect relationship. </a:t>
            </a:r>
          </a:p>
          <a:p>
            <a:pPr marL="0" indent="0" algn="just">
              <a:buNone/>
            </a:pPr>
            <a:r>
              <a:rPr lang="en-US" sz="2400" dirty="0"/>
              <a:t>Regression analysis, in contrast, determines the cause-and-effect relationship between x and y, that is, a change in the value of independent variable x causes a corresponding change (effect) in the value of dependent variable y if all other factors that affect y remain unchanged.</a:t>
            </a:r>
          </a:p>
          <a:p>
            <a:pPr algn="just"/>
            <a:endParaRPr lang="en-US" sz="2400" dirty="0"/>
          </a:p>
          <a:p>
            <a:pPr marL="0" indent="0" algn="just">
              <a:buNone/>
            </a:pPr>
            <a:r>
              <a:rPr lang="en-US" sz="2400" dirty="0"/>
              <a:t>3.	In linear regression analysis one variable is considered as dependent variable and other as independent variable, while in </a:t>
            </a:r>
            <a:r>
              <a:rPr lang="en-US" sz="2400" b="1" u="sng" dirty="0"/>
              <a:t>correlation analysis </a:t>
            </a:r>
            <a:r>
              <a:rPr lang="en-US" sz="2400" dirty="0"/>
              <a:t>both variables are considered to be </a:t>
            </a:r>
            <a:r>
              <a:rPr lang="en-US" sz="2400" b="1" dirty="0"/>
              <a:t>independen</a:t>
            </a:r>
            <a:r>
              <a:rPr lang="en-US" b="1" dirty="0"/>
              <a:t>t</a:t>
            </a:r>
            <a:r>
              <a:rPr lang="en-US" dirty="0"/>
              <a:t>.</a:t>
            </a:r>
          </a:p>
          <a:p>
            <a:pPr marL="0" indent="0" algn="just">
              <a:buNone/>
            </a:pPr>
            <a:endParaRPr lang="en-US" dirty="0"/>
          </a:p>
        </p:txBody>
      </p:sp>
    </p:spTree>
    <p:extLst>
      <p:ext uri="{BB962C8B-B14F-4D97-AF65-F5344CB8AC3E}">
        <p14:creationId xmlns:p14="http://schemas.microsoft.com/office/powerpoint/2010/main" val="36631096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20000"/>
          </a:bodyPr>
          <a:lstStyle/>
          <a:p>
            <a:pPr marL="0" indent="0">
              <a:buNone/>
            </a:pPr>
            <a:r>
              <a:rPr lang="en-US" sz="3800" b="1" dirty="0">
                <a:solidFill>
                  <a:srgbClr val="FF0000"/>
                </a:solidFill>
              </a:rPr>
              <a:t>Advantages of regression analysis:</a:t>
            </a:r>
          </a:p>
          <a:p>
            <a:pPr marL="514350" indent="-514350" algn="just">
              <a:buAutoNum type="arabicPeriod"/>
            </a:pPr>
            <a:r>
              <a:rPr lang="en-US" dirty="0"/>
              <a:t>Regression analysis helps in developing a regression equation by which the value of a dependent variable can be estimated given a value of an independent variable.</a:t>
            </a:r>
          </a:p>
          <a:p>
            <a:pPr marL="0" indent="0" algn="just">
              <a:buNone/>
            </a:pPr>
            <a:endParaRPr lang="en-US" dirty="0"/>
          </a:p>
          <a:p>
            <a:pPr marL="514350" indent="-514350" algn="just">
              <a:buAutoNum type="arabicPeriod" startAt="2"/>
            </a:pPr>
            <a:r>
              <a:rPr lang="en-US" dirty="0"/>
              <a:t>Regression analysis helps to determine standard error of estimate to measure the variability or spread of values of a dependent variable with respect to the regression line. </a:t>
            </a:r>
          </a:p>
          <a:p>
            <a:pPr marL="0" indent="0" algn="just">
              <a:buNone/>
            </a:pPr>
            <a:endParaRPr lang="en-US" dirty="0"/>
          </a:p>
          <a:p>
            <a:pPr marL="514350" indent="-514350" algn="just">
              <a:buAutoNum type="arabicPeriod" startAt="2"/>
            </a:pPr>
            <a:r>
              <a:rPr lang="en-US" dirty="0"/>
              <a:t>Smaller the variance and error of estimate, the closer the pair of values (x, y) fall about the regression line and better the line fits the data, that is, a good estimate can be made of the value of variable y. When all the points fall on the line, the standard error of estimate equals zero.</a:t>
            </a:r>
          </a:p>
          <a:p>
            <a:pPr marL="0" indent="0" algn="just">
              <a:buNone/>
            </a:pPr>
            <a:endParaRPr lang="en-US" dirty="0"/>
          </a:p>
          <a:p>
            <a:endParaRPr lang="en-US" dirty="0"/>
          </a:p>
        </p:txBody>
      </p:sp>
    </p:spTree>
    <p:extLst>
      <p:ext uri="{BB962C8B-B14F-4D97-AF65-F5344CB8AC3E}">
        <p14:creationId xmlns:p14="http://schemas.microsoft.com/office/powerpoint/2010/main" val="28053785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067800" cy="6781800"/>
          </a:xfrm>
        </p:spPr>
        <p:txBody>
          <a:bodyPr>
            <a:normAutofit fontScale="70000" lnSpcReduction="20000"/>
          </a:bodyPr>
          <a:lstStyle/>
          <a:p>
            <a:pPr algn="just"/>
            <a:r>
              <a:rPr lang="en-US" dirty="0">
                <a:solidFill>
                  <a:srgbClr val="FF0000"/>
                </a:solidFill>
              </a:rPr>
              <a:t>TYPES OF REGRESSION MODELS</a:t>
            </a:r>
          </a:p>
          <a:p>
            <a:pPr algn="just"/>
            <a:r>
              <a:rPr lang="en-US" dirty="0"/>
              <a:t>The primary objective of regression analysis is the development of a regression model to explain the association between two or more variables in the given population. </a:t>
            </a:r>
          </a:p>
          <a:p>
            <a:pPr algn="just"/>
            <a:r>
              <a:rPr lang="en-US" dirty="0"/>
              <a:t>A regression model is the mathematical equation that provides prediction of value of dependent variable based on the known values of one or more independent variables</a:t>
            </a:r>
          </a:p>
          <a:p>
            <a:pPr algn="just"/>
            <a:endParaRPr lang="en-US" dirty="0"/>
          </a:p>
          <a:p>
            <a:pPr algn="just"/>
            <a:r>
              <a:rPr lang="en-US" cap="all" dirty="0">
                <a:solidFill>
                  <a:srgbClr val="FF0000"/>
                </a:solidFill>
              </a:rPr>
              <a:t>SIMPLE LINEAR REGRESSION MODEL</a:t>
            </a:r>
            <a:endParaRPr lang="en-US" b="1" dirty="0">
              <a:solidFill>
                <a:srgbClr val="FF0000"/>
              </a:solidFill>
            </a:endParaRPr>
          </a:p>
          <a:p>
            <a:pPr algn="just"/>
            <a:r>
              <a:rPr lang="en-US" dirty="0"/>
              <a:t>The fundamental aim of regression analysis is to determine a regression equation (line) that makes sense and fits the representative data such that the error of variance is as small as possible. </a:t>
            </a:r>
          </a:p>
          <a:p>
            <a:pPr marL="0" indent="0" algn="just">
              <a:buNone/>
            </a:pPr>
            <a:endParaRPr lang="en-US" dirty="0"/>
          </a:p>
          <a:p>
            <a:pPr marL="0" indent="0" algn="just">
              <a:buNone/>
            </a:pPr>
            <a:r>
              <a:rPr lang="en-US" dirty="0"/>
              <a:t>J. R. Stockton stated that</a:t>
            </a:r>
          </a:p>
          <a:p>
            <a:pPr lvl="0" algn="just"/>
            <a:r>
              <a:rPr lang="en-US" i="1" dirty="0"/>
              <a:t>The device used for estimating the values of one variable from the value of the other </a:t>
            </a:r>
            <a:r>
              <a:rPr lang="en-US" i="1" dirty="0">
                <a:sym typeface="Wingdings" pitchFamily="2" charset="2"/>
              </a:rPr>
              <a:t> </a:t>
            </a:r>
            <a:r>
              <a:rPr lang="en-US" i="1" dirty="0"/>
              <a:t>consists of a line through the points, drawn in such a manner as to represent the average relationship between the two variables. Such a line is called line of regression</a:t>
            </a:r>
            <a:r>
              <a:rPr lang="en-US" dirty="0"/>
              <a:t>.</a:t>
            </a:r>
          </a:p>
          <a:p>
            <a:pPr lvl="0" algn="just"/>
            <a:endParaRPr lang="en-US" dirty="0"/>
          </a:p>
          <a:p>
            <a:pPr lvl="0" algn="just"/>
            <a:r>
              <a:rPr lang="en-US" dirty="0"/>
              <a:t>The two variables </a:t>
            </a:r>
            <a:r>
              <a:rPr lang="en-US" i="1" dirty="0"/>
              <a:t>x</a:t>
            </a:r>
            <a:r>
              <a:rPr lang="en-US" dirty="0"/>
              <a:t> and </a:t>
            </a:r>
            <a:r>
              <a:rPr lang="en-US" i="1" dirty="0"/>
              <a:t>y</a:t>
            </a:r>
            <a:r>
              <a:rPr lang="en-US" dirty="0"/>
              <a:t> which are correlated can be expressed in terms of each other in the form of straight line equations called </a:t>
            </a:r>
            <a:r>
              <a:rPr lang="en-US" i="1" dirty="0"/>
              <a:t>regression equations</a:t>
            </a:r>
            <a:endParaRPr lang="en-US" dirty="0"/>
          </a:p>
          <a:p>
            <a:endParaRPr lang="en-US" dirty="0"/>
          </a:p>
          <a:p>
            <a:endParaRPr lang="en-US" dirty="0"/>
          </a:p>
        </p:txBody>
      </p:sp>
    </p:spTree>
    <p:extLst>
      <p:ext uri="{BB962C8B-B14F-4D97-AF65-F5344CB8AC3E}">
        <p14:creationId xmlns:p14="http://schemas.microsoft.com/office/powerpoint/2010/main" val="33410627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a:effectLst>
            <a:glow rad="63500">
              <a:schemeClr val="accent2">
                <a:satMod val="175000"/>
                <a:alpha val="40000"/>
              </a:schemeClr>
            </a:glow>
          </a:effectLst>
        </p:spPr>
        <p:style>
          <a:lnRef idx="2">
            <a:schemeClr val="accent3"/>
          </a:lnRef>
          <a:fillRef idx="1">
            <a:schemeClr val="lt1"/>
          </a:fillRef>
          <a:effectRef idx="0">
            <a:schemeClr val="accent3"/>
          </a:effectRef>
          <a:fontRef idx="minor">
            <a:schemeClr val="dk1"/>
          </a:fontRef>
        </p:style>
        <p:txBody>
          <a:bodyPr>
            <a:normAutofit/>
          </a:bodyPr>
          <a:lstStyle/>
          <a:p>
            <a:pPr marL="0" indent="0" algn="ctr">
              <a:buNone/>
            </a:pPr>
            <a:r>
              <a:rPr lang="en-US" sz="2400" b="1" dirty="0">
                <a:solidFill>
                  <a:srgbClr val="0000FF"/>
                </a:solidFill>
                <a:effectLst>
                  <a:outerShdw blurRad="38100" dist="38100" dir="2700000" algn="tl">
                    <a:srgbClr val="000000">
                      <a:alpha val="43137"/>
                    </a:srgbClr>
                  </a:outerShdw>
                </a:effectLst>
              </a:rPr>
              <a:t>THE ALGEBRAIC EXPRESSION OF REGRESSION LINES IS WRITTEN AS</a:t>
            </a:r>
            <a:endParaRPr lang="en-US" sz="1600" dirty="0"/>
          </a:p>
          <a:p>
            <a:pPr lvl="0" algn="just">
              <a:buFont typeface="Wingdings" pitchFamily="2" charset="2"/>
              <a:buChar char="Ø"/>
            </a:pPr>
            <a:r>
              <a:rPr lang="en-US" sz="2400" dirty="0"/>
              <a:t>The regression equation of </a:t>
            </a:r>
            <a:r>
              <a:rPr lang="en-US" b="1" i="1" dirty="0">
                <a:solidFill>
                  <a:srgbClr val="0000FF"/>
                </a:solidFill>
                <a:effectLst>
                  <a:outerShdw blurRad="38100" dist="38100" dir="2700000" algn="tl">
                    <a:srgbClr val="000000">
                      <a:alpha val="43137"/>
                    </a:srgbClr>
                  </a:outerShdw>
                </a:effectLst>
              </a:rPr>
              <a:t>y</a:t>
            </a:r>
            <a:r>
              <a:rPr lang="en-US" b="1" dirty="0">
                <a:solidFill>
                  <a:srgbClr val="0000FF"/>
                </a:solidFill>
                <a:effectLst>
                  <a:outerShdw blurRad="38100" dist="38100" dir="2700000" algn="tl">
                    <a:srgbClr val="000000">
                      <a:alpha val="43137"/>
                    </a:srgbClr>
                  </a:outerShdw>
                </a:effectLst>
              </a:rPr>
              <a:t> on </a:t>
            </a:r>
            <a:r>
              <a:rPr lang="en-US" b="1" i="1" dirty="0">
                <a:solidFill>
                  <a:srgbClr val="0000FF"/>
                </a:solidFill>
                <a:effectLst>
                  <a:outerShdw blurRad="38100" dist="38100" dir="2700000" algn="tl">
                    <a:srgbClr val="000000">
                      <a:alpha val="43137"/>
                    </a:srgbClr>
                  </a:outerShdw>
                </a:effectLst>
              </a:rPr>
              <a:t>x</a:t>
            </a:r>
            <a:r>
              <a:rPr lang="en-US" b="1" dirty="0">
                <a:solidFill>
                  <a:srgbClr val="0000FF"/>
                </a:solidFill>
                <a:effectLst>
                  <a:outerShdw blurRad="38100" dist="38100" dir="2700000" algn="tl">
                    <a:srgbClr val="000000">
                      <a:alpha val="43137"/>
                    </a:srgbClr>
                  </a:outerShdw>
                </a:effectLst>
              </a:rPr>
              <a:t>   is     </a:t>
            </a:r>
            <a:r>
              <a:rPr lang="en-US" sz="3600" dirty="0">
                <a:solidFill>
                  <a:srgbClr val="FF0000"/>
                </a:solidFill>
                <a:effectLst>
                  <a:outerShdw blurRad="38100" dist="38100" dir="2700000" algn="tl">
                    <a:srgbClr val="000000">
                      <a:alpha val="43137"/>
                    </a:srgbClr>
                  </a:outerShdw>
                </a:effectLst>
              </a:rPr>
              <a:t>   </a:t>
            </a:r>
            <a:r>
              <a:rPr lang="en-US" sz="2800" i="1" dirty="0">
                <a:solidFill>
                  <a:srgbClr val="FF0000"/>
                </a:solidFill>
                <a:effectLst>
                  <a:outerShdw blurRad="38100" dist="38100" dir="2700000" algn="tl">
                    <a:srgbClr val="000000">
                      <a:alpha val="43137"/>
                    </a:srgbClr>
                  </a:outerShdw>
                </a:effectLst>
              </a:rPr>
              <a:t>y</a:t>
            </a:r>
            <a:r>
              <a:rPr lang="en-US" sz="2800" dirty="0">
                <a:solidFill>
                  <a:srgbClr val="FF0000"/>
                </a:solidFill>
                <a:effectLst>
                  <a:outerShdw blurRad="38100" dist="38100" dir="2700000" algn="tl">
                    <a:srgbClr val="000000">
                      <a:alpha val="43137"/>
                    </a:srgbClr>
                  </a:outerShdw>
                </a:effectLst>
              </a:rPr>
              <a:t> = </a:t>
            </a:r>
            <a:r>
              <a:rPr lang="en-US" sz="2800" i="1" dirty="0">
                <a:solidFill>
                  <a:srgbClr val="FF0000"/>
                </a:solidFill>
                <a:effectLst>
                  <a:outerShdw blurRad="38100" dist="38100" dir="2700000" algn="tl">
                    <a:srgbClr val="000000">
                      <a:alpha val="43137"/>
                    </a:srgbClr>
                  </a:outerShdw>
                </a:effectLst>
              </a:rPr>
              <a:t>a</a:t>
            </a:r>
            <a:r>
              <a:rPr lang="en-US" sz="2800" dirty="0">
                <a:solidFill>
                  <a:srgbClr val="FF0000"/>
                </a:solidFill>
                <a:effectLst>
                  <a:outerShdw blurRad="38100" dist="38100" dir="2700000" algn="tl">
                    <a:srgbClr val="000000">
                      <a:alpha val="43137"/>
                    </a:srgbClr>
                  </a:outerShdw>
                </a:effectLst>
              </a:rPr>
              <a:t> + </a:t>
            </a:r>
            <a:r>
              <a:rPr lang="en-US" sz="2800" i="1" dirty="0" err="1">
                <a:solidFill>
                  <a:srgbClr val="FF0000"/>
                </a:solidFill>
                <a:effectLst>
                  <a:outerShdw blurRad="38100" dist="38100" dir="2700000" algn="tl">
                    <a:srgbClr val="000000">
                      <a:alpha val="43137"/>
                    </a:srgbClr>
                  </a:outerShdw>
                </a:effectLst>
              </a:rPr>
              <a:t>bx</a:t>
            </a:r>
            <a:r>
              <a:rPr lang="en-US" sz="2800" dirty="0">
                <a:solidFill>
                  <a:srgbClr val="FF0000"/>
                </a:solidFill>
                <a:effectLst>
                  <a:outerShdw blurRad="38100" dist="38100" dir="2700000" algn="tl">
                    <a:srgbClr val="000000">
                      <a:alpha val="43137"/>
                    </a:srgbClr>
                  </a:outerShdw>
                </a:effectLst>
              </a:rPr>
              <a:t>  </a:t>
            </a:r>
            <a:r>
              <a:rPr lang="en-US" sz="2400" dirty="0"/>
              <a:t>is used for estimating the value </a:t>
            </a:r>
            <a:r>
              <a:rPr lang="en-US" sz="2400" i="1" dirty="0"/>
              <a:t>of </a:t>
            </a:r>
            <a:r>
              <a:rPr lang="en-US" sz="3600" b="1" i="1" dirty="0">
                <a:solidFill>
                  <a:srgbClr val="CC0000"/>
                </a:solidFill>
                <a:effectLst>
                  <a:outerShdw blurRad="38100" dist="38100" dir="2700000" algn="tl">
                    <a:srgbClr val="000000">
                      <a:alpha val="43137"/>
                    </a:srgbClr>
                  </a:outerShdw>
                </a:effectLst>
              </a:rPr>
              <a:t>y</a:t>
            </a:r>
            <a:r>
              <a:rPr lang="en-US" sz="2400" dirty="0"/>
              <a:t> for given values of </a:t>
            </a:r>
            <a:r>
              <a:rPr lang="en-US" b="1" i="1" dirty="0">
                <a:solidFill>
                  <a:srgbClr val="CC0000"/>
                </a:solidFill>
                <a:effectLst>
                  <a:outerShdw blurRad="38100" dist="38100" dir="2700000" algn="tl">
                    <a:srgbClr val="000000">
                      <a:alpha val="43137"/>
                    </a:srgbClr>
                  </a:outerShdw>
                </a:effectLst>
              </a:rPr>
              <a:t>x</a:t>
            </a:r>
            <a:r>
              <a:rPr lang="en-US" sz="2400" dirty="0"/>
              <a:t>.</a:t>
            </a:r>
          </a:p>
          <a:p>
            <a:pPr marL="0" indent="0" algn="just">
              <a:buNone/>
            </a:pPr>
            <a:r>
              <a:rPr lang="en-US" sz="2800" b="1" i="1" dirty="0">
                <a:solidFill>
                  <a:srgbClr val="CC0000"/>
                </a:solidFill>
              </a:rPr>
              <a:t>b</a:t>
            </a:r>
            <a:r>
              <a:rPr lang="en-US" sz="2800" b="1" dirty="0"/>
              <a:t> </a:t>
            </a:r>
            <a:r>
              <a:rPr lang="en-US" sz="2400" dirty="0"/>
              <a:t>= slope of regression line that represents the expected change in the value of </a:t>
            </a:r>
            <a:r>
              <a:rPr lang="en-US" sz="2800" b="1" dirty="0">
                <a:solidFill>
                  <a:srgbClr val="CC0000"/>
                </a:solidFill>
              </a:rPr>
              <a:t>y</a:t>
            </a:r>
            <a:r>
              <a:rPr lang="en-US" sz="2400" dirty="0"/>
              <a:t> for unit change in the value of</a:t>
            </a:r>
            <a:r>
              <a:rPr lang="en-US" sz="2400" b="1" dirty="0"/>
              <a:t> </a:t>
            </a:r>
            <a:r>
              <a:rPr lang="en-US" b="1" i="1" dirty="0">
                <a:solidFill>
                  <a:srgbClr val="CC0000"/>
                </a:solidFill>
              </a:rPr>
              <a:t>x</a:t>
            </a:r>
            <a:r>
              <a:rPr lang="en-US" i="1" dirty="0">
                <a:solidFill>
                  <a:srgbClr val="CC0000"/>
                </a:solidFill>
              </a:rPr>
              <a:t>’</a:t>
            </a:r>
            <a:endParaRPr lang="en-US" sz="2000" i="1" dirty="0">
              <a:solidFill>
                <a:srgbClr val="CC0000"/>
              </a:solidFill>
            </a:endParaRPr>
          </a:p>
          <a:p>
            <a:pPr lvl="0">
              <a:buFont typeface="Wingdings" pitchFamily="2" charset="2"/>
              <a:buChar char="Ø"/>
            </a:pPr>
            <a:endParaRPr lang="en-US" sz="2000" i="1" dirty="0"/>
          </a:p>
          <a:p>
            <a:r>
              <a:rPr lang="en-US" sz="2000" dirty="0"/>
              <a:t>where </a:t>
            </a:r>
            <a:endParaRPr lang="en-US" sz="2800" b="1" dirty="0">
              <a:solidFill>
                <a:srgbClr val="FF00FF"/>
              </a:solidFill>
              <a:effectLst>
                <a:outerShdw blurRad="38100" dist="38100" dir="2700000" algn="tl">
                  <a:srgbClr val="000000">
                    <a:alpha val="43137"/>
                  </a:srgbClr>
                </a:outerShdw>
              </a:effectLst>
            </a:endParaRPr>
          </a:p>
          <a:p>
            <a:pPr marL="0" lvl="0" indent="0">
              <a:buNone/>
            </a:pPr>
            <a:endParaRPr lang="en-US" sz="2000" dirty="0"/>
          </a:p>
          <a:p>
            <a:pPr marL="0" indent="0">
              <a:buNone/>
            </a:pPr>
            <a:endParaRPr lang="en-US" sz="2000" dirty="0"/>
          </a:p>
          <a:p>
            <a:pPr marL="0" indent="0">
              <a:buNone/>
            </a:pPr>
            <a:r>
              <a:rPr lang="en-US" sz="2000" dirty="0"/>
              <a:t> </a:t>
            </a:r>
            <a:endParaRPr lang="en-US" sz="2000" i="1" dirty="0"/>
          </a:p>
          <a:p>
            <a:pPr marL="0" lvl="0" indent="0">
              <a:buNone/>
            </a:pPr>
            <a:endParaRPr lang="en-US" sz="2000" dirty="0"/>
          </a:p>
          <a:p>
            <a:pPr marL="0" indent="0" algn="just">
              <a:buNone/>
            </a:pPr>
            <a:endParaRPr lang="en-US" sz="4300" i="1" dirty="0">
              <a:solidFill>
                <a:srgbClr val="CC0000"/>
              </a:solidFill>
            </a:endParaRPr>
          </a:p>
          <a:p>
            <a:pPr marL="0" indent="0" algn="just">
              <a:buNone/>
            </a:pPr>
            <a:endParaRPr lang="en-US" sz="4300" dirty="0">
              <a:solidFill>
                <a:srgbClr val="CC0000"/>
              </a:solidFill>
            </a:endParaRPr>
          </a:p>
          <a:p>
            <a:pPr marL="0" lvl="0" indent="0" algn="just">
              <a:buNone/>
            </a:pPr>
            <a:endParaRPr lang="en-US" dirty="0"/>
          </a:p>
          <a:p>
            <a:pPr algn="just"/>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219200" y="4572000"/>
            <a:ext cx="7162800" cy="22860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1371600" y="2743200"/>
            <a:ext cx="6858000" cy="1676400"/>
          </a:xfrm>
          <a:prstGeom prst="rect">
            <a:avLst/>
          </a:prstGeom>
          <a:noFill/>
          <a:ln w="9525">
            <a:noFill/>
            <a:miter lim="800000"/>
            <a:headEnd/>
            <a:tailEnd/>
          </a:ln>
          <a:effectLst/>
        </p:spPr>
      </p:pic>
    </p:spTree>
    <p:extLst>
      <p:ext uri="{BB962C8B-B14F-4D97-AF65-F5344CB8AC3E}">
        <p14:creationId xmlns:p14="http://schemas.microsoft.com/office/powerpoint/2010/main" val="6229887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067800" cy="6858000"/>
          </a:xfrm>
        </p:spPr>
        <p:txBody>
          <a:bodyPr/>
          <a:lstStyle/>
          <a:p>
            <a:pPr marL="0" indent="0">
              <a:buNone/>
            </a:pPr>
            <a:r>
              <a:rPr lang="en-US" dirty="0"/>
              <a:t>•</a:t>
            </a:r>
            <a:endParaRPr lang="en-US" sz="4000" dirty="0">
              <a:solidFill>
                <a:srgbClr val="0000FF"/>
              </a:solidFill>
              <a:effectLst>
                <a:outerShdw blurRad="38100" dist="38100" dir="2700000" algn="tl">
                  <a:srgbClr val="000000">
                    <a:alpha val="43137"/>
                  </a:srgbClr>
                </a:outerShdw>
              </a:effectLst>
            </a:endParaRPr>
          </a:p>
        </p:txBody>
      </p:sp>
      <p:sp>
        <p:nvSpPr>
          <p:cNvPr id="4" name="Rectangle 3"/>
          <p:cNvSpPr/>
          <p:nvPr/>
        </p:nvSpPr>
        <p:spPr>
          <a:xfrm>
            <a:off x="762000" y="3048000"/>
            <a:ext cx="9144000" cy="523220"/>
          </a:xfrm>
          <a:prstGeom prst="rect">
            <a:avLst/>
          </a:prstGeom>
        </p:spPr>
        <p:txBody>
          <a:bodyPr wrap="square">
            <a:spAutoFit/>
          </a:bodyPr>
          <a:lstStyle/>
          <a:p>
            <a:pPr algn="just"/>
            <a:r>
              <a:rPr lang="en-US" sz="2800" dirty="0"/>
              <a:t>The value of </a:t>
            </a:r>
            <a:r>
              <a:rPr lang="en-US" sz="2800" b="1" dirty="0" err="1">
                <a:solidFill>
                  <a:srgbClr val="CC0000"/>
                </a:solidFill>
                <a:effectLst>
                  <a:outerShdw blurRad="38100" dist="38100" dir="2700000" algn="tl">
                    <a:srgbClr val="000000">
                      <a:alpha val="43137"/>
                    </a:srgbClr>
                  </a:outerShdw>
                </a:effectLst>
              </a:rPr>
              <a:t>bxy</a:t>
            </a:r>
            <a:r>
              <a:rPr lang="en-US" sz="2800" dirty="0"/>
              <a:t> can be calculated formula</a:t>
            </a:r>
          </a:p>
        </p:txBody>
      </p:sp>
      <p:pic>
        <p:nvPicPr>
          <p:cNvPr id="2051" name="Picture 3"/>
          <p:cNvPicPr>
            <a:picLocks noChangeAspect="1" noChangeArrowheads="1"/>
          </p:cNvPicPr>
          <p:nvPr/>
        </p:nvPicPr>
        <p:blipFill>
          <a:blip r:embed="rId2" cstate="print"/>
          <a:srcRect/>
          <a:stretch>
            <a:fillRect/>
          </a:stretch>
        </p:blipFill>
        <p:spPr bwMode="auto">
          <a:xfrm>
            <a:off x="1143000" y="228600"/>
            <a:ext cx="6705600" cy="1676400"/>
          </a:xfrm>
          <a:prstGeom prst="rect">
            <a:avLst/>
          </a:prstGeom>
          <a:noFill/>
          <a:ln w="9525">
            <a:noFill/>
            <a:miter lim="800000"/>
            <a:headEnd/>
            <a:tailEnd/>
          </a:ln>
          <a:effectLst/>
        </p:spPr>
      </p:pic>
      <p:pic>
        <p:nvPicPr>
          <p:cNvPr id="2052" name="Picture 4"/>
          <p:cNvPicPr>
            <a:picLocks noChangeAspect="1" noChangeArrowheads="1"/>
          </p:cNvPicPr>
          <p:nvPr/>
        </p:nvPicPr>
        <p:blipFill>
          <a:blip r:embed="rId3" cstate="print"/>
          <a:srcRect/>
          <a:stretch>
            <a:fillRect/>
          </a:stretch>
        </p:blipFill>
        <p:spPr bwMode="auto">
          <a:xfrm>
            <a:off x="685800" y="2133600"/>
            <a:ext cx="8001000" cy="762000"/>
          </a:xfrm>
          <a:prstGeom prst="rect">
            <a:avLst/>
          </a:prstGeom>
          <a:noFill/>
          <a:ln w="9525">
            <a:noFill/>
            <a:miter lim="800000"/>
            <a:headEnd/>
            <a:tailEnd/>
          </a:ln>
          <a:effectLst/>
        </p:spPr>
      </p:pic>
      <p:pic>
        <p:nvPicPr>
          <p:cNvPr id="2054" name="Picture 6"/>
          <p:cNvPicPr>
            <a:picLocks noChangeAspect="1" noChangeArrowheads="1"/>
          </p:cNvPicPr>
          <p:nvPr/>
        </p:nvPicPr>
        <p:blipFill>
          <a:blip r:embed="rId4" cstate="print"/>
          <a:srcRect/>
          <a:stretch>
            <a:fillRect/>
          </a:stretch>
        </p:blipFill>
        <p:spPr bwMode="auto">
          <a:xfrm>
            <a:off x="2057400" y="4343400"/>
            <a:ext cx="4772025" cy="1666875"/>
          </a:xfrm>
          <a:prstGeom prst="rect">
            <a:avLst/>
          </a:prstGeom>
          <a:noFill/>
          <a:ln w="9525">
            <a:noFill/>
            <a:miter lim="800000"/>
            <a:headEnd/>
            <a:tailEnd/>
          </a:ln>
          <a:effectLst/>
        </p:spPr>
      </p:pic>
    </p:spTree>
    <p:extLst>
      <p:ext uri="{BB962C8B-B14F-4D97-AF65-F5344CB8AC3E}">
        <p14:creationId xmlns:p14="http://schemas.microsoft.com/office/powerpoint/2010/main" val="22550511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
            <a:ext cx="9067800" cy="6781800"/>
          </a:xfrm>
        </p:spPr>
        <p:txBody>
          <a:bodyPr>
            <a:normAutofit/>
          </a:bodyPr>
          <a:lstStyle/>
          <a:p>
            <a:pPr marL="0" indent="0" algn="just">
              <a:buNone/>
            </a:pPr>
            <a:r>
              <a:rPr lang="en-US" sz="2400" b="1" dirty="0">
                <a:solidFill>
                  <a:srgbClr val="FF00FF"/>
                </a:solidFill>
                <a:effectLst>
                  <a:outerShdw blurRad="38100" dist="38100" dir="2700000" algn="tl">
                    <a:srgbClr val="000000">
                      <a:alpha val="43137"/>
                    </a:srgbClr>
                  </a:outerShdw>
                </a:effectLst>
              </a:rPr>
              <a:t>Exam: 14mba14 </a:t>
            </a:r>
            <a:r>
              <a:rPr lang="en-US" sz="2400" b="1" dirty="0" err="1">
                <a:solidFill>
                  <a:srgbClr val="FF00FF"/>
                </a:solidFill>
                <a:effectLst>
                  <a:outerShdw blurRad="38100" dist="38100" dir="2700000" algn="tl">
                    <a:srgbClr val="000000">
                      <a:alpha val="43137"/>
                    </a:srgbClr>
                  </a:outerShdw>
                </a:effectLst>
              </a:rPr>
              <a:t>june-july</a:t>
            </a:r>
            <a:r>
              <a:rPr lang="en-US" sz="2400" b="1" dirty="0">
                <a:solidFill>
                  <a:srgbClr val="FF00FF"/>
                </a:solidFill>
                <a:effectLst>
                  <a:outerShdw blurRad="38100" dist="38100" dir="2700000" algn="tl">
                    <a:srgbClr val="000000">
                      <a:alpha val="43137"/>
                    </a:srgbClr>
                  </a:outerShdw>
                </a:effectLst>
              </a:rPr>
              <a:t> 2015</a:t>
            </a:r>
          </a:p>
          <a:p>
            <a:pPr algn="just"/>
            <a:r>
              <a:rPr lang="en-US" sz="2400" dirty="0"/>
              <a:t>The following data relate to the ages of Husbands and Wives. Find the regression equations and also find the most likely age of husband when </a:t>
            </a:r>
            <a:r>
              <a:rPr lang="en-US" sz="2400" dirty="0" err="1"/>
              <a:t>wifes</a:t>
            </a:r>
            <a:r>
              <a:rPr lang="en-US" sz="2400" dirty="0"/>
              <a:t>’ age is </a:t>
            </a:r>
            <a:r>
              <a:rPr lang="en-US" sz="2400" b="1" dirty="0">
                <a:solidFill>
                  <a:srgbClr val="FF0000"/>
                </a:solidFill>
                <a:effectLst>
                  <a:outerShdw blurRad="38100" dist="38100" dir="2700000" algn="tl">
                    <a:srgbClr val="000000">
                      <a:alpha val="43137"/>
                    </a:srgbClr>
                  </a:outerShdw>
                </a:effectLst>
              </a:rPr>
              <a:t>25 years</a:t>
            </a:r>
            <a:r>
              <a:rPr lang="en-US" sz="2400" dirty="0"/>
              <a:t>.</a:t>
            </a:r>
          </a:p>
          <a:p>
            <a:pPr marL="0" indent="0" algn="just">
              <a:buNone/>
            </a:pPr>
            <a:endParaRPr lang="en-US" sz="2400" dirty="0"/>
          </a:p>
        </p:txBody>
      </p:sp>
      <p:graphicFrame>
        <p:nvGraphicFramePr>
          <p:cNvPr id="4" name="Table 3"/>
          <p:cNvGraphicFramePr>
            <a:graphicFrameLocks noGrp="1"/>
          </p:cNvGraphicFramePr>
          <p:nvPr>
            <p:extLst>
              <p:ext uri="{D42A27DB-BD31-4B8C-83A1-F6EECF244321}">
                <p14:modId xmlns:p14="http://schemas.microsoft.com/office/powerpoint/2010/main" val="2960089929"/>
              </p:ext>
            </p:extLst>
          </p:nvPr>
        </p:nvGraphicFramePr>
        <p:xfrm>
          <a:off x="1295400" y="2133600"/>
          <a:ext cx="6096000" cy="4571996"/>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415636">
                <a:tc>
                  <a:txBody>
                    <a:bodyPr/>
                    <a:lstStyle/>
                    <a:p>
                      <a:pPr algn="ctr"/>
                      <a:r>
                        <a:rPr lang="en-US" sz="2000" dirty="0"/>
                        <a:t>AGE OF HUSBANDS (Years)</a:t>
                      </a:r>
                    </a:p>
                  </a:txBody>
                  <a:tcPr/>
                </a:tc>
                <a:tc>
                  <a:txBody>
                    <a:bodyPr/>
                    <a:lstStyle/>
                    <a:p>
                      <a:pPr algn="ctr"/>
                      <a:r>
                        <a:rPr lang="en-US" sz="2000" dirty="0"/>
                        <a:t>AGE  OF WIVES (Years)</a:t>
                      </a:r>
                    </a:p>
                  </a:txBody>
                  <a:tcPr/>
                </a:tc>
                <a:extLst>
                  <a:ext uri="{0D108BD9-81ED-4DB2-BD59-A6C34878D82A}">
                    <a16:rowId xmlns:a16="http://schemas.microsoft.com/office/drawing/2014/main" val="10000"/>
                  </a:ext>
                </a:extLst>
              </a:tr>
              <a:tr h="415636">
                <a:tc>
                  <a:txBody>
                    <a:bodyPr/>
                    <a:lstStyle/>
                    <a:p>
                      <a:pPr algn="ctr"/>
                      <a:r>
                        <a:rPr lang="en-US" sz="2000" b="1" dirty="0"/>
                        <a:t>25</a:t>
                      </a:r>
                    </a:p>
                  </a:txBody>
                  <a:tcPr/>
                </a:tc>
                <a:tc>
                  <a:txBody>
                    <a:bodyPr/>
                    <a:lstStyle/>
                    <a:p>
                      <a:pPr algn="ctr"/>
                      <a:r>
                        <a:rPr lang="en-US" sz="2000" dirty="0">
                          <a:effectLst>
                            <a:outerShdw blurRad="38100" dist="38100" dir="2700000" algn="tl">
                              <a:srgbClr val="000000">
                                <a:alpha val="43137"/>
                              </a:srgbClr>
                            </a:outerShdw>
                          </a:effectLst>
                        </a:rPr>
                        <a:t>20</a:t>
                      </a:r>
                    </a:p>
                  </a:txBody>
                  <a:tcPr/>
                </a:tc>
                <a:extLst>
                  <a:ext uri="{0D108BD9-81ED-4DB2-BD59-A6C34878D82A}">
                    <a16:rowId xmlns:a16="http://schemas.microsoft.com/office/drawing/2014/main" val="10001"/>
                  </a:ext>
                </a:extLst>
              </a:tr>
              <a:tr h="415636">
                <a:tc>
                  <a:txBody>
                    <a:bodyPr/>
                    <a:lstStyle/>
                    <a:p>
                      <a:pPr algn="ctr"/>
                      <a:r>
                        <a:rPr lang="en-US" sz="2000" b="1" dirty="0"/>
                        <a:t>28</a:t>
                      </a:r>
                    </a:p>
                  </a:txBody>
                  <a:tcPr/>
                </a:tc>
                <a:tc>
                  <a:txBody>
                    <a:bodyPr/>
                    <a:lstStyle/>
                    <a:p>
                      <a:pPr algn="ctr"/>
                      <a:r>
                        <a:rPr lang="en-US" sz="2000" dirty="0">
                          <a:effectLst>
                            <a:outerShdw blurRad="38100" dist="38100" dir="2700000" algn="tl">
                              <a:srgbClr val="000000">
                                <a:alpha val="43137"/>
                              </a:srgbClr>
                            </a:outerShdw>
                          </a:effectLst>
                        </a:rPr>
                        <a:t>26</a:t>
                      </a:r>
                    </a:p>
                  </a:txBody>
                  <a:tcPr/>
                </a:tc>
                <a:extLst>
                  <a:ext uri="{0D108BD9-81ED-4DB2-BD59-A6C34878D82A}">
                    <a16:rowId xmlns:a16="http://schemas.microsoft.com/office/drawing/2014/main" val="10002"/>
                  </a:ext>
                </a:extLst>
              </a:tr>
              <a:tr h="415636">
                <a:tc>
                  <a:txBody>
                    <a:bodyPr/>
                    <a:lstStyle/>
                    <a:p>
                      <a:pPr algn="ctr"/>
                      <a:r>
                        <a:rPr lang="en-US" sz="2000" b="1" dirty="0"/>
                        <a:t>30</a:t>
                      </a:r>
                    </a:p>
                  </a:txBody>
                  <a:tcPr/>
                </a:tc>
                <a:tc>
                  <a:txBody>
                    <a:bodyPr/>
                    <a:lstStyle/>
                    <a:p>
                      <a:pPr algn="ctr"/>
                      <a:r>
                        <a:rPr lang="en-US" sz="2000" dirty="0">
                          <a:effectLst>
                            <a:outerShdw blurRad="38100" dist="38100" dir="2700000" algn="tl">
                              <a:srgbClr val="000000">
                                <a:alpha val="43137"/>
                              </a:srgbClr>
                            </a:outerShdw>
                          </a:effectLst>
                        </a:rPr>
                        <a:t>29</a:t>
                      </a:r>
                    </a:p>
                  </a:txBody>
                  <a:tcPr/>
                </a:tc>
                <a:extLst>
                  <a:ext uri="{0D108BD9-81ED-4DB2-BD59-A6C34878D82A}">
                    <a16:rowId xmlns:a16="http://schemas.microsoft.com/office/drawing/2014/main" val="10003"/>
                  </a:ext>
                </a:extLst>
              </a:tr>
              <a:tr h="415636">
                <a:tc>
                  <a:txBody>
                    <a:bodyPr/>
                    <a:lstStyle/>
                    <a:p>
                      <a:pPr algn="ctr"/>
                      <a:r>
                        <a:rPr lang="en-US" sz="2000" b="1" dirty="0"/>
                        <a:t>32</a:t>
                      </a:r>
                    </a:p>
                  </a:txBody>
                  <a:tcPr/>
                </a:tc>
                <a:tc>
                  <a:txBody>
                    <a:bodyPr/>
                    <a:lstStyle/>
                    <a:p>
                      <a:pPr algn="ctr"/>
                      <a:r>
                        <a:rPr lang="en-US" sz="2000" dirty="0">
                          <a:effectLst>
                            <a:outerShdw blurRad="38100" dist="38100" dir="2700000" algn="tl">
                              <a:srgbClr val="000000">
                                <a:alpha val="43137"/>
                              </a:srgbClr>
                            </a:outerShdw>
                          </a:effectLst>
                        </a:rPr>
                        <a:t>30</a:t>
                      </a:r>
                    </a:p>
                  </a:txBody>
                  <a:tcPr/>
                </a:tc>
                <a:extLst>
                  <a:ext uri="{0D108BD9-81ED-4DB2-BD59-A6C34878D82A}">
                    <a16:rowId xmlns:a16="http://schemas.microsoft.com/office/drawing/2014/main" val="10004"/>
                  </a:ext>
                </a:extLst>
              </a:tr>
              <a:tr h="415636">
                <a:tc>
                  <a:txBody>
                    <a:bodyPr/>
                    <a:lstStyle/>
                    <a:p>
                      <a:pPr algn="ctr"/>
                      <a:r>
                        <a:rPr lang="en-US" sz="2000" b="1" dirty="0"/>
                        <a:t>35</a:t>
                      </a:r>
                    </a:p>
                  </a:txBody>
                  <a:tcPr/>
                </a:tc>
                <a:tc>
                  <a:txBody>
                    <a:bodyPr/>
                    <a:lstStyle/>
                    <a:p>
                      <a:pPr algn="ctr"/>
                      <a:r>
                        <a:rPr lang="en-US" sz="2000" dirty="0">
                          <a:effectLst>
                            <a:outerShdw blurRad="38100" dist="38100" dir="2700000" algn="tl">
                              <a:srgbClr val="000000">
                                <a:alpha val="43137"/>
                              </a:srgbClr>
                            </a:outerShdw>
                          </a:effectLst>
                        </a:rPr>
                        <a:t>25</a:t>
                      </a:r>
                    </a:p>
                  </a:txBody>
                  <a:tcPr/>
                </a:tc>
                <a:extLst>
                  <a:ext uri="{0D108BD9-81ED-4DB2-BD59-A6C34878D82A}">
                    <a16:rowId xmlns:a16="http://schemas.microsoft.com/office/drawing/2014/main" val="10005"/>
                  </a:ext>
                </a:extLst>
              </a:tr>
              <a:tr h="415636">
                <a:tc>
                  <a:txBody>
                    <a:bodyPr/>
                    <a:lstStyle/>
                    <a:p>
                      <a:pPr algn="ctr"/>
                      <a:r>
                        <a:rPr lang="en-US" sz="2000" b="1" dirty="0"/>
                        <a:t>36</a:t>
                      </a:r>
                    </a:p>
                  </a:txBody>
                  <a:tcPr/>
                </a:tc>
                <a:tc>
                  <a:txBody>
                    <a:bodyPr/>
                    <a:lstStyle/>
                    <a:p>
                      <a:pPr algn="ctr"/>
                      <a:r>
                        <a:rPr lang="en-US" sz="2000" dirty="0">
                          <a:effectLst>
                            <a:outerShdw blurRad="38100" dist="38100" dir="2700000" algn="tl">
                              <a:srgbClr val="000000">
                                <a:alpha val="43137"/>
                              </a:srgbClr>
                            </a:outerShdw>
                          </a:effectLst>
                        </a:rPr>
                        <a:t>18</a:t>
                      </a:r>
                    </a:p>
                  </a:txBody>
                  <a:tcPr/>
                </a:tc>
                <a:extLst>
                  <a:ext uri="{0D108BD9-81ED-4DB2-BD59-A6C34878D82A}">
                    <a16:rowId xmlns:a16="http://schemas.microsoft.com/office/drawing/2014/main" val="10006"/>
                  </a:ext>
                </a:extLst>
              </a:tr>
              <a:tr h="415636">
                <a:tc>
                  <a:txBody>
                    <a:bodyPr/>
                    <a:lstStyle/>
                    <a:p>
                      <a:pPr algn="ctr"/>
                      <a:r>
                        <a:rPr lang="en-US" sz="2000" b="1" dirty="0"/>
                        <a:t>38</a:t>
                      </a:r>
                    </a:p>
                  </a:txBody>
                  <a:tcPr/>
                </a:tc>
                <a:tc>
                  <a:txBody>
                    <a:bodyPr/>
                    <a:lstStyle/>
                    <a:p>
                      <a:pPr algn="ctr"/>
                      <a:r>
                        <a:rPr lang="en-US" sz="2000" dirty="0">
                          <a:effectLst>
                            <a:outerShdw blurRad="38100" dist="38100" dir="2700000" algn="tl">
                              <a:srgbClr val="000000">
                                <a:alpha val="43137"/>
                              </a:srgbClr>
                            </a:outerShdw>
                          </a:effectLst>
                        </a:rPr>
                        <a:t>26</a:t>
                      </a:r>
                    </a:p>
                  </a:txBody>
                  <a:tcPr/>
                </a:tc>
                <a:extLst>
                  <a:ext uri="{0D108BD9-81ED-4DB2-BD59-A6C34878D82A}">
                    <a16:rowId xmlns:a16="http://schemas.microsoft.com/office/drawing/2014/main" val="10007"/>
                  </a:ext>
                </a:extLst>
              </a:tr>
              <a:tr h="415636">
                <a:tc>
                  <a:txBody>
                    <a:bodyPr/>
                    <a:lstStyle/>
                    <a:p>
                      <a:pPr algn="ctr"/>
                      <a:r>
                        <a:rPr lang="en-US" sz="2000" b="1" dirty="0"/>
                        <a:t>39</a:t>
                      </a:r>
                    </a:p>
                  </a:txBody>
                  <a:tcPr/>
                </a:tc>
                <a:tc>
                  <a:txBody>
                    <a:bodyPr/>
                    <a:lstStyle/>
                    <a:p>
                      <a:pPr algn="ctr"/>
                      <a:r>
                        <a:rPr lang="en-US" sz="2000" dirty="0">
                          <a:effectLst>
                            <a:outerShdw blurRad="38100" dist="38100" dir="2700000" algn="tl">
                              <a:srgbClr val="000000">
                                <a:alpha val="43137"/>
                              </a:srgbClr>
                            </a:outerShdw>
                          </a:effectLst>
                        </a:rPr>
                        <a:t>35</a:t>
                      </a:r>
                    </a:p>
                  </a:txBody>
                  <a:tcPr/>
                </a:tc>
                <a:extLst>
                  <a:ext uri="{0D108BD9-81ED-4DB2-BD59-A6C34878D82A}">
                    <a16:rowId xmlns:a16="http://schemas.microsoft.com/office/drawing/2014/main" val="10008"/>
                  </a:ext>
                </a:extLst>
              </a:tr>
              <a:tr h="415636">
                <a:tc>
                  <a:txBody>
                    <a:bodyPr/>
                    <a:lstStyle/>
                    <a:p>
                      <a:pPr algn="ctr"/>
                      <a:r>
                        <a:rPr lang="en-US" sz="2000" b="1" dirty="0"/>
                        <a:t>42</a:t>
                      </a:r>
                    </a:p>
                  </a:txBody>
                  <a:tcPr/>
                </a:tc>
                <a:tc>
                  <a:txBody>
                    <a:bodyPr/>
                    <a:lstStyle/>
                    <a:p>
                      <a:pPr algn="ctr"/>
                      <a:r>
                        <a:rPr lang="en-US" sz="2000" dirty="0">
                          <a:effectLst>
                            <a:outerShdw blurRad="38100" dist="38100" dir="2700000" algn="tl">
                              <a:srgbClr val="000000">
                                <a:alpha val="43137"/>
                              </a:srgbClr>
                            </a:outerShdw>
                          </a:effectLst>
                        </a:rPr>
                        <a:t>35</a:t>
                      </a:r>
                    </a:p>
                  </a:txBody>
                  <a:tcPr/>
                </a:tc>
                <a:extLst>
                  <a:ext uri="{0D108BD9-81ED-4DB2-BD59-A6C34878D82A}">
                    <a16:rowId xmlns:a16="http://schemas.microsoft.com/office/drawing/2014/main" val="10009"/>
                  </a:ext>
                </a:extLst>
              </a:tr>
              <a:tr h="415636">
                <a:tc>
                  <a:txBody>
                    <a:bodyPr/>
                    <a:lstStyle/>
                    <a:p>
                      <a:pPr algn="ctr"/>
                      <a:r>
                        <a:rPr lang="en-US" sz="2000" b="1" dirty="0"/>
                        <a:t>55</a:t>
                      </a:r>
                    </a:p>
                  </a:txBody>
                  <a:tcPr/>
                </a:tc>
                <a:tc>
                  <a:txBody>
                    <a:bodyPr/>
                    <a:lstStyle/>
                    <a:p>
                      <a:pPr algn="ctr"/>
                      <a:r>
                        <a:rPr lang="en-US" sz="2000" dirty="0">
                          <a:effectLst>
                            <a:outerShdw blurRad="38100" dist="38100" dir="2700000" algn="tl">
                              <a:srgbClr val="000000">
                                <a:alpha val="43137"/>
                              </a:srgbClr>
                            </a:outerShdw>
                          </a:effectLst>
                        </a:rPr>
                        <a:t>46</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5463047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4047"/>
            <a:ext cx="9144000" cy="6823953"/>
          </a:xfrm>
        </p:spPr>
        <p:txBody>
          <a:bodyPr>
            <a:normAutofit/>
          </a:bodyPr>
          <a:lstStyle/>
          <a:p>
            <a:pPr marL="0" indent="0">
              <a:buNone/>
            </a:pPr>
            <a:r>
              <a:rPr lang="en-US" sz="2800" b="1" dirty="0" err="1">
                <a:solidFill>
                  <a:srgbClr val="FF0000"/>
                </a:solidFill>
              </a:rPr>
              <a:t>Soln</a:t>
            </a:r>
            <a:r>
              <a:rPr lang="en-US" sz="2800" b="1" dirty="0">
                <a:solidFill>
                  <a:srgbClr val="FF0000"/>
                </a:solidFill>
              </a:rPr>
              <a:t>: </a:t>
            </a:r>
            <a:r>
              <a:rPr lang="en-US" sz="2800" dirty="0">
                <a:solidFill>
                  <a:srgbClr val="FF00FF"/>
                </a:solidFill>
              </a:rPr>
              <a:t>Let age of Husband be ‘x’ and age of wife be ‘y’. </a:t>
            </a:r>
          </a:p>
        </p:txBody>
      </p:sp>
      <p:graphicFrame>
        <p:nvGraphicFramePr>
          <p:cNvPr id="4" name="Table 3"/>
          <p:cNvGraphicFramePr>
            <a:graphicFrameLocks noGrp="1"/>
          </p:cNvGraphicFramePr>
          <p:nvPr>
            <p:extLst>
              <p:ext uri="{D42A27DB-BD31-4B8C-83A1-F6EECF244321}">
                <p14:modId xmlns:p14="http://schemas.microsoft.com/office/powerpoint/2010/main" val="4196270333"/>
              </p:ext>
            </p:extLst>
          </p:nvPr>
        </p:nvGraphicFramePr>
        <p:xfrm>
          <a:off x="0" y="838200"/>
          <a:ext cx="9067800" cy="618744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2057400">
                  <a:extLst>
                    <a:ext uri="{9D8B030D-6E8A-4147-A177-3AD203B41FA5}">
                      <a16:colId xmlns:a16="http://schemas.microsoft.com/office/drawing/2014/main" val="20006"/>
                    </a:ext>
                  </a:extLst>
                </a:gridCol>
              </a:tblGrid>
              <a:tr h="838200">
                <a:tc>
                  <a:txBody>
                    <a:bodyPr/>
                    <a:lstStyle/>
                    <a:p>
                      <a:r>
                        <a:rPr lang="en-US" sz="2800" dirty="0">
                          <a:solidFill>
                            <a:srgbClr val="FF00FF"/>
                          </a:solidFill>
                        </a:rPr>
                        <a:t>x</a:t>
                      </a:r>
                    </a:p>
                  </a:txBody>
                  <a:tcPr>
                    <a:solidFill>
                      <a:schemeClr val="bg2">
                        <a:lumMod val="75000"/>
                      </a:schemeClr>
                    </a:solidFill>
                  </a:tcPr>
                </a:tc>
                <a:tc>
                  <a:txBody>
                    <a:bodyPr/>
                    <a:lstStyle/>
                    <a:p>
                      <a:r>
                        <a:rPr lang="en-US" sz="2800" dirty="0">
                          <a:solidFill>
                            <a:srgbClr val="FF00FF"/>
                          </a:solidFill>
                        </a:rPr>
                        <a:t> y</a:t>
                      </a:r>
                    </a:p>
                  </a:txBody>
                  <a:tcPr>
                    <a:solidFill>
                      <a:schemeClr val="bg2">
                        <a:lumMod val="7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b="1" dirty="0">
                          <a:latin typeface="+mn-lt"/>
                          <a:ea typeface="Calibri"/>
                          <a:cs typeface="Times New Roman"/>
                        </a:rPr>
                        <a:t>X -   X̄ </a:t>
                      </a:r>
                      <a:endParaRPr lang="en-US" sz="2800" dirty="0">
                        <a:latin typeface="+mn-lt"/>
                        <a:ea typeface="Calibri"/>
                        <a:cs typeface="Times New Roman"/>
                      </a:endParaRPr>
                    </a:p>
                    <a:p>
                      <a:endParaRPr lang="en-US" sz="1800" dirty="0">
                        <a:solidFill>
                          <a:srgbClr val="FF00FF"/>
                        </a:solidFill>
                      </a:endParaRPr>
                    </a:p>
                    <a:p>
                      <a:endParaRPr lang="en-US" sz="1600" dirty="0"/>
                    </a:p>
                  </a:txBody>
                  <a:tcPr>
                    <a:solidFill>
                      <a:schemeClr val="bg2">
                        <a:lumMod val="75000"/>
                      </a:schemeClr>
                    </a:solidFill>
                  </a:tcPr>
                </a:tc>
                <a:tc>
                  <a:txBody>
                    <a:bodyPr/>
                    <a:lstStyle/>
                    <a:p>
                      <a:endParaRPr lang="en-US" sz="1600" dirty="0"/>
                    </a:p>
                  </a:txBody>
                  <a:tcPr>
                    <a:solidFill>
                      <a:schemeClr val="bg2">
                        <a:lumMod val="7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CC0000"/>
                          </a:solidFill>
                          <a:latin typeface="+mn-lt"/>
                          <a:ea typeface="Calibri"/>
                          <a:cs typeface="Times New Roman"/>
                        </a:rPr>
                        <a:t>   </a:t>
                      </a:r>
                      <a:r>
                        <a:rPr lang="en-US" sz="3200" dirty="0">
                          <a:solidFill>
                            <a:srgbClr val="CC0000"/>
                          </a:solidFill>
                          <a:latin typeface="+mn-lt"/>
                          <a:ea typeface="Calibri"/>
                          <a:cs typeface="Times New Roman"/>
                        </a:rPr>
                        <a:t>Y -  </a:t>
                      </a:r>
                      <a:r>
                        <a:rPr lang="en-US" sz="3200" dirty="0">
                          <a:solidFill>
                            <a:srgbClr val="CC0000"/>
                          </a:solidFill>
                          <a:latin typeface="+mn-lt"/>
                          <a:ea typeface="Calibri"/>
                          <a:cs typeface="Calibri"/>
                        </a:rPr>
                        <a:t>Ȳ</a:t>
                      </a:r>
                      <a:endParaRPr lang="en-US" sz="2400" dirty="0">
                        <a:solidFill>
                          <a:srgbClr val="CC0000"/>
                        </a:solidFill>
                        <a:latin typeface="+mn-lt"/>
                        <a:ea typeface="Calibri"/>
                        <a:cs typeface="Times New Roman"/>
                      </a:endParaRPr>
                    </a:p>
                    <a:p>
                      <a:endParaRPr lang="en-US" sz="1600" dirty="0"/>
                    </a:p>
                  </a:txBody>
                  <a:tcPr>
                    <a:solidFill>
                      <a:schemeClr val="bg2">
                        <a:lumMod val="75000"/>
                      </a:schemeClr>
                    </a:solidFill>
                  </a:tcPr>
                </a:tc>
                <a:tc>
                  <a:txBody>
                    <a:bodyPr/>
                    <a:lstStyle/>
                    <a:p>
                      <a:endParaRPr lang="en-US" sz="1600" dirty="0"/>
                    </a:p>
                  </a:txBody>
                  <a:tcPr>
                    <a:solidFill>
                      <a:schemeClr val="bg2">
                        <a:lumMod val="75000"/>
                      </a:schemeClr>
                    </a:solidFill>
                  </a:tcPr>
                </a:tc>
                <a:tc>
                  <a:txBody>
                    <a:bodyPr/>
                    <a:lstStyle/>
                    <a:p>
                      <a:pPr algn="ctr"/>
                      <a:endParaRPr lang="en-US" sz="2400" dirty="0"/>
                    </a:p>
                  </a:txBody>
                  <a:tcPr/>
                </a:tc>
                <a:extLst>
                  <a:ext uri="{0D108BD9-81ED-4DB2-BD59-A6C34878D82A}">
                    <a16:rowId xmlns:a16="http://schemas.microsoft.com/office/drawing/2014/main" val="10000"/>
                  </a:ext>
                </a:extLst>
              </a:tr>
              <a:tr h="387626">
                <a:tc>
                  <a:txBody>
                    <a:bodyPr/>
                    <a:lstStyle/>
                    <a:p>
                      <a:pPr algn="ctr"/>
                      <a:r>
                        <a:rPr lang="en-US" sz="2000" dirty="0"/>
                        <a:t>25</a:t>
                      </a:r>
                    </a:p>
                  </a:txBody>
                  <a:tcPr/>
                </a:tc>
                <a:tc>
                  <a:txBody>
                    <a:bodyPr/>
                    <a:lstStyle/>
                    <a:p>
                      <a:pPr algn="ctr"/>
                      <a:r>
                        <a:rPr lang="en-US" sz="2000" dirty="0"/>
                        <a:t>20</a:t>
                      </a:r>
                    </a:p>
                  </a:txBody>
                  <a:tcPr/>
                </a:tc>
                <a:tc>
                  <a:txBody>
                    <a:bodyPr/>
                    <a:lstStyle/>
                    <a:p>
                      <a:pPr algn="ctr"/>
                      <a:r>
                        <a:rPr lang="en-US" sz="2000" b="1" dirty="0"/>
                        <a:t>-11</a:t>
                      </a:r>
                    </a:p>
                  </a:txBody>
                  <a:tcPr/>
                </a:tc>
                <a:tc>
                  <a:txBody>
                    <a:bodyPr/>
                    <a:lstStyle/>
                    <a:p>
                      <a:pPr algn="ctr"/>
                      <a:r>
                        <a:rPr lang="en-US" b="1" dirty="0"/>
                        <a:t>121</a:t>
                      </a:r>
                    </a:p>
                  </a:txBody>
                  <a:tcPr/>
                </a:tc>
                <a:tc>
                  <a:txBody>
                    <a:bodyPr/>
                    <a:lstStyle/>
                    <a:p>
                      <a:pPr algn="ctr"/>
                      <a:r>
                        <a:rPr lang="en-US" sz="2000" b="1" dirty="0"/>
                        <a:t>-9</a:t>
                      </a:r>
                    </a:p>
                  </a:txBody>
                  <a:tcPr/>
                </a:tc>
                <a:tc>
                  <a:txBody>
                    <a:bodyPr/>
                    <a:lstStyle/>
                    <a:p>
                      <a:pPr algn="ctr"/>
                      <a:r>
                        <a:rPr lang="en-US" sz="2000" b="1" dirty="0">
                          <a:effectLst/>
                        </a:rPr>
                        <a:t>81</a:t>
                      </a:r>
                    </a:p>
                  </a:txBody>
                  <a:tcPr/>
                </a:tc>
                <a:tc>
                  <a:txBody>
                    <a:bodyPr/>
                    <a:lstStyle/>
                    <a:p>
                      <a:pPr algn="ctr"/>
                      <a:r>
                        <a:rPr lang="en-US" sz="2000" b="1" dirty="0"/>
                        <a:t> 99</a:t>
                      </a:r>
                    </a:p>
                  </a:txBody>
                  <a:tcPr/>
                </a:tc>
                <a:extLst>
                  <a:ext uri="{0D108BD9-81ED-4DB2-BD59-A6C34878D82A}">
                    <a16:rowId xmlns:a16="http://schemas.microsoft.com/office/drawing/2014/main" val="10001"/>
                  </a:ext>
                </a:extLst>
              </a:tr>
              <a:tr h="387626">
                <a:tc>
                  <a:txBody>
                    <a:bodyPr/>
                    <a:lstStyle/>
                    <a:p>
                      <a:pPr algn="ctr"/>
                      <a:r>
                        <a:rPr lang="en-US" sz="2000" dirty="0"/>
                        <a:t>28</a:t>
                      </a:r>
                    </a:p>
                  </a:txBody>
                  <a:tcPr/>
                </a:tc>
                <a:tc>
                  <a:txBody>
                    <a:bodyPr/>
                    <a:lstStyle/>
                    <a:p>
                      <a:pPr algn="ctr"/>
                      <a:r>
                        <a:rPr lang="en-US" sz="2000" dirty="0"/>
                        <a:t>26</a:t>
                      </a:r>
                    </a:p>
                  </a:txBody>
                  <a:tcPr/>
                </a:tc>
                <a:tc>
                  <a:txBody>
                    <a:bodyPr/>
                    <a:lstStyle/>
                    <a:p>
                      <a:pPr algn="ctr"/>
                      <a:r>
                        <a:rPr lang="en-US" sz="2000" b="1" dirty="0"/>
                        <a:t>-8</a:t>
                      </a:r>
                    </a:p>
                  </a:txBody>
                  <a:tcPr/>
                </a:tc>
                <a:tc>
                  <a:txBody>
                    <a:bodyPr/>
                    <a:lstStyle/>
                    <a:p>
                      <a:pPr algn="ctr"/>
                      <a:r>
                        <a:rPr lang="en-US" b="1" dirty="0"/>
                        <a:t>64</a:t>
                      </a:r>
                    </a:p>
                  </a:txBody>
                  <a:tcPr/>
                </a:tc>
                <a:tc>
                  <a:txBody>
                    <a:bodyPr/>
                    <a:lstStyle/>
                    <a:p>
                      <a:pPr algn="ctr"/>
                      <a:r>
                        <a:rPr lang="en-US" sz="2000" b="1" dirty="0"/>
                        <a:t>-3</a:t>
                      </a:r>
                    </a:p>
                  </a:txBody>
                  <a:tcPr/>
                </a:tc>
                <a:tc>
                  <a:txBody>
                    <a:bodyPr/>
                    <a:lstStyle/>
                    <a:p>
                      <a:pPr algn="ctr"/>
                      <a:r>
                        <a:rPr lang="en-US" sz="2000" b="1" dirty="0">
                          <a:effectLst/>
                        </a:rPr>
                        <a:t>9</a:t>
                      </a:r>
                    </a:p>
                  </a:txBody>
                  <a:tcPr/>
                </a:tc>
                <a:tc>
                  <a:txBody>
                    <a:bodyPr/>
                    <a:lstStyle/>
                    <a:p>
                      <a:pPr algn="ctr"/>
                      <a:r>
                        <a:rPr lang="en-US" sz="2000" b="1" dirty="0"/>
                        <a:t>24</a:t>
                      </a:r>
                    </a:p>
                  </a:txBody>
                  <a:tcPr/>
                </a:tc>
                <a:extLst>
                  <a:ext uri="{0D108BD9-81ED-4DB2-BD59-A6C34878D82A}">
                    <a16:rowId xmlns:a16="http://schemas.microsoft.com/office/drawing/2014/main" val="10002"/>
                  </a:ext>
                </a:extLst>
              </a:tr>
              <a:tr h="387626">
                <a:tc>
                  <a:txBody>
                    <a:bodyPr/>
                    <a:lstStyle/>
                    <a:p>
                      <a:pPr algn="ctr"/>
                      <a:r>
                        <a:rPr lang="en-US" sz="2000" dirty="0"/>
                        <a:t>30</a:t>
                      </a:r>
                    </a:p>
                  </a:txBody>
                  <a:tcPr/>
                </a:tc>
                <a:tc>
                  <a:txBody>
                    <a:bodyPr/>
                    <a:lstStyle/>
                    <a:p>
                      <a:pPr algn="ctr"/>
                      <a:r>
                        <a:rPr lang="en-US" sz="2000" dirty="0"/>
                        <a:t>29</a:t>
                      </a:r>
                    </a:p>
                  </a:txBody>
                  <a:tcPr/>
                </a:tc>
                <a:tc>
                  <a:txBody>
                    <a:bodyPr/>
                    <a:lstStyle/>
                    <a:p>
                      <a:pPr algn="ctr"/>
                      <a:r>
                        <a:rPr lang="en-US" sz="2000" b="1" dirty="0"/>
                        <a:t>-6</a:t>
                      </a:r>
                    </a:p>
                  </a:txBody>
                  <a:tcPr/>
                </a:tc>
                <a:tc>
                  <a:txBody>
                    <a:bodyPr/>
                    <a:lstStyle/>
                    <a:p>
                      <a:pPr algn="ctr"/>
                      <a:r>
                        <a:rPr lang="en-US" b="1" dirty="0"/>
                        <a:t>36</a:t>
                      </a:r>
                    </a:p>
                  </a:txBody>
                  <a:tcPr/>
                </a:tc>
                <a:tc>
                  <a:txBody>
                    <a:bodyPr/>
                    <a:lstStyle/>
                    <a:p>
                      <a:pPr algn="ctr"/>
                      <a:r>
                        <a:rPr lang="en-US" sz="2000" b="1" dirty="0"/>
                        <a:t>0</a:t>
                      </a:r>
                    </a:p>
                  </a:txBody>
                  <a:tcPr/>
                </a:tc>
                <a:tc>
                  <a:txBody>
                    <a:bodyPr/>
                    <a:lstStyle/>
                    <a:p>
                      <a:pPr algn="ctr"/>
                      <a:r>
                        <a:rPr lang="en-US" sz="2000" b="1" dirty="0">
                          <a:effectLst/>
                        </a:rPr>
                        <a:t>0</a:t>
                      </a:r>
                    </a:p>
                  </a:txBody>
                  <a:tcPr/>
                </a:tc>
                <a:tc>
                  <a:txBody>
                    <a:bodyPr/>
                    <a:lstStyle/>
                    <a:p>
                      <a:pPr algn="ctr"/>
                      <a:r>
                        <a:rPr lang="en-US" sz="2000" b="1" dirty="0"/>
                        <a:t>0</a:t>
                      </a:r>
                    </a:p>
                  </a:txBody>
                  <a:tcPr/>
                </a:tc>
                <a:extLst>
                  <a:ext uri="{0D108BD9-81ED-4DB2-BD59-A6C34878D82A}">
                    <a16:rowId xmlns:a16="http://schemas.microsoft.com/office/drawing/2014/main" val="10003"/>
                  </a:ext>
                </a:extLst>
              </a:tr>
              <a:tr h="387626">
                <a:tc>
                  <a:txBody>
                    <a:bodyPr/>
                    <a:lstStyle/>
                    <a:p>
                      <a:pPr algn="ctr"/>
                      <a:r>
                        <a:rPr lang="en-US" sz="2000" dirty="0"/>
                        <a:t>32</a:t>
                      </a:r>
                    </a:p>
                  </a:txBody>
                  <a:tcPr/>
                </a:tc>
                <a:tc>
                  <a:txBody>
                    <a:bodyPr/>
                    <a:lstStyle/>
                    <a:p>
                      <a:pPr algn="ctr"/>
                      <a:r>
                        <a:rPr lang="en-US" sz="2000" dirty="0"/>
                        <a:t>30</a:t>
                      </a:r>
                    </a:p>
                  </a:txBody>
                  <a:tcPr/>
                </a:tc>
                <a:tc>
                  <a:txBody>
                    <a:bodyPr/>
                    <a:lstStyle/>
                    <a:p>
                      <a:pPr algn="ctr"/>
                      <a:r>
                        <a:rPr lang="en-US" sz="2000" b="1" dirty="0"/>
                        <a:t>-4</a:t>
                      </a:r>
                    </a:p>
                  </a:txBody>
                  <a:tcPr/>
                </a:tc>
                <a:tc>
                  <a:txBody>
                    <a:bodyPr/>
                    <a:lstStyle/>
                    <a:p>
                      <a:pPr algn="ctr"/>
                      <a:r>
                        <a:rPr lang="en-US" b="1" dirty="0"/>
                        <a:t>16</a:t>
                      </a:r>
                    </a:p>
                  </a:txBody>
                  <a:tcPr/>
                </a:tc>
                <a:tc>
                  <a:txBody>
                    <a:bodyPr/>
                    <a:lstStyle/>
                    <a:p>
                      <a:pPr algn="ctr"/>
                      <a:r>
                        <a:rPr lang="en-US" sz="2000" b="1" dirty="0"/>
                        <a:t>1</a:t>
                      </a:r>
                    </a:p>
                  </a:txBody>
                  <a:tcPr/>
                </a:tc>
                <a:tc>
                  <a:txBody>
                    <a:bodyPr/>
                    <a:lstStyle/>
                    <a:p>
                      <a:pPr algn="ctr"/>
                      <a:r>
                        <a:rPr lang="en-US" sz="2000" b="1" dirty="0">
                          <a:effectLst/>
                        </a:rPr>
                        <a:t>1</a:t>
                      </a:r>
                    </a:p>
                  </a:txBody>
                  <a:tcPr/>
                </a:tc>
                <a:tc>
                  <a:txBody>
                    <a:bodyPr/>
                    <a:lstStyle/>
                    <a:p>
                      <a:pPr algn="ctr"/>
                      <a:r>
                        <a:rPr lang="en-US" sz="2000" b="1" dirty="0"/>
                        <a:t>-4</a:t>
                      </a:r>
                    </a:p>
                  </a:txBody>
                  <a:tcPr/>
                </a:tc>
                <a:extLst>
                  <a:ext uri="{0D108BD9-81ED-4DB2-BD59-A6C34878D82A}">
                    <a16:rowId xmlns:a16="http://schemas.microsoft.com/office/drawing/2014/main" val="10004"/>
                  </a:ext>
                </a:extLst>
              </a:tr>
              <a:tr h="387626">
                <a:tc>
                  <a:txBody>
                    <a:bodyPr/>
                    <a:lstStyle/>
                    <a:p>
                      <a:pPr algn="ctr"/>
                      <a:r>
                        <a:rPr lang="en-US" sz="2000" dirty="0"/>
                        <a:t>35</a:t>
                      </a:r>
                    </a:p>
                  </a:txBody>
                  <a:tcPr/>
                </a:tc>
                <a:tc>
                  <a:txBody>
                    <a:bodyPr/>
                    <a:lstStyle/>
                    <a:p>
                      <a:pPr algn="ctr"/>
                      <a:r>
                        <a:rPr lang="en-US" sz="2000" dirty="0"/>
                        <a:t>25</a:t>
                      </a:r>
                    </a:p>
                  </a:txBody>
                  <a:tcPr/>
                </a:tc>
                <a:tc>
                  <a:txBody>
                    <a:bodyPr/>
                    <a:lstStyle/>
                    <a:p>
                      <a:pPr algn="ctr"/>
                      <a:r>
                        <a:rPr lang="en-US" sz="2000" b="1" dirty="0"/>
                        <a:t>-1</a:t>
                      </a:r>
                    </a:p>
                  </a:txBody>
                  <a:tcPr/>
                </a:tc>
                <a:tc>
                  <a:txBody>
                    <a:bodyPr/>
                    <a:lstStyle/>
                    <a:p>
                      <a:pPr algn="ctr"/>
                      <a:r>
                        <a:rPr lang="en-US" b="1" dirty="0"/>
                        <a:t>1</a:t>
                      </a:r>
                    </a:p>
                  </a:txBody>
                  <a:tcPr/>
                </a:tc>
                <a:tc>
                  <a:txBody>
                    <a:bodyPr/>
                    <a:lstStyle/>
                    <a:p>
                      <a:pPr algn="ctr"/>
                      <a:r>
                        <a:rPr lang="en-US" sz="2000" b="1" dirty="0"/>
                        <a:t>4</a:t>
                      </a:r>
                    </a:p>
                  </a:txBody>
                  <a:tcPr/>
                </a:tc>
                <a:tc>
                  <a:txBody>
                    <a:bodyPr/>
                    <a:lstStyle/>
                    <a:p>
                      <a:pPr algn="ctr"/>
                      <a:r>
                        <a:rPr lang="en-US" sz="2000" b="1" dirty="0">
                          <a:effectLst/>
                        </a:rPr>
                        <a:t>16</a:t>
                      </a:r>
                    </a:p>
                  </a:txBody>
                  <a:tcPr/>
                </a:tc>
                <a:tc>
                  <a:txBody>
                    <a:bodyPr/>
                    <a:lstStyle/>
                    <a:p>
                      <a:pPr algn="ctr"/>
                      <a:r>
                        <a:rPr lang="en-US" sz="2000" b="1" dirty="0"/>
                        <a:t>4</a:t>
                      </a:r>
                    </a:p>
                  </a:txBody>
                  <a:tcPr/>
                </a:tc>
                <a:extLst>
                  <a:ext uri="{0D108BD9-81ED-4DB2-BD59-A6C34878D82A}">
                    <a16:rowId xmlns:a16="http://schemas.microsoft.com/office/drawing/2014/main" val="10005"/>
                  </a:ext>
                </a:extLst>
              </a:tr>
              <a:tr h="387626">
                <a:tc>
                  <a:txBody>
                    <a:bodyPr/>
                    <a:lstStyle/>
                    <a:p>
                      <a:pPr algn="ctr"/>
                      <a:r>
                        <a:rPr lang="en-US" sz="2000" dirty="0"/>
                        <a:t>36</a:t>
                      </a:r>
                    </a:p>
                  </a:txBody>
                  <a:tcPr/>
                </a:tc>
                <a:tc>
                  <a:txBody>
                    <a:bodyPr/>
                    <a:lstStyle/>
                    <a:p>
                      <a:pPr algn="ctr"/>
                      <a:r>
                        <a:rPr lang="en-US" sz="2000" dirty="0"/>
                        <a:t>18</a:t>
                      </a:r>
                    </a:p>
                  </a:txBody>
                  <a:tcPr/>
                </a:tc>
                <a:tc>
                  <a:txBody>
                    <a:bodyPr/>
                    <a:lstStyle/>
                    <a:p>
                      <a:pPr algn="ctr"/>
                      <a:r>
                        <a:rPr lang="en-US" sz="2000" b="1" dirty="0"/>
                        <a:t>0</a:t>
                      </a:r>
                    </a:p>
                  </a:txBody>
                  <a:tcPr/>
                </a:tc>
                <a:tc>
                  <a:txBody>
                    <a:bodyPr/>
                    <a:lstStyle/>
                    <a:p>
                      <a:pPr algn="ctr"/>
                      <a:r>
                        <a:rPr lang="en-US" b="1" dirty="0"/>
                        <a:t>0</a:t>
                      </a:r>
                    </a:p>
                  </a:txBody>
                  <a:tcPr/>
                </a:tc>
                <a:tc>
                  <a:txBody>
                    <a:bodyPr/>
                    <a:lstStyle/>
                    <a:p>
                      <a:pPr algn="ctr"/>
                      <a:r>
                        <a:rPr lang="en-US" sz="2000" b="1" dirty="0"/>
                        <a:t>-11</a:t>
                      </a:r>
                    </a:p>
                  </a:txBody>
                  <a:tcPr/>
                </a:tc>
                <a:tc>
                  <a:txBody>
                    <a:bodyPr/>
                    <a:lstStyle/>
                    <a:p>
                      <a:pPr algn="ctr"/>
                      <a:r>
                        <a:rPr lang="en-US" sz="2000" b="1" dirty="0">
                          <a:effectLst/>
                        </a:rPr>
                        <a:t>121</a:t>
                      </a:r>
                    </a:p>
                  </a:txBody>
                  <a:tcPr/>
                </a:tc>
                <a:tc>
                  <a:txBody>
                    <a:bodyPr/>
                    <a:lstStyle/>
                    <a:p>
                      <a:pPr algn="ctr"/>
                      <a:r>
                        <a:rPr lang="en-US" sz="2000" b="1" dirty="0"/>
                        <a:t>0</a:t>
                      </a:r>
                    </a:p>
                  </a:txBody>
                  <a:tcPr/>
                </a:tc>
                <a:extLst>
                  <a:ext uri="{0D108BD9-81ED-4DB2-BD59-A6C34878D82A}">
                    <a16:rowId xmlns:a16="http://schemas.microsoft.com/office/drawing/2014/main" val="10006"/>
                  </a:ext>
                </a:extLst>
              </a:tr>
              <a:tr h="387626">
                <a:tc>
                  <a:txBody>
                    <a:bodyPr/>
                    <a:lstStyle/>
                    <a:p>
                      <a:pPr algn="ctr"/>
                      <a:r>
                        <a:rPr lang="en-US" sz="2000" dirty="0"/>
                        <a:t>38</a:t>
                      </a:r>
                    </a:p>
                  </a:txBody>
                  <a:tcPr/>
                </a:tc>
                <a:tc>
                  <a:txBody>
                    <a:bodyPr/>
                    <a:lstStyle/>
                    <a:p>
                      <a:pPr algn="ctr"/>
                      <a:r>
                        <a:rPr lang="en-US" sz="2000" dirty="0"/>
                        <a:t>26</a:t>
                      </a:r>
                    </a:p>
                  </a:txBody>
                  <a:tcPr/>
                </a:tc>
                <a:tc>
                  <a:txBody>
                    <a:bodyPr/>
                    <a:lstStyle/>
                    <a:p>
                      <a:pPr algn="ctr"/>
                      <a:r>
                        <a:rPr lang="en-US" sz="2000" b="1" dirty="0"/>
                        <a:t>2</a:t>
                      </a:r>
                    </a:p>
                  </a:txBody>
                  <a:tcPr/>
                </a:tc>
                <a:tc>
                  <a:txBody>
                    <a:bodyPr/>
                    <a:lstStyle/>
                    <a:p>
                      <a:pPr algn="ctr"/>
                      <a:r>
                        <a:rPr lang="en-US" b="1" dirty="0"/>
                        <a:t>4</a:t>
                      </a:r>
                    </a:p>
                  </a:txBody>
                  <a:tcPr/>
                </a:tc>
                <a:tc>
                  <a:txBody>
                    <a:bodyPr/>
                    <a:lstStyle/>
                    <a:p>
                      <a:pPr algn="ctr"/>
                      <a:r>
                        <a:rPr lang="en-US" sz="2000" b="1" dirty="0"/>
                        <a:t>-3</a:t>
                      </a:r>
                    </a:p>
                  </a:txBody>
                  <a:tcPr/>
                </a:tc>
                <a:tc>
                  <a:txBody>
                    <a:bodyPr/>
                    <a:lstStyle/>
                    <a:p>
                      <a:pPr algn="ctr"/>
                      <a:r>
                        <a:rPr lang="en-US" sz="2000" b="1" dirty="0">
                          <a:effectLst/>
                        </a:rPr>
                        <a:t>9</a:t>
                      </a:r>
                    </a:p>
                  </a:txBody>
                  <a:tcPr/>
                </a:tc>
                <a:tc>
                  <a:txBody>
                    <a:bodyPr/>
                    <a:lstStyle/>
                    <a:p>
                      <a:pPr algn="ctr"/>
                      <a:r>
                        <a:rPr lang="en-US" sz="2000" b="1" dirty="0"/>
                        <a:t>-6</a:t>
                      </a:r>
                    </a:p>
                  </a:txBody>
                  <a:tcPr/>
                </a:tc>
                <a:extLst>
                  <a:ext uri="{0D108BD9-81ED-4DB2-BD59-A6C34878D82A}">
                    <a16:rowId xmlns:a16="http://schemas.microsoft.com/office/drawing/2014/main" val="10007"/>
                  </a:ext>
                </a:extLst>
              </a:tr>
              <a:tr h="387626">
                <a:tc>
                  <a:txBody>
                    <a:bodyPr/>
                    <a:lstStyle/>
                    <a:p>
                      <a:pPr algn="ctr"/>
                      <a:r>
                        <a:rPr lang="en-US" sz="2000" dirty="0"/>
                        <a:t>39</a:t>
                      </a:r>
                    </a:p>
                  </a:txBody>
                  <a:tcPr/>
                </a:tc>
                <a:tc>
                  <a:txBody>
                    <a:bodyPr/>
                    <a:lstStyle/>
                    <a:p>
                      <a:pPr algn="ctr"/>
                      <a:r>
                        <a:rPr lang="en-US" sz="2000" dirty="0"/>
                        <a:t>35</a:t>
                      </a:r>
                    </a:p>
                  </a:txBody>
                  <a:tcPr/>
                </a:tc>
                <a:tc>
                  <a:txBody>
                    <a:bodyPr/>
                    <a:lstStyle/>
                    <a:p>
                      <a:pPr algn="ctr"/>
                      <a:r>
                        <a:rPr lang="en-US" sz="2000" b="1" dirty="0"/>
                        <a:t>3</a:t>
                      </a:r>
                    </a:p>
                  </a:txBody>
                  <a:tcPr/>
                </a:tc>
                <a:tc>
                  <a:txBody>
                    <a:bodyPr/>
                    <a:lstStyle/>
                    <a:p>
                      <a:pPr algn="ctr"/>
                      <a:r>
                        <a:rPr lang="en-US" b="1" dirty="0"/>
                        <a:t>9</a:t>
                      </a:r>
                    </a:p>
                  </a:txBody>
                  <a:tcPr/>
                </a:tc>
                <a:tc>
                  <a:txBody>
                    <a:bodyPr/>
                    <a:lstStyle/>
                    <a:p>
                      <a:pPr algn="ctr"/>
                      <a:r>
                        <a:rPr lang="en-US" sz="2000" b="1" dirty="0"/>
                        <a:t>6</a:t>
                      </a:r>
                    </a:p>
                  </a:txBody>
                  <a:tcPr/>
                </a:tc>
                <a:tc>
                  <a:txBody>
                    <a:bodyPr/>
                    <a:lstStyle/>
                    <a:p>
                      <a:pPr algn="ctr"/>
                      <a:r>
                        <a:rPr lang="en-US" sz="2000" b="1" dirty="0">
                          <a:effectLst/>
                        </a:rPr>
                        <a:t>36</a:t>
                      </a:r>
                    </a:p>
                  </a:txBody>
                  <a:tcPr/>
                </a:tc>
                <a:tc>
                  <a:txBody>
                    <a:bodyPr/>
                    <a:lstStyle/>
                    <a:p>
                      <a:pPr algn="ctr"/>
                      <a:r>
                        <a:rPr lang="en-US" sz="2000" b="1" dirty="0"/>
                        <a:t>18</a:t>
                      </a:r>
                    </a:p>
                  </a:txBody>
                  <a:tcPr/>
                </a:tc>
                <a:extLst>
                  <a:ext uri="{0D108BD9-81ED-4DB2-BD59-A6C34878D82A}">
                    <a16:rowId xmlns:a16="http://schemas.microsoft.com/office/drawing/2014/main" val="10008"/>
                  </a:ext>
                </a:extLst>
              </a:tr>
              <a:tr h="387626">
                <a:tc>
                  <a:txBody>
                    <a:bodyPr/>
                    <a:lstStyle/>
                    <a:p>
                      <a:pPr algn="ctr"/>
                      <a:r>
                        <a:rPr lang="en-US" sz="2000" dirty="0"/>
                        <a:t>42</a:t>
                      </a:r>
                    </a:p>
                  </a:txBody>
                  <a:tcPr/>
                </a:tc>
                <a:tc>
                  <a:txBody>
                    <a:bodyPr/>
                    <a:lstStyle/>
                    <a:p>
                      <a:pPr algn="ctr"/>
                      <a:r>
                        <a:rPr lang="en-US" sz="2000" dirty="0"/>
                        <a:t>35</a:t>
                      </a:r>
                    </a:p>
                  </a:txBody>
                  <a:tcPr/>
                </a:tc>
                <a:tc>
                  <a:txBody>
                    <a:bodyPr/>
                    <a:lstStyle/>
                    <a:p>
                      <a:pPr algn="ctr"/>
                      <a:r>
                        <a:rPr lang="en-US" sz="2000" b="1" dirty="0"/>
                        <a:t>6</a:t>
                      </a:r>
                    </a:p>
                  </a:txBody>
                  <a:tcPr/>
                </a:tc>
                <a:tc>
                  <a:txBody>
                    <a:bodyPr/>
                    <a:lstStyle/>
                    <a:p>
                      <a:pPr algn="ctr"/>
                      <a:r>
                        <a:rPr lang="en-US" b="1" dirty="0"/>
                        <a:t>36</a:t>
                      </a:r>
                    </a:p>
                  </a:txBody>
                  <a:tcPr/>
                </a:tc>
                <a:tc>
                  <a:txBody>
                    <a:bodyPr/>
                    <a:lstStyle/>
                    <a:p>
                      <a:pPr algn="ctr"/>
                      <a:r>
                        <a:rPr lang="en-US" sz="2000" b="1" dirty="0"/>
                        <a:t>6</a:t>
                      </a:r>
                    </a:p>
                  </a:txBody>
                  <a:tcPr/>
                </a:tc>
                <a:tc>
                  <a:txBody>
                    <a:bodyPr/>
                    <a:lstStyle/>
                    <a:p>
                      <a:pPr algn="ctr"/>
                      <a:r>
                        <a:rPr lang="en-US" sz="2000" b="1" dirty="0">
                          <a:effectLst/>
                        </a:rPr>
                        <a:t>36</a:t>
                      </a:r>
                    </a:p>
                  </a:txBody>
                  <a:tcPr/>
                </a:tc>
                <a:tc>
                  <a:txBody>
                    <a:bodyPr/>
                    <a:lstStyle/>
                    <a:p>
                      <a:pPr algn="ctr"/>
                      <a:r>
                        <a:rPr lang="en-US" sz="2000" b="1" dirty="0"/>
                        <a:t>36</a:t>
                      </a:r>
                    </a:p>
                  </a:txBody>
                  <a:tcPr/>
                </a:tc>
                <a:extLst>
                  <a:ext uri="{0D108BD9-81ED-4DB2-BD59-A6C34878D82A}">
                    <a16:rowId xmlns:a16="http://schemas.microsoft.com/office/drawing/2014/main" val="10009"/>
                  </a:ext>
                </a:extLst>
              </a:tr>
              <a:tr h="387626">
                <a:tc>
                  <a:txBody>
                    <a:bodyPr/>
                    <a:lstStyle/>
                    <a:p>
                      <a:pPr algn="ctr"/>
                      <a:r>
                        <a:rPr lang="en-US" sz="2000" dirty="0"/>
                        <a:t>55</a:t>
                      </a:r>
                    </a:p>
                  </a:txBody>
                  <a:tcPr/>
                </a:tc>
                <a:tc>
                  <a:txBody>
                    <a:bodyPr/>
                    <a:lstStyle/>
                    <a:p>
                      <a:pPr algn="ctr"/>
                      <a:r>
                        <a:rPr lang="en-US" sz="2000" dirty="0"/>
                        <a:t>46</a:t>
                      </a:r>
                    </a:p>
                  </a:txBody>
                  <a:tcPr/>
                </a:tc>
                <a:tc>
                  <a:txBody>
                    <a:bodyPr/>
                    <a:lstStyle/>
                    <a:p>
                      <a:pPr algn="ctr"/>
                      <a:r>
                        <a:rPr lang="en-US" sz="2000" b="1" dirty="0"/>
                        <a:t>19</a:t>
                      </a:r>
                    </a:p>
                  </a:txBody>
                  <a:tcPr/>
                </a:tc>
                <a:tc>
                  <a:txBody>
                    <a:bodyPr/>
                    <a:lstStyle/>
                    <a:p>
                      <a:pPr algn="ctr"/>
                      <a:r>
                        <a:rPr lang="en-US" b="1" dirty="0"/>
                        <a:t>361</a:t>
                      </a:r>
                    </a:p>
                  </a:txBody>
                  <a:tcPr/>
                </a:tc>
                <a:tc>
                  <a:txBody>
                    <a:bodyPr/>
                    <a:lstStyle/>
                    <a:p>
                      <a:pPr algn="ctr"/>
                      <a:r>
                        <a:rPr lang="en-US" sz="2000" b="1" dirty="0"/>
                        <a:t>17</a:t>
                      </a:r>
                    </a:p>
                  </a:txBody>
                  <a:tcPr/>
                </a:tc>
                <a:tc>
                  <a:txBody>
                    <a:bodyPr/>
                    <a:lstStyle/>
                    <a:p>
                      <a:pPr algn="ctr"/>
                      <a:r>
                        <a:rPr lang="en-US" sz="2000" b="1" dirty="0">
                          <a:effectLst/>
                        </a:rPr>
                        <a:t>289</a:t>
                      </a:r>
                    </a:p>
                  </a:txBody>
                  <a:tcPr/>
                </a:tc>
                <a:tc>
                  <a:txBody>
                    <a:bodyPr/>
                    <a:lstStyle/>
                    <a:p>
                      <a:pPr algn="ctr"/>
                      <a:r>
                        <a:rPr lang="en-US" sz="2000" b="1" dirty="0"/>
                        <a:t>323</a:t>
                      </a:r>
                    </a:p>
                  </a:txBody>
                  <a:tcPr/>
                </a:tc>
                <a:extLst>
                  <a:ext uri="{0D108BD9-81ED-4DB2-BD59-A6C34878D82A}">
                    <a16:rowId xmlns:a16="http://schemas.microsoft.com/office/drawing/2014/main" val="10010"/>
                  </a:ext>
                </a:extLst>
              </a:tr>
              <a:tr h="116287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mn-lt"/>
                          <a:ea typeface="Calibri"/>
                          <a:cs typeface="Times New Roman"/>
                        </a:rPr>
                        <a:t>∑x</a:t>
                      </a:r>
                      <a:r>
                        <a:rPr lang="en-US" sz="2400" dirty="0">
                          <a:latin typeface="+mn-lt"/>
                          <a:ea typeface="Calibri"/>
                          <a:cs typeface="Times New Roman"/>
                        </a:rPr>
                        <a:t>= 360</a:t>
                      </a:r>
                    </a:p>
                    <a:p>
                      <a:pPr algn="ctr"/>
                      <a:endParaRPr lang="en-US" sz="2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mn-lt"/>
                          <a:ea typeface="Calibri"/>
                          <a:cs typeface="Times New Roman"/>
                        </a:rPr>
                        <a:t>∑y</a:t>
                      </a:r>
                      <a:r>
                        <a:rPr lang="en-US" sz="2400" dirty="0">
                          <a:latin typeface="+mn-lt"/>
                          <a:ea typeface="Calibri"/>
                          <a:cs typeface="Times New Roman"/>
                        </a:rPr>
                        <a:t>= 290</a:t>
                      </a:r>
                    </a:p>
                    <a:p>
                      <a:pPr algn="ctr"/>
                      <a:endParaRPr lang="en-US" sz="2400" dirty="0"/>
                    </a:p>
                  </a:txBody>
                  <a:tcPr/>
                </a:tc>
                <a:tc>
                  <a:txBody>
                    <a:bodyPr/>
                    <a:lstStyle/>
                    <a:p>
                      <a:pPr algn="ctr"/>
                      <a:r>
                        <a:rPr lang="en-US" sz="2800" b="1" dirty="0">
                          <a:latin typeface="+mn-lt"/>
                          <a:ea typeface="Calibri"/>
                          <a:cs typeface="Times New Roman"/>
                        </a:rPr>
                        <a:t>∑</a:t>
                      </a:r>
                      <a:r>
                        <a:rPr lang="en-US" sz="2800" dirty="0">
                          <a:latin typeface="+mn-lt"/>
                          <a:ea typeface="Calibri"/>
                          <a:cs typeface="Times New Roman"/>
                        </a:rPr>
                        <a:t>=  0</a:t>
                      </a:r>
                      <a:endParaRPr lang="en-US" sz="2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baseline="0" dirty="0">
                          <a:solidFill>
                            <a:srgbClr val="FF0000"/>
                          </a:solidFill>
                          <a:latin typeface="+mn-lt"/>
                          <a:ea typeface="Calibri"/>
                          <a:cs typeface="Times New Roman"/>
                        </a:rPr>
                        <a:t> </a:t>
                      </a:r>
                      <a:r>
                        <a:rPr lang="en-US" sz="2400" b="1" dirty="0">
                          <a:latin typeface="+mn-lt"/>
                          <a:ea typeface="Calibri"/>
                          <a:cs typeface="Times New Roman"/>
                        </a:rPr>
                        <a:t>∑</a:t>
                      </a:r>
                      <a:r>
                        <a:rPr lang="en-US" sz="2400" dirty="0">
                          <a:latin typeface="+mn-lt"/>
                          <a:ea typeface="Calibri"/>
                          <a:cs typeface="Times New Roman"/>
                        </a:rPr>
                        <a:t>= </a:t>
                      </a:r>
                      <a:r>
                        <a:rPr lang="en-US" sz="2400" b="1" baseline="0" dirty="0">
                          <a:solidFill>
                            <a:srgbClr val="FF0000"/>
                          </a:solidFill>
                          <a:latin typeface="+mn-lt"/>
                          <a:ea typeface="Calibri"/>
                          <a:cs typeface="Times New Roman"/>
                        </a:rPr>
                        <a:t>   648</a:t>
                      </a:r>
                      <a:r>
                        <a:rPr lang="en-US" sz="2400" b="1" baseline="30000" dirty="0">
                          <a:solidFill>
                            <a:srgbClr val="FF0000"/>
                          </a:solidFill>
                          <a:latin typeface="+mn-lt"/>
                          <a:ea typeface="Calibri"/>
                          <a:cs typeface="Times New Roman"/>
                        </a:rPr>
                        <a:t>    </a:t>
                      </a:r>
                      <a:endParaRPr lang="en-US" sz="2400" dirty="0">
                        <a:latin typeface="+mn-lt"/>
                        <a:ea typeface="Calibri"/>
                        <a:cs typeface="Times New Roman"/>
                      </a:endParaRPr>
                    </a:p>
                    <a:p>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b="1" dirty="0">
                          <a:latin typeface="+mn-lt"/>
                          <a:ea typeface="Calibri"/>
                          <a:cs typeface="Times New Roman"/>
                        </a:rPr>
                        <a:t>∑</a:t>
                      </a:r>
                      <a:r>
                        <a:rPr lang="en-US" sz="2800" dirty="0">
                          <a:latin typeface="+mn-lt"/>
                          <a:ea typeface="Calibri"/>
                          <a:cs typeface="Times New Roman"/>
                        </a:rPr>
                        <a:t>=  0</a:t>
                      </a:r>
                      <a:endParaRPr lang="en-US" sz="2800" dirty="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latin typeface="+mn-lt"/>
                          <a:ea typeface="Calibri"/>
                          <a:cs typeface="Times New Roman"/>
                        </a:rPr>
                        <a:t>∑</a:t>
                      </a:r>
                      <a:r>
                        <a:rPr lang="en-US" sz="2400" b="1" dirty="0">
                          <a:solidFill>
                            <a:srgbClr val="FF0000"/>
                          </a:solidFill>
                          <a:latin typeface="+mn-lt"/>
                          <a:ea typeface="Calibri"/>
                          <a:cs typeface="Times New Roman"/>
                        </a:rPr>
                        <a:t> = 598</a:t>
                      </a:r>
                      <a:endParaRPr lang="en-US" sz="2400" dirty="0">
                        <a:latin typeface="+mn-lt"/>
                        <a:ea typeface="Calibri"/>
                        <a:cs typeface="Times New Roman"/>
                      </a:endParaRPr>
                    </a:p>
                    <a:p>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a:solidFill>
                            <a:srgbClr val="CC0000"/>
                          </a:solidFill>
                          <a:latin typeface="+mn-lt"/>
                          <a:ea typeface="Calibri"/>
                          <a:cs typeface="Times New Roman"/>
                        </a:rPr>
                        <a:t>∑</a:t>
                      </a:r>
                      <a:r>
                        <a:rPr lang="en-US" sz="2400" dirty="0">
                          <a:solidFill>
                            <a:srgbClr val="CC0000"/>
                          </a:solidFill>
                          <a:latin typeface="+mn-lt"/>
                          <a:ea typeface="Calibri"/>
                          <a:cs typeface="Times New Roman"/>
                        </a:rPr>
                        <a:t>= </a:t>
                      </a:r>
                      <a:r>
                        <a:rPr lang="en-US" sz="2400" b="1" dirty="0">
                          <a:solidFill>
                            <a:srgbClr val="CC0000"/>
                          </a:solidFill>
                          <a:latin typeface="+mn-lt"/>
                          <a:ea typeface="Calibri"/>
                          <a:cs typeface="Times New Roman"/>
                        </a:rPr>
                        <a:t>494</a:t>
                      </a:r>
                    </a:p>
                    <a:p>
                      <a:endParaRPr lang="en-US" dirty="0"/>
                    </a:p>
                  </a:txBody>
                  <a:tcPr/>
                </a:tc>
                <a:extLst>
                  <a:ext uri="{0D108BD9-81ED-4DB2-BD59-A6C34878D82A}">
                    <a16:rowId xmlns:a16="http://schemas.microsoft.com/office/drawing/2014/main" val="10011"/>
                  </a:ext>
                </a:extLst>
              </a:tr>
            </a:tbl>
          </a:graphicData>
        </a:graphic>
      </p:graphicFrame>
      <p:pic>
        <p:nvPicPr>
          <p:cNvPr id="2051" name="Picture 3"/>
          <p:cNvPicPr>
            <a:picLocks noChangeAspect="1" noChangeArrowheads="1"/>
          </p:cNvPicPr>
          <p:nvPr/>
        </p:nvPicPr>
        <p:blipFill>
          <a:blip r:embed="rId2" cstate="print"/>
          <a:srcRect/>
          <a:stretch>
            <a:fillRect/>
          </a:stretch>
        </p:blipFill>
        <p:spPr bwMode="auto">
          <a:xfrm>
            <a:off x="3048000" y="990600"/>
            <a:ext cx="1200150" cy="533400"/>
          </a:xfrm>
          <a:prstGeom prst="rect">
            <a:avLst/>
          </a:prstGeom>
          <a:noFill/>
          <a:ln w="9525">
            <a:noFill/>
            <a:miter lim="800000"/>
            <a:headEnd/>
            <a:tailEnd/>
          </a:ln>
          <a:effectLst/>
        </p:spPr>
      </p:pic>
      <p:pic>
        <p:nvPicPr>
          <p:cNvPr id="2052" name="Picture 4"/>
          <p:cNvPicPr>
            <a:picLocks noChangeAspect="1" noChangeArrowheads="1"/>
          </p:cNvPicPr>
          <p:nvPr/>
        </p:nvPicPr>
        <p:blipFill>
          <a:blip r:embed="rId3" cstate="print"/>
          <a:srcRect/>
          <a:stretch>
            <a:fillRect/>
          </a:stretch>
        </p:blipFill>
        <p:spPr bwMode="auto">
          <a:xfrm>
            <a:off x="7162800" y="1066800"/>
            <a:ext cx="1781175" cy="552450"/>
          </a:xfrm>
          <a:prstGeom prst="rect">
            <a:avLst/>
          </a:prstGeom>
          <a:noFill/>
          <a:ln w="9525">
            <a:noFill/>
            <a:miter lim="800000"/>
            <a:headEnd/>
            <a:tailEnd/>
          </a:ln>
          <a:effectLst/>
        </p:spPr>
      </p:pic>
      <p:pic>
        <p:nvPicPr>
          <p:cNvPr id="2053" name="Picture 5"/>
          <p:cNvPicPr>
            <a:picLocks noChangeAspect="1" noChangeArrowheads="1"/>
          </p:cNvPicPr>
          <p:nvPr/>
        </p:nvPicPr>
        <p:blipFill>
          <a:blip r:embed="rId4" cstate="print"/>
          <a:srcRect/>
          <a:stretch>
            <a:fillRect/>
          </a:stretch>
        </p:blipFill>
        <p:spPr bwMode="auto">
          <a:xfrm>
            <a:off x="5791200" y="1066800"/>
            <a:ext cx="1171575" cy="609600"/>
          </a:xfrm>
          <a:prstGeom prst="rect">
            <a:avLst/>
          </a:prstGeom>
          <a:noFill/>
          <a:ln w="9525">
            <a:noFill/>
            <a:miter lim="800000"/>
            <a:headEnd/>
            <a:tailEnd/>
          </a:ln>
          <a:effectLst/>
        </p:spPr>
      </p:pic>
    </p:spTree>
    <p:extLst>
      <p:ext uri="{BB962C8B-B14F-4D97-AF65-F5344CB8AC3E}">
        <p14:creationId xmlns:p14="http://schemas.microsoft.com/office/powerpoint/2010/main" val="28790679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5029200"/>
          </a:xfrm>
        </p:spPr>
        <p:txBody>
          <a:bodyPr>
            <a:normAutofit fontScale="25000" lnSpcReduction="20000"/>
          </a:bodyPr>
          <a:lstStyle/>
          <a:p>
            <a:pPr marL="0" lvl="0" indent="0">
              <a:buNone/>
            </a:pPr>
            <a:r>
              <a:rPr lang="en-US" sz="11200" b="1" u="sng" dirty="0">
                <a:solidFill>
                  <a:prstClr val="black"/>
                </a:solidFill>
              </a:rPr>
              <a:t>Re</a:t>
            </a:r>
            <a:r>
              <a:rPr lang="en-US" sz="9600" b="1" u="sng" dirty="0">
                <a:solidFill>
                  <a:prstClr val="black"/>
                </a:solidFill>
              </a:rPr>
              <a:t>gression equation of </a:t>
            </a:r>
            <a:r>
              <a:rPr lang="en-US" sz="9600" b="1" u="sng" dirty="0">
                <a:solidFill>
                  <a:srgbClr val="FF00FF"/>
                </a:solidFill>
                <a:effectLst>
                  <a:outerShdw blurRad="38100" dist="38100" dir="2700000" algn="tl">
                    <a:srgbClr val="000000">
                      <a:alpha val="43137"/>
                    </a:srgbClr>
                  </a:outerShdw>
                </a:effectLst>
              </a:rPr>
              <a:t> </a:t>
            </a:r>
            <a:r>
              <a:rPr lang="en-US" sz="9600" b="1" i="1" u="sng" dirty="0">
                <a:solidFill>
                  <a:srgbClr val="FF00FF"/>
                </a:solidFill>
                <a:effectLst>
                  <a:outerShdw blurRad="38100" dist="38100" dir="2700000" algn="tl">
                    <a:srgbClr val="000000">
                      <a:alpha val="43137"/>
                    </a:srgbClr>
                  </a:outerShdw>
                </a:effectLst>
              </a:rPr>
              <a:t>x </a:t>
            </a:r>
            <a:r>
              <a:rPr lang="en-US" sz="9600" b="1" u="sng" dirty="0">
                <a:solidFill>
                  <a:srgbClr val="FF00FF"/>
                </a:solidFill>
                <a:effectLst>
                  <a:outerShdw blurRad="38100" dist="38100" dir="2700000" algn="tl">
                    <a:srgbClr val="000000">
                      <a:alpha val="43137"/>
                    </a:srgbClr>
                  </a:outerShdw>
                </a:effectLst>
              </a:rPr>
              <a:t> on </a:t>
            </a:r>
            <a:r>
              <a:rPr lang="en-US" sz="9600" b="1" i="1" u="sng" dirty="0">
                <a:solidFill>
                  <a:srgbClr val="FF00FF"/>
                </a:solidFill>
                <a:effectLst>
                  <a:outerShdw blurRad="38100" dist="38100" dir="2700000" algn="tl">
                    <a:srgbClr val="000000">
                      <a:alpha val="43137"/>
                    </a:srgbClr>
                  </a:outerShdw>
                </a:effectLst>
              </a:rPr>
              <a:t>y</a:t>
            </a:r>
            <a:r>
              <a:rPr lang="en-US" sz="9600" b="1" u="sng" dirty="0">
                <a:solidFill>
                  <a:srgbClr val="FF00FF"/>
                </a:solidFill>
                <a:effectLst>
                  <a:outerShdw blurRad="38100" dist="38100" dir="2700000" algn="tl">
                    <a:srgbClr val="000000">
                      <a:alpha val="43137"/>
                    </a:srgbClr>
                  </a:outerShdw>
                </a:effectLst>
              </a:rPr>
              <a:t> </a:t>
            </a:r>
            <a:r>
              <a:rPr lang="en-US" sz="9600" i="1" dirty="0">
                <a:solidFill>
                  <a:prstClr val="black"/>
                </a:solidFill>
              </a:rPr>
              <a:t>is: </a:t>
            </a:r>
          </a:p>
          <a:p>
            <a:endParaRPr lang="en-US" sz="9600" dirty="0"/>
          </a:p>
          <a:p>
            <a:pPr>
              <a:buNone/>
            </a:pPr>
            <a:endParaRPr lang="en-US" sz="5500" dirty="0"/>
          </a:p>
          <a:p>
            <a:pPr marL="0" lvl="0" indent="0">
              <a:buNone/>
            </a:pPr>
            <a:r>
              <a:rPr lang="en-US" sz="5500" i="1" dirty="0"/>
              <a:t> </a:t>
            </a:r>
          </a:p>
          <a:p>
            <a:pPr marL="0" lvl="0" indent="0">
              <a:buNone/>
            </a:pPr>
            <a:endParaRPr lang="en-US" sz="5500" i="1" dirty="0"/>
          </a:p>
          <a:p>
            <a:pPr marL="0" lvl="0" indent="0">
              <a:buNone/>
            </a:pPr>
            <a:endParaRPr lang="en-US" sz="5500" i="1" dirty="0"/>
          </a:p>
          <a:p>
            <a:pPr marL="0" lvl="0" indent="0">
              <a:buNone/>
            </a:pPr>
            <a:endParaRPr lang="en-US" sz="5500" i="1" dirty="0"/>
          </a:p>
          <a:p>
            <a:pPr marL="0" lvl="0" indent="0">
              <a:buNone/>
            </a:pPr>
            <a:endParaRPr lang="en-US" sz="5500" i="1" dirty="0"/>
          </a:p>
          <a:p>
            <a:pPr marL="0" lvl="0" indent="0">
              <a:buNone/>
            </a:pPr>
            <a:endParaRPr lang="en-US" sz="5500" i="1" dirty="0"/>
          </a:p>
          <a:p>
            <a:pPr marL="0" lvl="0" indent="0">
              <a:buNone/>
            </a:pPr>
            <a:endParaRPr lang="en-US" sz="9600" i="1" dirty="0"/>
          </a:p>
          <a:p>
            <a:pPr marL="0" indent="0">
              <a:buNone/>
            </a:pPr>
            <a:r>
              <a:rPr lang="en-US" sz="9600" b="1" i="1" dirty="0"/>
              <a:t>                   </a:t>
            </a:r>
          </a:p>
          <a:p>
            <a:pPr marL="0" indent="0">
              <a:buNone/>
            </a:pPr>
            <a:endParaRPr lang="en-US" sz="9600" b="1" i="1" dirty="0"/>
          </a:p>
          <a:p>
            <a:pPr marL="0" indent="0">
              <a:buNone/>
            </a:pPr>
            <a:r>
              <a:rPr lang="en-US" sz="9600" b="1" i="1" dirty="0"/>
              <a:t>           (x - 36) = 0.8261 (y - 29)       </a:t>
            </a:r>
          </a:p>
          <a:p>
            <a:pPr marL="0" lvl="0" indent="0">
              <a:buNone/>
            </a:pPr>
            <a:r>
              <a:rPr lang="en-US" sz="9600" b="1" i="1" dirty="0"/>
              <a:t>            x = 12.0435 + 0.8261</a:t>
            </a:r>
            <a:r>
              <a:rPr lang="en-US" sz="9600" b="1" i="1" dirty="0">
                <a:solidFill>
                  <a:srgbClr val="CC0000"/>
                </a:solidFill>
              </a:rPr>
              <a:t> </a:t>
            </a:r>
            <a:r>
              <a:rPr lang="en-US" sz="12800" b="1" i="1" dirty="0">
                <a:solidFill>
                  <a:srgbClr val="CC0000"/>
                </a:solidFill>
              </a:rPr>
              <a:t>y</a:t>
            </a:r>
          </a:p>
          <a:p>
            <a:pPr marL="0" lvl="0" indent="0">
              <a:buNone/>
            </a:pPr>
            <a:endParaRPr lang="en-US" sz="7200" b="1" i="1" dirty="0">
              <a:solidFill>
                <a:srgbClr val="CC0000"/>
              </a:solidFill>
            </a:endParaRPr>
          </a:p>
          <a:p>
            <a:pPr marL="0" lvl="0" indent="0">
              <a:buNone/>
            </a:pPr>
            <a:r>
              <a:rPr lang="en-US" sz="11200" b="1" i="1" dirty="0">
                <a:solidFill>
                  <a:srgbClr val="CC0000"/>
                </a:solidFill>
              </a:rPr>
              <a:t>we have denoted </a:t>
            </a:r>
            <a:r>
              <a:rPr lang="en-US" sz="14400" b="1" i="1" dirty="0">
                <a:solidFill>
                  <a:srgbClr val="0000FF"/>
                </a:solidFill>
                <a:effectLst>
                  <a:outerShdw blurRad="38100" dist="38100" dir="2700000" algn="tl">
                    <a:srgbClr val="000000">
                      <a:alpha val="43137"/>
                    </a:srgbClr>
                  </a:outerShdw>
                </a:effectLst>
              </a:rPr>
              <a:t>x</a:t>
            </a:r>
            <a:r>
              <a:rPr lang="en-US" sz="14400" b="1" i="1" dirty="0">
                <a:solidFill>
                  <a:srgbClr val="CC0000"/>
                </a:solidFill>
              </a:rPr>
              <a:t> </a:t>
            </a:r>
            <a:r>
              <a:rPr lang="en-US" sz="11200" b="1" i="1" dirty="0">
                <a:solidFill>
                  <a:srgbClr val="CC0000"/>
                </a:solidFill>
              </a:rPr>
              <a:t>as Husbands age and </a:t>
            </a:r>
            <a:r>
              <a:rPr lang="en-US" sz="11200" b="1" i="1" dirty="0">
                <a:solidFill>
                  <a:srgbClr val="0000FF"/>
                </a:solidFill>
                <a:effectLst>
                  <a:outerShdw blurRad="38100" dist="38100" dir="2700000" algn="tl">
                    <a:srgbClr val="000000">
                      <a:alpha val="43137"/>
                    </a:srgbClr>
                  </a:outerShdw>
                </a:effectLst>
              </a:rPr>
              <a:t>Y</a:t>
            </a:r>
            <a:r>
              <a:rPr lang="en-US" sz="11200" b="1" i="1" dirty="0">
                <a:solidFill>
                  <a:srgbClr val="CC0000"/>
                </a:solidFill>
              </a:rPr>
              <a:t> as </a:t>
            </a:r>
            <a:r>
              <a:rPr lang="en-US" sz="11200" b="1" i="1" dirty="0" err="1">
                <a:solidFill>
                  <a:srgbClr val="CC0000"/>
                </a:solidFill>
              </a:rPr>
              <a:t>wifes</a:t>
            </a:r>
            <a:r>
              <a:rPr lang="en-US" sz="11200" b="1" i="1" dirty="0">
                <a:solidFill>
                  <a:srgbClr val="CC0000"/>
                </a:solidFill>
              </a:rPr>
              <a:t> age:</a:t>
            </a:r>
          </a:p>
          <a:p>
            <a:pPr marL="0" lvl="0" indent="0">
              <a:buNone/>
            </a:pPr>
            <a:r>
              <a:rPr lang="en-US" sz="11200" b="1" i="1" dirty="0">
                <a:solidFill>
                  <a:srgbClr val="CC0000"/>
                </a:solidFill>
              </a:rPr>
              <a:t> Age of </a:t>
            </a:r>
            <a:r>
              <a:rPr lang="en-US" sz="11200" b="1" i="1" dirty="0">
                <a:solidFill>
                  <a:srgbClr val="0000FF"/>
                </a:solidFill>
              </a:rPr>
              <a:t>Husband (x)</a:t>
            </a:r>
            <a:r>
              <a:rPr lang="en-US" sz="11200" b="1" i="1" dirty="0">
                <a:solidFill>
                  <a:srgbClr val="CC0000"/>
                </a:solidFill>
              </a:rPr>
              <a:t> when </a:t>
            </a:r>
            <a:r>
              <a:rPr lang="en-US" sz="11200" b="1" i="1" dirty="0" err="1">
                <a:solidFill>
                  <a:srgbClr val="0000FF"/>
                </a:solidFill>
              </a:rPr>
              <a:t>wifes</a:t>
            </a:r>
            <a:r>
              <a:rPr lang="en-US" sz="11200" b="1" i="1" dirty="0">
                <a:solidFill>
                  <a:srgbClr val="0000FF"/>
                </a:solidFill>
              </a:rPr>
              <a:t>’ age is 25 (y) </a:t>
            </a:r>
            <a:r>
              <a:rPr lang="en-US" sz="11200" b="1" i="1" dirty="0">
                <a:solidFill>
                  <a:srgbClr val="CC0000"/>
                </a:solidFill>
              </a:rPr>
              <a:t>is given:</a:t>
            </a:r>
            <a:endParaRPr lang="en-US" sz="9600" i="1" dirty="0">
              <a:solidFill>
                <a:srgbClr val="CC0000"/>
              </a:solidFill>
            </a:endParaRPr>
          </a:p>
          <a:p>
            <a:pPr marL="0" indent="0">
              <a:buNone/>
            </a:pPr>
            <a:r>
              <a:rPr lang="en-US" sz="9600" i="1" dirty="0"/>
              <a:t>                     </a:t>
            </a:r>
            <a:r>
              <a:rPr lang="en-US" sz="9600" b="1" dirty="0"/>
              <a:t>x = 12.0435 + 0.8261</a:t>
            </a:r>
            <a:r>
              <a:rPr lang="en-US" sz="9600" b="1" dirty="0">
                <a:solidFill>
                  <a:srgbClr val="CC0000"/>
                </a:solidFill>
              </a:rPr>
              <a:t> </a:t>
            </a:r>
            <a:r>
              <a:rPr lang="en-US" sz="12800" b="1" dirty="0">
                <a:solidFill>
                  <a:srgbClr val="CC0000"/>
                </a:solidFill>
              </a:rPr>
              <a:t>y</a:t>
            </a:r>
            <a:endParaRPr lang="en-US" sz="9600" b="1" dirty="0">
              <a:solidFill>
                <a:srgbClr val="CC0000"/>
              </a:solidFill>
            </a:endParaRPr>
          </a:p>
          <a:p>
            <a:pPr marL="0" indent="0">
              <a:buNone/>
            </a:pPr>
            <a:r>
              <a:rPr lang="en-US" sz="9600" b="1" dirty="0"/>
              <a:t>                    x = 12.0435 + 0.8261</a:t>
            </a:r>
            <a:r>
              <a:rPr lang="en-US" sz="9600" b="1" dirty="0">
                <a:solidFill>
                  <a:srgbClr val="CC0000"/>
                </a:solidFill>
              </a:rPr>
              <a:t> (25)</a:t>
            </a:r>
          </a:p>
          <a:p>
            <a:pPr marL="0" indent="0">
              <a:buNone/>
            </a:pPr>
            <a:r>
              <a:rPr lang="en-US" sz="9600" b="1" i="1" dirty="0">
                <a:solidFill>
                  <a:srgbClr val="CC0000"/>
                </a:solidFill>
              </a:rPr>
              <a:t>Age of </a:t>
            </a:r>
            <a:r>
              <a:rPr lang="en-US" sz="9600" b="1" dirty="0">
                <a:solidFill>
                  <a:srgbClr val="0000FF"/>
                </a:solidFill>
              </a:rPr>
              <a:t>Husband (x) = 32.69 </a:t>
            </a:r>
            <a:r>
              <a:rPr lang="en-US" sz="9600" b="1" i="1" dirty="0">
                <a:solidFill>
                  <a:srgbClr val="CC0000"/>
                </a:solidFill>
              </a:rPr>
              <a:t>when </a:t>
            </a:r>
            <a:r>
              <a:rPr lang="en-US" sz="9600" b="1" dirty="0" err="1">
                <a:solidFill>
                  <a:srgbClr val="0000FF"/>
                </a:solidFill>
              </a:rPr>
              <a:t>wifes</a:t>
            </a:r>
            <a:r>
              <a:rPr lang="en-US" sz="9600" b="1" dirty="0">
                <a:solidFill>
                  <a:srgbClr val="0000FF"/>
                </a:solidFill>
              </a:rPr>
              <a:t> age is 25 yrs</a:t>
            </a:r>
            <a:r>
              <a:rPr lang="en-US" sz="9600" b="1" i="1" dirty="0">
                <a:solidFill>
                  <a:srgbClr val="CC0000"/>
                </a:solidFill>
              </a:rPr>
              <a:t>.</a:t>
            </a:r>
          </a:p>
          <a:p>
            <a:pPr marL="0" indent="0">
              <a:buNone/>
            </a:pPr>
            <a:endParaRPr lang="en-US" sz="5500" i="1" dirty="0">
              <a:solidFill>
                <a:srgbClr val="CC0000"/>
              </a:solidFill>
            </a:endParaRPr>
          </a:p>
          <a:p>
            <a:pPr marL="0" indent="0">
              <a:buNone/>
            </a:pPr>
            <a:endParaRPr lang="en-US" sz="5500" i="1" dirty="0">
              <a:solidFill>
                <a:srgbClr val="CC0000"/>
              </a:solidFill>
            </a:endParaRPr>
          </a:p>
          <a:p>
            <a:pPr marL="0" lvl="0" indent="0">
              <a:buNone/>
            </a:pPr>
            <a:endParaRPr lang="en-US" sz="5500" i="1" dirty="0">
              <a:solidFill>
                <a:srgbClr val="CC0000"/>
              </a:solidFill>
            </a:endParaRPr>
          </a:p>
          <a:p>
            <a:pPr marL="0" lvl="0" indent="0">
              <a:buNone/>
            </a:pPr>
            <a:r>
              <a:rPr lang="en-US" sz="5500" i="1" dirty="0">
                <a:solidFill>
                  <a:srgbClr val="CC0000"/>
                </a:solidFill>
              </a:rPr>
              <a:t> </a:t>
            </a:r>
          </a:p>
          <a:p>
            <a:pPr marL="0" lvl="0" indent="0">
              <a:buNone/>
            </a:pPr>
            <a:endParaRPr lang="en-US" sz="5500" i="1" dirty="0">
              <a:solidFill>
                <a:srgbClr val="CC0000"/>
              </a:solidFill>
            </a:endParaRPr>
          </a:p>
          <a:p>
            <a:pPr marL="0" lvl="0" indent="0">
              <a:buNone/>
            </a:pPr>
            <a:endParaRPr lang="en-US" sz="5500" dirty="0">
              <a:solidFill>
                <a:srgbClr val="CC0000"/>
              </a:solidFill>
            </a:endParaRPr>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457200"/>
            <a:ext cx="2438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1066800"/>
            <a:ext cx="2586463"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4" cstate="print"/>
          <a:srcRect/>
          <a:stretch>
            <a:fillRect/>
          </a:stretch>
        </p:blipFill>
        <p:spPr bwMode="auto">
          <a:xfrm>
            <a:off x="5029200" y="1066800"/>
            <a:ext cx="3467100" cy="962025"/>
          </a:xfrm>
          <a:prstGeom prst="rect">
            <a:avLst/>
          </a:prstGeom>
          <a:noFill/>
          <a:ln w="9525">
            <a:noFill/>
            <a:miter lim="800000"/>
            <a:headEnd/>
            <a:tailEnd/>
          </a:ln>
          <a:effectLst/>
        </p:spPr>
      </p:pic>
      <p:pic>
        <p:nvPicPr>
          <p:cNvPr id="1036" name="Picture 12"/>
          <p:cNvPicPr>
            <a:picLocks noChangeAspect="1" noChangeArrowheads="1"/>
          </p:cNvPicPr>
          <p:nvPr/>
        </p:nvPicPr>
        <p:blipFill>
          <a:blip r:embed="rId5" cstate="print"/>
          <a:srcRect/>
          <a:stretch>
            <a:fillRect/>
          </a:stretch>
        </p:blipFill>
        <p:spPr bwMode="auto">
          <a:xfrm>
            <a:off x="5029200" y="0"/>
            <a:ext cx="3209925" cy="914400"/>
          </a:xfrm>
          <a:prstGeom prst="rect">
            <a:avLst/>
          </a:prstGeom>
          <a:noFill/>
          <a:ln w="9525">
            <a:noFill/>
            <a:miter lim="800000"/>
            <a:headEnd/>
            <a:tailEnd/>
          </a:ln>
          <a:effectLst/>
        </p:spPr>
      </p:pic>
      <p:pic>
        <p:nvPicPr>
          <p:cNvPr id="1037" name="Picture 13"/>
          <p:cNvPicPr>
            <a:picLocks noChangeAspect="1" noChangeArrowheads="1"/>
          </p:cNvPicPr>
          <p:nvPr/>
        </p:nvPicPr>
        <p:blipFill>
          <a:blip r:embed="rId6" cstate="print"/>
          <a:srcRect/>
          <a:stretch>
            <a:fillRect/>
          </a:stretch>
        </p:blipFill>
        <p:spPr bwMode="auto">
          <a:xfrm>
            <a:off x="381000" y="1828800"/>
            <a:ext cx="3667125" cy="762000"/>
          </a:xfrm>
          <a:prstGeom prst="rect">
            <a:avLst/>
          </a:prstGeom>
          <a:noFill/>
          <a:ln w="9525">
            <a:noFill/>
            <a:miter lim="800000"/>
            <a:headEnd/>
            <a:tailEnd/>
          </a:ln>
          <a:effectLst/>
        </p:spPr>
      </p:pic>
      <p:pic>
        <p:nvPicPr>
          <p:cNvPr id="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2819400"/>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60437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0" y="0"/>
            <a:ext cx="9144000" cy="6858000"/>
          </a:xfrm>
        </p:spPr>
        <p:txBody>
          <a:bodyPr>
            <a:normAutofit fontScale="92500" lnSpcReduction="20000"/>
          </a:bodyPr>
          <a:lstStyle/>
          <a:p>
            <a:pPr marL="0" indent="0">
              <a:buNone/>
            </a:pPr>
            <a:endParaRPr lang="en-US" dirty="0"/>
          </a:p>
          <a:p>
            <a:pPr marL="0" indent="0">
              <a:buNone/>
            </a:pPr>
            <a:r>
              <a:rPr lang="en-US" dirty="0"/>
              <a:t>                        </a:t>
            </a:r>
          </a:p>
          <a:p>
            <a:pPr marL="0" lvl="0" indent="0">
              <a:buNone/>
            </a:pPr>
            <a:endParaRPr lang="en-US" i="1" dirty="0"/>
          </a:p>
          <a:p>
            <a:pPr marL="0" lvl="0" indent="0">
              <a:buNone/>
            </a:pPr>
            <a:r>
              <a:rPr lang="en-US" i="1" dirty="0"/>
              <a:t>                                                           </a:t>
            </a:r>
          </a:p>
          <a:p>
            <a:pPr marL="0" lvl="0" indent="0">
              <a:buNone/>
            </a:pPr>
            <a:endParaRPr lang="en-US" i="1" dirty="0"/>
          </a:p>
          <a:p>
            <a:pPr marL="0" lvl="0" indent="0">
              <a:buNone/>
            </a:pPr>
            <a:endParaRPr lang="en-US" i="1" dirty="0"/>
          </a:p>
          <a:p>
            <a:pPr marL="0" lvl="0" indent="0">
              <a:buNone/>
            </a:pPr>
            <a:r>
              <a:rPr lang="en-US" i="1" dirty="0"/>
              <a:t>               </a:t>
            </a:r>
          </a:p>
          <a:p>
            <a:pPr marL="0" lvl="0" indent="0">
              <a:buNone/>
            </a:pPr>
            <a:endParaRPr lang="en-US" i="1" dirty="0"/>
          </a:p>
          <a:p>
            <a:pPr marL="0" lvl="0" indent="0">
              <a:buNone/>
            </a:pPr>
            <a:endParaRPr lang="en-US" i="1" dirty="0"/>
          </a:p>
          <a:p>
            <a:pPr marL="0" lvl="0" indent="0">
              <a:buNone/>
            </a:pPr>
            <a:endParaRPr lang="en-US" i="1" dirty="0"/>
          </a:p>
          <a:p>
            <a:pPr marL="0" lvl="0" indent="0">
              <a:buNone/>
            </a:pPr>
            <a:r>
              <a:rPr lang="en-US" i="1" dirty="0"/>
              <a:t>             </a:t>
            </a:r>
            <a:r>
              <a:rPr lang="en-US" b="1" i="1" dirty="0">
                <a:effectLst>
                  <a:outerShdw blurRad="38100" dist="38100" dir="2700000" algn="tl">
                    <a:srgbClr val="000000">
                      <a:alpha val="43137"/>
                    </a:srgbClr>
                  </a:outerShdw>
                </a:effectLst>
              </a:rPr>
              <a:t>(y - 29) = 0.7623 (x - 36)</a:t>
            </a:r>
          </a:p>
          <a:p>
            <a:pPr marL="0" lvl="0" indent="0">
              <a:buNone/>
            </a:pPr>
            <a:r>
              <a:rPr lang="en-US" i="1" dirty="0"/>
              <a:t>                  </a:t>
            </a:r>
          </a:p>
          <a:p>
            <a:pPr marL="0" lvl="0" indent="0">
              <a:buNone/>
            </a:pPr>
            <a:r>
              <a:rPr lang="en-US" b="1" i="1" dirty="0">
                <a:solidFill>
                  <a:srgbClr val="FF0000"/>
                </a:solidFill>
                <a:effectLst>
                  <a:outerShdw blurRad="38100" dist="38100" dir="2700000" algn="tl">
                    <a:srgbClr val="000000">
                      <a:alpha val="43137"/>
                    </a:srgbClr>
                  </a:outerShdw>
                </a:effectLst>
              </a:rPr>
              <a:t>               y = 1.526 + 0.7623</a:t>
            </a:r>
            <a:r>
              <a:rPr lang="en-US" sz="4300" b="1" i="1" dirty="0">
                <a:effectLst>
                  <a:outerShdw blurRad="38100" dist="38100" dir="2700000" algn="tl">
                    <a:srgbClr val="000000">
                      <a:alpha val="43137"/>
                    </a:srgbClr>
                  </a:outerShdw>
                </a:effectLst>
              </a:rPr>
              <a:t>x</a:t>
            </a:r>
            <a:endParaRPr lang="en-US" b="1" i="1" dirty="0">
              <a:effectLst>
                <a:outerShdw blurRad="38100" dist="38100" dir="2700000" algn="tl">
                  <a:srgbClr val="000000">
                    <a:alpha val="43137"/>
                  </a:srgbClr>
                </a:outerShdw>
              </a:effectLst>
            </a:endParaRPr>
          </a:p>
          <a:p>
            <a:pPr marL="0" lvl="0" indent="0">
              <a:buNone/>
            </a:pPr>
            <a:r>
              <a:rPr lang="en-US" i="1" dirty="0"/>
              <a:t>                 </a:t>
            </a:r>
          </a:p>
          <a:p>
            <a:pPr marL="0" lvl="0" indent="0">
              <a:buNone/>
            </a:pPr>
            <a:endParaRPr lang="en-US" i="1" dirty="0"/>
          </a:p>
          <a:p>
            <a:pPr marL="0" lvl="0" indent="0">
              <a:buNone/>
            </a:pPr>
            <a:endParaRPr lang="en-US" i="1" dirty="0"/>
          </a:p>
          <a:p>
            <a:pPr marL="0" indent="0">
              <a:buNone/>
            </a:pPr>
            <a:endParaRPr lang="en-US" dirty="0"/>
          </a:p>
        </p:txBody>
      </p:sp>
      <p:pic>
        <p:nvPicPr>
          <p:cNvPr id="8"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762000"/>
            <a:ext cx="396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12"/>
          <p:cNvPicPr>
            <a:picLocks noChangeAspect="1" noChangeArrowheads="1"/>
          </p:cNvPicPr>
          <p:nvPr/>
        </p:nvPicPr>
        <p:blipFill>
          <a:blip r:embed="rId3" cstate="print"/>
          <a:srcRect/>
          <a:stretch>
            <a:fillRect/>
          </a:stretch>
        </p:blipFill>
        <p:spPr bwMode="auto">
          <a:xfrm>
            <a:off x="5486400" y="0"/>
            <a:ext cx="3352800" cy="838200"/>
          </a:xfrm>
          <a:prstGeom prst="rect">
            <a:avLst/>
          </a:prstGeom>
          <a:noFill/>
          <a:ln w="9525">
            <a:noFill/>
            <a:miter lim="800000"/>
            <a:headEnd/>
            <a:tailEnd/>
          </a:ln>
          <a:effectLst/>
        </p:spPr>
      </p:pic>
      <p:pic>
        <p:nvPicPr>
          <p:cNvPr id="10" name="Picture 10"/>
          <p:cNvPicPr>
            <a:picLocks noChangeAspect="1" noChangeArrowheads="1"/>
          </p:cNvPicPr>
          <p:nvPr/>
        </p:nvPicPr>
        <p:blipFill>
          <a:blip r:embed="rId4" cstate="print"/>
          <a:srcRect/>
          <a:stretch>
            <a:fillRect/>
          </a:stretch>
        </p:blipFill>
        <p:spPr bwMode="auto">
          <a:xfrm>
            <a:off x="5562600" y="1447800"/>
            <a:ext cx="3352800" cy="990600"/>
          </a:xfrm>
          <a:prstGeom prst="rect">
            <a:avLst/>
          </a:prstGeom>
          <a:noFill/>
          <a:ln w="9525">
            <a:noFill/>
            <a:miter lim="800000"/>
            <a:headEnd/>
            <a:tailEnd/>
          </a:ln>
          <a:effectLst/>
        </p:spPr>
      </p:pic>
      <p:sp>
        <p:nvSpPr>
          <p:cNvPr id="13" name="Rectangle 12"/>
          <p:cNvSpPr/>
          <p:nvPr/>
        </p:nvSpPr>
        <p:spPr>
          <a:xfrm>
            <a:off x="0" y="0"/>
            <a:ext cx="4572000" cy="584775"/>
          </a:xfrm>
          <a:prstGeom prst="rect">
            <a:avLst/>
          </a:prstGeom>
        </p:spPr>
        <p:txBody>
          <a:bodyPr>
            <a:spAutoFit/>
          </a:bodyPr>
          <a:lstStyle/>
          <a:p>
            <a:pPr lvl="0"/>
            <a:r>
              <a:rPr lang="en-US" sz="2400" u="sng" dirty="0"/>
              <a:t>Regression equation of </a:t>
            </a:r>
            <a:r>
              <a:rPr lang="en-US" sz="3200" b="1" i="1" u="sng" dirty="0">
                <a:solidFill>
                  <a:srgbClr val="FF00FF"/>
                </a:solidFill>
                <a:effectLst>
                  <a:outerShdw blurRad="38100" dist="38100" dir="2700000" algn="tl">
                    <a:srgbClr val="000000">
                      <a:alpha val="43137"/>
                    </a:srgbClr>
                  </a:outerShdw>
                </a:effectLst>
              </a:rPr>
              <a:t>y</a:t>
            </a:r>
            <a:r>
              <a:rPr lang="en-US" sz="3200" b="1" u="sng" dirty="0">
                <a:solidFill>
                  <a:srgbClr val="FF00FF"/>
                </a:solidFill>
                <a:effectLst>
                  <a:outerShdw blurRad="38100" dist="38100" dir="2700000" algn="tl">
                    <a:srgbClr val="000000">
                      <a:alpha val="43137"/>
                    </a:srgbClr>
                  </a:outerShdw>
                </a:effectLst>
              </a:rPr>
              <a:t> on </a:t>
            </a:r>
            <a:r>
              <a:rPr lang="en-US" sz="3200" b="1" i="1" u="sng" dirty="0">
                <a:solidFill>
                  <a:srgbClr val="FF00FF"/>
                </a:solidFill>
                <a:effectLst>
                  <a:outerShdw blurRad="38100" dist="38100" dir="2700000" algn="tl">
                    <a:srgbClr val="000000">
                      <a:alpha val="43137"/>
                    </a:srgbClr>
                  </a:outerShdw>
                </a:effectLst>
              </a:rPr>
              <a:t>x </a:t>
            </a:r>
            <a:r>
              <a:rPr lang="en-US" sz="2400" i="1" u="sng" dirty="0"/>
              <a:t>is</a:t>
            </a:r>
            <a:r>
              <a:rPr lang="en-US" sz="3200" i="1" u="sng" dirty="0"/>
              <a:t>: </a:t>
            </a:r>
          </a:p>
        </p:txBody>
      </p:sp>
      <p:pic>
        <p:nvPicPr>
          <p:cNvPr id="1026" name="Picture 2"/>
          <p:cNvPicPr>
            <a:picLocks noChangeAspect="1" noChangeArrowheads="1"/>
          </p:cNvPicPr>
          <p:nvPr/>
        </p:nvPicPr>
        <p:blipFill>
          <a:blip r:embed="rId5" cstate="print"/>
          <a:srcRect/>
          <a:stretch>
            <a:fillRect/>
          </a:stretch>
        </p:blipFill>
        <p:spPr bwMode="auto">
          <a:xfrm>
            <a:off x="381000" y="1905000"/>
            <a:ext cx="4657725" cy="9144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6" cstate="print"/>
          <a:srcRect/>
          <a:stretch>
            <a:fillRect/>
          </a:stretch>
        </p:blipFill>
        <p:spPr bwMode="auto">
          <a:xfrm>
            <a:off x="609600" y="3048000"/>
            <a:ext cx="3867150" cy="1038225"/>
          </a:xfrm>
          <a:prstGeom prst="rect">
            <a:avLst/>
          </a:prstGeom>
          <a:noFill/>
          <a:ln w="9525">
            <a:noFill/>
            <a:miter lim="800000"/>
            <a:headEnd/>
            <a:tailEnd/>
          </a:ln>
          <a:effectLst/>
        </p:spPr>
      </p:pic>
    </p:spTree>
    <p:extLst>
      <p:ext uri="{BB962C8B-B14F-4D97-AF65-F5344CB8AC3E}">
        <p14:creationId xmlns:p14="http://schemas.microsoft.com/office/powerpoint/2010/main" val="8272145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cstate="print"/>
          <a:srcRect/>
          <a:stretch>
            <a:fillRect/>
          </a:stretch>
        </p:blipFill>
        <p:spPr bwMode="auto">
          <a:xfrm>
            <a:off x="1676400" y="381000"/>
            <a:ext cx="5867400" cy="1295400"/>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cstate="print"/>
          <a:srcRect/>
          <a:stretch>
            <a:fillRect/>
          </a:stretch>
        </p:blipFill>
        <p:spPr bwMode="auto">
          <a:xfrm>
            <a:off x="2133600" y="2133600"/>
            <a:ext cx="4514850" cy="1266825"/>
          </a:xfrm>
          <a:prstGeom prst="rect">
            <a:avLst/>
          </a:prstGeom>
          <a:noFill/>
          <a:ln w="9525">
            <a:noFill/>
            <a:miter lim="800000"/>
            <a:headEnd/>
            <a:tailEnd/>
          </a:ln>
          <a:effectLst/>
        </p:spPr>
      </p:pic>
      <p:pic>
        <p:nvPicPr>
          <p:cNvPr id="1027" name="Picture 3"/>
          <p:cNvPicPr>
            <a:picLocks noChangeAspect="1" noChangeArrowheads="1"/>
          </p:cNvPicPr>
          <p:nvPr/>
        </p:nvPicPr>
        <p:blipFill>
          <a:blip r:embed="rId4" cstate="print"/>
          <a:srcRect/>
          <a:stretch>
            <a:fillRect/>
          </a:stretch>
        </p:blipFill>
        <p:spPr bwMode="auto">
          <a:xfrm>
            <a:off x="1447800" y="4419600"/>
            <a:ext cx="6076950" cy="2257425"/>
          </a:xfrm>
          <a:prstGeom prst="rect">
            <a:avLst/>
          </a:prstGeom>
          <a:noFill/>
          <a:ln w="9525">
            <a:noFill/>
            <a:miter lim="800000"/>
            <a:headEnd/>
            <a:tailEnd/>
          </a:ln>
          <a:effec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5" name="Picture 2"/>
          <p:cNvPicPr>
            <a:picLocks noGrp="1" noChangeAspect="1" noChangeArrowheads="1"/>
          </p:cNvPicPr>
          <p:nvPr>
            <p:ph idx="1"/>
          </p:nvPr>
        </p:nvPicPr>
        <p:blipFill>
          <a:blip r:embed="rId2" cstate="print"/>
          <a:srcRect/>
          <a:stretch>
            <a:fillRect/>
          </a:stretch>
        </p:blipFill>
        <p:spPr bwMode="auto">
          <a:xfrm>
            <a:off x="1676400" y="381000"/>
            <a:ext cx="5867400" cy="1295400"/>
          </a:xfrm>
          <a:prstGeom prst="rect">
            <a:avLst/>
          </a:prstGeom>
          <a:noFill/>
          <a:ln w="9525">
            <a:noFill/>
            <a:miter lim="800000"/>
            <a:headEnd/>
            <a:tailEnd/>
          </a:ln>
          <a:effectLst/>
        </p:spPr>
      </p:pic>
      <p:pic>
        <p:nvPicPr>
          <p:cNvPr id="2050" name="Picture 2"/>
          <p:cNvPicPr>
            <a:picLocks noChangeAspect="1" noChangeArrowheads="1"/>
          </p:cNvPicPr>
          <p:nvPr/>
        </p:nvPicPr>
        <p:blipFill>
          <a:blip r:embed="rId3" cstate="print"/>
          <a:srcRect/>
          <a:stretch>
            <a:fillRect/>
          </a:stretch>
        </p:blipFill>
        <p:spPr bwMode="auto">
          <a:xfrm>
            <a:off x="1143000" y="1981200"/>
            <a:ext cx="7096125" cy="4391025"/>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b="1" dirty="0"/>
              <a:t>(a) </a:t>
            </a:r>
            <a:r>
              <a:rPr lang="en-US" b="1" i="1" dirty="0"/>
              <a:t>Multiple regression analysis: </a:t>
            </a:r>
            <a:r>
              <a:rPr lang="en-US" dirty="0"/>
              <a:t>This analysis is adopted when the researcher has </a:t>
            </a:r>
            <a:r>
              <a:rPr lang="en-US" b="1" dirty="0">
                <a:solidFill>
                  <a:srgbClr val="0000FF"/>
                </a:solidFill>
                <a:effectLst>
                  <a:outerShdw blurRad="38100" dist="38100" dir="2700000" algn="tl">
                    <a:srgbClr val="000000">
                      <a:alpha val="43137"/>
                    </a:srgbClr>
                  </a:outerShdw>
                </a:effectLst>
              </a:rPr>
              <a:t>one dependent variable</a:t>
            </a:r>
            <a:r>
              <a:rPr lang="en-US" dirty="0"/>
              <a:t> which is </a:t>
            </a:r>
            <a:r>
              <a:rPr lang="en-US" b="1" dirty="0">
                <a:solidFill>
                  <a:srgbClr val="CC66FF"/>
                </a:solidFill>
                <a:effectLst>
                  <a:outerShdw blurRad="38100" dist="38100" dir="2700000" algn="tl">
                    <a:srgbClr val="000000">
                      <a:alpha val="43137"/>
                    </a:srgbClr>
                  </a:outerShdw>
                </a:effectLst>
              </a:rPr>
              <a:t>presumed to be a function of two or more independent variables. </a:t>
            </a:r>
            <a:r>
              <a:rPr lang="en-US" dirty="0"/>
              <a:t>The objective of this analysis is to make a prediction about the dependent variable based on its covariance with all the concerned independent variables.</a:t>
            </a:r>
          </a:p>
          <a:p>
            <a:r>
              <a:rPr lang="en-US" b="1" dirty="0"/>
              <a:t>Covariance</a:t>
            </a:r>
            <a:r>
              <a:rPr lang="en-US" dirty="0"/>
              <a:t> is a measure of how changes in one variable are associated with changes in a second variable.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476CED-FA49-AFCA-4DEE-65E1204EAFA6}"/>
              </a:ext>
            </a:extLst>
          </p:cNvPr>
          <p:cNvPicPr>
            <a:picLocks noChangeAspect="1"/>
          </p:cNvPicPr>
          <p:nvPr/>
        </p:nvPicPr>
        <p:blipFill>
          <a:blip r:embed="rId2"/>
          <a:stretch>
            <a:fillRect/>
          </a:stretch>
        </p:blipFill>
        <p:spPr>
          <a:xfrm rot="16200000">
            <a:off x="1730314" y="-1196915"/>
            <a:ext cx="5867400" cy="8413629"/>
          </a:xfrm>
          <a:prstGeom prst="rect">
            <a:avLst/>
          </a:prstGeom>
        </p:spPr>
      </p:pic>
    </p:spTree>
    <p:extLst>
      <p:ext uri="{BB962C8B-B14F-4D97-AF65-F5344CB8AC3E}">
        <p14:creationId xmlns:p14="http://schemas.microsoft.com/office/powerpoint/2010/main" val="47531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41547-CB9C-2B7E-F7EC-C0D6C6068EC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494ACDB-0E4C-9D56-F23B-DD78E6638DF4}"/>
              </a:ext>
            </a:extLst>
          </p:cNvPr>
          <p:cNvPicPr>
            <a:picLocks noChangeAspect="1"/>
          </p:cNvPicPr>
          <p:nvPr/>
        </p:nvPicPr>
        <p:blipFill>
          <a:blip r:embed="rId2"/>
          <a:stretch>
            <a:fillRect/>
          </a:stretch>
        </p:blipFill>
        <p:spPr>
          <a:xfrm rot="16200000">
            <a:off x="1700726" y="-863654"/>
            <a:ext cx="5893819" cy="8687928"/>
          </a:xfrm>
          <a:prstGeom prst="rect">
            <a:avLst/>
          </a:prstGeom>
        </p:spPr>
      </p:pic>
    </p:spTree>
    <p:extLst>
      <p:ext uri="{BB962C8B-B14F-4D97-AF65-F5344CB8AC3E}">
        <p14:creationId xmlns:p14="http://schemas.microsoft.com/office/powerpoint/2010/main" val="38791047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2638</TotalTime>
  <Words>4826</Words>
  <Application>Microsoft Office PowerPoint</Application>
  <PresentationFormat>On-screen Show (4:3)</PresentationFormat>
  <Paragraphs>731</Paragraphs>
  <Slides>72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72</vt:i4>
      </vt:variant>
    </vt:vector>
  </HeadingPairs>
  <TitlesOfParts>
    <vt:vector size="79" baseType="lpstr">
      <vt:lpstr>Arial</vt:lpstr>
      <vt:lpstr>Calibri</vt:lpstr>
      <vt:lpstr>Georgia</vt:lpstr>
      <vt:lpstr>inherit</vt:lpstr>
      <vt:lpstr>Times New Roman</vt:lpstr>
      <vt:lpstr>Wingdings</vt:lpstr>
      <vt:lpstr>Office Theme</vt:lpstr>
      <vt:lpstr>CORRELATION ANALYSIS </vt:lpstr>
      <vt:lpstr>PowerPoint Presentation</vt:lpstr>
      <vt:lpstr>PowerPoint Presentation</vt:lpstr>
      <vt:lpstr>PowerPoint Presentation</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 a set of n pairs of values of x and y, Pearson's correlation coefficient   r   is given by DIRECT METHOD</vt:lpstr>
      <vt:lpstr>PowerPoint Presentation</vt:lpstr>
      <vt:lpstr>Ex: Calculate the product movement co-efficient of correlation between the following marks in Statistic's and Maths statistics: 4  7  8  3  4   Maths : 5  8  6  3  5      (direct method) soln:  r = 0.799 </vt:lpstr>
      <vt:lpstr>PowerPoint Presentation</vt:lpstr>
      <vt:lpstr>KARL PEARSON'S CORRELATION COEFFICIENT DIRECT METHOD</vt:lpstr>
      <vt:lpstr>PowerPoint Presentation</vt:lpstr>
      <vt:lpstr>DIRECT METHOD WITH TRUE MEAN WHEN NUMERICALS ARE BIG</vt:lpstr>
      <vt:lpstr>PowerPoint Presentation</vt:lpstr>
      <vt:lpstr>PowerPoint Presentation</vt:lpstr>
      <vt:lpstr>PowerPoint Presentation</vt:lpstr>
      <vt:lpstr>ASSUMED MEAN KARL-PEARSONS’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Applying the formula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CORRELATION ANALYSIS</dc:title>
  <dc:creator>sanjiv</dc:creator>
  <cp:lastModifiedBy>Umesh Bhushi</cp:lastModifiedBy>
  <cp:revision>527</cp:revision>
  <dcterms:created xsi:type="dcterms:W3CDTF">2016-08-28T12:53:46Z</dcterms:created>
  <dcterms:modified xsi:type="dcterms:W3CDTF">2025-12-18T06:56:19Z</dcterms:modified>
</cp:coreProperties>
</file>