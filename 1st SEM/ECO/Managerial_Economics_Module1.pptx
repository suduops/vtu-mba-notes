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15" r:id="rId1"/>
  </p:sldMasterIdLst>
  <p:notesMasterIdLst>
    <p:notesMasterId r:id="rId46"/>
  </p:notesMasterIdLst>
  <p:sldIdLst>
    <p:sldId id="271" r:id="rId2"/>
    <p:sldId id="256" r:id="rId3"/>
    <p:sldId id="292" r:id="rId4"/>
    <p:sldId id="257" r:id="rId5"/>
    <p:sldId id="273" r:id="rId6"/>
    <p:sldId id="274" r:id="rId7"/>
    <p:sldId id="258" r:id="rId8"/>
    <p:sldId id="280" r:id="rId9"/>
    <p:sldId id="259" r:id="rId10"/>
    <p:sldId id="277" r:id="rId11"/>
    <p:sldId id="290" r:id="rId12"/>
    <p:sldId id="260" r:id="rId13"/>
    <p:sldId id="278" r:id="rId14"/>
    <p:sldId id="291" r:id="rId15"/>
    <p:sldId id="261" r:id="rId16"/>
    <p:sldId id="281" r:id="rId17"/>
    <p:sldId id="293" r:id="rId18"/>
    <p:sldId id="294" r:id="rId19"/>
    <p:sldId id="262" r:id="rId20"/>
    <p:sldId id="282" r:id="rId21"/>
    <p:sldId id="296" r:id="rId22"/>
    <p:sldId id="295" r:id="rId23"/>
    <p:sldId id="297" r:id="rId24"/>
    <p:sldId id="263" r:id="rId25"/>
    <p:sldId id="264" r:id="rId26"/>
    <p:sldId id="265" r:id="rId27"/>
    <p:sldId id="283" r:id="rId28"/>
    <p:sldId id="285" r:id="rId29"/>
    <p:sldId id="298" r:id="rId30"/>
    <p:sldId id="284" r:id="rId31"/>
    <p:sldId id="299" r:id="rId32"/>
    <p:sldId id="266" r:id="rId33"/>
    <p:sldId id="300" r:id="rId34"/>
    <p:sldId id="301" r:id="rId35"/>
    <p:sldId id="287" r:id="rId36"/>
    <p:sldId id="286" r:id="rId37"/>
    <p:sldId id="289" r:id="rId38"/>
    <p:sldId id="288" r:id="rId39"/>
    <p:sldId id="267" r:id="rId40"/>
    <p:sldId id="268" r:id="rId41"/>
    <p:sldId id="269" r:id="rId42"/>
    <p:sldId id="270" r:id="rId43"/>
    <p:sldId id="302" r:id="rId44"/>
    <p:sldId id="303"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82838" autoAdjust="0"/>
  </p:normalViewPr>
  <p:slideViewPr>
    <p:cSldViewPr snapToGrid="0" snapToObjects="1">
      <p:cViewPr varScale="1">
        <p:scale>
          <a:sx n="67" d="100"/>
          <a:sy n="67" d="100"/>
        </p:scale>
        <p:origin x="1208" y="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4B09E9-3FF8-470D-AFF9-06F457448E2D}" type="datetimeFigureOut">
              <a:rPr lang="en-US" smtClean="0"/>
              <a:t>11/18/2025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94E3C3-B00C-4EB9-8D62-87813FD9643E}" type="slidenum">
              <a:rPr lang="en-US" smtClean="0"/>
              <a:t>‹#›</a:t>
            </a:fld>
            <a:endParaRPr lang="en-US"/>
          </a:p>
        </p:txBody>
      </p:sp>
    </p:spTree>
    <p:extLst>
      <p:ext uri="{BB962C8B-B14F-4D97-AF65-F5344CB8AC3E}">
        <p14:creationId xmlns:p14="http://schemas.microsoft.com/office/powerpoint/2010/main" val="226533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 is total cost curve, TR is total revenue, TP is total profit, MP is minimum profit or profit constraint line, OQ is profit maximization output, OK is sale maximization output</a:t>
            </a:r>
          </a:p>
          <a:p>
            <a:endParaRPr lang="en-US" dirty="0"/>
          </a:p>
        </p:txBody>
      </p:sp>
      <p:sp>
        <p:nvSpPr>
          <p:cNvPr id="4" name="Slide Number Placeholder 3"/>
          <p:cNvSpPr>
            <a:spLocks noGrp="1"/>
          </p:cNvSpPr>
          <p:nvPr>
            <p:ph type="sldNum" sz="quarter" idx="5"/>
          </p:nvPr>
        </p:nvSpPr>
        <p:spPr/>
        <p:txBody>
          <a:bodyPr/>
          <a:lstStyle/>
          <a:p>
            <a:fld id="{7294E3C3-B00C-4EB9-8D62-87813FD9643E}" type="slidenum">
              <a:rPr lang="en-US" smtClean="0"/>
              <a:t>27</a:t>
            </a:fld>
            <a:endParaRPr lang="en-US"/>
          </a:p>
        </p:txBody>
      </p:sp>
    </p:spTree>
    <p:extLst>
      <p:ext uri="{BB962C8B-B14F-4D97-AF65-F5344CB8AC3E}">
        <p14:creationId xmlns:p14="http://schemas.microsoft.com/office/powerpoint/2010/main" val="1040979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assumes managers will always maintain a </a:t>
            </a:r>
            <a:r>
              <a:rPr lang="en-US" i="1" dirty="0"/>
              <a:t>minimum profit level</a:t>
            </a:r>
            <a:r>
              <a:rPr lang="en-US" dirty="0"/>
              <a:t>, but in reality it is difficult to know what this minimum level 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 firm focuses too much on sales rather than profit:</a:t>
            </a:r>
            <a:br>
              <a:rPr lang="en-US" dirty="0"/>
            </a:br>
            <a:r>
              <a:rPr lang="en-US" dirty="0"/>
              <a:t>✔ costs may rise</a:t>
            </a:r>
            <a:br>
              <a:rPr lang="en-US" dirty="0"/>
            </a:br>
            <a:r>
              <a:rPr lang="en-US" dirty="0"/>
              <a:t>✔ profits may shrink</a:t>
            </a:r>
            <a:br>
              <a:rPr lang="en-US" dirty="0"/>
            </a:br>
            <a:r>
              <a:rPr lang="en-US" dirty="0"/>
              <a:t>✔ long-term survival becomes uncertain</a:t>
            </a:r>
          </a:p>
          <a:p>
            <a:r>
              <a:rPr lang="en-US" dirty="0"/>
              <a:t>money value or</a:t>
            </a:r>
          </a:p>
          <a:p>
            <a:r>
              <a:rPr lang="en-US" dirty="0"/>
              <a:t>physical units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294E3C3-B00C-4EB9-8D62-87813FD9643E}" type="slidenum">
              <a:rPr lang="en-US" smtClean="0"/>
              <a:t>31</a:t>
            </a:fld>
            <a:endParaRPr lang="en-US"/>
          </a:p>
        </p:txBody>
      </p:sp>
    </p:spTree>
    <p:extLst>
      <p:ext uri="{BB962C8B-B14F-4D97-AF65-F5344CB8AC3E}">
        <p14:creationId xmlns:p14="http://schemas.microsoft.com/office/powerpoint/2010/main" val="91053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Retain- to keep or continue to have something; not to lose</a:t>
            </a:r>
            <a:endParaRPr lang="en-US" dirty="0"/>
          </a:p>
        </p:txBody>
      </p:sp>
      <p:sp>
        <p:nvSpPr>
          <p:cNvPr id="4" name="Slide Number Placeholder 3"/>
          <p:cNvSpPr>
            <a:spLocks noGrp="1"/>
          </p:cNvSpPr>
          <p:nvPr>
            <p:ph type="sldNum" sz="quarter" idx="5"/>
          </p:nvPr>
        </p:nvSpPr>
        <p:spPr/>
        <p:txBody>
          <a:bodyPr/>
          <a:lstStyle/>
          <a:p>
            <a:fld id="{7294E3C3-B00C-4EB9-8D62-87813FD9643E}" type="slidenum">
              <a:rPr lang="en-US" smtClean="0"/>
              <a:t>33</a:t>
            </a:fld>
            <a:endParaRPr lang="en-US"/>
          </a:p>
        </p:txBody>
      </p:sp>
    </p:spTree>
    <p:extLst>
      <p:ext uri="{BB962C8B-B14F-4D97-AF65-F5344CB8AC3E}">
        <p14:creationId xmlns:p14="http://schemas.microsoft.com/office/powerpoint/2010/main" val="310452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freedom and power to make decisions by yourself</a:t>
            </a:r>
            <a:endParaRPr lang="en-US" dirty="0"/>
          </a:p>
        </p:txBody>
      </p:sp>
      <p:sp>
        <p:nvSpPr>
          <p:cNvPr id="4" name="Slide Number Placeholder 3"/>
          <p:cNvSpPr>
            <a:spLocks noGrp="1"/>
          </p:cNvSpPr>
          <p:nvPr>
            <p:ph type="sldNum" sz="quarter" idx="5"/>
          </p:nvPr>
        </p:nvSpPr>
        <p:spPr/>
        <p:txBody>
          <a:bodyPr/>
          <a:lstStyle/>
          <a:p>
            <a:fld id="{7294E3C3-B00C-4EB9-8D62-87813FD9643E}" type="slidenum">
              <a:rPr lang="en-US" smtClean="0"/>
              <a:t>39</a:t>
            </a:fld>
            <a:endParaRPr lang="en-US"/>
          </a:p>
        </p:txBody>
      </p:sp>
    </p:spTree>
    <p:extLst>
      <p:ext uri="{BB962C8B-B14F-4D97-AF65-F5344CB8AC3E}">
        <p14:creationId xmlns:p14="http://schemas.microsoft.com/office/powerpoint/2010/main" val="3548904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541987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63246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571351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28568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934395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598923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026262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567139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884821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579333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54386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11/18/2025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1541290327"/>
      </p:ext>
    </p:extLst>
  </p:cSld>
  <p:clrMap bg1="lt1" tx1="dk1" bg2="lt2" tx2="dk2" accent1="accent1" accent2="accent2" accent3="accent3" accent4="accent4" accent5="accent5" accent6="accent6" hlink="hlink" folHlink="folHlink"/>
  <p:sldLayoutIdLst>
    <p:sldLayoutId id="2147484316" r:id="rId1"/>
    <p:sldLayoutId id="2147484317" r:id="rId2"/>
    <p:sldLayoutId id="2147484318" r:id="rId3"/>
    <p:sldLayoutId id="2147484319" r:id="rId4"/>
    <p:sldLayoutId id="2147484320" r:id="rId5"/>
    <p:sldLayoutId id="2147484321" r:id="rId6"/>
    <p:sldLayoutId id="2147484322" r:id="rId7"/>
    <p:sldLayoutId id="2147484323" r:id="rId8"/>
    <p:sldLayoutId id="2147484324" r:id="rId9"/>
    <p:sldLayoutId id="2147484325" r:id="rId10"/>
    <p:sldLayoutId id="214748432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B4A54B-541E-4484-BAA1-66E2DDF00402}"/>
              </a:ext>
            </a:extLst>
          </p:cNvPr>
          <p:cNvPicPr>
            <a:picLocks noChangeAspect="1"/>
          </p:cNvPicPr>
          <p:nvPr/>
        </p:nvPicPr>
        <p:blipFill rotWithShape="1">
          <a:blip r:embed="rId2"/>
          <a:srcRect l="7810" t="1905" r="5320" b="-1905"/>
          <a:stretch/>
        </p:blipFill>
        <p:spPr>
          <a:xfrm>
            <a:off x="0" y="-1"/>
            <a:ext cx="9144000" cy="7006975"/>
          </a:xfrm>
          <a:prstGeom prst="rect">
            <a:avLst/>
          </a:prstGeom>
        </p:spPr>
      </p:pic>
    </p:spTree>
    <p:extLst>
      <p:ext uri="{BB962C8B-B14F-4D97-AF65-F5344CB8AC3E}">
        <p14:creationId xmlns:p14="http://schemas.microsoft.com/office/powerpoint/2010/main" val="1351680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D52137-D51D-4A27-BFC3-756D4C59195A}"/>
              </a:ext>
            </a:extLst>
          </p:cNvPr>
          <p:cNvPicPr>
            <a:picLocks noChangeAspect="1"/>
          </p:cNvPicPr>
          <p:nvPr/>
        </p:nvPicPr>
        <p:blipFill>
          <a:blip r:embed="rId2"/>
          <a:stretch>
            <a:fillRect/>
          </a:stretch>
        </p:blipFill>
        <p:spPr>
          <a:xfrm>
            <a:off x="1" y="0"/>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6486ECF-5B92-4F53-B41F-F2A7DA5F47BA}"/>
              </a:ext>
            </a:extLst>
          </p:cNvPr>
          <p:cNvSpPr>
            <a:spLocks noGrp="1"/>
          </p:cNvSpPr>
          <p:nvPr>
            <p:ph type="subTitle" idx="1"/>
          </p:nvPr>
        </p:nvSpPr>
        <p:spPr>
          <a:xfrm>
            <a:off x="0" y="102742"/>
            <a:ext cx="9144000" cy="6755258"/>
          </a:xfrm>
        </p:spPr>
        <p:txBody>
          <a:bodyPr>
            <a:normAutofit lnSpcReduction="10000"/>
          </a:bodyPr>
          <a:lstStyle/>
          <a:p>
            <a:pPr marL="342900" indent="-342900" algn="just">
              <a:buFont typeface="Wingdings" panose="05000000000000000000" pitchFamily="2" charset="2"/>
              <a:buChar char="Ø"/>
            </a:pPr>
            <a:r>
              <a:rPr lang="en-US" sz="3200" dirty="0"/>
              <a:t>Meaning and </a:t>
            </a:r>
            <a:r>
              <a:rPr lang="en-US" sz="3200" dirty="0" err="1"/>
              <a:t>Definitition</a:t>
            </a:r>
            <a:endParaRPr lang="en-US" sz="3200" dirty="0"/>
          </a:p>
          <a:p>
            <a:pPr marL="342900" indent="-342900" algn="just">
              <a:buFont typeface="Wingdings" panose="05000000000000000000" pitchFamily="2" charset="2"/>
              <a:buChar char="Ø"/>
            </a:pPr>
            <a:r>
              <a:rPr lang="en-US" sz="3200" dirty="0"/>
              <a:t>Nature</a:t>
            </a:r>
          </a:p>
          <a:p>
            <a:pPr marL="342900" indent="-342900" algn="just">
              <a:buFont typeface="Wingdings" panose="05000000000000000000" pitchFamily="2" charset="2"/>
              <a:buChar char="Ø"/>
            </a:pPr>
            <a:r>
              <a:rPr lang="en-US" sz="3200" dirty="0"/>
              <a:t>Scope &amp; Significance</a:t>
            </a:r>
          </a:p>
          <a:p>
            <a:pPr marL="342900" indent="-342900" algn="just">
              <a:buFont typeface="Wingdings" panose="05000000000000000000" pitchFamily="2" charset="2"/>
              <a:buChar char="Ø"/>
            </a:pPr>
            <a:r>
              <a:rPr lang="en-US" sz="3200" dirty="0"/>
              <a:t>Uses of Managerial Economics.</a:t>
            </a:r>
          </a:p>
          <a:p>
            <a:pPr marL="342900" indent="-342900" algn="just">
              <a:buFont typeface="Wingdings" panose="05000000000000000000" pitchFamily="2" charset="2"/>
              <a:buChar char="Ø"/>
            </a:pPr>
            <a:r>
              <a:rPr lang="en-US" sz="3200" dirty="0"/>
              <a:t>Role and Responsibilities of Managerial Economist.</a:t>
            </a:r>
          </a:p>
          <a:p>
            <a:pPr marL="342900" indent="-342900" algn="just">
              <a:buFont typeface="Wingdings" panose="05000000000000000000" pitchFamily="2" charset="2"/>
              <a:buChar char="Ø"/>
            </a:pPr>
            <a:r>
              <a:rPr lang="en-US" sz="3200" dirty="0"/>
              <a:t>Theory of the Firm.</a:t>
            </a:r>
          </a:p>
          <a:p>
            <a:pPr marL="342900" indent="-342900" algn="just">
              <a:buFont typeface="Wingdings" panose="05000000000000000000" pitchFamily="2" charset="2"/>
              <a:buChar char="Ø"/>
            </a:pPr>
            <a:r>
              <a:rPr lang="en-US" sz="3200" dirty="0"/>
              <a:t>Firm and Industry.</a:t>
            </a:r>
          </a:p>
          <a:p>
            <a:pPr marL="342900" indent="-342900" algn="just">
              <a:buFont typeface="Wingdings" panose="05000000000000000000" pitchFamily="2" charset="2"/>
              <a:buChar char="Ø"/>
            </a:pPr>
            <a:r>
              <a:rPr lang="en-US" sz="3200" dirty="0"/>
              <a:t>Objectives of the firm, alternate objectives of firm.</a:t>
            </a:r>
          </a:p>
          <a:p>
            <a:pPr marL="342900" indent="-342900" algn="just">
              <a:buFont typeface="Wingdings" panose="05000000000000000000" pitchFamily="2" charset="2"/>
              <a:buChar char="Ø"/>
            </a:pPr>
            <a:r>
              <a:rPr lang="en-US" sz="3200" dirty="0"/>
              <a:t>Managerial theories: </a:t>
            </a:r>
          </a:p>
          <a:p>
            <a:pPr marL="342900" indent="-342900" algn="just">
              <a:buFont typeface="Wingdings" panose="05000000000000000000" pitchFamily="2" charset="2"/>
              <a:buChar char="Ø"/>
            </a:pPr>
            <a:r>
              <a:rPr lang="en-US" sz="3200" dirty="0"/>
              <a:t>Baumol’s Model </a:t>
            </a:r>
          </a:p>
          <a:p>
            <a:pPr marL="342900" indent="-342900" algn="just">
              <a:buFont typeface="Wingdings" panose="05000000000000000000" pitchFamily="2" charset="2"/>
              <a:buChar char="Ø"/>
            </a:pPr>
            <a:r>
              <a:rPr lang="en-US" sz="3200" dirty="0" err="1"/>
              <a:t>Marris’s</a:t>
            </a:r>
            <a:r>
              <a:rPr lang="en-US" sz="3200" dirty="0"/>
              <a:t> model of growth maximization.</a:t>
            </a:r>
          </a:p>
          <a:p>
            <a:pPr marL="342900" indent="-342900" algn="just">
              <a:buFont typeface="Wingdings" panose="05000000000000000000" pitchFamily="2" charset="2"/>
              <a:buChar char="Ø"/>
            </a:pPr>
            <a:r>
              <a:rPr lang="en-US" sz="3200" dirty="0"/>
              <a:t>Williamson’s model of managerial discretion.</a:t>
            </a:r>
          </a:p>
        </p:txBody>
      </p:sp>
    </p:spTree>
    <p:extLst>
      <p:ext uri="{BB962C8B-B14F-4D97-AF65-F5344CB8AC3E}">
        <p14:creationId xmlns:p14="http://schemas.microsoft.com/office/powerpoint/2010/main" val="587124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66" y="0"/>
            <a:ext cx="8917969" cy="6806627"/>
          </a:xfrm>
        </p:spPr>
        <p:txBody>
          <a:bodyPr>
            <a:noAutofit/>
          </a:bodyPr>
          <a:lstStyle/>
          <a:p>
            <a:pPr marL="0" indent="0" algn="just">
              <a:buNone/>
            </a:pPr>
            <a:r>
              <a:rPr lang="en-US" sz="2600" b="1" u="sng" dirty="0"/>
              <a:t>Meaning:</a:t>
            </a:r>
            <a:r>
              <a:rPr lang="en-US" sz="2600" b="1" dirty="0"/>
              <a:t> </a:t>
            </a:r>
            <a:r>
              <a:rPr sz="2600" dirty="0"/>
              <a:t>Managerial Economics applies economic theory to business decision</a:t>
            </a:r>
            <a:r>
              <a:rPr lang="en-US" sz="2600" dirty="0"/>
              <a:t> </a:t>
            </a:r>
            <a:r>
              <a:rPr sz="2600" dirty="0"/>
              <a:t>making.</a:t>
            </a:r>
            <a:r>
              <a:rPr lang="en-US" sz="2600" dirty="0"/>
              <a:t> Managerial Economics applies microeconomic theory, quantitative techniques and managerial judgment to business decision making. It translates economic concepts (demand, cost, pricing, optimization) into practical advice for managers who must allocate  resources to achieve organizational objectives.</a:t>
            </a:r>
          </a:p>
          <a:p>
            <a:pPr marL="0" indent="0" algn="just">
              <a:buNone/>
            </a:pPr>
            <a:r>
              <a:rPr lang="en-US" sz="2600" dirty="0"/>
              <a:t>It’s economics with a business action orientation, “how to use scarce resources to achieve firm goals.” It serves as a bridge between Economics and Business Management</a:t>
            </a:r>
          </a:p>
          <a:p>
            <a:pPr marL="0" indent="0" algn="just">
              <a:buNone/>
            </a:pPr>
            <a:endParaRPr sz="2600" dirty="0"/>
          </a:p>
          <a:p>
            <a:pPr marL="0" indent="0" algn="just">
              <a:spcBef>
                <a:spcPct val="0"/>
              </a:spcBef>
              <a:buNone/>
            </a:pPr>
            <a:r>
              <a:rPr sz="2600" b="1" u="sng" dirty="0">
                <a:ln w="3175" cmpd="sng">
                  <a:noFill/>
                </a:ln>
                <a:ea typeface="+mj-ea"/>
                <a:cs typeface="+mj-cs"/>
              </a:rPr>
              <a:t>Definition:</a:t>
            </a:r>
            <a:r>
              <a:rPr lang="en-US" sz="2600" b="1" dirty="0">
                <a:ln w="3175" cmpd="sng">
                  <a:noFill/>
                </a:ln>
                <a:ea typeface="+mj-ea"/>
                <a:cs typeface="+mj-cs"/>
              </a:rPr>
              <a:t> </a:t>
            </a:r>
            <a:r>
              <a:rPr lang="en-US" sz="2600" dirty="0"/>
              <a:t>According to Spencer &amp; Siegelman, </a:t>
            </a:r>
            <a:r>
              <a:rPr sz="2600" dirty="0"/>
              <a:t>“</a:t>
            </a:r>
            <a:r>
              <a:rPr lang="en-US" sz="2600" dirty="0"/>
              <a:t>Managerial Economics maybe defined as the i</a:t>
            </a:r>
            <a:r>
              <a:rPr sz="2600" dirty="0"/>
              <a:t>ntegration of economic theory with business practices</a:t>
            </a:r>
            <a:r>
              <a:rPr lang="en-US" sz="2600" dirty="0"/>
              <a:t> for the purpose of facilitating </a:t>
            </a:r>
            <a:r>
              <a:rPr sz="2600" dirty="0"/>
              <a:t>decision-making</a:t>
            </a:r>
            <a:r>
              <a:rPr lang="en-US" sz="2600" dirty="0"/>
              <a:t> and forward planning by management</a:t>
            </a:r>
            <a:r>
              <a:rPr sz="2600" dirty="0"/>
              <a:t>” </a:t>
            </a:r>
            <a:endParaRPr lang="en-US" sz="2600" dirty="0"/>
          </a:p>
          <a:p>
            <a:pPr marL="0" indent="0" algn="just">
              <a:spcBef>
                <a:spcPct val="0"/>
              </a:spcBef>
              <a:buNone/>
            </a:pPr>
            <a:r>
              <a:rPr sz="2600" dirty="0"/>
              <a:t>Example: Determining pricing or production levels using demand and cost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Managerial-Economics-3-2048.jpg">
            <a:extLst>
              <a:ext uri="{FF2B5EF4-FFF2-40B4-BE49-F238E27FC236}">
                <a16:creationId xmlns:a16="http://schemas.microsoft.com/office/drawing/2014/main" id="{FFCFB119-2C36-439A-8BEA-C74C95F3892B}"/>
              </a:ext>
            </a:extLst>
          </p:cNvPr>
          <p:cNvPicPr>
            <a:picLocks noChangeAspect="1"/>
          </p:cNvPicPr>
          <p:nvPr/>
        </p:nvPicPr>
        <p:blipFill>
          <a:blip r:embed="rId2"/>
          <a:stretch>
            <a:fillRect/>
          </a:stretch>
        </p:blipFill>
        <p:spPr>
          <a:xfrm>
            <a:off x="0" y="10274"/>
            <a:ext cx="9144000" cy="6858000"/>
          </a:xfrm>
          <a:prstGeom prst="rect">
            <a:avLst/>
          </a:prstGeom>
        </p:spPr>
      </p:pic>
    </p:spTree>
    <p:extLst>
      <p:ext uri="{BB962C8B-B14F-4D97-AF65-F5344CB8AC3E}">
        <p14:creationId xmlns:p14="http://schemas.microsoft.com/office/powerpoint/2010/main" val="267648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Managerial-Economics-4-2048.jpg">
            <a:extLst>
              <a:ext uri="{FF2B5EF4-FFF2-40B4-BE49-F238E27FC236}">
                <a16:creationId xmlns:a16="http://schemas.microsoft.com/office/drawing/2014/main" id="{835A3FD0-2313-4750-A082-64C5D48C6226}"/>
              </a:ext>
            </a:extLst>
          </p:cNvPr>
          <p:cNvPicPr>
            <a:picLocks noChangeAspect="1"/>
          </p:cNvPicPr>
          <p:nvPr/>
        </p:nvPicPr>
        <p:blipFill>
          <a:blip r:embed="rId2"/>
          <a:stretch>
            <a:fillRect/>
          </a:stretch>
        </p:blipFill>
        <p:spPr>
          <a:xfrm>
            <a:off x="0" y="-10274"/>
            <a:ext cx="9144000" cy="6858000"/>
          </a:xfrm>
          <a:prstGeom prst="rect">
            <a:avLst/>
          </a:prstGeom>
        </p:spPr>
      </p:pic>
    </p:spTree>
    <p:extLst>
      <p:ext uri="{BB962C8B-B14F-4D97-AF65-F5344CB8AC3E}">
        <p14:creationId xmlns:p14="http://schemas.microsoft.com/office/powerpoint/2010/main" val="2935761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42" y="304800"/>
            <a:ext cx="8897421" cy="950362"/>
          </a:xfrm>
        </p:spPr>
        <p:txBody>
          <a:bodyPr>
            <a:normAutofit fontScale="90000"/>
          </a:bodyPr>
          <a:lstStyle/>
          <a:p>
            <a:pPr algn="ctr"/>
            <a:r>
              <a:rPr sz="5400" b="1" u="sng" dirty="0"/>
              <a:t>Nature of Managerial Economics</a:t>
            </a:r>
          </a:p>
        </p:txBody>
      </p:sp>
      <p:sp>
        <p:nvSpPr>
          <p:cNvPr id="3" name="Content Placeholder 2"/>
          <p:cNvSpPr>
            <a:spLocks noGrp="1"/>
          </p:cNvSpPr>
          <p:nvPr>
            <p:ph idx="1"/>
          </p:nvPr>
        </p:nvSpPr>
        <p:spPr>
          <a:xfrm>
            <a:off x="326205" y="1255162"/>
            <a:ext cx="8450494" cy="5460713"/>
          </a:xfrm>
        </p:spPr>
        <p:txBody>
          <a:bodyPr>
            <a:noAutofit/>
          </a:bodyPr>
          <a:lstStyle/>
          <a:p>
            <a:pPr marL="457200" indent="-457200" algn="just">
              <a:buFont typeface="+mj-lt"/>
              <a:buAutoNum type="arabicPeriod"/>
            </a:pPr>
            <a:r>
              <a:rPr b="1" u="sng" dirty="0">
                <a:effectLst/>
              </a:rPr>
              <a:t>Microeconomic in nature</a:t>
            </a:r>
            <a:r>
              <a:rPr lang="en-US" b="1" u="sng" dirty="0">
                <a:effectLst/>
              </a:rPr>
              <a:t>:</a:t>
            </a:r>
            <a:r>
              <a:rPr lang="en-US" b="1" dirty="0">
                <a:effectLst/>
              </a:rPr>
              <a:t> </a:t>
            </a:r>
            <a:r>
              <a:rPr lang="en-US" dirty="0"/>
              <a:t>Concentrates on decisions at the firm or consumer level (not macro aggregates). Primarily concerned with the individual firm and its decision-making. Example: Determining the price of a particular product in a competitive market</a:t>
            </a:r>
            <a:endParaRPr dirty="0"/>
          </a:p>
          <a:p>
            <a:pPr marL="457200" indent="-457200" algn="just">
              <a:buFont typeface="+mj-lt"/>
              <a:buAutoNum type="arabicPeriod"/>
            </a:pPr>
            <a:r>
              <a:rPr b="1" u="sng" dirty="0"/>
              <a:t>Normative science</a:t>
            </a:r>
            <a:r>
              <a:rPr lang="en-US" b="1" u="sng" dirty="0"/>
              <a:t>:</a:t>
            </a:r>
            <a:r>
              <a:rPr lang="en-US" b="1" dirty="0"/>
              <a:t> </a:t>
            </a:r>
            <a:r>
              <a:rPr lang="en-US" dirty="0"/>
              <a:t>W</a:t>
            </a:r>
            <a:r>
              <a:rPr dirty="0"/>
              <a:t>hat managers ought to do</a:t>
            </a:r>
            <a:r>
              <a:rPr lang="en-US" dirty="0"/>
              <a:t>…… recommends best choices (not merely describing what happens). </a:t>
            </a:r>
            <a:r>
              <a:rPr lang="en-US" b="1" dirty="0"/>
              <a:t>Example:</a:t>
            </a:r>
            <a:r>
              <a:rPr lang="en-US" dirty="0"/>
              <a:t> “The firm should reduce prices by 5% to increase market share” — a normative suggestion.</a:t>
            </a:r>
            <a:endParaRPr dirty="0"/>
          </a:p>
          <a:p>
            <a:pPr marL="457200" indent="-457200" algn="just">
              <a:buFont typeface="+mj-lt"/>
              <a:buAutoNum type="arabicPeriod"/>
            </a:pPr>
            <a:r>
              <a:rPr b="1" u="sng" dirty="0"/>
              <a:t>Practical application of theory</a:t>
            </a:r>
            <a:r>
              <a:rPr lang="en-US" b="1" u="sng" dirty="0"/>
              <a:t>:</a:t>
            </a:r>
            <a:r>
              <a:rPr lang="en-US" b="1" dirty="0"/>
              <a:t> </a:t>
            </a:r>
            <a:r>
              <a:rPr lang="en-US" dirty="0"/>
              <a:t>Focuses on practical application rather than theoretical abstraction. Deals with real-world business problems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2C2D1-48CB-453C-81BE-7BC2084E4A80}"/>
              </a:ext>
            </a:extLst>
          </p:cNvPr>
          <p:cNvSpPr>
            <a:spLocks noGrp="1"/>
          </p:cNvSpPr>
          <p:nvPr>
            <p:ph idx="1"/>
          </p:nvPr>
        </p:nvSpPr>
        <p:spPr>
          <a:xfrm>
            <a:off x="195209" y="590764"/>
            <a:ext cx="8691937" cy="6267236"/>
          </a:xfrm>
        </p:spPr>
        <p:txBody>
          <a:bodyPr>
            <a:normAutofit fontScale="92500" lnSpcReduction="10000"/>
          </a:bodyPr>
          <a:lstStyle/>
          <a:p>
            <a:pPr marL="0" indent="0" algn="just">
              <a:buNone/>
            </a:pPr>
            <a:r>
              <a:rPr lang="en-US" b="1" dirty="0"/>
              <a:t>4.</a:t>
            </a:r>
            <a:r>
              <a:rPr lang="en-US" b="1" u="sng" dirty="0"/>
              <a:t>Decision oriented:</a:t>
            </a:r>
            <a:r>
              <a:rPr lang="en-US" b="1" dirty="0"/>
              <a:t> </a:t>
            </a:r>
            <a:r>
              <a:rPr lang="en-US" dirty="0"/>
              <a:t>Helps managers choose the best course of action out of several alternatives. </a:t>
            </a:r>
            <a:r>
              <a:rPr lang="en-US" b="1" dirty="0"/>
              <a:t>Example:</a:t>
            </a:r>
            <a:r>
              <a:rPr lang="en-US" dirty="0"/>
              <a:t> Deciding whether to launch a new product based on estimated costs, demand, and profits.</a:t>
            </a:r>
          </a:p>
          <a:p>
            <a:pPr marL="0" indent="0" algn="just">
              <a:buNone/>
            </a:pPr>
            <a:r>
              <a:rPr lang="en-US" b="1" dirty="0"/>
              <a:t>5.</a:t>
            </a:r>
            <a:r>
              <a:rPr lang="en-US" b="1" u="sng" dirty="0"/>
              <a:t>Interdisciplinary:</a:t>
            </a:r>
            <a:r>
              <a:rPr lang="en-US" b="1" dirty="0"/>
              <a:t> </a:t>
            </a:r>
            <a:r>
              <a:rPr lang="en-US" dirty="0"/>
              <a:t>Managerial Economics is an interdisciplinary field that combines concepts from economics, mathematics, statistics, accounting, finance, management, operations research, and psychology (especially behavioral aspects). It blends economic theory with quantitative tools to support business decision-making. </a:t>
            </a:r>
            <a:r>
              <a:rPr lang="en-US" b="1" dirty="0"/>
              <a:t>Example:</a:t>
            </a:r>
            <a:r>
              <a:rPr lang="en-US" dirty="0"/>
              <a:t> A manager uses statistics to predict sales and finance principles to evaluate investment returns.</a:t>
            </a:r>
          </a:p>
          <a:p>
            <a:pPr marL="0" indent="0" algn="just">
              <a:buNone/>
            </a:pPr>
            <a:r>
              <a:rPr lang="en-US" b="1" dirty="0"/>
              <a:t>6.</a:t>
            </a:r>
            <a:r>
              <a:rPr lang="en-US" b="1" u="sng" dirty="0"/>
              <a:t>Future Oriented:</a:t>
            </a:r>
            <a:r>
              <a:rPr lang="en-US" b="1" dirty="0"/>
              <a:t> </a:t>
            </a:r>
            <a:r>
              <a:rPr lang="en-US" dirty="0"/>
              <a:t>It deals with </a:t>
            </a:r>
            <a:r>
              <a:rPr lang="en-US" b="1" dirty="0"/>
              <a:t>future planning and forecasting</a:t>
            </a:r>
            <a:r>
              <a:rPr lang="en-US" dirty="0"/>
              <a:t>. Managers use economic principles to predict future market trends, demand, and cost conditions. </a:t>
            </a:r>
            <a:r>
              <a:rPr lang="en-US" b="1" dirty="0"/>
              <a:t>Example:</a:t>
            </a:r>
            <a:r>
              <a:rPr lang="en-US" dirty="0"/>
              <a:t> Estimating future demand for electric vehicles before investing in new production facilities.</a:t>
            </a:r>
            <a:endParaRPr lang="en-US" b="1" u="sng" dirty="0"/>
          </a:p>
          <a:p>
            <a:pPr marL="0" indent="0" algn="just">
              <a:buNone/>
            </a:pPr>
            <a:endParaRPr lang="en-US" dirty="0"/>
          </a:p>
          <a:p>
            <a:pPr algn="just"/>
            <a:endParaRPr lang="en-US" sz="3200" dirty="0"/>
          </a:p>
        </p:txBody>
      </p:sp>
    </p:spTree>
    <p:extLst>
      <p:ext uri="{BB962C8B-B14F-4D97-AF65-F5344CB8AC3E}">
        <p14:creationId xmlns:p14="http://schemas.microsoft.com/office/powerpoint/2010/main" val="243005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030983" cy="1047964"/>
          </a:xfrm>
        </p:spPr>
        <p:txBody>
          <a:bodyPr>
            <a:normAutofit/>
          </a:bodyPr>
          <a:lstStyle/>
          <a:p>
            <a:pPr algn="ctr"/>
            <a:r>
              <a:rPr sz="5400" b="1" u="sng" dirty="0"/>
              <a:t>Scope of Managerial Economics</a:t>
            </a:r>
          </a:p>
        </p:txBody>
      </p:sp>
      <p:sp>
        <p:nvSpPr>
          <p:cNvPr id="3" name="Content Placeholder 2"/>
          <p:cNvSpPr>
            <a:spLocks noGrp="1"/>
          </p:cNvSpPr>
          <p:nvPr>
            <p:ph idx="1"/>
          </p:nvPr>
        </p:nvSpPr>
        <p:spPr>
          <a:xfrm>
            <a:off x="56508" y="1264919"/>
            <a:ext cx="9030983" cy="5212081"/>
          </a:xfrm>
        </p:spPr>
        <p:txBody>
          <a:bodyPr>
            <a:normAutofit lnSpcReduction="10000"/>
          </a:bodyPr>
          <a:lstStyle/>
          <a:p>
            <a:pPr marL="0" indent="0" algn="just">
              <a:buNone/>
            </a:pPr>
            <a:r>
              <a:rPr sz="2600" dirty="0"/>
              <a:t>1. </a:t>
            </a:r>
            <a:r>
              <a:rPr sz="2600" b="1" u="sng" dirty="0"/>
              <a:t>Demand Analysis &amp; Forecasting</a:t>
            </a:r>
            <a:r>
              <a:rPr lang="en-US" sz="2600" b="1" u="sng" dirty="0"/>
              <a:t>:</a:t>
            </a:r>
            <a:r>
              <a:rPr lang="en-US" sz="2600" b="1" dirty="0"/>
              <a:t> </a:t>
            </a:r>
            <a:r>
              <a:rPr lang="en-US" sz="2600" dirty="0"/>
              <a:t>This involves studying </a:t>
            </a:r>
            <a:r>
              <a:rPr lang="en-US" sz="2600" b="1" dirty="0"/>
              <a:t>consumer demand</a:t>
            </a:r>
            <a:r>
              <a:rPr lang="en-US" sz="2600" dirty="0"/>
              <a:t> for a product how much customers are willing to buy at different prices and predicting </a:t>
            </a:r>
            <a:r>
              <a:rPr lang="en-US" sz="2600" b="1" dirty="0"/>
              <a:t>future demand</a:t>
            </a:r>
            <a:r>
              <a:rPr lang="en-US" sz="2600" dirty="0"/>
              <a:t>. It helps firms to decide how much to produce, what price to set, and when to expand production.        </a:t>
            </a:r>
          </a:p>
          <a:p>
            <a:pPr marL="0" indent="0" algn="just">
              <a:buNone/>
            </a:pPr>
            <a:r>
              <a:rPr lang="en-US" sz="2600" b="1" dirty="0"/>
              <a:t>Example:</a:t>
            </a:r>
            <a:br>
              <a:rPr lang="en-US" sz="2600" dirty="0"/>
            </a:br>
            <a:r>
              <a:rPr lang="en-US" sz="2600" dirty="0"/>
              <a:t>A smartphone company analyzes past sales, current market trends and customer preferences to forecast demand for its new model. If demand is expected to rise by 20% during the festive season, the firm increases production in advance.</a:t>
            </a:r>
          </a:p>
          <a:p>
            <a:pPr marL="0" indent="0" algn="just">
              <a:buNone/>
            </a:pPr>
            <a:r>
              <a:rPr sz="2600" dirty="0"/>
              <a:t>2. </a:t>
            </a:r>
            <a:r>
              <a:rPr sz="2600" b="1" u="sng" dirty="0"/>
              <a:t>Production &amp; Cost Analysis</a:t>
            </a:r>
            <a:r>
              <a:rPr lang="en-US" sz="2600" b="1" u="sng" dirty="0"/>
              <a:t>:</a:t>
            </a:r>
            <a:r>
              <a:rPr lang="en-US" sz="2600" b="1" dirty="0"/>
              <a:t> </a:t>
            </a:r>
            <a:r>
              <a:rPr lang="en-US" sz="2600" dirty="0"/>
              <a:t>This deals with understanding the </a:t>
            </a:r>
            <a:r>
              <a:rPr lang="en-US" sz="2600" b="1" dirty="0"/>
              <a:t>best way to use inputs (</a:t>
            </a:r>
            <a:r>
              <a:rPr lang="en-US" sz="2600" b="1" dirty="0" err="1"/>
              <a:t>labour</a:t>
            </a:r>
            <a:r>
              <a:rPr lang="en-US" sz="2600" b="1" dirty="0"/>
              <a:t>, machinery, raw material)</a:t>
            </a:r>
            <a:r>
              <a:rPr lang="en-US" sz="2600" dirty="0"/>
              <a:t> to produce goods efficiently and at minimum cost. It helps managers to decide the optimal production level and cost-saving strategies.</a:t>
            </a:r>
          </a:p>
          <a:p>
            <a:pPr marL="0" indent="0" algn="just">
              <a:buNone/>
            </a:pPr>
            <a:endParaRPr sz="2600" dirty="0"/>
          </a:p>
          <a:p>
            <a:pPr marL="0" indent="0" algn="just">
              <a:buNone/>
            </a:pPr>
            <a:endParaRPr sz="2600" dirty="0"/>
          </a:p>
          <a:p>
            <a:pPr marL="0" indent="0" algn="just">
              <a:buNone/>
            </a:pPr>
            <a:endParaRPr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4FA9A13-33A2-495E-BB55-3DF71FE3DBAD}"/>
              </a:ext>
            </a:extLst>
          </p:cNvPr>
          <p:cNvSpPr>
            <a:spLocks noGrp="1"/>
          </p:cNvSpPr>
          <p:nvPr>
            <p:ph type="subTitle" idx="1"/>
          </p:nvPr>
        </p:nvSpPr>
        <p:spPr>
          <a:xfrm>
            <a:off x="143838" y="616449"/>
            <a:ext cx="8722760" cy="6102377"/>
          </a:xfrm>
        </p:spPr>
        <p:txBody>
          <a:bodyPr>
            <a:normAutofit/>
          </a:bodyPr>
          <a:lstStyle/>
          <a:p>
            <a:pPr algn="just"/>
            <a:r>
              <a:rPr lang="en-US" sz="2600" b="1" dirty="0"/>
              <a:t>Example:</a:t>
            </a:r>
            <a:br>
              <a:rPr lang="en-US" sz="2600" dirty="0"/>
            </a:br>
            <a:r>
              <a:rPr lang="en-US" sz="2600" dirty="0"/>
              <a:t>A bakery compares the cost of making 500 cakes per day vs. 800 cakes per day. It finds that producing in bulk reduces average cost per cake due to economies of scale. So, the firm increases output to lower cost.</a:t>
            </a:r>
          </a:p>
          <a:p>
            <a:pPr algn="just"/>
            <a:r>
              <a:rPr lang="en-US" sz="2600" dirty="0"/>
              <a:t>3. </a:t>
            </a:r>
            <a:r>
              <a:rPr lang="en-US" sz="2600" b="1" u="sng" dirty="0"/>
              <a:t>Pricing Decisions:</a:t>
            </a:r>
            <a:r>
              <a:rPr lang="en-US" sz="2600" b="1" dirty="0"/>
              <a:t> </a:t>
            </a:r>
            <a:r>
              <a:rPr lang="en-US" sz="2600" dirty="0"/>
              <a:t>Pricing is one of the most important managerial decisions. It involves deciding </a:t>
            </a:r>
            <a:r>
              <a:rPr lang="en-US" sz="2600" b="1" dirty="0"/>
              <a:t>how much to charge for a product</a:t>
            </a:r>
            <a:r>
              <a:rPr lang="en-US" sz="2600" dirty="0"/>
              <a:t> based on demand, cost, competitors, and market structure. Pricing affects sales volume, profit, and competition.</a:t>
            </a:r>
          </a:p>
          <a:p>
            <a:pPr algn="just"/>
            <a:r>
              <a:rPr lang="en-US" sz="2600" dirty="0"/>
              <a:t> </a:t>
            </a:r>
            <a:r>
              <a:rPr lang="en-US" sz="2600" b="1" dirty="0"/>
              <a:t>Example:</a:t>
            </a:r>
            <a:br>
              <a:rPr lang="en-US" sz="2600" dirty="0"/>
            </a:br>
            <a:r>
              <a:rPr lang="en-US" sz="2600" dirty="0"/>
              <a:t>Uber uses </a:t>
            </a:r>
            <a:r>
              <a:rPr lang="en-US" sz="2600" b="1" dirty="0"/>
              <a:t>dynamic pricing </a:t>
            </a:r>
            <a:r>
              <a:rPr lang="en-US" sz="2600" dirty="0"/>
              <a:t>fares increase during peak hours when demand is high. This is a managerial economic decision based on demand and supply.</a:t>
            </a:r>
          </a:p>
          <a:p>
            <a:pPr algn="just"/>
            <a:endParaRPr lang="en-US" sz="2600" dirty="0"/>
          </a:p>
          <a:p>
            <a:pPr algn="just"/>
            <a:endParaRPr lang="en-US" sz="2600" dirty="0"/>
          </a:p>
        </p:txBody>
      </p:sp>
    </p:spTree>
    <p:extLst>
      <p:ext uri="{BB962C8B-B14F-4D97-AF65-F5344CB8AC3E}">
        <p14:creationId xmlns:p14="http://schemas.microsoft.com/office/powerpoint/2010/main" val="467259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D06414-7F35-465D-8087-417524E0198B}"/>
              </a:ext>
            </a:extLst>
          </p:cNvPr>
          <p:cNvSpPr>
            <a:spLocks noGrp="1"/>
          </p:cNvSpPr>
          <p:nvPr>
            <p:ph type="subTitle" idx="1"/>
          </p:nvPr>
        </p:nvSpPr>
        <p:spPr>
          <a:xfrm>
            <a:off x="82192" y="184592"/>
            <a:ext cx="8928243" cy="6575461"/>
          </a:xfrm>
        </p:spPr>
        <p:txBody>
          <a:bodyPr>
            <a:normAutofit/>
          </a:bodyPr>
          <a:lstStyle/>
          <a:p>
            <a:pPr algn="just"/>
            <a:r>
              <a:rPr lang="en-US" dirty="0"/>
              <a:t>4. </a:t>
            </a:r>
            <a:r>
              <a:rPr lang="en-US" b="1" u="sng" dirty="0"/>
              <a:t>Profit Management:</a:t>
            </a:r>
            <a:r>
              <a:rPr lang="en-US" b="1" dirty="0"/>
              <a:t> </a:t>
            </a:r>
            <a:r>
              <a:rPr lang="en-US" dirty="0"/>
              <a:t>Profit management involves determining how to </a:t>
            </a:r>
            <a:r>
              <a:rPr lang="en-US" b="1" dirty="0"/>
              <a:t>maximize profit</a:t>
            </a:r>
            <a:r>
              <a:rPr lang="en-US" dirty="0"/>
              <a:t> by balancing revenue and costs and planning for both short-term and long-term profitability. Profit is the key goal of any business.</a:t>
            </a:r>
          </a:p>
          <a:p>
            <a:pPr algn="just"/>
            <a:r>
              <a:rPr lang="en-US" b="1" dirty="0"/>
              <a:t>Example:</a:t>
            </a:r>
            <a:br>
              <a:rPr lang="en-US" dirty="0"/>
            </a:br>
            <a:r>
              <a:rPr lang="en-US" dirty="0"/>
              <a:t>A restaurant sees that weekday profits are low. It introduces </a:t>
            </a:r>
            <a:r>
              <a:rPr lang="en-US" b="1" dirty="0"/>
              <a:t>weekday discount offers</a:t>
            </a:r>
            <a:r>
              <a:rPr lang="en-US" dirty="0"/>
              <a:t> to attract more customers and increase profit.</a:t>
            </a:r>
          </a:p>
          <a:p>
            <a:pPr algn="just"/>
            <a:r>
              <a:rPr lang="en-US" dirty="0"/>
              <a:t>5. </a:t>
            </a:r>
            <a:r>
              <a:rPr lang="en-US" b="1" u="sng" dirty="0"/>
              <a:t>Capital Management:</a:t>
            </a:r>
            <a:r>
              <a:rPr lang="en-US" b="1" dirty="0"/>
              <a:t> </a:t>
            </a:r>
            <a:r>
              <a:rPr lang="en-US" dirty="0"/>
              <a:t>This refers to decisions related to </a:t>
            </a:r>
            <a:r>
              <a:rPr lang="en-US" b="1" dirty="0"/>
              <a:t>investment and finance. </a:t>
            </a:r>
            <a:r>
              <a:rPr lang="en-US" dirty="0"/>
              <a:t>How much money is needed, Where to invest, and the best source of funds (loan, equity, retained earnings). Proper capital allocation ensures smooth business operations and future growth.</a:t>
            </a:r>
          </a:p>
          <a:p>
            <a:pPr algn="just"/>
            <a:r>
              <a:rPr lang="en-US" b="1" dirty="0"/>
              <a:t>Example:</a:t>
            </a:r>
            <a:br>
              <a:rPr lang="en-US" dirty="0"/>
            </a:br>
            <a:r>
              <a:rPr lang="en-US" dirty="0"/>
              <a:t>A startup decides whether to </a:t>
            </a:r>
            <a:r>
              <a:rPr lang="en-US" b="1" dirty="0"/>
              <a:t>borrow from a bank</a:t>
            </a:r>
            <a:r>
              <a:rPr lang="en-US" dirty="0"/>
              <a:t> or </a:t>
            </a:r>
            <a:r>
              <a:rPr lang="en-US" b="1" dirty="0"/>
              <a:t>raise funds from investors</a:t>
            </a:r>
            <a:r>
              <a:rPr lang="en-US" dirty="0"/>
              <a:t> to expand its business. Managerial economics helps compare interest costs, ownership dilution, risk, etc.</a:t>
            </a:r>
          </a:p>
          <a:p>
            <a:pPr algn="just"/>
            <a:endParaRPr lang="en-US" dirty="0"/>
          </a:p>
        </p:txBody>
      </p:sp>
    </p:spTree>
    <p:extLst>
      <p:ext uri="{BB962C8B-B14F-4D97-AF65-F5344CB8AC3E}">
        <p14:creationId xmlns:p14="http://schemas.microsoft.com/office/powerpoint/2010/main" val="4171692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112" y="154113"/>
            <a:ext cx="8846049" cy="1099334"/>
          </a:xfrm>
        </p:spPr>
        <p:txBody>
          <a:bodyPr>
            <a:normAutofit/>
          </a:bodyPr>
          <a:lstStyle/>
          <a:p>
            <a:pPr algn="ctr"/>
            <a:r>
              <a:rPr b="1" u="sng" dirty="0"/>
              <a:t>Significance of Managerial Economics</a:t>
            </a:r>
          </a:p>
        </p:txBody>
      </p:sp>
      <p:sp>
        <p:nvSpPr>
          <p:cNvPr id="3" name="Content Placeholder 2"/>
          <p:cNvSpPr>
            <a:spLocks noGrp="1"/>
          </p:cNvSpPr>
          <p:nvPr>
            <p:ph idx="1"/>
          </p:nvPr>
        </p:nvSpPr>
        <p:spPr>
          <a:xfrm>
            <a:off x="154112" y="1253447"/>
            <a:ext cx="8856324" cy="5450440"/>
          </a:xfrm>
        </p:spPr>
        <p:txBody>
          <a:bodyPr>
            <a:noAutofit/>
          </a:bodyPr>
          <a:lstStyle/>
          <a:p>
            <a:pPr algn="just"/>
            <a:r>
              <a:rPr sz="2600" b="1" u="sng" dirty="0"/>
              <a:t>Improves </a:t>
            </a:r>
            <a:r>
              <a:rPr lang="en-US" sz="2600" b="1" u="sng" dirty="0"/>
              <a:t>D</a:t>
            </a:r>
            <a:r>
              <a:rPr sz="2600" b="1" u="sng" dirty="0"/>
              <a:t>ecision </a:t>
            </a:r>
            <a:r>
              <a:rPr lang="en-US" sz="2600" b="1" u="sng" dirty="0"/>
              <a:t>Q</a:t>
            </a:r>
            <a:r>
              <a:rPr sz="2600" b="1" u="sng" dirty="0"/>
              <a:t>uality</a:t>
            </a:r>
            <a:r>
              <a:rPr lang="en-US" sz="2600" b="1" u="sng" dirty="0"/>
              <a:t>:</a:t>
            </a:r>
            <a:r>
              <a:rPr lang="en-US" sz="2600" b="1" dirty="0"/>
              <a:t> </a:t>
            </a:r>
            <a:r>
              <a:rPr lang="en-US" sz="2600" dirty="0"/>
              <a:t>Managerial Economics provides scientific tools, data analysis and economic logic to help managers make better decisions instead of relying on guesswork or intuition.</a:t>
            </a:r>
          </a:p>
          <a:p>
            <a:pPr marL="0" indent="0" algn="just">
              <a:buNone/>
            </a:pPr>
            <a:r>
              <a:rPr lang="en-US" sz="2600" b="1" dirty="0"/>
              <a:t>Example:</a:t>
            </a:r>
            <a:r>
              <a:rPr lang="en-US" sz="2600" dirty="0"/>
              <a:t> A company uses demand forecasting before launching a new product. Instead of randomly setting a price, it studies consumer demand, competitor  pricing and cost structure to choose the most profitable price.</a:t>
            </a:r>
            <a:endParaRPr lang="en-US" sz="2600" b="1" u="sng" dirty="0"/>
          </a:p>
          <a:p>
            <a:pPr algn="just"/>
            <a:r>
              <a:rPr sz="2600" b="1" u="sng" dirty="0"/>
              <a:t>Minimizes </a:t>
            </a:r>
            <a:r>
              <a:rPr lang="en-US" sz="2600" b="1" u="sng" dirty="0"/>
              <a:t>R</a:t>
            </a:r>
            <a:r>
              <a:rPr sz="2600" b="1" u="sng" dirty="0"/>
              <a:t>isk and </a:t>
            </a:r>
            <a:r>
              <a:rPr lang="en-US" sz="2600" b="1" u="sng" dirty="0"/>
              <a:t>U</a:t>
            </a:r>
            <a:r>
              <a:rPr sz="2600" b="1" u="sng" dirty="0"/>
              <a:t>ncertainty</a:t>
            </a:r>
            <a:r>
              <a:rPr lang="en-US" sz="2600" b="1" u="sng" dirty="0"/>
              <a:t>: </a:t>
            </a:r>
            <a:r>
              <a:rPr lang="en-US" sz="2600" dirty="0"/>
              <a:t>Business decisions always involve risk (future is uncertain). Managerial Economics uses techniques like probability analysis, forecasting, and risk models to reduce uncertainty.</a:t>
            </a:r>
          </a:p>
          <a:p>
            <a:pPr marL="0" indent="0" algn="just">
              <a:buNone/>
            </a:pPr>
            <a:endParaRPr sz="2600" b="1" u="sng" dirty="0"/>
          </a:p>
          <a:p>
            <a:pPr marL="0" indent="0" algn="just">
              <a:buNone/>
            </a:pPr>
            <a:endParaRPr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932DB8-4925-413C-9528-7F1DF128CBFC}"/>
              </a:ext>
            </a:extLst>
          </p:cNvPr>
          <p:cNvSpPr>
            <a:spLocks noGrp="1"/>
          </p:cNvSpPr>
          <p:nvPr>
            <p:ph idx="1"/>
          </p:nvPr>
        </p:nvSpPr>
        <p:spPr>
          <a:xfrm>
            <a:off x="123290" y="71918"/>
            <a:ext cx="8907694" cy="6698752"/>
          </a:xfrm>
        </p:spPr>
        <p:txBody>
          <a:bodyPr>
            <a:noAutofit/>
          </a:bodyPr>
          <a:lstStyle/>
          <a:p>
            <a:pPr marL="0" indent="0" algn="just">
              <a:buNone/>
            </a:pPr>
            <a:r>
              <a:rPr lang="en-US" sz="2500" b="1" dirty="0"/>
              <a:t>Example: </a:t>
            </a:r>
            <a:r>
              <a:rPr lang="en-US" sz="2500" dirty="0"/>
              <a:t>An airline uses demand prediction models to decide how many seats to offer at discounted prices. This reduces the risk of empty seats (loss) or overbooking (customer dissatisfaction).</a:t>
            </a:r>
            <a:endParaRPr lang="en-US" sz="2500" b="1" u="sng" dirty="0"/>
          </a:p>
          <a:p>
            <a:pPr algn="just"/>
            <a:r>
              <a:rPr lang="en-US" sz="2500" b="1" u="sng" dirty="0"/>
              <a:t>Facilitates Planning and Control:</a:t>
            </a:r>
            <a:r>
              <a:rPr lang="en-US" sz="2500" b="1" dirty="0"/>
              <a:t> </a:t>
            </a:r>
            <a:r>
              <a:rPr lang="en-US" sz="2500" dirty="0"/>
              <a:t>It helps managers plan future activities (production, pricing, staffing, etc.) and control business performance by comparing actual results with planned results.</a:t>
            </a:r>
          </a:p>
          <a:p>
            <a:pPr marL="0" indent="0" algn="just">
              <a:buNone/>
            </a:pPr>
            <a:r>
              <a:rPr lang="en-US" sz="2500" b="1" dirty="0"/>
              <a:t>Example: </a:t>
            </a:r>
            <a:r>
              <a:rPr lang="en-US" sz="2500" dirty="0"/>
              <a:t>A biscuit manufacturing company estimates monthly production based on demand forecasts. If actual sales are lower, it reduces production to control inventory cost.</a:t>
            </a:r>
          </a:p>
          <a:p>
            <a:pPr algn="just"/>
            <a:r>
              <a:rPr lang="en-US" sz="2500" b="1" u="sng" dirty="0"/>
              <a:t>Optimizes Resource Use:</a:t>
            </a:r>
            <a:r>
              <a:rPr lang="en-US" sz="2500" b="1" dirty="0"/>
              <a:t> </a:t>
            </a:r>
            <a:r>
              <a:rPr lang="en-US" sz="2500" dirty="0"/>
              <a:t>Managerial Economics helps firms use limited resources (like money, manpower, raw materials, time) in the most efficient way to avoid wastage and maximize output.</a:t>
            </a:r>
          </a:p>
          <a:p>
            <a:pPr marL="0" indent="0" algn="just">
              <a:buNone/>
            </a:pPr>
            <a:r>
              <a:rPr lang="en-US" sz="2500" b="1" dirty="0"/>
              <a:t>Example: </a:t>
            </a:r>
            <a:r>
              <a:rPr lang="en-US" sz="2500" dirty="0"/>
              <a:t>A hospital uses cost-benefit analysis to decide whether to buy a new MRI machine or outsource scanning services, ensuring funds are used efficiently.</a:t>
            </a:r>
          </a:p>
          <a:p>
            <a:pPr marL="0" indent="0" algn="just">
              <a:buNone/>
            </a:pPr>
            <a:endParaRPr lang="en-US" sz="2500" b="1" u="sng" dirty="0"/>
          </a:p>
          <a:p>
            <a:pPr algn="just"/>
            <a:endParaRPr lang="en-US" sz="2500" dirty="0"/>
          </a:p>
        </p:txBody>
      </p:sp>
    </p:spTree>
    <p:extLst>
      <p:ext uri="{BB962C8B-B14F-4D97-AF65-F5344CB8AC3E}">
        <p14:creationId xmlns:p14="http://schemas.microsoft.com/office/powerpoint/2010/main" val="438944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D0E89256-9D11-40EA-8B20-F3E91DBC1991}"/>
              </a:ext>
            </a:extLst>
          </p:cNvPr>
          <p:cNvSpPr>
            <a:spLocks noGrp="1"/>
          </p:cNvSpPr>
          <p:nvPr>
            <p:ph type="subTitle" idx="1"/>
          </p:nvPr>
        </p:nvSpPr>
        <p:spPr>
          <a:xfrm>
            <a:off x="92466" y="119097"/>
            <a:ext cx="8928243" cy="6589927"/>
          </a:xfrm>
        </p:spPr>
        <p:txBody>
          <a:bodyPr>
            <a:normAutofit/>
          </a:bodyPr>
          <a:lstStyle/>
          <a:p>
            <a:pPr marL="342900" indent="-342900" algn="just">
              <a:buFont typeface="Arial" panose="020B0604020202020204" pitchFamily="34" charset="0"/>
              <a:buChar char="•"/>
            </a:pPr>
            <a:r>
              <a:rPr lang="en-US" sz="2800" b="1" u="sng" dirty="0"/>
              <a:t>Enhances Coordination:</a:t>
            </a:r>
            <a:r>
              <a:rPr lang="en-US" sz="2800" b="1" dirty="0"/>
              <a:t> </a:t>
            </a:r>
            <a:r>
              <a:rPr lang="en-US" sz="2800" dirty="0"/>
              <a:t>It aligns different departments (production, marketing, finance, HR) by providing common economic logic and data-based decision-making. </a:t>
            </a:r>
          </a:p>
          <a:p>
            <a:pPr algn="just"/>
            <a:r>
              <a:rPr lang="en-US" sz="2800" b="1" dirty="0"/>
              <a:t>Example: </a:t>
            </a:r>
            <a:r>
              <a:rPr lang="en-US" sz="2800" dirty="0"/>
              <a:t>Before launching a new car model, the marketing team (pricing), production team (quantity), finance team (budget), and HR team (staffing) all work using a common sales forecast prepared using managerial economics tools.</a:t>
            </a:r>
          </a:p>
          <a:p>
            <a:pPr algn="just"/>
            <a:endParaRPr lang="en-US" sz="2800" dirty="0"/>
          </a:p>
        </p:txBody>
      </p:sp>
    </p:spTree>
    <p:extLst>
      <p:ext uri="{BB962C8B-B14F-4D97-AF65-F5344CB8AC3E}">
        <p14:creationId xmlns:p14="http://schemas.microsoft.com/office/powerpoint/2010/main" val="429142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031" y="113017"/>
            <a:ext cx="8455631" cy="1130156"/>
          </a:xfrm>
        </p:spPr>
        <p:txBody>
          <a:bodyPr>
            <a:normAutofit/>
          </a:bodyPr>
          <a:lstStyle/>
          <a:p>
            <a:pPr algn="ctr"/>
            <a:r>
              <a:rPr sz="5400" b="1" u="sng" dirty="0"/>
              <a:t>Uses of Managerial Economics</a:t>
            </a:r>
          </a:p>
        </p:txBody>
      </p:sp>
      <p:sp>
        <p:nvSpPr>
          <p:cNvPr id="3" name="Content Placeholder 2"/>
          <p:cNvSpPr>
            <a:spLocks noGrp="1"/>
          </p:cNvSpPr>
          <p:nvPr>
            <p:ph idx="1"/>
          </p:nvPr>
        </p:nvSpPr>
        <p:spPr>
          <a:xfrm>
            <a:off x="226031" y="1160980"/>
            <a:ext cx="8691938" cy="5373384"/>
          </a:xfrm>
        </p:spPr>
        <p:txBody>
          <a:bodyPr>
            <a:normAutofit lnSpcReduction="10000"/>
          </a:bodyPr>
          <a:lstStyle/>
          <a:p>
            <a:pPr algn="just"/>
            <a:r>
              <a:rPr sz="2400" b="1" dirty="0"/>
              <a:t>Demand Forecasting</a:t>
            </a:r>
            <a:r>
              <a:rPr lang="en-US" sz="2400" b="1" dirty="0"/>
              <a:t>: </a:t>
            </a:r>
            <a:r>
              <a:rPr lang="en-US" sz="2400" dirty="0"/>
              <a:t>Managerial Economics helps businesses to estimate </a:t>
            </a:r>
            <a:r>
              <a:rPr lang="en-US" sz="2400" b="1" dirty="0"/>
              <a:t>future demand</a:t>
            </a:r>
            <a:r>
              <a:rPr lang="en-US" sz="2400" dirty="0"/>
              <a:t> for their products or services so they can plan production, inventory, staffing, and marketing. </a:t>
            </a:r>
          </a:p>
          <a:p>
            <a:pPr algn="just"/>
            <a:r>
              <a:rPr lang="en-US" sz="2400" b="1" dirty="0"/>
              <a:t>Example:</a:t>
            </a:r>
            <a:br>
              <a:rPr lang="en-US" sz="2400" dirty="0"/>
            </a:br>
            <a:r>
              <a:rPr lang="en-US" sz="2400" b="1" dirty="0"/>
              <a:t>Starbucks</a:t>
            </a:r>
            <a:r>
              <a:rPr lang="en-US" sz="2400" dirty="0"/>
              <a:t> studies consumer preferences, seasonal trends, income levels, and past sales data to forecast how many cups of coffee will sell in a particular city. This helps them decide how much coffee to buy, how many staff to hire, and whether to open more outlets.</a:t>
            </a:r>
          </a:p>
          <a:p>
            <a:pPr algn="just"/>
            <a:r>
              <a:rPr lang="en-US" sz="2400" b="1" dirty="0"/>
              <a:t>Production Planning: </a:t>
            </a:r>
            <a:r>
              <a:rPr lang="en-US" sz="2400" dirty="0"/>
              <a:t>It helps firms to decide </a:t>
            </a:r>
            <a:r>
              <a:rPr lang="en-US" sz="2400" b="1" dirty="0"/>
              <a:t>what to produce, how much to produce, and how to produce </a:t>
            </a:r>
            <a:r>
              <a:rPr lang="en-US" sz="2400" dirty="0"/>
              <a:t>using the most efficient combination of labor and technology. </a:t>
            </a:r>
          </a:p>
          <a:p>
            <a:pPr algn="just"/>
            <a:r>
              <a:rPr lang="en-US" sz="2400" b="1" dirty="0"/>
              <a:t>Example:</a:t>
            </a:r>
            <a:br>
              <a:rPr lang="en-US" sz="2400" dirty="0"/>
            </a:br>
            <a:r>
              <a:rPr lang="en-US" sz="2400" dirty="0"/>
              <a:t>A car manufacturing company uses economic cost analysis to decide whether to invest in </a:t>
            </a:r>
            <a:r>
              <a:rPr lang="en-US" sz="2400" b="1" dirty="0"/>
              <a:t>automation (robots)</a:t>
            </a:r>
            <a:r>
              <a:rPr lang="en-US" sz="2400" dirty="0"/>
              <a:t> or continue using manual labor. If automation reduces long-term cost, managerial economics supports the decision with cost-benefit analysis.</a:t>
            </a:r>
          </a:p>
          <a:p>
            <a:pPr marL="0" indent="0" algn="just">
              <a:buNone/>
            </a:pPr>
            <a:endParaRPr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69ED4-E7EE-43BF-A7C7-5FA4DAF41D3A}"/>
              </a:ext>
            </a:extLst>
          </p:cNvPr>
          <p:cNvSpPr>
            <a:spLocks noGrp="1"/>
          </p:cNvSpPr>
          <p:nvPr>
            <p:ph idx="1"/>
          </p:nvPr>
        </p:nvSpPr>
        <p:spPr>
          <a:xfrm>
            <a:off x="318499" y="248495"/>
            <a:ext cx="8373438" cy="6224223"/>
          </a:xfrm>
        </p:spPr>
        <p:txBody>
          <a:bodyPr>
            <a:normAutofit fontScale="92500"/>
          </a:bodyPr>
          <a:lstStyle/>
          <a:p>
            <a:pPr algn="just"/>
            <a:r>
              <a:rPr lang="en-US" sz="2600" dirty="0"/>
              <a:t> </a:t>
            </a:r>
            <a:r>
              <a:rPr lang="en-US" sz="2600" b="1" dirty="0"/>
              <a:t>Investment and Capital Budgeting Decisions: </a:t>
            </a:r>
            <a:r>
              <a:rPr lang="en-US" sz="2600" dirty="0"/>
              <a:t>It helps managers to evaluate long-term investments using tools like </a:t>
            </a:r>
            <a:r>
              <a:rPr lang="en-US" sz="2600" b="1" dirty="0"/>
              <a:t>Net Present Value (NPV)</a:t>
            </a:r>
            <a:r>
              <a:rPr lang="en-US" sz="2600" dirty="0"/>
              <a:t>, </a:t>
            </a:r>
            <a:r>
              <a:rPr lang="en-US" sz="2600" b="1" dirty="0"/>
              <a:t>Internal Rate of Return (IRR)</a:t>
            </a:r>
            <a:r>
              <a:rPr lang="en-US" sz="2600" dirty="0"/>
              <a:t>, and </a:t>
            </a:r>
            <a:r>
              <a:rPr lang="en-US" sz="2600" b="1" dirty="0"/>
              <a:t>Payback Period</a:t>
            </a:r>
            <a:r>
              <a:rPr lang="en-US" sz="2600" dirty="0"/>
              <a:t>.                       </a:t>
            </a:r>
          </a:p>
          <a:p>
            <a:pPr marL="0" indent="0" algn="just">
              <a:buNone/>
            </a:pPr>
            <a:r>
              <a:rPr lang="en-US" sz="2600" b="1" dirty="0"/>
              <a:t>Example:</a:t>
            </a:r>
            <a:br>
              <a:rPr lang="en-US" sz="2600" dirty="0"/>
            </a:br>
            <a:r>
              <a:rPr lang="en-US" sz="2600" dirty="0"/>
              <a:t>A company deciding whether to build a new factory compares the </a:t>
            </a:r>
            <a:r>
              <a:rPr lang="en-US" sz="2600" b="1" dirty="0"/>
              <a:t>NPV</a:t>
            </a:r>
            <a:r>
              <a:rPr lang="en-US" sz="2600" dirty="0"/>
              <a:t> of investing ₹50 crore today with the future profits it will generate over 10 years. If NPV is positive and IRR is higher than cost of capital, the project is approved.</a:t>
            </a:r>
          </a:p>
          <a:p>
            <a:pPr algn="just"/>
            <a:r>
              <a:rPr lang="en-US" sz="2600" dirty="0"/>
              <a:t> </a:t>
            </a:r>
            <a:r>
              <a:rPr lang="en-US" sz="2600" b="1" dirty="0"/>
              <a:t>Pricing Policy: </a:t>
            </a:r>
            <a:r>
              <a:rPr lang="en-US" sz="2600" dirty="0"/>
              <a:t>Managerial Economics guides pricing strategies by analyzing </a:t>
            </a:r>
            <a:r>
              <a:rPr lang="en-US" sz="2600" b="1" dirty="0"/>
              <a:t>demand elasticity, competition, cost, and customer behavior</a:t>
            </a:r>
            <a:r>
              <a:rPr lang="en-US" sz="2600" dirty="0"/>
              <a:t>.</a:t>
            </a:r>
            <a:r>
              <a:rPr lang="en-US" sz="2600" b="1" dirty="0"/>
              <a:t> </a:t>
            </a:r>
          </a:p>
          <a:p>
            <a:pPr marL="0" indent="0" algn="just">
              <a:buNone/>
            </a:pPr>
            <a:r>
              <a:rPr lang="en-US" sz="2600" b="1" dirty="0"/>
              <a:t>Example:</a:t>
            </a:r>
            <a:br>
              <a:rPr lang="en-US" sz="2600" dirty="0"/>
            </a:br>
            <a:r>
              <a:rPr lang="en-US" sz="2600" b="1" dirty="0"/>
              <a:t>Netflix</a:t>
            </a:r>
            <a:r>
              <a:rPr lang="en-US" sz="2600" dirty="0"/>
              <a:t> charges different subscription prices in different countries. In India, the price is lower than in the US because of different income levels and competition. This regional pricing strategy is based on economic analysis of willingness to pay.</a:t>
            </a:r>
          </a:p>
          <a:p>
            <a:pPr algn="just"/>
            <a:endParaRPr lang="en-US" sz="2600" dirty="0"/>
          </a:p>
          <a:p>
            <a:pPr algn="just"/>
            <a:endParaRPr lang="en-US" sz="2600" dirty="0"/>
          </a:p>
          <a:p>
            <a:pPr marL="0" indent="0" algn="just">
              <a:buNone/>
            </a:pPr>
            <a:endParaRPr lang="en-US" sz="2600" dirty="0"/>
          </a:p>
        </p:txBody>
      </p:sp>
    </p:spTree>
    <p:extLst>
      <p:ext uri="{BB962C8B-B14F-4D97-AF65-F5344CB8AC3E}">
        <p14:creationId xmlns:p14="http://schemas.microsoft.com/office/powerpoint/2010/main" val="214644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5213A1B-A298-422C-AF3F-FB9A76861E14}"/>
              </a:ext>
            </a:extLst>
          </p:cNvPr>
          <p:cNvSpPr>
            <a:spLocks noGrp="1"/>
          </p:cNvSpPr>
          <p:nvPr>
            <p:ph type="subTitle" idx="1"/>
          </p:nvPr>
        </p:nvSpPr>
        <p:spPr>
          <a:xfrm>
            <a:off x="92467" y="119099"/>
            <a:ext cx="8938517" cy="6631022"/>
          </a:xfrm>
        </p:spPr>
        <p:txBody>
          <a:bodyPr>
            <a:normAutofit/>
          </a:bodyPr>
          <a:lstStyle/>
          <a:p>
            <a:pPr marL="342900" indent="-342900" algn="just">
              <a:buFont typeface="Arial" panose="020B0604020202020204" pitchFamily="34" charset="0"/>
              <a:buChar char="•"/>
            </a:pPr>
            <a:r>
              <a:rPr lang="en-US" sz="2500" b="1" dirty="0"/>
              <a:t>Profit Planning and Management: </a:t>
            </a:r>
            <a:r>
              <a:rPr lang="en-US" sz="2500" dirty="0"/>
              <a:t>Managerial Economics helps firms analyze how much they need to sell to earn profit and avoid losses using tools like </a:t>
            </a:r>
            <a:r>
              <a:rPr lang="en-US" sz="2500" b="1" dirty="0"/>
              <a:t>break-even analysis</a:t>
            </a:r>
            <a:r>
              <a:rPr lang="en-US" sz="2500" dirty="0"/>
              <a:t>. </a:t>
            </a:r>
          </a:p>
          <a:p>
            <a:pPr marL="342900" indent="-342900" algn="just">
              <a:buFont typeface="Arial" panose="020B0604020202020204" pitchFamily="34" charset="0"/>
              <a:buChar char="•"/>
            </a:pPr>
            <a:r>
              <a:rPr lang="en-US" sz="2500" b="1" dirty="0"/>
              <a:t>Example:</a:t>
            </a:r>
            <a:br>
              <a:rPr lang="en-US" sz="2500" dirty="0"/>
            </a:br>
            <a:r>
              <a:rPr lang="en-US" sz="2500" dirty="0"/>
              <a:t>A bakery calculates that it must sell </a:t>
            </a:r>
            <a:r>
              <a:rPr lang="en-US" sz="2500" b="1" dirty="0"/>
              <a:t>2,000 cupcakes per month</a:t>
            </a:r>
            <a:r>
              <a:rPr lang="en-US" sz="2500" dirty="0"/>
              <a:t> to cover its fixed and variable costs (break-even point). Selling more than 2,000 earns profit; less than 2,000 results in loss. This helps in pricing, sales targets, and production planning.</a:t>
            </a:r>
          </a:p>
          <a:p>
            <a:pPr marL="342900" indent="-342900" algn="just">
              <a:buFont typeface="Arial" panose="020B0604020202020204" pitchFamily="34" charset="0"/>
              <a:buChar char="•"/>
            </a:pPr>
            <a:r>
              <a:rPr lang="en-US" sz="2500" b="1" dirty="0"/>
              <a:t>Policy Formulation and Business Strategy: </a:t>
            </a:r>
            <a:r>
              <a:rPr lang="en-US" sz="2500" dirty="0"/>
              <a:t>Managerial economics helps in designing </a:t>
            </a:r>
            <a:r>
              <a:rPr lang="en-US" sz="2500" b="1" dirty="0"/>
              <a:t>internal business policies</a:t>
            </a:r>
            <a:r>
              <a:rPr lang="en-US" sz="2500" dirty="0"/>
              <a:t> related to production, pricing, marketing, and inventory control. It ensures policies are data-driven and economically sound.</a:t>
            </a:r>
          </a:p>
          <a:p>
            <a:pPr marL="342900" indent="-342900" algn="just">
              <a:buFont typeface="Arial" panose="020B0604020202020204" pitchFamily="34" charset="0"/>
              <a:buChar char="•"/>
            </a:pPr>
            <a:r>
              <a:rPr lang="en-US" sz="2500" b="1" dirty="0"/>
              <a:t>Example:</a:t>
            </a:r>
            <a:br>
              <a:rPr lang="en-US" sz="2500" dirty="0"/>
            </a:br>
            <a:r>
              <a:rPr lang="en-US" sz="2500" dirty="0"/>
              <a:t>A company revises its pricing policy in response to inflation or changes in tax rates.</a:t>
            </a:r>
          </a:p>
          <a:p>
            <a:pPr marL="342900" indent="-342900" algn="just">
              <a:buFont typeface="Arial" panose="020B0604020202020204" pitchFamily="34" charset="0"/>
              <a:buChar char="•"/>
            </a:pPr>
            <a:endParaRPr lang="en-US" sz="2500" b="1" dirty="0"/>
          </a:p>
          <a:p>
            <a:pPr algn="just"/>
            <a:endParaRPr lang="en-US" sz="2500" dirty="0"/>
          </a:p>
        </p:txBody>
      </p:sp>
    </p:spTree>
    <p:extLst>
      <p:ext uri="{BB962C8B-B14F-4D97-AF65-F5344CB8AC3E}">
        <p14:creationId xmlns:p14="http://schemas.microsoft.com/office/powerpoint/2010/main" val="3094441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28DAD-1B56-4BE8-9E3E-DB0017736B2C}"/>
              </a:ext>
            </a:extLst>
          </p:cNvPr>
          <p:cNvSpPr>
            <a:spLocks noGrp="1"/>
          </p:cNvSpPr>
          <p:nvPr>
            <p:ph idx="1"/>
          </p:nvPr>
        </p:nvSpPr>
        <p:spPr>
          <a:xfrm>
            <a:off x="184935" y="202308"/>
            <a:ext cx="8825501" cy="6486167"/>
          </a:xfrm>
        </p:spPr>
        <p:txBody>
          <a:bodyPr>
            <a:normAutofit lnSpcReduction="10000"/>
          </a:bodyPr>
          <a:lstStyle/>
          <a:p>
            <a:pPr algn="just"/>
            <a:r>
              <a:rPr lang="en-US" sz="2600" b="1" dirty="0"/>
              <a:t>Resource Allocation:</a:t>
            </a:r>
            <a:r>
              <a:rPr lang="en-US" sz="2600" dirty="0"/>
              <a:t> Resources are always limited; managerial economics helps allocate them optimally. It ensures the highest return on investment by choosing the best combination of inputs. </a:t>
            </a:r>
          </a:p>
          <a:p>
            <a:pPr marL="0" indent="0" algn="just">
              <a:buNone/>
            </a:pPr>
            <a:r>
              <a:rPr lang="en-US" sz="2600" b="1" dirty="0"/>
              <a:t>Example:</a:t>
            </a:r>
            <a:br>
              <a:rPr lang="en-US" sz="2600" dirty="0"/>
            </a:br>
            <a:r>
              <a:rPr lang="en-US" sz="2600" dirty="0"/>
              <a:t>An airline allocates aircraft to profitable routes using cost and demand analysis.</a:t>
            </a:r>
          </a:p>
          <a:p>
            <a:pPr algn="just"/>
            <a:r>
              <a:rPr lang="en-US" sz="2400" b="1" dirty="0"/>
              <a:t>Evaluation of Government Policies: </a:t>
            </a:r>
            <a:r>
              <a:rPr lang="en-US" sz="2400" dirty="0"/>
              <a:t>Managerial economics helps firms </a:t>
            </a:r>
            <a:r>
              <a:rPr lang="en-US" sz="2400" b="1" dirty="0"/>
              <a:t>evaluate</a:t>
            </a:r>
            <a:r>
              <a:rPr lang="en-US" sz="2400" dirty="0"/>
              <a:t> and </a:t>
            </a:r>
            <a:r>
              <a:rPr lang="en-US" sz="2400" b="1" dirty="0"/>
              <a:t>adapt</a:t>
            </a:r>
            <a:r>
              <a:rPr lang="en-US" sz="2400" dirty="0"/>
              <a:t> to such policies effectively. </a:t>
            </a:r>
          </a:p>
          <a:p>
            <a:pPr marL="0" indent="0" algn="just">
              <a:buNone/>
            </a:pPr>
            <a:r>
              <a:rPr lang="en-US" sz="2400" b="1" dirty="0"/>
              <a:t>Example:</a:t>
            </a:r>
            <a:br>
              <a:rPr lang="en-US" sz="2400" dirty="0"/>
            </a:br>
            <a:r>
              <a:rPr lang="en-US" sz="2400" dirty="0"/>
              <a:t>A manufacturing firm adjusts its production plan after a hike in import duties on raw materials.</a:t>
            </a:r>
          </a:p>
          <a:p>
            <a:pPr algn="just"/>
            <a:r>
              <a:rPr lang="en-US" sz="2400" b="1" dirty="0"/>
              <a:t>Performance Appraisal and Control: </a:t>
            </a:r>
            <a:r>
              <a:rPr lang="en-US" sz="2400" dirty="0"/>
              <a:t>It helps assess the performance of different departments or projects using cost-benefit and productivity analysis. </a:t>
            </a:r>
          </a:p>
          <a:p>
            <a:pPr marL="0" indent="0" algn="just">
              <a:buNone/>
            </a:pPr>
            <a:r>
              <a:rPr lang="en-US" sz="2400" b="1" dirty="0"/>
              <a:t>Example:</a:t>
            </a:r>
            <a:br>
              <a:rPr lang="en-US" sz="2400" dirty="0"/>
            </a:br>
            <a:r>
              <a:rPr lang="en-US" sz="2400" dirty="0"/>
              <a:t>A company compares departmental profit margins to evaluate manager performance.</a:t>
            </a:r>
            <a:endParaRPr lang="en-US" sz="2600" dirty="0"/>
          </a:p>
        </p:txBody>
      </p:sp>
    </p:spTree>
    <p:extLst>
      <p:ext uri="{BB962C8B-B14F-4D97-AF65-F5344CB8AC3E}">
        <p14:creationId xmlns:p14="http://schemas.microsoft.com/office/powerpoint/2010/main" val="1993686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15" y="113017"/>
            <a:ext cx="8917970" cy="1109608"/>
          </a:xfrm>
        </p:spPr>
        <p:txBody>
          <a:bodyPr>
            <a:noAutofit/>
          </a:bodyPr>
          <a:lstStyle/>
          <a:p>
            <a:pPr algn="ctr"/>
            <a:r>
              <a:rPr sz="4800" b="1" u="sng" dirty="0"/>
              <a:t>Role &amp; Responsibilities of Managerial Economist</a:t>
            </a:r>
          </a:p>
        </p:txBody>
      </p:sp>
      <p:sp>
        <p:nvSpPr>
          <p:cNvPr id="3" name="Content Placeholder 2"/>
          <p:cNvSpPr>
            <a:spLocks noGrp="1"/>
          </p:cNvSpPr>
          <p:nvPr>
            <p:ph idx="1"/>
          </p:nvPr>
        </p:nvSpPr>
        <p:spPr>
          <a:xfrm>
            <a:off x="113015" y="1767155"/>
            <a:ext cx="8959066" cy="4988102"/>
          </a:xfrm>
        </p:spPr>
        <p:txBody>
          <a:bodyPr>
            <a:noAutofit/>
          </a:bodyPr>
          <a:lstStyle/>
          <a:p>
            <a:pPr marL="0" lvl="0" indent="0" algn="just" eaLnBrk="0" fontAlgn="base" hangingPunct="0">
              <a:lnSpc>
                <a:spcPct val="100000"/>
              </a:lnSpc>
              <a:spcBef>
                <a:spcPct val="0"/>
              </a:spcBef>
              <a:spcAft>
                <a:spcPct val="0"/>
              </a:spcAft>
              <a:buFontTx/>
              <a:buChar char="•"/>
            </a:pPr>
            <a:r>
              <a:rPr lang="en-US" sz="2500" dirty="0"/>
              <a:t>  </a:t>
            </a:r>
            <a:r>
              <a:rPr sz="2500" dirty="0"/>
              <a:t>Demand Forecasting</a:t>
            </a:r>
            <a:r>
              <a:rPr lang="en-US" sz="2500" dirty="0"/>
              <a:t>: </a:t>
            </a:r>
            <a:r>
              <a:rPr lang="en-US" altLang="en-US" sz="2500" dirty="0">
                <a:effectLst/>
              </a:rPr>
              <a:t>Predicts future demand for the company’s          products and services. It helps in production, pricing, staffing, and inventory decisions. </a:t>
            </a:r>
            <a:r>
              <a:rPr lang="en-US" altLang="en-US" sz="2500" b="1" i="1" dirty="0">
                <a:effectLst/>
              </a:rPr>
              <a:t>Example</a:t>
            </a:r>
            <a:r>
              <a:rPr lang="en-US" altLang="en-US" sz="2500" i="1" dirty="0">
                <a:effectLst/>
              </a:rPr>
              <a:t>:</a:t>
            </a:r>
            <a:r>
              <a:rPr lang="en-US" altLang="en-US" sz="2500" dirty="0">
                <a:effectLst/>
              </a:rPr>
              <a:t> Forecasting how many smartphones will be sold next quarter.</a:t>
            </a:r>
            <a:endParaRPr sz="2500" dirty="0"/>
          </a:p>
          <a:p>
            <a:pPr algn="just"/>
            <a:r>
              <a:rPr sz="2500" dirty="0"/>
              <a:t>Cost &amp; Production Analysis</a:t>
            </a:r>
            <a:r>
              <a:rPr lang="en-US" sz="2500" dirty="0"/>
              <a:t>: Studies cost behavior (fixed, variable, marginal costs). Suggests the most economical level of production. </a:t>
            </a:r>
            <a:r>
              <a:rPr lang="en-US" sz="2500" b="1" dirty="0"/>
              <a:t>E</a:t>
            </a:r>
            <a:r>
              <a:rPr lang="en-US" sz="2500" b="1" i="1" dirty="0"/>
              <a:t>xample</a:t>
            </a:r>
            <a:r>
              <a:rPr lang="en-US" sz="2500" i="1" dirty="0"/>
              <a:t>:</a:t>
            </a:r>
            <a:r>
              <a:rPr lang="en-US" sz="2500" dirty="0"/>
              <a:t> Advising whether to produce in-house or outsource.</a:t>
            </a:r>
            <a:endParaRPr sz="2500" dirty="0"/>
          </a:p>
          <a:p>
            <a:pPr algn="just"/>
            <a:r>
              <a:rPr sz="2500" dirty="0"/>
              <a:t>Pricing &amp; Market Strategy</a:t>
            </a:r>
            <a:r>
              <a:rPr lang="en-US" sz="2500" dirty="0"/>
              <a:t>: Helps in fixing product prices using concepts like elasticity, competition, and market structure.</a:t>
            </a:r>
            <a:endParaRPr sz="2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6EAAE-7259-4A24-9AD3-EDE8278EED96}"/>
              </a:ext>
            </a:extLst>
          </p:cNvPr>
          <p:cNvSpPr>
            <a:spLocks noGrp="1"/>
          </p:cNvSpPr>
          <p:nvPr>
            <p:ph idx="1"/>
          </p:nvPr>
        </p:nvSpPr>
        <p:spPr>
          <a:xfrm>
            <a:off x="236306" y="174796"/>
            <a:ext cx="8784404" cy="6585599"/>
          </a:xfrm>
        </p:spPr>
        <p:txBody>
          <a:bodyPr/>
          <a:lstStyle/>
          <a:p>
            <a:pPr algn="just"/>
            <a:r>
              <a:rPr lang="en-US" dirty="0"/>
              <a:t>Risk Analysis: Evaluates business risks (price risk, demand risk, interest rate risk, etc.). Uses tools like probability, scenario analysis, sensitivity analysis. </a:t>
            </a:r>
            <a:r>
              <a:rPr lang="en-US" b="1" dirty="0"/>
              <a:t>E</a:t>
            </a:r>
            <a:r>
              <a:rPr lang="en-US" b="1" i="1" dirty="0"/>
              <a:t>xample</a:t>
            </a:r>
            <a:r>
              <a:rPr lang="en-US" i="1" dirty="0"/>
              <a:t>:</a:t>
            </a:r>
            <a:r>
              <a:rPr lang="en-US" dirty="0"/>
              <a:t> Helping the company hedge against raw material price fluctuations.</a:t>
            </a:r>
          </a:p>
          <a:p>
            <a:pPr algn="just"/>
            <a:r>
              <a:rPr lang="en-US" dirty="0"/>
              <a:t>Capital Budgeting: Evaluates investment proposals using NPV, IRR, payback period, etc. </a:t>
            </a:r>
            <a:r>
              <a:rPr lang="en-US" b="1" dirty="0"/>
              <a:t>E</a:t>
            </a:r>
            <a:r>
              <a:rPr lang="en-US" b="1" i="1" dirty="0"/>
              <a:t>xample</a:t>
            </a:r>
            <a:r>
              <a:rPr lang="en-US" i="1" dirty="0"/>
              <a:t>:</a:t>
            </a:r>
            <a:r>
              <a:rPr lang="en-US" dirty="0"/>
              <a:t> Deciding whether to invest in a new factory or new technology.</a:t>
            </a:r>
          </a:p>
          <a:p>
            <a:pPr algn="just"/>
            <a:r>
              <a:rPr lang="en-US" dirty="0"/>
              <a:t>Policy Evaluation: A Managerial Economist evaluates the </a:t>
            </a:r>
            <a:r>
              <a:rPr lang="en-US" b="1" dirty="0"/>
              <a:t>impact of government policies, regulations, and internal company policies</a:t>
            </a:r>
            <a:r>
              <a:rPr lang="en-US" dirty="0"/>
              <a:t> on business operations and profitability.</a:t>
            </a:r>
          </a:p>
          <a:p>
            <a:pPr algn="just"/>
            <a:r>
              <a:rPr lang="en-US" dirty="0"/>
              <a:t>Profit Planning: Uses break-even analysis, cost-volume-profit analysis, and profit forecasting. </a:t>
            </a:r>
            <a:r>
              <a:rPr lang="en-US" b="1" dirty="0"/>
              <a:t>E</a:t>
            </a:r>
            <a:r>
              <a:rPr lang="en-US" b="1" i="1" dirty="0"/>
              <a:t>xample</a:t>
            </a:r>
            <a:r>
              <a:rPr lang="en-US" i="1" dirty="0"/>
              <a:t>:</a:t>
            </a:r>
            <a:r>
              <a:rPr lang="en-US" dirty="0"/>
              <a:t> Calculating minimum sales needed to avoid loss.</a:t>
            </a:r>
          </a:p>
          <a:p>
            <a:pPr algn="just"/>
            <a:endParaRPr lang="en-US" dirty="0"/>
          </a:p>
        </p:txBody>
      </p:sp>
    </p:spTree>
    <p:extLst>
      <p:ext uri="{BB962C8B-B14F-4D97-AF65-F5344CB8AC3E}">
        <p14:creationId xmlns:p14="http://schemas.microsoft.com/office/powerpoint/2010/main" val="4207636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A347-463A-4F83-959A-8534C6ECCAC0}"/>
              </a:ext>
            </a:extLst>
          </p:cNvPr>
          <p:cNvSpPr>
            <a:spLocks noGrp="1"/>
          </p:cNvSpPr>
          <p:nvPr>
            <p:ph type="title"/>
          </p:nvPr>
        </p:nvSpPr>
        <p:spPr>
          <a:xfrm>
            <a:off x="628650" y="194353"/>
            <a:ext cx="7847530" cy="3503487"/>
          </a:xfrm>
        </p:spPr>
        <p:txBody>
          <a:bodyPr>
            <a:normAutofit/>
          </a:bodyPr>
          <a:lstStyle/>
          <a:p>
            <a:r>
              <a:rPr lang="en-US" sz="6000" u="sng" dirty="0">
                <a:solidFill>
                  <a:srgbClr val="92D050"/>
                </a:solidFill>
                <a:latin typeface="Arial Black" panose="020B0A04020102020204" pitchFamily="34" charset="0"/>
              </a:rPr>
              <a:t>Theory of the firm</a:t>
            </a:r>
            <a:br>
              <a:rPr lang="en-US" sz="6000" u="sng" dirty="0">
                <a:solidFill>
                  <a:srgbClr val="92D050"/>
                </a:solidFill>
                <a:latin typeface="Arial Black" panose="020B0A04020102020204" pitchFamily="34" charset="0"/>
              </a:rPr>
            </a:br>
            <a:endParaRPr lang="en-US" sz="6000" u="sng" dirty="0">
              <a:solidFill>
                <a:srgbClr val="92D050"/>
              </a:solidFill>
              <a:latin typeface="Arial Black" panose="020B0A04020102020204" pitchFamily="34" charset="0"/>
            </a:endParaRPr>
          </a:p>
        </p:txBody>
      </p:sp>
      <p:pic>
        <p:nvPicPr>
          <p:cNvPr id="5" name="Picture 4">
            <a:extLst>
              <a:ext uri="{FF2B5EF4-FFF2-40B4-BE49-F238E27FC236}">
                <a16:creationId xmlns:a16="http://schemas.microsoft.com/office/drawing/2014/main" id="{E7D7DBFF-3195-47E9-B963-59D9190794CE}"/>
              </a:ext>
            </a:extLst>
          </p:cNvPr>
          <p:cNvPicPr>
            <a:picLocks noChangeAspect="1"/>
          </p:cNvPicPr>
          <p:nvPr/>
        </p:nvPicPr>
        <p:blipFill>
          <a:blip r:embed="rId2"/>
          <a:stretch>
            <a:fillRect/>
          </a:stretch>
        </p:blipFill>
        <p:spPr>
          <a:xfrm>
            <a:off x="1694915" y="2418708"/>
            <a:ext cx="5715000" cy="3505200"/>
          </a:xfrm>
          <a:prstGeom prst="rect">
            <a:avLst/>
          </a:prstGeom>
        </p:spPr>
      </p:pic>
    </p:spTree>
    <p:extLst>
      <p:ext uri="{BB962C8B-B14F-4D97-AF65-F5344CB8AC3E}">
        <p14:creationId xmlns:p14="http://schemas.microsoft.com/office/powerpoint/2010/main" val="656789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57C7EE31-D520-4A17-80F2-DC681F1EEA2E}"/>
              </a:ext>
            </a:extLst>
          </p:cNvPr>
          <p:cNvSpPr>
            <a:spLocks noGrp="1"/>
          </p:cNvSpPr>
          <p:nvPr>
            <p:ph type="subTitle" idx="1"/>
          </p:nvPr>
        </p:nvSpPr>
        <p:spPr>
          <a:xfrm>
            <a:off x="-1" y="1"/>
            <a:ext cx="9144001" cy="6858000"/>
          </a:xfrm>
        </p:spPr>
        <p:txBody>
          <a:bodyPr/>
          <a:lstStyle/>
          <a:p>
            <a:pPr algn="just"/>
            <a:endParaRPr lang="en-US" dirty="0"/>
          </a:p>
        </p:txBody>
      </p:sp>
      <p:pic>
        <p:nvPicPr>
          <p:cNvPr id="11" name="Picture 10">
            <a:extLst>
              <a:ext uri="{FF2B5EF4-FFF2-40B4-BE49-F238E27FC236}">
                <a16:creationId xmlns:a16="http://schemas.microsoft.com/office/drawing/2014/main" id="{4D6EDE55-A03D-49C4-B144-E92E8AEF3236}"/>
              </a:ext>
            </a:extLst>
          </p:cNvPr>
          <p:cNvPicPr>
            <a:picLocks noChangeAspect="1"/>
          </p:cNvPicPr>
          <p:nvPr/>
        </p:nvPicPr>
        <p:blipFill rotWithShape="1">
          <a:blip r:embed="rId2"/>
          <a:srcRect b="23488"/>
          <a:stretch/>
        </p:blipFill>
        <p:spPr>
          <a:xfrm>
            <a:off x="0" y="-102741"/>
            <a:ext cx="9144000" cy="3395609"/>
          </a:xfrm>
          <a:prstGeom prst="rect">
            <a:avLst/>
          </a:prstGeom>
        </p:spPr>
      </p:pic>
      <p:pic>
        <p:nvPicPr>
          <p:cNvPr id="13" name="Picture 12">
            <a:extLst>
              <a:ext uri="{FF2B5EF4-FFF2-40B4-BE49-F238E27FC236}">
                <a16:creationId xmlns:a16="http://schemas.microsoft.com/office/drawing/2014/main" id="{35040FB3-A024-49C0-9D05-A1EA95D87650}"/>
              </a:ext>
            </a:extLst>
          </p:cNvPr>
          <p:cNvPicPr>
            <a:picLocks noChangeAspect="1"/>
          </p:cNvPicPr>
          <p:nvPr/>
        </p:nvPicPr>
        <p:blipFill rotWithShape="1">
          <a:blip r:embed="rId3"/>
          <a:srcRect b="21604"/>
          <a:stretch/>
        </p:blipFill>
        <p:spPr>
          <a:xfrm>
            <a:off x="1" y="3292868"/>
            <a:ext cx="9144000" cy="3585681"/>
          </a:xfrm>
          <a:prstGeom prst="rect">
            <a:avLst/>
          </a:prstGeom>
        </p:spPr>
      </p:pic>
    </p:spTree>
    <p:extLst>
      <p:ext uri="{BB962C8B-B14F-4D97-AF65-F5344CB8AC3E}">
        <p14:creationId xmlns:p14="http://schemas.microsoft.com/office/powerpoint/2010/main" val="2143153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C5B412-DDD0-4980-8671-CE31BBE038C4}"/>
              </a:ext>
            </a:extLst>
          </p:cNvPr>
          <p:cNvSpPr>
            <a:spLocks noGrp="1"/>
          </p:cNvSpPr>
          <p:nvPr>
            <p:ph idx="1"/>
          </p:nvPr>
        </p:nvSpPr>
        <p:spPr>
          <a:xfrm>
            <a:off x="71919" y="113016"/>
            <a:ext cx="8959065" cy="6637105"/>
          </a:xfrm>
        </p:spPr>
        <p:txBody>
          <a:bodyPr>
            <a:normAutofit/>
          </a:bodyPr>
          <a:lstStyle/>
          <a:p>
            <a:pPr marL="0" indent="0">
              <a:buNone/>
            </a:pPr>
            <a:r>
              <a:rPr lang="en-US" sz="2400" dirty="0"/>
              <a:t>A </a:t>
            </a:r>
            <a:r>
              <a:rPr lang="en-US" sz="2400" b="1" dirty="0"/>
              <a:t>firm</a:t>
            </a:r>
            <a:r>
              <a:rPr lang="en-US" sz="2400" dirty="0"/>
              <a:t> is a single business unit or organization engaged in producing or selling goods and services for profit. It is limited to one business organization. It takes decisions on production, pricing, and investment independently.</a:t>
            </a:r>
          </a:p>
          <a:p>
            <a:pPr marL="0" indent="0">
              <a:buNone/>
            </a:pPr>
            <a:r>
              <a:rPr lang="en-US" sz="2400" dirty="0"/>
              <a:t>Where as an </a:t>
            </a:r>
            <a:r>
              <a:rPr lang="en-US" sz="2400" b="1" dirty="0"/>
              <a:t>industry</a:t>
            </a:r>
            <a:r>
              <a:rPr lang="en-US" sz="2400" dirty="0"/>
              <a:t> is a group of firms that produce similar or closely related products or services. It includes all firms producing similar goods/services. It represents the collective activities and market structure of all such firms.</a:t>
            </a:r>
          </a:p>
          <a:p>
            <a:pPr marL="0" indent="0">
              <a:buNone/>
            </a:pPr>
            <a:r>
              <a:rPr lang="en-US" sz="2400" dirty="0"/>
              <a:t>Ex: Tata Motors Ltd., Maruti Suzuki Ltd., and Hyundai Motors are </a:t>
            </a:r>
            <a:r>
              <a:rPr lang="en-US" sz="2400" i="1" dirty="0"/>
              <a:t>firms</a:t>
            </a:r>
            <a:r>
              <a:rPr lang="en-US" sz="2400" dirty="0"/>
              <a:t>. The </a:t>
            </a:r>
            <a:r>
              <a:rPr lang="en-US" sz="2400" i="1" dirty="0"/>
              <a:t>automobile industry</a:t>
            </a:r>
            <a:r>
              <a:rPr lang="en-US" sz="2400" dirty="0"/>
              <a:t> includes all firms producing vehicles — Tata, Maruti, Hyundai, etc.</a:t>
            </a:r>
          </a:p>
          <a:p>
            <a:pPr marL="0" indent="0">
              <a:buNone/>
            </a:pPr>
            <a:endParaRPr lang="en-US" sz="2400" dirty="0"/>
          </a:p>
          <a:p>
            <a:pPr marL="0" indent="0">
              <a:buNone/>
            </a:pPr>
            <a:endParaRPr lang="en-US" sz="2400" dirty="0"/>
          </a:p>
          <a:p>
            <a:pPr marL="0" indent="0">
              <a:buNone/>
            </a:pPr>
            <a:endParaRPr lang="en-US" sz="2400" dirty="0"/>
          </a:p>
        </p:txBody>
      </p:sp>
      <p:graphicFrame>
        <p:nvGraphicFramePr>
          <p:cNvPr id="5" name="Table 4">
            <a:extLst>
              <a:ext uri="{FF2B5EF4-FFF2-40B4-BE49-F238E27FC236}">
                <a16:creationId xmlns:a16="http://schemas.microsoft.com/office/drawing/2014/main" id="{B942BCDD-B8DD-4BC4-8BDF-0A04F5076273}"/>
              </a:ext>
            </a:extLst>
          </p:cNvPr>
          <p:cNvGraphicFramePr>
            <a:graphicFrameLocks noGrp="1"/>
          </p:cNvGraphicFramePr>
          <p:nvPr>
            <p:extLst>
              <p:ext uri="{D42A27DB-BD31-4B8C-83A1-F6EECF244321}">
                <p14:modId xmlns:p14="http://schemas.microsoft.com/office/powerpoint/2010/main" val="1722849462"/>
              </p:ext>
            </p:extLst>
          </p:nvPr>
        </p:nvGraphicFramePr>
        <p:xfrm>
          <a:off x="113017" y="4161034"/>
          <a:ext cx="8917967" cy="2470445"/>
        </p:xfrm>
        <a:graphic>
          <a:graphicData uri="http://schemas.openxmlformats.org/drawingml/2006/table">
            <a:tbl>
              <a:tblPr/>
              <a:tblGrid>
                <a:gridCol w="3172637">
                  <a:extLst>
                    <a:ext uri="{9D8B030D-6E8A-4147-A177-3AD203B41FA5}">
                      <a16:colId xmlns:a16="http://schemas.microsoft.com/office/drawing/2014/main" val="2401411662"/>
                    </a:ext>
                  </a:extLst>
                </a:gridCol>
                <a:gridCol w="2872665">
                  <a:extLst>
                    <a:ext uri="{9D8B030D-6E8A-4147-A177-3AD203B41FA5}">
                      <a16:colId xmlns:a16="http://schemas.microsoft.com/office/drawing/2014/main" val="3218497751"/>
                    </a:ext>
                  </a:extLst>
                </a:gridCol>
                <a:gridCol w="2872665">
                  <a:extLst>
                    <a:ext uri="{9D8B030D-6E8A-4147-A177-3AD203B41FA5}">
                      <a16:colId xmlns:a16="http://schemas.microsoft.com/office/drawing/2014/main" val="167937292"/>
                    </a:ext>
                  </a:extLst>
                </a:gridCol>
              </a:tblGrid>
              <a:tr h="494089">
                <a:tc>
                  <a:txBody>
                    <a:bodyPr/>
                    <a:lstStyle/>
                    <a:p>
                      <a:r>
                        <a:rPr lang="en-US" sz="2400" b="1" dirty="0"/>
                        <a:t>Example Type</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a:t>Firm</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a:t>Industry</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7330692"/>
                  </a:ext>
                </a:extLst>
              </a:tr>
              <a:tr h="494089">
                <a:tc>
                  <a:txBody>
                    <a:bodyPr/>
                    <a:lstStyle/>
                    <a:p>
                      <a:r>
                        <a:rPr lang="en-US" sz="2400" dirty="0"/>
                        <a:t>Automobiles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Maruti Suzuki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Automobile 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682328"/>
                  </a:ext>
                </a:extLst>
              </a:tr>
              <a:tr h="494089">
                <a:tc>
                  <a:txBody>
                    <a:bodyPr/>
                    <a:lstStyle/>
                    <a:p>
                      <a:r>
                        <a:rPr lang="en-US" sz="2400" dirty="0"/>
                        <a:t>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ACC Ltd.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Cement 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208548"/>
                  </a:ext>
                </a:extLst>
              </a:tr>
              <a:tr h="494089">
                <a:tc>
                  <a:txBody>
                    <a:bodyPr/>
                    <a:lstStyle/>
                    <a:p>
                      <a:r>
                        <a:rPr lang="en-US" sz="2400"/>
                        <a:t>Electronics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Samsung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Electronics 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2131122"/>
                  </a:ext>
                </a:extLst>
              </a:tr>
              <a:tr h="494089">
                <a:tc>
                  <a:txBody>
                    <a:bodyPr/>
                    <a:lstStyle/>
                    <a:p>
                      <a:r>
                        <a:rPr lang="en-US" sz="2400"/>
                        <a:t>Banking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HDFC Bank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Banking 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0104320"/>
                  </a:ext>
                </a:extLst>
              </a:tr>
            </a:tbl>
          </a:graphicData>
        </a:graphic>
      </p:graphicFrame>
    </p:spTree>
    <p:extLst>
      <p:ext uri="{BB962C8B-B14F-4D97-AF65-F5344CB8AC3E}">
        <p14:creationId xmlns:p14="http://schemas.microsoft.com/office/powerpoint/2010/main" val="2804345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113" y="164386"/>
            <a:ext cx="8835774" cy="6544639"/>
          </a:xfrm>
        </p:spPr>
        <p:txBody>
          <a:bodyPr>
            <a:normAutofit fontScale="92500" lnSpcReduction="20000"/>
          </a:bodyPr>
          <a:lstStyle/>
          <a:p>
            <a:pPr marL="0" indent="0" algn="just">
              <a:buNone/>
            </a:pPr>
            <a:r>
              <a:rPr lang="en-US" dirty="0"/>
              <a:t>The </a:t>
            </a:r>
            <a:r>
              <a:rPr lang="en-US" b="1" dirty="0"/>
              <a:t>traditional theory of the firm</a:t>
            </a:r>
            <a:r>
              <a:rPr lang="en-US" dirty="0"/>
              <a:t> (based on classical economics) assumes that the </a:t>
            </a:r>
            <a:r>
              <a:rPr lang="en-US" b="1" dirty="0"/>
              <a:t>main objective of a firm is profit maximization</a:t>
            </a:r>
            <a:r>
              <a:rPr lang="en-US" dirty="0"/>
              <a:t>. It studies how firms make decisions on production, pricing, and profit.</a:t>
            </a:r>
          </a:p>
          <a:p>
            <a:pPr marL="0" indent="0" algn="just">
              <a:buNone/>
            </a:pPr>
            <a:r>
              <a:rPr lang="en-US" dirty="0"/>
              <a:t>However, in modern large corporations, ownership and management are separated. Managers are not owners to make most decisions. Hence, </a:t>
            </a:r>
            <a:r>
              <a:rPr lang="en-US" b="1" dirty="0"/>
              <a:t>managerial theories of the firm</a:t>
            </a:r>
            <a:r>
              <a:rPr lang="en-US" dirty="0"/>
              <a:t> were developed to explain </a:t>
            </a:r>
            <a:r>
              <a:rPr lang="en-US" b="1" dirty="0"/>
              <a:t>managerial goals and decision-making</a:t>
            </a:r>
            <a:r>
              <a:rPr lang="en-US" dirty="0"/>
              <a:t> when managers pursue </a:t>
            </a:r>
            <a:r>
              <a:rPr lang="en-US" b="1" dirty="0"/>
              <a:t>objectives other than profit maximization</a:t>
            </a:r>
            <a:r>
              <a:rPr lang="en-US" dirty="0"/>
              <a:t>, such as sales, growth or utility.</a:t>
            </a:r>
          </a:p>
          <a:p>
            <a:pPr marL="0" indent="0" algn="just">
              <a:buNone/>
            </a:pPr>
            <a:endParaRPr lang="en-US" dirty="0"/>
          </a:p>
          <a:p>
            <a:pPr marL="0" indent="0" algn="just">
              <a:buNone/>
            </a:pPr>
            <a:r>
              <a:rPr sz="3500" b="1" u="sng" dirty="0"/>
              <a:t>Objectives:</a:t>
            </a:r>
          </a:p>
          <a:p>
            <a:pPr marL="0" indent="0" algn="just">
              <a:buNone/>
            </a:pPr>
            <a:r>
              <a:rPr lang="en-US" dirty="0"/>
              <a:t>• Profit maximization (MC=MR)</a:t>
            </a:r>
          </a:p>
          <a:p>
            <a:pPr marL="0" indent="0" algn="just">
              <a:buNone/>
            </a:pPr>
            <a:r>
              <a:rPr lang="en-US" dirty="0"/>
              <a:t>• Sales maximization (Baumol)</a:t>
            </a:r>
          </a:p>
          <a:p>
            <a:pPr marL="0" indent="0" algn="just">
              <a:buNone/>
            </a:pPr>
            <a:r>
              <a:rPr lang="en-US" dirty="0"/>
              <a:t>• Growth maximization (Marris)</a:t>
            </a:r>
          </a:p>
          <a:p>
            <a:pPr marL="0" indent="0" algn="just">
              <a:buNone/>
            </a:pPr>
            <a:r>
              <a:rPr lang="en-US" dirty="0"/>
              <a:t>• Managerial utility maximization (Williamson)</a:t>
            </a:r>
          </a:p>
          <a:p>
            <a:pPr marL="0" indent="0" algn="just">
              <a:buNone/>
            </a:pPr>
            <a:r>
              <a:rPr lang="en-US" dirty="0"/>
              <a:t>• Satisficing </a:t>
            </a:r>
            <a:r>
              <a:rPr lang="en-US" dirty="0" err="1"/>
              <a:t>behaviour</a:t>
            </a:r>
            <a:r>
              <a:rPr lang="en-US" dirty="0"/>
              <a:t> (Simon)</a:t>
            </a:r>
          </a:p>
          <a:p>
            <a:pPr marL="0" indent="0" algn="just">
              <a:buNone/>
            </a:pPr>
            <a:r>
              <a:rPr lang="en-US" dirty="0"/>
              <a:t>• CSR objectives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16" y="102742"/>
            <a:ext cx="8917968" cy="1401665"/>
          </a:xfrm>
        </p:spPr>
        <p:txBody>
          <a:bodyPr>
            <a:normAutofit/>
          </a:bodyPr>
          <a:lstStyle/>
          <a:p>
            <a:pPr algn="ctr"/>
            <a:r>
              <a:rPr sz="5400" b="1" u="sng" dirty="0"/>
              <a:t>Managerial Theories of the Firm</a:t>
            </a:r>
          </a:p>
        </p:txBody>
      </p:sp>
      <p:sp>
        <p:nvSpPr>
          <p:cNvPr id="3" name="Content Placeholder 2"/>
          <p:cNvSpPr>
            <a:spLocks noGrp="1"/>
          </p:cNvSpPr>
          <p:nvPr>
            <p:ph idx="1"/>
          </p:nvPr>
        </p:nvSpPr>
        <p:spPr>
          <a:xfrm>
            <a:off x="277401" y="1243173"/>
            <a:ext cx="8661115" cy="5342562"/>
          </a:xfrm>
        </p:spPr>
        <p:txBody>
          <a:bodyPr/>
          <a:lstStyle/>
          <a:p>
            <a:pPr marL="0" indent="0">
              <a:buNone/>
            </a:pPr>
            <a:r>
              <a:rPr dirty="0"/>
              <a:t>Managerial Theories focus on alternative objectives beyond profit:</a:t>
            </a:r>
          </a:p>
          <a:p>
            <a:pPr marL="0" indent="0">
              <a:buNone/>
            </a:pPr>
            <a:r>
              <a:rPr sz="3200" dirty="0"/>
              <a:t>1. Baumol’s Sales Maximization</a:t>
            </a:r>
          </a:p>
          <a:p>
            <a:pPr marL="0" indent="0">
              <a:buNone/>
            </a:pPr>
            <a:r>
              <a:rPr sz="3200" dirty="0"/>
              <a:t>2. </a:t>
            </a:r>
            <a:r>
              <a:rPr sz="3200" dirty="0" err="1"/>
              <a:t>Marris’s</a:t>
            </a:r>
            <a:r>
              <a:rPr sz="3200" dirty="0"/>
              <a:t> Growth Maximization</a:t>
            </a:r>
          </a:p>
          <a:p>
            <a:pPr marL="0" indent="0">
              <a:buNone/>
            </a:pPr>
            <a:r>
              <a:rPr sz="3200" dirty="0"/>
              <a:t>3. Williamson’s Managerial Discretion</a:t>
            </a:r>
            <a:endParaRPr lang="en-US" sz="3200" dirty="0"/>
          </a:p>
          <a:p>
            <a:pPr marL="0" indent="0">
              <a:buNone/>
            </a:pPr>
            <a:endParaRPr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09" y="113015"/>
            <a:ext cx="8804953" cy="1273995"/>
          </a:xfrm>
        </p:spPr>
        <p:txBody>
          <a:bodyPr>
            <a:normAutofit/>
          </a:bodyPr>
          <a:lstStyle/>
          <a:p>
            <a:pPr algn="ctr"/>
            <a:r>
              <a:rPr sz="4800" b="1" u="sng" dirty="0"/>
              <a:t>Baumol’s Sales Maximization Model</a:t>
            </a:r>
          </a:p>
        </p:txBody>
      </p:sp>
      <p:sp>
        <p:nvSpPr>
          <p:cNvPr id="3" name="Content Placeholder 2"/>
          <p:cNvSpPr>
            <a:spLocks noGrp="1"/>
          </p:cNvSpPr>
          <p:nvPr>
            <p:ph idx="1"/>
          </p:nvPr>
        </p:nvSpPr>
        <p:spPr>
          <a:xfrm>
            <a:off x="1" y="1304819"/>
            <a:ext cx="9144000" cy="5553182"/>
          </a:xfrm>
        </p:spPr>
        <p:txBody>
          <a:bodyPr>
            <a:normAutofit/>
          </a:bodyPr>
          <a:lstStyle/>
          <a:p>
            <a:pPr marL="0" indent="0" algn="just">
              <a:buNone/>
            </a:pPr>
            <a:r>
              <a:rPr dirty="0"/>
              <a:t>William J. Baumol</a:t>
            </a:r>
            <a:r>
              <a:rPr lang="en-US" dirty="0"/>
              <a:t> has explained about this theory. According to him, “every business firm aims at maximization. </a:t>
            </a:r>
            <a:r>
              <a:rPr dirty="0"/>
              <a:t>Maximize sales revenue with minimum acceptable profit.</a:t>
            </a:r>
            <a:r>
              <a:rPr lang="en-US" dirty="0"/>
              <a:t>" </a:t>
            </a:r>
            <a:r>
              <a:rPr dirty="0"/>
              <a:t>Managers rewards depend on sales, not profits.</a:t>
            </a:r>
            <a:r>
              <a:rPr lang="en-US" dirty="0"/>
              <a:t> His theory is known as Sales Maximization or Revenue Maximization Theory.  </a:t>
            </a:r>
          </a:p>
          <a:p>
            <a:pPr marL="0" indent="0" algn="just">
              <a:buNone/>
            </a:pPr>
            <a:r>
              <a:rPr lang="en-US" dirty="0"/>
              <a:t>In his article on the theory of Oligopoly presented a managerial theory of the firm based on the sales maximization.</a:t>
            </a:r>
          </a:p>
          <a:p>
            <a:pPr marL="0" indent="0" algn="just">
              <a:buNone/>
            </a:pPr>
            <a:r>
              <a:rPr lang="en-US" sz="2800" b="1" dirty="0"/>
              <a:t>Why do Businesses choose a Sales Maximization Objective?</a:t>
            </a:r>
          </a:p>
          <a:p>
            <a:pPr marL="0" indent="0" algn="just">
              <a:buNone/>
            </a:pPr>
            <a:r>
              <a:rPr lang="en-US" sz="2800" b="1" dirty="0"/>
              <a:t>What does Sales Maximization involve?</a:t>
            </a:r>
          </a:p>
          <a:p>
            <a:pPr marL="0" indent="0" algn="just">
              <a:buNone/>
            </a:pPr>
            <a:endParaRPr sz="28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137315101-Baumols-Sales-Maximisation-Model-pdf-5-2048.jpg">
            <a:extLst>
              <a:ext uri="{FF2B5EF4-FFF2-40B4-BE49-F238E27FC236}">
                <a16:creationId xmlns:a16="http://schemas.microsoft.com/office/drawing/2014/main" id="{F8C6C27D-A09D-4133-9E37-E16C1EA7A3AD}"/>
              </a:ext>
            </a:extLst>
          </p:cNvPr>
          <p:cNvPicPr>
            <a:picLocks noChangeAspect="1"/>
          </p:cNvPicPr>
          <p:nvPr/>
        </p:nvPicPr>
        <p:blipFill>
          <a:blip r:embed="rId3"/>
          <a:stretch>
            <a:fillRect/>
          </a:stretch>
        </p:blipFill>
        <p:spPr>
          <a:xfrm>
            <a:off x="0" y="10274"/>
            <a:ext cx="9144000" cy="6858000"/>
          </a:xfrm>
          <a:prstGeom prst="rect">
            <a:avLst/>
          </a:prstGeom>
        </p:spPr>
      </p:pic>
    </p:spTree>
    <p:extLst>
      <p:ext uri="{BB962C8B-B14F-4D97-AF65-F5344CB8AC3E}">
        <p14:creationId xmlns:p14="http://schemas.microsoft.com/office/powerpoint/2010/main" val="2285618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AF66BA3-86E9-42AB-97F1-A91884DC1A7B}"/>
              </a:ext>
            </a:extLst>
          </p:cNvPr>
          <p:cNvSpPr>
            <a:spLocks noGrp="1"/>
          </p:cNvSpPr>
          <p:nvPr>
            <p:ph type="subTitle" idx="1"/>
          </p:nvPr>
        </p:nvSpPr>
        <p:spPr>
          <a:xfrm>
            <a:off x="71919" y="119098"/>
            <a:ext cx="8959065" cy="6559104"/>
          </a:xfrm>
        </p:spPr>
        <p:txBody>
          <a:bodyPr>
            <a:normAutofit/>
          </a:bodyPr>
          <a:lstStyle/>
          <a:p>
            <a:pPr algn="just"/>
            <a:r>
              <a:rPr lang="en-US" dirty="0"/>
              <a:t>In the above fig. TC is the total cost curve, TR the total revenue curve, TP the total profit curve and MP the minimum profit or profit constraint line.</a:t>
            </a:r>
          </a:p>
          <a:p>
            <a:pPr algn="just"/>
            <a:r>
              <a:rPr lang="en-US" dirty="0"/>
              <a:t>The firm maximizes its profits at OQ level of output corresponding to the highest point В on the TP curve. But the aim of the firm is to maximize the sales rather than the </a:t>
            </a:r>
            <a:r>
              <a:rPr lang="en-US" dirty="0" err="1"/>
              <a:t>profits.The</a:t>
            </a:r>
            <a:r>
              <a:rPr lang="en-US" dirty="0"/>
              <a:t> sale maximization output is OK where the total revenue KL is maximum at the highest point of TR.</a:t>
            </a:r>
          </a:p>
          <a:p>
            <a:pPr algn="just"/>
            <a:r>
              <a:rPr lang="en-US" dirty="0"/>
              <a:t>The sale maximization output OK is higher than the profit maximization output OQ. But the sales maximization is subject to the minimum profit constraint. If minimum profit constraint line is represented by line MP</a:t>
            </a:r>
          </a:p>
          <a:p>
            <a:pPr algn="just"/>
            <a:r>
              <a:rPr lang="en-US" dirty="0"/>
              <a:t>The output OK will not </a:t>
            </a:r>
            <a:r>
              <a:rPr lang="en-US" dirty="0" err="1"/>
              <a:t>maximise</a:t>
            </a:r>
            <a:r>
              <a:rPr lang="en-US" dirty="0"/>
              <a:t> the sales as minimum profits OM are not being covered by the total profit KS. For sales </a:t>
            </a:r>
            <a:r>
              <a:rPr lang="en-US" dirty="0" err="1"/>
              <a:t>maximisation</a:t>
            </a:r>
            <a:r>
              <a:rPr lang="en-US" dirty="0"/>
              <a:t> the firm should produce that level of output which not only covers the minimum profits but also gives the highest total revenue consistent with it. </a:t>
            </a:r>
          </a:p>
        </p:txBody>
      </p:sp>
    </p:spTree>
    <p:extLst>
      <p:ext uri="{BB962C8B-B14F-4D97-AF65-F5344CB8AC3E}">
        <p14:creationId xmlns:p14="http://schemas.microsoft.com/office/powerpoint/2010/main" val="2024571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FFAC3A-A5F6-4966-912E-886138EA8C69}"/>
              </a:ext>
            </a:extLst>
          </p:cNvPr>
          <p:cNvSpPr>
            <a:spLocks noGrp="1"/>
          </p:cNvSpPr>
          <p:nvPr>
            <p:ph idx="1"/>
          </p:nvPr>
        </p:nvSpPr>
        <p:spPr>
          <a:xfrm>
            <a:off x="102741" y="184934"/>
            <a:ext cx="8969339" cy="6472719"/>
          </a:xfrm>
        </p:spPr>
        <p:txBody>
          <a:bodyPr/>
          <a:lstStyle/>
          <a:p>
            <a:pPr marL="0" indent="0">
              <a:buNone/>
            </a:pPr>
            <a:r>
              <a:rPr lang="en-US" dirty="0"/>
              <a:t>This level is represented by OD level of output where the minimum profits DC (=OM) are consistent with DE amount of total revenue at the price DE/OD, (i.e., total revenue/total output). Baumol’s model of sales </a:t>
            </a:r>
            <a:r>
              <a:rPr lang="en-US" dirty="0" err="1"/>
              <a:t>maximisation</a:t>
            </a:r>
            <a:r>
              <a:rPr lang="en-US" dirty="0"/>
              <a:t> points out that the profit </a:t>
            </a:r>
            <a:r>
              <a:rPr lang="en-US" dirty="0" err="1"/>
              <a:t>maximisation</a:t>
            </a:r>
            <a:r>
              <a:rPr lang="en-US" dirty="0"/>
              <a:t> output OQ will be smaller than the sales </a:t>
            </a:r>
            <a:r>
              <a:rPr lang="en-US" dirty="0" err="1"/>
              <a:t>maximisation</a:t>
            </a:r>
            <a:r>
              <a:rPr lang="en-US" dirty="0"/>
              <a:t> output OD, and price higher than under sales </a:t>
            </a:r>
            <a:r>
              <a:rPr lang="en-US" dirty="0" err="1"/>
              <a:t>maximisation</a:t>
            </a:r>
            <a:r>
              <a:rPr lang="en-US" dirty="0"/>
              <a:t>.</a:t>
            </a:r>
          </a:p>
          <a:p>
            <a:pPr marL="0" indent="0">
              <a:buNone/>
            </a:pPr>
            <a:r>
              <a:rPr lang="en-US" dirty="0"/>
              <a:t>The reason for a lower price under sales </a:t>
            </a:r>
            <a:r>
              <a:rPr lang="en-US" dirty="0" err="1"/>
              <a:t>maximisation</a:t>
            </a:r>
            <a:r>
              <a:rPr lang="en-US" dirty="0"/>
              <a:t> is that both total revenue and total output are equally higher while under profit </a:t>
            </a:r>
            <a:r>
              <a:rPr lang="en-US" dirty="0" err="1"/>
              <a:t>maximisation</a:t>
            </a:r>
            <a:r>
              <a:rPr lang="en-US" dirty="0"/>
              <a:t> total output is much less as compared to total revenue. Imagine if QB is joined to TR in Figure 6. “If at the point of maximum profit”, writes Baumol, </a:t>
            </a:r>
            <a:r>
              <a:rPr lang="en-US" b="1" dirty="0"/>
              <a:t>“the firm earns more profit than the required minimum, it will pay the sales maximiser to lower his price and increase his physical output.”</a:t>
            </a:r>
            <a:endParaRPr lang="en-US" dirty="0"/>
          </a:p>
        </p:txBody>
      </p:sp>
    </p:spTree>
    <p:extLst>
      <p:ext uri="{BB962C8B-B14F-4D97-AF65-F5344CB8AC3E}">
        <p14:creationId xmlns:p14="http://schemas.microsoft.com/office/powerpoint/2010/main" val="1931244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BABB73-1B7F-4A74-924E-15532CDFB8BB}"/>
              </a:ext>
            </a:extLst>
          </p:cNvPr>
          <p:cNvSpPr>
            <a:spLocks noGrp="1"/>
          </p:cNvSpPr>
          <p:nvPr>
            <p:ph type="subTitle" idx="1"/>
          </p:nvPr>
        </p:nvSpPr>
        <p:spPr>
          <a:xfrm>
            <a:off x="154112" y="174661"/>
            <a:ext cx="8876872" cy="6493267"/>
          </a:xfrm>
        </p:spPr>
        <p:txBody>
          <a:bodyPr>
            <a:normAutofit/>
          </a:bodyPr>
          <a:lstStyle/>
          <a:p>
            <a:r>
              <a:rPr lang="en-US" sz="5400" b="1" u="sng" dirty="0"/>
              <a:t>Assumption:</a:t>
            </a:r>
          </a:p>
          <a:p>
            <a:pPr marL="342900" indent="-342900" algn="just">
              <a:buFont typeface="Arial" panose="020B0604020202020204" pitchFamily="34" charset="0"/>
              <a:buChar char="•"/>
            </a:pPr>
            <a:r>
              <a:rPr lang="en-US" dirty="0"/>
              <a:t>This theory is single period time horizon of the firm </a:t>
            </a:r>
          </a:p>
          <a:p>
            <a:pPr marL="342900" indent="-342900" algn="just">
              <a:buFont typeface="Arial" panose="020B0604020202020204" pitchFamily="34" charset="0"/>
              <a:buChar char="•"/>
            </a:pPr>
            <a:r>
              <a:rPr lang="en-US" dirty="0"/>
              <a:t>Firms aims at maximizing its total sale and revenue in the long run subject to the profit constraint.</a:t>
            </a:r>
          </a:p>
          <a:p>
            <a:pPr marL="342900" indent="-342900" algn="just">
              <a:buFont typeface="Arial" panose="020B0604020202020204" pitchFamily="34" charset="0"/>
              <a:buChar char="•"/>
            </a:pPr>
            <a:r>
              <a:rPr lang="en-US" dirty="0"/>
              <a:t>Firms minimum profit constraint is set competitively in terms of the current market value of its shares</a:t>
            </a:r>
          </a:p>
          <a:p>
            <a:pPr marL="342900" indent="-342900" algn="just">
              <a:buFont typeface="Arial" panose="020B0604020202020204" pitchFamily="34" charset="0"/>
              <a:buChar char="•"/>
            </a:pPr>
            <a:r>
              <a:rPr lang="en-US" dirty="0"/>
              <a:t>Firms is oligopolistic whose cost are U-shaped and the demand curve is downward sloping.</a:t>
            </a:r>
          </a:p>
          <a:p>
            <a:pPr marL="342900" indent="-342900" algn="just">
              <a:buFont typeface="Arial" panose="020B0604020202020204" pitchFamily="34" charset="0"/>
              <a:buChar char="•"/>
            </a:pPr>
            <a:r>
              <a:rPr lang="en-US" dirty="0"/>
              <a:t>Firms use advertising, sales promotions, and marketing to increase sales rather than just lowering prices.</a:t>
            </a:r>
          </a:p>
          <a:p>
            <a:pPr marL="342900" indent="-342900" algn="l">
              <a:buFont typeface="Arial" panose="020B0604020202020204" pitchFamily="34" charset="0"/>
              <a:buChar char="•"/>
            </a:pPr>
            <a:endParaRPr lang="en-US" b="1" dirty="0"/>
          </a:p>
        </p:txBody>
      </p:sp>
    </p:spTree>
    <p:extLst>
      <p:ext uri="{BB962C8B-B14F-4D97-AF65-F5344CB8AC3E}">
        <p14:creationId xmlns:p14="http://schemas.microsoft.com/office/powerpoint/2010/main" val="3456716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1627C-30A5-4192-9259-332F86D97C54}"/>
              </a:ext>
            </a:extLst>
          </p:cNvPr>
          <p:cNvSpPr>
            <a:spLocks noGrp="1"/>
          </p:cNvSpPr>
          <p:nvPr>
            <p:ph type="title"/>
          </p:nvPr>
        </p:nvSpPr>
        <p:spPr>
          <a:xfrm>
            <a:off x="546457" y="180191"/>
            <a:ext cx="7886700" cy="888321"/>
          </a:xfrm>
        </p:spPr>
        <p:txBody>
          <a:bodyPr>
            <a:normAutofit fontScale="90000"/>
          </a:bodyPr>
          <a:lstStyle/>
          <a:p>
            <a:pPr algn="ctr"/>
            <a:r>
              <a:rPr lang="en-US" sz="6000" b="1" u="sng" dirty="0"/>
              <a:t>Weaknesses / Limitations</a:t>
            </a:r>
          </a:p>
        </p:txBody>
      </p:sp>
      <p:sp>
        <p:nvSpPr>
          <p:cNvPr id="3" name="Content Placeholder 2">
            <a:extLst>
              <a:ext uri="{FF2B5EF4-FFF2-40B4-BE49-F238E27FC236}">
                <a16:creationId xmlns:a16="http://schemas.microsoft.com/office/drawing/2014/main" id="{1C6693F7-E4EA-4471-ADFB-27947B5A5ABB}"/>
              </a:ext>
            </a:extLst>
          </p:cNvPr>
          <p:cNvSpPr>
            <a:spLocks noGrp="1"/>
          </p:cNvSpPr>
          <p:nvPr>
            <p:ph idx="1"/>
          </p:nvPr>
        </p:nvSpPr>
        <p:spPr>
          <a:xfrm>
            <a:off x="0" y="1181528"/>
            <a:ext cx="9144000" cy="5676472"/>
          </a:xfrm>
        </p:spPr>
        <p:txBody>
          <a:bodyPr/>
          <a:lstStyle/>
          <a:p>
            <a:r>
              <a:rPr lang="en-US" dirty="0"/>
              <a:t>Unrealistic assumption of minimum profit constraint</a:t>
            </a:r>
          </a:p>
          <a:p>
            <a:r>
              <a:rPr lang="en-US" dirty="0"/>
              <a:t>Ignores long-term profit sustainability</a:t>
            </a:r>
          </a:p>
          <a:p>
            <a:r>
              <a:rPr lang="en-US" dirty="0"/>
              <a:t>Overemphasis on sales, ignoring profitability</a:t>
            </a:r>
          </a:p>
          <a:p>
            <a:r>
              <a:rPr lang="en-US" dirty="0"/>
              <a:t>Assumes managers, not owners control the firm</a:t>
            </a:r>
          </a:p>
          <a:p>
            <a:r>
              <a:rPr lang="en-US" dirty="0"/>
              <a:t>Difficult to measure sales maximization</a:t>
            </a:r>
          </a:p>
          <a:p>
            <a:r>
              <a:rPr lang="en-US" dirty="0"/>
              <a:t>Ignores market competition and pricing reactions</a:t>
            </a:r>
          </a:p>
          <a:p>
            <a:r>
              <a:rPr lang="en-US" dirty="0"/>
              <a:t>Ignores internal constraints(more workers, machinery, higher WC)</a:t>
            </a:r>
          </a:p>
          <a:p>
            <a:r>
              <a:rPr lang="en-US" dirty="0"/>
              <a:t>Not suitable for small firms</a:t>
            </a:r>
          </a:p>
          <a:p>
            <a:r>
              <a:rPr lang="en-US" dirty="0"/>
              <a:t>No clear explanation of how sales maximization is achieved</a:t>
            </a:r>
          </a:p>
          <a:p>
            <a:endParaRPr lang="en-US" dirty="0"/>
          </a:p>
          <a:p>
            <a:endParaRPr lang="en-US" dirty="0"/>
          </a:p>
          <a:p>
            <a:endParaRPr lang="en-US" dirty="0"/>
          </a:p>
        </p:txBody>
      </p:sp>
    </p:spTree>
    <p:extLst>
      <p:ext uri="{BB962C8B-B14F-4D97-AF65-F5344CB8AC3E}">
        <p14:creationId xmlns:p14="http://schemas.microsoft.com/office/powerpoint/2010/main" val="37543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291" y="219074"/>
            <a:ext cx="8948790" cy="845797"/>
          </a:xfrm>
        </p:spPr>
        <p:txBody>
          <a:bodyPr>
            <a:normAutofit/>
          </a:bodyPr>
          <a:lstStyle/>
          <a:p>
            <a:pPr algn="ctr"/>
            <a:r>
              <a:rPr b="1" u="sng" dirty="0" err="1">
                <a:latin typeface="Calibri  (Heads)"/>
              </a:rPr>
              <a:t>Marris’s</a:t>
            </a:r>
            <a:r>
              <a:rPr b="1" u="sng" dirty="0">
                <a:latin typeface="Calibri  (Heads)"/>
              </a:rPr>
              <a:t> Growth Maximization Model</a:t>
            </a:r>
          </a:p>
        </p:txBody>
      </p:sp>
      <p:sp>
        <p:nvSpPr>
          <p:cNvPr id="3" name="Content Placeholder 2"/>
          <p:cNvSpPr>
            <a:spLocks noGrp="1"/>
          </p:cNvSpPr>
          <p:nvPr>
            <p:ph idx="1"/>
          </p:nvPr>
        </p:nvSpPr>
        <p:spPr>
          <a:xfrm>
            <a:off x="123291" y="1352550"/>
            <a:ext cx="8815226" cy="5430104"/>
          </a:xfrm>
        </p:spPr>
        <p:txBody>
          <a:bodyPr>
            <a:normAutofit/>
          </a:bodyPr>
          <a:lstStyle/>
          <a:p>
            <a:pPr marL="0" indent="0" algn="just">
              <a:buNone/>
            </a:pPr>
            <a:r>
              <a:rPr lang="en-US" sz="2600" dirty="0"/>
              <a:t>Robin Marris in his book ‘The Economic Theory of Managerial Capitalism’ (1964) has developed a dynamic balanced growth maximizing model of the firm. He concentrates on the proposition that modern big firms are managed by managers and the shareholders are the owners who decide about the management of the firms.</a:t>
            </a:r>
          </a:p>
          <a:p>
            <a:pPr marL="0" indent="0" algn="just">
              <a:buNone/>
            </a:pPr>
            <a:r>
              <a:rPr lang="en-US" sz="2600" dirty="0"/>
              <a:t>The managers aim at the maximization of the growth rate of the firm and the shareholders aim at the maximization of their dividends and share prices. To establish a link between such a growth rate and the share prices of the firm, Marris develops a balanced growth model in which the manager chooses a constant growth rate at which the firm’s sales, profits, assets, etc. to grow at a same time.</a:t>
            </a:r>
            <a:endParaRPr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5EFDC-0CBB-4CBD-885A-55BFDB8C6B4E}"/>
              </a:ext>
            </a:extLst>
          </p:cNvPr>
          <p:cNvSpPr>
            <a:spLocks noGrp="1"/>
          </p:cNvSpPr>
          <p:nvPr>
            <p:ph idx="1"/>
          </p:nvPr>
        </p:nvSpPr>
        <p:spPr>
          <a:xfrm>
            <a:off x="0" y="202558"/>
            <a:ext cx="9062977" cy="6341118"/>
          </a:xfrm>
        </p:spPr>
        <p:txBody>
          <a:bodyPr>
            <a:normAutofit/>
          </a:bodyPr>
          <a:lstStyle/>
          <a:p>
            <a:pPr marL="0" indent="0">
              <a:buNone/>
            </a:pPr>
            <a:r>
              <a:rPr lang="en-US" sz="2600" dirty="0"/>
              <a:t>If he chooses a higher growth rate, he has to spend more on advertisement and on R &amp; D in order to create more demand and new products. Therefore he retain a higher proportion of total profits for the expansion of the firm. Consequently, profits to be distributed to shareholders in the form of dividends. If profits will be reduced then the share prices will fall. The threat of take-over of the firm will loom large among the managers.</a:t>
            </a:r>
          </a:p>
          <a:p>
            <a:pPr marL="0" indent="0">
              <a:buNone/>
            </a:pPr>
            <a:r>
              <a:rPr lang="en-US" sz="2600" dirty="0"/>
              <a:t>As the managers are concerned more about their job security and growth of the firm they will choose that growth rate which maximizes the market value of shares and give satisfactory dividends to shareholders and also avoid the take-over of the firm. On the other hand, the owners (share­holders) also want balanced growth of the firm because it ensures fair return on their capital. Thus the goals of the managers may coincide with the owners of the firm and both try to achieve balanced growth of the firm.</a:t>
            </a:r>
          </a:p>
        </p:txBody>
      </p:sp>
    </p:spTree>
    <p:extLst>
      <p:ext uri="{BB962C8B-B14F-4D97-AF65-F5344CB8AC3E}">
        <p14:creationId xmlns:p14="http://schemas.microsoft.com/office/powerpoint/2010/main" val="216857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94429-7E7B-48C5-AFAB-2F69F5695B6C}"/>
              </a:ext>
            </a:extLst>
          </p:cNvPr>
          <p:cNvSpPr>
            <a:spLocks noGrp="1"/>
          </p:cNvSpPr>
          <p:nvPr>
            <p:ph idx="1"/>
          </p:nvPr>
        </p:nvSpPr>
        <p:spPr>
          <a:xfrm>
            <a:off x="95250" y="139700"/>
            <a:ext cx="8915400" cy="6623050"/>
          </a:xfrm>
        </p:spPr>
        <p:txBody>
          <a:bodyPr>
            <a:normAutofit fontScale="92500" lnSpcReduction="20000"/>
          </a:bodyPr>
          <a:lstStyle/>
          <a:p>
            <a:pPr marL="0" indent="0" algn="just">
              <a:buNone/>
            </a:pPr>
            <a:r>
              <a:rPr lang="en-US" dirty="0"/>
              <a:t>There are two sets of goals</a:t>
            </a:r>
          </a:p>
          <a:p>
            <a:pPr marL="457200" indent="-457200" algn="just">
              <a:buFont typeface="+mj-lt"/>
              <a:buAutoNum type="arabicPeriod"/>
            </a:pPr>
            <a:r>
              <a:rPr lang="en-US" dirty="0"/>
              <a:t>Owners (shareholders) aims at profits and market share</a:t>
            </a:r>
          </a:p>
          <a:p>
            <a:pPr marL="457200" indent="-457200" algn="just">
              <a:buFont typeface="+mj-lt"/>
              <a:buAutoNum type="arabicPeriod"/>
            </a:pPr>
            <a:r>
              <a:rPr lang="en-US" dirty="0"/>
              <a:t>Managers aims at better salary, job security and growth</a:t>
            </a:r>
          </a:p>
          <a:p>
            <a:pPr marL="0" indent="0" algn="just">
              <a:buNone/>
            </a:pPr>
            <a:r>
              <a:rPr lang="en-US" dirty="0"/>
              <a:t>Both achieved by maximizing balanced growth of the firm.</a:t>
            </a:r>
          </a:p>
          <a:p>
            <a:pPr marL="0" indent="0" algn="just">
              <a:buNone/>
            </a:pPr>
            <a:endParaRPr lang="en-US" dirty="0"/>
          </a:p>
          <a:p>
            <a:pPr marL="0" indent="0" algn="just">
              <a:buNone/>
            </a:pPr>
            <a:r>
              <a:rPr lang="en-US" dirty="0"/>
              <a:t>Two types of constraints he explained in his theory. Those are:</a:t>
            </a:r>
          </a:p>
          <a:p>
            <a:pPr marL="0" indent="0" algn="just">
              <a:buNone/>
            </a:pPr>
            <a:r>
              <a:rPr lang="en-US" u="sng" dirty="0"/>
              <a:t>Managerial constraints arise due to:</a:t>
            </a:r>
          </a:p>
          <a:p>
            <a:pPr algn="just"/>
            <a:r>
              <a:rPr lang="en-US" dirty="0"/>
              <a:t>Limit to managers ability to manage and achieve optimum efficiency</a:t>
            </a:r>
          </a:p>
          <a:p>
            <a:pPr algn="just"/>
            <a:r>
              <a:rPr lang="en-US" dirty="0"/>
              <a:t>Managers own job security</a:t>
            </a:r>
          </a:p>
          <a:p>
            <a:pPr marL="0" indent="0" algn="just">
              <a:buNone/>
            </a:pPr>
            <a:r>
              <a:rPr lang="en-US" u="sng" dirty="0"/>
              <a:t>Financial constraints arise due to:</a:t>
            </a:r>
          </a:p>
          <a:p>
            <a:pPr algn="just"/>
            <a:r>
              <a:rPr lang="en-US" dirty="0"/>
              <a:t>Conflict between managers own utility function and owners utility function</a:t>
            </a:r>
          </a:p>
          <a:p>
            <a:pPr algn="just"/>
            <a:r>
              <a:rPr lang="en-US" dirty="0"/>
              <a:t>Um=f(salary, power, job security, status)</a:t>
            </a:r>
          </a:p>
          <a:p>
            <a:pPr algn="just"/>
            <a:r>
              <a:rPr lang="en-US" dirty="0" err="1"/>
              <a:t>Uo</a:t>
            </a:r>
            <a:r>
              <a:rPr lang="en-US" dirty="0"/>
              <a:t>=f(profit, capital, output, market share, public reputation)</a:t>
            </a:r>
          </a:p>
          <a:p>
            <a:pPr algn="just"/>
            <a:r>
              <a:rPr lang="en-US" dirty="0"/>
              <a:t>However he claims that the two utility functions converge into one variable that study growth in the size of firm.</a:t>
            </a:r>
          </a:p>
        </p:txBody>
      </p:sp>
    </p:spTree>
    <p:extLst>
      <p:ext uri="{BB962C8B-B14F-4D97-AF65-F5344CB8AC3E}">
        <p14:creationId xmlns:p14="http://schemas.microsoft.com/office/powerpoint/2010/main" val="3910945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Theory-of-firm-10-2048.jpg">
            <a:extLst>
              <a:ext uri="{FF2B5EF4-FFF2-40B4-BE49-F238E27FC236}">
                <a16:creationId xmlns:a16="http://schemas.microsoft.com/office/drawing/2014/main" id="{FAC22DEB-C18D-4D94-AAD7-689AD95C4F68}"/>
              </a:ext>
            </a:extLst>
          </p:cNvPr>
          <p:cNvPicPr>
            <a:picLocks noChangeAspect="1"/>
          </p:cNvPicPr>
          <p:nvPr/>
        </p:nvPicPr>
        <p:blipFill rotWithShape="1">
          <a:blip r:embed="rId2"/>
          <a:srcRect b="17802"/>
          <a:stretch/>
        </p:blipFill>
        <p:spPr>
          <a:xfrm>
            <a:off x="0" y="-154111"/>
            <a:ext cx="9144000" cy="7012111"/>
          </a:xfrm>
          <a:prstGeom prst="rect">
            <a:avLst/>
          </a:prstGeom>
        </p:spPr>
      </p:pic>
    </p:spTree>
    <p:extLst>
      <p:ext uri="{BB962C8B-B14F-4D97-AF65-F5344CB8AC3E}">
        <p14:creationId xmlns:p14="http://schemas.microsoft.com/office/powerpoint/2010/main" val="117293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8ABAFC-5ED9-449D-AD1E-3FF700835BFA}"/>
              </a:ext>
            </a:extLst>
          </p:cNvPr>
          <p:cNvSpPr>
            <a:spLocks noGrp="1"/>
          </p:cNvSpPr>
          <p:nvPr>
            <p:ph type="subTitle" idx="1"/>
          </p:nvPr>
        </p:nvSpPr>
        <p:spPr>
          <a:xfrm>
            <a:off x="113016" y="514350"/>
            <a:ext cx="8887146" cy="6174125"/>
          </a:xfrm>
        </p:spPr>
        <p:txBody>
          <a:bodyPr/>
          <a:lstStyle/>
          <a:p>
            <a:r>
              <a:rPr lang="en-US" sz="4000" b="1" dirty="0"/>
              <a:t>“gr=</a:t>
            </a:r>
            <a:r>
              <a:rPr lang="en-US" sz="4000" b="1" dirty="0" err="1"/>
              <a:t>gd</a:t>
            </a:r>
            <a:r>
              <a:rPr lang="en-US" sz="4000" b="1" dirty="0"/>
              <a:t>=</a:t>
            </a:r>
            <a:r>
              <a:rPr lang="en-US" sz="4000" b="1" dirty="0" err="1"/>
              <a:t>gc</a:t>
            </a:r>
            <a:r>
              <a:rPr lang="en-US" sz="4000" b="1" dirty="0"/>
              <a:t>”</a:t>
            </a:r>
          </a:p>
          <a:p>
            <a:pPr algn="just"/>
            <a:r>
              <a:rPr lang="en-US" dirty="0" err="1"/>
              <a:t>gd</a:t>
            </a:r>
            <a:r>
              <a:rPr lang="en-US" dirty="0"/>
              <a:t>​: Growth rate of demand of the firm’s products</a:t>
            </a:r>
          </a:p>
          <a:p>
            <a:pPr algn="just"/>
            <a:r>
              <a:rPr lang="en-US" dirty="0" err="1"/>
              <a:t>gc</a:t>
            </a:r>
            <a:r>
              <a:rPr lang="en-US" dirty="0"/>
              <a:t>​: Growth rate of capital supply (financial growth)</a:t>
            </a:r>
          </a:p>
          <a:p>
            <a:pPr algn="just"/>
            <a:r>
              <a:rPr lang="en-US" dirty="0"/>
              <a:t>As the rate of growth of demand is increased, profitability is increased until a certain point. Then managerial constraints on growth tend to take place.</a:t>
            </a:r>
          </a:p>
          <a:p>
            <a:pPr algn="just"/>
            <a:r>
              <a:rPr lang="en-US" dirty="0"/>
              <a:t>The maximum growth of capital function shows the relationship between the firm’s rate of profit and the maximum rate at which the firm is able to increase its capital.</a:t>
            </a:r>
          </a:p>
          <a:p>
            <a:pPr algn="just"/>
            <a:r>
              <a:rPr lang="en-US" dirty="0"/>
              <a:t>This model is suggests several testable hypothesis one of which is “owner controlled firms achieve lower growth and higher profits”</a:t>
            </a:r>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958615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C935AB-C3BF-4679-AFB5-0E25621F8FE2}"/>
              </a:ext>
            </a:extLst>
          </p:cNvPr>
          <p:cNvSpPr>
            <a:spLocks noGrp="1"/>
          </p:cNvSpPr>
          <p:nvPr>
            <p:ph type="subTitle" idx="1"/>
          </p:nvPr>
        </p:nvSpPr>
        <p:spPr>
          <a:xfrm>
            <a:off x="123290" y="143838"/>
            <a:ext cx="8835775" cy="6534364"/>
          </a:xfrm>
        </p:spPr>
        <p:txBody>
          <a:bodyPr/>
          <a:lstStyle/>
          <a:p>
            <a:pPr algn="l"/>
            <a:r>
              <a:rPr lang="en-US" sz="3600" b="1" u="sng" dirty="0"/>
              <a:t>Assumptions:</a:t>
            </a:r>
          </a:p>
          <a:p>
            <a:pPr marL="457200" indent="-457200" algn="l">
              <a:buFont typeface="+mj-lt"/>
              <a:buAutoNum type="arabicPeriod"/>
            </a:pPr>
            <a:r>
              <a:rPr lang="en-US" b="1" dirty="0"/>
              <a:t>Separation of ownership and management</a:t>
            </a:r>
            <a:r>
              <a:rPr lang="en-US" dirty="0"/>
              <a:t> – Managers run the firm; shareholders own it.</a:t>
            </a:r>
          </a:p>
          <a:p>
            <a:pPr marL="457200" indent="-457200" algn="l">
              <a:buFont typeface="+mj-lt"/>
              <a:buAutoNum type="arabicPeriod"/>
            </a:pPr>
            <a:r>
              <a:rPr lang="en-US" b="1" dirty="0"/>
              <a:t>Managers aim to maximize the balanced growth rate</a:t>
            </a:r>
            <a:r>
              <a:rPr lang="en-US" dirty="0"/>
              <a:t> of the firm.</a:t>
            </a:r>
          </a:p>
          <a:p>
            <a:pPr marL="457200" indent="-457200" algn="l">
              <a:buFont typeface="+mj-lt"/>
              <a:buAutoNum type="arabicPeriod"/>
            </a:pPr>
            <a:r>
              <a:rPr lang="en-US" dirty="0"/>
              <a:t>Owners aim to maximize profits and share value.</a:t>
            </a:r>
          </a:p>
          <a:p>
            <a:pPr marL="457200" indent="-457200" algn="l">
              <a:buFont typeface="+mj-lt"/>
              <a:buAutoNum type="arabicPeriod"/>
            </a:pPr>
            <a:r>
              <a:rPr lang="en-US" dirty="0"/>
              <a:t>The firm’s growth depends on:</a:t>
            </a:r>
          </a:p>
          <a:p>
            <a:pPr marL="342900" indent="-342900" algn="just">
              <a:buFont typeface="Arial" panose="020B0604020202020204" pitchFamily="34" charset="0"/>
              <a:buChar char="•"/>
            </a:pPr>
            <a:r>
              <a:rPr lang="en-US" dirty="0"/>
              <a:t>Diversification of products,</a:t>
            </a:r>
          </a:p>
          <a:p>
            <a:pPr marL="342900" indent="-342900" algn="just">
              <a:buFont typeface="Arial" panose="020B0604020202020204" pitchFamily="34" charset="0"/>
              <a:buChar char="•"/>
            </a:pPr>
            <a:r>
              <a:rPr lang="en-US" dirty="0"/>
              <a:t>Retention ratio (how much profit is reinvested),</a:t>
            </a:r>
          </a:p>
          <a:p>
            <a:pPr marL="342900" indent="-342900" algn="just">
              <a:buFont typeface="Arial" panose="020B0604020202020204" pitchFamily="34" charset="0"/>
              <a:buChar char="•"/>
            </a:pPr>
            <a:r>
              <a:rPr lang="en-US" dirty="0"/>
              <a:t>Financial policies and dividend policies.</a:t>
            </a:r>
          </a:p>
          <a:p>
            <a:pPr algn="l"/>
            <a:r>
              <a:rPr lang="en-US" dirty="0"/>
              <a:t>5. There is a trade-off between </a:t>
            </a:r>
            <a:r>
              <a:rPr lang="en-US" b="1" dirty="0"/>
              <a:t>managerial utility</a:t>
            </a:r>
            <a:r>
              <a:rPr lang="en-US" dirty="0"/>
              <a:t> (growth, job security) and </a:t>
            </a:r>
            <a:r>
              <a:rPr lang="en-US" b="1" dirty="0"/>
              <a:t>shareholder utility</a:t>
            </a:r>
            <a:r>
              <a:rPr lang="en-US" dirty="0"/>
              <a:t> (profit, dividends).</a:t>
            </a:r>
          </a:p>
        </p:txBody>
      </p:sp>
    </p:spTree>
    <p:extLst>
      <p:ext uri="{BB962C8B-B14F-4D97-AF65-F5344CB8AC3E}">
        <p14:creationId xmlns:p14="http://schemas.microsoft.com/office/powerpoint/2010/main" val="1443492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8A45-2172-46BD-90DB-C9B281E68970}"/>
              </a:ext>
            </a:extLst>
          </p:cNvPr>
          <p:cNvSpPr>
            <a:spLocks noGrp="1"/>
          </p:cNvSpPr>
          <p:nvPr>
            <p:ph type="ctrTitle"/>
          </p:nvPr>
        </p:nvSpPr>
        <p:spPr>
          <a:xfrm>
            <a:off x="142875" y="95251"/>
            <a:ext cx="8934450" cy="962024"/>
          </a:xfrm>
        </p:spPr>
        <p:txBody>
          <a:bodyPr>
            <a:normAutofit/>
          </a:bodyPr>
          <a:lstStyle/>
          <a:p>
            <a:r>
              <a:rPr lang="en-US" sz="5400" b="1" u="sng" dirty="0"/>
              <a:t>Weaknesses / Limitations</a:t>
            </a:r>
            <a:endParaRPr lang="en-US" sz="5400" dirty="0"/>
          </a:p>
        </p:txBody>
      </p:sp>
      <p:sp>
        <p:nvSpPr>
          <p:cNvPr id="3" name="Subtitle 2">
            <a:extLst>
              <a:ext uri="{FF2B5EF4-FFF2-40B4-BE49-F238E27FC236}">
                <a16:creationId xmlns:a16="http://schemas.microsoft.com/office/drawing/2014/main" id="{98AEA953-BAA3-4E9D-92F9-8FF91C8C35DF}"/>
              </a:ext>
            </a:extLst>
          </p:cNvPr>
          <p:cNvSpPr>
            <a:spLocks noGrp="1"/>
          </p:cNvSpPr>
          <p:nvPr>
            <p:ph type="subTitle" idx="1"/>
          </p:nvPr>
        </p:nvSpPr>
        <p:spPr>
          <a:xfrm>
            <a:off x="142875" y="1381125"/>
            <a:ext cx="8734425" cy="5362574"/>
          </a:xfrm>
        </p:spPr>
        <p:txBody>
          <a:bodyPr/>
          <a:lstStyle/>
          <a:p>
            <a:pPr marL="457200" indent="-457200" algn="l">
              <a:buFont typeface="Wingdings" panose="05000000000000000000" pitchFamily="2" charset="2"/>
              <a:buChar char="Ø"/>
            </a:pPr>
            <a:r>
              <a:rPr lang="en-US" dirty="0"/>
              <a:t>Assumes a Stable and Predictable Environment</a:t>
            </a:r>
          </a:p>
          <a:p>
            <a:pPr marL="457200" indent="-457200" algn="l">
              <a:buFont typeface="Wingdings" panose="05000000000000000000" pitchFamily="2" charset="2"/>
              <a:buChar char="Ø"/>
            </a:pPr>
            <a:r>
              <a:rPr lang="en-US" dirty="0"/>
              <a:t>Difficult to Measure Balanced Growth Rate</a:t>
            </a:r>
          </a:p>
          <a:p>
            <a:pPr marL="457200" indent="-457200" algn="l">
              <a:buFont typeface="Wingdings" panose="05000000000000000000" pitchFamily="2" charset="2"/>
              <a:buChar char="Ø"/>
            </a:pPr>
            <a:r>
              <a:rPr lang="en-US" dirty="0"/>
              <a:t>Ignores Competition and Market Structure</a:t>
            </a:r>
          </a:p>
          <a:p>
            <a:pPr marL="457200" indent="-457200" algn="l">
              <a:buFont typeface="Wingdings" panose="05000000000000000000" pitchFamily="2" charset="2"/>
              <a:buChar char="Ø"/>
            </a:pPr>
            <a:r>
              <a:rPr lang="en-US" dirty="0"/>
              <a:t>Overemphasis on Managerial Goals</a:t>
            </a:r>
          </a:p>
          <a:p>
            <a:pPr marL="457200" indent="-457200" algn="l">
              <a:buFont typeface="Wingdings" panose="05000000000000000000" pitchFamily="2" charset="2"/>
              <a:buChar char="Ø"/>
            </a:pPr>
            <a:r>
              <a:rPr lang="en-US" dirty="0"/>
              <a:t>Shareholders' Interests May Be Ignored</a:t>
            </a:r>
          </a:p>
          <a:p>
            <a:pPr marL="457200" indent="-457200" algn="l">
              <a:buFont typeface="Wingdings" panose="05000000000000000000" pitchFamily="2" charset="2"/>
              <a:buChar char="Ø"/>
            </a:pPr>
            <a:r>
              <a:rPr lang="en-US" dirty="0"/>
              <a:t>Unrealistic Assumption of Managerial Security</a:t>
            </a:r>
          </a:p>
          <a:p>
            <a:pPr marL="457200" indent="-457200" algn="l">
              <a:buFont typeface="Wingdings" panose="05000000000000000000" pitchFamily="2" charset="2"/>
              <a:buChar char="Ø"/>
            </a:pPr>
            <a:r>
              <a:rPr lang="en-US" dirty="0"/>
              <a:t>Assumes Managers and Shareholders Always Reach a Balance</a:t>
            </a:r>
          </a:p>
          <a:p>
            <a:pPr marL="457200" indent="-457200" algn="l">
              <a:buFont typeface="Wingdings" panose="05000000000000000000" pitchFamily="2" charset="2"/>
              <a:buChar char="Ø"/>
            </a:pPr>
            <a:r>
              <a:rPr lang="en-US" dirty="0"/>
              <a:t>Limited Applicability to Small Firms or Startups</a:t>
            </a:r>
          </a:p>
          <a:p>
            <a:pPr marL="457200" indent="-457200" algn="l">
              <a:buFont typeface="Wingdings" panose="05000000000000000000" pitchFamily="2" charset="2"/>
              <a:buChar char="Ø"/>
            </a:pPr>
            <a:endParaRPr lang="en-US" dirty="0"/>
          </a:p>
        </p:txBody>
      </p:sp>
    </p:spTree>
    <p:extLst>
      <p:ext uri="{BB962C8B-B14F-4D97-AF65-F5344CB8AC3E}">
        <p14:creationId xmlns:p14="http://schemas.microsoft.com/office/powerpoint/2010/main" val="969551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 y="142876"/>
            <a:ext cx="8934450" cy="685799"/>
          </a:xfrm>
        </p:spPr>
        <p:txBody>
          <a:bodyPr>
            <a:normAutofit fontScale="90000"/>
          </a:bodyPr>
          <a:lstStyle/>
          <a:p>
            <a:pPr algn="ctr"/>
            <a:r>
              <a:rPr b="1" u="sng" dirty="0"/>
              <a:t>Williamson’s Managerial Discretion Model</a:t>
            </a:r>
          </a:p>
        </p:txBody>
      </p:sp>
      <p:sp>
        <p:nvSpPr>
          <p:cNvPr id="3" name="Content Placeholder 2"/>
          <p:cNvSpPr>
            <a:spLocks noGrp="1"/>
          </p:cNvSpPr>
          <p:nvPr>
            <p:ph idx="1"/>
          </p:nvPr>
        </p:nvSpPr>
        <p:spPr>
          <a:xfrm>
            <a:off x="85725" y="828674"/>
            <a:ext cx="8953500" cy="6029325"/>
          </a:xfrm>
        </p:spPr>
        <p:txBody>
          <a:bodyPr>
            <a:noAutofit/>
          </a:bodyPr>
          <a:lstStyle/>
          <a:p>
            <a:pPr marL="0" indent="0">
              <a:buNone/>
            </a:pPr>
            <a:r>
              <a:rPr lang="en-US" sz="2200" dirty="0"/>
              <a:t>In modern corporations, </a:t>
            </a:r>
            <a:r>
              <a:rPr lang="en-US" sz="2200" b="1" dirty="0"/>
              <a:t>managers</a:t>
            </a:r>
            <a:r>
              <a:rPr lang="en-US" sz="2200" dirty="0"/>
              <a:t> (not owners) take most decisions.</a:t>
            </a:r>
            <a:br>
              <a:rPr lang="en-US" sz="2200" dirty="0"/>
            </a:br>
            <a:r>
              <a:rPr lang="en-US" sz="2200" dirty="0"/>
              <a:t>Williamson argues that managers do </a:t>
            </a:r>
            <a:r>
              <a:rPr lang="en-US" sz="2200" b="1" dirty="0"/>
              <a:t>not maximize profit</a:t>
            </a:r>
            <a:r>
              <a:rPr lang="en-US" sz="2200" dirty="0"/>
              <a:t>, but instead maximize their own </a:t>
            </a:r>
            <a:r>
              <a:rPr lang="en-US" sz="2200" b="1" dirty="0"/>
              <a:t>utility</a:t>
            </a:r>
            <a:r>
              <a:rPr lang="en-US" sz="2200" dirty="0"/>
              <a:t> — which includes salary, job security, perks, staff, and discretionary </a:t>
            </a:r>
            <a:r>
              <a:rPr lang="en-US" sz="2200" dirty="0" err="1"/>
              <a:t>expenditure.So</a:t>
            </a:r>
            <a:r>
              <a:rPr lang="en-US" sz="2200" dirty="0"/>
              <a:t>, </a:t>
            </a:r>
            <a:r>
              <a:rPr lang="en-US" sz="2200" b="1" dirty="0"/>
              <a:t>firms aim for “satisficing profits” instead of profit maximization</a:t>
            </a:r>
            <a:r>
              <a:rPr lang="en-US" sz="2200" dirty="0"/>
              <a:t>.</a:t>
            </a:r>
          </a:p>
          <a:p>
            <a:pPr marL="0" indent="0" algn="just">
              <a:buNone/>
            </a:pPr>
            <a:r>
              <a:rPr lang="en-US" sz="2200" dirty="0"/>
              <a:t>The theory of Managerial Utility Maximization was developed separately by </a:t>
            </a:r>
            <a:r>
              <a:rPr lang="en-US" sz="2200" dirty="0" err="1"/>
              <a:t>Berle</a:t>
            </a:r>
            <a:r>
              <a:rPr lang="en-US" sz="2200" dirty="0"/>
              <a:t>-Means-</a:t>
            </a:r>
            <a:r>
              <a:rPr lang="en-US" sz="2200" dirty="0" err="1"/>
              <a:t>Galbralth</a:t>
            </a:r>
            <a:r>
              <a:rPr lang="en-US" sz="2200" dirty="0"/>
              <a:t> and Williamson. It is also known as Managerial Discretion Theory. The Theory is based on the concept that shareholders or owners of the firm and managers are two separate groups. The owners or the shareholders want high dividends  therefore they interested in maximizing profits. The managers on the other hand, have different motives other than profit maximization. Once the managers have achieved a level of profit that will pay satisfactory dividends to shareholders and still ensure growth.</a:t>
            </a:r>
          </a:p>
          <a:p>
            <a:pPr marL="0" indent="0" algn="just">
              <a:buNone/>
            </a:pPr>
            <a:r>
              <a:rPr lang="en-US" sz="2200" dirty="0"/>
              <a:t>They are free to increase their own emoluments and also the size of their staff and expenditure on them. In the words of Williamson, “The extent that the pressure from the capital market and competition in the product market is imperfect. The manager therefore, has discretion to pursue goals other than profits."</a:t>
            </a:r>
          </a:p>
          <a:p>
            <a:pPr marL="0" indent="0" algn="just">
              <a:buNone/>
            </a:pPr>
            <a:endParaRPr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250" y="133350"/>
            <a:ext cx="8934450" cy="6600825"/>
          </a:xfrm>
        </p:spPr>
        <p:txBody>
          <a:bodyPr>
            <a:normAutofit fontScale="77500" lnSpcReduction="20000"/>
          </a:bodyPr>
          <a:lstStyle/>
          <a:p>
            <a:pPr marL="0" indent="0" algn="just">
              <a:buNone/>
            </a:pPr>
            <a:r>
              <a:rPr lang="en-US" dirty="0"/>
              <a:t>Further he suggested that "The lack of corporate democracy leaves owners or shareholders with little or no power to change corporation policy.“</a:t>
            </a:r>
          </a:p>
          <a:p>
            <a:pPr marL="0" indent="0" algn="just">
              <a:buNone/>
            </a:pPr>
            <a:r>
              <a:rPr lang="en-US" dirty="0"/>
              <a:t>He also argues that managers have discretion in pursuing policies which maximize their own utility rather than attempting the maximization of profits which maximizes the utility of owner or shareholders. The managerial utility function includes such variables as salary, security, power, status, prestige, professional excellence. In these variables only the first (salary) is measurable. The others are non measurable if they are to be operational they must be expressed in terms of other variables with which they are connected and which are measurable. This is attained by the concept of expense preference, which is defined as the satisfaction which managers derive from certain types of expenditures.</a:t>
            </a:r>
          </a:p>
          <a:p>
            <a:pPr algn="just"/>
            <a:endParaRPr lang="en-US" dirty="0"/>
          </a:p>
          <a:p>
            <a:pPr marL="0" indent="0">
              <a:buNone/>
            </a:pPr>
            <a:r>
              <a:rPr lang="en-US" b="1" dirty="0"/>
              <a:t>According to Williamson, </a:t>
            </a:r>
            <a:r>
              <a:rPr lang="en-US" dirty="0"/>
              <a:t>"Managerial Utility function may be expressed as follows:</a:t>
            </a:r>
          </a:p>
          <a:p>
            <a:pPr marL="0" indent="0" algn="ctr">
              <a:buNone/>
            </a:pPr>
            <a:r>
              <a:rPr lang="en-US" sz="3500" b="1" dirty="0"/>
              <a:t>U = f (S, M. ID)</a:t>
            </a:r>
          </a:p>
          <a:p>
            <a:pPr marL="0" indent="0" algn="just">
              <a:buNone/>
            </a:pPr>
            <a:r>
              <a:rPr lang="en-US" dirty="0"/>
              <a:t>Managerial utility is a function (f) of additional expenditure on staff, managerial emoluments and discretionary investment. M = managerial emoluments. (Here, U = managerial utility; S = additional expenditure on staff; M = managerial emoluments and ID = discretionary investment).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761041C-3726-47F9-A633-486A2B4F7F2F}"/>
              </a:ext>
            </a:extLst>
          </p:cNvPr>
          <p:cNvSpPr>
            <a:spLocks noGrp="1"/>
          </p:cNvSpPr>
          <p:nvPr>
            <p:ph idx="1"/>
          </p:nvPr>
        </p:nvSpPr>
        <p:spPr>
          <a:xfrm>
            <a:off x="76199" y="314325"/>
            <a:ext cx="9001125" cy="6400800"/>
          </a:xfrm>
        </p:spPr>
        <p:txBody>
          <a:bodyPr>
            <a:normAutofit fontScale="92500" lnSpcReduction="10000"/>
          </a:bodyPr>
          <a:lstStyle/>
          <a:p>
            <a:pPr marL="0" indent="0">
              <a:buNone/>
            </a:pPr>
            <a:r>
              <a:rPr lang="en-US" dirty="0"/>
              <a:t>Managerial utility function maximizes the utility of the managers rather than profits of the firm. The manager is expected to follow policies which maximize the following components of his utility function.</a:t>
            </a:r>
          </a:p>
          <a:p>
            <a:pPr marL="571500" indent="-571500">
              <a:buAutoNum type="romanLcPeriod"/>
            </a:pPr>
            <a:r>
              <a:rPr lang="en-US" b="1" dirty="0"/>
              <a:t>Expansion of Staff</a:t>
            </a:r>
          </a:p>
          <a:p>
            <a:pPr marL="571500" indent="-571500">
              <a:buAutoNum type="romanLcPeriod"/>
            </a:pPr>
            <a:r>
              <a:rPr lang="en-US" b="1" dirty="0"/>
              <a:t> Increase in Managerial Emoluments</a:t>
            </a:r>
          </a:p>
          <a:p>
            <a:pPr marL="571500" indent="-571500">
              <a:buAutoNum type="romanLcPeriod"/>
            </a:pPr>
            <a:r>
              <a:rPr lang="en-US" b="1" dirty="0"/>
              <a:t>Discretionary Power of Investment</a:t>
            </a:r>
          </a:p>
          <a:p>
            <a:pPr marL="0" indent="0">
              <a:buNone/>
            </a:pPr>
            <a:r>
              <a:rPr lang="en-US" dirty="0"/>
              <a:t>According to the theory, in a firm, shareholders and managers are two separate groups. The firm tries to get maximum returns on investment and get maximum profit, whereas managers try to maximize profit in their satisfying function.</a:t>
            </a:r>
          </a:p>
          <a:p>
            <a:pPr marL="0" indent="0">
              <a:buNone/>
            </a:pPr>
            <a:r>
              <a:rPr lang="en-US" dirty="0"/>
              <a:t>At last, Williamson’s managerial discretion theory shows the utility function of a manager. In this theory, the firm will try to get maximum returns or maximum profit where as manager try to maximum utility satisfying function. They are in equilibrium when the utility has maximum amount.</a:t>
            </a:r>
          </a:p>
          <a:p>
            <a:pPr marL="0" indent="0">
              <a:buNone/>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0883ED9-9290-4E34-A2BE-D1084DB4742B}"/>
              </a:ext>
            </a:extLst>
          </p:cNvPr>
          <p:cNvSpPr>
            <a:spLocks noGrp="1"/>
          </p:cNvSpPr>
          <p:nvPr>
            <p:ph idx="1"/>
          </p:nvPr>
        </p:nvSpPr>
        <p:spPr>
          <a:xfrm>
            <a:off x="133350" y="171450"/>
            <a:ext cx="8934450" cy="6562725"/>
          </a:xfrm>
        </p:spPr>
        <p:txBody>
          <a:bodyPr>
            <a:normAutofit/>
          </a:bodyPr>
          <a:lstStyle/>
          <a:p>
            <a:pPr marL="0" indent="0">
              <a:buNone/>
            </a:pPr>
            <a:r>
              <a:rPr lang="en-US" sz="4000" b="1" u="sng" dirty="0"/>
              <a:t>Assumption:</a:t>
            </a:r>
          </a:p>
          <a:p>
            <a:pPr marL="742950" indent="-742950">
              <a:buAutoNum type="arabicPeriod"/>
            </a:pPr>
            <a:r>
              <a:rPr lang="en-US" sz="2600" dirty="0"/>
              <a:t>Separation of ownership and control</a:t>
            </a:r>
          </a:p>
          <a:p>
            <a:pPr marL="742950" indent="-742950">
              <a:buAutoNum type="arabicPeriod"/>
            </a:pPr>
            <a:r>
              <a:rPr lang="en-US" sz="2600" dirty="0"/>
              <a:t>Managers maximize their own utility, not profit</a:t>
            </a:r>
          </a:p>
          <a:p>
            <a:pPr marL="742950" indent="-742950">
              <a:buAutoNum type="arabicPeriod"/>
            </a:pPr>
            <a:r>
              <a:rPr lang="en-US" sz="2600" dirty="0"/>
              <a:t>Shareholders set a minimum profit constraint</a:t>
            </a:r>
          </a:p>
          <a:p>
            <a:pPr marL="742950" indent="-742950">
              <a:buAutoNum type="arabicPeriod"/>
            </a:pPr>
            <a:r>
              <a:rPr lang="en-US" sz="2600" dirty="0"/>
              <a:t>Utility is linked to firm size</a:t>
            </a:r>
          </a:p>
          <a:p>
            <a:pPr marL="742950" indent="-742950">
              <a:buAutoNum type="arabicPeriod"/>
            </a:pPr>
            <a:r>
              <a:rPr lang="en-US" sz="2600" dirty="0"/>
              <a:t>Managers have discretion in using firm resources</a:t>
            </a:r>
          </a:p>
          <a:p>
            <a:pPr marL="742950" indent="-742950">
              <a:buAutoNum type="arabicPeriod"/>
            </a:pPr>
            <a:r>
              <a:rPr lang="en-US" sz="2600" dirty="0"/>
              <a:t>Market conditions allow some degree of monopoly power</a:t>
            </a:r>
            <a:endParaRPr lang="en-US" sz="2600" b="1" u="sng"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93C93-7270-431C-A35D-6C539AFEAF5F}"/>
              </a:ext>
            </a:extLst>
          </p:cNvPr>
          <p:cNvSpPr>
            <a:spLocks noGrp="1"/>
          </p:cNvSpPr>
          <p:nvPr>
            <p:ph idx="1"/>
          </p:nvPr>
        </p:nvSpPr>
        <p:spPr>
          <a:xfrm>
            <a:off x="114300" y="120650"/>
            <a:ext cx="8934450" cy="6642100"/>
          </a:xfrm>
        </p:spPr>
        <p:txBody>
          <a:bodyPr>
            <a:normAutofit/>
          </a:bodyPr>
          <a:lstStyle/>
          <a:p>
            <a:pPr marL="0" indent="0">
              <a:buNone/>
            </a:pPr>
            <a:r>
              <a:rPr lang="en-US" sz="3600" b="1" u="sng" dirty="0"/>
              <a:t>Weaknesses / Limitations:</a:t>
            </a:r>
          </a:p>
          <a:p>
            <a:pPr marL="742950" indent="-742950">
              <a:buAutoNum type="arabicPeriod"/>
            </a:pPr>
            <a:r>
              <a:rPr lang="en-US" sz="2600" dirty="0"/>
              <a:t>Unrealistic utility function</a:t>
            </a:r>
          </a:p>
          <a:p>
            <a:pPr marL="742950" indent="-742950">
              <a:buAutoNum type="arabicPeriod"/>
            </a:pPr>
            <a:r>
              <a:rPr lang="en-US" sz="2600" dirty="0"/>
              <a:t>Ignores profit-oriented incentives</a:t>
            </a:r>
          </a:p>
          <a:p>
            <a:pPr marL="742950" indent="-742950">
              <a:buAutoNum type="arabicPeriod"/>
            </a:pPr>
            <a:r>
              <a:rPr lang="fr-FR" sz="2600" dirty="0"/>
              <a:t>Minimum profit </a:t>
            </a:r>
            <a:r>
              <a:rPr lang="fr-FR" sz="2600" dirty="0" err="1"/>
              <a:t>constraint</a:t>
            </a:r>
            <a:r>
              <a:rPr lang="fr-FR" sz="2600" dirty="0"/>
              <a:t> </a:t>
            </a:r>
            <a:r>
              <a:rPr lang="fr-FR" sz="2600" dirty="0" err="1"/>
              <a:t>is</a:t>
            </a:r>
            <a:r>
              <a:rPr lang="fr-FR" sz="2600" dirty="0"/>
              <a:t> vague</a:t>
            </a:r>
          </a:p>
          <a:p>
            <a:pPr marL="742950" indent="-742950">
              <a:buAutoNum type="arabicPeriod"/>
            </a:pPr>
            <a:r>
              <a:rPr lang="en-US" sz="2600" dirty="0"/>
              <a:t>Assumption of managerial freedom is exaggerated</a:t>
            </a:r>
          </a:p>
          <a:p>
            <a:pPr marL="742950" indent="-742950">
              <a:buAutoNum type="arabicPeriod"/>
            </a:pPr>
            <a:r>
              <a:rPr lang="en-US" sz="2600" dirty="0"/>
              <a:t>Does not apply well to competitive markets</a:t>
            </a:r>
          </a:p>
          <a:p>
            <a:pPr marL="742950" indent="-742950">
              <a:buAutoNum type="arabicPeriod"/>
            </a:pPr>
            <a:r>
              <a:rPr lang="en-US" sz="2600" dirty="0"/>
              <a:t>Empirical evidence is weak</a:t>
            </a:r>
          </a:p>
        </p:txBody>
      </p:sp>
    </p:spTree>
    <p:extLst>
      <p:ext uri="{BB962C8B-B14F-4D97-AF65-F5344CB8AC3E}">
        <p14:creationId xmlns:p14="http://schemas.microsoft.com/office/powerpoint/2010/main" val="324454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C5CB9-0CFF-4250-9C47-0BE673D7214C}"/>
              </a:ext>
            </a:extLst>
          </p:cNvPr>
          <p:cNvSpPr>
            <a:spLocks noGrp="1"/>
          </p:cNvSpPr>
          <p:nvPr>
            <p:ph idx="1"/>
          </p:nvPr>
        </p:nvSpPr>
        <p:spPr>
          <a:xfrm>
            <a:off x="133349" y="139700"/>
            <a:ext cx="8886825" cy="6642100"/>
          </a:xfrm>
        </p:spPr>
        <p:txBody>
          <a:bodyPr>
            <a:normAutofit/>
          </a:bodyPr>
          <a:lstStyle/>
          <a:p>
            <a:pPr marL="0" indent="0" algn="ctr">
              <a:buNone/>
            </a:pPr>
            <a:endParaRPr lang="en-US" sz="13800" dirty="0">
              <a:solidFill>
                <a:schemeClr val="accent1">
                  <a:lumMod val="75000"/>
                </a:schemeClr>
              </a:solidFill>
              <a:latin typeface="Algerian" panose="04020705040A02060702" pitchFamily="82" charset="0"/>
            </a:endParaRPr>
          </a:p>
          <a:p>
            <a:pPr marL="0" indent="0" algn="ctr">
              <a:buNone/>
            </a:pPr>
            <a:r>
              <a:rPr lang="en-US" sz="13800" dirty="0">
                <a:solidFill>
                  <a:schemeClr val="accent1">
                    <a:lumMod val="75000"/>
                  </a:schemeClr>
                </a:solidFill>
                <a:latin typeface="Algerian" panose="04020705040A02060702" pitchFamily="82" charset="0"/>
              </a:rPr>
              <a:t>Thank You</a:t>
            </a:r>
          </a:p>
        </p:txBody>
      </p:sp>
    </p:spTree>
    <p:extLst>
      <p:ext uri="{BB962C8B-B14F-4D97-AF65-F5344CB8AC3E}">
        <p14:creationId xmlns:p14="http://schemas.microsoft.com/office/powerpoint/2010/main" val="23468478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1455</TotalTime>
  <Words>4317</Words>
  <Application>Microsoft Office PowerPoint</Application>
  <PresentationFormat>On-screen Show (4:3)</PresentationFormat>
  <Paragraphs>226</Paragraphs>
  <Slides>44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Algerian</vt:lpstr>
      <vt:lpstr>Arial</vt:lpstr>
      <vt:lpstr>Arial Black</vt:lpstr>
      <vt:lpstr>Calibri</vt:lpstr>
      <vt:lpstr>Calibri  (Heads)</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Nature of Managerial Economics</vt:lpstr>
      <vt:lpstr>PowerPoint Presentation</vt:lpstr>
      <vt:lpstr>Scope of Managerial Economics</vt:lpstr>
      <vt:lpstr>PowerPoint Presentation</vt:lpstr>
      <vt:lpstr>PowerPoint Presentation</vt:lpstr>
      <vt:lpstr>Significance of Managerial Economics</vt:lpstr>
      <vt:lpstr>PowerPoint Presentation</vt:lpstr>
      <vt:lpstr>PowerPoint Presentation</vt:lpstr>
      <vt:lpstr>Uses of Managerial Economics</vt:lpstr>
      <vt:lpstr>PowerPoint Presentation</vt:lpstr>
      <vt:lpstr>PowerPoint Presentation</vt:lpstr>
      <vt:lpstr>PowerPoint Presentation</vt:lpstr>
      <vt:lpstr>Role &amp; Responsibilities of Managerial Economist</vt:lpstr>
      <vt:lpstr>PowerPoint Presentation</vt:lpstr>
      <vt:lpstr>Theory of the firm </vt:lpstr>
      <vt:lpstr>PowerPoint Presentation</vt:lpstr>
      <vt:lpstr>PowerPoint Presentation</vt:lpstr>
      <vt:lpstr>PowerPoint Presentation</vt:lpstr>
      <vt:lpstr>Managerial Theories of the Firm</vt:lpstr>
      <vt:lpstr>Baumol’s Sales Maximization Model</vt:lpstr>
      <vt:lpstr>PowerPoint Presentation</vt:lpstr>
      <vt:lpstr>PowerPoint Presentation</vt:lpstr>
      <vt:lpstr>PowerPoint Presentation</vt:lpstr>
      <vt:lpstr>PowerPoint Presentation</vt:lpstr>
      <vt:lpstr>Weaknesses / Limitations</vt:lpstr>
      <vt:lpstr>Marris’s Growth Maximization Model</vt:lpstr>
      <vt:lpstr>PowerPoint Presentation</vt:lpstr>
      <vt:lpstr>PowerPoint Presentation</vt:lpstr>
      <vt:lpstr>PowerPoint Presentation</vt:lpstr>
      <vt:lpstr>PowerPoint Presentation</vt:lpstr>
      <vt:lpstr>PowerPoint Presentation</vt:lpstr>
      <vt:lpstr>Weaknesses / Limitations</vt:lpstr>
      <vt:lpstr>Williamson’s Managerial Discretion Model</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Deepa Sachin</dc:creator>
  <cp:keywords/>
  <dc:description>generated using python-pptx</dc:description>
  <cp:lastModifiedBy>Deepa</cp:lastModifiedBy>
  <cp:revision>150</cp:revision>
  <dcterms:created xsi:type="dcterms:W3CDTF">2013-01-27T09:14:16Z</dcterms:created>
  <dcterms:modified xsi:type="dcterms:W3CDTF">2025-11-18T03:32:48Z</dcterms:modified>
  <cp:category/>
</cp:coreProperties>
</file>