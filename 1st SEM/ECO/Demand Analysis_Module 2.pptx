
<file path=[Content_Types].xml><?xml version="1.0" encoding="utf-8"?>
<Types xmlns="http://schemas.openxmlformats.org/package/2006/content-types">
  <Default Extension="png" ContentType="image/png"/>
  <Default Extension="jpeg" ContentType="image/jpeg"/>
  <Default Extension="webp"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71" r:id="rId2"/>
    <p:sldId id="256" r:id="rId3"/>
    <p:sldId id="257" r:id="rId4"/>
    <p:sldId id="273" r:id="rId5"/>
    <p:sldId id="258" r:id="rId6"/>
    <p:sldId id="272" r:id="rId7"/>
    <p:sldId id="274" r:id="rId8"/>
    <p:sldId id="275" r:id="rId9"/>
    <p:sldId id="276" r:id="rId10"/>
    <p:sldId id="277" r:id="rId11"/>
    <p:sldId id="279" r:id="rId12"/>
    <p:sldId id="278" r:id="rId13"/>
    <p:sldId id="280" r:id="rId14"/>
    <p:sldId id="281" r:id="rId15"/>
    <p:sldId id="259" r:id="rId16"/>
    <p:sldId id="284" r:id="rId17"/>
    <p:sldId id="289" r:id="rId18"/>
    <p:sldId id="282" r:id="rId19"/>
    <p:sldId id="288" r:id="rId20"/>
    <p:sldId id="283" r:id="rId21"/>
    <p:sldId id="285" r:id="rId22"/>
    <p:sldId id="286" r:id="rId23"/>
    <p:sldId id="260" r:id="rId24"/>
    <p:sldId id="287" r:id="rId25"/>
    <p:sldId id="290" r:id="rId26"/>
    <p:sldId id="261" r:id="rId27"/>
    <p:sldId id="291" r:id="rId28"/>
    <p:sldId id="262" r:id="rId29"/>
    <p:sldId id="293" r:id="rId30"/>
    <p:sldId id="292" r:id="rId31"/>
    <p:sldId id="294" r:id="rId32"/>
    <p:sldId id="295" r:id="rId33"/>
    <p:sldId id="296" r:id="rId34"/>
    <p:sldId id="263" r:id="rId35"/>
    <p:sldId id="297" r:id="rId36"/>
    <p:sldId id="298" r:id="rId37"/>
    <p:sldId id="299" r:id="rId38"/>
    <p:sldId id="300" r:id="rId39"/>
    <p:sldId id="301" r:id="rId40"/>
    <p:sldId id="264" r:id="rId41"/>
    <p:sldId id="302" r:id="rId42"/>
    <p:sldId id="303" r:id="rId43"/>
    <p:sldId id="304" r:id="rId44"/>
    <p:sldId id="306" r:id="rId45"/>
    <p:sldId id="265" r:id="rId46"/>
    <p:sldId id="305" r:id="rId47"/>
    <p:sldId id="307" r:id="rId48"/>
    <p:sldId id="308" r:id="rId49"/>
    <p:sldId id="309" r:id="rId50"/>
    <p:sldId id="310" r:id="rId51"/>
    <p:sldId id="311" r:id="rId52"/>
    <p:sldId id="312" r:id="rId53"/>
    <p:sldId id="315" r:id="rId54"/>
    <p:sldId id="266" r:id="rId55"/>
    <p:sldId id="313" r:id="rId56"/>
    <p:sldId id="314" r:id="rId57"/>
    <p:sldId id="316" r:id="rId58"/>
    <p:sldId id="267" r:id="rId59"/>
    <p:sldId id="317" r:id="rId60"/>
    <p:sldId id="268" r:id="rId61"/>
    <p:sldId id="318" r:id="rId6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epa" initials="D" lastIdx="0" clrIdx="0">
    <p:extLst>
      <p:ext uri="{19B8F6BF-5375-455C-9EA6-DF929625EA0E}">
        <p15:presenceInfo xmlns:p15="http://schemas.microsoft.com/office/powerpoint/2012/main" userId="Deep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FFCC"/>
    <a:srgbClr val="FF339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snapToObjects="1">
      <p:cViewPr varScale="1">
        <p:scale>
          <a:sx n="67" d="100"/>
          <a:sy n="67" d="100"/>
        </p:scale>
        <p:origin x="1260" y="48"/>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14784"/>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commentAuthors" Target="commen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12/19/2025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webp"/><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webp"/><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2.webp"/><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1856101-5AB2-415A-9912-3927F2BF00C8}"/>
              </a:ext>
            </a:extLst>
          </p:cNvPr>
          <p:cNvPicPr>
            <a:picLocks noGrp="1" noChangeAspect="1"/>
          </p:cNvPicPr>
          <p:nvPr>
            <p:ph idx="1"/>
          </p:nvPr>
        </p:nvPicPr>
        <p:blipFill rotWithShape="1">
          <a:blip r:embed="rId2"/>
          <a:srcRect b="27565"/>
          <a:stretch/>
        </p:blipFill>
        <p:spPr>
          <a:xfrm>
            <a:off x="0" y="1"/>
            <a:ext cx="9144000" cy="6780943"/>
          </a:xfrm>
        </p:spPr>
      </p:pic>
    </p:spTree>
    <p:extLst>
      <p:ext uri="{BB962C8B-B14F-4D97-AF65-F5344CB8AC3E}">
        <p14:creationId xmlns:p14="http://schemas.microsoft.com/office/powerpoint/2010/main" val="23298369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717D86DA-4AF9-48F6-A724-DF591C886B9A}"/>
              </a:ext>
            </a:extLst>
          </p:cNvPr>
          <p:cNvSpPr>
            <a:spLocks noGrp="1"/>
          </p:cNvSpPr>
          <p:nvPr>
            <p:ph type="subTitle" idx="1"/>
          </p:nvPr>
        </p:nvSpPr>
        <p:spPr>
          <a:xfrm>
            <a:off x="184935" y="143837"/>
            <a:ext cx="8825501" cy="6575461"/>
          </a:xfrm>
        </p:spPr>
        <p:txBody>
          <a:bodyPr>
            <a:normAutofit fontScale="70000" lnSpcReduction="20000"/>
          </a:bodyPr>
          <a:lstStyle/>
          <a:p>
            <a:r>
              <a:rPr lang="en-US" sz="4100" b="1" dirty="0">
                <a:solidFill>
                  <a:schemeClr val="tx1"/>
                </a:solidFill>
              </a:rPr>
              <a:t>Module-2(9 Hours) Demand Analysis</a:t>
            </a:r>
          </a:p>
          <a:p>
            <a:pPr marL="457200" indent="-457200" algn="just">
              <a:buFont typeface="Wingdings" panose="05000000000000000000" pitchFamily="2" charset="2"/>
              <a:buChar char="v"/>
            </a:pPr>
            <a:r>
              <a:rPr lang="en-US" dirty="0">
                <a:solidFill>
                  <a:schemeClr val="tx1"/>
                </a:solidFill>
              </a:rPr>
              <a:t>Law of Demand </a:t>
            </a:r>
          </a:p>
          <a:p>
            <a:pPr marL="457200" indent="-457200" algn="just">
              <a:buFont typeface="Wingdings" panose="05000000000000000000" pitchFamily="2" charset="2"/>
              <a:buChar char="v"/>
            </a:pPr>
            <a:r>
              <a:rPr lang="en-US" dirty="0">
                <a:solidFill>
                  <a:schemeClr val="tx1"/>
                </a:solidFill>
              </a:rPr>
              <a:t>Exceptions to the Law of Demand</a:t>
            </a:r>
          </a:p>
          <a:p>
            <a:pPr marL="457200" indent="-457200" algn="just">
              <a:buFont typeface="Wingdings" panose="05000000000000000000" pitchFamily="2" charset="2"/>
              <a:buChar char="v"/>
            </a:pPr>
            <a:r>
              <a:rPr lang="en-US" dirty="0">
                <a:solidFill>
                  <a:schemeClr val="tx1"/>
                </a:solidFill>
              </a:rPr>
              <a:t>Elasticity of Demand</a:t>
            </a:r>
          </a:p>
          <a:p>
            <a:pPr marL="457200" indent="-457200" algn="just">
              <a:buFont typeface="Wingdings" panose="05000000000000000000" pitchFamily="2" charset="2"/>
              <a:buChar char="v"/>
            </a:pPr>
            <a:r>
              <a:rPr lang="en-US" dirty="0">
                <a:solidFill>
                  <a:schemeClr val="tx1"/>
                </a:solidFill>
              </a:rPr>
              <a:t>Classification of Price</a:t>
            </a:r>
          </a:p>
          <a:p>
            <a:pPr marL="457200" indent="-457200" algn="just">
              <a:buFont typeface="Wingdings" panose="05000000000000000000" pitchFamily="2" charset="2"/>
              <a:buChar char="v"/>
            </a:pPr>
            <a:r>
              <a:rPr lang="en-US" dirty="0">
                <a:solidFill>
                  <a:schemeClr val="tx1"/>
                </a:solidFill>
              </a:rPr>
              <a:t>Income &amp;Cross elasticity</a:t>
            </a:r>
          </a:p>
          <a:p>
            <a:pPr marL="457200" indent="-457200" algn="just">
              <a:buFont typeface="Wingdings" panose="05000000000000000000" pitchFamily="2" charset="2"/>
              <a:buChar char="v"/>
            </a:pPr>
            <a:r>
              <a:rPr lang="en-US" dirty="0">
                <a:solidFill>
                  <a:schemeClr val="tx1"/>
                </a:solidFill>
              </a:rPr>
              <a:t>Promotional elasticity of demand</a:t>
            </a:r>
          </a:p>
          <a:p>
            <a:pPr marL="457200" indent="-457200" algn="just">
              <a:buFont typeface="Wingdings" panose="05000000000000000000" pitchFamily="2" charset="2"/>
              <a:buChar char="v"/>
            </a:pPr>
            <a:r>
              <a:rPr lang="en-US" dirty="0">
                <a:solidFill>
                  <a:schemeClr val="tx1"/>
                </a:solidFill>
              </a:rPr>
              <a:t>Uses of elasticity of demand for</a:t>
            </a:r>
          </a:p>
          <a:p>
            <a:pPr marL="457200" indent="-457200" algn="just">
              <a:buFont typeface="Wingdings" panose="05000000000000000000" pitchFamily="2" charset="2"/>
              <a:buChar char="v"/>
            </a:pPr>
            <a:r>
              <a:rPr lang="en-US" dirty="0">
                <a:solidFill>
                  <a:schemeClr val="tx1"/>
                </a:solidFill>
              </a:rPr>
              <a:t>Managerial decision making</a:t>
            </a:r>
          </a:p>
          <a:p>
            <a:pPr marL="457200" indent="-457200" algn="just">
              <a:buFont typeface="Wingdings" panose="05000000000000000000" pitchFamily="2" charset="2"/>
              <a:buChar char="v"/>
            </a:pPr>
            <a:r>
              <a:rPr lang="en-US" dirty="0">
                <a:solidFill>
                  <a:schemeClr val="tx1"/>
                </a:solidFill>
              </a:rPr>
              <a:t>Measurement of elasticity of demand</a:t>
            </a:r>
          </a:p>
          <a:p>
            <a:pPr marL="457200" indent="-457200" algn="just">
              <a:buFont typeface="Wingdings" panose="05000000000000000000" pitchFamily="2" charset="2"/>
              <a:buChar char="v"/>
            </a:pPr>
            <a:r>
              <a:rPr lang="en-US" dirty="0">
                <a:solidFill>
                  <a:schemeClr val="tx1"/>
                </a:solidFill>
              </a:rPr>
              <a:t>Law of supply</a:t>
            </a:r>
          </a:p>
          <a:p>
            <a:pPr marL="457200" indent="-457200" algn="just">
              <a:buFont typeface="Wingdings" panose="05000000000000000000" pitchFamily="2" charset="2"/>
              <a:buChar char="v"/>
            </a:pPr>
            <a:r>
              <a:rPr lang="en-US" dirty="0">
                <a:solidFill>
                  <a:schemeClr val="tx1"/>
                </a:solidFill>
              </a:rPr>
              <a:t>Elasticity of supply.</a:t>
            </a:r>
          </a:p>
          <a:p>
            <a:r>
              <a:rPr lang="en-US" sz="4600" b="1" dirty="0">
                <a:solidFill>
                  <a:schemeClr val="tx1"/>
                </a:solidFill>
              </a:rPr>
              <a:t>Demand forecasting</a:t>
            </a:r>
          </a:p>
          <a:p>
            <a:pPr marL="457200" indent="-457200" algn="just">
              <a:buFont typeface="Wingdings" panose="05000000000000000000" pitchFamily="2" charset="2"/>
              <a:buChar char="v"/>
            </a:pPr>
            <a:r>
              <a:rPr lang="en-US" dirty="0">
                <a:solidFill>
                  <a:schemeClr val="tx1"/>
                </a:solidFill>
              </a:rPr>
              <a:t>Meaning</a:t>
            </a:r>
          </a:p>
          <a:p>
            <a:pPr marL="457200" indent="-457200" algn="just">
              <a:buFont typeface="Wingdings" panose="05000000000000000000" pitchFamily="2" charset="2"/>
              <a:buChar char="v"/>
            </a:pPr>
            <a:r>
              <a:rPr lang="en-US" dirty="0">
                <a:solidFill>
                  <a:schemeClr val="tx1"/>
                </a:solidFill>
              </a:rPr>
              <a:t>Significance</a:t>
            </a:r>
          </a:p>
          <a:p>
            <a:pPr marL="457200" indent="-457200" algn="just">
              <a:buFont typeface="Wingdings" panose="05000000000000000000" pitchFamily="2" charset="2"/>
              <a:buChar char="v"/>
            </a:pPr>
            <a:r>
              <a:rPr lang="en-US" dirty="0">
                <a:solidFill>
                  <a:schemeClr val="tx1"/>
                </a:solidFill>
              </a:rPr>
              <a:t>Methods of demand forecasting.</a:t>
            </a:r>
          </a:p>
          <a:p>
            <a:pPr marL="457200" indent="-457200" algn="just">
              <a:buFont typeface="Wingdings" panose="05000000000000000000" pitchFamily="2" charset="2"/>
              <a:buChar char="v"/>
            </a:pPr>
            <a:r>
              <a:rPr lang="en-US" dirty="0">
                <a:solidFill>
                  <a:schemeClr val="tx1"/>
                </a:solidFill>
              </a:rPr>
              <a:t>(Problems on Price elasticity of demand, and demand forecasting using Time-series method).</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6600" b="1" i="1" u="sng" dirty="0">
                <a:solidFill>
                  <a:schemeClr val="accent2">
                    <a:lumMod val="75000"/>
                  </a:schemeClr>
                </a:solidFill>
                <a:effectLst>
                  <a:outerShdw blurRad="38100" dist="38100" dir="2700000" algn="tl">
                    <a:srgbClr val="000000">
                      <a:alpha val="43137"/>
                    </a:srgbClr>
                  </a:outerShdw>
                </a:effectLst>
                <a:latin typeface="Goudy Stout" panose="0202090407030B020401" pitchFamily="18" charset="0"/>
              </a:rPr>
              <a:t>Deman</a:t>
            </a:r>
            <a:r>
              <a:rPr lang="en-US" sz="6600" b="1" i="1" u="sng" dirty="0">
                <a:solidFill>
                  <a:schemeClr val="accent2">
                    <a:lumMod val="75000"/>
                  </a:schemeClr>
                </a:solidFill>
                <a:effectLst>
                  <a:outerShdw blurRad="38100" dist="38100" dir="2700000" algn="tl">
                    <a:srgbClr val="000000">
                      <a:alpha val="43137"/>
                    </a:srgbClr>
                  </a:outerShdw>
                </a:effectLst>
                <a:latin typeface="Goudy Stout" panose="0202090407030B020401" pitchFamily="18" charset="0"/>
              </a:rPr>
              <a:t>d</a:t>
            </a:r>
            <a:endParaRPr sz="6600" b="1" i="1" u="sng" dirty="0">
              <a:solidFill>
                <a:schemeClr val="accent2">
                  <a:lumMod val="75000"/>
                </a:schemeClr>
              </a:solidFill>
              <a:effectLst>
                <a:outerShdw blurRad="38100" dist="38100" dir="2700000" algn="tl">
                  <a:srgbClr val="000000">
                    <a:alpha val="43137"/>
                  </a:srgbClr>
                </a:outerShdw>
              </a:effectLst>
              <a:latin typeface="Goudy Stout" panose="0202090407030B020401" pitchFamily="18" charset="0"/>
            </a:endParaRPr>
          </a:p>
        </p:txBody>
      </p:sp>
      <p:sp>
        <p:nvSpPr>
          <p:cNvPr id="3" name="Content Placeholder 2"/>
          <p:cNvSpPr>
            <a:spLocks noGrp="1"/>
          </p:cNvSpPr>
          <p:nvPr>
            <p:ph idx="1"/>
          </p:nvPr>
        </p:nvSpPr>
        <p:spPr>
          <a:xfrm>
            <a:off x="0" y="1600200"/>
            <a:ext cx="9144000" cy="5108825"/>
          </a:xfrm>
        </p:spPr>
        <p:txBody>
          <a:bodyPr>
            <a:normAutofit/>
          </a:bodyPr>
          <a:lstStyle/>
          <a:p>
            <a:pPr marL="0" indent="0">
              <a:buNone/>
            </a:pPr>
            <a:r>
              <a:rPr dirty="0"/>
              <a:t>Demand refers to the quantity of </a:t>
            </a:r>
            <a:r>
              <a:rPr lang="en-US" dirty="0"/>
              <a:t>goods and services </a:t>
            </a:r>
            <a:r>
              <a:rPr dirty="0"/>
              <a:t>that consumers are willing and able to </a:t>
            </a:r>
            <a:r>
              <a:rPr lang="en-US" dirty="0"/>
              <a:t>buy</a:t>
            </a:r>
            <a:r>
              <a:rPr dirty="0"/>
              <a:t> at </a:t>
            </a:r>
            <a:r>
              <a:rPr lang="en-US" dirty="0"/>
              <a:t>a given </a:t>
            </a:r>
            <a:r>
              <a:rPr dirty="0"/>
              <a:t> prices during a specific period of time.</a:t>
            </a:r>
            <a:r>
              <a:rPr lang="en-US" dirty="0"/>
              <a:t> Demand </a:t>
            </a:r>
            <a:r>
              <a:rPr dirty="0"/>
              <a:t>requires willingness</a:t>
            </a:r>
            <a:r>
              <a:rPr lang="en-US" dirty="0"/>
              <a:t> </a:t>
            </a:r>
            <a:r>
              <a:rPr lang="en-US"/>
              <a:t>to buy</a:t>
            </a:r>
            <a:r>
              <a:t>, </a:t>
            </a:r>
            <a:r>
              <a:rPr dirty="0"/>
              <a:t>purchasing power, and a specific timeframe.</a:t>
            </a:r>
            <a:r>
              <a:rPr lang="en-US" dirty="0"/>
              <a:t> </a:t>
            </a:r>
            <a:r>
              <a:rPr dirty="0"/>
              <a:t>For example, if consumers buy 1,000 units of a product at ₹20, it represents the demand at that price.</a:t>
            </a:r>
          </a:p>
        </p:txBody>
      </p:sp>
      <p:pic>
        <p:nvPicPr>
          <p:cNvPr id="5" name="Picture 4">
            <a:extLst>
              <a:ext uri="{FF2B5EF4-FFF2-40B4-BE49-F238E27FC236}">
                <a16:creationId xmlns:a16="http://schemas.microsoft.com/office/drawing/2014/main" id="{E629BA6C-8A07-4C30-BBF2-43DF9551AC10}"/>
              </a:ext>
            </a:extLst>
          </p:cNvPr>
          <p:cNvPicPr>
            <a:picLocks noChangeAspect="1"/>
          </p:cNvPicPr>
          <p:nvPr/>
        </p:nvPicPr>
        <p:blipFill>
          <a:blip r:embed="rId2"/>
          <a:stretch>
            <a:fillRect/>
          </a:stretch>
        </p:blipFill>
        <p:spPr>
          <a:xfrm>
            <a:off x="4109664" y="4654193"/>
            <a:ext cx="4911046" cy="205483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02-Demand-2-2048.jpg">
            <a:extLst>
              <a:ext uri="{FF2B5EF4-FFF2-40B4-BE49-F238E27FC236}">
                <a16:creationId xmlns:a16="http://schemas.microsoft.com/office/drawing/2014/main" id="{062B97BF-C491-4B01-9A63-69FA24A4B95C}"/>
              </a:ext>
            </a:extLst>
          </p:cNvPr>
          <p:cNvPicPr>
            <a:picLocks noGrp="1" noChangeAspect="1"/>
          </p:cNvPicPr>
          <p:nvPr>
            <p:ph idx="1"/>
          </p:nvPr>
        </p:nvPicPr>
        <p:blipFill rotWithShape="1">
          <a:blip r:embed="rId2"/>
          <a:srcRect t="19819" b="10677"/>
          <a:stretch/>
        </p:blipFill>
        <p:spPr>
          <a:xfrm>
            <a:off x="154782" y="184935"/>
            <a:ext cx="8731249" cy="6513816"/>
          </a:xfrm>
          <a:prstGeom prst="rect">
            <a:avLst/>
          </a:prstGeom>
        </p:spPr>
      </p:pic>
    </p:spTree>
    <p:extLst>
      <p:ext uri="{BB962C8B-B14F-4D97-AF65-F5344CB8AC3E}">
        <p14:creationId xmlns:p14="http://schemas.microsoft.com/office/powerpoint/2010/main" val="37142004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184B978-6410-48A3-9DE5-AE0B4269A69D}"/>
              </a:ext>
            </a:extLst>
          </p:cNvPr>
          <p:cNvPicPr>
            <a:picLocks noChangeAspect="1"/>
          </p:cNvPicPr>
          <p:nvPr/>
        </p:nvPicPr>
        <p:blipFill>
          <a:blip r:embed="rId2"/>
          <a:stretch>
            <a:fillRect/>
          </a:stretch>
        </p:blipFill>
        <p:spPr>
          <a:xfrm>
            <a:off x="82193" y="647272"/>
            <a:ext cx="8856323" cy="592305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26D18A-7E2E-4FB7-AA36-E45584A28D18}"/>
              </a:ext>
            </a:extLst>
          </p:cNvPr>
          <p:cNvSpPr>
            <a:spLocks noGrp="1"/>
          </p:cNvSpPr>
          <p:nvPr>
            <p:ph idx="1"/>
          </p:nvPr>
        </p:nvSpPr>
        <p:spPr>
          <a:xfrm>
            <a:off x="102742" y="69352"/>
            <a:ext cx="8959065" cy="6670496"/>
          </a:xfrm>
        </p:spPr>
        <p:txBody>
          <a:bodyPr>
            <a:normAutofit lnSpcReduction="10000"/>
          </a:bodyPr>
          <a:lstStyle/>
          <a:p>
            <a:pPr marL="0" indent="0">
              <a:buNone/>
            </a:pPr>
            <a:r>
              <a:rPr lang="en-US" dirty="0"/>
              <a:t>Demand= Desire + Able to pay + Willingness to spend</a:t>
            </a:r>
          </a:p>
          <a:p>
            <a:pPr marL="0" indent="0">
              <a:buNone/>
            </a:pPr>
            <a:r>
              <a:rPr lang="en-US" dirty="0"/>
              <a:t>It is a relative concept (price, time, place)</a:t>
            </a:r>
          </a:p>
          <a:p>
            <a:pPr marL="0" indent="0">
              <a:buNone/>
            </a:pPr>
            <a:r>
              <a:rPr lang="en-US" b="1" u="sng" dirty="0"/>
              <a:t>Types of Demand:</a:t>
            </a:r>
          </a:p>
          <a:p>
            <a:pPr>
              <a:buFont typeface="Wingdings" panose="05000000000000000000" pitchFamily="2" charset="2"/>
              <a:buChar char="Ø"/>
            </a:pPr>
            <a:r>
              <a:rPr lang="en-US" dirty="0"/>
              <a:t>Individual demand &amp; Market demand</a:t>
            </a:r>
          </a:p>
          <a:p>
            <a:pPr>
              <a:buFont typeface="Wingdings" panose="05000000000000000000" pitchFamily="2" charset="2"/>
              <a:buChar char="Ø"/>
            </a:pPr>
            <a:r>
              <a:rPr lang="en-US" dirty="0"/>
              <a:t>Demand for capital goods &amp; consumer goods</a:t>
            </a:r>
          </a:p>
          <a:p>
            <a:pPr>
              <a:buFont typeface="Wingdings" panose="05000000000000000000" pitchFamily="2" charset="2"/>
              <a:buChar char="Ø"/>
            </a:pPr>
            <a:r>
              <a:rPr lang="en-US" dirty="0"/>
              <a:t>Autonomous demand &amp; Derived demand OR Direct &amp; Indirect demand</a:t>
            </a:r>
          </a:p>
          <a:p>
            <a:pPr>
              <a:buFont typeface="Wingdings" panose="05000000000000000000" pitchFamily="2" charset="2"/>
              <a:buChar char="Ø"/>
            </a:pPr>
            <a:r>
              <a:rPr lang="en-US" dirty="0"/>
              <a:t>Demand for durable goods &amp; non durable goods</a:t>
            </a:r>
          </a:p>
          <a:p>
            <a:pPr>
              <a:buFont typeface="Wingdings" panose="05000000000000000000" pitchFamily="2" charset="2"/>
              <a:buChar char="Ø"/>
            </a:pPr>
            <a:r>
              <a:rPr lang="en-US" dirty="0"/>
              <a:t>Short term &amp; long term demand</a:t>
            </a:r>
          </a:p>
          <a:p>
            <a:pPr>
              <a:buFont typeface="Wingdings" panose="05000000000000000000" pitchFamily="2" charset="2"/>
              <a:buChar char="Ø"/>
            </a:pPr>
            <a:r>
              <a:rPr lang="en-US" dirty="0">
                <a:solidFill>
                  <a:srgbClr val="FF0000"/>
                </a:solidFill>
              </a:rPr>
              <a:t>Ex-ante and ex-post  demand</a:t>
            </a:r>
          </a:p>
          <a:p>
            <a:pPr>
              <a:buFont typeface="Wingdings" panose="05000000000000000000" pitchFamily="2" charset="2"/>
              <a:buChar char="Ø"/>
            </a:pPr>
            <a:r>
              <a:rPr lang="en-US" dirty="0"/>
              <a:t>Others </a:t>
            </a:r>
          </a:p>
          <a:p>
            <a:pPr marL="0" indent="0">
              <a:buNone/>
            </a:pPr>
            <a:endParaRPr lang="en-US" dirty="0"/>
          </a:p>
        </p:txBody>
      </p:sp>
    </p:spTree>
    <p:extLst>
      <p:ext uri="{BB962C8B-B14F-4D97-AF65-F5344CB8AC3E}">
        <p14:creationId xmlns:p14="http://schemas.microsoft.com/office/powerpoint/2010/main" val="418795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53B3A80-7D18-42A1-A316-99210388982B}"/>
              </a:ext>
            </a:extLst>
          </p:cNvPr>
          <p:cNvPicPr>
            <a:picLocks noChangeAspect="1"/>
          </p:cNvPicPr>
          <p:nvPr/>
        </p:nvPicPr>
        <p:blipFill>
          <a:blip r:embed="rId2"/>
          <a:stretch>
            <a:fillRect/>
          </a:stretch>
        </p:blipFill>
        <p:spPr>
          <a:xfrm>
            <a:off x="0" y="390418"/>
            <a:ext cx="9144000" cy="6467581"/>
          </a:xfrm>
          <a:prstGeom prst="rect">
            <a:avLst/>
          </a:prstGeom>
        </p:spPr>
      </p:pic>
    </p:spTree>
    <p:extLst>
      <p:ext uri="{BB962C8B-B14F-4D97-AF65-F5344CB8AC3E}">
        <p14:creationId xmlns:p14="http://schemas.microsoft.com/office/powerpoint/2010/main" val="3609632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9E49C3E1-0EFB-45E3-8331-4F45BC6562DD}"/>
              </a:ext>
            </a:extLst>
          </p:cNvPr>
          <p:cNvPicPr>
            <a:picLocks noChangeAspect="1"/>
          </p:cNvPicPr>
          <p:nvPr/>
        </p:nvPicPr>
        <p:blipFill>
          <a:blip r:embed="rId2"/>
          <a:stretch>
            <a:fillRect/>
          </a:stretch>
        </p:blipFill>
        <p:spPr>
          <a:xfrm>
            <a:off x="-71919" y="0"/>
            <a:ext cx="9215919" cy="6858000"/>
          </a:xfrm>
          <a:prstGeom prst="rect">
            <a:avLst/>
          </a:prstGeom>
        </p:spPr>
      </p:pic>
    </p:spTree>
    <p:extLst>
      <p:ext uri="{BB962C8B-B14F-4D97-AF65-F5344CB8AC3E}">
        <p14:creationId xmlns:p14="http://schemas.microsoft.com/office/powerpoint/2010/main" val="37307474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0C7F242-F895-43D9-ADFA-6A621B6C7A81}"/>
              </a:ext>
            </a:extLst>
          </p:cNvPr>
          <p:cNvPicPr>
            <a:picLocks noChangeAspect="1"/>
          </p:cNvPicPr>
          <p:nvPr/>
        </p:nvPicPr>
        <p:blipFill>
          <a:blip r:embed="rId2"/>
          <a:stretch>
            <a:fillRect/>
          </a:stretch>
        </p:blipFill>
        <p:spPr>
          <a:xfrm>
            <a:off x="0" y="308224"/>
            <a:ext cx="9144000" cy="6549776"/>
          </a:xfrm>
          <a:prstGeom prst="rect">
            <a:avLst/>
          </a:prstGeom>
        </p:spPr>
      </p:pic>
    </p:spTree>
    <p:extLst>
      <p:ext uri="{BB962C8B-B14F-4D97-AF65-F5344CB8AC3E}">
        <p14:creationId xmlns:p14="http://schemas.microsoft.com/office/powerpoint/2010/main" val="26201461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327DF-2DE4-4BF4-9C50-E7CE4ABE9D52}"/>
              </a:ext>
            </a:extLst>
          </p:cNvPr>
          <p:cNvPicPr>
            <a:picLocks noChangeAspect="1"/>
          </p:cNvPicPr>
          <p:nvPr/>
        </p:nvPicPr>
        <p:blipFill>
          <a:blip r:embed="rId2"/>
          <a:stretch>
            <a:fillRect/>
          </a:stretch>
        </p:blipFill>
        <p:spPr>
          <a:xfrm>
            <a:off x="71919" y="154112"/>
            <a:ext cx="9000162" cy="6596009"/>
          </a:xfrm>
          <a:prstGeom prst="rect">
            <a:avLst/>
          </a:prstGeom>
        </p:spPr>
      </p:pic>
    </p:spTree>
    <p:extLst>
      <p:ext uri="{BB962C8B-B14F-4D97-AF65-F5344CB8AC3E}">
        <p14:creationId xmlns:p14="http://schemas.microsoft.com/office/powerpoint/2010/main" val="20005763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E08B950-3D80-48C1-9F83-33F2D3B3E842}"/>
              </a:ext>
            </a:extLst>
          </p:cNvPr>
          <p:cNvSpPr>
            <a:spLocks noGrp="1"/>
          </p:cNvSpPr>
          <p:nvPr>
            <p:ph type="subTitle" idx="1"/>
          </p:nvPr>
        </p:nvSpPr>
        <p:spPr>
          <a:xfrm>
            <a:off x="133564" y="290244"/>
            <a:ext cx="8887146" cy="6398231"/>
          </a:xfrm>
        </p:spPr>
        <p:txBody>
          <a:bodyPr/>
          <a:lstStyle/>
          <a:p>
            <a:pPr algn="just"/>
            <a:r>
              <a:rPr lang="en-US" sz="4400" b="1" u="sng" dirty="0">
                <a:solidFill>
                  <a:srgbClr val="FF0000"/>
                </a:solidFill>
              </a:rPr>
              <a:t>Ex-ante</a:t>
            </a:r>
            <a:r>
              <a:rPr lang="en-US" sz="4400" dirty="0">
                <a:solidFill>
                  <a:schemeClr val="tx1"/>
                </a:solidFill>
              </a:rPr>
              <a:t>(Expected/Planned Demand)</a:t>
            </a:r>
            <a:r>
              <a:rPr lang="en-US" sz="4400" b="1" dirty="0">
                <a:solidFill>
                  <a:srgbClr val="FF0000"/>
                </a:solidFill>
              </a:rPr>
              <a:t>and </a:t>
            </a:r>
            <a:r>
              <a:rPr lang="en-US" sz="4400" b="1" u="sng" dirty="0">
                <a:solidFill>
                  <a:srgbClr val="FF0000"/>
                </a:solidFill>
              </a:rPr>
              <a:t>ex-post demand</a:t>
            </a:r>
            <a:r>
              <a:rPr lang="en-US" sz="4400" dirty="0">
                <a:solidFill>
                  <a:schemeClr val="tx1"/>
                </a:solidFill>
              </a:rPr>
              <a:t>(Actual Demand/Realized Demand)</a:t>
            </a:r>
            <a:endParaRPr lang="en-US" sz="4400" b="1" u="sng" dirty="0">
              <a:solidFill>
                <a:schemeClr val="tx1"/>
              </a:solidFill>
            </a:endParaRPr>
          </a:p>
          <a:p>
            <a:pPr algn="just"/>
            <a:r>
              <a:rPr lang="en-US" sz="2800" dirty="0">
                <a:solidFill>
                  <a:schemeClr val="tx1"/>
                </a:solidFill>
              </a:rPr>
              <a:t>Ex-ante demand refers to the </a:t>
            </a:r>
            <a:r>
              <a:rPr lang="en-US" sz="2800" b="1" dirty="0">
                <a:solidFill>
                  <a:schemeClr val="tx1"/>
                </a:solidFill>
              </a:rPr>
              <a:t>amount of a product consumers </a:t>
            </a:r>
            <a:r>
              <a:rPr lang="en-US" sz="2800" b="1" i="1" dirty="0">
                <a:solidFill>
                  <a:schemeClr val="tx1"/>
                </a:solidFill>
              </a:rPr>
              <a:t>plan or intend</a:t>
            </a:r>
            <a:r>
              <a:rPr lang="en-US" sz="2800" b="1" dirty="0">
                <a:solidFill>
                  <a:schemeClr val="tx1"/>
                </a:solidFill>
              </a:rPr>
              <a:t> to buy</a:t>
            </a:r>
            <a:r>
              <a:rPr lang="en-US" sz="2800" dirty="0">
                <a:solidFill>
                  <a:schemeClr val="tx1"/>
                </a:solidFill>
              </a:rPr>
              <a:t> during a future period. It is based on </a:t>
            </a:r>
            <a:r>
              <a:rPr lang="en-US" sz="2800" b="1" dirty="0">
                <a:solidFill>
                  <a:schemeClr val="tx1"/>
                </a:solidFill>
              </a:rPr>
              <a:t>expectations</a:t>
            </a:r>
            <a:r>
              <a:rPr lang="en-US" sz="2800" dirty="0">
                <a:solidFill>
                  <a:schemeClr val="tx1"/>
                </a:solidFill>
              </a:rPr>
              <a:t>, </a:t>
            </a:r>
            <a:r>
              <a:rPr lang="en-US" sz="2800" b="1" dirty="0">
                <a:solidFill>
                  <a:schemeClr val="tx1"/>
                </a:solidFill>
              </a:rPr>
              <a:t>forecasting</a:t>
            </a:r>
            <a:r>
              <a:rPr lang="en-US" sz="2800" dirty="0">
                <a:solidFill>
                  <a:schemeClr val="tx1"/>
                </a:solidFill>
              </a:rPr>
              <a:t>, and </a:t>
            </a:r>
            <a:r>
              <a:rPr lang="en-US" sz="2800" b="1" dirty="0">
                <a:solidFill>
                  <a:schemeClr val="tx1"/>
                </a:solidFill>
              </a:rPr>
              <a:t>intentions</a:t>
            </a:r>
            <a:r>
              <a:rPr lang="en-US" sz="2800" dirty="0">
                <a:solidFill>
                  <a:schemeClr val="tx1"/>
                </a:solidFill>
              </a:rPr>
              <a:t> before actual purchase happens. Ex-post demand refers to the </a:t>
            </a:r>
            <a:r>
              <a:rPr lang="en-US" sz="2800" b="1" dirty="0">
                <a:solidFill>
                  <a:schemeClr val="tx1"/>
                </a:solidFill>
              </a:rPr>
              <a:t>actual quantity purchased or consumed</a:t>
            </a:r>
            <a:r>
              <a:rPr lang="en-US" sz="2800" dirty="0">
                <a:solidFill>
                  <a:schemeClr val="tx1"/>
                </a:solidFill>
              </a:rPr>
              <a:t> during a time period. It is the </a:t>
            </a:r>
            <a:r>
              <a:rPr lang="en-US" sz="2800" b="1" dirty="0">
                <a:solidFill>
                  <a:schemeClr val="tx1"/>
                </a:solidFill>
              </a:rPr>
              <a:t>realized demand</a:t>
            </a:r>
            <a:r>
              <a:rPr lang="en-US" sz="2800" dirty="0">
                <a:solidFill>
                  <a:schemeClr val="tx1"/>
                </a:solidFill>
              </a:rPr>
              <a:t>, measured after the purchase takes place.</a:t>
            </a:r>
          </a:p>
          <a:p>
            <a:pPr algn="just"/>
            <a:endParaRPr lang="en-US" sz="2800" dirty="0">
              <a:solidFill>
                <a:schemeClr val="tx1"/>
              </a:solidFill>
            </a:endParaRPr>
          </a:p>
          <a:p>
            <a:pPr algn="just"/>
            <a:endParaRPr lang="en-US" dirty="0"/>
          </a:p>
        </p:txBody>
      </p:sp>
    </p:spTree>
    <p:extLst>
      <p:ext uri="{BB962C8B-B14F-4D97-AF65-F5344CB8AC3E}">
        <p14:creationId xmlns:p14="http://schemas.microsoft.com/office/powerpoint/2010/main" val="3467637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870E232-6424-4363-9212-A75252B3620B}"/>
              </a:ext>
            </a:extLst>
          </p:cNvPr>
          <p:cNvSpPr>
            <a:spLocks noGrp="1"/>
          </p:cNvSpPr>
          <p:nvPr>
            <p:ph type="subTitle" idx="1"/>
          </p:nvPr>
        </p:nvSpPr>
        <p:spPr>
          <a:xfrm>
            <a:off x="92467" y="205483"/>
            <a:ext cx="8856324" cy="6544637"/>
          </a:xfrm>
        </p:spPr>
        <p:txBody>
          <a:bodyPr>
            <a:normAutofit/>
          </a:bodyPr>
          <a:lstStyle/>
          <a:p>
            <a:r>
              <a:rPr lang="en-US" sz="4400" b="1" u="sng" dirty="0">
                <a:solidFill>
                  <a:schemeClr val="tx1"/>
                </a:solidFill>
              </a:rPr>
              <a:t>Demand Analysis</a:t>
            </a:r>
          </a:p>
          <a:p>
            <a:pPr algn="just"/>
            <a:r>
              <a:rPr lang="en-US" sz="2600" dirty="0">
                <a:solidFill>
                  <a:schemeClr val="tx1"/>
                </a:solidFill>
              </a:rPr>
              <a:t>A comprehensive process used by businesses and economists to understand and predict the demand for a product or service</a:t>
            </a:r>
          </a:p>
          <a:p>
            <a:pPr algn="just"/>
            <a:r>
              <a:rPr lang="en-US" sz="4000" b="1" u="sng" dirty="0">
                <a:solidFill>
                  <a:schemeClr val="tx1"/>
                </a:solidFill>
              </a:rPr>
              <a:t>Why it is needed….?????</a:t>
            </a:r>
          </a:p>
          <a:p>
            <a:pPr marL="457200" indent="-457200" algn="just">
              <a:buFont typeface="Wingdings" panose="05000000000000000000" pitchFamily="2" charset="2"/>
              <a:buChar char="q"/>
            </a:pPr>
            <a:r>
              <a:rPr lang="en-US" sz="2600" dirty="0">
                <a:solidFill>
                  <a:schemeClr val="tx1"/>
                </a:solidFill>
              </a:rPr>
              <a:t>To provide the basis for analyzing market influences on the demand.</a:t>
            </a:r>
          </a:p>
          <a:p>
            <a:pPr marL="457200" indent="-457200" algn="just">
              <a:buFont typeface="Wingdings" panose="05000000000000000000" pitchFamily="2" charset="2"/>
              <a:buChar char="q"/>
            </a:pPr>
            <a:r>
              <a:rPr lang="en-US" sz="2600" dirty="0">
                <a:solidFill>
                  <a:schemeClr val="tx1"/>
                </a:solidFill>
              </a:rPr>
              <a:t>To provide the guidance for manipulating the demand.</a:t>
            </a:r>
          </a:p>
          <a:p>
            <a:pPr marL="457200" indent="-457200" algn="just">
              <a:buFont typeface="Wingdings" panose="05000000000000000000" pitchFamily="2" charset="2"/>
              <a:buChar char="q"/>
            </a:pPr>
            <a:r>
              <a:rPr lang="en-US" sz="2600" dirty="0">
                <a:solidFill>
                  <a:schemeClr val="tx1"/>
                </a:solidFill>
              </a:rPr>
              <a:t>To guide in production planning through forecasting the demand.</a:t>
            </a:r>
          </a:p>
          <a:p>
            <a:pPr algn="just"/>
            <a:endParaRPr lang="en-US" sz="4000" dirty="0">
              <a:solidFill>
                <a:schemeClr val="tx1"/>
              </a:solidFill>
            </a:endParaRPr>
          </a:p>
        </p:txBody>
      </p:sp>
    </p:spTree>
    <p:extLst>
      <p:ext uri="{BB962C8B-B14F-4D97-AF65-F5344CB8AC3E}">
        <p14:creationId xmlns:p14="http://schemas.microsoft.com/office/powerpoint/2010/main" val="594128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CB8C5-5F51-40C8-A003-A70EA939F490}"/>
              </a:ext>
            </a:extLst>
          </p:cNvPr>
          <p:cNvSpPr>
            <a:spLocks noGrp="1"/>
          </p:cNvSpPr>
          <p:nvPr>
            <p:ph type="title"/>
          </p:nvPr>
        </p:nvSpPr>
        <p:spPr>
          <a:xfrm>
            <a:off x="184935" y="59076"/>
            <a:ext cx="8733034" cy="834776"/>
          </a:xfrm>
        </p:spPr>
        <p:txBody>
          <a:bodyPr/>
          <a:lstStyle/>
          <a:p>
            <a:r>
              <a:rPr lang="en-US" dirty="0"/>
              <a:t>Demand Function</a:t>
            </a:r>
          </a:p>
        </p:txBody>
      </p:sp>
      <p:sp>
        <p:nvSpPr>
          <p:cNvPr id="3" name="Content Placeholder 2">
            <a:extLst>
              <a:ext uri="{FF2B5EF4-FFF2-40B4-BE49-F238E27FC236}">
                <a16:creationId xmlns:a16="http://schemas.microsoft.com/office/drawing/2014/main" id="{CD2E1DE5-E5FA-493B-A1F6-4C74F1E3D504}"/>
              </a:ext>
            </a:extLst>
          </p:cNvPr>
          <p:cNvSpPr>
            <a:spLocks noGrp="1"/>
          </p:cNvSpPr>
          <p:nvPr>
            <p:ph idx="1"/>
          </p:nvPr>
        </p:nvSpPr>
        <p:spPr>
          <a:xfrm>
            <a:off x="82194" y="1017141"/>
            <a:ext cx="8938515" cy="5702157"/>
          </a:xfrm>
        </p:spPr>
        <p:txBody>
          <a:bodyPr>
            <a:noAutofit/>
          </a:bodyPr>
          <a:lstStyle/>
          <a:p>
            <a:pPr marL="0" indent="0" algn="just">
              <a:buNone/>
            </a:pPr>
            <a:r>
              <a:rPr lang="en-US" sz="2000" dirty="0"/>
              <a:t>A demand function is a mathematical terms expresses the functional relationship between the demand for the product and its various determining variables. In simple words it describes the relationship between a variable (dependent variable) and its determinants (independent variables)</a:t>
            </a:r>
          </a:p>
          <a:p>
            <a:pPr marL="0" indent="0" algn="just">
              <a:buNone/>
            </a:pPr>
            <a:endParaRPr lang="en-US" sz="2000" dirty="0"/>
          </a:p>
          <a:p>
            <a:pPr marL="0" indent="0" algn="just">
              <a:buNone/>
            </a:pPr>
            <a:r>
              <a:rPr lang="en-US" sz="2000" dirty="0"/>
              <a:t>Dx=f(Px, Ps, Pc, Yd, T, A, N, u)</a:t>
            </a:r>
          </a:p>
          <a:p>
            <a:pPr marL="0" indent="0" algn="just">
              <a:buNone/>
            </a:pPr>
            <a:endParaRPr lang="en-US" sz="2000" dirty="0"/>
          </a:p>
          <a:p>
            <a:pPr marL="0" indent="0" algn="just">
              <a:buNone/>
            </a:pPr>
            <a:r>
              <a:rPr lang="en-US" sz="2000" dirty="0"/>
              <a:t>Dx - Demand of goods x</a:t>
            </a:r>
          </a:p>
          <a:p>
            <a:pPr marL="0" indent="0" algn="just">
              <a:buNone/>
            </a:pPr>
            <a:r>
              <a:rPr lang="en-US" sz="2000" dirty="0"/>
              <a:t>Px – Price of goods x </a:t>
            </a:r>
          </a:p>
          <a:p>
            <a:pPr marL="0" indent="0" algn="just">
              <a:buNone/>
            </a:pPr>
            <a:r>
              <a:rPr lang="en-US" sz="2000" dirty="0"/>
              <a:t>Ps – Price of substitutes of x </a:t>
            </a:r>
          </a:p>
          <a:p>
            <a:pPr marL="0" indent="0" algn="just">
              <a:buNone/>
            </a:pPr>
            <a:r>
              <a:rPr lang="en-US" sz="2000" dirty="0"/>
              <a:t>Pc – Price of complements of x</a:t>
            </a:r>
          </a:p>
          <a:p>
            <a:pPr marL="0" indent="0" algn="just">
              <a:buNone/>
            </a:pPr>
            <a:r>
              <a:rPr lang="en-US" sz="2000" dirty="0"/>
              <a:t>Yd – Income level</a:t>
            </a:r>
          </a:p>
          <a:p>
            <a:pPr marL="0" indent="0" algn="just">
              <a:buNone/>
            </a:pPr>
            <a:r>
              <a:rPr lang="en-US" sz="2000" dirty="0"/>
              <a:t>T – Taste of consumers</a:t>
            </a:r>
          </a:p>
          <a:p>
            <a:pPr marL="0" indent="0" algn="just">
              <a:buNone/>
            </a:pPr>
            <a:r>
              <a:rPr lang="en-US" sz="2000" dirty="0"/>
              <a:t>A – Advertisement expenditure</a:t>
            </a:r>
          </a:p>
          <a:p>
            <a:pPr marL="0" indent="0" algn="just">
              <a:buNone/>
            </a:pPr>
            <a:r>
              <a:rPr lang="en-US" sz="2000" dirty="0"/>
              <a:t>N – Number of consumers</a:t>
            </a:r>
          </a:p>
          <a:p>
            <a:pPr marL="0" indent="0" algn="just">
              <a:buNone/>
            </a:pPr>
            <a:r>
              <a:rPr lang="en-US" sz="2000" dirty="0"/>
              <a:t>u – Others </a:t>
            </a:r>
          </a:p>
          <a:p>
            <a:pPr marL="0" indent="0" algn="just">
              <a:buNone/>
            </a:pPr>
            <a:endParaRPr lang="en-US" sz="2000" dirty="0"/>
          </a:p>
        </p:txBody>
      </p:sp>
    </p:spTree>
    <p:extLst>
      <p:ext uri="{BB962C8B-B14F-4D97-AF65-F5344CB8AC3E}">
        <p14:creationId xmlns:p14="http://schemas.microsoft.com/office/powerpoint/2010/main" val="2634215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26271C3-6CA0-4C43-87BD-ADB8C0FAC63E}"/>
              </a:ext>
            </a:extLst>
          </p:cNvPr>
          <p:cNvPicPr>
            <a:picLocks noChangeAspect="1"/>
          </p:cNvPicPr>
          <p:nvPr/>
        </p:nvPicPr>
        <p:blipFill rotWithShape="1">
          <a:blip r:embed="rId2"/>
          <a:srcRect b="7143"/>
          <a:stretch/>
        </p:blipFill>
        <p:spPr>
          <a:xfrm>
            <a:off x="0" y="0"/>
            <a:ext cx="9144000" cy="6858000"/>
          </a:xfrm>
          <a:prstGeom prst="rect">
            <a:avLst/>
          </a:prstGeom>
        </p:spPr>
      </p:pic>
    </p:spTree>
    <p:extLst>
      <p:ext uri="{BB962C8B-B14F-4D97-AF65-F5344CB8AC3E}">
        <p14:creationId xmlns:p14="http://schemas.microsoft.com/office/powerpoint/2010/main" val="1734129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6031" y="169524"/>
            <a:ext cx="8702211" cy="970907"/>
          </a:xfrm>
        </p:spPr>
        <p:txBody>
          <a:bodyPr>
            <a:normAutofit/>
          </a:bodyPr>
          <a:lstStyle/>
          <a:p>
            <a:r>
              <a:rPr sz="5400" b="1" u="sng" dirty="0"/>
              <a:t>Law of Demand</a:t>
            </a:r>
          </a:p>
        </p:txBody>
      </p:sp>
      <p:sp>
        <p:nvSpPr>
          <p:cNvPr id="3" name="Content Placeholder 2"/>
          <p:cNvSpPr>
            <a:spLocks noGrp="1"/>
          </p:cNvSpPr>
          <p:nvPr>
            <p:ph idx="1"/>
          </p:nvPr>
        </p:nvSpPr>
        <p:spPr>
          <a:xfrm>
            <a:off x="220894" y="1374168"/>
            <a:ext cx="8702211" cy="5314307"/>
          </a:xfrm>
        </p:spPr>
        <p:txBody>
          <a:bodyPr>
            <a:noAutofit/>
          </a:bodyPr>
          <a:lstStyle/>
          <a:p>
            <a:pPr marL="0" indent="0" algn="just">
              <a:buNone/>
            </a:pPr>
            <a:r>
              <a:rPr sz="2600" dirty="0"/>
              <a:t>The law of demand states that other factors being constant the quantity demanded of a good varies inversely with its price.</a:t>
            </a:r>
            <a:r>
              <a:rPr lang="en-US" sz="2600" dirty="0"/>
              <a:t> It shows an inverse relationship between the price of a commodity  and quantity demanded for good or service assuming all other factors affecting demand remain constant. </a:t>
            </a:r>
          </a:p>
          <a:p>
            <a:pPr marL="0" indent="0" algn="just">
              <a:buNone/>
            </a:pPr>
            <a:r>
              <a:rPr sz="2600" dirty="0"/>
              <a:t>This means</a:t>
            </a:r>
            <a:r>
              <a:rPr lang="en-US" sz="2600" dirty="0"/>
              <a:t>, </a:t>
            </a:r>
            <a:r>
              <a:rPr sz="2600" dirty="0"/>
              <a:t>when price increases demand </a:t>
            </a:r>
            <a:r>
              <a:rPr lang="en-US" sz="2600" dirty="0"/>
              <a:t>decreases</a:t>
            </a:r>
            <a:r>
              <a:rPr sz="2600" dirty="0"/>
              <a:t>, and when price decreases</a:t>
            </a:r>
            <a:r>
              <a:rPr lang="en-US" sz="2600" dirty="0"/>
              <a:t> </a:t>
            </a:r>
            <a:r>
              <a:rPr sz="2600" dirty="0"/>
              <a:t>demand</a:t>
            </a:r>
            <a:r>
              <a:rPr lang="en-US" sz="2600" dirty="0"/>
              <a:t> increases.</a:t>
            </a:r>
          </a:p>
          <a:p>
            <a:pPr marL="0" indent="0" algn="just">
              <a:buNone/>
            </a:pPr>
            <a:r>
              <a:rPr lang="en-US" i="1" dirty="0"/>
              <a:t>The Law of Demand states that amount demanded increases with a fall in price and diminishes when price increases." - </a:t>
            </a:r>
            <a:r>
              <a:rPr lang="en-US" b="1" i="1" dirty="0"/>
              <a:t>Prof. Marshall</a:t>
            </a:r>
            <a:endParaRPr lang="en-US" sz="2600" dirty="0"/>
          </a:p>
          <a:p>
            <a:pPr marL="0" indent="0" algn="just">
              <a:buNone/>
            </a:pPr>
            <a:endParaRPr lang="en-US" sz="2600" dirty="0"/>
          </a:p>
          <a:p>
            <a:pPr marL="0" indent="0" algn="just">
              <a:buNone/>
            </a:pPr>
            <a:endParaRPr lang="en-US" sz="26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52D2D54-AF8E-47DC-AE2F-5E9D6FFD017E}"/>
              </a:ext>
            </a:extLst>
          </p:cNvPr>
          <p:cNvSpPr>
            <a:spLocks noGrp="1"/>
          </p:cNvSpPr>
          <p:nvPr>
            <p:ph type="subTitle" idx="1"/>
          </p:nvPr>
        </p:nvSpPr>
        <p:spPr>
          <a:xfrm>
            <a:off x="102743" y="133563"/>
            <a:ext cx="8928242" cy="6606283"/>
          </a:xfrm>
        </p:spPr>
        <p:txBody>
          <a:bodyPr>
            <a:normAutofit/>
          </a:bodyPr>
          <a:lstStyle/>
          <a:p>
            <a:r>
              <a:rPr lang="en-US" b="1" u="sng" dirty="0">
                <a:solidFill>
                  <a:schemeClr val="tx1"/>
                </a:solidFill>
              </a:rPr>
              <a:t>Characteristics of law of demand</a:t>
            </a:r>
          </a:p>
          <a:p>
            <a:pPr marL="457200" indent="-457200" algn="just">
              <a:buFont typeface="Arial" panose="020B0604020202020204" pitchFamily="34" charset="0"/>
              <a:buChar char="•"/>
            </a:pPr>
            <a:r>
              <a:rPr lang="en-US" dirty="0">
                <a:solidFill>
                  <a:schemeClr val="tx1"/>
                </a:solidFill>
              </a:rPr>
              <a:t>There is inverse relationship between price of commodity and its demand.</a:t>
            </a:r>
          </a:p>
          <a:p>
            <a:pPr marL="457200" indent="-457200" algn="just">
              <a:buFont typeface="Arial" panose="020B0604020202020204" pitchFamily="34" charset="0"/>
              <a:buChar char="•"/>
            </a:pPr>
            <a:r>
              <a:rPr lang="en-US" dirty="0"/>
              <a:t>Price an Independent Variable and </a:t>
            </a:r>
            <a:r>
              <a:rPr lang="en-US" dirty="0">
                <a:solidFill>
                  <a:schemeClr val="tx1"/>
                </a:solidFill>
              </a:rPr>
              <a:t>Demand is Dependent Variable on price of goods.</a:t>
            </a:r>
          </a:p>
          <a:p>
            <a:pPr marL="457200" indent="-457200" algn="just">
              <a:buFont typeface="Arial" panose="020B0604020202020204" pitchFamily="34" charset="0"/>
              <a:buChar char="•"/>
            </a:pPr>
            <a:r>
              <a:rPr lang="en-US" dirty="0"/>
              <a:t>It is a Qualitative Statement.</a:t>
            </a:r>
          </a:p>
          <a:p>
            <a:pPr marL="457200" indent="-457200" algn="just">
              <a:buFont typeface="Arial" panose="020B0604020202020204" pitchFamily="34" charset="0"/>
              <a:buChar char="•"/>
            </a:pPr>
            <a:r>
              <a:rPr lang="en-US" dirty="0"/>
              <a:t>Other thing remains the same.</a:t>
            </a:r>
            <a:endParaRPr lang="en-US" dirty="0">
              <a:solidFill>
                <a:schemeClr val="tx1"/>
              </a:solidFill>
            </a:endParaRPr>
          </a:p>
          <a:p>
            <a:pPr algn="just"/>
            <a:endParaRPr lang="en-US" dirty="0">
              <a:solidFill>
                <a:schemeClr val="tx1"/>
              </a:solidFill>
            </a:endParaRPr>
          </a:p>
        </p:txBody>
      </p:sp>
    </p:spTree>
    <p:extLst>
      <p:ext uri="{BB962C8B-B14F-4D97-AF65-F5344CB8AC3E}">
        <p14:creationId xmlns:p14="http://schemas.microsoft.com/office/powerpoint/2010/main" val="2455346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861BFC9-7658-4C4D-B23F-FF8C934AED61}"/>
              </a:ext>
            </a:extLst>
          </p:cNvPr>
          <p:cNvPicPr>
            <a:picLocks noChangeAspect="1"/>
          </p:cNvPicPr>
          <p:nvPr/>
        </p:nvPicPr>
        <p:blipFill rotWithShape="1">
          <a:blip r:embed="rId2"/>
          <a:srcRect b="6031"/>
          <a:stretch/>
        </p:blipFill>
        <p:spPr>
          <a:xfrm>
            <a:off x="678094" y="184935"/>
            <a:ext cx="7582328" cy="6565186"/>
          </a:xfrm>
          <a:prstGeom prst="rect">
            <a:avLst/>
          </a:prstGeom>
        </p:spPr>
      </p:pic>
    </p:spTree>
    <p:extLst>
      <p:ext uri="{BB962C8B-B14F-4D97-AF65-F5344CB8AC3E}">
        <p14:creationId xmlns:p14="http://schemas.microsoft.com/office/powerpoint/2010/main" val="1454748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E84AB61-AB6B-4D16-B61F-D2D6D34C6098}"/>
              </a:ext>
            </a:extLst>
          </p:cNvPr>
          <p:cNvPicPr>
            <a:picLocks noChangeAspect="1"/>
          </p:cNvPicPr>
          <p:nvPr/>
        </p:nvPicPr>
        <p:blipFill>
          <a:blip r:embed="rId2"/>
          <a:stretch>
            <a:fillRect/>
          </a:stretch>
        </p:blipFill>
        <p:spPr>
          <a:xfrm>
            <a:off x="215758" y="328773"/>
            <a:ext cx="8774130" cy="6349429"/>
          </a:xfrm>
          <a:prstGeom prst="rect">
            <a:avLst/>
          </a:prstGeom>
        </p:spPr>
      </p:pic>
    </p:spTree>
    <p:extLst>
      <p:ext uri="{BB962C8B-B14F-4D97-AF65-F5344CB8AC3E}">
        <p14:creationId xmlns:p14="http://schemas.microsoft.com/office/powerpoint/2010/main" val="3548606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C96A911-D720-43FB-911C-6C39AD3B3C88}"/>
              </a:ext>
            </a:extLst>
          </p:cNvPr>
          <p:cNvPicPr>
            <a:picLocks noChangeAspect="1"/>
          </p:cNvPicPr>
          <p:nvPr/>
        </p:nvPicPr>
        <p:blipFill rotWithShape="1">
          <a:blip r:embed="rId2"/>
          <a:srcRect b="4420"/>
          <a:stretch/>
        </p:blipFill>
        <p:spPr>
          <a:xfrm>
            <a:off x="0" y="-51370"/>
            <a:ext cx="9144000" cy="6909370"/>
          </a:xfrm>
          <a:prstGeom prst="rect">
            <a:avLst/>
          </a:prstGeom>
        </p:spPr>
      </p:pic>
    </p:spTree>
    <p:extLst>
      <p:ext uri="{BB962C8B-B14F-4D97-AF65-F5344CB8AC3E}">
        <p14:creationId xmlns:p14="http://schemas.microsoft.com/office/powerpoint/2010/main" val="11989501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C62AC-7212-4813-B7EC-254B2E969F9F}"/>
              </a:ext>
            </a:extLst>
          </p:cNvPr>
          <p:cNvSpPr>
            <a:spLocks noGrp="1"/>
          </p:cNvSpPr>
          <p:nvPr>
            <p:ph type="ctrTitle"/>
          </p:nvPr>
        </p:nvSpPr>
        <p:spPr>
          <a:xfrm>
            <a:off x="113016" y="106416"/>
            <a:ext cx="9030984" cy="746339"/>
          </a:xfrm>
        </p:spPr>
        <p:txBody>
          <a:bodyPr>
            <a:normAutofit fontScale="90000"/>
          </a:bodyPr>
          <a:lstStyle/>
          <a:p>
            <a:r>
              <a:rPr lang="en-US" b="1" u="sng" cap="all" dirty="0"/>
              <a:t>Assumptions</a:t>
            </a:r>
            <a:endParaRPr lang="en-US" b="1" u="sng" dirty="0"/>
          </a:p>
        </p:txBody>
      </p:sp>
      <p:sp>
        <p:nvSpPr>
          <p:cNvPr id="3" name="Subtitle 2">
            <a:extLst>
              <a:ext uri="{FF2B5EF4-FFF2-40B4-BE49-F238E27FC236}">
                <a16:creationId xmlns:a16="http://schemas.microsoft.com/office/drawing/2014/main" id="{9DB18D57-089D-4C31-A657-583F68C43238}"/>
              </a:ext>
            </a:extLst>
          </p:cNvPr>
          <p:cNvSpPr>
            <a:spLocks noGrp="1"/>
          </p:cNvSpPr>
          <p:nvPr>
            <p:ph type="subTitle" idx="1"/>
          </p:nvPr>
        </p:nvSpPr>
        <p:spPr>
          <a:xfrm>
            <a:off x="113015" y="780836"/>
            <a:ext cx="8866597" cy="5876818"/>
          </a:xfrm>
        </p:spPr>
        <p:txBody>
          <a:bodyPr>
            <a:noAutofit/>
          </a:bodyPr>
          <a:lstStyle/>
          <a:p>
            <a:pPr marL="514350" indent="-514350" algn="just">
              <a:buAutoNum type="arabicPeriod"/>
            </a:pPr>
            <a:r>
              <a:rPr lang="en-US" sz="2200" dirty="0">
                <a:solidFill>
                  <a:schemeClr val="tx1"/>
                </a:solidFill>
              </a:rPr>
              <a:t>No Change in Consumer’s Income: Throughout the law, the consumer’s income should remain the same. If the level of buyer’s income changes, he may buy more even at a higher price, invalidating the law of demand.</a:t>
            </a:r>
          </a:p>
          <a:p>
            <a:pPr marL="514350" indent="-514350" algn="just">
              <a:buAutoNum type="arabicPeriod"/>
            </a:pPr>
            <a:r>
              <a:rPr lang="en-US" sz="2200" dirty="0">
                <a:solidFill>
                  <a:schemeClr val="tx1"/>
                </a:solidFill>
              </a:rPr>
              <a:t>No Change in Tastes, Habits, or Preferences: The consumer’s taste, habits and preferences should remain constant. If suddenly there is a trend toward healthy eating, demand for apples may rise even if price increases.</a:t>
            </a:r>
          </a:p>
          <a:p>
            <a:pPr marL="514350" indent="-514350" algn="just">
              <a:buAutoNum type="arabicPeriod"/>
            </a:pPr>
            <a:r>
              <a:rPr lang="en-US" sz="2200" dirty="0">
                <a:solidFill>
                  <a:schemeClr val="tx1"/>
                </a:solidFill>
              </a:rPr>
              <a:t>No change in the Fashion: if the commodity concerned go out of the fashion, a buyer may not buy more of it even at a substantial price of reduction.</a:t>
            </a:r>
          </a:p>
          <a:p>
            <a:pPr marL="514350" indent="-514350" algn="just">
              <a:buAutoNum type="arabicPeriod"/>
            </a:pPr>
            <a:r>
              <a:rPr lang="en-US" sz="2200" dirty="0">
                <a:solidFill>
                  <a:schemeClr val="tx1"/>
                </a:solidFill>
              </a:rPr>
              <a:t>No change in the Prices of Related Goods: Prices of other goods like substitutes and supportive i.e., complementary or jointly demanded products remain unchanged. If the prices of other related goods change, the consumer’s preferences would change which may invalidate the law of demand.</a:t>
            </a:r>
          </a:p>
          <a:p>
            <a:pPr algn="just"/>
            <a:endParaRPr lang="en-US" sz="2200" dirty="0">
              <a:solidFill>
                <a:schemeClr val="tx1"/>
              </a:solidFill>
            </a:endParaRPr>
          </a:p>
          <a:p>
            <a:pPr marL="514350" indent="-514350" algn="just">
              <a:buAutoNum type="arabicPeriod"/>
            </a:pPr>
            <a:endParaRPr lang="en-US" sz="2200" dirty="0">
              <a:solidFill>
                <a:schemeClr val="tx1"/>
              </a:solidFill>
            </a:endParaRPr>
          </a:p>
          <a:p>
            <a:pPr marL="514350" indent="-514350" algn="just">
              <a:buAutoNum type="arabicPeriod"/>
            </a:pPr>
            <a:endParaRPr lang="en-US" sz="2200" dirty="0">
              <a:solidFill>
                <a:schemeClr val="tx1"/>
              </a:solidFill>
            </a:endParaRPr>
          </a:p>
        </p:txBody>
      </p:sp>
    </p:spTree>
    <p:extLst>
      <p:ext uri="{BB962C8B-B14F-4D97-AF65-F5344CB8AC3E}">
        <p14:creationId xmlns:p14="http://schemas.microsoft.com/office/powerpoint/2010/main" val="821143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485585-023B-4964-BE99-98574DFCA29C}"/>
              </a:ext>
            </a:extLst>
          </p:cNvPr>
          <p:cNvSpPr>
            <a:spLocks noGrp="1"/>
          </p:cNvSpPr>
          <p:nvPr>
            <p:ph idx="1"/>
          </p:nvPr>
        </p:nvSpPr>
        <p:spPr>
          <a:xfrm>
            <a:off x="123290" y="141270"/>
            <a:ext cx="8917968" cy="6588303"/>
          </a:xfrm>
        </p:spPr>
        <p:txBody>
          <a:bodyPr>
            <a:normAutofit/>
          </a:bodyPr>
          <a:lstStyle/>
          <a:p>
            <a:pPr marL="457200" indent="-457200" algn="just">
              <a:buFont typeface="+mj-lt"/>
              <a:buAutoNum type="arabicPeriod" startAt="5"/>
            </a:pPr>
            <a:r>
              <a:rPr lang="en-US" sz="2200" dirty="0"/>
              <a:t>No Expectation of Future Price Changes or Shortages: The law requires that the given price change for the commodity is a normal one and has no speculative consideration. That is to say, the buyers do not expect any shortages in the supply of the commodity in the market and consequent future changes in the prices. The given price change is assumed to be final at a time.</a:t>
            </a:r>
          </a:p>
          <a:p>
            <a:pPr marL="457200" indent="-457200" algn="just">
              <a:buFont typeface="+mj-lt"/>
              <a:buAutoNum type="arabicPeriod" startAt="5"/>
            </a:pPr>
            <a:r>
              <a:rPr lang="en-US" sz="2200" dirty="0"/>
              <a:t>No Change in Population Size or Composition: For the operation of the law in respect of total market demand, it is essential that the number of buyers and their preferences should remain constant. This requires that the size of population as well as the age structure and sex ratio of the population should remain the same throughout the operation of the law. Otherwise, if population changes, there will be additional buyers in the market, so the total market demand may not contract with a rise in price.</a:t>
            </a:r>
          </a:p>
          <a:p>
            <a:pPr marL="457200" indent="-457200" algn="just">
              <a:buFont typeface="+mj-lt"/>
              <a:buAutoNum type="arabicPeriod" startAt="5"/>
            </a:pPr>
            <a:r>
              <a:rPr lang="en-US" sz="2200" dirty="0"/>
              <a:t>No change in the range of goods available to the consumers: This implies that there is no innovation and arrival of new varieties of product in the market which may distort consumer’s preferences.</a:t>
            </a:r>
            <a:endParaRPr lang="en-US" sz="2200" b="1" dirty="0"/>
          </a:p>
        </p:txBody>
      </p:sp>
    </p:spTree>
    <p:extLst>
      <p:ext uri="{BB962C8B-B14F-4D97-AF65-F5344CB8AC3E}">
        <p14:creationId xmlns:p14="http://schemas.microsoft.com/office/powerpoint/2010/main" val="13446950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65121D-6204-4AFF-A752-B727D631427C}"/>
              </a:ext>
            </a:extLst>
          </p:cNvPr>
          <p:cNvSpPr>
            <a:spLocks noGrp="1"/>
          </p:cNvSpPr>
          <p:nvPr>
            <p:ph idx="1"/>
          </p:nvPr>
        </p:nvSpPr>
        <p:spPr>
          <a:xfrm>
            <a:off x="113016" y="174662"/>
            <a:ext cx="8917968" cy="6585734"/>
          </a:xfrm>
        </p:spPr>
        <p:txBody>
          <a:bodyPr>
            <a:normAutofit/>
          </a:bodyPr>
          <a:lstStyle/>
          <a:p>
            <a:pPr marL="457200" indent="-457200">
              <a:buFont typeface="+mj-lt"/>
              <a:buAutoNum type="arabicPeriod" startAt="8"/>
            </a:pPr>
            <a:r>
              <a:rPr lang="en-US" sz="2200" dirty="0"/>
              <a:t> No change in the distribution of income and wealth of the community: There is no redistribution of incomes either, so that the levels of income of the consumers remain the same.</a:t>
            </a:r>
          </a:p>
          <a:p>
            <a:pPr marL="457200" indent="-457200">
              <a:buFont typeface="+mj-lt"/>
              <a:buAutoNum type="arabicPeriod" startAt="8"/>
            </a:pPr>
            <a:r>
              <a:rPr lang="en-US" sz="2200" dirty="0"/>
              <a:t>No change in government policy: The level of taxation and fiscal policy of the government remains the same throughout the operation of the law. Otherwise, changes in income-tax, for instance, may cause changes in consumer’s income or commodity taxes (sales tax or excise duties) and may lead to distortion in consumer’s preferences.</a:t>
            </a:r>
          </a:p>
          <a:p>
            <a:pPr marL="457200" indent="-457200">
              <a:buFont typeface="+mj-lt"/>
              <a:buAutoNum type="arabicPeriod" startAt="8"/>
            </a:pPr>
            <a:r>
              <a:rPr lang="en-US" sz="2200" dirty="0"/>
              <a:t>No change in weather conditions: It is assumed that the climatic and weather conditions are unchanged in affecting the demand for certain goods like woolen clothes, umbrella, </a:t>
            </a:r>
            <a:r>
              <a:rPr lang="en-US" sz="2200" dirty="0" err="1"/>
              <a:t>etc</a:t>
            </a:r>
            <a:endParaRPr lang="en-US" sz="2200" dirty="0"/>
          </a:p>
          <a:p>
            <a:pPr marL="0" indent="0">
              <a:buNone/>
            </a:pPr>
            <a:endParaRPr lang="en-US" sz="2200" dirty="0"/>
          </a:p>
          <a:p>
            <a:pPr marL="0" indent="0">
              <a:buNone/>
            </a:pPr>
            <a:r>
              <a:rPr lang="en-US" sz="2200" dirty="0"/>
              <a:t>In short, the law of demand presumes that except for the price of the product, all other determinants of its demand are unchanged. Apparently, the validity of the law of demand or the inference about inverse relationship between price and demand depends on the existence of these conditions or assumption.</a:t>
            </a:r>
          </a:p>
        </p:txBody>
      </p:sp>
    </p:spTree>
    <p:extLst>
      <p:ext uri="{BB962C8B-B14F-4D97-AF65-F5344CB8AC3E}">
        <p14:creationId xmlns:p14="http://schemas.microsoft.com/office/powerpoint/2010/main" val="3945251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838" y="0"/>
            <a:ext cx="8876872" cy="544530"/>
          </a:xfrm>
        </p:spPr>
        <p:txBody>
          <a:bodyPr>
            <a:normAutofit fontScale="90000"/>
          </a:bodyPr>
          <a:lstStyle/>
          <a:p>
            <a:r>
              <a:rPr sz="4000" b="1" u="sng" dirty="0"/>
              <a:t>Exceptions to the Law of Demand</a:t>
            </a:r>
          </a:p>
        </p:txBody>
      </p:sp>
      <p:sp>
        <p:nvSpPr>
          <p:cNvPr id="3" name="Content Placeholder 2"/>
          <p:cNvSpPr>
            <a:spLocks noGrp="1"/>
          </p:cNvSpPr>
          <p:nvPr>
            <p:ph idx="1"/>
          </p:nvPr>
        </p:nvSpPr>
        <p:spPr>
          <a:xfrm>
            <a:off x="143838" y="544530"/>
            <a:ext cx="8856324" cy="6226140"/>
          </a:xfrm>
        </p:spPr>
        <p:txBody>
          <a:bodyPr>
            <a:noAutofit/>
          </a:bodyPr>
          <a:lstStyle/>
          <a:p>
            <a:pPr marL="514350" indent="-514350">
              <a:buFont typeface="+mj-lt"/>
              <a:buAutoNum type="arabicPeriod"/>
            </a:pPr>
            <a:r>
              <a:rPr lang="en-US" sz="2000" b="1" u="sng" dirty="0"/>
              <a:t>Articles of Distinction/prestigious goods</a:t>
            </a:r>
            <a:r>
              <a:rPr lang="en-US" sz="2000" b="1" u="sng"/>
              <a:t>(Veblen Goods):</a:t>
            </a:r>
            <a:r>
              <a:rPr lang="en-US" sz="2000"/>
              <a:t> </a:t>
            </a:r>
            <a:r>
              <a:rPr lang="en-US" sz="2000" dirty="0"/>
              <a:t>The articles of distinction such as diamonds, gems, costly carpets, etc. are in more demand when their prices are high. The reason is that rich people measure the desirability of these articles in terms of their prices alone and consider these goods as honor possession. Therefore, rich people demand more of articles of distinction when their prices are high.</a:t>
            </a:r>
          </a:p>
          <a:p>
            <a:pPr marL="514350" indent="-514350">
              <a:buFont typeface="+mj-lt"/>
              <a:buAutoNum type="arabicPeriod"/>
            </a:pPr>
            <a:r>
              <a:rPr lang="en-US" sz="2000" b="1" u="sng" dirty="0" err="1"/>
              <a:t>Giffen</a:t>
            </a:r>
            <a:r>
              <a:rPr lang="en-US" sz="2000" b="1" u="sng" dirty="0"/>
              <a:t> Goods:</a:t>
            </a:r>
            <a:r>
              <a:rPr lang="en-US" sz="2000" dirty="0"/>
              <a:t> In the case of certain inferior goods called </a:t>
            </a:r>
            <a:r>
              <a:rPr lang="en-US" sz="2000" dirty="0" err="1"/>
              <a:t>Giffen</a:t>
            </a:r>
            <a:r>
              <a:rPr lang="en-US" sz="2000" dirty="0"/>
              <a:t> goods (named after Sir Robert </a:t>
            </a:r>
            <a:r>
              <a:rPr lang="en-US" sz="2000" dirty="0" err="1"/>
              <a:t>Giffen</a:t>
            </a:r>
            <a:r>
              <a:rPr lang="en-US" sz="2000" dirty="0"/>
              <a:t>), when the price falls, quite often less quantity will be purchased than before because of the negative income effect and people’s increasing preference for a superior commodity with the rise in their real income. Examples of inferior goods may be listed, such as staple food stuffs like cheap potatoes, cheap bread, </a:t>
            </a:r>
            <a:r>
              <a:rPr lang="en-US" sz="2000" dirty="0" err="1"/>
              <a:t>etc</a:t>
            </a:r>
            <a:r>
              <a:rPr lang="en-US" sz="2000" dirty="0"/>
              <a:t>… as against superior commodities like good potatoes, cake, </a:t>
            </a:r>
            <a:r>
              <a:rPr lang="en-US" sz="2000" i="1" dirty="0"/>
              <a:t>basmati </a:t>
            </a:r>
            <a:r>
              <a:rPr lang="en-US" sz="2000" dirty="0"/>
              <a:t>rice and pure </a:t>
            </a:r>
            <a:r>
              <a:rPr lang="en-US" sz="2000" i="1" dirty="0"/>
              <a:t>ghee.</a:t>
            </a:r>
          </a:p>
          <a:p>
            <a:pPr marL="514350" indent="-514350">
              <a:buFont typeface="+mj-lt"/>
              <a:buAutoNum type="arabicPeriod"/>
            </a:pPr>
            <a:r>
              <a:rPr lang="en-US" sz="2000" b="1" u="sng" dirty="0"/>
              <a:t>Ignorance of buyers about Quality:</a:t>
            </a:r>
            <a:r>
              <a:rPr lang="en-US" sz="2000" dirty="0"/>
              <a:t> Many a times, buyers due inertia or out of sheer ignorance consider the price of the commodity as index of its quality. Due to this ignorance, a lower-price commodity may be considered inferior. Therefore, purchasers buy lesser quantity of the commodity at its lower price. But when the price of commodity is more, buyers consider it to be superior and thus buy more of it than before.</a:t>
            </a:r>
          </a:p>
          <a:p>
            <a:pPr marL="0" indent="0">
              <a:buNone/>
            </a:pPr>
            <a:endParaRPr lang="en-US" sz="2000" dirty="0"/>
          </a:p>
          <a:p>
            <a:pPr marL="514350" indent="-514350">
              <a:buFont typeface="+mj-lt"/>
              <a:buAutoNum type="arabicPeriod"/>
            </a:pPr>
            <a:endParaRPr sz="20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259DB1-212B-4241-8AAA-4A4EABCFD3B3}"/>
              </a:ext>
            </a:extLst>
          </p:cNvPr>
          <p:cNvSpPr>
            <a:spLocks noGrp="1"/>
          </p:cNvSpPr>
          <p:nvPr>
            <p:ph idx="1"/>
          </p:nvPr>
        </p:nvSpPr>
        <p:spPr>
          <a:xfrm>
            <a:off x="123290" y="182366"/>
            <a:ext cx="8917968" cy="6598578"/>
          </a:xfrm>
        </p:spPr>
        <p:txBody>
          <a:bodyPr>
            <a:normAutofit/>
          </a:bodyPr>
          <a:lstStyle/>
          <a:p>
            <a:pPr marL="457200" indent="-457200">
              <a:buFont typeface="+mj-lt"/>
              <a:buAutoNum type="arabicPeriod" startAt="4"/>
            </a:pPr>
            <a:r>
              <a:rPr lang="en-US" sz="2200" b="1" u="sng" dirty="0"/>
              <a:t>Future changes in Prices:</a:t>
            </a:r>
            <a:r>
              <a:rPr lang="en-US" sz="2200" dirty="0"/>
              <a:t> Purchaser also act as speculators. When the price has increased and is expected to rise further, buyers tend to purchase more quantities of the commodity out of the apprehension of rise in price in future. Likewise when prices are expected to fall further, a reduced price may not induce the buyers to purchase more of the commodity.</a:t>
            </a:r>
          </a:p>
          <a:p>
            <a:pPr marL="457200" indent="-457200">
              <a:buFont typeface="+mj-lt"/>
              <a:buAutoNum type="arabicPeriod" startAt="4"/>
            </a:pPr>
            <a:r>
              <a:rPr lang="en-US" sz="2200" b="1" u="sng" dirty="0"/>
              <a:t>Necessities of Life:</a:t>
            </a:r>
            <a:r>
              <a:rPr lang="en-US" sz="2200" dirty="0"/>
              <a:t> We cannot reduce the consumption of necessaries of life and conventional necessaries even if their prices have increased sharply.</a:t>
            </a:r>
          </a:p>
          <a:p>
            <a:pPr marL="514350" indent="-514350">
              <a:buFont typeface="+mj-lt"/>
              <a:buAutoNum type="arabicPeriod" startAt="4"/>
            </a:pPr>
            <a:r>
              <a:rPr lang="en-US" sz="2200" b="1" u="sng" dirty="0"/>
              <a:t>Change in quality:</a:t>
            </a:r>
            <a:r>
              <a:rPr lang="en-US" sz="2200" dirty="0"/>
              <a:t> People are to demand more even at a higher price provided quality is good.</a:t>
            </a:r>
          </a:p>
          <a:p>
            <a:pPr marL="514350" indent="-514350">
              <a:buFont typeface="+mj-lt"/>
              <a:buAutoNum type="arabicPeriod" startAt="4"/>
            </a:pPr>
            <a:r>
              <a:rPr lang="en-US" sz="2200" b="1" u="sng" dirty="0"/>
              <a:t>Fashionable goods:</a:t>
            </a:r>
            <a:r>
              <a:rPr lang="en-US" sz="2200" dirty="0"/>
              <a:t> Goods that are in fashion are purchased by consumers regardless of price even at a higher price. Consumers purchases the goods which are in fashion.</a:t>
            </a:r>
          </a:p>
        </p:txBody>
      </p:sp>
    </p:spTree>
    <p:extLst>
      <p:ext uri="{BB962C8B-B14F-4D97-AF65-F5344CB8AC3E}">
        <p14:creationId xmlns:p14="http://schemas.microsoft.com/office/powerpoint/2010/main" val="3189051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2361C29-CE48-4411-9BE3-556BDDCE76D1}"/>
              </a:ext>
            </a:extLst>
          </p:cNvPr>
          <p:cNvPicPr>
            <a:picLocks noGrp="1" noChangeAspect="1"/>
          </p:cNvPicPr>
          <p:nvPr>
            <p:ph idx="1"/>
          </p:nvPr>
        </p:nvPicPr>
        <p:blipFill>
          <a:blip r:embed="rId2"/>
          <a:stretch>
            <a:fillRect/>
          </a:stretch>
        </p:blipFill>
        <p:spPr>
          <a:xfrm>
            <a:off x="0" y="-1"/>
            <a:ext cx="9144000" cy="6858001"/>
          </a:xfrm>
        </p:spPr>
      </p:pic>
    </p:spTree>
    <p:extLst>
      <p:ext uri="{BB962C8B-B14F-4D97-AF65-F5344CB8AC3E}">
        <p14:creationId xmlns:p14="http://schemas.microsoft.com/office/powerpoint/2010/main" val="3279370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222625"/>
          </a:xfrm>
        </p:spPr>
        <p:txBody>
          <a:bodyPr>
            <a:normAutofit/>
          </a:bodyPr>
          <a:lstStyle/>
          <a:p>
            <a:r>
              <a:rPr sz="6000" b="1" u="sng" dirty="0">
                <a:latin typeface="Algerian" panose="04020705040A02060702" pitchFamily="82" charset="0"/>
              </a:rPr>
              <a:t>Elasticity of Demand</a:t>
            </a:r>
          </a:p>
        </p:txBody>
      </p:sp>
      <p:sp>
        <p:nvSpPr>
          <p:cNvPr id="3" name="Content Placeholder 2"/>
          <p:cNvSpPr>
            <a:spLocks noGrp="1"/>
          </p:cNvSpPr>
          <p:nvPr>
            <p:ph idx="1"/>
          </p:nvPr>
        </p:nvSpPr>
        <p:spPr>
          <a:xfrm>
            <a:off x="0" y="1222626"/>
            <a:ext cx="9144000" cy="5635374"/>
          </a:xfrm>
        </p:spPr>
        <p:txBody>
          <a:bodyPr>
            <a:normAutofit/>
          </a:bodyPr>
          <a:lstStyle/>
          <a:p>
            <a:pPr marL="0" indent="0" algn="just">
              <a:buNone/>
            </a:pPr>
            <a:r>
              <a:rPr lang="en-US" sz="2400" dirty="0"/>
              <a:t>Demand usually varies with price. But the extent of variation is not uniform in all cases. In some cases, the variation is extremely wide; in some others, it may just be nominal. That means sometimes demand is greatly responsive to changes in price; at other times, it may not be so responsive. The economists, to measure this responsiveness or the extent of variation, use the term “elasticity.”</a:t>
            </a:r>
          </a:p>
          <a:p>
            <a:pPr marL="0" indent="0" algn="just">
              <a:buNone/>
            </a:pPr>
            <a:endParaRPr lang="en-US" sz="2400" dirty="0"/>
          </a:p>
          <a:p>
            <a:pPr marL="0" indent="0" algn="just">
              <a:buNone/>
            </a:pPr>
            <a:r>
              <a:rPr lang="en-US" sz="2400" dirty="0"/>
              <a:t>According to </a:t>
            </a:r>
            <a:r>
              <a:rPr lang="en-US" sz="2400" b="1" dirty="0"/>
              <a:t>Alfred Marshall</a:t>
            </a:r>
            <a:r>
              <a:rPr lang="en-US" sz="2400" dirty="0"/>
              <a:t> ”Elasticity of demand may be defined as the percentage change in quantity demanded to the percentage change in price.” </a:t>
            </a:r>
          </a:p>
          <a:p>
            <a:pPr marL="0" indent="0" algn="just">
              <a:buNone/>
            </a:pPr>
            <a:r>
              <a:rPr lang="en-US" sz="2400" dirty="0"/>
              <a:t>		</a:t>
            </a:r>
          </a:p>
          <a:p>
            <a:pPr marL="0" indent="0" algn="just">
              <a:buNone/>
            </a:pPr>
            <a:endParaRPr lang="en-US" sz="2400" dirty="0"/>
          </a:p>
        </p:txBody>
      </p:sp>
      <p:pic>
        <p:nvPicPr>
          <p:cNvPr id="5" name="Picture 4">
            <a:extLst>
              <a:ext uri="{FF2B5EF4-FFF2-40B4-BE49-F238E27FC236}">
                <a16:creationId xmlns:a16="http://schemas.microsoft.com/office/drawing/2014/main" id="{28EC4918-C12C-4F48-9457-6B133C86FD8C}"/>
              </a:ext>
            </a:extLst>
          </p:cNvPr>
          <p:cNvPicPr/>
          <p:nvPr/>
        </p:nvPicPr>
        <p:blipFill rotWithShape="1">
          <a:blip r:embed="rId2"/>
          <a:srcRect l="1685" t="8369" r="1236" b="8055"/>
          <a:stretch/>
        </p:blipFill>
        <p:spPr>
          <a:xfrm>
            <a:off x="0" y="5548046"/>
            <a:ext cx="8876872" cy="85275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7594970-2665-4CC7-90E8-15E72B73F69E}"/>
              </a:ext>
            </a:extLst>
          </p:cNvPr>
          <p:cNvPicPr>
            <a:picLocks noChangeAspect="1"/>
          </p:cNvPicPr>
          <p:nvPr/>
        </p:nvPicPr>
        <p:blipFill>
          <a:blip r:embed="rId2"/>
          <a:stretch>
            <a:fillRect/>
          </a:stretch>
        </p:blipFill>
        <p:spPr>
          <a:xfrm>
            <a:off x="-1" y="287675"/>
            <a:ext cx="9143999" cy="6380253"/>
          </a:xfrm>
          <a:prstGeom prst="rect">
            <a:avLst/>
          </a:prstGeom>
        </p:spPr>
      </p:pic>
    </p:spTree>
    <p:extLst>
      <p:ext uri="{BB962C8B-B14F-4D97-AF65-F5344CB8AC3E}">
        <p14:creationId xmlns:p14="http://schemas.microsoft.com/office/powerpoint/2010/main" val="16459570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69155"/>
            <a:ext cx="9144000" cy="896616"/>
          </a:xfrm>
        </p:spPr>
        <p:txBody>
          <a:bodyPr/>
          <a:lstStyle/>
          <a:p>
            <a:r>
              <a:rPr lang="en-US" b="1" u="sng" dirty="0"/>
              <a:t>1.</a:t>
            </a:r>
            <a:r>
              <a:rPr b="1" u="sng" dirty="0"/>
              <a:t>Price Elasticity of Demand</a:t>
            </a:r>
          </a:p>
        </p:txBody>
      </p:sp>
      <p:sp>
        <p:nvSpPr>
          <p:cNvPr id="3" name="Content Placeholder 2"/>
          <p:cNvSpPr>
            <a:spLocks noGrp="1"/>
          </p:cNvSpPr>
          <p:nvPr>
            <p:ph idx="1"/>
          </p:nvPr>
        </p:nvSpPr>
        <p:spPr>
          <a:xfrm>
            <a:off x="-1" y="1058238"/>
            <a:ext cx="9143999" cy="5799762"/>
          </a:xfrm>
        </p:spPr>
        <p:txBody>
          <a:bodyPr>
            <a:normAutofit/>
          </a:bodyPr>
          <a:lstStyle/>
          <a:p>
            <a:pPr marL="0" indent="0" algn="just">
              <a:buNone/>
            </a:pPr>
            <a:r>
              <a:rPr lang="en-US" sz="2400" dirty="0"/>
              <a:t>Price elasticity of demand (PED) measures the responsiveness of the quantity demanded of a good to a change in its own price. </a:t>
            </a:r>
          </a:p>
          <a:p>
            <a:pPr marL="0" indent="0" algn="just">
              <a:buNone/>
            </a:pPr>
            <a:r>
              <a:rPr lang="en-US" sz="2400" dirty="0"/>
              <a:t>For example, if price increases by 10% and demand decreases by 20%, the elasticity is -2, indicating elastic demand.</a:t>
            </a:r>
          </a:p>
          <a:p>
            <a:pPr marL="0" indent="0" algn="just">
              <a:buNone/>
            </a:pPr>
            <a:endParaRPr lang="en-US" sz="2400" dirty="0"/>
          </a:p>
          <a:p>
            <a:pPr marL="0" indent="0" algn="just">
              <a:buNone/>
            </a:pPr>
            <a:r>
              <a:rPr lang="en-US" sz="2400" dirty="0"/>
              <a:t>It is calculated as: </a:t>
            </a:r>
          </a:p>
          <a:p>
            <a:pPr marL="0" indent="0" algn="just">
              <a:buNone/>
            </a:pPr>
            <a:endParaRPr lang="en-US" sz="2400" dirty="0"/>
          </a:p>
          <a:p>
            <a:pPr marL="0" indent="0" algn="just">
              <a:buNone/>
            </a:pPr>
            <a:endParaRPr lang="en-US" sz="2400" dirty="0"/>
          </a:p>
          <a:p>
            <a:pPr marL="457200" lvl="1" indent="0" algn="just">
              <a:buNone/>
            </a:pPr>
            <a:endParaRPr sz="2400" dirty="0"/>
          </a:p>
        </p:txBody>
      </p:sp>
      <p:pic>
        <p:nvPicPr>
          <p:cNvPr id="4" name="Content Placeholder 3">
            <a:extLst>
              <a:ext uri="{FF2B5EF4-FFF2-40B4-BE49-F238E27FC236}">
                <a16:creationId xmlns:a16="http://schemas.microsoft.com/office/drawing/2014/main" id="{77B0D781-AB1C-4DBD-B30D-4FB05141FB0E}"/>
              </a:ext>
            </a:extLst>
          </p:cNvPr>
          <p:cNvPicPr>
            <a:picLocks noChangeAspect="1"/>
          </p:cNvPicPr>
          <p:nvPr/>
        </p:nvPicPr>
        <p:blipFill>
          <a:blip r:embed="rId2"/>
          <a:stretch>
            <a:fillRect/>
          </a:stretch>
        </p:blipFill>
        <p:spPr>
          <a:xfrm>
            <a:off x="97602" y="4119937"/>
            <a:ext cx="8948791" cy="1508394"/>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BC95AD1-C0C9-45A9-B7ED-B953910988F4}"/>
              </a:ext>
            </a:extLst>
          </p:cNvPr>
          <p:cNvPicPr>
            <a:picLocks noGrp="1" noChangeAspect="1"/>
          </p:cNvPicPr>
          <p:nvPr>
            <p:ph idx="1"/>
          </p:nvPr>
        </p:nvPicPr>
        <p:blipFill rotWithShape="1">
          <a:blip r:embed="rId2"/>
          <a:srcRect b="2260"/>
          <a:stretch/>
        </p:blipFill>
        <p:spPr>
          <a:xfrm>
            <a:off x="1" y="0"/>
            <a:ext cx="9143999" cy="6858000"/>
          </a:xfrm>
          <a:prstGeom prst="rect">
            <a:avLst/>
          </a:prstGeom>
        </p:spPr>
      </p:pic>
    </p:spTree>
    <p:extLst>
      <p:ext uri="{BB962C8B-B14F-4D97-AF65-F5344CB8AC3E}">
        <p14:creationId xmlns:p14="http://schemas.microsoft.com/office/powerpoint/2010/main" val="34373503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861A1DC8-83FA-4D8E-BE48-6B6EED5353B0}"/>
              </a:ext>
            </a:extLst>
          </p:cNvPr>
          <p:cNvPicPr>
            <a:picLocks noChangeAspect="1"/>
          </p:cNvPicPr>
          <p:nvPr/>
        </p:nvPicPr>
        <p:blipFill>
          <a:blip r:embed="rId2"/>
          <a:stretch>
            <a:fillRect/>
          </a:stretch>
        </p:blipFill>
        <p:spPr>
          <a:xfrm>
            <a:off x="0" y="0"/>
            <a:ext cx="9143999" cy="6858000"/>
          </a:xfrm>
          <a:prstGeom prst="rect">
            <a:avLst/>
          </a:prstGeom>
        </p:spPr>
      </p:pic>
    </p:spTree>
    <p:extLst>
      <p:ext uri="{BB962C8B-B14F-4D97-AF65-F5344CB8AC3E}">
        <p14:creationId xmlns:p14="http://schemas.microsoft.com/office/powerpoint/2010/main" val="11328423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64C791-6CAC-479F-B190-C1664CDFF7A2}"/>
              </a:ext>
            </a:extLst>
          </p:cNvPr>
          <p:cNvSpPr>
            <a:spLocks noGrp="1"/>
          </p:cNvSpPr>
          <p:nvPr>
            <p:ph idx="1"/>
          </p:nvPr>
        </p:nvSpPr>
        <p:spPr>
          <a:xfrm>
            <a:off x="0" y="102742"/>
            <a:ext cx="9144000" cy="6755258"/>
          </a:xfrm>
        </p:spPr>
        <p:txBody>
          <a:bodyPr>
            <a:noAutofit/>
          </a:bodyPr>
          <a:lstStyle/>
          <a:p>
            <a:pPr algn="just"/>
            <a:r>
              <a:rPr lang="en-US" sz="2200" b="1" dirty="0"/>
              <a:t>Perfectly Elastic Demand: </a:t>
            </a:r>
            <a:r>
              <a:rPr lang="en-US" sz="2200" dirty="0"/>
              <a:t>An endless demand at the given price is the case of perfectly elastic demand. When demand is perfectly elastic, with a slight or infinitely small rise in the price of a commodity, the consumer stops buying it.</a:t>
            </a:r>
          </a:p>
          <a:p>
            <a:pPr algn="just"/>
            <a:r>
              <a:rPr lang="en-US" sz="2200" b="1" dirty="0"/>
              <a:t>Perfectly Inelastic Demand: </a:t>
            </a:r>
            <a:r>
              <a:rPr lang="en-US" sz="2200" dirty="0"/>
              <a:t>When the demand for a commodity shows no response at all to a change in price. That is to say, whatever change in price, the demand remains the same, it is called a perfectly inelastic demand. Perfect inelasticity is again a theoretical consideration rather than a very practical phenomenon. However, a commodity of absolute necessity like salt seems to have perfectly inelastic demand for most consumers.</a:t>
            </a:r>
          </a:p>
          <a:p>
            <a:r>
              <a:rPr lang="en-US" sz="2200" b="1" dirty="0"/>
              <a:t>Relatively Elastic Demand: </a:t>
            </a:r>
            <a:r>
              <a:rPr lang="en-US" sz="2200" dirty="0"/>
              <a:t>When the proportion of change in the quantity demanded is greater than that of price, the demand is said to be relatively elastic. The numerical value of relatively elastic demand lies between one and infinity. Thus, what Marshall called elasticity greater than unity of demand is again referred to as “relatively elastic” demand or “more elastic” demand.</a:t>
            </a:r>
          </a:p>
          <a:p>
            <a:r>
              <a:rPr lang="en-US" sz="2200" b="1" dirty="0"/>
              <a:t>Relatively Inelastic Demand: </a:t>
            </a:r>
            <a:r>
              <a:rPr lang="en-US" sz="2200" dirty="0"/>
              <a:t>When the proportion of change in the quantity demanded is less than that of price, the demand is considered to be relatively inelastic. </a:t>
            </a:r>
          </a:p>
        </p:txBody>
      </p:sp>
    </p:spTree>
    <p:extLst>
      <p:ext uri="{BB962C8B-B14F-4D97-AF65-F5344CB8AC3E}">
        <p14:creationId xmlns:p14="http://schemas.microsoft.com/office/powerpoint/2010/main" val="42493768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A9262F-CF7A-4339-8AF4-AB3DB4FA4205}"/>
              </a:ext>
            </a:extLst>
          </p:cNvPr>
          <p:cNvSpPr>
            <a:spLocks noGrp="1"/>
          </p:cNvSpPr>
          <p:nvPr>
            <p:ph idx="1"/>
          </p:nvPr>
        </p:nvSpPr>
        <p:spPr>
          <a:xfrm>
            <a:off x="0" y="161818"/>
            <a:ext cx="9144000" cy="6608852"/>
          </a:xfrm>
        </p:spPr>
        <p:txBody>
          <a:bodyPr>
            <a:normAutofit/>
          </a:bodyPr>
          <a:lstStyle/>
          <a:p>
            <a:pPr marL="0" indent="0">
              <a:buNone/>
            </a:pPr>
            <a:r>
              <a:rPr lang="en-US" sz="2200" dirty="0"/>
              <a:t>The numerical value of relatively inelastic demand lies between zero and one. Hence, the concept “relatively inelastic” or “less elastic” demand is the same as what Marshall presented.</a:t>
            </a:r>
          </a:p>
          <a:p>
            <a:r>
              <a:rPr lang="en-US" sz="2200" b="1" dirty="0"/>
              <a:t>Unitary Elastic Demand: </a:t>
            </a:r>
            <a:r>
              <a:rPr lang="en-US" sz="2200" dirty="0"/>
              <a:t>When the proportion of change in demand is exactly the same as the change in price, the demand is said to be unitary elastic. The numerical value of unitary elastic demand is exactly 1.</a:t>
            </a:r>
          </a:p>
        </p:txBody>
      </p:sp>
      <p:pic>
        <p:nvPicPr>
          <p:cNvPr id="4" name="Picture 3">
            <a:extLst>
              <a:ext uri="{FF2B5EF4-FFF2-40B4-BE49-F238E27FC236}">
                <a16:creationId xmlns:a16="http://schemas.microsoft.com/office/drawing/2014/main" id="{65B99363-227D-42B3-8B49-155E946043B8}"/>
              </a:ext>
            </a:extLst>
          </p:cNvPr>
          <p:cNvPicPr>
            <a:picLocks noChangeAspect="1"/>
          </p:cNvPicPr>
          <p:nvPr/>
        </p:nvPicPr>
        <p:blipFill rotWithShape="1">
          <a:blip r:embed="rId2"/>
          <a:srcRect l="3146" t="2337" r="2023" b="1952"/>
          <a:stretch/>
        </p:blipFill>
        <p:spPr>
          <a:xfrm>
            <a:off x="0" y="2496621"/>
            <a:ext cx="9144000" cy="4361380"/>
          </a:xfrm>
          <a:prstGeom prst="rect">
            <a:avLst/>
          </a:prstGeom>
        </p:spPr>
      </p:pic>
    </p:spTree>
    <p:extLst>
      <p:ext uri="{BB962C8B-B14F-4D97-AF65-F5344CB8AC3E}">
        <p14:creationId xmlns:p14="http://schemas.microsoft.com/office/powerpoint/2010/main" val="41287286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A64E4-0AE2-4D63-A74B-25A6C37BA2B2}"/>
              </a:ext>
            </a:extLst>
          </p:cNvPr>
          <p:cNvSpPr>
            <a:spLocks noGrp="1"/>
          </p:cNvSpPr>
          <p:nvPr>
            <p:ph type="title"/>
          </p:nvPr>
        </p:nvSpPr>
        <p:spPr>
          <a:xfrm>
            <a:off x="71919" y="0"/>
            <a:ext cx="9144000" cy="1078787"/>
          </a:xfrm>
        </p:spPr>
        <p:txBody>
          <a:bodyPr>
            <a:normAutofit fontScale="90000"/>
          </a:bodyPr>
          <a:lstStyle/>
          <a:p>
            <a:r>
              <a:rPr lang="en-US" b="1" u="sng" dirty="0">
                <a:latin typeface="Algerian" panose="04020705040A02060702" pitchFamily="82" charset="0"/>
              </a:rPr>
              <a:t>FACTORS INFLUENCING ELASTICITY OF DEMAND</a:t>
            </a:r>
          </a:p>
        </p:txBody>
      </p:sp>
      <p:sp>
        <p:nvSpPr>
          <p:cNvPr id="3" name="Content Placeholder 2">
            <a:extLst>
              <a:ext uri="{FF2B5EF4-FFF2-40B4-BE49-F238E27FC236}">
                <a16:creationId xmlns:a16="http://schemas.microsoft.com/office/drawing/2014/main" id="{07A963DA-32AC-4682-A19C-B84B0EFA0070}"/>
              </a:ext>
            </a:extLst>
          </p:cNvPr>
          <p:cNvSpPr>
            <a:spLocks noGrp="1"/>
          </p:cNvSpPr>
          <p:nvPr>
            <p:ph idx="1"/>
          </p:nvPr>
        </p:nvSpPr>
        <p:spPr>
          <a:xfrm>
            <a:off x="71919" y="1315092"/>
            <a:ext cx="9072081" cy="5542908"/>
          </a:xfrm>
        </p:spPr>
        <p:txBody>
          <a:bodyPr>
            <a:normAutofit fontScale="92500" lnSpcReduction="20000"/>
          </a:bodyPr>
          <a:lstStyle/>
          <a:p>
            <a:r>
              <a:rPr lang="en-US" dirty="0"/>
              <a:t>Nature of commodity</a:t>
            </a:r>
          </a:p>
          <a:p>
            <a:r>
              <a:rPr lang="en-US" dirty="0"/>
              <a:t>Availability of substitutes</a:t>
            </a:r>
          </a:p>
          <a:p>
            <a:r>
              <a:rPr lang="en-US" dirty="0"/>
              <a:t>Number of uses</a:t>
            </a:r>
          </a:p>
          <a:p>
            <a:r>
              <a:rPr lang="en-US" dirty="0"/>
              <a:t>Consumer’s income</a:t>
            </a:r>
          </a:p>
          <a:p>
            <a:r>
              <a:rPr lang="en-US" dirty="0"/>
              <a:t>Height of price and range of price change</a:t>
            </a:r>
          </a:p>
          <a:p>
            <a:r>
              <a:rPr lang="en-US" dirty="0"/>
              <a:t>Proportion of expenditure</a:t>
            </a:r>
          </a:p>
          <a:p>
            <a:r>
              <a:rPr lang="en-US" dirty="0"/>
              <a:t>Durability of the commodity</a:t>
            </a:r>
          </a:p>
          <a:p>
            <a:r>
              <a:rPr lang="en-US" dirty="0"/>
              <a:t>Habit</a:t>
            </a:r>
          </a:p>
          <a:p>
            <a:r>
              <a:rPr lang="en-US" dirty="0"/>
              <a:t>Complementary goods</a:t>
            </a:r>
          </a:p>
          <a:p>
            <a:r>
              <a:rPr lang="en-US" dirty="0"/>
              <a:t>Time</a:t>
            </a:r>
          </a:p>
          <a:p>
            <a:r>
              <a:rPr lang="en-US" dirty="0"/>
              <a:t>Recurrence of demand</a:t>
            </a:r>
          </a:p>
          <a:p>
            <a:r>
              <a:rPr lang="en-US" dirty="0"/>
              <a:t>Possibility of postponement</a:t>
            </a:r>
          </a:p>
        </p:txBody>
      </p:sp>
    </p:spTree>
    <p:extLst>
      <p:ext uri="{BB962C8B-B14F-4D97-AF65-F5344CB8AC3E}">
        <p14:creationId xmlns:p14="http://schemas.microsoft.com/office/powerpoint/2010/main" val="27284258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290" y="251325"/>
            <a:ext cx="8907694" cy="755542"/>
          </a:xfrm>
        </p:spPr>
        <p:txBody>
          <a:bodyPr>
            <a:normAutofit fontScale="90000"/>
          </a:bodyPr>
          <a:lstStyle/>
          <a:p>
            <a:r>
              <a:rPr lang="en-US" b="1" u="sng" dirty="0"/>
              <a:t>2.Income Elasticity of Demand</a:t>
            </a:r>
            <a:endParaRPr dirty="0"/>
          </a:p>
        </p:txBody>
      </p:sp>
      <p:sp>
        <p:nvSpPr>
          <p:cNvPr id="3" name="Content Placeholder 2"/>
          <p:cNvSpPr>
            <a:spLocks noGrp="1"/>
          </p:cNvSpPr>
          <p:nvPr>
            <p:ph idx="1"/>
          </p:nvPr>
        </p:nvSpPr>
        <p:spPr>
          <a:xfrm>
            <a:off x="61645" y="1160980"/>
            <a:ext cx="8969339" cy="5599416"/>
          </a:xfrm>
        </p:spPr>
        <p:txBody>
          <a:bodyPr>
            <a:normAutofit/>
          </a:bodyPr>
          <a:lstStyle/>
          <a:p>
            <a:pPr marL="0" indent="0" algn="just">
              <a:buNone/>
            </a:pPr>
            <a:r>
              <a:rPr sz="2500" dirty="0"/>
              <a:t>Income elasticity shows how demand changes with consumer income. </a:t>
            </a:r>
            <a:endParaRPr lang="en-US" sz="2500" dirty="0"/>
          </a:p>
          <a:p>
            <a:pPr marL="0" indent="0" algn="ctr">
              <a:buNone/>
            </a:pPr>
            <a:r>
              <a:rPr lang="en-US" sz="2500" i="1" dirty="0"/>
              <a:t>D = f (M)</a:t>
            </a:r>
          </a:p>
          <a:p>
            <a:pPr marL="0" indent="0" algn="just">
              <a:buNone/>
            </a:pPr>
            <a:r>
              <a:rPr lang="en-US" sz="2500" dirty="0"/>
              <a:t>Where, </a:t>
            </a:r>
            <a:r>
              <a:rPr lang="en-US" sz="2500" b="1" i="1" dirty="0"/>
              <a:t>M</a:t>
            </a:r>
            <a:r>
              <a:rPr lang="en-US" sz="2500" i="1" dirty="0"/>
              <a:t> </a:t>
            </a:r>
            <a:r>
              <a:rPr lang="en-US" sz="2500" dirty="0"/>
              <a:t>refers to the money i.e. income of the buyer. It suggests that the demand may change due to a change in the consumer’s income and other factors remaining constant.</a:t>
            </a:r>
          </a:p>
          <a:p>
            <a:pPr marL="0" indent="0" algn="just">
              <a:buNone/>
            </a:pPr>
            <a:r>
              <a:rPr lang="en-US" sz="2500" dirty="0"/>
              <a:t>The income elasticity is defined as a ratio percentage or proportional change in the quantity demanded to the percentage or proportional change in income. </a:t>
            </a:r>
          </a:p>
          <a:p>
            <a:pPr marL="0" indent="0" algn="just">
              <a:buNone/>
            </a:pPr>
            <a:endParaRPr sz="2500" dirty="0"/>
          </a:p>
        </p:txBody>
      </p:sp>
      <p:pic>
        <p:nvPicPr>
          <p:cNvPr id="4" name="Picture 3">
            <a:extLst>
              <a:ext uri="{FF2B5EF4-FFF2-40B4-BE49-F238E27FC236}">
                <a16:creationId xmlns:a16="http://schemas.microsoft.com/office/drawing/2014/main" id="{006959AE-E8B7-4EC7-A157-47CA675D92FA}"/>
              </a:ext>
            </a:extLst>
          </p:cNvPr>
          <p:cNvPicPr>
            <a:picLocks noChangeAspect="1"/>
          </p:cNvPicPr>
          <p:nvPr/>
        </p:nvPicPr>
        <p:blipFill>
          <a:blip r:embed="rId2"/>
          <a:stretch>
            <a:fillRect/>
          </a:stretch>
        </p:blipFill>
        <p:spPr>
          <a:xfrm>
            <a:off x="92467" y="5455969"/>
            <a:ext cx="8907694" cy="1150706"/>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a:extLst>
              <a:ext uri="{FF2B5EF4-FFF2-40B4-BE49-F238E27FC236}">
                <a16:creationId xmlns:a16="http://schemas.microsoft.com/office/drawing/2014/main" id="{71C36C44-4B87-4FDD-9286-2DD915891993}"/>
              </a:ext>
            </a:extLst>
          </p:cNvPr>
          <p:cNvSpPr>
            <a:spLocks noGrp="1"/>
          </p:cNvSpPr>
          <p:nvPr>
            <p:ph type="subTitle" idx="1"/>
          </p:nvPr>
        </p:nvSpPr>
        <p:spPr>
          <a:xfrm>
            <a:off x="0" y="92075"/>
            <a:ext cx="9144000" cy="6765925"/>
          </a:xfrm>
        </p:spPr>
        <p:txBody>
          <a:bodyPr>
            <a:normAutofit fontScale="92500" lnSpcReduction="20000"/>
          </a:bodyPr>
          <a:lstStyle/>
          <a:p>
            <a:pPr algn="just"/>
            <a:endParaRPr lang="en-US" dirty="0">
              <a:solidFill>
                <a:schemeClr val="tx1"/>
              </a:solidFill>
            </a:endParaRPr>
          </a:p>
          <a:p>
            <a:pPr algn="just"/>
            <a:endParaRPr lang="en-US" dirty="0">
              <a:solidFill>
                <a:schemeClr val="tx1"/>
              </a:solidFill>
            </a:endParaRPr>
          </a:p>
          <a:p>
            <a:pPr algn="just"/>
            <a:endParaRPr lang="en-US" dirty="0">
              <a:solidFill>
                <a:schemeClr val="tx1"/>
              </a:solidFill>
            </a:endParaRPr>
          </a:p>
          <a:p>
            <a:pPr algn="just"/>
            <a:endParaRPr lang="en-US" dirty="0">
              <a:solidFill>
                <a:schemeClr val="tx1"/>
              </a:solidFill>
            </a:endParaRPr>
          </a:p>
          <a:p>
            <a:pPr algn="just"/>
            <a:endParaRPr lang="en-US" dirty="0">
              <a:solidFill>
                <a:schemeClr val="tx1"/>
              </a:solidFill>
            </a:endParaRPr>
          </a:p>
          <a:p>
            <a:pPr algn="just"/>
            <a:endParaRPr lang="en-US" dirty="0">
              <a:solidFill>
                <a:schemeClr val="tx1"/>
              </a:solidFill>
            </a:endParaRPr>
          </a:p>
          <a:p>
            <a:pPr algn="just"/>
            <a:r>
              <a:rPr lang="en-US" b="1" u="sng" dirty="0">
                <a:solidFill>
                  <a:schemeClr val="tx1"/>
                </a:solidFill>
              </a:rPr>
              <a:t>TYPES OF INCOME ELASTICITY:</a:t>
            </a:r>
          </a:p>
          <a:p>
            <a:pPr algn="just"/>
            <a:r>
              <a:rPr lang="en-US" dirty="0">
                <a:solidFill>
                  <a:schemeClr val="tx1"/>
                </a:solidFill>
              </a:rPr>
              <a:t>Income elasticity on the basis of its coefficient (</a:t>
            </a:r>
            <a:r>
              <a:rPr lang="en-US" i="1" dirty="0" err="1">
                <a:solidFill>
                  <a:schemeClr val="tx1"/>
                </a:solidFill>
              </a:rPr>
              <a:t>em</a:t>
            </a:r>
            <a:r>
              <a:rPr lang="en-US" dirty="0">
                <a:solidFill>
                  <a:schemeClr val="tx1"/>
                </a:solidFill>
              </a:rPr>
              <a:t>), may thus be classified as under:</a:t>
            </a:r>
          </a:p>
          <a:p>
            <a:pPr marL="514350" indent="-514350" algn="just">
              <a:buFont typeface="+mj-lt"/>
              <a:buAutoNum type="arabicPeriod"/>
            </a:pPr>
            <a:r>
              <a:rPr lang="en-US" dirty="0">
                <a:solidFill>
                  <a:schemeClr val="tx1"/>
                </a:solidFill>
              </a:rPr>
              <a:t>Unitary income elasticity of demand (</a:t>
            </a:r>
            <a:r>
              <a:rPr lang="en-US" i="1" dirty="0" err="1">
                <a:solidFill>
                  <a:schemeClr val="tx1"/>
                </a:solidFill>
              </a:rPr>
              <a:t>em</a:t>
            </a:r>
            <a:r>
              <a:rPr lang="en-US" i="1" dirty="0">
                <a:solidFill>
                  <a:schemeClr val="tx1"/>
                </a:solidFill>
              </a:rPr>
              <a:t> </a:t>
            </a:r>
            <a:r>
              <a:rPr lang="en-US" dirty="0">
                <a:solidFill>
                  <a:schemeClr val="tx1"/>
                </a:solidFill>
              </a:rPr>
              <a:t>= 1)</a:t>
            </a:r>
          </a:p>
          <a:p>
            <a:pPr marL="514350" indent="-514350" algn="just">
              <a:buFont typeface="+mj-lt"/>
              <a:buAutoNum type="arabicPeriod"/>
            </a:pPr>
            <a:r>
              <a:rPr lang="en-US" dirty="0">
                <a:solidFill>
                  <a:schemeClr val="tx1"/>
                </a:solidFill>
              </a:rPr>
              <a:t>Income elasticity of demand greater than unity         (</a:t>
            </a:r>
            <a:r>
              <a:rPr lang="en-US" i="1" dirty="0" err="1">
                <a:solidFill>
                  <a:schemeClr val="tx1"/>
                </a:solidFill>
              </a:rPr>
              <a:t>em</a:t>
            </a:r>
            <a:r>
              <a:rPr lang="en-US" i="1" dirty="0">
                <a:solidFill>
                  <a:schemeClr val="tx1"/>
                </a:solidFill>
              </a:rPr>
              <a:t> </a:t>
            </a:r>
            <a:r>
              <a:rPr lang="en-US" dirty="0">
                <a:solidFill>
                  <a:schemeClr val="tx1"/>
                </a:solidFill>
              </a:rPr>
              <a:t>&gt; 1)</a:t>
            </a:r>
          </a:p>
          <a:p>
            <a:pPr marL="514350" indent="-514350" algn="just">
              <a:buFont typeface="+mj-lt"/>
              <a:buAutoNum type="arabicPeriod"/>
            </a:pPr>
            <a:r>
              <a:rPr lang="en-US" dirty="0">
                <a:solidFill>
                  <a:schemeClr val="tx1"/>
                </a:solidFill>
              </a:rPr>
              <a:t>Income elasticity of demand less than unity (</a:t>
            </a:r>
            <a:r>
              <a:rPr lang="en-US" i="1" dirty="0" err="1">
                <a:solidFill>
                  <a:schemeClr val="tx1"/>
                </a:solidFill>
              </a:rPr>
              <a:t>em</a:t>
            </a:r>
            <a:r>
              <a:rPr lang="en-US" i="1" dirty="0">
                <a:solidFill>
                  <a:schemeClr val="tx1"/>
                </a:solidFill>
              </a:rPr>
              <a:t> </a:t>
            </a:r>
            <a:r>
              <a:rPr lang="en-US" dirty="0">
                <a:solidFill>
                  <a:schemeClr val="tx1"/>
                </a:solidFill>
              </a:rPr>
              <a:t>&lt; 1)</a:t>
            </a:r>
          </a:p>
          <a:p>
            <a:pPr marL="514350" indent="-514350" algn="just">
              <a:buFont typeface="+mj-lt"/>
              <a:buAutoNum type="arabicPeriod"/>
            </a:pPr>
            <a:r>
              <a:rPr lang="en-US" dirty="0">
                <a:solidFill>
                  <a:schemeClr val="tx1"/>
                </a:solidFill>
              </a:rPr>
              <a:t>Zero income elasticity of demand (</a:t>
            </a:r>
            <a:r>
              <a:rPr lang="en-US" i="1" dirty="0" err="1">
                <a:solidFill>
                  <a:schemeClr val="tx1"/>
                </a:solidFill>
              </a:rPr>
              <a:t>em</a:t>
            </a:r>
            <a:r>
              <a:rPr lang="en-US" i="1" dirty="0">
                <a:solidFill>
                  <a:schemeClr val="tx1"/>
                </a:solidFill>
              </a:rPr>
              <a:t> </a:t>
            </a:r>
            <a:r>
              <a:rPr lang="en-US" dirty="0">
                <a:solidFill>
                  <a:schemeClr val="tx1"/>
                </a:solidFill>
              </a:rPr>
              <a:t>= 0)</a:t>
            </a:r>
          </a:p>
          <a:p>
            <a:pPr marL="514350" indent="-514350" algn="just">
              <a:buFont typeface="+mj-lt"/>
              <a:buAutoNum type="arabicPeriod"/>
            </a:pPr>
            <a:r>
              <a:rPr lang="en-US" dirty="0">
                <a:solidFill>
                  <a:schemeClr val="tx1"/>
                </a:solidFill>
              </a:rPr>
              <a:t>Negative income elasticity of demand (</a:t>
            </a:r>
            <a:r>
              <a:rPr lang="en-US" i="1" dirty="0" err="1">
                <a:solidFill>
                  <a:schemeClr val="tx1"/>
                </a:solidFill>
              </a:rPr>
              <a:t>em</a:t>
            </a:r>
            <a:r>
              <a:rPr lang="en-US" i="1" dirty="0">
                <a:solidFill>
                  <a:schemeClr val="tx1"/>
                </a:solidFill>
              </a:rPr>
              <a:t> </a:t>
            </a:r>
            <a:r>
              <a:rPr lang="en-US" dirty="0">
                <a:solidFill>
                  <a:schemeClr val="tx1"/>
                </a:solidFill>
              </a:rPr>
              <a:t>&lt; 0)</a:t>
            </a:r>
          </a:p>
        </p:txBody>
      </p:sp>
      <p:pic>
        <p:nvPicPr>
          <p:cNvPr id="9" name="Picture 8">
            <a:extLst>
              <a:ext uri="{FF2B5EF4-FFF2-40B4-BE49-F238E27FC236}">
                <a16:creationId xmlns:a16="http://schemas.microsoft.com/office/drawing/2014/main" id="{556BBCE3-C8DE-47EE-9964-686E07AE5DD5}"/>
              </a:ext>
            </a:extLst>
          </p:cNvPr>
          <p:cNvPicPr>
            <a:picLocks noChangeAspect="1"/>
          </p:cNvPicPr>
          <p:nvPr/>
        </p:nvPicPr>
        <p:blipFill rotWithShape="1">
          <a:blip r:embed="rId2"/>
          <a:srcRect r="23005"/>
          <a:stretch/>
        </p:blipFill>
        <p:spPr>
          <a:xfrm>
            <a:off x="82193" y="0"/>
            <a:ext cx="8712487" cy="2732926"/>
          </a:xfrm>
          <a:prstGeom prst="rect">
            <a:avLst/>
          </a:prstGeom>
        </p:spPr>
      </p:pic>
    </p:spTree>
    <p:extLst>
      <p:ext uri="{BB962C8B-B14F-4D97-AF65-F5344CB8AC3E}">
        <p14:creationId xmlns:p14="http://schemas.microsoft.com/office/powerpoint/2010/main" val="8837644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3471F3-06DB-4D24-A721-0363194F9D3E}"/>
              </a:ext>
            </a:extLst>
          </p:cNvPr>
          <p:cNvSpPr>
            <a:spLocks noGrp="1"/>
          </p:cNvSpPr>
          <p:nvPr>
            <p:ph idx="1"/>
          </p:nvPr>
        </p:nvSpPr>
        <p:spPr>
          <a:xfrm>
            <a:off x="0" y="309509"/>
            <a:ext cx="9051533" cy="6238982"/>
          </a:xfrm>
        </p:spPr>
        <p:txBody>
          <a:bodyPr>
            <a:normAutofit fontScale="77500" lnSpcReduction="20000"/>
          </a:bodyPr>
          <a:lstStyle/>
          <a:p>
            <a:pPr marL="514350" indent="-514350" algn="just">
              <a:buFont typeface="+mj-lt"/>
              <a:buAutoNum type="arabicPeriod"/>
            </a:pPr>
            <a:r>
              <a:rPr lang="en-US" b="1" dirty="0"/>
              <a:t>Unitary Income Elasticity: </a:t>
            </a:r>
            <a:r>
              <a:rPr lang="en-US" dirty="0"/>
              <a:t>When the percentage change in demand is equal to the percentage change in income, the demand is unitary income elastic. Thus, </a:t>
            </a:r>
            <a:r>
              <a:rPr lang="en-US" i="1" dirty="0" err="1"/>
              <a:t>em</a:t>
            </a:r>
            <a:r>
              <a:rPr lang="en-US" i="1" dirty="0"/>
              <a:t> </a:t>
            </a:r>
            <a:r>
              <a:rPr lang="en-US" dirty="0"/>
              <a:t>= 1.</a:t>
            </a:r>
          </a:p>
          <a:p>
            <a:pPr marL="514350" indent="-514350" algn="just">
              <a:buFont typeface="+mj-lt"/>
              <a:buAutoNum type="arabicPeriod"/>
            </a:pPr>
            <a:r>
              <a:rPr lang="en-US" b="1" dirty="0"/>
              <a:t>Income Elasticity Greater than Unity: </a:t>
            </a:r>
            <a:r>
              <a:rPr lang="en-US" dirty="0"/>
              <a:t>When the percentage change in quantity demanded is greater than the percentage change in income, the income elasticity of demand is greater than unity. Thus, </a:t>
            </a:r>
            <a:r>
              <a:rPr lang="en-US" i="1" dirty="0" err="1"/>
              <a:t>em</a:t>
            </a:r>
            <a:r>
              <a:rPr lang="en-US" i="1" dirty="0"/>
              <a:t> </a:t>
            </a:r>
            <a:r>
              <a:rPr lang="en-US" dirty="0"/>
              <a:t>&gt; 1.</a:t>
            </a:r>
          </a:p>
          <a:p>
            <a:pPr marL="514350" indent="-514350" algn="just">
              <a:buFont typeface="+mj-lt"/>
              <a:buAutoNum type="arabicPeriod"/>
            </a:pPr>
            <a:r>
              <a:rPr lang="en-US" b="1" dirty="0"/>
              <a:t>Income Elasticity Less than Unity: </a:t>
            </a:r>
            <a:r>
              <a:rPr lang="en-US" dirty="0"/>
              <a:t>When the percentage change in demand is less than the percentage change in price, the income elasticity of demand is less than unity. Thus, </a:t>
            </a:r>
            <a:r>
              <a:rPr lang="en-US" i="1" dirty="0" err="1"/>
              <a:t>em</a:t>
            </a:r>
            <a:r>
              <a:rPr lang="en-US" i="1" dirty="0"/>
              <a:t> </a:t>
            </a:r>
            <a:r>
              <a:rPr lang="en-US" dirty="0"/>
              <a:t>&lt; 1.</a:t>
            </a:r>
          </a:p>
          <a:p>
            <a:pPr marL="514350" indent="-514350" algn="just">
              <a:buFont typeface="+mj-lt"/>
              <a:buAutoNum type="arabicPeriod"/>
            </a:pPr>
            <a:r>
              <a:rPr lang="en-US" b="1" dirty="0"/>
              <a:t>Zero Income Elasticity: </a:t>
            </a:r>
            <a:r>
              <a:rPr lang="en-US" dirty="0"/>
              <a:t>When the income change in any direction or in any proportion but carries no effect on demand, so that the quantity demanded remains unchanged, it is referred to as zero income elasticity of demand. Thus, </a:t>
            </a:r>
            <a:r>
              <a:rPr lang="en-US" i="1" dirty="0" err="1"/>
              <a:t>em</a:t>
            </a:r>
            <a:r>
              <a:rPr lang="en-US" i="1" dirty="0"/>
              <a:t> </a:t>
            </a:r>
            <a:r>
              <a:rPr lang="en-US" dirty="0"/>
              <a:t>= 0.</a:t>
            </a:r>
          </a:p>
          <a:p>
            <a:pPr marL="514350" indent="-514350" algn="just">
              <a:buFont typeface="+mj-lt"/>
              <a:buAutoNum type="arabicPeriod"/>
            </a:pPr>
            <a:r>
              <a:rPr lang="en-US" b="1" dirty="0"/>
              <a:t>Negative Income Elasticity: </a:t>
            </a:r>
            <a:r>
              <a:rPr lang="en-US" dirty="0"/>
              <a:t>When an increase in income causes a decrease in the demand for a commodity, the demand is said to be negative income elastic. The income elasticity coefficient, </a:t>
            </a:r>
            <a:r>
              <a:rPr lang="en-US" i="1" dirty="0" err="1"/>
              <a:t>em</a:t>
            </a:r>
            <a:r>
              <a:rPr lang="en-US" i="1" dirty="0"/>
              <a:t> </a:t>
            </a:r>
            <a:r>
              <a:rPr lang="en-US" dirty="0"/>
              <a:t>&lt; 0.</a:t>
            </a:r>
          </a:p>
        </p:txBody>
      </p:sp>
    </p:spTree>
    <p:extLst>
      <p:ext uri="{BB962C8B-B14F-4D97-AF65-F5344CB8AC3E}">
        <p14:creationId xmlns:p14="http://schemas.microsoft.com/office/powerpoint/2010/main" val="33468186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D0BC7-0C3A-418A-A9F7-B58966FFEEF2}"/>
              </a:ext>
            </a:extLst>
          </p:cNvPr>
          <p:cNvSpPr>
            <a:spLocks noGrp="1"/>
          </p:cNvSpPr>
          <p:nvPr>
            <p:ph type="title"/>
          </p:nvPr>
        </p:nvSpPr>
        <p:spPr>
          <a:xfrm>
            <a:off x="92467" y="160337"/>
            <a:ext cx="8917969" cy="969820"/>
          </a:xfrm>
        </p:spPr>
        <p:txBody>
          <a:bodyPr>
            <a:normAutofit/>
          </a:bodyPr>
          <a:lstStyle/>
          <a:p>
            <a:r>
              <a:rPr lang="en-US" sz="3600" b="1" u="sng" dirty="0"/>
              <a:t>APPLICATIONS OF INCOME ELASTICITY:</a:t>
            </a:r>
          </a:p>
        </p:txBody>
      </p:sp>
      <p:sp>
        <p:nvSpPr>
          <p:cNvPr id="3" name="Content Placeholder 2">
            <a:extLst>
              <a:ext uri="{FF2B5EF4-FFF2-40B4-BE49-F238E27FC236}">
                <a16:creationId xmlns:a16="http://schemas.microsoft.com/office/drawing/2014/main" id="{C5D7D75F-24CC-4115-9819-1174E8671CD2}"/>
              </a:ext>
            </a:extLst>
          </p:cNvPr>
          <p:cNvSpPr>
            <a:spLocks noGrp="1"/>
          </p:cNvSpPr>
          <p:nvPr>
            <p:ph idx="1"/>
          </p:nvPr>
        </p:nvSpPr>
        <p:spPr>
          <a:xfrm>
            <a:off x="-1" y="1387011"/>
            <a:ext cx="9051533" cy="5470989"/>
          </a:xfrm>
        </p:spPr>
        <p:txBody>
          <a:bodyPr>
            <a:normAutofit/>
          </a:bodyPr>
          <a:lstStyle/>
          <a:p>
            <a:pPr marL="0" indent="0" algn="just">
              <a:buNone/>
            </a:pPr>
            <a:r>
              <a:rPr lang="en-US" sz="2500" dirty="0"/>
              <a:t>K.K. </a:t>
            </a:r>
            <a:r>
              <a:rPr lang="en-US" sz="2500" dirty="0" err="1"/>
              <a:t>Seo</a:t>
            </a:r>
            <a:r>
              <a:rPr lang="en-US" sz="2500" dirty="0"/>
              <a:t> points out that income elasticity of demand is applicable to many planning and strategy problems, such as:</a:t>
            </a:r>
          </a:p>
          <a:p>
            <a:pPr marL="514350" indent="-514350" algn="just">
              <a:buFont typeface="+mj-lt"/>
              <a:buAutoNum type="arabicPeriod"/>
            </a:pPr>
            <a:r>
              <a:rPr lang="en-US" sz="2500" b="1" dirty="0"/>
              <a:t>Long-term business planning. </a:t>
            </a:r>
            <a:r>
              <a:rPr lang="en-US" sz="2500" dirty="0"/>
              <a:t>In the long-run, demand for comforts and luxury goods may tend to be highly income elastic. Hence, prospects for long-run growth in sales for these goods are very bright. The firm can plan out its business accordingly.</a:t>
            </a:r>
          </a:p>
          <a:p>
            <a:pPr marL="514350" indent="-514350" algn="just">
              <a:buFont typeface="+mj-lt"/>
              <a:buAutoNum type="arabicPeriod"/>
            </a:pPr>
            <a:r>
              <a:rPr lang="en-US" sz="2500" b="1" dirty="0"/>
              <a:t>Market strategy. </a:t>
            </a:r>
            <a:r>
              <a:rPr lang="en-US" sz="2500" dirty="0"/>
              <a:t>Income elasticity of demand is helpful in developing market strategies.</a:t>
            </a:r>
          </a:p>
          <a:p>
            <a:pPr marL="514350" indent="-514350" algn="just">
              <a:buFont typeface="+mj-lt"/>
              <a:buAutoNum type="arabicPeriod"/>
            </a:pPr>
            <a:r>
              <a:rPr lang="en-US" sz="2500" b="1" dirty="0"/>
              <a:t>Housing development strategies. </a:t>
            </a:r>
            <a:r>
              <a:rPr lang="en-US" sz="2500" dirty="0"/>
              <a:t>On the basis of income elasticity, housing development requirement can be predicted and construction work can be effectively launched upon.</a:t>
            </a:r>
          </a:p>
        </p:txBody>
      </p:sp>
    </p:spTree>
    <p:extLst>
      <p:ext uri="{BB962C8B-B14F-4D97-AF65-F5344CB8AC3E}">
        <p14:creationId xmlns:p14="http://schemas.microsoft.com/office/powerpoint/2010/main" val="29052562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71E58-4376-4CB4-8ECE-CC63093D38E4}"/>
              </a:ext>
            </a:extLst>
          </p:cNvPr>
          <p:cNvSpPr>
            <a:spLocks noGrp="1"/>
          </p:cNvSpPr>
          <p:nvPr>
            <p:ph type="title"/>
          </p:nvPr>
        </p:nvSpPr>
        <p:spPr>
          <a:xfrm>
            <a:off x="123290" y="92468"/>
            <a:ext cx="8907694" cy="739739"/>
          </a:xfrm>
        </p:spPr>
        <p:txBody>
          <a:bodyPr>
            <a:normAutofit fontScale="90000"/>
          </a:bodyPr>
          <a:lstStyle/>
          <a:p>
            <a:r>
              <a:rPr lang="en-US" b="1" u="sng" dirty="0"/>
              <a:t>3.Cross Elasticity of Demand</a:t>
            </a:r>
            <a:endParaRPr lang="en-US" dirty="0"/>
          </a:p>
        </p:txBody>
      </p:sp>
      <p:sp>
        <p:nvSpPr>
          <p:cNvPr id="3" name="Content Placeholder 2">
            <a:extLst>
              <a:ext uri="{FF2B5EF4-FFF2-40B4-BE49-F238E27FC236}">
                <a16:creationId xmlns:a16="http://schemas.microsoft.com/office/drawing/2014/main" id="{6851385C-A763-4FB4-8C53-3977851AB9DE}"/>
              </a:ext>
            </a:extLst>
          </p:cNvPr>
          <p:cNvSpPr>
            <a:spLocks noGrp="1"/>
          </p:cNvSpPr>
          <p:nvPr>
            <p:ph idx="1"/>
          </p:nvPr>
        </p:nvSpPr>
        <p:spPr>
          <a:xfrm>
            <a:off x="61645" y="904126"/>
            <a:ext cx="8969339" cy="5861405"/>
          </a:xfrm>
        </p:spPr>
        <p:txBody>
          <a:bodyPr>
            <a:normAutofit/>
          </a:bodyPr>
          <a:lstStyle/>
          <a:p>
            <a:pPr marL="0" indent="0" algn="just">
              <a:buNone/>
            </a:pPr>
            <a:r>
              <a:rPr lang="en-US" sz="2400" dirty="0"/>
              <a:t>The cross elasticity demand refers to the degree of responsiveness of demand for a commodity to a given change in the price of some related commodity. The cross elasticity of demand measures the extent to which products are substitute or complementary. A positive cross elasticity of demand indicates that the two products in consideration are substitutes, since an increase/decrease in the price of one causes an increase/ decrease in the quantity demand of the other. A negative cross elasticity of demand indicates that the two products in consideration are complementary to each other, since an increase/decrease in the price of one leads to a contraction/extension in demand for the other.</a:t>
            </a:r>
          </a:p>
          <a:p>
            <a:pPr marL="0" indent="0" algn="just">
              <a:buNone/>
            </a:pPr>
            <a:endParaRPr lang="en-US" sz="2400" dirty="0"/>
          </a:p>
        </p:txBody>
      </p:sp>
      <p:pic>
        <p:nvPicPr>
          <p:cNvPr id="4" name="Picture 3">
            <a:extLst>
              <a:ext uri="{FF2B5EF4-FFF2-40B4-BE49-F238E27FC236}">
                <a16:creationId xmlns:a16="http://schemas.microsoft.com/office/drawing/2014/main" id="{2B8406F0-4C58-4D64-843A-FC5EFF04786B}"/>
              </a:ext>
            </a:extLst>
          </p:cNvPr>
          <p:cNvPicPr>
            <a:picLocks noChangeAspect="1"/>
          </p:cNvPicPr>
          <p:nvPr/>
        </p:nvPicPr>
        <p:blipFill rotWithShape="1">
          <a:blip r:embed="rId2"/>
          <a:srcRect l="6833" r="6698"/>
          <a:stretch/>
        </p:blipFill>
        <p:spPr>
          <a:xfrm>
            <a:off x="71919" y="5394843"/>
            <a:ext cx="9010436" cy="1118062"/>
          </a:xfrm>
          <a:prstGeom prst="rect">
            <a:avLst/>
          </a:prstGeom>
        </p:spPr>
      </p:pic>
    </p:spTree>
    <p:extLst>
      <p:ext uri="{BB962C8B-B14F-4D97-AF65-F5344CB8AC3E}">
        <p14:creationId xmlns:p14="http://schemas.microsoft.com/office/powerpoint/2010/main" val="17989665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ECD2EB69-3764-417D-99E6-CD7042FD616A}"/>
              </a:ext>
            </a:extLst>
          </p:cNvPr>
          <p:cNvPicPr>
            <a:picLocks noGrp="1" noChangeAspect="1"/>
          </p:cNvPicPr>
          <p:nvPr>
            <p:ph idx="1"/>
          </p:nvPr>
        </p:nvPicPr>
        <p:blipFill>
          <a:blip r:embed="rId2"/>
          <a:stretch>
            <a:fillRect/>
          </a:stretch>
        </p:blipFill>
        <p:spPr>
          <a:xfrm>
            <a:off x="0" y="184936"/>
            <a:ext cx="9072081" cy="3328826"/>
          </a:xfrm>
          <a:prstGeom prst="rect">
            <a:avLst/>
          </a:prstGeom>
        </p:spPr>
      </p:pic>
    </p:spTree>
    <p:extLst>
      <p:ext uri="{BB962C8B-B14F-4D97-AF65-F5344CB8AC3E}">
        <p14:creationId xmlns:p14="http://schemas.microsoft.com/office/powerpoint/2010/main" val="38083387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742" y="113016"/>
            <a:ext cx="8938516" cy="1068512"/>
          </a:xfrm>
        </p:spPr>
        <p:txBody>
          <a:bodyPr>
            <a:normAutofit fontScale="90000"/>
          </a:bodyPr>
          <a:lstStyle/>
          <a:p>
            <a:r>
              <a:rPr lang="en-US" b="1" u="sng" dirty="0"/>
              <a:t>5.ADVERTISING OR PROMOTIONAL ELASTICITY OF DEMAND</a:t>
            </a:r>
            <a:endParaRPr b="1" u="sng" dirty="0"/>
          </a:p>
        </p:txBody>
      </p:sp>
      <p:sp>
        <p:nvSpPr>
          <p:cNvPr id="3" name="Content Placeholder 2"/>
          <p:cNvSpPr>
            <a:spLocks noGrp="1"/>
          </p:cNvSpPr>
          <p:nvPr>
            <p:ph idx="1"/>
          </p:nvPr>
        </p:nvSpPr>
        <p:spPr>
          <a:xfrm>
            <a:off x="102741" y="1366464"/>
            <a:ext cx="8938515" cy="5378520"/>
          </a:xfrm>
        </p:spPr>
        <p:txBody>
          <a:bodyPr>
            <a:normAutofit/>
          </a:bodyPr>
          <a:lstStyle/>
          <a:p>
            <a:pPr marL="0" indent="0" algn="just">
              <a:buNone/>
            </a:pPr>
            <a:r>
              <a:rPr sz="2500" dirty="0"/>
              <a:t>Promotional elasticity measures how demand responds to advertising and promotional expenditures</a:t>
            </a:r>
            <a:r>
              <a:rPr lang="en-US" sz="2500" dirty="0"/>
              <a:t>. In case of several products, the market demand is influenced through advertisement or promotional efforts.</a:t>
            </a:r>
          </a:p>
          <a:p>
            <a:pPr marL="0" indent="0" algn="ctr">
              <a:buNone/>
            </a:pPr>
            <a:r>
              <a:rPr lang="en-US" sz="2500" i="1" dirty="0" err="1"/>
              <a:t>Qx</a:t>
            </a:r>
            <a:r>
              <a:rPr lang="en-US" sz="2500" i="1" dirty="0"/>
              <a:t> = f (A) </a:t>
            </a:r>
          </a:p>
          <a:p>
            <a:pPr marL="0" indent="0" algn="just">
              <a:buNone/>
            </a:pPr>
            <a:r>
              <a:rPr lang="en-US" sz="2500" dirty="0"/>
              <a:t>where, </a:t>
            </a:r>
            <a:r>
              <a:rPr lang="en-US" sz="2500" i="1" dirty="0" err="1"/>
              <a:t>Qx</a:t>
            </a:r>
            <a:r>
              <a:rPr lang="en-US" sz="2500" i="1" dirty="0"/>
              <a:t> </a:t>
            </a:r>
            <a:r>
              <a:rPr lang="en-US" sz="2500" dirty="0"/>
              <a:t>= Demand for the product x measured through the quantity sold in the market.</a:t>
            </a:r>
          </a:p>
          <a:p>
            <a:pPr marL="0" indent="0" algn="just">
              <a:buNone/>
            </a:pPr>
            <a:r>
              <a:rPr lang="en-US" sz="2500" i="1" dirty="0"/>
              <a:t>A </a:t>
            </a:r>
            <a:r>
              <a:rPr lang="en-US" sz="2500" dirty="0"/>
              <a:t>= Advertisement expenditure of the firm.</a:t>
            </a:r>
          </a:p>
          <a:p>
            <a:pPr marL="0" indent="0" algn="just">
              <a:buNone/>
            </a:pPr>
            <a:endParaRPr sz="2500" dirty="0"/>
          </a:p>
        </p:txBody>
      </p:sp>
      <p:pic>
        <p:nvPicPr>
          <p:cNvPr id="4" name="Picture 3">
            <a:extLst>
              <a:ext uri="{FF2B5EF4-FFF2-40B4-BE49-F238E27FC236}">
                <a16:creationId xmlns:a16="http://schemas.microsoft.com/office/drawing/2014/main" id="{8C8FA3EB-8669-4587-B366-10AC7F204796}"/>
              </a:ext>
            </a:extLst>
          </p:cNvPr>
          <p:cNvPicPr>
            <a:picLocks noChangeAspect="1"/>
          </p:cNvPicPr>
          <p:nvPr/>
        </p:nvPicPr>
        <p:blipFill rotWithShape="1">
          <a:blip r:embed="rId2"/>
          <a:srcRect r="12122"/>
          <a:stretch/>
        </p:blipFill>
        <p:spPr>
          <a:xfrm>
            <a:off x="102742" y="5292885"/>
            <a:ext cx="8599472" cy="889298"/>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F2A0DB-7235-40E4-9A83-69EC336C0DF3}"/>
              </a:ext>
            </a:extLst>
          </p:cNvPr>
          <p:cNvSpPr>
            <a:spLocks noGrp="1"/>
          </p:cNvSpPr>
          <p:nvPr>
            <p:ph idx="1"/>
          </p:nvPr>
        </p:nvSpPr>
        <p:spPr>
          <a:xfrm>
            <a:off x="118152" y="274835"/>
            <a:ext cx="8871736" cy="6321175"/>
          </a:xfrm>
        </p:spPr>
        <p:txBody>
          <a:bodyPr/>
          <a:lstStyle/>
          <a:p>
            <a:pPr marL="0" indent="0">
              <a:buNone/>
            </a:pPr>
            <a:endParaRPr lang="en-US" dirty="0"/>
          </a:p>
          <a:p>
            <a:endParaRPr lang="en-US" dirty="0"/>
          </a:p>
        </p:txBody>
      </p:sp>
      <p:pic>
        <p:nvPicPr>
          <p:cNvPr id="4" name="Picture 3">
            <a:extLst>
              <a:ext uri="{FF2B5EF4-FFF2-40B4-BE49-F238E27FC236}">
                <a16:creationId xmlns:a16="http://schemas.microsoft.com/office/drawing/2014/main" id="{DEE02FC0-2C62-477A-89A9-4295F19EEBB8}"/>
              </a:ext>
            </a:extLst>
          </p:cNvPr>
          <p:cNvPicPr>
            <a:picLocks noChangeAspect="1"/>
          </p:cNvPicPr>
          <p:nvPr/>
        </p:nvPicPr>
        <p:blipFill>
          <a:blip r:embed="rId2"/>
          <a:stretch>
            <a:fillRect/>
          </a:stretch>
        </p:blipFill>
        <p:spPr>
          <a:xfrm>
            <a:off x="154112" y="606174"/>
            <a:ext cx="8599470" cy="2822825"/>
          </a:xfrm>
          <a:prstGeom prst="rect">
            <a:avLst/>
          </a:prstGeom>
        </p:spPr>
      </p:pic>
    </p:spTree>
    <p:extLst>
      <p:ext uri="{BB962C8B-B14F-4D97-AF65-F5344CB8AC3E}">
        <p14:creationId xmlns:p14="http://schemas.microsoft.com/office/powerpoint/2010/main" val="26487744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A4311AB-1B07-48B5-BE80-B17DB429FC00}"/>
              </a:ext>
            </a:extLst>
          </p:cNvPr>
          <p:cNvPicPr>
            <a:picLocks noGrp="1" noChangeAspect="1"/>
          </p:cNvPicPr>
          <p:nvPr>
            <p:ph idx="1"/>
          </p:nvPr>
        </p:nvPicPr>
        <p:blipFill rotWithShape="1">
          <a:blip r:embed="rId2"/>
          <a:srcRect l="11378" t="2418" r="8263" b="11353"/>
          <a:stretch/>
        </p:blipFill>
        <p:spPr>
          <a:xfrm>
            <a:off x="123290" y="174661"/>
            <a:ext cx="8917968" cy="6493268"/>
          </a:xfrm>
        </p:spPr>
      </p:pic>
    </p:spTree>
    <p:extLst>
      <p:ext uri="{BB962C8B-B14F-4D97-AF65-F5344CB8AC3E}">
        <p14:creationId xmlns:p14="http://schemas.microsoft.com/office/powerpoint/2010/main" val="13678990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D291D69-8402-4BFC-8430-BC0EB79AAFAC}"/>
              </a:ext>
            </a:extLst>
          </p:cNvPr>
          <p:cNvPicPr>
            <a:picLocks noChangeAspect="1"/>
          </p:cNvPicPr>
          <p:nvPr/>
        </p:nvPicPr>
        <p:blipFill rotWithShape="1">
          <a:blip r:embed="rId2"/>
          <a:srcRect t="5238" b="7294"/>
          <a:stretch/>
        </p:blipFill>
        <p:spPr>
          <a:xfrm>
            <a:off x="10274" y="-1"/>
            <a:ext cx="9144000" cy="4633645"/>
          </a:xfrm>
          <a:prstGeom prst="rect">
            <a:avLst/>
          </a:prstGeom>
        </p:spPr>
      </p:pic>
      <p:sp>
        <p:nvSpPr>
          <p:cNvPr id="7" name="Subtitle 6">
            <a:extLst>
              <a:ext uri="{FF2B5EF4-FFF2-40B4-BE49-F238E27FC236}">
                <a16:creationId xmlns:a16="http://schemas.microsoft.com/office/drawing/2014/main" id="{AE402879-AEA0-48BE-B5C3-BD86D4E791F7}"/>
              </a:ext>
            </a:extLst>
          </p:cNvPr>
          <p:cNvSpPr>
            <a:spLocks noGrp="1"/>
          </p:cNvSpPr>
          <p:nvPr>
            <p:ph type="subTitle" idx="1"/>
          </p:nvPr>
        </p:nvSpPr>
        <p:spPr>
          <a:xfrm>
            <a:off x="10274" y="4654192"/>
            <a:ext cx="9133726" cy="2203807"/>
          </a:xfrm>
        </p:spPr>
        <p:txBody>
          <a:bodyPr>
            <a:noAutofit/>
          </a:bodyPr>
          <a:lstStyle/>
          <a:p>
            <a:pPr algn="just"/>
            <a:r>
              <a:rPr lang="en-US" sz="2800" dirty="0">
                <a:solidFill>
                  <a:schemeClr val="tx1"/>
                </a:solidFill>
              </a:rPr>
              <a:t>The amount of stock a product offered for sale in the market at a given price per unit of time. Supply is what the producer or seller is able and willing to produce and  offer for sale at a particular price in a given market at a  particular period of time.</a:t>
            </a:r>
          </a:p>
          <a:p>
            <a:pPr algn="just"/>
            <a:endParaRPr lang="en-US" sz="2800" dirty="0">
              <a:solidFill>
                <a:schemeClr val="tx1"/>
              </a:solidFill>
            </a:endParaRPr>
          </a:p>
        </p:txBody>
      </p:sp>
    </p:spTree>
    <p:extLst>
      <p:ext uri="{BB962C8B-B14F-4D97-AF65-F5344CB8AC3E}">
        <p14:creationId xmlns:p14="http://schemas.microsoft.com/office/powerpoint/2010/main" val="18094489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A7A36D-E236-48F8-9F10-D5534FE3EC32}"/>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A1EB95E9-CD13-4430-8CA1-3F91F2A880D7}"/>
              </a:ext>
            </a:extLst>
          </p:cNvPr>
          <p:cNvPicPr>
            <a:picLocks noGrp="1" noChangeAspect="1"/>
          </p:cNvPicPr>
          <p:nvPr>
            <p:ph idx="1"/>
          </p:nvPr>
        </p:nvPicPr>
        <p:blipFill>
          <a:blip r:embed="rId2"/>
          <a:stretch>
            <a:fillRect/>
          </a:stretch>
        </p:blipFill>
        <p:spPr>
          <a:xfrm>
            <a:off x="1" y="0"/>
            <a:ext cx="9144000" cy="6858000"/>
          </a:xfrm>
        </p:spPr>
      </p:pic>
    </p:spTree>
    <p:extLst>
      <p:ext uri="{BB962C8B-B14F-4D97-AF65-F5344CB8AC3E}">
        <p14:creationId xmlns:p14="http://schemas.microsoft.com/office/powerpoint/2010/main" val="12879207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0"/>
            <a:ext cx="9072081" cy="6858000"/>
          </a:xfrm>
        </p:spPr>
        <p:txBody>
          <a:bodyPr>
            <a:noAutofit/>
          </a:bodyPr>
          <a:lstStyle/>
          <a:p>
            <a:pPr marL="0" indent="0">
              <a:buNone/>
            </a:pPr>
            <a:r>
              <a:rPr lang="en-US" sz="2800" b="1" u="sng" dirty="0"/>
              <a:t>Determinants of supply:</a:t>
            </a:r>
          </a:p>
          <a:p>
            <a:pPr marL="457200" indent="-457200">
              <a:buFont typeface="+mj-lt"/>
              <a:buAutoNum type="arabicPeriod"/>
            </a:pPr>
            <a:r>
              <a:rPr lang="en-US" sz="2200" b="1" dirty="0"/>
              <a:t>Production Costs/Input Prices</a:t>
            </a:r>
            <a:r>
              <a:rPr lang="en-US" sz="2200" dirty="0"/>
              <a:t>: The cost of factors of production (e.g., labor, raw materials, energy) directly affects the profitability of supplying a good. An increase in these costs reduces supply, while a decrease in these cost increases supply.</a:t>
            </a:r>
          </a:p>
          <a:p>
            <a:pPr marL="514350" indent="-514350">
              <a:buFont typeface="+mj-lt"/>
              <a:buAutoNum type="arabicPeriod"/>
            </a:pPr>
            <a:r>
              <a:rPr lang="en-US" sz="2200" b="1" dirty="0"/>
              <a:t>Technology</a:t>
            </a:r>
            <a:r>
              <a:rPr lang="en-US" sz="2200" dirty="0"/>
              <a:t>: Improvements in technology typically enhance efficiency, reduce production costs, and thereby increase supply.</a:t>
            </a:r>
          </a:p>
          <a:p>
            <a:pPr marL="514350" indent="-514350">
              <a:buFont typeface="+mj-lt"/>
              <a:buAutoNum type="arabicPeriod"/>
            </a:pPr>
            <a:r>
              <a:rPr lang="en-US" sz="2200" b="1" dirty="0"/>
              <a:t>Number of Sellers/Firms</a:t>
            </a:r>
            <a:r>
              <a:rPr lang="en-US" sz="2200" dirty="0"/>
              <a:t>: An increase in the number of producers in the market leads to an increase in the total market supply. Conversely, firms leaving the market reduce supply.</a:t>
            </a:r>
          </a:p>
          <a:p>
            <a:pPr marL="514350" indent="-514350">
              <a:buFont typeface="+mj-lt"/>
              <a:buAutoNum type="arabicPeriod"/>
            </a:pPr>
            <a:r>
              <a:rPr lang="en-US" sz="2200" b="1" dirty="0"/>
              <a:t>Expectations of Future Prices</a:t>
            </a:r>
            <a:r>
              <a:rPr lang="en-US" sz="2200" dirty="0"/>
              <a:t>: If producers anticipate higher prices in the future, they may withhold some of their current supply to sell later at a more favorable price, thus reducing current supply. </a:t>
            </a:r>
          </a:p>
          <a:p>
            <a:pPr marL="514350" indent="-514350">
              <a:buFont typeface="+mj-lt"/>
              <a:buAutoNum type="arabicPeriod"/>
            </a:pPr>
            <a:r>
              <a:rPr lang="en-US" sz="2200" b="1" dirty="0"/>
              <a:t>Government Policy (Taxes and Subsidies)</a:t>
            </a:r>
            <a:r>
              <a:rPr lang="en-US" sz="2200" dirty="0"/>
              <a:t>: Taxes increase production costs and reduce supply, while subsidies lower costs (or provide financial incentives) and increase supply.</a:t>
            </a:r>
          </a:p>
          <a:p>
            <a:pPr marL="514350" indent="-514350">
              <a:buFont typeface="+mj-lt"/>
              <a:buAutoNum type="arabicPeriod"/>
            </a:pPr>
            <a:r>
              <a:rPr lang="en-US" sz="2200" b="1" dirty="0"/>
              <a:t>Natural Factors</a:t>
            </a:r>
            <a:r>
              <a:rPr lang="en-US" sz="2200" dirty="0"/>
              <a:t>: For agricultural products and other primary commodities, natural events or weather conditions can significantly impact supply. </a:t>
            </a:r>
          </a:p>
          <a:p>
            <a:endParaRPr lang="en-US" sz="2200" dirty="0"/>
          </a:p>
          <a:p>
            <a:pPr marL="0" indent="0">
              <a:buNone/>
            </a:pPr>
            <a:endParaRPr sz="2200" u="sng"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897DFA3-95B7-4D41-B1F5-CF7832A967D4}"/>
              </a:ext>
            </a:extLst>
          </p:cNvPr>
          <p:cNvPicPr>
            <a:picLocks noGrp="1" noChangeAspect="1"/>
          </p:cNvPicPr>
          <p:nvPr>
            <p:ph idx="1"/>
          </p:nvPr>
        </p:nvPicPr>
        <p:blipFill>
          <a:blip r:embed="rId2"/>
          <a:stretch>
            <a:fillRect/>
          </a:stretch>
        </p:blipFill>
        <p:spPr>
          <a:xfrm>
            <a:off x="0" y="0"/>
            <a:ext cx="9144000" cy="6858000"/>
          </a:xfrm>
        </p:spPr>
      </p:pic>
    </p:spTree>
    <p:extLst>
      <p:ext uri="{BB962C8B-B14F-4D97-AF65-F5344CB8AC3E}">
        <p14:creationId xmlns:p14="http://schemas.microsoft.com/office/powerpoint/2010/main" val="205492433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0E5CAD-FCD7-4070-A706-99F370A7B818}"/>
              </a:ext>
            </a:extLst>
          </p:cNvPr>
          <p:cNvSpPr>
            <a:spLocks noGrp="1"/>
          </p:cNvSpPr>
          <p:nvPr>
            <p:ph idx="1"/>
          </p:nvPr>
        </p:nvSpPr>
        <p:spPr>
          <a:xfrm>
            <a:off x="0" y="0"/>
            <a:ext cx="9144000" cy="6858000"/>
          </a:xfrm>
        </p:spPr>
        <p:txBody>
          <a:bodyPr>
            <a:normAutofit/>
          </a:bodyPr>
          <a:lstStyle/>
          <a:p>
            <a:pPr marL="0" indent="0" algn="just">
              <a:buNone/>
            </a:pPr>
            <a:r>
              <a:rPr lang="en-US" sz="2800" dirty="0"/>
              <a:t>It is a fundamental principle of economic theory which states that, all else are equal, an increase in price result in an increase in quality supplied. There is a positive relationship in between quantity supplied and price. The law thus suggests that the supply varies directly with the change in price. </a:t>
            </a:r>
          </a:p>
          <a:p>
            <a:pPr marL="0" indent="0" algn="just">
              <a:buNone/>
            </a:pPr>
            <a:endParaRPr lang="en-US" sz="2800" dirty="0"/>
          </a:p>
        </p:txBody>
      </p:sp>
      <p:pic>
        <p:nvPicPr>
          <p:cNvPr id="4" name="Picture 3">
            <a:extLst>
              <a:ext uri="{FF2B5EF4-FFF2-40B4-BE49-F238E27FC236}">
                <a16:creationId xmlns:a16="http://schemas.microsoft.com/office/drawing/2014/main" id="{CABB67C0-27DF-46B1-BFB7-8CE0B90EF8AE}"/>
              </a:ext>
            </a:extLst>
          </p:cNvPr>
          <p:cNvPicPr>
            <a:picLocks noChangeAspect="1"/>
          </p:cNvPicPr>
          <p:nvPr/>
        </p:nvPicPr>
        <p:blipFill>
          <a:blip r:embed="rId2"/>
          <a:stretch>
            <a:fillRect/>
          </a:stretch>
        </p:blipFill>
        <p:spPr>
          <a:xfrm>
            <a:off x="0" y="2571750"/>
            <a:ext cx="5116530" cy="4286250"/>
          </a:xfrm>
          <a:prstGeom prst="rect">
            <a:avLst/>
          </a:prstGeom>
        </p:spPr>
      </p:pic>
    </p:spTree>
    <p:extLst>
      <p:ext uri="{BB962C8B-B14F-4D97-AF65-F5344CB8AC3E}">
        <p14:creationId xmlns:p14="http://schemas.microsoft.com/office/powerpoint/2010/main" val="410102793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E305A-C75A-41CB-BF6F-F6A98C1A9D12}"/>
              </a:ext>
            </a:extLst>
          </p:cNvPr>
          <p:cNvSpPr>
            <a:spLocks noGrp="1"/>
          </p:cNvSpPr>
          <p:nvPr>
            <p:ph type="title"/>
          </p:nvPr>
        </p:nvSpPr>
        <p:spPr>
          <a:xfrm>
            <a:off x="0" y="0"/>
            <a:ext cx="9144000" cy="731837"/>
          </a:xfrm>
        </p:spPr>
        <p:txBody>
          <a:bodyPr>
            <a:noAutofit/>
          </a:bodyPr>
          <a:lstStyle/>
          <a:p>
            <a:br>
              <a:rPr lang="en-US" b="1" u="sng" dirty="0"/>
            </a:br>
            <a:r>
              <a:rPr lang="en-US" b="1" u="sng" dirty="0"/>
              <a:t>Assumptions of The Law of Supply</a:t>
            </a:r>
            <a:br>
              <a:rPr lang="en-US" b="1" u="sng" dirty="0"/>
            </a:br>
            <a:endParaRPr lang="en-US" b="1" u="sng" dirty="0"/>
          </a:p>
        </p:txBody>
      </p:sp>
      <p:sp>
        <p:nvSpPr>
          <p:cNvPr id="3" name="Content Placeholder 2">
            <a:extLst>
              <a:ext uri="{FF2B5EF4-FFF2-40B4-BE49-F238E27FC236}">
                <a16:creationId xmlns:a16="http://schemas.microsoft.com/office/drawing/2014/main" id="{05BBD51F-80A1-4908-8BB2-CAE3C6E45DAE}"/>
              </a:ext>
            </a:extLst>
          </p:cNvPr>
          <p:cNvSpPr>
            <a:spLocks noGrp="1"/>
          </p:cNvSpPr>
          <p:nvPr>
            <p:ph idx="1"/>
          </p:nvPr>
        </p:nvSpPr>
        <p:spPr>
          <a:xfrm>
            <a:off x="0" y="839912"/>
            <a:ext cx="9144000" cy="6018088"/>
          </a:xfrm>
        </p:spPr>
        <p:txBody>
          <a:bodyPr>
            <a:normAutofit fontScale="85000" lnSpcReduction="20000"/>
          </a:bodyPr>
          <a:lstStyle/>
          <a:p>
            <a:pPr algn="just">
              <a:buFont typeface="Wingdings" panose="05000000000000000000" pitchFamily="2" charset="2"/>
              <a:buChar char="ü"/>
            </a:pPr>
            <a:r>
              <a:rPr lang="en-US" b="1" dirty="0"/>
              <a:t>No Change in Technology:</a:t>
            </a:r>
            <a:r>
              <a:rPr lang="en-US" dirty="0"/>
              <a:t> Technological advancements can reduce production costs, leading to an increase in supply regardless of price changes. The law of supply assumes that technology remains constant.</a:t>
            </a:r>
          </a:p>
          <a:p>
            <a:pPr algn="just">
              <a:buFont typeface="Wingdings" panose="05000000000000000000" pitchFamily="2" charset="2"/>
              <a:buChar char="ü"/>
            </a:pPr>
            <a:r>
              <a:rPr lang="en-US" b="1" dirty="0"/>
              <a:t>Constant Input Prices:</a:t>
            </a:r>
            <a:r>
              <a:rPr lang="en-US" dirty="0"/>
              <a:t> Changes in the prices of inputs, such as raw materials, labor, and energy, can affect the cost of production and, consequently, the supply of a good or service. The law assumes that input prices remain stable.</a:t>
            </a:r>
          </a:p>
          <a:p>
            <a:pPr algn="just">
              <a:buFont typeface="Wingdings" panose="05000000000000000000" pitchFamily="2" charset="2"/>
              <a:buChar char="ü"/>
            </a:pPr>
            <a:r>
              <a:rPr lang="en-US" b="1" dirty="0"/>
              <a:t>No Change in Government Policies:</a:t>
            </a:r>
            <a:r>
              <a:rPr lang="en-US" dirty="0"/>
              <a:t> Government policies, such as taxes, subsidies, and regulations, can influence the supply of goods and services. The law assumes that these policies remain unchanged.</a:t>
            </a:r>
          </a:p>
          <a:p>
            <a:pPr algn="just">
              <a:buFont typeface="Wingdings" panose="05000000000000000000" pitchFamily="2" charset="2"/>
              <a:buChar char="ü"/>
            </a:pPr>
            <a:r>
              <a:rPr lang="en-US" b="1" dirty="0"/>
              <a:t>No Change in Expectations:</a:t>
            </a:r>
            <a:r>
              <a:rPr lang="en-US" dirty="0"/>
              <a:t> Expectations about future prices can also affect current supply decisions. For example, if suppliers expect prices to rise in the future, they may reduce current supply to sell more at the higher future price. The law assumes that expectations remain constant.</a:t>
            </a:r>
          </a:p>
          <a:p>
            <a:pPr algn="just">
              <a:buFont typeface="Wingdings" panose="05000000000000000000" pitchFamily="2" charset="2"/>
              <a:buChar char="ü"/>
            </a:pPr>
            <a:endParaRPr lang="en-US" dirty="0"/>
          </a:p>
        </p:txBody>
      </p:sp>
    </p:spTree>
    <p:extLst>
      <p:ext uri="{BB962C8B-B14F-4D97-AF65-F5344CB8AC3E}">
        <p14:creationId xmlns:p14="http://schemas.microsoft.com/office/powerpoint/2010/main" val="191138741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0708F-667B-4B54-A297-B4F24585DC15}"/>
              </a:ext>
            </a:extLst>
          </p:cNvPr>
          <p:cNvSpPr>
            <a:spLocks noGrp="1"/>
          </p:cNvSpPr>
          <p:nvPr>
            <p:ph type="title"/>
          </p:nvPr>
        </p:nvSpPr>
        <p:spPr>
          <a:xfrm>
            <a:off x="0" y="0"/>
            <a:ext cx="9144000" cy="904126"/>
          </a:xfrm>
        </p:spPr>
        <p:txBody>
          <a:bodyPr>
            <a:normAutofit/>
          </a:bodyPr>
          <a:lstStyle/>
          <a:p>
            <a:r>
              <a:rPr lang="en-US" b="1" u="sng" dirty="0"/>
              <a:t>Exceptions to the Law of Supply</a:t>
            </a:r>
          </a:p>
        </p:txBody>
      </p:sp>
      <p:sp>
        <p:nvSpPr>
          <p:cNvPr id="3" name="Content Placeholder 2">
            <a:extLst>
              <a:ext uri="{FF2B5EF4-FFF2-40B4-BE49-F238E27FC236}">
                <a16:creationId xmlns:a16="http://schemas.microsoft.com/office/drawing/2014/main" id="{C4AED74D-9D95-4A2A-B407-934350AF8710}"/>
              </a:ext>
            </a:extLst>
          </p:cNvPr>
          <p:cNvSpPr>
            <a:spLocks noGrp="1"/>
          </p:cNvSpPr>
          <p:nvPr>
            <p:ph idx="1"/>
          </p:nvPr>
        </p:nvSpPr>
        <p:spPr>
          <a:xfrm>
            <a:off x="0" y="994025"/>
            <a:ext cx="9144000" cy="5863975"/>
          </a:xfrm>
        </p:spPr>
        <p:txBody>
          <a:bodyPr>
            <a:noAutofit/>
          </a:bodyPr>
          <a:lstStyle/>
          <a:p>
            <a:pPr algn="just">
              <a:buFont typeface="Wingdings" panose="05000000000000000000" pitchFamily="2" charset="2"/>
              <a:buChar char="ü"/>
            </a:pPr>
            <a:r>
              <a:rPr lang="en-US" sz="2200" b="1" dirty="0"/>
              <a:t>Perishable Goods:</a:t>
            </a:r>
            <a:r>
              <a:rPr lang="en-US" sz="2200" dirty="0"/>
              <a:t> In the case of highly perishable goods, such as fresh produce, suppliers may be willing to sell their entire stock even at a lower price to avoid spoilage and losses.</a:t>
            </a:r>
          </a:p>
          <a:p>
            <a:pPr algn="just">
              <a:buFont typeface="Wingdings" panose="05000000000000000000" pitchFamily="2" charset="2"/>
              <a:buChar char="ü"/>
            </a:pPr>
            <a:r>
              <a:rPr lang="en-US" sz="2200" b="1" dirty="0"/>
              <a:t>Rare and Unique Items:</a:t>
            </a:r>
            <a:r>
              <a:rPr lang="en-US" sz="2200" dirty="0"/>
              <a:t> For rare and unique items, such as antiques or works of art, the supply is often fixed and cannot be increased regardless of price.</a:t>
            </a:r>
          </a:p>
          <a:p>
            <a:pPr algn="just">
              <a:buFont typeface="Wingdings" panose="05000000000000000000" pitchFamily="2" charset="2"/>
              <a:buChar char="ü"/>
            </a:pPr>
            <a:r>
              <a:rPr lang="en-US" sz="2200" b="1" dirty="0"/>
              <a:t>Backward-Bending Supply Curve of Labor:</a:t>
            </a:r>
            <a:r>
              <a:rPr lang="en-US" sz="2200" dirty="0"/>
              <a:t> At very high wage rates, workers may choose to work fewer hours, preferring leisure over additional income. This can lead to a backward-bending supply curve of labor, where the quantity of labor supplied decreases as the wage rate increases.</a:t>
            </a:r>
          </a:p>
          <a:p>
            <a:pPr algn="just">
              <a:buFont typeface="Wingdings" panose="05000000000000000000" pitchFamily="2" charset="2"/>
              <a:buChar char="ü"/>
            </a:pPr>
            <a:r>
              <a:rPr lang="en-US" sz="2200" b="1" dirty="0"/>
              <a:t>Agricultural Goods:</a:t>
            </a:r>
            <a:r>
              <a:rPr lang="en-US" sz="2200" dirty="0"/>
              <a:t> In some cases, the supply of agricultural goods may be influenced by factors such as weather conditions and natural disasters, which can override the price effect.</a:t>
            </a:r>
          </a:p>
          <a:p>
            <a:pPr algn="just">
              <a:buFont typeface="Wingdings" panose="05000000000000000000" pitchFamily="2" charset="2"/>
              <a:buChar char="ü"/>
            </a:pPr>
            <a:r>
              <a:rPr lang="en-US" sz="2200" b="1" dirty="0"/>
              <a:t>Goods with Prestige Value:</a:t>
            </a:r>
            <a:r>
              <a:rPr lang="en-US" sz="2200" dirty="0"/>
              <a:t> For some goods, a lower price might reduce the perceived prestige or exclusivity, leading to a decrease in demand and, consequently, a decrease in the quantity supplied.</a:t>
            </a:r>
          </a:p>
          <a:p>
            <a:pPr algn="just">
              <a:buFont typeface="Wingdings" panose="05000000000000000000" pitchFamily="2" charset="2"/>
              <a:buChar char="ü"/>
            </a:pPr>
            <a:endParaRPr lang="en-US" sz="2200" dirty="0"/>
          </a:p>
        </p:txBody>
      </p:sp>
    </p:spTree>
    <p:extLst>
      <p:ext uri="{BB962C8B-B14F-4D97-AF65-F5344CB8AC3E}">
        <p14:creationId xmlns:p14="http://schemas.microsoft.com/office/powerpoint/2010/main" val="281108494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34973-9852-48C9-9B21-4F2692F306F0}"/>
              </a:ext>
            </a:extLst>
          </p:cNvPr>
          <p:cNvSpPr>
            <a:spLocks noGrp="1"/>
          </p:cNvSpPr>
          <p:nvPr>
            <p:ph type="title"/>
          </p:nvPr>
        </p:nvSpPr>
        <p:spPr>
          <a:xfrm>
            <a:off x="0" y="-146602"/>
            <a:ext cx="8969340" cy="1143000"/>
          </a:xfrm>
        </p:spPr>
        <p:txBody>
          <a:bodyPr>
            <a:normAutofit/>
          </a:bodyPr>
          <a:lstStyle/>
          <a:p>
            <a:r>
              <a:rPr lang="en-US" sz="5400" b="1" u="sng" dirty="0">
                <a:latin typeface="Algerian" panose="04020705040A02060702" pitchFamily="82" charset="0"/>
              </a:rPr>
              <a:t>Elasticity of Supply</a:t>
            </a:r>
          </a:p>
        </p:txBody>
      </p:sp>
      <p:sp>
        <p:nvSpPr>
          <p:cNvPr id="3" name="Content Placeholder 2">
            <a:extLst>
              <a:ext uri="{FF2B5EF4-FFF2-40B4-BE49-F238E27FC236}">
                <a16:creationId xmlns:a16="http://schemas.microsoft.com/office/drawing/2014/main" id="{9CD78056-935C-4A2C-9B13-6FAB075185AA}"/>
              </a:ext>
            </a:extLst>
          </p:cNvPr>
          <p:cNvSpPr>
            <a:spLocks noGrp="1"/>
          </p:cNvSpPr>
          <p:nvPr>
            <p:ph idx="1"/>
          </p:nvPr>
        </p:nvSpPr>
        <p:spPr>
          <a:xfrm>
            <a:off x="71919" y="1076218"/>
            <a:ext cx="8897421" cy="5643081"/>
          </a:xfrm>
        </p:spPr>
        <p:txBody>
          <a:bodyPr>
            <a:normAutofit/>
          </a:bodyPr>
          <a:lstStyle/>
          <a:p>
            <a:pPr marL="0" indent="0" algn="just">
              <a:buNone/>
            </a:pPr>
            <a:r>
              <a:rPr lang="en-US" sz="2800" dirty="0"/>
              <a:t>Elasticity of Supply (Es) measures how much the </a:t>
            </a:r>
            <a:r>
              <a:rPr lang="en-US" sz="2800" b="1" dirty="0"/>
              <a:t>quantity supplied</a:t>
            </a:r>
            <a:r>
              <a:rPr lang="en-US" sz="2800" dirty="0"/>
              <a:t> of a good responds to a </a:t>
            </a:r>
            <a:r>
              <a:rPr lang="en-US" sz="2800" b="1" dirty="0"/>
              <a:t>change in its price</a:t>
            </a:r>
            <a:r>
              <a:rPr lang="en-US" sz="2800" dirty="0"/>
              <a:t>. It tells us whether producers can easily increase or decrease supply when prices change.</a:t>
            </a:r>
          </a:p>
          <a:p>
            <a:pPr marL="0" indent="0" algn="just">
              <a:buNone/>
            </a:pPr>
            <a:endParaRPr lang="en-US" sz="2800" dirty="0"/>
          </a:p>
        </p:txBody>
      </p:sp>
      <p:pic>
        <p:nvPicPr>
          <p:cNvPr id="4" name="Picture 3">
            <a:extLst>
              <a:ext uri="{FF2B5EF4-FFF2-40B4-BE49-F238E27FC236}">
                <a16:creationId xmlns:a16="http://schemas.microsoft.com/office/drawing/2014/main" id="{BAA08738-FD5E-4CF8-BAB1-1E991AF809BC}"/>
              </a:ext>
            </a:extLst>
          </p:cNvPr>
          <p:cNvPicPr>
            <a:picLocks noChangeAspect="1"/>
          </p:cNvPicPr>
          <p:nvPr/>
        </p:nvPicPr>
        <p:blipFill>
          <a:blip r:embed="rId2"/>
          <a:stretch>
            <a:fillRect/>
          </a:stretch>
        </p:blipFill>
        <p:spPr>
          <a:xfrm>
            <a:off x="0" y="3287730"/>
            <a:ext cx="9144000" cy="3511389"/>
          </a:xfrm>
          <a:prstGeom prst="rect">
            <a:avLst/>
          </a:prstGeom>
        </p:spPr>
      </p:pic>
    </p:spTree>
    <p:extLst>
      <p:ext uri="{BB962C8B-B14F-4D97-AF65-F5344CB8AC3E}">
        <p14:creationId xmlns:p14="http://schemas.microsoft.com/office/powerpoint/2010/main" val="149948888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C011A-33BB-425E-8610-BD56B0A6BB4A}"/>
              </a:ext>
            </a:extLst>
          </p:cNvPr>
          <p:cNvSpPr>
            <a:spLocks noGrp="1"/>
          </p:cNvSpPr>
          <p:nvPr>
            <p:ph type="title"/>
          </p:nvPr>
        </p:nvSpPr>
        <p:spPr>
          <a:xfrm>
            <a:off x="67733" y="62971"/>
            <a:ext cx="8983134" cy="668866"/>
          </a:xfrm>
        </p:spPr>
        <p:txBody>
          <a:bodyPr>
            <a:noAutofit/>
          </a:bodyPr>
          <a:lstStyle/>
          <a:p>
            <a:r>
              <a:rPr lang="en-US" b="1" u="sng" dirty="0">
                <a:latin typeface="Aharoni" panose="02010803020104030203" pitchFamily="2" charset="-79"/>
                <a:cs typeface="Aharoni" panose="02010803020104030203" pitchFamily="2" charset="-79"/>
              </a:rPr>
              <a:t>Types of Elasticity of Supply</a:t>
            </a:r>
          </a:p>
        </p:txBody>
      </p:sp>
      <p:sp>
        <p:nvSpPr>
          <p:cNvPr id="3" name="Content Placeholder 2">
            <a:extLst>
              <a:ext uri="{FF2B5EF4-FFF2-40B4-BE49-F238E27FC236}">
                <a16:creationId xmlns:a16="http://schemas.microsoft.com/office/drawing/2014/main" id="{90BCD9BB-4D62-4D67-BAD9-CF44B3B1C990}"/>
              </a:ext>
            </a:extLst>
          </p:cNvPr>
          <p:cNvSpPr>
            <a:spLocks noGrp="1"/>
          </p:cNvSpPr>
          <p:nvPr>
            <p:ph idx="1"/>
          </p:nvPr>
        </p:nvSpPr>
        <p:spPr>
          <a:xfrm>
            <a:off x="67733" y="904875"/>
            <a:ext cx="8983134" cy="5890154"/>
          </a:xfrm>
        </p:spPr>
        <p:txBody>
          <a:bodyPr>
            <a:noAutofit/>
          </a:bodyPr>
          <a:lstStyle/>
          <a:p>
            <a:pPr marL="514350" indent="-514350" algn="just">
              <a:buAutoNum type="arabicPeriod"/>
            </a:pPr>
            <a:r>
              <a:rPr lang="en-US" sz="2200" b="1" dirty="0"/>
              <a:t>Perfectly Elastic Supply (Es = ∞):</a:t>
            </a:r>
            <a:r>
              <a:rPr lang="en-US" sz="2200" dirty="0"/>
              <a:t> Supply changes infinitely even if price changes slightly. Producers are willing to supply any amount at a particular price. If price falls even slightly, supply becomes zero. </a:t>
            </a:r>
            <a:r>
              <a:rPr lang="en-US" sz="2200" b="1" dirty="0"/>
              <a:t>Example</a:t>
            </a:r>
            <a:r>
              <a:rPr lang="en-US" sz="2200" dirty="0"/>
              <a:t>: In a perfectly competitive market, if the market price of wheat is ₹20/kg, farmers will supply any amount at that price. But if price becomes ₹19.90, they will stop.</a:t>
            </a:r>
          </a:p>
          <a:p>
            <a:pPr marL="514350" indent="-514350" algn="just">
              <a:buAutoNum type="arabicPeriod"/>
            </a:pPr>
            <a:r>
              <a:rPr lang="en-US" sz="2200" b="1" dirty="0"/>
              <a:t>Perfectly Inelastic Supply (Es = 0):</a:t>
            </a:r>
            <a:r>
              <a:rPr lang="en-US" sz="2200" dirty="0"/>
              <a:t> Quantity supplied </a:t>
            </a:r>
            <a:r>
              <a:rPr lang="en-US" sz="2200" b="1" dirty="0"/>
              <a:t>does NOT change</a:t>
            </a:r>
            <a:r>
              <a:rPr lang="en-US" sz="2200" dirty="0"/>
              <a:t> even when price changes. Supply is completely fixed. Happens when goods are rare or production cannot be increased. </a:t>
            </a:r>
            <a:r>
              <a:rPr lang="en-US" sz="2200" b="1" dirty="0"/>
              <a:t>Example</a:t>
            </a:r>
            <a:r>
              <a:rPr lang="en-US" sz="2200" dirty="0"/>
              <a:t>: Supply of land in a city cannot increase even if prices rise. And Rare paintings (e.g., by M.F. Husain) have fixed supply — no new artworks can be produced.</a:t>
            </a:r>
          </a:p>
          <a:p>
            <a:pPr marL="514350" indent="-514350" algn="just">
              <a:buAutoNum type="arabicPeriod"/>
            </a:pPr>
            <a:r>
              <a:rPr lang="en-US" sz="2200" b="1" dirty="0"/>
              <a:t>Relatively Elastic Supply (Es &gt; 1):</a:t>
            </a:r>
            <a:r>
              <a:rPr lang="en-US" sz="2200" dirty="0"/>
              <a:t> A </a:t>
            </a:r>
            <a:r>
              <a:rPr lang="en-US" sz="2200" b="1" dirty="0"/>
              <a:t>small change in price</a:t>
            </a:r>
            <a:r>
              <a:rPr lang="en-US" sz="2200" dirty="0"/>
              <a:t> causes a </a:t>
            </a:r>
            <a:r>
              <a:rPr lang="en-US" sz="2200" b="1" dirty="0"/>
              <a:t>large change in quantity supplied</a:t>
            </a:r>
            <a:r>
              <a:rPr lang="en-US" sz="2200" dirty="0"/>
              <a:t>. Producers can quickly increase production. It happens when resources are easily available and production is flexible. </a:t>
            </a:r>
            <a:r>
              <a:rPr lang="en-US" sz="2200" b="1" dirty="0"/>
              <a:t>Example</a:t>
            </a:r>
            <a:r>
              <a:rPr lang="en-US" sz="2200" dirty="0"/>
              <a:t>: Price of cotton shirts rises by 5%, and tailors produce 20% more shirts. Factories can easily increase output by using machines for extra hours.</a:t>
            </a:r>
          </a:p>
        </p:txBody>
      </p:sp>
    </p:spTree>
    <p:extLst>
      <p:ext uri="{BB962C8B-B14F-4D97-AF65-F5344CB8AC3E}">
        <p14:creationId xmlns:p14="http://schemas.microsoft.com/office/powerpoint/2010/main" val="377807085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17D861-F3E7-4FB4-9A5A-08D7E0AEB467}"/>
              </a:ext>
            </a:extLst>
          </p:cNvPr>
          <p:cNvSpPr>
            <a:spLocks noGrp="1"/>
          </p:cNvSpPr>
          <p:nvPr>
            <p:ph idx="1"/>
          </p:nvPr>
        </p:nvSpPr>
        <p:spPr>
          <a:xfrm>
            <a:off x="0" y="133350"/>
            <a:ext cx="9144000" cy="6657975"/>
          </a:xfrm>
        </p:spPr>
        <p:txBody>
          <a:bodyPr>
            <a:normAutofit/>
          </a:bodyPr>
          <a:lstStyle/>
          <a:p>
            <a:pPr marL="514350" indent="-514350" algn="just">
              <a:buFont typeface="+mj-lt"/>
              <a:buAutoNum type="arabicPeriod" startAt="4"/>
            </a:pPr>
            <a:r>
              <a:rPr lang="en-US" sz="2400" b="1" dirty="0"/>
              <a:t>Relatively Inelastic Supply (Es &lt; 1):</a:t>
            </a:r>
            <a:r>
              <a:rPr lang="en-US" sz="2400" dirty="0"/>
              <a:t> A </a:t>
            </a:r>
            <a:r>
              <a:rPr lang="en-US" sz="2400" b="1" dirty="0"/>
              <a:t>large change in price</a:t>
            </a:r>
            <a:r>
              <a:rPr lang="en-US" sz="2400" dirty="0"/>
              <a:t> results in only a </a:t>
            </a:r>
            <a:r>
              <a:rPr lang="en-US" sz="2400" b="1" dirty="0"/>
              <a:t>small change in quantity supplied</a:t>
            </a:r>
            <a:r>
              <a:rPr lang="en-US" sz="2400" dirty="0"/>
              <a:t>. Producers cannot increase supply quickly. It happens in short run, or when inputs are limited. </a:t>
            </a:r>
            <a:r>
              <a:rPr lang="en-US" sz="2400" b="1" dirty="0"/>
              <a:t>Example</a:t>
            </a:r>
            <a:r>
              <a:rPr lang="en-US" sz="2400" dirty="0"/>
              <a:t>: Price of onions rises by 30%, but farmers can increase supply only by 10%. Agricultural goods are usually inelastic in the short period because crops take time to grow.</a:t>
            </a:r>
          </a:p>
          <a:p>
            <a:pPr marL="514350" indent="-514350" algn="just">
              <a:buFont typeface="+mj-lt"/>
              <a:buAutoNum type="arabicPeriod" startAt="4"/>
            </a:pPr>
            <a:r>
              <a:rPr lang="en-US" sz="2400" b="1" dirty="0"/>
              <a:t>Unitary Elastic Supply (Es = 1):</a:t>
            </a:r>
            <a:r>
              <a:rPr lang="en-US" sz="2400" dirty="0"/>
              <a:t> % change in supply = % change in price. Supply increases in the same proportion as price. Rare in real life but useful for theory. </a:t>
            </a:r>
            <a:r>
              <a:rPr lang="en-US" sz="2400" b="1" dirty="0"/>
              <a:t>Example</a:t>
            </a:r>
            <a:r>
              <a:rPr lang="en-US" sz="2400" dirty="0"/>
              <a:t>: Price rises by 10%, and quantity supplied also rises by 10%. Some manufactured goods may behave like this under controlled production conditions.</a:t>
            </a:r>
          </a:p>
        </p:txBody>
      </p:sp>
    </p:spTree>
    <p:extLst>
      <p:ext uri="{BB962C8B-B14F-4D97-AF65-F5344CB8AC3E}">
        <p14:creationId xmlns:p14="http://schemas.microsoft.com/office/powerpoint/2010/main" val="185456216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1C3FD-3E87-4262-A3FC-4D0A56177ED0}"/>
              </a:ext>
            </a:extLst>
          </p:cNvPr>
          <p:cNvSpPr>
            <a:spLocks noGrp="1"/>
          </p:cNvSpPr>
          <p:nvPr>
            <p:ph type="title"/>
          </p:nvPr>
        </p:nvSpPr>
        <p:spPr>
          <a:xfrm>
            <a:off x="0" y="103188"/>
            <a:ext cx="9144000" cy="1143000"/>
          </a:xfrm>
        </p:spPr>
        <p:txBody>
          <a:bodyPr>
            <a:normAutofit/>
          </a:bodyPr>
          <a:lstStyle/>
          <a:p>
            <a:r>
              <a:rPr lang="en-US" sz="6000" b="1" u="sng" dirty="0">
                <a:latin typeface="Algerian" panose="04020705040A02060702" pitchFamily="82" charset="0"/>
              </a:rPr>
              <a:t>Demand Forecasting</a:t>
            </a:r>
            <a:endParaRPr lang="en-US" sz="6000" dirty="0"/>
          </a:p>
        </p:txBody>
      </p:sp>
      <p:pic>
        <p:nvPicPr>
          <p:cNvPr id="5" name="Content Placeholder 4">
            <a:extLst>
              <a:ext uri="{FF2B5EF4-FFF2-40B4-BE49-F238E27FC236}">
                <a16:creationId xmlns:a16="http://schemas.microsoft.com/office/drawing/2014/main" id="{722EE783-1BC4-4A5C-AF04-C0BC123615DD}"/>
              </a:ext>
            </a:extLst>
          </p:cNvPr>
          <p:cNvPicPr>
            <a:picLocks noGrp="1" noChangeAspect="1"/>
          </p:cNvPicPr>
          <p:nvPr>
            <p:ph idx="1"/>
          </p:nvPr>
        </p:nvPicPr>
        <p:blipFill>
          <a:blip r:embed="rId2"/>
          <a:stretch>
            <a:fillRect/>
          </a:stretch>
        </p:blipFill>
        <p:spPr>
          <a:xfrm>
            <a:off x="0" y="1246188"/>
            <a:ext cx="9144000" cy="5649911"/>
          </a:xfrm>
        </p:spPr>
      </p:pic>
    </p:spTree>
    <p:extLst>
      <p:ext uri="{BB962C8B-B14F-4D97-AF65-F5344CB8AC3E}">
        <p14:creationId xmlns:p14="http://schemas.microsoft.com/office/powerpoint/2010/main" val="19699770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912" y="0"/>
            <a:ext cx="9020175" cy="6858000"/>
          </a:xfrm>
        </p:spPr>
        <p:txBody>
          <a:bodyPr>
            <a:noAutofit/>
          </a:bodyPr>
          <a:lstStyle/>
          <a:p>
            <a:pPr marL="0" indent="0" algn="just">
              <a:buNone/>
            </a:pPr>
            <a:r>
              <a:rPr lang="en-US" sz="2400" dirty="0"/>
              <a:t>Forecasting means expectations about the future course of development. The future is uncertain. But, not entirely so. Hence, one can hopefully predict the future event and reasonably gain. Demand forecasting means expectation about the future course of the market demand for a product. Demand forecasting is based on the statistical data about past behavior and empirical relationships of the demand determinants.</a:t>
            </a:r>
          </a:p>
          <a:p>
            <a:pPr marL="0" indent="0" algn="just">
              <a:buNone/>
            </a:pPr>
            <a:r>
              <a:rPr lang="en-US" sz="2400" dirty="0"/>
              <a:t>Demand forecasting may be undertaken at the following levels:</a:t>
            </a:r>
          </a:p>
          <a:p>
            <a:pPr algn="just"/>
            <a:r>
              <a:rPr lang="en-US" sz="2400" b="1" dirty="0"/>
              <a:t>Micro level: </a:t>
            </a:r>
            <a:r>
              <a:rPr lang="en-US" sz="2400" dirty="0"/>
              <a:t>It refers to the demand forecasting by the individual business firm for estimating the demand for its product.</a:t>
            </a:r>
          </a:p>
          <a:p>
            <a:pPr algn="just"/>
            <a:r>
              <a:rPr lang="en-US" sz="2400" b="1" dirty="0"/>
              <a:t>Industry level: </a:t>
            </a:r>
            <a:r>
              <a:rPr lang="en-US" sz="2400" dirty="0"/>
              <a:t>It refers to the demand estimate for the product of the industry as a whole. It is undertaken by an Industrial or Trade Association. It relates to the market demand as a whole.</a:t>
            </a:r>
          </a:p>
          <a:p>
            <a:pPr algn="just"/>
            <a:r>
              <a:rPr lang="en-US" sz="2400" b="1" dirty="0"/>
              <a:t>Macro level: </a:t>
            </a:r>
            <a:r>
              <a:rPr lang="en-US" sz="2400" dirty="0"/>
              <a:t>It refers to the aggregate demand for the industrial output by the nation as a whole. It is based on the national income or aggregate expenditure of the country. Country’s consumption function provides an estimate for the demand forecasting at macro level.</a:t>
            </a:r>
            <a:endParaRPr sz="24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3AD7C-A175-4F9F-9EFB-1F3BD96D4A0F}"/>
              </a:ext>
            </a:extLst>
          </p:cNvPr>
          <p:cNvSpPr>
            <a:spLocks noGrp="1"/>
          </p:cNvSpPr>
          <p:nvPr>
            <p:ph type="title"/>
          </p:nvPr>
        </p:nvSpPr>
        <p:spPr>
          <a:xfrm>
            <a:off x="0" y="0"/>
            <a:ext cx="9144000" cy="1143000"/>
          </a:xfrm>
        </p:spPr>
        <p:txBody>
          <a:bodyPr>
            <a:normAutofit fontScale="90000"/>
          </a:bodyPr>
          <a:lstStyle/>
          <a:p>
            <a:r>
              <a:rPr lang="en-US" b="1" u="sng" dirty="0">
                <a:latin typeface="Arial Narrow" panose="020B0606020202030204" pitchFamily="34" charset="0"/>
              </a:rPr>
              <a:t>SIGNIFICANCE OF DEMAND FORECASTING</a:t>
            </a:r>
          </a:p>
        </p:txBody>
      </p:sp>
      <p:sp>
        <p:nvSpPr>
          <p:cNvPr id="3" name="Content Placeholder 2">
            <a:extLst>
              <a:ext uri="{FF2B5EF4-FFF2-40B4-BE49-F238E27FC236}">
                <a16:creationId xmlns:a16="http://schemas.microsoft.com/office/drawing/2014/main" id="{7C754132-AB25-4B4E-8B13-C0EB0CAF7D1E}"/>
              </a:ext>
            </a:extLst>
          </p:cNvPr>
          <p:cNvSpPr>
            <a:spLocks noGrp="1"/>
          </p:cNvSpPr>
          <p:nvPr>
            <p:ph idx="1"/>
          </p:nvPr>
        </p:nvSpPr>
        <p:spPr>
          <a:xfrm>
            <a:off x="0" y="1076325"/>
            <a:ext cx="9144000" cy="5781675"/>
          </a:xfrm>
        </p:spPr>
        <p:txBody>
          <a:bodyPr>
            <a:normAutofit/>
          </a:bodyPr>
          <a:lstStyle/>
          <a:p>
            <a:pPr marL="0" indent="0" algn="just">
              <a:buNone/>
            </a:pPr>
            <a:r>
              <a:rPr lang="en-US" sz="2500" dirty="0"/>
              <a:t>Demand forecasting is very essential in the course of business decision-making. Its significance may be traced as under:</a:t>
            </a:r>
          </a:p>
          <a:p>
            <a:pPr algn="just"/>
            <a:r>
              <a:rPr lang="en-US" sz="2500" b="1" dirty="0"/>
              <a:t>Production Planning: </a:t>
            </a:r>
            <a:r>
              <a:rPr lang="en-US" sz="2500" dirty="0"/>
              <a:t>Demand forecasting is a prerequisite for the production planning of a business firm. Expansion of output of the firm should be based on the estimates of likely demand, otherwise there may be overproduction and consequent losses may have to be faced.</a:t>
            </a:r>
          </a:p>
          <a:p>
            <a:pPr algn="just"/>
            <a:r>
              <a:rPr lang="en-US" sz="2500" b="1" dirty="0"/>
              <a:t>Sales Forecasting: </a:t>
            </a:r>
            <a:r>
              <a:rPr lang="en-US" sz="2500" dirty="0"/>
              <a:t>Sales forecasting is based on the demand forecasting. Promotional efforts of the firm should be based on sales forecasting.</a:t>
            </a:r>
          </a:p>
          <a:p>
            <a:pPr algn="just"/>
            <a:r>
              <a:rPr lang="en-US" sz="2500" b="1" dirty="0"/>
              <a:t>Control of Business: </a:t>
            </a:r>
            <a:r>
              <a:rPr lang="en-US" sz="2500" dirty="0"/>
              <a:t>For controlling the business on a sound footing, it is essential to have a well conceived budgeting of costs and profits that is based on the forecast of annual demand/sales and prices.</a:t>
            </a:r>
          </a:p>
        </p:txBody>
      </p:sp>
    </p:spTree>
    <p:extLst>
      <p:ext uri="{BB962C8B-B14F-4D97-AF65-F5344CB8AC3E}">
        <p14:creationId xmlns:p14="http://schemas.microsoft.com/office/powerpoint/2010/main" val="225819903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122CE9-E32D-4FC2-9B98-74A74D42909B}"/>
              </a:ext>
            </a:extLst>
          </p:cNvPr>
          <p:cNvSpPr>
            <a:spLocks noGrp="1"/>
          </p:cNvSpPr>
          <p:nvPr>
            <p:ph idx="1"/>
          </p:nvPr>
        </p:nvSpPr>
        <p:spPr>
          <a:xfrm>
            <a:off x="0" y="57150"/>
            <a:ext cx="9144000" cy="6800850"/>
          </a:xfrm>
        </p:spPr>
        <p:txBody>
          <a:bodyPr>
            <a:normAutofit fontScale="77500" lnSpcReduction="20000"/>
          </a:bodyPr>
          <a:lstStyle/>
          <a:p>
            <a:pPr algn="just"/>
            <a:r>
              <a:rPr lang="en-US" b="1" dirty="0"/>
              <a:t>Inventory Control: </a:t>
            </a:r>
            <a:r>
              <a:rPr lang="en-US" dirty="0"/>
              <a:t>A satisfactory control of business inventories, raw materials, intermediate goods, semi-finished product, finished product, spare parts, etc., requires satisfactory estimates of the future requirements which can be traced through demand forecasting.</a:t>
            </a:r>
          </a:p>
          <a:p>
            <a:pPr algn="just"/>
            <a:r>
              <a:rPr lang="en-US" b="1" dirty="0"/>
              <a:t>Growth and Long-term Investment </a:t>
            </a:r>
            <a:r>
              <a:rPr lang="en-US" b="1" dirty="0" err="1"/>
              <a:t>Programmes</a:t>
            </a:r>
            <a:r>
              <a:rPr lang="en-US" b="1" dirty="0"/>
              <a:t>: </a:t>
            </a:r>
            <a:r>
              <a:rPr lang="en-US" dirty="0"/>
              <a:t>Demand forecasting is necessary for determining the growth rate of the firm and its long-term investment </a:t>
            </a:r>
            <a:r>
              <a:rPr lang="en-US" dirty="0" err="1"/>
              <a:t>programmes</a:t>
            </a:r>
            <a:r>
              <a:rPr lang="en-US" dirty="0"/>
              <a:t> and planning.</a:t>
            </a:r>
          </a:p>
          <a:p>
            <a:pPr algn="just"/>
            <a:r>
              <a:rPr lang="en-US" b="1" dirty="0"/>
              <a:t>Stability: </a:t>
            </a:r>
            <a:r>
              <a:rPr lang="en-US" dirty="0"/>
              <a:t>Stability in production and employment over a period of time can be made effective by the management in the light of the suitable forecasting about market demand and other business variables and smoothening of the business operations through counter-cyclical and seasonally adjusted business </a:t>
            </a:r>
            <a:r>
              <a:rPr lang="en-US" dirty="0" err="1"/>
              <a:t>programmes</a:t>
            </a:r>
            <a:r>
              <a:rPr lang="en-US" dirty="0"/>
              <a:t>.</a:t>
            </a:r>
          </a:p>
          <a:p>
            <a:pPr algn="just"/>
            <a:r>
              <a:rPr lang="en-US" b="1" dirty="0"/>
              <a:t>Economic Planning and Policy-Making: </a:t>
            </a:r>
            <a:r>
              <a:rPr lang="en-US" dirty="0"/>
              <a:t>Demand forecasting at macro level for the nation as a whole is of a great help to the planners and policy-makers for a better planning and rational allocation of the country’s productional resources. The government can determine its import and export policies in view of the long-term demand forecasting for various goods in the country.</a:t>
            </a:r>
          </a:p>
        </p:txBody>
      </p:sp>
    </p:spTree>
    <p:extLst>
      <p:ext uri="{BB962C8B-B14F-4D97-AF65-F5344CB8AC3E}">
        <p14:creationId xmlns:p14="http://schemas.microsoft.com/office/powerpoint/2010/main" val="367380473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931BB30-5089-441A-A213-109DABD08B39}"/>
              </a:ext>
            </a:extLst>
          </p:cNvPr>
          <p:cNvSpPr>
            <a:spLocks noGrp="1"/>
          </p:cNvSpPr>
          <p:nvPr>
            <p:ph type="subTitle" idx="1"/>
          </p:nvPr>
        </p:nvSpPr>
        <p:spPr>
          <a:xfrm>
            <a:off x="1371600" y="3867150"/>
            <a:ext cx="6400800" cy="1771650"/>
          </a:xfrm>
        </p:spPr>
        <p:txBody>
          <a:bodyPr/>
          <a:lstStyle/>
          <a:p>
            <a:endParaRPr lang="en-US"/>
          </a:p>
        </p:txBody>
      </p:sp>
      <p:pic>
        <p:nvPicPr>
          <p:cNvPr id="6" name="Picture 5">
            <a:extLst>
              <a:ext uri="{FF2B5EF4-FFF2-40B4-BE49-F238E27FC236}">
                <a16:creationId xmlns:a16="http://schemas.microsoft.com/office/drawing/2014/main" id="{484CCD02-34B8-4D8C-8218-DB42AF86453B}"/>
              </a:ext>
            </a:extLst>
          </p:cNvPr>
          <p:cNvPicPr>
            <a:picLocks noChangeAspect="1"/>
          </p:cNvPicPr>
          <p:nvPr/>
        </p:nvPicPr>
        <p:blipFill>
          <a:blip r:embed="rId2"/>
          <a:stretch>
            <a:fillRect/>
          </a:stretch>
        </p:blipFill>
        <p:spPr>
          <a:xfrm>
            <a:off x="0" y="-74542"/>
            <a:ext cx="9144000" cy="6932542"/>
          </a:xfrm>
          <a:prstGeom prst="rect">
            <a:avLst/>
          </a:prstGeom>
        </p:spPr>
      </p:pic>
    </p:spTree>
    <p:extLst>
      <p:ext uri="{BB962C8B-B14F-4D97-AF65-F5344CB8AC3E}">
        <p14:creationId xmlns:p14="http://schemas.microsoft.com/office/powerpoint/2010/main" val="319420525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6988"/>
            <a:ext cx="9144000" cy="534987"/>
          </a:xfrm>
        </p:spPr>
        <p:txBody>
          <a:bodyPr>
            <a:normAutofit fontScale="90000"/>
          </a:bodyPr>
          <a:lstStyle/>
          <a:p>
            <a:r>
              <a:rPr b="1" u="sng" dirty="0">
                <a:latin typeface="+mn-lt"/>
              </a:rPr>
              <a:t>Qualitative Methods of Forecasting</a:t>
            </a:r>
          </a:p>
        </p:txBody>
      </p:sp>
      <p:sp>
        <p:nvSpPr>
          <p:cNvPr id="3" name="Content Placeholder 2"/>
          <p:cNvSpPr>
            <a:spLocks noGrp="1"/>
          </p:cNvSpPr>
          <p:nvPr>
            <p:ph idx="1"/>
          </p:nvPr>
        </p:nvSpPr>
        <p:spPr>
          <a:xfrm>
            <a:off x="0" y="695325"/>
            <a:ext cx="9144000" cy="6162675"/>
          </a:xfrm>
        </p:spPr>
        <p:txBody>
          <a:bodyPr>
            <a:normAutofit lnSpcReduction="10000"/>
          </a:bodyPr>
          <a:lstStyle/>
          <a:p>
            <a:pPr marL="0" indent="0" algn="just">
              <a:buNone/>
            </a:pPr>
            <a:r>
              <a:rPr lang="en-US" sz="2200" dirty="0"/>
              <a:t>These methods rely on expert opinions, surveys, and market research to predict future demand, especially when historical data is limited or unreliable.</a:t>
            </a:r>
          </a:p>
          <a:p>
            <a:pPr marL="0" indent="0" algn="just">
              <a:buNone/>
            </a:pPr>
            <a:r>
              <a:rPr lang="en-US" sz="2400" b="1" dirty="0"/>
              <a:t>1. Panel Consensus: </a:t>
            </a:r>
            <a:r>
              <a:rPr lang="en-US" sz="2400" dirty="0"/>
              <a:t>The Panel Consensus method involves gathering a group of experts, often from different departments within a company (e.g., marketing, sales, production, finance), to discuss and collectively develop a demand forecast. The experts share their individual insights, assumptions, and knowledge to arrive at a consensus forecast.</a:t>
            </a:r>
          </a:p>
          <a:p>
            <a:pPr marL="0" indent="0" algn="just">
              <a:buNone/>
            </a:pPr>
            <a:r>
              <a:rPr lang="en-US" sz="2400" b="1" dirty="0"/>
              <a:t>2. Delphi Method: </a:t>
            </a:r>
            <a:r>
              <a:rPr lang="en-US" sz="2400" dirty="0"/>
              <a:t>The Delphi Method is a structured communication technique used to obtain a consensus forecast from a panel of experts without bringing them together physically. This method aims to minimize the influence of dominant personalities and groupthink by keeping the experts anonymous and facilitating iterative feedback.</a:t>
            </a:r>
          </a:p>
          <a:p>
            <a:pPr marL="0" indent="0" algn="just">
              <a:buNone/>
            </a:pPr>
            <a:r>
              <a:rPr lang="en-US" sz="2400" b="1" dirty="0"/>
              <a:t>3. Salesforce Composite: </a:t>
            </a:r>
            <a:r>
              <a:rPr lang="en-US" sz="2400" dirty="0"/>
              <a:t>The Salesforce Composite method relies on the collective knowledge and insights of the sales force to forecast demand. Sales representatives are closest to the customers and have firsthand knowledge of their needs, preferences, and purchasing intentions.</a:t>
            </a:r>
          </a:p>
          <a:p>
            <a:pPr marL="0" indent="0" algn="just">
              <a:buNone/>
            </a:pPr>
            <a:endParaRPr lang="en-US" sz="2200" dirty="0"/>
          </a:p>
          <a:p>
            <a:pPr marL="0" indent="0" algn="just">
              <a:buNone/>
            </a:pPr>
            <a:endParaRPr sz="22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F80C7F-7359-4DF0-A241-C522C2F726D6}"/>
              </a:ext>
            </a:extLst>
          </p:cNvPr>
          <p:cNvSpPr>
            <a:spLocks noGrp="1"/>
          </p:cNvSpPr>
          <p:nvPr>
            <p:ph idx="1"/>
          </p:nvPr>
        </p:nvSpPr>
        <p:spPr>
          <a:xfrm>
            <a:off x="85725" y="76200"/>
            <a:ext cx="8905875" cy="6610350"/>
          </a:xfrm>
        </p:spPr>
        <p:txBody>
          <a:bodyPr>
            <a:normAutofit/>
          </a:bodyPr>
          <a:lstStyle/>
          <a:p>
            <a:pPr marL="0" indent="0" algn="just">
              <a:buNone/>
            </a:pPr>
            <a:r>
              <a:rPr lang="en-US" sz="2200" b="1" dirty="0"/>
              <a:t>4. Buyers Expectation Survey: </a:t>
            </a:r>
            <a:r>
              <a:rPr lang="en-US" sz="2200" dirty="0"/>
              <a:t>The Buyers' Expectation Survey method involves directly surveying potential customers to gauge their future purchasing intentions. This method provides valuable insights into customer demand and can help companies to anticipate changes in the market.</a:t>
            </a:r>
          </a:p>
          <a:p>
            <a:pPr marL="0" indent="0" algn="just">
              <a:buNone/>
            </a:pPr>
            <a:r>
              <a:rPr lang="en-US" sz="2400" b="1" dirty="0"/>
              <a:t>5. Market Research: </a:t>
            </a:r>
            <a:r>
              <a:rPr lang="en-US" sz="2400" dirty="0"/>
              <a:t>Market research encompasses a broad range of techniques used to gather information about customers, competitors, and the overall market environment. This information can be used to develop demand forecasts and make informed business decisions.</a:t>
            </a:r>
          </a:p>
          <a:p>
            <a:pPr marL="0" indent="0" algn="just">
              <a:buNone/>
            </a:pPr>
            <a:endParaRPr lang="en-US" sz="2200" dirty="0"/>
          </a:p>
          <a:p>
            <a:pPr marL="0" indent="0" algn="just">
              <a:buNone/>
            </a:pPr>
            <a:endParaRPr lang="en-US" sz="2200" b="1" dirty="0"/>
          </a:p>
        </p:txBody>
      </p:sp>
    </p:spTree>
    <p:extLst>
      <p:ext uri="{BB962C8B-B14F-4D97-AF65-F5344CB8AC3E}">
        <p14:creationId xmlns:p14="http://schemas.microsoft.com/office/powerpoint/2010/main" val="411221914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9144000" cy="666750"/>
          </a:xfrm>
        </p:spPr>
        <p:txBody>
          <a:bodyPr>
            <a:normAutofit fontScale="90000"/>
          </a:bodyPr>
          <a:lstStyle/>
          <a:p>
            <a:r>
              <a:rPr b="1" u="sng" dirty="0">
                <a:latin typeface="+mn-lt"/>
              </a:rPr>
              <a:t>Quantitative Methods of Forecasting</a:t>
            </a:r>
          </a:p>
        </p:txBody>
      </p:sp>
      <p:sp>
        <p:nvSpPr>
          <p:cNvPr id="3" name="Content Placeholder 2"/>
          <p:cNvSpPr>
            <a:spLocks noGrp="1"/>
          </p:cNvSpPr>
          <p:nvPr>
            <p:ph idx="1"/>
          </p:nvPr>
        </p:nvSpPr>
        <p:spPr>
          <a:xfrm>
            <a:off x="0" y="781051"/>
            <a:ext cx="9144000" cy="6076950"/>
          </a:xfrm>
        </p:spPr>
        <p:txBody>
          <a:bodyPr>
            <a:normAutofit fontScale="92500"/>
          </a:bodyPr>
          <a:lstStyle/>
          <a:p>
            <a:pPr marL="0" indent="0" algn="just">
              <a:buNone/>
            </a:pPr>
            <a:r>
              <a:rPr lang="en-US" sz="2200" b="1" dirty="0"/>
              <a:t>Time Series Analysis: </a:t>
            </a:r>
            <a:r>
              <a:rPr lang="en-US" sz="2200" dirty="0"/>
              <a:t>Time series analysis is a statistical method used to predict future values based on historical data points collected over time. It assumes that past patterns and trends can be extrapolated to forecast future demand. This approach is particularly useful when historical data is readily available and when the underlying factors influencing demand are relatively stable.</a:t>
            </a:r>
          </a:p>
          <a:p>
            <a:pPr marL="0" indent="0" algn="just">
              <a:buNone/>
            </a:pPr>
            <a:r>
              <a:rPr lang="en-US" sz="2200" b="1" dirty="0"/>
              <a:t>Techniques:</a:t>
            </a:r>
          </a:p>
          <a:p>
            <a:pPr marL="457200" indent="-457200" algn="just">
              <a:buFont typeface="+mj-lt"/>
              <a:buAutoNum type="arabicPeriod"/>
            </a:pPr>
            <a:r>
              <a:rPr lang="en-US" sz="2200" b="1" dirty="0"/>
              <a:t>Trend Projection Method</a:t>
            </a:r>
          </a:p>
          <a:p>
            <a:pPr marL="514350" indent="-514350" algn="just">
              <a:buFont typeface="+mj-lt"/>
              <a:buAutoNum type="arabicPeriod"/>
            </a:pPr>
            <a:r>
              <a:rPr lang="en-US" sz="2200" b="1" dirty="0"/>
              <a:t>Moving Averages</a:t>
            </a:r>
            <a:endParaRPr lang="en-US" sz="2200" dirty="0"/>
          </a:p>
          <a:p>
            <a:pPr marL="514350" indent="-514350" algn="just">
              <a:buFont typeface="+mj-lt"/>
              <a:buAutoNum type="arabicPeriod"/>
            </a:pPr>
            <a:r>
              <a:rPr lang="en-US" sz="2200" b="1" dirty="0"/>
              <a:t>Exponential Smoothing</a:t>
            </a:r>
            <a:endParaRPr lang="en-US" sz="2200" dirty="0"/>
          </a:p>
          <a:p>
            <a:pPr marL="0" indent="0" algn="just">
              <a:buNone/>
            </a:pPr>
            <a:r>
              <a:rPr lang="en-US" sz="2200" b="1" dirty="0"/>
              <a:t>Causal Models: </a:t>
            </a:r>
            <a:r>
              <a:rPr lang="en-US" sz="2200" dirty="0"/>
              <a:t>Causal models also known as explanatory models, attempt to identify and quantify the relationships between demand and other variables that influence it. These models aim to explain why demand changes and use these relationships to forecast future demand.</a:t>
            </a:r>
          </a:p>
          <a:p>
            <a:pPr marL="0" indent="0" algn="just">
              <a:buNone/>
            </a:pPr>
            <a:r>
              <a:rPr lang="en-US" sz="2200" b="1" dirty="0"/>
              <a:t>Techniques:</a:t>
            </a:r>
          </a:p>
          <a:p>
            <a:pPr marL="457200" indent="-457200" algn="just">
              <a:buFont typeface="+mj-lt"/>
              <a:buAutoNum type="arabicPeriod"/>
            </a:pPr>
            <a:r>
              <a:rPr lang="en-US" sz="2400" b="1" dirty="0"/>
              <a:t>Regression Analysis</a:t>
            </a:r>
            <a:endParaRPr lang="en-US" sz="2400" dirty="0"/>
          </a:p>
          <a:p>
            <a:pPr marL="457200" indent="-457200" algn="just">
              <a:buFont typeface="+mj-lt"/>
              <a:buAutoNum type="arabicPeriod"/>
            </a:pPr>
            <a:r>
              <a:rPr lang="en-US" sz="2400" b="1" dirty="0"/>
              <a:t>Econometric Models</a:t>
            </a:r>
            <a:endParaRPr lang="en-US" sz="2400" dirty="0"/>
          </a:p>
          <a:p>
            <a:pPr marL="457200" indent="-457200" algn="just">
              <a:buFont typeface="+mj-lt"/>
              <a:buAutoNum type="arabicPeriod"/>
            </a:pPr>
            <a:r>
              <a:rPr lang="en-US" sz="2400" b="1" dirty="0"/>
              <a:t>Input-Output Models</a:t>
            </a:r>
            <a:endParaRPr lang="en-US" sz="2400" dirty="0"/>
          </a:p>
          <a:p>
            <a:pPr marL="0" indent="0" algn="just">
              <a:buNone/>
            </a:pPr>
            <a:endParaRPr lang="en-US" sz="2200" dirty="0"/>
          </a:p>
          <a:p>
            <a:pPr marL="0" indent="0" algn="just">
              <a:buNone/>
            </a:pPr>
            <a:endParaRPr lang="en-US" sz="2200" dirty="0"/>
          </a:p>
          <a:p>
            <a:pPr marL="0" indent="0" algn="just">
              <a:buNone/>
            </a:pPr>
            <a:endParaRPr lang="en-US" sz="2200" dirty="0"/>
          </a:p>
          <a:p>
            <a:pPr marL="0" indent="0" algn="just">
              <a:buNone/>
            </a:pPr>
            <a:endParaRPr lang="en-US" sz="2200" dirty="0"/>
          </a:p>
          <a:p>
            <a:pPr marL="0" indent="0" algn="just">
              <a:buNone/>
            </a:pPr>
            <a:endParaRPr lang="en-US" sz="2200" dirty="0"/>
          </a:p>
          <a:p>
            <a:pPr marL="0" indent="0" algn="just">
              <a:buNone/>
            </a:pPr>
            <a:endParaRPr lang="en-US" sz="22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876A4A-5B64-4CE2-89DA-A891C12366A4}"/>
              </a:ext>
            </a:extLst>
          </p:cNvPr>
          <p:cNvSpPr>
            <a:spLocks noGrp="1"/>
          </p:cNvSpPr>
          <p:nvPr>
            <p:ph idx="1"/>
          </p:nvPr>
        </p:nvSpPr>
        <p:spPr>
          <a:xfrm>
            <a:off x="123825" y="466726"/>
            <a:ext cx="8953500" cy="5659438"/>
          </a:xfrm>
        </p:spPr>
        <p:txBody>
          <a:bodyPr anchor="ctr">
            <a:normAutofit/>
          </a:bodyPr>
          <a:lstStyle/>
          <a:p>
            <a:pPr marL="0" indent="0" algn="ctr">
              <a:buNone/>
            </a:pPr>
            <a:r>
              <a:rPr lang="en-US" sz="9600" i="1" u="sng" spc="300" dirty="0">
                <a:solidFill>
                  <a:srgbClr val="92D050"/>
                </a:solidFill>
                <a:effectLst>
                  <a:outerShdw blurRad="38100" dist="38100" dir="2700000" algn="tl">
                    <a:srgbClr val="000000">
                      <a:alpha val="43137"/>
                    </a:srgbClr>
                  </a:outerShdw>
                </a:effectLst>
                <a:latin typeface="Rockwell Extra Bold" panose="02060903040505020403" pitchFamily="18" charset="0"/>
              </a:rPr>
              <a:t>Thank You</a:t>
            </a:r>
          </a:p>
        </p:txBody>
      </p:sp>
    </p:spTree>
    <p:extLst>
      <p:ext uri="{BB962C8B-B14F-4D97-AF65-F5344CB8AC3E}">
        <p14:creationId xmlns:p14="http://schemas.microsoft.com/office/powerpoint/2010/main" val="27190014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2796</TotalTime>
  <Words>4706</Words>
  <Application>Microsoft Office PowerPoint</Application>
  <PresentationFormat>On-screen Show (4:3)</PresentationFormat>
  <Paragraphs>213</Paragraphs>
  <Slides>61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61</vt:i4>
      </vt:variant>
    </vt:vector>
  </HeadingPairs>
  <TitlesOfParts>
    <vt:vector size="70" baseType="lpstr">
      <vt:lpstr>Aharoni</vt:lpstr>
      <vt:lpstr>Algerian</vt:lpstr>
      <vt:lpstr>Arial</vt:lpstr>
      <vt:lpstr>Arial Narrow</vt:lpstr>
      <vt:lpstr>Calibri</vt:lpstr>
      <vt:lpstr>Goudy Stout</vt:lpstr>
      <vt:lpstr>Rockwell Extra Bold</vt:lpstr>
      <vt:lpstr>Wingdings</vt:lpstr>
      <vt:lpstr>Office Theme</vt:lpstr>
      <vt:lpstr>PowerPoint Presentation</vt:lpstr>
      <vt:lpstr>PowerPoint Presentation</vt:lpstr>
      <vt:lpstr>Demand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Demand Function</vt:lpstr>
      <vt:lpstr>PowerPoint Presentation</vt:lpstr>
      <vt:lpstr>Law of Demand</vt:lpstr>
      <vt:lpstr>PowerPoint Presentation</vt:lpstr>
      <vt:lpstr>PowerPoint Presentation</vt:lpstr>
      <vt:lpstr>PowerPoint Presentation</vt:lpstr>
      <vt:lpstr>PowerPoint Presentation</vt:lpstr>
      <vt:lpstr>Assumptions</vt:lpstr>
      <vt:lpstr>PowerPoint Presentation</vt:lpstr>
      <vt:lpstr>PowerPoint Presentation</vt:lpstr>
      <vt:lpstr>Exceptions to the Law of Demand</vt:lpstr>
      <vt:lpstr>PowerPoint Presentation</vt:lpstr>
      <vt:lpstr>PowerPoint Presentation</vt:lpstr>
      <vt:lpstr>Elasticity of Demand</vt:lpstr>
      <vt:lpstr>PowerPoint Presentation</vt:lpstr>
      <vt:lpstr>1.Price Elasticity of Demand</vt:lpstr>
      <vt:lpstr>PowerPoint Presentation</vt:lpstr>
      <vt:lpstr>PowerPoint Presentation</vt:lpstr>
      <vt:lpstr>PowerPoint Presentation</vt:lpstr>
      <vt:lpstr>PowerPoint Presentation</vt:lpstr>
      <vt:lpstr>FACTORS INFLUENCING ELASTICITY OF DEMAND</vt:lpstr>
      <vt:lpstr>2.Income Elasticity of Demand</vt:lpstr>
      <vt:lpstr>PowerPoint Presentation</vt:lpstr>
      <vt:lpstr>PowerPoint Presentation</vt:lpstr>
      <vt:lpstr>APPLICATIONS OF INCOME ELASTICITY:</vt:lpstr>
      <vt:lpstr>3.Cross Elasticity of Demand</vt:lpstr>
      <vt:lpstr>PowerPoint Presentation</vt:lpstr>
      <vt:lpstr>5.ADVERTISING OR PROMOTIONAL ELASTICITY OF DEMAND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Assumptions of The Law of Supply </vt:lpstr>
      <vt:lpstr>Exceptions to the Law of Supply</vt:lpstr>
      <vt:lpstr>Elasticity of Supply</vt:lpstr>
      <vt:lpstr>Types of Elasticity of Supply</vt:lpstr>
      <vt:lpstr>PowerPoint Presentation</vt:lpstr>
      <vt:lpstr>Demand Forecasting</vt:lpstr>
      <vt:lpstr>PowerPoint Presentation</vt:lpstr>
      <vt:lpstr>SIGNIFICANCE OF DEMAND FORECASTING</vt:lpstr>
      <vt:lpstr>PowerPoint Presentation</vt:lpstr>
      <vt:lpstr>PowerPoint Presentation</vt:lpstr>
      <vt:lpstr>Qualitative Methods of Forecasting</vt:lpstr>
      <vt:lpstr>PowerPoint Presentation</vt:lpstr>
      <vt:lpstr>Quantitative Methods of Forecasting</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2: Demand Analysis &amp; Demand Forecasting</dc:title>
  <dc:subject/>
  <dc:creator>Deepa Sachin</dc:creator>
  <cp:keywords/>
  <dc:description>generated using python-pptx</dc:description>
  <cp:lastModifiedBy>Administrator</cp:lastModifiedBy>
  <cp:revision>166</cp:revision>
  <dcterms:created xsi:type="dcterms:W3CDTF">2013-01-27T09:14:16Z</dcterms:created>
  <dcterms:modified xsi:type="dcterms:W3CDTF">2025-12-19T04:35:28Z</dcterms:modified>
  <cp:category/>
</cp:coreProperties>
</file>