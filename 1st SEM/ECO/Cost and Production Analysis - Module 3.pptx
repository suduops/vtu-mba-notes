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994" r:id="rId1"/>
  </p:sldMasterIdLst>
  <p:notesMasterIdLst>
    <p:notesMasterId r:id="rId51"/>
  </p:notesMasterIdLst>
  <p:sldIdLst>
    <p:sldId id="256" r:id="rId2"/>
    <p:sldId id="284" r:id="rId3"/>
    <p:sldId id="257" r:id="rId4"/>
    <p:sldId id="285" r:id="rId5"/>
    <p:sldId id="286" r:id="rId6"/>
    <p:sldId id="287" r:id="rId7"/>
    <p:sldId id="288" r:id="rId8"/>
    <p:sldId id="262" r:id="rId9"/>
    <p:sldId id="258" r:id="rId10"/>
    <p:sldId id="259" r:id="rId11"/>
    <p:sldId id="261" r:id="rId12"/>
    <p:sldId id="291" r:id="rId13"/>
    <p:sldId id="289" r:id="rId14"/>
    <p:sldId id="290" r:id="rId15"/>
    <p:sldId id="296" r:id="rId16"/>
    <p:sldId id="267" r:id="rId17"/>
    <p:sldId id="260" r:id="rId18"/>
    <p:sldId id="263" r:id="rId19"/>
    <p:sldId id="264" r:id="rId20"/>
    <p:sldId id="265" r:id="rId21"/>
    <p:sldId id="266" r:id="rId22"/>
    <p:sldId id="292" r:id="rId23"/>
    <p:sldId id="293" r:id="rId24"/>
    <p:sldId id="294" r:id="rId25"/>
    <p:sldId id="268" r:id="rId26"/>
    <p:sldId id="270" r:id="rId27"/>
    <p:sldId id="297" r:id="rId28"/>
    <p:sldId id="298" r:id="rId29"/>
    <p:sldId id="300" r:id="rId30"/>
    <p:sldId id="299" r:id="rId31"/>
    <p:sldId id="271" r:id="rId32"/>
    <p:sldId id="301" r:id="rId33"/>
    <p:sldId id="272" r:id="rId34"/>
    <p:sldId id="273" r:id="rId35"/>
    <p:sldId id="274" r:id="rId36"/>
    <p:sldId id="275" r:id="rId37"/>
    <p:sldId id="276" r:id="rId38"/>
    <p:sldId id="277" r:id="rId39"/>
    <p:sldId id="307" r:id="rId40"/>
    <p:sldId id="278" r:id="rId41"/>
    <p:sldId id="279" r:id="rId42"/>
    <p:sldId id="306" r:id="rId43"/>
    <p:sldId id="280" r:id="rId44"/>
    <p:sldId id="282" r:id="rId45"/>
    <p:sldId id="283" r:id="rId46"/>
    <p:sldId id="302" r:id="rId47"/>
    <p:sldId id="303" r:id="rId48"/>
    <p:sldId id="304" r:id="rId49"/>
    <p:sldId id="305" r:id="rId5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64" autoAdjust="0"/>
    <p:restoredTop sz="94660"/>
  </p:normalViewPr>
  <p:slideViewPr>
    <p:cSldViewPr snapToGrid="0" snapToObjects="1">
      <p:cViewPr varScale="1">
        <p:scale>
          <a:sx n="84" d="100"/>
          <a:sy n="84" d="100"/>
        </p:scale>
        <p:origin x="149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2349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Introduce students to production and cost analysis. Emphasize its role in managerial decision making regarding output levels, pricing, investment and planning.</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51150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that production is not restricted to making goods. Any activity that adds value is production, like banking or transport. Clarify short-run and long-run meaning.</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62425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38704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92264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25813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using factory example where number of workers increases but machines remain fixed.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081069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1839551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81801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plant size fixed in short run; in long run firm can expand factory, increase capital etc.</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92570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30793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45670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Give example of small firm expanding to large factory and consequences on production efficiency.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25374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only as conceptual bridge to move towards producer behaviour.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457824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wage cost, capital cost and firm's financial limitation in choosing inputs.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019625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100967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very large firms may become difficult to manage leading to higher costs.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94588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4333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Give examples: rent, insurance (fixed); raw materials (variable); electricity partly fixed partly variable.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7381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law of diminishing returns influence on cost shapes.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121863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economies of scale reduce cost then diseconomies increase it leading to U shape.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33316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importance in business planning, survival planning, cost control and pricing decisions.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773442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contribution meaning as amount available to cover fixed costs and profit.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387380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working step by step and managerial interpretation.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114960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higher MOS means safer business position.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375188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managers use BEA before taking strategic business decisions.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600937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key learning points in class before ending.</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142567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Encourage students to discuss application of theory in real business situations.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372716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68349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92623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4069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3988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2464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94500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5BCAD085-E8A6-8845-BD4E-CB4CCA059FC4}" type="datetimeFigureOut">
              <a:rPr lang="en-US" smtClean="0"/>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6494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81589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9785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7459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69183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851739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14356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19147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65474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660512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53080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32968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5BCAD085-E8A6-8845-BD4E-CB4CCA059FC4}" type="datetimeFigureOut">
              <a:rPr lang="en-US" smtClean="0"/>
              <a:t>2/10/2026</a:t>
            </a:fld>
            <a:endParaRPr 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79925133"/>
      </p:ext>
    </p:extLst>
  </p:cSld>
  <p:clrMap bg1="lt1" tx1="dk1" bg2="lt2" tx2="dk2" accent1="accent1" accent2="accent2" accent3="accent3" accent4="accent4" accent5="accent5" accent6="accent6" hlink="hlink" folHlink="folHlink"/>
  <p:sldLayoutIdLst>
    <p:sldLayoutId id="2147484995" r:id="rId1"/>
    <p:sldLayoutId id="2147484996" r:id="rId2"/>
    <p:sldLayoutId id="2147484997" r:id="rId3"/>
    <p:sldLayoutId id="2147484998" r:id="rId4"/>
    <p:sldLayoutId id="2147484999" r:id="rId5"/>
    <p:sldLayoutId id="2147485000" r:id="rId6"/>
    <p:sldLayoutId id="2147485001" r:id="rId7"/>
    <p:sldLayoutId id="2147485002" r:id="rId8"/>
    <p:sldLayoutId id="2147485003" r:id="rId9"/>
    <p:sldLayoutId id="2147485004" r:id="rId10"/>
    <p:sldLayoutId id="2147485005" r:id="rId11"/>
    <p:sldLayoutId id="2147485006" r:id="rId12"/>
    <p:sldLayoutId id="2147485007" r:id="rId13"/>
    <p:sldLayoutId id="2147485008" r:id="rId14"/>
    <p:sldLayoutId id="2147485009" r:id="rId15"/>
    <p:sldLayoutId id="2147485010" r:id="rId16"/>
    <p:sldLayoutId id="2147485011" r:id="rId17"/>
    <p:sldLayoutId id="2147485012"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AF8E530-65A5-4226-A88D-D5BA8A9E05A7}"/>
              </a:ext>
            </a:extLst>
          </p:cNvPr>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3A4BA6A-A4E8-4608-8AF4-8B7AAA7E31D9}"/>
              </a:ext>
            </a:extLst>
          </p:cNvPr>
          <p:cNvSpPr>
            <a:spLocks noGrp="1"/>
          </p:cNvSpPr>
          <p:nvPr>
            <p:ph idx="1"/>
          </p:nvPr>
        </p:nvSpPr>
        <p:spPr>
          <a:xfrm>
            <a:off x="0" y="1"/>
            <a:ext cx="9144000" cy="6858000"/>
          </a:xfrm>
        </p:spPr>
        <p:txBody>
          <a:bodyPr>
            <a:noAutofit/>
          </a:bodyPr>
          <a:lstStyle/>
          <a:p>
            <a:pPr algn="just">
              <a:buFont typeface="Wingdings" panose="05000000000000000000" pitchFamily="2" charset="2"/>
              <a:buChar char="Ø"/>
            </a:pPr>
            <a:r>
              <a:rPr lang="en-US" sz="2200" cap="none" dirty="0">
                <a:latin typeface="Arial" panose="020B0604020202020204" pitchFamily="34" charset="0"/>
                <a:cs typeface="Arial" panose="020B0604020202020204" pitchFamily="34" charset="0"/>
              </a:rPr>
              <a:t>Concepts of production</a:t>
            </a:r>
          </a:p>
          <a:p>
            <a:pPr algn="just">
              <a:buFont typeface="Wingdings" panose="05000000000000000000" pitchFamily="2" charset="2"/>
              <a:buChar char="Ø"/>
            </a:pPr>
            <a:r>
              <a:rPr lang="en-US" sz="2200" cap="none" dirty="0">
                <a:latin typeface="Arial" panose="020B0604020202020204" pitchFamily="34" charset="0"/>
                <a:cs typeface="Arial" panose="020B0604020202020204" pitchFamily="34" charset="0"/>
              </a:rPr>
              <a:t>Production function with one variable input - law of variable proportion,</a:t>
            </a:r>
          </a:p>
          <a:p>
            <a:pPr algn="just">
              <a:buFont typeface="Wingdings" panose="05000000000000000000" pitchFamily="2" charset="2"/>
              <a:buChar char="Ø"/>
            </a:pPr>
            <a:r>
              <a:rPr lang="en-US" sz="2200" cap="none" dirty="0">
                <a:latin typeface="Arial" panose="020B0604020202020204" pitchFamily="34" charset="0"/>
                <a:cs typeface="Arial" panose="020B0604020202020204" pitchFamily="34" charset="0"/>
              </a:rPr>
              <a:t>Laws of returns to scale</a:t>
            </a:r>
          </a:p>
          <a:p>
            <a:pPr algn="just">
              <a:buFont typeface="Wingdings" panose="05000000000000000000" pitchFamily="2" charset="2"/>
              <a:buChar char="Ø"/>
            </a:pPr>
            <a:r>
              <a:rPr lang="en-US" sz="2200" cap="none" dirty="0">
                <a:latin typeface="Arial" panose="020B0604020202020204" pitchFamily="34" charset="0"/>
                <a:cs typeface="Arial" panose="020B0604020202020204" pitchFamily="34" charset="0"/>
              </a:rPr>
              <a:t>Indifference curves</a:t>
            </a:r>
          </a:p>
          <a:p>
            <a:pPr algn="just">
              <a:buFont typeface="Wingdings" panose="05000000000000000000" pitchFamily="2" charset="2"/>
              <a:buChar char="Ø"/>
            </a:pPr>
            <a:r>
              <a:rPr lang="en-US" sz="2200" cap="none" dirty="0">
                <a:latin typeface="Arial" panose="020B0604020202020204" pitchFamily="34" charset="0"/>
                <a:cs typeface="Arial" panose="020B0604020202020204" pitchFamily="34" charset="0"/>
              </a:rPr>
              <a:t>Iso-quants &amp; iso-cost line</a:t>
            </a:r>
          </a:p>
          <a:p>
            <a:pPr algn="just">
              <a:buFont typeface="Wingdings" panose="05000000000000000000" pitchFamily="2" charset="2"/>
              <a:buChar char="Ø"/>
            </a:pPr>
            <a:r>
              <a:rPr lang="en-US" sz="2200" cap="none" dirty="0">
                <a:latin typeface="Arial" panose="020B0604020202020204" pitchFamily="34" charset="0"/>
                <a:cs typeface="Arial" panose="020B0604020202020204" pitchFamily="34" charset="0"/>
              </a:rPr>
              <a:t>Economies of scale &amp; diseconomies of scale.</a:t>
            </a:r>
          </a:p>
          <a:p>
            <a:pPr algn="just">
              <a:buFont typeface="Wingdings" panose="05000000000000000000" pitchFamily="2" charset="2"/>
              <a:buChar char="Ø"/>
            </a:pPr>
            <a:r>
              <a:rPr lang="en-US" sz="2200" cap="none" dirty="0">
                <a:latin typeface="Arial" panose="020B0604020202020204" pitchFamily="34" charset="0"/>
                <a:cs typeface="Arial" panose="020B0604020202020204" pitchFamily="34" charset="0"/>
              </a:rPr>
              <a:t>Types of cost</a:t>
            </a:r>
          </a:p>
          <a:p>
            <a:pPr algn="just">
              <a:buFont typeface="Wingdings" panose="05000000000000000000" pitchFamily="2" charset="2"/>
              <a:buChar char="Ø"/>
            </a:pPr>
            <a:r>
              <a:rPr lang="en-US" sz="2200" cap="none" dirty="0">
                <a:latin typeface="Arial" panose="020B0604020202020204" pitchFamily="34" charset="0"/>
                <a:cs typeface="Arial" panose="020B0604020202020204" pitchFamily="34" charset="0"/>
              </a:rPr>
              <a:t>Cost curves</a:t>
            </a:r>
          </a:p>
          <a:p>
            <a:pPr algn="just">
              <a:buFont typeface="Wingdings" panose="05000000000000000000" pitchFamily="2" charset="2"/>
              <a:buChar char="Ø"/>
            </a:pPr>
            <a:r>
              <a:rPr lang="en-US" sz="2200" cap="none" dirty="0">
                <a:latin typeface="Arial" panose="020B0604020202020204" pitchFamily="34" charset="0"/>
                <a:cs typeface="Arial" panose="020B0604020202020204" pitchFamily="34" charset="0"/>
              </a:rPr>
              <a:t>Cost – output relationship in the short run and in the long run</a:t>
            </a:r>
          </a:p>
          <a:p>
            <a:pPr algn="just">
              <a:buFont typeface="Wingdings" panose="05000000000000000000" pitchFamily="2" charset="2"/>
              <a:buChar char="Ø"/>
            </a:pPr>
            <a:r>
              <a:rPr lang="en-US" sz="2200" cap="none" dirty="0">
                <a:latin typeface="Arial" panose="020B0604020202020204" pitchFamily="34" charset="0"/>
                <a:cs typeface="Arial" panose="020B0604020202020204" pitchFamily="34" charset="0"/>
              </a:rPr>
              <a:t>Long- run average cost ( lac)curve</a:t>
            </a:r>
          </a:p>
          <a:p>
            <a:pPr algn="just">
              <a:buFont typeface="Wingdings" panose="05000000000000000000" pitchFamily="2" charset="2"/>
              <a:buChar char="Ø"/>
            </a:pPr>
            <a:r>
              <a:rPr lang="en-US" sz="2200" b="1" cap="none" dirty="0">
                <a:latin typeface="Arial" panose="020B0604020202020204" pitchFamily="34" charset="0"/>
                <a:cs typeface="Arial" panose="020B0604020202020204" pitchFamily="34" charset="0"/>
              </a:rPr>
              <a:t>Break even analysis</a:t>
            </a:r>
            <a:r>
              <a:rPr lang="en-US" sz="2200" cap="none" dirty="0">
                <a:latin typeface="Arial" panose="020B0604020202020204" pitchFamily="34" charset="0"/>
                <a:cs typeface="Arial" panose="020B0604020202020204" pitchFamily="34" charset="0"/>
              </a:rPr>
              <a:t>–meaning, assumptions, determination of BEA, limitations, margin of safety, uses of BEA in managerial decisions</a:t>
            </a:r>
          </a:p>
        </p:txBody>
      </p:sp>
    </p:spTree>
    <p:extLst>
      <p:ext uri="{BB962C8B-B14F-4D97-AF65-F5344CB8AC3E}">
        <p14:creationId xmlns:p14="http://schemas.microsoft.com/office/powerpoint/2010/main" val="163898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59" y="45182"/>
            <a:ext cx="9144000" cy="1293028"/>
          </a:xfrm>
        </p:spPr>
        <p:txBody>
          <a:bodyPr>
            <a:normAutofit/>
          </a:bodyPr>
          <a:lstStyle/>
          <a:p>
            <a:pPr algn="ctr"/>
            <a:r>
              <a:rPr sz="8000" b="1" i="1" u="sng" dirty="0">
                <a:solidFill>
                  <a:schemeClr val="accent3">
                    <a:lumMod val="75000"/>
                  </a:schemeClr>
                </a:solidFill>
                <a:effectLst>
                  <a:outerShdw blurRad="38100" dist="38100" dir="2700000" algn="tl">
                    <a:srgbClr val="000000">
                      <a:alpha val="43137"/>
                    </a:srgbClr>
                  </a:outerShdw>
                </a:effectLst>
                <a:latin typeface="Bodoni MT Black" panose="02070A03080606020203" pitchFamily="18" charset="0"/>
                <a:cs typeface="Arial" panose="020B0604020202020204" pitchFamily="34" charset="0"/>
              </a:rPr>
              <a:t>Production</a:t>
            </a:r>
          </a:p>
        </p:txBody>
      </p:sp>
      <p:sp>
        <p:nvSpPr>
          <p:cNvPr id="3" name="Content Placeholder 2"/>
          <p:cNvSpPr>
            <a:spLocks noGrp="1"/>
          </p:cNvSpPr>
          <p:nvPr>
            <p:ph idx="1"/>
          </p:nvPr>
        </p:nvSpPr>
        <p:spPr>
          <a:xfrm>
            <a:off x="0" y="1330505"/>
            <a:ext cx="9144000" cy="5482313"/>
          </a:xfrm>
        </p:spPr>
        <p:txBody>
          <a:bodyPr>
            <a:normAutofit/>
          </a:bodyPr>
          <a:lstStyle/>
          <a:p>
            <a:pPr marL="0" indent="0" algn="just">
              <a:buNone/>
            </a:pPr>
            <a:r>
              <a:rPr lang="en-US" sz="2400" b="1" cap="none" dirty="0">
                <a:latin typeface="Arial" panose="020B0604020202020204" pitchFamily="34" charset="0"/>
                <a:cs typeface="Arial" panose="020B0604020202020204" pitchFamily="34" charset="0"/>
              </a:rPr>
              <a:t>Production</a:t>
            </a:r>
            <a:r>
              <a:rPr lang="en-US" sz="2400" cap="none" dirty="0">
                <a:latin typeface="Arial" panose="020B0604020202020204" pitchFamily="34" charset="0"/>
                <a:cs typeface="Arial" panose="020B0604020202020204" pitchFamily="34" charset="0"/>
              </a:rPr>
              <a:t> refers to the process of converting inputs into outputs (goods or services) that satisfy human wants. </a:t>
            </a:r>
            <a:r>
              <a:rPr lang="en-US" sz="2200" cap="none" dirty="0">
                <a:latin typeface="Arial" panose="020B0604020202020204" pitchFamily="34" charset="0"/>
                <a:cs typeface="Arial" panose="020B0604020202020204" pitchFamily="34" charset="0"/>
              </a:rPr>
              <a:t>Production implies provision of goods and services, often described as ‘commodities’. It is the act of converting or transforming input into output. </a:t>
            </a:r>
          </a:p>
          <a:p>
            <a:pPr marL="0" indent="0" algn="just">
              <a:buNone/>
            </a:pPr>
            <a:r>
              <a:rPr lang="en-US" sz="2200" cap="none" dirty="0">
                <a:latin typeface="Arial" panose="020B0604020202020204" pitchFamily="34" charset="0"/>
                <a:cs typeface="Arial" panose="020B0604020202020204" pitchFamily="34" charset="0"/>
              </a:rPr>
              <a:t>A production function refers to the functional relationship, under the given technology, between physical rates of input and output of a firm, per unit of time.</a:t>
            </a:r>
          </a:p>
          <a:p>
            <a:pPr marL="0" indent="0" algn="just">
              <a:buNone/>
            </a:pPr>
            <a:r>
              <a:rPr lang="en-US" sz="2200" cap="none" dirty="0">
                <a:latin typeface="Arial" panose="020B0604020202020204" pitchFamily="34" charset="0"/>
                <a:cs typeface="Arial" panose="020B0604020202020204" pitchFamily="34" charset="0"/>
              </a:rPr>
              <a:t>According to the Stigler(1966), “the production function is the name given to the relationship between rates of input of productive services and the rate of output of product. It is the economist’s summary of technical knowledge”</a:t>
            </a:r>
          </a:p>
          <a:p>
            <a:pPr marL="0" indent="0" algn="just">
              <a:buNone/>
            </a:pPr>
            <a:endParaRPr lang="en-US" sz="2200" cap="none" dirty="0">
              <a:latin typeface="Arial" panose="020B0604020202020204" pitchFamily="34" charset="0"/>
              <a:cs typeface="Arial" panose="020B0604020202020204" pitchFamily="34" charset="0"/>
            </a:endParaRPr>
          </a:p>
          <a:p>
            <a:pPr marL="0" indent="0" algn="just">
              <a:buNone/>
            </a:pPr>
            <a:endParaRPr lang="en-US" sz="2200" cap="none"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5204BB2-DB44-4017-88F6-3684FCBA67CC}"/>
              </a:ext>
            </a:extLst>
          </p:cNvPr>
          <p:cNvSpPr>
            <a:spLocks noGrp="1"/>
          </p:cNvSpPr>
          <p:nvPr>
            <p:ph idx="1"/>
          </p:nvPr>
        </p:nvSpPr>
        <p:spPr>
          <a:xfrm>
            <a:off x="0" y="0"/>
            <a:ext cx="9143999" cy="6858000"/>
          </a:xfrm>
        </p:spPr>
        <p:txBody>
          <a:bodyPr>
            <a:normAutofit/>
          </a:bodyPr>
          <a:lstStyle/>
          <a:p>
            <a:pPr marL="0" indent="0" algn="just">
              <a:buNone/>
            </a:pPr>
            <a:r>
              <a:rPr lang="en-US" sz="2200" cap="none" dirty="0">
                <a:latin typeface="Arial" panose="020B0604020202020204" pitchFamily="34" charset="0"/>
                <a:cs typeface="Arial" panose="020B0604020202020204" pitchFamily="34" charset="0"/>
              </a:rPr>
              <a:t>In algebraic terms, the production function may be written as:</a:t>
            </a:r>
          </a:p>
          <a:p>
            <a:pPr marL="0" indent="0" algn="just">
              <a:buNone/>
            </a:pPr>
            <a:r>
              <a:rPr lang="pt-BR" sz="2200" i="1" cap="none" dirty="0">
                <a:latin typeface="Arial" panose="020B0604020202020204" pitchFamily="34" charset="0"/>
                <a:cs typeface="Arial" panose="020B0604020202020204" pitchFamily="34" charset="0"/>
              </a:rPr>
              <a:t>Q </a:t>
            </a:r>
            <a:r>
              <a:rPr lang="pt-BR" sz="2200" cap="none" dirty="0">
                <a:latin typeface="Arial" panose="020B0604020202020204" pitchFamily="34" charset="0"/>
                <a:cs typeface="Arial" panose="020B0604020202020204" pitchFamily="34" charset="0"/>
              </a:rPr>
              <a:t>= </a:t>
            </a:r>
            <a:r>
              <a:rPr lang="pt-BR" sz="2200" i="1" cap="none" dirty="0">
                <a:latin typeface="Arial" panose="020B0604020202020204" pitchFamily="34" charset="0"/>
                <a:cs typeface="Arial" panose="020B0604020202020204" pitchFamily="34" charset="0"/>
              </a:rPr>
              <a:t>f(a, b, c, d, … , n, T–)       OR      </a:t>
            </a:r>
            <a:r>
              <a:rPr lang="en-US" sz="2400" dirty="0"/>
              <a:t>Q=f(L,K)</a:t>
            </a:r>
            <a:endParaRPr lang="pt-BR" sz="2200" i="1" cap="none" dirty="0">
              <a:latin typeface="Arial" panose="020B0604020202020204" pitchFamily="34" charset="0"/>
              <a:cs typeface="Arial" panose="020B0604020202020204" pitchFamily="34" charset="0"/>
            </a:endParaRPr>
          </a:p>
          <a:p>
            <a:pPr marL="0" indent="0" algn="just">
              <a:buNone/>
            </a:pPr>
            <a:r>
              <a:rPr lang="en-US" sz="2200" i="1" cap="none" dirty="0">
                <a:latin typeface="Arial" panose="020B0604020202020204" pitchFamily="34" charset="0"/>
                <a:cs typeface="Arial" panose="020B0604020202020204" pitchFamily="34" charset="0"/>
              </a:rPr>
              <a:t>Q </a:t>
            </a:r>
            <a:r>
              <a:rPr lang="en-US" sz="2200" cap="none" dirty="0">
                <a:latin typeface="Arial" panose="020B0604020202020204" pitchFamily="34" charset="0"/>
                <a:cs typeface="Arial" panose="020B0604020202020204" pitchFamily="34" charset="0"/>
              </a:rPr>
              <a:t>represents the physical quantity of output (commodity produced) per unit of time.</a:t>
            </a:r>
          </a:p>
          <a:p>
            <a:pPr marL="0" indent="0" algn="just">
              <a:buNone/>
            </a:pPr>
            <a:r>
              <a:rPr lang="en-US" sz="2200" i="1" cap="none" dirty="0">
                <a:latin typeface="Arial" panose="020B0604020202020204" pitchFamily="34" charset="0"/>
                <a:cs typeface="Arial" panose="020B0604020202020204" pitchFamily="34" charset="0"/>
              </a:rPr>
              <a:t>F </a:t>
            </a:r>
            <a:r>
              <a:rPr lang="en-US" sz="2200" cap="none" dirty="0">
                <a:latin typeface="Arial" panose="020B0604020202020204" pitchFamily="34" charset="0"/>
                <a:cs typeface="Arial" panose="020B0604020202020204" pitchFamily="34" charset="0"/>
              </a:rPr>
              <a:t>denotes functional relationship. </a:t>
            </a:r>
          </a:p>
          <a:p>
            <a:pPr marL="0" indent="0" algn="just">
              <a:buNone/>
            </a:pPr>
            <a:r>
              <a:rPr lang="en-US" sz="2200" i="1" cap="none" dirty="0">
                <a:latin typeface="Arial" panose="020B0604020202020204" pitchFamily="34" charset="0"/>
                <a:cs typeface="Arial" panose="020B0604020202020204" pitchFamily="34" charset="0"/>
              </a:rPr>
              <a:t>a, b, c, d, n </a:t>
            </a:r>
            <a:r>
              <a:rPr lang="en-US" sz="2200" cap="none" dirty="0">
                <a:latin typeface="Arial" panose="020B0604020202020204" pitchFamily="34" charset="0"/>
                <a:cs typeface="Arial" panose="020B0604020202020204" pitchFamily="34" charset="0"/>
              </a:rPr>
              <a:t>represent the quantities of various inputs (productive factors) per employed time period. </a:t>
            </a:r>
          </a:p>
          <a:p>
            <a:pPr marL="0" indent="0" algn="just">
              <a:buNone/>
            </a:pPr>
            <a:r>
              <a:rPr lang="en-US" sz="2200" i="1" cap="none" dirty="0">
                <a:latin typeface="Arial" panose="020B0604020202020204" pitchFamily="34" charset="0"/>
                <a:cs typeface="Arial" panose="020B0604020202020204" pitchFamily="34" charset="0"/>
              </a:rPr>
              <a:t>T– </a:t>
            </a:r>
            <a:r>
              <a:rPr lang="en-US" sz="2200" cap="none" dirty="0">
                <a:latin typeface="Arial" panose="020B0604020202020204" pitchFamily="34" charset="0"/>
                <a:cs typeface="Arial" panose="020B0604020202020204" pitchFamily="34" charset="0"/>
              </a:rPr>
              <a:t>refers to the prevailing state of technology or ‘know-how.’</a:t>
            </a:r>
          </a:p>
          <a:p>
            <a:pPr marL="0" indent="0" algn="just">
              <a:buNone/>
            </a:pPr>
            <a:r>
              <a:rPr lang="en-US" sz="2200" cap="none" dirty="0">
                <a:latin typeface="Arial" panose="020B0604020202020204" pitchFamily="34" charset="0"/>
                <a:cs typeface="Arial" panose="020B0604020202020204" pitchFamily="34" charset="0"/>
              </a:rPr>
              <a:t>The bar (–) is placed on </a:t>
            </a:r>
            <a:r>
              <a:rPr lang="en-US" sz="2200" i="1" cap="none" dirty="0">
                <a:latin typeface="Arial" panose="020B0604020202020204" pitchFamily="34" charset="0"/>
                <a:cs typeface="Arial" panose="020B0604020202020204" pitchFamily="34" charset="0"/>
              </a:rPr>
              <a:t>t– </a:t>
            </a:r>
            <a:r>
              <a:rPr lang="en-US" sz="2200" cap="none" dirty="0">
                <a:latin typeface="Arial" panose="020B0604020202020204" pitchFamily="34" charset="0"/>
                <a:cs typeface="Arial" panose="020B0604020202020204" pitchFamily="34" charset="0"/>
              </a:rPr>
              <a:t>just to indicate that technology is assumed to be constant.</a:t>
            </a:r>
          </a:p>
          <a:p>
            <a:pPr marL="0" indent="0" algn="just">
              <a:buNone/>
            </a:pPr>
            <a:r>
              <a:rPr lang="en-US" sz="2200" cap="none" dirty="0">
                <a:latin typeface="Arial" panose="020B0604020202020204" pitchFamily="34" charset="0"/>
                <a:cs typeface="Arial" panose="020B0604020202020204" pitchFamily="34" charset="0"/>
              </a:rPr>
              <a:t>L refers to the </a:t>
            </a:r>
            <a:r>
              <a:rPr lang="en-US" sz="2200" cap="none" dirty="0" err="1">
                <a:latin typeface="Arial" panose="020B0604020202020204" pitchFamily="34" charset="0"/>
                <a:cs typeface="Arial" panose="020B0604020202020204" pitchFamily="34" charset="0"/>
              </a:rPr>
              <a:t>Labour</a:t>
            </a:r>
            <a:r>
              <a:rPr lang="en-US" sz="2200" cap="none" dirty="0">
                <a:latin typeface="Arial" panose="020B0604020202020204" pitchFamily="34" charset="0"/>
                <a:cs typeface="Arial" panose="020B0604020202020204" pitchFamily="34" charset="0"/>
              </a:rPr>
              <a:t> </a:t>
            </a:r>
          </a:p>
          <a:p>
            <a:pPr marL="0" indent="0" algn="just">
              <a:buNone/>
            </a:pPr>
            <a:r>
              <a:rPr lang="en-US" sz="2200" cap="none" dirty="0">
                <a:latin typeface="Arial" panose="020B0604020202020204" pitchFamily="34" charset="0"/>
                <a:cs typeface="Arial" panose="020B0604020202020204" pitchFamily="34" charset="0"/>
              </a:rPr>
              <a:t>K refers to the Capital</a:t>
            </a:r>
          </a:p>
          <a:p>
            <a:pPr marL="0" indent="0" algn="just">
              <a:buNone/>
            </a:pP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8788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976BDA0-C0A5-4D97-AA7A-65ED8246078E}"/>
              </a:ext>
            </a:extLst>
          </p:cNvPr>
          <p:cNvSpPr>
            <a:spLocks noGrp="1"/>
          </p:cNvSpPr>
          <p:nvPr>
            <p:ph idx="1"/>
          </p:nvPr>
        </p:nvSpPr>
        <p:spPr>
          <a:xfrm>
            <a:off x="0" y="19059"/>
            <a:ext cx="9144000" cy="6838941"/>
          </a:xfrm>
        </p:spPr>
        <p:txBody>
          <a:bodyPr>
            <a:noAutofit/>
          </a:bodyPr>
          <a:lstStyle/>
          <a:p>
            <a:pPr marL="0" indent="0" algn="ctr">
              <a:buNone/>
            </a:pPr>
            <a:r>
              <a:rPr lang="en-US" sz="2200" cap="none" dirty="0">
                <a:latin typeface="Arial" panose="020B0604020202020204" pitchFamily="34" charset="0"/>
                <a:cs typeface="Arial" panose="020B0604020202020204" pitchFamily="34" charset="0"/>
              </a:rPr>
              <a:t>Q = f(l, K̄)</a:t>
            </a:r>
          </a:p>
          <a:p>
            <a:pPr marL="0" indent="0" algn="just">
              <a:buNone/>
            </a:pPr>
            <a:r>
              <a:rPr lang="en-US" sz="2200" cap="none" dirty="0">
                <a:latin typeface="Arial" panose="020B0604020202020204" pitchFamily="34" charset="0"/>
                <a:cs typeface="Arial" panose="020B0604020202020204" pitchFamily="34" charset="0"/>
              </a:rPr>
              <a:t>Where K̄ refers the fixed level of capital. This means that the firm can only increase output by increasing the amount of labor employed, given the existing capital stock.</a:t>
            </a:r>
          </a:p>
          <a:p>
            <a:pPr marL="0" indent="0" algn="just">
              <a:buNone/>
            </a:pPr>
            <a:r>
              <a:rPr lang="en-US" sz="2200" b="1" cap="none" dirty="0">
                <a:latin typeface="Arial" panose="020B0604020202020204" pitchFamily="34" charset="0"/>
                <a:cs typeface="Arial" panose="020B0604020202020204" pitchFamily="34" charset="0"/>
              </a:rPr>
              <a:t>Total product (TP): </a:t>
            </a:r>
            <a:r>
              <a:rPr lang="en-US" sz="2200" cap="none" dirty="0">
                <a:latin typeface="Arial" panose="020B0604020202020204" pitchFamily="34" charset="0"/>
                <a:cs typeface="Arial" panose="020B0604020202020204" pitchFamily="34" charset="0"/>
              </a:rPr>
              <a:t>Total product (TP) refers to the total quantity of output produced by a firm with a given amount of labor, holding other inputs constant. As the amount of labor increases, the total product will generally increase, but not necessarily at a constant rate.</a:t>
            </a:r>
          </a:p>
          <a:p>
            <a:pPr marL="0" indent="0" algn="just">
              <a:buNone/>
            </a:pPr>
            <a:r>
              <a:rPr lang="en-US" sz="2200" b="1" cap="none" dirty="0">
                <a:latin typeface="Arial" panose="020B0604020202020204" pitchFamily="34" charset="0"/>
                <a:cs typeface="Arial" panose="020B0604020202020204" pitchFamily="34" charset="0"/>
              </a:rPr>
              <a:t>Average product (AP): </a:t>
            </a:r>
            <a:r>
              <a:rPr lang="en-US" sz="2200" cap="none" dirty="0">
                <a:latin typeface="Arial" panose="020B0604020202020204" pitchFamily="34" charset="0"/>
                <a:cs typeface="Arial" panose="020B0604020202020204" pitchFamily="34" charset="0"/>
              </a:rPr>
              <a:t>Average product (AP) measures the output produced per unit of labor. It is calculated as:</a:t>
            </a:r>
          </a:p>
          <a:p>
            <a:pPr marL="0" indent="0" algn="just">
              <a:buNone/>
            </a:pPr>
            <a:r>
              <a:rPr lang="en-US" sz="2200" cap="none" dirty="0">
                <a:latin typeface="Arial" panose="020B0604020202020204" pitchFamily="34" charset="0"/>
                <a:cs typeface="Arial" panose="020B0604020202020204" pitchFamily="34" charset="0"/>
              </a:rPr>
              <a:t>Ap = TP / L</a:t>
            </a:r>
          </a:p>
          <a:p>
            <a:pPr marL="0" indent="0" algn="just">
              <a:buNone/>
            </a:pPr>
            <a:r>
              <a:rPr lang="en-US" sz="2200" cap="none" dirty="0">
                <a:latin typeface="Arial" panose="020B0604020202020204" pitchFamily="34" charset="0"/>
                <a:cs typeface="Arial" panose="020B0604020202020204" pitchFamily="34" charset="0"/>
              </a:rPr>
              <a:t>The average product provides insights into the productivity of each worker on average.</a:t>
            </a:r>
          </a:p>
          <a:p>
            <a:pPr marL="0" indent="0" algn="just">
              <a:buNone/>
            </a:pPr>
            <a:endParaRPr lang="en-US" sz="2200" cap="none" dirty="0">
              <a:latin typeface="Arial" panose="020B0604020202020204" pitchFamily="34" charset="0"/>
              <a:cs typeface="Arial" panose="020B0604020202020204" pitchFamily="34" charset="0"/>
            </a:endParaRPr>
          </a:p>
          <a:p>
            <a:pPr marL="0" indent="0" algn="just">
              <a:buNone/>
            </a:pPr>
            <a:endParaRPr lang="en-US" sz="2200"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4460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8938CB3-D7A4-46CC-ADC4-510631B818C7}"/>
              </a:ext>
            </a:extLst>
          </p:cNvPr>
          <p:cNvSpPr>
            <a:spLocks noGrp="1"/>
          </p:cNvSpPr>
          <p:nvPr>
            <p:ph idx="1"/>
          </p:nvPr>
        </p:nvSpPr>
        <p:spPr>
          <a:xfrm>
            <a:off x="1" y="1"/>
            <a:ext cx="9144000" cy="6858000"/>
          </a:xfrm>
        </p:spPr>
        <p:txBody>
          <a:bodyPr>
            <a:normAutofit/>
          </a:bodyPr>
          <a:lstStyle/>
          <a:p>
            <a:pPr marL="0" indent="0" algn="just">
              <a:buNone/>
            </a:pPr>
            <a:r>
              <a:rPr lang="en-US" sz="2200" b="1" cap="none" dirty="0">
                <a:latin typeface="Arial" panose="020B0604020202020204" pitchFamily="34" charset="0"/>
                <a:cs typeface="Arial" panose="020B0604020202020204" pitchFamily="34" charset="0"/>
              </a:rPr>
              <a:t>Marginal product (MP): </a:t>
            </a:r>
            <a:r>
              <a:rPr lang="en-US" sz="2200" cap="none" dirty="0">
                <a:latin typeface="Arial" panose="020B0604020202020204" pitchFamily="34" charset="0"/>
                <a:cs typeface="Arial" panose="020B0604020202020204" pitchFamily="34" charset="0"/>
              </a:rPr>
              <a:t>Marginal product (MP) measures the change in total product resulting from a one-unit change in labor input, holding other inputs constant. It is calculated as:</a:t>
            </a:r>
          </a:p>
          <a:p>
            <a:pPr marL="0" indent="0" algn="just">
              <a:buNone/>
            </a:pPr>
            <a:r>
              <a:rPr lang="en-US" sz="2200" cap="none" dirty="0">
                <a:latin typeface="Arial" panose="020B0604020202020204" pitchFamily="34" charset="0"/>
                <a:cs typeface="Arial" panose="020B0604020202020204" pitchFamily="34" charset="0"/>
              </a:rPr>
              <a:t>MP = Change in TP / Change in </a:t>
            </a:r>
            <a:r>
              <a:rPr lang="en-US" sz="2200" cap="none" dirty="0" err="1">
                <a:latin typeface="Arial" panose="020B0604020202020204" pitchFamily="34" charset="0"/>
                <a:cs typeface="Arial" panose="020B0604020202020204" pitchFamily="34" charset="0"/>
              </a:rPr>
              <a:t>Labour</a:t>
            </a:r>
            <a:endParaRPr lang="en-US" sz="2200" cap="none" dirty="0">
              <a:latin typeface="Arial" panose="020B0604020202020204" pitchFamily="34" charset="0"/>
              <a:cs typeface="Arial" panose="020B0604020202020204" pitchFamily="34" charset="0"/>
            </a:endParaRPr>
          </a:p>
          <a:p>
            <a:pPr marL="0" indent="0" algn="just">
              <a:buNone/>
            </a:pPr>
            <a:r>
              <a:rPr lang="en-US" sz="2200" cap="none" dirty="0">
                <a:latin typeface="Arial" panose="020B0604020202020204" pitchFamily="34" charset="0"/>
                <a:cs typeface="Arial" panose="020B0604020202020204" pitchFamily="34" charset="0"/>
              </a:rPr>
              <a:t>The marginal product is crucial for understanding the incremental contribution of each additional worker to the total output</a:t>
            </a:r>
          </a:p>
          <a:p>
            <a:pPr marL="0" indent="0" algn="just">
              <a:buNone/>
            </a:pPr>
            <a:endParaRPr lang="en-US" sz="2200"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7124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D2CBFA-F421-409A-8F20-6BFFB7E35A47}"/>
              </a:ext>
            </a:extLst>
          </p:cNvPr>
          <p:cNvSpPr>
            <a:spLocks noGrp="1"/>
          </p:cNvSpPr>
          <p:nvPr>
            <p:ph type="title"/>
          </p:nvPr>
        </p:nvSpPr>
        <p:spPr>
          <a:xfrm>
            <a:off x="0" y="143838"/>
            <a:ext cx="9144000" cy="760288"/>
          </a:xfrm>
        </p:spPr>
        <p:txBody>
          <a:bodyPr anchor="t">
            <a:noAutofit/>
          </a:bodyPr>
          <a:lstStyle/>
          <a:p>
            <a:r>
              <a:rPr lang="en-US" b="1" u="sng" dirty="0">
                <a:latin typeface="Arial" panose="020B0604020202020204" pitchFamily="34" charset="0"/>
                <a:cs typeface="Arial" panose="020B0604020202020204" pitchFamily="34" charset="0"/>
              </a:rPr>
              <a:t>Law of Variable Proportion</a:t>
            </a:r>
            <a:br>
              <a:rPr lang="en-US" b="1" u="sng" dirty="0">
                <a:latin typeface="Arial" panose="020B0604020202020204" pitchFamily="34" charset="0"/>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xmlns="" id="{53CE1192-1182-48B2-BCAC-26D2DAAB950D}"/>
              </a:ext>
            </a:extLst>
          </p:cNvPr>
          <p:cNvSpPr>
            <a:spLocks noGrp="1"/>
          </p:cNvSpPr>
          <p:nvPr>
            <p:ph idx="1"/>
          </p:nvPr>
        </p:nvSpPr>
        <p:spPr>
          <a:xfrm>
            <a:off x="-1" y="820444"/>
            <a:ext cx="9143999" cy="6037556"/>
          </a:xfrm>
        </p:spPr>
        <p:txBody>
          <a:bodyPr>
            <a:normAutofit/>
          </a:bodyPr>
          <a:lstStyle/>
          <a:p>
            <a:pPr marL="0" indent="0" algn="just">
              <a:buNone/>
            </a:pPr>
            <a:r>
              <a:rPr lang="en-US" sz="2200" cap="none" dirty="0">
                <a:latin typeface="Arial" panose="020B0604020202020204" pitchFamily="34" charset="0"/>
                <a:cs typeface="Arial" panose="020B0604020202020204" pitchFamily="34" charset="0"/>
              </a:rPr>
              <a:t>This is the modern version of the law of diminishing marginal returns. Under this law, it is assumed that only one factor of production is variable while other factors are fixed. As we increase the quantity of variable factor while keeping other factors constant, the output of variable factor may increase more than proportionately in the initial stages of production but finally it will not increase proportionately. </a:t>
            </a:r>
          </a:p>
          <a:p>
            <a:pPr marL="0" indent="0" algn="just">
              <a:buNone/>
            </a:pPr>
            <a:r>
              <a:rPr lang="en-US" sz="2200" cap="none" dirty="0">
                <a:latin typeface="Arial" panose="020B0604020202020204" pitchFamily="34" charset="0"/>
                <a:cs typeface="Arial" panose="020B0604020202020204" pitchFamily="34" charset="0"/>
              </a:rPr>
              <a:t>Prof. Benham states the law as follows: “As the proportion of one factor in a combination of factors is increased after a point, the average and marginal production of that factor will diminish.”</a:t>
            </a:r>
          </a:p>
          <a:p>
            <a:pPr algn="just"/>
            <a:r>
              <a:rPr lang="en-US" sz="2200" cap="none" dirty="0">
                <a:latin typeface="Arial" panose="020B0604020202020204" pitchFamily="34" charset="0"/>
                <a:cs typeface="Arial" panose="020B0604020202020204" pitchFamily="34" charset="0"/>
              </a:rPr>
              <a:t>Only one factor is varied and all other factors should remain constant.</a:t>
            </a:r>
          </a:p>
          <a:p>
            <a:pPr algn="just"/>
            <a:r>
              <a:rPr lang="en-US" sz="2200" cap="none" dirty="0">
                <a:latin typeface="Arial" panose="020B0604020202020204" pitchFamily="34" charset="0"/>
                <a:cs typeface="Arial" panose="020B0604020202020204" pitchFamily="34" charset="0"/>
              </a:rPr>
              <a:t>The scale of output is unchanged, and the production plant or the size efficiency of the firm remain constant.</a:t>
            </a:r>
          </a:p>
          <a:p>
            <a:pPr algn="just"/>
            <a:r>
              <a:rPr lang="en-US" sz="2200" cap="none" dirty="0">
                <a:latin typeface="Arial" panose="020B0604020202020204" pitchFamily="34" charset="0"/>
                <a:cs typeface="Arial" panose="020B0604020202020204" pitchFamily="34" charset="0"/>
              </a:rPr>
              <a:t>The technique of production does not change.</a:t>
            </a:r>
          </a:p>
          <a:p>
            <a:pPr algn="just"/>
            <a:endParaRPr lang="en-US" sz="2200"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8503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7999"/>
          </a:xfrm>
        </p:spPr>
        <p:txBody>
          <a:bodyPr>
            <a:normAutofit/>
          </a:bodyPr>
          <a:lstStyle/>
          <a:p>
            <a:pPr marL="0" indent="0" algn="just">
              <a:buNone/>
            </a:pPr>
            <a:r>
              <a:rPr lang="en-US" sz="2200" cap="none" dirty="0">
                <a:latin typeface="Arial" panose="020B0604020202020204" pitchFamily="34" charset="0"/>
                <a:cs typeface="Arial" panose="020B0604020202020204" pitchFamily="34" charset="0"/>
              </a:rPr>
              <a:t>There are mainly 3 stages in this law.</a:t>
            </a:r>
          </a:p>
          <a:p>
            <a:pPr algn="just"/>
            <a:r>
              <a:rPr lang="en-US" sz="2200" b="1" u="sng" cap="none" dirty="0">
                <a:latin typeface="Arial" panose="020B0604020202020204" pitchFamily="34" charset="0"/>
                <a:cs typeface="Arial" panose="020B0604020202020204" pitchFamily="34" charset="0"/>
              </a:rPr>
              <a:t>Stage I: Increasing Returns:</a:t>
            </a:r>
            <a:r>
              <a:rPr lang="en-US" sz="2200" b="1" cap="none" dirty="0">
                <a:latin typeface="Arial" panose="020B0604020202020204" pitchFamily="34" charset="0"/>
                <a:cs typeface="Arial" panose="020B0604020202020204" pitchFamily="34" charset="0"/>
              </a:rPr>
              <a:t> </a:t>
            </a:r>
            <a:r>
              <a:rPr lang="en-US" sz="2200" cap="none" dirty="0">
                <a:latin typeface="Arial" panose="020B0604020202020204" pitchFamily="34" charset="0"/>
                <a:cs typeface="Arial" panose="020B0604020202020204" pitchFamily="34" charset="0"/>
              </a:rPr>
              <a:t>In the first stage, as more units of the variable input (labor) are employed, the total product (TP) increases at an increasing rate. This means that each additional unit of labor contributes more to the total output than the previous unit.</a:t>
            </a:r>
          </a:p>
          <a:p>
            <a:pPr algn="just"/>
            <a:r>
              <a:rPr lang="en-US" sz="2200" b="1" u="sng" cap="none" dirty="0">
                <a:latin typeface="Arial" panose="020B0604020202020204" pitchFamily="34" charset="0"/>
                <a:cs typeface="Arial" panose="020B0604020202020204" pitchFamily="34" charset="0"/>
              </a:rPr>
              <a:t>Stage II: Diminishing Returns (rational stage):</a:t>
            </a:r>
            <a:r>
              <a:rPr lang="en-US" sz="2200" b="1" cap="none" dirty="0">
                <a:latin typeface="Arial" panose="020B0604020202020204" pitchFamily="34" charset="0"/>
                <a:cs typeface="Arial" panose="020B0604020202020204" pitchFamily="34" charset="0"/>
              </a:rPr>
              <a:t> </a:t>
            </a:r>
            <a:r>
              <a:rPr lang="en-US" sz="2200" cap="none" dirty="0">
                <a:latin typeface="Arial" panose="020B0604020202020204" pitchFamily="34" charset="0"/>
                <a:cs typeface="Arial" panose="020B0604020202020204" pitchFamily="34" charset="0"/>
              </a:rPr>
              <a:t>In the second stage, as more units of the variable input (labor) are employed, the total product (TP) continues to increase, but at a decreasing rate. This means that each additional unit of labor contributes less to the total output than the previous unit.</a:t>
            </a:r>
          </a:p>
          <a:p>
            <a:pPr algn="just"/>
            <a:r>
              <a:rPr lang="en-US" sz="2200" b="1" u="sng" cap="none" dirty="0">
                <a:latin typeface="Arial" panose="020B0604020202020204" pitchFamily="34" charset="0"/>
                <a:cs typeface="Arial" panose="020B0604020202020204" pitchFamily="34" charset="0"/>
              </a:rPr>
              <a:t>Stage III: Negative Returns:</a:t>
            </a:r>
            <a:r>
              <a:rPr lang="en-US" sz="2200" cap="none" dirty="0">
                <a:latin typeface="Arial" panose="020B0604020202020204" pitchFamily="34" charset="0"/>
                <a:cs typeface="Arial" panose="020B0604020202020204" pitchFamily="34" charset="0"/>
              </a:rPr>
              <a:t> In the third stage, as more units of the variable input (labor) are employed, the total product (TP) starts to decline. This means that each additional unit of labor actually reduces the total output.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7999"/>
          </a:xfrm>
        </p:spPr>
        <p:txBody>
          <a:bodyPr/>
          <a:lstStyle/>
          <a:p>
            <a:pPr marL="0" indent="0" algn="just">
              <a:buNone/>
            </a:pPr>
            <a:r>
              <a:rPr lang="en-US" sz="2200" b="1" u="sng" dirty="0">
                <a:latin typeface="Arial" panose="020B0604020202020204" pitchFamily="34" charset="0"/>
                <a:cs typeface="Arial" panose="020B0604020202020204" pitchFamily="34" charset="0"/>
              </a:rPr>
              <a:t>Limitations of the Law</a:t>
            </a:r>
          </a:p>
          <a:p>
            <a:pPr marL="457200" indent="-457200" algn="just">
              <a:buFont typeface="+mj-lt"/>
              <a:buAutoNum type="arabicPeriod"/>
            </a:pPr>
            <a:r>
              <a:rPr lang="en-US" sz="2200" b="1" cap="none" dirty="0">
                <a:latin typeface="Arial" panose="020B0604020202020204" pitchFamily="34" charset="0"/>
                <a:cs typeface="Arial" panose="020B0604020202020204" pitchFamily="34" charset="0"/>
              </a:rPr>
              <a:t>Fixed factors may not be truly fixed: </a:t>
            </a:r>
            <a:r>
              <a:rPr lang="en-US" sz="2200" cap="none" dirty="0">
                <a:latin typeface="Arial" panose="020B0604020202020204" pitchFamily="34" charset="0"/>
                <a:cs typeface="Arial" panose="020B0604020202020204" pitchFamily="34" charset="0"/>
              </a:rPr>
              <a:t>In reality, it may be possible to vary the quantities of some of the fixed factors, even in the short run.</a:t>
            </a:r>
          </a:p>
          <a:p>
            <a:pPr marL="457200" indent="-457200" algn="just">
              <a:buFont typeface="+mj-lt"/>
              <a:buAutoNum type="arabicPeriod"/>
            </a:pPr>
            <a:r>
              <a:rPr lang="en-US" sz="2200" b="1" cap="none" dirty="0">
                <a:latin typeface="Arial" panose="020B0604020202020204" pitchFamily="34" charset="0"/>
                <a:cs typeface="Arial" panose="020B0604020202020204" pitchFamily="34" charset="0"/>
              </a:rPr>
              <a:t>Homogeneity assumption may not hold:</a:t>
            </a:r>
            <a:r>
              <a:rPr lang="en-US" sz="2200" cap="none" dirty="0">
                <a:latin typeface="Arial" panose="020B0604020202020204" pitchFamily="34" charset="0"/>
                <a:cs typeface="Arial" panose="020B0604020202020204" pitchFamily="34" charset="0"/>
              </a:rPr>
              <a:t> The units of the variable factor may not be perfectly homogeneous. Some units may be more efficient than others.</a:t>
            </a:r>
          </a:p>
          <a:p>
            <a:pPr marL="457200" indent="-457200" algn="just">
              <a:buFont typeface="+mj-lt"/>
              <a:buAutoNum type="arabicPeriod"/>
            </a:pPr>
            <a:r>
              <a:rPr lang="en-US" sz="2200" b="1" cap="none" dirty="0">
                <a:latin typeface="Arial" panose="020B0604020202020204" pitchFamily="34" charset="0"/>
                <a:cs typeface="Arial" panose="020B0604020202020204" pitchFamily="34" charset="0"/>
              </a:rPr>
              <a:t>Technology may not remain constant:</a:t>
            </a:r>
            <a:r>
              <a:rPr lang="en-US" sz="2200" cap="none" dirty="0">
                <a:latin typeface="Arial" panose="020B0604020202020204" pitchFamily="34" charset="0"/>
                <a:cs typeface="Arial" panose="020B0604020202020204" pitchFamily="34" charset="0"/>
              </a:rPr>
              <a:t> Technological advancements can shift the production function and alter the relationship between inputs and outputs.</a:t>
            </a:r>
          </a:p>
          <a:p>
            <a:pPr marL="457200" indent="-457200" algn="just">
              <a:buFont typeface="+mj-lt"/>
              <a:buAutoNum type="arabicPeriod"/>
            </a:pPr>
            <a:r>
              <a:rPr lang="en-US" sz="2200" b="1" cap="none" dirty="0">
                <a:latin typeface="Arial" panose="020B0604020202020204" pitchFamily="34" charset="0"/>
                <a:cs typeface="Arial" panose="020B0604020202020204" pitchFamily="34" charset="0"/>
              </a:rPr>
              <a:t>Divisibility of factors:</a:t>
            </a:r>
            <a:r>
              <a:rPr lang="en-US" sz="2200" cap="none" dirty="0">
                <a:latin typeface="Arial" panose="020B0604020202020204" pitchFamily="34" charset="0"/>
                <a:cs typeface="Arial" panose="020B0604020202020204" pitchFamily="34" charset="0"/>
              </a:rPr>
              <a:t> The law assumes that factors are perfectly divisible, which may not always be the case.</a:t>
            </a:r>
          </a:p>
          <a:p>
            <a:pPr marL="0" indent="0" algn="just">
              <a:buNone/>
            </a:pPr>
            <a:endParaRPr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904126"/>
          </a:xfrm>
        </p:spPr>
        <p:txBody>
          <a:bodyPr>
            <a:normAutofit/>
          </a:bodyPr>
          <a:lstStyle/>
          <a:p>
            <a:r>
              <a:rPr lang="en-US" sz="4400" b="1" u="sng" dirty="0">
                <a:latin typeface="Arial" panose="020B0604020202020204" pitchFamily="34" charset="0"/>
                <a:cs typeface="Arial" panose="020B0604020202020204" pitchFamily="34" charset="0"/>
              </a:rPr>
              <a:t>Laws of returns to scale</a:t>
            </a:r>
            <a:endParaRPr sz="4400" b="1" u="sng"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0" y="1027415"/>
            <a:ext cx="9144000" cy="5830583"/>
          </a:xfrm>
        </p:spPr>
        <p:txBody>
          <a:bodyPr>
            <a:normAutofit/>
          </a:bodyPr>
          <a:lstStyle/>
          <a:p>
            <a:pPr marL="0" indent="0" algn="just">
              <a:buNone/>
            </a:pPr>
            <a:r>
              <a:rPr lang="en-US" sz="2200" cap="none" dirty="0">
                <a:latin typeface="Arial" panose="020B0604020202020204" pitchFamily="34" charset="0"/>
                <a:cs typeface="Arial" panose="020B0604020202020204" pitchFamily="34" charset="0"/>
              </a:rPr>
              <a:t>Economists use the phrase “returns to scale” to describe the output </a:t>
            </a:r>
            <a:r>
              <a:rPr lang="en-US" sz="2200" cap="none" dirty="0" err="1">
                <a:latin typeface="Arial" panose="020B0604020202020204" pitchFamily="34" charset="0"/>
                <a:cs typeface="Arial" panose="020B0604020202020204" pitchFamily="34" charset="0"/>
              </a:rPr>
              <a:t>behaviour</a:t>
            </a:r>
            <a:r>
              <a:rPr lang="en-US" sz="2200" cap="none" dirty="0">
                <a:latin typeface="Arial" panose="020B0604020202020204" pitchFamily="34" charset="0"/>
                <a:cs typeface="Arial" panose="020B0604020202020204" pitchFamily="34" charset="0"/>
              </a:rPr>
              <a:t> in the long-run in relation to the variations in factor inputs. In the short-run, thus, we have returns to variable factor. In the long-run, we have returns to scale. The long run production function Q = f(a1, b1, c1, ...n, T) implies that all components of inputs are varied to increase production.</a:t>
            </a:r>
          </a:p>
          <a:p>
            <a:pPr marL="0" indent="0" algn="just">
              <a:buNone/>
            </a:pPr>
            <a:r>
              <a:rPr lang="en-US" sz="2200" cap="none" dirty="0">
                <a:latin typeface="Arial" panose="020B0604020202020204" pitchFamily="34" charset="0"/>
                <a:cs typeface="Arial" panose="020B0604020202020204" pitchFamily="34" charset="0"/>
              </a:rPr>
              <a:t>“As a firm in the long run increases the quantities of all factors employed, other things being equal, the output may rise initially at a more rapid rate than the rate of increase in inputs, then output may increase in the same proportion of input, and ultimately, output increases less proportionately.”</a:t>
            </a:r>
          </a:p>
          <a:p>
            <a:pPr marL="0" indent="0" algn="just">
              <a:buNone/>
            </a:pPr>
            <a:endParaRPr lang="en-US" sz="2200" cap="none"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7999"/>
          </a:xfrm>
        </p:spPr>
        <p:txBody>
          <a:bodyPr>
            <a:noAutofit/>
          </a:bodyPr>
          <a:lstStyle/>
          <a:p>
            <a:pPr marL="0" indent="0" algn="just">
              <a:buNone/>
            </a:pPr>
            <a:r>
              <a:rPr lang="en-US" sz="2400" cap="none" dirty="0">
                <a:latin typeface="Arial" panose="020B0604020202020204" pitchFamily="34" charset="0"/>
                <a:cs typeface="Arial" panose="020B0604020202020204" pitchFamily="34" charset="0"/>
              </a:rPr>
              <a:t>There are three main types of returns to scale:</a:t>
            </a:r>
          </a:p>
          <a:p>
            <a:pPr marL="457200" indent="-457200" algn="just">
              <a:buFont typeface="+mj-lt"/>
              <a:buAutoNum type="arabicPeriod"/>
            </a:pPr>
            <a:r>
              <a:rPr lang="en-US" sz="2400" b="1" u="sng" cap="none" dirty="0">
                <a:latin typeface="Arial" panose="020B0604020202020204" pitchFamily="34" charset="0"/>
                <a:cs typeface="Arial" panose="020B0604020202020204" pitchFamily="34" charset="0"/>
              </a:rPr>
              <a:t>Increasing Returns to Scale:</a:t>
            </a:r>
            <a:r>
              <a:rPr lang="en-US" sz="2400" cap="none" dirty="0">
                <a:latin typeface="Arial" panose="020B0604020202020204" pitchFamily="34" charset="0"/>
                <a:cs typeface="Arial" panose="020B0604020202020204" pitchFamily="34" charset="0"/>
              </a:rPr>
              <a:t> Output increases by a larger proportion than the increase in inputs. Marshall explains increasing returns in terms of ‘increased efficiency’ of </a:t>
            </a:r>
            <a:r>
              <a:rPr lang="en-US" sz="2400" cap="none" dirty="0" err="1">
                <a:latin typeface="Arial" panose="020B0604020202020204" pitchFamily="34" charset="0"/>
                <a:cs typeface="Arial" panose="020B0604020202020204" pitchFamily="34" charset="0"/>
              </a:rPr>
              <a:t>labour</a:t>
            </a:r>
            <a:r>
              <a:rPr lang="en-US" sz="2400" cap="none" dirty="0">
                <a:latin typeface="Arial" panose="020B0604020202020204" pitchFamily="34" charset="0"/>
                <a:cs typeface="Arial" panose="020B0604020202020204" pitchFamily="34" charset="0"/>
              </a:rPr>
              <a:t> and capital in the improved organization with the expanding scale of output and employment of factor input. It is referred to as ‘the economy of organization in the earlier stages of expansion.</a:t>
            </a:r>
          </a:p>
          <a:p>
            <a:pPr marL="457200" indent="-457200" algn="just">
              <a:buFont typeface="+mj-lt"/>
              <a:buAutoNum type="arabicPeriod"/>
            </a:pPr>
            <a:r>
              <a:rPr lang="en-US" sz="2400" b="1" u="sng" cap="none" dirty="0">
                <a:latin typeface="Arial" panose="020B0604020202020204" pitchFamily="34" charset="0"/>
                <a:cs typeface="Arial" panose="020B0604020202020204" pitchFamily="34" charset="0"/>
              </a:rPr>
              <a:t>Constant Returns to Scale:</a:t>
            </a:r>
            <a:r>
              <a:rPr lang="en-US" sz="2400" cap="none" dirty="0">
                <a:latin typeface="Arial" panose="020B0604020202020204" pitchFamily="34" charset="0"/>
                <a:cs typeface="Arial" panose="020B0604020202020204" pitchFamily="34" charset="0"/>
              </a:rPr>
              <a:t> Output increases by the same proportion as the increase in inputs. According to Marshall, the law of constant returns tends to operate when the actions of the laws of increasing returns and decreasing returns are balanced out; or in other words, economies and diseconomies of scale are exactly in balance over a range of output.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225B51E-049A-40B3-9D5E-9303C33D1493}"/>
              </a:ext>
            </a:extLst>
          </p:cNvPr>
          <p:cNvSpPr>
            <a:spLocks noGrp="1"/>
          </p:cNvSpPr>
          <p:nvPr>
            <p:ph idx="1"/>
          </p:nvPr>
        </p:nvSpPr>
        <p:spPr>
          <a:xfrm>
            <a:off x="0" y="0"/>
            <a:ext cx="9144000" cy="6857999"/>
          </a:xfrm>
        </p:spPr>
        <p:txBody>
          <a:bodyPr>
            <a:normAutofit/>
          </a:bodyPr>
          <a:lstStyle/>
          <a:p>
            <a:pPr marL="457200" indent="-457200" algn="just">
              <a:buFont typeface="+mj-lt"/>
              <a:buAutoNum type="arabicPeriod" startAt="3"/>
            </a:pPr>
            <a:r>
              <a:rPr lang="en-US" sz="2400" b="1" u="sng" cap="none" dirty="0">
                <a:latin typeface="Arial" panose="020B0604020202020204" pitchFamily="34" charset="0"/>
                <a:cs typeface="Arial" panose="020B0604020202020204" pitchFamily="34" charset="0"/>
              </a:rPr>
              <a:t>Decreasing Returns to Scale:</a:t>
            </a:r>
            <a:r>
              <a:rPr lang="en-US" sz="2400" cap="none" dirty="0">
                <a:latin typeface="Arial" panose="020B0604020202020204" pitchFamily="34" charset="0"/>
                <a:cs typeface="Arial" panose="020B0604020202020204" pitchFamily="34" charset="0"/>
              </a:rPr>
              <a:t> Output increases by a smaller proportion than the increase in inputs. Decreasing returns to scale are usually attributed to increased problems of organization and complexities of large-scale management which may be physically very difficult to handle.</a:t>
            </a:r>
          </a:p>
          <a:p>
            <a:pPr marL="0" indent="0" algn="just">
              <a:buNone/>
            </a:pPr>
            <a:endParaRPr lang="en-US" sz="2400" cap="none" dirty="0">
              <a:latin typeface="Arial" panose="020B0604020202020204" pitchFamily="34" charset="0"/>
              <a:cs typeface="Arial" panose="020B0604020202020204" pitchFamily="34" charset="0"/>
            </a:endParaRPr>
          </a:p>
          <a:p>
            <a:pPr marL="0" indent="0" algn="just">
              <a:buNone/>
            </a:pPr>
            <a:endParaRPr lang="en-US" sz="2400" dirty="0"/>
          </a:p>
        </p:txBody>
      </p:sp>
      <p:pic>
        <p:nvPicPr>
          <p:cNvPr id="4" name="Content Placeholder 5">
            <a:extLst>
              <a:ext uri="{FF2B5EF4-FFF2-40B4-BE49-F238E27FC236}">
                <a16:creationId xmlns:a16="http://schemas.microsoft.com/office/drawing/2014/main" xmlns="" id="{2E21375E-C821-4526-B100-6953BE809BA2}"/>
              </a:ext>
            </a:extLst>
          </p:cNvPr>
          <p:cNvPicPr>
            <a:picLocks noChangeAspect="1"/>
          </p:cNvPicPr>
          <p:nvPr/>
        </p:nvPicPr>
        <p:blipFill>
          <a:blip r:embed="rId2"/>
          <a:stretch>
            <a:fillRect/>
          </a:stretch>
        </p:blipFill>
        <p:spPr>
          <a:xfrm>
            <a:off x="0" y="2825393"/>
            <a:ext cx="9185095" cy="4032607"/>
          </a:xfrm>
          <a:prstGeom prst="rect">
            <a:avLst/>
          </a:prstGeom>
        </p:spPr>
      </p:pic>
    </p:spTree>
    <p:extLst>
      <p:ext uri="{BB962C8B-B14F-4D97-AF65-F5344CB8AC3E}">
        <p14:creationId xmlns:p14="http://schemas.microsoft.com/office/powerpoint/2010/main" val="3043355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7C37FB1-1852-4B6E-A5F3-16EBF9DF9FEF}"/>
              </a:ext>
            </a:extLst>
          </p:cNvPr>
          <p:cNvSpPr>
            <a:spLocks noGrp="1"/>
          </p:cNvSpPr>
          <p:nvPr>
            <p:ph idx="1"/>
          </p:nvPr>
        </p:nvSpPr>
        <p:spPr>
          <a:xfrm>
            <a:off x="0" y="0"/>
            <a:ext cx="9144000" cy="6857999"/>
          </a:xfrm>
        </p:spPr>
        <p:txBody>
          <a:bodyPr>
            <a:normAutofit/>
          </a:bodyPr>
          <a:lstStyle/>
          <a:p>
            <a:pPr marL="0" indent="0" algn="just">
              <a:buNone/>
            </a:pPr>
            <a:r>
              <a:rPr lang="en-US" sz="3200" b="1" u="sng" cap="none" dirty="0">
                <a:latin typeface="Arial" panose="020B0604020202020204" pitchFamily="34" charset="0"/>
                <a:cs typeface="Arial" panose="020B0604020202020204" pitchFamily="34" charset="0"/>
              </a:rPr>
              <a:t>Factors Influencing Returns to Scale:</a:t>
            </a:r>
          </a:p>
          <a:p>
            <a:pPr marL="0" indent="0" algn="just">
              <a:buNone/>
            </a:pPr>
            <a:r>
              <a:rPr lang="en-US" sz="2200" cap="none" dirty="0">
                <a:latin typeface="Arial" panose="020B0604020202020204" pitchFamily="34" charset="0"/>
                <a:cs typeface="Arial" panose="020B0604020202020204" pitchFamily="34" charset="0"/>
              </a:rPr>
              <a:t>1. Managerial Efficiency: Efficient management improves coordination, supervision, and decision-making. As scale expands, if management becomes more specialized and organized then it is increasing returns to scale. If management becomes complex, communication delays arise then it is decreasing returns to scale.</a:t>
            </a:r>
          </a:p>
          <a:p>
            <a:pPr marL="0" indent="0" algn="just">
              <a:buNone/>
            </a:pPr>
            <a:r>
              <a:rPr lang="en-US" sz="2200" cap="none" dirty="0">
                <a:latin typeface="Arial" panose="020B0604020202020204" pitchFamily="34" charset="0"/>
                <a:cs typeface="Arial" panose="020B0604020202020204" pitchFamily="34" charset="0"/>
              </a:rPr>
              <a:t>2. Technical / Technological Factors: Advanced machines, automation, and better technology enhance productivity. Large-scale firms can adopt modern techniques not affordable to small firms.</a:t>
            </a:r>
          </a:p>
          <a:p>
            <a:pPr marL="0" indent="0" algn="just">
              <a:buNone/>
            </a:pPr>
            <a:r>
              <a:rPr lang="en-US" sz="2200" cap="none" dirty="0">
                <a:latin typeface="Arial" panose="020B0604020202020204" pitchFamily="34" charset="0"/>
                <a:cs typeface="Arial" panose="020B0604020202020204" pitchFamily="34" charset="0"/>
              </a:rPr>
              <a:t>3. </a:t>
            </a:r>
            <a:r>
              <a:rPr lang="en-US" sz="2200" cap="none" dirty="0" err="1">
                <a:latin typeface="Arial" panose="020B0604020202020204" pitchFamily="34" charset="0"/>
                <a:cs typeface="Arial" panose="020B0604020202020204" pitchFamily="34" charset="0"/>
              </a:rPr>
              <a:t>Specialisation</a:t>
            </a:r>
            <a:r>
              <a:rPr lang="en-US" sz="2200" cap="none" dirty="0">
                <a:latin typeface="Arial" panose="020B0604020202020204" pitchFamily="34" charset="0"/>
                <a:cs typeface="Arial" panose="020B0604020202020204" pitchFamily="34" charset="0"/>
              </a:rPr>
              <a:t> &amp; Division of </a:t>
            </a:r>
            <a:r>
              <a:rPr lang="en-US" sz="2200" cap="none" dirty="0" err="1">
                <a:latin typeface="Arial" panose="020B0604020202020204" pitchFamily="34" charset="0"/>
                <a:cs typeface="Arial" panose="020B0604020202020204" pitchFamily="34" charset="0"/>
              </a:rPr>
              <a:t>Labour</a:t>
            </a:r>
            <a:r>
              <a:rPr lang="en-US" sz="2200" cap="none" dirty="0">
                <a:latin typeface="Arial" panose="020B0604020202020204" pitchFamily="34" charset="0"/>
                <a:cs typeface="Arial" panose="020B0604020202020204" pitchFamily="34" charset="0"/>
              </a:rPr>
              <a:t>: Larger scale allows each worker to specialize in specific tasks. Leads to skill improvement, faster production, and less wastage.</a:t>
            </a:r>
          </a:p>
          <a:p>
            <a:pPr marL="0" indent="0" algn="just">
              <a:buNone/>
            </a:pPr>
            <a:r>
              <a:rPr lang="en-US" sz="2200" cap="none" dirty="0">
                <a:latin typeface="Arial" panose="020B0604020202020204" pitchFamily="34" charset="0"/>
                <a:cs typeface="Arial" panose="020B0604020202020204" pitchFamily="34" charset="0"/>
              </a:rPr>
              <a:t>4. Availability &amp; Efficient Use of Capital: Large firms access capital at lower costs. They can invest in better infrastructure and machinery and it will help to reduce per-unit cost.</a:t>
            </a:r>
          </a:p>
        </p:txBody>
      </p:sp>
    </p:spTree>
    <p:extLst>
      <p:ext uri="{BB962C8B-B14F-4D97-AF65-F5344CB8AC3E}">
        <p14:creationId xmlns:p14="http://schemas.microsoft.com/office/powerpoint/2010/main" val="1296454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5B66330-E0D5-4CE7-8BD2-C9D8F2CD7408}"/>
              </a:ext>
            </a:extLst>
          </p:cNvPr>
          <p:cNvSpPr>
            <a:spLocks noGrp="1"/>
          </p:cNvSpPr>
          <p:nvPr>
            <p:ph idx="1"/>
          </p:nvPr>
        </p:nvSpPr>
        <p:spPr>
          <a:xfrm>
            <a:off x="0" y="0"/>
            <a:ext cx="9144000" cy="6857999"/>
          </a:xfrm>
        </p:spPr>
        <p:txBody>
          <a:bodyPr>
            <a:normAutofit/>
          </a:bodyPr>
          <a:lstStyle/>
          <a:p>
            <a:pPr marL="0" indent="0" algn="just">
              <a:buNone/>
            </a:pPr>
            <a:r>
              <a:rPr lang="en-US" sz="2200" cap="none" dirty="0">
                <a:latin typeface="Arial" panose="020B0604020202020204" pitchFamily="34" charset="0"/>
                <a:cs typeface="Arial" panose="020B0604020202020204" pitchFamily="34" charset="0"/>
              </a:rPr>
              <a:t>5. Nature of the Production Process: Industries like software, electricity, steel benefit greatly from scaling up. Agricultural production often faces natural limits.</a:t>
            </a:r>
          </a:p>
          <a:p>
            <a:pPr marL="0" indent="0" algn="just">
              <a:buNone/>
            </a:pPr>
            <a:r>
              <a:rPr lang="en-US" sz="2200" cap="none" dirty="0">
                <a:latin typeface="Arial" panose="020B0604020202020204" pitchFamily="34" charset="0"/>
                <a:cs typeface="Arial" panose="020B0604020202020204" pitchFamily="34" charset="0"/>
              </a:rPr>
              <a:t>6. Indivisibility of Inputs: Some inputs (like big machines, R&amp;D departments) cannot be used efficiently at small scale. When scale increases, these indivisible resources are fully utilized to get more output.</a:t>
            </a:r>
          </a:p>
          <a:p>
            <a:pPr marL="0" indent="0" algn="just">
              <a:buNone/>
            </a:pPr>
            <a:r>
              <a:rPr lang="en-US" sz="2200" cap="none" dirty="0">
                <a:latin typeface="Arial" panose="020B0604020202020204" pitchFamily="34" charset="0"/>
                <a:cs typeface="Arial" panose="020B0604020202020204" pitchFamily="34" charset="0"/>
              </a:rPr>
              <a:t>7. Coordination &amp; Administrative Difficulties: At very large scale complexity rises. Coordination problems, bureaucracy, delays Decreasing Returns to Scale</a:t>
            </a:r>
          </a:p>
        </p:txBody>
      </p:sp>
    </p:spTree>
    <p:extLst>
      <p:ext uri="{BB962C8B-B14F-4D97-AF65-F5344CB8AC3E}">
        <p14:creationId xmlns:p14="http://schemas.microsoft.com/office/powerpoint/2010/main" val="2526665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pic>
        <p:nvPicPr>
          <p:cNvPr id="3" name="Picture 2" descr="temp_0.jp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txBody>
          <a:bodyPr>
            <a:normAutofit/>
          </a:bodyPr>
          <a:lstStyle/>
          <a:p>
            <a:pPr marL="0" indent="0" algn="just">
              <a:buNone/>
            </a:pPr>
            <a:r>
              <a:rPr lang="en-US" sz="2200" cap="none" dirty="0">
                <a:latin typeface="Arial" panose="020B0604020202020204" pitchFamily="34" charset="0"/>
                <a:cs typeface="Arial" panose="020B0604020202020204" pitchFamily="34" charset="0"/>
              </a:rPr>
              <a:t>An isoquant derived from "iso," meaning equal, and "quant," meaning quantity or product means output. Production function with two variable inputs or equal product curves. </a:t>
            </a:r>
          </a:p>
          <a:p>
            <a:pPr marL="0" indent="0" algn="just">
              <a:buNone/>
            </a:pPr>
            <a:r>
              <a:rPr lang="en-US" sz="2200" cap="none" dirty="0">
                <a:latin typeface="Arial" panose="020B0604020202020204" pitchFamily="34" charset="0"/>
                <a:cs typeface="Arial" panose="020B0604020202020204" pitchFamily="34" charset="0"/>
              </a:rPr>
              <a:t>According to </a:t>
            </a:r>
            <a:r>
              <a:rPr lang="en-US" sz="2200" b="1" cap="none" dirty="0">
                <a:latin typeface="Arial" panose="020B0604020202020204" pitchFamily="34" charset="0"/>
                <a:cs typeface="Arial" panose="020B0604020202020204" pitchFamily="34" charset="0"/>
              </a:rPr>
              <a:t>Ferguson</a:t>
            </a:r>
            <a:r>
              <a:rPr lang="en-US" sz="2200" cap="none" dirty="0">
                <a:latin typeface="Arial" panose="020B0604020202020204" pitchFamily="34" charset="0"/>
                <a:cs typeface="Arial" panose="020B0604020202020204" pitchFamily="34" charset="0"/>
              </a:rPr>
              <a:t>, “an isoquant is a curve showing all possible combinations of inputs physically capable of producing a given level of output.” It represent al those combinations of inputs which are capable of producing the same level of output. </a:t>
            </a:r>
          </a:p>
          <a:p>
            <a:pPr marL="0" indent="0" algn="just">
              <a:buNone/>
            </a:pPr>
            <a:r>
              <a:rPr lang="en-US" sz="2400" b="1" u="sng" cap="none" dirty="0">
                <a:latin typeface="Arial" panose="020B0604020202020204" pitchFamily="34" charset="0"/>
                <a:cs typeface="Arial" panose="020B0604020202020204" pitchFamily="34" charset="0"/>
              </a:rPr>
              <a:t>PROPERTIES OF ISO-QUANT:</a:t>
            </a:r>
          </a:p>
          <a:p>
            <a:pPr marL="457200" indent="-457200" algn="just">
              <a:buFont typeface="+mj-lt"/>
              <a:buAutoNum type="arabicPeriod"/>
            </a:pPr>
            <a:r>
              <a:rPr lang="en-US" sz="2200" cap="none" dirty="0">
                <a:latin typeface="Arial" panose="020B0604020202020204" pitchFamily="34" charset="0"/>
                <a:cs typeface="Arial" panose="020B0604020202020204" pitchFamily="34" charset="0"/>
              </a:rPr>
              <a:t>Iso-quants have a downward slope.</a:t>
            </a:r>
          </a:p>
          <a:p>
            <a:pPr marL="457200" indent="-457200" algn="just">
              <a:buFont typeface="+mj-lt"/>
              <a:buAutoNum type="arabicPeriod"/>
            </a:pPr>
            <a:r>
              <a:rPr lang="en-US" sz="2200" cap="none" dirty="0">
                <a:latin typeface="Arial" panose="020B0604020202020204" pitchFamily="34" charset="0"/>
                <a:cs typeface="Arial" panose="020B0604020202020204" pitchFamily="34" charset="0"/>
              </a:rPr>
              <a:t>Iso-quants are convex to origin.</a:t>
            </a:r>
          </a:p>
          <a:p>
            <a:pPr marL="457200" indent="-457200" algn="just">
              <a:buFont typeface="+mj-lt"/>
              <a:buAutoNum type="arabicPeriod"/>
            </a:pPr>
            <a:r>
              <a:rPr lang="en-US" sz="2200" cap="none" dirty="0">
                <a:latin typeface="Arial" panose="020B0604020202020204" pitchFamily="34" charset="0"/>
                <a:cs typeface="Arial" panose="020B0604020202020204" pitchFamily="34" charset="0"/>
              </a:rPr>
              <a:t>Iso-quants do not intersect</a:t>
            </a:r>
          </a:p>
          <a:p>
            <a:pPr marL="457200" indent="-457200" algn="just">
              <a:buFont typeface="+mj-lt"/>
              <a:buAutoNum type="arabicPeriod"/>
            </a:pPr>
            <a:r>
              <a:rPr lang="en-US" sz="2200" cap="none" dirty="0">
                <a:latin typeface="Arial" panose="020B0604020202020204" pitchFamily="34" charset="0"/>
                <a:cs typeface="Arial" panose="020B0604020202020204" pitchFamily="34" charset="0"/>
              </a:rPr>
              <a:t>The iso-quant is an oval shape curve.</a:t>
            </a:r>
          </a:p>
          <a:p>
            <a:pPr marL="457200" indent="-457200" algn="just">
              <a:buFont typeface="+mj-lt"/>
              <a:buAutoNum type="arabicPeriod"/>
            </a:pPr>
            <a:endParaRPr lang="en-US" sz="2200" cap="none" dirty="0">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temp_4.jpg">
            <a:extLst>
              <a:ext uri="{FF2B5EF4-FFF2-40B4-BE49-F238E27FC236}">
                <a16:creationId xmlns:a16="http://schemas.microsoft.com/office/drawing/2014/main" xmlns="" id="{380AEBA0-1456-46BB-A910-2FF80E98D437}"/>
              </a:ext>
            </a:extLst>
          </p:cNvPr>
          <p:cNvPicPr>
            <a:picLocks noGrp="1" noChangeAspect="1"/>
          </p:cNvPicPr>
          <p:nvPr>
            <p:ph idx="1"/>
          </p:nvPr>
        </p:nvPicPr>
        <p:blipFill>
          <a:blip r:embed="rId3"/>
          <a:stretch>
            <a:fillRect/>
          </a:stretch>
        </p:blipFill>
        <p:spPr>
          <a:xfrm>
            <a:off x="0" y="0"/>
            <a:ext cx="9144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dirty="0"/>
          </a:p>
        </p:txBody>
      </p:sp>
      <p:pic>
        <p:nvPicPr>
          <p:cNvPr id="4" name="Content Placeholder 3" descr="temp_5.jpg">
            <a:extLst>
              <a:ext uri="{FF2B5EF4-FFF2-40B4-BE49-F238E27FC236}">
                <a16:creationId xmlns:a16="http://schemas.microsoft.com/office/drawing/2014/main" xmlns="" id="{15AF694D-7DC6-4FE6-9215-0025BE1A1B1B}"/>
              </a:ext>
            </a:extLst>
          </p:cNvPr>
          <p:cNvPicPr>
            <a:picLocks noGrp="1" noChangeAspect="1"/>
          </p:cNvPicPr>
          <p:nvPr>
            <p:ph idx="1"/>
          </p:nvPr>
        </p:nvPicPr>
        <p:blipFill>
          <a:blip r:embed="rId3"/>
          <a:stretch>
            <a:fillRect/>
          </a:stretch>
        </p:blipFill>
        <p:spPr>
          <a:xfrm>
            <a:off x="0" y="0"/>
            <a:ext cx="9144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pic>
        <p:nvPicPr>
          <p:cNvPr id="4" name="Content Placeholder 3" descr="temp_6.jpg">
            <a:extLst>
              <a:ext uri="{FF2B5EF4-FFF2-40B4-BE49-F238E27FC236}">
                <a16:creationId xmlns:a16="http://schemas.microsoft.com/office/drawing/2014/main" xmlns="" id="{6158E523-F7CF-4632-9FAA-3C5D7199FBDF}"/>
              </a:ext>
            </a:extLst>
          </p:cNvPr>
          <p:cNvPicPr>
            <a:picLocks noGrp="1" noChangeAspect="1"/>
          </p:cNvPicPr>
          <p:nvPr>
            <p:ph idx="1"/>
          </p:nvPr>
        </p:nvPicPr>
        <p:blipFill>
          <a:blip r:embed="rId3"/>
          <a:stretch>
            <a:fillRect/>
          </a:stretch>
        </p:blipFill>
        <p:spPr>
          <a:xfrm>
            <a:off x="0" y="0"/>
            <a:ext cx="9144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75BBC825-7870-496E-A648-FE2508F9368A}"/>
              </a:ext>
            </a:extLst>
          </p:cNvPr>
          <p:cNvPicPr>
            <a:picLocks noGrp="1" noChangeAspect="1"/>
          </p:cNvPicPr>
          <p:nvPr>
            <p:ph idx="1"/>
          </p:nvPr>
        </p:nvPicPr>
        <p:blipFill>
          <a:blip r:embed="rId3"/>
          <a:stretch>
            <a:fillRect/>
          </a:stretch>
        </p:blipFill>
        <p:spPr>
          <a:xfrm>
            <a:off x="0" y="71919"/>
            <a:ext cx="9144000" cy="6786081"/>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dirty="0"/>
          </a:p>
        </p:txBody>
      </p:sp>
      <p:pic>
        <p:nvPicPr>
          <p:cNvPr id="4" name="Content Placeholder 3" descr="temp_16.jpg">
            <a:extLst>
              <a:ext uri="{FF2B5EF4-FFF2-40B4-BE49-F238E27FC236}">
                <a16:creationId xmlns:a16="http://schemas.microsoft.com/office/drawing/2014/main" xmlns="" id="{1E46F115-B961-455C-9858-03D023284C95}"/>
              </a:ext>
            </a:extLst>
          </p:cNvPr>
          <p:cNvPicPr>
            <a:picLocks noGrp="1" noChangeAspect="1"/>
          </p:cNvPicPr>
          <p:nvPr>
            <p:ph idx="1"/>
          </p:nvPr>
        </p:nvPicPr>
        <p:blipFill>
          <a:blip r:embed="rId3"/>
          <a:stretch>
            <a:fillRect/>
          </a:stretch>
        </p:blipFill>
        <p:spPr>
          <a:xfrm>
            <a:off x="0" y="0"/>
            <a:ext cx="9144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8B34B3-0C19-475F-902F-250B7BAD82B5}"/>
              </a:ext>
            </a:extLst>
          </p:cNvPr>
          <p:cNvSpPr>
            <a:spLocks noGrp="1"/>
          </p:cNvSpPr>
          <p:nvPr>
            <p:ph type="title"/>
          </p:nvPr>
        </p:nvSpPr>
        <p:spPr/>
        <p:txBody>
          <a:bodyPr/>
          <a:lstStyle/>
          <a:p>
            <a:endParaRPr lang="en-US" dirty="0"/>
          </a:p>
        </p:txBody>
      </p:sp>
      <p:pic>
        <p:nvPicPr>
          <p:cNvPr id="4" name="Content Placeholder 3" descr="temp_17.jpg">
            <a:extLst>
              <a:ext uri="{FF2B5EF4-FFF2-40B4-BE49-F238E27FC236}">
                <a16:creationId xmlns:a16="http://schemas.microsoft.com/office/drawing/2014/main" xmlns="" id="{9A3C28DE-7CF2-4DFA-BE5B-61231F6989C0}"/>
              </a:ext>
            </a:extLst>
          </p:cNvPr>
          <p:cNvPicPr>
            <a:picLocks noGrp="1" noChangeAspect="1"/>
          </p:cNvPicPr>
          <p:nvPr>
            <p:ph idx="1"/>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028811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891956-6F64-4B71-8407-0D150AEC4DB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DBAD6ED1-BBFE-41ED-8FED-939F94503F91}"/>
              </a:ext>
            </a:extLst>
          </p:cNvPr>
          <p:cNvSpPr>
            <a:spLocks noGrp="1"/>
          </p:cNvSpPr>
          <p:nvPr>
            <p:ph idx="1"/>
          </p:nvPr>
        </p:nvSpPr>
        <p:spPr/>
        <p:txBody>
          <a:bodyPr/>
          <a:lstStyle/>
          <a:p>
            <a:endParaRPr lang="en-US"/>
          </a:p>
        </p:txBody>
      </p:sp>
      <p:pic>
        <p:nvPicPr>
          <p:cNvPr id="4" name="Picture 3" descr="temp_18.jpg">
            <a:extLst>
              <a:ext uri="{FF2B5EF4-FFF2-40B4-BE49-F238E27FC236}">
                <a16:creationId xmlns:a16="http://schemas.microsoft.com/office/drawing/2014/main" xmlns="" id="{D5D29171-5D6F-4E9F-8203-9ABCB0137F47}"/>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746397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C8ABD0-065C-4FF1-A44B-F3A543331A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40C94435-9D68-4256-B50B-C18BD01A1BF3}"/>
              </a:ext>
            </a:extLst>
          </p:cNvPr>
          <p:cNvSpPr>
            <a:spLocks noGrp="1"/>
          </p:cNvSpPr>
          <p:nvPr>
            <p:ph idx="1"/>
          </p:nvPr>
        </p:nvSpPr>
        <p:spPr/>
        <p:txBody>
          <a:bodyPr/>
          <a:lstStyle/>
          <a:p>
            <a:endParaRPr lang="en-US"/>
          </a:p>
        </p:txBody>
      </p:sp>
      <p:pic>
        <p:nvPicPr>
          <p:cNvPr id="4" name="Picture 3" descr="temp_19.jpg">
            <a:extLst>
              <a:ext uri="{FF2B5EF4-FFF2-40B4-BE49-F238E27FC236}">
                <a16:creationId xmlns:a16="http://schemas.microsoft.com/office/drawing/2014/main" xmlns="" id="{C0272E44-D4AA-4E71-A99B-95DF1DCF114F}"/>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024279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3166"/>
            <a:ext cx="9144000" cy="830138"/>
          </a:xfrm>
        </p:spPr>
        <p:txBody>
          <a:bodyPr>
            <a:normAutofit fontScale="90000"/>
          </a:bodyPr>
          <a:lstStyle/>
          <a:p>
            <a:r>
              <a:rPr sz="5400" b="1" u="sng" dirty="0">
                <a:latin typeface="Arial" panose="020B0604020202020204" pitchFamily="34" charset="0"/>
                <a:cs typeface="Arial" panose="020B0604020202020204" pitchFamily="34" charset="0"/>
              </a:rPr>
              <a:t>Iso-Cost</a:t>
            </a:r>
          </a:p>
        </p:txBody>
      </p:sp>
      <p:sp>
        <p:nvSpPr>
          <p:cNvPr id="3" name="Content Placeholder 2"/>
          <p:cNvSpPr>
            <a:spLocks noGrp="1"/>
          </p:cNvSpPr>
          <p:nvPr>
            <p:ph idx="1"/>
          </p:nvPr>
        </p:nvSpPr>
        <p:spPr>
          <a:xfrm>
            <a:off x="-1" y="1017142"/>
            <a:ext cx="9143999" cy="5797692"/>
          </a:xfrm>
        </p:spPr>
        <p:txBody>
          <a:bodyPr>
            <a:normAutofit/>
          </a:bodyPr>
          <a:lstStyle/>
          <a:p>
            <a:pPr marL="0" indent="0" algn="just">
              <a:buNone/>
            </a:pPr>
            <a:r>
              <a:rPr lang="en-US" sz="2200" cap="none" dirty="0">
                <a:latin typeface="Arial" panose="020B0604020202020204" pitchFamily="34" charset="0"/>
                <a:cs typeface="Arial" panose="020B0604020202020204" pitchFamily="34" charset="0"/>
              </a:rPr>
              <a:t>The term "</a:t>
            </a:r>
            <a:r>
              <a:rPr lang="en-US" sz="2200" cap="none" dirty="0" err="1">
                <a:latin typeface="Arial" panose="020B0604020202020204" pitchFamily="34" charset="0"/>
                <a:cs typeface="Arial" panose="020B0604020202020204" pitchFamily="34" charset="0"/>
              </a:rPr>
              <a:t>isocost</a:t>
            </a:r>
            <a:r>
              <a:rPr lang="en-US" sz="2200" cap="none" dirty="0">
                <a:latin typeface="Arial" panose="020B0604020202020204" pitchFamily="34" charset="0"/>
                <a:cs typeface="Arial" panose="020B0604020202020204" pitchFamily="34" charset="0"/>
              </a:rPr>
              <a:t>" literally means "equal cost." An </a:t>
            </a:r>
            <a:r>
              <a:rPr lang="en-US" sz="2200" cap="none" dirty="0" err="1">
                <a:latin typeface="Arial" panose="020B0604020202020204" pitchFamily="34" charset="0"/>
                <a:cs typeface="Arial" panose="020B0604020202020204" pitchFamily="34" charset="0"/>
              </a:rPr>
              <a:t>isocost</a:t>
            </a:r>
            <a:r>
              <a:rPr lang="en-US" sz="2200" cap="none" dirty="0">
                <a:latin typeface="Arial" panose="020B0604020202020204" pitchFamily="34" charset="0"/>
                <a:cs typeface="Arial" panose="020B0604020202020204" pitchFamily="34" charset="0"/>
              </a:rPr>
              <a:t> line represents all combinations of inputs (typically labor and capital) that a firm can use for a given total cost. Therefore, every point on a specific </a:t>
            </a:r>
            <a:r>
              <a:rPr lang="en-US" sz="2200" cap="none" dirty="0" err="1">
                <a:latin typeface="Arial" panose="020B0604020202020204" pitchFamily="34" charset="0"/>
                <a:cs typeface="Arial" panose="020B0604020202020204" pitchFamily="34" charset="0"/>
              </a:rPr>
              <a:t>isocost</a:t>
            </a:r>
            <a:r>
              <a:rPr lang="en-US" sz="2200" cap="none" dirty="0">
                <a:latin typeface="Arial" panose="020B0604020202020204" pitchFamily="34" charset="0"/>
                <a:cs typeface="Arial" panose="020B0604020202020204" pitchFamily="34" charset="0"/>
              </a:rPr>
              <a:t> line represents the same total cost of production.</a:t>
            </a:r>
          </a:p>
          <a:p>
            <a:pPr marL="0" indent="0" algn="ctr">
              <a:buNone/>
            </a:pPr>
            <a:r>
              <a:rPr lang="en-US" sz="2800" b="1" cap="none" dirty="0">
                <a:latin typeface="Arial" panose="020B0604020202020204" pitchFamily="34" charset="0"/>
                <a:cs typeface="Arial" panose="020B0604020202020204" pitchFamily="34" charset="0"/>
              </a:rPr>
              <a:t>C = </a:t>
            </a:r>
            <a:r>
              <a:rPr lang="en-US" sz="2800" b="1" cap="none" dirty="0" err="1">
                <a:latin typeface="Arial" panose="020B0604020202020204" pitchFamily="34" charset="0"/>
                <a:cs typeface="Arial" panose="020B0604020202020204" pitchFamily="34" charset="0"/>
              </a:rPr>
              <a:t>wL</a:t>
            </a:r>
            <a:r>
              <a:rPr lang="en-US" sz="2800" b="1" cap="none" dirty="0">
                <a:latin typeface="Arial" panose="020B0604020202020204" pitchFamily="34" charset="0"/>
                <a:cs typeface="Arial" panose="020B0604020202020204" pitchFamily="34" charset="0"/>
              </a:rPr>
              <a:t> + </a:t>
            </a:r>
            <a:r>
              <a:rPr lang="en-US" sz="2800" b="1" cap="none" dirty="0" err="1">
                <a:latin typeface="Arial" panose="020B0604020202020204" pitchFamily="34" charset="0"/>
                <a:cs typeface="Arial" panose="020B0604020202020204" pitchFamily="34" charset="0"/>
              </a:rPr>
              <a:t>rK</a:t>
            </a:r>
            <a:endParaRPr lang="en-US" sz="2800" b="1" cap="none" dirty="0">
              <a:latin typeface="Arial" panose="020B0604020202020204" pitchFamily="34" charset="0"/>
              <a:cs typeface="Arial" panose="020B0604020202020204" pitchFamily="34" charset="0"/>
            </a:endParaRPr>
          </a:p>
          <a:p>
            <a:pPr marL="0" indent="0" algn="just">
              <a:buNone/>
            </a:pPr>
            <a:r>
              <a:rPr lang="en-US" sz="2200" cap="none" dirty="0">
                <a:latin typeface="Arial" panose="020B0604020202020204" pitchFamily="34" charset="0"/>
                <a:cs typeface="Arial" panose="020B0604020202020204" pitchFamily="34" charset="0"/>
              </a:rPr>
              <a:t>Where:</a:t>
            </a:r>
          </a:p>
          <a:p>
            <a:pPr marL="0" indent="0" algn="just">
              <a:buNone/>
            </a:pPr>
            <a:r>
              <a:rPr lang="en-US" sz="2200" cap="none" dirty="0">
                <a:latin typeface="Arial" panose="020B0604020202020204" pitchFamily="34" charset="0"/>
                <a:cs typeface="Arial" panose="020B0604020202020204" pitchFamily="34" charset="0"/>
              </a:rPr>
              <a:t>C = Total Cost</a:t>
            </a:r>
          </a:p>
          <a:p>
            <a:pPr marL="0" indent="0" algn="just">
              <a:buNone/>
            </a:pPr>
            <a:r>
              <a:rPr lang="en-US" sz="2200" cap="none" dirty="0">
                <a:latin typeface="Arial" panose="020B0604020202020204" pitchFamily="34" charset="0"/>
                <a:cs typeface="Arial" panose="020B0604020202020204" pitchFamily="34" charset="0"/>
              </a:rPr>
              <a:t>w = Wage rate (price of labor)</a:t>
            </a:r>
          </a:p>
          <a:p>
            <a:pPr marL="0" indent="0" algn="just">
              <a:buNone/>
            </a:pPr>
            <a:r>
              <a:rPr lang="en-US" sz="2200" cap="none" dirty="0">
                <a:latin typeface="Arial" panose="020B0604020202020204" pitchFamily="34" charset="0"/>
                <a:cs typeface="Arial" panose="020B0604020202020204" pitchFamily="34" charset="0"/>
              </a:rPr>
              <a:t>L = Quantity of Labor</a:t>
            </a:r>
          </a:p>
          <a:p>
            <a:pPr marL="0" indent="0" algn="just">
              <a:buNone/>
            </a:pPr>
            <a:r>
              <a:rPr lang="en-US" sz="2200" cap="none" dirty="0">
                <a:latin typeface="Arial" panose="020B0604020202020204" pitchFamily="34" charset="0"/>
                <a:cs typeface="Arial" panose="020B0604020202020204" pitchFamily="34" charset="0"/>
              </a:rPr>
              <a:t>r = Rental rate of capital (price of capital)</a:t>
            </a:r>
          </a:p>
          <a:p>
            <a:pPr marL="0" indent="0" algn="just">
              <a:buNone/>
            </a:pPr>
            <a:r>
              <a:rPr lang="en-US" sz="2200" cap="none" dirty="0">
                <a:latin typeface="Arial" panose="020B0604020202020204" pitchFamily="34" charset="0"/>
                <a:cs typeface="Arial" panose="020B0604020202020204" pitchFamily="34" charset="0"/>
              </a:rPr>
              <a:t>K = Quantity of Capital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999201"/>
          </a:xfrm>
        </p:spPr>
        <p:txBody>
          <a:bodyPr>
            <a:normAutofit/>
          </a:bodyPr>
          <a:lstStyle/>
          <a:p>
            <a:r>
              <a:rPr lang="en-US" sz="4800" b="1" u="sng" dirty="0"/>
              <a:t>ECONOMIES OF SCALE</a:t>
            </a:r>
            <a:endParaRPr sz="4800" b="1" u="sng" dirty="0"/>
          </a:p>
        </p:txBody>
      </p:sp>
      <p:sp>
        <p:nvSpPr>
          <p:cNvPr id="3" name="Content Placeholder 2"/>
          <p:cNvSpPr>
            <a:spLocks noGrp="1"/>
          </p:cNvSpPr>
          <p:nvPr>
            <p:ph idx="1"/>
          </p:nvPr>
        </p:nvSpPr>
        <p:spPr>
          <a:xfrm>
            <a:off x="-1" y="999202"/>
            <a:ext cx="9143999" cy="5858797"/>
          </a:xfrm>
        </p:spPr>
        <p:txBody>
          <a:bodyPr>
            <a:normAutofit/>
          </a:bodyPr>
          <a:lstStyle/>
          <a:p>
            <a:pPr marL="0" indent="0" algn="just">
              <a:buNone/>
            </a:pPr>
            <a:r>
              <a:rPr lang="en-US" sz="2200" cap="none" dirty="0">
                <a:latin typeface="Arial" panose="020B0604020202020204" pitchFamily="34" charset="0"/>
                <a:cs typeface="Arial" panose="020B0604020202020204" pitchFamily="34" charset="0"/>
              </a:rPr>
              <a:t>Economies of scale refer to the cost advantages that a business can achieve due to increased production. As a company produces more goods or services, its average cost per unit tends to decrease. This reduction in average cost arises from various factors that make large-scale production more efficient. The concept “economies of scale” may be viewed in two senses: broad and narrow.</a:t>
            </a:r>
          </a:p>
          <a:p>
            <a:pPr marL="0" indent="0" algn="just">
              <a:buNone/>
            </a:pPr>
            <a:r>
              <a:rPr lang="en-US" sz="2200" b="1" u="sng" cap="none" dirty="0">
                <a:latin typeface="Arial" panose="020B0604020202020204" pitchFamily="34" charset="0"/>
                <a:cs typeface="Arial" panose="020B0604020202020204" pitchFamily="34" charset="0"/>
              </a:rPr>
              <a:t>Definition:</a:t>
            </a:r>
            <a:r>
              <a:rPr lang="en-US" sz="2200" b="1" cap="none" dirty="0">
                <a:latin typeface="Arial" panose="020B0604020202020204" pitchFamily="34" charset="0"/>
                <a:cs typeface="Arial" panose="020B0604020202020204" pitchFamily="34" charset="0"/>
              </a:rPr>
              <a:t> </a:t>
            </a:r>
            <a:r>
              <a:rPr lang="en-US" sz="2200" cap="none" dirty="0">
                <a:latin typeface="Arial" panose="020B0604020202020204" pitchFamily="34" charset="0"/>
                <a:cs typeface="Arial" panose="020B0604020202020204" pitchFamily="34" charset="0"/>
              </a:rPr>
              <a:t>In a broad sense, anything which serves to minimize average cost of production in the long-run as the scale of output increases is referred to as “economies of scale.” It is measured in money terms.</a:t>
            </a:r>
          </a:p>
          <a:p>
            <a:pPr marL="0" indent="0" algn="just">
              <a:buNone/>
            </a:pPr>
            <a:r>
              <a:rPr lang="en-US" sz="2200" cap="none" dirty="0">
                <a:latin typeface="Arial" panose="020B0604020202020204" pitchFamily="34" charset="0"/>
                <a:cs typeface="Arial" panose="020B0604020202020204" pitchFamily="34" charset="0"/>
              </a:rPr>
              <a:t>The economies of scale may be classified as:</a:t>
            </a:r>
          </a:p>
          <a:p>
            <a:pPr marL="457200" indent="-457200" algn="just">
              <a:buFont typeface="+mj-lt"/>
              <a:buAutoNum type="arabicPeriod"/>
            </a:pPr>
            <a:r>
              <a:rPr lang="en-US" sz="2200" cap="none" dirty="0">
                <a:latin typeface="Arial" panose="020B0604020202020204" pitchFamily="34" charset="0"/>
                <a:cs typeface="Arial" panose="020B0604020202020204" pitchFamily="34" charset="0"/>
              </a:rPr>
              <a:t>Internal economies</a:t>
            </a:r>
          </a:p>
          <a:p>
            <a:pPr marL="457200" indent="-457200" algn="just">
              <a:buFont typeface="+mj-lt"/>
              <a:buAutoNum type="arabicPeriod"/>
            </a:pPr>
            <a:r>
              <a:rPr lang="en-US" sz="2200" cap="none" dirty="0">
                <a:latin typeface="Arial" panose="020B0604020202020204" pitchFamily="34" charset="0"/>
                <a:cs typeface="Arial" panose="020B0604020202020204" pitchFamily="34" charset="0"/>
              </a:rPr>
              <a:t>External economies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560CE46-FB34-4EDB-A35C-76D34023A795}"/>
              </a:ext>
            </a:extLst>
          </p:cNvPr>
          <p:cNvSpPr>
            <a:spLocks noGrp="1"/>
          </p:cNvSpPr>
          <p:nvPr>
            <p:ph idx="1"/>
          </p:nvPr>
        </p:nvSpPr>
        <p:spPr>
          <a:xfrm>
            <a:off x="0" y="0"/>
            <a:ext cx="9144000" cy="6858000"/>
          </a:xfrm>
        </p:spPr>
        <p:txBody>
          <a:bodyPr>
            <a:noAutofit/>
          </a:bodyPr>
          <a:lstStyle/>
          <a:p>
            <a:pPr marL="0" indent="0" algn="just">
              <a:buNone/>
            </a:pPr>
            <a:r>
              <a:rPr lang="en-US" sz="2100" b="1" u="sng" cap="none" dirty="0">
                <a:latin typeface="Arial" panose="020B0604020202020204" pitchFamily="34" charset="0"/>
                <a:cs typeface="Arial" panose="020B0604020202020204" pitchFamily="34" charset="0"/>
              </a:rPr>
              <a:t>Internal Economies:</a:t>
            </a:r>
            <a:r>
              <a:rPr lang="en-US" sz="2100" b="1" cap="none" dirty="0">
                <a:latin typeface="Arial" panose="020B0604020202020204" pitchFamily="34" charset="0"/>
                <a:cs typeface="Arial" panose="020B0604020202020204" pitchFamily="34" charset="0"/>
              </a:rPr>
              <a:t> </a:t>
            </a:r>
            <a:r>
              <a:rPr lang="en-US" sz="2100" cap="none" dirty="0">
                <a:latin typeface="Arial" panose="020B0604020202020204" pitchFamily="34" charset="0"/>
                <a:cs typeface="Arial" panose="020B0604020202020204" pitchFamily="34" charset="0"/>
              </a:rPr>
              <a:t>Internal economies are those economies which are open to an individual firm when its size expands. They emerge within the firm itself as its scale of production increases. Internal economies in the scale of its output cannot be realized unless the firm increases its output, i.e., expands its size. Thus, internal economies are the function of the size of a firm. These are solely enjoyable by the firm itself when its scale of production increases, independently of the actions of other firms.</a:t>
            </a:r>
          </a:p>
          <a:p>
            <a:pPr marL="0" indent="0" algn="just">
              <a:buNone/>
            </a:pPr>
            <a:r>
              <a:rPr lang="en-US" sz="2100" b="1" u="sng" cap="none" dirty="0">
                <a:latin typeface="Arial" panose="020B0604020202020204" pitchFamily="34" charset="0"/>
                <a:cs typeface="Arial" panose="020B0604020202020204" pitchFamily="34" charset="0"/>
              </a:rPr>
              <a:t>External Economies:</a:t>
            </a:r>
            <a:r>
              <a:rPr lang="en-US" sz="2100" cap="none" dirty="0">
                <a:latin typeface="Arial" panose="020B0604020202020204" pitchFamily="34" charset="0"/>
                <a:cs typeface="Arial" panose="020B0604020202020204" pitchFamily="34" charset="0"/>
              </a:rPr>
              <a:t> External economies are those economies which are shared by all the firms in an industry or in a group of industries when their size expands. They are available to all firms from outside, irrespective of their size and scale of production. They are the result of the growth and expansion of any particular industry or a group of industries as a whole. Thus, external economies are the function of the size of the industry. They are not confined to one or two firms, but shared by all the firms (irrespective of their size) in an industry when its size expands.</a:t>
            </a:r>
          </a:p>
        </p:txBody>
      </p:sp>
    </p:spTree>
    <p:extLst>
      <p:ext uri="{BB962C8B-B14F-4D97-AF65-F5344CB8AC3E}">
        <p14:creationId xmlns:p14="http://schemas.microsoft.com/office/powerpoint/2010/main" val="10630810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0C489AD-AEB4-0FE3-767D-515F5E035F3B}"/>
              </a:ext>
            </a:extLst>
          </p:cNvPr>
          <p:cNvSpPr>
            <a:spLocks noGrp="1"/>
          </p:cNvSpPr>
          <p:nvPr>
            <p:ph idx="1"/>
          </p:nvPr>
        </p:nvSpPr>
        <p:spPr>
          <a:xfrm>
            <a:off x="0" y="0"/>
            <a:ext cx="9144000" cy="6858000"/>
          </a:xfrm>
        </p:spPr>
        <p:txBody>
          <a:bodyPr>
            <a:normAutofit/>
          </a:bodyPr>
          <a:lstStyle/>
          <a:p>
            <a:pPr marL="0" indent="0">
              <a:buNone/>
            </a:pPr>
            <a:r>
              <a:rPr lang="en-IN" sz="3200" b="1" u="sng" cap="none" dirty="0">
                <a:latin typeface="Arial" panose="020B0604020202020204" pitchFamily="34" charset="0"/>
                <a:cs typeface="Arial" panose="020B0604020202020204" pitchFamily="34" charset="0"/>
              </a:rPr>
              <a:t>Forms of Internal Economies:</a:t>
            </a:r>
          </a:p>
          <a:p>
            <a:pPr>
              <a:buFont typeface="Wingdings" panose="05000000000000000000" pitchFamily="2" charset="2"/>
              <a:buChar char="Ø"/>
            </a:pPr>
            <a:r>
              <a:rPr lang="en-IN" sz="2200" cap="none" dirty="0">
                <a:latin typeface="Arial" panose="020B0604020202020204" pitchFamily="34" charset="0"/>
                <a:cs typeface="Arial" panose="020B0604020202020204" pitchFamily="34" charset="0"/>
              </a:rPr>
              <a:t>Labour economies</a:t>
            </a:r>
          </a:p>
          <a:p>
            <a:pPr>
              <a:buFont typeface="Wingdings" panose="05000000000000000000" pitchFamily="2" charset="2"/>
              <a:buChar char="Ø"/>
            </a:pPr>
            <a:r>
              <a:rPr lang="en-IN" sz="2200" cap="none" dirty="0">
                <a:latin typeface="Arial" panose="020B0604020202020204" pitchFamily="34" charset="0"/>
                <a:cs typeface="Arial" panose="020B0604020202020204" pitchFamily="34" charset="0"/>
              </a:rPr>
              <a:t>Technical Economies</a:t>
            </a:r>
          </a:p>
          <a:p>
            <a:pPr>
              <a:buFont typeface="Wingdings" panose="05000000000000000000" pitchFamily="2" charset="2"/>
              <a:buChar char="Ø"/>
            </a:pPr>
            <a:r>
              <a:rPr lang="en-IN" sz="2200" cap="none" dirty="0">
                <a:latin typeface="Arial" panose="020B0604020202020204" pitchFamily="34" charset="0"/>
                <a:cs typeface="Arial" panose="020B0604020202020204" pitchFamily="34" charset="0"/>
              </a:rPr>
              <a:t>Managerial Economies</a:t>
            </a:r>
          </a:p>
          <a:p>
            <a:pPr>
              <a:buFont typeface="Wingdings" panose="05000000000000000000" pitchFamily="2" charset="2"/>
              <a:buChar char="Ø"/>
            </a:pPr>
            <a:r>
              <a:rPr lang="en-IN" sz="2200" cap="none" dirty="0">
                <a:latin typeface="Arial" panose="020B0604020202020204" pitchFamily="34" charset="0"/>
                <a:cs typeface="Arial" panose="020B0604020202020204" pitchFamily="34" charset="0"/>
              </a:rPr>
              <a:t>Marketing Economies</a:t>
            </a:r>
          </a:p>
          <a:p>
            <a:pPr>
              <a:buFont typeface="Wingdings" panose="05000000000000000000" pitchFamily="2" charset="2"/>
              <a:buChar char="Ø"/>
            </a:pPr>
            <a:r>
              <a:rPr lang="en-IN" sz="2200" cap="none" dirty="0">
                <a:latin typeface="Arial" panose="020B0604020202020204" pitchFamily="34" charset="0"/>
                <a:cs typeface="Arial" panose="020B0604020202020204" pitchFamily="34" charset="0"/>
              </a:rPr>
              <a:t>Financial Economies</a:t>
            </a:r>
          </a:p>
          <a:p>
            <a:pPr>
              <a:buFont typeface="Wingdings" panose="05000000000000000000" pitchFamily="2" charset="2"/>
              <a:buChar char="Ø"/>
            </a:pPr>
            <a:r>
              <a:rPr lang="en-IN" sz="2200" cap="none" dirty="0">
                <a:latin typeface="Arial" panose="020B0604020202020204" pitchFamily="34" charset="0"/>
                <a:cs typeface="Arial" panose="020B0604020202020204" pitchFamily="34" charset="0"/>
              </a:rPr>
              <a:t>Risk-Minimising Economies</a:t>
            </a:r>
          </a:p>
          <a:p>
            <a:pPr marL="0" indent="0">
              <a:buNone/>
            </a:pPr>
            <a:r>
              <a:rPr lang="en-IN" sz="3200" b="1" u="sng" cap="none" dirty="0">
                <a:latin typeface="Arial" panose="020B0604020202020204" pitchFamily="34" charset="0"/>
                <a:cs typeface="Arial" panose="020B0604020202020204" pitchFamily="34" charset="0"/>
              </a:rPr>
              <a:t>Forms of External </a:t>
            </a:r>
            <a:r>
              <a:rPr lang="en-IN" sz="3200" b="1" u="sng" cap="none" dirty="0" err="1">
                <a:latin typeface="Arial" panose="020B0604020202020204" pitchFamily="34" charset="0"/>
                <a:cs typeface="Arial" panose="020B0604020202020204" pitchFamily="34" charset="0"/>
              </a:rPr>
              <a:t>conomies</a:t>
            </a:r>
            <a:r>
              <a:rPr lang="en-IN" sz="3200" b="1" u="sng" cap="none" dirty="0">
                <a:latin typeface="Arial" panose="020B0604020202020204" pitchFamily="34" charset="0"/>
                <a:cs typeface="Arial" panose="020B0604020202020204" pitchFamily="34" charset="0"/>
              </a:rPr>
              <a:t>:</a:t>
            </a:r>
          </a:p>
          <a:p>
            <a:pPr>
              <a:buFont typeface="Wingdings" panose="05000000000000000000" pitchFamily="2" charset="2"/>
              <a:buChar char="Ø"/>
            </a:pPr>
            <a:r>
              <a:rPr lang="en-IN" sz="2200" cap="none" dirty="0">
                <a:latin typeface="Arial" panose="020B0604020202020204" pitchFamily="34" charset="0"/>
                <a:cs typeface="Arial" panose="020B0604020202020204" pitchFamily="34" charset="0"/>
              </a:rPr>
              <a:t>Economies of Localisation</a:t>
            </a:r>
          </a:p>
          <a:p>
            <a:pPr>
              <a:buFont typeface="Wingdings" panose="05000000000000000000" pitchFamily="2" charset="2"/>
              <a:buChar char="Ø"/>
            </a:pPr>
            <a:r>
              <a:rPr lang="en-US" sz="2200" cap="none" dirty="0">
                <a:latin typeface="Arial" panose="020B0604020202020204" pitchFamily="34" charset="0"/>
                <a:cs typeface="Arial" panose="020B0604020202020204" pitchFamily="34" charset="0"/>
              </a:rPr>
              <a:t>Economies of Information or Technical and Market Intelligence</a:t>
            </a:r>
          </a:p>
          <a:p>
            <a:pPr>
              <a:buFont typeface="Wingdings" panose="05000000000000000000" pitchFamily="2" charset="2"/>
              <a:buChar char="Ø"/>
            </a:pPr>
            <a:r>
              <a:rPr lang="en-IN" sz="2200" cap="none" dirty="0">
                <a:latin typeface="Arial" panose="020B0604020202020204" pitchFamily="34" charset="0"/>
                <a:cs typeface="Arial" panose="020B0604020202020204" pitchFamily="34" charset="0"/>
              </a:rPr>
              <a:t>Economies of Vertical Disintegration</a:t>
            </a:r>
          </a:p>
          <a:p>
            <a:pPr>
              <a:buFont typeface="Wingdings" panose="05000000000000000000" pitchFamily="2" charset="2"/>
              <a:buChar char="Ø"/>
            </a:pPr>
            <a:r>
              <a:rPr lang="en-IN" sz="2200" cap="none" dirty="0">
                <a:latin typeface="Arial" panose="020B0604020202020204" pitchFamily="34" charset="0"/>
                <a:cs typeface="Arial" panose="020B0604020202020204" pitchFamily="34" charset="0"/>
              </a:rPr>
              <a:t>Economies of By-products</a:t>
            </a:r>
          </a:p>
        </p:txBody>
      </p:sp>
    </p:spTree>
    <p:extLst>
      <p:ext uri="{BB962C8B-B14F-4D97-AF65-F5344CB8AC3E}">
        <p14:creationId xmlns:p14="http://schemas.microsoft.com/office/powerpoint/2010/main" val="6859032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88C4F98-A218-B75D-44AC-E4112FD6852F}"/>
              </a:ext>
            </a:extLst>
          </p:cNvPr>
          <p:cNvSpPr>
            <a:spLocks noGrp="1"/>
          </p:cNvSpPr>
          <p:nvPr>
            <p:ph idx="1"/>
          </p:nvPr>
        </p:nvSpPr>
        <p:spPr>
          <a:xfrm>
            <a:off x="0" y="0"/>
            <a:ext cx="9144000" cy="6858000"/>
          </a:xfrm>
        </p:spPr>
        <p:txBody>
          <a:bodyPr>
            <a:normAutofit fontScale="85000" lnSpcReduction="20000"/>
          </a:bodyPr>
          <a:lstStyle/>
          <a:p>
            <a:pPr marL="0" indent="0">
              <a:buNone/>
            </a:pPr>
            <a:r>
              <a:rPr lang="en-US" sz="3300" b="1" u="sng" cap="none" dirty="0">
                <a:latin typeface="Arial" panose="020B0604020202020204" pitchFamily="34" charset="0"/>
                <a:cs typeface="Arial" panose="020B0604020202020204" pitchFamily="34" charset="0"/>
              </a:rPr>
              <a:t>Impact of Economies of Scale:</a:t>
            </a:r>
          </a:p>
          <a:p>
            <a:pPr marL="571500" indent="-571500" algn="just">
              <a:buFont typeface="+mj-lt"/>
              <a:buAutoNum type="romanLcPeriod"/>
            </a:pPr>
            <a:r>
              <a:rPr lang="en-US" sz="2600" cap="none" dirty="0">
                <a:latin typeface="Arial" panose="020B0604020202020204" pitchFamily="34" charset="0"/>
                <a:cs typeface="Arial" panose="020B0604020202020204" pitchFamily="34" charset="0"/>
              </a:rPr>
              <a:t>Lower Production Costs: Economies of scale lead to lower per-unit production costs, which can translate into lower prices for consumers and higher profits for firms.</a:t>
            </a:r>
          </a:p>
          <a:p>
            <a:pPr marL="571500" indent="-571500" algn="just">
              <a:buFont typeface="+mj-lt"/>
              <a:buAutoNum type="romanLcPeriod"/>
            </a:pPr>
            <a:r>
              <a:rPr lang="en-US" sz="2600" cap="none" dirty="0">
                <a:latin typeface="Arial" panose="020B0604020202020204" pitchFamily="34" charset="0"/>
                <a:cs typeface="Arial" panose="020B0604020202020204" pitchFamily="34" charset="0"/>
              </a:rPr>
              <a:t>Increased Efficiency: By using more efficient production techniques and specialized labor, firms can increase their overall efficiency and productivity.</a:t>
            </a:r>
          </a:p>
          <a:p>
            <a:pPr marL="571500" indent="-571500" algn="just">
              <a:buFont typeface="+mj-lt"/>
              <a:buAutoNum type="romanLcPeriod"/>
            </a:pPr>
            <a:r>
              <a:rPr lang="en-US" sz="2600" cap="none" dirty="0">
                <a:latin typeface="Arial" panose="020B0604020202020204" pitchFamily="34" charset="0"/>
                <a:cs typeface="Arial" panose="020B0604020202020204" pitchFamily="34" charset="0"/>
              </a:rPr>
              <a:t>Competitive Advantage: Firms that can achieve economies of scale have a competitive advantage over smaller firms that cannot. This allows them to capture a larger market share and generate higher profits.</a:t>
            </a:r>
          </a:p>
          <a:p>
            <a:pPr marL="571500" indent="-571500" algn="just">
              <a:buFont typeface="+mj-lt"/>
              <a:buAutoNum type="romanLcPeriod"/>
            </a:pPr>
            <a:r>
              <a:rPr lang="en-US" sz="2600" cap="none" dirty="0">
                <a:latin typeface="Arial" panose="020B0604020202020204" pitchFamily="34" charset="0"/>
                <a:cs typeface="Arial" panose="020B0604020202020204" pitchFamily="34" charset="0"/>
              </a:rPr>
              <a:t>Market Concentration: Economies of scale can lead to market concentration, where a few large firms dominate the industry. This can reduce competition and potentially lead to higher prices for consumers.</a:t>
            </a:r>
          </a:p>
          <a:p>
            <a:pPr marL="571500" indent="-571500" algn="just">
              <a:buFont typeface="+mj-lt"/>
              <a:buAutoNum type="romanLcPeriod"/>
            </a:pPr>
            <a:r>
              <a:rPr lang="en-US" sz="2600" cap="none" dirty="0">
                <a:latin typeface="Arial" panose="020B0604020202020204" pitchFamily="34" charset="0"/>
                <a:cs typeface="Arial" panose="020B0604020202020204" pitchFamily="34" charset="0"/>
              </a:rPr>
              <a:t>Innovation: The increased profitability resulting from economies of scale can allow firms to invest more in research and development, leading to innovation and new products.</a:t>
            </a:r>
            <a:endParaRPr lang="en-IN" sz="2600"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3845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AC8709-A47E-E294-559B-4EC397D59DBE}"/>
              </a:ext>
            </a:extLst>
          </p:cNvPr>
          <p:cNvSpPr>
            <a:spLocks noGrp="1"/>
          </p:cNvSpPr>
          <p:nvPr>
            <p:ph type="title"/>
          </p:nvPr>
        </p:nvSpPr>
        <p:spPr>
          <a:xfrm>
            <a:off x="0" y="1"/>
            <a:ext cx="9144000" cy="828135"/>
          </a:xfrm>
        </p:spPr>
        <p:txBody>
          <a:bodyPr>
            <a:normAutofit/>
          </a:bodyPr>
          <a:lstStyle/>
          <a:p>
            <a:r>
              <a:rPr lang="en-US" sz="4800" b="1" u="sng" dirty="0">
                <a:latin typeface="Arial" panose="020B0604020202020204" pitchFamily="34" charset="0"/>
                <a:cs typeface="Arial" panose="020B0604020202020204" pitchFamily="34" charset="0"/>
              </a:rPr>
              <a:t>Diseconomies OF SCALE</a:t>
            </a:r>
            <a:endParaRPr lang="en-IN" sz="4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xmlns="" id="{EF92195D-0308-777D-ABC1-56579B25B471}"/>
              </a:ext>
            </a:extLst>
          </p:cNvPr>
          <p:cNvSpPr>
            <a:spLocks noGrp="1"/>
          </p:cNvSpPr>
          <p:nvPr>
            <p:ph idx="1"/>
          </p:nvPr>
        </p:nvSpPr>
        <p:spPr>
          <a:xfrm>
            <a:off x="-1" y="828136"/>
            <a:ext cx="9144000" cy="6029863"/>
          </a:xfrm>
        </p:spPr>
        <p:txBody>
          <a:bodyPr>
            <a:normAutofit fontScale="92500"/>
          </a:bodyPr>
          <a:lstStyle/>
          <a:p>
            <a:pPr marL="0" indent="0" algn="just">
              <a:buNone/>
            </a:pPr>
            <a:r>
              <a:rPr lang="en-US" sz="2200" cap="none" dirty="0">
                <a:latin typeface="Arial" panose="020B0604020202020204" pitchFamily="34" charset="0"/>
                <a:cs typeface="Arial" panose="020B0604020202020204" pitchFamily="34" charset="0"/>
              </a:rPr>
              <a:t>While economies of scale offer significant advantages, there is a point at which further expansion can lead to diseconomies of scale. Diseconomies of scale occur when a firm becomes too large and complex to manage effectively, leading to increased costs and reduced efficiency.</a:t>
            </a:r>
          </a:p>
          <a:p>
            <a:pPr marL="0" indent="0" algn="just">
              <a:buNone/>
            </a:pPr>
            <a:r>
              <a:rPr lang="en-US" sz="2200" cap="none" dirty="0">
                <a:latin typeface="Arial" panose="020B0604020202020204" pitchFamily="34" charset="0"/>
                <a:cs typeface="Arial" panose="020B0604020202020204" pitchFamily="34" charset="0"/>
              </a:rPr>
              <a:t>The following factors of diseconomies of scale limit the size of a firm:</a:t>
            </a:r>
          </a:p>
          <a:p>
            <a:pPr algn="just"/>
            <a:r>
              <a:rPr lang="en-IN" sz="2200" cap="none" dirty="0">
                <a:latin typeface="Arial" panose="020B0604020202020204" pitchFamily="34" charset="0"/>
                <a:cs typeface="Arial" panose="020B0604020202020204" pitchFamily="34" charset="0"/>
              </a:rPr>
              <a:t>Difficulties of Management</a:t>
            </a:r>
          </a:p>
          <a:p>
            <a:pPr algn="just"/>
            <a:r>
              <a:rPr lang="en-IN" sz="2200" cap="none" dirty="0">
                <a:latin typeface="Arial" panose="020B0604020202020204" pitchFamily="34" charset="0"/>
                <a:cs typeface="Arial" panose="020B0604020202020204" pitchFamily="34" charset="0"/>
              </a:rPr>
              <a:t>Difficulties of Coordination</a:t>
            </a:r>
          </a:p>
          <a:p>
            <a:pPr algn="just"/>
            <a:r>
              <a:rPr lang="en-IN" sz="2200" cap="none" dirty="0">
                <a:latin typeface="Arial" panose="020B0604020202020204" pitchFamily="34" charset="0"/>
                <a:cs typeface="Arial" panose="020B0604020202020204" pitchFamily="34" charset="0"/>
              </a:rPr>
              <a:t>Difficulties in Decision-making</a:t>
            </a:r>
          </a:p>
          <a:p>
            <a:pPr algn="just"/>
            <a:r>
              <a:rPr lang="en-IN" sz="2200" cap="none" dirty="0">
                <a:latin typeface="Arial" panose="020B0604020202020204" pitchFamily="34" charset="0"/>
                <a:cs typeface="Arial" panose="020B0604020202020204" pitchFamily="34" charset="0"/>
              </a:rPr>
              <a:t>Increased Risks</a:t>
            </a:r>
          </a:p>
          <a:p>
            <a:pPr algn="just"/>
            <a:r>
              <a:rPr lang="en-IN" sz="2200" cap="none" dirty="0">
                <a:latin typeface="Arial" panose="020B0604020202020204" pitchFamily="34" charset="0"/>
                <a:cs typeface="Arial" panose="020B0604020202020204" pitchFamily="34" charset="0"/>
              </a:rPr>
              <a:t>Labour Diseconomies</a:t>
            </a:r>
          </a:p>
          <a:p>
            <a:pPr algn="just"/>
            <a:r>
              <a:rPr lang="en-IN" sz="2200" cap="none" dirty="0">
                <a:latin typeface="Arial" panose="020B0604020202020204" pitchFamily="34" charset="0"/>
                <a:cs typeface="Arial" panose="020B0604020202020204" pitchFamily="34" charset="0"/>
              </a:rPr>
              <a:t>Scarcity of Factor Supplies</a:t>
            </a:r>
          </a:p>
          <a:p>
            <a:pPr algn="just"/>
            <a:r>
              <a:rPr lang="en-IN" sz="2200" cap="none" dirty="0">
                <a:latin typeface="Arial" panose="020B0604020202020204" pitchFamily="34" charset="0"/>
                <a:cs typeface="Arial" panose="020B0604020202020204" pitchFamily="34" charset="0"/>
              </a:rPr>
              <a:t>Financial Difficulties</a:t>
            </a:r>
          </a:p>
          <a:p>
            <a:pPr algn="just"/>
            <a:r>
              <a:rPr lang="en-IN" sz="2200" cap="none" dirty="0">
                <a:latin typeface="Arial" panose="020B0604020202020204" pitchFamily="34" charset="0"/>
                <a:cs typeface="Arial" panose="020B0604020202020204" pitchFamily="34" charset="0"/>
              </a:rPr>
              <a:t>Marketing Diseconomies</a:t>
            </a:r>
          </a:p>
        </p:txBody>
      </p:sp>
    </p:spTree>
    <p:extLst>
      <p:ext uri="{BB962C8B-B14F-4D97-AF65-F5344CB8AC3E}">
        <p14:creationId xmlns:p14="http://schemas.microsoft.com/office/powerpoint/2010/main" val="949356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a diagram&#10;&#10;AI-generated content may be incorrect.">
            <a:extLst>
              <a:ext uri="{FF2B5EF4-FFF2-40B4-BE49-F238E27FC236}">
                <a16:creationId xmlns:a16="http://schemas.microsoft.com/office/drawing/2014/main" xmlns="" id="{8AC07013-D33C-6B7C-7139-66C8633B8079}"/>
              </a:ext>
            </a:extLst>
          </p:cNvPr>
          <p:cNvPicPr>
            <a:picLocks noGrp="1" noChangeAspect="1"/>
          </p:cNvPicPr>
          <p:nvPr>
            <p:ph idx="1"/>
          </p:nvPr>
        </p:nvPicPr>
        <p:blipFill>
          <a:blip r:embed="rId3"/>
          <a:srcRect b="8218"/>
          <a:stretch>
            <a:fillRect/>
          </a:stretch>
        </p:blipFill>
        <p:spPr>
          <a:xfrm>
            <a:off x="-34506" y="25879"/>
            <a:ext cx="9213011" cy="6832121"/>
          </a:xfr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problem&#10;&#10;AI-generated content may be incorrect.">
            <a:extLst>
              <a:ext uri="{FF2B5EF4-FFF2-40B4-BE49-F238E27FC236}">
                <a16:creationId xmlns:a16="http://schemas.microsoft.com/office/drawing/2014/main" xmlns="" id="{1722292F-9887-0BFF-18C1-6362AD644793}"/>
              </a:ext>
            </a:extLst>
          </p:cNvPr>
          <p:cNvPicPr>
            <a:picLocks noChangeAspect="1"/>
          </p:cNvPicPr>
          <p:nvPr/>
        </p:nvPicPr>
        <p:blipFill>
          <a:blip r:embed="rId2"/>
          <a:srcRect b="5534"/>
          <a:stretch>
            <a:fillRect/>
          </a:stretch>
        </p:blipFill>
        <p:spPr>
          <a:xfrm>
            <a:off x="0" y="0"/>
            <a:ext cx="9144000" cy="6858000"/>
          </a:xfrm>
          <a:prstGeom prst="rect">
            <a:avLst/>
          </a:prstGeom>
        </p:spPr>
      </p:pic>
    </p:spTree>
    <p:extLst>
      <p:ext uri="{BB962C8B-B14F-4D97-AF65-F5344CB8AC3E}">
        <p14:creationId xmlns:p14="http://schemas.microsoft.com/office/powerpoint/2010/main" val="25012018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hand putting a coin on a stack of coins&#10;&#10;AI-generated content may be incorrect.">
            <a:extLst>
              <a:ext uri="{FF2B5EF4-FFF2-40B4-BE49-F238E27FC236}">
                <a16:creationId xmlns:a16="http://schemas.microsoft.com/office/drawing/2014/main" xmlns="" id="{7EA586AA-D2CF-9DFE-D179-21BF2A5D8D98}"/>
              </a:ext>
            </a:extLst>
          </p:cNvPr>
          <p:cNvPicPr>
            <a:picLocks noChangeAspect="1"/>
          </p:cNvPicPr>
          <p:nvPr/>
        </p:nvPicPr>
        <p:blipFill>
          <a:blip r:embed="rId3"/>
          <a:stretch>
            <a:fillRect/>
          </a:stretch>
        </p:blipFill>
        <p:spPr>
          <a:xfrm>
            <a:off x="0" y="1"/>
            <a:ext cx="9144000" cy="4813540"/>
          </a:xfrm>
          <a:prstGeom prst="rect">
            <a:avLst/>
          </a:prstGeom>
        </p:spPr>
      </p:pic>
      <p:sp>
        <p:nvSpPr>
          <p:cNvPr id="10" name="Title 9">
            <a:extLst>
              <a:ext uri="{FF2B5EF4-FFF2-40B4-BE49-F238E27FC236}">
                <a16:creationId xmlns:a16="http://schemas.microsoft.com/office/drawing/2014/main" xmlns="" id="{F284F37B-58C2-C3FC-C3D2-48C4AFC7100D}"/>
              </a:ext>
            </a:extLst>
          </p:cNvPr>
          <p:cNvSpPr>
            <a:spLocks noGrp="1"/>
          </p:cNvSpPr>
          <p:nvPr>
            <p:ph type="title"/>
          </p:nvPr>
        </p:nvSpPr>
        <p:spPr>
          <a:xfrm>
            <a:off x="0" y="4897220"/>
            <a:ext cx="9144000" cy="1960779"/>
          </a:xfrm>
        </p:spPr>
        <p:txBody>
          <a:bodyPr>
            <a:noAutofit/>
          </a:bodyPr>
          <a:lstStyle/>
          <a:p>
            <a:r>
              <a:rPr lang="en-US" sz="19600" b="1" dirty="0">
                <a:solidFill>
                  <a:srgbClr val="00B050"/>
                </a:solidFill>
                <a:effectLst>
                  <a:outerShdw blurRad="38100" dist="38100" dir="2700000" algn="tl">
                    <a:srgbClr val="000000">
                      <a:alpha val="43137"/>
                    </a:srgbClr>
                  </a:outerShdw>
                </a:effectLst>
                <a:latin typeface="Batang" panose="02030600000101010101" pitchFamily="18" charset="-127"/>
                <a:ea typeface="Batang" panose="02030600000101010101" pitchFamily="18" charset="-127"/>
              </a:rPr>
              <a:t>COST</a:t>
            </a:r>
            <a:endParaRPr lang="en-IN" sz="19600" b="1" dirty="0">
              <a:solidFill>
                <a:srgbClr val="00B050"/>
              </a:solidFill>
              <a:effectLst>
                <a:outerShdw blurRad="38100" dist="38100" dir="2700000" algn="tl">
                  <a:srgbClr val="000000">
                    <a:alpha val="43137"/>
                  </a:srgbClr>
                </a:outerShdw>
              </a:effectLst>
              <a:latin typeface="Batang" panose="02030600000101010101" pitchFamily="18" charset="-127"/>
              <a:ea typeface="Batang" panose="02030600000101010101" pitchFamily="18" charset="-127"/>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7999"/>
          </a:xfrm>
        </p:spPr>
        <p:txBody>
          <a:bodyPr>
            <a:normAutofit lnSpcReduction="10000"/>
          </a:bodyPr>
          <a:lstStyle/>
          <a:p>
            <a:pPr marL="0" indent="0" algn="just">
              <a:buNone/>
            </a:pPr>
            <a:r>
              <a:rPr lang="en-US" sz="2200" cap="none" dirty="0">
                <a:latin typeface="Arial" panose="020B0604020202020204" pitchFamily="34" charset="0"/>
                <a:cs typeface="Arial" panose="020B0604020202020204" pitchFamily="34" charset="0"/>
              </a:rPr>
              <a:t>In managerial economics, cost is normally considered from the producer’s or firm’s point of view. In producing a commodity (or service), a firm has to employ an aggregate of various factors of production such as land, </a:t>
            </a:r>
            <a:r>
              <a:rPr lang="en-US" sz="2200" cap="none" dirty="0" err="1">
                <a:latin typeface="Arial" panose="020B0604020202020204" pitchFamily="34" charset="0"/>
                <a:cs typeface="Arial" panose="020B0604020202020204" pitchFamily="34" charset="0"/>
              </a:rPr>
              <a:t>labour</a:t>
            </a:r>
            <a:r>
              <a:rPr lang="en-US" sz="2200" cap="none" dirty="0">
                <a:latin typeface="Arial" panose="020B0604020202020204" pitchFamily="34" charset="0"/>
                <a:cs typeface="Arial" panose="020B0604020202020204" pitchFamily="34" charset="0"/>
              </a:rPr>
              <a:t>, capital and entrepreneurship. These factors are to be compensated by the firm for their efforts or contribution made in producing the commodity. The cost of production of a commodity is the aggregate of price paid for the factors of production used in producing that commodity. Cost of production, therefore, denotes the value of the factors of production employed. In short, thus, the value of inputs required in the production of a good determines its cost of output. The term “cost” has various concepts. </a:t>
            </a:r>
          </a:p>
          <a:p>
            <a:pPr marL="0" indent="0" algn="just">
              <a:buNone/>
            </a:pPr>
            <a:r>
              <a:rPr lang="en-US" sz="2200" cap="none" dirty="0">
                <a:latin typeface="Arial" panose="020B0604020202020204" pitchFamily="34" charset="0"/>
                <a:cs typeface="Arial" panose="020B0604020202020204" pitchFamily="34" charset="0"/>
              </a:rPr>
              <a:t>These are: (</a:t>
            </a:r>
            <a:r>
              <a:rPr lang="en-US" sz="2200" cap="none" dirty="0" err="1">
                <a:latin typeface="Arial" panose="020B0604020202020204" pitchFamily="34" charset="0"/>
                <a:cs typeface="Arial" panose="020B0604020202020204" pitchFamily="34" charset="0"/>
              </a:rPr>
              <a:t>i</a:t>
            </a:r>
            <a:r>
              <a:rPr lang="en-US" sz="2200" cap="none" dirty="0">
                <a:latin typeface="Arial" panose="020B0604020202020204" pitchFamily="34" charset="0"/>
                <a:cs typeface="Arial" panose="020B0604020202020204" pitchFamily="34" charset="0"/>
              </a:rPr>
              <a:t>) Real Cost; (ii) Opportunity Cost; and (iii) Money Cost.</a:t>
            </a:r>
          </a:p>
          <a:p>
            <a:pPr marL="0" indent="0" algn="just">
              <a:buNone/>
            </a:pPr>
            <a:r>
              <a:rPr lang="en-US" sz="2800" b="1" cap="none"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Real cost: </a:t>
            </a:r>
            <a:r>
              <a:rPr lang="en-US" sz="2200" cap="none" dirty="0">
                <a:latin typeface="Arial" panose="020B0604020202020204" pitchFamily="34" charset="0"/>
                <a:cs typeface="Arial" panose="020B0604020202020204" pitchFamily="34" charset="0"/>
              </a:rPr>
              <a:t>The real cost of production of a commodity refers to the exertion of </a:t>
            </a:r>
            <a:r>
              <a:rPr lang="en-US" sz="2200" cap="none" dirty="0" err="1">
                <a:latin typeface="Arial" panose="020B0604020202020204" pitchFamily="34" charset="0"/>
                <a:cs typeface="Arial" panose="020B0604020202020204" pitchFamily="34" charset="0"/>
              </a:rPr>
              <a:t>labour</a:t>
            </a:r>
            <a:r>
              <a:rPr lang="en-US" sz="2200" cap="none" dirty="0">
                <a:latin typeface="Arial" panose="020B0604020202020204" pitchFamily="34" charset="0"/>
                <a:cs typeface="Arial" panose="020B0604020202020204" pitchFamily="34" charset="0"/>
              </a:rPr>
              <a:t>, sacrifice involved in the abstinence from present consumption by the savers to supply capital, and social effects of pollution, congestion, and environmental distortions.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8267"/>
            <a:ext cx="9144000" cy="6829733"/>
          </a:xfrm>
        </p:spPr>
        <p:txBody>
          <a:bodyPr>
            <a:normAutofit/>
          </a:bodyPr>
          <a:lstStyle/>
          <a:p>
            <a:pPr marL="0" indent="0" algn="just">
              <a:buNone/>
            </a:pPr>
            <a:r>
              <a:rPr lang="en-US" sz="2200" cap="none" dirty="0">
                <a:latin typeface="Arial" panose="020B0604020202020204" pitchFamily="34" charset="0"/>
                <a:cs typeface="Arial" panose="020B0604020202020204" pitchFamily="34" charset="0"/>
              </a:rPr>
              <a:t>Real cost, thus, signifies the Aggregate of real productive resources absorbed in the production of a commodity (or a Service). In a much philosophical way, Marshall (1920), describes “real cost” as follows: “The production of a commodity generally requires many different kinds of </a:t>
            </a:r>
            <a:r>
              <a:rPr lang="en-US" sz="2200" cap="none" dirty="0" err="1">
                <a:latin typeface="Arial" panose="020B0604020202020204" pitchFamily="34" charset="0"/>
                <a:cs typeface="Arial" panose="020B0604020202020204" pitchFamily="34" charset="0"/>
              </a:rPr>
              <a:t>labour</a:t>
            </a:r>
            <a:r>
              <a:rPr lang="en-US" sz="2200" cap="none" dirty="0">
                <a:latin typeface="Arial" panose="020B0604020202020204" pitchFamily="34" charset="0"/>
                <a:cs typeface="Arial" panose="020B0604020202020204" pitchFamily="34" charset="0"/>
              </a:rPr>
              <a:t> and the use of capital in many forms. The exertions of all the different kinds of </a:t>
            </a:r>
            <a:r>
              <a:rPr lang="en-US" sz="2200" cap="none" dirty="0" err="1">
                <a:latin typeface="Arial" panose="020B0604020202020204" pitchFamily="34" charset="0"/>
                <a:cs typeface="Arial" panose="020B0604020202020204" pitchFamily="34" charset="0"/>
              </a:rPr>
              <a:t>labour</a:t>
            </a:r>
            <a:r>
              <a:rPr lang="en-US" sz="2200" cap="none" dirty="0">
                <a:latin typeface="Arial" panose="020B0604020202020204" pitchFamily="34" charset="0"/>
                <a:cs typeface="Arial" panose="020B0604020202020204" pitchFamily="34" charset="0"/>
              </a:rPr>
              <a:t> that are directly or indirectly involved in making it together with the abstinences or rather the waiting required for saving the capital used in making it, all these efforts and sacrifices together will be called the real cost of production of commodity.”</a:t>
            </a:r>
            <a:br>
              <a:rPr lang="en-US" sz="2200" cap="none" dirty="0">
                <a:latin typeface="Arial" panose="020B0604020202020204" pitchFamily="34" charset="0"/>
                <a:cs typeface="Arial" panose="020B0604020202020204" pitchFamily="34" charset="0"/>
              </a:rPr>
            </a:br>
            <a:r>
              <a:rPr lang="en-US" sz="2200" b="1" cap="none"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OPPORTUNITY COST OR ALTERNATIVE COST: </a:t>
            </a:r>
            <a:r>
              <a:rPr lang="en-US" sz="2200" cap="none" dirty="0">
                <a:latin typeface="Arial" panose="020B0604020202020204" pitchFamily="34" charset="0"/>
                <a:cs typeface="Arial" panose="020B0604020202020204" pitchFamily="34" charset="0"/>
              </a:rPr>
              <a:t>Since the real production cost cannot be measured in an absolute sense, the concept of opportunity cost is evolved to measure it in an objective sense. The concept of opportunity cost is based on the scarcity and versatility (alternative </a:t>
            </a:r>
            <a:r>
              <a:rPr lang="en-US" sz="2200" cap="none" dirty="0" err="1">
                <a:latin typeface="Arial" panose="020B0604020202020204" pitchFamily="34" charset="0"/>
                <a:cs typeface="Arial" panose="020B0604020202020204" pitchFamily="34" charset="0"/>
              </a:rPr>
              <a:t>applicabilities</a:t>
            </a:r>
            <a:r>
              <a:rPr lang="en-US" sz="2200" cap="none" dirty="0">
                <a:latin typeface="Arial" panose="020B0604020202020204" pitchFamily="34" charset="0"/>
                <a:cs typeface="Arial" panose="020B0604020202020204" pitchFamily="34" charset="0"/>
              </a:rPr>
              <a:t>) characteristics of productive resources. It is the most fundamental concept in economics.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7999"/>
          </a:xfrm>
        </p:spPr>
        <p:txBody>
          <a:bodyPr/>
          <a:lstStyle/>
          <a:p>
            <a:pPr marL="0" indent="0" algn="just">
              <a:buNone/>
            </a:pPr>
            <a:r>
              <a:rPr lang="en-US" cap="none" dirty="0">
                <a:latin typeface="Arial" panose="020B0604020202020204" pitchFamily="34" charset="0"/>
                <a:cs typeface="Arial" panose="020B0604020202020204" pitchFamily="34" charset="0"/>
              </a:rPr>
              <a:t>“The alternative or opportunity cost of one unit of product A is the amount of product B that has been sacrificed by allocating the resources to produce A rather than B.”</a:t>
            </a:r>
            <a:endParaRPr lang="en-IN" cap="none" dirty="0">
              <a:latin typeface="Arial" panose="020B0604020202020204" pitchFamily="34" charset="0"/>
              <a:cs typeface="Arial" panose="020B0604020202020204" pitchFamily="34" charset="0"/>
            </a:endParaRPr>
          </a:p>
          <a:p>
            <a:pPr marL="0" indent="0" algn="just">
              <a:buNone/>
            </a:pPr>
            <a:r>
              <a:rPr lang="en-IN" sz="2800" b="1" cap="none"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MONEY COST: </a:t>
            </a:r>
            <a:r>
              <a:rPr lang="en-US" cap="none" dirty="0">
                <a:latin typeface="Arial" panose="020B0604020202020204" pitchFamily="34" charset="0"/>
                <a:cs typeface="Arial" panose="020B0604020202020204" pitchFamily="34" charset="0"/>
              </a:rPr>
              <a:t>“Money cost” is the monetary expenditure on inputs of various kinds raw materials, </a:t>
            </a:r>
            <a:r>
              <a:rPr lang="en-US" cap="none" dirty="0" err="1">
                <a:latin typeface="Arial" panose="020B0604020202020204" pitchFamily="34" charset="0"/>
                <a:cs typeface="Arial" panose="020B0604020202020204" pitchFamily="34" charset="0"/>
              </a:rPr>
              <a:t>labour</a:t>
            </a:r>
            <a:r>
              <a:rPr lang="en-US" cap="none" dirty="0">
                <a:latin typeface="Arial" panose="020B0604020202020204" pitchFamily="34" charset="0"/>
                <a:cs typeface="Arial" panose="020B0604020202020204" pitchFamily="34" charset="0"/>
              </a:rPr>
              <a:t>, etc., required for the output. It is the money spent on purchasing the different units of factors of production needed for producing a commodity. Money cost is, obviously the payment made for the factors in terms of money. Money cost is the outlay cost, i.e., actual financial expenditure of the firm.</a:t>
            </a:r>
            <a:endParaRPr cap="none"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xmlns="" id="{06D7A3BA-4A18-58EA-1B8F-5CB4C1493E34}"/>
              </a:ext>
            </a:extLst>
          </p:cNvPr>
          <p:cNvPicPr>
            <a:picLocks noChangeAspect="1"/>
          </p:cNvPicPr>
          <p:nvPr/>
        </p:nvPicPr>
        <p:blipFill>
          <a:blip r:embed="rId3"/>
          <a:srcRect l="4558" t="12689" r="4927" b="4531"/>
          <a:stretch>
            <a:fillRect/>
          </a:stretch>
        </p:blipFill>
        <p:spPr>
          <a:xfrm>
            <a:off x="1" y="3157268"/>
            <a:ext cx="9083614" cy="3700731"/>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7999"/>
          </a:xfrm>
        </p:spPr>
        <p:txBody>
          <a:bodyPr>
            <a:normAutofit lnSpcReduction="10000"/>
          </a:bodyPr>
          <a:lstStyle/>
          <a:p>
            <a:pPr marL="0" indent="0">
              <a:buNone/>
            </a:pPr>
            <a:r>
              <a:rPr lang="en-IN" sz="2800" b="1" cap="none"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Explicit and Implicit Costs: </a:t>
            </a:r>
            <a:r>
              <a:rPr lang="en-US" sz="2200" cap="none" dirty="0">
                <a:latin typeface="Arial" panose="020B0604020202020204" pitchFamily="34" charset="0"/>
                <a:cs typeface="Arial" panose="020B0604020202020204" pitchFamily="34" charset="0"/>
              </a:rPr>
              <a:t>Explicit costs are direct contractual monetary payments incurred through market transactions. Implicit costs are the opportunity costs of the use of factors which a firm does not buy or hire but already owns.</a:t>
            </a:r>
          </a:p>
          <a:p>
            <a:pPr marL="0" indent="0">
              <a:buNone/>
            </a:pPr>
            <a:r>
              <a:rPr lang="en-US" sz="2200" cap="none" dirty="0">
                <a:latin typeface="Arial" panose="020B0604020202020204" pitchFamily="34" charset="0"/>
                <a:cs typeface="Arial" panose="020B0604020202020204" pitchFamily="34" charset="0"/>
              </a:rPr>
              <a:t>The following items of a firm’s expenditure are explicit money costs:</a:t>
            </a:r>
          </a:p>
          <a:p>
            <a:r>
              <a:rPr lang="en-US" sz="2200" cap="none" dirty="0">
                <a:latin typeface="Arial" panose="020B0604020202020204" pitchFamily="34" charset="0"/>
                <a:cs typeface="Arial" panose="020B0604020202020204" pitchFamily="34" charset="0"/>
              </a:rPr>
              <a:t>Costs of raw materials;</a:t>
            </a:r>
          </a:p>
          <a:p>
            <a:r>
              <a:rPr lang="en-US" sz="2200" cap="none" dirty="0">
                <a:latin typeface="Arial" panose="020B0604020202020204" pitchFamily="34" charset="0"/>
                <a:cs typeface="Arial" panose="020B0604020202020204" pitchFamily="34" charset="0"/>
              </a:rPr>
              <a:t>Wages and salaries;</a:t>
            </a:r>
          </a:p>
          <a:p>
            <a:r>
              <a:rPr lang="en-US" sz="2200" cap="none" dirty="0">
                <a:latin typeface="Arial" panose="020B0604020202020204" pitchFamily="34" charset="0"/>
                <a:cs typeface="Arial" panose="020B0604020202020204" pitchFamily="34" charset="0"/>
              </a:rPr>
              <a:t>Power charges;</a:t>
            </a:r>
          </a:p>
          <a:p>
            <a:r>
              <a:rPr lang="en-US" sz="2200" cap="none" dirty="0">
                <a:latin typeface="Arial" panose="020B0604020202020204" pitchFamily="34" charset="0"/>
                <a:cs typeface="Arial" panose="020B0604020202020204" pitchFamily="34" charset="0"/>
              </a:rPr>
              <a:t>Rent of business or factory premises;</a:t>
            </a:r>
          </a:p>
          <a:p>
            <a:r>
              <a:rPr lang="en-US" sz="2200" cap="none" dirty="0">
                <a:latin typeface="Arial" panose="020B0604020202020204" pitchFamily="34" charset="0"/>
                <a:cs typeface="Arial" panose="020B0604020202020204" pitchFamily="34" charset="0"/>
              </a:rPr>
              <a:t>Interest payments of capital invested;</a:t>
            </a:r>
          </a:p>
          <a:p>
            <a:r>
              <a:rPr lang="en-US" sz="2200" cap="none" dirty="0">
                <a:latin typeface="Arial" panose="020B0604020202020204" pitchFamily="34" charset="0"/>
                <a:cs typeface="Arial" panose="020B0604020202020204" pitchFamily="34" charset="0"/>
              </a:rPr>
              <a:t>Insurance premiums;</a:t>
            </a:r>
          </a:p>
          <a:p>
            <a:r>
              <a:rPr lang="en-US" sz="2200" cap="none" dirty="0">
                <a:latin typeface="Arial" panose="020B0604020202020204" pitchFamily="34" charset="0"/>
                <a:cs typeface="Arial" panose="020B0604020202020204" pitchFamily="34" charset="0"/>
              </a:rPr>
              <a:t>Taxes like property tax, duties, license fees, etc.;</a:t>
            </a:r>
          </a:p>
          <a:p>
            <a:r>
              <a:rPr lang="en-US" sz="2200" cap="none" dirty="0">
                <a:latin typeface="Arial" panose="020B0604020202020204" pitchFamily="34" charset="0"/>
                <a:cs typeface="Arial" panose="020B0604020202020204" pitchFamily="34" charset="0"/>
              </a:rPr>
              <a:t>Miscellaneous business expenses like marketing and advertising expenses (selling costs), transport cost, etc.</a:t>
            </a:r>
            <a:endParaRPr sz="2200" cap="none" dirty="0">
              <a:latin typeface="Arial" panose="020B0604020202020204" pitchFamily="34" charset="0"/>
              <a:cs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7999"/>
          </a:xfrm>
        </p:spPr>
        <p:txBody>
          <a:bodyPr>
            <a:normAutofit/>
          </a:bodyPr>
          <a:lstStyle/>
          <a:p>
            <a:pPr marL="0" indent="0" algn="just">
              <a:buNone/>
            </a:pPr>
            <a:r>
              <a:rPr lang="en-US" sz="2200" cap="none" dirty="0">
                <a:latin typeface="Arial" panose="020B0604020202020204" pitchFamily="34" charset="0"/>
                <a:cs typeface="Arial" panose="020B0604020202020204" pitchFamily="34" charset="0"/>
              </a:rPr>
              <a:t>Thus, implicit money costs are as follows:</a:t>
            </a:r>
          </a:p>
          <a:p>
            <a:pPr algn="just"/>
            <a:r>
              <a:rPr lang="en-US" sz="2200" cap="none" dirty="0">
                <a:latin typeface="Arial" panose="020B0604020202020204" pitchFamily="34" charset="0"/>
                <a:cs typeface="Arial" panose="020B0604020202020204" pitchFamily="34" charset="0"/>
              </a:rPr>
              <a:t>Wages of </a:t>
            </a:r>
            <a:r>
              <a:rPr lang="en-US" sz="2200" cap="none" dirty="0" err="1">
                <a:latin typeface="Arial" panose="020B0604020202020204" pitchFamily="34" charset="0"/>
                <a:cs typeface="Arial" panose="020B0604020202020204" pitchFamily="34" charset="0"/>
              </a:rPr>
              <a:t>labour</a:t>
            </a:r>
            <a:r>
              <a:rPr lang="en-US" sz="2200" cap="none" dirty="0">
                <a:latin typeface="Arial" panose="020B0604020202020204" pitchFamily="34" charset="0"/>
                <a:cs typeface="Arial" panose="020B0604020202020204" pitchFamily="34" charset="0"/>
              </a:rPr>
              <a:t> rendered by the entrepreneur himself.</a:t>
            </a:r>
          </a:p>
          <a:p>
            <a:pPr algn="just"/>
            <a:r>
              <a:rPr lang="en-US" sz="2200" cap="none" dirty="0">
                <a:latin typeface="Arial" panose="020B0604020202020204" pitchFamily="34" charset="0"/>
                <a:cs typeface="Arial" panose="020B0604020202020204" pitchFamily="34" charset="0"/>
              </a:rPr>
              <a:t>Interest on capital supplied by him.</a:t>
            </a:r>
          </a:p>
          <a:p>
            <a:pPr algn="just"/>
            <a:r>
              <a:rPr lang="en-US" sz="2200" cap="none" dirty="0">
                <a:latin typeface="Arial" panose="020B0604020202020204" pitchFamily="34" charset="0"/>
                <a:cs typeface="Arial" panose="020B0604020202020204" pitchFamily="34" charset="0"/>
              </a:rPr>
              <a:t>Rent of land and premises belonging to the entrepreneur himself and used in his production.</a:t>
            </a:r>
          </a:p>
          <a:p>
            <a:pPr algn="just"/>
            <a:r>
              <a:rPr lang="en-US" sz="2200" cap="none" dirty="0">
                <a:latin typeface="Arial" panose="020B0604020202020204" pitchFamily="34" charset="0"/>
                <a:cs typeface="Arial" panose="020B0604020202020204" pitchFamily="34" charset="0"/>
              </a:rPr>
              <a:t>Normal returns (profits) of entrepreneur, a compensation needed for his management and </a:t>
            </a:r>
            <a:r>
              <a:rPr lang="en-US" sz="2200" cap="none" dirty="0" err="1">
                <a:latin typeface="Arial" panose="020B0604020202020204" pitchFamily="34" charset="0"/>
                <a:cs typeface="Arial" panose="020B0604020202020204" pitchFamily="34" charset="0"/>
              </a:rPr>
              <a:t>organisational</a:t>
            </a:r>
            <a:r>
              <a:rPr lang="en-US" sz="2200" cap="none" dirty="0">
                <a:latin typeface="Arial" panose="020B0604020202020204" pitchFamily="34" charset="0"/>
                <a:cs typeface="Arial" panose="020B0604020202020204" pitchFamily="34" charset="0"/>
              </a:rPr>
              <a:t> activity.</a:t>
            </a:r>
          </a:p>
          <a:p>
            <a:pPr marL="0" indent="0" algn="just">
              <a:buNone/>
            </a:pPr>
            <a:endParaRPr lang="en-US" sz="2200" cap="none" dirty="0">
              <a:latin typeface="Arial" panose="020B0604020202020204" pitchFamily="34" charset="0"/>
              <a:cs typeface="Arial" panose="020B0604020202020204" pitchFamily="34" charset="0"/>
            </a:endParaRPr>
          </a:p>
          <a:p>
            <a:pPr marL="0" indent="0" algn="just">
              <a:buNone/>
            </a:pPr>
            <a:endParaRPr sz="2800" b="1" cap="none"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xmlns="" id="{B6C9AD8B-9266-66C8-B1F7-CD1E963ECDBC}"/>
              </a:ext>
            </a:extLst>
          </p:cNvPr>
          <p:cNvPicPr>
            <a:picLocks noChangeAspect="1"/>
          </p:cNvPicPr>
          <p:nvPr/>
        </p:nvPicPr>
        <p:blipFill>
          <a:blip r:embed="rId3"/>
          <a:stretch>
            <a:fillRect/>
          </a:stretch>
        </p:blipFill>
        <p:spPr>
          <a:xfrm>
            <a:off x="0" y="3429000"/>
            <a:ext cx="9144000" cy="3429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BD2E27B2-E006-1D6F-C91E-72C291C1B309}"/>
              </a:ext>
            </a:extLst>
          </p:cNvPr>
          <p:cNvPicPr>
            <a:picLocks noGrp="1" noChangeAspect="1"/>
          </p:cNvPicPr>
          <p:nvPr>
            <p:ph idx="1"/>
          </p:nvPr>
        </p:nvPicPr>
        <p:blipFill>
          <a:blip r:embed="rId2"/>
          <a:srcRect t="5414"/>
          <a:stretch>
            <a:fillRect/>
          </a:stretch>
        </p:blipFill>
        <p:spPr>
          <a:xfrm>
            <a:off x="1" y="0"/>
            <a:ext cx="9204384" cy="6858000"/>
          </a:xfrm>
        </p:spPr>
      </p:pic>
    </p:spTree>
    <p:extLst>
      <p:ext uri="{BB962C8B-B14F-4D97-AF65-F5344CB8AC3E}">
        <p14:creationId xmlns:p14="http://schemas.microsoft.com/office/powerpoint/2010/main" val="35093121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7999"/>
          </a:xfrm>
        </p:spPr>
        <p:txBody>
          <a:bodyPr>
            <a:normAutofit/>
          </a:bodyPr>
          <a:lstStyle/>
          <a:p>
            <a:pPr marL="0" indent="0" algn="just">
              <a:buNone/>
            </a:pPr>
            <a:r>
              <a:rPr lang="en-IN" sz="2800" b="1" cap="none"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Fixed Costs: </a:t>
            </a:r>
            <a:r>
              <a:rPr lang="en-US" sz="2200" cap="none" dirty="0">
                <a:latin typeface="Arial" panose="020B0604020202020204" pitchFamily="34" charset="0"/>
                <a:cs typeface="Arial" panose="020B0604020202020204" pitchFamily="34" charset="0"/>
              </a:rPr>
              <a:t>Fixed costs are the amount spent by the firm on fixed inputs in the short-run. Fixed costs are, thus, those costs which remain constant, irrespective of the level of output. These costs remain unchanged even if the output of the firm is nil. Fixed costs, therefore, are known as “supplementary costs” or “overhead costs.” Fixed costs, in the short-run, remain fixed because the firm does not change its size and amount of fixed factors employed. Fixed or supplementary costs usually include:</a:t>
            </a:r>
          </a:p>
          <a:p>
            <a:pPr algn="just"/>
            <a:r>
              <a:rPr lang="en-US" sz="2200" cap="none" dirty="0">
                <a:latin typeface="Arial" panose="020B0604020202020204" pitchFamily="34" charset="0"/>
                <a:cs typeface="Arial" panose="020B0604020202020204" pitchFamily="34" charset="0"/>
              </a:rPr>
              <a:t>Payments of rent for building.</a:t>
            </a:r>
          </a:p>
          <a:p>
            <a:pPr algn="just"/>
            <a:r>
              <a:rPr lang="en-US" sz="2200" cap="none" dirty="0">
                <a:latin typeface="Arial" panose="020B0604020202020204" pitchFamily="34" charset="0"/>
                <a:cs typeface="Arial" panose="020B0604020202020204" pitchFamily="34" charset="0"/>
              </a:rPr>
              <a:t>Interest paid on capital.</a:t>
            </a:r>
          </a:p>
          <a:p>
            <a:pPr algn="just"/>
            <a:r>
              <a:rPr lang="en-US" sz="2200" cap="none" dirty="0">
                <a:latin typeface="Arial" panose="020B0604020202020204" pitchFamily="34" charset="0"/>
                <a:cs typeface="Arial" panose="020B0604020202020204" pitchFamily="34" charset="0"/>
              </a:rPr>
              <a:t>Insurance premiums.</a:t>
            </a:r>
          </a:p>
          <a:p>
            <a:pPr algn="just"/>
            <a:r>
              <a:rPr lang="en-US" sz="2200" cap="none" dirty="0">
                <a:latin typeface="Arial" panose="020B0604020202020204" pitchFamily="34" charset="0"/>
                <a:cs typeface="Arial" panose="020B0604020202020204" pitchFamily="34" charset="0"/>
              </a:rPr>
              <a:t>Depreciation and maintenance allowances.</a:t>
            </a:r>
          </a:p>
          <a:p>
            <a:pPr algn="just"/>
            <a:r>
              <a:rPr lang="en-US" sz="2200" cap="none" dirty="0">
                <a:latin typeface="Arial" panose="020B0604020202020204" pitchFamily="34" charset="0"/>
                <a:cs typeface="Arial" panose="020B0604020202020204" pitchFamily="34" charset="0"/>
              </a:rPr>
              <a:t>Administrative expenses: salaries of managerial and office staff, etc.</a:t>
            </a:r>
          </a:p>
          <a:p>
            <a:pPr algn="just"/>
            <a:r>
              <a:rPr lang="en-US" sz="2200" cap="none" dirty="0">
                <a:latin typeface="Arial" panose="020B0604020202020204" pitchFamily="34" charset="0"/>
                <a:cs typeface="Arial" panose="020B0604020202020204" pitchFamily="34" charset="0"/>
              </a:rPr>
              <a:t>Property and business taxes, </a:t>
            </a:r>
            <a:r>
              <a:rPr lang="en-US" sz="2200" cap="none" dirty="0" err="1">
                <a:latin typeface="Arial" panose="020B0604020202020204" pitchFamily="34" charset="0"/>
                <a:cs typeface="Arial" panose="020B0604020202020204" pitchFamily="34" charset="0"/>
              </a:rPr>
              <a:t>licence</a:t>
            </a:r>
            <a:r>
              <a:rPr lang="en-US" sz="2200" cap="none" dirty="0">
                <a:latin typeface="Arial" panose="020B0604020202020204" pitchFamily="34" charset="0"/>
                <a:cs typeface="Arial" panose="020B0604020202020204" pitchFamily="34" charset="0"/>
              </a:rPr>
              <a:t> fees, etc.</a:t>
            </a:r>
            <a:endParaRPr sz="2200" cap="none" dirty="0">
              <a:latin typeface="Arial" panose="020B0604020202020204" pitchFamily="34" charset="0"/>
              <a:cs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7999"/>
          </a:xfrm>
        </p:spPr>
        <p:txBody>
          <a:bodyPr/>
          <a:lstStyle/>
          <a:p>
            <a:pPr marL="0" indent="0" algn="just">
              <a:buNone/>
            </a:pPr>
            <a:r>
              <a:rPr lang="en-IN" sz="2800" b="1" cap="none"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Variable Costs: </a:t>
            </a:r>
            <a:r>
              <a:rPr lang="en-US" sz="2200" cap="none" dirty="0">
                <a:latin typeface="Arial" panose="020B0604020202020204" pitchFamily="34" charset="0"/>
                <a:cs typeface="Arial" panose="020B0604020202020204" pitchFamily="34" charset="0"/>
              </a:rPr>
              <a:t>Variable costs are those costs that are incurred on variable factors. These costs vary directly with the level of output. In other words, variable costs are those costs which rise when output expands and fall when output contracts. When output is nil, they are reduced to zero. Variable costs are frequently referred to as direct costs or prime costs. Briefly, variable costs or prime costs represent all those costs which can be altered in the short-run as the output alters. These are regarded as “avoidable contractual costs” (when output is nil). The short-run variable costs include:</a:t>
            </a:r>
          </a:p>
          <a:p>
            <a:pPr algn="just"/>
            <a:r>
              <a:rPr lang="en-US" sz="2200" cap="none" dirty="0">
                <a:latin typeface="Arial" panose="020B0604020202020204" pitchFamily="34" charset="0"/>
                <a:cs typeface="Arial" panose="020B0604020202020204" pitchFamily="34" charset="0"/>
              </a:rPr>
              <a:t>Prices of raw materials,</a:t>
            </a:r>
          </a:p>
          <a:p>
            <a:pPr algn="just"/>
            <a:r>
              <a:rPr lang="en-US" sz="2200" cap="none" dirty="0">
                <a:latin typeface="Arial" panose="020B0604020202020204" pitchFamily="34" charset="0"/>
                <a:cs typeface="Arial" panose="020B0604020202020204" pitchFamily="34" charset="0"/>
              </a:rPr>
              <a:t>Wages of </a:t>
            </a:r>
            <a:r>
              <a:rPr lang="en-US" sz="2200" cap="none" dirty="0" err="1">
                <a:latin typeface="Arial" panose="020B0604020202020204" pitchFamily="34" charset="0"/>
                <a:cs typeface="Arial" panose="020B0604020202020204" pitchFamily="34" charset="0"/>
              </a:rPr>
              <a:t>labour</a:t>
            </a:r>
            <a:r>
              <a:rPr lang="en-US" sz="2200" cap="none" dirty="0">
                <a:latin typeface="Arial" panose="020B0604020202020204" pitchFamily="34" charset="0"/>
                <a:cs typeface="Arial" panose="020B0604020202020204" pitchFamily="34" charset="0"/>
              </a:rPr>
              <a:t>,</a:t>
            </a:r>
          </a:p>
          <a:p>
            <a:pPr algn="just"/>
            <a:r>
              <a:rPr lang="en-IN" sz="2200" cap="none" dirty="0">
                <a:latin typeface="Arial" panose="020B0604020202020204" pitchFamily="34" charset="0"/>
                <a:cs typeface="Arial" panose="020B0604020202020204" pitchFamily="34" charset="0"/>
              </a:rPr>
              <a:t>Fuel and power charges,</a:t>
            </a:r>
          </a:p>
          <a:p>
            <a:pPr algn="just"/>
            <a:r>
              <a:rPr lang="en-US" sz="2200" cap="none" dirty="0">
                <a:latin typeface="Arial" panose="020B0604020202020204" pitchFamily="34" charset="0"/>
                <a:cs typeface="Arial" panose="020B0604020202020204" pitchFamily="34" charset="0"/>
              </a:rPr>
              <a:t>Excise duties, sales tax,</a:t>
            </a:r>
          </a:p>
          <a:p>
            <a:pPr algn="just"/>
            <a:r>
              <a:rPr lang="en-IN" sz="2200" cap="none" dirty="0">
                <a:latin typeface="Arial" panose="020B0604020202020204" pitchFamily="34" charset="0"/>
                <a:cs typeface="Arial" panose="020B0604020202020204" pitchFamily="34" charset="0"/>
              </a:rPr>
              <a:t>Transport expenditure, etc.</a:t>
            </a:r>
            <a:endParaRPr sz="2200" cap="none" dirty="0">
              <a:latin typeface="Arial" panose="020B0604020202020204" pitchFamily="34" charset="0"/>
              <a:cs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5E7B577D-D9FE-A977-4DB7-3F76894763A4}"/>
              </a:ext>
            </a:extLst>
          </p:cNvPr>
          <p:cNvPicPr>
            <a:picLocks noGrp="1" noChangeAspect="1"/>
          </p:cNvPicPr>
          <p:nvPr>
            <p:ph idx="1"/>
          </p:nvPr>
        </p:nvPicPr>
        <p:blipFill>
          <a:blip r:embed="rId2"/>
          <a:srcRect t="17414" b="7298"/>
          <a:stretch>
            <a:fillRect/>
          </a:stretch>
        </p:blipFill>
        <p:spPr>
          <a:xfrm>
            <a:off x="901459" y="767750"/>
            <a:ext cx="7341081" cy="5533461"/>
          </a:xfrm>
        </p:spPr>
      </p:pic>
    </p:spTree>
    <p:extLst>
      <p:ext uri="{BB962C8B-B14F-4D97-AF65-F5344CB8AC3E}">
        <p14:creationId xmlns:p14="http://schemas.microsoft.com/office/powerpoint/2010/main" val="3246003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7999"/>
          </a:xfrm>
        </p:spPr>
        <p:txBody>
          <a:bodyPr>
            <a:normAutofit fontScale="92500"/>
          </a:bodyPr>
          <a:lstStyle/>
          <a:p>
            <a:pPr marL="0" indent="0" algn="just">
              <a:buNone/>
            </a:pPr>
            <a:r>
              <a:rPr lang="en-US" sz="2200" b="1" u="sng" cap="none" dirty="0">
                <a:latin typeface="Arial" panose="020B0604020202020204" pitchFamily="34" charset="0"/>
                <a:cs typeface="Arial" panose="020B0604020202020204" pitchFamily="34" charset="0"/>
              </a:rPr>
              <a:t>TYPES OF PRODUCTION COSTS AND THEIR MEASUREMENT:</a:t>
            </a:r>
            <a:r>
              <a:rPr lang="en-US" sz="2200" cap="none" dirty="0">
                <a:latin typeface="Arial" panose="020B0604020202020204" pitchFamily="34" charset="0"/>
                <a:cs typeface="Arial" panose="020B0604020202020204" pitchFamily="34" charset="0"/>
              </a:rPr>
              <a:t> In economic analysis, the following types of costs are considered in studying cost data of a firm:</a:t>
            </a:r>
          </a:p>
          <a:p>
            <a:pPr algn="just"/>
            <a:r>
              <a:rPr lang="en-US" sz="2200" cap="none" dirty="0">
                <a:latin typeface="Arial" panose="020B0604020202020204" pitchFamily="34" charset="0"/>
                <a:cs typeface="Arial" panose="020B0604020202020204" pitchFamily="34" charset="0"/>
              </a:rPr>
              <a:t>Total cost (TC), (TC = TFC + TVC)</a:t>
            </a:r>
          </a:p>
          <a:p>
            <a:pPr algn="just"/>
            <a:r>
              <a:rPr lang="en-US" sz="2200" cap="none" dirty="0">
                <a:latin typeface="Arial" panose="020B0604020202020204" pitchFamily="34" charset="0"/>
                <a:cs typeface="Arial" panose="020B0604020202020204" pitchFamily="34" charset="0"/>
              </a:rPr>
              <a:t>Total fixed cost (TFC),</a:t>
            </a:r>
          </a:p>
          <a:p>
            <a:pPr algn="just"/>
            <a:r>
              <a:rPr lang="en-US" sz="2200" cap="none" dirty="0">
                <a:latin typeface="Arial" panose="020B0604020202020204" pitchFamily="34" charset="0"/>
                <a:cs typeface="Arial" panose="020B0604020202020204" pitchFamily="34" charset="0"/>
              </a:rPr>
              <a:t>Total variable cost (TVC),</a:t>
            </a:r>
          </a:p>
          <a:p>
            <a:pPr algn="just"/>
            <a:r>
              <a:rPr lang="en-US" sz="2200" cap="none" dirty="0">
                <a:latin typeface="Arial" panose="020B0604020202020204" pitchFamily="34" charset="0"/>
                <a:cs typeface="Arial" panose="020B0604020202020204" pitchFamily="34" charset="0"/>
              </a:rPr>
              <a:t>Average fixed cost (AFC), AFC=TFC/Q</a:t>
            </a:r>
          </a:p>
          <a:p>
            <a:pPr algn="just"/>
            <a:r>
              <a:rPr lang="en-US" sz="2200" cap="none" dirty="0">
                <a:latin typeface="Arial" panose="020B0604020202020204" pitchFamily="34" charset="0"/>
                <a:cs typeface="Arial" panose="020B0604020202020204" pitchFamily="34" charset="0"/>
              </a:rPr>
              <a:t>Average variable cost (AVC), AVC=TVC/Q</a:t>
            </a:r>
          </a:p>
          <a:p>
            <a:pPr algn="just"/>
            <a:r>
              <a:rPr lang="en-US" sz="2200" cap="none" dirty="0">
                <a:latin typeface="Arial" panose="020B0604020202020204" pitchFamily="34" charset="0"/>
                <a:cs typeface="Arial" panose="020B0604020202020204" pitchFamily="34" charset="0"/>
              </a:rPr>
              <a:t>Average total cost (ATC), ATC or AC= TC/Q (ATC = AFC + AVC.)</a:t>
            </a:r>
          </a:p>
          <a:p>
            <a:pPr algn="just"/>
            <a:r>
              <a:rPr lang="en-US" sz="2200" cap="none" dirty="0">
                <a:latin typeface="Arial" panose="020B0604020202020204" pitchFamily="34" charset="0"/>
                <a:cs typeface="Arial" panose="020B0604020202020204" pitchFamily="34" charset="0"/>
              </a:rPr>
              <a:t>Marginal Cost (MC): Marginal cost is the cost of producing an extra unit of output. In other words, marginal cost may be defined as the change in total cost associated with a one unit change in output. It is also an “extra-unit cost” or incremental cost, as it measures the amount by which total cost increases when output is expanded by one unit. It can also be calculated by dividing the change in total cost by the one unit change in output.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669"/>
            <a:ext cx="9144000" cy="984533"/>
          </a:xfrm>
        </p:spPr>
        <p:txBody>
          <a:bodyPr>
            <a:normAutofit/>
          </a:bodyPr>
          <a:lstStyle/>
          <a:p>
            <a:r>
              <a:rPr lang="en-IN" sz="48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Break Even Analysis</a:t>
            </a:r>
            <a:endParaRPr sz="4800" b="1" u="sng"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0" y="999202"/>
            <a:ext cx="9144000" cy="5858797"/>
          </a:xfrm>
        </p:spPr>
        <p:txBody>
          <a:bodyPr>
            <a:normAutofit/>
          </a:bodyPr>
          <a:lstStyle/>
          <a:p>
            <a:pPr marL="0" indent="0" algn="just">
              <a:buNone/>
            </a:pPr>
            <a:r>
              <a:rPr lang="en-US" sz="2200" cap="none" dirty="0">
                <a:latin typeface="Arial" panose="020B0604020202020204" pitchFamily="34" charset="0"/>
                <a:cs typeface="Arial" panose="020B0604020202020204" pitchFamily="34" charset="0"/>
              </a:rPr>
              <a:t>The break-even analysis (BEA) has considerable significance for economic research, business decision-making, company management, investment analysis and public policy. The BEA is an important technique to trace the relationship between costs, revenue and profits at the varying levels of output or sales.</a:t>
            </a:r>
          </a:p>
          <a:p>
            <a:pPr marL="0" indent="0" algn="just">
              <a:buNone/>
            </a:pPr>
            <a:r>
              <a:rPr lang="en-US" sz="2200" cap="none" dirty="0">
                <a:latin typeface="Arial" panose="020B0604020202020204" pitchFamily="34" charset="0"/>
                <a:cs typeface="Arial" panose="020B0604020202020204" pitchFamily="34" charset="0"/>
              </a:rPr>
              <a:t>Break-even analysis is a financial calculation that determines the point at which a company's total revenue equals its total costs. At the break-even point, the company is neither making a profit nor incurring a loss. It's a critical tool for businesses of all sizes, helping them understand the relationship between costs, volume, and profit.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7999"/>
          </a:xfrm>
        </p:spPr>
        <p:txBody>
          <a:bodyPr>
            <a:normAutofit/>
          </a:bodyPr>
          <a:lstStyle/>
          <a:p>
            <a:pPr marL="0" indent="0">
              <a:buNone/>
            </a:pPr>
            <a:r>
              <a:rPr lang="en-US" sz="3200" b="1" u="sng" cap="none"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Assumptions of Break-Even Analysis:</a:t>
            </a:r>
          </a:p>
          <a:p>
            <a:pPr marL="0" indent="0" algn="just">
              <a:buNone/>
            </a:pPr>
            <a:r>
              <a:rPr lang="en-US" sz="2200" cap="none" dirty="0">
                <a:latin typeface="Arial" panose="020B0604020202020204" pitchFamily="34" charset="0"/>
                <a:cs typeface="Arial" panose="020B0604020202020204" pitchFamily="34" charset="0"/>
              </a:rPr>
              <a:t>The validity of the BEA is conditioned by a number of assumptions as follows:</a:t>
            </a:r>
          </a:p>
          <a:p>
            <a:pPr marL="0" indent="0" algn="just">
              <a:buNone/>
            </a:pPr>
            <a:r>
              <a:rPr lang="en-US" sz="2200" cap="none" dirty="0">
                <a:latin typeface="Arial" panose="020B0604020202020204" pitchFamily="34" charset="0"/>
                <a:cs typeface="Arial" panose="020B0604020202020204" pitchFamily="34" charset="0"/>
              </a:rPr>
              <a:t>1. The cost function and the revenue function are linear.</a:t>
            </a:r>
          </a:p>
          <a:p>
            <a:pPr marL="0" indent="0" algn="just">
              <a:buNone/>
            </a:pPr>
            <a:r>
              <a:rPr lang="en-US" sz="2200" cap="none" dirty="0">
                <a:latin typeface="Arial" panose="020B0604020202020204" pitchFamily="34" charset="0"/>
                <a:cs typeface="Arial" panose="020B0604020202020204" pitchFamily="34" charset="0"/>
              </a:rPr>
              <a:t>2. The total cost is divided into fixed and variable costs.</a:t>
            </a:r>
          </a:p>
          <a:p>
            <a:pPr marL="0" indent="0" algn="just">
              <a:buNone/>
            </a:pPr>
            <a:r>
              <a:rPr lang="en-US" sz="2200" cap="none" dirty="0">
                <a:latin typeface="Arial" panose="020B0604020202020204" pitchFamily="34" charset="0"/>
                <a:cs typeface="Arial" panose="020B0604020202020204" pitchFamily="34" charset="0"/>
              </a:rPr>
              <a:t>3. The selling price is constant.</a:t>
            </a:r>
          </a:p>
          <a:p>
            <a:pPr marL="0" indent="0" algn="just">
              <a:buNone/>
            </a:pPr>
            <a:r>
              <a:rPr lang="en-US" sz="2200" cap="none" dirty="0">
                <a:latin typeface="Arial" panose="020B0604020202020204" pitchFamily="34" charset="0"/>
                <a:cs typeface="Arial" panose="020B0604020202020204" pitchFamily="34" charset="0"/>
              </a:rPr>
              <a:t>4. The volume of sales and the volume of production are identical.</a:t>
            </a:r>
          </a:p>
          <a:p>
            <a:pPr marL="0" indent="0" algn="just">
              <a:buNone/>
            </a:pPr>
            <a:r>
              <a:rPr lang="en-US" sz="2200" cap="none" dirty="0">
                <a:latin typeface="Arial" panose="020B0604020202020204" pitchFamily="34" charset="0"/>
                <a:cs typeface="Arial" panose="020B0604020202020204" pitchFamily="34" charset="0"/>
              </a:rPr>
              <a:t>5. Average and marginal productivity of factors are constant.</a:t>
            </a:r>
          </a:p>
          <a:p>
            <a:pPr marL="0" indent="0" algn="just">
              <a:buNone/>
            </a:pPr>
            <a:r>
              <a:rPr lang="en-US" sz="2200" cap="none" dirty="0">
                <a:latin typeface="Arial" panose="020B0604020202020204" pitchFamily="34" charset="0"/>
                <a:cs typeface="Arial" panose="020B0604020202020204" pitchFamily="34" charset="0"/>
              </a:rPr>
              <a:t>6. The product-mix is stable in the case of a multi-product firm.</a:t>
            </a:r>
          </a:p>
          <a:p>
            <a:pPr marL="0" indent="0" algn="just">
              <a:buNone/>
            </a:pPr>
            <a:r>
              <a:rPr lang="en-US" sz="2200" cap="none" dirty="0">
                <a:latin typeface="Arial" panose="020B0604020202020204" pitchFamily="34" charset="0"/>
                <a:cs typeface="Arial" panose="020B0604020202020204" pitchFamily="34" charset="0"/>
              </a:rPr>
              <a:t>7. Factor price is constant.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9B5BC4B-6015-6557-9D5A-19828322C902}"/>
              </a:ext>
            </a:extLst>
          </p:cNvPr>
          <p:cNvSpPr>
            <a:spLocks noGrp="1"/>
          </p:cNvSpPr>
          <p:nvPr>
            <p:ph idx="1"/>
          </p:nvPr>
        </p:nvSpPr>
        <p:spPr>
          <a:xfrm>
            <a:off x="0" y="28267"/>
            <a:ext cx="9144000" cy="6829733"/>
          </a:xfrm>
        </p:spPr>
        <p:txBody>
          <a:bodyPr>
            <a:normAutofit fontScale="55000" lnSpcReduction="20000"/>
          </a:bodyPr>
          <a:lstStyle/>
          <a:p>
            <a:pPr marL="0" indent="0" algn="just">
              <a:buNone/>
            </a:pPr>
            <a:r>
              <a:rPr lang="en-US" sz="3600" b="1" u="sng" cap="none"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Limitations of Break-Even Analysis:</a:t>
            </a:r>
          </a:p>
          <a:p>
            <a:pPr marL="514350" indent="-514350" algn="just">
              <a:buFont typeface="+mj-lt"/>
              <a:buAutoNum type="arabicPeriod"/>
            </a:pPr>
            <a:r>
              <a:rPr lang="en-US" sz="3500" cap="none" dirty="0">
                <a:latin typeface="Arial" panose="020B0604020202020204" pitchFamily="34" charset="0"/>
                <a:cs typeface="Arial" panose="020B0604020202020204" pitchFamily="34" charset="0"/>
              </a:rPr>
              <a:t>It is static: In the BEA, everything is assumed to be constant. This implies a static condition. It is not suited to a dynamic situation.\</a:t>
            </a:r>
          </a:p>
          <a:p>
            <a:pPr marL="514350" indent="-514350" algn="just">
              <a:buFont typeface="+mj-lt"/>
              <a:buAutoNum type="arabicPeriod"/>
            </a:pPr>
            <a:r>
              <a:rPr lang="en-US" sz="3500" cap="none" dirty="0">
                <a:latin typeface="Arial" panose="020B0604020202020204" pitchFamily="34" charset="0"/>
                <a:cs typeface="Arial" panose="020B0604020202020204" pitchFamily="34" charset="0"/>
              </a:rPr>
              <a:t>It is unrealistic: It is based on many assumptions which do not hold good in practice. Linearity of cost and revenue function are true only for a limited range of output.</a:t>
            </a:r>
          </a:p>
          <a:p>
            <a:pPr marL="514350" indent="-514350" algn="just">
              <a:buFont typeface="+mj-lt"/>
              <a:buAutoNum type="arabicPeriod"/>
            </a:pPr>
            <a:r>
              <a:rPr lang="en-US" sz="3500" cap="none" dirty="0">
                <a:latin typeface="Arial" panose="020B0604020202020204" pitchFamily="34" charset="0"/>
                <a:cs typeface="Arial" panose="020B0604020202020204" pitchFamily="34" charset="0"/>
              </a:rPr>
              <a:t>It has many shortcomings: The BEA regards profit as a function of output only. It fails to consider the impact of technological change, better management, division of </a:t>
            </a:r>
            <a:r>
              <a:rPr lang="en-US" sz="3500" cap="none" dirty="0" err="1">
                <a:latin typeface="Arial" panose="020B0604020202020204" pitchFamily="34" charset="0"/>
                <a:cs typeface="Arial" panose="020B0604020202020204" pitchFamily="34" charset="0"/>
              </a:rPr>
              <a:t>labour</a:t>
            </a:r>
            <a:r>
              <a:rPr lang="en-US" sz="3500" cap="none" dirty="0">
                <a:latin typeface="Arial" panose="020B0604020202020204" pitchFamily="34" charset="0"/>
                <a:cs typeface="Arial" panose="020B0604020202020204" pitchFamily="34" charset="0"/>
              </a:rPr>
              <a:t>, improved productivity and such other factors influencing profits.</a:t>
            </a:r>
          </a:p>
          <a:p>
            <a:pPr marL="514350" indent="-514350" algn="just">
              <a:buFont typeface="+mj-lt"/>
              <a:buAutoNum type="arabicPeriod"/>
            </a:pPr>
            <a:r>
              <a:rPr lang="en-US" sz="3500" cap="none" dirty="0">
                <a:latin typeface="Arial" panose="020B0604020202020204" pitchFamily="34" charset="0"/>
                <a:cs typeface="Arial" panose="020B0604020202020204" pitchFamily="34" charset="0"/>
              </a:rPr>
              <a:t>Its scope is limited to the short-run only: The SEA is not an effective tool for a long-run analysis.</a:t>
            </a:r>
          </a:p>
          <a:p>
            <a:pPr marL="514350" indent="-514350" algn="just">
              <a:buFont typeface="+mj-lt"/>
              <a:buAutoNum type="arabicPeriod"/>
            </a:pPr>
            <a:r>
              <a:rPr lang="en-US" sz="3500" cap="none" dirty="0">
                <a:latin typeface="Arial" panose="020B0604020202020204" pitchFamily="34" charset="0"/>
                <a:cs typeface="Arial" panose="020B0604020202020204" pitchFamily="34" charset="0"/>
              </a:rPr>
              <a:t>It assumes horizontal demand curve with the given price of the product: But this is not so in the case of a monopoly firm.</a:t>
            </a:r>
          </a:p>
          <a:p>
            <a:pPr marL="514350" indent="-514350" algn="just">
              <a:buFont typeface="+mj-lt"/>
              <a:buAutoNum type="arabicPeriod"/>
            </a:pPr>
            <a:r>
              <a:rPr lang="en-US" sz="3500" cap="none" dirty="0">
                <a:latin typeface="Arial" panose="020B0604020202020204" pitchFamily="34" charset="0"/>
                <a:cs typeface="Arial" panose="020B0604020202020204" pitchFamily="34" charset="0"/>
              </a:rPr>
              <a:t>It is difficult to handle selling costs in the BEA: Selling costs do not vary with output. They manipulate sales and affect the volume of output.</a:t>
            </a:r>
          </a:p>
          <a:p>
            <a:pPr marL="514350" indent="-514350" algn="just">
              <a:buFont typeface="+mj-lt"/>
              <a:buAutoNum type="arabicPeriod"/>
            </a:pPr>
            <a:r>
              <a:rPr lang="en-US" sz="3500" cap="none" dirty="0">
                <a:latin typeface="Arial" panose="020B0604020202020204" pitchFamily="34" charset="0"/>
                <a:cs typeface="Arial" panose="020B0604020202020204" pitchFamily="34" charset="0"/>
              </a:rPr>
              <a:t>The traditional BEA is very simple: It makes no provision for corporate income-tax, etc.</a:t>
            </a:r>
            <a:endParaRPr lang="en-IN" sz="3500"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69041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F43D85A-DFBD-E68B-B256-4D1A4672BF93}"/>
              </a:ext>
            </a:extLst>
          </p:cNvPr>
          <p:cNvSpPr>
            <a:spLocks noGrp="1"/>
          </p:cNvSpPr>
          <p:nvPr>
            <p:ph idx="1"/>
          </p:nvPr>
        </p:nvSpPr>
        <p:spPr>
          <a:xfrm>
            <a:off x="0" y="0"/>
            <a:ext cx="9144000" cy="6857999"/>
          </a:xfrm>
        </p:spPr>
        <p:txBody>
          <a:bodyPr>
            <a:normAutofit/>
          </a:bodyPr>
          <a:lstStyle/>
          <a:p>
            <a:pPr marL="0" indent="0" algn="just">
              <a:buNone/>
            </a:pPr>
            <a:r>
              <a:rPr lang="en-US" sz="2200" cap="none" dirty="0">
                <a:latin typeface="Arial" panose="020B0604020202020204" pitchFamily="34" charset="0"/>
                <a:cs typeface="Arial" panose="020B0604020202020204" pitchFamily="34" charset="0"/>
              </a:rPr>
              <a:t>The </a:t>
            </a:r>
            <a:r>
              <a:rPr lang="en-US" sz="2200" i="1" cap="none" dirty="0">
                <a:latin typeface="Arial" panose="020B0604020202020204" pitchFamily="34" charset="0"/>
                <a:cs typeface="Arial" panose="020B0604020202020204" pitchFamily="34" charset="0"/>
              </a:rPr>
              <a:t>BEA </a:t>
            </a:r>
            <a:r>
              <a:rPr lang="en-US" sz="2200" cap="none" dirty="0">
                <a:latin typeface="Arial" panose="020B0604020202020204" pitchFamily="34" charset="0"/>
                <a:cs typeface="Arial" panose="020B0604020202020204" pitchFamily="34" charset="0"/>
              </a:rPr>
              <a:t>can be used for determining the ‘safety margin’ regarding the extent to which the firm can permit a decline in sales without causing losses.</a:t>
            </a:r>
          </a:p>
          <a:p>
            <a:pPr marL="0" indent="0" algn="just">
              <a:buNone/>
            </a:pPr>
            <a:endParaRPr lang="en-US" sz="2200" cap="none" dirty="0">
              <a:latin typeface="Arial" panose="020B0604020202020204" pitchFamily="34" charset="0"/>
              <a:cs typeface="Arial" panose="020B0604020202020204" pitchFamily="34" charset="0"/>
            </a:endParaRPr>
          </a:p>
          <a:p>
            <a:pPr marL="0" indent="0" algn="just">
              <a:buNone/>
            </a:pPr>
            <a:endParaRPr lang="en-US" sz="2200" cap="none" dirty="0">
              <a:latin typeface="Arial" panose="020B0604020202020204" pitchFamily="34" charset="0"/>
              <a:cs typeface="Arial" panose="020B0604020202020204" pitchFamily="34" charset="0"/>
            </a:endParaRPr>
          </a:p>
          <a:p>
            <a:pPr marL="0" indent="0" algn="just">
              <a:buNone/>
            </a:pPr>
            <a:endParaRPr lang="en-US" sz="2200" cap="none" dirty="0">
              <a:latin typeface="Arial" panose="020B0604020202020204" pitchFamily="34" charset="0"/>
              <a:cs typeface="Arial" panose="020B0604020202020204" pitchFamily="34" charset="0"/>
            </a:endParaRPr>
          </a:p>
          <a:p>
            <a:pPr marL="0" indent="0" algn="just">
              <a:buNone/>
            </a:pPr>
            <a:endParaRPr lang="en-US" sz="2800" b="1" u="sng" cap="none" dirty="0">
              <a:latin typeface="Arial" panose="020B0604020202020204" pitchFamily="34" charset="0"/>
              <a:cs typeface="Arial" panose="020B0604020202020204" pitchFamily="34" charset="0"/>
            </a:endParaRPr>
          </a:p>
          <a:p>
            <a:pPr marL="0" indent="0" algn="just">
              <a:buNone/>
            </a:pPr>
            <a:endParaRPr lang="en-US" sz="2800" b="1" u="sng" cap="none" dirty="0">
              <a:latin typeface="Arial" panose="020B0604020202020204" pitchFamily="34" charset="0"/>
              <a:cs typeface="Arial" panose="020B0604020202020204" pitchFamily="34" charset="0"/>
            </a:endParaRPr>
          </a:p>
          <a:p>
            <a:pPr marL="0" indent="0" algn="just">
              <a:buNone/>
            </a:pPr>
            <a:endParaRPr lang="en-IN" sz="2200" cap="none"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xmlns="" id="{31B2BEE0-7701-7AB4-C9D2-E3F946AF66E2}"/>
              </a:ext>
            </a:extLst>
          </p:cNvPr>
          <p:cNvPicPr>
            <a:picLocks noChangeAspect="1"/>
          </p:cNvPicPr>
          <p:nvPr/>
        </p:nvPicPr>
        <p:blipFill>
          <a:blip r:embed="rId2"/>
          <a:stretch>
            <a:fillRect/>
          </a:stretch>
        </p:blipFill>
        <p:spPr>
          <a:xfrm>
            <a:off x="0" y="1284449"/>
            <a:ext cx="9144000" cy="1114581"/>
          </a:xfrm>
          <a:prstGeom prst="rect">
            <a:avLst/>
          </a:prstGeom>
        </p:spPr>
      </p:pic>
      <p:pic>
        <p:nvPicPr>
          <p:cNvPr id="7" name="Picture 6">
            <a:extLst>
              <a:ext uri="{FF2B5EF4-FFF2-40B4-BE49-F238E27FC236}">
                <a16:creationId xmlns:a16="http://schemas.microsoft.com/office/drawing/2014/main" xmlns="" id="{ABB7FC63-D2F4-9FEA-175C-6AFEB48796FD}"/>
              </a:ext>
            </a:extLst>
          </p:cNvPr>
          <p:cNvPicPr>
            <a:picLocks noChangeAspect="1"/>
          </p:cNvPicPr>
          <p:nvPr/>
        </p:nvPicPr>
        <p:blipFill>
          <a:blip r:embed="rId3"/>
          <a:srcRect b="15195"/>
          <a:stretch>
            <a:fillRect/>
          </a:stretch>
        </p:blipFill>
        <p:spPr>
          <a:xfrm>
            <a:off x="0" y="2682815"/>
            <a:ext cx="9144000" cy="4175185"/>
          </a:xfrm>
          <a:prstGeom prst="rect">
            <a:avLst/>
          </a:prstGeom>
        </p:spPr>
      </p:pic>
    </p:spTree>
    <p:extLst>
      <p:ext uri="{BB962C8B-B14F-4D97-AF65-F5344CB8AC3E}">
        <p14:creationId xmlns:p14="http://schemas.microsoft.com/office/powerpoint/2010/main" val="10935839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EA44BEDA-BD81-D827-08AB-46106C7CDF4A}"/>
              </a:ext>
            </a:extLst>
          </p:cNvPr>
          <p:cNvPicPr>
            <a:picLocks noGrp="1" noChangeAspect="1"/>
          </p:cNvPicPr>
          <p:nvPr>
            <p:ph idx="1"/>
          </p:nvPr>
        </p:nvPicPr>
        <p:blipFill>
          <a:blip r:embed="rId2"/>
          <a:srcRect b="5534"/>
          <a:stretch>
            <a:fillRect/>
          </a:stretch>
        </p:blipFill>
        <p:spPr>
          <a:xfrm>
            <a:off x="0" y="0"/>
            <a:ext cx="9143999" cy="6858000"/>
          </a:xfrm>
        </p:spPr>
      </p:pic>
    </p:spTree>
    <p:extLst>
      <p:ext uri="{BB962C8B-B14F-4D97-AF65-F5344CB8AC3E}">
        <p14:creationId xmlns:p14="http://schemas.microsoft.com/office/powerpoint/2010/main" val="17191095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829DDB0D-6E2D-2B8C-2BAD-C3517ABDB278}"/>
              </a:ext>
            </a:extLst>
          </p:cNvPr>
          <p:cNvPicPr>
            <a:picLocks noGrp="1" noChangeAspect="1"/>
          </p:cNvPicPr>
          <p:nvPr>
            <p:ph idx="1"/>
          </p:nvPr>
        </p:nvPicPr>
        <p:blipFill>
          <a:blip r:embed="rId2"/>
          <a:stretch>
            <a:fillRect/>
          </a:stretch>
        </p:blipFill>
        <p:spPr>
          <a:xfrm>
            <a:off x="0" y="0"/>
            <a:ext cx="9144000" cy="6858000"/>
          </a:xfrm>
        </p:spPr>
      </p:pic>
    </p:spTree>
    <p:extLst>
      <p:ext uri="{BB962C8B-B14F-4D97-AF65-F5344CB8AC3E}">
        <p14:creationId xmlns:p14="http://schemas.microsoft.com/office/powerpoint/2010/main" val="3663836768"/>
      </p:ext>
    </p:extLst>
  </p:cSld>
  <p:clrMapOvr>
    <a:masterClrMapping/>
  </p:clrMapOvr>
</p:sld>
</file>

<file path=ppt/theme/theme1.xml><?xml version="1.0" encoding="utf-8"?>
<a:theme xmlns:a="http://schemas.openxmlformats.org/drawingml/2006/main" name="Drople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1225</TotalTime>
  <Words>4097</Words>
  <Application>Microsoft Office PowerPoint</Application>
  <PresentationFormat>On-screen Show (4:3)</PresentationFormat>
  <Paragraphs>202</Paragraphs>
  <Slides>49</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Batang</vt:lpstr>
      <vt:lpstr>Bodoni MT Black</vt:lpstr>
      <vt:lpstr>Calibri</vt:lpstr>
      <vt:lpstr>Tw Cen MT</vt:lpstr>
      <vt:lpstr>Wingdings</vt:lpstr>
      <vt:lpstr>Droplet</vt:lpstr>
      <vt:lpstr>PowerPoint Presentation</vt:lpstr>
      <vt:lpstr>PowerPoint Presentation</vt:lpstr>
      <vt:lpstr>Production</vt:lpstr>
      <vt:lpstr>PowerPoint Presentation</vt:lpstr>
      <vt:lpstr>PowerPoint Presentation</vt:lpstr>
      <vt:lpstr>PowerPoint Presentation</vt:lpstr>
      <vt:lpstr>Law of Variable Proportion </vt:lpstr>
      <vt:lpstr>PowerPoint Presentation</vt:lpstr>
      <vt:lpstr>PowerPoint Presentation</vt:lpstr>
      <vt:lpstr>Laws of returns to scale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Iso-Cost</vt:lpstr>
      <vt:lpstr>ECONOMIES OF SCALE</vt:lpstr>
      <vt:lpstr>PowerPoint Presentation</vt:lpstr>
      <vt:lpstr>PowerPoint Presentation</vt:lpstr>
      <vt:lpstr>PowerPoint Presentation</vt:lpstr>
      <vt:lpstr>Diseconomies OF SCALE</vt:lpstr>
      <vt:lpstr>PowerPoint Presentation</vt:lpstr>
      <vt:lpstr>PowerPoint Presentation</vt:lpstr>
      <vt:lpstr>COST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Break Even Analysis</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Administrator</dc:creator>
  <cp:keywords/>
  <dc:description>generated using python-pptx</dc:description>
  <cp:lastModifiedBy>Microsoft account</cp:lastModifiedBy>
  <cp:revision>133</cp:revision>
  <dcterms:created xsi:type="dcterms:W3CDTF">2013-01-27T09:14:16Z</dcterms:created>
  <dcterms:modified xsi:type="dcterms:W3CDTF">2026-02-10T14:07:53Z</dcterms:modified>
  <cp:category/>
</cp:coreProperties>
</file>