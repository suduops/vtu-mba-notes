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2" r:id="rId5"/>
    <p:sldId id="274" r:id="rId6"/>
    <p:sldId id="275" r:id="rId7"/>
    <p:sldId id="276" r:id="rId8"/>
    <p:sldId id="277" r:id="rId9"/>
    <p:sldId id="278" r:id="rId10"/>
    <p:sldId id="279" r:id="rId11"/>
    <p:sldId id="259" r:id="rId12"/>
    <p:sldId id="260" r:id="rId13"/>
    <p:sldId id="280" r:id="rId14"/>
    <p:sldId id="261" r:id="rId15"/>
    <p:sldId id="281" r:id="rId16"/>
    <p:sldId id="282" r:id="rId17"/>
    <p:sldId id="283" r:id="rId18"/>
    <p:sldId id="284" r:id="rId19"/>
    <p:sldId id="262" r:id="rId20"/>
    <p:sldId id="263" r:id="rId21"/>
    <p:sldId id="285" r:id="rId22"/>
    <p:sldId id="264" r:id="rId23"/>
    <p:sldId id="286" r:id="rId24"/>
    <p:sldId id="265" r:id="rId25"/>
    <p:sldId id="266" r:id="rId26"/>
    <p:sldId id="267" r:id="rId27"/>
    <p:sldId id="293" r:id="rId28"/>
    <p:sldId id="290" r:id="rId29"/>
    <p:sldId id="291" r:id="rId30"/>
    <p:sldId id="287" r:id="rId31"/>
    <p:sldId id="288" r:id="rId32"/>
    <p:sldId id="292" r:id="rId33"/>
    <p:sldId id="268" r:id="rId34"/>
    <p:sldId id="289" r:id="rId35"/>
    <p:sldId id="269" r:id="rId36"/>
    <p:sldId id="270" r:id="rId37"/>
    <p:sldId id="271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7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12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84187"/>
            <a:ext cx="7772400" cy="1470025"/>
          </a:xfrm>
        </p:spPr>
        <p:txBody>
          <a:bodyPr/>
          <a:lstStyle/>
          <a:p>
            <a:r>
              <a:rPr dirty="0"/>
              <a:t>Market Structure and Pricing Practices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52700"/>
            <a:ext cx="6400800" cy="1752600"/>
          </a:xfrm>
        </p:spPr>
        <p:txBody>
          <a:bodyPr/>
          <a:lstStyle/>
          <a:p>
            <a:r>
              <a:rPr dirty="0"/>
              <a:t>MBA – Economics</a:t>
            </a:r>
            <a:r>
              <a:rPr lang="en-IN" dirty="0"/>
              <a:t> for managerial Decision making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44" y="69787"/>
            <a:ext cx="7906512" cy="661733"/>
          </a:xfrm>
        </p:spPr>
        <p:txBody>
          <a:bodyPr>
            <a:normAutofit fontScale="90000"/>
          </a:bodyPr>
          <a:lstStyle/>
          <a:p>
            <a:r>
              <a:rPr b="1" dirty="0"/>
              <a:t>Perfect Competition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005205B8-25C5-41AF-9A92-89679426F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8" y="1397666"/>
            <a:ext cx="454152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/>
              <a:t>Meaning</a:t>
            </a:r>
          </a:p>
          <a:p>
            <a:pPr marL="0" indent="0">
              <a:buNone/>
            </a:pPr>
            <a:r>
              <a:rPr lang="en-US" sz="2400" dirty="0"/>
              <a:t>Perfect competition is a market structure in which there are a large number of buyers and sellers, selling a </a:t>
            </a:r>
            <a:r>
              <a:rPr lang="en-US" sz="2400" b="1" dirty="0"/>
              <a:t>homogeneous (identical) product</a:t>
            </a:r>
            <a:r>
              <a:rPr lang="en-US" sz="2400" dirty="0"/>
              <a:t>, and no single firm can influence the market price.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price is determined by the </a:t>
            </a:r>
            <a:r>
              <a:rPr lang="en-US" sz="2400" b="1" dirty="0"/>
              <a:t>industry as a whole</a:t>
            </a:r>
            <a:r>
              <a:rPr lang="en-US" sz="2400" dirty="0"/>
              <a:t> through the forces of </a:t>
            </a:r>
            <a:r>
              <a:rPr lang="en-US" sz="2400" b="1" dirty="0"/>
              <a:t>demand and supply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In this market, firms are </a:t>
            </a:r>
            <a:r>
              <a:rPr lang="en-US" sz="2400" b="1" dirty="0"/>
              <a:t>price takers</a:t>
            </a:r>
            <a:r>
              <a:rPr lang="en-US" sz="2400" dirty="0"/>
              <a:t>, not price makers.</a:t>
            </a:r>
          </a:p>
          <a:p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712775A-5880-4A0D-89F1-14E9931D8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48512"/>
            <a:ext cx="4370832" cy="58094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6304" y="98138"/>
            <a:ext cx="9436608" cy="803465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solidFill>
                  <a:schemeClr val="accent3">
                    <a:lumMod val="50000"/>
                  </a:schemeClr>
                </a:solidFill>
              </a:rPr>
              <a:t>Perfect Competition 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Features (</a:t>
            </a:r>
            <a:r>
              <a:rPr lang="en-IN" sz="4000" b="1" dirty="0">
                <a:solidFill>
                  <a:schemeClr val="tx2">
                    <a:lumMod val="75000"/>
                  </a:schemeClr>
                </a:solidFill>
              </a:rPr>
              <a:t>Characteristic)</a:t>
            </a: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6C65DCA2-B7BB-44D3-9669-102C9C48B0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632361"/>
            <a:ext cx="8052816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number of buyers and sellers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Homogeneous product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 entry and exit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Perfect knowledge (perfect information)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Perfect mobility of factors of production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selling costs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taker firms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Uniform price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6304" y="98138"/>
            <a:ext cx="9436608" cy="803465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tx2">
                    <a:lumMod val="75000"/>
                  </a:schemeClr>
                </a:solidFill>
              </a:rPr>
              <a:t>Features (</a:t>
            </a:r>
            <a:r>
              <a:rPr lang="en-IN" sz="3600" b="1" dirty="0">
                <a:solidFill>
                  <a:schemeClr val="tx2">
                    <a:lumMod val="75000"/>
                  </a:schemeClr>
                </a:solidFill>
              </a:rPr>
              <a:t>Characteristic)</a:t>
            </a:r>
            <a:endParaRPr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F0810D38-B9F9-42F1-B539-006FB93D73ED}"/>
              </a:ext>
            </a:extLst>
          </p:cNvPr>
          <p:cNvSpPr/>
          <p:nvPr/>
        </p:nvSpPr>
        <p:spPr>
          <a:xfrm>
            <a:off x="475488" y="1149757"/>
            <a:ext cx="83271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Large Number of Buyers and Sellers</a:t>
            </a:r>
          </a:p>
          <a:p>
            <a:r>
              <a:rPr lang="en-US" dirty="0"/>
              <a:t>There are so many buyers and sellers that </a:t>
            </a:r>
            <a:r>
              <a:rPr lang="en-US" b="1" dirty="0"/>
              <a:t>no individual buyer or seller can influence the market price</a:t>
            </a:r>
            <a:r>
              <a:rPr lang="en-US" dirty="0"/>
              <a:t>. Each firm’s share is very small.</a:t>
            </a:r>
          </a:p>
          <a:p>
            <a:r>
              <a:rPr lang="en-US" b="1" dirty="0"/>
              <a:t>Example:</a:t>
            </a:r>
            <a:r>
              <a:rPr lang="en-US" dirty="0"/>
              <a:t> Thousands of farmers selling wheat or rice in mandis.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0B27277D-6534-4DE5-B112-58123F3972FD}"/>
              </a:ext>
            </a:extLst>
          </p:cNvPr>
          <p:cNvSpPr/>
          <p:nvPr/>
        </p:nvSpPr>
        <p:spPr>
          <a:xfrm>
            <a:off x="475488" y="2551837"/>
            <a:ext cx="81564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 Homogeneous Product</a:t>
            </a:r>
          </a:p>
          <a:p>
            <a:r>
              <a:rPr lang="en-US" dirty="0"/>
              <a:t>All firms sell </a:t>
            </a:r>
            <a:r>
              <a:rPr lang="en-US" b="1" dirty="0"/>
              <a:t>identical products</a:t>
            </a:r>
            <a:r>
              <a:rPr lang="en-US" dirty="0"/>
              <a:t> in terms of quality and features. There is </a:t>
            </a:r>
            <a:r>
              <a:rPr lang="en-US" b="1" dirty="0"/>
              <a:t>no brand differentiation</a:t>
            </a:r>
            <a:r>
              <a:rPr lang="en-US" dirty="0"/>
              <a:t>.</a:t>
            </a:r>
          </a:p>
          <a:p>
            <a:r>
              <a:rPr lang="en-US" b="1" dirty="0"/>
              <a:t>Example:</a:t>
            </a:r>
            <a:r>
              <a:rPr lang="en-US" dirty="0"/>
              <a:t> Raw milk, unbranded salt, basic agricultural crops.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036EC61-A96D-4309-AEE5-FE796855B5B7}"/>
              </a:ext>
            </a:extLst>
          </p:cNvPr>
          <p:cNvSpPr/>
          <p:nvPr/>
        </p:nvSpPr>
        <p:spPr>
          <a:xfrm>
            <a:off x="475488" y="3888643"/>
            <a:ext cx="81564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3. Free Entry and Exit</a:t>
            </a:r>
          </a:p>
          <a:p>
            <a:r>
              <a:rPr lang="en-US" dirty="0"/>
              <a:t>Firms can </a:t>
            </a:r>
            <a:r>
              <a:rPr lang="en-US" b="1" dirty="0"/>
              <a:t>enter or leave the industry freely</a:t>
            </a:r>
            <a:r>
              <a:rPr lang="en-US" dirty="0"/>
              <a:t> in the long run. This ensures </a:t>
            </a:r>
            <a:r>
              <a:rPr lang="en-US" b="1" dirty="0"/>
              <a:t>normal profit</a:t>
            </a:r>
            <a:r>
              <a:rPr lang="en-US" dirty="0"/>
              <a:t> in the long run.</a:t>
            </a:r>
          </a:p>
          <a:p>
            <a:r>
              <a:rPr lang="en-US" b="1" dirty="0"/>
              <a:t>Example:</a:t>
            </a:r>
            <a:r>
              <a:rPr lang="en-US" dirty="0"/>
              <a:t> Anyone can start or stop selling vegetables in a local market.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920CB68-6398-42E9-92A3-25B68C2BE568}"/>
              </a:ext>
            </a:extLst>
          </p:cNvPr>
          <p:cNvSpPr/>
          <p:nvPr/>
        </p:nvSpPr>
        <p:spPr>
          <a:xfrm>
            <a:off x="445008" y="5232722"/>
            <a:ext cx="80040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4. Perfect Knowledge (Perfect Information)</a:t>
            </a:r>
          </a:p>
          <a:p>
            <a:r>
              <a:rPr lang="en-US" dirty="0"/>
              <a:t>Both buyers and sellers have </a:t>
            </a:r>
            <a:r>
              <a:rPr lang="en-US" b="1" dirty="0"/>
              <a:t>complete information</a:t>
            </a:r>
            <a:r>
              <a:rPr lang="en-US" dirty="0"/>
              <a:t> about price and quality. No one can charge a higher price.</a:t>
            </a:r>
          </a:p>
          <a:p>
            <a:r>
              <a:rPr lang="en-US" b="1" dirty="0"/>
              <a:t>Example:</a:t>
            </a:r>
            <a:r>
              <a:rPr lang="en-US" dirty="0"/>
              <a:t> Online commodity prices available to all traders.</a:t>
            </a:r>
          </a:p>
        </p:txBody>
      </p:sp>
    </p:spTree>
    <p:extLst>
      <p:ext uri="{BB962C8B-B14F-4D97-AF65-F5344CB8AC3E}">
        <p14:creationId xmlns:p14="http://schemas.microsoft.com/office/powerpoint/2010/main" val="2644118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7956CDE-A915-45E0-A7D1-C382F967AC35}"/>
              </a:ext>
            </a:extLst>
          </p:cNvPr>
          <p:cNvSpPr/>
          <p:nvPr/>
        </p:nvSpPr>
        <p:spPr>
          <a:xfrm>
            <a:off x="329184" y="1080992"/>
            <a:ext cx="79126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5. Perfect Mobility of Factors of Production</a:t>
            </a:r>
          </a:p>
          <a:p>
            <a:r>
              <a:rPr lang="en-US" dirty="0"/>
              <a:t>Factors like land, </a:t>
            </a:r>
            <a:r>
              <a:rPr lang="en-US" dirty="0" err="1"/>
              <a:t>labour</a:t>
            </a:r>
            <a:r>
              <a:rPr lang="en-US" dirty="0"/>
              <a:t>, and capital can </a:t>
            </a:r>
            <a:r>
              <a:rPr lang="en-US" b="1" dirty="0"/>
              <a:t>move freely</a:t>
            </a:r>
            <a:r>
              <a:rPr lang="en-US" dirty="0"/>
              <a:t> from one firm to another.</a:t>
            </a:r>
          </a:p>
          <a:p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dirty="0" err="1"/>
              <a:t>Labourer</a:t>
            </a:r>
            <a:r>
              <a:rPr lang="en-US" dirty="0"/>
              <a:t> shifting from rice farming to wheat farming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2065A91-B01B-4437-8294-582D437575A0}"/>
              </a:ext>
            </a:extLst>
          </p:cNvPr>
          <p:cNvSpPr/>
          <p:nvPr/>
        </p:nvSpPr>
        <p:spPr>
          <a:xfrm>
            <a:off x="335280" y="2121143"/>
            <a:ext cx="76565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6. No Selling Costs</a:t>
            </a:r>
          </a:p>
          <a:p>
            <a:r>
              <a:rPr lang="en-US" dirty="0"/>
              <a:t>There is </a:t>
            </a:r>
            <a:r>
              <a:rPr lang="en-US" b="1" dirty="0"/>
              <a:t>no need for advertising or sales promotion</a:t>
            </a:r>
            <a:r>
              <a:rPr lang="en-US" dirty="0"/>
              <a:t> because products are identical.</a:t>
            </a:r>
          </a:p>
          <a:p>
            <a:r>
              <a:rPr lang="en-US" b="1" dirty="0"/>
              <a:t>Example:</a:t>
            </a:r>
            <a:r>
              <a:rPr lang="en-US" dirty="0"/>
              <a:t> Farmers do not advertise wheat or rice.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076D171A-7DAC-43B5-9E7D-68CAF1B2D9C2}"/>
              </a:ext>
            </a:extLst>
          </p:cNvPr>
          <p:cNvSpPr/>
          <p:nvPr/>
        </p:nvSpPr>
        <p:spPr>
          <a:xfrm>
            <a:off x="335280" y="3536529"/>
            <a:ext cx="79065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7. Price Taker Firms</a:t>
            </a:r>
          </a:p>
          <a:p>
            <a:r>
              <a:rPr lang="en-US" dirty="0"/>
              <a:t>Each firm </a:t>
            </a:r>
            <a:r>
              <a:rPr lang="en-US" b="1" dirty="0"/>
              <a:t>accepts the market price</a:t>
            </a:r>
            <a:r>
              <a:rPr lang="en-US" dirty="0"/>
              <a:t>. It cannot fix its own price.</a:t>
            </a:r>
          </a:p>
          <a:p>
            <a:r>
              <a:rPr lang="en-US" b="1" dirty="0"/>
              <a:t>Example:</a:t>
            </a:r>
            <a:r>
              <a:rPr lang="en-US" dirty="0"/>
              <a:t> A small gold trader cannot change gold price.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497EFBF-FCF1-4957-AA80-EDF0151F6BB4}"/>
              </a:ext>
            </a:extLst>
          </p:cNvPr>
          <p:cNvSpPr/>
          <p:nvPr/>
        </p:nvSpPr>
        <p:spPr>
          <a:xfrm>
            <a:off x="341376" y="4674916"/>
            <a:ext cx="70957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8. Uniform Price</a:t>
            </a:r>
          </a:p>
          <a:p>
            <a:r>
              <a:rPr lang="en-US" dirty="0"/>
              <a:t>A </a:t>
            </a:r>
            <a:r>
              <a:rPr lang="en-US" b="1" dirty="0"/>
              <a:t>single price</a:t>
            </a:r>
            <a:r>
              <a:rPr lang="en-US" dirty="0"/>
              <a:t> prevails in the market for the same product.</a:t>
            </a:r>
          </a:p>
          <a:p>
            <a:r>
              <a:rPr lang="en-US" b="1" dirty="0"/>
              <a:t>Example:</a:t>
            </a:r>
            <a:r>
              <a:rPr lang="en-US" dirty="0"/>
              <a:t> Same share price for all investors in stock market.</a:t>
            </a:r>
          </a:p>
        </p:txBody>
      </p:sp>
    </p:spTree>
    <p:extLst>
      <p:ext uri="{BB962C8B-B14F-4D97-AF65-F5344CB8AC3E}">
        <p14:creationId xmlns:p14="http://schemas.microsoft.com/office/powerpoint/2010/main" val="514348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A9CC08FD-69F4-4254-9B23-E4E7FCB2D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6078"/>
            <a:ext cx="7886700" cy="646331"/>
          </a:xfrm>
        </p:spPr>
        <p:txBody>
          <a:bodyPr>
            <a:normAutofit fontScale="90000"/>
          </a:bodyPr>
          <a:lstStyle/>
          <a:p>
            <a:r>
              <a:rPr lang="en-US" dirty="0"/>
              <a:t>Determination of Price under Perfect Competition</a:t>
            </a:r>
            <a:endParaRPr lang="en-IN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871D864F-B834-43F5-85AC-7B91E4223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929" y="1595816"/>
            <a:ext cx="735476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is not fixed by a firm.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fixed by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entire market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Demand = Supply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price is determined.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price becomes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D8AB48EF-53CD-4F5E-8B09-02B7EF69690E}"/>
              </a:ext>
            </a:extLst>
          </p:cNvPr>
          <p:cNvSpPr/>
          <p:nvPr/>
        </p:nvSpPr>
        <p:spPr>
          <a:xfrm>
            <a:off x="599929" y="337955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If wheat demand increases, price rises.</a:t>
            </a:r>
            <a:br>
              <a:rPr lang="en-US" dirty="0"/>
            </a:br>
            <a:r>
              <a:rPr lang="en-US" dirty="0"/>
              <a:t>If supply increases, price falls.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467F949C-E433-4C33-9B36-6B4A79ACF1F9}"/>
              </a:ext>
            </a:extLst>
          </p:cNvPr>
          <p:cNvSpPr/>
          <p:nvPr/>
        </p:nvSpPr>
        <p:spPr>
          <a:xfrm>
            <a:off x="628650" y="4983654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So:</a:t>
            </a:r>
            <a:br>
              <a:rPr lang="en-US" dirty="0"/>
            </a:br>
            <a:r>
              <a:rPr lang="en-US" b="1" dirty="0"/>
              <a:t>Market → decides price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Firm → accepts price</a:t>
            </a:r>
            <a:endParaRPr lang="en-IN" dirty="0"/>
          </a:p>
        </p:txBody>
      </p:sp>
      <p:pic>
        <p:nvPicPr>
          <p:cNvPr id="1027" name="Picture 3" descr="Supply and demand curves diagram showing equilibrium point on white background">
            <a:extLst>
              <a:ext uri="{FF2B5EF4-FFF2-40B4-BE49-F238E27FC236}">
                <a16:creationId xmlns:a16="http://schemas.microsoft.com/office/drawing/2014/main" xmlns="" id="{DA9FC754-83B5-428E-A0C5-F4AB1E8A4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199" y="2902771"/>
            <a:ext cx="3788957" cy="3788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0730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A9CC08FD-69F4-4254-9B23-E4E7FCB2D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6078"/>
            <a:ext cx="7886700" cy="646331"/>
          </a:xfrm>
        </p:spPr>
        <p:txBody>
          <a:bodyPr>
            <a:normAutofit fontScale="90000"/>
          </a:bodyPr>
          <a:lstStyle/>
          <a:p>
            <a:r>
              <a:rPr lang="en-US" dirty="0"/>
              <a:t>Determination of Price under Perfect Competition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9B2EF69-4FCB-47CE-9AFB-6867D9936460}"/>
              </a:ext>
            </a:extLst>
          </p:cNvPr>
          <p:cNvSpPr/>
          <p:nvPr/>
        </p:nvSpPr>
        <p:spPr>
          <a:xfrm>
            <a:off x="628650" y="1712358"/>
            <a:ext cx="778383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Firm Cannot Change Price (Price Taker)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There are many sellers.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All sell identical products.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If one firm increases price → customers go to others.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If it reduces price → no need, it can sell everything at market price.</a:t>
            </a:r>
          </a:p>
          <a:p>
            <a:endParaRPr lang="en-US" sz="2000" dirty="0"/>
          </a:p>
          <a:p>
            <a:r>
              <a:rPr lang="en-US" sz="2000" dirty="0"/>
              <a:t>So the firm simply accepts the market price</a:t>
            </a:r>
          </a:p>
        </p:txBody>
      </p:sp>
    </p:spTree>
    <p:extLst>
      <p:ext uri="{BB962C8B-B14F-4D97-AF65-F5344CB8AC3E}">
        <p14:creationId xmlns:p14="http://schemas.microsoft.com/office/powerpoint/2010/main" val="3043978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961E423-5AF0-4654-B8FC-62A8D1AE5B09}"/>
              </a:ext>
            </a:extLst>
          </p:cNvPr>
          <p:cNvSpPr/>
          <p:nvPr/>
        </p:nvSpPr>
        <p:spPr>
          <a:xfrm>
            <a:off x="400050" y="342934"/>
            <a:ext cx="532638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 Firm Decides Output Where:</a:t>
            </a:r>
          </a:p>
          <a:p>
            <a:endParaRPr lang="en-US" sz="2800" b="1" dirty="0"/>
          </a:p>
          <a:p>
            <a:r>
              <a:rPr lang="en-US" sz="2800" b="1" dirty="0"/>
              <a:t> P = MR = MC</a:t>
            </a:r>
          </a:p>
        </p:txBody>
      </p:sp>
      <p:pic>
        <p:nvPicPr>
          <p:cNvPr id="5122" name="Picture 2" descr="Perfect competition is a market structure that exists when firms take the industry equilibrium price as their own">
            <a:extLst>
              <a:ext uri="{FF2B5EF4-FFF2-40B4-BE49-F238E27FC236}">
                <a16:creationId xmlns:a16="http://schemas.microsoft.com/office/drawing/2014/main" xmlns="" id="{03A74C0F-E034-43D1-A332-69C92ABAB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670" y="1348282"/>
            <a:ext cx="4737735" cy="378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3C4349CE-202F-4567-9154-259C3A9DE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896" y="2247046"/>
            <a:ext cx="342167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gives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 price becomes: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 (Average Revenue)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MR (Marginal Revenue)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73B4113-B47C-46E3-B6C1-D7C9960DC55C}"/>
              </a:ext>
            </a:extLst>
          </p:cNvPr>
          <p:cNvSpPr/>
          <p:nvPr/>
        </p:nvSpPr>
        <p:spPr>
          <a:xfrm>
            <a:off x="575896" y="3801318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/>
              <a:t>So:</a:t>
            </a:r>
            <a:br>
              <a:rPr lang="en-US" sz="2000" dirty="0"/>
            </a:br>
            <a:r>
              <a:rPr lang="en-US" sz="2000" b="1" dirty="0"/>
              <a:t>Price = MR</a:t>
            </a:r>
            <a:endParaRPr lang="en-US" sz="2000" dirty="0"/>
          </a:p>
          <a:p>
            <a:r>
              <a:rPr lang="en-US" sz="2000" dirty="0"/>
              <a:t>Firm produces where:</a:t>
            </a:r>
            <a:br>
              <a:rPr lang="en-US" sz="2000" dirty="0"/>
            </a:br>
            <a:r>
              <a:rPr lang="en-US" sz="2000" b="1" dirty="0"/>
              <a:t>MR = MC</a:t>
            </a:r>
            <a:endParaRPr lang="en-US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8094CEC-1A04-4A8A-9C0C-ABB9B3F753C3}"/>
              </a:ext>
            </a:extLst>
          </p:cNvPr>
          <p:cNvSpPr/>
          <p:nvPr/>
        </p:nvSpPr>
        <p:spPr>
          <a:xfrm>
            <a:off x="3063240" y="5595329"/>
            <a:ext cx="28689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So final condition:</a:t>
            </a:r>
          </a:p>
          <a:p>
            <a:r>
              <a:rPr lang="en-US" sz="2000" b="1" dirty="0"/>
              <a:t>P = MR = MC</a:t>
            </a:r>
          </a:p>
        </p:txBody>
      </p:sp>
    </p:spTree>
    <p:extLst>
      <p:ext uri="{BB962C8B-B14F-4D97-AF65-F5344CB8AC3E}">
        <p14:creationId xmlns:p14="http://schemas.microsoft.com/office/powerpoint/2010/main" val="3270660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8BF9C69-23CA-4EA3-AAE7-5B2661625C52}"/>
              </a:ext>
            </a:extLst>
          </p:cNvPr>
          <p:cNvSpPr/>
          <p:nvPr/>
        </p:nvSpPr>
        <p:spPr>
          <a:xfrm>
            <a:off x="548640" y="496491"/>
            <a:ext cx="622935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Short Run Situation</a:t>
            </a:r>
          </a:p>
          <a:p>
            <a:endParaRPr lang="en-US" sz="2800" b="1" dirty="0"/>
          </a:p>
          <a:p>
            <a:r>
              <a:rPr lang="en-US" sz="2800" b="1" dirty="0"/>
              <a:t>a) Super 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Price &gt;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Firm earns extra profit</a:t>
            </a:r>
          </a:p>
          <a:p>
            <a:endParaRPr lang="en-US" sz="2800" dirty="0"/>
          </a:p>
          <a:p>
            <a:r>
              <a:rPr lang="en-US" sz="2800" b="1" dirty="0"/>
              <a:t>b) Normal 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Price =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No extra profit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b="1" dirty="0"/>
              <a:t>c) Loss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Price &lt;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Firm still produces (to cover some costs)</a:t>
            </a:r>
          </a:p>
        </p:txBody>
      </p:sp>
    </p:spTree>
    <p:extLst>
      <p:ext uri="{BB962C8B-B14F-4D97-AF65-F5344CB8AC3E}">
        <p14:creationId xmlns:p14="http://schemas.microsoft.com/office/powerpoint/2010/main" val="2758370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7F8ABD6-2621-49DB-929E-CC1539916A08}"/>
              </a:ext>
            </a:extLst>
          </p:cNvPr>
          <p:cNvSpPr/>
          <p:nvPr/>
        </p:nvSpPr>
        <p:spPr>
          <a:xfrm>
            <a:off x="548640" y="320308"/>
            <a:ext cx="6469380" cy="391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Long Run Situation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If firms earn profit → new firms enter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If firms incur loss → some firms leave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This continues until: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Only NORMAL PROFIT remains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So in long run:</a:t>
            </a:r>
            <a:br>
              <a:rPr lang="en-US" sz="2400" dirty="0"/>
            </a:br>
            <a:r>
              <a:rPr lang="en-US" sz="2400" b="1" dirty="0"/>
              <a:t>Price = MC = AC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34976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Monopolistic Competition </a:t>
            </a:r>
            <a:r>
              <a:rPr lang="en-IN" dirty="0"/>
              <a:t/>
            </a:r>
            <a:br>
              <a:rPr lang="en-IN" dirty="0"/>
            </a:br>
            <a:r>
              <a:rPr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891311" y="9971197"/>
            <a:ext cx="6626885" cy="45719"/>
          </a:xfrm>
        </p:spPr>
        <p:txBody>
          <a:bodyPr>
            <a:noAutofit/>
          </a:bodyPr>
          <a:lstStyle/>
          <a:p>
            <a:r>
              <a:rPr sz="300" dirty="0"/>
              <a:t>Large number of firms</a:t>
            </a:r>
          </a:p>
          <a:p>
            <a:r>
              <a:rPr sz="300" dirty="0"/>
              <a:t>Product differentiation</a:t>
            </a:r>
          </a:p>
          <a:p>
            <a:r>
              <a:rPr sz="300" dirty="0"/>
              <a:t>Some control over price</a:t>
            </a:r>
          </a:p>
          <a:p>
            <a:r>
              <a:rPr sz="300" dirty="0"/>
              <a:t>Free entry and exit</a:t>
            </a:r>
          </a:p>
          <a:p>
            <a:r>
              <a:rPr sz="300" dirty="0"/>
              <a:t>Selling and advertising costs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B5B236A8-BF38-47D9-9AA7-1F58D90E5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687" y="1769330"/>
            <a:ext cx="736320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number of buyers and sellers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differentiation (products are similar but not identical)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control over price (price maker to a limited extent)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 entry and exit of firms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Heavy advertising and selling costs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Downward sloping demand curve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Non-price competition (branding, quality, service)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normal profit in the long run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5B7A9C5-49C3-4CE5-97E6-5B85ABB9B84D}"/>
              </a:ext>
            </a:extLst>
          </p:cNvPr>
          <p:cNvSpPr/>
          <p:nvPr/>
        </p:nvSpPr>
        <p:spPr>
          <a:xfrm>
            <a:off x="607951" y="1165903"/>
            <a:ext cx="48429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Firm has Some Price Control</a:t>
            </a:r>
            <a:endParaRPr lang="en-IN" sz="28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592398A-4B2D-420F-B273-A0D8061536F8}"/>
              </a:ext>
            </a:extLst>
          </p:cNvPr>
          <p:cNvSpPr/>
          <p:nvPr/>
        </p:nvSpPr>
        <p:spPr>
          <a:xfrm>
            <a:off x="1500486" y="202287"/>
            <a:ext cx="69958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/>
              <a:t>Pricing under Monopolistic Competition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389C9F7A-003B-46DA-9088-DF69F178B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179" y="1726661"/>
            <a:ext cx="800686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Unlike perfect competition, firms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price takers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Because products are differentiated (brand, quality, service), firms can charge a slightly higher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price control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because many competitors exist.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E2CD68A-FB7D-428C-A243-C88C1BCB9DB7}"/>
              </a:ext>
            </a:extLst>
          </p:cNvPr>
          <p:cNvSpPr/>
          <p:nvPr/>
        </p:nvSpPr>
        <p:spPr>
          <a:xfrm>
            <a:off x="607951" y="3429000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Different shampoo brands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Restaurants in the same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Clothing brands</a:t>
            </a:r>
          </a:p>
          <a:p>
            <a:r>
              <a:rPr lang="en-US" sz="2400" dirty="0"/>
              <a:t>Each can charge a different price due to branding.</a:t>
            </a:r>
          </a:p>
        </p:txBody>
      </p:sp>
      <p:sp>
        <p:nvSpPr>
          <p:cNvPr id="10" name="AutoShape 3" descr="type of profit in monopolistic competition market in economics graph">
            <a:extLst>
              <a:ext uri="{FF2B5EF4-FFF2-40B4-BE49-F238E27FC236}">
                <a16:creationId xmlns:a16="http://schemas.microsoft.com/office/drawing/2014/main" xmlns="" id="{269FE513-AFFA-47BA-8D4D-B9AC537FD8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2426970" cy="2426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2000"/>
          </a:p>
        </p:txBody>
      </p:sp>
      <p:sp>
        <p:nvSpPr>
          <p:cNvPr id="11" name="AutoShape 5" descr="type of profit in monopolistic competition market in economics graph">
            <a:extLst>
              <a:ext uri="{FF2B5EF4-FFF2-40B4-BE49-F238E27FC236}">
                <a16:creationId xmlns:a16="http://schemas.microsoft.com/office/drawing/2014/main" xmlns="" id="{4E59D5A3-B9A6-4730-84DF-ABA89A3068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type of profit in monopolistic competition market in economics graph">
            <a:extLst>
              <a:ext uri="{FF2B5EF4-FFF2-40B4-BE49-F238E27FC236}">
                <a16:creationId xmlns:a16="http://schemas.microsoft.com/office/drawing/2014/main" xmlns="" id="{FFA4FFFB-A7A2-4885-9C8F-CFDA99A884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72A4201-5848-4A58-AE27-302656AFB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744"/>
            <a:ext cx="9144000" cy="609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964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310" y="-102870"/>
            <a:ext cx="8229600" cy="1143000"/>
          </a:xfrm>
        </p:spPr>
        <p:txBody>
          <a:bodyPr/>
          <a:lstStyle/>
          <a:p>
            <a:r>
              <a:rPr dirty="0"/>
              <a:t>Product Differentiation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C9BBD61-0893-489D-8D5D-93CD50AFDA2F}"/>
              </a:ext>
            </a:extLst>
          </p:cNvPr>
          <p:cNvSpPr/>
          <p:nvPr/>
        </p:nvSpPr>
        <p:spPr>
          <a:xfrm>
            <a:off x="194310" y="1040130"/>
            <a:ext cx="762381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Product differentiation means firms sell products that are similar in use but </a:t>
            </a:r>
            <a:r>
              <a:rPr lang="en-US" sz="2400" b="1" dirty="0"/>
              <a:t>made different in style, quality, brand, or features</a:t>
            </a:r>
            <a:r>
              <a:rPr lang="en-US" sz="2400" dirty="0"/>
              <a:t> so customers feel they are not exactly the same.</a:t>
            </a:r>
          </a:p>
          <a:p>
            <a:endParaRPr lang="en-US" sz="2400" dirty="0"/>
          </a:p>
          <a:p>
            <a:r>
              <a:rPr lang="en-US" sz="2400" dirty="0"/>
              <a:t>Because of this differentiation, each firm gets: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Some customer loyalty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Some control over price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D811368C-5E79-4386-8FF4-F5CB34AB5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5980" y="4393376"/>
            <a:ext cx="68580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Toothpaste brands (Colgate, Close-Up, Sensodyne)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Shampoo brands (for dry hair, anti-dandruff, herbal)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Restaurants in same area but different taste and style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Clothing brands with different designs and quality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8EAEFDA-619D-42F3-A5E9-13DCA5E83046}"/>
              </a:ext>
            </a:extLst>
          </p:cNvPr>
          <p:cNvSpPr/>
          <p:nvPr/>
        </p:nvSpPr>
        <p:spPr>
          <a:xfrm>
            <a:off x="667553" y="295394"/>
            <a:ext cx="84764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 Demand Curve is Downward Sloping</a:t>
            </a:r>
            <a:endParaRPr lang="en-IN" sz="32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32088C8-3C3B-4E10-B72A-3C5D8D1672BE}"/>
              </a:ext>
            </a:extLst>
          </p:cNvPr>
          <p:cNvSpPr/>
          <p:nvPr/>
        </p:nvSpPr>
        <p:spPr>
          <a:xfrm>
            <a:off x="667553" y="1021824"/>
            <a:ext cx="754380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Product is not identical.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Customers have brand preference.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If price increases → some customers leave.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If price decreases → more customers buy.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r>
              <a:rPr lang="en-US" sz="3200" dirty="0"/>
              <a:t>So, unlike perfect competition: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Firm faces its </a:t>
            </a:r>
            <a:r>
              <a:rPr lang="en-US" sz="3200" b="1" dirty="0"/>
              <a:t>own demand curve</a:t>
            </a:r>
            <a:r>
              <a:rPr lang="en-US" sz="3200" dirty="0"/>
              <a:t>.</a:t>
            </a:r>
          </a:p>
          <a:p>
            <a:endParaRPr lang="en-US" sz="3200" dirty="0"/>
          </a:p>
          <a:p>
            <a:r>
              <a:rPr lang="en-US" sz="3200" dirty="0"/>
              <a:t>Meaning: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To sell more, firm must reduce price.</a:t>
            </a:r>
          </a:p>
        </p:txBody>
      </p:sp>
    </p:spTree>
    <p:extLst>
      <p:ext uri="{BB962C8B-B14F-4D97-AF65-F5344CB8AC3E}">
        <p14:creationId xmlns:p14="http://schemas.microsoft.com/office/powerpoint/2010/main" val="2431370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855C72E7-0BDC-4BF3-9379-A5A82AD073FB}"/>
              </a:ext>
            </a:extLst>
          </p:cNvPr>
          <p:cNvSpPr/>
          <p:nvPr/>
        </p:nvSpPr>
        <p:spPr>
          <a:xfrm>
            <a:off x="537210" y="510600"/>
            <a:ext cx="816102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3) Price &gt; MC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Firm has some monopoly power.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So it charges a price </a:t>
            </a:r>
            <a:r>
              <a:rPr lang="en-US" sz="2800" b="1" dirty="0"/>
              <a:t>higher than marginal cost</a:t>
            </a:r>
            <a:r>
              <a:rPr lang="en-US" sz="2800" dirty="0"/>
              <a:t>.</a:t>
            </a:r>
          </a:p>
          <a:p>
            <a:r>
              <a:rPr lang="en-US" sz="2800" dirty="0"/>
              <a:t>Condition for profit maximization: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MR = MC</a:t>
            </a:r>
          </a:p>
          <a:p>
            <a:endParaRPr lang="en-US" sz="2800" dirty="0"/>
          </a:p>
          <a:p>
            <a:r>
              <a:rPr lang="en-US" sz="2800" dirty="0"/>
              <a:t>But: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Price is taken from demand curve.</a:t>
            </a:r>
          </a:p>
          <a:p>
            <a:r>
              <a:rPr lang="en-US" sz="2800" dirty="0"/>
              <a:t>So:</a:t>
            </a:r>
            <a:br>
              <a:rPr lang="en-US" sz="2800" dirty="0"/>
            </a:br>
            <a:r>
              <a:rPr lang="en-US" sz="2800" b="1" dirty="0"/>
              <a:t>Price is always greater than MC</a:t>
            </a: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FED677F-2B70-417C-A381-60E43CF7A7FD}"/>
              </a:ext>
            </a:extLst>
          </p:cNvPr>
          <p:cNvSpPr/>
          <p:nvPr/>
        </p:nvSpPr>
        <p:spPr>
          <a:xfrm>
            <a:off x="2393942" y="5978068"/>
            <a:ext cx="4013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This is the profit margin due to branding.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2209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B8630B0-5914-4BB6-9D6C-2185AE519268}"/>
              </a:ext>
            </a:extLst>
          </p:cNvPr>
          <p:cNvSpPr/>
          <p:nvPr/>
        </p:nvSpPr>
        <p:spPr>
          <a:xfrm>
            <a:off x="560070" y="286018"/>
            <a:ext cx="670941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4) Short Run: Profit Possible</a:t>
            </a:r>
          </a:p>
          <a:p>
            <a:r>
              <a:rPr lang="en-US" sz="2400" dirty="0"/>
              <a:t>In the short run, three situations can happen: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Super profit (brand popular)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Normal 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Loss (new or weak brand)</a:t>
            </a:r>
          </a:p>
          <a:p>
            <a:r>
              <a:rPr lang="en-US" sz="2400" dirty="0"/>
              <a:t>A new café may earn high profits if very popular.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BF63438-4D13-4D9A-BBD1-880D96322C64}"/>
              </a:ext>
            </a:extLst>
          </p:cNvPr>
          <p:cNvSpPr/>
          <p:nvPr/>
        </p:nvSpPr>
        <p:spPr>
          <a:xfrm>
            <a:off x="560070" y="2786330"/>
            <a:ext cx="72694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5) Long Run: Only Normal Profit</a:t>
            </a:r>
          </a:p>
          <a:p>
            <a:r>
              <a:rPr lang="en-US" sz="2400" dirty="0"/>
              <a:t>When firms earn profit: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New firms enter the market.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Competition increases.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Customers get more choices.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Demand for each firm decreases.</a:t>
            </a:r>
          </a:p>
          <a:p>
            <a:r>
              <a:rPr lang="en-US" sz="2400" dirty="0"/>
              <a:t>Finally:</a:t>
            </a:r>
          </a:p>
          <a:p>
            <a:r>
              <a:rPr lang="en-US" sz="2400" dirty="0"/>
              <a:t>Extra profit disappears.</a:t>
            </a:r>
          </a:p>
          <a:p>
            <a:r>
              <a:rPr lang="en-US" sz="2400" dirty="0"/>
              <a:t>Firms earn only </a:t>
            </a:r>
            <a:r>
              <a:rPr lang="en-US" sz="2400" b="1" dirty="0"/>
              <a:t>normal profit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427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9ACAECD-A45D-4470-97AC-78828AAF1406}"/>
              </a:ext>
            </a:extLst>
          </p:cNvPr>
          <p:cNvSpPr/>
          <p:nvPr/>
        </p:nvSpPr>
        <p:spPr>
          <a:xfrm>
            <a:off x="411480" y="523369"/>
            <a:ext cx="78867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Key Difference from Perfect Competition</a:t>
            </a:r>
          </a:p>
          <a:p>
            <a:endParaRPr lang="en-US" sz="3200" b="1" dirty="0"/>
          </a:p>
          <a:p>
            <a:r>
              <a:rPr lang="en-US" sz="3200" dirty="0"/>
              <a:t>Perfect Competition: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No price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Price = MC</a:t>
            </a:r>
          </a:p>
          <a:p>
            <a:endParaRPr lang="en-US" sz="3200" dirty="0"/>
          </a:p>
          <a:p>
            <a:r>
              <a:rPr lang="en-US" sz="3200" dirty="0"/>
              <a:t>Monopolistic Competition: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Some price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Price &gt; MC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Due to brand value</a:t>
            </a:r>
          </a:p>
        </p:txBody>
      </p:sp>
    </p:spTree>
    <p:extLst>
      <p:ext uri="{BB962C8B-B14F-4D97-AF65-F5344CB8AC3E}">
        <p14:creationId xmlns:p14="http://schemas.microsoft.com/office/powerpoint/2010/main" val="1722746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454B39C-BFEF-4301-8AA0-43CD4F236D60}"/>
              </a:ext>
            </a:extLst>
          </p:cNvPr>
          <p:cNvSpPr/>
          <p:nvPr/>
        </p:nvSpPr>
        <p:spPr>
          <a:xfrm>
            <a:off x="531495" y="350580"/>
            <a:ext cx="808101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Features of Oligopoly </a:t>
            </a:r>
          </a:p>
          <a:p>
            <a:endParaRPr lang="en-US" sz="3200" b="1" dirty="0"/>
          </a:p>
          <a:p>
            <a:r>
              <a:rPr lang="en-US" sz="2800" dirty="0"/>
              <a:t>Few large firms dominate the market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Interdependence among firms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High barriers to entry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Product may be homogeneous or differentiated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Firms have some control over price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Non-price competition (advertising, branding, service) is common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Possibility of collusion (cartels or price leadership)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3374"/>
            <a:ext cx="8229600" cy="1143000"/>
          </a:xfrm>
        </p:spPr>
        <p:txBody>
          <a:bodyPr/>
          <a:lstStyle/>
          <a:p>
            <a:r>
              <a:rPr dirty="0"/>
              <a:t>Kinked Demand Curve</a:t>
            </a:r>
          </a:p>
        </p:txBody>
      </p:sp>
      <p:sp>
        <p:nvSpPr>
          <p:cNvPr id="7" name="AutoShape 4" descr="3.1. Kinked demand curve in oligopoly market. Reprinted from Oligopoly,...  | Download Scientific Diagram">
            <a:extLst>
              <a:ext uri="{FF2B5EF4-FFF2-40B4-BE49-F238E27FC236}">
                <a16:creationId xmlns:a16="http://schemas.microsoft.com/office/drawing/2014/main" xmlns="" id="{8068DE40-E3B9-423A-ABA1-D5614D5243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083D8729-1383-4779-96EA-3E0363F0D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889596"/>
            <a:ext cx="6406940" cy="572837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3374"/>
            <a:ext cx="8229600" cy="1143000"/>
          </a:xfrm>
        </p:spPr>
        <p:txBody>
          <a:bodyPr/>
          <a:lstStyle/>
          <a:p>
            <a:r>
              <a:rPr dirty="0"/>
              <a:t>Kinked Demand Curve</a:t>
            </a:r>
          </a:p>
        </p:txBody>
      </p:sp>
      <p:sp>
        <p:nvSpPr>
          <p:cNvPr id="7" name="AutoShape 4" descr="3.1. Kinked demand curve in oligopoly market. Reprinted from Oligopoly,...  | Download Scientific Diagram">
            <a:extLst>
              <a:ext uri="{FF2B5EF4-FFF2-40B4-BE49-F238E27FC236}">
                <a16:creationId xmlns:a16="http://schemas.microsoft.com/office/drawing/2014/main" xmlns="" id="{8068DE40-E3B9-423A-ABA1-D5614D5243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44F71A2-E88A-4C67-AA65-644C41C64E93}"/>
              </a:ext>
            </a:extLst>
          </p:cNvPr>
          <p:cNvSpPr/>
          <p:nvPr/>
        </p:nvSpPr>
        <p:spPr>
          <a:xfrm>
            <a:off x="152400" y="1525816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If a firm </a:t>
            </a:r>
            <a:r>
              <a:rPr lang="en-US" sz="2400" b="1" dirty="0"/>
              <a:t>increases price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→ Competitors will NOT follow</a:t>
            </a:r>
            <a:br>
              <a:rPr lang="en-US" sz="2400" dirty="0"/>
            </a:br>
            <a:r>
              <a:rPr lang="en-US" sz="2400" dirty="0"/>
              <a:t>→ Customers shift to other firms</a:t>
            </a:r>
            <a:br>
              <a:rPr lang="en-US" sz="2400" dirty="0"/>
            </a:br>
            <a:r>
              <a:rPr lang="en-US" sz="2400" dirty="0"/>
              <a:t>→ Firm loses market share</a:t>
            </a:r>
            <a:endParaRPr lang="en-I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CDB9EE2-D1FD-4329-B98B-66FBD194A63C}"/>
              </a:ext>
            </a:extLst>
          </p:cNvPr>
          <p:cNvSpPr/>
          <p:nvPr/>
        </p:nvSpPr>
        <p:spPr>
          <a:xfrm>
            <a:off x="152400" y="3695700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If a firm </a:t>
            </a:r>
            <a:r>
              <a:rPr lang="en-US" sz="2400" b="1" dirty="0"/>
              <a:t>reduces price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→ Competitors WILL follow</a:t>
            </a:r>
            <a:br>
              <a:rPr lang="en-US" sz="2400" dirty="0"/>
            </a:br>
            <a:r>
              <a:rPr lang="en-US" sz="2400" dirty="0"/>
              <a:t>→ Everyone reduces price</a:t>
            </a:r>
            <a:br>
              <a:rPr lang="en-US" sz="2400" dirty="0"/>
            </a:br>
            <a:r>
              <a:rPr lang="en-US" sz="2400" dirty="0"/>
              <a:t>→ No firm gains much advantage</a:t>
            </a: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3F2A578-0360-482D-83CF-724FA7EF6AFB}"/>
              </a:ext>
            </a:extLst>
          </p:cNvPr>
          <p:cNvSpPr/>
          <p:nvPr/>
        </p:nvSpPr>
        <p:spPr>
          <a:xfrm>
            <a:off x="5065262" y="2985492"/>
            <a:ext cx="41047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So firms avoid changing prices.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15470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918"/>
            <a:ext cx="8229600" cy="1143000"/>
          </a:xfrm>
        </p:spPr>
        <p:txBody>
          <a:bodyPr/>
          <a:lstStyle/>
          <a:p>
            <a:r>
              <a:t>Cartels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D0107C5-5027-42A3-B9B4-893967483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8" y="2210512"/>
            <a:ext cx="4267200" cy="3073301"/>
          </a:xfrm>
          <a:prstGeom prst="rect">
            <a:avLst/>
          </a:prstGeom>
        </p:spPr>
      </p:pic>
      <p:sp>
        <p:nvSpPr>
          <p:cNvPr id="8" name="AutoShape 4" descr="SAUDI-OPEC-MEETING">
            <a:extLst>
              <a:ext uri="{FF2B5EF4-FFF2-40B4-BE49-F238E27FC236}">
                <a16:creationId xmlns:a16="http://schemas.microsoft.com/office/drawing/2014/main" xmlns="" id="{6B2B047B-108C-4328-AE50-B30C3114A5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4C9D9554-A1ED-4A17-B356-83134155B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2210511"/>
            <a:ext cx="4349537" cy="307330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5495" y="194628"/>
            <a:ext cx="5337810" cy="628332"/>
          </a:xfrm>
        </p:spPr>
        <p:txBody>
          <a:bodyPr>
            <a:normAutofit fontScale="90000"/>
          </a:bodyPr>
          <a:lstStyle/>
          <a:p>
            <a:r>
              <a:rPr dirty="0"/>
              <a:t>Cartels</a:t>
            </a:r>
          </a:p>
        </p:txBody>
      </p:sp>
      <p:sp>
        <p:nvSpPr>
          <p:cNvPr id="8" name="AutoShape 4" descr="SAUDI-OPEC-MEETING">
            <a:extLst>
              <a:ext uri="{FF2B5EF4-FFF2-40B4-BE49-F238E27FC236}">
                <a16:creationId xmlns:a16="http://schemas.microsoft.com/office/drawing/2014/main" xmlns="" id="{6B2B047B-108C-4328-AE50-B30C3114A5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B80F316-BDF7-4118-87E7-CCD85DAFFA87}"/>
              </a:ext>
            </a:extLst>
          </p:cNvPr>
          <p:cNvSpPr/>
          <p:nvPr/>
        </p:nvSpPr>
        <p:spPr>
          <a:xfrm>
            <a:off x="537210" y="1047810"/>
            <a:ext cx="764667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cartel</a:t>
            </a:r>
            <a:r>
              <a:rPr lang="en-US" sz="2400" dirty="0"/>
              <a:t> is when firms in an oligopoly secretly cooperate instead of competing.</a:t>
            </a:r>
          </a:p>
          <a:p>
            <a:endParaRPr lang="en-US" sz="2400" dirty="0"/>
          </a:p>
          <a:p>
            <a:r>
              <a:rPr lang="en-US" sz="2400" dirty="0"/>
              <a:t>They agree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Fix the price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Control production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Share the market</a:t>
            </a:r>
          </a:p>
          <a:p>
            <a:endParaRPr lang="en-US" sz="2400" dirty="0"/>
          </a:p>
          <a:p>
            <a:r>
              <a:rPr lang="en-US" sz="2400" dirty="0"/>
              <a:t>Goal: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Increase profit for all firms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Avoid price competition</a:t>
            </a:r>
          </a:p>
          <a:p>
            <a:endParaRPr lang="en-US" sz="2400" dirty="0"/>
          </a:p>
          <a:p>
            <a:r>
              <a:rPr lang="en-US" sz="2400" dirty="0"/>
              <a:t>So instead of fighting each other, they act like a </a:t>
            </a:r>
            <a:r>
              <a:rPr lang="en-US" sz="2400" b="1" dirty="0"/>
              <a:t>single monopoly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7786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171768"/>
            <a:ext cx="6583680" cy="548322"/>
          </a:xfrm>
        </p:spPr>
        <p:txBody>
          <a:bodyPr>
            <a:normAutofit fontScale="90000"/>
          </a:bodyPr>
          <a:lstStyle/>
          <a:p>
            <a:r>
              <a:rPr dirty="0"/>
              <a:t>Price Leadership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D333B83-6FAE-4C86-A347-34AE4AD3DA89}"/>
              </a:ext>
            </a:extLst>
          </p:cNvPr>
          <p:cNvSpPr/>
          <p:nvPr/>
        </p:nvSpPr>
        <p:spPr>
          <a:xfrm>
            <a:off x="457200" y="1126798"/>
            <a:ext cx="805815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Meaning: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Price leadership is a situation in an oligopoly market where </a:t>
            </a:r>
            <a:r>
              <a:rPr lang="en-US" sz="2400" b="1" dirty="0"/>
              <a:t>one dominant firm sets the price</a:t>
            </a:r>
            <a:r>
              <a:rPr lang="en-US" sz="2400" dirty="0"/>
              <a:t>, and all other firms in the industry follow that price.</a:t>
            </a:r>
          </a:p>
          <a:p>
            <a:r>
              <a:rPr lang="en-US" sz="2400" dirty="0"/>
              <a:t>Since there are only a few firms in oligopoly, they closely watch each other. Instead of competing aggressively by changing prices, they prefer to follow a common price set by the leading firm.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6E4D819-6690-4AF1-A1D8-D832353C4EEF}"/>
              </a:ext>
            </a:extLst>
          </p:cNvPr>
          <p:cNvSpPr/>
          <p:nvPr/>
        </p:nvSpPr>
        <p:spPr>
          <a:xfrm>
            <a:off x="457200" y="4580494"/>
            <a:ext cx="76466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Telecom industry: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a major telecom company changes recharge plan prices,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Other companies soon introduce similar pricing.</a:t>
            </a:r>
          </a:p>
          <a:p>
            <a:r>
              <a:rPr lang="en-US" dirty="0"/>
              <a:t>Petrol prices: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 company revises prices,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Others follow the same pattern.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Monopoly </a:t>
            </a:r>
            <a:r>
              <a:rPr lang="en-IN" dirty="0"/>
              <a:t/>
            </a:r>
            <a:br>
              <a:rPr lang="en-IN" dirty="0"/>
            </a:br>
            <a:r>
              <a:rPr dirty="0"/>
              <a:t>Features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9EB623F-4113-44DA-80C9-4B6EC4ED7704}"/>
              </a:ext>
            </a:extLst>
          </p:cNvPr>
          <p:cNvSpPr/>
          <p:nvPr/>
        </p:nvSpPr>
        <p:spPr>
          <a:xfrm>
            <a:off x="491490" y="1471038"/>
            <a:ext cx="700659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Features of Monopoly </a:t>
            </a:r>
          </a:p>
          <a:p>
            <a:r>
              <a:rPr lang="en-US" sz="2800" dirty="0"/>
              <a:t>Single seller in the market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Large number of buyers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No close substitutes for the product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Firm is a price maker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High barriers to entry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Full control over supply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Downward sloping demand curve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MR is less than price (MR &lt; AR)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Can earn supernormal profits in the long run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Strong control over pricing policy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Pricing under Monopoly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FCA0852-A196-4942-A2F8-EDF4CBDB7A9E}"/>
              </a:ext>
            </a:extLst>
          </p:cNvPr>
          <p:cNvSpPr/>
          <p:nvPr/>
        </p:nvSpPr>
        <p:spPr>
          <a:xfrm>
            <a:off x="228600" y="1549390"/>
            <a:ext cx="790956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1) Firm is a Price Maker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 monopoly, there is </a:t>
            </a:r>
            <a:r>
              <a:rPr lang="en-US" sz="2400" b="1" dirty="0"/>
              <a:t>only one seller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No close substitutes.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So the firm has full control over price.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can decide the price by adjusting output.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If the monopolist produces less → price rises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If it produces more → price falls</a:t>
            </a:r>
          </a:p>
          <a:p>
            <a:r>
              <a:rPr lang="en-US" sz="2400" dirty="0"/>
              <a:t>So:</a:t>
            </a:r>
            <a:br>
              <a:rPr lang="en-US" sz="2400" dirty="0"/>
            </a:br>
            <a:r>
              <a:rPr lang="en-US" sz="2400" b="1" dirty="0"/>
              <a:t>Firm controls price by controlling supply.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84E9799-647C-4A92-94A5-D7A296DAEBA8}"/>
              </a:ext>
            </a:extLst>
          </p:cNvPr>
          <p:cNvSpPr/>
          <p:nvPr/>
        </p:nvSpPr>
        <p:spPr>
          <a:xfrm>
            <a:off x="457200" y="266551"/>
            <a:ext cx="83439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5) Can Earn Long-Term Profits</a:t>
            </a:r>
          </a:p>
          <a:p>
            <a:r>
              <a:rPr lang="en-US" sz="2800" dirty="0"/>
              <a:t>This is the biggest difference from other markets.</a:t>
            </a:r>
          </a:p>
          <a:p>
            <a:r>
              <a:rPr lang="en-US" sz="2800" dirty="0"/>
              <a:t>In monopoly: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No competitors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No entry possible (due to patents, high cost, legal barriers)</a:t>
            </a:r>
          </a:p>
          <a:p>
            <a:endParaRPr lang="en-US" sz="2800" dirty="0"/>
          </a:p>
          <a:p>
            <a:r>
              <a:rPr lang="en-US" sz="2800" dirty="0"/>
              <a:t>So: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Firm can keep earning </a:t>
            </a:r>
            <a:r>
              <a:rPr lang="en-US" sz="2800" b="1" dirty="0"/>
              <a:t>supernormal profits even in long run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Patented medicines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Government monopolies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Unique technology owners</a:t>
            </a:r>
          </a:p>
        </p:txBody>
      </p:sp>
    </p:spTree>
    <p:extLst>
      <p:ext uri="{BB962C8B-B14F-4D97-AF65-F5344CB8AC3E}">
        <p14:creationId xmlns:p14="http://schemas.microsoft.com/office/powerpoint/2010/main" val="2658688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ype of profit in monopoly market in economics graph">
            <a:extLst>
              <a:ext uri="{FF2B5EF4-FFF2-40B4-BE49-F238E27FC236}">
                <a16:creationId xmlns:a16="http://schemas.microsoft.com/office/drawing/2014/main" xmlns="" id="{510A8799-ACCE-42A4-9992-97A1702C6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" y="468630"/>
            <a:ext cx="7863840" cy="5241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374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A downward- sloping demand curve will ensure that A) P=MR; B) P greater  than MR; C) P | Homework.Study.com">
            <a:extLst>
              <a:ext uri="{FF2B5EF4-FFF2-40B4-BE49-F238E27FC236}">
                <a16:creationId xmlns:a16="http://schemas.microsoft.com/office/drawing/2014/main" xmlns="" id="{50F974D6-56C3-462B-9D5D-570481B03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019" y="913982"/>
            <a:ext cx="5915962" cy="4847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3231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96A1E70-7FB2-40D4-B14C-51D007611955}"/>
              </a:ext>
            </a:extLst>
          </p:cNvPr>
          <p:cNvSpPr/>
          <p:nvPr/>
        </p:nvSpPr>
        <p:spPr>
          <a:xfrm>
            <a:off x="274320" y="697498"/>
            <a:ext cx="859536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2) Demand Curve is Downward Sloping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Since the firm is the only seller, it faces the </a:t>
            </a:r>
            <a:r>
              <a:rPr lang="en-US" sz="3200" b="1" dirty="0"/>
              <a:t>entire market demand</a:t>
            </a:r>
            <a:r>
              <a:rPr lang="en-US" sz="3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To sell more units, it must reduce price.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To charge a higher price, it must sell fewer units.</a:t>
            </a:r>
          </a:p>
          <a:p>
            <a:endParaRPr lang="en-US" sz="3200" dirty="0"/>
          </a:p>
          <a:p>
            <a:r>
              <a:rPr lang="en-US" sz="3200" dirty="0"/>
              <a:t>So demand curve slopes downward.</a:t>
            </a:r>
          </a:p>
        </p:txBody>
      </p:sp>
    </p:spTree>
    <p:extLst>
      <p:ext uri="{BB962C8B-B14F-4D97-AF65-F5344CB8AC3E}">
        <p14:creationId xmlns:p14="http://schemas.microsoft.com/office/powerpoint/2010/main" val="16190228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7EEEDAB-6852-4228-8E67-FF080E53E5A7}"/>
              </a:ext>
            </a:extLst>
          </p:cNvPr>
          <p:cNvSpPr/>
          <p:nvPr/>
        </p:nvSpPr>
        <p:spPr>
          <a:xfrm>
            <a:off x="308610" y="582394"/>
            <a:ext cx="836676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3) MR &lt; Price </a:t>
            </a:r>
          </a:p>
          <a:p>
            <a:endParaRPr lang="en-US" sz="2800" b="1" dirty="0"/>
          </a:p>
          <a:p>
            <a:r>
              <a:rPr lang="en-US" sz="2800" dirty="0"/>
              <a:t>To sell one more unit, the monopolist must reduce price.</a:t>
            </a:r>
          </a:p>
          <a:p>
            <a:r>
              <a:rPr lang="en-US" sz="2800" dirty="0"/>
              <a:t>That lower price applies to all units sold.</a:t>
            </a:r>
          </a:p>
          <a:p>
            <a:r>
              <a:rPr lang="en-US" sz="2800" dirty="0"/>
              <a:t>So: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Extra revenue (MR) is less than price.</a:t>
            </a:r>
          </a:p>
          <a:p>
            <a:r>
              <a:rPr lang="en-US" sz="2800" dirty="0"/>
              <a:t>That’s why in the diagram: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MR curve lies below the demand (AR/Price) curve.</a:t>
            </a:r>
          </a:p>
        </p:txBody>
      </p:sp>
    </p:spTree>
    <p:extLst>
      <p:ext uri="{BB962C8B-B14F-4D97-AF65-F5344CB8AC3E}">
        <p14:creationId xmlns:p14="http://schemas.microsoft.com/office/powerpoint/2010/main" val="41288660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3A3FAD7-96AD-4E0F-BEDA-5DF6C53C1419}"/>
              </a:ext>
            </a:extLst>
          </p:cNvPr>
          <p:cNvSpPr/>
          <p:nvPr/>
        </p:nvSpPr>
        <p:spPr>
          <a:xfrm>
            <a:off x="480060" y="740539"/>
            <a:ext cx="752094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4) Profit Maximization Rule</a:t>
            </a:r>
          </a:p>
          <a:p>
            <a:r>
              <a:rPr lang="en-US" sz="3200" b="1" dirty="0"/>
              <a:t>MR = MC</a:t>
            </a:r>
          </a:p>
          <a:p>
            <a:r>
              <a:rPr lang="en-US" sz="3200" dirty="0"/>
              <a:t>This is the key decision point.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Firm produces at output where </a:t>
            </a:r>
            <a:r>
              <a:rPr lang="en-US" sz="3200" b="1" dirty="0"/>
              <a:t>MR = MC</a:t>
            </a:r>
            <a:endParaRPr lang="en-US" sz="3200" dirty="0"/>
          </a:p>
          <a:p>
            <a:pPr>
              <a:buFont typeface="+mj-lt"/>
              <a:buAutoNum type="arabicPeriod"/>
            </a:pPr>
            <a:r>
              <a:rPr lang="en-US" sz="3200" dirty="0"/>
              <a:t>Then it goes up to the demand curve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That gives the </a:t>
            </a:r>
            <a:r>
              <a:rPr lang="en-US" sz="3200" b="1" dirty="0"/>
              <a:t>price to charge</a:t>
            </a:r>
            <a:endParaRPr lang="en-US" sz="3200" dirty="0"/>
          </a:p>
          <a:p>
            <a:r>
              <a:rPr lang="en-US" sz="3200" dirty="0"/>
              <a:t>So: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Output decided by MR = MC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Price taken from demand curve</a:t>
            </a:r>
          </a:p>
        </p:txBody>
      </p:sp>
    </p:spTree>
    <p:extLst>
      <p:ext uri="{BB962C8B-B14F-4D97-AF65-F5344CB8AC3E}">
        <p14:creationId xmlns:p14="http://schemas.microsoft.com/office/powerpoint/2010/main" val="32793109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Discrimination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xmlns="" id="{D7EF0718-65AB-4B0C-961C-B587D950633A}"/>
              </a:ext>
            </a:extLst>
          </p:cNvPr>
          <p:cNvSpPr/>
          <p:nvPr/>
        </p:nvSpPr>
        <p:spPr>
          <a:xfrm>
            <a:off x="457200" y="1280160"/>
            <a:ext cx="809244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Price discrimination</a:t>
            </a:r>
            <a:r>
              <a:rPr lang="en-US" sz="2400" dirty="0"/>
              <a:t> means charging </a:t>
            </a:r>
            <a:r>
              <a:rPr lang="en-US" sz="2400" b="1" dirty="0"/>
              <a:t>different prices for the same product</a:t>
            </a:r>
            <a:r>
              <a:rPr lang="en-US" sz="2400" dirty="0"/>
              <a:t> to different customers, even though the cost of producing the product is the same.</a:t>
            </a:r>
          </a:p>
          <a:p>
            <a:r>
              <a:rPr lang="en-US" sz="2400" dirty="0"/>
              <a:t>This is mainly possible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Monopoly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Monopolistic markets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Service industries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xmlns="" id="{7203926F-6280-42F5-A184-6CDD54DFD709}"/>
              </a:ext>
            </a:extLst>
          </p:cNvPr>
          <p:cNvSpPr/>
          <p:nvPr/>
        </p:nvSpPr>
        <p:spPr>
          <a:xfrm>
            <a:off x="457200" y="4028817"/>
            <a:ext cx="796671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Different customers are willing to pay different prices.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firm tries to capture more profit from each group.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Instead of one price for all, it uses multiple prices.</a:t>
            </a:r>
          </a:p>
          <a:p>
            <a:r>
              <a:rPr lang="en-US" sz="2000" dirty="0"/>
              <a:t> Example:</a:t>
            </a:r>
            <a:br>
              <a:rPr lang="en-US" sz="2000" dirty="0"/>
            </a:br>
            <a:r>
              <a:rPr lang="en-US" sz="2000" dirty="0"/>
              <a:t>A movie ticket: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₹150 for students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₹250 for adults</a:t>
            </a:r>
            <a:br>
              <a:rPr lang="en-US" sz="2000" dirty="0"/>
            </a:br>
            <a:r>
              <a:rPr lang="en-US" sz="2000" dirty="0"/>
              <a:t>Same movie, same seat, different price.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0" y="0"/>
            <a:ext cx="5760720" cy="525462"/>
          </a:xfrm>
        </p:spPr>
        <p:txBody>
          <a:bodyPr>
            <a:normAutofit fontScale="90000"/>
          </a:bodyPr>
          <a:lstStyle/>
          <a:p>
            <a:r>
              <a:rPr dirty="0"/>
              <a:t>Price Discrimination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0EDA8B3-47EF-4B36-9985-90B9D014C9F9}"/>
              </a:ext>
            </a:extLst>
          </p:cNvPr>
          <p:cNvSpPr/>
          <p:nvPr/>
        </p:nvSpPr>
        <p:spPr>
          <a:xfrm>
            <a:off x="342900" y="721698"/>
            <a:ext cx="78638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1.First Degree (Perfect Price Discrimination)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Different price for each customer.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Firm charges the </a:t>
            </a:r>
            <a:r>
              <a:rPr lang="en-US" b="1" dirty="0"/>
              <a:t>maximum each person can pay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Bargaining in local markets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 sales negotiation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B107DFC-9334-4A91-B713-3CAF09E74A3F}"/>
              </a:ext>
            </a:extLst>
          </p:cNvPr>
          <p:cNvSpPr/>
          <p:nvPr/>
        </p:nvSpPr>
        <p:spPr>
          <a:xfrm>
            <a:off x="342900" y="2308375"/>
            <a:ext cx="67437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2.Second Degree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Price depends on quantity consumed.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Bulk discounts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Buy 1 Get 1 offers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Electricity slabs: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First 100 units cheaper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Next 100 units costlier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A60C7F6-C7DD-41B5-B86E-9DAD5851E76F}"/>
              </a:ext>
            </a:extLst>
          </p:cNvPr>
          <p:cNvSpPr/>
          <p:nvPr/>
        </p:nvSpPr>
        <p:spPr>
          <a:xfrm>
            <a:off x="342900" y="4333308"/>
            <a:ext cx="7772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3.Third Degree (Most Common – Very Important)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Different price for different groups/markets.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Student discounts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Senior citizen discounts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Airline </a:t>
            </a:r>
            <a:r>
              <a:rPr lang="en-US" dirty="0" err="1"/>
              <a:t>pricing:Business</a:t>
            </a:r>
            <a:r>
              <a:rPr lang="en-US" dirty="0"/>
              <a:t> class </a:t>
            </a:r>
            <a:r>
              <a:rPr lang="en-US" dirty="0" err="1"/>
              <a:t>expensive,Economy</a:t>
            </a:r>
            <a:r>
              <a:rPr lang="en-US" dirty="0"/>
              <a:t> class cheaper</a:t>
            </a:r>
          </a:p>
          <a:p>
            <a:r>
              <a:rPr lang="en-US" dirty="0"/>
              <a:t>Groups are separated based on: </a:t>
            </a:r>
            <a:r>
              <a:rPr lang="en-US" dirty="0" err="1"/>
              <a:t>Age,Income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7461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3035" y="114618"/>
            <a:ext cx="6297930" cy="685482"/>
          </a:xfrm>
        </p:spPr>
        <p:txBody>
          <a:bodyPr>
            <a:normAutofit fontScale="90000"/>
          </a:bodyPr>
          <a:lstStyle/>
          <a:p>
            <a:r>
              <a:rPr dirty="0"/>
              <a:t>Loss Leader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70" y="971232"/>
            <a:ext cx="8321040" cy="57721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100" b="1" dirty="0"/>
              <a:t>Meaning</a:t>
            </a:r>
          </a:p>
          <a:p>
            <a:r>
              <a:rPr lang="en-US" sz="2100" dirty="0"/>
              <a:t>A firm sells one product at a </a:t>
            </a:r>
            <a:r>
              <a:rPr lang="en-US" sz="2100" b="1" dirty="0"/>
              <a:t>very low price (sometimes even at a loss)</a:t>
            </a:r>
            <a:r>
              <a:rPr lang="en-US" sz="2100" dirty="0"/>
              <a:t> to attract customers.</a:t>
            </a:r>
          </a:p>
          <a:p>
            <a:r>
              <a:rPr lang="en-US" sz="2100" dirty="0"/>
              <a:t>The aim is:</a:t>
            </a:r>
          </a:p>
          <a:p>
            <a:r>
              <a:rPr lang="en-US" sz="2100" dirty="0"/>
              <a:t>Bring customers into the shop/platform</a:t>
            </a:r>
          </a:p>
          <a:p>
            <a:r>
              <a:rPr lang="en-US" sz="2100" dirty="0"/>
              <a:t>Make them buy other profitable products</a:t>
            </a:r>
          </a:p>
          <a:p>
            <a:r>
              <a:rPr lang="en-US" sz="2100" dirty="0"/>
              <a:t>So the loss on one item is recovered from other items.</a:t>
            </a:r>
          </a:p>
          <a:p>
            <a:pPr marL="0" indent="0">
              <a:buNone/>
            </a:pPr>
            <a:r>
              <a:rPr lang="en-US" sz="2100" b="1" dirty="0"/>
              <a:t>Examples</a:t>
            </a:r>
          </a:p>
          <a:p>
            <a:r>
              <a:rPr lang="en-US" sz="2100" dirty="0"/>
              <a:t>Supermarkets:</a:t>
            </a:r>
          </a:p>
          <a:p>
            <a:pPr marL="457200" lvl="1" indent="0">
              <a:buNone/>
            </a:pPr>
            <a:r>
              <a:rPr lang="en-US" sz="1900" dirty="0"/>
              <a:t>Sugar, rice, or oil sold very cheap</a:t>
            </a:r>
          </a:p>
          <a:p>
            <a:r>
              <a:rPr lang="en-US" sz="2100" dirty="0"/>
              <a:t>Amazon/Flipkart:</a:t>
            </a:r>
          </a:p>
          <a:p>
            <a:pPr marL="457200" lvl="1" indent="0">
              <a:buNone/>
            </a:pPr>
            <a:r>
              <a:rPr lang="en-US" sz="1900" dirty="0"/>
              <a:t>Big discount on one popular item</a:t>
            </a:r>
          </a:p>
          <a:p>
            <a:r>
              <a:rPr lang="en-US" sz="2100" dirty="0"/>
              <a:t>Fast food combos:</a:t>
            </a:r>
          </a:p>
          <a:p>
            <a:pPr marL="457200" lvl="1" indent="0">
              <a:buNone/>
            </a:pPr>
            <a:r>
              <a:rPr lang="en-US" sz="1900" dirty="0"/>
              <a:t>Burger cheap → drinks &amp; fries expensive</a:t>
            </a:r>
          </a:p>
          <a:p>
            <a:pPr lvl="1"/>
            <a:endParaRPr lang="en-US" sz="1900" dirty="0"/>
          </a:p>
          <a:p>
            <a:pPr marL="0" indent="0">
              <a:buNone/>
            </a:pPr>
            <a:r>
              <a:rPr lang="en-US" sz="2100" dirty="0"/>
              <a:t>Companies use this to:</a:t>
            </a:r>
          </a:p>
          <a:p>
            <a:r>
              <a:rPr lang="en-US" sz="2100" dirty="0"/>
              <a:t>Increase store traffic</a:t>
            </a:r>
          </a:p>
          <a:p>
            <a:r>
              <a:rPr lang="en-US" sz="2100" dirty="0"/>
              <a:t>Attract new customers</a:t>
            </a:r>
          </a:p>
          <a:p>
            <a:r>
              <a:rPr lang="en-US" sz="2100" dirty="0"/>
              <a:t>Increase total sales</a:t>
            </a:r>
          </a:p>
          <a:p>
            <a:pPr marL="0" indent="0">
              <a:buNone/>
            </a:pPr>
            <a:r>
              <a:rPr lang="en-US" sz="2100" b="1" dirty="0"/>
              <a:t>Risk</a:t>
            </a:r>
          </a:p>
          <a:p>
            <a:r>
              <a:rPr lang="en-US" sz="2100" dirty="0"/>
              <a:t>If customers buy only the cheap product → loss increases</a:t>
            </a:r>
          </a:p>
          <a:p>
            <a:pPr marL="0" indent="0"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0185" y="42168"/>
            <a:ext cx="6183630" cy="639762"/>
          </a:xfrm>
        </p:spPr>
        <p:txBody>
          <a:bodyPr>
            <a:normAutofit fontScale="90000"/>
          </a:bodyPr>
          <a:lstStyle/>
          <a:p>
            <a:r>
              <a:rPr dirty="0"/>
              <a:t>Peak Load Pricing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AF79F31-DD28-4A1A-ABE3-6D76E97EBA82}"/>
              </a:ext>
            </a:extLst>
          </p:cNvPr>
          <p:cNvSpPr/>
          <p:nvPr/>
        </p:nvSpPr>
        <p:spPr>
          <a:xfrm>
            <a:off x="354330" y="1028343"/>
            <a:ext cx="878967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Charging </a:t>
            </a:r>
            <a:r>
              <a:rPr lang="en-US" sz="2000" b="1" dirty="0"/>
              <a:t>higher prices during high demand time</a:t>
            </a:r>
            <a:r>
              <a:rPr lang="en-US" sz="2000" dirty="0"/>
              <a:t> and </a:t>
            </a:r>
            <a:r>
              <a:rPr lang="en-US" sz="2000" b="1" dirty="0"/>
              <a:t>lower prices during low demand time</a:t>
            </a:r>
            <a:r>
              <a:rPr lang="en-US" sz="2000" dirty="0"/>
              <a:t>.</a:t>
            </a:r>
          </a:p>
          <a:p>
            <a:r>
              <a:rPr lang="en-US" sz="2000" dirty="0"/>
              <a:t>This helps manage demand and increase revenue.</a:t>
            </a:r>
          </a:p>
          <a:p>
            <a:r>
              <a:rPr lang="en-US" sz="2000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Ola/Uber surge pricing during rain or office hours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Electricity charges: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Higher at peak hours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Lower at night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Airline tickets: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Expensive during holidays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Cheaper during off-season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 resources efficiently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Control overcrowding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Earn more during peak demand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This is common in service industries.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4470" y="274638"/>
            <a:ext cx="6195060" cy="422592"/>
          </a:xfrm>
        </p:spPr>
        <p:txBody>
          <a:bodyPr>
            <a:normAutofit fontScale="90000"/>
          </a:bodyPr>
          <a:lstStyle/>
          <a:p>
            <a:r>
              <a:t>Transfer Pricing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0D6A0370-69FD-4AA5-B8BA-1F4306A0476B}"/>
              </a:ext>
            </a:extLst>
          </p:cNvPr>
          <p:cNvSpPr/>
          <p:nvPr/>
        </p:nvSpPr>
        <p:spPr>
          <a:xfrm>
            <a:off x="285750" y="975926"/>
            <a:ext cx="840105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Meaning</a:t>
            </a:r>
          </a:p>
          <a:p>
            <a:r>
              <a:rPr lang="en-US" sz="2000" dirty="0"/>
              <a:t>Price charged when one unit of a company sells goods/services to another unit of the same company.</a:t>
            </a:r>
          </a:p>
          <a:p>
            <a:r>
              <a:rPr lang="en-US" sz="2000" dirty="0"/>
              <a:t>So it is </a:t>
            </a:r>
            <a:r>
              <a:rPr lang="en-US" sz="2000" b="1" dirty="0"/>
              <a:t>internal pricing</a:t>
            </a:r>
            <a:r>
              <a:rPr lang="en-US" sz="2000" dirty="0"/>
              <a:t>, not market pricing.</a:t>
            </a:r>
          </a:p>
          <a:p>
            <a:endParaRPr lang="en-US" sz="2000" dirty="0"/>
          </a:p>
          <a:p>
            <a:r>
              <a:rPr lang="en-US" sz="2000" b="1" dirty="0"/>
              <a:t>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Tata Motors buys parts from another Tata company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 company's manufacturing unit sells to its own marketing unit</a:t>
            </a:r>
          </a:p>
          <a:p>
            <a:r>
              <a:rPr lang="en-US" sz="2000" dirty="0"/>
              <a:t>Even though both belong to the same company, they set a price for accounting purposes.</a:t>
            </a:r>
          </a:p>
          <a:p>
            <a:endParaRPr lang="en-US" sz="2000" dirty="0"/>
          </a:p>
          <a:p>
            <a:r>
              <a:rPr lang="en-US" sz="2000" b="1" dirty="0"/>
              <a:t>Why Companies Use 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Measure performance of each division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Calculate profit of each unit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Tax planning (sometimes)</a:t>
            </a:r>
          </a:p>
          <a:p>
            <a:endParaRPr lang="en-US" sz="2000" dirty="0"/>
          </a:p>
          <a:p>
            <a:r>
              <a:rPr lang="en-US" sz="2000" dirty="0"/>
              <a:t>Helps: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Evaluate department efficiency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Maintain internal cost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1998</Words>
  <Application>Microsoft Office PowerPoint</Application>
  <PresentationFormat>On-screen Show (4:3)</PresentationFormat>
  <Paragraphs>348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Market Structure and Pricing Practices</vt:lpstr>
      <vt:lpstr>Perfect Competition</vt:lpstr>
      <vt:lpstr>Perfect Competition  Features (Characteristic)</vt:lpstr>
      <vt:lpstr>Features (Characteristic)</vt:lpstr>
      <vt:lpstr>PowerPoint Presentation</vt:lpstr>
      <vt:lpstr>Determination of Price under Perfect Competition</vt:lpstr>
      <vt:lpstr>Determination of Price under Perfect Competition</vt:lpstr>
      <vt:lpstr>PowerPoint Presentation</vt:lpstr>
      <vt:lpstr>PowerPoint Presentation</vt:lpstr>
      <vt:lpstr>PowerPoint Presentation</vt:lpstr>
      <vt:lpstr>Monopolistic Competition  Features</vt:lpstr>
      <vt:lpstr>PowerPoint Presentation</vt:lpstr>
      <vt:lpstr>PowerPoint Presentation</vt:lpstr>
      <vt:lpstr>Product Differentiation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Kinked Demand Curve</vt:lpstr>
      <vt:lpstr>Kinked Demand Curve</vt:lpstr>
      <vt:lpstr>Cartels</vt:lpstr>
      <vt:lpstr>Cartels</vt:lpstr>
      <vt:lpstr>Price Leadership</vt:lpstr>
      <vt:lpstr>Monopoly  Features</vt:lpstr>
      <vt:lpstr>Pricing under Monopoly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Price Discrimination</vt:lpstr>
      <vt:lpstr>Price Discrimination</vt:lpstr>
      <vt:lpstr>Loss Leader Pricing</vt:lpstr>
      <vt:lpstr>Peak Load Pricing</vt:lpstr>
      <vt:lpstr>Transfer Pricing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Structure and Pricing Practices</dc:title>
  <dc:subject/>
  <dc:creator>Prem Umesh Sanadi</dc:creator>
  <cp:keywords/>
  <dc:description>generated using python-pptx</dc:description>
  <cp:lastModifiedBy>Microsoft account</cp:lastModifiedBy>
  <cp:revision>21</cp:revision>
  <dcterms:created xsi:type="dcterms:W3CDTF">2013-01-27T09:14:16Z</dcterms:created>
  <dcterms:modified xsi:type="dcterms:W3CDTF">2026-02-10T17:50:43Z</dcterms:modified>
  <cp:category/>
</cp:coreProperties>
</file>