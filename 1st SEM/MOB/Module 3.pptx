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33400"/>
            <a:ext cx="8382000" cy="1470025"/>
          </a:xfrm>
        </p:spPr>
        <p:txBody>
          <a:bodyPr>
            <a:normAutofit/>
          </a:bodyPr>
          <a:lstStyle/>
          <a:p>
            <a:r>
              <a:rPr lang="en-US" sz="4000" dirty="0" err="1" smtClean="0">
                <a:solidFill>
                  <a:srgbClr val="FF0000"/>
                </a:solidFill>
                <a:latin typeface="Algerian" pitchFamily="82" charset="0"/>
              </a:rPr>
              <a:t>Organisational</a:t>
            </a:r>
            <a:r>
              <a:rPr lang="en-US" sz="4000" dirty="0" smtClean="0">
                <a:solidFill>
                  <a:srgbClr val="FF0000"/>
                </a:solidFill>
                <a:latin typeface="Algerian" pitchFamily="82" charset="0"/>
              </a:rPr>
              <a:t> Behaviour</a:t>
            </a:r>
            <a:endParaRPr lang="en-US" sz="4000" dirty="0">
              <a:solidFill>
                <a:srgbClr val="FF0000"/>
              </a:solidFill>
              <a:latin typeface="Algerian" pitchFamily="82" charset="0"/>
            </a:endParaRPr>
          </a:p>
        </p:txBody>
      </p:sp>
      <p:sp>
        <p:nvSpPr>
          <p:cNvPr id="3" name="Subtitle 2"/>
          <p:cNvSpPr>
            <a:spLocks noGrp="1"/>
          </p:cNvSpPr>
          <p:nvPr>
            <p:ph type="subTitle" idx="1"/>
          </p:nvPr>
        </p:nvSpPr>
        <p:spPr>
          <a:xfrm>
            <a:off x="1066800" y="1905000"/>
            <a:ext cx="7162800" cy="4343400"/>
          </a:xfrm>
        </p:spPr>
        <p:txBody>
          <a:bodyPr>
            <a:normAutofit/>
          </a:bodyPr>
          <a:lstStyle/>
          <a:p>
            <a:pPr algn="just">
              <a:lnSpc>
                <a:spcPct val="200000"/>
              </a:lnSpc>
            </a:pPr>
            <a:r>
              <a:rPr lang="en-US" dirty="0" smtClean="0"/>
              <a:t>	</a:t>
            </a:r>
            <a:r>
              <a:rPr lang="en-US" sz="2800" dirty="0" smtClean="0">
                <a:solidFill>
                  <a:schemeClr val="tx1"/>
                </a:solidFill>
                <a:latin typeface="Times New Roman" pitchFamily="18" charset="0"/>
                <a:cs typeface="Times New Roman" pitchFamily="18" charset="0"/>
              </a:rPr>
              <a:t>Introduction, Meaning, History of </a:t>
            </a:r>
            <a:r>
              <a:rPr lang="en-US" sz="2800" dirty="0" err="1" smtClean="0">
                <a:solidFill>
                  <a:schemeClr val="tx1"/>
                </a:solidFill>
                <a:latin typeface="Times New Roman" pitchFamily="18" charset="0"/>
                <a:cs typeface="Times New Roman" pitchFamily="18" charset="0"/>
              </a:rPr>
              <a:t>Organisational</a:t>
            </a:r>
            <a:r>
              <a:rPr lang="en-US" sz="2800" dirty="0" smtClean="0">
                <a:solidFill>
                  <a:schemeClr val="tx1"/>
                </a:solidFill>
                <a:latin typeface="Times New Roman" pitchFamily="18" charset="0"/>
                <a:cs typeface="Times New Roman" pitchFamily="18" charset="0"/>
              </a:rPr>
              <a:t> Behaviour, </a:t>
            </a:r>
            <a:r>
              <a:rPr lang="en-US" sz="2800" dirty="0" err="1" smtClean="0">
                <a:solidFill>
                  <a:schemeClr val="tx1"/>
                </a:solidFill>
                <a:latin typeface="Times New Roman" pitchFamily="18" charset="0"/>
                <a:cs typeface="Times New Roman" pitchFamily="18" charset="0"/>
              </a:rPr>
              <a:t>Organisational</a:t>
            </a:r>
            <a:r>
              <a:rPr lang="en-US" sz="2800" dirty="0" smtClean="0">
                <a:solidFill>
                  <a:schemeClr val="tx1"/>
                </a:solidFill>
                <a:latin typeface="Times New Roman" pitchFamily="18" charset="0"/>
                <a:cs typeface="Times New Roman" pitchFamily="18" charset="0"/>
              </a:rPr>
              <a:t> effectiveness, </a:t>
            </a:r>
            <a:r>
              <a:rPr lang="en-US" sz="2800" dirty="0" err="1" smtClean="0">
                <a:solidFill>
                  <a:schemeClr val="tx1"/>
                </a:solidFill>
                <a:latin typeface="Times New Roman" pitchFamily="18" charset="0"/>
                <a:cs typeface="Times New Roman" pitchFamily="18" charset="0"/>
              </a:rPr>
              <a:t>Organisational</a:t>
            </a:r>
            <a:r>
              <a:rPr lang="en-US" sz="2800" dirty="0" smtClean="0">
                <a:solidFill>
                  <a:schemeClr val="tx1"/>
                </a:solidFill>
                <a:latin typeface="Times New Roman" pitchFamily="18" charset="0"/>
                <a:cs typeface="Times New Roman" pitchFamily="18" charset="0"/>
              </a:rPr>
              <a:t> learning process, Stakeholders, OB in a Global Context.</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O.B : Introduction and Meaning</a:t>
            </a:r>
            <a:endParaRPr lang="en-US" dirty="0">
              <a:solidFill>
                <a:srgbClr val="FF0000"/>
              </a:solidFill>
            </a:endParaRPr>
          </a:p>
        </p:txBody>
      </p:sp>
      <p:sp>
        <p:nvSpPr>
          <p:cNvPr id="3" name="Content Placeholder 2"/>
          <p:cNvSpPr>
            <a:spLocks noGrp="1"/>
          </p:cNvSpPr>
          <p:nvPr>
            <p:ph idx="1"/>
          </p:nvPr>
        </p:nvSpPr>
        <p:spPr>
          <a:xfrm>
            <a:off x="457200" y="1447800"/>
            <a:ext cx="8229600" cy="5029200"/>
          </a:xfrm>
        </p:spPr>
        <p:txBody>
          <a:bodyPr>
            <a:normAutofit fontScale="77500" lnSpcReduction="20000"/>
          </a:bodyPr>
          <a:lstStyle/>
          <a:p>
            <a:pPr algn="just">
              <a:lnSpc>
                <a:spcPct val="150000"/>
              </a:lnSpc>
              <a:buNone/>
            </a:pPr>
            <a:r>
              <a:rPr lang="en-US" sz="2800" dirty="0" smtClean="0">
                <a:latin typeface="Times New Roman" pitchFamily="18" charset="0"/>
                <a:cs typeface="Times New Roman" pitchFamily="18" charset="0"/>
              </a:rPr>
              <a:t>		OB is the most </a:t>
            </a:r>
            <a:r>
              <a:rPr lang="en-US" sz="2800" b="1" u="sng" dirty="0" smtClean="0">
                <a:solidFill>
                  <a:srgbClr val="FF0000"/>
                </a:solidFill>
                <a:latin typeface="Times New Roman" pitchFamily="18" charset="0"/>
                <a:cs typeface="Times New Roman" pitchFamily="18" charset="0"/>
              </a:rPr>
              <a:t>complex</a:t>
            </a:r>
            <a:r>
              <a:rPr lang="en-US" sz="2800" dirty="0" smtClean="0">
                <a:latin typeface="Times New Roman" pitchFamily="18" charset="0"/>
                <a:cs typeface="Times New Roman" pitchFamily="18" charset="0"/>
              </a:rPr>
              <a:t> and perhaps least understood academic elements of modern general management.</a:t>
            </a:r>
          </a:p>
          <a:p>
            <a:pPr algn="just">
              <a:lnSpc>
                <a:spcPct val="150000"/>
              </a:lnSpc>
              <a:buNone/>
            </a:pPr>
            <a:r>
              <a:rPr lang="en-US" sz="2800" dirty="0" smtClean="0">
                <a:latin typeface="Times New Roman" pitchFamily="18" charset="0"/>
                <a:cs typeface="Times New Roman" pitchFamily="18" charset="0"/>
              </a:rPr>
              <a:t>		OB is defined as “the study and understanding of </a:t>
            </a:r>
            <a:r>
              <a:rPr lang="en-US" sz="2800" i="1" dirty="0" smtClean="0">
                <a:solidFill>
                  <a:srgbClr val="FF0000"/>
                </a:solidFill>
                <a:latin typeface="Times New Roman" pitchFamily="18" charset="0"/>
                <a:cs typeface="Times New Roman" pitchFamily="18" charset="0"/>
              </a:rPr>
              <a:t>individual and group behaviour, and patterns </a:t>
            </a:r>
            <a:r>
              <a:rPr lang="en-US" sz="2800" dirty="0" smtClean="0">
                <a:latin typeface="Times New Roman" pitchFamily="18" charset="0"/>
                <a:cs typeface="Times New Roman" pitchFamily="18" charset="0"/>
              </a:rPr>
              <a:t>of the structure in order to help improve organizational performance and effectiveness”.</a:t>
            </a:r>
          </a:p>
          <a:p>
            <a:pPr algn="just">
              <a:lnSpc>
                <a:spcPct val="150000"/>
              </a:lnSpc>
              <a:buNone/>
            </a:pPr>
            <a:r>
              <a:rPr lang="en-US" sz="2800" dirty="0" smtClean="0">
                <a:latin typeface="Times New Roman" pitchFamily="18" charset="0"/>
                <a:cs typeface="Times New Roman" pitchFamily="18" charset="0"/>
              </a:rPr>
              <a:t>		In short, it is a study of </a:t>
            </a:r>
            <a:r>
              <a:rPr lang="en-US" sz="2800" i="1" dirty="0" smtClean="0">
                <a:solidFill>
                  <a:srgbClr val="FF0000"/>
                </a:solidFill>
                <a:latin typeface="Times New Roman" pitchFamily="18" charset="0"/>
                <a:cs typeface="Times New Roman" pitchFamily="18" charset="0"/>
              </a:rPr>
              <a:t>understanding, predicting and controlling</a:t>
            </a:r>
            <a:r>
              <a:rPr lang="en-US" sz="2800" dirty="0" smtClean="0">
                <a:latin typeface="Times New Roman" pitchFamily="18" charset="0"/>
                <a:cs typeface="Times New Roman" pitchFamily="18" charset="0"/>
              </a:rPr>
              <a:t> the human behaviour.</a:t>
            </a:r>
          </a:p>
          <a:p>
            <a:pPr algn="just">
              <a:lnSpc>
                <a:spcPct val="150000"/>
              </a:lnSpc>
              <a:buNone/>
            </a:pPr>
            <a:r>
              <a:rPr lang="en-US" sz="2800" dirty="0" smtClean="0">
                <a:latin typeface="Times New Roman" pitchFamily="18" charset="0"/>
                <a:cs typeface="Times New Roman" pitchFamily="18" charset="0"/>
              </a:rPr>
              <a:t>		OB study includes the selected aspects of Psychology, Sociology and Anthropology together.</a:t>
            </a:r>
          </a:p>
          <a:p>
            <a:pPr algn="ctr">
              <a:lnSpc>
                <a:spcPct val="150000"/>
              </a:lnSpc>
              <a:buNone/>
            </a:pPr>
            <a:r>
              <a:rPr lang="en-US" sz="2800" dirty="0" smtClean="0">
                <a:latin typeface="Times New Roman" pitchFamily="18" charset="0"/>
                <a:cs typeface="Times New Roman" pitchFamily="18" charset="0"/>
              </a:rPr>
              <a:t>             “How people </a:t>
            </a:r>
            <a:r>
              <a:rPr lang="en-US" sz="2800" b="1" i="1" dirty="0" smtClean="0">
                <a:solidFill>
                  <a:srgbClr val="FF0000"/>
                </a:solidFill>
                <a:latin typeface="Times New Roman" pitchFamily="18" charset="0"/>
                <a:cs typeface="Times New Roman" pitchFamily="18" charset="0"/>
              </a:rPr>
              <a:t>Act/Behaves</a:t>
            </a:r>
            <a:r>
              <a:rPr lang="en-US" sz="2800" dirty="0" smtClean="0">
                <a:latin typeface="Times New Roman" pitchFamily="18" charset="0"/>
                <a:cs typeface="Times New Roman" pitchFamily="18" charset="0"/>
              </a:rPr>
              <a:t> within organizations” </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algn="l"/>
            <a:r>
              <a:rPr lang="en-US" dirty="0" smtClean="0">
                <a:solidFill>
                  <a:srgbClr val="FF0000"/>
                </a:solidFill>
                <a:latin typeface="Times New Roman" pitchFamily="18" charset="0"/>
                <a:cs typeface="Times New Roman" pitchFamily="18" charset="0"/>
              </a:rPr>
              <a:t>O.B : History</a:t>
            </a:r>
            <a:endParaRPr lang="en-US" dirty="0"/>
          </a:p>
        </p:txBody>
      </p:sp>
      <p:sp>
        <p:nvSpPr>
          <p:cNvPr id="3" name="Content Placeholder 2"/>
          <p:cNvSpPr>
            <a:spLocks noGrp="1"/>
          </p:cNvSpPr>
          <p:nvPr>
            <p:ph idx="1"/>
          </p:nvPr>
        </p:nvSpPr>
        <p:spPr>
          <a:xfrm>
            <a:off x="457200" y="1295400"/>
            <a:ext cx="8229600" cy="5334000"/>
          </a:xfrm>
        </p:spPr>
        <p:txBody>
          <a:bodyPr>
            <a:normAutofit/>
          </a:bodyPr>
          <a:lstStyle/>
          <a:p>
            <a:pPr marL="514350" indent="-514350">
              <a:buNone/>
            </a:pPr>
            <a:r>
              <a:rPr lang="en-US" sz="28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(Adam Smith, Charles Babbage, Robert Owen, Mary Parker and Chester Barnard, McGregor, Fredric Taylor, Henry </a:t>
            </a:r>
            <a:r>
              <a:rPr lang="en-US" sz="2000" dirty="0" err="1" smtClean="0">
                <a:latin typeface="Times New Roman" pitchFamily="18" charset="0"/>
                <a:cs typeface="Times New Roman" pitchFamily="18" charset="0"/>
              </a:rPr>
              <a:t>Fayol</a:t>
            </a:r>
            <a:r>
              <a:rPr lang="en-US" sz="2000" dirty="0" smtClean="0">
                <a:latin typeface="Times New Roman" pitchFamily="18" charset="0"/>
                <a:cs typeface="Times New Roman" pitchFamily="18" charset="0"/>
              </a:rPr>
              <a:t>)</a:t>
            </a:r>
          </a:p>
          <a:p>
            <a:pPr marL="514350" indent="-514350">
              <a:buNone/>
            </a:pPr>
            <a:endParaRPr lang="en-US" sz="2800" dirty="0" smtClean="0">
              <a:latin typeface="Times New Roman" pitchFamily="18" charset="0"/>
              <a:cs typeface="Times New Roman" pitchFamily="18" charset="0"/>
            </a:endParaRPr>
          </a:p>
          <a:p>
            <a:pPr marL="514350" indent="-514350" algn="just">
              <a:buAutoNum type="arabicPeriod"/>
            </a:pPr>
            <a:r>
              <a:rPr lang="en-US" sz="2400" dirty="0" smtClean="0">
                <a:solidFill>
                  <a:srgbClr val="FF0000"/>
                </a:solidFill>
                <a:latin typeface="Times New Roman" pitchFamily="18" charset="0"/>
                <a:cs typeface="Times New Roman" pitchFamily="18" charset="0"/>
              </a:rPr>
              <a:t>Classical Era(Industrial Era): </a:t>
            </a:r>
            <a:r>
              <a:rPr lang="en-US" sz="2400" dirty="0" smtClean="0">
                <a:latin typeface="Times New Roman" pitchFamily="18" charset="0"/>
                <a:cs typeface="Times New Roman" pitchFamily="18" charset="0"/>
              </a:rPr>
              <a:t>It covered the period from 1900 to 1930 approximately when the first general theory of management began to evolve. The major contributors were Fredric Taylor, Henry </a:t>
            </a:r>
            <a:r>
              <a:rPr lang="en-US" sz="2400" dirty="0" err="1" smtClean="0">
                <a:latin typeface="Times New Roman" pitchFamily="18" charset="0"/>
                <a:cs typeface="Times New Roman" pitchFamily="18" charset="0"/>
              </a:rPr>
              <a:t>Fayol</a:t>
            </a:r>
            <a:r>
              <a:rPr lang="en-US" sz="2400" dirty="0" smtClean="0">
                <a:latin typeface="Times New Roman" pitchFamily="18" charset="0"/>
                <a:cs typeface="Times New Roman" pitchFamily="18" charset="0"/>
              </a:rPr>
              <a:t>, Max Weber, Mary Parker Follett and Chester Barnard. </a:t>
            </a:r>
          </a:p>
          <a:p>
            <a:pPr marL="514350" indent="-514350" algn="just">
              <a:buNone/>
            </a:pPr>
            <a:endParaRPr lang="en-US" sz="2400" dirty="0" smtClean="0">
              <a:latin typeface="Times New Roman" pitchFamily="18" charset="0"/>
              <a:cs typeface="Times New Roman" pitchFamily="18" charset="0"/>
            </a:endParaRPr>
          </a:p>
          <a:p>
            <a:pPr marL="514350" indent="-514350" algn="just">
              <a:buNone/>
            </a:pPr>
            <a:r>
              <a:rPr lang="en-US" sz="2400" dirty="0" smtClean="0">
                <a:latin typeface="Times New Roman" pitchFamily="18" charset="0"/>
                <a:cs typeface="Times New Roman" pitchFamily="18" charset="0"/>
              </a:rPr>
              <a:t>a. Scientific Management by Fredric Taylor .</a:t>
            </a:r>
          </a:p>
          <a:p>
            <a:pPr marL="514350" indent="-514350" algn="just">
              <a:buNone/>
            </a:pPr>
            <a:r>
              <a:rPr lang="en-US" sz="2400" dirty="0" smtClean="0">
                <a:latin typeface="Times New Roman" pitchFamily="18" charset="0"/>
                <a:cs typeface="Times New Roman" pitchFamily="18" charset="0"/>
              </a:rPr>
              <a:t>b. Administrative Theory by Henry </a:t>
            </a:r>
            <a:r>
              <a:rPr lang="en-US" sz="2400" dirty="0" err="1" smtClean="0">
                <a:latin typeface="Times New Roman" pitchFamily="18" charset="0"/>
                <a:cs typeface="Times New Roman" pitchFamily="18" charset="0"/>
              </a:rPr>
              <a:t>Fayol</a:t>
            </a:r>
            <a:r>
              <a:rPr lang="en-US" sz="2400" dirty="0" smtClean="0">
                <a:latin typeface="Times New Roman" pitchFamily="18" charset="0"/>
                <a:cs typeface="Times New Roman" pitchFamily="18" charset="0"/>
              </a:rPr>
              <a:t> and proposed Functions of Management and 14 Principles.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81000"/>
            <a:ext cx="8229600" cy="6248400"/>
          </a:xfrm>
        </p:spPr>
        <p:txBody>
          <a:bodyPr/>
          <a:lstStyle/>
          <a:p>
            <a:pPr>
              <a:buNone/>
            </a:pPr>
            <a:r>
              <a:rPr lang="en-US" dirty="0" smtClean="0">
                <a:solidFill>
                  <a:srgbClr val="FF0000"/>
                </a:solidFill>
                <a:latin typeface="Times New Roman" pitchFamily="18" charset="0"/>
                <a:cs typeface="Times New Roman" pitchFamily="18" charset="0"/>
              </a:rPr>
              <a:t>2. ‘Social Man’ Theory : </a:t>
            </a:r>
          </a:p>
          <a:p>
            <a:pPr marL="514350" indent="-514350" algn="just">
              <a:lnSpc>
                <a:spcPct val="150000"/>
              </a:lnSpc>
              <a:buFont typeface="Arial" pitchFamily="34" charset="0"/>
              <a:buNone/>
            </a:pPr>
            <a:r>
              <a:rPr lang="en-US" sz="2400" dirty="0" smtClean="0">
                <a:latin typeface="Times New Roman" pitchFamily="18" charset="0"/>
                <a:cs typeface="Times New Roman" pitchFamily="18" charset="0"/>
              </a:rPr>
              <a:t>		Mary Parker and Chester Barnard saw the importance of the social aspect of organizations. </a:t>
            </a:r>
          </a:p>
          <a:p>
            <a:pPr marL="514350" indent="-514350" algn="just">
              <a:lnSpc>
                <a:spcPct val="150000"/>
              </a:lnSpc>
              <a:buFont typeface="Arial" pitchFamily="34" charset="0"/>
              <a:buNone/>
            </a:pPr>
            <a:r>
              <a:rPr lang="en-US" sz="2400" dirty="0" smtClean="0">
                <a:latin typeface="Times New Roman" pitchFamily="18" charset="0"/>
                <a:cs typeface="Times New Roman" pitchFamily="18" charset="0"/>
              </a:rPr>
              <a:t>		Barnard saw organizations as social systems that require human co-operation. </a:t>
            </a:r>
          </a:p>
          <a:p>
            <a:pPr marL="514350" indent="-514350" algn="just">
              <a:lnSpc>
                <a:spcPct val="150000"/>
              </a:lnSpc>
              <a:buFont typeface="Arial" pitchFamily="34" charset="0"/>
              <a:buNone/>
            </a:pPr>
            <a:r>
              <a:rPr lang="en-US" sz="2400" dirty="0" smtClean="0">
                <a:latin typeface="Times New Roman" pitchFamily="18" charset="0"/>
                <a:cs typeface="Times New Roman" pitchFamily="18" charset="0"/>
              </a:rPr>
              <a:t>		Barnard maintained that success depends on maintaining good relations with people and introduced the idea that managers had to examine the environment and then adjust the organization to maintain the state of equilibrium.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l"/>
            <a:r>
              <a:rPr lang="en-US" dirty="0" smtClean="0">
                <a:solidFill>
                  <a:srgbClr val="FF0000"/>
                </a:solidFill>
                <a:latin typeface="Times New Roman" pitchFamily="18" charset="0"/>
                <a:cs typeface="Times New Roman" pitchFamily="18" charset="0"/>
              </a:rPr>
              <a:t>3. Behavioural Era</a:t>
            </a:r>
          </a:p>
        </p:txBody>
      </p:sp>
      <p:sp>
        <p:nvSpPr>
          <p:cNvPr id="3" name="Content Placeholder 2"/>
          <p:cNvSpPr>
            <a:spLocks noGrp="1"/>
          </p:cNvSpPr>
          <p:nvPr>
            <p:ph idx="1"/>
          </p:nvPr>
        </p:nvSpPr>
        <p:spPr>
          <a:xfrm>
            <a:off x="304800" y="914400"/>
            <a:ext cx="8534400" cy="5867400"/>
          </a:xfrm>
        </p:spPr>
        <p:txBody>
          <a:bodyPr>
            <a:noAutofit/>
          </a:bodyPr>
          <a:lstStyle/>
          <a:p>
            <a:pPr algn="just">
              <a:buNone/>
            </a:pPr>
            <a:r>
              <a:rPr lang="en-US" sz="2400" dirty="0" smtClean="0">
                <a:latin typeface="Times New Roman" pitchFamily="18" charset="0"/>
                <a:cs typeface="Times New Roman" pitchFamily="18" charset="0"/>
              </a:rPr>
              <a:t>		The era saw two events. The birth of Personnel officer and the Creation of industrial Psychology’.</a:t>
            </a:r>
          </a:p>
          <a:p>
            <a:pPr algn="just">
              <a:buNone/>
            </a:pPr>
            <a:r>
              <a:rPr lang="en-US" sz="2400" dirty="0" smtClean="0">
                <a:latin typeface="Times New Roman" pitchFamily="18" charset="0"/>
                <a:cs typeface="Times New Roman" pitchFamily="18" charset="0"/>
              </a:rPr>
              <a:t>		McGregor is best known for his formulation of two sets of assumptions — known as Theory X and Theory Y. </a:t>
            </a:r>
          </a:p>
          <a:p>
            <a:pPr algn="just">
              <a:buNone/>
            </a:pPr>
            <a:r>
              <a:rPr lang="en-US" sz="2400" dirty="0" smtClean="0">
                <a:latin typeface="Times New Roman" pitchFamily="18" charset="0"/>
                <a:cs typeface="Times New Roman" pitchFamily="18" charset="0"/>
              </a:rPr>
              <a:t>		The former assumes that people have little ambition, dislike work, want to avoid responsibility and need to be closely directed to work effectively. </a:t>
            </a:r>
          </a:p>
          <a:p>
            <a:pPr algn="just">
              <a:buNone/>
            </a:pPr>
            <a:r>
              <a:rPr lang="en-US" sz="2400" dirty="0" smtClean="0">
                <a:latin typeface="Times New Roman" pitchFamily="18" charset="0"/>
                <a:cs typeface="Times New Roman" pitchFamily="18" charset="0"/>
              </a:rPr>
              <a:t>		The latter assumes that people can exercise self-direction, accept responsibility and consider work to be as natural as rest or play.</a:t>
            </a:r>
          </a:p>
          <a:p>
            <a:pPr algn="just">
              <a:buNone/>
            </a:pPr>
            <a:r>
              <a:rPr lang="en-US" sz="2400" dirty="0" smtClean="0">
                <a:latin typeface="Times New Roman" pitchFamily="18" charset="0"/>
                <a:cs typeface="Times New Roman" pitchFamily="18" charset="0"/>
              </a:rPr>
              <a:t>		McGregor believed that theory Y assumptions better captured the true nature of workers and guided management better.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lstStyle/>
          <a:p>
            <a:pPr algn="just">
              <a:buNone/>
            </a:pPr>
            <a:r>
              <a:rPr lang="en-US" sz="2400" dirty="0" smtClean="0">
                <a:latin typeface="Times New Roman" pitchFamily="18" charset="0"/>
                <a:cs typeface="Times New Roman" pitchFamily="18" charset="0"/>
              </a:rPr>
              <a:t>		Maslow proposed a theoretical hierarchy of five Needs: Physiological, Safety, Social, esteem and self-</a:t>
            </a:r>
            <a:r>
              <a:rPr lang="en-US" sz="2400" dirty="0" err="1" smtClean="0">
                <a:latin typeface="Times New Roman" pitchFamily="18" charset="0"/>
                <a:cs typeface="Times New Roman" pitchFamily="18" charset="0"/>
              </a:rPr>
              <a:t>actualisation</a:t>
            </a:r>
            <a:r>
              <a:rPr lang="en-US" sz="2400" dirty="0" smtClean="0">
                <a:latin typeface="Times New Roman" pitchFamily="18" charset="0"/>
                <a:cs typeface="Times New Roman" pitchFamily="18" charset="0"/>
              </a:rPr>
              <a:t>. He advocated the need of satisfaction of each before turning to the next one.</a:t>
            </a:r>
          </a:p>
          <a:p>
            <a:pPr algn="just">
              <a:buNone/>
            </a:pPr>
            <a:r>
              <a:rPr lang="en-US" sz="2400" dirty="0" smtClean="0">
                <a:latin typeface="Times New Roman" pitchFamily="18" charset="0"/>
                <a:cs typeface="Times New Roman" pitchFamily="18" charset="0"/>
              </a:rPr>
              <a:t>		“The people side” of organization comes into its own during this era and it was marked by human relations movement and widespread application of behavioral research.</a:t>
            </a:r>
          </a:p>
          <a:p>
            <a:endParaRPr lang="en-US"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rgbClr val="FF0000"/>
                </a:solidFill>
                <a:latin typeface="Times New Roman" pitchFamily="18" charset="0"/>
                <a:cs typeface="Times New Roman" pitchFamily="18" charset="0"/>
              </a:rPr>
              <a:t>O.B : Contemporary Challenges</a:t>
            </a:r>
            <a:endParaRPr lang="en-US" dirty="0"/>
          </a:p>
        </p:txBody>
      </p:sp>
      <p:sp>
        <p:nvSpPr>
          <p:cNvPr id="3" name="Content Placeholder 2"/>
          <p:cNvSpPr>
            <a:spLocks noGrp="1"/>
          </p:cNvSpPr>
          <p:nvPr>
            <p:ph idx="1"/>
          </p:nvPr>
        </p:nvSpPr>
        <p:spPr>
          <a:xfrm>
            <a:off x="457200" y="1447800"/>
            <a:ext cx="8229600" cy="4953000"/>
          </a:xfrm>
        </p:spPr>
        <p:txBody>
          <a:bodyPr>
            <a:normAutofit lnSpcReduction="10000"/>
          </a:bodyPr>
          <a:lstStyle/>
          <a:p>
            <a:pPr>
              <a:lnSpc>
                <a:spcPct val="150000"/>
              </a:lnSpc>
              <a:buFont typeface="Wingdings" pitchFamily="2" charset="2"/>
              <a:buChar char="ü"/>
            </a:pPr>
            <a:r>
              <a:rPr lang="en-US" sz="2400" dirty="0" smtClean="0">
                <a:latin typeface="Times New Roman" pitchFamily="18" charset="0"/>
                <a:cs typeface="Times New Roman" pitchFamily="18" charset="0"/>
              </a:rPr>
              <a:t>Improving Employee Skill Sets.</a:t>
            </a:r>
          </a:p>
          <a:p>
            <a:pPr>
              <a:lnSpc>
                <a:spcPct val="150000"/>
              </a:lnSpc>
              <a:buFont typeface="Wingdings" pitchFamily="2" charset="2"/>
              <a:buChar char="ü"/>
            </a:pPr>
            <a:r>
              <a:rPr lang="en-US" sz="2400" dirty="0" smtClean="0">
                <a:latin typeface="Times New Roman" pitchFamily="18" charset="0"/>
                <a:cs typeface="Times New Roman" pitchFamily="18" charset="0"/>
              </a:rPr>
              <a:t>Globalization.</a:t>
            </a:r>
          </a:p>
          <a:p>
            <a:pPr>
              <a:lnSpc>
                <a:spcPct val="150000"/>
              </a:lnSpc>
              <a:buFont typeface="Wingdings" pitchFamily="2" charset="2"/>
              <a:buChar char="ü"/>
            </a:pPr>
            <a:r>
              <a:rPr lang="en-US" sz="2400" dirty="0" smtClean="0">
                <a:latin typeface="Times New Roman" pitchFamily="18" charset="0"/>
                <a:cs typeface="Times New Roman" pitchFamily="18" charset="0"/>
              </a:rPr>
              <a:t>Managing Workforce Diversity.</a:t>
            </a:r>
          </a:p>
          <a:p>
            <a:pPr>
              <a:lnSpc>
                <a:spcPct val="150000"/>
              </a:lnSpc>
              <a:buFont typeface="Wingdings" pitchFamily="2" charset="2"/>
              <a:buChar char="ü"/>
            </a:pPr>
            <a:r>
              <a:rPr lang="en-US" sz="2400" dirty="0" smtClean="0">
                <a:latin typeface="Times New Roman" pitchFamily="18" charset="0"/>
                <a:cs typeface="Times New Roman" pitchFamily="18" charset="0"/>
              </a:rPr>
              <a:t>Quality and Productivity improvement.</a:t>
            </a:r>
          </a:p>
          <a:p>
            <a:pPr>
              <a:lnSpc>
                <a:spcPct val="150000"/>
              </a:lnSpc>
              <a:buFont typeface="Wingdings" pitchFamily="2" charset="2"/>
              <a:buChar char="ü"/>
            </a:pPr>
            <a:r>
              <a:rPr lang="en-US" sz="2400" dirty="0" smtClean="0">
                <a:latin typeface="Times New Roman" pitchFamily="18" charset="0"/>
                <a:cs typeface="Times New Roman" pitchFamily="18" charset="0"/>
              </a:rPr>
              <a:t>Empowerment of Employees.</a:t>
            </a:r>
          </a:p>
          <a:p>
            <a:pPr>
              <a:lnSpc>
                <a:spcPct val="150000"/>
              </a:lnSpc>
              <a:buFont typeface="Wingdings" pitchFamily="2" charset="2"/>
              <a:buChar char="ü"/>
            </a:pPr>
            <a:r>
              <a:rPr lang="en-US" sz="2400" dirty="0" smtClean="0">
                <a:latin typeface="Times New Roman" pitchFamily="18" charset="0"/>
                <a:cs typeface="Times New Roman" pitchFamily="18" charset="0"/>
              </a:rPr>
              <a:t>Managing Organizational Change.</a:t>
            </a:r>
          </a:p>
          <a:p>
            <a:pPr>
              <a:lnSpc>
                <a:spcPct val="150000"/>
              </a:lnSpc>
              <a:buFont typeface="Wingdings" pitchFamily="2" charset="2"/>
              <a:buChar char="ü"/>
            </a:pPr>
            <a:r>
              <a:rPr lang="en-US" sz="2400" dirty="0" smtClean="0">
                <a:latin typeface="Times New Roman" pitchFamily="18" charset="0"/>
                <a:cs typeface="Times New Roman" pitchFamily="18" charset="0"/>
              </a:rPr>
              <a:t>Maintaining Ethical Behaviour.</a:t>
            </a:r>
          </a:p>
          <a:p>
            <a:pPr>
              <a:lnSpc>
                <a:spcPct val="150000"/>
              </a:lnSpc>
              <a:buFont typeface="Wingdings" pitchFamily="2" charset="2"/>
              <a:buChar char="ü"/>
            </a:pPr>
            <a:r>
              <a:rPr lang="en-US" sz="2400" dirty="0" smtClean="0">
                <a:latin typeface="Times New Roman" pitchFamily="18" charset="0"/>
                <a:cs typeface="Times New Roman" pitchFamily="18" charset="0"/>
              </a:rPr>
              <a:t>The Emergence of Information Technology.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solidFill>
                  <a:srgbClr val="FF0000"/>
                </a:solidFill>
                <a:latin typeface="Times New Roman" pitchFamily="18" charset="0"/>
                <a:cs typeface="Times New Roman" pitchFamily="18" charset="0"/>
              </a:rPr>
              <a:t>Organizational Effectiveness</a:t>
            </a:r>
          </a:p>
        </p:txBody>
      </p:sp>
      <p:sp>
        <p:nvSpPr>
          <p:cNvPr id="3" name="Content Placeholder 2"/>
          <p:cNvSpPr>
            <a:spLocks noGrp="1"/>
          </p:cNvSpPr>
          <p:nvPr>
            <p:ph idx="1"/>
          </p:nvPr>
        </p:nvSpPr>
        <p:spPr>
          <a:xfrm>
            <a:off x="457200" y="1447800"/>
            <a:ext cx="8229600" cy="5029200"/>
          </a:xfrm>
        </p:spPr>
        <p:txBody>
          <a:bodyPr>
            <a:normAutofit fontScale="92500" lnSpcReduction="20000"/>
          </a:bodyPr>
          <a:lstStyle/>
          <a:p>
            <a:pPr algn="just">
              <a:lnSpc>
                <a:spcPct val="150000"/>
              </a:lnSpc>
              <a:buNone/>
            </a:pPr>
            <a:r>
              <a:rPr lang="en-US" sz="24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 concept of organizational effectiveness has been getting substantial significance in the past few years.</a:t>
            </a:r>
          </a:p>
          <a:p>
            <a:pPr algn="just">
              <a:lnSpc>
                <a:spcPct val="150000"/>
              </a:lnSpc>
              <a:buNone/>
            </a:pPr>
            <a:r>
              <a:rPr lang="en-US" sz="2800" dirty="0" smtClean="0">
                <a:latin typeface="Times New Roman" pitchFamily="18" charset="0"/>
                <a:cs typeface="Times New Roman" pitchFamily="18" charset="0"/>
              </a:rPr>
              <a:t>		It reflects </a:t>
            </a:r>
            <a:r>
              <a:rPr lang="en-US" sz="2800" i="1" dirty="0" smtClean="0">
                <a:solidFill>
                  <a:srgbClr val="FF0000"/>
                </a:solidFill>
                <a:latin typeface="Times New Roman" pitchFamily="18" charset="0"/>
                <a:cs typeface="Times New Roman" pitchFamily="18" charset="0"/>
              </a:rPr>
              <a:t>how efficiently </a:t>
            </a:r>
            <a:r>
              <a:rPr lang="en-US" sz="2800" dirty="0" smtClean="0">
                <a:latin typeface="Times New Roman" pitchFamily="18" charset="0"/>
                <a:cs typeface="Times New Roman" pitchFamily="18" charset="0"/>
              </a:rPr>
              <a:t>an organization can release and </a:t>
            </a:r>
            <a:r>
              <a:rPr lang="en-US" sz="2800" i="1" dirty="0" smtClean="0">
                <a:solidFill>
                  <a:srgbClr val="FF0000"/>
                </a:solidFill>
                <a:latin typeface="Times New Roman" pitchFamily="18" charset="0"/>
                <a:cs typeface="Times New Roman" pitchFamily="18" charset="0"/>
              </a:rPr>
              <a:t>discharge its obligations </a:t>
            </a:r>
            <a:r>
              <a:rPr lang="en-US" sz="2800" dirty="0" smtClean="0">
                <a:latin typeface="Times New Roman" pitchFamily="18" charset="0"/>
                <a:cs typeface="Times New Roman" pitchFamily="18" charset="0"/>
              </a:rPr>
              <a:t>with respect to all of its ingredients  in its interior &amp; exterior environment(</a:t>
            </a:r>
            <a:r>
              <a:rPr lang="en-US" sz="2800" i="1" dirty="0" smtClean="0">
                <a:solidFill>
                  <a:srgbClr val="FF0000"/>
                </a:solidFill>
                <a:latin typeface="Times New Roman" pitchFamily="18" charset="0"/>
                <a:cs typeface="Times New Roman" pitchFamily="18" charset="0"/>
              </a:rPr>
              <a:t>Stakeholder</a:t>
            </a:r>
            <a:r>
              <a:rPr lang="en-US" sz="2800" dirty="0" smtClean="0">
                <a:latin typeface="Times New Roman" pitchFamily="18" charset="0"/>
                <a:cs typeface="Times New Roman" pitchFamily="18" charset="0"/>
              </a:rPr>
              <a:t>).</a:t>
            </a:r>
          </a:p>
          <a:p>
            <a:pPr algn="just">
              <a:lnSpc>
                <a:spcPct val="150000"/>
              </a:lnSpc>
              <a:buNone/>
            </a:pPr>
            <a:r>
              <a:rPr lang="en-US" sz="2800" dirty="0" smtClean="0">
                <a:latin typeface="Times New Roman" pitchFamily="18" charset="0"/>
                <a:cs typeface="Times New Roman" pitchFamily="18" charset="0"/>
              </a:rPr>
              <a:t>		Organizational effectiveness is the degree to which an organization attain its objectives with the given resources &amp; means of production.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solidFill>
                  <a:srgbClr val="FF0000"/>
                </a:solidFill>
                <a:latin typeface="Times New Roman" pitchFamily="18" charset="0"/>
                <a:cs typeface="Times New Roman" pitchFamily="18" charset="0"/>
              </a:rPr>
              <a:t>Organizational Effectiveness: Factors Affecting</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457200" indent="-457200">
              <a:buFont typeface="+mj-lt"/>
              <a:buAutoNum type="alphaLcPeriod"/>
            </a:pPr>
            <a:r>
              <a:rPr lang="en-US" sz="2600" b="1" dirty="0" smtClean="0">
                <a:latin typeface="Times New Roman" pitchFamily="18" charset="0"/>
                <a:cs typeface="Times New Roman" pitchFamily="18" charset="0"/>
              </a:rPr>
              <a:t>Organizational characteristics</a:t>
            </a:r>
            <a:r>
              <a:rPr lang="en-US" sz="2600" dirty="0" smtClean="0">
                <a:latin typeface="Times New Roman" pitchFamily="18" charset="0"/>
                <a:cs typeface="Times New Roman" pitchFamily="18" charset="0"/>
              </a:rPr>
              <a:t>.</a:t>
            </a:r>
          </a:p>
          <a:p>
            <a:pPr marL="457200" indent="-457200">
              <a:buNone/>
            </a:pPr>
            <a:r>
              <a:rPr lang="en-US" sz="2600" dirty="0" smtClean="0">
                <a:latin typeface="Times New Roman" pitchFamily="18" charset="0"/>
                <a:cs typeface="Times New Roman" pitchFamily="18" charset="0"/>
              </a:rPr>
              <a:t>      (Organisation Structure and Technology)</a:t>
            </a:r>
          </a:p>
          <a:p>
            <a:pPr marL="457200" indent="-457200">
              <a:buNone/>
            </a:pPr>
            <a:endParaRPr lang="en-US" sz="2600" dirty="0" smtClean="0">
              <a:latin typeface="Times New Roman" pitchFamily="18" charset="0"/>
              <a:cs typeface="Times New Roman" pitchFamily="18" charset="0"/>
            </a:endParaRPr>
          </a:p>
          <a:p>
            <a:pPr marL="457200" indent="-457200">
              <a:buNone/>
            </a:pPr>
            <a:r>
              <a:rPr lang="en-US" sz="2600" dirty="0" smtClean="0">
                <a:latin typeface="Times New Roman" pitchFamily="18" charset="0"/>
                <a:cs typeface="Times New Roman" pitchFamily="18" charset="0"/>
              </a:rPr>
              <a:t>b.   </a:t>
            </a:r>
            <a:r>
              <a:rPr lang="en-US" sz="2600" b="1" dirty="0" smtClean="0">
                <a:latin typeface="Times New Roman" pitchFamily="18" charset="0"/>
                <a:cs typeface="Times New Roman" pitchFamily="18" charset="0"/>
              </a:rPr>
              <a:t>Environmental characteristics</a:t>
            </a:r>
            <a:r>
              <a:rPr lang="en-US" sz="2600" dirty="0" smtClean="0">
                <a:latin typeface="Times New Roman" pitchFamily="18" charset="0"/>
                <a:cs typeface="Times New Roman" pitchFamily="18" charset="0"/>
              </a:rPr>
              <a:t>.</a:t>
            </a:r>
          </a:p>
          <a:p>
            <a:pPr marL="457200" indent="-457200">
              <a:buNone/>
            </a:pPr>
            <a:r>
              <a:rPr lang="en-US" sz="2600" dirty="0" smtClean="0">
                <a:latin typeface="Times New Roman" pitchFamily="18" charset="0"/>
                <a:cs typeface="Times New Roman" pitchFamily="18" charset="0"/>
              </a:rPr>
              <a:t>	(Internal Environment and External Environment)</a:t>
            </a:r>
          </a:p>
          <a:p>
            <a:pPr marL="457200" indent="-457200">
              <a:buNone/>
            </a:pPr>
            <a:endParaRPr lang="en-US" sz="2600" dirty="0" smtClean="0">
              <a:latin typeface="Times New Roman" pitchFamily="18" charset="0"/>
              <a:cs typeface="Times New Roman" pitchFamily="18" charset="0"/>
            </a:endParaRPr>
          </a:p>
          <a:p>
            <a:pPr marL="457200" indent="-457200">
              <a:buAutoNum type="alphaLcPeriod" startAt="3"/>
            </a:pPr>
            <a:r>
              <a:rPr lang="en-US" sz="2600" b="1" dirty="0" smtClean="0">
                <a:latin typeface="Times New Roman" pitchFamily="18" charset="0"/>
                <a:cs typeface="Times New Roman" pitchFamily="18" charset="0"/>
              </a:rPr>
              <a:t>Managerial policies and practices</a:t>
            </a:r>
            <a:r>
              <a:rPr lang="en-US" sz="2600" dirty="0" smtClean="0">
                <a:latin typeface="Times New Roman" pitchFamily="18" charset="0"/>
                <a:cs typeface="Times New Roman" pitchFamily="18" charset="0"/>
              </a:rPr>
              <a:t>.</a:t>
            </a:r>
          </a:p>
          <a:p>
            <a:pPr marL="457200" indent="-457200">
              <a:buNone/>
            </a:pPr>
            <a:endParaRPr lang="en-US" sz="2600" dirty="0" smtClean="0">
              <a:latin typeface="Times New Roman" pitchFamily="18" charset="0"/>
              <a:cs typeface="Times New Roman" pitchFamily="18" charset="0"/>
            </a:endParaRPr>
          </a:p>
          <a:p>
            <a:pPr marL="457200" indent="-457200">
              <a:buNone/>
            </a:pPr>
            <a:r>
              <a:rPr lang="en-US" sz="2600" dirty="0" smtClean="0">
                <a:latin typeface="Times New Roman" pitchFamily="18" charset="0"/>
                <a:cs typeface="Times New Roman" pitchFamily="18" charset="0"/>
              </a:rPr>
              <a:t>	1. Strategic goal setting (SMART Goals).</a:t>
            </a:r>
          </a:p>
          <a:p>
            <a:pPr marL="457200" indent="-457200">
              <a:buNone/>
            </a:pPr>
            <a:r>
              <a:rPr lang="en-US" sz="2600" dirty="0" smtClean="0">
                <a:latin typeface="Times New Roman" pitchFamily="18" charset="0"/>
                <a:cs typeface="Times New Roman" pitchFamily="18" charset="0"/>
              </a:rPr>
              <a:t>	2. Resource acquisition &amp; utilization.</a:t>
            </a:r>
          </a:p>
          <a:p>
            <a:pPr marL="457200" indent="-457200">
              <a:buNone/>
            </a:pPr>
            <a:r>
              <a:rPr lang="en-US" sz="2600" dirty="0" smtClean="0">
                <a:latin typeface="Times New Roman" pitchFamily="18" charset="0"/>
                <a:cs typeface="Times New Roman" pitchFamily="18" charset="0"/>
              </a:rPr>
              <a:t>	3. Leadership &amp; decision making.</a:t>
            </a:r>
          </a:p>
          <a:p>
            <a:pPr marL="457200" indent="-457200">
              <a:buNone/>
            </a:pPr>
            <a:r>
              <a:rPr lang="en-US" sz="2600" dirty="0" smtClean="0">
                <a:latin typeface="Times New Roman" pitchFamily="18" charset="0"/>
                <a:cs typeface="Times New Roman" pitchFamily="18" charset="0"/>
              </a:rPr>
              <a:t>	4. Performance environment. </a:t>
            </a:r>
          </a:p>
          <a:p>
            <a:pPr marL="457200" indent="-457200">
              <a:buNone/>
            </a:pPr>
            <a:r>
              <a:rPr lang="en-US" sz="2400" dirty="0" smtClean="0">
                <a:latin typeface="Times New Roman" pitchFamily="18" charset="0"/>
                <a:cs typeface="Times New Roman" pitchFamily="18" charset="0"/>
              </a:rPr>
              <a:t>	</a:t>
            </a:r>
          </a:p>
          <a:p>
            <a:pPr marL="457200" indent="-457200">
              <a:buFont typeface="+mj-lt"/>
              <a:buAutoNum type="alphaLcPeriod"/>
            </a:pPr>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20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20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20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20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rmAutofit/>
          </a:bodyPr>
          <a:lstStyle/>
          <a:p>
            <a:pPr marL="457200" indent="-457200">
              <a:buNone/>
            </a:pPr>
            <a:r>
              <a:rPr lang="en-US" b="1" dirty="0" smtClean="0">
                <a:latin typeface="Times New Roman" pitchFamily="18" charset="0"/>
                <a:cs typeface="Times New Roman" pitchFamily="18" charset="0"/>
              </a:rPr>
              <a:t>d.  Employee characteristics</a:t>
            </a:r>
            <a:r>
              <a:rPr lang="en-US" dirty="0" smtClean="0">
                <a:latin typeface="Times New Roman" pitchFamily="18" charset="0"/>
                <a:cs typeface="Times New Roman" pitchFamily="18" charset="0"/>
              </a:rPr>
              <a:t>.</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They should be fascinated towards &amp; pleased with the organization. </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They should be dedicated towards the organization.</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Their motives, aims&amp; needs should not be in conflict with the organizational aims.</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 employees should be capable &amp; conversant.</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They should have their Role Clarity. </a:t>
            </a:r>
          </a:p>
          <a:p>
            <a:pPr marL="457200" indent="-457200" algn="just">
              <a:lnSpc>
                <a:spcPct val="150000"/>
              </a:lnSpc>
              <a:buFont typeface="Wingdings" pitchFamily="2" charset="2"/>
              <a:buChar char="ü"/>
            </a:pPr>
            <a:r>
              <a:rPr lang="en-US" sz="2400" dirty="0" smtClean="0">
                <a:latin typeface="Times New Roman" pitchFamily="18" charset="0"/>
                <a:cs typeface="Times New Roman" pitchFamily="18" charset="0"/>
              </a:rPr>
              <a:t>The job turnover ratio need to be low.</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Organizational Learning Process</a:t>
            </a:r>
            <a:endParaRPr lang="en-US" dirty="0"/>
          </a:p>
        </p:txBody>
      </p:sp>
      <p:sp>
        <p:nvSpPr>
          <p:cNvPr id="3" name="Content Placeholder 2"/>
          <p:cNvSpPr>
            <a:spLocks noGrp="1"/>
          </p:cNvSpPr>
          <p:nvPr>
            <p:ph idx="1"/>
          </p:nvPr>
        </p:nvSpPr>
        <p:spPr>
          <a:xfrm>
            <a:off x="457200" y="1143000"/>
            <a:ext cx="8229600" cy="5715000"/>
          </a:xfrm>
        </p:spPr>
        <p:txBody>
          <a:bodyPr>
            <a:normAutofit fontScale="92500"/>
          </a:bodyPr>
          <a:lstStyle/>
          <a:p>
            <a:pPr marL="457200" indent="-457200" algn="just">
              <a:lnSpc>
                <a:spcPct val="150000"/>
              </a:lnSpc>
              <a:buNone/>
            </a:pPr>
            <a:r>
              <a:rPr lang="en-US" sz="2600" dirty="0" smtClean="0">
                <a:latin typeface="Times New Roman" pitchFamily="18" charset="0"/>
                <a:cs typeface="Times New Roman" pitchFamily="18" charset="0"/>
              </a:rPr>
              <a:t>		Organizational learning theory suggests that learning occurs when </a:t>
            </a:r>
            <a:r>
              <a:rPr lang="en-US" sz="2600" i="1" dirty="0" smtClean="0">
                <a:solidFill>
                  <a:srgbClr val="FF0000"/>
                </a:solidFill>
                <a:latin typeface="Times New Roman" pitchFamily="18" charset="0"/>
                <a:cs typeface="Times New Roman" pitchFamily="18" charset="0"/>
              </a:rPr>
              <a:t>people interact </a:t>
            </a:r>
            <a:r>
              <a:rPr lang="en-US" sz="2600" dirty="0" smtClean="0">
                <a:latin typeface="Times New Roman" pitchFamily="18" charset="0"/>
                <a:cs typeface="Times New Roman" pitchFamily="18" charset="0"/>
              </a:rPr>
              <a:t>with each other and find </a:t>
            </a:r>
            <a:r>
              <a:rPr lang="en-US" sz="2600" i="1" dirty="0" smtClean="0">
                <a:solidFill>
                  <a:srgbClr val="FF0000"/>
                </a:solidFill>
                <a:latin typeface="Times New Roman" pitchFamily="18" charset="0"/>
                <a:cs typeface="Times New Roman" pitchFamily="18" charset="0"/>
              </a:rPr>
              <a:t>solutions to problems</a:t>
            </a:r>
            <a:r>
              <a:rPr lang="en-US" sz="2600" dirty="0" smtClean="0">
                <a:latin typeface="Times New Roman" pitchFamily="18" charset="0"/>
                <a:cs typeface="Times New Roman" pitchFamily="18" charset="0"/>
              </a:rPr>
              <a:t>. </a:t>
            </a:r>
          </a:p>
          <a:p>
            <a:pPr marL="457200" indent="-457200" algn="just">
              <a:lnSpc>
                <a:spcPct val="150000"/>
              </a:lnSpc>
              <a:buNone/>
            </a:pPr>
            <a:r>
              <a:rPr lang="en-US" sz="2600" dirty="0" smtClean="0">
                <a:latin typeface="Times New Roman" pitchFamily="18" charset="0"/>
                <a:cs typeface="Times New Roman" pitchFamily="18" charset="0"/>
              </a:rPr>
              <a:t>		Learning organizations promote open communication, experimentation, and reflection. They value the collective intelligence and learning capacity of their employees.</a:t>
            </a:r>
          </a:p>
          <a:p>
            <a:pPr marL="457200" indent="-457200" algn="just">
              <a:lnSpc>
                <a:spcPct val="150000"/>
              </a:lnSpc>
              <a:buNone/>
            </a:pPr>
            <a:r>
              <a:rPr lang="en-US" sz="2600" dirty="0" smtClean="0">
                <a:latin typeface="Times New Roman" pitchFamily="18" charset="0"/>
                <a:cs typeface="Times New Roman" pitchFamily="18" charset="0"/>
              </a:rPr>
              <a:t>		Organizational learning is the process of </a:t>
            </a:r>
            <a:r>
              <a:rPr lang="en-US" sz="2600" i="1" dirty="0" smtClean="0">
                <a:latin typeface="Times New Roman" pitchFamily="18" charset="0"/>
                <a:cs typeface="Times New Roman" pitchFamily="18" charset="0"/>
              </a:rPr>
              <a:t>creating, retaining, and transferring knowledge</a:t>
            </a:r>
            <a:r>
              <a:rPr lang="en-US" sz="2600" dirty="0" smtClean="0">
                <a:latin typeface="Times New Roman" pitchFamily="18" charset="0"/>
                <a:cs typeface="Times New Roman" pitchFamily="18" charset="0"/>
              </a:rPr>
              <a:t> within an organization.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a:bodyPr>
          <a:lstStyle/>
          <a:p>
            <a:pPr algn="just">
              <a:buNone/>
            </a:pPr>
            <a:r>
              <a:rPr lang="en-US" dirty="0" smtClean="0"/>
              <a:t>		</a:t>
            </a:r>
            <a:r>
              <a:rPr lang="en-US" sz="2600" dirty="0" smtClean="0">
                <a:latin typeface="Times New Roman" pitchFamily="18" charset="0"/>
                <a:cs typeface="Times New Roman" pitchFamily="18" charset="0"/>
              </a:rPr>
              <a:t>The process of organizational learning involves the creation, retention, and transfer of knowledge.</a:t>
            </a:r>
          </a:p>
          <a:p>
            <a:pPr algn="just">
              <a:buNone/>
            </a:pPr>
            <a:endParaRPr lang="en-US" sz="2600" dirty="0" smtClean="0">
              <a:latin typeface="Times New Roman" pitchFamily="18" charset="0"/>
              <a:cs typeface="Times New Roman" pitchFamily="18" charset="0"/>
            </a:endParaRPr>
          </a:p>
          <a:p>
            <a:pPr algn="just">
              <a:buNone/>
            </a:pPr>
            <a:r>
              <a:rPr lang="en-US" sz="2600" b="1" dirty="0" smtClean="0">
                <a:latin typeface="Times New Roman" pitchFamily="18" charset="0"/>
                <a:cs typeface="Times New Roman" pitchFamily="18" charset="0"/>
              </a:rPr>
              <a:t>1. Knowledge creation :</a:t>
            </a:r>
          </a:p>
          <a:p>
            <a:pPr algn="just">
              <a:buNone/>
            </a:pPr>
            <a:r>
              <a:rPr lang="en-US" sz="2600" dirty="0" smtClean="0">
                <a:latin typeface="Times New Roman" pitchFamily="18" charset="0"/>
                <a:cs typeface="Times New Roman" pitchFamily="18" charset="0"/>
              </a:rPr>
              <a:t>		This is the process of generating knowledge through direct exposure to the organization's needs, processes, and environment.</a:t>
            </a:r>
          </a:p>
          <a:p>
            <a:pPr algn="just">
              <a:buNone/>
            </a:pPr>
            <a:r>
              <a:rPr lang="en-US" sz="2600" b="1" dirty="0" smtClean="0">
                <a:latin typeface="Times New Roman" pitchFamily="18" charset="0"/>
                <a:cs typeface="Times New Roman" pitchFamily="18" charset="0"/>
              </a:rPr>
              <a:t>2. Knowledge retention :</a:t>
            </a:r>
          </a:p>
          <a:p>
            <a:pPr algn="just">
              <a:buNone/>
            </a:pPr>
            <a:r>
              <a:rPr lang="en-US" sz="2600" dirty="0" smtClean="0">
                <a:latin typeface="Times New Roman" pitchFamily="18" charset="0"/>
                <a:cs typeface="Times New Roman" pitchFamily="18" charset="0"/>
              </a:rPr>
              <a:t>		This is the process of how knowledge that has been embedded within the organization is retained.</a:t>
            </a:r>
          </a:p>
          <a:p>
            <a:pPr algn="just">
              <a:buNone/>
            </a:pPr>
            <a:r>
              <a:rPr lang="en-US" sz="2600" b="1" dirty="0" smtClean="0">
                <a:latin typeface="Times New Roman" pitchFamily="18" charset="0"/>
                <a:cs typeface="Times New Roman" pitchFamily="18" charset="0"/>
              </a:rPr>
              <a:t>3. Knowledge transfer :</a:t>
            </a:r>
          </a:p>
          <a:p>
            <a:pPr algn="just">
              <a:buNone/>
            </a:pPr>
            <a:r>
              <a:rPr lang="en-US" sz="2600" dirty="0" smtClean="0">
                <a:latin typeface="Times New Roman" pitchFamily="18" charset="0"/>
                <a:cs typeface="Times New Roman" pitchFamily="18" charset="0"/>
              </a:rPr>
              <a:t>		This is the process of how experience spreads and becomes embedded within the organization.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149</Words>
  <Application>Microsoft Office PowerPoint</Application>
  <PresentationFormat>On-screen Show (4:3)</PresentationFormat>
  <Paragraphs>73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Organisational Behaviour</vt:lpstr>
      <vt:lpstr>O.B : Introduction and Meaning</vt:lpstr>
      <vt:lpstr>O.B : History</vt:lpstr>
      <vt:lpstr>Slide 4</vt:lpstr>
      <vt:lpstr>3. Behavioural Era</vt:lpstr>
      <vt:lpstr>Slide 6</vt:lpstr>
      <vt:lpstr>O.B : Contemporary Challenges</vt:lpstr>
      <vt:lpstr>Organizational Effectiveness</vt:lpstr>
      <vt:lpstr>Organizational Effectiveness: Factors Affecting</vt:lpstr>
      <vt:lpstr>Slide 10</vt:lpstr>
      <vt:lpstr>Organizational Learning Process</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Organisational Behaviour</dc:title>
  <dc:creator>HP</dc:creator>
  <cp:lastModifiedBy>HP</cp:lastModifiedBy>
  <cp:revision>29</cp:revision>
  <dcterms:created xsi:type="dcterms:W3CDTF">2006-08-16T00:00:00Z</dcterms:created>
  <dcterms:modified xsi:type="dcterms:W3CDTF">2025-03-04T04:15:05Z</dcterms:modified>
</cp:coreProperties>
</file>