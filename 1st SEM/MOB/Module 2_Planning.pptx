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5" r:id="rId5"/>
    <p:sldId id="260" r:id="rId6"/>
    <p:sldId id="261" r:id="rId7"/>
    <p:sldId id="262" r:id="rId8"/>
    <p:sldId id="266"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80C8F6-8E67-4311-8FA7-7122A0E9EFE4}" type="datetimeFigureOut">
              <a:rPr lang="en-US" smtClean="0"/>
              <a:pPr/>
              <a:t>3/19/2024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D189F6-6839-4094-81D5-D1137E0CF6A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Management is the art of maximizing efficiency, as a social process, a method of getting things done through others a plan of action and its direction by a co-operative group moving towards a common goal. Effective </a:t>
            </a:r>
            <a:r>
              <a:rPr lang="en-US" dirty="0" err="1" smtClean="0"/>
              <a:t>utilisation</a:t>
            </a:r>
            <a:r>
              <a:rPr lang="en-US" dirty="0" smtClean="0"/>
              <a:t> of available resources to achieve same objective is management. Management is a comprehensive function of Planning, </a:t>
            </a:r>
            <a:r>
              <a:rPr lang="en-US" dirty="0" err="1" smtClean="0"/>
              <a:t>Organising</a:t>
            </a:r>
            <a:r>
              <a:rPr lang="en-US" dirty="0" smtClean="0"/>
              <a:t>, Forecasting Coordinating, Leading, Controlling, Motivating</a:t>
            </a:r>
            <a:endParaRPr lang="en-US" dirty="0"/>
          </a:p>
        </p:txBody>
      </p:sp>
      <p:sp>
        <p:nvSpPr>
          <p:cNvPr id="4" name="Slide Number Placeholder 3"/>
          <p:cNvSpPr>
            <a:spLocks noGrp="1"/>
          </p:cNvSpPr>
          <p:nvPr>
            <p:ph type="sldNum" sz="quarter" idx="10"/>
          </p:nvPr>
        </p:nvSpPr>
        <p:spPr/>
        <p:txBody>
          <a:bodyPr/>
          <a:lstStyle/>
          <a:p>
            <a:fld id="{10D189F6-6839-4094-81D5-D1137E0CF6A5}"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28601"/>
            <a:ext cx="8001000" cy="1066800"/>
          </a:xfrm>
        </p:spPr>
        <p:txBody>
          <a:bodyPr>
            <a:normAutofit/>
          </a:bodyPr>
          <a:lstStyle/>
          <a:p>
            <a:pPr algn="l"/>
            <a:r>
              <a:rPr lang="en-US" dirty="0" smtClean="0">
                <a:solidFill>
                  <a:srgbClr val="FF0000"/>
                </a:solidFill>
                <a:latin typeface="Algerian" pitchFamily="82" charset="0"/>
              </a:rPr>
              <a:t>Includes….</a:t>
            </a:r>
            <a:endParaRPr lang="en-US" dirty="0">
              <a:solidFill>
                <a:srgbClr val="FF0000"/>
              </a:solidFill>
              <a:latin typeface="Algerian" pitchFamily="82" charset="0"/>
            </a:endParaRPr>
          </a:p>
        </p:txBody>
      </p:sp>
      <p:sp>
        <p:nvSpPr>
          <p:cNvPr id="3" name="Subtitle 2"/>
          <p:cNvSpPr>
            <a:spLocks noGrp="1"/>
          </p:cNvSpPr>
          <p:nvPr>
            <p:ph type="subTitle" idx="1"/>
          </p:nvPr>
        </p:nvSpPr>
        <p:spPr>
          <a:xfrm>
            <a:off x="457200" y="1219200"/>
            <a:ext cx="8229600" cy="5410200"/>
          </a:xfrm>
        </p:spPr>
        <p:txBody>
          <a:bodyPr>
            <a:normAutofit/>
          </a:bodyPr>
          <a:lstStyle/>
          <a:p>
            <a:pPr algn="just"/>
            <a:r>
              <a:rPr lang="en-US" sz="2800" dirty="0" smtClean="0">
                <a:solidFill>
                  <a:schemeClr val="tx1"/>
                </a:solidFill>
                <a:latin typeface="Times New Roman" pitchFamily="18" charset="0"/>
                <a:cs typeface="Times New Roman" pitchFamily="18" charset="0"/>
              </a:rPr>
              <a:t> 	</a:t>
            </a:r>
          </a:p>
          <a:p>
            <a:pPr algn="just"/>
            <a:r>
              <a:rPr lang="en-US" sz="2800" dirty="0" smtClean="0">
                <a:solidFill>
                  <a:schemeClr val="tx1"/>
                </a:solidFill>
                <a:latin typeface="Times New Roman" pitchFamily="18" charset="0"/>
                <a:cs typeface="Times New Roman" pitchFamily="18" charset="0"/>
              </a:rPr>
              <a:t>	Planning ; </a:t>
            </a:r>
            <a:r>
              <a:rPr lang="en-US" sz="2800" dirty="0" err="1" smtClean="0">
                <a:solidFill>
                  <a:schemeClr val="tx1"/>
                </a:solidFill>
                <a:latin typeface="Times New Roman" pitchFamily="18" charset="0"/>
                <a:cs typeface="Times New Roman" pitchFamily="18" charset="0"/>
              </a:rPr>
              <a:t>Organising</a:t>
            </a:r>
            <a:r>
              <a:rPr lang="en-US" sz="2800" dirty="0" smtClean="0">
                <a:solidFill>
                  <a:schemeClr val="tx1"/>
                </a:solidFill>
                <a:latin typeface="Times New Roman" pitchFamily="18" charset="0"/>
                <a:cs typeface="Times New Roman" pitchFamily="18" charset="0"/>
              </a:rPr>
              <a:t> ; Leading ; Controlling.</a:t>
            </a:r>
          </a:p>
          <a:p>
            <a:pPr algn="just"/>
            <a:endParaRPr lang="en-US" sz="2800" b="1" u="sng" dirty="0" smtClean="0">
              <a:solidFill>
                <a:schemeClr val="tx1"/>
              </a:solidFill>
              <a:latin typeface="Times New Roman" pitchFamily="18" charset="0"/>
              <a:cs typeface="Times New Roman" pitchFamily="18" charset="0"/>
            </a:endParaRPr>
          </a:p>
          <a:p>
            <a:pPr algn="just"/>
            <a:r>
              <a:rPr lang="en-US" sz="2800" b="1" u="sng" dirty="0" smtClean="0">
                <a:solidFill>
                  <a:schemeClr val="tx1"/>
                </a:solidFill>
                <a:latin typeface="Times New Roman" pitchFamily="18" charset="0"/>
                <a:cs typeface="Times New Roman" pitchFamily="18" charset="0"/>
              </a:rPr>
              <a:t>PLANNING:</a:t>
            </a:r>
            <a:r>
              <a:rPr lang="en-US" sz="2800" dirty="0" smtClean="0">
                <a:solidFill>
                  <a:schemeClr val="tx1"/>
                </a:solidFill>
                <a:latin typeface="Times New Roman" pitchFamily="18" charset="0"/>
                <a:cs typeface="Times New Roman" pitchFamily="18" charset="0"/>
              </a:rPr>
              <a:t> </a:t>
            </a:r>
          </a:p>
          <a:p>
            <a:pPr algn="just"/>
            <a:r>
              <a:rPr lang="en-US" sz="2800" smtClean="0">
                <a:solidFill>
                  <a:schemeClr val="tx1"/>
                </a:solidFill>
                <a:latin typeface="Times New Roman" pitchFamily="18" charset="0"/>
                <a:cs typeface="Times New Roman" pitchFamily="18" charset="0"/>
              </a:rPr>
              <a:t>	Importance</a:t>
            </a:r>
            <a:r>
              <a:rPr lang="en-US" sz="2800" dirty="0" smtClean="0">
                <a:solidFill>
                  <a:schemeClr val="tx1"/>
                </a:solidFill>
                <a:latin typeface="Times New Roman" pitchFamily="18" charset="0"/>
                <a:cs typeface="Times New Roman" pitchFamily="18" charset="0"/>
              </a:rPr>
              <a:t>, Process, Benefits of Planning, Types of Plans, Planning tools and </a:t>
            </a:r>
            <a:r>
              <a:rPr lang="en-US" sz="2800" smtClean="0">
                <a:solidFill>
                  <a:schemeClr val="tx1"/>
                </a:solidFill>
                <a:latin typeface="Times New Roman" pitchFamily="18" charset="0"/>
                <a:cs typeface="Times New Roman" pitchFamily="18" charset="0"/>
              </a:rPr>
              <a:t>techniques.</a:t>
            </a:r>
            <a:endParaRPr lang="en-US" sz="28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000" dirty="0" smtClean="0">
                <a:solidFill>
                  <a:srgbClr val="FF0000"/>
                </a:solidFill>
                <a:latin typeface="Times New Roman" pitchFamily="18" charset="0"/>
                <a:cs typeface="Times New Roman" pitchFamily="18" charset="0"/>
              </a:rPr>
              <a:t>Planning :  Meaning and Definition</a:t>
            </a:r>
            <a:endParaRPr lang="en-US" sz="4000" dirty="0">
              <a:solidFill>
                <a:srgbClr val="FF0000"/>
              </a:solidFill>
            </a:endParaRPr>
          </a:p>
        </p:txBody>
      </p:sp>
      <p:sp>
        <p:nvSpPr>
          <p:cNvPr id="3" name="Content Placeholder 2"/>
          <p:cNvSpPr>
            <a:spLocks noGrp="1"/>
          </p:cNvSpPr>
          <p:nvPr>
            <p:ph idx="1"/>
          </p:nvPr>
        </p:nvSpPr>
        <p:spPr>
          <a:xfrm>
            <a:off x="457200" y="1371600"/>
            <a:ext cx="8382000" cy="5181600"/>
          </a:xfrm>
        </p:spPr>
        <p:txBody>
          <a:bodyPr>
            <a:normAutofit/>
          </a:bodyPr>
          <a:lstStyle/>
          <a:p>
            <a:pPr algn="just">
              <a:buNone/>
            </a:pPr>
            <a:r>
              <a:rPr lang="en-US" dirty="0" smtClean="0"/>
              <a:t>		</a:t>
            </a:r>
            <a:r>
              <a:rPr lang="en-IN" sz="2400" i="1" u="sng" dirty="0" smtClean="0">
                <a:latin typeface="Times New Roman" pitchFamily="18" charset="0"/>
                <a:cs typeface="Times New Roman" pitchFamily="18" charset="0"/>
              </a:rPr>
              <a:t>Koontz And </a:t>
            </a:r>
            <a:r>
              <a:rPr lang="en-IN" sz="2400" i="1" u="sng" dirty="0" err="1" smtClean="0">
                <a:latin typeface="Times New Roman" pitchFamily="18" charset="0"/>
                <a:cs typeface="Times New Roman" pitchFamily="18" charset="0"/>
              </a:rPr>
              <a:t>O’Donnel</a:t>
            </a:r>
            <a:r>
              <a:rPr lang="en-IN" sz="2400" i="1" u="sng"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defined “Planning is deciding in advance what to do, how to do it, when to do it, and who to do it. It bridges the gap from where we are to , where we want to go”.</a:t>
            </a:r>
          </a:p>
          <a:p>
            <a:pPr algn="just">
              <a:buNone/>
            </a:pPr>
            <a:r>
              <a:rPr lang="en-IN" sz="2400" dirty="0" smtClean="0">
                <a:latin typeface="Times New Roman" pitchFamily="18" charset="0"/>
                <a:cs typeface="Times New Roman" pitchFamily="18" charset="0"/>
              </a:rPr>
              <a:t>		Planning is an intellectual process of thinking restored  to decide a course of action which helps achieve the  pre determined objectives of the organization in future.</a:t>
            </a:r>
          </a:p>
          <a:p>
            <a:pPr algn="just">
              <a:buNone/>
            </a:pP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In short , it is a process of thinking regarding the activities required to achieve a desired goal. Planning is based on foresight, the fundamental capacity for mental time travel.</a:t>
            </a:r>
            <a:endParaRPr lang="en-I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a:bodyPr>
          <a:lstStyle/>
          <a:p>
            <a:pPr algn="l"/>
            <a:r>
              <a:rPr lang="en-US" sz="4000" dirty="0" smtClean="0">
                <a:solidFill>
                  <a:srgbClr val="FF0000"/>
                </a:solidFill>
                <a:latin typeface="Times New Roman" pitchFamily="18" charset="0"/>
                <a:cs typeface="Times New Roman" pitchFamily="18" charset="0"/>
              </a:rPr>
              <a:t>Objectives of Planning : </a:t>
            </a:r>
          </a:p>
        </p:txBody>
      </p:sp>
      <p:sp>
        <p:nvSpPr>
          <p:cNvPr id="3" name="Content Placeholder 2"/>
          <p:cNvSpPr>
            <a:spLocks noGrp="1"/>
          </p:cNvSpPr>
          <p:nvPr>
            <p:ph idx="1"/>
          </p:nvPr>
        </p:nvSpPr>
        <p:spPr>
          <a:xfrm>
            <a:off x="304800" y="1066800"/>
            <a:ext cx="8382000" cy="5410200"/>
          </a:xfrm>
        </p:spPr>
        <p:txBody>
          <a:bodyPr>
            <a:normAutofit fontScale="40000" lnSpcReduction="20000"/>
          </a:bodyPr>
          <a:lstStyle/>
          <a:p>
            <a:pPr algn="just">
              <a:buNone/>
            </a:pPr>
            <a:r>
              <a:rPr lang="en-US" dirty="0" smtClean="0"/>
              <a:t>		</a:t>
            </a:r>
          </a:p>
          <a:p>
            <a:pPr algn="just">
              <a:buNone/>
            </a:pPr>
            <a:r>
              <a:rPr lang="en-US" i="1" dirty="0" smtClean="0">
                <a:solidFill>
                  <a:srgbClr val="00B050"/>
                </a:solidFill>
                <a:latin typeface="Arial Unicode MS" pitchFamily="34" charset="-128"/>
                <a:ea typeface="Arial Unicode MS" pitchFamily="34" charset="-128"/>
                <a:cs typeface="Arial Unicode MS" pitchFamily="34" charset="-128"/>
              </a:rPr>
              <a:t> “</a:t>
            </a:r>
            <a:r>
              <a:rPr lang="en-US" sz="4400" i="1" dirty="0" smtClean="0">
                <a:solidFill>
                  <a:srgbClr val="00B050"/>
                </a:solidFill>
                <a:latin typeface="Arial Unicode MS" pitchFamily="34" charset="-128"/>
                <a:ea typeface="Arial Unicode MS" pitchFamily="34" charset="-128"/>
                <a:cs typeface="Arial Unicode MS" pitchFamily="34" charset="-128"/>
              </a:rPr>
              <a:t>Planning serves as basic need to achieve goals”</a:t>
            </a:r>
          </a:p>
          <a:p>
            <a:pPr algn="just">
              <a:buNone/>
            </a:pPr>
            <a:endParaRPr lang="en-US" sz="4400" i="1" dirty="0" smtClean="0">
              <a:solidFill>
                <a:srgbClr val="00B050"/>
              </a:solidFill>
              <a:latin typeface="Arial Unicode MS" pitchFamily="34" charset="-128"/>
              <a:ea typeface="Arial Unicode MS" pitchFamily="34" charset="-128"/>
              <a:cs typeface="Arial Unicode MS" pitchFamily="34" charset="-128"/>
            </a:endParaRPr>
          </a:p>
          <a:p>
            <a:pPr algn="just">
              <a:buNone/>
            </a:pPr>
            <a:r>
              <a:rPr lang="en-US" sz="4400" dirty="0" smtClean="0">
                <a:latin typeface="Times New Roman" pitchFamily="18" charset="0"/>
                <a:cs typeface="Times New Roman" pitchFamily="18" charset="0"/>
              </a:rPr>
              <a:t>		The following were services provided by Planning : </a:t>
            </a:r>
          </a:p>
          <a:p>
            <a:pPr algn="just">
              <a:buNone/>
            </a:pPr>
            <a:endParaRPr lang="en-US" sz="4400" dirty="0" smtClean="0">
              <a:latin typeface="Times New Roman" pitchFamily="18" charset="0"/>
              <a:cs typeface="Times New Roman" pitchFamily="18" charset="0"/>
            </a:endParaRPr>
          </a:p>
          <a:p>
            <a:pPr marL="742950" indent="-742950" algn="just">
              <a:buAutoNum type="arabicPeriod"/>
            </a:pPr>
            <a:r>
              <a:rPr lang="en-US" sz="4400" dirty="0" smtClean="0">
                <a:latin typeface="Times New Roman" pitchFamily="18" charset="0"/>
                <a:cs typeface="Times New Roman" pitchFamily="18" charset="0"/>
              </a:rPr>
              <a:t>Optimal Utilization of Resources.</a:t>
            </a:r>
          </a:p>
          <a:p>
            <a:pPr marL="742950" indent="-742950" algn="just">
              <a:buAutoNum type="arabicPeriod"/>
            </a:pPr>
            <a:r>
              <a:rPr lang="en-US" sz="4400" dirty="0" smtClean="0">
                <a:latin typeface="Times New Roman" pitchFamily="18" charset="0"/>
                <a:cs typeface="Times New Roman" pitchFamily="18" charset="0"/>
              </a:rPr>
              <a:t>Reduces Uncertainty.</a:t>
            </a:r>
          </a:p>
          <a:p>
            <a:pPr marL="742950" indent="-742950" algn="just">
              <a:buAutoNum type="arabicPeriod"/>
            </a:pPr>
            <a:r>
              <a:rPr lang="en-US" sz="4400" dirty="0" smtClean="0">
                <a:latin typeface="Times New Roman" pitchFamily="18" charset="0"/>
                <a:cs typeface="Times New Roman" pitchFamily="18" charset="0"/>
              </a:rPr>
              <a:t>To avoid the inconsistency in efforts.</a:t>
            </a:r>
          </a:p>
          <a:p>
            <a:pPr marL="742950" indent="-742950" algn="just">
              <a:buAutoNum type="arabicPeriod"/>
            </a:pPr>
            <a:r>
              <a:rPr lang="en-US" sz="4400" dirty="0" smtClean="0">
                <a:latin typeface="Times New Roman" pitchFamily="18" charset="0"/>
                <a:cs typeface="Times New Roman" pitchFamily="18" charset="0"/>
              </a:rPr>
              <a:t>Ensures the Co operation and Co ordination.</a:t>
            </a:r>
          </a:p>
          <a:p>
            <a:pPr marL="742950" indent="-742950" algn="just">
              <a:buAutoNum type="arabicPeriod"/>
            </a:pPr>
            <a:r>
              <a:rPr lang="en-US" sz="4400" dirty="0" smtClean="0">
                <a:latin typeface="Times New Roman" pitchFamily="18" charset="0"/>
                <a:cs typeface="Times New Roman" pitchFamily="18" charset="0"/>
              </a:rPr>
              <a:t>Planning helps other </a:t>
            </a:r>
            <a:r>
              <a:rPr lang="en-US" sz="4400" b="1" i="1" u="sng" dirty="0" smtClean="0">
                <a:latin typeface="Times New Roman" pitchFamily="18" charset="0"/>
                <a:cs typeface="Times New Roman" pitchFamily="18" charset="0"/>
              </a:rPr>
              <a:t>Functions of Management</a:t>
            </a:r>
            <a:r>
              <a:rPr lang="en-US" sz="4400" dirty="0" smtClean="0">
                <a:latin typeface="Times New Roman" pitchFamily="18" charset="0"/>
                <a:cs typeface="Times New Roman" pitchFamily="18" charset="0"/>
              </a:rPr>
              <a:t>.</a:t>
            </a:r>
          </a:p>
          <a:p>
            <a:pPr marL="742950" indent="-742950" algn="just">
              <a:buNone/>
            </a:pPr>
            <a:r>
              <a:rPr lang="en-US" sz="4400" dirty="0" smtClean="0">
                <a:latin typeface="Times New Roman" pitchFamily="18" charset="0"/>
                <a:cs typeface="Times New Roman" pitchFamily="18" charset="0"/>
              </a:rPr>
              <a:t>              a. Controlling.</a:t>
            </a:r>
          </a:p>
          <a:p>
            <a:pPr marL="742950" indent="-742950" algn="just">
              <a:buNone/>
            </a:pPr>
            <a:r>
              <a:rPr lang="en-US" sz="4400" dirty="0" smtClean="0">
                <a:latin typeface="Times New Roman" pitchFamily="18" charset="0"/>
                <a:cs typeface="Times New Roman" pitchFamily="18" charset="0"/>
              </a:rPr>
              <a:t>              b. Organizing.</a:t>
            </a:r>
          </a:p>
          <a:p>
            <a:pPr marL="742950" indent="-742950" algn="just">
              <a:buNone/>
            </a:pPr>
            <a:r>
              <a:rPr lang="en-US" sz="4400" dirty="0" smtClean="0">
                <a:latin typeface="Times New Roman" pitchFamily="18" charset="0"/>
                <a:cs typeface="Times New Roman" pitchFamily="18" charset="0"/>
              </a:rPr>
              <a:t>	 c. Directing.</a:t>
            </a:r>
          </a:p>
          <a:p>
            <a:pPr marL="742950" indent="-742950" algn="just">
              <a:buNone/>
            </a:pPr>
            <a:r>
              <a:rPr lang="en-US" sz="4400" dirty="0" smtClean="0">
                <a:latin typeface="Times New Roman" pitchFamily="18" charset="0"/>
                <a:cs typeface="Times New Roman" pitchFamily="18" charset="0"/>
              </a:rPr>
              <a:t>	 d. Staffing.</a:t>
            </a:r>
          </a:p>
          <a:p>
            <a:pPr marL="742950" indent="-742950" algn="just">
              <a:buNone/>
            </a:pPr>
            <a:endParaRPr lang="en-US" sz="4400" dirty="0" smtClean="0">
              <a:latin typeface="Times New Roman" pitchFamily="18" charset="0"/>
              <a:cs typeface="Times New Roman" pitchFamily="18" charset="0"/>
            </a:endParaRPr>
          </a:p>
          <a:p>
            <a:pPr marL="742950" indent="-742950" algn="just">
              <a:buAutoNum type="arabicPeriod"/>
            </a:pPr>
            <a:endParaRPr lang="en-US" sz="4400" dirty="0" smtClean="0">
              <a:latin typeface="Times New Roman" pitchFamily="18" charset="0"/>
              <a:cs typeface="Times New Roman" pitchFamily="18" charset="0"/>
            </a:endParaRPr>
          </a:p>
          <a:p>
            <a:pPr marL="742950" indent="-742950" algn="just">
              <a:buAutoNum type="arabicPeriod"/>
            </a:pPr>
            <a:endParaRPr lang="en-US" sz="4400" dirty="0" smtClean="0">
              <a:latin typeface="Times New Roman" pitchFamily="18" charset="0"/>
              <a:cs typeface="Times New Roman" pitchFamily="18" charset="0"/>
            </a:endParaRPr>
          </a:p>
          <a:p>
            <a:pPr marL="514350" indent="-514350" algn="just">
              <a:buNone/>
            </a:pPr>
            <a:endParaRPr lang="en-US" sz="4400" dirty="0" smtClean="0">
              <a:latin typeface="Times New Roman" pitchFamily="18" charset="0"/>
              <a:cs typeface="Times New Roman" pitchFamily="18" charset="0"/>
            </a:endParaRPr>
          </a:p>
          <a:p>
            <a:pPr marL="514350" indent="-514350" algn="just">
              <a:buNone/>
            </a:pPr>
            <a:r>
              <a:rPr lang="en-US" sz="4400" dirty="0" smtClean="0">
                <a:latin typeface="Times New Roman" pitchFamily="18" charset="0"/>
                <a:cs typeface="Times New Roman" pitchFamily="18" charset="0"/>
              </a:rPr>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20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20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20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20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20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2000"/>
                                        <p:tgtEl>
                                          <p:spTgt spid="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8" end="18"/>
                                            </p:txEl>
                                          </p:spTgt>
                                        </p:tgtEl>
                                        <p:attrNameLst>
                                          <p:attrName>style.visibility</p:attrName>
                                        </p:attrNameLst>
                                      </p:cBhvr>
                                      <p:to>
                                        <p:strVal val="visible"/>
                                      </p:to>
                                    </p:set>
                                    <p:animEffect transition="in" filter="fade">
                                      <p:cBhvr>
                                        <p:cTn id="67" dur="20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marL="514350" indent="-514350" algn="just">
              <a:buNone/>
            </a:pPr>
            <a:r>
              <a:rPr lang="en-US" dirty="0" smtClean="0">
                <a:latin typeface="Times New Roman" pitchFamily="18" charset="0"/>
                <a:cs typeface="Times New Roman" pitchFamily="18" charset="0"/>
              </a:rPr>
              <a:t> </a:t>
            </a:r>
            <a:r>
              <a:rPr lang="en-US" sz="4000" dirty="0" smtClean="0">
                <a:solidFill>
                  <a:srgbClr val="FF0000"/>
                </a:solidFill>
                <a:latin typeface="Times New Roman" pitchFamily="18" charset="0"/>
                <a:cs typeface="Times New Roman" pitchFamily="18" charset="0"/>
              </a:rPr>
              <a:t>Process of Planning :</a:t>
            </a:r>
          </a:p>
          <a:p>
            <a:pPr>
              <a:lnSpc>
                <a:spcPct val="150000"/>
              </a:lnSpc>
            </a:pPr>
            <a:r>
              <a:rPr lang="en-IN" sz="2800" dirty="0" smtClean="0">
                <a:latin typeface="Times New Roman" pitchFamily="18" charset="0"/>
                <a:cs typeface="Times New Roman" pitchFamily="18" charset="0"/>
              </a:rPr>
              <a:t>Establishing Objectives.</a:t>
            </a:r>
          </a:p>
          <a:p>
            <a:pPr>
              <a:lnSpc>
                <a:spcPct val="150000"/>
              </a:lnSpc>
            </a:pPr>
            <a:r>
              <a:rPr lang="en-IN" sz="2800" dirty="0" smtClean="0">
                <a:latin typeface="Times New Roman" pitchFamily="18" charset="0"/>
                <a:cs typeface="Times New Roman" pitchFamily="18" charset="0"/>
              </a:rPr>
              <a:t>Developing Premises.</a:t>
            </a:r>
          </a:p>
          <a:p>
            <a:pPr>
              <a:lnSpc>
                <a:spcPct val="150000"/>
              </a:lnSpc>
            </a:pPr>
            <a:r>
              <a:rPr lang="en-IN" sz="2800" dirty="0" smtClean="0">
                <a:latin typeface="Times New Roman" pitchFamily="18" charset="0"/>
                <a:cs typeface="Times New Roman" pitchFamily="18" charset="0"/>
              </a:rPr>
              <a:t>Evaluating Alternatives and Selection.</a:t>
            </a:r>
          </a:p>
          <a:p>
            <a:pPr>
              <a:lnSpc>
                <a:spcPct val="150000"/>
              </a:lnSpc>
            </a:pPr>
            <a:r>
              <a:rPr lang="en-IN" sz="2800" dirty="0" smtClean="0">
                <a:latin typeface="Times New Roman" pitchFamily="18" charset="0"/>
                <a:cs typeface="Times New Roman" pitchFamily="18" charset="0"/>
              </a:rPr>
              <a:t>Formulating Derivative Plans.</a:t>
            </a:r>
          </a:p>
          <a:p>
            <a:pPr>
              <a:lnSpc>
                <a:spcPct val="150000"/>
              </a:lnSpc>
            </a:pPr>
            <a:r>
              <a:rPr lang="en-IN" sz="2800" dirty="0" smtClean="0">
                <a:latin typeface="Times New Roman" pitchFamily="18" charset="0"/>
                <a:cs typeface="Times New Roman" pitchFamily="18" charset="0"/>
              </a:rPr>
              <a:t>Securing Cooperation and Participation.</a:t>
            </a:r>
          </a:p>
          <a:p>
            <a:pPr marL="514350" indent="-514350" algn="just">
              <a:buNone/>
            </a:pPr>
            <a:endParaRPr 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Algerian" pitchFamily="82" charset="0"/>
              </a:rPr>
              <a:t>Importance of planning </a:t>
            </a:r>
            <a:endParaRPr lang="en-US" dirty="0">
              <a:solidFill>
                <a:srgbClr val="FF0000"/>
              </a:solidFill>
              <a:latin typeface="Algerian" pitchFamily="82" charset="0"/>
            </a:endParaRPr>
          </a:p>
        </p:txBody>
      </p:sp>
      <p:sp>
        <p:nvSpPr>
          <p:cNvPr id="5" name="Content Placeholder 4"/>
          <p:cNvSpPr>
            <a:spLocks noGrp="1"/>
          </p:cNvSpPr>
          <p:nvPr>
            <p:ph idx="1"/>
          </p:nvPr>
        </p:nvSpPr>
        <p:spPr>
          <a:xfrm>
            <a:off x="457200" y="1447800"/>
            <a:ext cx="8229600" cy="4678363"/>
          </a:xfrm>
        </p:spPr>
        <p:txBody>
          <a:bodyPr>
            <a:normAutofit fontScale="92500"/>
          </a:bodyPr>
          <a:lstStyle/>
          <a:p>
            <a:pPr>
              <a:lnSpc>
                <a:spcPct val="150000"/>
              </a:lnSpc>
              <a:buFont typeface="Wingdings" pitchFamily="2" charset="2"/>
              <a:buChar char="ü"/>
            </a:pPr>
            <a:r>
              <a:rPr lang="en-US" sz="2800" dirty="0" smtClean="0">
                <a:latin typeface="Times New Roman" pitchFamily="18" charset="0"/>
                <a:cs typeface="Times New Roman" pitchFamily="18" charset="0"/>
              </a:rPr>
              <a:t>Planning provides directions.</a:t>
            </a:r>
          </a:p>
          <a:p>
            <a:pPr>
              <a:lnSpc>
                <a:spcPct val="150000"/>
              </a:lnSpc>
              <a:buFont typeface="Wingdings" pitchFamily="2" charset="2"/>
              <a:buChar char="ü"/>
            </a:pPr>
            <a:r>
              <a:rPr lang="en-US" sz="2800" dirty="0" smtClean="0">
                <a:latin typeface="Times New Roman" pitchFamily="18" charset="0"/>
                <a:cs typeface="Times New Roman" pitchFamily="18" charset="0"/>
              </a:rPr>
              <a:t>Planning decreases the chances of risk.</a:t>
            </a:r>
          </a:p>
          <a:p>
            <a:pPr>
              <a:lnSpc>
                <a:spcPct val="150000"/>
              </a:lnSpc>
              <a:buFont typeface="Wingdings" pitchFamily="2" charset="2"/>
              <a:buChar char="ü"/>
            </a:pPr>
            <a:r>
              <a:rPr lang="en-US" sz="2800" dirty="0" smtClean="0">
                <a:latin typeface="Times New Roman" pitchFamily="18" charset="0"/>
                <a:cs typeface="Times New Roman" pitchFamily="18" charset="0"/>
              </a:rPr>
              <a:t>Planning decreases overlapping and wasteful activities.</a:t>
            </a:r>
          </a:p>
          <a:p>
            <a:pPr>
              <a:lnSpc>
                <a:spcPct val="150000"/>
              </a:lnSpc>
              <a:buFont typeface="Wingdings" pitchFamily="2" charset="2"/>
              <a:buChar char="ü"/>
            </a:pPr>
            <a:r>
              <a:rPr lang="en-US" sz="2800" dirty="0" smtClean="0">
                <a:latin typeface="Times New Roman" pitchFamily="18" charset="0"/>
                <a:cs typeface="Times New Roman" pitchFamily="18" charset="0"/>
              </a:rPr>
              <a:t>Planning encourages innovative ideas.</a:t>
            </a:r>
          </a:p>
          <a:p>
            <a:pPr>
              <a:lnSpc>
                <a:spcPct val="150000"/>
              </a:lnSpc>
              <a:buFont typeface="Wingdings" pitchFamily="2" charset="2"/>
              <a:buChar char="ü"/>
            </a:pPr>
            <a:r>
              <a:rPr lang="en-US" sz="2800" dirty="0" smtClean="0">
                <a:latin typeface="Times New Roman" pitchFamily="18" charset="0"/>
                <a:cs typeface="Times New Roman" pitchFamily="18" charset="0"/>
              </a:rPr>
              <a:t>Planning aids decision making.</a:t>
            </a:r>
          </a:p>
          <a:p>
            <a:pPr>
              <a:lnSpc>
                <a:spcPct val="150000"/>
              </a:lnSpc>
              <a:buNone/>
            </a:pPr>
            <a:r>
              <a:rPr lang="en-US" sz="2800" dirty="0" smtClean="0">
                <a:latin typeface="Times New Roman" pitchFamily="18" charset="0"/>
                <a:cs typeface="Times New Roman" pitchFamily="18" charset="0"/>
              </a:rPr>
              <a:t>		“Lack of planning brings chaos and lack of coordination”.</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pPr algn="l"/>
            <a:r>
              <a:rPr lang="en-US" sz="3200" dirty="0" smtClean="0">
                <a:solidFill>
                  <a:srgbClr val="FF0000"/>
                </a:solidFill>
                <a:latin typeface="Algerian" pitchFamily="82" charset="0"/>
              </a:rPr>
              <a:t>TYPES OF PLANS : </a:t>
            </a:r>
            <a:endParaRPr lang="en-US" sz="3200" dirty="0">
              <a:solidFill>
                <a:srgbClr val="FF0000"/>
              </a:solidFill>
              <a:latin typeface="Algerian" pitchFamily="82" charset="0"/>
            </a:endParaRPr>
          </a:p>
        </p:txBody>
      </p:sp>
      <p:sp>
        <p:nvSpPr>
          <p:cNvPr id="3" name="Content Placeholder 2"/>
          <p:cNvSpPr>
            <a:spLocks noGrp="1"/>
          </p:cNvSpPr>
          <p:nvPr>
            <p:ph idx="1"/>
          </p:nvPr>
        </p:nvSpPr>
        <p:spPr>
          <a:xfrm>
            <a:off x="457200" y="1371600"/>
            <a:ext cx="8229600" cy="5257800"/>
          </a:xfrm>
        </p:spPr>
        <p:txBody>
          <a:bodyPr>
            <a:normAutofit fontScale="92500" lnSpcReduction="20000"/>
          </a:bodyPr>
          <a:lstStyle/>
          <a:p>
            <a:pPr algn="just">
              <a:buNone/>
            </a:pPr>
            <a:r>
              <a:rPr lang="en-US" sz="2800" dirty="0" smtClean="0">
                <a:latin typeface="Times New Roman" pitchFamily="18" charset="0"/>
                <a:cs typeface="Times New Roman" pitchFamily="18" charset="0"/>
              </a:rPr>
              <a:t>		Generally they are Long Term, Medium Term and Short Term. In detail, the following are :</a:t>
            </a:r>
          </a:p>
          <a:p>
            <a:pPr algn="just">
              <a:buNone/>
            </a:pPr>
            <a:r>
              <a:rPr lang="en-US" sz="2800" dirty="0" smtClean="0">
                <a:latin typeface="Times New Roman" pitchFamily="18" charset="0"/>
                <a:cs typeface="Times New Roman" pitchFamily="18" charset="0"/>
              </a:rPr>
              <a:t> </a:t>
            </a:r>
          </a:p>
          <a:p>
            <a:pPr marL="514350" indent="-514350" algn="just">
              <a:buAutoNum type="arabicPeriod"/>
            </a:pPr>
            <a:r>
              <a:rPr lang="en-US" sz="2800" i="1" u="sng" dirty="0" smtClean="0">
                <a:solidFill>
                  <a:srgbClr val="FF0000"/>
                </a:solidFill>
                <a:latin typeface="Times New Roman" pitchFamily="18" charset="0"/>
                <a:cs typeface="Times New Roman" pitchFamily="18" charset="0"/>
              </a:rPr>
              <a:t>On the Basis of Managerial Levels : </a:t>
            </a:r>
          </a:p>
          <a:p>
            <a:pPr marL="514350" indent="-514350" algn="just">
              <a:buAutoNum type="alphaLcPeriod"/>
            </a:pPr>
            <a:r>
              <a:rPr lang="en-US" sz="2800" b="1" dirty="0" smtClean="0">
                <a:latin typeface="Times New Roman" pitchFamily="18" charset="0"/>
                <a:cs typeface="Times New Roman" pitchFamily="18" charset="0"/>
              </a:rPr>
              <a:t>Strategic Plans</a:t>
            </a:r>
          </a:p>
          <a:p>
            <a:pPr marL="514350" indent="-514350" algn="just">
              <a:buNone/>
            </a:pP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(These are done by management levels covering all Departments &amp; Strategies for the firm).</a:t>
            </a:r>
          </a:p>
          <a:p>
            <a:pPr marL="514350" indent="-514350" algn="just">
              <a:buNone/>
            </a:pPr>
            <a:r>
              <a:rPr lang="en-US" sz="2800" dirty="0" smtClean="0">
                <a:latin typeface="Times New Roman" pitchFamily="18" charset="0"/>
                <a:cs typeface="Times New Roman" pitchFamily="18" charset="0"/>
              </a:rPr>
              <a:t>b. </a:t>
            </a:r>
            <a:r>
              <a:rPr lang="en-US" sz="2800" b="1" dirty="0" smtClean="0">
                <a:latin typeface="Times New Roman" pitchFamily="18" charset="0"/>
                <a:cs typeface="Times New Roman" pitchFamily="18" charset="0"/>
              </a:rPr>
              <a:t>Administrative Plans </a:t>
            </a:r>
          </a:p>
          <a:p>
            <a:pPr marL="514350" indent="-514350" algn="just">
              <a:buNone/>
            </a:pP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(These are prepared by middle management to achieve divisional or departmental objectives).</a:t>
            </a:r>
          </a:p>
          <a:p>
            <a:pPr marL="514350" indent="-514350" algn="just">
              <a:buNone/>
            </a:pPr>
            <a:r>
              <a:rPr lang="en-US" sz="2800" dirty="0" smtClean="0">
                <a:latin typeface="Times New Roman" pitchFamily="18" charset="0"/>
                <a:cs typeface="Times New Roman" pitchFamily="18" charset="0"/>
              </a:rPr>
              <a:t>c. </a:t>
            </a:r>
            <a:r>
              <a:rPr lang="en-US" sz="2800" b="1" dirty="0" smtClean="0">
                <a:latin typeface="Times New Roman" pitchFamily="18" charset="0"/>
                <a:cs typeface="Times New Roman" pitchFamily="18" charset="0"/>
              </a:rPr>
              <a:t>Operational Plans </a:t>
            </a:r>
          </a:p>
          <a:p>
            <a:pPr marL="514350" indent="-514350" algn="just">
              <a:buNone/>
            </a:pP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(These involves plans for actual operations of the firms &amp; focuses on Projects, Operating Goals and Short run Budgets).</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marL="514350" indent="-514350"/>
            <a:r>
              <a:rPr lang="en-US" sz="3600" i="1" u="sng" dirty="0" smtClean="0">
                <a:solidFill>
                  <a:srgbClr val="FF0000"/>
                </a:solidFill>
                <a:latin typeface="Times New Roman" pitchFamily="18" charset="0"/>
                <a:cs typeface="Times New Roman" pitchFamily="18" charset="0"/>
              </a:rPr>
              <a:t>2. On the Basis of Operations in the firms: </a:t>
            </a:r>
          </a:p>
        </p:txBody>
      </p:sp>
      <p:sp>
        <p:nvSpPr>
          <p:cNvPr id="5" name="Content Placeholder 4"/>
          <p:cNvSpPr>
            <a:spLocks noGrp="1"/>
          </p:cNvSpPr>
          <p:nvPr>
            <p:ph idx="1"/>
          </p:nvPr>
        </p:nvSpPr>
        <p:spPr>
          <a:xfrm>
            <a:off x="457200" y="1143000"/>
            <a:ext cx="8229600" cy="5257800"/>
          </a:xfrm>
        </p:spPr>
        <p:txBody>
          <a:bodyPr>
            <a:normAutofit fontScale="92500" lnSpcReduction="10000"/>
          </a:bodyPr>
          <a:lstStyle/>
          <a:p>
            <a:pPr marL="514350" indent="-514350" algn="just">
              <a:buFont typeface="Arial" pitchFamily="34" charset="0"/>
              <a:buAutoNum type="alphaLcPeriod"/>
            </a:pPr>
            <a:r>
              <a:rPr lang="en-US" sz="2800" b="1" dirty="0" smtClean="0">
                <a:latin typeface="Times New Roman" pitchFamily="18" charset="0"/>
                <a:cs typeface="Times New Roman" pitchFamily="18" charset="0"/>
              </a:rPr>
              <a:t>Standing Plan.</a:t>
            </a:r>
          </a:p>
          <a:p>
            <a:pPr marL="514350" indent="-514350">
              <a:buNone/>
            </a:pPr>
            <a:r>
              <a:rPr lang="en-US" dirty="0" smtClean="0"/>
              <a:t>     </a:t>
            </a:r>
            <a:r>
              <a:rPr lang="en-US" sz="2800" dirty="0" smtClean="0">
                <a:latin typeface="Times New Roman" pitchFamily="18" charset="0"/>
                <a:cs typeface="Times New Roman" pitchFamily="18" charset="0"/>
              </a:rPr>
              <a:t>(These are used and observed on regular basis and help to improve the performance of Company.)</a:t>
            </a:r>
          </a:p>
          <a:p>
            <a:pPr marL="514350" indent="-514350" algn="just">
              <a:buNone/>
            </a:pPr>
            <a:r>
              <a:rPr lang="en-US" sz="2800" b="1" dirty="0" smtClean="0">
                <a:latin typeface="Times New Roman" pitchFamily="18" charset="0"/>
                <a:cs typeface="Times New Roman" pitchFamily="18" charset="0"/>
              </a:rPr>
              <a:t>b.   Single Use Plan.</a:t>
            </a:r>
          </a:p>
          <a:p>
            <a:pPr marL="514350" indent="-514350">
              <a:buNone/>
            </a:pPr>
            <a:r>
              <a:rPr lang="en-US" dirty="0" smtClean="0"/>
              <a:t>     </a:t>
            </a:r>
            <a:r>
              <a:rPr lang="en-US" sz="2800" dirty="0" smtClean="0">
                <a:latin typeface="Times New Roman" pitchFamily="18" charset="0"/>
                <a:cs typeface="Times New Roman" pitchFamily="18" charset="0"/>
              </a:rPr>
              <a:t>(These are used only in specific situations).</a:t>
            </a:r>
          </a:p>
          <a:p>
            <a:pPr marL="514350" indent="-514350">
              <a:buNone/>
            </a:pPr>
            <a:r>
              <a:rPr lang="en-US" i="1" u="sng" dirty="0" smtClean="0">
                <a:solidFill>
                  <a:srgbClr val="FF0000"/>
                </a:solidFill>
                <a:latin typeface="Times New Roman" pitchFamily="18" charset="0"/>
                <a:cs typeface="Times New Roman" pitchFamily="18" charset="0"/>
              </a:rPr>
              <a:t>3. On the Basis of Organizational Scope : </a:t>
            </a:r>
          </a:p>
          <a:p>
            <a:pPr marL="514350" indent="-514350">
              <a:buNone/>
            </a:pPr>
            <a:r>
              <a:rPr lang="en-US" sz="2800" b="1" dirty="0" smtClean="0">
                <a:latin typeface="Times New Roman" pitchFamily="18" charset="0"/>
                <a:cs typeface="Times New Roman" pitchFamily="18" charset="0"/>
              </a:rPr>
              <a:t>a.</a:t>
            </a:r>
            <a:r>
              <a:rPr lang="en-US" i="1" dirty="0" smtClean="0">
                <a:solidFill>
                  <a:srgbClr val="FF0000"/>
                </a:solidFill>
                <a:latin typeface="Times New Roman" pitchFamily="18" charset="0"/>
                <a:cs typeface="Times New Roman" pitchFamily="18" charset="0"/>
              </a:rPr>
              <a:t> </a:t>
            </a:r>
            <a:r>
              <a:rPr lang="en-US" sz="2800" b="1" dirty="0" smtClean="0">
                <a:latin typeface="Times New Roman" pitchFamily="18" charset="0"/>
                <a:cs typeface="Times New Roman" pitchFamily="18" charset="0"/>
              </a:rPr>
              <a:t>Master Plan.</a:t>
            </a:r>
          </a:p>
          <a:p>
            <a:pPr marL="514350" indent="-514350">
              <a:buNone/>
            </a:pPr>
            <a:r>
              <a:rPr lang="en-US" dirty="0" smtClean="0"/>
              <a:t>     </a:t>
            </a:r>
            <a:r>
              <a:rPr lang="en-US" sz="2800" dirty="0" smtClean="0">
                <a:latin typeface="Times New Roman" pitchFamily="18" charset="0"/>
                <a:cs typeface="Times New Roman" pitchFamily="18" charset="0"/>
              </a:rPr>
              <a:t>(Planning of all activity of the enterprise).</a:t>
            </a:r>
          </a:p>
          <a:p>
            <a:pPr marL="514350" indent="-514350">
              <a:buNone/>
            </a:pPr>
            <a:r>
              <a:rPr lang="en-US" sz="2800" b="1" dirty="0" smtClean="0">
                <a:latin typeface="Times New Roman" pitchFamily="18" charset="0"/>
                <a:cs typeface="Times New Roman" pitchFamily="18" charset="0"/>
              </a:rPr>
              <a:t>b. Functional Plan.</a:t>
            </a:r>
          </a:p>
          <a:p>
            <a:pPr marL="514350" indent="-514350">
              <a:buNone/>
            </a:pPr>
            <a:r>
              <a:rPr lang="en-US" sz="2800" dirty="0" smtClean="0">
                <a:latin typeface="Times New Roman" pitchFamily="18" charset="0"/>
                <a:cs typeface="Times New Roman" pitchFamily="18" charset="0"/>
              </a:rPr>
              <a:t>     ( Planning for the activities of department or Activity only).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2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2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smtClean="0">
                <a:solidFill>
                  <a:srgbClr val="FF0000"/>
                </a:solidFill>
                <a:latin typeface="Algerian" pitchFamily="82" charset="0"/>
              </a:rPr>
              <a:t>TYPES OF PLANS</a:t>
            </a:r>
            <a:endParaRPr lang="en-US" dirty="0"/>
          </a:p>
        </p:txBody>
      </p:sp>
      <p:sp>
        <p:nvSpPr>
          <p:cNvPr id="3" name="Content Placeholder 2"/>
          <p:cNvSpPr>
            <a:spLocks noGrp="1"/>
          </p:cNvSpPr>
          <p:nvPr>
            <p:ph idx="1"/>
          </p:nvPr>
        </p:nvSpPr>
        <p:spPr>
          <a:xfrm>
            <a:off x="457200" y="1219200"/>
            <a:ext cx="8229600" cy="5410200"/>
          </a:xfrm>
        </p:spPr>
        <p:txBody>
          <a:bodyPr>
            <a:normAutofit fontScale="92500" lnSpcReduction="10000"/>
          </a:bodyPr>
          <a:lstStyle/>
          <a:p>
            <a:pPr algn="just">
              <a:buNone/>
            </a:pPr>
            <a:r>
              <a:rPr lang="en-US" dirty="0" smtClean="0"/>
              <a:t>			</a:t>
            </a:r>
            <a:r>
              <a:rPr lang="en-US" sz="2600" dirty="0" smtClean="0">
                <a:latin typeface="Times New Roman" pitchFamily="18" charset="0"/>
                <a:cs typeface="Times New Roman" pitchFamily="18" charset="0"/>
              </a:rPr>
              <a:t>In general following are broad categories or types of Planning :</a:t>
            </a:r>
          </a:p>
          <a:p>
            <a:pPr algn="just">
              <a:lnSpc>
                <a:spcPct val="150000"/>
              </a:lnSpc>
              <a:buFont typeface="Wingdings" pitchFamily="2" charset="2"/>
              <a:buChar char="ü"/>
            </a:pPr>
            <a:r>
              <a:rPr lang="en-US" sz="2600" b="1" dirty="0" smtClean="0">
                <a:latin typeface="Times New Roman" pitchFamily="18" charset="0"/>
                <a:cs typeface="Times New Roman" pitchFamily="18" charset="0"/>
              </a:rPr>
              <a:t>Operational Planning</a:t>
            </a:r>
            <a:r>
              <a:rPr lang="en-US" sz="2600" dirty="0" smtClean="0">
                <a:latin typeface="Times New Roman" pitchFamily="18" charset="0"/>
                <a:cs typeface="Times New Roman" pitchFamily="18" charset="0"/>
              </a:rPr>
              <a:t>(</a:t>
            </a:r>
            <a:r>
              <a:rPr lang="en-US" sz="2600" i="1" u="sng" dirty="0" smtClean="0">
                <a:latin typeface="Times New Roman" pitchFamily="18" charset="0"/>
                <a:cs typeface="Times New Roman" pitchFamily="18" charset="0"/>
              </a:rPr>
              <a:t>defining specific actions and resources needed</a:t>
            </a:r>
            <a:r>
              <a:rPr lang="en-US" sz="2600" dirty="0" smtClean="0">
                <a:latin typeface="Times New Roman" pitchFamily="18" charset="0"/>
                <a:cs typeface="Times New Roman" pitchFamily="18" charset="0"/>
              </a:rPr>
              <a:t>). </a:t>
            </a:r>
          </a:p>
          <a:p>
            <a:pPr algn="just">
              <a:lnSpc>
                <a:spcPct val="150000"/>
              </a:lnSpc>
              <a:buFont typeface="Wingdings" pitchFamily="2" charset="2"/>
              <a:buChar char="ü"/>
            </a:pPr>
            <a:r>
              <a:rPr lang="en-US" sz="2600" b="1" dirty="0" smtClean="0">
                <a:latin typeface="Times New Roman" pitchFamily="18" charset="0"/>
                <a:cs typeface="Times New Roman" pitchFamily="18" charset="0"/>
              </a:rPr>
              <a:t>Tactical Planning </a:t>
            </a:r>
            <a:r>
              <a:rPr lang="en-US" sz="2600" dirty="0" smtClean="0">
                <a:latin typeface="Times New Roman" pitchFamily="18" charset="0"/>
                <a:cs typeface="Times New Roman" pitchFamily="18" charset="0"/>
              </a:rPr>
              <a:t>(</a:t>
            </a:r>
            <a:r>
              <a:rPr lang="en-US" sz="2600" i="1" u="sng" dirty="0" smtClean="0">
                <a:latin typeface="Times New Roman" pitchFamily="18" charset="0"/>
                <a:cs typeface="Times New Roman" pitchFamily="18" charset="0"/>
              </a:rPr>
              <a:t>Develops actions to achieve the goals set</a:t>
            </a:r>
            <a:r>
              <a:rPr lang="en-US" sz="2600" dirty="0" smtClean="0">
                <a:latin typeface="Times New Roman" pitchFamily="18" charset="0"/>
                <a:cs typeface="Times New Roman" pitchFamily="18" charset="0"/>
              </a:rPr>
              <a:t>) .</a:t>
            </a:r>
          </a:p>
          <a:p>
            <a:pPr algn="just">
              <a:lnSpc>
                <a:spcPct val="150000"/>
              </a:lnSpc>
              <a:buFont typeface="Wingdings" pitchFamily="2" charset="2"/>
              <a:buChar char="ü"/>
            </a:pPr>
            <a:r>
              <a:rPr lang="en-US" sz="2600" b="1" dirty="0" smtClean="0">
                <a:latin typeface="Times New Roman" pitchFamily="18" charset="0"/>
                <a:cs typeface="Times New Roman" pitchFamily="18" charset="0"/>
              </a:rPr>
              <a:t>Strategic Planning</a:t>
            </a:r>
            <a:r>
              <a:rPr lang="en-US" sz="2600" i="1" u="sng" dirty="0" smtClean="0">
                <a:latin typeface="Times New Roman" pitchFamily="18" charset="0"/>
                <a:cs typeface="Times New Roman" pitchFamily="18" charset="0"/>
              </a:rPr>
              <a:t>(defining a company's direction and goals</a:t>
            </a:r>
            <a:r>
              <a:rPr lang="en-US" sz="2600" dirty="0" smtClean="0">
                <a:latin typeface="Times New Roman" pitchFamily="18" charset="0"/>
                <a:cs typeface="Times New Roman" pitchFamily="18" charset="0"/>
              </a:rPr>
              <a:t>).</a:t>
            </a:r>
          </a:p>
          <a:p>
            <a:pPr algn="just">
              <a:lnSpc>
                <a:spcPct val="150000"/>
              </a:lnSpc>
              <a:buFont typeface="Wingdings" pitchFamily="2" charset="2"/>
              <a:buChar char="ü"/>
            </a:pPr>
            <a:r>
              <a:rPr lang="en-US" sz="2600" b="1" dirty="0" smtClean="0">
                <a:latin typeface="Times New Roman" pitchFamily="18" charset="0"/>
                <a:cs typeface="Times New Roman" pitchFamily="18" charset="0"/>
              </a:rPr>
              <a:t>Contingency </a:t>
            </a:r>
            <a:r>
              <a:rPr lang="en-US" sz="2600" b="1" dirty="0" smtClean="0">
                <a:latin typeface="Times New Roman" pitchFamily="18" charset="0"/>
                <a:cs typeface="Times New Roman" pitchFamily="18" charset="0"/>
              </a:rPr>
              <a:t>Planning</a:t>
            </a:r>
            <a:r>
              <a:rPr lang="en-US" sz="2600" i="1" u="sng" dirty="0" smtClean="0">
                <a:latin typeface="Times New Roman" pitchFamily="18" charset="0"/>
                <a:cs typeface="Times New Roman" pitchFamily="18" charset="0"/>
              </a:rPr>
              <a:t>(identifying potential risks or challenges that may arise and developing plans to mitigate or address them</a:t>
            </a:r>
            <a:r>
              <a:rPr lang="en-US" sz="2600" dirty="0" smtClean="0">
                <a:latin typeface="Times New Roman" pitchFamily="18" charset="0"/>
                <a:cs typeface="Times New Roman" pitchFamily="18" charset="0"/>
              </a:rPr>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Autofit/>
          </a:bodyPr>
          <a:lstStyle/>
          <a:p>
            <a:pPr algn="l"/>
            <a:r>
              <a:rPr lang="en-US" sz="3600" dirty="0" smtClean="0">
                <a:solidFill>
                  <a:srgbClr val="FF0000"/>
                </a:solidFill>
                <a:latin typeface="Algerian" pitchFamily="82" charset="0"/>
              </a:rPr>
              <a:t>PLANNING TOOLS AND TECHNIQUES</a:t>
            </a:r>
            <a:endParaRPr lang="en-US" sz="3600" dirty="0">
              <a:solidFill>
                <a:srgbClr val="FF0000"/>
              </a:solidFill>
              <a:latin typeface="Algerian" pitchFamily="82" charset="0"/>
            </a:endParaRPr>
          </a:p>
        </p:txBody>
      </p:sp>
      <p:sp>
        <p:nvSpPr>
          <p:cNvPr id="4" name="Content Placeholder 3"/>
          <p:cNvSpPr>
            <a:spLocks noGrp="1"/>
          </p:cNvSpPr>
          <p:nvPr>
            <p:ph idx="1"/>
          </p:nvPr>
        </p:nvSpPr>
        <p:spPr>
          <a:xfrm>
            <a:off x="457200" y="1447800"/>
            <a:ext cx="8229600" cy="5105400"/>
          </a:xfrm>
        </p:spPr>
        <p:txBody>
          <a:bodyPr>
            <a:normAutofit fontScale="77500" lnSpcReduction="20000"/>
          </a:bodyPr>
          <a:lstStyle/>
          <a:p>
            <a:pPr algn="just">
              <a:buNone/>
            </a:pPr>
            <a:r>
              <a:rPr lang="en-US" sz="3400" b="1" u="sng" dirty="0" smtClean="0">
                <a:latin typeface="Times New Roman" pitchFamily="18" charset="0"/>
                <a:cs typeface="Times New Roman" pitchFamily="18" charset="0"/>
              </a:rPr>
              <a:t>Forecasting</a:t>
            </a:r>
          </a:p>
          <a:p>
            <a:pPr algn="just">
              <a:buNone/>
            </a:pPr>
            <a:r>
              <a:rPr lang="en-US" dirty="0" smtClean="0"/>
              <a:t>		</a:t>
            </a:r>
            <a:r>
              <a:rPr lang="en-US" dirty="0" smtClean="0">
                <a:latin typeface="Times New Roman" pitchFamily="18" charset="0"/>
                <a:cs typeface="Times New Roman" pitchFamily="18" charset="0"/>
              </a:rPr>
              <a:t>Forecasting is the process of predicting what will happen in the future. Forecasting uses experts opinions to predict the future. Also it is involved to  use mathematical models and statistical analysis of historical data and surveys to predict the future events.</a:t>
            </a:r>
          </a:p>
          <a:p>
            <a:pPr algn="just">
              <a:buNone/>
            </a:pPr>
            <a:r>
              <a:rPr lang="en-US" sz="3400" b="1" u="sng" dirty="0" smtClean="0">
                <a:latin typeface="Times New Roman" pitchFamily="18" charset="0"/>
                <a:cs typeface="Times New Roman" pitchFamily="18" charset="0"/>
              </a:rPr>
              <a:t>Contingency Planning</a:t>
            </a:r>
          </a:p>
          <a:p>
            <a:pPr algn="just">
              <a:buNone/>
            </a:pPr>
            <a:r>
              <a:rPr lang="en-US" dirty="0" smtClean="0"/>
              <a:t>		</a:t>
            </a:r>
            <a:r>
              <a:rPr lang="en-US" dirty="0" smtClean="0">
                <a:latin typeface="Times New Roman" pitchFamily="18" charset="0"/>
                <a:cs typeface="Times New Roman" pitchFamily="18" charset="0"/>
              </a:rPr>
              <a:t>It identifies alternative courses of action that can be implemented to meet the needs of changing circumstances.</a:t>
            </a:r>
          </a:p>
          <a:p>
            <a:pPr algn="just">
              <a:buNone/>
            </a:pPr>
            <a:r>
              <a:rPr lang="en-US" sz="3400" b="1" u="sng" dirty="0" smtClean="0">
                <a:latin typeface="Times New Roman" pitchFamily="18" charset="0"/>
                <a:cs typeface="Times New Roman" pitchFamily="18" charset="0"/>
              </a:rPr>
              <a:t>Scenarios</a:t>
            </a:r>
          </a:p>
          <a:p>
            <a:pPr algn="just">
              <a:buNone/>
            </a:pPr>
            <a:r>
              <a:rPr lang="en-US" dirty="0" smtClean="0"/>
              <a:t>		</a:t>
            </a:r>
            <a:r>
              <a:rPr lang="en-US" dirty="0" smtClean="0">
                <a:latin typeface="Times New Roman" pitchFamily="18" charset="0"/>
                <a:cs typeface="Times New Roman" pitchFamily="18" charset="0"/>
              </a:rPr>
              <a:t>It involves identifying several alternative future scenarios that may occur. Plans are then made to deal with each scenario as it occurs.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smtClean="0">
                <a:solidFill>
                  <a:srgbClr val="FF0000"/>
                </a:solidFill>
                <a:latin typeface="Algerian" pitchFamily="82" charset="0"/>
              </a:rPr>
              <a:t> </a:t>
            </a:r>
            <a:endParaRPr lang="en-US" dirty="0">
              <a:solidFill>
                <a:srgbClr val="FF0000"/>
              </a:solidFill>
              <a:latin typeface="Algerian" pitchFamily="82" charset="0"/>
            </a:endParaRPr>
          </a:p>
        </p:txBody>
      </p:sp>
      <p:sp>
        <p:nvSpPr>
          <p:cNvPr id="3" name="Content Placeholder 2"/>
          <p:cNvSpPr>
            <a:spLocks noGrp="1"/>
          </p:cNvSpPr>
          <p:nvPr>
            <p:ph idx="1"/>
          </p:nvPr>
        </p:nvSpPr>
        <p:spPr>
          <a:xfrm>
            <a:off x="457200" y="609600"/>
            <a:ext cx="8229600" cy="6096000"/>
          </a:xfrm>
        </p:spPr>
        <p:txBody>
          <a:bodyPr>
            <a:normAutofit/>
          </a:bodyPr>
          <a:lstStyle/>
          <a:p>
            <a:pPr>
              <a:lnSpc>
                <a:spcPct val="90000"/>
              </a:lnSpc>
              <a:buNone/>
            </a:pPr>
            <a:r>
              <a:rPr lang="en-US" sz="2800" b="1" u="sng" dirty="0" smtClean="0">
                <a:latin typeface="Times New Roman" pitchFamily="18" charset="0"/>
                <a:cs typeface="Times New Roman" pitchFamily="18" charset="0"/>
              </a:rPr>
              <a:t>Bench-Marking</a:t>
            </a:r>
          </a:p>
          <a:p>
            <a:pPr algn="just">
              <a:buNone/>
            </a:pPr>
            <a:r>
              <a:rPr lang="en-US" dirty="0" smtClean="0"/>
              <a:t>		</a:t>
            </a:r>
            <a:r>
              <a:rPr lang="en-US" sz="2700" dirty="0" smtClean="0">
                <a:latin typeface="Times New Roman" pitchFamily="18" charset="0"/>
                <a:cs typeface="Times New Roman" pitchFamily="18" charset="0"/>
              </a:rPr>
              <a:t>It is a technique that uses external comparisons to better evaluate one's current performances and identify possible actions for the future.</a:t>
            </a:r>
          </a:p>
          <a:p>
            <a:pPr algn="just">
              <a:lnSpc>
                <a:spcPct val="90000"/>
              </a:lnSpc>
              <a:buNone/>
            </a:pPr>
            <a:r>
              <a:rPr lang="en-US" sz="2800" b="1" u="sng" dirty="0" smtClean="0">
                <a:latin typeface="Times New Roman" pitchFamily="18" charset="0"/>
                <a:cs typeface="Times New Roman" pitchFamily="18" charset="0"/>
              </a:rPr>
              <a:t>Participative Planning</a:t>
            </a:r>
          </a:p>
          <a:p>
            <a:pPr algn="just">
              <a:buNone/>
            </a:pPr>
            <a:r>
              <a:rPr lang="en-US" dirty="0" smtClean="0"/>
              <a:t>		</a:t>
            </a:r>
            <a:r>
              <a:rPr lang="en-US" sz="2700" dirty="0" smtClean="0">
                <a:latin typeface="Times New Roman" pitchFamily="18" charset="0"/>
                <a:cs typeface="Times New Roman" pitchFamily="18" charset="0"/>
              </a:rPr>
              <a:t>All employees participate in the planning process and are regularly updated about the company's program towards its goal.</a:t>
            </a:r>
          </a:p>
          <a:p>
            <a:pPr algn="just">
              <a:lnSpc>
                <a:spcPct val="90000"/>
              </a:lnSpc>
              <a:buNone/>
            </a:pPr>
            <a:r>
              <a:rPr lang="en-US" sz="2800" b="1" u="sng" dirty="0" smtClean="0">
                <a:latin typeface="Times New Roman" pitchFamily="18" charset="0"/>
                <a:cs typeface="Times New Roman" pitchFamily="18" charset="0"/>
              </a:rPr>
              <a:t>Use of Staff Planners</a:t>
            </a:r>
          </a:p>
          <a:p>
            <a:pPr algn="just">
              <a:buNone/>
            </a:pPr>
            <a:r>
              <a:rPr lang="en-US" dirty="0" smtClean="0"/>
              <a:t>		</a:t>
            </a:r>
            <a:r>
              <a:rPr lang="en-US" sz="2700" dirty="0" smtClean="0">
                <a:latin typeface="Times New Roman" pitchFamily="18" charset="0"/>
                <a:cs typeface="Times New Roman" pitchFamily="18" charset="0"/>
              </a:rPr>
              <a:t>Staff planners are employed to help coordinate planning for the organization as a whole or for one of its major components.</a:t>
            </a:r>
          </a:p>
          <a:p>
            <a:pPr algn="just">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TotalTime>
  <Words>241</Words>
  <Application>Microsoft Office PowerPoint</Application>
  <PresentationFormat>On-screen Show (4:3)</PresentationFormat>
  <Paragraphs>86</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Includes….</vt:lpstr>
      <vt:lpstr>Planning :  Meaning and Definition</vt:lpstr>
      <vt:lpstr>Objectives of Planning : </vt:lpstr>
      <vt:lpstr>Slide 4</vt:lpstr>
      <vt:lpstr>Importance of planning </vt:lpstr>
      <vt:lpstr>TYPES OF PLANS : </vt:lpstr>
      <vt:lpstr>2. On the Basis of Operations in the firms: </vt:lpstr>
      <vt:lpstr>TYPES OF PLANS</vt:lpstr>
      <vt:lpstr>PLANNING TOOLS AND TECHNIQUES</vt:lpstr>
      <vt:lpstr>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Principles of Management</dc:title>
  <dc:creator>HP</dc:creator>
  <cp:lastModifiedBy>HP</cp:lastModifiedBy>
  <cp:revision>45</cp:revision>
  <dcterms:created xsi:type="dcterms:W3CDTF">2006-08-16T00:00:00Z</dcterms:created>
  <dcterms:modified xsi:type="dcterms:W3CDTF">2024-03-19T10:42:20Z</dcterms:modified>
</cp:coreProperties>
</file>