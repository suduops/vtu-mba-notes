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79" d="100"/>
          <a:sy n="79" d="100"/>
        </p:scale>
        <p:origin x="-1469" y="-67"/>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04801"/>
            <a:ext cx="7772400" cy="1295400"/>
          </a:xfrm>
        </p:spPr>
        <p:txBody>
          <a:bodyPr>
            <a:normAutofit fontScale="90000"/>
          </a:bodyPr>
          <a:lstStyle/>
          <a:p>
            <a:r>
              <a:rPr lang="en-US" dirty="0" smtClean="0">
                <a:solidFill>
                  <a:srgbClr val="FF0000"/>
                </a:solidFill>
                <a:latin typeface="Algerian" pitchFamily="82" charset="0"/>
              </a:rPr>
              <a:t/>
            </a:r>
            <a:br>
              <a:rPr lang="en-US" dirty="0" smtClean="0">
                <a:solidFill>
                  <a:srgbClr val="FF0000"/>
                </a:solidFill>
                <a:latin typeface="Algerian" pitchFamily="82" charset="0"/>
              </a:rPr>
            </a:br>
            <a:r>
              <a:rPr lang="en-US" dirty="0" smtClean="0">
                <a:solidFill>
                  <a:srgbClr val="FF0000"/>
                </a:solidFill>
                <a:latin typeface="Algerian" pitchFamily="82" charset="0"/>
              </a:rPr>
              <a:t/>
            </a:r>
            <a:br>
              <a:rPr lang="en-US" dirty="0" smtClean="0">
                <a:solidFill>
                  <a:srgbClr val="FF0000"/>
                </a:solidFill>
                <a:latin typeface="Algerian" pitchFamily="82" charset="0"/>
              </a:rPr>
            </a:br>
            <a:r>
              <a:rPr lang="en-US" dirty="0" smtClean="0">
                <a:solidFill>
                  <a:srgbClr val="FF0000"/>
                </a:solidFill>
                <a:latin typeface="Algerian" pitchFamily="82" charset="0"/>
              </a:rPr>
              <a:t>Includes…. CONTROLLING:</a:t>
            </a:r>
            <a:br>
              <a:rPr lang="en-US" dirty="0" smtClean="0">
                <a:solidFill>
                  <a:srgbClr val="FF0000"/>
                </a:solidFill>
                <a:latin typeface="Algerian" pitchFamily="82" charset="0"/>
              </a:rPr>
            </a:br>
            <a:r>
              <a:rPr lang="en-US" dirty="0" smtClean="0">
                <a:solidFill>
                  <a:srgbClr val="FF0000"/>
                </a:solidFill>
                <a:latin typeface="Algerian" pitchFamily="82" charset="0"/>
              </a:rPr>
              <a:t/>
            </a:r>
            <a:br>
              <a:rPr lang="en-US" dirty="0" smtClean="0">
                <a:solidFill>
                  <a:srgbClr val="FF0000"/>
                </a:solidFill>
                <a:latin typeface="Algerian" pitchFamily="82" charset="0"/>
              </a:rPr>
            </a:br>
            <a:endParaRPr lang="en-US" dirty="0"/>
          </a:p>
        </p:txBody>
      </p:sp>
      <p:sp>
        <p:nvSpPr>
          <p:cNvPr id="3" name="Subtitle 2"/>
          <p:cNvSpPr>
            <a:spLocks noGrp="1"/>
          </p:cNvSpPr>
          <p:nvPr>
            <p:ph type="subTitle" idx="1"/>
          </p:nvPr>
        </p:nvSpPr>
        <p:spPr>
          <a:xfrm>
            <a:off x="685800" y="2057400"/>
            <a:ext cx="7772400" cy="3886200"/>
          </a:xfrm>
        </p:spPr>
        <p:txBody>
          <a:bodyPr/>
          <a:lstStyle/>
          <a:p>
            <a:pPr algn="just"/>
            <a:r>
              <a:rPr lang="en-US" dirty="0" smtClean="0">
                <a:solidFill>
                  <a:schemeClr val="tx1"/>
                </a:solidFill>
                <a:latin typeface="Times New Roman" pitchFamily="18" charset="0"/>
                <a:cs typeface="Times New Roman" pitchFamily="18" charset="0"/>
              </a:rPr>
              <a:t>Meaning, Importance, Steps in the control process, Types of </a:t>
            </a:r>
            <a:r>
              <a:rPr lang="en-US" dirty="0" smtClean="0">
                <a:solidFill>
                  <a:schemeClr val="tx1"/>
                </a:solidFill>
                <a:latin typeface="Times New Roman" pitchFamily="18" charset="0"/>
                <a:cs typeface="Times New Roman" pitchFamily="18" charset="0"/>
              </a:rPr>
              <a:t>Control.  </a:t>
            </a:r>
          </a:p>
          <a:p>
            <a:pPr algn="just"/>
            <a:endParaRPr lang="en-IN" dirty="0" smtClean="0">
              <a:solidFill>
                <a:schemeClr val="tx1"/>
              </a:solidFill>
              <a:latin typeface="Times New Roman" pitchFamily="18" charset="0"/>
              <a:cs typeface="Times New Roman" pitchFamily="18" charset="0"/>
            </a:endParaRPr>
          </a:p>
          <a:p>
            <a:pPr algn="just"/>
            <a:r>
              <a:rPr lang="en-IN" dirty="0" smtClean="0">
                <a:solidFill>
                  <a:schemeClr val="tx1"/>
                </a:solidFill>
                <a:latin typeface="Times New Roman" pitchFamily="18" charset="0"/>
                <a:cs typeface="Times New Roman" pitchFamily="18" charset="0"/>
              </a:rPr>
              <a:t>Team 4 Presentation : Types of Contro</a:t>
            </a:r>
            <a:r>
              <a:rPr lang="en-IN" dirty="0" smtClean="0">
                <a:solidFill>
                  <a:schemeClr val="tx1"/>
                </a:solidFill>
                <a:latin typeface="Times New Roman" pitchFamily="18" charset="0"/>
                <a:cs typeface="Times New Roman" pitchFamily="18" charset="0"/>
              </a:rPr>
              <a:t>l</a:t>
            </a:r>
            <a:r>
              <a:rPr lang="en-IN" dirty="0" smtClean="0">
                <a:solidFill>
                  <a:schemeClr val="tx1"/>
                </a:solidFill>
                <a:latin typeface="Times New Roman" pitchFamily="18" charset="0"/>
                <a:cs typeface="Times New Roman" pitchFamily="18" charset="0"/>
              </a:rPr>
              <a:t> </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14400"/>
          </a:xfrm>
        </p:spPr>
        <p:txBody>
          <a:bodyPr>
            <a:normAutofit fontScale="90000"/>
          </a:bodyPr>
          <a:lstStyle/>
          <a:p>
            <a:r>
              <a:rPr lang="en-US" dirty="0" smtClean="0">
                <a:solidFill>
                  <a:srgbClr val="FF0000"/>
                </a:solidFill>
                <a:latin typeface="Times New Roman" pitchFamily="18" charset="0"/>
                <a:cs typeface="Times New Roman" pitchFamily="18" charset="0"/>
              </a:rPr>
              <a:t>Controlling :  Meaning and Definition</a:t>
            </a:r>
            <a:endParaRPr lang="en-US" dirty="0"/>
          </a:p>
        </p:txBody>
      </p:sp>
      <p:sp>
        <p:nvSpPr>
          <p:cNvPr id="3" name="Content Placeholder 2"/>
          <p:cNvSpPr>
            <a:spLocks noGrp="1"/>
          </p:cNvSpPr>
          <p:nvPr>
            <p:ph idx="1"/>
          </p:nvPr>
        </p:nvSpPr>
        <p:spPr>
          <a:xfrm>
            <a:off x="228600" y="1447800"/>
            <a:ext cx="8534400" cy="4678363"/>
          </a:xfrm>
        </p:spPr>
        <p:txBody>
          <a:bodyPr/>
          <a:lstStyle/>
          <a:p>
            <a:pPr algn="just">
              <a:buNone/>
            </a:pPr>
            <a:r>
              <a:rPr lang="en-US" dirty="0" smtClean="0"/>
              <a:t>		</a:t>
            </a:r>
            <a:r>
              <a:rPr lang="en-US" sz="2400" dirty="0" smtClean="0">
                <a:latin typeface="Times New Roman" pitchFamily="18" charset="0"/>
                <a:cs typeface="Times New Roman" pitchFamily="18" charset="0"/>
              </a:rPr>
              <a:t>Douglas McGregor explain that the success of any form of control depends upon </a:t>
            </a:r>
            <a:r>
              <a:rPr lang="en-US" sz="2400" i="1" dirty="0" smtClean="0">
                <a:solidFill>
                  <a:srgbClr val="FF0000"/>
                </a:solidFill>
                <a:latin typeface="Times New Roman" pitchFamily="18" charset="0"/>
                <a:cs typeface="Times New Roman" pitchFamily="18" charset="0"/>
              </a:rPr>
              <a:t>altering the ability of others</a:t>
            </a:r>
            <a:r>
              <a:rPr lang="en-US" sz="2400" dirty="0" smtClean="0">
                <a:latin typeface="Times New Roman" pitchFamily="18" charset="0"/>
                <a:cs typeface="Times New Roman" pitchFamily="18" charset="0"/>
              </a:rPr>
              <a:t> to achieve their goals or satisfy their needs. Control is an </a:t>
            </a:r>
            <a:r>
              <a:rPr lang="en-US" sz="2400" i="1" dirty="0" smtClean="0">
                <a:solidFill>
                  <a:srgbClr val="FF0000"/>
                </a:solidFill>
                <a:latin typeface="Times New Roman" pitchFamily="18" charset="0"/>
                <a:cs typeface="Times New Roman" pitchFamily="18" charset="0"/>
              </a:rPr>
              <a:t>integral part </a:t>
            </a:r>
            <a:r>
              <a:rPr lang="en-US" sz="2400" dirty="0" smtClean="0">
                <a:latin typeface="Times New Roman" pitchFamily="18" charset="0"/>
                <a:cs typeface="Times New Roman" pitchFamily="18" charset="0"/>
              </a:rPr>
              <a:t>of the process of Management.</a:t>
            </a:r>
          </a:p>
          <a:p>
            <a:pPr algn="just">
              <a:buNone/>
            </a:pPr>
            <a:endParaRPr lang="en-US" sz="2400"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		</a:t>
            </a:r>
            <a:r>
              <a:rPr lang="en-US" sz="2400" dirty="0" smtClean="0"/>
              <a:t> Controlling is the process of comparing the actual performance with the standards set by the company to ensure that all the activities are happening according to the plan and if any deviations are found, then corrective action needs to be taken.</a:t>
            </a:r>
            <a:endParaRPr lang="en-US" sz="2400" dirty="0" smtClean="0">
              <a:latin typeface="Times New Roman" pitchFamily="18" charset="0"/>
              <a:cs typeface="Times New Roman" pitchFamily="18" charset="0"/>
            </a:endParaRPr>
          </a:p>
          <a:p>
            <a:pPr algn="just">
              <a:buNone/>
            </a:pPr>
            <a:endParaRPr lang="en-US" sz="2400" dirty="0" smtClean="0">
              <a:latin typeface="Times New Roman" pitchFamily="18" charset="0"/>
              <a:cs typeface="Times New Roman" pitchFamily="18" charset="0"/>
            </a:endParaRPr>
          </a:p>
          <a:p>
            <a:pPr algn="just">
              <a:buNone/>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pPr algn="l"/>
            <a:r>
              <a:rPr lang="en-US" sz="4000" dirty="0" smtClean="0">
                <a:solidFill>
                  <a:srgbClr val="FF0000"/>
                </a:solidFill>
                <a:latin typeface="Times New Roman" pitchFamily="18" charset="0"/>
                <a:cs typeface="Times New Roman" pitchFamily="18" charset="0"/>
              </a:rPr>
              <a:t>Steps in the Control Process</a:t>
            </a:r>
          </a:p>
        </p:txBody>
      </p:sp>
      <p:sp>
        <p:nvSpPr>
          <p:cNvPr id="3" name="Content Placeholder 2"/>
          <p:cNvSpPr>
            <a:spLocks noGrp="1"/>
          </p:cNvSpPr>
          <p:nvPr>
            <p:ph idx="1"/>
          </p:nvPr>
        </p:nvSpPr>
        <p:spPr>
          <a:xfrm>
            <a:off x="457200" y="1295400"/>
            <a:ext cx="8229600" cy="5181600"/>
          </a:xfrm>
        </p:spPr>
        <p:txBody>
          <a:bodyPr>
            <a:normAutofit/>
          </a:bodyPr>
          <a:lstStyle/>
          <a:p>
            <a:pPr>
              <a:lnSpc>
                <a:spcPct val="150000"/>
              </a:lnSpc>
              <a:buFont typeface="Wingdings" pitchFamily="2" charset="2"/>
              <a:buChar char="Ø"/>
            </a:pPr>
            <a:r>
              <a:rPr lang="en-US" sz="2400" dirty="0" smtClean="0"/>
              <a:t>Establishing standards.</a:t>
            </a:r>
          </a:p>
          <a:p>
            <a:pPr>
              <a:lnSpc>
                <a:spcPct val="150000"/>
              </a:lnSpc>
              <a:buFont typeface="Wingdings" pitchFamily="2" charset="2"/>
              <a:buChar char="Ø"/>
            </a:pPr>
            <a:r>
              <a:rPr lang="en-US" sz="2400" dirty="0" smtClean="0"/>
              <a:t>Measurement of actual performance.</a:t>
            </a:r>
          </a:p>
          <a:p>
            <a:pPr>
              <a:lnSpc>
                <a:spcPct val="150000"/>
              </a:lnSpc>
              <a:buFont typeface="Wingdings" pitchFamily="2" charset="2"/>
              <a:buChar char="Ø"/>
            </a:pPr>
            <a:r>
              <a:rPr lang="en-US" sz="2400" dirty="0" smtClean="0"/>
              <a:t>Comparison of actual performance with standards.</a:t>
            </a:r>
          </a:p>
          <a:p>
            <a:pPr>
              <a:lnSpc>
                <a:spcPct val="150000"/>
              </a:lnSpc>
              <a:buFont typeface="Wingdings" pitchFamily="2" charset="2"/>
              <a:buChar char="Ø"/>
            </a:pPr>
            <a:r>
              <a:rPr lang="en-US" sz="2400" dirty="0" smtClean="0"/>
              <a:t>Analyzing deviations.</a:t>
            </a:r>
          </a:p>
          <a:p>
            <a:pPr>
              <a:lnSpc>
                <a:spcPct val="150000"/>
              </a:lnSpc>
              <a:buNone/>
            </a:pPr>
            <a:r>
              <a:rPr lang="en-US" sz="2400" dirty="0" smtClean="0"/>
              <a:t>	 (Detailed analysis needs to be done to find out the cause of  the deviation and deal with it properly).</a:t>
            </a:r>
          </a:p>
          <a:p>
            <a:pPr>
              <a:lnSpc>
                <a:spcPct val="150000"/>
              </a:lnSpc>
              <a:buFont typeface="Wingdings" pitchFamily="2" charset="2"/>
              <a:buChar char="Ø"/>
            </a:pPr>
            <a:r>
              <a:rPr lang="en-US" sz="2400" dirty="0" smtClean="0"/>
              <a:t>Taking corrective steps.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200" dirty="0" smtClean="0">
                <a:solidFill>
                  <a:srgbClr val="FF0000"/>
                </a:solidFill>
                <a:latin typeface="Times New Roman" pitchFamily="18" charset="0"/>
                <a:cs typeface="Times New Roman" pitchFamily="18" charset="0"/>
              </a:rPr>
              <a:t>Controlling :  Characteristics of Effective Control System.</a:t>
            </a:r>
            <a:endParaRPr lang="en-US" sz="3200" dirty="0"/>
          </a:p>
        </p:txBody>
      </p:sp>
      <p:sp>
        <p:nvSpPr>
          <p:cNvPr id="3" name="Content Placeholder 2"/>
          <p:cNvSpPr>
            <a:spLocks noGrp="1"/>
          </p:cNvSpPr>
          <p:nvPr>
            <p:ph idx="1"/>
          </p:nvPr>
        </p:nvSpPr>
        <p:spPr>
          <a:xfrm>
            <a:off x="457200" y="1371600"/>
            <a:ext cx="8229600" cy="5105400"/>
          </a:xfrm>
        </p:spPr>
        <p:txBody>
          <a:bodyPr>
            <a:normAutofit/>
          </a:bodyPr>
          <a:lstStyle/>
          <a:p>
            <a:pPr marL="514350" indent="-514350">
              <a:lnSpc>
                <a:spcPct val="150000"/>
              </a:lnSpc>
              <a:buAutoNum type="arabicPeriod"/>
            </a:pPr>
            <a:r>
              <a:rPr lang="en-US" sz="2400" dirty="0" smtClean="0">
                <a:latin typeface="Times New Roman" pitchFamily="18" charset="0"/>
                <a:cs typeface="Times New Roman" pitchFamily="18" charset="0"/>
              </a:rPr>
              <a:t>It must be simple and clear.</a:t>
            </a:r>
          </a:p>
          <a:p>
            <a:pPr marL="514350" indent="-514350">
              <a:lnSpc>
                <a:spcPct val="150000"/>
              </a:lnSpc>
              <a:buAutoNum type="arabicPeriod"/>
            </a:pPr>
            <a:r>
              <a:rPr lang="en-US" sz="2400" dirty="0" smtClean="0">
                <a:latin typeface="Times New Roman" pitchFamily="18" charset="0"/>
                <a:cs typeface="Times New Roman" pitchFamily="18" charset="0"/>
              </a:rPr>
              <a:t>It must be confirm with Organizational Structure.</a:t>
            </a:r>
          </a:p>
          <a:p>
            <a:pPr marL="514350" indent="-514350">
              <a:lnSpc>
                <a:spcPct val="150000"/>
              </a:lnSpc>
              <a:buAutoNum type="arabicPeriod"/>
            </a:pPr>
            <a:r>
              <a:rPr lang="en-US" sz="2400" dirty="0" smtClean="0">
                <a:latin typeface="Times New Roman" pitchFamily="18" charset="0"/>
                <a:cs typeface="Times New Roman" pitchFamily="18" charset="0"/>
              </a:rPr>
              <a:t>Documentation and Reporting of Deviations.</a:t>
            </a:r>
          </a:p>
          <a:p>
            <a:pPr marL="514350" indent="-514350">
              <a:lnSpc>
                <a:spcPct val="150000"/>
              </a:lnSpc>
              <a:buAutoNum type="arabicPeriod"/>
            </a:pPr>
            <a:r>
              <a:rPr lang="en-US" sz="2400" dirty="0" smtClean="0">
                <a:latin typeface="Times New Roman" pitchFamily="18" charset="0"/>
                <a:cs typeface="Times New Roman" pitchFamily="18" charset="0"/>
              </a:rPr>
              <a:t>Identification of critical activities assessed during Analysis of Deviations.</a:t>
            </a:r>
          </a:p>
          <a:p>
            <a:pPr marL="514350" indent="-514350">
              <a:lnSpc>
                <a:spcPct val="150000"/>
              </a:lnSpc>
              <a:buAutoNum type="arabicPeriod"/>
            </a:pPr>
            <a:r>
              <a:rPr lang="en-US" sz="2400" dirty="0" smtClean="0">
                <a:latin typeface="Times New Roman" pitchFamily="18" charset="0"/>
                <a:cs typeface="Times New Roman" pitchFamily="18" charset="0"/>
              </a:rPr>
              <a:t>A control system must be flexible.</a:t>
            </a:r>
          </a:p>
          <a:p>
            <a:pPr marL="514350" indent="-514350">
              <a:lnSpc>
                <a:spcPct val="150000"/>
              </a:lnSpc>
              <a:buAutoNum type="arabicPeriod"/>
            </a:pPr>
            <a:r>
              <a:rPr lang="en-US" sz="2400" dirty="0" smtClean="0">
                <a:latin typeface="Times New Roman" pitchFamily="18" charset="0"/>
                <a:cs typeface="Times New Roman" pitchFamily="18" charset="0"/>
              </a:rPr>
              <a:t>It must be consistent with the objectives.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TotalTime>
  <Words>103</Words>
  <Application>Microsoft Office PowerPoint</Application>
  <PresentationFormat>On-screen Show (4:3)</PresentationFormat>
  <Paragraphs>22</Paragraphs>
  <Slides>4</Slides>
  <Notes>0</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  Includes…. CONTROLLING:  </vt:lpstr>
      <vt:lpstr>Controlling :  Meaning and Definition</vt:lpstr>
      <vt:lpstr>Steps in the Control Process</vt:lpstr>
      <vt:lpstr>Controlling :  Characteristics of Effective Control System.</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Includes…. CONTROLLING:  </dc:title>
  <dc:creator>HP</dc:creator>
  <cp:lastModifiedBy>HP</cp:lastModifiedBy>
  <cp:revision>14</cp:revision>
  <dcterms:created xsi:type="dcterms:W3CDTF">2006-08-16T00:00:00Z</dcterms:created>
  <dcterms:modified xsi:type="dcterms:W3CDTF">2024-12-12T07:47:36Z</dcterms:modified>
</cp:coreProperties>
</file>