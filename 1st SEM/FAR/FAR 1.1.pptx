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9" r:id="rId1"/>
  </p:sldMasterIdLst>
  <p:sldIdLst>
    <p:sldId id="260" r:id="rId2"/>
    <p:sldId id="256" r:id="rId3"/>
    <p:sldId id="257" r:id="rId4"/>
    <p:sldId id="275" r:id="rId5"/>
    <p:sldId id="268" r:id="rId6"/>
    <p:sldId id="276" r:id="rId7"/>
    <p:sldId id="269" r:id="rId8"/>
    <p:sldId id="281" r:id="rId9"/>
    <p:sldId id="270" r:id="rId10"/>
    <p:sldId id="282" r:id="rId11"/>
    <p:sldId id="259" r:id="rId12"/>
    <p:sldId id="277" r:id="rId13"/>
    <p:sldId id="263" r:id="rId14"/>
    <p:sldId id="264" r:id="rId15"/>
    <p:sldId id="265" r:id="rId16"/>
    <p:sldId id="266" r:id="rId17"/>
    <p:sldId id="267" r:id="rId18"/>
    <p:sldId id="271" r:id="rId19"/>
    <p:sldId id="274" r:id="rId20"/>
    <p:sldId id="278" r:id="rId21"/>
    <p:sldId id="279" r:id="rId22"/>
    <p:sldId id="272" r:id="rId23"/>
    <p:sldId id="273" r:id="rId24"/>
    <p:sldId id="26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663D0-38F5-ED62-5118-2D8E387439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96E968-B77A-5F37-E74C-808F69BADB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2A63D0-EAB6-EB24-8F27-22E1EB8A5A3C}"/>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5" name="Footer Placeholder 4">
            <a:extLst>
              <a:ext uri="{FF2B5EF4-FFF2-40B4-BE49-F238E27FC236}">
                <a16:creationId xmlns:a16="http://schemas.microsoft.com/office/drawing/2014/main" id="{0656F537-A2EA-4517-3845-996FBE315F2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49C52D-AB91-45D6-2B02-FE66946C3F3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037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BF2E-89F2-6712-7E71-6EFB0CD647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F9F494-1B63-B303-5B35-B5432D6240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A9B26-BBB4-14EA-370C-1C35C9E8873E}"/>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5" name="Footer Placeholder 4">
            <a:extLst>
              <a:ext uri="{FF2B5EF4-FFF2-40B4-BE49-F238E27FC236}">
                <a16:creationId xmlns:a16="http://schemas.microsoft.com/office/drawing/2014/main" id="{887B8B81-D92C-BBA9-A04B-50E1EA8839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D8AC4F9-6218-4B12-B41C-141EA09224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7228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5114-989E-0F8A-3378-B84350AF89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6585FC-0D1B-BEE9-6272-179F1AEF98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D9615D-02BD-937B-3EE3-E62C326BFC73}"/>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5" name="Footer Placeholder 4">
            <a:extLst>
              <a:ext uri="{FF2B5EF4-FFF2-40B4-BE49-F238E27FC236}">
                <a16:creationId xmlns:a16="http://schemas.microsoft.com/office/drawing/2014/main" id="{0862119F-08A2-584B-43BE-7DC162E71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A91EFB3-71DE-490A-9D0B-4A3CC5B6F84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099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C2D2B-F773-6762-6BC0-0317B7B062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9749EA-C7BF-67EE-7112-85B2828B9E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45605-9B70-5456-01C7-D3515F5C52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A98976-7A16-D613-D651-A3D78C623F5F}"/>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6" name="Footer Placeholder 5">
            <a:extLst>
              <a:ext uri="{FF2B5EF4-FFF2-40B4-BE49-F238E27FC236}">
                <a16:creationId xmlns:a16="http://schemas.microsoft.com/office/drawing/2014/main" id="{D1E6AE74-6E59-5439-D949-78609CF45C9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3B6E22F-0326-6EA9-FAC2-3017ED6F6B7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798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2D2D-8BDB-9C4A-A0D2-086883AD69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A395C4-F008-0CBD-15B9-05C960FA25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A2A0A-0D8E-9396-71B1-D244A58812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5D2553-6FD9-5435-1AFE-AD535E8E7E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571AA4-6A17-5158-EC64-59F653F0CF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E50E4F-4EC6-83B4-DF53-6C899C17A826}"/>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8" name="Footer Placeholder 7">
            <a:extLst>
              <a:ext uri="{FF2B5EF4-FFF2-40B4-BE49-F238E27FC236}">
                <a16:creationId xmlns:a16="http://schemas.microsoft.com/office/drawing/2014/main" id="{C61AACDB-D77A-D6F1-34F6-DF1DC28954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EB6DEF1-A463-DFBF-FE38-0FB0992CCDC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39077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6FD7E-84F4-8E02-45F4-73A91D10DA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513574-FFEE-6A1E-0668-8B0399234353}"/>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4" name="Footer Placeholder 3">
            <a:extLst>
              <a:ext uri="{FF2B5EF4-FFF2-40B4-BE49-F238E27FC236}">
                <a16:creationId xmlns:a16="http://schemas.microsoft.com/office/drawing/2014/main" id="{CB2BD4B8-D4A1-FE5A-F4C2-6934DAF1164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F5AD883-9452-F9AB-833E-E472CF564F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4516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1F3F03-7094-4570-A5EB-096EBFAEE4B6}"/>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3" name="Footer Placeholder 2">
            <a:extLst>
              <a:ext uri="{FF2B5EF4-FFF2-40B4-BE49-F238E27FC236}">
                <a16:creationId xmlns:a16="http://schemas.microsoft.com/office/drawing/2014/main" id="{EFDB2404-48DC-42D4-E30C-BB01EEF8F1C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3A1D73-8EB2-2268-4860-1DA880977BF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8675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95447-3E3D-46B1-8E20-3F993DF917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A02A0E-1ABB-7A90-50BB-9A3BD4F6FC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98AF6A-0E07-CD0F-AA94-E176CDEB26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0D9ABC-BC27-92CE-43BD-9E8BDD28F9AA}"/>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6" name="Footer Placeholder 5">
            <a:extLst>
              <a:ext uri="{FF2B5EF4-FFF2-40B4-BE49-F238E27FC236}">
                <a16:creationId xmlns:a16="http://schemas.microsoft.com/office/drawing/2014/main" id="{38012E26-FF34-B274-B707-C98156B6F83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E71C0FD-9B35-7A08-3463-4449FB45A70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0621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F4877-A913-624E-8828-E59920E72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C9A101-C651-8D07-61F6-FEFEF657CC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8CC161-363D-ADE2-6303-0F2F9DC5B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7105A-E187-119F-0506-19D684467609}"/>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6" name="Footer Placeholder 5">
            <a:extLst>
              <a:ext uri="{FF2B5EF4-FFF2-40B4-BE49-F238E27FC236}">
                <a16:creationId xmlns:a16="http://schemas.microsoft.com/office/drawing/2014/main" id="{93D8607C-A8B2-676B-A636-DB97F0D637A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758A2A5-344F-4CBA-03B7-FE185D51CAE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259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5BD4E-2DCC-993A-A4AB-6AD6CC4A69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46C2DD-AE33-58FC-301A-7B3C0EF5AB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B5C43-678B-B476-2768-0450DB372426}"/>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5" name="Footer Placeholder 4">
            <a:extLst>
              <a:ext uri="{FF2B5EF4-FFF2-40B4-BE49-F238E27FC236}">
                <a16:creationId xmlns:a16="http://schemas.microsoft.com/office/drawing/2014/main" id="{DC5CB90A-340D-1E04-5E6A-3899CF84BB6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AAC7994-B3BF-8BDD-D729-8FF165C54D7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9079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7CB70-5ED7-B482-E38F-23E420D548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2B3169-7AC9-FE99-1E30-4CB11B9AD7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76B268-F21C-8CEB-80A9-BA62FE7C2AE2}"/>
              </a:ext>
            </a:extLst>
          </p:cNvPr>
          <p:cNvSpPr>
            <a:spLocks noGrp="1"/>
          </p:cNvSpPr>
          <p:nvPr>
            <p:ph type="dt" sz="half" idx="10"/>
          </p:nvPr>
        </p:nvSpPr>
        <p:spPr/>
        <p:txBody>
          <a:bodyPr/>
          <a:lstStyle/>
          <a:p>
            <a:fld id="{B61BEF0D-F0BB-DE4B-95CE-6DB70DBA9567}" type="datetimeFigureOut">
              <a:rPr lang="en-US" smtClean="0"/>
              <a:pPr/>
              <a:t>11/29/2025</a:t>
            </a:fld>
            <a:endParaRPr lang="en-US" dirty="0"/>
          </a:p>
        </p:txBody>
      </p:sp>
      <p:sp>
        <p:nvSpPr>
          <p:cNvPr id="5" name="Footer Placeholder 4">
            <a:extLst>
              <a:ext uri="{FF2B5EF4-FFF2-40B4-BE49-F238E27FC236}">
                <a16:creationId xmlns:a16="http://schemas.microsoft.com/office/drawing/2014/main" id="{0D06B69D-44C1-E09C-91DA-4C8F14BB928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C03BC2-F69A-EBA0-EC6B-FB3B7FC55C8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548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F7D1D2-42DC-5A9D-48B6-C4F9CAB5B1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968E33-23B5-A6A1-EDD1-5C8F2DD5C7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A4E04-88ED-69FA-9DD5-F5E3FADEB9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11/29/2025</a:t>
            </a:fld>
            <a:endParaRPr lang="en-US" dirty="0"/>
          </a:p>
        </p:txBody>
      </p:sp>
      <p:sp>
        <p:nvSpPr>
          <p:cNvPr id="5" name="Footer Placeholder 4">
            <a:extLst>
              <a:ext uri="{FF2B5EF4-FFF2-40B4-BE49-F238E27FC236}">
                <a16:creationId xmlns:a16="http://schemas.microsoft.com/office/drawing/2014/main" id="{D7FEC037-21EE-1135-7B75-AEC0D919F9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497923E-F1AE-5658-5C67-266D406C57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317755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C09189-B57A-45F4-068D-D26D0912C086}"/>
              </a:ext>
            </a:extLst>
          </p:cNvPr>
          <p:cNvPicPr>
            <a:picLocks noChangeAspect="1"/>
          </p:cNvPicPr>
          <p:nvPr/>
        </p:nvPicPr>
        <p:blipFill>
          <a:blip r:embed="rId2"/>
          <a:srcRect t="39613" b="10749"/>
          <a:stretch>
            <a:fillRect/>
          </a:stretch>
        </p:blipFill>
        <p:spPr>
          <a:xfrm>
            <a:off x="1487050" y="1634829"/>
            <a:ext cx="8903855" cy="2706256"/>
          </a:xfrm>
          <a:prstGeom prst="rect">
            <a:avLst/>
          </a:prstGeom>
        </p:spPr>
      </p:pic>
      <p:sp>
        <p:nvSpPr>
          <p:cNvPr id="4" name="Subtitle 2">
            <a:extLst>
              <a:ext uri="{FF2B5EF4-FFF2-40B4-BE49-F238E27FC236}">
                <a16:creationId xmlns:a16="http://schemas.microsoft.com/office/drawing/2014/main" id="{94CE9CD5-F958-9839-FC2F-C20B20625378}"/>
              </a:ext>
            </a:extLst>
          </p:cNvPr>
          <p:cNvSpPr txBox="1">
            <a:spLocks/>
          </p:cNvSpPr>
          <p:nvPr/>
        </p:nvSpPr>
        <p:spPr>
          <a:xfrm>
            <a:off x="1214581" y="611142"/>
            <a:ext cx="9762837" cy="700424"/>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gn="ctr">
              <a:buNone/>
            </a:pPr>
            <a:r>
              <a:rPr lang="en-US" sz="4000" b="1" dirty="0">
                <a:solidFill>
                  <a:srgbClr val="002060"/>
                </a:solidFill>
                <a:effectLst>
                  <a:outerShdw blurRad="38100" dist="38100" dir="2700000" algn="tl">
                    <a:srgbClr val="000000">
                      <a:alpha val="43137"/>
                    </a:srgbClr>
                  </a:outerShdw>
                </a:effectLst>
              </a:rPr>
              <a:t> FINANCIAL ACCOUNTING AND REPORTING</a:t>
            </a:r>
            <a:endParaRPr lang="en-IN" sz="4000" b="1" dirty="0">
              <a:solidFill>
                <a:srgbClr val="002060"/>
              </a:solidFill>
              <a:effectLst>
                <a:outerShdw blurRad="38100" dist="38100" dir="2700000" algn="tl">
                  <a:srgbClr val="000000">
                    <a:alpha val="43137"/>
                  </a:srgbClr>
                </a:outerShdw>
              </a:effectLst>
            </a:endParaRPr>
          </a:p>
        </p:txBody>
      </p:sp>
      <p:sp>
        <p:nvSpPr>
          <p:cNvPr id="5" name="Subtitle 2">
            <a:extLst>
              <a:ext uri="{FF2B5EF4-FFF2-40B4-BE49-F238E27FC236}">
                <a16:creationId xmlns:a16="http://schemas.microsoft.com/office/drawing/2014/main" id="{CCC5BA70-E02E-0B08-D378-076CCC9A4797}"/>
              </a:ext>
            </a:extLst>
          </p:cNvPr>
          <p:cNvSpPr txBox="1">
            <a:spLocks/>
          </p:cNvSpPr>
          <p:nvPr/>
        </p:nvSpPr>
        <p:spPr>
          <a:xfrm>
            <a:off x="581889" y="4542761"/>
            <a:ext cx="4862586" cy="61113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lnSpc>
                <a:spcPct val="150000"/>
              </a:lnSpc>
              <a:buFont typeface="Wingdings" panose="05000000000000000000" pitchFamily="2" charset="2"/>
              <a:buChar char="v"/>
            </a:pPr>
            <a:endParaRPr lang="en-US" sz="2000" b="1" dirty="0">
              <a:solidFill>
                <a:srgbClr val="002060"/>
              </a:solidFill>
              <a:effectLst>
                <a:outerShdw blurRad="38100" dist="38100" dir="2700000" algn="tl">
                  <a:srgbClr val="000000">
                    <a:alpha val="43137"/>
                  </a:srgbClr>
                </a:outerShdw>
              </a:effectLst>
            </a:endParaRPr>
          </a:p>
        </p:txBody>
      </p:sp>
      <p:sp>
        <p:nvSpPr>
          <p:cNvPr id="6" name="Subtitle 2">
            <a:extLst>
              <a:ext uri="{FF2B5EF4-FFF2-40B4-BE49-F238E27FC236}">
                <a16:creationId xmlns:a16="http://schemas.microsoft.com/office/drawing/2014/main" id="{A72FCDF4-30DD-90E4-F7CB-AFF6012C5E81}"/>
              </a:ext>
            </a:extLst>
          </p:cNvPr>
          <p:cNvSpPr txBox="1">
            <a:spLocks/>
          </p:cNvSpPr>
          <p:nvPr/>
        </p:nvSpPr>
        <p:spPr>
          <a:xfrm>
            <a:off x="577277" y="5036899"/>
            <a:ext cx="4862586" cy="61113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endParaRPr lang="en-US" sz="20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73384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B91A7EC-2C0A-FA58-2BA0-D58A353972A4}"/>
              </a:ext>
            </a:extLst>
          </p:cNvPr>
          <p:cNvSpPr txBox="1">
            <a:spLocks/>
          </p:cNvSpPr>
          <p:nvPr/>
        </p:nvSpPr>
        <p:spPr>
          <a:xfrm>
            <a:off x="319014" y="1518238"/>
            <a:ext cx="8210407" cy="700424"/>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3000" b="1" dirty="0">
                <a:solidFill>
                  <a:schemeClr val="tx1"/>
                </a:solidFill>
              </a:rPr>
              <a:t>Definition of Accounting - </a:t>
            </a:r>
            <a:endParaRPr lang="en-IN" sz="3000" b="1" dirty="0">
              <a:solidFill>
                <a:schemeClr val="tx1"/>
              </a:solidFill>
            </a:endParaRPr>
          </a:p>
        </p:txBody>
      </p:sp>
      <p:sp>
        <p:nvSpPr>
          <p:cNvPr id="5" name="Subtitle 2">
            <a:extLst>
              <a:ext uri="{FF2B5EF4-FFF2-40B4-BE49-F238E27FC236}">
                <a16:creationId xmlns:a16="http://schemas.microsoft.com/office/drawing/2014/main" id="{BF090045-B7B4-04CA-2326-7055E3CE4A94}"/>
              </a:ext>
            </a:extLst>
          </p:cNvPr>
          <p:cNvSpPr txBox="1">
            <a:spLocks/>
          </p:cNvSpPr>
          <p:nvPr/>
        </p:nvSpPr>
        <p:spPr>
          <a:xfrm>
            <a:off x="319014" y="2347966"/>
            <a:ext cx="11558951" cy="2409775"/>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400" dirty="0">
                <a:solidFill>
                  <a:schemeClr val="tx1"/>
                </a:solidFill>
              </a:rPr>
              <a:t>	The American Institute of certified public accountants defines accounting as “The art of accounting, classifying and summarizing in a significant manner and in terms of money transactions and events which are in part of at least of a financial character and interpreting the results there of-</a:t>
            </a:r>
            <a:endParaRPr lang="en-US" sz="3200" dirty="0">
              <a:solidFill>
                <a:schemeClr val="tx1"/>
              </a:solidFill>
            </a:endParaRPr>
          </a:p>
          <a:p>
            <a:pPr>
              <a:lnSpc>
                <a:spcPct val="150000"/>
              </a:lnSpc>
            </a:pPr>
            <a:endParaRPr lang="en-US" sz="3200" dirty="0">
              <a:solidFill>
                <a:schemeClr val="tx1"/>
              </a:solidFill>
            </a:endParaRPr>
          </a:p>
          <a:p>
            <a:pPr>
              <a:lnSpc>
                <a:spcPct val="150000"/>
              </a:lnSpc>
            </a:pPr>
            <a:endParaRPr lang="en-US" sz="3200" dirty="0">
              <a:solidFill>
                <a:schemeClr val="tx1"/>
              </a:solidFill>
            </a:endParaRPr>
          </a:p>
          <a:p>
            <a:pPr>
              <a:lnSpc>
                <a:spcPct val="150000"/>
              </a:lnSpc>
            </a:pPr>
            <a:endParaRPr lang="en-US" sz="3200" dirty="0">
              <a:solidFill>
                <a:schemeClr val="tx1"/>
              </a:solidFill>
            </a:endParaRPr>
          </a:p>
          <a:p>
            <a:pPr>
              <a:lnSpc>
                <a:spcPct val="150000"/>
              </a:lnSpc>
            </a:pPr>
            <a:endParaRPr lang="en-US" sz="3200" dirty="0">
              <a:solidFill>
                <a:schemeClr val="tx1"/>
              </a:solidFill>
            </a:endParaRPr>
          </a:p>
          <a:p>
            <a:pPr>
              <a:lnSpc>
                <a:spcPct val="150000"/>
              </a:lnSpc>
            </a:pPr>
            <a:endParaRPr lang="en-US" sz="3200" dirty="0">
              <a:solidFill>
                <a:schemeClr val="tx1"/>
              </a:solidFill>
            </a:endParaRPr>
          </a:p>
          <a:p>
            <a:pPr>
              <a:lnSpc>
                <a:spcPct val="150000"/>
              </a:lnSpc>
            </a:pPr>
            <a:endParaRPr lang="en-IN" sz="3200" dirty="0">
              <a:solidFill>
                <a:schemeClr val="tx1"/>
              </a:solidFill>
            </a:endParaRPr>
          </a:p>
        </p:txBody>
      </p:sp>
      <p:sp>
        <p:nvSpPr>
          <p:cNvPr id="2" name="Subtitle 2">
            <a:extLst>
              <a:ext uri="{FF2B5EF4-FFF2-40B4-BE49-F238E27FC236}">
                <a16:creationId xmlns:a16="http://schemas.microsoft.com/office/drawing/2014/main" id="{2FDEA112-6DD0-57F4-A1E5-BDEBF0A58BEC}"/>
              </a:ext>
            </a:extLst>
          </p:cNvPr>
          <p:cNvSpPr txBox="1">
            <a:spLocks/>
          </p:cNvSpPr>
          <p:nvPr/>
        </p:nvSpPr>
        <p:spPr>
          <a:xfrm>
            <a:off x="471414" y="484777"/>
            <a:ext cx="11130036" cy="700424"/>
          </a:xfrm>
          <a:prstGeom prst="rect">
            <a:avLst/>
          </a:prstGeom>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gn="ctr"/>
            <a:r>
              <a:rPr lang="en-US" sz="4000" b="1" dirty="0">
                <a:solidFill>
                  <a:schemeClr val="tx1"/>
                </a:solidFill>
              </a:rPr>
              <a:t>Module -1  Introduction to Accounting </a:t>
            </a:r>
            <a:endParaRPr lang="en-IN" sz="4000" b="1" dirty="0">
              <a:solidFill>
                <a:schemeClr val="tx1"/>
              </a:solidFill>
            </a:endParaRPr>
          </a:p>
        </p:txBody>
      </p:sp>
    </p:spTree>
    <p:extLst>
      <p:ext uri="{BB962C8B-B14F-4D97-AF65-F5344CB8AC3E}">
        <p14:creationId xmlns:p14="http://schemas.microsoft.com/office/powerpoint/2010/main" val="75645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8DE154D9-A1F1-AB4E-CB2A-2FB269420320}"/>
              </a:ext>
            </a:extLst>
          </p:cNvPr>
          <p:cNvSpPr txBox="1">
            <a:spLocks/>
          </p:cNvSpPr>
          <p:nvPr/>
        </p:nvSpPr>
        <p:spPr>
          <a:xfrm>
            <a:off x="512978" y="4827537"/>
            <a:ext cx="11558951" cy="105756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457200" indent="-457200">
              <a:lnSpc>
                <a:spcPct val="150000"/>
              </a:lnSpc>
              <a:buFont typeface="+mj-lt"/>
              <a:buAutoNum type="arabicPeriod"/>
            </a:pPr>
            <a:endParaRPr lang="en-US" sz="2000" dirty="0">
              <a:solidFill>
                <a:schemeClr val="tx1"/>
              </a:solidFill>
            </a:endParaRPr>
          </a:p>
          <a:p>
            <a:pPr marL="457200" indent="-457200">
              <a:lnSpc>
                <a:spcPct val="150000"/>
              </a:lnSpc>
              <a:buFont typeface="+mj-lt"/>
              <a:buAutoNum type="arabicPeriod"/>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US" sz="2000" dirty="0">
              <a:solidFill>
                <a:schemeClr val="tx1"/>
              </a:solidFill>
            </a:endParaRPr>
          </a:p>
          <a:p>
            <a:pPr>
              <a:lnSpc>
                <a:spcPct val="150000"/>
              </a:lnSpc>
            </a:pPr>
            <a:endParaRPr lang="en-IN" sz="2000" dirty="0">
              <a:solidFill>
                <a:schemeClr val="tx1"/>
              </a:solidFill>
            </a:endParaRPr>
          </a:p>
        </p:txBody>
      </p:sp>
      <p:sp>
        <p:nvSpPr>
          <p:cNvPr id="7" name="Subtitle 2">
            <a:extLst>
              <a:ext uri="{FF2B5EF4-FFF2-40B4-BE49-F238E27FC236}">
                <a16:creationId xmlns:a16="http://schemas.microsoft.com/office/drawing/2014/main" id="{7069F31D-DA04-DEE6-4145-9916DC2797C0}"/>
              </a:ext>
            </a:extLst>
          </p:cNvPr>
          <p:cNvSpPr txBox="1">
            <a:spLocks/>
          </p:cNvSpPr>
          <p:nvPr/>
        </p:nvSpPr>
        <p:spPr>
          <a:xfrm>
            <a:off x="402141" y="397164"/>
            <a:ext cx="11056434" cy="105756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4000" b="1" dirty="0">
                <a:solidFill>
                  <a:schemeClr val="tx1"/>
                </a:solidFill>
              </a:rPr>
              <a:t>Objectives of Accounting - </a:t>
            </a:r>
            <a:endParaRPr lang="en-IN" sz="4000" b="1" dirty="0">
              <a:solidFill>
                <a:schemeClr val="tx1"/>
              </a:solidFill>
            </a:endParaRPr>
          </a:p>
        </p:txBody>
      </p:sp>
      <p:sp>
        <p:nvSpPr>
          <p:cNvPr id="8" name="Subtitle 2">
            <a:extLst>
              <a:ext uri="{FF2B5EF4-FFF2-40B4-BE49-F238E27FC236}">
                <a16:creationId xmlns:a16="http://schemas.microsoft.com/office/drawing/2014/main" id="{05510414-9D38-1A74-3FCE-5E88468D7BF5}"/>
              </a:ext>
            </a:extLst>
          </p:cNvPr>
          <p:cNvSpPr txBox="1">
            <a:spLocks/>
          </p:cNvSpPr>
          <p:nvPr/>
        </p:nvSpPr>
        <p:spPr>
          <a:xfrm>
            <a:off x="581888" y="1101723"/>
            <a:ext cx="938414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1. To maintain systematic record.</a:t>
            </a:r>
          </a:p>
        </p:txBody>
      </p:sp>
      <p:sp>
        <p:nvSpPr>
          <p:cNvPr id="9" name="Subtitle 2">
            <a:extLst>
              <a:ext uri="{FF2B5EF4-FFF2-40B4-BE49-F238E27FC236}">
                <a16:creationId xmlns:a16="http://schemas.microsoft.com/office/drawing/2014/main" id="{F398E258-8128-D001-B76F-8602E41E80CC}"/>
              </a:ext>
            </a:extLst>
          </p:cNvPr>
          <p:cNvSpPr txBox="1">
            <a:spLocks/>
          </p:cNvSpPr>
          <p:nvPr/>
        </p:nvSpPr>
        <p:spPr>
          <a:xfrm>
            <a:off x="581888" y="1790221"/>
            <a:ext cx="938414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2. To Ascertain Profit and Loss.</a:t>
            </a:r>
          </a:p>
        </p:txBody>
      </p:sp>
      <p:sp>
        <p:nvSpPr>
          <p:cNvPr id="10" name="Subtitle 2">
            <a:extLst>
              <a:ext uri="{FF2B5EF4-FFF2-40B4-BE49-F238E27FC236}">
                <a16:creationId xmlns:a16="http://schemas.microsoft.com/office/drawing/2014/main" id="{5A7E0B7E-8BEE-63D5-E6C9-3ED5C1E8CB5E}"/>
              </a:ext>
            </a:extLst>
          </p:cNvPr>
          <p:cNvSpPr txBox="1">
            <a:spLocks/>
          </p:cNvSpPr>
          <p:nvPr/>
        </p:nvSpPr>
        <p:spPr>
          <a:xfrm>
            <a:off x="596171" y="2481801"/>
            <a:ext cx="938414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3. To Ascertain Financial position.</a:t>
            </a:r>
          </a:p>
        </p:txBody>
      </p:sp>
      <p:sp>
        <p:nvSpPr>
          <p:cNvPr id="11" name="Subtitle 2">
            <a:extLst>
              <a:ext uri="{FF2B5EF4-FFF2-40B4-BE49-F238E27FC236}">
                <a16:creationId xmlns:a16="http://schemas.microsoft.com/office/drawing/2014/main" id="{01C028B5-A674-CF1D-2A0C-9F4320119A74}"/>
              </a:ext>
            </a:extLst>
          </p:cNvPr>
          <p:cNvSpPr txBox="1">
            <a:spLocks/>
          </p:cNvSpPr>
          <p:nvPr/>
        </p:nvSpPr>
        <p:spPr>
          <a:xfrm>
            <a:off x="581888" y="3144363"/>
            <a:ext cx="938414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4. To Provide Information to users.</a:t>
            </a:r>
          </a:p>
          <a:p>
            <a:pPr>
              <a:lnSpc>
                <a:spcPct val="150000"/>
              </a:lnSpc>
            </a:pPr>
            <a:endParaRPr lang="en-US" sz="2800" dirty="0">
              <a:solidFill>
                <a:schemeClr val="tx1"/>
              </a:solidFill>
            </a:endParaRPr>
          </a:p>
        </p:txBody>
      </p:sp>
      <p:sp>
        <p:nvSpPr>
          <p:cNvPr id="12" name="Subtitle 2">
            <a:extLst>
              <a:ext uri="{FF2B5EF4-FFF2-40B4-BE49-F238E27FC236}">
                <a16:creationId xmlns:a16="http://schemas.microsoft.com/office/drawing/2014/main" id="{C0796E8E-007E-A3D9-F2B1-1CB7E0B8FBCB}"/>
              </a:ext>
            </a:extLst>
          </p:cNvPr>
          <p:cNvSpPr txBox="1">
            <a:spLocks/>
          </p:cNvSpPr>
          <p:nvPr/>
        </p:nvSpPr>
        <p:spPr>
          <a:xfrm>
            <a:off x="581888" y="3793065"/>
            <a:ext cx="938414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5. To Assist in Management.</a:t>
            </a:r>
          </a:p>
          <a:p>
            <a:pPr>
              <a:lnSpc>
                <a:spcPct val="150000"/>
              </a:lnSpc>
            </a:pPr>
            <a:endParaRPr lang="en-US" sz="2800" dirty="0">
              <a:solidFill>
                <a:schemeClr val="tx1"/>
              </a:solidFill>
            </a:endParaRPr>
          </a:p>
        </p:txBody>
      </p:sp>
      <p:sp>
        <p:nvSpPr>
          <p:cNvPr id="13" name="Subtitle 2">
            <a:extLst>
              <a:ext uri="{FF2B5EF4-FFF2-40B4-BE49-F238E27FC236}">
                <a16:creationId xmlns:a16="http://schemas.microsoft.com/office/drawing/2014/main" id="{2EE62913-4B46-F8C1-36A3-0707213D897A}"/>
              </a:ext>
            </a:extLst>
          </p:cNvPr>
          <p:cNvSpPr txBox="1">
            <a:spLocks/>
          </p:cNvSpPr>
          <p:nvPr/>
        </p:nvSpPr>
        <p:spPr>
          <a:xfrm>
            <a:off x="581888" y="4419457"/>
            <a:ext cx="9384147" cy="735491"/>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6. To provide evidence in legal Matters.</a:t>
            </a:r>
          </a:p>
          <a:p>
            <a:pPr>
              <a:lnSpc>
                <a:spcPct val="150000"/>
              </a:lnSpc>
            </a:pPr>
            <a:endParaRPr lang="en-US" sz="2800" dirty="0">
              <a:solidFill>
                <a:schemeClr val="tx1"/>
              </a:solidFill>
            </a:endParaRPr>
          </a:p>
        </p:txBody>
      </p:sp>
      <p:sp>
        <p:nvSpPr>
          <p:cNvPr id="14" name="Subtitle 2">
            <a:extLst>
              <a:ext uri="{FF2B5EF4-FFF2-40B4-BE49-F238E27FC236}">
                <a16:creationId xmlns:a16="http://schemas.microsoft.com/office/drawing/2014/main" id="{CC8B0909-E470-77EB-36E6-0327C442C226}"/>
              </a:ext>
            </a:extLst>
          </p:cNvPr>
          <p:cNvSpPr txBox="1">
            <a:spLocks/>
          </p:cNvSpPr>
          <p:nvPr/>
        </p:nvSpPr>
        <p:spPr>
          <a:xfrm>
            <a:off x="581888" y="5119631"/>
            <a:ext cx="9384147" cy="88731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7. To help in determining Tax Liability.</a:t>
            </a:r>
          </a:p>
          <a:p>
            <a:pPr>
              <a:lnSpc>
                <a:spcPct val="150000"/>
              </a:lnSpc>
            </a:pPr>
            <a:endParaRPr lang="en-US" sz="2800" dirty="0">
              <a:solidFill>
                <a:schemeClr val="tx1"/>
              </a:solidFill>
            </a:endParaRPr>
          </a:p>
        </p:txBody>
      </p:sp>
    </p:spTree>
    <p:extLst>
      <p:ext uri="{BB962C8B-B14F-4D97-AF65-F5344CB8AC3E}">
        <p14:creationId xmlns:p14="http://schemas.microsoft.com/office/powerpoint/2010/main" val="1936572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0F6E-1EF5-94F7-3ECE-88A5792FD24C}"/>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3B542F3A-2EBF-4C61-5DE3-6911C75ABA30}"/>
              </a:ext>
            </a:extLst>
          </p:cNvPr>
          <p:cNvSpPr txBox="1">
            <a:spLocks/>
          </p:cNvSpPr>
          <p:nvPr/>
        </p:nvSpPr>
        <p:spPr>
          <a:xfrm>
            <a:off x="512978" y="5403273"/>
            <a:ext cx="11558951" cy="105756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457200" indent="-457200">
              <a:lnSpc>
                <a:spcPct val="150000"/>
              </a:lnSpc>
              <a:buFont typeface="+mj-lt"/>
              <a:buAutoNum type="arabicPeriod"/>
            </a:pPr>
            <a:endParaRPr lang="en-US" sz="2000" dirty="0">
              <a:solidFill>
                <a:srgbClr val="002060"/>
              </a:solidFill>
            </a:endParaRPr>
          </a:p>
          <a:p>
            <a:pPr marL="457200" indent="-457200">
              <a:lnSpc>
                <a:spcPct val="150000"/>
              </a:lnSpc>
              <a:buFont typeface="+mj-lt"/>
              <a:buAutoNum type="arabicPeriod"/>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US" sz="2000" dirty="0">
              <a:solidFill>
                <a:srgbClr val="002060"/>
              </a:solidFill>
            </a:endParaRPr>
          </a:p>
          <a:p>
            <a:pPr>
              <a:lnSpc>
                <a:spcPct val="150000"/>
              </a:lnSpc>
            </a:pPr>
            <a:endParaRPr lang="en-IN" sz="2000" dirty="0">
              <a:solidFill>
                <a:srgbClr val="002060"/>
              </a:solidFill>
            </a:endParaRPr>
          </a:p>
        </p:txBody>
      </p:sp>
      <p:sp>
        <p:nvSpPr>
          <p:cNvPr id="7" name="Subtitle 2">
            <a:extLst>
              <a:ext uri="{FF2B5EF4-FFF2-40B4-BE49-F238E27FC236}">
                <a16:creationId xmlns:a16="http://schemas.microsoft.com/office/drawing/2014/main" id="{4AC69A6E-3152-AE38-020A-52953DAFC207}"/>
              </a:ext>
            </a:extLst>
          </p:cNvPr>
          <p:cNvSpPr txBox="1">
            <a:spLocks/>
          </p:cNvSpPr>
          <p:nvPr/>
        </p:nvSpPr>
        <p:spPr>
          <a:xfrm>
            <a:off x="402141" y="397165"/>
            <a:ext cx="8210407" cy="700424"/>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3200" b="1" dirty="0">
                <a:solidFill>
                  <a:schemeClr val="tx1"/>
                </a:solidFill>
              </a:rPr>
              <a:t>Types of Accounting –</a:t>
            </a:r>
            <a:endParaRPr lang="en-IN" sz="3200" b="1" dirty="0">
              <a:solidFill>
                <a:schemeClr val="tx1"/>
              </a:solidFill>
            </a:endParaRPr>
          </a:p>
          <a:p>
            <a:pPr marL="342900" indent="-342900">
              <a:buFont typeface="Wingdings" panose="05000000000000000000" pitchFamily="2" charset="2"/>
              <a:buChar char="Ø"/>
            </a:pPr>
            <a:endParaRPr lang="en-IN" sz="3200" b="1" dirty="0">
              <a:solidFill>
                <a:schemeClr val="tx1"/>
              </a:solidFill>
            </a:endParaRPr>
          </a:p>
        </p:txBody>
      </p:sp>
      <p:sp>
        <p:nvSpPr>
          <p:cNvPr id="8" name="Subtitle 2">
            <a:extLst>
              <a:ext uri="{FF2B5EF4-FFF2-40B4-BE49-F238E27FC236}">
                <a16:creationId xmlns:a16="http://schemas.microsoft.com/office/drawing/2014/main" id="{6D05B46E-1039-07F8-603E-A42502856B15}"/>
              </a:ext>
            </a:extLst>
          </p:cNvPr>
          <p:cNvSpPr txBox="1">
            <a:spLocks/>
          </p:cNvSpPr>
          <p:nvPr/>
        </p:nvSpPr>
        <p:spPr>
          <a:xfrm>
            <a:off x="512978" y="939797"/>
            <a:ext cx="11102760" cy="611138"/>
          </a:xfrm>
          <a:prstGeom prst="rect">
            <a:avLst/>
          </a:prstGeom>
        </p:spPr>
        <p:txBody>
          <a:bodyPr vert="horz" lIns="91440" tIns="45720" rIns="91440" bIns="45720" rtlCol="0" anchor="t">
            <a:normAutofit fontScale="92500" lnSpcReduction="10000"/>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There are mainly three type of Accounting as shown in the below Diagram.</a:t>
            </a:r>
          </a:p>
        </p:txBody>
      </p:sp>
      <p:sp>
        <p:nvSpPr>
          <p:cNvPr id="9" name="Subtitle 2">
            <a:extLst>
              <a:ext uri="{FF2B5EF4-FFF2-40B4-BE49-F238E27FC236}">
                <a16:creationId xmlns:a16="http://schemas.microsoft.com/office/drawing/2014/main" id="{3788C8CC-F6F3-F54D-3BFE-98FD89314A9B}"/>
              </a:ext>
            </a:extLst>
          </p:cNvPr>
          <p:cNvSpPr txBox="1">
            <a:spLocks/>
          </p:cNvSpPr>
          <p:nvPr/>
        </p:nvSpPr>
        <p:spPr>
          <a:xfrm>
            <a:off x="581888" y="1665863"/>
            <a:ext cx="9384147" cy="842896"/>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3200" dirty="0">
                <a:solidFill>
                  <a:schemeClr val="tx1"/>
                </a:solidFill>
              </a:rPr>
              <a:t>1. Financial Accounting.</a:t>
            </a:r>
          </a:p>
        </p:txBody>
      </p:sp>
      <p:sp>
        <p:nvSpPr>
          <p:cNvPr id="10" name="Subtitle 2">
            <a:extLst>
              <a:ext uri="{FF2B5EF4-FFF2-40B4-BE49-F238E27FC236}">
                <a16:creationId xmlns:a16="http://schemas.microsoft.com/office/drawing/2014/main" id="{3F726C83-3852-AA9C-8EE6-BA1DDDB6C4A6}"/>
              </a:ext>
            </a:extLst>
          </p:cNvPr>
          <p:cNvSpPr txBox="1">
            <a:spLocks/>
          </p:cNvSpPr>
          <p:nvPr/>
        </p:nvSpPr>
        <p:spPr>
          <a:xfrm>
            <a:off x="581888" y="2600336"/>
            <a:ext cx="9384147" cy="842896"/>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3200" dirty="0">
                <a:solidFill>
                  <a:schemeClr val="tx1"/>
                </a:solidFill>
              </a:rPr>
              <a:t>2. Management Accounting.</a:t>
            </a:r>
          </a:p>
        </p:txBody>
      </p:sp>
      <p:sp>
        <p:nvSpPr>
          <p:cNvPr id="12" name="Subtitle 2">
            <a:extLst>
              <a:ext uri="{FF2B5EF4-FFF2-40B4-BE49-F238E27FC236}">
                <a16:creationId xmlns:a16="http://schemas.microsoft.com/office/drawing/2014/main" id="{057EECCD-E8AF-68F7-7096-2C78CB9B033C}"/>
              </a:ext>
            </a:extLst>
          </p:cNvPr>
          <p:cNvSpPr txBox="1">
            <a:spLocks/>
          </p:cNvSpPr>
          <p:nvPr/>
        </p:nvSpPr>
        <p:spPr>
          <a:xfrm>
            <a:off x="581888" y="3454399"/>
            <a:ext cx="938414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3200" dirty="0">
                <a:solidFill>
                  <a:schemeClr val="tx1"/>
                </a:solidFill>
              </a:rPr>
              <a:t>3. Cost Accounting.</a:t>
            </a:r>
            <a:br>
              <a:rPr lang="en-US" sz="3200" dirty="0">
                <a:solidFill>
                  <a:schemeClr val="tx1"/>
                </a:solidFill>
              </a:rPr>
            </a:br>
            <a:r>
              <a:rPr lang="en-US" sz="3200" dirty="0">
                <a:solidFill>
                  <a:schemeClr val="tx1"/>
                </a:solidFill>
              </a:rPr>
              <a:t>4. Tax Accounting.</a:t>
            </a:r>
            <a:br>
              <a:rPr lang="en-US" sz="3200" dirty="0">
                <a:solidFill>
                  <a:schemeClr val="tx1"/>
                </a:solidFill>
              </a:rPr>
            </a:br>
            <a:r>
              <a:rPr lang="en-US" sz="3200" dirty="0">
                <a:solidFill>
                  <a:schemeClr val="tx1"/>
                </a:solidFill>
              </a:rPr>
              <a:t>5. Auditing. </a:t>
            </a:r>
            <a:br>
              <a:rPr lang="en-US" sz="3200" dirty="0">
                <a:solidFill>
                  <a:schemeClr val="tx1"/>
                </a:solidFill>
              </a:rPr>
            </a:br>
            <a:r>
              <a:rPr lang="en-US" sz="3200" dirty="0">
                <a:solidFill>
                  <a:schemeClr val="tx1"/>
                </a:solidFill>
              </a:rPr>
              <a:t>6. </a:t>
            </a:r>
            <a:r>
              <a:rPr lang="en-US" sz="3200" dirty="0" err="1">
                <a:solidFill>
                  <a:schemeClr val="tx1"/>
                </a:solidFill>
              </a:rPr>
              <a:t>Govt</a:t>
            </a:r>
            <a:r>
              <a:rPr lang="en-US" sz="3200" dirty="0">
                <a:solidFill>
                  <a:schemeClr val="tx1"/>
                </a:solidFill>
              </a:rPr>
              <a:t> Accounting.</a:t>
            </a:r>
          </a:p>
          <a:p>
            <a:pPr>
              <a:lnSpc>
                <a:spcPct val="150000"/>
              </a:lnSpc>
            </a:pPr>
            <a:endParaRPr lang="en-US" sz="3200" dirty="0">
              <a:solidFill>
                <a:schemeClr val="tx1"/>
              </a:solidFill>
            </a:endParaRPr>
          </a:p>
        </p:txBody>
      </p:sp>
    </p:spTree>
    <p:extLst>
      <p:ext uri="{BB962C8B-B14F-4D97-AF65-F5344CB8AC3E}">
        <p14:creationId xmlns:p14="http://schemas.microsoft.com/office/powerpoint/2010/main" val="2631688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6329" y="44452"/>
            <a:ext cx="11686596" cy="5078313"/>
          </a:xfrm>
          <a:prstGeom prst="rect">
            <a:avLst/>
          </a:prstGeom>
        </p:spPr>
        <p:txBody>
          <a:bodyPr wrap="square">
            <a:spAutoFit/>
          </a:bodyPr>
          <a:lstStyle/>
          <a:p>
            <a:pPr>
              <a:lnSpc>
                <a:spcPct val="150000"/>
              </a:lnSpc>
            </a:pPr>
            <a:r>
              <a:rPr lang="en-US" sz="3200" dirty="0"/>
              <a:t>1. </a:t>
            </a:r>
            <a:r>
              <a:rPr lang="en-US" sz="3200" b="1" dirty="0"/>
              <a:t>Financial Accounting -  </a:t>
            </a:r>
          </a:p>
          <a:p>
            <a:pPr>
              <a:lnSpc>
                <a:spcPct val="150000"/>
              </a:lnSpc>
            </a:pPr>
            <a:r>
              <a:rPr lang="en-US" sz="3200" dirty="0"/>
              <a:t>	</a:t>
            </a:r>
            <a:r>
              <a:rPr lang="en-US" sz="2400" dirty="0"/>
              <a:t>Financial accounting is the process of recording, summarizing, and reporting a business's financial transactions to stakeholders like investors, creditors, and regulators. It involves preparing financial statements, such as the income statement, balance sheet, and cash flow statement, that provide a snapshot of a company's financial performance and position. This external-facing process helps external parties assess the company's profitability and overall financial health.</a:t>
            </a:r>
          </a:p>
          <a:p>
            <a:pPr>
              <a:lnSpc>
                <a:spcPct val="150000"/>
              </a:lnSpc>
            </a:pPr>
            <a:endParaRPr lang="en-US" sz="3200" dirty="0"/>
          </a:p>
        </p:txBody>
      </p:sp>
    </p:spTree>
    <p:extLst>
      <p:ext uri="{BB962C8B-B14F-4D97-AF65-F5344CB8AC3E}">
        <p14:creationId xmlns:p14="http://schemas.microsoft.com/office/powerpoint/2010/main" val="3088026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647DD-9777-5A69-4492-1D04911C98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516321-7451-7497-D156-AD67E0195E5D}"/>
              </a:ext>
            </a:extLst>
          </p:cNvPr>
          <p:cNvSpPr/>
          <p:nvPr/>
        </p:nvSpPr>
        <p:spPr>
          <a:xfrm>
            <a:off x="286328" y="44452"/>
            <a:ext cx="11615159" cy="3231654"/>
          </a:xfrm>
          <a:prstGeom prst="rect">
            <a:avLst/>
          </a:prstGeom>
        </p:spPr>
        <p:txBody>
          <a:bodyPr wrap="square">
            <a:spAutoFit/>
          </a:bodyPr>
          <a:lstStyle/>
          <a:p>
            <a:pPr>
              <a:lnSpc>
                <a:spcPct val="150000"/>
              </a:lnSpc>
            </a:pPr>
            <a:r>
              <a:rPr lang="en-US" sz="3200" b="1" dirty="0"/>
              <a:t>2. Management accounting -</a:t>
            </a:r>
            <a:r>
              <a:rPr lang="en-US" sz="3200" dirty="0"/>
              <a:t>		</a:t>
            </a:r>
          </a:p>
          <a:p>
            <a:pPr>
              <a:lnSpc>
                <a:spcPct val="150000"/>
              </a:lnSpc>
            </a:pPr>
            <a:r>
              <a:rPr lang="en-US" sz="3200" dirty="0"/>
              <a:t>	</a:t>
            </a:r>
            <a:r>
              <a:rPr lang="en-US" sz="2400" dirty="0"/>
              <a:t>Management accounting is using financial and non-financial information to help internal managers make decisions, such as creating budgets, analyzing costs, and evaluating performance. Unlike financial accounting, which is for external reporting, management accounting is used within a company to plan, control, and guide operations.</a:t>
            </a:r>
          </a:p>
        </p:txBody>
      </p:sp>
    </p:spTree>
    <p:extLst>
      <p:ext uri="{BB962C8B-B14F-4D97-AF65-F5344CB8AC3E}">
        <p14:creationId xmlns:p14="http://schemas.microsoft.com/office/powerpoint/2010/main" val="376588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027" y="-8676"/>
            <a:ext cx="11743035" cy="6278642"/>
          </a:xfrm>
          <a:prstGeom prst="rect">
            <a:avLst/>
          </a:prstGeom>
        </p:spPr>
        <p:txBody>
          <a:bodyPr wrap="square">
            <a:spAutoFit/>
          </a:bodyPr>
          <a:lstStyle/>
          <a:p>
            <a:pPr>
              <a:lnSpc>
                <a:spcPct val="150000"/>
              </a:lnSpc>
            </a:pPr>
            <a:r>
              <a:rPr lang="en-US" sz="2800" b="1" dirty="0"/>
              <a:t>3. </a:t>
            </a:r>
            <a:r>
              <a:rPr lang="en-US" sz="3200" b="1" dirty="0"/>
              <a:t>Cost Accounting -</a:t>
            </a:r>
          </a:p>
          <a:p>
            <a:pPr>
              <a:lnSpc>
                <a:spcPct val="150000"/>
              </a:lnSpc>
            </a:pPr>
            <a:r>
              <a:rPr lang="en-US" sz="2600" dirty="0"/>
              <a:t>	</a:t>
            </a:r>
            <a:r>
              <a:rPr lang="en-US" sz="2400" dirty="0"/>
              <a:t>Cost Accounting is classifying, recording an appropriate allocation of expenditure for the determination of the costs of products or services, and for the presentation of suitably arranged data for the purpose </a:t>
            </a:r>
            <a:r>
              <a:rPr lang="en-US" sz="2400" dirty="0" err="1"/>
              <a:t>ose</a:t>
            </a:r>
            <a:r>
              <a:rPr lang="en-US" sz="2400" dirty="0"/>
              <a:t> of control and guidance of management</a:t>
            </a:r>
            <a:r>
              <a:rPr lang="en-GB" altLang="en-US" sz="2400" dirty="0"/>
              <a:t>.</a:t>
            </a:r>
          </a:p>
          <a:p>
            <a:pPr>
              <a:lnSpc>
                <a:spcPct val="150000"/>
              </a:lnSpc>
            </a:pPr>
            <a:r>
              <a:rPr lang="en-US" sz="3200" b="1" dirty="0"/>
              <a:t>4. Tax accounting </a:t>
            </a:r>
            <a:r>
              <a:rPr lang="en-US" sz="2600" b="1" dirty="0"/>
              <a:t>-</a:t>
            </a:r>
            <a:br>
              <a:rPr lang="en-US" sz="2600" b="1" dirty="0"/>
            </a:br>
            <a:r>
              <a:rPr lang="en-US" sz="2600" b="1" dirty="0"/>
              <a:t>	</a:t>
            </a:r>
            <a:r>
              <a:rPr lang="en-US" sz="2400" dirty="0"/>
              <a:t>Tax accounting is a set of accounting methods that focuses specifically on calculating and managing tax liabilities for individuals, businesses, and other entities. Its primary purpose is to ensure compliance with tax laws and prepare information for tax authorities, rather than for public financial reporting.</a:t>
            </a:r>
          </a:p>
          <a:p>
            <a:pPr>
              <a:lnSpc>
                <a:spcPct val="150000"/>
              </a:lnSpc>
            </a:pPr>
            <a:endParaRPr lang="en-GB" altLang="en-US" sz="2600" dirty="0"/>
          </a:p>
        </p:txBody>
      </p:sp>
    </p:spTree>
    <p:extLst>
      <p:ext uri="{BB962C8B-B14F-4D97-AF65-F5344CB8AC3E}">
        <p14:creationId xmlns:p14="http://schemas.microsoft.com/office/powerpoint/2010/main" val="364532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6675" y="0"/>
            <a:ext cx="10179424" cy="2492990"/>
          </a:xfrm>
          <a:prstGeom prst="rect">
            <a:avLst/>
          </a:prstGeom>
        </p:spPr>
        <p:txBody>
          <a:bodyPr wrap="square">
            <a:spAutoFit/>
          </a:bodyPr>
          <a:lstStyle/>
          <a:p>
            <a:pPr>
              <a:lnSpc>
                <a:spcPct val="150000"/>
              </a:lnSpc>
            </a:pPr>
            <a:r>
              <a:rPr lang="en-GB" altLang="en-US" sz="3200" b="1" dirty="0"/>
              <a:t>5. Auditing-</a:t>
            </a:r>
            <a:br>
              <a:rPr lang="en-GB" altLang="en-US" sz="2400" dirty="0"/>
            </a:br>
            <a:r>
              <a:rPr lang="en-GB" altLang="en-US" sz="2400" dirty="0"/>
              <a:t>	Auditing is the systematic examination and verification of a company's financial records, statements, and operations to ensure their accuracy, completeness, and compliance with relevant standards</a:t>
            </a:r>
            <a:r>
              <a:rPr lang="en-GB" altLang="en-US" sz="2000" dirty="0"/>
              <a:t>. </a:t>
            </a:r>
          </a:p>
        </p:txBody>
      </p:sp>
      <p:sp>
        <p:nvSpPr>
          <p:cNvPr id="3" name="Rectangle 2"/>
          <p:cNvSpPr/>
          <p:nvPr/>
        </p:nvSpPr>
        <p:spPr>
          <a:xfrm>
            <a:off x="387471" y="2777810"/>
            <a:ext cx="10488705" cy="2862322"/>
          </a:xfrm>
          <a:prstGeom prst="rect">
            <a:avLst/>
          </a:prstGeom>
        </p:spPr>
        <p:txBody>
          <a:bodyPr wrap="square">
            <a:spAutoFit/>
          </a:bodyPr>
          <a:lstStyle/>
          <a:p>
            <a:pPr algn="just">
              <a:lnSpc>
                <a:spcPct val="150000"/>
              </a:lnSpc>
            </a:pPr>
            <a:r>
              <a:rPr lang="en-GB" altLang="en-US" sz="2400" dirty="0"/>
              <a:t>	In contrast, accounting is the process of recording, summarizing, and reporting financial transactions. Auditing provides an independent and objective assessment to build credibility for financial reports, while accounting creates the reports that are then audited.</a:t>
            </a:r>
          </a:p>
          <a:p>
            <a:pPr marL="342900" indent="-342900" algn="just">
              <a:lnSpc>
                <a:spcPct val="150000"/>
              </a:lnSpc>
              <a:buFont typeface="Arial" panose="020B0604020202020204" pitchFamily="34" charset="0"/>
              <a:buChar char="•"/>
            </a:pPr>
            <a:endParaRPr lang="en-GB" altLang="en-US" sz="2400" dirty="0"/>
          </a:p>
        </p:txBody>
      </p:sp>
    </p:spTree>
    <p:extLst>
      <p:ext uri="{BB962C8B-B14F-4D97-AF65-F5344CB8AC3E}">
        <p14:creationId xmlns:p14="http://schemas.microsoft.com/office/powerpoint/2010/main" val="4288789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258" y="49584"/>
            <a:ext cx="11662355" cy="3323987"/>
          </a:xfrm>
          <a:prstGeom prst="rect">
            <a:avLst/>
          </a:prstGeom>
        </p:spPr>
        <p:txBody>
          <a:bodyPr wrap="square">
            <a:spAutoFit/>
          </a:bodyPr>
          <a:lstStyle/>
          <a:p>
            <a:pPr>
              <a:lnSpc>
                <a:spcPct val="150000"/>
              </a:lnSpc>
            </a:pPr>
            <a:r>
              <a:rPr lang="en-GB" altLang="en-US" sz="2800" b="1" dirty="0"/>
              <a:t>6. </a:t>
            </a:r>
            <a:r>
              <a:rPr lang="en-GB" altLang="en-US" sz="2800" b="1" dirty="0" err="1"/>
              <a:t>Govt</a:t>
            </a:r>
            <a:r>
              <a:rPr lang="en-GB" altLang="en-US" sz="2800" b="1" dirty="0"/>
              <a:t> accounting-</a:t>
            </a:r>
            <a:r>
              <a:rPr lang="en-GB" altLang="en-US" sz="2800" dirty="0"/>
              <a:t> </a:t>
            </a:r>
          </a:p>
          <a:p>
            <a:pPr>
              <a:lnSpc>
                <a:spcPct val="150000"/>
              </a:lnSpc>
            </a:pPr>
            <a:r>
              <a:rPr lang="en-GB" altLang="en-US" sz="2800" dirty="0"/>
              <a:t>	Recording, classifying, and summarizing financial transactions of government entities, focusing primarily on transparency, accountability, provides a framework to ensure that taxpayer money is used efficiently, effectively, and in compliance with legal and regulatory requirements.</a:t>
            </a:r>
          </a:p>
        </p:txBody>
      </p:sp>
    </p:spTree>
    <p:extLst>
      <p:ext uri="{BB962C8B-B14F-4D97-AF65-F5344CB8AC3E}">
        <p14:creationId xmlns:p14="http://schemas.microsoft.com/office/powerpoint/2010/main" val="281070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258" y="49584"/>
            <a:ext cx="11662355" cy="671851"/>
          </a:xfrm>
          <a:prstGeom prst="rect">
            <a:avLst/>
          </a:prstGeom>
        </p:spPr>
        <p:txBody>
          <a:bodyPr wrap="square">
            <a:spAutoFit/>
          </a:bodyPr>
          <a:lstStyle/>
          <a:p>
            <a:pPr algn="ctr">
              <a:lnSpc>
                <a:spcPct val="150000"/>
              </a:lnSpc>
            </a:pPr>
            <a:r>
              <a:rPr lang="en-US" sz="2800" b="1" u="sng" dirty="0"/>
              <a:t>Users Of Accounting Information</a:t>
            </a:r>
          </a:p>
        </p:txBody>
      </p:sp>
      <p:pic>
        <p:nvPicPr>
          <p:cNvPr id="3" name="Picture 2" descr="users of accounting"/>
          <p:cNvPicPr>
            <a:picLocks noChangeAspect="1"/>
          </p:cNvPicPr>
          <p:nvPr/>
        </p:nvPicPr>
        <p:blipFill>
          <a:blip r:embed="rId2"/>
          <a:srcRect t="3157"/>
          <a:stretch>
            <a:fillRect/>
          </a:stretch>
        </p:blipFill>
        <p:spPr>
          <a:xfrm>
            <a:off x="1887855" y="884446"/>
            <a:ext cx="8416290" cy="5766435"/>
          </a:xfrm>
          <a:prstGeom prst="rect">
            <a:avLst/>
          </a:prstGeom>
        </p:spPr>
      </p:pic>
    </p:spTree>
    <p:extLst>
      <p:ext uri="{BB962C8B-B14F-4D97-AF65-F5344CB8AC3E}">
        <p14:creationId xmlns:p14="http://schemas.microsoft.com/office/powerpoint/2010/main" val="3181833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53A95F40-AB66-9F80-4B21-59A7D9A24F04}"/>
              </a:ext>
            </a:extLst>
          </p:cNvPr>
          <p:cNvSpPr txBox="1">
            <a:spLocks/>
          </p:cNvSpPr>
          <p:nvPr/>
        </p:nvSpPr>
        <p:spPr>
          <a:xfrm>
            <a:off x="187821" y="168557"/>
            <a:ext cx="11309570" cy="877844"/>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Need / Scope of Accounting –</a:t>
            </a:r>
            <a:endParaRPr lang="en-IN" sz="2800" b="1" dirty="0">
              <a:solidFill>
                <a:schemeClr val="tx1"/>
              </a:solidFill>
            </a:endParaRPr>
          </a:p>
        </p:txBody>
      </p:sp>
      <p:sp>
        <p:nvSpPr>
          <p:cNvPr id="6" name="Subtitle 2">
            <a:extLst>
              <a:ext uri="{FF2B5EF4-FFF2-40B4-BE49-F238E27FC236}">
                <a16:creationId xmlns:a16="http://schemas.microsoft.com/office/drawing/2014/main" id="{6E9A9474-5895-CE59-F3E6-1FBC1598F090}"/>
              </a:ext>
            </a:extLst>
          </p:cNvPr>
          <p:cNvSpPr txBox="1">
            <a:spLocks/>
          </p:cNvSpPr>
          <p:nvPr/>
        </p:nvSpPr>
        <p:spPr>
          <a:xfrm>
            <a:off x="581888" y="810817"/>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1. Business Forecasting.</a:t>
            </a:r>
          </a:p>
        </p:txBody>
      </p:sp>
      <p:sp>
        <p:nvSpPr>
          <p:cNvPr id="2" name="Subtitle 2">
            <a:extLst>
              <a:ext uri="{FF2B5EF4-FFF2-40B4-BE49-F238E27FC236}">
                <a16:creationId xmlns:a16="http://schemas.microsoft.com/office/drawing/2014/main" id="{79452D8A-F0CE-320D-BFF4-FA11F6923167}"/>
              </a:ext>
            </a:extLst>
          </p:cNvPr>
          <p:cNvSpPr txBox="1">
            <a:spLocks/>
          </p:cNvSpPr>
          <p:nvPr/>
        </p:nvSpPr>
        <p:spPr>
          <a:xfrm>
            <a:off x="581888" y="1538805"/>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2. Proper Decision Making.</a:t>
            </a:r>
          </a:p>
        </p:txBody>
      </p:sp>
      <p:sp>
        <p:nvSpPr>
          <p:cNvPr id="16" name="Subtitle 2">
            <a:extLst>
              <a:ext uri="{FF2B5EF4-FFF2-40B4-BE49-F238E27FC236}">
                <a16:creationId xmlns:a16="http://schemas.microsoft.com/office/drawing/2014/main" id="{D6E6FAE3-10D7-1027-F02E-E21A3F003272}"/>
              </a:ext>
            </a:extLst>
          </p:cNvPr>
          <p:cNvSpPr txBox="1">
            <a:spLocks/>
          </p:cNvSpPr>
          <p:nvPr/>
        </p:nvSpPr>
        <p:spPr>
          <a:xfrm>
            <a:off x="581888" y="2225661"/>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3. Correct Taxation.</a:t>
            </a:r>
          </a:p>
        </p:txBody>
      </p:sp>
      <p:sp>
        <p:nvSpPr>
          <p:cNvPr id="17" name="Subtitle 2">
            <a:extLst>
              <a:ext uri="{FF2B5EF4-FFF2-40B4-BE49-F238E27FC236}">
                <a16:creationId xmlns:a16="http://schemas.microsoft.com/office/drawing/2014/main" id="{A9FEEAE9-DDB6-67AC-BCB0-33029E8BC85C}"/>
              </a:ext>
            </a:extLst>
          </p:cNvPr>
          <p:cNvSpPr txBox="1">
            <a:spLocks/>
          </p:cNvSpPr>
          <p:nvPr/>
        </p:nvSpPr>
        <p:spPr>
          <a:xfrm>
            <a:off x="581888" y="2911459"/>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4. Analyzing the performance of the Business.</a:t>
            </a:r>
          </a:p>
        </p:txBody>
      </p:sp>
      <p:sp>
        <p:nvSpPr>
          <p:cNvPr id="18" name="Subtitle 2">
            <a:extLst>
              <a:ext uri="{FF2B5EF4-FFF2-40B4-BE49-F238E27FC236}">
                <a16:creationId xmlns:a16="http://schemas.microsoft.com/office/drawing/2014/main" id="{9D33338C-C859-8685-7D89-A0FB39A4C542}"/>
              </a:ext>
            </a:extLst>
          </p:cNvPr>
          <p:cNvSpPr txBox="1">
            <a:spLocks/>
          </p:cNvSpPr>
          <p:nvPr/>
        </p:nvSpPr>
        <p:spPr>
          <a:xfrm>
            <a:off x="581888" y="3650323"/>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5. Documentary Evidence.</a:t>
            </a:r>
          </a:p>
        </p:txBody>
      </p:sp>
      <p:sp>
        <p:nvSpPr>
          <p:cNvPr id="19" name="Subtitle 2">
            <a:extLst>
              <a:ext uri="{FF2B5EF4-FFF2-40B4-BE49-F238E27FC236}">
                <a16:creationId xmlns:a16="http://schemas.microsoft.com/office/drawing/2014/main" id="{BCDD443D-8F09-844A-10C8-D21343CAA4A8}"/>
              </a:ext>
            </a:extLst>
          </p:cNvPr>
          <p:cNvSpPr txBox="1">
            <a:spLocks/>
          </p:cNvSpPr>
          <p:nvPr/>
        </p:nvSpPr>
        <p:spPr>
          <a:xfrm>
            <a:off x="581887" y="4388512"/>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6. Helping in Realization of department.</a:t>
            </a:r>
          </a:p>
        </p:txBody>
      </p:sp>
      <p:sp>
        <p:nvSpPr>
          <p:cNvPr id="20" name="Subtitle 2">
            <a:extLst>
              <a:ext uri="{FF2B5EF4-FFF2-40B4-BE49-F238E27FC236}">
                <a16:creationId xmlns:a16="http://schemas.microsoft.com/office/drawing/2014/main" id="{21958D4E-3893-5B4B-C150-B1DF92F26478}"/>
              </a:ext>
            </a:extLst>
          </p:cNvPr>
          <p:cNvSpPr txBox="1">
            <a:spLocks/>
          </p:cNvSpPr>
          <p:nvPr/>
        </p:nvSpPr>
        <p:spPr>
          <a:xfrm>
            <a:off x="581886" y="5074310"/>
            <a:ext cx="8996221" cy="932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7. Preventing and Detecting Froud's.</a:t>
            </a:r>
          </a:p>
        </p:txBody>
      </p:sp>
    </p:spTree>
    <p:extLst>
      <p:ext uri="{BB962C8B-B14F-4D97-AF65-F5344CB8AC3E}">
        <p14:creationId xmlns:p14="http://schemas.microsoft.com/office/powerpoint/2010/main" val="425230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B0F3-970E-134A-8A80-D9C2E6295FA8}"/>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6C755338-EF54-3405-F971-AFF9E4875CEE}"/>
              </a:ext>
            </a:extLst>
          </p:cNvPr>
          <p:cNvSpPr txBox="1">
            <a:spLocks/>
          </p:cNvSpPr>
          <p:nvPr/>
        </p:nvSpPr>
        <p:spPr>
          <a:xfrm>
            <a:off x="159245" y="68549"/>
            <a:ext cx="11309570" cy="59961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3200" b="1" dirty="0">
                <a:solidFill>
                  <a:schemeClr val="tx1"/>
                </a:solidFill>
              </a:rPr>
              <a:t>Concepts of Accounting –</a:t>
            </a:r>
            <a:endParaRPr lang="en-IN" sz="3200" b="1" dirty="0">
              <a:solidFill>
                <a:schemeClr val="tx1"/>
              </a:solidFill>
            </a:endParaRPr>
          </a:p>
        </p:txBody>
      </p:sp>
      <p:sp>
        <p:nvSpPr>
          <p:cNvPr id="5" name="Subtitle 2">
            <a:extLst>
              <a:ext uri="{FF2B5EF4-FFF2-40B4-BE49-F238E27FC236}">
                <a16:creationId xmlns:a16="http://schemas.microsoft.com/office/drawing/2014/main" id="{11271C04-0116-6D74-A60D-953BAECEB431}"/>
              </a:ext>
            </a:extLst>
          </p:cNvPr>
          <p:cNvSpPr txBox="1">
            <a:spLocks/>
          </p:cNvSpPr>
          <p:nvPr/>
        </p:nvSpPr>
        <p:spPr>
          <a:xfrm>
            <a:off x="298943" y="747967"/>
            <a:ext cx="10391551" cy="469513"/>
          </a:xfrm>
          <a:prstGeom prst="rect">
            <a:avLst/>
          </a:prstGeom>
        </p:spPr>
        <p:txBody>
          <a:bodyPr vert="horz" lIns="91440" tIns="45720" rIns="91440" bIns="45720" rtlCol="0" anchor="t">
            <a:normAutofit fontScale="92500" lnSpcReduction="10000"/>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v"/>
            </a:pPr>
            <a:r>
              <a:rPr lang="en-US" sz="2800" b="1" u="sng" dirty="0">
                <a:solidFill>
                  <a:schemeClr val="tx1"/>
                </a:solidFill>
              </a:rPr>
              <a:t>Concepts –</a:t>
            </a:r>
            <a:endParaRPr lang="en-IN" sz="2800" b="1" u="sng" dirty="0">
              <a:solidFill>
                <a:schemeClr val="tx1"/>
              </a:solidFill>
            </a:endParaRPr>
          </a:p>
        </p:txBody>
      </p:sp>
      <p:sp>
        <p:nvSpPr>
          <p:cNvPr id="6" name="Subtitle 2">
            <a:extLst>
              <a:ext uri="{FF2B5EF4-FFF2-40B4-BE49-F238E27FC236}">
                <a16:creationId xmlns:a16="http://schemas.microsoft.com/office/drawing/2014/main" id="{02B07845-F7BE-876B-FE23-2749C83D1121}"/>
              </a:ext>
            </a:extLst>
          </p:cNvPr>
          <p:cNvSpPr txBox="1">
            <a:spLocks/>
          </p:cNvSpPr>
          <p:nvPr/>
        </p:nvSpPr>
        <p:spPr>
          <a:xfrm>
            <a:off x="581888" y="1139441"/>
            <a:ext cx="8996221" cy="750449"/>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1. Separate Entity Concept</a:t>
            </a:r>
          </a:p>
        </p:txBody>
      </p:sp>
      <p:sp>
        <p:nvSpPr>
          <p:cNvPr id="7" name="Subtitle 2">
            <a:extLst>
              <a:ext uri="{FF2B5EF4-FFF2-40B4-BE49-F238E27FC236}">
                <a16:creationId xmlns:a16="http://schemas.microsoft.com/office/drawing/2014/main" id="{BB052BD2-3CF7-FB9B-C09A-1236B7F3739A}"/>
              </a:ext>
            </a:extLst>
          </p:cNvPr>
          <p:cNvSpPr txBox="1">
            <a:spLocks/>
          </p:cNvSpPr>
          <p:nvPr/>
        </p:nvSpPr>
        <p:spPr>
          <a:xfrm>
            <a:off x="581887" y="1679843"/>
            <a:ext cx="8996221" cy="746594"/>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2. Going Concern Concept.</a:t>
            </a:r>
          </a:p>
        </p:txBody>
      </p:sp>
      <p:sp>
        <p:nvSpPr>
          <p:cNvPr id="8" name="Subtitle 2">
            <a:extLst>
              <a:ext uri="{FF2B5EF4-FFF2-40B4-BE49-F238E27FC236}">
                <a16:creationId xmlns:a16="http://schemas.microsoft.com/office/drawing/2014/main" id="{4B055CAE-EB6C-BA03-6CE0-B6ECFE4BA39C}"/>
              </a:ext>
            </a:extLst>
          </p:cNvPr>
          <p:cNvSpPr txBox="1">
            <a:spLocks/>
          </p:cNvSpPr>
          <p:nvPr/>
        </p:nvSpPr>
        <p:spPr>
          <a:xfrm>
            <a:off x="581886" y="2245980"/>
            <a:ext cx="8996221" cy="746594"/>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3. Money Measurement Concept.</a:t>
            </a:r>
          </a:p>
        </p:txBody>
      </p:sp>
      <p:sp>
        <p:nvSpPr>
          <p:cNvPr id="9" name="Subtitle 2">
            <a:extLst>
              <a:ext uri="{FF2B5EF4-FFF2-40B4-BE49-F238E27FC236}">
                <a16:creationId xmlns:a16="http://schemas.microsoft.com/office/drawing/2014/main" id="{E330B2F0-458D-E614-B95D-1A8452532C9D}"/>
              </a:ext>
            </a:extLst>
          </p:cNvPr>
          <p:cNvSpPr txBox="1">
            <a:spLocks/>
          </p:cNvSpPr>
          <p:nvPr/>
        </p:nvSpPr>
        <p:spPr>
          <a:xfrm>
            <a:off x="581888" y="2830041"/>
            <a:ext cx="9825663" cy="717411"/>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4. Accounting Period Concept.</a:t>
            </a:r>
          </a:p>
          <a:p>
            <a:pPr>
              <a:lnSpc>
                <a:spcPct val="150000"/>
              </a:lnSpc>
            </a:pPr>
            <a:endParaRPr lang="en-US" sz="2800" dirty="0">
              <a:solidFill>
                <a:schemeClr val="tx1"/>
              </a:solidFill>
            </a:endParaRPr>
          </a:p>
        </p:txBody>
      </p:sp>
      <p:sp>
        <p:nvSpPr>
          <p:cNvPr id="10" name="Subtitle 2">
            <a:extLst>
              <a:ext uri="{FF2B5EF4-FFF2-40B4-BE49-F238E27FC236}">
                <a16:creationId xmlns:a16="http://schemas.microsoft.com/office/drawing/2014/main" id="{E9C2282F-4C24-CF65-A0A7-9F7831ACFF9D}"/>
              </a:ext>
            </a:extLst>
          </p:cNvPr>
          <p:cNvSpPr txBox="1">
            <a:spLocks/>
          </p:cNvSpPr>
          <p:nvPr/>
        </p:nvSpPr>
        <p:spPr>
          <a:xfrm>
            <a:off x="581885" y="3343806"/>
            <a:ext cx="8996221" cy="73607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5. Cost Concept.</a:t>
            </a:r>
          </a:p>
          <a:p>
            <a:pPr>
              <a:lnSpc>
                <a:spcPct val="150000"/>
              </a:lnSpc>
            </a:pPr>
            <a:endParaRPr lang="en-US" sz="2800" dirty="0">
              <a:solidFill>
                <a:schemeClr val="tx1"/>
              </a:solidFill>
            </a:endParaRPr>
          </a:p>
        </p:txBody>
      </p:sp>
      <p:sp>
        <p:nvSpPr>
          <p:cNvPr id="11" name="Subtitle 2">
            <a:extLst>
              <a:ext uri="{FF2B5EF4-FFF2-40B4-BE49-F238E27FC236}">
                <a16:creationId xmlns:a16="http://schemas.microsoft.com/office/drawing/2014/main" id="{D82177F5-E4AC-F641-47DF-4F87A2D79793}"/>
              </a:ext>
            </a:extLst>
          </p:cNvPr>
          <p:cNvSpPr txBox="1">
            <a:spLocks/>
          </p:cNvSpPr>
          <p:nvPr/>
        </p:nvSpPr>
        <p:spPr>
          <a:xfrm>
            <a:off x="581884" y="3848008"/>
            <a:ext cx="8996221"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6. Dual Aspect Concept.</a:t>
            </a:r>
          </a:p>
          <a:p>
            <a:pPr>
              <a:lnSpc>
                <a:spcPct val="150000"/>
              </a:lnSpc>
            </a:pPr>
            <a:endParaRPr lang="en-US" sz="2800" dirty="0">
              <a:solidFill>
                <a:schemeClr val="tx1"/>
              </a:solidFill>
            </a:endParaRPr>
          </a:p>
        </p:txBody>
      </p:sp>
      <p:sp>
        <p:nvSpPr>
          <p:cNvPr id="12" name="Subtitle 2">
            <a:extLst>
              <a:ext uri="{FF2B5EF4-FFF2-40B4-BE49-F238E27FC236}">
                <a16:creationId xmlns:a16="http://schemas.microsoft.com/office/drawing/2014/main" id="{22EF4FC1-473D-2BAA-FEFC-627D0DDADEB0}"/>
              </a:ext>
            </a:extLst>
          </p:cNvPr>
          <p:cNvSpPr txBox="1">
            <a:spLocks/>
          </p:cNvSpPr>
          <p:nvPr/>
        </p:nvSpPr>
        <p:spPr>
          <a:xfrm>
            <a:off x="581888" y="4340529"/>
            <a:ext cx="8996221"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7. Accrual Concept.</a:t>
            </a:r>
          </a:p>
          <a:p>
            <a:pPr>
              <a:lnSpc>
                <a:spcPct val="150000"/>
              </a:lnSpc>
            </a:pPr>
            <a:endParaRPr lang="en-US" sz="2800" dirty="0">
              <a:solidFill>
                <a:schemeClr val="tx1"/>
              </a:solidFill>
            </a:endParaRPr>
          </a:p>
        </p:txBody>
      </p:sp>
      <p:sp>
        <p:nvSpPr>
          <p:cNvPr id="13" name="Subtitle 2">
            <a:extLst>
              <a:ext uri="{FF2B5EF4-FFF2-40B4-BE49-F238E27FC236}">
                <a16:creationId xmlns:a16="http://schemas.microsoft.com/office/drawing/2014/main" id="{8EFC0ED7-3A96-72DF-86E0-22309711C275}"/>
              </a:ext>
            </a:extLst>
          </p:cNvPr>
          <p:cNvSpPr txBox="1">
            <a:spLocks/>
          </p:cNvSpPr>
          <p:nvPr/>
        </p:nvSpPr>
        <p:spPr>
          <a:xfrm>
            <a:off x="581887" y="4884989"/>
            <a:ext cx="8996221"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8. Matching Concept </a:t>
            </a:r>
          </a:p>
        </p:txBody>
      </p:sp>
      <p:sp>
        <p:nvSpPr>
          <p:cNvPr id="14" name="Subtitle 2">
            <a:extLst>
              <a:ext uri="{FF2B5EF4-FFF2-40B4-BE49-F238E27FC236}">
                <a16:creationId xmlns:a16="http://schemas.microsoft.com/office/drawing/2014/main" id="{8CCBBC68-1DDF-FDA9-D7C3-6C14F6641FD4}"/>
              </a:ext>
            </a:extLst>
          </p:cNvPr>
          <p:cNvSpPr txBox="1">
            <a:spLocks/>
          </p:cNvSpPr>
          <p:nvPr/>
        </p:nvSpPr>
        <p:spPr>
          <a:xfrm>
            <a:off x="581887" y="5417488"/>
            <a:ext cx="8996221"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9. Realization concept.</a:t>
            </a:r>
          </a:p>
          <a:p>
            <a:pPr>
              <a:lnSpc>
                <a:spcPct val="150000"/>
              </a:lnSpc>
            </a:pPr>
            <a:endParaRPr lang="en-US" sz="2800" dirty="0">
              <a:solidFill>
                <a:schemeClr val="tx1"/>
              </a:solidFill>
            </a:endParaRPr>
          </a:p>
        </p:txBody>
      </p:sp>
      <p:sp>
        <p:nvSpPr>
          <p:cNvPr id="15" name="Subtitle 2">
            <a:extLst>
              <a:ext uri="{FF2B5EF4-FFF2-40B4-BE49-F238E27FC236}">
                <a16:creationId xmlns:a16="http://schemas.microsoft.com/office/drawing/2014/main" id="{F1E3DAD4-65EF-994C-FA6A-0E88F0A4CBD5}"/>
              </a:ext>
            </a:extLst>
          </p:cNvPr>
          <p:cNvSpPr txBox="1">
            <a:spLocks/>
          </p:cNvSpPr>
          <p:nvPr/>
        </p:nvSpPr>
        <p:spPr>
          <a:xfrm>
            <a:off x="581887" y="6010275"/>
            <a:ext cx="8996221"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10. Full Disclosure Concept.</a:t>
            </a:r>
          </a:p>
          <a:p>
            <a:pPr>
              <a:lnSpc>
                <a:spcPct val="150000"/>
              </a:lnSpc>
            </a:pPr>
            <a:endParaRPr lang="en-US" sz="2800" dirty="0">
              <a:solidFill>
                <a:schemeClr val="tx1"/>
              </a:solidFill>
            </a:endParaRPr>
          </a:p>
        </p:txBody>
      </p:sp>
    </p:spTree>
    <p:extLst>
      <p:ext uri="{BB962C8B-B14F-4D97-AF65-F5344CB8AC3E}">
        <p14:creationId xmlns:p14="http://schemas.microsoft.com/office/powerpoint/2010/main" val="3714914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E52D-3245-1051-D65C-6311E247429F}"/>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3FAE6C2D-FEFE-3D5A-381D-B85BA50743CF}"/>
              </a:ext>
            </a:extLst>
          </p:cNvPr>
          <p:cNvSpPr txBox="1">
            <a:spLocks/>
          </p:cNvSpPr>
          <p:nvPr/>
        </p:nvSpPr>
        <p:spPr>
          <a:xfrm>
            <a:off x="73523" y="111405"/>
            <a:ext cx="11309570" cy="61725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Separate Entity Concept–</a:t>
            </a:r>
            <a:endParaRPr lang="en-IN" sz="2800" b="1" dirty="0">
              <a:solidFill>
                <a:schemeClr val="tx1"/>
              </a:solidFill>
            </a:endParaRPr>
          </a:p>
        </p:txBody>
      </p:sp>
      <p:sp>
        <p:nvSpPr>
          <p:cNvPr id="10" name="Subtitle 2">
            <a:extLst>
              <a:ext uri="{FF2B5EF4-FFF2-40B4-BE49-F238E27FC236}">
                <a16:creationId xmlns:a16="http://schemas.microsoft.com/office/drawing/2014/main" id="{574E1D0A-0E10-A471-CA3F-2C70CE3F1D0E}"/>
              </a:ext>
            </a:extLst>
          </p:cNvPr>
          <p:cNvSpPr txBox="1">
            <a:spLocks/>
          </p:cNvSpPr>
          <p:nvPr/>
        </p:nvSpPr>
        <p:spPr>
          <a:xfrm>
            <a:off x="73522" y="518380"/>
            <a:ext cx="12118477" cy="2574992"/>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r>
              <a:rPr lang="en-US" sz="2400" dirty="0">
                <a:solidFill>
                  <a:schemeClr val="tx1"/>
                </a:solidFill>
              </a:rPr>
              <a:t>There is a presumption under Separate Entity Concept that as far as accounting is concerned the 'owners of a business organization' and the 'business organization itself are two independent and separate comities. The business transactions undertaken by the owner are altogether separate.</a:t>
            </a:r>
          </a:p>
          <a:p>
            <a:pPr>
              <a:lnSpc>
                <a:spcPct val="150000"/>
              </a:lnSpc>
            </a:pPr>
            <a:endParaRPr lang="en-US" sz="3200" dirty="0">
              <a:solidFill>
                <a:schemeClr val="tx1"/>
              </a:solidFill>
            </a:endParaRPr>
          </a:p>
        </p:txBody>
      </p:sp>
      <p:sp>
        <p:nvSpPr>
          <p:cNvPr id="2" name="Subtitle 2">
            <a:extLst>
              <a:ext uri="{FF2B5EF4-FFF2-40B4-BE49-F238E27FC236}">
                <a16:creationId xmlns:a16="http://schemas.microsoft.com/office/drawing/2014/main" id="{341F9D82-EEDC-4004-31AF-88E9D3B2D90D}"/>
              </a:ext>
            </a:extLst>
          </p:cNvPr>
          <p:cNvSpPr txBox="1">
            <a:spLocks/>
          </p:cNvSpPr>
          <p:nvPr/>
        </p:nvSpPr>
        <p:spPr>
          <a:xfrm>
            <a:off x="125901" y="3126091"/>
            <a:ext cx="11309570" cy="63853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Going Concern Concept –</a:t>
            </a:r>
            <a:endParaRPr lang="en-IN" sz="2800" b="1" dirty="0">
              <a:solidFill>
                <a:schemeClr val="tx1"/>
              </a:solidFill>
            </a:endParaRPr>
          </a:p>
        </p:txBody>
      </p:sp>
      <p:sp>
        <p:nvSpPr>
          <p:cNvPr id="3" name="Subtitle 2">
            <a:extLst>
              <a:ext uri="{FF2B5EF4-FFF2-40B4-BE49-F238E27FC236}">
                <a16:creationId xmlns:a16="http://schemas.microsoft.com/office/drawing/2014/main" id="{5C7C9C6C-0969-AE3A-6E76-96533EAE57FA}"/>
              </a:ext>
            </a:extLst>
          </p:cNvPr>
          <p:cNvSpPr txBox="1">
            <a:spLocks/>
          </p:cNvSpPr>
          <p:nvPr/>
        </p:nvSpPr>
        <p:spPr>
          <a:xfrm>
            <a:off x="73521" y="3483299"/>
            <a:ext cx="11992577" cy="3263296"/>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700" dirty="0">
                <a:solidFill>
                  <a:schemeClr val="tx1"/>
                </a:solidFill>
              </a:rPr>
              <a:t>	</a:t>
            </a:r>
            <a:r>
              <a:rPr lang="en-US" sz="2400" dirty="0">
                <a:solidFill>
                  <a:schemeClr val="tx1"/>
                </a:solidFill>
              </a:rPr>
              <a:t>Concern is one of the fundamental assumption accounting on the basis of which financial statements are prepared. The assumption is that a business entity will continue to operate in the foreseeable future without the need or intention on the part of management to liquidate the entity and it will realize its assets and settle its obligations in the normal course of the business.</a:t>
            </a:r>
          </a:p>
        </p:txBody>
      </p:sp>
    </p:spTree>
    <p:extLst>
      <p:ext uri="{BB962C8B-B14F-4D97-AF65-F5344CB8AC3E}">
        <p14:creationId xmlns:p14="http://schemas.microsoft.com/office/powerpoint/2010/main" val="403559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34652-B0C1-E348-3D0C-3E069CE92653}"/>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DF05509C-1FF0-B62D-4764-C3AE3DF63EFD}"/>
              </a:ext>
            </a:extLst>
          </p:cNvPr>
          <p:cNvSpPr txBox="1">
            <a:spLocks/>
          </p:cNvSpPr>
          <p:nvPr/>
        </p:nvSpPr>
        <p:spPr>
          <a:xfrm>
            <a:off x="0" y="50858"/>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Money Measurement Concept –</a:t>
            </a:r>
            <a:endParaRPr lang="en-IN" sz="2800" b="1" dirty="0">
              <a:solidFill>
                <a:schemeClr val="tx1"/>
              </a:solidFill>
            </a:endParaRPr>
          </a:p>
        </p:txBody>
      </p:sp>
      <p:sp>
        <p:nvSpPr>
          <p:cNvPr id="10" name="Subtitle 2">
            <a:extLst>
              <a:ext uri="{FF2B5EF4-FFF2-40B4-BE49-F238E27FC236}">
                <a16:creationId xmlns:a16="http://schemas.microsoft.com/office/drawing/2014/main" id="{2E112497-7E3C-8662-2915-0ABBA6DDD61B}"/>
              </a:ext>
            </a:extLst>
          </p:cNvPr>
          <p:cNvSpPr txBox="1">
            <a:spLocks/>
          </p:cNvSpPr>
          <p:nvPr/>
        </p:nvSpPr>
        <p:spPr>
          <a:xfrm>
            <a:off x="159254" y="498196"/>
            <a:ext cx="11913684" cy="2380477"/>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r>
              <a:rPr lang="en-US" sz="2400" dirty="0">
                <a:solidFill>
                  <a:schemeClr val="tx1"/>
                </a:solidFill>
              </a:rPr>
              <a:t>In accounting, every transaction is recorded in terms of money, </a:t>
            </a:r>
            <a:r>
              <a:rPr lang="en-US" sz="2400" dirty="0" err="1">
                <a:solidFill>
                  <a:schemeClr val="tx1"/>
                </a:solidFill>
              </a:rPr>
              <a:t>ie</a:t>
            </a:r>
            <a:r>
              <a:rPr lang="en-US" sz="2400" dirty="0">
                <a:solidFill>
                  <a:schemeClr val="tx1"/>
                </a:solidFill>
              </a:rPr>
              <a:t>, rupees and paise in India. Receipt of income, payment of expenses, purchase and sale of assets, etc., are monetary transactions and therefore are recorded in the books of accounts. </a:t>
            </a:r>
          </a:p>
        </p:txBody>
      </p:sp>
      <p:sp>
        <p:nvSpPr>
          <p:cNvPr id="2" name="Subtitle 2">
            <a:extLst>
              <a:ext uri="{FF2B5EF4-FFF2-40B4-BE49-F238E27FC236}">
                <a16:creationId xmlns:a16="http://schemas.microsoft.com/office/drawing/2014/main" id="{445FA337-B177-1B86-5BF6-117D98BE71D6}"/>
              </a:ext>
            </a:extLst>
          </p:cNvPr>
          <p:cNvSpPr txBox="1">
            <a:spLocks/>
          </p:cNvSpPr>
          <p:nvPr/>
        </p:nvSpPr>
        <p:spPr>
          <a:xfrm>
            <a:off x="40173" y="2949881"/>
            <a:ext cx="11309570" cy="636278"/>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Accounting period concept –</a:t>
            </a:r>
            <a:endParaRPr lang="en-IN" sz="2800" b="1" dirty="0">
              <a:solidFill>
                <a:schemeClr val="tx1"/>
              </a:solidFill>
            </a:endParaRPr>
          </a:p>
        </p:txBody>
      </p:sp>
      <p:sp>
        <p:nvSpPr>
          <p:cNvPr id="3" name="Subtitle 2">
            <a:extLst>
              <a:ext uri="{FF2B5EF4-FFF2-40B4-BE49-F238E27FC236}">
                <a16:creationId xmlns:a16="http://schemas.microsoft.com/office/drawing/2014/main" id="{F8D23F09-93CA-7D07-A436-2653CC7F6ABB}"/>
              </a:ext>
            </a:extLst>
          </p:cNvPr>
          <p:cNvSpPr txBox="1">
            <a:spLocks/>
          </p:cNvSpPr>
          <p:nvPr/>
        </p:nvSpPr>
        <p:spPr>
          <a:xfrm>
            <a:off x="159253" y="3392091"/>
            <a:ext cx="11992573" cy="282427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r>
              <a:rPr lang="en-US" sz="2400" dirty="0">
                <a:solidFill>
                  <a:schemeClr val="tx1"/>
                </a:solidFill>
              </a:rPr>
              <a:t>The accounting period concept is a fundamental accounting principle that requires a business's long economic life to be divided into shorter, standardized time intervals for reporting purposes. This allows companies to prepare financial statements like profit and loss accounts and balance sheets at regular intervals, such as monthly, quarterly, or annually, to assess performance.</a:t>
            </a:r>
          </a:p>
        </p:txBody>
      </p:sp>
    </p:spTree>
    <p:extLst>
      <p:ext uri="{BB962C8B-B14F-4D97-AF65-F5344CB8AC3E}">
        <p14:creationId xmlns:p14="http://schemas.microsoft.com/office/powerpoint/2010/main" val="2737801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BEB45-E01D-4069-0220-FA40A37A96E3}"/>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5383602C-DFBE-1EDC-F320-4A03610B7DDD}"/>
              </a:ext>
            </a:extLst>
          </p:cNvPr>
          <p:cNvSpPr txBox="1">
            <a:spLocks/>
          </p:cNvSpPr>
          <p:nvPr/>
        </p:nvSpPr>
        <p:spPr>
          <a:xfrm>
            <a:off x="116385" y="139984"/>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Cost Concept –</a:t>
            </a:r>
            <a:endParaRPr lang="en-IN" sz="2800" b="1" dirty="0">
              <a:solidFill>
                <a:schemeClr val="tx1"/>
              </a:solidFill>
            </a:endParaRPr>
          </a:p>
        </p:txBody>
      </p:sp>
      <p:sp>
        <p:nvSpPr>
          <p:cNvPr id="10" name="Subtitle 2">
            <a:extLst>
              <a:ext uri="{FF2B5EF4-FFF2-40B4-BE49-F238E27FC236}">
                <a16:creationId xmlns:a16="http://schemas.microsoft.com/office/drawing/2014/main" id="{0D29110A-03A1-FA76-9971-C63385AFA79F}"/>
              </a:ext>
            </a:extLst>
          </p:cNvPr>
          <p:cNvSpPr txBox="1">
            <a:spLocks/>
          </p:cNvSpPr>
          <p:nvPr/>
        </p:nvSpPr>
        <p:spPr>
          <a:xfrm>
            <a:off x="102093" y="432662"/>
            <a:ext cx="11973522" cy="2466769"/>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r>
              <a:rPr lang="en-US" sz="2400" dirty="0">
                <a:solidFill>
                  <a:schemeClr val="tx1"/>
                </a:solidFill>
              </a:rPr>
              <a:t>The cost concept in accounting, also known as the historical cost principle, states that assets should be recorded at their original purchase price, not their current market value. This principle ensures objectivity and reliability in financial statements because historical costs are verifiable and less subjective than market values.`</a:t>
            </a:r>
          </a:p>
        </p:txBody>
      </p:sp>
      <p:sp>
        <p:nvSpPr>
          <p:cNvPr id="2" name="Subtitle 2">
            <a:extLst>
              <a:ext uri="{FF2B5EF4-FFF2-40B4-BE49-F238E27FC236}">
                <a16:creationId xmlns:a16="http://schemas.microsoft.com/office/drawing/2014/main" id="{E1352E4B-158C-4BC2-0709-62A6DB2F5583}"/>
              </a:ext>
            </a:extLst>
          </p:cNvPr>
          <p:cNvSpPr txBox="1">
            <a:spLocks/>
          </p:cNvSpPr>
          <p:nvPr/>
        </p:nvSpPr>
        <p:spPr>
          <a:xfrm>
            <a:off x="111623" y="3611157"/>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Dual aspect concept–</a:t>
            </a:r>
            <a:endParaRPr lang="en-IN" sz="2800" b="1" dirty="0">
              <a:solidFill>
                <a:schemeClr val="tx1"/>
              </a:solidFill>
            </a:endParaRPr>
          </a:p>
        </p:txBody>
      </p:sp>
      <p:sp>
        <p:nvSpPr>
          <p:cNvPr id="3" name="Subtitle 2">
            <a:extLst>
              <a:ext uri="{FF2B5EF4-FFF2-40B4-BE49-F238E27FC236}">
                <a16:creationId xmlns:a16="http://schemas.microsoft.com/office/drawing/2014/main" id="{0512D90C-AC24-93F1-660A-BF5404233947}"/>
              </a:ext>
            </a:extLst>
          </p:cNvPr>
          <p:cNvSpPr txBox="1">
            <a:spLocks/>
          </p:cNvSpPr>
          <p:nvPr/>
        </p:nvSpPr>
        <p:spPr>
          <a:xfrm>
            <a:off x="111623" y="3303441"/>
            <a:ext cx="11963992" cy="3385219"/>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p>
          <a:p>
            <a:pPr>
              <a:lnSpc>
                <a:spcPct val="150000"/>
              </a:lnSpc>
            </a:pPr>
            <a:r>
              <a:rPr lang="en-US" sz="2800" dirty="0">
                <a:solidFill>
                  <a:schemeClr val="tx1"/>
                </a:solidFill>
              </a:rPr>
              <a:t>	</a:t>
            </a:r>
            <a:r>
              <a:rPr lang="en-US" sz="2400" dirty="0">
                <a:solidFill>
                  <a:schemeClr val="tx1"/>
                </a:solidFill>
              </a:rPr>
              <a:t>The dual aspect concept in accounting states that every business transaction has two equal and opposite effects, forming the basis of the double-entry bookkeeping system. This means for every debit there is a corresponding, equal credit, ensuring the fundamental accounting equation (Assets=Liabilities Equity)) remains balanced.</a:t>
            </a:r>
          </a:p>
        </p:txBody>
      </p:sp>
    </p:spTree>
    <p:extLst>
      <p:ext uri="{BB962C8B-B14F-4D97-AF65-F5344CB8AC3E}">
        <p14:creationId xmlns:p14="http://schemas.microsoft.com/office/powerpoint/2010/main" val="2635341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7E6A7-81F0-68B6-7DD9-F881B42CFEEC}"/>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EE914217-5F31-7AAF-96DC-7D4FA70FCE8E}"/>
              </a:ext>
            </a:extLst>
          </p:cNvPr>
          <p:cNvSpPr txBox="1">
            <a:spLocks/>
          </p:cNvSpPr>
          <p:nvPr/>
        </p:nvSpPr>
        <p:spPr>
          <a:xfrm>
            <a:off x="30653" y="39971"/>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Accrual Concept–</a:t>
            </a:r>
            <a:endParaRPr lang="en-IN" sz="2800" b="1" dirty="0">
              <a:solidFill>
                <a:schemeClr val="tx1"/>
              </a:solidFill>
            </a:endParaRPr>
          </a:p>
        </p:txBody>
      </p:sp>
      <p:sp>
        <p:nvSpPr>
          <p:cNvPr id="10" name="Subtitle 2">
            <a:extLst>
              <a:ext uri="{FF2B5EF4-FFF2-40B4-BE49-F238E27FC236}">
                <a16:creationId xmlns:a16="http://schemas.microsoft.com/office/drawing/2014/main" id="{7C833001-D325-AB9D-986E-30B632669F94}"/>
              </a:ext>
            </a:extLst>
          </p:cNvPr>
          <p:cNvSpPr txBox="1">
            <a:spLocks/>
          </p:cNvSpPr>
          <p:nvPr/>
        </p:nvSpPr>
        <p:spPr>
          <a:xfrm>
            <a:off x="102092" y="504113"/>
            <a:ext cx="12089907" cy="2631522"/>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700" dirty="0">
                <a:solidFill>
                  <a:schemeClr val="tx1"/>
                </a:solidFill>
              </a:rPr>
              <a:t>	 </a:t>
            </a:r>
            <a:r>
              <a:rPr lang="en-US" sz="2400" dirty="0">
                <a:solidFill>
                  <a:schemeClr val="tx1"/>
                </a:solidFill>
              </a:rPr>
              <a:t>The accrual concept in accounting records revenues and expenses when they are earned or incurred, regardless of when cash is exchanged. This principle provides a more accurate picture of a company's financial performance by matching revenues with the expenses that helped generate them within the same period. </a:t>
            </a:r>
          </a:p>
        </p:txBody>
      </p:sp>
      <p:sp>
        <p:nvSpPr>
          <p:cNvPr id="2" name="Subtitle 2">
            <a:extLst>
              <a:ext uri="{FF2B5EF4-FFF2-40B4-BE49-F238E27FC236}">
                <a16:creationId xmlns:a16="http://schemas.microsoft.com/office/drawing/2014/main" id="{D5E5A2D9-66F9-2BC0-8591-34B7A0D16EEB}"/>
              </a:ext>
            </a:extLst>
          </p:cNvPr>
          <p:cNvSpPr txBox="1">
            <a:spLocks/>
          </p:cNvSpPr>
          <p:nvPr/>
        </p:nvSpPr>
        <p:spPr>
          <a:xfrm>
            <a:off x="83040" y="3221359"/>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Matching Concept–</a:t>
            </a:r>
            <a:endParaRPr lang="en-IN" sz="2800" b="1" dirty="0">
              <a:solidFill>
                <a:schemeClr val="tx1"/>
              </a:solidFill>
            </a:endParaRPr>
          </a:p>
        </p:txBody>
      </p:sp>
      <p:sp>
        <p:nvSpPr>
          <p:cNvPr id="3" name="Subtitle 2">
            <a:extLst>
              <a:ext uri="{FF2B5EF4-FFF2-40B4-BE49-F238E27FC236}">
                <a16:creationId xmlns:a16="http://schemas.microsoft.com/office/drawing/2014/main" id="{EDA63BF7-7845-E244-00B5-268446FB281C}"/>
              </a:ext>
            </a:extLst>
          </p:cNvPr>
          <p:cNvSpPr txBox="1">
            <a:spLocks/>
          </p:cNvSpPr>
          <p:nvPr/>
        </p:nvSpPr>
        <p:spPr>
          <a:xfrm>
            <a:off x="102092" y="3690861"/>
            <a:ext cx="11942271" cy="2911645"/>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r>
              <a:rPr lang="en-US" sz="2400" dirty="0">
                <a:solidFill>
                  <a:schemeClr val="tx1"/>
                </a:solidFill>
              </a:rPr>
              <a:t>The matching concept is an accounting principle that requires expenses to be recorded in the same accounting period as the revenues they helped generate. This principle ensures a company's profitability is accurately reported by linking the costs of doing business directly to the income they produced.</a:t>
            </a:r>
          </a:p>
        </p:txBody>
      </p:sp>
    </p:spTree>
    <p:extLst>
      <p:ext uri="{BB962C8B-B14F-4D97-AF65-F5344CB8AC3E}">
        <p14:creationId xmlns:p14="http://schemas.microsoft.com/office/powerpoint/2010/main" val="372523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D90B-766C-CB1E-5FC3-5CD3E881652A}"/>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37AA8DB4-9F29-48B6-D351-73EA1FB289D4}"/>
              </a:ext>
            </a:extLst>
          </p:cNvPr>
          <p:cNvSpPr txBox="1">
            <a:spLocks/>
          </p:cNvSpPr>
          <p:nvPr/>
        </p:nvSpPr>
        <p:spPr>
          <a:xfrm>
            <a:off x="216397" y="197133"/>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Ø"/>
            </a:pPr>
            <a:r>
              <a:rPr lang="en-US" sz="2800" b="1" dirty="0">
                <a:solidFill>
                  <a:schemeClr val="tx1"/>
                </a:solidFill>
              </a:rPr>
              <a:t>Realization Concept–</a:t>
            </a:r>
            <a:endParaRPr lang="en-IN" sz="2800" b="1" dirty="0">
              <a:solidFill>
                <a:schemeClr val="tx1"/>
              </a:solidFill>
            </a:endParaRPr>
          </a:p>
        </p:txBody>
      </p:sp>
      <p:sp>
        <p:nvSpPr>
          <p:cNvPr id="10" name="Subtitle 2">
            <a:extLst>
              <a:ext uri="{FF2B5EF4-FFF2-40B4-BE49-F238E27FC236}">
                <a16:creationId xmlns:a16="http://schemas.microsoft.com/office/drawing/2014/main" id="{63C4F0B2-94F0-CB25-9119-5F431FA7956C}"/>
              </a:ext>
            </a:extLst>
          </p:cNvPr>
          <p:cNvSpPr txBox="1">
            <a:spLocks/>
          </p:cNvSpPr>
          <p:nvPr/>
        </p:nvSpPr>
        <p:spPr>
          <a:xfrm>
            <a:off x="216397" y="989884"/>
            <a:ext cx="11813678" cy="2982041"/>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dirty="0">
                <a:solidFill>
                  <a:schemeClr val="tx1"/>
                </a:solidFill>
              </a:rPr>
              <a:t>	 </a:t>
            </a:r>
            <a:r>
              <a:rPr lang="en-US" sz="2400" dirty="0">
                <a:solidFill>
                  <a:schemeClr val="tx1"/>
                </a:solidFill>
              </a:rPr>
              <a:t>The realization concept in accounting states that revenue should be recorded only when it has been earned and it is reasonably certain that cash will be receive and, not just when a customer places an order or pays in advance. </a:t>
            </a:r>
          </a:p>
        </p:txBody>
      </p:sp>
    </p:spTree>
    <p:extLst>
      <p:ext uri="{BB962C8B-B14F-4D97-AF65-F5344CB8AC3E}">
        <p14:creationId xmlns:p14="http://schemas.microsoft.com/office/powerpoint/2010/main" val="1572470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B09799-CD8D-D215-262D-461DA1DFE47D}"/>
              </a:ext>
            </a:extLst>
          </p:cNvPr>
          <p:cNvSpPr txBox="1">
            <a:spLocks/>
          </p:cNvSpPr>
          <p:nvPr/>
        </p:nvSpPr>
        <p:spPr>
          <a:xfrm>
            <a:off x="116393" y="208534"/>
            <a:ext cx="11309570" cy="469513"/>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Wingdings" panose="05000000000000000000" pitchFamily="2" charset="2"/>
              <a:buChar char="v"/>
            </a:pPr>
            <a:r>
              <a:rPr lang="en-US" sz="2800" b="1" u="sng" dirty="0">
                <a:solidFill>
                  <a:schemeClr val="tx1"/>
                </a:solidFill>
              </a:rPr>
              <a:t>Conventions of Accounting –</a:t>
            </a:r>
            <a:endParaRPr lang="en-IN" sz="2800" b="1" u="sng" dirty="0">
              <a:solidFill>
                <a:schemeClr val="tx1"/>
              </a:solidFill>
            </a:endParaRPr>
          </a:p>
        </p:txBody>
      </p:sp>
      <p:sp>
        <p:nvSpPr>
          <p:cNvPr id="4" name="Subtitle 2">
            <a:extLst>
              <a:ext uri="{FF2B5EF4-FFF2-40B4-BE49-F238E27FC236}">
                <a16:creationId xmlns:a16="http://schemas.microsoft.com/office/drawing/2014/main" id="{8D7E8EFB-6A7C-F6E5-FDB6-E58492D4DD6E}"/>
              </a:ext>
            </a:extLst>
          </p:cNvPr>
          <p:cNvSpPr txBox="1">
            <a:spLocks/>
          </p:cNvSpPr>
          <p:nvPr/>
        </p:nvSpPr>
        <p:spPr>
          <a:xfrm>
            <a:off x="581889" y="927726"/>
            <a:ext cx="8363648" cy="5934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b="1" dirty="0">
                <a:solidFill>
                  <a:schemeClr val="tx1"/>
                </a:solidFill>
              </a:rPr>
              <a:t>1. Convention Consistency.</a:t>
            </a:r>
          </a:p>
        </p:txBody>
      </p:sp>
      <p:sp>
        <p:nvSpPr>
          <p:cNvPr id="5" name="Subtitle 2">
            <a:extLst>
              <a:ext uri="{FF2B5EF4-FFF2-40B4-BE49-F238E27FC236}">
                <a16:creationId xmlns:a16="http://schemas.microsoft.com/office/drawing/2014/main" id="{C2829A3F-7634-32CF-EA55-8B9EAB6E89E2}"/>
              </a:ext>
            </a:extLst>
          </p:cNvPr>
          <p:cNvSpPr txBox="1">
            <a:spLocks/>
          </p:cNvSpPr>
          <p:nvPr/>
        </p:nvSpPr>
        <p:spPr>
          <a:xfrm>
            <a:off x="581889" y="1651582"/>
            <a:ext cx="8363648" cy="452569"/>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b="1" dirty="0">
                <a:solidFill>
                  <a:schemeClr val="tx1"/>
                </a:solidFill>
              </a:rPr>
              <a:t>2. Convention of Conservation.</a:t>
            </a:r>
          </a:p>
        </p:txBody>
      </p:sp>
      <p:sp>
        <p:nvSpPr>
          <p:cNvPr id="6" name="Subtitle 2">
            <a:extLst>
              <a:ext uri="{FF2B5EF4-FFF2-40B4-BE49-F238E27FC236}">
                <a16:creationId xmlns:a16="http://schemas.microsoft.com/office/drawing/2014/main" id="{99F19792-564A-BB84-21CC-8E9F3A6A04AE}"/>
              </a:ext>
            </a:extLst>
          </p:cNvPr>
          <p:cNvSpPr txBox="1">
            <a:spLocks/>
          </p:cNvSpPr>
          <p:nvPr/>
        </p:nvSpPr>
        <p:spPr>
          <a:xfrm>
            <a:off x="581889" y="2412135"/>
            <a:ext cx="8363648"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b="1" dirty="0">
                <a:solidFill>
                  <a:schemeClr val="tx1"/>
                </a:solidFill>
              </a:rPr>
              <a:t>3. Convention of materiality.</a:t>
            </a:r>
          </a:p>
        </p:txBody>
      </p:sp>
      <p:sp>
        <p:nvSpPr>
          <p:cNvPr id="7" name="Subtitle 2">
            <a:extLst>
              <a:ext uri="{FF2B5EF4-FFF2-40B4-BE49-F238E27FC236}">
                <a16:creationId xmlns:a16="http://schemas.microsoft.com/office/drawing/2014/main" id="{9D281964-4575-219C-6FE5-F77051EFD752}"/>
              </a:ext>
            </a:extLst>
          </p:cNvPr>
          <p:cNvSpPr txBox="1">
            <a:spLocks/>
          </p:cNvSpPr>
          <p:nvPr/>
        </p:nvSpPr>
        <p:spPr>
          <a:xfrm>
            <a:off x="581888" y="3173129"/>
            <a:ext cx="9134767" cy="61113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nSpc>
                <a:spcPct val="150000"/>
              </a:lnSpc>
            </a:pPr>
            <a:r>
              <a:rPr lang="en-US" sz="2800" b="1" dirty="0">
                <a:solidFill>
                  <a:schemeClr val="tx1"/>
                </a:solidFill>
              </a:rPr>
              <a:t>4. Convention of full Discourse.</a:t>
            </a:r>
          </a:p>
          <a:p>
            <a:pPr>
              <a:lnSpc>
                <a:spcPct val="150000"/>
              </a:lnSpc>
            </a:pPr>
            <a:endParaRPr lang="en-US" sz="2800" b="1" dirty="0">
              <a:solidFill>
                <a:schemeClr val="tx1"/>
              </a:solidFill>
            </a:endParaRPr>
          </a:p>
        </p:txBody>
      </p:sp>
    </p:spTree>
    <p:extLst>
      <p:ext uri="{BB962C8B-B14F-4D97-AF65-F5344CB8AC3E}">
        <p14:creationId xmlns:p14="http://schemas.microsoft.com/office/powerpoint/2010/main" val="1020450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9158-1C34-5972-8E2C-C49750D74E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A6ED87-F4F9-9F9B-9CEB-D706EFC2627E}"/>
              </a:ext>
            </a:extLst>
          </p:cNvPr>
          <p:cNvSpPr/>
          <p:nvPr/>
        </p:nvSpPr>
        <p:spPr>
          <a:xfrm>
            <a:off x="157163" y="65983"/>
            <a:ext cx="11915775" cy="5632311"/>
          </a:xfrm>
          <a:prstGeom prst="rect">
            <a:avLst/>
          </a:prstGeom>
        </p:spPr>
        <p:txBody>
          <a:bodyPr wrap="square">
            <a:spAutoFit/>
          </a:bodyPr>
          <a:lstStyle/>
          <a:p>
            <a:pPr marL="285750" indent="-285750">
              <a:lnSpc>
                <a:spcPct val="150000"/>
              </a:lnSpc>
              <a:buFont typeface="Wingdings" panose="05000000000000000000" pitchFamily="2" charset="2"/>
              <a:buChar char="§"/>
            </a:pPr>
            <a:r>
              <a:rPr lang="en-US" sz="2800" dirty="0"/>
              <a:t> </a:t>
            </a:r>
            <a:r>
              <a:rPr lang="en-US" sz="2800" b="1" dirty="0"/>
              <a:t>Single Entry System</a:t>
            </a:r>
            <a:r>
              <a:rPr lang="en-US" sz="2800" dirty="0"/>
              <a:t>: </a:t>
            </a:r>
            <a:r>
              <a:rPr lang="en-US" sz="2400" dirty="0"/>
              <a:t>The term "Single entry system" means a system of maintaining the accounting records of the business transactions, in a manner convenient to a particular trader, where the principle of double entry is not applied for all the transactions. In other words, the single entry is an incomplete from of book-keeping.</a:t>
            </a:r>
          </a:p>
          <a:p>
            <a:pPr marL="285750" indent="-285750">
              <a:lnSpc>
                <a:spcPct val="150000"/>
              </a:lnSpc>
              <a:buFont typeface="Wingdings" panose="05000000000000000000" pitchFamily="2" charset="2"/>
              <a:buChar char="§"/>
            </a:pPr>
            <a:endParaRPr lang="en-US" sz="2800" dirty="0"/>
          </a:p>
          <a:p>
            <a:pPr marL="285750" indent="-285750">
              <a:lnSpc>
                <a:spcPct val="150000"/>
              </a:lnSpc>
              <a:buFont typeface="Wingdings" panose="05000000000000000000" pitchFamily="2" charset="2"/>
              <a:buChar char="§"/>
            </a:pPr>
            <a:r>
              <a:rPr lang="en-US" sz="2800" b="1" dirty="0"/>
              <a:t>Types of Single-Entry System </a:t>
            </a:r>
          </a:p>
          <a:p>
            <a:pPr>
              <a:lnSpc>
                <a:spcPct val="150000"/>
              </a:lnSpc>
            </a:pPr>
            <a:r>
              <a:rPr lang="en-US" sz="2800" dirty="0"/>
              <a:t>	</a:t>
            </a:r>
            <a:r>
              <a:rPr lang="en-US" sz="2400" dirty="0"/>
              <a:t>1. Pure Single-Entry System. </a:t>
            </a:r>
          </a:p>
          <a:p>
            <a:pPr>
              <a:lnSpc>
                <a:spcPct val="150000"/>
              </a:lnSpc>
            </a:pPr>
            <a:r>
              <a:rPr lang="en-US" sz="2400" dirty="0"/>
              <a:t>	2. Simple Single-Entry System. </a:t>
            </a:r>
          </a:p>
          <a:p>
            <a:pPr>
              <a:lnSpc>
                <a:spcPct val="150000"/>
              </a:lnSpc>
            </a:pPr>
            <a:r>
              <a:rPr lang="en-US" sz="2400" dirty="0"/>
              <a:t>	3. Quasi Single-Entry System.</a:t>
            </a:r>
          </a:p>
        </p:txBody>
      </p:sp>
    </p:spTree>
    <p:extLst>
      <p:ext uri="{BB962C8B-B14F-4D97-AF65-F5344CB8AC3E}">
        <p14:creationId xmlns:p14="http://schemas.microsoft.com/office/powerpoint/2010/main" val="825486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A821D-3A09-563D-EB21-C452D819F5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2BBA52-A158-7F78-5609-EBAE6CDE3C45}"/>
              </a:ext>
            </a:extLst>
          </p:cNvPr>
          <p:cNvSpPr/>
          <p:nvPr/>
        </p:nvSpPr>
        <p:spPr>
          <a:xfrm>
            <a:off x="171451" y="65983"/>
            <a:ext cx="11872912" cy="9048631"/>
          </a:xfrm>
          <a:prstGeom prst="rect">
            <a:avLst/>
          </a:prstGeom>
        </p:spPr>
        <p:txBody>
          <a:bodyPr wrap="square">
            <a:spAutoFit/>
          </a:bodyPr>
          <a:lstStyle/>
          <a:p>
            <a:pPr marL="285750" indent="-285750">
              <a:lnSpc>
                <a:spcPct val="150000"/>
              </a:lnSpc>
              <a:buFont typeface="Arial" panose="020B0604020202020204" pitchFamily="34" charset="0"/>
              <a:buChar char="•"/>
            </a:pPr>
            <a:r>
              <a:rPr lang="en-US" sz="2800" b="1" dirty="0"/>
              <a:t>Double-entry system </a:t>
            </a:r>
            <a:r>
              <a:rPr lang="en-US" sz="2400" dirty="0"/>
              <a:t>of accounting is a method where every financial transaction is recorded with at least two entries: a debit to one account and a credit to another. This system ensures that total debits always equal total credits, which helps maintain the balance of the accounting.</a:t>
            </a:r>
          </a:p>
          <a:p>
            <a:pPr marL="285750" indent="-285750">
              <a:lnSpc>
                <a:spcPct val="150000"/>
              </a:lnSpc>
              <a:buFont typeface="Arial" panose="020B0604020202020204" pitchFamily="34" charset="0"/>
              <a:buChar char="•"/>
            </a:pPr>
            <a:r>
              <a:rPr lang="en-US" sz="2800" b="1" dirty="0"/>
              <a:t>Advantages –</a:t>
            </a:r>
            <a:r>
              <a:rPr lang="en-US" sz="2800" dirty="0"/>
              <a:t> </a:t>
            </a:r>
          </a:p>
          <a:p>
            <a:pPr marL="971550" lvl="1" indent="-514350">
              <a:lnSpc>
                <a:spcPct val="150000"/>
              </a:lnSpc>
              <a:buFont typeface="+mj-lt"/>
              <a:buAutoNum type="arabicPeriod"/>
            </a:pPr>
            <a:r>
              <a:rPr lang="en-US" sz="2400" dirty="0"/>
              <a:t>Complete and Scientific Record.</a:t>
            </a:r>
          </a:p>
          <a:p>
            <a:pPr marL="971550" lvl="1" indent="-514350">
              <a:lnSpc>
                <a:spcPct val="150000"/>
              </a:lnSpc>
              <a:buFont typeface="+mj-lt"/>
              <a:buAutoNum type="arabicPeriod"/>
            </a:pPr>
            <a:r>
              <a:rPr lang="en-US" sz="2400" dirty="0"/>
              <a:t>Arithmetical Check of Account.</a:t>
            </a:r>
          </a:p>
          <a:p>
            <a:pPr marL="971550" lvl="1" indent="-514350">
              <a:lnSpc>
                <a:spcPct val="150000"/>
              </a:lnSpc>
              <a:buFont typeface="+mj-lt"/>
              <a:buAutoNum type="arabicPeriod"/>
            </a:pPr>
            <a:r>
              <a:rPr lang="en-US" sz="2400" dirty="0"/>
              <a:t>Meet Legal Requirements.</a:t>
            </a:r>
          </a:p>
          <a:p>
            <a:pPr marL="971550" lvl="1" indent="-514350">
              <a:lnSpc>
                <a:spcPct val="150000"/>
              </a:lnSpc>
              <a:buFont typeface="+mj-lt"/>
              <a:buAutoNum type="arabicPeriod"/>
            </a:pPr>
            <a:r>
              <a:rPr lang="en-US" sz="2400" dirty="0"/>
              <a:t>Helpful in Comparison.</a:t>
            </a:r>
          </a:p>
          <a:p>
            <a:pPr marL="971550" lvl="1" indent="-514350">
              <a:lnSpc>
                <a:spcPct val="150000"/>
              </a:lnSpc>
              <a:buFont typeface="+mj-lt"/>
              <a:buAutoNum type="arabicPeriod"/>
            </a:pPr>
            <a:r>
              <a:rPr lang="en-US" sz="2400" dirty="0"/>
              <a:t>Help in Preparing Final Account.</a:t>
            </a:r>
          </a:p>
          <a:p>
            <a:pPr marL="514350" indent="-514350">
              <a:lnSpc>
                <a:spcPct val="150000"/>
              </a:lnSpc>
              <a:buFont typeface="+mj-lt"/>
              <a:buAutoNum type="arabicPeriod"/>
            </a:pPr>
            <a:endParaRPr lang="en-US" sz="2800" dirty="0"/>
          </a:p>
          <a:p>
            <a:pPr marL="285750" indent="-285750">
              <a:lnSpc>
                <a:spcPct val="150000"/>
              </a:lnSpc>
              <a:buFont typeface="Arial" panose="020B0604020202020204" pitchFamily="34" charset="0"/>
              <a:buChar char="•"/>
            </a:pPr>
            <a:endParaRPr lang="en-US" sz="2800" dirty="0"/>
          </a:p>
          <a:p>
            <a:pPr marL="285750" indent="-285750">
              <a:lnSpc>
                <a:spcPct val="150000"/>
              </a:lnSpc>
              <a:buFont typeface="Arial" panose="020B0604020202020204" pitchFamily="34" charset="0"/>
              <a:buChar char="•"/>
            </a:pPr>
            <a:endParaRPr lang="en-US" sz="2800" dirty="0"/>
          </a:p>
          <a:p>
            <a:pPr marL="285750" indent="-285750">
              <a:lnSpc>
                <a:spcPct val="150000"/>
              </a:lnSpc>
              <a:buFont typeface="Arial" panose="020B0604020202020204" pitchFamily="34" charset="0"/>
              <a:buChar char="•"/>
            </a:pPr>
            <a:endParaRPr lang="en-US" sz="2800" dirty="0"/>
          </a:p>
          <a:p>
            <a:pPr marL="285750" indent="-285750">
              <a:lnSpc>
                <a:spcPct val="150000"/>
              </a:lnSpc>
              <a:buFont typeface="Arial" panose="020B0604020202020204" pitchFamily="34" charset="0"/>
              <a:buChar char="•"/>
            </a:pPr>
            <a:endParaRPr lang="en-US" sz="2800" dirty="0"/>
          </a:p>
        </p:txBody>
      </p:sp>
    </p:spTree>
    <p:extLst>
      <p:ext uri="{BB962C8B-B14F-4D97-AF65-F5344CB8AC3E}">
        <p14:creationId xmlns:p14="http://schemas.microsoft.com/office/powerpoint/2010/main" val="1666382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40201-01F6-1D2A-A0F6-AB06F4FF10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738E0C-A44A-6072-FA12-1E2E8142861E}"/>
              </a:ext>
            </a:extLst>
          </p:cNvPr>
          <p:cNvSpPr/>
          <p:nvPr/>
        </p:nvSpPr>
        <p:spPr>
          <a:xfrm>
            <a:off x="171451" y="65983"/>
            <a:ext cx="11872912" cy="7135158"/>
          </a:xfrm>
          <a:prstGeom prst="rect">
            <a:avLst/>
          </a:prstGeom>
        </p:spPr>
        <p:txBody>
          <a:bodyPr wrap="square">
            <a:spAutoFit/>
          </a:bodyPr>
          <a:lstStyle/>
          <a:p>
            <a:pPr marL="285750" indent="-285750">
              <a:lnSpc>
                <a:spcPct val="150000"/>
              </a:lnSpc>
              <a:buFont typeface="Arial" panose="020B0604020202020204" pitchFamily="34" charset="0"/>
              <a:buChar char="•"/>
            </a:pPr>
            <a:r>
              <a:rPr lang="en-US" sz="2800" b="1" dirty="0"/>
              <a:t>Disadvantages –</a:t>
            </a:r>
            <a:r>
              <a:rPr lang="en-US" sz="2800" dirty="0"/>
              <a:t> </a:t>
            </a:r>
          </a:p>
          <a:p>
            <a:pPr marL="971550" lvl="1" indent="-514350">
              <a:lnSpc>
                <a:spcPct val="150000"/>
              </a:lnSpc>
              <a:buFont typeface="+mj-lt"/>
              <a:buAutoNum type="arabicPeriod"/>
            </a:pPr>
            <a:r>
              <a:rPr lang="en-US" sz="2800" dirty="0"/>
              <a:t>Expensive System.</a:t>
            </a:r>
          </a:p>
          <a:p>
            <a:pPr marL="971550" lvl="1" indent="-514350">
              <a:lnSpc>
                <a:spcPct val="150000"/>
              </a:lnSpc>
              <a:buFont typeface="+mj-lt"/>
              <a:buAutoNum type="arabicPeriod"/>
            </a:pPr>
            <a:r>
              <a:rPr lang="en-US" sz="2800" dirty="0"/>
              <a:t>Needs Practical Knowledge.</a:t>
            </a:r>
          </a:p>
          <a:p>
            <a:pPr marL="971550" lvl="1" indent="-514350">
              <a:lnSpc>
                <a:spcPct val="150000"/>
              </a:lnSpc>
              <a:buFont typeface="+mj-lt"/>
              <a:buAutoNum type="arabicPeriod"/>
            </a:pPr>
            <a:r>
              <a:rPr lang="en-US" sz="2800" dirty="0"/>
              <a:t>Accounting Errors.</a:t>
            </a:r>
          </a:p>
          <a:p>
            <a:pPr marL="971550" lvl="1" indent="-514350">
              <a:lnSpc>
                <a:spcPct val="150000"/>
              </a:lnSpc>
              <a:buFont typeface="+mj-lt"/>
              <a:buAutoNum type="arabicPeriod"/>
            </a:pPr>
            <a:r>
              <a:rPr lang="en-US" sz="2800" dirty="0"/>
              <a:t>Difficult to understand.</a:t>
            </a:r>
          </a:p>
          <a:p>
            <a:pPr marL="971550" lvl="1" indent="-514350">
              <a:lnSpc>
                <a:spcPct val="150000"/>
              </a:lnSpc>
              <a:buFont typeface="+mj-lt"/>
              <a:buAutoNum type="arabicPeriod"/>
            </a:pPr>
            <a:r>
              <a:rPr lang="en-US" sz="2800" dirty="0"/>
              <a:t>Time Consuming.</a:t>
            </a:r>
          </a:p>
          <a:p>
            <a:pPr marL="514350" indent="-514350">
              <a:lnSpc>
                <a:spcPct val="150000"/>
              </a:lnSpc>
              <a:buFont typeface="+mj-lt"/>
              <a:buAutoNum type="arabicPeriod"/>
            </a:pPr>
            <a:endParaRPr lang="en-US" sz="2800" dirty="0"/>
          </a:p>
          <a:p>
            <a:pPr marL="285750" indent="-285750">
              <a:lnSpc>
                <a:spcPct val="150000"/>
              </a:lnSpc>
              <a:buFont typeface="Arial" panose="020B0604020202020204" pitchFamily="34" charset="0"/>
              <a:buChar char="•"/>
            </a:pPr>
            <a:endParaRPr lang="en-US" sz="2800" dirty="0"/>
          </a:p>
          <a:p>
            <a:pPr marL="285750" indent="-285750">
              <a:lnSpc>
                <a:spcPct val="150000"/>
              </a:lnSpc>
              <a:buFont typeface="Arial" panose="020B0604020202020204" pitchFamily="34" charset="0"/>
              <a:buChar char="•"/>
            </a:pPr>
            <a:endParaRPr lang="en-US" sz="2800" dirty="0"/>
          </a:p>
          <a:p>
            <a:pPr marL="285750" indent="-285750">
              <a:lnSpc>
                <a:spcPct val="150000"/>
              </a:lnSpc>
              <a:buFont typeface="Arial" panose="020B0604020202020204" pitchFamily="34" charset="0"/>
              <a:buChar char="•"/>
            </a:pPr>
            <a:endParaRPr lang="en-US" sz="2800" dirty="0"/>
          </a:p>
          <a:p>
            <a:pPr marL="285750" indent="-285750">
              <a:lnSpc>
                <a:spcPct val="150000"/>
              </a:lnSpc>
              <a:buFont typeface="Arial" panose="020B0604020202020204" pitchFamily="34" charset="0"/>
              <a:buChar char="•"/>
            </a:pPr>
            <a:endParaRPr lang="en-US" sz="2800" dirty="0"/>
          </a:p>
        </p:txBody>
      </p:sp>
    </p:spTree>
    <p:extLst>
      <p:ext uri="{BB962C8B-B14F-4D97-AF65-F5344CB8AC3E}">
        <p14:creationId xmlns:p14="http://schemas.microsoft.com/office/powerpoint/2010/main" val="3921088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198" y="-119000"/>
            <a:ext cx="12029802" cy="6463308"/>
          </a:xfrm>
          <a:prstGeom prst="rect">
            <a:avLst/>
          </a:prstGeom>
        </p:spPr>
        <p:txBody>
          <a:bodyPr wrap="square">
            <a:spAutoFit/>
          </a:bodyPr>
          <a:lstStyle/>
          <a:p>
            <a:pPr>
              <a:lnSpc>
                <a:spcPct val="150000"/>
              </a:lnSpc>
            </a:pPr>
            <a:r>
              <a:rPr lang="en-US" sz="2700" b="1" dirty="0"/>
              <a:t>Generally Accepted Accounting Principles.(GAAP)</a:t>
            </a:r>
          </a:p>
          <a:p>
            <a:pPr>
              <a:lnSpc>
                <a:spcPct val="150000"/>
              </a:lnSpc>
            </a:pPr>
            <a:r>
              <a:rPr lang="en-US" sz="2700" b="1" dirty="0"/>
              <a:t>Meaning:</a:t>
            </a:r>
            <a:endParaRPr lang="en-US" sz="2700" dirty="0"/>
          </a:p>
          <a:p>
            <a:pPr>
              <a:lnSpc>
                <a:spcPct val="150000"/>
              </a:lnSpc>
            </a:pPr>
            <a:r>
              <a:rPr lang="en-US" sz="2400" dirty="0"/>
              <a:t>GAAP refers to a set of accounting rules, principles, and procedures used by companies to prepare and present their financial statements.</a:t>
            </a:r>
          </a:p>
          <a:p>
            <a:pPr>
              <a:lnSpc>
                <a:spcPct val="150000"/>
              </a:lnSpc>
            </a:pPr>
            <a:r>
              <a:rPr lang="en-US" sz="2400" dirty="0"/>
              <a:t>These principles ensure that financial information is consistent, transparent, and comparable across different organizations within a country.</a:t>
            </a:r>
          </a:p>
          <a:p>
            <a:pPr>
              <a:lnSpc>
                <a:spcPct val="150000"/>
              </a:lnSpc>
            </a:pPr>
            <a:r>
              <a:rPr lang="en-US" sz="2700" b="1" dirty="0"/>
              <a:t>Full form:   </a:t>
            </a:r>
            <a:r>
              <a:rPr lang="en-US" sz="2400" dirty="0"/>
              <a:t>GAAP - Generally Accepted Accounting Principles</a:t>
            </a:r>
          </a:p>
          <a:p>
            <a:pPr>
              <a:lnSpc>
                <a:spcPct val="150000"/>
              </a:lnSpc>
            </a:pPr>
            <a:r>
              <a:rPr lang="en-US" sz="2700" b="1" dirty="0"/>
              <a:t>Purpose:</a:t>
            </a:r>
            <a:endParaRPr lang="en-US" sz="2700" dirty="0"/>
          </a:p>
          <a:p>
            <a:pPr>
              <a:lnSpc>
                <a:spcPct val="150000"/>
              </a:lnSpc>
            </a:pPr>
            <a:r>
              <a:rPr lang="en-US" sz="2400" dirty="0"/>
              <a:t>To maintain uniformity in financial reporting.</a:t>
            </a:r>
          </a:p>
          <a:p>
            <a:pPr>
              <a:lnSpc>
                <a:spcPct val="150000"/>
              </a:lnSpc>
            </a:pPr>
            <a:r>
              <a:rPr lang="en-US" sz="2400" dirty="0"/>
              <a:t>To make financial statements reliable and understandable.</a:t>
            </a:r>
          </a:p>
          <a:p>
            <a:pPr>
              <a:lnSpc>
                <a:spcPct val="150000"/>
              </a:lnSpc>
            </a:pPr>
            <a:r>
              <a:rPr lang="en-US" sz="2400" dirty="0"/>
              <a:t>To help investors, regulators, and management make informed decisions</a:t>
            </a:r>
          </a:p>
        </p:txBody>
      </p:sp>
    </p:spTree>
    <p:extLst>
      <p:ext uri="{BB962C8B-B14F-4D97-AF65-F5344CB8AC3E}">
        <p14:creationId xmlns:p14="http://schemas.microsoft.com/office/powerpoint/2010/main" val="3654394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958" y="-29183"/>
            <a:ext cx="12085042" cy="1789401"/>
          </a:xfrm>
          <a:prstGeom prst="rect">
            <a:avLst/>
          </a:prstGeom>
        </p:spPr>
        <p:txBody>
          <a:bodyPr wrap="square">
            <a:spAutoFit/>
          </a:bodyPr>
          <a:lstStyle/>
          <a:p>
            <a:pPr>
              <a:lnSpc>
                <a:spcPct val="150000"/>
              </a:lnSpc>
            </a:pPr>
            <a:r>
              <a:rPr lang="en-US" sz="2800" b="1" dirty="0"/>
              <a:t>IFRS</a:t>
            </a:r>
            <a:r>
              <a:rPr lang="en-US" sz="2800" dirty="0"/>
              <a:t>:- </a:t>
            </a:r>
            <a:r>
              <a:rPr lang="en-US" sz="2400" dirty="0"/>
              <a:t>International financial reporting System IFRS are increasingly recognized has global accounting  standard for the purpose of preparing presenting general purpose reports including financial statement</a:t>
            </a:r>
            <a:r>
              <a:rPr lang="en-GB" altLang="en-US" sz="2400" dirty="0"/>
              <a:t>.</a:t>
            </a:r>
          </a:p>
        </p:txBody>
      </p:sp>
    </p:spTree>
    <p:extLst>
      <p:ext uri="{BB962C8B-B14F-4D97-AF65-F5344CB8AC3E}">
        <p14:creationId xmlns:p14="http://schemas.microsoft.com/office/powerpoint/2010/main" val="330517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059EDFF2-1A4B-0158-93BE-2369EF222B13}"/>
              </a:ext>
            </a:extLst>
          </p:cNvPr>
          <p:cNvSpPr txBox="1">
            <a:spLocks/>
          </p:cNvSpPr>
          <p:nvPr/>
        </p:nvSpPr>
        <p:spPr>
          <a:xfrm>
            <a:off x="402141" y="2235210"/>
            <a:ext cx="11309570" cy="1736435"/>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algn="ctr"/>
            <a:r>
              <a:rPr lang="en-US" sz="8000" b="1" dirty="0">
                <a:solidFill>
                  <a:srgbClr val="002060"/>
                </a:solidFill>
                <a:effectLst>
                  <a:outerShdw blurRad="38100" dist="38100" dir="2700000" algn="tl">
                    <a:srgbClr val="000000">
                      <a:alpha val="43137"/>
                    </a:srgbClr>
                  </a:outerShdw>
                </a:effectLst>
                <a:latin typeface="Edwardian Script ITC" panose="030303020407070D0804" pitchFamily="66" charset="0"/>
              </a:rPr>
              <a:t>Thank You</a:t>
            </a:r>
            <a:endParaRPr lang="en-IN" sz="8000" b="1" dirty="0">
              <a:solidFill>
                <a:srgbClr val="002060"/>
              </a:solidFill>
              <a:effectLst>
                <a:outerShdw blurRad="38100" dist="38100" dir="2700000" algn="tl">
                  <a:srgbClr val="000000">
                    <a:alpha val="43137"/>
                  </a:srgbClr>
                </a:outerShdw>
              </a:effectLst>
              <a:latin typeface="Edwardian Script ITC" panose="030303020407070D0804" pitchFamily="66" charset="0"/>
            </a:endParaRPr>
          </a:p>
        </p:txBody>
      </p:sp>
    </p:spTree>
    <p:extLst>
      <p:ext uri="{BB962C8B-B14F-4D97-AF65-F5344CB8AC3E}">
        <p14:creationId xmlns:p14="http://schemas.microsoft.com/office/powerpoint/2010/main" val="3395054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390</TotalTime>
  <Words>1498</Words>
  <Application>Microsoft Office PowerPoint</Application>
  <PresentationFormat>Widescreen</PresentationFormat>
  <Paragraphs>129</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Edwardian Script ITC</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 L</dc:creator>
  <cp:lastModifiedBy>DELL</cp:lastModifiedBy>
  <cp:revision>54</cp:revision>
  <dcterms:created xsi:type="dcterms:W3CDTF">2025-10-28T15:13:14Z</dcterms:created>
  <dcterms:modified xsi:type="dcterms:W3CDTF">2025-11-29T14:53:48Z</dcterms:modified>
</cp:coreProperties>
</file>