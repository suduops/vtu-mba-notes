
<file path=[Content_Types].xml><?xml version="1.0" encoding="utf-8"?>
<Types xmlns="http://schemas.openxmlformats.org/package/2006/content-types">
  <Default ContentType="application/xml" Extension="xml"/>
  <Default ContentType="image/png" Extension="png"/>
  <Default ContentType="image/jpeg" Extension="jpeg"/>
  <Default ContentType="application/vnd.openxmlformats-package.relationships+xml" Extension="rels"/>
  <Default ContentType="image/x-emf" Extension="emf"/>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0.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33.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extLst>
    <p:ext uri="{EFAFB233-063F-42B5-8137-9DF3F51BA10A}">
      <p15:sldGuideLst>
        <p15:guide id="1" orient="horz" pos="2160">
          <p15:clr>
            <a:srgbClr val="000000"/>
          </p15:clr>
        </p15:guide>
        <p15:guide id="2" pos="3840">
          <p15:clr>
            <a:srgbClr val="000000"/>
          </p15:clr>
        </p15:guide>
      </p15:sld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2D1061-20EF-46FE-AA3C-86BA39FCE7C5}" type="datetimeFigureOut">
              <a:rPr lang="en-IN" smtClean="0"/>
              <a:pPr/>
              <a:t>28-01-2026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4738F1-5055-4A65-BA07-EA534FDBBB1E}" type="slidenum">
              <a:rPr lang="en-IN" smtClean="0"/>
              <a:pPr/>
              <a:t>‹#›</a:t>
            </a:fld>
            <a:endParaRPr lang="en-IN"/>
          </a:p>
        </p:txBody>
      </p:sp>
    </p:spTree>
    <p:extLst>
      <p:ext uri="{BB962C8B-B14F-4D97-AF65-F5344CB8AC3E}">
        <p14:creationId xmlns:p14="http://schemas.microsoft.com/office/powerpoint/2010/main" xmlns="" val="3543527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2F64739-2D7C-45AC-92AF-9505BB0C3329}" type="slidenum">
              <a:rPr lang="en-US"/>
              <a:pPr eaLnBrk="1" hangingPunct="1"/>
              <a:t>20</a:t>
            </a:fld>
            <a:endParaRPr lang="en-US"/>
          </a:p>
        </p:txBody>
      </p:sp>
      <p:sp>
        <p:nvSpPr>
          <p:cNvPr id="4505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45060" name="Rectangle 3"/>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latin typeface="Arial" panose="020B0604020202020204" pitchFamily="34" charset="0"/>
            </a:endParaRPr>
          </a:p>
        </p:txBody>
      </p:sp>
    </p:spTree>
    <p:extLst>
      <p:ext uri="{BB962C8B-B14F-4D97-AF65-F5344CB8AC3E}">
        <p14:creationId xmlns:p14="http://schemas.microsoft.com/office/powerpoint/2010/main" xmlns="" val="263531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01151D1-7178-474A-9339-47388014BF66}" type="slidenum">
              <a:rPr lang="en-US"/>
              <a:pPr eaLnBrk="1" hangingPunct="1"/>
              <a:t>23</a:t>
            </a:fld>
            <a:endParaRPr lang="en-US"/>
          </a:p>
        </p:txBody>
      </p:sp>
      <p:sp>
        <p:nvSpPr>
          <p:cNvPr id="4608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46084" name="Rectangle 3"/>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latin typeface="Arial" panose="020B0604020202020204" pitchFamily="34" charset="0"/>
            </a:endParaRPr>
          </a:p>
        </p:txBody>
      </p:sp>
    </p:spTree>
    <p:extLst>
      <p:ext uri="{BB962C8B-B14F-4D97-AF65-F5344CB8AC3E}">
        <p14:creationId xmlns:p14="http://schemas.microsoft.com/office/powerpoint/2010/main" xmlns="" val="26427506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smtClean="0"/>
          </a:p>
        </p:txBody>
      </p:sp>
      <p:sp>
        <p:nvSpPr>
          <p:cNvPr id="47108"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A002E61-B86A-4591-B6DB-B38894F2AE5B}" type="slidenum">
              <a:rPr lang="en-US"/>
              <a:pPr eaLnBrk="1" hangingPunct="1"/>
              <a:t>31</a:t>
            </a:fld>
            <a:endParaRPr lang="en-US"/>
          </a:p>
        </p:txBody>
      </p:sp>
    </p:spTree>
    <p:extLst>
      <p:ext uri="{BB962C8B-B14F-4D97-AF65-F5344CB8AC3E}">
        <p14:creationId xmlns:p14="http://schemas.microsoft.com/office/powerpoint/2010/main" xmlns="" val="16351544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41574A0-6395-41F2-BAB8-C4BC3BB4D3D0}" type="datetimeFigureOut">
              <a:rPr lang="en-IN" smtClean="0"/>
              <a:pPr/>
              <a:t>28-01-2026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378AEE-EA23-40CC-8034-123E2440EAAF}" type="slidenum">
              <a:rPr lang="en-IN" smtClean="0"/>
              <a:pPr/>
              <a:t>‹#›</a:t>
            </a:fld>
            <a:endParaRPr lang="en-IN"/>
          </a:p>
        </p:txBody>
      </p:sp>
    </p:spTree>
    <p:extLst>
      <p:ext uri="{BB962C8B-B14F-4D97-AF65-F5344CB8AC3E}">
        <p14:creationId xmlns:p14="http://schemas.microsoft.com/office/powerpoint/2010/main" xmlns="" val="4176219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41574A0-6395-41F2-BAB8-C4BC3BB4D3D0}" type="datetimeFigureOut">
              <a:rPr lang="en-IN" smtClean="0"/>
              <a:pPr/>
              <a:t>28-01-2026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378AEE-EA23-40CC-8034-123E2440EAAF}" type="slidenum">
              <a:rPr lang="en-IN" smtClean="0"/>
              <a:pPr/>
              <a:t>‹#›</a:t>
            </a:fld>
            <a:endParaRPr lang="en-IN"/>
          </a:p>
        </p:txBody>
      </p:sp>
    </p:spTree>
    <p:extLst>
      <p:ext uri="{BB962C8B-B14F-4D97-AF65-F5344CB8AC3E}">
        <p14:creationId xmlns:p14="http://schemas.microsoft.com/office/powerpoint/2010/main" xmlns="" val="4126121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41574A0-6395-41F2-BAB8-C4BC3BB4D3D0}" type="datetimeFigureOut">
              <a:rPr lang="en-IN" smtClean="0"/>
              <a:pPr/>
              <a:t>28-01-2026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378AEE-EA23-40CC-8034-123E2440EAAF}" type="slidenum">
              <a:rPr lang="en-IN" smtClean="0"/>
              <a:pPr/>
              <a:t>‹#›</a:t>
            </a:fld>
            <a:endParaRPr lang="en-IN"/>
          </a:p>
        </p:txBody>
      </p:sp>
    </p:spTree>
    <p:extLst>
      <p:ext uri="{BB962C8B-B14F-4D97-AF65-F5344CB8AC3E}">
        <p14:creationId xmlns:p14="http://schemas.microsoft.com/office/powerpoint/2010/main" xmlns="" val="793479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41574A0-6395-41F2-BAB8-C4BC3BB4D3D0}" type="datetimeFigureOut">
              <a:rPr lang="en-IN" smtClean="0"/>
              <a:pPr/>
              <a:t>28-01-2026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B378AEE-EA23-40CC-8034-123E2440EAAF}" type="slidenum">
              <a:rPr lang="en-IN" smtClean="0"/>
              <a:pPr/>
              <a:t>‹#›</a:t>
            </a:fld>
            <a:endParaRPr lang="en-IN"/>
          </a:p>
        </p:txBody>
      </p:sp>
    </p:spTree>
    <p:extLst>
      <p:ext uri="{BB962C8B-B14F-4D97-AF65-F5344CB8AC3E}">
        <p14:creationId xmlns:p14="http://schemas.microsoft.com/office/powerpoint/2010/main" xmlns="" val="1730548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541574A0-6395-41F2-BAB8-C4BC3BB4D3D0}" type="datetimeFigureOut">
              <a:rPr lang="en-IN" smtClean="0"/>
              <a:pPr/>
              <a:t>28-01-2026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B378AEE-EA23-40CC-8034-123E2440EAAF}" type="slidenum">
              <a:rPr lang="en-IN" smtClean="0"/>
              <a:pPr/>
              <a:t>‹#›</a:t>
            </a:fld>
            <a:endParaRPr lang="en-IN"/>
          </a:p>
        </p:txBody>
      </p:sp>
    </p:spTree>
    <p:extLst>
      <p:ext uri="{BB962C8B-B14F-4D97-AF65-F5344CB8AC3E}">
        <p14:creationId xmlns:p14="http://schemas.microsoft.com/office/powerpoint/2010/main" xmlns="" val="3530195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41574A0-6395-41F2-BAB8-C4BC3BB4D3D0}" type="datetimeFigureOut">
              <a:rPr lang="en-IN" smtClean="0"/>
              <a:pPr/>
              <a:t>28-01-2026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B378AEE-EA23-40CC-8034-123E2440EAAF}" type="slidenum">
              <a:rPr lang="en-IN" smtClean="0"/>
              <a:pPr/>
              <a:t>‹#›</a:t>
            </a:fld>
            <a:endParaRPr lang="en-IN"/>
          </a:p>
        </p:txBody>
      </p:sp>
    </p:spTree>
    <p:extLst>
      <p:ext uri="{BB962C8B-B14F-4D97-AF65-F5344CB8AC3E}">
        <p14:creationId xmlns:p14="http://schemas.microsoft.com/office/powerpoint/2010/main" xmlns="" val="98714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1574A0-6395-41F2-BAB8-C4BC3BB4D3D0}" type="datetimeFigureOut">
              <a:rPr lang="en-IN" smtClean="0"/>
              <a:pPr/>
              <a:t>28-01-2026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B378AEE-EA23-40CC-8034-123E2440EAAF}" type="slidenum">
              <a:rPr lang="en-IN" smtClean="0"/>
              <a:pPr/>
              <a:t>‹#›</a:t>
            </a:fld>
            <a:endParaRPr lang="en-IN"/>
          </a:p>
        </p:txBody>
      </p:sp>
    </p:spTree>
    <p:extLst>
      <p:ext uri="{BB962C8B-B14F-4D97-AF65-F5344CB8AC3E}">
        <p14:creationId xmlns:p14="http://schemas.microsoft.com/office/powerpoint/2010/main" xmlns="" val="2397228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41574A0-6395-41F2-BAB8-C4BC3BB4D3D0}" type="datetimeFigureOut">
              <a:rPr lang="en-IN" smtClean="0"/>
              <a:pPr/>
              <a:t>28-01-2026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B378AEE-EA23-40CC-8034-123E2440EAAF}" type="slidenum">
              <a:rPr lang="en-IN" smtClean="0"/>
              <a:pPr/>
              <a:t>‹#›</a:t>
            </a:fld>
            <a:endParaRPr lang="en-IN"/>
          </a:p>
        </p:txBody>
      </p:sp>
    </p:spTree>
    <p:extLst>
      <p:ext uri="{BB962C8B-B14F-4D97-AF65-F5344CB8AC3E}">
        <p14:creationId xmlns:p14="http://schemas.microsoft.com/office/powerpoint/2010/main" xmlns="" val="2210355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41574A0-6395-41F2-BAB8-C4BC3BB4D3D0}" type="datetimeFigureOut">
              <a:rPr lang="en-IN" smtClean="0"/>
              <a:pPr/>
              <a:t>28-01-2026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B378AEE-EA23-40CC-8034-123E2440EAAF}" type="slidenum">
              <a:rPr lang="en-IN" smtClean="0"/>
              <a:pPr/>
              <a:t>‹#›</a:t>
            </a:fld>
            <a:endParaRPr lang="en-IN"/>
          </a:p>
        </p:txBody>
      </p:sp>
    </p:spTree>
    <p:extLst>
      <p:ext uri="{BB962C8B-B14F-4D97-AF65-F5344CB8AC3E}">
        <p14:creationId xmlns:p14="http://schemas.microsoft.com/office/powerpoint/2010/main" xmlns="" val="46703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41574A0-6395-41F2-BAB8-C4BC3BB4D3D0}" type="datetimeFigureOut">
              <a:rPr lang="en-IN" smtClean="0"/>
              <a:pPr/>
              <a:t>28-01-2026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378AEE-EA23-40CC-8034-123E2440EAAF}" type="slidenum">
              <a:rPr lang="en-IN" smtClean="0"/>
              <a:pPr/>
              <a:t>‹#›</a:t>
            </a:fld>
            <a:endParaRPr lang="en-IN"/>
          </a:p>
        </p:txBody>
      </p:sp>
    </p:spTree>
    <p:extLst>
      <p:ext uri="{BB962C8B-B14F-4D97-AF65-F5344CB8AC3E}">
        <p14:creationId xmlns:p14="http://schemas.microsoft.com/office/powerpoint/2010/main" xmlns="" val="4235365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41574A0-6395-41F2-BAB8-C4BC3BB4D3D0}" type="datetimeFigureOut">
              <a:rPr lang="en-IN" smtClean="0"/>
              <a:pPr/>
              <a:t>28-01-2026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378AEE-EA23-40CC-8034-123E2440EAAF}" type="slidenum">
              <a:rPr lang="en-IN" smtClean="0"/>
              <a:pPr/>
              <a:t>‹#›</a:t>
            </a:fld>
            <a:endParaRPr lang="en-IN"/>
          </a:p>
        </p:txBody>
      </p:sp>
    </p:spTree>
    <p:extLst>
      <p:ext uri="{BB962C8B-B14F-4D97-AF65-F5344CB8AC3E}">
        <p14:creationId xmlns:p14="http://schemas.microsoft.com/office/powerpoint/2010/main" xmlns="" val="695947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1574A0-6395-41F2-BAB8-C4BC3BB4D3D0}" type="datetimeFigureOut">
              <a:rPr lang="en-IN" smtClean="0"/>
              <a:pPr/>
              <a:t>28-01-2026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378AEE-EA23-40CC-8034-123E2440EAAF}" type="slidenum">
              <a:rPr lang="en-IN" smtClean="0"/>
              <a:pPr/>
              <a:t>‹#›</a:t>
            </a:fld>
            <a:endParaRPr lang="en-IN"/>
          </a:p>
        </p:txBody>
      </p:sp>
    </p:spTree>
    <p:extLst>
      <p:ext uri="{BB962C8B-B14F-4D97-AF65-F5344CB8AC3E}">
        <p14:creationId xmlns:p14="http://schemas.microsoft.com/office/powerpoint/2010/main" xmlns="" val="2612952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20.jpeg"/><Relationship Id="rId4" Type="http://schemas.openxmlformats.org/officeDocument/2006/relationships/image" Target="../media/image19.jpeg"/></Relationships>
</file>

<file path=ppt/slides/_rels/slide2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5.jpeg"/><Relationship Id="rId5" Type="http://schemas.openxmlformats.org/officeDocument/2006/relationships/image" Target="../media/image24.png"/><Relationship Id="rId4" Type="http://schemas.openxmlformats.org/officeDocument/2006/relationships/image" Target="../media/image23.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IN" dirty="0" smtClean="0"/>
              <a:t/>
            </a:r>
            <a:br>
              <a:rPr lang="en-IN" dirty="0" smtClean="0"/>
            </a:br>
            <a:r>
              <a:rPr lang="en-IN" dirty="0" smtClean="0"/>
              <a:t>Module-5</a:t>
            </a:r>
            <a:br>
              <a:rPr lang="en-IN" dirty="0" smtClean="0"/>
            </a:br>
            <a:r>
              <a:rPr lang="en-IN" dirty="0" smtClean="0"/>
              <a:t>Market segmentation, Targeting and Brand Positioning:</a:t>
            </a:r>
            <a:endParaRPr lang="en-IN" dirty="0"/>
          </a:p>
        </p:txBody>
      </p:sp>
      <p:sp>
        <p:nvSpPr>
          <p:cNvPr id="3" name="Subtitle 2"/>
          <p:cNvSpPr>
            <a:spLocks noGrp="1"/>
          </p:cNvSpPr>
          <p:nvPr>
            <p:ph type="subTitle" idx="1"/>
          </p:nvPr>
        </p:nvSpPr>
        <p:spPr/>
        <p:txBody>
          <a:bodyPr/>
          <a:lstStyle/>
          <a:p>
            <a:r>
              <a:rPr lang="en-US" dirty="0" smtClean="0"/>
              <a:t>Presentation by</a:t>
            </a:r>
          </a:p>
          <a:p>
            <a:r>
              <a:rPr lang="en-US" dirty="0" smtClean="0"/>
              <a:t>Dr. </a:t>
            </a:r>
            <a:r>
              <a:rPr lang="en-US" dirty="0" err="1" smtClean="0"/>
              <a:t>Basavaraj</a:t>
            </a:r>
            <a:r>
              <a:rPr lang="en-US" dirty="0" smtClean="0"/>
              <a:t> </a:t>
            </a:r>
            <a:r>
              <a:rPr lang="en-US" dirty="0" err="1" smtClean="0"/>
              <a:t>S.Kudachimath</a:t>
            </a:r>
            <a:endParaRPr lang="en-IN" dirty="0"/>
          </a:p>
        </p:txBody>
      </p:sp>
    </p:spTree>
    <p:extLst>
      <p:ext uri="{BB962C8B-B14F-4D97-AF65-F5344CB8AC3E}">
        <p14:creationId xmlns:p14="http://schemas.microsoft.com/office/powerpoint/2010/main" xmlns="" val="3967761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6117"/>
            <a:ext cx="10515600" cy="915035"/>
          </a:xfrm>
        </p:spPr>
        <p:txBody>
          <a:bodyPr/>
          <a:lstStyle/>
          <a:p>
            <a:r>
              <a:rPr lang="en-US" dirty="0" smtClean="0"/>
              <a:t>Discussion Points</a:t>
            </a:r>
            <a:endParaRPr lang="en-IN" dirty="0"/>
          </a:p>
        </p:txBody>
      </p:sp>
      <p:sp>
        <p:nvSpPr>
          <p:cNvPr id="3" name="Content Placeholder 2"/>
          <p:cNvSpPr>
            <a:spLocks noGrp="1"/>
          </p:cNvSpPr>
          <p:nvPr>
            <p:ph idx="1"/>
          </p:nvPr>
        </p:nvSpPr>
        <p:spPr>
          <a:xfrm>
            <a:off x="838200" y="931817"/>
            <a:ext cx="10515600" cy="5477691"/>
          </a:xfrm>
        </p:spPr>
        <p:txBody>
          <a:bodyPr>
            <a:normAutofit fontScale="92500" lnSpcReduction="10000"/>
          </a:bodyPr>
          <a:lstStyle/>
          <a:p>
            <a:r>
              <a:rPr lang="en-IN" dirty="0" smtClean="0"/>
              <a:t>Concept </a:t>
            </a:r>
            <a:r>
              <a:rPr lang="en-IN" dirty="0"/>
              <a:t>of Market Segmentation,</a:t>
            </a:r>
          </a:p>
          <a:p>
            <a:r>
              <a:rPr lang="en-IN" dirty="0"/>
              <a:t>Benefits, Requisites of Effective Segmentation, </a:t>
            </a:r>
            <a:endParaRPr lang="en-IN" dirty="0" smtClean="0"/>
          </a:p>
          <a:p>
            <a:r>
              <a:rPr lang="en-IN" dirty="0" smtClean="0"/>
              <a:t>Bases </a:t>
            </a:r>
            <a:r>
              <a:rPr lang="en-IN" dirty="0"/>
              <a:t>for Segmenting Consumer Markets, </a:t>
            </a:r>
            <a:endParaRPr lang="en-IN" dirty="0" smtClean="0"/>
          </a:p>
          <a:p>
            <a:r>
              <a:rPr lang="en-IN" dirty="0" smtClean="0"/>
              <a:t>Market Segmentation </a:t>
            </a:r>
            <a:r>
              <a:rPr lang="en-IN" dirty="0"/>
              <a:t>Strategies. </a:t>
            </a:r>
            <a:endParaRPr lang="en-IN" dirty="0" smtClean="0"/>
          </a:p>
          <a:p>
            <a:r>
              <a:rPr lang="en-IN" dirty="0" smtClean="0"/>
              <a:t>Types </a:t>
            </a:r>
            <a:r>
              <a:rPr lang="en-IN" dirty="0"/>
              <a:t>of Segmentation. </a:t>
            </a:r>
            <a:endParaRPr lang="en-IN" dirty="0" smtClean="0"/>
          </a:p>
          <a:p>
            <a:r>
              <a:rPr lang="en-IN" dirty="0" smtClean="0"/>
              <a:t>Targeting – </a:t>
            </a:r>
          </a:p>
          <a:p>
            <a:r>
              <a:rPr lang="en-IN" dirty="0" smtClean="0"/>
              <a:t>Bases </a:t>
            </a:r>
            <a:r>
              <a:rPr lang="en-IN" dirty="0"/>
              <a:t>for identifying target Customer</a:t>
            </a:r>
          </a:p>
          <a:p>
            <a:r>
              <a:rPr lang="en-IN" dirty="0" smtClean="0"/>
              <a:t>Target </a:t>
            </a:r>
            <a:r>
              <a:rPr lang="en-IN" dirty="0"/>
              <a:t>Marketing strategies, </a:t>
            </a:r>
            <a:endParaRPr lang="en-IN" dirty="0" smtClean="0"/>
          </a:p>
          <a:p>
            <a:r>
              <a:rPr lang="en-IN" dirty="0" smtClean="0"/>
              <a:t>Positioning </a:t>
            </a:r>
            <a:r>
              <a:rPr lang="en-IN" dirty="0"/>
              <a:t>- Meaning, </a:t>
            </a:r>
            <a:endParaRPr lang="en-IN" dirty="0" smtClean="0"/>
          </a:p>
          <a:p>
            <a:r>
              <a:rPr lang="en-IN" dirty="0" smtClean="0"/>
              <a:t>Tasks </a:t>
            </a:r>
            <a:r>
              <a:rPr lang="en-IN" dirty="0"/>
              <a:t>involved in Positioning. </a:t>
            </a:r>
            <a:endParaRPr lang="en-IN" dirty="0" smtClean="0"/>
          </a:p>
          <a:p>
            <a:r>
              <a:rPr lang="en-IN" dirty="0" smtClean="0"/>
              <a:t>Monitoring brands performance </a:t>
            </a:r>
            <a:r>
              <a:rPr lang="en-IN" dirty="0"/>
              <a:t>and positioning. </a:t>
            </a:r>
            <a:endParaRPr lang="en-IN" dirty="0" smtClean="0"/>
          </a:p>
          <a:p>
            <a:r>
              <a:rPr lang="en-IN" dirty="0" smtClean="0"/>
              <a:t>Product </a:t>
            </a:r>
            <a:r>
              <a:rPr lang="en-IN" dirty="0"/>
              <a:t>Differentiation Strategies.</a:t>
            </a:r>
          </a:p>
          <a:p>
            <a:pPr marL="0" indent="0">
              <a:buNone/>
            </a:pPr>
            <a:endParaRPr lang="en-IN" dirty="0"/>
          </a:p>
        </p:txBody>
      </p:sp>
    </p:spTree>
    <p:extLst>
      <p:ext uri="{BB962C8B-B14F-4D97-AF65-F5344CB8AC3E}">
        <p14:creationId xmlns:p14="http://schemas.microsoft.com/office/powerpoint/2010/main" xmlns="" val="2104194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1981200" y="274638"/>
            <a:ext cx="8229600" cy="792162"/>
          </a:xfrm>
        </p:spPr>
        <p:txBody>
          <a:bodyPr/>
          <a:lstStyle/>
          <a:p>
            <a:pPr eaLnBrk="1" hangingPunct="1"/>
            <a:r>
              <a:rPr lang="en-US" dirty="0" smtClean="0">
                <a:latin typeface="Times New Roman" pitchFamily="18" charset="0"/>
                <a:cs typeface="Times New Roman" pitchFamily="18" charset="0"/>
              </a:rPr>
              <a:t>What is segmentation?</a:t>
            </a:r>
          </a:p>
        </p:txBody>
      </p:sp>
      <p:sp>
        <p:nvSpPr>
          <p:cNvPr id="3" name="Content Placeholder 2"/>
          <p:cNvSpPr>
            <a:spLocks noGrp="1"/>
          </p:cNvSpPr>
          <p:nvPr>
            <p:ph idx="1"/>
          </p:nvPr>
        </p:nvSpPr>
        <p:spPr>
          <a:xfrm>
            <a:off x="885217" y="990601"/>
            <a:ext cx="10398867" cy="5135563"/>
          </a:xfrm>
        </p:spPr>
        <p:txBody>
          <a:bodyPr rtlCol="0">
            <a:normAutofit/>
          </a:bodyPr>
          <a:lstStyle/>
          <a:p>
            <a:pPr algn="just">
              <a:defRPr/>
            </a:pPr>
            <a:r>
              <a:rPr lang="en-US" dirty="0" smtClean="0">
                <a:latin typeface="Times New Roman" pitchFamily="18" charset="0"/>
                <a:cs typeface="Times New Roman" pitchFamily="18" charset="0"/>
              </a:rPr>
              <a:t>Market segmentation is the process of dividing the heterogeneous market in to homogeneous sub units</a:t>
            </a:r>
          </a:p>
          <a:p>
            <a:pPr algn="just">
              <a:defRPr/>
            </a:pPr>
            <a:r>
              <a:rPr lang="en-US" dirty="0" smtClean="0">
                <a:latin typeface="Times New Roman" pitchFamily="18" charset="0"/>
                <a:cs typeface="Times New Roman" pitchFamily="18" charset="0"/>
              </a:rPr>
              <a:t>The process of defining and subdividing a large homogenous market into clearly identifiable segments having similar needs, wants, or demand characteristics. Its objective is to design a marketing mix that precisely matches the expectations of customers in the targeted segment.</a:t>
            </a:r>
          </a:p>
          <a:p>
            <a:pPr algn="just">
              <a:defRPr/>
            </a:pPr>
            <a:r>
              <a:rPr lang="en-US" dirty="0" smtClean="0">
                <a:latin typeface="Times New Roman" pitchFamily="18" charset="0"/>
                <a:cs typeface="Times New Roman" pitchFamily="18" charset="0"/>
              </a:rPr>
              <a:t>Few companies are big enough to supply the needs of an entire market; most must breakdown the total demand into segments and choose those that the company is best equipped to handle. </a:t>
            </a:r>
          </a:p>
          <a:p>
            <a:pPr>
              <a:buNone/>
              <a:defRPr/>
            </a:pP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smtClean="0">
              <a:latin typeface="Times New Roman" pitchFamily="18" charset="0"/>
              <a:cs typeface="Times New Roman" pitchFamily="18" charset="0"/>
            </a:endParaRPr>
          </a:p>
          <a:p>
            <a:pPr>
              <a:buNone/>
              <a:defRPr/>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xmlns="" val="2662447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38200" y="478972"/>
            <a:ext cx="10515600" cy="6124516"/>
          </a:xfrm>
          <a:prstGeom prst="rect">
            <a:avLst/>
          </a:prstGeom>
        </p:spPr>
      </p:pic>
    </p:spTree>
    <p:extLst>
      <p:ext uri="{BB962C8B-B14F-4D97-AF65-F5344CB8AC3E}">
        <p14:creationId xmlns:p14="http://schemas.microsoft.com/office/powerpoint/2010/main" xmlns="" val="190248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descr="What is Market Segmentation, How To Segment Markets? (Made Easy)"/>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77494" y="374469"/>
            <a:ext cx="11409409" cy="603173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120182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944562"/>
          </a:xfrm>
        </p:spPr>
        <p:txBody>
          <a:bodyPr rtlCol="0">
            <a:normAutofit fontScale="90000"/>
          </a:bodyPr>
          <a:lstStyle/>
          <a:p>
            <a:pPr>
              <a:defRPr/>
            </a:pPr>
            <a:r>
              <a:rPr lang="en-US" dirty="0" smtClean="0"/>
              <a:t>Bases for Segmenting the Consumer market</a:t>
            </a:r>
            <a:endParaRPr lang="en-US" dirty="0"/>
          </a:p>
        </p:txBody>
      </p:sp>
      <p:sp>
        <p:nvSpPr>
          <p:cNvPr id="4" name="Rectangle 3"/>
          <p:cNvSpPr/>
          <p:nvPr/>
        </p:nvSpPr>
        <p:spPr>
          <a:xfrm>
            <a:off x="4724400" y="1295400"/>
            <a:ext cx="2895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600" b="1" dirty="0"/>
              <a:t>Segmentation</a:t>
            </a:r>
          </a:p>
        </p:txBody>
      </p:sp>
      <p:sp>
        <p:nvSpPr>
          <p:cNvPr id="5" name="Rectangle 4"/>
          <p:cNvSpPr/>
          <p:nvPr/>
        </p:nvSpPr>
        <p:spPr>
          <a:xfrm>
            <a:off x="1905000" y="2438400"/>
            <a:ext cx="24384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t>Customer Based Segmentation</a:t>
            </a:r>
          </a:p>
        </p:txBody>
      </p:sp>
      <p:sp>
        <p:nvSpPr>
          <p:cNvPr id="6" name="Rectangle 5"/>
          <p:cNvSpPr/>
          <p:nvPr/>
        </p:nvSpPr>
        <p:spPr>
          <a:xfrm>
            <a:off x="5029200" y="2438400"/>
            <a:ext cx="23622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t>Product Based Segmentation</a:t>
            </a:r>
          </a:p>
        </p:txBody>
      </p:sp>
      <p:sp>
        <p:nvSpPr>
          <p:cNvPr id="7" name="Rectangle 6"/>
          <p:cNvSpPr/>
          <p:nvPr/>
        </p:nvSpPr>
        <p:spPr>
          <a:xfrm>
            <a:off x="7924800" y="2362200"/>
            <a:ext cx="23622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a:t>Competition Based Segmentation</a:t>
            </a:r>
          </a:p>
        </p:txBody>
      </p:sp>
      <p:sp>
        <p:nvSpPr>
          <p:cNvPr id="8" name="Rounded Rectangle 7"/>
          <p:cNvSpPr/>
          <p:nvPr/>
        </p:nvSpPr>
        <p:spPr>
          <a:xfrm>
            <a:off x="2286000" y="3505200"/>
            <a:ext cx="1828800"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t>Geographic</a:t>
            </a:r>
            <a:endParaRPr lang="en-US" b="1" dirty="0"/>
          </a:p>
        </p:txBody>
      </p:sp>
      <p:sp>
        <p:nvSpPr>
          <p:cNvPr id="9" name="Rounded Rectangle 8"/>
          <p:cNvSpPr/>
          <p:nvPr/>
        </p:nvSpPr>
        <p:spPr>
          <a:xfrm>
            <a:off x="2286000" y="4038600"/>
            <a:ext cx="20574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t>Demographic</a:t>
            </a:r>
            <a:endParaRPr lang="en-US" sz="2000" b="1" dirty="0"/>
          </a:p>
        </p:txBody>
      </p:sp>
      <p:sp>
        <p:nvSpPr>
          <p:cNvPr id="10" name="Rounded Rectangle 9"/>
          <p:cNvSpPr/>
          <p:nvPr/>
        </p:nvSpPr>
        <p:spPr>
          <a:xfrm>
            <a:off x="2362200" y="4800600"/>
            <a:ext cx="20574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t>Psychographic</a:t>
            </a:r>
          </a:p>
        </p:txBody>
      </p:sp>
      <p:sp>
        <p:nvSpPr>
          <p:cNvPr id="11" name="Rounded Rectangle 10"/>
          <p:cNvSpPr/>
          <p:nvPr/>
        </p:nvSpPr>
        <p:spPr>
          <a:xfrm>
            <a:off x="5257800" y="3429000"/>
            <a:ext cx="21336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Benefit Segmentation</a:t>
            </a:r>
          </a:p>
        </p:txBody>
      </p:sp>
      <p:sp>
        <p:nvSpPr>
          <p:cNvPr id="12" name="Rounded Rectangle 11"/>
          <p:cNvSpPr/>
          <p:nvPr/>
        </p:nvSpPr>
        <p:spPr>
          <a:xfrm>
            <a:off x="5257800" y="4191000"/>
            <a:ext cx="20574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a:t>Consumption Based</a:t>
            </a:r>
          </a:p>
        </p:txBody>
      </p:sp>
      <p:sp>
        <p:nvSpPr>
          <p:cNvPr id="13" name="Rounded Rectangle 12"/>
          <p:cNvSpPr/>
          <p:nvPr/>
        </p:nvSpPr>
        <p:spPr>
          <a:xfrm>
            <a:off x="5334000" y="4800600"/>
            <a:ext cx="1905000" cy="838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a:t>Decision Criteria Based</a:t>
            </a:r>
          </a:p>
        </p:txBody>
      </p:sp>
      <p:sp>
        <p:nvSpPr>
          <p:cNvPr id="14" name="Rounded Rectangle 13"/>
          <p:cNvSpPr/>
          <p:nvPr/>
        </p:nvSpPr>
        <p:spPr>
          <a:xfrm>
            <a:off x="8001000" y="3505200"/>
            <a:ext cx="2209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a:t>Hard core </a:t>
            </a:r>
            <a:r>
              <a:rPr lang="en-US" sz="2000" b="1" dirty="0" err="1"/>
              <a:t>Loyals</a:t>
            </a:r>
            <a:endParaRPr lang="en-US" sz="2000" b="1" dirty="0"/>
          </a:p>
        </p:txBody>
      </p:sp>
      <p:sp>
        <p:nvSpPr>
          <p:cNvPr id="16" name="Rounded Rectangle 15"/>
          <p:cNvSpPr/>
          <p:nvPr/>
        </p:nvSpPr>
        <p:spPr>
          <a:xfrm>
            <a:off x="8077200" y="4267200"/>
            <a:ext cx="2209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a:t>Soft core Loyal</a:t>
            </a:r>
          </a:p>
        </p:txBody>
      </p:sp>
      <p:sp>
        <p:nvSpPr>
          <p:cNvPr id="17" name="Rounded Rectangle 16"/>
          <p:cNvSpPr/>
          <p:nvPr/>
        </p:nvSpPr>
        <p:spPr>
          <a:xfrm>
            <a:off x="8077200" y="5105400"/>
            <a:ext cx="2209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a:t>Switchers</a:t>
            </a:r>
          </a:p>
        </p:txBody>
      </p:sp>
      <p:cxnSp>
        <p:nvCxnSpPr>
          <p:cNvPr id="19" name="Straight Arrow Connector 18"/>
          <p:cNvCxnSpPr>
            <a:stCxn id="4" idx="2"/>
          </p:cNvCxnSpPr>
          <p:nvPr/>
        </p:nvCxnSpPr>
        <p:spPr>
          <a:xfrm rot="5400000">
            <a:off x="5905500" y="2171700"/>
            <a:ext cx="4572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10800000">
            <a:off x="2971800" y="2133600"/>
            <a:ext cx="3124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10800000">
            <a:off x="6172200" y="2133600"/>
            <a:ext cx="3124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rot="5400000">
            <a:off x="9181307" y="2247107"/>
            <a:ext cx="228600"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5400000">
            <a:off x="2856707" y="2247107"/>
            <a:ext cx="228600"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Down Arrow 29"/>
          <p:cNvSpPr/>
          <p:nvPr/>
        </p:nvSpPr>
        <p:spPr>
          <a:xfrm>
            <a:off x="2971800" y="3200400"/>
            <a:ext cx="152400" cy="228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1" name="Down Arrow 30"/>
          <p:cNvSpPr/>
          <p:nvPr/>
        </p:nvSpPr>
        <p:spPr>
          <a:xfrm>
            <a:off x="6172200" y="3124200"/>
            <a:ext cx="152400" cy="228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 name="Down Arrow 31"/>
          <p:cNvSpPr/>
          <p:nvPr/>
        </p:nvSpPr>
        <p:spPr>
          <a:xfrm>
            <a:off x="9067800" y="3124200"/>
            <a:ext cx="152400" cy="228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xmlns="" val="208002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r>
              <a:rPr lang="en-US" smtClean="0"/>
              <a:t>Geographic Segmentation</a:t>
            </a:r>
          </a:p>
        </p:txBody>
      </p:sp>
      <p:sp>
        <p:nvSpPr>
          <p:cNvPr id="3" name="Content Placeholder 2"/>
          <p:cNvSpPr>
            <a:spLocks noGrp="1"/>
          </p:cNvSpPr>
          <p:nvPr>
            <p:ph idx="1"/>
          </p:nvPr>
        </p:nvSpPr>
        <p:spPr>
          <a:xfrm>
            <a:off x="1981200" y="1295401"/>
            <a:ext cx="8229600" cy="4830763"/>
          </a:xfrm>
        </p:spPr>
        <p:txBody>
          <a:bodyPr rtlCol="0">
            <a:normAutofit/>
          </a:bodyPr>
          <a:lstStyle/>
          <a:p>
            <a:pPr>
              <a:buNone/>
              <a:defRPr/>
            </a:pPr>
            <a:r>
              <a:rPr lang="en-US" dirty="0" smtClean="0"/>
              <a:t>	Classifying the market based on geographical locations and advantages.</a:t>
            </a:r>
          </a:p>
          <a:p>
            <a:pPr>
              <a:buNone/>
              <a:defRPr/>
            </a:pPr>
            <a:r>
              <a:rPr lang="en-US" dirty="0" smtClean="0"/>
              <a:t>Examples:</a:t>
            </a:r>
          </a:p>
          <a:p>
            <a:pPr marL="514350" indent="-514350">
              <a:buFont typeface="Arial" panose="020B0604020202020204" pitchFamily="34" charset="0"/>
              <a:buAutoNum type="arabicPeriod"/>
              <a:defRPr/>
            </a:pPr>
            <a:r>
              <a:rPr lang="en-US" dirty="0" smtClean="0"/>
              <a:t>Metro Markets Non metro Markets</a:t>
            </a:r>
          </a:p>
          <a:p>
            <a:pPr marL="514350" indent="-514350">
              <a:buFont typeface="Arial" panose="020B0604020202020204" pitchFamily="34" charset="0"/>
              <a:buAutoNum type="arabicPeriod"/>
              <a:defRPr/>
            </a:pPr>
            <a:r>
              <a:rPr lang="en-US" dirty="0" smtClean="0"/>
              <a:t>Urban &amp; Rural Markets.</a:t>
            </a:r>
          </a:p>
          <a:p>
            <a:pPr marL="514350" indent="-514350">
              <a:buFont typeface="Arial" panose="020B0604020202020204" pitchFamily="34" charset="0"/>
              <a:buAutoNum type="arabicPeriod"/>
              <a:defRPr/>
            </a:pPr>
            <a:r>
              <a:rPr lang="en-US" dirty="0" smtClean="0"/>
              <a:t>Zonal wise classification</a:t>
            </a:r>
          </a:p>
          <a:p>
            <a:pPr marL="514350" indent="-514350">
              <a:buFont typeface="Arial" panose="020B0604020202020204" pitchFamily="34" charset="0"/>
              <a:buAutoNum type="arabicPeriod"/>
              <a:defRPr/>
            </a:pPr>
            <a:r>
              <a:rPr lang="en-US" dirty="0" smtClean="0"/>
              <a:t>Country wise classifications</a:t>
            </a:r>
          </a:p>
          <a:p>
            <a:pPr marL="514350" indent="-514350">
              <a:buFont typeface="Arial" panose="020B0604020202020204" pitchFamily="34" charset="0"/>
              <a:buAutoNum type="arabicPeriod"/>
              <a:defRPr/>
            </a:pPr>
            <a:endParaRPr lang="en-US" dirty="0"/>
          </a:p>
        </p:txBody>
      </p:sp>
    </p:spTree>
    <p:extLst>
      <p:ext uri="{BB962C8B-B14F-4D97-AF65-F5344CB8AC3E}">
        <p14:creationId xmlns:p14="http://schemas.microsoft.com/office/powerpoint/2010/main" xmlns="" val="1532203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1981200" y="274638"/>
            <a:ext cx="8229600" cy="1096962"/>
          </a:xfrm>
        </p:spPr>
        <p:txBody>
          <a:bodyPr/>
          <a:lstStyle/>
          <a:p>
            <a:pPr eaLnBrk="1" hangingPunct="1"/>
            <a:r>
              <a:rPr lang="en-US" smtClean="0"/>
              <a:t>Demographic Classification</a:t>
            </a:r>
          </a:p>
        </p:txBody>
      </p:sp>
      <p:sp>
        <p:nvSpPr>
          <p:cNvPr id="8195" name="Content Placeholder 2"/>
          <p:cNvSpPr>
            <a:spLocks noGrp="1"/>
          </p:cNvSpPr>
          <p:nvPr>
            <p:ph idx="1"/>
          </p:nvPr>
        </p:nvSpPr>
        <p:spPr/>
        <p:txBody>
          <a:bodyPr/>
          <a:lstStyle/>
          <a:p>
            <a:pPr eaLnBrk="1" hangingPunct="1">
              <a:buFont typeface="Arial" panose="020B0604020202020204" pitchFamily="34" charset="0"/>
              <a:buNone/>
            </a:pPr>
            <a:r>
              <a:rPr lang="en-US" smtClean="0"/>
              <a:t>	Demography is the changing structure of the human population such as Age, income, education, gender ratio etc.</a:t>
            </a:r>
          </a:p>
        </p:txBody>
      </p:sp>
    </p:spTree>
    <p:extLst>
      <p:ext uri="{BB962C8B-B14F-4D97-AF65-F5344CB8AC3E}">
        <p14:creationId xmlns:p14="http://schemas.microsoft.com/office/powerpoint/2010/main" xmlns="" val="269368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smtClean="0"/>
              <a:t>Psychographic</a:t>
            </a:r>
          </a:p>
        </p:txBody>
      </p:sp>
      <p:sp>
        <p:nvSpPr>
          <p:cNvPr id="9219" name="Content Placeholder 2"/>
          <p:cNvSpPr>
            <a:spLocks noGrp="1"/>
          </p:cNvSpPr>
          <p:nvPr>
            <p:ph idx="1"/>
          </p:nvPr>
        </p:nvSpPr>
        <p:spPr/>
        <p:txBody>
          <a:bodyPr/>
          <a:lstStyle/>
          <a:p>
            <a:pPr eaLnBrk="1" hangingPunct="1">
              <a:buFont typeface="Arial" panose="020B0604020202020204" pitchFamily="34" charset="0"/>
              <a:buNone/>
            </a:pPr>
            <a:r>
              <a:rPr lang="en-US" smtClean="0"/>
              <a:t>	Psychographic segmentation is sometimes also referred to as </a:t>
            </a:r>
            <a:r>
              <a:rPr lang="en-US" b="1" smtClean="0"/>
              <a:t>behavioral segmentation</a:t>
            </a:r>
            <a:r>
              <a:rPr lang="en-US" smtClean="0"/>
              <a:t>.</a:t>
            </a:r>
          </a:p>
          <a:p>
            <a:pPr eaLnBrk="1" hangingPunct="1">
              <a:buFont typeface="Arial" panose="020B0604020202020204" pitchFamily="34" charset="0"/>
              <a:buNone/>
            </a:pPr>
            <a:r>
              <a:rPr lang="en-US" smtClean="0"/>
              <a:t>Examples:</a:t>
            </a:r>
          </a:p>
          <a:p>
            <a:pPr eaLnBrk="1" hangingPunct="1">
              <a:buFont typeface="Arial" panose="020B0604020202020204" pitchFamily="34" charset="0"/>
              <a:buNone/>
            </a:pPr>
            <a:r>
              <a:rPr lang="en-US" smtClean="0"/>
              <a:t>Lifestyle</a:t>
            </a:r>
          </a:p>
          <a:p>
            <a:pPr eaLnBrk="1" hangingPunct="1">
              <a:buFont typeface="Arial" panose="020B0604020202020204" pitchFamily="34" charset="0"/>
              <a:buNone/>
            </a:pPr>
            <a:r>
              <a:rPr lang="en-US" smtClean="0"/>
              <a:t>Opinion, interest, hobbies</a:t>
            </a:r>
          </a:p>
          <a:p>
            <a:pPr eaLnBrk="1" hangingPunct="1">
              <a:buFont typeface="Arial" panose="020B0604020202020204" pitchFamily="34" charset="0"/>
              <a:buNone/>
            </a:pPr>
            <a:r>
              <a:rPr lang="en-US" smtClean="0"/>
              <a:t>Degree of loyalty</a:t>
            </a:r>
          </a:p>
          <a:p>
            <a:pPr eaLnBrk="1" hangingPunct="1">
              <a:buFont typeface="Arial" panose="020B0604020202020204" pitchFamily="34" charset="0"/>
              <a:buNone/>
            </a:pPr>
            <a:r>
              <a:rPr lang="en-US" smtClean="0"/>
              <a:t>Nature of usage of consumers etc</a:t>
            </a:r>
          </a:p>
        </p:txBody>
      </p:sp>
    </p:spTree>
    <p:extLst>
      <p:ext uri="{BB962C8B-B14F-4D97-AF65-F5344CB8AC3E}">
        <p14:creationId xmlns:p14="http://schemas.microsoft.com/office/powerpoint/2010/main" xmlns="" val="3853003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dirty="0" smtClean="0"/>
              <a:t>Product based Benefit segmentation</a:t>
            </a:r>
            <a:endParaRPr lang="en-US" dirty="0"/>
          </a:p>
        </p:txBody>
      </p:sp>
      <p:sp>
        <p:nvSpPr>
          <p:cNvPr id="10243" name="Content Placeholder 2"/>
          <p:cNvSpPr>
            <a:spLocks noGrp="1"/>
          </p:cNvSpPr>
          <p:nvPr>
            <p:ph idx="1"/>
          </p:nvPr>
        </p:nvSpPr>
        <p:spPr>
          <a:xfrm>
            <a:off x="1981200" y="1295401"/>
            <a:ext cx="8229600" cy="4830763"/>
          </a:xfrm>
        </p:spPr>
        <p:txBody>
          <a:bodyPr/>
          <a:lstStyle/>
          <a:p>
            <a:pPr marL="514350" indent="-514350">
              <a:buFont typeface="Arial" panose="020B0604020202020204" pitchFamily="34" charset="0"/>
              <a:buAutoNum type="arabicPeriod"/>
            </a:pPr>
            <a:r>
              <a:rPr lang="en-US" smtClean="0"/>
              <a:t>Direct benefit ( Personal usage benefit)</a:t>
            </a:r>
          </a:p>
          <a:p>
            <a:pPr marL="514350" indent="-514350">
              <a:buFont typeface="Arial" panose="020B0604020202020204" pitchFamily="34" charset="0"/>
              <a:buAutoNum type="arabicPeriod"/>
            </a:pPr>
            <a:r>
              <a:rPr lang="en-US" smtClean="0"/>
              <a:t>Derived benefit ( Gifting somebody etc)</a:t>
            </a:r>
          </a:p>
          <a:p>
            <a:pPr marL="514350" indent="-514350">
              <a:buFont typeface="Arial" panose="020B0604020202020204" pitchFamily="34" charset="0"/>
              <a:buAutoNum type="arabicPeriod"/>
            </a:pPr>
            <a:r>
              <a:rPr lang="en-US" smtClean="0"/>
              <a:t>Functional benefit ( expecting effective function)</a:t>
            </a:r>
          </a:p>
          <a:p>
            <a:pPr marL="514350" indent="-514350">
              <a:buFont typeface="Arial" panose="020B0604020202020204" pitchFamily="34" charset="0"/>
              <a:buAutoNum type="arabicPeriod"/>
            </a:pPr>
            <a:r>
              <a:rPr lang="en-US" smtClean="0"/>
              <a:t>Durability ( Expecting long life for product)</a:t>
            </a:r>
          </a:p>
        </p:txBody>
      </p:sp>
    </p:spTree>
    <p:extLst>
      <p:ext uri="{BB962C8B-B14F-4D97-AF65-F5344CB8AC3E}">
        <p14:creationId xmlns:p14="http://schemas.microsoft.com/office/powerpoint/2010/main" xmlns="" val="1834127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smtClean="0"/>
              <a:t>Targeting</a:t>
            </a:r>
          </a:p>
        </p:txBody>
      </p:sp>
      <p:pic>
        <p:nvPicPr>
          <p:cNvPr id="11267"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581400" y="1447801"/>
            <a:ext cx="5105400" cy="49244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585961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717624" y="274638"/>
            <a:ext cx="8229600" cy="868362"/>
          </a:xfrm>
        </p:spPr>
        <p:txBody>
          <a:bodyPr/>
          <a:lstStyle/>
          <a:p>
            <a:pPr eaLnBrk="1" hangingPunct="1"/>
            <a:r>
              <a:rPr lang="en-US" dirty="0" smtClean="0">
                <a:latin typeface="Times New Roman" pitchFamily="18" charset="0"/>
                <a:cs typeface="Times New Roman" pitchFamily="18" charset="0"/>
              </a:rPr>
              <a:t>Meaning of </a:t>
            </a:r>
            <a:r>
              <a:rPr lang="en-US" dirty="0" smtClean="0">
                <a:latin typeface="Times New Roman" pitchFamily="18" charset="0"/>
                <a:cs typeface="Times New Roman" pitchFamily="18" charset="0"/>
              </a:rPr>
              <a:t>Targeting</a:t>
            </a:r>
            <a:endParaRPr lang="en-US" dirty="0" smtClean="0">
              <a:latin typeface="Times New Roman" pitchFamily="18" charset="0"/>
              <a:cs typeface="Times New Roman" pitchFamily="18" charset="0"/>
            </a:endParaRPr>
          </a:p>
        </p:txBody>
      </p:sp>
      <p:sp>
        <p:nvSpPr>
          <p:cNvPr id="12291" name="Content Placeholder 2"/>
          <p:cNvSpPr>
            <a:spLocks noGrp="1"/>
          </p:cNvSpPr>
          <p:nvPr>
            <p:ph idx="1"/>
          </p:nvPr>
        </p:nvSpPr>
        <p:spPr>
          <a:xfrm>
            <a:off x="717624" y="1143001"/>
            <a:ext cx="8229600" cy="4983163"/>
          </a:xfrm>
        </p:spPr>
        <p:txBody>
          <a:bodyPr/>
          <a:lstStyle/>
          <a:p>
            <a:pPr algn="just" eaLnBrk="1" hangingPunct="1">
              <a:buFont typeface="Arial" panose="020B0604020202020204" pitchFamily="34" charset="0"/>
              <a:buNone/>
            </a:pPr>
            <a:r>
              <a:rPr lang="en-US" dirty="0" smtClean="0">
                <a:latin typeface="Times New Roman" pitchFamily="18" charset="0"/>
                <a:cs typeface="Times New Roman" pitchFamily="18" charset="0"/>
              </a:rPr>
              <a:t>	Targeting refers to selecting the specific segmented market group for implementing marketing efforts like developing product, pricing, promotion etc. It helps to focus only on selected segment and implement plans as per the convenience of the target customers.</a:t>
            </a:r>
          </a:p>
          <a:p>
            <a:pPr algn="just" eaLnBrk="1" hangingPunct="1">
              <a:buFont typeface="Arial" panose="020B0604020202020204" pitchFamily="34" charset="0"/>
              <a:buNone/>
            </a:pPr>
            <a:endParaRPr lang="en-US" dirty="0" smtClean="0">
              <a:latin typeface="Times New Roman" pitchFamily="18" charset="0"/>
              <a:cs typeface="Times New Roman" pitchFamily="18" charset="0"/>
            </a:endParaRPr>
          </a:p>
        </p:txBody>
      </p:sp>
      <p:pic>
        <p:nvPicPr>
          <p:cNvPr id="28674" name="Picture 2" descr="Target Marketing Strategies | Definition &amp; Examples - Lesson | Study.com"/>
          <p:cNvPicPr>
            <a:picLocks noChangeAspect="1" noChangeArrowheads="1"/>
          </p:cNvPicPr>
          <p:nvPr/>
        </p:nvPicPr>
        <p:blipFill>
          <a:blip r:embed="rId2"/>
          <a:srcRect/>
          <a:stretch>
            <a:fillRect/>
          </a:stretch>
        </p:blipFill>
        <p:spPr bwMode="auto">
          <a:xfrm>
            <a:off x="7728469" y="2777837"/>
            <a:ext cx="4286250" cy="3657600"/>
          </a:xfrm>
          <a:prstGeom prst="rect">
            <a:avLst/>
          </a:prstGeom>
          <a:noFill/>
        </p:spPr>
      </p:pic>
    </p:spTree>
    <p:extLst>
      <p:ext uri="{BB962C8B-B14F-4D97-AF65-F5344CB8AC3E}">
        <p14:creationId xmlns:p14="http://schemas.microsoft.com/office/powerpoint/2010/main" xmlns="" val="24997545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dirty="0" smtClean="0">
                <a:latin typeface="Times New Roman" pitchFamily="18" charset="0"/>
                <a:cs typeface="Times New Roman" pitchFamily="18" charset="0"/>
              </a:rPr>
              <a:t>Bases for identifying the target customers</a:t>
            </a:r>
            <a:endParaRPr lang="en-US" dirty="0">
              <a:latin typeface="Times New Roman" pitchFamily="18" charset="0"/>
              <a:cs typeface="Times New Roman" pitchFamily="18" charset="0"/>
            </a:endParaRPr>
          </a:p>
        </p:txBody>
      </p:sp>
      <p:sp>
        <p:nvSpPr>
          <p:cNvPr id="13315" name="Content Placeholder 2"/>
          <p:cNvSpPr>
            <a:spLocks noGrp="1"/>
          </p:cNvSpPr>
          <p:nvPr>
            <p:ph idx="1"/>
          </p:nvPr>
        </p:nvSpPr>
        <p:spPr>
          <a:xfrm>
            <a:off x="838201" y="1825625"/>
            <a:ext cx="7166956" cy="4351338"/>
          </a:xfrm>
        </p:spPr>
        <p:txBody>
          <a:bodyPr/>
          <a:lstStyle/>
          <a:p>
            <a:pPr marL="514350" indent="-514350">
              <a:buFont typeface="Arial" panose="020B0604020202020204" pitchFamily="34" charset="0"/>
              <a:buAutoNum type="arabicPeriod"/>
            </a:pPr>
            <a:r>
              <a:rPr lang="en-US" dirty="0" smtClean="0">
                <a:latin typeface="Times New Roman" pitchFamily="18" charset="0"/>
                <a:cs typeface="Times New Roman" pitchFamily="18" charset="0"/>
              </a:rPr>
              <a:t>Customer size. (Whether Large segment or niche market be focused?)</a:t>
            </a:r>
          </a:p>
          <a:p>
            <a:pPr marL="514350" indent="-514350">
              <a:buFont typeface="Arial" panose="020B0604020202020204" pitchFamily="34" charset="0"/>
              <a:buAutoNum type="arabicPeriod"/>
            </a:pPr>
            <a:r>
              <a:rPr lang="en-US" dirty="0" smtClean="0">
                <a:latin typeface="Times New Roman" pitchFamily="18" charset="0"/>
                <a:cs typeface="Times New Roman" pitchFamily="18" charset="0"/>
              </a:rPr>
              <a:t>Stage of lifecycle of product to compete.         ( whether to compete with new products/ existing products etc)</a:t>
            </a:r>
          </a:p>
          <a:p>
            <a:pPr marL="514350" indent="-514350">
              <a:buFont typeface="Arial" panose="020B0604020202020204" pitchFamily="34" charset="0"/>
              <a:buAutoNum type="arabicPeriod"/>
            </a:pPr>
            <a:r>
              <a:rPr lang="en-US" dirty="0" smtClean="0">
                <a:latin typeface="Times New Roman" pitchFamily="18" charset="0"/>
                <a:cs typeface="Times New Roman" pitchFamily="18" charset="0"/>
              </a:rPr>
              <a:t>Competition: (Identify all competitors or only specific competitor)</a:t>
            </a:r>
          </a:p>
          <a:p>
            <a:pPr marL="514350" indent="-514350">
              <a:buFont typeface="Arial" panose="020B0604020202020204" pitchFamily="34" charset="0"/>
              <a:buAutoNum type="arabicPeriod"/>
            </a:pPr>
            <a:endParaRPr lang="en-US" dirty="0" smtClean="0">
              <a:latin typeface="Times New Roman" pitchFamily="18" charset="0"/>
              <a:cs typeface="Times New Roman" pitchFamily="18" charset="0"/>
            </a:endParaRPr>
          </a:p>
          <a:p>
            <a:pPr marL="514350" indent="-514350">
              <a:buFont typeface="Arial" panose="020B0604020202020204" pitchFamily="34" charset="0"/>
              <a:buAutoNum type="arabicPeriod"/>
            </a:pPr>
            <a:endParaRPr lang="en-US" dirty="0" smtClean="0">
              <a:latin typeface="Times New Roman" pitchFamily="18" charset="0"/>
              <a:cs typeface="Times New Roman" pitchFamily="18" charset="0"/>
            </a:endParaRPr>
          </a:p>
          <a:p>
            <a:pPr marL="514350" indent="-514350">
              <a:buFont typeface="Arial" panose="020B0604020202020204" pitchFamily="34" charset="0"/>
              <a:buAutoNum type="arabicPeriod"/>
            </a:pPr>
            <a:endParaRPr lang="en-US" dirty="0" smtClean="0">
              <a:latin typeface="Times New Roman" pitchFamily="18" charset="0"/>
              <a:cs typeface="Times New Roman" pitchFamily="18" charset="0"/>
            </a:endParaRPr>
          </a:p>
        </p:txBody>
      </p:sp>
      <p:pic>
        <p:nvPicPr>
          <p:cNvPr id="27650" name="Picture 2" descr="How To Identify Your Target Audience?"/>
          <p:cNvPicPr>
            <a:picLocks noChangeAspect="1" noChangeArrowheads="1"/>
          </p:cNvPicPr>
          <p:nvPr/>
        </p:nvPicPr>
        <p:blipFill>
          <a:blip r:embed="rId2" cstate="print"/>
          <a:srcRect/>
          <a:stretch>
            <a:fillRect/>
          </a:stretch>
        </p:blipFill>
        <p:spPr bwMode="auto">
          <a:xfrm>
            <a:off x="7620250" y="1518822"/>
            <a:ext cx="4438747" cy="3051638"/>
          </a:xfrm>
          <a:prstGeom prst="rect">
            <a:avLst/>
          </a:prstGeom>
          <a:noFill/>
        </p:spPr>
      </p:pic>
    </p:spTree>
    <p:extLst>
      <p:ext uri="{BB962C8B-B14F-4D97-AF65-F5344CB8AC3E}">
        <p14:creationId xmlns:p14="http://schemas.microsoft.com/office/powerpoint/2010/main" xmlns="" val="47390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983640" y="100065"/>
            <a:ext cx="8229600" cy="1020762"/>
          </a:xfrm>
        </p:spPr>
        <p:txBody>
          <a:bodyPr/>
          <a:lstStyle/>
          <a:p>
            <a:pPr eaLnBrk="1" hangingPunct="1"/>
            <a:r>
              <a:rPr lang="en-US" dirty="0" smtClean="0">
                <a:latin typeface="Times New Roman" pitchFamily="18" charset="0"/>
                <a:cs typeface="Times New Roman" pitchFamily="18" charset="0"/>
              </a:rPr>
              <a:t>Targeting Strategies</a:t>
            </a:r>
          </a:p>
        </p:txBody>
      </p:sp>
      <p:sp>
        <p:nvSpPr>
          <p:cNvPr id="14339" name="Content Placeholder 2"/>
          <p:cNvSpPr>
            <a:spLocks noGrp="1"/>
          </p:cNvSpPr>
          <p:nvPr>
            <p:ph idx="1"/>
          </p:nvPr>
        </p:nvSpPr>
        <p:spPr>
          <a:xfrm>
            <a:off x="584616" y="4966965"/>
            <a:ext cx="8229600" cy="1724884"/>
          </a:xfrm>
        </p:spPr>
        <p:txBody>
          <a:bodyPr/>
          <a:lstStyle/>
          <a:p>
            <a:pPr marL="514350" indent="-514350">
              <a:buNone/>
            </a:pPr>
            <a:r>
              <a:rPr lang="en-US" dirty="0" smtClean="0">
                <a:latin typeface="Times New Roman" pitchFamily="18" charset="0"/>
                <a:cs typeface="Times New Roman" pitchFamily="18" charset="0"/>
              </a:rPr>
              <a:t>4.   Focus </a:t>
            </a:r>
            <a:r>
              <a:rPr lang="en-US" dirty="0" smtClean="0">
                <a:latin typeface="Times New Roman" pitchFamily="18" charset="0"/>
                <a:cs typeface="Times New Roman" pitchFamily="18" charset="0"/>
              </a:rPr>
              <a:t>Strategy: It is the combination of the two : </a:t>
            </a:r>
            <a:r>
              <a:rPr lang="en-US" dirty="0" err="1" smtClean="0">
                <a:latin typeface="Times New Roman" pitchFamily="18" charset="0"/>
                <a:cs typeface="Times New Roman" pitchFamily="18" charset="0"/>
              </a:rPr>
              <a:t>Maruti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suzuki</a:t>
            </a:r>
            <a:r>
              <a:rPr lang="en-US" dirty="0" smtClean="0">
                <a:latin typeface="Times New Roman" pitchFamily="18" charset="0"/>
                <a:cs typeface="Times New Roman" pitchFamily="18" charset="0"/>
              </a:rPr>
              <a:t>, Dominos pizza etc.</a:t>
            </a:r>
            <a:endParaRPr lang="en-US" dirty="0" smtClean="0">
              <a:latin typeface="Times New Roman" pitchFamily="18" charset="0"/>
              <a:cs typeface="Times New Roman" pitchFamily="18" charset="0"/>
            </a:endParaRPr>
          </a:p>
        </p:txBody>
      </p:sp>
      <p:pic>
        <p:nvPicPr>
          <p:cNvPr id="26626" name="Picture 2" descr="Product Standardization - Disadvantages &amp; Advantages of Product  Standardization"/>
          <p:cNvPicPr>
            <a:picLocks noChangeAspect="1" noChangeArrowheads="1"/>
          </p:cNvPicPr>
          <p:nvPr/>
        </p:nvPicPr>
        <p:blipFill>
          <a:blip r:embed="rId2"/>
          <a:srcRect/>
          <a:stretch>
            <a:fillRect/>
          </a:stretch>
        </p:blipFill>
        <p:spPr bwMode="auto">
          <a:xfrm>
            <a:off x="9160628" y="116377"/>
            <a:ext cx="2440590" cy="1259345"/>
          </a:xfrm>
          <a:prstGeom prst="rect">
            <a:avLst/>
          </a:prstGeom>
          <a:noFill/>
        </p:spPr>
      </p:pic>
      <p:pic>
        <p:nvPicPr>
          <p:cNvPr id="26628" name="Picture 4" descr="Product Differentiation in Marketing | Definition, Real Examples"/>
          <p:cNvPicPr>
            <a:picLocks noChangeAspect="1" noChangeArrowheads="1"/>
          </p:cNvPicPr>
          <p:nvPr/>
        </p:nvPicPr>
        <p:blipFill>
          <a:blip r:embed="rId3"/>
          <a:srcRect/>
          <a:stretch>
            <a:fillRect/>
          </a:stretch>
        </p:blipFill>
        <p:spPr bwMode="auto">
          <a:xfrm>
            <a:off x="9150876" y="1383248"/>
            <a:ext cx="2669822" cy="1867028"/>
          </a:xfrm>
          <a:prstGeom prst="rect">
            <a:avLst/>
          </a:prstGeom>
          <a:noFill/>
        </p:spPr>
      </p:pic>
      <p:pic>
        <p:nvPicPr>
          <p:cNvPr id="26630" name="Picture 6" descr="Measurement Tailor Taking Stock Illustrations – 64 Measurement Tailor Taking  Stock Illustrations, Vectors &amp; Clipart - Dreamstime"/>
          <p:cNvPicPr>
            <a:picLocks noChangeAspect="1" noChangeArrowheads="1"/>
          </p:cNvPicPr>
          <p:nvPr/>
        </p:nvPicPr>
        <p:blipFill>
          <a:blip r:embed="rId4"/>
          <a:srcRect/>
          <a:stretch>
            <a:fillRect/>
          </a:stretch>
        </p:blipFill>
        <p:spPr bwMode="auto">
          <a:xfrm>
            <a:off x="9152313" y="3416529"/>
            <a:ext cx="2701636" cy="1404851"/>
          </a:xfrm>
          <a:prstGeom prst="rect">
            <a:avLst/>
          </a:prstGeom>
          <a:noFill/>
        </p:spPr>
      </p:pic>
      <p:sp>
        <p:nvSpPr>
          <p:cNvPr id="7" name="Rectangle 6"/>
          <p:cNvSpPr/>
          <p:nvPr/>
        </p:nvSpPr>
        <p:spPr>
          <a:xfrm>
            <a:off x="645543" y="1152280"/>
            <a:ext cx="8165948" cy="954107"/>
          </a:xfrm>
          <a:prstGeom prst="rect">
            <a:avLst/>
          </a:prstGeom>
        </p:spPr>
        <p:txBody>
          <a:bodyPr wrap="square">
            <a:spAutoFit/>
          </a:bodyPr>
          <a:lstStyle/>
          <a:p>
            <a:pPr marL="514350" indent="-514350">
              <a:buFont typeface="Arial" panose="020B0604020202020204" pitchFamily="34" charset="0"/>
              <a:buAutoNum type="arabicPeriod"/>
            </a:pPr>
            <a:r>
              <a:rPr lang="en-US" sz="2800" dirty="0" smtClean="0">
                <a:latin typeface="Times New Roman" pitchFamily="18" charset="0"/>
                <a:cs typeface="Times New Roman" pitchFamily="18" charset="0"/>
              </a:rPr>
              <a:t>Standardization strategy: Implementing the same </a:t>
            </a:r>
            <a:r>
              <a:rPr lang="en-US" sz="2800" i="1" dirty="0" smtClean="0">
                <a:latin typeface="Times New Roman" pitchFamily="18" charset="0"/>
                <a:cs typeface="Times New Roman" pitchFamily="18" charset="0"/>
              </a:rPr>
              <a:t>product to all customers </a:t>
            </a:r>
            <a:r>
              <a:rPr lang="en-US" sz="2800" dirty="0" smtClean="0">
                <a:latin typeface="Times New Roman" pitchFamily="18" charset="0"/>
                <a:cs typeface="Times New Roman" pitchFamily="18" charset="0"/>
              </a:rPr>
              <a:t>( Coca-Cola, Pepsi etc).</a:t>
            </a:r>
            <a:endParaRPr lang="en-US" sz="2800" dirty="0" smtClean="0">
              <a:latin typeface="Times New Roman" pitchFamily="18" charset="0"/>
              <a:cs typeface="Times New Roman" pitchFamily="18" charset="0"/>
            </a:endParaRPr>
          </a:p>
        </p:txBody>
      </p:sp>
      <p:sp>
        <p:nvSpPr>
          <p:cNvPr id="8" name="Rectangle 7"/>
          <p:cNvSpPr/>
          <p:nvPr/>
        </p:nvSpPr>
        <p:spPr>
          <a:xfrm>
            <a:off x="637229" y="2368799"/>
            <a:ext cx="8240764" cy="1384995"/>
          </a:xfrm>
          <a:prstGeom prst="rect">
            <a:avLst/>
          </a:prstGeom>
        </p:spPr>
        <p:txBody>
          <a:bodyPr wrap="square">
            <a:spAutoFit/>
          </a:bodyPr>
          <a:lstStyle/>
          <a:p>
            <a:pPr marL="514350" indent="-514350" algn="just"/>
            <a:r>
              <a:rPr lang="en-US" sz="2800" dirty="0" smtClean="0">
                <a:latin typeface="Times New Roman" pitchFamily="18" charset="0"/>
                <a:cs typeface="Times New Roman" pitchFamily="18" charset="0"/>
              </a:rPr>
              <a:t>2. Differentiation </a:t>
            </a:r>
            <a:r>
              <a:rPr lang="en-US" sz="2800" dirty="0" smtClean="0">
                <a:latin typeface="Times New Roman" pitchFamily="18" charset="0"/>
                <a:cs typeface="Times New Roman" pitchFamily="18" charset="0"/>
              </a:rPr>
              <a:t>strategy: Company introduces different product and price strategies to different segments. </a:t>
            </a:r>
            <a:r>
              <a:rPr lang="en-US" sz="2800" dirty="0" err="1" smtClean="0">
                <a:latin typeface="Times New Roman" pitchFamily="18" charset="0"/>
                <a:cs typeface="Times New Roman" pitchFamily="18" charset="0"/>
              </a:rPr>
              <a:t>Eg</a:t>
            </a:r>
            <a:r>
              <a:rPr lang="en-US" sz="2800" dirty="0" smtClean="0">
                <a:latin typeface="Times New Roman" pitchFamily="18" charset="0"/>
                <a:cs typeface="Times New Roman" pitchFamily="18" charset="0"/>
              </a:rPr>
              <a:t>: Airlines.</a:t>
            </a:r>
            <a:endParaRPr lang="en-US" sz="2800" dirty="0" smtClean="0">
              <a:latin typeface="Times New Roman" pitchFamily="18" charset="0"/>
              <a:cs typeface="Times New Roman" pitchFamily="18" charset="0"/>
            </a:endParaRPr>
          </a:p>
        </p:txBody>
      </p:sp>
      <p:sp>
        <p:nvSpPr>
          <p:cNvPr id="9" name="Rectangle 8"/>
          <p:cNvSpPr/>
          <p:nvPr/>
        </p:nvSpPr>
        <p:spPr>
          <a:xfrm>
            <a:off x="673101" y="3984191"/>
            <a:ext cx="8387772" cy="954107"/>
          </a:xfrm>
          <a:prstGeom prst="rect">
            <a:avLst/>
          </a:prstGeom>
        </p:spPr>
        <p:txBody>
          <a:bodyPr wrap="square">
            <a:spAutoFit/>
          </a:bodyPr>
          <a:lstStyle/>
          <a:p>
            <a:pPr marL="514350" indent="-514350" algn="just"/>
            <a:r>
              <a:rPr lang="en-US" sz="2800" dirty="0" smtClean="0">
                <a:latin typeface="Times New Roman" pitchFamily="18" charset="0"/>
                <a:cs typeface="Times New Roman" pitchFamily="18" charset="0"/>
              </a:rPr>
              <a:t>3. Customization </a:t>
            </a:r>
            <a:r>
              <a:rPr lang="en-US" sz="2800" dirty="0" smtClean="0">
                <a:latin typeface="Times New Roman" pitchFamily="18" charset="0"/>
                <a:cs typeface="Times New Roman" pitchFamily="18" charset="0"/>
              </a:rPr>
              <a:t>strategy</a:t>
            </a:r>
            <a:r>
              <a:rPr lang="en-US" sz="2800" dirty="0" smtClean="0">
                <a:latin typeface="Times New Roman" pitchFamily="18" charset="0"/>
                <a:cs typeface="Times New Roman" pitchFamily="18" charset="0"/>
              </a:rPr>
              <a:t>.: Preparing product as per customer needs. </a:t>
            </a:r>
            <a:endParaRPr lang="en-US" sz="2800" dirty="0" smtClean="0">
              <a:latin typeface="Times New Roman" pitchFamily="18" charset="0"/>
              <a:cs typeface="Times New Roman" pitchFamily="18" charset="0"/>
            </a:endParaRPr>
          </a:p>
        </p:txBody>
      </p:sp>
      <p:pic>
        <p:nvPicPr>
          <p:cNvPr id="26632" name="Picture 8" descr="Chapter 4, Class Exercise (Solved) | Operation Management I. UPO 2014-2015"/>
          <p:cNvPicPr>
            <a:picLocks noChangeAspect="1" noChangeArrowheads="1"/>
          </p:cNvPicPr>
          <p:nvPr/>
        </p:nvPicPr>
        <p:blipFill>
          <a:blip r:embed="rId5"/>
          <a:srcRect/>
          <a:stretch>
            <a:fillRect/>
          </a:stretch>
        </p:blipFill>
        <p:spPr bwMode="auto">
          <a:xfrm>
            <a:off x="8634556" y="4846320"/>
            <a:ext cx="3452090" cy="1911927"/>
          </a:xfrm>
          <a:prstGeom prst="rect">
            <a:avLst/>
          </a:prstGeom>
          <a:noFill/>
        </p:spPr>
      </p:pic>
    </p:spTree>
    <p:extLst>
      <p:ext uri="{BB962C8B-B14F-4D97-AF65-F5344CB8AC3E}">
        <p14:creationId xmlns:p14="http://schemas.microsoft.com/office/powerpoint/2010/main" xmlns="" val="1017538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6626"/>
                                        </p:tgtEl>
                                        <p:attrNameLst>
                                          <p:attrName>style.visibility</p:attrName>
                                        </p:attrNameLst>
                                      </p:cBhvr>
                                      <p:to>
                                        <p:strVal val="visible"/>
                                      </p:to>
                                    </p:set>
                                    <p:anim calcmode="lin" valueType="num">
                                      <p:cBhvr additive="base">
                                        <p:cTn id="11" dur="500" fill="hold"/>
                                        <p:tgtEl>
                                          <p:spTgt spid="26626"/>
                                        </p:tgtEl>
                                        <p:attrNameLst>
                                          <p:attrName>ppt_x</p:attrName>
                                        </p:attrNameLst>
                                      </p:cBhvr>
                                      <p:tavLst>
                                        <p:tav tm="0">
                                          <p:val>
                                            <p:strVal val="#ppt_x"/>
                                          </p:val>
                                        </p:tav>
                                        <p:tav tm="100000">
                                          <p:val>
                                            <p:strVal val="#ppt_x"/>
                                          </p:val>
                                        </p:tav>
                                      </p:tavLst>
                                    </p:anim>
                                    <p:anim calcmode="lin" valueType="num">
                                      <p:cBhvr additive="base">
                                        <p:cTn id="12" dur="500" fill="hold"/>
                                        <p:tgtEl>
                                          <p:spTgt spid="2662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6628"/>
                                        </p:tgtEl>
                                        <p:attrNameLst>
                                          <p:attrName>style.visibility</p:attrName>
                                        </p:attrNameLst>
                                      </p:cBhvr>
                                      <p:to>
                                        <p:strVal val="visible"/>
                                      </p:to>
                                    </p:set>
                                    <p:anim calcmode="lin" valueType="num">
                                      <p:cBhvr additive="base">
                                        <p:cTn id="21" dur="500" fill="hold"/>
                                        <p:tgtEl>
                                          <p:spTgt spid="26628"/>
                                        </p:tgtEl>
                                        <p:attrNameLst>
                                          <p:attrName>ppt_x</p:attrName>
                                        </p:attrNameLst>
                                      </p:cBhvr>
                                      <p:tavLst>
                                        <p:tav tm="0">
                                          <p:val>
                                            <p:strVal val="#ppt_x"/>
                                          </p:val>
                                        </p:tav>
                                        <p:tav tm="100000">
                                          <p:val>
                                            <p:strVal val="#ppt_x"/>
                                          </p:val>
                                        </p:tav>
                                      </p:tavLst>
                                    </p:anim>
                                    <p:anim calcmode="lin" valueType="num">
                                      <p:cBhvr additive="base">
                                        <p:cTn id="22" dur="500" fill="hold"/>
                                        <p:tgtEl>
                                          <p:spTgt spid="2662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6630"/>
                                        </p:tgtEl>
                                        <p:attrNameLst>
                                          <p:attrName>style.visibility</p:attrName>
                                        </p:attrNameLst>
                                      </p:cBhvr>
                                      <p:to>
                                        <p:strVal val="visible"/>
                                      </p:to>
                                    </p:set>
                                    <p:anim calcmode="lin" valueType="num">
                                      <p:cBhvr additive="base">
                                        <p:cTn id="31" dur="500" fill="hold"/>
                                        <p:tgtEl>
                                          <p:spTgt spid="26630"/>
                                        </p:tgtEl>
                                        <p:attrNameLst>
                                          <p:attrName>ppt_x</p:attrName>
                                        </p:attrNameLst>
                                      </p:cBhvr>
                                      <p:tavLst>
                                        <p:tav tm="0">
                                          <p:val>
                                            <p:strVal val="#ppt_x"/>
                                          </p:val>
                                        </p:tav>
                                        <p:tav tm="100000">
                                          <p:val>
                                            <p:strVal val="#ppt_x"/>
                                          </p:val>
                                        </p:tav>
                                      </p:tavLst>
                                    </p:anim>
                                    <p:anim calcmode="lin" valueType="num">
                                      <p:cBhvr additive="base">
                                        <p:cTn id="32" dur="500" fill="hold"/>
                                        <p:tgtEl>
                                          <p:spTgt spid="2663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339">
                                            <p:txEl>
                                              <p:pRg st="0" end="0"/>
                                            </p:txEl>
                                          </p:spTgt>
                                        </p:tgtEl>
                                        <p:attrNameLst>
                                          <p:attrName>style.visibility</p:attrName>
                                        </p:attrNameLst>
                                      </p:cBhvr>
                                      <p:to>
                                        <p:strVal val="visible"/>
                                      </p:to>
                                    </p:set>
                                    <p:anim calcmode="lin" valueType="num">
                                      <p:cBhvr additive="base">
                                        <p:cTn id="37" dur="500" fill="hold"/>
                                        <p:tgtEl>
                                          <p:spTgt spid="14339">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339">
                                            <p:txEl>
                                              <p:pRg st="0" end="0"/>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6632"/>
                                        </p:tgtEl>
                                        <p:attrNameLst>
                                          <p:attrName>style.visibility</p:attrName>
                                        </p:attrNameLst>
                                      </p:cBhvr>
                                      <p:to>
                                        <p:strVal val="visible"/>
                                      </p:to>
                                    </p:set>
                                    <p:anim calcmode="lin" valueType="num">
                                      <p:cBhvr additive="base">
                                        <p:cTn id="41" dur="500" fill="hold"/>
                                        <p:tgtEl>
                                          <p:spTgt spid="26632"/>
                                        </p:tgtEl>
                                        <p:attrNameLst>
                                          <p:attrName>ppt_x</p:attrName>
                                        </p:attrNameLst>
                                      </p:cBhvr>
                                      <p:tavLst>
                                        <p:tav tm="0">
                                          <p:val>
                                            <p:strVal val="#ppt_x"/>
                                          </p:val>
                                        </p:tav>
                                        <p:tav tm="100000">
                                          <p:val>
                                            <p:strVal val="#ppt_x"/>
                                          </p:val>
                                        </p:tav>
                                      </p:tavLst>
                                    </p:anim>
                                    <p:anim calcmode="lin" valueType="num">
                                      <p:cBhvr additive="base">
                                        <p:cTn id="42" dur="500" fill="hold"/>
                                        <p:tgtEl>
                                          <p:spTgt spid="266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P spid="7" grpId="0"/>
      <p:bldP spid="8"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698269" y="274638"/>
            <a:ext cx="10886091" cy="792162"/>
          </a:xfrm>
        </p:spPr>
        <p:txBody>
          <a:bodyPr/>
          <a:lstStyle/>
          <a:p>
            <a:pPr algn="just" eaLnBrk="1" hangingPunct="1"/>
            <a:r>
              <a:rPr lang="en-US" b="1" dirty="0" smtClean="0">
                <a:latin typeface="Times New Roman" pitchFamily="18" charset="0"/>
                <a:cs typeface="Times New Roman" pitchFamily="18" charset="0"/>
              </a:rPr>
              <a:t>Positioning</a:t>
            </a:r>
            <a:endParaRPr lang="en-US" dirty="0" smtClean="0">
              <a:latin typeface="Times New Roman" pitchFamily="18" charset="0"/>
              <a:cs typeface="Times New Roman" pitchFamily="18" charset="0"/>
            </a:endParaRPr>
          </a:p>
        </p:txBody>
      </p:sp>
      <p:sp>
        <p:nvSpPr>
          <p:cNvPr id="15363" name="Content Placeholder 2"/>
          <p:cNvSpPr>
            <a:spLocks noGrp="1"/>
          </p:cNvSpPr>
          <p:nvPr>
            <p:ph idx="1"/>
          </p:nvPr>
        </p:nvSpPr>
        <p:spPr>
          <a:xfrm>
            <a:off x="472951" y="1143002"/>
            <a:ext cx="11356060" cy="2273529"/>
          </a:xfrm>
        </p:spPr>
        <p:txBody>
          <a:bodyPr/>
          <a:lstStyle/>
          <a:p>
            <a:pPr algn="just" eaLnBrk="1" hangingPunct="1">
              <a:buFont typeface="Arial" panose="020B0604020202020204" pitchFamily="34" charset="0"/>
              <a:buNone/>
            </a:pPr>
            <a:r>
              <a:rPr lang="en-US" dirty="0" smtClean="0">
                <a:latin typeface="Times New Roman" pitchFamily="18" charset="0"/>
                <a:cs typeface="Times New Roman" pitchFamily="18" charset="0"/>
              </a:rPr>
              <a:t>	Creating the image about the company and its product in the mind of the target customer is called positioning. It is the process of making the customer to accept the product in specific manner. </a:t>
            </a:r>
            <a:r>
              <a:rPr lang="en-US" dirty="0" err="1" smtClean="0">
                <a:latin typeface="Times New Roman" pitchFamily="18" charset="0"/>
                <a:cs typeface="Times New Roman" pitchFamily="18" charset="0"/>
              </a:rPr>
              <a:t>Eg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Maruti</a:t>
            </a:r>
            <a:r>
              <a:rPr lang="en-US" dirty="0" smtClean="0">
                <a:latin typeface="Times New Roman" pitchFamily="18" charset="0"/>
                <a:cs typeface="Times New Roman" pitchFamily="18" charset="0"/>
              </a:rPr>
              <a:t> cars are less </a:t>
            </a:r>
            <a:r>
              <a:rPr lang="en-US" dirty="0" smtClean="0">
                <a:latin typeface="Times New Roman" pitchFamily="18" charset="0"/>
                <a:cs typeface="Times New Roman" pitchFamily="18" charset="0"/>
              </a:rPr>
              <a:t>maintenance </a:t>
            </a:r>
            <a:r>
              <a:rPr lang="en-US" dirty="0" smtClean="0">
                <a:latin typeface="Times New Roman" pitchFamily="18" charset="0"/>
                <a:cs typeface="Times New Roman" pitchFamily="18" charset="0"/>
              </a:rPr>
              <a:t>and high mileage cars where as BMW are costly and high comfort cars. </a:t>
            </a:r>
            <a:r>
              <a:rPr lang="en-US" dirty="0" err="1" smtClean="0">
                <a:latin typeface="Times New Roman" pitchFamily="18" charset="0"/>
                <a:cs typeface="Times New Roman" pitchFamily="18" charset="0"/>
              </a:rPr>
              <a:t>Nano</a:t>
            </a:r>
            <a:r>
              <a:rPr lang="en-US" dirty="0" smtClean="0">
                <a:latin typeface="Times New Roman" pitchFamily="18" charset="0"/>
                <a:cs typeface="Times New Roman" pitchFamily="18" charset="0"/>
              </a:rPr>
              <a:t> is small and less priced car etc.</a:t>
            </a:r>
          </a:p>
        </p:txBody>
      </p:sp>
      <p:pic>
        <p:nvPicPr>
          <p:cNvPr id="25604" name="Picture 4" descr="Positioning creates a distinct image for its products in consumers' minds."/>
          <p:cNvPicPr>
            <a:picLocks noChangeAspect="1" noChangeArrowheads="1"/>
          </p:cNvPicPr>
          <p:nvPr/>
        </p:nvPicPr>
        <p:blipFill>
          <a:blip r:embed="rId2"/>
          <a:srcRect/>
          <a:stretch>
            <a:fillRect/>
          </a:stretch>
        </p:blipFill>
        <p:spPr bwMode="auto">
          <a:xfrm>
            <a:off x="2898843" y="3156128"/>
            <a:ext cx="4192621" cy="3536502"/>
          </a:xfrm>
          <a:prstGeom prst="rect">
            <a:avLst/>
          </a:prstGeom>
          <a:noFill/>
        </p:spPr>
      </p:pic>
    </p:spTree>
    <p:extLst>
      <p:ext uri="{BB962C8B-B14F-4D97-AF65-F5344CB8AC3E}">
        <p14:creationId xmlns:p14="http://schemas.microsoft.com/office/powerpoint/2010/main" xmlns="" val="41825494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dirty="0" smtClean="0"/>
              <a:t>Positioning Differences are based on</a:t>
            </a:r>
            <a:endParaRPr lang="en-US" dirty="0"/>
          </a:p>
        </p:txBody>
      </p:sp>
      <p:sp>
        <p:nvSpPr>
          <p:cNvPr id="16387" name="Content Placeholder 2"/>
          <p:cNvSpPr>
            <a:spLocks noGrp="1"/>
          </p:cNvSpPr>
          <p:nvPr>
            <p:ph idx="1"/>
          </p:nvPr>
        </p:nvSpPr>
        <p:spPr>
          <a:xfrm>
            <a:off x="838200" y="1825625"/>
            <a:ext cx="4910667" cy="4351338"/>
          </a:xfrm>
        </p:spPr>
        <p:txBody>
          <a:bodyPr/>
          <a:lstStyle/>
          <a:p>
            <a:pPr marL="514350" indent="-514350">
              <a:buFont typeface="Arial" panose="020B0604020202020204" pitchFamily="34" charset="0"/>
              <a:buAutoNum type="arabicPeriod"/>
            </a:pPr>
            <a:r>
              <a:rPr lang="en-US" dirty="0" smtClean="0">
                <a:latin typeface="Times New Roman" pitchFamily="18" charset="0"/>
                <a:cs typeface="Times New Roman" pitchFamily="18" charset="0"/>
              </a:rPr>
              <a:t>Product.</a:t>
            </a:r>
          </a:p>
          <a:p>
            <a:pPr marL="514350" indent="-514350">
              <a:buFont typeface="Arial" panose="020B0604020202020204" pitchFamily="34" charset="0"/>
              <a:buAutoNum type="arabicPeriod"/>
            </a:pPr>
            <a:r>
              <a:rPr lang="en-US" dirty="0" smtClean="0">
                <a:latin typeface="Times New Roman" pitchFamily="18" charset="0"/>
                <a:cs typeface="Times New Roman" pitchFamily="18" charset="0"/>
              </a:rPr>
              <a:t>Service</a:t>
            </a:r>
          </a:p>
          <a:p>
            <a:pPr marL="514350" indent="-514350">
              <a:buFont typeface="Arial" panose="020B0604020202020204" pitchFamily="34" charset="0"/>
              <a:buAutoNum type="arabicPeriod"/>
            </a:pPr>
            <a:r>
              <a:rPr lang="en-US" dirty="0" smtClean="0">
                <a:latin typeface="Times New Roman" pitchFamily="18" charset="0"/>
                <a:cs typeface="Times New Roman" pitchFamily="18" charset="0"/>
              </a:rPr>
              <a:t>Channel</a:t>
            </a:r>
          </a:p>
          <a:p>
            <a:pPr marL="514350" indent="-514350">
              <a:buFont typeface="Arial" panose="020B0604020202020204" pitchFamily="34" charset="0"/>
              <a:buAutoNum type="arabicPeriod"/>
            </a:pPr>
            <a:r>
              <a:rPr lang="en-US" dirty="0" smtClean="0">
                <a:latin typeface="Times New Roman" pitchFamily="18" charset="0"/>
                <a:cs typeface="Times New Roman" pitchFamily="18" charset="0"/>
              </a:rPr>
              <a:t>Price</a:t>
            </a:r>
          </a:p>
          <a:p>
            <a:pPr marL="514350" indent="-514350">
              <a:buFont typeface="Arial" panose="020B0604020202020204" pitchFamily="34" charset="0"/>
              <a:buAutoNum type="arabicPeriod"/>
            </a:pPr>
            <a:r>
              <a:rPr lang="en-US" dirty="0" smtClean="0">
                <a:latin typeface="Times New Roman" pitchFamily="18" charset="0"/>
                <a:cs typeface="Times New Roman" pitchFamily="18" charset="0"/>
              </a:rPr>
              <a:t>People</a:t>
            </a:r>
          </a:p>
          <a:p>
            <a:pPr marL="514350" indent="-514350">
              <a:buFont typeface="Arial" panose="020B0604020202020204" pitchFamily="34" charset="0"/>
              <a:buAutoNum type="arabicPeriod"/>
            </a:pPr>
            <a:r>
              <a:rPr lang="en-US" dirty="0" smtClean="0">
                <a:latin typeface="Times New Roman" pitchFamily="18" charset="0"/>
                <a:cs typeface="Times New Roman" pitchFamily="18" charset="0"/>
              </a:rPr>
              <a:t>Image</a:t>
            </a:r>
          </a:p>
        </p:txBody>
      </p:sp>
      <p:pic>
        <p:nvPicPr>
          <p:cNvPr id="4" name="Picture 2" descr="Positioning to create an image of your product for your target customer |  Entrepreneur's Toolkit"/>
          <p:cNvPicPr>
            <a:picLocks noChangeAspect="1" noChangeArrowheads="1"/>
          </p:cNvPicPr>
          <p:nvPr/>
        </p:nvPicPr>
        <p:blipFill>
          <a:blip r:embed="rId2"/>
          <a:srcRect/>
          <a:stretch>
            <a:fillRect/>
          </a:stretch>
        </p:blipFill>
        <p:spPr bwMode="auto">
          <a:xfrm>
            <a:off x="3437467" y="1556894"/>
            <a:ext cx="8441266" cy="4335906"/>
          </a:xfrm>
          <a:prstGeom prst="rect">
            <a:avLst/>
          </a:prstGeom>
          <a:noFill/>
        </p:spPr>
      </p:pic>
    </p:spTree>
    <p:extLst>
      <p:ext uri="{BB962C8B-B14F-4D97-AF65-F5344CB8AC3E}">
        <p14:creationId xmlns:p14="http://schemas.microsoft.com/office/powerpoint/2010/main" xmlns="" val="2035571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Examples of brand positioning</a:t>
            </a:r>
            <a:endParaRPr lang="en-IN" dirty="0"/>
          </a:p>
        </p:txBody>
      </p:sp>
      <p:sp>
        <p:nvSpPr>
          <p:cNvPr id="3" name="Content Placeholder 2"/>
          <p:cNvSpPr>
            <a:spLocks noGrp="1"/>
          </p:cNvSpPr>
          <p:nvPr>
            <p:ph idx="1"/>
          </p:nvPr>
        </p:nvSpPr>
        <p:spPr/>
        <p:txBody>
          <a:bodyPr/>
          <a:lstStyle/>
          <a:p>
            <a:pPr marL="514350" indent="-514350" algn="just">
              <a:buAutoNum type="arabicPeriod"/>
            </a:pPr>
            <a:r>
              <a:rPr lang="en-IN" dirty="0" smtClean="0">
                <a:latin typeface="Times New Roman" pitchFamily="18" charset="0"/>
                <a:cs typeface="Times New Roman" pitchFamily="18" charset="0"/>
              </a:rPr>
              <a:t>Amazon is positioned as low price quick </a:t>
            </a:r>
            <a:r>
              <a:rPr lang="en-IN" dirty="0" err="1" smtClean="0">
                <a:latin typeface="Times New Roman" pitchFamily="18" charset="0"/>
                <a:cs typeface="Times New Roman" pitchFamily="18" charset="0"/>
              </a:rPr>
              <a:t>delivary</a:t>
            </a:r>
            <a:r>
              <a:rPr lang="en-IN" dirty="0" smtClean="0">
                <a:latin typeface="Times New Roman" pitchFamily="18" charset="0"/>
                <a:cs typeface="Times New Roman" pitchFamily="18" charset="0"/>
              </a:rPr>
              <a:t> for consumer products where as </a:t>
            </a:r>
            <a:r>
              <a:rPr lang="en-IN" dirty="0" err="1" smtClean="0">
                <a:latin typeface="Times New Roman" pitchFamily="18" charset="0"/>
                <a:cs typeface="Times New Roman" pitchFamily="18" charset="0"/>
              </a:rPr>
              <a:t>Flipkart</a:t>
            </a:r>
            <a:r>
              <a:rPr lang="en-IN" dirty="0" smtClean="0">
                <a:latin typeface="Times New Roman" pitchFamily="18" charset="0"/>
                <a:cs typeface="Times New Roman" pitchFamily="18" charset="0"/>
              </a:rPr>
              <a:t> positioned as quality products in electronics</a:t>
            </a:r>
          </a:p>
          <a:p>
            <a:pPr marL="514350" indent="-514350" algn="just">
              <a:buAutoNum type="arabicPeriod"/>
            </a:pPr>
            <a:r>
              <a:rPr lang="en-US" dirty="0">
                <a:latin typeface="Times New Roman" pitchFamily="18" charset="0"/>
                <a:cs typeface="Times New Roman" pitchFamily="18" charset="0"/>
              </a:rPr>
              <a:t>LinkedIn is much more of a corporate business and professional tool (today) – which has proven itself in the world of corporate recruiting </a:t>
            </a:r>
            <a:r>
              <a:rPr lang="en-US" dirty="0" smtClean="0">
                <a:latin typeface="Times New Roman" pitchFamily="18" charset="0"/>
                <a:cs typeface="Times New Roman" pitchFamily="18" charset="0"/>
              </a:rPr>
              <a:t>while. </a:t>
            </a:r>
            <a:r>
              <a:rPr lang="en-US" dirty="0">
                <a:latin typeface="Times New Roman" pitchFamily="18" charset="0"/>
                <a:cs typeface="Times New Roman" pitchFamily="18" charset="0"/>
              </a:rPr>
              <a:t>Facebook is a huge social networking platform connecting millions over the </a:t>
            </a:r>
            <a:r>
              <a:rPr lang="en-US" dirty="0" smtClean="0">
                <a:latin typeface="Times New Roman" pitchFamily="18" charset="0"/>
                <a:cs typeface="Times New Roman" pitchFamily="18" charset="0"/>
              </a:rPr>
              <a:t>globe.</a:t>
            </a:r>
          </a:p>
          <a:p>
            <a:pPr marL="514350" indent="-514350" algn="just">
              <a:buAutoNum type="arabicPeriod"/>
            </a:pPr>
            <a:r>
              <a:rPr lang="en-US" dirty="0">
                <a:latin typeface="Times New Roman" pitchFamily="18" charset="0"/>
                <a:cs typeface="Times New Roman" pitchFamily="18" charset="0"/>
              </a:rPr>
              <a:t>Surf Excel offers outstanding stain removal ability on a wide range of </a:t>
            </a:r>
            <a:r>
              <a:rPr lang="en-US" dirty="0" smtClean="0">
                <a:latin typeface="Times New Roman" pitchFamily="18" charset="0"/>
                <a:cs typeface="Times New Roman" pitchFamily="18" charset="0"/>
              </a:rPr>
              <a:t>stains. Keeps clothes clean and fresh with fragrance.</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xmlns="" val="14555854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1981200" y="274638"/>
            <a:ext cx="8229600" cy="944562"/>
          </a:xfrm>
        </p:spPr>
        <p:txBody>
          <a:bodyPr/>
          <a:lstStyle/>
          <a:p>
            <a:pPr eaLnBrk="1" hangingPunct="1"/>
            <a:r>
              <a:rPr lang="en-US" dirty="0" smtClean="0"/>
              <a:t>Branding</a:t>
            </a:r>
          </a:p>
        </p:txBody>
      </p:sp>
      <p:sp>
        <p:nvSpPr>
          <p:cNvPr id="17411" name="Content Placeholder 2"/>
          <p:cNvSpPr>
            <a:spLocks noGrp="1"/>
          </p:cNvSpPr>
          <p:nvPr>
            <p:ph idx="1"/>
          </p:nvPr>
        </p:nvSpPr>
        <p:spPr>
          <a:xfrm>
            <a:off x="1981200" y="1219201"/>
            <a:ext cx="8229600" cy="4906963"/>
          </a:xfrm>
        </p:spPr>
        <p:txBody>
          <a:bodyPr/>
          <a:lstStyle/>
          <a:p>
            <a:pPr marL="514350" indent="-514350">
              <a:buFont typeface="Arial" panose="020B0604020202020204" pitchFamily="34" charset="0"/>
              <a:buAutoNum type="arabicPeriod"/>
            </a:pPr>
            <a:r>
              <a:rPr lang="en-US" smtClean="0"/>
              <a:t>Concept of Branding</a:t>
            </a:r>
          </a:p>
          <a:p>
            <a:pPr marL="514350" indent="-514350">
              <a:buFont typeface="Arial" panose="020B0604020202020204" pitchFamily="34" charset="0"/>
              <a:buAutoNum type="arabicPeriod"/>
            </a:pPr>
            <a:r>
              <a:rPr lang="en-US" smtClean="0"/>
              <a:t>Brand Types</a:t>
            </a:r>
          </a:p>
          <a:p>
            <a:pPr marL="514350" indent="-514350">
              <a:buFont typeface="Arial" panose="020B0604020202020204" pitchFamily="34" charset="0"/>
              <a:buAutoNum type="arabicPeriod"/>
            </a:pPr>
            <a:r>
              <a:rPr lang="en-US" smtClean="0"/>
              <a:t>Brand equity</a:t>
            </a:r>
          </a:p>
          <a:p>
            <a:pPr marL="514350" indent="-514350">
              <a:buFont typeface="Arial" panose="020B0604020202020204" pitchFamily="34" charset="0"/>
              <a:buAutoNum type="arabicPeriod"/>
            </a:pPr>
            <a:r>
              <a:rPr lang="en-US" smtClean="0"/>
              <a:t>Branding Strategies</a:t>
            </a:r>
          </a:p>
        </p:txBody>
      </p:sp>
      <p:pic>
        <p:nvPicPr>
          <p:cNvPr id="22530" name="Picture 2" descr="What is Branding? - Why is Branding important? - Get the Answers Here"/>
          <p:cNvPicPr>
            <a:picLocks noChangeAspect="1" noChangeArrowheads="1"/>
          </p:cNvPicPr>
          <p:nvPr/>
        </p:nvPicPr>
        <p:blipFill>
          <a:blip r:embed="rId2"/>
          <a:srcRect/>
          <a:stretch>
            <a:fillRect/>
          </a:stretch>
        </p:blipFill>
        <p:spPr bwMode="auto">
          <a:xfrm>
            <a:off x="1147796" y="3465555"/>
            <a:ext cx="5019540" cy="2566810"/>
          </a:xfrm>
          <a:prstGeom prst="rect">
            <a:avLst/>
          </a:prstGeom>
          <a:noFill/>
        </p:spPr>
      </p:pic>
      <p:sp>
        <p:nvSpPr>
          <p:cNvPr id="22532" name="AutoShape 4" descr="What is a Brand? Definition and Examples | Ramo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2534" name="AutoShape 6" descr="What is a Brand? Definition and Examples | Ramo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2536" name="AutoShape 8" descr="What is a Brand? Definition and Examples | Ramo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2538" name="AutoShape 10" descr="What is a Brand? Definition and Examples | Ramo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2539" name="Picture 11"/>
          <p:cNvPicPr>
            <a:picLocks noChangeAspect="1" noChangeArrowheads="1"/>
          </p:cNvPicPr>
          <p:nvPr/>
        </p:nvPicPr>
        <p:blipFill>
          <a:blip r:embed="rId3"/>
          <a:srcRect/>
          <a:stretch>
            <a:fillRect/>
          </a:stretch>
        </p:blipFill>
        <p:spPr bwMode="auto">
          <a:xfrm>
            <a:off x="6839896" y="2631129"/>
            <a:ext cx="5164036" cy="3638550"/>
          </a:xfrm>
          <a:prstGeom prst="rect">
            <a:avLst/>
          </a:prstGeom>
          <a:noFill/>
          <a:ln w="9525">
            <a:noFill/>
            <a:miter lim="800000"/>
            <a:headEnd/>
            <a:tailEnd/>
          </a:ln>
          <a:effectLst/>
        </p:spPr>
      </p:pic>
    </p:spTree>
    <p:extLst>
      <p:ext uri="{BB962C8B-B14F-4D97-AF65-F5344CB8AC3E}">
        <p14:creationId xmlns:p14="http://schemas.microsoft.com/office/powerpoint/2010/main" xmlns="" val="38727528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 y="0"/>
            <a:ext cx="4197927" cy="3605742"/>
          </a:xfrm>
          <a:prstGeom prst="rect">
            <a:avLst/>
          </a:prstGeom>
        </p:spPr>
      </p:pic>
      <p:pic>
        <p:nvPicPr>
          <p:cNvPr id="2" name="Picture 1"/>
          <p:cNvPicPr>
            <a:picLocks noChangeAspect="1"/>
          </p:cNvPicPr>
          <p:nvPr/>
        </p:nvPicPr>
        <p:blipFill>
          <a:blip r:embed="rId3"/>
          <a:stretch>
            <a:fillRect/>
          </a:stretch>
        </p:blipFill>
        <p:spPr>
          <a:xfrm>
            <a:off x="4771505" y="91440"/>
            <a:ext cx="6498510" cy="3782291"/>
          </a:xfrm>
          <a:prstGeom prst="rect">
            <a:avLst/>
          </a:prstGeom>
        </p:spPr>
      </p:pic>
      <p:pic>
        <p:nvPicPr>
          <p:cNvPr id="4" name="Picture 3"/>
          <p:cNvPicPr>
            <a:picLocks noChangeAspect="1"/>
          </p:cNvPicPr>
          <p:nvPr/>
        </p:nvPicPr>
        <p:blipFill>
          <a:blip r:embed="rId4"/>
          <a:stretch>
            <a:fillRect/>
          </a:stretch>
        </p:blipFill>
        <p:spPr>
          <a:xfrm>
            <a:off x="66502" y="3873730"/>
            <a:ext cx="5141388" cy="2909455"/>
          </a:xfrm>
          <a:prstGeom prst="rect">
            <a:avLst/>
          </a:prstGeom>
        </p:spPr>
      </p:pic>
      <p:pic>
        <p:nvPicPr>
          <p:cNvPr id="5" name="Picture 4"/>
          <p:cNvPicPr>
            <a:picLocks noChangeAspect="1"/>
          </p:cNvPicPr>
          <p:nvPr/>
        </p:nvPicPr>
        <p:blipFill>
          <a:blip r:embed="rId5"/>
          <a:stretch>
            <a:fillRect/>
          </a:stretch>
        </p:blipFill>
        <p:spPr>
          <a:xfrm>
            <a:off x="5299017" y="3873729"/>
            <a:ext cx="5864976" cy="2909455"/>
          </a:xfrm>
          <a:prstGeom prst="rect">
            <a:avLst/>
          </a:prstGeom>
        </p:spPr>
      </p:pic>
    </p:spTree>
    <p:extLst>
      <p:ext uri="{BB962C8B-B14F-4D97-AF65-F5344CB8AC3E}">
        <p14:creationId xmlns:p14="http://schemas.microsoft.com/office/powerpoint/2010/main" xmlns="" val="23993254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algn="r" eaLnBrk="1" hangingPunct="1"/>
            <a:r>
              <a:rPr lang="en-US" smtClean="0"/>
              <a:t>What is Brand</a:t>
            </a:r>
          </a:p>
        </p:txBody>
      </p:sp>
      <p:sp>
        <p:nvSpPr>
          <p:cNvPr id="20483" name="Text Box 4"/>
          <p:cNvSpPr txBox="1">
            <a:spLocks noChangeArrowheads="1"/>
          </p:cNvSpPr>
          <p:nvPr/>
        </p:nvSpPr>
        <p:spPr bwMode="auto">
          <a:xfrm>
            <a:off x="1981200" y="1524000"/>
            <a:ext cx="5181600" cy="2724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sz="2400">
                <a:latin typeface="Times New Roman" panose="02020603050405020304" pitchFamily="18" charset="0"/>
              </a:rPr>
              <a:t>“</a:t>
            </a:r>
            <a:r>
              <a:rPr lang="en-US" sz="2400">
                <a:latin typeface="Tahoma" panose="020B0604030504040204" pitchFamily="34" charset="0"/>
              </a:rPr>
              <a:t>A name, term, design, symbol or anyother feature that identifies one seller’s goods or service as distinct from those of other seller. If it is used for the whole firm it is called as trade name..” </a:t>
            </a:r>
          </a:p>
          <a:p>
            <a:pPr algn="r" eaLnBrk="1" hangingPunct="1">
              <a:spcBef>
                <a:spcPct val="50000"/>
              </a:spcBef>
            </a:pPr>
            <a:r>
              <a:rPr lang="en-US">
                <a:latin typeface="Tahoma" panose="020B0604030504040204" pitchFamily="34" charset="0"/>
              </a:rPr>
              <a:t>American Marketing association</a:t>
            </a:r>
            <a:endParaRPr lang="en-CA">
              <a:latin typeface="Tahoma" panose="020B0604030504040204" pitchFamily="34" charset="0"/>
            </a:endParaRPr>
          </a:p>
        </p:txBody>
      </p:sp>
      <p:sp>
        <p:nvSpPr>
          <p:cNvPr id="20484" name="Text Box 5"/>
          <p:cNvSpPr txBox="1">
            <a:spLocks noChangeArrowheads="1"/>
          </p:cNvSpPr>
          <p:nvPr/>
        </p:nvSpPr>
        <p:spPr bwMode="auto">
          <a:xfrm>
            <a:off x="2819400" y="4464050"/>
            <a:ext cx="5105400" cy="869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sz="2400">
                <a:latin typeface="Times New Roman" panose="02020603050405020304" pitchFamily="18" charset="0"/>
              </a:rPr>
              <a:t>“</a:t>
            </a:r>
            <a:r>
              <a:rPr lang="en-US" sz="2400">
                <a:latin typeface="Tahoma" panose="020B0604030504040204" pitchFamily="34" charset="0"/>
              </a:rPr>
              <a:t>A product with a personality.” </a:t>
            </a:r>
          </a:p>
          <a:p>
            <a:pPr algn="r" eaLnBrk="1" hangingPunct="1">
              <a:spcBef>
                <a:spcPct val="50000"/>
              </a:spcBef>
            </a:pPr>
            <a:r>
              <a:rPr lang="en-US">
                <a:latin typeface="Tahoma" panose="020B0604030504040204" pitchFamily="34" charset="0"/>
              </a:rPr>
              <a:t>Chris Staples, Rethink, Vancouver</a:t>
            </a:r>
            <a:endParaRPr lang="en-CA">
              <a:latin typeface="Tahoma" panose="020B0604030504040204" pitchFamily="34" charset="0"/>
            </a:endParaRPr>
          </a:p>
        </p:txBody>
      </p:sp>
      <p:sp>
        <p:nvSpPr>
          <p:cNvPr id="20485" name="Text Box 6"/>
          <p:cNvSpPr txBox="1">
            <a:spLocks noChangeArrowheads="1"/>
          </p:cNvSpPr>
          <p:nvPr/>
        </p:nvSpPr>
        <p:spPr bwMode="auto">
          <a:xfrm>
            <a:off x="2667000" y="5326064"/>
            <a:ext cx="7010400" cy="830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sz="2400" i="1">
                <a:latin typeface="Times New Roman" panose="02020603050405020304" pitchFamily="18" charset="0"/>
              </a:rPr>
              <a:t>Marketing communications in any form has an impact on customers’ perceptions. </a:t>
            </a:r>
            <a:endParaRPr lang="en-CA" sz="2400" i="1">
              <a:latin typeface="Times New Roman" panose="02020603050405020304" pitchFamily="18" charset="0"/>
            </a:endParaRPr>
          </a:p>
        </p:txBody>
      </p:sp>
      <p:pic>
        <p:nvPicPr>
          <p:cNvPr id="20486" name="Picture 9" descr="Tata Logo"/>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679576" y="304800"/>
            <a:ext cx="2663825"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0487" name="AutoShape 11" descr="data:image/jpeg;base64,/9j/4AAQSkZJRgABAQAAAQABAAD/2wCEAAkGBw8NDQ8NDA0NDQwNDQwNDA0MDQ8MDQ0NFBEWFhQRFBUYHCkgGRolGxQUITEiMSo3Li4vFx8zOTMsNygtLi0BCgoKDg0OGA8QFywkHiQsLCwyLCwsLCssLC0sLCwvLC8xLCwtLC0sLSwsLCwsLCwsLCwrLCwsLCwsLCwsLCwsLP/AABEIAK4A6QMBEQACEQEDEQH/xAAbAAADAQADAQAAAAAAAAAAAAAAAQIDBAUGB//EAD0QAAICAgADBQUFBgMJAAAAAAECAAMEEQUSIQYTMUFRImFxgZEHFDJCUhUjcqGx8BZiwSQzNFNUgpKT0f/EABoBAQEBAQEBAQAAAAAAAAAAAAABAgMEBQb/xAA3EQACAgEBBgMHAwQABwAAAAAAAQIRAwQFEiExQVETYXEigZGhsdHwFDLBM0JS4QYjU2JygvH/2gAMAwEAAhEDEQA/APoU/En3hQAgBACAOAEANQA1ADUtAepaIGooWPUtCw1FEsNRRbDUULDUlCxaigGpKKLUlANQAgBACAEAUAIA4AQAgBKAgBACAEAIA9QA1KQepaAwJaJY9TVEsfLLQsfLLRLHyy7osOWTdFi5YoWLlkoti1M0LFqSi2LUlFFqSgGoKLUgCAEAIAQAgBACAOUgQAgBACAGpQPUtAYEtEKAmkiWUFmkiWUFmlEzYws1uksrll3RYcsu6Sw5Y3RYuWTdLYuWZotklZlotiImaLZJElFERM0UnUlFDUgFACQBACAEAIAalA4AQAgBAHLRA1LQKAlSJZQE2kSygs0kZssLOiiZssLNKJLKCzaiZsfLLuksOWXdFhyybpbEVk3RZJWZcS2SVmXE1ZJWYaLZJEy0askiYaLZJEy0URElFFqQCkKEAIAQAgBAHNECAEAcUA1LRCgJUiFATaRLLCzaRlssLOiiZbNAs6KJhssJOiiZbLCTagSx8k1uEsjvE5gvOnMfBeYcx+UbhadXRfJJukskpMuJbJKzLiWySsw4mrIKzDiasgrMOJqyCsw0WySJho0SRM0UUzRRSFFACAEAIA4A5SBACAGpQMCWiFATSRDRROiRls0VZ1UTDZoqzqomGzVVnVRMNk5N9dFbW3OlVaDbO5CqBOqgIxlN7sVbPPN2ityAWw0WjF8Bm5at+89e4pGi/wASQJMk4Ylc2e6OjUXU3cv8V09X0+pxkZ725UF2W/m+Qdp/610ij47nz3rcuWW7hh7/AM5Hd44Y1c2o+S+74s7OnhV2tWZIpH/LoUDX00JxzT3P6+dRfZczzvU4v7Md+bNV4TX/ANRlMfdZ/pqcYZtPL9k8kvRN/wAGXqZ/4R+ByEwCv4MjIH8fK4/mJ64zius16xdfQ5POnzhH3cP5OTWtg6MUcfqUFD8x1nqxveXBp+hzk49LRZWbcTNkFZzcTSZmyzDiaTIKzm4mkyCJzaNpkETDRSSJho0LUgFIUIAQAgBKBwQIAalA9QCgJpIyWonRIjNFE6JGGzVVnaMTDZqizvGJzbOLxvi1OBjtkZDaVeiqPxWP5IvvM7RibwYZ55qEP/h4dO8zynEOKLqrfNw/huz3ZXyut9R/X4ThqtTHBHzfJH2YwjivBg5/3T6+iO9wOHvlnv8AIYrSOg0NcwH5UHkJ8d1KL1GolUfr5I4Zs8cC8PGuP5xZ3auFAqoTlH5UToSPVj/rPB+s1Wun4GlW5Dy/l/Y8Djftzd+ZyqcMDrYeY+g6KP8A7Pt6PYmnwe1Nb0u7+xxlmb4R4HKCgdAAB6DpPrpJKkcbEVihZnYnQ68dHR984zxp8a4m0+J5vHNtZQFnN7d6bFutK1+weuunmOs+VDxINJv2nd2+HD3e8+rPw5p8Fu8KpceP5R22FmpcNAqLB+JAdkfUT2Y8scnr2PFlxSx+nc3ZZpxMJmbLOTRpMzKzk0bTMyJzaNJkETDRokiZaKLUhQkARQCKAalA5SBFAcUBiaohQE0kQ0UTokZZqonaKObZsizvFGGy2dUVndgqIrM7MdKqgbJJ9NTvGJz4t0uZ8vTJ/bvEXybuYcL4eAyV60LOvsIf8zkdfd0ly5Fig5y6H6Lw/wBHhWKP9SfXt3fu+p6LCobNyC1nRBprNeC1jwQenpPz0f8An5JZMjqK4vyS6HHLOOmxVHn09e53+RboAIvolVY6bPkJ8TUZ8m0dTGEFS5Jdl3Pmwjzbfm2c/DxhWvX2nbq7+p9B7hP22j0ePS4ljh733PNlyb78jkT1nIIAQA1JRTj5WIloHOPDm0R4jmUqf5GcsmGM+a/Ko6Y8socvzqdFko9LBWd1FNVXdOgB7xt8um38p8zJGWNpNtUlT79D6ONxyJtJcW78up2mHkd6vtKyWL0dHUoQfXXpPVjnvriqfZqjx5ce4+DteXE0YRJGUzNhOTRtMyInJo2mQRObRokiYaNEyUUUlAIoBFAcUAmgEgHLRBiVIhYE2kRmiidYowzZBO8Uc2zdBO8Uc2zyn2mZV64Qxsam61skkWtTVZYEpXq2yo6b6D6zuj6GyoQebxJyS3eVtLidRw3D+58Ox8YgrbeDmZII03M3RFPwC/ynyNqZeWNer/g+hv8AjZ55ei9le7mep4PR3WMv67j3jfw+Cj+/fPibTy+DpY4Vzn7T9On56nzdTPfzPsuH3OZw5Oe1nP4av3a/xkbY/QgfWez/AIc0qUJZ3zfBHDPLdgo9+Pu6HaT9QeMIAQAgBACAYZeMtqFG89EH0IIIP1AnLLiWSO6zpjyPHLeR0+DW6Xrzu/fOLmdG6o6K5Ua9GA18p8/FGUci3n7Tvh0aT+vI92WUZY3S4KvVOvodswnrkjxpmTCcZI2jJhOLRtGZE5tG0QZzaNIkiZKEAUFHIAlA5SBADUoKAmkZLUTaMs0UTrEyzZBO8Uc2RxHNTFx7cmzZSit7GA8TodAPeTofOeiKJjxvLkjjjzbo8d2Xz+JcZF2SM5cKqq011000rZ7XKG9vm6kaYdfPr4TofT1eLTaPdh4e82rtuvgdpxei041b5oqGaLDVzUb5bq9nTaPh0668p8vaeOLipP8AddepjSTisklivcq+PRnc3DlIUeCIq/QT8ptuW9q3FdEl8jyQdq+5twddY6HXV+aw/FiTP2mzsXhaaEfI5ap3la7cPgc6e04HG4jm14tFmRc3LVShdz4nQ8h7z4fOQ3ixyyTUI82dJ2f7UnONbJh3pj3Ncld+1dVasbPeAfg35H1iz16nReBac1arh69u56OU8I4AQAgGNtKllsOuZA2j6AjrOcoJtS6o3GbSce5xsfOpvLCi+m4poP3NiWcpPgDo9JiSOksc4VvRa9VRbCcJIqMWE4yRtGbCcmjaIImGaJ1MFFqQoagBACAOaIEAYggxNIhYnRGWarOsTDNkneJhmfE8BMvHuxrNhL62rJHiux0Ye8HR+U9ESYsrxZI5FzTs+PX4/Eez2TzKSqMQFtCl8bIUeAYeR93j16TR+ojPTa/HT59uqPcYHa6vJ4dl8QqprXPxKf3lVm7K+nUMvUHlPX39Jnw47znXE+Tk0MsWeGCUnuSfNfnM24P2nvyODZPEnroGTQMnlCq/dNyKCNgtvz9ZHig3vuKvvRzz6KGPVwwJvddevH87HG4f2xybeCZPETXjjIx7+6RVSzuSv7vqV5t79s+fkJ06HTLs/FHWQwW6avpfXy8uxgO03FLuEnidZwalqL95WKrXawLZykjbaUeHTr4ePlBv9HpYar9O9535rhw9OJnx3jN/EezjZPLTXtuTLXTnfJaAO769NnlPXfmPfIa0+nx6fX+Hxfb3rqR2G4nbgcIbLuNBwKzkFK1V/vT3mwALzc3LonflBdoYY59Uscb33XHpVfH5nLp7ScRs4ZZxdXwlRGcrhGp2LUrZyMS/Pvm6Hy8pvde7vHKWk00dStM1L/yvq1fKuR6Tg/GG4jhV5OJ3dTWErZ3wawUsp0w5QRzH06joQfdMngz6dafK8eTjXbhZ0fG+0uTwrLx68qyjKxcgkM1dXcXUnYG9BiCOu/kYPZp9Hi1WKTgnGS87T+Q+0vbJqOIVcPpeihWFbX5mUrPXWHUsuhsD06k66wNLs9TwSzSTfaK5uvidzmDM+538t+Hcxq3TaKXROX8/MA537O9EHxh3R5IeD4sbjJceKv4dPieG+yAXbu7s0jG5k78OrG4nkPLyEHQ663sesxI+ztrc9m73unbn1PpbCeeR8FGLTjI6IzacmaRmRObNkmZKKQoQAgBAKlIEABLQKE0iFrNoyzRZ1iYZsk7RObDKvNVVlore011u4qrG7LCo3yqPUz0RMxjvSUbq+rPNcS7YcLyMO1brAxep1bEsrYX85H4eXXQ785u0e/Fs/VQypxXJ/u6HlOyvZ7ITg/E77KrFfIxWrpqZSLLEQcxcL49fAeuvhJ0PpazV43qsME1SfF+o+zHFKP8AD+diG1fvTHMFdA9q6zmrUgqo6kePXy0Y6UNXhn+ux5a9n2ePRcTj8EvU9meI1g7dcpXYaPRWNIB34flP0l6G9RFraGKXSvudrwpC3ZLICgsdZJ0ASdC/ZP0ELkebM0tqRvy+hweG3q3ZTKRTtq7/AGxo9Oa5COvn0g7ZYtbTg31X8M5PDuGWZfZU10qWtS+25UA2zhLiSoHrrf0hcjnlzRxbS3pcqS+KL7Crwd8ELnphLmUvcL/vfd12lecsre11I5SB8oRNoPWLNeJy3XVVdcvIXb7PbDxcavhiNhYOSbnsamo0lmBAH8Ox19ToQNm4lmyTlme9NVzdnS9uhgqML9nlLEVC2VkoTbz2NykCyzzfQJ1vYmpbvBI9ezvHbyeNw7Llw48l2Pc8d4LwzildT25CU5H3epq7RYlVndEbXmR/FfHy+cyfH0+o1Omk1GNxt8KtX6rqeb+z/HyKsjPx6bTkcProvQWJs0WXfkNfls+1vUh79pSxyx45yVTbXDql5mv2O2hRl1HYt3UxQg7AA0d+nXymZE22m3CS5H0ZpwkfERi04yNozacmbRBmGjRJmCikooQA1ADUAepogagD1AGBNIhQm0ZNFnSJlmyztE5s2Sd4nNnhO3vaa/huUi1YmHYl1IsrvuqZn5wxDr0I3r2T/wB06H2NnaPHqcbcpyVPkn8DbgXaK7OwVzAw+94lr1ZSKNI1baKty+mtfQzw615IRWWD4x59qLl0mPDmeFr2ZK13v1O04LxRLLSvcUU2uDyPWgHO3mp+M82PaGTKnCKSnXDs3295w1WkcIbyk2l8jtcd15u6NVSo++gQAGwdeo/vwnHZm156jNLDmioy6c+nPmzxzg93eTdr6HPWtQOVVUL6AAD6T75522+JK0IF5AiBPEqFULv4QVybd2UiBRpQFA8AoAAgjd8zFsGkv3hpqNnjzmtS2/jqQ0sk0q3nRpdSli8tiK6nxV1DD6GUzGTi7TIXDqCd2KqxWDsIEXl366g05ybu3YZGLVYB3tVbhfDnRWAHzkEZyj+1s87xribJk8PwcMrVZkX964RR7OIiksSNaHNozClas92DAnDLlycUlX/s/sehFSqSVRVLHbFVALH3+szI8Vt82Q04yNozacmbRmZyZpEGYZomZKLUhQ1ADUAIBUpAgBKBiUhQmkQtZ0RlmqzrEwzVDO0Wc2eZ+0fghzcBnrUtfi7vrCjbMgHtqPl117hO3Q9+y9T4OdJ8pcPsfMuxnHv2flBrPaxLx3WUviO7P5/lv6bmWk1T5H6DXaXx8fs/uXFep7ziWH3Dq1bc1L6sx7VOwV8R19RPzeq08tPk4cuaf51R8/T5lljUua4NHe8N4guUoViFyV8vDvNeDL75xz4HqpLPhdZo8a/yrr6ngz4HgdrjH6f6O7xruYabo4/EPD5z7+g10dVDiqmucXzT+x8/JDddrkbT3nMIAQAgBAOn4rxWpK7bLHC4uON5Nvkx8qU9SToH468TPM5+LLdjyXN/wv5+B7MOCVpJe0+S/l/nmec7B12ZuRk8ayFINxOPhqfCuhTogfMa+Iadme3aDjhhDSw6cX5tntGM5SZ8pGTTkzaMzOTNogzmzRJmWaJ1MlDUgCAEANQBzVECKARQHKQYmkQsTaIaKZ0RhmimdYsyzVTO0Wc2j459onZY4N5yaEP3K9t9PCi4nqh9FPiPp6TTP1OzNas0PDm/aXzX5zJ7H9rFoT7jxDb4LH92/i+Kx8x58v8ASc8mKOWLhNcDWs0UpS8bDwn9f9nrczh7VBbqXF2O2mqyKjzDXkSR4fGfn9Ro8mB2uK7nlxaiOT2JKpdUznYHaEjQyAX14Wp0sA948DEdRGclLKvaXKceEvf0a9Tz5tAnxxuvLoeixOJ0Wj2LkLfpJ5G+hn3cGpx5FW+m/h8j5eTTZcfOLOYDPScAJ14nXx6QDg5fGMen8Vqlv0oedv5eE82XWYcfOXHsuJ6Meky5OUfjwOpzuJs1TXZD/ccBfxOx1dcP0r8fdPOpZtT/ANkPm/sevHgjCShBb+Tt0R4Z77u0OWmHjK1HCschmAGtKPF3Pm566HlvfrPZGMYRUYqkfV3Y6DG8uR3kf5S8l1PqeLjpRUlNShKqkVEUeAUDpDZ+clJzk5S5sbGcmyozYzmzSIM5s0QZhmiTMlFMlCKARQCKARQHNECAEAeoAxNEKE0iFCbRlmimdEzLNFM6JmGLKx6763puQWVWKVdGGwymdUxGUoSUoumj4/2x7C3YLNdiq9+F1bY9q2gejDxI/wA31ij9RodpwzJQycJfJ/nY6fs92nyuHHWPYGpJ2+PaOel9+PTyPvEHp1Oixaj96491zPZ4navheWP9oWzh958SoNtBPr0Hh8hPFl2fhycUqfl9j50tLrMP7Gpr4P8APidnTw6m8E4ufiXqPS1dj49ek8U9kz/tkmcnq5Q4ZMcl7jdeD5I8L6lHqMggTK2fqlyl82ZeswPnF/Axy6qKP+N4pj19N8ve945+C72fpOq2Zkl+/J9WWGeU/wCjhb91HS5vbPAxRrAofMuH4bsjaVKfUL4n6fOezDocOLilb8z0R0Wpzf1Zbq7LmdRhYPEu0N4svdhjqetpXkx6h+mtfM/2TPWdp5NNoIbsV7Xbq/Vn1bgfB6MChcfGXSjq7N1ex/N2PmZGz85nzzzz35v/AEc0mc2zmjMmc2zSIM5s0iDMM0SZkotSFFIAgBACAGoBUoCAEAJSDgDE0iFCaRCgZtGWWDNpmWaAzomZaKBm0zNHleP9gcLMJsQNi3nqXp1yMfVkPT5jRmuB9HTbUz4Vuv2l5/c8NxP7N+IU7NIqykHh3biuz/xbp/OQ+xi2vp5/uuPzXy+x0lnZTiAOm4dlEj0pLj6jYg9a12n6ZF8Rf4W4gen7Py/nQ4H9IL+u0/8A1Y/E7Ph/2e8SuPtUJjL0219ig69yrs/0g8+Xa2mjylven+z2nBPs1xaCHzHbLsHXk/3dG/h4t8zqD5WfbGWfDGt1fM9rWiooRFCIo0qqAqgegEy2fJbbdsCZhstEEzDZSCZhs0SZhmiTMsopCikASFDUANQQIKEAc0QIIEFCAEEHKBiaIUJUQoGbTIWDNJmSgZtMlFAzVmaHuWxQblslBuLFC3JZaETM2WiSZlstEkzLZSSZlmiTMMojIUmZKEgFBQgBACAEAIBUpkUFCAOAEECUDlA5SDEpCgZpEGDNWQe5bIPctge5bJQbiy0LclihbksoiZLBJmSiMyURkKKQopAEgFBQggQAgBqCjgg9TQFqAPUAUANQBwAgg5QEoHKQcpBy2By2QNxYDcWA3FgUllCQCkKKQopAKQBBQgBqAGoAQA1ADUANQBykCAGoAagBqAGoAQAgDlAQQcoCAOUgQAgBAFBQkApAEFFIAgBADUANQA1ACAGoAQAgDlIEAIAQUIIEAIAQAlAQAgDgBKAgBACAKQBACAEAJAEAIKEAJSBIUIIEAIAQU//Z"/>
          <p:cNvSpPr>
            <a:spLocks noChangeAspect="1" noChangeArrowheads="1"/>
          </p:cNvSpPr>
          <p:nvPr/>
        </p:nvSpPr>
        <p:spPr bwMode="auto">
          <a:xfrm>
            <a:off x="1679575" y="-990600"/>
            <a:ext cx="2781300" cy="2076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p>
        </p:txBody>
      </p:sp>
      <p:sp>
        <p:nvSpPr>
          <p:cNvPr id="20488" name="AutoShape 13" descr="data:image/jpeg;base64,/9j/4AAQSkZJRgABAQAAAQABAAD/2wCEAAkGBw8NDQ8NDA0NDQwNDQwNDA0MDQ8MDQ0NFBEWFhQRFBUYHCkgGRolGxQUITEiMSo3Li4vFx8zOTMsNygtLi0BCgoKDg0OGA8QFywkHiQsLCwyLCwsLCssLC0sLCwvLC8xLCwtLC0sLSwsLCwsLCwsLCwrLCwsLCwsLCwsLCwsLP/AABEIAK4A6QMBEQACEQEDEQH/xAAbAAADAQADAQAAAAAAAAAAAAAAAQIDBAUGB//EAD0QAAICAgADBQUFBgMJAAAAAAECAAMEEQUSIQYTMUFRImFxgZEHFDJCUhUjcqGx8BZiwSQzNFNUgpKT0f/EABoBAQEBAQEBAQAAAAAAAAAAAAABAgMEBQb/xAA3EQACAgEBBgMHAwQABwAAAAAAAQIRAwQFEiExQVETYXEigZGhsdHwFDLBM0JS4QYjU2JygvH/2gAMAwEAAhEDEQA/APoU/En3hQAgBACAOAEANQA1ADUtAepaIGooWPUtCw1FEsNRRbDUULDUlCxaigGpKKLUlANQAgBACAEAUAIA4AQAgBKAgBACAEAIA9QA1KQepaAwJaJY9TVEsfLLQsfLLRLHyy7osOWTdFi5YoWLlkoti1M0LFqSi2LUlFFqSgGoKLUgCAEAIAQAgBACAOUgQAgBACAGpQPUtAYEtEKAmkiWUFmkiWUFmlEzYws1uksrll3RYcsu6Sw5Y3RYuWTdLYuWZotklZlotiImaLZJElFERM0UnUlFDUgFACQBACAEAIAalA4AQAgBAHLRA1LQKAlSJZQE2kSygs0kZssLOiiZssLNKJLKCzaiZsfLLuksOWXdFhyybpbEVk3RZJWZcS2SVmXE1ZJWYaLZJEy0askiYaLZJEy0URElFFqQCkKEAIAQAgBAHNECAEAcUA1LRCgJUiFATaRLLCzaRlssLOiiZbNAs6KJhssJOiiZbLCTagSx8k1uEsjvE5gvOnMfBeYcx+UbhadXRfJJukskpMuJbJKzLiWySsw4mrIKzDiasgrMOJqyCsw0WySJho0SRM0UUzRRSFFACAEAIA4A5SBACAGpQMCWiFATSRDRROiRls0VZ1UTDZoqzqomGzVVnVRMNk5N9dFbW3OlVaDbO5CqBOqgIxlN7sVbPPN2ityAWw0WjF8Bm5at+89e4pGi/wASQJMk4Ylc2e6OjUXU3cv8V09X0+pxkZ725UF2W/m+Qdp/610ij47nz3rcuWW7hh7/AM5Hd44Y1c2o+S+74s7OnhV2tWZIpH/LoUDX00JxzT3P6+dRfZczzvU4v7Md+bNV4TX/ANRlMfdZ/pqcYZtPL9k8kvRN/wAGXqZ/4R+ByEwCv4MjIH8fK4/mJ64zius16xdfQ5POnzhH3cP5OTWtg6MUcfqUFD8x1nqxveXBp+hzk49LRZWbcTNkFZzcTSZmyzDiaTIKzm4mkyCJzaNpkETDRSSJho0LUgFIUIAQAgBKBwQIAalA9QCgJpIyWonRIjNFE6JGGzVVnaMTDZqizvGJzbOLxvi1OBjtkZDaVeiqPxWP5IvvM7RibwYZ55qEP/h4dO8zynEOKLqrfNw/huz3ZXyut9R/X4ThqtTHBHzfJH2YwjivBg5/3T6+iO9wOHvlnv8AIYrSOg0NcwH5UHkJ8d1KL1GolUfr5I4Zs8cC8PGuP5xZ3auFAqoTlH5UToSPVj/rPB+s1Wun4GlW5Dy/l/Y8Djftzd+ZyqcMDrYeY+g6KP8A7Pt6PYmnwe1Nb0u7+xxlmb4R4HKCgdAAB6DpPrpJKkcbEVihZnYnQ68dHR984zxp8a4m0+J5vHNtZQFnN7d6bFutK1+weuunmOs+VDxINJv2nd2+HD3e8+rPw5p8Fu8KpceP5R22FmpcNAqLB+JAdkfUT2Y8scnr2PFlxSx+nc3ZZpxMJmbLOTRpMzKzk0bTMyJzaNJkETDRokiZaKLUhQkARQCKAalA5SBFAcUBiaohQE0kQ0UTokZZqonaKObZsizvFGGy2dUVndgqIrM7MdKqgbJJ9NTvGJz4t0uZ8vTJ/bvEXybuYcL4eAyV60LOvsIf8zkdfd0ly5Fig5y6H6Lw/wBHhWKP9SfXt3fu+p6LCobNyC1nRBprNeC1jwQenpPz0f8An5JZMjqK4vyS6HHLOOmxVHn09e53+RboAIvolVY6bPkJ8TUZ8m0dTGEFS5Jdl3Pmwjzbfm2c/DxhWvX2nbq7+p9B7hP22j0ePS4ljh733PNlyb78jkT1nIIAQA1JRTj5WIloHOPDm0R4jmUqf5GcsmGM+a/Ko6Y8socvzqdFko9LBWd1FNVXdOgB7xt8um38p8zJGWNpNtUlT79D6ONxyJtJcW78up2mHkd6vtKyWL0dHUoQfXXpPVjnvriqfZqjx5ce4+DteXE0YRJGUzNhOTRtMyInJo2mQRObRokiYaNEyUUUlAIoBFAcUAmgEgHLRBiVIhYE2kRmiidYowzZBO8Uc2zdBO8Uc2zyn2mZV64Qxsam61skkWtTVZYEpXq2yo6b6D6zuj6GyoQebxJyS3eVtLidRw3D+58Ox8YgrbeDmZII03M3RFPwC/ynyNqZeWNer/g+hv8AjZ55ei9le7mep4PR3WMv67j3jfw+Cj+/fPibTy+DpY4Vzn7T9On56nzdTPfzPsuH3OZw5Oe1nP4av3a/xkbY/QgfWez/AIc0qUJZ3zfBHDPLdgo9+Pu6HaT9QeMIAQAgBACAYZeMtqFG89EH0IIIP1AnLLiWSO6zpjyPHLeR0+DW6Xrzu/fOLmdG6o6K5Ua9GA18p8/FGUci3n7Tvh0aT+vI92WUZY3S4KvVOvodswnrkjxpmTCcZI2jJhOLRtGZE5tG0QZzaNIkiZKEAUFHIAlA5SBADUoKAmkZLUTaMs0UTrEyzZBO8Uc2RxHNTFx7cmzZSit7GA8TodAPeTofOeiKJjxvLkjjjzbo8d2Xz+JcZF2SM5cKqq011000rZ7XKG9vm6kaYdfPr4TofT1eLTaPdh4e82rtuvgdpxei041b5oqGaLDVzUb5bq9nTaPh0668p8vaeOLipP8AddepjSTisklivcq+PRnc3DlIUeCIq/QT8ptuW9q3FdEl8jyQdq+5twddY6HXV+aw/FiTP2mzsXhaaEfI5ap3la7cPgc6e04HG4jm14tFmRc3LVShdz4nQ8h7z4fOQ3ixyyTUI82dJ2f7UnONbJh3pj3Ncld+1dVasbPeAfg35H1iz16nReBac1arh69u56OU8I4AQAgGNtKllsOuZA2j6AjrOcoJtS6o3GbSce5xsfOpvLCi+m4poP3NiWcpPgDo9JiSOksc4VvRa9VRbCcJIqMWE4yRtGbCcmjaIImGaJ1MFFqQoagBACAOaIEAYggxNIhYnRGWarOsTDNkneJhmfE8BMvHuxrNhL62rJHiux0Ye8HR+U9ESYsrxZI5FzTs+PX4/Eez2TzKSqMQFtCl8bIUeAYeR93j16TR+ojPTa/HT59uqPcYHa6vJ4dl8QqprXPxKf3lVm7K+nUMvUHlPX39Jnw47znXE+Tk0MsWeGCUnuSfNfnM24P2nvyODZPEnroGTQMnlCq/dNyKCNgtvz9ZHig3vuKvvRzz6KGPVwwJvddevH87HG4f2xybeCZPETXjjIx7+6RVSzuSv7vqV5t79s+fkJ06HTLs/FHWQwW6avpfXy8uxgO03FLuEnidZwalqL95WKrXawLZykjbaUeHTr4ePlBv9HpYar9O9535rhw9OJnx3jN/EezjZPLTXtuTLXTnfJaAO769NnlPXfmPfIa0+nx6fX+Hxfb3rqR2G4nbgcIbLuNBwKzkFK1V/vT3mwALzc3LonflBdoYY59Uscb33XHpVfH5nLp7ScRs4ZZxdXwlRGcrhGp2LUrZyMS/Pvm6Hy8pvde7vHKWk00dStM1L/yvq1fKuR6Tg/GG4jhV5OJ3dTWErZ3wawUsp0w5QRzH06joQfdMngz6dafK8eTjXbhZ0fG+0uTwrLx68qyjKxcgkM1dXcXUnYG9BiCOu/kYPZp9Hi1WKTgnGS87T+Q+0vbJqOIVcPpeihWFbX5mUrPXWHUsuhsD06k66wNLs9TwSzSTfaK5uvidzmDM+538t+Hcxq3TaKXROX8/MA537O9EHxh3R5IeD4sbjJceKv4dPieG+yAXbu7s0jG5k78OrG4nkPLyEHQ663sesxI+ztrc9m73unbn1PpbCeeR8FGLTjI6IzacmaRmRObNkmZKKQoQAgBAKlIEABLQKE0iFrNoyzRZ1iYZsk7RObDKvNVVlore011u4qrG7LCo3yqPUz0RMxjvSUbq+rPNcS7YcLyMO1brAxep1bEsrYX85H4eXXQ785u0e/Fs/VQypxXJ/u6HlOyvZ7ITg/E77KrFfIxWrpqZSLLEQcxcL49fAeuvhJ0PpazV43qsME1SfF+o+zHFKP8AD+diG1fvTHMFdA9q6zmrUgqo6kePXy0Y6UNXhn+ux5a9n2ePRcTj8EvU9meI1g7dcpXYaPRWNIB34flP0l6G9RFraGKXSvudrwpC3ZLICgsdZJ0ASdC/ZP0ELkebM0tqRvy+hweG3q3ZTKRTtq7/AGxo9Oa5COvn0g7ZYtbTg31X8M5PDuGWZfZU10qWtS+25UA2zhLiSoHrrf0hcjnlzRxbS3pcqS+KL7Crwd8ELnphLmUvcL/vfd12lecsre11I5SB8oRNoPWLNeJy3XVVdcvIXb7PbDxcavhiNhYOSbnsamo0lmBAH8Ox19ToQNm4lmyTlme9NVzdnS9uhgqML9nlLEVC2VkoTbz2NykCyzzfQJ1vYmpbvBI9ezvHbyeNw7Llw48l2Pc8d4LwzildT25CU5H3epq7RYlVndEbXmR/FfHy+cyfH0+o1Omk1GNxt8KtX6rqeb+z/HyKsjPx6bTkcProvQWJs0WXfkNfls+1vUh79pSxyx45yVTbXDql5mv2O2hRl1HYt3UxQg7AA0d+nXymZE22m3CS5H0ZpwkfERi04yNozacmbRBmGjRJmCikooQA1ADUAepogagD1AGBNIhQm0ZNFnSJlmyztE5s2Sd4nNnhO3vaa/huUi1YmHYl1IsrvuqZn5wxDr0I3r2T/wB06H2NnaPHqcbcpyVPkn8DbgXaK7OwVzAw+94lr1ZSKNI1baKty+mtfQzw615IRWWD4x59qLl0mPDmeFr2ZK13v1O04LxRLLSvcUU2uDyPWgHO3mp+M82PaGTKnCKSnXDs3295w1WkcIbyk2l8jtcd15u6NVSo++gQAGwdeo/vwnHZm156jNLDmioy6c+nPmzxzg93eTdr6HPWtQOVVUL6AAD6T75522+JK0IF5AiBPEqFULv4QVybd2UiBRpQFA8AoAAgjd8zFsGkv3hpqNnjzmtS2/jqQ0sk0q3nRpdSli8tiK6nxV1DD6GUzGTi7TIXDqCd2KqxWDsIEXl366g05ybu3YZGLVYB3tVbhfDnRWAHzkEZyj+1s87xribJk8PwcMrVZkX964RR7OIiksSNaHNozClas92DAnDLlycUlX/s/sehFSqSVRVLHbFVALH3+szI8Vt82Q04yNozacmbRmZyZpEGYZomZKLUhQ1ADUAIBUpAgBKBiUhQmkQtZ0RlmqzrEwzVDO0Wc2eZ+0fghzcBnrUtfi7vrCjbMgHtqPl117hO3Q9+y9T4OdJ8pcPsfMuxnHv2flBrPaxLx3WUviO7P5/lv6bmWk1T5H6DXaXx8fs/uXFep7ziWH3Dq1bc1L6sx7VOwV8R19RPzeq08tPk4cuaf51R8/T5lljUua4NHe8N4guUoViFyV8vDvNeDL75xz4HqpLPhdZo8a/yrr6ngz4HgdrjH6f6O7xruYabo4/EPD5z7+g10dVDiqmucXzT+x8/JDddrkbT3nMIAQAgBAOn4rxWpK7bLHC4uON5Nvkx8qU9SToH468TPM5+LLdjyXN/wv5+B7MOCVpJe0+S/l/nmec7B12ZuRk8ayFINxOPhqfCuhTogfMa+Iadme3aDjhhDSw6cX5tntGM5SZ8pGTTkzaMzOTNogzmzRJmWaJ1MlDUgCAEANQBzVECKARQHKQYmkQsTaIaKZ0RhmimdYsyzVTO0Wc2j459onZY4N5yaEP3K9t9PCi4nqh9FPiPp6TTP1OzNas0PDm/aXzX5zJ7H9rFoT7jxDb4LH92/i+Kx8x58v8ASc8mKOWLhNcDWs0UpS8bDwn9f9nrczh7VBbqXF2O2mqyKjzDXkSR4fGfn9Ro8mB2uK7nlxaiOT2JKpdUznYHaEjQyAX14Wp0sA948DEdRGclLKvaXKceEvf0a9Tz5tAnxxuvLoeixOJ0Wj2LkLfpJ5G+hn3cGpx5FW+m/h8j5eTTZcfOLOYDPScAJ14nXx6QDg5fGMen8Vqlv0oedv5eE82XWYcfOXHsuJ6Meky5OUfjwOpzuJs1TXZD/ccBfxOx1dcP0r8fdPOpZtT/ANkPm/sevHgjCShBb+Tt0R4Z77u0OWmHjK1HCschmAGtKPF3Pm566HlvfrPZGMYRUYqkfV3Y6DG8uR3kf5S8l1PqeLjpRUlNShKqkVEUeAUDpDZ+clJzk5S5sbGcmyozYzmzSIM5s0QZhmiTMlFMlCKARQCKARQHNECAEAeoAxNEKE0iFCbRlmimdEzLNFM6JmGLKx6763puQWVWKVdGGwymdUxGUoSUoumj4/2x7C3YLNdiq9+F1bY9q2gejDxI/wA31ij9RodpwzJQycJfJ/nY6fs92nyuHHWPYGpJ2+PaOel9+PTyPvEHp1Oixaj96491zPZ4navheWP9oWzh958SoNtBPr0Hh8hPFl2fhycUqfl9j50tLrMP7Gpr4P8APidnTw6m8E4ufiXqPS1dj49ek8U9kz/tkmcnq5Q4ZMcl7jdeD5I8L6lHqMggTK2fqlyl82ZeswPnF/Axy6qKP+N4pj19N8ve945+C72fpOq2Zkl+/J9WWGeU/wCjhb91HS5vbPAxRrAofMuH4bsjaVKfUL4n6fOezDocOLilb8z0R0Wpzf1Zbq7LmdRhYPEu0N4svdhjqetpXkx6h+mtfM/2TPWdp5NNoIbsV7Xbq/Vn1bgfB6MChcfGXSjq7N1ex/N2PmZGz85nzzzz35v/AEc0mc2zmjMmc2zSIM5s0iDMM0SZkotSFFIAgBACAGoBUoCAEAJSDgDE0iFCaRCgZtGWWDNpmWaAzomZaKBm0zNHleP9gcLMJsQNi3nqXp1yMfVkPT5jRmuB9HTbUz4Vuv2l5/c8NxP7N+IU7NIqykHh3biuz/xbp/OQ+xi2vp5/uuPzXy+x0lnZTiAOm4dlEj0pLj6jYg9a12n6ZF8Rf4W4gen7Py/nQ4H9IL+u0/8A1Y/E7Ph/2e8SuPtUJjL0219ig69yrs/0g8+Xa2mjylven+z2nBPs1xaCHzHbLsHXk/3dG/h4t8zqD5WfbGWfDGt1fM9rWiooRFCIo0qqAqgegEy2fJbbdsCZhstEEzDZSCZhs0SZhmiTMsopCikASFDUANQQIKEAc0QIIEFCAEEHKBiaIUJUQoGbTIWDNJmSgZtMlFAzVmaHuWxQblslBuLFC3JZaETM2WiSZlstEkzLZSSZlmiTMMojIUmZKEgFBQgBACAEAIBUpkUFCAOAEECUDlA5SDEpCgZpEGDNWQe5bIPctge5bJQbiy0LclihbksoiZLBJmSiMyURkKKQopAEgFBQggQAgBqCjgg9TQFqAPUAUANQBwAgg5QEoHKQcpBy2By2QNxYDcWA3FgUllCQCkKKQopAKQBBQgBqAGoAQA1ADUANQBykCAGoAagBqAGoAQAgDlAQQcoCAOUgQAgBAFBQkApAEFFIAgBADUANQA1ACAGoAQAgDlIEAIAQUIIEAIAQAlAQAgDgBKAgBACAKQBACAEAJAEAIKEAJSBIUIIEAIAQU//Z"/>
          <p:cNvSpPr>
            <a:spLocks noChangeAspect="1" noChangeArrowheads="1"/>
          </p:cNvSpPr>
          <p:nvPr/>
        </p:nvSpPr>
        <p:spPr bwMode="auto">
          <a:xfrm>
            <a:off x="1679575" y="-990600"/>
            <a:ext cx="2781300" cy="2076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p>
        </p:txBody>
      </p:sp>
      <p:pic>
        <p:nvPicPr>
          <p:cNvPr id="20489" name="Picture 15" descr="http://www.itcportal.com/businesses/fmcg/foods/images/sunfeast-logo.jpg"/>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7848600" y="1447800"/>
            <a:ext cx="2324100" cy="1371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0490" name="AutoShape 17" descr="data:image/jpeg;base64,/9j/4AAQSkZJRgABAQAAAQABAAD/2wCEAAkGBhQPEBQQEBQVFRAUFxYUFRYTFxQQFxAVFhUWFBcZFRUYHCYeGBkjGRQWHy8kIycpLCwsGR4xNTAqNSYvLikBCQoKBQUFDQUFDSkYEhgpKSkpKSkpKSkpKSkpKSkpKSkpKSkpKSkpKSkpKSkpKSkpKSkpKSkpKSkpKSkpKSkpKf/AABEIAOcA2gMBIgACEQEDEQH/xAAcAAEAAgMBAQEAAAAAAAAAAAAABgcEBQgDAgH/xABKEAABAwIDBAUGCgcHBAMAAAABAAIDBBEFEiEGBzFBEyJRYXEUIzKBgtMXQlJTVJGSk6GxCBUYYnKisiQzNUNzs/BjwdHhFkS0/8QAFAEBAAAAAAAAAAAAAAAAAAAAAP/EABQRAQAAAAAAAAAAAAAAAAAAAAD/2gAMAwEAAhEDEQA/ALxREQEREBERAREQEREBERAXznF7XF//AFf8isDaHHGUNNLUy+hG29ub3cGtHe5xA9agc2KzxYFBiZ1qGztrHjgHtmmcws/h6KUNHYAOxBZqLEwrE2VUEdRCbxyND2nuPI9hHAjkQVloCIiAiIgIiICIiAiIgIiICIiAiIgIiICIiAiIgIije3+1YwyifMLdM7zcIPxpHA2NuxoBcfC3NBV2+3bDp5xQxG8VOc0lvjzW4ewDbxc7sVk43glsCkpbaso8oH70UQI/mYuesFpjU1kEbiXOmnja4nUuzyDMSeZ1JXV0sQe0tOocCD4HQoKa3HbYZXuw6U9V95IL8ncXsHiBmHeHdquhcjte+lnuwlssMnVI4tfG6wP1tXT2x+0rcRo46llgXC0jR/lyN0e3wvqO4g80G6REQEREBERAREQEREBERAREQEREBERAREQEREBc370tr/1jWkRm9NBeOK3B5v15PaIAHc1varT3vbX+Q0fQRutUVILG24xx8JH9xsco73X5LnpBLd1VF0uL0wPBhfIfYjcR/NlXSqojcNR5q+aW2kcBHgZHtt+DHK90HLu39F0OKVjOHnnvHhJ50f1rf7ntr/IqzyeQ2p6khuvBkvBju6/onxb2L832UXR4qX8pYon+sZoj/thQFB2Eih+7Da/9Y0Tc5vUw2jm7XG3Vf7QH1hymCAiIgIiICIiAiIgIiICIiAiIgIiICIiAvKpqWxMdJIQ1jGlznHg1rRck9wAXqqn34bX9HG3Doj15LPnt8WMHqM9oi57mj5SCsdstpnYlWSVLrhhOWJp+JE2+UeOpce9xWjREF0/o/wBFaGrm+VJHGPYYXH/dCtlQTcvRdHhMbucsksn8/Rj8Iwp2gpn9ICitJSTdrZYz7JY9v9TlUavrftRZ8OjktrFOw+Ae17D+JaqFQSXd9tYcMrWTEnoH+bmH/TJ9K3a02d6iOa6bY8OAIIIIuCNQQeBB7Fx+r33K7X+U0xopT56nAyX4vgvYfYPV8CxBZaIiAiIgIiICIiAiIgIiICIiAiIgIiINfj+NMoqaWpl9CNpdbm48GtHe5xAHiuWcYxWSrnkqJjeSVxc7sF+AHcAAB3AKw99u1/TzigiPmoDmlt8aYjRvgxp+tx+SqwQERetNTmV7Yxxe5rB4uIaPzQdQbDUXQYbSR8xBGT/E5oe78XFb1fEUYa0NGgaAB3AaBfaCK70KPpcIq282sEn3b2yfk0rmddb4vR9PTzQ/ORvj+2wt/wC65It28eaAtns3jr6CqiqovSjdcjhnYdHNPi0kd2h5LWIg64wzEmVMMc8RzRyND2nuIvr2HkRyN1lKmdx21+VzsNlOjryQX5O4yMHj6Y8H9quZAREQEREBERAREQEREBERAREQFHdvNqhhlE+fTpT1IWn40jgbadgALj3NUiXOO9Xa/wDWFaWxm9NT3jjtwe6/nH+sgAdzR2oIdLKXuL3Euc4lzidS5xNySe0k3XwiICkO76i6bFKNnHzzXnwjvKf6FHlbW5bYeTpW4nL1IwHCFpGspcCwv7mAEgdt+wahdCIiAuUNp6LoK2ph5MnlaPASOy/hZdXqid8mxEkNQ/EYxmp5i3pLDWCTKG9b911rg9pseVwrNERB7UdY+GRksTsskbg9jh8VzTcH611HsjtGzEaSOpZYFws9vHo5Bo9vqPDtBB5rlZWDuc2v8jq/JpDaCpIbrwZNwYfa9A+z2IOgUREBERAREQEREBERAREQERedRUNjY6R5DWMBc5x0DWtFyT3ABBCd7m1/kFGYo3WqKi7GW4sZ/mP7tCGjvdfkud1vdtdp3YlWSVJuGehE0/EibfKLdpuXHvcVokBEU43a7unYnJ00wLaKM9Y8DO4fEYez5R5cBrwDL3XbtTXuFVVNIo2HqtOnlLgeA/6YPE8+A52v1jA0BrQAALADQADgAOQXzT07Y2NjY0NY0BrWtFg1oFgABwAC9EBERAXnU0zZWOjkaHMcC1zXC4c0ixBB4iy9EQc6byd3bsMl6WIF1FIeoeJhcf8ALefyPPgdRrCF11X0EdRE+GZofE8Frmu1DgVznvC2BfhU123fSSE9FIdSOfRv/fA5/GGvaAERX6CvxEHSm7La79ZUTXPN6iK0c3a4gdV/tDXxDhyUuXMm7va04ZWslcfMP83MP3CdHW7WnreGYc100x4IBBuDqCNQR3IP1ERAREQEREBERAREQFVW+/a/oom4dEevKA+a3xYgeq32nC/g395WNjuMsoqeSplNmRtLj2uPANHeSQB3lcs4zi0lZUSVMxvJK4uPY3kGjuAAA7gEGEiKS7C7ES4rPkbdsDLGaW3oD5LeReeQ5cT3hlbvNgH4rNd12UkZHSyDQuPHo4z8ojifig35gHoyhoWU8bYYWhkbAGta3QNAXlhOExUkLKeBoZEwWaB+JJ5knUk8SVmICIiAiIgIiICw8XwmKrhfTztD4nixB/Ag8iDqCOBCzEQcxbc7Ey4VPkdd0D7mGW2jx2O7HjmPWNOEaXWOP4BFXwPp6huaN3qcxw4OYeTh/wAuCQua9sNkZcLqDDLqw3MUgFmzM7R2OGlxyPcQSGiV87ltr/KaY0Up89TAZL8XwcG/YPV8MioZbTZnH30FVFVR6mM6t4dIw6PafEX8DY8kHVyLGw3EGVMLJ4jmjkaHtPaCL+o9yyUBERAREQEREBEUf262pbhtFJUaGQ9SJp+PK4HL6hYuPc0oKv33bX9NM3D4j5uEh0tvjSkaN9lp+t37qq1fc0znuc95LnuJc5x1LnE3JPeSbrZ7MbMzYjUNp4BqdXuPoxM5ud3d3M2CDI2O2QlxSoEMWjBYyyEXbCztPa46gDme4Ei4Me2updm4IqKmi6SW2YszZCAeMkr8p6ziNNNe4AL6xnFabZigbBTgOqXg5A70pX2s6WW3xR2eDR2ihq6ufPI+aZxfK8lznO4uJ/5w5CwQWv8AtBO+hD78+6W32U3vy4jVx0sdGBmuXu6YuEbG6ucR0evYO0kDmqKV+bmtk/JKM1cotNUgOF9MkI1YO7N6Z7i3sQbPeDvHbhBiYIhNLLmcW5+jyMbYZicp4k2HgexQ79oJ30Iffn3SgG3W0f6wr5qgG8d8kXdEzRv16u8XFaBBb37QTvoQ+/Puk/aCd9CH3590qhRB0tu+27/W8UrzEInRPDcof0lwW5gb5RbW49S1+3W9ePDJhTMiM01g54z9E2MO1aCcpJcRra3AjVRHcBW2nq4flMjkHsOc0/7gWn33YZ0WJ9LyniY/2meaI+pjD60G+/aCd9CH3590n7QTvoQ+/PulUKILe/aCd9CH3590t/heO0m1FLJTTM6KdnWDcwe6Pk2WJxAuNbEW52OhBNBLLwvFJKWZk8DiyWM3a4fiCOYIuCOYKDL2n2amw6odTzjUatcPRlZyc3u7uRuFqVf9PLS7U4flfaOqj421dTSkaObzdG63rAtoW3FIY9gUtDO+nqG5ZGetr2ng5h5tPb4jQghBZ247a+xdhsp0OaSC/bxkYPxePbVyLkShrXwSsmidlkjcHtPY5puF1JsptEzEaSKqj0ziz28ejkGj2nwP1ix5oNuiIgIiICIiAudN7G1/6wrSyM3p6e8bLcHvv5x/fciw7mg81ae9na/yCiMcbrVNReNluLG284/1AgDvcOxUBhOFSVczKeBhfK82a0fiSeTQNSeQCD1wHApa6dlPTtzSP9TWNHFzzyaP/AFyQFe9qTZfDvlzO8Gvq5rfysH1NHaTr94Lg9Ls3QPmmcDIQDLIB1pn/FjjB5XvYeJPMijtq9qZcSqXVExtyjYDdsLL6Nb+ZPM+oAMXHMblrZ31FQ7NI8+AaBwa0cmgcB/3JKwERBJt3myn6yrmROHmGecmP7jT6Pi42b4Enkr13heUfq+SGiidJNKBCBHlHRscLPdqRbqgtHe4LD3V7Jfq+haZBaontLLfi3TqMP8AC0697nKZoOXazYCvgjdLLSyMjYC5ziY7NaBck9ZR9X/vuxjocOEAPWqJGs9hnnHfi1g9pUAgLa4JstVV2c0sLpcls+UsGXNe18xHHKfqWqVx/o++jW+MH5TIMbdRshXUOIiSenfHC6KSNziYyBfK9t7OJ4sA9a22/vC89LT1I4xSGM/wytv/AFRtHrVpKO7w8K8qwyqiAu7ozI3+KK0rbeJZb1oOX0REE42S3UT4lTCqZNFGwuc0B2ZzjlOUk5eGt1ufgCqfpMH2ZF5bk9rfJ6k0Mh81UG8d+DZgOHttFvFre1XsgqLZzdJX4fUNqYKqAOboWlsmWRh4seOYNvUbEahTXbnYePFafK6zKhgJik45HHi13MsPMesahShEHJGK4VLSTPgnaWSsNnA/gQebSNQeYU43NbX+SVfksptBUkAX4Mm4MPtege/J2K0N4ewDMVhu2zKuMHopDwcOPRv/AHSefxTr2g86VlHJTyuila5ksbsrmnQtcP8Al7juIQddIonu12u/WVE1zz/aIrRzDmXAaPt2OGvjmHJSxAREQF5zztja57yGsaC5xOga0C5JPYAF6KsN8+07gxmF093T1FukDNXdGTZrABze4fU09qCstqsblxrES6JrnZ3CKnjHEMBOUW5E6uPZc8grk2O2SgwGjfUVLm9NlzTyngwcejj55b2Ha427gPLd5sBHhEBqaot8qLSZHkjLTstcta7hwHWdzt2BVhvK3hOxObo4iW0cZ6g4GZw06R4/pHIHtOga/bzbeTFajObtp2XEMfyR8p3IvPPs4DhcxlEQFN90uyXl9cJJBenp7SPvwe+/m2esguPc0jmoVHGXENaCXEgADUuJNgAOZJXTuwOyow2ijgNulPnJiOcjgLi/MNADR3N70EjRF8SyBrS5xs0Akk8gNSfqQUNvxxnpsQbTg9WnjAP+pJZ7v5ejVcrOx3FDV1M1SeMsj3+AcSWj1NsPUsFAVx/o++jW+MH5TKnFcf6Pvo1vjB+UyC31+ObcWPBfqIOTMfwzyWqnp/mpXsHe1riGn1tsfWsBT/fXhfQ4oZB6M8bJPab5p34MafWoAg+4pSxwe0lrmkOaRoWuBuCD2gi6v3Z3fNRSwMNXIYagACRpZI5rnAauYWNIynjY2I4d65/RB0n8LOGfSh93P7tPhZwz6UPu5/drmxEHSfws4Z9KH3c/u1rtv9hYsZp21dIWmpyB0bwRlqGcQxx/IngdDpe3PqsDddvGOHSeTVBJo5DxOvkzz8YfuH4w9Y53DWbAbTPwjEB0wcyNx6GoY4EFgvbMRyLHa+GYc10o11xcag9mt1XW87dy3EY/LKQDytrQSG2tVMA0F+GcD0TzGh5Efu5vaw1FMaKYnyil6oDrhzogcrbg63Yeoezq9qCxUREGHjGKMpYJJ5L5WC9hq554Na0c3OcQ0DmSFFNitjnMlkxTEADXzkuy8RSMIsGN/eDbNJ5AWHMmYVFE2RzHPF+jOZoPAOtYOtzIubdl78bWxNoMFFbTup3SSRsfo8wlrXObzbdzTYHnbiNOBKCmN6u8jy1xo6V39kYeu8f/AGXA8j82Dw+UdeACrZXz8A1D87Vfbi90nwDUPztV9uL3SChkV8/ANQ/O1X24vdJ8A1D87Vfbi90gh+5XZLymqNbIPM0x6l+D5yLj7AObxLFfK1uzuz8WH07KaAHo2X1dYueSSS5xAFySexbJAUR3q4z5LhU5Bs+UCBvjJo7+TOfUpco/thsVFirI453ytZG4vAiLG5nEZbuzNdwF7eJQcuor5+Aah+dqvtxe6T4BqH52q+3F7pBQyuP9H30a3xg/KZbb4BqH52q+3F7pSXY7YSDCRKKd0rulyF3SljrZM1rZWt+WUEkREQVbv7wnPSwVIGsUhY7uZKOJ7s7Gj2lR667rqFk8boZmh8bwWua4XDge1QCbcVQOcSH1LQeDWvYQ3wLoyfrJQUGivn4BqH52q+3F7pPgGofnar7cXukFDIr5+Aah+dqvtxe6T4BqH52q+3F7pBQyK+fgGofnar7cXuk+Aah+dqvtxe6QRvdJvJ6Atw+rd5km0Ejj/dE8I3H5BPA8jpwIyzLa3ZJ8NUzGMPbepjN54W6eWRWs8AfOZfrsOYF8H4BqH52p+3F7pTzB8N8mgZB0kkoYMofKWueWjgHOaBew0va+mt0Hrh9eyoiZNEc0cjQ9p7Q4XHge5ZC8KWjbFmyCwc4vIHAOcbuIHK5uT3knmV7oCIsXEKBs7MjnSNF73ikkgcDqPSYQba8Dogybr9VM7uKiesxKpp6iqq3xQiTK3yiZl8swjGYtcCdPBTbejPNHh9qR72TulgjYY3OY4l8gYBmBvrcBBMLpdVVvAoJsMwuORlXVOqukjZJKaifrXa8uDWZsobcC2l9OK924NUVOBxVcFVVtrehExIqJ3CYgFzmlpcQCQDa1tbILORRzBccEOEQVlS8kNpYpZHk5nPPRtJ1PFxJ9ZK0mwkr8YZJX1vWjdI5kFPc9DExltSzhI8uJGZwPo6WvZBPkUC2+wyajp+noJHRxF8bKiFpJYY3SNaXxA/3TgSActgQ4k6i6nqAl1h4nhonZlL5WWvZ0Mj4XA+LTr67hVTuiqp8RkqfK6qqeImxZWieSMXeZLk5SCfQHPtQXEi/ALaf+1BNs8PnqaylkpcQigjjcBJH02Ql2cG4Y3SQkdXK634lBPEWLVYpFCbSyxsJFwHvawkdup4L5fjMAi6czRCHh0hkYGcbene3HTigzEXhR10czc8L2SMPxo3Ne0+tpIXhS45TzPMcU8L5Be7GSMe4W43aDcIM5FHtuY3TUcsEFSynqHhpa50nRaBwLhmHWaCARcLCwnG48Lw2Ly+sjlkYxxLxJ0jpus6zY7nNJb0b88utkEuRRPYHahlVRxPlmZ08rpXFhkaXjNPIWsDSb6NsAOwBSSsxCOAB00jI2k2Bkc2ME9gLiNUGQi8aStjmbnieyRnDMxzXi472my867FIqcAzyxxhxs3pHtjzHsGYi5QZSKmN5ZbDX4e+llk6OZzXOyzyyMfaaMAjrkfGI0VzoCIiAiLGxDEWU7M8ps29tGueSdToGgnkgqHdB/jFf4Tf8A6QrfraBkwYJBcMeyRupFnsOZp77HVU1uxqfJsTq5p2TRxTCTI58MwBzTh4ucvV6uuquwG+qCvN+f+GN/14/6ZFIN3H+E0f8AosUT3y4syopBTQZ5JhM1xbHFK8NDA8Ou4Ny8SBxUg3a4tGaCmprubPHEGuY9j43At4+kBf1INXvcpPJ8EEEIIiY6CO1ybRtIDQSe8MWx3PsAwentzMxPj08ikmO4OytppaaX0JWlptxaeIcO8EAjvCh2wLn4RE/D8Q821j3Ogn16CZjzcjpODHB1zlcQetpeyCc1rGGN4my9FlOfPYNy2uc19ALL2BUaxuvFfG6jpT0gm6k0rbmKGE6Sec9Fzyy7Q1pJu4E2AupKAgO4KnP0f/7yt/hg/OZWvimLxUzM0zsoN7Wa55NhfRrQSfqVQbl60UUlV5U2SLpGxZC+KUB2QyZhfLYHrjiguionbGxz3kNY0FzidA0AXJPqVO74KGOPEsPcxjGue4Fxa1rS8ieO2Yga8T9a3m8TbgS0/klGyaV8zmte9sMwZHHmBcMxaMxcBbS4sTrwvot69aKjEKN0LZJG07vOuZFK5rfPMcbENs7Rp4XQTXezRsfhVS9zGl7GsLXFoLmedZ6JIuOJ4dq0W5jBWy0LZ5wJA18rIGuAc2Jua73NB0zueXAu42a0dt9nvHx2GfC544XF8krWhjWMkc51pGk6BtxoDxssfdNisdPhjYpi6OSN0rnteyRhDXSkgi7dfSbwvxQRLYOhc/Ga2hYctEZJnTRN0a9kUxaxnc0l4B7WgtOhXtvmgbS1tDLTNbFIGkh0YDNWSMycOzMR4Gy+tgK1sON1k8rZGQzdP0b3xSta7PUNe3Ut6t2gnWy/N8swqaulEDZJBCHiQsjkeGHpGaXDbE9U8EE13u0Ub8JqJHMYXsEeVxa0uZ55g6rrXGhI07SojJEP/h7TYXHA2Fx/bjwKkm8vHoZ8LlihLpJJgzI1kcribTMJuA3q2DT6VuCj1I0z7MOoo2vNWxpe6Ise1+VtX0pyhwGbqG+l+ziglm6yNjcHppC1tw2RxNhfSaTW/gFEt3G0Xl+I1WIVQke5rWsgayKWoFOyRzzZvRsdkOVjRfQm7u0ra7v9oGHCoKKB9625jdHlJdEHTuLnvBFgwRuJudDwGpsvHYzDTgFbUwVIIo58hgqLF0YyF+VkjgLMdlkt1rC7e8IPueeaLH21NNBUCjmja2qcYJoo3ODZDndnaOs20fW8RzKxd0lY7E66sxKo60rQxkQOogZIXktZ8mzWNGna7tKnrsT8rkjjpjmgBLp5cvm3MyuAjY4iz3OcWklvANNyCQDAtiKJ+AV1TT1TX+Sz5TDO1j3sPRl2UOLQcri15vfm3sIKDWb2cNEOLUT2aNlcx5byEgmYHuA5FwyX7S2/FXYqW3pdNPiNHO2GU0zMuUiORznBkrXyPLA27RqAAdTlJtYi9xUdY2ZgewktPa1zD9TgCg90REBERAREQEREBERAREQEREBERAREQEREBERAsiIgIiICIiAiIg//2Q=="/>
          <p:cNvSpPr>
            <a:spLocks noChangeAspect="1" noChangeArrowheads="1"/>
          </p:cNvSpPr>
          <p:nvPr/>
        </p:nvSpPr>
        <p:spPr bwMode="auto">
          <a:xfrm>
            <a:off x="1679575" y="-1790700"/>
            <a:ext cx="3543300" cy="3743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p>
        </p:txBody>
      </p:sp>
      <p:pic>
        <p:nvPicPr>
          <p:cNvPr id="20491" name="Picture 19" descr="http://pssmagazine.com/wp-content/uploads/2012/06/ITC-LOGO-copy.jpg"/>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7848600" y="2971800"/>
            <a:ext cx="2286000" cy="1676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0492" name="AutoShape 21" descr="http://upload.wikimedia.org/wikipedia/en/5/59/TCS_Logo.svg"/>
          <p:cNvSpPr>
            <a:spLocks noChangeAspect="1" noChangeArrowheads="1"/>
          </p:cNvSpPr>
          <p:nvPr/>
        </p:nvSpPr>
        <p:spPr bwMode="auto">
          <a:xfrm>
            <a:off x="1679575" y="-639763"/>
            <a:ext cx="2857500" cy="13430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p>
        </p:txBody>
      </p:sp>
      <p:sp>
        <p:nvSpPr>
          <p:cNvPr id="20493" name="AutoShape 23" descr="http://upload.wikimedia.org/wikipedia/en/5/59/TCS_Logo.svg"/>
          <p:cNvSpPr>
            <a:spLocks noChangeAspect="1" noChangeArrowheads="1"/>
          </p:cNvSpPr>
          <p:nvPr/>
        </p:nvSpPr>
        <p:spPr bwMode="auto">
          <a:xfrm>
            <a:off x="1679575" y="-639763"/>
            <a:ext cx="2857500" cy="13430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p>
        </p:txBody>
      </p:sp>
      <p:sp>
        <p:nvSpPr>
          <p:cNvPr id="20494" name="AutoShape 25" descr="http://upload.wikimedia.org/wikipedia/en/5/59/TCS_Logo.svg"/>
          <p:cNvSpPr>
            <a:spLocks noChangeAspect="1" noChangeArrowheads="1"/>
          </p:cNvSpPr>
          <p:nvPr/>
        </p:nvSpPr>
        <p:spPr bwMode="auto">
          <a:xfrm>
            <a:off x="1679575" y="-639763"/>
            <a:ext cx="2857500" cy="13430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p>
        </p:txBody>
      </p:sp>
      <p:sp>
        <p:nvSpPr>
          <p:cNvPr id="20495" name="AutoShape 27" descr="http://upload.wikimedia.org/wikipedia/en/5/59/TCS_Logo.svg"/>
          <p:cNvSpPr>
            <a:spLocks noChangeAspect="1" noChangeArrowheads="1"/>
          </p:cNvSpPr>
          <p:nvPr/>
        </p:nvSpPr>
        <p:spPr bwMode="auto">
          <a:xfrm>
            <a:off x="1679575" y="-639763"/>
            <a:ext cx="2857500" cy="13430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p>
        </p:txBody>
      </p:sp>
      <p:sp>
        <p:nvSpPr>
          <p:cNvPr id="20496" name="AutoShape 29" descr="http://upload.wikimedia.org/wikipedia/en/5/59/TCS_Logo.svg"/>
          <p:cNvSpPr>
            <a:spLocks noChangeAspect="1" noChangeArrowheads="1"/>
          </p:cNvSpPr>
          <p:nvPr/>
        </p:nvSpPr>
        <p:spPr bwMode="auto">
          <a:xfrm>
            <a:off x="1679575" y="-639763"/>
            <a:ext cx="2857500" cy="13430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p>
        </p:txBody>
      </p:sp>
    </p:spTree>
    <p:extLst>
      <p:ext uri="{BB962C8B-B14F-4D97-AF65-F5344CB8AC3E}">
        <p14:creationId xmlns:p14="http://schemas.microsoft.com/office/powerpoint/2010/main" xmlns="" val="11022898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1524000" y="304800"/>
            <a:ext cx="4191000" cy="838200"/>
          </a:xfrm>
          <a:prstGeom prst="rect">
            <a:avLst/>
          </a:prstGeom>
          <a:solidFill>
            <a:schemeClr val="accent1"/>
          </a:solidFill>
          <a:ln w="9525">
            <a:solidFill>
              <a:schemeClr val="bg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p>
        </p:txBody>
      </p:sp>
      <p:sp>
        <p:nvSpPr>
          <p:cNvPr id="21507" name="Text Box 3"/>
          <p:cNvSpPr txBox="1">
            <a:spLocks noChangeArrowheads="1"/>
          </p:cNvSpPr>
          <p:nvPr/>
        </p:nvSpPr>
        <p:spPr bwMode="auto">
          <a:xfrm>
            <a:off x="2133600" y="457201"/>
            <a:ext cx="3862388"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2800">
                <a:solidFill>
                  <a:schemeClr val="bg1"/>
                </a:solidFill>
                <a:latin typeface="Alien League"/>
              </a:rPr>
              <a:t>What is a brand ?</a:t>
            </a:r>
          </a:p>
        </p:txBody>
      </p:sp>
      <p:sp>
        <p:nvSpPr>
          <p:cNvPr id="21508" name="Text Box 4"/>
          <p:cNvSpPr txBox="1">
            <a:spLocks noChangeArrowheads="1"/>
          </p:cNvSpPr>
          <p:nvPr/>
        </p:nvSpPr>
        <p:spPr bwMode="auto">
          <a:xfrm>
            <a:off x="2590800" y="1371601"/>
            <a:ext cx="7162800" cy="581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1600">
                <a:solidFill>
                  <a:schemeClr val="tx2"/>
                </a:solidFill>
                <a:latin typeface="Verdana" panose="020B0604030504040204" pitchFamily="34" charset="0"/>
                <a:cs typeface="Times New Roman" panose="02020603050405020304" pitchFamily="18" charset="0"/>
              </a:rPr>
              <a:t>Branding is a combined effort of the company which is projected to the consumer.</a:t>
            </a:r>
            <a:endParaRPr lang="en-US" sz="1600">
              <a:solidFill>
                <a:schemeClr val="tx2"/>
              </a:solidFill>
              <a:latin typeface="Verdana" panose="020B0604030504040204" pitchFamily="34" charset="0"/>
            </a:endParaRPr>
          </a:p>
        </p:txBody>
      </p:sp>
      <p:sp>
        <p:nvSpPr>
          <p:cNvPr id="21509" name="Text Box 19"/>
          <p:cNvSpPr txBox="1">
            <a:spLocks noChangeArrowheads="1"/>
          </p:cNvSpPr>
          <p:nvPr/>
        </p:nvSpPr>
        <p:spPr bwMode="auto">
          <a:xfrm>
            <a:off x="2057400" y="3810001"/>
            <a:ext cx="1385888"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2000">
                <a:latin typeface="Verdana" panose="020B0604030504040204" pitchFamily="34" charset="0"/>
              </a:rPr>
              <a:t>Company</a:t>
            </a:r>
          </a:p>
        </p:txBody>
      </p:sp>
      <p:sp>
        <p:nvSpPr>
          <p:cNvPr id="21510" name="Rectangle 20" descr="5%"/>
          <p:cNvSpPr>
            <a:spLocks noChangeArrowheads="1"/>
          </p:cNvSpPr>
          <p:nvPr/>
        </p:nvSpPr>
        <p:spPr bwMode="auto">
          <a:xfrm>
            <a:off x="5257800" y="2286000"/>
            <a:ext cx="1143000" cy="4267200"/>
          </a:xfrm>
          <a:prstGeom prst="rect">
            <a:avLst/>
          </a:prstGeom>
          <a:pattFill prst="pct5">
            <a:fgClr>
              <a:srgbClr val="C0C0C0"/>
            </a:fgClr>
            <a:bgClr>
              <a:srgbClr val="FFFFFF"/>
            </a:bgClr>
          </a:patt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p>
        </p:txBody>
      </p:sp>
      <p:sp>
        <p:nvSpPr>
          <p:cNvPr id="21511" name="Text Box 21"/>
          <p:cNvSpPr txBox="1">
            <a:spLocks noChangeArrowheads="1"/>
          </p:cNvSpPr>
          <p:nvPr/>
        </p:nvSpPr>
        <p:spPr bwMode="auto">
          <a:xfrm>
            <a:off x="5362576" y="2328864"/>
            <a:ext cx="938213"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2000">
                <a:latin typeface="Verdana" panose="020B0604030504040204" pitchFamily="34" charset="0"/>
              </a:rPr>
              <a:t>Brand</a:t>
            </a:r>
          </a:p>
        </p:txBody>
      </p:sp>
      <p:sp>
        <p:nvSpPr>
          <p:cNvPr id="21512" name="Text Box 22"/>
          <p:cNvSpPr txBox="1">
            <a:spLocks noChangeArrowheads="1"/>
          </p:cNvSpPr>
          <p:nvPr/>
        </p:nvSpPr>
        <p:spPr bwMode="auto">
          <a:xfrm>
            <a:off x="7772400" y="3810001"/>
            <a:ext cx="1474788"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2000">
                <a:latin typeface="Verdana" panose="020B0604030504040204" pitchFamily="34" charset="0"/>
              </a:rPr>
              <a:t>Consumer</a:t>
            </a:r>
          </a:p>
        </p:txBody>
      </p:sp>
      <p:sp>
        <p:nvSpPr>
          <p:cNvPr id="21513" name="Text Box 23"/>
          <p:cNvSpPr txBox="1">
            <a:spLocks noChangeArrowheads="1"/>
          </p:cNvSpPr>
          <p:nvPr/>
        </p:nvSpPr>
        <p:spPr bwMode="auto">
          <a:xfrm>
            <a:off x="2819400" y="2514601"/>
            <a:ext cx="1449388"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2000">
                <a:latin typeface="Verdana" panose="020B0604030504040204" pitchFamily="34" charset="0"/>
              </a:rPr>
              <a:t>Marketing</a:t>
            </a:r>
          </a:p>
        </p:txBody>
      </p:sp>
      <p:sp>
        <p:nvSpPr>
          <p:cNvPr id="21514" name="Text Box 24"/>
          <p:cNvSpPr txBox="1">
            <a:spLocks noChangeArrowheads="1"/>
          </p:cNvSpPr>
          <p:nvPr/>
        </p:nvSpPr>
        <p:spPr bwMode="auto">
          <a:xfrm>
            <a:off x="2971801" y="5181601"/>
            <a:ext cx="113982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2000">
                <a:latin typeface="Verdana" panose="020B0604030504040204" pitchFamily="34" charset="0"/>
              </a:rPr>
              <a:t>Design </a:t>
            </a:r>
          </a:p>
        </p:txBody>
      </p:sp>
      <p:sp>
        <p:nvSpPr>
          <p:cNvPr id="21515" name="Line 25"/>
          <p:cNvSpPr>
            <a:spLocks noChangeShapeType="1"/>
          </p:cNvSpPr>
          <p:nvPr/>
        </p:nvSpPr>
        <p:spPr bwMode="auto">
          <a:xfrm>
            <a:off x="4267200" y="2895600"/>
            <a:ext cx="9906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21516" name="Line 26"/>
          <p:cNvSpPr>
            <a:spLocks noChangeShapeType="1"/>
          </p:cNvSpPr>
          <p:nvPr/>
        </p:nvSpPr>
        <p:spPr bwMode="auto">
          <a:xfrm flipV="1">
            <a:off x="3962400" y="5029200"/>
            <a:ext cx="12192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21517" name="Line 27"/>
          <p:cNvSpPr>
            <a:spLocks noChangeShapeType="1"/>
          </p:cNvSpPr>
          <p:nvPr/>
        </p:nvSpPr>
        <p:spPr bwMode="auto">
          <a:xfrm>
            <a:off x="6400800" y="4038600"/>
            <a:ext cx="13716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21518" name="Line 28"/>
          <p:cNvSpPr>
            <a:spLocks noChangeShapeType="1"/>
          </p:cNvSpPr>
          <p:nvPr/>
        </p:nvSpPr>
        <p:spPr bwMode="auto">
          <a:xfrm>
            <a:off x="3505200" y="4038600"/>
            <a:ext cx="16764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21519" name="Line 29"/>
          <p:cNvSpPr>
            <a:spLocks noChangeShapeType="1"/>
          </p:cNvSpPr>
          <p:nvPr/>
        </p:nvSpPr>
        <p:spPr bwMode="auto">
          <a:xfrm flipH="1">
            <a:off x="2971800" y="2971800"/>
            <a:ext cx="457200" cy="8382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sp>
        <p:nvSpPr>
          <p:cNvPr id="21520" name="Line 30"/>
          <p:cNvSpPr>
            <a:spLocks noChangeShapeType="1"/>
          </p:cNvSpPr>
          <p:nvPr/>
        </p:nvSpPr>
        <p:spPr bwMode="auto">
          <a:xfrm flipH="1" flipV="1">
            <a:off x="2971800" y="4191000"/>
            <a:ext cx="457200" cy="9906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N"/>
          </a:p>
        </p:txBody>
      </p:sp>
      <p:pic>
        <p:nvPicPr>
          <p:cNvPr id="18434" name="Picture 2" descr="Part 3 - Brand Strategy: What's in a Name? - NICEorg"/>
          <p:cNvPicPr>
            <a:picLocks noChangeAspect="1" noChangeArrowheads="1"/>
          </p:cNvPicPr>
          <p:nvPr/>
        </p:nvPicPr>
        <p:blipFill>
          <a:blip r:embed="rId2"/>
          <a:srcRect/>
          <a:stretch>
            <a:fillRect/>
          </a:stretch>
        </p:blipFill>
        <p:spPr bwMode="auto">
          <a:xfrm>
            <a:off x="9572625" y="1776750"/>
            <a:ext cx="2619375" cy="1743076"/>
          </a:xfrm>
          <a:prstGeom prst="rect">
            <a:avLst/>
          </a:prstGeom>
          <a:noFill/>
        </p:spPr>
      </p:pic>
    </p:spTree>
    <p:extLst>
      <p:ext uri="{BB962C8B-B14F-4D97-AF65-F5344CB8AC3E}">
        <p14:creationId xmlns:p14="http://schemas.microsoft.com/office/powerpoint/2010/main" xmlns="" val="19892037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1981200" y="274638"/>
            <a:ext cx="8229600" cy="715962"/>
          </a:xfrm>
        </p:spPr>
        <p:txBody>
          <a:bodyPr/>
          <a:lstStyle/>
          <a:p>
            <a:r>
              <a:rPr lang="en-US" smtClean="0"/>
              <a:t>Characteristics of strong brands</a:t>
            </a:r>
          </a:p>
        </p:txBody>
      </p:sp>
      <p:sp>
        <p:nvSpPr>
          <p:cNvPr id="22531" name="Content Placeholder 2"/>
          <p:cNvSpPr>
            <a:spLocks noGrp="1"/>
          </p:cNvSpPr>
          <p:nvPr>
            <p:ph idx="1"/>
          </p:nvPr>
        </p:nvSpPr>
        <p:spPr>
          <a:xfrm>
            <a:off x="1981200" y="990601"/>
            <a:ext cx="8229600" cy="5135563"/>
          </a:xfrm>
        </p:spPr>
        <p:txBody>
          <a:bodyPr/>
          <a:lstStyle/>
          <a:p>
            <a:pPr marL="514350" indent="-514350">
              <a:buFont typeface="Arial" panose="020B0604020202020204" pitchFamily="34" charset="0"/>
              <a:buAutoNum type="arabicPeriod"/>
            </a:pPr>
            <a:r>
              <a:rPr lang="en-US" smtClean="0"/>
              <a:t>Brand can be valued in financial terms.</a:t>
            </a:r>
          </a:p>
          <a:p>
            <a:pPr marL="514350" indent="-514350">
              <a:buFont typeface="Arial" panose="020B0604020202020204" pitchFamily="34" charset="0"/>
              <a:buAutoNum type="arabicPeriod"/>
            </a:pPr>
            <a:r>
              <a:rPr lang="en-US" smtClean="0"/>
              <a:t>Brand can be bought and sold. ( it is an asset).</a:t>
            </a:r>
          </a:p>
          <a:p>
            <a:pPr marL="514350" indent="-514350">
              <a:buFont typeface="Arial" panose="020B0604020202020204" pitchFamily="34" charset="0"/>
              <a:buAutoNum type="arabicPeriod"/>
            </a:pPr>
            <a:r>
              <a:rPr lang="en-US" smtClean="0"/>
              <a:t>Customers develop emotional and intangible relation with the brand.</a:t>
            </a:r>
          </a:p>
          <a:p>
            <a:pPr marL="514350" indent="-514350">
              <a:buFont typeface="Arial" panose="020B0604020202020204" pitchFamily="34" charset="0"/>
              <a:buAutoNum type="arabicPeriod"/>
            </a:pPr>
            <a:r>
              <a:rPr lang="en-US" smtClean="0"/>
              <a:t>Entire company is concerned with brand.</a:t>
            </a:r>
          </a:p>
          <a:p>
            <a:pPr marL="514350" indent="-514350">
              <a:buFont typeface="Arial" panose="020B0604020202020204" pitchFamily="34" charset="0"/>
              <a:buAutoNum type="arabicPeriod"/>
            </a:pPr>
            <a:r>
              <a:rPr lang="en-US" smtClean="0"/>
              <a:t>Brand creates customer loyalty.</a:t>
            </a:r>
          </a:p>
          <a:p>
            <a:pPr marL="514350" indent="-514350">
              <a:buFont typeface="Arial" panose="020B0604020202020204" pitchFamily="34" charset="0"/>
              <a:buAutoNum type="arabicPeriod"/>
            </a:pPr>
            <a:endParaRPr lang="en-US" smtClean="0"/>
          </a:p>
          <a:p>
            <a:pPr marL="514350" indent="-514350">
              <a:buFont typeface="Arial" panose="020B0604020202020204" pitchFamily="34" charset="0"/>
              <a:buAutoNum type="arabicPeriod"/>
            </a:pPr>
            <a:endParaRPr lang="en-US" smtClean="0"/>
          </a:p>
        </p:txBody>
      </p:sp>
    </p:spTree>
    <p:extLst>
      <p:ext uri="{BB962C8B-B14F-4D97-AF65-F5344CB8AC3E}">
        <p14:creationId xmlns:p14="http://schemas.microsoft.com/office/powerpoint/2010/main" xmlns="" val="40111583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smtClean="0"/>
              <a:t>Brand Loyalty</a:t>
            </a:r>
          </a:p>
        </p:txBody>
      </p:sp>
      <p:sp>
        <p:nvSpPr>
          <p:cNvPr id="23555" name="Text Box 3"/>
          <p:cNvSpPr txBox="1">
            <a:spLocks noChangeArrowheads="1"/>
          </p:cNvSpPr>
          <p:nvPr/>
        </p:nvSpPr>
        <p:spPr bwMode="auto">
          <a:xfrm>
            <a:off x="3505200" y="1752601"/>
            <a:ext cx="4876800" cy="830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sz="2400" i="1">
                <a:latin typeface="Times New Roman" panose="02020603050405020304" pitchFamily="18" charset="0"/>
              </a:rPr>
              <a:t>“The degree of consumer attachment to a brand.” </a:t>
            </a:r>
            <a:endParaRPr lang="en-CA" sz="2400" i="1">
              <a:latin typeface="Times New Roman" panose="02020603050405020304" pitchFamily="18" charset="0"/>
            </a:endParaRPr>
          </a:p>
        </p:txBody>
      </p:sp>
      <p:sp>
        <p:nvSpPr>
          <p:cNvPr id="18436" name="Rectangle 4"/>
          <p:cNvSpPr>
            <a:spLocks noChangeArrowheads="1"/>
          </p:cNvSpPr>
          <p:nvPr/>
        </p:nvSpPr>
        <p:spPr bwMode="auto">
          <a:xfrm>
            <a:off x="2590800" y="3200400"/>
            <a:ext cx="2057400" cy="685800"/>
          </a:xfrm>
          <a:prstGeom prst="rect">
            <a:avLst/>
          </a:prstGeom>
          <a:solidFill>
            <a:schemeClr val="accent1"/>
          </a:solidFill>
          <a:ln w="9525">
            <a:solidFill>
              <a:schemeClr val="tx1"/>
            </a:solidFill>
            <a:miter lim="800000"/>
            <a:headEnd/>
            <a:tailEnd/>
          </a:ln>
          <a:effectLst>
            <a:outerShdw dist="107763" dir="13500000" algn="ctr" rotWithShape="0">
              <a:schemeClr val="bg2"/>
            </a:outerShdw>
          </a:effectLst>
        </p:spPr>
        <p:txBody>
          <a:bodyPr wrap="none" anchor="ctr"/>
          <a:lstStyle/>
          <a:p>
            <a:pPr algn="ctr">
              <a:defRPr/>
            </a:pPr>
            <a:r>
              <a:rPr lang="en-US" sz="2400">
                <a:latin typeface="Times New Roman" pitchFamily="18" charset="0"/>
                <a:cs typeface="Arial" charset="0"/>
              </a:rPr>
              <a:t>Recognition</a:t>
            </a:r>
            <a:endParaRPr lang="en-CA" sz="2400">
              <a:latin typeface="Times New Roman" pitchFamily="18" charset="0"/>
              <a:cs typeface="Arial" charset="0"/>
            </a:endParaRPr>
          </a:p>
        </p:txBody>
      </p:sp>
      <p:sp>
        <p:nvSpPr>
          <p:cNvPr id="18437" name="Rectangle 5"/>
          <p:cNvSpPr>
            <a:spLocks noChangeArrowheads="1"/>
          </p:cNvSpPr>
          <p:nvPr/>
        </p:nvSpPr>
        <p:spPr bwMode="auto">
          <a:xfrm>
            <a:off x="2590800" y="4267200"/>
            <a:ext cx="2057400" cy="685800"/>
          </a:xfrm>
          <a:prstGeom prst="rect">
            <a:avLst/>
          </a:prstGeom>
          <a:solidFill>
            <a:schemeClr val="accent1"/>
          </a:solidFill>
          <a:ln w="9525">
            <a:solidFill>
              <a:schemeClr val="tx1"/>
            </a:solidFill>
            <a:miter lim="800000"/>
            <a:headEnd/>
            <a:tailEnd/>
          </a:ln>
          <a:effectLst>
            <a:outerShdw dist="107763" dir="13500000" algn="ctr" rotWithShape="0">
              <a:schemeClr val="bg2"/>
            </a:outerShdw>
          </a:effectLst>
        </p:spPr>
        <p:txBody>
          <a:bodyPr wrap="none" anchor="ctr"/>
          <a:lstStyle/>
          <a:p>
            <a:pPr algn="ctr">
              <a:defRPr/>
            </a:pPr>
            <a:r>
              <a:rPr lang="en-US" sz="2400">
                <a:latin typeface="Times New Roman" pitchFamily="18" charset="0"/>
                <a:cs typeface="Arial" charset="0"/>
              </a:rPr>
              <a:t>Preference</a:t>
            </a:r>
            <a:endParaRPr lang="en-CA" sz="2400">
              <a:latin typeface="Times New Roman" pitchFamily="18" charset="0"/>
              <a:cs typeface="Arial" charset="0"/>
            </a:endParaRPr>
          </a:p>
        </p:txBody>
      </p:sp>
      <p:sp>
        <p:nvSpPr>
          <p:cNvPr id="18438" name="Rectangle 6"/>
          <p:cNvSpPr>
            <a:spLocks noChangeArrowheads="1"/>
          </p:cNvSpPr>
          <p:nvPr/>
        </p:nvSpPr>
        <p:spPr bwMode="auto">
          <a:xfrm>
            <a:off x="2590800" y="5334000"/>
            <a:ext cx="2057400" cy="685800"/>
          </a:xfrm>
          <a:prstGeom prst="rect">
            <a:avLst/>
          </a:prstGeom>
          <a:solidFill>
            <a:schemeClr val="accent1"/>
          </a:solidFill>
          <a:ln w="9525">
            <a:solidFill>
              <a:schemeClr val="tx1"/>
            </a:solidFill>
            <a:miter lim="800000"/>
            <a:headEnd/>
            <a:tailEnd/>
          </a:ln>
          <a:effectLst>
            <a:outerShdw dist="107763" dir="13500000" algn="ctr" rotWithShape="0">
              <a:schemeClr val="bg2"/>
            </a:outerShdw>
          </a:effectLst>
        </p:spPr>
        <p:txBody>
          <a:bodyPr wrap="none" anchor="ctr"/>
          <a:lstStyle/>
          <a:p>
            <a:pPr algn="ctr">
              <a:defRPr/>
            </a:pPr>
            <a:r>
              <a:rPr lang="en-US" sz="2400">
                <a:latin typeface="Times New Roman" pitchFamily="18" charset="0"/>
                <a:cs typeface="Arial" charset="0"/>
              </a:rPr>
              <a:t>Insistence</a:t>
            </a:r>
            <a:endParaRPr lang="en-CA" sz="2400">
              <a:latin typeface="Times New Roman" pitchFamily="18" charset="0"/>
              <a:cs typeface="Arial" charset="0"/>
            </a:endParaRPr>
          </a:p>
        </p:txBody>
      </p:sp>
      <p:sp>
        <p:nvSpPr>
          <p:cNvPr id="23559" name="Text Box 7"/>
          <p:cNvSpPr txBox="1">
            <a:spLocks noChangeArrowheads="1"/>
          </p:cNvSpPr>
          <p:nvPr/>
        </p:nvSpPr>
        <p:spPr bwMode="auto">
          <a:xfrm>
            <a:off x="5715000" y="3124200"/>
            <a:ext cx="3733800" cy="850900"/>
          </a:xfrm>
          <a:prstGeom prst="rect">
            <a:avLst/>
          </a:prstGeom>
          <a:noFill/>
          <a:ln w="2857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sz="2400">
                <a:latin typeface="Tahoma" panose="020B0604030504040204" pitchFamily="34" charset="0"/>
              </a:rPr>
              <a:t>Awareness of name, benefit and package</a:t>
            </a:r>
            <a:endParaRPr lang="en-CA" sz="2400">
              <a:latin typeface="Tahoma" panose="020B0604030504040204" pitchFamily="34" charset="0"/>
            </a:endParaRPr>
          </a:p>
        </p:txBody>
      </p:sp>
      <p:sp>
        <p:nvSpPr>
          <p:cNvPr id="23560" name="Text Box 8"/>
          <p:cNvSpPr txBox="1">
            <a:spLocks noChangeArrowheads="1"/>
          </p:cNvSpPr>
          <p:nvPr/>
        </p:nvSpPr>
        <p:spPr bwMode="auto">
          <a:xfrm>
            <a:off x="5715000" y="4191001"/>
            <a:ext cx="3733800" cy="1216025"/>
          </a:xfrm>
          <a:prstGeom prst="rect">
            <a:avLst/>
          </a:prstGeom>
          <a:noFill/>
          <a:ln w="2857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sz="2400">
                <a:latin typeface="Tahoma" panose="020B0604030504040204" pitchFamily="34" charset="0"/>
              </a:rPr>
              <a:t>Is useful, consumer will buy if available…evoked set</a:t>
            </a:r>
            <a:endParaRPr lang="en-CA" sz="2400">
              <a:latin typeface="Tahoma" panose="020B0604030504040204" pitchFamily="34" charset="0"/>
            </a:endParaRPr>
          </a:p>
        </p:txBody>
      </p:sp>
      <p:sp>
        <p:nvSpPr>
          <p:cNvPr id="23561" name="Text Box 9"/>
          <p:cNvSpPr txBox="1">
            <a:spLocks noChangeArrowheads="1"/>
          </p:cNvSpPr>
          <p:nvPr/>
        </p:nvSpPr>
        <p:spPr bwMode="auto">
          <a:xfrm>
            <a:off x="5715000" y="5402264"/>
            <a:ext cx="3810000" cy="461665"/>
          </a:xfrm>
          <a:prstGeom prst="rect">
            <a:avLst/>
          </a:prstGeom>
          <a:noFill/>
          <a:ln w="2857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sz="2400">
                <a:latin typeface="Tahoma" panose="020B0604030504040204" pitchFamily="34" charset="0"/>
              </a:rPr>
              <a:t>Will search for; must have</a:t>
            </a:r>
            <a:endParaRPr lang="en-CA" sz="2400">
              <a:latin typeface="Tahoma" panose="020B0604030504040204" pitchFamily="34" charset="0"/>
            </a:endParaRPr>
          </a:p>
        </p:txBody>
      </p:sp>
      <p:sp>
        <p:nvSpPr>
          <p:cNvPr id="23562" name="AutoShape 10"/>
          <p:cNvSpPr>
            <a:spLocks noChangeArrowheads="1"/>
          </p:cNvSpPr>
          <p:nvPr/>
        </p:nvSpPr>
        <p:spPr bwMode="auto">
          <a:xfrm>
            <a:off x="4724400" y="3352800"/>
            <a:ext cx="838200" cy="3810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p>
        </p:txBody>
      </p:sp>
      <p:sp>
        <p:nvSpPr>
          <p:cNvPr id="23563" name="AutoShape 11"/>
          <p:cNvSpPr>
            <a:spLocks noChangeArrowheads="1"/>
          </p:cNvSpPr>
          <p:nvPr/>
        </p:nvSpPr>
        <p:spPr bwMode="auto">
          <a:xfrm>
            <a:off x="4724400" y="4419600"/>
            <a:ext cx="838200" cy="3810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p>
        </p:txBody>
      </p:sp>
      <p:sp>
        <p:nvSpPr>
          <p:cNvPr id="23564" name="AutoShape 12"/>
          <p:cNvSpPr>
            <a:spLocks noChangeArrowheads="1"/>
          </p:cNvSpPr>
          <p:nvPr/>
        </p:nvSpPr>
        <p:spPr bwMode="auto">
          <a:xfrm>
            <a:off x="4724400" y="5486400"/>
            <a:ext cx="838200" cy="3810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p>
        </p:txBody>
      </p:sp>
      <p:pic>
        <p:nvPicPr>
          <p:cNvPr id="23565" name="Picture 1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4164676" y="394493"/>
            <a:ext cx="1257300" cy="12668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3566" name="Picture 14"/>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8077200" y="533400"/>
            <a:ext cx="1295400" cy="1049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3567" name="Picture 15"/>
          <p:cNvPicPr>
            <a:picLocks noChangeAspect="1" noChangeArrowheads="1"/>
          </p:cNvPicPr>
          <p:nvPr/>
        </p:nvPicPr>
        <p:blipFill>
          <a:blip r:embed="rId5">
            <a:extLst>
              <a:ext uri="{28A0092B-C50C-407E-A947-70E740481C1C}">
                <a14:useLocalDpi xmlns:a14="http://schemas.microsoft.com/office/drawing/2010/main" xmlns="" val="0"/>
              </a:ext>
            </a:extLst>
          </a:blip>
          <a:srcRect/>
          <a:stretch>
            <a:fillRect/>
          </a:stretch>
        </p:blipFill>
        <p:spPr bwMode="auto">
          <a:xfrm>
            <a:off x="8839200" y="1752600"/>
            <a:ext cx="990600" cy="1219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3568" name="Picture 16"/>
          <p:cNvPicPr>
            <a:picLocks noChangeAspect="1" noChangeArrowheads="1"/>
          </p:cNvPicPr>
          <p:nvPr/>
        </p:nvPicPr>
        <p:blipFill>
          <a:blip r:embed="rId6">
            <a:extLst>
              <a:ext uri="{28A0092B-C50C-407E-A947-70E740481C1C}">
                <a14:useLocalDpi xmlns:a14="http://schemas.microsoft.com/office/drawing/2010/main" xmlns="" val="0"/>
              </a:ext>
            </a:extLst>
          </a:blip>
          <a:srcRect/>
          <a:stretch>
            <a:fillRect/>
          </a:stretch>
        </p:blipFill>
        <p:spPr bwMode="auto">
          <a:xfrm>
            <a:off x="1828800" y="1981200"/>
            <a:ext cx="1143000" cy="1009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3265454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1"/>
          <p:cNvSpPr>
            <a:spLocks noGrp="1"/>
          </p:cNvSpPr>
          <p:nvPr>
            <p:ph idx="1"/>
          </p:nvPr>
        </p:nvSpPr>
        <p:spPr>
          <a:xfrm>
            <a:off x="1981200" y="1371600"/>
            <a:ext cx="8686800" cy="5029200"/>
          </a:xfrm>
        </p:spPr>
        <p:txBody>
          <a:bodyPr/>
          <a:lstStyle/>
          <a:p>
            <a:pPr eaLnBrk="1" hangingPunct="1"/>
            <a:r>
              <a:rPr lang="en-US" sz="3600"/>
              <a:t>Identify the maker</a:t>
            </a:r>
          </a:p>
          <a:p>
            <a:pPr eaLnBrk="1" hangingPunct="1"/>
            <a:r>
              <a:rPr lang="en-US" sz="3600"/>
              <a:t>Simplify product handling</a:t>
            </a:r>
          </a:p>
          <a:p>
            <a:pPr eaLnBrk="1" hangingPunct="1"/>
            <a:r>
              <a:rPr lang="en-US" sz="3600"/>
              <a:t>Organize accounting</a:t>
            </a:r>
          </a:p>
          <a:p>
            <a:pPr eaLnBrk="1" hangingPunct="1"/>
            <a:r>
              <a:rPr lang="en-US" sz="3600"/>
              <a:t>Signify quality</a:t>
            </a:r>
          </a:p>
          <a:p>
            <a:pPr eaLnBrk="1" hangingPunct="1"/>
            <a:r>
              <a:rPr lang="en-US" sz="3600"/>
              <a:t>Create barriers to entry</a:t>
            </a:r>
          </a:p>
          <a:p>
            <a:pPr eaLnBrk="1" hangingPunct="1"/>
            <a:r>
              <a:rPr lang="en-US" sz="3600"/>
              <a:t>Serve as a competitive advantage</a:t>
            </a:r>
          </a:p>
          <a:p>
            <a:pPr eaLnBrk="1" hangingPunct="1"/>
            <a:r>
              <a:rPr lang="en-US" sz="3600"/>
              <a:t>Secure price premium</a:t>
            </a:r>
          </a:p>
        </p:txBody>
      </p:sp>
      <p:sp>
        <p:nvSpPr>
          <p:cNvPr id="24579" name="Title 2"/>
          <p:cNvSpPr>
            <a:spLocks noGrp="1"/>
          </p:cNvSpPr>
          <p:nvPr>
            <p:ph type="title"/>
          </p:nvPr>
        </p:nvSpPr>
        <p:spPr>
          <a:xfrm>
            <a:off x="2133600" y="0"/>
            <a:ext cx="8077200" cy="1219200"/>
          </a:xfrm>
        </p:spPr>
        <p:txBody>
          <a:bodyPr/>
          <a:lstStyle/>
          <a:p>
            <a:pPr eaLnBrk="1" hangingPunct="1"/>
            <a:r>
              <a:rPr lang="en-US" smtClean="0"/>
              <a:t>The Role of Brands</a:t>
            </a:r>
          </a:p>
        </p:txBody>
      </p:sp>
    </p:spTree>
    <p:extLst>
      <p:ext uri="{BB962C8B-B14F-4D97-AF65-F5344CB8AC3E}">
        <p14:creationId xmlns:p14="http://schemas.microsoft.com/office/powerpoint/2010/main" xmlns="" val="28986993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1981200" y="274638"/>
            <a:ext cx="8229600" cy="792162"/>
          </a:xfrm>
        </p:spPr>
        <p:txBody>
          <a:bodyPr/>
          <a:lstStyle/>
          <a:p>
            <a:r>
              <a:rPr lang="en-US" smtClean="0"/>
              <a:t>Brand types</a:t>
            </a:r>
          </a:p>
        </p:txBody>
      </p:sp>
      <p:sp>
        <p:nvSpPr>
          <p:cNvPr id="3" name="Content Placeholder 2"/>
          <p:cNvSpPr>
            <a:spLocks noGrp="1"/>
          </p:cNvSpPr>
          <p:nvPr>
            <p:ph idx="1"/>
          </p:nvPr>
        </p:nvSpPr>
        <p:spPr>
          <a:xfrm>
            <a:off x="1981200" y="1066801"/>
            <a:ext cx="8229600" cy="5059363"/>
          </a:xfrm>
        </p:spPr>
        <p:txBody>
          <a:bodyPr/>
          <a:lstStyle/>
          <a:p>
            <a:pPr>
              <a:buFont typeface="Arial" panose="020B0604020202020204" pitchFamily="34" charset="0"/>
              <a:buNone/>
              <a:defRPr/>
            </a:pPr>
            <a:r>
              <a:rPr lang="en-US" sz="2400" dirty="0">
                <a:latin typeface="Times New Roman" pitchFamily="18" charset="0"/>
                <a:cs typeface="Times New Roman" pitchFamily="18" charset="0"/>
              </a:rPr>
              <a:t>There are three types of Brands:</a:t>
            </a:r>
          </a:p>
          <a:p>
            <a:pPr marL="514350" indent="-514350" algn="just">
              <a:buFont typeface="Arial" panose="020B0604020202020204" pitchFamily="34" charset="0"/>
              <a:buAutoNum type="arabicPeriod"/>
              <a:defRPr/>
            </a:pPr>
            <a:r>
              <a:rPr lang="en-US" sz="2400" dirty="0">
                <a:solidFill>
                  <a:srgbClr val="FF0000"/>
                </a:solidFill>
                <a:latin typeface="Times New Roman" pitchFamily="18" charset="0"/>
                <a:cs typeface="Times New Roman" pitchFamily="18" charset="0"/>
              </a:rPr>
              <a:t>Functional Brand</a:t>
            </a:r>
            <a:r>
              <a:rPr lang="en-US" sz="2400" dirty="0">
                <a:latin typeface="Times New Roman" pitchFamily="18" charset="0"/>
                <a:cs typeface="Times New Roman" pitchFamily="18" charset="0"/>
              </a:rPr>
              <a:t>: These brands talk about functional values of product: </a:t>
            </a:r>
            <a:r>
              <a:rPr lang="en-US" sz="2400" dirty="0" err="1">
                <a:latin typeface="Times New Roman" pitchFamily="18" charset="0"/>
                <a:cs typeface="Times New Roman" pitchFamily="18" charset="0"/>
              </a:rPr>
              <a:t>Eg</a:t>
            </a:r>
            <a:r>
              <a:rPr lang="en-US" sz="2400" dirty="0">
                <a:latin typeface="Times New Roman" pitchFamily="18" charset="0"/>
                <a:cs typeface="Times New Roman" pitchFamily="18" charset="0"/>
              </a:rPr>
              <a:t>: Head and </a:t>
            </a:r>
            <a:r>
              <a:rPr lang="en-US" sz="2400" dirty="0" smtClean="0">
                <a:latin typeface="Times New Roman" pitchFamily="18" charset="0"/>
                <a:cs typeface="Times New Roman" pitchFamily="18" charset="0"/>
              </a:rPr>
              <a:t>shoulder </a:t>
            </a:r>
            <a:r>
              <a:rPr lang="en-US" sz="2400" dirty="0">
                <a:latin typeface="Times New Roman" pitchFamily="18" charset="0"/>
                <a:cs typeface="Times New Roman" pitchFamily="18" charset="0"/>
              </a:rPr>
              <a:t>shampoo explain about how shampoo works on hair etc.</a:t>
            </a:r>
          </a:p>
          <a:p>
            <a:pPr marL="514350" indent="-514350">
              <a:buFont typeface="Arial" panose="020B0604020202020204" pitchFamily="34" charset="0"/>
              <a:buAutoNum type="arabicPeriod"/>
              <a:defRPr/>
            </a:pPr>
            <a:r>
              <a:rPr lang="en-US" sz="2400" dirty="0">
                <a:solidFill>
                  <a:srgbClr val="FF0000"/>
                </a:solidFill>
                <a:latin typeface="Times New Roman" pitchFamily="18" charset="0"/>
                <a:cs typeface="Times New Roman" pitchFamily="18" charset="0"/>
              </a:rPr>
              <a:t>Image brands</a:t>
            </a:r>
            <a:r>
              <a:rPr lang="en-US" sz="2400" dirty="0">
                <a:latin typeface="Times New Roman" pitchFamily="18" charset="0"/>
                <a:cs typeface="Times New Roman" pitchFamily="18" charset="0"/>
              </a:rPr>
              <a:t>: It gives image to the user. </a:t>
            </a:r>
            <a:r>
              <a:rPr lang="en-US" sz="2400" dirty="0" err="1">
                <a:latin typeface="Times New Roman" pitchFamily="18" charset="0"/>
                <a:cs typeface="Times New Roman" pitchFamily="18" charset="0"/>
              </a:rPr>
              <a:t>Eg</a:t>
            </a:r>
            <a:r>
              <a:rPr lang="en-US" sz="2400" dirty="0">
                <a:latin typeface="Times New Roman" pitchFamily="18" charset="0"/>
                <a:cs typeface="Times New Roman" pitchFamily="18" charset="0"/>
              </a:rPr>
              <a:t>: Parker pen gives image of elite group. Cadbury/ Pepsi, Coca cola etc</a:t>
            </a:r>
          </a:p>
          <a:p>
            <a:pPr marL="514350" indent="-514350">
              <a:buFont typeface="Arial" panose="020B0604020202020204" pitchFamily="34" charset="0"/>
              <a:buAutoNum type="arabicPeriod"/>
              <a:defRPr/>
            </a:pPr>
            <a:r>
              <a:rPr lang="en-US" sz="2400" dirty="0">
                <a:solidFill>
                  <a:srgbClr val="FF0000"/>
                </a:solidFill>
                <a:latin typeface="Times New Roman" pitchFamily="18" charset="0"/>
                <a:cs typeface="Times New Roman" pitchFamily="18" charset="0"/>
              </a:rPr>
              <a:t>Experience brands</a:t>
            </a:r>
            <a:r>
              <a:rPr lang="en-US" sz="2400" dirty="0">
                <a:latin typeface="Times New Roman" pitchFamily="18" charset="0"/>
                <a:cs typeface="Times New Roman" pitchFamily="18" charset="0"/>
              </a:rPr>
              <a:t>: Explain about the </a:t>
            </a:r>
            <a:r>
              <a:rPr lang="en-US" sz="2400" dirty="0" err="1" smtClean="0">
                <a:latin typeface="Times New Roman" pitchFamily="18" charset="0"/>
                <a:cs typeface="Times New Roman" pitchFamily="18" charset="0"/>
              </a:rPr>
              <a:t>comfortability</a:t>
            </a:r>
            <a:r>
              <a:rPr lang="en-US" sz="2400" dirty="0">
                <a:latin typeface="Times New Roman" pitchFamily="18" charset="0"/>
                <a:cs typeface="Times New Roman" pitchFamily="18" charset="0"/>
              </a:rPr>
              <a:t>, different experience etc. </a:t>
            </a:r>
            <a:r>
              <a:rPr lang="en-US" sz="2400" dirty="0" err="1">
                <a:latin typeface="Times New Roman" pitchFamily="18" charset="0"/>
                <a:cs typeface="Times New Roman" pitchFamily="18" charset="0"/>
              </a:rPr>
              <a:t>Eg</a:t>
            </a:r>
            <a:r>
              <a:rPr lang="en-US" sz="2400" dirty="0">
                <a:latin typeface="Times New Roman" pitchFamily="18" charset="0"/>
                <a:cs typeface="Times New Roman" pitchFamily="18" charset="0"/>
              </a:rPr>
              <a:t>: Singapore Airlines: “ Fly our airline- enjoy 5 star experience in the sky. Café coffee Day. </a:t>
            </a:r>
          </a:p>
          <a:p>
            <a:pPr marL="514350" indent="-514350">
              <a:buFont typeface="Arial" panose="020B0604020202020204" pitchFamily="34" charset="0"/>
              <a:buAutoNum type="arabicPeriod"/>
              <a:defRPr/>
            </a:pPr>
            <a:endParaRPr lang="en-US" dirty="0" smtClean="0">
              <a:latin typeface="Times New Roman" pitchFamily="18" charset="0"/>
              <a:cs typeface="Times New Roman" pitchFamily="18" charset="0"/>
            </a:endParaRPr>
          </a:p>
          <a:p>
            <a:pPr marL="514350" indent="-514350">
              <a:buFont typeface="Arial" panose="020B0604020202020204" pitchFamily="34" charset="0"/>
              <a:buAutoNum type="arabicPeriod"/>
              <a:defRPr/>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xmlns="" val="14965461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1"/>
          <p:cNvSpPr>
            <a:spLocks noGrp="1"/>
          </p:cNvSpPr>
          <p:nvPr>
            <p:ph idx="1"/>
          </p:nvPr>
        </p:nvSpPr>
        <p:spPr>
          <a:xfrm>
            <a:off x="838200" y="1504604"/>
            <a:ext cx="5969924" cy="4672359"/>
          </a:xfrm>
        </p:spPr>
        <p:txBody>
          <a:bodyPr/>
          <a:lstStyle/>
          <a:p>
            <a:pPr algn="just" eaLnBrk="1" hangingPunct="1">
              <a:buFont typeface="Arial" panose="020B0604020202020204" pitchFamily="34" charset="0"/>
              <a:buNone/>
            </a:pPr>
            <a:r>
              <a:rPr lang="en-US" sz="3600" dirty="0">
                <a:latin typeface="Times New Roman" pitchFamily="18" charset="0"/>
                <a:cs typeface="Times New Roman" pitchFamily="18" charset="0"/>
              </a:rPr>
              <a:t>	Brand equity is the added value endowed on products and services, which may be reflected in the way consumers, think, feel </a:t>
            </a:r>
            <a:r>
              <a:rPr lang="en-US" sz="3600" dirty="0" smtClean="0">
                <a:latin typeface="Times New Roman" pitchFamily="18" charset="0"/>
                <a:cs typeface="Times New Roman" pitchFamily="18" charset="0"/>
              </a:rPr>
              <a:t>and act </a:t>
            </a:r>
            <a:r>
              <a:rPr lang="en-US" sz="3600" dirty="0">
                <a:latin typeface="Times New Roman" pitchFamily="18" charset="0"/>
                <a:cs typeface="Times New Roman" pitchFamily="18" charset="0"/>
              </a:rPr>
              <a:t>with respect to the brand</a:t>
            </a:r>
            <a:r>
              <a:rPr lang="en-US" sz="3600" dirty="0" smtClean="0">
                <a:latin typeface="Times New Roman" pitchFamily="18" charset="0"/>
                <a:cs typeface="Times New Roman" pitchFamily="18" charset="0"/>
              </a:rPr>
              <a:t>.</a:t>
            </a:r>
          </a:p>
          <a:p>
            <a:pPr algn="just" eaLnBrk="1" hangingPunct="1">
              <a:buFont typeface="Arial" panose="020B0604020202020204" pitchFamily="34" charset="0"/>
              <a:buNone/>
            </a:pPr>
            <a:endParaRPr lang="en-US" sz="3600" dirty="0">
              <a:latin typeface="Times New Roman" pitchFamily="18" charset="0"/>
              <a:cs typeface="Times New Roman" pitchFamily="18" charset="0"/>
            </a:endParaRPr>
          </a:p>
        </p:txBody>
      </p:sp>
      <p:sp>
        <p:nvSpPr>
          <p:cNvPr id="26627" name="Title 2"/>
          <p:cNvSpPr>
            <a:spLocks noGrp="1"/>
          </p:cNvSpPr>
          <p:nvPr>
            <p:ph type="title"/>
          </p:nvPr>
        </p:nvSpPr>
        <p:spPr/>
        <p:txBody>
          <a:bodyPr/>
          <a:lstStyle/>
          <a:p>
            <a:pPr eaLnBrk="1" hangingPunct="1"/>
            <a:r>
              <a:rPr lang="en-US" smtClean="0"/>
              <a:t>What is Brand Equity?</a:t>
            </a:r>
          </a:p>
        </p:txBody>
      </p:sp>
      <p:pic>
        <p:nvPicPr>
          <p:cNvPr id="3" name="Picture 2"/>
          <p:cNvPicPr>
            <a:picLocks noChangeAspect="1"/>
          </p:cNvPicPr>
          <p:nvPr/>
        </p:nvPicPr>
        <p:blipFill>
          <a:blip r:embed="rId2"/>
          <a:stretch>
            <a:fillRect/>
          </a:stretch>
        </p:blipFill>
        <p:spPr>
          <a:xfrm>
            <a:off x="6987367" y="1392728"/>
            <a:ext cx="4019550" cy="3390900"/>
          </a:xfrm>
          <a:prstGeom prst="rect">
            <a:avLst/>
          </a:prstGeom>
        </p:spPr>
      </p:pic>
    </p:spTree>
    <p:extLst>
      <p:ext uri="{BB962C8B-B14F-4D97-AF65-F5344CB8AC3E}">
        <p14:creationId xmlns:p14="http://schemas.microsoft.com/office/powerpoint/2010/main" xmlns="" val="21527749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rtlCol="0">
            <a:normAutofit/>
          </a:bodyPr>
          <a:lstStyle/>
          <a:p>
            <a:pPr>
              <a:defRPr/>
            </a:pPr>
            <a:r>
              <a:rPr lang="en-US" dirty="0">
                <a:latin typeface="Times New Roman" pitchFamily="18" charset="0"/>
                <a:cs typeface="Times New Roman" pitchFamily="18" charset="0"/>
              </a:rPr>
              <a:t>What happens when brands have high equity?</a:t>
            </a:r>
          </a:p>
        </p:txBody>
      </p:sp>
      <p:sp>
        <p:nvSpPr>
          <p:cNvPr id="19459" name="Rectangle 3"/>
          <p:cNvSpPr>
            <a:spLocks noGrp="1" noChangeArrowheads="1"/>
          </p:cNvSpPr>
          <p:nvPr>
            <p:ph type="body" idx="1"/>
          </p:nvPr>
        </p:nvSpPr>
        <p:spPr/>
        <p:txBody>
          <a:bodyPr/>
          <a:lstStyle/>
          <a:p>
            <a:pPr>
              <a:lnSpc>
                <a:spcPct val="90000"/>
              </a:lnSpc>
            </a:pPr>
            <a:r>
              <a:rPr lang="en-US" smtClean="0">
                <a:latin typeface="Times New Roman" panose="02020603050405020304" pitchFamily="18" charset="0"/>
                <a:cs typeface="Times New Roman" panose="02020603050405020304" pitchFamily="18" charset="0"/>
              </a:rPr>
              <a:t>The company can have more leverage with the trade</a:t>
            </a:r>
          </a:p>
          <a:p>
            <a:pPr>
              <a:lnSpc>
                <a:spcPct val="90000"/>
              </a:lnSpc>
            </a:pPr>
            <a:r>
              <a:rPr lang="en-US" smtClean="0">
                <a:latin typeface="Times New Roman" panose="02020603050405020304" pitchFamily="18" charset="0"/>
                <a:cs typeface="Times New Roman" panose="02020603050405020304" pitchFamily="18" charset="0"/>
              </a:rPr>
              <a:t>The company can charge a premium on their product</a:t>
            </a:r>
          </a:p>
          <a:p>
            <a:pPr>
              <a:lnSpc>
                <a:spcPct val="90000"/>
              </a:lnSpc>
            </a:pPr>
            <a:r>
              <a:rPr lang="en-US" smtClean="0">
                <a:latin typeface="Times New Roman" panose="02020603050405020304" pitchFamily="18" charset="0"/>
                <a:cs typeface="Times New Roman" panose="02020603050405020304" pitchFamily="18" charset="0"/>
              </a:rPr>
              <a:t>The company can have more brand extensions</a:t>
            </a:r>
          </a:p>
          <a:p>
            <a:pPr>
              <a:lnSpc>
                <a:spcPct val="90000"/>
              </a:lnSpc>
            </a:pPr>
            <a:r>
              <a:rPr lang="en-US" smtClean="0">
                <a:latin typeface="Times New Roman" panose="02020603050405020304" pitchFamily="18" charset="0"/>
                <a:cs typeface="Times New Roman" panose="02020603050405020304" pitchFamily="18" charset="0"/>
              </a:rPr>
              <a:t>The company can have some defense against price competition</a:t>
            </a:r>
          </a:p>
        </p:txBody>
      </p:sp>
    </p:spTree>
    <p:extLst>
      <p:ext uri="{BB962C8B-B14F-4D97-AF65-F5344CB8AC3E}">
        <p14:creationId xmlns:p14="http://schemas.microsoft.com/office/powerpoint/2010/main" xmlns="" val="2613362583"/>
      </p:ext>
    </p:extLst>
  </p:cSld>
  <p:clrMapOvr>
    <a:masterClrMapping/>
  </p:clrMapOvr>
  <p:transition>
    <p:cover dir="l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blinds(horizontal)">
                                      <p:cBhvr>
                                        <p:cTn id="7" dur="500"/>
                                        <p:tgtEl>
                                          <p:spTgt spid="194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459">
                                            <p:txEl>
                                              <p:pRg st="1" end="1"/>
                                            </p:txEl>
                                          </p:spTgt>
                                        </p:tgtEl>
                                        <p:attrNameLst>
                                          <p:attrName>style.visibility</p:attrName>
                                        </p:attrNameLst>
                                      </p:cBhvr>
                                      <p:to>
                                        <p:strVal val="visible"/>
                                      </p:to>
                                    </p:set>
                                    <p:animEffect transition="in" filter="blinds(horizontal)">
                                      <p:cBhvr>
                                        <p:cTn id="12" dur="500"/>
                                        <p:tgtEl>
                                          <p:spTgt spid="194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9459">
                                            <p:txEl>
                                              <p:pRg st="2" end="2"/>
                                            </p:txEl>
                                          </p:spTgt>
                                        </p:tgtEl>
                                        <p:attrNameLst>
                                          <p:attrName>style.visibility</p:attrName>
                                        </p:attrNameLst>
                                      </p:cBhvr>
                                      <p:to>
                                        <p:strVal val="visible"/>
                                      </p:to>
                                    </p:set>
                                    <p:animEffect transition="in" filter="blinds(horizontal)">
                                      <p:cBhvr>
                                        <p:cTn id="17" dur="500"/>
                                        <p:tgtEl>
                                          <p:spTgt spid="194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9459">
                                            <p:txEl>
                                              <p:pRg st="3" end="3"/>
                                            </p:txEl>
                                          </p:spTgt>
                                        </p:tgtEl>
                                        <p:attrNameLst>
                                          <p:attrName>style.visibility</p:attrName>
                                        </p:attrNameLst>
                                      </p:cBhvr>
                                      <p:to>
                                        <p:strVal val="visible"/>
                                      </p:to>
                                    </p:set>
                                    <p:animEffect transition="in" filter="blinds(horizontal)">
                                      <p:cBhvr>
                                        <p:cTn id="22" dur="500"/>
                                        <p:tgtEl>
                                          <p:spTgt spid="194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1981200" y="1828800"/>
            <a:ext cx="8229600" cy="2667000"/>
          </a:xfrm>
        </p:spPr>
        <p:txBody>
          <a:bodyPr/>
          <a:lstStyle/>
          <a:p>
            <a:r>
              <a:rPr lang="en-US" b="1" smtClean="0"/>
              <a:t>Brand Strategy</a:t>
            </a:r>
          </a:p>
        </p:txBody>
      </p:sp>
    </p:spTree>
    <p:extLst>
      <p:ext uri="{BB962C8B-B14F-4D97-AF65-F5344CB8AC3E}">
        <p14:creationId xmlns:p14="http://schemas.microsoft.com/office/powerpoint/2010/main" xmlns="" val="337603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smtClean="0">
                <a:latin typeface="Times New Roman" panose="02020603050405020304" pitchFamily="18" charset="0"/>
                <a:cs typeface="Times New Roman" panose="02020603050405020304" pitchFamily="18" charset="0"/>
              </a:rPr>
              <a:t>Definitions of Brand Strategy </a:t>
            </a:r>
          </a:p>
        </p:txBody>
      </p:sp>
      <p:sp>
        <p:nvSpPr>
          <p:cNvPr id="31747" name="Content Placeholder 2"/>
          <p:cNvSpPr>
            <a:spLocks noGrp="1"/>
          </p:cNvSpPr>
          <p:nvPr>
            <p:ph idx="1"/>
          </p:nvPr>
        </p:nvSpPr>
        <p:spPr/>
        <p:txBody>
          <a:bodyPr/>
          <a:lstStyle/>
          <a:p>
            <a:pPr algn="just"/>
            <a:r>
              <a:rPr lang="en-US" smtClean="0">
                <a:latin typeface="Times New Roman" panose="02020603050405020304" pitchFamily="18" charset="0"/>
                <a:cs typeface="Times New Roman" panose="02020603050405020304" pitchFamily="18" charset="0"/>
              </a:rPr>
              <a:t>A plan for the systematic development of a brand to enable it to meet its agreed objectives.</a:t>
            </a:r>
          </a:p>
          <a:p>
            <a:pPr algn="just"/>
            <a:r>
              <a:rPr lang="en-US" smtClean="0">
                <a:latin typeface="Times New Roman" panose="02020603050405020304" pitchFamily="18" charset="0"/>
                <a:cs typeface="Times New Roman" panose="02020603050405020304" pitchFamily="18" charset="0"/>
              </a:rPr>
              <a:t>The strategy should be rooted in the brand's vision and driven by the principles of differentiation and sustained consumer appeal. </a:t>
            </a:r>
          </a:p>
          <a:p>
            <a:pPr algn="just"/>
            <a:r>
              <a:rPr lang="en-US" smtClean="0">
                <a:latin typeface="Times New Roman" panose="02020603050405020304" pitchFamily="18" charset="0"/>
                <a:cs typeface="Times New Roman" panose="02020603050405020304" pitchFamily="18" charset="0"/>
              </a:rPr>
              <a:t>The true brand is the sum total of the perceptions of all the constituencies which contribute to revenues and profits.</a:t>
            </a:r>
          </a:p>
          <a:p>
            <a:pPr algn="just"/>
            <a:endParaRPr lang="en-US"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41914166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8996"/>
            <a:ext cx="10515600" cy="740468"/>
          </a:xfrm>
        </p:spPr>
        <p:txBody>
          <a:bodyPr/>
          <a:lstStyle/>
          <a:p>
            <a:r>
              <a:rPr lang="en-US" dirty="0" smtClean="0"/>
              <a:t>Components of Brand Strategy</a:t>
            </a:r>
            <a:endParaRPr lang="en-IN" dirty="0"/>
          </a:p>
        </p:txBody>
      </p:sp>
      <p:pic>
        <p:nvPicPr>
          <p:cNvPr id="4" name="Picture 3"/>
          <p:cNvPicPr>
            <a:picLocks noChangeAspect="1"/>
          </p:cNvPicPr>
          <p:nvPr/>
        </p:nvPicPr>
        <p:blipFill>
          <a:blip r:embed="rId2"/>
          <a:stretch>
            <a:fillRect/>
          </a:stretch>
        </p:blipFill>
        <p:spPr>
          <a:xfrm>
            <a:off x="1986742" y="952500"/>
            <a:ext cx="6716683" cy="5672744"/>
          </a:xfrm>
          <a:prstGeom prst="rect">
            <a:avLst/>
          </a:prstGeom>
        </p:spPr>
      </p:pic>
    </p:spTree>
    <p:extLst>
      <p:ext uri="{BB962C8B-B14F-4D97-AF65-F5344CB8AC3E}">
        <p14:creationId xmlns:p14="http://schemas.microsoft.com/office/powerpoint/2010/main" xmlns="" val="31996815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dirty="0">
                <a:latin typeface="Times New Roman" pitchFamily="18" charset="0"/>
                <a:cs typeface="Times New Roman" pitchFamily="18" charset="0"/>
              </a:rPr>
              <a:t>Types of branding strategy</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4819" name="Content Placeholder 2"/>
          <p:cNvSpPr>
            <a:spLocks noGrp="1"/>
          </p:cNvSpPr>
          <p:nvPr>
            <p:ph idx="1"/>
          </p:nvPr>
        </p:nvSpPr>
        <p:spPr/>
        <p:txBody>
          <a:bodyPr/>
          <a:lstStyle/>
          <a:p>
            <a:r>
              <a:rPr lang="en-US" smtClean="0">
                <a:latin typeface="Times New Roman" panose="02020603050405020304" pitchFamily="18" charset="0"/>
                <a:cs typeface="Times New Roman" panose="02020603050405020304" pitchFamily="18" charset="0"/>
              </a:rPr>
              <a:t>Normally, a company can opt for one or more of the following strategies:</a:t>
            </a:r>
          </a:p>
          <a:p>
            <a:r>
              <a:rPr lang="en-US" smtClean="0">
                <a:latin typeface="Times New Roman" panose="02020603050405020304" pitchFamily="18" charset="0"/>
                <a:cs typeface="Times New Roman" panose="02020603050405020304" pitchFamily="18" charset="0"/>
              </a:rPr>
              <a:t>Product branding </a:t>
            </a:r>
          </a:p>
          <a:p>
            <a:r>
              <a:rPr lang="en-US" smtClean="0">
                <a:latin typeface="Times New Roman" panose="02020603050405020304" pitchFamily="18" charset="0"/>
                <a:cs typeface="Times New Roman" panose="02020603050405020304" pitchFamily="18" charset="0"/>
              </a:rPr>
              <a:t>Product-line branding </a:t>
            </a:r>
          </a:p>
          <a:p>
            <a:r>
              <a:rPr lang="en-US" smtClean="0">
                <a:latin typeface="Times New Roman" panose="02020603050405020304" pitchFamily="18" charset="0"/>
                <a:cs typeface="Times New Roman" panose="02020603050405020304" pitchFamily="18" charset="0"/>
              </a:rPr>
              <a:t>Product-range branding </a:t>
            </a:r>
          </a:p>
          <a:p>
            <a:r>
              <a:rPr lang="en-US" smtClean="0">
                <a:latin typeface="Times New Roman" panose="02020603050405020304" pitchFamily="18" charset="0"/>
                <a:cs typeface="Times New Roman" panose="02020603050405020304" pitchFamily="18" charset="0"/>
              </a:rPr>
              <a:t>Corporate branding </a:t>
            </a:r>
          </a:p>
          <a:p>
            <a:endParaRPr lang="en-US"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916364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dirty="0" smtClean="0">
                <a:latin typeface="Times New Roman" pitchFamily="18" charset="0"/>
                <a:cs typeface="Times New Roman" pitchFamily="18" charset="0"/>
              </a:rPr>
              <a:t>PRODUCT BRANDING STRATEGY</a:t>
            </a:r>
            <a:br>
              <a:rPr lang="en-US" dirty="0" smtClean="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039091"/>
            <a:ext cx="6186055" cy="5394960"/>
          </a:xfrm>
        </p:spPr>
        <p:txBody>
          <a:bodyPr rtlCol="0">
            <a:normAutofit/>
          </a:bodyPr>
          <a:lstStyle/>
          <a:p>
            <a:pPr algn="just">
              <a:defRPr/>
            </a:pPr>
            <a:r>
              <a:rPr lang="en-US" sz="2000" dirty="0" smtClean="0">
                <a:latin typeface="Times New Roman" pitchFamily="18" charset="0"/>
                <a:cs typeface="Times New Roman" pitchFamily="18" charset="0"/>
              </a:rPr>
              <a:t>This </a:t>
            </a:r>
            <a:r>
              <a:rPr lang="en-US" sz="2000" dirty="0">
                <a:latin typeface="Times New Roman" pitchFamily="18" charset="0"/>
                <a:cs typeface="Times New Roman" pitchFamily="18" charset="0"/>
              </a:rPr>
              <a:t>type of brand give each individual product an exclusive brand name and the company name being ignored </a:t>
            </a:r>
          </a:p>
          <a:p>
            <a:pPr algn="just">
              <a:defRPr/>
            </a:pPr>
            <a:r>
              <a:rPr lang="en-US" sz="2000" dirty="0">
                <a:latin typeface="Times New Roman" pitchFamily="18" charset="0"/>
                <a:cs typeface="Times New Roman" pitchFamily="18" charset="0"/>
              </a:rPr>
              <a:t>It allows the brand to have unique values, personality, identity and positioning. </a:t>
            </a:r>
          </a:p>
          <a:p>
            <a:pPr algn="just">
              <a:defRPr/>
            </a:pPr>
            <a:r>
              <a:rPr lang="en-US" sz="2000" dirty="0">
                <a:latin typeface="Times New Roman" pitchFamily="18" charset="0"/>
                <a:cs typeface="Times New Roman" pitchFamily="18" charset="0"/>
              </a:rPr>
              <a:t>By doing so, it implies that every new product the company brings on to the market is a new brand and can be positioned precisely for a specific market segment </a:t>
            </a:r>
            <a:endParaRPr lang="en-US" sz="2000" dirty="0" smtClean="0">
              <a:latin typeface="Times New Roman" pitchFamily="18" charset="0"/>
              <a:cs typeface="Times New Roman" pitchFamily="18" charset="0"/>
            </a:endParaRPr>
          </a:p>
          <a:p>
            <a:pPr algn="just">
              <a:defRPr/>
            </a:pPr>
            <a:r>
              <a:rPr lang="en-US" sz="2000" dirty="0">
                <a:latin typeface="Times New Roman" pitchFamily="18" charset="0"/>
                <a:cs typeface="Times New Roman" pitchFamily="18" charset="0"/>
              </a:rPr>
              <a:t>It has the advantage of making it easier for the company to evaluate brand performance and worth and allows better resource-allocation decisions. </a:t>
            </a:r>
          </a:p>
          <a:p>
            <a:pPr algn="just">
              <a:defRPr/>
            </a:pPr>
            <a:r>
              <a:rPr lang="en-US" sz="2000" dirty="0">
                <a:latin typeface="Times New Roman" pitchFamily="18" charset="0"/>
                <a:cs typeface="Times New Roman" pitchFamily="18" charset="0"/>
              </a:rPr>
              <a:t>The major drawbacks are product cannibalization if consumers cannot differentiate clearly among product brands and involves higher advertising and promotion budget and is totally self-supporting with little or not brand name assistance or assurance from the parent. </a:t>
            </a:r>
          </a:p>
          <a:p>
            <a:pPr algn="just">
              <a:defRPr/>
            </a:pPr>
            <a:endParaRPr lang="en-US" dirty="0" smtClean="0">
              <a:latin typeface="Times New Roman" pitchFamily="18" charset="0"/>
              <a:cs typeface="Times New Roman" pitchFamily="18" charset="0"/>
            </a:endParaRPr>
          </a:p>
          <a:p>
            <a:pPr algn="just">
              <a:defRPr/>
            </a:pPr>
            <a:endParaRPr lang="en-US" dirty="0">
              <a:latin typeface="Times New Roman" pitchFamily="18" charset="0"/>
              <a:cs typeface="Times New Roman" pitchFamily="18" charset="0"/>
            </a:endParaRPr>
          </a:p>
          <a:p>
            <a:pPr algn="just">
              <a:defRPr/>
            </a:pPr>
            <a:endParaRPr lang="en-US" dirty="0">
              <a:latin typeface="Times New Roman" pitchFamily="18" charset="0"/>
              <a:cs typeface="Times New Roman" pitchFamily="18" charset="0"/>
            </a:endParaRPr>
          </a:p>
        </p:txBody>
      </p:sp>
      <p:pic>
        <p:nvPicPr>
          <p:cNvPr id="4" name="Picture 3"/>
          <p:cNvPicPr>
            <a:picLocks noChangeAspect="1"/>
          </p:cNvPicPr>
          <p:nvPr/>
        </p:nvPicPr>
        <p:blipFill>
          <a:blip r:embed="rId2"/>
          <a:stretch>
            <a:fillRect/>
          </a:stretch>
        </p:blipFill>
        <p:spPr>
          <a:xfrm>
            <a:off x="7198822" y="1198375"/>
            <a:ext cx="3474720" cy="2555012"/>
          </a:xfrm>
          <a:prstGeom prst="rect">
            <a:avLst/>
          </a:prstGeom>
        </p:spPr>
      </p:pic>
      <p:pic>
        <p:nvPicPr>
          <p:cNvPr id="6" name="Picture 5"/>
          <p:cNvPicPr>
            <a:picLocks noChangeAspect="1"/>
          </p:cNvPicPr>
          <p:nvPr/>
        </p:nvPicPr>
        <p:blipFill>
          <a:blip r:embed="rId3"/>
          <a:stretch>
            <a:fillRect/>
          </a:stretch>
        </p:blipFill>
        <p:spPr>
          <a:xfrm>
            <a:off x="7282814" y="3900920"/>
            <a:ext cx="3390727" cy="2381250"/>
          </a:xfrm>
          <a:prstGeom prst="rect">
            <a:avLst/>
          </a:prstGeom>
        </p:spPr>
      </p:pic>
    </p:spTree>
    <p:extLst>
      <p:ext uri="{BB962C8B-B14F-4D97-AF65-F5344CB8AC3E}">
        <p14:creationId xmlns:p14="http://schemas.microsoft.com/office/powerpoint/2010/main" xmlns="" val="787218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dirty="0" smtClean="0">
                <a:latin typeface="Times New Roman" pitchFamily="18" charset="0"/>
                <a:cs typeface="Times New Roman" pitchFamily="18" charset="0"/>
              </a:rPr>
              <a:t>PRODUCT-LINE BRANDING STRATEGY</a:t>
            </a:r>
            <a:br>
              <a:rPr lang="en-US" dirty="0" smtClean="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7891" name="Content Placeholder 2"/>
          <p:cNvSpPr>
            <a:spLocks noGrp="1"/>
          </p:cNvSpPr>
          <p:nvPr>
            <p:ph idx="1"/>
          </p:nvPr>
        </p:nvSpPr>
        <p:spPr>
          <a:xfrm>
            <a:off x="838200" y="1119044"/>
            <a:ext cx="6477000" cy="5240192"/>
          </a:xfrm>
        </p:spPr>
        <p:txBody>
          <a:bodyPr>
            <a:normAutofit fontScale="92500" lnSpcReduction="20000"/>
          </a:bodyPr>
          <a:lstStyle/>
          <a:p>
            <a:pPr algn="just"/>
            <a:r>
              <a:rPr lang="en-US" dirty="0" smtClean="0">
                <a:latin typeface="Times New Roman" panose="02020603050405020304" pitchFamily="18" charset="0"/>
                <a:cs typeface="Times New Roman" panose="02020603050405020304" pitchFamily="18" charset="0"/>
              </a:rPr>
              <a:t>Here, the products appear under the same brand name and possess the same basic identity but with slightly different competencies for example Follow Me line of hair shampoos. Here the brand line comes under the hair-care category but the different line extensions cover complementary applications of essentially the same product.</a:t>
            </a:r>
          </a:p>
          <a:p>
            <a:pPr algn="just"/>
            <a:r>
              <a:rPr lang="en-US" dirty="0">
                <a:latin typeface="Times New Roman" panose="02020603050405020304" pitchFamily="18" charset="0"/>
                <a:cs typeface="Times New Roman" panose="02020603050405020304" pitchFamily="18" charset="0"/>
              </a:rPr>
              <a:t>Advantages therefore are economies of scale in advertising and promotion and each new line extension strengthens the position of the brand and therefore its image. The line helps defend the category from predatory attack. Hence, individual product brands can move across to line brands as companies find ways of extending the brand to different consumer groups or segments. </a:t>
            </a:r>
          </a:p>
          <a:p>
            <a:pPr marL="0" indent="0" algn="just">
              <a:buNone/>
            </a:pPr>
            <a:endParaRPr lang="en-US" dirty="0" smtClean="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7339407" y="1295053"/>
            <a:ext cx="4215976" cy="4158096"/>
          </a:xfrm>
          <a:prstGeom prst="rect">
            <a:avLst/>
          </a:prstGeom>
        </p:spPr>
      </p:pic>
    </p:spTree>
    <p:extLst>
      <p:ext uri="{BB962C8B-B14F-4D97-AF65-F5344CB8AC3E}">
        <p14:creationId xmlns:p14="http://schemas.microsoft.com/office/powerpoint/2010/main" xmlns="" val="38655409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a:defRPr/>
            </a:pPr>
            <a:r>
              <a:rPr lang="en-US" dirty="0" smtClean="0">
                <a:latin typeface="Times New Roman" pitchFamily="18" charset="0"/>
                <a:cs typeface="Times New Roman" pitchFamily="18" charset="0"/>
              </a:rPr>
              <a:t>PRODUCT- RANGE BRANDING STRATEGY</a:t>
            </a:r>
            <a:br>
              <a:rPr lang="en-US" dirty="0" smtClean="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1" y="1097280"/>
            <a:ext cx="6776258" cy="5403273"/>
          </a:xfrm>
        </p:spPr>
        <p:txBody>
          <a:bodyPr rtlCol="0">
            <a:normAutofit fontScale="92500"/>
          </a:bodyPr>
          <a:lstStyle/>
          <a:p>
            <a:pPr algn="just">
              <a:defRPr/>
            </a:pPr>
            <a:r>
              <a:rPr lang="en-US" dirty="0" smtClean="0">
                <a:latin typeface="Times New Roman" pitchFamily="18" charset="0"/>
                <a:cs typeface="Times New Roman" pitchFamily="18" charset="0"/>
              </a:rPr>
              <a:t>A </a:t>
            </a:r>
            <a:r>
              <a:rPr lang="en-US" dirty="0">
                <a:latin typeface="Times New Roman" pitchFamily="18" charset="0"/>
                <a:cs typeface="Times New Roman" pitchFamily="18" charset="0"/>
              </a:rPr>
              <a:t>number of products or services in a broad category are grouped together under one brand name and promoted with one basic identity. </a:t>
            </a:r>
          </a:p>
          <a:p>
            <a:pPr algn="just">
              <a:defRPr/>
            </a:pPr>
            <a:r>
              <a:rPr lang="en-US" dirty="0">
                <a:latin typeface="Times New Roman" pitchFamily="18" charset="0"/>
                <a:cs typeface="Times New Roman" pitchFamily="18" charset="0"/>
              </a:rPr>
              <a:t>Compared to product-line branding, product-range branded products carry out the basically the same functions but at different performance levels like various cars in the Mercedes S, E, C and A class and Intel’s Pentium and Celeron ranges of microprocessors. </a:t>
            </a:r>
          </a:p>
          <a:p>
            <a:pPr algn="just">
              <a:defRPr/>
            </a:pPr>
            <a:r>
              <a:rPr lang="en-US" dirty="0">
                <a:latin typeface="Times New Roman" pitchFamily="18" charset="0"/>
                <a:cs typeface="Times New Roman" pitchFamily="18" charset="0"/>
              </a:rPr>
              <a:t>Therefore the advantage here is that a single brand name allows some economies of scale in advertising and promotion as the products tend to carry the same overall brand values and positioning. </a:t>
            </a:r>
          </a:p>
          <a:p>
            <a:pPr algn="just">
              <a:defRPr/>
            </a:pPr>
            <a:endParaRPr lang="en-US" dirty="0">
              <a:latin typeface="Times New Roman" pitchFamily="18" charset="0"/>
              <a:cs typeface="Times New Roman" pitchFamily="18" charset="0"/>
            </a:endParaRPr>
          </a:p>
        </p:txBody>
      </p:sp>
      <p:pic>
        <p:nvPicPr>
          <p:cNvPr id="4" name="Picture 3"/>
          <p:cNvPicPr>
            <a:picLocks noChangeAspect="1"/>
          </p:cNvPicPr>
          <p:nvPr/>
        </p:nvPicPr>
        <p:blipFill>
          <a:blip r:embed="rId2"/>
          <a:stretch>
            <a:fillRect/>
          </a:stretch>
        </p:blipFill>
        <p:spPr>
          <a:xfrm>
            <a:off x="7764088" y="1288473"/>
            <a:ext cx="4282092" cy="4688378"/>
          </a:xfrm>
          <a:prstGeom prst="rect">
            <a:avLst/>
          </a:prstGeom>
        </p:spPr>
      </p:pic>
    </p:spTree>
    <p:extLst>
      <p:ext uri="{BB962C8B-B14F-4D97-AF65-F5344CB8AC3E}">
        <p14:creationId xmlns:p14="http://schemas.microsoft.com/office/powerpoint/2010/main" xmlns="" val="31634727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a:defRPr/>
            </a:pP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CORPORATE BRANDING STRATEGY/ Umbrella Branding strategy</a:t>
            </a:r>
            <a:br>
              <a:rPr lang="en-US" dirty="0" smtClean="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825625"/>
            <a:ext cx="7399713" cy="4351338"/>
          </a:xfrm>
        </p:spPr>
        <p:txBody>
          <a:bodyPr rtlCol="0">
            <a:normAutofit lnSpcReduction="10000"/>
          </a:bodyPr>
          <a:lstStyle/>
          <a:p>
            <a:pPr>
              <a:defRPr/>
            </a:pPr>
            <a:r>
              <a:rPr lang="en-US" dirty="0" smtClean="0">
                <a:latin typeface="Times New Roman" pitchFamily="18" charset="0"/>
                <a:cs typeface="Times New Roman" pitchFamily="18" charset="0"/>
              </a:rPr>
              <a:t>Two </a:t>
            </a:r>
            <a:r>
              <a:rPr lang="en-US" dirty="0">
                <a:latin typeface="Times New Roman" pitchFamily="18" charset="0"/>
                <a:cs typeface="Times New Roman" pitchFamily="18" charset="0"/>
              </a:rPr>
              <a:t>approaches in the Corporate brand exercises </a:t>
            </a:r>
          </a:p>
          <a:p>
            <a:pPr>
              <a:defRPr/>
            </a:pPr>
            <a:r>
              <a:rPr lang="en-US" dirty="0">
                <a:latin typeface="Times New Roman" pitchFamily="18" charset="0"/>
                <a:cs typeface="Times New Roman" pitchFamily="18" charset="0"/>
              </a:rPr>
              <a:t>First is to promote its name as the main brand name sometimes referred to as monolithic or umbrella branding</a:t>
            </a:r>
            <a:r>
              <a:rPr lang="en-US" dirty="0" smtClean="0">
                <a:latin typeface="Times New Roman" pitchFamily="18" charset="0"/>
                <a:cs typeface="Times New Roman" pitchFamily="18" charset="0"/>
              </a:rPr>
              <a:t>.</a:t>
            </a:r>
          </a:p>
          <a:p>
            <a:pPr>
              <a:defRPr/>
            </a:pPr>
            <a:r>
              <a:rPr lang="en-US" dirty="0" smtClean="0">
                <a:latin typeface="Times New Roman" pitchFamily="18" charset="0"/>
                <a:cs typeface="Times New Roman" pitchFamily="18" charset="0"/>
              </a:rPr>
              <a:t>Here </a:t>
            </a:r>
            <a:r>
              <a:rPr lang="en-US" dirty="0">
                <a:latin typeface="Times New Roman" pitchFamily="18" charset="0"/>
                <a:cs typeface="Times New Roman" pitchFamily="18" charset="0"/>
              </a:rPr>
              <a:t>the product is not branded individually or as strongly as the corporate brand. Companies using this approach – IBM, Virgin, Sony</a:t>
            </a:r>
            <a:r>
              <a:rPr lang="en-US" dirty="0" smtClean="0">
                <a:latin typeface="Times New Roman" pitchFamily="18" charset="0"/>
                <a:cs typeface="Times New Roman" pitchFamily="18" charset="0"/>
              </a:rPr>
              <a:t>.</a:t>
            </a:r>
          </a:p>
          <a:p>
            <a:pPr>
              <a:defRPr/>
            </a:pPr>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basic principle is that the companies believed that the company name is the life of an enterprise. </a:t>
            </a:r>
          </a:p>
          <a:p>
            <a:pPr>
              <a:defRPr/>
            </a:pPr>
            <a:endParaRPr lang="en-US" dirty="0"/>
          </a:p>
        </p:txBody>
      </p:sp>
      <p:pic>
        <p:nvPicPr>
          <p:cNvPr id="4" name="Picture 3"/>
          <p:cNvPicPr>
            <a:picLocks noChangeAspect="1"/>
          </p:cNvPicPr>
          <p:nvPr/>
        </p:nvPicPr>
        <p:blipFill>
          <a:blip r:embed="rId2" cstate="print"/>
          <a:stretch>
            <a:fillRect/>
          </a:stretch>
        </p:blipFill>
        <p:spPr>
          <a:xfrm>
            <a:off x="8237913" y="1180408"/>
            <a:ext cx="3535830" cy="3291840"/>
          </a:xfrm>
          <a:prstGeom prst="rect">
            <a:avLst/>
          </a:prstGeom>
        </p:spPr>
      </p:pic>
      <p:pic>
        <p:nvPicPr>
          <p:cNvPr id="5" name="Picture 4"/>
          <p:cNvPicPr>
            <a:picLocks noChangeAspect="1"/>
          </p:cNvPicPr>
          <p:nvPr/>
        </p:nvPicPr>
        <p:blipFill>
          <a:blip r:embed="rId3"/>
          <a:stretch>
            <a:fillRect/>
          </a:stretch>
        </p:blipFill>
        <p:spPr>
          <a:xfrm>
            <a:off x="8307357" y="4152468"/>
            <a:ext cx="3046443" cy="2344275"/>
          </a:xfrm>
          <a:prstGeom prst="rect">
            <a:avLst/>
          </a:prstGeom>
        </p:spPr>
      </p:pic>
    </p:spTree>
    <p:extLst>
      <p:ext uri="{BB962C8B-B14F-4D97-AF65-F5344CB8AC3E}">
        <p14:creationId xmlns:p14="http://schemas.microsoft.com/office/powerpoint/2010/main" xmlns="" val="41459684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57444"/>
            <a:ext cx="10515600" cy="725986"/>
          </a:xfrm>
        </p:spPr>
        <p:txBody>
          <a:bodyPr/>
          <a:lstStyle/>
          <a:p>
            <a:pPr marL="0" indent="0" algn="ctr">
              <a:buNone/>
            </a:pPr>
            <a:r>
              <a:rPr lang="en-IN" dirty="0" smtClean="0">
                <a:latin typeface="Stencil" panose="040409050D0802020404" pitchFamily="82" charset="0"/>
              </a:rPr>
              <a:t>Thank You</a:t>
            </a:r>
            <a:endParaRPr lang="en-IN" dirty="0">
              <a:latin typeface="Stencil" panose="040409050D0802020404" pitchFamily="82" charset="0"/>
            </a:endParaRPr>
          </a:p>
        </p:txBody>
      </p:sp>
    </p:spTree>
    <p:extLst>
      <p:ext uri="{BB962C8B-B14F-4D97-AF65-F5344CB8AC3E}">
        <p14:creationId xmlns:p14="http://schemas.microsoft.com/office/powerpoint/2010/main" xmlns="" val="22738639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