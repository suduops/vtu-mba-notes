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package.relationships+xml" Extension="rels"/>
  <Default ContentType="image/x-emf" Extension="emf"/>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43.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42.xml"/>
  <Override ContentType="application/vnd.openxmlformats-officedocument.presentationml.slide+xml" PartName="/ppt/slides/slide17.xml"/>
  <Override ContentType="application/vnd.openxmlformats-officedocument.presentationml.slide+xml" PartName="/ppt/slides/slide50.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53.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56.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46.xml"/>
  <Override ContentType="application/vnd.openxmlformats-officedocument.presentationml.slide+xml" PartName="/ppt/slides/slide38.xml"/>
  <Override ContentType="application/vnd.openxmlformats-officedocument.presentationml.slide+xml" PartName="/ppt/slides/slide64.xml"/>
  <Override ContentType="application/vnd.openxmlformats-officedocument.presentationml.slide+xml" PartName="/ppt/slides/slide55.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62.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63.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2.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C5A03F-6B41-FAE7-23C4-2C65822599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9016F885-65CA-D986-BBA4-27152B3D00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EF4EA2DA-BA6E-0786-402C-4EFB04A890D3}"/>
              </a:ext>
            </a:extLst>
          </p:cNvPr>
          <p:cNvSpPr>
            <a:spLocks noGrp="1"/>
          </p:cNvSpPr>
          <p:nvPr>
            <p:ph type="dt" sz="half" idx="10"/>
          </p:nvPr>
        </p:nvSpPr>
        <p:spPr/>
        <p:txBody>
          <a:bodyPr/>
          <a:lstStyle/>
          <a:p>
            <a:fld id="{96CDDAAB-9D1C-4E36-9922-0F6A679C7555}" type="datetimeFigureOut">
              <a:rPr lang="en-IN" smtClean="0"/>
              <a:pPr/>
              <a:t>30-01-2026</a:t>
            </a:fld>
            <a:endParaRPr lang="en-IN"/>
          </a:p>
        </p:txBody>
      </p:sp>
      <p:sp>
        <p:nvSpPr>
          <p:cNvPr id="5" name="Footer Placeholder 4">
            <a:extLst>
              <a:ext uri="{FF2B5EF4-FFF2-40B4-BE49-F238E27FC236}">
                <a16:creationId xmlns:a16="http://schemas.microsoft.com/office/drawing/2014/main" xmlns="" id="{45253D20-93CE-3846-AA4B-AF5659EC7A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507F006-8C39-20E9-F23E-169696843535}"/>
              </a:ext>
            </a:extLst>
          </p:cNvPr>
          <p:cNvSpPr>
            <a:spLocks noGrp="1"/>
          </p:cNvSpPr>
          <p:nvPr>
            <p:ph type="sldNum" sz="quarter" idx="12"/>
          </p:nvPr>
        </p:nvSpPr>
        <p:spPr/>
        <p:txBody>
          <a:body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382598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E4BA66-2222-DC6B-3889-68E09E237F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D51E53B-7C6E-408F-814C-10A5EFA042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32AA63D-2913-2241-FA53-C84B07DA8286}"/>
              </a:ext>
            </a:extLst>
          </p:cNvPr>
          <p:cNvSpPr>
            <a:spLocks noGrp="1"/>
          </p:cNvSpPr>
          <p:nvPr>
            <p:ph type="dt" sz="half" idx="10"/>
          </p:nvPr>
        </p:nvSpPr>
        <p:spPr/>
        <p:txBody>
          <a:bodyPr/>
          <a:lstStyle/>
          <a:p>
            <a:fld id="{96CDDAAB-9D1C-4E36-9922-0F6A679C7555}" type="datetimeFigureOut">
              <a:rPr lang="en-IN" smtClean="0"/>
              <a:pPr/>
              <a:t>30-01-2026</a:t>
            </a:fld>
            <a:endParaRPr lang="en-IN"/>
          </a:p>
        </p:txBody>
      </p:sp>
      <p:sp>
        <p:nvSpPr>
          <p:cNvPr id="5" name="Footer Placeholder 4">
            <a:extLst>
              <a:ext uri="{FF2B5EF4-FFF2-40B4-BE49-F238E27FC236}">
                <a16:creationId xmlns:a16="http://schemas.microsoft.com/office/drawing/2014/main" xmlns="" id="{6CE920DC-F204-17A1-C255-B17E9D31F4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2B0264E-900E-6270-E427-CAF0748D51B2}"/>
              </a:ext>
            </a:extLst>
          </p:cNvPr>
          <p:cNvSpPr>
            <a:spLocks noGrp="1"/>
          </p:cNvSpPr>
          <p:nvPr>
            <p:ph type="sldNum" sz="quarter" idx="12"/>
          </p:nvPr>
        </p:nvSpPr>
        <p:spPr/>
        <p:txBody>
          <a:body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2855123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B5209-1EB6-01C4-27D8-0D08DEC54D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964840C-DB4A-8F22-BDC1-745547611F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98F22266-D066-7295-9BB0-5A1D3125DD39}"/>
              </a:ext>
            </a:extLst>
          </p:cNvPr>
          <p:cNvSpPr>
            <a:spLocks noGrp="1"/>
          </p:cNvSpPr>
          <p:nvPr>
            <p:ph type="dt" sz="half" idx="10"/>
          </p:nvPr>
        </p:nvSpPr>
        <p:spPr/>
        <p:txBody>
          <a:bodyPr/>
          <a:lstStyle/>
          <a:p>
            <a:fld id="{96CDDAAB-9D1C-4E36-9922-0F6A679C7555}" type="datetimeFigureOut">
              <a:rPr lang="en-IN" smtClean="0"/>
              <a:pPr/>
              <a:t>30-01-2026</a:t>
            </a:fld>
            <a:endParaRPr lang="en-IN"/>
          </a:p>
        </p:txBody>
      </p:sp>
      <p:sp>
        <p:nvSpPr>
          <p:cNvPr id="5" name="Footer Placeholder 4">
            <a:extLst>
              <a:ext uri="{FF2B5EF4-FFF2-40B4-BE49-F238E27FC236}">
                <a16:creationId xmlns:a16="http://schemas.microsoft.com/office/drawing/2014/main" xmlns="" id="{92376B67-02DF-085C-8FAE-44B4B3214A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CC4A56A-DC70-A083-23DA-8243E5F3ED5E}"/>
              </a:ext>
            </a:extLst>
          </p:cNvPr>
          <p:cNvSpPr>
            <a:spLocks noGrp="1"/>
          </p:cNvSpPr>
          <p:nvPr>
            <p:ph type="sldNum" sz="quarter" idx="12"/>
          </p:nvPr>
        </p:nvSpPr>
        <p:spPr/>
        <p:txBody>
          <a:body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3712143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804A30-0771-4A51-4140-43629231A4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27EAF67-2158-4833-E350-7BD9F87F6D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7D6698D-7DA3-DEC7-265E-1B944364BD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1D0D8B16-35EB-4049-67B5-C07A6EE3EBAB}"/>
              </a:ext>
            </a:extLst>
          </p:cNvPr>
          <p:cNvSpPr>
            <a:spLocks noGrp="1"/>
          </p:cNvSpPr>
          <p:nvPr>
            <p:ph type="dt" sz="half" idx="10"/>
          </p:nvPr>
        </p:nvSpPr>
        <p:spPr/>
        <p:txBody>
          <a:bodyPr/>
          <a:lstStyle/>
          <a:p>
            <a:fld id="{96CDDAAB-9D1C-4E36-9922-0F6A679C7555}" type="datetimeFigureOut">
              <a:rPr lang="en-IN" smtClean="0"/>
              <a:pPr/>
              <a:t>30-01-2026</a:t>
            </a:fld>
            <a:endParaRPr lang="en-IN"/>
          </a:p>
        </p:txBody>
      </p:sp>
      <p:sp>
        <p:nvSpPr>
          <p:cNvPr id="6" name="Footer Placeholder 5">
            <a:extLst>
              <a:ext uri="{FF2B5EF4-FFF2-40B4-BE49-F238E27FC236}">
                <a16:creationId xmlns:a16="http://schemas.microsoft.com/office/drawing/2014/main" xmlns="" id="{2649E964-1092-5B86-44CD-9F5A0A19E3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92547D1-5ED0-FF91-EF3C-62346A6E6604}"/>
              </a:ext>
            </a:extLst>
          </p:cNvPr>
          <p:cNvSpPr>
            <a:spLocks noGrp="1"/>
          </p:cNvSpPr>
          <p:nvPr>
            <p:ph type="sldNum" sz="quarter" idx="12"/>
          </p:nvPr>
        </p:nvSpPr>
        <p:spPr/>
        <p:txBody>
          <a:body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3437082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EDC9F4-3083-9090-F879-4B5EFD6085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C12A5E5-7079-EC6C-0AB8-CFC23736FB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289CEA72-1380-959B-4E6B-BF2E4F043D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F9404D57-D464-9F97-8E6D-DE5006696D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D075D3D3-A107-791E-F46F-487928A7EF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B66237D-54A7-D315-945F-F6962879D9B0}"/>
              </a:ext>
            </a:extLst>
          </p:cNvPr>
          <p:cNvSpPr>
            <a:spLocks noGrp="1"/>
          </p:cNvSpPr>
          <p:nvPr>
            <p:ph type="dt" sz="half" idx="10"/>
          </p:nvPr>
        </p:nvSpPr>
        <p:spPr/>
        <p:txBody>
          <a:bodyPr/>
          <a:lstStyle/>
          <a:p>
            <a:fld id="{96CDDAAB-9D1C-4E36-9922-0F6A679C7555}" type="datetimeFigureOut">
              <a:rPr lang="en-IN" smtClean="0"/>
              <a:pPr/>
              <a:t>30-01-2026</a:t>
            </a:fld>
            <a:endParaRPr lang="en-IN"/>
          </a:p>
        </p:txBody>
      </p:sp>
      <p:sp>
        <p:nvSpPr>
          <p:cNvPr id="8" name="Footer Placeholder 7">
            <a:extLst>
              <a:ext uri="{FF2B5EF4-FFF2-40B4-BE49-F238E27FC236}">
                <a16:creationId xmlns:a16="http://schemas.microsoft.com/office/drawing/2014/main" xmlns="" id="{52365E9F-07EE-06C1-90B8-1B2A7B4C197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786DBB87-0D7F-97A6-3C62-B3A3779A698C}"/>
              </a:ext>
            </a:extLst>
          </p:cNvPr>
          <p:cNvSpPr>
            <a:spLocks noGrp="1"/>
          </p:cNvSpPr>
          <p:nvPr>
            <p:ph type="sldNum" sz="quarter" idx="12"/>
          </p:nvPr>
        </p:nvSpPr>
        <p:spPr/>
        <p:txBody>
          <a:body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2026642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720E11-BABE-68BF-F226-096FFCCC8C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57A43C1-BA91-F2AA-D3CE-F15F543BFA05}"/>
              </a:ext>
            </a:extLst>
          </p:cNvPr>
          <p:cNvSpPr>
            <a:spLocks noGrp="1"/>
          </p:cNvSpPr>
          <p:nvPr>
            <p:ph type="dt" sz="half" idx="10"/>
          </p:nvPr>
        </p:nvSpPr>
        <p:spPr/>
        <p:txBody>
          <a:bodyPr/>
          <a:lstStyle/>
          <a:p>
            <a:fld id="{96CDDAAB-9D1C-4E36-9922-0F6A679C7555}" type="datetimeFigureOut">
              <a:rPr lang="en-IN" smtClean="0"/>
              <a:pPr/>
              <a:t>30-01-2026</a:t>
            </a:fld>
            <a:endParaRPr lang="en-IN"/>
          </a:p>
        </p:txBody>
      </p:sp>
      <p:sp>
        <p:nvSpPr>
          <p:cNvPr id="4" name="Footer Placeholder 3">
            <a:extLst>
              <a:ext uri="{FF2B5EF4-FFF2-40B4-BE49-F238E27FC236}">
                <a16:creationId xmlns:a16="http://schemas.microsoft.com/office/drawing/2014/main" xmlns="" id="{C96D0EB1-4A18-FD0E-BECC-B380EAED129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A5A05818-F0F4-2A81-0076-DD5728766AA3}"/>
              </a:ext>
            </a:extLst>
          </p:cNvPr>
          <p:cNvSpPr>
            <a:spLocks noGrp="1"/>
          </p:cNvSpPr>
          <p:nvPr>
            <p:ph type="sldNum" sz="quarter" idx="12"/>
          </p:nvPr>
        </p:nvSpPr>
        <p:spPr/>
        <p:txBody>
          <a:body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1116639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F83E659-56D3-D1BF-0C47-2BE8176B6EF8}"/>
              </a:ext>
            </a:extLst>
          </p:cNvPr>
          <p:cNvSpPr>
            <a:spLocks noGrp="1"/>
          </p:cNvSpPr>
          <p:nvPr>
            <p:ph type="dt" sz="half" idx="10"/>
          </p:nvPr>
        </p:nvSpPr>
        <p:spPr/>
        <p:txBody>
          <a:bodyPr/>
          <a:lstStyle/>
          <a:p>
            <a:fld id="{96CDDAAB-9D1C-4E36-9922-0F6A679C7555}" type="datetimeFigureOut">
              <a:rPr lang="en-IN" smtClean="0"/>
              <a:pPr/>
              <a:t>30-01-2026</a:t>
            </a:fld>
            <a:endParaRPr lang="en-IN"/>
          </a:p>
        </p:txBody>
      </p:sp>
      <p:sp>
        <p:nvSpPr>
          <p:cNvPr id="3" name="Footer Placeholder 2">
            <a:extLst>
              <a:ext uri="{FF2B5EF4-FFF2-40B4-BE49-F238E27FC236}">
                <a16:creationId xmlns:a16="http://schemas.microsoft.com/office/drawing/2014/main" xmlns="" id="{ADC7DF7C-0EA7-116C-330C-E6257979E26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F5C0A7AA-3C3D-203F-EB4B-D88293C0EF86}"/>
              </a:ext>
            </a:extLst>
          </p:cNvPr>
          <p:cNvSpPr>
            <a:spLocks noGrp="1"/>
          </p:cNvSpPr>
          <p:nvPr>
            <p:ph type="sldNum" sz="quarter" idx="12"/>
          </p:nvPr>
        </p:nvSpPr>
        <p:spPr/>
        <p:txBody>
          <a:body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1128964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7CFD17-218C-D096-826D-126E25699F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30C8F91-0E0B-563F-A50C-809CF582CA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D3D94565-854A-43F6-1210-2BF5B538F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2C77D71-3317-012F-6868-CF569B97A1EF}"/>
              </a:ext>
            </a:extLst>
          </p:cNvPr>
          <p:cNvSpPr>
            <a:spLocks noGrp="1"/>
          </p:cNvSpPr>
          <p:nvPr>
            <p:ph type="dt" sz="half" idx="10"/>
          </p:nvPr>
        </p:nvSpPr>
        <p:spPr/>
        <p:txBody>
          <a:bodyPr/>
          <a:lstStyle/>
          <a:p>
            <a:fld id="{96CDDAAB-9D1C-4E36-9922-0F6A679C7555}" type="datetimeFigureOut">
              <a:rPr lang="en-IN" smtClean="0"/>
              <a:pPr/>
              <a:t>30-01-2026</a:t>
            </a:fld>
            <a:endParaRPr lang="en-IN"/>
          </a:p>
        </p:txBody>
      </p:sp>
      <p:sp>
        <p:nvSpPr>
          <p:cNvPr id="6" name="Footer Placeholder 5">
            <a:extLst>
              <a:ext uri="{FF2B5EF4-FFF2-40B4-BE49-F238E27FC236}">
                <a16:creationId xmlns:a16="http://schemas.microsoft.com/office/drawing/2014/main" xmlns="" id="{9A398C8B-45CE-624A-8F89-761BEEE296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157FCBD-2A93-9B65-3372-D4AFD9AA1A33}"/>
              </a:ext>
            </a:extLst>
          </p:cNvPr>
          <p:cNvSpPr>
            <a:spLocks noGrp="1"/>
          </p:cNvSpPr>
          <p:nvPr>
            <p:ph type="sldNum" sz="quarter" idx="12"/>
          </p:nvPr>
        </p:nvSpPr>
        <p:spPr/>
        <p:txBody>
          <a:body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3696858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909CA1-E489-DF43-F637-ED9FE8705E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BADBB52-0175-CD3B-364F-20D8952F5B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ADEC834D-96B4-EBEE-81DF-BA807E8F36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F5F9D3D-A5A1-B4C5-C8BA-94356AA1C003}"/>
              </a:ext>
            </a:extLst>
          </p:cNvPr>
          <p:cNvSpPr>
            <a:spLocks noGrp="1"/>
          </p:cNvSpPr>
          <p:nvPr>
            <p:ph type="dt" sz="half" idx="10"/>
          </p:nvPr>
        </p:nvSpPr>
        <p:spPr/>
        <p:txBody>
          <a:bodyPr/>
          <a:lstStyle/>
          <a:p>
            <a:fld id="{96CDDAAB-9D1C-4E36-9922-0F6A679C7555}" type="datetimeFigureOut">
              <a:rPr lang="en-IN" smtClean="0"/>
              <a:pPr/>
              <a:t>30-01-2026</a:t>
            </a:fld>
            <a:endParaRPr lang="en-IN"/>
          </a:p>
        </p:txBody>
      </p:sp>
      <p:sp>
        <p:nvSpPr>
          <p:cNvPr id="6" name="Footer Placeholder 5">
            <a:extLst>
              <a:ext uri="{FF2B5EF4-FFF2-40B4-BE49-F238E27FC236}">
                <a16:creationId xmlns:a16="http://schemas.microsoft.com/office/drawing/2014/main" xmlns="" id="{05C9DE17-6132-2BE2-4171-D24FFB776B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66DEDB2-FBDA-9215-9BF9-F54B285CCB1F}"/>
              </a:ext>
            </a:extLst>
          </p:cNvPr>
          <p:cNvSpPr>
            <a:spLocks noGrp="1"/>
          </p:cNvSpPr>
          <p:nvPr>
            <p:ph type="sldNum" sz="quarter" idx="12"/>
          </p:nvPr>
        </p:nvSpPr>
        <p:spPr/>
        <p:txBody>
          <a:body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2377942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179FD4-787F-5EA8-1ECC-EC2BF1A24D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F75F2CF-4FAD-BDAF-64AF-7A1FF48701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ACFC0AD-F36C-3966-3431-D8451FF384BB}"/>
              </a:ext>
            </a:extLst>
          </p:cNvPr>
          <p:cNvSpPr>
            <a:spLocks noGrp="1"/>
          </p:cNvSpPr>
          <p:nvPr>
            <p:ph type="dt" sz="half" idx="10"/>
          </p:nvPr>
        </p:nvSpPr>
        <p:spPr/>
        <p:txBody>
          <a:bodyPr/>
          <a:lstStyle/>
          <a:p>
            <a:fld id="{96CDDAAB-9D1C-4E36-9922-0F6A679C7555}" type="datetimeFigureOut">
              <a:rPr lang="en-IN" smtClean="0"/>
              <a:pPr/>
              <a:t>30-01-2026</a:t>
            </a:fld>
            <a:endParaRPr lang="en-IN"/>
          </a:p>
        </p:txBody>
      </p:sp>
      <p:sp>
        <p:nvSpPr>
          <p:cNvPr id="5" name="Footer Placeholder 4">
            <a:extLst>
              <a:ext uri="{FF2B5EF4-FFF2-40B4-BE49-F238E27FC236}">
                <a16:creationId xmlns:a16="http://schemas.microsoft.com/office/drawing/2014/main" xmlns="" id="{FFBD4405-37E4-43F9-ADC8-61EFBC53D0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949CF22-47E0-47A5-CBEC-44963205331C}"/>
              </a:ext>
            </a:extLst>
          </p:cNvPr>
          <p:cNvSpPr>
            <a:spLocks noGrp="1"/>
          </p:cNvSpPr>
          <p:nvPr>
            <p:ph type="sldNum" sz="quarter" idx="12"/>
          </p:nvPr>
        </p:nvSpPr>
        <p:spPr/>
        <p:txBody>
          <a:body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2381185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E476ACA-1659-9CF1-5ED3-8DF0DAA936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6DAF427-B6D2-8B06-D355-10C55FCE26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5B2FBC6-63AC-0447-F0AF-000F7150E629}"/>
              </a:ext>
            </a:extLst>
          </p:cNvPr>
          <p:cNvSpPr>
            <a:spLocks noGrp="1"/>
          </p:cNvSpPr>
          <p:nvPr>
            <p:ph type="dt" sz="half" idx="10"/>
          </p:nvPr>
        </p:nvSpPr>
        <p:spPr/>
        <p:txBody>
          <a:bodyPr/>
          <a:lstStyle/>
          <a:p>
            <a:fld id="{96CDDAAB-9D1C-4E36-9922-0F6A679C7555}" type="datetimeFigureOut">
              <a:rPr lang="en-IN" smtClean="0"/>
              <a:pPr/>
              <a:t>30-01-2026</a:t>
            </a:fld>
            <a:endParaRPr lang="en-IN"/>
          </a:p>
        </p:txBody>
      </p:sp>
      <p:sp>
        <p:nvSpPr>
          <p:cNvPr id="5" name="Footer Placeholder 4">
            <a:extLst>
              <a:ext uri="{FF2B5EF4-FFF2-40B4-BE49-F238E27FC236}">
                <a16:creationId xmlns:a16="http://schemas.microsoft.com/office/drawing/2014/main" xmlns="" id="{84C9920C-8B77-A406-32A4-472BC73662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6C5A413-8B6F-2B9C-B0F8-09AB5B94FC6B}"/>
              </a:ext>
            </a:extLst>
          </p:cNvPr>
          <p:cNvSpPr>
            <a:spLocks noGrp="1"/>
          </p:cNvSpPr>
          <p:nvPr>
            <p:ph type="sldNum" sz="quarter" idx="12"/>
          </p:nvPr>
        </p:nvSpPr>
        <p:spPr/>
        <p:txBody>
          <a:body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1648572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7B83607-D081-BDB1-3DDB-197E3ED78B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C350AC3-F747-7674-C4C1-16FD28E21B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881C670-5773-2E1F-993E-14F023B55C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CDDAAB-9D1C-4E36-9922-0F6A679C7555}" type="datetimeFigureOut">
              <a:rPr lang="en-IN" smtClean="0"/>
              <a:pPr/>
              <a:t>30-01-2026</a:t>
            </a:fld>
            <a:endParaRPr lang="en-IN"/>
          </a:p>
        </p:txBody>
      </p:sp>
      <p:sp>
        <p:nvSpPr>
          <p:cNvPr id="5" name="Footer Placeholder 4">
            <a:extLst>
              <a:ext uri="{FF2B5EF4-FFF2-40B4-BE49-F238E27FC236}">
                <a16:creationId xmlns:a16="http://schemas.microsoft.com/office/drawing/2014/main" xmlns="" id="{36364B2E-4A02-F543-5EF1-8699EE5B4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126A0E67-9D7E-468F-8B2A-0DFAE219A2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D01A65-BED2-4BA8-9F6A-8FDB2AB96339}" type="slidenum">
              <a:rPr lang="en-IN" smtClean="0"/>
              <a:pPr/>
              <a:t>‹#›</a:t>
            </a:fld>
            <a:endParaRPr lang="en-IN"/>
          </a:p>
        </p:txBody>
      </p:sp>
    </p:spTree>
    <p:extLst>
      <p:ext uri="{BB962C8B-B14F-4D97-AF65-F5344CB8AC3E}">
        <p14:creationId xmlns:p14="http://schemas.microsoft.com/office/powerpoint/2010/main" xmlns="" val="262462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363F36-6626-6D7B-C967-C5C2B43F02A8}"/>
              </a:ext>
            </a:extLst>
          </p:cNvPr>
          <p:cNvSpPr>
            <a:spLocks noGrp="1"/>
          </p:cNvSpPr>
          <p:nvPr>
            <p:ph type="ctrTitle"/>
          </p:nvPr>
        </p:nvSpPr>
        <p:spPr/>
        <p:txBody>
          <a:bodyPr>
            <a:normAutofit fontScale="90000"/>
          </a:bodyPr>
          <a:lstStyle/>
          <a:p>
            <a:r>
              <a:rPr lang="en-US" dirty="0"/>
              <a:t>Module-6</a:t>
            </a:r>
            <a:br>
              <a:rPr lang="en-US" dirty="0"/>
            </a:br>
            <a:r>
              <a:rPr lang="en-US" dirty="0"/>
              <a:t>Emerging Trends in Marketing:</a:t>
            </a:r>
            <a:endParaRPr lang="en-IN" dirty="0"/>
          </a:p>
        </p:txBody>
      </p:sp>
      <p:sp>
        <p:nvSpPr>
          <p:cNvPr id="3" name="Subtitle 2">
            <a:extLst>
              <a:ext uri="{FF2B5EF4-FFF2-40B4-BE49-F238E27FC236}">
                <a16:creationId xmlns:a16="http://schemas.microsoft.com/office/drawing/2014/main" xmlns="" id="{B756A224-197C-C667-F317-0AB81D98EB11}"/>
              </a:ext>
            </a:extLst>
          </p:cNvPr>
          <p:cNvSpPr>
            <a:spLocks noGrp="1"/>
          </p:cNvSpPr>
          <p:nvPr>
            <p:ph type="subTitle" idx="1"/>
          </p:nvPr>
        </p:nvSpPr>
        <p:spPr/>
        <p:txBody>
          <a:bodyPr/>
          <a:lstStyle/>
          <a:p>
            <a:r>
              <a:rPr lang="en-US" dirty="0"/>
              <a:t>Presentation by </a:t>
            </a:r>
          </a:p>
          <a:p>
            <a:r>
              <a:rPr lang="en-US" dirty="0"/>
              <a:t>Dr. Basavaraj </a:t>
            </a:r>
            <a:r>
              <a:rPr lang="en-US" dirty="0" err="1"/>
              <a:t>S.Kudachimath</a:t>
            </a:r>
            <a:endParaRPr lang="en-IN" dirty="0"/>
          </a:p>
        </p:txBody>
      </p:sp>
    </p:spTree>
    <p:extLst>
      <p:ext uri="{BB962C8B-B14F-4D97-AF65-F5344CB8AC3E}">
        <p14:creationId xmlns:p14="http://schemas.microsoft.com/office/powerpoint/2010/main" xmlns="" val="3494359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16D73D-018E-FDB3-28E8-4D03DEDBECF5}"/>
              </a:ext>
            </a:extLst>
          </p:cNvPr>
          <p:cNvSpPr>
            <a:spLocks noGrp="1"/>
          </p:cNvSpPr>
          <p:nvPr>
            <p:ph type="title"/>
          </p:nvPr>
        </p:nvSpPr>
        <p:spPr>
          <a:xfrm>
            <a:off x="838200" y="365125"/>
            <a:ext cx="10515600" cy="686927"/>
          </a:xfrm>
        </p:spPr>
        <p:txBody>
          <a:bodyPr>
            <a:normAutofit fontScale="90000"/>
          </a:bodyPr>
          <a:lstStyle/>
          <a:p>
            <a:r>
              <a:rPr lang="en-US" dirty="0"/>
              <a:t>Discussion Points</a:t>
            </a:r>
            <a:endParaRPr lang="en-IN" dirty="0"/>
          </a:p>
        </p:txBody>
      </p:sp>
      <p:sp>
        <p:nvSpPr>
          <p:cNvPr id="3" name="Content Placeholder 2">
            <a:extLst>
              <a:ext uri="{FF2B5EF4-FFF2-40B4-BE49-F238E27FC236}">
                <a16:creationId xmlns:a16="http://schemas.microsoft.com/office/drawing/2014/main" xmlns="" id="{D9772137-B20C-BA10-FE41-D94D9841452B}"/>
              </a:ext>
            </a:extLst>
          </p:cNvPr>
          <p:cNvSpPr>
            <a:spLocks noGrp="1"/>
          </p:cNvSpPr>
          <p:nvPr>
            <p:ph idx="1"/>
          </p:nvPr>
        </p:nvSpPr>
        <p:spPr>
          <a:xfrm>
            <a:off x="838200" y="1199535"/>
            <a:ext cx="10515600" cy="4977428"/>
          </a:xfrm>
        </p:spPr>
        <p:txBody>
          <a:bodyPr>
            <a:normAutofit fontScale="55000" lnSpcReduction="20000"/>
          </a:bodyPr>
          <a:lstStyle/>
          <a:p>
            <a:r>
              <a:rPr lang="en-US" dirty="0"/>
              <a:t>Marketing Planning. </a:t>
            </a:r>
          </a:p>
          <a:p>
            <a:r>
              <a:rPr lang="en-US" dirty="0"/>
              <a:t>Concepts of B2B marketing, </a:t>
            </a:r>
          </a:p>
          <a:p>
            <a:r>
              <a:rPr lang="en-US" dirty="0"/>
              <a:t>Service Marketing, </a:t>
            </a:r>
          </a:p>
          <a:p>
            <a:r>
              <a:rPr lang="en-US" dirty="0"/>
              <a:t>Digital and social media Marketing, </a:t>
            </a:r>
          </a:p>
          <a:p>
            <a:r>
              <a:rPr lang="en-US" dirty="0"/>
              <a:t>Green Marketing, </a:t>
            </a:r>
          </a:p>
          <a:p>
            <a:r>
              <a:rPr lang="en-US" dirty="0"/>
              <a:t>Event Marketing, </a:t>
            </a:r>
          </a:p>
          <a:p>
            <a:r>
              <a:rPr lang="en-US" dirty="0"/>
              <a:t>Marketing Audit, </a:t>
            </a:r>
          </a:p>
          <a:p>
            <a:r>
              <a:rPr lang="en-US" dirty="0"/>
              <a:t>Sponsorship Marketing </a:t>
            </a:r>
          </a:p>
          <a:p>
            <a:r>
              <a:rPr lang="en-US" dirty="0"/>
              <a:t>Cause Related Marketing, </a:t>
            </a:r>
          </a:p>
          <a:p>
            <a:r>
              <a:rPr lang="en-US" dirty="0"/>
              <a:t>Marketing for Non-Profit Organizations, </a:t>
            </a:r>
          </a:p>
          <a:p>
            <a:r>
              <a:rPr lang="en-US" dirty="0"/>
              <a:t>Relationship marketing, </a:t>
            </a:r>
          </a:p>
          <a:p>
            <a:r>
              <a:rPr lang="en-US" dirty="0"/>
              <a:t>Marketing Strategies for Leaders, Challengers, Followers and Startups. </a:t>
            </a:r>
          </a:p>
          <a:p>
            <a:r>
              <a:rPr lang="en-US" dirty="0"/>
              <a:t>Social Responsibility of marketing, </a:t>
            </a:r>
          </a:p>
          <a:p>
            <a:r>
              <a:rPr lang="en-US" dirty="0"/>
              <a:t>Neuro Marketing, </a:t>
            </a:r>
          </a:p>
          <a:p>
            <a:r>
              <a:rPr lang="en-US" dirty="0"/>
              <a:t>Sensory Marketing, </a:t>
            </a:r>
          </a:p>
          <a:p>
            <a:r>
              <a:rPr lang="en-US" dirty="0"/>
              <a:t>societal marketing concept, </a:t>
            </a:r>
          </a:p>
          <a:p>
            <a:r>
              <a:rPr lang="en-US" dirty="0"/>
              <a:t>Premiumization. </a:t>
            </a:r>
            <a:endParaRPr lang="en-IN" dirty="0"/>
          </a:p>
        </p:txBody>
      </p:sp>
    </p:spTree>
    <p:extLst>
      <p:ext uri="{BB962C8B-B14F-4D97-AF65-F5344CB8AC3E}">
        <p14:creationId xmlns:p14="http://schemas.microsoft.com/office/powerpoint/2010/main" xmlns="" val="1698990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A48EF0-B078-6A91-6CC4-683BB8C47CC7}"/>
              </a:ext>
            </a:extLst>
          </p:cNvPr>
          <p:cNvSpPr>
            <a:spLocks noGrp="1"/>
          </p:cNvSpPr>
          <p:nvPr>
            <p:ph type="title"/>
          </p:nvPr>
        </p:nvSpPr>
        <p:spPr>
          <a:xfrm>
            <a:off x="838200" y="365125"/>
            <a:ext cx="10515600" cy="637765"/>
          </a:xfrm>
        </p:spPr>
        <p:txBody>
          <a:bodyPr>
            <a:normAutofit fontScale="90000"/>
          </a:bodyPr>
          <a:lstStyle/>
          <a:p>
            <a:r>
              <a:rPr lang="en-US" dirty="0"/>
              <a:t>Marketing Planning</a:t>
            </a:r>
            <a:endParaRPr lang="en-IN" dirty="0"/>
          </a:p>
        </p:txBody>
      </p:sp>
      <p:sp>
        <p:nvSpPr>
          <p:cNvPr id="3" name="Content Placeholder 2">
            <a:extLst>
              <a:ext uri="{FF2B5EF4-FFF2-40B4-BE49-F238E27FC236}">
                <a16:creationId xmlns:a16="http://schemas.microsoft.com/office/drawing/2014/main" xmlns="" id="{15DB46E2-ED01-C503-97EB-852062A68422}"/>
              </a:ext>
            </a:extLst>
          </p:cNvPr>
          <p:cNvSpPr>
            <a:spLocks noGrp="1"/>
          </p:cNvSpPr>
          <p:nvPr>
            <p:ph idx="1"/>
          </p:nvPr>
        </p:nvSpPr>
        <p:spPr>
          <a:xfrm>
            <a:off x="838200" y="1002890"/>
            <a:ext cx="10515600" cy="5174073"/>
          </a:xfrm>
        </p:spPr>
        <p:txBody>
          <a:bodyPr>
            <a:normAutofit/>
          </a:bodyPr>
          <a:lstStyle/>
          <a:p>
            <a:pPr algn="just"/>
            <a:r>
              <a:rPr lang="en-US" sz="4000" b="0" i="0" dirty="0">
                <a:solidFill>
                  <a:srgbClr val="222222"/>
                </a:solidFill>
                <a:effectLst/>
                <a:latin typeface="Times New Roman" panose="02020603050405020304" pitchFamily="18" charset="0"/>
                <a:cs typeface="Times New Roman" panose="02020603050405020304" pitchFamily="18" charset="0"/>
              </a:rPr>
              <a:t>Marketing planning consists of the policies, programs, budgets, </a:t>
            </a:r>
            <a:r>
              <a:rPr lang="en-US" sz="4000" dirty="0">
                <a:solidFill>
                  <a:srgbClr val="3B5998"/>
                </a:solidFill>
                <a:effectLst/>
                <a:latin typeface="Times New Roman" panose="02020603050405020304" pitchFamily="18" charset="0"/>
                <a:cs typeface="Times New Roman" panose="02020603050405020304" pitchFamily="18" charset="0"/>
              </a:rPr>
              <a:t>marketing mix</a:t>
            </a:r>
            <a:r>
              <a:rPr lang="en-US" sz="4000" b="1" dirty="0">
                <a:solidFill>
                  <a:srgbClr val="222222"/>
                </a:solidFill>
                <a:effectLst/>
                <a:latin typeface="Times New Roman" panose="02020603050405020304" pitchFamily="18" charset="0"/>
                <a:cs typeface="Times New Roman" panose="02020603050405020304" pitchFamily="18" charset="0"/>
              </a:rPr>
              <a:t>,</a:t>
            </a:r>
            <a:r>
              <a:rPr lang="en-US" sz="4000" b="0" i="0" dirty="0">
                <a:solidFill>
                  <a:srgbClr val="222222"/>
                </a:solidFill>
                <a:effectLst/>
                <a:latin typeface="Times New Roman" panose="02020603050405020304" pitchFamily="18" charset="0"/>
                <a:cs typeface="Times New Roman" panose="02020603050405020304" pitchFamily="18" charset="0"/>
              </a:rPr>
              <a:t> historical data, current market position and future predictions of the business. However, a good marketing plan also requires a solid </a:t>
            </a:r>
            <a:r>
              <a:rPr lang="en-US" sz="4000" i="0" dirty="0">
                <a:solidFill>
                  <a:srgbClr val="3B5998"/>
                </a:solidFill>
                <a:effectLst/>
                <a:latin typeface="Times New Roman" panose="02020603050405020304" pitchFamily="18" charset="0"/>
                <a:cs typeface="Times New Roman" panose="02020603050405020304" pitchFamily="18" charset="0"/>
              </a:rPr>
              <a:t>marketing strategy</a:t>
            </a:r>
            <a:r>
              <a:rPr lang="en-US" sz="4000" b="0" i="0" dirty="0">
                <a:solidFill>
                  <a:srgbClr val="222222"/>
                </a:solidFill>
                <a:effectLst/>
                <a:latin typeface="Times New Roman" panose="02020603050405020304" pitchFamily="18" charset="0"/>
                <a:cs typeface="Times New Roman" panose="02020603050405020304" pitchFamily="18" charset="0"/>
              </a:rPr>
              <a:t> as without a proper marketing strategy marketing plan cannot become useful for the </a:t>
            </a:r>
            <a:r>
              <a:rPr lang="en-US" sz="4000" i="0" dirty="0">
                <a:solidFill>
                  <a:srgbClr val="3B5998"/>
                </a:solidFill>
                <a:effectLst/>
                <a:latin typeface="Times New Roman" panose="02020603050405020304" pitchFamily="18" charset="0"/>
                <a:cs typeface="Times New Roman" panose="02020603050405020304" pitchFamily="18" charset="0"/>
              </a:rPr>
              <a:t>business</a:t>
            </a:r>
            <a:r>
              <a:rPr lang="en-US" sz="4000" i="0" dirty="0">
                <a:solidFill>
                  <a:srgbClr val="222222"/>
                </a:solidFill>
                <a:effectLst/>
                <a:latin typeface="Times New Roman" panose="02020603050405020304" pitchFamily="18" charset="0"/>
                <a:cs typeface="Times New Roman" panose="02020603050405020304" pitchFamily="18" charset="0"/>
              </a:rPr>
              <a:t>.</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549407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595636-A6B3-D766-545A-511A1F4C86F9}"/>
              </a:ext>
            </a:extLst>
          </p:cNvPr>
          <p:cNvSpPr>
            <a:spLocks noGrp="1"/>
          </p:cNvSpPr>
          <p:nvPr>
            <p:ph type="title"/>
          </p:nvPr>
        </p:nvSpPr>
        <p:spPr>
          <a:xfrm>
            <a:off x="838200" y="365126"/>
            <a:ext cx="10515600" cy="677094"/>
          </a:xfrm>
        </p:spPr>
        <p:txBody>
          <a:bodyPr>
            <a:normAutofit fontScale="90000"/>
          </a:bodyPr>
          <a:lstStyle/>
          <a:p>
            <a:r>
              <a:rPr lang="en-US" dirty="0"/>
              <a:t>Types of Marketing Plan</a:t>
            </a:r>
            <a:endParaRPr lang="en-IN" dirty="0"/>
          </a:p>
        </p:txBody>
      </p:sp>
      <p:sp>
        <p:nvSpPr>
          <p:cNvPr id="3" name="Content Placeholder 2">
            <a:extLst>
              <a:ext uri="{FF2B5EF4-FFF2-40B4-BE49-F238E27FC236}">
                <a16:creationId xmlns:a16="http://schemas.microsoft.com/office/drawing/2014/main" xmlns="" id="{3B8A705D-1C8B-C3AD-A200-3C38DD10EABC}"/>
              </a:ext>
            </a:extLst>
          </p:cNvPr>
          <p:cNvSpPr>
            <a:spLocks noGrp="1"/>
          </p:cNvSpPr>
          <p:nvPr>
            <p:ph idx="1"/>
          </p:nvPr>
        </p:nvSpPr>
        <p:spPr>
          <a:xfrm>
            <a:off x="838200" y="1042220"/>
            <a:ext cx="6260690" cy="5134743"/>
          </a:xfrm>
        </p:spPr>
        <p:txBody>
          <a:bodyPr>
            <a:normAutofit fontScale="85000" lnSpcReduction="20000"/>
          </a:bodyPr>
          <a:lstStyle/>
          <a:p>
            <a:pPr algn="just"/>
            <a:r>
              <a:rPr lang="en-US" b="1" i="0" dirty="0">
                <a:solidFill>
                  <a:srgbClr val="222222"/>
                </a:solidFill>
                <a:effectLst/>
                <a:latin typeface="Times New Roman" panose="02020603050405020304" pitchFamily="18" charset="0"/>
                <a:cs typeface="Times New Roman" panose="02020603050405020304" pitchFamily="18" charset="0"/>
              </a:rPr>
              <a:t>1. Long -Term Marketing Planning</a:t>
            </a:r>
          </a:p>
          <a:p>
            <a:pPr algn="just"/>
            <a:r>
              <a:rPr lang="en-US" b="0" i="0" dirty="0">
                <a:solidFill>
                  <a:srgbClr val="222222"/>
                </a:solidFill>
                <a:effectLst/>
                <a:latin typeface="Times New Roman" panose="02020603050405020304" pitchFamily="18" charset="0"/>
                <a:cs typeface="Times New Roman" panose="02020603050405020304" pitchFamily="18" charset="0"/>
              </a:rPr>
              <a:t>The </a:t>
            </a:r>
            <a:r>
              <a:rPr lang="en-US" i="0" dirty="0">
                <a:effectLst/>
                <a:latin typeface="Times New Roman" panose="02020603050405020304" pitchFamily="18" charset="0"/>
                <a:cs typeface="Times New Roman" panose="02020603050405020304" pitchFamily="18" charset="0"/>
              </a:rPr>
              <a:t>planning</a:t>
            </a:r>
            <a:r>
              <a:rPr lang="en-US" b="0" i="0" dirty="0">
                <a:solidFill>
                  <a:srgbClr val="222222"/>
                </a:solidFill>
                <a:effectLst/>
                <a:latin typeface="Times New Roman" panose="02020603050405020304" pitchFamily="18" charset="0"/>
                <a:cs typeface="Times New Roman" panose="02020603050405020304" pitchFamily="18" charset="0"/>
              </a:rPr>
              <a:t> made to achieve the long-term goals of an organization is known as long-term marketing planning. It involves deep research of the market conditions and thus handled by the top-level management of the organization. It is based on the precise strategies set up by the entrepreneurs, considering all the future possibilities and risk factors.</a:t>
            </a:r>
          </a:p>
          <a:p>
            <a:pPr algn="just"/>
            <a:r>
              <a:rPr lang="en-US" b="1" i="0" dirty="0">
                <a:solidFill>
                  <a:srgbClr val="222222"/>
                </a:solidFill>
                <a:effectLst/>
                <a:latin typeface="Times New Roman" panose="02020603050405020304" pitchFamily="18" charset="0"/>
                <a:cs typeface="Times New Roman" panose="02020603050405020304" pitchFamily="18" charset="0"/>
              </a:rPr>
              <a:t>2. Short –Term Marketing Planning</a:t>
            </a:r>
          </a:p>
          <a:p>
            <a:pPr algn="just"/>
            <a:r>
              <a:rPr lang="en-US" b="0" i="0" dirty="0">
                <a:solidFill>
                  <a:srgbClr val="222222"/>
                </a:solidFill>
                <a:effectLst/>
                <a:latin typeface="Times New Roman" panose="02020603050405020304" pitchFamily="18" charset="0"/>
                <a:cs typeface="Times New Roman" panose="02020603050405020304" pitchFamily="18" charset="0"/>
              </a:rPr>
              <a:t>Such planning is done for a short period of time, i.e., for less than one year, for meeting the recurring problems of the business and does not require high-level efficiency. Thus, it is made by the middle-level management of the organization.</a:t>
            </a:r>
          </a:p>
          <a:p>
            <a:endParaRPr lang="en-IN" dirty="0"/>
          </a:p>
        </p:txBody>
      </p:sp>
      <p:pic>
        <p:nvPicPr>
          <p:cNvPr id="1026" name="Picture 2" descr="types of marketing planning">
            <a:extLst>
              <a:ext uri="{FF2B5EF4-FFF2-40B4-BE49-F238E27FC236}">
                <a16:creationId xmlns:a16="http://schemas.microsoft.com/office/drawing/2014/main" xmlns="" id="{FB323EF7-251A-F15D-29A6-5EB47AD6AED7}"/>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374193" y="1661652"/>
            <a:ext cx="4620553" cy="389357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289605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solidFill>
                  <a:srgbClr val="0000FF"/>
                </a:solidFill>
                <a:latin typeface="Arial Narrow" pitchFamily="34" charset="0"/>
              </a:rPr>
              <a:t>Steps in Marketing Planning </a:t>
            </a:r>
          </a:p>
        </p:txBody>
      </p:sp>
      <p:sp>
        <p:nvSpPr>
          <p:cNvPr id="5" name="Rectangle 4"/>
          <p:cNvSpPr/>
          <p:nvPr/>
        </p:nvSpPr>
        <p:spPr>
          <a:xfrm>
            <a:off x="3962400" y="2514600"/>
            <a:ext cx="4038600" cy="609600"/>
          </a:xfrm>
          <a:prstGeom prst="rect">
            <a:avLst/>
          </a:prstGeom>
        </p:spPr>
        <p:style>
          <a:lnRef idx="2">
            <a:schemeClr val="accent1">
              <a:shade val="50000"/>
            </a:schemeClr>
          </a:lnRef>
          <a:fillRef idx="1003">
            <a:schemeClr val="lt1"/>
          </a:fillRef>
          <a:effectRef idx="0">
            <a:schemeClr val="accent1"/>
          </a:effectRef>
          <a:fontRef idx="minor">
            <a:schemeClr val="lt1"/>
          </a:fontRef>
        </p:style>
        <p:txBody>
          <a:bodyPr anchor="ctr"/>
          <a:lstStyle/>
          <a:p>
            <a:pPr algn="ctr">
              <a:defRPr/>
            </a:pPr>
            <a:r>
              <a:rPr lang="en-US" sz="2000" b="1" dirty="0">
                <a:solidFill>
                  <a:srgbClr val="CC3399"/>
                </a:solidFill>
                <a:latin typeface="Arial Narrow" pitchFamily="34" charset="0"/>
              </a:rPr>
              <a:t>Developing marketing objectives</a:t>
            </a:r>
          </a:p>
        </p:txBody>
      </p:sp>
      <p:sp>
        <p:nvSpPr>
          <p:cNvPr id="6" name="Rectangle 5"/>
          <p:cNvSpPr/>
          <p:nvPr/>
        </p:nvSpPr>
        <p:spPr>
          <a:xfrm>
            <a:off x="3962400" y="3581400"/>
            <a:ext cx="4038600" cy="609600"/>
          </a:xfrm>
          <a:prstGeom prst="rect">
            <a:avLst/>
          </a:prstGeom>
        </p:spPr>
        <p:style>
          <a:lnRef idx="2">
            <a:schemeClr val="accent1">
              <a:shade val="50000"/>
            </a:schemeClr>
          </a:lnRef>
          <a:fillRef idx="1003">
            <a:schemeClr val="lt1"/>
          </a:fillRef>
          <a:effectRef idx="0">
            <a:schemeClr val="accent1"/>
          </a:effectRef>
          <a:fontRef idx="minor">
            <a:schemeClr val="lt1"/>
          </a:fontRef>
        </p:style>
        <p:txBody>
          <a:bodyPr anchor="ctr"/>
          <a:lstStyle/>
          <a:p>
            <a:pPr algn="ctr">
              <a:defRPr/>
            </a:pPr>
            <a:r>
              <a:rPr lang="en-US" b="1" dirty="0">
                <a:solidFill>
                  <a:srgbClr val="CC3399"/>
                </a:solidFill>
                <a:latin typeface="Arial Narrow" pitchFamily="34" charset="0"/>
              </a:rPr>
              <a:t>Formulation of marketing strategies</a:t>
            </a:r>
          </a:p>
        </p:txBody>
      </p:sp>
      <p:sp>
        <p:nvSpPr>
          <p:cNvPr id="9" name="Rectangle 8"/>
          <p:cNvSpPr/>
          <p:nvPr/>
        </p:nvSpPr>
        <p:spPr>
          <a:xfrm>
            <a:off x="3962400" y="4648200"/>
            <a:ext cx="4038600" cy="609600"/>
          </a:xfrm>
          <a:prstGeom prst="rect">
            <a:avLst/>
          </a:prstGeom>
        </p:spPr>
        <p:style>
          <a:lnRef idx="2">
            <a:schemeClr val="accent1">
              <a:shade val="50000"/>
            </a:schemeClr>
          </a:lnRef>
          <a:fillRef idx="1003">
            <a:schemeClr val="lt1"/>
          </a:fillRef>
          <a:effectRef idx="0">
            <a:schemeClr val="accent1"/>
          </a:effectRef>
          <a:fontRef idx="minor">
            <a:schemeClr val="lt1"/>
          </a:fontRef>
        </p:style>
        <p:txBody>
          <a:bodyPr anchor="ctr"/>
          <a:lstStyle/>
          <a:p>
            <a:pPr algn="ctr">
              <a:defRPr/>
            </a:pPr>
            <a:r>
              <a:rPr lang="en-US" b="1" dirty="0">
                <a:solidFill>
                  <a:srgbClr val="CC3399"/>
                </a:solidFill>
                <a:latin typeface="Arial Narrow" pitchFamily="34" charset="0"/>
              </a:rPr>
              <a:t>Preparing action programmes &amp; budgets </a:t>
            </a:r>
          </a:p>
        </p:txBody>
      </p:sp>
      <p:sp>
        <p:nvSpPr>
          <p:cNvPr id="10" name="Rectangle 9"/>
          <p:cNvSpPr/>
          <p:nvPr/>
        </p:nvSpPr>
        <p:spPr>
          <a:xfrm>
            <a:off x="3962400" y="5715000"/>
            <a:ext cx="4038600" cy="609600"/>
          </a:xfrm>
          <a:prstGeom prst="rect">
            <a:avLst/>
          </a:prstGeom>
        </p:spPr>
        <p:style>
          <a:lnRef idx="2">
            <a:schemeClr val="accent1">
              <a:shade val="50000"/>
            </a:schemeClr>
          </a:lnRef>
          <a:fillRef idx="1003">
            <a:schemeClr val="lt1"/>
          </a:fillRef>
          <a:effectRef idx="0">
            <a:schemeClr val="accent1"/>
          </a:effectRef>
          <a:fontRef idx="minor">
            <a:schemeClr val="lt1"/>
          </a:fontRef>
        </p:style>
        <p:txBody>
          <a:bodyPr anchor="ctr"/>
          <a:lstStyle/>
          <a:p>
            <a:pPr algn="ctr">
              <a:defRPr/>
            </a:pPr>
            <a:r>
              <a:rPr lang="en-US" b="1" dirty="0">
                <a:solidFill>
                  <a:srgbClr val="CC3399"/>
                </a:solidFill>
                <a:latin typeface="Arial Narrow" pitchFamily="34" charset="0"/>
              </a:rPr>
              <a:t>Developing control procedure</a:t>
            </a:r>
          </a:p>
        </p:txBody>
      </p:sp>
      <p:sp>
        <p:nvSpPr>
          <p:cNvPr id="11" name="Rectangle 10"/>
          <p:cNvSpPr/>
          <p:nvPr/>
        </p:nvSpPr>
        <p:spPr>
          <a:xfrm>
            <a:off x="3962400" y="1447800"/>
            <a:ext cx="4038600" cy="609600"/>
          </a:xfrm>
          <a:prstGeom prst="rect">
            <a:avLst/>
          </a:prstGeom>
        </p:spPr>
        <p:style>
          <a:lnRef idx="2">
            <a:schemeClr val="accent1">
              <a:shade val="50000"/>
            </a:schemeClr>
          </a:lnRef>
          <a:fillRef idx="1003">
            <a:schemeClr val="lt1"/>
          </a:fillRef>
          <a:effectRef idx="0">
            <a:schemeClr val="accent1"/>
          </a:effectRef>
          <a:fontRef idx="minor">
            <a:schemeClr val="lt1"/>
          </a:fontRef>
        </p:style>
        <p:txBody>
          <a:bodyPr anchor="ctr"/>
          <a:lstStyle/>
          <a:p>
            <a:pPr algn="ctr">
              <a:defRPr/>
            </a:pPr>
            <a:r>
              <a:rPr lang="en-US" sz="2000" b="1" dirty="0">
                <a:solidFill>
                  <a:srgbClr val="CC3399"/>
                </a:solidFill>
                <a:latin typeface="Arial Narrow" pitchFamily="34" charset="0"/>
              </a:rPr>
              <a:t>Analysis of marketing situation</a:t>
            </a:r>
          </a:p>
        </p:txBody>
      </p:sp>
      <p:sp>
        <p:nvSpPr>
          <p:cNvPr id="12" name="Down Arrow 11"/>
          <p:cNvSpPr/>
          <p:nvPr/>
        </p:nvSpPr>
        <p:spPr>
          <a:xfrm>
            <a:off x="5867400" y="2057400"/>
            <a:ext cx="304800" cy="457200"/>
          </a:xfrm>
          <a:prstGeom prst="down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Arial Narrow" pitchFamily="34" charset="0"/>
            </a:endParaRPr>
          </a:p>
        </p:txBody>
      </p:sp>
      <p:sp>
        <p:nvSpPr>
          <p:cNvPr id="14" name="Down Arrow 13"/>
          <p:cNvSpPr/>
          <p:nvPr/>
        </p:nvSpPr>
        <p:spPr>
          <a:xfrm>
            <a:off x="5867400" y="3124200"/>
            <a:ext cx="304800" cy="457200"/>
          </a:xfrm>
          <a:prstGeom prst="down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Arial Narrow" pitchFamily="34" charset="0"/>
            </a:endParaRPr>
          </a:p>
        </p:txBody>
      </p:sp>
      <p:sp>
        <p:nvSpPr>
          <p:cNvPr id="15" name="Down Arrow 14"/>
          <p:cNvSpPr/>
          <p:nvPr/>
        </p:nvSpPr>
        <p:spPr>
          <a:xfrm>
            <a:off x="5867400" y="4191000"/>
            <a:ext cx="304800" cy="457200"/>
          </a:xfrm>
          <a:prstGeom prst="down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Arial Narrow" pitchFamily="34" charset="0"/>
            </a:endParaRPr>
          </a:p>
        </p:txBody>
      </p:sp>
      <p:sp>
        <p:nvSpPr>
          <p:cNvPr id="16" name="Down Arrow 15"/>
          <p:cNvSpPr/>
          <p:nvPr/>
        </p:nvSpPr>
        <p:spPr>
          <a:xfrm>
            <a:off x="5867400" y="5257800"/>
            <a:ext cx="304800" cy="457200"/>
          </a:xfrm>
          <a:prstGeom prst="downArrow">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Arial Narrow"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C915B1E3-6EF8-8773-3DB8-2CAA937B25EA}"/>
              </a:ext>
            </a:extLst>
          </p:cNvPr>
          <p:cNvPicPr>
            <a:picLocks noChangeAspect="1"/>
          </p:cNvPicPr>
          <p:nvPr/>
        </p:nvPicPr>
        <p:blipFill>
          <a:blip r:embed="rId2"/>
          <a:stretch>
            <a:fillRect/>
          </a:stretch>
        </p:blipFill>
        <p:spPr>
          <a:xfrm>
            <a:off x="707923" y="855407"/>
            <a:ext cx="10995890" cy="5201264"/>
          </a:xfrm>
          <a:prstGeom prst="rect">
            <a:avLst/>
          </a:prstGeom>
        </p:spPr>
      </p:pic>
    </p:spTree>
    <p:extLst>
      <p:ext uri="{BB962C8B-B14F-4D97-AF65-F5344CB8AC3E}">
        <p14:creationId xmlns:p14="http://schemas.microsoft.com/office/powerpoint/2010/main" xmlns="" val="447234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85BD3F-C727-4C4F-BFCD-D5B56DAA8E27}"/>
              </a:ext>
            </a:extLst>
          </p:cNvPr>
          <p:cNvSpPr>
            <a:spLocks noGrp="1"/>
          </p:cNvSpPr>
          <p:nvPr>
            <p:ph type="title"/>
          </p:nvPr>
        </p:nvSpPr>
        <p:spPr>
          <a:xfrm>
            <a:off x="838200" y="365125"/>
            <a:ext cx="10515600" cy="863907"/>
          </a:xfrm>
        </p:spPr>
        <p:txBody>
          <a:bodyPr/>
          <a:lstStyle/>
          <a:p>
            <a:r>
              <a:rPr lang="en-US" dirty="0"/>
              <a:t>Concept of B2B marketing</a:t>
            </a:r>
            <a:endParaRPr lang="en-IN" dirty="0"/>
          </a:p>
        </p:txBody>
      </p:sp>
      <p:sp>
        <p:nvSpPr>
          <p:cNvPr id="3" name="Content Placeholder 2">
            <a:extLst>
              <a:ext uri="{FF2B5EF4-FFF2-40B4-BE49-F238E27FC236}">
                <a16:creationId xmlns:a16="http://schemas.microsoft.com/office/drawing/2014/main" xmlns="" id="{DF227A73-BE2E-C0C3-054F-BA30A034893C}"/>
              </a:ext>
            </a:extLst>
          </p:cNvPr>
          <p:cNvSpPr>
            <a:spLocks noGrp="1"/>
          </p:cNvSpPr>
          <p:nvPr>
            <p:ph idx="1"/>
          </p:nvPr>
        </p:nvSpPr>
        <p:spPr>
          <a:xfrm>
            <a:off x="838200" y="1229032"/>
            <a:ext cx="10515600" cy="4947931"/>
          </a:xfrm>
        </p:spPr>
        <p:txBody>
          <a:bodyPr/>
          <a:lstStyle/>
          <a:p>
            <a:pPr algn="just"/>
            <a:r>
              <a:rPr lang="en-US" b="0" i="0" dirty="0">
                <a:solidFill>
                  <a:srgbClr val="4D5156"/>
                </a:solidFill>
                <a:effectLst/>
                <a:latin typeface="Google Sans"/>
              </a:rPr>
              <a:t>B2B marketing means business-to-business marketing. It's </a:t>
            </a:r>
            <a:r>
              <a:rPr lang="en-US" b="0" i="0" dirty="0">
                <a:solidFill>
                  <a:srgbClr val="040C28"/>
                </a:solidFill>
                <a:effectLst/>
                <a:latin typeface="Google Sans"/>
              </a:rPr>
              <a:t>any marketing strategy or content used by one business to target and sell to another business</a:t>
            </a:r>
            <a:r>
              <a:rPr lang="en-US" b="0" i="0" dirty="0">
                <a:solidFill>
                  <a:srgbClr val="4D5156"/>
                </a:solidFill>
                <a:effectLst/>
                <a:latin typeface="Google Sans"/>
              </a:rPr>
              <a:t>. For instance, companies that sell services, products, or SaaS (</a:t>
            </a:r>
            <a:r>
              <a:rPr lang="en-IN" b="0" i="0" dirty="0">
                <a:effectLst/>
                <a:latin typeface="Noto Serif" panose="020B0604020202020204" pitchFamily="18" charset="0"/>
              </a:rPr>
              <a:t>software-as-a-service)  </a:t>
            </a:r>
            <a:r>
              <a:rPr lang="en-US" b="0" i="0" dirty="0">
                <a:solidFill>
                  <a:srgbClr val="4D5156"/>
                </a:solidFill>
                <a:effectLst/>
                <a:latin typeface="Google Sans"/>
              </a:rPr>
              <a:t>to other companies or organizations typically use B2B marketing.</a:t>
            </a:r>
            <a:endParaRPr lang="en-IN" dirty="0"/>
          </a:p>
        </p:txBody>
      </p:sp>
    </p:spTree>
    <p:extLst>
      <p:ext uri="{BB962C8B-B14F-4D97-AF65-F5344CB8AC3E}">
        <p14:creationId xmlns:p14="http://schemas.microsoft.com/office/powerpoint/2010/main" xmlns="" val="93458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7E3F3C-CAFA-32D9-A9E1-4596D0F033BC}"/>
              </a:ext>
            </a:extLst>
          </p:cNvPr>
          <p:cNvSpPr>
            <a:spLocks noGrp="1"/>
          </p:cNvSpPr>
          <p:nvPr>
            <p:ph type="title"/>
          </p:nvPr>
        </p:nvSpPr>
        <p:spPr>
          <a:xfrm>
            <a:off x="838200" y="365126"/>
            <a:ext cx="10515600" cy="824578"/>
          </a:xfrm>
        </p:spPr>
        <p:txBody>
          <a:bodyPr/>
          <a:lstStyle/>
          <a:p>
            <a:r>
              <a:rPr lang="en-US" dirty="0" smtClean="0"/>
              <a:t>Characteristics </a:t>
            </a:r>
            <a:r>
              <a:rPr lang="en-US" dirty="0"/>
              <a:t>of B2B marketing</a:t>
            </a:r>
            <a:endParaRPr lang="en-IN" dirty="0"/>
          </a:p>
        </p:txBody>
      </p:sp>
      <p:sp>
        <p:nvSpPr>
          <p:cNvPr id="3" name="Content Placeholder 2">
            <a:extLst>
              <a:ext uri="{FF2B5EF4-FFF2-40B4-BE49-F238E27FC236}">
                <a16:creationId xmlns:a16="http://schemas.microsoft.com/office/drawing/2014/main" xmlns="" id="{5E0D7109-92AD-D0EF-9655-DADB5121C28B}"/>
              </a:ext>
            </a:extLst>
          </p:cNvPr>
          <p:cNvSpPr>
            <a:spLocks noGrp="1"/>
          </p:cNvSpPr>
          <p:nvPr>
            <p:ph idx="1"/>
          </p:nvPr>
        </p:nvSpPr>
        <p:spPr>
          <a:xfrm>
            <a:off x="838200" y="1268361"/>
            <a:ext cx="10515600" cy="4908602"/>
          </a:xfrm>
        </p:spPr>
        <p:txBody>
          <a:bodyPr/>
          <a:lstStyle/>
          <a:p>
            <a:pPr algn="l">
              <a:buFont typeface="Arial" panose="020B0604020202020204" pitchFamily="34" charset="0"/>
              <a:buChar char="•"/>
            </a:pPr>
            <a:r>
              <a:rPr lang="en-US" b="0" i="0" dirty="0">
                <a:solidFill>
                  <a:srgbClr val="202124"/>
                </a:solidFill>
                <a:effectLst/>
                <a:latin typeface="arial" panose="020B0604020202020204" pitchFamily="34" charset="0"/>
              </a:rPr>
              <a:t>B2B Markets are More Complex. ...</a:t>
            </a:r>
          </a:p>
          <a:p>
            <a:pPr algn="l">
              <a:buFont typeface="Arial" panose="020B0604020202020204" pitchFamily="34" charset="0"/>
              <a:buChar char="•"/>
            </a:pPr>
            <a:r>
              <a:rPr lang="en-US" b="0" i="0" dirty="0">
                <a:solidFill>
                  <a:srgbClr val="202124"/>
                </a:solidFill>
                <a:effectLst/>
                <a:latin typeface="arial" panose="020B0604020202020204" pitchFamily="34" charset="0"/>
              </a:rPr>
              <a:t>B2B Buyers are More Rational and Demanding. ...</a:t>
            </a:r>
          </a:p>
          <a:p>
            <a:pPr algn="l">
              <a:buFont typeface="Arial" panose="020B0604020202020204" pitchFamily="34" charset="0"/>
              <a:buChar char="•"/>
            </a:pPr>
            <a:r>
              <a:rPr lang="en-US" b="0" i="0" dirty="0">
                <a:solidFill>
                  <a:srgbClr val="202124"/>
                </a:solidFill>
                <a:effectLst/>
                <a:latin typeface="arial" panose="020B0604020202020204" pitchFamily="34" charset="0"/>
              </a:rPr>
              <a:t>Typically B2B Products Are More Complex, But Buyers Are More Informed. ...</a:t>
            </a:r>
          </a:p>
          <a:p>
            <a:pPr algn="l">
              <a:buFont typeface="Arial" panose="020B0604020202020204" pitchFamily="34" charset="0"/>
              <a:buChar char="•"/>
            </a:pPr>
            <a:r>
              <a:rPr lang="en-US" b="0" i="0" dirty="0">
                <a:solidFill>
                  <a:srgbClr val="202124"/>
                </a:solidFill>
                <a:effectLst/>
                <a:latin typeface="arial" panose="020B0604020202020204" pitchFamily="34" charset="0"/>
              </a:rPr>
              <a:t>Limited Number of Purchasing Units in B2B Markets. ...</a:t>
            </a:r>
          </a:p>
          <a:p>
            <a:pPr algn="l">
              <a:buFont typeface="Arial" panose="020B0604020202020204" pitchFamily="34" charset="0"/>
              <a:buChar char="•"/>
            </a:pPr>
            <a:r>
              <a:rPr lang="en-US" b="0" i="0" dirty="0">
                <a:solidFill>
                  <a:srgbClr val="202124"/>
                </a:solidFill>
                <a:effectLst/>
                <a:latin typeface="arial" panose="020B0604020202020204" pitchFamily="34" charset="0"/>
              </a:rPr>
              <a:t>B2B Markets Consist of Needs-Based Segments.</a:t>
            </a:r>
          </a:p>
          <a:p>
            <a:endParaRPr lang="en-IN" dirty="0"/>
          </a:p>
        </p:txBody>
      </p:sp>
    </p:spTree>
    <p:extLst>
      <p:ext uri="{BB962C8B-B14F-4D97-AF65-F5344CB8AC3E}">
        <p14:creationId xmlns:p14="http://schemas.microsoft.com/office/powerpoint/2010/main" xmlns="" val="128874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all" dirty="0"/>
              <a:t>THE SEVEN KEY CONCEPTS OF B2B MARKETING</a:t>
            </a:r>
            <a:endParaRPr lang="en-US" dirty="0"/>
          </a:p>
        </p:txBody>
      </p:sp>
      <p:pic>
        <p:nvPicPr>
          <p:cNvPr id="40962" name="Picture 2" descr="7 key concepts of B2B marketing&#10;"/>
          <p:cNvPicPr>
            <a:picLocks noChangeAspect="1" noChangeArrowheads="1"/>
          </p:cNvPicPr>
          <p:nvPr/>
        </p:nvPicPr>
        <p:blipFill>
          <a:blip r:embed="rId2"/>
          <a:srcRect/>
          <a:stretch>
            <a:fillRect/>
          </a:stretch>
        </p:blipFill>
        <p:spPr bwMode="auto">
          <a:xfrm>
            <a:off x="1676400" y="1524000"/>
            <a:ext cx="8839200" cy="5257800"/>
          </a:xfrm>
          <a:prstGeom prst="rect">
            <a:avLst/>
          </a:prstGeom>
          <a:noFill/>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a:xfrm>
            <a:off x="2057400" y="152400"/>
            <a:ext cx="8229600" cy="685800"/>
          </a:xfrm>
        </p:spPr>
        <p:txBody>
          <a:bodyPr>
            <a:normAutofit fontScale="90000"/>
          </a:bodyPr>
          <a:lstStyle/>
          <a:p>
            <a:r>
              <a:rPr lang="en-US" altLang="en-US"/>
              <a:t>B2B marketing Vs Consumer Marketing</a:t>
            </a:r>
          </a:p>
        </p:txBody>
      </p:sp>
      <p:graphicFrame>
        <p:nvGraphicFramePr>
          <p:cNvPr id="4" name="Table 3"/>
          <p:cNvGraphicFramePr>
            <a:graphicFrameLocks noGrp="1"/>
          </p:cNvGraphicFramePr>
          <p:nvPr/>
        </p:nvGraphicFramePr>
        <p:xfrm>
          <a:off x="1828800" y="1143000"/>
          <a:ext cx="8610600" cy="5394656"/>
        </p:xfrm>
        <a:graphic>
          <a:graphicData uri="http://schemas.openxmlformats.org/drawingml/2006/table">
            <a:tbl>
              <a:tblPr firstRow="1" bandRow="1">
                <a:tableStyleId>{5C22544A-7EE6-4342-B048-85BDC9FD1C3A}</a:tableStyleId>
              </a:tblPr>
              <a:tblGrid>
                <a:gridCol w="878998">
                  <a:extLst>
                    <a:ext uri="{9D8B030D-6E8A-4147-A177-3AD203B41FA5}">
                      <a16:colId xmlns:a16="http://schemas.microsoft.com/office/drawing/2014/main" xmlns="" val="20000"/>
                    </a:ext>
                  </a:extLst>
                </a:gridCol>
                <a:gridCol w="3585757">
                  <a:extLst>
                    <a:ext uri="{9D8B030D-6E8A-4147-A177-3AD203B41FA5}">
                      <a16:colId xmlns:a16="http://schemas.microsoft.com/office/drawing/2014/main" xmlns="" val="20001"/>
                    </a:ext>
                  </a:extLst>
                </a:gridCol>
                <a:gridCol w="4145845">
                  <a:extLst>
                    <a:ext uri="{9D8B030D-6E8A-4147-A177-3AD203B41FA5}">
                      <a16:colId xmlns:a16="http://schemas.microsoft.com/office/drawing/2014/main" xmlns="" val="20002"/>
                    </a:ext>
                  </a:extLst>
                </a:gridCol>
              </a:tblGrid>
              <a:tr h="396180">
                <a:tc>
                  <a:txBody>
                    <a:bodyPr/>
                    <a:lstStyle/>
                    <a:p>
                      <a:pPr algn="ctr"/>
                      <a:r>
                        <a:rPr lang="en-US" sz="2000" b="1" dirty="0" err="1">
                          <a:solidFill>
                            <a:schemeClr val="bg1"/>
                          </a:solidFill>
                        </a:rPr>
                        <a:t>Sl</a:t>
                      </a:r>
                      <a:r>
                        <a:rPr lang="en-US" sz="2000" b="1" dirty="0">
                          <a:solidFill>
                            <a:schemeClr val="bg1"/>
                          </a:solidFill>
                        </a:rPr>
                        <a:t> No</a:t>
                      </a:r>
                    </a:p>
                  </a:txBody>
                  <a:tcPr marT="45701" marB="45701"/>
                </a:tc>
                <a:tc>
                  <a:txBody>
                    <a:bodyPr/>
                    <a:lstStyle/>
                    <a:p>
                      <a:pPr algn="ctr"/>
                      <a:r>
                        <a:rPr lang="en-US" sz="2000" b="1" dirty="0">
                          <a:solidFill>
                            <a:schemeClr val="bg1"/>
                          </a:solidFill>
                        </a:rPr>
                        <a:t>BUSINESS MARKET</a:t>
                      </a:r>
                    </a:p>
                  </a:txBody>
                  <a:tcPr marT="45701" marB="45701"/>
                </a:tc>
                <a:tc>
                  <a:txBody>
                    <a:bodyPr/>
                    <a:lstStyle/>
                    <a:p>
                      <a:pPr algn="ctr"/>
                      <a:r>
                        <a:rPr lang="en-US" sz="2000" b="1" dirty="0">
                          <a:solidFill>
                            <a:schemeClr val="bg1"/>
                          </a:solidFill>
                        </a:rPr>
                        <a:t>CONSUMER MARKET</a:t>
                      </a:r>
                    </a:p>
                  </a:txBody>
                  <a:tcPr marT="45701" marB="45701"/>
                </a:tc>
                <a:extLst>
                  <a:ext uri="{0D108BD9-81ED-4DB2-BD59-A6C34878D82A}">
                    <a16:rowId xmlns:a16="http://schemas.microsoft.com/office/drawing/2014/main" xmlns="" val="10000"/>
                  </a:ext>
                </a:extLst>
              </a:tr>
              <a:tr h="426658">
                <a:tc>
                  <a:txBody>
                    <a:bodyPr/>
                    <a:lstStyle/>
                    <a:p>
                      <a:pPr algn="ctr"/>
                      <a:r>
                        <a:rPr lang="en-US" sz="1800" dirty="0"/>
                        <a:t>1</a:t>
                      </a:r>
                    </a:p>
                  </a:txBody>
                  <a:tcPr marT="45701" marB="45701"/>
                </a:tc>
                <a:tc>
                  <a:txBody>
                    <a:bodyPr/>
                    <a:lstStyle/>
                    <a:p>
                      <a:pPr algn="just"/>
                      <a:r>
                        <a:rPr lang="en-AU" altLang="en-US" sz="2200" dirty="0"/>
                        <a:t>Small number of BMs</a:t>
                      </a:r>
                      <a:endParaRPr lang="en-US" sz="2200" dirty="0"/>
                    </a:p>
                  </a:txBody>
                  <a:tcPr marT="45701" marB="45701"/>
                </a:tc>
                <a:tc>
                  <a:txBody>
                    <a:bodyPr/>
                    <a:lstStyle/>
                    <a:p>
                      <a:pPr algn="just"/>
                      <a:r>
                        <a:rPr lang="en-US" sz="2200" dirty="0"/>
                        <a:t>Large Markets</a:t>
                      </a:r>
                    </a:p>
                  </a:txBody>
                  <a:tcPr marT="45701" marB="45701"/>
                </a:tc>
                <a:extLst>
                  <a:ext uri="{0D108BD9-81ED-4DB2-BD59-A6C34878D82A}">
                    <a16:rowId xmlns:a16="http://schemas.microsoft.com/office/drawing/2014/main" xmlns="" val="10001"/>
                  </a:ext>
                </a:extLst>
              </a:tr>
              <a:tr h="761914">
                <a:tc>
                  <a:txBody>
                    <a:bodyPr/>
                    <a:lstStyle/>
                    <a:p>
                      <a:pPr algn="ctr"/>
                      <a:r>
                        <a:rPr lang="en-US" sz="1800" dirty="0"/>
                        <a:t>2</a:t>
                      </a:r>
                    </a:p>
                  </a:txBody>
                  <a:tcPr marT="45701" marB="45701"/>
                </a:tc>
                <a:tc>
                  <a:txBody>
                    <a:bodyPr/>
                    <a:lstStyle/>
                    <a:p>
                      <a:pPr algn="just"/>
                      <a:r>
                        <a:rPr lang="en-AU" altLang="en-US" sz="2200" dirty="0"/>
                        <a:t>BMs have larger purchasing power and buy in quantity</a:t>
                      </a:r>
                      <a:endParaRPr lang="en-US" sz="2200" dirty="0"/>
                    </a:p>
                  </a:txBody>
                  <a:tcPr marT="45701" marB="45701"/>
                </a:tc>
                <a:tc>
                  <a:txBody>
                    <a:bodyPr/>
                    <a:lstStyle/>
                    <a:p>
                      <a:pPr algn="just"/>
                      <a:r>
                        <a:rPr lang="en-US" sz="2200" dirty="0"/>
                        <a:t>CM is</a:t>
                      </a:r>
                      <a:r>
                        <a:rPr lang="en-US" sz="2200" baseline="0" dirty="0"/>
                        <a:t> a smaller purchasing power and buy</a:t>
                      </a:r>
                      <a:endParaRPr lang="en-US" sz="2200" dirty="0"/>
                    </a:p>
                  </a:txBody>
                  <a:tcPr marT="45701" marB="45701"/>
                </a:tc>
                <a:extLst>
                  <a:ext uri="{0D108BD9-81ED-4DB2-BD59-A6C34878D82A}">
                    <a16:rowId xmlns:a16="http://schemas.microsoft.com/office/drawing/2014/main" xmlns="" val="10002"/>
                  </a:ext>
                </a:extLst>
              </a:tr>
              <a:tr h="426658">
                <a:tc>
                  <a:txBody>
                    <a:bodyPr/>
                    <a:lstStyle/>
                    <a:p>
                      <a:pPr algn="ctr"/>
                      <a:r>
                        <a:rPr lang="en-US" sz="1800" dirty="0"/>
                        <a:t>3</a:t>
                      </a:r>
                    </a:p>
                  </a:txBody>
                  <a:tcPr marT="45701" marB="45701"/>
                </a:tc>
                <a:tc>
                  <a:txBody>
                    <a:bodyPr/>
                    <a:lstStyle/>
                    <a:p>
                      <a:pPr algn="just"/>
                      <a:r>
                        <a:rPr lang="en-AU" altLang="en-US" sz="2200" dirty="0"/>
                        <a:t>BMs are concentrated</a:t>
                      </a:r>
                      <a:endParaRPr lang="en-US" sz="2200" dirty="0"/>
                    </a:p>
                  </a:txBody>
                  <a:tcPr marT="45701" marB="45701"/>
                </a:tc>
                <a:tc>
                  <a:txBody>
                    <a:bodyPr/>
                    <a:lstStyle/>
                    <a:p>
                      <a:pPr algn="just"/>
                      <a:r>
                        <a:rPr lang="en-AU" altLang="en-US" sz="2200" dirty="0"/>
                        <a:t>CMs are not (Fragmented)</a:t>
                      </a:r>
                      <a:endParaRPr lang="en-US" sz="2200" dirty="0"/>
                    </a:p>
                  </a:txBody>
                  <a:tcPr marT="45701" marB="45701"/>
                </a:tc>
                <a:extLst>
                  <a:ext uri="{0D108BD9-81ED-4DB2-BD59-A6C34878D82A}">
                    <a16:rowId xmlns:a16="http://schemas.microsoft.com/office/drawing/2014/main" xmlns="" val="10003"/>
                  </a:ext>
                </a:extLst>
              </a:tr>
              <a:tr h="761914">
                <a:tc>
                  <a:txBody>
                    <a:bodyPr/>
                    <a:lstStyle/>
                    <a:p>
                      <a:pPr algn="ctr"/>
                      <a:r>
                        <a:rPr lang="en-US" sz="1800" dirty="0"/>
                        <a:t>4</a:t>
                      </a:r>
                    </a:p>
                  </a:txBody>
                  <a:tcPr marT="45701" marB="45701"/>
                </a:tc>
                <a:tc>
                  <a:txBody>
                    <a:bodyPr/>
                    <a:lstStyle/>
                    <a:p>
                      <a:pPr algn="just"/>
                      <a:r>
                        <a:rPr lang="en-AU" altLang="en-US" sz="2200" dirty="0"/>
                        <a:t>Sellers deal direct with business users</a:t>
                      </a:r>
                      <a:endParaRPr lang="en-US" sz="2200" dirty="0"/>
                    </a:p>
                  </a:txBody>
                  <a:tcPr marT="45701" marB="45701"/>
                </a:tc>
                <a:tc>
                  <a:txBody>
                    <a:bodyPr/>
                    <a:lstStyle/>
                    <a:p>
                      <a:pPr algn="just"/>
                      <a:r>
                        <a:rPr lang="en-US" sz="2200" dirty="0"/>
                        <a:t>More levels (More number of Intermediaries)</a:t>
                      </a:r>
                    </a:p>
                  </a:txBody>
                  <a:tcPr marT="45701" marB="45701"/>
                </a:tc>
                <a:extLst>
                  <a:ext uri="{0D108BD9-81ED-4DB2-BD59-A6C34878D82A}">
                    <a16:rowId xmlns:a16="http://schemas.microsoft.com/office/drawing/2014/main" xmlns="" val="10004"/>
                  </a:ext>
                </a:extLst>
              </a:tr>
              <a:tr h="761914">
                <a:tc>
                  <a:txBody>
                    <a:bodyPr/>
                    <a:lstStyle/>
                    <a:p>
                      <a:pPr algn="ctr"/>
                      <a:r>
                        <a:rPr lang="en-US" sz="1800" dirty="0"/>
                        <a:t>5</a:t>
                      </a:r>
                    </a:p>
                  </a:txBody>
                  <a:tcPr marT="45701" marB="45701"/>
                </a:tc>
                <a:tc>
                  <a:txBody>
                    <a:bodyPr/>
                    <a:lstStyle/>
                    <a:p>
                      <a:pPr algn="just"/>
                      <a:r>
                        <a:rPr lang="en-AU" altLang="en-US" sz="2200" dirty="0"/>
                        <a:t>BMs are usually regionally concentrated</a:t>
                      </a:r>
                      <a:endParaRPr lang="en-US" sz="2200" dirty="0"/>
                    </a:p>
                  </a:txBody>
                  <a:tcPr marT="45701" marB="45701"/>
                </a:tc>
                <a:tc>
                  <a:txBody>
                    <a:bodyPr/>
                    <a:lstStyle/>
                    <a:p>
                      <a:r>
                        <a:rPr lang="en-US" sz="2200" dirty="0"/>
                        <a:t>Located</a:t>
                      </a:r>
                      <a:r>
                        <a:rPr lang="en-US" sz="2200" baseline="0" dirty="0"/>
                        <a:t> in many locations</a:t>
                      </a:r>
                      <a:endParaRPr lang="en-US" sz="2200" dirty="0"/>
                    </a:p>
                  </a:txBody>
                  <a:tcPr marT="45701" marB="45701"/>
                </a:tc>
                <a:extLst>
                  <a:ext uri="{0D108BD9-81ED-4DB2-BD59-A6C34878D82A}">
                    <a16:rowId xmlns:a16="http://schemas.microsoft.com/office/drawing/2014/main" xmlns="" val="10005"/>
                  </a:ext>
                </a:extLst>
              </a:tr>
              <a:tr h="761914">
                <a:tc>
                  <a:txBody>
                    <a:bodyPr/>
                    <a:lstStyle/>
                    <a:p>
                      <a:pPr algn="ctr"/>
                      <a:r>
                        <a:rPr lang="en-US" sz="1800" dirty="0"/>
                        <a:t>6</a:t>
                      </a:r>
                    </a:p>
                  </a:txBody>
                  <a:tcPr marT="45701" marB="45701"/>
                </a:tc>
                <a:tc>
                  <a:txBody>
                    <a:bodyPr/>
                    <a:lstStyle/>
                    <a:p>
                      <a:pPr algn="just"/>
                      <a:r>
                        <a:rPr lang="en-AU" altLang="en-US" sz="2200" dirty="0"/>
                        <a:t>BMs can be vertically or horizontally concentrated</a:t>
                      </a:r>
                      <a:endParaRPr lang="en-US" sz="2200" dirty="0"/>
                    </a:p>
                  </a:txBody>
                  <a:tcPr marT="45701" marB="45701"/>
                </a:tc>
                <a:tc>
                  <a:txBody>
                    <a:bodyPr/>
                    <a:lstStyle/>
                    <a:p>
                      <a:r>
                        <a:rPr lang="en-US" sz="2200" dirty="0"/>
                        <a:t>Not the</a:t>
                      </a:r>
                      <a:r>
                        <a:rPr lang="en-US" sz="2200" baseline="0" dirty="0"/>
                        <a:t> case with CMs</a:t>
                      </a:r>
                      <a:endParaRPr lang="en-US" sz="2200" dirty="0"/>
                    </a:p>
                  </a:txBody>
                  <a:tcPr marT="45701" marB="45701"/>
                </a:tc>
                <a:extLst>
                  <a:ext uri="{0D108BD9-81ED-4DB2-BD59-A6C34878D82A}">
                    <a16:rowId xmlns:a16="http://schemas.microsoft.com/office/drawing/2014/main" xmlns="" val="10006"/>
                  </a:ext>
                </a:extLst>
              </a:tr>
              <a:tr h="1097171">
                <a:tc>
                  <a:txBody>
                    <a:bodyPr/>
                    <a:lstStyle/>
                    <a:p>
                      <a:pPr algn="ctr"/>
                      <a:r>
                        <a:rPr lang="en-US" sz="1800" dirty="0"/>
                        <a:t>7</a:t>
                      </a:r>
                    </a:p>
                  </a:txBody>
                  <a:tcPr marT="45701" marB="45701"/>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AU" altLang="en-US" sz="2200" dirty="0"/>
                        <a:t>BM’s buying motives are rational and purchase is methodical and objective.  </a:t>
                      </a:r>
                      <a:endParaRPr lang="en-US" sz="2200" dirty="0"/>
                    </a:p>
                  </a:txBody>
                  <a:tcPr marT="45701" marB="45701"/>
                </a:tc>
                <a:tc>
                  <a:txBody>
                    <a:bodyPr/>
                    <a:lstStyle/>
                    <a:p>
                      <a:r>
                        <a:rPr lang="en-US" sz="2200" dirty="0"/>
                        <a:t>Its not rational, its instinct, and not objective.</a:t>
                      </a:r>
                    </a:p>
                  </a:txBody>
                  <a:tcPr marT="45701" marB="45701"/>
                </a:tc>
                <a:extLst>
                  <a:ext uri="{0D108BD9-81ED-4DB2-BD59-A6C34878D82A}">
                    <a16:rowId xmlns:a16="http://schemas.microsoft.com/office/drawing/2014/main" xmlns="" val="10007"/>
                  </a:ext>
                </a:extLst>
              </a:tr>
            </a:tbl>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F88642-7376-5DEC-4DF6-55D64359BB8D}"/>
              </a:ext>
            </a:extLst>
          </p:cNvPr>
          <p:cNvSpPr>
            <a:spLocks noGrp="1"/>
          </p:cNvSpPr>
          <p:nvPr>
            <p:ph type="title"/>
          </p:nvPr>
        </p:nvSpPr>
        <p:spPr/>
        <p:txBody>
          <a:bodyPr/>
          <a:lstStyle/>
          <a:p>
            <a:r>
              <a:rPr lang="en-US" dirty="0"/>
              <a:t>Services Marketing</a:t>
            </a:r>
            <a:endParaRPr lang="en-IN" dirty="0"/>
          </a:p>
        </p:txBody>
      </p:sp>
      <p:sp>
        <p:nvSpPr>
          <p:cNvPr id="3" name="Content Placeholder 2">
            <a:extLst>
              <a:ext uri="{FF2B5EF4-FFF2-40B4-BE49-F238E27FC236}">
                <a16:creationId xmlns:a16="http://schemas.microsoft.com/office/drawing/2014/main" xmlns="" id="{7E38F363-BC29-C5AF-CD6C-A244A3AC71DD}"/>
              </a:ext>
            </a:extLst>
          </p:cNvPr>
          <p:cNvSpPr>
            <a:spLocks noGrp="1"/>
          </p:cNvSpPr>
          <p:nvPr>
            <p:ph idx="1"/>
          </p:nvPr>
        </p:nvSpPr>
        <p:spPr>
          <a:xfrm>
            <a:off x="838200" y="1396181"/>
            <a:ext cx="10515600" cy="4780782"/>
          </a:xfrm>
        </p:spPr>
        <p:txBody>
          <a:bodyPr>
            <a:normAutofit fontScale="92500" lnSpcReduction="10000"/>
          </a:bodyPr>
          <a:lstStyle/>
          <a:p>
            <a:pPr algn="just"/>
            <a:r>
              <a:rPr lang="en-US" b="0" i="0" dirty="0">
                <a:solidFill>
                  <a:srgbClr val="202124"/>
                </a:solidFill>
                <a:effectLst/>
                <a:latin typeface="Google Sans"/>
              </a:rPr>
              <a:t>Services marketing is </a:t>
            </a:r>
            <a:r>
              <a:rPr lang="en-US" b="0" i="0" dirty="0">
                <a:solidFill>
                  <a:srgbClr val="040C28"/>
                </a:solidFill>
                <a:effectLst/>
                <a:latin typeface="Google Sans"/>
              </a:rPr>
              <a:t>a form of marketing businesses that provide a service to their customers use to increase brand awareness and sales</a:t>
            </a:r>
            <a:r>
              <a:rPr lang="en-US" b="0" i="0" dirty="0">
                <a:solidFill>
                  <a:srgbClr val="202124"/>
                </a:solidFill>
                <a:effectLst/>
                <a:latin typeface="Google Sans"/>
              </a:rPr>
              <a:t>. Unlike product marketing, services marketing focuses on advertising intangible transactions that provide value to customers.</a:t>
            </a:r>
          </a:p>
          <a:p>
            <a:pPr algn="just"/>
            <a:r>
              <a:rPr lang="en-US" dirty="0">
                <a:solidFill>
                  <a:srgbClr val="202124"/>
                </a:solidFill>
                <a:latin typeface="Google Sans"/>
              </a:rPr>
              <a:t>Examples of services marketing organizations</a:t>
            </a:r>
          </a:p>
          <a:p>
            <a:pPr marL="514350" indent="-514350" algn="just">
              <a:buFont typeface="+mj-lt"/>
              <a:buAutoNum type="arabicPeriod"/>
            </a:pPr>
            <a:r>
              <a:rPr lang="en-US" dirty="0">
                <a:solidFill>
                  <a:srgbClr val="202124"/>
                </a:solidFill>
                <a:latin typeface="Google Sans"/>
              </a:rPr>
              <a:t>Financial Services: Banks, Insurance companies, Stock exchange companies.</a:t>
            </a:r>
          </a:p>
          <a:p>
            <a:pPr marL="514350" indent="-514350" algn="just">
              <a:buFont typeface="+mj-lt"/>
              <a:buAutoNum type="arabicPeriod"/>
            </a:pPr>
            <a:r>
              <a:rPr lang="en-US" dirty="0">
                <a:solidFill>
                  <a:srgbClr val="202124"/>
                </a:solidFill>
                <a:latin typeface="Google Sans"/>
              </a:rPr>
              <a:t>Education Services: Schools, Colleges, training institutes</a:t>
            </a:r>
          </a:p>
          <a:p>
            <a:pPr marL="514350" indent="-514350" algn="just">
              <a:buFont typeface="+mj-lt"/>
              <a:buAutoNum type="arabicPeriod"/>
            </a:pPr>
            <a:r>
              <a:rPr lang="en-US" dirty="0">
                <a:solidFill>
                  <a:srgbClr val="202124"/>
                </a:solidFill>
                <a:latin typeface="Google Sans"/>
              </a:rPr>
              <a:t>Entertainment Services: Amusement parks, cinema halls, </a:t>
            </a:r>
            <a:r>
              <a:rPr lang="en-US" dirty="0" err="1">
                <a:solidFill>
                  <a:srgbClr val="202124"/>
                </a:solidFill>
                <a:latin typeface="Google Sans"/>
              </a:rPr>
              <a:t>etc</a:t>
            </a:r>
            <a:endParaRPr lang="en-US" dirty="0">
              <a:solidFill>
                <a:srgbClr val="202124"/>
              </a:solidFill>
              <a:latin typeface="Google Sans"/>
            </a:endParaRPr>
          </a:p>
          <a:p>
            <a:pPr marL="514350" indent="-514350" algn="just">
              <a:buFont typeface="+mj-lt"/>
              <a:buAutoNum type="arabicPeriod"/>
            </a:pPr>
            <a:r>
              <a:rPr lang="en-US" dirty="0">
                <a:solidFill>
                  <a:srgbClr val="202124"/>
                </a:solidFill>
                <a:latin typeface="Google Sans"/>
              </a:rPr>
              <a:t>Medical Services: Hospitals, diagnostic centers </a:t>
            </a:r>
            <a:r>
              <a:rPr lang="en-US" dirty="0" err="1">
                <a:solidFill>
                  <a:srgbClr val="202124"/>
                </a:solidFill>
                <a:latin typeface="Google Sans"/>
              </a:rPr>
              <a:t>etc</a:t>
            </a:r>
            <a:endParaRPr lang="en-US" dirty="0">
              <a:solidFill>
                <a:srgbClr val="202124"/>
              </a:solidFill>
              <a:latin typeface="Google Sans"/>
            </a:endParaRPr>
          </a:p>
          <a:p>
            <a:pPr marL="514350" indent="-514350" algn="just">
              <a:buFont typeface="+mj-lt"/>
              <a:buAutoNum type="arabicPeriod"/>
            </a:pPr>
            <a:r>
              <a:rPr lang="en-US" dirty="0">
                <a:solidFill>
                  <a:srgbClr val="202124"/>
                </a:solidFill>
                <a:latin typeface="Google Sans"/>
              </a:rPr>
              <a:t>Tours and Travel : Transportation companies, Package tour </a:t>
            </a:r>
            <a:r>
              <a:rPr lang="en-US" dirty="0" err="1">
                <a:solidFill>
                  <a:srgbClr val="202124"/>
                </a:solidFill>
                <a:latin typeface="Google Sans"/>
              </a:rPr>
              <a:t>organaizers</a:t>
            </a:r>
            <a:r>
              <a:rPr lang="en-US" dirty="0">
                <a:solidFill>
                  <a:srgbClr val="202124"/>
                </a:solidFill>
                <a:latin typeface="Google Sans"/>
              </a:rPr>
              <a:t> </a:t>
            </a:r>
            <a:r>
              <a:rPr lang="en-US" dirty="0" err="1">
                <a:solidFill>
                  <a:srgbClr val="202124"/>
                </a:solidFill>
                <a:latin typeface="Google Sans"/>
              </a:rPr>
              <a:t>etc</a:t>
            </a:r>
            <a:endParaRPr lang="en-IN" dirty="0"/>
          </a:p>
        </p:txBody>
      </p:sp>
    </p:spTree>
    <p:extLst>
      <p:ext uri="{BB962C8B-B14F-4D97-AF65-F5344CB8AC3E}">
        <p14:creationId xmlns:p14="http://schemas.microsoft.com/office/powerpoint/2010/main" xmlns="" val="2710630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4 Characteristics of Service">
            <a:extLst>
              <a:ext uri="{FF2B5EF4-FFF2-40B4-BE49-F238E27FC236}">
                <a16:creationId xmlns:a16="http://schemas.microsoft.com/office/drawing/2014/main" xmlns="" id="{43FFBE69-33B7-175E-5A4B-C831FA28C945}"/>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37419" y="255638"/>
            <a:ext cx="10844981" cy="660236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572534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35072F-28B8-ACB8-AF41-DB94F7854BE4}"/>
              </a:ext>
            </a:extLst>
          </p:cNvPr>
          <p:cNvSpPr>
            <a:spLocks noGrp="1"/>
          </p:cNvSpPr>
          <p:nvPr>
            <p:ph type="title"/>
          </p:nvPr>
        </p:nvSpPr>
        <p:spPr>
          <a:xfrm>
            <a:off x="838200" y="365126"/>
            <a:ext cx="10515600" cy="500114"/>
          </a:xfrm>
        </p:spPr>
        <p:txBody>
          <a:bodyPr>
            <a:normAutofit fontScale="90000"/>
          </a:bodyPr>
          <a:lstStyle/>
          <a:p>
            <a:r>
              <a:rPr lang="en-US" dirty="0"/>
              <a:t>Difference between goods and services marketing</a:t>
            </a:r>
            <a:endParaRPr lang="en-IN" dirty="0"/>
          </a:p>
        </p:txBody>
      </p:sp>
      <p:pic>
        <p:nvPicPr>
          <p:cNvPr id="5" name="Picture 4">
            <a:extLst>
              <a:ext uri="{FF2B5EF4-FFF2-40B4-BE49-F238E27FC236}">
                <a16:creationId xmlns:a16="http://schemas.microsoft.com/office/drawing/2014/main" xmlns="" id="{90D642D9-AFE3-E131-3D31-FF5B0004C91F}"/>
              </a:ext>
            </a:extLst>
          </p:cNvPr>
          <p:cNvPicPr>
            <a:picLocks noChangeAspect="1"/>
          </p:cNvPicPr>
          <p:nvPr/>
        </p:nvPicPr>
        <p:blipFill>
          <a:blip r:embed="rId2"/>
          <a:stretch>
            <a:fillRect/>
          </a:stretch>
        </p:blipFill>
        <p:spPr>
          <a:xfrm>
            <a:off x="717756" y="993059"/>
            <a:ext cx="10636044" cy="5388076"/>
          </a:xfrm>
          <a:prstGeom prst="rect">
            <a:avLst/>
          </a:prstGeom>
        </p:spPr>
      </p:pic>
    </p:spTree>
    <p:extLst>
      <p:ext uri="{BB962C8B-B14F-4D97-AF65-F5344CB8AC3E}">
        <p14:creationId xmlns:p14="http://schemas.microsoft.com/office/powerpoint/2010/main" xmlns="" val="612419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C36374-16A2-5D69-FCC3-728CF6B7197A}"/>
              </a:ext>
            </a:extLst>
          </p:cNvPr>
          <p:cNvSpPr>
            <a:spLocks noGrp="1"/>
          </p:cNvSpPr>
          <p:nvPr>
            <p:ph type="title"/>
          </p:nvPr>
        </p:nvSpPr>
        <p:spPr>
          <a:xfrm>
            <a:off x="838200" y="365126"/>
            <a:ext cx="10515600" cy="687820"/>
          </a:xfrm>
        </p:spPr>
        <p:txBody>
          <a:bodyPr>
            <a:normAutofit fontScale="90000"/>
          </a:bodyPr>
          <a:lstStyle/>
          <a:p>
            <a:r>
              <a:rPr lang="en-US" dirty="0"/>
              <a:t>7 Ps of Services Marketing Mix</a:t>
            </a:r>
            <a:endParaRPr lang="en-IN" dirty="0"/>
          </a:p>
        </p:txBody>
      </p:sp>
      <p:pic>
        <p:nvPicPr>
          <p:cNvPr id="4" name="Picture 3">
            <a:extLst>
              <a:ext uri="{FF2B5EF4-FFF2-40B4-BE49-F238E27FC236}">
                <a16:creationId xmlns:a16="http://schemas.microsoft.com/office/drawing/2014/main" xmlns="" id="{1A12B64C-F51D-E768-DC2B-EECAA7FEA0FE}"/>
              </a:ext>
            </a:extLst>
          </p:cNvPr>
          <p:cNvPicPr>
            <a:picLocks noChangeAspect="1"/>
          </p:cNvPicPr>
          <p:nvPr/>
        </p:nvPicPr>
        <p:blipFill>
          <a:blip r:embed="rId2"/>
          <a:stretch>
            <a:fillRect/>
          </a:stretch>
        </p:blipFill>
        <p:spPr>
          <a:xfrm>
            <a:off x="1330037" y="979054"/>
            <a:ext cx="9208654" cy="5878945"/>
          </a:xfrm>
          <a:prstGeom prst="rect">
            <a:avLst/>
          </a:prstGeom>
        </p:spPr>
      </p:pic>
    </p:spTree>
    <p:extLst>
      <p:ext uri="{BB962C8B-B14F-4D97-AF65-F5344CB8AC3E}">
        <p14:creationId xmlns:p14="http://schemas.microsoft.com/office/powerpoint/2010/main" xmlns="" val="3006579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80B4EAAF-5902-B102-9621-F8A508AF323F}"/>
              </a:ext>
            </a:extLst>
          </p:cNvPr>
          <p:cNvPicPr>
            <a:picLocks noChangeAspect="1"/>
          </p:cNvPicPr>
          <p:nvPr/>
        </p:nvPicPr>
        <p:blipFill>
          <a:blip r:embed="rId2"/>
          <a:stretch>
            <a:fillRect/>
          </a:stretch>
        </p:blipFill>
        <p:spPr>
          <a:xfrm>
            <a:off x="508000" y="213360"/>
            <a:ext cx="11176000" cy="6390640"/>
          </a:xfrm>
          <a:prstGeom prst="rect">
            <a:avLst/>
          </a:prstGeom>
        </p:spPr>
      </p:pic>
    </p:spTree>
    <p:extLst>
      <p:ext uri="{BB962C8B-B14F-4D97-AF65-F5344CB8AC3E}">
        <p14:creationId xmlns:p14="http://schemas.microsoft.com/office/powerpoint/2010/main" xmlns="" val="964970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D6E5DE-DA1D-347A-B168-F57F8891F915}"/>
              </a:ext>
            </a:extLst>
          </p:cNvPr>
          <p:cNvSpPr>
            <a:spLocks noGrp="1"/>
          </p:cNvSpPr>
          <p:nvPr>
            <p:ph type="title"/>
          </p:nvPr>
        </p:nvSpPr>
        <p:spPr>
          <a:xfrm>
            <a:off x="838200" y="365125"/>
            <a:ext cx="10515600" cy="691515"/>
          </a:xfrm>
        </p:spPr>
        <p:txBody>
          <a:bodyPr>
            <a:normAutofit fontScale="90000"/>
          </a:bodyPr>
          <a:lstStyle/>
          <a:p>
            <a:r>
              <a:rPr lang="en-US" dirty="0"/>
              <a:t>Digital Marketing </a:t>
            </a:r>
            <a:endParaRPr lang="en-IN" dirty="0"/>
          </a:p>
        </p:txBody>
      </p:sp>
      <p:sp>
        <p:nvSpPr>
          <p:cNvPr id="3" name="Content Placeholder 2">
            <a:extLst>
              <a:ext uri="{FF2B5EF4-FFF2-40B4-BE49-F238E27FC236}">
                <a16:creationId xmlns:a16="http://schemas.microsoft.com/office/drawing/2014/main" xmlns="" id="{59ACE14F-5BA5-8AC3-D111-6DD5462FDA58}"/>
              </a:ext>
            </a:extLst>
          </p:cNvPr>
          <p:cNvSpPr>
            <a:spLocks noGrp="1"/>
          </p:cNvSpPr>
          <p:nvPr>
            <p:ph idx="1"/>
          </p:nvPr>
        </p:nvSpPr>
        <p:spPr>
          <a:xfrm>
            <a:off x="838200" y="1056640"/>
            <a:ext cx="10515600" cy="5120323"/>
          </a:xfrm>
        </p:spPr>
        <p:txBody>
          <a:bodyPr>
            <a:normAutofit/>
          </a:bodyPr>
          <a:lstStyle/>
          <a:p>
            <a:pPr algn="just"/>
            <a:r>
              <a:rPr lang="en-US" sz="3200" b="0" i="0" dirty="0">
                <a:solidFill>
                  <a:srgbClr val="241C15"/>
                </a:solidFill>
                <a:effectLst/>
                <a:latin typeface="Times New Roman" panose="02020603050405020304" pitchFamily="18" charset="0"/>
                <a:cs typeface="Times New Roman" panose="02020603050405020304" pitchFamily="18" charset="0"/>
              </a:rPr>
              <a:t>Any marketing that uses electronic devices and can be used by marketing specialists to convey promotional messaging and measure its impact through your customer journey. In practice, digital marketing typically refers to marketing campaigns that appear on a computer, phone, tablet, or other device. It can take many forms, including online video, </a:t>
            </a:r>
            <a:r>
              <a:rPr lang="en-US" sz="3200" b="0" i="0" u="none" strike="noStrike" dirty="0">
                <a:solidFill>
                  <a:srgbClr val="004E56"/>
                </a:solidFill>
                <a:effectLst/>
                <a:latin typeface="Times New Roman" panose="02020603050405020304" pitchFamily="18" charset="0"/>
                <a:cs typeface="Times New Roman" panose="02020603050405020304" pitchFamily="18" charset="0"/>
              </a:rPr>
              <a:t>display ads</a:t>
            </a:r>
            <a:r>
              <a:rPr lang="en-US" sz="3200" b="0" i="0" dirty="0">
                <a:solidFill>
                  <a:srgbClr val="241C15"/>
                </a:solidFill>
                <a:effectLst/>
                <a:latin typeface="Times New Roman" panose="02020603050405020304" pitchFamily="18" charset="0"/>
                <a:cs typeface="Times New Roman" panose="02020603050405020304" pitchFamily="18" charset="0"/>
              </a:rPr>
              <a:t>, search engine marketing, paid social ads and social media posts. Digital marketing is often compared to “traditional marketing” such as magazine ads, billboards, and </a:t>
            </a:r>
            <a:r>
              <a:rPr lang="en-US" sz="3200" b="0" i="0" u="none" strike="noStrike" dirty="0">
                <a:solidFill>
                  <a:srgbClr val="004E56"/>
                </a:solidFill>
                <a:effectLst/>
                <a:latin typeface="Times New Roman" panose="02020603050405020304" pitchFamily="18" charset="0"/>
                <a:cs typeface="Times New Roman" panose="02020603050405020304" pitchFamily="18" charset="0"/>
              </a:rPr>
              <a:t>direct mail</a:t>
            </a:r>
            <a:r>
              <a:rPr lang="en-US" sz="3200" b="0" i="0" dirty="0">
                <a:solidFill>
                  <a:srgbClr val="241C15"/>
                </a:solidFill>
                <a:effectLst/>
                <a:latin typeface="Times New Roman" panose="02020603050405020304" pitchFamily="18" charset="0"/>
                <a:cs typeface="Times New Roman" panose="02020603050405020304" pitchFamily="18" charset="0"/>
              </a:rPr>
              <a:t>. Oddly, television is usually lumped in with </a:t>
            </a:r>
            <a:r>
              <a:rPr lang="en-US" sz="3200" b="0" i="0" u="none" strike="noStrike" dirty="0">
                <a:solidFill>
                  <a:srgbClr val="004E56"/>
                </a:solidFill>
                <a:effectLst/>
                <a:latin typeface="Times New Roman" panose="02020603050405020304" pitchFamily="18" charset="0"/>
                <a:cs typeface="Times New Roman" panose="02020603050405020304" pitchFamily="18" charset="0"/>
              </a:rPr>
              <a:t>traditional marketing</a:t>
            </a:r>
            <a:r>
              <a:rPr lang="en-US" sz="3200" b="0" i="0" dirty="0">
                <a:solidFill>
                  <a:srgbClr val="241C15"/>
                </a:solidFill>
                <a:effectLst/>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530583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479C93-8546-F026-6B3D-14305BADA9D1}"/>
              </a:ext>
            </a:extLst>
          </p:cNvPr>
          <p:cNvSpPr>
            <a:spLocks noGrp="1"/>
          </p:cNvSpPr>
          <p:nvPr>
            <p:ph type="title"/>
          </p:nvPr>
        </p:nvSpPr>
        <p:spPr>
          <a:xfrm>
            <a:off x="838200" y="365125"/>
            <a:ext cx="10515600" cy="701675"/>
          </a:xfrm>
        </p:spPr>
        <p:txBody>
          <a:bodyPr/>
          <a:lstStyle/>
          <a:p>
            <a:r>
              <a:rPr lang="en-US" dirty="0"/>
              <a:t>Social Media Marketing</a:t>
            </a:r>
            <a:endParaRPr lang="en-IN" dirty="0"/>
          </a:p>
        </p:txBody>
      </p:sp>
      <p:sp>
        <p:nvSpPr>
          <p:cNvPr id="3" name="Content Placeholder 2">
            <a:extLst>
              <a:ext uri="{FF2B5EF4-FFF2-40B4-BE49-F238E27FC236}">
                <a16:creationId xmlns:a16="http://schemas.microsoft.com/office/drawing/2014/main" xmlns="" id="{76501BBF-37CA-BD9B-972D-2CD6FA532EE5}"/>
              </a:ext>
            </a:extLst>
          </p:cNvPr>
          <p:cNvSpPr>
            <a:spLocks noGrp="1"/>
          </p:cNvSpPr>
          <p:nvPr>
            <p:ph idx="1"/>
          </p:nvPr>
        </p:nvSpPr>
        <p:spPr>
          <a:xfrm>
            <a:off x="838200" y="1148080"/>
            <a:ext cx="10515600" cy="5028883"/>
          </a:xfrm>
        </p:spPr>
        <p:txBody>
          <a:bodyPr/>
          <a:lstStyle/>
          <a:p>
            <a:pPr algn="just"/>
            <a:r>
              <a:rPr lang="en-US" sz="3200" b="0" i="0" dirty="0">
                <a:effectLst/>
                <a:latin typeface="Times New Roman" panose="02020603050405020304" pitchFamily="18" charset="0"/>
                <a:cs typeface="Times New Roman" panose="02020603050405020304" pitchFamily="18" charset="0"/>
              </a:rPr>
              <a:t>Social media marketing means </a:t>
            </a:r>
            <a:r>
              <a:rPr lang="en-US" sz="3200" b="0" i="0" u="none" strike="noStrike" dirty="0">
                <a:solidFill>
                  <a:srgbClr val="004E56"/>
                </a:solidFill>
                <a:effectLst/>
                <a:latin typeface="Times New Roman" panose="02020603050405020304" pitchFamily="18" charset="0"/>
                <a:cs typeface="Times New Roman" panose="02020603050405020304" pitchFamily="18" charset="0"/>
              </a:rPr>
              <a:t>driving traffic</a:t>
            </a:r>
            <a:r>
              <a:rPr lang="en-US" sz="3200" b="0" i="0" dirty="0">
                <a:effectLst/>
                <a:latin typeface="Times New Roman" panose="02020603050405020304" pitchFamily="18" charset="0"/>
                <a:cs typeface="Times New Roman" panose="02020603050405020304" pitchFamily="18" charset="0"/>
              </a:rPr>
              <a:t> and </a:t>
            </a:r>
            <a:r>
              <a:rPr lang="en-US" sz="3200" b="0" i="0" u="none" strike="noStrike" dirty="0">
                <a:solidFill>
                  <a:srgbClr val="004E56"/>
                </a:solidFill>
                <a:effectLst/>
                <a:latin typeface="Times New Roman" panose="02020603050405020304" pitchFamily="18" charset="0"/>
                <a:cs typeface="Times New Roman" panose="02020603050405020304" pitchFamily="18" charset="0"/>
              </a:rPr>
              <a:t>brand awareness</a:t>
            </a:r>
            <a:r>
              <a:rPr lang="en-US" sz="3200" b="0" i="0" dirty="0">
                <a:effectLst/>
                <a:latin typeface="Times New Roman" panose="02020603050405020304" pitchFamily="18" charset="0"/>
                <a:cs typeface="Times New Roman" panose="02020603050405020304" pitchFamily="18" charset="0"/>
              </a:rPr>
              <a:t> by engaging people in discussion online. You can use social media marketing to highlight your brand, products, services, culture, and more. With billions of people spending their time engaging on social media platforms, focusing on social media marketing can be worthwhile.</a:t>
            </a:r>
          </a:p>
          <a:p>
            <a:pPr algn="just"/>
            <a:r>
              <a:rPr lang="en-US" sz="3200" b="0" i="0" dirty="0">
                <a:effectLst/>
                <a:latin typeface="Times New Roman" panose="02020603050405020304" pitchFamily="18" charset="0"/>
                <a:cs typeface="Times New Roman" panose="02020603050405020304" pitchFamily="18" charset="0"/>
              </a:rPr>
              <a:t>The most popular digital platforms for social media marketing are </a:t>
            </a:r>
            <a:r>
              <a:rPr lang="en-US" sz="3200" b="0" i="0" u="none" strike="noStrike" dirty="0">
                <a:solidFill>
                  <a:srgbClr val="004E56"/>
                </a:solidFill>
                <a:effectLst/>
                <a:latin typeface="Times New Roman" panose="02020603050405020304" pitchFamily="18" charset="0"/>
                <a:cs typeface="Times New Roman" panose="02020603050405020304" pitchFamily="18" charset="0"/>
              </a:rPr>
              <a:t>Facebook</a:t>
            </a:r>
            <a:r>
              <a:rPr lang="en-US" sz="3200" b="0" i="0" dirty="0">
                <a:effectLst/>
                <a:latin typeface="Times New Roman" panose="02020603050405020304" pitchFamily="18" charset="0"/>
                <a:cs typeface="Times New Roman" panose="02020603050405020304" pitchFamily="18" charset="0"/>
              </a:rPr>
              <a:t>, Twitter, and </a:t>
            </a:r>
            <a:r>
              <a:rPr lang="en-US" sz="3200" b="0" i="0" u="none" strike="noStrike" dirty="0">
                <a:solidFill>
                  <a:srgbClr val="004E56"/>
                </a:solidFill>
                <a:effectLst/>
                <a:latin typeface="Times New Roman" panose="02020603050405020304" pitchFamily="18" charset="0"/>
                <a:cs typeface="Times New Roman" panose="02020603050405020304" pitchFamily="18" charset="0"/>
              </a:rPr>
              <a:t>Instagram</a:t>
            </a:r>
            <a:r>
              <a:rPr lang="en-US" sz="3200" b="0" i="0" dirty="0">
                <a:effectLst/>
                <a:latin typeface="Times New Roman" panose="02020603050405020304" pitchFamily="18" charset="0"/>
                <a:cs typeface="Times New Roman" panose="02020603050405020304" pitchFamily="18" charset="0"/>
              </a:rPr>
              <a:t>, with LinkedIn and </a:t>
            </a:r>
            <a:r>
              <a:rPr lang="en-US" sz="3200" b="0" i="0" u="none" strike="noStrike" dirty="0">
                <a:solidFill>
                  <a:srgbClr val="004E56"/>
                </a:solidFill>
                <a:effectLst/>
                <a:latin typeface="Times New Roman" panose="02020603050405020304" pitchFamily="18" charset="0"/>
                <a:cs typeface="Times New Roman" panose="02020603050405020304" pitchFamily="18" charset="0"/>
              </a:rPr>
              <a:t>YouTube</a:t>
            </a:r>
            <a:r>
              <a:rPr lang="en-US" sz="3200" b="0" i="0" dirty="0">
                <a:effectLst/>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xmlns="" val="266095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D36C563A-1377-8BF0-22EC-EC2D88FF6C3C}"/>
              </a:ext>
            </a:extLst>
          </p:cNvPr>
          <p:cNvPicPr>
            <a:picLocks noChangeAspect="1"/>
          </p:cNvPicPr>
          <p:nvPr/>
        </p:nvPicPr>
        <p:blipFill>
          <a:blip r:embed="rId2"/>
          <a:stretch>
            <a:fillRect/>
          </a:stretch>
        </p:blipFill>
        <p:spPr>
          <a:xfrm>
            <a:off x="1244375" y="314960"/>
            <a:ext cx="9703249" cy="6390640"/>
          </a:xfrm>
          <a:prstGeom prst="rect">
            <a:avLst/>
          </a:prstGeom>
        </p:spPr>
      </p:pic>
    </p:spTree>
    <p:extLst>
      <p:ext uri="{BB962C8B-B14F-4D97-AF65-F5344CB8AC3E}">
        <p14:creationId xmlns:p14="http://schemas.microsoft.com/office/powerpoint/2010/main" xmlns="" val="3799728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D1EC09-5296-174A-357E-BC0386711B22}"/>
              </a:ext>
            </a:extLst>
          </p:cNvPr>
          <p:cNvSpPr>
            <a:spLocks noGrp="1"/>
          </p:cNvSpPr>
          <p:nvPr>
            <p:ph type="title"/>
          </p:nvPr>
        </p:nvSpPr>
        <p:spPr>
          <a:xfrm>
            <a:off x="838200" y="365126"/>
            <a:ext cx="10515600" cy="647598"/>
          </a:xfrm>
        </p:spPr>
        <p:txBody>
          <a:bodyPr>
            <a:normAutofit fontScale="90000"/>
          </a:bodyPr>
          <a:lstStyle/>
          <a:p>
            <a:r>
              <a:rPr lang="en-US" dirty="0"/>
              <a:t>Differences between social media Vs. Digital media</a:t>
            </a:r>
            <a:endParaRPr lang="en-IN" dirty="0"/>
          </a:p>
        </p:txBody>
      </p:sp>
      <p:pic>
        <p:nvPicPr>
          <p:cNvPr id="5" name="Picture 4">
            <a:extLst>
              <a:ext uri="{FF2B5EF4-FFF2-40B4-BE49-F238E27FC236}">
                <a16:creationId xmlns:a16="http://schemas.microsoft.com/office/drawing/2014/main" xmlns="" id="{F7F38F5E-86E9-733B-E018-90F409142087}"/>
              </a:ext>
            </a:extLst>
          </p:cNvPr>
          <p:cNvPicPr>
            <a:picLocks noChangeAspect="1"/>
          </p:cNvPicPr>
          <p:nvPr/>
        </p:nvPicPr>
        <p:blipFill>
          <a:blip r:embed="rId2"/>
          <a:stretch>
            <a:fillRect/>
          </a:stretch>
        </p:blipFill>
        <p:spPr>
          <a:xfrm>
            <a:off x="747251" y="1133474"/>
            <a:ext cx="10717161" cy="5493467"/>
          </a:xfrm>
          <a:prstGeom prst="rect">
            <a:avLst/>
          </a:prstGeom>
        </p:spPr>
      </p:pic>
    </p:spTree>
    <p:extLst>
      <p:ext uri="{BB962C8B-B14F-4D97-AF65-F5344CB8AC3E}">
        <p14:creationId xmlns:p14="http://schemas.microsoft.com/office/powerpoint/2010/main" xmlns="" val="3912250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1B9D9B58-8E9A-BD1D-C386-497A74B53044}"/>
              </a:ext>
            </a:extLst>
          </p:cNvPr>
          <p:cNvPicPr>
            <a:picLocks noChangeAspect="1"/>
          </p:cNvPicPr>
          <p:nvPr/>
        </p:nvPicPr>
        <p:blipFill>
          <a:blip r:embed="rId2"/>
          <a:stretch>
            <a:fillRect/>
          </a:stretch>
        </p:blipFill>
        <p:spPr>
          <a:xfrm>
            <a:off x="698090" y="393290"/>
            <a:ext cx="10579510" cy="5997678"/>
          </a:xfrm>
          <a:prstGeom prst="rect">
            <a:avLst/>
          </a:prstGeom>
        </p:spPr>
      </p:pic>
    </p:spTree>
    <p:extLst>
      <p:ext uri="{BB962C8B-B14F-4D97-AF65-F5344CB8AC3E}">
        <p14:creationId xmlns:p14="http://schemas.microsoft.com/office/powerpoint/2010/main" xmlns="" val="103471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496007-1697-F7F4-AD76-7830A04EC42E}"/>
              </a:ext>
            </a:extLst>
          </p:cNvPr>
          <p:cNvSpPr>
            <a:spLocks noGrp="1"/>
          </p:cNvSpPr>
          <p:nvPr>
            <p:ph type="title"/>
          </p:nvPr>
        </p:nvSpPr>
        <p:spPr/>
        <p:txBody>
          <a:bodyPr/>
          <a:lstStyle/>
          <a:p>
            <a:r>
              <a:rPr lang="en-US" b="1" dirty="0">
                <a:solidFill>
                  <a:srgbClr val="00B050"/>
                </a:solidFill>
              </a:rPr>
              <a:t>Green Marketing</a:t>
            </a:r>
            <a:endParaRPr lang="en-IN" b="1" dirty="0">
              <a:solidFill>
                <a:srgbClr val="00B050"/>
              </a:solidFill>
            </a:endParaRPr>
          </a:p>
        </p:txBody>
      </p:sp>
      <p:sp>
        <p:nvSpPr>
          <p:cNvPr id="3" name="Content Placeholder 2">
            <a:extLst>
              <a:ext uri="{FF2B5EF4-FFF2-40B4-BE49-F238E27FC236}">
                <a16:creationId xmlns:a16="http://schemas.microsoft.com/office/drawing/2014/main" xmlns="" id="{C4D9695C-5E58-40D3-2445-C08E0F061213}"/>
              </a:ext>
            </a:extLst>
          </p:cNvPr>
          <p:cNvSpPr>
            <a:spLocks noGrp="1"/>
          </p:cNvSpPr>
          <p:nvPr>
            <p:ph idx="1"/>
          </p:nvPr>
        </p:nvSpPr>
        <p:spPr>
          <a:xfrm>
            <a:off x="838200" y="1347019"/>
            <a:ext cx="10515600" cy="4829944"/>
          </a:xfrm>
        </p:spPr>
        <p:txBody>
          <a:bodyPr/>
          <a:lstStyle/>
          <a:p>
            <a:pPr algn="just"/>
            <a:r>
              <a:rPr lang="en-US" b="0" i="0" dirty="0">
                <a:solidFill>
                  <a:srgbClr val="111111"/>
                </a:solidFill>
                <a:effectLst/>
                <a:latin typeface="Times New Roman" panose="02020603050405020304" pitchFamily="18" charset="0"/>
                <a:cs typeface="Times New Roman" panose="02020603050405020304" pitchFamily="18" charset="0"/>
              </a:rPr>
              <a:t>Green marketing refers to the practice of developing and advertising products based on their real or perceived environmental sustainability. </a:t>
            </a:r>
          </a:p>
          <a:p>
            <a:pPr algn="just"/>
            <a:r>
              <a:rPr lang="en-US" b="0" i="0" dirty="0">
                <a:solidFill>
                  <a:srgbClr val="111111"/>
                </a:solidFill>
                <a:effectLst/>
                <a:latin typeface="Times New Roman" panose="02020603050405020304" pitchFamily="18" charset="0"/>
                <a:cs typeface="Times New Roman" panose="02020603050405020304" pitchFamily="18" charset="0"/>
              </a:rPr>
              <a:t>Examples of green marketing include advertising the reduced emissions associated with a product’s manufacturing process, or the use of post-consumer recycled materials for a product's packaging. Some companies also may market themselves as being environmentally-conscious companies by </a:t>
            </a:r>
            <a:r>
              <a:rPr lang="en-US" b="0" i="0" dirty="0">
                <a:effectLst/>
                <a:latin typeface="Times New Roman" panose="02020603050405020304" pitchFamily="18" charset="0"/>
                <a:cs typeface="Times New Roman" panose="02020603050405020304" pitchFamily="18" charset="0"/>
              </a:rPr>
              <a:t>donating</a:t>
            </a:r>
            <a:r>
              <a:rPr lang="en-US" b="0" i="0" dirty="0">
                <a:solidFill>
                  <a:srgbClr val="111111"/>
                </a:solidFill>
                <a:effectLst/>
                <a:latin typeface="Times New Roman" panose="02020603050405020304" pitchFamily="18" charset="0"/>
                <a:cs typeface="Times New Roman" panose="02020603050405020304" pitchFamily="18" charset="0"/>
              </a:rPr>
              <a:t> a portion of their sales proceeds to environmental initiatives, such as tree planting.</a:t>
            </a:r>
          </a:p>
          <a:p>
            <a:endParaRPr lang="en-IN" dirty="0"/>
          </a:p>
        </p:txBody>
      </p:sp>
    </p:spTree>
    <p:extLst>
      <p:ext uri="{BB962C8B-B14F-4D97-AF65-F5344CB8AC3E}">
        <p14:creationId xmlns:p14="http://schemas.microsoft.com/office/powerpoint/2010/main" xmlns="" val="3871606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reen Marketing">
            <a:extLst>
              <a:ext uri="{FF2B5EF4-FFF2-40B4-BE49-F238E27FC236}">
                <a16:creationId xmlns:a16="http://schemas.microsoft.com/office/drawing/2014/main" xmlns="" id="{ADC52448-6A8A-D588-EE4E-FB23A645C1D3}"/>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8322" y="213851"/>
            <a:ext cx="12015019" cy="643029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548060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Green is Your Marketing Strategy? - Spiceworks">
            <a:extLst>
              <a:ext uri="{FF2B5EF4-FFF2-40B4-BE49-F238E27FC236}">
                <a16:creationId xmlns:a16="http://schemas.microsoft.com/office/drawing/2014/main" xmlns="" id="{1597D0DE-1FB2-4685-B5A4-DA4231E82145}"/>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0078" y="127819"/>
            <a:ext cx="12063096" cy="664660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27486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Green marketing - Green Clean Guide">
            <a:extLst>
              <a:ext uri="{FF2B5EF4-FFF2-40B4-BE49-F238E27FC236}">
                <a16:creationId xmlns:a16="http://schemas.microsoft.com/office/drawing/2014/main" xmlns="" id="{291FC341-F422-5149-4FB6-4705954BF9B3}"/>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06475" y="108156"/>
            <a:ext cx="10179050" cy="666135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69633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8CB86A2F-F4C2-7255-A820-6CB1420E6D7F}"/>
              </a:ext>
            </a:extLst>
          </p:cNvPr>
          <p:cNvPicPr>
            <a:picLocks noChangeAspect="1"/>
          </p:cNvPicPr>
          <p:nvPr/>
        </p:nvPicPr>
        <p:blipFill>
          <a:blip r:embed="rId2"/>
          <a:stretch>
            <a:fillRect/>
          </a:stretch>
        </p:blipFill>
        <p:spPr>
          <a:xfrm>
            <a:off x="717754" y="344129"/>
            <a:ext cx="10953135" cy="6243484"/>
          </a:xfrm>
          <a:prstGeom prst="rect">
            <a:avLst/>
          </a:prstGeom>
        </p:spPr>
      </p:pic>
    </p:spTree>
    <p:extLst>
      <p:ext uri="{BB962C8B-B14F-4D97-AF65-F5344CB8AC3E}">
        <p14:creationId xmlns:p14="http://schemas.microsoft.com/office/powerpoint/2010/main" xmlns="" val="1642457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FD131B-00EB-BA69-E8B3-2055856FC13F}"/>
              </a:ext>
            </a:extLst>
          </p:cNvPr>
          <p:cNvSpPr>
            <a:spLocks noGrp="1"/>
          </p:cNvSpPr>
          <p:nvPr>
            <p:ph type="title"/>
          </p:nvPr>
        </p:nvSpPr>
        <p:spPr>
          <a:xfrm>
            <a:off x="838200" y="365126"/>
            <a:ext cx="10515600" cy="726256"/>
          </a:xfrm>
        </p:spPr>
        <p:txBody>
          <a:bodyPr/>
          <a:lstStyle/>
          <a:p>
            <a:r>
              <a:rPr lang="en-US" dirty="0"/>
              <a:t>Event Marketing</a:t>
            </a:r>
            <a:endParaRPr lang="en-IN" dirty="0"/>
          </a:p>
        </p:txBody>
      </p:sp>
      <p:sp>
        <p:nvSpPr>
          <p:cNvPr id="3" name="Content Placeholder 2">
            <a:extLst>
              <a:ext uri="{FF2B5EF4-FFF2-40B4-BE49-F238E27FC236}">
                <a16:creationId xmlns:a16="http://schemas.microsoft.com/office/drawing/2014/main" xmlns="" id="{682DA55F-777D-6110-303F-0ECC64C63B2D}"/>
              </a:ext>
            </a:extLst>
          </p:cNvPr>
          <p:cNvSpPr>
            <a:spLocks noGrp="1"/>
          </p:cNvSpPr>
          <p:nvPr>
            <p:ph idx="1"/>
          </p:nvPr>
        </p:nvSpPr>
        <p:spPr>
          <a:xfrm>
            <a:off x="838200" y="1091382"/>
            <a:ext cx="10515600" cy="5085581"/>
          </a:xfrm>
        </p:spPr>
        <p:txBody>
          <a:bodyPr/>
          <a:lstStyle/>
          <a:p>
            <a:pPr algn="just"/>
            <a:r>
              <a:rPr lang="en-US" b="0" i="0" dirty="0">
                <a:solidFill>
                  <a:srgbClr val="273245"/>
                </a:solidFill>
                <a:effectLst/>
                <a:latin typeface="Times New Roman" panose="02020603050405020304" pitchFamily="18" charset="0"/>
                <a:cs typeface="Times New Roman" panose="02020603050405020304" pitchFamily="18" charset="0"/>
              </a:rPr>
              <a:t>Event marketing is a strategy marketers use to promote their brand, product, or service with an in-person or real-time engagement.</a:t>
            </a:r>
          </a:p>
          <a:p>
            <a:pPr algn="just"/>
            <a:r>
              <a:rPr lang="en-US" b="0" i="0" dirty="0">
                <a:solidFill>
                  <a:srgbClr val="273245"/>
                </a:solidFill>
                <a:effectLst/>
                <a:latin typeface="Times New Roman" panose="02020603050405020304" pitchFamily="18" charset="0"/>
                <a:cs typeface="Times New Roman" panose="02020603050405020304" pitchFamily="18" charset="0"/>
              </a:rPr>
              <a:t> Events can be online or offline, and companies can participate as hosts, co-hosts, participants or sponsors. Whether online or in-person, event marketing is the ultimate way to connect with audience, showcase  brand, and drive results.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507302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1A0DD4-C20B-8C0F-2B38-0254F4F4DE94}"/>
              </a:ext>
            </a:extLst>
          </p:cNvPr>
          <p:cNvSpPr>
            <a:spLocks noGrp="1"/>
          </p:cNvSpPr>
          <p:nvPr>
            <p:ph type="title"/>
          </p:nvPr>
        </p:nvSpPr>
        <p:spPr/>
        <p:txBody>
          <a:bodyPr/>
          <a:lstStyle/>
          <a:p>
            <a:r>
              <a:rPr lang="en-US" dirty="0"/>
              <a:t>Benefits of Event Management </a:t>
            </a:r>
            <a:r>
              <a:rPr lang="en-US" dirty="0" err="1"/>
              <a:t>trategy</a:t>
            </a:r>
            <a:endParaRPr lang="en-IN" dirty="0"/>
          </a:p>
        </p:txBody>
      </p:sp>
      <p:sp>
        <p:nvSpPr>
          <p:cNvPr id="3" name="Content Placeholder 2">
            <a:extLst>
              <a:ext uri="{FF2B5EF4-FFF2-40B4-BE49-F238E27FC236}">
                <a16:creationId xmlns:a16="http://schemas.microsoft.com/office/drawing/2014/main" xmlns="" id="{A88953FF-6AF1-D9E2-F897-C0C7DEDB7C8D}"/>
              </a:ext>
            </a:extLst>
          </p:cNvPr>
          <p:cNvSpPr>
            <a:spLocks noGrp="1"/>
          </p:cNvSpPr>
          <p:nvPr>
            <p:ph idx="1"/>
          </p:nvPr>
        </p:nvSpPr>
        <p:spPr/>
        <p:txBody>
          <a:bodyPr/>
          <a:lstStyle/>
          <a:p>
            <a:pPr algn="l" fontAlgn="base">
              <a:buFont typeface="Arial" panose="020B0604020202020204" pitchFamily="34" charset="0"/>
              <a:buChar char="•"/>
            </a:pPr>
            <a:r>
              <a:rPr lang="en-US" b="0" i="0" dirty="0">
                <a:solidFill>
                  <a:srgbClr val="273245"/>
                </a:solidFill>
                <a:effectLst/>
                <a:latin typeface="Montserrat-regular"/>
              </a:rPr>
              <a:t>Build brand awareness</a:t>
            </a:r>
          </a:p>
          <a:p>
            <a:pPr algn="l" fontAlgn="base">
              <a:buFont typeface="Arial" panose="020B0604020202020204" pitchFamily="34" charset="0"/>
              <a:buChar char="•"/>
            </a:pPr>
            <a:r>
              <a:rPr lang="en-US" b="0" i="0" dirty="0">
                <a:solidFill>
                  <a:srgbClr val="273245"/>
                </a:solidFill>
                <a:effectLst/>
                <a:latin typeface="Montserrat-regular"/>
              </a:rPr>
              <a:t>Increase customer engagement</a:t>
            </a:r>
          </a:p>
          <a:p>
            <a:pPr algn="l" fontAlgn="base">
              <a:buFont typeface="Arial" panose="020B0604020202020204" pitchFamily="34" charset="0"/>
              <a:buChar char="•"/>
            </a:pPr>
            <a:r>
              <a:rPr lang="en-US" b="0" i="0" dirty="0">
                <a:solidFill>
                  <a:srgbClr val="273245"/>
                </a:solidFill>
                <a:effectLst/>
                <a:latin typeface="Montserrat-regular"/>
              </a:rPr>
              <a:t>Generate leads</a:t>
            </a:r>
          </a:p>
          <a:p>
            <a:pPr algn="l" fontAlgn="base">
              <a:buFont typeface="Arial" panose="020B0604020202020204" pitchFamily="34" charset="0"/>
              <a:buChar char="•"/>
            </a:pPr>
            <a:r>
              <a:rPr lang="en-US" b="0" i="0" dirty="0">
                <a:solidFill>
                  <a:srgbClr val="273245"/>
                </a:solidFill>
                <a:effectLst/>
                <a:latin typeface="Montserrat-regular"/>
              </a:rPr>
              <a:t>Educate prospects and customers</a:t>
            </a:r>
          </a:p>
          <a:p>
            <a:pPr algn="l" fontAlgn="base">
              <a:buFont typeface="Arial" panose="020B0604020202020204" pitchFamily="34" charset="0"/>
              <a:buChar char="•"/>
            </a:pPr>
            <a:r>
              <a:rPr lang="en-US" b="0" i="0" dirty="0">
                <a:solidFill>
                  <a:srgbClr val="273245"/>
                </a:solidFill>
                <a:effectLst/>
                <a:latin typeface="Montserrat-regular"/>
              </a:rPr>
              <a:t>Upsell customers</a:t>
            </a:r>
          </a:p>
          <a:p>
            <a:endParaRPr lang="en-IN" dirty="0"/>
          </a:p>
        </p:txBody>
      </p:sp>
    </p:spTree>
    <p:extLst>
      <p:ext uri="{BB962C8B-B14F-4D97-AF65-F5344CB8AC3E}">
        <p14:creationId xmlns:p14="http://schemas.microsoft.com/office/powerpoint/2010/main" xmlns="" val="122143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3D2697-998C-53FC-BF17-A016209F3FD0}"/>
              </a:ext>
            </a:extLst>
          </p:cNvPr>
          <p:cNvSpPr>
            <a:spLocks noGrp="1"/>
          </p:cNvSpPr>
          <p:nvPr>
            <p:ph type="title"/>
          </p:nvPr>
        </p:nvSpPr>
        <p:spPr>
          <a:xfrm>
            <a:off x="838199" y="365126"/>
            <a:ext cx="11019503" cy="582612"/>
          </a:xfrm>
        </p:spPr>
        <p:txBody>
          <a:bodyPr>
            <a:normAutofit fontScale="90000"/>
          </a:bodyPr>
          <a:lstStyle/>
          <a:p>
            <a:r>
              <a:rPr lang="en-US" dirty="0"/>
              <a:t>Lead generation process through event management</a:t>
            </a:r>
            <a:endParaRPr lang="en-IN" dirty="0"/>
          </a:p>
        </p:txBody>
      </p:sp>
      <p:pic>
        <p:nvPicPr>
          <p:cNvPr id="4098" name="Picture 2" descr="Event Marketing: The 2020 Guide | Bizzabo">
            <a:extLst>
              <a:ext uri="{FF2B5EF4-FFF2-40B4-BE49-F238E27FC236}">
                <a16:creationId xmlns:a16="http://schemas.microsoft.com/office/drawing/2014/main" xmlns="" id="{4376E613-C86C-3EF4-8887-78AA780D5C15}"/>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31923" y="1240605"/>
            <a:ext cx="8062451" cy="551774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609131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D67FF4-9BD6-E789-58AF-1655B774EBAF}"/>
              </a:ext>
            </a:extLst>
          </p:cNvPr>
          <p:cNvSpPr>
            <a:spLocks noGrp="1"/>
          </p:cNvSpPr>
          <p:nvPr>
            <p:ph type="title"/>
          </p:nvPr>
        </p:nvSpPr>
        <p:spPr>
          <a:xfrm>
            <a:off x="838200" y="365126"/>
            <a:ext cx="10515600" cy="667262"/>
          </a:xfrm>
        </p:spPr>
        <p:txBody>
          <a:bodyPr>
            <a:normAutofit fontScale="90000"/>
          </a:bodyPr>
          <a:lstStyle/>
          <a:p>
            <a:r>
              <a:rPr lang="en-US" dirty="0"/>
              <a:t>Marketing Audit</a:t>
            </a:r>
            <a:endParaRPr lang="en-IN" dirty="0"/>
          </a:p>
        </p:txBody>
      </p:sp>
      <p:sp>
        <p:nvSpPr>
          <p:cNvPr id="3" name="Content Placeholder 2">
            <a:extLst>
              <a:ext uri="{FF2B5EF4-FFF2-40B4-BE49-F238E27FC236}">
                <a16:creationId xmlns:a16="http://schemas.microsoft.com/office/drawing/2014/main" xmlns="" id="{5B08596C-C3F5-0730-231C-EB43A767E442}"/>
              </a:ext>
            </a:extLst>
          </p:cNvPr>
          <p:cNvSpPr>
            <a:spLocks noGrp="1"/>
          </p:cNvSpPr>
          <p:nvPr>
            <p:ph idx="1"/>
          </p:nvPr>
        </p:nvSpPr>
        <p:spPr>
          <a:xfrm>
            <a:off x="838200" y="1032388"/>
            <a:ext cx="10515600" cy="5144575"/>
          </a:xfrm>
        </p:spPr>
        <p:txBody>
          <a:bodyPr>
            <a:normAutofit/>
          </a:bodyPr>
          <a:lstStyle/>
          <a:p>
            <a:pPr algn="just"/>
            <a:r>
              <a:rPr lang="en-US" sz="4400" b="0" i="0" dirty="0">
                <a:solidFill>
                  <a:srgbClr val="202124"/>
                </a:solidFill>
                <a:effectLst/>
                <a:latin typeface="Times New Roman" panose="02020603050405020304" pitchFamily="18" charset="0"/>
                <a:cs typeface="Times New Roman" panose="02020603050405020304" pitchFamily="18" charset="0"/>
              </a:rPr>
              <a:t>A marketing audit is </a:t>
            </a:r>
            <a:r>
              <a:rPr lang="en-US" sz="4400" b="0" i="0" dirty="0">
                <a:solidFill>
                  <a:srgbClr val="040C28"/>
                </a:solidFill>
                <a:effectLst/>
                <a:latin typeface="Times New Roman" panose="02020603050405020304" pitchFamily="18" charset="0"/>
                <a:cs typeface="Times New Roman" panose="02020603050405020304" pitchFamily="18" charset="0"/>
              </a:rPr>
              <a:t>an assessment that is performed to analyze company’s current marketing strategy from top to bottom</a:t>
            </a:r>
            <a:r>
              <a:rPr lang="en-US" sz="4400" b="0" i="0" dirty="0">
                <a:solidFill>
                  <a:srgbClr val="202124"/>
                </a:solidFill>
                <a:effectLst/>
                <a:latin typeface="Times New Roman" panose="02020603050405020304" pitchFamily="18" charset="0"/>
                <a:cs typeface="Times New Roman" panose="02020603050405020304" pitchFamily="18" charset="0"/>
              </a:rPr>
              <a:t>. The goal of a marketing audit is to identify the strengths and weaknesses of marketing efforts and to help to devise a plan to improve effectiveness and performance.</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522794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BA7BE6-0175-7E1B-12B1-D7FB7A96A026}"/>
              </a:ext>
            </a:extLst>
          </p:cNvPr>
          <p:cNvSpPr>
            <a:spLocks noGrp="1"/>
          </p:cNvSpPr>
          <p:nvPr>
            <p:ph type="title"/>
          </p:nvPr>
        </p:nvSpPr>
        <p:spPr/>
        <p:txBody>
          <a:bodyPr/>
          <a:lstStyle/>
          <a:p>
            <a:r>
              <a:rPr lang="en-US" dirty="0"/>
              <a:t>Elements of Marketing Audit</a:t>
            </a:r>
            <a:endParaRPr lang="en-IN" dirty="0"/>
          </a:p>
        </p:txBody>
      </p:sp>
      <p:sp>
        <p:nvSpPr>
          <p:cNvPr id="3" name="Content Placeholder 2">
            <a:extLst>
              <a:ext uri="{FF2B5EF4-FFF2-40B4-BE49-F238E27FC236}">
                <a16:creationId xmlns:a16="http://schemas.microsoft.com/office/drawing/2014/main" xmlns="" id="{C3A366CF-2482-C5A9-D07D-4B4613389199}"/>
              </a:ext>
            </a:extLst>
          </p:cNvPr>
          <p:cNvSpPr>
            <a:spLocks noGrp="1"/>
          </p:cNvSpPr>
          <p:nvPr>
            <p:ph idx="1"/>
          </p:nvPr>
        </p:nvSpPr>
        <p:spPr/>
        <p:txBody>
          <a:bodyPr/>
          <a:lstStyle/>
          <a:p>
            <a:r>
              <a:rPr lang="en-US" b="0" i="0" dirty="0">
                <a:solidFill>
                  <a:srgbClr val="4D5156"/>
                </a:solidFill>
                <a:effectLst/>
                <a:latin typeface="Google Sans"/>
              </a:rPr>
              <a:t> </a:t>
            </a:r>
            <a:r>
              <a:rPr lang="en-US" sz="4400" b="0" i="0" dirty="0">
                <a:solidFill>
                  <a:srgbClr val="040C28"/>
                </a:solidFill>
                <a:effectLst/>
                <a:latin typeface="Google Sans"/>
              </a:rPr>
              <a:t>SWOT analysis </a:t>
            </a:r>
          </a:p>
          <a:p>
            <a:r>
              <a:rPr lang="en-US" sz="4400" b="0" i="0" dirty="0">
                <a:solidFill>
                  <a:srgbClr val="040C28"/>
                </a:solidFill>
                <a:effectLst/>
                <a:latin typeface="Google Sans"/>
              </a:rPr>
              <a:t>Market research </a:t>
            </a:r>
          </a:p>
          <a:p>
            <a:r>
              <a:rPr lang="en-US" sz="4400" b="0" i="0" dirty="0">
                <a:solidFill>
                  <a:srgbClr val="040C28"/>
                </a:solidFill>
                <a:effectLst/>
                <a:latin typeface="Google Sans"/>
              </a:rPr>
              <a:t>Competitor analysis</a:t>
            </a:r>
            <a:endParaRPr lang="en-IN" sz="4400" dirty="0"/>
          </a:p>
        </p:txBody>
      </p:sp>
    </p:spTree>
    <p:extLst>
      <p:ext uri="{BB962C8B-B14F-4D97-AF65-F5344CB8AC3E}">
        <p14:creationId xmlns:p14="http://schemas.microsoft.com/office/powerpoint/2010/main" xmlns="" val="9186940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1D7F35AE-3AB4-9CE0-339F-BEAEE53931FC}"/>
              </a:ext>
            </a:extLst>
          </p:cNvPr>
          <p:cNvPicPr>
            <a:picLocks noChangeAspect="1"/>
          </p:cNvPicPr>
          <p:nvPr/>
        </p:nvPicPr>
        <p:blipFill>
          <a:blip r:embed="rId2"/>
          <a:stretch>
            <a:fillRect/>
          </a:stretch>
        </p:blipFill>
        <p:spPr>
          <a:xfrm>
            <a:off x="865239" y="304243"/>
            <a:ext cx="10392696" cy="6291176"/>
          </a:xfrm>
          <a:prstGeom prst="rect">
            <a:avLst/>
          </a:prstGeom>
        </p:spPr>
      </p:pic>
    </p:spTree>
    <p:extLst>
      <p:ext uri="{BB962C8B-B14F-4D97-AF65-F5344CB8AC3E}">
        <p14:creationId xmlns:p14="http://schemas.microsoft.com/office/powerpoint/2010/main" xmlns="" val="3195941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Explain the Characteristics of Marketing Audit">
            <a:extLst>
              <a:ext uri="{FF2B5EF4-FFF2-40B4-BE49-F238E27FC236}">
                <a16:creationId xmlns:a16="http://schemas.microsoft.com/office/drawing/2014/main" xmlns="" id="{FB39079E-6B51-1063-3100-AE3BD10C1F94}"/>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76748" y="642938"/>
            <a:ext cx="10274709" cy="595450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102974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DD599E-7605-97F4-15F2-369E156F70D5}"/>
              </a:ext>
            </a:extLst>
          </p:cNvPr>
          <p:cNvSpPr>
            <a:spLocks noGrp="1"/>
          </p:cNvSpPr>
          <p:nvPr>
            <p:ph type="title"/>
          </p:nvPr>
        </p:nvSpPr>
        <p:spPr>
          <a:xfrm>
            <a:off x="838200" y="365126"/>
            <a:ext cx="10515600" cy="801824"/>
          </a:xfrm>
        </p:spPr>
        <p:txBody>
          <a:bodyPr/>
          <a:lstStyle/>
          <a:p>
            <a:r>
              <a:rPr lang="en-IN" dirty="0"/>
              <a:t>Sponsorship Marketing</a:t>
            </a:r>
          </a:p>
        </p:txBody>
      </p:sp>
      <p:sp>
        <p:nvSpPr>
          <p:cNvPr id="3" name="Content Placeholder 2">
            <a:extLst>
              <a:ext uri="{FF2B5EF4-FFF2-40B4-BE49-F238E27FC236}">
                <a16:creationId xmlns:a16="http://schemas.microsoft.com/office/drawing/2014/main" xmlns="" id="{883F1FA3-3AEC-605F-975C-3B9626D98BA9}"/>
              </a:ext>
            </a:extLst>
          </p:cNvPr>
          <p:cNvSpPr>
            <a:spLocks noGrp="1"/>
          </p:cNvSpPr>
          <p:nvPr>
            <p:ph idx="1"/>
          </p:nvPr>
        </p:nvSpPr>
        <p:spPr>
          <a:xfrm>
            <a:off x="838200" y="1166950"/>
            <a:ext cx="10515600" cy="5010013"/>
          </a:xfrm>
        </p:spPr>
        <p:txBody>
          <a:bodyPr/>
          <a:lstStyle/>
          <a:p>
            <a:pPr algn="just"/>
            <a:r>
              <a:rPr lang="en-US" dirty="0">
                <a:latin typeface="Times New Roman" panose="02020603050405020304" pitchFamily="18" charset="0"/>
                <a:cs typeface="Times New Roman" panose="02020603050405020304" pitchFamily="18" charset="0"/>
              </a:rPr>
              <a:t>Sponsorship marketing is when one brand aligns itself with an aspect of another brand. Often, this will be an event, such as a sports game, a performance or a conference. But brands might also choose to sponsor a TV program, a charity or even a celebrity.</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Usually, the sponsor offers support in the form of finance or other resources. In return, the </a:t>
            </a:r>
            <a:r>
              <a:rPr lang="en-US" dirty="0" err="1">
                <a:latin typeface="Times New Roman" panose="02020603050405020304" pitchFamily="18" charset="0"/>
                <a:cs typeface="Times New Roman" panose="02020603050405020304" pitchFamily="18" charset="0"/>
              </a:rPr>
              <a:t>sponsee</a:t>
            </a:r>
            <a:r>
              <a:rPr lang="en-US" dirty="0">
                <a:latin typeface="Times New Roman" panose="02020603050405020304" pitchFamily="18" charset="0"/>
                <a:cs typeface="Times New Roman" panose="02020603050405020304" pitchFamily="18" charset="0"/>
              </a:rPr>
              <a:t> helps to boost their brand awareness and reputation.</a:t>
            </a:r>
          </a:p>
          <a:p>
            <a:endParaRPr lang="en-IN" dirty="0"/>
          </a:p>
        </p:txBody>
      </p:sp>
    </p:spTree>
    <p:extLst>
      <p:ext uri="{BB962C8B-B14F-4D97-AF65-F5344CB8AC3E}">
        <p14:creationId xmlns:p14="http://schemas.microsoft.com/office/powerpoint/2010/main" xmlns="" val="1000502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lstStyle/>
          <a:p>
            <a:r>
              <a:rPr lang="en-IN" dirty="0"/>
              <a:t>Methods of sponsorship marketing</a:t>
            </a:r>
          </a:p>
        </p:txBody>
      </p:sp>
      <p:sp>
        <p:nvSpPr>
          <p:cNvPr id="3" name="Content Placeholder 2"/>
          <p:cNvSpPr>
            <a:spLocks noGrp="1"/>
          </p:cNvSpPr>
          <p:nvPr>
            <p:ph idx="1"/>
          </p:nvPr>
        </p:nvSpPr>
        <p:spPr>
          <a:xfrm>
            <a:off x="838200" y="1123406"/>
            <a:ext cx="10515600" cy="5053557"/>
          </a:xfrm>
        </p:spPr>
        <p:txBody>
          <a:bodyPr>
            <a:normAutofit fontScale="92500" lnSpcReduction="10000"/>
          </a:bodyPr>
          <a:lstStyle/>
          <a:p>
            <a:r>
              <a:rPr lang="en-US" b="1" dirty="0"/>
              <a:t>Cash sponsors:</a:t>
            </a:r>
            <a:r>
              <a:rPr lang="en-US" dirty="0"/>
              <a:t> The sponsor gives the </a:t>
            </a:r>
            <a:r>
              <a:rPr lang="en-US" dirty="0" err="1"/>
              <a:t>sponsee</a:t>
            </a:r>
            <a:r>
              <a:rPr lang="en-US" dirty="0"/>
              <a:t> financial support. Big brands such as McDonald’s, Pepsi and Coca-Cola invest billions of pounds in sponsorship every year.</a:t>
            </a:r>
          </a:p>
          <a:p>
            <a:r>
              <a:rPr lang="en-US" b="1" dirty="0"/>
              <a:t>In-kind sponsors:</a:t>
            </a:r>
            <a:r>
              <a:rPr lang="en-US" dirty="0"/>
              <a:t> Rather than giving the </a:t>
            </a:r>
            <a:r>
              <a:rPr lang="en-US" dirty="0" err="1"/>
              <a:t>sponsee</a:t>
            </a:r>
            <a:r>
              <a:rPr lang="en-US" dirty="0"/>
              <a:t> cash, the sponsor donates products or services. This could be anything from catering to printing.</a:t>
            </a:r>
          </a:p>
          <a:p>
            <a:r>
              <a:rPr lang="en-US" b="1" dirty="0"/>
              <a:t>Media sponsors:</a:t>
            </a:r>
            <a:r>
              <a:rPr lang="en-US" dirty="0"/>
              <a:t> Essentially a form of in-kind sponsorship. Media sponsors promote the </a:t>
            </a:r>
            <a:r>
              <a:rPr lang="en-US" dirty="0" err="1"/>
              <a:t>sponsee’s</a:t>
            </a:r>
            <a:r>
              <a:rPr lang="en-US" dirty="0"/>
              <a:t> activity, perhaps by posting about it on social media, by publishing blog posts or even by broadcasting it on television in the case of large events and sports fixtures.</a:t>
            </a:r>
          </a:p>
          <a:p>
            <a:r>
              <a:rPr lang="en-US" b="1" dirty="0"/>
              <a:t>Promotional partners:</a:t>
            </a:r>
            <a:r>
              <a:rPr lang="en-US" dirty="0"/>
              <a:t> Similar to media sponsors, promotional partners are generally individuals who can help to promote the </a:t>
            </a:r>
            <a:r>
              <a:rPr lang="en-US" dirty="0" err="1"/>
              <a:t>sponsee’s</a:t>
            </a:r>
            <a:r>
              <a:rPr lang="en-US" dirty="0"/>
              <a:t> activity – such as bloggers or influencers. They often agree to sponsor events in return for speaking slots.</a:t>
            </a:r>
          </a:p>
          <a:p>
            <a:endParaRPr lang="en-IN" dirty="0"/>
          </a:p>
        </p:txBody>
      </p:sp>
    </p:spTree>
    <p:extLst>
      <p:ext uri="{BB962C8B-B14F-4D97-AF65-F5344CB8AC3E}">
        <p14:creationId xmlns:p14="http://schemas.microsoft.com/office/powerpoint/2010/main" xmlns="" val="39389812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784"/>
          </a:xfrm>
        </p:spPr>
        <p:txBody>
          <a:bodyPr/>
          <a:lstStyle/>
          <a:p>
            <a:r>
              <a:rPr lang="en-IN" dirty="0"/>
              <a:t>Advantages of Sponsorship Marketing</a:t>
            </a:r>
          </a:p>
        </p:txBody>
      </p:sp>
      <p:sp>
        <p:nvSpPr>
          <p:cNvPr id="3" name="Content Placeholder 2"/>
          <p:cNvSpPr>
            <a:spLocks noGrp="1"/>
          </p:cNvSpPr>
          <p:nvPr>
            <p:ph idx="1"/>
          </p:nvPr>
        </p:nvSpPr>
        <p:spPr>
          <a:xfrm>
            <a:off x="838200" y="1227910"/>
            <a:ext cx="10515600" cy="4949053"/>
          </a:xfrm>
        </p:spPr>
        <p:txBody>
          <a:bodyPr>
            <a:normAutofit fontScale="77500" lnSpcReduction="20000"/>
          </a:bodyPr>
          <a:lstStyle/>
          <a:p>
            <a:pPr marL="0" indent="0">
              <a:buNone/>
            </a:pPr>
            <a:r>
              <a:rPr lang="en-US" b="1" dirty="0"/>
              <a:t> For the sponsor</a:t>
            </a:r>
          </a:p>
          <a:p>
            <a:r>
              <a:rPr lang="en-US" b="1" dirty="0"/>
              <a:t>Brand awareness:</a:t>
            </a:r>
            <a:r>
              <a:rPr lang="en-US" dirty="0"/>
              <a:t> Sponsorship offers brands the chance to get in front of new (and often, large!) audiences.</a:t>
            </a:r>
          </a:p>
          <a:p>
            <a:r>
              <a:rPr lang="en-US" b="1" dirty="0"/>
              <a:t>Reputation:</a:t>
            </a:r>
            <a:r>
              <a:rPr lang="en-US" dirty="0"/>
              <a:t> By aligning themselves with something that their audience really cares about, such as a sports team or TV </a:t>
            </a:r>
            <a:r>
              <a:rPr lang="en-US" dirty="0" err="1"/>
              <a:t>programme</a:t>
            </a:r>
            <a:r>
              <a:rPr lang="en-US" dirty="0"/>
              <a:t>, brands can improve their reputation.</a:t>
            </a:r>
          </a:p>
          <a:p>
            <a:r>
              <a:rPr lang="en-US" b="1" dirty="0"/>
              <a:t>Brand positioning:</a:t>
            </a:r>
            <a:r>
              <a:rPr lang="en-US" dirty="0"/>
              <a:t> Brands can use sponsorship to reach specific demographics, in the same way as Red Bull was able to get the attention of a sporting audience by sponsoring sports events and athletes.</a:t>
            </a:r>
          </a:p>
          <a:p>
            <a:pPr marL="0" indent="0">
              <a:buNone/>
            </a:pPr>
            <a:r>
              <a:rPr lang="en-US" b="1" dirty="0"/>
              <a:t> For the </a:t>
            </a:r>
            <a:r>
              <a:rPr lang="en-US" b="1" dirty="0" err="1"/>
              <a:t>sponsee</a:t>
            </a:r>
            <a:endParaRPr lang="en-US" b="1" dirty="0"/>
          </a:p>
          <a:p>
            <a:r>
              <a:rPr lang="en-US" b="1" dirty="0"/>
              <a:t>Financing:</a:t>
            </a:r>
            <a:r>
              <a:rPr lang="en-US" dirty="0"/>
              <a:t> Sponsorship helps to offset the cost of carrying out the </a:t>
            </a:r>
            <a:r>
              <a:rPr lang="en-US" dirty="0" err="1"/>
              <a:t>sponsee’s</a:t>
            </a:r>
            <a:r>
              <a:rPr lang="en-US" dirty="0"/>
              <a:t> activity, whether it’s holding an event or staging a sports game.</a:t>
            </a:r>
          </a:p>
          <a:p>
            <a:r>
              <a:rPr lang="en-US" b="1" dirty="0"/>
              <a:t>Expertise:</a:t>
            </a:r>
            <a:r>
              <a:rPr lang="en-US" dirty="0"/>
              <a:t> In the case of in-kind or media sponsors, the </a:t>
            </a:r>
            <a:r>
              <a:rPr lang="en-US" dirty="0" err="1"/>
              <a:t>sponsee</a:t>
            </a:r>
            <a:r>
              <a:rPr lang="en-US" dirty="0"/>
              <a:t> gets exclusive access to a brand’s network and expertise.</a:t>
            </a:r>
          </a:p>
          <a:p>
            <a:r>
              <a:rPr lang="en-US" b="1" dirty="0"/>
              <a:t>Authority:</a:t>
            </a:r>
            <a:r>
              <a:rPr lang="en-US" dirty="0"/>
              <a:t> Getting a household name as a sponsor can help to lend a </a:t>
            </a:r>
            <a:r>
              <a:rPr lang="en-US" dirty="0" err="1"/>
              <a:t>sponsee’s</a:t>
            </a:r>
            <a:r>
              <a:rPr lang="en-US" dirty="0"/>
              <a:t> activity legitimacy.</a:t>
            </a:r>
          </a:p>
          <a:p>
            <a:pPr marL="0" indent="0">
              <a:buNone/>
            </a:pPr>
            <a:endParaRPr lang="en-IN" dirty="0"/>
          </a:p>
        </p:txBody>
      </p:sp>
    </p:spTree>
    <p:extLst>
      <p:ext uri="{BB962C8B-B14F-4D97-AF65-F5344CB8AC3E}">
        <p14:creationId xmlns:p14="http://schemas.microsoft.com/office/powerpoint/2010/main" xmlns="" val="3494877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7321"/>
          </a:xfrm>
        </p:spPr>
        <p:txBody>
          <a:bodyPr/>
          <a:lstStyle/>
          <a:p>
            <a:r>
              <a:rPr lang="en-IN" dirty="0"/>
              <a:t>Disadvantages:</a:t>
            </a:r>
          </a:p>
        </p:txBody>
      </p:sp>
      <p:sp>
        <p:nvSpPr>
          <p:cNvPr id="3" name="Content Placeholder 2"/>
          <p:cNvSpPr>
            <a:spLocks noGrp="1"/>
          </p:cNvSpPr>
          <p:nvPr>
            <p:ph idx="1"/>
          </p:nvPr>
        </p:nvSpPr>
        <p:spPr>
          <a:xfrm>
            <a:off x="838200" y="1062446"/>
            <a:ext cx="10515600" cy="5114517"/>
          </a:xfrm>
        </p:spPr>
        <p:txBody>
          <a:bodyPr>
            <a:normAutofit fontScale="92500" lnSpcReduction="20000"/>
          </a:bodyPr>
          <a:lstStyle/>
          <a:p>
            <a:pPr marL="0" indent="0">
              <a:buNone/>
            </a:pPr>
            <a:r>
              <a:rPr lang="en-US" b="1" dirty="0"/>
              <a:t>For the sponsor</a:t>
            </a:r>
          </a:p>
          <a:p>
            <a:r>
              <a:rPr lang="en-US" b="1" dirty="0"/>
              <a:t>Hard to measure:</a:t>
            </a:r>
            <a:r>
              <a:rPr lang="en-US" dirty="0"/>
              <a:t> Sponsorship marketing can be hard to track and measure, particularly when activities take place offline.</a:t>
            </a:r>
          </a:p>
          <a:p>
            <a:r>
              <a:rPr lang="en-US" b="1" dirty="0"/>
              <a:t>Passive:</a:t>
            </a:r>
            <a:r>
              <a:rPr lang="en-US" dirty="0"/>
              <a:t> Usually, sponsorship is fairly passive, without many opportunities to give audiences a CTA. This makes it better suited to gaining brand awareness than hitting sales targets.</a:t>
            </a:r>
          </a:p>
          <a:p>
            <a:r>
              <a:rPr lang="en-US" b="1" dirty="0"/>
              <a:t>In high demand:</a:t>
            </a:r>
            <a:r>
              <a:rPr lang="en-US" dirty="0"/>
              <a:t> The biggest sponsorship opportunities can be competitive, making them hard (and expensive!) to access. However, don’t underestimate the power of sponsorship in smaller, less competitive niches, such as local opportunities.</a:t>
            </a:r>
          </a:p>
          <a:p>
            <a:pPr marL="0" indent="0">
              <a:buNone/>
            </a:pPr>
            <a:r>
              <a:rPr lang="en-US" b="1" dirty="0"/>
              <a:t>For the </a:t>
            </a:r>
            <a:r>
              <a:rPr lang="en-US" b="1" dirty="0" err="1"/>
              <a:t>sponsee</a:t>
            </a:r>
            <a:endParaRPr lang="en-US" b="1" dirty="0"/>
          </a:p>
          <a:p>
            <a:r>
              <a:rPr lang="en-US" b="1" dirty="0"/>
              <a:t>Balancing needs:</a:t>
            </a:r>
            <a:r>
              <a:rPr lang="en-US" dirty="0"/>
              <a:t> </a:t>
            </a:r>
            <a:r>
              <a:rPr lang="en-US" dirty="0" err="1"/>
              <a:t>Sponsees</a:t>
            </a:r>
            <a:r>
              <a:rPr lang="en-US" dirty="0"/>
              <a:t> can find it hard to cater to the needs of both the sponsor and the audience. For example, a sponsor may want airtime, but the audience may not enjoy having to listen to an hour-long pitch!</a:t>
            </a:r>
          </a:p>
          <a:p>
            <a:pPr marL="0" indent="0">
              <a:buNone/>
            </a:pPr>
            <a:endParaRPr lang="en-IN" dirty="0"/>
          </a:p>
        </p:txBody>
      </p:sp>
    </p:spTree>
    <p:extLst>
      <p:ext uri="{BB962C8B-B14F-4D97-AF65-F5344CB8AC3E}">
        <p14:creationId xmlns:p14="http://schemas.microsoft.com/office/powerpoint/2010/main" xmlns="" val="16858999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1195"/>
          </a:xfrm>
        </p:spPr>
        <p:txBody>
          <a:bodyPr>
            <a:normAutofit fontScale="90000"/>
          </a:bodyPr>
          <a:lstStyle/>
          <a:p>
            <a:r>
              <a:rPr lang="en-IN" dirty="0"/>
              <a:t>Cause related marketing:</a:t>
            </a:r>
          </a:p>
        </p:txBody>
      </p:sp>
      <p:sp>
        <p:nvSpPr>
          <p:cNvPr id="3" name="Content Placeholder 2"/>
          <p:cNvSpPr>
            <a:spLocks noGrp="1"/>
          </p:cNvSpPr>
          <p:nvPr>
            <p:ph idx="1"/>
          </p:nvPr>
        </p:nvSpPr>
        <p:spPr>
          <a:xfrm>
            <a:off x="838200" y="1445623"/>
            <a:ext cx="10515600" cy="4731340"/>
          </a:xfrm>
        </p:spPr>
        <p:txBody>
          <a:bodyPr/>
          <a:lstStyle/>
          <a:p>
            <a:pPr marL="0" indent="0">
              <a:buNone/>
            </a:pPr>
            <a:r>
              <a:rPr lang="en-US" dirty="0"/>
              <a:t>Cause marketing involves a collaboration between a for-profit business and a nonprofit organization for a common benefit. Cause marketing can also refer to social or charitable campaigns put on by for-profit brands. Typically, a brand's association with a nonprofit will boost their corporate social responsibility.</a:t>
            </a:r>
          </a:p>
          <a:p>
            <a:pPr marL="0" indent="0">
              <a:buNone/>
            </a:pPr>
            <a:r>
              <a:rPr lang="en-US" dirty="0"/>
              <a:t>Example: Infosys ltd doing social activities through Infosys foundation.</a:t>
            </a:r>
            <a:endParaRPr lang="en-IN" dirty="0"/>
          </a:p>
        </p:txBody>
      </p:sp>
    </p:spTree>
    <p:extLst>
      <p:ext uri="{BB962C8B-B14F-4D97-AF65-F5344CB8AC3E}">
        <p14:creationId xmlns:p14="http://schemas.microsoft.com/office/powerpoint/2010/main" xmlns="" val="6000564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dirty="0"/>
              <a:t>Types of Cause related marketing</a:t>
            </a:r>
          </a:p>
        </p:txBody>
      </p:sp>
      <p:sp>
        <p:nvSpPr>
          <p:cNvPr id="3" name="Content Placeholder 2"/>
          <p:cNvSpPr>
            <a:spLocks noGrp="1"/>
          </p:cNvSpPr>
          <p:nvPr>
            <p:ph idx="1"/>
          </p:nvPr>
        </p:nvSpPr>
        <p:spPr>
          <a:xfrm>
            <a:off x="838200" y="1184366"/>
            <a:ext cx="10515600" cy="4992597"/>
          </a:xfrm>
        </p:spPr>
        <p:txBody>
          <a:bodyPr>
            <a:normAutofit/>
          </a:bodyPr>
          <a:lstStyle/>
          <a:p>
            <a:r>
              <a:rPr lang="en-US" b="1" u="sng" dirty="0"/>
              <a:t>Incentives</a:t>
            </a:r>
          </a:p>
          <a:p>
            <a:pPr marL="0" indent="0">
              <a:buNone/>
            </a:pPr>
            <a:r>
              <a:rPr lang="en-US" dirty="0"/>
              <a:t>Such cause marketing campaigns encourage customers to donate to a cause by offering them incentives in the form of discounts, gift coupons or free products.</a:t>
            </a:r>
          </a:p>
          <a:p>
            <a:r>
              <a:rPr lang="en-US" b="1" u="sng" dirty="0"/>
              <a:t>Point-Of-Sale Campaign</a:t>
            </a:r>
          </a:p>
          <a:p>
            <a:pPr marL="0" indent="0">
              <a:buNone/>
            </a:pPr>
            <a:r>
              <a:rPr lang="en-US" dirty="0"/>
              <a:t>This type of cause marketing is most commonly used by retailers and involves soliciting donations from customers during checkout when they make a purchase.</a:t>
            </a:r>
          </a:p>
          <a:p>
            <a:r>
              <a:rPr lang="en-US" b="1" u="sng" dirty="0"/>
              <a:t>Buy One, Give One</a:t>
            </a:r>
          </a:p>
          <a:p>
            <a:pPr marL="0" indent="0">
              <a:buNone/>
            </a:pPr>
            <a:r>
              <a:rPr lang="en-US" dirty="0"/>
              <a:t>In this type of cause marketing, organizations donate a product to a needy person when a customer purchases something from their brand.</a:t>
            </a:r>
          </a:p>
          <a:p>
            <a:endParaRPr lang="en-IN" dirty="0"/>
          </a:p>
        </p:txBody>
      </p:sp>
    </p:spTree>
    <p:extLst>
      <p:ext uri="{BB962C8B-B14F-4D97-AF65-F5344CB8AC3E}">
        <p14:creationId xmlns:p14="http://schemas.microsoft.com/office/powerpoint/2010/main" xmlns="" val="23943259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Benefits of cause related marketing</a:t>
            </a:r>
          </a:p>
        </p:txBody>
      </p:sp>
      <p:sp>
        <p:nvSpPr>
          <p:cNvPr id="3" name="Content Placeholder 2"/>
          <p:cNvSpPr>
            <a:spLocks noGrp="1"/>
          </p:cNvSpPr>
          <p:nvPr>
            <p:ph idx="1"/>
          </p:nvPr>
        </p:nvSpPr>
        <p:spPr/>
        <p:txBody>
          <a:bodyPr/>
          <a:lstStyle/>
          <a:p>
            <a:pPr algn="just"/>
            <a:r>
              <a:rPr lang="en-US" b="1" dirty="0"/>
              <a:t>Cause Marketing</a:t>
            </a:r>
            <a:r>
              <a:rPr lang="en-US" dirty="0"/>
              <a:t> Helps An Organization Improve Brand Image And Reputation Through Positive Media Coverage, Word-Of-Mouth Recommendations And Good Customer Reviews </a:t>
            </a:r>
            <a:endParaRPr lang="en-US" b="1" dirty="0"/>
          </a:p>
          <a:p>
            <a:pPr algn="just"/>
            <a:r>
              <a:rPr lang="en-US" b="1" dirty="0"/>
              <a:t>Cause Marketing</a:t>
            </a:r>
            <a:r>
              <a:rPr lang="en-US" dirty="0"/>
              <a:t> Portrays A Brand As Purpose-Driven, Giving It A Significant Edge Over Its Competitors In The Market</a:t>
            </a:r>
            <a:endParaRPr lang="en-US" b="1" dirty="0"/>
          </a:p>
          <a:p>
            <a:pPr algn="just"/>
            <a:r>
              <a:rPr lang="en-US" dirty="0"/>
              <a:t>When Employees Find Meaning In Their Work And Can Contribute To The Betterment Of Society Through </a:t>
            </a:r>
            <a:r>
              <a:rPr lang="en-US" b="1" dirty="0"/>
              <a:t>Cause Marketing</a:t>
            </a:r>
            <a:r>
              <a:rPr lang="en-US" dirty="0"/>
              <a:t>, Their Job Satisfaction Increases And Employee Turnover Reduces</a:t>
            </a:r>
            <a:endParaRPr lang="en-US" b="1" dirty="0"/>
          </a:p>
          <a:p>
            <a:endParaRPr lang="en-IN" dirty="0"/>
          </a:p>
        </p:txBody>
      </p:sp>
    </p:spTree>
    <p:extLst>
      <p:ext uri="{BB962C8B-B14F-4D97-AF65-F5344CB8AC3E}">
        <p14:creationId xmlns:p14="http://schemas.microsoft.com/office/powerpoint/2010/main" xmlns="" val="4127290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B4AB577D-5D55-B754-2C82-6805B6751526}"/>
              </a:ext>
            </a:extLst>
          </p:cNvPr>
          <p:cNvSpPr>
            <a:spLocks noGrp="1"/>
          </p:cNvSpPr>
          <p:nvPr>
            <p:ph type="title"/>
          </p:nvPr>
        </p:nvSpPr>
        <p:spPr/>
        <p:txBody>
          <a:bodyPr/>
          <a:lstStyle/>
          <a:p>
            <a:r>
              <a:rPr lang="en-US" dirty="0"/>
              <a:t>Marketing for Non-profit </a:t>
            </a:r>
            <a:r>
              <a:rPr lang="en-US" dirty="0" err="1"/>
              <a:t>Organaization</a:t>
            </a:r>
            <a:r>
              <a:rPr lang="en-US" dirty="0"/>
              <a:t> </a:t>
            </a:r>
            <a:endParaRPr lang="en-IN" dirty="0"/>
          </a:p>
        </p:txBody>
      </p:sp>
      <p:sp>
        <p:nvSpPr>
          <p:cNvPr id="8" name="Content Placeholder 7">
            <a:extLst>
              <a:ext uri="{FF2B5EF4-FFF2-40B4-BE49-F238E27FC236}">
                <a16:creationId xmlns:a16="http://schemas.microsoft.com/office/drawing/2014/main" xmlns="" id="{8FCAA49B-B854-D0CC-1A03-3C3C8EEA871E}"/>
              </a:ext>
            </a:extLst>
          </p:cNvPr>
          <p:cNvSpPr>
            <a:spLocks noGrp="1"/>
          </p:cNvSpPr>
          <p:nvPr>
            <p:ph idx="1"/>
          </p:nvPr>
        </p:nvSpPr>
        <p:spPr/>
        <p:txBody>
          <a:bodyPr/>
          <a:lstStyle/>
          <a:p>
            <a:r>
              <a:rPr lang="en-US" b="0" i="0" dirty="0">
                <a:solidFill>
                  <a:srgbClr val="4D5156"/>
                </a:solidFill>
                <a:effectLst/>
                <a:latin typeface="Google Sans"/>
              </a:rPr>
              <a:t>What are Non Profit Organizations?</a:t>
            </a:r>
          </a:p>
          <a:p>
            <a:pPr algn="just"/>
            <a:r>
              <a:rPr lang="en-US" b="0" i="0" dirty="0">
                <a:solidFill>
                  <a:srgbClr val="4D5156"/>
                </a:solidFill>
                <a:effectLst/>
                <a:latin typeface="Times New Roman" panose="02020603050405020304" pitchFamily="18" charset="0"/>
                <a:cs typeface="Times New Roman" panose="02020603050405020304" pitchFamily="18" charset="0"/>
              </a:rPr>
              <a:t>Not-for-Profit Organizations are </a:t>
            </a:r>
            <a:r>
              <a:rPr lang="en-US" b="0" i="0" dirty="0">
                <a:solidFill>
                  <a:srgbClr val="040C28"/>
                </a:solidFill>
                <a:effectLst/>
                <a:latin typeface="Times New Roman" panose="02020603050405020304" pitchFamily="18" charset="0"/>
                <a:cs typeface="Times New Roman" panose="02020603050405020304" pitchFamily="18" charset="0"/>
              </a:rPr>
              <a:t>the establishments that are for utilized for the welfare of the community and are set up as charitable associations which operate without any motive for profit</a:t>
            </a:r>
            <a:r>
              <a:rPr lang="en-US" b="0" i="0" dirty="0">
                <a:solidFill>
                  <a:srgbClr val="4D5156"/>
                </a:solidFill>
                <a:effectLst/>
                <a:latin typeface="Times New Roman" panose="02020603050405020304" pitchFamily="18" charset="0"/>
                <a:cs typeface="Times New Roman" panose="02020603050405020304" pitchFamily="18" charset="0"/>
              </a:rPr>
              <a:t>. Their primary objective is to provide service to a specific class or the public at the larger picture.</a:t>
            </a:r>
          </a:p>
          <a:p>
            <a:pPr algn="just"/>
            <a:r>
              <a:rPr lang="en-US" dirty="0">
                <a:solidFill>
                  <a:srgbClr val="4D5156"/>
                </a:solidFill>
                <a:latin typeface="Times New Roman" panose="02020603050405020304" pitchFamily="18" charset="0"/>
                <a:cs typeface="Times New Roman" panose="02020603050405020304" pitchFamily="18" charset="0"/>
              </a:rPr>
              <a:t>Examples: Schools, colleges, hospitals, temples,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3513951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57C41B80-8BD9-4D38-4976-FDCA546DE64A}"/>
              </a:ext>
            </a:extLst>
          </p:cNvPr>
          <p:cNvSpPr>
            <a:spLocks noGrp="1"/>
          </p:cNvSpPr>
          <p:nvPr>
            <p:ph type="title"/>
          </p:nvPr>
        </p:nvSpPr>
        <p:spPr>
          <a:xfrm>
            <a:off x="838200" y="365125"/>
            <a:ext cx="10515600" cy="706293"/>
          </a:xfrm>
        </p:spPr>
        <p:txBody>
          <a:bodyPr/>
          <a:lstStyle/>
          <a:p>
            <a:r>
              <a:rPr lang="en-US" dirty="0"/>
              <a:t>Difference between NPO &amp; PO </a:t>
            </a:r>
            <a:endParaRPr lang="en-IN" dirty="0"/>
          </a:p>
        </p:txBody>
      </p:sp>
      <p:pic>
        <p:nvPicPr>
          <p:cNvPr id="8" name="Picture 7">
            <a:extLst>
              <a:ext uri="{FF2B5EF4-FFF2-40B4-BE49-F238E27FC236}">
                <a16:creationId xmlns:a16="http://schemas.microsoft.com/office/drawing/2014/main" xmlns="" id="{FA5B464C-DDEB-76EF-BC8D-FF2BE3EFA714}"/>
              </a:ext>
            </a:extLst>
          </p:cNvPr>
          <p:cNvPicPr>
            <a:picLocks noChangeAspect="1"/>
          </p:cNvPicPr>
          <p:nvPr/>
        </p:nvPicPr>
        <p:blipFill>
          <a:blip r:embed="rId2"/>
          <a:stretch>
            <a:fillRect/>
          </a:stretch>
        </p:blipFill>
        <p:spPr>
          <a:xfrm>
            <a:off x="415636" y="1071418"/>
            <a:ext cx="11342255" cy="5495637"/>
          </a:xfrm>
          <a:prstGeom prst="rect">
            <a:avLst/>
          </a:prstGeom>
        </p:spPr>
      </p:pic>
    </p:spTree>
    <p:extLst>
      <p:ext uri="{BB962C8B-B14F-4D97-AF65-F5344CB8AC3E}">
        <p14:creationId xmlns:p14="http://schemas.microsoft.com/office/powerpoint/2010/main" xmlns="" val="26655911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fferences between Non-Profit Marketing and For-Profit Marketing">
            <a:extLst>
              <a:ext uri="{FF2B5EF4-FFF2-40B4-BE49-F238E27FC236}">
                <a16:creationId xmlns:a16="http://schemas.microsoft.com/office/drawing/2014/main" xmlns="" id="{C8C666C3-87E2-ABFF-B023-E5394DB11E33}"/>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50982" y="230909"/>
            <a:ext cx="11545454" cy="623454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362989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228600"/>
            <a:ext cx="8229600" cy="411162"/>
          </a:xfrm>
        </p:spPr>
        <p:txBody>
          <a:bodyPr>
            <a:normAutofit fontScale="90000"/>
          </a:bodyPr>
          <a:lstStyle/>
          <a:p>
            <a:r>
              <a:rPr lang="en-US" b="1" dirty="0">
                <a:latin typeface="Arial Narrow" pitchFamily="34" charset="0"/>
              </a:rPr>
              <a:t>Relationship Marketing</a:t>
            </a:r>
          </a:p>
        </p:txBody>
      </p:sp>
      <p:sp>
        <p:nvSpPr>
          <p:cNvPr id="3" name="Content Placeholder 2"/>
          <p:cNvSpPr>
            <a:spLocks noGrp="1"/>
          </p:cNvSpPr>
          <p:nvPr>
            <p:ph idx="1"/>
          </p:nvPr>
        </p:nvSpPr>
        <p:spPr>
          <a:xfrm>
            <a:off x="1676400" y="914400"/>
            <a:ext cx="8763000" cy="5715000"/>
          </a:xfrm>
        </p:spPr>
        <p:txBody>
          <a:bodyPr>
            <a:normAutofit/>
          </a:bodyPr>
          <a:lstStyle/>
          <a:p>
            <a:pPr algn="just"/>
            <a:r>
              <a:rPr lang="en-US" sz="2400" dirty="0">
                <a:latin typeface="Arial Narrow" pitchFamily="34" charset="0"/>
              </a:rPr>
              <a:t>Relationship Marketing is a strategy of Customer Relationship Management (CRM) that emphasizes customer retention, satisfaction, and lifetime customer value. Its purpose is to market to current customers versus new customer acquisition through sales and advertising.</a:t>
            </a:r>
          </a:p>
          <a:p>
            <a:pPr algn="just"/>
            <a:r>
              <a:rPr lang="en-US" sz="2400" dirty="0">
                <a:latin typeface="Arial Narrow" pitchFamily="34" charset="0"/>
              </a:rPr>
              <a:t>Relationship marketing is a distinct strategy for creating more meaningful customer relationships with the goal of ensuring satisfaction with your business and what you offer, and creating brand loyalty, retention, and a boost in customer lifetime value.</a:t>
            </a:r>
          </a:p>
          <a:p>
            <a:pPr algn="just"/>
            <a:r>
              <a:rPr lang="en-US" sz="2400" dirty="0">
                <a:latin typeface="Arial Narrow" pitchFamily="34" charset="0"/>
              </a:rPr>
              <a:t>Relationship marketing is also known as “building a buyer journey” or “personalized marketing strategies,” as it focuses on building revenue through healthier client relationships.</a:t>
            </a:r>
          </a:p>
          <a:p>
            <a:pPr algn="just"/>
            <a:r>
              <a:rPr lang="en-US" sz="2400" dirty="0">
                <a:latin typeface="Arial Narrow" pitchFamily="34" charset="0"/>
              </a:rPr>
              <a:t>Examples: Starbucks, Southwest Airlines, Nike, </a:t>
            </a:r>
            <a:r>
              <a:rPr lang="en-US" sz="2400" dirty="0" err="1">
                <a:latin typeface="Arial Narrow" pitchFamily="34" charset="0"/>
              </a:rPr>
              <a:t>Sendoso</a:t>
            </a:r>
            <a:r>
              <a:rPr lang="en-US" sz="2400" dirty="0">
                <a:latin typeface="Arial Narrow" pitchFamily="34" charset="0"/>
              </a:rPr>
              <a:t> and </a:t>
            </a:r>
            <a:r>
              <a:rPr lang="en-US" sz="2400" dirty="0" err="1">
                <a:latin typeface="Arial Narrow" pitchFamily="34" charset="0"/>
              </a:rPr>
              <a:t>HubSpot</a:t>
            </a:r>
            <a:r>
              <a:rPr lang="en-US" sz="2400" dirty="0">
                <a:latin typeface="Arial Narrow" pitchFamily="34" charset="0"/>
              </a:rPr>
              <a:t>. They show how strong customer connections may lead to brand loyalty, repeat purchases, word-of-mouth promotion or social proof.</a:t>
            </a:r>
          </a:p>
        </p:txBody>
      </p:sp>
    </p:spTree>
    <p:extLst>
      <p:ext uri="{BB962C8B-B14F-4D97-AF65-F5344CB8AC3E}">
        <p14:creationId xmlns:p14="http://schemas.microsoft.com/office/powerpoint/2010/main" xmlns="" val="29826675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AutoShape 2" descr="Importance of Relationship Marketin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5299" name="Picture 3"/>
          <p:cNvPicPr>
            <a:picLocks noChangeAspect="1" noChangeArrowheads="1"/>
          </p:cNvPicPr>
          <p:nvPr/>
        </p:nvPicPr>
        <p:blipFill>
          <a:blip r:embed="rId2"/>
          <a:srcRect/>
          <a:stretch>
            <a:fillRect/>
          </a:stretch>
        </p:blipFill>
        <p:spPr bwMode="auto">
          <a:xfrm>
            <a:off x="1524000" y="0"/>
            <a:ext cx="9144000" cy="6858000"/>
          </a:xfrm>
          <a:prstGeom prst="rect">
            <a:avLst/>
          </a:prstGeom>
          <a:noFill/>
          <a:ln w="9525">
            <a:noFill/>
            <a:miter lim="800000"/>
            <a:headEnd/>
            <a:tailEnd/>
          </a:ln>
          <a:effectLst/>
        </p:spPr>
      </p:pic>
    </p:spTree>
    <p:extLst>
      <p:ext uri="{BB962C8B-B14F-4D97-AF65-F5344CB8AC3E}">
        <p14:creationId xmlns:p14="http://schemas.microsoft.com/office/powerpoint/2010/main" xmlns="" val="388654492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lstStyle/>
          <a:p>
            <a:r>
              <a:rPr lang="en-US" b="1" dirty="0">
                <a:latin typeface="Arial Narrow" pitchFamily="34" charset="0"/>
              </a:rPr>
              <a:t>Advantages of RM</a:t>
            </a:r>
          </a:p>
        </p:txBody>
      </p:sp>
      <p:sp>
        <p:nvSpPr>
          <p:cNvPr id="3" name="Content Placeholder 2"/>
          <p:cNvSpPr>
            <a:spLocks noGrp="1"/>
          </p:cNvSpPr>
          <p:nvPr>
            <p:ph idx="1"/>
          </p:nvPr>
        </p:nvSpPr>
        <p:spPr>
          <a:xfrm>
            <a:off x="1752600" y="1600201"/>
            <a:ext cx="8686800" cy="4525963"/>
          </a:xfrm>
        </p:spPr>
        <p:txBody>
          <a:bodyPr/>
          <a:lstStyle/>
          <a:p>
            <a:r>
              <a:rPr lang="en-US" dirty="0">
                <a:latin typeface="Arial Narrow" pitchFamily="34" charset="0"/>
              </a:rPr>
              <a:t>Cost-Effective</a:t>
            </a:r>
          </a:p>
          <a:p>
            <a:r>
              <a:rPr lang="en-US" dirty="0">
                <a:latin typeface="Arial Narrow" pitchFamily="34" charset="0"/>
              </a:rPr>
              <a:t>Increase Customer Retention</a:t>
            </a:r>
          </a:p>
          <a:p>
            <a:r>
              <a:rPr lang="en-US" dirty="0">
                <a:latin typeface="Arial Narrow" pitchFamily="34" charset="0"/>
              </a:rPr>
              <a:t>Improve Your Marketing ROI</a:t>
            </a:r>
          </a:p>
          <a:p>
            <a:r>
              <a:rPr lang="en-US" dirty="0">
                <a:latin typeface="Arial Narrow" pitchFamily="34" charset="0"/>
              </a:rPr>
              <a:t>Increase Sales</a:t>
            </a:r>
          </a:p>
          <a:p>
            <a:r>
              <a:rPr lang="en-US" dirty="0">
                <a:latin typeface="Arial Narrow" pitchFamily="34" charset="0"/>
              </a:rPr>
              <a:t>Lead to Referrals and Higher Brand Awareness</a:t>
            </a:r>
          </a:p>
          <a:p>
            <a:r>
              <a:rPr lang="en-US" dirty="0">
                <a:latin typeface="Arial Narrow" pitchFamily="34" charset="0"/>
              </a:rPr>
              <a:t>Boost You Above the Competition</a:t>
            </a:r>
          </a:p>
        </p:txBody>
      </p:sp>
    </p:spTree>
    <p:extLst>
      <p:ext uri="{BB962C8B-B14F-4D97-AF65-F5344CB8AC3E}">
        <p14:creationId xmlns:p14="http://schemas.microsoft.com/office/powerpoint/2010/main" xmlns="" val="351498908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Differentiate between TM V/S RM </a:t>
            </a:r>
          </a:p>
        </p:txBody>
      </p:sp>
      <p:pic>
        <p:nvPicPr>
          <p:cNvPr id="67587" name="Picture 3"/>
          <p:cNvPicPr>
            <a:picLocks noChangeAspect="1" noChangeArrowheads="1"/>
          </p:cNvPicPr>
          <p:nvPr/>
        </p:nvPicPr>
        <p:blipFill>
          <a:blip r:embed="rId2"/>
          <a:srcRect/>
          <a:stretch>
            <a:fillRect/>
          </a:stretch>
        </p:blipFill>
        <p:spPr bwMode="auto">
          <a:xfrm>
            <a:off x="997527" y="1295400"/>
            <a:ext cx="9289473" cy="4953000"/>
          </a:xfrm>
          <a:prstGeom prst="rect">
            <a:avLst/>
          </a:prstGeom>
          <a:noFill/>
          <a:ln w="9525">
            <a:noFill/>
            <a:miter lim="800000"/>
            <a:headEnd/>
            <a:tailEnd/>
          </a:ln>
          <a:effectLst/>
        </p:spPr>
      </p:pic>
    </p:spTree>
    <p:extLst>
      <p:ext uri="{BB962C8B-B14F-4D97-AF65-F5344CB8AC3E}">
        <p14:creationId xmlns:p14="http://schemas.microsoft.com/office/powerpoint/2010/main" xmlns="" val="136019475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2818"/>
          </a:xfrm>
        </p:spPr>
        <p:txBody>
          <a:bodyPr>
            <a:normAutofit/>
          </a:bodyPr>
          <a:lstStyle/>
          <a:p>
            <a:r>
              <a:rPr lang="en-US" sz="2800" dirty="0">
                <a:latin typeface="Times New Roman" panose="02020603050405020304" pitchFamily="18" charset="0"/>
                <a:cs typeface="Times New Roman" panose="02020603050405020304" pitchFamily="18" charset="0"/>
              </a:rPr>
              <a:t>Marketing Strategies for Leaders</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57944"/>
            <a:ext cx="10515600" cy="5219019"/>
          </a:xfrm>
        </p:spPr>
        <p:txBody>
          <a:bodyPr/>
          <a:lstStyle/>
          <a:p>
            <a:pPr marL="0" indent="0" algn="just">
              <a:buNone/>
            </a:pPr>
            <a:r>
              <a:rPr lang="en-US" b="0" i="0" dirty="0">
                <a:solidFill>
                  <a:srgbClr val="4D5156"/>
                </a:solidFill>
                <a:effectLst/>
                <a:latin typeface="Google Sans"/>
              </a:rPr>
              <a:t>Who is Market Leader?:</a:t>
            </a:r>
          </a:p>
          <a:p>
            <a:pPr marL="0" indent="0" algn="just">
              <a:buNone/>
            </a:pPr>
            <a:r>
              <a:rPr lang="en-US" b="0" i="0" dirty="0">
                <a:solidFill>
                  <a:srgbClr val="4D5156"/>
                </a:solidFill>
                <a:effectLst/>
                <a:latin typeface="Google Sans"/>
              </a:rPr>
              <a:t> A market leader could be </a:t>
            </a:r>
            <a:r>
              <a:rPr lang="en-US" b="0" i="0" dirty="0">
                <a:solidFill>
                  <a:srgbClr val="040C28"/>
                </a:solidFill>
                <a:effectLst/>
                <a:latin typeface="Google Sans"/>
              </a:rPr>
              <a:t>a product, brand, company, </a:t>
            </a:r>
            <a:r>
              <a:rPr lang="en-US" b="0" i="0" dirty="0" err="1">
                <a:solidFill>
                  <a:srgbClr val="040C28"/>
                </a:solidFill>
                <a:effectLst/>
                <a:latin typeface="Google Sans"/>
              </a:rPr>
              <a:t>organisation</a:t>
            </a:r>
            <a:r>
              <a:rPr lang="en-US" b="0" i="0" dirty="0">
                <a:solidFill>
                  <a:srgbClr val="040C28"/>
                </a:solidFill>
                <a:effectLst/>
                <a:latin typeface="Google Sans"/>
              </a:rPr>
              <a:t>, group name which has the highest percentage of total sales revenue of a particular market</a:t>
            </a:r>
            <a:r>
              <a:rPr lang="en-US" b="0" i="0" dirty="0">
                <a:solidFill>
                  <a:srgbClr val="4D5156"/>
                </a:solidFill>
                <a:effectLst/>
                <a:latin typeface="Google Sans"/>
              </a:rPr>
              <a:t>. Market leader dominates the market by influencing the customer loyalty towards it, distribution, pricing, </a:t>
            </a:r>
            <a:r>
              <a:rPr lang="en-US" b="0" i="0" dirty="0" err="1">
                <a:solidFill>
                  <a:srgbClr val="4D5156"/>
                </a:solidFill>
                <a:effectLst/>
                <a:latin typeface="Google Sans"/>
              </a:rPr>
              <a:t>etc.</a:t>
            </a:r>
            <a:r>
              <a:rPr lang="en-US" dirty="0" err="1">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of Market Leader:</a:t>
            </a:r>
          </a:p>
          <a:p>
            <a:pPr marL="0" indent="0" algn="just">
              <a:buNone/>
            </a:pPr>
            <a:r>
              <a:rPr lang="en-US" dirty="0">
                <a:latin typeface="Times New Roman" panose="02020603050405020304" pitchFamily="18" charset="0"/>
                <a:cs typeface="Times New Roman" panose="02020603050405020304" pitchFamily="18" charset="0"/>
              </a:rPr>
              <a:t>In car market in India: </a:t>
            </a:r>
            <a:r>
              <a:rPr lang="en-US" dirty="0" err="1">
                <a:latin typeface="Times New Roman" panose="02020603050405020304" pitchFamily="18" charset="0"/>
                <a:cs typeface="Times New Roman" panose="02020603050405020304" pitchFamily="18" charset="0"/>
              </a:rPr>
              <a:t>Maruti</a:t>
            </a:r>
            <a:r>
              <a:rPr lang="en-US" dirty="0">
                <a:latin typeface="Times New Roman" panose="02020603050405020304" pitchFamily="18" charset="0"/>
                <a:cs typeface="Times New Roman" panose="02020603050405020304" pitchFamily="18" charset="0"/>
              </a:rPr>
              <a:t>, TATA ,Hyundai, KIA </a:t>
            </a:r>
            <a:r>
              <a:rPr lang="en-US" dirty="0" err="1">
                <a:latin typeface="Times New Roman" panose="02020603050405020304" pitchFamily="18" charset="0"/>
                <a:cs typeface="Times New Roman" panose="02020603050405020304" pitchFamily="18" charset="0"/>
              </a:rPr>
              <a:t>etc</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 Chocolate Market: Cadbury</a:t>
            </a:r>
          </a:p>
          <a:p>
            <a:pPr marL="0" indent="0" algn="just">
              <a:buNone/>
            </a:pPr>
            <a:r>
              <a:rPr lang="en-US" dirty="0">
                <a:latin typeface="Times New Roman" panose="02020603050405020304" pitchFamily="18" charset="0"/>
                <a:cs typeface="Times New Roman" panose="02020603050405020304" pitchFamily="18" charset="0"/>
              </a:rPr>
              <a:t>In Beverages: </a:t>
            </a:r>
            <a:r>
              <a:rPr lang="en-US" dirty="0" err="1">
                <a:latin typeface="Times New Roman" panose="02020603050405020304" pitchFamily="18" charset="0"/>
                <a:cs typeface="Times New Roman" panose="02020603050405020304" pitchFamily="18" charset="0"/>
              </a:rPr>
              <a:t>Cococola</a:t>
            </a:r>
            <a:r>
              <a:rPr lang="en-US" dirty="0">
                <a:latin typeface="Times New Roman" panose="02020603050405020304" pitchFamily="18" charset="0"/>
                <a:cs typeface="Times New Roman" panose="02020603050405020304" pitchFamily="18" charset="0"/>
              </a:rPr>
              <a:t>, Pepsi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5209677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FB692C-2493-7AB2-292A-807DD1F4755D}"/>
              </a:ext>
            </a:extLst>
          </p:cNvPr>
          <p:cNvSpPr>
            <a:spLocks noGrp="1"/>
          </p:cNvSpPr>
          <p:nvPr>
            <p:ph type="title"/>
          </p:nvPr>
        </p:nvSpPr>
        <p:spPr/>
        <p:txBody>
          <a:bodyPr/>
          <a:lstStyle/>
          <a:p>
            <a:r>
              <a:rPr lang="en-US" dirty="0"/>
              <a:t>Marketing Strategies of Market Leaders</a:t>
            </a:r>
            <a:endParaRPr lang="en-IN" dirty="0"/>
          </a:p>
        </p:txBody>
      </p:sp>
      <p:sp>
        <p:nvSpPr>
          <p:cNvPr id="3" name="Content Placeholder 2">
            <a:extLst>
              <a:ext uri="{FF2B5EF4-FFF2-40B4-BE49-F238E27FC236}">
                <a16:creationId xmlns:a16="http://schemas.microsoft.com/office/drawing/2014/main" xmlns="" id="{2A59E492-D1F4-53CC-D059-6E080B540422}"/>
              </a:ext>
            </a:extLst>
          </p:cNvPr>
          <p:cNvSpPr>
            <a:spLocks noGrp="1"/>
          </p:cNvSpPr>
          <p:nvPr>
            <p:ph idx="1"/>
          </p:nvPr>
        </p:nvSpPr>
        <p:spPr/>
        <p:txBody>
          <a:bodyPr/>
          <a:lstStyle/>
          <a:p>
            <a:r>
              <a:rPr lang="en-US" dirty="0"/>
              <a:t>Market Leaders adopt three broad strategies of marketing</a:t>
            </a:r>
          </a:p>
          <a:p>
            <a:r>
              <a:rPr lang="en-US" dirty="0"/>
              <a:t>1. Expand Market </a:t>
            </a:r>
            <a:endParaRPr lang="en-US" dirty="0" smtClean="0"/>
          </a:p>
          <a:p>
            <a:r>
              <a:rPr lang="en-US" dirty="0" smtClean="0"/>
              <a:t>2</a:t>
            </a:r>
            <a:r>
              <a:rPr lang="en-US" dirty="0"/>
              <a:t>. Defend Market share</a:t>
            </a:r>
          </a:p>
          <a:p>
            <a:r>
              <a:rPr lang="en-US" dirty="0"/>
              <a:t>3. Expand Market share</a:t>
            </a:r>
            <a:endParaRPr lang="en-IN" dirty="0"/>
          </a:p>
        </p:txBody>
      </p:sp>
    </p:spTree>
    <p:extLst>
      <p:ext uri="{BB962C8B-B14F-4D97-AF65-F5344CB8AC3E}">
        <p14:creationId xmlns:p14="http://schemas.microsoft.com/office/powerpoint/2010/main" xmlns="" val="23408565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9556FFB5-1852-F4EC-7996-E5B0E990A7E0}"/>
              </a:ext>
            </a:extLst>
          </p:cNvPr>
          <p:cNvPicPr>
            <a:picLocks noChangeAspect="1"/>
          </p:cNvPicPr>
          <p:nvPr/>
        </p:nvPicPr>
        <p:blipFill>
          <a:blip r:embed="rId2"/>
          <a:stretch>
            <a:fillRect/>
          </a:stretch>
        </p:blipFill>
        <p:spPr>
          <a:xfrm>
            <a:off x="311573" y="444647"/>
            <a:ext cx="3514725" cy="2200275"/>
          </a:xfrm>
          <a:prstGeom prst="rect">
            <a:avLst/>
          </a:prstGeom>
        </p:spPr>
      </p:pic>
      <p:pic>
        <p:nvPicPr>
          <p:cNvPr id="7" name="Picture 6">
            <a:extLst>
              <a:ext uri="{FF2B5EF4-FFF2-40B4-BE49-F238E27FC236}">
                <a16:creationId xmlns:a16="http://schemas.microsoft.com/office/drawing/2014/main" xmlns="" id="{6F209BE0-148D-B374-A23E-2F61EEEAC7B3}"/>
              </a:ext>
            </a:extLst>
          </p:cNvPr>
          <p:cNvPicPr>
            <a:picLocks noChangeAspect="1"/>
          </p:cNvPicPr>
          <p:nvPr/>
        </p:nvPicPr>
        <p:blipFill>
          <a:blip r:embed="rId3"/>
          <a:stretch>
            <a:fillRect/>
          </a:stretch>
        </p:blipFill>
        <p:spPr>
          <a:xfrm>
            <a:off x="4045526" y="368594"/>
            <a:ext cx="3514725" cy="2143143"/>
          </a:xfrm>
          <a:prstGeom prst="rect">
            <a:avLst/>
          </a:prstGeom>
        </p:spPr>
      </p:pic>
      <p:pic>
        <p:nvPicPr>
          <p:cNvPr id="8" name="Picture 2">
            <a:extLst>
              <a:ext uri="{FF2B5EF4-FFF2-40B4-BE49-F238E27FC236}">
                <a16:creationId xmlns:a16="http://schemas.microsoft.com/office/drawing/2014/main" xmlns="" id="{856FCA6D-418D-CD33-F82E-2B5868FC6A5C}"/>
              </a:ext>
            </a:extLst>
          </p:cNvPr>
          <p:cNvPicPr>
            <a:picLocks noChangeAspect="1" noChangeArrowheads="1"/>
          </p:cNvPicPr>
          <p:nvPr/>
        </p:nvPicPr>
        <p:blipFill>
          <a:blip r:embed="rId4"/>
          <a:srcRect/>
          <a:stretch>
            <a:fillRect/>
          </a:stretch>
        </p:blipFill>
        <p:spPr bwMode="auto">
          <a:xfrm>
            <a:off x="4045526" y="2511737"/>
            <a:ext cx="3514725" cy="4413303"/>
          </a:xfrm>
          <a:prstGeom prst="rect">
            <a:avLst/>
          </a:prstGeom>
          <a:noFill/>
          <a:ln w="9525">
            <a:noFill/>
            <a:miter lim="800000"/>
            <a:headEnd/>
            <a:tailEnd/>
          </a:ln>
          <a:effectLst/>
        </p:spPr>
      </p:pic>
      <p:pic>
        <p:nvPicPr>
          <p:cNvPr id="9" name="Picture 3">
            <a:extLst>
              <a:ext uri="{FF2B5EF4-FFF2-40B4-BE49-F238E27FC236}">
                <a16:creationId xmlns:a16="http://schemas.microsoft.com/office/drawing/2014/main" xmlns="" id="{C8EC4201-0EB6-D406-C45C-2F4DFC1314DE}"/>
              </a:ext>
            </a:extLst>
          </p:cNvPr>
          <p:cNvPicPr>
            <a:picLocks noChangeAspect="1" noChangeArrowheads="1"/>
          </p:cNvPicPr>
          <p:nvPr/>
        </p:nvPicPr>
        <p:blipFill>
          <a:blip r:embed="rId5"/>
          <a:srcRect/>
          <a:stretch>
            <a:fillRect/>
          </a:stretch>
        </p:blipFill>
        <p:spPr bwMode="auto">
          <a:xfrm>
            <a:off x="7703122" y="408113"/>
            <a:ext cx="3731493" cy="3505200"/>
          </a:xfrm>
          <a:prstGeom prst="rect">
            <a:avLst/>
          </a:prstGeom>
          <a:noFill/>
          <a:ln w="9525">
            <a:noFill/>
            <a:miter lim="800000"/>
            <a:headEnd/>
            <a:tailEnd/>
          </a:ln>
          <a:effectLst/>
        </p:spPr>
      </p:pic>
    </p:spTree>
    <p:extLst>
      <p:ext uri="{BB962C8B-B14F-4D97-AF65-F5344CB8AC3E}">
        <p14:creationId xmlns:p14="http://schemas.microsoft.com/office/powerpoint/2010/main" xmlns="" val="3983558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Market strategies for challengers</a:t>
            </a:r>
            <a:endParaRPr lang="en-IN" dirty="0"/>
          </a:p>
        </p:txBody>
      </p:sp>
      <p:sp>
        <p:nvSpPr>
          <p:cNvPr id="3" name="Content Placeholder 2"/>
          <p:cNvSpPr>
            <a:spLocks noGrp="1"/>
          </p:cNvSpPr>
          <p:nvPr>
            <p:ph idx="1"/>
          </p:nvPr>
        </p:nvSpPr>
        <p:spPr/>
        <p:txBody>
          <a:bodyPr/>
          <a:lstStyle/>
          <a:p>
            <a:pPr marL="0" indent="0">
              <a:buNone/>
            </a:pPr>
            <a:r>
              <a:rPr lang="en-IN" dirty="0" smtClean="0"/>
              <a:t>Who are market challengers?</a:t>
            </a:r>
          </a:p>
          <a:p>
            <a:pPr marL="0" indent="0">
              <a:buNone/>
            </a:pPr>
            <a:r>
              <a:rPr lang="en-US" dirty="0"/>
              <a:t>A market challenger is a firm that has a market share below that of the market leader, but enough of a presence that it can exert upward pressure in its effort to gain more control. Market challengers are able to jockey for industry leadership in several ways</a:t>
            </a:r>
            <a:r>
              <a:rPr lang="en-US" dirty="0" smtClean="0"/>
              <a:t>:</a:t>
            </a:r>
          </a:p>
          <a:p>
            <a:pPr marL="0" indent="0">
              <a:buNone/>
            </a:pPr>
            <a:r>
              <a:rPr lang="en-US" dirty="0" smtClean="0"/>
              <a:t>Example: Pepsi is the market challenger for </a:t>
            </a:r>
            <a:r>
              <a:rPr lang="en-US" dirty="0" err="1" smtClean="0"/>
              <a:t>Cocacola</a:t>
            </a:r>
            <a:endParaRPr lang="en-US" dirty="0" smtClean="0"/>
          </a:p>
          <a:p>
            <a:pPr marL="0" indent="0">
              <a:buNone/>
            </a:pPr>
            <a:r>
              <a:rPr lang="en-US" dirty="0"/>
              <a:t>	</a:t>
            </a:r>
            <a:r>
              <a:rPr lang="en-US" dirty="0" smtClean="0"/>
              <a:t>      </a:t>
            </a:r>
            <a:endParaRPr lang="en-IN" dirty="0" smtClean="0"/>
          </a:p>
          <a:p>
            <a:pPr marL="0" indent="0">
              <a:buNone/>
            </a:pPr>
            <a:endParaRPr lang="en-IN" dirty="0"/>
          </a:p>
        </p:txBody>
      </p:sp>
    </p:spTree>
    <p:extLst>
      <p:ext uri="{BB962C8B-B14F-4D97-AF65-F5344CB8AC3E}">
        <p14:creationId xmlns:p14="http://schemas.microsoft.com/office/powerpoint/2010/main" xmlns="" val="790891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73825" y="232756"/>
            <a:ext cx="11163993" cy="6209608"/>
          </a:xfrm>
          <a:prstGeom prst="rect">
            <a:avLst/>
          </a:prstGeom>
        </p:spPr>
      </p:pic>
    </p:spTree>
    <p:extLst>
      <p:ext uri="{BB962C8B-B14F-4D97-AF65-F5344CB8AC3E}">
        <p14:creationId xmlns:p14="http://schemas.microsoft.com/office/powerpoint/2010/main" xmlns="" val="41745767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915789" y="295103"/>
            <a:ext cx="8839200" cy="4509655"/>
          </a:xfrm>
        </p:spPr>
        <p:txBody>
          <a:bodyPr>
            <a:noAutofit/>
          </a:bodyPr>
          <a:lstStyle/>
          <a:p>
            <a:pPr algn="just"/>
            <a:r>
              <a:rPr lang="en-US" sz="1600" b="1" dirty="0" smtClean="0">
                <a:latin typeface="Times New Roman" panose="02020603050405020304" pitchFamily="18" charset="0"/>
                <a:cs typeface="Times New Roman" panose="02020603050405020304" pitchFamily="18" charset="0"/>
              </a:rPr>
              <a:t>Frontal Attack:</a:t>
            </a:r>
            <a:r>
              <a:rPr lang="en-US" sz="1600" dirty="0" smtClean="0">
                <a:latin typeface="Times New Roman" panose="02020603050405020304" pitchFamily="18" charset="0"/>
                <a:cs typeface="Times New Roman" panose="02020603050405020304" pitchFamily="18" charset="0"/>
              </a:rPr>
              <a:t> The frontal attack is the direct attack, wherein the market challenger matches with the competitor’s product, price, advertising, and promotion activities.</a:t>
            </a:r>
          </a:p>
          <a:p>
            <a:pPr algn="just">
              <a:buNone/>
            </a:pPr>
            <a:r>
              <a:rPr lang="en-US" sz="1600" dirty="0" smtClean="0">
                <a:latin typeface="Times New Roman" panose="02020603050405020304" pitchFamily="18" charset="0"/>
                <a:cs typeface="Times New Roman" panose="02020603050405020304" pitchFamily="18" charset="0"/>
              </a:rPr>
              <a:t>	Example: </a:t>
            </a:r>
            <a:r>
              <a:rPr lang="en-US" sz="1600" dirty="0" err="1" smtClean="0">
                <a:latin typeface="Times New Roman" panose="02020603050405020304" pitchFamily="18" charset="0"/>
                <a:cs typeface="Times New Roman" panose="02020603050405020304" pitchFamily="18" charset="0"/>
              </a:rPr>
              <a:t>Amul</a:t>
            </a:r>
            <a:r>
              <a:rPr lang="en-US" sz="1600" dirty="0" smtClean="0">
                <a:latin typeface="Times New Roman" panose="02020603050405020304" pitchFamily="18" charset="0"/>
                <a:cs typeface="Times New Roman" panose="02020603050405020304" pitchFamily="18" charset="0"/>
              </a:rPr>
              <a:t> adopted this strategy when it launched </a:t>
            </a:r>
            <a:r>
              <a:rPr lang="en-US" sz="1600" dirty="0" err="1" smtClean="0">
                <a:latin typeface="Times New Roman" panose="02020603050405020304" pitchFamily="18" charset="0"/>
                <a:cs typeface="Times New Roman" panose="02020603050405020304" pitchFamily="18" charset="0"/>
              </a:rPr>
              <a:t>Amul</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Kool</a:t>
            </a:r>
            <a:r>
              <a:rPr lang="en-US" sz="1600" dirty="0" smtClean="0">
                <a:latin typeface="Times New Roman" panose="02020603050405020304" pitchFamily="18" charset="0"/>
                <a:cs typeface="Times New Roman" panose="02020603050405020304" pitchFamily="18" charset="0"/>
              </a:rPr>
              <a:t> and </a:t>
            </a:r>
            <a:r>
              <a:rPr lang="en-US" sz="1600" dirty="0" err="1" smtClean="0">
                <a:latin typeface="Times New Roman" panose="02020603050405020304" pitchFamily="18" charset="0"/>
                <a:cs typeface="Times New Roman" panose="02020603050405020304" pitchFamily="18" charset="0"/>
              </a:rPr>
              <a:t>Amul</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Masti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Dahi</a:t>
            </a:r>
            <a:r>
              <a:rPr lang="en-US" sz="1600" dirty="0" smtClean="0">
                <a:latin typeface="Times New Roman" panose="02020603050405020304" pitchFamily="18" charset="0"/>
                <a:cs typeface="Times New Roman" panose="02020603050405020304" pitchFamily="18" charset="0"/>
              </a:rPr>
              <a:t> at a low price with the same level of the quality as that of other competitors in the market.</a:t>
            </a:r>
          </a:p>
          <a:p>
            <a:pPr algn="just"/>
            <a:r>
              <a:rPr lang="en-US" sz="1600" b="1" dirty="0" smtClean="0">
                <a:latin typeface="Times New Roman" panose="02020603050405020304" pitchFamily="18" charset="0"/>
                <a:cs typeface="Times New Roman" panose="02020603050405020304" pitchFamily="18" charset="0"/>
              </a:rPr>
              <a:t>Flank Attack: </a:t>
            </a:r>
            <a:r>
              <a:rPr lang="en-US" sz="1600" dirty="0" smtClean="0">
                <a:latin typeface="Times New Roman" panose="02020603050405020304" pitchFamily="18" charset="0"/>
                <a:cs typeface="Times New Roman" panose="02020603050405020304" pitchFamily="18" charset="0"/>
              </a:rPr>
              <a:t>The flank attack means, attacking the competitor on its weak points. Here the market challenger determines the weak areas of the competitor in terms of two strategic dimensions i.e. Geographic and segmental.</a:t>
            </a:r>
          </a:p>
          <a:p>
            <a:pPr algn="just">
              <a:buNone/>
            </a:pPr>
            <a:r>
              <a:rPr lang="en-US" sz="1600" dirty="0" smtClean="0">
                <a:latin typeface="Times New Roman" panose="02020603050405020304" pitchFamily="18" charset="0"/>
                <a:cs typeface="Times New Roman" panose="02020603050405020304" pitchFamily="18" charset="0"/>
              </a:rPr>
              <a:t>	 Example: L.G has successfully made use of this strategy by introducing the color </a:t>
            </a:r>
            <a:r>
              <a:rPr lang="en-US" sz="1600" dirty="0" err="1" smtClean="0">
                <a:latin typeface="Times New Roman" panose="02020603050405020304" pitchFamily="18" charset="0"/>
                <a:cs typeface="Times New Roman" panose="02020603050405020304" pitchFamily="18" charset="0"/>
              </a:rPr>
              <a:t>tv</a:t>
            </a:r>
            <a:r>
              <a:rPr lang="en-US" sz="1600" dirty="0" smtClean="0">
                <a:latin typeface="Times New Roman" panose="02020603050405020304" pitchFamily="18" charset="0"/>
                <a:cs typeface="Times New Roman" panose="02020603050405020304" pitchFamily="18" charset="0"/>
              </a:rPr>
              <a:t> “ </a:t>
            </a:r>
            <a:r>
              <a:rPr lang="en-US" sz="1600" dirty="0" err="1" smtClean="0">
                <a:latin typeface="Times New Roman" panose="02020603050405020304" pitchFamily="18" charset="0"/>
                <a:cs typeface="Times New Roman" panose="02020603050405020304" pitchFamily="18" charset="0"/>
              </a:rPr>
              <a:t>Sampoorna</a:t>
            </a:r>
            <a:r>
              <a:rPr lang="en-US" sz="1600" dirty="0" smtClean="0">
                <a:latin typeface="Times New Roman" panose="02020603050405020304" pitchFamily="18" charset="0"/>
                <a:cs typeface="Times New Roman" panose="02020603050405020304" pitchFamily="18" charset="0"/>
              </a:rPr>
              <a:t>” for the rural people and outshine the other colored TV players who had a less focus on these areas.</a:t>
            </a:r>
          </a:p>
          <a:p>
            <a:pPr algn="just"/>
            <a:r>
              <a:rPr lang="en-US" sz="1600" b="1" dirty="0" smtClean="0">
                <a:latin typeface="Times New Roman" panose="02020603050405020304" pitchFamily="18" charset="0"/>
                <a:cs typeface="Times New Roman" panose="02020603050405020304" pitchFamily="18" charset="0"/>
              </a:rPr>
              <a:t>Encirclement Attack:</a:t>
            </a:r>
            <a:r>
              <a:rPr lang="en-US" sz="1600" dirty="0" smtClean="0">
                <a:latin typeface="Times New Roman" panose="02020603050405020304" pitchFamily="18" charset="0"/>
                <a:cs typeface="Times New Roman" panose="02020603050405020304" pitchFamily="18" charset="0"/>
              </a:rPr>
              <a:t> The encirclement attack means, attacking the market leader or a competitor from all the fronts simultaneously, it is the combination of both the frontal and the flank attack.</a:t>
            </a:r>
          </a:p>
          <a:p>
            <a:pPr>
              <a:buNone/>
            </a:pPr>
            <a:r>
              <a:rPr lang="en-US" sz="1600" dirty="0" smtClean="0">
                <a:latin typeface="Times New Roman" panose="02020603050405020304" pitchFamily="18" charset="0"/>
                <a:cs typeface="Times New Roman" panose="02020603050405020304" pitchFamily="18" charset="0"/>
              </a:rPr>
              <a:t>	Example: The FMCG industry applies this attack more aggressively with the intention to outshine the other. ITC and HUL could be the best examples.</a:t>
            </a:r>
          </a:p>
          <a:p>
            <a:pPr algn="just"/>
            <a:r>
              <a:rPr lang="en-US" sz="1600" b="1" dirty="0">
                <a:latin typeface="Times New Roman" panose="02020603050405020304" pitchFamily="18" charset="0"/>
                <a:cs typeface="Times New Roman" panose="02020603050405020304" pitchFamily="18" charset="0"/>
              </a:rPr>
              <a:t>Bypass Attack:</a:t>
            </a:r>
            <a:r>
              <a:rPr lang="en-US" sz="1600" dirty="0">
                <a:latin typeface="Times New Roman" panose="02020603050405020304" pitchFamily="18" charset="0"/>
                <a:cs typeface="Times New Roman" panose="02020603050405020304" pitchFamily="18" charset="0"/>
              </a:rPr>
              <a:t> The bypass attack is the indirect attack, wherein the market challenger does not attack the leader directly, but broaden its market share by attacking the easier markets.</a:t>
            </a:r>
          </a:p>
          <a:p>
            <a:pPr algn="just">
              <a:buNone/>
            </a:pPr>
            <a:r>
              <a:rPr lang="en-US" sz="1600" dirty="0">
                <a:latin typeface="Times New Roman" panose="02020603050405020304" pitchFamily="18" charset="0"/>
                <a:cs typeface="Times New Roman" panose="02020603050405020304" pitchFamily="18" charset="0"/>
              </a:rPr>
              <a:t>	Example: Pepsi adopted this strategy when it launched its mineral water brand “Aquafina” very well before the Coca Cola’s mineral water brand.</a:t>
            </a:r>
          </a:p>
          <a:p>
            <a:pPr algn="just"/>
            <a:r>
              <a:rPr lang="en-US" sz="1600" b="1" dirty="0">
                <a:latin typeface="Times New Roman" panose="02020603050405020304" pitchFamily="18" charset="0"/>
                <a:cs typeface="Times New Roman" panose="02020603050405020304" pitchFamily="18" charset="0"/>
              </a:rPr>
              <a:t>Guerrilla Warfare:</a:t>
            </a:r>
            <a:r>
              <a:rPr lang="en-US" sz="1600" dirty="0">
                <a:latin typeface="Times New Roman" panose="02020603050405020304" pitchFamily="18" charset="0"/>
                <a:cs typeface="Times New Roman" panose="02020603050405020304" pitchFamily="18" charset="0"/>
              </a:rPr>
              <a:t> The Guerrilla warfare is the intermittent attacks imposed by the challenger to demoralize the competitor by adopting both the conventional and unconventional means of attack.</a:t>
            </a:r>
          </a:p>
          <a:p>
            <a:pPr algn="just">
              <a:buNone/>
            </a:pP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Example: The Pepsi and Coca-Cola follow this strategy aggressively with the intention to harass each </a:t>
            </a:r>
            <a:r>
              <a:rPr lang="en-US" sz="1600" dirty="0" err="1">
                <a:latin typeface="Times New Roman" panose="02020603050405020304" pitchFamily="18" charset="0"/>
                <a:cs typeface="Times New Roman" panose="02020603050405020304" pitchFamily="18" charset="0"/>
              </a:rPr>
              <a:t>other.When</a:t>
            </a:r>
            <a:r>
              <a:rPr lang="en-US" sz="1600" dirty="0">
                <a:latin typeface="Times New Roman" panose="02020603050405020304" pitchFamily="18" charset="0"/>
                <a:cs typeface="Times New Roman" panose="02020603050405020304" pitchFamily="18" charset="0"/>
              </a:rPr>
              <a:t> the </a:t>
            </a:r>
            <a:r>
              <a:rPr lang="en-US" sz="1600" dirty="0" err="1">
                <a:latin typeface="Times New Roman" panose="02020603050405020304" pitchFamily="18" charset="0"/>
                <a:cs typeface="Times New Roman" panose="02020603050405020304" pitchFamily="18" charset="0"/>
              </a:rPr>
              <a:t>Coca-cola</a:t>
            </a:r>
            <a:r>
              <a:rPr lang="en-US" sz="1600" dirty="0">
                <a:latin typeface="Times New Roman" panose="02020603050405020304" pitchFamily="18" charset="0"/>
                <a:cs typeface="Times New Roman" panose="02020603050405020304" pitchFamily="18" charset="0"/>
              </a:rPr>
              <a:t> was the official partner of the world cup, the Pepsi counter-attacked it by using the punch line “ Nothing official about it”.</a:t>
            </a:r>
          </a:p>
          <a:p>
            <a:pPr>
              <a:buNone/>
            </a:pPr>
            <a:r>
              <a:rPr lang="en-US" sz="1800" dirty="0" smtClean="0">
                <a:latin typeface="Arial Narrow" pitchFamily="34" charset="0"/>
              </a:rPr>
              <a:t/>
            </a:r>
            <a:br>
              <a:rPr lang="en-US" sz="1800" dirty="0" smtClean="0">
                <a:latin typeface="Arial Narrow" pitchFamily="34" charset="0"/>
              </a:rPr>
            </a:br>
            <a:endParaRPr lang="en-US" sz="1800" dirty="0" smtClean="0">
              <a:latin typeface="Arial Narrow" pitchFamily="34" charset="0"/>
            </a:endParaRPr>
          </a:p>
        </p:txBody>
      </p:sp>
    </p:spTree>
    <p:extLst>
      <p:ext uri="{BB962C8B-B14F-4D97-AF65-F5344CB8AC3E}">
        <p14:creationId xmlns:p14="http://schemas.microsoft.com/office/powerpoint/2010/main" xmlns="" val="22645677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81503"/>
            <a:ext cx="10515600" cy="590839"/>
          </a:xfrm>
        </p:spPr>
        <p:txBody>
          <a:bodyPr>
            <a:normAutofit fontScale="90000"/>
          </a:bodyPr>
          <a:lstStyle/>
          <a:p>
            <a:r>
              <a:rPr lang="en-IN" dirty="0" smtClean="0"/>
              <a:t>Market followers</a:t>
            </a:r>
            <a:endParaRPr lang="en-IN" dirty="0"/>
          </a:p>
        </p:txBody>
      </p:sp>
      <p:sp>
        <p:nvSpPr>
          <p:cNvPr id="3" name="Content Placeholder 2"/>
          <p:cNvSpPr>
            <a:spLocks noGrp="1"/>
          </p:cNvSpPr>
          <p:nvPr>
            <p:ph idx="1"/>
          </p:nvPr>
        </p:nvSpPr>
        <p:spPr>
          <a:xfrm>
            <a:off x="838200" y="1138844"/>
            <a:ext cx="10515600" cy="5038119"/>
          </a:xfrm>
        </p:spPr>
        <p:txBody>
          <a:bodyPr>
            <a:normAutofit lnSpcReduction="10000"/>
          </a:bodyPr>
          <a:lstStyle/>
          <a:p>
            <a:pPr marL="0" indent="0">
              <a:buNone/>
            </a:pPr>
            <a:r>
              <a:rPr lang="en-US" dirty="0" smtClean="0"/>
              <a:t>Who is market challenger?</a:t>
            </a:r>
          </a:p>
          <a:p>
            <a:pPr marL="0" indent="0" algn="just">
              <a:buNone/>
            </a:pPr>
            <a:r>
              <a:rPr lang="en-US" dirty="0" smtClean="0"/>
              <a:t>A </a:t>
            </a:r>
            <a:r>
              <a:rPr lang="en-US" dirty="0"/>
              <a:t>company holding a major market share and competing vigorously with the market leader for outright leadership</a:t>
            </a:r>
            <a:r>
              <a:rPr lang="en-US" dirty="0" smtClean="0"/>
              <a:t>.</a:t>
            </a:r>
          </a:p>
          <a:p>
            <a:pPr marL="0" indent="0" algn="just">
              <a:buNone/>
            </a:pPr>
            <a:r>
              <a:rPr lang="en-US" dirty="0" smtClean="0"/>
              <a:t>A </a:t>
            </a:r>
            <a:r>
              <a:rPr lang="en-US" dirty="0"/>
              <a:t>company that is not the leading company in a particular market but that chooses to keep its position rather than competing in a forceful way to increase its share of the market: Market followers must know how to hold current customers</a:t>
            </a:r>
            <a:r>
              <a:rPr lang="en-US" dirty="0" smtClean="0"/>
              <a:t>. </a:t>
            </a:r>
            <a:r>
              <a:rPr lang="en-US" dirty="0"/>
              <a:t>Market followers must know how to hold current customers</a:t>
            </a:r>
            <a:r>
              <a:rPr lang="en-US" dirty="0" smtClean="0"/>
              <a:t>.</a:t>
            </a:r>
          </a:p>
          <a:p>
            <a:pPr marL="0" indent="0" algn="just">
              <a:buNone/>
            </a:pPr>
            <a:r>
              <a:rPr lang="en-US" dirty="0" smtClean="0">
                <a:latin typeface="Times New Roman" panose="02020603050405020304" pitchFamily="18" charset="0"/>
                <a:cs typeface="Times New Roman" panose="02020603050405020304" pitchFamily="18" charset="0"/>
              </a:rPr>
              <a:t>Example: Panasonic </a:t>
            </a:r>
            <a:r>
              <a:rPr lang="en-US" dirty="0">
                <a:latin typeface="Times New Roman" panose="02020603050405020304" pitchFamily="18" charset="0"/>
                <a:cs typeface="Times New Roman" panose="02020603050405020304" pitchFamily="18" charset="0"/>
              </a:rPr>
              <a:t>rarely innovates new products. Instead, rather copied Sony’s new products, and then selling them at lower prices. Panasonic earns higher profits than Sony because they did not have to bear the cost of innovation and education. Sony looks at Panasonic as bitter enemies.</a:t>
            </a:r>
          </a:p>
          <a:p>
            <a:pPr marL="0" indent="0" algn="just">
              <a:buNone/>
            </a:pPr>
            <a:endParaRPr lang="en-IN" dirty="0"/>
          </a:p>
        </p:txBody>
      </p:sp>
    </p:spTree>
    <p:extLst>
      <p:ext uri="{BB962C8B-B14F-4D97-AF65-F5344CB8AC3E}">
        <p14:creationId xmlns:p14="http://schemas.microsoft.com/office/powerpoint/2010/main" xmlns="" val="14383134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3595"/>
          </a:xfrm>
        </p:spPr>
        <p:txBody>
          <a:bodyPr/>
          <a:lstStyle/>
          <a:p>
            <a:r>
              <a:rPr lang="en-IN" dirty="0" smtClean="0"/>
              <a:t>Strategies adopted by market followers.</a:t>
            </a:r>
            <a:endParaRPr lang="en-IN" dirty="0"/>
          </a:p>
        </p:txBody>
      </p:sp>
      <p:sp>
        <p:nvSpPr>
          <p:cNvPr id="3" name="Content Placeholder 2"/>
          <p:cNvSpPr>
            <a:spLocks noGrp="1"/>
          </p:cNvSpPr>
          <p:nvPr>
            <p:ph idx="1"/>
          </p:nvPr>
        </p:nvSpPr>
        <p:spPr>
          <a:xfrm>
            <a:off x="838200" y="1188720"/>
            <a:ext cx="10515600" cy="4988243"/>
          </a:xfrm>
        </p:spPr>
        <p:txBody>
          <a:bodyPr/>
          <a:lstStyle/>
          <a:p>
            <a:pPr marL="457200" indent="-457200" algn="just">
              <a:spcBef>
                <a:spcPts val="0"/>
              </a:spcBef>
              <a:buFont typeface="+mj-lt"/>
              <a:buAutoNum type="arabicPeriod"/>
            </a:pPr>
            <a:r>
              <a:rPr lang="en-US" b="1" dirty="0" smtClean="0">
                <a:latin typeface="Arial Narrow" pitchFamily="34" charset="0"/>
              </a:rPr>
              <a:t>Duffer </a:t>
            </a:r>
            <a:r>
              <a:rPr lang="en-US" b="1" dirty="0">
                <a:latin typeface="Arial Narrow" pitchFamily="34" charset="0"/>
              </a:rPr>
              <a:t>– </a:t>
            </a:r>
            <a:r>
              <a:rPr lang="en-US" dirty="0">
                <a:latin typeface="Arial Narrow" pitchFamily="34" charset="0"/>
              </a:rPr>
              <a:t>Duffer duplicates products and packaging leaders and selling them on the black market or through disreputable dealers.   </a:t>
            </a:r>
          </a:p>
          <a:p>
            <a:pPr marL="457200" indent="-457200" algn="just">
              <a:spcBef>
                <a:spcPts val="0"/>
              </a:spcBef>
              <a:buFont typeface="+mj-lt"/>
              <a:buAutoNum type="arabicPeriod"/>
            </a:pPr>
            <a:r>
              <a:rPr lang="en-US" b="1" dirty="0">
                <a:latin typeface="Arial Narrow" pitchFamily="34" charset="0"/>
              </a:rPr>
              <a:t>Cloner – </a:t>
            </a:r>
            <a:r>
              <a:rPr lang="en-US" dirty="0">
                <a:latin typeface="Arial Narrow" pitchFamily="34" charset="0"/>
              </a:rPr>
              <a:t>Cloner mimics products, distribution, advertising, and other segments of the leader. Product and packaging Cloner similar to those of the leaders, but the name brand products are somewhat different, such as “Choco-Cola” instead of “Coca-Cola”.</a:t>
            </a:r>
          </a:p>
          <a:p>
            <a:pPr marL="457200" indent="-457200" algn="just">
              <a:spcBef>
                <a:spcPts val="0"/>
              </a:spcBef>
              <a:buFont typeface="+mj-lt"/>
              <a:buAutoNum type="arabicPeriod"/>
            </a:pPr>
            <a:r>
              <a:rPr lang="en-US" b="1" dirty="0">
                <a:latin typeface="Arial Narrow" pitchFamily="34" charset="0"/>
              </a:rPr>
              <a:t>Imitator – </a:t>
            </a:r>
            <a:r>
              <a:rPr lang="en-US" dirty="0">
                <a:latin typeface="Arial Narrow" pitchFamily="34" charset="0"/>
              </a:rPr>
              <a:t>Imitator copies leaders in some elements, but keeps diversity in terms of packaging, advertising, pricing, and so on.</a:t>
            </a:r>
          </a:p>
          <a:p>
            <a:pPr marL="457200" indent="-457200" algn="just">
              <a:spcBef>
                <a:spcPts val="0"/>
              </a:spcBef>
              <a:buFont typeface="+mj-lt"/>
              <a:buAutoNum type="arabicPeriod"/>
            </a:pPr>
            <a:r>
              <a:rPr lang="en-US" b="1" dirty="0">
                <a:latin typeface="Arial Narrow" pitchFamily="34" charset="0"/>
              </a:rPr>
              <a:t>Adapter – </a:t>
            </a:r>
            <a:r>
              <a:rPr lang="en-US" dirty="0">
                <a:latin typeface="Arial Narrow" pitchFamily="34" charset="0"/>
              </a:rPr>
              <a:t>The adapter takes produce leaders and adapts them, or better. The adapter can choose to sell them in different markets in order to avoid direct confrontation with the leader. </a:t>
            </a:r>
          </a:p>
          <a:p>
            <a:pPr marL="0" indent="0">
              <a:buNone/>
            </a:pPr>
            <a:endParaRPr lang="en-IN" dirty="0"/>
          </a:p>
        </p:txBody>
      </p:sp>
    </p:spTree>
    <p:extLst>
      <p:ext uri="{BB962C8B-B14F-4D97-AF65-F5344CB8AC3E}">
        <p14:creationId xmlns:p14="http://schemas.microsoft.com/office/powerpoint/2010/main" xmlns="" val="9034520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0591"/>
          </a:xfrm>
        </p:spPr>
        <p:txBody>
          <a:bodyPr>
            <a:normAutofit fontScale="90000"/>
          </a:bodyPr>
          <a:lstStyle/>
          <a:p>
            <a:r>
              <a:rPr lang="en-US" b="1" dirty="0">
                <a:latin typeface="Arial Narrow" pitchFamily="34" charset="0"/>
              </a:rPr>
              <a:t>Marketing Strategy for start ups</a:t>
            </a:r>
            <a:endParaRPr lang="en-IN" dirty="0"/>
          </a:p>
        </p:txBody>
      </p:sp>
      <p:sp>
        <p:nvSpPr>
          <p:cNvPr id="3" name="Content Placeholder 2"/>
          <p:cNvSpPr>
            <a:spLocks noGrp="1"/>
          </p:cNvSpPr>
          <p:nvPr>
            <p:ph idx="1"/>
          </p:nvPr>
        </p:nvSpPr>
        <p:spPr>
          <a:xfrm>
            <a:off x="838200" y="1055716"/>
            <a:ext cx="10515600" cy="5121247"/>
          </a:xfrm>
        </p:spPr>
        <p:txBody>
          <a:bodyPr/>
          <a:lstStyle/>
          <a:p>
            <a:pPr marL="0" indent="0">
              <a:buNone/>
            </a:pPr>
            <a:r>
              <a:rPr lang="en-IN" dirty="0" smtClean="0"/>
              <a:t>What is start up company.</a:t>
            </a:r>
          </a:p>
          <a:p>
            <a:pPr marL="0" indent="0">
              <a:buNone/>
            </a:pPr>
            <a:r>
              <a:rPr lang="en-IN" dirty="0" smtClean="0"/>
              <a:t>A new company trying to establish its new business in the competitive market.</a:t>
            </a:r>
          </a:p>
          <a:p>
            <a:pPr algn="just"/>
            <a:r>
              <a:rPr lang="en-US" b="1" u="sng" dirty="0">
                <a:latin typeface="Arial Narrow" pitchFamily="34" charset="0"/>
              </a:rPr>
              <a:t>Strategies:</a:t>
            </a:r>
          </a:p>
          <a:p>
            <a:pPr marL="514350" indent="-514350" algn="just">
              <a:buFont typeface="+mj-lt"/>
              <a:buAutoNum type="arabicPeriod"/>
            </a:pPr>
            <a:r>
              <a:rPr lang="en-US" dirty="0">
                <a:latin typeface="Arial Narrow" pitchFamily="34" charset="0"/>
              </a:rPr>
              <a:t>Send Emails</a:t>
            </a:r>
          </a:p>
          <a:p>
            <a:pPr marL="514350" indent="-514350" algn="just">
              <a:buFont typeface="+mj-lt"/>
              <a:buAutoNum type="arabicPeriod"/>
            </a:pPr>
            <a:r>
              <a:rPr lang="en-US" dirty="0">
                <a:latin typeface="Arial Narrow" pitchFamily="34" charset="0"/>
              </a:rPr>
              <a:t>Start A Blog</a:t>
            </a:r>
          </a:p>
          <a:p>
            <a:pPr marL="514350" indent="-514350" algn="just">
              <a:buFont typeface="+mj-lt"/>
              <a:buAutoNum type="arabicPeriod"/>
            </a:pPr>
            <a:r>
              <a:rPr lang="en-US" dirty="0">
                <a:latin typeface="Arial Narrow" pitchFamily="34" charset="0"/>
              </a:rPr>
              <a:t>Post On Social Media</a:t>
            </a:r>
          </a:p>
          <a:p>
            <a:pPr marL="514350" indent="-514350" algn="just">
              <a:buFont typeface="+mj-lt"/>
              <a:buAutoNum type="arabicPeriod"/>
            </a:pPr>
            <a:r>
              <a:rPr lang="en-US" dirty="0">
                <a:latin typeface="Arial Narrow" pitchFamily="34" charset="0"/>
              </a:rPr>
              <a:t>Use Paid Search Advertising (</a:t>
            </a:r>
            <a:r>
              <a:rPr lang="en-US" dirty="0" err="1">
                <a:latin typeface="Arial Narrow" pitchFamily="34" charset="0"/>
              </a:rPr>
              <a:t>AdWords</a:t>
            </a:r>
            <a:r>
              <a:rPr lang="en-US" dirty="0">
                <a:latin typeface="Arial Narrow" pitchFamily="34" charset="0"/>
              </a:rPr>
              <a:t> and Bing Ads are two of the leading paid search networks)</a:t>
            </a:r>
          </a:p>
          <a:p>
            <a:pPr marL="514350" indent="-514350" algn="just">
              <a:buFont typeface="+mj-lt"/>
              <a:buAutoNum type="arabicPeriod"/>
            </a:pPr>
            <a:r>
              <a:rPr lang="en-US" dirty="0">
                <a:latin typeface="Arial Narrow" pitchFamily="34" charset="0"/>
              </a:rPr>
              <a:t> Sponsor An Event</a:t>
            </a:r>
          </a:p>
          <a:p>
            <a:pPr marL="0" indent="0">
              <a:buNone/>
            </a:pPr>
            <a:endParaRPr lang="en-IN" dirty="0"/>
          </a:p>
        </p:txBody>
      </p:sp>
    </p:spTree>
    <p:extLst>
      <p:ext uri="{BB962C8B-B14F-4D97-AF65-F5344CB8AC3E}">
        <p14:creationId xmlns:p14="http://schemas.microsoft.com/office/powerpoint/2010/main" xmlns="" val="33112123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Box 2"/>
          <p:cNvSpPr txBox="1">
            <a:spLocks noChangeArrowheads="1"/>
          </p:cNvSpPr>
          <p:nvPr/>
        </p:nvSpPr>
        <p:spPr bwMode="auto">
          <a:xfrm>
            <a:off x="1752600" y="935038"/>
            <a:ext cx="8763000" cy="5694363"/>
          </a:xfrm>
          <a:prstGeom prst="rect">
            <a:avLst/>
          </a:prstGeom>
          <a:noFill/>
          <a:ln w="9525">
            <a:noFill/>
            <a:miter lim="800000"/>
            <a:headEnd/>
            <a:tailEnd/>
          </a:ln>
        </p:spPr>
        <p:txBody>
          <a:bodyPr>
            <a:spAutoFit/>
          </a:bodyPr>
          <a:lstStyle/>
          <a:p>
            <a:pPr algn="just">
              <a:buFont typeface="Arial" pitchFamily="34" charset="0"/>
              <a:buChar char="•"/>
            </a:pPr>
            <a:r>
              <a:rPr lang="en-US" altLang="en-US" sz="2800" b="1" dirty="0">
                <a:solidFill>
                  <a:srgbClr val="202122"/>
                </a:solidFill>
                <a:latin typeface="Arial Narrow" pitchFamily="34" charset="0"/>
              </a:rPr>
              <a:t> Socially responsible marketing</a:t>
            </a:r>
            <a:r>
              <a:rPr lang="en-US" altLang="en-US" sz="2800" dirty="0">
                <a:solidFill>
                  <a:srgbClr val="202122"/>
                </a:solidFill>
                <a:latin typeface="Arial Narrow" pitchFamily="34" charset="0"/>
              </a:rPr>
              <a:t> is a </a:t>
            </a:r>
            <a:r>
              <a:rPr lang="en-US" altLang="en-US" sz="2800" dirty="0">
                <a:solidFill>
                  <a:srgbClr val="0B0080"/>
                </a:solidFill>
                <a:latin typeface="Arial Narrow" pitchFamily="34" charset="0"/>
              </a:rPr>
              <a:t>marketing</a:t>
            </a:r>
            <a:r>
              <a:rPr lang="en-US" altLang="en-US" sz="2800" dirty="0">
                <a:solidFill>
                  <a:srgbClr val="202122"/>
                </a:solidFill>
                <a:latin typeface="Arial Narrow" pitchFamily="34" charset="0"/>
              </a:rPr>
              <a:t> </a:t>
            </a:r>
            <a:r>
              <a:rPr lang="en-US" altLang="en-US" sz="2800" dirty="0">
                <a:solidFill>
                  <a:srgbClr val="0B0080"/>
                </a:solidFill>
                <a:latin typeface="Arial Narrow" pitchFamily="34" charset="0"/>
              </a:rPr>
              <a:t>philosophy,</a:t>
            </a:r>
            <a:r>
              <a:rPr lang="en-US" altLang="en-US" sz="2800" dirty="0">
                <a:solidFill>
                  <a:srgbClr val="202122"/>
                </a:solidFill>
                <a:latin typeface="Arial Narrow" pitchFamily="34" charset="0"/>
              </a:rPr>
              <a:t> that a </a:t>
            </a:r>
            <a:r>
              <a:rPr lang="en-US" altLang="en-US" sz="2800" dirty="0">
                <a:solidFill>
                  <a:srgbClr val="0B0080"/>
                </a:solidFill>
                <a:latin typeface="Arial Narrow" pitchFamily="34" charset="0"/>
              </a:rPr>
              <a:t>company</a:t>
            </a:r>
            <a:r>
              <a:rPr lang="en-US" altLang="en-US" sz="2800" dirty="0">
                <a:solidFill>
                  <a:srgbClr val="202122"/>
                </a:solidFill>
                <a:latin typeface="Arial Narrow" pitchFamily="34" charset="0"/>
              </a:rPr>
              <a:t> should take into consideration, "What is in the best interest of </a:t>
            </a:r>
            <a:r>
              <a:rPr lang="en-US" altLang="en-US" sz="2800" dirty="0">
                <a:solidFill>
                  <a:srgbClr val="0B0080"/>
                </a:solidFill>
                <a:latin typeface="Arial Narrow" pitchFamily="34" charset="0"/>
              </a:rPr>
              <a:t>society</a:t>
            </a:r>
            <a:r>
              <a:rPr lang="en-US" altLang="en-US" sz="2800" dirty="0">
                <a:solidFill>
                  <a:srgbClr val="202122"/>
                </a:solidFill>
                <a:latin typeface="Arial Narrow" pitchFamily="34" charset="0"/>
              </a:rPr>
              <a:t> in the present and long term.</a:t>
            </a:r>
          </a:p>
          <a:p>
            <a:pPr algn="just">
              <a:buFont typeface="Arial" pitchFamily="34" charset="0"/>
              <a:buChar char="•"/>
            </a:pPr>
            <a:r>
              <a:rPr lang="en-US" altLang="en-US" sz="2800" dirty="0">
                <a:latin typeface="Arial Narrow" pitchFamily="34" charset="0"/>
              </a:rPr>
              <a:t> The concept of social responsibility holds that businesses should be good citizens, balancing their money- making operations with activities that benefit society, be it on a local, national, or global scale. </a:t>
            </a:r>
          </a:p>
          <a:p>
            <a:pPr algn="just">
              <a:buFont typeface="Arial" pitchFamily="34" charset="0"/>
              <a:buChar char="•"/>
            </a:pPr>
            <a:r>
              <a:rPr lang="en-US" altLang="en-US" sz="2800" dirty="0">
                <a:latin typeface="Arial Narrow" pitchFamily="34" charset="0"/>
              </a:rPr>
              <a:t> Social responsibility in marketing involves focusing efforts on attracting consumers who want to make a positive difference with their purchases. </a:t>
            </a:r>
          </a:p>
          <a:p>
            <a:pPr algn="just">
              <a:buFont typeface="Arial" pitchFamily="34" charset="0"/>
              <a:buChar char="•"/>
            </a:pPr>
            <a:r>
              <a:rPr lang="en-US" altLang="en-US" sz="2800" dirty="0">
                <a:latin typeface="Arial Narrow" pitchFamily="34" charset="0"/>
              </a:rPr>
              <a:t> Many companies have adopted socially responsible elements in their marketing strategies as a means to help a community via beneficial services and products.</a:t>
            </a:r>
          </a:p>
        </p:txBody>
      </p:sp>
      <p:sp>
        <p:nvSpPr>
          <p:cNvPr id="44035" name="TextBox 4"/>
          <p:cNvSpPr txBox="1">
            <a:spLocks noChangeArrowheads="1"/>
          </p:cNvSpPr>
          <p:nvPr/>
        </p:nvSpPr>
        <p:spPr bwMode="auto">
          <a:xfrm>
            <a:off x="2286000" y="228601"/>
            <a:ext cx="7353300" cy="646113"/>
          </a:xfrm>
          <a:prstGeom prst="rect">
            <a:avLst/>
          </a:prstGeom>
          <a:noFill/>
          <a:ln w="9525">
            <a:noFill/>
            <a:miter lim="800000"/>
            <a:headEnd/>
            <a:tailEnd/>
          </a:ln>
        </p:spPr>
        <p:txBody>
          <a:bodyPr>
            <a:spAutoFit/>
          </a:bodyPr>
          <a:lstStyle/>
          <a:p>
            <a:pPr algn="ctr"/>
            <a:r>
              <a:rPr lang="en-US" altLang="en-US" sz="3600" b="1">
                <a:solidFill>
                  <a:srgbClr val="C00000"/>
                </a:solidFill>
                <a:latin typeface="Arial Narrow" pitchFamily="34" charset="0"/>
              </a:rPr>
              <a:t>Socially responsible marketing </a:t>
            </a:r>
            <a:endParaRPr lang="en-IN" altLang="en-US" sz="3600" b="1">
              <a:solidFill>
                <a:srgbClr val="C00000"/>
              </a:solidFill>
              <a:latin typeface="Arial Narrow" pitchFamily="34" charset="0"/>
            </a:endParaRPr>
          </a:p>
        </p:txBody>
      </p:sp>
    </p:spTree>
    <p:extLst>
      <p:ext uri="{BB962C8B-B14F-4D97-AF65-F5344CB8AC3E}">
        <p14:creationId xmlns:p14="http://schemas.microsoft.com/office/powerpoint/2010/main" xmlns="" val="1993578661"/>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1981200" y="198438"/>
            <a:ext cx="8229600" cy="639762"/>
          </a:xfrm>
        </p:spPr>
        <p:txBody>
          <a:bodyPr>
            <a:noAutofit/>
          </a:bodyPr>
          <a:lstStyle/>
          <a:p>
            <a:r>
              <a:rPr lang="en-US" sz="3200" b="1" dirty="0">
                <a:solidFill>
                  <a:srgbClr val="C00000"/>
                </a:solidFill>
                <a:latin typeface="Arial Narrow" pitchFamily="34" charset="0"/>
              </a:rPr>
              <a:t>Corporate Social Responsibility/ Social Responsibility of marketing</a:t>
            </a:r>
          </a:p>
        </p:txBody>
      </p:sp>
      <p:sp>
        <p:nvSpPr>
          <p:cNvPr id="48131" name="Content Placeholder 2"/>
          <p:cNvSpPr>
            <a:spLocks noGrp="1"/>
          </p:cNvSpPr>
          <p:nvPr>
            <p:ph idx="1"/>
          </p:nvPr>
        </p:nvSpPr>
        <p:spPr>
          <a:xfrm>
            <a:off x="1752600" y="1066800"/>
            <a:ext cx="8686800" cy="5334000"/>
          </a:xfrm>
        </p:spPr>
        <p:txBody>
          <a:bodyPr>
            <a:noAutofit/>
          </a:bodyPr>
          <a:lstStyle/>
          <a:p>
            <a:pPr algn="just"/>
            <a:r>
              <a:rPr lang="en-US" sz="2400" dirty="0">
                <a:latin typeface="Arial Narrow" pitchFamily="34" charset="0"/>
              </a:rPr>
              <a:t>Corporate social responsibility (CSR) is a self-regulating business model that helps a company be socially accountable—to itself, its stakeholders, and the public. </a:t>
            </a:r>
          </a:p>
          <a:p>
            <a:pPr algn="just"/>
            <a:r>
              <a:rPr lang="en-US" sz="2400" dirty="0">
                <a:latin typeface="Arial Narrow" pitchFamily="34" charset="0"/>
              </a:rPr>
              <a:t>By practicing corporate social responsibility, also called corporate citizenship, companies can be conscious of the kind of impact they are having on all aspects of society, including economic, social, and environmental.</a:t>
            </a:r>
          </a:p>
          <a:p>
            <a:pPr algn="just"/>
            <a:r>
              <a:rPr lang="en-US" sz="2400" b="1" dirty="0">
                <a:latin typeface="Arial Narrow" pitchFamily="34" charset="0"/>
              </a:rPr>
              <a:t>Advantages: </a:t>
            </a:r>
            <a:r>
              <a:rPr lang="en-US" sz="2400" dirty="0">
                <a:latin typeface="Arial Narrow" pitchFamily="34" charset="0"/>
              </a:rPr>
              <a:t>Improves the image of a business, Aids draw in as well as preserve potential workers, You get into the good publications of regulatory authorities, Draws in new financiers, An all new means to advertise your brand name. </a:t>
            </a:r>
          </a:p>
          <a:p>
            <a:pPr algn="just"/>
            <a:r>
              <a:rPr lang="en-US" sz="2400" b="1" dirty="0">
                <a:latin typeface="Arial Narrow" pitchFamily="34" charset="0"/>
              </a:rPr>
              <a:t>Disadvantages:  </a:t>
            </a:r>
            <a:r>
              <a:rPr lang="en-US" sz="2400" dirty="0">
                <a:latin typeface="Arial Narrow" pitchFamily="34" charset="0"/>
              </a:rPr>
              <a:t>It needs greater prices and expenses, It can enhance investor’s resistance, Shift in the profit-making goal, Client can become impatient, etc,.</a:t>
            </a:r>
          </a:p>
          <a:p>
            <a:pPr algn="just">
              <a:buNone/>
            </a:pPr>
            <a:r>
              <a:rPr lang="en-US" sz="2400" dirty="0">
                <a:latin typeface="Arial Narrow" pitchFamily="34" charset="0"/>
              </a:rPr>
              <a:t> </a:t>
            </a:r>
            <a:br>
              <a:rPr lang="en-US" sz="2400" dirty="0">
                <a:latin typeface="Arial Narrow" pitchFamily="34" charset="0"/>
              </a:rPr>
            </a:br>
            <a:endParaRPr lang="en-US" sz="2400" dirty="0">
              <a:latin typeface="Arial Narrow" pitchFamily="34" charset="0"/>
            </a:endParaRPr>
          </a:p>
          <a:p>
            <a:pPr algn="just"/>
            <a:endParaRPr lang="en-US" sz="2400" dirty="0">
              <a:latin typeface="Arial Narrow" pitchFamily="34" charset="0"/>
            </a:endParaRPr>
          </a:p>
          <a:p>
            <a:pPr algn="just"/>
            <a:endParaRPr lang="en-US" sz="2400" dirty="0">
              <a:latin typeface="Arial Narrow" pitchFamily="34" charset="0"/>
            </a:endParaRPr>
          </a:p>
          <a:p>
            <a:pPr algn="just"/>
            <a:endParaRPr lang="en-US" sz="2400" dirty="0">
              <a:latin typeface="Arial Narrow" pitchFamily="34" charset="0"/>
            </a:endParaRPr>
          </a:p>
          <a:p>
            <a:pPr algn="just"/>
            <a:endParaRPr lang="en-US" sz="2400" dirty="0">
              <a:latin typeface="Arial Narrow" pitchFamily="34" charset="0"/>
            </a:endParaRPr>
          </a:p>
        </p:txBody>
      </p:sp>
    </p:spTree>
    <p:extLst>
      <p:ext uri="{BB962C8B-B14F-4D97-AF65-F5344CB8AC3E}">
        <p14:creationId xmlns:p14="http://schemas.microsoft.com/office/powerpoint/2010/main" xmlns="" val="3836758757"/>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2209800" y="155576"/>
            <a:ext cx="7543800" cy="822325"/>
          </a:xfrm>
        </p:spPr>
        <p:txBody>
          <a:bodyPr/>
          <a:lstStyle/>
          <a:p>
            <a:pPr eaLnBrk="1" hangingPunct="1"/>
            <a:r>
              <a:rPr lang="en-US" b="1" smtClean="0">
                <a:solidFill>
                  <a:srgbClr val="C00000"/>
                </a:solidFill>
                <a:latin typeface="Arial Narrow" pitchFamily="34" charset="0"/>
              </a:rPr>
              <a:t>EXAMPLES OF CSR</a:t>
            </a:r>
            <a:endParaRPr lang="en-IN" b="1" smtClean="0">
              <a:solidFill>
                <a:srgbClr val="C00000"/>
              </a:solidFill>
              <a:latin typeface="Arial Narrow" pitchFamily="34" charset="0"/>
            </a:endParaRPr>
          </a:p>
        </p:txBody>
      </p:sp>
      <p:sp>
        <p:nvSpPr>
          <p:cNvPr id="49155" name="Content Placeholder 2"/>
          <p:cNvSpPr>
            <a:spLocks noGrp="1" noChangeArrowheads="1"/>
          </p:cNvSpPr>
          <p:nvPr>
            <p:ph idx="1"/>
          </p:nvPr>
        </p:nvSpPr>
        <p:spPr>
          <a:xfrm>
            <a:off x="1600200" y="914400"/>
            <a:ext cx="8915400" cy="4876800"/>
          </a:xfrm>
        </p:spPr>
        <p:txBody>
          <a:bodyPr>
            <a:normAutofit lnSpcReduction="10000"/>
          </a:bodyPr>
          <a:lstStyle/>
          <a:p>
            <a:pPr algn="just" eaLnBrk="1" hangingPunct="1"/>
            <a:r>
              <a:rPr lang="en-IN" altLang="en-US" b="1">
                <a:latin typeface="Arial Narrow" pitchFamily="34" charset="0"/>
              </a:rPr>
              <a:t>Johnson &amp; Johnson </a:t>
            </a:r>
            <a:r>
              <a:rPr lang="en-IN" altLang="en-US">
                <a:latin typeface="Arial Narrow" pitchFamily="34" charset="0"/>
              </a:rPr>
              <a:t>-</a:t>
            </a:r>
            <a:r>
              <a:rPr lang="en-US" altLang="en-US">
                <a:latin typeface="Arial Narrow" pitchFamily="34" charset="0"/>
              </a:rPr>
              <a:t>Their initiatives range from leveraging the power of the wind to providing safe water to communities around the world. </a:t>
            </a:r>
            <a:endParaRPr lang="en-IN" altLang="en-US">
              <a:latin typeface="Arial Narrow" pitchFamily="34" charset="0"/>
            </a:endParaRPr>
          </a:p>
          <a:p>
            <a:pPr algn="just" eaLnBrk="1" hangingPunct="1"/>
            <a:r>
              <a:rPr lang="en-IN" altLang="en-US" b="1">
                <a:latin typeface="Arial Narrow" pitchFamily="34" charset="0"/>
              </a:rPr>
              <a:t>Tata Group: </a:t>
            </a:r>
            <a:r>
              <a:rPr lang="en-IN" altLang="en-US">
                <a:latin typeface="Arial Narrow" pitchFamily="34" charset="0"/>
              </a:rPr>
              <a:t>Aarogya, Vidyadhanam, Kaushalya, Vasundhara (Envt.), Amrutdhara, etc…. </a:t>
            </a:r>
          </a:p>
          <a:p>
            <a:pPr algn="just" eaLnBrk="1" hangingPunct="1"/>
            <a:r>
              <a:rPr lang="en-IN" altLang="en-US" b="1">
                <a:latin typeface="Arial Narrow" pitchFamily="34" charset="0"/>
              </a:rPr>
              <a:t>Ford Motor Company </a:t>
            </a:r>
            <a:r>
              <a:rPr lang="en-IN" altLang="en-US">
                <a:latin typeface="Arial Narrow" pitchFamily="34" charset="0"/>
              </a:rPr>
              <a:t>- </a:t>
            </a:r>
            <a:r>
              <a:rPr lang="en-US" altLang="en-US">
                <a:latin typeface="Arial Narrow" pitchFamily="34" charset="0"/>
              </a:rPr>
              <a:t>Ford plans to reduce their greenhouse gas emissions using their Eco Boost engine to increase fuel efficiency.</a:t>
            </a:r>
          </a:p>
          <a:p>
            <a:pPr algn="just" eaLnBrk="1" hangingPunct="1"/>
            <a:r>
              <a:rPr lang="en-IN" altLang="en-US" b="1">
                <a:latin typeface="Arial Narrow" pitchFamily="34" charset="0"/>
              </a:rPr>
              <a:t>Bosch - </a:t>
            </a:r>
            <a:r>
              <a:rPr lang="en-US" altLang="en-US">
                <a:latin typeface="Arial Narrow" pitchFamily="34" charset="0"/>
              </a:rPr>
              <a:t>Half of Bosch’s research and development budget is invested in creating environmental protection technology.</a:t>
            </a:r>
          </a:p>
          <a:p>
            <a:pPr algn="just" eaLnBrk="1" hangingPunct="1"/>
            <a:r>
              <a:rPr lang="en-US" altLang="en-US" b="1">
                <a:latin typeface="Arial Narrow" pitchFamily="34" charset="0"/>
              </a:rPr>
              <a:t>LEGO - </a:t>
            </a:r>
            <a:r>
              <a:rPr lang="en-US" altLang="en-US">
                <a:latin typeface="Arial Narrow" pitchFamily="34" charset="0"/>
              </a:rPr>
              <a:t>Lego will invest $150 million over the next 15 years with a focus on addressing climate change and reducing waste.</a:t>
            </a:r>
            <a:endParaRPr lang="en-IN" altLang="en-US" b="1">
              <a:latin typeface="Arial Narrow" pitchFamily="34" charset="0"/>
            </a:endParaRPr>
          </a:p>
        </p:txBody>
      </p:sp>
    </p:spTree>
    <p:extLst>
      <p:ext uri="{BB962C8B-B14F-4D97-AF65-F5344CB8AC3E}">
        <p14:creationId xmlns:p14="http://schemas.microsoft.com/office/powerpoint/2010/main" xmlns="" val="3935013279"/>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22238"/>
            <a:ext cx="8229600" cy="715962"/>
          </a:xfrm>
        </p:spPr>
        <p:txBody>
          <a:bodyPr>
            <a:normAutofit/>
          </a:bodyPr>
          <a:lstStyle/>
          <a:p>
            <a:r>
              <a:rPr lang="en-US" b="1" dirty="0" err="1" smtClean="0">
                <a:latin typeface="Arial Narrow" pitchFamily="34" charset="0"/>
              </a:rPr>
              <a:t>Neuro</a:t>
            </a:r>
            <a:r>
              <a:rPr lang="en-US" b="1" dirty="0" smtClean="0">
                <a:latin typeface="Arial Narrow" pitchFamily="34" charset="0"/>
              </a:rPr>
              <a:t> Marketing</a:t>
            </a:r>
            <a:endParaRPr lang="en-US" dirty="0"/>
          </a:p>
        </p:txBody>
      </p:sp>
      <p:sp>
        <p:nvSpPr>
          <p:cNvPr id="3" name="Content Placeholder 2"/>
          <p:cNvSpPr>
            <a:spLocks noGrp="1"/>
          </p:cNvSpPr>
          <p:nvPr>
            <p:ph idx="1"/>
          </p:nvPr>
        </p:nvSpPr>
        <p:spPr>
          <a:xfrm>
            <a:off x="1676400" y="762000"/>
            <a:ext cx="8839200" cy="6019800"/>
          </a:xfrm>
        </p:spPr>
        <p:txBody>
          <a:bodyPr>
            <a:normAutofit/>
          </a:bodyPr>
          <a:lstStyle/>
          <a:p>
            <a:pPr algn="just">
              <a:spcBef>
                <a:spcPct val="0"/>
              </a:spcBef>
            </a:pPr>
            <a:r>
              <a:rPr lang="en-US" sz="2400" b="1" dirty="0" err="1">
                <a:latin typeface="Arial Narrow" pitchFamily="34" charset="0"/>
              </a:rPr>
              <a:t>Neuro</a:t>
            </a:r>
            <a:r>
              <a:rPr lang="en-US" sz="2400" b="1" dirty="0">
                <a:latin typeface="Arial Narrow" pitchFamily="34" charset="0"/>
              </a:rPr>
              <a:t> Marketing: </a:t>
            </a:r>
            <a:r>
              <a:rPr lang="en-US" sz="2400" dirty="0">
                <a:latin typeface="Arial Narrow" pitchFamily="34" charset="0"/>
              </a:rPr>
              <a:t>the study of how people's brains respond to advertising and other brand-related messages by scientifically monitoring brainwave activity, eye tracking and skin response. </a:t>
            </a:r>
          </a:p>
          <a:p>
            <a:pPr algn="just">
              <a:spcBef>
                <a:spcPct val="0"/>
              </a:spcBef>
            </a:pPr>
            <a:r>
              <a:rPr lang="en-US" sz="2400" dirty="0">
                <a:latin typeface="Arial Narrow" pitchFamily="34" charset="0"/>
              </a:rPr>
              <a:t>It is the measurement of physiological and neural signals to gain insight into customers' motivations, preferences, and decisions, which can help inform creative advertising, product development, pricing, and other marketing areas.</a:t>
            </a:r>
          </a:p>
          <a:p>
            <a:pPr algn="just">
              <a:spcBef>
                <a:spcPct val="0"/>
              </a:spcBef>
            </a:pPr>
            <a:r>
              <a:rPr lang="en-US" sz="2400" dirty="0">
                <a:latin typeface="Arial Narrow" pitchFamily="34" charset="0"/>
              </a:rPr>
              <a:t>These </a:t>
            </a:r>
            <a:r>
              <a:rPr lang="en-US" sz="2400" dirty="0" err="1">
                <a:latin typeface="Arial Narrow" pitchFamily="34" charset="0"/>
              </a:rPr>
              <a:t>neuro</a:t>
            </a:r>
            <a:r>
              <a:rPr lang="en-US" sz="2400" dirty="0">
                <a:latin typeface="Arial Narrow" pitchFamily="34" charset="0"/>
              </a:rPr>
              <a:t> marketing techniques (</a:t>
            </a:r>
            <a:r>
              <a:rPr lang="en-US" sz="2400" dirty="0"/>
              <a:t>Eye Tracking, </a:t>
            </a:r>
            <a:r>
              <a:rPr lang="en-US" sz="2400" dirty="0" err="1"/>
              <a:t>Pupilometry</a:t>
            </a:r>
            <a:r>
              <a:rPr lang="en-US" sz="2400" dirty="0"/>
              <a:t>, electroencephalograms (EEG), Facial Coding)</a:t>
            </a:r>
            <a:r>
              <a:rPr lang="en-US" sz="2400" dirty="0">
                <a:latin typeface="Arial Narrow" pitchFamily="34" charset="0"/>
              </a:rPr>
              <a:t> are used to study the brain to predict consumer decision-making behavior.</a:t>
            </a:r>
            <a:endParaRPr lang="en-US" sz="2400" b="1" dirty="0">
              <a:latin typeface="Arial Narrow" pitchFamily="34" charset="0"/>
            </a:endParaRPr>
          </a:p>
          <a:p>
            <a:pPr algn="just">
              <a:spcBef>
                <a:spcPct val="0"/>
              </a:spcBef>
            </a:pPr>
            <a:r>
              <a:rPr lang="en-US" altLang="en-US" sz="2400" b="1" dirty="0" err="1" smtClean="0">
                <a:latin typeface="Arial Narrow" pitchFamily="34" charset="0"/>
              </a:rPr>
              <a:t>Neuro</a:t>
            </a:r>
            <a:r>
              <a:rPr lang="en-US" altLang="en-US" sz="2400" b="1" dirty="0" smtClean="0">
                <a:latin typeface="Arial Narrow" pitchFamily="34" charset="0"/>
              </a:rPr>
              <a:t> marketing </a:t>
            </a:r>
            <a:r>
              <a:rPr lang="en-US" altLang="en-US" sz="2400" dirty="0">
                <a:latin typeface="Arial Narrow" pitchFamily="34" charset="0"/>
              </a:rPr>
              <a:t>is a commercial marketing communication field, that applies neuropsychology to market research, studying consumers' sensorimotor, cognitive, and affective response to marketing stimuli. </a:t>
            </a:r>
          </a:p>
          <a:p>
            <a:pPr algn="just">
              <a:spcBef>
                <a:spcPct val="0"/>
              </a:spcBef>
            </a:pPr>
            <a:r>
              <a:rPr lang="en-US" altLang="en-US" sz="2400" dirty="0">
                <a:latin typeface="Arial Narrow" pitchFamily="34" charset="0"/>
              </a:rPr>
              <a:t>Example: </a:t>
            </a:r>
            <a:r>
              <a:rPr lang="en-US" sz="2400" dirty="0">
                <a:latin typeface="Arial Narrow" pitchFamily="34" charset="0"/>
              </a:rPr>
              <a:t>Yahoo, Frito-Lay, HP, Hyundai, PayPal, and </a:t>
            </a:r>
            <a:r>
              <a:rPr lang="en-US" sz="2400" dirty="0" err="1">
                <a:latin typeface="Arial Narrow" pitchFamily="34" charset="0"/>
              </a:rPr>
              <a:t>Cheetos</a:t>
            </a:r>
            <a:r>
              <a:rPr lang="en-US" sz="2400" dirty="0">
                <a:latin typeface="Arial Narrow" pitchFamily="34" charset="0"/>
              </a:rPr>
              <a:t> are some of the companies that used </a:t>
            </a:r>
            <a:r>
              <a:rPr lang="en-US" sz="2400" dirty="0" err="1">
                <a:latin typeface="Arial Narrow" pitchFamily="34" charset="0"/>
              </a:rPr>
              <a:t>neuromarketing</a:t>
            </a:r>
            <a:r>
              <a:rPr lang="en-US" sz="2400" dirty="0">
                <a:latin typeface="Arial Narrow" pitchFamily="34" charset="0"/>
              </a:rPr>
              <a:t>. </a:t>
            </a:r>
            <a:r>
              <a:rPr lang="en-US" altLang="en-US" sz="2400" dirty="0">
                <a:latin typeface="Arial Narrow" pitchFamily="34" charset="0"/>
              </a:rPr>
              <a:t>Using Baby images, Effective Packaging, Eye tracking study of consumers, to know the effectiveness of Ad, color, image or other info.</a:t>
            </a:r>
          </a:p>
          <a:p>
            <a:pPr algn="just">
              <a:spcBef>
                <a:spcPct val="0"/>
              </a:spcBef>
            </a:pPr>
            <a:endParaRPr lang="en-US" sz="2400" b="1" dirty="0">
              <a:latin typeface="Arial Narrow" pitchFamily="34" charset="0"/>
            </a:endParaRPr>
          </a:p>
          <a:p>
            <a:pPr algn="just">
              <a:spcBef>
                <a:spcPct val="0"/>
              </a:spcBef>
            </a:pPr>
            <a:endParaRPr lang="en-US" sz="2400" dirty="0">
              <a:latin typeface="Arial Narrow" pitchFamily="34" charset="0"/>
            </a:endParaRPr>
          </a:p>
          <a:p>
            <a:endParaRPr lang="en-US" sz="2400" dirty="0">
              <a:latin typeface="Arial Narrow" pitchFamily="34" charset="0"/>
            </a:endParaRPr>
          </a:p>
        </p:txBody>
      </p:sp>
    </p:spTree>
    <p:extLst>
      <p:ext uri="{BB962C8B-B14F-4D97-AF65-F5344CB8AC3E}">
        <p14:creationId xmlns:p14="http://schemas.microsoft.com/office/powerpoint/2010/main" xmlns="" val="2393260468"/>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304800"/>
            <a:ext cx="8763000" cy="6248400"/>
          </a:xfrm>
        </p:spPr>
        <p:txBody>
          <a:bodyPr>
            <a:normAutofit/>
          </a:bodyPr>
          <a:lstStyle/>
          <a:p>
            <a:pPr algn="just">
              <a:spcBef>
                <a:spcPct val="0"/>
              </a:spcBef>
            </a:pPr>
            <a:r>
              <a:rPr lang="en-US" altLang="en-US" sz="2600" dirty="0" err="1" smtClean="0">
                <a:latin typeface="Arial Narrow" pitchFamily="34" charset="0"/>
              </a:rPr>
              <a:t>Neuro</a:t>
            </a:r>
            <a:r>
              <a:rPr lang="en-US" altLang="en-US" sz="2600" dirty="0" smtClean="0">
                <a:latin typeface="Arial Narrow" pitchFamily="34" charset="0"/>
              </a:rPr>
              <a:t> marketing </a:t>
            </a:r>
            <a:r>
              <a:rPr lang="en-US" altLang="en-US" sz="2600" dirty="0">
                <a:latin typeface="Arial Narrow" pitchFamily="34" charset="0"/>
              </a:rPr>
              <a:t>seeks to understand the rationale behind how consumers make purchasing decisions and their responses to marketing stimuli in order to apply those learnings in the marketing realm.</a:t>
            </a:r>
          </a:p>
          <a:p>
            <a:pPr algn="just"/>
            <a:r>
              <a:rPr lang="en-US" sz="2600" dirty="0" err="1">
                <a:latin typeface="Arial Narrow" pitchFamily="34" charset="0"/>
              </a:rPr>
              <a:t>Neuro</a:t>
            </a:r>
            <a:r>
              <a:rPr lang="en-US" sz="2600" dirty="0">
                <a:latin typeface="Arial Narrow" pitchFamily="34" charset="0"/>
              </a:rPr>
              <a:t> marketing is a new field of marketing which uses medical technologies such as functional Magnetic Resonance Imaging (</a:t>
            </a:r>
            <a:r>
              <a:rPr lang="en-US" sz="2600" dirty="0" err="1">
                <a:latin typeface="Arial Narrow" pitchFamily="34" charset="0"/>
              </a:rPr>
              <a:t>fMRI</a:t>
            </a:r>
            <a:r>
              <a:rPr lang="en-US" sz="2600" dirty="0">
                <a:latin typeface="Arial Narrow" pitchFamily="34" charset="0"/>
              </a:rPr>
              <a:t>) to study the brain’s responses to marketing stimuli. </a:t>
            </a:r>
          </a:p>
          <a:p>
            <a:pPr algn="just"/>
            <a:r>
              <a:rPr lang="en-US" sz="2600" dirty="0" err="1">
                <a:latin typeface="Arial Narrow" pitchFamily="34" charset="0"/>
              </a:rPr>
              <a:t>Neuro</a:t>
            </a:r>
            <a:r>
              <a:rPr lang="en-US" sz="2600" dirty="0">
                <a:latin typeface="Arial Narrow" pitchFamily="34" charset="0"/>
              </a:rPr>
              <a:t> marketing will tell the marketer what the consumer reacts to, whether it was the color of the packaging, the sound the box makes when shaken, or the idea that they will have something their co- consumers do not.</a:t>
            </a:r>
          </a:p>
          <a:p>
            <a:endParaRPr lang="en-US" sz="2600" dirty="0">
              <a:latin typeface="Arial Narrow" pitchFamily="34" charset="0"/>
            </a:endParaRPr>
          </a:p>
        </p:txBody>
      </p:sp>
    </p:spTree>
    <p:extLst>
      <p:ext uri="{BB962C8B-B14F-4D97-AF65-F5344CB8AC3E}">
        <p14:creationId xmlns:p14="http://schemas.microsoft.com/office/powerpoint/2010/main" xmlns="" val="1993989751"/>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sz="4000" b="1">
                <a:solidFill>
                  <a:srgbClr val="C00000"/>
                </a:solidFill>
                <a:latin typeface="Arial Narrow" pitchFamily="34" charset="0"/>
              </a:rPr>
              <a:t>Advantages &amp; Disadvantages of NM</a:t>
            </a:r>
            <a:endParaRPr lang="en-US" sz="4000">
              <a:solidFill>
                <a:srgbClr val="C00000"/>
              </a:solidFill>
              <a:latin typeface="Arial Narrow" pitchFamily="34" charset="0"/>
            </a:endParaRPr>
          </a:p>
        </p:txBody>
      </p:sp>
      <p:sp>
        <p:nvSpPr>
          <p:cNvPr id="53251" name="Content Placeholder 2"/>
          <p:cNvSpPr>
            <a:spLocks noGrp="1"/>
          </p:cNvSpPr>
          <p:nvPr>
            <p:ph sz="half" idx="1"/>
          </p:nvPr>
        </p:nvSpPr>
        <p:spPr>
          <a:xfrm>
            <a:off x="838200" y="1817312"/>
            <a:ext cx="5181600" cy="4351338"/>
          </a:xfrm>
        </p:spPr>
        <p:txBody>
          <a:bodyPr/>
          <a:lstStyle/>
          <a:p>
            <a:pPr marL="0" indent="0">
              <a:buNone/>
            </a:pPr>
            <a:r>
              <a:rPr lang="en-US" dirty="0" smtClean="0">
                <a:solidFill>
                  <a:srgbClr val="FF0000"/>
                </a:solidFill>
                <a:latin typeface="Arial Narrow" pitchFamily="34" charset="0"/>
              </a:rPr>
              <a:t>Advantages</a:t>
            </a:r>
          </a:p>
          <a:p>
            <a:r>
              <a:rPr lang="en-US" dirty="0" smtClean="0">
                <a:latin typeface="Arial Narrow" pitchFamily="34" charset="0"/>
              </a:rPr>
              <a:t>Filling in the gaps</a:t>
            </a:r>
          </a:p>
          <a:p>
            <a:r>
              <a:rPr lang="en-US" dirty="0" smtClean="0">
                <a:latin typeface="Arial Narrow" pitchFamily="34" charset="0"/>
              </a:rPr>
              <a:t>Linking of physiological reactions to content</a:t>
            </a:r>
          </a:p>
          <a:p>
            <a:r>
              <a:rPr lang="en-US" dirty="0" smtClean="0">
                <a:latin typeface="Arial Narrow" pitchFamily="34" charset="0"/>
              </a:rPr>
              <a:t>Improved reliability of results</a:t>
            </a:r>
          </a:p>
          <a:p>
            <a:r>
              <a:rPr lang="en-US" dirty="0" smtClean="0">
                <a:latin typeface="Arial Narrow" pitchFamily="34" charset="0"/>
              </a:rPr>
              <a:t>Value for money</a:t>
            </a:r>
          </a:p>
          <a:p>
            <a:endParaRPr lang="en-US" dirty="0" smtClean="0">
              <a:latin typeface="Arial Narrow" pitchFamily="34" charset="0"/>
            </a:endParaRPr>
          </a:p>
        </p:txBody>
      </p:sp>
      <p:sp>
        <p:nvSpPr>
          <p:cNvPr id="53252" name="Content Placeholder 3"/>
          <p:cNvSpPr>
            <a:spLocks noGrp="1"/>
          </p:cNvSpPr>
          <p:nvPr>
            <p:ph sz="half" idx="2"/>
          </p:nvPr>
        </p:nvSpPr>
        <p:spPr/>
        <p:txBody>
          <a:bodyPr/>
          <a:lstStyle/>
          <a:p>
            <a:pPr marL="0" indent="0">
              <a:buNone/>
            </a:pPr>
            <a:r>
              <a:rPr lang="en-US" dirty="0" smtClean="0">
                <a:solidFill>
                  <a:srgbClr val="FF0000"/>
                </a:solidFill>
                <a:latin typeface="Arial Narrow" pitchFamily="34" charset="0"/>
              </a:rPr>
              <a:t>Disadvantages</a:t>
            </a:r>
          </a:p>
          <a:p>
            <a:r>
              <a:rPr lang="en-US" dirty="0" smtClean="0">
                <a:latin typeface="Arial Narrow" pitchFamily="34" charset="0"/>
              </a:rPr>
              <a:t>Ethical concerns</a:t>
            </a:r>
          </a:p>
          <a:p>
            <a:r>
              <a:rPr lang="en-US" dirty="0" smtClean="0">
                <a:latin typeface="Arial Narrow" pitchFamily="34" charset="0"/>
              </a:rPr>
              <a:t>Availability of specific skills</a:t>
            </a:r>
          </a:p>
          <a:p>
            <a:r>
              <a:rPr lang="en-US" dirty="0" smtClean="0">
                <a:latin typeface="Arial Narrow" pitchFamily="34" charset="0"/>
              </a:rPr>
              <a:t>Expensive equipment</a:t>
            </a:r>
          </a:p>
          <a:p>
            <a:r>
              <a:rPr lang="en-US" dirty="0" smtClean="0">
                <a:latin typeface="Arial Narrow" pitchFamily="34" charset="0"/>
              </a:rPr>
              <a:t>Privacy</a:t>
            </a:r>
          </a:p>
          <a:p>
            <a:endParaRPr lang="en-US" dirty="0" smtClean="0">
              <a:latin typeface="Arial Narrow" pitchFamily="34" charset="0"/>
            </a:endParaRPr>
          </a:p>
        </p:txBody>
      </p:sp>
    </p:spTree>
    <p:extLst>
      <p:ext uri="{BB962C8B-B14F-4D97-AF65-F5344CB8AC3E}">
        <p14:creationId xmlns:p14="http://schemas.microsoft.com/office/powerpoint/2010/main" xmlns="" val="365061854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241301"/>
            <a:ext cx="7543800" cy="747713"/>
          </a:xfrm>
        </p:spPr>
        <p:txBody>
          <a:bodyPr rtlCol="0">
            <a:normAutofit/>
          </a:bodyPr>
          <a:lstStyle/>
          <a:p>
            <a:pPr>
              <a:defRPr/>
            </a:pPr>
            <a:r>
              <a:rPr lang="en-US" b="1" dirty="0">
                <a:solidFill>
                  <a:srgbClr val="C00000"/>
                </a:solidFill>
                <a:latin typeface="Arial Narrow" pitchFamily="34" charset="0"/>
              </a:rPr>
              <a:t>Sensory Marketing</a:t>
            </a:r>
            <a:endParaRPr lang="en-IN" b="1" dirty="0">
              <a:solidFill>
                <a:srgbClr val="C00000"/>
              </a:solidFill>
              <a:latin typeface="Arial Narrow" pitchFamily="34" charset="0"/>
            </a:endParaRPr>
          </a:p>
        </p:txBody>
      </p:sp>
      <p:sp>
        <p:nvSpPr>
          <p:cNvPr id="54275" name="Content Placeholder 2"/>
          <p:cNvSpPr>
            <a:spLocks noGrp="1" noChangeArrowheads="1"/>
          </p:cNvSpPr>
          <p:nvPr>
            <p:ph idx="1"/>
          </p:nvPr>
        </p:nvSpPr>
        <p:spPr>
          <a:xfrm>
            <a:off x="1524000" y="1066800"/>
            <a:ext cx="9144000" cy="5410200"/>
          </a:xfrm>
        </p:spPr>
        <p:txBody>
          <a:bodyPr>
            <a:normAutofit/>
          </a:bodyPr>
          <a:lstStyle/>
          <a:p>
            <a:pPr algn="just" eaLnBrk="1" hangingPunct="1"/>
            <a:r>
              <a:rPr lang="en-US" altLang="en-US" sz="2400" dirty="0">
                <a:solidFill>
                  <a:srgbClr val="000000"/>
                </a:solidFill>
                <a:latin typeface="Arial Narrow" pitchFamily="34" charset="0"/>
              </a:rPr>
              <a:t>Sensory marketing is the techniques that are used to reach the customer’s senses and influence their behavior based on how the brand and tactics make them feel.</a:t>
            </a:r>
          </a:p>
          <a:p>
            <a:pPr algn="just" eaLnBrk="1" hangingPunct="1"/>
            <a:r>
              <a:rPr lang="en-US" sz="2400" dirty="0">
                <a:latin typeface="Arial Narrow" pitchFamily="34" charset="0"/>
              </a:rPr>
              <a:t>Sensory marketing, also known as sensory branding, is a form of marketing that appeals to consumers through all 5 senses. Each sense is utilized to relate to consumers on an emotional level.</a:t>
            </a:r>
            <a:endParaRPr lang="en-US" altLang="en-US" sz="2400" dirty="0">
              <a:solidFill>
                <a:srgbClr val="000000"/>
              </a:solidFill>
              <a:latin typeface="Arial Narrow" pitchFamily="34" charset="0"/>
            </a:endParaRPr>
          </a:p>
          <a:p>
            <a:pPr algn="just" eaLnBrk="1" hangingPunct="1"/>
            <a:r>
              <a:rPr lang="en-US" altLang="en-US" sz="2400" dirty="0">
                <a:solidFill>
                  <a:srgbClr val="000000"/>
                </a:solidFill>
                <a:latin typeface="Arial Narrow" pitchFamily="34" charset="0"/>
              </a:rPr>
              <a:t>Five Senses? </a:t>
            </a:r>
            <a:r>
              <a:rPr lang="en-US" altLang="en-US" sz="2400" dirty="0">
                <a:solidFill>
                  <a:srgbClr val="C00000"/>
                </a:solidFill>
                <a:latin typeface="Arial Narrow" pitchFamily="34" charset="0"/>
              </a:rPr>
              <a:t>sight, hearing, taste, touch and smell. </a:t>
            </a:r>
          </a:p>
          <a:p>
            <a:pPr algn="just" eaLnBrk="1" hangingPunct="1"/>
            <a:r>
              <a:rPr lang="en-US" altLang="en-US" sz="2400" dirty="0">
                <a:solidFill>
                  <a:srgbClr val="000000"/>
                </a:solidFill>
                <a:latin typeface="Arial Narrow" pitchFamily="34" charset="0"/>
              </a:rPr>
              <a:t>Sensory marketing is simply the process of winning a customer’s trust and attention by appealing to each of these five senses.</a:t>
            </a:r>
          </a:p>
          <a:p>
            <a:pPr algn="just" eaLnBrk="1" hangingPunct="1"/>
            <a:r>
              <a:rPr lang="en-US" sz="2400" dirty="0">
                <a:latin typeface="Arial Narrow" pitchFamily="34" charset="0"/>
              </a:rPr>
              <a:t>Its essential tool for strengthening the connection between brand and consumer by stimulating all the senses and generating emotions.</a:t>
            </a:r>
          </a:p>
          <a:p>
            <a:pPr algn="just" eaLnBrk="1" hangingPunct="1"/>
            <a:r>
              <a:rPr lang="en-US" sz="2400" dirty="0">
                <a:latin typeface="Arial Narrow" pitchFamily="34" charset="0"/>
              </a:rPr>
              <a:t>Dr. </a:t>
            </a:r>
            <a:r>
              <a:rPr lang="en-US" sz="2400" dirty="0" err="1">
                <a:latin typeface="Arial Narrow" pitchFamily="34" charset="0"/>
              </a:rPr>
              <a:t>Aradhna</a:t>
            </a:r>
            <a:r>
              <a:rPr lang="en-US" sz="2400" dirty="0">
                <a:latin typeface="Arial Narrow" pitchFamily="34" charset="0"/>
              </a:rPr>
              <a:t> Krishna, a behavioral scientist at the University of Michigan, She defines it as “marketing that engages the consumers' senses and affects their perception, judgment and behavior</a:t>
            </a:r>
            <a:endParaRPr lang="en-US" altLang="en-US" sz="2400" dirty="0">
              <a:solidFill>
                <a:srgbClr val="000000"/>
              </a:solidFill>
              <a:latin typeface="Arial Narrow" pitchFamily="34" charset="0"/>
            </a:endParaRPr>
          </a:p>
        </p:txBody>
      </p:sp>
    </p:spTree>
    <p:extLst>
      <p:ext uri="{BB962C8B-B14F-4D97-AF65-F5344CB8AC3E}">
        <p14:creationId xmlns:p14="http://schemas.microsoft.com/office/powerpoint/2010/main" xmlns="" val="2737899965"/>
      </p:ext>
    </p:extLst>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itchFamily="34" charset="0"/>
              </a:rPr>
              <a:t>Elements of Sensory marketing	</a:t>
            </a:r>
            <a:endParaRPr lang="en-US" b="1" dirty="0">
              <a:latin typeface="Arial Narrow" pitchFamily="34" charset="0"/>
            </a:endParaRPr>
          </a:p>
        </p:txBody>
      </p:sp>
      <p:sp>
        <p:nvSpPr>
          <p:cNvPr id="3" name="Content Placeholder 2"/>
          <p:cNvSpPr>
            <a:spLocks noGrp="1"/>
          </p:cNvSpPr>
          <p:nvPr>
            <p:ph idx="1"/>
          </p:nvPr>
        </p:nvSpPr>
        <p:spPr>
          <a:xfrm>
            <a:off x="1828800" y="1600201"/>
            <a:ext cx="8382000" cy="4525963"/>
          </a:xfrm>
        </p:spPr>
        <p:txBody>
          <a:bodyPr>
            <a:normAutofit/>
          </a:bodyPr>
          <a:lstStyle/>
          <a:p>
            <a:pPr algn="just"/>
            <a:r>
              <a:rPr lang="en-US" dirty="0" smtClean="0">
                <a:latin typeface="Arial Narrow" pitchFamily="34" charset="0"/>
              </a:rPr>
              <a:t>Sensory marketing involves the use visual marketing (sight), olfactory marketing (smell), auditory marketing (sound), tactile marketing (touch) and gustative marketing (taste) in its application to win customers.</a:t>
            </a:r>
          </a:p>
          <a:p>
            <a:pPr algn="just"/>
            <a:r>
              <a:rPr lang="en-US" dirty="0" smtClean="0">
                <a:latin typeface="Arial Narrow" pitchFamily="34" charset="0"/>
              </a:rPr>
              <a:t>Advantages:</a:t>
            </a:r>
          </a:p>
          <a:p>
            <a:pPr marL="514350" indent="-514350">
              <a:buFont typeface="+mj-lt"/>
              <a:buAutoNum type="arabicPeriod"/>
            </a:pPr>
            <a:r>
              <a:rPr lang="en-US" dirty="0" smtClean="0">
                <a:latin typeface="Arial Narrow" pitchFamily="34" charset="0"/>
              </a:rPr>
              <a:t>strengthening the </a:t>
            </a:r>
            <a:r>
              <a:rPr lang="en-US" b="1" dirty="0" smtClean="0">
                <a:latin typeface="Arial Narrow" pitchFamily="34" charset="0"/>
              </a:rPr>
              <a:t>customer relationship</a:t>
            </a:r>
            <a:endParaRPr lang="en-US" dirty="0" smtClean="0">
              <a:latin typeface="Arial Narrow" pitchFamily="34" charset="0"/>
            </a:endParaRPr>
          </a:p>
          <a:p>
            <a:pPr marL="514350" indent="-514350">
              <a:buFont typeface="+mj-lt"/>
              <a:buAutoNum type="arabicPeriod"/>
            </a:pPr>
            <a:r>
              <a:rPr lang="en-US" dirty="0" smtClean="0">
                <a:latin typeface="Arial Narrow" pitchFamily="34" charset="0"/>
              </a:rPr>
              <a:t>acquisition of </a:t>
            </a:r>
            <a:r>
              <a:rPr lang="en-US" b="1" dirty="0" smtClean="0">
                <a:latin typeface="Arial Narrow" pitchFamily="34" charset="0"/>
              </a:rPr>
              <a:t>competitive advantages</a:t>
            </a:r>
            <a:endParaRPr lang="en-US" dirty="0" smtClean="0">
              <a:latin typeface="Arial Narrow" pitchFamily="34" charset="0"/>
            </a:endParaRPr>
          </a:p>
          <a:p>
            <a:pPr marL="514350" indent="-514350">
              <a:buFont typeface="+mj-lt"/>
              <a:buAutoNum type="arabicPeriod"/>
            </a:pPr>
            <a:r>
              <a:rPr lang="en-US" dirty="0" smtClean="0">
                <a:latin typeface="Arial Narrow" pitchFamily="34" charset="0"/>
              </a:rPr>
              <a:t>benefits of </a:t>
            </a:r>
            <a:r>
              <a:rPr lang="en-US" b="1" dirty="0" err="1" smtClean="0">
                <a:latin typeface="Arial Narrow" pitchFamily="34" charset="0"/>
              </a:rPr>
              <a:t>Omnichannel</a:t>
            </a:r>
            <a:r>
              <a:rPr lang="en-US" b="1" dirty="0" smtClean="0">
                <a:latin typeface="Arial Narrow" pitchFamily="34" charset="0"/>
              </a:rPr>
              <a:t> Marketing</a:t>
            </a:r>
            <a:endParaRPr lang="en-US" dirty="0" smtClean="0">
              <a:latin typeface="Arial Narrow" pitchFamily="34" charset="0"/>
            </a:endParaRPr>
          </a:p>
          <a:p>
            <a:pPr algn="just">
              <a:buNone/>
            </a:pPr>
            <a:endParaRPr lang="en-US" dirty="0">
              <a:latin typeface="Arial Narrow" pitchFamily="34" charset="0"/>
            </a:endParaRPr>
          </a:p>
        </p:txBody>
      </p:sp>
    </p:spTree>
    <p:extLst>
      <p:ext uri="{BB962C8B-B14F-4D97-AF65-F5344CB8AC3E}">
        <p14:creationId xmlns:p14="http://schemas.microsoft.com/office/powerpoint/2010/main" xmlns="" val="3973259432"/>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241301"/>
            <a:ext cx="7543800" cy="747713"/>
          </a:xfrm>
        </p:spPr>
        <p:txBody>
          <a:bodyPr rtlCol="0">
            <a:normAutofit/>
          </a:bodyPr>
          <a:lstStyle/>
          <a:p>
            <a:pPr>
              <a:defRPr/>
            </a:pPr>
            <a:r>
              <a:rPr lang="en-US" b="1" dirty="0">
                <a:solidFill>
                  <a:srgbClr val="C00000"/>
                </a:solidFill>
                <a:latin typeface="Arial Narrow" pitchFamily="34" charset="0"/>
              </a:rPr>
              <a:t>Sensory Marketing</a:t>
            </a:r>
            <a:endParaRPr lang="en-IN" b="1" dirty="0">
              <a:solidFill>
                <a:srgbClr val="C00000"/>
              </a:solidFill>
              <a:latin typeface="Arial Narrow" pitchFamily="34" charset="0"/>
            </a:endParaRPr>
          </a:p>
        </p:txBody>
      </p:sp>
      <p:sp>
        <p:nvSpPr>
          <p:cNvPr id="54275" name="Content Placeholder 2"/>
          <p:cNvSpPr>
            <a:spLocks noGrp="1" noChangeArrowheads="1"/>
          </p:cNvSpPr>
          <p:nvPr>
            <p:ph idx="1"/>
          </p:nvPr>
        </p:nvSpPr>
        <p:spPr>
          <a:xfrm>
            <a:off x="1524000" y="1066800"/>
            <a:ext cx="9144000" cy="5410200"/>
          </a:xfrm>
        </p:spPr>
        <p:txBody>
          <a:bodyPr>
            <a:normAutofit/>
          </a:bodyPr>
          <a:lstStyle/>
          <a:p>
            <a:pPr algn="just" eaLnBrk="1" hangingPunct="1"/>
            <a:r>
              <a:rPr lang="en-US" altLang="en-US" sz="2400" dirty="0">
                <a:solidFill>
                  <a:srgbClr val="000000"/>
                </a:solidFill>
                <a:latin typeface="Arial Narrow" pitchFamily="34" charset="0"/>
              </a:rPr>
              <a:t>Sensory marketing is the techniques that are used to reach the customer’s senses and influence their behavior based on how the brand and tactics make them feel.</a:t>
            </a:r>
          </a:p>
          <a:p>
            <a:pPr algn="just" eaLnBrk="1" hangingPunct="1"/>
            <a:r>
              <a:rPr lang="en-US" sz="2400" dirty="0">
                <a:latin typeface="Arial Narrow" pitchFamily="34" charset="0"/>
              </a:rPr>
              <a:t>Sensory marketing, also known as sensory branding, is a form of marketing that appeals to consumers through all 5 senses. Each sense is utilized to relate to consumers on an emotional level.</a:t>
            </a:r>
            <a:endParaRPr lang="en-US" altLang="en-US" sz="2400" dirty="0">
              <a:solidFill>
                <a:srgbClr val="000000"/>
              </a:solidFill>
              <a:latin typeface="Arial Narrow" pitchFamily="34" charset="0"/>
            </a:endParaRPr>
          </a:p>
          <a:p>
            <a:pPr algn="just" eaLnBrk="1" hangingPunct="1"/>
            <a:r>
              <a:rPr lang="en-US" altLang="en-US" sz="2400" dirty="0">
                <a:solidFill>
                  <a:srgbClr val="000000"/>
                </a:solidFill>
                <a:latin typeface="Arial Narrow" pitchFamily="34" charset="0"/>
              </a:rPr>
              <a:t>Five Senses? </a:t>
            </a:r>
            <a:r>
              <a:rPr lang="en-US" altLang="en-US" sz="2400" dirty="0">
                <a:solidFill>
                  <a:srgbClr val="C00000"/>
                </a:solidFill>
                <a:latin typeface="Arial Narrow" pitchFamily="34" charset="0"/>
              </a:rPr>
              <a:t>sight, hearing, taste, touch and smell. </a:t>
            </a:r>
          </a:p>
          <a:p>
            <a:pPr algn="just" eaLnBrk="1" hangingPunct="1"/>
            <a:r>
              <a:rPr lang="en-US" altLang="en-US" sz="2400" dirty="0">
                <a:solidFill>
                  <a:srgbClr val="000000"/>
                </a:solidFill>
                <a:latin typeface="Arial Narrow" pitchFamily="34" charset="0"/>
              </a:rPr>
              <a:t>Sensory marketing is simply the process of winning a customer’s trust and attention by appealing to each of these five senses.</a:t>
            </a:r>
          </a:p>
          <a:p>
            <a:pPr algn="just" eaLnBrk="1" hangingPunct="1"/>
            <a:r>
              <a:rPr lang="en-US" sz="2400" dirty="0">
                <a:latin typeface="Arial Narrow" pitchFamily="34" charset="0"/>
              </a:rPr>
              <a:t>Its essential tool for strengthening the connection between brand and consumer by stimulating all the senses and generating emotions.</a:t>
            </a:r>
          </a:p>
          <a:p>
            <a:pPr algn="just" eaLnBrk="1" hangingPunct="1"/>
            <a:r>
              <a:rPr lang="en-US" sz="2400" dirty="0">
                <a:latin typeface="Arial Narrow" pitchFamily="34" charset="0"/>
              </a:rPr>
              <a:t>Dr. </a:t>
            </a:r>
            <a:r>
              <a:rPr lang="en-US" sz="2400" dirty="0" err="1">
                <a:latin typeface="Arial Narrow" pitchFamily="34" charset="0"/>
              </a:rPr>
              <a:t>Aradhna</a:t>
            </a:r>
            <a:r>
              <a:rPr lang="en-US" sz="2400" dirty="0">
                <a:latin typeface="Arial Narrow" pitchFamily="34" charset="0"/>
              </a:rPr>
              <a:t> Krishna, a behavioral scientist at the University of Michigan, She defines it as “marketing that engages the consumers' senses and affects their perception, judgment and behavior</a:t>
            </a:r>
            <a:endParaRPr lang="en-US" altLang="en-US" sz="2400" dirty="0">
              <a:solidFill>
                <a:srgbClr val="000000"/>
              </a:solidFill>
              <a:latin typeface="Arial Narrow" pitchFamily="34" charset="0"/>
            </a:endParaRPr>
          </a:p>
        </p:txBody>
      </p:sp>
    </p:spTree>
    <p:extLst>
      <p:ext uri="{BB962C8B-B14F-4D97-AF65-F5344CB8AC3E}">
        <p14:creationId xmlns:p14="http://schemas.microsoft.com/office/powerpoint/2010/main" xmlns="" val="1490057143"/>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itchFamily="34" charset="0"/>
              </a:rPr>
              <a:t>Elements of Sensory marketing	</a:t>
            </a:r>
            <a:endParaRPr lang="en-US" b="1" dirty="0">
              <a:latin typeface="Arial Narrow" pitchFamily="34" charset="0"/>
            </a:endParaRPr>
          </a:p>
        </p:txBody>
      </p:sp>
      <p:sp>
        <p:nvSpPr>
          <p:cNvPr id="3" name="Content Placeholder 2"/>
          <p:cNvSpPr>
            <a:spLocks noGrp="1"/>
          </p:cNvSpPr>
          <p:nvPr>
            <p:ph idx="1"/>
          </p:nvPr>
        </p:nvSpPr>
        <p:spPr>
          <a:xfrm>
            <a:off x="1828800" y="1600201"/>
            <a:ext cx="8382000" cy="4525963"/>
          </a:xfrm>
        </p:spPr>
        <p:txBody>
          <a:bodyPr>
            <a:normAutofit/>
          </a:bodyPr>
          <a:lstStyle/>
          <a:p>
            <a:pPr algn="just"/>
            <a:r>
              <a:rPr lang="en-US" dirty="0" smtClean="0">
                <a:latin typeface="Arial Narrow" pitchFamily="34" charset="0"/>
              </a:rPr>
              <a:t>Sensory marketing involves the use visual marketing (sight), olfactory marketing (smell), auditory marketing (sound), tactile marketing (touch) and gustative marketing (taste) in its application to win customers.</a:t>
            </a:r>
          </a:p>
          <a:p>
            <a:pPr algn="just"/>
            <a:r>
              <a:rPr lang="en-US" dirty="0" smtClean="0">
                <a:latin typeface="Arial Narrow" pitchFamily="34" charset="0"/>
              </a:rPr>
              <a:t>Advantages:</a:t>
            </a:r>
          </a:p>
          <a:p>
            <a:pPr marL="514350" indent="-514350">
              <a:buFont typeface="+mj-lt"/>
              <a:buAutoNum type="arabicPeriod"/>
            </a:pPr>
            <a:r>
              <a:rPr lang="en-US" dirty="0" smtClean="0">
                <a:latin typeface="Arial Narrow" pitchFamily="34" charset="0"/>
              </a:rPr>
              <a:t>strengthening the </a:t>
            </a:r>
            <a:r>
              <a:rPr lang="en-US" b="1" dirty="0" smtClean="0">
                <a:latin typeface="Arial Narrow" pitchFamily="34" charset="0"/>
              </a:rPr>
              <a:t>customer relationship</a:t>
            </a:r>
            <a:endParaRPr lang="en-US" dirty="0" smtClean="0">
              <a:latin typeface="Arial Narrow" pitchFamily="34" charset="0"/>
            </a:endParaRPr>
          </a:p>
          <a:p>
            <a:pPr marL="514350" indent="-514350">
              <a:buFont typeface="+mj-lt"/>
              <a:buAutoNum type="arabicPeriod"/>
            </a:pPr>
            <a:r>
              <a:rPr lang="en-US" dirty="0" smtClean="0">
                <a:latin typeface="Arial Narrow" pitchFamily="34" charset="0"/>
              </a:rPr>
              <a:t>acquisition of </a:t>
            </a:r>
            <a:r>
              <a:rPr lang="en-US" b="1" dirty="0" smtClean="0">
                <a:latin typeface="Arial Narrow" pitchFamily="34" charset="0"/>
              </a:rPr>
              <a:t>competitive advantages</a:t>
            </a:r>
            <a:endParaRPr lang="en-US" dirty="0" smtClean="0">
              <a:latin typeface="Arial Narrow" pitchFamily="34" charset="0"/>
            </a:endParaRPr>
          </a:p>
          <a:p>
            <a:pPr marL="514350" indent="-514350">
              <a:buFont typeface="+mj-lt"/>
              <a:buAutoNum type="arabicPeriod"/>
            </a:pPr>
            <a:r>
              <a:rPr lang="en-US" dirty="0" smtClean="0">
                <a:latin typeface="Arial Narrow" pitchFamily="34" charset="0"/>
              </a:rPr>
              <a:t>benefits of </a:t>
            </a:r>
            <a:r>
              <a:rPr lang="en-US" b="1" dirty="0" err="1" smtClean="0">
                <a:latin typeface="Arial Narrow" pitchFamily="34" charset="0"/>
              </a:rPr>
              <a:t>Omnichannel</a:t>
            </a:r>
            <a:r>
              <a:rPr lang="en-US" b="1" dirty="0" smtClean="0">
                <a:latin typeface="Arial Narrow" pitchFamily="34" charset="0"/>
              </a:rPr>
              <a:t> Marketing</a:t>
            </a:r>
            <a:endParaRPr lang="en-US" dirty="0" smtClean="0">
              <a:latin typeface="Arial Narrow" pitchFamily="34" charset="0"/>
            </a:endParaRPr>
          </a:p>
          <a:p>
            <a:pPr algn="just">
              <a:buNone/>
            </a:pPr>
            <a:endParaRPr lang="en-US" dirty="0">
              <a:latin typeface="Arial Narrow" pitchFamily="34" charset="0"/>
            </a:endParaRPr>
          </a:p>
        </p:txBody>
      </p:sp>
    </p:spTree>
    <p:extLst>
      <p:ext uri="{BB962C8B-B14F-4D97-AF65-F5344CB8AC3E}">
        <p14:creationId xmlns:p14="http://schemas.microsoft.com/office/powerpoint/2010/main" xmlns="" val="2856553207"/>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1981200" y="350838"/>
            <a:ext cx="8229600" cy="639762"/>
          </a:xfrm>
        </p:spPr>
        <p:txBody>
          <a:bodyPr>
            <a:normAutofit fontScale="90000"/>
          </a:bodyPr>
          <a:lstStyle/>
          <a:p>
            <a:r>
              <a:rPr lang="en-US" altLang="en-US" b="1" dirty="0" smtClean="0">
                <a:solidFill>
                  <a:srgbClr val="C00000"/>
                </a:solidFill>
                <a:latin typeface="Arial Narrow" pitchFamily="34" charset="0"/>
                <a:ea typeface="Segoe UI Semilight" pitchFamily="34" charset="0"/>
                <a:cs typeface="Segoe UI Semilight" pitchFamily="34" charset="0"/>
              </a:rPr>
              <a:t>The Societal Marketing Concept</a:t>
            </a:r>
            <a:endParaRPr lang="en-US" dirty="0" smtClean="0">
              <a:solidFill>
                <a:srgbClr val="C00000"/>
              </a:solidFill>
              <a:latin typeface="Arial Narrow" pitchFamily="34" charset="0"/>
              <a:ea typeface="Segoe UI Semilight" pitchFamily="34" charset="0"/>
              <a:cs typeface="Segoe UI Semilight" pitchFamily="34" charset="0"/>
            </a:endParaRPr>
          </a:p>
        </p:txBody>
      </p:sp>
      <p:sp>
        <p:nvSpPr>
          <p:cNvPr id="50179" name="Content Placeholder 2"/>
          <p:cNvSpPr>
            <a:spLocks noGrp="1"/>
          </p:cNvSpPr>
          <p:nvPr>
            <p:ph idx="1"/>
          </p:nvPr>
        </p:nvSpPr>
        <p:spPr>
          <a:xfrm>
            <a:off x="1752600" y="1219200"/>
            <a:ext cx="8686800" cy="5410200"/>
          </a:xfrm>
        </p:spPr>
        <p:txBody>
          <a:bodyPr>
            <a:normAutofit/>
          </a:bodyPr>
          <a:lstStyle/>
          <a:p>
            <a:pPr algn="just"/>
            <a:r>
              <a:rPr lang="en-US" dirty="0" smtClean="0">
                <a:latin typeface="Arial Narrow" pitchFamily="34" charset="0"/>
              </a:rPr>
              <a:t>Societal responsibility of marketing is a marketing concept that holds that a company should make marketing decisions not only by considering consumers' wants, the company's requirements, but also society's long-term interests.</a:t>
            </a:r>
          </a:p>
          <a:p>
            <a:pPr algn="just"/>
            <a:r>
              <a:rPr lang="en-US" dirty="0" smtClean="0"/>
              <a:t>The societal marketing concept adopts the position that marketers have a greater social responsibility than simply satisfying customers and providing them with superior value. Instead, marketing activities should strive to benefit society's overall well-being.</a:t>
            </a:r>
            <a:endParaRPr lang="en-US" dirty="0" smtClean="0">
              <a:latin typeface="Arial Narrow" pitchFamily="34" charset="0"/>
            </a:endParaRPr>
          </a:p>
          <a:p>
            <a:pPr algn="just"/>
            <a:r>
              <a:rPr lang="en-US" dirty="0" smtClean="0">
                <a:latin typeface="Arial Narrow" pitchFamily="34" charset="0"/>
              </a:rPr>
              <a:t>Societal marketing "</a:t>
            </a:r>
            <a:r>
              <a:rPr lang="en-US" b="1" dirty="0" smtClean="0">
                <a:latin typeface="Arial Narrow" pitchFamily="34" charset="0"/>
              </a:rPr>
              <a:t>concerns for society's long term interests</a:t>
            </a:r>
            <a:r>
              <a:rPr lang="en-US" dirty="0" smtClean="0">
                <a:latin typeface="Arial Narrow" pitchFamily="34" charset="0"/>
              </a:rPr>
              <a:t>". It is about "the direct benefits for the organization and secondary benefit for the community".</a:t>
            </a:r>
          </a:p>
        </p:txBody>
      </p:sp>
    </p:spTree>
    <p:extLst>
      <p:ext uri="{BB962C8B-B14F-4D97-AF65-F5344CB8AC3E}">
        <p14:creationId xmlns:p14="http://schemas.microsoft.com/office/powerpoint/2010/main" xmlns="" val="285888146"/>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0"/>
            <a:ext cx="8763000" cy="6477000"/>
          </a:xfrm>
        </p:spPr>
        <p:txBody>
          <a:bodyPr>
            <a:noAutofit/>
          </a:bodyPr>
          <a:lstStyle/>
          <a:p>
            <a:pPr algn="just"/>
            <a:r>
              <a:rPr lang="en-US" sz="2500" dirty="0">
                <a:latin typeface="Arial Narrow" pitchFamily="34" charset="0"/>
              </a:rPr>
              <a:t>Societal Marketing emphasizes social responsibilities and suggests that to sustain long-term success, the company should develop a marketing strategy to provide value to the customers to maintain and improve both the customers’ and society’s well-being better than the competitors.</a:t>
            </a:r>
          </a:p>
          <a:p>
            <a:pPr algn="just"/>
            <a:r>
              <a:rPr lang="en-US" sz="2500" dirty="0">
                <a:latin typeface="Arial Narrow" pitchFamily="34" charset="0"/>
              </a:rPr>
              <a:t>Companies should balance three considerations in setting their marketing strategies: company profits, consumer wants, and society’s interests.</a:t>
            </a:r>
          </a:p>
          <a:p>
            <a:pPr marL="514350" indent="-514350">
              <a:buFont typeface="+mj-lt"/>
              <a:buAutoNum type="arabicPeriod"/>
            </a:pPr>
            <a:r>
              <a:rPr lang="en-US" sz="2500" dirty="0">
                <a:latin typeface="Arial Narrow" pitchFamily="34" charset="0"/>
              </a:rPr>
              <a:t>Society (Human Welfare)</a:t>
            </a:r>
            <a:br>
              <a:rPr lang="en-US" sz="2500" dirty="0">
                <a:latin typeface="Arial Narrow" pitchFamily="34" charset="0"/>
              </a:rPr>
            </a:br>
            <a:r>
              <a:rPr lang="en-US" sz="2500" dirty="0">
                <a:latin typeface="Arial Narrow" pitchFamily="34" charset="0"/>
              </a:rPr>
              <a:t>Companies must make sure the products, services, actions, investment innovations servers society first.</a:t>
            </a:r>
          </a:p>
          <a:p>
            <a:pPr marL="514350" indent="-514350">
              <a:buFont typeface="+mj-lt"/>
              <a:buAutoNum type="arabicPeriod"/>
            </a:pPr>
            <a:r>
              <a:rPr lang="en-US" sz="2500" dirty="0">
                <a:latin typeface="Arial Narrow" pitchFamily="34" charset="0"/>
              </a:rPr>
              <a:t>Consumers (Satisfaction)</a:t>
            </a:r>
            <a:br>
              <a:rPr lang="en-US" sz="2500" dirty="0">
                <a:latin typeface="Arial Narrow" pitchFamily="34" charset="0"/>
              </a:rPr>
            </a:br>
            <a:r>
              <a:rPr lang="en-US" sz="2500" dirty="0">
                <a:latin typeface="Arial Narrow" pitchFamily="34" charset="0"/>
              </a:rPr>
              <a:t>Products and services should be satisfying the consumer’s needs.</a:t>
            </a:r>
          </a:p>
          <a:p>
            <a:pPr marL="514350" indent="-514350">
              <a:buFont typeface="+mj-lt"/>
              <a:buAutoNum type="arabicPeriod"/>
            </a:pPr>
            <a:r>
              <a:rPr lang="en-US" sz="2500" dirty="0">
                <a:latin typeface="Arial Narrow" pitchFamily="34" charset="0"/>
              </a:rPr>
              <a:t>Company (Profits)</a:t>
            </a:r>
            <a:br>
              <a:rPr lang="en-US" sz="2500" dirty="0">
                <a:latin typeface="Arial Narrow" pitchFamily="34" charset="0"/>
              </a:rPr>
            </a:br>
            <a:r>
              <a:rPr lang="en-US" sz="2500" dirty="0">
                <a:latin typeface="Arial Narrow" pitchFamily="34" charset="0"/>
              </a:rPr>
              <a:t>Building long-term customer relationships, being socially responsible, and providing satisfactory products are important for profit-making and wealth maximization.</a:t>
            </a:r>
          </a:p>
          <a:p>
            <a:pPr algn="just"/>
            <a:endParaRPr lang="en-US" sz="2500" dirty="0">
              <a:latin typeface="Arial Narrow" pitchFamily="34" charset="0"/>
            </a:endParaRPr>
          </a:p>
        </p:txBody>
      </p:sp>
    </p:spTree>
    <p:extLst>
      <p:ext uri="{BB962C8B-B14F-4D97-AF65-F5344CB8AC3E}">
        <p14:creationId xmlns:p14="http://schemas.microsoft.com/office/powerpoint/2010/main" xmlns="" val="413630937"/>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reeform 2"/>
          <p:cNvSpPr>
            <a:spLocks/>
          </p:cNvSpPr>
          <p:nvPr/>
        </p:nvSpPr>
        <p:spPr bwMode="auto">
          <a:xfrm>
            <a:off x="4038600" y="2057400"/>
            <a:ext cx="3830638" cy="3290888"/>
          </a:xfrm>
          <a:custGeom>
            <a:avLst/>
            <a:gdLst>
              <a:gd name="T0" fmla="*/ 2147483647 w 2398"/>
              <a:gd name="T1" fmla="*/ 0 h 1948"/>
              <a:gd name="T2" fmla="*/ 0 w 2398"/>
              <a:gd name="T3" fmla="*/ 2147483647 h 1948"/>
              <a:gd name="T4" fmla="*/ 2147483647 w 2398"/>
              <a:gd name="T5" fmla="*/ 2147483647 h 1948"/>
              <a:gd name="T6" fmla="*/ 2147483647 w 2398"/>
              <a:gd name="T7" fmla="*/ 0 h 1948"/>
              <a:gd name="T8" fmla="*/ 0 60000 65536"/>
              <a:gd name="T9" fmla="*/ 0 60000 65536"/>
              <a:gd name="T10" fmla="*/ 0 60000 65536"/>
              <a:gd name="T11" fmla="*/ 0 60000 65536"/>
              <a:gd name="T12" fmla="*/ 0 w 2398"/>
              <a:gd name="T13" fmla="*/ 0 h 1948"/>
              <a:gd name="T14" fmla="*/ 2398 w 2398"/>
              <a:gd name="T15" fmla="*/ 1948 h 1948"/>
            </a:gdLst>
            <a:ahLst/>
            <a:cxnLst>
              <a:cxn ang="T8">
                <a:pos x="T0" y="T1"/>
              </a:cxn>
              <a:cxn ang="T9">
                <a:pos x="T2" y="T3"/>
              </a:cxn>
              <a:cxn ang="T10">
                <a:pos x="T4" y="T5"/>
              </a:cxn>
              <a:cxn ang="T11">
                <a:pos x="T6" y="T7"/>
              </a:cxn>
            </a:cxnLst>
            <a:rect l="T12" t="T13" r="T14" b="T15"/>
            <a:pathLst>
              <a:path w="2398" h="1948">
                <a:moveTo>
                  <a:pt x="1199" y="0"/>
                </a:moveTo>
                <a:lnTo>
                  <a:pt x="0" y="1948"/>
                </a:lnTo>
                <a:lnTo>
                  <a:pt x="2398" y="1948"/>
                </a:lnTo>
                <a:lnTo>
                  <a:pt x="1199" y="0"/>
                </a:lnTo>
                <a:close/>
              </a:path>
            </a:pathLst>
          </a:custGeom>
          <a:solidFill>
            <a:srgbClr val="FFCC00"/>
          </a:solidFill>
          <a:ln w="17526">
            <a:solidFill>
              <a:srgbClr val="000000"/>
            </a:solidFill>
            <a:round/>
            <a:headEnd/>
            <a:tailEnd/>
          </a:ln>
        </p:spPr>
        <p:txBody>
          <a:bodyPr/>
          <a:lstStyle/>
          <a:p>
            <a:endParaRPr lang="en-US"/>
          </a:p>
        </p:txBody>
      </p:sp>
      <p:sp>
        <p:nvSpPr>
          <p:cNvPr id="32771" name="Text Box 3"/>
          <p:cNvSpPr txBox="1">
            <a:spLocks noChangeArrowheads="1"/>
          </p:cNvSpPr>
          <p:nvPr/>
        </p:nvSpPr>
        <p:spPr bwMode="auto">
          <a:xfrm>
            <a:off x="5202238" y="762001"/>
            <a:ext cx="1270000" cy="519113"/>
          </a:xfrm>
          <a:prstGeom prst="rect">
            <a:avLst/>
          </a:prstGeom>
          <a:noFill/>
          <a:ln w="9525">
            <a:noFill/>
            <a:miter lim="800000"/>
            <a:headEnd/>
            <a:tailEnd/>
          </a:ln>
        </p:spPr>
        <p:txBody>
          <a:bodyPr wrap="none">
            <a:spAutoFit/>
          </a:bodyPr>
          <a:lstStyle/>
          <a:p>
            <a:pPr eaLnBrk="1" hangingPunct="1"/>
            <a:r>
              <a:rPr lang="en-US" altLang="en-US" sz="2800" b="1">
                <a:latin typeface="Times New Roman" pitchFamily="18" charset="0"/>
              </a:rPr>
              <a:t>Society</a:t>
            </a:r>
          </a:p>
        </p:txBody>
      </p:sp>
      <p:sp>
        <p:nvSpPr>
          <p:cNvPr id="32772" name="Text Box 4"/>
          <p:cNvSpPr txBox="1">
            <a:spLocks noChangeArrowheads="1"/>
          </p:cNvSpPr>
          <p:nvPr/>
        </p:nvSpPr>
        <p:spPr bwMode="auto">
          <a:xfrm>
            <a:off x="4011613" y="1295401"/>
            <a:ext cx="4113212" cy="461963"/>
          </a:xfrm>
          <a:prstGeom prst="rect">
            <a:avLst/>
          </a:prstGeom>
          <a:noFill/>
          <a:ln w="9525">
            <a:noFill/>
            <a:miter lim="800000"/>
            <a:headEnd/>
            <a:tailEnd/>
          </a:ln>
        </p:spPr>
        <p:txBody>
          <a:bodyPr wrap="none">
            <a:spAutoFit/>
          </a:bodyPr>
          <a:lstStyle/>
          <a:p>
            <a:pPr eaLnBrk="1" hangingPunct="1"/>
            <a:r>
              <a:rPr lang="en-US" altLang="en-US" sz="2400" b="1">
                <a:latin typeface="Times New Roman" pitchFamily="18" charset="0"/>
              </a:rPr>
              <a:t>Human welfare, Environment</a:t>
            </a:r>
          </a:p>
        </p:txBody>
      </p:sp>
      <p:sp>
        <p:nvSpPr>
          <p:cNvPr id="32773" name="Text Box 5"/>
          <p:cNvSpPr txBox="1">
            <a:spLocks noChangeArrowheads="1"/>
          </p:cNvSpPr>
          <p:nvPr/>
        </p:nvSpPr>
        <p:spPr bwMode="auto">
          <a:xfrm>
            <a:off x="2514601" y="5410201"/>
            <a:ext cx="1903413" cy="519113"/>
          </a:xfrm>
          <a:prstGeom prst="rect">
            <a:avLst/>
          </a:prstGeom>
          <a:noFill/>
          <a:ln w="9525">
            <a:noFill/>
            <a:miter lim="800000"/>
            <a:headEnd/>
            <a:tailEnd/>
          </a:ln>
        </p:spPr>
        <p:txBody>
          <a:bodyPr wrap="none">
            <a:spAutoFit/>
          </a:bodyPr>
          <a:lstStyle/>
          <a:p>
            <a:pPr eaLnBrk="1" hangingPunct="1"/>
            <a:r>
              <a:rPr lang="en-US" altLang="en-US" sz="2800" b="1">
                <a:latin typeface="Times New Roman" pitchFamily="18" charset="0"/>
              </a:rPr>
              <a:t>Consumers</a:t>
            </a:r>
          </a:p>
        </p:txBody>
      </p:sp>
      <p:sp>
        <p:nvSpPr>
          <p:cNvPr id="32774" name="Text Box 6"/>
          <p:cNvSpPr txBox="1">
            <a:spLocks noChangeArrowheads="1"/>
          </p:cNvSpPr>
          <p:nvPr/>
        </p:nvSpPr>
        <p:spPr bwMode="auto">
          <a:xfrm>
            <a:off x="7724776" y="5424488"/>
            <a:ext cx="1668463" cy="519112"/>
          </a:xfrm>
          <a:prstGeom prst="rect">
            <a:avLst/>
          </a:prstGeom>
          <a:noFill/>
          <a:ln w="9525">
            <a:noFill/>
            <a:miter lim="800000"/>
            <a:headEnd/>
            <a:tailEnd/>
          </a:ln>
        </p:spPr>
        <p:txBody>
          <a:bodyPr wrap="none">
            <a:spAutoFit/>
          </a:bodyPr>
          <a:lstStyle/>
          <a:p>
            <a:pPr eaLnBrk="1" hangingPunct="1"/>
            <a:r>
              <a:rPr lang="en-US" altLang="en-US" sz="2800" b="1">
                <a:latin typeface="Times New Roman" pitchFamily="18" charset="0"/>
              </a:rPr>
              <a:t>Company</a:t>
            </a:r>
          </a:p>
        </p:txBody>
      </p:sp>
      <p:sp>
        <p:nvSpPr>
          <p:cNvPr id="32775" name="Text Box 7"/>
          <p:cNvSpPr txBox="1">
            <a:spLocks noChangeArrowheads="1"/>
          </p:cNvSpPr>
          <p:nvPr/>
        </p:nvSpPr>
        <p:spPr bwMode="auto">
          <a:xfrm>
            <a:off x="1833564" y="5984875"/>
            <a:ext cx="3640137" cy="457200"/>
          </a:xfrm>
          <a:prstGeom prst="rect">
            <a:avLst/>
          </a:prstGeom>
          <a:noFill/>
          <a:ln w="9525">
            <a:noFill/>
            <a:miter lim="800000"/>
            <a:headEnd/>
            <a:tailEnd/>
          </a:ln>
        </p:spPr>
        <p:txBody>
          <a:bodyPr wrap="none">
            <a:spAutoFit/>
          </a:bodyPr>
          <a:lstStyle/>
          <a:p>
            <a:pPr eaLnBrk="1" hangingPunct="1"/>
            <a:r>
              <a:rPr lang="en-US" altLang="en-US" sz="2400" b="1">
                <a:latin typeface="Times New Roman" pitchFamily="18" charset="0"/>
              </a:rPr>
              <a:t>Needs, Wants, Satisfaction</a:t>
            </a:r>
          </a:p>
        </p:txBody>
      </p:sp>
      <p:sp>
        <p:nvSpPr>
          <p:cNvPr id="32776" name="Text Box 8"/>
          <p:cNvSpPr txBox="1">
            <a:spLocks noChangeArrowheads="1"/>
          </p:cNvSpPr>
          <p:nvPr/>
        </p:nvSpPr>
        <p:spPr bwMode="auto">
          <a:xfrm>
            <a:off x="6573839" y="5943601"/>
            <a:ext cx="3995737" cy="461963"/>
          </a:xfrm>
          <a:prstGeom prst="rect">
            <a:avLst/>
          </a:prstGeom>
          <a:noFill/>
          <a:ln w="9525">
            <a:noFill/>
            <a:miter lim="800000"/>
            <a:headEnd/>
            <a:tailEnd/>
          </a:ln>
        </p:spPr>
        <p:txBody>
          <a:bodyPr wrap="none">
            <a:spAutoFit/>
          </a:bodyPr>
          <a:lstStyle/>
          <a:p>
            <a:pPr eaLnBrk="1" hangingPunct="1"/>
            <a:r>
              <a:rPr lang="en-US" altLang="en-US" sz="2400" b="1">
                <a:latin typeface="Times New Roman" pitchFamily="18" charset="0"/>
              </a:rPr>
              <a:t>Sales volume, profits, growth</a:t>
            </a:r>
          </a:p>
        </p:txBody>
      </p:sp>
      <p:sp>
        <p:nvSpPr>
          <p:cNvPr id="32777" name="Text Box 9"/>
          <p:cNvSpPr txBox="1">
            <a:spLocks noChangeArrowheads="1"/>
          </p:cNvSpPr>
          <p:nvPr/>
        </p:nvSpPr>
        <p:spPr bwMode="auto">
          <a:xfrm>
            <a:off x="4973638" y="3733800"/>
            <a:ext cx="1905000" cy="1200150"/>
          </a:xfrm>
          <a:prstGeom prst="rect">
            <a:avLst/>
          </a:prstGeom>
          <a:noFill/>
          <a:ln w="9525">
            <a:noFill/>
            <a:miter lim="800000"/>
            <a:headEnd/>
            <a:tailEnd/>
          </a:ln>
        </p:spPr>
        <p:txBody>
          <a:bodyPr>
            <a:spAutoFit/>
          </a:bodyPr>
          <a:lstStyle/>
          <a:p>
            <a:pPr algn="ctr" eaLnBrk="1" hangingPunct="1"/>
            <a:r>
              <a:rPr lang="en-US" altLang="en-US" sz="2400" b="1">
                <a:latin typeface="Times New Roman" pitchFamily="18" charset="0"/>
              </a:rPr>
              <a:t>Societal </a:t>
            </a:r>
          </a:p>
          <a:p>
            <a:pPr algn="ctr" eaLnBrk="1" hangingPunct="1"/>
            <a:r>
              <a:rPr lang="en-US" altLang="en-US" sz="2400" b="1">
                <a:latin typeface="Times New Roman" pitchFamily="18" charset="0"/>
              </a:rPr>
              <a:t>Marketing</a:t>
            </a:r>
          </a:p>
          <a:p>
            <a:pPr algn="ctr" eaLnBrk="1" hangingPunct="1"/>
            <a:r>
              <a:rPr lang="en-US" altLang="en-US" sz="2400" b="1">
                <a:latin typeface="Times New Roman" pitchFamily="18" charset="0"/>
              </a:rPr>
              <a:t>Concept </a:t>
            </a:r>
          </a:p>
        </p:txBody>
      </p:sp>
      <p:sp>
        <p:nvSpPr>
          <p:cNvPr id="32778" name="Text Box 10"/>
          <p:cNvSpPr txBox="1">
            <a:spLocks noChangeArrowheads="1"/>
          </p:cNvSpPr>
          <p:nvPr/>
        </p:nvSpPr>
        <p:spPr bwMode="auto">
          <a:xfrm>
            <a:off x="2890839" y="196850"/>
            <a:ext cx="5870575" cy="584200"/>
          </a:xfrm>
          <a:prstGeom prst="rect">
            <a:avLst/>
          </a:prstGeom>
          <a:noFill/>
          <a:ln w="9525">
            <a:noFill/>
            <a:miter lim="800000"/>
            <a:headEnd/>
            <a:tailEnd/>
          </a:ln>
        </p:spPr>
        <p:txBody>
          <a:bodyPr wrap="none">
            <a:spAutoFit/>
          </a:bodyPr>
          <a:lstStyle/>
          <a:p>
            <a:pPr algn="ctr" eaLnBrk="1" hangingPunct="1"/>
            <a:r>
              <a:rPr lang="en-US" altLang="en-US" sz="3200" b="1">
                <a:solidFill>
                  <a:srgbClr val="0070C0"/>
                </a:solidFill>
                <a:latin typeface="Times New Roman" pitchFamily="18" charset="0"/>
              </a:rPr>
              <a:t>The Societal Marketing Concept</a:t>
            </a:r>
          </a:p>
        </p:txBody>
      </p:sp>
    </p:spTree>
    <p:extLst>
      <p:ext uri="{BB962C8B-B14F-4D97-AF65-F5344CB8AC3E}">
        <p14:creationId xmlns:p14="http://schemas.microsoft.com/office/powerpoint/2010/main" xmlns="" val="3111891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778"/>
                                        </p:tgtEl>
                                        <p:attrNameLst>
                                          <p:attrName>style.visibility</p:attrName>
                                        </p:attrNameLst>
                                      </p:cBhvr>
                                      <p:to>
                                        <p:strVal val="visible"/>
                                      </p:to>
                                    </p:set>
                                    <p:anim calcmode="lin" valueType="num">
                                      <p:cBhvr additive="base">
                                        <p:cTn id="7" dur="500" fill="hold"/>
                                        <p:tgtEl>
                                          <p:spTgt spid="32778"/>
                                        </p:tgtEl>
                                        <p:attrNameLst>
                                          <p:attrName>ppt_x</p:attrName>
                                        </p:attrNameLst>
                                      </p:cBhvr>
                                      <p:tavLst>
                                        <p:tav tm="0">
                                          <p:val>
                                            <p:strVal val="0-#ppt_w/2"/>
                                          </p:val>
                                        </p:tav>
                                        <p:tav tm="100000">
                                          <p:val>
                                            <p:strVal val="#ppt_x"/>
                                          </p:val>
                                        </p:tav>
                                      </p:tavLst>
                                    </p:anim>
                                    <p:anim calcmode="lin" valueType="num">
                                      <p:cBhvr additive="base">
                                        <p:cTn id="8" dur="500" fill="hold"/>
                                        <p:tgtEl>
                                          <p:spTgt spid="3277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770"/>
                                        </p:tgtEl>
                                        <p:attrNameLst>
                                          <p:attrName>style.visibility</p:attrName>
                                        </p:attrNameLst>
                                      </p:cBhvr>
                                      <p:to>
                                        <p:strVal val="visible"/>
                                      </p:to>
                                    </p:set>
                                    <p:anim calcmode="lin" valueType="num">
                                      <p:cBhvr additive="base">
                                        <p:cTn id="13" dur="500" fill="hold"/>
                                        <p:tgtEl>
                                          <p:spTgt spid="32770"/>
                                        </p:tgtEl>
                                        <p:attrNameLst>
                                          <p:attrName>ppt_x</p:attrName>
                                        </p:attrNameLst>
                                      </p:cBhvr>
                                      <p:tavLst>
                                        <p:tav tm="0">
                                          <p:val>
                                            <p:strVal val="0-#ppt_w/2"/>
                                          </p:val>
                                        </p:tav>
                                        <p:tav tm="100000">
                                          <p:val>
                                            <p:strVal val="#ppt_x"/>
                                          </p:val>
                                        </p:tav>
                                      </p:tavLst>
                                    </p:anim>
                                    <p:anim calcmode="lin" valueType="num">
                                      <p:cBhvr additive="base">
                                        <p:cTn id="14" dur="500" fill="hold"/>
                                        <p:tgtEl>
                                          <p:spTgt spid="3277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771"/>
                                        </p:tgtEl>
                                        <p:attrNameLst>
                                          <p:attrName>style.visibility</p:attrName>
                                        </p:attrNameLst>
                                      </p:cBhvr>
                                      <p:to>
                                        <p:strVal val="visible"/>
                                      </p:to>
                                    </p:set>
                                    <p:anim calcmode="lin" valueType="num">
                                      <p:cBhvr additive="base">
                                        <p:cTn id="19" dur="500" fill="hold"/>
                                        <p:tgtEl>
                                          <p:spTgt spid="32771"/>
                                        </p:tgtEl>
                                        <p:attrNameLst>
                                          <p:attrName>ppt_x</p:attrName>
                                        </p:attrNameLst>
                                      </p:cBhvr>
                                      <p:tavLst>
                                        <p:tav tm="0">
                                          <p:val>
                                            <p:strVal val="0-#ppt_w/2"/>
                                          </p:val>
                                        </p:tav>
                                        <p:tav tm="100000">
                                          <p:val>
                                            <p:strVal val="#ppt_x"/>
                                          </p:val>
                                        </p:tav>
                                      </p:tavLst>
                                    </p:anim>
                                    <p:anim calcmode="lin" valueType="num">
                                      <p:cBhvr additive="base">
                                        <p:cTn id="20" dur="500" fill="hold"/>
                                        <p:tgtEl>
                                          <p:spTgt spid="3277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772"/>
                                        </p:tgtEl>
                                        <p:attrNameLst>
                                          <p:attrName>style.visibility</p:attrName>
                                        </p:attrNameLst>
                                      </p:cBhvr>
                                      <p:to>
                                        <p:strVal val="visible"/>
                                      </p:to>
                                    </p:set>
                                    <p:anim calcmode="lin" valueType="num">
                                      <p:cBhvr additive="base">
                                        <p:cTn id="25" dur="500" fill="hold"/>
                                        <p:tgtEl>
                                          <p:spTgt spid="32772"/>
                                        </p:tgtEl>
                                        <p:attrNameLst>
                                          <p:attrName>ppt_x</p:attrName>
                                        </p:attrNameLst>
                                      </p:cBhvr>
                                      <p:tavLst>
                                        <p:tav tm="0">
                                          <p:val>
                                            <p:strVal val="0-#ppt_w/2"/>
                                          </p:val>
                                        </p:tav>
                                        <p:tav tm="100000">
                                          <p:val>
                                            <p:strVal val="#ppt_x"/>
                                          </p:val>
                                        </p:tav>
                                      </p:tavLst>
                                    </p:anim>
                                    <p:anim calcmode="lin" valueType="num">
                                      <p:cBhvr additive="base">
                                        <p:cTn id="26" dur="500" fill="hold"/>
                                        <p:tgtEl>
                                          <p:spTgt spid="3277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2773"/>
                                        </p:tgtEl>
                                        <p:attrNameLst>
                                          <p:attrName>style.visibility</p:attrName>
                                        </p:attrNameLst>
                                      </p:cBhvr>
                                      <p:to>
                                        <p:strVal val="visible"/>
                                      </p:to>
                                    </p:set>
                                    <p:anim calcmode="lin" valueType="num">
                                      <p:cBhvr additive="base">
                                        <p:cTn id="31" dur="500" fill="hold"/>
                                        <p:tgtEl>
                                          <p:spTgt spid="32773"/>
                                        </p:tgtEl>
                                        <p:attrNameLst>
                                          <p:attrName>ppt_x</p:attrName>
                                        </p:attrNameLst>
                                      </p:cBhvr>
                                      <p:tavLst>
                                        <p:tav tm="0">
                                          <p:val>
                                            <p:strVal val="0-#ppt_w/2"/>
                                          </p:val>
                                        </p:tav>
                                        <p:tav tm="100000">
                                          <p:val>
                                            <p:strVal val="#ppt_x"/>
                                          </p:val>
                                        </p:tav>
                                      </p:tavLst>
                                    </p:anim>
                                    <p:anim calcmode="lin" valueType="num">
                                      <p:cBhvr additive="base">
                                        <p:cTn id="32" dur="500" fill="hold"/>
                                        <p:tgtEl>
                                          <p:spTgt spid="32773"/>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2775"/>
                                        </p:tgtEl>
                                        <p:attrNameLst>
                                          <p:attrName>style.visibility</p:attrName>
                                        </p:attrNameLst>
                                      </p:cBhvr>
                                      <p:to>
                                        <p:strVal val="visible"/>
                                      </p:to>
                                    </p:set>
                                    <p:anim calcmode="lin" valueType="num">
                                      <p:cBhvr additive="base">
                                        <p:cTn id="37" dur="500" fill="hold"/>
                                        <p:tgtEl>
                                          <p:spTgt spid="32775"/>
                                        </p:tgtEl>
                                        <p:attrNameLst>
                                          <p:attrName>ppt_x</p:attrName>
                                        </p:attrNameLst>
                                      </p:cBhvr>
                                      <p:tavLst>
                                        <p:tav tm="0">
                                          <p:val>
                                            <p:strVal val="0-#ppt_w/2"/>
                                          </p:val>
                                        </p:tav>
                                        <p:tav tm="100000">
                                          <p:val>
                                            <p:strVal val="#ppt_x"/>
                                          </p:val>
                                        </p:tav>
                                      </p:tavLst>
                                    </p:anim>
                                    <p:anim calcmode="lin" valueType="num">
                                      <p:cBhvr additive="base">
                                        <p:cTn id="38" dur="500" fill="hold"/>
                                        <p:tgtEl>
                                          <p:spTgt spid="32775"/>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2774"/>
                                        </p:tgtEl>
                                        <p:attrNameLst>
                                          <p:attrName>style.visibility</p:attrName>
                                        </p:attrNameLst>
                                      </p:cBhvr>
                                      <p:to>
                                        <p:strVal val="visible"/>
                                      </p:to>
                                    </p:set>
                                    <p:anim calcmode="lin" valueType="num">
                                      <p:cBhvr additive="base">
                                        <p:cTn id="43" dur="500" fill="hold"/>
                                        <p:tgtEl>
                                          <p:spTgt spid="32774"/>
                                        </p:tgtEl>
                                        <p:attrNameLst>
                                          <p:attrName>ppt_x</p:attrName>
                                        </p:attrNameLst>
                                      </p:cBhvr>
                                      <p:tavLst>
                                        <p:tav tm="0">
                                          <p:val>
                                            <p:strVal val="0-#ppt_w/2"/>
                                          </p:val>
                                        </p:tav>
                                        <p:tav tm="100000">
                                          <p:val>
                                            <p:strVal val="#ppt_x"/>
                                          </p:val>
                                        </p:tav>
                                      </p:tavLst>
                                    </p:anim>
                                    <p:anim calcmode="lin" valueType="num">
                                      <p:cBhvr additive="base">
                                        <p:cTn id="44" dur="500" fill="hold"/>
                                        <p:tgtEl>
                                          <p:spTgt spid="32774"/>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2776"/>
                                        </p:tgtEl>
                                        <p:attrNameLst>
                                          <p:attrName>style.visibility</p:attrName>
                                        </p:attrNameLst>
                                      </p:cBhvr>
                                      <p:to>
                                        <p:strVal val="visible"/>
                                      </p:to>
                                    </p:set>
                                    <p:anim calcmode="lin" valueType="num">
                                      <p:cBhvr additive="base">
                                        <p:cTn id="49" dur="500" fill="hold"/>
                                        <p:tgtEl>
                                          <p:spTgt spid="32776"/>
                                        </p:tgtEl>
                                        <p:attrNameLst>
                                          <p:attrName>ppt_x</p:attrName>
                                        </p:attrNameLst>
                                      </p:cBhvr>
                                      <p:tavLst>
                                        <p:tav tm="0">
                                          <p:val>
                                            <p:strVal val="0-#ppt_w/2"/>
                                          </p:val>
                                        </p:tav>
                                        <p:tav tm="100000">
                                          <p:val>
                                            <p:strVal val="#ppt_x"/>
                                          </p:val>
                                        </p:tav>
                                      </p:tavLst>
                                    </p:anim>
                                    <p:anim calcmode="lin" valueType="num">
                                      <p:cBhvr additive="base">
                                        <p:cTn id="50" dur="500" fill="hold"/>
                                        <p:tgtEl>
                                          <p:spTgt spid="32776"/>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2777"/>
                                        </p:tgtEl>
                                        <p:attrNameLst>
                                          <p:attrName>style.visibility</p:attrName>
                                        </p:attrNameLst>
                                      </p:cBhvr>
                                      <p:to>
                                        <p:strVal val="visible"/>
                                      </p:to>
                                    </p:set>
                                    <p:anim calcmode="lin" valueType="num">
                                      <p:cBhvr additive="base">
                                        <p:cTn id="55" dur="500" fill="hold"/>
                                        <p:tgtEl>
                                          <p:spTgt spid="32777"/>
                                        </p:tgtEl>
                                        <p:attrNameLst>
                                          <p:attrName>ppt_x</p:attrName>
                                        </p:attrNameLst>
                                      </p:cBhvr>
                                      <p:tavLst>
                                        <p:tav tm="0">
                                          <p:val>
                                            <p:strVal val="0-#ppt_w/2"/>
                                          </p:val>
                                        </p:tav>
                                        <p:tav tm="100000">
                                          <p:val>
                                            <p:strVal val="#ppt_x"/>
                                          </p:val>
                                        </p:tav>
                                      </p:tavLst>
                                    </p:anim>
                                    <p:anim calcmode="lin" valueType="num">
                                      <p:cBhvr additive="base">
                                        <p:cTn id="56" dur="500" fill="hold"/>
                                        <p:tgtEl>
                                          <p:spTgt spid="327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nimBg="1"/>
      <p:bldP spid="32771" grpId="0" autoUpdateAnimBg="0"/>
      <p:bldP spid="32772" grpId="0" autoUpdateAnimBg="0"/>
      <p:bldP spid="32773" grpId="0" autoUpdateAnimBg="0"/>
      <p:bldP spid="32774" grpId="0" autoUpdateAnimBg="0"/>
      <p:bldP spid="32775" grpId="0" autoUpdateAnimBg="0"/>
      <p:bldP spid="32776" grpId="0" autoUpdateAnimBg="0"/>
      <p:bldP spid="32777" grpId="0" autoUpdateAnimBg="0"/>
      <p:bldP spid="32778"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sz="3200" b="1" dirty="0">
                <a:latin typeface="Arial Narrow" pitchFamily="34" charset="0"/>
              </a:rPr>
              <a:t>Advantages of Societal Marketing Concept</a:t>
            </a:r>
          </a:p>
        </p:txBody>
      </p:sp>
      <p:sp>
        <p:nvSpPr>
          <p:cNvPr id="3" name="Content Placeholder 2"/>
          <p:cNvSpPr>
            <a:spLocks noGrp="1"/>
          </p:cNvSpPr>
          <p:nvPr>
            <p:ph idx="1"/>
          </p:nvPr>
        </p:nvSpPr>
        <p:spPr>
          <a:xfrm>
            <a:off x="1752600" y="1066800"/>
            <a:ext cx="8686800" cy="5410200"/>
          </a:xfrm>
        </p:spPr>
        <p:txBody>
          <a:bodyPr>
            <a:normAutofit lnSpcReduction="10000"/>
          </a:bodyPr>
          <a:lstStyle/>
          <a:p>
            <a:pPr algn="just"/>
            <a:r>
              <a:rPr lang="en-US" dirty="0" smtClean="0">
                <a:latin typeface="Arial Narrow" pitchFamily="34" charset="0"/>
              </a:rPr>
              <a:t>It helps to build a better image for the company.</a:t>
            </a:r>
          </a:p>
          <a:p>
            <a:pPr algn="just"/>
            <a:r>
              <a:rPr lang="en-US" dirty="0" smtClean="0">
                <a:latin typeface="Arial Narrow" pitchFamily="34" charset="0"/>
              </a:rPr>
              <a:t>It gives a competitive advantage over the competitors.</a:t>
            </a:r>
          </a:p>
          <a:p>
            <a:pPr algn="just"/>
            <a:r>
              <a:rPr lang="en-US" dirty="0" smtClean="0">
                <a:latin typeface="Arial Narrow" pitchFamily="34" charset="0"/>
              </a:rPr>
              <a:t>Useful in customer retention and long-term relationships.</a:t>
            </a:r>
          </a:p>
          <a:p>
            <a:pPr algn="just"/>
            <a:r>
              <a:rPr lang="en-US" dirty="0" smtClean="0">
                <a:latin typeface="Arial Narrow" pitchFamily="34" charset="0"/>
              </a:rPr>
              <a:t>Increases sales and market share.</a:t>
            </a:r>
          </a:p>
          <a:p>
            <a:pPr algn="just"/>
            <a:r>
              <a:rPr lang="en-US" dirty="0" smtClean="0">
                <a:latin typeface="Arial Narrow" pitchFamily="34" charset="0"/>
              </a:rPr>
              <a:t>Facilitate expansion and growth in the long term.</a:t>
            </a:r>
          </a:p>
          <a:p>
            <a:pPr algn="just"/>
            <a:r>
              <a:rPr lang="en-US" dirty="0" smtClean="0">
                <a:latin typeface="Arial Narrow" pitchFamily="34" charset="0"/>
              </a:rPr>
              <a:t>Products and company policies should prioritize social welfare and society in general.</a:t>
            </a:r>
          </a:p>
          <a:p>
            <a:pPr algn="just"/>
            <a:r>
              <a:rPr lang="en-US" dirty="0" smtClean="0">
                <a:latin typeface="Arial Narrow" pitchFamily="34" charset="0"/>
              </a:rPr>
              <a:t>Economic resources are properly used.</a:t>
            </a:r>
          </a:p>
          <a:p>
            <a:pPr algn="just"/>
            <a:r>
              <a:rPr lang="en-US" dirty="0" smtClean="0">
                <a:latin typeface="Arial Narrow" pitchFamily="34" charset="0"/>
              </a:rPr>
              <a:t>Societal marketing raises the living standard of people in society.</a:t>
            </a:r>
          </a:p>
          <a:p>
            <a:pPr algn="just"/>
            <a:r>
              <a:rPr lang="en-US" dirty="0" smtClean="0">
                <a:latin typeface="Arial Narrow" pitchFamily="34" charset="0"/>
              </a:rPr>
              <a:t>It ensures economic planning more significant and more fruitful to society.</a:t>
            </a:r>
          </a:p>
          <a:p>
            <a:pPr algn="just"/>
            <a:endParaRPr lang="en-US" dirty="0">
              <a:latin typeface="Arial Narrow" pitchFamily="34" charset="0"/>
            </a:endParaRPr>
          </a:p>
        </p:txBody>
      </p:sp>
    </p:spTree>
    <p:extLst>
      <p:ext uri="{BB962C8B-B14F-4D97-AF65-F5344CB8AC3E}">
        <p14:creationId xmlns:p14="http://schemas.microsoft.com/office/powerpoint/2010/main" xmlns="" val="1437287151"/>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Arial Narrow" pitchFamily="34" charset="0"/>
              </a:rPr>
              <a:t>Premiumization</a:t>
            </a:r>
            <a:endParaRPr lang="en-US" b="1" dirty="0">
              <a:latin typeface="Arial Narrow" pitchFamily="34" charset="0"/>
            </a:endParaRPr>
          </a:p>
        </p:txBody>
      </p:sp>
      <p:sp>
        <p:nvSpPr>
          <p:cNvPr id="3" name="Content Placeholder 2"/>
          <p:cNvSpPr>
            <a:spLocks noGrp="1"/>
          </p:cNvSpPr>
          <p:nvPr>
            <p:ph idx="1"/>
          </p:nvPr>
        </p:nvSpPr>
        <p:spPr>
          <a:xfrm>
            <a:off x="1676400" y="1295400"/>
            <a:ext cx="8763000" cy="5257800"/>
          </a:xfrm>
        </p:spPr>
        <p:txBody>
          <a:bodyPr>
            <a:normAutofit/>
          </a:bodyPr>
          <a:lstStyle/>
          <a:p>
            <a:pPr algn="just"/>
            <a:r>
              <a:rPr lang="en-US" dirty="0" smtClean="0">
                <a:latin typeface="Arial Narrow" pitchFamily="34" charset="0"/>
              </a:rPr>
              <a:t>Premiumization is the science of motivating consumers to pay more for brands, products, and services. </a:t>
            </a:r>
          </a:p>
          <a:p>
            <a:pPr algn="just"/>
            <a:r>
              <a:rPr lang="en-US" dirty="0" smtClean="0">
                <a:latin typeface="Arial Narrow" pitchFamily="34" charset="0"/>
              </a:rPr>
              <a:t>Brands in mature, competitive markets need to premiumize to achieve growth.</a:t>
            </a:r>
          </a:p>
          <a:p>
            <a:pPr algn="just"/>
            <a:r>
              <a:rPr lang="en-US" dirty="0" smtClean="0">
                <a:latin typeface="Arial Narrow" pitchFamily="34" charset="0"/>
              </a:rPr>
              <a:t>It's when companies emphasize luxury versions of their products and sell them at elevated prices. By attracting higher-income clients, companies believe they'll be able to maintain or improve profits while selling fewer goods.</a:t>
            </a:r>
          </a:p>
          <a:p>
            <a:pPr algn="just"/>
            <a:r>
              <a:rPr lang="en-US" dirty="0" smtClean="0">
                <a:latin typeface="Arial Narrow" pitchFamily="34" charset="0"/>
              </a:rPr>
              <a:t>It is the action or process of attempting to make a brand or product appeal to consumers by emphasizing its superior quality and exclusivity.</a:t>
            </a:r>
            <a:endParaRPr lang="en-US" dirty="0">
              <a:latin typeface="Arial Narrow" pitchFamily="34" charset="0"/>
            </a:endParaRPr>
          </a:p>
        </p:txBody>
      </p:sp>
    </p:spTree>
    <p:extLst>
      <p:ext uri="{BB962C8B-B14F-4D97-AF65-F5344CB8AC3E}">
        <p14:creationId xmlns:p14="http://schemas.microsoft.com/office/powerpoint/2010/main" xmlns="" val="3847128239"/>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10054"/>
            <a:ext cx="10515600" cy="1325563"/>
          </a:xfrm>
        </p:spPr>
        <p:txBody>
          <a:bodyPr/>
          <a:lstStyle/>
          <a:p>
            <a:pPr algn="ctr"/>
            <a:r>
              <a:rPr lang="en-IN" b="1" dirty="0" smtClean="0"/>
              <a:t>Thank You</a:t>
            </a:r>
            <a:endParaRPr lang="en-IN" b="1" dirty="0"/>
          </a:p>
        </p:txBody>
      </p:sp>
    </p:spTree>
    <p:extLst>
      <p:ext uri="{BB962C8B-B14F-4D97-AF65-F5344CB8AC3E}">
        <p14:creationId xmlns:p14="http://schemas.microsoft.com/office/powerpoint/2010/main" xmlns="" val="841299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