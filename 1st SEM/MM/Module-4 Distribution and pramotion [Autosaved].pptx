
<file path=[Content_Types].xml><?xml version="1.0" encoding="utf-8"?>
<Types xmlns="http://schemas.openxmlformats.org/package/2006/content-types">
  <Default ContentType="image/x-wmf" Extension="wmf"/>
  <Default ContentType="application/vnd.openxmlformats-officedocument.vmlDrawing" Extension="vml"/>
  <Default ContentType="application/vnd.openxmlformats-officedocument.oleObject" Extension="bin"/>
  <Default ContentType="application/xml" Extension="xml"/>
  <Default ContentType="image/png" Extension="png"/>
  <Default ContentType="image/jpeg" Extension="jpeg"/>
  <Default ContentType="application/vnd.openxmlformats-package.relationships+xml" Extension="rels"/>
  <Default ContentType="image/x-emf" Extension="emf"/>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4.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extLst>
    <p:ext uri="{EFAFB233-063F-42B5-8137-9DF3F51BA10A}">
      <p15:sldGuideLst>
        <p15:guide id="1" orient="horz" pos="2160">
          <p15:clr>
            <a:srgbClr val="000000"/>
          </p15:clr>
        </p15:guide>
        <p15:guide id="2" pos="3840">
          <p15:clr>
            <a:srgbClr val="000000"/>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26FA4A1-2FFD-4C2A-A200-F0DE034CAF26}" type="datetimeFigureOut">
              <a:rPr lang="en-IN" smtClean="0"/>
              <a:pPr/>
              <a:t>09-01-2026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ECD858-1EC8-4DC5-A90B-43A97C6DBEC4}" type="slidenum">
              <a:rPr lang="en-IN" smtClean="0"/>
              <a:pPr/>
              <a:t>‹#›</a:t>
            </a:fld>
            <a:endParaRPr lang="en-IN"/>
          </a:p>
        </p:txBody>
      </p:sp>
    </p:spTree>
    <p:extLst>
      <p:ext uri="{BB962C8B-B14F-4D97-AF65-F5344CB8AC3E}">
        <p14:creationId xmlns:p14="http://schemas.microsoft.com/office/powerpoint/2010/main" xmlns="" val="25463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26FA4A1-2FFD-4C2A-A200-F0DE034CAF26}" type="datetimeFigureOut">
              <a:rPr lang="en-IN" smtClean="0"/>
              <a:pPr/>
              <a:t>09-01-2026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ECD858-1EC8-4DC5-A90B-43A97C6DBEC4}" type="slidenum">
              <a:rPr lang="en-IN" smtClean="0"/>
              <a:pPr/>
              <a:t>‹#›</a:t>
            </a:fld>
            <a:endParaRPr lang="en-IN"/>
          </a:p>
        </p:txBody>
      </p:sp>
    </p:spTree>
    <p:extLst>
      <p:ext uri="{BB962C8B-B14F-4D97-AF65-F5344CB8AC3E}">
        <p14:creationId xmlns:p14="http://schemas.microsoft.com/office/powerpoint/2010/main" xmlns="" val="22596474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6FA4A1-2FFD-4C2A-A200-F0DE034CAF26}" type="datetimeFigureOut">
              <a:rPr lang="en-IN" smtClean="0"/>
              <a:pPr/>
              <a:t>09-01-2026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ECD858-1EC8-4DC5-A90B-43A97C6DBEC4}" type="slidenum">
              <a:rPr lang="en-IN" smtClean="0"/>
              <a:pPr/>
              <a:t>‹#›</a:t>
            </a:fld>
            <a:endParaRPr lang="en-IN"/>
          </a:p>
        </p:txBody>
      </p:sp>
    </p:spTree>
    <p:extLst>
      <p:ext uri="{BB962C8B-B14F-4D97-AF65-F5344CB8AC3E}">
        <p14:creationId xmlns:p14="http://schemas.microsoft.com/office/powerpoint/2010/main" xmlns="" val="1289109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26FA4A1-2FFD-4C2A-A200-F0DE034CAF26}" type="datetimeFigureOut">
              <a:rPr lang="en-IN" smtClean="0"/>
              <a:pPr/>
              <a:t>09-01-2026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ECD858-1EC8-4DC5-A90B-43A97C6DBEC4}" type="slidenum">
              <a:rPr lang="en-IN" smtClean="0"/>
              <a:pPr/>
              <a:t>‹#›</a:t>
            </a:fld>
            <a:endParaRPr lang="en-IN"/>
          </a:p>
        </p:txBody>
      </p:sp>
    </p:spTree>
    <p:extLst>
      <p:ext uri="{BB962C8B-B14F-4D97-AF65-F5344CB8AC3E}">
        <p14:creationId xmlns:p14="http://schemas.microsoft.com/office/powerpoint/2010/main" xmlns="" val="1742536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26FA4A1-2FFD-4C2A-A200-F0DE034CAF26}" type="datetimeFigureOut">
              <a:rPr lang="en-IN" smtClean="0"/>
              <a:pPr/>
              <a:t>09-01-2026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6ECD858-1EC8-4DC5-A90B-43A97C6DBEC4}" type="slidenum">
              <a:rPr lang="en-IN" smtClean="0"/>
              <a:pPr/>
              <a:t>‹#›</a:t>
            </a:fld>
            <a:endParaRPr lang="en-IN"/>
          </a:p>
        </p:txBody>
      </p:sp>
    </p:spTree>
    <p:extLst>
      <p:ext uri="{BB962C8B-B14F-4D97-AF65-F5344CB8AC3E}">
        <p14:creationId xmlns:p14="http://schemas.microsoft.com/office/powerpoint/2010/main" xmlns="" val="2756995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26FA4A1-2FFD-4C2A-A200-F0DE034CAF26}" type="datetimeFigureOut">
              <a:rPr lang="en-IN" smtClean="0"/>
              <a:pPr/>
              <a:t>09-01-2026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6ECD858-1EC8-4DC5-A90B-43A97C6DBEC4}" type="slidenum">
              <a:rPr lang="en-IN" smtClean="0"/>
              <a:pPr/>
              <a:t>‹#›</a:t>
            </a:fld>
            <a:endParaRPr lang="en-IN"/>
          </a:p>
        </p:txBody>
      </p:sp>
    </p:spTree>
    <p:extLst>
      <p:ext uri="{BB962C8B-B14F-4D97-AF65-F5344CB8AC3E}">
        <p14:creationId xmlns:p14="http://schemas.microsoft.com/office/powerpoint/2010/main" xmlns="" val="4274430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6FA4A1-2FFD-4C2A-A200-F0DE034CAF26}" type="datetimeFigureOut">
              <a:rPr lang="en-IN" smtClean="0"/>
              <a:pPr/>
              <a:t>09-01-2026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6ECD858-1EC8-4DC5-A90B-43A97C6DBEC4}" type="slidenum">
              <a:rPr lang="en-IN" smtClean="0"/>
              <a:pPr/>
              <a:t>‹#›</a:t>
            </a:fld>
            <a:endParaRPr lang="en-IN"/>
          </a:p>
        </p:txBody>
      </p:sp>
    </p:spTree>
    <p:extLst>
      <p:ext uri="{BB962C8B-B14F-4D97-AF65-F5344CB8AC3E}">
        <p14:creationId xmlns:p14="http://schemas.microsoft.com/office/powerpoint/2010/main" xmlns="" val="634002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6FA4A1-2FFD-4C2A-A200-F0DE034CAF26}" type="datetimeFigureOut">
              <a:rPr lang="en-IN" smtClean="0"/>
              <a:pPr/>
              <a:t>09-01-2026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ECD858-1EC8-4DC5-A90B-43A97C6DBEC4}" type="slidenum">
              <a:rPr lang="en-IN" smtClean="0"/>
              <a:pPr/>
              <a:t>‹#›</a:t>
            </a:fld>
            <a:endParaRPr lang="en-IN"/>
          </a:p>
        </p:txBody>
      </p:sp>
    </p:spTree>
    <p:extLst>
      <p:ext uri="{BB962C8B-B14F-4D97-AF65-F5344CB8AC3E}">
        <p14:creationId xmlns:p14="http://schemas.microsoft.com/office/powerpoint/2010/main" xmlns="" val="1946789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6FA4A1-2FFD-4C2A-A200-F0DE034CAF26}" type="datetimeFigureOut">
              <a:rPr lang="en-IN" smtClean="0"/>
              <a:pPr/>
              <a:t>09-01-2026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ECD858-1EC8-4DC5-A90B-43A97C6DBEC4}" type="slidenum">
              <a:rPr lang="en-IN" smtClean="0"/>
              <a:pPr/>
              <a:t>‹#›</a:t>
            </a:fld>
            <a:endParaRPr lang="en-IN"/>
          </a:p>
        </p:txBody>
      </p:sp>
    </p:spTree>
    <p:extLst>
      <p:ext uri="{BB962C8B-B14F-4D97-AF65-F5344CB8AC3E}">
        <p14:creationId xmlns:p14="http://schemas.microsoft.com/office/powerpoint/2010/main" xmlns="" val="1335593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26FA4A1-2FFD-4C2A-A200-F0DE034CAF26}" type="datetimeFigureOut">
              <a:rPr lang="en-IN" smtClean="0"/>
              <a:pPr/>
              <a:t>09-01-2026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ECD858-1EC8-4DC5-A90B-43A97C6DBEC4}" type="slidenum">
              <a:rPr lang="en-IN" smtClean="0"/>
              <a:pPr/>
              <a:t>‹#›</a:t>
            </a:fld>
            <a:endParaRPr lang="en-IN"/>
          </a:p>
        </p:txBody>
      </p:sp>
    </p:spTree>
    <p:extLst>
      <p:ext uri="{BB962C8B-B14F-4D97-AF65-F5344CB8AC3E}">
        <p14:creationId xmlns:p14="http://schemas.microsoft.com/office/powerpoint/2010/main" xmlns="" val="3797713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26FA4A1-2FFD-4C2A-A200-F0DE034CAF26}" type="datetimeFigureOut">
              <a:rPr lang="en-IN" smtClean="0"/>
              <a:pPr/>
              <a:t>09-01-2026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ECD858-1EC8-4DC5-A90B-43A97C6DBEC4}" type="slidenum">
              <a:rPr lang="en-IN" smtClean="0"/>
              <a:pPr/>
              <a:t>‹#›</a:t>
            </a:fld>
            <a:endParaRPr lang="en-IN"/>
          </a:p>
        </p:txBody>
      </p:sp>
    </p:spTree>
    <p:extLst>
      <p:ext uri="{BB962C8B-B14F-4D97-AF65-F5344CB8AC3E}">
        <p14:creationId xmlns:p14="http://schemas.microsoft.com/office/powerpoint/2010/main" xmlns="" val="42481965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0" y="190500"/>
            <a:ext cx="9347200" cy="1527175"/>
          </a:xfrm>
        </p:spPr>
        <p:txBody>
          <a:bodyPr/>
          <a:lstStyle/>
          <a:p>
            <a:r>
              <a:rPr lang="en-US" smtClean="0"/>
              <a:t>Click to edit Master title style</a:t>
            </a:r>
            <a:endParaRPr lang="en-IN"/>
          </a:p>
        </p:txBody>
      </p:sp>
      <p:sp>
        <p:nvSpPr>
          <p:cNvPr id="3" name="Text Placeholder 2"/>
          <p:cNvSpPr>
            <a:spLocks noGrp="1"/>
          </p:cNvSpPr>
          <p:nvPr>
            <p:ph type="body" sz="half" idx="1"/>
          </p:nvPr>
        </p:nvSpPr>
        <p:spPr>
          <a:xfrm>
            <a:off x="2032000" y="1905000"/>
            <a:ext cx="4572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807200" y="1905000"/>
            <a:ext cx="4572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a:xfrm>
            <a:off x="8839200" y="6248400"/>
            <a:ext cx="2540000" cy="457200"/>
          </a:xfrm>
        </p:spPr>
        <p:txBody>
          <a:bodyPr/>
          <a:lstStyle>
            <a:lvl1pPr>
              <a:defRPr/>
            </a:lvl1pPr>
          </a:lstStyle>
          <a:p>
            <a:endParaRPr lang="en-US"/>
          </a:p>
        </p:txBody>
      </p:sp>
      <p:sp>
        <p:nvSpPr>
          <p:cNvPr id="6" name="Footer Placeholder 5"/>
          <p:cNvSpPr>
            <a:spLocks noGrp="1"/>
          </p:cNvSpPr>
          <p:nvPr>
            <p:ph type="ftr" sz="quarter" idx="11"/>
          </p:nvPr>
        </p:nvSpPr>
        <p:spPr>
          <a:xfrm>
            <a:off x="4368800" y="6248400"/>
            <a:ext cx="38608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2032000" y="6248400"/>
            <a:ext cx="1727200" cy="457200"/>
          </a:xfrm>
        </p:spPr>
        <p:txBody>
          <a:bodyPr/>
          <a:lstStyle>
            <a:lvl1pPr>
              <a:defRPr/>
            </a:lvl1pPr>
          </a:lstStyle>
          <a:p>
            <a:fld id="{08FAAC65-A560-462D-A951-4F0CB79733B2}" type="slidenum">
              <a:rPr lang="en-US"/>
              <a:pPr/>
              <a:t>‹#›</a:t>
            </a:fld>
            <a:endParaRPr lang="en-US"/>
          </a:p>
        </p:txBody>
      </p:sp>
    </p:spTree>
    <p:extLst>
      <p:ext uri="{BB962C8B-B14F-4D97-AF65-F5344CB8AC3E}">
        <p14:creationId xmlns:p14="http://schemas.microsoft.com/office/powerpoint/2010/main" xmlns="" val="2101520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6FA4A1-2FFD-4C2A-A200-F0DE034CAF26}" type="datetimeFigureOut">
              <a:rPr lang="en-IN" smtClean="0"/>
              <a:pPr/>
              <a:t>09-01-2026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ECD858-1EC8-4DC5-A90B-43A97C6DBEC4}" type="slidenum">
              <a:rPr lang="en-IN" smtClean="0"/>
              <a:pPr/>
              <a:t>‹#›</a:t>
            </a:fld>
            <a:endParaRPr lang="en-IN"/>
          </a:p>
        </p:txBody>
      </p:sp>
    </p:spTree>
    <p:extLst>
      <p:ext uri="{BB962C8B-B14F-4D97-AF65-F5344CB8AC3E}">
        <p14:creationId xmlns:p14="http://schemas.microsoft.com/office/powerpoint/2010/main" xmlns="" val="3587502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Module-4 </a:t>
            </a:r>
            <a:br>
              <a:rPr lang="en-IN" dirty="0"/>
            </a:br>
            <a:r>
              <a:rPr lang="en-IN" dirty="0"/>
              <a:t>Distribution and Promotion</a:t>
            </a:r>
          </a:p>
        </p:txBody>
      </p:sp>
      <p:sp>
        <p:nvSpPr>
          <p:cNvPr id="3" name="Subtitle 2"/>
          <p:cNvSpPr>
            <a:spLocks noGrp="1"/>
          </p:cNvSpPr>
          <p:nvPr>
            <p:ph type="subTitle" idx="1"/>
          </p:nvPr>
        </p:nvSpPr>
        <p:spPr/>
        <p:txBody>
          <a:bodyPr/>
          <a:lstStyle/>
          <a:p>
            <a:r>
              <a:rPr lang="en-US" dirty="0"/>
              <a:t>Presentation by </a:t>
            </a:r>
          </a:p>
          <a:p>
            <a:r>
              <a:rPr lang="en-US" dirty="0"/>
              <a:t>Dr. </a:t>
            </a:r>
            <a:r>
              <a:rPr lang="en-US" dirty="0" err="1"/>
              <a:t>Basavaraj</a:t>
            </a:r>
            <a:r>
              <a:rPr lang="en-US" dirty="0"/>
              <a:t> </a:t>
            </a:r>
            <a:r>
              <a:rPr lang="en-US" dirty="0" err="1"/>
              <a:t>S.Kudachimath</a:t>
            </a:r>
            <a:endParaRPr lang="en-IN" dirty="0"/>
          </a:p>
        </p:txBody>
      </p:sp>
    </p:spTree>
    <p:extLst>
      <p:ext uri="{BB962C8B-B14F-4D97-AF65-F5344CB8AC3E}">
        <p14:creationId xmlns:p14="http://schemas.microsoft.com/office/powerpoint/2010/main" xmlns="" val="35976789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Discussion Points</a:t>
            </a:r>
            <a:endParaRPr lang="en-IN" dirty="0"/>
          </a:p>
        </p:txBody>
      </p:sp>
      <p:sp>
        <p:nvSpPr>
          <p:cNvPr id="3" name="Content Placeholder 2"/>
          <p:cNvSpPr>
            <a:spLocks noGrp="1"/>
          </p:cNvSpPr>
          <p:nvPr>
            <p:ph idx="1"/>
          </p:nvPr>
        </p:nvSpPr>
        <p:spPr/>
        <p:txBody>
          <a:bodyPr>
            <a:normAutofit fontScale="70000" lnSpcReduction="20000"/>
          </a:bodyPr>
          <a:lstStyle/>
          <a:p>
            <a:r>
              <a:rPr lang="en-IN" dirty="0"/>
              <a:t> Roles and purpose of Marketing Channels,</a:t>
            </a:r>
          </a:p>
          <a:p>
            <a:r>
              <a:rPr lang="en-IN" dirty="0"/>
              <a:t> Factors Affecting Channel Choice</a:t>
            </a:r>
          </a:p>
          <a:p>
            <a:r>
              <a:rPr lang="en-IN" dirty="0"/>
              <a:t>Channel Design, </a:t>
            </a:r>
          </a:p>
          <a:p>
            <a:r>
              <a:rPr lang="en-IN" dirty="0"/>
              <a:t>Channel Management Decision, </a:t>
            </a:r>
          </a:p>
          <a:p>
            <a:r>
              <a:rPr lang="en-IN" dirty="0"/>
              <a:t>Channel Conflict, </a:t>
            </a:r>
          </a:p>
          <a:p>
            <a:r>
              <a:rPr lang="en-IN" dirty="0"/>
              <a:t>Designing a physical Distribution System.</a:t>
            </a:r>
          </a:p>
          <a:p>
            <a:r>
              <a:rPr lang="en-IN" dirty="0"/>
              <a:t> Promotions- Marketing communications- Integrated Marketing Communications</a:t>
            </a:r>
          </a:p>
          <a:p>
            <a:r>
              <a:rPr lang="en-IN" dirty="0"/>
              <a:t>(IMC)-communication objectives, </a:t>
            </a:r>
          </a:p>
          <a:p>
            <a:r>
              <a:rPr lang="en-IN" dirty="0"/>
              <a:t>Steps in developing effective communication. </a:t>
            </a:r>
          </a:p>
          <a:p>
            <a:r>
              <a:rPr lang="en-IN" dirty="0"/>
              <a:t>Advertising:</a:t>
            </a:r>
          </a:p>
          <a:p>
            <a:r>
              <a:rPr lang="en-IN" dirty="0"/>
              <a:t>Advertising Objectives, Advertising Budget, Advertising Copy, AIDA model, </a:t>
            </a:r>
            <a:endParaRPr lang="en-IN" dirty="0" smtClean="0"/>
          </a:p>
          <a:p>
            <a:r>
              <a:rPr lang="en-IN" dirty="0" smtClean="0"/>
              <a:t>Traditional </a:t>
            </a:r>
            <a:r>
              <a:rPr lang="en-IN" dirty="0" err="1"/>
              <a:t>Vs</a:t>
            </a:r>
            <a:r>
              <a:rPr lang="en-IN" dirty="0"/>
              <a:t> </a:t>
            </a:r>
            <a:r>
              <a:rPr lang="en-IN" dirty="0" smtClean="0"/>
              <a:t>Modern Media- </a:t>
            </a:r>
            <a:r>
              <a:rPr lang="en-IN" dirty="0"/>
              <a:t>Online and Mobile Advertising, social media for Advertising. Push-pull strategies </a:t>
            </a:r>
            <a:r>
              <a:rPr lang="en-IN" dirty="0" smtClean="0"/>
              <a:t>of  </a:t>
            </a:r>
            <a:r>
              <a:rPr lang="en-IN" dirty="0"/>
              <a:t>promotion.</a:t>
            </a:r>
          </a:p>
          <a:p>
            <a:pPr marL="0" indent="0">
              <a:buNone/>
            </a:pPr>
            <a:endParaRPr lang="en-IN" dirty="0"/>
          </a:p>
        </p:txBody>
      </p:sp>
    </p:spTree>
    <p:extLst>
      <p:ext uri="{BB962C8B-B14F-4D97-AF65-F5344CB8AC3E}">
        <p14:creationId xmlns:p14="http://schemas.microsoft.com/office/powerpoint/2010/main" xmlns="" val="4113921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38163"/>
          </a:xfrm>
        </p:spPr>
        <p:txBody>
          <a:bodyPr rtlCol="0">
            <a:normAutofit fontScale="90000"/>
          </a:bodyPr>
          <a:lstStyle/>
          <a:p>
            <a:pPr eaLnBrk="1" fontAlgn="auto" hangingPunct="1">
              <a:spcAft>
                <a:spcPts val="0"/>
              </a:spcAft>
              <a:defRPr/>
            </a:pPr>
            <a:r>
              <a:rPr lang="en-US" b="1" dirty="0"/>
              <a:t>Marketing Channels</a:t>
            </a:r>
          </a:p>
        </p:txBody>
      </p:sp>
      <p:sp>
        <p:nvSpPr>
          <p:cNvPr id="16387" name="Content Placeholder 2"/>
          <p:cNvSpPr>
            <a:spLocks noGrp="1"/>
          </p:cNvSpPr>
          <p:nvPr>
            <p:ph idx="1"/>
          </p:nvPr>
        </p:nvSpPr>
        <p:spPr>
          <a:xfrm>
            <a:off x="838200" y="1139825"/>
            <a:ext cx="10515600" cy="5037138"/>
          </a:xfrm>
        </p:spPr>
        <p:txBody>
          <a:bodyPr/>
          <a:lstStyle/>
          <a:p>
            <a:pPr algn="just" eaLnBrk="1" hangingPunct="1">
              <a:buFont typeface="Arial" panose="020B0604020202020204" pitchFamily="34" charset="0"/>
              <a:buNone/>
            </a:pPr>
            <a:r>
              <a:rPr lang="en-US" dirty="0"/>
              <a:t>	</a:t>
            </a:r>
            <a:r>
              <a:rPr lang="en-US" b="1" dirty="0"/>
              <a:t>Meaning of Marketing or Distribution Channel:</a:t>
            </a:r>
          </a:p>
          <a:p>
            <a:pPr algn="just" eaLnBrk="1" hangingPunct="1">
              <a:buFont typeface="Arial" panose="020B0604020202020204" pitchFamily="34" charset="0"/>
              <a:buNone/>
            </a:pPr>
            <a:r>
              <a:rPr lang="en-US" dirty="0"/>
              <a:t>	A </a:t>
            </a:r>
            <a:r>
              <a:rPr lang="en-US" b="1" dirty="0"/>
              <a:t>distribution channel</a:t>
            </a:r>
            <a:r>
              <a:rPr lang="en-US" dirty="0"/>
              <a:t> is a chain of businesses or intermediaries through which  goods or services passes until it reaches the end consumer. It can include wholesalers, retailers, distributors and even the internet itself.</a:t>
            </a:r>
          </a:p>
        </p:txBody>
      </p:sp>
    </p:spTree>
    <p:extLst>
      <p:ext uri="{BB962C8B-B14F-4D97-AF65-F5344CB8AC3E}">
        <p14:creationId xmlns:p14="http://schemas.microsoft.com/office/powerpoint/2010/main" xmlns="" val="526069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838200" y="365125"/>
            <a:ext cx="10515600" cy="752475"/>
          </a:xfrm>
        </p:spPr>
        <p:txBody>
          <a:bodyPr/>
          <a:lstStyle/>
          <a:p>
            <a:pPr eaLnBrk="1" hangingPunct="1"/>
            <a:r>
              <a:rPr lang="en-US" b="1"/>
              <a:t>Purpose of Distribution Channel</a:t>
            </a:r>
          </a:p>
        </p:txBody>
      </p:sp>
      <p:sp>
        <p:nvSpPr>
          <p:cNvPr id="17411" name="Content Placeholder 2"/>
          <p:cNvSpPr>
            <a:spLocks noGrp="1"/>
          </p:cNvSpPr>
          <p:nvPr>
            <p:ph idx="1"/>
          </p:nvPr>
        </p:nvSpPr>
        <p:spPr>
          <a:xfrm>
            <a:off x="838200" y="1162050"/>
            <a:ext cx="10515600" cy="5014913"/>
          </a:xfrm>
        </p:spPr>
        <p:txBody>
          <a:bodyPr/>
          <a:lstStyle/>
          <a:p>
            <a:pPr marL="514350" indent="-514350" eaLnBrk="1" hangingPunct="1">
              <a:buFont typeface="Arial" panose="020B0604020202020204" pitchFamily="34" charset="0"/>
              <a:buAutoNum type="arabicPeriod"/>
            </a:pPr>
            <a:r>
              <a:rPr lang="en-US"/>
              <a:t>Flow of goods and services.</a:t>
            </a:r>
          </a:p>
          <a:p>
            <a:pPr marL="514350" indent="-514350" eaLnBrk="1" hangingPunct="1">
              <a:buFont typeface="Arial" panose="020B0604020202020204" pitchFamily="34" charset="0"/>
              <a:buAutoNum type="arabicPeriod"/>
            </a:pPr>
            <a:r>
              <a:rPr lang="en-US"/>
              <a:t>Prospecting sale.</a:t>
            </a:r>
          </a:p>
          <a:p>
            <a:pPr marL="514350" indent="-514350" eaLnBrk="1" hangingPunct="1">
              <a:buFont typeface="Arial" panose="020B0604020202020204" pitchFamily="34" charset="0"/>
              <a:buAutoNum type="arabicPeriod"/>
            </a:pPr>
            <a:r>
              <a:rPr lang="en-US"/>
              <a:t>Provide supportive services.</a:t>
            </a:r>
          </a:p>
          <a:p>
            <a:pPr marL="514350" indent="-514350" eaLnBrk="1" hangingPunct="1">
              <a:buFont typeface="Arial" panose="020B0604020202020204" pitchFamily="34" charset="0"/>
              <a:buAutoNum type="arabicPeriod"/>
            </a:pPr>
            <a:r>
              <a:rPr lang="en-US"/>
              <a:t>Cost minimization involved in transport and product handling.</a:t>
            </a:r>
          </a:p>
          <a:p>
            <a:pPr marL="514350" indent="-514350" eaLnBrk="1" hangingPunct="1">
              <a:buFont typeface="Arial" panose="020B0604020202020204" pitchFamily="34" charset="0"/>
              <a:buAutoNum type="arabicPeriod"/>
            </a:pPr>
            <a:r>
              <a:rPr lang="en-US"/>
              <a:t>Flow of information.</a:t>
            </a:r>
          </a:p>
        </p:txBody>
      </p:sp>
    </p:spTree>
    <p:extLst>
      <p:ext uri="{BB962C8B-B14F-4D97-AF65-F5344CB8AC3E}">
        <p14:creationId xmlns:p14="http://schemas.microsoft.com/office/powerpoint/2010/main" xmlns="" val="1546462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3725"/>
          </a:xfrm>
        </p:spPr>
        <p:txBody>
          <a:bodyPr rtlCol="0">
            <a:normAutofit fontScale="90000"/>
          </a:bodyPr>
          <a:lstStyle/>
          <a:p>
            <a:pPr eaLnBrk="1" fontAlgn="auto" hangingPunct="1">
              <a:spcAft>
                <a:spcPts val="0"/>
              </a:spcAft>
              <a:defRPr/>
            </a:pPr>
            <a:r>
              <a:rPr lang="en-US" b="1" dirty="0"/>
              <a:t>Functions of Distribution Channels</a:t>
            </a:r>
          </a:p>
        </p:txBody>
      </p:sp>
      <p:sp>
        <p:nvSpPr>
          <p:cNvPr id="18435" name="Content Placeholder 2"/>
          <p:cNvSpPr>
            <a:spLocks noGrp="1"/>
          </p:cNvSpPr>
          <p:nvPr>
            <p:ph idx="1"/>
          </p:nvPr>
        </p:nvSpPr>
        <p:spPr>
          <a:xfrm>
            <a:off x="838200" y="914400"/>
            <a:ext cx="10515600" cy="5262563"/>
          </a:xfrm>
        </p:spPr>
        <p:txBody>
          <a:bodyPr/>
          <a:lstStyle/>
          <a:p>
            <a:pPr marL="514350" indent="-514350" eaLnBrk="1" hangingPunct="1">
              <a:buFont typeface="Arial" panose="020B0604020202020204" pitchFamily="34" charset="0"/>
              <a:buAutoNum type="arabicPeriod"/>
            </a:pPr>
            <a:r>
              <a:rPr lang="en-US"/>
              <a:t>Provide market information.</a:t>
            </a:r>
          </a:p>
          <a:p>
            <a:pPr marL="514350" indent="-514350" eaLnBrk="1" hangingPunct="1">
              <a:buFont typeface="Arial" panose="020B0604020202020204" pitchFamily="34" charset="0"/>
              <a:buAutoNum type="arabicPeriod"/>
            </a:pPr>
            <a:r>
              <a:rPr lang="en-US"/>
              <a:t>Promotion.</a:t>
            </a:r>
          </a:p>
          <a:p>
            <a:pPr marL="514350" indent="-514350" eaLnBrk="1" hangingPunct="1">
              <a:buFont typeface="Arial" panose="020B0604020202020204" pitchFamily="34" charset="0"/>
              <a:buAutoNum type="arabicPeriod"/>
            </a:pPr>
            <a:r>
              <a:rPr lang="en-US"/>
              <a:t>Develop customer contacts </a:t>
            </a:r>
          </a:p>
          <a:p>
            <a:pPr marL="514350" indent="-514350" eaLnBrk="1" hangingPunct="1">
              <a:buFont typeface="Arial" panose="020B0604020202020204" pitchFamily="34" charset="0"/>
              <a:buAutoNum type="arabicPeriod"/>
            </a:pPr>
            <a:r>
              <a:rPr lang="en-US"/>
              <a:t>Breaking the bulk.</a:t>
            </a:r>
          </a:p>
          <a:p>
            <a:pPr marL="514350" indent="-514350" eaLnBrk="1" hangingPunct="1">
              <a:buFont typeface="Arial" panose="020B0604020202020204" pitchFamily="34" charset="0"/>
              <a:buAutoNum type="arabicPeriod"/>
            </a:pPr>
            <a:r>
              <a:rPr lang="en-US"/>
              <a:t>Financing function.</a:t>
            </a:r>
          </a:p>
          <a:p>
            <a:pPr marL="514350" indent="-514350" eaLnBrk="1" hangingPunct="1">
              <a:buFont typeface="Arial" panose="020B0604020202020204" pitchFamily="34" charset="0"/>
              <a:buAutoNum type="arabicPeriod"/>
            </a:pPr>
            <a:r>
              <a:rPr lang="en-US"/>
              <a:t>Selling Function.</a:t>
            </a:r>
          </a:p>
          <a:p>
            <a:pPr marL="514350" indent="-514350" eaLnBrk="1" hangingPunct="1">
              <a:buFont typeface="Arial" panose="020B0604020202020204" pitchFamily="34" charset="0"/>
              <a:buAutoNum type="arabicPeriod"/>
            </a:pPr>
            <a:r>
              <a:rPr lang="en-US"/>
              <a:t>Risk taking.</a:t>
            </a:r>
          </a:p>
          <a:p>
            <a:pPr marL="514350" indent="-514350" eaLnBrk="1" hangingPunct="1">
              <a:buFont typeface="Arial" panose="020B0604020202020204" pitchFamily="34" charset="0"/>
              <a:buAutoNum type="arabicPeriod"/>
            </a:pPr>
            <a:r>
              <a:rPr lang="en-US"/>
              <a:t>Creation of Time and place Utility.</a:t>
            </a:r>
          </a:p>
          <a:p>
            <a:pPr marL="514350" indent="-514350" eaLnBrk="1" hangingPunct="1">
              <a:buFont typeface="Arial" panose="020B0604020202020204" pitchFamily="34" charset="0"/>
              <a:buAutoNum type="arabicPeriod"/>
            </a:pPr>
            <a:r>
              <a:rPr lang="en-US"/>
              <a:t>Supply in Assortments.</a:t>
            </a:r>
          </a:p>
          <a:p>
            <a:pPr marL="514350" indent="-514350" eaLnBrk="1" hangingPunct="1">
              <a:buFont typeface="Arial" panose="020B0604020202020204" pitchFamily="34" charset="0"/>
              <a:buAutoNum type="arabicPeriod"/>
            </a:pPr>
            <a:r>
              <a:rPr lang="en-US"/>
              <a:t>Transfer of Title. </a:t>
            </a:r>
          </a:p>
        </p:txBody>
      </p:sp>
    </p:spTree>
    <p:extLst>
      <p:ext uri="{BB962C8B-B14F-4D97-AF65-F5344CB8AC3E}">
        <p14:creationId xmlns:p14="http://schemas.microsoft.com/office/powerpoint/2010/main" xmlns="" val="4154259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2088"/>
            <a:ext cx="10515600" cy="530225"/>
          </a:xfrm>
        </p:spPr>
        <p:txBody>
          <a:bodyPr rtlCol="0">
            <a:normAutofit fontScale="90000"/>
          </a:bodyPr>
          <a:lstStyle/>
          <a:p>
            <a:pPr eaLnBrk="1" fontAlgn="auto" hangingPunct="1">
              <a:spcAft>
                <a:spcPts val="0"/>
              </a:spcAft>
              <a:defRPr/>
            </a:pPr>
            <a:r>
              <a:rPr lang="en-US" b="1" dirty="0"/>
              <a:t>Types of Marketing Channels</a:t>
            </a:r>
          </a:p>
        </p:txBody>
      </p:sp>
      <p:pic>
        <p:nvPicPr>
          <p:cNvPr id="19459" name="Picture 2" descr="Image result for types of distribution channel"/>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025525" y="688975"/>
            <a:ext cx="10488613" cy="2708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9460" name="Picture 4" descr="Image result for types of distribution channel for Industrial goods"/>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025525" y="3867150"/>
            <a:ext cx="10375900" cy="2809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Rounded Rectangle 5"/>
          <p:cNvSpPr/>
          <p:nvPr/>
        </p:nvSpPr>
        <p:spPr>
          <a:xfrm>
            <a:off x="7043738" y="496888"/>
            <a:ext cx="2789237" cy="3159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Consumer Channels</a:t>
            </a:r>
          </a:p>
        </p:txBody>
      </p:sp>
      <p:sp>
        <p:nvSpPr>
          <p:cNvPr id="7" name="Rounded Rectangle 6"/>
          <p:cNvSpPr/>
          <p:nvPr/>
        </p:nvSpPr>
        <p:spPr>
          <a:xfrm>
            <a:off x="6484938" y="3675063"/>
            <a:ext cx="2789237" cy="3159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Industrial Channels</a:t>
            </a:r>
          </a:p>
        </p:txBody>
      </p:sp>
    </p:spTree>
    <p:extLst>
      <p:ext uri="{BB962C8B-B14F-4D97-AF65-F5344CB8AC3E}">
        <p14:creationId xmlns:p14="http://schemas.microsoft.com/office/powerpoint/2010/main" xmlns="" val="1044835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38163"/>
          </a:xfrm>
        </p:spPr>
        <p:txBody>
          <a:bodyPr rtlCol="0">
            <a:normAutofit fontScale="90000"/>
          </a:bodyPr>
          <a:lstStyle/>
          <a:p>
            <a:pPr eaLnBrk="1" fontAlgn="auto" hangingPunct="1">
              <a:spcAft>
                <a:spcPts val="0"/>
              </a:spcAft>
              <a:defRPr/>
            </a:pPr>
            <a:r>
              <a:rPr lang="en-US" dirty="0"/>
              <a:t>Multiple Distribution Channels</a:t>
            </a:r>
          </a:p>
        </p:txBody>
      </p:sp>
      <p:sp>
        <p:nvSpPr>
          <p:cNvPr id="20483" name="Content Placeholder 2"/>
          <p:cNvSpPr>
            <a:spLocks noGrp="1"/>
          </p:cNvSpPr>
          <p:nvPr>
            <p:ph idx="1"/>
          </p:nvPr>
        </p:nvSpPr>
        <p:spPr>
          <a:xfrm>
            <a:off x="838200" y="881063"/>
            <a:ext cx="10515600" cy="5295900"/>
          </a:xfrm>
        </p:spPr>
        <p:txBody>
          <a:bodyPr/>
          <a:lstStyle/>
          <a:p>
            <a:pPr eaLnBrk="1" hangingPunct="1">
              <a:buFont typeface="Arial" panose="020B0604020202020204" pitchFamily="34" charset="0"/>
              <a:buNone/>
            </a:pPr>
            <a:r>
              <a:rPr lang="en-US" dirty="0"/>
              <a:t>	Multi-channel distribution involves a business using more than one type of distribution </a:t>
            </a:r>
            <a:r>
              <a:rPr lang="en-US"/>
              <a:t>channel reaching </a:t>
            </a:r>
            <a:r>
              <a:rPr lang="en-US" dirty="0"/>
              <a:t>the same target customers.</a:t>
            </a:r>
          </a:p>
          <a:p>
            <a:pPr eaLnBrk="1" hangingPunct="1">
              <a:buFont typeface="Arial" panose="020B0604020202020204" pitchFamily="34" charset="0"/>
              <a:buNone/>
            </a:pPr>
            <a:r>
              <a:rPr lang="en-US" dirty="0"/>
              <a:t>Apple Products Distribution Channel</a:t>
            </a:r>
          </a:p>
          <a:p>
            <a:pPr eaLnBrk="1" hangingPunct="1">
              <a:buFont typeface="Arial" panose="020B0604020202020204" pitchFamily="34" charset="0"/>
              <a:buNone/>
            </a:pPr>
            <a:endParaRPr lang="en-US" dirty="0"/>
          </a:p>
          <a:p>
            <a:pPr eaLnBrk="1" hangingPunct="1">
              <a:buFont typeface="Arial" panose="020B0604020202020204" pitchFamily="34" charset="0"/>
              <a:buNone/>
            </a:pPr>
            <a:endParaRPr lang="en-US" dirty="0"/>
          </a:p>
          <a:p>
            <a:pPr eaLnBrk="1" hangingPunct="1">
              <a:buFont typeface="Arial" panose="020B0604020202020204" pitchFamily="34" charset="0"/>
              <a:buNone/>
            </a:pPr>
            <a:endParaRPr lang="en-US" dirty="0"/>
          </a:p>
        </p:txBody>
      </p:sp>
      <p:pic>
        <p:nvPicPr>
          <p:cNvPr id="6" name="Picture 5">
            <a:extLst>
              <a:ext uri="{FF2B5EF4-FFF2-40B4-BE49-F238E27FC236}">
                <a16:creationId xmlns:a16="http://schemas.microsoft.com/office/drawing/2014/main" xmlns="" id="{DB82A94B-C55E-43BD-EEC5-DFCF6DA7ED6E}"/>
              </a:ext>
            </a:extLst>
          </p:cNvPr>
          <p:cNvPicPr>
            <a:picLocks noChangeAspect="1"/>
          </p:cNvPicPr>
          <p:nvPr/>
        </p:nvPicPr>
        <p:blipFill>
          <a:blip r:embed="rId2"/>
          <a:stretch>
            <a:fillRect/>
          </a:stretch>
        </p:blipFill>
        <p:spPr>
          <a:xfrm>
            <a:off x="711199" y="2392218"/>
            <a:ext cx="11037455" cy="4300683"/>
          </a:xfrm>
          <a:prstGeom prst="rect">
            <a:avLst/>
          </a:prstGeom>
        </p:spPr>
      </p:pic>
    </p:spTree>
    <p:extLst>
      <p:ext uri="{BB962C8B-B14F-4D97-AF65-F5344CB8AC3E}">
        <p14:creationId xmlns:p14="http://schemas.microsoft.com/office/powerpoint/2010/main" xmlns="" val="2729382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538163"/>
          </a:xfrm>
        </p:spPr>
        <p:txBody>
          <a:bodyPr rtlCol="0">
            <a:normAutofit fontScale="90000"/>
          </a:bodyPr>
          <a:lstStyle/>
          <a:p>
            <a:pPr eaLnBrk="1" fontAlgn="auto" hangingPunct="1">
              <a:spcAft>
                <a:spcPts val="0"/>
              </a:spcAft>
              <a:defRPr/>
            </a:pPr>
            <a:r>
              <a:rPr lang="en-US" b="1" dirty="0"/>
              <a:t>Factors Affecting Channel Choice:</a:t>
            </a:r>
            <a:endParaRPr lang="en-US" dirty="0"/>
          </a:p>
        </p:txBody>
      </p:sp>
      <p:sp>
        <p:nvSpPr>
          <p:cNvPr id="5" name="Content Placeholder 4"/>
          <p:cNvSpPr>
            <a:spLocks noGrp="1"/>
          </p:cNvSpPr>
          <p:nvPr>
            <p:ph sz="half" idx="1"/>
          </p:nvPr>
        </p:nvSpPr>
        <p:spPr>
          <a:xfrm>
            <a:off x="727363" y="1040102"/>
            <a:ext cx="5181600" cy="5748625"/>
          </a:xfrm>
        </p:spPr>
        <p:txBody>
          <a:bodyPr rtlCol="0">
            <a:normAutofit fontScale="55000" lnSpcReduction="20000"/>
          </a:bodyPr>
          <a:lstStyle/>
          <a:p>
            <a:pPr marL="514350" indent="-514350" eaLnBrk="1" fontAlgn="auto" hangingPunct="1">
              <a:spcAft>
                <a:spcPts val="0"/>
              </a:spcAft>
              <a:buFont typeface="Arial" panose="020B0604020202020204" pitchFamily="34" charset="0"/>
              <a:buAutoNum type="alphaUcPeriod"/>
              <a:defRPr/>
            </a:pPr>
            <a:r>
              <a:rPr lang="en-US" sz="3600" dirty="0"/>
              <a:t>Product </a:t>
            </a:r>
            <a:r>
              <a:rPr lang="en-US" sz="3600" dirty="0" smtClean="0"/>
              <a:t>characteristics.</a:t>
            </a:r>
            <a:endParaRPr lang="en-US" sz="3600" dirty="0"/>
          </a:p>
          <a:p>
            <a:pPr marL="514350" indent="-514350" eaLnBrk="1" fontAlgn="auto" hangingPunct="1">
              <a:spcAft>
                <a:spcPts val="0"/>
              </a:spcAft>
              <a:buFont typeface="Arial" panose="020B0604020202020204" pitchFamily="34" charset="0"/>
              <a:buAutoNum type="arabicPeriod"/>
              <a:defRPr/>
            </a:pPr>
            <a:r>
              <a:rPr lang="en-US" sz="3600" dirty="0"/>
              <a:t>Industrial/ Consumer products.</a:t>
            </a:r>
          </a:p>
          <a:p>
            <a:pPr marL="514350" indent="-514350" eaLnBrk="1" fontAlgn="auto" hangingPunct="1">
              <a:spcAft>
                <a:spcPts val="0"/>
              </a:spcAft>
              <a:buFont typeface="Arial" panose="020B0604020202020204" pitchFamily="34" charset="0"/>
              <a:buAutoNum type="arabicPeriod"/>
              <a:defRPr/>
            </a:pPr>
            <a:r>
              <a:rPr lang="en-US" sz="3600" dirty="0" err="1"/>
              <a:t>Perishability</a:t>
            </a:r>
            <a:r>
              <a:rPr lang="en-US" sz="3600" dirty="0"/>
              <a:t>.</a:t>
            </a:r>
          </a:p>
          <a:p>
            <a:pPr marL="514350" indent="-514350" eaLnBrk="1" fontAlgn="auto" hangingPunct="1">
              <a:spcAft>
                <a:spcPts val="0"/>
              </a:spcAft>
              <a:buFont typeface="Arial" panose="020B0604020202020204" pitchFamily="34" charset="0"/>
              <a:buAutoNum type="arabicPeriod"/>
              <a:defRPr/>
            </a:pPr>
            <a:r>
              <a:rPr lang="en-US" sz="3600" dirty="0"/>
              <a:t>Unit Value.</a:t>
            </a:r>
          </a:p>
          <a:p>
            <a:pPr marL="514350" indent="-514350" eaLnBrk="1" fontAlgn="auto" hangingPunct="1">
              <a:spcAft>
                <a:spcPts val="0"/>
              </a:spcAft>
              <a:buFont typeface="Arial" panose="020B0604020202020204" pitchFamily="34" charset="0"/>
              <a:buAutoNum type="arabicPeriod"/>
              <a:defRPr/>
            </a:pPr>
            <a:r>
              <a:rPr lang="en-US" sz="3600" dirty="0"/>
              <a:t>Purchase frequency.</a:t>
            </a:r>
          </a:p>
          <a:p>
            <a:pPr marL="514350" indent="-514350" eaLnBrk="1" fontAlgn="auto" hangingPunct="1">
              <a:spcAft>
                <a:spcPts val="0"/>
              </a:spcAft>
              <a:buFont typeface="Arial" panose="020B0604020202020204" pitchFamily="34" charset="0"/>
              <a:buAutoNum type="arabicPeriod"/>
              <a:defRPr/>
            </a:pPr>
            <a:r>
              <a:rPr lang="en-US" sz="3600" dirty="0"/>
              <a:t>Product breadth ( Larger breadth lesser the channel length).</a:t>
            </a:r>
          </a:p>
          <a:p>
            <a:pPr marL="514350" indent="-514350" eaLnBrk="1" fontAlgn="auto" hangingPunct="1">
              <a:spcAft>
                <a:spcPts val="0"/>
              </a:spcAft>
              <a:buFont typeface="Arial" panose="020B0604020202020204" pitchFamily="34" charset="0"/>
              <a:buNone/>
              <a:defRPr/>
            </a:pPr>
            <a:r>
              <a:rPr lang="en-US" sz="3600" dirty="0"/>
              <a:t>B.	 Company Characteristics.</a:t>
            </a:r>
          </a:p>
          <a:p>
            <a:pPr marL="514350" indent="-514350" eaLnBrk="1" fontAlgn="auto" hangingPunct="1">
              <a:spcAft>
                <a:spcPts val="0"/>
              </a:spcAft>
              <a:buFont typeface="Arial" panose="020B0604020202020204" pitchFamily="34" charset="0"/>
              <a:buAutoNum type="arabicPeriod"/>
              <a:defRPr/>
            </a:pPr>
            <a:r>
              <a:rPr lang="en-US" sz="3600" dirty="0"/>
              <a:t>Financial strength.</a:t>
            </a:r>
          </a:p>
          <a:p>
            <a:pPr marL="514350" indent="-514350" eaLnBrk="1" fontAlgn="auto" hangingPunct="1">
              <a:spcAft>
                <a:spcPts val="0"/>
              </a:spcAft>
              <a:buFont typeface="Arial" panose="020B0604020202020204" pitchFamily="34" charset="0"/>
              <a:buAutoNum type="arabicPeriod"/>
              <a:defRPr/>
            </a:pPr>
            <a:r>
              <a:rPr lang="en-US" sz="3600" dirty="0"/>
              <a:t>Marketing policies.</a:t>
            </a:r>
          </a:p>
          <a:p>
            <a:pPr marL="514350" indent="-514350" eaLnBrk="1" fontAlgn="auto" hangingPunct="1">
              <a:spcAft>
                <a:spcPts val="0"/>
              </a:spcAft>
              <a:buFont typeface="Arial" panose="020B0604020202020204" pitchFamily="34" charset="0"/>
              <a:buAutoNum type="arabicPeriod"/>
              <a:defRPr/>
            </a:pPr>
            <a:r>
              <a:rPr lang="en-US" sz="3600" dirty="0"/>
              <a:t>Size of the company.</a:t>
            </a:r>
          </a:p>
          <a:p>
            <a:pPr marL="514350" indent="-514350" eaLnBrk="1" fontAlgn="auto" hangingPunct="1">
              <a:spcAft>
                <a:spcPts val="0"/>
              </a:spcAft>
              <a:buFont typeface="Arial" panose="020B0604020202020204" pitchFamily="34" charset="0"/>
              <a:buAutoNum type="arabicPeriod"/>
              <a:defRPr/>
            </a:pPr>
            <a:r>
              <a:rPr lang="en-US" sz="3600" dirty="0"/>
              <a:t>Product mix.</a:t>
            </a:r>
          </a:p>
          <a:p>
            <a:pPr marL="514350" indent="-514350" eaLnBrk="1" fontAlgn="auto" hangingPunct="1">
              <a:spcAft>
                <a:spcPts val="0"/>
              </a:spcAft>
              <a:buFont typeface="Arial" panose="020B0604020202020204" pitchFamily="34" charset="0"/>
              <a:buNone/>
              <a:defRPr/>
            </a:pPr>
            <a:r>
              <a:rPr lang="en-US" sz="3600" dirty="0"/>
              <a:t>C. Consumer characteristics.</a:t>
            </a:r>
          </a:p>
          <a:p>
            <a:pPr marL="514350" indent="-514350" eaLnBrk="1" fontAlgn="auto" hangingPunct="1">
              <a:spcAft>
                <a:spcPts val="0"/>
              </a:spcAft>
              <a:buFont typeface="Arial" panose="020B0604020202020204" pitchFamily="34" charset="0"/>
              <a:buAutoNum type="arabicPeriod"/>
              <a:defRPr/>
            </a:pPr>
            <a:r>
              <a:rPr lang="en-US" sz="3600" dirty="0"/>
              <a:t>Consumer buying habits.</a:t>
            </a:r>
          </a:p>
          <a:p>
            <a:pPr marL="514350" indent="-514350" eaLnBrk="1" fontAlgn="auto" hangingPunct="1">
              <a:spcAft>
                <a:spcPts val="0"/>
              </a:spcAft>
              <a:buFont typeface="Arial" panose="020B0604020202020204" pitchFamily="34" charset="0"/>
              <a:buAutoNum type="arabicPeriod"/>
              <a:defRPr/>
            </a:pPr>
            <a:r>
              <a:rPr lang="en-US" sz="3600" dirty="0"/>
              <a:t> Market location.</a:t>
            </a:r>
          </a:p>
          <a:p>
            <a:pPr marL="514350" indent="-514350" eaLnBrk="1" fontAlgn="auto" hangingPunct="1">
              <a:spcAft>
                <a:spcPts val="0"/>
              </a:spcAft>
              <a:buFont typeface="Arial" panose="020B0604020202020204" pitchFamily="34" charset="0"/>
              <a:buAutoNum type="arabicPeriod"/>
              <a:defRPr/>
            </a:pPr>
            <a:r>
              <a:rPr lang="en-US" sz="3600" dirty="0"/>
              <a:t>Number of consumers.</a:t>
            </a:r>
          </a:p>
          <a:p>
            <a:pPr marL="514350" indent="-514350" eaLnBrk="1" fontAlgn="auto" hangingPunct="1">
              <a:spcAft>
                <a:spcPts val="0"/>
              </a:spcAft>
              <a:buFont typeface="Arial" panose="020B0604020202020204" pitchFamily="34" charset="0"/>
              <a:buAutoNum type="arabicPeriod"/>
              <a:defRPr/>
            </a:pPr>
            <a:r>
              <a:rPr lang="en-US" sz="3600" dirty="0"/>
              <a:t>Size of orders.</a:t>
            </a:r>
          </a:p>
          <a:p>
            <a:pPr eaLnBrk="1" fontAlgn="auto" hangingPunct="1">
              <a:spcAft>
                <a:spcPts val="0"/>
              </a:spcAft>
              <a:buFont typeface="Arial" panose="020B0604020202020204" pitchFamily="34" charset="0"/>
              <a:buNone/>
              <a:defRPr/>
            </a:pPr>
            <a:endParaRPr lang="en-US" dirty="0"/>
          </a:p>
        </p:txBody>
      </p:sp>
      <p:sp>
        <p:nvSpPr>
          <p:cNvPr id="6" name="Content Placeholder 5"/>
          <p:cNvSpPr>
            <a:spLocks noGrp="1"/>
          </p:cNvSpPr>
          <p:nvPr>
            <p:ph sz="half" idx="2"/>
          </p:nvPr>
        </p:nvSpPr>
        <p:spPr>
          <a:xfrm>
            <a:off x="6172200" y="881063"/>
            <a:ext cx="5181600" cy="5214937"/>
          </a:xfrm>
        </p:spPr>
        <p:txBody>
          <a:bodyPr rtlCol="0">
            <a:normAutofit fontScale="55000" lnSpcReduction="20000"/>
          </a:bodyPr>
          <a:lstStyle/>
          <a:p>
            <a:pPr eaLnBrk="1" fontAlgn="auto" hangingPunct="1">
              <a:spcAft>
                <a:spcPts val="0"/>
              </a:spcAft>
              <a:buFont typeface="Arial" charset="0"/>
              <a:buNone/>
              <a:defRPr/>
            </a:pPr>
            <a:r>
              <a:rPr lang="en-US" sz="4400" dirty="0" err="1"/>
              <a:t>D.Middlemen</a:t>
            </a:r>
            <a:r>
              <a:rPr lang="en-US" sz="4400" dirty="0"/>
              <a:t> Considerations</a:t>
            </a:r>
          </a:p>
          <a:p>
            <a:pPr marL="514350" indent="-514350" eaLnBrk="1" fontAlgn="auto" hangingPunct="1">
              <a:spcAft>
                <a:spcPts val="0"/>
              </a:spcAft>
              <a:buFont typeface="Arial" charset="0"/>
              <a:buAutoNum type="arabicPeriod"/>
              <a:defRPr/>
            </a:pPr>
            <a:r>
              <a:rPr lang="en-US" sz="4400" dirty="0"/>
              <a:t>Sales volume potential</a:t>
            </a:r>
          </a:p>
          <a:p>
            <a:pPr marL="514350" indent="-514350" eaLnBrk="1" fontAlgn="auto" hangingPunct="1">
              <a:spcAft>
                <a:spcPts val="0"/>
              </a:spcAft>
              <a:buFont typeface="Arial" charset="0"/>
              <a:buAutoNum type="arabicPeriod"/>
              <a:defRPr/>
            </a:pPr>
            <a:r>
              <a:rPr lang="en-US" sz="4400" dirty="0"/>
              <a:t>Middlemen availability</a:t>
            </a:r>
          </a:p>
          <a:p>
            <a:pPr marL="514350" indent="-514350" eaLnBrk="1" fontAlgn="auto" hangingPunct="1">
              <a:spcAft>
                <a:spcPts val="0"/>
              </a:spcAft>
              <a:buFont typeface="Arial" charset="0"/>
              <a:buAutoNum type="arabicPeriod"/>
              <a:defRPr/>
            </a:pPr>
            <a:r>
              <a:rPr lang="en-US" sz="4400" dirty="0"/>
              <a:t>Services provided by middlemen</a:t>
            </a:r>
          </a:p>
          <a:p>
            <a:pPr marL="514350" indent="-514350" eaLnBrk="1" fontAlgn="auto" hangingPunct="1">
              <a:spcAft>
                <a:spcPts val="0"/>
              </a:spcAft>
              <a:buFont typeface="Arial" charset="0"/>
              <a:buAutoNum type="arabicPeriod"/>
              <a:defRPr/>
            </a:pPr>
            <a:r>
              <a:rPr lang="en-US" sz="4400" dirty="0"/>
              <a:t>Cost of channel</a:t>
            </a:r>
          </a:p>
          <a:p>
            <a:pPr marL="514350" indent="-514350" eaLnBrk="1" fontAlgn="auto" hangingPunct="1">
              <a:spcAft>
                <a:spcPts val="0"/>
              </a:spcAft>
              <a:buFont typeface="Arial" charset="0"/>
              <a:buNone/>
              <a:defRPr/>
            </a:pPr>
            <a:endParaRPr lang="en-US" sz="4400" dirty="0"/>
          </a:p>
          <a:p>
            <a:pPr marL="514350" indent="-514350" eaLnBrk="1" fontAlgn="auto" hangingPunct="1">
              <a:spcAft>
                <a:spcPts val="0"/>
              </a:spcAft>
              <a:buFont typeface="Arial" charset="0"/>
              <a:buNone/>
              <a:defRPr/>
            </a:pPr>
            <a:r>
              <a:rPr lang="en-US" sz="4400" dirty="0"/>
              <a:t>F: Environmental Channels.</a:t>
            </a:r>
          </a:p>
          <a:p>
            <a:pPr marL="514350" indent="-514350" eaLnBrk="1" fontAlgn="auto" hangingPunct="1">
              <a:spcAft>
                <a:spcPts val="0"/>
              </a:spcAft>
              <a:buFont typeface="Arial" charset="0"/>
              <a:buAutoNum type="arabicPeriod"/>
              <a:defRPr/>
            </a:pPr>
            <a:r>
              <a:rPr lang="en-US" sz="4400" dirty="0"/>
              <a:t>Economic condition</a:t>
            </a:r>
          </a:p>
          <a:p>
            <a:pPr marL="514350" indent="-514350" eaLnBrk="1" fontAlgn="auto" hangingPunct="1">
              <a:spcAft>
                <a:spcPts val="0"/>
              </a:spcAft>
              <a:buFont typeface="Arial" charset="0"/>
              <a:buAutoNum type="arabicPeriod"/>
              <a:defRPr/>
            </a:pPr>
            <a:r>
              <a:rPr lang="en-US" sz="4400" dirty="0"/>
              <a:t>Legal Restrictions</a:t>
            </a:r>
          </a:p>
          <a:p>
            <a:pPr marL="514350" indent="-514350" eaLnBrk="1" fontAlgn="auto" hangingPunct="1">
              <a:spcAft>
                <a:spcPts val="0"/>
              </a:spcAft>
              <a:buFont typeface="Arial" charset="0"/>
              <a:buNone/>
              <a:defRPr/>
            </a:pPr>
            <a:endParaRPr lang="en-US" dirty="0"/>
          </a:p>
        </p:txBody>
      </p:sp>
    </p:spTree>
    <p:extLst>
      <p:ext uri="{BB962C8B-B14F-4D97-AF65-F5344CB8AC3E}">
        <p14:creationId xmlns:p14="http://schemas.microsoft.com/office/powerpoint/2010/main" xmlns="" val="3789359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838200" y="365125"/>
            <a:ext cx="10515600" cy="492125"/>
          </a:xfrm>
        </p:spPr>
        <p:txBody>
          <a:bodyPr>
            <a:normAutofit fontScale="90000"/>
          </a:bodyPr>
          <a:lstStyle/>
          <a:p>
            <a:pPr eaLnBrk="1" hangingPunct="1"/>
            <a:r>
              <a:rPr lang="en-US" sz="3600" b="1"/>
              <a:t>Channel Design Decision</a:t>
            </a:r>
            <a:endParaRPr lang="en-US" sz="2000" b="1"/>
          </a:p>
        </p:txBody>
      </p:sp>
      <p:sp>
        <p:nvSpPr>
          <p:cNvPr id="4" name="Content Placeholder 3"/>
          <p:cNvSpPr>
            <a:spLocks noGrp="1"/>
          </p:cNvSpPr>
          <p:nvPr>
            <p:ph idx="1"/>
          </p:nvPr>
        </p:nvSpPr>
        <p:spPr>
          <a:xfrm>
            <a:off x="838200" y="914400"/>
            <a:ext cx="10515600" cy="5262563"/>
          </a:xfrm>
        </p:spPr>
        <p:txBody>
          <a:bodyPr/>
          <a:lstStyle/>
          <a:p>
            <a:pPr algn="just" eaLnBrk="1" hangingPunct="1">
              <a:buFont typeface="Arial" charset="0"/>
              <a:buNone/>
              <a:defRPr/>
            </a:pPr>
            <a:r>
              <a:rPr lang="en-US" dirty="0"/>
              <a:t>	Channel design refers to those decisions involving the development of new marketing channels or modifying the existing marketing channels  for effective distribution of goods and services to customers.</a:t>
            </a:r>
          </a:p>
          <a:p>
            <a:pPr algn="just" eaLnBrk="1" hangingPunct="1">
              <a:buFont typeface="Arial" charset="0"/>
              <a:buNone/>
              <a:defRPr/>
            </a:pPr>
            <a:r>
              <a:rPr lang="en-US" dirty="0"/>
              <a:t>Channel design depends upon;</a:t>
            </a:r>
          </a:p>
          <a:p>
            <a:pPr marL="514350" indent="-514350" algn="just" eaLnBrk="1" hangingPunct="1">
              <a:buFont typeface="Arial" charset="0"/>
              <a:buAutoNum type="arabicPeriod"/>
              <a:defRPr/>
            </a:pPr>
            <a:r>
              <a:rPr lang="en-US" dirty="0"/>
              <a:t>Nature of the product.</a:t>
            </a:r>
          </a:p>
          <a:p>
            <a:pPr marL="514350" indent="-514350" algn="just" eaLnBrk="1" hangingPunct="1">
              <a:buFont typeface="Arial" charset="0"/>
              <a:buAutoNum type="arabicPeriod"/>
              <a:defRPr/>
            </a:pPr>
            <a:r>
              <a:rPr lang="en-US" dirty="0"/>
              <a:t>Customer expectation from distribution.</a:t>
            </a:r>
          </a:p>
          <a:p>
            <a:pPr marL="514350" indent="-514350" algn="just" eaLnBrk="1" hangingPunct="1">
              <a:buFont typeface="Arial" charset="0"/>
              <a:buAutoNum type="arabicPeriod"/>
              <a:defRPr/>
            </a:pPr>
            <a:r>
              <a:rPr lang="en-US" dirty="0"/>
              <a:t>Type of market targeted.</a:t>
            </a:r>
          </a:p>
        </p:txBody>
      </p:sp>
    </p:spTree>
    <p:extLst>
      <p:ext uri="{BB962C8B-B14F-4D97-AF65-F5344CB8AC3E}">
        <p14:creationId xmlns:p14="http://schemas.microsoft.com/office/powerpoint/2010/main" xmlns="" val="3781707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838200" y="365125"/>
            <a:ext cx="10515600" cy="752475"/>
          </a:xfrm>
        </p:spPr>
        <p:txBody>
          <a:bodyPr/>
          <a:lstStyle/>
          <a:p>
            <a:pPr eaLnBrk="1" hangingPunct="1"/>
            <a:r>
              <a:rPr lang="en-US" dirty="0"/>
              <a:t>Steps involved in Channel Design Decision</a:t>
            </a:r>
          </a:p>
        </p:txBody>
      </p:sp>
      <p:sp>
        <p:nvSpPr>
          <p:cNvPr id="4" name="Rectangle 3"/>
          <p:cNvSpPr/>
          <p:nvPr/>
        </p:nvSpPr>
        <p:spPr>
          <a:xfrm>
            <a:off x="3105150" y="1331913"/>
            <a:ext cx="4989513" cy="3508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Recognizing the need of the channel</a:t>
            </a:r>
          </a:p>
        </p:txBody>
      </p:sp>
      <p:sp>
        <p:nvSpPr>
          <p:cNvPr id="11" name="Rectangle 10"/>
          <p:cNvSpPr/>
          <p:nvPr/>
        </p:nvSpPr>
        <p:spPr>
          <a:xfrm>
            <a:off x="3109913" y="1901825"/>
            <a:ext cx="4989512" cy="3508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Identifying the functions</a:t>
            </a:r>
          </a:p>
        </p:txBody>
      </p:sp>
      <p:sp>
        <p:nvSpPr>
          <p:cNvPr id="12" name="Rectangle 11"/>
          <p:cNvSpPr/>
          <p:nvPr/>
        </p:nvSpPr>
        <p:spPr>
          <a:xfrm>
            <a:off x="3109913" y="2546350"/>
            <a:ext cx="4989512" cy="3492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Linking Product </a:t>
            </a:r>
            <a:r>
              <a:rPr lang="en-US" dirty="0" err="1"/>
              <a:t>Charecteristics</a:t>
            </a:r>
            <a:endParaRPr lang="en-US" dirty="0"/>
          </a:p>
        </p:txBody>
      </p:sp>
      <p:sp>
        <p:nvSpPr>
          <p:cNvPr id="13" name="Rectangle 12"/>
          <p:cNvSpPr/>
          <p:nvPr/>
        </p:nvSpPr>
        <p:spPr>
          <a:xfrm>
            <a:off x="3116263" y="3116263"/>
            <a:ext cx="4989512" cy="3492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Evaluation of Distribution Environment</a:t>
            </a:r>
          </a:p>
        </p:txBody>
      </p:sp>
      <p:sp>
        <p:nvSpPr>
          <p:cNvPr id="14" name="Rectangle 13"/>
          <p:cNvSpPr/>
          <p:nvPr/>
        </p:nvSpPr>
        <p:spPr>
          <a:xfrm>
            <a:off x="3132138" y="3776663"/>
            <a:ext cx="4989512" cy="3492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Evaluate competitors channel design.</a:t>
            </a:r>
          </a:p>
        </p:txBody>
      </p:sp>
      <p:sp>
        <p:nvSpPr>
          <p:cNvPr id="15" name="Rectangle 14"/>
          <p:cNvSpPr/>
          <p:nvPr/>
        </p:nvSpPr>
        <p:spPr>
          <a:xfrm>
            <a:off x="3138488" y="4346575"/>
            <a:ext cx="4989512" cy="3492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Matching the channel design to company resources</a:t>
            </a:r>
          </a:p>
        </p:txBody>
      </p:sp>
      <p:sp>
        <p:nvSpPr>
          <p:cNvPr id="16" name="Rectangle 15"/>
          <p:cNvSpPr/>
          <p:nvPr/>
        </p:nvSpPr>
        <p:spPr>
          <a:xfrm>
            <a:off x="3138488" y="4989513"/>
            <a:ext cx="4989512" cy="3508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Evaluating the alternatives and selecting the best.</a:t>
            </a:r>
          </a:p>
        </p:txBody>
      </p:sp>
    </p:spTree>
    <p:extLst>
      <p:ext uri="{BB962C8B-B14F-4D97-AF65-F5344CB8AC3E}">
        <p14:creationId xmlns:p14="http://schemas.microsoft.com/office/powerpoint/2010/main" xmlns="" val="625922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838200" y="365125"/>
            <a:ext cx="10515600" cy="582613"/>
          </a:xfrm>
        </p:spPr>
        <p:txBody>
          <a:bodyPr>
            <a:normAutofit fontScale="90000"/>
          </a:bodyPr>
          <a:lstStyle/>
          <a:p>
            <a:pPr eaLnBrk="1" hangingPunct="1"/>
            <a:r>
              <a:rPr lang="en-US"/>
              <a:t>Channel Management Decisions</a:t>
            </a:r>
          </a:p>
        </p:txBody>
      </p:sp>
      <p:sp>
        <p:nvSpPr>
          <p:cNvPr id="3" name="Content Placeholder 2"/>
          <p:cNvSpPr>
            <a:spLocks noGrp="1"/>
          </p:cNvSpPr>
          <p:nvPr>
            <p:ph idx="1"/>
          </p:nvPr>
        </p:nvSpPr>
        <p:spPr>
          <a:xfrm>
            <a:off x="838200" y="1196975"/>
            <a:ext cx="10515600" cy="4979988"/>
          </a:xfrm>
        </p:spPr>
        <p:txBody>
          <a:bodyPr/>
          <a:lstStyle/>
          <a:p>
            <a:pPr eaLnBrk="1" hangingPunct="1">
              <a:buFont typeface="Arial" charset="0"/>
              <a:buNone/>
              <a:defRPr/>
            </a:pPr>
            <a:r>
              <a:rPr lang="en-US" dirty="0"/>
              <a:t>Steps in channel management:</a:t>
            </a:r>
          </a:p>
          <a:p>
            <a:pPr marL="514350" indent="-514350" eaLnBrk="1" hangingPunct="1">
              <a:buFont typeface="Arial" charset="0"/>
              <a:buAutoNum type="arabicPeriod"/>
              <a:defRPr/>
            </a:pPr>
            <a:r>
              <a:rPr lang="en-US" dirty="0"/>
              <a:t>Recruiting channel members</a:t>
            </a:r>
          </a:p>
          <a:p>
            <a:pPr marL="514350" indent="-514350" eaLnBrk="1" hangingPunct="1">
              <a:buFont typeface="Arial" charset="0"/>
              <a:buAutoNum type="arabicPeriod"/>
              <a:defRPr/>
            </a:pPr>
            <a:r>
              <a:rPr lang="en-US" dirty="0"/>
              <a:t>Selecting channel members.</a:t>
            </a:r>
          </a:p>
          <a:p>
            <a:pPr marL="514350" indent="-514350" eaLnBrk="1" hangingPunct="1">
              <a:buFont typeface="Arial" charset="0"/>
              <a:buAutoNum type="arabicPeriod"/>
              <a:defRPr/>
            </a:pPr>
            <a:r>
              <a:rPr lang="en-US" dirty="0"/>
              <a:t>Training channel members.</a:t>
            </a:r>
          </a:p>
          <a:p>
            <a:pPr marL="514350" indent="-514350" eaLnBrk="1" hangingPunct="1">
              <a:buFont typeface="Arial" charset="0"/>
              <a:buAutoNum type="arabicPeriod"/>
              <a:defRPr/>
            </a:pPr>
            <a:r>
              <a:rPr lang="en-US" dirty="0"/>
              <a:t>Motivating channel members.</a:t>
            </a:r>
          </a:p>
          <a:p>
            <a:pPr marL="514350" indent="-514350" eaLnBrk="1" hangingPunct="1">
              <a:buFont typeface="Arial" charset="0"/>
              <a:buAutoNum type="arabicPeriod"/>
              <a:defRPr/>
            </a:pPr>
            <a:r>
              <a:rPr lang="en-US" dirty="0"/>
              <a:t>Evaluating channel members.</a:t>
            </a:r>
          </a:p>
          <a:p>
            <a:pPr marL="514350" indent="-514350" eaLnBrk="1" hangingPunct="1">
              <a:buFont typeface="Arial" charset="0"/>
              <a:buAutoNum type="arabicPeriod"/>
              <a:defRPr/>
            </a:pPr>
            <a:r>
              <a:rPr lang="en-US" dirty="0"/>
              <a:t>Modifying channel arrangements.</a:t>
            </a:r>
          </a:p>
          <a:p>
            <a:pPr marL="514350" indent="-514350" eaLnBrk="1" hangingPunct="1">
              <a:buFont typeface="Arial" charset="0"/>
              <a:buAutoNum type="arabicPeriod"/>
              <a:defRPr/>
            </a:pPr>
            <a:r>
              <a:rPr lang="en-US" dirty="0"/>
              <a:t>Managing channel relations.</a:t>
            </a:r>
          </a:p>
        </p:txBody>
      </p:sp>
    </p:spTree>
    <p:extLst>
      <p:ext uri="{BB962C8B-B14F-4D97-AF65-F5344CB8AC3E}">
        <p14:creationId xmlns:p14="http://schemas.microsoft.com/office/powerpoint/2010/main" xmlns="" val="376314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838200" y="365125"/>
            <a:ext cx="10515600" cy="527050"/>
          </a:xfrm>
        </p:spPr>
        <p:txBody>
          <a:bodyPr>
            <a:normAutofit fontScale="90000"/>
          </a:bodyPr>
          <a:lstStyle/>
          <a:p>
            <a:pPr eaLnBrk="1" hangingPunct="1"/>
            <a:r>
              <a:rPr lang="en-US" b="1"/>
              <a:t>Channel conflict:</a:t>
            </a:r>
          </a:p>
        </p:txBody>
      </p:sp>
      <p:sp>
        <p:nvSpPr>
          <p:cNvPr id="3" name="Content Placeholder 2"/>
          <p:cNvSpPr>
            <a:spLocks noGrp="1"/>
          </p:cNvSpPr>
          <p:nvPr>
            <p:ph idx="1"/>
          </p:nvPr>
        </p:nvSpPr>
        <p:spPr>
          <a:xfrm>
            <a:off x="838200" y="1004888"/>
            <a:ext cx="10515600" cy="5194300"/>
          </a:xfrm>
        </p:spPr>
        <p:txBody>
          <a:bodyPr/>
          <a:lstStyle/>
          <a:p>
            <a:pPr algn="just" eaLnBrk="1" hangingPunct="1">
              <a:buFont typeface="Arial" charset="0"/>
              <a:buNone/>
              <a:defRPr/>
            </a:pPr>
            <a:r>
              <a:rPr lang="en-US" dirty="0"/>
              <a:t>	Channel conflict is a situation of discord or disagreement between channel members from the same marketing channel system. Conflict always has a negative connotations and is driven more by feelings than facts.</a:t>
            </a:r>
          </a:p>
          <a:p>
            <a:pPr algn="just" eaLnBrk="1" hangingPunct="1">
              <a:buFont typeface="Arial" charset="0"/>
              <a:buNone/>
              <a:defRPr/>
            </a:pPr>
            <a:endParaRPr lang="en-US" dirty="0"/>
          </a:p>
          <a:p>
            <a:pPr algn="just" eaLnBrk="1" hangingPunct="1">
              <a:buFont typeface="Arial" charset="0"/>
              <a:buNone/>
              <a:defRPr/>
            </a:pPr>
            <a:r>
              <a:rPr lang="en-US" dirty="0"/>
              <a:t>Types of channel conflicts:</a:t>
            </a:r>
          </a:p>
          <a:p>
            <a:pPr marL="514350" indent="-514350" algn="just" eaLnBrk="1" hangingPunct="1">
              <a:buFont typeface="Arial" charset="0"/>
              <a:buAutoNum type="arabicPeriod"/>
              <a:defRPr/>
            </a:pPr>
            <a:r>
              <a:rPr lang="en-US" dirty="0"/>
              <a:t>Vertical channel conflict.</a:t>
            </a:r>
          </a:p>
          <a:p>
            <a:pPr marL="514350" indent="-514350" algn="just" eaLnBrk="1" hangingPunct="1">
              <a:buFont typeface="Arial" charset="0"/>
              <a:buAutoNum type="arabicPeriod"/>
              <a:defRPr/>
            </a:pPr>
            <a:r>
              <a:rPr lang="en-US" dirty="0"/>
              <a:t>Horizontal channel conflict.</a:t>
            </a:r>
          </a:p>
          <a:p>
            <a:pPr marL="514350" indent="-514350" algn="just" eaLnBrk="1" hangingPunct="1">
              <a:buFont typeface="Arial" charset="0"/>
              <a:buAutoNum type="arabicPeriod"/>
              <a:defRPr/>
            </a:pPr>
            <a:r>
              <a:rPr lang="en-US" dirty="0"/>
              <a:t>Multi level channel conflict.</a:t>
            </a:r>
          </a:p>
        </p:txBody>
      </p:sp>
    </p:spTree>
    <p:extLst>
      <p:ext uri="{BB962C8B-B14F-4D97-AF65-F5344CB8AC3E}">
        <p14:creationId xmlns:p14="http://schemas.microsoft.com/office/powerpoint/2010/main" xmlns="" val="2290847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838200" y="365125"/>
            <a:ext cx="10515600" cy="774700"/>
          </a:xfrm>
        </p:spPr>
        <p:txBody>
          <a:bodyPr/>
          <a:lstStyle/>
          <a:p>
            <a:pPr eaLnBrk="1" hangingPunct="1"/>
            <a:r>
              <a:rPr lang="en-US" b="1"/>
              <a:t>Causes of Channel conflict</a:t>
            </a:r>
          </a:p>
        </p:txBody>
      </p:sp>
      <p:sp>
        <p:nvSpPr>
          <p:cNvPr id="26627" name="Content Placeholder 2"/>
          <p:cNvSpPr>
            <a:spLocks noGrp="1"/>
          </p:cNvSpPr>
          <p:nvPr>
            <p:ph idx="1"/>
          </p:nvPr>
        </p:nvSpPr>
        <p:spPr>
          <a:xfrm>
            <a:off x="838200" y="1162050"/>
            <a:ext cx="10515600" cy="5014913"/>
          </a:xfrm>
        </p:spPr>
        <p:txBody>
          <a:bodyPr/>
          <a:lstStyle/>
          <a:p>
            <a:pPr marL="514350" indent="-514350" eaLnBrk="1" hangingPunct="1">
              <a:buFont typeface="Arial" panose="020B0604020202020204" pitchFamily="34" charset="0"/>
              <a:buAutoNum type="arabicPeriod"/>
            </a:pPr>
            <a:r>
              <a:rPr lang="en-US" dirty="0"/>
              <a:t>Goal incompatibility. ( Goal difference)</a:t>
            </a:r>
          </a:p>
          <a:p>
            <a:pPr marL="514350" indent="-514350" eaLnBrk="1" hangingPunct="1">
              <a:buFont typeface="Arial" panose="020B0604020202020204" pitchFamily="34" charset="0"/>
              <a:buAutoNum type="arabicPeriod"/>
            </a:pPr>
            <a:r>
              <a:rPr lang="en-US" dirty="0"/>
              <a:t>Role ambiguity. ( Confusion in roles of manufacturers sales force and distributors sales force)</a:t>
            </a:r>
          </a:p>
          <a:p>
            <a:pPr marL="514350" indent="-514350" eaLnBrk="1" hangingPunct="1">
              <a:buFont typeface="Arial" panose="020B0604020202020204" pitchFamily="34" charset="0"/>
              <a:buAutoNum type="arabicPeriod"/>
            </a:pPr>
            <a:r>
              <a:rPr lang="en-US" dirty="0"/>
              <a:t>Differences in perception of the market.  ( </a:t>
            </a:r>
            <a:r>
              <a:rPr lang="en-US" dirty="0" err="1"/>
              <a:t>Manufactirers</a:t>
            </a:r>
            <a:r>
              <a:rPr lang="en-US" dirty="0"/>
              <a:t> may perceive positive market where as dealers may perceive negative market</a:t>
            </a:r>
            <a:r>
              <a:rPr lang="en-US" dirty="0" smtClean="0"/>
              <a:t>)</a:t>
            </a:r>
          </a:p>
          <a:p>
            <a:pPr marL="514350" indent="-514350" eaLnBrk="1" hangingPunct="1">
              <a:buFont typeface="Arial" panose="020B0604020202020204" pitchFamily="34" charset="0"/>
              <a:buAutoNum type="arabicPeriod"/>
            </a:pPr>
            <a:r>
              <a:rPr lang="en-US" dirty="0" smtClean="0"/>
              <a:t>Geographic or demographic distribution misalignment.</a:t>
            </a:r>
            <a:endParaRPr lang="en-US" dirty="0"/>
          </a:p>
          <a:p>
            <a:pPr marL="514350" indent="-514350" eaLnBrk="1" hangingPunct="1">
              <a:buFont typeface="Arial" panose="020B0604020202020204" pitchFamily="34" charset="0"/>
              <a:buAutoNum type="arabicPeriod"/>
            </a:pPr>
            <a:r>
              <a:rPr lang="en-US" dirty="0" smtClean="0"/>
              <a:t>Differences between manufacturers and channel members regarding market opinions.</a:t>
            </a:r>
            <a:endParaRPr lang="en-US" dirty="0"/>
          </a:p>
        </p:txBody>
      </p:sp>
    </p:spTree>
    <p:extLst>
      <p:ext uri="{BB962C8B-B14F-4D97-AF65-F5344CB8AC3E}">
        <p14:creationId xmlns:p14="http://schemas.microsoft.com/office/powerpoint/2010/main" xmlns="" val="6473997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838200" y="365125"/>
            <a:ext cx="10515600" cy="606425"/>
          </a:xfrm>
        </p:spPr>
        <p:txBody>
          <a:bodyPr>
            <a:normAutofit fontScale="90000"/>
          </a:bodyPr>
          <a:lstStyle/>
          <a:p>
            <a:pPr eaLnBrk="1" hangingPunct="1"/>
            <a:r>
              <a:rPr lang="en-US" b="1"/>
              <a:t>Remedies  of channel conflicts:</a:t>
            </a:r>
          </a:p>
        </p:txBody>
      </p:sp>
      <p:sp>
        <p:nvSpPr>
          <p:cNvPr id="27651" name="Content Placeholder 2"/>
          <p:cNvSpPr>
            <a:spLocks noGrp="1"/>
          </p:cNvSpPr>
          <p:nvPr>
            <p:ph idx="1"/>
          </p:nvPr>
        </p:nvSpPr>
        <p:spPr>
          <a:xfrm>
            <a:off x="838200" y="982663"/>
            <a:ext cx="10515600" cy="5149850"/>
          </a:xfrm>
        </p:spPr>
        <p:txBody>
          <a:bodyPr/>
          <a:lstStyle/>
          <a:p>
            <a:pPr marL="514350" indent="-514350" eaLnBrk="1" hangingPunct="1">
              <a:buFont typeface="Arial" panose="020B0604020202020204" pitchFamily="34" charset="0"/>
              <a:buAutoNum type="arabicPeriod"/>
            </a:pPr>
            <a:r>
              <a:rPr lang="en-US"/>
              <a:t>Proper communication.</a:t>
            </a:r>
          </a:p>
          <a:p>
            <a:pPr marL="514350" indent="-514350" eaLnBrk="1" hangingPunct="1">
              <a:buFont typeface="Arial" panose="020B0604020202020204" pitchFamily="34" charset="0"/>
              <a:buAutoNum type="arabicPeriod"/>
            </a:pPr>
            <a:r>
              <a:rPr lang="en-US"/>
              <a:t>Super ordinate goals. ( Goals to be fixed which cannot be achieved by single person)</a:t>
            </a:r>
          </a:p>
          <a:p>
            <a:pPr marL="514350" indent="-514350" eaLnBrk="1" hangingPunct="1">
              <a:buFont typeface="Arial" panose="020B0604020202020204" pitchFamily="34" charset="0"/>
              <a:buAutoNum type="arabicPeriod"/>
            </a:pPr>
            <a:r>
              <a:rPr lang="en-US"/>
              <a:t>Persuasion.</a:t>
            </a:r>
          </a:p>
          <a:p>
            <a:pPr marL="514350" indent="-514350" eaLnBrk="1" hangingPunct="1">
              <a:buFont typeface="Arial" panose="020B0604020202020204" pitchFamily="34" charset="0"/>
              <a:buAutoNum type="arabicPeriod"/>
            </a:pPr>
            <a:r>
              <a:rPr lang="en-US"/>
              <a:t>Negotiation.</a:t>
            </a:r>
          </a:p>
          <a:p>
            <a:pPr marL="514350" indent="-514350" eaLnBrk="1" hangingPunct="1">
              <a:buFont typeface="Arial" panose="020B0604020202020204" pitchFamily="34" charset="0"/>
              <a:buAutoNum type="arabicPeriod"/>
            </a:pPr>
            <a:r>
              <a:rPr lang="en-US"/>
              <a:t>Coalition or combining the channels.</a:t>
            </a:r>
          </a:p>
          <a:p>
            <a:pPr marL="514350" indent="-514350" eaLnBrk="1" hangingPunct="1">
              <a:buFont typeface="Arial" panose="020B0604020202020204" pitchFamily="34" charset="0"/>
              <a:buAutoNum type="arabicPeriod"/>
            </a:pPr>
            <a:r>
              <a:rPr lang="en-US"/>
              <a:t>Mediation and arbitration for solving conflict ( Third party entry to solve problems)</a:t>
            </a:r>
          </a:p>
          <a:p>
            <a:pPr marL="514350" indent="-514350" eaLnBrk="1" hangingPunct="1">
              <a:buFont typeface="Arial" panose="020B0604020202020204" pitchFamily="34" charset="0"/>
              <a:buAutoNum type="arabicPeriod"/>
            </a:pPr>
            <a:r>
              <a:rPr lang="en-US"/>
              <a:t>Judicial appeal.</a:t>
            </a:r>
          </a:p>
        </p:txBody>
      </p:sp>
    </p:spTree>
    <p:extLst>
      <p:ext uri="{BB962C8B-B14F-4D97-AF65-F5344CB8AC3E}">
        <p14:creationId xmlns:p14="http://schemas.microsoft.com/office/powerpoint/2010/main" xmlns="" val="2240610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5530"/>
          </a:xfrm>
        </p:spPr>
        <p:txBody>
          <a:bodyPr/>
          <a:lstStyle/>
          <a:p>
            <a:r>
              <a:rPr lang="en-IN" dirty="0"/>
              <a:t>Promotion Mix:</a:t>
            </a:r>
          </a:p>
        </p:txBody>
      </p:sp>
      <p:sp>
        <p:nvSpPr>
          <p:cNvPr id="3" name="Content Placeholder 2"/>
          <p:cNvSpPr>
            <a:spLocks noGrp="1"/>
          </p:cNvSpPr>
          <p:nvPr>
            <p:ph idx="1"/>
          </p:nvPr>
        </p:nvSpPr>
        <p:spPr>
          <a:xfrm>
            <a:off x="856673" y="1488930"/>
            <a:ext cx="10515600" cy="2713616"/>
          </a:xfrm>
        </p:spPr>
        <p:txBody>
          <a:bodyPr>
            <a:normAutofit/>
          </a:bodyPr>
          <a:lstStyle/>
          <a:p>
            <a:pPr algn="just"/>
            <a:r>
              <a:rPr lang="en-US" b="0" i="0" dirty="0">
                <a:solidFill>
                  <a:srgbClr val="414141"/>
                </a:solidFill>
                <a:effectLst/>
                <a:latin typeface="Times New Roman" panose="02020603050405020304" pitchFamily="18" charset="0"/>
                <a:cs typeface="Times New Roman" panose="02020603050405020304" pitchFamily="18" charset="0"/>
              </a:rPr>
              <a:t>Promotion in 4Ps of marketing mix implies the process of </a:t>
            </a:r>
            <a:r>
              <a:rPr lang="en-US" b="1" i="0" dirty="0">
                <a:solidFill>
                  <a:srgbClr val="414141"/>
                </a:solidFill>
                <a:effectLst/>
                <a:latin typeface="Times New Roman" panose="02020603050405020304" pitchFamily="18" charset="0"/>
                <a:cs typeface="Times New Roman" panose="02020603050405020304" pitchFamily="18" charset="0"/>
              </a:rPr>
              <a:t>acquainting the target consumers</a:t>
            </a:r>
            <a:r>
              <a:rPr lang="en-US" b="0" i="0" dirty="0">
                <a:solidFill>
                  <a:srgbClr val="414141"/>
                </a:solidFill>
                <a:effectLst/>
                <a:latin typeface="Times New Roman" panose="02020603050405020304" pitchFamily="18" charset="0"/>
                <a:cs typeface="Times New Roman" panose="02020603050405020304" pitchFamily="18" charset="0"/>
              </a:rPr>
              <a:t> about the brand and </a:t>
            </a:r>
            <a:r>
              <a:rPr lang="en-US" b="1" i="0" dirty="0">
                <a:solidFill>
                  <a:srgbClr val="414141"/>
                </a:solidFill>
                <a:effectLst/>
                <a:latin typeface="Times New Roman" panose="02020603050405020304" pitchFamily="18" charset="0"/>
                <a:cs typeface="Times New Roman" panose="02020603050405020304" pitchFamily="18" charset="0"/>
              </a:rPr>
              <a:t>convincing them to buy the product or service</a:t>
            </a:r>
            <a:r>
              <a:rPr lang="en-US" b="0" i="0" dirty="0">
                <a:solidFill>
                  <a:srgbClr val="414141"/>
                </a:solidFill>
                <a:effectLst/>
                <a:latin typeface="Times New Roman" panose="02020603050405020304" pitchFamily="18" charset="0"/>
                <a:cs typeface="Times New Roman" panose="02020603050405020304" pitchFamily="18" charset="0"/>
              </a:rPr>
              <a:t>. The purchasing </a:t>
            </a:r>
            <a:r>
              <a:rPr lang="en-US" b="0" i="0" dirty="0" smtClean="0">
                <a:solidFill>
                  <a:srgbClr val="414141"/>
                </a:solidFill>
                <a:effectLst/>
                <a:latin typeface="Times New Roman" panose="02020603050405020304" pitchFamily="18" charset="0"/>
                <a:cs typeface="Times New Roman" panose="02020603050405020304" pitchFamily="18" charset="0"/>
              </a:rPr>
              <a:t>behavior </a:t>
            </a:r>
            <a:r>
              <a:rPr lang="en-US" b="0" i="0" dirty="0">
                <a:solidFill>
                  <a:srgbClr val="414141"/>
                </a:solidFill>
                <a:effectLst/>
                <a:latin typeface="Times New Roman" panose="02020603050405020304" pitchFamily="18" charset="0"/>
                <a:cs typeface="Times New Roman" panose="02020603050405020304" pitchFamily="18" charset="0"/>
              </a:rPr>
              <a:t>of consumers is heavily impacted by Promotion, and it is one of the most powerful Ps of the marketing mix.</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1299704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A2D4B5C-5680-2796-0CEB-F9F5B505E303}"/>
              </a:ext>
            </a:extLst>
          </p:cNvPr>
          <p:cNvSpPr>
            <a:spLocks noGrp="1"/>
          </p:cNvSpPr>
          <p:nvPr>
            <p:ph type="title"/>
          </p:nvPr>
        </p:nvSpPr>
        <p:spPr>
          <a:xfrm>
            <a:off x="838200" y="365126"/>
            <a:ext cx="10515600" cy="475383"/>
          </a:xfrm>
        </p:spPr>
        <p:txBody>
          <a:bodyPr>
            <a:normAutofit fontScale="90000"/>
          </a:bodyPr>
          <a:lstStyle/>
          <a:p>
            <a:r>
              <a:rPr lang="en-US" dirty="0"/>
              <a:t>Elements of Promotion Mix</a:t>
            </a:r>
            <a:endParaRPr lang="en-IN" dirty="0"/>
          </a:p>
        </p:txBody>
      </p:sp>
      <p:pic>
        <p:nvPicPr>
          <p:cNvPr id="1026" name="Picture 2" descr="What is Promotion Mix? Meaning, Definition &amp; Elements - ElectricalWorkbook">
            <a:extLst>
              <a:ext uri="{FF2B5EF4-FFF2-40B4-BE49-F238E27FC236}">
                <a16:creationId xmlns:a16="http://schemas.microsoft.com/office/drawing/2014/main" xmlns="" id="{18C7EFBF-FE46-DB1F-C19F-40E66ACA32EB}"/>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579418" y="905165"/>
            <a:ext cx="8256732" cy="57404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655354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Marketing communications</a:t>
            </a:r>
          </a:p>
        </p:txBody>
      </p:sp>
      <p:sp>
        <p:nvSpPr>
          <p:cNvPr id="3" name="Content Placeholder 2"/>
          <p:cNvSpPr>
            <a:spLocks noGrp="1"/>
          </p:cNvSpPr>
          <p:nvPr>
            <p:ph idx="1"/>
          </p:nvPr>
        </p:nvSpPr>
        <p:spPr>
          <a:xfrm>
            <a:off x="838200" y="1394691"/>
            <a:ext cx="10515600" cy="4782272"/>
          </a:xfrm>
        </p:spPr>
        <p:txBody>
          <a:bodyPr/>
          <a:lstStyle/>
          <a:p>
            <a:pPr algn="just"/>
            <a:r>
              <a:rPr lang="en-US" b="0" i="0" dirty="0">
                <a:solidFill>
                  <a:srgbClr val="202124"/>
                </a:solidFill>
                <a:effectLst/>
                <a:latin typeface="Google Sans"/>
              </a:rPr>
              <a:t>Marketing communications (also known as marcom) is </a:t>
            </a:r>
            <a:r>
              <a:rPr lang="en-US" b="0" i="0" dirty="0">
                <a:solidFill>
                  <a:srgbClr val="040C28"/>
                </a:solidFill>
                <a:effectLst/>
                <a:latin typeface="Google Sans"/>
              </a:rPr>
              <a:t>the messages and media that marketers use to communicate with target markets</a:t>
            </a:r>
            <a:r>
              <a:rPr lang="en-US" b="0" i="0" dirty="0">
                <a:solidFill>
                  <a:srgbClr val="202124"/>
                </a:solidFill>
                <a:effectLst/>
                <a:latin typeface="Google Sans"/>
              </a:rPr>
              <a:t>. Examples of marketing communications include traditional advertising, direct marketing, social marketing, presentations and sponsorships.</a:t>
            </a:r>
            <a:endParaRPr lang="en-IN" dirty="0"/>
          </a:p>
        </p:txBody>
      </p:sp>
    </p:spTree>
    <p:extLst>
      <p:ext uri="{BB962C8B-B14F-4D97-AF65-F5344CB8AC3E}">
        <p14:creationId xmlns:p14="http://schemas.microsoft.com/office/powerpoint/2010/main" xmlns="" val="42001120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2159000" y="46038"/>
            <a:ext cx="8585200" cy="1096962"/>
          </a:xfrm>
          <a:solidFill>
            <a:schemeClr val="bg1"/>
          </a:solidFill>
          <a:ln w="38100">
            <a:solidFill>
              <a:schemeClr val="accent2"/>
            </a:solidFill>
            <a:miter lim="800000"/>
            <a:headEnd/>
            <a:tailEnd/>
          </a:ln>
        </p:spPr>
        <p:txBody>
          <a:bodyPr/>
          <a:lstStyle/>
          <a:p>
            <a:r>
              <a:rPr lang="en-US" sz="3800" dirty="0"/>
              <a:t>The Role of Marketing Communications</a:t>
            </a:r>
          </a:p>
        </p:txBody>
      </p:sp>
      <p:graphicFrame>
        <p:nvGraphicFramePr>
          <p:cNvPr id="31749" name="Object 5"/>
          <p:cNvGraphicFramePr>
            <a:graphicFrameLocks noGrp="1" noChangeAspect="1"/>
          </p:cNvGraphicFramePr>
          <p:nvPr>
            <p:ph sz="half" idx="2"/>
          </p:nvPr>
        </p:nvGraphicFramePr>
        <p:xfrm>
          <a:off x="3810001" y="1371601"/>
          <a:ext cx="4983163" cy="4983163"/>
        </p:xfrm>
        <a:graphic>
          <a:graphicData uri="http://schemas.openxmlformats.org/presentationml/2006/ole">
            <p:oleObj spid="_x0000_s7180" name="Visio" r:id="rId3" imgW="2548128" imgH="2548128" progId="">
              <p:embed/>
            </p:oleObj>
          </a:graphicData>
        </a:graphic>
      </p:graphicFrame>
      <p:sp>
        <p:nvSpPr>
          <p:cNvPr id="31751" name="Text Box 7"/>
          <p:cNvSpPr txBox="1">
            <a:spLocks noChangeArrowheads="1"/>
          </p:cNvSpPr>
          <p:nvPr/>
        </p:nvSpPr>
        <p:spPr bwMode="auto">
          <a:xfrm>
            <a:off x="3822701" y="3581401"/>
            <a:ext cx="1433469" cy="461665"/>
          </a:xfrm>
          <a:prstGeom prst="rect">
            <a:avLst/>
          </a:prstGeom>
          <a:solidFill>
            <a:schemeClr val="bg1"/>
          </a:solidFill>
          <a:ln w="9525">
            <a:solidFill>
              <a:srgbClr val="FF3300"/>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sz="2400" b="1"/>
              <a:t>Informing</a:t>
            </a:r>
          </a:p>
        </p:txBody>
      </p:sp>
      <p:sp>
        <p:nvSpPr>
          <p:cNvPr id="31752" name="Text Box 8"/>
          <p:cNvSpPr txBox="1">
            <a:spLocks noChangeArrowheads="1"/>
          </p:cNvSpPr>
          <p:nvPr/>
        </p:nvSpPr>
        <p:spPr bwMode="auto">
          <a:xfrm>
            <a:off x="5562600" y="5486401"/>
            <a:ext cx="1596206" cy="461665"/>
          </a:xfrm>
          <a:prstGeom prst="rect">
            <a:avLst/>
          </a:prstGeom>
          <a:solidFill>
            <a:schemeClr val="bg1"/>
          </a:solidFill>
          <a:ln w="9525">
            <a:solidFill>
              <a:srgbClr val="FF3300"/>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sz="2400" b="1"/>
              <a:t>Persuading</a:t>
            </a:r>
          </a:p>
        </p:txBody>
      </p:sp>
      <p:sp>
        <p:nvSpPr>
          <p:cNvPr id="31753" name="Text Box 9"/>
          <p:cNvSpPr txBox="1">
            <a:spLocks noChangeArrowheads="1"/>
          </p:cNvSpPr>
          <p:nvPr/>
        </p:nvSpPr>
        <p:spPr bwMode="auto">
          <a:xfrm>
            <a:off x="6934200" y="2667001"/>
            <a:ext cx="1550746" cy="461665"/>
          </a:xfrm>
          <a:prstGeom prst="rect">
            <a:avLst/>
          </a:prstGeom>
          <a:solidFill>
            <a:schemeClr val="bg1"/>
          </a:solidFill>
          <a:ln w="9525">
            <a:solidFill>
              <a:srgbClr val="FF3300"/>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sz="2400" b="1"/>
              <a:t>Reminding</a:t>
            </a:r>
          </a:p>
        </p:txBody>
      </p:sp>
    </p:spTree>
    <p:extLst>
      <p:ext uri="{BB962C8B-B14F-4D97-AF65-F5344CB8AC3E}">
        <p14:creationId xmlns:p14="http://schemas.microsoft.com/office/powerpoint/2010/main" xmlns="" val="14493414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1749"/>
                                        </p:tgtEl>
                                        <p:attrNameLst>
                                          <p:attrName>style.visibility</p:attrName>
                                        </p:attrNameLst>
                                      </p:cBhvr>
                                      <p:to>
                                        <p:strVal val="visible"/>
                                      </p:to>
                                    </p:set>
                                    <p:animEffect transition="in" filter="dissolve">
                                      <p:cBhvr>
                                        <p:cTn id="7" dur="500"/>
                                        <p:tgtEl>
                                          <p:spTgt spid="317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1751"/>
                                        </p:tgtEl>
                                        <p:attrNameLst>
                                          <p:attrName>style.visibility</p:attrName>
                                        </p:attrNameLst>
                                      </p:cBhvr>
                                      <p:to>
                                        <p:strVal val="visible"/>
                                      </p:to>
                                    </p:set>
                                    <p:animEffect transition="in" filter="dissolve">
                                      <p:cBhvr>
                                        <p:cTn id="12" dur="500"/>
                                        <p:tgtEl>
                                          <p:spTgt spid="317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1752"/>
                                        </p:tgtEl>
                                        <p:attrNameLst>
                                          <p:attrName>style.visibility</p:attrName>
                                        </p:attrNameLst>
                                      </p:cBhvr>
                                      <p:to>
                                        <p:strVal val="visible"/>
                                      </p:to>
                                    </p:set>
                                    <p:animEffect transition="in" filter="dissolve">
                                      <p:cBhvr>
                                        <p:cTn id="17" dur="500"/>
                                        <p:tgtEl>
                                          <p:spTgt spid="3175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1753"/>
                                        </p:tgtEl>
                                        <p:attrNameLst>
                                          <p:attrName>style.visibility</p:attrName>
                                        </p:attrNameLst>
                                      </p:cBhvr>
                                      <p:to>
                                        <p:strVal val="visible"/>
                                      </p:to>
                                    </p:set>
                                    <p:animEffect transition="in" filter="dissolve">
                                      <p:cBhvr>
                                        <p:cTn id="22" dur="500"/>
                                        <p:tgtEl>
                                          <p:spTgt spid="317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1" grpId="0" animBg="1"/>
      <p:bldP spid="31752" grpId="0" animBg="1"/>
      <p:bldP spid="3175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What are the major steps in developing effective communications?"/>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163781" y="665018"/>
            <a:ext cx="10050087" cy="562771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5268871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209800" y="76201"/>
            <a:ext cx="8432800" cy="868363"/>
          </a:xfrm>
          <a:solidFill>
            <a:schemeClr val="bg1"/>
          </a:solidFill>
          <a:ln w="38100">
            <a:solidFill>
              <a:schemeClr val="accent2"/>
            </a:solidFill>
            <a:miter lim="800000"/>
            <a:headEnd/>
            <a:tailEnd/>
          </a:ln>
        </p:spPr>
        <p:txBody>
          <a:bodyPr/>
          <a:lstStyle/>
          <a:p>
            <a:r>
              <a:rPr lang="en-US" sz="3800" dirty="0"/>
              <a:t>The Marketing Communications Mix</a:t>
            </a:r>
          </a:p>
        </p:txBody>
      </p:sp>
      <p:sp>
        <p:nvSpPr>
          <p:cNvPr id="8195" name="Rectangle 3"/>
          <p:cNvSpPr>
            <a:spLocks noGrp="1" noChangeArrowheads="1"/>
          </p:cNvSpPr>
          <p:nvPr>
            <p:ph type="body" idx="1"/>
          </p:nvPr>
        </p:nvSpPr>
        <p:spPr/>
        <p:txBody>
          <a:bodyPr/>
          <a:lstStyle/>
          <a:p>
            <a:endParaRPr lang="en-US" b="1"/>
          </a:p>
          <a:p>
            <a:endParaRPr lang="en-US" b="1"/>
          </a:p>
        </p:txBody>
      </p:sp>
      <p:pic>
        <p:nvPicPr>
          <p:cNvPr id="8197" name="Picture 5" descr="ex16-01"/>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209800" y="1447800"/>
            <a:ext cx="8432800" cy="49149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53539707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286000" y="76201"/>
            <a:ext cx="8382000" cy="944563"/>
          </a:xfrm>
          <a:solidFill>
            <a:schemeClr val="bg1"/>
          </a:solidFill>
          <a:ln w="38100">
            <a:solidFill>
              <a:schemeClr val="accent2"/>
            </a:solidFill>
            <a:miter lim="800000"/>
            <a:headEnd/>
            <a:tailEnd/>
          </a:ln>
        </p:spPr>
        <p:txBody>
          <a:bodyPr/>
          <a:lstStyle/>
          <a:p>
            <a:r>
              <a:rPr lang="en-US" sz="3500" dirty="0"/>
              <a:t>Integrated Marketing Communications</a:t>
            </a:r>
          </a:p>
        </p:txBody>
      </p:sp>
      <p:sp>
        <p:nvSpPr>
          <p:cNvPr id="10243" name="Rectangle 3"/>
          <p:cNvSpPr>
            <a:spLocks noGrp="1" noChangeArrowheads="1"/>
          </p:cNvSpPr>
          <p:nvPr>
            <p:ph type="body" sz="half" idx="1"/>
          </p:nvPr>
        </p:nvSpPr>
        <p:spPr>
          <a:xfrm>
            <a:off x="2286000" y="1371601"/>
            <a:ext cx="5334000" cy="4449763"/>
          </a:xfrm>
          <a:solidFill>
            <a:schemeClr val="bg1"/>
          </a:solidFill>
          <a:ln>
            <a:solidFill>
              <a:srgbClr val="FF3300"/>
            </a:solidFill>
            <a:miter lim="800000"/>
            <a:headEnd/>
            <a:tailEnd/>
          </a:ln>
        </p:spPr>
        <p:txBody>
          <a:bodyPr/>
          <a:lstStyle/>
          <a:p>
            <a:r>
              <a:rPr lang="en-US" b="1" dirty="0">
                <a:solidFill>
                  <a:schemeClr val="tx1"/>
                </a:solidFill>
              </a:rPr>
              <a:t>Integrated Marketing Communications (IMC):</a:t>
            </a:r>
          </a:p>
          <a:p>
            <a:pPr lvl="1"/>
            <a:r>
              <a:rPr lang="en-US" i="1" dirty="0"/>
              <a:t>The strategic integration of multiple means of communicating with target markets to form a comprehensive, consistent message.</a:t>
            </a:r>
          </a:p>
        </p:txBody>
      </p:sp>
      <p:pic>
        <p:nvPicPr>
          <p:cNvPr id="10244" name="Picture 4" descr="j0250895"/>
          <p:cNvPicPr>
            <a:picLocks noGrp="1" noChangeAspect="1" noChangeArrowheads="1"/>
          </p:cNvPicPr>
          <p:nvPr>
            <p:ph sz="half" idx="2"/>
          </p:nvPr>
        </p:nvPicPr>
        <p:blipFill>
          <a:blip r:embed="rId2" cstate="print">
            <a:extLst>
              <a:ext uri="{28A0092B-C50C-407E-A947-70E740481C1C}">
                <a14:useLocalDpi xmlns:a14="http://schemas.microsoft.com/office/drawing/2010/main" xmlns="" val="0"/>
              </a:ext>
            </a:extLst>
          </a:blip>
          <a:srcRect/>
          <a:stretch>
            <a:fillRect/>
          </a:stretch>
        </p:blipFill>
        <p:spPr>
          <a:xfrm>
            <a:off x="7467601" y="3352800"/>
            <a:ext cx="3008313" cy="3067050"/>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pic>
    </p:spTree>
    <p:extLst>
      <p:ext uri="{BB962C8B-B14F-4D97-AF65-F5344CB8AC3E}">
        <p14:creationId xmlns:p14="http://schemas.microsoft.com/office/powerpoint/2010/main" xmlns="" val="330141539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90344"/>
          </a:xfrm>
        </p:spPr>
        <p:txBody>
          <a:bodyPr/>
          <a:lstStyle/>
          <a:p>
            <a:r>
              <a:rPr lang="en-US" b="1" dirty="0" smtClean="0">
                <a:solidFill>
                  <a:srgbClr val="0070C0"/>
                </a:solidFill>
              </a:rPr>
              <a:t>Objectives of IMC</a:t>
            </a:r>
            <a:endParaRPr lang="en-IN" b="1" dirty="0">
              <a:solidFill>
                <a:srgbClr val="0070C0"/>
              </a:solidFill>
            </a:endParaRPr>
          </a:p>
        </p:txBody>
      </p:sp>
      <p:pic>
        <p:nvPicPr>
          <p:cNvPr id="5" name="Picture 4"/>
          <p:cNvPicPr>
            <a:picLocks noChangeAspect="1"/>
          </p:cNvPicPr>
          <p:nvPr/>
        </p:nvPicPr>
        <p:blipFill>
          <a:blip r:embed="rId2"/>
          <a:stretch>
            <a:fillRect/>
          </a:stretch>
        </p:blipFill>
        <p:spPr>
          <a:xfrm>
            <a:off x="6095995" y="3428996"/>
            <a:ext cx="10" cy="7"/>
          </a:xfrm>
          <a:prstGeom prst="rect">
            <a:avLst/>
          </a:prstGeom>
        </p:spPr>
      </p:pic>
      <p:pic>
        <p:nvPicPr>
          <p:cNvPr id="6" name="Picture 5"/>
          <p:cNvPicPr>
            <a:picLocks noChangeAspect="1"/>
          </p:cNvPicPr>
          <p:nvPr/>
        </p:nvPicPr>
        <p:blipFill>
          <a:blip r:embed="rId3"/>
          <a:stretch>
            <a:fillRect/>
          </a:stretch>
        </p:blipFill>
        <p:spPr>
          <a:xfrm>
            <a:off x="838200" y="1039092"/>
            <a:ext cx="10749742" cy="5478086"/>
          </a:xfrm>
          <a:prstGeom prst="rect">
            <a:avLst/>
          </a:prstGeom>
        </p:spPr>
      </p:pic>
    </p:spTree>
    <p:extLst>
      <p:ext uri="{BB962C8B-B14F-4D97-AF65-F5344CB8AC3E}">
        <p14:creationId xmlns:p14="http://schemas.microsoft.com/office/powerpoint/2010/main" xmlns="" val="26026894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2209800" y="1"/>
            <a:ext cx="8458200" cy="944563"/>
          </a:xfrm>
          <a:solidFill>
            <a:schemeClr val="bg1"/>
          </a:solidFill>
          <a:ln w="38100">
            <a:solidFill>
              <a:schemeClr val="accent2"/>
            </a:solidFill>
            <a:miter lim="800000"/>
            <a:headEnd/>
            <a:tailEnd/>
          </a:ln>
        </p:spPr>
        <p:txBody>
          <a:bodyPr/>
          <a:lstStyle/>
          <a:p>
            <a:r>
              <a:rPr lang="en-US" sz="3500" dirty="0"/>
              <a:t>The Marketing Communications Process</a:t>
            </a:r>
          </a:p>
        </p:txBody>
      </p:sp>
      <p:sp>
        <p:nvSpPr>
          <p:cNvPr id="32771" name="Rectangle 3"/>
          <p:cNvSpPr>
            <a:spLocks noGrp="1" noChangeArrowheads="1"/>
          </p:cNvSpPr>
          <p:nvPr>
            <p:ph type="body" idx="1"/>
          </p:nvPr>
        </p:nvSpPr>
        <p:spPr/>
        <p:txBody>
          <a:bodyPr/>
          <a:lstStyle/>
          <a:p>
            <a:endParaRPr lang="en-US" b="1"/>
          </a:p>
          <a:p>
            <a:endParaRPr lang="en-US" b="1"/>
          </a:p>
        </p:txBody>
      </p:sp>
      <p:pic>
        <p:nvPicPr>
          <p:cNvPr id="32773" name="Picture 5" descr="ex16-0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667000" y="1447801"/>
            <a:ext cx="7620000" cy="4887913"/>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88687161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Advertising:</a:t>
            </a:r>
          </a:p>
        </p:txBody>
      </p:sp>
      <p:pic>
        <p:nvPicPr>
          <p:cNvPr id="9218" name="Picture 2" descr="What is Advertising? Etymology, Definition and Meanin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04956" y="1602970"/>
            <a:ext cx="11066608" cy="4747953"/>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1671341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5777"/>
          </a:xfrm>
        </p:spPr>
        <p:txBody>
          <a:bodyPr>
            <a:normAutofit fontScale="90000"/>
          </a:bodyPr>
          <a:lstStyle/>
          <a:p>
            <a:r>
              <a:rPr lang="en-IN" dirty="0"/>
              <a:t>Advertising Objectives</a:t>
            </a:r>
          </a:p>
        </p:txBody>
      </p:sp>
      <p:pic>
        <p:nvPicPr>
          <p:cNvPr id="8196" name="Picture 4" descr="11 Objectives of Advertising – What are the objectives of Advertisin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24196" y="1296785"/>
            <a:ext cx="10964488" cy="530559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938621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Advertising Budget,</a:t>
            </a:r>
          </a:p>
        </p:txBody>
      </p:sp>
      <p:sp>
        <p:nvSpPr>
          <p:cNvPr id="3" name="Content Placeholder 2"/>
          <p:cNvSpPr>
            <a:spLocks noGrp="1"/>
          </p:cNvSpPr>
          <p:nvPr>
            <p:ph idx="1"/>
          </p:nvPr>
        </p:nvSpPr>
        <p:spPr/>
        <p:txBody>
          <a:bodyPr>
            <a:normAutofit/>
          </a:bodyPr>
          <a:lstStyle/>
          <a:p>
            <a:pPr algn="just"/>
            <a:r>
              <a:rPr lang="en-US" sz="3200" dirty="0">
                <a:latin typeface="Times New Roman" panose="02020603050405020304" pitchFamily="18" charset="0"/>
                <a:cs typeface="Times New Roman" panose="02020603050405020304" pitchFamily="18" charset="0"/>
              </a:rPr>
              <a:t>An advertising budget is an amount set aside by a company planned for the promotion of its goods and services. Promotional activities include conducting a market survey, getting advertisement </a:t>
            </a:r>
            <a:r>
              <a:rPr lang="en-US" sz="3200" dirty="0" err="1" smtClean="0">
                <a:latin typeface="Times New Roman" panose="02020603050405020304" pitchFamily="18" charset="0"/>
                <a:cs typeface="Times New Roman" panose="02020603050405020304" pitchFamily="18" charset="0"/>
              </a:rPr>
              <a:t>creatives</a:t>
            </a:r>
            <a:r>
              <a:rPr lang="en-US" sz="3200" dirty="0" smtClean="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made and printed, promotion by way of print media, digital media, and social media, running ad campaigns, etc.</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3150203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The advertising budget of a company is based on the following factors:</a:t>
            </a:r>
            <a:endParaRPr lang="en-IN" sz="3200" dirty="0"/>
          </a:p>
        </p:txBody>
      </p:sp>
      <p:sp>
        <p:nvSpPr>
          <p:cNvPr id="6" name="Content Placeholder 5"/>
          <p:cNvSpPr>
            <a:spLocks noGrp="1"/>
          </p:cNvSpPr>
          <p:nvPr>
            <p:ph idx="1"/>
          </p:nvPr>
        </p:nvSpPr>
        <p:spPr>
          <a:xfrm>
            <a:off x="838200" y="1675995"/>
            <a:ext cx="10515600" cy="4351338"/>
          </a:xfrm>
        </p:spPr>
        <p:txBody>
          <a:bodyPr/>
          <a:lstStyle/>
          <a:p>
            <a:r>
              <a:rPr lang="en-US" dirty="0"/>
              <a:t>Type of advertising campaign that it intends to run</a:t>
            </a:r>
          </a:p>
          <a:p>
            <a:r>
              <a:rPr lang="en-US" dirty="0"/>
              <a:t>Selection of target audience</a:t>
            </a:r>
          </a:p>
          <a:p>
            <a:r>
              <a:rPr lang="en-US" dirty="0"/>
              <a:t>Type of advertising media</a:t>
            </a:r>
          </a:p>
          <a:p>
            <a:r>
              <a:rPr lang="en-US" dirty="0"/>
              <a:t>Company’s objective of advertising</a:t>
            </a:r>
          </a:p>
          <a:p>
            <a:pPr marL="0" indent="0">
              <a:buNone/>
            </a:pPr>
            <a:endParaRPr lang="en-IN" dirty="0"/>
          </a:p>
        </p:txBody>
      </p:sp>
    </p:spTree>
    <p:extLst>
      <p:ext uri="{BB962C8B-B14F-4D97-AF65-F5344CB8AC3E}">
        <p14:creationId xmlns:p14="http://schemas.microsoft.com/office/powerpoint/2010/main" xmlns="" val="28020568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1908"/>
          </a:xfrm>
        </p:spPr>
        <p:txBody>
          <a:bodyPr/>
          <a:lstStyle/>
          <a:p>
            <a:r>
              <a:rPr lang="en-US" dirty="0" smtClean="0"/>
              <a:t>Process of Advertising Budget</a:t>
            </a:r>
            <a:endParaRPr lang="en-IN" dirty="0"/>
          </a:p>
        </p:txBody>
      </p:sp>
      <p:pic>
        <p:nvPicPr>
          <p:cNvPr id="4" name="Content Placeholder 3"/>
          <p:cNvPicPr>
            <a:picLocks noGrp="1" noChangeAspect="1"/>
          </p:cNvPicPr>
          <p:nvPr>
            <p:ph idx="1"/>
          </p:nvPr>
        </p:nvPicPr>
        <p:blipFill>
          <a:blip r:embed="rId2"/>
          <a:stretch>
            <a:fillRect/>
          </a:stretch>
        </p:blipFill>
        <p:spPr>
          <a:xfrm>
            <a:off x="1221971" y="1404851"/>
            <a:ext cx="9818323" cy="4605251"/>
          </a:xfrm>
          <a:prstGeom prst="rect">
            <a:avLst/>
          </a:prstGeom>
        </p:spPr>
      </p:pic>
    </p:spTree>
    <p:extLst>
      <p:ext uri="{BB962C8B-B14F-4D97-AF65-F5344CB8AC3E}">
        <p14:creationId xmlns:p14="http://schemas.microsoft.com/office/powerpoint/2010/main" xmlns="" val="37548255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82279"/>
          </a:xfrm>
        </p:spPr>
        <p:txBody>
          <a:bodyPr>
            <a:normAutofit fontScale="90000"/>
          </a:bodyPr>
          <a:lstStyle/>
          <a:p>
            <a:r>
              <a:rPr lang="en-IN" b="1" dirty="0" smtClean="0"/>
              <a:t/>
            </a:r>
            <a:br>
              <a:rPr lang="en-IN" b="1" dirty="0" smtClean="0"/>
            </a:br>
            <a:r>
              <a:rPr lang="en-IN" b="1" dirty="0" smtClean="0"/>
              <a:t>Advertising </a:t>
            </a:r>
            <a:r>
              <a:rPr lang="en-IN" b="1" dirty="0"/>
              <a:t>Budget Methods</a:t>
            </a:r>
            <a:br>
              <a:rPr lang="en-IN" b="1" dirty="0"/>
            </a:br>
            <a:endParaRPr lang="en-IN" dirty="0"/>
          </a:p>
        </p:txBody>
      </p:sp>
      <p:pic>
        <p:nvPicPr>
          <p:cNvPr id="10242" name="Picture 2" descr="https://cdn.wallstreetmojo.com/wp-content/uploads/2020/02/Advertising-Budget-Methods.jp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647950" y="1116618"/>
            <a:ext cx="6446174" cy="544897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9590896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0591"/>
          </a:xfrm>
        </p:spPr>
        <p:txBody>
          <a:bodyPr>
            <a:normAutofit fontScale="90000"/>
          </a:bodyPr>
          <a:lstStyle/>
          <a:p>
            <a:r>
              <a:rPr lang="en-US" dirty="0" smtClean="0"/>
              <a:t>Factors affecting Advertisement Budget:</a:t>
            </a:r>
            <a:endParaRPr lang="en-IN" dirty="0"/>
          </a:p>
        </p:txBody>
      </p:sp>
      <p:sp>
        <p:nvSpPr>
          <p:cNvPr id="3" name="Content Placeholder 2"/>
          <p:cNvSpPr>
            <a:spLocks noGrp="1"/>
          </p:cNvSpPr>
          <p:nvPr>
            <p:ph idx="1"/>
          </p:nvPr>
        </p:nvSpPr>
        <p:spPr>
          <a:xfrm>
            <a:off x="838200" y="1338349"/>
            <a:ext cx="10515600" cy="4838614"/>
          </a:xfrm>
        </p:spPr>
        <p:txBody>
          <a:bodyPr>
            <a:normAutofit fontScale="85000" lnSpcReduction="20000"/>
          </a:bodyPr>
          <a:lstStyle/>
          <a:p>
            <a:r>
              <a:rPr lang="en-US" b="1" dirty="0"/>
              <a:t>Existing Market Share</a:t>
            </a:r>
            <a:r>
              <a:rPr lang="en-US" dirty="0"/>
              <a:t>: A company with a lower market share will be required to spend more on its promotional activities. On the other hand, companies with larger market shares can spend less on their promotional activities.</a:t>
            </a:r>
          </a:p>
          <a:p>
            <a:r>
              <a:rPr lang="en-US" b="1" dirty="0"/>
              <a:t>The competition level in the industry</a:t>
            </a:r>
            <a:r>
              <a:rPr lang="en-US" dirty="0"/>
              <a:t>: If there is a high </a:t>
            </a:r>
            <a:r>
              <a:rPr lang="en-US" b="1" u="sng" dirty="0"/>
              <a:t>competition level</a:t>
            </a:r>
            <a:r>
              <a:rPr lang="en-US" dirty="0"/>
              <a:t> in the industry in which the company operates, the advertising budget would be required to be set on a higher side to get noticed by audiences. In case a monopoly exists or where there is the least level of competition involved, the company will need to invest less in marketing.</a:t>
            </a:r>
          </a:p>
          <a:p>
            <a:r>
              <a:rPr lang="en-US" b="1" dirty="0"/>
              <a:t>Stage of the Product Life Cycle:</a:t>
            </a:r>
            <a:r>
              <a:rPr lang="en-US" dirty="0"/>
              <a:t>  It is a well-known fact that in the initial introduction and growth stages of a product or service, more amounts would be required for advertising. While in the later stages of the </a:t>
            </a:r>
            <a:r>
              <a:rPr lang="en-US" b="1" u="sng" dirty="0"/>
              <a:t>product life cycle</a:t>
            </a:r>
            <a:r>
              <a:rPr lang="en-US" dirty="0"/>
              <a:t>, the need for advertising will decline.</a:t>
            </a:r>
          </a:p>
          <a:p>
            <a:r>
              <a:rPr lang="en-US" b="1" dirty="0"/>
              <a:t>Decided frequency of Advertisement</a:t>
            </a:r>
            <a:r>
              <a:rPr lang="en-US" dirty="0"/>
              <a:t>: The advertising budget will also depend on how frequently a company wants to run its ads. Frequent ads will call for a greater budget.</a:t>
            </a:r>
          </a:p>
          <a:p>
            <a:endParaRPr lang="en-IN" dirty="0"/>
          </a:p>
        </p:txBody>
      </p:sp>
    </p:spTree>
    <p:extLst>
      <p:ext uri="{BB962C8B-B14F-4D97-AF65-F5344CB8AC3E}">
        <p14:creationId xmlns:p14="http://schemas.microsoft.com/office/powerpoint/2010/main" xmlns="" val="33702420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Advertising Copy</a:t>
            </a:r>
          </a:p>
        </p:txBody>
      </p:sp>
      <p:sp>
        <p:nvSpPr>
          <p:cNvPr id="3" name="Content Placeholder 2"/>
          <p:cNvSpPr>
            <a:spLocks noGrp="1"/>
          </p:cNvSpPr>
          <p:nvPr>
            <p:ph idx="1"/>
          </p:nvPr>
        </p:nvSpPr>
        <p:spPr>
          <a:xfrm>
            <a:off x="838200" y="1335174"/>
            <a:ext cx="10515600" cy="4351338"/>
          </a:xfrm>
        </p:spPr>
        <p:txBody>
          <a:bodyPr>
            <a:normAutofit lnSpcReduction="10000"/>
          </a:bodyPr>
          <a:lstStyle/>
          <a:p>
            <a:pPr marL="0" indent="0" algn="just">
              <a:buNone/>
            </a:pPr>
            <a:r>
              <a:rPr lang="en-US" dirty="0"/>
              <a:t>Ad copy is content that encourages a potential buyer to take action and purchase a product. By invoking an emotional </a:t>
            </a:r>
            <a:r>
              <a:rPr lang="en-US" dirty="0" smtClean="0"/>
              <a:t>response, communicating </a:t>
            </a:r>
            <a:r>
              <a:rPr lang="en-US" dirty="0"/>
              <a:t>value and addressing doubt, effective ad copy can increase a company's sales and profits</a:t>
            </a:r>
            <a:r>
              <a:rPr lang="en-US" dirty="0" smtClean="0"/>
              <a:t>.</a:t>
            </a:r>
          </a:p>
          <a:p>
            <a:pPr marL="0" indent="0" algn="just">
              <a:buNone/>
            </a:pPr>
            <a:r>
              <a:rPr lang="en-US" dirty="0" smtClean="0"/>
              <a:t>Types of Ad copy:</a:t>
            </a:r>
          </a:p>
          <a:p>
            <a:r>
              <a:rPr lang="en-US" dirty="0"/>
              <a:t>Human interest ad copy.</a:t>
            </a:r>
          </a:p>
          <a:p>
            <a:r>
              <a:rPr lang="en-US" dirty="0"/>
              <a:t>Educational ad copy.</a:t>
            </a:r>
          </a:p>
          <a:p>
            <a:r>
              <a:rPr lang="en-US" dirty="0"/>
              <a:t>Reason why? ad copy.</a:t>
            </a:r>
          </a:p>
          <a:p>
            <a:r>
              <a:rPr lang="en-US" dirty="0"/>
              <a:t>Institutional ad copy.</a:t>
            </a:r>
          </a:p>
          <a:p>
            <a:r>
              <a:rPr lang="en-US" dirty="0"/>
              <a:t>Suggestive ad copy.</a:t>
            </a:r>
          </a:p>
          <a:p>
            <a:pPr marL="0" indent="0" algn="just">
              <a:buNone/>
            </a:pPr>
            <a:endParaRPr lang="en-IN" dirty="0"/>
          </a:p>
        </p:txBody>
      </p:sp>
    </p:spTree>
    <p:extLst>
      <p:ext uri="{BB962C8B-B14F-4D97-AF65-F5344CB8AC3E}">
        <p14:creationId xmlns:p14="http://schemas.microsoft.com/office/powerpoint/2010/main" xmlns="" val="17852837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AIDA model</a:t>
            </a:r>
          </a:p>
        </p:txBody>
      </p:sp>
      <p:sp>
        <p:nvSpPr>
          <p:cNvPr id="3" name="Content Placeholder 2"/>
          <p:cNvSpPr>
            <a:spLocks noGrp="1"/>
          </p:cNvSpPr>
          <p:nvPr>
            <p:ph idx="1"/>
          </p:nvPr>
        </p:nvSpPr>
        <p:spPr>
          <a:xfrm>
            <a:off x="656706" y="1371600"/>
            <a:ext cx="5411586" cy="4148051"/>
          </a:xfrm>
        </p:spPr>
        <p:txBody>
          <a:bodyPr/>
          <a:lstStyle/>
          <a:p>
            <a:pPr marL="0" indent="0" algn="just">
              <a:buNone/>
            </a:pPr>
            <a:r>
              <a:rPr lang="en-US" dirty="0"/>
              <a:t>The AIDA Model, which stands for Attention, Interest, Desire, and Action model, is an advertising effect model that identifies the stages that an individual goes through during the process of purchasing a product or service</a:t>
            </a:r>
            <a:r>
              <a:rPr lang="en-US" dirty="0" smtClean="0"/>
              <a:t>.</a:t>
            </a:r>
          </a:p>
          <a:p>
            <a:pPr marL="0" indent="0" algn="just">
              <a:buNone/>
            </a:pPr>
            <a:endParaRPr lang="en-IN" dirty="0"/>
          </a:p>
        </p:txBody>
      </p:sp>
      <p:pic>
        <p:nvPicPr>
          <p:cNvPr id="11268" name="Picture 4" descr="The AIDA Model Explained with Examples"/>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350923" y="1130531"/>
            <a:ext cx="5522826" cy="5212079"/>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6805847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Traditional and modern media</a:t>
            </a:r>
            <a:endParaRPr lang="en-IN" dirty="0"/>
          </a:p>
        </p:txBody>
      </p:sp>
      <p:sp>
        <p:nvSpPr>
          <p:cNvPr id="3" name="Content Placeholder 2"/>
          <p:cNvSpPr>
            <a:spLocks noGrp="1"/>
          </p:cNvSpPr>
          <p:nvPr>
            <p:ph idx="1"/>
          </p:nvPr>
        </p:nvSpPr>
        <p:spPr/>
        <p:txBody>
          <a:bodyPr/>
          <a:lstStyle/>
          <a:p>
            <a:pPr marL="0" indent="0">
              <a:buNone/>
            </a:pPr>
            <a:r>
              <a:rPr lang="en-US" dirty="0"/>
              <a:t>There are two main types of media: traditional media and new media. Traditional media includes print media, such as newspapers and books, and broadcast media, such as television and radio. New media includes digital media, such as the Internet and social media.</a:t>
            </a:r>
            <a:endParaRPr lang="en-IN" dirty="0"/>
          </a:p>
        </p:txBody>
      </p:sp>
    </p:spTree>
    <p:extLst>
      <p:ext uri="{BB962C8B-B14F-4D97-AF65-F5344CB8AC3E}">
        <p14:creationId xmlns:p14="http://schemas.microsoft.com/office/powerpoint/2010/main" xmlns="" val="39476878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Differences between traditional and modern media</a:t>
            </a:r>
            <a:endParaRPr lang="en-IN" dirty="0"/>
          </a:p>
        </p:txBody>
      </p:sp>
      <p:pic>
        <p:nvPicPr>
          <p:cNvPr id="4" name="Picture 3"/>
          <p:cNvPicPr>
            <a:picLocks noChangeAspect="1"/>
          </p:cNvPicPr>
          <p:nvPr/>
        </p:nvPicPr>
        <p:blipFill>
          <a:blip r:embed="rId2"/>
          <a:stretch>
            <a:fillRect/>
          </a:stretch>
        </p:blipFill>
        <p:spPr>
          <a:xfrm>
            <a:off x="2038350" y="2514600"/>
            <a:ext cx="8115300" cy="1828800"/>
          </a:xfrm>
          <a:prstGeom prst="rect">
            <a:avLst/>
          </a:prstGeom>
        </p:spPr>
      </p:pic>
    </p:spTree>
    <p:extLst>
      <p:ext uri="{BB962C8B-B14F-4D97-AF65-F5344CB8AC3E}">
        <p14:creationId xmlns:p14="http://schemas.microsoft.com/office/powerpoint/2010/main" xmlns="" val="15785933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Traditional </a:t>
            </a:r>
            <a:r>
              <a:rPr lang="en-IN" dirty="0" smtClean="0"/>
              <a:t>Vs. Modern Media</a:t>
            </a:r>
            <a:endParaRPr lang="en-IN" dirty="0"/>
          </a:p>
        </p:txBody>
      </p:sp>
      <p:sp>
        <p:nvSpPr>
          <p:cNvPr id="3" name="Content Placeholder 2"/>
          <p:cNvSpPr>
            <a:spLocks noGrp="1"/>
          </p:cNvSpPr>
          <p:nvPr>
            <p:ph idx="1"/>
          </p:nvPr>
        </p:nvSpPr>
        <p:spPr>
          <a:xfrm>
            <a:off x="838200" y="1825625"/>
            <a:ext cx="4689764" cy="4351338"/>
          </a:xfrm>
        </p:spPr>
        <p:txBody>
          <a:bodyPr>
            <a:normAutofit lnSpcReduction="10000"/>
          </a:bodyPr>
          <a:lstStyle/>
          <a:p>
            <a:pPr marL="0" indent="0">
              <a:buNone/>
            </a:pPr>
            <a:r>
              <a:rPr lang="en-US" b="1" dirty="0" smtClean="0"/>
              <a:t>Traditional media are</a:t>
            </a:r>
          </a:p>
          <a:p>
            <a:r>
              <a:rPr lang="en-US" dirty="0" smtClean="0"/>
              <a:t>Television </a:t>
            </a:r>
            <a:r>
              <a:rPr lang="en-US" dirty="0"/>
              <a:t>advertisements.</a:t>
            </a:r>
          </a:p>
          <a:p>
            <a:r>
              <a:rPr lang="en-US" dirty="0"/>
              <a:t>Radio advertising.</a:t>
            </a:r>
          </a:p>
          <a:p>
            <a:r>
              <a:rPr lang="en-US" dirty="0"/>
              <a:t>Print advertising.</a:t>
            </a:r>
          </a:p>
          <a:p>
            <a:r>
              <a:rPr lang="en-US" dirty="0"/>
              <a:t>Direct mail advertisements.</a:t>
            </a:r>
          </a:p>
          <a:p>
            <a:r>
              <a:rPr lang="en-US" dirty="0"/>
              <a:t>Billboards and off-site signs.</a:t>
            </a:r>
          </a:p>
          <a:p>
            <a:r>
              <a:rPr lang="en-US" dirty="0"/>
              <a:t>Cold calling.</a:t>
            </a:r>
          </a:p>
          <a:p>
            <a:r>
              <a:rPr lang="en-US" dirty="0"/>
              <a:t>Door-to-door sales.</a:t>
            </a:r>
          </a:p>
          <a:p>
            <a:r>
              <a:rPr lang="en-US" dirty="0"/>
              <a:t>Banner ads.</a:t>
            </a:r>
          </a:p>
          <a:p>
            <a:pPr marL="0" indent="0">
              <a:buNone/>
            </a:pPr>
            <a:endParaRPr lang="en-IN" dirty="0"/>
          </a:p>
        </p:txBody>
      </p:sp>
      <p:sp>
        <p:nvSpPr>
          <p:cNvPr id="5" name="Content Placeholder 2"/>
          <p:cNvSpPr txBox="1">
            <a:spLocks/>
          </p:cNvSpPr>
          <p:nvPr/>
        </p:nvSpPr>
        <p:spPr>
          <a:xfrm>
            <a:off x="5537653" y="1811768"/>
            <a:ext cx="4689764" cy="435133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smtClean="0"/>
              <a:t>Modern media are</a:t>
            </a:r>
          </a:p>
          <a:p>
            <a:r>
              <a:rPr lang="en-IN" dirty="0"/>
              <a:t>Blogs.</a:t>
            </a:r>
          </a:p>
          <a:p>
            <a:r>
              <a:rPr lang="en-IN" dirty="0"/>
              <a:t>Email.</a:t>
            </a:r>
          </a:p>
          <a:p>
            <a:r>
              <a:rPr lang="en-IN" dirty="0"/>
              <a:t>Music and television streaming services.</a:t>
            </a:r>
          </a:p>
          <a:p>
            <a:r>
              <a:rPr lang="en-IN" dirty="0"/>
              <a:t>Social media networks.</a:t>
            </a:r>
          </a:p>
          <a:p>
            <a:r>
              <a:rPr lang="en-IN" dirty="0"/>
              <a:t>Virtual and augmented reality.</a:t>
            </a:r>
          </a:p>
          <a:p>
            <a:r>
              <a:rPr lang="en-IN" dirty="0"/>
              <a:t>Websites.</a:t>
            </a:r>
          </a:p>
          <a:p>
            <a:r>
              <a:rPr lang="en-IN" dirty="0" smtClean="0"/>
              <a:t>Mobile and online platforms.</a:t>
            </a:r>
            <a:r>
              <a:rPr lang="en-IN" dirty="0"/>
              <a:t/>
            </a:r>
            <a:br>
              <a:rPr lang="en-IN" dirty="0"/>
            </a:br>
            <a:endParaRPr lang="en-IN" dirty="0"/>
          </a:p>
        </p:txBody>
      </p:sp>
    </p:spTree>
    <p:extLst>
      <p:ext uri="{BB962C8B-B14F-4D97-AF65-F5344CB8AC3E}">
        <p14:creationId xmlns:p14="http://schemas.microsoft.com/office/powerpoint/2010/main" xmlns="" val="21146564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93181"/>
            <a:ext cx="10515600" cy="1325563"/>
          </a:xfrm>
        </p:spPr>
        <p:txBody>
          <a:bodyPr/>
          <a:lstStyle/>
          <a:p>
            <a:pPr algn="ctr"/>
            <a:r>
              <a:rPr lang="en-US" b="1" dirty="0" smtClean="0"/>
              <a:t>Thank You</a:t>
            </a:r>
            <a:endParaRPr lang="en-IN" b="1" dirty="0"/>
          </a:p>
        </p:txBody>
      </p:sp>
    </p:spTree>
    <p:extLst>
      <p:ext uri="{BB962C8B-B14F-4D97-AF65-F5344CB8AC3E}">
        <p14:creationId xmlns:p14="http://schemas.microsoft.com/office/powerpoint/2010/main" xmlns="" val="10875692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